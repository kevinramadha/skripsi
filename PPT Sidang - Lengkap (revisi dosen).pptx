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media/image11.svg" ContentType="image/svg+xml"/>
  <Override PartName="/ppt/media/image15.svg" ContentType="image/svg+xml"/>
  <Override PartName="/ppt/media/image18.svg" ContentType="image/svg+xml"/>
  <Override PartName="/ppt/media/image29.svg" ContentType="image/svg+xml"/>
  <Override PartName="/ppt/media/image31.svg" ContentType="image/svg+xml"/>
  <Override PartName="/ppt/media/image39.svg" ContentType="image/svg+xml"/>
  <Override PartName="/ppt/media/image41.svg" ContentType="image/svg+xml"/>
  <Override PartName="/ppt/media/image47.svg" ContentType="image/svg+xml"/>
  <Override PartName="/ppt/media/image49.svg" ContentType="image/svg+xml"/>
  <Override PartName="/ppt/media/image51.svg" ContentType="image/svg+xml"/>
  <Override PartName="/ppt/media/image58.svg" ContentType="image/svg+xml"/>
  <Override PartName="/ppt/media/image63.svg" ContentType="image/svg+xml"/>
  <Override PartName="/ppt/media/image68.svg" ContentType="image/svg+xml"/>
  <Override PartName="/ppt/media/image75.svg" ContentType="image/svg+xml"/>
  <Override PartName="/ppt/media/image78.svg" ContentType="image/svg+xml"/>
  <Override PartName="/ppt/media/image81.svg" ContentType="image/svg+xml"/>
  <Override PartName="/ppt/media/image83.svg" ContentType="image/svg+xml"/>
  <Override PartName="/ppt/media/image85.svg" ContentType="image/svg+xml"/>
  <Override PartName="/ppt/media/image87.svg" ContentType="image/svg+xml"/>
  <Override PartName="/ppt/media/image89.svg" ContentType="image/svg+xml"/>
  <Override PartName="/ppt/media/image9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96"/>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346" r:id="rId194"/>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7" r:id="rId195"/>
    <p:sldId id="348" r:id="rId196"/>
    <p:sldId id="349" r:id="rId197"/>
  </p:sldIdLst>
  <p:sldSz cx="18288000" cy="10287000"/>
  <p:notesSz cx="6858000" cy="9144000"/>
  <p:embeddedFontLst>
    <p:embeddedFont>
      <p:font typeface="Calibri (MS) Bold" charset="1" panose="020F0702030404030204"/>
      <p:regular r:id="rId99"/>
    </p:embeddedFont>
    <p:embeddedFont>
      <p:font typeface="Calibri (MS) Bold Italics" charset="1" panose="020F07020304040A0204"/>
      <p:regular r:id="rId100"/>
    </p:embeddedFont>
    <p:embeddedFont>
      <p:font typeface="Calibri (MS)" charset="1" panose="020F0502020204030204"/>
      <p:regular r:id="rId101"/>
    </p:embeddedFont>
    <p:embeddedFont>
      <p:font typeface="Montserrat" charset="1" panose="00000500000000000000"/>
      <p:regular r:id="rId105"/>
    </p:embeddedFont>
    <p:embeddedFont>
      <p:font typeface="Calibri (MS) Italics" charset="1" panose="020F05020202040A0204"/>
      <p:regular r:id="rId108"/>
    </p:embeddedFont>
    <p:embeddedFont>
      <p:font typeface="Cambria Italics" charset="1" panose="020405030504060A0204"/>
      <p:regular r:id="rId1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notesMaster" Target="notesMasters/notesMaster1.xml"/><Relationship Id="rId97" Type="http://schemas.openxmlformats.org/officeDocument/2006/relationships/theme" Target="theme/theme2.xml"/><Relationship Id="rId98" Type="http://schemas.openxmlformats.org/officeDocument/2006/relationships/notesSlide" Target="notesSlides/notesSlide1.xml"/><Relationship Id="rId99" Type="http://schemas.openxmlformats.org/officeDocument/2006/relationships/font" Target="fonts/font99.fntdata"/><Relationship Id="rId100" Type="http://schemas.openxmlformats.org/officeDocument/2006/relationships/font" Target="fonts/font100.fntdata"/><Relationship Id="rId101" Type="http://schemas.openxmlformats.org/officeDocument/2006/relationships/font" Target="fonts/font101.fntdata"/><Relationship Id="rId102" Type="http://schemas.openxmlformats.org/officeDocument/2006/relationships/notesSlide" Target="notesSlides/notesSlide2.xml"/><Relationship Id="rId103" Type="http://schemas.openxmlformats.org/officeDocument/2006/relationships/notesSlide" Target="notesSlides/notesSlide3.xml"/><Relationship Id="rId104" Type="http://schemas.openxmlformats.org/officeDocument/2006/relationships/notesSlide" Target="notesSlides/notesSlide4.xml"/><Relationship Id="rId105" Type="http://schemas.openxmlformats.org/officeDocument/2006/relationships/font" Target="fonts/font105.fntdata"/><Relationship Id="rId106" Type="http://schemas.openxmlformats.org/officeDocument/2006/relationships/notesSlide" Target="notesSlides/notesSlide5.xml"/><Relationship Id="rId107" Type="http://schemas.openxmlformats.org/officeDocument/2006/relationships/notesSlide" Target="notesSlides/notesSlide6.xml"/><Relationship Id="rId108" Type="http://schemas.openxmlformats.org/officeDocument/2006/relationships/font" Target="fonts/font108.fntdata"/><Relationship Id="rId109" Type="http://schemas.openxmlformats.org/officeDocument/2006/relationships/notesSlide" Target="notesSlides/notesSlide7.xml"/><Relationship Id="rId110" Type="http://schemas.openxmlformats.org/officeDocument/2006/relationships/notesSlide" Target="notesSlides/notesSlide8.xml"/><Relationship Id="rId111" Type="http://schemas.openxmlformats.org/officeDocument/2006/relationships/notesSlide" Target="notesSlides/notesSlide9.xml"/><Relationship Id="rId112" Type="http://schemas.openxmlformats.org/officeDocument/2006/relationships/notesSlide" Target="notesSlides/notesSlide10.xml"/><Relationship Id="rId113" Type="http://schemas.openxmlformats.org/officeDocument/2006/relationships/notesSlide" Target="notesSlides/notesSlide11.xml"/><Relationship Id="rId114" Type="http://schemas.openxmlformats.org/officeDocument/2006/relationships/notesSlide" Target="notesSlides/notesSlide12.xml"/><Relationship Id="rId115" Type="http://schemas.openxmlformats.org/officeDocument/2006/relationships/notesSlide" Target="notesSlides/notesSlide13.xml"/><Relationship Id="rId116" Type="http://schemas.openxmlformats.org/officeDocument/2006/relationships/notesSlide" Target="notesSlides/notesSlide14.xml"/><Relationship Id="rId117" Type="http://schemas.openxmlformats.org/officeDocument/2006/relationships/notesSlide" Target="notesSlides/notesSlide15.xml"/><Relationship Id="rId118" Type="http://schemas.openxmlformats.org/officeDocument/2006/relationships/notesSlide" Target="notesSlides/notesSlide16.xml"/><Relationship Id="rId119" Type="http://schemas.openxmlformats.org/officeDocument/2006/relationships/notesSlide" Target="notesSlides/notesSlide17.xml"/><Relationship Id="rId120" Type="http://schemas.openxmlformats.org/officeDocument/2006/relationships/notesSlide" Target="notesSlides/notesSlide18.xml"/><Relationship Id="rId121" Type="http://schemas.openxmlformats.org/officeDocument/2006/relationships/notesSlide" Target="notesSlides/notesSlide19.xml"/><Relationship Id="rId122" Type="http://schemas.openxmlformats.org/officeDocument/2006/relationships/notesSlide" Target="notesSlides/notesSlide20.xml"/><Relationship Id="rId123" Type="http://schemas.openxmlformats.org/officeDocument/2006/relationships/notesSlide" Target="notesSlides/notesSlide21.xml"/><Relationship Id="rId124" Type="http://schemas.openxmlformats.org/officeDocument/2006/relationships/notesSlide" Target="notesSlides/notesSlide22.xml"/><Relationship Id="rId125" Type="http://schemas.openxmlformats.org/officeDocument/2006/relationships/notesSlide" Target="notesSlides/notesSlide23.xml"/><Relationship Id="rId126" Type="http://schemas.openxmlformats.org/officeDocument/2006/relationships/notesSlide" Target="notesSlides/notesSlide24.xml"/><Relationship Id="rId127" Type="http://schemas.openxmlformats.org/officeDocument/2006/relationships/notesSlide" Target="notesSlides/notesSlide25.xml"/><Relationship Id="rId128" Type="http://schemas.openxmlformats.org/officeDocument/2006/relationships/font" Target="fonts/font128.fntdata"/><Relationship Id="rId129" Type="http://schemas.openxmlformats.org/officeDocument/2006/relationships/notesSlide" Target="notesSlides/notesSlide26.xml"/><Relationship Id="rId130" Type="http://schemas.openxmlformats.org/officeDocument/2006/relationships/notesSlide" Target="notesSlides/notesSlide27.xml"/><Relationship Id="rId131" Type="http://schemas.openxmlformats.org/officeDocument/2006/relationships/notesSlide" Target="notesSlides/notesSlide28.xml"/><Relationship Id="rId132" Type="http://schemas.openxmlformats.org/officeDocument/2006/relationships/notesSlide" Target="notesSlides/notesSlide29.xml"/><Relationship Id="rId133" Type="http://schemas.openxmlformats.org/officeDocument/2006/relationships/notesSlide" Target="notesSlides/notesSlide30.xml"/><Relationship Id="rId134" Type="http://schemas.openxmlformats.org/officeDocument/2006/relationships/notesSlide" Target="notesSlides/notesSlide31.xml"/><Relationship Id="rId135" Type="http://schemas.openxmlformats.org/officeDocument/2006/relationships/notesSlide" Target="notesSlides/notesSlide32.xml"/><Relationship Id="rId136" Type="http://schemas.openxmlformats.org/officeDocument/2006/relationships/notesSlide" Target="notesSlides/notesSlide33.xml"/><Relationship Id="rId137" Type="http://schemas.openxmlformats.org/officeDocument/2006/relationships/notesSlide" Target="notesSlides/notesSlide34.xml"/><Relationship Id="rId138" Type="http://schemas.openxmlformats.org/officeDocument/2006/relationships/notesSlide" Target="notesSlides/notesSlide35.xml"/><Relationship Id="rId139" Type="http://schemas.openxmlformats.org/officeDocument/2006/relationships/notesSlide" Target="notesSlides/notesSlide36.xml"/><Relationship Id="rId140" Type="http://schemas.openxmlformats.org/officeDocument/2006/relationships/notesSlide" Target="notesSlides/notesSlide37.xml"/><Relationship Id="rId141" Type="http://schemas.openxmlformats.org/officeDocument/2006/relationships/notesSlide" Target="notesSlides/notesSlide38.xml"/><Relationship Id="rId142" Type="http://schemas.openxmlformats.org/officeDocument/2006/relationships/notesSlide" Target="notesSlides/notesSlide39.xml"/><Relationship Id="rId143" Type="http://schemas.openxmlformats.org/officeDocument/2006/relationships/notesSlide" Target="notesSlides/notesSlide40.xml"/><Relationship Id="rId144" Type="http://schemas.openxmlformats.org/officeDocument/2006/relationships/notesSlide" Target="notesSlides/notesSlide41.xml"/><Relationship Id="rId145" Type="http://schemas.openxmlformats.org/officeDocument/2006/relationships/notesSlide" Target="notesSlides/notesSlide42.xml"/><Relationship Id="rId146" Type="http://schemas.openxmlformats.org/officeDocument/2006/relationships/notesSlide" Target="notesSlides/notesSlide43.xml"/><Relationship Id="rId147" Type="http://schemas.openxmlformats.org/officeDocument/2006/relationships/notesSlide" Target="notesSlides/notesSlide44.xml"/><Relationship Id="rId148" Type="http://schemas.openxmlformats.org/officeDocument/2006/relationships/notesSlide" Target="notesSlides/notesSlide45.xml"/><Relationship Id="rId149" Type="http://schemas.openxmlformats.org/officeDocument/2006/relationships/notesSlide" Target="notesSlides/notesSlide46.xml"/><Relationship Id="rId150" Type="http://schemas.openxmlformats.org/officeDocument/2006/relationships/notesSlide" Target="notesSlides/notesSlide47.xml"/><Relationship Id="rId151" Type="http://schemas.openxmlformats.org/officeDocument/2006/relationships/notesSlide" Target="notesSlides/notesSlide48.xml"/><Relationship Id="rId152" Type="http://schemas.openxmlformats.org/officeDocument/2006/relationships/notesSlide" Target="notesSlides/notesSlide49.xml"/><Relationship Id="rId153" Type="http://schemas.openxmlformats.org/officeDocument/2006/relationships/notesSlide" Target="notesSlides/notesSlide50.xml"/><Relationship Id="rId154" Type="http://schemas.openxmlformats.org/officeDocument/2006/relationships/notesSlide" Target="notesSlides/notesSlide51.xml"/><Relationship Id="rId155" Type="http://schemas.openxmlformats.org/officeDocument/2006/relationships/notesSlide" Target="notesSlides/notesSlide52.xml"/><Relationship Id="rId156" Type="http://schemas.openxmlformats.org/officeDocument/2006/relationships/notesSlide" Target="notesSlides/notesSlide53.xml"/><Relationship Id="rId157" Type="http://schemas.openxmlformats.org/officeDocument/2006/relationships/notesSlide" Target="notesSlides/notesSlide54.xml"/><Relationship Id="rId158" Type="http://schemas.openxmlformats.org/officeDocument/2006/relationships/notesSlide" Target="notesSlides/notesSlide55.xml"/><Relationship Id="rId159" Type="http://schemas.openxmlformats.org/officeDocument/2006/relationships/notesSlide" Target="notesSlides/notesSlide56.xml"/><Relationship Id="rId160" Type="http://schemas.openxmlformats.org/officeDocument/2006/relationships/notesSlide" Target="notesSlides/notesSlide57.xml"/><Relationship Id="rId161" Type="http://schemas.openxmlformats.org/officeDocument/2006/relationships/notesSlide" Target="notesSlides/notesSlide58.xml"/><Relationship Id="rId162" Type="http://schemas.openxmlformats.org/officeDocument/2006/relationships/notesSlide" Target="notesSlides/notesSlide59.xml"/><Relationship Id="rId163" Type="http://schemas.openxmlformats.org/officeDocument/2006/relationships/notesSlide" Target="notesSlides/notesSlide60.xml"/><Relationship Id="rId164" Type="http://schemas.openxmlformats.org/officeDocument/2006/relationships/notesSlide" Target="notesSlides/notesSlide61.xml"/><Relationship Id="rId165" Type="http://schemas.openxmlformats.org/officeDocument/2006/relationships/notesSlide" Target="notesSlides/notesSlide62.xml"/><Relationship Id="rId166" Type="http://schemas.openxmlformats.org/officeDocument/2006/relationships/notesSlide" Target="notesSlides/notesSlide63.xml"/><Relationship Id="rId167" Type="http://schemas.openxmlformats.org/officeDocument/2006/relationships/notesSlide" Target="notesSlides/notesSlide64.xml"/><Relationship Id="rId168" Type="http://schemas.openxmlformats.org/officeDocument/2006/relationships/notesSlide" Target="notesSlides/notesSlide65.xml"/><Relationship Id="rId169" Type="http://schemas.openxmlformats.org/officeDocument/2006/relationships/notesSlide" Target="notesSlides/notesSlide66.xml"/><Relationship Id="rId170" Type="http://schemas.openxmlformats.org/officeDocument/2006/relationships/notesSlide" Target="notesSlides/notesSlide67.xml"/><Relationship Id="rId171" Type="http://schemas.openxmlformats.org/officeDocument/2006/relationships/notesSlide" Target="notesSlides/notesSlide68.xml"/><Relationship Id="rId172" Type="http://schemas.openxmlformats.org/officeDocument/2006/relationships/notesSlide" Target="notesSlides/notesSlide69.xml"/><Relationship Id="rId173" Type="http://schemas.openxmlformats.org/officeDocument/2006/relationships/notesSlide" Target="notesSlides/notesSlide70.xml"/><Relationship Id="rId174" Type="http://schemas.openxmlformats.org/officeDocument/2006/relationships/notesSlide" Target="notesSlides/notesSlide71.xml"/><Relationship Id="rId175" Type="http://schemas.openxmlformats.org/officeDocument/2006/relationships/notesSlide" Target="notesSlides/notesSlide72.xml"/><Relationship Id="rId176" Type="http://schemas.openxmlformats.org/officeDocument/2006/relationships/notesSlide" Target="notesSlides/notesSlide73.xml"/><Relationship Id="rId177" Type="http://schemas.openxmlformats.org/officeDocument/2006/relationships/notesSlide" Target="notesSlides/notesSlide74.xml"/><Relationship Id="rId178" Type="http://schemas.openxmlformats.org/officeDocument/2006/relationships/notesSlide" Target="notesSlides/notesSlide75.xml"/><Relationship Id="rId179" Type="http://schemas.openxmlformats.org/officeDocument/2006/relationships/notesSlide" Target="notesSlides/notesSlide76.xml"/><Relationship Id="rId180" Type="http://schemas.openxmlformats.org/officeDocument/2006/relationships/notesSlide" Target="notesSlides/notesSlide77.xml"/><Relationship Id="rId181" Type="http://schemas.openxmlformats.org/officeDocument/2006/relationships/notesSlide" Target="notesSlides/notesSlide78.xml"/><Relationship Id="rId182" Type="http://schemas.openxmlformats.org/officeDocument/2006/relationships/notesSlide" Target="notesSlides/notesSlide79.xml"/><Relationship Id="rId183" Type="http://schemas.openxmlformats.org/officeDocument/2006/relationships/notesSlide" Target="notesSlides/notesSlide80.xml"/><Relationship Id="rId184" Type="http://schemas.openxmlformats.org/officeDocument/2006/relationships/notesSlide" Target="notesSlides/notesSlide81.xml"/><Relationship Id="rId185" Type="http://schemas.openxmlformats.org/officeDocument/2006/relationships/notesSlide" Target="notesSlides/notesSlide82.xml"/><Relationship Id="rId186" Type="http://schemas.openxmlformats.org/officeDocument/2006/relationships/notesSlide" Target="notesSlides/notesSlide83.xml"/><Relationship Id="rId187" Type="http://schemas.openxmlformats.org/officeDocument/2006/relationships/notesSlide" Target="notesSlides/notesSlide84.xml"/><Relationship Id="rId188" Type="http://schemas.openxmlformats.org/officeDocument/2006/relationships/notesSlide" Target="notesSlides/notesSlide85.xml"/><Relationship Id="rId189" Type="http://schemas.openxmlformats.org/officeDocument/2006/relationships/notesSlide" Target="notesSlides/notesSlide86.xml"/><Relationship Id="rId190" Type="http://schemas.openxmlformats.org/officeDocument/2006/relationships/notesSlide" Target="notesSlides/notesSlide87.xml"/><Relationship Id="rId191" Type="http://schemas.openxmlformats.org/officeDocument/2006/relationships/notesSlide" Target="notesSlides/notesSlide88.xml"/><Relationship Id="rId192" Type="http://schemas.openxmlformats.org/officeDocument/2006/relationships/notesSlide" Target="notesSlides/notesSlide89.xml"/><Relationship Id="rId193" Type="http://schemas.openxmlformats.org/officeDocument/2006/relationships/notesSlide" Target="notesSlides/notesSlide90.xml"/><Relationship Id="rId194" Type="http://schemas.openxmlformats.org/officeDocument/2006/relationships/slide" Target="slides/slide31.xml"/><Relationship Id="rId195" Type="http://schemas.openxmlformats.org/officeDocument/2006/relationships/slide" Target="slides/slide92.xml"/><Relationship Id="rId196" Type="http://schemas.openxmlformats.org/officeDocument/2006/relationships/slide" Target="slides/slide93.xml"/><Relationship Id="rId197" Type="http://schemas.openxmlformats.org/officeDocument/2006/relationships/slide" Target="slides/slide9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CAGR (%)</c:v>
                </c:pt>
              </c:strCache>
            </c:strRef>
          </c:tx>
          <c:dPt>
            <c:idx val="0"/>
            <c:spPr>
              <a:solidFill>
                <a:srgbClr val="39C0D3"/>
              </a:solidFill>
            </c:spPr>
          </c:dPt>
          <c:dPt>
            <c:idx val="1"/>
            <c:spPr>
              <a:solidFill>
                <a:srgbClr val="39C0D3"/>
              </a:solidFill>
            </c:spPr>
          </c:dPt>
          <c:dPt>
            <c:idx val="2"/>
            <c:spPr>
              <a:solidFill>
                <a:srgbClr val="39C0D3"/>
              </a:solidFill>
            </c:spPr>
          </c:dPt>
          <c:dPt>
            <c:idx val="3"/>
            <c:spPr>
              <a:solidFill>
                <a:srgbClr val="39C0D3"/>
              </a:solidFill>
            </c:spPr>
          </c:dPt>
          <c:dPt>
            <c:idx val="4"/>
            <c:spPr>
              <a:solidFill>
                <a:srgbClr val="39C0D3"/>
              </a:solidFill>
            </c:spPr>
          </c:dPt>
          <c:dPt>
            <c:idx val="5"/>
            <c:spPr>
              <a:solidFill>
                <a:srgbClr val="39C0D3"/>
              </a:solidFill>
            </c:spPr>
          </c:dPt>
          <c:dPt>
            <c:idx val="6"/>
            <c:spPr>
              <a:solidFill>
                <a:srgbClr val="39C0D3"/>
              </a:solidFill>
            </c:spPr>
          </c:dPt>
          <c:dPt>
            <c:idx val="7"/>
            <c:spPr>
              <a:solidFill>
                <a:srgbClr val="FFD23B"/>
              </a:solidFill>
            </c:spPr>
          </c:dPt>
          <c:cat>
            <c:strRef>
              <c:f>Sheet1!$A$2:$A$9</c:f>
              <c:strCache>
                <c:ptCount val="8"/>
                <c:pt idx="0">
                  <c:v>Pertanian</c:v>
                </c:pt>
                <c:pt idx="1">
                  <c:v>Kesehatan</c:v>
                </c:pt>
                <c:pt idx="2">
                  <c:v>Konstruksi</c:v>
                </c:pt>
                <c:pt idx="3">
                  <c:v>Perdagangan besar &amp; eceran</c:v>
                </c:pt>
                <c:pt idx="4">
                  <c:v>Industri pengolahan</c:v>
                </c:pt>
                <c:pt idx="5">
                  <c:v>Jasa keuangan</c:v>
                </c:pt>
                <c:pt idx="6">
                  <c:v>Informasi &amp; komunikasi</c:v>
                </c:pt>
                <c:pt idx="7">
                  <c:v>Perjalanan &amp; pariwisata</c:v>
                </c:pt>
              </c:strCache>
            </c:strRef>
          </c:cat>
          <c:val>
            <c:numRef>
              <c:f>Sheet1!$B$2:$B$9</c:f>
              <c:numCache>
                <c:formatCode>General</c:formatCode>
                <c:ptCount val="8"/>
                <c:pt idx="0">
                  <c:v>1.5</c:v>
                </c:pt>
                <c:pt idx="1">
                  <c:v>1.9</c:v>
                </c:pt>
                <c:pt idx="2">
                  <c:v>2.1</c:v>
                </c:pt>
                <c:pt idx="3">
                  <c:v>2.4</c:v>
                </c:pt>
                <c:pt idx="4">
                  <c:v>2.6</c:v>
                </c:pt>
                <c:pt idx="5">
                  <c:v>3.4</c:v>
                </c:pt>
                <c:pt idx="6">
                  <c:v>3.4</c:v>
                </c:pt>
                <c:pt idx="7">
                  <c:v>3.6</c:v>
                </c:pt>
              </c:numCache>
            </c:numRef>
          </c:val>
        </c:ser>
        <c:dLbls>
          <c:numFmt formatCode="0.0" sourceLinked="0"/>
          <c:txPr>
            <a:bodyPr/>
            <a:lstStyle/>
            <a:p>
              <a:pPr>
                <a:defRPr sz="1300">
                  <a:solidFill>
                    <a:srgbClr val="14313B"/>
                  </a:solidFill>
                </a:defRPr>
              </a:pPr>
            </a:p>
          </c:txPr>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B8C7CC"/>
            </a:solidFill>
          </a:ln>
        </c:spPr>
        <c:txPr>
          <a:bodyPr/>
          <a:lstStyle/>
          <a:p>
            <a:pPr>
              <a:defRPr sz="1300"/>
            </a:pPr>
          </a:p>
        </c:txPr>
        <c:crossAx val="-2113994440"/>
        <c:crosses val="autoZero"/>
        <c:auto val="1"/>
        <c:lblAlgn val="ctr"/>
        <c:lblOffset val="100"/>
        <c:noMultiLvlLbl val="0"/>
      </c:catAx>
      <c:valAx>
        <c:axId val="-2113994440"/>
        <c:scaling>
          <c:max val="4.0"/>
          <c:min val="0.0"/>
        </c:scaling>
        <c:delete val="0"/>
        <c:axPos val="b"/>
        <c:majorGridlines>
          <c:spPr>
            <a:ln>
              <a:solidFill>
                <a:srgbClr val="E3EEF1"/>
              </a:solidFill>
            </a:ln>
          </c:spPr>
        </c:majorGridlines>
        <c:majorTickMark val="out"/>
        <c:minorTickMark val="none"/>
        <c:tickLblPos val="nextTo"/>
        <c:spPr>
          <a:ln>
            <a:noFill/>
          </a:ln>
        </c:spPr>
        <c:txPr>
          <a:bodyPr/>
          <a:lstStyle/>
          <a:p>
            <a:pPr>
              <a:defRPr sz="1200"/>
            </a:pPr>
          </a:p>
        </c:txPr>
        <c:crossAx val="-2068027336"/>
        <c:crosses val="autoZero"/>
      </c:valAx>
    </c:plotArea>
    <c:dispBlanksAs val="gap"/>
  </c:chart>
  <c:txPr>
    <a:bodyPr/>
    <a:lstStyle/>
    <a:p>
      <a:pPr>
        <a:defRPr sz="1300">
          <a:solidFill>
            <a:srgbClr val="14313B"/>
          </a:solidFill>
          <a:latin typeface="Calibri (MS)"/>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Kontribusi terhadap PDB (%)</c:v>
                </c:pt>
              </c:strCache>
            </c:strRef>
          </c:tx>
          <c:spPr>
            <a:ln w="44450">
              <a:solidFill>
                <a:srgbClr val="FFD23B"/>
              </a:solidFill>
            </a:ln>
          </c:spPr>
          <c:marker>
            <c:size val="9"/>
            <c:spPr>
              <a:solidFill>
                <a:srgbClr val="FFD23B"/>
              </a:solidFill>
              <a:ln>
                <a:solidFill>
                  <a:srgbClr val="FFD23B"/>
                </a:solidFill>
              </a:ln>
            </c:spPr>
          </c:marker>
          <c:cat>
            <c:strRef>
              <c:f>Sheet1!$A$2:$A$7</c:f>
              <c:strCache>
                <c:ptCount val="6"/>
                <c:pt idx="0">
                  <c:v>2020</c:v>
                </c:pt>
                <c:pt idx="1">
                  <c:v>2021</c:v>
                </c:pt>
                <c:pt idx="2">
                  <c:v>2022</c:v>
                </c:pt>
                <c:pt idx="3">
                  <c:v>2023</c:v>
                </c:pt>
                <c:pt idx="4">
                  <c:v>2024</c:v>
                </c:pt>
                <c:pt idx="5">
                  <c:v>2025</c:v>
                </c:pt>
              </c:strCache>
            </c:strRef>
          </c:cat>
          <c:val>
            <c:numRef>
              <c:f>Sheet1!$B$2:$B$7</c:f>
              <c:numCache>
                <c:formatCode>General</c:formatCode>
                <c:ptCount val="6"/>
                <c:pt idx="0">
                  <c:v>2.2</c:v>
                </c:pt>
                <c:pt idx="1">
                  <c:v>2.3</c:v>
                </c:pt>
                <c:pt idx="2">
                  <c:v>3.7</c:v>
                </c:pt>
                <c:pt idx="3">
                  <c:v>3.9</c:v>
                </c:pt>
                <c:pt idx="4">
                  <c:v>4.0</c:v>
                </c:pt>
                <c:pt idx="5">
                  <c:v>4.9</c:v>
                </c:pt>
              </c:numCache>
            </c:numRef>
          </c:val>
          <c:smooth val="0"/>
        </c:ser>
        <c:dLbls>
          <c:numFmt formatCode="0.0&quot;%&quot;" sourceLinked="0"/>
          <c:txPr>
            <a:bodyPr/>
            <a:lstStyle/>
            <a:p>
              <a:pPr>
                <a:defRPr sz="1300">
                  <a:solidFill>
                    <a:srgbClr val="14313B"/>
                  </a:solidFill>
                </a:defRPr>
              </a:pPr>
            </a:p>
          </c:txPr>
          <c:dLblPos val="t"/>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B8C7CC"/>
            </a:solidFill>
          </a:ln>
        </c:spPr>
        <c:txPr>
          <a:bodyPr/>
          <a:lstStyle/>
          <a:p>
            <a:pPr>
              <a:defRPr sz="1300"/>
            </a:pPr>
          </a:p>
        </c:txPr>
        <c:crossAx val="2140495176"/>
        <c:crosses val="autoZero"/>
        <c:auto val="1"/>
        <c:lblAlgn val="ctr"/>
        <c:lblOffset val="100"/>
        <c:noMultiLvlLbl val="0"/>
      </c:catAx>
      <c:valAx>
        <c:axId val="2140495176"/>
        <c:scaling>
          <c:max val="5.5"/>
          <c:min val="1.5"/>
        </c:scaling>
        <c:delete val="0"/>
        <c:axPos val="l"/>
        <c:majorGridlines>
          <c:spPr>
            <a:ln>
              <a:solidFill>
                <a:srgbClr val="E3EEF1"/>
              </a:solidFill>
            </a:ln>
          </c:spPr>
        </c:majorGridlines>
        <c:numFmt formatCode="0.0" sourceLinked="0"/>
        <c:majorTickMark val="out"/>
        <c:minorTickMark val="none"/>
        <c:tickLblPos val="nextTo"/>
        <c:spPr>
          <a:ln>
            <a:noFill/>
          </a:ln>
        </c:spPr>
        <c:txPr>
          <a:bodyPr/>
          <a:lstStyle/>
          <a:p>
            <a:pPr>
              <a:defRPr sz="1200"/>
            </a:pPr>
          </a:p>
        </c:txPr>
        <c:crossAx val="2118791784"/>
        <c:crosses val="autoZero"/>
      </c:valAx>
    </c:plotArea>
    <c:plotVisOnly val="1"/>
    <c:dispBlanksAs val="gap"/>
    <c:showDLblsOverMax val="0"/>
  </c:chart>
  <c:txPr>
    <a:bodyPr/>
    <a:lstStyle/>
    <a:p>
      <a:pPr>
        <a:defRPr sz="1300">
          <a:solidFill>
            <a:srgbClr val="14313B"/>
          </a:solidFill>
          <a:latin typeface="Calibri (MS)"/>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Wisatawan mancanegara (juta kunjungan)</c:v>
                </c:pt>
              </c:strCache>
            </c:strRef>
          </c:tx>
          <c:spPr>
            <a:solidFill>
              <a:srgbClr val="FFD23B"/>
            </a:solidFill>
          </c:spPr>
          <c:cat>
            <c:strRef>
              <c:f>Sheet1!$A$2:$A$7</c:f>
              <c:strCache>
                <c:ptCount val="6"/>
                <c:pt idx="0">
                  <c:v>2020</c:v>
                </c:pt>
                <c:pt idx="1">
                  <c:v>2021</c:v>
                </c:pt>
                <c:pt idx="2">
                  <c:v>2022</c:v>
                </c:pt>
                <c:pt idx="3">
                  <c:v>2023</c:v>
                </c:pt>
                <c:pt idx="4">
                  <c:v>2024</c:v>
                </c:pt>
                <c:pt idx="5">
                  <c:v>2025</c:v>
                </c:pt>
              </c:strCache>
            </c:strRef>
          </c:cat>
          <c:val>
            <c:numRef>
              <c:f>Sheet1!$B$2:$B$7</c:f>
              <c:numCache>
                <c:formatCode>General</c:formatCode>
                <c:ptCount val="6"/>
                <c:pt idx="0">
                  <c:v>4.1</c:v>
                </c:pt>
                <c:pt idx="1">
                  <c:v>1.6</c:v>
                </c:pt>
                <c:pt idx="2">
                  <c:v>5.9</c:v>
                </c:pt>
                <c:pt idx="3">
                  <c:v>11.7</c:v>
                </c:pt>
                <c:pt idx="4">
                  <c:v>13.9</c:v>
                </c:pt>
                <c:pt idx="5">
                  <c:v>15.4</c:v>
                </c:pt>
              </c:numCache>
            </c:numRef>
          </c:val>
        </c:ser>
        <c:ser>
          <c:idx val="1"/>
          <c:order val="1"/>
          <c:tx>
            <c:strRef>
              <c:f>Sheet1!$C$1</c:f>
              <c:strCache>
                <c:ptCount val="1"/>
                <c:pt idx="0">
                  <c:v>Wisatawan nusantara (juta perjalanan)</c:v>
                </c:pt>
              </c:strCache>
            </c:strRef>
          </c:tx>
          <c:spPr>
            <a:solidFill>
              <a:srgbClr val="39C0D3"/>
            </a:solidFill>
          </c:spPr>
          <c:cat>
            <c:strRef>
              <c:f>Sheet1!$A$2:$A$7</c:f>
              <c:strCache>
                <c:ptCount val="6"/>
                <c:pt idx="0">
                  <c:v>2020</c:v>
                </c:pt>
                <c:pt idx="1">
                  <c:v>2021</c:v>
                </c:pt>
                <c:pt idx="2">
                  <c:v>2022</c:v>
                </c:pt>
                <c:pt idx="3">
                  <c:v>2023</c:v>
                </c:pt>
                <c:pt idx="4">
                  <c:v>2024</c:v>
                </c:pt>
                <c:pt idx="5">
                  <c:v>2025</c:v>
                </c:pt>
              </c:strCache>
            </c:strRef>
          </c:cat>
          <c:val>
            <c:numRef>
              <c:f>Sheet1!$C$2:$C$7</c:f>
              <c:numCache>
                <c:formatCode>General</c:formatCode>
                <c:ptCount val="6"/>
                <c:pt idx="0">
                  <c:v>524.6</c:v>
                </c:pt>
                <c:pt idx="1">
                  <c:v>613.3</c:v>
                </c:pt>
                <c:pt idx="2">
                  <c:v>734.9</c:v>
                </c:pt>
                <c:pt idx="3">
                  <c:v>839.7</c:v>
                </c:pt>
                <c:pt idx="4">
                  <c:v>1021.1</c:v>
                </c:pt>
                <c:pt idx="5">
                  <c:v>1200.3</c:v>
                </c:pt>
              </c:numCache>
            </c:numRef>
          </c:val>
        </c:ser>
        <c:dLbls>
          <c:numFmt formatCode="#,##0.0" sourceLinked="0"/>
          <c:txPr>
            <a:bodyPr/>
            <a:lstStyle/>
            <a:p>
              <a:pPr>
                <a:defRPr sz="1200">
                  <a:solidFill>
                    <a:srgbClr val="14313B"/>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8C7CC"/>
            </a:solidFill>
          </a:ln>
        </c:spPr>
        <c:txPr>
          <a:bodyPr/>
          <a:lstStyle/>
          <a:p>
            <a:pPr>
              <a:defRPr sz="1200"/>
            </a:pPr>
          </a:p>
        </c:txPr>
        <c:crossAx val="-2113994440"/>
        <c:crosses val="autoZero"/>
        <c:auto val="1"/>
        <c:lblAlgn val="ctr"/>
        <c:lblOffset val="100"/>
        <c:noMultiLvlLbl val="0"/>
      </c:catAx>
      <c:valAx>
        <c:axId val="-2113994440"/>
        <c:scaling/>
        <c:delete val="0"/>
        <c:axPos val="l"/>
        <c:majorGridlines>
          <c:spPr>
            <a:ln>
              <a:solidFill>
                <a:srgbClr val="E3EEF1"/>
              </a:solidFill>
            </a:ln>
          </c:spPr>
        </c:majorGridlines>
        <c:majorTickMark val="out"/>
        <c:minorTickMark val="none"/>
        <c:tickLblPos val="nextTo"/>
        <c:spPr>
          <a:ln>
            <a:noFill/>
          </a:ln>
        </c:spPr>
        <c:txPr>
          <a:bodyPr/>
          <a:lstStyle/>
          <a:p>
            <a:pPr>
              <a:defRPr sz="1100"/>
            </a:pPr>
          </a:p>
        </c:txPr>
        <c:crossAx val="-2068027336"/>
        <c:crosses val="autoZero"/>
      </c:valAx>
    </c:plotArea>
    <c:legend>
      <c:legendPos val="t"/>
      <c:overlay val="0"/>
      <c:txPr>
        <a:bodyPr/>
        <a:lstStyle/>
        <a:p>
          <a:pPr>
            <a:defRPr sz="1200"/>
          </a:pPr>
        </a:p>
      </c:txPr>
    </c:legend>
    <c:dispBlanksAs val="gap"/>
  </c:chart>
  <c:txPr>
    <a:bodyPr/>
    <a:lstStyle/>
    <a:p>
      <a:pPr>
        <a:defRPr sz="1200">
          <a:solidFill>
            <a:srgbClr val="14313B"/>
          </a:solidFill>
          <a:latin typeface="Calibri (M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Jumlah wisatawan 2050 (juta)</c:v>
                </c:pt>
              </c:strCache>
            </c:strRef>
          </c:tx>
          <c:dPt>
            <c:idx val="0"/>
            <c:spPr>
              <a:solidFill>
                <a:srgbClr val="39C0D3"/>
              </a:solidFill>
            </c:spPr>
          </c:dPt>
          <c:dPt>
            <c:idx val="1"/>
            <c:spPr>
              <a:solidFill>
                <a:srgbClr val="39C0D3"/>
              </a:solidFill>
            </c:spPr>
          </c:dPt>
          <c:dPt>
            <c:idx val="2"/>
            <c:spPr>
              <a:solidFill>
                <a:srgbClr val="39C0D3"/>
              </a:solidFill>
            </c:spPr>
          </c:dPt>
          <c:dPt>
            <c:idx val="3"/>
            <c:spPr>
              <a:solidFill>
                <a:srgbClr val="39C0D3"/>
              </a:solidFill>
            </c:spPr>
          </c:dPt>
          <c:dPt>
            <c:idx val="4"/>
            <c:spPr>
              <a:solidFill>
                <a:srgbClr val="39C0D3"/>
              </a:solidFill>
            </c:spPr>
          </c:dPt>
          <c:dPt>
            <c:idx val="5"/>
            <c:spPr>
              <a:solidFill>
                <a:srgbClr val="E4604F"/>
              </a:solidFill>
            </c:spPr>
          </c:dPt>
          <c:dPt>
            <c:idx val="6"/>
            <c:spPr>
              <a:solidFill>
                <a:srgbClr val="5E6E78"/>
              </a:solidFill>
            </c:spPr>
          </c:dPt>
          <c:cat>
            <c:strRef>
              <c:f>Sheet1!$A$2:$A$8</c:f>
              <c:strCache>
                <c:ptCount val="7"/>
                <c:pt idx="0">
                  <c:v>Semua balancing loop dimatikan (hanya R1)</c:v>
                </c:pt>
                <c:pt idx="1">
                  <c:v>Goal-seeking tenaga kerja dimatikan</c:v>
                </c:pt>
                <c:pt idx="2">
                  <c:v>Okupansi akomodasi dimatikan</c:v>
                </c:pt>
                <c:pt idx="3">
                  <c:v>R2 ekonomi–atraksi dimatikan</c:v>
                </c:pt>
                <c:pt idx="4">
                  <c:v>Daya dukung lahan dimatikan</c:v>
                </c:pt>
                <c:pt idx="5">
                  <c:v>B1 kepadatan dimatikan</c:v>
                </c:pt>
                <c:pt idx="6">
                  <c:v>Simulasi dasar (semua loop aktif)</c:v>
                </c:pt>
              </c:strCache>
            </c:strRef>
          </c:cat>
          <c:val>
            <c:numRef>
              <c:f>Sheet1!$B$2:$B$8</c:f>
              <c:numCache>
                <c:formatCode>General</c:formatCode>
                <c:ptCount val="7"/>
                <c:pt idx="0">
                  <c:v>217.37</c:v>
                </c:pt>
                <c:pt idx="1">
                  <c:v>96.2</c:v>
                </c:pt>
                <c:pt idx="2">
                  <c:v>96.23</c:v>
                </c:pt>
                <c:pt idx="3">
                  <c:v>80.24</c:v>
                </c:pt>
                <c:pt idx="4">
                  <c:v>111.66</c:v>
                </c:pt>
                <c:pt idx="5">
                  <c:v>250.32</c:v>
                </c:pt>
                <c:pt idx="6">
                  <c:v>96.2</c:v>
                </c:pt>
              </c:numCache>
            </c:numRef>
          </c:val>
        </c:ser>
        <c:dLbls>
          <c:numFmt formatCode="0.0" sourceLinked="0"/>
          <c:txPr>
            <a:bodyPr/>
            <a:lstStyle/>
            <a:p>
              <a:pPr>
                <a:defRPr sz="1200">
                  <a:solidFill>
                    <a:srgbClr val="14313B"/>
                  </a:solidFill>
                </a:defRPr>
              </a:pPr>
            </a:p>
          </c:txPr>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B8C7CC"/>
            </a:solidFill>
          </a:ln>
        </c:spPr>
        <c:txPr>
          <a:bodyPr/>
          <a:lstStyle/>
          <a:p>
            <a:pPr>
              <a:defRPr sz="1200"/>
            </a:pPr>
          </a:p>
        </c:txPr>
        <c:crossAx val="-2113994440"/>
        <c:crosses val="autoZero"/>
        <c:auto val="1"/>
        <c:lblAlgn val="ctr"/>
        <c:lblOffset val="100"/>
        <c:noMultiLvlLbl val="0"/>
      </c:catAx>
      <c:valAx>
        <c:axId val="-2113994440"/>
        <c:scaling>
          <c:max val="300.0"/>
          <c:min val="0.0"/>
        </c:scaling>
        <c:delete val="0"/>
        <c:axPos val="b"/>
        <c:majorGridlines>
          <c:spPr>
            <a:ln>
              <a:solidFill>
                <a:srgbClr val="E3EEF1"/>
              </a:solidFill>
            </a:ln>
          </c:spPr>
        </c:majorGridlines>
        <c:majorTickMark val="out"/>
        <c:minorTickMark val="none"/>
        <c:tickLblPos val="nextTo"/>
        <c:spPr>
          <a:ln>
            <a:noFill/>
          </a:ln>
        </c:spPr>
        <c:txPr>
          <a:bodyPr/>
          <a:lstStyle/>
          <a:p>
            <a:pPr>
              <a:defRPr sz="1100"/>
            </a:pPr>
          </a:p>
        </c:txPr>
        <c:crossAx val="-2068027336"/>
        <c:crosses val="autoZero"/>
      </c:valAx>
    </c:plotArea>
    <c:dispBlanksAs val="gap"/>
  </c:chart>
  <c:txPr>
    <a:bodyPr/>
    <a:lstStyle/>
    <a:p>
      <a:pPr>
        <a:defRPr sz="1200">
          <a:solidFill>
            <a:srgbClr val="14313B"/>
          </a:solidFill>
          <a:latin typeface="Calibri (M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Data mentah BPS</c:v>
                </c:pt>
              </c:strCache>
            </c:strRef>
          </c:tx>
          <c:spPr>
            <a:ln w="44450">
              <a:solidFill>
                <a:srgbClr val="5E6E78"/>
              </a:solidFill>
            </a:ln>
          </c:spPr>
          <c:marker>
            <c:size val="9"/>
            <c:spPr>
              <a:solidFill>
                <a:srgbClr val="5E6E78"/>
              </a:solidFill>
              <a:ln>
                <a:solidFill>
                  <a:srgbClr val="5E6E78"/>
                </a:solidFill>
              </a:ln>
            </c:spPr>
          </c:marker>
          <c:cat>
            <c:strRef>
              <c:f>Sheet1!$A$2:$A$5</c:f>
              <c:strCache>
                <c:ptCount val="4"/>
                <c:pt idx="0">
                  <c:v>2016</c:v>
                </c:pt>
                <c:pt idx="1">
                  <c:v>2017</c:v>
                </c:pt>
                <c:pt idx="2">
                  <c:v>2018</c:v>
                </c:pt>
                <c:pt idx="3">
                  <c:v>2019</c:v>
                </c:pt>
              </c:strCache>
            </c:strRef>
          </c:cat>
          <c:val>
            <c:numRef>
              <c:f>Sheet1!$B$2:$B$5</c:f>
              <c:numCache>
                <c:formatCode>General</c:formatCode>
                <c:ptCount val="4"/>
                <c:pt idx="0">
                  <c:v>6.551294</c:v>
                </c:pt>
                <c:pt idx="1">
                  <c:v>6.644412</c:v>
                </c:pt>
                <c:pt idx="2">
                  <c:v>7.996959</c:v>
                </c:pt>
                <c:pt idx="3">
                  <c:v>20.520104</c:v>
                </c:pt>
              </c:numCache>
            </c:numRef>
          </c:val>
          <c:smooth val="0"/>
        </c:ser>
        <c:ser>
          <c:idx val="1"/>
          <c:order val="1"/>
          <c:tx>
            <c:strRef>
              <c:f>Sheet1!$C$1</c:f>
              <c:strCache>
                <c:ptCount val="1"/>
                <c:pt idx="0">
                  <c:v>Data tersambung (×2,2997)</c:v>
                </c:pt>
              </c:strCache>
            </c:strRef>
          </c:tx>
          <c:spPr>
            <a:ln w="44450">
              <a:solidFill>
                <a:srgbClr val="39C0D3"/>
              </a:solidFill>
            </a:ln>
          </c:spPr>
          <c:marker>
            <c:size val="9"/>
            <c:spPr>
              <a:solidFill>
                <a:srgbClr val="39C0D3"/>
              </a:solidFill>
              <a:ln>
                <a:solidFill>
                  <a:srgbClr val="39C0D3"/>
                </a:solidFill>
              </a:ln>
            </c:spPr>
          </c:marker>
          <c:cat>
            <c:strRef>
              <c:f>Sheet1!$A$2:$A$5</c:f>
              <c:strCache>
                <c:ptCount val="4"/>
                <c:pt idx="0">
                  <c:v>2016</c:v>
                </c:pt>
                <c:pt idx="1">
                  <c:v>2017</c:v>
                </c:pt>
                <c:pt idx="2">
                  <c:v>2018</c:v>
                </c:pt>
                <c:pt idx="3">
                  <c:v>2019</c:v>
                </c:pt>
              </c:strCache>
            </c:strRef>
          </c:cat>
          <c:val>
            <c:numRef>
              <c:f>Sheet1!$C$2:$C$5</c:f>
              <c:numCache>
                <c:formatCode>General</c:formatCode>
                <c:ptCount val="4"/>
                <c:pt idx="0">
                  <c:v>15.066309</c:v>
                </c:pt>
                <c:pt idx="1">
                  <c:v>15.280457</c:v>
                </c:pt>
                <c:pt idx="2">
                  <c:v>18.390971</c:v>
                </c:pt>
                <c:pt idx="3">
                  <c:v>20.520104</c:v>
                </c:pt>
              </c:numCache>
            </c:numRef>
          </c:val>
          <c:smooth val="0"/>
        </c:ser>
        <c:dLbls>
          <c:numFmt formatCode="0.0" sourceLinked="0"/>
          <c:txPr>
            <a:bodyPr/>
            <a:lstStyle/>
            <a:p>
              <a:pPr>
                <a:defRPr sz="1300">
                  <a:solidFill>
                    <a:srgbClr val="14313B"/>
                  </a:solidFill>
                </a:defRPr>
              </a:pPr>
            </a:p>
          </c:txPr>
          <c:dLblPos val="t"/>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B8C7CC"/>
            </a:solidFill>
          </a:ln>
        </c:spPr>
        <c:txPr>
          <a:bodyPr/>
          <a:lstStyle/>
          <a:p>
            <a:pPr>
              <a:defRPr sz="1300"/>
            </a:pPr>
          </a:p>
        </c:txPr>
        <c:crossAx val="2140495176"/>
        <c:crosses val="autoZero"/>
        <c:auto val="1"/>
        <c:lblAlgn val="ctr"/>
        <c:lblOffset val="100"/>
        <c:noMultiLvlLbl val="0"/>
      </c:catAx>
      <c:valAx>
        <c:axId val="2140495176"/>
        <c:scaling>
          <c:max val="25.0"/>
          <c:min val="0.0"/>
        </c:scaling>
        <c:delete val="0"/>
        <c:axPos val="l"/>
        <c:majorGridlines>
          <c:spPr>
            <a:ln>
              <a:solidFill>
                <a:srgbClr val="E3EEF1"/>
              </a:solidFill>
            </a:ln>
          </c:spPr>
        </c:majorGridlines>
        <c:majorTickMark val="out"/>
        <c:minorTickMark val="none"/>
        <c:tickLblPos val="nextTo"/>
        <c:spPr>
          <a:ln>
            <a:noFill/>
          </a:ln>
        </c:spPr>
        <c:txPr>
          <a:bodyPr/>
          <a:lstStyle/>
          <a:p>
            <a:pPr>
              <a:defRPr sz="1200"/>
            </a:pPr>
          </a:p>
        </c:txPr>
        <c:crossAx val="2118791784"/>
        <c:crosses val="autoZero"/>
      </c:valAx>
    </c:plotArea>
    <c:legend>
      <c:legendPos val="t"/>
      <c:layout/>
      <c:overlay val="0"/>
      <c:txPr>
        <a:bodyPr/>
        <a:lstStyle/>
        <a:p>
          <a:pPr>
            <a:defRPr sz="1300"/>
          </a:pPr>
        </a:p>
      </c:txPr>
    </c:legend>
    <c:plotVisOnly val="1"/>
    <c:dispBlanksAs val="gap"/>
    <c:showDLblsOverMax val="0"/>
  </c:chart>
  <c:txPr>
    <a:bodyPr/>
    <a:lstStyle/>
    <a:p>
      <a:pPr>
        <a:defRPr sz="1300">
          <a:solidFill>
            <a:srgbClr val="14313B"/>
          </a:solidFill>
          <a:latin typeface="Calibri (MS)"/>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Uji parsial</c:v>
                </c:pt>
              </c:strCache>
            </c:strRef>
          </c:tx>
          <c:spPr>
            <a:solidFill>
              <a:srgbClr val="39C0D3"/>
            </a:solidFill>
          </c:spPr>
          <c:cat>
            <c:strRef>
              <c:f>Sheet1!$A$2:$A$6</c:f>
              <c:strCache>
                <c:ptCount val="5"/>
                <c:pt idx="0">
                  <c:v>Jumlah hotel</c:v>
                </c:pt>
                <c:pt idx="1">
                  <c:v>Jumlah ODTW</c:v>
                </c:pt>
                <c:pt idx="2">
                  <c:v>Tenaga kerja</c:v>
                </c:pt>
                <c:pt idx="3">
                  <c:v>Lahan terbangun</c:v>
                </c:pt>
                <c:pt idx="4">
                  <c:v>TPK</c:v>
                </c:pt>
              </c:strCache>
            </c:strRef>
          </c:cat>
          <c:val>
            <c:numRef>
              <c:f>Sheet1!$B$2:$B$6</c:f>
              <c:numCache>
                <c:formatCode>General</c:formatCode>
                <c:ptCount val="5"/>
                <c:pt idx="0">
                  <c:v>0.2011</c:v>
                </c:pt>
                <c:pt idx="1">
                  <c:v>0.3367</c:v>
                </c:pt>
                <c:pt idx="2">
                  <c:v>0.4945</c:v>
                </c:pt>
                <c:pt idx="3">
                  <c:v>0.4813</c:v>
                </c:pt>
                <c:pt idx="4">
                  <c:v>0.6692</c:v>
                </c:pt>
              </c:numCache>
            </c:numRef>
          </c:val>
        </c:ser>
        <c:ser>
          <c:idx val="1"/>
          <c:order val="1"/>
          <c:tx>
            <c:strRef>
              <c:f>Sheet1!$C$1</c:f>
              <c:strCache>
                <c:ptCount val="1"/>
                <c:pt idx="0">
                  <c:v>Uji penuh</c:v>
                </c:pt>
              </c:strCache>
            </c:strRef>
          </c:tx>
          <c:spPr>
            <a:solidFill>
              <a:srgbClr val="0B5E6E"/>
            </a:solidFill>
          </c:spPr>
          <c:cat>
            <c:strRef>
              <c:f>Sheet1!$A$2:$A$6</c:f>
              <c:strCache>
                <c:ptCount val="5"/>
                <c:pt idx="0">
                  <c:v>Jumlah hotel</c:v>
                </c:pt>
                <c:pt idx="1">
                  <c:v>Jumlah ODTW</c:v>
                </c:pt>
                <c:pt idx="2">
                  <c:v>Tenaga kerja</c:v>
                </c:pt>
                <c:pt idx="3">
                  <c:v>Lahan terbangun</c:v>
                </c:pt>
                <c:pt idx="4">
                  <c:v>TPK</c:v>
                </c:pt>
              </c:strCache>
            </c:strRef>
          </c:cat>
          <c:val>
            <c:numRef>
              <c:f>Sheet1!$C$2:$C$6</c:f>
              <c:numCache>
                <c:formatCode>General</c:formatCode>
                <c:ptCount val="5"/>
                <c:pt idx="0">
                  <c:v>0.8228</c:v>
                </c:pt>
                <c:pt idx="1">
                  <c:v>0.7855</c:v>
                </c:pt>
                <c:pt idx="2">
                  <c:v>0.886</c:v>
                </c:pt>
                <c:pt idx="3">
                  <c:v>0.6619</c:v>
                </c:pt>
                <c:pt idx="4">
                  <c:v>0.6224</c:v>
                </c:pt>
              </c:numCache>
            </c:numRef>
          </c:val>
        </c:ser>
        <c:dLbls>
          <c:numFmt formatCode="0.00" sourceLinked="0"/>
          <c:txPr>
            <a:bodyPr/>
            <a:lstStyle/>
            <a:p>
              <a:pPr>
                <a:defRPr sz="1300">
                  <a:solidFill>
                    <a:srgbClr val="14313B"/>
                  </a:solidFill>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B8C7CC"/>
            </a:solidFill>
          </a:ln>
        </c:spPr>
        <c:txPr>
          <a:bodyPr/>
          <a:lstStyle/>
          <a:p>
            <a:pPr>
              <a:defRPr sz="1300"/>
            </a:pPr>
          </a:p>
        </c:txPr>
        <c:crossAx val="-2113994440"/>
        <c:crosses val="autoZero"/>
        <c:auto val="1"/>
        <c:lblAlgn val="ctr"/>
        <c:lblOffset val="100"/>
        <c:noMultiLvlLbl val="0"/>
      </c:catAx>
      <c:valAx>
        <c:axId val="-2113994440"/>
        <c:scaling>
          <c:max val="1.0"/>
          <c:min val="0.0"/>
        </c:scaling>
        <c:delete val="0"/>
        <c:axPos val="l"/>
        <c:majorGridlines>
          <c:spPr>
            <a:ln>
              <a:solidFill>
                <a:srgbClr val="E3EEF1"/>
              </a:solidFill>
            </a:ln>
          </c:spPr>
        </c:majorGridlines>
        <c:majorTickMark val="out"/>
        <c:minorTickMark val="none"/>
        <c:tickLblPos val="nextTo"/>
        <c:spPr>
          <a:ln>
            <a:noFill/>
          </a:ln>
        </c:spPr>
        <c:txPr>
          <a:bodyPr/>
          <a:lstStyle/>
          <a:p>
            <a:pPr>
              <a:defRPr sz="1200"/>
            </a:pPr>
          </a:p>
        </c:txPr>
        <c:crossAx val="-2068027336"/>
        <c:crosses val="autoZero"/>
      </c:valAx>
    </c:plotArea>
    <c:legend>
      <c:legendPos val="t"/>
      <c:overlay val="0"/>
      <c:txPr>
        <a:bodyPr/>
        <a:lstStyle/>
        <a:p>
          <a:pPr>
            <a:defRPr sz="1300"/>
          </a:pPr>
        </a:p>
      </c:txPr>
    </c:legend>
    <c:dispBlanksAs val="gap"/>
  </c:chart>
  <c:txPr>
    <a:bodyPr/>
    <a:lstStyle/>
    <a:p>
      <a:pPr>
        <a:defRPr sz="1300">
          <a:solidFill>
            <a:srgbClr val="14313B"/>
          </a:solidFill>
          <a:latin typeface="Calibri (MS)"/>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Pengaruh maksimum (%)</c:v>
                </c:pt>
              </c:strCache>
            </c:strRef>
          </c:tx>
          <c:dPt>
            <c:idx val="0"/>
            <c:spPr>
              <a:solidFill>
                <a:srgbClr val="8A9BA3"/>
              </a:solidFill>
            </c:spPr>
          </c:dPt>
          <c:dPt>
            <c:idx val="1"/>
            <c:spPr>
              <a:solidFill>
                <a:srgbClr val="9EDCE6"/>
              </a:solidFill>
            </c:spPr>
          </c:dPt>
          <c:dPt>
            <c:idx val="2"/>
            <c:spPr>
              <a:solidFill>
                <a:srgbClr val="0B5E6E"/>
              </a:solidFill>
            </c:spPr>
          </c:dPt>
          <c:dPt>
            <c:idx val="3"/>
            <c:spPr>
              <a:solidFill>
                <a:srgbClr val="9EDCE6"/>
              </a:solidFill>
            </c:spPr>
          </c:dPt>
          <c:dPt>
            <c:idx val="4"/>
            <c:spPr>
              <a:solidFill>
                <a:srgbClr val="FFD23B"/>
              </a:solidFill>
            </c:spPr>
          </c:dPt>
          <c:dPt>
            <c:idx val="5"/>
            <c:spPr>
              <a:solidFill>
                <a:srgbClr val="FFD23B"/>
              </a:solidFill>
            </c:spPr>
          </c:dPt>
          <c:dPt>
            <c:idx val="6"/>
            <c:spPr>
              <a:solidFill>
                <a:srgbClr val="9EDCE6"/>
              </a:solidFill>
            </c:spPr>
          </c:dPt>
          <c:dPt>
            <c:idx val="7"/>
            <c:spPr>
              <a:solidFill>
                <a:srgbClr val="FFD23B"/>
              </a:solidFill>
            </c:spPr>
          </c:dPt>
          <c:cat>
            <c:strRef>
              <c:f>Sheet1!$A$2:$A$9</c:f>
              <c:strCache>
                <c:ptCount val="8"/>
                <c:pt idx="0">
                  <c:v>Sensitivitas ODTW thd investasi</c:v>
                </c:pt>
                <c:pt idx="1">
                  <c:v>ODTW referensi</c:v>
                </c:pt>
                <c:pt idx="2">
                  <c:v>Laju pertumbuhan eksternal</c:v>
                </c:pt>
                <c:pt idx="3">
                  <c:v>RDDL referensi</c:v>
                </c:pt>
                <c:pt idx="4">
                  <c:v>Bobot ODTW</c:v>
                </c:pt>
                <c:pt idx="5">
                  <c:v>Bobot kepadatan</c:v>
                </c:pt>
                <c:pt idx="6">
                  <c:v>Kepadatan referensi</c:v>
                </c:pt>
                <c:pt idx="7">
                  <c:v>Laju penurunan dasar</c:v>
                </c:pt>
              </c:strCache>
            </c:strRef>
          </c:cat>
          <c:val>
            <c:numRef>
              <c:f>Sheet1!$B$2:$B$9</c:f>
              <c:numCache>
                <c:formatCode>General</c:formatCode>
                <c:ptCount val="8"/>
                <c:pt idx="0">
                  <c:v>2.57</c:v>
                </c:pt>
                <c:pt idx="1">
                  <c:v>3.54</c:v>
                </c:pt>
                <c:pt idx="2">
                  <c:v>5.06</c:v>
                </c:pt>
                <c:pt idx="3">
                  <c:v>5.09</c:v>
                </c:pt>
                <c:pt idx="4">
                  <c:v>7.27</c:v>
                </c:pt>
                <c:pt idx="5">
                  <c:v>7.49</c:v>
                </c:pt>
                <c:pt idx="6">
                  <c:v>8.61</c:v>
                </c:pt>
                <c:pt idx="7">
                  <c:v>42.07</c:v>
                </c:pt>
              </c:numCache>
            </c:numRef>
          </c:val>
        </c:ser>
        <c:dLbls>
          <c:numFmt formatCode="0.00&quot;%&quot;" sourceLinked="0"/>
          <c:txPr>
            <a:bodyPr/>
            <a:lstStyle/>
            <a:p>
              <a:pPr>
                <a:defRPr sz="1200">
                  <a:solidFill>
                    <a:srgbClr val="14313B"/>
                  </a:solidFill>
                </a:defRPr>
              </a:pPr>
            </a:p>
          </c:txPr>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B8C7CC"/>
            </a:solidFill>
          </a:ln>
        </c:spPr>
        <c:txPr>
          <a:bodyPr/>
          <a:lstStyle/>
          <a:p>
            <a:pPr>
              <a:defRPr sz="1200"/>
            </a:pPr>
          </a:p>
        </c:txPr>
        <c:crossAx val="-2113994440"/>
        <c:crosses val="autoZero"/>
        <c:auto val="1"/>
        <c:lblAlgn val="ctr"/>
        <c:lblOffset val="100"/>
        <c:noMultiLvlLbl val="0"/>
      </c:catAx>
      <c:valAx>
        <c:axId val="-2113994440"/>
        <c:scaling>
          <c:max val="50.0"/>
          <c:min val="0.0"/>
        </c:scaling>
        <c:delete val="0"/>
        <c:axPos val="b"/>
        <c:majorGridlines>
          <c:spPr>
            <a:ln>
              <a:solidFill>
                <a:srgbClr val="E3EEF1"/>
              </a:solidFill>
            </a:ln>
          </c:spPr>
        </c:majorGridlines>
        <c:majorTickMark val="out"/>
        <c:minorTickMark val="none"/>
        <c:tickLblPos val="nextTo"/>
        <c:spPr>
          <a:ln>
            <a:noFill/>
          </a:ln>
        </c:spPr>
        <c:txPr>
          <a:bodyPr/>
          <a:lstStyle/>
          <a:p>
            <a:pPr>
              <a:defRPr sz="1100"/>
            </a:pPr>
          </a:p>
        </c:txPr>
        <c:crossAx val="-2068027336"/>
        <c:crosses val="autoZero"/>
      </c:valAx>
    </c:plotArea>
    <c:dispBlanksAs val="gap"/>
  </c:chart>
  <c:txPr>
    <a:bodyPr/>
    <a:lstStyle/>
    <a:p>
      <a:pPr>
        <a:defRPr sz="1200">
          <a:solidFill>
            <a:srgbClr val="14313B"/>
          </a:solidFill>
          <a:latin typeface="Calibri (MS)"/>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Skor SUS</c:v>
                </c:pt>
              </c:strCache>
            </c:strRef>
          </c:tx>
          <c:dPt>
            <c:idx val="0"/>
            <c:spPr>
              <a:solidFill>
                <a:srgbClr val="39C0D3"/>
              </a:solidFill>
            </c:spPr>
          </c:dPt>
          <c:dPt>
            <c:idx val="1"/>
            <c:spPr>
              <a:solidFill>
                <a:srgbClr val="39C0D3"/>
              </a:solidFill>
            </c:spPr>
          </c:dPt>
          <c:dPt>
            <c:idx val="2"/>
            <c:spPr>
              <a:solidFill>
                <a:srgbClr val="39C0D3"/>
              </a:solidFill>
            </c:spPr>
          </c:dPt>
          <c:dPt>
            <c:idx val="3"/>
            <c:spPr>
              <a:solidFill>
                <a:srgbClr val="39C0D3"/>
              </a:solidFill>
            </c:spPr>
          </c:dPt>
          <c:dPt>
            <c:idx val="4"/>
            <c:spPr>
              <a:solidFill>
                <a:srgbClr val="39C0D3"/>
              </a:solidFill>
            </c:spPr>
          </c:dPt>
          <c:dPt>
            <c:idx val="5"/>
            <c:spPr>
              <a:solidFill>
                <a:srgbClr val="39C0D3"/>
              </a:solidFill>
            </c:spPr>
          </c:dPt>
          <c:dPt>
            <c:idx val="6"/>
            <c:spPr>
              <a:solidFill>
                <a:srgbClr val="39C0D3"/>
              </a:solidFill>
            </c:spPr>
          </c:dPt>
          <c:dPt>
            <c:idx val="7"/>
            <c:spPr>
              <a:solidFill>
                <a:srgbClr val="E4604F"/>
              </a:solidFill>
            </c:spPr>
          </c:dPt>
          <c:dPt>
            <c:idx val="8"/>
            <c:spPr>
              <a:solidFill>
                <a:srgbClr val="39C0D3"/>
              </a:solidFill>
            </c:spPr>
          </c:dPt>
          <c:dPt>
            <c:idx val="9"/>
            <c:spPr>
              <a:solidFill>
                <a:srgbClr val="39C0D3"/>
              </a:solidFill>
            </c:spPr>
          </c:dPt>
          <c:cat>
            <c:strRef>
              <c:f>Sheet1!$A$2:$A$11</c:f>
              <c:strCache>
                <c:ptCount val="10"/>
                <c:pt idx="0">
                  <c:v>R1</c:v>
                </c:pt>
                <c:pt idx="1">
                  <c:v>R2</c:v>
                </c:pt>
                <c:pt idx="2">
                  <c:v>R3</c:v>
                </c:pt>
                <c:pt idx="3">
                  <c:v>R4</c:v>
                </c:pt>
                <c:pt idx="4">
                  <c:v>R5</c:v>
                </c:pt>
                <c:pt idx="5">
                  <c:v>R6</c:v>
                </c:pt>
                <c:pt idx="6">
                  <c:v>R7</c:v>
                </c:pt>
                <c:pt idx="7">
                  <c:v>R8</c:v>
                </c:pt>
                <c:pt idx="8">
                  <c:v>R9</c:v>
                </c:pt>
                <c:pt idx="9">
                  <c:v>R10</c:v>
                </c:pt>
              </c:strCache>
            </c:strRef>
          </c:cat>
          <c:val>
            <c:numRef>
              <c:f>Sheet1!$B$2:$B$11</c:f>
              <c:numCache>
                <c:formatCode>General</c:formatCode>
                <c:ptCount val="10"/>
                <c:pt idx="0">
                  <c:v>97.5</c:v>
                </c:pt>
                <c:pt idx="1">
                  <c:v>87.5</c:v>
                </c:pt>
                <c:pt idx="2">
                  <c:v>100</c:v>
                </c:pt>
                <c:pt idx="3">
                  <c:v>100</c:v>
                </c:pt>
                <c:pt idx="4">
                  <c:v>85</c:v>
                </c:pt>
                <c:pt idx="5">
                  <c:v>87.5</c:v>
                </c:pt>
                <c:pt idx="6">
                  <c:v>97.5</c:v>
                </c:pt>
                <c:pt idx="7">
                  <c:v>60</c:v>
                </c:pt>
                <c:pt idx="8">
                  <c:v>70</c:v>
                </c:pt>
                <c:pt idx="9">
                  <c:v>100</c:v>
                </c:pt>
              </c:numCache>
            </c:numRef>
          </c:val>
        </c:ser>
        <c:dLbls>
          <c:numFmt formatCode="0.0" sourceLinked="0"/>
          <c:txPr>
            <a:bodyPr/>
            <a:lstStyle/>
            <a:p>
              <a:pPr>
                <a:defRPr sz="1200">
                  <a:solidFill>
                    <a:srgbClr val="14313B"/>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B8C7CC"/>
            </a:solidFill>
          </a:ln>
        </c:spPr>
        <c:txPr>
          <a:bodyPr/>
          <a:lstStyle/>
          <a:p>
            <a:pPr>
              <a:defRPr sz="1200"/>
            </a:pPr>
          </a:p>
        </c:txPr>
        <c:crossAx val="-2113994440"/>
        <c:crosses val="autoZero"/>
        <c:auto val="1"/>
        <c:lblAlgn val="ctr"/>
        <c:lblOffset val="100"/>
        <c:noMultiLvlLbl val="0"/>
      </c:catAx>
      <c:valAx>
        <c:axId val="-2113994440"/>
        <c:scaling>
          <c:max val="110.0"/>
          <c:min val="0.0"/>
        </c:scaling>
        <c:delete val="0"/>
        <c:axPos val="l"/>
        <c:majorGridlines>
          <c:spPr>
            <a:ln>
              <a:solidFill>
                <a:srgbClr val="E3EEF1"/>
              </a:solidFill>
            </a:ln>
          </c:spPr>
        </c:majorGridlines>
        <c:majorTickMark val="out"/>
        <c:minorTickMark val="none"/>
        <c:tickLblPos val="nextTo"/>
        <c:spPr>
          <a:ln>
            <a:noFill/>
          </a:ln>
        </c:spPr>
        <c:txPr>
          <a:bodyPr/>
          <a:lstStyle/>
          <a:p>
            <a:pPr>
              <a:defRPr sz="1100"/>
            </a:pPr>
          </a:p>
        </c:txPr>
        <c:crossAx val="-2068027336"/>
        <c:crosses val="autoZero"/>
        <c:majorUnit val="20.0"/>
      </c:valAx>
    </c:plotArea>
    <c:dispBlanksAs val="gap"/>
  </c:chart>
  <c:txPr>
    <a:bodyPr/>
    <a:lstStyle/>
    <a:p>
      <a:pPr>
        <a:defRPr sz="1200">
          <a:solidFill>
            <a:srgbClr val="14313B"/>
          </a:solidFill>
          <a:latin typeface="Calibri (M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Salam dan perkenalan. Judul: Perancangan Aplikasi Simulasi Kebijakan Pariwisata Menggunakan Sistem Dinamis dengan Integrasi Data Citra Satelit, studi kasus Provinsi DIY. Sebutkan dosen pembimbing dan dua dosen penguji.</a:t>
            </a:r>
          </a:p>
          <a:p>
            <a:r>
              <a:rPr lang="en-US"/>
              <a:t>1</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Paparan mengikuti tiga tujuan penelitian, bukan urutan bab. Setelah pendahuluan dan fondasi metodologi (data, enam tahap, preprocessing), setiap tujuan dibahas dengan pola metode, hasil, makna, lalu ditutup slide ringkasan hasil tujuan. Lampiran disiapkan untuk tanya jawab.</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Pariwisata global mencapai sekitar 1,53 miliar wisatawan internasional pada 2025 dan menyumbang 10% PDB global (2024). Proyeksi lima tahun menempatkan Travel &amp; Tourism sebagai sektor dengan laju pertumbuhan nilai tambah bruto tertinggi (CAGR 3,6%). Di Indonesia, kontribusi terhadap PDB naik dari 2,2% (2020) menjadi 4% (2024), dan kunjungan wisman 2025 mencapai 15,38 juta, naik 10,8%.</a:t>
            </a:r>
          </a:p>
          <a:p>
            <a:r>
              <a:rPr lang="en-US"/>
              <a:t>3</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Kontribusi pariwisata terhadap PDB Indonesia naik dari 2,2 persen pada 2020 menjadi 4 persen pada 2024 dan 4,9 persen pada 2025 (Kementerian Pariwisata). Di sisi permintaan, perjalanan wisatawan nusantara naik dari 524,6 juta pada 2020 menjadi 1.200,3 juta pada 2025, dan kunjungan wisman pulih dari 1,6 juta pada 2021 menjadi 15,4 juta pada 2025. Pesannya: pariwisata pulih cepat pascapandemi dan menjadi prioritas nasional, sehingga perencanaannya butuh alat yang mampu menangkap pertumbuhan jangka panjang. (±45 detik)</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DIY menerima lebih dari 40 juta perjalanan wisatawan nusantara pada 2025 (peringkat ketujuh nasional). Proporsi perjalanan antarprovinsi menuju DIY 59,69%, urutan kedua setelah DKI Jakarta. DIY peringkat satu nasional pada sub-indeks Travel and Tourism Demand Drivers IPKN 2024. Pariwisata adalah sektor prioritas kedua setelah pendidikan dalam RPJMD 2012-2025, dan kawasan Borobudur-Yogyakarta-Prambanan ditetapkan sebagai destinasi pariwisata prioritas melalui Perpres 88/2024.</a:t>
            </a:r>
          </a:p>
          <a:p>
            <a:r>
              <a:rPr lang="en-US"/>
              <a:t>4</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Pariwisata adalah sistem yang kompleks: permintaan, akomodasi, objek daya tarik, tenaga kerja, nilai tambah, dan lahan saling berinteraksi secara non-linear dan dengan jeda waktu (Mai &amp; Smith, 2018). Tekanannya nyata, misalnya kepadatan di koridor Malioboro dan konversi lahan terbangun. Karena itu keterkaitan antarkomponen, bukan komponen secara terpisah, yang menentukan apakah pertumbuhan berkelanjutan.</a:t>
            </a:r>
          </a:p>
          <a:p>
            <a:r>
              <a:rPr lang="en-US"/>
              <a:t>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Metode kuantitatif umum seperti ARIMA, exponential smoothing, VECM, regresi, dan machine learning andal untuk memproyeksikan satu atau beberapa variabel, tetapi memperlakukan variabel secara parsial tanpa feedback loop, akumulasi, dan keterkaitan antara permintaan, kapasitas, dan daya dukung. Sistem dinamis dirancang untuk memahami perilaku sistem kompleks melalui stocks, flows, feedback loop, dan delays, sehingga kebijakan dapat diuji secara virtual (Sterman, 2000). Mai &amp; Smith (2018) di Cat Ba Island menemukan limits to growth tanpa intervensi; pendekatan serupa dipakai di Labuan Bajo dan Saba Budaya Baduy.</a:t>
            </a:r>
          </a:p>
          <a:p>
            <a:r>
              <a:rPr lang="en-US"/>
              <a:t>6</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Tujuan umum: mengembangkan dan memvalidasi model sistem dinamis pariwisata yang terintegrasi dengan citra satelit untuk pemutakhiran data, guna mendukung simulasi kebijakan pariwisata di DIY. Tiga masalah: belum ada variabel penyusun CLD; belum ada model simulasi tervalidasi yang memakai citra satelit dan statistik resmi; belum ada aplikasi web pendukung keputusan. Tiap masalah dijawab satu tujuan operasional.</a:t>
            </a:r>
          </a:p>
          <a:p>
            <a:r>
              <a:rPr lang="en-US"/>
              <a:t>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Lima batasan penelitian. Wilayah DIY dengan data historis 2015-2025 dan tahun dasar 2025 sampai 2050. Struktur dibatasi pada lima stok inti dan tidak memuat guncangan eksternal, harga, promosi, dan musim. Citra satelit hanya estimator untuk lahan terbangun dan jumlah ODTW. Skenario dibatasi pada dua tuas, disusun dari analisis sensitivitas dan dokumen kebijakan tanpa lokakarya pemangku kepentingan. Model dipakai untuk membandingkan arah dan besaran relatif antarskenario, bukan meramalkan angka absolut.</a:t>
            </a:r>
          </a:p>
          <a:p>
            <a:r>
              <a:rPr lang="en-US"/>
              <a:t>9</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Dari sembilan studi sistem dinamis pariwisata yang ditinjau, semuanya bergantung pada data statistik agregat sebagai satu-satunya input dan tidak ada yang menghasilkan aplikasi web. Penelitian ini memadukan statistik resmi, data citra satelit, dan aplikasi web sekaligus, di Provinsi DIY. Tiga kebaruan: integrasi sistem dinamis dengan data spasial multi-temporal, DIY sebagai lokasi yang belum dimodelkan dengan pendekatan terpadu ini, dan implementasi tiga skenario dalam aplikasi web decision support tool.</a:t>
            </a:r>
          </a:p>
          <a:p>
            <a:r>
              <a:rPr lang="en-US"/>
              <a:t>10</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Kerangka pikir menghubungkan masalah, tujuan, metode, dan keluaran. Masalah satu dijawab dengan identifikasi variabel dan penyusunan CLD serta SFD. Masalah dua dijawab dengan integrasi citra satelit, pengujian struktur dan perilaku, kalibrasi, analisis sensitivitas, dan simulasi skenario. Masalah tiga dijawab dengan implementasi aplikasi web yang dievaluasi dengan black-box testing dan SUS.</a:t>
            </a:r>
          </a:p>
          <a:p>
            <a:r>
              <a:rPr lang="en-US"/>
              <a:t>11</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Data historis 2015-2025 tahunan mengikuti ketersediaan statistik resmi tingkat provinsi. Tahun dasar 2025, horizon proyeksi 2050, langkah waktu satu tahun. Wilayah studi DIY terdiri atas lima kabupaten/kota seluas 317.036 hektare. Data dikelompokkan dalam enam kelompok dan bersumber dari BPS (nasional dan DIY), Kementerian Investasi/BKPM, serta hasil pengolahan citra satelit melalui Google Earth Engine.</a:t>
            </a:r>
          </a:p>
          <a:p>
            <a:r>
              <a:rPr lang="en-US"/>
              <a:t>12</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Kerangka mengadaptasi lima tahap Mai &amp; Smith (2018): identifikasi masalah, formulasi hipotesis dinamis, formulasi model, pengujian model, serta perancangan dan evaluasi kebijakan. Diperluas satu tahap di awal (pengumpulan dan preprocessing data) dan satu di akhir (implementasi aplikasi web), serta satu perluasan metodologis: tahap kalibrasi di antara uji perilaku dan analisis sensitivitas (Oliva, 2003; Homer, 2012). Alat: Google Earth Engine, Vensim PLE, Python dengan PySD, Excel/Google Sheets, SDEverywhere, dan Next.js.</a:t>
            </a:r>
          </a:p>
          <a:p>
            <a:r>
              <a:rPr lang="en-US"/>
              <a:t>13</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Data historis 2015-2025 tahunan mengikuti ketersediaan statistik resmi tingkat provinsi. Tahun dasar 2025, horizon proyeksi 2050, langkah waktu satu tahun. Wilayah studi DIY terdiri atas lima kabupaten/kota seluas 317.036 hektare. Data dikelompokkan dalam enam kelompok dan bersumber dari BPS (nasional dan DIY), Kementerian Investasi/BKPM, serta hasil pengolahan citra satelit melalui Google Earth Engine.</a:t>
            </a:r>
          </a:p>
          <a:p>
            <a:r>
              <a:rPr lang="en-US"/>
              <a:t>12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Sebelum pemodelan ada empat ketidakteraturan data. Patahan metode wisnus 2018 ke 2019 disambung dengan faktor 2,2997 hanya untuk uji P5. Lahan 2015 diekstrapolasi dan tidak dipakai menurunkan parameter. Lonjakan akomodasi 2018 dipertahankan karena tidak ada dasar koreksi. Tahun pandemi tetap disimulasikan dan statistik dilaporkan dua versi. Semua perlakuan ditetapkan sebelum model dijalankan.</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Tujuan 1: mengidentifikasi dan merumuskan variabel penyusun CLD. Alurnya metode identifikasi, evaluasi kandidat, hubungan kausal, CLD, dan batas model.</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Variabel tidak diambil mentah dari Mai dan Smith. Model rujukan hanya titik awal, lalu dikontekstualisasi dengan UU 10/2009, RIPPARDA, Renja Dispar, Renstra Kemenpar, dan IPKN, didukung literatur per mekanisme, lalu dievaluasi dengan enam kriteria pada empat tingkat.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Slide ini menjawab Tujuan 1. Kandidat variabel berangkat dari model Mai dan Smith (2018), lalu dikontekstualisasikan dengan RIPPARDA DIY, Renja Dinas Pariwisata DIY 2025, indikator resmi, dan literatur. Lima belas kandidat dari enam subsistem dievaluasi dan seluruhnya dipertahankan karena punya fungsi struktural. Delapan belas hubungan kausal dinilai dari arah pengaruh, mekanisme, dan jenis dukungannya; hubungan yang didukung literatur substantif dibedakan dari yang berasal dari identitas stok-aliran. Satu keputusan penting: hubungan langsung tenaga kerja ke pembangunan ODTW dibuang karena tidak ada dasar kausal memadai, sehingga tenaga kerja menjadi indikator keluaran. Jadi CLD final adalah hasil adaptasi dan evaluasi, bukan replikasi. (±1 menit)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Delapan belas hubungan kausal dievaluasi. Yang penting: dasarnya dibedakan. Ada yang didukung literatur substantif, ada yang berupa identitas atau operasionalisasi model. Dukungan konseptual tidak dipakai sebagai dasar nilai parameter. Hubungan tenaga kerja ke pembangunan ODTW dibuang.</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CLD final dibangun dari kandidat variabel yang dievaluasi terhadap regulasi, dokumen perencanaan, dan literatur. Ada dua loop penguat (R1 pertumbuhan wisatawan, R2 ekonomi-investasi-atraksi) dan empat loop penyeimbang (B1 kepadatan, B2 daya dukung lahan, B3 kapasitas kamar, B4 penyesuaian tenaga kerja). Hubungan yang hanya asosiasi tanpa dasar kausal tidak dipertahankan; salah satunya hubungan langsung tenaga kerja ke pembangunan ODTW.</a:t>
            </a:r>
          </a:p>
          <a:p>
            <a:r>
              <a:rPr lang="en-US"/>
              <a:t>17</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Batas model menetapkan apa yang boleh dan tidak boleh ditafsirkan: 26 variabel endogen, 35 parameter eksogen, dan 15 aspek yang dikeluarkan, misalnya harga, promosi, musim, dan guncangan. Konsekuensinya dicatat agar hasil tidak dibaca di luar ranahnya.</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Jawaban Tujuan 1: 15 variabel kunci dari enam subsistem, 18 hubungan kausal, enam loop, dan batas model eksplisit. CLD ini menjadi masukan langsung Tujuan 2.</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Tujuan 2 adalah bagian terbesar: integrasi citra satelit, formulasi, parameterisasi, uji struktur, uji perilaku dan kalibrasi, sensitivitas, lalu simulasi skenario kebijakan sebagai pemakaian model.</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Citra satelit dipakai untuk dua variabel yang datanya tidak lengkap, dan perannya hanya memutakhirkan data. Pertama, ODTW: BPS hanya menerbitkan 2018–2024; kekosongan 2015–2017 dan 2025 diisi regresi linear ODTW = 121,61 + 34,59 × NTL dari VIIRS, menghasilkan stok awal 201 unit. Kedua, lahan terbangun: luas kelas built Dynamic World 2016–2025 diagregasi langsung tanpa regresi; 2015 diekstrapolasi log-linear dan tidak dipakai menurunkan parameter; stok awal 55.029,54 ha. Kelayakan NTL dinilai dari R² selisih tahunan minimal 0,30 dan RMSE relatif LOOCV maksimal 10 persen; Dynamic World diuji akurasinya pada 200 titik. Tahapan dan rumus evaluasinya dijelaskan pada dua slide berikutnya. (±45 detik)</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Ini tahapan estimasi ODTW dari cahaya malam. Langkah satu sampai empat dikerjakan di Google Earth Engine: menetapkan batas DIY, memanggil komposit bulanan VIIRS 2015–2025, merata-ratakannya menjadi komposit tahunan, lalu mengambil rata-rata zonal seluruh piksel sehingga diperoleh satu nilai NTL per tahun. Langkah lima, NTL dipasangkan dengan ODTW BPS 2018–2024 dan diregresikan secara linear: ODTW = 121,61 + 34,59 × NTL. Langkah enam, kelayakan diuji dengan korelasi selisih tahunan dan LOOCV; keduanya lolos. Langkah tujuh, model final dilatih pada ketujuh titik dan dipakai mengisi 2015–2017 serta 2025 beserta selang prediksi 95 persen; estimasi 2025 sebesar 200,7 menjadi stok awal 201 unit. (±1,5 menit)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Slide ini merangkum metrik evaluasi kedua data citra. Untuk NTL: korelasi dihitung pada level dan pada selisih tahunan; yang menentukan kelayakan adalah R² selisih karena korelasi level bisa tinggi hanya karena tren bersama. Hasilnya 0,405, di atas ambang 0,30. LOOCV mengeluarkan satu tahun bergantian dan memprediksinya; RMSE relatif 5,99 persen, di bawah 10 persen. Setiap estimasi disertai selang prediksi 95 persen. Untuk Dynamic World: uji akurasi pada 200 titik berstratifikasi dengan OA, UA, PA, F1, dan Kappa; karena sampel tidak proporsional terhadap luas, dihitung juga OA terbobot luas sebesar 89,95 persen. Fluktuasi tahunan didiagnosis dengan penyesuaian kovariat gaya ANCOVA terhadap jumlah observasi. (±1,5 menit)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Regresi ODTW = 121,61 + 34,59 x NTL. Korelasi pada level (R2 0,785) sebagian besar dibentuk tren waktu bersama, sehingga kelayakan dinilai dari korelasi selisih tahunan: R2 0,405, di atas ambang 0,30. LOOCV menghasilkan RMSE relatif 5,99 persen, di bawah ambang 10 persen. Estimasi 2025 sebesar 201 unit turun dari 218 pada 2024 dan hanya sedikit di atas satu RMSE, sehingga diuji sensitivitasnya pada 189-218 unit. Validasi spasial: NTL Malioboro-Keraton 37,376 jauh di atas TN Gunung Merapi 0,959, tetapi kurang tajam membedakan kawasan industri tahap awal dan wisata pantai skala kecil.</a:t>
            </a:r>
          </a:p>
          <a:p>
            <a:r>
              <a:rPr lang="en-US"/>
              <a:t>20</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Model regresi dipakai mengisi tahun tanpa data BPS, disertai selang prediksi 95 persen. Nilai 2025 sebesar 201 unit menjadi stok awal, dan karena turun dari 218 nilainya diuji sensitivitas 189 sampai 218. Validasi spasial menunjukkan NTL tinggi di Malioboro dan Kotagede, rendah di TN Merapi.</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Akurasi kelas terbangun Dynamic World 2025 diuji pada 200 titik sampel berstratifikasi: akurasi keseluruhan terbobot luas 89,95 persen, tak terbobot 80,50 persen, Kappa 0,61. User's accuracy kelas terbangun 66 persen dengan komisi dominan (34 dari 100 titik peta terbangun). Seri mentah mencapai puncak 75.624 ha pada 2023 lalu turun ke 55.030 ha pada 2025, penurunan 27 persen yang secara fisik tidak mungkin; diagnosis menunjukkan artefak jumlah observasi per piksel. Dua sumber resmi (BPS dan DLHK) justru lebih tidak konsisten dan tidak sejalan, sehingga Dynamic World tetap dipilih. Nilai mentah tetap dipakai karena tahun dasar 2025 menjadi acuan seluruh parameter dan kalibrasi; koreksi hanya bersifat diagnostik.</a:t>
            </a:r>
          </a:p>
          <a:p>
            <a:r>
              <a:rPr lang="en-US"/>
              <a:t>21</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Deret Dynamic World turun 27 persen dari 2023 ke 2025, yang tidak mungkin secara fisik. Diagnosis menunjukkan luas mengikuti jumlah observasi per piksel, bukan tahun. Nilai mentah tetap dipakai karena tahun dasar 2025 sudah menjadi acuan parameter dan kalibrasi; koreksi hanya alat diagnostik.</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Simpulan bagian citra: dua variabel diperbarui dengan bukti kelayakan terukur. Pelajarannya kondisional: klasifikasi langsung seperti lahan lebih kuat daripada proksi regresi seperti ODTW.</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CLD dikonversi menjadi stock-flow diagram dengan 61 variabel: lima stok, sepuluh aliran, sebelas auxiliary, dan 35 parameter; 26 di antaranya endogen dan 35 eksogen. Lima stok adalah jumlah wisatawan, jumlah hotel dan akomodasi, jumlah ODTW, tenaga kerja pariwisata, dan lahan terbangun, dengan nilai awal tahun dasar 2025 seperti pada tabel.</a:t>
            </a:r>
          </a:p>
          <a:p>
            <a:r>
              <a:rPr lang="en-US"/>
              <a:t>18</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Ini hasil utama formulasi Tujuan 2: CLD dioperasionalkan menjadi stock-flow diagram. Lima stok sebagai kotak, aliran sebagai katup, dan variabel bantu yang menghubungkannya. Tunjukkan letak dua tuas: insentif pada jalur investasi, konservasi pada konversi lahan pariwisata.</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Laju kedatangan wisatawan dihitung dari jumlah wisatawan dikalikan laju pertumbuhan eksternal dan indeks Daya Tarik; laju penurunan dari jumlah wisatawan dikalikan laju penurunan dasar. Daya Tarik adalah indeks tak berdimensi, dinormalisasi terhadap tahun dasar, dengan tiga komponen berbobot: ODTW 0,40, kepadatan 0,35, dan daya dukung lahan 0,25. Komponen ODTW dan kepadatan dibatasi nilai maksimum sebagai hasil perbaikan struktur setelah uji kondisi ekstrem. Laju pertumbuhan dan penurunan hampir seimbang sehingga model sangat sensitif terhadap rasio keduanya.</a:t>
            </a:r>
          </a:p>
          <a:p>
            <a:r>
              <a:rPr lang="en-US"/>
              <a:t>19</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Persamaan subsistem lain. Perhatikan letak dua tuas: insentif pada investasi di jalur R2, konservasi pada konversi lahan pariwisata di jalur B2. Pembatas MIN dan MAX ditambahkan setelah uji kondisi ekstrem.</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Tiga puluh lima parameter dikelompokkan menurut sumber. Pengelompokan ini menentukan apa yang boleh dikalibrasi: data resmi, identitas stok-aliran, dan nilai referensi tidak dikalibrasi.</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Contoh penurunan. LPE diturunkan dari pertumbuhan 2024 ke 2025 dengan indeks daya tarik 2024 sesuai metode Euler. Sensitivitas konstruksi dari identitas stok-aliran, laju penutupan ODTW dari teori populasi stabil, laju konversi dari tren log-linear beserta selang kepercayaannya.</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Lima asumsi yang paling mungkin ditanyakan. Rasio LPD/LPE 0,75 adalah asumsi struktural yang tidak teridentifikasi dari data; data hanya mengidentifikasi selisih bersih keduanya. Bobot daya tarik 0,40/0,35/0,25 murni asumsi peneliti tanpa panel ahli, survei, atau AHP, dengan syarat kestabilan bobot kepadatan lebih dari 0,25 terpenuhi oleh 0,35. Laju demolisi 0,05 setara umur operasi 20 tahun hasil triangulasi Permen PU 45/PRT/M/2007, UU 36/2008 Pasal 11 ayat 6, dan proksi laju penutupan ODTW. Nilai tuas adalah ketetapan peneliti karena tidak ditemukan dokumen kebijakan yang memuat angka. Ambang kepadatan 2,0 ditetapkan sebagai dua kali kepadatan tahun dasar karena tidak ada dasar empiris baku untuk DIY.</a:t>
            </a:r>
          </a:p>
          <a:p>
            <a:r>
              <a:rPr lang="en-US"/>
              <a:t>29</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Uji struktur dilakukan sebelum uji perilaku, mengikuti Barlas dan Sterman, karena kecocokan dengan data tidak bermakna bila strukturnya keliru. Ada tujuh pemeriksaan. Kesesuaian struktur menelusuri setiap hubungan kausal dan kategori sumber parameter. Konsistensi dimensi memakai Units Check di Vensim. Kecukupan batas menyusun daftar variabel endogen, eksogen, dan yang dikeluarkan. Kekekalan materi membandingkan stok dengan identitas Euler dengan toleransi 10 pangkat minus 9. Uji loop melumpuhkan satu loop per kali dan menghitung selisih persen nilai 2050. Uji kondisi ekstrem menjalankan 17 kombinasi dengan enam aturan fisik. Uji galat integrasi membandingkan hasil pada langkah waktu lebih kecil. (±1,5 menit)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Empat uji struktur. Konsistensi dimensi: Units Check dan Check Model di Vensim tidak menemukan ketidaksesuaian satuan. Kekekalan materi: selisih nol pada kelima stok untuk 2025-2049; contoh akomodasi 2.291 + 158,18 - 114,55 = 2.334,63, persis sama dengan simulasi 2026. Uji loop: keenam loop berfungsi sesuai hipotesis. Kondisi ekstrem: 17 uji, 15 lolos, 2 lolos dengan catatan, tidak ada yang gagal; uji awalnya menemukan empat titik struktur yang diperbaiki dengan fungsi pembatas tanpa mengubah simulasi dasar secara berarti. Batas model: 61 variabel, 26 endogen dan 35 eksogen.</a:t>
            </a:r>
          </a:p>
          <a:p>
            <a:r>
              <a:rPr lang="en-US"/>
              <a:t>22</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Pada uji loop, setiap loop dilumpuhkan satu per satu dengan menahan variabel penutup loop pada nilai tahun dasar. Mematikan B1 menaikkan wisatawan 2050 dari 96,20 menjadi 250,32 juta (+160,2 persen) dan mengubah lima dari enam variabel lebih dari 1 persen. Hasilnya tidak aditif: mematikan B1 saja lebih tinggi daripada mematikan seluruh rem (217,37 juta), karena R2 tetap menguatkan Daya Tarik hingga 1,0696. Loop okupansi dan goal-seeking bersifat lokal: hanya memengaruhi jumlah hotel dan tenaga kerja.</a:t>
            </a:r>
          </a:p>
          <a:p>
            <a:r>
              <a:rPr lang="en-US"/>
              <a:t>23</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Uji kondisi ekstrem menjalankan 17 kombinasi parameter jauh di luar kondisi wajar dan menilainya dengan enam aturan fisik. Pada E04, rasio investasi terhadap PDRB dinolkan: konstruksi berhenti, akomodasi menyusut, dan TPK naik lalu mendatar tepat di 1,000, artinya pembatas TPK bekerja sebagai batas keras. Pada E09, laju konversi dasar dinaikkan sepuluh kali: RDDL turun tepat ke nol dan lahan berhenti di luas wilayah. Tidak ada uji yang gagal: 15 lolos dan 2 lolos dengan catatan. E15 memicu uji galat integrasi: pelanggaran 57,70 ha pada langkah waktu satu tahun hilang pada langkah 0,25 tahun, jadi itu galat numerik, bukan kesalahan struktur. Batas keberlakuan model sekitar LPE 0,336. Tabel lengkap di Lampiran 9. (±1 menit)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Uji perilaku dilakukan dalam dua bentuk. Uji parsial menguji tiap subsistem secara terpisah dengan mengganti variabel dari luar subsistem menggunakan data aktual, sehingga kesalahan subsistem lain tidak terbawa. Uji penuh menjalankan model tanpa penggantian sejak 2019. Untuk P5, data wisnus sebelum 2019 disambung dengan faktor 2,2997 dari rasio lompatan 2018–2019 terhadap laju pertumbuhan wajar. Penilaiannya berurutan menurut Barlas: uji tren dulu; bila tren berbeda nyata, E1 dan E2 tidak ditafsirkan. Lalu E1, E2, dan DC sebagai ringkasan, dilengkapi MAPE serta dekomposisi U1–U3 untuk mendiagnosis apakah galat sistematis atau sekadar derau. (±1,5 menit)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Data kunjungan wisatawan nusantara mengalami patahan metode pencacahan pada 2018 menuju 2019: dari 8,0 juta menjadi 20,5 juta, sekitar 2,57 kali. Untuk uji P5 yang butuh seri sejak 2016, data 2015-2018 disambung dengan faktor 2,2997 yang diturunkan dari besarnya lompatan dan laju pertumbuhan wajar sebelum dan sesudah patahan. Faktor ini punya ketidakpastian dengan rentang 2,22 sampai 2,38 dan diuji ulang pada kalibrasi diagnostik. Uji penuh dimulai 2019 sehingga tidak memakai sambungan.</a:t>
            </a:r>
          </a:p>
          <a:p>
            <a:r>
              <a:rPr lang="en-US"/>
              <a:t>24</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Uji parsial mengganti masukan dari subsistem lain dengan data aktual. Hasilnya, akomodasi paling baik, semua MAPE di bawah 20 persen. Satu-satunya yang gagal uji tren adalah subsistem wisatawan: simulasi sekitar 6,4 persen per tahun, data sambungan sekitar 11,7 persen.</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Pada uji parsial, jumlah hotel lolos ketiga uji dengan DC 0,2011 dan MAPE 6,05 persen; ODTW DC 0,3367; tenaga kerja DC 0,4945; lahan terbangun DC 0,4813. TPK adalah titik terlemah (DC 0,6692) karena derau data total malam menginap. Pada uji penuh, DC hotel, ODTW, dan tenaga kerja naik tinggi karena galat merambat dari hulu, sedangkan MAPE tetap tergolong wajar: ODTW sangat baik, wisatawan, hotel, tenaga kerja, lahan, dan TPK baik, tiga variabel ekonomi layak, dan tidak ada yang buruk. Wisatawan gagal uji tren pada uji P5 dan uji penuh.</a:t>
            </a:r>
          </a:p>
          <a:p>
            <a:r>
              <a:rPr lang="en-US"/>
              <a:t>25</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Kesesuaian yang baik pada subsistem individual tidak sepenuhnya bertahan saat umpan balik antarsubsistem aktif. Penyebabnya dapat ditelusuri ke satu sumber bersama: galat pertumbuhan jumlah wisatawan yang merambat melalui jalur ekonomi (pengeluaran, PDRB, investasi) ke konstruksi hotel dan pembangunan ODTW, lalu ke tenaga kerja dan lahan terbangun. Komponen U1 (bias level) dominan pada enam dari sembilan variabel. Kesenjangan tren berasal dari rezim pemulihan pascapandemi 2022-2024 yang berada di luar batas model; kenaikan wisnus nasional 2024 sebesar 21,61 persen menunjukkan pola ini tidak spesifik DIY.</a:t>
            </a:r>
          </a:p>
          <a:p>
            <a:r>
              <a:rPr lang="en-US"/>
              <a:t>26</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Kalibrasi adalah perluasan di luar kerangka Mai dan Smith, mengikuti Oliva (2003) dan Homer (2012). Protokolnya ditetapkan sebelum pencarian dijalankan, dengan lima ketentuan: hanya parameter tidak pasti yang boleh dikalibrasi; rentangnya harus berdasar, misalnya selang kepercayaan 95 persen dari tren log-linear; parameter berpasangan dihitung ulang; fungsi tujuannya NRMSE; dan keputusan memakai himpunan indiferen, yaitu titik yang tidak lebih buruk 5 persen dari minimum. Empat aturan R1–R4 menentukan apakah nilai turunan data dipertahankan atau optimum diadopsi. Kalibrasi berjalan per subsistem, lalu Tahap 4 menguji kompatibilitas di model penuh dengan empat pemicu penolakan. (±1,5 menit)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Kalibrasi lima tahap. Tahap 0 adalah koreksi penurunan parameter laju pertumbuhan eksternal dan laju penurunan dasar karena penurunan awal keliru memakai indeks Daya Tarik 1 pada 2024 padahal nilainya 0,99223; dampaknya sekitar 1,6 persen pada wisatawan 2050 dan ini bukan kalibrasi. Tahap 1 dan 2 mencari nilai optimum akomodasi dan lahan. Tahap 3 diagnostik wisatawan karena parameter tidak teridentifikasi terpisah. Tahap 4 menguji kompatibilitas hasil Tahap 2 pada model penuh dan menolaknya. Dari tiga parameter yang diuji, tidak satu pun berubah. Kegagalan itu informatif: kalibrasi berfungsi sebagai instrumen validasi (Oliva, 2003).</a:t>
            </a:r>
          </a:p>
          <a:p>
            <a:r>
              <a:rPr lang="en-US"/>
              <a:t>27</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Tahap 3 bukan mencari nilai baru, tetapi mendiagnosis. Data hanya mengidentifikasi selisih bersih LPE dan LPD, terlihat dari punggung himpunan indiferen. Kesenjangan berasal dari lonjakan pemulihan 2022 sampai 2024, rezim di luar batas model.</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Kesimpulan bagian pengujian: model lolos uji struktur, memadai per subsistem, galat terlokalisasi dan terjelaskan, parameter terkonfirmasi kalibrasi. Karena itu model layak untuk membandingkan skenario, bukan untuk meramal angka absolut.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Analisis sensitivitas punya dua tujuan: memilih tuas kebijakan dan mengukur ketidakpastian dari asumsi. Bagian pertama mengikuti Mai dan Smith: 32 parameter diubah plus-minus 10 persen satu per satu, dan perubahan keluaran 2050 dihitung dalam persen terhadap simulasi dasar. Bagian kedua menguji parameter berstatus asumsi dan kedua tuas pada rentang penuhnya, dengan keluaran berupa lebar rentang. Pemeringkatan dilakukan pada enam variabel keluaran, dan parameter berpasangan selalu dihitung ulang supaya peringkat tidak menyesatkan. Terakhir, kekokohan peringkat skenario diuji pada tujuh kondisi parameter. (±1,5 menit)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Pada uji perubahan 10 persen terhadap wisatawan 2050, Laju Penurunan Dasar menempati peringkat pertama dengan pengaruh maksimum 42,07 persen, karena laju pertumbuhan dan penurunan hampir seimbang sehingga selisih bersihnya sensitif. Tiga dari empat peringkat teratas berstatus asumsi. Laju Pertumbuhan Eksternal hanya peringkat enam karena saat diubah laju penurunan ikut berubah mengikuti rasio sehingga saling meredam. Pada rentang penuh, rasio LPD/LPE 0,60-0,90 menghasilkan lebar rentang wisatawan 153,57 poin persen bila LPE ditahan tetap, dan 69,65 bila LPE diturunkan ulang. Catatan: bobot daya dukung lahan awalnya 10,3 persen tetapi turun menjadi 0,51 persen setelah ketiga bobot dinormalkan, sehingga pengaruh awal adalah artefak.</a:t>
            </a:r>
          </a:p>
          <a:p>
            <a:r>
              <a:rPr lang="en-US"/>
              <a:t>28</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Penetapan tuas tidak semata berdasarkan besarnya pengaruh parameter. Tiga kriteria harus terpenuhi bersamaan: relevansi struktural (terbukti memengaruhi perilaku model), dasar kebijakan (ada peraturan atau dokumen perencanaan), dan keterkendalian (pemerintah punya instrumen). Hasilnya dua tuas: Insentif Kebijakan dan Kebijakan Konservasi Lahan. Parameter yang hanya relevan secara struktural, seperti perilaku wisatawan dan bobot indeks, diperlakukan sebagai sumber ketidakpastian dan diuji pada uji kekokohan.</a:t>
            </a:r>
          </a:p>
          <a:p>
            <a:r>
              <a:rPr lang="en-US"/>
              <a:t>16</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Skenario disusun sebagai paket kebijakan dari dua tuas. Business-as-Usual: tanpa insentif tambahan dan kebutuhan lahan dipenuhi lewat konversi seperti pola historis. Sustainable: insentif 0,1 dan konservasi 1,0, yaitu dorongan investasi terbatas disertai pemenuhan kebutuhan lahan fasilitas pariwisata tanpa konversi tambahan. Development Priority: insentif 0,3 dan konservasi 0, yaitu ekspansi investasi agresif tanpa pengendalian kebutuhan lahan. Dua skenario terakhir memotret ketegangan antara Perda DIY 1/2012 dan Perda DIY 6/2021. Nilai tuas adalah ketetapan peneliti, bukan target pemerintah.</a:t>
            </a:r>
          </a:p>
          <a:p>
            <a:r>
              <a:rPr lang="en-US"/>
              <a:t>30</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Hasil 2050. Development Priority unggul pada seluruh indikator ekonomi: lapangan kerja 697.021 jiwa (+7,18 persen terhadap BAU) dan PDRB pariwisata Rp43.152 miliar (+7,71 persen). Sustainable unggul pada seluruh indikator lingkungan: konversi lahan pariwisata kumulatif nol hektare (turun 100 persen), lahan terbangun terendah, dan rasio daya dukung lahan tertinggi. Business-as-Usual unggul pada indeks kepadatan (2,36 dibanding 2,55). Daya tarik destinasi justru tertinggi pada Development Priority karena komponen ODTW naik 0,0297, jauh melampaui penurunan komponen kepadatan 0,0106 dan komponen lahan 0,0002; rasio daya dukung lahan masih sekitar 0,614 sehingga rem daya dukung belum bekerja berarti.</a:t>
            </a:r>
          </a:p>
          <a:p>
            <a:r>
              <a:rPr lang="en-US"/>
              <a:t>31</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Grafik memperlihatkan lintasan wisatawan dan PDRB 2025–2050: ketiga skenario berhimpit di awal lalu melebar, dengan Development Priority tertinggi. Pertanyaan yang wajar: mengapa daya tarik justru tertinggi pada Development Priority padahal kepadatannya paling tinggi? Tabel komposisi menjawabnya: dibanding BAU, komponen ODTW naik 0,0297, jauh melampaui penurunan komponen kepadatan 0,0106 dan komponen lahan 0,0002. Komponen lahan hampir tidak bergerak karena RDDL masih sekitar 0,614, jauh di atas ambang 0,331. Jadi sampai 2050 pertumbuhan atraksi lebih menentukan daya tarik daripada tekanan lahan. (±1 menit)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Ambang indeks kepadatan 2,0 terlampaui pada ketiga skenario: 2041 pada Development Priority, 2042 pada Sustainable, dan 2043 pada BAU, selisih hanya dua tahun. Artinya kedua tuas hanya menggeser waktu, bukan mencegahnya. Penjelasannya struktural: kedua tuas bekerja di sisi penyediaan (investasi dan lahan), sedangkan kepadatan ditentukan pertumbuhan permintaan. Sebaliknya, ambang rasio daya dukung lahan 0,331 (Perda DIY 6/2021) tidak terlampaui pada ketiga skenario karena nilainya sekitar 0,614. Ambang 2,0 adalah ketetapan peneliti sehingga dibaca sebagai sinyal deskriptif.</a:t>
            </a:r>
          </a:p>
          <a:p>
            <a:r>
              <a:rPr lang="en-US"/>
              <a:t>32</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Karena skenario Sustainable memuat dua tuas, dilakukan simulasi dekomposisi: kontribusi tuas = keluaran tuas tunggal dikurangi tanpa intervensi, dan efek interaksi = selisih paket dikurangi jumlah kontribusi kedua tuas. Tuas insentif menggerakkan dimensi ekonomi, tuas konservasi menggerakkan dimensi lahan. Interaksi pada jumlah wisatawan hanya sekitar 0,7 persen dari selisih paket. Pada lahan terbangun, efek interaksi -57,6 hektare persis menetralkan kontribusi insentif +57,6 hektare, artinya tambahan kebutuhan lahan dari insentif diserap penuh oleh konservasi. Implikasi metodologis: portofolio kebijakan dapat dirancang modular.</a:t>
            </a:r>
          </a:p>
          <a:p>
            <a:r>
              <a:rPr lang="en-US"/>
              <a:t>33</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Pengujian kekokohan menjalankan tiga skenario pada tujuh kondisi parameter: satu kondisi acuan C0 dan enam kondisi C1-C6 yang menggeser rasio LPD/LPE ke 0,65 dan 0,90, bobot daya tarik ke dua kombinasi alternatif, dan laju konversi dasar ke batas selang kepercayaan 95 persen. Ketujuh indikator berperingkat menunjukkan urutan identik pada seluruh kondisi. Perlu ditegaskan bahwa kekokohan berlaku pada peringkat, bukan pada besaran: nilai absolut 2050 berubah cukup besar antarkondisi, sehingga angka proyeksi tidak dapat diklaim sebagai ramalan.</a:t>
            </a:r>
          </a:p>
          <a:p>
            <a:r>
              <a:rPr lang="en-US"/>
              <a:t>34</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Empat implikasi. Pertama, tidak ada pilihan yang unggul pada semua dimensi sehingga penetapan prioritas menjadi keniscayaan. Kedua, instrumen pengendalian lahan pada lingkup kewenangan pariwisata terbatas: lahan terbangun keseluruhan hanya berkurang 0,91 persen karena konversi non-pariwisata tetap berjalan. Ketiga, kepadatan tidak dapat diselesaikan oleh dua tuas yang tersedia dan memerlukan instrumen sisi permintaan seperti pengelolaan sebaran kunjungan antarwaktu dan antarlokasi, di luar cakupan model. Keempat, ada ketegangan antardokumen kebijakan yang terpotret dalam perbandingan Development Priority dan Sustainable. Angka dibaca sebagai perbandingan antarskenario, bukan ramalan.</a:t>
            </a:r>
          </a:p>
          <a:p>
            <a:r>
              <a:rPr lang="en-US"/>
              <a:t>35</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Jawaban Tujuan 2: citra satelit terintegrasi, model 61 variabel terparameterisasi, valid secara struktur, dan sebagai dasar simulasi kebijakan menunjukkan tidak ada skenario unggul di semua dimensi dengan urutan yang kokoh.</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Tujuan 3: membangun aplikasi web yang mengimplementasikan model dan skenario sebagai alat bantu keputusan.</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Alasan aplikasi: hasil model biasanya statis dan butuh Vensim. Aplikasi menjaga model sebagai sumber logika, sementara antarmuka hanya lapisan interaksi. Kebutuhan pengguna dipetakan ke fitur.</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Model Vensim dikonversi memakai SDEverywhere, sedangkan antarmuka dikembangkan dengan Next.js, TypeScript, dan Tailwind CSS. Aplikasi memiliki empat halaman: Beranda, Model (struktur dan evaluasi model), Skenario (tiga skenario dan perbandingan), dan Simulasi (pengguna mengubah dua tuas, memilih variabel keluaran, dan menjalankan simulasi 2025-2050). Pengguna tidak perlu mengubah persamaan atau mengoperasikan software sistem dinamis. Aplikasi dapat diakses di sistemdinamispariwisata.vercel.app.</a:t>
            </a:r>
          </a:p>
          <a:p>
            <a:r>
              <a:rPr lang="en-US"/>
              <a:t>36</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Empat halaman aplikasi sistem dinamis pariwisata DIY: Beranda, Model (struktur dan evaluasi model), Skenario, dan Simulasi. Alamat: sistemdinamispariwisata.vercel.app.</a:t>
            </a:r>
          </a:p>
          <a:p>
            <a:r>
              <a:rPr lang="en-US"/>
              <a:t>47</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Sembilan fungsi utama diuji black-box dan semuanya Pass. Ini membuktikan fungsi berjalan sesuai spesifikasi, belum menilai kemudahan penggunaan.</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Black-box testing terhadap sembilan fungsi utama: seluruhnya Pass (100 persen). Evaluasi usability dengan System Usability Scale pada 10 responden setelah lima tugas: rata-rata 88,50, median 92,50, simpangan baku 13,85, minimum 60, maksimum 100; delapan dari sepuluh responden memberi skor 85 atau lebih. Rata-rata normatif SUS sekitar 68 (Brooke, 2013); skor 88,50 berada di antara Excellent (85,5) dan Best Imaginable (90,9) menurut Bangor et al. (2009). Dua responden kesulitan menafsirkan grafik atau hasil simulasi dan satu bingung pada tampilan dua garis di tuas kebijakan; saran: interpretasi otomatis, panduan penggunaan, dan chatbot. Hasil ini mengukur perceived usability pada 10 responden.</a:t>
            </a:r>
          </a:p>
          <a:p>
            <a:r>
              <a:rPr lang="en-US"/>
              <a:t>37</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Jawaban Tujuan 3: aplikasi web berjalan di peramban, empat halaman, 9 dari 9 fungsi Pass, dan SUS 88,50.</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Tiga hal perlu didiskusikan. Pertama, tahap kalibrasi yang saya tambahkan di luar kerangka Mai dan Smith justru tidak mengubah satu parameter pun; artinya kalibrasi berfungsi sebagai instrumen validasi, sejalan dengan Oliva (2003). Kedua, nilai citra satelit bersifat kondisional: lahan terbangun dari Dynamic World dapat dipakai langsung tanpa regresi, sedangkan ODTW dari cahaya malam butuh regresi proksi dengan kekuatan moderat. Ketiga, karena interaksi kedua tuas hanya sekitar 0,7 persen, portofolio kebijakan dapat dirancang modular. Kontribusi penelitian ini adalah kerangka pengujian yang membedakan sumber ketidaksesuaian dan memetakan pertukaran kebijakan beserta kekokohannya. (±1 menit)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Keterbatasan dikelompokkan menjadi tiga. Data: patahan metode wisnus 2018/2019, lahan terbangun berderau, ODTW 2015-2017 dan 2025 hasil regresi dengan R2 sekitar 0,41, lonjakan akomodasi 2018, dan data investasi hanya PMA/PMDN. Struktur model: guncangan, harga, promosi, musim, dan lingkungan dikeluarkan; daya dukung lahan memakai luas wilayah sehingga longgar; permintaan kamar tak terlayani tidak menekan kunjungan; tenaga kerja hanya indikator keluaran. Penafsiran: rasio LPD/LPE adalah asumsi; nilai tuas dan ambang kepadatan ketetapan peneliti; evaluasi pascakalibrasi memakai data yang sama sehingga bukan validasi independen; skenario tanpa lokakarya pemangku kepentingan.</a:t>
            </a:r>
          </a:p>
          <a:p>
            <a:r>
              <a:rPr lang="en-US"/>
              <a:t>38</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Tujuan satu: variabel penyusun CLD teridentifikasi dan dirumuskan menjadi model dengan 5 stock, 10 flow, 11 auxiliary, 35 parameter, dan enam loop, teradaptasi dari Mai &amp; Smith (2018) ke ketersediaan data resmi Indonesia. Tujuan dua: model yang mengintegrasikan citra satelit valid secara struktural dan memadai pada tingkat subsistem; kalibrasi tidak mengubah parameter apa pun; tiga skenario menunjukkan tidak ada yang unggul pada semua dimensi dan pola itu kokoh terhadap ketidakpastian parameter terbesar. Tujuan tiga: aplikasi web lulus pengujian fungsional pada seluruh fungsi utama.</a:t>
            </a:r>
          </a:p>
          <a:p>
            <a:r>
              <a:rPr lang="en-US"/>
              <a:t>39</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Saran: memperkuat dasar empiris parameter berstatus ketetapan, khususnya rasio laju penurunan terhadap laju pertumbuhan dan ambang indeks kepadatan, melalui survei primer; memperluas model dengan guncangan eksternal, memisahkan pembangunan ODTW berdasarkan sumber pembiayaan bersama Dinas Pariwisata dan Bappeda DIY, dan memverifikasi silang Dynamic World; melibatkan lokakarya pemangku kepentingan dalam penyusunan skenario; dan menambahkan fitur pembaruan data tahunan dan ekspor laporan pada aplikasi.</a:t>
            </a:r>
          </a:p>
          <a:p>
            <a:r>
              <a:rPr lang="en-US"/>
              <a:t>40</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Tutup dengan terima kasih dan buka sesi tanya jawab. Siapkan lampiran sebagai bahan cadangan.</a:t>
            </a:r>
          </a:p>
          <a:p>
            <a:r>
              <a:rPr lang="en-US"/>
              <a:t>41</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 menit. Mulai dari konteks global dan nasional secara singkat, lalu fokus ke DIY. Tekankan kalimat terakhir: kompleksitas dan tekanan daya dukung adalah alasan perlunya pendekatan sistem.</a:t>
            </a:r>
          </a:p>
          <a:p>
            <a:r>
              <a:rPr lang="en-US"/>
              <a:t>2</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Rujukan cepat untuk pertanyaan tentang nilai parameter. Lima kelompok: data statistik resmi (11), identitas stok-aliran (8), ketentuan regulasi (2), asumsi pemodelan (8), dan normalisasi serta tuas kebijakan (6).</a:t>
            </a:r>
          </a:p>
          <a:p>
            <a:r>
              <a:rPr lang="en-US"/>
              <a:t>42</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LOOCV pada tujuh titik tahun (2018-2024) menghasilkan RMSE relatif 5,99 persen. Galat terbesar pada 2022 (-8,2 persen), 2023 (+7,0 persen), dan 2024 (-8,9 persen). Estimasi tahun tanpa data BPS disertai selang prediksi 95 persen; 2016 paling lebar (sekitar 58 unit) karena NTL 1,054 berada di luar rentang data latih (1,483-2,512).</a:t>
            </a:r>
          </a:p>
          <a:p>
            <a:r>
              <a:rPr lang="en-US"/>
              <a:t>43</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Uji akurasi pada 200 titik sampel berstratifikasi (100 per kelas prediksi) terhadap interpretasi visual citra resolusi tinggi. Akurasi tak terbobot bias karena sampel tidak proporsional terhadap luas kelas, sehingga dihitung juga versi terbobot luas mengikuti Olofsson et al. (2014). Ambang klasifikasi baku 0,50 dipertahankan walaupun F1 tertinggi ada di sekitar 0,40-0,45, untuk menghindari penyesuaian berlebih.</a:t>
            </a:r>
          </a:p>
          <a:p>
            <a:r>
              <a:rPr lang="en-US"/>
              <a:t>44</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Cadangan: data yang dilengkapi ekstrapolasi CAGR dan spesifikasi teknis Google Earth Engine, dari dokumentasi repository.</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Perbandingan antarskenario memakai sepuluh indikator dalam tiga dimensi triple bottom line (ekonomi, lingkungan, sosial) ditambah satu indikator skala. Arah interpretasi sengaja dibedakan: tidak semua diarahkan ke maksimum. Ambang rasio daya dukung lahan 0,331 bersumber dari Perda DIY 6/2021; ambang kepadatan 2,0 adalah ketetapan peneliti.</a:t>
            </a:r>
          </a:p>
          <a:p>
            <a:r>
              <a:rPr lang="en-US"/>
              <a:t>45</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Cadangan: KPI pelengkap per skenario, termasuk TPK yang tidak ada di Tabel 60 buku.</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Hasil lengkap uji perilaku. Uji parsial dilaporkan versi tanpa COVID (2020-2021 dikeluarkan); uji penuh dilaporkan versi dengan COVID karena hanya tersisa lima titik data bila dua tahun itu dikeluarkan. Pada uji penuh jumlah wisatawan gagal uji tren sehingga E1 dan E2 tidak ditafsirkan. Pedoman: E1 di bawah 0,05, E2 di bawah 0,30, DC 0,4-0,7 rata-rata sampai baik, MAPE kategori Lewis (1982).</a:t>
            </a:r>
          </a:p>
          <a:p>
            <a:r>
              <a:rPr lang="en-US"/>
              <a:t>46</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Batas model: 61 variabel, 26 endogen dan 35 eksogen (nilai eksogen di Lampiran 1). Tabel ini merangkum aspek yang sengaja dikeluarkan beserta konsekuensinya, sehingga hasil model tidak ditafsirkan pada ranah tersebut, misalnya harga, promosi, musim, dan guncangan eksternal.</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Enam aturan fisik: stok tidak negatif, TPK tidak lebih dari satu, RDDL tidak negatif, lahan tidak melebihi luas wilayah, indeks daya tarik 0–3, dan wisatawan akhir tidak lebih dari lima kali simulasi dasar. Aturan kelipatan tidak diterapkan pada E02 dan E15 karena desain ujinya sengaja menghilangkan rem atau memperbesar pendorong; keduanya lolos dengan catatan.</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Setiap loop dilumpuhkan dengan menahan variabel penutupnya pada nilai tahun dasar. B1 paling kuat dan sistemik; gugus daya dukung lahan satu-satunya yang memengaruhi keenam variabel; R2 berdampak terbesar pada ODTW; loop okupansi dan goal-seeking bersifat lokal. Mematikan B1 saja lebih tinggi daripada mematikan seluruh rem karena R2 tetap menguatkan daya tarik.</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Cadangan: horizon diperpanjang sampai 2150 menunjukkan pola puncak lalu turun ketika daya dukung lahan menipis, dan model tetap stabil.</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Rincian visual empat tahap kalibrasi setelah koreksi penurunan di Tahap 0. Tahap 1 dan 2 adalah pencarian menyeluruh, Tahap 3 diagnostik karena parameter wisatawan tidak teridentifikasi terpisah, dan Tahap 4 menguji kompatibilitas hasil Tahap 2 pada model penuh. Aturan keputusan ditetapkan sebelum pencarian dijalankan.</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Tornado untuk lima variabel keluaran selain jumlah wisatawan, serta lebar rentang ketidakpastian pada pengujian rentang penuh. Rasio LPD/LPE tetap menjadi sumber ketidakpastian terbesar; pada lahan terbangun, laju konversi dasar paling menentukan.</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Persamaan diambil dari model Vensim final yang dipakai pada simulasi skenario. Stok diintegrasikan dengan metode Euler pada langkah waktu satu tahun. Pembatas MIN dan MAX adalah hasil perbaikan struktur setelah uji kondisi ekstrem.</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Data historis tahunan yang menjadi dasar penurunan parameter dan uji perilaku. Wisatawan 2015–2018 ditampilkan sebelum penyambungan (patahan metode 2018→2019). ODTW 2015–2017 dan 2025 adalah estimasi NTL; lahan terbangun berasal dari Dynamic World.</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Validasi spasial Dynamic World: beberapa titik dari uji akurasi saya cek ulang di citra resolusi tinggi. Titik di kawasan yang jelas terbangun atau jelas bervegetasi sesuai dengan kondisi lapangan. Titik yang salah umumnya berada di tepi objek, misalnya tepi jalan yang hanya menutupi sekitar 7 dari 10 meter piksel. Jadi kesalahannya sistematis di tepi objek, bukan acak di seluruh wilayah.</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Lampiran istilah: kode uji dan tahapan yang muncul di slide pengujian, kalibrasi, dan skenario.</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Lampiran istilah: ukuran statistik dan singkatan yang dipakai di seluruh slide.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IRTS 2008 mendefinisikan 12 aktivitas karakteristik pariwisata. Model saya memakai KBLI kategori I (akomodasi dan makan minum) serta R, S, T, U untuk PDRB dan tenaga kerja pariwisata, dan ODTW dikodekan pada golongan 91 dan 93. Angkutan, agen perjalanan, dan perdagangan eceran tidak termasuk cakupan model. S, T, U ikut terhitung karena BPS menyajikannya bersama 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jpeg"/><Relationship Id="rId6" Type="http://schemas.openxmlformats.org/officeDocument/2006/relationships/image" Target="../media/image4.jpeg"/><Relationship Id="rId7" Type="http://schemas.openxmlformats.org/officeDocument/2006/relationships/image" Target="../media/image5.jpeg"/><Relationship Id="rId8"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7.png"/><Relationship Id="rId8"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chart" Target="../charts/chart2.xml"/><Relationship Id="rId10" Type="http://schemas.openxmlformats.org/officeDocument/2006/relationships/chart" Target="../charts/char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10.png"/><Relationship Id="rId8" Type="http://schemas.openxmlformats.org/officeDocument/2006/relationships/image" Target="../media/image11.svg"/><Relationship Id="rId9"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png"/><Relationship Id="rId4" Type="http://schemas.openxmlformats.org/officeDocument/2006/relationships/image" Target="../media/image5.jpeg"/><Relationship Id="rId5" Type="http://schemas.openxmlformats.org/officeDocument/2006/relationships/image" Target="../media/image4.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14.png"/><Relationship Id="rId8" Type="http://schemas.openxmlformats.org/officeDocument/2006/relationships/image" Target="../media/image15.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3.png"/><Relationship Id="rId4" Type="http://schemas.openxmlformats.org/officeDocument/2006/relationships/image" Target="../media/image5.jpeg"/><Relationship Id="rId5" Type="http://schemas.openxmlformats.org/officeDocument/2006/relationships/image" Target="../media/image4.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17.png"/><Relationship Id="rId8" Type="http://schemas.openxmlformats.org/officeDocument/2006/relationships/image" Target="../media/image18.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4.jpeg"/><Relationship Id="rId5" Type="http://schemas.openxmlformats.org/officeDocument/2006/relationships/image" Target="../media/image5.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3.png"/><Relationship Id="rId4" Type="http://schemas.openxmlformats.org/officeDocument/2006/relationships/image" Target="../media/image5.jpe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3.png"/><Relationship Id="rId9" Type="http://schemas.openxmlformats.org/officeDocument/2006/relationships/image" Target="../media/image24.png"/><Relationship Id="rId10" Type="http://schemas.openxmlformats.org/officeDocument/2006/relationships/image" Target="../media/image25.png"/><Relationship Id="rId11" Type="http://schemas.openxmlformats.org/officeDocument/2006/relationships/image" Target="../media/image26.png"/><Relationship Id="rId12" Type="http://schemas.openxmlformats.org/officeDocument/2006/relationships/image" Target="../media/image4.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2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28.png"/><Relationship Id="rId8" Type="http://schemas.openxmlformats.org/officeDocument/2006/relationships/image" Target="../media/image29.svg"/><Relationship Id="rId9" Type="http://schemas.openxmlformats.org/officeDocument/2006/relationships/image" Target="../media/image30.png"/><Relationship Id="rId10" Type="http://schemas.openxmlformats.org/officeDocument/2006/relationships/image" Target="../media/image31.sv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3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3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3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3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35.png"/><Relationship Id="rId8" Type="http://schemas.openxmlformats.org/officeDocument/2006/relationships/image" Target="../media/image104.png"/><Relationship Id="rId9" Type="http://schemas.openxmlformats.org/officeDocument/2006/relationships/notesSlide" Target="../notesSlides/notesSlide9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3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3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38.png"/><Relationship Id="rId8" Type="http://schemas.openxmlformats.org/officeDocument/2006/relationships/image" Target="../media/image39.sv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28.png"/><Relationship Id="rId8" Type="http://schemas.openxmlformats.org/officeDocument/2006/relationships/image" Target="../media/image29.svg"/><Relationship Id="rId9" Type="http://schemas.openxmlformats.org/officeDocument/2006/relationships/image" Target="../media/image30.png"/><Relationship Id="rId10" Type="http://schemas.openxmlformats.org/officeDocument/2006/relationships/image" Target="../media/image31.sv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40.png"/><Relationship Id="rId8" Type="http://schemas.openxmlformats.org/officeDocument/2006/relationships/image" Target="../media/image41.sv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42.png"/><Relationship Id="rId8" Type="http://schemas.openxmlformats.org/officeDocument/2006/relationships/chart" Target="../charts/char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46.png"/><Relationship Id="rId8" Type="http://schemas.openxmlformats.org/officeDocument/2006/relationships/image" Target="../media/image47.svg"/><Relationship Id="rId9" Type="http://schemas.openxmlformats.org/officeDocument/2006/relationships/image" Target="../media/image48.png"/><Relationship Id="rId10" Type="http://schemas.openxmlformats.org/officeDocument/2006/relationships/image" Target="../media/image49.svg"/><Relationship Id="rId11" Type="http://schemas.openxmlformats.org/officeDocument/2006/relationships/image" Target="../media/image50.png"/><Relationship Id="rId12" Type="http://schemas.openxmlformats.org/officeDocument/2006/relationships/image" Target="../media/image51.sv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52.png"/><Relationship Id="rId8" Type="http://schemas.openxmlformats.org/officeDocument/2006/relationships/chart" Target="../charts/char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56.png"/><Relationship Id="rId8" Type="http://schemas.openxmlformats.org/officeDocument/2006/relationships/chart" Target="../charts/char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57.png"/><Relationship Id="rId8" Type="http://schemas.openxmlformats.org/officeDocument/2006/relationships/image" Target="../media/image58.sv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59.png"/><Relationship Id="rId8" Type="http://schemas.openxmlformats.org/officeDocument/2006/relationships/image" Target="../media/image6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30.png"/><Relationship Id="rId8" Type="http://schemas.openxmlformats.org/officeDocument/2006/relationships/image" Target="../media/image31.sv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61.png"/><Relationship Id="rId8" Type="http://schemas.openxmlformats.org/officeDocument/2006/relationships/chart" Target="../charts/char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62.png"/><Relationship Id="rId8" Type="http://schemas.openxmlformats.org/officeDocument/2006/relationships/image" Target="../media/image63.sv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64.png"/><Relationship Id="rId8" Type="http://schemas.openxmlformats.org/officeDocument/2006/relationships/image" Target="../media/image6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6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67.png"/><Relationship Id="rId8" Type="http://schemas.openxmlformats.org/officeDocument/2006/relationships/image" Target="../media/image68.sv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69.png"/><Relationship Id="rId8" Type="http://schemas.openxmlformats.org/officeDocument/2006/relationships/image" Target="../media/image7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71.png"/><Relationship Id="rId8" Type="http://schemas.openxmlformats.org/officeDocument/2006/relationships/image" Target="../media/image72.png"/><Relationship Id="rId9" Type="http://schemas.openxmlformats.org/officeDocument/2006/relationships/image" Target="../media/image69.png"/><Relationship Id="rId10" Type="http://schemas.openxmlformats.org/officeDocument/2006/relationships/image" Target="../media/image70.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73.png"/><Relationship Id="rId8" Type="http://schemas.openxmlformats.org/officeDocument/2006/relationships/chart" Target="../charts/chart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74.png"/><Relationship Id="rId8" Type="http://schemas.openxmlformats.org/officeDocument/2006/relationships/image" Target="../media/image75.sv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67.png"/><Relationship Id="rId8" Type="http://schemas.openxmlformats.org/officeDocument/2006/relationships/image" Target="../media/image68.sv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76.jpeg"/><Relationship Id="rId4" Type="http://schemas.openxmlformats.org/officeDocument/2006/relationships/image" Target="../media/image4.jpeg"/><Relationship Id="rId5" Type="http://schemas.openxmlformats.org/officeDocument/2006/relationships/image" Target="../media/image5.jpeg"/><Relationship Id="rId6" Type="http://schemas.openxmlformats.org/officeDocument/2006/relationships/image" Target="../media/image77.png"/><Relationship Id="rId7" Type="http://schemas.openxmlformats.org/officeDocument/2006/relationships/image" Target="../media/image78.svg"/><Relationship Id="rId8" Type="http://schemas.openxmlformats.org/officeDocument/2006/relationships/image" Target="../media/image79.png"/><Relationship Id="rId9" Type="http://schemas.openxmlformats.org/officeDocument/2006/relationships/image" Target="../media/image80.png"/><Relationship Id="rId10" Type="http://schemas.openxmlformats.org/officeDocument/2006/relationships/image" Target="../media/image81.svg"/><Relationship Id="rId11" Type="http://schemas.openxmlformats.org/officeDocument/2006/relationships/image" Target="../media/image82.png"/><Relationship Id="rId12" Type="http://schemas.openxmlformats.org/officeDocument/2006/relationships/image" Target="../media/image83.svg"/><Relationship Id="rId13" Type="http://schemas.openxmlformats.org/officeDocument/2006/relationships/image" Target="../media/image84.png"/><Relationship Id="rId14" Type="http://schemas.openxmlformats.org/officeDocument/2006/relationships/image" Target="../media/image85.svg"/><Relationship Id="rId15" Type="http://schemas.openxmlformats.org/officeDocument/2006/relationships/image" Target="../media/image86.png"/><Relationship Id="rId16" Type="http://schemas.openxmlformats.org/officeDocument/2006/relationships/image" Target="../media/image87.svg"/><Relationship Id="rId17" Type="http://schemas.openxmlformats.org/officeDocument/2006/relationships/image" Target="../media/image88.png"/><Relationship Id="rId18" Type="http://schemas.openxmlformats.org/officeDocument/2006/relationships/image" Target="../media/image89.sv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90.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9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92.png"/><Relationship Id="rId8" Type="http://schemas.openxmlformats.org/officeDocument/2006/relationships/image" Target="../media/image93.svg"/><Relationship Id="rId9" Type="http://schemas.openxmlformats.org/officeDocument/2006/relationships/image" Target="../media/image94.png"/><Relationship Id="rId10" Type="http://schemas.openxmlformats.org/officeDocument/2006/relationships/image" Target="../media/image95.png"/><Relationship Id="rId11" Type="http://schemas.openxmlformats.org/officeDocument/2006/relationships/image" Target="../media/image96.png"/><Relationship Id="rId12" Type="http://schemas.openxmlformats.org/officeDocument/2006/relationships/image" Target="../media/image9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98.png"/><Relationship Id="rId8" Type="http://schemas.openxmlformats.org/officeDocument/2006/relationships/image" Target="../media/image99.png"/><Relationship Id="rId9" Type="http://schemas.openxmlformats.org/officeDocument/2006/relationships/image" Target="../media/image100.png"/><Relationship Id="rId10" Type="http://schemas.openxmlformats.org/officeDocument/2006/relationships/image" Target="../media/image101.png"/><Relationship Id="rId11" Type="http://schemas.openxmlformats.org/officeDocument/2006/relationships/image" Target="../media/image102.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txBody>
            <a:bodyPr/>
            <a:p/>
          </p:txBody>
        </p:sp>
      </p:grpSp>
      <p:grpSp>
        <p:nvGrpSpPr>
          <p:cNvPr name="Group 4" id="4"/>
          <p:cNvGrpSpPr/>
          <p:nvPr/>
        </p:nvGrpSpPr>
        <p:grpSpPr>
          <a:xfrm rot="0">
            <a:off x="0" y="0"/>
            <a:ext cx="18287524" cy="10287000"/>
            <a:chOff x="0" y="0"/>
            <a:chExt cx="24383365" cy="13716000"/>
          </a:xfrm>
        </p:grpSpPr>
        <p:sp>
          <p:nvSpPr>
            <p:cNvPr name="Freeform 5" id="5"/>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close/>
                </a:path>
              </a:pathLst>
            </a:custGeom>
            <a:solidFill>
              <a:srgbClr val="0B3A45">
                <a:alpha val="1961"/>
              </a:srgbClr>
            </a:solidFill>
          </p:spPr>
          <p:txBody>
            <a:bodyPr/>
            <a:p/>
          </p:txBody>
        </p:sp>
      </p:grpSp>
      <p:grpSp>
        <p:nvGrpSpPr>
          <p:cNvPr name="Group 6" id="6"/>
          <p:cNvGrpSpPr/>
          <p:nvPr/>
        </p:nvGrpSpPr>
        <p:grpSpPr>
          <a:xfrm rot="0">
            <a:off x="754380" y="438912"/>
            <a:ext cx="685800" cy="987552"/>
            <a:chOff x="0" y="0"/>
            <a:chExt cx="914400" cy="1316736"/>
          </a:xfrm>
        </p:grpSpPr>
        <p:sp>
          <p:nvSpPr>
            <p:cNvPr name="Freeform 7" id="7" descr="Ikon Tugu Yogyakarta"/>
            <p:cNvSpPr/>
            <p:nvPr/>
          </p:nvSpPr>
          <p:spPr>
            <a:xfrm flipH="false" flipV="false" rot="0">
              <a:off x="0" y="0"/>
              <a:ext cx="914400" cy="1316736"/>
            </a:xfrm>
            <a:custGeom>
              <a:avLst/>
              <a:gdLst/>
              <a:ahLst/>
              <a:cxnLst/>
              <a:rect r="r" b="b" t="t" l="l"/>
              <a:pathLst>
                <a:path h="1316736" w="914400">
                  <a:moveTo>
                    <a:pt x="0" y="0"/>
                  </a:moveTo>
                  <a:lnTo>
                    <a:pt x="914400" y="0"/>
                  </a:lnTo>
                  <a:lnTo>
                    <a:pt x="914400" y="1316736"/>
                  </a:lnTo>
                  <a:lnTo>
                    <a:pt x="0" y="1316736"/>
                  </a:lnTo>
                  <a:lnTo>
                    <a:pt x="0" y="0"/>
                  </a:lnTo>
                  <a:close/>
                </a:path>
              </a:pathLst>
            </a:custGeom>
            <a:blipFill>
              <a:blip r:embed="rId4"/>
              <a:stretch>
                <a:fillRect l="0" t="-540" r="0" b="-540"/>
              </a:stretch>
            </a:blipFill>
          </p:spPr>
          <p:txBody>
            <a:bodyPr/>
            <a:p/>
          </p:txBody>
        </p:sp>
      </p:grpSp>
      <p:grpSp>
        <p:nvGrpSpPr>
          <p:cNvPr name="Group 8" id="8"/>
          <p:cNvGrpSpPr/>
          <p:nvPr/>
        </p:nvGrpSpPr>
        <p:grpSpPr>
          <a:xfrm rot="0">
            <a:off x="1645920" y="712041"/>
            <a:ext cx="4114800" cy="453866"/>
            <a:chOff x="0" y="0"/>
            <a:chExt cx="5486400" cy="605155"/>
          </a:xfrm>
        </p:grpSpPr>
        <p:sp>
          <p:nvSpPr>
            <p:cNvPr name="Freeform 9" id="9"/>
            <p:cNvSpPr/>
            <p:nvPr/>
          </p:nvSpPr>
          <p:spPr>
            <a:xfrm flipH="false" flipV="false" rot="0">
              <a:off x="0" y="0"/>
              <a:ext cx="5486400" cy="605155"/>
            </a:xfrm>
            <a:custGeom>
              <a:avLst/>
              <a:gdLst/>
              <a:ahLst/>
              <a:cxnLst/>
              <a:rect r="r" b="b" t="t" l="l"/>
              <a:pathLst>
                <a:path h="605155" w="5486400">
                  <a:moveTo>
                    <a:pt x="0" y="0"/>
                  </a:moveTo>
                  <a:lnTo>
                    <a:pt x="5486400" y="0"/>
                  </a:lnTo>
                  <a:lnTo>
                    <a:pt x="5486400" y="605155"/>
                  </a:lnTo>
                  <a:lnTo>
                    <a:pt x="0" y="605155"/>
                  </a:lnTo>
                  <a:close/>
                </a:path>
              </a:pathLst>
            </a:custGeom>
            <a:blipFill>
              <a:blip r:embed="rId5">
                <a:alphaModFix amt="0"/>
              </a:blip>
              <a:stretch>
                <a:fillRect l="0" t="-126530" r="0" b="-126530"/>
              </a:stretch>
            </a:blipFill>
          </p:spPr>
          <p:txBody>
            <a:bodyPr/>
            <a:p/>
          </p:txBody>
        </p:sp>
      </p:grpSp>
      <p:grpSp>
        <p:nvGrpSpPr>
          <p:cNvPr name="Group 10" id="10"/>
          <p:cNvGrpSpPr/>
          <p:nvPr/>
        </p:nvGrpSpPr>
        <p:grpSpPr>
          <a:xfrm rot="0">
            <a:off x="1645920" y="669179"/>
            <a:ext cx="4114800" cy="496681"/>
            <a:chOff x="0" y="0"/>
            <a:chExt cx="5486400" cy="662242"/>
          </a:xfrm>
        </p:grpSpPr>
        <p:sp>
          <p:nvSpPr>
            <p:cNvPr name="Freeform 11" id="11"/>
            <p:cNvSpPr/>
            <p:nvPr/>
          </p:nvSpPr>
          <p:spPr>
            <a:xfrm flipH="false" flipV="false" rot="0">
              <a:off x="0" y="0"/>
              <a:ext cx="5486400" cy="662305"/>
            </a:xfrm>
            <a:custGeom>
              <a:avLst/>
              <a:gdLst/>
              <a:ahLst/>
              <a:cxnLst/>
              <a:rect r="r" b="b" t="t" l="l"/>
              <a:pathLst>
                <a:path h="662305" w="5486400">
                  <a:moveTo>
                    <a:pt x="0" y="0"/>
                  </a:moveTo>
                  <a:lnTo>
                    <a:pt x="5486400" y="0"/>
                  </a:lnTo>
                  <a:lnTo>
                    <a:pt x="5486400" y="662305"/>
                  </a:lnTo>
                  <a:lnTo>
                    <a:pt x="0" y="662305"/>
                  </a:lnTo>
                  <a:close/>
                </a:path>
              </a:pathLst>
            </a:custGeom>
            <a:blipFill>
              <a:blip r:embed="rId6">
                <a:alphaModFix amt="0"/>
              </a:blip>
              <a:stretch>
                <a:fillRect l="0" t="-111302" r="0" b="-111294"/>
              </a:stretch>
            </a:blipFill>
          </p:spPr>
          <p:txBody>
            <a:bodyPr/>
            <a:p/>
          </p:txBody>
        </p:sp>
      </p:grpSp>
      <p:grpSp>
        <p:nvGrpSpPr>
          <p:cNvPr name="Group 12" id="12"/>
          <p:cNvGrpSpPr/>
          <p:nvPr/>
        </p:nvGrpSpPr>
        <p:grpSpPr>
          <a:xfrm rot="0">
            <a:off x="1645920" y="626316"/>
            <a:ext cx="4114800" cy="539544"/>
            <a:chOff x="0" y="0"/>
            <a:chExt cx="5486400" cy="719392"/>
          </a:xfrm>
        </p:grpSpPr>
        <p:sp>
          <p:nvSpPr>
            <p:cNvPr name="Freeform 13" id="13"/>
            <p:cNvSpPr/>
            <p:nvPr/>
          </p:nvSpPr>
          <p:spPr>
            <a:xfrm flipH="false" flipV="false" rot="0">
              <a:off x="0" y="0"/>
              <a:ext cx="5486400" cy="719391"/>
            </a:xfrm>
            <a:custGeom>
              <a:avLst/>
              <a:gdLst/>
              <a:ahLst/>
              <a:cxnLst/>
              <a:rect r="r" b="b" t="t" l="l"/>
              <a:pathLst>
                <a:path h="719391" w="5486400">
                  <a:moveTo>
                    <a:pt x="0" y="0"/>
                  </a:moveTo>
                  <a:lnTo>
                    <a:pt x="5486400" y="0"/>
                  </a:lnTo>
                  <a:lnTo>
                    <a:pt x="5486400" y="719391"/>
                  </a:lnTo>
                  <a:lnTo>
                    <a:pt x="0" y="719391"/>
                  </a:lnTo>
                  <a:close/>
                </a:path>
              </a:pathLst>
            </a:custGeom>
            <a:blipFill>
              <a:blip r:embed="rId7">
                <a:alphaModFix amt="0"/>
              </a:blip>
              <a:stretch>
                <a:fillRect l="0" t="-98601" r="0" b="-98601"/>
              </a:stretch>
            </a:blipFill>
          </p:spPr>
          <p:txBody>
            <a:bodyPr/>
            <a:p/>
          </p:txBody>
        </p:sp>
        <p:sp>
          <p:nvSpPr>
            <p:cNvPr name="TextBox 14" id="14"/>
            <p:cNvSpPr txBox="true"/>
            <p:nvPr/>
          </p:nvSpPr>
          <p:spPr>
            <a:xfrm>
              <a:off x="0" y="-57150"/>
              <a:ext cx="5486400" cy="776542"/>
            </a:xfrm>
            <a:prstGeom prst="rect">
              <a:avLst/>
            </a:prstGeom>
          </p:spPr>
          <p:txBody>
            <a:bodyPr anchor="ctr" rtlCol="false" tIns="0" lIns="0" bIns="0" rIns="0"/>
            <a:lstStyle/>
            <a:p>
              <a:pPr algn="l">
                <a:lnSpc>
                  <a:spcPts val="2700"/>
                </a:lnSpc>
              </a:pPr>
              <a:r>
                <a:rPr lang="en-US" sz="2250" b="true">
                  <a:solidFill>
                    <a:srgbClr val="FFFFFF"/>
                  </a:solidFill>
                  <a:latin typeface="Calibri (MS) Bold"/>
                  <a:ea typeface="Calibri (MS) Bold"/>
                  <a:cs typeface="Calibri (MS) Bold"/>
                  <a:sym typeface="Calibri (MS) Bold"/>
                </a:rPr>
                <a:t>Sidang Skripsi</a:t>
              </a:r>
            </a:p>
          </p:txBody>
        </p:sp>
      </p:grpSp>
      <p:grpSp>
        <p:nvGrpSpPr>
          <p:cNvPr name="Group 15" id="15"/>
          <p:cNvGrpSpPr/>
          <p:nvPr/>
        </p:nvGrpSpPr>
        <p:grpSpPr>
          <a:xfrm rot="0">
            <a:off x="8462772" y="548640"/>
            <a:ext cx="1371600" cy="1371600"/>
            <a:chOff x="0" y="0"/>
            <a:chExt cx="1828800" cy="1828800"/>
          </a:xfrm>
        </p:grpSpPr>
        <p:sp>
          <p:nvSpPr>
            <p:cNvPr name="Freeform 16" id="16" descr="Logo Politeknik Statistika STIS"/>
            <p:cNvSpPr/>
            <p:nvPr/>
          </p:nvSpPr>
          <p:spPr>
            <a:xfrm flipH="false" flipV="false" rot="0">
              <a:off x="0" y="0"/>
              <a:ext cx="1828800" cy="1828800"/>
            </a:xfrm>
            <a:custGeom>
              <a:avLst/>
              <a:gdLst/>
              <a:ahLst/>
              <a:cxnLst/>
              <a:rect r="r" b="b" t="t" l="l"/>
              <a:pathLst>
                <a:path h="1828800" w="1828800">
                  <a:moveTo>
                    <a:pt x="0" y="0"/>
                  </a:moveTo>
                  <a:lnTo>
                    <a:pt x="1828800" y="0"/>
                  </a:lnTo>
                  <a:lnTo>
                    <a:pt x="1828800" y="1828800"/>
                  </a:lnTo>
                  <a:lnTo>
                    <a:pt x="0" y="1828800"/>
                  </a:lnTo>
                  <a:lnTo>
                    <a:pt x="0" y="0"/>
                  </a:lnTo>
                  <a:close/>
                </a:path>
              </a:pathLst>
            </a:custGeom>
            <a:blipFill>
              <a:blip r:embed="rId8"/>
              <a:stretch>
                <a:fillRect l="0" t="0" r="0" b="0"/>
              </a:stretch>
            </a:blipFill>
          </p:spPr>
          <p:txBody>
            <a:bodyPr/>
            <a:p/>
          </p:txBody>
        </p:sp>
      </p:grpSp>
      <p:grpSp>
        <p:nvGrpSpPr>
          <p:cNvPr name="Group 17" id="17"/>
          <p:cNvGrpSpPr/>
          <p:nvPr/>
        </p:nvGrpSpPr>
        <p:grpSpPr>
          <a:xfrm rot="0">
            <a:off x="822960" y="2221992"/>
            <a:ext cx="16637508" cy="822960"/>
            <a:chOff x="0" y="0"/>
            <a:chExt cx="22183344" cy="1097280"/>
          </a:xfrm>
        </p:grpSpPr>
        <p:sp>
          <p:nvSpPr>
            <p:cNvPr name="Freeform 18" id="18"/>
            <p:cNvSpPr/>
            <p:nvPr/>
          </p:nvSpPr>
          <p:spPr>
            <a:xfrm flipH="false" flipV="false" rot="0">
              <a:off x="0" y="0"/>
              <a:ext cx="22183344" cy="1097280"/>
            </a:xfrm>
            <a:custGeom>
              <a:avLst/>
              <a:gdLst/>
              <a:ahLst/>
              <a:cxnLst/>
              <a:rect r="r" b="b" t="t" l="l"/>
              <a:pathLst>
                <a:path h="1097280" w="22183344">
                  <a:moveTo>
                    <a:pt x="0" y="0"/>
                  </a:moveTo>
                  <a:lnTo>
                    <a:pt x="22183344" y="0"/>
                  </a:lnTo>
                  <a:lnTo>
                    <a:pt x="22183344" y="1097280"/>
                  </a:lnTo>
                  <a:lnTo>
                    <a:pt x="0" y="1097280"/>
                  </a:lnTo>
                  <a:close/>
                </a:path>
              </a:pathLst>
            </a:custGeom>
            <a:blipFill>
              <a:blip r:embed="rId5">
                <a:alphaModFix amt="0"/>
              </a:blip>
              <a:stretch>
                <a:fillRect l="0" t="-343648" r="0" b="-343649"/>
              </a:stretch>
            </a:blipFill>
          </p:spPr>
          <p:txBody>
            <a:bodyPr/>
            <a:p/>
          </p:txBody>
        </p:sp>
      </p:grpSp>
      <p:grpSp>
        <p:nvGrpSpPr>
          <p:cNvPr name="Group 19" id="19"/>
          <p:cNvGrpSpPr/>
          <p:nvPr/>
        </p:nvGrpSpPr>
        <p:grpSpPr>
          <a:xfrm rot="0">
            <a:off x="822960" y="2157698"/>
            <a:ext cx="16637508" cy="887254"/>
            <a:chOff x="0" y="0"/>
            <a:chExt cx="22183344" cy="1183005"/>
          </a:xfrm>
        </p:grpSpPr>
        <p:sp>
          <p:nvSpPr>
            <p:cNvPr name="Freeform 20" id="20"/>
            <p:cNvSpPr/>
            <p:nvPr/>
          </p:nvSpPr>
          <p:spPr>
            <a:xfrm flipH="false" flipV="false" rot="0">
              <a:off x="0" y="0"/>
              <a:ext cx="22183344" cy="1183005"/>
            </a:xfrm>
            <a:custGeom>
              <a:avLst/>
              <a:gdLst/>
              <a:ahLst/>
              <a:cxnLst/>
              <a:rect r="r" b="b" t="t" l="l"/>
              <a:pathLst>
                <a:path h="1183005" w="22183344">
                  <a:moveTo>
                    <a:pt x="0" y="0"/>
                  </a:moveTo>
                  <a:lnTo>
                    <a:pt x="22183344" y="0"/>
                  </a:lnTo>
                  <a:lnTo>
                    <a:pt x="22183344" y="1183005"/>
                  </a:lnTo>
                  <a:lnTo>
                    <a:pt x="0" y="1183005"/>
                  </a:lnTo>
                  <a:close/>
                </a:path>
              </a:pathLst>
            </a:custGeom>
            <a:blipFill>
              <a:blip r:embed="rId6">
                <a:alphaModFix amt="0"/>
              </a:blip>
              <a:stretch>
                <a:fillRect l="0" t="-315122" r="0" b="-315123"/>
              </a:stretch>
            </a:blipFill>
          </p:spPr>
          <p:txBody>
            <a:bodyPr/>
            <a:p/>
          </p:txBody>
        </p:sp>
      </p:grpSp>
      <p:grpSp>
        <p:nvGrpSpPr>
          <p:cNvPr name="Group 21" id="21"/>
          <p:cNvGrpSpPr/>
          <p:nvPr/>
        </p:nvGrpSpPr>
        <p:grpSpPr>
          <a:xfrm rot="0">
            <a:off x="822960" y="2093404"/>
            <a:ext cx="16637508" cy="951548"/>
            <a:chOff x="0" y="0"/>
            <a:chExt cx="22183344" cy="1268730"/>
          </a:xfrm>
        </p:grpSpPr>
        <p:sp>
          <p:nvSpPr>
            <p:cNvPr name="Freeform 22" id="22"/>
            <p:cNvSpPr/>
            <p:nvPr/>
          </p:nvSpPr>
          <p:spPr>
            <a:xfrm flipH="false" flipV="false" rot="0">
              <a:off x="0" y="0"/>
              <a:ext cx="22183344" cy="1268730"/>
            </a:xfrm>
            <a:custGeom>
              <a:avLst/>
              <a:gdLst/>
              <a:ahLst/>
              <a:cxnLst/>
              <a:rect r="r" b="b" t="t" l="l"/>
              <a:pathLst>
                <a:path h="1268730" w="22183344">
                  <a:moveTo>
                    <a:pt x="0" y="0"/>
                  </a:moveTo>
                  <a:lnTo>
                    <a:pt x="22183344" y="0"/>
                  </a:lnTo>
                  <a:lnTo>
                    <a:pt x="22183344" y="1268730"/>
                  </a:lnTo>
                  <a:lnTo>
                    <a:pt x="0" y="1268730"/>
                  </a:lnTo>
                  <a:close/>
                </a:path>
              </a:pathLst>
            </a:custGeom>
            <a:blipFill>
              <a:blip r:embed="rId7">
                <a:alphaModFix amt="0"/>
              </a:blip>
              <a:stretch>
                <a:fillRect l="0" t="-290689" r="0" b="-290689"/>
              </a:stretch>
            </a:blipFill>
          </p:spPr>
          <p:txBody>
            <a:bodyPr/>
            <a:p/>
          </p:txBody>
        </p:sp>
        <p:sp>
          <p:nvSpPr>
            <p:cNvPr name="TextBox 23" id="23"/>
            <p:cNvSpPr txBox="true"/>
            <p:nvPr/>
          </p:nvSpPr>
          <p:spPr>
            <a:xfrm>
              <a:off x="0" y="-85725"/>
              <a:ext cx="22183344" cy="1354455"/>
            </a:xfrm>
            <a:prstGeom prst="rect">
              <a:avLst/>
            </a:prstGeom>
          </p:spPr>
          <p:txBody>
            <a:bodyPr anchor="ctr" rtlCol="false" tIns="0" lIns="0" bIns="0" rIns="0"/>
            <a:lstStyle/>
            <a:p>
              <a:pPr algn="ctr">
                <a:lnSpc>
                  <a:spcPts val="5757"/>
                </a:lnSpc>
              </a:pPr>
              <a:r>
                <a:rPr lang="en-US" b="true" sz="4800" i="true">
                  <a:solidFill>
                    <a:srgbClr val="FFD23B"/>
                  </a:solidFill>
                  <a:latin typeface="Calibri (MS) Bold Italics"/>
                  <a:ea typeface="Calibri (MS) Bold Italics"/>
                  <a:cs typeface="Calibri (MS) Bold Italics"/>
                  <a:sym typeface="Calibri (MS) Bold Italics"/>
                </a:rPr>
                <a:t>Perancangan Aplikasi</a:t>
              </a:r>
            </a:p>
          </p:txBody>
        </p:sp>
      </p:grpSp>
      <p:grpSp>
        <p:nvGrpSpPr>
          <p:cNvPr name="Group 24" id="24"/>
          <p:cNvGrpSpPr/>
          <p:nvPr/>
        </p:nvGrpSpPr>
        <p:grpSpPr>
          <a:xfrm rot="0">
            <a:off x="822960" y="3017520"/>
            <a:ext cx="16637508" cy="1097280"/>
            <a:chOff x="0" y="0"/>
            <a:chExt cx="22183344" cy="1463040"/>
          </a:xfrm>
        </p:grpSpPr>
        <p:sp>
          <p:nvSpPr>
            <p:cNvPr name="Freeform 25" id="25"/>
            <p:cNvSpPr/>
            <p:nvPr/>
          </p:nvSpPr>
          <p:spPr>
            <a:xfrm flipH="false" flipV="false" rot="0">
              <a:off x="0" y="0"/>
              <a:ext cx="22183344" cy="1463040"/>
            </a:xfrm>
            <a:custGeom>
              <a:avLst/>
              <a:gdLst/>
              <a:ahLst/>
              <a:cxnLst/>
              <a:rect r="r" b="b" t="t" l="l"/>
              <a:pathLst>
                <a:path h="1463040" w="22183344">
                  <a:moveTo>
                    <a:pt x="0" y="0"/>
                  </a:moveTo>
                  <a:lnTo>
                    <a:pt x="22183344" y="0"/>
                  </a:lnTo>
                  <a:lnTo>
                    <a:pt x="22183344" y="1463040"/>
                  </a:lnTo>
                  <a:lnTo>
                    <a:pt x="0" y="1463040"/>
                  </a:lnTo>
                  <a:close/>
                </a:path>
              </a:pathLst>
            </a:custGeom>
            <a:blipFill>
              <a:blip r:embed="rId5">
                <a:alphaModFix amt="0"/>
              </a:blip>
              <a:stretch>
                <a:fillRect l="0" t="-245236" r="0" b="-245236"/>
              </a:stretch>
            </a:blipFill>
          </p:spPr>
          <p:txBody>
            <a:bodyPr/>
            <a:p/>
          </p:txBody>
        </p:sp>
      </p:grpSp>
      <p:grpSp>
        <p:nvGrpSpPr>
          <p:cNvPr name="Group 26" id="26"/>
          <p:cNvGrpSpPr/>
          <p:nvPr/>
        </p:nvGrpSpPr>
        <p:grpSpPr>
          <a:xfrm rot="0">
            <a:off x="822960" y="2917508"/>
            <a:ext cx="16637508" cy="1197292"/>
            <a:chOff x="0" y="0"/>
            <a:chExt cx="22183344" cy="1596390"/>
          </a:xfrm>
        </p:grpSpPr>
        <p:sp>
          <p:nvSpPr>
            <p:cNvPr name="Freeform 27" id="27"/>
            <p:cNvSpPr/>
            <p:nvPr/>
          </p:nvSpPr>
          <p:spPr>
            <a:xfrm flipH="false" flipV="false" rot="0">
              <a:off x="0" y="0"/>
              <a:ext cx="22183344" cy="1596390"/>
            </a:xfrm>
            <a:custGeom>
              <a:avLst/>
              <a:gdLst/>
              <a:ahLst/>
              <a:cxnLst/>
              <a:rect r="r" b="b" t="t" l="l"/>
              <a:pathLst>
                <a:path h="1596390" w="22183344">
                  <a:moveTo>
                    <a:pt x="0" y="0"/>
                  </a:moveTo>
                  <a:lnTo>
                    <a:pt x="22183344" y="0"/>
                  </a:lnTo>
                  <a:lnTo>
                    <a:pt x="22183344" y="1596390"/>
                  </a:lnTo>
                  <a:lnTo>
                    <a:pt x="0" y="1596390"/>
                  </a:lnTo>
                  <a:close/>
                </a:path>
              </a:pathLst>
            </a:custGeom>
            <a:blipFill>
              <a:blip r:embed="rId6">
                <a:alphaModFix amt="0"/>
              </a:blip>
              <a:stretch>
                <a:fillRect l="0" t="-220574" r="0" b="-220575"/>
              </a:stretch>
            </a:blipFill>
          </p:spPr>
          <p:txBody>
            <a:bodyPr/>
            <a:p/>
          </p:txBody>
        </p:sp>
      </p:grpSp>
      <p:grpSp>
        <p:nvGrpSpPr>
          <p:cNvPr name="Group 28" id="28"/>
          <p:cNvGrpSpPr/>
          <p:nvPr/>
        </p:nvGrpSpPr>
        <p:grpSpPr>
          <a:xfrm rot="0">
            <a:off x="822960" y="2817495"/>
            <a:ext cx="16637508" cy="1297305"/>
            <a:chOff x="0" y="0"/>
            <a:chExt cx="22183344" cy="1729740"/>
          </a:xfrm>
        </p:grpSpPr>
        <p:sp>
          <p:nvSpPr>
            <p:cNvPr name="Freeform 29" id="29"/>
            <p:cNvSpPr/>
            <p:nvPr/>
          </p:nvSpPr>
          <p:spPr>
            <a:xfrm flipH="false" flipV="false" rot="0">
              <a:off x="0" y="0"/>
              <a:ext cx="22183344" cy="1729739"/>
            </a:xfrm>
            <a:custGeom>
              <a:avLst/>
              <a:gdLst/>
              <a:ahLst/>
              <a:cxnLst/>
              <a:rect r="r" b="b" t="t" l="l"/>
              <a:pathLst>
                <a:path h="1729739" w="22183344">
                  <a:moveTo>
                    <a:pt x="0" y="0"/>
                  </a:moveTo>
                  <a:lnTo>
                    <a:pt x="22183344" y="0"/>
                  </a:lnTo>
                  <a:lnTo>
                    <a:pt x="22183344" y="1729739"/>
                  </a:lnTo>
                  <a:lnTo>
                    <a:pt x="0" y="1729739"/>
                  </a:lnTo>
                  <a:close/>
                </a:path>
              </a:pathLst>
            </a:custGeom>
            <a:blipFill>
              <a:blip r:embed="rId7">
                <a:alphaModFix amt="0"/>
              </a:blip>
              <a:stretch>
                <a:fillRect l="0" t="-199889" r="0" b="-199889"/>
              </a:stretch>
            </a:blipFill>
          </p:spPr>
          <p:txBody>
            <a:bodyPr/>
            <a:p/>
          </p:txBody>
        </p:sp>
        <p:sp>
          <p:nvSpPr>
            <p:cNvPr name="TextBox 30" id="30"/>
            <p:cNvSpPr txBox="true"/>
            <p:nvPr/>
          </p:nvSpPr>
          <p:spPr>
            <a:xfrm>
              <a:off x="0" y="-133350"/>
              <a:ext cx="22183344" cy="1863090"/>
            </a:xfrm>
            <a:prstGeom prst="rect">
              <a:avLst/>
            </a:prstGeom>
          </p:spPr>
          <p:txBody>
            <a:bodyPr anchor="ctr" rtlCol="false" tIns="0" lIns="0" bIns="0" rIns="0"/>
            <a:lstStyle/>
            <a:p>
              <a:pPr algn="ctr">
                <a:lnSpc>
                  <a:spcPts val="7557"/>
                </a:lnSpc>
              </a:pPr>
              <a:r>
                <a:rPr lang="en-US" sz="6300" b="true">
                  <a:solidFill>
                    <a:srgbClr val="FFFFFF"/>
                  </a:solidFill>
                  <a:latin typeface="Calibri (MS) Bold"/>
                  <a:ea typeface="Calibri (MS) Bold"/>
                  <a:cs typeface="Calibri (MS) Bold"/>
                  <a:sym typeface="Calibri (MS) Bold"/>
                </a:rPr>
                <a:t>SIMULASI KEBIJAKAN PARIWISATA</a:t>
              </a:r>
            </a:p>
          </p:txBody>
        </p:sp>
      </p:grpSp>
      <p:grpSp>
        <p:nvGrpSpPr>
          <p:cNvPr name="Group 31" id="31"/>
          <p:cNvGrpSpPr/>
          <p:nvPr/>
        </p:nvGrpSpPr>
        <p:grpSpPr>
          <a:xfrm rot="0">
            <a:off x="822960" y="4142232"/>
            <a:ext cx="16637508" cy="685800"/>
            <a:chOff x="0" y="0"/>
            <a:chExt cx="22183344" cy="914400"/>
          </a:xfrm>
        </p:grpSpPr>
        <p:sp>
          <p:nvSpPr>
            <p:cNvPr name="Freeform 32" id="32"/>
            <p:cNvSpPr/>
            <p:nvPr/>
          </p:nvSpPr>
          <p:spPr>
            <a:xfrm flipH="false" flipV="false" rot="0">
              <a:off x="0" y="0"/>
              <a:ext cx="22183344" cy="914400"/>
            </a:xfrm>
            <a:custGeom>
              <a:avLst/>
              <a:gdLst/>
              <a:ahLst/>
              <a:cxnLst/>
              <a:rect r="r" b="b" t="t" l="l"/>
              <a:pathLst>
                <a:path h="914400" w="22183344">
                  <a:moveTo>
                    <a:pt x="0" y="0"/>
                  </a:moveTo>
                  <a:lnTo>
                    <a:pt x="22183344" y="0"/>
                  </a:lnTo>
                  <a:lnTo>
                    <a:pt x="22183344" y="914400"/>
                  </a:lnTo>
                  <a:lnTo>
                    <a:pt x="0" y="914400"/>
                  </a:lnTo>
                  <a:close/>
                </a:path>
              </a:pathLst>
            </a:custGeom>
            <a:blipFill>
              <a:blip r:embed="rId5">
                <a:alphaModFix amt="0"/>
              </a:blip>
              <a:stretch>
                <a:fillRect l="0" t="-422377" r="0" b="-422379"/>
              </a:stretch>
            </a:blipFill>
          </p:spPr>
          <p:txBody>
            <a:bodyPr/>
            <a:p/>
          </p:txBody>
        </p:sp>
      </p:grpSp>
      <p:grpSp>
        <p:nvGrpSpPr>
          <p:cNvPr name="Group 33" id="33"/>
          <p:cNvGrpSpPr/>
          <p:nvPr/>
        </p:nvGrpSpPr>
        <p:grpSpPr>
          <a:xfrm rot="0">
            <a:off x="822960" y="4092226"/>
            <a:ext cx="16637508" cy="735806"/>
            <a:chOff x="0" y="0"/>
            <a:chExt cx="22183344" cy="981075"/>
          </a:xfrm>
        </p:grpSpPr>
        <p:sp>
          <p:nvSpPr>
            <p:cNvPr name="Freeform 34" id="34"/>
            <p:cNvSpPr/>
            <p:nvPr/>
          </p:nvSpPr>
          <p:spPr>
            <a:xfrm flipH="false" flipV="false" rot="0">
              <a:off x="0" y="0"/>
              <a:ext cx="22183344" cy="981075"/>
            </a:xfrm>
            <a:custGeom>
              <a:avLst/>
              <a:gdLst/>
              <a:ahLst/>
              <a:cxnLst/>
              <a:rect r="r" b="b" t="t" l="l"/>
              <a:pathLst>
                <a:path h="981075" w="22183344">
                  <a:moveTo>
                    <a:pt x="0" y="0"/>
                  </a:moveTo>
                  <a:lnTo>
                    <a:pt x="22183344" y="0"/>
                  </a:lnTo>
                  <a:lnTo>
                    <a:pt x="22183344" y="981075"/>
                  </a:lnTo>
                  <a:lnTo>
                    <a:pt x="0" y="981075"/>
                  </a:lnTo>
                  <a:close/>
                </a:path>
              </a:pathLst>
            </a:custGeom>
            <a:blipFill>
              <a:blip r:embed="rId6">
                <a:alphaModFix amt="0"/>
              </a:blip>
              <a:stretch>
                <a:fillRect l="0" t="-390274" r="0" b="-390275"/>
              </a:stretch>
            </a:blipFill>
          </p:spPr>
          <p:txBody>
            <a:bodyPr/>
            <a:p/>
          </p:txBody>
        </p:sp>
      </p:grpSp>
      <p:grpSp>
        <p:nvGrpSpPr>
          <p:cNvPr name="Group 35" id="35"/>
          <p:cNvGrpSpPr/>
          <p:nvPr/>
        </p:nvGrpSpPr>
        <p:grpSpPr>
          <a:xfrm rot="0">
            <a:off x="822960" y="4042219"/>
            <a:ext cx="16637508" cy="785812"/>
            <a:chOff x="0" y="0"/>
            <a:chExt cx="22183344" cy="1047750"/>
          </a:xfrm>
        </p:grpSpPr>
        <p:sp>
          <p:nvSpPr>
            <p:cNvPr name="Freeform 36" id="36"/>
            <p:cNvSpPr/>
            <p:nvPr/>
          </p:nvSpPr>
          <p:spPr>
            <a:xfrm flipH="false" flipV="false" rot="0">
              <a:off x="0" y="0"/>
              <a:ext cx="22183344" cy="1047750"/>
            </a:xfrm>
            <a:custGeom>
              <a:avLst/>
              <a:gdLst/>
              <a:ahLst/>
              <a:cxnLst/>
              <a:rect r="r" b="b" t="t" l="l"/>
              <a:pathLst>
                <a:path h="1047750" w="22183344">
                  <a:moveTo>
                    <a:pt x="0" y="0"/>
                  </a:moveTo>
                  <a:lnTo>
                    <a:pt x="22183344" y="0"/>
                  </a:lnTo>
                  <a:lnTo>
                    <a:pt x="22183344" y="1047750"/>
                  </a:lnTo>
                  <a:lnTo>
                    <a:pt x="0" y="1047750"/>
                  </a:lnTo>
                  <a:close/>
                </a:path>
              </a:pathLst>
            </a:custGeom>
            <a:blipFill>
              <a:blip r:embed="rId7">
                <a:alphaModFix amt="0"/>
              </a:blip>
              <a:stretch>
                <a:fillRect l="0" t="-362544" r="0" b="-362544"/>
              </a:stretch>
            </a:blipFill>
          </p:spPr>
          <p:txBody>
            <a:bodyPr/>
            <a:p/>
          </p:txBody>
        </p:sp>
        <p:sp>
          <p:nvSpPr>
            <p:cNvPr name="TextBox 37" id="37"/>
            <p:cNvSpPr txBox="true"/>
            <p:nvPr/>
          </p:nvSpPr>
          <p:spPr>
            <a:xfrm>
              <a:off x="0" y="-66675"/>
              <a:ext cx="22183344" cy="1114425"/>
            </a:xfrm>
            <a:prstGeom prst="rect">
              <a:avLst/>
            </a:prstGeom>
          </p:spPr>
          <p:txBody>
            <a:bodyPr anchor="ctr" rtlCol="false" tIns="0" lIns="0" bIns="0" rIns="0"/>
            <a:lstStyle/>
            <a:p>
              <a:pPr algn="ctr">
                <a:lnSpc>
                  <a:spcPts val="3960"/>
                </a:lnSpc>
              </a:pPr>
              <a:r>
                <a:rPr lang="en-US" sz="3300" b="true">
                  <a:solidFill>
                    <a:srgbClr val="FFD23B"/>
                  </a:solidFill>
                  <a:latin typeface="Calibri (MS) Bold"/>
                  <a:ea typeface="Calibri (MS) Bold"/>
                  <a:cs typeface="Calibri (MS) Bold"/>
                  <a:sym typeface="Calibri (MS) Bold"/>
                </a:rPr>
                <a:t>Menggunakan Sistem Dinamis dengan Integrasi Data Citra Satelit</a:t>
              </a:r>
            </a:p>
          </p:txBody>
        </p:sp>
      </p:grpSp>
      <p:grpSp>
        <p:nvGrpSpPr>
          <p:cNvPr name="Group 38" id="38"/>
          <p:cNvGrpSpPr/>
          <p:nvPr/>
        </p:nvGrpSpPr>
        <p:grpSpPr>
          <a:xfrm rot="0">
            <a:off x="822960" y="4869180"/>
            <a:ext cx="16637508" cy="548640"/>
            <a:chOff x="0" y="0"/>
            <a:chExt cx="22183344" cy="731520"/>
          </a:xfrm>
        </p:grpSpPr>
        <p:sp>
          <p:nvSpPr>
            <p:cNvPr name="Freeform 39" id="39"/>
            <p:cNvSpPr/>
            <p:nvPr/>
          </p:nvSpPr>
          <p:spPr>
            <a:xfrm flipH="false" flipV="false" rot="0">
              <a:off x="0" y="0"/>
              <a:ext cx="22183344" cy="731520"/>
            </a:xfrm>
            <a:custGeom>
              <a:avLst/>
              <a:gdLst/>
              <a:ahLst/>
              <a:cxnLst/>
              <a:rect r="r" b="b" t="t" l="l"/>
              <a:pathLst>
                <a:path h="731520" w="22183344">
                  <a:moveTo>
                    <a:pt x="0" y="0"/>
                  </a:moveTo>
                  <a:lnTo>
                    <a:pt x="22183344" y="0"/>
                  </a:lnTo>
                  <a:lnTo>
                    <a:pt x="22183344" y="731520"/>
                  </a:lnTo>
                  <a:lnTo>
                    <a:pt x="0" y="731520"/>
                  </a:lnTo>
                  <a:close/>
                </a:path>
              </a:pathLst>
            </a:custGeom>
            <a:blipFill>
              <a:blip r:embed="rId5">
                <a:alphaModFix amt="0"/>
              </a:blip>
              <a:stretch>
                <a:fillRect l="0" t="-540472" r="0" b="-540473"/>
              </a:stretch>
            </a:blipFill>
          </p:spPr>
          <p:txBody>
            <a:bodyPr/>
            <a:p/>
          </p:txBody>
        </p:sp>
      </p:grpSp>
      <p:grpSp>
        <p:nvGrpSpPr>
          <p:cNvPr name="Group 40" id="40"/>
          <p:cNvGrpSpPr/>
          <p:nvPr/>
        </p:nvGrpSpPr>
        <p:grpSpPr>
          <a:xfrm rot="0">
            <a:off x="822960" y="4840605"/>
            <a:ext cx="16637508" cy="577215"/>
            <a:chOff x="0" y="0"/>
            <a:chExt cx="22183344" cy="769620"/>
          </a:xfrm>
        </p:grpSpPr>
        <p:sp>
          <p:nvSpPr>
            <p:cNvPr name="Freeform 41" id="41"/>
            <p:cNvSpPr/>
            <p:nvPr/>
          </p:nvSpPr>
          <p:spPr>
            <a:xfrm flipH="false" flipV="false" rot="0">
              <a:off x="0" y="0"/>
              <a:ext cx="22183344" cy="769620"/>
            </a:xfrm>
            <a:custGeom>
              <a:avLst/>
              <a:gdLst/>
              <a:ahLst/>
              <a:cxnLst/>
              <a:rect r="r" b="b" t="t" l="l"/>
              <a:pathLst>
                <a:path h="769620" w="22183344">
                  <a:moveTo>
                    <a:pt x="0" y="0"/>
                  </a:moveTo>
                  <a:lnTo>
                    <a:pt x="22183344" y="0"/>
                  </a:lnTo>
                  <a:lnTo>
                    <a:pt x="22183344" y="769620"/>
                  </a:lnTo>
                  <a:lnTo>
                    <a:pt x="0" y="769620"/>
                  </a:lnTo>
                  <a:close/>
                </a:path>
              </a:pathLst>
            </a:custGeom>
            <a:blipFill>
              <a:blip r:embed="rId6">
                <a:alphaModFix amt="0"/>
              </a:blip>
              <a:stretch>
                <a:fillRect l="0" t="-511240" r="0" b="-511242"/>
              </a:stretch>
            </a:blipFill>
          </p:spPr>
          <p:txBody>
            <a:bodyPr/>
            <a:p/>
          </p:txBody>
        </p:sp>
      </p:grpSp>
      <p:grpSp>
        <p:nvGrpSpPr>
          <p:cNvPr name="Group 42" id="42"/>
          <p:cNvGrpSpPr/>
          <p:nvPr/>
        </p:nvGrpSpPr>
        <p:grpSpPr>
          <a:xfrm rot="0">
            <a:off x="822960" y="4812030"/>
            <a:ext cx="16637508" cy="605790"/>
            <a:chOff x="0" y="0"/>
            <a:chExt cx="22183344" cy="807720"/>
          </a:xfrm>
        </p:grpSpPr>
        <p:sp>
          <p:nvSpPr>
            <p:cNvPr name="Freeform 43" id="43"/>
            <p:cNvSpPr/>
            <p:nvPr/>
          </p:nvSpPr>
          <p:spPr>
            <a:xfrm flipH="false" flipV="false" rot="0">
              <a:off x="0" y="0"/>
              <a:ext cx="22183344" cy="807720"/>
            </a:xfrm>
            <a:custGeom>
              <a:avLst/>
              <a:gdLst/>
              <a:ahLst/>
              <a:cxnLst/>
              <a:rect r="r" b="b" t="t" l="l"/>
              <a:pathLst>
                <a:path h="807720" w="22183344">
                  <a:moveTo>
                    <a:pt x="0" y="0"/>
                  </a:moveTo>
                  <a:lnTo>
                    <a:pt x="22183344" y="0"/>
                  </a:lnTo>
                  <a:lnTo>
                    <a:pt x="22183344" y="807720"/>
                  </a:lnTo>
                  <a:lnTo>
                    <a:pt x="0" y="807720"/>
                  </a:lnTo>
                  <a:close/>
                </a:path>
              </a:pathLst>
            </a:custGeom>
            <a:blipFill>
              <a:blip r:embed="rId7">
                <a:alphaModFix amt="0"/>
              </a:blip>
              <a:stretch>
                <a:fillRect l="0" t="-485140" r="0" b="-485140"/>
              </a:stretch>
            </a:blipFill>
          </p:spPr>
          <p:txBody>
            <a:bodyPr/>
            <a:p/>
          </p:txBody>
        </p:sp>
        <p:sp>
          <p:nvSpPr>
            <p:cNvPr name="TextBox 44" id="44"/>
            <p:cNvSpPr txBox="true"/>
            <p:nvPr/>
          </p:nvSpPr>
          <p:spPr>
            <a:xfrm>
              <a:off x="0" y="-38100"/>
              <a:ext cx="22183344" cy="845820"/>
            </a:xfrm>
            <a:prstGeom prst="rect">
              <a:avLst/>
            </a:prstGeom>
          </p:spPr>
          <p:txBody>
            <a:bodyPr anchor="ctr" rtlCol="false" tIns="0" lIns="0" bIns="0" rIns="0"/>
            <a:lstStyle/>
            <a:p>
              <a:pPr algn="ctr">
                <a:lnSpc>
                  <a:spcPts val="2878"/>
                </a:lnSpc>
              </a:pPr>
              <a:r>
                <a:rPr lang="en-US" sz="2400">
                  <a:solidFill>
                    <a:srgbClr val="FFFFFF"/>
                  </a:solidFill>
                  <a:latin typeface="Calibri (MS)"/>
                  <a:ea typeface="Calibri (MS)"/>
                  <a:cs typeface="Calibri (MS)"/>
                  <a:sym typeface="Calibri (MS)"/>
                </a:rPr>
                <a:t>Studi Kasus: Provinsi Daerah Istimewa Yogyakarta</a:t>
              </a:r>
            </a:p>
          </p:txBody>
        </p:sp>
      </p:grpSp>
      <p:grpSp>
        <p:nvGrpSpPr>
          <p:cNvPr name="Group 45" id="45"/>
          <p:cNvGrpSpPr/>
          <p:nvPr/>
        </p:nvGrpSpPr>
        <p:grpSpPr>
          <a:xfrm rot="0">
            <a:off x="3017520" y="5966460"/>
            <a:ext cx="12248388" cy="2948940"/>
            <a:chOff x="0" y="0"/>
            <a:chExt cx="16331184" cy="3931920"/>
          </a:xfrm>
        </p:grpSpPr>
        <p:sp>
          <p:nvSpPr>
            <p:cNvPr name="Freeform 46" id="46"/>
            <p:cNvSpPr/>
            <p:nvPr/>
          </p:nvSpPr>
          <p:spPr>
            <a:xfrm flipH="false" flipV="false" rot="0">
              <a:off x="0" y="0"/>
              <a:ext cx="16331185" cy="3931920"/>
            </a:xfrm>
            <a:custGeom>
              <a:avLst/>
              <a:gdLst/>
              <a:ahLst/>
              <a:cxnLst/>
              <a:rect r="r" b="b" t="t" l="l"/>
              <a:pathLst>
                <a:path h="3931920" w="16331185">
                  <a:moveTo>
                    <a:pt x="0" y="146304"/>
                  </a:moveTo>
                  <a:cubicBezTo>
                    <a:pt x="0" y="65532"/>
                    <a:pt x="65532" y="0"/>
                    <a:pt x="146304" y="0"/>
                  </a:cubicBezTo>
                  <a:lnTo>
                    <a:pt x="16184880" y="0"/>
                  </a:lnTo>
                  <a:cubicBezTo>
                    <a:pt x="16265652" y="0"/>
                    <a:pt x="16331185" y="65532"/>
                    <a:pt x="16331185" y="146304"/>
                  </a:cubicBezTo>
                  <a:lnTo>
                    <a:pt x="16331185" y="3785616"/>
                  </a:lnTo>
                  <a:cubicBezTo>
                    <a:pt x="16331185" y="3866388"/>
                    <a:pt x="16265652" y="3931920"/>
                    <a:pt x="16184880" y="3931920"/>
                  </a:cubicBezTo>
                  <a:lnTo>
                    <a:pt x="146304" y="3931920"/>
                  </a:lnTo>
                  <a:cubicBezTo>
                    <a:pt x="65532" y="3931920"/>
                    <a:pt x="0" y="3866388"/>
                    <a:pt x="0" y="3785616"/>
                  </a:cubicBezTo>
                  <a:close/>
                </a:path>
              </a:pathLst>
            </a:custGeom>
            <a:solidFill>
              <a:srgbClr val="FFD23B"/>
            </a:solidFill>
          </p:spPr>
          <p:txBody>
            <a:bodyPr/>
            <a:p/>
          </p:txBody>
        </p:sp>
      </p:grpSp>
      <p:grpSp>
        <p:nvGrpSpPr>
          <p:cNvPr name="Group 47" id="47"/>
          <p:cNvGrpSpPr/>
          <p:nvPr/>
        </p:nvGrpSpPr>
        <p:grpSpPr>
          <a:xfrm rot="0">
            <a:off x="3566160" y="6281928"/>
            <a:ext cx="3566160" cy="493776"/>
            <a:chOff x="0" y="0"/>
            <a:chExt cx="4754880" cy="658368"/>
          </a:xfrm>
        </p:grpSpPr>
        <p:sp>
          <p:nvSpPr>
            <p:cNvPr name="Freeform 48" id="48"/>
            <p:cNvSpPr/>
            <p:nvPr/>
          </p:nvSpPr>
          <p:spPr>
            <a:xfrm flipH="false" flipV="false" rot="0">
              <a:off x="0" y="0"/>
              <a:ext cx="4754880" cy="658368"/>
            </a:xfrm>
            <a:custGeom>
              <a:avLst/>
              <a:gdLst/>
              <a:ahLst/>
              <a:cxnLst/>
              <a:rect r="r" b="b" t="t" l="l"/>
              <a:pathLst>
                <a:path h="658368" w="4754880">
                  <a:moveTo>
                    <a:pt x="0" y="0"/>
                  </a:moveTo>
                  <a:lnTo>
                    <a:pt x="4754880" y="0"/>
                  </a:lnTo>
                  <a:lnTo>
                    <a:pt x="4754880" y="658368"/>
                  </a:lnTo>
                  <a:lnTo>
                    <a:pt x="0" y="658368"/>
                  </a:lnTo>
                  <a:close/>
                </a:path>
              </a:pathLst>
            </a:custGeom>
            <a:blipFill>
              <a:blip r:embed="rId5">
                <a:alphaModFix amt="0"/>
              </a:blip>
              <a:stretch>
                <a:fillRect l="0" t="-90626" r="0" b="-90628"/>
              </a:stretch>
            </a:blipFill>
          </p:spPr>
          <p:txBody>
            <a:bodyPr/>
            <a:p/>
          </p:txBody>
        </p:sp>
      </p:grpSp>
      <p:grpSp>
        <p:nvGrpSpPr>
          <p:cNvPr name="Group 49" id="49"/>
          <p:cNvGrpSpPr/>
          <p:nvPr/>
        </p:nvGrpSpPr>
        <p:grpSpPr>
          <a:xfrm rot="0">
            <a:off x="3566160" y="6239066"/>
            <a:ext cx="3566160" cy="536638"/>
            <a:chOff x="0" y="0"/>
            <a:chExt cx="4754880" cy="715518"/>
          </a:xfrm>
        </p:grpSpPr>
        <p:sp>
          <p:nvSpPr>
            <p:cNvPr name="Freeform 50" id="50"/>
            <p:cNvSpPr/>
            <p:nvPr/>
          </p:nvSpPr>
          <p:spPr>
            <a:xfrm flipH="false" flipV="false" rot="0">
              <a:off x="0" y="0"/>
              <a:ext cx="4754880" cy="715518"/>
            </a:xfrm>
            <a:custGeom>
              <a:avLst/>
              <a:gdLst/>
              <a:ahLst/>
              <a:cxnLst/>
              <a:rect r="r" b="b" t="t" l="l"/>
              <a:pathLst>
                <a:path h="715518" w="4754880">
                  <a:moveTo>
                    <a:pt x="0" y="0"/>
                  </a:moveTo>
                  <a:lnTo>
                    <a:pt x="4754880" y="0"/>
                  </a:lnTo>
                  <a:lnTo>
                    <a:pt x="4754880" y="715518"/>
                  </a:lnTo>
                  <a:lnTo>
                    <a:pt x="0" y="715518"/>
                  </a:lnTo>
                  <a:close/>
                </a:path>
              </a:pathLst>
            </a:custGeom>
            <a:blipFill>
              <a:blip r:embed="rId6">
                <a:alphaModFix amt="0"/>
              </a:blip>
              <a:stretch>
                <a:fillRect l="0" t="-79394" r="0" b="-79396"/>
              </a:stretch>
            </a:blipFill>
          </p:spPr>
          <p:txBody>
            <a:bodyPr/>
            <a:p/>
          </p:txBody>
        </p:sp>
      </p:grpSp>
      <p:grpSp>
        <p:nvGrpSpPr>
          <p:cNvPr name="Group 51" id="51"/>
          <p:cNvGrpSpPr/>
          <p:nvPr/>
        </p:nvGrpSpPr>
        <p:grpSpPr>
          <a:xfrm rot="0">
            <a:off x="3566160" y="6196203"/>
            <a:ext cx="3566160" cy="579501"/>
            <a:chOff x="0" y="0"/>
            <a:chExt cx="4754880" cy="772668"/>
          </a:xfrm>
        </p:grpSpPr>
        <p:sp>
          <p:nvSpPr>
            <p:cNvPr name="Freeform 52" id="52"/>
            <p:cNvSpPr/>
            <p:nvPr/>
          </p:nvSpPr>
          <p:spPr>
            <a:xfrm flipH="false" flipV="false" rot="0">
              <a:off x="0" y="0"/>
              <a:ext cx="4754880" cy="772667"/>
            </a:xfrm>
            <a:custGeom>
              <a:avLst/>
              <a:gdLst/>
              <a:ahLst/>
              <a:cxnLst/>
              <a:rect r="r" b="b" t="t" l="l"/>
              <a:pathLst>
                <a:path h="772667" w="4754880">
                  <a:moveTo>
                    <a:pt x="0" y="0"/>
                  </a:moveTo>
                  <a:lnTo>
                    <a:pt x="4754880" y="0"/>
                  </a:lnTo>
                  <a:lnTo>
                    <a:pt x="4754880" y="772667"/>
                  </a:lnTo>
                  <a:lnTo>
                    <a:pt x="0" y="772667"/>
                  </a:lnTo>
                  <a:close/>
                </a:path>
              </a:pathLst>
            </a:custGeom>
            <a:blipFill>
              <a:blip r:embed="rId7">
                <a:alphaModFix amt="0"/>
              </a:blip>
              <a:stretch>
                <a:fillRect l="0" t="-69907" r="0" b="-69908"/>
              </a:stretch>
            </a:blipFill>
          </p:spPr>
          <p:txBody>
            <a:bodyPr/>
            <a:p/>
          </p:txBody>
        </p:sp>
        <p:sp>
          <p:nvSpPr>
            <p:cNvPr name="TextBox 53" id="53"/>
            <p:cNvSpPr txBox="true"/>
            <p:nvPr/>
          </p:nvSpPr>
          <p:spPr>
            <a:xfrm>
              <a:off x="0" y="-57150"/>
              <a:ext cx="4754880" cy="829818"/>
            </a:xfrm>
            <a:prstGeom prst="rect">
              <a:avLst/>
            </a:prstGeom>
          </p:spPr>
          <p:txBody>
            <a:bodyPr anchor="ctr" rtlCol="false" tIns="0" lIns="0" bIns="0" rIns="0"/>
            <a:lstStyle/>
            <a:p>
              <a:pPr algn="l">
                <a:lnSpc>
                  <a:spcPts val="2700"/>
                </a:lnSpc>
              </a:pPr>
              <a:r>
                <a:rPr lang="en-US" sz="2250" b="true">
                  <a:solidFill>
                    <a:srgbClr val="14313B"/>
                  </a:solidFill>
                  <a:latin typeface="Calibri (MS) Bold"/>
                  <a:ea typeface="Calibri (MS) Bold"/>
                  <a:cs typeface="Calibri (MS) Bold"/>
                  <a:sym typeface="Calibri (MS) Bold"/>
                </a:rPr>
                <a:t>Penyaji</a:t>
              </a:r>
            </a:p>
          </p:txBody>
        </p:sp>
      </p:grpSp>
      <p:grpSp>
        <p:nvGrpSpPr>
          <p:cNvPr name="Group 54" id="54"/>
          <p:cNvGrpSpPr/>
          <p:nvPr/>
        </p:nvGrpSpPr>
        <p:grpSpPr>
          <a:xfrm rot="0">
            <a:off x="7132320" y="6281928"/>
            <a:ext cx="274320" cy="493776"/>
            <a:chOff x="0" y="0"/>
            <a:chExt cx="365760" cy="658368"/>
          </a:xfrm>
        </p:grpSpPr>
        <p:sp>
          <p:nvSpPr>
            <p:cNvPr name="Freeform 55" id="55"/>
            <p:cNvSpPr/>
            <p:nvPr/>
          </p:nvSpPr>
          <p:spPr>
            <a:xfrm flipH="false" flipV="false" rot="0">
              <a:off x="0" y="0"/>
              <a:ext cx="365760" cy="658368"/>
            </a:xfrm>
            <a:custGeom>
              <a:avLst/>
              <a:gdLst/>
              <a:ahLst/>
              <a:cxnLst/>
              <a:rect r="r" b="b" t="t" l="l"/>
              <a:pathLst>
                <a:path h="658368" w="365760">
                  <a:moveTo>
                    <a:pt x="0" y="0"/>
                  </a:moveTo>
                  <a:lnTo>
                    <a:pt x="365760" y="0"/>
                  </a:lnTo>
                  <a:lnTo>
                    <a:pt x="365760" y="658368"/>
                  </a:lnTo>
                  <a:lnTo>
                    <a:pt x="0" y="658368"/>
                  </a:lnTo>
                  <a:close/>
                </a:path>
              </a:pathLst>
            </a:custGeom>
            <a:blipFill>
              <a:blip r:embed="rId5">
                <a:alphaModFix amt="0"/>
              </a:blip>
              <a:stretch>
                <a:fillRect l="-181107" t="0" r="-181107" b="0"/>
              </a:stretch>
            </a:blipFill>
          </p:spPr>
          <p:txBody>
            <a:bodyPr/>
            <a:p/>
          </p:txBody>
        </p:sp>
      </p:grpSp>
      <p:grpSp>
        <p:nvGrpSpPr>
          <p:cNvPr name="Group 56" id="56"/>
          <p:cNvGrpSpPr/>
          <p:nvPr/>
        </p:nvGrpSpPr>
        <p:grpSpPr>
          <a:xfrm rot="0">
            <a:off x="7132320" y="6239066"/>
            <a:ext cx="274320" cy="536638"/>
            <a:chOff x="0" y="0"/>
            <a:chExt cx="365760" cy="715518"/>
          </a:xfrm>
        </p:grpSpPr>
        <p:sp>
          <p:nvSpPr>
            <p:cNvPr name="Freeform 57" id="57"/>
            <p:cNvSpPr/>
            <p:nvPr/>
          </p:nvSpPr>
          <p:spPr>
            <a:xfrm flipH="false" flipV="false" rot="0">
              <a:off x="0" y="0"/>
              <a:ext cx="365760" cy="715518"/>
            </a:xfrm>
            <a:custGeom>
              <a:avLst/>
              <a:gdLst/>
              <a:ahLst/>
              <a:cxnLst/>
              <a:rect r="r" b="b" t="t" l="l"/>
              <a:pathLst>
                <a:path h="715518" w="365760">
                  <a:moveTo>
                    <a:pt x="0" y="0"/>
                  </a:moveTo>
                  <a:lnTo>
                    <a:pt x="365760" y="0"/>
                  </a:lnTo>
                  <a:lnTo>
                    <a:pt x="365760" y="715518"/>
                  </a:lnTo>
                  <a:lnTo>
                    <a:pt x="0" y="715518"/>
                  </a:lnTo>
                  <a:close/>
                </a:path>
              </a:pathLst>
            </a:custGeom>
            <a:blipFill>
              <a:blip r:embed="rId6">
                <a:alphaModFix amt="0"/>
              </a:blip>
              <a:stretch>
                <a:fillRect l="-201166" t="0" r="-201170" b="0"/>
              </a:stretch>
            </a:blipFill>
          </p:spPr>
          <p:txBody>
            <a:bodyPr/>
            <a:p/>
          </p:txBody>
        </p:sp>
      </p:grpSp>
      <p:grpSp>
        <p:nvGrpSpPr>
          <p:cNvPr name="Group 58" id="58"/>
          <p:cNvGrpSpPr/>
          <p:nvPr/>
        </p:nvGrpSpPr>
        <p:grpSpPr>
          <a:xfrm rot="0">
            <a:off x="7132320" y="6196203"/>
            <a:ext cx="274320" cy="579501"/>
            <a:chOff x="0" y="0"/>
            <a:chExt cx="365760" cy="772668"/>
          </a:xfrm>
        </p:grpSpPr>
        <p:sp>
          <p:nvSpPr>
            <p:cNvPr name="Freeform 59" id="59"/>
            <p:cNvSpPr/>
            <p:nvPr/>
          </p:nvSpPr>
          <p:spPr>
            <a:xfrm flipH="false" flipV="false" rot="0">
              <a:off x="0" y="0"/>
              <a:ext cx="365760" cy="772667"/>
            </a:xfrm>
            <a:custGeom>
              <a:avLst/>
              <a:gdLst/>
              <a:ahLst/>
              <a:cxnLst/>
              <a:rect r="r" b="b" t="t" l="l"/>
              <a:pathLst>
                <a:path h="772667" w="365760">
                  <a:moveTo>
                    <a:pt x="0" y="0"/>
                  </a:moveTo>
                  <a:lnTo>
                    <a:pt x="365760" y="0"/>
                  </a:lnTo>
                  <a:lnTo>
                    <a:pt x="365760" y="772667"/>
                  </a:lnTo>
                  <a:lnTo>
                    <a:pt x="0" y="772667"/>
                  </a:lnTo>
                  <a:close/>
                </a:path>
              </a:pathLst>
            </a:custGeom>
            <a:blipFill>
              <a:blip r:embed="rId7">
                <a:alphaModFix amt="0"/>
              </a:blip>
              <a:stretch>
                <a:fillRect l="-221041" t="0" r="-221041" b="0"/>
              </a:stretch>
            </a:blipFill>
          </p:spPr>
          <p:txBody>
            <a:bodyPr/>
            <a:p/>
          </p:txBody>
        </p:sp>
        <p:sp>
          <p:nvSpPr>
            <p:cNvPr name="TextBox 60" id="60"/>
            <p:cNvSpPr txBox="true"/>
            <p:nvPr/>
          </p:nvSpPr>
          <p:spPr>
            <a:xfrm>
              <a:off x="0" y="-57150"/>
              <a:ext cx="365760" cy="829818"/>
            </a:xfrm>
            <a:prstGeom prst="rect">
              <a:avLst/>
            </a:prstGeom>
          </p:spPr>
          <p:txBody>
            <a:bodyPr anchor="ctr" rtlCol="false" tIns="0" lIns="0" bIns="0" rIns="0"/>
            <a:lstStyle/>
            <a:p>
              <a:pPr algn="l">
                <a:lnSpc>
                  <a:spcPts val="2700"/>
                </a:lnSpc>
              </a:pPr>
              <a:r>
                <a:rPr lang="en-US" sz="2250" b="true">
                  <a:solidFill>
                    <a:srgbClr val="14313B"/>
                  </a:solidFill>
                  <a:latin typeface="Calibri (MS) Bold"/>
                  <a:ea typeface="Calibri (MS) Bold"/>
                  <a:cs typeface="Calibri (MS) Bold"/>
                  <a:sym typeface="Calibri (MS) Bold"/>
                </a:rPr>
                <a:t>:</a:t>
              </a:r>
            </a:p>
          </p:txBody>
        </p:sp>
      </p:grpSp>
      <p:grpSp>
        <p:nvGrpSpPr>
          <p:cNvPr name="Group 61" id="61"/>
          <p:cNvGrpSpPr/>
          <p:nvPr/>
        </p:nvGrpSpPr>
        <p:grpSpPr>
          <a:xfrm rot="0">
            <a:off x="7543800" y="6281928"/>
            <a:ext cx="7406640" cy="493776"/>
            <a:chOff x="0" y="0"/>
            <a:chExt cx="9875520" cy="658368"/>
          </a:xfrm>
        </p:grpSpPr>
        <p:sp>
          <p:nvSpPr>
            <p:cNvPr name="Freeform 62" id="62"/>
            <p:cNvSpPr/>
            <p:nvPr/>
          </p:nvSpPr>
          <p:spPr>
            <a:xfrm flipH="false" flipV="false" rot="0">
              <a:off x="0" y="0"/>
              <a:ext cx="9875520" cy="658368"/>
            </a:xfrm>
            <a:custGeom>
              <a:avLst/>
              <a:gdLst/>
              <a:ahLst/>
              <a:cxnLst/>
              <a:rect r="r" b="b" t="t" l="l"/>
              <a:pathLst>
                <a:path h="658368" w="9875520">
                  <a:moveTo>
                    <a:pt x="0" y="0"/>
                  </a:moveTo>
                  <a:lnTo>
                    <a:pt x="9875520" y="0"/>
                  </a:lnTo>
                  <a:lnTo>
                    <a:pt x="9875520" y="658368"/>
                  </a:lnTo>
                  <a:lnTo>
                    <a:pt x="0" y="658368"/>
                  </a:lnTo>
                  <a:close/>
                </a:path>
              </a:pathLst>
            </a:custGeom>
            <a:blipFill>
              <a:blip r:embed="rId5">
                <a:alphaModFix amt="0"/>
              </a:blip>
              <a:stretch>
                <a:fillRect l="0" t="-242071" r="0" b="-242073"/>
              </a:stretch>
            </a:blipFill>
          </p:spPr>
          <p:txBody>
            <a:bodyPr/>
            <a:p/>
          </p:txBody>
        </p:sp>
      </p:grpSp>
      <p:grpSp>
        <p:nvGrpSpPr>
          <p:cNvPr name="Group 63" id="63"/>
          <p:cNvGrpSpPr/>
          <p:nvPr/>
        </p:nvGrpSpPr>
        <p:grpSpPr>
          <a:xfrm rot="0">
            <a:off x="7543800" y="6239066"/>
            <a:ext cx="7406640" cy="536638"/>
            <a:chOff x="0" y="0"/>
            <a:chExt cx="9875520" cy="715518"/>
          </a:xfrm>
        </p:grpSpPr>
        <p:sp>
          <p:nvSpPr>
            <p:cNvPr name="Freeform 64" id="64"/>
            <p:cNvSpPr/>
            <p:nvPr/>
          </p:nvSpPr>
          <p:spPr>
            <a:xfrm flipH="false" flipV="false" rot="0">
              <a:off x="0" y="0"/>
              <a:ext cx="9875520" cy="715518"/>
            </a:xfrm>
            <a:custGeom>
              <a:avLst/>
              <a:gdLst/>
              <a:ahLst/>
              <a:cxnLst/>
              <a:rect r="r" b="b" t="t" l="l"/>
              <a:pathLst>
                <a:path h="715518" w="9875520">
                  <a:moveTo>
                    <a:pt x="0" y="0"/>
                  </a:moveTo>
                  <a:lnTo>
                    <a:pt x="9875520" y="0"/>
                  </a:lnTo>
                  <a:lnTo>
                    <a:pt x="9875520" y="715518"/>
                  </a:lnTo>
                  <a:lnTo>
                    <a:pt x="0" y="715518"/>
                  </a:lnTo>
                  <a:close/>
                </a:path>
              </a:pathLst>
            </a:custGeom>
            <a:blipFill>
              <a:blip r:embed="rId6">
                <a:alphaModFix amt="0"/>
              </a:blip>
              <a:stretch>
                <a:fillRect l="0" t="-218743" r="0" b="-218745"/>
              </a:stretch>
            </a:blipFill>
          </p:spPr>
          <p:txBody>
            <a:bodyPr/>
            <a:p/>
          </p:txBody>
        </p:sp>
      </p:grpSp>
      <p:grpSp>
        <p:nvGrpSpPr>
          <p:cNvPr name="Group 65" id="65"/>
          <p:cNvGrpSpPr/>
          <p:nvPr/>
        </p:nvGrpSpPr>
        <p:grpSpPr>
          <a:xfrm rot="0">
            <a:off x="7543800" y="6196203"/>
            <a:ext cx="7406640" cy="579501"/>
            <a:chOff x="0" y="0"/>
            <a:chExt cx="9875520" cy="772668"/>
          </a:xfrm>
        </p:grpSpPr>
        <p:sp>
          <p:nvSpPr>
            <p:cNvPr name="Freeform 66" id="66"/>
            <p:cNvSpPr/>
            <p:nvPr/>
          </p:nvSpPr>
          <p:spPr>
            <a:xfrm flipH="false" flipV="false" rot="0">
              <a:off x="0" y="0"/>
              <a:ext cx="9875520" cy="772667"/>
            </a:xfrm>
            <a:custGeom>
              <a:avLst/>
              <a:gdLst/>
              <a:ahLst/>
              <a:cxnLst/>
              <a:rect r="r" b="b" t="t" l="l"/>
              <a:pathLst>
                <a:path h="772667" w="9875520">
                  <a:moveTo>
                    <a:pt x="0" y="0"/>
                  </a:moveTo>
                  <a:lnTo>
                    <a:pt x="9875520" y="0"/>
                  </a:lnTo>
                  <a:lnTo>
                    <a:pt x="9875520" y="772667"/>
                  </a:lnTo>
                  <a:lnTo>
                    <a:pt x="0" y="772667"/>
                  </a:lnTo>
                  <a:close/>
                </a:path>
              </a:pathLst>
            </a:custGeom>
            <a:blipFill>
              <a:blip r:embed="rId7">
                <a:alphaModFix amt="0"/>
              </a:blip>
              <a:stretch>
                <a:fillRect l="0" t="-199039" r="0" b="-199039"/>
              </a:stretch>
            </a:blipFill>
          </p:spPr>
          <p:txBody>
            <a:bodyPr/>
            <a:p/>
          </p:txBody>
        </p:sp>
        <p:sp>
          <p:nvSpPr>
            <p:cNvPr name="TextBox 67" id="67"/>
            <p:cNvSpPr txBox="true"/>
            <p:nvPr/>
          </p:nvSpPr>
          <p:spPr>
            <a:xfrm>
              <a:off x="0" y="-57150"/>
              <a:ext cx="9875520" cy="829818"/>
            </a:xfrm>
            <a:prstGeom prst="rect">
              <a:avLst/>
            </a:prstGeom>
          </p:spPr>
          <p:txBody>
            <a:bodyPr anchor="ctr" rtlCol="false" tIns="0" lIns="0" bIns="0" rIns="0"/>
            <a:lstStyle/>
            <a:p>
              <a:pPr algn="l">
                <a:lnSpc>
                  <a:spcPts val="2700"/>
                </a:lnSpc>
              </a:pPr>
              <a:r>
                <a:rPr lang="en-US" sz="2250">
                  <a:solidFill>
                    <a:srgbClr val="14313B"/>
                  </a:solidFill>
                  <a:latin typeface="Calibri (MS)"/>
                  <a:ea typeface="Calibri (MS)"/>
                  <a:cs typeface="Calibri (MS)"/>
                  <a:sym typeface="Calibri (MS)"/>
                </a:rPr>
                <a:t>Kevin Atha Fathoni Ramadha (222212691, 4SI1)</a:t>
              </a:r>
            </a:p>
          </p:txBody>
        </p:sp>
      </p:grpSp>
      <p:grpSp>
        <p:nvGrpSpPr>
          <p:cNvPr name="Group 68" id="68"/>
          <p:cNvGrpSpPr/>
          <p:nvPr/>
        </p:nvGrpSpPr>
        <p:grpSpPr>
          <a:xfrm rot="0">
            <a:off x="3566160" y="6926580"/>
            <a:ext cx="3566160" cy="493776"/>
            <a:chOff x="0" y="0"/>
            <a:chExt cx="4754880" cy="658368"/>
          </a:xfrm>
        </p:grpSpPr>
        <p:sp>
          <p:nvSpPr>
            <p:cNvPr name="Freeform 69" id="69"/>
            <p:cNvSpPr/>
            <p:nvPr/>
          </p:nvSpPr>
          <p:spPr>
            <a:xfrm flipH="false" flipV="false" rot="0">
              <a:off x="0" y="0"/>
              <a:ext cx="4754880" cy="658368"/>
            </a:xfrm>
            <a:custGeom>
              <a:avLst/>
              <a:gdLst/>
              <a:ahLst/>
              <a:cxnLst/>
              <a:rect r="r" b="b" t="t" l="l"/>
              <a:pathLst>
                <a:path h="658368" w="4754880">
                  <a:moveTo>
                    <a:pt x="0" y="0"/>
                  </a:moveTo>
                  <a:lnTo>
                    <a:pt x="4754880" y="0"/>
                  </a:lnTo>
                  <a:lnTo>
                    <a:pt x="4754880" y="658368"/>
                  </a:lnTo>
                  <a:lnTo>
                    <a:pt x="0" y="658368"/>
                  </a:lnTo>
                  <a:close/>
                </a:path>
              </a:pathLst>
            </a:custGeom>
            <a:blipFill>
              <a:blip r:embed="rId5">
                <a:alphaModFix amt="0"/>
              </a:blip>
              <a:stretch>
                <a:fillRect l="0" t="-90626" r="0" b="-90628"/>
              </a:stretch>
            </a:blipFill>
          </p:spPr>
          <p:txBody>
            <a:bodyPr/>
            <a:p/>
          </p:txBody>
        </p:sp>
      </p:grpSp>
      <p:grpSp>
        <p:nvGrpSpPr>
          <p:cNvPr name="Group 70" id="70"/>
          <p:cNvGrpSpPr/>
          <p:nvPr/>
        </p:nvGrpSpPr>
        <p:grpSpPr>
          <a:xfrm rot="0">
            <a:off x="3566160" y="6883718"/>
            <a:ext cx="3566160" cy="536638"/>
            <a:chOff x="0" y="0"/>
            <a:chExt cx="4754880" cy="715518"/>
          </a:xfrm>
        </p:grpSpPr>
        <p:sp>
          <p:nvSpPr>
            <p:cNvPr name="Freeform 71" id="71"/>
            <p:cNvSpPr/>
            <p:nvPr/>
          </p:nvSpPr>
          <p:spPr>
            <a:xfrm flipH="false" flipV="false" rot="0">
              <a:off x="0" y="0"/>
              <a:ext cx="4754880" cy="715518"/>
            </a:xfrm>
            <a:custGeom>
              <a:avLst/>
              <a:gdLst/>
              <a:ahLst/>
              <a:cxnLst/>
              <a:rect r="r" b="b" t="t" l="l"/>
              <a:pathLst>
                <a:path h="715518" w="4754880">
                  <a:moveTo>
                    <a:pt x="0" y="0"/>
                  </a:moveTo>
                  <a:lnTo>
                    <a:pt x="4754880" y="0"/>
                  </a:lnTo>
                  <a:lnTo>
                    <a:pt x="4754880" y="715518"/>
                  </a:lnTo>
                  <a:lnTo>
                    <a:pt x="0" y="715518"/>
                  </a:lnTo>
                  <a:close/>
                </a:path>
              </a:pathLst>
            </a:custGeom>
            <a:blipFill>
              <a:blip r:embed="rId6">
                <a:alphaModFix amt="0"/>
              </a:blip>
              <a:stretch>
                <a:fillRect l="0" t="-79394" r="0" b="-79396"/>
              </a:stretch>
            </a:blipFill>
          </p:spPr>
          <p:txBody>
            <a:bodyPr/>
            <a:p/>
          </p:txBody>
        </p:sp>
      </p:grpSp>
      <p:grpSp>
        <p:nvGrpSpPr>
          <p:cNvPr name="Group 72" id="72"/>
          <p:cNvGrpSpPr/>
          <p:nvPr/>
        </p:nvGrpSpPr>
        <p:grpSpPr>
          <a:xfrm rot="0">
            <a:off x="3566160" y="6840855"/>
            <a:ext cx="3566160" cy="579501"/>
            <a:chOff x="0" y="0"/>
            <a:chExt cx="4754880" cy="772668"/>
          </a:xfrm>
        </p:grpSpPr>
        <p:sp>
          <p:nvSpPr>
            <p:cNvPr name="Freeform 73" id="73"/>
            <p:cNvSpPr/>
            <p:nvPr/>
          </p:nvSpPr>
          <p:spPr>
            <a:xfrm flipH="false" flipV="false" rot="0">
              <a:off x="0" y="0"/>
              <a:ext cx="4754880" cy="772667"/>
            </a:xfrm>
            <a:custGeom>
              <a:avLst/>
              <a:gdLst/>
              <a:ahLst/>
              <a:cxnLst/>
              <a:rect r="r" b="b" t="t" l="l"/>
              <a:pathLst>
                <a:path h="772667" w="4754880">
                  <a:moveTo>
                    <a:pt x="0" y="0"/>
                  </a:moveTo>
                  <a:lnTo>
                    <a:pt x="4754880" y="0"/>
                  </a:lnTo>
                  <a:lnTo>
                    <a:pt x="4754880" y="772667"/>
                  </a:lnTo>
                  <a:lnTo>
                    <a:pt x="0" y="772667"/>
                  </a:lnTo>
                  <a:close/>
                </a:path>
              </a:pathLst>
            </a:custGeom>
            <a:blipFill>
              <a:blip r:embed="rId7">
                <a:alphaModFix amt="0"/>
              </a:blip>
              <a:stretch>
                <a:fillRect l="0" t="-69907" r="0" b="-69908"/>
              </a:stretch>
            </a:blipFill>
          </p:spPr>
          <p:txBody>
            <a:bodyPr/>
            <a:p/>
          </p:txBody>
        </p:sp>
        <p:sp>
          <p:nvSpPr>
            <p:cNvPr name="TextBox 74" id="74"/>
            <p:cNvSpPr txBox="true"/>
            <p:nvPr/>
          </p:nvSpPr>
          <p:spPr>
            <a:xfrm>
              <a:off x="0" y="-57150"/>
              <a:ext cx="4754880" cy="829818"/>
            </a:xfrm>
            <a:prstGeom prst="rect">
              <a:avLst/>
            </a:prstGeom>
          </p:spPr>
          <p:txBody>
            <a:bodyPr anchor="ctr" rtlCol="false" tIns="0" lIns="0" bIns="0" rIns="0"/>
            <a:lstStyle/>
            <a:p>
              <a:pPr algn="l">
                <a:lnSpc>
                  <a:spcPts val="2700"/>
                </a:lnSpc>
              </a:pPr>
              <a:r>
                <a:rPr lang="en-US" sz="2250" b="true">
                  <a:solidFill>
                    <a:srgbClr val="14313B"/>
                  </a:solidFill>
                  <a:latin typeface="Calibri (MS) Bold"/>
                  <a:ea typeface="Calibri (MS) Bold"/>
                  <a:cs typeface="Calibri (MS) Bold"/>
                  <a:sym typeface="Calibri (MS) Bold"/>
                </a:rPr>
                <a:t>Dosen Pembimbing</a:t>
              </a:r>
            </a:p>
          </p:txBody>
        </p:sp>
      </p:grpSp>
      <p:grpSp>
        <p:nvGrpSpPr>
          <p:cNvPr name="Group 75" id="75"/>
          <p:cNvGrpSpPr/>
          <p:nvPr/>
        </p:nvGrpSpPr>
        <p:grpSpPr>
          <a:xfrm rot="0">
            <a:off x="7132320" y="6926580"/>
            <a:ext cx="274320" cy="493776"/>
            <a:chOff x="0" y="0"/>
            <a:chExt cx="365760" cy="658368"/>
          </a:xfrm>
        </p:grpSpPr>
        <p:sp>
          <p:nvSpPr>
            <p:cNvPr name="Freeform 76" id="76"/>
            <p:cNvSpPr/>
            <p:nvPr/>
          </p:nvSpPr>
          <p:spPr>
            <a:xfrm flipH="false" flipV="false" rot="0">
              <a:off x="0" y="0"/>
              <a:ext cx="365760" cy="658368"/>
            </a:xfrm>
            <a:custGeom>
              <a:avLst/>
              <a:gdLst/>
              <a:ahLst/>
              <a:cxnLst/>
              <a:rect r="r" b="b" t="t" l="l"/>
              <a:pathLst>
                <a:path h="658368" w="365760">
                  <a:moveTo>
                    <a:pt x="0" y="0"/>
                  </a:moveTo>
                  <a:lnTo>
                    <a:pt x="365760" y="0"/>
                  </a:lnTo>
                  <a:lnTo>
                    <a:pt x="365760" y="658368"/>
                  </a:lnTo>
                  <a:lnTo>
                    <a:pt x="0" y="658368"/>
                  </a:lnTo>
                  <a:close/>
                </a:path>
              </a:pathLst>
            </a:custGeom>
            <a:blipFill>
              <a:blip r:embed="rId5">
                <a:alphaModFix amt="0"/>
              </a:blip>
              <a:stretch>
                <a:fillRect l="-181107" t="0" r="-181107" b="0"/>
              </a:stretch>
            </a:blipFill>
          </p:spPr>
          <p:txBody>
            <a:bodyPr/>
            <a:p/>
          </p:txBody>
        </p:sp>
      </p:grpSp>
      <p:grpSp>
        <p:nvGrpSpPr>
          <p:cNvPr name="Group 77" id="77"/>
          <p:cNvGrpSpPr/>
          <p:nvPr/>
        </p:nvGrpSpPr>
        <p:grpSpPr>
          <a:xfrm rot="0">
            <a:off x="7132320" y="6883718"/>
            <a:ext cx="274320" cy="536638"/>
            <a:chOff x="0" y="0"/>
            <a:chExt cx="365760" cy="715518"/>
          </a:xfrm>
        </p:grpSpPr>
        <p:sp>
          <p:nvSpPr>
            <p:cNvPr name="Freeform 78" id="78"/>
            <p:cNvSpPr/>
            <p:nvPr/>
          </p:nvSpPr>
          <p:spPr>
            <a:xfrm flipH="false" flipV="false" rot="0">
              <a:off x="0" y="0"/>
              <a:ext cx="365760" cy="715518"/>
            </a:xfrm>
            <a:custGeom>
              <a:avLst/>
              <a:gdLst/>
              <a:ahLst/>
              <a:cxnLst/>
              <a:rect r="r" b="b" t="t" l="l"/>
              <a:pathLst>
                <a:path h="715518" w="365760">
                  <a:moveTo>
                    <a:pt x="0" y="0"/>
                  </a:moveTo>
                  <a:lnTo>
                    <a:pt x="365760" y="0"/>
                  </a:lnTo>
                  <a:lnTo>
                    <a:pt x="365760" y="715518"/>
                  </a:lnTo>
                  <a:lnTo>
                    <a:pt x="0" y="715518"/>
                  </a:lnTo>
                  <a:close/>
                </a:path>
              </a:pathLst>
            </a:custGeom>
            <a:blipFill>
              <a:blip r:embed="rId6">
                <a:alphaModFix amt="0"/>
              </a:blip>
              <a:stretch>
                <a:fillRect l="-201166" t="0" r="-201170" b="0"/>
              </a:stretch>
            </a:blipFill>
          </p:spPr>
          <p:txBody>
            <a:bodyPr/>
            <a:p/>
          </p:txBody>
        </p:sp>
      </p:grpSp>
      <p:grpSp>
        <p:nvGrpSpPr>
          <p:cNvPr name="Group 79" id="79"/>
          <p:cNvGrpSpPr/>
          <p:nvPr/>
        </p:nvGrpSpPr>
        <p:grpSpPr>
          <a:xfrm rot="0">
            <a:off x="7132320" y="6840855"/>
            <a:ext cx="274320" cy="579501"/>
            <a:chOff x="0" y="0"/>
            <a:chExt cx="365760" cy="772668"/>
          </a:xfrm>
        </p:grpSpPr>
        <p:sp>
          <p:nvSpPr>
            <p:cNvPr name="Freeform 80" id="80"/>
            <p:cNvSpPr/>
            <p:nvPr/>
          </p:nvSpPr>
          <p:spPr>
            <a:xfrm flipH="false" flipV="false" rot="0">
              <a:off x="0" y="0"/>
              <a:ext cx="365760" cy="772667"/>
            </a:xfrm>
            <a:custGeom>
              <a:avLst/>
              <a:gdLst/>
              <a:ahLst/>
              <a:cxnLst/>
              <a:rect r="r" b="b" t="t" l="l"/>
              <a:pathLst>
                <a:path h="772667" w="365760">
                  <a:moveTo>
                    <a:pt x="0" y="0"/>
                  </a:moveTo>
                  <a:lnTo>
                    <a:pt x="365760" y="0"/>
                  </a:lnTo>
                  <a:lnTo>
                    <a:pt x="365760" y="772667"/>
                  </a:lnTo>
                  <a:lnTo>
                    <a:pt x="0" y="772667"/>
                  </a:lnTo>
                  <a:close/>
                </a:path>
              </a:pathLst>
            </a:custGeom>
            <a:blipFill>
              <a:blip r:embed="rId7">
                <a:alphaModFix amt="0"/>
              </a:blip>
              <a:stretch>
                <a:fillRect l="-221041" t="0" r="-221041" b="0"/>
              </a:stretch>
            </a:blipFill>
          </p:spPr>
          <p:txBody>
            <a:bodyPr/>
            <a:p/>
          </p:txBody>
        </p:sp>
        <p:sp>
          <p:nvSpPr>
            <p:cNvPr name="TextBox 81" id="81"/>
            <p:cNvSpPr txBox="true"/>
            <p:nvPr/>
          </p:nvSpPr>
          <p:spPr>
            <a:xfrm>
              <a:off x="0" y="-57150"/>
              <a:ext cx="365760" cy="829818"/>
            </a:xfrm>
            <a:prstGeom prst="rect">
              <a:avLst/>
            </a:prstGeom>
          </p:spPr>
          <p:txBody>
            <a:bodyPr anchor="ctr" rtlCol="false" tIns="0" lIns="0" bIns="0" rIns="0"/>
            <a:lstStyle/>
            <a:p>
              <a:pPr algn="l">
                <a:lnSpc>
                  <a:spcPts val="2700"/>
                </a:lnSpc>
              </a:pPr>
              <a:r>
                <a:rPr lang="en-US" sz="2250" b="true">
                  <a:solidFill>
                    <a:srgbClr val="14313B"/>
                  </a:solidFill>
                  <a:latin typeface="Calibri (MS) Bold"/>
                  <a:ea typeface="Calibri (MS) Bold"/>
                  <a:cs typeface="Calibri (MS) Bold"/>
                  <a:sym typeface="Calibri (MS) Bold"/>
                </a:rPr>
                <a:t>:</a:t>
              </a:r>
            </a:p>
          </p:txBody>
        </p:sp>
      </p:grpSp>
      <p:grpSp>
        <p:nvGrpSpPr>
          <p:cNvPr name="Group 82" id="82"/>
          <p:cNvGrpSpPr/>
          <p:nvPr/>
        </p:nvGrpSpPr>
        <p:grpSpPr>
          <a:xfrm rot="0">
            <a:off x="7543800" y="6926580"/>
            <a:ext cx="7406640" cy="493776"/>
            <a:chOff x="0" y="0"/>
            <a:chExt cx="9875520" cy="658368"/>
          </a:xfrm>
        </p:grpSpPr>
        <p:sp>
          <p:nvSpPr>
            <p:cNvPr name="Freeform 83" id="83"/>
            <p:cNvSpPr/>
            <p:nvPr/>
          </p:nvSpPr>
          <p:spPr>
            <a:xfrm flipH="false" flipV="false" rot="0">
              <a:off x="0" y="0"/>
              <a:ext cx="9875520" cy="658368"/>
            </a:xfrm>
            <a:custGeom>
              <a:avLst/>
              <a:gdLst/>
              <a:ahLst/>
              <a:cxnLst/>
              <a:rect r="r" b="b" t="t" l="l"/>
              <a:pathLst>
                <a:path h="658368" w="9875520">
                  <a:moveTo>
                    <a:pt x="0" y="0"/>
                  </a:moveTo>
                  <a:lnTo>
                    <a:pt x="9875520" y="0"/>
                  </a:lnTo>
                  <a:lnTo>
                    <a:pt x="9875520" y="658368"/>
                  </a:lnTo>
                  <a:lnTo>
                    <a:pt x="0" y="658368"/>
                  </a:lnTo>
                  <a:close/>
                </a:path>
              </a:pathLst>
            </a:custGeom>
            <a:blipFill>
              <a:blip r:embed="rId5">
                <a:alphaModFix amt="0"/>
              </a:blip>
              <a:stretch>
                <a:fillRect l="0" t="-242071" r="0" b="-242073"/>
              </a:stretch>
            </a:blipFill>
          </p:spPr>
          <p:txBody>
            <a:bodyPr/>
            <a:p/>
          </p:txBody>
        </p:sp>
      </p:grpSp>
      <p:grpSp>
        <p:nvGrpSpPr>
          <p:cNvPr name="Group 84" id="84"/>
          <p:cNvGrpSpPr/>
          <p:nvPr/>
        </p:nvGrpSpPr>
        <p:grpSpPr>
          <a:xfrm rot="0">
            <a:off x="7543800" y="6883718"/>
            <a:ext cx="7406640" cy="536638"/>
            <a:chOff x="0" y="0"/>
            <a:chExt cx="9875520" cy="715518"/>
          </a:xfrm>
        </p:grpSpPr>
        <p:sp>
          <p:nvSpPr>
            <p:cNvPr name="Freeform 85" id="85"/>
            <p:cNvSpPr/>
            <p:nvPr/>
          </p:nvSpPr>
          <p:spPr>
            <a:xfrm flipH="false" flipV="false" rot="0">
              <a:off x="0" y="0"/>
              <a:ext cx="9875520" cy="715518"/>
            </a:xfrm>
            <a:custGeom>
              <a:avLst/>
              <a:gdLst/>
              <a:ahLst/>
              <a:cxnLst/>
              <a:rect r="r" b="b" t="t" l="l"/>
              <a:pathLst>
                <a:path h="715518" w="9875520">
                  <a:moveTo>
                    <a:pt x="0" y="0"/>
                  </a:moveTo>
                  <a:lnTo>
                    <a:pt x="9875520" y="0"/>
                  </a:lnTo>
                  <a:lnTo>
                    <a:pt x="9875520" y="715518"/>
                  </a:lnTo>
                  <a:lnTo>
                    <a:pt x="0" y="715518"/>
                  </a:lnTo>
                  <a:close/>
                </a:path>
              </a:pathLst>
            </a:custGeom>
            <a:blipFill>
              <a:blip r:embed="rId6">
                <a:alphaModFix amt="0"/>
              </a:blip>
              <a:stretch>
                <a:fillRect l="0" t="-218743" r="0" b="-218745"/>
              </a:stretch>
            </a:blipFill>
          </p:spPr>
          <p:txBody>
            <a:bodyPr/>
            <a:p/>
          </p:txBody>
        </p:sp>
      </p:grpSp>
      <p:grpSp>
        <p:nvGrpSpPr>
          <p:cNvPr name="Group 86" id="86"/>
          <p:cNvGrpSpPr/>
          <p:nvPr/>
        </p:nvGrpSpPr>
        <p:grpSpPr>
          <a:xfrm rot="0">
            <a:off x="7543800" y="6840855"/>
            <a:ext cx="7406640" cy="579501"/>
            <a:chOff x="0" y="0"/>
            <a:chExt cx="9875520" cy="772668"/>
          </a:xfrm>
        </p:grpSpPr>
        <p:sp>
          <p:nvSpPr>
            <p:cNvPr name="Freeform 87" id="87"/>
            <p:cNvSpPr/>
            <p:nvPr/>
          </p:nvSpPr>
          <p:spPr>
            <a:xfrm flipH="false" flipV="false" rot="0">
              <a:off x="0" y="0"/>
              <a:ext cx="9875520" cy="772667"/>
            </a:xfrm>
            <a:custGeom>
              <a:avLst/>
              <a:gdLst/>
              <a:ahLst/>
              <a:cxnLst/>
              <a:rect r="r" b="b" t="t" l="l"/>
              <a:pathLst>
                <a:path h="772667" w="9875520">
                  <a:moveTo>
                    <a:pt x="0" y="0"/>
                  </a:moveTo>
                  <a:lnTo>
                    <a:pt x="9875520" y="0"/>
                  </a:lnTo>
                  <a:lnTo>
                    <a:pt x="9875520" y="772667"/>
                  </a:lnTo>
                  <a:lnTo>
                    <a:pt x="0" y="772667"/>
                  </a:lnTo>
                  <a:close/>
                </a:path>
              </a:pathLst>
            </a:custGeom>
            <a:blipFill>
              <a:blip r:embed="rId7">
                <a:alphaModFix amt="0"/>
              </a:blip>
              <a:stretch>
                <a:fillRect l="0" t="-199039" r="0" b="-199039"/>
              </a:stretch>
            </a:blipFill>
          </p:spPr>
          <p:txBody>
            <a:bodyPr/>
            <a:p/>
          </p:txBody>
        </p:sp>
        <p:sp>
          <p:nvSpPr>
            <p:cNvPr name="TextBox 88" id="88"/>
            <p:cNvSpPr txBox="true"/>
            <p:nvPr/>
          </p:nvSpPr>
          <p:spPr>
            <a:xfrm>
              <a:off x="0" y="-57150"/>
              <a:ext cx="9875520" cy="829818"/>
            </a:xfrm>
            <a:prstGeom prst="rect">
              <a:avLst/>
            </a:prstGeom>
          </p:spPr>
          <p:txBody>
            <a:bodyPr anchor="ctr" rtlCol="false" tIns="0" lIns="0" bIns="0" rIns="0"/>
            <a:lstStyle/>
            <a:p>
              <a:pPr algn="l">
                <a:lnSpc>
                  <a:spcPts val="2700"/>
                </a:lnSpc>
              </a:pPr>
              <a:r>
                <a:rPr lang="en-US" sz="2250">
                  <a:solidFill>
                    <a:srgbClr val="14313B"/>
                  </a:solidFill>
                  <a:latin typeface="Calibri (MS)"/>
                  <a:ea typeface="Calibri (MS)"/>
                  <a:cs typeface="Calibri (MS)"/>
                  <a:sym typeface="Calibri (MS)"/>
                </a:rPr>
                <a:t>Dr. Eng. Arie Wahyu Wijayanto, S.S.T., M.T.</a:t>
              </a:r>
            </a:p>
          </p:txBody>
        </p:sp>
      </p:grpSp>
      <p:grpSp>
        <p:nvGrpSpPr>
          <p:cNvPr name="Group 89" id="89"/>
          <p:cNvGrpSpPr/>
          <p:nvPr/>
        </p:nvGrpSpPr>
        <p:grpSpPr>
          <a:xfrm rot="0">
            <a:off x="3566160" y="7571232"/>
            <a:ext cx="3566160" cy="493776"/>
            <a:chOff x="0" y="0"/>
            <a:chExt cx="4754880" cy="658368"/>
          </a:xfrm>
        </p:grpSpPr>
        <p:sp>
          <p:nvSpPr>
            <p:cNvPr name="Freeform 90" id="90"/>
            <p:cNvSpPr/>
            <p:nvPr/>
          </p:nvSpPr>
          <p:spPr>
            <a:xfrm flipH="false" flipV="false" rot="0">
              <a:off x="0" y="0"/>
              <a:ext cx="4754880" cy="658368"/>
            </a:xfrm>
            <a:custGeom>
              <a:avLst/>
              <a:gdLst/>
              <a:ahLst/>
              <a:cxnLst/>
              <a:rect r="r" b="b" t="t" l="l"/>
              <a:pathLst>
                <a:path h="658368" w="4754880">
                  <a:moveTo>
                    <a:pt x="0" y="0"/>
                  </a:moveTo>
                  <a:lnTo>
                    <a:pt x="4754880" y="0"/>
                  </a:lnTo>
                  <a:lnTo>
                    <a:pt x="4754880" y="658368"/>
                  </a:lnTo>
                  <a:lnTo>
                    <a:pt x="0" y="658368"/>
                  </a:lnTo>
                  <a:close/>
                </a:path>
              </a:pathLst>
            </a:custGeom>
            <a:blipFill>
              <a:blip r:embed="rId5">
                <a:alphaModFix amt="0"/>
              </a:blip>
              <a:stretch>
                <a:fillRect l="0" t="-90626" r="0" b="-90628"/>
              </a:stretch>
            </a:blipFill>
          </p:spPr>
          <p:txBody>
            <a:bodyPr/>
            <a:p/>
          </p:txBody>
        </p:sp>
      </p:grpSp>
      <p:grpSp>
        <p:nvGrpSpPr>
          <p:cNvPr name="Group 91" id="91"/>
          <p:cNvGrpSpPr/>
          <p:nvPr/>
        </p:nvGrpSpPr>
        <p:grpSpPr>
          <a:xfrm rot="0">
            <a:off x="3566160" y="7528370"/>
            <a:ext cx="3566160" cy="536638"/>
            <a:chOff x="0" y="0"/>
            <a:chExt cx="4754880" cy="715518"/>
          </a:xfrm>
        </p:grpSpPr>
        <p:sp>
          <p:nvSpPr>
            <p:cNvPr name="Freeform 92" id="92"/>
            <p:cNvSpPr/>
            <p:nvPr/>
          </p:nvSpPr>
          <p:spPr>
            <a:xfrm flipH="false" flipV="false" rot="0">
              <a:off x="0" y="0"/>
              <a:ext cx="4754880" cy="715518"/>
            </a:xfrm>
            <a:custGeom>
              <a:avLst/>
              <a:gdLst/>
              <a:ahLst/>
              <a:cxnLst/>
              <a:rect r="r" b="b" t="t" l="l"/>
              <a:pathLst>
                <a:path h="715518" w="4754880">
                  <a:moveTo>
                    <a:pt x="0" y="0"/>
                  </a:moveTo>
                  <a:lnTo>
                    <a:pt x="4754880" y="0"/>
                  </a:lnTo>
                  <a:lnTo>
                    <a:pt x="4754880" y="715518"/>
                  </a:lnTo>
                  <a:lnTo>
                    <a:pt x="0" y="715518"/>
                  </a:lnTo>
                  <a:close/>
                </a:path>
              </a:pathLst>
            </a:custGeom>
            <a:blipFill>
              <a:blip r:embed="rId6">
                <a:alphaModFix amt="0"/>
              </a:blip>
              <a:stretch>
                <a:fillRect l="0" t="-79394" r="0" b="-79396"/>
              </a:stretch>
            </a:blipFill>
          </p:spPr>
          <p:txBody>
            <a:bodyPr/>
            <a:p/>
          </p:txBody>
        </p:sp>
      </p:grpSp>
      <p:grpSp>
        <p:nvGrpSpPr>
          <p:cNvPr name="Group 93" id="93"/>
          <p:cNvGrpSpPr/>
          <p:nvPr/>
        </p:nvGrpSpPr>
        <p:grpSpPr>
          <a:xfrm rot="0">
            <a:off x="3566160" y="7485507"/>
            <a:ext cx="3566160" cy="579501"/>
            <a:chOff x="0" y="0"/>
            <a:chExt cx="4754880" cy="772668"/>
          </a:xfrm>
        </p:grpSpPr>
        <p:sp>
          <p:nvSpPr>
            <p:cNvPr name="Freeform 94" id="94"/>
            <p:cNvSpPr/>
            <p:nvPr/>
          </p:nvSpPr>
          <p:spPr>
            <a:xfrm flipH="false" flipV="false" rot="0">
              <a:off x="0" y="0"/>
              <a:ext cx="4754880" cy="772667"/>
            </a:xfrm>
            <a:custGeom>
              <a:avLst/>
              <a:gdLst/>
              <a:ahLst/>
              <a:cxnLst/>
              <a:rect r="r" b="b" t="t" l="l"/>
              <a:pathLst>
                <a:path h="772667" w="4754880">
                  <a:moveTo>
                    <a:pt x="0" y="0"/>
                  </a:moveTo>
                  <a:lnTo>
                    <a:pt x="4754880" y="0"/>
                  </a:lnTo>
                  <a:lnTo>
                    <a:pt x="4754880" y="772667"/>
                  </a:lnTo>
                  <a:lnTo>
                    <a:pt x="0" y="772667"/>
                  </a:lnTo>
                  <a:close/>
                </a:path>
              </a:pathLst>
            </a:custGeom>
            <a:blipFill>
              <a:blip r:embed="rId7">
                <a:alphaModFix amt="0"/>
              </a:blip>
              <a:stretch>
                <a:fillRect l="0" t="-69907" r="0" b="-69908"/>
              </a:stretch>
            </a:blipFill>
          </p:spPr>
          <p:txBody>
            <a:bodyPr/>
            <a:p/>
          </p:txBody>
        </p:sp>
        <p:sp>
          <p:nvSpPr>
            <p:cNvPr name="TextBox 95" id="95"/>
            <p:cNvSpPr txBox="true"/>
            <p:nvPr/>
          </p:nvSpPr>
          <p:spPr>
            <a:xfrm>
              <a:off x="0" y="-57150"/>
              <a:ext cx="4754880" cy="829818"/>
            </a:xfrm>
            <a:prstGeom prst="rect">
              <a:avLst/>
            </a:prstGeom>
          </p:spPr>
          <p:txBody>
            <a:bodyPr anchor="ctr" rtlCol="false" tIns="0" lIns="0" bIns="0" rIns="0"/>
            <a:lstStyle/>
            <a:p>
              <a:pPr algn="l">
                <a:lnSpc>
                  <a:spcPts val="2700"/>
                </a:lnSpc>
              </a:pPr>
              <a:r>
                <a:rPr lang="en-US" sz="2250" b="true">
                  <a:solidFill>
                    <a:srgbClr val="14313B"/>
                  </a:solidFill>
                  <a:latin typeface="Calibri (MS) Bold"/>
                  <a:ea typeface="Calibri (MS) Bold"/>
                  <a:cs typeface="Calibri (MS) Bold"/>
                  <a:sym typeface="Calibri (MS) Bold"/>
                </a:rPr>
                <a:t>Dosen Penguji 1</a:t>
              </a:r>
            </a:p>
          </p:txBody>
        </p:sp>
      </p:grpSp>
      <p:grpSp>
        <p:nvGrpSpPr>
          <p:cNvPr name="Group 96" id="96"/>
          <p:cNvGrpSpPr/>
          <p:nvPr/>
        </p:nvGrpSpPr>
        <p:grpSpPr>
          <a:xfrm rot="0">
            <a:off x="7132320" y="7571232"/>
            <a:ext cx="274320" cy="493776"/>
            <a:chOff x="0" y="0"/>
            <a:chExt cx="365760" cy="658368"/>
          </a:xfrm>
        </p:grpSpPr>
        <p:sp>
          <p:nvSpPr>
            <p:cNvPr name="Freeform 97" id="97"/>
            <p:cNvSpPr/>
            <p:nvPr/>
          </p:nvSpPr>
          <p:spPr>
            <a:xfrm flipH="false" flipV="false" rot="0">
              <a:off x="0" y="0"/>
              <a:ext cx="365760" cy="658368"/>
            </a:xfrm>
            <a:custGeom>
              <a:avLst/>
              <a:gdLst/>
              <a:ahLst/>
              <a:cxnLst/>
              <a:rect r="r" b="b" t="t" l="l"/>
              <a:pathLst>
                <a:path h="658368" w="365760">
                  <a:moveTo>
                    <a:pt x="0" y="0"/>
                  </a:moveTo>
                  <a:lnTo>
                    <a:pt x="365760" y="0"/>
                  </a:lnTo>
                  <a:lnTo>
                    <a:pt x="365760" y="658368"/>
                  </a:lnTo>
                  <a:lnTo>
                    <a:pt x="0" y="658368"/>
                  </a:lnTo>
                  <a:close/>
                </a:path>
              </a:pathLst>
            </a:custGeom>
            <a:blipFill>
              <a:blip r:embed="rId5">
                <a:alphaModFix amt="0"/>
              </a:blip>
              <a:stretch>
                <a:fillRect l="-181107" t="0" r="-181107" b="0"/>
              </a:stretch>
            </a:blipFill>
          </p:spPr>
          <p:txBody>
            <a:bodyPr/>
            <a:p/>
          </p:txBody>
        </p:sp>
      </p:grpSp>
      <p:grpSp>
        <p:nvGrpSpPr>
          <p:cNvPr name="Group 98" id="98"/>
          <p:cNvGrpSpPr/>
          <p:nvPr/>
        </p:nvGrpSpPr>
        <p:grpSpPr>
          <a:xfrm rot="0">
            <a:off x="7132320" y="7528370"/>
            <a:ext cx="274320" cy="536638"/>
            <a:chOff x="0" y="0"/>
            <a:chExt cx="365760" cy="715518"/>
          </a:xfrm>
        </p:grpSpPr>
        <p:sp>
          <p:nvSpPr>
            <p:cNvPr name="Freeform 99" id="99"/>
            <p:cNvSpPr/>
            <p:nvPr/>
          </p:nvSpPr>
          <p:spPr>
            <a:xfrm flipH="false" flipV="false" rot="0">
              <a:off x="0" y="0"/>
              <a:ext cx="365760" cy="715518"/>
            </a:xfrm>
            <a:custGeom>
              <a:avLst/>
              <a:gdLst/>
              <a:ahLst/>
              <a:cxnLst/>
              <a:rect r="r" b="b" t="t" l="l"/>
              <a:pathLst>
                <a:path h="715518" w="365760">
                  <a:moveTo>
                    <a:pt x="0" y="0"/>
                  </a:moveTo>
                  <a:lnTo>
                    <a:pt x="365760" y="0"/>
                  </a:lnTo>
                  <a:lnTo>
                    <a:pt x="365760" y="715518"/>
                  </a:lnTo>
                  <a:lnTo>
                    <a:pt x="0" y="715518"/>
                  </a:lnTo>
                  <a:close/>
                </a:path>
              </a:pathLst>
            </a:custGeom>
            <a:blipFill>
              <a:blip r:embed="rId6">
                <a:alphaModFix amt="0"/>
              </a:blip>
              <a:stretch>
                <a:fillRect l="-201166" t="0" r="-201170" b="0"/>
              </a:stretch>
            </a:blipFill>
          </p:spPr>
          <p:txBody>
            <a:bodyPr/>
            <a:p/>
          </p:txBody>
        </p:sp>
      </p:grpSp>
      <p:grpSp>
        <p:nvGrpSpPr>
          <p:cNvPr name="Group 100" id="100"/>
          <p:cNvGrpSpPr/>
          <p:nvPr/>
        </p:nvGrpSpPr>
        <p:grpSpPr>
          <a:xfrm rot="0">
            <a:off x="7132320" y="7485507"/>
            <a:ext cx="274320" cy="579501"/>
            <a:chOff x="0" y="0"/>
            <a:chExt cx="365760" cy="772668"/>
          </a:xfrm>
        </p:grpSpPr>
        <p:sp>
          <p:nvSpPr>
            <p:cNvPr name="Freeform 101" id="101"/>
            <p:cNvSpPr/>
            <p:nvPr/>
          </p:nvSpPr>
          <p:spPr>
            <a:xfrm flipH="false" flipV="false" rot="0">
              <a:off x="0" y="0"/>
              <a:ext cx="365760" cy="772667"/>
            </a:xfrm>
            <a:custGeom>
              <a:avLst/>
              <a:gdLst/>
              <a:ahLst/>
              <a:cxnLst/>
              <a:rect r="r" b="b" t="t" l="l"/>
              <a:pathLst>
                <a:path h="772667" w="365760">
                  <a:moveTo>
                    <a:pt x="0" y="0"/>
                  </a:moveTo>
                  <a:lnTo>
                    <a:pt x="365760" y="0"/>
                  </a:lnTo>
                  <a:lnTo>
                    <a:pt x="365760" y="772667"/>
                  </a:lnTo>
                  <a:lnTo>
                    <a:pt x="0" y="772667"/>
                  </a:lnTo>
                  <a:close/>
                </a:path>
              </a:pathLst>
            </a:custGeom>
            <a:blipFill>
              <a:blip r:embed="rId7">
                <a:alphaModFix amt="0"/>
              </a:blip>
              <a:stretch>
                <a:fillRect l="-221041" t="0" r="-221041" b="0"/>
              </a:stretch>
            </a:blipFill>
          </p:spPr>
          <p:txBody>
            <a:bodyPr/>
            <a:p/>
          </p:txBody>
        </p:sp>
        <p:sp>
          <p:nvSpPr>
            <p:cNvPr name="TextBox 102" id="102"/>
            <p:cNvSpPr txBox="true"/>
            <p:nvPr/>
          </p:nvSpPr>
          <p:spPr>
            <a:xfrm>
              <a:off x="0" y="-57150"/>
              <a:ext cx="365760" cy="829818"/>
            </a:xfrm>
            <a:prstGeom prst="rect">
              <a:avLst/>
            </a:prstGeom>
          </p:spPr>
          <p:txBody>
            <a:bodyPr anchor="ctr" rtlCol="false" tIns="0" lIns="0" bIns="0" rIns="0"/>
            <a:lstStyle/>
            <a:p>
              <a:pPr algn="l">
                <a:lnSpc>
                  <a:spcPts val="2700"/>
                </a:lnSpc>
              </a:pPr>
              <a:r>
                <a:rPr lang="en-US" sz="2250" b="true">
                  <a:solidFill>
                    <a:srgbClr val="14313B"/>
                  </a:solidFill>
                  <a:latin typeface="Calibri (MS) Bold"/>
                  <a:ea typeface="Calibri (MS) Bold"/>
                  <a:cs typeface="Calibri (MS) Bold"/>
                  <a:sym typeface="Calibri (MS) Bold"/>
                </a:rPr>
                <a:t>:</a:t>
              </a:r>
            </a:p>
          </p:txBody>
        </p:sp>
      </p:grpSp>
      <p:grpSp>
        <p:nvGrpSpPr>
          <p:cNvPr name="Group 103" id="103"/>
          <p:cNvGrpSpPr/>
          <p:nvPr/>
        </p:nvGrpSpPr>
        <p:grpSpPr>
          <a:xfrm rot="0">
            <a:off x="7543800" y="7571232"/>
            <a:ext cx="7406640" cy="493776"/>
            <a:chOff x="0" y="0"/>
            <a:chExt cx="9875520" cy="658368"/>
          </a:xfrm>
        </p:grpSpPr>
        <p:sp>
          <p:nvSpPr>
            <p:cNvPr name="Freeform 104" id="104"/>
            <p:cNvSpPr/>
            <p:nvPr/>
          </p:nvSpPr>
          <p:spPr>
            <a:xfrm flipH="false" flipV="false" rot="0">
              <a:off x="0" y="0"/>
              <a:ext cx="9875520" cy="658368"/>
            </a:xfrm>
            <a:custGeom>
              <a:avLst/>
              <a:gdLst/>
              <a:ahLst/>
              <a:cxnLst/>
              <a:rect r="r" b="b" t="t" l="l"/>
              <a:pathLst>
                <a:path h="658368" w="9875520">
                  <a:moveTo>
                    <a:pt x="0" y="0"/>
                  </a:moveTo>
                  <a:lnTo>
                    <a:pt x="9875520" y="0"/>
                  </a:lnTo>
                  <a:lnTo>
                    <a:pt x="9875520" y="658368"/>
                  </a:lnTo>
                  <a:lnTo>
                    <a:pt x="0" y="658368"/>
                  </a:lnTo>
                  <a:close/>
                </a:path>
              </a:pathLst>
            </a:custGeom>
            <a:blipFill>
              <a:blip r:embed="rId5">
                <a:alphaModFix amt="0"/>
              </a:blip>
              <a:stretch>
                <a:fillRect l="0" t="-242071" r="0" b="-242073"/>
              </a:stretch>
            </a:blipFill>
          </p:spPr>
          <p:txBody>
            <a:bodyPr/>
            <a:p/>
          </p:txBody>
        </p:sp>
      </p:grpSp>
      <p:grpSp>
        <p:nvGrpSpPr>
          <p:cNvPr name="Group 105" id="105"/>
          <p:cNvGrpSpPr/>
          <p:nvPr/>
        </p:nvGrpSpPr>
        <p:grpSpPr>
          <a:xfrm rot="0">
            <a:off x="7543800" y="7528370"/>
            <a:ext cx="7406640" cy="536638"/>
            <a:chOff x="0" y="0"/>
            <a:chExt cx="9875520" cy="715518"/>
          </a:xfrm>
        </p:grpSpPr>
        <p:sp>
          <p:nvSpPr>
            <p:cNvPr name="Freeform 106" id="106"/>
            <p:cNvSpPr/>
            <p:nvPr/>
          </p:nvSpPr>
          <p:spPr>
            <a:xfrm flipH="false" flipV="false" rot="0">
              <a:off x="0" y="0"/>
              <a:ext cx="9875520" cy="715518"/>
            </a:xfrm>
            <a:custGeom>
              <a:avLst/>
              <a:gdLst/>
              <a:ahLst/>
              <a:cxnLst/>
              <a:rect r="r" b="b" t="t" l="l"/>
              <a:pathLst>
                <a:path h="715518" w="9875520">
                  <a:moveTo>
                    <a:pt x="0" y="0"/>
                  </a:moveTo>
                  <a:lnTo>
                    <a:pt x="9875520" y="0"/>
                  </a:lnTo>
                  <a:lnTo>
                    <a:pt x="9875520" y="715518"/>
                  </a:lnTo>
                  <a:lnTo>
                    <a:pt x="0" y="715518"/>
                  </a:lnTo>
                  <a:close/>
                </a:path>
              </a:pathLst>
            </a:custGeom>
            <a:blipFill>
              <a:blip r:embed="rId6">
                <a:alphaModFix amt="0"/>
              </a:blip>
              <a:stretch>
                <a:fillRect l="0" t="-218743" r="0" b="-218745"/>
              </a:stretch>
            </a:blipFill>
          </p:spPr>
          <p:txBody>
            <a:bodyPr/>
            <a:p/>
          </p:txBody>
        </p:sp>
      </p:grpSp>
      <p:grpSp>
        <p:nvGrpSpPr>
          <p:cNvPr name="Group 107" id="107"/>
          <p:cNvGrpSpPr/>
          <p:nvPr/>
        </p:nvGrpSpPr>
        <p:grpSpPr>
          <a:xfrm rot="0">
            <a:off x="7543800" y="7485507"/>
            <a:ext cx="7406640" cy="579501"/>
            <a:chOff x="0" y="0"/>
            <a:chExt cx="9875520" cy="772668"/>
          </a:xfrm>
        </p:grpSpPr>
        <p:sp>
          <p:nvSpPr>
            <p:cNvPr name="Freeform 108" id="108"/>
            <p:cNvSpPr/>
            <p:nvPr/>
          </p:nvSpPr>
          <p:spPr>
            <a:xfrm flipH="false" flipV="false" rot="0">
              <a:off x="0" y="0"/>
              <a:ext cx="9875520" cy="772667"/>
            </a:xfrm>
            <a:custGeom>
              <a:avLst/>
              <a:gdLst/>
              <a:ahLst/>
              <a:cxnLst/>
              <a:rect r="r" b="b" t="t" l="l"/>
              <a:pathLst>
                <a:path h="772667" w="9875520">
                  <a:moveTo>
                    <a:pt x="0" y="0"/>
                  </a:moveTo>
                  <a:lnTo>
                    <a:pt x="9875520" y="0"/>
                  </a:lnTo>
                  <a:lnTo>
                    <a:pt x="9875520" y="772667"/>
                  </a:lnTo>
                  <a:lnTo>
                    <a:pt x="0" y="772667"/>
                  </a:lnTo>
                  <a:close/>
                </a:path>
              </a:pathLst>
            </a:custGeom>
            <a:blipFill>
              <a:blip r:embed="rId7">
                <a:alphaModFix amt="0"/>
              </a:blip>
              <a:stretch>
                <a:fillRect l="0" t="-199039" r="0" b="-199039"/>
              </a:stretch>
            </a:blipFill>
          </p:spPr>
          <p:txBody>
            <a:bodyPr/>
            <a:p/>
          </p:txBody>
        </p:sp>
        <p:sp>
          <p:nvSpPr>
            <p:cNvPr name="TextBox 109" id="109"/>
            <p:cNvSpPr txBox="true"/>
            <p:nvPr/>
          </p:nvSpPr>
          <p:spPr>
            <a:xfrm>
              <a:off x="0" y="-57150"/>
              <a:ext cx="9875520" cy="829818"/>
            </a:xfrm>
            <a:prstGeom prst="rect">
              <a:avLst/>
            </a:prstGeom>
          </p:spPr>
          <p:txBody>
            <a:bodyPr anchor="ctr" rtlCol="false" tIns="0" lIns="0" bIns="0" rIns="0"/>
            <a:lstStyle/>
            <a:p>
              <a:pPr algn="l">
                <a:lnSpc>
                  <a:spcPts val="2700"/>
                </a:lnSpc>
              </a:pPr>
              <a:r>
                <a:rPr lang="en-US" sz="2250">
                  <a:solidFill>
                    <a:srgbClr val="14313B"/>
                  </a:solidFill>
                  <a:latin typeface="Calibri (MS)"/>
                  <a:ea typeface="Calibri (MS)"/>
                  <a:cs typeface="Calibri (MS)"/>
                  <a:sym typeface="Calibri (MS)"/>
                </a:rPr>
                <a:t>Ricky Yordani, S.S.T., M.Stat.</a:t>
              </a:r>
            </a:p>
          </p:txBody>
        </p:sp>
      </p:grpSp>
      <p:grpSp>
        <p:nvGrpSpPr>
          <p:cNvPr name="Group 110" id="110"/>
          <p:cNvGrpSpPr/>
          <p:nvPr/>
        </p:nvGrpSpPr>
        <p:grpSpPr>
          <a:xfrm rot="0">
            <a:off x="3566160" y="8215884"/>
            <a:ext cx="3566160" cy="493776"/>
            <a:chOff x="0" y="0"/>
            <a:chExt cx="4754880" cy="658368"/>
          </a:xfrm>
        </p:grpSpPr>
        <p:sp>
          <p:nvSpPr>
            <p:cNvPr name="Freeform 111" id="111"/>
            <p:cNvSpPr/>
            <p:nvPr/>
          </p:nvSpPr>
          <p:spPr>
            <a:xfrm flipH="false" flipV="false" rot="0">
              <a:off x="0" y="0"/>
              <a:ext cx="4754880" cy="658368"/>
            </a:xfrm>
            <a:custGeom>
              <a:avLst/>
              <a:gdLst/>
              <a:ahLst/>
              <a:cxnLst/>
              <a:rect r="r" b="b" t="t" l="l"/>
              <a:pathLst>
                <a:path h="658368" w="4754880">
                  <a:moveTo>
                    <a:pt x="0" y="0"/>
                  </a:moveTo>
                  <a:lnTo>
                    <a:pt x="4754880" y="0"/>
                  </a:lnTo>
                  <a:lnTo>
                    <a:pt x="4754880" y="658368"/>
                  </a:lnTo>
                  <a:lnTo>
                    <a:pt x="0" y="658368"/>
                  </a:lnTo>
                  <a:close/>
                </a:path>
              </a:pathLst>
            </a:custGeom>
            <a:blipFill>
              <a:blip r:embed="rId5">
                <a:alphaModFix amt="0"/>
              </a:blip>
              <a:stretch>
                <a:fillRect l="0" t="-90626" r="0" b="-90628"/>
              </a:stretch>
            </a:blipFill>
          </p:spPr>
          <p:txBody>
            <a:bodyPr/>
            <a:p/>
          </p:txBody>
        </p:sp>
      </p:grpSp>
      <p:grpSp>
        <p:nvGrpSpPr>
          <p:cNvPr name="Group 112" id="112"/>
          <p:cNvGrpSpPr/>
          <p:nvPr/>
        </p:nvGrpSpPr>
        <p:grpSpPr>
          <a:xfrm rot="0">
            <a:off x="3566160" y="8173021"/>
            <a:ext cx="3566160" cy="536638"/>
            <a:chOff x="0" y="0"/>
            <a:chExt cx="4754880" cy="715518"/>
          </a:xfrm>
        </p:grpSpPr>
        <p:sp>
          <p:nvSpPr>
            <p:cNvPr name="Freeform 113" id="113"/>
            <p:cNvSpPr/>
            <p:nvPr/>
          </p:nvSpPr>
          <p:spPr>
            <a:xfrm flipH="false" flipV="false" rot="0">
              <a:off x="0" y="0"/>
              <a:ext cx="4754880" cy="715518"/>
            </a:xfrm>
            <a:custGeom>
              <a:avLst/>
              <a:gdLst/>
              <a:ahLst/>
              <a:cxnLst/>
              <a:rect r="r" b="b" t="t" l="l"/>
              <a:pathLst>
                <a:path h="715518" w="4754880">
                  <a:moveTo>
                    <a:pt x="0" y="0"/>
                  </a:moveTo>
                  <a:lnTo>
                    <a:pt x="4754880" y="0"/>
                  </a:lnTo>
                  <a:lnTo>
                    <a:pt x="4754880" y="715518"/>
                  </a:lnTo>
                  <a:lnTo>
                    <a:pt x="0" y="715518"/>
                  </a:lnTo>
                  <a:close/>
                </a:path>
              </a:pathLst>
            </a:custGeom>
            <a:blipFill>
              <a:blip r:embed="rId6">
                <a:alphaModFix amt="0"/>
              </a:blip>
              <a:stretch>
                <a:fillRect l="0" t="-79394" r="0" b="-79396"/>
              </a:stretch>
            </a:blipFill>
          </p:spPr>
          <p:txBody>
            <a:bodyPr/>
            <a:p/>
          </p:txBody>
        </p:sp>
      </p:grpSp>
      <p:grpSp>
        <p:nvGrpSpPr>
          <p:cNvPr name="Group 114" id="114"/>
          <p:cNvGrpSpPr/>
          <p:nvPr/>
        </p:nvGrpSpPr>
        <p:grpSpPr>
          <a:xfrm rot="0">
            <a:off x="3566160" y="8130159"/>
            <a:ext cx="3566160" cy="579501"/>
            <a:chOff x="0" y="0"/>
            <a:chExt cx="4754880" cy="772668"/>
          </a:xfrm>
        </p:grpSpPr>
        <p:sp>
          <p:nvSpPr>
            <p:cNvPr name="Freeform 115" id="115"/>
            <p:cNvSpPr/>
            <p:nvPr/>
          </p:nvSpPr>
          <p:spPr>
            <a:xfrm flipH="false" flipV="false" rot="0">
              <a:off x="0" y="0"/>
              <a:ext cx="4754880" cy="772667"/>
            </a:xfrm>
            <a:custGeom>
              <a:avLst/>
              <a:gdLst/>
              <a:ahLst/>
              <a:cxnLst/>
              <a:rect r="r" b="b" t="t" l="l"/>
              <a:pathLst>
                <a:path h="772667" w="4754880">
                  <a:moveTo>
                    <a:pt x="0" y="0"/>
                  </a:moveTo>
                  <a:lnTo>
                    <a:pt x="4754880" y="0"/>
                  </a:lnTo>
                  <a:lnTo>
                    <a:pt x="4754880" y="772667"/>
                  </a:lnTo>
                  <a:lnTo>
                    <a:pt x="0" y="772667"/>
                  </a:lnTo>
                  <a:close/>
                </a:path>
              </a:pathLst>
            </a:custGeom>
            <a:blipFill>
              <a:blip r:embed="rId7">
                <a:alphaModFix amt="0"/>
              </a:blip>
              <a:stretch>
                <a:fillRect l="0" t="-69907" r="0" b="-69908"/>
              </a:stretch>
            </a:blipFill>
          </p:spPr>
          <p:txBody>
            <a:bodyPr/>
            <a:p/>
          </p:txBody>
        </p:sp>
        <p:sp>
          <p:nvSpPr>
            <p:cNvPr name="TextBox 116" id="116"/>
            <p:cNvSpPr txBox="true"/>
            <p:nvPr/>
          </p:nvSpPr>
          <p:spPr>
            <a:xfrm>
              <a:off x="0" y="-57150"/>
              <a:ext cx="4754880" cy="829818"/>
            </a:xfrm>
            <a:prstGeom prst="rect">
              <a:avLst/>
            </a:prstGeom>
          </p:spPr>
          <p:txBody>
            <a:bodyPr anchor="ctr" rtlCol="false" tIns="0" lIns="0" bIns="0" rIns="0"/>
            <a:lstStyle/>
            <a:p>
              <a:pPr algn="l">
                <a:lnSpc>
                  <a:spcPts val="2700"/>
                </a:lnSpc>
              </a:pPr>
              <a:r>
                <a:rPr lang="en-US" sz="2250" b="true">
                  <a:solidFill>
                    <a:srgbClr val="14313B"/>
                  </a:solidFill>
                  <a:latin typeface="Calibri (MS) Bold"/>
                  <a:ea typeface="Calibri (MS) Bold"/>
                  <a:cs typeface="Calibri (MS) Bold"/>
                  <a:sym typeface="Calibri (MS) Bold"/>
                </a:rPr>
                <a:t>Dosen Penguji 2</a:t>
              </a:r>
            </a:p>
          </p:txBody>
        </p:sp>
      </p:grpSp>
      <p:grpSp>
        <p:nvGrpSpPr>
          <p:cNvPr name="Group 117" id="117"/>
          <p:cNvGrpSpPr/>
          <p:nvPr/>
        </p:nvGrpSpPr>
        <p:grpSpPr>
          <a:xfrm rot="0">
            <a:off x="7132320" y="8215884"/>
            <a:ext cx="274320" cy="493776"/>
            <a:chOff x="0" y="0"/>
            <a:chExt cx="365760" cy="658368"/>
          </a:xfrm>
        </p:grpSpPr>
        <p:sp>
          <p:nvSpPr>
            <p:cNvPr name="Freeform 118" id="118"/>
            <p:cNvSpPr/>
            <p:nvPr/>
          </p:nvSpPr>
          <p:spPr>
            <a:xfrm flipH="false" flipV="false" rot="0">
              <a:off x="0" y="0"/>
              <a:ext cx="365760" cy="658368"/>
            </a:xfrm>
            <a:custGeom>
              <a:avLst/>
              <a:gdLst/>
              <a:ahLst/>
              <a:cxnLst/>
              <a:rect r="r" b="b" t="t" l="l"/>
              <a:pathLst>
                <a:path h="658368" w="365760">
                  <a:moveTo>
                    <a:pt x="0" y="0"/>
                  </a:moveTo>
                  <a:lnTo>
                    <a:pt x="365760" y="0"/>
                  </a:lnTo>
                  <a:lnTo>
                    <a:pt x="365760" y="658368"/>
                  </a:lnTo>
                  <a:lnTo>
                    <a:pt x="0" y="658368"/>
                  </a:lnTo>
                  <a:close/>
                </a:path>
              </a:pathLst>
            </a:custGeom>
            <a:blipFill>
              <a:blip r:embed="rId5">
                <a:alphaModFix amt="0"/>
              </a:blip>
              <a:stretch>
                <a:fillRect l="-181107" t="0" r="-181107" b="0"/>
              </a:stretch>
            </a:blipFill>
          </p:spPr>
          <p:txBody>
            <a:bodyPr/>
            <a:p/>
          </p:txBody>
        </p:sp>
      </p:grpSp>
      <p:grpSp>
        <p:nvGrpSpPr>
          <p:cNvPr name="Group 119" id="119"/>
          <p:cNvGrpSpPr/>
          <p:nvPr/>
        </p:nvGrpSpPr>
        <p:grpSpPr>
          <a:xfrm rot="0">
            <a:off x="7132320" y="8173021"/>
            <a:ext cx="274320" cy="536638"/>
            <a:chOff x="0" y="0"/>
            <a:chExt cx="365760" cy="715518"/>
          </a:xfrm>
        </p:grpSpPr>
        <p:sp>
          <p:nvSpPr>
            <p:cNvPr name="Freeform 120" id="120"/>
            <p:cNvSpPr/>
            <p:nvPr/>
          </p:nvSpPr>
          <p:spPr>
            <a:xfrm flipH="false" flipV="false" rot="0">
              <a:off x="0" y="0"/>
              <a:ext cx="365760" cy="715518"/>
            </a:xfrm>
            <a:custGeom>
              <a:avLst/>
              <a:gdLst/>
              <a:ahLst/>
              <a:cxnLst/>
              <a:rect r="r" b="b" t="t" l="l"/>
              <a:pathLst>
                <a:path h="715518" w="365760">
                  <a:moveTo>
                    <a:pt x="0" y="0"/>
                  </a:moveTo>
                  <a:lnTo>
                    <a:pt x="365760" y="0"/>
                  </a:lnTo>
                  <a:lnTo>
                    <a:pt x="365760" y="715518"/>
                  </a:lnTo>
                  <a:lnTo>
                    <a:pt x="0" y="715518"/>
                  </a:lnTo>
                  <a:close/>
                </a:path>
              </a:pathLst>
            </a:custGeom>
            <a:blipFill>
              <a:blip r:embed="rId6">
                <a:alphaModFix amt="0"/>
              </a:blip>
              <a:stretch>
                <a:fillRect l="-201166" t="0" r="-201170" b="0"/>
              </a:stretch>
            </a:blipFill>
          </p:spPr>
          <p:txBody>
            <a:bodyPr/>
            <a:p/>
          </p:txBody>
        </p:sp>
      </p:grpSp>
      <p:grpSp>
        <p:nvGrpSpPr>
          <p:cNvPr name="Group 121" id="121"/>
          <p:cNvGrpSpPr/>
          <p:nvPr/>
        </p:nvGrpSpPr>
        <p:grpSpPr>
          <a:xfrm rot="0">
            <a:off x="7132320" y="8130159"/>
            <a:ext cx="274320" cy="579501"/>
            <a:chOff x="0" y="0"/>
            <a:chExt cx="365760" cy="772668"/>
          </a:xfrm>
        </p:grpSpPr>
        <p:sp>
          <p:nvSpPr>
            <p:cNvPr name="Freeform 122" id="122"/>
            <p:cNvSpPr/>
            <p:nvPr/>
          </p:nvSpPr>
          <p:spPr>
            <a:xfrm flipH="false" flipV="false" rot="0">
              <a:off x="0" y="0"/>
              <a:ext cx="365760" cy="772667"/>
            </a:xfrm>
            <a:custGeom>
              <a:avLst/>
              <a:gdLst/>
              <a:ahLst/>
              <a:cxnLst/>
              <a:rect r="r" b="b" t="t" l="l"/>
              <a:pathLst>
                <a:path h="772667" w="365760">
                  <a:moveTo>
                    <a:pt x="0" y="0"/>
                  </a:moveTo>
                  <a:lnTo>
                    <a:pt x="365760" y="0"/>
                  </a:lnTo>
                  <a:lnTo>
                    <a:pt x="365760" y="772667"/>
                  </a:lnTo>
                  <a:lnTo>
                    <a:pt x="0" y="772667"/>
                  </a:lnTo>
                  <a:close/>
                </a:path>
              </a:pathLst>
            </a:custGeom>
            <a:blipFill>
              <a:blip r:embed="rId7">
                <a:alphaModFix amt="0"/>
              </a:blip>
              <a:stretch>
                <a:fillRect l="-221041" t="0" r="-221041" b="0"/>
              </a:stretch>
            </a:blipFill>
          </p:spPr>
          <p:txBody>
            <a:bodyPr/>
            <a:p/>
          </p:txBody>
        </p:sp>
        <p:sp>
          <p:nvSpPr>
            <p:cNvPr name="TextBox 123" id="123"/>
            <p:cNvSpPr txBox="true"/>
            <p:nvPr/>
          </p:nvSpPr>
          <p:spPr>
            <a:xfrm>
              <a:off x="0" y="-57150"/>
              <a:ext cx="365760" cy="829818"/>
            </a:xfrm>
            <a:prstGeom prst="rect">
              <a:avLst/>
            </a:prstGeom>
          </p:spPr>
          <p:txBody>
            <a:bodyPr anchor="ctr" rtlCol="false" tIns="0" lIns="0" bIns="0" rIns="0"/>
            <a:lstStyle/>
            <a:p>
              <a:pPr algn="l">
                <a:lnSpc>
                  <a:spcPts val="2700"/>
                </a:lnSpc>
              </a:pPr>
              <a:r>
                <a:rPr lang="en-US" sz="2250" b="true">
                  <a:solidFill>
                    <a:srgbClr val="14313B"/>
                  </a:solidFill>
                  <a:latin typeface="Calibri (MS) Bold"/>
                  <a:ea typeface="Calibri (MS) Bold"/>
                  <a:cs typeface="Calibri (MS) Bold"/>
                  <a:sym typeface="Calibri (MS) Bold"/>
                </a:rPr>
                <a:t>:</a:t>
              </a:r>
            </a:p>
          </p:txBody>
        </p:sp>
      </p:grpSp>
      <p:grpSp>
        <p:nvGrpSpPr>
          <p:cNvPr name="Group 124" id="124"/>
          <p:cNvGrpSpPr/>
          <p:nvPr/>
        </p:nvGrpSpPr>
        <p:grpSpPr>
          <a:xfrm rot="0">
            <a:off x="7543800" y="8215884"/>
            <a:ext cx="7406640" cy="493776"/>
            <a:chOff x="0" y="0"/>
            <a:chExt cx="9875520" cy="658368"/>
          </a:xfrm>
        </p:grpSpPr>
        <p:sp>
          <p:nvSpPr>
            <p:cNvPr name="Freeform 125" id="125"/>
            <p:cNvSpPr/>
            <p:nvPr/>
          </p:nvSpPr>
          <p:spPr>
            <a:xfrm flipH="false" flipV="false" rot="0">
              <a:off x="0" y="0"/>
              <a:ext cx="9875520" cy="658368"/>
            </a:xfrm>
            <a:custGeom>
              <a:avLst/>
              <a:gdLst/>
              <a:ahLst/>
              <a:cxnLst/>
              <a:rect r="r" b="b" t="t" l="l"/>
              <a:pathLst>
                <a:path h="658368" w="9875520">
                  <a:moveTo>
                    <a:pt x="0" y="0"/>
                  </a:moveTo>
                  <a:lnTo>
                    <a:pt x="9875520" y="0"/>
                  </a:lnTo>
                  <a:lnTo>
                    <a:pt x="9875520" y="658368"/>
                  </a:lnTo>
                  <a:lnTo>
                    <a:pt x="0" y="658368"/>
                  </a:lnTo>
                  <a:close/>
                </a:path>
              </a:pathLst>
            </a:custGeom>
            <a:blipFill>
              <a:blip r:embed="rId5">
                <a:alphaModFix amt="0"/>
              </a:blip>
              <a:stretch>
                <a:fillRect l="0" t="-242071" r="0" b="-242073"/>
              </a:stretch>
            </a:blipFill>
          </p:spPr>
          <p:txBody>
            <a:bodyPr/>
            <a:p/>
          </p:txBody>
        </p:sp>
      </p:grpSp>
      <p:grpSp>
        <p:nvGrpSpPr>
          <p:cNvPr name="Group 126" id="126"/>
          <p:cNvGrpSpPr/>
          <p:nvPr/>
        </p:nvGrpSpPr>
        <p:grpSpPr>
          <a:xfrm rot="0">
            <a:off x="7543800" y="8173021"/>
            <a:ext cx="7406640" cy="536638"/>
            <a:chOff x="0" y="0"/>
            <a:chExt cx="9875520" cy="715518"/>
          </a:xfrm>
        </p:grpSpPr>
        <p:sp>
          <p:nvSpPr>
            <p:cNvPr name="Freeform 127" id="127"/>
            <p:cNvSpPr/>
            <p:nvPr/>
          </p:nvSpPr>
          <p:spPr>
            <a:xfrm flipH="false" flipV="false" rot="0">
              <a:off x="0" y="0"/>
              <a:ext cx="9875520" cy="715518"/>
            </a:xfrm>
            <a:custGeom>
              <a:avLst/>
              <a:gdLst/>
              <a:ahLst/>
              <a:cxnLst/>
              <a:rect r="r" b="b" t="t" l="l"/>
              <a:pathLst>
                <a:path h="715518" w="9875520">
                  <a:moveTo>
                    <a:pt x="0" y="0"/>
                  </a:moveTo>
                  <a:lnTo>
                    <a:pt x="9875520" y="0"/>
                  </a:lnTo>
                  <a:lnTo>
                    <a:pt x="9875520" y="715518"/>
                  </a:lnTo>
                  <a:lnTo>
                    <a:pt x="0" y="715518"/>
                  </a:lnTo>
                  <a:close/>
                </a:path>
              </a:pathLst>
            </a:custGeom>
            <a:blipFill>
              <a:blip r:embed="rId6">
                <a:alphaModFix amt="0"/>
              </a:blip>
              <a:stretch>
                <a:fillRect l="0" t="-218743" r="0" b="-218745"/>
              </a:stretch>
            </a:blipFill>
          </p:spPr>
          <p:txBody>
            <a:bodyPr/>
            <a:p/>
          </p:txBody>
        </p:sp>
      </p:grpSp>
      <p:grpSp>
        <p:nvGrpSpPr>
          <p:cNvPr name="Group 128" id="128"/>
          <p:cNvGrpSpPr/>
          <p:nvPr/>
        </p:nvGrpSpPr>
        <p:grpSpPr>
          <a:xfrm rot="0">
            <a:off x="7543800" y="8130159"/>
            <a:ext cx="7406640" cy="579501"/>
            <a:chOff x="0" y="0"/>
            <a:chExt cx="9875520" cy="772668"/>
          </a:xfrm>
        </p:grpSpPr>
        <p:sp>
          <p:nvSpPr>
            <p:cNvPr name="Freeform 129" id="129"/>
            <p:cNvSpPr/>
            <p:nvPr/>
          </p:nvSpPr>
          <p:spPr>
            <a:xfrm flipH="false" flipV="false" rot="0">
              <a:off x="0" y="0"/>
              <a:ext cx="9875520" cy="772667"/>
            </a:xfrm>
            <a:custGeom>
              <a:avLst/>
              <a:gdLst/>
              <a:ahLst/>
              <a:cxnLst/>
              <a:rect r="r" b="b" t="t" l="l"/>
              <a:pathLst>
                <a:path h="772667" w="9875520">
                  <a:moveTo>
                    <a:pt x="0" y="0"/>
                  </a:moveTo>
                  <a:lnTo>
                    <a:pt x="9875520" y="0"/>
                  </a:lnTo>
                  <a:lnTo>
                    <a:pt x="9875520" y="772667"/>
                  </a:lnTo>
                  <a:lnTo>
                    <a:pt x="0" y="772667"/>
                  </a:lnTo>
                  <a:close/>
                </a:path>
              </a:pathLst>
            </a:custGeom>
            <a:blipFill>
              <a:blip r:embed="rId7">
                <a:alphaModFix amt="0"/>
              </a:blip>
              <a:stretch>
                <a:fillRect l="0" t="-199039" r="0" b="-199039"/>
              </a:stretch>
            </a:blipFill>
          </p:spPr>
          <p:txBody>
            <a:bodyPr/>
            <a:p/>
          </p:txBody>
        </p:sp>
        <p:sp>
          <p:nvSpPr>
            <p:cNvPr name="TextBox 130" id="130"/>
            <p:cNvSpPr txBox="true"/>
            <p:nvPr/>
          </p:nvSpPr>
          <p:spPr>
            <a:xfrm>
              <a:off x="0" y="-57150"/>
              <a:ext cx="9875520" cy="829818"/>
            </a:xfrm>
            <a:prstGeom prst="rect">
              <a:avLst/>
            </a:prstGeom>
          </p:spPr>
          <p:txBody>
            <a:bodyPr anchor="ctr" rtlCol="false" tIns="0" lIns="0" bIns="0" rIns="0"/>
            <a:lstStyle/>
            <a:p>
              <a:pPr algn="l">
                <a:lnSpc>
                  <a:spcPts val="2700"/>
                </a:lnSpc>
              </a:pPr>
              <a:r>
                <a:rPr lang="en-US" sz="2250">
                  <a:solidFill>
                    <a:srgbClr val="14313B"/>
                  </a:solidFill>
                  <a:latin typeface="Calibri (MS)"/>
                  <a:ea typeface="Calibri (MS)"/>
                  <a:cs typeface="Calibri (MS)"/>
                  <a:sym typeface="Calibri (MS)"/>
                </a:rPr>
                <a:t>Ibnu Santoso, S.S.T., M.T.</a:t>
              </a:r>
            </a:p>
          </p:txBody>
        </p:sp>
      </p:gr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Alur paparan: tiga tujuan, tiga jawaban</a:t>
            </a:r>
          </a:p>
        </p:txBody>
      </p:sp>
      <p:grpSp>
        <p:nvGrpSpPr>
          <p:cNvPr name="Group 12" id="12"/>
          <p:cNvGrpSpPr/>
          <p:nvPr/>
        </p:nvGrpSpPr>
        <p:grpSpPr>
          <a:xfrm rot="0">
            <a:off x="822960" y="2743200"/>
            <a:ext cx="2537460" cy="4251960"/>
            <a:chOff x="0" y="0"/>
            <a:chExt cx="3383280" cy="5669280"/>
          </a:xfrm>
        </p:grpSpPr>
        <p:sp>
          <p:nvSpPr>
            <p:cNvPr name="Freeform 13" id="13"/>
            <p:cNvSpPr/>
            <p:nvPr/>
          </p:nvSpPr>
          <p:spPr>
            <a:xfrm flipH="false" flipV="false" rot="0">
              <a:off x="0" y="0"/>
              <a:ext cx="3383280" cy="5669280"/>
            </a:xfrm>
            <a:custGeom>
              <a:avLst/>
              <a:gdLst/>
              <a:ahLst/>
              <a:cxnLst/>
              <a:rect r="r" b="b" t="t" l="l"/>
              <a:pathLst>
                <a:path h="5669280" w="3383280">
                  <a:moveTo>
                    <a:pt x="0" y="182880"/>
                  </a:moveTo>
                  <a:cubicBezTo>
                    <a:pt x="0" y="81915"/>
                    <a:pt x="81915" y="0"/>
                    <a:pt x="182880" y="0"/>
                  </a:cubicBezTo>
                  <a:lnTo>
                    <a:pt x="3200400" y="0"/>
                  </a:lnTo>
                  <a:cubicBezTo>
                    <a:pt x="3301365" y="0"/>
                    <a:pt x="3383280" y="81915"/>
                    <a:pt x="3383280" y="182880"/>
                  </a:cubicBezTo>
                  <a:lnTo>
                    <a:pt x="3383280" y="5486400"/>
                  </a:lnTo>
                  <a:cubicBezTo>
                    <a:pt x="3383280" y="5587365"/>
                    <a:pt x="3301365" y="5669280"/>
                    <a:pt x="3200400" y="5669280"/>
                  </a:cubicBezTo>
                  <a:lnTo>
                    <a:pt x="182880" y="5669280"/>
                  </a:lnTo>
                  <a:cubicBezTo>
                    <a:pt x="81915" y="5669280"/>
                    <a:pt x="0" y="5587365"/>
                    <a:pt x="0" y="5486400"/>
                  </a:cubicBezTo>
                  <a:close/>
                </a:path>
              </a:pathLst>
            </a:custGeom>
            <a:solidFill>
              <a:srgbClr val="EAF8FA"/>
            </a:solidFill>
          </p:spPr>
          <p:txBody>
            <a:bodyPr/>
            <a:p/>
          </p:txBody>
        </p:sp>
      </p:grpSp>
      <p:grpSp>
        <p:nvGrpSpPr>
          <p:cNvPr name="Group 14" id="14"/>
          <p:cNvGrpSpPr/>
          <p:nvPr/>
        </p:nvGrpSpPr>
        <p:grpSpPr>
          <a:xfrm rot="0">
            <a:off x="1097280" y="3086100"/>
            <a:ext cx="822960" cy="822960"/>
            <a:chOff x="0" y="0"/>
            <a:chExt cx="1097280" cy="1097280"/>
          </a:xfrm>
        </p:grpSpPr>
        <p:sp>
          <p:nvSpPr>
            <p:cNvPr name="Freeform 15" id="15"/>
            <p:cNvSpPr/>
            <p:nvPr/>
          </p:nvSpPr>
          <p:spPr>
            <a:xfrm flipH="false" flipV="false" rot="0">
              <a:off x="0" y="0"/>
              <a:ext cx="1097280" cy="1097280"/>
            </a:xfrm>
            <a:custGeom>
              <a:avLst/>
              <a:gdLst/>
              <a:ahLst/>
              <a:cxnLst/>
              <a:rect r="r" b="b" t="t" l="l"/>
              <a:pathLst>
                <a:path h="1097280" w="1097280">
                  <a:moveTo>
                    <a:pt x="0" y="548640"/>
                  </a:moveTo>
                  <a:cubicBezTo>
                    <a:pt x="0" y="245618"/>
                    <a:pt x="245618" y="0"/>
                    <a:pt x="548640" y="0"/>
                  </a:cubicBezTo>
                  <a:cubicBezTo>
                    <a:pt x="851662" y="0"/>
                    <a:pt x="1097280" y="245618"/>
                    <a:pt x="1097280" y="548640"/>
                  </a:cubicBezTo>
                  <a:cubicBezTo>
                    <a:pt x="1097280" y="851662"/>
                    <a:pt x="851662" y="1097280"/>
                    <a:pt x="548640" y="1097280"/>
                  </a:cubicBezTo>
                  <a:cubicBezTo>
                    <a:pt x="245618" y="1097280"/>
                    <a:pt x="0" y="851662"/>
                    <a:pt x="0" y="548640"/>
                  </a:cubicBezTo>
                  <a:close/>
                </a:path>
              </a:pathLst>
            </a:custGeom>
            <a:solidFill>
              <a:srgbClr val="39C0D3"/>
            </a:solidFill>
          </p:spPr>
          <p:txBody>
            <a:bodyPr/>
            <a:p/>
          </p:txBody>
        </p:sp>
      </p:grpSp>
      <p:grpSp>
        <p:nvGrpSpPr>
          <p:cNvPr name="Group 16" id="16"/>
          <p:cNvGrpSpPr/>
          <p:nvPr/>
        </p:nvGrpSpPr>
        <p:grpSpPr>
          <a:xfrm rot="0">
            <a:off x="1097280" y="3086100"/>
            <a:ext cx="822960" cy="822960"/>
            <a:chOff x="0" y="0"/>
            <a:chExt cx="1097280" cy="1097280"/>
          </a:xfrm>
        </p:grpSpPr>
        <p:sp>
          <p:nvSpPr>
            <p:cNvPr name="Freeform 17" id="17"/>
            <p:cNvSpPr/>
            <p:nvPr/>
          </p:nvSpPr>
          <p:spPr>
            <a:xfrm flipH="false" flipV="false" rot="0">
              <a:off x="0" y="0"/>
              <a:ext cx="1097280" cy="1097280"/>
            </a:xfrm>
            <a:custGeom>
              <a:avLst/>
              <a:gdLst/>
              <a:ahLst/>
              <a:cxnLst/>
              <a:rect r="r" b="b" t="t" l="l"/>
              <a:pathLst>
                <a:path h="1097280" w="1097280">
                  <a:moveTo>
                    <a:pt x="0" y="0"/>
                  </a:moveTo>
                  <a:lnTo>
                    <a:pt x="1097280" y="0"/>
                  </a:lnTo>
                  <a:lnTo>
                    <a:pt x="1097280" y="1097280"/>
                  </a:lnTo>
                  <a:lnTo>
                    <a:pt x="0" y="1097280"/>
                  </a:lnTo>
                  <a:close/>
                </a:path>
              </a:pathLst>
            </a:custGeom>
            <a:blipFill>
              <a:blip r:embed="rId4">
                <a:alphaModFix amt="0"/>
              </a:blip>
              <a:stretch>
                <a:fillRect l="-78392" t="0" r="-78393" b="0"/>
              </a:stretch>
            </a:blipFill>
          </p:spPr>
          <p:txBody>
            <a:bodyPr/>
            <a:p/>
          </p:txBody>
        </p:sp>
      </p:grpSp>
      <p:grpSp>
        <p:nvGrpSpPr>
          <p:cNvPr name="Group 18" id="18"/>
          <p:cNvGrpSpPr/>
          <p:nvPr/>
        </p:nvGrpSpPr>
        <p:grpSpPr>
          <a:xfrm rot="0">
            <a:off x="1097280" y="3057525"/>
            <a:ext cx="822960" cy="851535"/>
            <a:chOff x="0" y="0"/>
            <a:chExt cx="1097280" cy="1135380"/>
          </a:xfrm>
        </p:grpSpPr>
        <p:sp>
          <p:nvSpPr>
            <p:cNvPr name="Freeform 19" id="19"/>
            <p:cNvSpPr/>
            <p:nvPr/>
          </p:nvSpPr>
          <p:spPr>
            <a:xfrm flipH="false" flipV="false" rot="0">
              <a:off x="0" y="0"/>
              <a:ext cx="1097280" cy="1135380"/>
            </a:xfrm>
            <a:custGeom>
              <a:avLst/>
              <a:gdLst/>
              <a:ahLst/>
              <a:cxnLst/>
              <a:rect r="r" b="b" t="t" l="l"/>
              <a:pathLst>
                <a:path h="1135380" w="1097280">
                  <a:moveTo>
                    <a:pt x="0" y="0"/>
                  </a:moveTo>
                  <a:lnTo>
                    <a:pt x="1097280" y="0"/>
                  </a:lnTo>
                  <a:lnTo>
                    <a:pt x="1097280" y="1135380"/>
                  </a:lnTo>
                  <a:lnTo>
                    <a:pt x="0" y="1135380"/>
                  </a:lnTo>
                  <a:close/>
                </a:path>
              </a:pathLst>
            </a:custGeom>
            <a:blipFill>
              <a:blip r:embed="rId5">
                <a:alphaModFix amt="0"/>
              </a:blip>
              <a:stretch>
                <a:fillRect l="-82850" t="0" r="-82850" b="0"/>
              </a:stretch>
            </a:blipFill>
          </p:spPr>
          <p:txBody>
            <a:bodyPr/>
            <a:p/>
          </p:txBody>
        </p:sp>
      </p:grpSp>
      <p:grpSp>
        <p:nvGrpSpPr>
          <p:cNvPr name="Group 20" id="20"/>
          <p:cNvGrpSpPr/>
          <p:nvPr/>
        </p:nvGrpSpPr>
        <p:grpSpPr>
          <a:xfrm rot="0">
            <a:off x="1097280" y="3028950"/>
            <a:ext cx="822960" cy="880110"/>
            <a:chOff x="0" y="0"/>
            <a:chExt cx="1097280" cy="1173480"/>
          </a:xfrm>
        </p:grpSpPr>
        <p:sp>
          <p:nvSpPr>
            <p:cNvPr name="Freeform 21" id="21"/>
            <p:cNvSpPr/>
            <p:nvPr/>
          </p:nvSpPr>
          <p:spPr>
            <a:xfrm flipH="false" flipV="false" rot="0">
              <a:off x="0" y="0"/>
              <a:ext cx="1097280" cy="1173480"/>
            </a:xfrm>
            <a:custGeom>
              <a:avLst/>
              <a:gdLst/>
              <a:ahLst/>
              <a:cxnLst/>
              <a:rect r="r" b="b" t="t" l="l"/>
              <a:pathLst>
                <a:path h="1173480" w="1097280">
                  <a:moveTo>
                    <a:pt x="0" y="0"/>
                  </a:moveTo>
                  <a:lnTo>
                    <a:pt x="1097280" y="0"/>
                  </a:lnTo>
                  <a:lnTo>
                    <a:pt x="1097280" y="1173480"/>
                  </a:lnTo>
                  <a:lnTo>
                    <a:pt x="0" y="1173480"/>
                  </a:lnTo>
                  <a:close/>
                </a:path>
              </a:pathLst>
            </a:custGeom>
            <a:blipFill>
              <a:blip r:embed="rId6">
                <a:alphaModFix amt="0"/>
              </a:blip>
              <a:stretch>
                <a:fillRect l="-87213" t="0" r="-87213" b="0"/>
              </a:stretch>
            </a:blipFill>
          </p:spPr>
          <p:txBody>
            <a:bodyPr/>
            <a:p/>
          </p:txBody>
        </p:sp>
        <p:sp>
          <p:nvSpPr>
            <p:cNvPr name="TextBox 22" id="22"/>
            <p:cNvSpPr txBox="true"/>
            <p:nvPr/>
          </p:nvSpPr>
          <p:spPr>
            <a:xfrm>
              <a:off x="0" y="-38100"/>
              <a:ext cx="1097280" cy="121158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1</a:t>
              </a:r>
            </a:p>
          </p:txBody>
        </p:sp>
      </p:grpSp>
      <p:sp>
        <p:nvSpPr>
          <p:cNvPr name="TextBox 23" id="23"/>
          <p:cNvSpPr txBox="true"/>
          <p:nvPr/>
        </p:nvSpPr>
        <p:spPr>
          <a:xfrm rot="0">
            <a:off x="1097280" y="4080510"/>
            <a:ext cx="2057400" cy="1200150"/>
          </a:xfrm>
          <a:prstGeom prst="rect">
            <a:avLst/>
          </a:prstGeom>
        </p:spPr>
        <p:txBody>
          <a:bodyPr anchor="t" rtlCol="false" tIns="0" lIns="0" bIns="0" rIns="0">
            <a:spAutoFit/>
          </a:bodyPr>
          <a:lstStyle/>
          <a:p>
            <a:pPr algn="l">
              <a:lnSpc>
                <a:spcPts val="2878"/>
              </a:lnSpc>
            </a:pPr>
            <a:r>
              <a:rPr lang="en-US" sz="1899" b="true">
                <a:solidFill>
                  <a:srgbClr val="0B5E6E"/>
                </a:solidFill>
                <a:latin typeface="Calibri (MS) Bold"/>
                <a:ea typeface="Calibri (MS) Bold"/>
                <a:cs typeface="Calibri (MS) Bold"/>
                <a:sym typeface="Calibri (MS) Bold"/>
              </a:rPr>
              <a:t>Pendahuluan</a:t>
            </a:r>
          </a:p>
        </p:txBody>
      </p:sp>
      <p:sp>
        <p:nvSpPr>
          <p:cNvPr name="TextBox 24" id="24"/>
          <p:cNvSpPr txBox="true"/>
          <p:nvPr/>
        </p:nvSpPr>
        <p:spPr>
          <a:xfrm rot="0">
            <a:off x="1097280" y="5234940"/>
            <a:ext cx="2057400" cy="14859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Masalah, celah penelitian, tujuan, ruang lingkup</a:t>
            </a:r>
          </a:p>
        </p:txBody>
      </p:sp>
      <p:grpSp>
        <p:nvGrpSpPr>
          <p:cNvPr name="Group 25" id="25"/>
          <p:cNvGrpSpPr/>
          <p:nvPr/>
        </p:nvGrpSpPr>
        <p:grpSpPr>
          <a:xfrm rot="0">
            <a:off x="3642970" y="2743200"/>
            <a:ext cx="2537460" cy="4251960"/>
            <a:chOff x="0" y="0"/>
            <a:chExt cx="3383280" cy="5669280"/>
          </a:xfrm>
        </p:grpSpPr>
        <p:sp>
          <p:nvSpPr>
            <p:cNvPr name="Freeform 26" id="26"/>
            <p:cNvSpPr/>
            <p:nvPr/>
          </p:nvSpPr>
          <p:spPr>
            <a:xfrm flipH="false" flipV="false" rot="0">
              <a:off x="0" y="0"/>
              <a:ext cx="3383280" cy="5669280"/>
            </a:xfrm>
            <a:custGeom>
              <a:avLst/>
              <a:gdLst/>
              <a:ahLst/>
              <a:cxnLst/>
              <a:rect r="r" b="b" t="t" l="l"/>
              <a:pathLst>
                <a:path h="5669280" w="3383280">
                  <a:moveTo>
                    <a:pt x="0" y="182880"/>
                  </a:moveTo>
                  <a:cubicBezTo>
                    <a:pt x="0" y="81915"/>
                    <a:pt x="81915" y="0"/>
                    <a:pt x="182880" y="0"/>
                  </a:cubicBezTo>
                  <a:lnTo>
                    <a:pt x="3200400" y="0"/>
                  </a:lnTo>
                  <a:cubicBezTo>
                    <a:pt x="3301365" y="0"/>
                    <a:pt x="3383280" y="81915"/>
                    <a:pt x="3383280" y="182880"/>
                  </a:cubicBezTo>
                  <a:lnTo>
                    <a:pt x="3383280" y="5486400"/>
                  </a:lnTo>
                  <a:cubicBezTo>
                    <a:pt x="3383280" y="5587365"/>
                    <a:pt x="3301365" y="5669280"/>
                    <a:pt x="3200400" y="5669280"/>
                  </a:cubicBezTo>
                  <a:lnTo>
                    <a:pt x="182880" y="5669280"/>
                  </a:lnTo>
                  <a:cubicBezTo>
                    <a:pt x="81915" y="5669280"/>
                    <a:pt x="0" y="5587365"/>
                    <a:pt x="0" y="5486400"/>
                  </a:cubicBezTo>
                  <a:close/>
                </a:path>
              </a:pathLst>
            </a:custGeom>
            <a:solidFill>
              <a:srgbClr val="EAF8FA"/>
            </a:solidFill>
          </p:spPr>
          <p:txBody>
            <a:bodyPr/>
            <a:p/>
          </p:txBody>
        </p:sp>
      </p:grpSp>
      <p:grpSp>
        <p:nvGrpSpPr>
          <p:cNvPr name="Group 27" id="27"/>
          <p:cNvGrpSpPr/>
          <p:nvPr/>
        </p:nvGrpSpPr>
        <p:grpSpPr>
          <a:xfrm rot="0">
            <a:off x="3917290" y="3086100"/>
            <a:ext cx="822960" cy="822960"/>
            <a:chOff x="0" y="0"/>
            <a:chExt cx="1097280" cy="1097280"/>
          </a:xfrm>
        </p:grpSpPr>
        <p:sp>
          <p:nvSpPr>
            <p:cNvPr name="Freeform 28" id="28"/>
            <p:cNvSpPr/>
            <p:nvPr/>
          </p:nvSpPr>
          <p:spPr>
            <a:xfrm flipH="false" flipV="false" rot="0">
              <a:off x="0" y="0"/>
              <a:ext cx="1097280" cy="1097280"/>
            </a:xfrm>
            <a:custGeom>
              <a:avLst/>
              <a:gdLst/>
              <a:ahLst/>
              <a:cxnLst/>
              <a:rect r="r" b="b" t="t" l="l"/>
              <a:pathLst>
                <a:path h="1097280" w="1097280">
                  <a:moveTo>
                    <a:pt x="0" y="548640"/>
                  </a:moveTo>
                  <a:cubicBezTo>
                    <a:pt x="0" y="245618"/>
                    <a:pt x="245618" y="0"/>
                    <a:pt x="548640" y="0"/>
                  </a:cubicBezTo>
                  <a:cubicBezTo>
                    <a:pt x="851662" y="0"/>
                    <a:pt x="1097280" y="245618"/>
                    <a:pt x="1097280" y="548640"/>
                  </a:cubicBezTo>
                  <a:cubicBezTo>
                    <a:pt x="1097280" y="851662"/>
                    <a:pt x="851662" y="1097280"/>
                    <a:pt x="548640" y="1097280"/>
                  </a:cubicBezTo>
                  <a:cubicBezTo>
                    <a:pt x="245618" y="1097280"/>
                    <a:pt x="0" y="851662"/>
                    <a:pt x="0" y="548640"/>
                  </a:cubicBezTo>
                  <a:close/>
                </a:path>
              </a:pathLst>
            </a:custGeom>
            <a:solidFill>
              <a:srgbClr val="39C0D3"/>
            </a:solidFill>
          </p:spPr>
          <p:txBody>
            <a:bodyPr/>
            <a:p/>
          </p:txBody>
        </p:sp>
      </p:grpSp>
      <p:grpSp>
        <p:nvGrpSpPr>
          <p:cNvPr name="Group 29" id="29"/>
          <p:cNvGrpSpPr/>
          <p:nvPr/>
        </p:nvGrpSpPr>
        <p:grpSpPr>
          <a:xfrm rot="0">
            <a:off x="3917290" y="3086100"/>
            <a:ext cx="822960" cy="822960"/>
            <a:chOff x="0" y="0"/>
            <a:chExt cx="1097280" cy="1097280"/>
          </a:xfrm>
        </p:grpSpPr>
        <p:sp>
          <p:nvSpPr>
            <p:cNvPr name="Freeform 30" id="30"/>
            <p:cNvSpPr/>
            <p:nvPr/>
          </p:nvSpPr>
          <p:spPr>
            <a:xfrm flipH="false" flipV="false" rot="0">
              <a:off x="0" y="0"/>
              <a:ext cx="1097280" cy="1097280"/>
            </a:xfrm>
            <a:custGeom>
              <a:avLst/>
              <a:gdLst/>
              <a:ahLst/>
              <a:cxnLst/>
              <a:rect r="r" b="b" t="t" l="l"/>
              <a:pathLst>
                <a:path h="1097280" w="1097280">
                  <a:moveTo>
                    <a:pt x="0" y="0"/>
                  </a:moveTo>
                  <a:lnTo>
                    <a:pt x="1097280" y="0"/>
                  </a:lnTo>
                  <a:lnTo>
                    <a:pt x="1097280" y="1097280"/>
                  </a:lnTo>
                  <a:lnTo>
                    <a:pt x="0" y="1097280"/>
                  </a:lnTo>
                  <a:close/>
                </a:path>
              </a:pathLst>
            </a:custGeom>
            <a:blipFill>
              <a:blip r:embed="rId4">
                <a:alphaModFix amt="0"/>
              </a:blip>
              <a:stretch>
                <a:fillRect l="-78392" t="0" r="-78393" b="0"/>
              </a:stretch>
            </a:blipFill>
          </p:spPr>
          <p:txBody>
            <a:bodyPr/>
            <a:p/>
          </p:txBody>
        </p:sp>
      </p:grpSp>
      <p:grpSp>
        <p:nvGrpSpPr>
          <p:cNvPr name="Group 31" id="31"/>
          <p:cNvGrpSpPr/>
          <p:nvPr/>
        </p:nvGrpSpPr>
        <p:grpSpPr>
          <a:xfrm rot="0">
            <a:off x="3917290" y="3057525"/>
            <a:ext cx="822960" cy="851535"/>
            <a:chOff x="0" y="0"/>
            <a:chExt cx="1097280" cy="1135380"/>
          </a:xfrm>
        </p:grpSpPr>
        <p:sp>
          <p:nvSpPr>
            <p:cNvPr name="Freeform 32" id="32"/>
            <p:cNvSpPr/>
            <p:nvPr/>
          </p:nvSpPr>
          <p:spPr>
            <a:xfrm flipH="false" flipV="false" rot="0">
              <a:off x="0" y="0"/>
              <a:ext cx="1097280" cy="1135380"/>
            </a:xfrm>
            <a:custGeom>
              <a:avLst/>
              <a:gdLst/>
              <a:ahLst/>
              <a:cxnLst/>
              <a:rect r="r" b="b" t="t" l="l"/>
              <a:pathLst>
                <a:path h="1135380" w="1097280">
                  <a:moveTo>
                    <a:pt x="0" y="0"/>
                  </a:moveTo>
                  <a:lnTo>
                    <a:pt x="1097280" y="0"/>
                  </a:lnTo>
                  <a:lnTo>
                    <a:pt x="1097280" y="1135380"/>
                  </a:lnTo>
                  <a:lnTo>
                    <a:pt x="0" y="1135380"/>
                  </a:lnTo>
                  <a:close/>
                </a:path>
              </a:pathLst>
            </a:custGeom>
            <a:blipFill>
              <a:blip r:embed="rId5">
                <a:alphaModFix amt="0"/>
              </a:blip>
              <a:stretch>
                <a:fillRect l="-82850" t="0" r="-82850" b="0"/>
              </a:stretch>
            </a:blipFill>
          </p:spPr>
          <p:txBody>
            <a:bodyPr/>
            <a:p/>
          </p:txBody>
        </p:sp>
      </p:grpSp>
      <p:grpSp>
        <p:nvGrpSpPr>
          <p:cNvPr name="Group 33" id="33"/>
          <p:cNvGrpSpPr/>
          <p:nvPr/>
        </p:nvGrpSpPr>
        <p:grpSpPr>
          <a:xfrm rot="0">
            <a:off x="3917290" y="3028950"/>
            <a:ext cx="822960" cy="880110"/>
            <a:chOff x="0" y="0"/>
            <a:chExt cx="1097280" cy="1173480"/>
          </a:xfrm>
        </p:grpSpPr>
        <p:sp>
          <p:nvSpPr>
            <p:cNvPr name="Freeform 34" id="34"/>
            <p:cNvSpPr/>
            <p:nvPr/>
          </p:nvSpPr>
          <p:spPr>
            <a:xfrm flipH="false" flipV="false" rot="0">
              <a:off x="0" y="0"/>
              <a:ext cx="1097280" cy="1173480"/>
            </a:xfrm>
            <a:custGeom>
              <a:avLst/>
              <a:gdLst/>
              <a:ahLst/>
              <a:cxnLst/>
              <a:rect r="r" b="b" t="t" l="l"/>
              <a:pathLst>
                <a:path h="1173480" w="1097280">
                  <a:moveTo>
                    <a:pt x="0" y="0"/>
                  </a:moveTo>
                  <a:lnTo>
                    <a:pt x="1097280" y="0"/>
                  </a:lnTo>
                  <a:lnTo>
                    <a:pt x="1097280" y="1173480"/>
                  </a:lnTo>
                  <a:lnTo>
                    <a:pt x="0" y="1173480"/>
                  </a:lnTo>
                  <a:close/>
                </a:path>
              </a:pathLst>
            </a:custGeom>
            <a:blipFill>
              <a:blip r:embed="rId6">
                <a:alphaModFix amt="0"/>
              </a:blip>
              <a:stretch>
                <a:fillRect l="-87213" t="0" r="-87213" b="0"/>
              </a:stretch>
            </a:blipFill>
          </p:spPr>
          <p:txBody>
            <a:bodyPr/>
            <a:p/>
          </p:txBody>
        </p:sp>
        <p:sp>
          <p:nvSpPr>
            <p:cNvPr name="TextBox 35" id="35"/>
            <p:cNvSpPr txBox="true"/>
            <p:nvPr/>
          </p:nvSpPr>
          <p:spPr>
            <a:xfrm>
              <a:off x="0" y="-38100"/>
              <a:ext cx="1097280" cy="121158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2</a:t>
              </a:r>
            </a:p>
          </p:txBody>
        </p:sp>
      </p:grpSp>
      <p:sp>
        <p:nvSpPr>
          <p:cNvPr name="TextBox 36" id="36"/>
          <p:cNvSpPr txBox="true"/>
          <p:nvPr/>
        </p:nvSpPr>
        <p:spPr>
          <a:xfrm rot="0">
            <a:off x="3917290" y="4080510"/>
            <a:ext cx="2057400" cy="1200150"/>
          </a:xfrm>
          <a:prstGeom prst="rect">
            <a:avLst/>
          </a:prstGeom>
        </p:spPr>
        <p:txBody>
          <a:bodyPr anchor="t" rtlCol="false" tIns="0" lIns="0" bIns="0" rIns="0">
            <a:spAutoFit/>
          </a:bodyPr>
          <a:lstStyle/>
          <a:p>
            <a:pPr algn="l">
              <a:lnSpc>
                <a:spcPts val="2878"/>
              </a:lnSpc>
            </a:pPr>
            <a:r>
              <a:rPr lang="en-US" sz="1899" b="true">
                <a:solidFill>
                  <a:srgbClr val="0B5E6E"/>
                </a:solidFill>
                <a:latin typeface="Calibri (MS) Bold"/>
                <a:ea typeface="Calibri (MS) Bold"/>
                <a:cs typeface="Calibri (MS) Bold"/>
                <a:sym typeface="Calibri (MS) Bold"/>
              </a:rPr>
              <a:t>Metodologi</a:t>
            </a:r>
          </a:p>
        </p:txBody>
      </p:sp>
      <p:sp>
        <p:nvSpPr>
          <p:cNvPr name="TextBox 37" id="37"/>
          <p:cNvSpPr txBox="true"/>
          <p:nvPr/>
        </p:nvSpPr>
        <p:spPr>
          <a:xfrm rot="0">
            <a:off x="3917290" y="5234940"/>
            <a:ext cx="2057400" cy="14859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Data, enam tahap penelitian, preprocessing</a:t>
            </a:r>
          </a:p>
        </p:txBody>
      </p:sp>
      <p:grpSp>
        <p:nvGrpSpPr>
          <p:cNvPr name="Group 38" id="38"/>
          <p:cNvGrpSpPr/>
          <p:nvPr/>
        </p:nvGrpSpPr>
        <p:grpSpPr>
          <a:xfrm rot="0">
            <a:off x="6462979" y="2743200"/>
            <a:ext cx="2537460" cy="4251960"/>
            <a:chOff x="0" y="0"/>
            <a:chExt cx="3383280" cy="5669280"/>
          </a:xfrm>
        </p:grpSpPr>
        <p:sp>
          <p:nvSpPr>
            <p:cNvPr name="Freeform 39" id="39"/>
            <p:cNvSpPr/>
            <p:nvPr/>
          </p:nvSpPr>
          <p:spPr>
            <a:xfrm flipH="false" flipV="false" rot="0">
              <a:off x="0" y="0"/>
              <a:ext cx="3383280" cy="5669280"/>
            </a:xfrm>
            <a:custGeom>
              <a:avLst/>
              <a:gdLst/>
              <a:ahLst/>
              <a:cxnLst/>
              <a:rect r="r" b="b" t="t" l="l"/>
              <a:pathLst>
                <a:path h="5669280" w="3383280">
                  <a:moveTo>
                    <a:pt x="0" y="182880"/>
                  </a:moveTo>
                  <a:cubicBezTo>
                    <a:pt x="0" y="81915"/>
                    <a:pt x="81915" y="0"/>
                    <a:pt x="182880" y="0"/>
                  </a:cubicBezTo>
                  <a:lnTo>
                    <a:pt x="3200400" y="0"/>
                  </a:lnTo>
                  <a:cubicBezTo>
                    <a:pt x="3301365" y="0"/>
                    <a:pt x="3383280" y="81915"/>
                    <a:pt x="3383280" y="182880"/>
                  </a:cubicBezTo>
                  <a:lnTo>
                    <a:pt x="3383280" y="5486400"/>
                  </a:lnTo>
                  <a:cubicBezTo>
                    <a:pt x="3383280" y="5587365"/>
                    <a:pt x="3301365" y="5669280"/>
                    <a:pt x="3200400" y="5669280"/>
                  </a:cubicBezTo>
                  <a:lnTo>
                    <a:pt x="182880" y="5669280"/>
                  </a:lnTo>
                  <a:cubicBezTo>
                    <a:pt x="81915" y="5669280"/>
                    <a:pt x="0" y="5587365"/>
                    <a:pt x="0" y="5486400"/>
                  </a:cubicBezTo>
                  <a:close/>
                </a:path>
              </a:pathLst>
            </a:custGeom>
            <a:solidFill>
              <a:srgbClr val="EAF8FA"/>
            </a:solidFill>
          </p:spPr>
          <p:txBody>
            <a:bodyPr/>
            <a:p/>
          </p:txBody>
        </p:sp>
      </p:grpSp>
      <p:grpSp>
        <p:nvGrpSpPr>
          <p:cNvPr name="Group 40" id="40"/>
          <p:cNvGrpSpPr/>
          <p:nvPr/>
        </p:nvGrpSpPr>
        <p:grpSpPr>
          <a:xfrm rot="0">
            <a:off x="6737299" y="3086100"/>
            <a:ext cx="822960" cy="822960"/>
            <a:chOff x="0" y="0"/>
            <a:chExt cx="1097280" cy="1097280"/>
          </a:xfrm>
        </p:grpSpPr>
        <p:sp>
          <p:nvSpPr>
            <p:cNvPr name="Freeform 41" id="41"/>
            <p:cNvSpPr/>
            <p:nvPr/>
          </p:nvSpPr>
          <p:spPr>
            <a:xfrm flipH="false" flipV="false" rot="0">
              <a:off x="0" y="0"/>
              <a:ext cx="1097280" cy="1097280"/>
            </a:xfrm>
            <a:custGeom>
              <a:avLst/>
              <a:gdLst/>
              <a:ahLst/>
              <a:cxnLst/>
              <a:rect r="r" b="b" t="t" l="l"/>
              <a:pathLst>
                <a:path h="1097280" w="1097280">
                  <a:moveTo>
                    <a:pt x="0" y="548640"/>
                  </a:moveTo>
                  <a:cubicBezTo>
                    <a:pt x="0" y="245618"/>
                    <a:pt x="245618" y="0"/>
                    <a:pt x="548640" y="0"/>
                  </a:cubicBezTo>
                  <a:cubicBezTo>
                    <a:pt x="851662" y="0"/>
                    <a:pt x="1097280" y="245618"/>
                    <a:pt x="1097280" y="548640"/>
                  </a:cubicBezTo>
                  <a:cubicBezTo>
                    <a:pt x="1097280" y="851662"/>
                    <a:pt x="851662" y="1097280"/>
                    <a:pt x="548640" y="1097280"/>
                  </a:cubicBezTo>
                  <a:cubicBezTo>
                    <a:pt x="245618" y="1097280"/>
                    <a:pt x="0" y="851662"/>
                    <a:pt x="0" y="548640"/>
                  </a:cubicBezTo>
                  <a:close/>
                </a:path>
              </a:pathLst>
            </a:custGeom>
            <a:solidFill>
              <a:srgbClr val="39C0D3"/>
            </a:solidFill>
          </p:spPr>
          <p:txBody>
            <a:bodyPr/>
            <a:p/>
          </p:txBody>
        </p:sp>
      </p:grpSp>
      <p:grpSp>
        <p:nvGrpSpPr>
          <p:cNvPr name="Group 42" id="42"/>
          <p:cNvGrpSpPr/>
          <p:nvPr/>
        </p:nvGrpSpPr>
        <p:grpSpPr>
          <a:xfrm rot="0">
            <a:off x="6737299" y="3086100"/>
            <a:ext cx="822960" cy="822960"/>
            <a:chOff x="0" y="0"/>
            <a:chExt cx="1097280" cy="1097280"/>
          </a:xfrm>
        </p:grpSpPr>
        <p:sp>
          <p:nvSpPr>
            <p:cNvPr name="Freeform 43" id="43"/>
            <p:cNvSpPr/>
            <p:nvPr/>
          </p:nvSpPr>
          <p:spPr>
            <a:xfrm flipH="false" flipV="false" rot="0">
              <a:off x="0" y="0"/>
              <a:ext cx="1097280" cy="1097280"/>
            </a:xfrm>
            <a:custGeom>
              <a:avLst/>
              <a:gdLst/>
              <a:ahLst/>
              <a:cxnLst/>
              <a:rect r="r" b="b" t="t" l="l"/>
              <a:pathLst>
                <a:path h="1097280" w="1097280">
                  <a:moveTo>
                    <a:pt x="0" y="0"/>
                  </a:moveTo>
                  <a:lnTo>
                    <a:pt x="1097280" y="0"/>
                  </a:lnTo>
                  <a:lnTo>
                    <a:pt x="1097280" y="1097280"/>
                  </a:lnTo>
                  <a:lnTo>
                    <a:pt x="0" y="1097280"/>
                  </a:lnTo>
                  <a:close/>
                </a:path>
              </a:pathLst>
            </a:custGeom>
            <a:blipFill>
              <a:blip r:embed="rId4">
                <a:alphaModFix amt="0"/>
              </a:blip>
              <a:stretch>
                <a:fillRect l="-78392" t="0" r="-78393" b="0"/>
              </a:stretch>
            </a:blipFill>
          </p:spPr>
          <p:txBody>
            <a:bodyPr/>
            <a:p/>
          </p:txBody>
        </p:sp>
      </p:grpSp>
      <p:grpSp>
        <p:nvGrpSpPr>
          <p:cNvPr name="Group 44" id="44"/>
          <p:cNvGrpSpPr/>
          <p:nvPr/>
        </p:nvGrpSpPr>
        <p:grpSpPr>
          <a:xfrm rot="0">
            <a:off x="6737299" y="3057525"/>
            <a:ext cx="822960" cy="851535"/>
            <a:chOff x="0" y="0"/>
            <a:chExt cx="1097280" cy="1135380"/>
          </a:xfrm>
        </p:grpSpPr>
        <p:sp>
          <p:nvSpPr>
            <p:cNvPr name="Freeform 45" id="45"/>
            <p:cNvSpPr/>
            <p:nvPr/>
          </p:nvSpPr>
          <p:spPr>
            <a:xfrm flipH="false" flipV="false" rot="0">
              <a:off x="0" y="0"/>
              <a:ext cx="1097280" cy="1135380"/>
            </a:xfrm>
            <a:custGeom>
              <a:avLst/>
              <a:gdLst/>
              <a:ahLst/>
              <a:cxnLst/>
              <a:rect r="r" b="b" t="t" l="l"/>
              <a:pathLst>
                <a:path h="1135380" w="1097280">
                  <a:moveTo>
                    <a:pt x="0" y="0"/>
                  </a:moveTo>
                  <a:lnTo>
                    <a:pt x="1097280" y="0"/>
                  </a:lnTo>
                  <a:lnTo>
                    <a:pt x="1097280" y="1135380"/>
                  </a:lnTo>
                  <a:lnTo>
                    <a:pt x="0" y="1135380"/>
                  </a:lnTo>
                  <a:close/>
                </a:path>
              </a:pathLst>
            </a:custGeom>
            <a:blipFill>
              <a:blip r:embed="rId5">
                <a:alphaModFix amt="0"/>
              </a:blip>
              <a:stretch>
                <a:fillRect l="-82850" t="0" r="-82850" b="0"/>
              </a:stretch>
            </a:blipFill>
          </p:spPr>
          <p:txBody>
            <a:bodyPr/>
            <a:p/>
          </p:txBody>
        </p:sp>
      </p:grpSp>
      <p:grpSp>
        <p:nvGrpSpPr>
          <p:cNvPr name="Group 46" id="46"/>
          <p:cNvGrpSpPr/>
          <p:nvPr/>
        </p:nvGrpSpPr>
        <p:grpSpPr>
          <a:xfrm rot="0">
            <a:off x="6737299" y="3028950"/>
            <a:ext cx="822960" cy="880110"/>
            <a:chOff x="0" y="0"/>
            <a:chExt cx="1097280" cy="1173480"/>
          </a:xfrm>
        </p:grpSpPr>
        <p:sp>
          <p:nvSpPr>
            <p:cNvPr name="Freeform 47" id="47"/>
            <p:cNvSpPr/>
            <p:nvPr/>
          </p:nvSpPr>
          <p:spPr>
            <a:xfrm flipH="false" flipV="false" rot="0">
              <a:off x="0" y="0"/>
              <a:ext cx="1097280" cy="1173480"/>
            </a:xfrm>
            <a:custGeom>
              <a:avLst/>
              <a:gdLst/>
              <a:ahLst/>
              <a:cxnLst/>
              <a:rect r="r" b="b" t="t" l="l"/>
              <a:pathLst>
                <a:path h="1173480" w="1097280">
                  <a:moveTo>
                    <a:pt x="0" y="0"/>
                  </a:moveTo>
                  <a:lnTo>
                    <a:pt x="1097280" y="0"/>
                  </a:lnTo>
                  <a:lnTo>
                    <a:pt x="1097280" y="1173480"/>
                  </a:lnTo>
                  <a:lnTo>
                    <a:pt x="0" y="1173480"/>
                  </a:lnTo>
                  <a:close/>
                </a:path>
              </a:pathLst>
            </a:custGeom>
            <a:blipFill>
              <a:blip r:embed="rId6">
                <a:alphaModFix amt="0"/>
              </a:blip>
              <a:stretch>
                <a:fillRect l="-87213" t="0" r="-87213" b="0"/>
              </a:stretch>
            </a:blipFill>
          </p:spPr>
          <p:txBody>
            <a:bodyPr/>
            <a:p/>
          </p:txBody>
        </p:sp>
        <p:sp>
          <p:nvSpPr>
            <p:cNvPr name="TextBox 48" id="48"/>
            <p:cNvSpPr txBox="true"/>
            <p:nvPr/>
          </p:nvSpPr>
          <p:spPr>
            <a:xfrm>
              <a:off x="0" y="-38100"/>
              <a:ext cx="1097280" cy="121158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3</a:t>
              </a:r>
            </a:p>
          </p:txBody>
        </p:sp>
      </p:grpSp>
      <p:sp>
        <p:nvSpPr>
          <p:cNvPr name="TextBox 49" id="49"/>
          <p:cNvSpPr txBox="true"/>
          <p:nvPr/>
        </p:nvSpPr>
        <p:spPr>
          <a:xfrm rot="0">
            <a:off x="6737299" y="4080510"/>
            <a:ext cx="2057400" cy="1200150"/>
          </a:xfrm>
          <a:prstGeom prst="rect">
            <a:avLst/>
          </a:prstGeom>
        </p:spPr>
        <p:txBody>
          <a:bodyPr anchor="t" rtlCol="false" tIns="0" lIns="0" bIns="0" rIns="0">
            <a:spAutoFit/>
          </a:bodyPr>
          <a:lstStyle/>
          <a:p>
            <a:pPr algn="l">
              <a:lnSpc>
                <a:spcPts val="2878"/>
              </a:lnSpc>
            </a:pPr>
            <a:r>
              <a:rPr lang="en-US" sz="1899" b="true">
                <a:solidFill>
                  <a:srgbClr val="0B5E6E"/>
                </a:solidFill>
                <a:latin typeface="Calibri (MS) Bold"/>
                <a:ea typeface="Calibri (MS) Bold"/>
                <a:cs typeface="Calibri (MS) Bold"/>
                <a:sym typeface="Calibri (MS) Bold"/>
              </a:rPr>
              <a:t>Tujuan 1</a:t>
            </a:r>
          </a:p>
        </p:txBody>
      </p:sp>
      <p:sp>
        <p:nvSpPr>
          <p:cNvPr name="TextBox 50" id="50"/>
          <p:cNvSpPr txBox="true"/>
          <p:nvPr/>
        </p:nvSpPr>
        <p:spPr>
          <a:xfrm rot="0">
            <a:off x="6737299" y="5234940"/>
            <a:ext cx="2057400" cy="14859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Variabel dan struktur Causal Loop Diagram</a:t>
            </a:r>
          </a:p>
        </p:txBody>
      </p:sp>
      <p:grpSp>
        <p:nvGrpSpPr>
          <p:cNvPr name="Group 51" id="51"/>
          <p:cNvGrpSpPr/>
          <p:nvPr/>
        </p:nvGrpSpPr>
        <p:grpSpPr>
          <a:xfrm rot="0">
            <a:off x="9282989" y="2743200"/>
            <a:ext cx="2537460" cy="4251960"/>
            <a:chOff x="0" y="0"/>
            <a:chExt cx="3383280" cy="5669280"/>
          </a:xfrm>
        </p:grpSpPr>
        <p:sp>
          <p:nvSpPr>
            <p:cNvPr name="Freeform 52" id="52"/>
            <p:cNvSpPr/>
            <p:nvPr/>
          </p:nvSpPr>
          <p:spPr>
            <a:xfrm flipH="false" flipV="false" rot="0">
              <a:off x="0" y="0"/>
              <a:ext cx="3383280" cy="5669280"/>
            </a:xfrm>
            <a:custGeom>
              <a:avLst/>
              <a:gdLst/>
              <a:ahLst/>
              <a:cxnLst/>
              <a:rect r="r" b="b" t="t" l="l"/>
              <a:pathLst>
                <a:path h="5669280" w="3383280">
                  <a:moveTo>
                    <a:pt x="0" y="182880"/>
                  </a:moveTo>
                  <a:cubicBezTo>
                    <a:pt x="0" y="81915"/>
                    <a:pt x="81915" y="0"/>
                    <a:pt x="182880" y="0"/>
                  </a:cubicBezTo>
                  <a:lnTo>
                    <a:pt x="3200400" y="0"/>
                  </a:lnTo>
                  <a:cubicBezTo>
                    <a:pt x="3301365" y="0"/>
                    <a:pt x="3383280" y="81915"/>
                    <a:pt x="3383280" y="182880"/>
                  </a:cubicBezTo>
                  <a:lnTo>
                    <a:pt x="3383280" y="5486400"/>
                  </a:lnTo>
                  <a:cubicBezTo>
                    <a:pt x="3383280" y="5587365"/>
                    <a:pt x="3301365" y="5669280"/>
                    <a:pt x="3200400" y="5669280"/>
                  </a:cubicBezTo>
                  <a:lnTo>
                    <a:pt x="182880" y="5669280"/>
                  </a:lnTo>
                  <a:cubicBezTo>
                    <a:pt x="81915" y="5669280"/>
                    <a:pt x="0" y="5587365"/>
                    <a:pt x="0" y="5486400"/>
                  </a:cubicBezTo>
                  <a:close/>
                </a:path>
              </a:pathLst>
            </a:custGeom>
            <a:solidFill>
              <a:srgbClr val="EAF8FA"/>
            </a:solidFill>
          </p:spPr>
          <p:txBody>
            <a:bodyPr/>
            <a:p/>
          </p:txBody>
        </p:sp>
      </p:grpSp>
      <p:grpSp>
        <p:nvGrpSpPr>
          <p:cNvPr name="Group 53" id="53"/>
          <p:cNvGrpSpPr/>
          <p:nvPr/>
        </p:nvGrpSpPr>
        <p:grpSpPr>
          <a:xfrm rot="0">
            <a:off x="9557309" y="3086100"/>
            <a:ext cx="822960" cy="822960"/>
            <a:chOff x="0" y="0"/>
            <a:chExt cx="1097280" cy="1097280"/>
          </a:xfrm>
        </p:grpSpPr>
        <p:sp>
          <p:nvSpPr>
            <p:cNvPr name="Freeform 54" id="54"/>
            <p:cNvSpPr/>
            <p:nvPr/>
          </p:nvSpPr>
          <p:spPr>
            <a:xfrm flipH="false" flipV="false" rot="0">
              <a:off x="0" y="0"/>
              <a:ext cx="1097280" cy="1097280"/>
            </a:xfrm>
            <a:custGeom>
              <a:avLst/>
              <a:gdLst/>
              <a:ahLst/>
              <a:cxnLst/>
              <a:rect r="r" b="b" t="t" l="l"/>
              <a:pathLst>
                <a:path h="1097280" w="1097280">
                  <a:moveTo>
                    <a:pt x="0" y="548640"/>
                  </a:moveTo>
                  <a:cubicBezTo>
                    <a:pt x="0" y="245618"/>
                    <a:pt x="245618" y="0"/>
                    <a:pt x="548640" y="0"/>
                  </a:cubicBezTo>
                  <a:cubicBezTo>
                    <a:pt x="851662" y="0"/>
                    <a:pt x="1097280" y="245618"/>
                    <a:pt x="1097280" y="548640"/>
                  </a:cubicBezTo>
                  <a:cubicBezTo>
                    <a:pt x="1097280" y="851662"/>
                    <a:pt x="851662" y="1097280"/>
                    <a:pt x="548640" y="1097280"/>
                  </a:cubicBezTo>
                  <a:cubicBezTo>
                    <a:pt x="245618" y="1097280"/>
                    <a:pt x="0" y="851662"/>
                    <a:pt x="0" y="548640"/>
                  </a:cubicBezTo>
                  <a:close/>
                </a:path>
              </a:pathLst>
            </a:custGeom>
            <a:solidFill>
              <a:srgbClr val="0B5E6E"/>
            </a:solidFill>
          </p:spPr>
          <p:txBody>
            <a:bodyPr/>
            <a:p/>
          </p:txBody>
        </p:sp>
      </p:grpSp>
      <p:grpSp>
        <p:nvGrpSpPr>
          <p:cNvPr name="Group 55" id="55"/>
          <p:cNvGrpSpPr/>
          <p:nvPr/>
        </p:nvGrpSpPr>
        <p:grpSpPr>
          <a:xfrm rot="0">
            <a:off x="9557309" y="3086100"/>
            <a:ext cx="822960" cy="822960"/>
            <a:chOff x="0" y="0"/>
            <a:chExt cx="1097280" cy="1097280"/>
          </a:xfrm>
        </p:grpSpPr>
        <p:sp>
          <p:nvSpPr>
            <p:cNvPr name="Freeform 56" id="56"/>
            <p:cNvSpPr/>
            <p:nvPr/>
          </p:nvSpPr>
          <p:spPr>
            <a:xfrm flipH="false" flipV="false" rot="0">
              <a:off x="0" y="0"/>
              <a:ext cx="1097280" cy="1097280"/>
            </a:xfrm>
            <a:custGeom>
              <a:avLst/>
              <a:gdLst/>
              <a:ahLst/>
              <a:cxnLst/>
              <a:rect r="r" b="b" t="t" l="l"/>
              <a:pathLst>
                <a:path h="1097280" w="1097280">
                  <a:moveTo>
                    <a:pt x="0" y="0"/>
                  </a:moveTo>
                  <a:lnTo>
                    <a:pt x="1097280" y="0"/>
                  </a:lnTo>
                  <a:lnTo>
                    <a:pt x="1097280" y="1097280"/>
                  </a:lnTo>
                  <a:lnTo>
                    <a:pt x="0" y="1097280"/>
                  </a:lnTo>
                  <a:close/>
                </a:path>
              </a:pathLst>
            </a:custGeom>
            <a:blipFill>
              <a:blip r:embed="rId4">
                <a:alphaModFix amt="0"/>
              </a:blip>
              <a:stretch>
                <a:fillRect l="-78392" t="0" r="-78393" b="0"/>
              </a:stretch>
            </a:blipFill>
          </p:spPr>
          <p:txBody>
            <a:bodyPr/>
            <a:p/>
          </p:txBody>
        </p:sp>
      </p:grpSp>
      <p:grpSp>
        <p:nvGrpSpPr>
          <p:cNvPr name="Group 57" id="57"/>
          <p:cNvGrpSpPr/>
          <p:nvPr/>
        </p:nvGrpSpPr>
        <p:grpSpPr>
          <a:xfrm rot="0">
            <a:off x="9557309" y="3057525"/>
            <a:ext cx="822960" cy="851535"/>
            <a:chOff x="0" y="0"/>
            <a:chExt cx="1097280" cy="1135380"/>
          </a:xfrm>
        </p:grpSpPr>
        <p:sp>
          <p:nvSpPr>
            <p:cNvPr name="Freeform 58" id="58"/>
            <p:cNvSpPr/>
            <p:nvPr/>
          </p:nvSpPr>
          <p:spPr>
            <a:xfrm flipH="false" flipV="false" rot="0">
              <a:off x="0" y="0"/>
              <a:ext cx="1097280" cy="1135380"/>
            </a:xfrm>
            <a:custGeom>
              <a:avLst/>
              <a:gdLst/>
              <a:ahLst/>
              <a:cxnLst/>
              <a:rect r="r" b="b" t="t" l="l"/>
              <a:pathLst>
                <a:path h="1135380" w="1097280">
                  <a:moveTo>
                    <a:pt x="0" y="0"/>
                  </a:moveTo>
                  <a:lnTo>
                    <a:pt x="1097280" y="0"/>
                  </a:lnTo>
                  <a:lnTo>
                    <a:pt x="1097280" y="1135380"/>
                  </a:lnTo>
                  <a:lnTo>
                    <a:pt x="0" y="1135380"/>
                  </a:lnTo>
                  <a:close/>
                </a:path>
              </a:pathLst>
            </a:custGeom>
            <a:blipFill>
              <a:blip r:embed="rId5">
                <a:alphaModFix amt="0"/>
              </a:blip>
              <a:stretch>
                <a:fillRect l="-82850" t="0" r="-82850" b="0"/>
              </a:stretch>
            </a:blipFill>
          </p:spPr>
          <p:txBody>
            <a:bodyPr/>
            <a:p/>
          </p:txBody>
        </p:sp>
      </p:grpSp>
      <p:grpSp>
        <p:nvGrpSpPr>
          <p:cNvPr name="Group 59" id="59"/>
          <p:cNvGrpSpPr/>
          <p:nvPr/>
        </p:nvGrpSpPr>
        <p:grpSpPr>
          <a:xfrm rot="0">
            <a:off x="9557309" y="3028950"/>
            <a:ext cx="822960" cy="880110"/>
            <a:chOff x="0" y="0"/>
            <a:chExt cx="1097280" cy="1173480"/>
          </a:xfrm>
        </p:grpSpPr>
        <p:sp>
          <p:nvSpPr>
            <p:cNvPr name="Freeform 60" id="60"/>
            <p:cNvSpPr/>
            <p:nvPr/>
          </p:nvSpPr>
          <p:spPr>
            <a:xfrm flipH="false" flipV="false" rot="0">
              <a:off x="0" y="0"/>
              <a:ext cx="1097280" cy="1173480"/>
            </a:xfrm>
            <a:custGeom>
              <a:avLst/>
              <a:gdLst/>
              <a:ahLst/>
              <a:cxnLst/>
              <a:rect r="r" b="b" t="t" l="l"/>
              <a:pathLst>
                <a:path h="1173480" w="1097280">
                  <a:moveTo>
                    <a:pt x="0" y="0"/>
                  </a:moveTo>
                  <a:lnTo>
                    <a:pt x="1097280" y="0"/>
                  </a:lnTo>
                  <a:lnTo>
                    <a:pt x="1097280" y="1173480"/>
                  </a:lnTo>
                  <a:lnTo>
                    <a:pt x="0" y="1173480"/>
                  </a:lnTo>
                  <a:close/>
                </a:path>
              </a:pathLst>
            </a:custGeom>
            <a:blipFill>
              <a:blip r:embed="rId6">
                <a:alphaModFix amt="0"/>
              </a:blip>
              <a:stretch>
                <a:fillRect l="-87213" t="0" r="-87213" b="0"/>
              </a:stretch>
            </a:blipFill>
          </p:spPr>
          <p:txBody>
            <a:bodyPr/>
            <a:p/>
          </p:txBody>
        </p:sp>
        <p:sp>
          <p:nvSpPr>
            <p:cNvPr name="TextBox 61" id="61"/>
            <p:cNvSpPr txBox="true"/>
            <p:nvPr/>
          </p:nvSpPr>
          <p:spPr>
            <a:xfrm>
              <a:off x="0" y="-38100"/>
              <a:ext cx="1097280" cy="121158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4</a:t>
              </a:r>
            </a:p>
          </p:txBody>
        </p:sp>
      </p:grpSp>
      <p:sp>
        <p:nvSpPr>
          <p:cNvPr name="TextBox 62" id="62"/>
          <p:cNvSpPr txBox="true"/>
          <p:nvPr/>
        </p:nvSpPr>
        <p:spPr>
          <a:xfrm rot="0">
            <a:off x="9557309" y="4080510"/>
            <a:ext cx="2057400" cy="1200150"/>
          </a:xfrm>
          <a:prstGeom prst="rect">
            <a:avLst/>
          </a:prstGeom>
        </p:spPr>
        <p:txBody>
          <a:bodyPr anchor="t" rtlCol="false" tIns="0" lIns="0" bIns="0" rIns="0">
            <a:spAutoFit/>
          </a:bodyPr>
          <a:lstStyle/>
          <a:p>
            <a:pPr algn="l">
              <a:lnSpc>
                <a:spcPts val="2878"/>
              </a:lnSpc>
            </a:pPr>
            <a:r>
              <a:rPr lang="en-US" sz="1899" b="true">
                <a:solidFill>
                  <a:srgbClr val="0B5E6E"/>
                </a:solidFill>
                <a:latin typeface="Calibri (MS) Bold"/>
                <a:ea typeface="Calibri (MS) Bold"/>
                <a:cs typeface="Calibri (MS) Bold"/>
                <a:sym typeface="Calibri (MS) Bold"/>
              </a:rPr>
              <a:t>Tujuan 2</a:t>
            </a:r>
          </a:p>
        </p:txBody>
      </p:sp>
      <p:sp>
        <p:nvSpPr>
          <p:cNvPr name="TextBox 63" id="63"/>
          <p:cNvSpPr txBox="true"/>
          <p:nvPr/>
        </p:nvSpPr>
        <p:spPr>
          <a:xfrm rot="0">
            <a:off x="9557309" y="5234940"/>
            <a:ext cx="2057400" cy="14859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Citra satelit, model, validasi, skenario kebijakan</a:t>
            </a:r>
          </a:p>
        </p:txBody>
      </p:sp>
      <p:grpSp>
        <p:nvGrpSpPr>
          <p:cNvPr name="Group 64" id="64"/>
          <p:cNvGrpSpPr/>
          <p:nvPr/>
        </p:nvGrpSpPr>
        <p:grpSpPr>
          <a:xfrm rot="0">
            <a:off x="12102998" y="2743200"/>
            <a:ext cx="2537460" cy="4251960"/>
            <a:chOff x="0" y="0"/>
            <a:chExt cx="3383280" cy="5669280"/>
          </a:xfrm>
        </p:grpSpPr>
        <p:sp>
          <p:nvSpPr>
            <p:cNvPr name="Freeform 65" id="65"/>
            <p:cNvSpPr/>
            <p:nvPr/>
          </p:nvSpPr>
          <p:spPr>
            <a:xfrm flipH="false" flipV="false" rot="0">
              <a:off x="0" y="0"/>
              <a:ext cx="3383280" cy="5669280"/>
            </a:xfrm>
            <a:custGeom>
              <a:avLst/>
              <a:gdLst/>
              <a:ahLst/>
              <a:cxnLst/>
              <a:rect r="r" b="b" t="t" l="l"/>
              <a:pathLst>
                <a:path h="5669280" w="3383280">
                  <a:moveTo>
                    <a:pt x="0" y="182880"/>
                  </a:moveTo>
                  <a:cubicBezTo>
                    <a:pt x="0" y="81915"/>
                    <a:pt x="81915" y="0"/>
                    <a:pt x="182880" y="0"/>
                  </a:cubicBezTo>
                  <a:lnTo>
                    <a:pt x="3200400" y="0"/>
                  </a:lnTo>
                  <a:cubicBezTo>
                    <a:pt x="3301365" y="0"/>
                    <a:pt x="3383280" y="81915"/>
                    <a:pt x="3383280" y="182880"/>
                  </a:cubicBezTo>
                  <a:lnTo>
                    <a:pt x="3383280" y="5486400"/>
                  </a:lnTo>
                  <a:cubicBezTo>
                    <a:pt x="3383280" y="5587365"/>
                    <a:pt x="3301365" y="5669280"/>
                    <a:pt x="3200400" y="5669280"/>
                  </a:cubicBezTo>
                  <a:lnTo>
                    <a:pt x="182880" y="5669280"/>
                  </a:lnTo>
                  <a:cubicBezTo>
                    <a:pt x="81915" y="5669280"/>
                    <a:pt x="0" y="5587365"/>
                    <a:pt x="0" y="5486400"/>
                  </a:cubicBezTo>
                  <a:close/>
                </a:path>
              </a:pathLst>
            </a:custGeom>
            <a:solidFill>
              <a:srgbClr val="EAF8FA"/>
            </a:solidFill>
          </p:spPr>
          <p:txBody>
            <a:bodyPr/>
            <a:p/>
          </p:txBody>
        </p:sp>
      </p:grpSp>
      <p:grpSp>
        <p:nvGrpSpPr>
          <p:cNvPr name="Group 66" id="66"/>
          <p:cNvGrpSpPr/>
          <p:nvPr/>
        </p:nvGrpSpPr>
        <p:grpSpPr>
          <a:xfrm rot="0">
            <a:off x="12377318" y="3086100"/>
            <a:ext cx="822960" cy="822960"/>
            <a:chOff x="0" y="0"/>
            <a:chExt cx="1097280" cy="1097280"/>
          </a:xfrm>
        </p:grpSpPr>
        <p:sp>
          <p:nvSpPr>
            <p:cNvPr name="Freeform 67" id="67"/>
            <p:cNvSpPr/>
            <p:nvPr/>
          </p:nvSpPr>
          <p:spPr>
            <a:xfrm flipH="false" flipV="false" rot="0">
              <a:off x="0" y="0"/>
              <a:ext cx="1097280" cy="1097280"/>
            </a:xfrm>
            <a:custGeom>
              <a:avLst/>
              <a:gdLst/>
              <a:ahLst/>
              <a:cxnLst/>
              <a:rect r="r" b="b" t="t" l="l"/>
              <a:pathLst>
                <a:path h="1097280" w="1097280">
                  <a:moveTo>
                    <a:pt x="0" y="548640"/>
                  </a:moveTo>
                  <a:cubicBezTo>
                    <a:pt x="0" y="245618"/>
                    <a:pt x="245618" y="0"/>
                    <a:pt x="548640" y="0"/>
                  </a:cubicBezTo>
                  <a:cubicBezTo>
                    <a:pt x="851662" y="0"/>
                    <a:pt x="1097280" y="245618"/>
                    <a:pt x="1097280" y="548640"/>
                  </a:cubicBezTo>
                  <a:cubicBezTo>
                    <a:pt x="1097280" y="851662"/>
                    <a:pt x="851662" y="1097280"/>
                    <a:pt x="548640" y="1097280"/>
                  </a:cubicBezTo>
                  <a:cubicBezTo>
                    <a:pt x="245618" y="1097280"/>
                    <a:pt x="0" y="851662"/>
                    <a:pt x="0" y="548640"/>
                  </a:cubicBezTo>
                  <a:close/>
                </a:path>
              </a:pathLst>
            </a:custGeom>
            <a:solidFill>
              <a:srgbClr val="39C0D3"/>
            </a:solidFill>
          </p:spPr>
          <p:txBody>
            <a:bodyPr/>
            <a:p/>
          </p:txBody>
        </p:sp>
      </p:grpSp>
      <p:grpSp>
        <p:nvGrpSpPr>
          <p:cNvPr name="Group 68" id="68"/>
          <p:cNvGrpSpPr/>
          <p:nvPr/>
        </p:nvGrpSpPr>
        <p:grpSpPr>
          <a:xfrm rot="0">
            <a:off x="12377318" y="3086100"/>
            <a:ext cx="822960" cy="822960"/>
            <a:chOff x="0" y="0"/>
            <a:chExt cx="1097280" cy="1097280"/>
          </a:xfrm>
        </p:grpSpPr>
        <p:sp>
          <p:nvSpPr>
            <p:cNvPr name="Freeform 69" id="69"/>
            <p:cNvSpPr/>
            <p:nvPr/>
          </p:nvSpPr>
          <p:spPr>
            <a:xfrm flipH="false" flipV="false" rot="0">
              <a:off x="0" y="0"/>
              <a:ext cx="1097280" cy="1097280"/>
            </a:xfrm>
            <a:custGeom>
              <a:avLst/>
              <a:gdLst/>
              <a:ahLst/>
              <a:cxnLst/>
              <a:rect r="r" b="b" t="t" l="l"/>
              <a:pathLst>
                <a:path h="1097280" w="1097280">
                  <a:moveTo>
                    <a:pt x="0" y="0"/>
                  </a:moveTo>
                  <a:lnTo>
                    <a:pt x="1097280" y="0"/>
                  </a:lnTo>
                  <a:lnTo>
                    <a:pt x="1097280" y="1097280"/>
                  </a:lnTo>
                  <a:lnTo>
                    <a:pt x="0" y="1097280"/>
                  </a:lnTo>
                  <a:close/>
                </a:path>
              </a:pathLst>
            </a:custGeom>
            <a:blipFill>
              <a:blip r:embed="rId4">
                <a:alphaModFix amt="0"/>
              </a:blip>
              <a:stretch>
                <a:fillRect l="-78392" t="0" r="-78393" b="0"/>
              </a:stretch>
            </a:blipFill>
          </p:spPr>
          <p:txBody>
            <a:bodyPr/>
            <a:p/>
          </p:txBody>
        </p:sp>
      </p:grpSp>
      <p:grpSp>
        <p:nvGrpSpPr>
          <p:cNvPr name="Group 70" id="70"/>
          <p:cNvGrpSpPr/>
          <p:nvPr/>
        </p:nvGrpSpPr>
        <p:grpSpPr>
          <a:xfrm rot="0">
            <a:off x="12377318" y="3057525"/>
            <a:ext cx="822960" cy="851535"/>
            <a:chOff x="0" y="0"/>
            <a:chExt cx="1097280" cy="1135380"/>
          </a:xfrm>
        </p:grpSpPr>
        <p:sp>
          <p:nvSpPr>
            <p:cNvPr name="Freeform 71" id="71"/>
            <p:cNvSpPr/>
            <p:nvPr/>
          </p:nvSpPr>
          <p:spPr>
            <a:xfrm flipH="false" flipV="false" rot="0">
              <a:off x="0" y="0"/>
              <a:ext cx="1097280" cy="1135380"/>
            </a:xfrm>
            <a:custGeom>
              <a:avLst/>
              <a:gdLst/>
              <a:ahLst/>
              <a:cxnLst/>
              <a:rect r="r" b="b" t="t" l="l"/>
              <a:pathLst>
                <a:path h="1135380" w="1097280">
                  <a:moveTo>
                    <a:pt x="0" y="0"/>
                  </a:moveTo>
                  <a:lnTo>
                    <a:pt x="1097280" y="0"/>
                  </a:lnTo>
                  <a:lnTo>
                    <a:pt x="1097280" y="1135380"/>
                  </a:lnTo>
                  <a:lnTo>
                    <a:pt x="0" y="1135380"/>
                  </a:lnTo>
                  <a:close/>
                </a:path>
              </a:pathLst>
            </a:custGeom>
            <a:blipFill>
              <a:blip r:embed="rId5">
                <a:alphaModFix amt="0"/>
              </a:blip>
              <a:stretch>
                <a:fillRect l="-82850" t="0" r="-82850" b="0"/>
              </a:stretch>
            </a:blipFill>
          </p:spPr>
          <p:txBody>
            <a:bodyPr/>
            <a:p/>
          </p:txBody>
        </p:sp>
      </p:grpSp>
      <p:grpSp>
        <p:nvGrpSpPr>
          <p:cNvPr name="Group 72" id="72"/>
          <p:cNvGrpSpPr/>
          <p:nvPr/>
        </p:nvGrpSpPr>
        <p:grpSpPr>
          <a:xfrm rot="0">
            <a:off x="12377318" y="3028950"/>
            <a:ext cx="822960" cy="880110"/>
            <a:chOff x="0" y="0"/>
            <a:chExt cx="1097280" cy="1173480"/>
          </a:xfrm>
        </p:grpSpPr>
        <p:sp>
          <p:nvSpPr>
            <p:cNvPr name="Freeform 73" id="73"/>
            <p:cNvSpPr/>
            <p:nvPr/>
          </p:nvSpPr>
          <p:spPr>
            <a:xfrm flipH="false" flipV="false" rot="0">
              <a:off x="0" y="0"/>
              <a:ext cx="1097280" cy="1173480"/>
            </a:xfrm>
            <a:custGeom>
              <a:avLst/>
              <a:gdLst/>
              <a:ahLst/>
              <a:cxnLst/>
              <a:rect r="r" b="b" t="t" l="l"/>
              <a:pathLst>
                <a:path h="1173480" w="1097280">
                  <a:moveTo>
                    <a:pt x="0" y="0"/>
                  </a:moveTo>
                  <a:lnTo>
                    <a:pt x="1097280" y="0"/>
                  </a:lnTo>
                  <a:lnTo>
                    <a:pt x="1097280" y="1173480"/>
                  </a:lnTo>
                  <a:lnTo>
                    <a:pt x="0" y="1173480"/>
                  </a:lnTo>
                  <a:close/>
                </a:path>
              </a:pathLst>
            </a:custGeom>
            <a:blipFill>
              <a:blip r:embed="rId6">
                <a:alphaModFix amt="0"/>
              </a:blip>
              <a:stretch>
                <a:fillRect l="-87213" t="0" r="-87213" b="0"/>
              </a:stretch>
            </a:blipFill>
          </p:spPr>
          <p:txBody>
            <a:bodyPr/>
            <a:p/>
          </p:txBody>
        </p:sp>
        <p:sp>
          <p:nvSpPr>
            <p:cNvPr name="TextBox 74" id="74"/>
            <p:cNvSpPr txBox="true"/>
            <p:nvPr/>
          </p:nvSpPr>
          <p:spPr>
            <a:xfrm>
              <a:off x="0" y="-38100"/>
              <a:ext cx="1097280" cy="121158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5</a:t>
              </a:r>
            </a:p>
          </p:txBody>
        </p:sp>
      </p:grpSp>
      <p:sp>
        <p:nvSpPr>
          <p:cNvPr name="TextBox 75" id="75"/>
          <p:cNvSpPr txBox="true"/>
          <p:nvPr/>
        </p:nvSpPr>
        <p:spPr>
          <a:xfrm rot="0">
            <a:off x="12377318" y="4080510"/>
            <a:ext cx="2057400" cy="1200150"/>
          </a:xfrm>
          <a:prstGeom prst="rect">
            <a:avLst/>
          </a:prstGeom>
        </p:spPr>
        <p:txBody>
          <a:bodyPr anchor="t" rtlCol="false" tIns="0" lIns="0" bIns="0" rIns="0">
            <a:spAutoFit/>
          </a:bodyPr>
          <a:lstStyle/>
          <a:p>
            <a:pPr algn="l">
              <a:lnSpc>
                <a:spcPts val="2878"/>
              </a:lnSpc>
            </a:pPr>
            <a:r>
              <a:rPr lang="en-US" sz="1899" b="true">
                <a:solidFill>
                  <a:srgbClr val="0B5E6E"/>
                </a:solidFill>
                <a:latin typeface="Calibri (MS) Bold"/>
                <a:ea typeface="Calibri (MS) Bold"/>
                <a:cs typeface="Calibri (MS) Bold"/>
                <a:sym typeface="Calibri (MS) Bold"/>
              </a:rPr>
              <a:t>Tujuan 3</a:t>
            </a:r>
          </a:p>
        </p:txBody>
      </p:sp>
      <p:sp>
        <p:nvSpPr>
          <p:cNvPr name="TextBox 76" id="76"/>
          <p:cNvSpPr txBox="true"/>
          <p:nvPr/>
        </p:nvSpPr>
        <p:spPr>
          <a:xfrm rot="0">
            <a:off x="12377318" y="5234940"/>
            <a:ext cx="2057400" cy="14859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Aplikasi web dan evaluasinya</a:t>
            </a:r>
          </a:p>
        </p:txBody>
      </p:sp>
      <p:grpSp>
        <p:nvGrpSpPr>
          <p:cNvPr name="Group 77" id="77"/>
          <p:cNvGrpSpPr/>
          <p:nvPr/>
        </p:nvGrpSpPr>
        <p:grpSpPr>
          <a:xfrm rot="0">
            <a:off x="14923008" y="2743200"/>
            <a:ext cx="2537460" cy="4251960"/>
            <a:chOff x="0" y="0"/>
            <a:chExt cx="3383280" cy="5669280"/>
          </a:xfrm>
        </p:grpSpPr>
        <p:sp>
          <p:nvSpPr>
            <p:cNvPr name="Freeform 78" id="78"/>
            <p:cNvSpPr/>
            <p:nvPr/>
          </p:nvSpPr>
          <p:spPr>
            <a:xfrm flipH="false" flipV="false" rot="0">
              <a:off x="0" y="0"/>
              <a:ext cx="3383280" cy="5669280"/>
            </a:xfrm>
            <a:custGeom>
              <a:avLst/>
              <a:gdLst/>
              <a:ahLst/>
              <a:cxnLst/>
              <a:rect r="r" b="b" t="t" l="l"/>
              <a:pathLst>
                <a:path h="5669280" w="3383280">
                  <a:moveTo>
                    <a:pt x="0" y="182880"/>
                  </a:moveTo>
                  <a:cubicBezTo>
                    <a:pt x="0" y="81915"/>
                    <a:pt x="81915" y="0"/>
                    <a:pt x="182880" y="0"/>
                  </a:cubicBezTo>
                  <a:lnTo>
                    <a:pt x="3200400" y="0"/>
                  </a:lnTo>
                  <a:cubicBezTo>
                    <a:pt x="3301365" y="0"/>
                    <a:pt x="3383280" y="81915"/>
                    <a:pt x="3383280" y="182880"/>
                  </a:cubicBezTo>
                  <a:lnTo>
                    <a:pt x="3383280" y="5486400"/>
                  </a:lnTo>
                  <a:cubicBezTo>
                    <a:pt x="3383280" y="5587365"/>
                    <a:pt x="3301365" y="5669280"/>
                    <a:pt x="3200400" y="5669280"/>
                  </a:cubicBezTo>
                  <a:lnTo>
                    <a:pt x="182880" y="5669280"/>
                  </a:lnTo>
                  <a:cubicBezTo>
                    <a:pt x="81915" y="5669280"/>
                    <a:pt x="0" y="5587365"/>
                    <a:pt x="0" y="5486400"/>
                  </a:cubicBezTo>
                  <a:close/>
                </a:path>
              </a:pathLst>
            </a:custGeom>
            <a:solidFill>
              <a:srgbClr val="EAF8FA"/>
            </a:solidFill>
          </p:spPr>
          <p:txBody>
            <a:bodyPr/>
            <a:p/>
          </p:txBody>
        </p:sp>
      </p:grpSp>
      <p:grpSp>
        <p:nvGrpSpPr>
          <p:cNvPr name="Group 79" id="79"/>
          <p:cNvGrpSpPr/>
          <p:nvPr/>
        </p:nvGrpSpPr>
        <p:grpSpPr>
          <a:xfrm rot="0">
            <a:off x="15197328" y="3086100"/>
            <a:ext cx="822960" cy="822960"/>
            <a:chOff x="0" y="0"/>
            <a:chExt cx="1097280" cy="1097280"/>
          </a:xfrm>
        </p:grpSpPr>
        <p:sp>
          <p:nvSpPr>
            <p:cNvPr name="Freeform 80" id="80"/>
            <p:cNvSpPr/>
            <p:nvPr/>
          </p:nvSpPr>
          <p:spPr>
            <a:xfrm flipH="false" flipV="false" rot="0">
              <a:off x="0" y="0"/>
              <a:ext cx="1097280" cy="1097280"/>
            </a:xfrm>
            <a:custGeom>
              <a:avLst/>
              <a:gdLst/>
              <a:ahLst/>
              <a:cxnLst/>
              <a:rect r="r" b="b" t="t" l="l"/>
              <a:pathLst>
                <a:path h="1097280" w="1097280">
                  <a:moveTo>
                    <a:pt x="0" y="548640"/>
                  </a:moveTo>
                  <a:cubicBezTo>
                    <a:pt x="0" y="245618"/>
                    <a:pt x="245618" y="0"/>
                    <a:pt x="548640" y="0"/>
                  </a:cubicBezTo>
                  <a:cubicBezTo>
                    <a:pt x="851662" y="0"/>
                    <a:pt x="1097280" y="245618"/>
                    <a:pt x="1097280" y="548640"/>
                  </a:cubicBezTo>
                  <a:cubicBezTo>
                    <a:pt x="1097280" y="851662"/>
                    <a:pt x="851662" y="1097280"/>
                    <a:pt x="548640" y="1097280"/>
                  </a:cubicBezTo>
                  <a:cubicBezTo>
                    <a:pt x="245618" y="1097280"/>
                    <a:pt x="0" y="851662"/>
                    <a:pt x="0" y="548640"/>
                  </a:cubicBezTo>
                  <a:close/>
                </a:path>
              </a:pathLst>
            </a:custGeom>
            <a:solidFill>
              <a:srgbClr val="39C0D3"/>
            </a:solidFill>
          </p:spPr>
          <p:txBody>
            <a:bodyPr/>
            <a:p/>
          </p:txBody>
        </p:sp>
      </p:grpSp>
      <p:grpSp>
        <p:nvGrpSpPr>
          <p:cNvPr name="Group 81" id="81"/>
          <p:cNvGrpSpPr/>
          <p:nvPr/>
        </p:nvGrpSpPr>
        <p:grpSpPr>
          <a:xfrm rot="0">
            <a:off x="15197328" y="3086100"/>
            <a:ext cx="822960" cy="822960"/>
            <a:chOff x="0" y="0"/>
            <a:chExt cx="1097280" cy="1097280"/>
          </a:xfrm>
        </p:grpSpPr>
        <p:sp>
          <p:nvSpPr>
            <p:cNvPr name="Freeform 82" id="82"/>
            <p:cNvSpPr/>
            <p:nvPr/>
          </p:nvSpPr>
          <p:spPr>
            <a:xfrm flipH="false" flipV="false" rot="0">
              <a:off x="0" y="0"/>
              <a:ext cx="1097280" cy="1097280"/>
            </a:xfrm>
            <a:custGeom>
              <a:avLst/>
              <a:gdLst/>
              <a:ahLst/>
              <a:cxnLst/>
              <a:rect r="r" b="b" t="t" l="l"/>
              <a:pathLst>
                <a:path h="1097280" w="1097280">
                  <a:moveTo>
                    <a:pt x="0" y="0"/>
                  </a:moveTo>
                  <a:lnTo>
                    <a:pt x="1097280" y="0"/>
                  </a:lnTo>
                  <a:lnTo>
                    <a:pt x="1097280" y="1097280"/>
                  </a:lnTo>
                  <a:lnTo>
                    <a:pt x="0" y="1097280"/>
                  </a:lnTo>
                  <a:close/>
                </a:path>
              </a:pathLst>
            </a:custGeom>
            <a:blipFill>
              <a:blip r:embed="rId4">
                <a:alphaModFix amt="0"/>
              </a:blip>
              <a:stretch>
                <a:fillRect l="-78392" t="0" r="-78393" b="0"/>
              </a:stretch>
            </a:blipFill>
          </p:spPr>
          <p:txBody>
            <a:bodyPr/>
            <a:p/>
          </p:txBody>
        </p:sp>
      </p:grpSp>
      <p:grpSp>
        <p:nvGrpSpPr>
          <p:cNvPr name="Group 83" id="83"/>
          <p:cNvGrpSpPr/>
          <p:nvPr/>
        </p:nvGrpSpPr>
        <p:grpSpPr>
          <a:xfrm rot="0">
            <a:off x="15197328" y="3057525"/>
            <a:ext cx="822960" cy="851535"/>
            <a:chOff x="0" y="0"/>
            <a:chExt cx="1097280" cy="1135380"/>
          </a:xfrm>
        </p:grpSpPr>
        <p:sp>
          <p:nvSpPr>
            <p:cNvPr name="Freeform 84" id="84"/>
            <p:cNvSpPr/>
            <p:nvPr/>
          </p:nvSpPr>
          <p:spPr>
            <a:xfrm flipH="false" flipV="false" rot="0">
              <a:off x="0" y="0"/>
              <a:ext cx="1097280" cy="1135380"/>
            </a:xfrm>
            <a:custGeom>
              <a:avLst/>
              <a:gdLst/>
              <a:ahLst/>
              <a:cxnLst/>
              <a:rect r="r" b="b" t="t" l="l"/>
              <a:pathLst>
                <a:path h="1135380" w="1097280">
                  <a:moveTo>
                    <a:pt x="0" y="0"/>
                  </a:moveTo>
                  <a:lnTo>
                    <a:pt x="1097280" y="0"/>
                  </a:lnTo>
                  <a:lnTo>
                    <a:pt x="1097280" y="1135380"/>
                  </a:lnTo>
                  <a:lnTo>
                    <a:pt x="0" y="1135380"/>
                  </a:lnTo>
                  <a:close/>
                </a:path>
              </a:pathLst>
            </a:custGeom>
            <a:blipFill>
              <a:blip r:embed="rId5">
                <a:alphaModFix amt="0"/>
              </a:blip>
              <a:stretch>
                <a:fillRect l="-82850" t="0" r="-82850" b="0"/>
              </a:stretch>
            </a:blipFill>
          </p:spPr>
          <p:txBody>
            <a:bodyPr/>
            <a:p/>
          </p:txBody>
        </p:sp>
      </p:grpSp>
      <p:grpSp>
        <p:nvGrpSpPr>
          <p:cNvPr name="Group 85" id="85"/>
          <p:cNvGrpSpPr/>
          <p:nvPr/>
        </p:nvGrpSpPr>
        <p:grpSpPr>
          <a:xfrm rot="0">
            <a:off x="15197328" y="3028950"/>
            <a:ext cx="822960" cy="880110"/>
            <a:chOff x="0" y="0"/>
            <a:chExt cx="1097280" cy="1173480"/>
          </a:xfrm>
        </p:grpSpPr>
        <p:sp>
          <p:nvSpPr>
            <p:cNvPr name="Freeform 86" id="86"/>
            <p:cNvSpPr/>
            <p:nvPr/>
          </p:nvSpPr>
          <p:spPr>
            <a:xfrm flipH="false" flipV="false" rot="0">
              <a:off x="0" y="0"/>
              <a:ext cx="1097280" cy="1173480"/>
            </a:xfrm>
            <a:custGeom>
              <a:avLst/>
              <a:gdLst/>
              <a:ahLst/>
              <a:cxnLst/>
              <a:rect r="r" b="b" t="t" l="l"/>
              <a:pathLst>
                <a:path h="1173480" w="1097280">
                  <a:moveTo>
                    <a:pt x="0" y="0"/>
                  </a:moveTo>
                  <a:lnTo>
                    <a:pt x="1097280" y="0"/>
                  </a:lnTo>
                  <a:lnTo>
                    <a:pt x="1097280" y="1173480"/>
                  </a:lnTo>
                  <a:lnTo>
                    <a:pt x="0" y="1173480"/>
                  </a:lnTo>
                  <a:close/>
                </a:path>
              </a:pathLst>
            </a:custGeom>
            <a:blipFill>
              <a:blip r:embed="rId6">
                <a:alphaModFix amt="0"/>
              </a:blip>
              <a:stretch>
                <a:fillRect l="-87213" t="0" r="-87213" b="0"/>
              </a:stretch>
            </a:blipFill>
          </p:spPr>
          <p:txBody>
            <a:bodyPr/>
            <a:p/>
          </p:txBody>
        </p:sp>
        <p:sp>
          <p:nvSpPr>
            <p:cNvPr name="TextBox 87" id="87"/>
            <p:cNvSpPr txBox="true"/>
            <p:nvPr/>
          </p:nvSpPr>
          <p:spPr>
            <a:xfrm>
              <a:off x="0" y="-38100"/>
              <a:ext cx="1097280" cy="121158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6</a:t>
              </a:r>
            </a:p>
          </p:txBody>
        </p:sp>
      </p:grpSp>
      <p:sp>
        <p:nvSpPr>
          <p:cNvPr name="TextBox 88" id="88"/>
          <p:cNvSpPr txBox="true"/>
          <p:nvPr/>
        </p:nvSpPr>
        <p:spPr>
          <a:xfrm rot="0">
            <a:off x="15197328" y="4080510"/>
            <a:ext cx="2057400" cy="1200150"/>
          </a:xfrm>
          <a:prstGeom prst="rect">
            <a:avLst/>
          </a:prstGeom>
        </p:spPr>
        <p:txBody>
          <a:bodyPr anchor="t" rtlCol="false" tIns="0" lIns="0" bIns="0" rIns="0">
            <a:spAutoFit/>
          </a:bodyPr>
          <a:lstStyle/>
          <a:p>
            <a:pPr algn="l">
              <a:lnSpc>
                <a:spcPts val="2878"/>
              </a:lnSpc>
            </a:pPr>
            <a:r>
              <a:rPr lang="en-US" sz="1899" b="true">
                <a:solidFill>
                  <a:srgbClr val="0B5E6E"/>
                </a:solidFill>
                <a:latin typeface="Calibri (MS) Bold"/>
                <a:ea typeface="Calibri (MS) Bold"/>
                <a:cs typeface="Calibri (MS) Bold"/>
                <a:sym typeface="Calibri (MS) Bold"/>
              </a:rPr>
              <a:t>Penutup</a:t>
            </a:r>
          </a:p>
        </p:txBody>
      </p:sp>
      <p:sp>
        <p:nvSpPr>
          <p:cNvPr name="TextBox 89" id="89"/>
          <p:cNvSpPr txBox="true"/>
          <p:nvPr/>
        </p:nvSpPr>
        <p:spPr>
          <a:xfrm rot="0">
            <a:off x="15197328" y="5234940"/>
            <a:ext cx="2057400" cy="14859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Diskusi, keterbatasan, kesimpulan, saran</a:t>
            </a:r>
          </a:p>
        </p:txBody>
      </p:sp>
      <p:sp>
        <p:nvSpPr>
          <p:cNvPr name="TextBox 90" id="90"/>
          <p:cNvSpPr txBox="true"/>
          <p:nvPr/>
        </p:nvSpPr>
        <p:spPr>
          <a:xfrm rot="0">
            <a:off x="822960" y="7538085"/>
            <a:ext cx="16637508" cy="691515"/>
          </a:xfrm>
          <a:prstGeom prst="rect">
            <a:avLst/>
          </a:prstGeom>
        </p:spPr>
        <p:txBody>
          <a:bodyPr anchor="t" rtlCol="false" tIns="0" lIns="0" bIns="0" rIns="0">
            <a:spAutoFit/>
          </a:bodyPr>
          <a:lstStyle/>
          <a:p>
            <a:pPr algn="l">
              <a:lnSpc>
                <a:spcPts val="2340"/>
              </a:lnSpc>
            </a:pPr>
            <a:r>
              <a:rPr lang="en-US" sz="1950">
                <a:solidFill>
                  <a:srgbClr val="5E6E78"/>
                </a:solidFill>
                <a:latin typeface="Calibri (MS)"/>
                <a:ea typeface="Calibri (MS)"/>
                <a:cs typeface="Calibri (MS)"/>
                <a:sym typeface="Calibri (MS)"/>
              </a:rPr>
              <a:t>Pola setiap tujuan: metode → hasil → makna → ringkasan hasil tujuan.  Lampiran: parameter · persamaan · data historis · citra · uji struktur · uji perilaku · kalibrasi · sensitivitas · KPI · daftar istilah · IRTS–KBLI</a:t>
            </a:r>
          </a:p>
        </p:txBody>
      </p:sp>
      <p:sp>
        <p:nvSpPr>
          <p:cNvPr name="TextBox 91" id="91"/>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2</a:t>
            </a:r>
          </a:p>
        </p:txBody>
      </p:sp>
      <p:grpSp>
        <p:nvGrpSpPr>
          <p:cNvPr name="Group 92" id="92"/>
          <p:cNvGrpSpPr/>
          <p:nvPr/>
        </p:nvGrpSpPr>
        <p:grpSpPr>
          <a:xfrm rot="0">
            <a:off x="16047720" y="9646920"/>
            <a:ext cx="420624" cy="420624"/>
            <a:chOff x="0" y="0"/>
            <a:chExt cx="560832" cy="560832"/>
          </a:xfrm>
        </p:grpSpPr>
        <p:sp>
          <p:nvSpPr>
            <p:cNvPr name="Freeform 93" id="93"/>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94" id="94"/>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5725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Latar Belakang</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Pariwisata adalah sektor strategis yang terus tumbuh</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0B5E6E"/>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822960" y="1836420"/>
            <a:ext cx="8229600" cy="622935"/>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Proyeksi CAGR nilai tambah bruto 5 tahun ke depan (%)</a:t>
            </a:r>
          </a:p>
        </p:txBody>
      </p:sp>
      <p:sp>
        <p:nvSpPr>
          <p:cNvPr name="TextBox 69" id="69"/>
          <p:cNvSpPr txBox="true"/>
          <p:nvPr/>
        </p:nvSpPr>
        <p:spPr>
          <a:xfrm rot="0">
            <a:off x="822960" y="8652510"/>
            <a:ext cx="8229600" cy="468630"/>
          </a:xfrm>
          <a:prstGeom prst="rect">
            <a:avLst/>
          </a:prstGeom>
        </p:spPr>
        <p:txBody>
          <a:bodyPr anchor="t" rtlCol="false" tIns="0" lIns="0" bIns="0" rIns="0">
            <a:spAutoFit/>
          </a:bodyPr>
          <a:lstStyle/>
          <a:p>
            <a:pPr algn="l">
              <a:lnSpc>
                <a:spcPts val="1889"/>
              </a:lnSpc>
            </a:pPr>
            <a:r>
              <a:rPr lang="en-US" sz="1575">
                <a:solidFill>
                  <a:srgbClr val="5E6E78"/>
                </a:solidFill>
                <a:latin typeface="Calibri (MS)"/>
                <a:ea typeface="Calibri (MS)"/>
                <a:cs typeface="Calibri (MS)"/>
                <a:sym typeface="Calibri (MS)"/>
              </a:rPr>
              <a:t>Sumber: WTTC dalam Statista</a:t>
            </a:r>
          </a:p>
        </p:txBody>
      </p:sp>
      <p:grpSp>
        <p:nvGrpSpPr>
          <p:cNvPr name="Group 70" id="70"/>
          <p:cNvGrpSpPr/>
          <p:nvPr/>
        </p:nvGrpSpPr>
        <p:grpSpPr>
          <a:xfrm rot="0">
            <a:off x="9780365" y="2199132"/>
            <a:ext cx="3652838" cy="3011329"/>
            <a:chOff x="0" y="0"/>
            <a:chExt cx="4870450" cy="4015105"/>
          </a:xfrm>
        </p:grpSpPr>
        <p:sp>
          <p:nvSpPr>
            <p:cNvPr name="Freeform 71" id="71"/>
            <p:cNvSpPr/>
            <p:nvPr/>
          </p:nvSpPr>
          <p:spPr>
            <a:xfrm flipH="false" flipV="false" rot="0">
              <a:off x="0" y="0"/>
              <a:ext cx="4870450" cy="4015105"/>
            </a:xfrm>
            <a:custGeom>
              <a:avLst/>
              <a:gdLst/>
              <a:ahLst/>
              <a:cxnLst/>
              <a:rect r="r" b="b" t="t" l="l"/>
              <a:pathLst>
                <a:path h="4015105" w="4870450">
                  <a:moveTo>
                    <a:pt x="0" y="174625"/>
                  </a:moveTo>
                  <a:cubicBezTo>
                    <a:pt x="0" y="78232"/>
                    <a:pt x="78232" y="0"/>
                    <a:pt x="174625" y="0"/>
                  </a:cubicBezTo>
                  <a:lnTo>
                    <a:pt x="4695825" y="0"/>
                  </a:lnTo>
                  <a:cubicBezTo>
                    <a:pt x="4792218" y="0"/>
                    <a:pt x="4870450" y="78232"/>
                    <a:pt x="4870450" y="174625"/>
                  </a:cubicBezTo>
                  <a:lnTo>
                    <a:pt x="4870450" y="3840480"/>
                  </a:lnTo>
                  <a:cubicBezTo>
                    <a:pt x="4870450" y="3936873"/>
                    <a:pt x="4792218" y="4015105"/>
                    <a:pt x="4695825" y="4015105"/>
                  </a:cubicBezTo>
                  <a:lnTo>
                    <a:pt x="174625" y="4015105"/>
                  </a:lnTo>
                  <a:cubicBezTo>
                    <a:pt x="78232" y="4014978"/>
                    <a:pt x="0" y="3936746"/>
                    <a:pt x="0" y="3840480"/>
                  </a:cubicBezTo>
                  <a:close/>
                </a:path>
              </a:pathLst>
            </a:custGeom>
            <a:solidFill>
              <a:srgbClr val="EAF8FA"/>
            </a:solidFill>
          </p:spPr>
          <p:txBody>
            <a:bodyPr/>
            <a:p/>
          </p:txBody>
        </p:sp>
      </p:grpSp>
      <p:sp>
        <p:nvSpPr>
          <p:cNvPr name="TextBox 72" id="72"/>
          <p:cNvSpPr txBox="true"/>
          <p:nvPr/>
        </p:nvSpPr>
        <p:spPr>
          <a:xfrm rot="0">
            <a:off x="10042217" y="2369315"/>
            <a:ext cx="3142164" cy="379695"/>
          </a:xfrm>
          <a:prstGeom prst="rect">
            <a:avLst/>
          </a:prstGeom>
        </p:spPr>
        <p:txBody>
          <a:bodyPr anchor="t" rtlCol="false" tIns="0" lIns="0" bIns="0" rIns="0">
            <a:spAutoFit/>
          </a:bodyPr>
          <a:lstStyle/>
          <a:p>
            <a:pPr algn="l">
              <a:lnSpc>
                <a:spcPts val="1889"/>
              </a:lnSpc>
            </a:pPr>
            <a:r>
              <a:rPr lang="en-US" sz="1574" b="true">
                <a:solidFill>
                  <a:srgbClr val="5E6E78"/>
                </a:solidFill>
                <a:latin typeface="Calibri (MS) Bold"/>
                <a:ea typeface="Calibri (MS) Bold"/>
                <a:cs typeface="Calibri (MS) Bold"/>
                <a:sym typeface="Calibri (MS) Bold"/>
              </a:rPr>
              <a:t>DUNIA</a:t>
            </a:r>
          </a:p>
        </p:txBody>
      </p:sp>
      <p:grpSp>
        <p:nvGrpSpPr>
          <p:cNvPr name="Group 73" id="73"/>
          <p:cNvGrpSpPr/>
          <p:nvPr/>
        </p:nvGrpSpPr>
        <p:grpSpPr>
          <a:xfrm rot="0">
            <a:off x="10042217" y="2788291"/>
            <a:ext cx="3142202" cy="916495"/>
            <a:chOff x="0" y="0"/>
            <a:chExt cx="4189603" cy="1221994"/>
          </a:xfrm>
        </p:grpSpPr>
        <p:sp>
          <p:nvSpPr>
            <p:cNvPr name="Freeform 74" id="74"/>
            <p:cNvSpPr/>
            <p:nvPr/>
          </p:nvSpPr>
          <p:spPr>
            <a:xfrm flipH="false" flipV="false" rot="0">
              <a:off x="0" y="0"/>
              <a:ext cx="4189603" cy="1221994"/>
            </a:xfrm>
            <a:custGeom>
              <a:avLst/>
              <a:gdLst/>
              <a:ahLst/>
              <a:cxnLst/>
              <a:rect r="r" b="b" t="t" l="l"/>
              <a:pathLst>
                <a:path h="1221994" w="4189603">
                  <a:moveTo>
                    <a:pt x="0" y="0"/>
                  </a:moveTo>
                  <a:lnTo>
                    <a:pt x="4189603" y="0"/>
                  </a:lnTo>
                  <a:lnTo>
                    <a:pt x="4189603" y="1221994"/>
                  </a:lnTo>
                  <a:lnTo>
                    <a:pt x="0" y="1221994"/>
                  </a:lnTo>
                  <a:close/>
                </a:path>
              </a:pathLst>
            </a:custGeom>
            <a:blipFill>
              <a:blip r:embed="rId4">
                <a:alphaModFix amt="0"/>
              </a:blip>
              <a:stretch>
                <a:fillRect l="0" t="-16757" r="0" b="-16758"/>
              </a:stretch>
            </a:blipFill>
          </p:spPr>
          <p:txBody>
            <a:bodyPr/>
            <a:p/>
          </p:txBody>
        </p:sp>
      </p:grpSp>
      <p:grpSp>
        <p:nvGrpSpPr>
          <p:cNvPr name="Group 75" id="75"/>
          <p:cNvGrpSpPr/>
          <p:nvPr/>
        </p:nvGrpSpPr>
        <p:grpSpPr>
          <a:xfrm rot="0">
            <a:off x="10042217" y="2726922"/>
            <a:ext cx="3142164" cy="977836"/>
            <a:chOff x="0" y="0"/>
            <a:chExt cx="4189552" cy="1303782"/>
          </a:xfrm>
        </p:grpSpPr>
        <p:sp>
          <p:nvSpPr>
            <p:cNvPr name="Freeform 76" id="76"/>
            <p:cNvSpPr/>
            <p:nvPr/>
          </p:nvSpPr>
          <p:spPr>
            <a:xfrm flipH="false" flipV="false" rot="0">
              <a:off x="0" y="0"/>
              <a:ext cx="4189603" cy="1303782"/>
            </a:xfrm>
            <a:custGeom>
              <a:avLst/>
              <a:gdLst/>
              <a:ahLst/>
              <a:cxnLst/>
              <a:rect r="r" b="b" t="t" l="l"/>
              <a:pathLst>
                <a:path h="1303782" w="4189603">
                  <a:moveTo>
                    <a:pt x="0" y="0"/>
                  </a:moveTo>
                  <a:lnTo>
                    <a:pt x="4189603" y="0"/>
                  </a:lnTo>
                  <a:lnTo>
                    <a:pt x="4189603" y="1303782"/>
                  </a:lnTo>
                  <a:lnTo>
                    <a:pt x="0" y="1303782"/>
                  </a:lnTo>
                  <a:close/>
                </a:path>
              </a:pathLst>
            </a:custGeom>
            <a:blipFill>
              <a:blip r:embed="rId5">
                <a:alphaModFix amt="0"/>
              </a:blip>
              <a:stretch>
                <a:fillRect l="0" t="-12569" r="1" b="-12568"/>
              </a:stretch>
            </a:blipFill>
          </p:spPr>
          <p:txBody>
            <a:bodyPr/>
            <a:p/>
          </p:txBody>
        </p:sp>
      </p:grpSp>
      <p:grpSp>
        <p:nvGrpSpPr>
          <p:cNvPr name="Group 77" id="77"/>
          <p:cNvGrpSpPr/>
          <p:nvPr/>
        </p:nvGrpSpPr>
        <p:grpSpPr>
          <a:xfrm rot="0">
            <a:off x="10042217" y="2662628"/>
            <a:ext cx="3142164" cy="1042130"/>
            <a:chOff x="0" y="0"/>
            <a:chExt cx="4189552" cy="1389507"/>
          </a:xfrm>
        </p:grpSpPr>
        <p:sp>
          <p:nvSpPr>
            <p:cNvPr name="Freeform 78" id="78"/>
            <p:cNvSpPr/>
            <p:nvPr/>
          </p:nvSpPr>
          <p:spPr>
            <a:xfrm flipH="false" flipV="false" rot="0">
              <a:off x="0" y="0"/>
              <a:ext cx="4189552" cy="1389506"/>
            </a:xfrm>
            <a:custGeom>
              <a:avLst/>
              <a:gdLst/>
              <a:ahLst/>
              <a:cxnLst/>
              <a:rect r="r" b="b" t="t" l="l"/>
              <a:pathLst>
                <a:path h="1389506" w="4189552">
                  <a:moveTo>
                    <a:pt x="0" y="0"/>
                  </a:moveTo>
                  <a:lnTo>
                    <a:pt x="4189552" y="0"/>
                  </a:lnTo>
                  <a:lnTo>
                    <a:pt x="4189552" y="1389506"/>
                  </a:lnTo>
                  <a:lnTo>
                    <a:pt x="0" y="1389506"/>
                  </a:lnTo>
                  <a:close/>
                </a:path>
              </a:pathLst>
            </a:custGeom>
            <a:blipFill>
              <a:blip r:embed="rId6">
                <a:alphaModFix amt="0"/>
              </a:blip>
              <a:stretch>
                <a:fillRect l="0" t="-8750" r="0" b="-8750"/>
              </a:stretch>
            </a:blipFill>
          </p:spPr>
          <p:txBody>
            <a:bodyPr/>
            <a:p/>
          </p:txBody>
        </p:sp>
        <p:sp>
          <p:nvSpPr>
            <p:cNvPr name="TextBox 79" id="79"/>
            <p:cNvSpPr txBox="true"/>
            <p:nvPr/>
          </p:nvSpPr>
          <p:spPr>
            <a:xfrm>
              <a:off x="0" y="-85725"/>
              <a:ext cx="4189552" cy="1475232"/>
            </a:xfrm>
            <a:prstGeom prst="rect">
              <a:avLst/>
            </a:prstGeom>
          </p:spPr>
          <p:txBody>
            <a:bodyPr anchor="ctr" rtlCol="false" tIns="0" lIns="0" bIns="0" rIns="0"/>
            <a:lstStyle/>
            <a:p>
              <a:pPr algn="l">
                <a:lnSpc>
                  <a:spcPts val="5397"/>
                </a:lnSpc>
              </a:pPr>
              <a:r>
                <a:rPr lang="en-US" sz="4499" b="true">
                  <a:solidFill>
                    <a:srgbClr val="0B5E6E"/>
                  </a:solidFill>
                  <a:latin typeface="Calibri (MS) Bold"/>
                  <a:ea typeface="Calibri (MS) Bold"/>
                  <a:cs typeface="Calibri (MS) Bold"/>
                  <a:sym typeface="Calibri (MS) Bold"/>
                </a:rPr>
                <a:t>1,53 miliar</a:t>
              </a:r>
            </a:p>
          </p:txBody>
        </p:sp>
      </p:grpSp>
      <p:sp>
        <p:nvSpPr>
          <p:cNvPr name="TextBox 80" id="80"/>
          <p:cNvSpPr txBox="true"/>
          <p:nvPr/>
        </p:nvSpPr>
        <p:spPr>
          <a:xfrm rot="0">
            <a:off x="10042217" y="3730904"/>
            <a:ext cx="3142164" cy="1348550"/>
          </a:xfrm>
          <a:prstGeom prst="rect">
            <a:avLst/>
          </a:prstGeom>
        </p:spPr>
        <p:txBody>
          <a:bodyPr anchor="t" rtlCol="false" tIns="0" lIns="0" bIns="0" rIns="0">
            <a:spAutoFit/>
          </a:bodyPr>
          <a:lstStyle/>
          <a:p>
            <a:pPr algn="l">
              <a:lnSpc>
                <a:spcPts val="2145"/>
              </a:lnSpc>
            </a:pPr>
            <a:r>
              <a:rPr lang="en-US" sz="1788">
                <a:solidFill>
                  <a:srgbClr val="14313B"/>
                </a:solidFill>
                <a:latin typeface="Calibri (MS)"/>
                <a:ea typeface="Calibri (MS)"/>
                <a:cs typeface="Calibri (MS)"/>
                <a:sym typeface="Calibri (MS)"/>
              </a:rPr>
              <a:t>wisatawan internasional pada 2025 (UN Tourism)</a:t>
            </a:r>
          </a:p>
        </p:txBody>
      </p:sp>
      <p:grpSp>
        <p:nvGrpSpPr>
          <p:cNvPr name="Group 81" id="81"/>
          <p:cNvGrpSpPr/>
          <p:nvPr/>
        </p:nvGrpSpPr>
        <p:grpSpPr>
          <a:xfrm rot="0">
            <a:off x="13694978" y="2199132"/>
            <a:ext cx="3652838" cy="3011329"/>
            <a:chOff x="0" y="0"/>
            <a:chExt cx="4870450" cy="4015105"/>
          </a:xfrm>
        </p:grpSpPr>
        <p:sp>
          <p:nvSpPr>
            <p:cNvPr name="Freeform 82" id="82"/>
            <p:cNvSpPr/>
            <p:nvPr/>
          </p:nvSpPr>
          <p:spPr>
            <a:xfrm flipH="false" flipV="false" rot="0">
              <a:off x="0" y="0"/>
              <a:ext cx="4870450" cy="4015105"/>
            </a:xfrm>
            <a:custGeom>
              <a:avLst/>
              <a:gdLst/>
              <a:ahLst/>
              <a:cxnLst/>
              <a:rect r="r" b="b" t="t" l="l"/>
              <a:pathLst>
                <a:path h="4015105" w="4870450">
                  <a:moveTo>
                    <a:pt x="0" y="174625"/>
                  </a:moveTo>
                  <a:cubicBezTo>
                    <a:pt x="0" y="78232"/>
                    <a:pt x="78232" y="0"/>
                    <a:pt x="174625" y="0"/>
                  </a:cubicBezTo>
                  <a:lnTo>
                    <a:pt x="4695825" y="0"/>
                  </a:lnTo>
                  <a:cubicBezTo>
                    <a:pt x="4792218" y="0"/>
                    <a:pt x="4870450" y="78232"/>
                    <a:pt x="4870450" y="174625"/>
                  </a:cubicBezTo>
                  <a:lnTo>
                    <a:pt x="4870450" y="3840480"/>
                  </a:lnTo>
                  <a:cubicBezTo>
                    <a:pt x="4870450" y="3936873"/>
                    <a:pt x="4792218" y="4015105"/>
                    <a:pt x="4695825" y="4015105"/>
                  </a:cubicBezTo>
                  <a:lnTo>
                    <a:pt x="174625" y="4015105"/>
                  </a:lnTo>
                  <a:cubicBezTo>
                    <a:pt x="78232" y="4014978"/>
                    <a:pt x="0" y="3936746"/>
                    <a:pt x="0" y="3840480"/>
                  </a:cubicBezTo>
                  <a:close/>
                </a:path>
              </a:pathLst>
            </a:custGeom>
            <a:solidFill>
              <a:srgbClr val="EAF8FA"/>
            </a:solidFill>
          </p:spPr>
          <p:txBody>
            <a:bodyPr/>
            <a:p/>
          </p:txBody>
        </p:sp>
      </p:grpSp>
      <p:sp>
        <p:nvSpPr>
          <p:cNvPr name="TextBox 83" id="83"/>
          <p:cNvSpPr txBox="true"/>
          <p:nvPr/>
        </p:nvSpPr>
        <p:spPr>
          <a:xfrm rot="0">
            <a:off x="13956830" y="2369315"/>
            <a:ext cx="3142164" cy="379695"/>
          </a:xfrm>
          <a:prstGeom prst="rect">
            <a:avLst/>
          </a:prstGeom>
        </p:spPr>
        <p:txBody>
          <a:bodyPr anchor="t" rtlCol="false" tIns="0" lIns="0" bIns="0" rIns="0">
            <a:spAutoFit/>
          </a:bodyPr>
          <a:lstStyle/>
          <a:p>
            <a:pPr algn="l">
              <a:lnSpc>
                <a:spcPts val="1889"/>
              </a:lnSpc>
            </a:pPr>
            <a:r>
              <a:rPr lang="en-US" sz="1574" b="true">
                <a:solidFill>
                  <a:srgbClr val="5E6E78"/>
                </a:solidFill>
                <a:latin typeface="Calibri (MS) Bold"/>
                <a:ea typeface="Calibri (MS) Bold"/>
                <a:cs typeface="Calibri (MS) Bold"/>
                <a:sym typeface="Calibri (MS) Bold"/>
              </a:rPr>
              <a:t>DUNIA</a:t>
            </a:r>
          </a:p>
        </p:txBody>
      </p:sp>
      <p:grpSp>
        <p:nvGrpSpPr>
          <p:cNvPr name="Group 84" id="84"/>
          <p:cNvGrpSpPr/>
          <p:nvPr/>
        </p:nvGrpSpPr>
        <p:grpSpPr>
          <a:xfrm rot="0">
            <a:off x="13956830" y="2788291"/>
            <a:ext cx="3142202" cy="916495"/>
            <a:chOff x="0" y="0"/>
            <a:chExt cx="4189603" cy="1221994"/>
          </a:xfrm>
        </p:grpSpPr>
        <p:sp>
          <p:nvSpPr>
            <p:cNvPr name="Freeform 85" id="85"/>
            <p:cNvSpPr/>
            <p:nvPr/>
          </p:nvSpPr>
          <p:spPr>
            <a:xfrm flipH="false" flipV="false" rot="0">
              <a:off x="0" y="0"/>
              <a:ext cx="4189603" cy="1221994"/>
            </a:xfrm>
            <a:custGeom>
              <a:avLst/>
              <a:gdLst/>
              <a:ahLst/>
              <a:cxnLst/>
              <a:rect r="r" b="b" t="t" l="l"/>
              <a:pathLst>
                <a:path h="1221994" w="4189603">
                  <a:moveTo>
                    <a:pt x="0" y="0"/>
                  </a:moveTo>
                  <a:lnTo>
                    <a:pt x="4189603" y="0"/>
                  </a:lnTo>
                  <a:lnTo>
                    <a:pt x="4189603" y="1221994"/>
                  </a:lnTo>
                  <a:lnTo>
                    <a:pt x="0" y="1221994"/>
                  </a:lnTo>
                  <a:close/>
                </a:path>
              </a:pathLst>
            </a:custGeom>
            <a:blipFill>
              <a:blip r:embed="rId4">
                <a:alphaModFix amt="0"/>
              </a:blip>
              <a:stretch>
                <a:fillRect l="0" t="-16757" r="0" b="-16758"/>
              </a:stretch>
            </a:blipFill>
          </p:spPr>
          <p:txBody>
            <a:bodyPr/>
            <a:p/>
          </p:txBody>
        </p:sp>
      </p:grpSp>
      <p:grpSp>
        <p:nvGrpSpPr>
          <p:cNvPr name="Group 86" id="86"/>
          <p:cNvGrpSpPr/>
          <p:nvPr/>
        </p:nvGrpSpPr>
        <p:grpSpPr>
          <a:xfrm rot="0">
            <a:off x="13956830" y="2726922"/>
            <a:ext cx="3142164" cy="977836"/>
            <a:chOff x="0" y="0"/>
            <a:chExt cx="4189552" cy="1303782"/>
          </a:xfrm>
        </p:grpSpPr>
        <p:sp>
          <p:nvSpPr>
            <p:cNvPr name="Freeform 87" id="87"/>
            <p:cNvSpPr/>
            <p:nvPr/>
          </p:nvSpPr>
          <p:spPr>
            <a:xfrm flipH="false" flipV="false" rot="0">
              <a:off x="0" y="0"/>
              <a:ext cx="4189603" cy="1303782"/>
            </a:xfrm>
            <a:custGeom>
              <a:avLst/>
              <a:gdLst/>
              <a:ahLst/>
              <a:cxnLst/>
              <a:rect r="r" b="b" t="t" l="l"/>
              <a:pathLst>
                <a:path h="1303782" w="4189603">
                  <a:moveTo>
                    <a:pt x="0" y="0"/>
                  </a:moveTo>
                  <a:lnTo>
                    <a:pt x="4189603" y="0"/>
                  </a:lnTo>
                  <a:lnTo>
                    <a:pt x="4189603" y="1303782"/>
                  </a:lnTo>
                  <a:lnTo>
                    <a:pt x="0" y="1303782"/>
                  </a:lnTo>
                  <a:close/>
                </a:path>
              </a:pathLst>
            </a:custGeom>
            <a:blipFill>
              <a:blip r:embed="rId5">
                <a:alphaModFix amt="0"/>
              </a:blip>
              <a:stretch>
                <a:fillRect l="0" t="-12569" r="1" b="-12568"/>
              </a:stretch>
            </a:blipFill>
          </p:spPr>
          <p:txBody>
            <a:bodyPr/>
            <a:p/>
          </p:txBody>
        </p:sp>
      </p:grpSp>
      <p:grpSp>
        <p:nvGrpSpPr>
          <p:cNvPr name="Group 88" id="88"/>
          <p:cNvGrpSpPr/>
          <p:nvPr/>
        </p:nvGrpSpPr>
        <p:grpSpPr>
          <a:xfrm rot="0">
            <a:off x="13956830" y="2662628"/>
            <a:ext cx="3142164" cy="1042130"/>
            <a:chOff x="0" y="0"/>
            <a:chExt cx="4189552" cy="1389507"/>
          </a:xfrm>
        </p:grpSpPr>
        <p:sp>
          <p:nvSpPr>
            <p:cNvPr name="Freeform 89" id="89"/>
            <p:cNvSpPr/>
            <p:nvPr/>
          </p:nvSpPr>
          <p:spPr>
            <a:xfrm flipH="false" flipV="false" rot="0">
              <a:off x="0" y="0"/>
              <a:ext cx="4189552" cy="1389506"/>
            </a:xfrm>
            <a:custGeom>
              <a:avLst/>
              <a:gdLst/>
              <a:ahLst/>
              <a:cxnLst/>
              <a:rect r="r" b="b" t="t" l="l"/>
              <a:pathLst>
                <a:path h="1389506" w="4189552">
                  <a:moveTo>
                    <a:pt x="0" y="0"/>
                  </a:moveTo>
                  <a:lnTo>
                    <a:pt x="4189552" y="0"/>
                  </a:lnTo>
                  <a:lnTo>
                    <a:pt x="4189552" y="1389506"/>
                  </a:lnTo>
                  <a:lnTo>
                    <a:pt x="0" y="1389506"/>
                  </a:lnTo>
                  <a:close/>
                </a:path>
              </a:pathLst>
            </a:custGeom>
            <a:blipFill>
              <a:blip r:embed="rId6">
                <a:alphaModFix amt="0"/>
              </a:blip>
              <a:stretch>
                <a:fillRect l="0" t="-8750" r="0" b="-8750"/>
              </a:stretch>
            </a:blipFill>
          </p:spPr>
          <p:txBody>
            <a:bodyPr/>
            <a:p/>
          </p:txBody>
        </p:sp>
        <p:sp>
          <p:nvSpPr>
            <p:cNvPr name="TextBox 90" id="90"/>
            <p:cNvSpPr txBox="true"/>
            <p:nvPr/>
          </p:nvSpPr>
          <p:spPr>
            <a:xfrm>
              <a:off x="0" y="-85725"/>
              <a:ext cx="4189552" cy="1475232"/>
            </a:xfrm>
            <a:prstGeom prst="rect">
              <a:avLst/>
            </a:prstGeom>
          </p:spPr>
          <p:txBody>
            <a:bodyPr anchor="ctr" rtlCol="false" tIns="0" lIns="0" bIns="0" rIns="0"/>
            <a:lstStyle/>
            <a:p>
              <a:pPr algn="l">
                <a:lnSpc>
                  <a:spcPts val="5397"/>
                </a:lnSpc>
              </a:pPr>
              <a:r>
                <a:rPr lang="en-US" sz="4499" b="true">
                  <a:solidFill>
                    <a:srgbClr val="0B5E6E"/>
                  </a:solidFill>
                  <a:latin typeface="Calibri (MS) Bold"/>
                  <a:ea typeface="Calibri (MS) Bold"/>
                  <a:cs typeface="Calibri (MS) Bold"/>
                  <a:sym typeface="Calibri (MS) Bold"/>
                </a:rPr>
                <a:t>10%</a:t>
              </a:r>
            </a:p>
          </p:txBody>
        </p:sp>
      </p:grpSp>
      <p:sp>
        <p:nvSpPr>
          <p:cNvPr name="TextBox 91" id="91"/>
          <p:cNvSpPr txBox="true"/>
          <p:nvPr/>
        </p:nvSpPr>
        <p:spPr>
          <a:xfrm rot="0">
            <a:off x="13956830" y="3730904"/>
            <a:ext cx="3142164" cy="1348550"/>
          </a:xfrm>
          <a:prstGeom prst="rect">
            <a:avLst/>
          </a:prstGeom>
        </p:spPr>
        <p:txBody>
          <a:bodyPr anchor="t" rtlCol="false" tIns="0" lIns="0" bIns="0" rIns="0">
            <a:spAutoFit/>
          </a:bodyPr>
          <a:lstStyle/>
          <a:p>
            <a:pPr algn="l">
              <a:lnSpc>
                <a:spcPts val="2145"/>
              </a:lnSpc>
            </a:pPr>
            <a:r>
              <a:rPr lang="en-US" sz="1788">
                <a:solidFill>
                  <a:srgbClr val="14313B"/>
                </a:solidFill>
                <a:latin typeface="Calibri (MS)"/>
                <a:ea typeface="Calibri (MS)"/>
                <a:cs typeface="Calibri (MS)"/>
                <a:sym typeface="Calibri (MS)"/>
              </a:rPr>
              <a:t>kontribusi pariwisata terhadap PDB global 2024 (WTTC)</a:t>
            </a:r>
          </a:p>
        </p:txBody>
      </p:sp>
      <p:grpSp>
        <p:nvGrpSpPr>
          <p:cNvPr name="Group 92" id="92"/>
          <p:cNvGrpSpPr/>
          <p:nvPr/>
        </p:nvGrpSpPr>
        <p:grpSpPr>
          <a:xfrm rot="0">
            <a:off x="9780365" y="5472217"/>
            <a:ext cx="3652838" cy="3011329"/>
            <a:chOff x="0" y="0"/>
            <a:chExt cx="4870450" cy="4015105"/>
          </a:xfrm>
        </p:grpSpPr>
        <p:sp>
          <p:nvSpPr>
            <p:cNvPr name="Freeform 93" id="93"/>
            <p:cNvSpPr/>
            <p:nvPr/>
          </p:nvSpPr>
          <p:spPr>
            <a:xfrm flipH="false" flipV="false" rot="0">
              <a:off x="0" y="0"/>
              <a:ext cx="4870450" cy="4015105"/>
            </a:xfrm>
            <a:custGeom>
              <a:avLst/>
              <a:gdLst/>
              <a:ahLst/>
              <a:cxnLst/>
              <a:rect r="r" b="b" t="t" l="l"/>
              <a:pathLst>
                <a:path h="4015105" w="4870450">
                  <a:moveTo>
                    <a:pt x="0" y="174625"/>
                  </a:moveTo>
                  <a:cubicBezTo>
                    <a:pt x="0" y="78232"/>
                    <a:pt x="78232" y="0"/>
                    <a:pt x="174625" y="0"/>
                  </a:cubicBezTo>
                  <a:lnTo>
                    <a:pt x="4695825" y="0"/>
                  </a:lnTo>
                  <a:cubicBezTo>
                    <a:pt x="4792218" y="0"/>
                    <a:pt x="4870450" y="78232"/>
                    <a:pt x="4870450" y="174625"/>
                  </a:cubicBezTo>
                  <a:lnTo>
                    <a:pt x="4870450" y="3840480"/>
                  </a:lnTo>
                  <a:cubicBezTo>
                    <a:pt x="4870450" y="3936873"/>
                    <a:pt x="4792218" y="4015105"/>
                    <a:pt x="4695825" y="4015105"/>
                  </a:cubicBezTo>
                  <a:lnTo>
                    <a:pt x="174625" y="4015105"/>
                  </a:lnTo>
                  <a:cubicBezTo>
                    <a:pt x="78232" y="4014978"/>
                    <a:pt x="0" y="3936746"/>
                    <a:pt x="0" y="3840480"/>
                  </a:cubicBezTo>
                  <a:close/>
                </a:path>
              </a:pathLst>
            </a:custGeom>
            <a:solidFill>
              <a:srgbClr val="FFF1BF"/>
            </a:solidFill>
          </p:spPr>
          <p:txBody>
            <a:bodyPr/>
            <a:p/>
          </p:txBody>
        </p:sp>
      </p:grpSp>
      <p:sp>
        <p:nvSpPr>
          <p:cNvPr name="TextBox 94" id="94"/>
          <p:cNvSpPr txBox="true"/>
          <p:nvPr/>
        </p:nvSpPr>
        <p:spPr>
          <a:xfrm rot="0">
            <a:off x="10042217" y="5642400"/>
            <a:ext cx="3142164" cy="288779"/>
          </a:xfrm>
          <a:prstGeom prst="rect">
            <a:avLst/>
          </a:prstGeom>
        </p:spPr>
        <p:txBody>
          <a:bodyPr anchor="t" rtlCol="false" tIns="0" lIns="0" bIns="0" rIns="0">
            <a:spAutoFit/>
          </a:bodyPr>
          <a:lstStyle/>
          <a:p>
            <a:pPr algn="l">
              <a:lnSpc>
                <a:spcPts val="1889"/>
              </a:lnSpc>
            </a:pPr>
            <a:r>
              <a:rPr lang="en-US" sz="1574" b="true">
                <a:solidFill>
                  <a:srgbClr val="5E6E78"/>
                </a:solidFill>
                <a:latin typeface="Calibri (MS) Bold"/>
                <a:ea typeface="Calibri (MS) Bold"/>
                <a:cs typeface="Calibri (MS) Bold"/>
                <a:sym typeface="Calibri (MS) Bold"/>
              </a:rPr>
              <a:t>INDONESIA</a:t>
            </a:r>
          </a:p>
        </p:txBody>
      </p:sp>
      <p:grpSp>
        <p:nvGrpSpPr>
          <p:cNvPr name="Group 95" id="95"/>
          <p:cNvGrpSpPr/>
          <p:nvPr/>
        </p:nvGrpSpPr>
        <p:grpSpPr>
          <a:xfrm rot="0">
            <a:off x="10042217" y="6061377"/>
            <a:ext cx="3142202" cy="916495"/>
            <a:chOff x="0" y="0"/>
            <a:chExt cx="4189603" cy="1221994"/>
          </a:xfrm>
        </p:grpSpPr>
        <p:sp>
          <p:nvSpPr>
            <p:cNvPr name="Freeform 96" id="96"/>
            <p:cNvSpPr/>
            <p:nvPr/>
          </p:nvSpPr>
          <p:spPr>
            <a:xfrm flipH="false" flipV="false" rot="0">
              <a:off x="0" y="0"/>
              <a:ext cx="4189603" cy="1221994"/>
            </a:xfrm>
            <a:custGeom>
              <a:avLst/>
              <a:gdLst/>
              <a:ahLst/>
              <a:cxnLst/>
              <a:rect r="r" b="b" t="t" l="l"/>
              <a:pathLst>
                <a:path h="1221994" w="4189603">
                  <a:moveTo>
                    <a:pt x="0" y="0"/>
                  </a:moveTo>
                  <a:lnTo>
                    <a:pt x="4189603" y="0"/>
                  </a:lnTo>
                  <a:lnTo>
                    <a:pt x="4189603" y="1221994"/>
                  </a:lnTo>
                  <a:lnTo>
                    <a:pt x="0" y="1221994"/>
                  </a:lnTo>
                  <a:close/>
                </a:path>
              </a:pathLst>
            </a:custGeom>
            <a:blipFill>
              <a:blip r:embed="rId4">
                <a:alphaModFix amt="0"/>
              </a:blip>
              <a:stretch>
                <a:fillRect l="0" t="-16757" r="0" b="-16758"/>
              </a:stretch>
            </a:blipFill>
          </p:spPr>
          <p:txBody>
            <a:bodyPr/>
            <a:p/>
          </p:txBody>
        </p:sp>
      </p:grpSp>
      <p:grpSp>
        <p:nvGrpSpPr>
          <p:cNvPr name="Group 97" id="97"/>
          <p:cNvGrpSpPr/>
          <p:nvPr/>
        </p:nvGrpSpPr>
        <p:grpSpPr>
          <a:xfrm rot="0">
            <a:off x="10042217" y="6000007"/>
            <a:ext cx="3142164" cy="977836"/>
            <a:chOff x="0" y="0"/>
            <a:chExt cx="4189552" cy="1303782"/>
          </a:xfrm>
        </p:grpSpPr>
        <p:sp>
          <p:nvSpPr>
            <p:cNvPr name="Freeform 98" id="98"/>
            <p:cNvSpPr/>
            <p:nvPr/>
          </p:nvSpPr>
          <p:spPr>
            <a:xfrm flipH="false" flipV="false" rot="0">
              <a:off x="0" y="0"/>
              <a:ext cx="4189603" cy="1303782"/>
            </a:xfrm>
            <a:custGeom>
              <a:avLst/>
              <a:gdLst/>
              <a:ahLst/>
              <a:cxnLst/>
              <a:rect r="r" b="b" t="t" l="l"/>
              <a:pathLst>
                <a:path h="1303782" w="4189603">
                  <a:moveTo>
                    <a:pt x="0" y="0"/>
                  </a:moveTo>
                  <a:lnTo>
                    <a:pt x="4189603" y="0"/>
                  </a:lnTo>
                  <a:lnTo>
                    <a:pt x="4189603" y="1303782"/>
                  </a:lnTo>
                  <a:lnTo>
                    <a:pt x="0" y="1303782"/>
                  </a:lnTo>
                  <a:close/>
                </a:path>
              </a:pathLst>
            </a:custGeom>
            <a:blipFill>
              <a:blip r:embed="rId5">
                <a:alphaModFix amt="0"/>
              </a:blip>
              <a:stretch>
                <a:fillRect l="0" t="-12569" r="1" b="-12568"/>
              </a:stretch>
            </a:blipFill>
          </p:spPr>
          <p:txBody>
            <a:bodyPr/>
            <a:p/>
          </p:txBody>
        </p:sp>
      </p:grpSp>
      <p:grpSp>
        <p:nvGrpSpPr>
          <p:cNvPr name="Group 99" id="99"/>
          <p:cNvGrpSpPr/>
          <p:nvPr/>
        </p:nvGrpSpPr>
        <p:grpSpPr>
          <a:xfrm rot="0">
            <a:off x="10042217" y="5935713"/>
            <a:ext cx="3142164" cy="1042130"/>
            <a:chOff x="0" y="0"/>
            <a:chExt cx="4189552" cy="1389507"/>
          </a:xfrm>
        </p:grpSpPr>
        <p:sp>
          <p:nvSpPr>
            <p:cNvPr name="Freeform 100" id="100"/>
            <p:cNvSpPr/>
            <p:nvPr/>
          </p:nvSpPr>
          <p:spPr>
            <a:xfrm flipH="false" flipV="false" rot="0">
              <a:off x="0" y="0"/>
              <a:ext cx="4189552" cy="1389506"/>
            </a:xfrm>
            <a:custGeom>
              <a:avLst/>
              <a:gdLst/>
              <a:ahLst/>
              <a:cxnLst/>
              <a:rect r="r" b="b" t="t" l="l"/>
              <a:pathLst>
                <a:path h="1389506" w="4189552">
                  <a:moveTo>
                    <a:pt x="0" y="0"/>
                  </a:moveTo>
                  <a:lnTo>
                    <a:pt x="4189552" y="0"/>
                  </a:lnTo>
                  <a:lnTo>
                    <a:pt x="4189552" y="1389506"/>
                  </a:lnTo>
                  <a:lnTo>
                    <a:pt x="0" y="1389506"/>
                  </a:lnTo>
                  <a:close/>
                </a:path>
              </a:pathLst>
            </a:custGeom>
            <a:blipFill>
              <a:blip r:embed="rId6">
                <a:alphaModFix amt="0"/>
              </a:blip>
              <a:stretch>
                <a:fillRect l="0" t="-8750" r="0" b="-8750"/>
              </a:stretch>
            </a:blipFill>
          </p:spPr>
          <p:txBody>
            <a:bodyPr/>
            <a:p/>
          </p:txBody>
        </p:sp>
        <p:sp>
          <p:nvSpPr>
            <p:cNvPr name="TextBox 101" id="101"/>
            <p:cNvSpPr txBox="true"/>
            <p:nvPr/>
          </p:nvSpPr>
          <p:spPr>
            <a:xfrm>
              <a:off x="0" y="-85725"/>
              <a:ext cx="4189552" cy="1475232"/>
            </a:xfrm>
            <a:prstGeom prst="rect">
              <a:avLst/>
            </a:prstGeom>
          </p:spPr>
          <p:txBody>
            <a:bodyPr anchor="ctr" rtlCol="false" tIns="0" lIns="0" bIns="0" rIns="0"/>
            <a:lstStyle/>
            <a:p>
              <a:pPr algn="l">
                <a:lnSpc>
                  <a:spcPts val="5397"/>
                </a:lnSpc>
              </a:pPr>
              <a:r>
                <a:rPr lang="en-US" sz="4499" b="true">
                  <a:solidFill>
                    <a:srgbClr val="0B5E6E"/>
                  </a:solidFill>
                  <a:latin typeface="Calibri (MS) Bold"/>
                  <a:ea typeface="Calibri (MS) Bold"/>
                  <a:cs typeface="Calibri (MS) Bold"/>
                  <a:sym typeface="Calibri (MS) Bold"/>
                </a:rPr>
                <a:t>2,2% → 4,9%</a:t>
              </a:r>
            </a:p>
          </p:txBody>
        </p:sp>
      </p:grpSp>
      <p:sp>
        <p:nvSpPr>
          <p:cNvPr name="TextBox 102" id="102"/>
          <p:cNvSpPr txBox="true"/>
          <p:nvPr/>
        </p:nvSpPr>
        <p:spPr>
          <a:xfrm rot="0">
            <a:off x="10042217" y="7003990"/>
            <a:ext cx="3142164" cy="650291"/>
          </a:xfrm>
          <a:prstGeom prst="rect">
            <a:avLst/>
          </a:prstGeom>
        </p:spPr>
        <p:txBody>
          <a:bodyPr anchor="t" rtlCol="false" tIns="0" lIns="0" bIns="0" rIns="0">
            <a:spAutoFit/>
          </a:bodyPr>
          <a:lstStyle/>
          <a:p>
            <a:pPr algn="l">
              <a:lnSpc>
                <a:spcPts val="2145"/>
              </a:lnSpc>
            </a:pPr>
            <a:r>
              <a:rPr lang="en-US" sz="1788">
                <a:solidFill>
                  <a:srgbClr val="14313B"/>
                </a:solidFill>
                <a:latin typeface="Calibri (MS)"/>
                <a:ea typeface="Calibri (MS)"/>
                <a:cs typeface="Calibri (MS)"/>
                <a:sym typeface="Calibri (MS)"/>
              </a:rPr>
              <a:t>kontribusi terhadap PDB, 2020 → 2025</a:t>
            </a:r>
          </a:p>
        </p:txBody>
      </p:sp>
      <p:grpSp>
        <p:nvGrpSpPr>
          <p:cNvPr name="Group 103" id="103"/>
          <p:cNvGrpSpPr/>
          <p:nvPr/>
        </p:nvGrpSpPr>
        <p:grpSpPr>
          <a:xfrm rot="0">
            <a:off x="13694978" y="5472217"/>
            <a:ext cx="3652838" cy="3011329"/>
            <a:chOff x="0" y="0"/>
            <a:chExt cx="4870450" cy="4015105"/>
          </a:xfrm>
        </p:grpSpPr>
        <p:sp>
          <p:nvSpPr>
            <p:cNvPr name="Freeform 104" id="104"/>
            <p:cNvSpPr/>
            <p:nvPr/>
          </p:nvSpPr>
          <p:spPr>
            <a:xfrm flipH="false" flipV="false" rot="0">
              <a:off x="0" y="0"/>
              <a:ext cx="4870450" cy="4015105"/>
            </a:xfrm>
            <a:custGeom>
              <a:avLst/>
              <a:gdLst/>
              <a:ahLst/>
              <a:cxnLst/>
              <a:rect r="r" b="b" t="t" l="l"/>
              <a:pathLst>
                <a:path h="4015105" w="4870450">
                  <a:moveTo>
                    <a:pt x="0" y="174625"/>
                  </a:moveTo>
                  <a:cubicBezTo>
                    <a:pt x="0" y="78232"/>
                    <a:pt x="78232" y="0"/>
                    <a:pt x="174625" y="0"/>
                  </a:cubicBezTo>
                  <a:lnTo>
                    <a:pt x="4695825" y="0"/>
                  </a:lnTo>
                  <a:cubicBezTo>
                    <a:pt x="4792218" y="0"/>
                    <a:pt x="4870450" y="78232"/>
                    <a:pt x="4870450" y="174625"/>
                  </a:cubicBezTo>
                  <a:lnTo>
                    <a:pt x="4870450" y="3840480"/>
                  </a:lnTo>
                  <a:cubicBezTo>
                    <a:pt x="4870450" y="3936873"/>
                    <a:pt x="4792218" y="4015105"/>
                    <a:pt x="4695825" y="4015105"/>
                  </a:cubicBezTo>
                  <a:lnTo>
                    <a:pt x="174625" y="4015105"/>
                  </a:lnTo>
                  <a:cubicBezTo>
                    <a:pt x="78232" y="4014978"/>
                    <a:pt x="0" y="3936746"/>
                    <a:pt x="0" y="3840480"/>
                  </a:cubicBezTo>
                  <a:close/>
                </a:path>
              </a:pathLst>
            </a:custGeom>
            <a:solidFill>
              <a:srgbClr val="FFF1BF"/>
            </a:solidFill>
          </p:spPr>
          <p:txBody>
            <a:bodyPr/>
            <a:p/>
          </p:txBody>
        </p:sp>
      </p:grpSp>
      <p:sp>
        <p:nvSpPr>
          <p:cNvPr name="TextBox 105" id="105"/>
          <p:cNvSpPr txBox="true"/>
          <p:nvPr/>
        </p:nvSpPr>
        <p:spPr>
          <a:xfrm rot="0">
            <a:off x="13956830" y="5642400"/>
            <a:ext cx="3142164" cy="379695"/>
          </a:xfrm>
          <a:prstGeom prst="rect">
            <a:avLst/>
          </a:prstGeom>
        </p:spPr>
        <p:txBody>
          <a:bodyPr anchor="t" rtlCol="false" tIns="0" lIns="0" bIns="0" rIns="0">
            <a:spAutoFit/>
          </a:bodyPr>
          <a:lstStyle/>
          <a:p>
            <a:pPr algn="l">
              <a:lnSpc>
                <a:spcPts val="1889"/>
              </a:lnSpc>
            </a:pPr>
            <a:r>
              <a:rPr lang="en-US" sz="1574" b="true">
                <a:solidFill>
                  <a:srgbClr val="5E6E78"/>
                </a:solidFill>
                <a:latin typeface="Calibri (MS) Bold"/>
                <a:ea typeface="Calibri (MS) Bold"/>
                <a:cs typeface="Calibri (MS) Bold"/>
                <a:sym typeface="Calibri (MS) Bold"/>
              </a:rPr>
              <a:t>INDONESIA</a:t>
            </a:r>
          </a:p>
        </p:txBody>
      </p:sp>
      <p:grpSp>
        <p:nvGrpSpPr>
          <p:cNvPr name="Group 106" id="106"/>
          <p:cNvGrpSpPr/>
          <p:nvPr/>
        </p:nvGrpSpPr>
        <p:grpSpPr>
          <a:xfrm rot="0">
            <a:off x="13956830" y="6061377"/>
            <a:ext cx="3142202" cy="916495"/>
            <a:chOff x="0" y="0"/>
            <a:chExt cx="4189603" cy="1221994"/>
          </a:xfrm>
        </p:grpSpPr>
        <p:sp>
          <p:nvSpPr>
            <p:cNvPr name="Freeform 107" id="107"/>
            <p:cNvSpPr/>
            <p:nvPr/>
          </p:nvSpPr>
          <p:spPr>
            <a:xfrm flipH="false" flipV="false" rot="0">
              <a:off x="0" y="0"/>
              <a:ext cx="4189603" cy="1221994"/>
            </a:xfrm>
            <a:custGeom>
              <a:avLst/>
              <a:gdLst/>
              <a:ahLst/>
              <a:cxnLst/>
              <a:rect r="r" b="b" t="t" l="l"/>
              <a:pathLst>
                <a:path h="1221994" w="4189603">
                  <a:moveTo>
                    <a:pt x="0" y="0"/>
                  </a:moveTo>
                  <a:lnTo>
                    <a:pt x="4189603" y="0"/>
                  </a:lnTo>
                  <a:lnTo>
                    <a:pt x="4189603" y="1221994"/>
                  </a:lnTo>
                  <a:lnTo>
                    <a:pt x="0" y="1221994"/>
                  </a:lnTo>
                  <a:close/>
                </a:path>
              </a:pathLst>
            </a:custGeom>
            <a:blipFill>
              <a:blip r:embed="rId4">
                <a:alphaModFix amt="0"/>
              </a:blip>
              <a:stretch>
                <a:fillRect l="0" t="-16757" r="0" b="-16758"/>
              </a:stretch>
            </a:blipFill>
          </p:spPr>
          <p:txBody>
            <a:bodyPr/>
            <a:p/>
          </p:txBody>
        </p:sp>
      </p:grpSp>
      <p:grpSp>
        <p:nvGrpSpPr>
          <p:cNvPr name="Group 108" id="108"/>
          <p:cNvGrpSpPr/>
          <p:nvPr/>
        </p:nvGrpSpPr>
        <p:grpSpPr>
          <a:xfrm rot="0">
            <a:off x="13956830" y="6000007"/>
            <a:ext cx="3142164" cy="977836"/>
            <a:chOff x="0" y="0"/>
            <a:chExt cx="4189552" cy="1303782"/>
          </a:xfrm>
        </p:grpSpPr>
        <p:sp>
          <p:nvSpPr>
            <p:cNvPr name="Freeform 109" id="109"/>
            <p:cNvSpPr/>
            <p:nvPr/>
          </p:nvSpPr>
          <p:spPr>
            <a:xfrm flipH="false" flipV="false" rot="0">
              <a:off x="0" y="0"/>
              <a:ext cx="4189603" cy="1303782"/>
            </a:xfrm>
            <a:custGeom>
              <a:avLst/>
              <a:gdLst/>
              <a:ahLst/>
              <a:cxnLst/>
              <a:rect r="r" b="b" t="t" l="l"/>
              <a:pathLst>
                <a:path h="1303782" w="4189603">
                  <a:moveTo>
                    <a:pt x="0" y="0"/>
                  </a:moveTo>
                  <a:lnTo>
                    <a:pt x="4189603" y="0"/>
                  </a:lnTo>
                  <a:lnTo>
                    <a:pt x="4189603" y="1303782"/>
                  </a:lnTo>
                  <a:lnTo>
                    <a:pt x="0" y="1303782"/>
                  </a:lnTo>
                  <a:close/>
                </a:path>
              </a:pathLst>
            </a:custGeom>
            <a:blipFill>
              <a:blip r:embed="rId5">
                <a:alphaModFix amt="0"/>
              </a:blip>
              <a:stretch>
                <a:fillRect l="0" t="-12569" r="1" b="-12568"/>
              </a:stretch>
            </a:blipFill>
          </p:spPr>
          <p:txBody>
            <a:bodyPr/>
            <a:p/>
          </p:txBody>
        </p:sp>
      </p:grpSp>
      <p:grpSp>
        <p:nvGrpSpPr>
          <p:cNvPr name="Group 110" id="110"/>
          <p:cNvGrpSpPr/>
          <p:nvPr/>
        </p:nvGrpSpPr>
        <p:grpSpPr>
          <a:xfrm rot="0">
            <a:off x="13956830" y="5935713"/>
            <a:ext cx="3142164" cy="1042130"/>
            <a:chOff x="0" y="0"/>
            <a:chExt cx="4189552" cy="1389507"/>
          </a:xfrm>
        </p:grpSpPr>
        <p:sp>
          <p:nvSpPr>
            <p:cNvPr name="Freeform 111" id="111"/>
            <p:cNvSpPr/>
            <p:nvPr/>
          </p:nvSpPr>
          <p:spPr>
            <a:xfrm flipH="false" flipV="false" rot="0">
              <a:off x="0" y="0"/>
              <a:ext cx="4189552" cy="1389506"/>
            </a:xfrm>
            <a:custGeom>
              <a:avLst/>
              <a:gdLst/>
              <a:ahLst/>
              <a:cxnLst/>
              <a:rect r="r" b="b" t="t" l="l"/>
              <a:pathLst>
                <a:path h="1389506" w="4189552">
                  <a:moveTo>
                    <a:pt x="0" y="0"/>
                  </a:moveTo>
                  <a:lnTo>
                    <a:pt x="4189552" y="0"/>
                  </a:lnTo>
                  <a:lnTo>
                    <a:pt x="4189552" y="1389506"/>
                  </a:lnTo>
                  <a:lnTo>
                    <a:pt x="0" y="1389506"/>
                  </a:lnTo>
                  <a:close/>
                </a:path>
              </a:pathLst>
            </a:custGeom>
            <a:blipFill>
              <a:blip r:embed="rId6">
                <a:alphaModFix amt="0"/>
              </a:blip>
              <a:stretch>
                <a:fillRect l="0" t="-8750" r="0" b="-8750"/>
              </a:stretch>
            </a:blipFill>
          </p:spPr>
          <p:txBody>
            <a:bodyPr/>
            <a:p/>
          </p:txBody>
        </p:sp>
        <p:sp>
          <p:nvSpPr>
            <p:cNvPr name="TextBox 112" id="112"/>
            <p:cNvSpPr txBox="true"/>
            <p:nvPr/>
          </p:nvSpPr>
          <p:spPr>
            <a:xfrm>
              <a:off x="0" y="-85725"/>
              <a:ext cx="4189552" cy="1475232"/>
            </a:xfrm>
            <a:prstGeom prst="rect">
              <a:avLst/>
            </a:prstGeom>
          </p:spPr>
          <p:txBody>
            <a:bodyPr anchor="ctr" rtlCol="false" tIns="0" lIns="0" bIns="0" rIns="0"/>
            <a:lstStyle/>
            <a:p>
              <a:pPr algn="l">
                <a:lnSpc>
                  <a:spcPts val="5397"/>
                </a:lnSpc>
              </a:pPr>
              <a:r>
                <a:rPr lang="en-US" sz="4499" b="true">
                  <a:solidFill>
                    <a:srgbClr val="0B5E6E"/>
                  </a:solidFill>
                  <a:latin typeface="Calibri (MS) Bold"/>
                  <a:ea typeface="Calibri (MS) Bold"/>
                  <a:cs typeface="Calibri (MS) Bold"/>
                  <a:sym typeface="Calibri (MS) Bold"/>
                </a:rPr>
                <a:t>15,38 juta</a:t>
              </a:r>
            </a:p>
          </p:txBody>
        </p:sp>
      </p:grpSp>
      <p:sp>
        <p:nvSpPr>
          <p:cNvPr name="TextBox 113" id="113"/>
          <p:cNvSpPr txBox="true"/>
          <p:nvPr/>
        </p:nvSpPr>
        <p:spPr>
          <a:xfrm rot="0">
            <a:off x="13956830" y="7003990"/>
            <a:ext cx="3142164" cy="923049"/>
          </a:xfrm>
          <a:prstGeom prst="rect">
            <a:avLst/>
          </a:prstGeom>
        </p:spPr>
        <p:txBody>
          <a:bodyPr anchor="t" rtlCol="false" tIns="0" lIns="0" bIns="0" rIns="0">
            <a:spAutoFit/>
          </a:bodyPr>
          <a:lstStyle/>
          <a:p>
            <a:pPr algn="l">
              <a:lnSpc>
                <a:spcPts val="2145"/>
              </a:lnSpc>
            </a:pPr>
            <a:r>
              <a:rPr lang="en-US" sz="1788">
                <a:solidFill>
                  <a:srgbClr val="14313B"/>
                </a:solidFill>
                <a:latin typeface="Calibri (MS)"/>
                <a:ea typeface="Calibri (MS)"/>
                <a:cs typeface="Calibri (MS)"/>
                <a:sym typeface="Calibri (MS)"/>
              </a:rPr>
              <a:t>kunjungan wisman 2025, naik 10,8%, tertinggi dalam lima tahun terakhir</a:t>
            </a:r>
          </a:p>
        </p:txBody>
      </p:sp>
      <p:sp>
        <p:nvSpPr>
          <p:cNvPr name="TextBox 114" id="114"/>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3</a:t>
            </a:r>
          </a:p>
        </p:txBody>
      </p:sp>
      <p:grpSp>
        <p:nvGrpSpPr>
          <p:cNvPr name="Group 115" id="115"/>
          <p:cNvGrpSpPr/>
          <p:nvPr/>
        </p:nvGrpSpPr>
        <p:grpSpPr>
          <a:xfrm rot="0">
            <a:off x="16047720" y="9646920"/>
            <a:ext cx="420624" cy="420624"/>
            <a:chOff x="0" y="0"/>
            <a:chExt cx="560832" cy="560832"/>
          </a:xfrm>
        </p:grpSpPr>
        <p:sp>
          <p:nvSpPr>
            <p:cNvPr name="Freeform 116" id="116"/>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17" id="117"/>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graphicFrame>
        <p:nvGraphicFramePr>
          <p:cNvPr id="118" name="Chart 117"/>
          <p:cNvGraphicFramePr>
            <a:graphicFrameLocks noGrp="1"/>
          </p:cNvGraphicFramePr>
          <p:nvPr/>
        </p:nvGraphicFramePr>
        <p:xfrm>
          <a:off x="822960" y="2468880"/>
          <a:ext cx="8778240" cy="6126480"/>
        </p:xfrm>
        <a:graphic>
          <a:graphicData uri="http://schemas.openxmlformats.org/drawingml/2006/chart">
            <c:chart xmlns:c="http://schemas.openxmlformats.org/drawingml/2006/chart" r:id="rId8"/>
          </a:graphicData>
        </a:graphic>
      </p:graphicFrame>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0010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Latar Belakang</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Peran pariwisata di Indonesia terus menguat</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0B5E6E"/>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822960" y="1836420"/>
            <a:ext cx="8229600" cy="457200"/>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Kontribusi pariwisata terhadap PDB Indonesia </a:t>
            </a:r>
          </a:p>
        </p:txBody>
      </p:sp>
      <p:sp>
        <p:nvSpPr>
          <p:cNvPr name="TextBox 67" id="67"/>
          <p:cNvSpPr txBox="true"/>
          <p:nvPr/>
        </p:nvSpPr>
        <p:spPr>
          <a:xfrm rot="0">
            <a:off x="822960" y="8652510"/>
            <a:ext cx="8229600" cy="295275"/>
          </a:xfrm>
          <a:prstGeom prst="rect">
            <a:avLst/>
          </a:prstGeom>
        </p:spPr>
        <p:txBody>
          <a:bodyPr anchor="t" rtlCol="false" tIns="0" lIns="0" bIns="0" rIns="0">
            <a:spAutoFit/>
          </a:bodyPr>
          <a:lstStyle/>
          <a:p>
            <a:pPr algn="l">
              <a:lnSpc>
                <a:spcPts val="1889"/>
              </a:lnSpc>
            </a:pPr>
            <a:r>
              <a:rPr lang="en-US" sz="1575">
                <a:solidFill>
                  <a:srgbClr val="5E6E78"/>
                </a:solidFill>
                <a:latin typeface="Calibri (MS)"/>
                <a:ea typeface="Calibri (MS)"/>
                <a:cs typeface="Calibri (MS)"/>
                <a:sym typeface="Calibri (MS)"/>
              </a:rPr>
              <a:t>Sumber: Kementerian Pariwisata, 2025.</a:t>
            </a:r>
          </a:p>
        </p:txBody>
      </p:sp>
      <p:sp>
        <p:nvSpPr>
          <p:cNvPr name="TextBox 68" id="68"/>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a:t>
            </a:r>
          </a:p>
        </p:txBody>
      </p:sp>
      <p:sp>
        <p:nvSpPr>
          <p:cNvPr name="TextBox 69" id="69"/>
          <p:cNvSpPr txBox="true"/>
          <p:nvPr/>
        </p:nvSpPr>
        <p:spPr>
          <a:xfrm rot="0">
            <a:off x="9354312" y="8652510"/>
            <a:ext cx="8229600" cy="295275"/>
          </a:xfrm>
          <a:prstGeom prst="rect">
            <a:avLst/>
          </a:prstGeom>
        </p:spPr>
        <p:txBody>
          <a:bodyPr anchor="t" rtlCol="false" tIns="0" lIns="0" bIns="0" rIns="0">
            <a:spAutoFit/>
          </a:bodyPr>
          <a:lstStyle/>
          <a:p>
            <a:pPr algn="l">
              <a:lnSpc>
                <a:spcPts val="1889"/>
              </a:lnSpc>
            </a:pPr>
            <a:r>
              <a:rPr lang="en-US" sz="1575">
                <a:solidFill>
                  <a:srgbClr val="5E6E78"/>
                </a:solidFill>
                <a:latin typeface="Calibri (MS)"/>
                <a:ea typeface="Calibri (MS)"/>
                <a:cs typeface="Calibri (MS)"/>
                <a:sym typeface="Calibri (MS)"/>
              </a:rPr>
              <a:t>Sumber: Badan Pusat Statistik </a:t>
            </a:r>
          </a:p>
        </p:txBody>
      </p:sp>
      <p:sp>
        <p:nvSpPr>
          <p:cNvPr name="TextBox 70" id="70"/>
          <p:cNvSpPr txBox="true"/>
          <p:nvPr/>
        </p:nvSpPr>
        <p:spPr>
          <a:xfrm rot="0">
            <a:off x="9354312" y="1836420"/>
            <a:ext cx="8229600" cy="457200"/>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Jumlah kunjungan wisatawan mancanegara dan nusantara</a:t>
            </a:r>
          </a:p>
        </p:txBody>
      </p:sp>
      <p:grpSp>
        <p:nvGrpSpPr>
          <p:cNvPr name="Group 75" id="75"/>
          <p:cNvGrpSpPr/>
          <p:nvPr/>
        </p:nvGrpSpPr>
        <p:grpSpPr>
          <a:xfrm rot="0">
            <a:off x="16047720" y="9646920"/>
            <a:ext cx="420624" cy="420624"/>
            <a:chOff x="0" y="0"/>
            <a:chExt cx="560832" cy="560832"/>
          </a:xfrm>
        </p:grpSpPr>
        <p:sp>
          <p:nvSpPr>
            <p:cNvPr name="Freeform 76" id="76"/>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77" id="77"/>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graphicFrame>
        <p:nvGraphicFramePr>
          <p:cNvPr id="78" name="Chart 77"/>
          <p:cNvGraphicFramePr>
            <a:graphicFrameLocks noGrp="1"/>
          </p:cNvGraphicFramePr>
          <p:nvPr/>
        </p:nvGraphicFramePr>
        <p:xfrm>
          <a:off x="822960" y="2377440"/>
          <a:ext cx="8138160" cy="6217920"/>
        </p:xfrm>
        <a:graphic>
          <a:graphicData uri="http://schemas.openxmlformats.org/drawingml/2006/chart">
            <c:chart xmlns:c="http://schemas.openxmlformats.org/drawingml/2006/chart" r:id="rId9"/>
          </a:graphicData>
        </a:graphic>
      </p:graphicFrame>
      <p:graphicFrame>
        <p:nvGraphicFramePr>
          <p:cNvPr id="79" name="Chart 78"/>
          <p:cNvGraphicFramePr>
            <a:graphicFrameLocks noGrp="1"/>
          </p:cNvGraphicFramePr>
          <p:nvPr/>
        </p:nvGraphicFramePr>
        <p:xfrm>
          <a:off x="9354312" y="2377440"/>
          <a:ext cx="8229600" cy="6217920"/>
        </p:xfrm>
        <a:graphic>
          <a:graphicData uri="http://schemas.openxmlformats.org/drawingml/2006/chart">
            <c:chart xmlns:c="http://schemas.openxmlformats.org/drawingml/2006/chart" r:id="rId10"/>
          </a:graphicData>
        </a:graphic>
      </p:graphicFrame>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grpSp>
        <p:nvGrpSpPr>
          <p:cNvPr name="Group 11" id="11"/>
          <p:cNvGrpSpPr/>
          <p:nvPr/>
        </p:nvGrpSpPr>
        <p:grpSpPr>
          <a:xfrm rot="0">
            <a:off x="822960" y="274320"/>
            <a:ext cx="2040922" cy="411480"/>
            <a:chOff x="0" y="0"/>
            <a:chExt cx="2721229" cy="548640"/>
          </a:xfrm>
        </p:grpSpPr>
        <p:sp>
          <p:nvSpPr>
            <p:cNvPr name="Freeform 12" id="12"/>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0B5E6E"/>
            </a:solidFill>
          </p:spPr>
          <p:txBody>
            <a:bodyPr/>
            <a:p/>
          </p:txBody>
        </p:sp>
      </p:grpSp>
      <p:grpSp>
        <p:nvGrpSpPr>
          <p:cNvPr name="Group 13" id="13"/>
          <p:cNvGrpSpPr/>
          <p:nvPr/>
        </p:nvGrpSpPr>
        <p:grpSpPr>
          <a:xfrm rot="0">
            <a:off x="822960" y="274320"/>
            <a:ext cx="2040922" cy="411480"/>
            <a:chOff x="0" y="0"/>
            <a:chExt cx="2721229" cy="548640"/>
          </a:xfrm>
        </p:grpSpPr>
        <p:sp>
          <p:nvSpPr>
            <p:cNvPr name="Freeform 14" id="14"/>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5" id="15"/>
          <p:cNvGrpSpPr/>
          <p:nvPr/>
        </p:nvGrpSpPr>
        <p:grpSpPr>
          <a:xfrm rot="0">
            <a:off x="822960" y="260033"/>
            <a:ext cx="2040941" cy="425768"/>
            <a:chOff x="0" y="0"/>
            <a:chExt cx="2721254" cy="567690"/>
          </a:xfrm>
        </p:grpSpPr>
        <p:sp>
          <p:nvSpPr>
            <p:cNvPr name="Freeform 16" id="16"/>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7" id="17"/>
          <p:cNvGrpSpPr/>
          <p:nvPr/>
        </p:nvGrpSpPr>
        <p:grpSpPr>
          <a:xfrm rot="0">
            <a:off x="822960" y="245745"/>
            <a:ext cx="2040941" cy="440055"/>
            <a:chOff x="0" y="0"/>
            <a:chExt cx="2721254" cy="586740"/>
          </a:xfrm>
        </p:grpSpPr>
        <p:sp>
          <p:nvSpPr>
            <p:cNvPr name="Freeform 18" id="18"/>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19" id="19"/>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Pendahuluan</a:t>
              </a:r>
            </a:p>
          </p:txBody>
        </p:sp>
      </p:grpSp>
      <p:grpSp>
        <p:nvGrpSpPr>
          <p:cNvPr name="Group 20" id="20"/>
          <p:cNvGrpSpPr/>
          <p:nvPr/>
        </p:nvGrpSpPr>
        <p:grpSpPr>
          <a:xfrm rot="0">
            <a:off x="2973629" y="274320"/>
            <a:ext cx="2378392" cy="411480"/>
            <a:chOff x="0" y="0"/>
            <a:chExt cx="3171190" cy="548640"/>
          </a:xfrm>
        </p:grpSpPr>
        <p:sp>
          <p:nvSpPr>
            <p:cNvPr name="Freeform 21" id="21"/>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2" id="22"/>
          <p:cNvGrpSpPr/>
          <p:nvPr/>
        </p:nvGrpSpPr>
        <p:grpSpPr>
          <a:xfrm rot="0">
            <a:off x="2973629" y="274320"/>
            <a:ext cx="2378392" cy="411480"/>
            <a:chOff x="0" y="0"/>
            <a:chExt cx="3171190" cy="548640"/>
          </a:xfrm>
        </p:grpSpPr>
        <p:sp>
          <p:nvSpPr>
            <p:cNvPr name="Freeform 23" id="23"/>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4" id="24"/>
          <p:cNvGrpSpPr/>
          <p:nvPr/>
        </p:nvGrpSpPr>
        <p:grpSpPr>
          <a:xfrm rot="0">
            <a:off x="2973629" y="260033"/>
            <a:ext cx="2378354" cy="425768"/>
            <a:chOff x="0" y="0"/>
            <a:chExt cx="3171139" cy="567690"/>
          </a:xfrm>
        </p:grpSpPr>
        <p:sp>
          <p:nvSpPr>
            <p:cNvPr name="Freeform 25" id="25"/>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6" id="26"/>
          <p:cNvGrpSpPr/>
          <p:nvPr/>
        </p:nvGrpSpPr>
        <p:grpSpPr>
          <a:xfrm rot="0">
            <a:off x="2973629" y="245745"/>
            <a:ext cx="2378354" cy="440055"/>
            <a:chOff x="0" y="0"/>
            <a:chExt cx="3171139" cy="586740"/>
          </a:xfrm>
        </p:grpSpPr>
        <p:sp>
          <p:nvSpPr>
            <p:cNvPr name="Freeform 27" id="27"/>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8" id="28"/>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29" id="29"/>
          <p:cNvGrpSpPr/>
          <p:nvPr/>
        </p:nvGrpSpPr>
        <p:grpSpPr>
          <a:xfrm rot="0">
            <a:off x="5461711" y="274320"/>
            <a:ext cx="1591056" cy="411480"/>
            <a:chOff x="0" y="0"/>
            <a:chExt cx="2121408" cy="548640"/>
          </a:xfrm>
        </p:grpSpPr>
        <p:sp>
          <p:nvSpPr>
            <p:cNvPr name="Freeform 30" id="30"/>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1" id="31"/>
          <p:cNvGrpSpPr/>
          <p:nvPr/>
        </p:nvGrpSpPr>
        <p:grpSpPr>
          <a:xfrm rot="0">
            <a:off x="5461711" y="274320"/>
            <a:ext cx="1591056" cy="411480"/>
            <a:chOff x="0" y="0"/>
            <a:chExt cx="2121408" cy="548640"/>
          </a:xfrm>
        </p:grpSpPr>
        <p:sp>
          <p:nvSpPr>
            <p:cNvPr name="Freeform 32" id="32"/>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3" id="33"/>
          <p:cNvGrpSpPr/>
          <p:nvPr/>
        </p:nvGrpSpPr>
        <p:grpSpPr>
          <a:xfrm rot="0">
            <a:off x="5461711" y="260033"/>
            <a:ext cx="1591056" cy="425768"/>
            <a:chOff x="0" y="0"/>
            <a:chExt cx="2121408" cy="567690"/>
          </a:xfrm>
        </p:grpSpPr>
        <p:sp>
          <p:nvSpPr>
            <p:cNvPr name="Freeform 34" id="34"/>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5" id="35"/>
          <p:cNvGrpSpPr/>
          <p:nvPr/>
        </p:nvGrpSpPr>
        <p:grpSpPr>
          <a:xfrm rot="0">
            <a:off x="5461711" y="245745"/>
            <a:ext cx="1591056" cy="440055"/>
            <a:chOff x="0" y="0"/>
            <a:chExt cx="2121408" cy="586740"/>
          </a:xfrm>
        </p:grpSpPr>
        <p:sp>
          <p:nvSpPr>
            <p:cNvPr name="Freeform 36" id="36"/>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7" id="37"/>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8" id="38"/>
          <p:cNvGrpSpPr/>
          <p:nvPr/>
        </p:nvGrpSpPr>
        <p:grpSpPr>
          <a:xfrm rot="0">
            <a:off x="7162495" y="274320"/>
            <a:ext cx="2490788" cy="411480"/>
            <a:chOff x="0" y="0"/>
            <a:chExt cx="3321050" cy="548640"/>
          </a:xfrm>
        </p:grpSpPr>
        <p:sp>
          <p:nvSpPr>
            <p:cNvPr name="Freeform 39" id="39"/>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7162495" y="274320"/>
            <a:ext cx="2490788" cy="411480"/>
            <a:chOff x="0" y="0"/>
            <a:chExt cx="3321050" cy="548640"/>
          </a:xfrm>
        </p:grpSpPr>
        <p:sp>
          <p:nvSpPr>
            <p:cNvPr name="Freeform 41" id="41"/>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2" id="42"/>
          <p:cNvGrpSpPr/>
          <p:nvPr/>
        </p:nvGrpSpPr>
        <p:grpSpPr>
          <a:xfrm rot="0">
            <a:off x="7162495" y="260033"/>
            <a:ext cx="2490826" cy="425768"/>
            <a:chOff x="0" y="0"/>
            <a:chExt cx="3321101" cy="567690"/>
          </a:xfrm>
        </p:grpSpPr>
        <p:sp>
          <p:nvSpPr>
            <p:cNvPr name="Freeform 43" id="43"/>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4" id="44"/>
          <p:cNvGrpSpPr/>
          <p:nvPr/>
        </p:nvGrpSpPr>
        <p:grpSpPr>
          <a:xfrm rot="0">
            <a:off x="7162495" y="245745"/>
            <a:ext cx="2490826" cy="440055"/>
            <a:chOff x="0" y="0"/>
            <a:chExt cx="3321101" cy="586740"/>
          </a:xfrm>
        </p:grpSpPr>
        <p:sp>
          <p:nvSpPr>
            <p:cNvPr name="Freeform 45" id="45"/>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6" id="46"/>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7" id="47"/>
          <p:cNvGrpSpPr/>
          <p:nvPr/>
        </p:nvGrpSpPr>
        <p:grpSpPr>
          <a:xfrm rot="0">
            <a:off x="9763049" y="274320"/>
            <a:ext cx="1366076" cy="411480"/>
            <a:chOff x="0" y="0"/>
            <a:chExt cx="1821434" cy="548640"/>
          </a:xfrm>
        </p:grpSpPr>
        <p:sp>
          <p:nvSpPr>
            <p:cNvPr name="Freeform 48" id="48"/>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9" id="49"/>
          <p:cNvGrpSpPr/>
          <p:nvPr/>
        </p:nvGrpSpPr>
        <p:grpSpPr>
          <a:xfrm rot="0">
            <a:off x="9763049" y="274320"/>
            <a:ext cx="1366076" cy="411480"/>
            <a:chOff x="0" y="0"/>
            <a:chExt cx="1821434" cy="548640"/>
          </a:xfrm>
        </p:grpSpPr>
        <p:sp>
          <p:nvSpPr>
            <p:cNvPr name="Freeform 50" id="50"/>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1" id="51"/>
          <p:cNvGrpSpPr/>
          <p:nvPr/>
        </p:nvGrpSpPr>
        <p:grpSpPr>
          <a:xfrm rot="0">
            <a:off x="9763049" y="260033"/>
            <a:ext cx="1366114" cy="425768"/>
            <a:chOff x="0" y="0"/>
            <a:chExt cx="1821485" cy="567690"/>
          </a:xfrm>
        </p:grpSpPr>
        <p:sp>
          <p:nvSpPr>
            <p:cNvPr name="Freeform 52" id="52"/>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3" id="53"/>
          <p:cNvGrpSpPr/>
          <p:nvPr/>
        </p:nvGrpSpPr>
        <p:grpSpPr>
          <a:xfrm rot="0">
            <a:off x="9763049" y="245745"/>
            <a:ext cx="1366114" cy="440055"/>
            <a:chOff x="0" y="0"/>
            <a:chExt cx="1821485" cy="586740"/>
          </a:xfrm>
        </p:grpSpPr>
        <p:sp>
          <p:nvSpPr>
            <p:cNvPr name="Freeform 54" id="54"/>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5" id="55"/>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6" id="56"/>
          <p:cNvGrpSpPr/>
          <p:nvPr/>
        </p:nvGrpSpPr>
        <p:grpSpPr>
          <a:xfrm rot="0">
            <a:off x="11238890" y="274320"/>
            <a:ext cx="1253680" cy="411480"/>
            <a:chOff x="0" y="0"/>
            <a:chExt cx="1671574" cy="548640"/>
          </a:xfrm>
        </p:grpSpPr>
        <p:sp>
          <p:nvSpPr>
            <p:cNvPr name="Freeform 57" id="57"/>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8" id="58"/>
          <p:cNvGrpSpPr/>
          <p:nvPr/>
        </p:nvGrpSpPr>
        <p:grpSpPr>
          <a:xfrm rot="0">
            <a:off x="11238890" y="274320"/>
            <a:ext cx="1253680" cy="411480"/>
            <a:chOff x="0" y="0"/>
            <a:chExt cx="1671574" cy="548640"/>
          </a:xfrm>
        </p:grpSpPr>
        <p:sp>
          <p:nvSpPr>
            <p:cNvPr name="Freeform 59" id="59"/>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0" id="60"/>
          <p:cNvGrpSpPr/>
          <p:nvPr/>
        </p:nvGrpSpPr>
        <p:grpSpPr>
          <a:xfrm rot="0">
            <a:off x="11238890" y="260033"/>
            <a:ext cx="1253642" cy="425768"/>
            <a:chOff x="0" y="0"/>
            <a:chExt cx="1671523" cy="567690"/>
          </a:xfrm>
        </p:grpSpPr>
        <p:sp>
          <p:nvSpPr>
            <p:cNvPr name="Freeform 61" id="61"/>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2" id="62"/>
          <p:cNvGrpSpPr/>
          <p:nvPr/>
        </p:nvGrpSpPr>
        <p:grpSpPr>
          <a:xfrm rot="0">
            <a:off x="11238890" y="245745"/>
            <a:ext cx="1253642" cy="440055"/>
            <a:chOff x="0" y="0"/>
            <a:chExt cx="1671523" cy="586740"/>
          </a:xfrm>
        </p:grpSpPr>
        <p:sp>
          <p:nvSpPr>
            <p:cNvPr name="Freeform 63" id="63"/>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4" id="64"/>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pSp>
        <p:nvGrpSpPr>
          <p:cNvPr name="Group 65" id="65"/>
          <p:cNvGrpSpPr/>
          <p:nvPr/>
        </p:nvGrpSpPr>
        <p:grpSpPr>
          <a:xfrm rot="0">
            <a:off x="822960" y="8042148"/>
            <a:ext cx="16642080" cy="1533906"/>
            <a:chOff x="0" y="0"/>
            <a:chExt cx="22189440" cy="2045208"/>
          </a:xfrm>
        </p:grpSpPr>
        <p:sp>
          <p:nvSpPr>
            <p:cNvPr name="Freeform 66" id="66"/>
            <p:cNvSpPr/>
            <p:nvPr/>
          </p:nvSpPr>
          <p:spPr>
            <a:xfrm flipH="false" flipV="false" rot="0">
              <a:off x="0" y="0"/>
              <a:ext cx="22189441" cy="2045208"/>
            </a:xfrm>
            <a:custGeom>
              <a:avLst/>
              <a:gdLst/>
              <a:ahLst/>
              <a:cxnLst/>
              <a:rect r="r" b="b" t="t" l="l"/>
              <a:pathLst>
                <a:path h="2045208" w="22189441">
                  <a:moveTo>
                    <a:pt x="0" y="163576"/>
                  </a:moveTo>
                  <a:cubicBezTo>
                    <a:pt x="0" y="73279"/>
                    <a:pt x="81915" y="0"/>
                    <a:pt x="182880" y="0"/>
                  </a:cubicBezTo>
                  <a:lnTo>
                    <a:pt x="22006561" y="0"/>
                  </a:lnTo>
                  <a:cubicBezTo>
                    <a:pt x="22107525" y="0"/>
                    <a:pt x="22189441" y="73279"/>
                    <a:pt x="22189441" y="163576"/>
                  </a:cubicBezTo>
                  <a:lnTo>
                    <a:pt x="22189441" y="1881632"/>
                  </a:lnTo>
                  <a:cubicBezTo>
                    <a:pt x="22189441" y="1971929"/>
                    <a:pt x="22107525" y="2045208"/>
                    <a:pt x="22006561" y="2045208"/>
                  </a:cubicBezTo>
                  <a:lnTo>
                    <a:pt x="182880" y="2045208"/>
                  </a:lnTo>
                  <a:cubicBezTo>
                    <a:pt x="81915" y="2045208"/>
                    <a:pt x="0" y="1971929"/>
                    <a:pt x="0" y="1881632"/>
                  </a:cubicBezTo>
                  <a:close/>
                </a:path>
              </a:pathLst>
            </a:custGeom>
            <a:solidFill>
              <a:srgbClr val="0B5E6E"/>
            </a:solidFill>
          </p:spPr>
          <p:txBody>
            <a:bodyPr/>
            <a:p/>
          </p:txBody>
        </p:sp>
      </p:grpSp>
      <p:grpSp>
        <p:nvGrpSpPr>
          <p:cNvPr name="Group 67" id="67"/>
          <p:cNvGrpSpPr/>
          <p:nvPr/>
        </p:nvGrpSpPr>
        <p:grpSpPr>
          <a:xfrm rot="0">
            <a:off x="1303153" y="8250765"/>
            <a:ext cx="15681674" cy="674942"/>
            <a:chOff x="0" y="0"/>
            <a:chExt cx="20908899" cy="899922"/>
          </a:xfrm>
        </p:grpSpPr>
        <p:sp>
          <p:nvSpPr>
            <p:cNvPr name="Freeform 68" id="68"/>
            <p:cNvSpPr/>
            <p:nvPr/>
          </p:nvSpPr>
          <p:spPr>
            <a:xfrm flipH="false" flipV="false" rot="0">
              <a:off x="0" y="0"/>
              <a:ext cx="20908899" cy="899922"/>
            </a:xfrm>
            <a:custGeom>
              <a:avLst/>
              <a:gdLst/>
              <a:ahLst/>
              <a:cxnLst/>
              <a:rect r="r" b="b" t="t" l="l"/>
              <a:pathLst>
                <a:path h="899922" w="20908899">
                  <a:moveTo>
                    <a:pt x="0" y="0"/>
                  </a:moveTo>
                  <a:lnTo>
                    <a:pt x="20908899" y="0"/>
                  </a:lnTo>
                  <a:lnTo>
                    <a:pt x="20908899" y="899922"/>
                  </a:lnTo>
                  <a:lnTo>
                    <a:pt x="0" y="899922"/>
                  </a:lnTo>
                  <a:close/>
                </a:path>
              </a:pathLst>
            </a:custGeom>
            <a:blipFill>
              <a:blip r:embed="rId4">
                <a:alphaModFix amt="0"/>
              </a:blip>
              <a:stretch>
                <a:fillRect l="0" t="-402403" r="0" b="-402401"/>
              </a:stretch>
            </a:blipFill>
          </p:spPr>
          <p:txBody>
            <a:bodyPr/>
            <a:p/>
          </p:txBody>
        </p:sp>
      </p:grpSp>
      <p:grpSp>
        <p:nvGrpSpPr>
          <p:cNvPr name="Group 69" id="69"/>
          <p:cNvGrpSpPr/>
          <p:nvPr/>
        </p:nvGrpSpPr>
        <p:grpSpPr>
          <a:xfrm rot="0">
            <a:off x="1303153" y="8215046"/>
            <a:ext cx="15681693" cy="710651"/>
            <a:chOff x="0" y="0"/>
            <a:chExt cx="20908924" cy="947534"/>
          </a:xfrm>
        </p:grpSpPr>
        <p:sp>
          <p:nvSpPr>
            <p:cNvPr name="Freeform 70" id="70"/>
            <p:cNvSpPr/>
            <p:nvPr/>
          </p:nvSpPr>
          <p:spPr>
            <a:xfrm flipH="false" flipV="false" rot="0">
              <a:off x="0" y="0"/>
              <a:ext cx="20908899" cy="947547"/>
            </a:xfrm>
            <a:custGeom>
              <a:avLst/>
              <a:gdLst/>
              <a:ahLst/>
              <a:cxnLst/>
              <a:rect r="r" b="b" t="t" l="l"/>
              <a:pathLst>
                <a:path h="947547" w="20908899">
                  <a:moveTo>
                    <a:pt x="0" y="0"/>
                  </a:moveTo>
                  <a:lnTo>
                    <a:pt x="20908899" y="0"/>
                  </a:lnTo>
                  <a:lnTo>
                    <a:pt x="20908899" y="947547"/>
                  </a:lnTo>
                  <a:lnTo>
                    <a:pt x="0" y="947547"/>
                  </a:lnTo>
                  <a:close/>
                </a:path>
              </a:pathLst>
            </a:custGeom>
            <a:blipFill>
              <a:blip r:embed="rId5">
                <a:alphaModFix amt="0"/>
              </a:blip>
              <a:stretch>
                <a:fillRect l="0" t="-379666" r="0" b="-379663"/>
              </a:stretch>
            </a:blipFill>
          </p:spPr>
          <p:txBody>
            <a:bodyPr/>
            <a:p/>
          </p:txBody>
        </p:sp>
      </p:grpSp>
      <p:grpSp>
        <p:nvGrpSpPr>
          <p:cNvPr name="Group 71" id="71"/>
          <p:cNvGrpSpPr/>
          <p:nvPr/>
        </p:nvGrpSpPr>
        <p:grpSpPr>
          <a:xfrm rot="0">
            <a:off x="1303153" y="8179327"/>
            <a:ext cx="15681693" cy="746369"/>
            <a:chOff x="0" y="0"/>
            <a:chExt cx="20908924" cy="995159"/>
          </a:xfrm>
        </p:grpSpPr>
        <p:sp>
          <p:nvSpPr>
            <p:cNvPr name="Freeform 72" id="72"/>
            <p:cNvSpPr/>
            <p:nvPr/>
          </p:nvSpPr>
          <p:spPr>
            <a:xfrm flipH="false" flipV="false" rot="0">
              <a:off x="0" y="0"/>
              <a:ext cx="20908924" cy="995160"/>
            </a:xfrm>
            <a:custGeom>
              <a:avLst/>
              <a:gdLst/>
              <a:ahLst/>
              <a:cxnLst/>
              <a:rect r="r" b="b" t="t" l="l"/>
              <a:pathLst>
                <a:path h="995160" w="20908924">
                  <a:moveTo>
                    <a:pt x="0" y="0"/>
                  </a:moveTo>
                  <a:lnTo>
                    <a:pt x="20908924" y="0"/>
                  </a:lnTo>
                  <a:lnTo>
                    <a:pt x="20908924" y="995160"/>
                  </a:lnTo>
                  <a:lnTo>
                    <a:pt x="0" y="995160"/>
                  </a:lnTo>
                  <a:close/>
                </a:path>
              </a:pathLst>
            </a:custGeom>
            <a:blipFill>
              <a:blip r:embed="rId6">
                <a:alphaModFix amt="0"/>
              </a:blip>
              <a:stretch>
                <a:fillRect l="0" t="-359392" r="0" b="-359392"/>
              </a:stretch>
            </a:blipFill>
          </p:spPr>
          <p:txBody>
            <a:bodyPr/>
            <a:p/>
          </p:txBody>
        </p:sp>
        <p:sp>
          <p:nvSpPr>
            <p:cNvPr name="TextBox 73" id="73"/>
            <p:cNvSpPr txBox="true"/>
            <p:nvPr/>
          </p:nvSpPr>
          <p:spPr>
            <a:xfrm>
              <a:off x="0" y="-47625"/>
              <a:ext cx="20908924" cy="1042784"/>
            </a:xfrm>
            <a:prstGeom prst="rect">
              <a:avLst/>
            </a:prstGeom>
          </p:spPr>
          <p:txBody>
            <a:bodyPr anchor="ctr" rtlCol="false" tIns="0" lIns="0" bIns="0" rIns="0"/>
            <a:lstStyle/>
            <a:p>
              <a:pPr algn="l">
                <a:lnSpc>
                  <a:spcPts val="3060"/>
                </a:lnSpc>
              </a:pPr>
              <a:r>
                <a:rPr lang="en-US" sz="2550" b="true">
                  <a:solidFill>
                    <a:srgbClr val="FFFFFF"/>
                  </a:solidFill>
                  <a:latin typeface="Calibri (MS) Bold"/>
                  <a:ea typeface="Calibri (MS) Bold"/>
                  <a:cs typeface="Calibri (MS) Bold"/>
                  <a:sym typeface="Calibri (MS) Bold"/>
                </a:rPr>
                <a:t>Borobudur–Yogyakarta–Prambanan ditetapkan sebagai Destinasi Pariwisata Prioritas (Perpres No. 88 Tahun 2024)</a:t>
              </a:r>
            </a:p>
          </p:txBody>
        </p:sp>
      </p:grpSp>
      <p:grpSp>
        <p:nvGrpSpPr>
          <p:cNvPr name="Group 74" id="74"/>
          <p:cNvGrpSpPr/>
          <p:nvPr/>
        </p:nvGrpSpPr>
        <p:grpSpPr>
          <a:xfrm rot="0">
            <a:off x="1303153" y="8962511"/>
            <a:ext cx="15681674" cy="429482"/>
            <a:chOff x="0" y="0"/>
            <a:chExt cx="20908899" cy="572643"/>
          </a:xfrm>
        </p:grpSpPr>
        <p:sp>
          <p:nvSpPr>
            <p:cNvPr name="Freeform 75" id="75"/>
            <p:cNvSpPr/>
            <p:nvPr/>
          </p:nvSpPr>
          <p:spPr>
            <a:xfrm flipH="false" flipV="false" rot="0">
              <a:off x="0" y="0"/>
              <a:ext cx="20908899" cy="572643"/>
            </a:xfrm>
            <a:custGeom>
              <a:avLst/>
              <a:gdLst/>
              <a:ahLst/>
              <a:cxnLst/>
              <a:rect r="r" b="b" t="t" l="l"/>
              <a:pathLst>
                <a:path h="572643" w="20908899">
                  <a:moveTo>
                    <a:pt x="0" y="0"/>
                  </a:moveTo>
                  <a:lnTo>
                    <a:pt x="20908899" y="0"/>
                  </a:lnTo>
                  <a:lnTo>
                    <a:pt x="20908899" y="572643"/>
                  </a:lnTo>
                  <a:lnTo>
                    <a:pt x="0" y="572643"/>
                  </a:lnTo>
                  <a:close/>
                </a:path>
              </a:pathLst>
            </a:custGeom>
            <a:blipFill>
              <a:blip r:embed="rId4">
                <a:alphaModFix amt="0"/>
              </a:blip>
              <a:stretch>
                <a:fillRect l="0" t="-660962" r="0" b="-660960"/>
              </a:stretch>
            </a:blipFill>
          </p:spPr>
          <p:txBody>
            <a:bodyPr/>
            <a:p/>
          </p:txBody>
        </p:sp>
      </p:grpSp>
      <p:grpSp>
        <p:nvGrpSpPr>
          <p:cNvPr name="Group 76" id="76"/>
          <p:cNvGrpSpPr/>
          <p:nvPr/>
        </p:nvGrpSpPr>
        <p:grpSpPr>
          <a:xfrm rot="0">
            <a:off x="1303153" y="8926792"/>
            <a:ext cx="15681693" cy="465220"/>
            <a:chOff x="0" y="0"/>
            <a:chExt cx="20908924" cy="620293"/>
          </a:xfrm>
        </p:grpSpPr>
        <p:sp>
          <p:nvSpPr>
            <p:cNvPr name="Freeform 77" id="77"/>
            <p:cNvSpPr/>
            <p:nvPr/>
          </p:nvSpPr>
          <p:spPr>
            <a:xfrm flipH="false" flipV="false" rot="0">
              <a:off x="0" y="0"/>
              <a:ext cx="20908899" cy="620268"/>
            </a:xfrm>
            <a:custGeom>
              <a:avLst/>
              <a:gdLst/>
              <a:ahLst/>
              <a:cxnLst/>
              <a:rect r="r" b="b" t="t" l="l"/>
              <a:pathLst>
                <a:path h="620268" w="20908899">
                  <a:moveTo>
                    <a:pt x="0" y="0"/>
                  </a:moveTo>
                  <a:lnTo>
                    <a:pt x="20908899" y="0"/>
                  </a:lnTo>
                  <a:lnTo>
                    <a:pt x="20908899" y="620268"/>
                  </a:lnTo>
                  <a:lnTo>
                    <a:pt x="0" y="620268"/>
                  </a:lnTo>
                  <a:close/>
                </a:path>
              </a:pathLst>
            </a:custGeom>
            <a:blipFill>
              <a:blip r:embed="rId5">
                <a:alphaModFix amt="0"/>
              </a:blip>
              <a:stretch>
                <a:fillRect l="0" t="-606371" r="0" b="-606375"/>
              </a:stretch>
            </a:blipFill>
          </p:spPr>
          <p:txBody>
            <a:bodyPr/>
            <a:p/>
          </p:txBody>
        </p:sp>
      </p:grpSp>
      <p:grpSp>
        <p:nvGrpSpPr>
          <p:cNvPr name="Group 78" id="78"/>
          <p:cNvGrpSpPr/>
          <p:nvPr/>
        </p:nvGrpSpPr>
        <p:grpSpPr>
          <a:xfrm rot="0">
            <a:off x="1303153" y="8891073"/>
            <a:ext cx="15681693" cy="500939"/>
            <a:chOff x="0" y="0"/>
            <a:chExt cx="20908924" cy="667918"/>
          </a:xfrm>
        </p:grpSpPr>
        <p:sp>
          <p:nvSpPr>
            <p:cNvPr name="Freeform 79" id="79"/>
            <p:cNvSpPr/>
            <p:nvPr/>
          </p:nvSpPr>
          <p:spPr>
            <a:xfrm flipH="false" flipV="false" rot="0">
              <a:off x="0" y="0"/>
              <a:ext cx="20908924" cy="667918"/>
            </a:xfrm>
            <a:custGeom>
              <a:avLst/>
              <a:gdLst/>
              <a:ahLst/>
              <a:cxnLst/>
              <a:rect r="r" b="b" t="t" l="l"/>
              <a:pathLst>
                <a:path h="667918" w="20908924">
                  <a:moveTo>
                    <a:pt x="0" y="0"/>
                  </a:moveTo>
                  <a:lnTo>
                    <a:pt x="20908924" y="0"/>
                  </a:lnTo>
                  <a:lnTo>
                    <a:pt x="20908924" y="667918"/>
                  </a:lnTo>
                  <a:lnTo>
                    <a:pt x="0" y="667918"/>
                  </a:lnTo>
                  <a:close/>
                </a:path>
              </a:pathLst>
            </a:custGeom>
            <a:blipFill>
              <a:blip r:embed="rId6">
                <a:alphaModFix amt="0"/>
              </a:blip>
              <a:stretch>
                <a:fillRect l="0" t="-559971" r="0" b="-559971"/>
              </a:stretch>
            </a:blipFill>
          </p:spPr>
          <p:txBody>
            <a:bodyPr/>
            <a:p/>
          </p:txBody>
        </p:sp>
        <p:sp>
          <p:nvSpPr>
            <p:cNvPr name="TextBox 80" id="80"/>
            <p:cNvSpPr txBox="true"/>
            <p:nvPr/>
          </p:nvSpPr>
          <p:spPr>
            <a:xfrm>
              <a:off x="0" y="-47625"/>
              <a:ext cx="20908924" cy="715543"/>
            </a:xfrm>
            <a:prstGeom prst="rect">
              <a:avLst/>
            </a:prstGeom>
          </p:spPr>
          <p:txBody>
            <a:bodyPr anchor="ctr" rtlCol="false" tIns="0" lIns="0" bIns="0" rIns="0"/>
            <a:lstStyle/>
            <a:p>
              <a:pPr algn="l">
                <a:lnSpc>
                  <a:spcPts val="2340"/>
                </a:lnSpc>
              </a:pPr>
              <a:r>
                <a:rPr lang="en-US" sz="1950">
                  <a:solidFill>
                    <a:srgbClr val="6BE5EA"/>
                  </a:solidFill>
                  <a:latin typeface="Calibri (MS)"/>
                  <a:ea typeface="Calibri (MS)"/>
                  <a:cs typeface="Calibri (MS)"/>
                  <a:sym typeface="Calibri (MS)"/>
                </a:rPr>
                <a:t>Daya tarik yang kuat pada skala nasional tercermin dari dominasi kunjungan wisatawan dari luar provinsi.</a:t>
              </a:r>
            </a:p>
          </p:txBody>
        </p:sp>
      </p:grpSp>
      <p:sp>
        <p:nvSpPr>
          <p:cNvPr name="TextBox 81" id="81"/>
          <p:cNvSpPr txBox="true"/>
          <p:nvPr/>
        </p:nvSpPr>
        <p:spPr>
          <a:xfrm rot="0">
            <a:off x="822960" y="713232"/>
            <a:ext cx="16637508" cy="85725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Latar Belakang</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DIY adalah destinasi utama dan didukung kebijakan yang kuat</a:t>
            </a:r>
          </a:p>
        </p:txBody>
      </p:sp>
      <p:sp>
        <p:nvSpPr>
          <p:cNvPr name="Freeform 82" id="82"/>
          <p:cNvSpPr/>
          <p:nvPr/>
        </p:nvSpPr>
        <p:spPr>
          <a:xfrm flipH="false" flipV="false" rot="0">
            <a:off x="9518161" y="1704565"/>
            <a:ext cx="3842499" cy="3021844"/>
          </a:xfrm>
          <a:custGeom>
            <a:avLst/>
            <a:gdLst/>
            <a:ahLst/>
            <a:cxnLst/>
            <a:rect r="r" b="b" t="t" l="l"/>
            <a:pathLst>
              <a:path h="3021844" w="3842499">
                <a:moveTo>
                  <a:pt x="0" y="0"/>
                </a:moveTo>
                <a:lnTo>
                  <a:pt x="3842499" y="0"/>
                </a:lnTo>
                <a:lnTo>
                  <a:pt x="3842499" y="3021845"/>
                </a:lnTo>
                <a:lnTo>
                  <a:pt x="0" y="3021845"/>
                </a:lnTo>
                <a:lnTo>
                  <a:pt x="0" y="0"/>
                </a:lnTo>
                <a:close/>
              </a:path>
            </a:pathLst>
          </a:custGeom>
          <a:blipFill>
            <a:blip r:embed="rId7">
              <a:extLst>
                <a:ext uri="{96DAC541-7B7A-43D3-8B79-37D633B846F1}">
                  <asvg:svgBlip xmlns:asvg="http://schemas.microsoft.com/office/drawing/2016/SVG/main" r:embed="rId8"/>
                </a:ext>
              </a:extLst>
            </a:blip>
            <a:stretch>
              <a:fillRect l="0" t="-44" r="0" b="-44"/>
            </a:stretch>
          </a:blipFill>
        </p:spPr>
        <p:txBody>
          <a:bodyPr/>
          <a:p/>
        </p:txBody>
      </p:sp>
      <p:grpSp>
        <p:nvGrpSpPr>
          <p:cNvPr name="Group 83" id="83"/>
          <p:cNvGrpSpPr/>
          <p:nvPr/>
        </p:nvGrpSpPr>
        <p:grpSpPr>
          <a:xfrm rot="0">
            <a:off x="9825304" y="2117550"/>
            <a:ext cx="3241453" cy="1190720"/>
            <a:chOff x="0" y="0"/>
            <a:chExt cx="4321937" cy="1587627"/>
          </a:xfrm>
        </p:grpSpPr>
        <p:sp>
          <p:nvSpPr>
            <p:cNvPr name="Freeform 84" id="84"/>
            <p:cNvSpPr/>
            <p:nvPr/>
          </p:nvSpPr>
          <p:spPr>
            <a:xfrm flipH="false" flipV="false" rot="0">
              <a:off x="0" y="0"/>
              <a:ext cx="4321937" cy="1587627"/>
            </a:xfrm>
            <a:custGeom>
              <a:avLst/>
              <a:gdLst/>
              <a:ahLst/>
              <a:cxnLst/>
              <a:rect r="r" b="b" t="t" l="l"/>
              <a:pathLst>
                <a:path h="1587627" w="4321937">
                  <a:moveTo>
                    <a:pt x="0" y="0"/>
                  </a:moveTo>
                  <a:lnTo>
                    <a:pt x="4321937" y="0"/>
                  </a:lnTo>
                  <a:lnTo>
                    <a:pt x="4321937" y="1587627"/>
                  </a:lnTo>
                  <a:lnTo>
                    <a:pt x="0" y="1587627"/>
                  </a:lnTo>
                  <a:close/>
                </a:path>
              </a:pathLst>
            </a:custGeom>
            <a:blipFill>
              <a:blip r:embed="rId4">
                <a:alphaModFix amt="0"/>
              </a:blip>
              <a:stretch>
                <a:fillRect l="0" t="-3006" r="0" b="-3006"/>
              </a:stretch>
            </a:blipFill>
          </p:spPr>
          <p:txBody>
            <a:bodyPr/>
            <a:p/>
          </p:txBody>
        </p:sp>
      </p:grpSp>
      <p:grpSp>
        <p:nvGrpSpPr>
          <p:cNvPr name="Group 85" id="85"/>
          <p:cNvGrpSpPr/>
          <p:nvPr/>
        </p:nvGrpSpPr>
        <p:grpSpPr>
          <a:xfrm rot="0">
            <a:off x="9825304" y="2055533"/>
            <a:ext cx="3241434" cy="1252747"/>
            <a:chOff x="0" y="0"/>
            <a:chExt cx="4321912" cy="1670329"/>
          </a:xfrm>
        </p:grpSpPr>
        <p:sp>
          <p:nvSpPr>
            <p:cNvPr name="Freeform 86" id="86"/>
            <p:cNvSpPr/>
            <p:nvPr/>
          </p:nvSpPr>
          <p:spPr>
            <a:xfrm flipH="false" flipV="false" rot="0">
              <a:off x="0" y="0"/>
              <a:ext cx="4321937" cy="1670304"/>
            </a:xfrm>
            <a:custGeom>
              <a:avLst/>
              <a:gdLst/>
              <a:ahLst/>
              <a:cxnLst/>
              <a:rect r="r" b="b" t="t" l="l"/>
              <a:pathLst>
                <a:path h="1670304" w="4321937">
                  <a:moveTo>
                    <a:pt x="0" y="0"/>
                  </a:moveTo>
                  <a:lnTo>
                    <a:pt x="4321937" y="0"/>
                  </a:lnTo>
                  <a:lnTo>
                    <a:pt x="4321937" y="1670304"/>
                  </a:lnTo>
                  <a:lnTo>
                    <a:pt x="0" y="1670304"/>
                  </a:lnTo>
                  <a:close/>
                </a:path>
              </a:pathLst>
            </a:custGeom>
            <a:blipFill>
              <a:blip r:embed="rId5">
                <a:alphaModFix amt="0"/>
              </a:blip>
              <a:stretch>
                <a:fillRect l="0" t="-381" r="0" b="-383"/>
              </a:stretch>
            </a:blipFill>
          </p:spPr>
          <p:txBody>
            <a:bodyPr/>
            <a:p/>
          </p:txBody>
        </p:sp>
      </p:grpSp>
      <p:grpSp>
        <p:nvGrpSpPr>
          <p:cNvPr name="Group 87" id="87"/>
          <p:cNvGrpSpPr/>
          <p:nvPr/>
        </p:nvGrpSpPr>
        <p:grpSpPr>
          <a:xfrm rot="0">
            <a:off x="9825304" y="1991239"/>
            <a:ext cx="3241434" cy="1317041"/>
            <a:chOff x="0" y="0"/>
            <a:chExt cx="4321912" cy="1756054"/>
          </a:xfrm>
        </p:grpSpPr>
        <p:sp>
          <p:nvSpPr>
            <p:cNvPr name="Freeform 88" id="88"/>
            <p:cNvSpPr/>
            <p:nvPr/>
          </p:nvSpPr>
          <p:spPr>
            <a:xfrm flipH="false" flipV="false" rot="0">
              <a:off x="0" y="0"/>
              <a:ext cx="4321912" cy="1756054"/>
            </a:xfrm>
            <a:custGeom>
              <a:avLst/>
              <a:gdLst/>
              <a:ahLst/>
              <a:cxnLst/>
              <a:rect r="r" b="b" t="t" l="l"/>
              <a:pathLst>
                <a:path h="1756054" w="4321912">
                  <a:moveTo>
                    <a:pt x="0" y="0"/>
                  </a:moveTo>
                  <a:lnTo>
                    <a:pt x="4321912" y="0"/>
                  </a:lnTo>
                  <a:lnTo>
                    <a:pt x="4321912" y="1756054"/>
                  </a:lnTo>
                  <a:lnTo>
                    <a:pt x="0" y="1756054"/>
                  </a:lnTo>
                  <a:close/>
                </a:path>
              </a:pathLst>
            </a:custGeom>
            <a:blipFill>
              <a:blip r:embed="rId6">
                <a:alphaModFix amt="0"/>
              </a:blip>
              <a:stretch>
                <a:fillRect l="-2131" t="0" r="-2131" b="0"/>
              </a:stretch>
            </a:blipFill>
          </p:spPr>
          <p:txBody>
            <a:bodyPr/>
            <a:p/>
          </p:txBody>
        </p:sp>
        <p:sp>
          <p:nvSpPr>
            <p:cNvPr name="TextBox 89" id="89"/>
            <p:cNvSpPr txBox="true"/>
            <p:nvPr/>
          </p:nvSpPr>
          <p:spPr>
            <a:xfrm>
              <a:off x="0" y="-85725"/>
              <a:ext cx="4321912" cy="1841779"/>
            </a:xfrm>
            <a:prstGeom prst="rect">
              <a:avLst/>
            </a:prstGeom>
          </p:spPr>
          <p:txBody>
            <a:bodyPr anchor="ctr" rtlCol="false" tIns="0" lIns="0" bIns="0" rIns="0"/>
            <a:lstStyle/>
            <a:p>
              <a:pPr algn="l">
                <a:lnSpc>
                  <a:spcPts val="5397"/>
                </a:lnSpc>
              </a:pPr>
              <a:r>
                <a:rPr lang="en-US" sz="4499" b="true">
                  <a:solidFill>
                    <a:srgbClr val="0B5E6E"/>
                  </a:solidFill>
                  <a:latin typeface="Calibri (MS) Bold"/>
                  <a:ea typeface="Calibri (MS) Bold"/>
                  <a:cs typeface="Calibri (MS) Bold"/>
                  <a:sym typeface="Calibri (MS) Bold"/>
                </a:rPr>
                <a:t>&gt;40 juta</a:t>
              </a:r>
            </a:p>
          </p:txBody>
        </p:sp>
      </p:grpSp>
      <p:sp>
        <p:nvSpPr>
          <p:cNvPr name="TextBox 90" id="90"/>
          <p:cNvSpPr txBox="true"/>
          <p:nvPr/>
        </p:nvSpPr>
        <p:spPr>
          <a:xfrm rot="0">
            <a:off x="9825304" y="3401959"/>
            <a:ext cx="3241434" cy="1014365"/>
          </a:xfrm>
          <a:prstGeom prst="rect">
            <a:avLst/>
          </a:prstGeom>
        </p:spPr>
        <p:txBody>
          <a:bodyPr anchor="t" rtlCol="false" tIns="0" lIns="0" bIns="0" rIns="0">
            <a:spAutoFit/>
          </a:bodyPr>
          <a:lstStyle/>
          <a:p>
            <a:pPr algn="l">
              <a:lnSpc>
                <a:spcPts val="2430"/>
              </a:lnSpc>
            </a:pPr>
            <a:r>
              <a:rPr lang="en-US" sz="2025">
                <a:solidFill>
                  <a:srgbClr val="14313B"/>
                </a:solidFill>
                <a:latin typeface="Calibri (MS)"/>
                <a:ea typeface="Calibri (MS)"/>
                <a:cs typeface="Calibri (MS)"/>
                <a:sym typeface="Calibri (MS)"/>
              </a:rPr>
              <a:t>perjalanan wisatawan nusantara ke DIY pada 2025, peringkat ke-7 nasional</a:t>
            </a:r>
          </a:p>
        </p:txBody>
      </p:sp>
      <p:sp>
        <p:nvSpPr>
          <p:cNvPr name="Freeform 91" id="91"/>
          <p:cNvSpPr/>
          <p:nvPr/>
        </p:nvSpPr>
        <p:spPr>
          <a:xfrm flipH="false" flipV="false" rot="0">
            <a:off x="9518161" y="4845977"/>
            <a:ext cx="3842499" cy="3021844"/>
          </a:xfrm>
          <a:custGeom>
            <a:avLst/>
            <a:gdLst/>
            <a:ahLst/>
            <a:cxnLst/>
            <a:rect r="r" b="b" t="t" l="l"/>
            <a:pathLst>
              <a:path h="3021844" w="3842499">
                <a:moveTo>
                  <a:pt x="0" y="0"/>
                </a:moveTo>
                <a:lnTo>
                  <a:pt x="3842499" y="0"/>
                </a:lnTo>
                <a:lnTo>
                  <a:pt x="3842499" y="3021844"/>
                </a:lnTo>
                <a:lnTo>
                  <a:pt x="0" y="3021844"/>
                </a:lnTo>
                <a:lnTo>
                  <a:pt x="0" y="0"/>
                </a:lnTo>
                <a:close/>
              </a:path>
            </a:pathLst>
          </a:custGeom>
          <a:blipFill>
            <a:blip r:embed="rId7">
              <a:extLst>
                <a:ext uri="{96DAC541-7B7A-43D3-8B79-37D633B846F1}">
                  <asvg:svgBlip xmlns:asvg="http://schemas.microsoft.com/office/drawing/2016/SVG/main" r:embed="rId8"/>
                </a:ext>
              </a:extLst>
            </a:blip>
            <a:stretch>
              <a:fillRect l="0" t="-44" r="0" b="-44"/>
            </a:stretch>
          </a:blipFill>
        </p:spPr>
        <p:txBody>
          <a:bodyPr/>
          <a:p/>
        </p:txBody>
      </p:sp>
      <p:grpSp>
        <p:nvGrpSpPr>
          <p:cNvPr name="Group 92" id="92"/>
          <p:cNvGrpSpPr/>
          <p:nvPr/>
        </p:nvGrpSpPr>
        <p:grpSpPr>
          <a:xfrm rot="0">
            <a:off x="9825304" y="5258972"/>
            <a:ext cx="3241453" cy="1190720"/>
            <a:chOff x="0" y="0"/>
            <a:chExt cx="4321937" cy="1587627"/>
          </a:xfrm>
        </p:grpSpPr>
        <p:sp>
          <p:nvSpPr>
            <p:cNvPr name="Freeform 93" id="93"/>
            <p:cNvSpPr/>
            <p:nvPr/>
          </p:nvSpPr>
          <p:spPr>
            <a:xfrm flipH="false" flipV="false" rot="0">
              <a:off x="0" y="0"/>
              <a:ext cx="4321937" cy="1587627"/>
            </a:xfrm>
            <a:custGeom>
              <a:avLst/>
              <a:gdLst/>
              <a:ahLst/>
              <a:cxnLst/>
              <a:rect r="r" b="b" t="t" l="l"/>
              <a:pathLst>
                <a:path h="1587627" w="4321937">
                  <a:moveTo>
                    <a:pt x="0" y="0"/>
                  </a:moveTo>
                  <a:lnTo>
                    <a:pt x="4321937" y="0"/>
                  </a:lnTo>
                  <a:lnTo>
                    <a:pt x="4321937" y="1587627"/>
                  </a:lnTo>
                  <a:lnTo>
                    <a:pt x="0" y="1587627"/>
                  </a:lnTo>
                  <a:close/>
                </a:path>
              </a:pathLst>
            </a:custGeom>
            <a:blipFill>
              <a:blip r:embed="rId4">
                <a:alphaModFix amt="0"/>
              </a:blip>
              <a:stretch>
                <a:fillRect l="0" t="-3006" r="0" b="-3006"/>
              </a:stretch>
            </a:blipFill>
          </p:spPr>
          <p:txBody>
            <a:bodyPr/>
            <a:p/>
          </p:txBody>
        </p:sp>
      </p:grpSp>
      <p:grpSp>
        <p:nvGrpSpPr>
          <p:cNvPr name="Group 94" id="94"/>
          <p:cNvGrpSpPr/>
          <p:nvPr/>
        </p:nvGrpSpPr>
        <p:grpSpPr>
          <a:xfrm rot="0">
            <a:off x="9825304" y="5190058"/>
            <a:ext cx="3241434" cy="1259643"/>
            <a:chOff x="0" y="0"/>
            <a:chExt cx="4321912" cy="1679524"/>
          </a:xfrm>
        </p:grpSpPr>
        <p:sp>
          <p:nvSpPr>
            <p:cNvPr name="Freeform 95" id="95"/>
            <p:cNvSpPr/>
            <p:nvPr/>
          </p:nvSpPr>
          <p:spPr>
            <a:xfrm flipH="false" flipV="false" rot="0">
              <a:off x="0" y="0"/>
              <a:ext cx="4321937" cy="1679575"/>
            </a:xfrm>
            <a:custGeom>
              <a:avLst/>
              <a:gdLst/>
              <a:ahLst/>
              <a:cxnLst/>
              <a:rect r="r" b="b" t="t" l="l"/>
              <a:pathLst>
                <a:path h="1679575" w="4321937">
                  <a:moveTo>
                    <a:pt x="0" y="0"/>
                  </a:moveTo>
                  <a:lnTo>
                    <a:pt x="4321937" y="0"/>
                  </a:lnTo>
                  <a:lnTo>
                    <a:pt x="4321937" y="1679575"/>
                  </a:lnTo>
                  <a:lnTo>
                    <a:pt x="0" y="1679575"/>
                  </a:lnTo>
                  <a:close/>
                </a:path>
              </a:pathLst>
            </a:custGeom>
            <a:blipFill>
              <a:blip r:embed="rId5">
                <a:alphaModFix amt="0"/>
              </a:blip>
              <a:stretch>
                <a:fillRect l="0" t="-105" r="0" b="-102"/>
              </a:stretch>
            </a:blipFill>
          </p:spPr>
          <p:txBody>
            <a:bodyPr/>
            <a:p/>
          </p:txBody>
        </p:sp>
      </p:grpSp>
      <p:grpSp>
        <p:nvGrpSpPr>
          <p:cNvPr name="Group 96" id="96"/>
          <p:cNvGrpSpPr/>
          <p:nvPr/>
        </p:nvGrpSpPr>
        <p:grpSpPr>
          <a:xfrm rot="0">
            <a:off x="9825304" y="5118621"/>
            <a:ext cx="3241434" cy="1331081"/>
            <a:chOff x="0" y="0"/>
            <a:chExt cx="4321912" cy="1774774"/>
          </a:xfrm>
        </p:grpSpPr>
        <p:sp>
          <p:nvSpPr>
            <p:cNvPr name="Freeform 97" id="97"/>
            <p:cNvSpPr/>
            <p:nvPr/>
          </p:nvSpPr>
          <p:spPr>
            <a:xfrm flipH="false" flipV="false" rot="0">
              <a:off x="0" y="0"/>
              <a:ext cx="4321912" cy="1774774"/>
            </a:xfrm>
            <a:custGeom>
              <a:avLst/>
              <a:gdLst/>
              <a:ahLst/>
              <a:cxnLst/>
              <a:rect r="r" b="b" t="t" l="l"/>
              <a:pathLst>
                <a:path h="1774774" w="4321912">
                  <a:moveTo>
                    <a:pt x="0" y="0"/>
                  </a:moveTo>
                  <a:lnTo>
                    <a:pt x="4321912" y="0"/>
                  </a:lnTo>
                  <a:lnTo>
                    <a:pt x="4321912" y="1774774"/>
                  </a:lnTo>
                  <a:lnTo>
                    <a:pt x="0" y="1774774"/>
                  </a:lnTo>
                  <a:close/>
                </a:path>
              </a:pathLst>
            </a:custGeom>
            <a:blipFill>
              <a:blip r:embed="rId6">
                <a:alphaModFix amt="0"/>
              </a:blip>
              <a:stretch>
                <a:fillRect l="-2687" t="0" r="-2687" b="0"/>
              </a:stretch>
            </a:blipFill>
          </p:spPr>
          <p:txBody>
            <a:bodyPr/>
            <a:p/>
          </p:txBody>
        </p:sp>
        <p:sp>
          <p:nvSpPr>
            <p:cNvPr name="TextBox 98" id="98"/>
            <p:cNvSpPr txBox="true"/>
            <p:nvPr/>
          </p:nvSpPr>
          <p:spPr>
            <a:xfrm>
              <a:off x="0" y="-95250"/>
              <a:ext cx="4321912" cy="1870024"/>
            </a:xfrm>
            <a:prstGeom prst="rect">
              <a:avLst/>
            </a:prstGeom>
          </p:spPr>
          <p:txBody>
            <a:bodyPr anchor="ctr" rtlCol="false" tIns="0" lIns="0" bIns="0" rIns="0"/>
            <a:lstStyle/>
            <a:p>
              <a:pPr algn="l">
                <a:lnSpc>
                  <a:spcPts val="5400"/>
                </a:lnSpc>
              </a:pPr>
              <a:r>
                <a:rPr lang="en-US" sz="4500" b="true">
                  <a:solidFill>
                    <a:srgbClr val="0B5E6E"/>
                  </a:solidFill>
                  <a:latin typeface="Calibri (MS) Bold"/>
                  <a:ea typeface="Calibri (MS) Bold"/>
                  <a:cs typeface="Calibri (MS) Bold"/>
                  <a:sym typeface="Calibri (MS) Bold"/>
                </a:rPr>
                <a:t>59,69%</a:t>
              </a:r>
            </a:p>
          </p:txBody>
        </p:sp>
      </p:grpSp>
      <p:sp>
        <p:nvSpPr>
          <p:cNvPr name="TextBox 99" id="99"/>
          <p:cNvSpPr txBox="true"/>
          <p:nvPr/>
        </p:nvSpPr>
        <p:spPr>
          <a:xfrm rot="0">
            <a:off x="9816484" y="6391780"/>
            <a:ext cx="3241434" cy="1317555"/>
          </a:xfrm>
          <a:prstGeom prst="rect">
            <a:avLst/>
          </a:prstGeom>
        </p:spPr>
        <p:txBody>
          <a:bodyPr anchor="t" rtlCol="false" tIns="0" lIns="0" bIns="0" rIns="0">
            <a:spAutoFit/>
          </a:bodyPr>
          <a:lstStyle/>
          <a:p>
            <a:pPr algn="l">
              <a:lnSpc>
                <a:spcPts val="2430"/>
              </a:lnSpc>
            </a:pPr>
            <a:r>
              <a:rPr lang="en-US" sz="2025">
                <a:solidFill>
                  <a:srgbClr val="14313B"/>
                </a:solidFill>
                <a:latin typeface="Calibri (MS)"/>
                <a:ea typeface="Calibri (MS)"/>
                <a:cs typeface="Calibri (MS)"/>
                <a:sym typeface="Calibri (MS)"/>
              </a:rPr>
              <a:t>proporsi perjalanan antarprovinsi menuju DIY, urutan ke-2 setelah DKI Jakarta</a:t>
            </a:r>
          </a:p>
        </p:txBody>
      </p:sp>
      <p:sp>
        <p:nvSpPr>
          <p:cNvPr name="Freeform 100" id="100"/>
          <p:cNvSpPr/>
          <p:nvPr/>
        </p:nvSpPr>
        <p:spPr>
          <a:xfrm flipH="false" flipV="false" rot="0">
            <a:off x="13493734" y="4826927"/>
            <a:ext cx="3842499" cy="3021844"/>
          </a:xfrm>
          <a:custGeom>
            <a:avLst/>
            <a:gdLst/>
            <a:ahLst/>
            <a:cxnLst/>
            <a:rect r="r" b="b" t="t" l="l"/>
            <a:pathLst>
              <a:path h="3021844" w="3842499">
                <a:moveTo>
                  <a:pt x="0" y="0"/>
                </a:moveTo>
                <a:lnTo>
                  <a:pt x="3842499" y="0"/>
                </a:lnTo>
                <a:lnTo>
                  <a:pt x="3842499" y="3021844"/>
                </a:lnTo>
                <a:lnTo>
                  <a:pt x="0" y="3021844"/>
                </a:lnTo>
                <a:lnTo>
                  <a:pt x="0" y="0"/>
                </a:lnTo>
                <a:close/>
              </a:path>
            </a:pathLst>
          </a:custGeom>
          <a:blipFill>
            <a:blip r:embed="rId7">
              <a:extLst>
                <a:ext uri="{96DAC541-7B7A-43D3-8B79-37D633B846F1}">
                  <asvg:svgBlip xmlns:asvg="http://schemas.microsoft.com/office/drawing/2016/SVG/main" r:embed="rId8"/>
                </a:ext>
              </a:extLst>
            </a:blip>
            <a:stretch>
              <a:fillRect l="0" t="-44" r="0" b="-44"/>
            </a:stretch>
          </a:blipFill>
        </p:spPr>
        <p:txBody>
          <a:bodyPr/>
          <a:p/>
        </p:txBody>
      </p:sp>
      <p:grpSp>
        <p:nvGrpSpPr>
          <p:cNvPr name="Group 101" id="101"/>
          <p:cNvGrpSpPr/>
          <p:nvPr/>
        </p:nvGrpSpPr>
        <p:grpSpPr>
          <a:xfrm rot="0">
            <a:off x="13800877" y="5239922"/>
            <a:ext cx="3241453" cy="1190720"/>
            <a:chOff x="0" y="0"/>
            <a:chExt cx="4321937" cy="1587627"/>
          </a:xfrm>
        </p:grpSpPr>
        <p:sp>
          <p:nvSpPr>
            <p:cNvPr name="Freeform 102" id="102"/>
            <p:cNvSpPr/>
            <p:nvPr/>
          </p:nvSpPr>
          <p:spPr>
            <a:xfrm flipH="false" flipV="false" rot="0">
              <a:off x="0" y="0"/>
              <a:ext cx="4321937" cy="1587627"/>
            </a:xfrm>
            <a:custGeom>
              <a:avLst/>
              <a:gdLst/>
              <a:ahLst/>
              <a:cxnLst/>
              <a:rect r="r" b="b" t="t" l="l"/>
              <a:pathLst>
                <a:path h="1587627" w="4321937">
                  <a:moveTo>
                    <a:pt x="0" y="0"/>
                  </a:moveTo>
                  <a:lnTo>
                    <a:pt x="4321937" y="0"/>
                  </a:lnTo>
                  <a:lnTo>
                    <a:pt x="4321937" y="1587627"/>
                  </a:lnTo>
                  <a:lnTo>
                    <a:pt x="0" y="1587627"/>
                  </a:lnTo>
                  <a:close/>
                </a:path>
              </a:pathLst>
            </a:custGeom>
            <a:blipFill>
              <a:blip r:embed="rId4">
                <a:alphaModFix amt="0"/>
              </a:blip>
              <a:stretch>
                <a:fillRect l="0" t="-3006" r="0" b="-3006"/>
              </a:stretch>
            </a:blipFill>
          </p:spPr>
          <p:txBody>
            <a:bodyPr/>
            <a:p/>
          </p:txBody>
        </p:sp>
      </p:grpSp>
      <p:grpSp>
        <p:nvGrpSpPr>
          <p:cNvPr name="Group 103" id="103"/>
          <p:cNvGrpSpPr/>
          <p:nvPr/>
        </p:nvGrpSpPr>
        <p:grpSpPr>
          <a:xfrm rot="0">
            <a:off x="13800877" y="5177904"/>
            <a:ext cx="3241434" cy="1252747"/>
            <a:chOff x="0" y="0"/>
            <a:chExt cx="4321912" cy="1670329"/>
          </a:xfrm>
        </p:grpSpPr>
        <p:sp>
          <p:nvSpPr>
            <p:cNvPr name="Freeform 104" id="104"/>
            <p:cNvSpPr/>
            <p:nvPr/>
          </p:nvSpPr>
          <p:spPr>
            <a:xfrm flipH="false" flipV="false" rot="0">
              <a:off x="0" y="0"/>
              <a:ext cx="4321937" cy="1670304"/>
            </a:xfrm>
            <a:custGeom>
              <a:avLst/>
              <a:gdLst/>
              <a:ahLst/>
              <a:cxnLst/>
              <a:rect r="r" b="b" t="t" l="l"/>
              <a:pathLst>
                <a:path h="1670304" w="4321937">
                  <a:moveTo>
                    <a:pt x="0" y="0"/>
                  </a:moveTo>
                  <a:lnTo>
                    <a:pt x="4321937" y="0"/>
                  </a:lnTo>
                  <a:lnTo>
                    <a:pt x="4321937" y="1670304"/>
                  </a:lnTo>
                  <a:lnTo>
                    <a:pt x="0" y="1670304"/>
                  </a:lnTo>
                  <a:close/>
                </a:path>
              </a:pathLst>
            </a:custGeom>
            <a:blipFill>
              <a:blip r:embed="rId5">
                <a:alphaModFix amt="0"/>
              </a:blip>
              <a:stretch>
                <a:fillRect l="0" t="-381" r="0" b="-383"/>
              </a:stretch>
            </a:blipFill>
          </p:spPr>
          <p:txBody>
            <a:bodyPr/>
            <a:p/>
          </p:txBody>
        </p:sp>
      </p:grpSp>
      <p:grpSp>
        <p:nvGrpSpPr>
          <p:cNvPr name="Group 105" id="105"/>
          <p:cNvGrpSpPr/>
          <p:nvPr/>
        </p:nvGrpSpPr>
        <p:grpSpPr>
          <a:xfrm rot="0">
            <a:off x="13800877" y="5113611"/>
            <a:ext cx="3241434" cy="1317041"/>
            <a:chOff x="0" y="0"/>
            <a:chExt cx="4321912" cy="1756054"/>
          </a:xfrm>
        </p:grpSpPr>
        <p:sp>
          <p:nvSpPr>
            <p:cNvPr name="Freeform 106" id="106"/>
            <p:cNvSpPr/>
            <p:nvPr/>
          </p:nvSpPr>
          <p:spPr>
            <a:xfrm flipH="false" flipV="false" rot="0">
              <a:off x="0" y="0"/>
              <a:ext cx="4321912" cy="1756054"/>
            </a:xfrm>
            <a:custGeom>
              <a:avLst/>
              <a:gdLst/>
              <a:ahLst/>
              <a:cxnLst/>
              <a:rect r="r" b="b" t="t" l="l"/>
              <a:pathLst>
                <a:path h="1756054" w="4321912">
                  <a:moveTo>
                    <a:pt x="0" y="0"/>
                  </a:moveTo>
                  <a:lnTo>
                    <a:pt x="4321912" y="0"/>
                  </a:lnTo>
                  <a:lnTo>
                    <a:pt x="4321912" y="1756054"/>
                  </a:lnTo>
                  <a:lnTo>
                    <a:pt x="0" y="1756054"/>
                  </a:lnTo>
                  <a:close/>
                </a:path>
              </a:pathLst>
            </a:custGeom>
            <a:blipFill>
              <a:blip r:embed="rId6">
                <a:alphaModFix amt="0"/>
              </a:blip>
              <a:stretch>
                <a:fillRect l="-2131" t="0" r="-2131" b="0"/>
              </a:stretch>
            </a:blipFill>
          </p:spPr>
          <p:txBody>
            <a:bodyPr/>
            <a:p/>
          </p:txBody>
        </p:sp>
        <p:sp>
          <p:nvSpPr>
            <p:cNvPr name="TextBox 107" id="107"/>
            <p:cNvSpPr txBox="true"/>
            <p:nvPr/>
          </p:nvSpPr>
          <p:spPr>
            <a:xfrm>
              <a:off x="0" y="-85725"/>
              <a:ext cx="4321912" cy="1841779"/>
            </a:xfrm>
            <a:prstGeom prst="rect">
              <a:avLst/>
            </a:prstGeom>
          </p:spPr>
          <p:txBody>
            <a:bodyPr anchor="ctr" rtlCol="false" tIns="0" lIns="0" bIns="0" rIns="0"/>
            <a:lstStyle/>
            <a:p>
              <a:pPr algn="l">
                <a:lnSpc>
                  <a:spcPts val="5397"/>
                </a:lnSpc>
              </a:pPr>
              <a:r>
                <a:rPr lang="en-US" sz="4499" b="true">
                  <a:solidFill>
                    <a:srgbClr val="0B5E6E"/>
                  </a:solidFill>
                  <a:latin typeface="Calibri (MS) Bold"/>
                  <a:ea typeface="Calibri (MS) Bold"/>
                  <a:cs typeface="Calibri (MS) Bold"/>
                  <a:sym typeface="Calibri (MS) Bold"/>
                </a:rPr>
                <a:t>Peringkat 1</a:t>
              </a:r>
            </a:p>
          </p:txBody>
        </p:sp>
      </p:grpSp>
      <p:sp>
        <p:nvSpPr>
          <p:cNvPr name="TextBox 108" id="108"/>
          <p:cNvSpPr txBox="true"/>
          <p:nvPr/>
        </p:nvSpPr>
        <p:spPr>
          <a:xfrm rot="0">
            <a:off x="13800877" y="6524330"/>
            <a:ext cx="3241434" cy="1014365"/>
          </a:xfrm>
          <a:prstGeom prst="rect">
            <a:avLst/>
          </a:prstGeom>
        </p:spPr>
        <p:txBody>
          <a:bodyPr anchor="t" rtlCol="false" tIns="0" lIns="0" bIns="0" rIns="0">
            <a:spAutoFit/>
          </a:bodyPr>
          <a:lstStyle/>
          <a:p>
            <a:pPr algn="l">
              <a:lnSpc>
                <a:spcPts val="2430"/>
              </a:lnSpc>
            </a:pPr>
            <a:r>
              <a:rPr lang="en-US" sz="2025">
                <a:solidFill>
                  <a:srgbClr val="14313B"/>
                </a:solidFill>
                <a:latin typeface="Calibri (MS)"/>
                <a:ea typeface="Calibri (MS)"/>
                <a:cs typeface="Calibri (MS)"/>
                <a:sym typeface="Calibri (MS)"/>
              </a:rPr>
              <a:t>nasional pada sub-indeks Travel and Tourism Demand Drivers (IPKN 2024)</a:t>
            </a:r>
          </a:p>
        </p:txBody>
      </p:sp>
      <p:sp>
        <p:nvSpPr>
          <p:cNvPr name="Freeform 109" id="109"/>
          <p:cNvSpPr/>
          <p:nvPr/>
        </p:nvSpPr>
        <p:spPr>
          <a:xfrm flipH="false" flipV="false" rot="0">
            <a:off x="13493734" y="1704565"/>
            <a:ext cx="3842499" cy="3021844"/>
          </a:xfrm>
          <a:custGeom>
            <a:avLst/>
            <a:gdLst/>
            <a:ahLst/>
            <a:cxnLst/>
            <a:rect r="r" b="b" t="t" l="l"/>
            <a:pathLst>
              <a:path h="3021844" w="3842499">
                <a:moveTo>
                  <a:pt x="0" y="0"/>
                </a:moveTo>
                <a:lnTo>
                  <a:pt x="3842499" y="0"/>
                </a:lnTo>
                <a:lnTo>
                  <a:pt x="3842499" y="3021845"/>
                </a:lnTo>
                <a:lnTo>
                  <a:pt x="0" y="3021845"/>
                </a:lnTo>
                <a:lnTo>
                  <a:pt x="0" y="0"/>
                </a:lnTo>
                <a:close/>
              </a:path>
            </a:pathLst>
          </a:custGeom>
          <a:blipFill>
            <a:blip r:embed="rId7">
              <a:extLst>
                <a:ext uri="{96DAC541-7B7A-43D3-8B79-37D633B846F1}">
                  <asvg:svgBlip xmlns:asvg="http://schemas.microsoft.com/office/drawing/2016/SVG/main" r:embed="rId8"/>
                </a:ext>
              </a:extLst>
            </a:blip>
            <a:stretch>
              <a:fillRect l="0" t="-44" r="0" b="-44"/>
            </a:stretch>
          </a:blipFill>
        </p:spPr>
        <p:txBody>
          <a:bodyPr/>
          <a:p/>
        </p:txBody>
      </p:sp>
      <p:grpSp>
        <p:nvGrpSpPr>
          <p:cNvPr name="Group 110" id="110"/>
          <p:cNvGrpSpPr/>
          <p:nvPr/>
        </p:nvGrpSpPr>
        <p:grpSpPr>
          <a:xfrm rot="0">
            <a:off x="13800877" y="2117550"/>
            <a:ext cx="3241453" cy="1190720"/>
            <a:chOff x="0" y="0"/>
            <a:chExt cx="4321937" cy="1587627"/>
          </a:xfrm>
        </p:grpSpPr>
        <p:sp>
          <p:nvSpPr>
            <p:cNvPr name="Freeform 111" id="111"/>
            <p:cNvSpPr/>
            <p:nvPr/>
          </p:nvSpPr>
          <p:spPr>
            <a:xfrm flipH="false" flipV="false" rot="0">
              <a:off x="0" y="0"/>
              <a:ext cx="4321937" cy="1587627"/>
            </a:xfrm>
            <a:custGeom>
              <a:avLst/>
              <a:gdLst/>
              <a:ahLst/>
              <a:cxnLst/>
              <a:rect r="r" b="b" t="t" l="l"/>
              <a:pathLst>
                <a:path h="1587627" w="4321937">
                  <a:moveTo>
                    <a:pt x="0" y="0"/>
                  </a:moveTo>
                  <a:lnTo>
                    <a:pt x="4321937" y="0"/>
                  </a:lnTo>
                  <a:lnTo>
                    <a:pt x="4321937" y="1587627"/>
                  </a:lnTo>
                  <a:lnTo>
                    <a:pt x="0" y="1587627"/>
                  </a:lnTo>
                  <a:close/>
                </a:path>
              </a:pathLst>
            </a:custGeom>
            <a:blipFill>
              <a:blip r:embed="rId4">
                <a:alphaModFix amt="0"/>
              </a:blip>
              <a:stretch>
                <a:fillRect l="0" t="-3006" r="0" b="-3006"/>
              </a:stretch>
            </a:blipFill>
          </p:spPr>
          <p:txBody>
            <a:bodyPr/>
            <a:p/>
          </p:txBody>
        </p:sp>
      </p:grpSp>
      <p:grpSp>
        <p:nvGrpSpPr>
          <p:cNvPr name="Group 112" id="112"/>
          <p:cNvGrpSpPr/>
          <p:nvPr/>
        </p:nvGrpSpPr>
        <p:grpSpPr>
          <a:xfrm rot="0">
            <a:off x="13800877" y="2048647"/>
            <a:ext cx="3241434" cy="1259643"/>
            <a:chOff x="0" y="0"/>
            <a:chExt cx="4321912" cy="1679524"/>
          </a:xfrm>
        </p:grpSpPr>
        <p:sp>
          <p:nvSpPr>
            <p:cNvPr name="Freeform 113" id="113"/>
            <p:cNvSpPr/>
            <p:nvPr/>
          </p:nvSpPr>
          <p:spPr>
            <a:xfrm flipH="false" flipV="false" rot="0">
              <a:off x="0" y="0"/>
              <a:ext cx="4321937" cy="1679575"/>
            </a:xfrm>
            <a:custGeom>
              <a:avLst/>
              <a:gdLst/>
              <a:ahLst/>
              <a:cxnLst/>
              <a:rect r="r" b="b" t="t" l="l"/>
              <a:pathLst>
                <a:path h="1679575" w="4321937">
                  <a:moveTo>
                    <a:pt x="0" y="0"/>
                  </a:moveTo>
                  <a:lnTo>
                    <a:pt x="4321937" y="0"/>
                  </a:lnTo>
                  <a:lnTo>
                    <a:pt x="4321937" y="1679575"/>
                  </a:lnTo>
                  <a:lnTo>
                    <a:pt x="0" y="1679575"/>
                  </a:lnTo>
                  <a:close/>
                </a:path>
              </a:pathLst>
            </a:custGeom>
            <a:blipFill>
              <a:blip r:embed="rId5">
                <a:alphaModFix amt="0"/>
              </a:blip>
              <a:stretch>
                <a:fillRect l="0" t="-105" r="0" b="-102"/>
              </a:stretch>
            </a:blipFill>
          </p:spPr>
          <p:txBody>
            <a:bodyPr/>
            <a:p/>
          </p:txBody>
        </p:sp>
      </p:grpSp>
      <p:grpSp>
        <p:nvGrpSpPr>
          <p:cNvPr name="Group 114" id="114"/>
          <p:cNvGrpSpPr/>
          <p:nvPr/>
        </p:nvGrpSpPr>
        <p:grpSpPr>
          <a:xfrm rot="0">
            <a:off x="13800877" y="1977209"/>
            <a:ext cx="3241434" cy="1331081"/>
            <a:chOff x="0" y="0"/>
            <a:chExt cx="4321912" cy="1774774"/>
          </a:xfrm>
        </p:grpSpPr>
        <p:sp>
          <p:nvSpPr>
            <p:cNvPr name="Freeform 115" id="115"/>
            <p:cNvSpPr/>
            <p:nvPr/>
          </p:nvSpPr>
          <p:spPr>
            <a:xfrm flipH="false" flipV="false" rot="0">
              <a:off x="0" y="0"/>
              <a:ext cx="4321912" cy="1774774"/>
            </a:xfrm>
            <a:custGeom>
              <a:avLst/>
              <a:gdLst/>
              <a:ahLst/>
              <a:cxnLst/>
              <a:rect r="r" b="b" t="t" l="l"/>
              <a:pathLst>
                <a:path h="1774774" w="4321912">
                  <a:moveTo>
                    <a:pt x="0" y="0"/>
                  </a:moveTo>
                  <a:lnTo>
                    <a:pt x="4321912" y="0"/>
                  </a:lnTo>
                  <a:lnTo>
                    <a:pt x="4321912" y="1774774"/>
                  </a:lnTo>
                  <a:lnTo>
                    <a:pt x="0" y="1774774"/>
                  </a:lnTo>
                  <a:close/>
                </a:path>
              </a:pathLst>
            </a:custGeom>
            <a:blipFill>
              <a:blip r:embed="rId6">
                <a:alphaModFix amt="0"/>
              </a:blip>
              <a:stretch>
                <a:fillRect l="-2687" t="0" r="-2687" b="0"/>
              </a:stretch>
            </a:blipFill>
          </p:spPr>
          <p:txBody>
            <a:bodyPr/>
            <a:p/>
          </p:txBody>
        </p:sp>
        <p:sp>
          <p:nvSpPr>
            <p:cNvPr name="TextBox 116" id="116"/>
            <p:cNvSpPr txBox="true"/>
            <p:nvPr/>
          </p:nvSpPr>
          <p:spPr>
            <a:xfrm>
              <a:off x="0" y="-95250"/>
              <a:ext cx="4321912" cy="1870024"/>
            </a:xfrm>
            <a:prstGeom prst="rect">
              <a:avLst/>
            </a:prstGeom>
          </p:spPr>
          <p:txBody>
            <a:bodyPr anchor="ctr" rtlCol="false" tIns="0" lIns="0" bIns="0" rIns="0"/>
            <a:lstStyle/>
            <a:p>
              <a:pPr algn="l">
                <a:lnSpc>
                  <a:spcPts val="5400"/>
                </a:lnSpc>
              </a:pPr>
              <a:r>
                <a:rPr lang="en-US" sz="4500" b="true">
                  <a:solidFill>
                    <a:srgbClr val="0B5E6E"/>
                  </a:solidFill>
                  <a:latin typeface="Calibri (MS) Bold"/>
                  <a:ea typeface="Calibri (MS) Bold"/>
                  <a:cs typeface="Calibri (MS) Bold"/>
                  <a:sym typeface="Calibri (MS) Bold"/>
                </a:rPr>
                <a:t>Prioritas #2</a:t>
              </a:r>
            </a:p>
          </p:txBody>
        </p:sp>
      </p:grpSp>
      <p:sp>
        <p:nvSpPr>
          <p:cNvPr name="TextBox 117" id="117"/>
          <p:cNvSpPr txBox="true"/>
          <p:nvPr/>
        </p:nvSpPr>
        <p:spPr>
          <a:xfrm rot="0">
            <a:off x="13800877" y="3401959"/>
            <a:ext cx="3241434" cy="1014365"/>
          </a:xfrm>
          <a:prstGeom prst="rect">
            <a:avLst/>
          </a:prstGeom>
        </p:spPr>
        <p:txBody>
          <a:bodyPr anchor="t" rtlCol="false" tIns="0" lIns="0" bIns="0" rIns="0">
            <a:spAutoFit/>
          </a:bodyPr>
          <a:lstStyle/>
          <a:p>
            <a:pPr algn="l">
              <a:lnSpc>
                <a:spcPts val="2430"/>
              </a:lnSpc>
            </a:pPr>
            <a:r>
              <a:rPr lang="en-US" sz="2025">
                <a:solidFill>
                  <a:srgbClr val="14313B"/>
                </a:solidFill>
                <a:latin typeface="Calibri (MS)"/>
                <a:ea typeface="Calibri (MS)"/>
                <a:cs typeface="Calibri (MS)"/>
                <a:sym typeface="Calibri (MS)"/>
              </a:rPr>
              <a:t>sektor prioritas Pemda DIY setelah pendidikan (RPJMD 2012–2025)</a:t>
            </a:r>
          </a:p>
        </p:txBody>
      </p:sp>
      <p:sp>
        <p:nvSpPr>
          <p:cNvPr name="TextBox 118" id="118"/>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5</a:t>
            </a:r>
          </a:p>
        </p:txBody>
      </p:sp>
      <p:grpSp>
        <p:nvGrpSpPr>
          <p:cNvPr name="Group 119" id="119"/>
          <p:cNvGrpSpPr/>
          <p:nvPr/>
        </p:nvGrpSpPr>
        <p:grpSpPr>
          <a:xfrm rot="0">
            <a:off x="822960" y="1711452"/>
            <a:ext cx="7584948" cy="6169628"/>
            <a:chOff x="0" y="0"/>
            <a:chExt cx="10113264" cy="8226171"/>
          </a:xfrm>
        </p:grpSpPr>
        <p:sp>
          <p:nvSpPr>
            <p:cNvPr name="Freeform 120" id="120"/>
            <p:cNvSpPr/>
            <p:nvPr/>
          </p:nvSpPr>
          <p:spPr>
            <a:xfrm flipH="false" flipV="false" rot="0">
              <a:off x="0" y="0"/>
              <a:ext cx="10113264" cy="8226171"/>
            </a:xfrm>
            <a:custGeom>
              <a:avLst/>
              <a:gdLst/>
              <a:ahLst/>
              <a:cxnLst/>
              <a:rect r="r" b="b" t="t" l="l"/>
              <a:pathLst>
                <a:path h="8226171" w="10113264">
                  <a:moveTo>
                    <a:pt x="0" y="0"/>
                  </a:moveTo>
                  <a:lnTo>
                    <a:pt x="10113264" y="0"/>
                  </a:lnTo>
                  <a:lnTo>
                    <a:pt x="10113264" y="8226171"/>
                  </a:lnTo>
                  <a:lnTo>
                    <a:pt x="0" y="8226171"/>
                  </a:lnTo>
                  <a:lnTo>
                    <a:pt x="0" y="0"/>
                  </a:lnTo>
                  <a:close/>
                </a:path>
              </a:pathLst>
            </a:custGeom>
            <a:blipFill>
              <a:blip r:embed="rId9"/>
              <a:stretch>
                <a:fillRect l="-4358" t="0" r="-4358" b="0"/>
              </a:stretch>
            </a:blipFill>
          </p:spPr>
          <p:txBody>
            <a:bodyPr/>
            <a:p/>
          </p:txBody>
        </p:sp>
      </p:grpSp>
      <p:grpSp>
        <p:nvGrpSpPr>
          <p:cNvPr name="Group 121" id="121"/>
          <p:cNvGrpSpPr/>
          <p:nvPr/>
        </p:nvGrpSpPr>
        <p:grpSpPr>
          <a:xfrm rot="0">
            <a:off x="16047720" y="9646920"/>
            <a:ext cx="420624" cy="420624"/>
            <a:chOff x="0" y="0"/>
            <a:chExt cx="560832" cy="560832"/>
          </a:xfrm>
        </p:grpSpPr>
        <p:sp>
          <p:nvSpPr>
            <p:cNvPr name="Freeform 122" id="122"/>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23" id="123"/>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6304" r="0" b="-576304"/>
              </a:stretch>
            </a:blipFill>
          </p:spPr>
          <p:txBody>
            <a:bodyPr/>
            <a:p/>
          </p:txBody>
        </p:sp>
        <p:sp>
          <p:nvSpPr>
            <p:cNvPr name="TextBox 6" id="6"/>
            <p:cNvSpPr txBox="true"/>
            <p:nvPr/>
          </p:nvSpPr>
          <p:spPr>
            <a:xfrm>
              <a:off x="0" y="-28575"/>
              <a:ext cx="16459200" cy="54063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grpSp>
        <p:nvGrpSpPr>
          <p:cNvPr name="Group 7" id="7"/>
          <p:cNvGrpSpPr/>
          <p:nvPr/>
        </p:nvGrpSpPr>
        <p:grpSpPr>
          <a:xfrm rot="0">
            <a:off x="822960" y="2743200"/>
            <a:ext cx="2125980" cy="1645920"/>
            <a:chOff x="0" y="0"/>
            <a:chExt cx="2834640" cy="2194560"/>
          </a:xfrm>
        </p:grpSpPr>
        <p:sp>
          <p:nvSpPr>
            <p:cNvPr name="Freeform 8" id="8"/>
            <p:cNvSpPr/>
            <p:nvPr/>
          </p:nvSpPr>
          <p:spPr>
            <a:xfrm flipH="false" flipV="false" rot="0">
              <a:off x="0" y="0"/>
              <a:ext cx="2834640" cy="2194560"/>
            </a:xfrm>
            <a:custGeom>
              <a:avLst/>
              <a:gdLst/>
              <a:ahLst/>
              <a:cxnLst/>
              <a:rect r="r" b="b" t="t" l="l"/>
              <a:pathLst>
                <a:path h="2194560" w="2834640">
                  <a:moveTo>
                    <a:pt x="0" y="182880"/>
                  </a:moveTo>
                  <a:cubicBezTo>
                    <a:pt x="0" y="81915"/>
                    <a:pt x="81915" y="0"/>
                    <a:pt x="182880" y="0"/>
                  </a:cubicBezTo>
                  <a:lnTo>
                    <a:pt x="2651760" y="0"/>
                  </a:lnTo>
                  <a:cubicBezTo>
                    <a:pt x="2752725" y="0"/>
                    <a:pt x="2834640" y="81915"/>
                    <a:pt x="2834640" y="182880"/>
                  </a:cubicBezTo>
                  <a:lnTo>
                    <a:pt x="2834640" y="2011680"/>
                  </a:lnTo>
                  <a:cubicBezTo>
                    <a:pt x="2834640" y="2112645"/>
                    <a:pt x="2752725" y="2194560"/>
                    <a:pt x="2651760" y="2194560"/>
                  </a:cubicBezTo>
                  <a:lnTo>
                    <a:pt x="182880" y="2194560"/>
                  </a:lnTo>
                  <a:cubicBezTo>
                    <a:pt x="81915" y="2194560"/>
                    <a:pt x="0" y="2112645"/>
                    <a:pt x="0" y="2011680"/>
                  </a:cubicBezTo>
                  <a:close/>
                </a:path>
              </a:pathLst>
            </a:custGeom>
            <a:solidFill>
              <a:srgbClr val="EAF8FA"/>
            </a:solidFill>
          </p:spPr>
          <p:txBody>
            <a:bodyPr/>
            <a:p/>
          </p:txBody>
        </p:sp>
      </p:grpSp>
      <p:grpSp>
        <p:nvGrpSpPr>
          <p:cNvPr name="Group 9" id="9"/>
          <p:cNvGrpSpPr/>
          <p:nvPr/>
        </p:nvGrpSpPr>
        <p:grpSpPr>
          <a:xfrm rot="0">
            <a:off x="960120" y="2743200"/>
            <a:ext cx="1851660" cy="1645920"/>
            <a:chOff x="0" y="0"/>
            <a:chExt cx="2468880" cy="2194560"/>
          </a:xfrm>
        </p:grpSpPr>
        <p:sp>
          <p:nvSpPr>
            <p:cNvPr name="Freeform 10" id="10"/>
            <p:cNvSpPr/>
            <p:nvPr/>
          </p:nvSpPr>
          <p:spPr>
            <a:xfrm flipH="false" flipV="false" rot="0">
              <a:off x="0" y="0"/>
              <a:ext cx="2468880" cy="2194560"/>
            </a:xfrm>
            <a:custGeom>
              <a:avLst/>
              <a:gdLst/>
              <a:ahLst/>
              <a:cxnLst/>
              <a:rect r="r" b="b" t="t" l="l"/>
              <a:pathLst>
                <a:path h="2194560" w="2468880">
                  <a:moveTo>
                    <a:pt x="0" y="0"/>
                  </a:moveTo>
                  <a:lnTo>
                    <a:pt x="2468880" y="0"/>
                  </a:lnTo>
                  <a:lnTo>
                    <a:pt x="2468880" y="2194560"/>
                  </a:lnTo>
                  <a:lnTo>
                    <a:pt x="0" y="2194560"/>
                  </a:lnTo>
                  <a:close/>
                </a:path>
              </a:pathLst>
            </a:custGeom>
            <a:blipFill>
              <a:blip r:embed="rId4">
                <a:alphaModFix amt="0"/>
              </a:blip>
              <a:stretch>
                <a:fillRect l="-64047" t="0" r="-64047" b="0"/>
              </a:stretch>
            </a:blipFill>
          </p:spPr>
          <p:txBody>
            <a:bodyPr/>
            <a:p/>
          </p:txBody>
        </p:sp>
        <p:sp>
          <p:nvSpPr>
            <p:cNvPr name="TextBox 11" id="11"/>
            <p:cNvSpPr txBox="true"/>
            <p:nvPr/>
          </p:nvSpPr>
          <p:spPr>
            <a:xfrm>
              <a:off x="0" y="-47625"/>
              <a:ext cx="2468880" cy="2242185"/>
            </a:xfrm>
            <a:prstGeom prst="rect">
              <a:avLst/>
            </a:prstGeom>
          </p:spPr>
          <p:txBody>
            <a:bodyPr anchor="ctr" rtlCol="false" tIns="0" lIns="0" bIns="0" rIns="0"/>
            <a:lstStyle/>
            <a:p>
              <a:pPr algn="ctr">
                <a:lnSpc>
                  <a:spcPts val="2520"/>
                </a:lnSpc>
              </a:pPr>
              <a:r>
                <a:rPr lang="en-US" sz="2100" b="true">
                  <a:solidFill>
                    <a:srgbClr val="0B5E6E"/>
                  </a:solidFill>
                  <a:latin typeface="Calibri (MS) Bold"/>
                  <a:ea typeface="Calibri (MS) Bold"/>
                  <a:cs typeface="Calibri (MS) Bold"/>
                  <a:sym typeface="Calibri (MS) Bold"/>
                </a:rPr>
                <a:t>Permintaan wisatawan</a:t>
              </a:r>
            </a:p>
          </p:txBody>
        </p:sp>
      </p:grpSp>
      <p:grpSp>
        <p:nvGrpSpPr>
          <p:cNvPr name="Group 12" id="12"/>
          <p:cNvGrpSpPr/>
          <p:nvPr/>
        </p:nvGrpSpPr>
        <p:grpSpPr>
          <a:xfrm rot="0">
            <a:off x="3429000" y="2743200"/>
            <a:ext cx="2125980" cy="1645920"/>
            <a:chOff x="0" y="0"/>
            <a:chExt cx="2834640" cy="2194560"/>
          </a:xfrm>
        </p:grpSpPr>
        <p:sp>
          <p:nvSpPr>
            <p:cNvPr name="Freeform 13" id="13"/>
            <p:cNvSpPr/>
            <p:nvPr/>
          </p:nvSpPr>
          <p:spPr>
            <a:xfrm flipH="false" flipV="false" rot="0">
              <a:off x="0" y="0"/>
              <a:ext cx="2834640" cy="2194560"/>
            </a:xfrm>
            <a:custGeom>
              <a:avLst/>
              <a:gdLst/>
              <a:ahLst/>
              <a:cxnLst/>
              <a:rect r="r" b="b" t="t" l="l"/>
              <a:pathLst>
                <a:path h="2194560" w="2834640">
                  <a:moveTo>
                    <a:pt x="0" y="182880"/>
                  </a:moveTo>
                  <a:cubicBezTo>
                    <a:pt x="0" y="81915"/>
                    <a:pt x="81915" y="0"/>
                    <a:pt x="182880" y="0"/>
                  </a:cubicBezTo>
                  <a:lnTo>
                    <a:pt x="2651760" y="0"/>
                  </a:lnTo>
                  <a:cubicBezTo>
                    <a:pt x="2752725" y="0"/>
                    <a:pt x="2834640" y="81915"/>
                    <a:pt x="2834640" y="182880"/>
                  </a:cubicBezTo>
                  <a:lnTo>
                    <a:pt x="2834640" y="2011680"/>
                  </a:lnTo>
                  <a:cubicBezTo>
                    <a:pt x="2834640" y="2112645"/>
                    <a:pt x="2752725" y="2194560"/>
                    <a:pt x="2651760" y="2194560"/>
                  </a:cubicBezTo>
                  <a:lnTo>
                    <a:pt x="182880" y="2194560"/>
                  </a:lnTo>
                  <a:cubicBezTo>
                    <a:pt x="81915" y="2194560"/>
                    <a:pt x="0" y="2112645"/>
                    <a:pt x="0" y="2011680"/>
                  </a:cubicBezTo>
                  <a:close/>
                </a:path>
              </a:pathLst>
            </a:custGeom>
            <a:solidFill>
              <a:srgbClr val="EAF8FA"/>
            </a:solidFill>
          </p:spPr>
          <p:txBody>
            <a:bodyPr/>
            <a:p/>
          </p:txBody>
        </p:sp>
      </p:grpSp>
      <p:grpSp>
        <p:nvGrpSpPr>
          <p:cNvPr name="Group 14" id="14"/>
          <p:cNvGrpSpPr/>
          <p:nvPr/>
        </p:nvGrpSpPr>
        <p:grpSpPr>
          <a:xfrm rot="0">
            <a:off x="3566160" y="2743200"/>
            <a:ext cx="1851660" cy="1645920"/>
            <a:chOff x="0" y="0"/>
            <a:chExt cx="2468880" cy="2194560"/>
          </a:xfrm>
        </p:grpSpPr>
        <p:sp>
          <p:nvSpPr>
            <p:cNvPr name="Freeform 15" id="15"/>
            <p:cNvSpPr/>
            <p:nvPr/>
          </p:nvSpPr>
          <p:spPr>
            <a:xfrm flipH="false" flipV="false" rot="0">
              <a:off x="0" y="0"/>
              <a:ext cx="2468880" cy="2194560"/>
            </a:xfrm>
            <a:custGeom>
              <a:avLst/>
              <a:gdLst/>
              <a:ahLst/>
              <a:cxnLst/>
              <a:rect r="r" b="b" t="t" l="l"/>
              <a:pathLst>
                <a:path h="2194560" w="2468880">
                  <a:moveTo>
                    <a:pt x="0" y="0"/>
                  </a:moveTo>
                  <a:lnTo>
                    <a:pt x="2468880" y="0"/>
                  </a:lnTo>
                  <a:lnTo>
                    <a:pt x="2468880" y="2194560"/>
                  </a:lnTo>
                  <a:lnTo>
                    <a:pt x="0" y="2194560"/>
                  </a:lnTo>
                  <a:close/>
                </a:path>
              </a:pathLst>
            </a:custGeom>
            <a:blipFill>
              <a:blip r:embed="rId4">
                <a:alphaModFix amt="0"/>
              </a:blip>
              <a:stretch>
                <a:fillRect l="-64047" t="0" r="-64047" b="0"/>
              </a:stretch>
            </a:blipFill>
          </p:spPr>
          <p:txBody>
            <a:bodyPr/>
            <a:p/>
          </p:txBody>
        </p:sp>
        <p:sp>
          <p:nvSpPr>
            <p:cNvPr name="TextBox 16" id="16"/>
            <p:cNvSpPr txBox="true"/>
            <p:nvPr/>
          </p:nvSpPr>
          <p:spPr>
            <a:xfrm>
              <a:off x="0" y="-47625"/>
              <a:ext cx="2468880" cy="2242185"/>
            </a:xfrm>
            <a:prstGeom prst="rect">
              <a:avLst/>
            </a:prstGeom>
          </p:spPr>
          <p:txBody>
            <a:bodyPr anchor="ctr" rtlCol="false" tIns="0" lIns="0" bIns="0" rIns="0"/>
            <a:lstStyle/>
            <a:p>
              <a:pPr algn="ctr">
                <a:lnSpc>
                  <a:spcPts val="2520"/>
                </a:lnSpc>
              </a:pPr>
              <a:r>
                <a:rPr lang="en-US" sz="2100" b="true">
                  <a:solidFill>
                    <a:srgbClr val="0B5E6E"/>
                  </a:solidFill>
                  <a:latin typeface="Calibri (MS) Bold"/>
                  <a:ea typeface="Calibri (MS) Bold"/>
                  <a:cs typeface="Calibri (MS) Bold"/>
                  <a:sym typeface="Calibri (MS) Bold"/>
                </a:rPr>
                <a:t>Akomodasi &amp; objek daya tarik</a:t>
              </a:r>
            </a:p>
          </p:txBody>
        </p:sp>
      </p:grpSp>
      <p:grpSp>
        <p:nvGrpSpPr>
          <p:cNvPr name="Group 17" id="17"/>
          <p:cNvGrpSpPr/>
          <p:nvPr/>
        </p:nvGrpSpPr>
        <p:grpSpPr>
          <a:xfrm rot="0">
            <a:off x="6035040" y="2743200"/>
            <a:ext cx="2125980" cy="1645920"/>
            <a:chOff x="0" y="0"/>
            <a:chExt cx="2834640" cy="2194560"/>
          </a:xfrm>
        </p:grpSpPr>
        <p:sp>
          <p:nvSpPr>
            <p:cNvPr name="Freeform 18" id="18"/>
            <p:cNvSpPr/>
            <p:nvPr/>
          </p:nvSpPr>
          <p:spPr>
            <a:xfrm flipH="false" flipV="false" rot="0">
              <a:off x="0" y="0"/>
              <a:ext cx="2834640" cy="2194560"/>
            </a:xfrm>
            <a:custGeom>
              <a:avLst/>
              <a:gdLst/>
              <a:ahLst/>
              <a:cxnLst/>
              <a:rect r="r" b="b" t="t" l="l"/>
              <a:pathLst>
                <a:path h="2194560" w="2834640">
                  <a:moveTo>
                    <a:pt x="0" y="182880"/>
                  </a:moveTo>
                  <a:cubicBezTo>
                    <a:pt x="0" y="81915"/>
                    <a:pt x="81915" y="0"/>
                    <a:pt x="182880" y="0"/>
                  </a:cubicBezTo>
                  <a:lnTo>
                    <a:pt x="2651760" y="0"/>
                  </a:lnTo>
                  <a:cubicBezTo>
                    <a:pt x="2752725" y="0"/>
                    <a:pt x="2834640" y="81915"/>
                    <a:pt x="2834640" y="182880"/>
                  </a:cubicBezTo>
                  <a:lnTo>
                    <a:pt x="2834640" y="2011680"/>
                  </a:lnTo>
                  <a:cubicBezTo>
                    <a:pt x="2834640" y="2112645"/>
                    <a:pt x="2752725" y="2194560"/>
                    <a:pt x="2651760" y="2194560"/>
                  </a:cubicBezTo>
                  <a:lnTo>
                    <a:pt x="182880" y="2194560"/>
                  </a:lnTo>
                  <a:cubicBezTo>
                    <a:pt x="81915" y="2194560"/>
                    <a:pt x="0" y="2112645"/>
                    <a:pt x="0" y="2011680"/>
                  </a:cubicBezTo>
                  <a:close/>
                </a:path>
              </a:pathLst>
            </a:custGeom>
            <a:solidFill>
              <a:srgbClr val="EAF8FA"/>
            </a:solidFill>
          </p:spPr>
          <p:txBody>
            <a:bodyPr/>
            <a:p/>
          </p:txBody>
        </p:sp>
      </p:grpSp>
      <p:grpSp>
        <p:nvGrpSpPr>
          <p:cNvPr name="Group 19" id="19"/>
          <p:cNvGrpSpPr/>
          <p:nvPr/>
        </p:nvGrpSpPr>
        <p:grpSpPr>
          <a:xfrm rot="0">
            <a:off x="6172200" y="2743200"/>
            <a:ext cx="1851660" cy="1645920"/>
            <a:chOff x="0" y="0"/>
            <a:chExt cx="2468880" cy="2194560"/>
          </a:xfrm>
        </p:grpSpPr>
        <p:sp>
          <p:nvSpPr>
            <p:cNvPr name="Freeform 20" id="20"/>
            <p:cNvSpPr/>
            <p:nvPr/>
          </p:nvSpPr>
          <p:spPr>
            <a:xfrm flipH="false" flipV="false" rot="0">
              <a:off x="0" y="0"/>
              <a:ext cx="2468880" cy="2194560"/>
            </a:xfrm>
            <a:custGeom>
              <a:avLst/>
              <a:gdLst/>
              <a:ahLst/>
              <a:cxnLst/>
              <a:rect r="r" b="b" t="t" l="l"/>
              <a:pathLst>
                <a:path h="2194560" w="2468880">
                  <a:moveTo>
                    <a:pt x="0" y="0"/>
                  </a:moveTo>
                  <a:lnTo>
                    <a:pt x="2468880" y="0"/>
                  </a:lnTo>
                  <a:lnTo>
                    <a:pt x="2468880" y="2194560"/>
                  </a:lnTo>
                  <a:lnTo>
                    <a:pt x="0" y="2194560"/>
                  </a:lnTo>
                  <a:close/>
                </a:path>
              </a:pathLst>
            </a:custGeom>
            <a:blipFill>
              <a:blip r:embed="rId4">
                <a:alphaModFix amt="0"/>
              </a:blip>
              <a:stretch>
                <a:fillRect l="-64047" t="0" r="-64047" b="0"/>
              </a:stretch>
            </a:blipFill>
          </p:spPr>
          <p:txBody>
            <a:bodyPr/>
            <a:p/>
          </p:txBody>
        </p:sp>
        <p:sp>
          <p:nvSpPr>
            <p:cNvPr name="TextBox 21" id="21"/>
            <p:cNvSpPr txBox="true"/>
            <p:nvPr/>
          </p:nvSpPr>
          <p:spPr>
            <a:xfrm>
              <a:off x="0" y="-47625"/>
              <a:ext cx="2468880" cy="2242185"/>
            </a:xfrm>
            <a:prstGeom prst="rect">
              <a:avLst/>
            </a:prstGeom>
          </p:spPr>
          <p:txBody>
            <a:bodyPr anchor="ctr" rtlCol="false" tIns="0" lIns="0" bIns="0" rIns="0"/>
            <a:lstStyle/>
            <a:p>
              <a:pPr algn="ctr">
                <a:lnSpc>
                  <a:spcPts val="2520"/>
                </a:lnSpc>
              </a:pPr>
              <a:r>
                <a:rPr lang="en-US" sz="2100" b="true">
                  <a:solidFill>
                    <a:srgbClr val="0B5E6E"/>
                  </a:solidFill>
                  <a:latin typeface="Calibri (MS) Bold"/>
                  <a:ea typeface="Calibri (MS) Bold"/>
                  <a:cs typeface="Calibri (MS) Bold"/>
                  <a:sym typeface="Calibri (MS) Bold"/>
                </a:rPr>
                <a:t>Nilai tambah &amp; tenaga kerja</a:t>
              </a:r>
            </a:p>
          </p:txBody>
        </p:sp>
      </p:grpSp>
      <p:grpSp>
        <p:nvGrpSpPr>
          <p:cNvPr name="Group 22" id="22"/>
          <p:cNvGrpSpPr/>
          <p:nvPr/>
        </p:nvGrpSpPr>
        <p:grpSpPr>
          <a:xfrm rot="0">
            <a:off x="8641080" y="2743200"/>
            <a:ext cx="2125980" cy="1645920"/>
            <a:chOff x="0" y="0"/>
            <a:chExt cx="2834640" cy="2194560"/>
          </a:xfrm>
        </p:grpSpPr>
        <p:sp>
          <p:nvSpPr>
            <p:cNvPr name="Freeform 23" id="23"/>
            <p:cNvSpPr/>
            <p:nvPr/>
          </p:nvSpPr>
          <p:spPr>
            <a:xfrm flipH="false" flipV="false" rot="0">
              <a:off x="0" y="0"/>
              <a:ext cx="2834640" cy="2194560"/>
            </a:xfrm>
            <a:custGeom>
              <a:avLst/>
              <a:gdLst/>
              <a:ahLst/>
              <a:cxnLst/>
              <a:rect r="r" b="b" t="t" l="l"/>
              <a:pathLst>
                <a:path h="2194560" w="2834640">
                  <a:moveTo>
                    <a:pt x="0" y="182880"/>
                  </a:moveTo>
                  <a:cubicBezTo>
                    <a:pt x="0" y="81915"/>
                    <a:pt x="81915" y="0"/>
                    <a:pt x="182880" y="0"/>
                  </a:cubicBezTo>
                  <a:lnTo>
                    <a:pt x="2651760" y="0"/>
                  </a:lnTo>
                  <a:cubicBezTo>
                    <a:pt x="2752725" y="0"/>
                    <a:pt x="2834640" y="81915"/>
                    <a:pt x="2834640" y="182880"/>
                  </a:cubicBezTo>
                  <a:lnTo>
                    <a:pt x="2834640" y="2011680"/>
                  </a:lnTo>
                  <a:cubicBezTo>
                    <a:pt x="2834640" y="2112645"/>
                    <a:pt x="2752725" y="2194560"/>
                    <a:pt x="2651760" y="2194560"/>
                  </a:cubicBezTo>
                  <a:lnTo>
                    <a:pt x="182880" y="2194560"/>
                  </a:lnTo>
                  <a:cubicBezTo>
                    <a:pt x="81915" y="2194560"/>
                    <a:pt x="0" y="2112645"/>
                    <a:pt x="0" y="2011680"/>
                  </a:cubicBezTo>
                  <a:close/>
                </a:path>
              </a:pathLst>
            </a:custGeom>
            <a:solidFill>
              <a:srgbClr val="FFF1BF"/>
            </a:solidFill>
          </p:spPr>
          <p:txBody>
            <a:bodyPr/>
            <a:p/>
          </p:txBody>
        </p:sp>
      </p:grpSp>
      <p:grpSp>
        <p:nvGrpSpPr>
          <p:cNvPr name="Group 24" id="24"/>
          <p:cNvGrpSpPr/>
          <p:nvPr/>
        </p:nvGrpSpPr>
        <p:grpSpPr>
          <a:xfrm rot="0">
            <a:off x="8778240" y="2743200"/>
            <a:ext cx="1851660" cy="1645920"/>
            <a:chOff x="0" y="0"/>
            <a:chExt cx="2468880" cy="2194560"/>
          </a:xfrm>
        </p:grpSpPr>
        <p:sp>
          <p:nvSpPr>
            <p:cNvPr name="Freeform 25" id="25"/>
            <p:cNvSpPr/>
            <p:nvPr/>
          </p:nvSpPr>
          <p:spPr>
            <a:xfrm flipH="false" flipV="false" rot="0">
              <a:off x="0" y="0"/>
              <a:ext cx="2468880" cy="2194560"/>
            </a:xfrm>
            <a:custGeom>
              <a:avLst/>
              <a:gdLst/>
              <a:ahLst/>
              <a:cxnLst/>
              <a:rect r="r" b="b" t="t" l="l"/>
              <a:pathLst>
                <a:path h="2194560" w="2468880">
                  <a:moveTo>
                    <a:pt x="0" y="0"/>
                  </a:moveTo>
                  <a:lnTo>
                    <a:pt x="2468880" y="0"/>
                  </a:lnTo>
                  <a:lnTo>
                    <a:pt x="2468880" y="2194560"/>
                  </a:lnTo>
                  <a:lnTo>
                    <a:pt x="0" y="2194560"/>
                  </a:lnTo>
                  <a:close/>
                </a:path>
              </a:pathLst>
            </a:custGeom>
            <a:blipFill>
              <a:blip r:embed="rId4">
                <a:alphaModFix amt="0"/>
              </a:blip>
              <a:stretch>
                <a:fillRect l="-64047" t="0" r="-64047" b="0"/>
              </a:stretch>
            </a:blipFill>
          </p:spPr>
          <p:txBody>
            <a:bodyPr/>
            <a:p/>
          </p:txBody>
        </p:sp>
        <p:sp>
          <p:nvSpPr>
            <p:cNvPr name="TextBox 26" id="26"/>
            <p:cNvSpPr txBox="true"/>
            <p:nvPr/>
          </p:nvSpPr>
          <p:spPr>
            <a:xfrm>
              <a:off x="0" y="-47625"/>
              <a:ext cx="2468880" cy="2242185"/>
            </a:xfrm>
            <a:prstGeom prst="rect">
              <a:avLst/>
            </a:prstGeom>
          </p:spPr>
          <p:txBody>
            <a:bodyPr anchor="ctr" rtlCol="false" tIns="0" lIns="0" bIns="0" rIns="0"/>
            <a:lstStyle/>
            <a:p>
              <a:pPr algn="ctr">
                <a:lnSpc>
                  <a:spcPts val="2520"/>
                </a:lnSpc>
              </a:pPr>
              <a:r>
                <a:rPr lang="en-US" sz="2100" b="true">
                  <a:solidFill>
                    <a:srgbClr val="0B5E6E"/>
                  </a:solidFill>
                  <a:latin typeface="Calibri (MS) Bold"/>
                  <a:ea typeface="Calibri (MS) Bold"/>
                  <a:cs typeface="Calibri (MS) Bold"/>
                  <a:sym typeface="Calibri (MS) Bold"/>
                </a:rPr>
                <a:t>Tekanan tata ruang dan lahan</a:t>
              </a:r>
            </a:p>
          </p:txBody>
        </p:sp>
      </p:grpSp>
      <p:grpSp>
        <p:nvGrpSpPr>
          <p:cNvPr name="Group 27" id="27"/>
          <p:cNvGrpSpPr/>
          <p:nvPr/>
        </p:nvGrpSpPr>
        <p:grpSpPr>
          <a:xfrm rot="0">
            <a:off x="2331720" y="5650992"/>
            <a:ext cx="6583680" cy="1042416"/>
            <a:chOff x="0" y="0"/>
            <a:chExt cx="8778240" cy="1389888"/>
          </a:xfrm>
        </p:grpSpPr>
        <p:sp>
          <p:nvSpPr>
            <p:cNvPr name="Freeform 28" id="28"/>
            <p:cNvSpPr/>
            <p:nvPr/>
          </p:nvSpPr>
          <p:spPr>
            <a:xfrm flipH="false" flipV="false" rot="0">
              <a:off x="0" y="0"/>
              <a:ext cx="8778240" cy="1389888"/>
            </a:xfrm>
            <a:custGeom>
              <a:avLst/>
              <a:gdLst/>
              <a:ahLst/>
              <a:cxnLst/>
              <a:rect r="r" b="b" t="t" l="l"/>
              <a:pathLst>
                <a:path h="1389888" w="8778240">
                  <a:moveTo>
                    <a:pt x="0" y="182880"/>
                  </a:moveTo>
                  <a:cubicBezTo>
                    <a:pt x="0" y="81915"/>
                    <a:pt x="81915" y="0"/>
                    <a:pt x="182880" y="0"/>
                  </a:cubicBezTo>
                  <a:lnTo>
                    <a:pt x="8595360" y="0"/>
                  </a:lnTo>
                  <a:cubicBezTo>
                    <a:pt x="8696325" y="0"/>
                    <a:pt x="8778240" y="81915"/>
                    <a:pt x="8778240" y="182880"/>
                  </a:cubicBezTo>
                  <a:lnTo>
                    <a:pt x="8778240" y="1207008"/>
                  </a:lnTo>
                  <a:cubicBezTo>
                    <a:pt x="8778240" y="1307973"/>
                    <a:pt x="8696325" y="1389888"/>
                    <a:pt x="8595360" y="1389888"/>
                  </a:cubicBezTo>
                  <a:lnTo>
                    <a:pt x="182880" y="1389888"/>
                  </a:lnTo>
                  <a:cubicBezTo>
                    <a:pt x="81915" y="1389888"/>
                    <a:pt x="0" y="1307973"/>
                    <a:pt x="0" y="1207008"/>
                  </a:cubicBezTo>
                  <a:close/>
                </a:path>
              </a:pathLst>
            </a:custGeom>
            <a:solidFill>
              <a:srgbClr val="FFFFFF"/>
            </a:solidFill>
          </p:spPr>
          <p:txBody>
            <a:bodyPr/>
            <a:p/>
          </p:txBody>
        </p:sp>
      </p:grpSp>
      <p:grpSp>
        <p:nvGrpSpPr>
          <p:cNvPr name="Group 29" id="29"/>
          <p:cNvGrpSpPr/>
          <p:nvPr/>
        </p:nvGrpSpPr>
        <p:grpSpPr>
          <a:xfrm rot="0">
            <a:off x="2468880" y="5650992"/>
            <a:ext cx="6309360" cy="1042416"/>
            <a:chOff x="0" y="0"/>
            <a:chExt cx="8412480" cy="1389888"/>
          </a:xfrm>
        </p:grpSpPr>
        <p:sp>
          <p:nvSpPr>
            <p:cNvPr name="Freeform 30" id="30"/>
            <p:cNvSpPr/>
            <p:nvPr/>
          </p:nvSpPr>
          <p:spPr>
            <a:xfrm flipH="false" flipV="false" rot="0">
              <a:off x="0" y="0"/>
              <a:ext cx="8412480" cy="1389888"/>
            </a:xfrm>
            <a:custGeom>
              <a:avLst/>
              <a:gdLst/>
              <a:ahLst/>
              <a:cxnLst/>
              <a:rect r="r" b="b" t="t" l="l"/>
              <a:pathLst>
                <a:path h="1389888" w="8412480">
                  <a:moveTo>
                    <a:pt x="0" y="0"/>
                  </a:moveTo>
                  <a:lnTo>
                    <a:pt x="8412480" y="0"/>
                  </a:lnTo>
                  <a:lnTo>
                    <a:pt x="8412480" y="1389888"/>
                  </a:lnTo>
                  <a:lnTo>
                    <a:pt x="0" y="1389888"/>
                  </a:lnTo>
                  <a:close/>
                </a:path>
              </a:pathLst>
            </a:custGeom>
            <a:blipFill>
              <a:blip r:embed="rId4">
                <a:alphaModFix amt="0"/>
              </a:blip>
              <a:stretch>
                <a:fillRect l="0" t="-67935" r="0" b="-67935"/>
              </a:stretch>
            </a:blipFill>
          </p:spPr>
          <p:txBody>
            <a:bodyPr/>
            <a:p/>
          </p:txBody>
        </p:sp>
        <p:sp>
          <p:nvSpPr>
            <p:cNvPr name="TextBox 31" id="31"/>
            <p:cNvSpPr txBox="true"/>
            <p:nvPr/>
          </p:nvSpPr>
          <p:spPr>
            <a:xfrm>
              <a:off x="0" y="-47625"/>
              <a:ext cx="8412480" cy="1437513"/>
            </a:xfrm>
            <a:prstGeom prst="rect">
              <a:avLst/>
            </a:prstGeom>
          </p:spPr>
          <p:txBody>
            <a:bodyPr anchor="ctr" rtlCol="false" tIns="0" lIns="0" bIns="0" rIns="0"/>
            <a:lstStyle/>
            <a:p>
              <a:pPr algn="ctr">
                <a:lnSpc>
                  <a:spcPts val="2340"/>
                </a:lnSpc>
              </a:pPr>
              <a:r>
                <a:rPr lang="en-US" sz="1950" b="true">
                  <a:solidFill>
                    <a:srgbClr val="E4604F"/>
                  </a:solidFill>
                  <a:latin typeface="Calibri (MS) Bold"/>
                  <a:ea typeface="Calibri (MS) Bold"/>
                  <a:cs typeface="Calibri (MS) Bold"/>
                  <a:sym typeface="Calibri (MS) Bold"/>
                </a:rPr>
                <a:t>Kepadatan dan hilangnya daya dukung melemahkan daya tarik → menahan kunjungan</a:t>
              </a:r>
            </a:p>
          </p:txBody>
        </p:sp>
      </p:grpSp>
      <p:sp>
        <p:nvSpPr>
          <p:cNvPr name="TextBox 32" id="32"/>
          <p:cNvSpPr txBox="true"/>
          <p:nvPr/>
        </p:nvSpPr>
        <p:spPr>
          <a:xfrm rot="0">
            <a:off x="822960" y="7368540"/>
            <a:ext cx="9875520" cy="304800"/>
          </a:xfrm>
          <a:prstGeom prst="rect">
            <a:avLst/>
          </a:prstGeom>
        </p:spPr>
        <p:txBody>
          <a:bodyPr anchor="t" rtlCol="false" tIns="0" lIns="0" bIns="0" rIns="0">
            <a:spAutoFit/>
          </a:bodyPr>
          <a:lstStyle/>
          <a:p>
            <a:pPr algn="l">
              <a:lnSpc>
                <a:spcPts val="2160"/>
              </a:lnSpc>
            </a:pPr>
            <a:r>
              <a:rPr lang="en-US" sz="1800" i="true">
                <a:solidFill>
                  <a:srgbClr val="5E6E78"/>
                </a:solidFill>
                <a:latin typeface="Calibri (MS) Italics"/>
                <a:ea typeface="Calibri (MS) Italics"/>
                <a:cs typeface="Calibri (MS) Italics"/>
                <a:sym typeface="Calibri (MS) Italics"/>
              </a:rPr>
              <a:t>Hubungannya tidak linear dan dampaknya muncul dengan jeda waktu (Mai &amp; Smith, 2018)</a:t>
            </a:r>
          </a:p>
        </p:txBody>
      </p:sp>
      <p:sp>
        <p:nvSpPr>
          <p:cNvPr name="TextBox 33" id="33"/>
          <p:cNvSpPr txBox="true"/>
          <p:nvPr/>
        </p:nvSpPr>
        <p:spPr>
          <a:xfrm rot="0">
            <a:off x="11590020" y="2499360"/>
            <a:ext cx="5870448" cy="518160"/>
          </a:xfrm>
          <a:prstGeom prst="rect">
            <a:avLst/>
          </a:prstGeom>
        </p:spPr>
        <p:txBody>
          <a:bodyPr anchor="t" rtlCol="false" tIns="0" lIns="0" bIns="0" rIns="0">
            <a:spAutoFit/>
          </a:bodyPr>
          <a:lstStyle/>
          <a:p>
            <a:pPr algn="l">
              <a:lnSpc>
                <a:spcPts val="2879"/>
              </a:lnSpc>
            </a:pPr>
            <a:r>
              <a:rPr lang="en-US" sz="2400" b="true">
                <a:solidFill>
                  <a:srgbClr val="0B5E6E"/>
                </a:solidFill>
                <a:latin typeface="Calibri (MS) Bold"/>
                <a:ea typeface="Calibri (MS) Bold"/>
                <a:cs typeface="Calibri (MS) Bold"/>
                <a:sym typeface="Calibri (MS) Bold"/>
              </a:rPr>
              <a:t>Sistem kompleks</a:t>
            </a:r>
          </a:p>
        </p:txBody>
      </p:sp>
      <p:sp>
        <p:nvSpPr>
          <p:cNvPr name="TextBox 34" id="34"/>
          <p:cNvSpPr txBox="true"/>
          <p:nvPr/>
        </p:nvSpPr>
        <p:spPr>
          <a:xfrm rot="0">
            <a:off x="11590020" y="3038475"/>
            <a:ext cx="5870448" cy="676275"/>
          </a:xfrm>
          <a:prstGeom prst="rect">
            <a:avLst/>
          </a:prstGeom>
        </p:spPr>
        <p:txBody>
          <a:bodyPr anchor="t" rtlCol="false" tIns="0" lIns="0" bIns="0" rIns="0">
            <a:spAutoFit/>
          </a:bodyPr>
          <a:lstStyle/>
          <a:p>
            <a:pPr algn="l">
              <a:lnSpc>
                <a:spcPts val="2520"/>
              </a:lnSpc>
            </a:pPr>
            <a:r>
              <a:rPr lang="en-US" sz="2100">
                <a:solidFill>
                  <a:srgbClr val="14313B"/>
                </a:solidFill>
                <a:latin typeface="Calibri (MS)"/>
                <a:ea typeface="Calibri (MS)"/>
                <a:cs typeface="Calibri (MS)"/>
                <a:sym typeface="Calibri (MS)"/>
              </a:rPr>
              <a:t>Permintaan, akomodasi, ODTW, tenaga kerja, nilai tambah, dan lahan saling terkait.</a:t>
            </a:r>
          </a:p>
        </p:txBody>
      </p:sp>
      <p:sp>
        <p:nvSpPr>
          <p:cNvPr name="TextBox 35" id="35"/>
          <p:cNvSpPr txBox="true"/>
          <p:nvPr/>
        </p:nvSpPr>
        <p:spPr>
          <a:xfrm rot="0">
            <a:off x="11590020" y="4721352"/>
            <a:ext cx="5870448" cy="518160"/>
          </a:xfrm>
          <a:prstGeom prst="rect">
            <a:avLst/>
          </a:prstGeom>
        </p:spPr>
        <p:txBody>
          <a:bodyPr anchor="t" rtlCol="false" tIns="0" lIns="0" bIns="0" rIns="0">
            <a:spAutoFit/>
          </a:bodyPr>
          <a:lstStyle/>
          <a:p>
            <a:pPr algn="l">
              <a:lnSpc>
                <a:spcPts val="2879"/>
              </a:lnSpc>
            </a:pPr>
            <a:r>
              <a:rPr lang="en-US" sz="2400" b="true">
                <a:solidFill>
                  <a:srgbClr val="0B5E6E"/>
                </a:solidFill>
                <a:latin typeface="Calibri (MS) Bold"/>
                <a:ea typeface="Calibri (MS) Bold"/>
                <a:cs typeface="Calibri (MS) Bold"/>
                <a:sym typeface="Calibri (MS) Bold"/>
              </a:rPr>
              <a:t>Tekanan nyata</a:t>
            </a:r>
          </a:p>
        </p:txBody>
      </p:sp>
      <p:sp>
        <p:nvSpPr>
          <p:cNvPr name="TextBox 36" id="36"/>
          <p:cNvSpPr txBox="true"/>
          <p:nvPr/>
        </p:nvSpPr>
        <p:spPr>
          <a:xfrm rot="0">
            <a:off x="11590020" y="5260467"/>
            <a:ext cx="5870448" cy="676275"/>
          </a:xfrm>
          <a:prstGeom prst="rect">
            <a:avLst/>
          </a:prstGeom>
        </p:spPr>
        <p:txBody>
          <a:bodyPr anchor="t" rtlCol="false" tIns="0" lIns="0" bIns="0" rIns="0">
            <a:spAutoFit/>
          </a:bodyPr>
          <a:lstStyle/>
          <a:p>
            <a:pPr algn="l">
              <a:lnSpc>
                <a:spcPts val="2520"/>
              </a:lnSpc>
            </a:pPr>
            <a:r>
              <a:rPr lang="en-US" sz="2100">
                <a:solidFill>
                  <a:srgbClr val="14313B"/>
                </a:solidFill>
                <a:latin typeface="Calibri (MS)"/>
                <a:ea typeface="Calibri (MS)"/>
                <a:cs typeface="Calibri (MS)"/>
                <a:sym typeface="Calibri (MS)"/>
              </a:rPr>
              <a:t>Kepadatan kunjungan di koridor Malioboro dan konversi lahan terbangun di DIY.</a:t>
            </a:r>
          </a:p>
        </p:txBody>
      </p:sp>
      <p:sp>
        <p:nvSpPr>
          <p:cNvPr name="TextBox 37" id="37"/>
          <p:cNvSpPr txBox="true"/>
          <p:nvPr/>
        </p:nvSpPr>
        <p:spPr>
          <a:xfrm rot="0">
            <a:off x="11590020" y="6943344"/>
            <a:ext cx="5870448" cy="518160"/>
          </a:xfrm>
          <a:prstGeom prst="rect">
            <a:avLst/>
          </a:prstGeom>
        </p:spPr>
        <p:txBody>
          <a:bodyPr anchor="t" rtlCol="false" tIns="0" lIns="0" bIns="0" rIns="0">
            <a:spAutoFit/>
          </a:bodyPr>
          <a:lstStyle/>
          <a:p>
            <a:pPr algn="l">
              <a:lnSpc>
                <a:spcPts val="2879"/>
              </a:lnSpc>
            </a:pPr>
            <a:r>
              <a:rPr lang="en-US" sz="2400" b="true">
                <a:solidFill>
                  <a:srgbClr val="0B5E6E"/>
                </a:solidFill>
                <a:latin typeface="Calibri (MS) Bold"/>
                <a:ea typeface="Calibri (MS) Bold"/>
                <a:cs typeface="Calibri (MS) Bold"/>
                <a:sym typeface="Calibri (MS) Bold"/>
              </a:rPr>
              <a:t>Konsekuensi</a:t>
            </a:r>
          </a:p>
        </p:txBody>
      </p:sp>
      <p:sp>
        <p:nvSpPr>
          <p:cNvPr name="TextBox 38" id="38"/>
          <p:cNvSpPr txBox="true"/>
          <p:nvPr/>
        </p:nvSpPr>
        <p:spPr>
          <a:xfrm rot="0">
            <a:off x="11590020" y="7482459"/>
            <a:ext cx="5870448" cy="990600"/>
          </a:xfrm>
          <a:prstGeom prst="rect">
            <a:avLst/>
          </a:prstGeom>
        </p:spPr>
        <p:txBody>
          <a:bodyPr anchor="t" rtlCol="false" tIns="0" lIns="0" bIns="0" rIns="0">
            <a:spAutoFit/>
          </a:bodyPr>
          <a:lstStyle/>
          <a:p>
            <a:pPr algn="l">
              <a:lnSpc>
                <a:spcPts val="2520"/>
              </a:lnSpc>
            </a:pPr>
            <a:r>
              <a:rPr lang="en-US" sz="2100">
                <a:solidFill>
                  <a:srgbClr val="14313B"/>
                </a:solidFill>
                <a:latin typeface="Calibri (MS)"/>
                <a:ea typeface="Calibri (MS)"/>
                <a:cs typeface="Calibri (MS)"/>
                <a:sym typeface="Calibri (MS)"/>
              </a:rPr>
              <a:t>Analisis komponen terpisah tidak cukup: keterkaitanlah yang menentukan pertumbuhan berlanjut atau berbalik menekan destinasi.</a:t>
            </a:r>
          </a:p>
        </p:txBody>
      </p:sp>
      <p:sp>
        <p:nvSpPr>
          <p:cNvPr name="Freeform 39" id="39"/>
          <p:cNvSpPr/>
          <p:nvPr/>
        </p:nvSpPr>
        <p:spPr>
          <a:xfrm>
            <a:off x="1885950" y="4389120"/>
            <a:ext cx="582930" cy="1783080"/>
          </a:xfrm>
          <a:custGeom>
            <a:avLst/>
            <a:gdLst/>
            <a:ahLst/>
            <a:cxnLst/>
            <a:rect r="r" b="b" t="t" l="l"/>
            <a:pathLst>
              <a:path h="1783080" w="582930">
                <a:moveTo>
                  <a:pt x="582930" y="1783080"/>
                </a:moveTo>
                <a:lnTo>
                  <a:pt x="228600" y="1783080"/>
                </a:lnTo>
                <a:cubicBezTo>
                  <a:pt x="102348" y="1783080"/>
                  <a:pt x="0" y="1680732"/>
                  <a:pt x="0" y="1554480"/>
                </a:cubicBezTo>
                <a:lnTo>
                  <a:pt x="0" y="0"/>
                </a:lnTo>
              </a:path>
            </a:pathLst>
          </a:custGeom>
          <a:ln cap="flat" w="38100">
            <a:solidFill>
              <a:srgbClr val="E4604F"/>
            </a:solidFill>
            <a:prstDash val="solid"/>
            <a:headEnd type="none" len="sm" w="sm"/>
            <a:tailEnd type="triangle" len="med" w="lg"/>
          </a:ln>
        </p:spPr>
        <p:txBody>
          <a:bodyPr/>
          <a:p/>
        </p:txBody>
      </p:sp>
      <p:sp>
        <p:nvSpPr>
          <p:cNvPr name="Freeform 40" id="40"/>
          <p:cNvSpPr/>
          <p:nvPr/>
        </p:nvSpPr>
        <p:spPr>
          <a:xfrm>
            <a:off x="8860150" y="4454001"/>
            <a:ext cx="992416" cy="1708064"/>
          </a:xfrm>
          <a:custGeom>
            <a:avLst/>
            <a:gdLst/>
            <a:ahLst/>
            <a:cxnLst/>
            <a:rect r="r" b="b" t="t" l="l"/>
            <a:pathLst>
              <a:path h="1708064" w="992416">
                <a:moveTo>
                  <a:pt x="0" y="1708063"/>
                </a:moveTo>
                <a:lnTo>
                  <a:pt x="763816" y="1708063"/>
                </a:lnTo>
                <a:cubicBezTo>
                  <a:pt x="890068" y="1708063"/>
                  <a:pt x="992416" y="1605716"/>
                  <a:pt x="992416" y="1479463"/>
                </a:cubicBezTo>
                <a:lnTo>
                  <a:pt x="992416" y="0"/>
                </a:lnTo>
              </a:path>
            </a:pathLst>
          </a:custGeom>
          <a:ln cap="flat" w="38100">
            <a:solidFill>
              <a:srgbClr val="E4604F"/>
            </a:solidFill>
            <a:prstDash val="solid"/>
            <a:headEnd type="none" len="sm" w="sm"/>
            <a:tailEnd type="triangle" len="med" w="lg"/>
          </a:ln>
        </p:spPr>
        <p:txBody>
          <a:bodyPr/>
          <a:p/>
        </p:txBody>
      </p:sp>
      <p:sp>
        <p:nvSpPr>
          <p:cNvPr name="Freeform 41" id="41"/>
          <p:cNvSpPr/>
          <p:nvPr/>
        </p:nvSpPr>
        <p:spPr>
          <a:xfrm>
            <a:off x="2973629" y="3622755"/>
            <a:ext cx="455371" cy="19794"/>
          </a:xfrm>
          <a:custGeom>
            <a:avLst/>
            <a:gdLst/>
            <a:ahLst/>
            <a:cxnLst/>
            <a:rect r="r" b="b" t="t" l="l"/>
            <a:pathLst>
              <a:path h="19794" w="455371">
                <a:moveTo>
                  <a:pt x="0" y="19794"/>
                </a:moveTo>
                <a:lnTo>
                  <a:pt x="217788" y="19794"/>
                </a:lnTo>
                <a:cubicBezTo>
                  <a:pt x="220413" y="19794"/>
                  <a:pt x="222931" y="18752"/>
                  <a:pt x="224787" y="16896"/>
                </a:cubicBezTo>
                <a:cubicBezTo>
                  <a:pt x="226643" y="15040"/>
                  <a:pt x="227685" y="12522"/>
                  <a:pt x="227685" y="9897"/>
                </a:cubicBezTo>
                <a:lnTo>
                  <a:pt x="227685" y="9897"/>
                </a:lnTo>
                <a:cubicBezTo>
                  <a:pt x="227685" y="7272"/>
                  <a:pt x="228728" y="4755"/>
                  <a:pt x="230584" y="2899"/>
                </a:cubicBezTo>
                <a:cubicBezTo>
                  <a:pt x="232440" y="1043"/>
                  <a:pt x="234958" y="0"/>
                  <a:pt x="237583" y="0"/>
                </a:cubicBezTo>
                <a:lnTo>
                  <a:pt x="455371" y="0"/>
                </a:lnTo>
              </a:path>
            </a:pathLst>
          </a:custGeom>
          <a:ln cap="flat" w="38100">
            <a:solidFill>
              <a:srgbClr val="39C0D3"/>
            </a:solidFill>
            <a:prstDash val="solid"/>
            <a:headEnd type="none" len="sm" w="sm"/>
            <a:tailEnd type="triangle" len="med" w="lg"/>
          </a:ln>
        </p:spPr>
        <p:txBody>
          <a:bodyPr/>
          <a:p/>
        </p:txBody>
      </p:sp>
      <p:sp>
        <p:nvSpPr>
          <p:cNvPr name="Freeform 42" id="42"/>
          <p:cNvSpPr/>
          <p:nvPr/>
        </p:nvSpPr>
        <p:spPr>
          <a:xfrm>
            <a:off x="5554980" y="3530119"/>
            <a:ext cx="480060" cy="103152"/>
          </a:xfrm>
          <a:custGeom>
            <a:avLst/>
            <a:gdLst/>
            <a:ahLst/>
            <a:cxnLst/>
            <a:rect r="r" b="b" t="t" l="l"/>
            <a:pathLst>
              <a:path h="103152" w="480060">
                <a:moveTo>
                  <a:pt x="0" y="0"/>
                </a:moveTo>
                <a:lnTo>
                  <a:pt x="188454" y="0"/>
                </a:lnTo>
                <a:cubicBezTo>
                  <a:pt x="202133" y="0"/>
                  <a:pt x="215251" y="5433"/>
                  <a:pt x="224924" y="15106"/>
                </a:cubicBezTo>
                <a:cubicBezTo>
                  <a:pt x="234596" y="24778"/>
                  <a:pt x="240030" y="37897"/>
                  <a:pt x="240030" y="51576"/>
                </a:cubicBezTo>
                <a:lnTo>
                  <a:pt x="240030" y="51576"/>
                </a:lnTo>
                <a:cubicBezTo>
                  <a:pt x="240030" y="80060"/>
                  <a:pt x="263121" y="103151"/>
                  <a:pt x="291606" y="103151"/>
                </a:cubicBezTo>
                <a:lnTo>
                  <a:pt x="480060" y="103151"/>
                </a:lnTo>
              </a:path>
            </a:pathLst>
          </a:custGeom>
          <a:ln cap="flat" w="38100">
            <a:solidFill>
              <a:srgbClr val="39C0D3"/>
            </a:solidFill>
            <a:prstDash val="solid"/>
            <a:headEnd type="none" len="sm" w="sm"/>
            <a:tailEnd type="triangle" len="med" w="lg"/>
          </a:ln>
        </p:spPr>
        <p:txBody>
          <a:bodyPr/>
          <a:p/>
        </p:txBody>
      </p:sp>
      <p:sp>
        <p:nvSpPr>
          <p:cNvPr name="Freeform 43" id="43"/>
          <p:cNvSpPr/>
          <p:nvPr/>
        </p:nvSpPr>
        <p:spPr>
          <a:xfrm>
            <a:off x="8161020" y="3597635"/>
            <a:ext cx="543199" cy="19794"/>
          </a:xfrm>
          <a:custGeom>
            <a:avLst/>
            <a:gdLst/>
            <a:ahLst/>
            <a:cxnLst/>
            <a:rect r="r" b="b" t="t" l="l"/>
            <a:pathLst>
              <a:path h="19794" w="543199">
                <a:moveTo>
                  <a:pt x="0" y="19795"/>
                </a:moveTo>
                <a:lnTo>
                  <a:pt x="261702" y="19795"/>
                </a:lnTo>
                <a:cubicBezTo>
                  <a:pt x="264327" y="19795"/>
                  <a:pt x="266845" y="18752"/>
                  <a:pt x="268700" y="16896"/>
                </a:cubicBezTo>
                <a:cubicBezTo>
                  <a:pt x="270557" y="15040"/>
                  <a:pt x="271599" y="12523"/>
                  <a:pt x="271599" y="9898"/>
                </a:cubicBezTo>
                <a:lnTo>
                  <a:pt x="271599" y="9898"/>
                </a:lnTo>
                <a:cubicBezTo>
                  <a:pt x="271599" y="7272"/>
                  <a:pt x="272642" y="4755"/>
                  <a:pt x="274498" y="2899"/>
                </a:cubicBezTo>
                <a:cubicBezTo>
                  <a:pt x="276354" y="1043"/>
                  <a:pt x="278872" y="0"/>
                  <a:pt x="281496" y="0"/>
                </a:cubicBezTo>
                <a:lnTo>
                  <a:pt x="543198" y="0"/>
                </a:lnTo>
              </a:path>
            </a:pathLst>
          </a:custGeom>
          <a:ln cap="flat" w="38100">
            <a:solidFill>
              <a:srgbClr val="39C0D3"/>
            </a:solidFill>
            <a:prstDash val="solid"/>
            <a:headEnd type="none" len="sm" w="sm"/>
            <a:tailEnd type="triangle" len="med" w="lg"/>
          </a:ln>
        </p:spPr>
        <p:txBody>
          <a:bodyPr/>
          <a:p/>
        </p:txBody>
      </p:sp>
      <p:grpSp>
        <p:nvGrpSpPr>
          <p:cNvPr name="Group 44" id="44"/>
          <p:cNvGrpSpPr/>
          <p:nvPr/>
        </p:nvGrpSpPr>
        <p:grpSpPr>
          <a:xfrm rot="0">
            <a:off x="822960" y="274320"/>
            <a:ext cx="2040922" cy="411480"/>
            <a:chOff x="0" y="0"/>
            <a:chExt cx="2721229" cy="548640"/>
          </a:xfrm>
        </p:grpSpPr>
        <p:sp>
          <p:nvSpPr>
            <p:cNvPr name="Freeform 45" id="45"/>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6" id="46"/>
          <p:cNvGrpSpPr/>
          <p:nvPr/>
        </p:nvGrpSpPr>
        <p:grpSpPr>
          <a:xfrm rot="0">
            <a:off x="822960" y="274320"/>
            <a:ext cx="2040941" cy="411480"/>
            <a:chOff x="0" y="0"/>
            <a:chExt cx="2721254" cy="548640"/>
          </a:xfrm>
        </p:grpSpPr>
        <p:sp>
          <p:nvSpPr>
            <p:cNvPr name="Freeform 47" id="47"/>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5">
                <a:alphaModFix amt="0"/>
              </a:blip>
              <a:stretch>
                <a:fillRect l="0" t="-46578" r="0" b="-46578"/>
              </a:stretch>
            </a:blipFill>
          </p:spPr>
          <p:txBody>
            <a:bodyPr/>
            <a:p/>
          </p:txBody>
        </p:sp>
      </p:grpSp>
      <p:grpSp>
        <p:nvGrpSpPr>
          <p:cNvPr name="Group 48" id="48"/>
          <p:cNvGrpSpPr/>
          <p:nvPr/>
        </p:nvGrpSpPr>
        <p:grpSpPr>
          <a:xfrm rot="0">
            <a:off x="822960" y="260033"/>
            <a:ext cx="2040941" cy="425768"/>
            <a:chOff x="0" y="0"/>
            <a:chExt cx="2721254" cy="567690"/>
          </a:xfrm>
        </p:grpSpPr>
        <p:sp>
          <p:nvSpPr>
            <p:cNvPr name="Freeform 49" id="49"/>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4">
                <a:alphaModFix amt="0"/>
              </a:blip>
              <a:stretch>
                <a:fillRect l="0" t="-43402" r="0" b="-43402"/>
              </a:stretch>
            </a:blipFill>
          </p:spPr>
          <p:txBody>
            <a:bodyPr/>
            <a:p/>
          </p:txBody>
        </p:sp>
        <p:sp>
          <p:nvSpPr>
            <p:cNvPr name="TextBox 50" id="50"/>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Pendahuluan</a:t>
              </a:r>
            </a:p>
          </p:txBody>
        </p:sp>
      </p:grpSp>
      <p:grpSp>
        <p:nvGrpSpPr>
          <p:cNvPr name="Group 51" id="51"/>
          <p:cNvGrpSpPr/>
          <p:nvPr/>
        </p:nvGrpSpPr>
        <p:grpSpPr>
          <a:xfrm rot="0">
            <a:off x="2973629" y="274320"/>
            <a:ext cx="2378392" cy="411480"/>
            <a:chOff x="0" y="0"/>
            <a:chExt cx="3171190" cy="548640"/>
          </a:xfrm>
        </p:grpSpPr>
        <p:sp>
          <p:nvSpPr>
            <p:cNvPr name="Freeform 52" id="5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3" id="53"/>
          <p:cNvGrpSpPr/>
          <p:nvPr/>
        </p:nvGrpSpPr>
        <p:grpSpPr>
          <a:xfrm rot="0">
            <a:off x="2973629" y="274320"/>
            <a:ext cx="2378354" cy="411480"/>
            <a:chOff x="0" y="0"/>
            <a:chExt cx="3171139" cy="548640"/>
          </a:xfrm>
        </p:grpSpPr>
        <p:sp>
          <p:nvSpPr>
            <p:cNvPr name="Freeform 54" id="5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5">
                <a:alphaModFix amt="0"/>
              </a:blip>
              <a:stretch>
                <a:fillRect l="0" t="-62546" r="1" b="-62543"/>
              </a:stretch>
            </a:blipFill>
          </p:spPr>
          <p:txBody>
            <a:bodyPr/>
            <a:p/>
          </p:txBody>
        </p:sp>
      </p:grpSp>
      <p:grpSp>
        <p:nvGrpSpPr>
          <p:cNvPr name="Group 55" id="55"/>
          <p:cNvGrpSpPr/>
          <p:nvPr/>
        </p:nvGrpSpPr>
        <p:grpSpPr>
          <a:xfrm rot="0">
            <a:off x="2973629" y="260033"/>
            <a:ext cx="2378354" cy="425768"/>
            <a:chOff x="0" y="0"/>
            <a:chExt cx="3171139" cy="567690"/>
          </a:xfrm>
        </p:grpSpPr>
        <p:sp>
          <p:nvSpPr>
            <p:cNvPr name="Freeform 56" id="56"/>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4">
                <a:alphaModFix amt="0"/>
              </a:blip>
              <a:stretch>
                <a:fillRect l="0" t="-58844" r="0" b="-58844"/>
              </a:stretch>
            </a:blipFill>
          </p:spPr>
          <p:txBody>
            <a:bodyPr/>
            <a:p/>
          </p:txBody>
        </p:sp>
        <p:sp>
          <p:nvSpPr>
            <p:cNvPr name="TextBox 57" id="57"/>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58" id="58"/>
          <p:cNvGrpSpPr/>
          <p:nvPr/>
        </p:nvGrpSpPr>
        <p:grpSpPr>
          <a:xfrm rot="0">
            <a:off x="5461711" y="274320"/>
            <a:ext cx="1591056" cy="411480"/>
            <a:chOff x="0" y="0"/>
            <a:chExt cx="2121408" cy="548640"/>
          </a:xfrm>
        </p:grpSpPr>
        <p:sp>
          <p:nvSpPr>
            <p:cNvPr name="Freeform 59" id="59"/>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60" id="60"/>
          <p:cNvGrpSpPr/>
          <p:nvPr/>
        </p:nvGrpSpPr>
        <p:grpSpPr>
          <a:xfrm rot="0">
            <a:off x="5461711" y="274320"/>
            <a:ext cx="1591056" cy="411480"/>
            <a:chOff x="0" y="0"/>
            <a:chExt cx="2121408" cy="548640"/>
          </a:xfrm>
        </p:grpSpPr>
        <p:sp>
          <p:nvSpPr>
            <p:cNvPr name="Freeform 61" id="61"/>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5">
                <a:alphaModFix amt="0"/>
              </a:blip>
              <a:stretch>
                <a:fillRect l="0" t="-25289" r="0" b="-25289"/>
              </a:stretch>
            </a:blipFill>
          </p:spPr>
          <p:txBody>
            <a:bodyPr/>
            <a:p/>
          </p:txBody>
        </p:sp>
      </p:grpSp>
      <p:grpSp>
        <p:nvGrpSpPr>
          <p:cNvPr name="Group 62" id="62"/>
          <p:cNvGrpSpPr/>
          <p:nvPr/>
        </p:nvGrpSpPr>
        <p:grpSpPr>
          <a:xfrm rot="0">
            <a:off x="5461711" y="260033"/>
            <a:ext cx="1591056" cy="425768"/>
            <a:chOff x="0" y="0"/>
            <a:chExt cx="2121408" cy="567690"/>
          </a:xfrm>
        </p:grpSpPr>
        <p:sp>
          <p:nvSpPr>
            <p:cNvPr name="Freeform 63" id="63"/>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4">
                <a:alphaModFix amt="0"/>
              </a:blip>
              <a:stretch>
                <a:fillRect l="0" t="-22813" r="0" b="-22813"/>
              </a:stretch>
            </a:blipFill>
          </p:spPr>
          <p:txBody>
            <a:bodyPr/>
            <a:p/>
          </p:txBody>
        </p:sp>
        <p:sp>
          <p:nvSpPr>
            <p:cNvPr name="TextBox 64" id="64"/>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65" id="65"/>
          <p:cNvGrpSpPr/>
          <p:nvPr/>
        </p:nvGrpSpPr>
        <p:grpSpPr>
          <a:xfrm rot="0">
            <a:off x="7162495" y="274320"/>
            <a:ext cx="2490788" cy="411480"/>
            <a:chOff x="0" y="0"/>
            <a:chExt cx="3321050" cy="548640"/>
          </a:xfrm>
        </p:grpSpPr>
        <p:sp>
          <p:nvSpPr>
            <p:cNvPr name="Freeform 66" id="66"/>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67" id="67"/>
          <p:cNvGrpSpPr/>
          <p:nvPr/>
        </p:nvGrpSpPr>
        <p:grpSpPr>
          <a:xfrm rot="0">
            <a:off x="7162495" y="274320"/>
            <a:ext cx="2490826" cy="411480"/>
            <a:chOff x="0" y="0"/>
            <a:chExt cx="3321101" cy="548640"/>
          </a:xfrm>
        </p:grpSpPr>
        <p:sp>
          <p:nvSpPr>
            <p:cNvPr name="Freeform 68" id="68"/>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5">
                <a:alphaModFix amt="0"/>
              </a:blip>
              <a:stretch>
                <a:fillRect l="0" t="-67868" r="-1" b="-67865"/>
              </a:stretch>
            </a:blipFill>
          </p:spPr>
          <p:txBody>
            <a:bodyPr/>
            <a:p/>
          </p:txBody>
        </p:sp>
      </p:grpSp>
      <p:grpSp>
        <p:nvGrpSpPr>
          <p:cNvPr name="Group 69" id="69"/>
          <p:cNvGrpSpPr/>
          <p:nvPr/>
        </p:nvGrpSpPr>
        <p:grpSpPr>
          <a:xfrm rot="0">
            <a:off x="7162495" y="260033"/>
            <a:ext cx="2490826" cy="425768"/>
            <a:chOff x="0" y="0"/>
            <a:chExt cx="3321101" cy="567690"/>
          </a:xfrm>
        </p:grpSpPr>
        <p:sp>
          <p:nvSpPr>
            <p:cNvPr name="Freeform 70" id="70"/>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4">
                <a:alphaModFix amt="0"/>
              </a:blip>
              <a:stretch>
                <a:fillRect l="0" t="-63991" r="0" b="-63991"/>
              </a:stretch>
            </a:blipFill>
          </p:spPr>
          <p:txBody>
            <a:bodyPr/>
            <a:p/>
          </p:txBody>
        </p:sp>
        <p:sp>
          <p:nvSpPr>
            <p:cNvPr name="TextBox 71" id="71"/>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72" id="72"/>
          <p:cNvGrpSpPr/>
          <p:nvPr/>
        </p:nvGrpSpPr>
        <p:grpSpPr>
          <a:xfrm rot="0">
            <a:off x="9763049" y="274320"/>
            <a:ext cx="1366076" cy="411480"/>
            <a:chOff x="0" y="0"/>
            <a:chExt cx="1821434" cy="548640"/>
          </a:xfrm>
        </p:grpSpPr>
        <p:sp>
          <p:nvSpPr>
            <p:cNvPr name="Freeform 73" id="7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74" id="74"/>
          <p:cNvGrpSpPr/>
          <p:nvPr/>
        </p:nvGrpSpPr>
        <p:grpSpPr>
          <a:xfrm rot="0">
            <a:off x="9763049" y="274320"/>
            <a:ext cx="1366114" cy="411480"/>
            <a:chOff x="0" y="0"/>
            <a:chExt cx="1821485" cy="548640"/>
          </a:xfrm>
        </p:grpSpPr>
        <p:sp>
          <p:nvSpPr>
            <p:cNvPr name="Freeform 75" id="7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5">
                <a:alphaModFix amt="0"/>
              </a:blip>
              <a:stretch>
                <a:fillRect l="0" t="-14645" r="-2" b="-14645"/>
              </a:stretch>
            </a:blipFill>
          </p:spPr>
          <p:txBody>
            <a:bodyPr/>
            <a:p/>
          </p:txBody>
        </p:sp>
      </p:grpSp>
      <p:grpSp>
        <p:nvGrpSpPr>
          <p:cNvPr name="Group 76" id="76"/>
          <p:cNvGrpSpPr/>
          <p:nvPr/>
        </p:nvGrpSpPr>
        <p:grpSpPr>
          <a:xfrm rot="0">
            <a:off x="9763049" y="260033"/>
            <a:ext cx="1366114" cy="425768"/>
            <a:chOff x="0" y="0"/>
            <a:chExt cx="1821485" cy="567690"/>
          </a:xfrm>
        </p:grpSpPr>
        <p:sp>
          <p:nvSpPr>
            <p:cNvPr name="Freeform 77" id="77"/>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4">
                <a:alphaModFix amt="0"/>
              </a:blip>
              <a:stretch>
                <a:fillRect l="0" t="-12519" r="0" b="-12519"/>
              </a:stretch>
            </a:blipFill>
          </p:spPr>
          <p:txBody>
            <a:bodyPr/>
            <a:p/>
          </p:txBody>
        </p:sp>
        <p:sp>
          <p:nvSpPr>
            <p:cNvPr name="TextBox 78" id="78"/>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79" id="79"/>
          <p:cNvGrpSpPr/>
          <p:nvPr/>
        </p:nvGrpSpPr>
        <p:grpSpPr>
          <a:xfrm rot="0">
            <a:off x="11238890" y="274320"/>
            <a:ext cx="1253680" cy="411480"/>
            <a:chOff x="0" y="0"/>
            <a:chExt cx="1671574" cy="548640"/>
          </a:xfrm>
        </p:grpSpPr>
        <p:sp>
          <p:nvSpPr>
            <p:cNvPr name="Freeform 80" id="80"/>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81" id="81"/>
          <p:cNvGrpSpPr/>
          <p:nvPr/>
        </p:nvGrpSpPr>
        <p:grpSpPr>
          <a:xfrm rot="0">
            <a:off x="11238890" y="274320"/>
            <a:ext cx="1253642" cy="411480"/>
            <a:chOff x="0" y="0"/>
            <a:chExt cx="1671523" cy="548640"/>
          </a:xfrm>
        </p:grpSpPr>
        <p:sp>
          <p:nvSpPr>
            <p:cNvPr name="Freeform 82" id="82"/>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5">
                <a:alphaModFix amt="0"/>
              </a:blip>
              <a:stretch>
                <a:fillRect l="0" t="-9324" r="3" b="-9321"/>
              </a:stretch>
            </a:blipFill>
          </p:spPr>
          <p:txBody>
            <a:bodyPr/>
            <a:p/>
          </p:txBody>
        </p:sp>
      </p:grpSp>
      <p:grpSp>
        <p:nvGrpSpPr>
          <p:cNvPr name="Group 83" id="83"/>
          <p:cNvGrpSpPr/>
          <p:nvPr/>
        </p:nvGrpSpPr>
        <p:grpSpPr>
          <a:xfrm rot="0">
            <a:off x="11238890" y="260033"/>
            <a:ext cx="1253642" cy="425768"/>
            <a:chOff x="0" y="0"/>
            <a:chExt cx="1671523" cy="567690"/>
          </a:xfrm>
        </p:grpSpPr>
        <p:sp>
          <p:nvSpPr>
            <p:cNvPr name="Freeform 84" id="84"/>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4">
                <a:alphaModFix amt="0"/>
              </a:blip>
              <a:stretch>
                <a:fillRect l="0" t="-7372" r="0" b="-7372"/>
              </a:stretch>
            </a:blipFill>
          </p:spPr>
          <p:txBody>
            <a:bodyPr/>
            <a:p/>
          </p:txBody>
        </p:sp>
        <p:sp>
          <p:nvSpPr>
            <p:cNvPr name="TextBox 85" id="85"/>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86" id="86"/>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6</a:t>
            </a:r>
          </a:p>
        </p:txBody>
      </p:sp>
      <p:grpSp>
        <p:nvGrpSpPr>
          <p:cNvPr name="Group 87" id="87"/>
          <p:cNvGrpSpPr/>
          <p:nvPr/>
        </p:nvGrpSpPr>
        <p:grpSpPr>
          <a:xfrm rot="0">
            <a:off x="16047720" y="9646920"/>
            <a:ext cx="420624" cy="420624"/>
            <a:chOff x="0" y="0"/>
            <a:chExt cx="560832" cy="560832"/>
          </a:xfrm>
        </p:grpSpPr>
        <p:sp>
          <p:nvSpPr>
            <p:cNvPr name="Freeform 88" id="88"/>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89" id="89"/>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
        <p:nvSpPr>
          <p:cNvPr name="TextBox 90" id="90"/>
          <p:cNvSpPr txBox="true"/>
          <p:nvPr/>
        </p:nvSpPr>
        <p:spPr>
          <a:xfrm rot="0">
            <a:off x="822960" y="713232"/>
            <a:ext cx="16637508" cy="85725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Latar Belakang — Permasalahan</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Pertumbuhan yang pesat menekan daya dukung destinasi</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5725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Latar Belakang — Pendekatan Sistem Dinamis</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Metode peramalan biasa kurang tepat untuk perencanaan jangka panjang</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0B5E6E"/>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pSp>
        <p:nvGrpSpPr>
          <p:cNvPr name="Group 66" id="66"/>
          <p:cNvGrpSpPr/>
          <p:nvPr/>
        </p:nvGrpSpPr>
        <p:grpSpPr>
          <a:xfrm rot="0">
            <a:off x="9258300" y="2468880"/>
            <a:ext cx="8202168" cy="6240780"/>
            <a:chOff x="0" y="0"/>
            <a:chExt cx="10936224" cy="8321040"/>
          </a:xfrm>
        </p:grpSpPr>
        <p:sp>
          <p:nvSpPr>
            <p:cNvPr name="Freeform 67" id="67"/>
            <p:cNvSpPr/>
            <p:nvPr/>
          </p:nvSpPr>
          <p:spPr>
            <a:xfrm flipH="false" flipV="false" rot="0">
              <a:off x="0" y="0"/>
              <a:ext cx="10936224" cy="8321040"/>
            </a:xfrm>
            <a:custGeom>
              <a:avLst/>
              <a:gdLst/>
              <a:ahLst/>
              <a:cxnLst/>
              <a:rect r="r" b="b" t="t" l="l"/>
              <a:pathLst>
                <a:path h="8321040" w="10936224">
                  <a:moveTo>
                    <a:pt x="0" y="182880"/>
                  </a:moveTo>
                  <a:cubicBezTo>
                    <a:pt x="0" y="81915"/>
                    <a:pt x="81915" y="0"/>
                    <a:pt x="182880" y="0"/>
                  </a:cubicBezTo>
                  <a:lnTo>
                    <a:pt x="10753344" y="0"/>
                  </a:lnTo>
                  <a:cubicBezTo>
                    <a:pt x="10854309" y="0"/>
                    <a:pt x="10936224" y="81915"/>
                    <a:pt x="10936224" y="182880"/>
                  </a:cubicBezTo>
                  <a:lnTo>
                    <a:pt x="10936224" y="8138160"/>
                  </a:lnTo>
                  <a:cubicBezTo>
                    <a:pt x="10936224" y="8239125"/>
                    <a:pt x="10854309" y="8321040"/>
                    <a:pt x="10753344" y="8321040"/>
                  </a:cubicBezTo>
                  <a:lnTo>
                    <a:pt x="182880" y="8321040"/>
                  </a:lnTo>
                  <a:cubicBezTo>
                    <a:pt x="81915" y="8321040"/>
                    <a:pt x="0" y="8239125"/>
                    <a:pt x="0" y="8138160"/>
                  </a:cubicBezTo>
                  <a:close/>
                </a:path>
              </a:pathLst>
            </a:custGeom>
            <a:solidFill>
              <a:srgbClr val="0B5E6E"/>
            </a:solidFill>
          </p:spPr>
          <p:txBody>
            <a:bodyPr/>
            <a:p/>
          </p:txBody>
        </p:sp>
      </p:grpSp>
      <p:sp>
        <p:nvSpPr>
          <p:cNvPr name="TextBox 68" id="68"/>
          <p:cNvSpPr txBox="true"/>
          <p:nvPr/>
        </p:nvSpPr>
        <p:spPr>
          <a:xfrm rot="0">
            <a:off x="9738360" y="2611755"/>
            <a:ext cx="7269480" cy="748665"/>
          </a:xfrm>
          <a:prstGeom prst="rect">
            <a:avLst/>
          </a:prstGeom>
        </p:spPr>
        <p:txBody>
          <a:bodyPr anchor="t" rtlCol="false" tIns="0" lIns="0" bIns="0" rIns="0">
            <a:spAutoFit/>
          </a:bodyPr>
          <a:lstStyle/>
          <a:p>
            <a:pPr algn="l">
              <a:lnSpc>
                <a:spcPts val="3600"/>
              </a:lnSpc>
            </a:pPr>
            <a:r>
              <a:rPr lang="en-US" sz="3000" b="true">
                <a:solidFill>
                  <a:srgbClr val="FFD23B"/>
                </a:solidFill>
                <a:latin typeface="Calibri (MS) Bold"/>
                <a:ea typeface="Calibri (MS) Bold"/>
                <a:cs typeface="Calibri (MS) Bold"/>
                <a:sym typeface="Calibri (MS) Bold"/>
              </a:rPr>
              <a:t>Sistem dinamis</a:t>
            </a:r>
          </a:p>
        </p:txBody>
      </p:sp>
      <p:sp>
        <p:nvSpPr>
          <p:cNvPr name="TextBox 69" id="69"/>
          <p:cNvSpPr txBox="true"/>
          <p:nvPr/>
        </p:nvSpPr>
        <p:spPr>
          <a:xfrm rot="0">
            <a:off x="9738360" y="3314700"/>
            <a:ext cx="7269480" cy="400050"/>
          </a:xfrm>
          <a:prstGeom prst="rect">
            <a:avLst/>
          </a:prstGeom>
        </p:spPr>
        <p:txBody>
          <a:bodyPr anchor="t" rtlCol="false" tIns="0" lIns="0" bIns="0" rIns="0">
            <a:spAutoFit/>
          </a:bodyPr>
          <a:lstStyle/>
          <a:p>
            <a:pPr algn="l">
              <a:lnSpc>
                <a:spcPts val="2250"/>
              </a:lnSpc>
            </a:pPr>
            <a:r>
              <a:rPr lang="en-US" sz="1875">
                <a:solidFill>
                  <a:srgbClr val="6BE5EA"/>
                </a:solidFill>
                <a:latin typeface="Calibri (MS)"/>
                <a:ea typeface="Calibri (MS)"/>
                <a:cs typeface="Calibri (MS)"/>
                <a:sym typeface="Calibri (MS)"/>
              </a:rPr>
              <a:t>stocks · flows · feedback loop · delays</a:t>
            </a:r>
          </a:p>
        </p:txBody>
      </p:sp>
      <p:sp>
        <p:nvSpPr>
          <p:cNvPr name="TextBox 70" id="70"/>
          <p:cNvSpPr txBox="true"/>
          <p:nvPr/>
        </p:nvSpPr>
        <p:spPr>
          <a:xfrm rot="0">
            <a:off x="9738360" y="4217670"/>
            <a:ext cx="7269480" cy="2228850"/>
          </a:xfrm>
          <a:prstGeom prst="rect">
            <a:avLst/>
          </a:prstGeom>
        </p:spPr>
        <p:txBody>
          <a:bodyPr anchor="t" rtlCol="false" tIns="0" lIns="0" bIns="0" rIns="0">
            <a:spAutoFit/>
          </a:bodyPr>
          <a:lstStyle/>
          <a:p>
            <a:pPr algn="l" marL="588168" indent="-147042" lvl="3">
              <a:lnSpc>
                <a:spcPts val="2700"/>
              </a:lnSpc>
              <a:buFont typeface="Arial"/>
              <a:buChar char="￭"/>
            </a:pPr>
            <a:r>
              <a:rPr lang="en-US" sz="2250">
                <a:solidFill>
                  <a:srgbClr val="FFFFFF"/>
                </a:solidFill>
                <a:latin typeface="Calibri (MS)"/>
                <a:ea typeface="Calibri (MS)"/>
                <a:cs typeface="Calibri (MS)"/>
                <a:sym typeface="Calibri (MS)"/>
              </a:rPr>
              <a:t>Perilaku sistem ditentukan struktur internalnya</a:t>
            </a:r>
          </a:p>
          <a:p>
            <a:pPr algn="l" marL="588168" indent="-147042" lvl="3">
              <a:lnSpc>
                <a:spcPts val="2700"/>
              </a:lnSpc>
              <a:buFont typeface="Arial"/>
              <a:buChar char="￭"/>
            </a:pPr>
            <a:r>
              <a:rPr lang="en-US" sz="2250">
                <a:solidFill>
                  <a:srgbClr val="FFFFFF"/>
                </a:solidFill>
                <a:latin typeface="Calibri (MS)"/>
                <a:ea typeface="Calibri (MS)"/>
                <a:cs typeface="Calibri (MS)"/>
                <a:sym typeface="Calibri (MS)"/>
              </a:rPr>
              <a:t>Kebijakan dapat diuji secara virtual sebelum diterapkan (Sterman, 2000)</a:t>
            </a:r>
          </a:p>
          <a:p>
            <a:pPr algn="l" marL="588168" indent="-147042" lvl="3">
              <a:lnSpc>
                <a:spcPts val="2700"/>
              </a:lnSpc>
              <a:buFont typeface="Arial"/>
              <a:buChar char="￭"/>
            </a:pPr>
            <a:r>
              <a:rPr lang="en-US" sz="2250">
                <a:solidFill>
                  <a:srgbClr val="FFFFFF"/>
                </a:solidFill>
                <a:latin typeface="Calibri (MS)"/>
                <a:ea typeface="Calibri (MS)"/>
                <a:cs typeface="Calibri (MS)"/>
                <a:sym typeface="Calibri (MS)"/>
              </a:rPr>
              <a:t>Menganalisis dampak kebijakan jangka panjang</a:t>
            </a:r>
          </a:p>
          <a:p>
            <a:pPr algn="l" marL="588168" indent="-147042" lvl="3">
              <a:lnSpc>
                <a:spcPts val="2700"/>
              </a:lnSpc>
              <a:buFont typeface="Arial"/>
              <a:buChar char="￭"/>
            </a:pPr>
            <a:r>
              <a:rPr lang="en-US" sz="2250">
                <a:solidFill>
                  <a:srgbClr val="FFFFFF"/>
                </a:solidFill>
                <a:latin typeface="Calibri (MS)"/>
                <a:ea typeface="Calibri (MS)"/>
                <a:cs typeface="Calibri (MS)"/>
                <a:sym typeface="Calibri (MS)"/>
              </a:rPr>
              <a:t>Telah terbukti di pariwisata: Cat Ba Island (limits to growth tanpa intervensi) , Labuan Bajo, Saba Budaya Baduy</a:t>
            </a:r>
          </a:p>
        </p:txBody>
      </p:sp>
      <p:sp>
        <p:nvSpPr>
          <p:cNvPr name="Freeform 71" id="71"/>
          <p:cNvSpPr/>
          <p:nvPr/>
        </p:nvSpPr>
        <p:spPr>
          <a:xfrm flipH="false" flipV="false" rot="0">
            <a:off x="8412766" y="4819174"/>
            <a:ext cx="1060133" cy="1060133"/>
          </a:xfrm>
          <a:custGeom>
            <a:avLst/>
            <a:gdLst/>
            <a:ahLst/>
            <a:cxnLst/>
            <a:rect r="r" b="b" t="t" l="l"/>
            <a:pathLst>
              <a:path h="1060133" w="1060133">
                <a:moveTo>
                  <a:pt x="0" y="0"/>
                </a:moveTo>
                <a:lnTo>
                  <a:pt x="1060132" y="0"/>
                </a:lnTo>
                <a:lnTo>
                  <a:pt x="1060132" y="1060132"/>
                </a:lnTo>
                <a:lnTo>
                  <a:pt x="0" y="106013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72" id="72"/>
          <p:cNvGrpSpPr/>
          <p:nvPr/>
        </p:nvGrpSpPr>
        <p:grpSpPr>
          <a:xfrm rot="0">
            <a:off x="8462772" y="4869180"/>
            <a:ext cx="960120" cy="960120"/>
            <a:chOff x="0" y="0"/>
            <a:chExt cx="1280160" cy="1280160"/>
          </a:xfrm>
        </p:grpSpPr>
        <p:sp>
          <p:nvSpPr>
            <p:cNvPr name="Freeform 73" id="73"/>
            <p:cNvSpPr/>
            <p:nvPr/>
          </p:nvSpPr>
          <p:spPr>
            <a:xfrm flipH="false" flipV="false" rot="0">
              <a:off x="0" y="0"/>
              <a:ext cx="1280160" cy="1280160"/>
            </a:xfrm>
            <a:custGeom>
              <a:avLst/>
              <a:gdLst/>
              <a:ahLst/>
              <a:cxnLst/>
              <a:rect r="r" b="b" t="t" l="l"/>
              <a:pathLst>
                <a:path h="1280160" w="1280160">
                  <a:moveTo>
                    <a:pt x="0" y="0"/>
                  </a:moveTo>
                  <a:lnTo>
                    <a:pt x="1280160" y="0"/>
                  </a:lnTo>
                  <a:lnTo>
                    <a:pt x="1280160" y="1280160"/>
                  </a:lnTo>
                  <a:lnTo>
                    <a:pt x="0" y="1280160"/>
                  </a:lnTo>
                  <a:close/>
                </a:path>
              </a:pathLst>
            </a:custGeom>
            <a:blipFill>
              <a:blip r:embed="rId4">
                <a:alphaModFix amt="0"/>
              </a:blip>
              <a:stretch>
                <a:fillRect l="-78392" t="0" r="-78392" b="0"/>
              </a:stretch>
            </a:blipFill>
          </p:spPr>
          <p:txBody>
            <a:bodyPr/>
            <a:p/>
          </p:txBody>
        </p:sp>
      </p:grpSp>
      <p:grpSp>
        <p:nvGrpSpPr>
          <p:cNvPr name="Group 74" id="74"/>
          <p:cNvGrpSpPr/>
          <p:nvPr/>
        </p:nvGrpSpPr>
        <p:grpSpPr>
          <a:xfrm rot="0">
            <a:off x="8462772" y="4819174"/>
            <a:ext cx="960120" cy="1010126"/>
            <a:chOff x="0" y="0"/>
            <a:chExt cx="1280160" cy="1346835"/>
          </a:xfrm>
        </p:grpSpPr>
        <p:sp>
          <p:nvSpPr>
            <p:cNvPr name="Freeform 75" id="75"/>
            <p:cNvSpPr/>
            <p:nvPr/>
          </p:nvSpPr>
          <p:spPr>
            <a:xfrm flipH="false" flipV="false" rot="0">
              <a:off x="0" y="0"/>
              <a:ext cx="1280160" cy="1346835"/>
            </a:xfrm>
            <a:custGeom>
              <a:avLst/>
              <a:gdLst/>
              <a:ahLst/>
              <a:cxnLst/>
              <a:rect r="r" b="b" t="t" l="l"/>
              <a:pathLst>
                <a:path h="1346835" w="1280160">
                  <a:moveTo>
                    <a:pt x="0" y="0"/>
                  </a:moveTo>
                  <a:lnTo>
                    <a:pt x="1280160" y="0"/>
                  </a:lnTo>
                  <a:lnTo>
                    <a:pt x="1280160" y="1346835"/>
                  </a:lnTo>
                  <a:lnTo>
                    <a:pt x="0" y="1346835"/>
                  </a:lnTo>
                  <a:close/>
                </a:path>
              </a:pathLst>
            </a:custGeom>
            <a:blipFill>
              <a:blip r:embed="rId5">
                <a:alphaModFix amt="0"/>
              </a:blip>
              <a:stretch>
                <a:fillRect l="-85080" t="0" r="-85079" b="0"/>
              </a:stretch>
            </a:blipFill>
          </p:spPr>
          <p:txBody>
            <a:bodyPr/>
            <a:p/>
          </p:txBody>
        </p:sp>
      </p:grpSp>
      <p:grpSp>
        <p:nvGrpSpPr>
          <p:cNvPr name="Group 76" id="76"/>
          <p:cNvGrpSpPr/>
          <p:nvPr/>
        </p:nvGrpSpPr>
        <p:grpSpPr>
          <a:xfrm rot="0">
            <a:off x="8462772" y="4769168"/>
            <a:ext cx="960120" cy="1060132"/>
            <a:chOff x="0" y="0"/>
            <a:chExt cx="1280160" cy="1413510"/>
          </a:xfrm>
        </p:grpSpPr>
        <p:sp>
          <p:nvSpPr>
            <p:cNvPr name="Freeform 77" id="77"/>
            <p:cNvSpPr/>
            <p:nvPr/>
          </p:nvSpPr>
          <p:spPr>
            <a:xfrm flipH="false" flipV="false" rot="0">
              <a:off x="0" y="0"/>
              <a:ext cx="1280160" cy="1413510"/>
            </a:xfrm>
            <a:custGeom>
              <a:avLst/>
              <a:gdLst/>
              <a:ahLst/>
              <a:cxnLst/>
              <a:rect r="r" b="b" t="t" l="l"/>
              <a:pathLst>
                <a:path h="1413510" w="1280160">
                  <a:moveTo>
                    <a:pt x="0" y="0"/>
                  </a:moveTo>
                  <a:lnTo>
                    <a:pt x="1280160" y="0"/>
                  </a:lnTo>
                  <a:lnTo>
                    <a:pt x="1280160" y="1413510"/>
                  </a:lnTo>
                  <a:lnTo>
                    <a:pt x="0" y="1413510"/>
                  </a:lnTo>
                  <a:close/>
                </a:path>
              </a:pathLst>
            </a:custGeom>
            <a:blipFill>
              <a:blip r:embed="rId6">
                <a:alphaModFix amt="0"/>
              </a:blip>
              <a:stretch>
                <a:fillRect l="-91668" t="0" r="-91668" b="0"/>
              </a:stretch>
            </a:blipFill>
          </p:spPr>
          <p:txBody>
            <a:bodyPr/>
            <a:p/>
          </p:txBody>
        </p:sp>
        <p:sp>
          <p:nvSpPr>
            <p:cNvPr name="TextBox 78" id="78"/>
            <p:cNvSpPr txBox="true"/>
            <p:nvPr/>
          </p:nvSpPr>
          <p:spPr>
            <a:xfrm>
              <a:off x="0" y="-66675"/>
              <a:ext cx="1280160" cy="1480185"/>
            </a:xfrm>
            <a:prstGeom prst="rect">
              <a:avLst/>
            </a:prstGeom>
          </p:spPr>
          <p:txBody>
            <a:bodyPr anchor="ctr" rtlCol="false" tIns="0" lIns="0" bIns="0" rIns="0"/>
            <a:lstStyle/>
            <a:p>
              <a:pPr algn="ctr">
                <a:lnSpc>
                  <a:spcPts val="3960"/>
                </a:lnSpc>
              </a:pPr>
              <a:r>
                <a:rPr lang="en-US" sz="3300" b="true">
                  <a:solidFill>
                    <a:srgbClr val="14313B"/>
                  </a:solidFill>
                  <a:latin typeface="Calibri (MS) Bold"/>
                  <a:ea typeface="Calibri (MS) Bold"/>
                  <a:cs typeface="Calibri (MS) Bold"/>
                  <a:sym typeface="Calibri (MS) Bold"/>
                </a:rPr>
                <a:t>→</a:t>
              </a:r>
            </a:p>
          </p:txBody>
        </p:sp>
      </p:grpSp>
      <p:sp>
        <p:nvSpPr>
          <p:cNvPr name="TextBox 79" id="79"/>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7</a:t>
            </a:r>
          </a:p>
        </p:txBody>
      </p:sp>
      <p:grpSp>
        <p:nvGrpSpPr>
          <p:cNvPr name="Group 80" id="80"/>
          <p:cNvGrpSpPr/>
          <p:nvPr/>
        </p:nvGrpSpPr>
        <p:grpSpPr>
          <a:xfrm rot="0">
            <a:off x="822960" y="2468880"/>
            <a:ext cx="7749540" cy="6240780"/>
            <a:chOff x="0" y="0"/>
            <a:chExt cx="10332720" cy="8321040"/>
          </a:xfrm>
        </p:grpSpPr>
        <p:sp>
          <p:nvSpPr>
            <p:cNvPr name="Freeform 81" id="81"/>
            <p:cNvSpPr/>
            <p:nvPr/>
          </p:nvSpPr>
          <p:spPr>
            <a:xfrm flipH="false" flipV="false" rot="0">
              <a:off x="0" y="0"/>
              <a:ext cx="10332720" cy="8321040"/>
            </a:xfrm>
            <a:custGeom>
              <a:avLst/>
              <a:gdLst/>
              <a:ahLst/>
              <a:cxnLst/>
              <a:rect r="r" b="b" t="t" l="l"/>
              <a:pathLst>
                <a:path h="8321040" w="10332720">
                  <a:moveTo>
                    <a:pt x="0" y="182880"/>
                  </a:moveTo>
                  <a:cubicBezTo>
                    <a:pt x="0" y="81915"/>
                    <a:pt x="81915" y="0"/>
                    <a:pt x="182880" y="0"/>
                  </a:cubicBezTo>
                  <a:lnTo>
                    <a:pt x="10149840" y="0"/>
                  </a:lnTo>
                  <a:cubicBezTo>
                    <a:pt x="10250805" y="0"/>
                    <a:pt x="10332720" y="81915"/>
                    <a:pt x="10332720" y="182880"/>
                  </a:cubicBezTo>
                  <a:lnTo>
                    <a:pt x="10332720" y="8138160"/>
                  </a:lnTo>
                  <a:cubicBezTo>
                    <a:pt x="10332720" y="8239125"/>
                    <a:pt x="10250805" y="8321040"/>
                    <a:pt x="10149840" y="8321040"/>
                  </a:cubicBezTo>
                  <a:lnTo>
                    <a:pt x="182880" y="8321040"/>
                  </a:lnTo>
                  <a:cubicBezTo>
                    <a:pt x="81915" y="8321040"/>
                    <a:pt x="0" y="8239125"/>
                    <a:pt x="0" y="8138160"/>
                  </a:cubicBezTo>
                  <a:close/>
                </a:path>
              </a:pathLst>
            </a:custGeom>
            <a:solidFill>
              <a:srgbClr val="EAF8FA"/>
            </a:solidFill>
          </p:spPr>
          <p:txBody>
            <a:bodyPr/>
            <a:p/>
          </p:txBody>
        </p:sp>
      </p:grpSp>
      <p:sp>
        <p:nvSpPr>
          <p:cNvPr name="TextBox 82" id="82"/>
          <p:cNvSpPr txBox="true"/>
          <p:nvPr/>
        </p:nvSpPr>
        <p:spPr>
          <a:xfrm rot="0">
            <a:off x="1303020" y="2628424"/>
            <a:ext cx="6858000" cy="731996"/>
          </a:xfrm>
          <a:prstGeom prst="rect">
            <a:avLst/>
          </a:prstGeom>
        </p:spPr>
        <p:txBody>
          <a:bodyPr anchor="t" rtlCol="false" tIns="0" lIns="0" bIns="0" rIns="0">
            <a:spAutoFit/>
          </a:bodyPr>
          <a:lstStyle/>
          <a:p>
            <a:pPr algn="l">
              <a:lnSpc>
                <a:spcPts val="3600"/>
              </a:lnSpc>
            </a:pPr>
            <a:r>
              <a:rPr lang="en-US" sz="3000" b="true">
                <a:solidFill>
                  <a:srgbClr val="0B5E6E"/>
                </a:solidFill>
                <a:latin typeface="Calibri (MS) Bold"/>
                <a:ea typeface="Calibri (MS) Bold"/>
                <a:cs typeface="Calibri (MS) Bold"/>
                <a:sym typeface="Calibri (MS) Bold"/>
              </a:rPr>
              <a:t>Peramalan konvensional</a:t>
            </a:r>
          </a:p>
        </p:txBody>
      </p:sp>
      <p:sp>
        <p:nvSpPr>
          <p:cNvPr name="TextBox 83" id="83"/>
          <p:cNvSpPr txBox="true"/>
          <p:nvPr/>
        </p:nvSpPr>
        <p:spPr>
          <a:xfrm rot="0">
            <a:off x="1303020" y="3324225"/>
            <a:ext cx="6858000" cy="390525"/>
          </a:xfrm>
          <a:prstGeom prst="rect">
            <a:avLst/>
          </a:prstGeom>
        </p:spPr>
        <p:txBody>
          <a:bodyPr anchor="t" rtlCol="false" tIns="0" lIns="0" bIns="0" rIns="0">
            <a:spAutoFit/>
          </a:bodyPr>
          <a:lstStyle/>
          <a:p>
            <a:pPr algn="l">
              <a:lnSpc>
                <a:spcPts val="2250"/>
              </a:lnSpc>
            </a:pPr>
            <a:r>
              <a:rPr lang="en-US" sz="1875">
                <a:solidFill>
                  <a:srgbClr val="5E6E78"/>
                </a:solidFill>
                <a:latin typeface="Calibri (MS)"/>
                <a:ea typeface="Calibri (MS)"/>
                <a:cs typeface="Calibri (MS)"/>
                <a:sym typeface="Calibri (MS)"/>
              </a:rPr>
              <a:t>ARIMA · exponential smoothing · VECM · regresi · machine learning</a:t>
            </a:r>
          </a:p>
        </p:txBody>
      </p:sp>
      <p:sp>
        <p:nvSpPr>
          <p:cNvPr name="TextBox 84" id="84"/>
          <p:cNvSpPr txBox="true"/>
          <p:nvPr/>
        </p:nvSpPr>
        <p:spPr>
          <a:xfrm rot="0">
            <a:off x="1303020" y="4231958"/>
            <a:ext cx="6789420" cy="2557462"/>
          </a:xfrm>
          <a:prstGeom prst="rect">
            <a:avLst/>
          </a:prstGeom>
        </p:spPr>
        <p:txBody>
          <a:bodyPr anchor="t" rtlCol="false" tIns="0" lIns="0" bIns="0" rIns="0">
            <a:spAutoFit/>
          </a:bodyPr>
          <a:lstStyle/>
          <a:p>
            <a:pPr algn="l" marL="588168" indent="-147042" lvl="3">
              <a:lnSpc>
                <a:spcPts val="2700"/>
              </a:lnSpc>
              <a:buFont typeface="Arial"/>
              <a:buChar char="￭"/>
            </a:pPr>
            <a:r>
              <a:rPr lang="en-US" sz="2250">
                <a:solidFill>
                  <a:srgbClr val="14313B"/>
                </a:solidFill>
                <a:latin typeface="Calibri (MS)"/>
                <a:ea typeface="Calibri (MS)"/>
                <a:cs typeface="Calibri (MS)"/>
                <a:sym typeface="Calibri (MS)"/>
              </a:rPr>
              <a:t>Baik untuk memproyeksikan satu atau beberapa variabel, tetapi kurang tepat untuk perencanaan jangka panjang yang dipengaruhi feedback loop</a:t>
            </a:r>
          </a:p>
          <a:p>
            <a:pPr algn="l" marL="588168" indent="-147042" lvl="3">
              <a:lnSpc>
                <a:spcPts val="2700"/>
              </a:lnSpc>
              <a:buFont typeface="Arial"/>
              <a:buChar char="￭"/>
            </a:pPr>
            <a:r>
              <a:rPr lang="en-US" sz="2250">
                <a:solidFill>
                  <a:srgbClr val="14313B"/>
                </a:solidFill>
                <a:latin typeface="Calibri (MS)"/>
                <a:ea typeface="Calibri (MS)"/>
                <a:cs typeface="Calibri (MS)"/>
                <a:sym typeface="Calibri (MS)"/>
              </a:rPr>
              <a:t>Memperlakukan variabel secara parsial</a:t>
            </a:r>
          </a:p>
          <a:p>
            <a:pPr algn="l" marL="588168" indent="-147042" lvl="3">
              <a:lnSpc>
                <a:spcPts val="2700"/>
              </a:lnSpc>
              <a:buFont typeface="Arial"/>
              <a:buChar char="￭"/>
            </a:pPr>
            <a:r>
              <a:rPr lang="en-US" sz="2250">
                <a:solidFill>
                  <a:srgbClr val="14313B"/>
                </a:solidFill>
                <a:latin typeface="Calibri (MS)"/>
                <a:ea typeface="Calibri (MS)"/>
                <a:cs typeface="Calibri (MS)"/>
                <a:sym typeface="Calibri (MS)"/>
              </a:rPr>
              <a:t>Tidak memodelkan feedback loop, akumulasi, dan keterkaitan permintaan–kapasitas–daya dukung</a:t>
            </a:r>
          </a:p>
        </p:txBody>
      </p:sp>
      <p:sp>
        <p:nvSpPr>
          <p:cNvPr name="TextBox 85" id="85"/>
          <p:cNvSpPr txBox="true"/>
          <p:nvPr/>
        </p:nvSpPr>
        <p:spPr>
          <a:xfrm rot="0">
            <a:off x="1028700" y="8314372"/>
            <a:ext cx="5547465" cy="290512"/>
          </a:xfrm>
          <a:prstGeom prst="rect">
            <a:avLst/>
          </a:prstGeom>
        </p:spPr>
        <p:txBody>
          <a:bodyPr anchor="t" rtlCol="false" tIns="0" lIns="0" bIns="0" rIns="0">
            <a:spAutoFit/>
          </a:bodyPr>
          <a:lstStyle/>
          <a:p>
            <a:pPr algn="l">
              <a:lnSpc>
                <a:spcPts val="1889"/>
              </a:lnSpc>
            </a:pPr>
            <a:r>
              <a:rPr lang="en-US" sz="1575">
                <a:solidFill>
                  <a:srgbClr val="8A99A1"/>
                </a:solidFill>
                <a:latin typeface="Calibri (MS)"/>
                <a:ea typeface="Calibri (MS)"/>
                <a:cs typeface="Calibri (MS)"/>
                <a:sym typeface="Calibri (MS)"/>
              </a:rPr>
              <a:t>(Luo dkk.,2023; Wang dkk.,2020) </a:t>
            </a:r>
          </a:p>
        </p:txBody>
      </p:sp>
      <p:sp>
        <p:nvSpPr>
          <p:cNvPr name="TextBox 86" id="86"/>
          <p:cNvSpPr txBox="true"/>
          <p:nvPr/>
        </p:nvSpPr>
        <p:spPr>
          <a:xfrm rot="0">
            <a:off x="9451467" y="8309610"/>
            <a:ext cx="5547465" cy="295275"/>
          </a:xfrm>
          <a:prstGeom prst="rect">
            <a:avLst/>
          </a:prstGeom>
        </p:spPr>
        <p:txBody>
          <a:bodyPr anchor="t" rtlCol="false" tIns="0" lIns="0" bIns="0" rIns="0">
            <a:spAutoFit/>
          </a:bodyPr>
          <a:lstStyle/>
          <a:p>
            <a:pPr algn="l">
              <a:lnSpc>
                <a:spcPts val="1889"/>
              </a:lnSpc>
            </a:pPr>
            <a:r>
              <a:rPr lang="en-US" sz="1575">
                <a:solidFill>
                  <a:srgbClr val="8A99A1"/>
                </a:solidFill>
                <a:latin typeface="Calibri (MS)"/>
                <a:ea typeface="Calibri (MS)"/>
                <a:cs typeface="Calibri (MS)"/>
                <a:sym typeface="Calibri (MS)"/>
              </a:rPr>
              <a:t>(Mai &amp; Smith, 2018; Fatina dkk., 2023; Yakti dkk., 2024) </a:t>
            </a:r>
          </a:p>
        </p:txBody>
      </p:sp>
      <p:grpSp>
        <p:nvGrpSpPr>
          <p:cNvPr name="Group 87" id="87"/>
          <p:cNvGrpSpPr/>
          <p:nvPr/>
        </p:nvGrpSpPr>
        <p:grpSpPr>
          <a:xfrm rot="0">
            <a:off x="16047720" y="9646920"/>
            <a:ext cx="420624" cy="420624"/>
            <a:chOff x="0" y="0"/>
            <a:chExt cx="560832" cy="560832"/>
          </a:xfrm>
        </p:grpSpPr>
        <p:sp>
          <p:nvSpPr>
            <p:cNvPr name="Freeform 88" id="88"/>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89" id="89"/>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6304" r="0" b="-576304"/>
              </a:stretch>
            </a:blipFill>
          </p:spPr>
          <p:txBody>
            <a:bodyPr/>
            <a:p/>
          </p:txBody>
        </p:sp>
        <p:sp>
          <p:nvSpPr>
            <p:cNvPr name="TextBox 6" id="6"/>
            <p:cNvSpPr txBox="true"/>
            <p:nvPr/>
          </p:nvSpPr>
          <p:spPr>
            <a:xfrm>
              <a:off x="0" y="-28575"/>
              <a:ext cx="16459200" cy="54063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grpSp>
        <p:nvGrpSpPr>
          <p:cNvPr name="Group 7" id="7"/>
          <p:cNvGrpSpPr/>
          <p:nvPr/>
        </p:nvGrpSpPr>
        <p:grpSpPr>
          <a:xfrm rot="0">
            <a:off x="822960" y="2331720"/>
            <a:ext cx="16637508" cy="1234440"/>
            <a:chOff x="0" y="0"/>
            <a:chExt cx="22183344" cy="1645920"/>
          </a:xfrm>
        </p:grpSpPr>
        <p:sp>
          <p:nvSpPr>
            <p:cNvPr name="Freeform 8" id="8"/>
            <p:cNvSpPr/>
            <p:nvPr/>
          </p:nvSpPr>
          <p:spPr>
            <a:xfrm flipH="false" flipV="false" rot="0">
              <a:off x="0" y="0"/>
              <a:ext cx="22183344" cy="1645920"/>
            </a:xfrm>
            <a:custGeom>
              <a:avLst/>
              <a:gdLst/>
              <a:ahLst/>
              <a:cxnLst/>
              <a:rect r="r" b="b" t="t" l="l"/>
              <a:pathLst>
                <a:path h="1645920" w="22183344">
                  <a:moveTo>
                    <a:pt x="0" y="182880"/>
                  </a:moveTo>
                  <a:cubicBezTo>
                    <a:pt x="0" y="81915"/>
                    <a:pt x="81915" y="0"/>
                    <a:pt x="182880" y="0"/>
                  </a:cubicBezTo>
                  <a:lnTo>
                    <a:pt x="22000463" y="0"/>
                  </a:lnTo>
                  <a:cubicBezTo>
                    <a:pt x="22101428" y="0"/>
                    <a:pt x="22183344" y="81915"/>
                    <a:pt x="22183344" y="182880"/>
                  </a:cubicBezTo>
                  <a:lnTo>
                    <a:pt x="22183344" y="1463040"/>
                  </a:lnTo>
                  <a:cubicBezTo>
                    <a:pt x="22183344" y="1564005"/>
                    <a:pt x="22101428" y="1645920"/>
                    <a:pt x="22000463" y="1645920"/>
                  </a:cubicBezTo>
                  <a:lnTo>
                    <a:pt x="182880" y="1645920"/>
                  </a:lnTo>
                  <a:cubicBezTo>
                    <a:pt x="81915" y="1645920"/>
                    <a:pt x="0" y="1564005"/>
                    <a:pt x="0" y="1463040"/>
                  </a:cubicBezTo>
                  <a:close/>
                </a:path>
              </a:pathLst>
            </a:custGeom>
            <a:solidFill>
              <a:srgbClr val="0B5E6E"/>
            </a:solidFill>
          </p:spPr>
          <p:txBody>
            <a:bodyPr/>
            <a:p/>
          </p:txBody>
        </p:sp>
      </p:grpSp>
      <p:grpSp>
        <p:nvGrpSpPr>
          <p:cNvPr name="Group 9" id="9"/>
          <p:cNvGrpSpPr/>
          <p:nvPr/>
        </p:nvGrpSpPr>
        <p:grpSpPr>
          <a:xfrm rot="0">
            <a:off x="1234440" y="2331720"/>
            <a:ext cx="15814548" cy="1234440"/>
            <a:chOff x="0" y="0"/>
            <a:chExt cx="21086064" cy="1645920"/>
          </a:xfrm>
        </p:grpSpPr>
        <p:sp>
          <p:nvSpPr>
            <p:cNvPr name="Freeform 10" id="10"/>
            <p:cNvSpPr/>
            <p:nvPr/>
          </p:nvSpPr>
          <p:spPr>
            <a:xfrm flipH="false" flipV="false" rot="0">
              <a:off x="0" y="0"/>
              <a:ext cx="21086065" cy="1645920"/>
            </a:xfrm>
            <a:custGeom>
              <a:avLst/>
              <a:gdLst/>
              <a:ahLst/>
              <a:cxnLst/>
              <a:rect r="r" b="b" t="t" l="l"/>
              <a:pathLst>
                <a:path h="1645920" w="21086065">
                  <a:moveTo>
                    <a:pt x="0" y="0"/>
                  </a:moveTo>
                  <a:lnTo>
                    <a:pt x="21086065" y="0"/>
                  </a:lnTo>
                  <a:lnTo>
                    <a:pt x="21086065" y="1645920"/>
                  </a:lnTo>
                  <a:lnTo>
                    <a:pt x="0" y="1645920"/>
                  </a:lnTo>
                  <a:close/>
                </a:path>
              </a:pathLst>
            </a:custGeom>
            <a:blipFill>
              <a:blip r:embed="rId4">
                <a:alphaModFix amt="0"/>
              </a:blip>
              <a:stretch>
                <a:fillRect l="0" t="-199624" r="0" b="-199624"/>
              </a:stretch>
            </a:blipFill>
          </p:spPr>
          <p:txBody>
            <a:bodyPr/>
            <a:p/>
          </p:txBody>
        </p:sp>
        <p:sp>
          <p:nvSpPr>
            <p:cNvPr name="TextBox 11" id="11"/>
            <p:cNvSpPr txBox="true"/>
            <p:nvPr/>
          </p:nvSpPr>
          <p:spPr>
            <a:xfrm>
              <a:off x="0" y="-47625"/>
              <a:ext cx="21086064" cy="1693545"/>
            </a:xfrm>
            <a:prstGeom prst="rect">
              <a:avLst/>
            </a:prstGeom>
          </p:spPr>
          <p:txBody>
            <a:bodyPr anchor="ctr" rtlCol="false" tIns="0" lIns="0" bIns="0" rIns="0"/>
            <a:lstStyle/>
            <a:p>
              <a:pPr algn="l">
                <a:lnSpc>
                  <a:spcPts val="2610"/>
                </a:lnSpc>
              </a:pPr>
              <a:r>
                <a:rPr lang="en-US" sz="2175">
                  <a:solidFill>
                    <a:srgbClr val="FFFFFF"/>
                  </a:solidFill>
                  <a:latin typeface="Calibri (MS)"/>
                  <a:ea typeface="Calibri (MS)"/>
                  <a:cs typeface="Calibri (MS)"/>
                  <a:sym typeface="Calibri (MS)"/>
                </a:rPr>
                <a:t>Tujuan umum: mengembangkan dan memvalidasi model sistem dinamis pariwisata yang memanfaatkan citra satelit untuk memperbarui data, sebagai dasar simulasi kebijakan pariwisata di Provinsi DIY.</a:t>
              </a:r>
            </a:p>
          </p:txBody>
        </p:sp>
      </p:grpSp>
      <p:grpSp>
        <p:nvGrpSpPr>
          <p:cNvPr name="Group 12" id="12"/>
          <p:cNvGrpSpPr/>
          <p:nvPr/>
        </p:nvGrpSpPr>
        <p:grpSpPr>
          <a:xfrm rot="0">
            <a:off x="891540" y="4197096"/>
            <a:ext cx="685800" cy="685800"/>
            <a:chOff x="0" y="0"/>
            <a:chExt cx="914400" cy="914400"/>
          </a:xfrm>
        </p:grpSpPr>
        <p:sp>
          <p:nvSpPr>
            <p:cNvPr name="Freeform 13" id="1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14" id="14"/>
          <p:cNvGrpSpPr/>
          <p:nvPr/>
        </p:nvGrpSpPr>
        <p:grpSpPr>
          <a:xfrm rot="0">
            <a:off x="891540" y="4197096"/>
            <a:ext cx="685800" cy="685800"/>
            <a:chOff x="0" y="0"/>
            <a:chExt cx="914400" cy="914400"/>
          </a:xfrm>
        </p:grpSpPr>
        <p:sp>
          <p:nvSpPr>
            <p:cNvPr name="Freeform 15" id="15"/>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03" t="0" r="-78303" b="0"/>
              </a:stretch>
            </a:blipFill>
          </p:spPr>
          <p:txBody>
            <a:bodyPr/>
            <a:p/>
          </p:txBody>
        </p:sp>
        <p:sp>
          <p:nvSpPr>
            <p:cNvPr name="TextBox 16" id="16"/>
            <p:cNvSpPr txBox="true"/>
            <p:nvPr/>
          </p:nvSpPr>
          <p:spPr>
            <a:xfrm>
              <a:off x="0" y="-38100"/>
              <a:ext cx="914400" cy="952500"/>
            </a:xfrm>
            <a:prstGeom prst="rect">
              <a:avLst/>
            </a:prstGeom>
          </p:spPr>
          <p:txBody>
            <a:bodyPr anchor="ctr" rtlCol="false" tIns="0" lIns="0" bIns="0" rIns="0"/>
            <a:lstStyle/>
            <a:p>
              <a:pPr algn="ctr">
                <a:lnSpc>
                  <a:spcPts val="2879"/>
                </a:lnSpc>
              </a:pPr>
              <a:r>
                <a:rPr lang="en-US" sz="2400" b="true">
                  <a:solidFill>
                    <a:srgbClr val="FFFFFF"/>
                  </a:solidFill>
                  <a:latin typeface="Calibri (MS) Bold"/>
                  <a:ea typeface="Calibri (MS) Bold"/>
                  <a:cs typeface="Calibri (MS) Bold"/>
                  <a:sym typeface="Calibri (MS) Bold"/>
                </a:rPr>
                <a:t>1</a:t>
              </a:r>
            </a:p>
          </p:txBody>
        </p:sp>
      </p:grpSp>
      <p:grpSp>
        <p:nvGrpSpPr>
          <p:cNvPr name="Group 17" id="17"/>
          <p:cNvGrpSpPr/>
          <p:nvPr/>
        </p:nvGrpSpPr>
        <p:grpSpPr>
          <a:xfrm rot="0">
            <a:off x="1851660" y="3909060"/>
            <a:ext cx="7269480" cy="1234440"/>
            <a:chOff x="0" y="0"/>
            <a:chExt cx="9692640" cy="1645920"/>
          </a:xfrm>
        </p:grpSpPr>
        <p:sp>
          <p:nvSpPr>
            <p:cNvPr name="Freeform 18" id="18"/>
            <p:cNvSpPr/>
            <p:nvPr/>
          </p:nvSpPr>
          <p:spPr>
            <a:xfrm flipH="false" flipV="false" rot="0">
              <a:off x="0" y="0"/>
              <a:ext cx="9692640" cy="1645920"/>
            </a:xfrm>
            <a:custGeom>
              <a:avLst/>
              <a:gdLst/>
              <a:ahLst/>
              <a:cxnLst/>
              <a:rect r="r" b="b" t="t" l="l"/>
              <a:pathLst>
                <a:path h="1645920" w="9692640">
                  <a:moveTo>
                    <a:pt x="0" y="143123"/>
                  </a:moveTo>
                  <a:cubicBezTo>
                    <a:pt x="0" y="64107"/>
                    <a:pt x="81915" y="0"/>
                    <a:pt x="182880" y="0"/>
                  </a:cubicBezTo>
                  <a:lnTo>
                    <a:pt x="9509760" y="0"/>
                  </a:lnTo>
                  <a:cubicBezTo>
                    <a:pt x="9610725" y="0"/>
                    <a:pt x="9692640" y="64107"/>
                    <a:pt x="9692640" y="143123"/>
                  </a:cubicBezTo>
                  <a:lnTo>
                    <a:pt x="9692640" y="1502797"/>
                  </a:lnTo>
                  <a:cubicBezTo>
                    <a:pt x="9692640" y="1581813"/>
                    <a:pt x="9610725" y="1645920"/>
                    <a:pt x="9509760" y="1645920"/>
                  </a:cubicBezTo>
                  <a:lnTo>
                    <a:pt x="182880" y="1645920"/>
                  </a:lnTo>
                  <a:cubicBezTo>
                    <a:pt x="81915" y="1645920"/>
                    <a:pt x="0" y="1581813"/>
                    <a:pt x="0" y="1502797"/>
                  </a:cubicBezTo>
                  <a:close/>
                </a:path>
              </a:pathLst>
            </a:custGeom>
            <a:solidFill>
              <a:srgbClr val="F4D3CF"/>
            </a:solidFill>
          </p:spPr>
          <p:txBody>
            <a:bodyPr/>
            <a:p/>
          </p:txBody>
        </p:sp>
      </p:grpSp>
      <p:sp>
        <p:nvSpPr>
          <p:cNvPr name="TextBox 19" id="19"/>
          <p:cNvSpPr txBox="true"/>
          <p:nvPr/>
        </p:nvSpPr>
        <p:spPr>
          <a:xfrm rot="0">
            <a:off x="2125980" y="4008120"/>
            <a:ext cx="4114800" cy="339852"/>
          </a:xfrm>
          <a:prstGeom prst="rect">
            <a:avLst/>
          </a:prstGeom>
        </p:spPr>
        <p:txBody>
          <a:bodyPr anchor="t" rtlCol="false" tIns="0" lIns="0" bIns="0" rIns="0">
            <a:spAutoFit/>
          </a:bodyPr>
          <a:lstStyle/>
          <a:p>
            <a:pPr algn="l">
              <a:lnSpc>
                <a:spcPts val="1800"/>
              </a:lnSpc>
            </a:pPr>
            <a:r>
              <a:rPr lang="en-US" sz="1500" b="true">
                <a:solidFill>
                  <a:srgbClr val="5E6E78"/>
                </a:solidFill>
                <a:latin typeface="Calibri (MS) Bold"/>
                <a:ea typeface="Calibri (MS) Bold"/>
                <a:cs typeface="Calibri (MS) Bold"/>
                <a:sym typeface="Calibri (MS) Bold"/>
              </a:rPr>
              <a:t>MASALAH 1</a:t>
            </a:r>
          </a:p>
        </p:txBody>
      </p:sp>
      <p:sp>
        <p:nvSpPr>
          <p:cNvPr name="TextBox 20" id="20"/>
          <p:cNvSpPr txBox="true"/>
          <p:nvPr/>
        </p:nvSpPr>
        <p:spPr>
          <a:xfrm rot="0">
            <a:off x="2125980" y="4323588"/>
            <a:ext cx="6789420" cy="6096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Belum tersedia variabel penyusun CLD untuk model sistem dinamis kebijakan pariwisata DIY.</a:t>
            </a:r>
          </a:p>
        </p:txBody>
      </p:sp>
      <p:grpSp>
        <p:nvGrpSpPr>
          <p:cNvPr name="Group 21" id="21"/>
          <p:cNvGrpSpPr/>
          <p:nvPr/>
        </p:nvGrpSpPr>
        <p:grpSpPr>
          <a:xfrm rot="0">
            <a:off x="10012680" y="3909060"/>
            <a:ext cx="7447788" cy="1234440"/>
            <a:chOff x="0" y="0"/>
            <a:chExt cx="9930384" cy="1645920"/>
          </a:xfrm>
        </p:grpSpPr>
        <p:sp>
          <p:nvSpPr>
            <p:cNvPr name="Freeform 22" id="22"/>
            <p:cNvSpPr/>
            <p:nvPr/>
          </p:nvSpPr>
          <p:spPr>
            <a:xfrm flipH="false" flipV="false" rot="0">
              <a:off x="0" y="0"/>
              <a:ext cx="9930385" cy="1645920"/>
            </a:xfrm>
            <a:custGeom>
              <a:avLst/>
              <a:gdLst/>
              <a:ahLst/>
              <a:cxnLst/>
              <a:rect r="r" b="b" t="t" l="l"/>
              <a:pathLst>
                <a:path h="1645920" w="9930385">
                  <a:moveTo>
                    <a:pt x="0" y="143123"/>
                  </a:moveTo>
                  <a:cubicBezTo>
                    <a:pt x="0" y="64107"/>
                    <a:pt x="81915" y="0"/>
                    <a:pt x="182880" y="0"/>
                  </a:cubicBezTo>
                  <a:lnTo>
                    <a:pt x="9747504" y="0"/>
                  </a:lnTo>
                  <a:cubicBezTo>
                    <a:pt x="9848469" y="0"/>
                    <a:pt x="9930385" y="64107"/>
                    <a:pt x="9930385" y="143123"/>
                  </a:cubicBezTo>
                  <a:lnTo>
                    <a:pt x="9930385" y="1502797"/>
                  </a:lnTo>
                  <a:cubicBezTo>
                    <a:pt x="9930385" y="1581813"/>
                    <a:pt x="9848469" y="1645920"/>
                    <a:pt x="9747504" y="1645920"/>
                  </a:cubicBezTo>
                  <a:lnTo>
                    <a:pt x="182880" y="1645920"/>
                  </a:lnTo>
                  <a:cubicBezTo>
                    <a:pt x="81915" y="1645920"/>
                    <a:pt x="0" y="1581813"/>
                    <a:pt x="0" y="1502797"/>
                  </a:cubicBezTo>
                  <a:close/>
                </a:path>
              </a:pathLst>
            </a:custGeom>
            <a:solidFill>
              <a:srgbClr val="EAF8FA"/>
            </a:solidFill>
          </p:spPr>
          <p:txBody>
            <a:bodyPr/>
            <a:p/>
          </p:txBody>
        </p:sp>
      </p:grpSp>
      <p:sp>
        <p:nvSpPr>
          <p:cNvPr name="TextBox 23" id="23"/>
          <p:cNvSpPr txBox="true"/>
          <p:nvPr/>
        </p:nvSpPr>
        <p:spPr>
          <a:xfrm rot="0">
            <a:off x="10287000" y="4008120"/>
            <a:ext cx="4114800" cy="339852"/>
          </a:xfrm>
          <a:prstGeom prst="rect">
            <a:avLst/>
          </a:prstGeom>
        </p:spPr>
        <p:txBody>
          <a:bodyPr anchor="t" rtlCol="false" tIns="0" lIns="0" bIns="0" rIns="0">
            <a:spAutoFit/>
          </a:bodyPr>
          <a:lstStyle/>
          <a:p>
            <a:pPr algn="l">
              <a:lnSpc>
                <a:spcPts val="1800"/>
              </a:lnSpc>
            </a:pPr>
            <a:r>
              <a:rPr lang="en-US" sz="1500" b="true">
                <a:solidFill>
                  <a:srgbClr val="0B5E6E"/>
                </a:solidFill>
                <a:latin typeface="Calibri (MS) Bold"/>
                <a:ea typeface="Calibri (MS) Bold"/>
                <a:cs typeface="Calibri (MS) Bold"/>
                <a:sym typeface="Calibri (MS) Bold"/>
              </a:rPr>
              <a:t>TUJUAN 1</a:t>
            </a:r>
          </a:p>
        </p:txBody>
      </p:sp>
      <p:sp>
        <p:nvSpPr>
          <p:cNvPr name="TextBox 24" id="24"/>
          <p:cNvSpPr txBox="true"/>
          <p:nvPr/>
        </p:nvSpPr>
        <p:spPr>
          <a:xfrm rot="0">
            <a:off x="10287000" y="4323588"/>
            <a:ext cx="6926580" cy="6096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Mengidentifikasi dan merumuskan variabel-variabel utama penyusun CLD.</a:t>
            </a:r>
          </a:p>
        </p:txBody>
      </p:sp>
      <p:grpSp>
        <p:nvGrpSpPr>
          <p:cNvPr name="Group 25" id="25"/>
          <p:cNvGrpSpPr/>
          <p:nvPr/>
        </p:nvGrpSpPr>
        <p:grpSpPr>
          <a:xfrm rot="0">
            <a:off x="891540" y="5634228"/>
            <a:ext cx="685800" cy="685800"/>
            <a:chOff x="0" y="0"/>
            <a:chExt cx="914400" cy="914400"/>
          </a:xfrm>
        </p:grpSpPr>
        <p:sp>
          <p:nvSpPr>
            <p:cNvPr name="Freeform 26" id="26"/>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27" id="27"/>
          <p:cNvGrpSpPr/>
          <p:nvPr/>
        </p:nvGrpSpPr>
        <p:grpSpPr>
          <a:xfrm rot="0">
            <a:off x="891540" y="5634228"/>
            <a:ext cx="685800" cy="685800"/>
            <a:chOff x="0" y="0"/>
            <a:chExt cx="914400" cy="914400"/>
          </a:xfrm>
        </p:grpSpPr>
        <p:sp>
          <p:nvSpPr>
            <p:cNvPr name="Freeform 28" id="28"/>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03" t="0" r="-78303" b="0"/>
              </a:stretch>
            </a:blipFill>
          </p:spPr>
          <p:txBody>
            <a:bodyPr/>
            <a:p/>
          </p:txBody>
        </p:sp>
        <p:sp>
          <p:nvSpPr>
            <p:cNvPr name="TextBox 29" id="29"/>
            <p:cNvSpPr txBox="true"/>
            <p:nvPr/>
          </p:nvSpPr>
          <p:spPr>
            <a:xfrm>
              <a:off x="0" y="-38100"/>
              <a:ext cx="914400" cy="952500"/>
            </a:xfrm>
            <a:prstGeom prst="rect">
              <a:avLst/>
            </a:prstGeom>
          </p:spPr>
          <p:txBody>
            <a:bodyPr anchor="ctr" rtlCol="false" tIns="0" lIns="0" bIns="0" rIns="0"/>
            <a:lstStyle/>
            <a:p>
              <a:pPr algn="ctr">
                <a:lnSpc>
                  <a:spcPts val="2879"/>
                </a:lnSpc>
              </a:pPr>
              <a:r>
                <a:rPr lang="en-US" sz="2400" b="true">
                  <a:solidFill>
                    <a:srgbClr val="FFFFFF"/>
                  </a:solidFill>
                  <a:latin typeface="Calibri (MS) Bold"/>
                  <a:ea typeface="Calibri (MS) Bold"/>
                  <a:cs typeface="Calibri (MS) Bold"/>
                  <a:sym typeface="Calibri (MS) Bold"/>
                </a:rPr>
                <a:t>2</a:t>
              </a:r>
            </a:p>
          </p:txBody>
        </p:sp>
      </p:grpSp>
      <p:grpSp>
        <p:nvGrpSpPr>
          <p:cNvPr name="Group 30" id="30"/>
          <p:cNvGrpSpPr/>
          <p:nvPr/>
        </p:nvGrpSpPr>
        <p:grpSpPr>
          <a:xfrm rot="0">
            <a:off x="1851660" y="5295900"/>
            <a:ext cx="7269480" cy="1449705"/>
            <a:chOff x="0" y="0"/>
            <a:chExt cx="9692640" cy="1932940"/>
          </a:xfrm>
        </p:grpSpPr>
        <p:sp>
          <p:nvSpPr>
            <p:cNvPr name="Freeform 31" id="31"/>
            <p:cNvSpPr/>
            <p:nvPr/>
          </p:nvSpPr>
          <p:spPr>
            <a:xfrm flipH="false" flipV="false" rot="0">
              <a:off x="0" y="0"/>
              <a:ext cx="9692640" cy="1932940"/>
            </a:xfrm>
            <a:custGeom>
              <a:avLst/>
              <a:gdLst/>
              <a:ahLst/>
              <a:cxnLst/>
              <a:rect r="r" b="b" t="t" l="l"/>
              <a:pathLst>
                <a:path h="1932940" w="9692640">
                  <a:moveTo>
                    <a:pt x="0" y="168082"/>
                  </a:moveTo>
                  <a:cubicBezTo>
                    <a:pt x="0" y="75287"/>
                    <a:pt x="81915" y="0"/>
                    <a:pt x="182880" y="0"/>
                  </a:cubicBezTo>
                  <a:lnTo>
                    <a:pt x="9509760" y="0"/>
                  </a:lnTo>
                  <a:cubicBezTo>
                    <a:pt x="9610725" y="0"/>
                    <a:pt x="9692640" y="75287"/>
                    <a:pt x="9692640" y="168082"/>
                  </a:cubicBezTo>
                  <a:lnTo>
                    <a:pt x="9692640" y="1764858"/>
                  </a:lnTo>
                  <a:cubicBezTo>
                    <a:pt x="9692640" y="1857653"/>
                    <a:pt x="9610725" y="1932940"/>
                    <a:pt x="9509760" y="1932940"/>
                  </a:cubicBezTo>
                  <a:lnTo>
                    <a:pt x="182880" y="1932940"/>
                  </a:lnTo>
                  <a:cubicBezTo>
                    <a:pt x="81915" y="1932940"/>
                    <a:pt x="0" y="1857653"/>
                    <a:pt x="0" y="1764858"/>
                  </a:cubicBezTo>
                  <a:close/>
                </a:path>
              </a:pathLst>
            </a:custGeom>
            <a:solidFill>
              <a:srgbClr val="F4D3CF"/>
            </a:solidFill>
          </p:spPr>
          <p:txBody>
            <a:bodyPr/>
            <a:p/>
          </p:txBody>
        </p:sp>
      </p:grpSp>
      <p:sp>
        <p:nvSpPr>
          <p:cNvPr name="TextBox 32" id="32"/>
          <p:cNvSpPr txBox="true"/>
          <p:nvPr/>
        </p:nvSpPr>
        <p:spPr>
          <a:xfrm rot="0">
            <a:off x="2125980" y="5394960"/>
            <a:ext cx="4114800" cy="339852"/>
          </a:xfrm>
          <a:prstGeom prst="rect">
            <a:avLst/>
          </a:prstGeom>
        </p:spPr>
        <p:txBody>
          <a:bodyPr anchor="t" rtlCol="false" tIns="0" lIns="0" bIns="0" rIns="0">
            <a:spAutoFit/>
          </a:bodyPr>
          <a:lstStyle/>
          <a:p>
            <a:pPr algn="l">
              <a:lnSpc>
                <a:spcPts val="1800"/>
              </a:lnSpc>
            </a:pPr>
            <a:r>
              <a:rPr lang="en-US" sz="1500" b="true">
                <a:solidFill>
                  <a:srgbClr val="5E6E78"/>
                </a:solidFill>
                <a:latin typeface="Calibri (MS) Bold"/>
                <a:ea typeface="Calibri (MS) Bold"/>
                <a:cs typeface="Calibri (MS) Bold"/>
                <a:sym typeface="Calibri (MS) Bold"/>
              </a:rPr>
              <a:t>MASALAH 2</a:t>
            </a:r>
          </a:p>
        </p:txBody>
      </p:sp>
      <p:sp>
        <p:nvSpPr>
          <p:cNvPr name="TextBox 33" id="33"/>
          <p:cNvSpPr txBox="true"/>
          <p:nvPr/>
        </p:nvSpPr>
        <p:spPr>
          <a:xfrm rot="0">
            <a:off x="2125980" y="5710428"/>
            <a:ext cx="6789420" cy="6096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Belum tersedia model simulasi sistem dinamis yang menggunakan citra satelit dan statistik resmi untuk perumusan kebijakan.</a:t>
            </a:r>
          </a:p>
        </p:txBody>
      </p:sp>
      <p:grpSp>
        <p:nvGrpSpPr>
          <p:cNvPr name="Group 34" id="34"/>
          <p:cNvGrpSpPr/>
          <p:nvPr/>
        </p:nvGrpSpPr>
        <p:grpSpPr>
          <a:xfrm rot="0">
            <a:off x="10012680" y="5295900"/>
            <a:ext cx="7447788" cy="1449705"/>
            <a:chOff x="0" y="0"/>
            <a:chExt cx="9930384" cy="1932940"/>
          </a:xfrm>
        </p:grpSpPr>
        <p:sp>
          <p:nvSpPr>
            <p:cNvPr name="Freeform 35" id="35"/>
            <p:cNvSpPr/>
            <p:nvPr/>
          </p:nvSpPr>
          <p:spPr>
            <a:xfrm flipH="false" flipV="false" rot="0">
              <a:off x="0" y="0"/>
              <a:ext cx="9930385" cy="1932940"/>
            </a:xfrm>
            <a:custGeom>
              <a:avLst/>
              <a:gdLst/>
              <a:ahLst/>
              <a:cxnLst/>
              <a:rect r="r" b="b" t="t" l="l"/>
              <a:pathLst>
                <a:path h="1932940" w="9930385">
                  <a:moveTo>
                    <a:pt x="0" y="168082"/>
                  </a:moveTo>
                  <a:cubicBezTo>
                    <a:pt x="0" y="75287"/>
                    <a:pt x="81915" y="0"/>
                    <a:pt x="182880" y="0"/>
                  </a:cubicBezTo>
                  <a:lnTo>
                    <a:pt x="9747504" y="0"/>
                  </a:lnTo>
                  <a:cubicBezTo>
                    <a:pt x="9848469" y="0"/>
                    <a:pt x="9930385" y="75287"/>
                    <a:pt x="9930385" y="168082"/>
                  </a:cubicBezTo>
                  <a:lnTo>
                    <a:pt x="9930385" y="1764858"/>
                  </a:lnTo>
                  <a:cubicBezTo>
                    <a:pt x="9930385" y="1857653"/>
                    <a:pt x="9848469" y="1932940"/>
                    <a:pt x="9747504" y="1932940"/>
                  </a:cubicBezTo>
                  <a:lnTo>
                    <a:pt x="182880" y="1932940"/>
                  </a:lnTo>
                  <a:cubicBezTo>
                    <a:pt x="81915" y="1932940"/>
                    <a:pt x="0" y="1857653"/>
                    <a:pt x="0" y="1764858"/>
                  </a:cubicBezTo>
                  <a:close/>
                </a:path>
              </a:pathLst>
            </a:custGeom>
            <a:solidFill>
              <a:srgbClr val="EAF8FA"/>
            </a:solidFill>
          </p:spPr>
          <p:txBody>
            <a:bodyPr/>
            <a:p/>
          </p:txBody>
        </p:sp>
      </p:grpSp>
      <p:sp>
        <p:nvSpPr>
          <p:cNvPr name="TextBox 36" id="36"/>
          <p:cNvSpPr txBox="true"/>
          <p:nvPr/>
        </p:nvSpPr>
        <p:spPr>
          <a:xfrm rot="0">
            <a:off x="10287000" y="5394960"/>
            <a:ext cx="4114800" cy="339852"/>
          </a:xfrm>
          <a:prstGeom prst="rect">
            <a:avLst/>
          </a:prstGeom>
        </p:spPr>
        <p:txBody>
          <a:bodyPr anchor="t" rtlCol="false" tIns="0" lIns="0" bIns="0" rIns="0">
            <a:spAutoFit/>
          </a:bodyPr>
          <a:lstStyle/>
          <a:p>
            <a:pPr algn="l">
              <a:lnSpc>
                <a:spcPts val="1800"/>
              </a:lnSpc>
            </a:pPr>
            <a:r>
              <a:rPr lang="en-US" sz="1500" b="true">
                <a:solidFill>
                  <a:srgbClr val="0B5E6E"/>
                </a:solidFill>
                <a:latin typeface="Calibri (MS) Bold"/>
                <a:ea typeface="Calibri (MS) Bold"/>
                <a:cs typeface="Calibri (MS) Bold"/>
                <a:sym typeface="Calibri (MS) Bold"/>
              </a:rPr>
              <a:t>TUJUAN 2</a:t>
            </a:r>
          </a:p>
        </p:txBody>
      </p:sp>
      <p:sp>
        <p:nvSpPr>
          <p:cNvPr name="TextBox 37" id="37"/>
          <p:cNvSpPr txBox="true"/>
          <p:nvPr/>
        </p:nvSpPr>
        <p:spPr>
          <a:xfrm rot="0">
            <a:off x="10287000" y="5710428"/>
            <a:ext cx="6926580" cy="89535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Mengembangkan model SD yang memanfaatkan citra satelit untuk memperbarui variabel yang datanya terlambat tersedia, lalu menguji validitas struktur dan kesesuaiannya dengan data historis.</a:t>
            </a:r>
          </a:p>
        </p:txBody>
      </p:sp>
      <p:grpSp>
        <p:nvGrpSpPr>
          <p:cNvPr name="Group 38" id="38"/>
          <p:cNvGrpSpPr/>
          <p:nvPr/>
        </p:nvGrpSpPr>
        <p:grpSpPr>
          <a:xfrm rot="0">
            <a:off x="891540" y="7138035"/>
            <a:ext cx="685800" cy="685800"/>
            <a:chOff x="0" y="0"/>
            <a:chExt cx="914400" cy="914400"/>
          </a:xfrm>
        </p:grpSpPr>
        <p:sp>
          <p:nvSpPr>
            <p:cNvPr name="Freeform 39" id="39"/>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40" id="40"/>
          <p:cNvGrpSpPr/>
          <p:nvPr/>
        </p:nvGrpSpPr>
        <p:grpSpPr>
          <a:xfrm rot="0">
            <a:off x="891540" y="7138035"/>
            <a:ext cx="685800" cy="685800"/>
            <a:chOff x="0" y="0"/>
            <a:chExt cx="914400" cy="914400"/>
          </a:xfrm>
        </p:grpSpPr>
        <p:sp>
          <p:nvSpPr>
            <p:cNvPr name="Freeform 41" id="41"/>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03" t="0" r="-78303" b="0"/>
              </a:stretch>
            </a:blipFill>
          </p:spPr>
          <p:txBody>
            <a:bodyPr/>
            <a:p/>
          </p:txBody>
        </p:sp>
        <p:sp>
          <p:nvSpPr>
            <p:cNvPr name="TextBox 42" id="42"/>
            <p:cNvSpPr txBox="true"/>
            <p:nvPr/>
          </p:nvSpPr>
          <p:spPr>
            <a:xfrm>
              <a:off x="0" y="-38100"/>
              <a:ext cx="914400" cy="952500"/>
            </a:xfrm>
            <a:prstGeom prst="rect">
              <a:avLst/>
            </a:prstGeom>
          </p:spPr>
          <p:txBody>
            <a:bodyPr anchor="ctr" rtlCol="false" tIns="0" lIns="0" bIns="0" rIns="0"/>
            <a:lstStyle/>
            <a:p>
              <a:pPr algn="ctr">
                <a:lnSpc>
                  <a:spcPts val="2879"/>
                </a:lnSpc>
              </a:pPr>
              <a:r>
                <a:rPr lang="en-US" sz="2400" b="true">
                  <a:solidFill>
                    <a:srgbClr val="FFFFFF"/>
                  </a:solidFill>
                  <a:latin typeface="Calibri (MS) Bold"/>
                  <a:ea typeface="Calibri (MS) Bold"/>
                  <a:cs typeface="Calibri (MS) Bold"/>
                  <a:sym typeface="Calibri (MS) Bold"/>
                </a:rPr>
                <a:t>3</a:t>
              </a:r>
            </a:p>
          </p:txBody>
        </p:sp>
      </p:grpSp>
      <p:grpSp>
        <p:nvGrpSpPr>
          <p:cNvPr name="Group 43" id="43"/>
          <p:cNvGrpSpPr/>
          <p:nvPr/>
        </p:nvGrpSpPr>
        <p:grpSpPr>
          <a:xfrm rot="0">
            <a:off x="1851660" y="6898005"/>
            <a:ext cx="7269480" cy="1165860"/>
            <a:chOff x="0" y="0"/>
            <a:chExt cx="9692640" cy="1554480"/>
          </a:xfrm>
        </p:grpSpPr>
        <p:sp>
          <p:nvSpPr>
            <p:cNvPr name="Freeform 44" id="44"/>
            <p:cNvSpPr/>
            <p:nvPr/>
          </p:nvSpPr>
          <p:spPr>
            <a:xfrm flipH="false" flipV="false" rot="0">
              <a:off x="0" y="0"/>
              <a:ext cx="9692640" cy="1554480"/>
            </a:xfrm>
            <a:custGeom>
              <a:avLst/>
              <a:gdLst/>
              <a:ahLst/>
              <a:cxnLst/>
              <a:rect r="r" b="b" t="t" l="l"/>
              <a:pathLst>
                <a:path h="1554480" w="9692640">
                  <a:moveTo>
                    <a:pt x="0" y="135172"/>
                  </a:moveTo>
                  <a:cubicBezTo>
                    <a:pt x="0" y="60546"/>
                    <a:pt x="81915" y="0"/>
                    <a:pt x="182880" y="0"/>
                  </a:cubicBezTo>
                  <a:lnTo>
                    <a:pt x="9509760" y="0"/>
                  </a:lnTo>
                  <a:cubicBezTo>
                    <a:pt x="9610725" y="0"/>
                    <a:pt x="9692640" y="60546"/>
                    <a:pt x="9692640" y="135172"/>
                  </a:cubicBezTo>
                  <a:lnTo>
                    <a:pt x="9692640" y="1419308"/>
                  </a:lnTo>
                  <a:cubicBezTo>
                    <a:pt x="9692640" y="1493934"/>
                    <a:pt x="9610725" y="1554480"/>
                    <a:pt x="9509760" y="1554480"/>
                  </a:cubicBezTo>
                  <a:lnTo>
                    <a:pt x="182880" y="1554480"/>
                  </a:lnTo>
                  <a:cubicBezTo>
                    <a:pt x="81915" y="1554480"/>
                    <a:pt x="0" y="1493934"/>
                    <a:pt x="0" y="1419308"/>
                  </a:cubicBezTo>
                  <a:close/>
                </a:path>
              </a:pathLst>
            </a:custGeom>
            <a:solidFill>
              <a:srgbClr val="F4D3CF"/>
            </a:solidFill>
          </p:spPr>
          <p:txBody>
            <a:bodyPr/>
            <a:p/>
          </p:txBody>
        </p:sp>
      </p:grpSp>
      <p:sp>
        <p:nvSpPr>
          <p:cNvPr name="TextBox 45" id="45"/>
          <p:cNvSpPr txBox="true"/>
          <p:nvPr/>
        </p:nvSpPr>
        <p:spPr>
          <a:xfrm rot="0">
            <a:off x="2125980" y="6997065"/>
            <a:ext cx="4114800" cy="339852"/>
          </a:xfrm>
          <a:prstGeom prst="rect">
            <a:avLst/>
          </a:prstGeom>
        </p:spPr>
        <p:txBody>
          <a:bodyPr anchor="t" rtlCol="false" tIns="0" lIns="0" bIns="0" rIns="0">
            <a:spAutoFit/>
          </a:bodyPr>
          <a:lstStyle/>
          <a:p>
            <a:pPr algn="l">
              <a:lnSpc>
                <a:spcPts val="1800"/>
              </a:lnSpc>
            </a:pPr>
            <a:r>
              <a:rPr lang="en-US" sz="1500" b="true">
                <a:solidFill>
                  <a:srgbClr val="5E6E78"/>
                </a:solidFill>
                <a:latin typeface="Calibri (MS) Bold"/>
                <a:ea typeface="Calibri (MS) Bold"/>
                <a:cs typeface="Calibri (MS) Bold"/>
                <a:sym typeface="Calibri (MS) Bold"/>
              </a:rPr>
              <a:t>MASALAH 3</a:t>
            </a:r>
          </a:p>
        </p:txBody>
      </p:sp>
      <p:sp>
        <p:nvSpPr>
          <p:cNvPr name="TextBox 46" id="46"/>
          <p:cNvSpPr txBox="true"/>
          <p:nvPr/>
        </p:nvSpPr>
        <p:spPr>
          <a:xfrm rot="0">
            <a:off x="2125980" y="7312533"/>
            <a:ext cx="6789420" cy="6096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Belum ada aplikasi web yang mengimplementasikan hasil pemodelan dan simulasi skenario kebijakan di DIY.</a:t>
            </a:r>
          </a:p>
        </p:txBody>
      </p:sp>
      <p:grpSp>
        <p:nvGrpSpPr>
          <p:cNvPr name="Group 47" id="47"/>
          <p:cNvGrpSpPr/>
          <p:nvPr/>
        </p:nvGrpSpPr>
        <p:grpSpPr>
          <a:xfrm rot="0">
            <a:off x="10012680" y="6898005"/>
            <a:ext cx="7447788" cy="1165860"/>
            <a:chOff x="0" y="0"/>
            <a:chExt cx="9930384" cy="1554480"/>
          </a:xfrm>
        </p:grpSpPr>
        <p:sp>
          <p:nvSpPr>
            <p:cNvPr name="Freeform 48" id="48"/>
            <p:cNvSpPr/>
            <p:nvPr/>
          </p:nvSpPr>
          <p:spPr>
            <a:xfrm flipH="false" flipV="false" rot="0">
              <a:off x="0" y="0"/>
              <a:ext cx="9930385" cy="1554480"/>
            </a:xfrm>
            <a:custGeom>
              <a:avLst/>
              <a:gdLst/>
              <a:ahLst/>
              <a:cxnLst/>
              <a:rect r="r" b="b" t="t" l="l"/>
              <a:pathLst>
                <a:path h="1554480" w="9930385">
                  <a:moveTo>
                    <a:pt x="0" y="135172"/>
                  </a:moveTo>
                  <a:cubicBezTo>
                    <a:pt x="0" y="60546"/>
                    <a:pt x="81915" y="0"/>
                    <a:pt x="182880" y="0"/>
                  </a:cubicBezTo>
                  <a:lnTo>
                    <a:pt x="9747504" y="0"/>
                  </a:lnTo>
                  <a:cubicBezTo>
                    <a:pt x="9848469" y="0"/>
                    <a:pt x="9930385" y="60546"/>
                    <a:pt x="9930385" y="135172"/>
                  </a:cubicBezTo>
                  <a:lnTo>
                    <a:pt x="9930385" y="1419308"/>
                  </a:lnTo>
                  <a:cubicBezTo>
                    <a:pt x="9930385" y="1493934"/>
                    <a:pt x="9848469" y="1554480"/>
                    <a:pt x="9747504" y="1554480"/>
                  </a:cubicBezTo>
                  <a:lnTo>
                    <a:pt x="182880" y="1554480"/>
                  </a:lnTo>
                  <a:cubicBezTo>
                    <a:pt x="81915" y="1554480"/>
                    <a:pt x="0" y="1493934"/>
                    <a:pt x="0" y="1419308"/>
                  </a:cubicBezTo>
                  <a:close/>
                </a:path>
              </a:pathLst>
            </a:custGeom>
            <a:solidFill>
              <a:srgbClr val="EAF8FA"/>
            </a:solidFill>
          </p:spPr>
          <p:txBody>
            <a:bodyPr/>
            <a:p/>
          </p:txBody>
        </p:sp>
      </p:grpSp>
      <p:sp>
        <p:nvSpPr>
          <p:cNvPr name="TextBox 49" id="49"/>
          <p:cNvSpPr txBox="true"/>
          <p:nvPr/>
        </p:nvSpPr>
        <p:spPr>
          <a:xfrm rot="0">
            <a:off x="10287000" y="6997065"/>
            <a:ext cx="4114800" cy="339852"/>
          </a:xfrm>
          <a:prstGeom prst="rect">
            <a:avLst/>
          </a:prstGeom>
        </p:spPr>
        <p:txBody>
          <a:bodyPr anchor="t" rtlCol="false" tIns="0" lIns="0" bIns="0" rIns="0">
            <a:spAutoFit/>
          </a:bodyPr>
          <a:lstStyle/>
          <a:p>
            <a:pPr algn="l">
              <a:lnSpc>
                <a:spcPts val="1800"/>
              </a:lnSpc>
            </a:pPr>
            <a:r>
              <a:rPr lang="en-US" sz="1500" b="true">
                <a:solidFill>
                  <a:srgbClr val="0B5E6E"/>
                </a:solidFill>
                <a:latin typeface="Calibri (MS) Bold"/>
                <a:ea typeface="Calibri (MS) Bold"/>
                <a:cs typeface="Calibri (MS) Bold"/>
                <a:sym typeface="Calibri (MS) Bold"/>
              </a:rPr>
              <a:t>TUJUAN 3</a:t>
            </a:r>
          </a:p>
        </p:txBody>
      </p:sp>
      <p:sp>
        <p:nvSpPr>
          <p:cNvPr name="TextBox 50" id="50"/>
          <p:cNvSpPr txBox="true"/>
          <p:nvPr/>
        </p:nvSpPr>
        <p:spPr>
          <a:xfrm rot="0">
            <a:off x="10287000" y="7312533"/>
            <a:ext cx="6926580" cy="6096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Membangun aplikasi berbasis web sebagai alat bantu analisis dan pengambilan keputusan.</a:t>
            </a:r>
          </a:p>
        </p:txBody>
      </p:sp>
      <p:sp>
        <p:nvSpPr>
          <p:cNvPr name="AutoShape 51" id="51"/>
          <p:cNvSpPr/>
          <p:nvPr/>
        </p:nvSpPr>
        <p:spPr>
          <a:xfrm>
            <a:off x="9121140" y="4526280"/>
            <a:ext cx="891540" cy="0"/>
          </a:xfrm>
          <a:prstGeom prst="line">
            <a:avLst/>
          </a:prstGeom>
          <a:ln cap="flat" w="38100">
            <a:solidFill>
              <a:srgbClr val="39C0D3"/>
            </a:solidFill>
            <a:prstDash val="solid"/>
            <a:headEnd type="none" len="sm" w="sm"/>
            <a:tailEnd type="triangle" len="med" w="lg"/>
          </a:ln>
        </p:spPr>
        <p:txBody>
          <a:bodyPr/>
          <a:p/>
        </p:txBody>
      </p:sp>
      <p:sp>
        <p:nvSpPr>
          <p:cNvPr name="AutoShape 52" id="52"/>
          <p:cNvSpPr/>
          <p:nvPr/>
        </p:nvSpPr>
        <p:spPr>
          <a:xfrm>
            <a:off x="9121140" y="6020752"/>
            <a:ext cx="891540" cy="0"/>
          </a:xfrm>
          <a:prstGeom prst="line">
            <a:avLst/>
          </a:prstGeom>
          <a:ln cap="flat" w="38100">
            <a:solidFill>
              <a:srgbClr val="39C0D3"/>
            </a:solidFill>
            <a:prstDash val="solid"/>
            <a:headEnd type="none" len="sm" w="sm"/>
            <a:tailEnd type="triangle" len="med" w="lg"/>
          </a:ln>
        </p:spPr>
        <p:txBody>
          <a:bodyPr/>
          <a:p/>
        </p:txBody>
      </p:sp>
      <p:sp>
        <p:nvSpPr>
          <p:cNvPr name="AutoShape 53" id="53"/>
          <p:cNvSpPr/>
          <p:nvPr/>
        </p:nvSpPr>
        <p:spPr>
          <a:xfrm>
            <a:off x="9121140" y="7480935"/>
            <a:ext cx="891540" cy="0"/>
          </a:xfrm>
          <a:prstGeom prst="line">
            <a:avLst/>
          </a:prstGeom>
          <a:ln cap="flat" w="38100">
            <a:solidFill>
              <a:srgbClr val="39C0D3"/>
            </a:solidFill>
            <a:prstDash val="solid"/>
            <a:headEnd type="none" len="sm" w="sm"/>
            <a:tailEnd type="triangle" len="med" w="lg"/>
          </a:ln>
        </p:spPr>
        <p:txBody>
          <a:bodyPr/>
          <a:p/>
        </p:txBody>
      </p:sp>
      <p:sp>
        <p:nvSpPr>
          <p:cNvPr name="TextBox 54" id="54"/>
          <p:cNvSpPr txBox="true"/>
          <p:nvPr/>
        </p:nvSpPr>
        <p:spPr>
          <a:xfrm rot="0">
            <a:off x="822960" y="713232"/>
            <a:ext cx="16637508" cy="85725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Identifikasi Masalah dan Tujuan Penelitian</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Tiga permasalahan dijawab oleh tiga tujuan penelitian</a:t>
            </a:r>
          </a:p>
        </p:txBody>
      </p:sp>
      <p:sp>
        <p:nvSpPr>
          <p:cNvPr name="TextBox 55" id="55"/>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8</a:t>
            </a:r>
          </a:p>
        </p:txBody>
      </p:sp>
      <p:grpSp>
        <p:nvGrpSpPr>
          <p:cNvPr name="Group 56" id="56"/>
          <p:cNvGrpSpPr/>
          <p:nvPr/>
        </p:nvGrpSpPr>
        <p:grpSpPr>
          <a:xfrm rot="0">
            <a:off x="16047720" y="9646920"/>
            <a:ext cx="420624" cy="420624"/>
            <a:chOff x="0" y="0"/>
            <a:chExt cx="560832" cy="560832"/>
          </a:xfrm>
        </p:grpSpPr>
        <p:sp>
          <p:nvSpPr>
            <p:cNvPr name="Freeform 57" id="57"/>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58" id="58"/>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grpSp>
        <p:nvGrpSpPr>
          <p:cNvPr name="Group 59" id="59"/>
          <p:cNvGrpSpPr/>
          <p:nvPr/>
        </p:nvGrpSpPr>
        <p:grpSpPr>
          <a:xfrm rot="0">
            <a:off x="822960" y="274320"/>
            <a:ext cx="2040922" cy="411480"/>
            <a:chOff x="0" y="0"/>
            <a:chExt cx="2721229" cy="548640"/>
          </a:xfrm>
        </p:grpSpPr>
        <p:sp>
          <p:nvSpPr>
            <p:cNvPr name="Freeform 60" id="60"/>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0B5E6E"/>
            </a:solidFill>
          </p:spPr>
          <p:txBody>
            <a:bodyPr/>
            <a:p/>
          </p:txBody>
        </p:sp>
      </p:grpSp>
      <p:grpSp>
        <p:nvGrpSpPr>
          <p:cNvPr name="Group 61" id="61"/>
          <p:cNvGrpSpPr/>
          <p:nvPr/>
        </p:nvGrpSpPr>
        <p:grpSpPr>
          <a:xfrm rot="0">
            <a:off x="822960" y="274320"/>
            <a:ext cx="2040941" cy="411480"/>
            <a:chOff x="0" y="0"/>
            <a:chExt cx="2721254" cy="548640"/>
          </a:xfrm>
        </p:grpSpPr>
        <p:sp>
          <p:nvSpPr>
            <p:cNvPr name="Freeform 62" id="62"/>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5">
                <a:alphaModFix amt="0"/>
              </a:blip>
              <a:stretch>
                <a:fillRect l="0" t="-46578" r="0" b="-46578"/>
              </a:stretch>
            </a:blipFill>
          </p:spPr>
          <p:txBody>
            <a:bodyPr/>
            <a:p/>
          </p:txBody>
        </p:sp>
      </p:grpSp>
      <p:grpSp>
        <p:nvGrpSpPr>
          <p:cNvPr name="Group 63" id="63"/>
          <p:cNvGrpSpPr/>
          <p:nvPr/>
        </p:nvGrpSpPr>
        <p:grpSpPr>
          <a:xfrm rot="0">
            <a:off x="822960" y="260033"/>
            <a:ext cx="2040941" cy="425768"/>
            <a:chOff x="0" y="0"/>
            <a:chExt cx="2721254" cy="567690"/>
          </a:xfrm>
        </p:grpSpPr>
        <p:sp>
          <p:nvSpPr>
            <p:cNvPr name="Freeform 64" id="64"/>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4">
                <a:alphaModFix amt="0"/>
              </a:blip>
              <a:stretch>
                <a:fillRect l="0" t="-43402" r="0" b="-43402"/>
              </a:stretch>
            </a:blipFill>
          </p:spPr>
          <p:txBody>
            <a:bodyPr/>
            <a:p/>
          </p:txBody>
        </p:sp>
        <p:sp>
          <p:nvSpPr>
            <p:cNvPr name="TextBox 65" id="65"/>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Pendahuluan</a:t>
              </a:r>
            </a:p>
          </p:txBody>
        </p:sp>
      </p:grpSp>
      <p:grpSp>
        <p:nvGrpSpPr>
          <p:cNvPr name="Group 66" id="66"/>
          <p:cNvGrpSpPr/>
          <p:nvPr/>
        </p:nvGrpSpPr>
        <p:grpSpPr>
          <a:xfrm rot="0">
            <a:off x="2973629" y="274320"/>
            <a:ext cx="2378392" cy="411480"/>
            <a:chOff x="0" y="0"/>
            <a:chExt cx="3171190" cy="548640"/>
          </a:xfrm>
        </p:grpSpPr>
        <p:sp>
          <p:nvSpPr>
            <p:cNvPr name="Freeform 67" id="67"/>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68" id="68"/>
          <p:cNvGrpSpPr/>
          <p:nvPr/>
        </p:nvGrpSpPr>
        <p:grpSpPr>
          <a:xfrm rot="0">
            <a:off x="2973629" y="274320"/>
            <a:ext cx="2378354" cy="411480"/>
            <a:chOff x="0" y="0"/>
            <a:chExt cx="3171139" cy="548640"/>
          </a:xfrm>
        </p:grpSpPr>
        <p:sp>
          <p:nvSpPr>
            <p:cNvPr name="Freeform 69" id="69"/>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5">
                <a:alphaModFix amt="0"/>
              </a:blip>
              <a:stretch>
                <a:fillRect l="0" t="-62546" r="1" b="-62543"/>
              </a:stretch>
            </a:blipFill>
          </p:spPr>
          <p:txBody>
            <a:bodyPr/>
            <a:p/>
          </p:txBody>
        </p:sp>
      </p:grpSp>
      <p:grpSp>
        <p:nvGrpSpPr>
          <p:cNvPr name="Group 70" id="70"/>
          <p:cNvGrpSpPr/>
          <p:nvPr/>
        </p:nvGrpSpPr>
        <p:grpSpPr>
          <a:xfrm rot="0">
            <a:off x="2973629" y="260033"/>
            <a:ext cx="2378354" cy="425768"/>
            <a:chOff x="0" y="0"/>
            <a:chExt cx="3171139" cy="567690"/>
          </a:xfrm>
        </p:grpSpPr>
        <p:sp>
          <p:nvSpPr>
            <p:cNvPr name="Freeform 71" id="71"/>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4">
                <a:alphaModFix amt="0"/>
              </a:blip>
              <a:stretch>
                <a:fillRect l="0" t="-58844" r="0" b="-58844"/>
              </a:stretch>
            </a:blipFill>
          </p:spPr>
          <p:txBody>
            <a:bodyPr/>
            <a:p/>
          </p:txBody>
        </p:sp>
        <p:sp>
          <p:nvSpPr>
            <p:cNvPr name="TextBox 72" id="72"/>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73" id="73"/>
          <p:cNvGrpSpPr/>
          <p:nvPr/>
        </p:nvGrpSpPr>
        <p:grpSpPr>
          <a:xfrm rot="0">
            <a:off x="5461711" y="274320"/>
            <a:ext cx="1591056" cy="411480"/>
            <a:chOff x="0" y="0"/>
            <a:chExt cx="2121408" cy="548640"/>
          </a:xfrm>
        </p:grpSpPr>
        <p:sp>
          <p:nvSpPr>
            <p:cNvPr name="Freeform 74" id="74"/>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75" id="75"/>
          <p:cNvGrpSpPr/>
          <p:nvPr/>
        </p:nvGrpSpPr>
        <p:grpSpPr>
          <a:xfrm rot="0">
            <a:off x="5461711" y="274320"/>
            <a:ext cx="1591056" cy="411480"/>
            <a:chOff x="0" y="0"/>
            <a:chExt cx="2121408" cy="548640"/>
          </a:xfrm>
        </p:grpSpPr>
        <p:sp>
          <p:nvSpPr>
            <p:cNvPr name="Freeform 76" id="76"/>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5">
                <a:alphaModFix amt="0"/>
              </a:blip>
              <a:stretch>
                <a:fillRect l="0" t="-25289" r="0" b="-25289"/>
              </a:stretch>
            </a:blipFill>
          </p:spPr>
          <p:txBody>
            <a:bodyPr/>
            <a:p/>
          </p:txBody>
        </p:sp>
      </p:grpSp>
      <p:grpSp>
        <p:nvGrpSpPr>
          <p:cNvPr name="Group 77" id="77"/>
          <p:cNvGrpSpPr/>
          <p:nvPr/>
        </p:nvGrpSpPr>
        <p:grpSpPr>
          <a:xfrm rot="0">
            <a:off x="5461711" y="260033"/>
            <a:ext cx="1591056" cy="425768"/>
            <a:chOff x="0" y="0"/>
            <a:chExt cx="2121408" cy="567690"/>
          </a:xfrm>
        </p:grpSpPr>
        <p:sp>
          <p:nvSpPr>
            <p:cNvPr name="Freeform 78" id="78"/>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4">
                <a:alphaModFix amt="0"/>
              </a:blip>
              <a:stretch>
                <a:fillRect l="0" t="-22813" r="0" b="-22813"/>
              </a:stretch>
            </a:blipFill>
          </p:spPr>
          <p:txBody>
            <a:bodyPr/>
            <a:p/>
          </p:txBody>
        </p:sp>
        <p:sp>
          <p:nvSpPr>
            <p:cNvPr name="TextBox 79" id="79"/>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80" id="80"/>
          <p:cNvGrpSpPr/>
          <p:nvPr/>
        </p:nvGrpSpPr>
        <p:grpSpPr>
          <a:xfrm rot="0">
            <a:off x="7162495" y="274320"/>
            <a:ext cx="2490788" cy="411480"/>
            <a:chOff x="0" y="0"/>
            <a:chExt cx="3321050" cy="548640"/>
          </a:xfrm>
        </p:grpSpPr>
        <p:sp>
          <p:nvSpPr>
            <p:cNvPr name="Freeform 81" id="81"/>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82" id="82"/>
          <p:cNvGrpSpPr/>
          <p:nvPr/>
        </p:nvGrpSpPr>
        <p:grpSpPr>
          <a:xfrm rot="0">
            <a:off x="7162495" y="274320"/>
            <a:ext cx="2490826" cy="411480"/>
            <a:chOff x="0" y="0"/>
            <a:chExt cx="3321101" cy="548640"/>
          </a:xfrm>
        </p:grpSpPr>
        <p:sp>
          <p:nvSpPr>
            <p:cNvPr name="Freeform 83" id="83"/>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5">
                <a:alphaModFix amt="0"/>
              </a:blip>
              <a:stretch>
                <a:fillRect l="0" t="-67868" r="-1" b="-67865"/>
              </a:stretch>
            </a:blipFill>
          </p:spPr>
          <p:txBody>
            <a:bodyPr/>
            <a:p/>
          </p:txBody>
        </p:sp>
      </p:grpSp>
      <p:grpSp>
        <p:nvGrpSpPr>
          <p:cNvPr name="Group 84" id="84"/>
          <p:cNvGrpSpPr/>
          <p:nvPr/>
        </p:nvGrpSpPr>
        <p:grpSpPr>
          <a:xfrm rot="0">
            <a:off x="7162495" y="260033"/>
            <a:ext cx="2490826" cy="425768"/>
            <a:chOff x="0" y="0"/>
            <a:chExt cx="3321101" cy="567690"/>
          </a:xfrm>
        </p:grpSpPr>
        <p:sp>
          <p:nvSpPr>
            <p:cNvPr name="Freeform 85" id="85"/>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4">
                <a:alphaModFix amt="0"/>
              </a:blip>
              <a:stretch>
                <a:fillRect l="0" t="-63991" r="0" b="-63991"/>
              </a:stretch>
            </a:blipFill>
          </p:spPr>
          <p:txBody>
            <a:bodyPr/>
            <a:p/>
          </p:txBody>
        </p:sp>
        <p:sp>
          <p:nvSpPr>
            <p:cNvPr name="TextBox 86" id="86"/>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87" id="87"/>
          <p:cNvGrpSpPr/>
          <p:nvPr/>
        </p:nvGrpSpPr>
        <p:grpSpPr>
          <a:xfrm rot="0">
            <a:off x="9763049" y="274320"/>
            <a:ext cx="1366076" cy="411480"/>
            <a:chOff x="0" y="0"/>
            <a:chExt cx="1821434" cy="548640"/>
          </a:xfrm>
        </p:grpSpPr>
        <p:sp>
          <p:nvSpPr>
            <p:cNvPr name="Freeform 88" id="88"/>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89" id="89"/>
          <p:cNvGrpSpPr/>
          <p:nvPr/>
        </p:nvGrpSpPr>
        <p:grpSpPr>
          <a:xfrm rot="0">
            <a:off x="9763049" y="274320"/>
            <a:ext cx="1366114" cy="411480"/>
            <a:chOff x="0" y="0"/>
            <a:chExt cx="1821485" cy="548640"/>
          </a:xfrm>
        </p:grpSpPr>
        <p:sp>
          <p:nvSpPr>
            <p:cNvPr name="Freeform 90" id="90"/>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5">
                <a:alphaModFix amt="0"/>
              </a:blip>
              <a:stretch>
                <a:fillRect l="0" t="-14645" r="-2" b="-14645"/>
              </a:stretch>
            </a:blipFill>
          </p:spPr>
          <p:txBody>
            <a:bodyPr/>
            <a:p/>
          </p:txBody>
        </p:sp>
      </p:grpSp>
      <p:grpSp>
        <p:nvGrpSpPr>
          <p:cNvPr name="Group 91" id="91"/>
          <p:cNvGrpSpPr/>
          <p:nvPr/>
        </p:nvGrpSpPr>
        <p:grpSpPr>
          <a:xfrm rot="0">
            <a:off x="9763049" y="260033"/>
            <a:ext cx="1366114" cy="425768"/>
            <a:chOff x="0" y="0"/>
            <a:chExt cx="1821485" cy="567690"/>
          </a:xfrm>
        </p:grpSpPr>
        <p:sp>
          <p:nvSpPr>
            <p:cNvPr name="Freeform 92" id="92"/>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4">
                <a:alphaModFix amt="0"/>
              </a:blip>
              <a:stretch>
                <a:fillRect l="0" t="-12519" r="0" b="-12519"/>
              </a:stretch>
            </a:blipFill>
          </p:spPr>
          <p:txBody>
            <a:bodyPr/>
            <a:p/>
          </p:txBody>
        </p:sp>
        <p:sp>
          <p:nvSpPr>
            <p:cNvPr name="TextBox 93" id="93"/>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94" id="94"/>
          <p:cNvGrpSpPr/>
          <p:nvPr/>
        </p:nvGrpSpPr>
        <p:grpSpPr>
          <a:xfrm rot="0">
            <a:off x="11238890" y="274320"/>
            <a:ext cx="1253680" cy="411480"/>
            <a:chOff x="0" y="0"/>
            <a:chExt cx="1671574" cy="548640"/>
          </a:xfrm>
        </p:grpSpPr>
        <p:sp>
          <p:nvSpPr>
            <p:cNvPr name="Freeform 95" id="95"/>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96" id="96"/>
          <p:cNvGrpSpPr/>
          <p:nvPr/>
        </p:nvGrpSpPr>
        <p:grpSpPr>
          <a:xfrm rot="0">
            <a:off x="11238890" y="274320"/>
            <a:ext cx="1253642" cy="411480"/>
            <a:chOff x="0" y="0"/>
            <a:chExt cx="1671523" cy="548640"/>
          </a:xfrm>
        </p:grpSpPr>
        <p:sp>
          <p:nvSpPr>
            <p:cNvPr name="Freeform 97" id="97"/>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5">
                <a:alphaModFix amt="0"/>
              </a:blip>
              <a:stretch>
                <a:fillRect l="0" t="-9324" r="3" b="-9321"/>
              </a:stretch>
            </a:blipFill>
          </p:spPr>
          <p:txBody>
            <a:bodyPr/>
            <a:p/>
          </p:txBody>
        </p:sp>
      </p:grpSp>
      <p:grpSp>
        <p:nvGrpSpPr>
          <p:cNvPr name="Group 98" id="98"/>
          <p:cNvGrpSpPr/>
          <p:nvPr/>
        </p:nvGrpSpPr>
        <p:grpSpPr>
          <a:xfrm rot="0">
            <a:off x="11238890" y="260033"/>
            <a:ext cx="1253642" cy="425768"/>
            <a:chOff x="0" y="0"/>
            <a:chExt cx="1671523" cy="567690"/>
          </a:xfrm>
        </p:grpSpPr>
        <p:sp>
          <p:nvSpPr>
            <p:cNvPr name="Freeform 99" id="99"/>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4">
                <a:alphaModFix amt="0"/>
              </a:blip>
              <a:stretch>
                <a:fillRect l="0" t="-7372" r="0" b="-7372"/>
              </a:stretch>
            </a:blipFill>
          </p:spPr>
          <p:txBody>
            <a:bodyPr/>
            <a:p/>
          </p:txBody>
        </p:sp>
        <p:sp>
          <p:nvSpPr>
            <p:cNvPr name="TextBox 100" id="100"/>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5725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Batasan Masalah</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Model dipakai untuk membandingkan skenario, bukan untuk meramal angka</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0B5E6E"/>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pSp>
        <p:nvGrpSpPr>
          <p:cNvPr name="Group 66" id="66"/>
          <p:cNvGrpSpPr/>
          <p:nvPr/>
        </p:nvGrpSpPr>
        <p:grpSpPr>
          <a:xfrm rot="0">
            <a:off x="822960" y="2331720"/>
            <a:ext cx="16637508" cy="1261872"/>
            <a:chOff x="0" y="0"/>
            <a:chExt cx="22183344" cy="1682496"/>
          </a:xfrm>
        </p:grpSpPr>
        <p:sp>
          <p:nvSpPr>
            <p:cNvPr name="Freeform 67" id="67"/>
            <p:cNvSpPr/>
            <p:nvPr/>
          </p:nvSpPr>
          <p:spPr>
            <a:xfrm flipH="false" flipV="false" rot="0">
              <a:off x="0" y="0"/>
              <a:ext cx="22183344" cy="1682496"/>
            </a:xfrm>
            <a:custGeom>
              <a:avLst/>
              <a:gdLst/>
              <a:ahLst/>
              <a:cxnLst/>
              <a:rect r="r" b="b" t="t" l="l"/>
              <a:pathLst>
                <a:path h="1682496" w="22183344">
                  <a:moveTo>
                    <a:pt x="0" y="182880"/>
                  </a:moveTo>
                  <a:cubicBezTo>
                    <a:pt x="0" y="81915"/>
                    <a:pt x="81915" y="0"/>
                    <a:pt x="182880" y="0"/>
                  </a:cubicBezTo>
                  <a:lnTo>
                    <a:pt x="22000463" y="0"/>
                  </a:lnTo>
                  <a:cubicBezTo>
                    <a:pt x="22101428" y="0"/>
                    <a:pt x="22183344" y="81915"/>
                    <a:pt x="22183344" y="182880"/>
                  </a:cubicBezTo>
                  <a:lnTo>
                    <a:pt x="22183344" y="1499616"/>
                  </a:lnTo>
                  <a:cubicBezTo>
                    <a:pt x="22183344" y="1600581"/>
                    <a:pt x="22101428" y="1682496"/>
                    <a:pt x="22000463" y="1682496"/>
                  </a:cubicBezTo>
                  <a:lnTo>
                    <a:pt x="182880" y="1682496"/>
                  </a:lnTo>
                  <a:cubicBezTo>
                    <a:pt x="81915" y="1682496"/>
                    <a:pt x="0" y="1600581"/>
                    <a:pt x="0" y="1499616"/>
                  </a:cubicBezTo>
                  <a:close/>
                </a:path>
              </a:pathLst>
            </a:custGeom>
            <a:solidFill>
              <a:srgbClr val="EAF8FA"/>
            </a:solidFill>
          </p:spPr>
          <p:txBody>
            <a:bodyPr/>
            <a:p/>
          </p:txBody>
        </p:sp>
      </p:grpSp>
      <p:grpSp>
        <p:nvGrpSpPr>
          <p:cNvPr name="Group 68" id="68"/>
          <p:cNvGrpSpPr/>
          <p:nvPr/>
        </p:nvGrpSpPr>
        <p:grpSpPr>
          <a:xfrm rot="0">
            <a:off x="1097280" y="2619756"/>
            <a:ext cx="685800" cy="685800"/>
            <a:chOff x="0" y="0"/>
            <a:chExt cx="914400" cy="914400"/>
          </a:xfrm>
        </p:grpSpPr>
        <p:sp>
          <p:nvSpPr>
            <p:cNvPr name="Freeform 69" id="69"/>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70" id="70"/>
          <p:cNvGrpSpPr/>
          <p:nvPr/>
        </p:nvGrpSpPr>
        <p:grpSpPr>
          <a:xfrm rot="0">
            <a:off x="1097280" y="2619756"/>
            <a:ext cx="685800" cy="685800"/>
            <a:chOff x="0" y="0"/>
            <a:chExt cx="914400" cy="914400"/>
          </a:xfrm>
        </p:grpSpPr>
        <p:sp>
          <p:nvSpPr>
            <p:cNvPr name="Freeform 71" id="71"/>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txBody>
            <a:bodyPr/>
            <a:p/>
          </p:txBody>
        </p:sp>
      </p:grpSp>
      <p:grpSp>
        <p:nvGrpSpPr>
          <p:cNvPr name="Group 72" id="72"/>
          <p:cNvGrpSpPr/>
          <p:nvPr/>
        </p:nvGrpSpPr>
        <p:grpSpPr>
          <a:xfrm rot="0">
            <a:off x="1097280" y="2591181"/>
            <a:ext cx="685800" cy="714375"/>
            <a:chOff x="0" y="0"/>
            <a:chExt cx="914400" cy="952500"/>
          </a:xfrm>
        </p:grpSpPr>
        <p:sp>
          <p:nvSpPr>
            <p:cNvPr name="Freeform 73" id="73"/>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743" t="0" r="-83741" b="0"/>
              </a:stretch>
            </a:blipFill>
          </p:spPr>
          <p:txBody>
            <a:bodyPr/>
            <a:p/>
          </p:txBody>
        </p:sp>
      </p:grpSp>
      <p:grpSp>
        <p:nvGrpSpPr>
          <p:cNvPr name="Group 74" id="74"/>
          <p:cNvGrpSpPr/>
          <p:nvPr/>
        </p:nvGrpSpPr>
        <p:grpSpPr>
          <a:xfrm rot="0">
            <a:off x="1097280" y="2562606"/>
            <a:ext cx="685800" cy="742950"/>
            <a:chOff x="0" y="0"/>
            <a:chExt cx="914400" cy="990600"/>
          </a:xfrm>
        </p:grpSpPr>
        <p:sp>
          <p:nvSpPr>
            <p:cNvPr name="Freeform 75" id="75"/>
            <p:cNvSpPr/>
            <p:nvPr/>
          </p:nvSpPr>
          <p:spPr>
            <a:xfrm flipH="false" flipV="false" rot="0">
              <a:off x="0" y="0"/>
              <a:ext cx="914400" cy="990600"/>
            </a:xfrm>
            <a:custGeom>
              <a:avLst/>
              <a:gdLst/>
              <a:ahLst/>
              <a:cxnLst/>
              <a:rect r="r" b="b" t="t" l="l"/>
              <a:pathLst>
                <a:path h="990600" w="914400">
                  <a:moveTo>
                    <a:pt x="0" y="0"/>
                  </a:moveTo>
                  <a:lnTo>
                    <a:pt x="914400" y="0"/>
                  </a:lnTo>
                  <a:lnTo>
                    <a:pt x="914400" y="990600"/>
                  </a:lnTo>
                  <a:lnTo>
                    <a:pt x="0" y="990600"/>
                  </a:lnTo>
                  <a:close/>
                </a:path>
              </a:pathLst>
            </a:custGeom>
            <a:blipFill>
              <a:blip r:embed="rId6">
                <a:alphaModFix amt="0"/>
              </a:blip>
              <a:stretch>
                <a:fillRect l="-88995" t="0" r="-88995" b="0"/>
              </a:stretch>
            </a:blipFill>
          </p:spPr>
          <p:txBody>
            <a:bodyPr/>
            <a:p/>
          </p:txBody>
        </p:sp>
        <p:sp>
          <p:nvSpPr>
            <p:cNvPr name="TextBox 76" id="76"/>
            <p:cNvSpPr txBox="true"/>
            <p:nvPr/>
          </p:nvSpPr>
          <p:spPr>
            <a:xfrm>
              <a:off x="0" y="-38100"/>
              <a:ext cx="914400" cy="10287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1</a:t>
              </a:r>
            </a:p>
          </p:txBody>
        </p:sp>
      </p:grpSp>
      <p:grpSp>
        <p:nvGrpSpPr>
          <p:cNvPr name="Group 77" id="77"/>
          <p:cNvGrpSpPr/>
          <p:nvPr/>
        </p:nvGrpSpPr>
        <p:grpSpPr>
          <a:xfrm rot="0">
            <a:off x="2125980" y="2331720"/>
            <a:ext cx="3566160" cy="1261872"/>
            <a:chOff x="0" y="0"/>
            <a:chExt cx="4754880" cy="1682496"/>
          </a:xfrm>
        </p:grpSpPr>
        <p:sp>
          <p:nvSpPr>
            <p:cNvPr name="Freeform 78" id="78"/>
            <p:cNvSpPr/>
            <p:nvPr/>
          </p:nvSpPr>
          <p:spPr>
            <a:xfrm flipH="false" flipV="false" rot="0">
              <a:off x="0" y="0"/>
              <a:ext cx="4754880" cy="1682496"/>
            </a:xfrm>
            <a:custGeom>
              <a:avLst/>
              <a:gdLst/>
              <a:ahLst/>
              <a:cxnLst/>
              <a:rect r="r" b="b" t="t" l="l"/>
              <a:pathLst>
                <a:path h="1682496" w="4754880">
                  <a:moveTo>
                    <a:pt x="0" y="0"/>
                  </a:moveTo>
                  <a:lnTo>
                    <a:pt x="4754880" y="0"/>
                  </a:lnTo>
                  <a:lnTo>
                    <a:pt x="4754880" y="1682496"/>
                  </a:lnTo>
                  <a:lnTo>
                    <a:pt x="0" y="1682496"/>
                  </a:lnTo>
                  <a:close/>
                </a:path>
              </a:pathLst>
            </a:custGeom>
            <a:blipFill>
              <a:blip r:embed="rId4">
                <a:alphaModFix amt="0"/>
              </a:blip>
              <a:stretch>
                <a:fillRect l="0" t="-5027" r="0" b="-5028"/>
              </a:stretch>
            </a:blipFill>
          </p:spPr>
          <p:txBody>
            <a:bodyPr/>
            <a:p/>
          </p:txBody>
        </p:sp>
      </p:grpSp>
      <p:grpSp>
        <p:nvGrpSpPr>
          <p:cNvPr name="Group 79" id="79"/>
          <p:cNvGrpSpPr/>
          <p:nvPr/>
        </p:nvGrpSpPr>
        <p:grpSpPr>
          <a:xfrm rot="0">
            <a:off x="2125980" y="2288858"/>
            <a:ext cx="3566160" cy="1304734"/>
            <a:chOff x="0" y="0"/>
            <a:chExt cx="4754880" cy="1739646"/>
          </a:xfrm>
        </p:grpSpPr>
        <p:sp>
          <p:nvSpPr>
            <p:cNvPr name="Freeform 80" id="80"/>
            <p:cNvSpPr/>
            <p:nvPr/>
          </p:nvSpPr>
          <p:spPr>
            <a:xfrm flipH="false" flipV="false" rot="0">
              <a:off x="0" y="0"/>
              <a:ext cx="4754880" cy="1739646"/>
            </a:xfrm>
            <a:custGeom>
              <a:avLst/>
              <a:gdLst/>
              <a:ahLst/>
              <a:cxnLst/>
              <a:rect r="r" b="b" t="t" l="l"/>
              <a:pathLst>
                <a:path h="1739646" w="4754880">
                  <a:moveTo>
                    <a:pt x="0" y="0"/>
                  </a:moveTo>
                  <a:lnTo>
                    <a:pt x="4754880" y="0"/>
                  </a:lnTo>
                  <a:lnTo>
                    <a:pt x="4754880" y="1739646"/>
                  </a:lnTo>
                  <a:lnTo>
                    <a:pt x="0" y="1739646"/>
                  </a:lnTo>
                  <a:close/>
                </a:path>
              </a:pathLst>
            </a:custGeom>
            <a:blipFill>
              <a:blip r:embed="rId5">
                <a:alphaModFix amt="0"/>
              </a:blip>
              <a:stretch>
                <a:fillRect l="0" t="-3220" r="0" b="-3220"/>
              </a:stretch>
            </a:blipFill>
          </p:spPr>
          <p:txBody>
            <a:bodyPr/>
            <a:p/>
          </p:txBody>
        </p:sp>
      </p:grpSp>
      <p:grpSp>
        <p:nvGrpSpPr>
          <p:cNvPr name="Group 81" id="81"/>
          <p:cNvGrpSpPr/>
          <p:nvPr/>
        </p:nvGrpSpPr>
        <p:grpSpPr>
          <a:xfrm rot="0">
            <a:off x="2125980" y="2245995"/>
            <a:ext cx="3566160" cy="1347597"/>
            <a:chOff x="0" y="0"/>
            <a:chExt cx="4754880" cy="1796796"/>
          </a:xfrm>
        </p:grpSpPr>
        <p:sp>
          <p:nvSpPr>
            <p:cNvPr name="Freeform 82" id="82"/>
            <p:cNvSpPr/>
            <p:nvPr/>
          </p:nvSpPr>
          <p:spPr>
            <a:xfrm flipH="false" flipV="false" rot="0">
              <a:off x="0" y="0"/>
              <a:ext cx="4754880" cy="1796795"/>
            </a:xfrm>
            <a:custGeom>
              <a:avLst/>
              <a:gdLst/>
              <a:ahLst/>
              <a:cxnLst/>
              <a:rect r="r" b="b" t="t" l="l"/>
              <a:pathLst>
                <a:path h="1796795" w="4754880">
                  <a:moveTo>
                    <a:pt x="0" y="0"/>
                  </a:moveTo>
                  <a:lnTo>
                    <a:pt x="4754880" y="0"/>
                  </a:lnTo>
                  <a:lnTo>
                    <a:pt x="4754880" y="1796795"/>
                  </a:lnTo>
                  <a:lnTo>
                    <a:pt x="0" y="1796795"/>
                  </a:lnTo>
                  <a:close/>
                </a:path>
              </a:pathLst>
            </a:custGeom>
            <a:blipFill>
              <a:blip r:embed="rId6">
                <a:alphaModFix amt="0"/>
              </a:blip>
              <a:stretch>
                <a:fillRect l="0" t="-1563" r="0" b="-1563"/>
              </a:stretch>
            </a:blipFill>
          </p:spPr>
          <p:txBody>
            <a:bodyPr/>
            <a:p/>
          </p:txBody>
        </p:sp>
        <p:sp>
          <p:nvSpPr>
            <p:cNvPr name="TextBox 83" id="83"/>
            <p:cNvSpPr txBox="true"/>
            <p:nvPr/>
          </p:nvSpPr>
          <p:spPr>
            <a:xfrm>
              <a:off x="0" y="-57150"/>
              <a:ext cx="4754880" cy="1853946"/>
            </a:xfrm>
            <a:prstGeom prst="rect">
              <a:avLst/>
            </a:prstGeom>
          </p:spPr>
          <p:txBody>
            <a:bodyPr anchor="ctr" rtlCol="false" tIns="0" lIns="0" bIns="0" rIns="0"/>
            <a:lstStyle/>
            <a:p>
              <a:pPr algn="l">
                <a:lnSpc>
                  <a:spcPts val="2700"/>
                </a:lnSpc>
              </a:pPr>
              <a:r>
                <a:rPr lang="en-US" sz="2250" b="true">
                  <a:solidFill>
                    <a:srgbClr val="0B5E6E"/>
                  </a:solidFill>
                  <a:latin typeface="Calibri (MS) Bold"/>
                  <a:ea typeface="Calibri (MS) Bold"/>
                  <a:cs typeface="Calibri (MS) Bold"/>
                  <a:sym typeface="Calibri (MS) Bold"/>
                </a:rPr>
                <a:t>Wilayah &amp; periode</a:t>
              </a:r>
            </a:p>
          </p:txBody>
        </p:sp>
      </p:grpSp>
      <p:grpSp>
        <p:nvGrpSpPr>
          <p:cNvPr name="Group 84" id="84"/>
          <p:cNvGrpSpPr/>
          <p:nvPr/>
        </p:nvGrpSpPr>
        <p:grpSpPr>
          <a:xfrm rot="0">
            <a:off x="5760720" y="2331720"/>
            <a:ext cx="11452860" cy="1261872"/>
            <a:chOff x="0" y="0"/>
            <a:chExt cx="15270480" cy="1682496"/>
          </a:xfrm>
        </p:grpSpPr>
        <p:sp>
          <p:nvSpPr>
            <p:cNvPr name="Freeform 85" id="85"/>
            <p:cNvSpPr/>
            <p:nvPr/>
          </p:nvSpPr>
          <p:spPr>
            <a:xfrm flipH="false" flipV="false" rot="0">
              <a:off x="0" y="0"/>
              <a:ext cx="15270480" cy="1682496"/>
            </a:xfrm>
            <a:custGeom>
              <a:avLst/>
              <a:gdLst/>
              <a:ahLst/>
              <a:cxnLst/>
              <a:rect r="r" b="b" t="t" l="l"/>
              <a:pathLst>
                <a:path h="1682496" w="15270480">
                  <a:moveTo>
                    <a:pt x="0" y="0"/>
                  </a:moveTo>
                  <a:lnTo>
                    <a:pt x="15270480" y="0"/>
                  </a:lnTo>
                  <a:lnTo>
                    <a:pt x="15270480" y="1682496"/>
                  </a:lnTo>
                  <a:lnTo>
                    <a:pt x="0" y="1682496"/>
                  </a:lnTo>
                  <a:close/>
                </a:path>
              </a:pathLst>
            </a:custGeom>
            <a:blipFill>
              <a:blip r:embed="rId4">
                <a:alphaModFix amt="0"/>
              </a:blip>
              <a:stretch>
                <a:fillRect l="0" t="-126724" r="0" b="-126724"/>
              </a:stretch>
            </a:blipFill>
          </p:spPr>
          <p:txBody>
            <a:bodyPr/>
            <a:p/>
          </p:txBody>
        </p:sp>
      </p:grpSp>
      <p:grpSp>
        <p:nvGrpSpPr>
          <p:cNvPr name="Group 86" id="86"/>
          <p:cNvGrpSpPr/>
          <p:nvPr/>
        </p:nvGrpSpPr>
        <p:grpSpPr>
          <a:xfrm rot="0">
            <a:off x="5760720" y="2303145"/>
            <a:ext cx="11452860" cy="1290447"/>
            <a:chOff x="0" y="0"/>
            <a:chExt cx="15270480" cy="1720596"/>
          </a:xfrm>
        </p:grpSpPr>
        <p:sp>
          <p:nvSpPr>
            <p:cNvPr name="Freeform 87" id="87"/>
            <p:cNvSpPr/>
            <p:nvPr/>
          </p:nvSpPr>
          <p:spPr>
            <a:xfrm flipH="false" flipV="false" rot="0">
              <a:off x="0" y="0"/>
              <a:ext cx="15270480" cy="1720596"/>
            </a:xfrm>
            <a:custGeom>
              <a:avLst/>
              <a:gdLst/>
              <a:ahLst/>
              <a:cxnLst/>
              <a:rect r="r" b="b" t="t" l="l"/>
              <a:pathLst>
                <a:path h="1720596" w="15270480">
                  <a:moveTo>
                    <a:pt x="0" y="0"/>
                  </a:moveTo>
                  <a:lnTo>
                    <a:pt x="15270480" y="0"/>
                  </a:lnTo>
                  <a:lnTo>
                    <a:pt x="15270480" y="1720596"/>
                  </a:lnTo>
                  <a:lnTo>
                    <a:pt x="0" y="1720596"/>
                  </a:lnTo>
                  <a:close/>
                </a:path>
              </a:pathLst>
            </a:custGeom>
            <a:blipFill>
              <a:blip r:embed="rId5">
                <a:alphaModFix amt="0"/>
              </a:blip>
              <a:stretch>
                <a:fillRect l="0" t="-122811" r="0" b="-122811"/>
              </a:stretch>
            </a:blipFill>
          </p:spPr>
          <p:txBody>
            <a:bodyPr/>
            <a:p/>
          </p:txBody>
        </p:sp>
      </p:grpSp>
      <p:grpSp>
        <p:nvGrpSpPr>
          <p:cNvPr name="Group 88" id="88"/>
          <p:cNvGrpSpPr/>
          <p:nvPr/>
        </p:nvGrpSpPr>
        <p:grpSpPr>
          <a:xfrm rot="0">
            <a:off x="5760720" y="2274570"/>
            <a:ext cx="11452860" cy="1319022"/>
            <a:chOff x="0" y="0"/>
            <a:chExt cx="15270480" cy="1758696"/>
          </a:xfrm>
        </p:grpSpPr>
        <p:sp>
          <p:nvSpPr>
            <p:cNvPr name="Freeform 89" id="89"/>
            <p:cNvSpPr/>
            <p:nvPr/>
          </p:nvSpPr>
          <p:spPr>
            <a:xfrm flipH="false" flipV="false" rot="0">
              <a:off x="0" y="0"/>
              <a:ext cx="15270480" cy="1758696"/>
            </a:xfrm>
            <a:custGeom>
              <a:avLst/>
              <a:gdLst/>
              <a:ahLst/>
              <a:cxnLst/>
              <a:rect r="r" b="b" t="t" l="l"/>
              <a:pathLst>
                <a:path h="1758696" w="15270480">
                  <a:moveTo>
                    <a:pt x="0" y="0"/>
                  </a:moveTo>
                  <a:lnTo>
                    <a:pt x="15270480" y="0"/>
                  </a:lnTo>
                  <a:lnTo>
                    <a:pt x="15270480" y="1758696"/>
                  </a:lnTo>
                  <a:lnTo>
                    <a:pt x="0" y="1758696"/>
                  </a:lnTo>
                  <a:close/>
                </a:path>
              </a:pathLst>
            </a:custGeom>
            <a:blipFill>
              <a:blip r:embed="rId6">
                <a:alphaModFix amt="0"/>
              </a:blip>
              <a:stretch>
                <a:fillRect l="0" t="-119185" r="0" b="-119185"/>
              </a:stretch>
            </a:blipFill>
          </p:spPr>
          <p:txBody>
            <a:bodyPr/>
            <a:p/>
          </p:txBody>
        </p:sp>
        <p:sp>
          <p:nvSpPr>
            <p:cNvPr name="TextBox 90" id="90"/>
            <p:cNvSpPr txBox="true"/>
            <p:nvPr/>
          </p:nvSpPr>
          <p:spPr>
            <a:xfrm>
              <a:off x="0" y="-38100"/>
              <a:ext cx="15270480" cy="1796796"/>
            </a:xfrm>
            <a:prstGeom prst="rect">
              <a:avLst/>
            </a:prstGeom>
          </p:spPr>
          <p:txBody>
            <a:bodyPr anchor="ctr" rtlCol="false" tIns="0" lIns="0" bIns="0" rIns="0"/>
            <a:lstStyle/>
            <a:p>
              <a:pPr algn="l">
                <a:lnSpc>
                  <a:spcPts val="2430"/>
                </a:lnSpc>
              </a:pPr>
              <a:r>
                <a:rPr lang="en-US" sz="2025">
                  <a:solidFill>
                    <a:srgbClr val="14313B"/>
                  </a:solidFill>
                  <a:latin typeface="Calibri (MS)"/>
                  <a:ea typeface="Calibri (MS)"/>
                  <a:cs typeface="Calibri (MS)"/>
                  <a:sym typeface="Calibri (MS)"/>
                </a:rPr>
                <a:t>Provinsi DIY · kalibrasi data historis 2015–2025 · tahun dasar 2025, simulasi sampai 2050</a:t>
              </a:r>
            </a:p>
          </p:txBody>
        </p:sp>
      </p:grpSp>
      <p:grpSp>
        <p:nvGrpSpPr>
          <p:cNvPr name="Group 91" id="91"/>
          <p:cNvGrpSpPr/>
          <p:nvPr/>
        </p:nvGrpSpPr>
        <p:grpSpPr>
          <a:xfrm rot="0">
            <a:off x="822960" y="3730752"/>
            <a:ext cx="16637508" cy="1261872"/>
            <a:chOff x="0" y="0"/>
            <a:chExt cx="22183344" cy="1682496"/>
          </a:xfrm>
        </p:grpSpPr>
        <p:sp>
          <p:nvSpPr>
            <p:cNvPr name="Freeform 92" id="92"/>
            <p:cNvSpPr/>
            <p:nvPr/>
          </p:nvSpPr>
          <p:spPr>
            <a:xfrm flipH="false" flipV="false" rot="0">
              <a:off x="0" y="0"/>
              <a:ext cx="22183344" cy="1682496"/>
            </a:xfrm>
            <a:custGeom>
              <a:avLst/>
              <a:gdLst/>
              <a:ahLst/>
              <a:cxnLst/>
              <a:rect r="r" b="b" t="t" l="l"/>
              <a:pathLst>
                <a:path h="1682496" w="22183344">
                  <a:moveTo>
                    <a:pt x="0" y="182880"/>
                  </a:moveTo>
                  <a:cubicBezTo>
                    <a:pt x="0" y="81915"/>
                    <a:pt x="81915" y="0"/>
                    <a:pt x="182880" y="0"/>
                  </a:cubicBezTo>
                  <a:lnTo>
                    <a:pt x="22000463" y="0"/>
                  </a:lnTo>
                  <a:cubicBezTo>
                    <a:pt x="22101428" y="0"/>
                    <a:pt x="22183344" y="81915"/>
                    <a:pt x="22183344" y="182880"/>
                  </a:cubicBezTo>
                  <a:lnTo>
                    <a:pt x="22183344" y="1499616"/>
                  </a:lnTo>
                  <a:cubicBezTo>
                    <a:pt x="22183344" y="1600581"/>
                    <a:pt x="22101428" y="1682496"/>
                    <a:pt x="22000463" y="1682496"/>
                  </a:cubicBezTo>
                  <a:lnTo>
                    <a:pt x="182880" y="1682496"/>
                  </a:lnTo>
                  <a:cubicBezTo>
                    <a:pt x="81915" y="1682496"/>
                    <a:pt x="0" y="1600581"/>
                    <a:pt x="0" y="1499616"/>
                  </a:cubicBezTo>
                  <a:close/>
                </a:path>
              </a:pathLst>
            </a:custGeom>
            <a:solidFill>
              <a:srgbClr val="EAF8FA"/>
            </a:solidFill>
          </p:spPr>
          <p:txBody>
            <a:bodyPr/>
            <a:p/>
          </p:txBody>
        </p:sp>
      </p:grpSp>
      <p:grpSp>
        <p:nvGrpSpPr>
          <p:cNvPr name="Group 93" id="93"/>
          <p:cNvGrpSpPr/>
          <p:nvPr/>
        </p:nvGrpSpPr>
        <p:grpSpPr>
          <a:xfrm rot="0">
            <a:off x="1097280" y="4018788"/>
            <a:ext cx="685800" cy="685800"/>
            <a:chOff x="0" y="0"/>
            <a:chExt cx="914400" cy="914400"/>
          </a:xfrm>
        </p:grpSpPr>
        <p:sp>
          <p:nvSpPr>
            <p:cNvPr name="Freeform 94" id="94"/>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95" id="95"/>
          <p:cNvGrpSpPr/>
          <p:nvPr/>
        </p:nvGrpSpPr>
        <p:grpSpPr>
          <a:xfrm rot="0">
            <a:off x="1097280" y="4018788"/>
            <a:ext cx="685800" cy="685800"/>
            <a:chOff x="0" y="0"/>
            <a:chExt cx="914400" cy="914400"/>
          </a:xfrm>
        </p:grpSpPr>
        <p:sp>
          <p:nvSpPr>
            <p:cNvPr name="Freeform 96" id="96"/>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txBody>
            <a:bodyPr/>
            <a:p/>
          </p:txBody>
        </p:sp>
      </p:grpSp>
      <p:grpSp>
        <p:nvGrpSpPr>
          <p:cNvPr name="Group 97" id="97"/>
          <p:cNvGrpSpPr/>
          <p:nvPr/>
        </p:nvGrpSpPr>
        <p:grpSpPr>
          <a:xfrm rot="0">
            <a:off x="1097280" y="3990213"/>
            <a:ext cx="685800" cy="714375"/>
            <a:chOff x="0" y="0"/>
            <a:chExt cx="914400" cy="952500"/>
          </a:xfrm>
        </p:grpSpPr>
        <p:sp>
          <p:nvSpPr>
            <p:cNvPr name="Freeform 98" id="98"/>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743" t="0" r="-83741" b="0"/>
              </a:stretch>
            </a:blipFill>
          </p:spPr>
          <p:txBody>
            <a:bodyPr/>
            <a:p/>
          </p:txBody>
        </p:sp>
      </p:grpSp>
      <p:grpSp>
        <p:nvGrpSpPr>
          <p:cNvPr name="Group 99" id="99"/>
          <p:cNvGrpSpPr/>
          <p:nvPr/>
        </p:nvGrpSpPr>
        <p:grpSpPr>
          <a:xfrm rot="0">
            <a:off x="1097280" y="3961638"/>
            <a:ext cx="685800" cy="742950"/>
            <a:chOff x="0" y="0"/>
            <a:chExt cx="914400" cy="990600"/>
          </a:xfrm>
        </p:grpSpPr>
        <p:sp>
          <p:nvSpPr>
            <p:cNvPr name="Freeform 100" id="100"/>
            <p:cNvSpPr/>
            <p:nvPr/>
          </p:nvSpPr>
          <p:spPr>
            <a:xfrm flipH="false" flipV="false" rot="0">
              <a:off x="0" y="0"/>
              <a:ext cx="914400" cy="990600"/>
            </a:xfrm>
            <a:custGeom>
              <a:avLst/>
              <a:gdLst/>
              <a:ahLst/>
              <a:cxnLst/>
              <a:rect r="r" b="b" t="t" l="l"/>
              <a:pathLst>
                <a:path h="990600" w="914400">
                  <a:moveTo>
                    <a:pt x="0" y="0"/>
                  </a:moveTo>
                  <a:lnTo>
                    <a:pt x="914400" y="0"/>
                  </a:lnTo>
                  <a:lnTo>
                    <a:pt x="914400" y="990600"/>
                  </a:lnTo>
                  <a:lnTo>
                    <a:pt x="0" y="990600"/>
                  </a:lnTo>
                  <a:close/>
                </a:path>
              </a:pathLst>
            </a:custGeom>
            <a:blipFill>
              <a:blip r:embed="rId6">
                <a:alphaModFix amt="0"/>
              </a:blip>
              <a:stretch>
                <a:fillRect l="-88995" t="0" r="-88995" b="0"/>
              </a:stretch>
            </a:blipFill>
          </p:spPr>
          <p:txBody>
            <a:bodyPr/>
            <a:p/>
          </p:txBody>
        </p:sp>
        <p:sp>
          <p:nvSpPr>
            <p:cNvPr name="TextBox 101" id="101"/>
            <p:cNvSpPr txBox="true"/>
            <p:nvPr/>
          </p:nvSpPr>
          <p:spPr>
            <a:xfrm>
              <a:off x="0" y="-38100"/>
              <a:ext cx="914400" cy="10287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2</a:t>
              </a:r>
            </a:p>
          </p:txBody>
        </p:sp>
      </p:grpSp>
      <p:grpSp>
        <p:nvGrpSpPr>
          <p:cNvPr name="Group 102" id="102"/>
          <p:cNvGrpSpPr/>
          <p:nvPr/>
        </p:nvGrpSpPr>
        <p:grpSpPr>
          <a:xfrm rot="0">
            <a:off x="2125980" y="3730752"/>
            <a:ext cx="3566160" cy="1261872"/>
            <a:chOff x="0" y="0"/>
            <a:chExt cx="4754880" cy="1682496"/>
          </a:xfrm>
        </p:grpSpPr>
        <p:sp>
          <p:nvSpPr>
            <p:cNvPr name="Freeform 103" id="103"/>
            <p:cNvSpPr/>
            <p:nvPr/>
          </p:nvSpPr>
          <p:spPr>
            <a:xfrm flipH="false" flipV="false" rot="0">
              <a:off x="0" y="0"/>
              <a:ext cx="4754880" cy="1682496"/>
            </a:xfrm>
            <a:custGeom>
              <a:avLst/>
              <a:gdLst/>
              <a:ahLst/>
              <a:cxnLst/>
              <a:rect r="r" b="b" t="t" l="l"/>
              <a:pathLst>
                <a:path h="1682496" w="4754880">
                  <a:moveTo>
                    <a:pt x="0" y="0"/>
                  </a:moveTo>
                  <a:lnTo>
                    <a:pt x="4754880" y="0"/>
                  </a:lnTo>
                  <a:lnTo>
                    <a:pt x="4754880" y="1682496"/>
                  </a:lnTo>
                  <a:lnTo>
                    <a:pt x="0" y="1682496"/>
                  </a:lnTo>
                  <a:close/>
                </a:path>
              </a:pathLst>
            </a:custGeom>
            <a:blipFill>
              <a:blip r:embed="rId4">
                <a:alphaModFix amt="0"/>
              </a:blip>
              <a:stretch>
                <a:fillRect l="0" t="-5027" r="0" b="-5028"/>
              </a:stretch>
            </a:blipFill>
          </p:spPr>
          <p:txBody>
            <a:bodyPr/>
            <a:p/>
          </p:txBody>
        </p:sp>
      </p:grpSp>
      <p:grpSp>
        <p:nvGrpSpPr>
          <p:cNvPr name="Group 104" id="104"/>
          <p:cNvGrpSpPr/>
          <p:nvPr/>
        </p:nvGrpSpPr>
        <p:grpSpPr>
          <a:xfrm rot="0">
            <a:off x="2125980" y="3687890"/>
            <a:ext cx="3566160" cy="1304734"/>
            <a:chOff x="0" y="0"/>
            <a:chExt cx="4754880" cy="1739646"/>
          </a:xfrm>
        </p:grpSpPr>
        <p:sp>
          <p:nvSpPr>
            <p:cNvPr name="Freeform 105" id="105"/>
            <p:cNvSpPr/>
            <p:nvPr/>
          </p:nvSpPr>
          <p:spPr>
            <a:xfrm flipH="false" flipV="false" rot="0">
              <a:off x="0" y="0"/>
              <a:ext cx="4754880" cy="1739646"/>
            </a:xfrm>
            <a:custGeom>
              <a:avLst/>
              <a:gdLst/>
              <a:ahLst/>
              <a:cxnLst/>
              <a:rect r="r" b="b" t="t" l="l"/>
              <a:pathLst>
                <a:path h="1739646" w="4754880">
                  <a:moveTo>
                    <a:pt x="0" y="0"/>
                  </a:moveTo>
                  <a:lnTo>
                    <a:pt x="4754880" y="0"/>
                  </a:lnTo>
                  <a:lnTo>
                    <a:pt x="4754880" y="1739646"/>
                  </a:lnTo>
                  <a:lnTo>
                    <a:pt x="0" y="1739646"/>
                  </a:lnTo>
                  <a:close/>
                </a:path>
              </a:pathLst>
            </a:custGeom>
            <a:blipFill>
              <a:blip r:embed="rId5">
                <a:alphaModFix amt="0"/>
              </a:blip>
              <a:stretch>
                <a:fillRect l="0" t="-3220" r="0" b="-3220"/>
              </a:stretch>
            </a:blipFill>
          </p:spPr>
          <p:txBody>
            <a:bodyPr/>
            <a:p/>
          </p:txBody>
        </p:sp>
      </p:grpSp>
      <p:grpSp>
        <p:nvGrpSpPr>
          <p:cNvPr name="Group 106" id="106"/>
          <p:cNvGrpSpPr/>
          <p:nvPr/>
        </p:nvGrpSpPr>
        <p:grpSpPr>
          <a:xfrm rot="0">
            <a:off x="2125980" y="3645027"/>
            <a:ext cx="3566160" cy="1347597"/>
            <a:chOff x="0" y="0"/>
            <a:chExt cx="4754880" cy="1796796"/>
          </a:xfrm>
        </p:grpSpPr>
        <p:sp>
          <p:nvSpPr>
            <p:cNvPr name="Freeform 107" id="107"/>
            <p:cNvSpPr/>
            <p:nvPr/>
          </p:nvSpPr>
          <p:spPr>
            <a:xfrm flipH="false" flipV="false" rot="0">
              <a:off x="0" y="0"/>
              <a:ext cx="4754880" cy="1796795"/>
            </a:xfrm>
            <a:custGeom>
              <a:avLst/>
              <a:gdLst/>
              <a:ahLst/>
              <a:cxnLst/>
              <a:rect r="r" b="b" t="t" l="l"/>
              <a:pathLst>
                <a:path h="1796795" w="4754880">
                  <a:moveTo>
                    <a:pt x="0" y="0"/>
                  </a:moveTo>
                  <a:lnTo>
                    <a:pt x="4754880" y="0"/>
                  </a:lnTo>
                  <a:lnTo>
                    <a:pt x="4754880" y="1796795"/>
                  </a:lnTo>
                  <a:lnTo>
                    <a:pt x="0" y="1796795"/>
                  </a:lnTo>
                  <a:close/>
                </a:path>
              </a:pathLst>
            </a:custGeom>
            <a:blipFill>
              <a:blip r:embed="rId6">
                <a:alphaModFix amt="0"/>
              </a:blip>
              <a:stretch>
                <a:fillRect l="0" t="-1563" r="0" b="-1563"/>
              </a:stretch>
            </a:blipFill>
          </p:spPr>
          <p:txBody>
            <a:bodyPr/>
            <a:p/>
          </p:txBody>
        </p:sp>
        <p:sp>
          <p:nvSpPr>
            <p:cNvPr name="TextBox 108" id="108"/>
            <p:cNvSpPr txBox="true"/>
            <p:nvPr/>
          </p:nvSpPr>
          <p:spPr>
            <a:xfrm>
              <a:off x="0" y="-57150"/>
              <a:ext cx="4754880" cy="1853946"/>
            </a:xfrm>
            <a:prstGeom prst="rect">
              <a:avLst/>
            </a:prstGeom>
          </p:spPr>
          <p:txBody>
            <a:bodyPr anchor="ctr" rtlCol="false" tIns="0" lIns="0" bIns="0" rIns="0"/>
            <a:lstStyle/>
            <a:p>
              <a:pPr algn="l">
                <a:lnSpc>
                  <a:spcPts val="2700"/>
                </a:lnSpc>
              </a:pPr>
              <a:r>
                <a:rPr lang="en-US" sz="2250" b="true">
                  <a:solidFill>
                    <a:srgbClr val="0B5E6E"/>
                  </a:solidFill>
                  <a:latin typeface="Calibri (MS) Bold"/>
                  <a:ea typeface="Calibri (MS) Bold"/>
                  <a:cs typeface="Calibri (MS) Bold"/>
                  <a:sym typeface="Calibri (MS) Bold"/>
                </a:rPr>
                <a:t>Struktur model</a:t>
              </a:r>
            </a:p>
          </p:txBody>
        </p:sp>
      </p:grpSp>
      <p:grpSp>
        <p:nvGrpSpPr>
          <p:cNvPr name="Group 109" id="109"/>
          <p:cNvGrpSpPr/>
          <p:nvPr/>
        </p:nvGrpSpPr>
        <p:grpSpPr>
          <a:xfrm rot="0">
            <a:off x="5760720" y="3730752"/>
            <a:ext cx="11452860" cy="1261872"/>
            <a:chOff x="0" y="0"/>
            <a:chExt cx="15270480" cy="1682496"/>
          </a:xfrm>
        </p:grpSpPr>
        <p:sp>
          <p:nvSpPr>
            <p:cNvPr name="Freeform 110" id="110"/>
            <p:cNvSpPr/>
            <p:nvPr/>
          </p:nvSpPr>
          <p:spPr>
            <a:xfrm flipH="false" flipV="false" rot="0">
              <a:off x="0" y="0"/>
              <a:ext cx="15270480" cy="1682496"/>
            </a:xfrm>
            <a:custGeom>
              <a:avLst/>
              <a:gdLst/>
              <a:ahLst/>
              <a:cxnLst/>
              <a:rect r="r" b="b" t="t" l="l"/>
              <a:pathLst>
                <a:path h="1682496" w="15270480">
                  <a:moveTo>
                    <a:pt x="0" y="0"/>
                  </a:moveTo>
                  <a:lnTo>
                    <a:pt x="15270480" y="0"/>
                  </a:lnTo>
                  <a:lnTo>
                    <a:pt x="15270480" y="1682496"/>
                  </a:lnTo>
                  <a:lnTo>
                    <a:pt x="0" y="1682496"/>
                  </a:lnTo>
                  <a:close/>
                </a:path>
              </a:pathLst>
            </a:custGeom>
            <a:blipFill>
              <a:blip r:embed="rId4">
                <a:alphaModFix amt="0"/>
              </a:blip>
              <a:stretch>
                <a:fillRect l="0" t="-126724" r="0" b="-126724"/>
              </a:stretch>
            </a:blipFill>
          </p:spPr>
          <p:txBody>
            <a:bodyPr/>
            <a:p/>
          </p:txBody>
        </p:sp>
      </p:grpSp>
      <p:grpSp>
        <p:nvGrpSpPr>
          <p:cNvPr name="Group 111" id="111"/>
          <p:cNvGrpSpPr/>
          <p:nvPr/>
        </p:nvGrpSpPr>
        <p:grpSpPr>
          <a:xfrm rot="0">
            <a:off x="5760720" y="3702177"/>
            <a:ext cx="11452860" cy="1290447"/>
            <a:chOff x="0" y="0"/>
            <a:chExt cx="15270480" cy="1720596"/>
          </a:xfrm>
        </p:grpSpPr>
        <p:sp>
          <p:nvSpPr>
            <p:cNvPr name="Freeform 112" id="112"/>
            <p:cNvSpPr/>
            <p:nvPr/>
          </p:nvSpPr>
          <p:spPr>
            <a:xfrm flipH="false" flipV="false" rot="0">
              <a:off x="0" y="0"/>
              <a:ext cx="15270480" cy="1720596"/>
            </a:xfrm>
            <a:custGeom>
              <a:avLst/>
              <a:gdLst/>
              <a:ahLst/>
              <a:cxnLst/>
              <a:rect r="r" b="b" t="t" l="l"/>
              <a:pathLst>
                <a:path h="1720596" w="15270480">
                  <a:moveTo>
                    <a:pt x="0" y="0"/>
                  </a:moveTo>
                  <a:lnTo>
                    <a:pt x="15270480" y="0"/>
                  </a:lnTo>
                  <a:lnTo>
                    <a:pt x="15270480" y="1720596"/>
                  </a:lnTo>
                  <a:lnTo>
                    <a:pt x="0" y="1720596"/>
                  </a:lnTo>
                  <a:close/>
                </a:path>
              </a:pathLst>
            </a:custGeom>
            <a:blipFill>
              <a:blip r:embed="rId5">
                <a:alphaModFix amt="0"/>
              </a:blip>
              <a:stretch>
                <a:fillRect l="0" t="-122811" r="0" b="-122811"/>
              </a:stretch>
            </a:blipFill>
          </p:spPr>
          <p:txBody>
            <a:bodyPr/>
            <a:p/>
          </p:txBody>
        </p:sp>
      </p:grpSp>
      <p:grpSp>
        <p:nvGrpSpPr>
          <p:cNvPr name="Group 113" id="113"/>
          <p:cNvGrpSpPr/>
          <p:nvPr/>
        </p:nvGrpSpPr>
        <p:grpSpPr>
          <a:xfrm rot="0">
            <a:off x="5760720" y="3673602"/>
            <a:ext cx="11452860" cy="1319022"/>
            <a:chOff x="0" y="0"/>
            <a:chExt cx="15270480" cy="1758696"/>
          </a:xfrm>
        </p:grpSpPr>
        <p:sp>
          <p:nvSpPr>
            <p:cNvPr name="Freeform 114" id="114"/>
            <p:cNvSpPr/>
            <p:nvPr/>
          </p:nvSpPr>
          <p:spPr>
            <a:xfrm flipH="false" flipV="false" rot="0">
              <a:off x="0" y="0"/>
              <a:ext cx="15270480" cy="1758696"/>
            </a:xfrm>
            <a:custGeom>
              <a:avLst/>
              <a:gdLst/>
              <a:ahLst/>
              <a:cxnLst/>
              <a:rect r="r" b="b" t="t" l="l"/>
              <a:pathLst>
                <a:path h="1758696" w="15270480">
                  <a:moveTo>
                    <a:pt x="0" y="0"/>
                  </a:moveTo>
                  <a:lnTo>
                    <a:pt x="15270480" y="0"/>
                  </a:lnTo>
                  <a:lnTo>
                    <a:pt x="15270480" y="1758696"/>
                  </a:lnTo>
                  <a:lnTo>
                    <a:pt x="0" y="1758696"/>
                  </a:lnTo>
                  <a:close/>
                </a:path>
              </a:pathLst>
            </a:custGeom>
            <a:blipFill>
              <a:blip r:embed="rId6">
                <a:alphaModFix amt="0"/>
              </a:blip>
              <a:stretch>
                <a:fillRect l="0" t="-119185" r="0" b="-119185"/>
              </a:stretch>
            </a:blipFill>
          </p:spPr>
          <p:txBody>
            <a:bodyPr/>
            <a:p/>
          </p:txBody>
        </p:sp>
        <p:sp>
          <p:nvSpPr>
            <p:cNvPr name="TextBox 115" id="115"/>
            <p:cNvSpPr txBox="true"/>
            <p:nvPr/>
          </p:nvSpPr>
          <p:spPr>
            <a:xfrm>
              <a:off x="0" y="-38100"/>
              <a:ext cx="15270480" cy="1796796"/>
            </a:xfrm>
            <a:prstGeom prst="rect">
              <a:avLst/>
            </a:prstGeom>
          </p:spPr>
          <p:txBody>
            <a:bodyPr anchor="ctr" rtlCol="false" tIns="0" lIns="0" bIns="0" rIns="0"/>
            <a:lstStyle/>
            <a:p>
              <a:pPr algn="l">
                <a:lnSpc>
                  <a:spcPts val="2430"/>
                </a:lnSpc>
              </a:pPr>
              <a:r>
                <a:rPr lang="en-US" sz="2025">
                  <a:solidFill>
                    <a:srgbClr val="14313B"/>
                  </a:solidFill>
                  <a:latin typeface="Calibri (MS)"/>
                  <a:ea typeface="Calibri (MS)"/>
                  <a:cs typeface="Calibri (MS)"/>
                  <a:sym typeface="Calibri (MS)"/>
                </a:rPr>
                <a:t>Lima stok utama: wisatawan, hotel &amp; akomodasi, ODTW, tenaga kerja, lahan terbangun. Tidak memasukkan shock eksternal (pandemi, bencana, krisis), harga, promosi, dan musim.</a:t>
              </a:r>
            </a:p>
          </p:txBody>
        </p:sp>
      </p:grpSp>
      <p:grpSp>
        <p:nvGrpSpPr>
          <p:cNvPr name="Group 116" id="116"/>
          <p:cNvGrpSpPr/>
          <p:nvPr/>
        </p:nvGrpSpPr>
        <p:grpSpPr>
          <a:xfrm rot="0">
            <a:off x="822960" y="5129784"/>
            <a:ext cx="16637508" cy="1261872"/>
            <a:chOff x="0" y="0"/>
            <a:chExt cx="22183344" cy="1682496"/>
          </a:xfrm>
        </p:grpSpPr>
        <p:sp>
          <p:nvSpPr>
            <p:cNvPr name="Freeform 117" id="117"/>
            <p:cNvSpPr/>
            <p:nvPr/>
          </p:nvSpPr>
          <p:spPr>
            <a:xfrm flipH="false" flipV="false" rot="0">
              <a:off x="0" y="0"/>
              <a:ext cx="22183344" cy="1682496"/>
            </a:xfrm>
            <a:custGeom>
              <a:avLst/>
              <a:gdLst/>
              <a:ahLst/>
              <a:cxnLst/>
              <a:rect r="r" b="b" t="t" l="l"/>
              <a:pathLst>
                <a:path h="1682496" w="22183344">
                  <a:moveTo>
                    <a:pt x="0" y="182880"/>
                  </a:moveTo>
                  <a:cubicBezTo>
                    <a:pt x="0" y="81915"/>
                    <a:pt x="81915" y="0"/>
                    <a:pt x="182880" y="0"/>
                  </a:cubicBezTo>
                  <a:lnTo>
                    <a:pt x="22000463" y="0"/>
                  </a:lnTo>
                  <a:cubicBezTo>
                    <a:pt x="22101428" y="0"/>
                    <a:pt x="22183344" y="81915"/>
                    <a:pt x="22183344" y="182880"/>
                  </a:cubicBezTo>
                  <a:lnTo>
                    <a:pt x="22183344" y="1499616"/>
                  </a:lnTo>
                  <a:cubicBezTo>
                    <a:pt x="22183344" y="1600581"/>
                    <a:pt x="22101428" y="1682496"/>
                    <a:pt x="22000463" y="1682496"/>
                  </a:cubicBezTo>
                  <a:lnTo>
                    <a:pt x="182880" y="1682496"/>
                  </a:lnTo>
                  <a:cubicBezTo>
                    <a:pt x="81915" y="1682496"/>
                    <a:pt x="0" y="1600581"/>
                    <a:pt x="0" y="1499616"/>
                  </a:cubicBezTo>
                  <a:close/>
                </a:path>
              </a:pathLst>
            </a:custGeom>
            <a:solidFill>
              <a:srgbClr val="EAF8FA"/>
            </a:solidFill>
          </p:spPr>
          <p:txBody>
            <a:bodyPr/>
            <a:p/>
          </p:txBody>
        </p:sp>
      </p:grpSp>
      <p:grpSp>
        <p:nvGrpSpPr>
          <p:cNvPr name="Group 118" id="118"/>
          <p:cNvGrpSpPr/>
          <p:nvPr/>
        </p:nvGrpSpPr>
        <p:grpSpPr>
          <a:xfrm rot="0">
            <a:off x="1097280" y="5417820"/>
            <a:ext cx="685800" cy="685800"/>
            <a:chOff x="0" y="0"/>
            <a:chExt cx="914400" cy="914400"/>
          </a:xfrm>
        </p:grpSpPr>
        <p:sp>
          <p:nvSpPr>
            <p:cNvPr name="Freeform 119" id="119"/>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120" id="120"/>
          <p:cNvGrpSpPr/>
          <p:nvPr/>
        </p:nvGrpSpPr>
        <p:grpSpPr>
          <a:xfrm rot="0">
            <a:off x="1097280" y="5417820"/>
            <a:ext cx="685800" cy="685800"/>
            <a:chOff x="0" y="0"/>
            <a:chExt cx="914400" cy="914400"/>
          </a:xfrm>
        </p:grpSpPr>
        <p:sp>
          <p:nvSpPr>
            <p:cNvPr name="Freeform 121" id="121"/>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txBody>
            <a:bodyPr/>
            <a:p/>
          </p:txBody>
        </p:sp>
      </p:grpSp>
      <p:grpSp>
        <p:nvGrpSpPr>
          <p:cNvPr name="Group 122" id="122"/>
          <p:cNvGrpSpPr/>
          <p:nvPr/>
        </p:nvGrpSpPr>
        <p:grpSpPr>
          <a:xfrm rot="0">
            <a:off x="1097280" y="5389245"/>
            <a:ext cx="685800" cy="714375"/>
            <a:chOff x="0" y="0"/>
            <a:chExt cx="914400" cy="952500"/>
          </a:xfrm>
        </p:grpSpPr>
        <p:sp>
          <p:nvSpPr>
            <p:cNvPr name="Freeform 123" id="123"/>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743" t="0" r="-83741" b="0"/>
              </a:stretch>
            </a:blipFill>
          </p:spPr>
          <p:txBody>
            <a:bodyPr/>
            <a:p/>
          </p:txBody>
        </p:sp>
      </p:grpSp>
      <p:grpSp>
        <p:nvGrpSpPr>
          <p:cNvPr name="Group 124" id="124"/>
          <p:cNvGrpSpPr/>
          <p:nvPr/>
        </p:nvGrpSpPr>
        <p:grpSpPr>
          <a:xfrm rot="0">
            <a:off x="1097280" y="5360670"/>
            <a:ext cx="685800" cy="742950"/>
            <a:chOff x="0" y="0"/>
            <a:chExt cx="914400" cy="990600"/>
          </a:xfrm>
        </p:grpSpPr>
        <p:sp>
          <p:nvSpPr>
            <p:cNvPr name="Freeform 125" id="125"/>
            <p:cNvSpPr/>
            <p:nvPr/>
          </p:nvSpPr>
          <p:spPr>
            <a:xfrm flipH="false" flipV="false" rot="0">
              <a:off x="0" y="0"/>
              <a:ext cx="914400" cy="990600"/>
            </a:xfrm>
            <a:custGeom>
              <a:avLst/>
              <a:gdLst/>
              <a:ahLst/>
              <a:cxnLst/>
              <a:rect r="r" b="b" t="t" l="l"/>
              <a:pathLst>
                <a:path h="990600" w="914400">
                  <a:moveTo>
                    <a:pt x="0" y="0"/>
                  </a:moveTo>
                  <a:lnTo>
                    <a:pt x="914400" y="0"/>
                  </a:lnTo>
                  <a:lnTo>
                    <a:pt x="914400" y="990600"/>
                  </a:lnTo>
                  <a:lnTo>
                    <a:pt x="0" y="990600"/>
                  </a:lnTo>
                  <a:close/>
                </a:path>
              </a:pathLst>
            </a:custGeom>
            <a:blipFill>
              <a:blip r:embed="rId6">
                <a:alphaModFix amt="0"/>
              </a:blip>
              <a:stretch>
                <a:fillRect l="-88995" t="0" r="-88995" b="0"/>
              </a:stretch>
            </a:blipFill>
          </p:spPr>
          <p:txBody>
            <a:bodyPr/>
            <a:p/>
          </p:txBody>
        </p:sp>
        <p:sp>
          <p:nvSpPr>
            <p:cNvPr name="TextBox 126" id="126"/>
            <p:cNvSpPr txBox="true"/>
            <p:nvPr/>
          </p:nvSpPr>
          <p:spPr>
            <a:xfrm>
              <a:off x="0" y="-38100"/>
              <a:ext cx="914400" cy="10287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3</a:t>
              </a:r>
            </a:p>
          </p:txBody>
        </p:sp>
      </p:grpSp>
      <p:grpSp>
        <p:nvGrpSpPr>
          <p:cNvPr name="Group 127" id="127"/>
          <p:cNvGrpSpPr/>
          <p:nvPr/>
        </p:nvGrpSpPr>
        <p:grpSpPr>
          <a:xfrm rot="0">
            <a:off x="2125980" y="5129784"/>
            <a:ext cx="3566160" cy="1261872"/>
            <a:chOff x="0" y="0"/>
            <a:chExt cx="4754880" cy="1682496"/>
          </a:xfrm>
        </p:grpSpPr>
        <p:sp>
          <p:nvSpPr>
            <p:cNvPr name="Freeform 128" id="128"/>
            <p:cNvSpPr/>
            <p:nvPr/>
          </p:nvSpPr>
          <p:spPr>
            <a:xfrm flipH="false" flipV="false" rot="0">
              <a:off x="0" y="0"/>
              <a:ext cx="4754880" cy="1682496"/>
            </a:xfrm>
            <a:custGeom>
              <a:avLst/>
              <a:gdLst/>
              <a:ahLst/>
              <a:cxnLst/>
              <a:rect r="r" b="b" t="t" l="l"/>
              <a:pathLst>
                <a:path h="1682496" w="4754880">
                  <a:moveTo>
                    <a:pt x="0" y="0"/>
                  </a:moveTo>
                  <a:lnTo>
                    <a:pt x="4754880" y="0"/>
                  </a:lnTo>
                  <a:lnTo>
                    <a:pt x="4754880" y="1682496"/>
                  </a:lnTo>
                  <a:lnTo>
                    <a:pt x="0" y="1682496"/>
                  </a:lnTo>
                  <a:close/>
                </a:path>
              </a:pathLst>
            </a:custGeom>
            <a:blipFill>
              <a:blip r:embed="rId4">
                <a:alphaModFix amt="0"/>
              </a:blip>
              <a:stretch>
                <a:fillRect l="0" t="-5027" r="0" b="-5028"/>
              </a:stretch>
            </a:blipFill>
          </p:spPr>
          <p:txBody>
            <a:bodyPr/>
            <a:p/>
          </p:txBody>
        </p:sp>
      </p:grpSp>
      <p:grpSp>
        <p:nvGrpSpPr>
          <p:cNvPr name="Group 129" id="129"/>
          <p:cNvGrpSpPr/>
          <p:nvPr/>
        </p:nvGrpSpPr>
        <p:grpSpPr>
          <a:xfrm rot="0">
            <a:off x="2125980" y="5086921"/>
            <a:ext cx="3566160" cy="1304734"/>
            <a:chOff x="0" y="0"/>
            <a:chExt cx="4754880" cy="1739646"/>
          </a:xfrm>
        </p:grpSpPr>
        <p:sp>
          <p:nvSpPr>
            <p:cNvPr name="Freeform 130" id="130"/>
            <p:cNvSpPr/>
            <p:nvPr/>
          </p:nvSpPr>
          <p:spPr>
            <a:xfrm flipH="false" flipV="false" rot="0">
              <a:off x="0" y="0"/>
              <a:ext cx="4754880" cy="1739646"/>
            </a:xfrm>
            <a:custGeom>
              <a:avLst/>
              <a:gdLst/>
              <a:ahLst/>
              <a:cxnLst/>
              <a:rect r="r" b="b" t="t" l="l"/>
              <a:pathLst>
                <a:path h="1739646" w="4754880">
                  <a:moveTo>
                    <a:pt x="0" y="0"/>
                  </a:moveTo>
                  <a:lnTo>
                    <a:pt x="4754880" y="0"/>
                  </a:lnTo>
                  <a:lnTo>
                    <a:pt x="4754880" y="1739646"/>
                  </a:lnTo>
                  <a:lnTo>
                    <a:pt x="0" y="1739646"/>
                  </a:lnTo>
                  <a:close/>
                </a:path>
              </a:pathLst>
            </a:custGeom>
            <a:blipFill>
              <a:blip r:embed="rId5">
                <a:alphaModFix amt="0"/>
              </a:blip>
              <a:stretch>
                <a:fillRect l="0" t="-3220" r="0" b="-3220"/>
              </a:stretch>
            </a:blipFill>
          </p:spPr>
          <p:txBody>
            <a:bodyPr/>
            <a:p/>
          </p:txBody>
        </p:sp>
      </p:grpSp>
      <p:grpSp>
        <p:nvGrpSpPr>
          <p:cNvPr name="Group 131" id="131"/>
          <p:cNvGrpSpPr/>
          <p:nvPr/>
        </p:nvGrpSpPr>
        <p:grpSpPr>
          <a:xfrm rot="0">
            <a:off x="2125980" y="5044059"/>
            <a:ext cx="3566160" cy="1347597"/>
            <a:chOff x="0" y="0"/>
            <a:chExt cx="4754880" cy="1796796"/>
          </a:xfrm>
        </p:grpSpPr>
        <p:sp>
          <p:nvSpPr>
            <p:cNvPr name="Freeform 132" id="132"/>
            <p:cNvSpPr/>
            <p:nvPr/>
          </p:nvSpPr>
          <p:spPr>
            <a:xfrm flipH="false" flipV="false" rot="0">
              <a:off x="0" y="0"/>
              <a:ext cx="4754880" cy="1796795"/>
            </a:xfrm>
            <a:custGeom>
              <a:avLst/>
              <a:gdLst/>
              <a:ahLst/>
              <a:cxnLst/>
              <a:rect r="r" b="b" t="t" l="l"/>
              <a:pathLst>
                <a:path h="1796795" w="4754880">
                  <a:moveTo>
                    <a:pt x="0" y="0"/>
                  </a:moveTo>
                  <a:lnTo>
                    <a:pt x="4754880" y="0"/>
                  </a:lnTo>
                  <a:lnTo>
                    <a:pt x="4754880" y="1796795"/>
                  </a:lnTo>
                  <a:lnTo>
                    <a:pt x="0" y="1796795"/>
                  </a:lnTo>
                  <a:close/>
                </a:path>
              </a:pathLst>
            </a:custGeom>
            <a:blipFill>
              <a:blip r:embed="rId6">
                <a:alphaModFix amt="0"/>
              </a:blip>
              <a:stretch>
                <a:fillRect l="0" t="-1563" r="0" b="-1563"/>
              </a:stretch>
            </a:blipFill>
          </p:spPr>
          <p:txBody>
            <a:bodyPr/>
            <a:p/>
          </p:txBody>
        </p:sp>
        <p:sp>
          <p:nvSpPr>
            <p:cNvPr name="TextBox 133" id="133"/>
            <p:cNvSpPr txBox="true"/>
            <p:nvPr/>
          </p:nvSpPr>
          <p:spPr>
            <a:xfrm>
              <a:off x="0" y="-57150"/>
              <a:ext cx="4754880" cy="1853946"/>
            </a:xfrm>
            <a:prstGeom prst="rect">
              <a:avLst/>
            </a:prstGeom>
          </p:spPr>
          <p:txBody>
            <a:bodyPr anchor="ctr" rtlCol="false" tIns="0" lIns="0" bIns="0" rIns="0"/>
            <a:lstStyle/>
            <a:p>
              <a:pPr algn="l">
                <a:lnSpc>
                  <a:spcPts val="2700"/>
                </a:lnSpc>
              </a:pPr>
              <a:r>
                <a:rPr lang="en-US" sz="2250" b="true">
                  <a:solidFill>
                    <a:srgbClr val="0B5E6E"/>
                  </a:solidFill>
                  <a:latin typeface="Calibri (MS) Bold"/>
                  <a:ea typeface="Calibri (MS) Bold"/>
                  <a:cs typeface="Calibri (MS) Bold"/>
                  <a:sym typeface="Calibri (MS) Bold"/>
                </a:rPr>
                <a:t>Peran citra satelit</a:t>
              </a:r>
            </a:p>
          </p:txBody>
        </p:sp>
      </p:grpSp>
      <p:grpSp>
        <p:nvGrpSpPr>
          <p:cNvPr name="Group 134" id="134"/>
          <p:cNvGrpSpPr/>
          <p:nvPr/>
        </p:nvGrpSpPr>
        <p:grpSpPr>
          <a:xfrm rot="0">
            <a:off x="5760720" y="5129784"/>
            <a:ext cx="11452860" cy="1261872"/>
            <a:chOff x="0" y="0"/>
            <a:chExt cx="15270480" cy="1682496"/>
          </a:xfrm>
        </p:grpSpPr>
        <p:sp>
          <p:nvSpPr>
            <p:cNvPr name="Freeform 135" id="135"/>
            <p:cNvSpPr/>
            <p:nvPr/>
          </p:nvSpPr>
          <p:spPr>
            <a:xfrm flipH="false" flipV="false" rot="0">
              <a:off x="0" y="0"/>
              <a:ext cx="15270480" cy="1682496"/>
            </a:xfrm>
            <a:custGeom>
              <a:avLst/>
              <a:gdLst/>
              <a:ahLst/>
              <a:cxnLst/>
              <a:rect r="r" b="b" t="t" l="l"/>
              <a:pathLst>
                <a:path h="1682496" w="15270480">
                  <a:moveTo>
                    <a:pt x="0" y="0"/>
                  </a:moveTo>
                  <a:lnTo>
                    <a:pt x="15270480" y="0"/>
                  </a:lnTo>
                  <a:lnTo>
                    <a:pt x="15270480" y="1682496"/>
                  </a:lnTo>
                  <a:lnTo>
                    <a:pt x="0" y="1682496"/>
                  </a:lnTo>
                  <a:close/>
                </a:path>
              </a:pathLst>
            </a:custGeom>
            <a:blipFill>
              <a:blip r:embed="rId4">
                <a:alphaModFix amt="0"/>
              </a:blip>
              <a:stretch>
                <a:fillRect l="0" t="-126724" r="0" b="-126724"/>
              </a:stretch>
            </a:blipFill>
          </p:spPr>
          <p:txBody>
            <a:bodyPr/>
            <a:p/>
          </p:txBody>
        </p:sp>
      </p:grpSp>
      <p:grpSp>
        <p:nvGrpSpPr>
          <p:cNvPr name="Group 136" id="136"/>
          <p:cNvGrpSpPr/>
          <p:nvPr/>
        </p:nvGrpSpPr>
        <p:grpSpPr>
          <a:xfrm rot="0">
            <a:off x="5760720" y="5101209"/>
            <a:ext cx="11452860" cy="1290447"/>
            <a:chOff x="0" y="0"/>
            <a:chExt cx="15270480" cy="1720596"/>
          </a:xfrm>
        </p:grpSpPr>
        <p:sp>
          <p:nvSpPr>
            <p:cNvPr name="Freeform 137" id="137"/>
            <p:cNvSpPr/>
            <p:nvPr/>
          </p:nvSpPr>
          <p:spPr>
            <a:xfrm flipH="false" flipV="false" rot="0">
              <a:off x="0" y="0"/>
              <a:ext cx="15270480" cy="1720596"/>
            </a:xfrm>
            <a:custGeom>
              <a:avLst/>
              <a:gdLst/>
              <a:ahLst/>
              <a:cxnLst/>
              <a:rect r="r" b="b" t="t" l="l"/>
              <a:pathLst>
                <a:path h="1720596" w="15270480">
                  <a:moveTo>
                    <a:pt x="0" y="0"/>
                  </a:moveTo>
                  <a:lnTo>
                    <a:pt x="15270480" y="0"/>
                  </a:lnTo>
                  <a:lnTo>
                    <a:pt x="15270480" y="1720596"/>
                  </a:lnTo>
                  <a:lnTo>
                    <a:pt x="0" y="1720596"/>
                  </a:lnTo>
                  <a:close/>
                </a:path>
              </a:pathLst>
            </a:custGeom>
            <a:blipFill>
              <a:blip r:embed="rId5">
                <a:alphaModFix amt="0"/>
              </a:blip>
              <a:stretch>
                <a:fillRect l="0" t="-122811" r="0" b="-122811"/>
              </a:stretch>
            </a:blipFill>
          </p:spPr>
          <p:txBody>
            <a:bodyPr/>
            <a:p/>
          </p:txBody>
        </p:sp>
      </p:grpSp>
      <p:grpSp>
        <p:nvGrpSpPr>
          <p:cNvPr name="Group 138" id="138"/>
          <p:cNvGrpSpPr/>
          <p:nvPr/>
        </p:nvGrpSpPr>
        <p:grpSpPr>
          <a:xfrm rot="0">
            <a:off x="5760720" y="5072634"/>
            <a:ext cx="11452860" cy="1319022"/>
            <a:chOff x="0" y="0"/>
            <a:chExt cx="15270480" cy="1758696"/>
          </a:xfrm>
        </p:grpSpPr>
        <p:sp>
          <p:nvSpPr>
            <p:cNvPr name="Freeform 139" id="139"/>
            <p:cNvSpPr/>
            <p:nvPr/>
          </p:nvSpPr>
          <p:spPr>
            <a:xfrm flipH="false" flipV="false" rot="0">
              <a:off x="0" y="0"/>
              <a:ext cx="15270480" cy="1758696"/>
            </a:xfrm>
            <a:custGeom>
              <a:avLst/>
              <a:gdLst/>
              <a:ahLst/>
              <a:cxnLst/>
              <a:rect r="r" b="b" t="t" l="l"/>
              <a:pathLst>
                <a:path h="1758696" w="15270480">
                  <a:moveTo>
                    <a:pt x="0" y="0"/>
                  </a:moveTo>
                  <a:lnTo>
                    <a:pt x="15270480" y="0"/>
                  </a:lnTo>
                  <a:lnTo>
                    <a:pt x="15270480" y="1758696"/>
                  </a:lnTo>
                  <a:lnTo>
                    <a:pt x="0" y="1758696"/>
                  </a:lnTo>
                  <a:close/>
                </a:path>
              </a:pathLst>
            </a:custGeom>
            <a:blipFill>
              <a:blip r:embed="rId6">
                <a:alphaModFix amt="0"/>
              </a:blip>
              <a:stretch>
                <a:fillRect l="0" t="-119185" r="0" b="-119185"/>
              </a:stretch>
            </a:blipFill>
          </p:spPr>
          <p:txBody>
            <a:bodyPr/>
            <a:p/>
          </p:txBody>
        </p:sp>
        <p:sp>
          <p:nvSpPr>
            <p:cNvPr name="TextBox 140" id="140"/>
            <p:cNvSpPr txBox="true"/>
            <p:nvPr/>
          </p:nvSpPr>
          <p:spPr>
            <a:xfrm>
              <a:off x="0" y="-38100"/>
              <a:ext cx="15270480" cy="1796796"/>
            </a:xfrm>
            <a:prstGeom prst="rect">
              <a:avLst/>
            </a:prstGeom>
          </p:spPr>
          <p:txBody>
            <a:bodyPr anchor="ctr" rtlCol="false" tIns="0" lIns="0" bIns="0" rIns="0"/>
            <a:lstStyle/>
            <a:p>
              <a:pPr algn="l">
                <a:lnSpc>
                  <a:spcPts val="2430"/>
                </a:lnSpc>
              </a:pPr>
              <a:r>
                <a:rPr lang="en-US" sz="2025">
                  <a:solidFill>
                    <a:srgbClr val="14313B"/>
                  </a:solidFill>
                  <a:latin typeface="Calibri (MS)"/>
                  <a:ea typeface="Calibri (MS)"/>
                  <a:cs typeface="Calibri (MS)"/>
                  <a:sym typeface="Calibri (MS)"/>
                </a:rPr>
                <a:t>Dipakai untuk memperbarui data lahan terbangun dan jumlah ODTW, bukan sebagai variabel di dalam model</a:t>
              </a:r>
            </a:p>
          </p:txBody>
        </p:sp>
      </p:grpSp>
      <p:grpSp>
        <p:nvGrpSpPr>
          <p:cNvPr name="Group 141" id="141"/>
          <p:cNvGrpSpPr/>
          <p:nvPr/>
        </p:nvGrpSpPr>
        <p:grpSpPr>
          <a:xfrm rot="0">
            <a:off x="822960" y="6528816"/>
            <a:ext cx="16637508" cy="1261872"/>
            <a:chOff x="0" y="0"/>
            <a:chExt cx="22183344" cy="1682496"/>
          </a:xfrm>
        </p:grpSpPr>
        <p:sp>
          <p:nvSpPr>
            <p:cNvPr name="Freeform 142" id="142"/>
            <p:cNvSpPr/>
            <p:nvPr/>
          </p:nvSpPr>
          <p:spPr>
            <a:xfrm flipH="false" flipV="false" rot="0">
              <a:off x="0" y="0"/>
              <a:ext cx="22183344" cy="1682496"/>
            </a:xfrm>
            <a:custGeom>
              <a:avLst/>
              <a:gdLst/>
              <a:ahLst/>
              <a:cxnLst/>
              <a:rect r="r" b="b" t="t" l="l"/>
              <a:pathLst>
                <a:path h="1682496" w="22183344">
                  <a:moveTo>
                    <a:pt x="0" y="182880"/>
                  </a:moveTo>
                  <a:cubicBezTo>
                    <a:pt x="0" y="81915"/>
                    <a:pt x="81915" y="0"/>
                    <a:pt x="182880" y="0"/>
                  </a:cubicBezTo>
                  <a:lnTo>
                    <a:pt x="22000463" y="0"/>
                  </a:lnTo>
                  <a:cubicBezTo>
                    <a:pt x="22101428" y="0"/>
                    <a:pt x="22183344" y="81915"/>
                    <a:pt x="22183344" y="182880"/>
                  </a:cubicBezTo>
                  <a:lnTo>
                    <a:pt x="22183344" y="1499616"/>
                  </a:lnTo>
                  <a:cubicBezTo>
                    <a:pt x="22183344" y="1600581"/>
                    <a:pt x="22101428" y="1682496"/>
                    <a:pt x="22000463" y="1682496"/>
                  </a:cubicBezTo>
                  <a:lnTo>
                    <a:pt x="182880" y="1682496"/>
                  </a:lnTo>
                  <a:cubicBezTo>
                    <a:pt x="81915" y="1682496"/>
                    <a:pt x="0" y="1600581"/>
                    <a:pt x="0" y="1499616"/>
                  </a:cubicBezTo>
                  <a:close/>
                </a:path>
              </a:pathLst>
            </a:custGeom>
            <a:solidFill>
              <a:srgbClr val="EAF8FA"/>
            </a:solidFill>
          </p:spPr>
          <p:txBody>
            <a:bodyPr/>
            <a:p/>
          </p:txBody>
        </p:sp>
      </p:grpSp>
      <p:grpSp>
        <p:nvGrpSpPr>
          <p:cNvPr name="Group 143" id="143"/>
          <p:cNvGrpSpPr/>
          <p:nvPr/>
        </p:nvGrpSpPr>
        <p:grpSpPr>
          <a:xfrm rot="0">
            <a:off x="1097280" y="6816852"/>
            <a:ext cx="685800" cy="685800"/>
            <a:chOff x="0" y="0"/>
            <a:chExt cx="914400" cy="914400"/>
          </a:xfrm>
        </p:grpSpPr>
        <p:sp>
          <p:nvSpPr>
            <p:cNvPr name="Freeform 144" id="144"/>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145" id="145"/>
          <p:cNvGrpSpPr/>
          <p:nvPr/>
        </p:nvGrpSpPr>
        <p:grpSpPr>
          <a:xfrm rot="0">
            <a:off x="1097280" y="6816852"/>
            <a:ext cx="685800" cy="685800"/>
            <a:chOff x="0" y="0"/>
            <a:chExt cx="914400" cy="914400"/>
          </a:xfrm>
        </p:grpSpPr>
        <p:sp>
          <p:nvSpPr>
            <p:cNvPr name="Freeform 146" id="146"/>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txBody>
            <a:bodyPr/>
            <a:p/>
          </p:txBody>
        </p:sp>
      </p:grpSp>
      <p:grpSp>
        <p:nvGrpSpPr>
          <p:cNvPr name="Group 147" id="147"/>
          <p:cNvGrpSpPr/>
          <p:nvPr/>
        </p:nvGrpSpPr>
        <p:grpSpPr>
          <a:xfrm rot="0">
            <a:off x="1097280" y="6788277"/>
            <a:ext cx="685800" cy="714375"/>
            <a:chOff x="0" y="0"/>
            <a:chExt cx="914400" cy="952500"/>
          </a:xfrm>
        </p:grpSpPr>
        <p:sp>
          <p:nvSpPr>
            <p:cNvPr name="Freeform 148" id="148"/>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743" t="0" r="-83741" b="0"/>
              </a:stretch>
            </a:blipFill>
          </p:spPr>
          <p:txBody>
            <a:bodyPr/>
            <a:p/>
          </p:txBody>
        </p:sp>
      </p:grpSp>
      <p:grpSp>
        <p:nvGrpSpPr>
          <p:cNvPr name="Group 149" id="149"/>
          <p:cNvGrpSpPr/>
          <p:nvPr/>
        </p:nvGrpSpPr>
        <p:grpSpPr>
          <a:xfrm rot="0">
            <a:off x="1097280" y="6759702"/>
            <a:ext cx="685800" cy="742950"/>
            <a:chOff x="0" y="0"/>
            <a:chExt cx="914400" cy="990600"/>
          </a:xfrm>
        </p:grpSpPr>
        <p:sp>
          <p:nvSpPr>
            <p:cNvPr name="Freeform 150" id="150"/>
            <p:cNvSpPr/>
            <p:nvPr/>
          </p:nvSpPr>
          <p:spPr>
            <a:xfrm flipH="false" flipV="false" rot="0">
              <a:off x="0" y="0"/>
              <a:ext cx="914400" cy="990600"/>
            </a:xfrm>
            <a:custGeom>
              <a:avLst/>
              <a:gdLst/>
              <a:ahLst/>
              <a:cxnLst/>
              <a:rect r="r" b="b" t="t" l="l"/>
              <a:pathLst>
                <a:path h="990600" w="914400">
                  <a:moveTo>
                    <a:pt x="0" y="0"/>
                  </a:moveTo>
                  <a:lnTo>
                    <a:pt x="914400" y="0"/>
                  </a:lnTo>
                  <a:lnTo>
                    <a:pt x="914400" y="990600"/>
                  </a:lnTo>
                  <a:lnTo>
                    <a:pt x="0" y="990600"/>
                  </a:lnTo>
                  <a:close/>
                </a:path>
              </a:pathLst>
            </a:custGeom>
            <a:blipFill>
              <a:blip r:embed="rId6">
                <a:alphaModFix amt="0"/>
              </a:blip>
              <a:stretch>
                <a:fillRect l="-88995" t="0" r="-88995" b="0"/>
              </a:stretch>
            </a:blipFill>
          </p:spPr>
          <p:txBody>
            <a:bodyPr/>
            <a:p/>
          </p:txBody>
        </p:sp>
        <p:sp>
          <p:nvSpPr>
            <p:cNvPr name="TextBox 151" id="151"/>
            <p:cNvSpPr txBox="true"/>
            <p:nvPr/>
          </p:nvSpPr>
          <p:spPr>
            <a:xfrm>
              <a:off x="0" y="-38100"/>
              <a:ext cx="914400" cy="10287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4</a:t>
              </a:r>
            </a:p>
          </p:txBody>
        </p:sp>
      </p:grpSp>
      <p:grpSp>
        <p:nvGrpSpPr>
          <p:cNvPr name="Group 152" id="152"/>
          <p:cNvGrpSpPr/>
          <p:nvPr/>
        </p:nvGrpSpPr>
        <p:grpSpPr>
          <a:xfrm rot="0">
            <a:off x="2125980" y="6528816"/>
            <a:ext cx="3566160" cy="1261872"/>
            <a:chOff x="0" y="0"/>
            <a:chExt cx="4754880" cy="1682496"/>
          </a:xfrm>
        </p:grpSpPr>
        <p:sp>
          <p:nvSpPr>
            <p:cNvPr name="Freeform 153" id="153"/>
            <p:cNvSpPr/>
            <p:nvPr/>
          </p:nvSpPr>
          <p:spPr>
            <a:xfrm flipH="false" flipV="false" rot="0">
              <a:off x="0" y="0"/>
              <a:ext cx="4754880" cy="1682496"/>
            </a:xfrm>
            <a:custGeom>
              <a:avLst/>
              <a:gdLst/>
              <a:ahLst/>
              <a:cxnLst/>
              <a:rect r="r" b="b" t="t" l="l"/>
              <a:pathLst>
                <a:path h="1682496" w="4754880">
                  <a:moveTo>
                    <a:pt x="0" y="0"/>
                  </a:moveTo>
                  <a:lnTo>
                    <a:pt x="4754880" y="0"/>
                  </a:lnTo>
                  <a:lnTo>
                    <a:pt x="4754880" y="1682496"/>
                  </a:lnTo>
                  <a:lnTo>
                    <a:pt x="0" y="1682496"/>
                  </a:lnTo>
                  <a:close/>
                </a:path>
              </a:pathLst>
            </a:custGeom>
            <a:blipFill>
              <a:blip r:embed="rId4">
                <a:alphaModFix amt="0"/>
              </a:blip>
              <a:stretch>
                <a:fillRect l="0" t="-5027" r="0" b="-5028"/>
              </a:stretch>
            </a:blipFill>
          </p:spPr>
          <p:txBody>
            <a:bodyPr/>
            <a:p/>
          </p:txBody>
        </p:sp>
      </p:grpSp>
      <p:grpSp>
        <p:nvGrpSpPr>
          <p:cNvPr name="Group 154" id="154"/>
          <p:cNvGrpSpPr/>
          <p:nvPr/>
        </p:nvGrpSpPr>
        <p:grpSpPr>
          <a:xfrm rot="0">
            <a:off x="2125980" y="6485954"/>
            <a:ext cx="3566160" cy="1304734"/>
            <a:chOff x="0" y="0"/>
            <a:chExt cx="4754880" cy="1739646"/>
          </a:xfrm>
        </p:grpSpPr>
        <p:sp>
          <p:nvSpPr>
            <p:cNvPr name="Freeform 155" id="155"/>
            <p:cNvSpPr/>
            <p:nvPr/>
          </p:nvSpPr>
          <p:spPr>
            <a:xfrm flipH="false" flipV="false" rot="0">
              <a:off x="0" y="0"/>
              <a:ext cx="4754880" cy="1739646"/>
            </a:xfrm>
            <a:custGeom>
              <a:avLst/>
              <a:gdLst/>
              <a:ahLst/>
              <a:cxnLst/>
              <a:rect r="r" b="b" t="t" l="l"/>
              <a:pathLst>
                <a:path h="1739646" w="4754880">
                  <a:moveTo>
                    <a:pt x="0" y="0"/>
                  </a:moveTo>
                  <a:lnTo>
                    <a:pt x="4754880" y="0"/>
                  </a:lnTo>
                  <a:lnTo>
                    <a:pt x="4754880" y="1739646"/>
                  </a:lnTo>
                  <a:lnTo>
                    <a:pt x="0" y="1739646"/>
                  </a:lnTo>
                  <a:close/>
                </a:path>
              </a:pathLst>
            </a:custGeom>
            <a:blipFill>
              <a:blip r:embed="rId5">
                <a:alphaModFix amt="0"/>
              </a:blip>
              <a:stretch>
                <a:fillRect l="0" t="-3220" r="0" b="-3220"/>
              </a:stretch>
            </a:blipFill>
          </p:spPr>
          <p:txBody>
            <a:bodyPr/>
            <a:p/>
          </p:txBody>
        </p:sp>
      </p:grpSp>
      <p:grpSp>
        <p:nvGrpSpPr>
          <p:cNvPr name="Group 156" id="156"/>
          <p:cNvGrpSpPr/>
          <p:nvPr/>
        </p:nvGrpSpPr>
        <p:grpSpPr>
          <a:xfrm rot="0">
            <a:off x="2125980" y="6443091"/>
            <a:ext cx="3566160" cy="1347597"/>
            <a:chOff x="0" y="0"/>
            <a:chExt cx="4754880" cy="1796796"/>
          </a:xfrm>
        </p:grpSpPr>
        <p:sp>
          <p:nvSpPr>
            <p:cNvPr name="Freeform 157" id="157"/>
            <p:cNvSpPr/>
            <p:nvPr/>
          </p:nvSpPr>
          <p:spPr>
            <a:xfrm flipH="false" flipV="false" rot="0">
              <a:off x="0" y="0"/>
              <a:ext cx="4754880" cy="1796795"/>
            </a:xfrm>
            <a:custGeom>
              <a:avLst/>
              <a:gdLst/>
              <a:ahLst/>
              <a:cxnLst/>
              <a:rect r="r" b="b" t="t" l="l"/>
              <a:pathLst>
                <a:path h="1796795" w="4754880">
                  <a:moveTo>
                    <a:pt x="0" y="0"/>
                  </a:moveTo>
                  <a:lnTo>
                    <a:pt x="4754880" y="0"/>
                  </a:lnTo>
                  <a:lnTo>
                    <a:pt x="4754880" y="1796795"/>
                  </a:lnTo>
                  <a:lnTo>
                    <a:pt x="0" y="1796795"/>
                  </a:lnTo>
                  <a:close/>
                </a:path>
              </a:pathLst>
            </a:custGeom>
            <a:blipFill>
              <a:blip r:embed="rId6">
                <a:alphaModFix amt="0"/>
              </a:blip>
              <a:stretch>
                <a:fillRect l="0" t="-1563" r="0" b="-1563"/>
              </a:stretch>
            </a:blipFill>
          </p:spPr>
          <p:txBody>
            <a:bodyPr/>
            <a:p/>
          </p:txBody>
        </p:sp>
        <p:sp>
          <p:nvSpPr>
            <p:cNvPr name="TextBox 158" id="158"/>
            <p:cNvSpPr txBox="true"/>
            <p:nvPr/>
          </p:nvSpPr>
          <p:spPr>
            <a:xfrm>
              <a:off x="0" y="-57150"/>
              <a:ext cx="4754880" cy="1853946"/>
            </a:xfrm>
            <a:prstGeom prst="rect">
              <a:avLst/>
            </a:prstGeom>
          </p:spPr>
          <p:txBody>
            <a:bodyPr anchor="ctr" rtlCol="false" tIns="0" lIns="0" bIns="0" rIns="0"/>
            <a:lstStyle/>
            <a:p>
              <a:pPr algn="l">
                <a:lnSpc>
                  <a:spcPts val="2700"/>
                </a:lnSpc>
              </a:pPr>
              <a:r>
                <a:rPr lang="en-US" sz="2250" b="true">
                  <a:solidFill>
                    <a:srgbClr val="0B5E6E"/>
                  </a:solidFill>
                  <a:latin typeface="Calibri (MS) Bold"/>
                  <a:ea typeface="Calibri (MS) Bold"/>
                  <a:cs typeface="Calibri (MS) Bold"/>
                  <a:sym typeface="Calibri (MS) Bold"/>
                </a:rPr>
                <a:t>Skenario</a:t>
              </a:r>
            </a:p>
          </p:txBody>
        </p:sp>
      </p:grpSp>
      <p:grpSp>
        <p:nvGrpSpPr>
          <p:cNvPr name="Group 159" id="159"/>
          <p:cNvGrpSpPr/>
          <p:nvPr/>
        </p:nvGrpSpPr>
        <p:grpSpPr>
          <a:xfrm rot="0">
            <a:off x="5760720" y="6528816"/>
            <a:ext cx="11452860" cy="1261872"/>
            <a:chOff x="0" y="0"/>
            <a:chExt cx="15270480" cy="1682496"/>
          </a:xfrm>
        </p:grpSpPr>
        <p:sp>
          <p:nvSpPr>
            <p:cNvPr name="Freeform 160" id="160"/>
            <p:cNvSpPr/>
            <p:nvPr/>
          </p:nvSpPr>
          <p:spPr>
            <a:xfrm flipH="false" flipV="false" rot="0">
              <a:off x="0" y="0"/>
              <a:ext cx="15270480" cy="1682496"/>
            </a:xfrm>
            <a:custGeom>
              <a:avLst/>
              <a:gdLst/>
              <a:ahLst/>
              <a:cxnLst/>
              <a:rect r="r" b="b" t="t" l="l"/>
              <a:pathLst>
                <a:path h="1682496" w="15270480">
                  <a:moveTo>
                    <a:pt x="0" y="0"/>
                  </a:moveTo>
                  <a:lnTo>
                    <a:pt x="15270480" y="0"/>
                  </a:lnTo>
                  <a:lnTo>
                    <a:pt x="15270480" y="1682496"/>
                  </a:lnTo>
                  <a:lnTo>
                    <a:pt x="0" y="1682496"/>
                  </a:lnTo>
                  <a:close/>
                </a:path>
              </a:pathLst>
            </a:custGeom>
            <a:blipFill>
              <a:blip r:embed="rId4">
                <a:alphaModFix amt="0"/>
              </a:blip>
              <a:stretch>
                <a:fillRect l="0" t="-126724" r="0" b="-126724"/>
              </a:stretch>
            </a:blipFill>
          </p:spPr>
          <p:txBody>
            <a:bodyPr/>
            <a:p/>
          </p:txBody>
        </p:sp>
      </p:grpSp>
      <p:grpSp>
        <p:nvGrpSpPr>
          <p:cNvPr name="Group 161" id="161"/>
          <p:cNvGrpSpPr/>
          <p:nvPr/>
        </p:nvGrpSpPr>
        <p:grpSpPr>
          <a:xfrm rot="0">
            <a:off x="5760720" y="6500241"/>
            <a:ext cx="11452860" cy="1290447"/>
            <a:chOff x="0" y="0"/>
            <a:chExt cx="15270480" cy="1720596"/>
          </a:xfrm>
        </p:grpSpPr>
        <p:sp>
          <p:nvSpPr>
            <p:cNvPr name="Freeform 162" id="162"/>
            <p:cNvSpPr/>
            <p:nvPr/>
          </p:nvSpPr>
          <p:spPr>
            <a:xfrm flipH="false" flipV="false" rot="0">
              <a:off x="0" y="0"/>
              <a:ext cx="15270480" cy="1720596"/>
            </a:xfrm>
            <a:custGeom>
              <a:avLst/>
              <a:gdLst/>
              <a:ahLst/>
              <a:cxnLst/>
              <a:rect r="r" b="b" t="t" l="l"/>
              <a:pathLst>
                <a:path h="1720596" w="15270480">
                  <a:moveTo>
                    <a:pt x="0" y="0"/>
                  </a:moveTo>
                  <a:lnTo>
                    <a:pt x="15270480" y="0"/>
                  </a:lnTo>
                  <a:lnTo>
                    <a:pt x="15270480" y="1720596"/>
                  </a:lnTo>
                  <a:lnTo>
                    <a:pt x="0" y="1720596"/>
                  </a:lnTo>
                  <a:close/>
                </a:path>
              </a:pathLst>
            </a:custGeom>
            <a:blipFill>
              <a:blip r:embed="rId5">
                <a:alphaModFix amt="0"/>
              </a:blip>
              <a:stretch>
                <a:fillRect l="0" t="-122811" r="0" b="-122811"/>
              </a:stretch>
            </a:blipFill>
          </p:spPr>
          <p:txBody>
            <a:bodyPr/>
            <a:p/>
          </p:txBody>
        </p:sp>
      </p:grpSp>
      <p:grpSp>
        <p:nvGrpSpPr>
          <p:cNvPr name="Group 163" id="163"/>
          <p:cNvGrpSpPr/>
          <p:nvPr/>
        </p:nvGrpSpPr>
        <p:grpSpPr>
          <a:xfrm rot="0">
            <a:off x="5760720" y="6471666"/>
            <a:ext cx="11452860" cy="1319022"/>
            <a:chOff x="0" y="0"/>
            <a:chExt cx="15270480" cy="1758696"/>
          </a:xfrm>
        </p:grpSpPr>
        <p:sp>
          <p:nvSpPr>
            <p:cNvPr name="Freeform 164" id="164"/>
            <p:cNvSpPr/>
            <p:nvPr/>
          </p:nvSpPr>
          <p:spPr>
            <a:xfrm flipH="false" flipV="false" rot="0">
              <a:off x="0" y="0"/>
              <a:ext cx="15270480" cy="1758696"/>
            </a:xfrm>
            <a:custGeom>
              <a:avLst/>
              <a:gdLst/>
              <a:ahLst/>
              <a:cxnLst/>
              <a:rect r="r" b="b" t="t" l="l"/>
              <a:pathLst>
                <a:path h="1758696" w="15270480">
                  <a:moveTo>
                    <a:pt x="0" y="0"/>
                  </a:moveTo>
                  <a:lnTo>
                    <a:pt x="15270480" y="0"/>
                  </a:lnTo>
                  <a:lnTo>
                    <a:pt x="15270480" y="1758696"/>
                  </a:lnTo>
                  <a:lnTo>
                    <a:pt x="0" y="1758696"/>
                  </a:lnTo>
                  <a:close/>
                </a:path>
              </a:pathLst>
            </a:custGeom>
            <a:blipFill>
              <a:blip r:embed="rId6">
                <a:alphaModFix amt="0"/>
              </a:blip>
              <a:stretch>
                <a:fillRect l="0" t="-119185" r="0" b="-119185"/>
              </a:stretch>
            </a:blipFill>
          </p:spPr>
          <p:txBody>
            <a:bodyPr/>
            <a:p/>
          </p:txBody>
        </p:sp>
        <p:sp>
          <p:nvSpPr>
            <p:cNvPr name="TextBox 165" id="165"/>
            <p:cNvSpPr txBox="true"/>
            <p:nvPr/>
          </p:nvSpPr>
          <p:spPr>
            <a:xfrm>
              <a:off x="0" y="-38100"/>
              <a:ext cx="15270480" cy="1796796"/>
            </a:xfrm>
            <a:prstGeom prst="rect">
              <a:avLst/>
            </a:prstGeom>
          </p:spPr>
          <p:txBody>
            <a:bodyPr anchor="ctr" rtlCol="false" tIns="0" lIns="0" bIns="0" rIns="0"/>
            <a:lstStyle/>
            <a:p>
              <a:pPr algn="l">
                <a:lnSpc>
                  <a:spcPts val="2430"/>
                </a:lnSpc>
              </a:pPr>
              <a:r>
                <a:rPr lang="en-US" sz="2025">
                  <a:solidFill>
                    <a:srgbClr val="14313B"/>
                  </a:solidFill>
                  <a:latin typeface="Calibri (MS)"/>
                  <a:ea typeface="Calibri (MS)"/>
                  <a:cs typeface="Calibri (MS)"/>
                  <a:sym typeface="Calibri (MS)"/>
                </a:rPr>
                <a:t>Dua variabel kebijakan (insentif investasi, konservasi lahan) dan tiga skenario, disusun dari analisis sensitivitas dan dokumen kebijakan, tanpa lokakarya pemangku kepentingan</a:t>
              </a:r>
            </a:p>
          </p:txBody>
        </p:sp>
      </p:grpSp>
      <p:grpSp>
        <p:nvGrpSpPr>
          <p:cNvPr name="Group 166" id="166"/>
          <p:cNvGrpSpPr/>
          <p:nvPr/>
        </p:nvGrpSpPr>
        <p:grpSpPr>
          <a:xfrm rot="0">
            <a:off x="822960" y="7927848"/>
            <a:ext cx="16637508" cy="1261872"/>
            <a:chOff x="0" y="0"/>
            <a:chExt cx="22183344" cy="1682496"/>
          </a:xfrm>
        </p:grpSpPr>
        <p:sp>
          <p:nvSpPr>
            <p:cNvPr name="Freeform 167" id="167"/>
            <p:cNvSpPr/>
            <p:nvPr/>
          </p:nvSpPr>
          <p:spPr>
            <a:xfrm flipH="false" flipV="false" rot="0">
              <a:off x="0" y="0"/>
              <a:ext cx="22183344" cy="1682496"/>
            </a:xfrm>
            <a:custGeom>
              <a:avLst/>
              <a:gdLst/>
              <a:ahLst/>
              <a:cxnLst/>
              <a:rect r="r" b="b" t="t" l="l"/>
              <a:pathLst>
                <a:path h="1682496" w="22183344">
                  <a:moveTo>
                    <a:pt x="0" y="182880"/>
                  </a:moveTo>
                  <a:cubicBezTo>
                    <a:pt x="0" y="81915"/>
                    <a:pt x="81915" y="0"/>
                    <a:pt x="182880" y="0"/>
                  </a:cubicBezTo>
                  <a:lnTo>
                    <a:pt x="22000463" y="0"/>
                  </a:lnTo>
                  <a:cubicBezTo>
                    <a:pt x="22101428" y="0"/>
                    <a:pt x="22183344" y="81915"/>
                    <a:pt x="22183344" y="182880"/>
                  </a:cubicBezTo>
                  <a:lnTo>
                    <a:pt x="22183344" y="1499616"/>
                  </a:lnTo>
                  <a:cubicBezTo>
                    <a:pt x="22183344" y="1600581"/>
                    <a:pt x="22101428" y="1682496"/>
                    <a:pt x="22000463" y="1682496"/>
                  </a:cubicBezTo>
                  <a:lnTo>
                    <a:pt x="182880" y="1682496"/>
                  </a:lnTo>
                  <a:cubicBezTo>
                    <a:pt x="81915" y="1682496"/>
                    <a:pt x="0" y="1600581"/>
                    <a:pt x="0" y="1499616"/>
                  </a:cubicBezTo>
                  <a:close/>
                </a:path>
              </a:pathLst>
            </a:custGeom>
            <a:solidFill>
              <a:srgbClr val="FFF1BF"/>
            </a:solidFill>
          </p:spPr>
          <p:txBody>
            <a:bodyPr/>
            <a:p/>
          </p:txBody>
        </p:sp>
      </p:grpSp>
      <p:grpSp>
        <p:nvGrpSpPr>
          <p:cNvPr name="Group 168" id="168"/>
          <p:cNvGrpSpPr/>
          <p:nvPr/>
        </p:nvGrpSpPr>
        <p:grpSpPr>
          <a:xfrm rot="0">
            <a:off x="1097280" y="8215884"/>
            <a:ext cx="685800" cy="685800"/>
            <a:chOff x="0" y="0"/>
            <a:chExt cx="914400" cy="914400"/>
          </a:xfrm>
        </p:grpSpPr>
        <p:sp>
          <p:nvSpPr>
            <p:cNvPr name="Freeform 169" id="169"/>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FFD23B"/>
            </a:solidFill>
          </p:spPr>
          <p:txBody>
            <a:bodyPr/>
            <a:p/>
          </p:txBody>
        </p:sp>
      </p:grpSp>
      <p:grpSp>
        <p:nvGrpSpPr>
          <p:cNvPr name="Group 170" id="170"/>
          <p:cNvGrpSpPr/>
          <p:nvPr/>
        </p:nvGrpSpPr>
        <p:grpSpPr>
          <a:xfrm rot="0">
            <a:off x="1097280" y="8215884"/>
            <a:ext cx="685800" cy="685800"/>
            <a:chOff x="0" y="0"/>
            <a:chExt cx="914400" cy="914400"/>
          </a:xfrm>
        </p:grpSpPr>
        <p:sp>
          <p:nvSpPr>
            <p:cNvPr name="Freeform 171" id="171"/>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txBody>
            <a:bodyPr/>
            <a:p/>
          </p:txBody>
        </p:sp>
      </p:grpSp>
      <p:grpSp>
        <p:nvGrpSpPr>
          <p:cNvPr name="Group 172" id="172"/>
          <p:cNvGrpSpPr/>
          <p:nvPr/>
        </p:nvGrpSpPr>
        <p:grpSpPr>
          <a:xfrm rot="0">
            <a:off x="1097280" y="8187309"/>
            <a:ext cx="685800" cy="714375"/>
            <a:chOff x="0" y="0"/>
            <a:chExt cx="914400" cy="952500"/>
          </a:xfrm>
        </p:grpSpPr>
        <p:sp>
          <p:nvSpPr>
            <p:cNvPr name="Freeform 173" id="173"/>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743" t="0" r="-83741" b="0"/>
              </a:stretch>
            </a:blipFill>
          </p:spPr>
          <p:txBody>
            <a:bodyPr/>
            <a:p/>
          </p:txBody>
        </p:sp>
      </p:grpSp>
      <p:grpSp>
        <p:nvGrpSpPr>
          <p:cNvPr name="Group 174" id="174"/>
          <p:cNvGrpSpPr/>
          <p:nvPr/>
        </p:nvGrpSpPr>
        <p:grpSpPr>
          <a:xfrm rot="0">
            <a:off x="1097280" y="8158734"/>
            <a:ext cx="685800" cy="742950"/>
            <a:chOff x="0" y="0"/>
            <a:chExt cx="914400" cy="990600"/>
          </a:xfrm>
        </p:grpSpPr>
        <p:sp>
          <p:nvSpPr>
            <p:cNvPr name="Freeform 175" id="175"/>
            <p:cNvSpPr/>
            <p:nvPr/>
          </p:nvSpPr>
          <p:spPr>
            <a:xfrm flipH="false" flipV="false" rot="0">
              <a:off x="0" y="0"/>
              <a:ext cx="914400" cy="990600"/>
            </a:xfrm>
            <a:custGeom>
              <a:avLst/>
              <a:gdLst/>
              <a:ahLst/>
              <a:cxnLst/>
              <a:rect r="r" b="b" t="t" l="l"/>
              <a:pathLst>
                <a:path h="990600" w="914400">
                  <a:moveTo>
                    <a:pt x="0" y="0"/>
                  </a:moveTo>
                  <a:lnTo>
                    <a:pt x="914400" y="0"/>
                  </a:lnTo>
                  <a:lnTo>
                    <a:pt x="914400" y="990600"/>
                  </a:lnTo>
                  <a:lnTo>
                    <a:pt x="0" y="990600"/>
                  </a:lnTo>
                  <a:close/>
                </a:path>
              </a:pathLst>
            </a:custGeom>
            <a:blipFill>
              <a:blip r:embed="rId6">
                <a:alphaModFix amt="0"/>
              </a:blip>
              <a:stretch>
                <a:fillRect l="-88995" t="0" r="-88995" b="0"/>
              </a:stretch>
            </a:blipFill>
          </p:spPr>
          <p:txBody>
            <a:bodyPr/>
            <a:p/>
          </p:txBody>
        </p:sp>
        <p:sp>
          <p:nvSpPr>
            <p:cNvPr name="TextBox 176" id="176"/>
            <p:cNvSpPr txBox="true"/>
            <p:nvPr/>
          </p:nvSpPr>
          <p:spPr>
            <a:xfrm>
              <a:off x="0" y="-38100"/>
              <a:ext cx="914400" cy="1028700"/>
            </a:xfrm>
            <a:prstGeom prst="rect">
              <a:avLst/>
            </a:prstGeom>
          </p:spPr>
          <p:txBody>
            <a:bodyPr anchor="ctr" rtlCol="false" tIns="0" lIns="0" bIns="0" rIns="0"/>
            <a:lstStyle/>
            <a:p>
              <a:pPr algn="ctr">
                <a:lnSpc>
                  <a:spcPts val="2878"/>
                </a:lnSpc>
              </a:pPr>
              <a:r>
                <a:rPr lang="en-US" sz="2400" b="true">
                  <a:solidFill>
                    <a:srgbClr val="14313B"/>
                  </a:solidFill>
                  <a:latin typeface="Calibri (MS) Bold"/>
                  <a:ea typeface="Calibri (MS) Bold"/>
                  <a:cs typeface="Calibri (MS) Bold"/>
                  <a:sym typeface="Calibri (MS) Bold"/>
                </a:rPr>
                <a:t>5</a:t>
              </a:r>
            </a:p>
          </p:txBody>
        </p:sp>
      </p:grpSp>
      <p:grpSp>
        <p:nvGrpSpPr>
          <p:cNvPr name="Group 177" id="177"/>
          <p:cNvGrpSpPr/>
          <p:nvPr/>
        </p:nvGrpSpPr>
        <p:grpSpPr>
          <a:xfrm rot="0">
            <a:off x="2125980" y="7927848"/>
            <a:ext cx="3566160" cy="1261872"/>
            <a:chOff x="0" y="0"/>
            <a:chExt cx="4754880" cy="1682496"/>
          </a:xfrm>
        </p:grpSpPr>
        <p:sp>
          <p:nvSpPr>
            <p:cNvPr name="Freeform 178" id="178"/>
            <p:cNvSpPr/>
            <p:nvPr/>
          </p:nvSpPr>
          <p:spPr>
            <a:xfrm flipH="false" flipV="false" rot="0">
              <a:off x="0" y="0"/>
              <a:ext cx="4754880" cy="1682496"/>
            </a:xfrm>
            <a:custGeom>
              <a:avLst/>
              <a:gdLst/>
              <a:ahLst/>
              <a:cxnLst/>
              <a:rect r="r" b="b" t="t" l="l"/>
              <a:pathLst>
                <a:path h="1682496" w="4754880">
                  <a:moveTo>
                    <a:pt x="0" y="0"/>
                  </a:moveTo>
                  <a:lnTo>
                    <a:pt x="4754880" y="0"/>
                  </a:lnTo>
                  <a:lnTo>
                    <a:pt x="4754880" y="1682496"/>
                  </a:lnTo>
                  <a:lnTo>
                    <a:pt x="0" y="1682496"/>
                  </a:lnTo>
                  <a:close/>
                </a:path>
              </a:pathLst>
            </a:custGeom>
            <a:blipFill>
              <a:blip r:embed="rId4">
                <a:alphaModFix amt="0"/>
              </a:blip>
              <a:stretch>
                <a:fillRect l="0" t="-5027" r="0" b="-5028"/>
              </a:stretch>
            </a:blipFill>
          </p:spPr>
          <p:txBody>
            <a:bodyPr/>
            <a:p/>
          </p:txBody>
        </p:sp>
      </p:grpSp>
      <p:grpSp>
        <p:nvGrpSpPr>
          <p:cNvPr name="Group 179" id="179"/>
          <p:cNvGrpSpPr/>
          <p:nvPr/>
        </p:nvGrpSpPr>
        <p:grpSpPr>
          <a:xfrm rot="0">
            <a:off x="2125980" y="7884986"/>
            <a:ext cx="3566160" cy="1304734"/>
            <a:chOff x="0" y="0"/>
            <a:chExt cx="4754880" cy="1739646"/>
          </a:xfrm>
        </p:grpSpPr>
        <p:sp>
          <p:nvSpPr>
            <p:cNvPr name="Freeform 180" id="180"/>
            <p:cNvSpPr/>
            <p:nvPr/>
          </p:nvSpPr>
          <p:spPr>
            <a:xfrm flipH="false" flipV="false" rot="0">
              <a:off x="0" y="0"/>
              <a:ext cx="4754880" cy="1739646"/>
            </a:xfrm>
            <a:custGeom>
              <a:avLst/>
              <a:gdLst/>
              <a:ahLst/>
              <a:cxnLst/>
              <a:rect r="r" b="b" t="t" l="l"/>
              <a:pathLst>
                <a:path h="1739646" w="4754880">
                  <a:moveTo>
                    <a:pt x="0" y="0"/>
                  </a:moveTo>
                  <a:lnTo>
                    <a:pt x="4754880" y="0"/>
                  </a:lnTo>
                  <a:lnTo>
                    <a:pt x="4754880" y="1739646"/>
                  </a:lnTo>
                  <a:lnTo>
                    <a:pt x="0" y="1739646"/>
                  </a:lnTo>
                  <a:close/>
                </a:path>
              </a:pathLst>
            </a:custGeom>
            <a:blipFill>
              <a:blip r:embed="rId5">
                <a:alphaModFix amt="0"/>
              </a:blip>
              <a:stretch>
                <a:fillRect l="0" t="-3220" r="0" b="-3220"/>
              </a:stretch>
            </a:blipFill>
          </p:spPr>
          <p:txBody>
            <a:bodyPr/>
            <a:p/>
          </p:txBody>
        </p:sp>
      </p:grpSp>
      <p:grpSp>
        <p:nvGrpSpPr>
          <p:cNvPr name="Group 181" id="181"/>
          <p:cNvGrpSpPr/>
          <p:nvPr/>
        </p:nvGrpSpPr>
        <p:grpSpPr>
          <a:xfrm rot="0">
            <a:off x="2125980" y="7842123"/>
            <a:ext cx="3566160" cy="1347597"/>
            <a:chOff x="0" y="0"/>
            <a:chExt cx="4754880" cy="1796796"/>
          </a:xfrm>
        </p:grpSpPr>
        <p:sp>
          <p:nvSpPr>
            <p:cNvPr name="Freeform 182" id="182"/>
            <p:cNvSpPr/>
            <p:nvPr/>
          </p:nvSpPr>
          <p:spPr>
            <a:xfrm flipH="false" flipV="false" rot="0">
              <a:off x="0" y="0"/>
              <a:ext cx="4754880" cy="1796795"/>
            </a:xfrm>
            <a:custGeom>
              <a:avLst/>
              <a:gdLst/>
              <a:ahLst/>
              <a:cxnLst/>
              <a:rect r="r" b="b" t="t" l="l"/>
              <a:pathLst>
                <a:path h="1796795" w="4754880">
                  <a:moveTo>
                    <a:pt x="0" y="0"/>
                  </a:moveTo>
                  <a:lnTo>
                    <a:pt x="4754880" y="0"/>
                  </a:lnTo>
                  <a:lnTo>
                    <a:pt x="4754880" y="1796795"/>
                  </a:lnTo>
                  <a:lnTo>
                    <a:pt x="0" y="1796795"/>
                  </a:lnTo>
                  <a:close/>
                </a:path>
              </a:pathLst>
            </a:custGeom>
            <a:blipFill>
              <a:blip r:embed="rId6">
                <a:alphaModFix amt="0"/>
              </a:blip>
              <a:stretch>
                <a:fillRect l="0" t="-1563" r="0" b="-1563"/>
              </a:stretch>
            </a:blipFill>
          </p:spPr>
          <p:txBody>
            <a:bodyPr/>
            <a:p/>
          </p:txBody>
        </p:sp>
        <p:sp>
          <p:nvSpPr>
            <p:cNvPr name="TextBox 183" id="183"/>
            <p:cNvSpPr txBox="true"/>
            <p:nvPr/>
          </p:nvSpPr>
          <p:spPr>
            <a:xfrm>
              <a:off x="0" y="-57150"/>
              <a:ext cx="4754880" cy="1853946"/>
            </a:xfrm>
            <a:prstGeom prst="rect">
              <a:avLst/>
            </a:prstGeom>
          </p:spPr>
          <p:txBody>
            <a:bodyPr anchor="ctr" rtlCol="false" tIns="0" lIns="0" bIns="0" rIns="0"/>
            <a:lstStyle/>
            <a:p>
              <a:pPr algn="l">
                <a:lnSpc>
                  <a:spcPts val="2700"/>
                </a:lnSpc>
              </a:pPr>
              <a:r>
                <a:rPr lang="en-US" sz="2250" b="true">
                  <a:solidFill>
                    <a:srgbClr val="0B5E6E"/>
                  </a:solidFill>
                  <a:latin typeface="Calibri (MS) Bold"/>
                  <a:ea typeface="Calibri (MS) Bold"/>
                  <a:cs typeface="Calibri (MS) Bold"/>
                  <a:sym typeface="Calibri (MS) Bold"/>
                </a:rPr>
                <a:t>Interpretasi</a:t>
              </a:r>
            </a:p>
          </p:txBody>
        </p:sp>
      </p:grpSp>
      <p:grpSp>
        <p:nvGrpSpPr>
          <p:cNvPr name="Group 184" id="184"/>
          <p:cNvGrpSpPr/>
          <p:nvPr/>
        </p:nvGrpSpPr>
        <p:grpSpPr>
          <a:xfrm rot="0">
            <a:off x="5760720" y="7927848"/>
            <a:ext cx="11452860" cy="1261872"/>
            <a:chOff x="0" y="0"/>
            <a:chExt cx="15270480" cy="1682496"/>
          </a:xfrm>
        </p:grpSpPr>
        <p:sp>
          <p:nvSpPr>
            <p:cNvPr name="Freeform 185" id="185"/>
            <p:cNvSpPr/>
            <p:nvPr/>
          </p:nvSpPr>
          <p:spPr>
            <a:xfrm flipH="false" flipV="false" rot="0">
              <a:off x="0" y="0"/>
              <a:ext cx="15270480" cy="1682496"/>
            </a:xfrm>
            <a:custGeom>
              <a:avLst/>
              <a:gdLst/>
              <a:ahLst/>
              <a:cxnLst/>
              <a:rect r="r" b="b" t="t" l="l"/>
              <a:pathLst>
                <a:path h="1682496" w="15270480">
                  <a:moveTo>
                    <a:pt x="0" y="0"/>
                  </a:moveTo>
                  <a:lnTo>
                    <a:pt x="15270480" y="0"/>
                  </a:lnTo>
                  <a:lnTo>
                    <a:pt x="15270480" y="1682496"/>
                  </a:lnTo>
                  <a:lnTo>
                    <a:pt x="0" y="1682496"/>
                  </a:lnTo>
                  <a:close/>
                </a:path>
              </a:pathLst>
            </a:custGeom>
            <a:blipFill>
              <a:blip r:embed="rId4">
                <a:alphaModFix amt="0"/>
              </a:blip>
              <a:stretch>
                <a:fillRect l="0" t="-126724" r="0" b="-126724"/>
              </a:stretch>
            </a:blipFill>
          </p:spPr>
          <p:txBody>
            <a:bodyPr/>
            <a:p/>
          </p:txBody>
        </p:sp>
      </p:grpSp>
      <p:grpSp>
        <p:nvGrpSpPr>
          <p:cNvPr name="Group 186" id="186"/>
          <p:cNvGrpSpPr/>
          <p:nvPr/>
        </p:nvGrpSpPr>
        <p:grpSpPr>
          <a:xfrm rot="0">
            <a:off x="5760720" y="7899273"/>
            <a:ext cx="11452860" cy="1290447"/>
            <a:chOff x="0" y="0"/>
            <a:chExt cx="15270480" cy="1720596"/>
          </a:xfrm>
        </p:grpSpPr>
        <p:sp>
          <p:nvSpPr>
            <p:cNvPr name="Freeform 187" id="187"/>
            <p:cNvSpPr/>
            <p:nvPr/>
          </p:nvSpPr>
          <p:spPr>
            <a:xfrm flipH="false" flipV="false" rot="0">
              <a:off x="0" y="0"/>
              <a:ext cx="15270480" cy="1720596"/>
            </a:xfrm>
            <a:custGeom>
              <a:avLst/>
              <a:gdLst/>
              <a:ahLst/>
              <a:cxnLst/>
              <a:rect r="r" b="b" t="t" l="l"/>
              <a:pathLst>
                <a:path h="1720596" w="15270480">
                  <a:moveTo>
                    <a:pt x="0" y="0"/>
                  </a:moveTo>
                  <a:lnTo>
                    <a:pt x="15270480" y="0"/>
                  </a:lnTo>
                  <a:lnTo>
                    <a:pt x="15270480" y="1720596"/>
                  </a:lnTo>
                  <a:lnTo>
                    <a:pt x="0" y="1720596"/>
                  </a:lnTo>
                  <a:close/>
                </a:path>
              </a:pathLst>
            </a:custGeom>
            <a:blipFill>
              <a:blip r:embed="rId5">
                <a:alphaModFix amt="0"/>
              </a:blip>
              <a:stretch>
                <a:fillRect l="0" t="-122811" r="0" b="-122811"/>
              </a:stretch>
            </a:blipFill>
          </p:spPr>
          <p:txBody>
            <a:bodyPr/>
            <a:p/>
          </p:txBody>
        </p:sp>
      </p:grpSp>
      <p:grpSp>
        <p:nvGrpSpPr>
          <p:cNvPr name="Group 188" id="188"/>
          <p:cNvGrpSpPr/>
          <p:nvPr/>
        </p:nvGrpSpPr>
        <p:grpSpPr>
          <a:xfrm rot="0">
            <a:off x="5760720" y="7870698"/>
            <a:ext cx="11452860" cy="1319022"/>
            <a:chOff x="0" y="0"/>
            <a:chExt cx="15270480" cy="1758696"/>
          </a:xfrm>
        </p:grpSpPr>
        <p:sp>
          <p:nvSpPr>
            <p:cNvPr name="Freeform 189" id="189"/>
            <p:cNvSpPr/>
            <p:nvPr/>
          </p:nvSpPr>
          <p:spPr>
            <a:xfrm flipH="false" flipV="false" rot="0">
              <a:off x="0" y="0"/>
              <a:ext cx="15270480" cy="1758696"/>
            </a:xfrm>
            <a:custGeom>
              <a:avLst/>
              <a:gdLst/>
              <a:ahLst/>
              <a:cxnLst/>
              <a:rect r="r" b="b" t="t" l="l"/>
              <a:pathLst>
                <a:path h="1758696" w="15270480">
                  <a:moveTo>
                    <a:pt x="0" y="0"/>
                  </a:moveTo>
                  <a:lnTo>
                    <a:pt x="15270480" y="0"/>
                  </a:lnTo>
                  <a:lnTo>
                    <a:pt x="15270480" y="1758696"/>
                  </a:lnTo>
                  <a:lnTo>
                    <a:pt x="0" y="1758696"/>
                  </a:lnTo>
                  <a:close/>
                </a:path>
              </a:pathLst>
            </a:custGeom>
            <a:blipFill>
              <a:blip r:embed="rId6">
                <a:alphaModFix amt="0"/>
              </a:blip>
              <a:stretch>
                <a:fillRect l="0" t="-119185" r="0" b="-119185"/>
              </a:stretch>
            </a:blipFill>
          </p:spPr>
          <p:txBody>
            <a:bodyPr/>
            <a:p/>
          </p:txBody>
        </p:sp>
        <p:sp>
          <p:nvSpPr>
            <p:cNvPr name="TextBox 190" id="190"/>
            <p:cNvSpPr txBox="true"/>
            <p:nvPr/>
          </p:nvSpPr>
          <p:spPr>
            <a:xfrm>
              <a:off x="0" y="-38100"/>
              <a:ext cx="15270480" cy="1796796"/>
            </a:xfrm>
            <a:prstGeom prst="rect">
              <a:avLst/>
            </a:prstGeom>
          </p:spPr>
          <p:txBody>
            <a:bodyPr anchor="ctr" rtlCol="false" tIns="0" lIns="0" bIns="0" rIns="0"/>
            <a:lstStyle/>
            <a:p>
              <a:pPr algn="l">
                <a:lnSpc>
                  <a:spcPts val="2430"/>
                </a:lnSpc>
              </a:pPr>
              <a:r>
                <a:rPr lang="en-US" sz="2025">
                  <a:solidFill>
                    <a:srgbClr val="14313B"/>
                  </a:solidFill>
                  <a:latin typeface="Calibri (MS)"/>
                  <a:ea typeface="Calibri (MS)"/>
                  <a:cs typeface="Calibri (MS)"/>
                  <a:sym typeface="Calibri (MS)"/>
                </a:rPr>
                <a:t>Membandingkan arah dan besaran relatif antarskenario, bukan menghasilkan ramalan angka absolut</a:t>
              </a:r>
            </a:p>
          </p:txBody>
        </p:sp>
      </p:grpSp>
      <p:sp>
        <p:nvSpPr>
          <p:cNvPr name="TextBox 191" id="191"/>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9</a:t>
            </a:r>
          </a:p>
        </p:txBody>
      </p:sp>
      <p:grpSp>
        <p:nvGrpSpPr>
          <p:cNvPr name="Group 192" id="192"/>
          <p:cNvGrpSpPr/>
          <p:nvPr/>
        </p:nvGrpSpPr>
        <p:grpSpPr>
          <a:xfrm rot="0">
            <a:off x="16047720" y="9646920"/>
            <a:ext cx="420624" cy="420624"/>
            <a:chOff x="0" y="0"/>
            <a:chExt cx="560832" cy="560832"/>
          </a:xfrm>
        </p:grpSpPr>
        <p:sp>
          <p:nvSpPr>
            <p:cNvPr name="Freeform 193" id="193"/>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94" id="194"/>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5725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Kontribusi Penelitian Terkait</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Dibanding 9 studi sebelumnya, penelitian ini menggabungkan tiga unsur sekaligus</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0B5E6E"/>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aphicFrame>
        <p:nvGraphicFramePr>
          <p:cNvPr name="Table 66" id="66"/>
          <p:cNvGraphicFramePr>
            <a:graphicFrameLocks noGrp="true"/>
          </p:cNvGraphicFramePr>
          <p:nvPr/>
        </p:nvGraphicFramePr>
        <p:xfrm>
          <a:off x="822960" y="2331720"/>
          <a:ext cx="10756900" cy="6286500"/>
        </p:xfrm>
        <a:graphic>
          <a:graphicData uri="http://schemas.openxmlformats.org/drawingml/2006/table">
            <a:tbl>
              <a:tblPr/>
              <a:tblGrid>
                <a:gridCol w="3168191"/>
                <a:gridCol w="3300245"/>
                <a:gridCol w="1385470"/>
                <a:gridCol w="1385470"/>
                <a:gridCol w="1517524"/>
              </a:tblGrid>
              <a:tr h="571500">
                <a:tc>
                  <a:txBody>
                    <a:bodyPr anchor="t" rtlCol="false"/>
                    <a:lstStyle/>
                    <a:p>
                      <a:pPr algn="ctr">
                        <a:lnSpc>
                          <a:spcPts val="2070"/>
                        </a:lnSpc>
                        <a:defRPr/>
                      </a:pPr>
                      <a:r>
                        <a:rPr lang="en-US" sz="1725" b="true">
                          <a:solidFill>
                            <a:srgbClr val="FFFFFF"/>
                          </a:solidFill>
                          <a:latin typeface="Calibri (MS) Bold"/>
                          <a:ea typeface="Calibri (MS) Bold"/>
                          <a:cs typeface="Calibri (MS) Bold"/>
                          <a:sym typeface="Calibri (MS) Bold"/>
                        </a:rPr>
                        <a:t>Penelitian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070"/>
                        </a:lnSpc>
                        <a:defRPr/>
                      </a:pPr>
                      <a:r>
                        <a:rPr lang="en-US" sz="1725" b="true">
                          <a:solidFill>
                            <a:srgbClr val="FFFFFF"/>
                          </a:solidFill>
                          <a:latin typeface="Calibri (MS) Bold"/>
                          <a:ea typeface="Calibri (MS) Bold"/>
                          <a:cs typeface="Calibri (MS) Bold"/>
                          <a:sym typeface="Calibri (MS) Bold"/>
                        </a:rPr>
                        <a:t>Wilayah studi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070"/>
                        </a:lnSpc>
                        <a:defRPr/>
                      </a:pPr>
                      <a:r>
                        <a:rPr lang="en-US" sz="1725" b="true">
                          <a:solidFill>
                            <a:srgbClr val="FFFFFF"/>
                          </a:solidFill>
                          <a:latin typeface="Calibri (MS) Bold"/>
                          <a:ea typeface="Calibri (MS) Bold"/>
                          <a:cs typeface="Calibri (MS) Bold"/>
                          <a:sym typeface="Calibri (MS) Bold"/>
                        </a:rPr>
                        <a:t>Data statistik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070"/>
                        </a:lnSpc>
                        <a:defRPr/>
                      </a:pPr>
                      <a:r>
                        <a:rPr lang="en-US" sz="1725" b="true">
                          <a:solidFill>
                            <a:srgbClr val="FFFFFF"/>
                          </a:solidFill>
                          <a:latin typeface="Calibri (MS) Bold"/>
                          <a:ea typeface="Calibri (MS) Bold"/>
                          <a:cs typeface="Calibri (MS) Bold"/>
                          <a:sym typeface="Calibri (MS) Bold"/>
                        </a:rPr>
                        <a:t>Citra satelit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070"/>
                        </a:lnSpc>
                        <a:defRPr/>
                      </a:pPr>
                      <a:r>
                        <a:rPr lang="en-US" sz="1725" b="true">
                          <a:solidFill>
                            <a:srgbClr val="FFFFFF"/>
                          </a:solidFill>
                          <a:latin typeface="Calibri (MS) Bold"/>
                          <a:ea typeface="Calibri (MS) Bold"/>
                          <a:cs typeface="Calibri (MS) Bold"/>
                          <a:sym typeface="Calibri (MS) Bold"/>
                        </a:rPr>
                        <a:t>Aplikasi web</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r>
              <a:tr h="571500">
                <a:tc>
                  <a:txBody>
                    <a:bodyPr anchor="t" rtlCol="false"/>
                    <a:lstStyle/>
                    <a:p>
                      <a:pPr algn="l">
                        <a:lnSpc>
                          <a:spcPts val="2070"/>
                        </a:lnSpc>
                        <a:defRPr/>
                      </a:pPr>
                      <a:r>
                        <a:rPr lang="en-US" sz="1725">
                          <a:solidFill>
                            <a:srgbClr val="14313B"/>
                          </a:solidFill>
                          <a:latin typeface="Calibri (MS)"/>
                          <a:ea typeface="Calibri (MS)"/>
                          <a:cs typeface="Calibri (MS)"/>
                          <a:sym typeface="Calibri (MS)"/>
                        </a:rPr>
                        <a:t>Mai &amp; Smith (2018)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Cat Ba Island, Vietnam</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2070"/>
                        </a:lnSpc>
                        <a:defRPr/>
                      </a:pPr>
                      <a:r>
                        <a:rPr lang="en-US" sz="1725">
                          <a:solidFill>
                            <a:srgbClr val="14313B"/>
                          </a:solidFill>
                          <a:latin typeface="Calibri (MS)"/>
                          <a:ea typeface="Calibri (MS)"/>
                          <a:cs typeface="Calibri (MS)"/>
                          <a:sym typeface="Calibri (MS)"/>
                        </a:rPr>
                        <a:t>Fatina et al. (2023)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Labuan Bajo, Indonesia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2070"/>
                        </a:lnSpc>
                        <a:defRPr/>
                      </a:pPr>
                      <a:r>
                        <a:rPr lang="en-US" sz="1725">
                          <a:solidFill>
                            <a:srgbClr val="14313B"/>
                          </a:solidFill>
                          <a:latin typeface="Calibri (MS)"/>
                          <a:ea typeface="Calibri (MS)"/>
                          <a:cs typeface="Calibri (MS)"/>
                          <a:sym typeface="Calibri (MS)"/>
                        </a:rPr>
                        <a:t>Wang et al. (2020)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Kota besar Tiongkok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2070"/>
                        </a:lnSpc>
                        <a:defRPr/>
                      </a:pPr>
                      <a:r>
                        <a:rPr lang="en-US" sz="1725">
                          <a:solidFill>
                            <a:srgbClr val="14313B"/>
                          </a:solidFill>
                          <a:latin typeface="Calibri (MS)"/>
                          <a:ea typeface="Calibri (MS)"/>
                          <a:cs typeface="Calibri (MS)"/>
                          <a:sym typeface="Calibri (MS)"/>
                        </a:rPr>
                        <a:t>Luo et al. (2023)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Provinsi Hunan, Tiongkok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2070"/>
                        </a:lnSpc>
                        <a:defRPr/>
                      </a:pPr>
                      <a:r>
                        <a:rPr lang="en-US" sz="1725">
                          <a:solidFill>
                            <a:srgbClr val="14313B"/>
                          </a:solidFill>
                          <a:latin typeface="Calibri (MS)"/>
                          <a:ea typeface="Calibri (MS)"/>
                          <a:cs typeface="Calibri (MS)"/>
                          <a:sym typeface="Calibri (MS)"/>
                        </a:rPr>
                        <a:t>Veldhuis et al. (2023)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Belanda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2070"/>
                        </a:lnSpc>
                        <a:defRPr/>
                      </a:pPr>
                      <a:r>
                        <a:rPr lang="en-US" sz="1725">
                          <a:solidFill>
                            <a:srgbClr val="14313B"/>
                          </a:solidFill>
                          <a:latin typeface="Calibri (MS)"/>
                          <a:ea typeface="Calibri (MS)"/>
                          <a:cs typeface="Calibri (MS)"/>
                          <a:sym typeface="Calibri (MS)"/>
                        </a:rPr>
                        <a:t>Santoso et al. (2023)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Cibodas, Bandung Barat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2070"/>
                        </a:lnSpc>
                        <a:defRPr/>
                      </a:pPr>
                      <a:r>
                        <a:rPr lang="en-US" sz="1725">
                          <a:solidFill>
                            <a:srgbClr val="14313B"/>
                          </a:solidFill>
                          <a:latin typeface="Calibri (MS)"/>
                          <a:ea typeface="Calibri (MS)"/>
                          <a:cs typeface="Calibri (MS)"/>
                          <a:sym typeface="Calibri (MS)"/>
                        </a:rPr>
                        <a:t>Hell et al. (2021)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Lima destinasi Eropa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2070"/>
                        </a:lnSpc>
                        <a:defRPr/>
                      </a:pPr>
                      <a:r>
                        <a:rPr lang="en-US" sz="1725">
                          <a:solidFill>
                            <a:srgbClr val="14313B"/>
                          </a:solidFill>
                          <a:latin typeface="Calibri (MS)"/>
                          <a:ea typeface="Calibri (MS)"/>
                          <a:cs typeface="Calibri (MS)"/>
                          <a:sym typeface="Calibri (MS)"/>
                        </a:rPr>
                        <a:t>Gazoni (2021)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Generik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2070"/>
                        </a:lnSpc>
                        <a:defRPr/>
                      </a:pPr>
                      <a:r>
                        <a:rPr lang="en-US" sz="1725">
                          <a:solidFill>
                            <a:srgbClr val="14313B"/>
                          </a:solidFill>
                          <a:latin typeface="Calibri (MS)"/>
                          <a:ea typeface="Calibri (MS)"/>
                          <a:cs typeface="Calibri (MS)"/>
                          <a:sym typeface="Calibri (MS)"/>
                        </a:rPr>
                        <a:t>Gu et al. (2021)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Maldives</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2070"/>
                        </a:lnSpc>
                        <a:defRPr/>
                      </a:pPr>
                      <a:r>
                        <a:rPr lang="en-US" sz="1725" b="true">
                          <a:solidFill>
                            <a:srgbClr val="14313B"/>
                          </a:solidFill>
                          <a:latin typeface="Calibri (MS) Bold"/>
                          <a:ea typeface="Calibri (MS) Bold"/>
                          <a:cs typeface="Calibri (MS) Bold"/>
                          <a:sym typeface="Calibri (MS) Bold"/>
                        </a:rPr>
                        <a:t>Penelitian ini (2026)</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FFF1BF"/>
                    </a:solidFill>
                  </a:tcPr>
                </a:tc>
                <a:tc>
                  <a:txBody>
                    <a:bodyPr anchor="t" rtlCol="false"/>
                    <a:lstStyle/>
                    <a:p>
                      <a:pPr algn="l">
                        <a:lnSpc>
                          <a:spcPts val="2070"/>
                        </a:lnSpc>
                        <a:defRPr/>
                      </a:pPr>
                      <a:r>
                        <a:rPr lang="en-US" sz="1725" b="true">
                          <a:solidFill>
                            <a:srgbClr val="14313B"/>
                          </a:solidFill>
                          <a:latin typeface="Calibri (MS) Bold"/>
                          <a:ea typeface="Calibri (MS) Bold"/>
                          <a:cs typeface="Calibri (MS) Bold"/>
                          <a:sym typeface="Calibri (MS) Bold"/>
                        </a:rPr>
                        <a:t>Provinsi DIY</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FFF1BF"/>
                    </a:solidFill>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FFF1BF"/>
                    </a:solidFill>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FFF1BF"/>
                    </a:solidFill>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FFF1BF"/>
                    </a:solidFill>
                  </a:tcPr>
                </a:tc>
              </a:tr>
            </a:tbl>
          </a:graphicData>
        </a:graphic>
      </p:graphicFrame>
      <p:grpSp>
        <p:nvGrpSpPr>
          <p:cNvPr name="Group 67" id="67"/>
          <p:cNvGrpSpPr/>
          <p:nvPr/>
        </p:nvGrpSpPr>
        <p:grpSpPr>
          <a:xfrm rot="0">
            <a:off x="12070080" y="2331720"/>
            <a:ext cx="5390388" cy="2125980"/>
            <a:chOff x="0" y="0"/>
            <a:chExt cx="7187184" cy="2834640"/>
          </a:xfrm>
        </p:grpSpPr>
        <p:sp>
          <p:nvSpPr>
            <p:cNvPr name="Freeform 68" id="68"/>
            <p:cNvSpPr/>
            <p:nvPr/>
          </p:nvSpPr>
          <p:spPr>
            <a:xfrm flipH="false" flipV="false" rot="0">
              <a:off x="0" y="0"/>
              <a:ext cx="7187185" cy="2834640"/>
            </a:xfrm>
            <a:custGeom>
              <a:avLst/>
              <a:gdLst/>
              <a:ahLst/>
              <a:cxnLst/>
              <a:rect r="r" b="b" t="t" l="l"/>
              <a:pathLst>
                <a:path h="2834640" w="7187185">
                  <a:moveTo>
                    <a:pt x="0" y="182880"/>
                  </a:moveTo>
                  <a:cubicBezTo>
                    <a:pt x="0" y="81915"/>
                    <a:pt x="81915" y="0"/>
                    <a:pt x="182880" y="0"/>
                  </a:cubicBezTo>
                  <a:lnTo>
                    <a:pt x="7004304" y="0"/>
                  </a:lnTo>
                  <a:cubicBezTo>
                    <a:pt x="7105269" y="0"/>
                    <a:pt x="7187185" y="81915"/>
                    <a:pt x="7187185" y="182880"/>
                  </a:cubicBezTo>
                  <a:lnTo>
                    <a:pt x="7187185" y="2651760"/>
                  </a:lnTo>
                  <a:cubicBezTo>
                    <a:pt x="7187185" y="2752725"/>
                    <a:pt x="7105269" y="2834640"/>
                    <a:pt x="7004304" y="2834640"/>
                  </a:cubicBezTo>
                  <a:lnTo>
                    <a:pt x="182880" y="2834640"/>
                  </a:lnTo>
                  <a:cubicBezTo>
                    <a:pt x="81915" y="2834640"/>
                    <a:pt x="0" y="2752725"/>
                    <a:pt x="0" y="2651760"/>
                  </a:cubicBezTo>
                  <a:close/>
                </a:path>
              </a:pathLst>
            </a:custGeom>
            <a:solidFill>
              <a:srgbClr val="EAF8FA"/>
            </a:solidFill>
          </p:spPr>
          <p:txBody>
            <a:bodyPr/>
            <a:p/>
          </p:txBody>
        </p:sp>
      </p:grpSp>
      <p:grpSp>
        <p:nvGrpSpPr>
          <p:cNvPr name="Group 69" id="69"/>
          <p:cNvGrpSpPr/>
          <p:nvPr/>
        </p:nvGrpSpPr>
        <p:grpSpPr>
          <a:xfrm rot="0">
            <a:off x="12316968" y="2578608"/>
            <a:ext cx="576072" cy="576072"/>
            <a:chOff x="0" y="0"/>
            <a:chExt cx="768096" cy="768096"/>
          </a:xfrm>
        </p:grpSpPr>
        <p:sp>
          <p:nvSpPr>
            <p:cNvPr name="Freeform 70" id="70"/>
            <p:cNvSpPr/>
            <p:nvPr/>
          </p:nvSpPr>
          <p:spPr>
            <a:xfrm flipH="false" flipV="false" rot="0">
              <a:off x="0" y="0"/>
              <a:ext cx="768096" cy="768096"/>
            </a:xfrm>
            <a:custGeom>
              <a:avLst/>
              <a:gdLst/>
              <a:ahLst/>
              <a:cxnLst/>
              <a:rect r="r" b="b" t="t" l="l"/>
              <a:pathLst>
                <a:path h="768096" w="768096">
                  <a:moveTo>
                    <a:pt x="0" y="384048"/>
                  </a:moveTo>
                  <a:cubicBezTo>
                    <a:pt x="0" y="171958"/>
                    <a:pt x="171958" y="0"/>
                    <a:pt x="384048" y="0"/>
                  </a:cubicBezTo>
                  <a:cubicBezTo>
                    <a:pt x="596138" y="0"/>
                    <a:pt x="768096" y="171958"/>
                    <a:pt x="768096" y="384048"/>
                  </a:cubicBezTo>
                  <a:cubicBezTo>
                    <a:pt x="768096" y="596138"/>
                    <a:pt x="596138" y="768096"/>
                    <a:pt x="384048" y="768096"/>
                  </a:cubicBezTo>
                  <a:cubicBezTo>
                    <a:pt x="171958" y="768096"/>
                    <a:pt x="0" y="596138"/>
                    <a:pt x="0" y="384048"/>
                  </a:cubicBezTo>
                  <a:close/>
                </a:path>
              </a:pathLst>
            </a:custGeom>
            <a:solidFill>
              <a:srgbClr val="39C0D3"/>
            </a:solidFill>
          </p:spPr>
          <p:txBody>
            <a:bodyPr/>
            <a:p/>
          </p:txBody>
        </p:sp>
      </p:grpSp>
      <p:grpSp>
        <p:nvGrpSpPr>
          <p:cNvPr name="Group 71" id="71"/>
          <p:cNvGrpSpPr/>
          <p:nvPr/>
        </p:nvGrpSpPr>
        <p:grpSpPr>
          <a:xfrm rot="0">
            <a:off x="12316968" y="2578608"/>
            <a:ext cx="576072" cy="576072"/>
            <a:chOff x="0" y="0"/>
            <a:chExt cx="768096" cy="768096"/>
          </a:xfrm>
        </p:grpSpPr>
        <p:sp>
          <p:nvSpPr>
            <p:cNvPr name="Freeform 72" id="72"/>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close/>
                </a:path>
              </a:pathLst>
            </a:custGeom>
            <a:blipFill>
              <a:blip r:embed="rId4">
                <a:alphaModFix amt="0"/>
              </a:blip>
              <a:stretch>
                <a:fillRect l="-78392" t="0" r="-78392" b="0"/>
              </a:stretch>
            </a:blipFill>
          </p:spPr>
          <p:txBody>
            <a:bodyPr/>
            <a:p/>
          </p:txBody>
        </p:sp>
      </p:grpSp>
      <p:grpSp>
        <p:nvGrpSpPr>
          <p:cNvPr name="Group 73" id="73"/>
          <p:cNvGrpSpPr/>
          <p:nvPr/>
        </p:nvGrpSpPr>
        <p:grpSpPr>
          <a:xfrm rot="0">
            <a:off x="12316968" y="2542889"/>
            <a:ext cx="576072" cy="611791"/>
            <a:chOff x="0" y="0"/>
            <a:chExt cx="768096" cy="815721"/>
          </a:xfrm>
        </p:grpSpPr>
        <p:sp>
          <p:nvSpPr>
            <p:cNvPr name="Freeform 74" id="74"/>
            <p:cNvSpPr/>
            <p:nvPr/>
          </p:nvSpPr>
          <p:spPr>
            <a:xfrm flipH="false" flipV="false" rot="0">
              <a:off x="0" y="0"/>
              <a:ext cx="768096" cy="815721"/>
            </a:xfrm>
            <a:custGeom>
              <a:avLst/>
              <a:gdLst/>
              <a:ahLst/>
              <a:cxnLst/>
              <a:rect r="r" b="b" t="t" l="l"/>
              <a:pathLst>
                <a:path h="815721" w="768096">
                  <a:moveTo>
                    <a:pt x="0" y="0"/>
                  </a:moveTo>
                  <a:lnTo>
                    <a:pt x="768096" y="0"/>
                  </a:lnTo>
                  <a:lnTo>
                    <a:pt x="768096" y="815721"/>
                  </a:lnTo>
                  <a:lnTo>
                    <a:pt x="0" y="815721"/>
                  </a:lnTo>
                  <a:close/>
                </a:path>
              </a:pathLst>
            </a:custGeom>
            <a:blipFill>
              <a:blip r:embed="rId5">
                <a:alphaModFix amt="0"/>
              </a:blip>
              <a:stretch>
                <a:fillRect l="-86354" t="0" r="-86354" b="0"/>
              </a:stretch>
            </a:blipFill>
          </p:spPr>
          <p:txBody>
            <a:bodyPr/>
            <a:p/>
          </p:txBody>
        </p:sp>
      </p:grpSp>
      <p:grpSp>
        <p:nvGrpSpPr>
          <p:cNvPr name="Group 75" id="75"/>
          <p:cNvGrpSpPr/>
          <p:nvPr/>
        </p:nvGrpSpPr>
        <p:grpSpPr>
          <a:xfrm rot="0">
            <a:off x="12316968" y="2507171"/>
            <a:ext cx="576072" cy="647510"/>
            <a:chOff x="0" y="0"/>
            <a:chExt cx="768096" cy="863346"/>
          </a:xfrm>
        </p:grpSpPr>
        <p:sp>
          <p:nvSpPr>
            <p:cNvPr name="Freeform 76" id="76"/>
            <p:cNvSpPr/>
            <p:nvPr/>
          </p:nvSpPr>
          <p:spPr>
            <a:xfrm flipH="false" flipV="false" rot="0">
              <a:off x="0" y="0"/>
              <a:ext cx="768096" cy="863346"/>
            </a:xfrm>
            <a:custGeom>
              <a:avLst/>
              <a:gdLst/>
              <a:ahLst/>
              <a:cxnLst/>
              <a:rect r="r" b="b" t="t" l="l"/>
              <a:pathLst>
                <a:path h="863346" w="768096">
                  <a:moveTo>
                    <a:pt x="0" y="0"/>
                  </a:moveTo>
                  <a:lnTo>
                    <a:pt x="768096" y="0"/>
                  </a:lnTo>
                  <a:lnTo>
                    <a:pt x="768096" y="863346"/>
                  </a:lnTo>
                  <a:lnTo>
                    <a:pt x="0" y="863346"/>
                  </a:lnTo>
                  <a:close/>
                </a:path>
              </a:pathLst>
            </a:custGeom>
            <a:blipFill>
              <a:blip r:embed="rId6">
                <a:alphaModFix amt="0"/>
              </a:blip>
              <a:stretch>
                <a:fillRect l="-94214" t="0" r="-94214" b="0"/>
              </a:stretch>
            </a:blipFill>
          </p:spPr>
          <p:txBody>
            <a:bodyPr/>
            <a:p/>
          </p:txBody>
        </p:sp>
        <p:sp>
          <p:nvSpPr>
            <p:cNvPr name="TextBox 77" id="77"/>
            <p:cNvSpPr txBox="true"/>
            <p:nvPr/>
          </p:nvSpPr>
          <p:spPr>
            <a:xfrm>
              <a:off x="0" y="-47625"/>
              <a:ext cx="768096" cy="910971"/>
            </a:xfrm>
            <a:prstGeom prst="rect">
              <a:avLst/>
            </a:prstGeom>
          </p:spPr>
          <p:txBody>
            <a:bodyPr anchor="ctr" rtlCol="false" tIns="0" lIns="0" bIns="0" rIns="0"/>
            <a:lstStyle/>
            <a:p>
              <a:pPr algn="ctr">
                <a:lnSpc>
                  <a:spcPts val="2520"/>
                </a:lnSpc>
              </a:pPr>
              <a:r>
                <a:rPr lang="en-US" sz="2100" b="true">
                  <a:solidFill>
                    <a:srgbClr val="FFFFFF"/>
                  </a:solidFill>
                  <a:latin typeface="Calibri (MS) Bold"/>
                  <a:ea typeface="Calibri (MS) Bold"/>
                  <a:cs typeface="Calibri (MS) Bold"/>
                  <a:sym typeface="Calibri (MS) Bold"/>
                </a:rPr>
                <a:t>1</a:t>
              </a:r>
            </a:p>
          </p:txBody>
        </p:sp>
      </p:grpSp>
      <p:grpSp>
        <p:nvGrpSpPr>
          <p:cNvPr name="Group 78" id="78"/>
          <p:cNvGrpSpPr/>
          <p:nvPr/>
        </p:nvGrpSpPr>
        <p:grpSpPr>
          <a:xfrm rot="0">
            <a:off x="13098780" y="2537460"/>
            <a:ext cx="4114800" cy="1783080"/>
            <a:chOff x="0" y="0"/>
            <a:chExt cx="5486400" cy="2377440"/>
          </a:xfrm>
        </p:grpSpPr>
        <p:sp>
          <p:nvSpPr>
            <p:cNvPr name="Freeform 79" id="79"/>
            <p:cNvSpPr/>
            <p:nvPr/>
          </p:nvSpPr>
          <p:spPr>
            <a:xfrm flipH="false" flipV="false" rot="0">
              <a:off x="0" y="0"/>
              <a:ext cx="5486400" cy="2377440"/>
            </a:xfrm>
            <a:custGeom>
              <a:avLst/>
              <a:gdLst/>
              <a:ahLst/>
              <a:cxnLst/>
              <a:rect r="r" b="b" t="t" l="l"/>
              <a:pathLst>
                <a:path h="2377440" w="5486400">
                  <a:moveTo>
                    <a:pt x="0" y="0"/>
                  </a:moveTo>
                  <a:lnTo>
                    <a:pt x="5486400" y="0"/>
                  </a:lnTo>
                  <a:lnTo>
                    <a:pt x="5486400" y="2377440"/>
                  </a:lnTo>
                  <a:lnTo>
                    <a:pt x="0" y="2377440"/>
                  </a:lnTo>
                  <a:close/>
                </a:path>
              </a:pathLst>
            </a:custGeom>
            <a:blipFill>
              <a:blip r:embed="rId4">
                <a:alphaModFix amt="0"/>
              </a:blip>
              <a:stretch>
                <a:fillRect l="-5636" t="0" r="-5637" b="0"/>
              </a:stretch>
            </a:blipFill>
          </p:spPr>
          <p:txBody>
            <a:bodyPr/>
            <a:p/>
          </p:txBody>
        </p:sp>
      </p:grpSp>
      <p:grpSp>
        <p:nvGrpSpPr>
          <p:cNvPr name="Group 80" id="80"/>
          <p:cNvGrpSpPr/>
          <p:nvPr/>
        </p:nvGrpSpPr>
        <p:grpSpPr>
          <a:xfrm rot="0">
            <a:off x="13098780" y="2508885"/>
            <a:ext cx="4114800" cy="1811655"/>
            <a:chOff x="0" y="0"/>
            <a:chExt cx="5486400" cy="2415540"/>
          </a:xfrm>
        </p:grpSpPr>
        <p:sp>
          <p:nvSpPr>
            <p:cNvPr name="Freeform 81" id="81"/>
            <p:cNvSpPr/>
            <p:nvPr/>
          </p:nvSpPr>
          <p:spPr>
            <a:xfrm flipH="false" flipV="false" rot="0">
              <a:off x="0" y="0"/>
              <a:ext cx="5486400" cy="2415540"/>
            </a:xfrm>
            <a:custGeom>
              <a:avLst/>
              <a:gdLst/>
              <a:ahLst/>
              <a:cxnLst/>
              <a:rect r="r" b="b" t="t" l="l"/>
              <a:pathLst>
                <a:path h="2415540" w="5486400">
                  <a:moveTo>
                    <a:pt x="0" y="0"/>
                  </a:moveTo>
                  <a:lnTo>
                    <a:pt x="5486400" y="0"/>
                  </a:lnTo>
                  <a:lnTo>
                    <a:pt x="5486400" y="2415540"/>
                  </a:lnTo>
                  <a:lnTo>
                    <a:pt x="0" y="2415540"/>
                  </a:lnTo>
                  <a:close/>
                </a:path>
              </a:pathLst>
            </a:custGeom>
            <a:blipFill>
              <a:blip r:embed="rId5">
                <a:alphaModFix amt="0"/>
              </a:blip>
              <a:stretch>
                <a:fillRect l="-6528" t="0" r="-6528" b="0"/>
              </a:stretch>
            </a:blipFill>
          </p:spPr>
          <p:txBody>
            <a:bodyPr/>
            <a:p/>
          </p:txBody>
        </p:sp>
      </p:grpSp>
      <p:grpSp>
        <p:nvGrpSpPr>
          <p:cNvPr name="Group 82" id="82"/>
          <p:cNvGrpSpPr/>
          <p:nvPr/>
        </p:nvGrpSpPr>
        <p:grpSpPr>
          <a:xfrm rot="0">
            <a:off x="13098780" y="2480310"/>
            <a:ext cx="4114800" cy="1840230"/>
            <a:chOff x="0" y="0"/>
            <a:chExt cx="5486400" cy="2453640"/>
          </a:xfrm>
        </p:grpSpPr>
        <p:sp>
          <p:nvSpPr>
            <p:cNvPr name="Freeform 83" id="83"/>
            <p:cNvSpPr/>
            <p:nvPr/>
          </p:nvSpPr>
          <p:spPr>
            <a:xfrm flipH="false" flipV="false" rot="0">
              <a:off x="0" y="0"/>
              <a:ext cx="5486400" cy="2453640"/>
            </a:xfrm>
            <a:custGeom>
              <a:avLst/>
              <a:gdLst/>
              <a:ahLst/>
              <a:cxnLst/>
              <a:rect r="r" b="b" t="t" l="l"/>
              <a:pathLst>
                <a:path h="2453640" w="5486400">
                  <a:moveTo>
                    <a:pt x="0" y="0"/>
                  </a:moveTo>
                  <a:lnTo>
                    <a:pt x="5486400" y="0"/>
                  </a:lnTo>
                  <a:lnTo>
                    <a:pt x="5486400" y="2453640"/>
                  </a:lnTo>
                  <a:lnTo>
                    <a:pt x="0" y="2453640"/>
                  </a:lnTo>
                  <a:close/>
                </a:path>
              </a:pathLst>
            </a:custGeom>
            <a:blipFill>
              <a:blip r:embed="rId6">
                <a:alphaModFix amt="0"/>
              </a:blip>
              <a:stretch>
                <a:fillRect l="-7380" t="0" r="-7380" b="0"/>
              </a:stretch>
            </a:blipFill>
          </p:spPr>
          <p:txBody>
            <a:bodyPr/>
            <a:p/>
          </p:txBody>
        </p:sp>
        <p:sp>
          <p:nvSpPr>
            <p:cNvPr name="TextBox 84" id="84"/>
            <p:cNvSpPr txBox="true"/>
            <p:nvPr/>
          </p:nvSpPr>
          <p:spPr>
            <a:xfrm>
              <a:off x="0" y="-38100"/>
              <a:ext cx="5486400" cy="2491740"/>
            </a:xfrm>
            <a:prstGeom prst="rect">
              <a:avLst/>
            </a:prstGeom>
          </p:spPr>
          <p:txBody>
            <a:bodyPr anchor="ctr" rtlCol="false" tIns="0" lIns="0" bIns="0" rIns="0"/>
            <a:lstStyle/>
            <a:p>
              <a:pPr algn="l">
                <a:lnSpc>
                  <a:spcPts val="2250"/>
                </a:lnSpc>
              </a:pPr>
              <a:r>
                <a:rPr lang="en-US" sz="1875">
                  <a:solidFill>
                    <a:srgbClr val="14313B"/>
                  </a:solidFill>
                  <a:latin typeface="Calibri (MS)"/>
                  <a:ea typeface="Calibri (MS)"/>
                  <a:cs typeface="Calibri (MS)"/>
                  <a:sym typeface="Calibri (MS)"/>
                </a:rPr>
                <a:t>Integrasi sistem dinamis dengan data spasial multi-temporal, sehingga model responsif terhadap kondisi lingkungan aktual</a:t>
              </a:r>
            </a:p>
          </p:txBody>
        </p:sp>
      </p:grpSp>
      <p:grpSp>
        <p:nvGrpSpPr>
          <p:cNvPr name="Group 85" id="85"/>
          <p:cNvGrpSpPr/>
          <p:nvPr/>
        </p:nvGrpSpPr>
        <p:grpSpPr>
          <a:xfrm rot="0">
            <a:off x="12070080" y="4663440"/>
            <a:ext cx="5390388" cy="2125980"/>
            <a:chOff x="0" y="0"/>
            <a:chExt cx="7187184" cy="2834640"/>
          </a:xfrm>
        </p:grpSpPr>
        <p:sp>
          <p:nvSpPr>
            <p:cNvPr name="Freeform 86" id="86"/>
            <p:cNvSpPr/>
            <p:nvPr/>
          </p:nvSpPr>
          <p:spPr>
            <a:xfrm flipH="false" flipV="false" rot="0">
              <a:off x="0" y="0"/>
              <a:ext cx="7187185" cy="2834640"/>
            </a:xfrm>
            <a:custGeom>
              <a:avLst/>
              <a:gdLst/>
              <a:ahLst/>
              <a:cxnLst/>
              <a:rect r="r" b="b" t="t" l="l"/>
              <a:pathLst>
                <a:path h="2834640" w="7187185">
                  <a:moveTo>
                    <a:pt x="0" y="182880"/>
                  </a:moveTo>
                  <a:cubicBezTo>
                    <a:pt x="0" y="81915"/>
                    <a:pt x="81915" y="0"/>
                    <a:pt x="182880" y="0"/>
                  </a:cubicBezTo>
                  <a:lnTo>
                    <a:pt x="7004304" y="0"/>
                  </a:lnTo>
                  <a:cubicBezTo>
                    <a:pt x="7105269" y="0"/>
                    <a:pt x="7187185" y="81915"/>
                    <a:pt x="7187185" y="182880"/>
                  </a:cubicBezTo>
                  <a:lnTo>
                    <a:pt x="7187185" y="2651760"/>
                  </a:lnTo>
                  <a:cubicBezTo>
                    <a:pt x="7187185" y="2752725"/>
                    <a:pt x="7105269" y="2834640"/>
                    <a:pt x="7004304" y="2834640"/>
                  </a:cubicBezTo>
                  <a:lnTo>
                    <a:pt x="182880" y="2834640"/>
                  </a:lnTo>
                  <a:cubicBezTo>
                    <a:pt x="81915" y="2834640"/>
                    <a:pt x="0" y="2752725"/>
                    <a:pt x="0" y="2651760"/>
                  </a:cubicBezTo>
                  <a:close/>
                </a:path>
              </a:pathLst>
            </a:custGeom>
            <a:solidFill>
              <a:srgbClr val="EAF8FA"/>
            </a:solidFill>
          </p:spPr>
          <p:txBody>
            <a:bodyPr/>
            <a:p/>
          </p:txBody>
        </p:sp>
      </p:grpSp>
      <p:grpSp>
        <p:nvGrpSpPr>
          <p:cNvPr name="Group 87" id="87"/>
          <p:cNvGrpSpPr/>
          <p:nvPr/>
        </p:nvGrpSpPr>
        <p:grpSpPr>
          <a:xfrm rot="0">
            <a:off x="12316968" y="4910328"/>
            <a:ext cx="576072" cy="576072"/>
            <a:chOff x="0" y="0"/>
            <a:chExt cx="768096" cy="768096"/>
          </a:xfrm>
        </p:grpSpPr>
        <p:sp>
          <p:nvSpPr>
            <p:cNvPr name="Freeform 88" id="88"/>
            <p:cNvSpPr/>
            <p:nvPr/>
          </p:nvSpPr>
          <p:spPr>
            <a:xfrm flipH="false" flipV="false" rot="0">
              <a:off x="0" y="0"/>
              <a:ext cx="768096" cy="768096"/>
            </a:xfrm>
            <a:custGeom>
              <a:avLst/>
              <a:gdLst/>
              <a:ahLst/>
              <a:cxnLst/>
              <a:rect r="r" b="b" t="t" l="l"/>
              <a:pathLst>
                <a:path h="768096" w="768096">
                  <a:moveTo>
                    <a:pt x="0" y="384048"/>
                  </a:moveTo>
                  <a:cubicBezTo>
                    <a:pt x="0" y="171958"/>
                    <a:pt x="171958" y="0"/>
                    <a:pt x="384048" y="0"/>
                  </a:cubicBezTo>
                  <a:cubicBezTo>
                    <a:pt x="596138" y="0"/>
                    <a:pt x="768096" y="171958"/>
                    <a:pt x="768096" y="384048"/>
                  </a:cubicBezTo>
                  <a:cubicBezTo>
                    <a:pt x="768096" y="596138"/>
                    <a:pt x="596138" y="768096"/>
                    <a:pt x="384048" y="768096"/>
                  </a:cubicBezTo>
                  <a:cubicBezTo>
                    <a:pt x="171958" y="768096"/>
                    <a:pt x="0" y="596138"/>
                    <a:pt x="0" y="384048"/>
                  </a:cubicBezTo>
                  <a:close/>
                </a:path>
              </a:pathLst>
            </a:custGeom>
            <a:solidFill>
              <a:srgbClr val="39C0D3"/>
            </a:solidFill>
          </p:spPr>
          <p:txBody>
            <a:bodyPr/>
            <a:p/>
          </p:txBody>
        </p:sp>
      </p:grpSp>
      <p:grpSp>
        <p:nvGrpSpPr>
          <p:cNvPr name="Group 89" id="89"/>
          <p:cNvGrpSpPr/>
          <p:nvPr/>
        </p:nvGrpSpPr>
        <p:grpSpPr>
          <a:xfrm rot="0">
            <a:off x="12316968" y="4910328"/>
            <a:ext cx="576072" cy="576072"/>
            <a:chOff x="0" y="0"/>
            <a:chExt cx="768096" cy="768096"/>
          </a:xfrm>
        </p:grpSpPr>
        <p:sp>
          <p:nvSpPr>
            <p:cNvPr name="Freeform 90" id="90"/>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close/>
                </a:path>
              </a:pathLst>
            </a:custGeom>
            <a:blipFill>
              <a:blip r:embed="rId4">
                <a:alphaModFix amt="0"/>
              </a:blip>
              <a:stretch>
                <a:fillRect l="-78392" t="0" r="-78392" b="0"/>
              </a:stretch>
            </a:blipFill>
          </p:spPr>
          <p:txBody>
            <a:bodyPr/>
            <a:p/>
          </p:txBody>
        </p:sp>
      </p:grpSp>
      <p:grpSp>
        <p:nvGrpSpPr>
          <p:cNvPr name="Group 91" id="91"/>
          <p:cNvGrpSpPr/>
          <p:nvPr/>
        </p:nvGrpSpPr>
        <p:grpSpPr>
          <a:xfrm rot="0">
            <a:off x="12316968" y="4874609"/>
            <a:ext cx="576072" cy="611791"/>
            <a:chOff x="0" y="0"/>
            <a:chExt cx="768096" cy="815721"/>
          </a:xfrm>
        </p:grpSpPr>
        <p:sp>
          <p:nvSpPr>
            <p:cNvPr name="Freeform 92" id="92"/>
            <p:cNvSpPr/>
            <p:nvPr/>
          </p:nvSpPr>
          <p:spPr>
            <a:xfrm flipH="false" flipV="false" rot="0">
              <a:off x="0" y="0"/>
              <a:ext cx="768096" cy="815721"/>
            </a:xfrm>
            <a:custGeom>
              <a:avLst/>
              <a:gdLst/>
              <a:ahLst/>
              <a:cxnLst/>
              <a:rect r="r" b="b" t="t" l="l"/>
              <a:pathLst>
                <a:path h="815721" w="768096">
                  <a:moveTo>
                    <a:pt x="0" y="0"/>
                  </a:moveTo>
                  <a:lnTo>
                    <a:pt x="768096" y="0"/>
                  </a:lnTo>
                  <a:lnTo>
                    <a:pt x="768096" y="815721"/>
                  </a:lnTo>
                  <a:lnTo>
                    <a:pt x="0" y="815721"/>
                  </a:lnTo>
                  <a:close/>
                </a:path>
              </a:pathLst>
            </a:custGeom>
            <a:blipFill>
              <a:blip r:embed="rId5">
                <a:alphaModFix amt="0"/>
              </a:blip>
              <a:stretch>
                <a:fillRect l="-86354" t="0" r="-86354" b="0"/>
              </a:stretch>
            </a:blipFill>
          </p:spPr>
          <p:txBody>
            <a:bodyPr/>
            <a:p/>
          </p:txBody>
        </p:sp>
      </p:grpSp>
      <p:grpSp>
        <p:nvGrpSpPr>
          <p:cNvPr name="Group 93" id="93"/>
          <p:cNvGrpSpPr/>
          <p:nvPr/>
        </p:nvGrpSpPr>
        <p:grpSpPr>
          <a:xfrm rot="0">
            <a:off x="12316968" y="4838890"/>
            <a:ext cx="576072" cy="647510"/>
            <a:chOff x="0" y="0"/>
            <a:chExt cx="768096" cy="863346"/>
          </a:xfrm>
        </p:grpSpPr>
        <p:sp>
          <p:nvSpPr>
            <p:cNvPr name="Freeform 94" id="94"/>
            <p:cNvSpPr/>
            <p:nvPr/>
          </p:nvSpPr>
          <p:spPr>
            <a:xfrm flipH="false" flipV="false" rot="0">
              <a:off x="0" y="0"/>
              <a:ext cx="768096" cy="863346"/>
            </a:xfrm>
            <a:custGeom>
              <a:avLst/>
              <a:gdLst/>
              <a:ahLst/>
              <a:cxnLst/>
              <a:rect r="r" b="b" t="t" l="l"/>
              <a:pathLst>
                <a:path h="863346" w="768096">
                  <a:moveTo>
                    <a:pt x="0" y="0"/>
                  </a:moveTo>
                  <a:lnTo>
                    <a:pt x="768096" y="0"/>
                  </a:lnTo>
                  <a:lnTo>
                    <a:pt x="768096" y="863346"/>
                  </a:lnTo>
                  <a:lnTo>
                    <a:pt x="0" y="863346"/>
                  </a:lnTo>
                  <a:close/>
                </a:path>
              </a:pathLst>
            </a:custGeom>
            <a:blipFill>
              <a:blip r:embed="rId6">
                <a:alphaModFix amt="0"/>
              </a:blip>
              <a:stretch>
                <a:fillRect l="-94214" t="0" r="-94214" b="0"/>
              </a:stretch>
            </a:blipFill>
          </p:spPr>
          <p:txBody>
            <a:bodyPr/>
            <a:p/>
          </p:txBody>
        </p:sp>
        <p:sp>
          <p:nvSpPr>
            <p:cNvPr name="TextBox 95" id="95"/>
            <p:cNvSpPr txBox="true"/>
            <p:nvPr/>
          </p:nvSpPr>
          <p:spPr>
            <a:xfrm>
              <a:off x="0" y="-47625"/>
              <a:ext cx="768096" cy="910971"/>
            </a:xfrm>
            <a:prstGeom prst="rect">
              <a:avLst/>
            </a:prstGeom>
          </p:spPr>
          <p:txBody>
            <a:bodyPr anchor="ctr" rtlCol="false" tIns="0" lIns="0" bIns="0" rIns="0"/>
            <a:lstStyle/>
            <a:p>
              <a:pPr algn="ctr">
                <a:lnSpc>
                  <a:spcPts val="2520"/>
                </a:lnSpc>
              </a:pPr>
              <a:r>
                <a:rPr lang="en-US" sz="2100" b="true">
                  <a:solidFill>
                    <a:srgbClr val="FFFFFF"/>
                  </a:solidFill>
                  <a:latin typeface="Calibri (MS) Bold"/>
                  <a:ea typeface="Calibri (MS) Bold"/>
                  <a:cs typeface="Calibri (MS) Bold"/>
                  <a:sym typeface="Calibri (MS) Bold"/>
                </a:rPr>
                <a:t>2</a:t>
              </a:r>
            </a:p>
          </p:txBody>
        </p:sp>
      </p:grpSp>
      <p:grpSp>
        <p:nvGrpSpPr>
          <p:cNvPr name="Group 96" id="96"/>
          <p:cNvGrpSpPr/>
          <p:nvPr/>
        </p:nvGrpSpPr>
        <p:grpSpPr>
          <a:xfrm rot="0">
            <a:off x="13098780" y="4869180"/>
            <a:ext cx="4114800" cy="1783080"/>
            <a:chOff x="0" y="0"/>
            <a:chExt cx="5486400" cy="2377440"/>
          </a:xfrm>
        </p:grpSpPr>
        <p:sp>
          <p:nvSpPr>
            <p:cNvPr name="Freeform 97" id="97"/>
            <p:cNvSpPr/>
            <p:nvPr/>
          </p:nvSpPr>
          <p:spPr>
            <a:xfrm flipH="false" flipV="false" rot="0">
              <a:off x="0" y="0"/>
              <a:ext cx="5486400" cy="2377440"/>
            </a:xfrm>
            <a:custGeom>
              <a:avLst/>
              <a:gdLst/>
              <a:ahLst/>
              <a:cxnLst/>
              <a:rect r="r" b="b" t="t" l="l"/>
              <a:pathLst>
                <a:path h="2377440" w="5486400">
                  <a:moveTo>
                    <a:pt x="0" y="0"/>
                  </a:moveTo>
                  <a:lnTo>
                    <a:pt x="5486400" y="0"/>
                  </a:lnTo>
                  <a:lnTo>
                    <a:pt x="5486400" y="2377440"/>
                  </a:lnTo>
                  <a:lnTo>
                    <a:pt x="0" y="2377440"/>
                  </a:lnTo>
                  <a:close/>
                </a:path>
              </a:pathLst>
            </a:custGeom>
            <a:blipFill>
              <a:blip r:embed="rId4">
                <a:alphaModFix amt="0"/>
              </a:blip>
              <a:stretch>
                <a:fillRect l="-5636" t="0" r="-5637" b="0"/>
              </a:stretch>
            </a:blipFill>
          </p:spPr>
          <p:txBody>
            <a:bodyPr/>
            <a:p/>
          </p:txBody>
        </p:sp>
      </p:grpSp>
      <p:grpSp>
        <p:nvGrpSpPr>
          <p:cNvPr name="Group 98" id="98"/>
          <p:cNvGrpSpPr/>
          <p:nvPr/>
        </p:nvGrpSpPr>
        <p:grpSpPr>
          <a:xfrm rot="0">
            <a:off x="13098780" y="4840605"/>
            <a:ext cx="4114800" cy="1811655"/>
            <a:chOff x="0" y="0"/>
            <a:chExt cx="5486400" cy="2415540"/>
          </a:xfrm>
        </p:grpSpPr>
        <p:sp>
          <p:nvSpPr>
            <p:cNvPr name="Freeform 99" id="99"/>
            <p:cNvSpPr/>
            <p:nvPr/>
          </p:nvSpPr>
          <p:spPr>
            <a:xfrm flipH="false" flipV="false" rot="0">
              <a:off x="0" y="0"/>
              <a:ext cx="5486400" cy="2415540"/>
            </a:xfrm>
            <a:custGeom>
              <a:avLst/>
              <a:gdLst/>
              <a:ahLst/>
              <a:cxnLst/>
              <a:rect r="r" b="b" t="t" l="l"/>
              <a:pathLst>
                <a:path h="2415540" w="5486400">
                  <a:moveTo>
                    <a:pt x="0" y="0"/>
                  </a:moveTo>
                  <a:lnTo>
                    <a:pt x="5486400" y="0"/>
                  </a:lnTo>
                  <a:lnTo>
                    <a:pt x="5486400" y="2415540"/>
                  </a:lnTo>
                  <a:lnTo>
                    <a:pt x="0" y="2415540"/>
                  </a:lnTo>
                  <a:close/>
                </a:path>
              </a:pathLst>
            </a:custGeom>
            <a:blipFill>
              <a:blip r:embed="rId5">
                <a:alphaModFix amt="0"/>
              </a:blip>
              <a:stretch>
                <a:fillRect l="-6528" t="0" r="-6528" b="0"/>
              </a:stretch>
            </a:blipFill>
          </p:spPr>
          <p:txBody>
            <a:bodyPr/>
            <a:p/>
          </p:txBody>
        </p:sp>
      </p:grpSp>
      <p:grpSp>
        <p:nvGrpSpPr>
          <p:cNvPr name="Group 100" id="100"/>
          <p:cNvGrpSpPr/>
          <p:nvPr/>
        </p:nvGrpSpPr>
        <p:grpSpPr>
          <a:xfrm rot="0">
            <a:off x="13098780" y="4812030"/>
            <a:ext cx="4114800" cy="1840230"/>
            <a:chOff x="0" y="0"/>
            <a:chExt cx="5486400" cy="2453640"/>
          </a:xfrm>
        </p:grpSpPr>
        <p:sp>
          <p:nvSpPr>
            <p:cNvPr name="Freeform 101" id="101"/>
            <p:cNvSpPr/>
            <p:nvPr/>
          </p:nvSpPr>
          <p:spPr>
            <a:xfrm flipH="false" flipV="false" rot="0">
              <a:off x="0" y="0"/>
              <a:ext cx="5486400" cy="2453640"/>
            </a:xfrm>
            <a:custGeom>
              <a:avLst/>
              <a:gdLst/>
              <a:ahLst/>
              <a:cxnLst/>
              <a:rect r="r" b="b" t="t" l="l"/>
              <a:pathLst>
                <a:path h="2453640" w="5486400">
                  <a:moveTo>
                    <a:pt x="0" y="0"/>
                  </a:moveTo>
                  <a:lnTo>
                    <a:pt x="5486400" y="0"/>
                  </a:lnTo>
                  <a:lnTo>
                    <a:pt x="5486400" y="2453640"/>
                  </a:lnTo>
                  <a:lnTo>
                    <a:pt x="0" y="2453640"/>
                  </a:lnTo>
                  <a:close/>
                </a:path>
              </a:pathLst>
            </a:custGeom>
            <a:blipFill>
              <a:blip r:embed="rId6">
                <a:alphaModFix amt="0"/>
              </a:blip>
              <a:stretch>
                <a:fillRect l="-7380" t="0" r="-7380" b="0"/>
              </a:stretch>
            </a:blipFill>
          </p:spPr>
          <p:txBody>
            <a:bodyPr/>
            <a:p/>
          </p:txBody>
        </p:sp>
        <p:sp>
          <p:nvSpPr>
            <p:cNvPr name="TextBox 102" id="102"/>
            <p:cNvSpPr txBox="true"/>
            <p:nvPr/>
          </p:nvSpPr>
          <p:spPr>
            <a:xfrm>
              <a:off x="0" y="-38100"/>
              <a:ext cx="5486400" cy="2491740"/>
            </a:xfrm>
            <a:prstGeom prst="rect">
              <a:avLst/>
            </a:prstGeom>
          </p:spPr>
          <p:txBody>
            <a:bodyPr anchor="ctr" rtlCol="false" tIns="0" lIns="0" bIns="0" rIns="0"/>
            <a:lstStyle/>
            <a:p>
              <a:pPr algn="l">
                <a:lnSpc>
                  <a:spcPts val="2250"/>
                </a:lnSpc>
              </a:pPr>
              <a:r>
                <a:rPr lang="en-US" sz="1875">
                  <a:solidFill>
                    <a:srgbClr val="14313B"/>
                  </a:solidFill>
                  <a:latin typeface="Calibri (MS)"/>
                  <a:ea typeface="Calibri (MS)"/>
                  <a:cs typeface="Calibri (MS)"/>
                  <a:sym typeface="Calibri (MS)"/>
                </a:rPr>
                <a:t>DIY: destinasi utama dengan sistem kompleks yang belum pernah dimodelkan dengan pendekatan terpadu ini</a:t>
              </a:r>
            </a:p>
          </p:txBody>
        </p:sp>
      </p:grpSp>
      <p:grpSp>
        <p:nvGrpSpPr>
          <p:cNvPr name="Group 103" id="103"/>
          <p:cNvGrpSpPr/>
          <p:nvPr/>
        </p:nvGrpSpPr>
        <p:grpSpPr>
          <a:xfrm rot="0">
            <a:off x="12070080" y="6995160"/>
            <a:ext cx="5390388" cy="2125980"/>
            <a:chOff x="0" y="0"/>
            <a:chExt cx="7187184" cy="2834640"/>
          </a:xfrm>
        </p:grpSpPr>
        <p:sp>
          <p:nvSpPr>
            <p:cNvPr name="Freeform 104" id="104"/>
            <p:cNvSpPr/>
            <p:nvPr/>
          </p:nvSpPr>
          <p:spPr>
            <a:xfrm flipH="false" flipV="false" rot="0">
              <a:off x="0" y="0"/>
              <a:ext cx="7187185" cy="2834640"/>
            </a:xfrm>
            <a:custGeom>
              <a:avLst/>
              <a:gdLst/>
              <a:ahLst/>
              <a:cxnLst/>
              <a:rect r="r" b="b" t="t" l="l"/>
              <a:pathLst>
                <a:path h="2834640" w="7187185">
                  <a:moveTo>
                    <a:pt x="0" y="182880"/>
                  </a:moveTo>
                  <a:cubicBezTo>
                    <a:pt x="0" y="81915"/>
                    <a:pt x="81915" y="0"/>
                    <a:pt x="182880" y="0"/>
                  </a:cubicBezTo>
                  <a:lnTo>
                    <a:pt x="7004304" y="0"/>
                  </a:lnTo>
                  <a:cubicBezTo>
                    <a:pt x="7105269" y="0"/>
                    <a:pt x="7187185" y="81915"/>
                    <a:pt x="7187185" y="182880"/>
                  </a:cubicBezTo>
                  <a:lnTo>
                    <a:pt x="7187185" y="2651760"/>
                  </a:lnTo>
                  <a:cubicBezTo>
                    <a:pt x="7187185" y="2752725"/>
                    <a:pt x="7105269" y="2834640"/>
                    <a:pt x="7004304" y="2834640"/>
                  </a:cubicBezTo>
                  <a:lnTo>
                    <a:pt x="182880" y="2834640"/>
                  </a:lnTo>
                  <a:cubicBezTo>
                    <a:pt x="81915" y="2834640"/>
                    <a:pt x="0" y="2752725"/>
                    <a:pt x="0" y="2651760"/>
                  </a:cubicBezTo>
                  <a:close/>
                </a:path>
              </a:pathLst>
            </a:custGeom>
            <a:solidFill>
              <a:srgbClr val="EAF8FA"/>
            </a:solidFill>
          </p:spPr>
          <p:txBody>
            <a:bodyPr/>
            <a:p/>
          </p:txBody>
        </p:sp>
      </p:grpSp>
      <p:grpSp>
        <p:nvGrpSpPr>
          <p:cNvPr name="Group 105" id="105"/>
          <p:cNvGrpSpPr/>
          <p:nvPr/>
        </p:nvGrpSpPr>
        <p:grpSpPr>
          <a:xfrm rot="0">
            <a:off x="12316968" y="7242048"/>
            <a:ext cx="576072" cy="576072"/>
            <a:chOff x="0" y="0"/>
            <a:chExt cx="768096" cy="768096"/>
          </a:xfrm>
        </p:grpSpPr>
        <p:sp>
          <p:nvSpPr>
            <p:cNvPr name="Freeform 106" id="106"/>
            <p:cNvSpPr/>
            <p:nvPr/>
          </p:nvSpPr>
          <p:spPr>
            <a:xfrm flipH="false" flipV="false" rot="0">
              <a:off x="0" y="0"/>
              <a:ext cx="768096" cy="768096"/>
            </a:xfrm>
            <a:custGeom>
              <a:avLst/>
              <a:gdLst/>
              <a:ahLst/>
              <a:cxnLst/>
              <a:rect r="r" b="b" t="t" l="l"/>
              <a:pathLst>
                <a:path h="768096" w="768096">
                  <a:moveTo>
                    <a:pt x="0" y="384048"/>
                  </a:moveTo>
                  <a:cubicBezTo>
                    <a:pt x="0" y="171958"/>
                    <a:pt x="171958" y="0"/>
                    <a:pt x="384048" y="0"/>
                  </a:cubicBezTo>
                  <a:cubicBezTo>
                    <a:pt x="596138" y="0"/>
                    <a:pt x="768096" y="171958"/>
                    <a:pt x="768096" y="384048"/>
                  </a:cubicBezTo>
                  <a:cubicBezTo>
                    <a:pt x="768096" y="596138"/>
                    <a:pt x="596138" y="768096"/>
                    <a:pt x="384048" y="768096"/>
                  </a:cubicBezTo>
                  <a:cubicBezTo>
                    <a:pt x="171958" y="768096"/>
                    <a:pt x="0" y="596138"/>
                    <a:pt x="0" y="384048"/>
                  </a:cubicBezTo>
                  <a:close/>
                </a:path>
              </a:pathLst>
            </a:custGeom>
            <a:solidFill>
              <a:srgbClr val="39C0D3"/>
            </a:solidFill>
          </p:spPr>
          <p:txBody>
            <a:bodyPr/>
            <a:p/>
          </p:txBody>
        </p:sp>
      </p:grpSp>
      <p:grpSp>
        <p:nvGrpSpPr>
          <p:cNvPr name="Group 107" id="107"/>
          <p:cNvGrpSpPr/>
          <p:nvPr/>
        </p:nvGrpSpPr>
        <p:grpSpPr>
          <a:xfrm rot="0">
            <a:off x="12316968" y="7242048"/>
            <a:ext cx="576072" cy="576072"/>
            <a:chOff x="0" y="0"/>
            <a:chExt cx="768096" cy="768096"/>
          </a:xfrm>
        </p:grpSpPr>
        <p:sp>
          <p:nvSpPr>
            <p:cNvPr name="Freeform 108" id="108"/>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close/>
                </a:path>
              </a:pathLst>
            </a:custGeom>
            <a:blipFill>
              <a:blip r:embed="rId4">
                <a:alphaModFix amt="0"/>
              </a:blip>
              <a:stretch>
                <a:fillRect l="-78392" t="0" r="-78392" b="0"/>
              </a:stretch>
            </a:blipFill>
          </p:spPr>
          <p:txBody>
            <a:bodyPr/>
            <a:p/>
          </p:txBody>
        </p:sp>
      </p:grpSp>
      <p:grpSp>
        <p:nvGrpSpPr>
          <p:cNvPr name="Group 109" id="109"/>
          <p:cNvGrpSpPr/>
          <p:nvPr/>
        </p:nvGrpSpPr>
        <p:grpSpPr>
          <a:xfrm rot="0">
            <a:off x="12316968" y="7206329"/>
            <a:ext cx="576072" cy="611791"/>
            <a:chOff x="0" y="0"/>
            <a:chExt cx="768096" cy="815721"/>
          </a:xfrm>
        </p:grpSpPr>
        <p:sp>
          <p:nvSpPr>
            <p:cNvPr name="Freeform 110" id="110"/>
            <p:cNvSpPr/>
            <p:nvPr/>
          </p:nvSpPr>
          <p:spPr>
            <a:xfrm flipH="false" flipV="false" rot="0">
              <a:off x="0" y="0"/>
              <a:ext cx="768096" cy="815721"/>
            </a:xfrm>
            <a:custGeom>
              <a:avLst/>
              <a:gdLst/>
              <a:ahLst/>
              <a:cxnLst/>
              <a:rect r="r" b="b" t="t" l="l"/>
              <a:pathLst>
                <a:path h="815721" w="768096">
                  <a:moveTo>
                    <a:pt x="0" y="0"/>
                  </a:moveTo>
                  <a:lnTo>
                    <a:pt x="768096" y="0"/>
                  </a:lnTo>
                  <a:lnTo>
                    <a:pt x="768096" y="815721"/>
                  </a:lnTo>
                  <a:lnTo>
                    <a:pt x="0" y="815721"/>
                  </a:lnTo>
                  <a:close/>
                </a:path>
              </a:pathLst>
            </a:custGeom>
            <a:blipFill>
              <a:blip r:embed="rId5">
                <a:alphaModFix amt="0"/>
              </a:blip>
              <a:stretch>
                <a:fillRect l="-86354" t="0" r="-86354" b="0"/>
              </a:stretch>
            </a:blipFill>
          </p:spPr>
          <p:txBody>
            <a:bodyPr/>
            <a:p/>
          </p:txBody>
        </p:sp>
      </p:grpSp>
      <p:grpSp>
        <p:nvGrpSpPr>
          <p:cNvPr name="Group 111" id="111"/>
          <p:cNvGrpSpPr/>
          <p:nvPr/>
        </p:nvGrpSpPr>
        <p:grpSpPr>
          <a:xfrm rot="0">
            <a:off x="12316968" y="7170610"/>
            <a:ext cx="576072" cy="647510"/>
            <a:chOff x="0" y="0"/>
            <a:chExt cx="768096" cy="863346"/>
          </a:xfrm>
        </p:grpSpPr>
        <p:sp>
          <p:nvSpPr>
            <p:cNvPr name="Freeform 112" id="112"/>
            <p:cNvSpPr/>
            <p:nvPr/>
          </p:nvSpPr>
          <p:spPr>
            <a:xfrm flipH="false" flipV="false" rot="0">
              <a:off x="0" y="0"/>
              <a:ext cx="768096" cy="863346"/>
            </a:xfrm>
            <a:custGeom>
              <a:avLst/>
              <a:gdLst/>
              <a:ahLst/>
              <a:cxnLst/>
              <a:rect r="r" b="b" t="t" l="l"/>
              <a:pathLst>
                <a:path h="863346" w="768096">
                  <a:moveTo>
                    <a:pt x="0" y="0"/>
                  </a:moveTo>
                  <a:lnTo>
                    <a:pt x="768096" y="0"/>
                  </a:lnTo>
                  <a:lnTo>
                    <a:pt x="768096" y="863346"/>
                  </a:lnTo>
                  <a:lnTo>
                    <a:pt x="0" y="863346"/>
                  </a:lnTo>
                  <a:close/>
                </a:path>
              </a:pathLst>
            </a:custGeom>
            <a:blipFill>
              <a:blip r:embed="rId6">
                <a:alphaModFix amt="0"/>
              </a:blip>
              <a:stretch>
                <a:fillRect l="-94214" t="0" r="-94214" b="0"/>
              </a:stretch>
            </a:blipFill>
          </p:spPr>
          <p:txBody>
            <a:bodyPr/>
            <a:p/>
          </p:txBody>
        </p:sp>
        <p:sp>
          <p:nvSpPr>
            <p:cNvPr name="TextBox 113" id="113"/>
            <p:cNvSpPr txBox="true"/>
            <p:nvPr/>
          </p:nvSpPr>
          <p:spPr>
            <a:xfrm>
              <a:off x="0" y="-47625"/>
              <a:ext cx="768096" cy="910971"/>
            </a:xfrm>
            <a:prstGeom prst="rect">
              <a:avLst/>
            </a:prstGeom>
          </p:spPr>
          <p:txBody>
            <a:bodyPr anchor="ctr" rtlCol="false" tIns="0" lIns="0" bIns="0" rIns="0"/>
            <a:lstStyle/>
            <a:p>
              <a:pPr algn="ctr">
                <a:lnSpc>
                  <a:spcPts val="2520"/>
                </a:lnSpc>
              </a:pPr>
              <a:r>
                <a:rPr lang="en-US" sz="2100" b="true">
                  <a:solidFill>
                    <a:srgbClr val="FFFFFF"/>
                  </a:solidFill>
                  <a:latin typeface="Calibri (MS) Bold"/>
                  <a:ea typeface="Calibri (MS) Bold"/>
                  <a:cs typeface="Calibri (MS) Bold"/>
                  <a:sym typeface="Calibri (MS) Bold"/>
                </a:rPr>
                <a:t>3</a:t>
              </a:r>
            </a:p>
          </p:txBody>
        </p:sp>
      </p:grpSp>
      <p:grpSp>
        <p:nvGrpSpPr>
          <p:cNvPr name="Group 114" id="114"/>
          <p:cNvGrpSpPr/>
          <p:nvPr/>
        </p:nvGrpSpPr>
        <p:grpSpPr>
          <a:xfrm rot="0">
            <a:off x="13098780" y="7200900"/>
            <a:ext cx="4114800" cy="1783080"/>
            <a:chOff x="0" y="0"/>
            <a:chExt cx="5486400" cy="2377440"/>
          </a:xfrm>
        </p:grpSpPr>
        <p:sp>
          <p:nvSpPr>
            <p:cNvPr name="Freeform 115" id="115"/>
            <p:cNvSpPr/>
            <p:nvPr/>
          </p:nvSpPr>
          <p:spPr>
            <a:xfrm flipH="false" flipV="false" rot="0">
              <a:off x="0" y="0"/>
              <a:ext cx="5486400" cy="2377440"/>
            </a:xfrm>
            <a:custGeom>
              <a:avLst/>
              <a:gdLst/>
              <a:ahLst/>
              <a:cxnLst/>
              <a:rect r="r" b="b" t="t" l="l"/>
              <a:pathLst>
                <a:path h="2377440" w="5486400">
                  <a:moveTo>
                    <a:pt x="0" y="0"/>
                  </a:moveTo>
                  <a:lnTo>
                    <a:pt x="5486400" y="0"/>
                  </a:lnTo>
                  <a:lnTo>
                    <a:pt x="5486400" y="2377440"/>
                  </a:lnTo>
                  <a:lnTo>
                    <a:pt x="0" y="2377440"/>
                  </a:lnTo>
                  <a:close/>
                </a:path>
              </a:pathLst>
            </a:custGeom>
            <a:blipFill>
              <a:blip r:embed="rId4">
                <a:alphaModFix amt="0"/>
              </a:blip>
              <a:stretch>
                <a:fillRect l="-5636" t="0" r="-5637" b="0"/>
              </a:stretch>
            </a:blipFill>
          </p:spPr>
          <p:txBody>
            <a:bodyPr/>
            <a:p/>
          </p:txBody>
        </p:sp>
      </p:grpSp>
      <p:grpSp>
        <p:nvGrpSpPr>
          <p:cNvPr name="Group 116" id="116"/>
          <p:cNvGrpSpPr/>
          <p:nvPr/>
        </p:nvGrpSpPr>
        <p:grpSpPr>
          <a:xfrm rot="0">
            <a:off x="13098780" y="7172325"/>
            <a:ext cx="4114800" cy="1811655"/>
            <a:chOff x="0" y="0"/>
            <a:chExt cx="5486400" cy="2415540"/>
          </a:xfrm>
        </p:grpSpPr>
        <p:sp>
          <p:nvSpPr>
            <p:cNvPr name="Freeform 117" id="117"/>
            <p:cNvSpPr/>
            <p:nvPr/>
          </p:nvSpPr>
          <p:spPr>
            <a:xfrm flipH="false" flipV="false" rot="0">
              <a:off x="0" y="0"/>
              <a:ext cx="5486400" cy="2415540"/>
            </a:xfrm>
            <a:custGeom>
              <a:avLst/>
              <a:gdLst/>
              <a:ahLst/>
              <a:cxnLst/>
              <a:rect r="r" b="b" t="t" l="l"/>
              <a:pathLst>
                <a:path h="2415540" w="5486400">
                  <a:moveTo>
                    <a:pt x="0" y="0"/>
                  </a:moveTo>
                  <a:lnTo>
                    <a:pt x="5486400" y="0"/>
                  </a:lnTo>
                  <a:lnTo>
                    <a:pt x="5486400" y="2415540"/>
                  </a:lnTo>
                  <a:lnTo>
                    <a:pt x="0" y="2415540"/>
                  </a:lnTo>
                  <a:close/>
                </a:path>
              </a:pathLst>
            </a:custGeom>
            <a:blipFill>
              <a:blip r:embed="rId5">
                <a:alphaModFix amt="0"/>
              </a:blip>
              <a:stretch>
                <a:fillRect l="-6528" t="0" r="-6528" b="0"/>
              </a:stretch>
            </a:blipFill>
          </p:spPr>
          <p:txBody>
            <a:bodyPr/>
            <a:p/>
          </p:txBody>
        </p:sp>
      </p:grpSp>
      <p:grpSp>
        <p:nvGrpSpPr>
          <p:cNvPr name="Group 118" id="118"/>
          <p:cNvGrpSpPr/>
          <p:nvPr/>
        </p:nvGrpSpPr>
        <p:grpSpPr>
          <a:xfrm rot="0">
            <a:off x="13098780" y="7143750"/>
            <a:ext cx="4114800" cy="1840230"/>
            <a:chOff x="0" y="0"/>
            <a:chExt cx="5486400" cy="2453640"/>
          </a:xfrm>
        </p:grpSpPr>
        <p:sp>
          <p:nvSpPr>
            <p:cNvPr name="Freeform 119" id="119"/>
            <p:cNvSpPr/>
            <p:nvPr/>
          </p:nvSpPr>
          <p:spPr>
            <a:xfrm flipH="false" flipV="false" rot="0">
              <a:off x="0" y="0"/>
              <a:ext cx="5486400" cy="2453640"/>
            </a:xfrm>
            <a:custGeom>
              <a:avLst/>
              <a:gdLst/>
              <a:ahLst/>
              <a:cxnLst/>
              <a:rect r="r" b="b" t="t" l="l"/>
              <a:pathLst>
                <a:path h="2453640" w="5486400">
                  <a:moveTo>
                    <a:pt x="0" y="0"/>
                  </a:moveTo>
                  <a:lnTo>
                    <a:pt x="5486400" y="0"/>
                  </a:lnTo>
                  <a:lnTo>
                    <a:pt x="5486400" y="2453640"/>
                  </a:lnTo>
                  <a:lnTo>
                    <a:pt x="0" y="2453640"/>
                  </a:lnTo>
                  <a:close/>
                </a:path>
              </a:pathLst>
            </a:custGeom>
            <a:blipFill>
              <a:blip r:embed="rId6">
                <a:alphaModFix amt="0"/>
              </a:blip>
              <a:stretch>
                <a:fillRect l="-7380" t="0" r="-7380" b="0"/>
              </a:stretch>
            </a:blipFill>
          </p:spPr>
          <p:txBody>
            <a:bodyPr/>
            <a:p/>
          </p:txBody>
        </p:sp>
        <p:sp>
          <p:nvSpPr>
            <p:cNvPr name="TextBox 120" id="120"/>
            <p:cNvSpPr txBox="true"/>
            <p:nvPr/>
          </p:nvSpPr>
          <p:spPr>
            <a:xfrm>
              <a:off x="0" y="-38100"/>
              <a:ext cx="5486400" cy="2491740"/>
            </a:xfrm>
            <a:prstGeom prst="rect">
              <a:avLst/>
            </a:prstGeom>
          </p:spPr>
          <p:txBody>
            <a:bodyPr anchor="ctr" rtlCol="false" tIns="0" lIns="0" bIns="0" rIns="0"/>
            <a:lstStyle/>
            <a:p>
              <a:pPr algn="l">
                <a:lnSpc>
                  <a:spcPts val="2250"/>
                </a:lnSpc>
              </a:pPr>
              <a:r>
                <a:rPr lang="en-US" sz="1875">
                  <a:solidFill>
                    <a:srgbClr val="14313B"/>
                  </a:solidFill>
                  <a:latin typeface="Calibri (MS)"/>
                  <a:ea typeface="Calibri (MS)"/>
                  <a:cs typeface="Calibri (MS)"/>
                  <a:sym typeface="Calibri (MS)"/>
                </a:rPr>
                <a:t>Hasil simulasi tiga skenario diimplementasikan sebagai aplikasi web decision support tool</a:t>
              </a:r>
            </a:p>
          </p:txBody>
        </p:sp>
      </p:grpSp>
      <p:sp>
        <p:nvSpPr>
          <p:cNvPr name="TextBox 121" id="121"/>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10</a:t>
            </a:r>
          </a:p>
        </p:txBody>
      </p:sp>
      <p:grpSp>
        <p:nvGrpSpPr>
          <p:cNvPr name="Group 122" id="122"/>
          <p:cNvGrpSpPr/>
          <p:nvPr/>
        </p:nvGrpSpPr>
        <p:grpSpPr>
          <a:xfrm rot="0">
            <a:off x="16047720" y="9646920"/>
            <a:ext cx="420624" cy="420624"/>
            <a:chOff x="0" y="0"/>
            <a:chExt cx="560832" cy="560832"/>
          </a:xfrm>
        </p:grpSpPr>
        <p:sp>
          <p:nvSpPr>
            <p:cNvPr name="Freeform 123" id="123"/>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24" id="124"/>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grpSp>
        <p:nvGrpSpPr>
          <p:cNvPr name="Group 11" id="11"/>
          <p:cNvGrpSpPr/>
          <p:nvPr/>
        </p:nvGrpSpPr>
        <p:grpSpPr>
          <a:xfrm rot="0">
            <a:off x="822960" y="274320"/>
            <a:ext cx="2040922" cy="411480"/>
            <a:chOff x="0" y="0"/>
            <a:chExt cx="2721229" cy="548640"/>
          </a:xfrm>
        </p:grpSpPr>
        <p:sp>
          <p:nvSpPr>
            <p:cNvPr name="Freeform 12" id="12"/>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0B5E6E"/>
            </a:solidFill>
          </p:spPr>
          <p:txBody>
            <a:bodyPr/>
            <a:p/>
          </p:txBody>
        </p:sp>
      </p:grpSp>
      <p:grpSp>
        <p:nvGrpSpPr>
          <p:cNvPr name="Group 13" id="13"/>
          <p:cNvGrpSpPr/>
          <p:nvPr/>
        </p:nvGrpSpPr>
        <p:grpSpPr>
          <a:xfrm rot="0">
            <a:off x="822960" y="274320"/>
            <a:ext cx="2040922" cy="411480"/>
            <a:chOff x="0" y="0"/>
            <a:chExt cx="2721229" cy="548640"/>
          </a:xfrm>
        </p:grpSpPr>
        <p:sp>
          <p:nvSpPr>
            <p:cNvPr name="Freeform 14" id="14"/>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5" id="15"/>
          <p:cNvGrpSpPr/>
          <p:nvPr/>
        </p:nvGrpSpPr>
        <p:grpSpPr>
          <a:xfrm rot="0">
            <a:off x="822960" y="260033"/>
            <a:ext cx="2040941" cy="425768"/>
            <a:chOff x="0" y="0"/>
            <a:chExt cx="2721254" cy="567690"/>
          </a:xfrm>
        </p:grpSpPr>
        <p:sp>
          <p:nvSpPr>
            <p:cNvPr name="Freeform 16" id="16"/>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7" id="17"/>
          <p:cNvGrpSpPr/>
          <p:nvPr/>
        </p:nvGrpSpPr>
        <p:grpSpPr>
          <a:xfrm rot="0">
            <a:off x="822960" y="245745"/>
            <a:ext cx="2040941" cy="440055"/>
            <a:chOff x="0" y="0"/>
            <a:chExt cx="2721254" cy="586740"/>
          </a:xfrm>
        </p:grpSpPr>
        <p:sp>
          <p:nvSpPr>
            <p:cNvPr name="Freeform 18" id="18"/>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19" id="19"/>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Pendahuluan</a:t>
              </a:r>
            </a:p>
          </p:txBody>
        </p:sp>
      </p:grpSp>
      <p:grpSp>
        <p:nvGrpSpPr>
          <p:cNvPr name="Group 20" id="20"/>
          <p:cNvGrpSpPr/>
          <p:nvPr/>
        </p:nvGrpSpPr>
        <p:grpSpPr>
          <a:xfrm rot="0">
            <a:off x="2973629" y="274320"/>
            <a:ext cx="2378392" cy="411480"/>
            <a:chOff x="0" y="0"/>
            <a:chExt cx="3171190" cy="548640"/>
          </a:xfrm>
        </p:grpSpPr>
        <p:sp>
          <p:nvSpPr>
            <p:cNvPr name="Freeform 21" id="21"/>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2" id="22"/>
          <p:cNvGrpSpPr/>
          <p:nvPr/>
        </p:nvGrpSpPr>
        <p:grpSpPr>
          <a:xfrm rot="0">
            <a:off x="2973629" y="274320"/>
            <a:ext cx="2378392" cy="411480"/>
            <a:chOff x="0" y="0"/>
            <a:chExt cx="3171190" cy="548640"/>
          </a:xfrm>
        </p:grpSpPr>
        <p:sp>
          <p:nvSpPr>
            <p:cNvPr name="Freeform 23" id="23"/>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4" id="24"/>
          <p:cNvGrpSpPr/>
          <p:nvPr/>
        </p:nvGrpSpPr>
        <p:grpSpPr>
          <a:xfrm rot="0">
            <a:off x="2973629" y="260033"/>
            <a:ext cx="2378354" cy="425768"/>
            <a:chOff x="0" y="0"/>
            <a:chExt cx="3171139" cy="567690"/>
          </a:xfrm>
        </p:grpSpPr>
        <p:sp>
          <p:nvSpPr>
            <p:cNvPr name="Freeform 25" id="25"/>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6" id="26"/>
          <p:cNvGrpSpPr/>
          <p:nvPr/>
        </p:nvGrpSpPr>
        <p:grpSpPr>
          <a:xfrm rot="0">
            <a:off x="2973629" y="245745"/>
            <a:ext cx="2378354" cy="440055"/>
            <a:chOff x="0" y="0"/>
            <a:chExt cx="3171139" cy="586740"/>
          </a:xfrm>
        </p:grpSpPr>
        <p:sp>
          <p:nvSpPr>
            <p:cNvPr name="Freeform 27" id="27"/>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8" id="28"/>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29" id="29"/>
          <p:cNvGrpSpPr/>
          <p:nvPr/>
        </p:nvGrpSpPr>
        <p:grpSpPr>
          <a:xfrm rot="0">
            <a:off x="5461711" y="274320"/>
            <a:ext cx="1591056" cy="411480"/>
            <a:chOff x="0" y="0"/>
            <a:chExt cx="2121408" cy="548640"/>
          </a:xfrm>
        </p:grpSpPr>
        <p:sp>
          <p:nvSpPr>
            <p:cNvPr name="Freeform 30" id="30"/>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1" id="31"/>
          <p:cNvGrpSpPr/>
          <p:nvPr/>
        </p:nvGrpSpPr>
        <p:grpSpPr>
          <a:xfrm rot="0">
            <a:off x="5461711" y="274320"/>
            <a:ext cx="1591056" cy="411480"/>
            <a:chOff x="0" y="0"/>
            <a:chExt cx="2121408" cy="548640"/>
          </a:xfrm>
        </p:grpSpPr>
        <p:sp>
          <p:nvSpPr>
            <p:cNvPr name="Freeform 32" id="32"/>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3" id="33"/>
          <p:cNvGrpSpPr/>
          <p:nvPr/>
        </p:nvGrpSpPr>
        <p:grpSpPr>
          <a:xfrm rot="0">
            <a:off x="5461711" y="260033"/>
            <a:ext cx="1591056" cy="425768"/>
            <a:chOff x="0" y="0"/>
            <a:chExt cx="2121408" cy="567690"/>
          </a:xfrm>
        </p:grpSpPr>
        <p:sp>
          <p:nvSpPr>
            <p:cNvPr name="Freeform 34" id="34"/>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5" id="35"/>
          <p:cNvGrpSpPr/>
          <p:nvPr/>
        </p:nvGrpSpPr>
        <p:grpSpPr>
          <a:xfrm rot="0">
            <a:off x="5461711" y="245745"/>
            <a:ext cx="1591056" cy="440055"/>
            <a:chOff x="0" y="0"/>
            <a:chExt cx="2121408" cy="586740"/>
          </a:xfrm>
        </p:grpSpPr>
        <p:sp>
          <p:nvSpPr>
            <p:cNvPr name="Freeform 36" id="36"/>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7" id="37"/>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8" id="38"/>
          <p:cNvGrpSpPr/>
          <p:nvPr/>
        </p:nvGrpSpPr>
        <p:grpSpPr>
          <a:xfrm rot="0">
            <a:off x="7162495" y="274320"/>
            <a:ext cx="2490788" cy="411480"/>
            <a:chOff x="0" y="0"/>
            <a:chExt cx="3321050" cy="548640"/>
          </a:xfrm>
        </p:grpSpPr>
        <p:sp>
          <p:nvSpPr>
            <p:cNvPr name="Freeform 39" id="39"/>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7162495" y="274320"/>
            <a:ext cx="2490788" cy="411480"/>
            <a:chOff x="0" y="0"/>
            <a:chExt cx="3321050" cy="548640"/>
          </a:xfrm>
        </p:grpSpPr>
        <p:sp>
          <p:nvSpPr>
            <p:cNvPr name="Freeform 41" id="41"/>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2" id="42"/>
          <p:cNvGrpSpPr/>
          <p:nvPr/>
        </p:nvGrpSpPr>
        <p:grpSpPr>
          <a:xfrm rot="0">
            <a:off x="7162495" y="260033"/>
            <a:ext cx="2490826" cy="425768"/>
            <a:chOff x="0" y="0"/>
            <a:chExt cx="3321101" cy="567690"/>
          </a:xfrm>
        </p:grpSpPr>
        <p:sp>
          <p:nvSpPr>
            <p:cNvPr name="Freeform 43" id="43"/>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4" id="44"/>
          <p:cNvGrpSpPr/>
          <p:nvPr/>
        </p:nvGrpSpPr>
        <p:grpSpPr>
          <a:xfrm rot="0">
            <a:off x="7162495" y="245745"/>
            <a:ext cx="2490826" cy="440055"/>
            <a:chOff x="0" y="0"/>
            <a:chExt cx="3321101" cy="586740"/>
          </a:xfrm>
        </p:grpSpPr>
        <p:sp>
          <p:nvSpPr>
            <p:cNvPr name="Freeform 45" id="45"/>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6" id="46"/>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7" id="47"/>
          <p:cNvGrpSpPr/>
          <p:nvPr/>
        </p:nvGrpSpPr>
        <p:grpSpPr>
          <a:xfrm rot="0">
            <a:off x="9763049" y="274320"/>
            <a:ext cx="1366076" cy="411480"/>
            <a:chOff x="0" y="0"/>
            <a:chExt cx="1821434" cy="548640"/>
          </a:xfrm>
        </p:grpSpPr>
        <p:sp>
          <p:nvSpPr>
            <p:cNvPr name="Freeform 48" id="48"/>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9" id="49"/>
          <p:cNvGrpSpPr/>
          <p:nvPr/>
        </p:nvGrpSpPr>
        <p:grpSpPr>
          <a:xfrm rot="0">
            <a:off x="9763049" y="274320"/>
            <a:ext cx="1366076" cy="411480"/>
            <a:chOff x="0" y="0"/>
            <a:chExt cx="1821434" cy="548640"/>
          </a:xfrm>
        </p:grpSpPr>
        <p:sp>
          <p:nvSpPr>
            <p:cNvPr name="Freeform 50" id="50"/>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1" id="51"/>
          <p:cNvGrpSpPr/>
          <p:nvPr/>
        </p:nvGrpSpPr>
        <p:grpSpPr>
          <a:xfrm rot="0">
            <a:off x="9763049" y="260033"/>
            <a:ext cx="1366114" cy="425768"/>
            <a:chOff x="0" y="0"/>
            <a:chExt cx="1821485" cy="567690"/>
          </a:xfrm>
        </p:grpSpPr>
        <p:sp>
          <p:nvSpPr>
            <p:cNvPr name="Freeform 52" id="52"/>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3" id="53"/>
          <p:cNvGrpSpPr/>
          <p:nvPr/>
        </p:nvGrpSpPr>
        <p:grpSpPr>
          <a:xfrm rot="0">
            <a:off x="9763049" y="245745"/>
            <a:ext cx="1366114" cy="440055"/>
            <a:chOff x="0" y="0"/>
            <a:chExt cx="1821485" cy="586740"/>
          </a:xfrm>
        </p:grpSpPr>
        <p:sp>
          <p:nvSpPr>
            <p:cNvPr name="Freeform 54" id="54"/>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5" id="55"/>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6" id="56"/>
          <p:cNvGrpSpPr/>
          <p:nvPr/>
        </p:nvGrpSpPr>
        <p:grpSpPr>
          <a:xfrm rot="0">
            <a:off x="11238890" y="274320"/>
            <a:ext cx="1253680" cy="411480"/>
            <a:chOff x="0" y="0"/>
            <a:chExt cx="1671574" cy="548640"/>
          </a:xfrm>
        </p:grpSpPr>
        <p:sp>
          <p:nvSpPr>
            <p:cNvPr name="Freeform 57" id="57"/>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8" id="58"/>
          <p:cNvGrpSpPr/>
          <p:nvPr/>
        </p:nvGrpSpPr>
        <p:grpSpPr>
          <a:xfrm rot="0">
            <a:off x="11238890" y="274320"/>
            <a:ext cx="1253680" cy="411480"/>
            <a:chOff x="0" y="0"/>
            <a:chExt cx="1671574" cy="548640"/>
          </a:xfrm>
        </p:grpSpPr>
        <p:sp>
          <p:nvSpPr>
            <p:cNvPr name="Freeform 59" id="59"/>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0" id="60"/>
          <p:cNvGrpSpPr/>
          <p:nvPr/>
        </p:nvGrpSpPr>
        <p:grpSpPr>
          <a:xfrm rot="0">
            <a:off x="11238890" y="260033"/>
            <a:ext cx="1253642" cy="425768"/>
            <a:chOff x="0" y="0"/>
            <a:chExt cx="1671523" cy="567690"/>
          </a:xfrm>
        </p:grpSpPr>
        <p:sp>
          <p:nvSpPr>
            <p:cNvPr name="Freeform 61" id="61"/>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2" id="62"/>
          <p:cNvGrpSpPr/>
          <p:nvPr/>
        </p:nvGrpSpPr>
        <p:grpSpPr>
          <a:xfrm rot="0">
            <a:off x="11238890" y="245745"/>
            <a:ext cx="1253642" cy="440055"/>
            <a:chOff x="0" y="0"/>
            <a:chExt cx="1671523" cy="586740"/>
          </a:xfrm>
        </p:grpSpPr>
        <p:sp>
          <p:nvSpPr>
            <p:cNvPr name="Freeform 63" id="63"/>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4" id="64"/>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pSp>
        <p:nvGrpSpPr>
          <p:cNvPr name="Group 65" id="65"/>
          <p:cNvGrpSpPr/>
          <p:nvPr/>
        </p:nvGrpSpPr>
        <p:grpSpPr>
          <a:xfrm rot="0">
            <a:off x="2694203" y="1536192"/>
            <a:ext cx="12899612" cy="8019860"/>
            <a:chOff x="0" y="0"/>
            <a:chExt cx="17199483" cy="10693146"/>
          </a:xfrm>
        </p:grpSpPr>
        <p:sp>
          <p:nvSpPr>
            <p:cNvPr name="Freeform 66" id="66"/>
            <p:cNvSpPr/>
            <p:nvPr/>
          </p:nvSpPr>
          <p:spPr>
            <a:xfrm flipH="false" flipV="false" rot="0">
              <a:off x="0" y="0"/>
              <a:ext cx="17199483" cy="10693146"/>
            </a:xfrm>
            <a:custGeom>
              <a:avLst/>
              <a:gdLst/>
              <a:ahLst/>
              <a:cxnLst/>
              <a:rect r="r" b="b" t="t" l="l"/>
              <a:pathLst>
                <a:path h="10693146" w="17199483">
                  <a:moveTo>
                    <a:pt x="0" y="0"/>
                  </a:moveTo>
                  <a:lnTo>
                    <a:pt x="17199483" y="0"/>
                  </a:lnTo>
                  <a:lnTo>
                    <a:pt x="17199483" y="10693146"/>
                  </a:lnTo>
                  <a:lnTo>
                    <a:pt x="0" y="10693146"/>
                  </a:lnTo>
                  <a:lnTo>
                    <a:pt x="0" y="0"/>
                  </a:lnTo>
                  <a:close/>
                </a:path>
              </a:pathLst>
            </a:custGeom>
            <a:blipFill>
              <a:blip r:embed="rId7"/>
              <a:stretch>
                <a:fillRect l="0" t="-11326" r="0" b="-11326"/>
              </a:stretch>
            </a:blipFill>
          </p:spPr>
          <p:txBody>
            <a:bodyPr/>
            <a:p/>
          </p:txBody>
        </p:sp>
      </p:grpSp>
      <p:sp>
        <p:nvSpPr>
          <p:cNvPr name="TextBox 67" id="67"/>
          <p:cNvSpPr txBox="true"/>
          <p:nvPr/>
        </p:nvSpPr>
        <p:spPr>
          <a:xfrm rot="0">
            <a:off x="825246" y="713232"/>
            <a:ext cx="16637508" cy="85725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Kerangka Pikir Penelitian</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Alur dari permasalahan sampai keluaran penelitian</a:t>
            </a:r>
          </a:p>
        </p:txBody>
      </p:sp>
      <p:sp>
        <p:nvSpPr>
          <p:cNvPr name="TextBox 68" id="68"/>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11</a:t>
            </a:r>
          </a:p>
        </p:txBody>
      </p:sp>
      <p:grpSp>
        <p:nvGrpSpPr>
          <p:cNvPr name="Group 69" id="69"/>
          <p:cNvGrpSpPr/>
          <p:nvPr/>
        </p:nvGrpSpPr>
        <p:grpSpPr>
          <a:xfrm rot="0">
            <a:off x="16047720" y="9646920"/>
            <a:ext cx="420624" cy="420624"/>
            <a:chOff x="0" y="0"/>
            <a:chExt cx="560832" cy="560832"/>
          </a:xfrm>
        </p:grpSpPr>
        <p:sp>
          <p:nvSpPr>
            <p:cNvPr name="Freeform 70" id="70"/>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71" id="71"/>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5725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Lokasi Penelitian, Data, dan Sumber Data</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Data resmi 2015–2025 menjadi dasar model</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Freeform 66" id="66"/>
          <p:cNvSpPr/>
          <p:nvPr/>
        </p:nvSpPr>
        <p:spPr>
          <a:xfrm flipH="false" flipV="false" rot="0">
            <a:off x="806291" y="2315051"/>
            <a:ext cx="3983546" cy="2022158"/>
          </a:xfrm>
          <a:custGeom>
            <a:avLst/>
            <a:gdLst/>
            <a:ahLst/>
            <a:cxnLst/>
            <a:rect r="r" b="b" t="t" l="l"/>
            <a:pathLst>
              <a:path h="2022158" w="3983546">
                <a:moveTo>
                  <a:pt x="0" y="0"/>
                </a:moveTo>
                <a:lnTo>
                  <a:pt x="3983546" y="0"/>
                </a:lnTo>
                <a:lnTo>
                  <a:pt x="3983546" y="2022158"/>
                </a:lnTo>
                <a:lnTo>
                  <a:pt x="0" y="2022158"/>
                </a:lnTo>
                <a:lnTo>
                  <a:pt x="0" y="0"/>
                </a:lnTo>
                <a:close/>
              </a:path>
            </a:pathLst>
          </a:custGeom>
          <a:blipFill>
            <a:blip r:embed="rId7">
              <a:extLst>
                <a:ext uri="{96DAC541-7B7A-43D3-8B79-37D633B846F1}">
                  <asvg:svgBlip xmlns:asvg="http://schemas.microsoft.com/office/drawing/2016/SVG/main" r:embed="rId8"/>
                </a:ext>
              </a:extLst>
            </a:blip>
            <a:stretch>
              <a:fillRect l="0" t="-71" r="0" b="-71"/>
            </a:stretch>
          </a:blipFill>
        </p:spPr>
        <p:txBody>
          <a:bodyPr/>
          <a:p/>
        </p:txBody>
      </p:sp>
      <p:grpSp>
        <p:nvGrpSpPr>
          <p:cNvPr name="Group 67" id="67"/>
          <p:cNvGrpSpPr/>
          <p:nvPr/>
        </p:nvGrpSpPr>
        <p:grpSpPr>
          <a:xfrm rot="0">
            <a:off x="1097280" y="2523744"/>
            <a:ext cx="3401568" cy="822960"/>
            <a:chOff x="0" y="0"/>
            <a:chExt cx="4535424" cy="1097280"/>
          </a:xfrm>
        </p:grpSpPr>
        <p:sp>
          <p:nvSpPr>
            <p:cNvPr name="Freeform 68" id="68"/>
            <p:cNvSpPr/>
            <p:nvPr/>
          </p:nvSpPr>
          <p:spPr>
            <a:xfrm flipH="false" flipV="false" rot="0">
              <a:off x="0" y="0"/>
              <a:ext cx="4535424" cy="1097280"/>
            </a:xfrm>
            <a:custGeom>
              <a:avLst/>
              <a:gdLst/>
              <a:ahLst/>
              <a:cxnLst/>
              <a:rect r="r" b="b" t="t" l="l"/>
              <a:pathLst>
                <a:path h="1097280" w="4535424">
                  <a:moveTo>
                    <a:pt x="0" y="0"/>
                  </a:moveTo>
                  <a:lnTo>
                    <a:pt x="4535424" y="0"/>
                  </a:lnTo>
                  <a:lnTo>
                    <a:pt x="4535424" y="1097280"/>
                  </a:lnTo>
                  <a:lnTo>
                    <a:pt x="0" y="1097280"/>
                  </a:lnTo>
                  <a:close/>
                </a:path>
              </a:pathLst>
            </a:custGeom>
            <a:blipFill>
              <a:blip r:embed="rId4">
                <a:alphaModFix amt="0"/>
              </a:blip>
              <a:stretch>
                <a:fillRect l="0" t="-30482" r="0" b="-30481"/>
              </a:stretch>
            </a:blipFill>
          </p:spPr>
          <p:txBody>
            <a:bodyPr/>
            <a:p/>
          </p:txBody>
        </p:sp>
      </p:grpSp>
      <p:grpSp>
        <p:nvGrpSpPr>
          <p:cNvPr name="Group 69" id="69"/>
          <p:cNvGrpSpPr/>
          <p:nvPr/>
        </p:nvGrpSpPr>
        <p:grpSpPr>
          <a:xfrm rot="0">
            <a:off x="1097280" y="2452306"/>
            <a:ext cx="3401568" cy="894398"/>
            <a:chOff x="0" y="0"/>
            <a:chExt cx="4535424" cy="1192530"/>
          </a:xfrm>
        </p:grpSpPr>
        <p:sp>
          <p:nvSpPr>
            <p:cNvPr name="Freeform 70" id="70"/>
            <p:cNvSpPr/>
            <p:nvPr/>
          </p:nvSpPr>
          <p:spPr>
            <a:xfrm flipH="false" flipV="false" rot="0">
              <a:off x="0" y="0"/>
              <a:ext cx="4535424" cy="1192530"/>
            </a:xfrm>
            <a:custGeom>
              <a:avLst/>
              <a:gdLst/>
              <a:ahLst/>
              <a:cxnLst/>
              <a:rect r="r" b="b" t="t" l="l"/>
              <a:pathLst>
                <a:path h="1192530" w="4535424">
                  <a:moveTo>
                    <a:pt x="0" y="0"/>
                  </a:moveTo>
                  <a:lnTo>
                    <a:pt x="4535424" y="0"/>
                  </a:lnTo>
                  <a:lnTo>
                    <a:pt x="4535424" y="1192530"/>
                  </a:lnTo>
                  <a:lnTo>
                    <a:pt x="0" y="1192530"/>
                  </a:lnTo>
                  <a:close/>
                </a:path>
              </a:pathLst>
            </a:custGeom>
            <a:blipFill>
              <a:blip r:embed="rId5">
                <a:alphaModFix amt="0"/>
              </a:blip>
              <a:stretch>
                <a:fillRect l="0" t="-24054" r="0" b="-24053"/>
              </a:stretch>
            </a:blipFill>
          </p:spPr>
          <p:txBody>
            <a:bodyPr/>
            <a:p/>
          </p:txBody>
        </p:sp>
      </p:grpSp>
      <p:grpSp>
        <p:nvGrpSpPr>
          <p:cNvPr name="Group 71" id="71"/>
          <p:cNvGrpSpPr/>
          <p:nvPr/>
        </p:nvGrpSpPr>
        <p:grpSpPr>
          <a:xfrm rot="0">
            <a:off x="1097280" y="2380869"/>
            <a:ext cx="3401568" cy="965835"/>
            <a:chOff x="0" y="0"/>
            <a:chExt cx="4535424" cy="1287780"/>
          </a:xfrm>
        </p:grpSpPr>
        <p:sp>
          <p:nvSpPr>
            <p:cNvPr name="Freeform 72" id="72"/>
            <p:cNvSpPr/>
            <p:nvPr/>
          </p:nvSpPr>
          <p:spPr>
            <a:xfrm flipH="false" flipV="false" rot="0">
              <a:off x="0" y="0"/>
              <a:ext cx="4535424" cy="1287781"/>
            </a:xfrm>
            <a:custGeom>
              <a:avLst/>
              <a:gdLst/>
              <a:ahLst/>
              <a:cxnLst/>
              <a:rect r="r" b="b" t="t" l="l"/>
              <a:pathLst>
                <a:path h="1287781" w="4535424">
                  <a:moveTo>
                    <a:pt x="0" y="0"/>
                  </a:moveTo>
                  <a:lnTo>
                    <a:pt x="4535424" y="0"/>
                  </a:lnTo>
                  <a:lnTo>
                    <a:pt x="4535424" y="1287781"/>
                  </a:lnTo>
                  <a:lnTo>
                    <a:pt x="0" y="1287781"/>
                  </a:lnTo>
                  <a:close/>
                </a:path>
              </a:pathLst>
            </a:custGeom>
            <a:blipFill>
              <a:blip r:embed="rId6">
                <a:alphaModFix amt="0"/>
              </a:blip>
              <a:stretch>
                <a:fillRect l="0" t="-18624" r="0" b="-18624"/>
              </a:stretch>
            </a:blipFill>
          </p:spPr>
          <p:txBody>
            <a:bodyPr/>
            <a:p/>
          </p:txBody>
        </p:sp>
        <p:sp>
          <p:nvSpPr>
            <p:cNvPr name="TextBox 73" id="73"/>
            <p:cNvSpPr txBox="true"/>
            <p:nvPr/>
          </p:nvSpPr>
          <p:spPr>
            <a:xfrm>
              <a:off x="0" y="-95250"/>
              <a:ext cx="4535424" cy="1383030"/>
            </a:xfrm>
            <a:prstGeom prst="rect">
              <a:avLst/>
            </a:prstGeom>
          </p:spPr>
          <p:txBody>
            <a:bodyPr anchor="ctr" rtlCol="false" tIns="0" lIns="0" bIns="0" rIns="0"/>
            <a:lstStyle/>
            <a:p>
              <a:pPr algn="l">
                <a:lnSpc>
                  <a:spcPts val="5400"/>
                </a:lnSpc>
              </a:pPr>
              <a:r>
                <a:rPr lang="en-US" sz="4500" b="true">
                  <a:solidFill>
                    <a:srgbClr val="0B5E6E"/>
                  </a:solidFill>
                  <a:latin typeface="Calibri (MS) Bold"/>
                  <a:ea typeface="Calibri (MS) Bold"/>
                  <a:cs typeface="Calibri (MS) Bold"/>
                  <a:sym typeface="Calibri (MS) Bold"/>
                </a:rPr>
                <a:t>2015–2025</a:t>
              </a:r>
            </a:p>
          </p:txBody>
        </p:sp>
      </p:grpSp>
      <p:sp>
        <p:nvSpPr>
          <p:cNvPr name="TextBox 74" id="74"/>
          <p:cNvSpPr txBox="true"/>
          <p:nvPr/>
        </p:nvSpPr>
        <p:spPr>
          <a:xfrm rot="0">
            <a:off x="1097280" y="3287268"/>
            <a:ext cx="3401568" cy="38100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periode data historis tahunan</a:t>
            </a:r>
          </a:p>
        </p:txBody>
      </p:sp>
      <p:sp>
        <p:nvSpPr>
          <p:cNvPr name="Freeform 75" id="75"/>
          <p:cNvSpPr/>
          <p:nvPr/>
        </p:nvSpPr>
        <p:spPr>
          <a:xfrm flipH="false" flipV="false" rot="0">
            <a:off x="5030819" y="2315051"/>
            <a:ext cx="3983546" cy="2022158"/>
          </a:xfrm>
          <a:custGeom>
            <a:avLst/>
            <a:gdLst/>
            <a:ahLst/>
            <a:cxnLst/>
            <a:rect r="r" b="b" t="t" l="l"/>
            <a:pathLst>
              <a:path h="2022158" w="3983546">
                <a:moveTo>
                  <a:pt x="0" y="0"/>
                </a:moveTo>
                <a:lnTo>
                  <a:pt x="3983546" y="0"/>
                </a:lnTo>
                <a:lnTo>
                  <a:pt x="3983546" y="2022158"/>
                </a:lnTo>
                <a:lnTo>
                  <a:pt x="0" y="2022158"/>
                </a:lnTo>
                <a:lnTo>
                  <a:pt x="0" y="0"/>
                </a:lnTo>
                <a:close/>
              </a:path>
            </a:pathLst>
          </a:custGeom>
          <a:blipFill>
            <a:blip r:embed="rId7">
              <a:extLst>
                <a:ext uri="{96DAC541-7B7A-43D3-8B79-37D633B846F1}">
                  <asvg:svgBlip xmlns:asvg="http://schemas.microsoft.com/office/drawing/2016/SVG/main" r:embed="rId8"/>
                </a:ext>
              </a:extLst>
            </a:blip>
            <a:stretch>
              <a:fillRect l="0" t="-71" r="0" b="-71"/>
            </a:stretch>
          </a:blipFill>
        </p:spPr>
        <p:txBody>
          <a:bodyPr/>
          <a:p/>
        </p:txBody>
      </p:sp>
      <p:grpSp>
        <p:nvGrpSpPr>
          <p:cNvPr name="Group 76" id="76"/>
          <p:cNvGrpSpPr/>
          <p:nvPr/>
        </p:nvGrpSpPr>
        <p:grpSpPr>
          <a:xfrm rot="0">
            <a:off x="5321808" y="2523744"/>
            <a:ext cx="3401568" cy="822960"/>
            <a:chOff x="0" y="0"/>
            <a:chExt cx="4535424" cy="1097280"/>
          </a:xfrm>
        </p:grpSpPr>
        <p:sp>
          <p:nvSpPr>
            <p:cNvPr name="Freeform 77" id="77"/>
            <p:cNvSpPr/>
            <p:nvPr/>
          </p:nvSpPr>
          <p:spPr>
            <a:xfrm flipH="false" flipV="false" rot="0">
              <a:off x="0" y="0"/>
              <a:ext cx="4535424" cy="1097280"/>
            </a:xfrm>
            <a:custGeom>
              <a:avLst/>
              <a:gdLst/>
              <a:ahLst/>
              <a:cxnLst/>
              <a:rect r="r" b="b" t="t" l="l"/>
              <a:pathLst>
                <a:path h="1097280" w="4535424">
                  <a:moveTo>
                    <a:pt x="0" y="0"/>
                  </a:moveTo>
                  <a:lnTo>
                    <a:pt x="4535424" y="0"/>
                  </a:lnTo>
                  <a:lnTo>
                    <a:pt x="4535424" y="1097280"/>
                  </a:lnTo>
                  <a:lnTo>
                    <a:pt x="0" y="1097280"/>
                  </a:lnTo>
                  <a:close/>
                </a:path>
              </a:pathLst>
            </a:custGeom>
            <a:blipFill>
              <a:blip r:embed="rId4">
                <a:alphaModFix amt="0"/>
              </a:blip>
              <a:stretch>
                <a:fillRect l="0" t="-30482" r="0" b="-30481"/>
              </a:stretch>
            </a:blipFill>
          </p:spPr>
          <p:txBody>
            <a:bodyPr/>
            <a:p/>
          </p:txBody>
        </p:sp>
      </p:grpSp>
      <p:grpSp>
        <p:nvGrpSpPr>
          <p:cNvPr name="Group 78" id="78"/>
          <p:cNvGrpSpPr/>
          <p:nvPr/>
        </p:nvGrpSpPr>
        <p:grpSpPr>
          <a:xfrm rot="0">
            <a:off x="5321808" y="2452306"/>
            <a:ext cx="3401568" cy="894398"/>
            <a:chOff x="0" y="0"/>
            <a:chExt cx="4535424" cy="1192530"/>
          </a:xfrm>
        </p:grpSpPr>
        <p:sp>
          <p:nvSpPr>
            <p:cNvPr name="Freeform 79" id="79"/>
            <p:cNvSpPr/>
            <p:nvPr/>
          </p:nvSpPr>
          <p:spPr>
            <a:xfrm flipH="false" flipV="false" rot="0">
              <a:off x="0" y="0"/>
              <a:ext cx="4535424" cy="1192530"/>
            </a:xfrm>
            <a:custGeom>
              <a:avLst/>
              <a:gdLst/>
              <a:ahLst/>
              <a:cxnLst/>
              <a:rect r="r" b="b" t="t" l="l"/>
              <a:pathLst>
                <a:path h="1192530" w="4535424">
                  <a:moveTo>
                    <a:pt x="0" y="0"/>
                  </a:moveTo>
                  <a:lnTo>
                    <a:pt x="4535424" y="0"/>
                  </a:lnTo>
                  <a:lnTo>
                    <a:pt x="4535424" y="1192530"/>
                  </a:lnTo>
                  <a:lnTo>
                    <a:pt x="0" y="1192530"/>
                  </a:lnTo>
                  <a:close/>
                </a:path>
              </a:pathLst>
            </a:custGeom>
            <a:blipFill>
              <a:blip r:embed="rId5">
                <a:alphaModFix amt="0"/>
              </a:blip>
              <a:stretch>
                <a:fillRect l="0" t="-24054" r="0" b="-24053"/>
              </a:stretch>
            </a:blipFill>
          </p:spPr>
          <p:txBody>
            <a:bodyPr/>
            <a:p/>
          </p:txBody>
        </p:sp>
      </p:grpSp>
      <p:grpSp>
        <p:nvGrpSpPr>
          <p:cNvPr name="Group 80" id="80"/>
          <p:cNvGrpSpPr/>
          <p:nvPr/>
        </p:nvGrpSpPr>
        <p:grpSpPr>
          <a:xfrm rot="0">
            <a:off x="5321808" y="2380869"/>
            <a:ext cx="3401568" cy="965835"/>
            <a:chOff x="0" y="0"/>
            <a:chExt cx="4535424" cy="1287780"/>
          </a:xfrm>
        </p:grpSpPr>
        <p:sp>
          <p:nvSpPr>
            <p:cNvPr name="Freeform 81" id="81"/>
            <p:cNvSpPr/>
            <p:nvPr/>
          </p:nvSpPr>
          <p:spPr>
            <a:xfrm flipH="false" flipV="false" rot="0">
              <a:off x="0" y="0"/>
              <a:ext cx="4535424" cy="1287781"/>
            </a:xfrm>
            <a:custGeom>
              <a:avLst/>
              <a:gdLst/>
              <a:ahLst/>
              <a:cxnLst/>
              <a:rect r="r" b="b" t="t" l="l"/>
              <a:pathLst>
                <a:path h="1287781" w="4535424">
                  <a:moveTo>
                    <a:pt x="0" y="0"/>
                  </a:moveTo>
                  <a:lnTo>
                    <a:pt x="4535424" y="0"/>
                  </a:lnTo>
                  <a:lnTo>
                    <a:pt x="4535424" y="1287781"/>
                  </a:lnTo>
                  <a:lnTo>
                    <a:pt x="0" y="1287781"/>
                  </a:lnTo>
                  <a:close/>
                </a:path>
              </a:pathLst>
            </a:custGeom>
            <a:blipFill>
              <a:blip r:embed="rId6">
                <a:alphaModFix amt="0"/>
              </a:blip>
              <a:stretch>
                <a:fillRect l="0" t="-18624" r="0" b="-18624"/>
              </a:stretch>
            </a:blipFill>
          </p:spPr>
          <p:txBody>
            <a:bodyPr/>
            <a:p/>
          </p:txBody>
        </p:sp>
        <p:sp>
          <p:nvSpPr>
            <p:cNvPr name="TextBox 82" id="82"/>
            <p:cNvSpPr txBox="true"/>
            <p:nvPr/>
          </p:nvSpPr>
          <p:spPr>
            <a:xfrm>
              <a:off x="0" y="-95250"/>
              <a:ext cx="4535424" cy="1383030"/>
            </a:xfrm>
            <a:prstGeom prst="rect">
              <a:avLst/>
            </a:prstGeom>
          </p:spPr>
          <p:txBody>
            <a:bodyPr anchor="ctr" rtlCol="false" tIns="0" lIns="0" bIns="0" rIns="0"/>
            <a:lstStyle/>
            <a:p>
              <a:pPr algn="l">
                <a:lnSpc>
                  <a:spcPts val="5400"/>
                </a:lnSpc>
              </a:pPr>
              <a:r>
                <a:rPr lang="en-US" sz="4500" b="true">
                  <a:solidFill>
                    <a:srgbClr val="0B5E6E"/>
                  </a:solidFill>
                  <a:latin typeface="Calibri (MS) Bold"/>
                  <a:ea typeface="Calibri (MS) Bold"/>
                  <a:cs typeface="Calibri (MS) Bold"/>
                  <a:sym typeface="Calibri (MS) Bold"/>
                </a:rPr>
                <a:t>2025</a:t>
              </a:r>
            </a:p>
          </p:txBody>
        </p:sp>
      </p:grpSp>
      <p:sp>
        <p:nvSpPr>
          <p:cNvPr name="TextBox 83" id="83"/>
          <p:cNvSpPr txBox="true"/>
          <p:nvPr/>
        </p:nvSpPr>
        <p:spPr>
          <a:xfrm rot="0">
            <a:off x="5321808" y="3287268"/>
            <a:ext cx="3401568" cy="38100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tahun dasar model</a:t>
            </a:r>
          </a:p>
        </p:txBody>
      </p:sp>
      <p:sp>
        <p:nvSpPr>
          <p:cNvPr name="Freeform 84" id="84"/>
          <p:cNvSpPr/>
          <p:nvPr/>
        </p:nvSpPr>
        <p:spPr>
          <a:xfrm flipH="false" flipV="false" rot="0">
            <a:off x="9255347" y="2315051"/>
            <a:ext cx="3983546" cy="2022158"/>
          </a:xfrm>
          <a:custGeom>
            <a:avLst/>
            <a:gdLst/>
            <a:ahLst/>
            <a:cxnLst/>
            <a:rect r="r" b="b" t="t" l="l"/>
            <a:pathLst>
              <a:path h="2022158" w="3983546">
                <a:moveTo>
                  <a:pt x="0" y="0"/>
                </a:moveTo>
                <a:lnTo>
                  <a:pt x="3983546" y="0"/>
                </a:lnTo>
                <a:lnTo>
                  <a:pt x="3983546" y="2022158"/>
                </a:lnTo>
                <a:lnTo>
                  <a:pt x="0" y="2022158"/>
                </a:lnTo>
                <a:lnTo>
                  <a:pt x="0" y="0"/>
                </a:lnTo>
                <a:close/>
              </a:path>
            </a:pathLst>
          </a:custGeom>
          <a:blipFill>
            <a:blip r:embed="rId7">
              <a:extLst>
                <a:ext uri="{96DAC541-7B7A-43D3-8B79-37D633B846F1}">
                  <asvg:svgBlip xmlns:asvg="http://schemas.microsoft.com/office/drawing/2016/SVG/main" r:embed="rId8"/>
                </a:ext>
              </a:extLst>
            </a:blip>
            <a:stretch>
              <a:fillRect l="0" t="-71" r="0" b="-71"/>
            </a:stretch>
          </a:blipFill>
        </p:spPr>
        <p:txBody>
          <a:bodyPr/>
          <a:p/>
        </p:txBody>
      </p:sp>
      <p:grpSp>
        <p:nvGrpSpPr>
          <p:cNvPr name="Group 85" id="85"/>
          <p:cNvGrpSpPr/>
          <p:nvPr/>
        </p:nvGrpSpPr>
        <p:grpSpPr>
          <a:xfrm rot="0">
            <a:off x="9546336" y="2523744"/>
            <a:ext cx="3401568" cy="822960"/>
            <a:chOff x="0" y="0"/>
            <a:chExt cx="4535424" cy="1097280"/>
          </a:xfrm>
        </p:grpSpPr>
        <p:sp>
          <p:nvSpPr>
            <p:cNvPr name="Freeform 86" id="86"/>
            <p:cNvSpPr/>
            <p:nvPr/>
          </p:nvSpPr>
          <p:spPr>
            <a:xfrm flipH="false" flipV="false" rot="0">
              <a:off x="0" y="0"/>
              <a:ext cx="4535424" cy="1097280"/>
            </a:xfrm>
            <a:custGeom>
              <a:avLst/>
              <a:gdLst/>
              <a:ahLst/>
              <a:cxnLst/>
              <a:rect r="r" b="b" t="t" l="l"/>
              <a:pathLst>
                <a:path h="1097280" w="4535424">
                  <a:moveTo>
                    <a:pt x="0" y="0"/>
                  </a:moveTo>
                  <a:lnTo>
                    <a:pt x="4535424" y="0"/>
                  </a:lnTo>
                  <a:lnTo>
                    <a:pt x="4535424" y="1097280"/>
                  </a:lnTo>
                  <a:lnTo>
                    <a:pt x="0" y="1097280"/>
                  </a:lnTo>
                  <a:close/>
                </a:path>
              </a:pathLst>
            </a:custGeom>
            <a:blipFill>
              <a:blip r:embed="rId4">
                <a:alphaModFix amt="0"/>
              </a:blip>
              <a:stretch>
                <a:fillRect l="0" t="-30482" r="0" b="-30481"/>
              </a:stretch>
            </a:blipFill>
          </p:spPr>
          <p:txBody>
            <a:bodyPr/>
            <a:p/>
          </p:txBody>
        </p:sp>
      </p:grpSp>
      <p:grpSp>
        <p:nvGrpSpPr>
          <p:cNvPr name="Group 87" id="87"/>
          <p:cNvGrpSpPr/>
          <p:nvPr/>
        </p:nvGrpSpPr>
        <p:grpSpPr>
          <a:xfrm rot="0">
            <a:off x="9546336" y="2452306"/>
            <a:ext cx="3401568" cy="894398"/>
            <a:chOff x="0" y="0"/>
            <a:chExt cx="4535424" cy="1192530"/>
          </a:xfrm>
        </p:grpSpPr>
        <p:sp>
          <p:nvSpPr>
            <p:cNvPr name="Freeform 88" id="88"/>
            <p:cNvSpPr/>
            <p:nvPr/>
          </p:nvSpPr>
          <p:spPr>
            <a:xfrm flipH="false" flipV="false" rot="0">
              <a:off x="0" y="0"/>
              <a:ext cx="4535424" cy="1192530"/>
            </a:xfrm>
            <a:custGeom>
              <a:avLst/>
              <a:gdLst/>
              <a:ahLst/>
              <a:cxnLst/>
              <a:rect r="r" b="b" t="t" l="l"/>
              <a:pathLst>
                <a:path h="1192530" w="4535424">
                  <a:moveTo>
                    <a:pt x="0" y="0"/>
                  </a:moveTo>
                  <a:lnTo>
                    <a:pt x="4535424" y="0"/>
                  </a:lnTo>
                  <a:lnTo>
                    <a:pt x="4535424" y="1192530"/>
                  </a:lnTo>
                  <a:lnTo>
                    <a:pt x="0" y="1192530"/>
                  </a:lnTo>
                  <a:close/>
                </a:path>
              </a:pathLst>
            </a:custGeom>
            <a:blipFill>
              <a:blip r:embed="rId5">
                <a:alphaModFix amt="0"/>
              </a:blip>
              <a:stretch>
                <a:fillRect l="0" t="-24054" r="0" b="-24053"/>
              </a:stretch>
            </a:blipFill>
          </p:spPr>
          <p:txBody>
            <a:bodyPr/>
            <a:p/>
          </p:txBody>
        </p:sp>
      </p:grpSp>
      <p:grpSp>
        <p:nvGrpSpPr>
          <p:cNvPr name="Group 89" id="89"/>
          <p:cNvGrpSpPr/>
          <p:nvPr/>
        </p:nvGrpSpPr>
        <p:grpSpPr>
          <a:xfrm rot="0">
            <a:off x="9546336" y="2380869"/>
            <a:ext cx="3401568" cy="965835"/>
            <a:chOff x="0" y="0"/>
            <a:chExt cx="4535424" cy="1287780"/>
          </a:xfrm>
        </p:grpSpPr>
        <p:sp>
          <p:nvSpPr>
            <p:cNvPr name="Freeform 90" id="90"/>
            <p:cNvSpPr/>
            <p:nvPr/>
          </p:nvSpPr>
          <p:spPr>
            <a:xfrm flipH="false" flipV="false" rot="0">
              <a:off x="0" y="0"/>
              <a:ext cx="4535424" cy="1287781"/>
            </a:xfrm>
            <a:custGeom>
              <a:avLst/>
              <a:gdLst/>
              <a:ahLst/>
              <a:cxnLst/>
              <a:rect r="r" b="b" t="t" l="l"/>
              <a:pathLst>
                <a:path h="1287781" w="4535424">
                  <a:moveTo>
                    <a:pt x="0" y="0"/>
                  </a:moveTo>
                  <a:lnTo>
                    <a:pt x="4535424" y="0"/>
                  </a:lnTo>
                  <a:lnTo>
                    <a:pt x="4535424" y="1287781"/>
                  </a:lnTo>
                  <a:lnTo>
                    <a:pt x="0" y="1287781"/>
                  </a:lnTo>
                  <a:close/>
                </a:path>
              </a:pathLst>
            </a:custGeom>
            <a:blipFill>
              <a:blip r:embed="rId6">
                <a:alphaModFix amt="0"/>
              </a:blip>
              <a:stretch>
                <a:fillRect l="0" t="-18624" r="0" b="-18624"/>
              </a:stretch>
            </a:blipFill>
          </p:spPr>
          <p:txBody>
            <a:bodyPr/>
            <a:p/>
          </p:txBody>
        </p:sp>
        <p:sp>
          <p:nvSpPr>
            <p:cNvPr name="TextBox 91" id="91"/>
            <p:cNvSpPr txBox="true"/>
            <p:nvPr/>
          </p:nvSpPr>
          <p:spPr>
            <a:xfrm>
              <a:off x="0" y="-95250"/>
              <a:ext cx="4535424" cy="1383030"/>
            </a:xfrm>
            <a:prstGeom prst="rect">
              <a:avLst/>
            </a:prstGeom>
          </p:spPr>
          <p:txBody>
            <a:bodyPr anchor="ctr" rtlCol="false" tIns="0" lIns="0" bIns="0" rIns="0"/>
            <a:lstStyle/>
            <a:p>
              <a:pPr algn="l">
                <a:lnSpc>
                  <a:spcPts val="5400"/>
                </a:lnSpc>
              </a:pPr>
              <a:r>
                <a:rPr lang="en-US" sz="4500" b="true">
                  <a:solidFill>
                    <a:srgbClr val="0B5E6E"/>
                  </a:solidFill>
                  <a:latin typeface="Calibri (MS) Bold"/>
                  <a:ea typeface="Calibri (MS) Bold"/>
                  <a:cs typeface="Calibri (MS) Bold"/>
                  <a:sym typeface="Calibri (MS) Bold"/>
                </a:rPr>
                <a:t>2050</a:t>
              </a:r>
            </a:p>
          </p:txBody>
        </p:sp>
      </p:grpSp>
      <p:sp>
        <p:nvSpPr>
          <p:cNvPr name="TextBox 92" id="92"/>
          <p:cNvSpPr txBox="true"/>
          <p:nvPr/>
        </p:nvSpPr>
        <p:spPr>
          <a:xfrm rot="0">
            <a:off x="9546336" y="3287268"/>
            <a:ext cx="3401568" cy="38100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horizon simulasi, time step 1 tahun</a:t>
            </a:r>
          </a:p>
        </p:txBody>
      </p:sp>
      <p:sp>
        <p:nvSpPr>
          <p:cNvPr name="Freeform 93" id="93"/>
          <p:cNvSpPr/>
          <p:nvPr/>
        </p:nvSpPr>
        <p:spPr>
          <a:xfrm flipH="false" flipV="false" rot="0">
            <a:off x="13479875" y="2315051"/>
            <a:ext cx="3983545" cy="2022158"/>
          </a:xfrm>
          <a:custGeom>
            <a:avLst/>
            <a:gdLst/>
            <a:ahLst/>
            <a:cxnLst/>
            <a:rect r="r" b="b" t="t" l="l"/>
            <a:pathLst>
              <a:path h="2022158" w="3983545">
                <a:moveTo>
                  <a:pt x="0" y="0"/>
                </a:moveTo>
                <a:lnTo>
                  <a:pt x="3983546" y="0"/>
                </a:lnTo>
                <a:lnTo>
                  <a:pt x="3983546" y="2022158"/>
                </a:lnTo>
                <a:lnTo>
                  <a:pt x="0" y="2022158"/>
                </a:lnTo>
                <a:lnTo>
                  <a:pt x="0" y="0"/>
                </a:lnTo>
                <a:close/>
              </a:path>
            </a:pathLst>
          </a:custGeom>
          <a:blipFill>
            <a:blip r:embed="rId7">
              <a:extLst>
                <a:ext uri="{96DAC541-7B7A-43D3-8B79-37D633B846F1}">
                  <asvg:svgBlip xmlns:asvg="http://schemas.microsoft.com/office/drawing/2016/SVG/main" r:embed="rId8"/>
                </a:ext>
              </a:extLst>
            </a:blip>
            <a:stretch>
              <a:fillRect l="0" t="-71" r="0" b="-71"/>
            </a:stretch>
          </a:blipFill>
        </p:spPr>
        <p:txBody>
          <a:bodyPr/>
          <a:p/>
        </p:txBody>
      </p:sp>
      <p:grpSp>
        <p:nvGrpSpPr>
          <p:cNvPr name="Group 94" id="94"/>
          <p:cNvGrpSpPr/>
          <p:nvPr/>
        </p:nvGrpSpPr>
        <p:grpSpPr>
          <a:xfrm rot="0">
            <a:off x="13770864" y="2523744"/>
            <a:ext cx="3401568" cy="822960"/>
            <a:chOff x="0" y="0"/>
            <a:chExt cx="4535424" cy="1097280"/>
          </a:xfrm>
        </p:grpSpPr>
        <p:sp>
          <p:nvSpPr>
            <p:cNvPr name="Freeform 95" id="95"/>
            <p:cNvSpPr/>
            <p:nvPr/>
          </p:nvSpPr>
          <p:spPr>
            <a:xfrm flipH="false" flipV="false" rot="0">
              <a:off x="0" y="0"/>
              <a:ext cx="4535424" cy="1097280"/>
            </a:xfrm>
            <a:custGeom>
              <a:avLst/>
              <a:gdLst/>
              <a:ahLst/>
              <a:cxnLst/>
              <a:rect r="r" b="b" t="t" l="l"/>
              <a:pathLst>
                <a:path h="1097280" w="4535424">
                  <a:moveTo>
                    <a:pt x="0" y="0"/>
                  </a:moveTo>
                  <a:lnTo>
                    <a:pt x="4535424" y="0"/>
                  </a:lnTo>
                  <a:lnTo>
                    <a:pt x="4535424" y="1097280"/>
                  </a:lnTo>
                  <a:lnTo>
                    <a:pt x="0" y="1097280"/>
                  </a:lnTo>
                  <a:close/>
                </a:path>
              </a:pathLst>
            </a:custGeom>
            <a:blipFill>
              <a:blip r:embed="rId4">
                <a:alphaModFix amt="0"/>
              </a:blip>
              <a:stretch>
                <a:fillRect l="0" t="-30482" r="0" b="-30481"/>
              </a:stretch>
            </a:blipFill>
          </p:spPr>
          <p:txBody>
            <a:bodyPr/>
            <a:p/>
          </p:txBody>
        </p:sp>
      </p:grpSp>
      <p:grpSp>
        <p:nvGrpSpPr>
          <p:cNvPr name="Group 96" id="96"/>
          <p:cNvGrpSpPr/>
          <p:nvPr/>
        </p:nvGrpSpPr>
        <p:grpSpPr>
          <a:xfrm rot="0">
            <a:off x="13770864" y="2452306"/>
            <a:ext cx="3401568" cy="894398"/>
            <a:chOff x="0" y="0"/>
            <a:chExt cx="4535424" cy="1192530"/>
          </a:xfrm>
        </p:grpSpPr>
        <p:sp>
          <p:nvSpPr>
            <p:cNvPr name="Freeform 97" id="97"/>
            <p:cNvSpPr/>
            <p:nvPr/>
          </p:nvSpPr>
          <p:spPr>
            <a:xfrm flipH="false" flipV="false" rot="0">
              <a:off x="0" y="0"/>
              <a:ext cx="4535424" cy="1192530"/>
            </a:xfrm>
            <a:custGeom>
              <a:avLst/>
              <a:gdLst/>
              <a:ahLst/>
              <a:cxnLst/>
              <a:rect r="r" b="b" t="t" l="l"/>
              <a:pathLst>
                <a:path h="1192530" w="4535424">
                  <a:moveTo>
                    <a:pt x="0" y="0"/>
                  </a:moveTo>
                  <a:lnTo>
                    <a:pt x="4535424" y="0"/>
                  </a:lnTo>
                  <a:lnTo>
                    <a:pt x="4535424" y="1192530"/>
                  </a:lnTo>
                  <a:lnTo>
                    <a:pt x="0" y="1192530"/>
                  </a:lnTo>
                  <a:close/>
                </a:path>
              </a:pathLst>
            </a:custGeom>
            <a:blipFill>
              <a:blip r:embed="rId5">
                <a:alphaModFix amt="0"/>
              </a:blip>
              <a:stretch>
                <a:fillRect l="0" t="-24054" r="0" b="-24053"/>
              </a:stretch>
            </a:blipFill>
          </p:spPr>
          <p:txBody>
            <a:bodyPr/>
            <a:p/>
          </p:txBody>
        </p:sp>
      </p:grpSp>
      <p:grpSp>
        <p:nvGrpSpPr>
          <p:cNvPr name="Group 98" id="98"/>
          <p:cNvGrpSpPr/>
          <p:nvPr/>
        </p:nvGrpSpPr>
        <p:grpSpPr>
          <a:xfrm rot="0">
            <a:off x="13770864" y="2380869"/>
            <a:ext cx="3401568" cy="965835"/>
            <a:chOff x="0" y="0"/>
            <a:chExt cx="4535424" cy="1287780"/>
          </a:xfrm>
        </p:grpSpPr>
        <p:sp>
          <p:nvSpPr>
            <p:cNvPr name="Freeform 99" id="99"/>
            <p:cNvSpPr/>
            <p:nvPr/>
          </p:nvSpPr>
          <p:spPr>
            <a:xfrm flipH="false" flipV="false" rot="0">
              <a:off x="0" y="0"/>
              <a:ext cx="4535424" cy="1287781"/>
            </a:xfrm>
            <a:custGeom>
              <a:avLst/>
              <a:gdLst/>
              <a:ahLst/>
              <a:cxnLst/>
              <a:rect r="r" b="b" t="t" l="l"/>
              <a:pathLst>
                <a:path h="1287781" w="4535424">
                  <a:moveTo>
                    <a:pt x="0" y="0"/>
                  </a:moveTo>
                  <a:lnTo>
                    <a:pt x="4535424" y="0"/>
                  </a:lnTo>
                  <a:lnTo>
                    <a:pt x="4535424" y="1287781"/>
                  </a:lnTo>
                  <a:lnTo>
                    <a:pt x="0" y="1287781"/>
                  </a:lnTo>
                  <a:close/>
                </a:path>
              </a:pathLst>
            </a:custGeom>
            <a:blipFill>
              <a:blip r:embed="rId6">
                <a:alphaModFix amt="0"/>
              </a:blip>
              <a:stretch>
                <a:fillRect l="0" t="-18624" r="0" b="-18624"/>
              </a:stretch>
            </a:blipFill>
          </p:spPr>
          <p:txBody>
            <a:bodyPr/>
            <a:p/>
          </p:txBody>
        </p:sp>
        <p:sp>
          <p:nvSpPr>
            <p:cNvPr name="TextBox 100" id="100"/>
            <p:cNvSpPr txBox="true"/>
            <p:nvPr/>
          </p:nvSpPr>
          <p:spPr>
            <a:xfrm>
              <a:off x="0" y="-95250"/>
              <a:ext cx="4535424" cy="1383030"/>
            </a:xfrm>
            <a:prstGeom prst="rect">
              <a:avLst/>
            </a:prstGeom>
          </p:spPr>
          <p:txBody>
            <a:bodyPr anchor="ctr" rtlCol="false" tIns="0" lIns="0" bIns="0" rIns="0"/>
            <a:lstStyle/>
            <a:p>
              <a:pPr algn="l">
                <a:lnSpc>
                  <a:spcPts val="5400"/>
                </a:lnSpc>
              </a:pPr>
              <a:r>
                <a:rPr lang="en-US" sz="4500" b="true">
                  <a:solidFill>
                    <a:srgbClr val="0B5E6E"/>
                  </a:solidFill>
                  <a:latin typeface="Calibri (MS) Bold"/>
                  <a:ea typeface="Calibri (MS) Bold"/>
                  <a:cs typeface="Calibri (MS) Bold"/>
                  <a:sym typeface="Calibri (MS) Bold"/>
                </a:rPr>
                <a:t>317.036 ha</a:t>
              </a:r>
            </a:p>
          </p:txBody>
        </p:sp>
      </p:grpSp>
      <p:sp>
        <p:nvSpPr>
          <p:cNvPr name="TextBox 101" id="101"/>
          <p:cNvSpPr txBox="true"/>
          <p:nvPr/>
        </p:nvSpPr>
        <p:spPr>
          <a:xfrm rot="0">
            <a:off x="13770864" y="3287268"/>
            <a:ext cx="3401568" cy="38100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luas DIY: 5 kabupaten/kota</a:t>
            </a:r>
          </a:p>
        </p:txBody>
      </p:sp>
      <p:grpSp>
        <p:nvGrpSpPr>
          <p:cNvPr name="Group 102" id="102"/>
          <p:cNvGrpSpPr/>
          <p:nvPr/>
        </p:nvGrpSpPr>
        <p:grpSpPr>
          <a:xfrm rot="0">
            <a:off x="822960" y="4663440"/>
            <a:ext cx="5349240" cy="1714500"/>
            <a:chOff x="0" y="0"/>
            <a:chExt cx="7132320" cy="2286000"/>
          </a:xfrm>
        </p:grpSpPr>
        <p:sp>
          <p:nvSpPr>
            <p:cNvPr name="Freeform 103" id="103"/>
            <p:cNvSpPr/>
            <p:nvPr/>
          </p:nvSpPr>
          <p:spPr>
            <a:xfrm flipH="false" flipV="false" rot="0">
              <a:off x="0" y="0"/>
              <a:ext cx="7132320" cy="2286000"/>
            </a:xfrm>
            <a:custGeom>
              <a:avLst/>
              <a:gdLst/>
              <a:ahLst/>
              <a:cxnLst/>
              <a:rect r="r" b="b" t="t" l="l"/>
              <a:pathLst>
                <a:path h="2286000" w="7132320">
                  <a:moveTo>
                    <a:pt x="0" y="182880"/>
                  </a:moveTo>
                  <a:cubicBezTo>
                    <a:pt x="0" y="81915"/>
                    <a:pt x="81915" y="0"/>
                    <a:pt x="182880" y="0"/>
                  </a:cubicBezTo>
                  <a:lnTo>
                    <a:pt x="6949440" y="0"/>
                  </a:lnTo>
                  <a:cubicBezTo>
                    <a:pt x="7050405" y="0"/>
                    <a:pt x="7132320" y="81915"/>
                    <a:pt x="7132320" y="182880"/>
                  </a:cubicBezTo>
                  <a:lnTo>
                    <a:pt x="7132320" y="2103120"/>
                  </a:lnTo>
                  <a:cubicBezTo>
                    <a:pt x="7132320" y="2204085"/>
                    <a:pt x="7050405" y="2286000"/>
                    <a:pt x="6949440" y="2286000"/>
                  </a:cubicBezTo>
                  <a:lnTo>
                    <a:pt x="182880" y="2286000"/>
                  </a:lnTo>
                  <a:cubicBezTo>
                    <a:pt x="81915" y="2286000"/>
                    <a:pt x="0" y="2204085"/>
                    <a:pt x="0" y="2103120"/>
                  </a:cubicBezTo>
                  <a:close/>
                </a:path>
              </a:pathLst>
            </a:custGeom>
            <a:solidFill>
              <a:srgbClr val="EAF8FA"/>
            </a:solidFill>
          </p:spPr>
          <p:txBody>
            <a:bodyPr/>
            <a:p/>
          </p:txBody>
        </p:sp>
      </p:grpSp>
      <p:sp>
        <p:nvSpPr>
          <p:cNvPr name="TextBox 104" id="104"/>
          <p:cNvSpPr txBox="true"/>
          <p:nvPr/>
        </p:nvSpPr>
        <p:spPr>
          <a:xfrm rot="0">
            <a:off x="1097280" y="4685157"/>
            <a:ext cx="4800600" cy="581787"/>
          </a:xfrm>
          <a:prstGeom prst="rect">
            <a:avLst/>
          </a:prstGeom>
        </p:spPr>
        <p:txBody>
          <a:bodyPr anchor="t" rtlCol="false" tIns="0" lIns="0" bIns="0" rIns="0">
            <a:spAutoFit/>
          </a:bodyPr>
          <a:lstStyle/>
          <a:p>
            <a:pPr algn="l">
              <a:lnSpc>
                <a:spcPts val="2610"/>
              </a:lnSpc>
            </a:pPr>
            <a:r>
              <a:rPr lang="en-US" sz="2175" b="true">
                <a:solidFill>
                  <a:srgbClr val="0B5E6E"/>
                </a:solidFill>
                <a:latin typeface="Calibri (MS) Bold"/>
                <a:ea typeface="Calibri (MS) Bold"/>
                <a:cs typeface="Calibri (MS) Bold"/>
                <a:sym typeface="Calibri (MS) Bold"/>
              </a:rPr>
              <a:t>Permintaan wisatawan</a:t>
            </a:r>
          </a:p>
        </p:txBody>
      </p:sp>
      <p:sp>
        <p:nvSpPr>
          <p:cNvPr name="TextBox 105" id="105"/>
          <p:cNvSpPr txBox="true"/>
          <p:nvPr/>
        </p:nvSpPr>
        <p:spPr>
          <a:xfrm rot="0">
            <a:off x="1097280" y="5234940"/>
            <a:ext cx="4800600" cy="91440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jumlah wisatawan, total malam menginap, proporsi wisatawan menginap, rata-rata lama menginap, pengeluaran per kunjungan </a:t>
            </a:r>
          </a:p>
        </p:txBody>
      </p:sp>
      <p:grpSp>
        <p:nvGrpSpPr>
          <p:cNvPr name="Group 106" id="106"/>
          <p:cNvGrpSpPr/>
          <p:nvPr/>
        </p:nvGrpSpPr>
        <p:grpSpPr>
          <a:xfrm rot="0">
            <a:off x="6467094" y="4663440"/>
            <a:ext cx="5349240" cy="1714500"/>
            <a:chOff x="0" y="0"/>
            <a:chExt cx="7132320" cy="2286000"/>
          </a:xfrm>
        </p:grpSpPr>
        <p:sp>
          <p:nvSpPr>
            <p:cNvPr name="Freeform 107" id="107"/>
            <p:cNvSpPr/>
            <p:nvPr/>
          </p:nvSpPr>
          <p:spPr>
            <a:xfrm flipH="false" flipV="false" rot="0">
              <a:off x="0" y="0"/>
              <a:ext cx="7132320" cy="2286000"/>
            </a:xfrm>
            <a:custGeom>
              <a:avLst/>
              <a:gdLst/>
              <a:ahLst/>
              <a:cxnLst/>
              <a:rect r="r" b="b" t="t" l="l"/>
              <a:pathLst>
                <a:path h="2286000" w="7132320">
                  <a:moveTo>
                    <a:pt x="0" y="182880"/>
                  </a:moveTo>
                  <a:cubicBezTo>
                    <a:pt x="0" y="81915"/>
                    <a:pt x="81915" y="0"/>
                    <a:pt x="182880" y="0"/>
                  </a:cubicBezTo>
                  <a:lnTo>
                    <a:pt x="6949440" y="0"/>
                  </a:lnTo>
                  <a:cubicBezTo>
                    <a:pt x="7050405" y="0"/>
                    <a:pt x="7132320" y="81915"/>
                    <a:pt x="7132320" y="182880"/>
                  </a:cubicBezTo>
                  <a:lnTo>
                    <a:pt x="7132320" y="2103120"/>
                  </a:lnTo>
                  <a:cubicBezTo>
                    <a:pt x="7132320" y="2204085"/>
                    <a:pt x="7050405" y="2286000"/>
                    <a:pt x="6949440" y="2286000"/>
                  </a:cubicBezTo>
                  <a:lnTo>
                    <a:pt x="182880" y="2286000"/>
                  </a:lnTo>
                  <a:cubicBezTo>
                    <a:pt x="81915" y="2286000"/>
                    <a:pt x="0" y="2204085"/>
                    <a:pt x="0" y="2103120"/>
                  </a:cubicBezTo>
                  <a:close/>
                </a:path>
              </a:pathLst>
            </a:custGeom>
            <a:solidFill>
              <a:srgbClr val="EAF8FA"/>
            </a:solidFill>
          </p:spPr>
          <p:txBody>
            <a:bodyPr/>
            <a:p/>
          </p:txBody>
        </p:sp>
      </p:grpSp>
      <p:sp>
        <p:nvSpPr>
          <p:cNvPr name="TextBox 108" id="108"/>
          <p:cNvSpPr txBox="true"/>
          <p:nvPr/>
        </p:nvSpPr>
        <p:spPr>
          <a:xfrm rot="0">
            <a:off x="6741414" y="4685157"/>
            <a:ext cx="4800600" cy="581787"/>
          </a:xfrm>
          <a:prstGeom prst="rect">
            <a:avLst/>
          </a:prstGeom>
        </p:spPr>
        <p:txBody>
          <a:bodyPr anchor="t" rtlCol="false" tIns="0" lIns="0" bIns="0" rIns="0">
            <a:spAutoFit/>
          </a:bodyPr>
          <a:lstStyle/>
          <a:p>
            <a:pPr algn="l">
              <a:lnSpc>
                <a:spcPts val="2610"/>
              </a:lnSpc>
            </a:pPr>
            <a:r>
              <a:rPr lang="en-US" sz="2175" b="true">
                <a:solidFill>
                  <a:srgbClr val="0B5E6E"/>
                </a:solidFill>
                <a:latin typeface="Calibri (MS) Bold"/>
                <a:ea typeface="Calibri (MS) Bold"/>
                <a:cs typeface="Calibri (MS) Bold"/>
                <a:sym typeface="Calibri (MS) Bold"/>
              </a:rPr>
              <a:t>Akomodasi</a:t>
            </a:r>
          </a:p>
        </p:txBody>
      </p:sp>
      <p:sp>
        <p:nvSpPr>
          <p:cNvPr name="TextBox 109" id="109"/>
          <p:cNvSpPr txBox="true"/>
          <p:nvPr/>
        </p:nvSpPr>
        <p:spPr>
          <a:xfrm rot="0">
            <a:off x="6741414" y="5234940"/>
            <a:ext cx="4800600" cy="64770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jumlah hotel dan akomodasi lainnya, jumlah kamar tersedia, TPK, rata-rata tamu perkamar (TPG)</a:t>
            </a:r>
          </a:p>
        </p:txBody>
      </p:sp>
      <p:grpSp>
        <p:nvGrpSpPr>
          <p:cNvPr name="Group 110" id="110"/>
          <p:cNvGrpSpPr/>
          <p:nvPr/>
        </p:nvGrpSpPr>
        <p:grpSpPr>
          <a:xfrm rot="0">
            <a:off x="12111228" y="4663440"/>
            <a:ext cx="5349240" cy="1714500"/>
            <a:chOff x="0" y="0"/>
            <a:chExt cx="7132320" cy="2286000"/>
          </a:xfrm>
        </p:grpSpPr>
        <p:sp>
          <p:nvSpPr>
            <p:cNvPr name="Freeform 111" id="111"/>
            <p:cNvSpPr/>
            <p:nvPr/>
          </p:nvSpPr>
          <p:spPr>
            <a:xfrm flipH="false" flipV="false" rot="0">
              <a:off x="0" y="0"/>
              <a:ext cx="7132320" cy="2286000"/>
            </a:xfrm>
            <a:custGeom>
              <a:avLst/>
              <a:gdLst/>
              <a:ahLst/>
              <a:cxnLst/>
              <a:rect r="r" b="b" t="t" l="l"/>
              <a:pathLst>
                <a:path h="2286000" w="7132320">
                  <a:moveTo>
                    <a:pt x="0" y="182880"/>
                  </a:moveTo>
                  <a:cubicBezTo>
                    <a:pt x="0" y="81915"/>
                    <a:pt x="81915" y="0"/>
                    <a:pt x="182880" y="0"/>
                  </a:cubicBezTo>
                  <a:lnTo>
                    <a:pt x="6949440" y="0"/>
                  </a:lnTo>
                  <a:cubicBezTo>
                    <a:pt x="7050405" y="0"/>
                    <a:pt x="7132320" y="81915"/>
                    <a:pt x="7132320" y="182880"/>
                  </a:cubicBezTo>
                  <a:lnTo>
                    <a:pt x="7132320" y="2103120"/>
                  </a:lnTo>
                  <a:cubicBezTo>
                    <a:pt x="7132320" y="2204085"/>
                    <a:pt x="7050405" y="2286000"/>
                    <a:pt x="6949440" y="2286000"/>
                  </a:cubicBezTo>
                  <a:lnTo>
                    <a:pt x="182880" y="2286000"/>
                  </a:lnTo>
                  <a:cubicBezTo>
                    <a:pt x="81915" y="2286000"/>
                    <a:pt x="0" y="2204085"/>
                    <a:pt x="0" y="2103120"/>
                  </a:cubicBezTo>
                  <a:close/>
                </a:path>
              </a:pathLst>
            </a:custGeom>
            <a:solidFill>
              <a:srgbClr val="FFF1BF"/>
            </a:solidFill>
          </p:spPr>
          <p:txBody>
            <a:bodyPr/>
            <a:p/>
          </p:txBody>
        </p:sp>
      </p:grpSp>
      <p:sp>
        <p:nvSpPr>
          <p:cNvPr name="TextBox 112" id="112"/>
          <p:cNvSpPr txBox="true"/>
          <p:nvPr/>
        </p:nvSpPr>
        <p:spPr>
          <a:xfrm rot="0">
            <a:off x="12385548" y="4685157"/>
            <a:ext cx="4800600" cy="581787"/>
          </a:xfrm>
          <a:prstGeom prst="rect">
            <a:avLst/>
          </a:prstGeom>
        </p:spPr>
        <p:txBody>
          <a:bodyPr anchor="t" rtlCol="false" tIns="0" lIns="0" bIns="0" rIns="0">
            <a:spAutoFit/>
          </a:bodyPr>
          <a:lstStyle/>
          <a:p>
            <a:pPr algn="l">
              <a:lnSpc>
                <a:spcPts val="2610"/>
              </a:lnSpc>
            </a:pPr>
            <a:r>
              <a:rPr lang="en-US" sz="2175" b="true">
                <a:solidFill>
                  <a:srgbClr val="0B5E6E"/>
                </a:solidFill>
                <a:latin typeface="Calibri (MS) Bold"/>
                <a:ea typeface="Calibri (MS) Bold"/>
                <a:cs typeface="Calibri (MS) Bold"/>
                <a:sym typeface="Calibri (MS) Bold"/>
              </a:rPr>
              <a:t>Objek daya tarik wisata</a:t>
            </a:r>
          </a:p>
        </p:txBody>
      </p:sp>
      <p:sp>
        <p:nvSpPr>
          <p:cNvPr name="TextBox 113" id="113"/>
          <p:cNvSpPr txBox="true"/>
          <p:nvPr/>
        </p:nvSpPr>
        <p:spPr>
          <a:xfrm rot="0">
            <a:off x="12385548" y="5234940"/>
            <a:ext cx="4800600" cy="91440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jumlah objek daya tarik wisata (2018-2024 data statistik resmi negara dan 2015-2017 dan 2025 dengan estimasi menggunakan NTL) </a:t>
            </a:r>
          </a:p>
        </p:txBody>
      </p:sp>
      <p:grpSp>
        <p:nvGrpSpPr>
          <p:cNvPr name="Group 114" id="114"/>
          <p:cNvGrpSpPr/>
          <p:nvPr/>
        </p:nvGrpSpPr>
        <p:grpSpPr>
          <a:xfrm rot="0">
            <a:off x="822960" y="6583680"/>
            <a:ext cx="5349240" cy="1714500"/>
            <a:chOff x="0" y="0"/>
            <a:chExt cx="7132320" cy="2286000"/>
          </a:xfrm>
        </p:grpSpPr>
        <p:sp>
          <p:nvSpPr>
            <p:cNvPr name="Freeform 115" id="115"/>
            <p:cNvSpPr/>
            <p:nvPr/>
          </p:nvSpPr>
          <p:spPr>
            <a:xfrm flipH="false" flipV="false" rot="0">
              <a:off x="0" y="0"/>
              <a:ext cx="7132320" cy="2286000"/>
            </a:xfrm>
            <a:custGeom>
              <a:avLst/>
              <a:gdLst/>
              <a:ahLst/>
              <a:cxnLst/>
              <a:rect r="r" b="b" t="t" l="l"/>
              <a:pathLst>
                <a:path h="2286000" w="7132320">
                  <a:moveTo>
                    <a:pt x="0" y="182880"/>
                  </a:moveTo>
                  <a:cubicBezTo>
                    <a:pt x="0" y="81915"/>
                    <a:pt x="81915" y="0"/>
                    <a:pt x="182880" y="0"/>
                  </a:cubicBezTo>
                  <a:lnTo>
                    <a:pt x="6949440" y="0"/>
                  </a:lnTo>
                  <a:cubicBezTo>
                    <a:pt x="7050405" y="0"/>
                    <a:pt x="7132320" y="81915"/>
                    <a:pt x="7132320" y="182880"/>
                  </a:cubicBezTo>
                  <a:lnTo>
                    <a:pt x="7132320" y="2103120"/>
                  </a:lnTo>
                  <a:cubicBezTo>
                    <a:pt x="7132320" y="2204085"/>
                    <a:pt x="7050405" y="2286000"/>
                    <a:pt x="6949440" y="2286000"/>
                  </a:cubicBezTo>
                  <a:lnTo>
                    <a:pt x="182880" y="2286000"/>
                  </a:lnTo>
                  <a:cubicBezTo>
                    <a:pt x="81915" y="2286000"/>
                    <a:pt x="0" y="2204085"/>
                    <a:pt x="0" y="2103120"/>
                  </a:cubicBezTo>
                  <a:close/>
                </a:path>
              </a:pathLst>
            </a:custGeom>
            <a:solidFill>
              <a:srgbClr val="EAF8FA"/>
            </a:solidFill>
          </p:spPr>
          <p:txBody>
            <a:bodyPr/>
            <a:p/>
          </p:txBody>
        </p:sp>
      </p:grpSp>
      <p:sp>
        <p:nvSpPr>
          <p:cNvPr name="TextBox 116" id="116"/>
          <p:cNvSpPr txBox="true"/>
          <p:nvPr/>
        </p:nvSpPr>
        <p:spPr>
          <a:xfrm rot="0">
            <a:off x="1097280" y="6605397"/>
            <a:ext cx="4800600" cy="581787"/>
          </a:xfrm>
          <a:prstGeom prst="rect">
            <a:avLst/>
          </a:prstGeom>
        </p:spPr>
        <p:txBody>
          <a:bodyPr anchor="t" rtlCol="false" tIns="0" lIns="0" bIns="0" rIns="0">
            <a:spAutoFit/>
          </a:bodyPr>
          <a:lstStyle/>
          <a:p>
            <a:pPr algn="l">
              <a:lnSpc>
                <a:spcPts val="2610"/>
              </a:lnSpc>
            </a:pPr>
            <a:r>
              <a:rPr lang="en-US" sz="2175" b="true">
                <a:solidFill>
                  <a:srgbClr val="0B5E6E"/>
                </a:solidFill>
                <a:latin typeface="Calibri (MS) Bold"/>
                <a:ea typeface="Calibri (MS) Bold"/>
                <a:cs typeface="Calibri (MS) Bold"/>
                <a:sym typeface="Calibri (MS) Bold"/>
              </a:rPr>
              <a:t>Ketenagakerjaan</a:t>
            </a:r>
          </a:p>
        </p:txBody>
      </p:sp>
      <p:sp>
        <p:nvSpPr>
          <p:cNvPr name="TextBox 117" id="117"/>
          <p:cNvSpPr txBox="true"/>
          <p:nvPr/>
        </p:nvSpPr>
        <p:spPr>
          <a:xfrm rot="0">
            <a:off x="1097280" y="7155180"/>
            <a:ext cx="4800600" cy="38100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tenaga kerja pada KBLI pariwisata (I, dan R,S,T,U) </a:t>
            </a:r>
          </a:p>
        </p:txBody>
      </p:sp>
      <p:grpSp>
        <p:nvGrpSpPr>
          <p:cNvPr name="Group 118" id="118"/>
          <p:cNvGrpSpPr/>
          <p:nvPr/>
        </p:nvGrpSpPr>
        <p:grpSpPr>
          <a:xfrm rot="0">
            <a:off x="6467094" y="6583680"/>
            <a:ext cx="5349240" cy="1714500"/>
            <a:chOff x="0" y="0"/>
            <a:chExt cx="7132320" cy="2286000"/>
          </a:xfrm>
        </p:grpSpPr>
        <p:sp>
          <p:nvSpPr>
            <p:cNvPr name="Freeform 119" id="119"/>
            <p:cNvSpPr/>
            <p:nvPr/>
          </p:nvSpPr>
          <p:spPr>
            <a:xfrm flipH="false" flipV="false" rot="0">
              <a:off x="0" y="0"/>
              <a:ext cx="7132320" cy="2286000"/>
            </a:xfrm>
            <a:custGeom>
              <a:avLst/>
              <a:gdLst/>
              <a:ahLst/>
              <a:cxnLst/>
              <a:rect r="r" b="b" t="t" l="l"/>
              <a:pathLst>
                <a:path h="2286000" w="7132320">
                  <a:moveTo>
                    <a:pt x="0" y="182880"/>
                  </a:moveTo>
                  <a:cubicBezTo>
                    <a:pt x="0" y="81915"/>
                    <a:pt x="81915" y="0"/>
                    <a:pt x="182880" y="0"/>
                  </a:cubicBezTo>
                  <a:lnTo>
                    <a:pt x="6949440" y="0"/>
                  </a:lnTo>
                  <a:cubicBezTo>
                    <a:pt x="7050405" y="0"/>
                    <a:pt x="7132320" y="81915"/>
                    <a:pt x="7132320" y="182880"/>
                  </a:cubicBezTo>
                  <a:lnTo>
                    <a:pt x="7132320" y="2103120"/>
                  </a:lnTo>
                  <a:cubicBezTo>
                    <a:pt x="7132320" y="2204085"/>
                    <a:pt x="7050405" y="2286000"/>
                    <a:pt x="6949440" y="2286000"/>
                  </a:cubicBezTo>
                  <a:lnTo>
                    <a:pt x="182880" y="2286000"/>
                  </a:lnTo>
                  <a:cubicBezTo>
                    <a:pt x="81915" y="2286000"/>
                    <a:pt x="0" y="2204085"/>
                    <a:pt x="0" y="2103120"/>
                  </a:cubicBezTo>
                  <a:close/>
                </a:path>
              </a:pathLst>
            </a:custGeom>
            <a:solidFill>
              <a:srgbClr val="EAF8FA"/>
            </a:solidFill>
          </p:spPr>
          <p:txBody>
            <a:bodyPr/>
            <a:p/>
          </p:txBody>
        </p:sp>
      </p:grpSp>
      <p:sp>
        <p:nvSpPr>
          <p:cNvPr name="TextBox 120" id="120"/>
          <p:cNvSpPr txBox="true"/>
          <p:nvPr/>
        </p:nvSpPr>
        <p:spPr>
          <a:xfrm rot="0">
            <a:off x="6741414" y="6605397"/>
            <a:ext cx="4800600" cy="581787"/>
          </a:xfrm>
          <a:prstGeom prst="rect">
            <a:avLst/>
          </a:prstGeom>
        </p:spPr>
        <p:txBody>
          <a:bodyPr anchor="t" rtlCol="false" tIns="0" lIns="0" bIns="0" rIns="0">
            <a:spAutoFit/>
          </a:bodyPr>
          <a:lstStyle/>
          <a:p>
            <a:pPr algn="l">
              <a:lnSpc>
                <a:spcPts val="2610"/>
              </a:lnSpc>
            </a:pPr>
            <a:r>
              <a:rPr lang="en-US" sz="2175" b="true">
                <a:solidFill>
                  <a:srgbClr val="0B5E6E"/>
                </a:solidFill>
                <a:latin typeface="Calibri (MS) Bold"/>
                <a:ea typeface="Calibri (MS) Bold"/>
                <a:cs typeface="Calibri (MS) Bold"/>
                <a:sym typeface="Calibri (MS) Bold"/>
              </a:rPr>
              <a:t>Ekonomi sektor pariwisata</a:t>
            </a:r>
          </a:p>
        </p:txBody>
      </p:sp>
      <p:sp>
        <p:nvSpPr>
          <p:cNvPr name="TextBox 121" id="121"/>
          <p:cNvSpPr txBox="true"/>
          <p:nvPr/>
        </p:nvSpPr>
        <p:spPr>
          <a:xfrm rot="0">
            <a:off x="6741414" y="7155180"/>
            <a:ext cx="4800600" cy="64770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PDRB sektor pariwisata pada KBLI pariwisata (I, dan R,S,T,U), investasi (realisasi PMA dan PMDN)</a:t>
            </a:r>
          </a:p>
        </p:txBody>
      </p:sp>
      <p:grpSp>
        <p:nvGrpSpPr>
          <p:cNvPr name="Group 122" id="122"/>
          <p:cNvGrpSpPr/>
          <p:nvPr/>
        </p:nvGrpSpPr>
        <p:grpSpPr>
          <a:xfrm rot="0">
            <a:off x="12111228" y="6583680"/>
            <a:ext cx="5349240" cy="1714500"/>
            <a:chOff x="0" y="0"/>
            <a:chExt cx="7132320" cy="2286000"/>
          </a:xfrm>
        </p:grpSpPr>
        <p:sp>
          <p:nvSpPr>
            <p:cNvPr name="Freeform 123" id="123"/>
            <p:cNvSpPr/>
            <p:nvPr/>
          </p:nvSpPr>
          <p:spPr>
            <a:xfrm flipH="false" flipV="false" rot="0">
              <a:off x="0" y="0"/>
              <a:ext cx="7132320" cy="2286000"/>
            </a:xfrm>
            <a:custGeom>
              <a:avLst/>
              <a:gdLst/>
              <a:ahLst/>
              <a:cxnLst/>
              <a:rect r="r" b="b" t="t" l="l"/>
              <a:pathLst>
                <a:path h="2286000" w="7132320">
                  <a:moveTo>
                    <a:pt x="0" y="182880"/>
                  </a:moveTo>
                  <a:cubicBezTo>
                    <a:pt x="0" y="81915"/>
                    <a:pt x="81915" y="0"/>
                    <a:pt x="182880" y="0"/>
                  </a:cubicBezTo>
                  <a:lnTo>
                    <a:pt x="6949440" y="0"/>
                  </a:lnTo>
                  <a:cubicBezTo>
                    <a:pt x="7050405" y="0"/>
                    <a:pt x="7132320" y="81915"/>
                    <a:pt x="7132320" y="182880"/>
                  </a:cubicBezTo>
                  <a:lnTo>
                    <a:pt x="7132320" y="2103120"/>
                  </a:lnTo>
                  <a:cubicBezTo>
                    <a:pt x="7132320" y="2204085"/>
                    <a:pt x="7050405" y="2286000"/>
                    <a:pt x="6949440" y="2286000"/>
                  </a:cubicBezTo>
                  <a:lnTo>
                    <a:pt x="182880" y="2286000"/>
                  </a:lnTo>
                  <a:cubicBezTo>
                    <a:pt x="81915" y="2286000"/>
                    <a:pt x="0" y="2204085"/>
                    <a:pt x="0" y="2103120"/>
                  </a:cubicBezTo>
                  <a:close/>
                </a:path>
              </a:pathLst>
            </a:custGeom>
            <a:solidFill>
              <a:srgbClr val="FFF1BF"/>
            </a:solidFill>
          </p:spPr>
          <p:txBody>
            <a:bodyPr/>
            <a:p/>
          </p:txBody>
        </p:sp>
      </p:grpSp>
      <p:sp>
        <p:nvSpPr>
          <p:cNvPr name="TextBox 124" id="124"/>
          <p:cNvSpPr txBox="true"/>
          <p:nvPr/>
        </p:nvSpPr>
        <p:spPr>
          <a:xfrm rot="0">
            <a:off x="12385548" y="6605397"/>
            <a:ext cx="4800600" cy="581787"/>
          </a:xfrm>
          <a:prstGeom prst="rect">
            <a:avLst/>
          </a:prstGeom>
        </p:spPr>
        <p:txBody>
          <a:bodyPr anchor="t" rtlCol="false" tIns="0" lIns="0" bIns="0" rIns="0">
            <a:spAutoFit/>
          </a:bodyPr>
          <a:lstStyle/>
          <a:p>
            <a:pPr algn="l">
              <a:lnSpc>
                <a:spcPts val="2610"/>
              </a:lnSpc>
            </a:pPr>
            <a:r>
              <a:rPr lang="en-US" sz="2175" b="true">
                <a:solidFill>
                  <a:srgbClr val="0B5E6E"/>
                </a:solidFill>
                <a:latin typeface="Calibri (MS) Bold"/>
                <a:ea typeface="Calibri (MS) Bold"/>
                <a:cs typeface="Calibri (MS) Bold"/>
                <a:sym typeface="Calibri (MS) Bold"/>
              </a:rPr>
              <a:t>Lahan terbangun</a:t>
            </a:r>
          </a:p>
        </p:txBody>
      </p:sp>
      <p:sp>
        <p:nvSpPr>
          <p:cNvPr name="TextBox 125" id="125"/>
          <p:cNvSpPr txBox="true"/>
          <p:nvPr/>
        </p:nvSpPr>
        <p:spPr>
          <a:xfrm rot="0">
            <a:off x="12385548" y="7155180"/>
            <a:ext cx="4800600" cy="64770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luas lahan terbangun dari citra satelit (Dynamic World)</a:t>
            </a:r>
          </a:p>
        </p:txBody>
      </p:sp>
      <p:sp>
        <p:nvSpPr>
          <p:cNvPr name="TextBox 126" id="126"/>
          <p:cNvSpPr txBox="true"/>
          <p:nvPr/>
        </p:nvSpPr>
        <p:spPr>
          <a:xfrm rot="0">
            <a:off x="822960" y="8526780"/>
            <a:ext cx="16637508" cy="914400"/>
          </a:xfrm>
          <a:prstGeom prst="rect">
            <a:avLst/>
          </a:prstGeom>
        </p:spPr>
        <p:txBody>
          <a:bodyPr anchor="t" rtlCol="false" tIns="0" lIns="0" bIns="0" rIns="0">
            <a:spAutoFit/>
          </a:bodyPr>
          <a:lstStyle/>
          <a:p>
            <a:pPr algn="l">
              <a:lnSpc>
                <a:spcPts val="2160"/>
              </a:lnSpc>
            </a:pPr>
            <a:r>
              <a:rPr lang="en-US" sz="1800">
                <a:solidFill>
                  <a:srgbClr val="5E6E78"/>
                </a:solidFill>
                <a:latin typeface="Calibri (MS)"/>
                <a:ea typeface="Calibri (MS)"/>
                <a:cs typeface="Calibri (MS)"/>
                <a:sym typeface="Calibri (MS)"/>
              </a:rPr>
              <a:t>Sumber: BPS (nasional dan DIY); Kementerian Investasi/BKPM; pengolahan citra melalui Google Earth Engine.</a:t>
            </a:r>
          </a:p>
          <a:p>
            <a:pPr algn="l">
              <a:lnSpc>
                <a:spcPts val="2160"/>
              </a:lnSpc>
            </a:pPr>
            <a:r>
              <a:rPr lang="en-US" sz="1800">
                <a:solidFill>
                  <a:srgbClr val="5E6E78"/>
                </a:solidFill>
                <a:latin typeface="Calibri (MS)"/>
                <a:ea typeface="Calibri (MS)"/>
                <a:cs typeface="Calibri (MS)"/>
                <a:sym typeface="Calibri (MS)"/>
              </a:rPr>
              <a:t>Note: </a:t>
            </a:r>
          </a:p>
          <a:p>
            <a:pPr algn="l">
              <a:lnSpc>
                <a:spcPts val="2160"/>
              </a:lnSpc>
            </a:pPr>
            <a:r>
              <a:rPr lang="en-US" sz="1800">
                <a:solidFill>
                  <a:srgbClr val="5E6E78"/>
                </a:solidFill>
                <a:latin typeface="Calibri (MS)"/>
                <a:ea typeface="Calibri (MS)"/>
                <a:cs typeface="Calibri (MS)"/>
                <a:sym typeface="Calibri (MS)"/>
              </a:rPr>
              <a:t>           Kuning = dilengkapi estimasi citra satelit.</a:t>
            </a:r>
          </a:p>
        </p:txBody>
      </p:sp>
      <p:sp>
        <p:nvSpPr>
          <p:cNvPr name="TextBox 127" id="127"/>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12</a:t>
            </a:r>
          </a:p>
        </p:txBody>
      </p:sp>
      <p:grpSp>
        <p:nvGrpSpPr>
          <p:cNvPr name="Group 128" id="128"/>
          <p:cNvGrpSpPr/>
          <p:nvPr/>
        </p:nvGrpSpPr>
        <p:grpSpPr>
          <a:xfrm rot="0">
            <a:off x="16047720" y="9646920"/>
            <a:ext cx="420624" cy="420624"/>
            <a:chOff x="0" y="0"/>
            <a:chExt cx="560832" cy="560832"/>
          </a:xfrm>
        </p:grpSpPr>
        <p:sp>
          <p:nvSpPr>
            <p:cNvPr name="Freeform 129" id="129"/>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30" id="130"/>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txBody>
            <a:bodyPr/>
            <a:p/>
          </p:txBody>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grpSp>
        <p:nvGrpSpPr>
          <p:cNvPr name="Group 9" id="9"/>
          <p:cNvGrpSpPr/>
          <p:nvPr/>
        </p:nvGrpSpPr>
        <p:grpSpPr>
          <a:xfrm rot="0">
            <a:off x="822960" y="274320"/>
            <a:ext cx="2040922" cy="411480"/>
            <a:chOff x="0" y="0"/>
            <a:chExt cx="2721229" cy="548640"/>
          </a:xfrm>
        </p:grpSpPr>
        <p:sp>
          <p:nvSpPr>
            <p:cNvPr name="Freeform 10" id="10"/>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1" id="11"/>
          <p:cNvGrpSpPr/>
          <p:nvPr/>
        </p:nvGrpSpPr>
        <p:grpSpPr>
          <a:xfrm rot="0">
            <a:off x="822960" y="274320"/>
            <a:ext cx="2040941" cy="411480"/>
            <a:chOff x="0" y="0"/>
            <a:chExt cx="2721254" cy="548640"/>
          </a:xfrm>
        </p:grpSpPr>
        <p:sp>
          <p:nvSpPr>
            <p:cNvPr name="Freeform 12" id="12"/>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3" id="13"/>
          <p:cNvGrpSpPr/>
          <p:nvPr/>
        </p:nvGrpSpPr>
        <p:grpSpPr>
          <a:xfrm rot="0">
            <a:off x="822960" y="260033"/>
            <a:ext cx="2040941" cy="425768"/>
            <a:chOff x="0" y="0"/>
            <a:chExt cx="2721254" cy="567690"/>
          </a:xfrm>
        </p:grpSpPr>
        <p:sp>
          <p:nvSpPr>
            <p:cNvPr name="Freeform 14" id="14"/>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5" id="15"/>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16" id="16"/>
          <p:cNvGrpSpPr/>
          <p:nvPr/>
        </p:nvGrpSpPr>
        <p:grpSpPr>
          <a:xfrm rot="0">
            <a:off x="2973629" y="274320"/>
            <a:ext cx="2378392" cy="411480"/>
            <a:chOff x="0" y="0"/>
            <a:chExt cx="3171190" cy="548640"/>
          </a:xfrm>
        </p:grpSpPr>
        <p:sp>
          <p:nvSpPr>
            <p:cNvPr name="Freeform 17" id="17"/>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18" id="18"/>
          <p:cNvGrpSpPr/>
          <p:nvPr/>
        </p:nvGrpSpPr>
        <p:grpSpPr>
          <a:xfrm rot="0">
            <a:off x="2973629" y="274320"/>
            <a:ext cx="2378354" cy="411480"/>
            <a:chOff x="0" y="0"/>
            <a:chExt cx="3171139" cy="548640"/>
          </a:xfrm>
        </p:grpSpPr>
        <p:sp>
          <p:nvSpPr>
            <p:cNvPr name="Freeform 19" id="19"/>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0" id="20"/>
          <p:cNvGrpSpPr/>
          <p:nvPr/>
        </p:nvGrpSpPr>
        <p:grpSpPr>
          <a:xfrm rot="0">
            <a:off x="2973629" y="260033"/>
            <a:ext cx="2378354" cy="425768"/>
            <a:chOff x="0" y="0"/>
            <a:chExt cx="3171139" cy="567690"/>
          </a:xfrm>
        </p:grpSpPr>
        <p:sp>
          <p:nvSpPr>
            <p:cNvPr name="Freeform 21" id="21"/>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2" id="22"/>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Metodologi</a:t>
              </a:r>
            </a:p>
          </p:txBody>
        </p:sp>
      </p:grpSp>
      <p:grpSp>
        <p:nvGrpSpPr>
          <p:cNvPr name="Group 23" id="23"/>
          <p:cNvGrpSpPr/>
          <p:nvPr/>
        </p:nvGrpSpPr>
        <p:grpSpPr>
          <a:xfrm rot="0">
            <a:off x="5461711" y="274320"/>
            <a:ext cx="1591056" cy="411480"/>
            <a:chOff x="0" y="0"/>
            <a:chExt cx="2121408" cy="548640"/>
          </a:xfrm>
        </p:grpSpPr>
        <p:sp>
          <p:nvSpPr>
            <p:cNvPr name="Freeform 24" id="24"/>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5" id="25"/>
          <p:cNvGrpSpPr/>
          <p:nvPr/>
        </p:nvGrpSpPr>
        <p:grpSpPr>
          <a:xfrm rot="0">
            <a:off x="5461711" y="274320"/>
            <a:ext cx="1591056" cy="411480"/>
            <a:chOff x="0" y="0"/>
            <a:chExt cx="2121408" cy="548640"/>
          </a:xfrm>
        </p:grpSpPr>
        <p:sp>
          <p:nvSpPr>
            <p:cNvPr name="Freeform 26" id="26"/>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7" id="27"/>
          <p:cNvGrpSpPr/>
          <p:nvPr/>
        </p:nvGrpSpPr>
        <p:grpSpPr>
          <a:xfrm rot="0">
            <a:off x="5461711" y="260033"/>
            <a:ext cx="1591056" cy="425768"/>
            <a:chOff x="0" y="0"/>
            <a:chExt cx="2121408" cy="567690"/>
          </a:xfrm>
        </p:grpSpPr>
        <p:sp>
          <p:nvSpPr>
            <p:cNvPr name="Freeform 28" id="28"/>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29" id="29"/>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0" id="30"/>
          <p:cNvGrpSpPr/>
          <p:nvPr/>
        </p:nvGrpSpPr>
        <p:grpSpPr>
          <a:xfrm rot="0">
            <a:off x="7162495" y="274320"/>
            <a:ext cx="2490788" cy="411480"/>
            <a:chOff x="0" y="0"/>
            <a:chExt cx="3321050" cy="548640"/>
          </a:xfrm>
        </p:grpSpPr>
        <p:sp>
          <p:nvSpPr>
            <p:cNvPr name="Freeform 31" id="31"/>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7162495" y="274320"/>
            <a:ext cx="2490826" cy="411480"/>
            <a:chOff x="0" y="0"/>
            <a:chExt cx="3321101" cy="548640"/>
          </a:xfrm>
        </p:grpSpPr>
        <p:sp>
          <p:nvSpPr>
            <p:cNvPr name="Freeform 33" id="33"/>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4" id="34"/>
          <p:cNvGrpSpPr/>
          <p:nvPr/>
        </p:nvGrpSpPr>
        <p:grpSpPr>
          <a:xfrm rot="0">
            <a:off x="7162495" y="260033"/>
            <a:ext cx="2490826" cy="425768"/>
            <a:chOff x="0" y="0"/>
            <a:chExt cx="3321101" cy="567690"/>
          </a:xfrm>
        </p:grpSpPr>
        <p:sp>
          <p:nvSpPr>
            <p:cNvPr name="Freeform 35" id="35"/>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6" id="36"/>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37" id="37"/>
          <p:cNvGrpSpPr/>
          <p:nvPr/>
        </p:nvGrpSpPr>
        <p:grpSpPr>
          <a:xfrm rot="0">
            <a:off x="9763049" y="274320"/>
            <a:ext cx="1366076" cy="411480"/>
            <a:chOff x="0" y="0"/>
            <a:chExt cx="1821434" cy="548640"/>
          </a:xfrm>
        </p:grpSpPr>
        <p:sp>
          <p:nvSpPr>
            <p:cNvPr name="Freeform 38" id="38"/>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9" id="39"/>
          <p:cNvGrpSpPr/>
          <p:nvPr/>
        </p:nvGrpSpPr>
        <p:grpSpPr>
          <a:xfrm rot="0">
            <a:off x="9763049" y="274320"/>
            <a:ext cx="1366114" cy="411480"/>
            <a:chOff x="0" y="0"/>
            <a:chExt cx="1821485" cy="548640"/>
          </a:xfrm>
        </p:grpSpPr>
        <p:sp>
          <p:nvSpPr>
            <p:cNvPr name="Freeform 40" id="40"/>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1" id="41"/>
          <p:cNvGrpSpPr/>
          <p:nvPr/>
        </p:nvGrpSpPr>
        <p:grpSpPr>
          <a:xfrm rot="0">
            <a:off x="9763049" y="260033"/>
            <a:ext cx="1366114" cy="425768"/>
            <a:chOff x="0" y="0"/>
            <a:chExt cx="1821485" cy="567690"/>
          </a:xfrm>
        </p:grpSpPr>
        <p:sp>
          <p:nvSpPr>
            <p:cNvPr name="Freeform 42" id="42"/>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3" id="43"/>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44" id="44"/>
          <p:cNvGrpSpPr/>
          <p:nvPr/>
        </p:nvGrpSpPr>
        <p:grpSpPr>
          <a:xfrm rot="0">
            <a:off x="11238890" y="274320"/>
            <a:ext cx="1253680" cy="411480"/>
            <a:chOff x="0" y="0"/>
            <a:chExt cx="1671574" cy="548640"/>
          </a:xfrm>
        </p:grpSpPr>
        <p:sp>
          <p:nvSpPr>
            <p:cNvPr name="Freeform 45" id="45"/>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6" id="46"/>
          <p:cNvGrpSpPr/>
          <p:nvPr/>
        </p:nvGrpSpPr>
        <p:grpSpPr>
          <a:xfrm rot="0">
            <a:off x="11238890" y="274320"/>
            <a:ext cx="1253642" cy="411480"/>
            <a:chOff x="0" y="0"/>
            <a:chExt cx="1671523" cy="548640"/>
          </a:xfrm>
        </p:grpSpPr>
        <p:sp>
          <p:nvSpPr>
            <p:cNvPr name="Freeform 47" id="47"/>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8" id="48"/>
          <p:cNvGrpSpPr/>
          <p:nvPr/>
        </p:nvGrpSpPr>
        <p:grpSpPr>
          <a:xfrm rot="0">
            <a:off x="11238890" y="260033"/>
            <a:ext cx="1253642" cy="425768"/>
            <a:chOff x="0" y="0"/>
            <a:chExt cx="1671523" cy="567690"/>
          </a:xfrm>
        </p:grpSpPr>
        <p:sp>
          <p:nvSpPr>
            <p:cNvPr name="Freeform 49" id="49"/>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0" id="50"/>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pSp>
        <p:nvGrpSpPr>
          <p:cNvPr name="Group 51" id="51"/>
          <p:cNvGrpSpPr/>
          <p:nvPr/>
        </p:nvGrpSpPr>
        <p:grpSpPr>
          <a:xfrm rot="0">
            <a:off x="822960" y="2400300"/>
            <a:ext cx="2537460" cy="3360420"/>
            <a:chOff x="0" y="0"/>
            <a:chExt cx="3383280" cy="4480560"/>
          </a:xfrm>
        </p:grpSpPr>
        <p:sp>
          <p:nvSpPr>
            <p:cNvPr name="Freeform 52" id="52"/>
            <p:cNvSpPr/>
            <p:nvPr/>
          </p:nvSpPr>
          <p:spPr>
            <a:xfrm flipH="false" flipV="false" rot="0">
              <a:off x="0" y="0"/>
              <a:ext cx="3383280" cy="4480560"/>
            </a:xfrm>
            <a:custGeom>
              <a:avLst/>
              <a:gdLst/>
              <a:ahLst/>
              <a:cxnLst/>
              <a:rect r="r" b="b" t="t" l="l"/>
              <a:pathLst>
                <a:path h="4480560" w="3383280">
                  <a:moveTo>
                    <a:pt x="0" y="182880"/>
                  </a:moveTo>
                  <a:cubicBezTo>
                    <a:pt x="0" y="81915"/>
                    <a:pt x="81915" y="0"/>
                    <a:pt x="182880" y="0"/>
                  </a:cubicBezTo>
                  <a:lnTo>
                    <a:pt x="3200400" y="0"/>
                  </a:lnTo>
                  <a:cubicBezTo>
                    <a:pt x="3301365" y="0"/>
                    <a:pt x="3383280" y="81915"/>
                    <a:pt x="3383280" y="182880"/>
                  </a:cubicBezTo>
                  <a:lnTo>
                    <a:pt x="3383280" y="4297680"/>
                  </a:lnTo>
                  <a:cubicBezTo>
                    <a:pt x="3383280" y="4398645"/>
                    <a:pt x="3301365" y="4480560"/>
                    <a:pt x="3200400" y="4480560"/>
                  </a:cubicBezTo>
                  <a:lnTo>
                    <a:pt x="182880" y="4480560"/>
                  </a:lnTo>
                  <a:cubicBezTo>
                    <a:pt x="81915" y="4480560"/>
                    <a:pt x="0" y="4398645"/>
                    <a:pt x="0" y="4297680"/>
                  </a:cubicBezTo>
                  <a:close/>
                </a:path>
              </a:pathLst>
            </a:custGeom>
            <a:solidFill>
              <a:srgbClr val="FFF1BF"/>
            </a:solidFill>
          </p:spPr>
          <p:txBody>
            <a:bodyPr/>
            <a:p/>
          </p:txBody>
        </p:sp>
      </p:grpSp>
      <p:grpSp>
        <p:nvGrpSpPr>
          <p:cNvPr name="Group 53" id="53"/>
          <p:cNvGrpSpPr/>
          <p:nvPr/>
        </p:nvGrpSpPr>
        <p:grpSpPr>
          <a:xfrm rot="0">
            <a:off x="1776222" y="2647188"/>
            <a:ext cx="630936" cy="630936"/>
            <a:chOff x="0" y="0"/>
            <a:chExt cx="841248" cy="841248"/>
          </a:xfrm>
        </p:grpSpPr>
        <p:sp>
          <p:nvSpPr>
            <p:cNvPr name="Freeform 54" id="54"/>
            <p:cNvSpPr/>
            <p:nvPr/>
          </p:nvSpPr>
          <p:spPr>
            <a:xfrm flipH="false" flipV="false" rot="0">
              <a:off x="0" y="0"/>
              <a:ext cx="841248" cy="841248"/>
            </a:xfrm>
            <a:custGeom>
              <a:avLst/>
              <a:gdLst/>
              <a:ahLst/>
              <a:cxnLst/>
              <a:rect r="r" b="b" t="t" l="l"/>
              <a:pathLst>
                <a:path h="841248" w="841248">
                  <a:moveTo>
                    <a:pt x="0" y="420624"/>
                  </a:moveTo>
                  <a:cubicBezTo>
                    <a:pt x="0" y="188341"/>
                    <a:pt x="188341" y="0"/>
                    <a:pt x="420624" y="0"/>
                  </a:cubicBezTo>
                  <a:cubicBezTo>
                    <a:pt x="652907" y="0"/>
                    <a:pt x="841248" y="188341"/>
                    <a:pt x="841248" y="420624"/>
                  </a:cubicBezTo>
                  <a:cubicBezTo>
                    <a:pt x="841248" y="652907"/>
                    <a:pt x="652907" y="841248"/>
                    <a:pt x="420624" y="841248"/>
                  </a:cubicBezTo>
                  <a:cubicBezTo>
                    <a:pt x="188341" y="841248"/>
                    <a:pt x="0" y="652907"/>
                    <a:pt x="0" y="420624"/>
                  </a:cubicBezTo>
                  <a:close/>
                </a:path>
              </a:pathLst>
            </a:custGeom>
            <a:solidFill>
              <a:srgbClr val="FFD23B"/>
            </a:solidFill>
          </p:spPr>
          <p:txBody>
            <a:bodyPr/>
            <a:p/>
          </p:txBody>
        </p:sp>
      </p:grpSp>
      <p:grpSp>
        <p:nvGrpSpPr>
          <p:cNvPr name="Group 55" id="55"/>
          <p:cNvGrpSpPr/>
          <p:nvPr/>
        </p:nvGrpSpPr>
        <p:grpSpPr>
          <a:xfrm rot="0">
            <a:off x="1776222" y="2647188"/>
            <a:ext cx="630936" cy="630936"/>
            <a:chOff x="0" y="0"/>
            <a:chExt cx="841248" cy="841248"/>
          </a:xfrm>
        </p:grpSpPr>
        <p:sp>
          <p:nvSpPr>
            <p:cNvPr name="Freeform 56" id="56"/>
            <p:cNvSpPr/>
            <p:nvPr/>
          </p:nvSpPr>
          <p:spPr>
            <a:xfrm flipH="false" flipV="false" rot="0">
              <a:off x="0" y="0"/>
              <a:ext cx="841248" cy="841248"/>
            </a:xfrm>
            <a:custGeom>
              <a:avLst/>
              <a:gdLst/>
              <a:ahLst/>
              <a:cxnLst/>
              <a:rect r="r" b="b" t="t" l="l"/>
              <a:pathLst>
                <a:path h="841248" w="841248">
                  <a:moveTo>
                    <a:pt x="0" y="0"/>
                  </a:moveTo>
                  <a:lnTo>
                    <a:pt x="841248" y="0"/>
                  </a:lnTo>
                  <a:lnTo>
                    <a:pt x="841248" y="841248"/>
                  </a:lnTo>
                  <a:lnTo>
                    <a:pt x="0" y="841248"/>
                  </a:lnTo>
                  <a:close/>
                </a:path>
              </a:pathLst>
            </a:custGeom>
            <a:blipFill>
              <a:blip r:embed="rId4">
                <a:alphaModFix amt="0"/>
              </a:blip>
              <a:stretch>
                <a:fillRect l="-78392" t="0" r="-78393" b="0"/>
              </a:stretch>
            </a:blipFill>
          </p:spPr>
          <p:txBody>
            <a:bodyPr/>
            <a:p/>
          </p:txBody>
        </p:sp>
      </p:grpSp>
      <p:grpSp>
        <p:nvGrpSpPr>
          <p:cNvPr name="Group 57" id="57"/>
          <p:cNvGrpSpPr/>
          <p:nvPr/>
        </p:nvGrpSpPr>
        <p:grpSpPr>
          <a:xfrm rot="0">
            <a:off x="1776222" y="2604326"/>
            <a:ext cx="630936" cy="673798"/>
            <a:chOff x="0" y="0"/>
            <a:chExt cx="841248" cy="898398"/>
          </a:xfrm>
        </p:grpSpPr>
        <p:sp>
          <p:nvSpPr>
            <p:cNvPr name="Freeform 58" id="58"/>
            <p:cNvSpPr/>
            <p:nvPr/>
          </p:nvSpPr>
          <p:spPr>
            <a:xfrm flipH="false" flipV="false" rot="0">
              <a:off x="0" y="0"/>
              <a:ext cx="841248" cy="898398"/>
            </a:xfrm>
            <a:custGeom>
              <a:avLst/>
              <a:gdLst/>
              <a:ahLst/>
              <a:cxnLst/>
              <a:rect r="r" b="b" t="t" l="l"/>
              <a:pathLst>
                <a:path h="898398" w="841248">
                  <a:moveTo>
                    <a:pt x="0" y="0"/>
                  </a:moveTo>
                  <a:lnTo>
                    <a:pt x="841248" y="0"/>
                  </a:lnTo>
                  <a:lnTo>
                    <a:pt x="841248" y="898398"/>
                  </a:lnTo>
                  <a:lnTo>
                    <a:pt x="0" y="898398"/>
                  </a:lnTo>
                  <a:close/>
                </a:path>
              </a:pathLst>
            </a:custGeom>
            <a:blipFill>
              <a:blip r:embed="rId5">
                <a:alphaModFix amt="0"/>
              </a:blip>
              <a:stretch>
                <a:fillRect l="-87019" t="0" r="-87019" b="0"/>
              </a:stretch>
            </a:blipFill>
          </p:spPr>
          <p:txBody>
            <a:bodyPr/>
            <a:p/>
          </p:txBody>
        </p:sp>
        <p:sp>
          <p:nvSpPr>
            <p:cNvPr name="TextBox 59" id="59"/>
            <p:cNvSpPr txBox="true"/>
            <p:nvPr/>
          </p:nvSpPr>
          <p:spPr>
            <a:xfrm>
              <a:off x="0" y="-57150"/>
              <a:ext cx="841248" cy="955548"/>
            </a:xfrm>
            <a:prstGeom prst="rect">
              <a:avLst/>
            </a:prstGeom>
          </p:spPr>
          <p:txBody>
            <a:bodyPr anchor="ctr" rtlCol="false" tIns="0" lIns="0" bIns="0" rIns="0"/>
            <a:lstStyle/>
            <a:p>
              <a:pPr algn="ctr">
                <a:lnSpc>
                  <a:spcPts val="2700"/>
                </a:lnSpc>
              </a:pPr>
              <a:r>
                <a:rPr lang="en-US" sz="2250" b="true">
                  <a:solidFill>
                    <a:srgbClr val="14313B"/>
                  </a:solidFill>
                  <a:latin typeface="Calibri (MS) Bold"/>
                  <a:ea typeface="Calibri (MS) Bold"/>
                  <a:cs typeface="Calibri (MS) Bold"/>
                  <a:sym typeface="Calibri (MS) Bold"/>
                </a:rPr>
                <a:t>1</a:t>
              </a:r>
            </a:p>
          </p:txBody>
        </p:sp>
      </p:grpSp>
      <p:sp>
        <p:nvSpPr>
          <p:cNvPr name="TextBox 60" id="60"/>
          <p:cNvSpPr txBox="true"/>
          <p:nvPr/>
        </p:nvSpPr>
        <p:spPr>
          <a:xfrm rot="0">
            <a:off x="1069848" y="3352800"/>
            <a:ext cx="2057400" cy="647700"/>
          </a:xfrm>
          <a:prstGeom prst="rect">
            <a:avLst/>
          </a:prstGeom>
        </p:spPr>
        <p:txBody>
          <a:bodyPr anchor="t" rtlCol="false" tIns="0" lIns="0" bIns="0" rIns="0">
            <a:spAutoFit/>
          </a:bodyPr>
          <a:lstStyle/>
          <a:p>
            <a:pPr algn="ctr">
              <a:lnSpc>
                <a:spcPts val="2430"/>
              </a:lnSpc>
            </a:pPr>
            <a:r>
              <a:rPr lang="en-US" sz="2025" b="true">
                <a:solidFill>
                  <a:srgbClr val="0B5E6E"/>
                </a:solidFill>
                <a:latin typeface="Calibri (MS) Bold"/>
                <a:ea typeface="Calibri (MS) Bold"/>
                <a:cs typeface="Calibri (MS) Bold"/>
                <a:sym typeface="Calibri (MS) Bold"/>
              </a:rPr>
              <a:t>Pengumpulan &amp; preprocessing data</a:t>
            </a:r>
          </a:p>
        </p:txBody>
      </p:sp>
      <p:sp>
        <p:nvSpPr>
          <p:cNvPr name="TextBox 61" id="61"/>
          <p:cNvSpPr txBox="true"/>
          <p:nvPr/>
        </p:nvSpPr>
        <p:spPr>
          <a:xfrm rot="0">
            <a:off x="1069848" y="4655820"/>
            <a:ext cx="2057400" cy="266700"/>
          </a:xfrm>
          <a:prstGeom prst="rect">
            <a:avLst/>
          </a:prstGeom>
        </p:spPr>
        <p:txBody>
          <a:bodyPr anchor="t" rtlCol="false" tIns="0" lIns="0" bIns="0" rIns="0">
            <a:spAutoFit/>
          </a:bodyPr>
          <a:lstStyle/>
          <a:p>
            <a:pPr algn="ctr">
              <a:lnSpc>
                <a:spcPts val="1800"/>
              </a:lnSpc>
            </a:pPr>
            <a:r>
              <a:rPr lang="en-US" sz="1500">
                <a:solidFill>
                  <a:srgbClr val="14313B"/>
                </a:solidFill>
                <a:latin typeface="Calibri (MS)"/>
                <a:ea typeface="Calibri (MS)"/>
                <a:cs typeface="Calibri (MS)"/>
                <a:sym typeface="Calibri (MS)"/>
              </a:rPr>
              <a:t> Master Data 2015–2025</a:t>
            </a:r>
          </a:p>
        </p:txBody>
      </p:sp>
      <p:grpSp>
        <p:nvGrpSpPr>
          <p:cNvPr name="Group 62" id="62"/>
          <p:cNvGrpSpPr/>
          <p:nvPr/>
        </p:nvGrpSpPr>
        <p:grpSpPr>
          <a:xfrm rot="0">
            <a:off x="3642970" y="2400300"/>
            <a:ext cx="2537460" cy="3360420"/>
            <a:chOff x="0" y="0"/>
            <a:chExt cx="3383280" cy="4480560"/>
          </a:xfrm>
        </p:grpSpPr>
        <p:sp>
          <p:nvSpPr>
            <p:cNvPr name="Freeform 63" id="63"/>
            <p:cNvSpPr/>
            <p:nvPr/>
          </p:nvSpPr>
          <p:spPr>
            <a:xfrm flipH="false" flipV="false" rot="0">
              <a:off x="0" y="0"/>
              <a:ext cx="3383280" cy="4480560"/>
            </a:xfrm>
            <a:custGeom>
              <a:avLst/>
              <a:gdLst/>
              <a:ahLst/>
              <a:cxnLst/>
              <a:rect r="r" b="b" t="t" l="l"/>
              <a:pathLst>
                <a:path h="4480560" w="3383280">
                  <a:moveTo>
                    <a:pt x="0" y="182880"/>
                  </a:moveTo>
                  <a:cubicBezTo>
                    <a:pt x="0" y="81915"/>
                    <a:pt x="81915" y="0"/>
                    <a:pt x="182880" y="0"/>
                  </a:cubicBezTo>
                  <a:lnTo>
                    <a:pt x="3200400" y="0"/>
                  </a:lnTo>
                  <a:cubicBezTo>
                    <a:pt x="3301365" y="0"/>
                    <a:pt x="3383280" y="81915"/>
                    <a:pt x="3383280" y="182880"/>
                  </a:cubicBezTo>
                  <a:lnTo>
                    <a:pt x="3383280" y="4297680"/>
                  </a:lnTo>
                  <a:cubicBezTo>
                    <a:pt x="3383280" y="4398645"/>
                    <a:pt x="3301365" y="4480560"/>
                    <a:pt x="3200400" y="4480560"/>
                  </a:cubicBezTo>
                  <a:lnTo>
                    <a:pt x="182880" y="4480560"/>
                  </a:lnTo>
                  <a:cubicBezTo>
                    <a:pt x="81915" y="4480560"/>
                    <a:pt x="0" y="4398645"/>
                    <a:pt x="0" y="4297680"/>
                  </a:cubicBezTo>
                  <a:close/>
                </a:path>
              </a:pathLst>
            </a:custGeom>
            <a:solidFill>
              <a:srgbClr val="EAF8FA"/>
            </a:solidFill>
          </p:spPr>
          <p:txBody>
            <a:bodyPr/>
            <a:p/>
          </p:txBody>
        </p:sp>
      </p:grpSp>
      <p:grpSp>
        <p:nvGrpSpPr>
          <p:cNvPr name="Group 64" id="64"/>
          <p:cNvGrpSpPr/>
          <p:nvPr/>
        </p:nvGrpSpPr>
        <p:grpSpPr>
          <a:xfrm rot="0">
            <a:off x="4596232" y="2647188"/>
            <a:ext cx="630936" cy="630936"/>
            <a:chOff x="0" y="0"/>
            <a:chExt cx="841248" cy="841248"/>
          </a:xfrm>
        </p:grpSpPr>
        <p:sp>
          <p:nvSpPr>
            <p:cNvPr name="Freeform 65" id="65"/>
            <p:cNvSpPr/>
            <p:nvPr/>
          </p:nvSpPr>
          <p:spPr>
            <a:xfrm flipH="false" flipV="false" rot="0">
              <a:off x="0" y="0"/>
              <a:ext cx="841248" cy="841248"/>
            </a:xfrm>
            <a:custGeom>
              <a:avLst/>
              <a:gdLst/>
              <a:ahLst/>
              <a:cxnLst/>
              <a:rect r="r" b="b" t="t" l="l"/>
              <a:pathLst>
                <a:path h="841248" w="841248">
                  <a:moveTo>
                    <a:pt x="0" y="420624"/>
                  </a:moveTo>
                  <a:cubicBezTo>
                    <a:pt x="0" y="188341"/>
                    <a:pt x="188341" y="0"/>
                    <a:pt x="420624" y="0"/>
                  </a:cubicBezTo>
                  <a:cubicBezTo>
                    <a:pt x="652907" y="0"/>
                    <a:pt x="841248" y="188341"/>
                    <a:pt x="841248" y="420624"/>
                  </a:cubicBezTo>
                  <a:cubicBezTo>
                    <a:pt x="841248" y="652907"/>
                    <a:pt x="652907" y="841248"/>
                    <a:pt x="420624" y="841248"/>
                  </a:cubicBezTo>
                  <a:cubicBezTo>
                    <a:pt x="188341" y="841248"/>
                    <a:pt x="0" y="652907"/>
                    <a:pt x="0" y="420624"/>
                  </a:cubicBezTo>
                  <a:close/>
                </a:path>
              </a:pathLst>
            </a:custGeom>
            <a:solidFill>
              <a:srgbClr val="39C0D3"/>
            </a:solidFill>
          </p:spPr>
          <p:txBody>
            <a:bodyPr/>
            <a:p/>
          </p:txBody>
        </p:sp>
      </p:grpSp>
      <p:grpSp>
        <p:nvGrpSpPr>
          <p:cNvPr name="Group 66" id="66"/>
          <p:cNvGrpSpPr/>
          <p:nvPr/>
        </p:nvGrpSpPr>
        <p:grpSpPr>
          <a:xfrm rot="0">
            <a:off x="4596232" y="2647188"/>
            <a:ext cx="630936" cy="630936"/>
            <a:chOff x="0" y="0"/>
            <a:chExt cx="841248" cy="841248"/>
          </a:xfrm>
        </p:grpSpPr>
        <p:sp>
          <p:nvSpPr>
            <p:cNvPr name="Freeform 67" id="67"/>
            <p:cNvSpPr/>
            <p:nvPr/>
          </p:nvSpPr>
          <p:spPr>
            <a:xfrm flipH="false" flipV="false" rot="0">
              <a:off x="0" y="0"/>
              <a:ext cx="841248" cy="841248"/>
            </a:xfrm>
            <a:custGeom>
              <a:avLst/>
              <a:gdLst/>
              <a:ahLst/>
              <a:cxnLst/>
              <a:rect r="r" b="b" t="t" l="l"/>
              <a:pathLst>
                <a:path h="841248" w="841248">
                  <a:moveTo>
                    <a:pt x="0" y="0"/>
                  </a:moveTo>
                  <a:lnTo>
                    <a:pt x="841248" y="0"/>
                  </a:lnTo>
                  <a:lnTo>
                    <a:pt x="841248" y="841248"/>
                  </a:lnTo>
                  <a:lnTo>
                    <a:pt x="0" y="841248"/>
                  </a:lnTo>
                  <a:close/>
                </a:path>
              </a:pathLst>
            </a:custGeom>
            <a:blipFill>
              <a:blip r:embed="rId4">
                <a:alphaModFix amt="0"/>
              </a:blip>
              <a:stretch>
                <a:fillRect l="-78392" t="0" r="-78393" b="0"/>
              </a:stretch>
            </a:blipFill>
          </p:spPr>
          <p:txBody>
            <a:bodyPr/>
            <a:p/>
          </p:txBody>
        </p:sp>
      </p:grpSp>
      <p:grpSp>
        <p:nvGrpSpPr>
          <p:cNvPr name="Group 68" id="68"/>
          <p:cNvGrpSpPr/>
          <p:nvPr/>
        </p:nvGrpSpPr>
        <p:grpSpPr>
          <a:xfrm rot="0">
            <a:off x="4596232" y="2604326"/>
            <a:ext cx="630936" cy="673798"/>
            <a:chOff x="0" y="0"/>
            <a:chExt cx="841248" cy="898398"/>
          </a:xfrm>
        </p:grpSpPr>
        <p:sp>
          <p:nvSpPr>
            <p:cNvPr name="Freeform 69" id="69"/>
            <p:cNvSpPr/>
            <p:nvPr/>
          </p:nvSpPr>
          <p:spPr>
            <a:xfrm flipH="false" flipV="false" rot="0">
              <a:off x="0" y="0"/>
              <a:ext cx="841248" cy="898398"/>
            </a:xfrm>
            <a:custGeom>
              <a:avLst/>
              <a:gdLst/>
              <a:ahLst/>
              <a:cxnLst/>
              <a:rect r="r" b="b" t="t" l="l"/>
              <a:pathLst>
                <a:path h="898398" w="841248">
                  <a:moveTo>
                    <a:pt x="0" y="0"/>
                  </a:moveTo>
                  <a:lnTo>
                    <a:pt x="841248" y="0"/>
                  </a:lnTo>
                  <a:lnTo>
                    <a:pt x="841248" y="898398"/>
                  </a:lnTo>
                  <a:lnTo>
                    <a:pt x="0" y="898398"/>
                  </a:lnTo>
                  <a:close/>
                </a:path>
              </a:pathLst>
            </a:custGeom>
            <a:blipFill>
              <a:blip r:embed="rId5">
                <a:alphaModFix amt="0"/>
              </a:blip>
              <a:stretch>
                <a:fillRect l="-87019" t="0" r="-87019" b="0"/>
              </a:stretch>
            </a:blipFill>
          </p:spPr>
          <p:txBody>
            <a:bodyPr/>
            <a:p/>
          </p:txBody>
        </p:sp>
        <p:sp>
          <p:nvSpPr>
            <p:cNvPr name="TextBox 70" id="70"/>
            <p:cNvSpPr txBox="true"/>
            <p:nvPr/>
          </p:nvSpPr>
          <p:spPr>
            <a:xfrm>
              <a:off x="0" y="-57150"/>
              <a:ext cx="841248" cy="955548"/>
            </a:xfrm>
            <a:prstGeom prst="rect">
              <a:avLst/>
            </a:prstGeom>
          </p:spPr>
          <p:txBody>
            <a:bodyPr anchor="ctr" rtlCol="false" tIns="0" lIns="0" bIns="0" rIns="0"/>
            <a:lstStyle/>
            <a:p>
              <a:pPr algn="ctr">
                <a:lnSpc>
                  <a:spcPts val="2700"/>
                </a:lnSpc>
              </a:pPr>
              <a:r>
                <a:rPr lang="en-US" sz="2250" b="true">
                  <a:solidFill>
                    <a:srgbClr val="FFFFFF"/>
                  </a:solidFill>
                  <a:latin typeface="Calibri (MS) Bold"/>
                  <a:ea typeface="Calibri (MS) Bold"/>
                  <a:cs typeface="Calibri (MS) Bold"/>
                  <a:sym typeface="Calibri (MS) Bold"/>
                </a:rPr>
                <a:t>2</a:t>
              </a:r>
            </a:p>
          </p:txBody>
        </p:sp>
      </p:grpSp>
      <p:sp>
        <p:nvSpPr>
          <p:cNvPr name="TextBox 71" id="71"/>
          <p:cNvSpPr txBox="true"/>
          <p:nvPr/>
        </p:nvSpPr>
        <p:spPr>
          <a:xfrm rot="0">
            <a:off x="3889858" y="3352800"/>
            <a:ext cx="2057400" cy="990600"/>
          </a:xfrm>
          <a:prstGeom prst="rect">
            <a:avLst/>
          </a:prstGeom>
        </p:spPr>
        <p:txBody>
          <a:bodyPr anchor="t" rtlCol="false" tIns="0" lIns="0" bIns="0" rIns="0">
            <a:spAutoFit/>
          </a:bodyPr>
          <a:lstStyle/>
          <a:p>
            <a:pPr algn="ctr">
              <a:lnSpc>
                <a:spcPts val="2430"/>
              </a:lnSpc>
            </a:pPr>
            <a:r>
              <a:rPr lang="en-US" sz="2025" b="true">
                <a:solidFill>
                  <a:srgbClr val="0B5E6E"/>
                </a:solidFill>
                <a:latin typeface="Calibri (MS) Bold"/>
                <a:ea typeface="Calibri (MS) Bold"/>
                <a:cs typeface="Calibri (MS) Bold"/>
                <a:sym typeface="Calibri (MS) Bold"/>
              </a:rPr>
              <a:t>Artikulasi masalah &amp; hipotesis dinamis</a:t>
            </a:r>
          </a:p>
        </p:txBody>
      </p:sp>
      <p:sp>
        <p:nvSpPr>
          <p:cNvPr name="TextBox 72" id="72"/>
          <p:cNvSpPr txBox="true"/>
          <p:nvPr/>
        </p:nvSpPr>
        <p:spPr>
          <a:xfrm rot="0">
            <a:off x="3889858" y="4655820"/>
            <a:ext cx="2057400" cy="333375"/>
          </a:xfrm>
          <a:prstGeom prst="rect">
            <a:avLst/>
          </a:prstGeom>
        </p:spPr>
        <p:txBody>
          <a:bodyPr anchor="t" rtlCol="false" tIns="0" lIns="0" bIns="0" rIns="0">
            <a:spAutoFit/>
          </a:bodyPr>
          <a:lstStyle/>
          <a:p>
            <a:pPr algn="ctr">
              <a:lnSpc>
                <a:spcPts val="2070"/>
              </a:lnSpc>
            </a:pPr>
            <a:r>
              <a:rPr lang="en-US" sz="1725">
                <a:solidFill>
                  <a:srgbClr val="14313B"/>
                </a:solidFill>
                <a:latin typeface="Calibri (MS)"/>
                <a:ea typeface="Calibri (MS)"/>
                <a:cs typeface="Calibri (MS)"/>
                <a:sym typeface="Calibri (MS)"/>
              </a:rPr>
              <a:t>CLD dengan 6 loop</a:t>
            </a:r>
          </a:p>
        </p:txBody>
      </p:sp>
      <p:grpSp>
        <p:nvGrpSpPr>
          <p:cNvPr name="Group 73" id="73"/>
          <p:cNvGrpSpPr/>
          <p:nvPr/>
        </p:nvGrpSpPr>
        <p:grpSpPr>
          <a:xfrm rot="0">
            <a:off x="6462979" y="2400300"/>
            <a:ext cx="2537460" cy="3360420"/>
            <a:chOff x="0" y="0"/>
            <a:chExt cx="3383280" cy="4480560"/>
          </a:xfrm>
        </p:grpSpPr>
        <p:sp>
          <p:nvSpPr>
            <p:cNvPr name="Freeform 74" id="74"/>
            <p:cNvSpPr/>
            <p:nvPr/>
          </p:nvSpPr>
          <p:spPr>
            <a:xfrm flipH="false" flipV="false" rot="0">
              <a:off x="0" y="0"/>
              <a:ext cx="3383280" cy="4480560"/>
            </a:xfrm>
            <a:custGeom>
              <a:avLst/>
              <a:gdLst/>
              <a:ahLst/>
              <a:cxnLst/>
              <a:rect r="r" b="b" t="t" l="l"/>
              <a:pathLst>
                <a:path h="4480560" w="3383280">
                  <a:moveTo>
                    <a:pt x="0" y="182880"/>
                  </a:moveTo>
                  <a:cubicBezTo>
                    <a:pt x="0" y="81915"/>
                    <a:pt x="81915" y="0"/>
                    <a:pt x="182880" y="0"/>
                  </a:cubicBezTo>
                  <a:lnTo>
                    <a:pt x="3200400" y="0"/>
                  </a:lnTo>
                  <a:cubicBezTo>
                    <a:pt x="3301365" y="0"/>
                    <a:pt x="3383280" y="81915"/>
                    <a:pt x="3383280" y="182880"/>
                  </a:cubicBezTo>
                  <a:lnTo>
                    <a:pt x="3383280" y="4297680"/>
                  </a:lnTo>
                  <a:cubicBezTo>
                    <a:pt x="3383280" y="4398645"/>
                    <a:pt x="3301365" y="4480560"/>
                    <a:pt x="3200400" y="4480560"/>
                  </a:cubicBezTo>
                  <a:lnTo>
                    <a:pt x="182880" y="4480560"/>
                  </a:lnTo>
                  <a:cubicBezTo>
                    <a:pt x="81915" y="4480560"/>
                    <a:pt x="0" y="4398645"/>
                    <a:pt x="0" y="4297680"/>
                  </a:cubicBezTo>
                  <a:close/>
                </a:path>
              </a:pathLst>
            </a:custGeom>
            <a:solidFill>
              <a:srgbClr val="EAF8FA"/>
            </a:solidFill>
          </p:spPr>
          <p:txBody>
            <a:bodyPr/>
            <a:p/>
          </p:txBody>
        </p:sp>
      </p:grpSp>
      <p:grpSp>
        <p:nvGrpSpPr>
          <p:cNvPr name="Group 75" id="75"/>
          <p:cNvGrpSpPr/>
          <p:nvPr/>
        </p:nvGrpSpPr>
        <p:grpSpPr>
          <a:xfrm rot="0">
            <a:off x="7416241" y="2647188"/>
            <a:ext cx="630936" cy="630936"/>
            <a:chOff x="0" y="0"/>
            <a:chExt cx="841248" cy="841248"/>
          </a:xfrm>
        </p:grpSpPr>
        <p:sp>
          <p:nvSpPr>
            <p:cNvPr name="Freeform 76" id="76"/>
            <p:cNvSpPr/>
            <p:nvPr/>
          </p:nvSpPr>
          <p:spPr>
            <a:xfrm flipH="false" flipV="false" rot="0">
              <a:off x="0" y="0"/>
              <a:ext cx="841248" cy="841248"/>
            </a:xfrm>
            <a:custGeom>
              <a:avLst/>
              <a:gdLst/>
              <a:ahLst/>
              <a:cxnLst/>
              <a:rect r="r" b="b" t="t" l="l"/>
              <a:pathLst>
                <a:path h="841248" w="841248">
                  <a:moveTo>
                    <a:pt x="0" y="420624"/>
                  </a:moveTo>
                  <a:cubicBezTo>
                    <a:pt x="0" y="188341"/>
                    <a:pt x="188341" y="0"/>
                    <a:pt x="420624" y="0"/>
                  </a:cubicBezTo>
                  <a:cubicBezTo>
                    <a:pt x="652907" y="0"/>
                    <a:pt x="841248" y="188341"/>
                    <a:pt x="841248" y="420624"/>
                  </a:cubicBezTo>
                  <a:cubicBezTo>
                    <a:pt x="841248" y="652907"/>
                    <a:pt x="652907" y="841248"/>
                    <a:pt x="420624" y="841248"/>
                  </a:cubicBezTo>
                  <a:cubicBezTo>
                    <a:pt x="188341" y="841248"/>
                    <a:pt x="0" y="652907"/>
                    <a:pt x="0" y="420624"/>
                  </a:cubicBezTo>
                  <a:close/>
                </a:path>
              </a:pathLst>
            </a:custGeom>
            <a:solidFill>
              <a:srgbClr val="39C0D3"/>
            </a:solidFill>
          </p:spPr>
          <p:txBody>
            <a:bodyPr/>
            <a:p/>
          </p:txBody>
        </p:sp>
      </p:grpSp>
      <p:grpSp>
        <p:nvGrpSpPr>
          <p:cNvPr name="Group 77" id="77"/>
          <p:cNvGrpSpPr/>
          <p:nvPr/>
        </p:nvGrpSpPr>
        <p:grpSpPr>
          <a:xfrm rot="0">
            <a:off x="7416241" y="2647188"/>
            <a:ext cx="630936" cy="630936"/>
            <a:chOff x="0" y="0"/>
            <a:chExt cx="841248" cy="841248"/>
          </a:xfrm>
        </p:grpSpPr>
        <p:sp>
          <p:nvSpPr>
            <p:cNvPr name="Freeform 78" id="78"/>
            <p:cNvSpPr/>
            <p:nvPr/>
          </p:nvSpPr>
          <p:spPr>
            <a:xfrm flipH="false" flipV="false" rot="0">
              <a:off x="0" y="0"/>
              <a:ext cx="841248" cy="841248"/>
            </a:xfrm>
            <a:custGeom>
              <a:avLst/>
              <a:gdLst/>
              <a:ahLst/>
              <a:cxnLst/>
              <a:rect r="r" b="b" t="t" l="l"/>
              <a:pathLst>
                <a:path h="841248" w="841248">
                  <a:moveTo>
                    <a:pt x="0" y="0"/>
                  </a:moveTo>
                  <a:lnTo>
                    <a:pt x="841248" y="0"/>
                  </a:lnTo>
                  <a:lnTo>
                    <a:pt x="841248" y="841248"/>
                  </a:lnTo>
                  <a:lnTo>
                    <a:pt x="0" y="841248"/>
                  </a:lnTo>
                  <a:close/>
                </a:path>
              </a:pathLst>
            </a:custGeom>
            <a:blipFill>
              <a:blip r:embed="rId4">
                <a:alphaModFix amt="0"/>
              </a:blip>
              <a:stretch>
                <a:fillRect l="-78392" t="0" r="-78393" b="0"/>
              </a:stretch>
            </a:blipFill>
          </p:spPr>
          <p:txBody>
            <a:bodyPr/>
            <a:p/>
          </p:txBody>
        </p:sp>
      </p:grpSp>
      <p:grpSp>
        <p:nvGrpSpPr>
          <p:cNvPr name="Group 79" id="79"/>
          <p:cNvGrpSpPr/>
          <p:nvPr/>
        </p:nvGrpSpPr>
        <p:grpSpPr>
          <a:xfrm rot="0">
            <a:off x="7416241" y="2604326"/>
            <a:ext cx="630936" cy="673798"/>
            <a:chOff x="0" y="0"/>
            <a:chExt cx="841248" cy="898398"/>
          </a:xfrm>
        </p:grpSpPr>
        <p:sp>
          <p:nvSpPr>
            <p:cNvPr name="Freeform 80" id="80"/>
            <p:cNvSpPr/>
            <p:nvPr/>
          </p:nvSpPr>
          <p:spPr>
            <a:xfrm flipH="false" flipV="false" rot="0">
              <a:off x="0" y="0"/>
              <a:ext cx="841248" cy="898398"/>
            </a:xfrm>
            <a:custGeom>
              <a:avLst/>
              <a:gdLst/>
              <a:ahLst/>
              <a:cxnLst/>
              <a:rect r="r" b="b" t="t" l="l"/>
              <a:pathLst>
                <a:path h="898398" w="841248">
                  <a:moveTo>
                    <a:pt x="0" y="0"/>
                  </a:moveTo>
                  <a:lnTo>
                    <a:pt x="841248" y="0"/>
                  </a:lnTo>
                  <a:lnTo>
                    <a:pt x="841248" y="898398"/>
                  </a:lnTo>
                  <a:lnTo>
                    <a:pt x="0" y="898398"/>
                  </a:lnTo>
                  <a:close/>
                </a:path>
              </a:pathLst>
            </a:custGeom>
            <a:blipFill>
              <a:blip r:embed="rId5">
                <a:alphaModFix amt="0"/>
              </a:blip>
              <a:stretch>
                <a:fillRect l="-87019" t="0" r="-87019" b="0"/>
              </a:stretch>
            </a:blipFill>
          </p:spPr>
          <p:txBody>
            <a:bodyPr/>
            <a:p/>
          </p:txBody>
        </p:sp>
        <p:sp>
          <p:nvSpPr>
            <p:cNvPr name="TextBox 81" id="81"/>
            <p:cNvSpPr txBox="true"/>
            <p:nvPr/>
          </p:nvSpPr>
          <p:spPr>
            <a:xfrm>
              <a:off x="0" y="-57150"/>
              <a:ext cx="841248" cy="955548"/>
            </a:xfrm>
            <a:prstGeom prst="rect">
              <a:avLst/>
            </a:prstGeom>
          </p:spPr>
          <p:txBody>
            <a:bodyPr anchor="ctr" rtlCol="false" tIns="0" lIns="0" bIns="0" rIns="0"/>
            <a:lstStyle/>
            <a:p>
              <a:pPr algn="ctr">
                <a:lnSpc>
                  <a:spcPts val="2700"/>
                </a:lnSpc>
              </a:pPr>
              <a:r>
                <a:rPr lang="en-US" sz="2250" b="true">
                  <a:solidFill>
                    <a:srgbClr val="FFFFFF"/>
                  </a:solidFill>
                  <a:latin typeface="Calibri (MS) Bold"/>
                  <a:ea typeface="Calibri (MS) Bold"/>
                  <a:cs typeface="Calibri (MS) Bold"/>
                  <a:sym typeface="Calibri (MS) Bold"/>
                </a:rPr>
                <a:t>3</a:t>
              </a:r>
            </a:p>
          </p:txBody>
        </p:sp>
      </p:grpSp>
      <p:sp>
        <p:nvSpPr>
          <p:cNvPr name="TextBox 82" id="82"/>
          <p:cNvSpPr txBox="true"/>
          <p:nvPr/>
        </p:nvSpPr>
        <p:spPr>
          <a:xfrm rot="0">
            <a:off x="6709867" y="3352800"/>
            <a:ext cx="2057400" cy="685800"/>
          </a:xfrm>
          <a:prstGeom prst="rect">
            <a:avLst/>
          </a:prstGeom>
        </p:spPr>
        <p:txBody>
          <a:bodyPr anchor="t" rtlCol="false" tIns="0" lIns="0" bIns="0" rIns="0">
            <a:spAutoFit/>
          </a:bodyPr>
          <a:lstStyle/>
          <a:p>
            <a:pPr algn="ctr">
              <a:lnSpc>
                <a:spcPts val="2430"/>
              </a:lnSpc>
            </a:pPr>
            <a:r>
              <a:rPr lang="en-US" sz="2025" b="true">
                <a:solidFill>
                  <a:srgbClr val="0B5E6E"/>
                </a:solidFill>
                <a:latin typeface="Calibri (MS) Bold"/>
                <a:ea typeface="Calibri (MS) Bold"/>
                <a:cs typeface="Calibri (MS) Bold"/>
                <a:sym typeface="Calibri (MS) Bold"/>
              </a:rPr>
              <a:t>Formulasi model simulasi</a:t>
            </a:r>
          </a:p>
        </p:txBody>
      </p:sp>
      <p:sp>
        <p:nvSpPr>
          <p:cNvPr name="TextBox 83" id="83"/>
          <p:cNvSpPr txBox="true"/>
          <p:nvPr/>
        </p:nvSpPr>
        <p:spPr>
          <a:xfrm rot="0">
            <a:off x="6709867" y="4655820"/>
            <a:ext cx="2057400" cy="552450"/>
          </a:xfrm>
          <a:prstGeom prst="rect">
            <a:avLst/>
          </a:prstGeom>
        </p:spPr>
        <p:txBody>
          <a:bodyPr anchor="t" rtlCol="false" tIns="0" lIns="0" bIns="0" rIns="0">
            <a:spAutoFit/>
          </a:bodyPr>
          <a:lstStyle/>
          <a:p>
            <a:pPr algn="ctr">
              <a:lnSpc>
                <a:spcPts val="2070"/>
              </a:lnSpc>
            </a:pPr>
            <a:r>
              <a:rPr lang="en-US" sz="1725" i="true">
                <a:solidFill>
                  <a:srgbClr val="14313B"/>
                </a:solidFill>
                <a:latin typeface="Calibri (MS) Italics"/>
                <a:ea typeface="Calibri (MS) Italics"/>
                <a:cs typeface="Calibri (MS) Italics"/>
                <a:sym typeface="Calibri (MS) Italics"/>
              </a:rPr>
              <a:t>Stock and Flow Diagram</a:t>
            </a:r>
          </a:p>
        </p:txBody>
      </p:sp>
      <p:grpSp>
        <p:nvGrpSpPr>
          <p:cNvPr name="Group 84" id="84"/>
          <p:cNvGrpSpPr/>
          <p:nvPr/>
        </p:nvGrpSpPr>
        <p:grpSpPr>
          <a:xfrm rot="0">
            <a:off x="9282989" y="2400300"/>
            <a:ext cx="2537460" cy="3360420"/>
            <a:chOff x="0" y="0"/>
            <a:chExt cx="3383280" cy="4480560"/>
          </a:xfrm>
        </p:grpSpPr>
        <p:sp>
          <p:nvSpPr>
            <p:cNvPr name="Freeform 85" id="85"/>
            <p:cNvSpPr/>
            <p:nvPr/>
          </p:nvSpPr>
          <p:spPr>
            <a:xfrm flipH="false" flipV="false" rot="0">
              <a:off x="0" y="0"/>
              <a:ext cx="3383280" cy="4480560"/>
            </a:xfrm>
            <a:custGeom>
              <a:avLst/>
              <a:gdLst/>
              <a:ahLst/>
              <a:cxnLst/>
              <a:rect r="r" b="b" t="t" l="l"/>
              <a:pathLst>
                <a:path h="4480560" w="3383280">
                  <a:moveTo>
                    <a:pt x="0" y="182880"/>
                  </a:moveTo>
                  <a:cubicBezTo>
                    <a:pt x="0" y="81915"/>
                    <a:pt x="81915" y="0"/>
                    <a:pt x="182880" y="0"/>
                  </a:cubicBezTo>
                  <a:lnTo>
                    <a:pt x="3200400" y="0"/>
                  </a:lnTo>
                  <a:cubicBezTo>
                    <a:pt x="3301365" y="0"/>
                    <a:pt x="3383280" y="81915"/>
                    <a:pt x="3383280" y="182880"/>
                  </a:cubicBezTo>
                  <a:lnTo>
                    <a:pt x="3383280" y="4297680"/>
                  </a:lnTo>
                  <a:cubicBezTo>
                    <a:pt x="3383280" y="4398645"/>
                    <a:pt x="3301365" y="4480560"/>
                    <a:pt x="3200400" y="4480560"/>
                  </a:cubicBezTo>
                  <a:lnTo>
                    <a:pt x="182880" y="4480560"/>
                  </a:lnTo>
                  <a:cubicBezTo>
                    <a:pt x="81915" y="4480560"/>
                    <a:pt x="0" y="4398645"/>
                    <a:pt x="0" y="4297680"/>
                  </a:cubicBezTo>
                  <a:close/>
                </a:path>
              </a:pathLst>
            </a:custGeom>
            <a:solidFill>
              <a:srgbClr val="EAF8FA"/>
            </a:solidFill>
          </p:spPr>
          <p:txBody>
            <a:bodyPr/>
            <a:p/>
          </p:txBody>
        </p:sp>
      </p:grpSp>
      <p:grpSp>
        <p:nvGrpSpPr>
          <p:cNvPr name="Group 86" id="86"/>
          <p:cNvGrpSpPr/>
          <p:nvPr/>
        </p:nvGrpSpPr>
        <p:grpSpPr>
          <a:xfrm rot="0">
            <a:off x="10122408" y="2647188"/>
            <a:ext cx="630936" cy="630936"/>
            <a:chOff x="0" y="0"/>
            <a:chExt cx="841248" cy="841248"/>
          </a:xfrm>
        </p:grpSpPr>
        <p:sp>
          <p:nvSpPr>
            <p:cNvPr name="Freeform 87" id="87"/>
            <p:cNvSpPr/>
            <p:nvPr/>
          </p:nvSpPr>
          <p:spPr>
            <a:xfrm flipH="false" flipV="false" rot="0">
              <a:off x="0" y="0"/>
              <a:ext cx="841248" cy="841248"/>
            </a:xfrm>
            <a:custGeom>
              <a:avLst/>
              <a:gdLst/>
              <a:ahLst/>
              <a:cxnLst/>
              <a:rect r="r" b="b" t="t" l="l"/>
              <a:pathLst>
                <a:path h="841248" w="841248">
                  <a:moveTo>
                    <a:pt x="0" y="420624"/>
                  </a:moveTo>
                  <a:cubicBezTo>
                    <a:pt x="0" y="188341"/>
                    <a:pt x="188341" y="0"/>
                    <a:pt x="420624" y="0"/>
                  </a:cubicBezTo>
                  <a:cubicBezTo>
                    <a:pt x="652907" y="0"/>
                    <a:pt x="841248" y="188341"/>
                    <a:pt x="841248" y="420624"/>
                  </a:cubicBezTo>
                  <a:cubicBezTo>
                    <a:pt x="841248" y="652907"/>
                    <a:pt x="652907" y="841248"/>
                    <a:pt x="420624" y="841248"/>
                  </a:cubicBezTo>
                  <a:cubicBezTo>
                    <a:pt x="188341" y="841248"/>
                    <a:pt x="0" y="652907"/>
                    <a:pt x="0" y="420624"/>
                  </a:cubicBezTo>
                  <a:close/>
                </a:path>
              </a:pathLst>
            </a:custGeom>
            <a:solidFill>
              <a:srgbClr val="39C0D3"/>
            </a:solidFill>
          </p:spPr>
          <p:txBody>
            <a:bodyPr/>
            <a:p/>
          </p:txBody>
        </p:sp>
      </p:grpSp>
      <p:grpSp>
        <p:nvGrpSpPr>
          <p:cNvPr name="Group 88" id="88"/>
          <p:cNvGrpSpPr/>
          <p:nvPr/>
        </p:nvGrpSpPr>
        <p:grpSpPr>
          <a:xfrm rot="0">
            <a:off x="10122408" y="2647188"/>
            <a:ext cx="630936" cy="630936"/>
            <a:chOff x="0" y="0"/>
            <a:chExt cx="841248" cy="841248"/>
          </a:xfrm>
        </p:grpSpPr>
        <p:sp>
          <p:nvSpPr>
            <p:cNvPr name="Freeform 89" id="89"/>
            <p:cNvSpPr/>
            <p:nvPr/>
          </p:nvSpPr>
          <p:spPr>
            <a:xfrm flipH="false" flipV="false" rot="0">
              <a:off x="0" y="0"/>
              <a:ext cx="841248" cy="841248"/>
            </a:xfrm>
            <a:custGeom>
              <a:avLst/>
              <a:gdLst/>
              <a:ahLst/>
              <a:cxnLst/>
              <a:rect r="r" b="b" t="t" l="l"/>
              <a:pathLst>
                <a:path h="841248" w="841248">
                  <a:moveTo>
                    <a:pt x="0" y="0"/>
                  </a:moveTo>
                  <a:lnTo>
                    <a:pt x="841248" y="0"/>
                  </a:lnTo>
                  <a:lnTo>
                    <a:pt x="841248" y="841248"/>
                  </a:lnTo>
                  <a:lnTo>
                    <a:pt x="0" y="841248"/>
                  </a:lnTo>
                  <a:close/>
                </a:path>
              </a:pathLst>
            </a:custGeom>
            <a:blipFill>
              <a:blip r:embed="rId4">
                <a:alphaModFix amt="0"/>
              </a:blip>
              <a:stretch>
                <a:fillRect l="-78392" t="0" r="-78393" b="0"/>
              </a:stretch>
            </a:blipFill>
          </p:spPr>
          <p:txBody>
            <a:bodyPr/>
            <a:p/>
          </p:txBody>
        </p:sp>
      </p:grpSp>
      <p:grpSp>
        <p:nvGrpSpPr>
          <p:cNvPr name="Group 90" id="90"/>
          <p:cNvGrpSpPr/>
          <p:nvPr/>
        </p:nvGrpSpPr>
        <p:grpSpPr>
          <a:xfrm rot="0">
            <a:off x="10122408" y="2604326"/>
            <a:ext cx="630936" cy="673798"/>
            <a:chOff x="0" y="0"/>
            <a:chExt cx="841248" cy="898398"/>
          </a:xfrm>
        </p:grpSpPr>
        <p:sp>
          <p:nvSpPr>
            <p:cNvPr name="Freeform 91" id="91"/>
            <p:cNvSpPr/>
            <p:nvPr/>
          </p:nvSpPr>
          <p:spPr>
            <a:xfrm flipH="false" flipV="false" rot="0">
              <a:off x="0" y="0"/>
              <a:ext cx="841248" cy="898398"/>
            </a:xfrm>
            <a:custGeom>
              <a:avLst/>
              <a:gdLst/>
              <a:ahLst/>
              <a:cxnLst/>
              <a:rect r="r" b="b" t="t" l="l"/>
              <a:pathLst>
                <a:path h="898398" w="841248">
                  <a:moveTo>
                    <a:pt x="0" y="0"/>
                  </a:moveTo>
                  <a:lnTo>
                    <a:pt x="841248" y="0"/>
                  </a:lnTo>
                  <a:lnTo>
                    <a:pt x="841248" y="898398"/>
                  </a:lnTo>
                  <a:lnTo>
                    <a:pt x="0" y="898398"/>
                  </a:lnTo>
                  <a:close/>
                </a:path>
              </a:pathLst>
            </a:custGeom>
            <a:blipFill>
              <a:blip r:embed="rId5">
                <a:alphaModFix amt="0"/>
              </a:blip>
              <a:stretch>
                <a:fillRect l="-87019" t="0" r="-87019" b="0"/>
              </a:stretch>
            </a:blipFill>
          </p:spPr>
          <p:txBody>
            <a:bodyPr/>
            <a:p/>
          </p:txBody>
        </p:sp>
        <p:sp>
          <p:nvSpPr>
            <p:cNvPr name="TextBox 92" id="92"/>
            <p:cNvSpPr txBox="true"/>
            <p:nvPr/>
          </p:nvSpPr>
          <p:spPr>
            <a:xfrm>
              <a:off x="0" y="-57150"/>
              <a:ext cx="841248" cy="955548"/>
            </a:xfrm>
            <a:prstGeom prst="rect">
              <a:avLst/>
            </a:prstGeom>
          </p:spPr>
          <p:txBody>
            <a:bodyPr anchor="ctr" rtlCol="false" tIns="0" lIns="0" bIns="0" rIns="0"/>
            <a:lstStyle/>
            <a:p>
              <a:pPr algn="ctr">
                <a:lnSpc>
                  <a:spcPts val="2700"/>
                </a:lnSpc>
              </a:pPr>
              <a:r>
                <a:rPr lang="en-US" sz="2250" b="true">
                  <a:solidFill>
                    <a:srgbClr val="FFFFFF"/>
                  </a:solidFill>
                  <a:latin typeface="Calibri (MS) Bold"/>
                  <a:ea typeface="Calibri (MS) Bold"/>
                  <a:cs typeface="Calibri (MS) Bold"/>
                  <a:sym typeface="Calibri (MS) Bold"/>
                </a:rPr>
                <a:t>4</a:t>
              </a:r>
            </a:p>
          </p:txBody>
        </p:sp>
      </p:grpSp>
      <p:sp>
        <p:nvSpPr>
          <p:cNvPr name="TextBox 93" id="93"/>
          <p:cNvSpPr txBox="true"/>
          <p:nvPr/>
        </p:nvSpPr>
        <p:spPr>
          <a:xfrm rot="0">
            <a:off x="9529877" y="3352800"/>
            <a:ext cx="2057400" cy="381000"/>
          </a:xfrm>
          <a:prstGeom prst="rect">
            <a:avLst/>
          </a:prstGeom>
        </p:spPr>
        <p:txBody>
          <a:bodyPr anchor="t" rtlCol="false" tIns="0" lIns="0" bIns="0" rIns="0">
            <a:spAutoFit/>
          </a:bodyPr>
          <a:lstStyle/>
          <a:p>
            <a:pPr algn="ctr">
              <a:lnSpc>
                <a:spcPts val="2430"/>
              </a:lnSpc>
            </a:pPr>
            <a:r>
              <a:rPr lang="en-US" sz="2025" b="true">
                <a:solidFill>
                  <a:srgbClr val="0B5E6E"/>
                </a:solidFill>
                <a:latin typeface="Calibri (MS) Bold"/>
                <a:ea typeface="Calibri (MS) Bold"/>
                <a:cs typeface="Calibri (MS) Bold"/>
                <a:sym typeface="Calibri (MS) Bold"/>
              </a:rPr>
              <a:t>Pengujian model</a:t>
            </a:r>
          </a:p>
        </p:txBody>
      </p:sp>
      <p:sp>
        <p:nvSpPr>
          <p:cNvPr name="TextBox 94" id="94"/>
          <p:cNvSpPr txBox="true"/>
          <p:nvPr/>
        </p:nvSpPr>
        <p:spPr>
          <a:xfrm rot="0">
            <a:off x="9529877" y="4655820"/>
            <a:ext cx="2057400" cy="552450"/>
          </a:xfrm>
          <a:prstGeom prst="rect">
            <a:avLst/>
          </a:prstGeom>
        </p:spPr>
        <p:txBody>
          <a:bodyPr anchor="t" rtlCol="false" tIns="0" lIns="0" bIns="0" rIns="0">
            <a:spAutoFit/>
          </a:bodyPr>
          <a:lstStyle/>
          <a:p>
            <a:pPr algn="ctr">
              <a:lnSpc>
                <a:spcPts val="2070"/>
              </a:lnSpc>
            </a:pPr>
            <a:r>
              <a:rPr lang="en-US" sz="1725">
                <a:solidFill>
                  <a:srgbClr val="14313B"/>
                </a:solidFill>
                <a:latin typeface="Calibri (MS)"/>
                <a:ea typeface="Calibri (MS)"/>
                <a:cs typeface="Calibri (MS)"/>
                <a:sym typeface="Calibri (MS)"/>
              </a:rPr>
              <a:t>4 Tahap Pengujian Model</a:t>
            </a:r>
          </a:p>
        </p:txBody>
      </p:sp>
      <p:grpSp>
        <p:nvGrpSpPr>
          <p:cNvPr name="Group 95" id="95"/>
          <p:cNvGrpSpPr/>
          <p:nvPr/>
        </p:nvGrpSpPr>
        <p:grpSpPr>
          <a:xfrm rot="0">
            <a:off x="12102998" y="2400300"/>
            <a:ext cx="2537460" cy="3360420"/>
            <a:chOff x="0" y="0"/>
            <a:chExt cx="3383280" cy="4480560"/>
          </a:xfrm>
        </p:grpSpPr>
        <p:sp>
          <p:nvSpPr>
            <p:cNvPr name="Freeform 96" id="96"/>
            <p:cNvSpPr/>
            <p:nvPr/>
          </p:nvSpPr>
          <p:spPr>
            <a:xfrm flipH="false" flipV="false" rot="0">
              <a:off x="0" y="0"/>
              <a:ext cx="3383280" cy="4480560"/>
            </a:xfrm>
            <a:custGeom>
              <a:avLst/>
              <a:gdLst/>
              <a:ahLst/>
              <a:cxnLst/>
              <a:rect r="r" b="b" t="t" l="l"/>
              <a:pathLst>
                <a:path h="4480560" w="3383280">
                  <a:moveTo>
                    <a:pt x="0" y="182880"/>
                  </a:moveTo>
                  <a:cubicBezTo>
                    <a:pt x="0" y="81915"/>
                    <a:pt x="81915" y="0"/>
                    <a:pt x="182880" y="0"/>
                  </a:cubicBezTo>
                  <a:lnTo>
                    <a:pt x="3200400" y="0"/>
                  </a:lnTo>
                  <a:cubicBezTo>
                    <a:pt x="3301365" y="0"/>
                    <a:pt x="3383280" y="81915"/>
                    <a:pt x="3383280" y="182880"/>
                  </a:cubicBezTo>
                  <a:lnTo>
                    <a:pt x="3383280" y="4297680"/>
                  </a:lnTo>
                  <a:cubicBezTo>
                    <a:pt x="3383280" y="4398645"/>
                    <a:pt x="3301365" y="4480560"/>
                    <a:pt x="3200400" y="4480560"/>
                  </a:cubicBezTo>
                  <a:lnTo>
                    <a:pt x="182880" y="4480560"/>
                  </a:lnTo>
                  <a:cubicBezTo>
                    <a:pt x="81915" y="4480560"/>
                    <a:pt x="0" y="4398645"/>
                    <a:pt x="0" y="4297680"/>
                  </a:cubicBezTo>
                  <a:close/>
                </a:path>
              </a:pathLst>
            </a:custGeom>
            <a:solidFill>
              <a:srgbClr val="EAF8FA"/>
            </a:solidFill>
          </p:spPr>
          <p:txBody>
            <a:bodyPr/>
            <a:p/>
          </p:txBody>
        </p:sp>
      </p:grpSp>
      <p:grpSp>
        <p:nvGrpSpPr>
          <p:cNvPr name="Group 97" id="97"/>
          <p:cNvGrpSpPr/>
          <p:nvPr/>
        </p:nvGrpSpPr>
        <p:grpSpPr>
          <a:xfrm rot="0">
            <a:off x="13056260" y="2647188"/>
            <a:ext cx="630936" cy="630936"/>
            <a:chOff x="0" y="0"/>
            <a:chExt cx="841248" cy="841248"/>
          </a:xfrm>
        </p:grpSpPr>
        <p:sp>
          <p:nvSpPr>
            <p:cNvPr name="Freeform 98" id="98"/>
            <p:cNvSpPr/>
            <p:nvPr/>
          </p:nvSpPr>
          <p:spPr>
            <a:xfrm flipH="false" flipV="false" rot="0">
              <a:off x="0" y="0"/>
              <a:ext cx="841248" cy="841248"/>
            </a:xfrm>
            <a:custGeom>
              <a:avLst/>
              <a:gdLst/>
              <a:ahLst/>
              <a:cxnLst/>
              <a:rect r="r" b="b" t="t" l="l"/>
              <a:pathLst>
                <a:path h="841248" w="841248">
                  <a:moveTo>
                    <a:pt x="0" y="420624"/>
                  </a:moveTo>
                  <a:cubicBezTo>
                    <a:pt x="0" y="188341"/>
                    <a:pt x="188341" y="0"/>
                    <a:pt x="420624" y="0"/>
                  </a:cubicBezTo>
                  <a:cubicBezTo>
                    <a:pt x="652907" y="0"/>
                    <a:pt x="841248" y="188341"/>
                    <a:pt x="841248" y="420624"/>
                  </a:cubicBezTo>
                  <a:cubicBezTo>
                    <a:pt x="841248" y="652907"/>
                    <a:pt x="652907" y="841248"/>
                    <a:pt x="420624" y="841248"/>
                  </a:cubicBezTo>
                  <a:cubicBezTo>
                    <a:pt x="188341" y="841248"/>
                    <a:pt x="0" y="652907"/>
                    <a:pt x="0" y="420624"/>
                  </a:cubicBezTo>
                  <a:close/>
                </a:path>
              </a:pathLst>
            </a:custGeom>
            <a:solidFill>
              <a:srgbClr val="39C0D3"/>
            </a:solidFill>
          </p:spPr>
          <p:txBody>
            <a:bodyPr/>
            <a:p/>
          </p:txBody>
        </p:sp>
      </p:grpSp>
      <p:grpSp>
        <p:nvGrpSpPr>
          <p:cNvPr name="Group 99" id="99"/>
          <p:cNvGrpSpPr/>
          <p:nvPr/>
        </p:nvGrpSpPr>
        <p:grpSpPr>
          <a:xfrm rot="0">
            <a:off x="13056260" y="2647188"/>
            <a:ext cx="630936" cy="630936"/>
            <a:chOff x="0" y="0"/>
            <a:chExt cx="841248" cy="841248"/>
          </a:xfrm>
        </p:grpSpPr>
        <p:sp>
          <p:nvSpPr>
            <p:cNvPr name="Freeform 100" id="100"/>
            <p:cNvSpPr/>
            <p:nvPr/>
          </p:nvSpPr>
          <p:spPr>
            <a:xfrm flipH="false" flipV="false" rot="0">
              <a:off x="0" y="0"/>
              <a:ext cx="841248" cy="841248"/>
            </a:xfrm>
            <a:custGeom>
              <a:avLst/>
              <a:gdLst/>
              <a:ahLst/>
              <a:cxnLst/>
              <a:rect r="r" b="b" t="t" l="l"/>
              <a:pathLst>
                <a:path h="841248" w="841248">
                  <a:moveTo>
                    <a:pt x="0" y="0"/>
                  </a:moveTo>
                  <a:lnTo>
                    <a:pt x="841248" y="0"/>
                  </a:lnTo>
                  <a:lnTo>
                    <a:pt x="841248" y="841248"/>
                  </a:lnTo>
                  <a:lnTo>
                    <a:pt x="0" y="841248"/>
                  </a:lnTo>
                  <a:close/>
                </a:path>
              </a:pathLst>
            </a:custGeom>
            <a:blipFill>
              <a:blip r:embed="rId4">
                <a:alphaModFix amt="0"/>
              </a:blip>
              <a:stretch>
                <a:fillRect l="-78392" t="0" r="-78393" b="0"/>
              </a:stretch>
            </a:blipFill>
          </p:spPr>
          <p:txBody>
            <a:bodyPr/>
            <a:p/>
          </p:txBody>
        </p:sp>
      </p:grpSp>
      <p:grpSp>
        <p:nvGrpSpPr>
          <p:cNvPr name="Group 101" id="101"/>
          <p:cNvGrpSpPr/>
          <p:nvPr/>
        </p:nvGrpSpPr>
        <p:grpSpPr>
          <a:xfrm rot="0">
            <a:off x="13056260" y="2604326"/>
            <a:ext cx="630936" cy="673798"/>
            <a:chOff x="0" y="0"/>
            <a:chExt cx="841248" cy="898398"/>
          </a:xfrm>
        </p:grpSpPr>
        <p:sp>
          <p:nvSpPr>
            <p:cNvPr name="Freeform 102" id="102"/>
            <p:cNvSpPr/>
            <p:nvPr/>
          </p:nvSpPr>
          <p:spPr>
            <a:xfrm flipH="false" flipV="false" rot="0">
              <a:off x="0" y="0"/>
              <a:ext cx="841248" cy="898398"/>
            </a:xfrm>
            <a:custGeom>
              <a:avLst/>
              <a:gdLst/>
              <a:ahLst/>
              <a:cxnLst/>
              <a:rect r="r" b="b" t="t" l="l"/>
              <a:pathLst>
                <a:path h="898398" w="841248">
                  <a:moveTo>
                    <a:pt x="0" y="0"/>
                  </a:moveTo>
                  <a:lnTo>
                    <a:pt x="841248" y="0"/>
                  </a:lnTo>
                  <a:lnTo>
                    <a:pt x="841248" y="898398"/>
                  </a:lnTo>
                  <a:lnTo>
                    <a:pt x="0" y="898398"/>
                  </a:lnTo>
                  <a:close/>
                </a:path>
              </a:pathLst>
            </a:custGeom>
            <a:blipFill>
              <a:blip r:embed="rId5">
                <a:alphaModFix amt="0"/>
              </a:blip>
              <a:stretch>
                <a:fillRect l="-87019" t="0" r="-87019" b="0"/>
              </a:stretch>
            </a:blipFill>
          </p:spPr>
          <p:txBody>
            <a:bodyPr/>
            <a:p/>
          </p:txBody>
        </p:sp>
        <p:sp>
          <p:nvSpPr>
            <p:cNvPr name="TextBox 103" id="103"/>
            <p:cNvSpPr txBox="true"/>
            <p:nvPr/>
          </p:nvSpPr>
          <p:spPr>
            <a:xfrm>
              <a:off x="0" y="-57150"/>
              <a:ext cx="841248" cy="955548"/>
            </a:xfrm>
            <a:prstGeom prst="rect">
              <a:avLst/>
            </a:prstGeom>
          </p:spPr>
          <p:txBody>
            <a:bodyPr anchor="ctr" rtlCol="false" tIns="0" lIns="0" bIns="0" rIns="0"/>
            <a:lstStyle/>
            <a:p>
              <a:pPr algn="ctr">
                <a:lnSpc>
                  <a:spcPts val="2700"/>
                </a:lnSpc>
              </a:pPr>
              <a:r>
                <a:rPr lang="en-US" sz="2250" b="true">
                  <a:solidFill>
                    <a:srgbClr val="FFFFFF"/>
                  </a:solidFill>
                  <a:latin typeface="Calibri (MS) Bold"/>
                  <a:ea typeface="Calibri (MS) Bold"/>
                  <a:cs typeface="Calibri (MS) Bold"/>
                  <a:sym typeface="Calibri (MS) Bold"/>
                </a:rPr>
                <a:t>5</a:t>
              </a:r>
            </a:p>
          </p:txBody>
        </p:sp>
      </p:grpSp>
      <p:sp>
        <p:nvSpPr>
          <p:cNvPr name="TextBox 104" id="104"/>
          <p:cNvSpPr txBox="true"/>
          <p:nvPr/>
        </p:nvSpPr>
        <p:spPr>
          <a:xfrm rot="0">
            <a:off x="12349886" y="3352800"/>
            <a:ext cx="2057400" cy="685800"/>
          </a:xfrm>
          <a:prstGeom prst="rect">
            <a:avLst/>
          </a:prstGeom>
        </p:spPr>
        <p:txBody>
          <a:bodyPr anchor="t" rtlCol="false" tIns="0" lIns="0" bIns="0" rIns="0">
            <a:spAutoFit/>
          </a:bodyPr>
          <a:lstStyle/>
          <a:p>
            <a:pPr algn="ctr">
              <a:lnSpc>
                <a:spcPts val="2430"/>
              </a:lnSpc>
            </a:pPr>
            <a:r>
              <a:rPr lang="en-US" sz="2025" b="true">
                <a:solidFill>
                  <a:srgbClr val="0B5E6E"/>
                </a:solidFill>
                <a:latin typeface="Calibri (MS) Bold"/>
                <a:ea typeface="Calibri (MS) Bold"/>
                <a:cs typeface="Calibri (MS) Bold"/>
                <a:sym typeface="Calibri (MS) Bold"/>
              </a:rPr>
              <a:t>Perancangan &amp; evaluasi skenario</a:t>
            </a:r>
          </a:p>
        </p:txBody>
      </p:sp>
      <p:sp>
        <p:nvSpPr>
          <p:cNvPr name="TextBox 105" id="105"/>
          <p:cNvSpPr txBox="true"/>
          <p:nvPr/>
        </p:nvSpPr>
        <p:spPr>
          <a:xfrm rot="0">
            <a:off x="12349886" y="4655820"/>
            <a:ext cx="2057400" cy="552450"/>
          </a:xfrm>
          <a:prstGeom prst="rect">
            <a:avLst/>
          </a:prstGeom>
        </p:spPr>
        <p:txBody>
          <a:bodyPr anchor="t" rtlCol="false" tIns="0" lIns="0" bIns="0" rIns="0">
            <a:spAutoFit/>
          </a:bodyPr>
          <a:lstStyle/>
          <a:p>
            <a:pPr algn="ctr">
              <a:lnSpc>
                <a:spcPts val="2070"/>
              </a:lnSpc>
            </a:pPr>
            <a:r>
              <a:rPr lang="en-US" sz="1725">
                <a:solidFill>
                  <a:srgbClr val="14313B"/>
                </a:solidFill>
                <a:latin typeface="Calibri (MS)"/>
                <a:ea typeface="Calibri (MS)"/>
                <a:cs typeface="Calibri (MS)"/>
                <a:sym typeface="Calibri (MS)"/>
              </a:rPr>
              <a:t>3 skenario, 10 indikator</a:t>
            </a:r>
          </a:p>
        </p:txBody>
      </p:sp>
      <p:grpSp>
        <p:nvGrpSpPr>
          <p:cNvPr name="Group 106" id="106"/>
          <p:cNvGrpSpPr/>
          <p:nvPr/>
        </p:nvGrpSpPr>
        <p:grpSpPr>
          <a:xfrm rot="0">
            <a:off x="14923008" y="2400300"/>
            <a:ext cx="2537460" cy="3360420"/>
            <a:chOff x="0" y="0"/>
            <a:chExt cx="3383280" cy="4480560"/>
          </a:xfrm>
        </p:grpSpPr>
        <p:sp>
          <p:nvSpPr>
            <p:cNvPr name="Freeform 107" id="107"/>
            <p:cNvSpPr/>
            <p:nvPr/>
          </p:nvSpPr>
          <p:spPr>
            <a:xfrm flipH="false" flipV="false" rot="0">
              <a:off x="0" y="0"/>
              <a:ext cx="3383280" cy="4480560"/>
            </a:xfrm>
            <a:custGeom>
              <a:avLst/>
              <a:gdLst/>
              <a:ahLst/>
              <a:cxnLst/>
              <a:rect r="r" b="b" t="t" l="l"/>
              <a:pathLst>
                <a:path h="4480560" w="3383280">
                  <a:moveTo>
                    <a:pt x="0" y="182880"/>
                  </a:moveTo>
                  <a:cubicBezTo>
                    <a:pt x="0" y="81915"/>
                    <a:pt x="81915" y="0"/>
                    <a:pt x="182880" y="0"/>
                  </a:cubicBezTo>
                  <a:lnTo>
                    <a:pt x="3200400" y="0"/>
                  </a:lnTo>
                  <a:cubicBezTo>
                    <a:pt x="3301365" y="0"/>
                    <a:pt x="3383280" y="81915"/>
                    <a:pt x="3383280" y="182880"/>
                  </a:cubicBezTo>
                  <a:lnTo>
                    <a:pt x="3383280" y="4297680"/>
                  </a:lnTo>
                  <a:cubicBezTo>
                    <a:pt x="3383280" y="4398645"/>
                    <a:pt x="3301365" y="4480560"/>
                    <a:pt x="3200400" y="4480560"/>
                  </a:cubicBezTo>
                  <a:lnTo>
                    <a:pt x="182880" y="4480560"/>
                  </a:lnTo>
                  <a:cubicBezTo>
                    <a:pt x="81915" y="4480560"/>
                    <a:pt x="0" y="4398645"/>
                    <a:pt x="0" y="4297680"/>
                  </a:cubicBezTo>
                  <a:close/>
                </a:path>
              </a:pathLst>
            </a:custGeom>
            <a:solidFill>
              <a:srgbClr val="FFF1BF"/>
            </a:solidFill>
          </p:spPr>
          <p:txBody>
            <a:bodyPr/>
            <a:p/>
          </p:txBody>
        </p:sp>
      </p:grpSp>
      <p:grpSp>
        <p:nvGrpSpPr>
          <p:cNvPr name="Group 108" id="108"/>
          <p:cNvGrpSpPr/>
          <p:nvPr/>
        </p:nvGrpSpPr>
        <p:grpSpPr>
          <a:xfrm rot="0">
            <a:off x="15876270" y="2647188"/>
            <a:ext cx="630936" cy="630936"/>
            <a:chOff x="0" y="0"/>
            <a:chExt cx="841248" cy="841248"/>
          </a:xfrm>
        </p:grpSpPr>
        <p:sp>
          <p:nvSpPr>
            <p:cNvPr name="Freeform 109" id="109"/>
            <p:cNvSpPr/>
            <p:nvPr/>
          </p:nvSpPr>
          <p:spPr>
            <a:xfrm flipH="false" flipV="false" rot="0">
              <a:off x="0" y="0"/>
              <a:ext cx="841248" cy="841248"/>
            </a:xfrm>
            <a:custGeom>
              <a:avLst/>
              <a:gdLst/>
              <a:ahLst/>
              <a:cxnLst/>
              <a:rect r="r" b="b" t="t" l="l"/>
              <a:pathLst>
                <a:path h="841248" w="841248">
                  <a:moveTo>
                    <a:pt x="0" y="420624"/>
                  </a:moveTo>
                  <a:cubicBezTo>
                    <a:pt x="0" y="188341"/>
                    <a:pt x="188341" y="0"/>
                    <a:pt x="420624" y="0"/>
                  </a:cubicBezTo>
                  <a:cubicBezTo>
                    <a:pt x="652907" y="0"/>
                    <a:pt x="841248" y="188341"/>
                    <a:pt x="841248" y="420624"/>
                  </a:cubicBezTo>
                  <a:cubicBezTo>
                    <a:pt x="841248" y="652907"/>
                    <a:pt x="652907" y="841248"/>
                    <a:pt x="420624" y="841248"/>
                  </a:cubicBezTo>
                  <a:cubicBezTo>
                    <a:pt x="188341" y="841248"/>
                    <a:pt x="0" y="652907"/>
                    <a:pt x="0" y="420624"/>
                  </a:cubicBezTo>
                  <a:close/>
                </a:path>
              </a:pathLst>
            </a:custGeom>
            <a:solidFill>
              <a:srgbClr val="FFD23B"/>
            </a:solidFill>
          </p:spPr>
          <p:txBody>
            <a:bodyPr/>
            <a:p/>
          </p:txBody>
        </p:sp>
      </p:grpSp>
      <p:grpSp>
        <p:nvGrpSpPr>
          <p:cNvPr name="Group 110" id="110"/>
          <p:cNvGrpSpPr/>
          <p:nvPr/>
        </p:nvGrpSpPr>
        <p:grpSpPr>
          <a:xfrm rot="0">
            <a:off x="15876270" y="2647188"/>
            <a:ext cx="630936" cy="630936"/>
            <a:chOff x="0" y="0"/>
            <a:chExt cx="841248" cy="841248"/>
          </a:xfrm>
        </p:grpSpPr>
        <p:sp>
          <p:nvSpPr>
            <p:cNvPr name="Freeform 111" id="111"/>
            <p:cNvSpPr/>
            <p:nvPr/>
          </p:nvSpPr>
          <p:spPr>
            <a:xfrm flipH="false" flipV="false" rot="0">
              <a:off x="0" y="0"/>
              <a:ext cx="841248" cy="841248"/>
            </a:xfrm>
            <a:custGeom>
              <a:avLst/>
              <a:gdLst/>
              <a:ahLst/>
              <a:cxnLst/>
              <a:rect r="r" b="b" t="t" l="l"/>
              <a:pathLst>
                <a:path h="841248" w="841248">
                  <a:moveTo>
                    <a:pt x="0" y="0"/>
                  </a:moveTo>
                  <a:lnTo>
                    <a:pt x="841248" y="0"/>
                  </a:lnTo>
                  <a:lnTo>
                    <a:pt x="841248" y="841248"/>
                  </a:lnTo>
                  <a:lnTo>
                    <a:pt x="0" y="841248"/>
                  </a:lnTo>
                  <a:close/>
                </a:path>
              </a:pathLst>
            </a:custGeom>
            <a:blipFill>
              <a:blip r:embed="rId4">
                <a:alphaModFix amt="0"/>
              </a:blip>
              <a:stretch>
                <a:fillRect l="-78392" t="0" r="-78393" b="0"/>
              </a:stretch>
            </a:blipFill>
          </p:spPr>
          <p:txBody>
            <a:bodyPr/>
            <a:p/>
          </p:txBody>
        </p:sp>
      </p:grpSp>
      <p:grpSp>
        <p:nvGrpSpPr>
          <p:cNvPr name="Group 112" id="112"/>
          <p:cNvGrpSpPr/>
          <p:nvPr/>
        </p:nvGrpSpPr>
        <p:grpSpPr>
          <a:xfrm rot="0">
            <a:off x="15876270" y="2604326"/>
            <a:ext cx="630936" cy="673798"/>
            <a:chOff x="0" y="0"/>
            <a:chExt cx="841248" cy="898398"/>
          </a:xfrm>
        </p:grpSpPr>
        <p:sp>
          <p:nvSpPr>
            <p:cNvPr name="Freeform 113" id="113"/>
            <p:cNvSpPr/>
            <p:nvPr/>
          </p:nvSpPr>
          <p:spPr>
            <a:xfrm flipH="false" flipV="false" rot="0">
              <a:off x="0" y="0"/>
              <a:ext cx="841248" cy="898398"/>
            </a:xfrm>
            <a:custGeom>
              <a:avLst/>
              <a:gdLst/>
              <a:ahLst/>
              <a:cxnLst/>
              <a:rect r="r" b="b" t="t" l="l"/>
              <a:pathLst>
                <a:path h="898398" w="841248">
                  <a:moveTo>
                    <a:pt x="0" y="0"/>
                  </a:moveTo>
                  <a:lnTo>
                    <a:pt x="841248" y="0"/>
                  </a:lnTo>
                  <a:lnTo>
                    <a:pt x="841248" y="898398"/>
                  </a:lnTo>
                  <a:lnTo>
                    <a:pt x="0" y="898398"/>
                  </a:lnTo>
                  <a:close/>
                </a:path>
              </a:pathLst>
            </a:custGeom>
            <a:blipFill>
              <a:blip r:embed="rId5">
                <a:alphaModFix amt="0"/>
              </a:blip>
              <a:stretch>
                <a:fillRect l="-87019" t="0" r="-87019" b="0"/>
              </a:stretch>
            </a:blipFill>
          </p:spPr>
          <p:txBody>
            <a:bodyPr/>
            <a:p/>
          </p:txBody>
        </p:sp>
        <p:sp>
          <p:nvSpPr>
            <p:cNvPr name="TextBox 114" id="114"/>
            <p:cNvSpPr txBox="true"/>
            <p:nvPr/>
          </p:nvSpPr>
          <p:spPr>
            <a:xfrm>
              <a:off x="0" y="-57150"/>
              <a:ext cx="841248" cy="955548"/>
            </a:xfrm>
            <a:prstGeom prst="rect">
              <a:avLst/>
            </a:prstGeom>
          </p:spPr>
          <p:txBody>
            <a:bodyPr anchor="ctr" rtlCol="false" tIns="0" lIns="0" bIns="0" rIns="0"/>
            <a:lstStyle/>
            <a:p>
              <a:pPr algn="ctr">
                <a:lnSpc>
                  <a:spcPts val="2700"/>
                </a:lnSpc>
              </a:pPr>
              <a:r>
                <a:rPr lang="en-US" sz="2250" b="true">
                  <a:solidFill>
                    <a:srgbClr val="14313B"/>
                  </a:solidFill>
                  <a:latin typeface="Calibri (MS) Bold"/>
                  <a:ea typeface="Calibri (MS) Bold"/>
                  <a:cs typeface="Calibri (MS) Bold"/>
                  <a:sym typeface="Calibri (MS) Bold"/>
                </a:rPr>
                <a:t>6</a:t>
              </a:r>
            </a:p>
          </p:txBody>
        </p:sp>
      </p:grpSp>
      <p:sp>
        <p:nvSpPr>
          <p:cNvPr name="TextBox 115" id="115"/>
          <p:cNvSpPr txBox="true"/>
          <p:nvPr/>
        </p:nvSpPr>
        <p:spPr>
          <a:xfrm rot="0">
            <a:off x="15169896" y="3352800"/>
            <a:ext cx="2057400" cy="1379220"/>
          </a:xfrm>
          <a:prstGeom prst="rect">
            <a:avLst/>
          </a:prstGeom>
        </p:spPr>
        <p:txBody>
          <a:bodyPr anchor="t" rtlCol="false" tIns="0" lIns="0" bIns="0" rIns="0">
            <a:spAutoFit/>
          </a:bodyPr>
          <a:lstStyle/>
          <a:p>
            <a:pPr algn="l">
              <a:lnSpc>
                <a:spcPts val="2430"/>
              </a:lnSpc>
            </a:pPr>
            <a:r>
              <a:rPr lang="en-US" sz="2025" b="true">
                <a:solidFill>
                  <a:srgbClr val="0B5E6E"/>
                </a:solidFill>
                <a:latin typeface="Calibri (MS) Bold"/>
                <a:ea typeface="Calibri (MS) Bold"/>
                <a:cs typeface="Calibri (MS) Bold"/>
                <a:sym typeface="Calibri (MS) Bold"/>
              </a:rPr>
              <a:t>Implementasi aplikasi web</a:t>
            </a:r>
          </a:p>
        </p:txBody>
      </p:sp>
      <p:sp>
        <p:nvSpPr>
          <p:cNvPr name="TextBox 116" id="116"/>
          <p:cNvSpPr txBox="true"/>
          <p:nvPr/>
        </p:nvSpPr>
        <p:spPr>
          <a:xfrm rot="0">
            <a:off x="15169896" y="4655820"/>
            <a:ext cx="2057400" cy="333375"/>
          </a:xfrm>
          <a:prstGeom prst="rect">
            <a:avLst/>
          </a:prstGeom>
        </p:spPr>
        <p:txBody>
          <a:bodyPr anchor="t" rtlCol="false" tIns="0" lIns="0" bIns="0" rIns="0">
            <a:spAutoFit/>
          </a:bodyPr>
          <a:lstStyle/>
          <a:p>
            <a:pPr algn="ctr">
              <a:lnSpc>
                <a:spcPts val="2070"/>
              </a:lnSpc>
            </a:pPr>
            <a:r>
              <a:rPr lang="en-US" sz="1725">
                <a:solidFill>
                  <a:srgbClr val="14313B"/>
                </a:solidFill>
                <a:latin typeface="Calibri (MS)"/>
                <a:ea typeface="Calibri (MS)"/>
                <a:cs typeface="Calibri (MS)"/>
                <a:sym typeface="Calibri (MS)"/>
              </a:rPr>
              <a:t>Decision support tool</a:t>
            </a:r>
          </a:p>
        </p:txBody>
      </p:sp>
      <p:sp>
        <p:nvSpPr>
          <p:cNvPr name="TextBox 117" id="117"/>
          <p:cNvSpPr txBox="true"/>
          <p:nvPr/>
        </p:nvSpPr>
        <p:spPr>
          <a:xfrm rot="0">
            <a:off x="822960" y="6076950"/>
            <a:ext cx="8229600" cy="409575"/>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Isi 4 tahap pengujian</a:t>
            </a:r>
          </a:p>
        </p:txBody>
      </p:sp>
      <p:grpSp>
        <p:nvGrpSpPr>
          <p:cNvPr name="Group 118" id="118"/>
          <p:cNvGrpSpPr/>
          <p:nvPr/>
        </p:nvGrpSpPr>
        <p:grpSpPr>
          <a:xfrm rot="0">
            <a:off x="822960" y="6720840"/>
            <a:ext cx="3703320" cy="1097280"/>
            <a:chOff x="0" y="0"/>
            <a:chExt cx="4937760" cy="1463040"/>
          </a:xfrm>
        </p:grpSpPr>
        <p:sp>
          <p:nvSpPr>
            <p:cNvPr name="Freeform 119" id="119"/>
            <p:cNvSpPr/>
            <p:nvPr/>
          </p:nvSpPr>
          <p:spPr>
            <a:xfrm flipH="false" flipV="false" rot="0">
              <a:off x="0" y="0"/>
              <a:ext cx="4937760" cy="1463040"/>
            </a:xfrm>
            <a:custGeom>
              <a:avLst/>
              <a:gdLst/>
              <a:ahLst/>
              <a:cxnLst/>
              <a:rect r="r" b="b" t="t" l="l"/>
              <a:pathLst>
                <a:path h="1463040" w="4937760">
                  <a:moveTo>
                    <a:pt x="0" y="182880"/>
                  </a:moveTo>
                  <a:cubicBezTo>
                    <a:pt x="0" y="81915"/>
                    <a:pt x="81915" y="0"/>
                    <a:pt x="182880" y="0"/>
                  </a:cubicBezTo>
                  <a:lnTo>
                    <a:pt x="4754880" y="0"/>
                  </a:lnTo>
                  <a:cubicBezTo>
                    <a:pt x="4855845" y="0"/>
                    <a:pt x="4937760" y="81915"/>
                    <a:pt x="4937760" y="182880"/>
                  </a:cubicBezTo>
                  <a:lnTo>
                    <a:pt x="4937760" y="1280160"/>
                  </a:lnTo>
                  <a:cubicBezTo>
                    <a:pt x="4937760" y="1381125"/>
                    <a:pt x="4855845" y="1463040"/>
                    <a:pt x="4754880" y="1463040"/>
                  </a:cubicBezTo>
                  <a:lnTo>
                    <a:pt x="182880" y="1463040"/>
                  </a:lnTo>
                  <a:cubicBezTo>
                    <a:pt x="81915" y="1463040"/>
                    <a:pt x="0" y="1381125"/>
                    <a:pt x="0" y="1280160"/>
                  </a:cubicBezTo>
                  <a:close/>
                </a:path>
              </a:pathLst>
            </a:custGeom>
            <a:solidFill>
              <a:srgbClr val="0B5E6E"/>
            </a:solidFill>
          </p:spPr>
          <p:txBody>
            <a:bodyPr/>
            <a:p/>
          </p:txBody>
        </p:sp>
      </p:grpSp>
      <p:grpSp>
        <p:nvGrpSpPr>
          <p:cNvPr name="Group 120" id="120"/>
          <p:cNvGrpSpPr/>
          <p:nvPr/>
        </p:nvGrpSpPr>
        <p:grpSpPr>
          <a:xfrm rot="0">
            <a:off x="822960" y="6720840"/>
            <a:ext cx="3703320" cy="1097280"/>
            <a:chOff x="0" y="0"/>
            <a:chExt cx="4937760" cy="1463040"/>
          </a:xfrm>
        </p:grpSpPr>
        <p:sp>
          <p:nvSpPr>
            <p:cNvPr name="Freeform 121" id="121"/>
            <p:cNvSpPr/>
            <p:nvPr/>
          </p:nvSpPr>
          <p:spPr>
            <a:xfrm flipH="false" flipV="false" rot="0">
              <a:off x="0" y="0"/>
              <a:ext cx="4937760" cy="1463040"/>
            </a:xfrm>
            <a:custGeom>
              <a:avLst/>
              <a:gdLst/>
              <a:ahLst/>
              <a:cxnLst/>
              <a:rect r="r" b="b" t="t" l="l"/>
              <a:pathLst>
                <a:path h="1463040" w="4937760">
                  <a:moveTo>
                    <a:pt x="0" y="0"/>
                  </a:moveTo>
                  <a:lnTo>
                    <a:pt x="4937760" y="0"/>
                  </a:lnTo>
                  <a:lnTo>
                    <a:pt x="4937760" y="1463040"/>
                  </a:lnTo>
                  <a:lnTo>
                    <a:pt x="0" y="1463040"/>
                  </a:lnTo>
                  <a:close/>
                </a:path>
              </a:pathLst>
            </a:custGeom>
            <a:blipFill>
              <a:blip r:embed="rId4">
                <a:alphaModFix amt="0"/>
              </a:blip>
              <a:stretch>
                <a:fillRect l="0" t="-15716" r="0" b="-15716"/>
              </a:stretch>
            </a:blipFill>
          </p:spPr>
          <p:txBody>
            <a:bodyPr/>
            <a:p/>
          </p:txBody>
        </p:sp>
      </p:grpSp>
      <p:grpSp>
        <p:nvGrpSpPr>
          <p:cNvPr name="Group 122" id="122"/>
          <p:cNvGrpSpPr/>
          <p:nvPr/>
        </p:nvGrpSpPr>
        <p:grpSpPr>
          <a:xfrm rot="0">
            <a:off x="822960" y="6677978"/>
            <a:ext cx="3703320" cy="1140142"/>
            <a:chOff x="0" y="0"/>
            <a:chExt cx="4937760" cy="1520190"/>
          </a:xfrm>
        </p:grpSpPr>
        <p:sp>
          <p:nvSpPr>
            <p:cNvPr name="Freeform 123" id="123"/>
            <p:cNvSpPr/>
            <p:nvPr/>
          </p:nvSpPr>
          <p:spPr>
            <a:xfrm flipH="false" flipV="false" rot="0">
              <a:off x="0" y="0"/>
              <a:ext cx="4937760" cy="1520190"/>
            </a:xfrm>
            <a:custGeom>
              <a:avLst/>
              <a:gdLst/>
              <a:ahLst/>
              <a:cxnLst/>
              <a:rect r="r" b="b" t="t" l="l"/>
              <a:pathLst>
                <a:path h="1520190" w="4937760">
                  <a:moveTo>
                    <a:pt x="0" y="0"/>
                  </a:moveTo>
                  <a:lnTo>
                    <a:pt x="4937760" y="0"/>
                  </a:lnTo>
                  <a:lnTo>
                    <a:pt x="4937760" y="1520190"/>
                  </a:lnTo>
                  <a:lnTo>
                    <a:pt x="0" y="1520190"/>
                  </a:lnTo>
                  <a:close/>
                </a:path>
              </a:pathLst>
            </a:custGeom>
            <a:blipFill>
              <a:blip r:embed="rId5">
                <a:alphaModFix amt="0"/>
              </a:blip>
              <a:stretch>
                <a:fillRect l="0" t="-13289" r="0" b="-13289"/>
              </a:stretch>
            </a:blipFill>
          </p:spPr>
          <p:txBody>
            <a:bodyPr/>
            <a:p/>
          </p:txBody>
        </p:sp>
        <p:sp>
          <p:nvSpPr>
            <p:cNvPr name="TextBox 124" id="124"/>
            <p:cNvSpPr txBox="true"/>
            <p:nvPr/>
          </p:nvSpPr>
          <p:spPr>
            <a:xfrm>
              <a:off x="0" y="-57150"/>
              <a:ext cx="4937760" cy="1577340"/>
            </a:xfrm>
            <a:prstGeom prst="rect">
              <a:avLst/>
            </a:prstGeom>
          </p:spPr>
          <p:txBody>
            <a:bodyPr anchor="ctr" rtlCol="false" tIns="0" lIns="0" bIns="0" rIns="0"/>
            <a:lstStyle/>
            <a:p>
              <a:pPr algn="ctr">
                <a:lnSpc>
                  <a:spcPts val="2700"/>
                </a:lnSpc>
              </a:pPr>
              <a:r>
                <a:rPr lang="en-US" sz="2250" b="true">
                  <a:solidFill>
                    <a:srgbClr val="FFFFFF"/>
                  </a:solidFill>
                  <a:latin typeface="Calibri (MS) Bold"/>
                  <a:ea typeface="Calibri (MS) Bold"/>
                  <a:cs typeface="Calibri (MS) Bold"/>
                  <a:sym typeface="Calibri (MS) Bold"/>
                </a:rPr>
                <a:t>Uji struktur</a:t>
              </a:r>
            </a:p>
          </p:txBody>
        </p:sp>
      </p:grpSp>
      <p:grpSp>
        <p:nvGrpSpPr>
          <p:cNvPr name="Group 125" id="125"/>
          <p:cNvGrpSpPr/>
          <p:nvPr/>
        </p:nvGrpSpPr>
        <p:grpSpPr>
          <a:xfrm rot="0">
            <a:off x="5047488" y="6720840"/>
            <a:ext cx="3703320" cy="1097280"/>
            <a:chOff x="0" y="0"/>
            <a:chExt cx="4937760" cy="1463040"/>
          </a:xfrm>
        </p:grpSpPr>
        <p:sp>
          <p:nvSpPr>
            <p:cNvPr name="Freeform 126" id="126"/>
            <p:cNvSpPr/>
            <p:nvPr/>
          </p:nvSpPr>
          <p:spPr>
            <a:xfrm flipH="false" flipV="false" rot="0">
              <a:off x="0" y="0"/>
              <a:ext cx="4937760" cy="1463040"/>
            </a:xfrm>
            <a:custGeom>
              <a:avLst/>
              <a:gdLst/>
              <a:ahLst/>
              <a:cxnLst/>
              <a:rect r="r" b="b" t="t" l="l"/>
              <a:pathLst>
                <a:path h="1463040" w="4937760">
                  <a:moveTo>
                    <a:pt x="0" y="182880"/>
                  </a:moveTo>
                  <a:cubicBezTo>
                    <a:pt x="0" y="81915"/>
                    <a:pt x="81915" y="0"/>
                    <a:pt x="182880" y="0"/>
                  </a:cubicBezTo>
                  <a:lnTo>
                    <a:pt x="4754880" y="0"/>
                  </a:lnTo>
                  <a:cubicBezTo>
                    <a:pt x="4855845" y="0"/>
                    <a:pt x="4937760" y="81915"/>
                    <a:pt x="4937760" y="182880"/>
                  </a:cubicBezTo>
                  <a:lnTo>
                    <a:pt x="4937760" y="1280160"/>
                  </a:lnTo>
                  <a:cubicBezTo>
                    <a:pt x="4937760" y="1381125"/>
                    <a:pt x="4855845" y="1463040"/>
                    <a:pt x="4754880" y="1463040"/>
                  </a:cubicBezTo>
                  <a:lnTo>
                    <a:pt x="182880" y="1463040"/>
                  </a:lnTo>
                  <a:cubicBezTo>
                    <a:pt x="81915" y="1463040"/>
                    <a:pt x="0" y="1381125"/>
                    <a:pt x="0" y="1280160"/>
                  </a:cubicBezTo>
                  <a:close/>
                </a:path>
              </a:pathLst>
            </a:custGeom>
            <a:solidFill>
              <a:srgbClr val="0B5E6E"/>
            </a:solidFill>
          </p:spPr>
          <p:txBody>
            <a:bodyPr/>
            <a:p/>
          </p:txBody>
        </p:sp>
      </p:grpSp>
      <p:grpSp>
        <p:nvGrpSpPr>
          <p:cNvPr name="Group 127" id="127"/>
          <p:cNvGrpSpPr/>
          <p:nvPr/>
        </p:nvGrpSpPr>
        <p:grpSpPr>
          <a:xfrm rot="0">
            <a:off x="5047488" y="6720840"/>
            <a:ext cx="3703320" cy="1097280"/>
            <a:chOff x="0" y="0"/>
            <a:chExt cx="4937760" cy="1463040"/>
          </a:xfrm>
        </p:grpSpPr>
        <p:sp>
          <p:nvSpPr>
            <p:cNvPr name="Freeform 128" id="128"/>
            <p:cNvSpPr/>
            <p:nvPr/>
          </p:nvSpPr>
          <p:spPr>
            <a:xfrm flipH="false" flipV="false" rot="0">
              <a:off x="0" y="0"/>
              <a:ext cx="4937760" cy="1463040"/>
            </a:xfrm>
            <a:custGeom>
              <a:avLst/>
              <a:gdLst/>
              <a:ahLst/>
              <a:cxnLst/>
              <a:rect r="r" b="b" t="t" l="l"/>
              <a:pathLst>
                <a:path h="1463040" w="4937760">
                  <a:moveTo>
                    <a:pt x="0" y="0"/>
                  </a:moveTo>
                  <a:lnTo>
                    <a:pt x="4937760" y="0"/>
                  </a:lnTo>
                  <a:lnTo>
                    <a:pt x="4937760" y="1463040"/>
                  </a:lnTo>
                  <a:lnTo>
                    <a:pt x="0" y="1463040"/>
                  </a:lnTo>
                  <a:close/>
                </a:path>
              </a:pathLst>
            </a:custGeom>
            <a:blipFill>
              <a:blip r:embed="rId4">
                <a:alphaModFix amt="0"/>
              </a:blip>
              <a:stretch>
                <a:fillRect l="0" t="-15716" r="0" b="-15716"/>
              </a:stretch>
            </a:blipFill>
          </p:spPr>
          <p:txBody>
            <a:bodyPr/>
            <a:p/>
          </p:txBody>
        </p:sp>
      </p:grpSp>
      <p:grpSp>
        <p:nvGrpSpPr>
          <p:cNvPr name="Group 129" id="129"/>
          <p:cNvGrpSpPr/>
          <p:nvPr/>
        </p:nvGrpSpPr>
        <p:grpSpPr>
          <a:xfrm rot="0">
            <a:off x="5047488" y="6677978"/>
            <a:ext cx="3703320" cy="1140142"/>
            <a:chOff x="0" y="0"/>
            <a:chExt cx="4937760" cy="1520190"/>
          </a:xfrm>
        </p:grpSpPr>
        <p:sp>
          <p:nvSpPr>
            <p:cNvPr name="Freeform 130" id="130"/>
            <p:cNvSpPr/>
            <p:nvPr/>
          </p:nvSpPr>
          <p:spPr>
            <a:xfrm flipH="false" flipV="false" rot="0">
              <a:off x="0" y="0"/>
              <a:ext cx="4937760" cy="1520190"/>
            </a:xfrm>
            <a:custGeom>
              <a:avLst/>
              <a:gdLst/>
              <a:ahLst/>
              <a:cxnLst/>
              <a:rect r="r" b="b" t="t" l="l"/>
              <a:pathLst>
                <a:path h="1520190" w="4937760">
                  <a:moveTo>
                    <a:pt x="0" y="0"/>
                  </a:moveTo>
                  <a:lnTo>
                    <a:pt x="4937760" y="0"/>
                  </a:lnTo>
                  <a:lnTo>
                    <a:pt x="4937760" y="1520190"/>
                  </a:lnTo>
                  <a:lnTo>
                    <a:pt x="0" y="1520190"/>
                  </a:lnTo>
                  <a:close/>
                </a:path>
              </a:pathLst>
            </a:custGeom>
            <a:blipFill>
              <a:blip r:embed="rId5">
                <a:alphaModFix amt="0"/>
              </a:blip>
              <a:stretch>
                <a:fillRect l="0" t="-13289" r="0" b="-13289"/>
              </a:stretch>
            </a:blipFill>
          </p:spPr>
          <p:txBody>
            <a:bodyPr/>
            <a:p/>
          </p:txBody>
        </p:sp>
        <p:sp>
          <p:nvSpPr>
            <p:cNvPr name="TextBox 131" id="131"/>
            <p:cNvSpPr txBox="true"/>
            <p:nvPr/>
          </p:nvSpPr>
          <p:spPr>
            <a:xfrm>
              <a:off x="0" y="-57150"/>
              <a:ext cx="4937760" cy="1577340"/>
            </a:xfrm>
            <a:prstGeom prst="rect">
              <a:avLst/>
            </a:prstGeom>
          </p:spPr>
          <p:txBody>
            <a:bodyPr anchor="ctr" rtlCol="false" tIns="0" lIns="0" bIns="0" rIns="0"/>
            <a:lstStyle/>
            <a:p>
              <a:pPr algn="ctr">
                <a:lnSpc>
                  <a:spcPts val="2700"/>
                </a:lnSpc>
              </a:pPr>
              <a:r>
                <a:rPr lang="en-US" sz="2250" b="true">
                  <a:solidFill>
                    <a:srgbClr val="FFFFFF"/>
                  </a:solidFill>
                  <a:latin typeface="Calibri (MS) Bold"/>
                  <a:ea typeface="Calibri (MS) Bold"/>
                  <a:cs typeface="Calibri (MS) Bold"/>
                  <a:sym typeface="Calibri (MS) Bold"/>
                </a:rPr>
                <a:t>Uji perilaku</a:t>
              </a:r>
            </a:p>
          </p:txBody>
        </p:sp>
      </p:grpSp>
      <p:grpSp>
        <p:nvGrpSpPr>
          <p:cNvPr name="Group 132" id="132"/>
          <p:cNvGrpSpPr/>
          <p:nvPr/>
        </p:nvGrpSpPr>
        <p:grpSpPr>
          <a:xfrm rot="0">
            <a:off x="9272016" y="6720840"/>
            <a:ext cx="3703320" cy="1097280"/>
            <a:chOff x="0" y="0"/>
            <a:chExt cx="4937760" cy="1463040"/>
          </a:xfrm>
        </p:grpSpPr>
        <p:sp>
          <p:nvSpPr>
            <p:cNvPr name="Freeform 133" id="133"/>
            <p:cNvSpPr/>
            <p:nvPr/>
          </p:nvSpPr>
          <p:spPr>
            <a:xfrm flipH="false" flipV="false" rot="0">
              <a:off x="0" y="0"/>
              <a:ext cx="4937760" cy="1463040"/>
            </a:xfrm>
            <a:custGeom>
              <a:avLst/>
              <a:gdLst/>
              <a:ahLst/>
              <a:cxnLst/>
              <a:rect r="r" b="b" t="t" l="l"/>
              <a:pathLst>
                <a:path h="1463040" w="4937760">
                  <a:moveTo>
                    <a:pt x="0" y="182880"/>
                  </a:moveTo>
                  <a:cubicBezTo>
                    <a:pt x="0" y="81915"/>
                    <a:pt x="81915" y="0"/>
                    <a:pt x="182880" y="0"/>
                  </a:cubicBezTo>
                  <a:lnTo>
                    <a:pt x="4754880" y="0"/>
                  </a:lnTo>
                  <a:cubicBezTo>
                    <a:pt x="4855845" y="0"/>
                    <a:pt x="4937760" y="81915"/>
                    <a:pt x="4937760" y="182880"/>
                  </a:cubicBezTo>
                  <a:lnTo>
                    <a:pt x="4937760" y="1280160"/>
                  </a:lnTo>
                  <a:cubicBezTo>
                    <a:pt x="4937760" y="1381125"/>
                    <a:pt x="4855845" y="1463040"/>
                    <a:pt x="4754880" y="1463040"/>
                  </a:cubicBezTo>
                  <a:lnTo>
                    <a:pt x="182880" y="1463040"/>
                  </a:lnTo>
                  <a:cubicBezTo>
                    <a:pt x="81915" y="1463040"/>
                    <a:pt x="0" y="1381125"/>
                    <a:pt x="0" y="1280160"/>
                  </a:cubicBezTo>
                  <a:close/>
                </a:path>
              </a:pathLst>
            </a:custGeom>
            <a:solidFill>
              <a:srgbClr val="FFF1BF"/>
            </a:solidFill>
          </p:spPr>
          <p:txBody>
            <a:bodyPr/>
            <a:p/>
          </p:txBody>
        </p:sp>
      </p:grpSp>
      <p:grpSp>
        <p:nvGrpSpPr>
          <p:cNvPr name="Group 134" id="134"/>
          <p:cNvGrpSpPr/>
          <p:nvPr/>
        </p:nvGrpSpPr>
        <p:grpSpPr>
          <a:xfrm rot="0">
            <a:off x="9272016" y="6720840"/>
            <a:ext cx="3703320" cy="1097280"/>
            <a:chOff x="0" y="0"/>
            <a:chExt cx="4937760" cy="1463040"/>
          </a:xfrm>
        </p:grpSpPr>
        <p:sp>
          <p:nvSpPr>
            <p:cNvPr name="Freeform 135" id="135"/>
            <p:cNvSpPr/>
            <p:nvPr/>
          </p:nvSpPr>
          <p:spPr>
            <a:xfrm flipH="false" flipV="false" rot="0">
              <a:off x="0" y="0"/>
              <a:ext cx="4937760" cy="1463040"/>
            </a:xfrm>
            <a:custGeom>
              <a:avLst/>
              <a:gdLst/>
              <a:ahLst/>
              <a:cxnLst/>
              <a:rect r="r" b="b" t="t" l="l"/>
              <a:pathLst>
                <a:path h="1463040" w="4937760">
                  <a:moveTo>
                    <a:pt x="0" y="0"/>
                  </a:moveTo>
                  <a:lnTo>
                    <a:pt x="4937760" y="0"/>
                  </a:lnTo>
                  <a:lnTo>
                    <a:pt x="4937760" y="1463040"/>
                  </a:lnTo>
                  <a:lnTo>
                    <a:pt x="0" y="1463040"/>
                  </a:lnTo>
                  <a:close/>
                </a:path>
              </a:pathLst>
            </a:custGeom>
            <a:blipFill>
              <a:blip r:embed="rId4">
                <a:alphaModFix amt="0"/>
              </a:blip>
              <a:stretch>
                <a:fillRect l="0" t="-15716" r="0" b="-15716"/>
              </a:stretch>
            </a:blipFill>
          </p:spPr>
          <p:txBody>
            <a:bodyPr/>
            <a:p/>
          </p:txBody>
        </p:sp>
      </p:grpSp>
      <p:grpSp>
        <p:nvGrpSpPr>
          <p:cNvPr name="Group 136" id="136"/>
          <p:cNvGrpSpPr/>
          <p:nvPr/>
        </p:nvGrpSpPr>
        <p:grpSpPr>
          <a:xfrm rot="0">
            <a:off x="9272016" y="6677978"/>
            <a:ext cx="3703320" cy="1140142"/>
            <a:chOff x="0" y="0"/>
            <a:chExt cx="4937760" cy="1520190"/>
          </a:xfrm>
        </p:grpSpPr>
        <p:sp>
          <p:nvSpPr>
            <p:cNvPr name="Freeform 137" id="137"/>
            <p:cNvSpPr/>
            <p:nvPr/>
          </p:nvSpPr>
          <p:spPr>
            <a:xfrm flipH="false" flipV="false" rot="0">
              <a:off x="0" y="0"/>
              <a:ext cx="4937760" cy="1520190"/>
            </a:xfrm>
            <a:custGeom>
              <a:avLst/>
              <a:gdLst/>
              <a:ahLst/>
              <a:cxnLst/>
              <a:rect r="r" b="b" t="t" l="l"/>
              <a:pathLst>
                <a:path h="1520190" w="4937760">
                  <a:moveTo>
                    <a:pt x="0" y="0"/>
                  </a:moveTo>
                  <a:lnTo>
                    <a:pt x="4937760" y="0"/>
                  </a:lnTo>
                  <a:lnTo>
                    <a:pt x="4937760" y="1520190"/>
                  </a:lnTo>
                  <a:lnTo>
                    <a:pt x="0" y="1520190"/>
                  </a:lnTo>
                  <a:close/>
                </a:path>
              </a:pathLst>
            </a:custGeom>
            <a:blipFill>
              <a:blip r:embed="rId5">
                <a:alphaModFix amt="0"/>
              </a:blip>
              <a:stretch>
                <a:fillRect l="0" t="-13289" r="0" b="-13289"/>
              </a:stretch>
            </a:blipFill>
          </p:spPr>
          <p:txBody>
            <a:bodyPr/>
            <a:p/>
          </p:txBody>
        </p:sp>
        <p:sp>
          <p:nvSpPr>
            <p:cNvPr name="TextBox 138" id="138"/>
            <p:cNvSpPr txBox="true"/>
            <p:nvPr/>
          </p:nvSpPr>
          <p:spPr>
            <a:xfrm>
              <a:off x="0" y="-57150"/>
              <a:ext cx="4937760" cy="1577340"/>
            </a:xfrm>
            <a:prstGeom prst="rect">
              <a:avLst/>
            </a:prstGeom>
          </p:spPr>
          <p:txBody>
            <a:bodyPr anchor="ctr" rtlCol="false" tIns="0" lIns="0" bIns="0" rIns="0"/>
            <a:lstStyle/>
            <a:p>
              <a:pPr algn="ctr">
                <a:lnSpc>
                  <a:spcPts val="2700"/>
                </a:lnSpc>
              </a:pPr>
              <a:r>
                <a:rPr lang="en-US" sz="2250" b="true">
                  <a:solidFill>
                    <a:srgbClr val="14313B"/>
                  </a:solidFill>
                  <a:latin typeface="Calibri (MS) Bold"/>
                  <a:ea typeface="Calibri (MS) Bold"/>
                  <a:cs typeface="Calibri (MS) Bold"/>
                  <a:sym typeface="Calibri (MS) Bold"/>
                </a:rPr>
                <a:t>Kalibrasi</a:t>
              </a:r>
            </a:p>
          </p:txBody>
        </p:sp>
      </p:grpSp>
      <p:grpSp>
        <p:nvGrpSpPr>
          <p:cNvPr name="Group 139" id="139"/>
          <p:cNvGrpSpPr/>
          <p:nvPr/>
        </p:nvGrpSpPr>
        <p:grpSpPr>
          <a:xfrm rot="0">
            <a:off x="13496544" y="6720840"/>
            <a:ext cx="3703320" cy="1097280"/>
            <a:chOff x="0" y="0"/>
            <a:chExt cx="4937760" cy="1463040"/>
          </a:xfrm>
        </p:grpSpPr>
        <p:sp>
          <p:nvSpPr>
            <p:cNvPr name="Freeform 140" id="140"/>
            <p:cNvSpPr/>
            <p:nvPr/>
          </p:nvSpPr>
          <p:spPr>
            <a:xfrm flipH="false" flipV="false" rot="0">
              <a:off x="0" y="0"/>
              <a:ext cx="4937760" cy="1463040"/>
            </a:xfrm>
            <a:custGeom>
              <a:avLst/>
              <a:gdLst/>
              <a:ahLst/>
              <a:cxnLst/>
              <a:rect r="r" b="b" t="t" l="l"/>
              <a:pathLst>
                <a:path h="1463040" w="4937760">
                  <a:moveTo>
                    <a:pt x="0" y="182880"/>
                  </a:moveTo>
                  <a:cubicBezTo>
                    <a:pt x="0" y="81915"/>
                    <a:pt x="81915" y="0"/>
                    <a:pt x="182880" y="0"/>
                  </a:cubicBezTo>
                  <a:lnTo>
                    <a:pt x="4754880" y="0"/>
                  </a:lnTo>
                  <a:cubicBezTo>
                    <a:pt x="4855845" y="0"/>
                    <a:pt x="4937760" y="81915"/>
                    <a:pt x="4937760" y="182880"/>
                  </a:cubicBezTo>
                  <a:lnTo>
                    <a:pt x="4937760" y="1280160"/>
                  </a:lnTo>
                  <a:cubicBezTo>
                    <a:pt x="4937760" y="1381125"/>
                    <a:pt x="4855845" y="1463040"/>
                    <a:pt x="4754880" y="1463040"/>
                  </a:cubicBezTo>
                  <a:lnTo>
                    <a:pt x="182880" y="1463040"/>
                  </a:lnTo>
                  <a:cubicBezTo>
                    <a:pt x="81915" y="1463040"/>
                    <a:pt x="0" y="1381125"/>
                    <a:pt x="0" y="1280160"/>
                  </a:cubicBezTo>
                  <a:close/>
                </a:path>
              </a:pathLst>
            </a:custGeom>
            <a:solidFill>
              <a:srgbClr val="0B5E6E"/>
            </a:solidFill>
          </p:spPr>
          <p:txBody>
            <a:bodyPr/>
            <a:p/>
          </p:txBody>
        </p:sp>
      </p:grpSp>
      <p:grpSp>
        <p:nvGrpSpPr>
          <p:cNvPr name="Group 141" id="141"/>
          <p:cNvGrpSpPr/>
          <p:nvPr/>
        </p:nvGrpSpPr>
        <p:grpSpPr>
          <a:xfrm rot="0">
            <a:off x="13496544" y="6720840"/>
            <a:ext cx="3703320" cy="1097280"/>
            <a:chOff x="0" y="0"/>
            <a:chExt cx="4937760" cy="1463040"/>
          </a:xfrm>
        </p:grpSpPr>
        <p:sp>
          <p:nvSpPr>
            <p:cNvPr name="Freeform 142" id="142"/>
            <p:cNvSpPr/>
            <p:nvPr/>
          </p:nvSpPr>
          <p:spPr>
            <a:xfrm flipH="false" flipV="false" rot="0">
              <a:off x="0" y="0"/>
              <a:ext cx="4937760" cy="1463040"/>
            </a:xfrm>
            <a:custGeom>
              <a:avLst/>
              <a:gdLst/>
              <a:ahLst/>
              <a:cxnLst/>
              <a:rect r="r" b="b" t="t" l="l"/>
              <a:pathLst>
                <a:path h="1463040" w="4937760">
                  <a:moveTo>
                    <a:pt x="0" y="0"/>
                  </a:moveTo>
                  <a:lnTo>
                    <a:pt x="4937760" y="0"/>
                  </a:lnTo>
                  <a:lnTo>
                    <a:pt x="4937760" y="1463040"/>
                  </a:lnTo>
                  <a:lnTo>
                    <a:pt x="0" y="1463040"/>
                  </a:lnTo>
                  <a:close/>
                </a:path>
              </a:pathLst>
            </a:custGeom>
            <a:blipFill>
              <a:blip r:embed="rId4">
                <a:alphaModFix amt="0"/>
              </a:blip>
              <a:stretch>
                <a:fillRect l="0" t="-15716" r="0" b="-15716"/>
              </a:stretch>
            </a:blipFill>
          </p:spPr>
          <p:txBody>
            <a:bodyPr/>
            <a:p/>
          </p:txBody>
        </p:sp>
      </p:grpSp>
      <p:grpSp>
        <p:nvGrpSpPr>
          <p:cNvPr name="Group 143" id="143"/>
          <p:cNvGrpSpPr/>
          <p:nvPr/>
        </p:nvGrpSpPr>
        <p:grpSpPr>
          <a:xfrm rot="0">
            <a:off x="13496544" y="6677978"/>
            <a:ext cx="3703320" cy="1140142"/>
            <a:chOff x="0" y="0"/>
            <a:chExt cx="4937760" cy="1520190"/>
          </a:xfrm>
        </p:grpSpPr>
        <p:sp>
          <p:nvSpPr>
            <p:cNvPr name="Freeform 144" id="144"/>
            <p:cNvSpPr/>
            <p:nvPr/>
          </p:nvSpPr>
          <p:spPr>
            <a:xfrm flipH="false" flipV="false" rot="0">
              <a:off x="0" y="0"/>
              <a:ext cx="4937760" cy="1520190"/>
            </a:xfrm>
            <a:custGeom>
              <a:avLst/>
              <a:gdLst/>
              <a:ahLst/>
              <a:cxnLst/>
              <a:rect r="r" b="b" t="t" l="l"/>
              <a:pathLst>
                <a:path h="1520190" w="4937760">
                  <a:moveTo>
                    <a:pt x="0" y="0"/>
                  </a:moveTo>
                  <a:lnTo>
                    <a:pt x="4937760" y="0"/>
                  </a:lnTo>
                  <a:lnTo>
                    <a:pt x="4937760" y="1520190"/>
                  </a:lnTo>
                  <a:lnTo>
                    <a:pt x="0" y="1520190"/>
                  </a:lnTo>
                  <a:close/>
                </a:path>
              </a:pathLst>
            </a:custGeom>
            <a:blipFill>
              <a:blip r:embed="rId5">
                <a:alphaModFix amt="0"/>
              </a:blip>
              <a:stretch>
                <a:fillRect l="0" t="-13289" r="0" b="-13289"/>
              </a:stretch>
            </a:blipFill>
          </p:spPr>
          <p:txBody>
            <a:bodyPr/>
            <a:p/>
          </p:txBody>
        </p:sp>
        <p:sp>
          <p:nvSpPr>
            <p:cNvPr name="TextBox 145" id="145"/>
            <p:cNvSpPr txBox="true"/>
            <p:nvPr/>
          </p:nvSpPr>
          <p:spPr>
            <a:xfrm>
              <a:off x="0" y="-57150"/>
              <a:ext cx="4937760" cy="1577340"/>
            </a:xfrm>
            <a:prstGeom prst="rect">
              <a:avLst/>
            </a:prstGeom>
          </p:spPr>
          <p:txBody>
            <a:bodyPr anchor="ctr" rtlCol="false" tIns="0" lIns="0" bIns="0" rIns="0"/>
            <a:lstStyle/>
            <a:p>
              <a:pPr algn="ctr">
                <a:lnSpc>
                  <a:spcPts val="2700"/>
                </a:lnSpc>
              </a:pPr>
              <a:r>
                <a:rPr lang="en-US" sz="2250" b="true">
                  <a:solidFill>
                    <a:srgbClr val="FFFFFF"/>
                  </a:solidFill>
                  <a:latin typeface="Calibri (MS) Bold"/>
                  <a:ea typeface="Calibri (MS) Bold"/>
                  <a:cs typeface="Calibri (MS) Bold"/>
                  <a:sym typeface="Calibri (MS) Bold"/>
                </a:rPr>
                <a:t>Analisis sensitivitas</a:t>
              </a:r>
            </a:p>
          </p:txBody>
        </p:sp>
      </p:grpSp>
      <p:sp>
        <p:nvSpPr>
          <p:cNvPr name="TextBox 146" id="146"/>
          <p:cNvSpPr txBox="true"/>
          <p:nvPr/>
        </p:nvSpPr>
        <p:spPr>
          <a:xfrm rot="0">
            <a:off x="822960" y="8564880"/>
            <a:ext cx="16637508" cy="342900"/>
          </a:xfrm>
          <a:prstGeom prst="rect">
            <a:avLst/>
          </a:prstGeom>
        </p:spPr>
        <p:txBody>
          <a:bodyPr anchor="t" rtlCol="false" tIns="0" lIns="0" bIns="0" rIns="0">
            <a:spAutoFit/>
          </a:bodyPr>
          <a:lstStyle/>
          <a:p>
            <a:pPr algn="l">
              <a:lnSpc>
                <a:spcPts val="2160"/>
              </a:lnSpc>
            </a:pPr>
            <a:r>
              <a:rPr lang="en-US" sz="1800">
                <a:solidFill>
                  <a:srgbClr val="5E6E78"/>
                </a:solidFill>
                <a:latin typeface="Calibri (MS)"/>
                <a:ea typeface="Calibri (MS)"/>
                <a:cs typeface="Calibri (MS)"/>
                <a:sym typeface="Calibri (MS)"/>
              </a:rPr>
              <a:t>Tahap 2 → Tujuan 1  ·  Tahap 1, 3, 4, 5 → Tujuan 2 (termasuk simulasi skenario)  ·  Tahap 6 → Tujuan 3.  Alat: GEE, Vensim PLE, Python (PySD), Excel/Sheets, SDEverywhere, Next.js</a:t>
            </a:r>
          </a:p>
        </p:txBody>
      </p:sp>
      <p:grpSp>
        <p:nvGrpSpPr>
          <p:cNvPr name="Group 147" id="147"/>
          <p:cNvGrpSpPr/>
          <p:nvPr/>
        </p:nvGrpSpPr>
        <p:grpSpPr>
          <a:xfrm rot="0">
            <a:off x="15690304" y="2247814"/>
            <a:ext cx="1016594" cy="304981"/>
            <a:chOff x="0" y="0"/>
            <a:chExt cx="1355458" cy="406641"/>
          </a:xfrm>
        </p:grpSpPr>
        <p:sp>
          <p:nvSpPr>
            <p:cNvPr name="Freeform 148" id="148"/>
            <p:cNvSpPr/>
            <p:nvPr/>
          </p:nvSpPr>
          <p:spPr>
            <a:xfrm flipH="false" flipV="false" rot="0">
              <a:off x="0" y="0"/>
              <a:ext cx="1355471" cy="406654"/>
            </a:xfrm>
            <a:custGeom>
              <a:avLst/>
              <a:gdLst/>
              <a:ahLst/>
              <a:cxnLst/>
              <a:rect r="r" b="b" t="t" l="l"/>
              <a:pathLst>
                <a:path h="406654" w="1355471">
                  <a:moveTo>
                    <a:pt x="0" y="0"/>
                  </a:moveTo>
                  <a:lnTo>
                    <a:pt x="1355471" y="0"/>
                  </a:lnTo>
                  <a:lnTo>
                    <a:pt x="1355471" y="406654"/>
                  </a:lnTo>
                  <a:lnTo>
                    <a:pt x="0" y="406654"/>
                  </a:lnTo>
                  <a:close/>
                </a:path>
              </a:pathLst>
            </a:custGeom>
            <a:blipFill>
              <a:blip r:embed="rId5">
                <a:alphaModFix amt="0"/>
              </a:blip>
              <a:stretch>
                <a:fillRect l="0" t="-14949" r="0" b="-14945"/>
              </a:stretch>
            </a:blipFill>
          </p:spPr>
          <p:txBody>
            <a:bodyPr/>
            <a:p/>
          </p:txBody>
        </p:sp>
      </p:grpSp>
      <p:grpSp>
        <p:nvGrpSpPr>
          <p:cNvPr name="Group 149" id="149"/>
          <p:cNvGrpSpPr/>
          <p:nvPr/>
        </p:nvGrpSpPr>
        <p:grpSpPr>
          <a:xfrm rot="0">
            <a:off x="1234440" y="5285232"/>
            <a:ext cx="1709928" cy="365760"/>
            <a:chOff x="0" y="0"/>
            <a:chExt cx="2279904" cy="487680"/>
          </a:xfrm>
        </p:grpSpPr>
        <p:sp>
          <p:nvSpPr>
            <p:cNvPr name="Freeform 150" id="150"/>
            <p:cNvSpPr/>
            <p:nvPr/>
          </p:nvSpPr>
          <p:spPr>
            <a:xfrm flipH="false" flipV="false" rot="0">
              <a:off x="0" y="0"/>
              <a:ext cx="2279904" cy="487680"/>
            </a:xfrm>
            <a:custGeom>
              <a:avLst/>
              <a:gdLst/>
              <a:ahLst/>
              <a:cxnLst/>
              <a:rect r="r" b="b" t="t" l="l"/>
              <a:pathLst>
                <a:path h="487680" w="2279904">
                  <a:moveTo>
                    <a:pt x="0" y="243840"/>
                  </a:moveTo>
                  <a:cubicBezTo>
                    <a:pt x="0" y="109220"/>
                    <a:pt x="109220" y="0"/>
                    <a:pt x="243840" y="0"/>
                  </a:cubicBezTo>
                  <a:lnTo>
                    <a:pt x="2036064" y="0"/>
                  </a:lnTo>
                  <a:cubicBezTo>
                    <a:pt x="2170684" y="0"/>
                    <a:pt x="2279904" y="109220"/>
                    <a:pt x="2279904" y="243840"/>
                  </a:cubicBezTo>
                  <a:cubicBezTo>
                    <a:pt x="2279904" y="378460"/>
                    <a:pt x="2170684" y="487680"/>
                    <a:pt x="2036064" y="487680"/>
                  </a:cubicBezTo>
                  <a:lnTo>
                    <a:pt x="243840" y="487680"/>
                  </a:lnTo>
                  <a:cubicBezTo>
                    <a:pt x="109220" y="487680"/>
                    <a:pt x="0" y="378460"/>
                    <a:pt x="0" y="243840"/>
                  </a:cubicBezTo>
                  <a:close/>
                </a:path>
              </a:pathLst>
            </a:custGeom>
            <a:solidFill>
              <a:srgbClr val="39C0D3"/>
            </a:solidFill>
          </p:spPr>
          <p:txBody>
            <a:bodyPr/>
            <a:p/>
          </p:txBody>
        </p:sp>
        <p:sp>
          <p:nvSpPr>
            <p:cNvPr name="TextBox 151" id="151"/>
            <p:cNvSpPr txBox="true"/>
            <p:nvPr/>
          </p:nvSpPr>
          <p:spPr>
            <a:xfrm>
              <a:off x="0" y="-28575"/>
              <a:ext cx="2279904" cy="516255"/>
            </a:xfrm>
            <a:prstGeom prst="rect">
              <a:avLst/>
            </a:prstGeom>
          </p:spPr>
          <p:txBody>
            <a:bodyPr anchor="ctr" rtlCol="false" tIns="50800" lIns="50800" bIns="50800" rIns="50800"/>
            <a:lstStyle/>
            <a:p>
              <a:pPr algn="ctr">
                <a:lnSpc>
                  <a:spcPts val="1788"/>
                </a:lnSpc>
              </a:pPr>
              <a:r>
                <a:rPr lang="en-US" sz="1490" b="true">
                  <a:solidFill>
                    <a:srgbClr val="FFFFFF"/>
                  </a:solidFill>
                  <a:latin typeface="Calibri (MS) Bold"/>
                  <a:ea typeface="Calibri (MS) Bold"/>
                  <a:cs typeface="Calibri (MS) Bold"/>
                  <a:sym typeface="Calibri (MS) Bold"/>
                </a:rPr>
                <a:t>→ Tujuan 2</a:t>
              </a:r>
            </a:p>
          </p:txBody>
        </p:sp>
      </p:grpSp>
      <p:grpSp>
        <p:nvGrpSpPr>
          <p:cNvPr name="Group 152" id="152"/>
          <p:cNvGrpSpPr/>
          <p:nvPr/>
        </p:nvGrpSpPr>
        <p:grpSpPr>
          <a:xfrm rot="0">
            <a:off x="4050792" y="5285232"/>
            <a:ext cx="1709928" cy="365760"/>
            <a:chOff x="0" y="0"/>
            <a:chExt cx="2279904" cy="487680"/>
          </a:xfrm>
        </p:grpSpPr>
        <p:sp>
          <p:nvSpPr>
            <p:cNvPr name="Freeform 153" id="153"/>
            <p:cNvSpPr/>
            <p:nvPr/>
          </p:nvSpPr>
          <p:spPr>
            <a:xfrm flipH="false" flipV="false" rot="0">
              <a:off x="0" y="0"/>
              <a:ext cx="2279904" cy="487680"/>
            </a:xfrm>
            <a:custGeom>
              <a:avLst/>
              <a:gdLst/>
              <a:ahLst/>
              <a:cxnLst/>
              <a:rect r="r" b="b" t="t" l="l"/>
              <a:pathLst>
                <a:path h="487680" w="2279904">
                  <a:moveTo>
                    <a:pt x="0" y="243840"/>
                  </a:moveTo>
                  <a:cubicBezTo>
                    <a:pt x="0" y="109220"/>
                    <a:pt x="109220" y="0"/>
                    <a:pt x="243840" y="0"/>
                  </a:cubicBezTo>
                  <a:lnTo>
                    <a:pt x="2036064" y="0"/>
                  </a:lnTo>
                  <a:cubicBezTo>
                    <a:pt x="2170684" y="0"/>
                    <a:pt x="2279904" y="109220"/>
                    <a:pt x="2279904" y="243840"/>
                  </a:cubicBezTo>
                  <a:cubicBezTo>
                    <a:pt x="2279904" y="378460"/>
                    <a:pt x="2170684" y="487680"/>
                    <a:pt x="2036064" y="487680"/>
                  </a:cubicBezTo>
                  <a:lnTo>
                    <a:pt x="243840" y="487680"/>
                  </a:lnTo>
                  <a:cubicBezTo>
                    <a:pt x="109220" y="487680"/>
                    <a:pt x="0" y="378460"/>
                    <a:pt x="0" y="243840"/>
                  </a:cubicBezTo>
                  <a:close/>
                </a:path>
              </a:pathLst>
            </a:custGeom>
            <a:solidFill>
              <a:srgbClr val="0B5E6E"/>
            </a:solidFill>
          </p:spPr>
          <p:txBody>
            <a:bodyPr/>
            <a:p/>
          </p:txBody>
        </p:sp>
        <p:sp>
          <p:nvSpPr>
            <p:cNvPr name="TextBox 154" id="154"/>
            <p:cNvSpPr txBox="true"/>
            <p:nvPr/>
          </p:nvSpPr>
          <p:spPr>
            <a:xfrm>
              <a:off x="0" y="-28575"/>
              <a:ext cx="2279904" cy="516255"/>
            </a:xfrm>
            <a:prstGeom prst="rect">
              <a:avLst/>
            </a:prstGeom>
          </p:spPr>
          <p:txBody>
            <a:bodyPr anchor="ctr" rtlCol="false" tIns="50800" lIns="50800" bIns="50800" rIns="50800"/>
            <a:lstStyle/>
            <a:p>
              <a:pPr algn="ctr">
                <a:lnSpc>
                  <a:spcPts val="1788"/>
                </a:lnSpc>
              </a:pPr>
              <a:r>
                <a:rPr lang="en-US" sz="1490" b="true">
                  <a:solidFill>
                    <a:srgbClr val="FFFFFF"/>
                  </a:solidFill>
                  <a:latin typeface="Calibri (MS) Bold"/>
                  <a:ea typeface="Calibri (MS) Bold"/>
                  <a:cs typeface="Calibri (MS) Bold"/>
                  <a:sym typeface="Calibri (MS) Bold"/>
                </a:rPr>
                <a:t>→ Tujuan 1</a:t>
              </a:r>
            </a:p>
          </p:txBody>
        </p:sp>
      </p:grpSp>
      <p:grpSp>
        <p:nvGrpSpPr>
          <p:cNvPr name="Group 155" id="155"/>
          <p:cNvGrpSpPr/>
          <p:nvPr/>
        </p:nvGrpSpPr>
        <p:grpSpPr>
          <a:xfrm rot="0">
            <a:off x="6876288" y="5285232"/>
            <a:ext cx="1709928" cy="365760"/>
            <a:chOff x="0" y="0"/>
            <a:chExt cx="2279904" cy="487680"/>
          </a:xfrm>
        </p:grpSpPr>
        <p:sp>
          <p:nvSpPr>
            <p:cNvPr name="Freeform 156" id="156"/>
            <p:cNvSpPr/>
            <p:nvPr/>
          </p:nvSpPr>
          <p:spPr>
            <a:xfrm flipH="false" flipV="false" rot="0">
              <a:off x="0" y="0"/>
              <a:ext cx="2279904" cy="487680"/>
            </a:xfrm>
            <a:custGeom>
              <a:avLst/>
              <a:gdLst/>
              <a:ahLst/>
              <a:cxnLst/>
              <a:rect r="r" b="b" t="t" l="l"/>
              <a:pathLst>
                <a:path h="487680" w="2279904">
                  <a:moveTo>
                    <a:pt x="0" y="243840"/>
                  </a:moveTo>
                  <a:cubicBezTo>
                    <a:pt x="0" y="109220"/>
                    <a:pt x="109220" y="0"/>
                    <a:pt x="243840" y="0"/>
                  </a:cubicBezTo>
                  <a:lnTo>
                    <a:pt x="2036064" y="0"/>
                  </a:lnTo>
                  <a:cubicBezTo>
                    <a:pt x="2170684" y="0"/>
                    <a:pt x="2279904" y="109220"/>
                    <a:pt x="2279904" y="243840"/>
                  </a:cubicBezTo>
                  <a:cubicBezTo>
                    <a:pt x="2279904" y="378460"/>
                    <a:pt x="2170684" y="487680"/>
                    <a:pt x="2036064" y="487680"/>
                  </a:cubicBezTo>
                  <a:lnTo>
                    <a:pt x="243840" y="487680"/>
                  </a:lnTo>
                  <a:cubicBezTo>
                    <a:pt x="109220" y="487680"/>
                    <a:pt x="0" y="378460"/>
                    <a:pt x="0" y="243840"/>
                  </a:cubicBezTo>
                  <a:close/>
                </a:path>
              </a:pathLst>
            </a:custGeom>
            <a:solidFill>
              <a:srgbClr val="39C0D3"/>
            </a:solidFill>
          </p:spPr>
          <p:txBody>
            <a:bodyPr/>
            <a:p/>
          </p:txBody>
        </p:sp>
        <p:sp>
          <p:nvSpPr>
            <p:cNvPr name="TextBox 157" id="157"/>
            <p:cNvSpPr txBox="true"/>
            <p:nvPr/>
          </p:nvSpPr>
          <p:spPr>
            <a:xfrm>
              <a:off x="0" y="-28575"/>
              <a:ext cx="2279904" cy="516255"/>
            </a:xfrm>
            <a:prstGeom prst="rect">
              <a:avLst/>
            </a:prstGeom>
          </p:spPr>
          <p:txBody>
            <a:bodyPr anchor="ctr" rtlCol="false" tIns="50800" lIns="50800" bIns="50800" rIns="50800"/>
            <a:lstStyle/>
            <a:p>
              <a:pPr algn="ctr">
                <a:lnSpc>
                  <a:spcPts val="1788"/>
                </a:lnSpc>
              </a:pPr>
              <a:r>
                <a:rPr lang="en-US" sz="1490" b="true">
                  <a:solidFill>
                    <a:srgbClr val="FFFFFF"/>
                  </a:solidFill>
                  <a:latin typeface="Calibri (MS) Bold"/>
                  <a:ea typeface="Calibri (MS) Bold"/>
                  <a:cs typeface="Calibri (MS) Bold"/>
                  <a:sym typeface="Calibri (MS) Bold"/>
                </a:rPr>
                <a:t>→ Tujuan 2</a:t>
              </a:r>
            </a:p>
          </p:txBody>
        </p:sp>
      </p:grpSp>
      <p:grpSp>
        <p:nvGrpSpPr>
          <p:cNvPr name="Group 158" id="158"/>
          <p:cNvGrpSpPr/>
          <p:nvPr/>
        </p:nvGrpSpPr>
        <p:grpSpPr>
          <a:xfrm rot="0">
            <a:off x="9692640" y="5285232"/>
            <a:ext cx="1709928" cy="365760"/>
            <a:chOff x="0" y="0"/>
            <a:chExt cx="2279904" cy="487680"/>
          </a:xfrm>
        </p:grpSpPr>
        <p:sp>
          <p:nvSpPr>
            <p:cNvPr name="Freeform 159" id="159"/>
            <p:cNvSpPr/>
            <p:nvPr/>
          </p:nvSpPr>
          <p:spPr>
            <a:xfrm flipH="false" flipV="false" rot="0">
              <a:off x="0" y="0"/>
              <a:ext cx="2279904" cy="487680"/>
            </a:xfrm>
            <a:custGeom>
              <a:avLst/>
              <a:gdLst/>
              <a:ahLst/>
              <a:cxnLst/>
              <a:rect r="r" b="b" t="t" l="l"/>
              <a:pathLst>
                <a:path h="487680" w="2279904">
                  <a:moveTo>
                    <a:pt x="0" y="243840"/>
                  </a:moveTo>
                  <a:cubicBezTo>
                    <a:pt x="0" y="109220"/>
                    <a:pt x="109220" y="0"/>
                    <a:pt x="243840" y="0"/>
                  </a:cubicBezTo>
                  <a:lnTo>
                    <a:pt x="2036064" y="0"/>
                  </a:lnTo>
                  <a:cubicBezTo>
                    <a:pt x="2170684" y="0"/>
                    <a:pt x="2279904" y="109220"/>
                    <a:pt x="2279904" y="243840"/>
                  </a:cubicBezTo>
                  <a:cubicBezTo>
                    <a:pt x="2279904" y="378460"/>
                    <a:pt x="2170684" y="487680"/>
                    <a:pt x="2036064" y="487680"/>
                  </a:cubicBezTo>
                  <a:lnTo>
                    <a:pt x="243840" y="487680"/>
                  </a:lnTo>
                  <a:cubicBezTo>
                    <a:pt x="109220" y="487680"/>
                    <a:pt x="0" y="378460"/>
                    <a:pt x="0" y="243840"/>
                  </a:cubicBezTo>
                  <a:close/>
                </a:path>
              </a:pathLst>
            </a:custGeom>
            <a:solidFill>
              <a:srgbClr val="39C0D3"/>
            </a:solidFill>
          </p:spPr>
          <p:txBody>
            <a:bodyPr/>
            <a:p/>
          </p:txBody>
        </p:sp>
        <p:sp>
          <p:nvSpPr>
            <p:cNvPr name="TextBox 160" id="160"/>
            <p:cNvSpPr txBox="true"/>
            <p:nvPr/>
          </p:nvSpPr>
          <p:spPr>
            <a:xfrm>
              <a:off x="0" y="-28575"/>
              <a:ext cx="2279904" cy="516255"/>
            </a:xfrm>
            <a:prstGeom prst="rect">
              <a:avLst/>
            </a:prstGeom>
          </p:spPr>
          <p:txBody>
            <a:bodyPr anchor="ctr" rtlCol="false" tIns="50800" lIns="50800" bIns="50800" rIns="50800"/>
            <a:lstStyle/>
            <a:p>
              <a:pPr algn="ctr">
                <a:lnSpc>
                  <a:spcPts val="1788"/>
                </a:lnSpc>
              </a:pPr>
              <a:r>
                <a:rPr lang="en-US" sz="1490" b="true">
                  <a:solidFill>
                    <a:srgbClr val="FFFFFF"/>
                  </a:solidFill>
                  <a:latin typeface="Calibri (MS) Bold"/>
                  <a:ea typeface="Calibri (MS) Bold"/>
                  <a:cs typeface="Calibri (MS) Bold"/>
                  <a:sym typeface="Calibri (MS) Bold"/>
                </a:rPr>
                <a:t>→ Tujuan 2</a:t>
              </a:r>
            </a:p>
          </p:txBody>
        </p:sp>
      </p:grpSp>
      <p:grpSp>
        <p:nvGrpSpPr>
          <p:cNvPr name="Group 161" id="161"/>
          <p:cNvGrpSpPr/>
          <p:nvPr/>
        </p:nvGrpSpPr>
        <p:grpSpPr>
          <a:xfrm rot="0">
            <a:off x="12518136" y="5285232"/>
            <a:ext cx="1709928" cy="365760"/>
            <a:chOff x="0" y="0"/>
            <a:chExt cx="2279904" cy="487680"/>
          </a:xfrm>
        </p:grpSpPr>
        <p:sp>
          <p:nvSpPr>
            <p:cNvPr name="Freeform 162" id="162"/>
            <p:cNvSpPr/>
            <p:nvPr/>
          </p:nvSpPr>
          <p:spPr>
            <a:xfrm flipH="false" flipV="false" rot="0">
              <a:off x="0" y="0"/>
              <a:ext cx="2279904" cy="487680"/>
            </a:xfrm>
            <a:custGeom>
              <a:avLst/>
              <a:gdLst/>
              <a:ahLst/>
              <a:cxnLst/>
              <a:rect r="r" b="b" t="t" l="l"/>
              <a:pathLst>
                <a:path h="487680" w="2279904">
                  <a:moveTo>
                    <a:pt x="0" y="243840"/>
                  </a:moveTo>
                  <a:cubicBezTo>
                    <a:pt x="0" y="109220"/>
                    <a:pt x="109220" y="0"/>
                    <a:pt x="243840" y="0"/>
                  </a:cubicBezTo>
                  <a:lnTo>
                    <a:pt x="2036064" y="0"/>
                  </a:lnTo>
                  <a:cubicBezTo>
                    <a:pt x="2170684" y="0"/>
                    <a:pt x="2279904" y="109220"/>
                    <a:pt x="2279904" y="243840"/>
                  </a:cubicBezTo>
                  <a:cubicBezTo>
                    <a:pt x="2279904" y="378460"/>
                    <a:pt x="2170684" y="487680"/>
                    <a:pt x="2036064" y="487680"/>
                  </a:cubicBezTo>
                  <a:lnTo>
                    <a:pt x="243840" y="487680"/>
                  </a:lnTo>
                  <a:cubicBezTo>
                    <a:pt x="109220" y="487680"/>
                    <a:pt x="0" y="378460"/>
                    <a:pt x="0" y="243840"/>
                  </a:cubicBezTo>
                  <a:close/>
                </a:path>
              </a:pathLst>
            </a:custGeom>
            <a:solidFill>
              <a:srgbClr val="39C0D3"/>
            </a:solidFill>
          </p:spPr>
          <p:txBody>
            <a:bodyPr/>
            <a:p/>
          </p:txBody>
        </p:sp>
        <p:sp>
          <p:nvSpPr>
            <p:cNvPr name="TextBox 163" id="163"/>
            <p:cNvSpPr txBox="true"/>
            <p:nvPr/>
          </p:nvSpPr>
          <p:spPr>
            <a:xfrm>
              <a:off x="0" y="-28575"/>
              <a:ext cx="2279904" cy="516255"/>
            </a:xfrm>
            <a:prstGeom prst="rect">
              <a:avLst/>
            </a:prstGeom>
          </p:spPr>
          <p:txBody>
            <a:bodyPr anchor="ctr" rtlCol="false" tIns="50800" lIns="50800" bIns="50800" rIns="50800"/>
            <a:lstStyle/>
            <a:p>
              <a:pPr algn="ctr">
                <a:lnSpc>
                  <a:spcPts val="1788"/>
                </a:lnSpc>
              </a:pPr>
              <a:r>
                <a:rPr lang="en-US" sz="1490" b="true">
                  <a:solidFill>
                    <a:srgbClr val="FFFFFF"/>
                  </a:solidFill>
                  <a:latin typeface="Calibri (MS) Bold"/>
                  <a:ea typeface="Calibri (MS) Bold"/>
                  <a:cs typeface="Calibri (MS) Bold"/>
                  <a:sym typeface="Calibri (MS) Bold"/>
                </a:rPr>
                <a:t>→ Tujuan 2</a:t>
              </a:r>
            </a:p>
          </p:txBody>
        </p:sp>
      </p:grpSp>
      <p:grpSp>
        <p:nvGrpSpPr>
          <p:cNvPr name="Group 164" id="164"/>
          <p:cNvGrpSpPr/>
          <p:nvPr/>
        </p:nvGrpSpPr>
        <p:grpSpPr>
          <a:xfrm rot="0">
            <a:off x="15334488" y="5285232"/>
            <a:ext cx="1709928" cy="365760"/>
            <a:chOff x="0" y="0"/>
            <a:chExt cx="2279904" cy="487680"/>
          </a:xfrm>
        </p:grpSpPr>
        <p:sp>
          <p:nvSpPr>
            <p:cNvPr name="Freeform 165" id="165"/>
            <p:cNvSpPr/>
            <p:nvPr/>
          </p:nvSpPr>
          <p:spPr>
            <a:xfrm flipH="false" flipV="false" rot="0">
              <a:off x="0" y="0"/>
              <a:ext cx="2279904" cy="487680"/>
            </a:xfrm>
            <a:custGeom>
              <a:avLst/>
              <a:gdLst/>
              <a:ahLst/>
              <a:cxnLst/>
              <a:rect r="r" b="b" t="t" l="l"/>
              <a:pathLst>
                <a:path h="487680" w="2279904">
                  <a:moveTo>
                    <a:pt x="0" y="243840"/>
                  </a:moveTo>
                  <a:cubicBezTo>
                    <a:pt x="0" y="109220"/>
                    <a:pt x="109220" y="0"/>
                    <a:pt x="243840" y="0"/>
                  </a:cubicBezTo>
                  <a:lnTo>
                    <a:pt x="2036064" y="0"/>
                  </a:lnTo>
                  <a:cubicBezTo>
                    <a:pt x="2170684" y="0"/>
                    <a:pt x="2279904" y="109220"/>
                    <a:pt x="2279904" y="243840"/>
                  </a:cubicBezTo>
                  <a:cubicBezTo>
                    <a:pt x="2279904" y="378460"/>
                    <a:pt x="2170684" y="487680"/>
                    <a:pt x="2036064" y="487680"/>
                  </a:cubicBezTo>
                  <a:lnTo>
                    <a:pt x="243840" y="487680"/>
                  </a:lnTo>
                  <a:cubicBezTo>
                    <a:pt x="109220" y="487680"/>
                    <a:pt x="0" y="378460"/>
                    <a:pt x="0" y="243840"/>
                  </a:cubicBezTo>
                  <a:close/>
                </a:path>
              </a:pathLst>
            </a:custGeom>
            <a:solidFill>
              <a:srgbClr val="FFD23B"/>
            </a:solidFill>
          </p:spPr>
          <p:txBody>
            <a:bodyPr/>
            <a:p/>
          </p:txBody>
        </p:sp>
        <p:sp>
          <p:nvSpPr>
            <p:cNvPr name="TextBox 166" id="166"/>
            <p:cNvSpPr txBox="true"/>
            <p:nvPr/>
          </p:nvSpPr>
          <p:spPr>
            <a:xfrm>
              <a:off x="0" y="-28575"/>
              <a:ext cx="2279904" cy="516255"/>
            </a:xfrm>
            <a:prstGeom prst="rect">
              <a:avLst/>
            </a:prstGeom>
          </p:spPr>
          <p:txBody>
            <a:bodyPr anchor="ctr" rtlCol="false" tIns="50800" lIns="50800" bIns="50800" rIns="50800"/>
            <a:lstStyle/>
            <a:p>
              <a:pPr algn="ctr">
                <a:lnSpc>
                  <a:spcPts val="1788"/>
                </a:lnSpc>
              </a:pPr>
              <a:r>
                <a:rPr lang="en-US" sz="1490" b="true">
                  <a:solidFill>
                    <a:srgbClr val="14313B"/>
                  </a:solidFill>
                  <a:latin typeface="Calibri (MS) Bold"/>
                  <a:ea typeface="Calibri (MS) Bold"/>
                  <a:cs typeface="Calibri (MS) Bold"/>
                  <a:sym typeface="Calibri (MS) Bold"/>
                </a:rPr>
                <a:t>→ Tujuan 3</a:t>
              </a:r>
            </a:p>
          </p:txBody>
        </p:sp>
      </p:grpSp>
      <p:sp>
        <p:nvSpPr>
          <p:cNvPr name="Freeform 167" id="167"/>
          <p:cNvSpPr/>
          <p:nvPr/>
        </p:nvSpPr>
        <p:spPr>
          <a:xfrm>
            <a:off x="3457286" y="3920391"/>
            <a:ext cx="185683" cy="354634"/>
          </a:xfrm>
          <a:custGeom>
            <a:avLst/>
            <a:gdLst/>
            <a:ahLst/>
            <a:cxnLst/>
            <a:rect r="r" b="b" t="t" l="l"/>
            <a:pathLst>
              <a:path h="354634" w="185683">
                <a:moveTo>
                  <a:pt x="0" y="354633"/>
                </a:moveTo>
                <a:lnTo>
                  <a:pt x="0" y="265975"/>
                </a:lnTo>
                <a:cubicBezTo>
                  <a:pt x="0" y="217010"/>
                  <a:pt x="39694" y="177317"/>
                  <a:pt x="88659" y="177317"/>
                </a:cubicBezTo>
                <a:lnTo>
                  <a:pt x="97025" y="177317"/>
                </a:lnTo>
                <a:cubicBezTo>
                  <a:pt x="145990" y="177317"/>
                  <a:pt x="185683" y="137623"/>
                  <a:pt x="185683" y="88658"/>
                </a:cubicBezTo>
                <a:lnTo>
                  <a:pt x="185683" y="0"/>
                </a:lnTo>
              </a:path>
            </a:pathLst>
          </a:custGeom>
          <a:ln cap="flat" w="38100">
            <a:solidFill>
              <a:srgbClr val="39C0D3"/>
            </a:solidFill>
            <a:prstDash val="solid"/>
            <a:headEnd type="none" len="sm" w="sm"/>
            <a:tailEnd type="triangle" len="med" w="lg"/>
          </a:ln>
        </p:spPr>
        <p:txBody>
          <a:bodyPr/>
          <a:p/>
        </p:txBody>
      </p:sp>
      <p:sp>
        <p:nvSpPr>
          <p:cNvPr name="Freeform 168" id="168"/>
          <p:cNvSpPr/>
          <p:nvPr/>
        </p:nvSpPr>
        <p:spPr>
          <a:xfrm>
            <a:off x="6120983" y="4184404"/>
            <a:ext cx="315899" cy="65704"/>
          </a:xfrm>
          <a:custGeom>
            <a:avLst/>
            <a:gdLst/>
            <a:ahLst/>
            <a:cxnLst/>
            <a:rect r="r" b="b" t="t" l="l"/>
            <a:pathLst>
              <a:path h="65704" w="315899">
                <a:moveTo>
                  <a:pt x="0" y="65704"/>
                </a:moveTo>
                <a:lnTo>
                  <a:pt x="125098" y="65704"/>
                </a:lnTo>
                <a:cubicBezTo>
                  <a:pt x="133811" y="65704"/>
                  <a:pt x="142167" y="62243"/>
                  <a:pt x="148328" y="56082"/>
                </a:cubicBezTo>
                <a:cubicBezTo>
                  <a:pt x="154489" y="49920"/>
                  <a:pt x="157950" y="41565"/>
                  <a:pt x="157950" y="32852"/>
                </a:cubicBezTo>
                <a:lnTo>
                  <a:pt x="157950" y="32852"/>
                </a:lnTo>
                <a:cubicBezTo>
                  <a:pt x="157950" y="24139"/>
                  <a:pt x="161411" y="15783"/>
                  <a:pt x="167572" y="9622"/>
                </a:cubicBezTo>
                <a:cubicBezTo>
                  <a:pt x="173733" y="3461"/>
                  <a:pt x="182089" y="0"/>
                  <a:pt x="190802" y="0"/>
                </a:cubicBezTo>
                <a:lnTo>
                  <a:pt x="315899" y="0"/>
                </a:lnTo>
              </a:path>
            </a:pathLst>
          </a:custGeom>
          <a:ln cap="flat" w="38100">
            <a:solidFill>
              <a:srgbClr val="39C0D3"/>
            </a:solidFill>
            <a:prstDash val="solid"/>
            <a:headEnd type="none" len="sm" w="sm"/>
            <a:tailEnd type="triangle" len="med" w="lg"/>
          </a:ln>
        </p:spPr>
        <p:txBody>
          <a:bodyPr/>
          <a:p/>
        </p:txBody>
      </p:sp>
      <p:sp>
        <p:nvSpPr>
          <p:cNvPr name="Freeform 169" id="169"/>
          <p:cNvSpPr/>
          <p:nvPr/>
        </p:nvSpPr>
        <p:spPr>
          <a:xfrm>
            <a:off x="9054243" y="4080510"/>
            <a:ext cx="217773" cy="51670"/>
          </a:xfrm>
          <a:custGeom>
            <a:avLst/>
            <a:gdLst/>
            <a:ahLst/>
            <a:cxnLst/>
            <a:rect r="r" b="b" t="t" l="l"/>
            <a:pathLst>
              <a:path h="51670" w="217773">
                <a:moveTo>
                  <a:pt x="0" y="0"/>
                </a:moveTo>
                <a:lnTo>
                  <a:pt x="83052" y="0"/>
                </a:lnTo>
                <a:cubicBezTo>
                  <a:pt x="89904" y="0"/>
                  <a:pt x="96475" y="2722"/>
                  <a:pt x="101320" y="7567"/>
                </a:cubicBezTo>
                <a:cubicBezTo>
                  <a:pt x="106165" y="12412"/>
                  <a:pt x="108887" y="18983"/>
                  <a:pt x="108887" y="25835"/>
                </a:cubicBezTo>
                <a:lnTo>
                  <a:pt x="108887" y="25835"/>
                </a:lnTo>
                <a:cubicBezTo>
                  <a:pt x="108887" y="32687"/>
                  <a:pt x="111608" y="39258"/>
                  <a:pt x="116454" y="44103"/>
                </a:cubicBezTo>
                <a:cubicBezTo>
                  <a:pt x="121298" y="48948"/>
                  <a:pt x="127870" y="51670"/>
                  <a:pt x="134722" y="51670"/>
                </a:cubicBezTo>
                <a:lnTo>
                  <a:pt x="217773" y="51670"/>
                </a:lnTo>
              </a:path>
            </a:pathLst>
          </a:custGeom>
          <a:ln cap="flat" w="38100">
            <a:solidFill>
              <a:srgbClr val="39C0D3"/>
            </a:solidFill>
            <a:prstDash val="solid"/>
            <a:headEnd type="none" len="sm" w="sm"/>
            <a:tailEnd type="triangle" len="med" w="lg"/>
          </a:ln>
        </p:spPr>
        <p:txBody>
          <a:bodyPr/>
          <a:p/>
        </p:txBody>
      </p:sp>
      <p:sp>
        <p:nvSpPr>
          <p:cNvPr name="Freeform 170" id="170"/>
          <p:cNvSpPr/>
          <p:nvPr/>
        </p:nvSpPr>
        <p:spPr>
          <a:xfrm>
            <a:off x="11809476" y="4080510"/>
            <a:ext cx="235605" cy="48505"/>
          </a:xfrm>
          <a:custGeom>
            <a:avLst/>
            <a:gdLst/>
            <a:ahLst/>
            <a:cxnLst/>
            <a:rect r="r" b="b" t="t" l="l"/>
            <a:pathLst>
              <a:path h="48505" w="235605">
                <a:moveTo>
                  <a:pt x="0" y="0"/>
                </a:moveTo>
                <a:lnTo>
                  <a:pt x="93549" y="0"/>
                </a:lnTo>
                <a:cubicBezTo>
                  <a:pt x="106944" y="0"/>
                  <a:pt x="117802" y="10858"/>
                  <a:pt x="117802" y="24253"/>
                </a:cubicBezTo>
                <a:lnTo>
                  <a:pt x="117802" y="24253"/>
                </a:lnTo>
                <a:cubicBezTo>
                  <a:pt x="117802" y="37647"/>
                  <a:pt x="128660" y="48505"/>
                  <a:pt x="142055" y="48505"/>
                </a:cubicBezTo>
                <a:lnTo>
                  <a:pt x="235605" y="48505"/>
                </a:lnTo>
              </a:path>
            </a:pathLst>
          </a:custGeom>
          <a:ln cap="flat" w="38100">
            <a:solidFill>
              <a:srgbClr val="39C0D3"/>
            </a:solidFill>
            <a:prstDash val="solid"/>
            <a:headEnd type="none" len="sm" w="sm"/>
            <a:tailEnd type="triangle" len="med" w="lg"/>
          </a:ln>
        </p:spPr>
        <p:txBody>
          <a:bodyPr/>
          <a:p/>
        </p:txBody>
      </p:sp>
      <p:sp>
        <p:nvSpPr>
          <p:cNvPr name="Freeform 171" id="171"/>
          <p:cNvSpPr/>
          <p:nvPr/>
        </p:nvSpPr>
        <p:spPr>
          <a:xfrm>
            <a:off x="14594455" y="3992127"/>
            <a:ext cx="379203" cy="88383"/>
          </a:xfrm>
          <a:custGeom>
            <a:avLst/>
            <a:gdLst/>
            <a:ahLst/>
            <a:cxnLst/>
            <a:rect r="r" b="b" t="t" l="l"/>
            <a:pathLst>
              <a:path h="88383" w="379203">
                <a:moveTo>
                  <a:pt x="0" y="88383"/>
                </a:moveTo>
                <a:lnTo>
                  <a:pt x="145411" y="88383"/>
                </a:lnTo>
                <a:cubicBezTo>
                  <a:pt x="169817" y="88383"/>
                  <a:pt x="189602" y="68598"/>
                  <a:pt x="189602" y="44192"/>
                </a:cubicBezTo>
                <a:lnTo>
                  <a:pt x="189602" y="44192"/>
                </a:lnTo>
                <a:cubicBezTo>
                  <a:pt x="189602" y="19785"/>
                  <a:pt x="209387" y="0"/>
                  <a:pt x="233793" y="0"/>
                </a:cubicBezTo>
                <a:lnTo>
                  <a:pt x="379203" y="0"/>
                </a:lnTo>
              </a:path>
            </a:pathLst>
          </a:custGeom>
          <a:ln cap="flat" w="38100">
            <a:solidFill>
              <a:srgbClr val="39C0D3"/>
            </a:solidFill>
            <a:prstDash val="solid"/>
            <a:headEnd type="none" len="sm" w="sm"/>
            <a:tailEnd type="triangle" len="med" w="lg"/>
          </a:ln>
        </p:spPr>
        <p:txBody>
          <a:bodyPr/>
          <a:p/>
        </p:txBody>
      </p:sp>
      <p:grpSp>
        <p:nvGrpSpPr>
          <p:cNvPr name="Group 172" id="172"/>
          <p:cNvGrpSpPr/>
          <p:nvPr/>
        </p:nvGrpSpPr>
        <p:grpSpPr>
          <a:xfrm rot="0">
            <a:off x="1405890" y="2194560"/>
            <a:ext cx="1371600" cy="411480"/>
            <a:chOff x="0" y="0"/>
            <a:chExt cx="1828800" cy="548640"/>
          </a:xfrm>
        </p:grpSpPr>
        <p:grpSp>
          <p:nvGrpSpPr>
            <p:cNvPr name="Group 173" id="173"/>
            <p:cNvGrpSpPr/>
            <p:nvPr/>
          </p:nvGrpSpPr>
          <p:grpSpPr>
            <a:xfrm rot="0">
              <a:off x="0" y="0"/>
              <a:ext cx="1828800" cy="548640"/>
              <a:chOff x="0" y="0"/>
              <a:chExt cx="1828800" cy="548640"/>
            </a:xfrm>
          </p:grpSpPr>
          <p:sp>
            <p:nvSpPr>
              <p:cNvPr name="Freeform 174" id="174"/>
              <p:cNvSpPr/>
              <p:nvPr/>
            </p:nvSpPr>
            <p:spPr>
              <a:xfrm flipH="false" flipV="false" rot="0">
                <a:off x="0" y="0"/>
                <a:ext cx="1828800" cy="548640"/>
              </a:xfrm>
              <a:custGeom>
                <a:avLst/>
                <a:gdLst/>
                <a:ahLst/>
                <a:cxnLst/>
                <a:rect r="r" b="b" t="t" l="l"/>
                <a:pathLst>
                  <a:path h="548640" w="1828800">
                    <a:moveTo>
                      <a:pt x="0" y="274320"/>
                    </a:moveTo>
                    <a:cubicBezTo>
                      <a:pt x="0" y="122809"/>
                      <a:pt x="122809" y="0"/>
                      <a:pt x="274320" y="0"/>
                    </a:cubicBezTo>
                    <a:lnTo>
                      <a:pt x="1554480" y="0"/>
                    </a:lnTo>
                    <a:cubicBezTo>
                      <a:pt x="1705991" y="0"/>
                      <a:pt x="1828800" y="122809"/>
                      <a:pt x="1828800" y="274320"/>
                    </a:cubicBezTo>
                    <a:cubicBezTo>
                      <a:pt x="1828800" y="425831"/>
                      <a:pt x="1705991" y="548640"/>
                      <a:pt x="1554480"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75" id="175"/>
            <p:cNvGrpSpPr/>
            <p:nvPr/>
          </p:nvGrpSpPr>
          <p:grpSpPr>
            <a:xfrm rot="0">
              <a:off x="236673" y="71002"/>
              <a:ext cx="1355454" cy="406636"/>
              <a:chOff x="0" y="0"/>
              <a:chExt cx="1828800" cy="548640"/>
            </a:xfrm>
          </p:grpSpPr>
          <p:sp>
            <p:nvSpPr>
              <p:cNvPr name="Freeform 176" id="176"/>
              <p:cNvSpPr/>
              <p:nvPr/>
            </p:nvSpPr>
            <p:spPr>
              <a:xfrm flipH="false" flipV="false" rot="0">
                <a:off x="0" y="0"/>
                <a:ext cx="1828800" cy="548640"/>
              </a:xfrm>
              <a:custGeom>
                <a:avLst/>
                <a:gdLst/>
                <a:ahLst/>
                <a:cxnLst/>
                <a:rect r="r" b="b" t="t" l="l"/>
                <a:pathLst>
                  <a:path h="548640" w="1828800">
                    <a:moveTo>
                      <a:pt x="0" y="0"/>
                    </a:moveTo>
                    <a:lnTo>
                      <a:pt x="1828800" y="0"/>
                    </a:lnTo>
                    <a:lnTo>
                      <a:pt x="1828800" y="548640"/>
                    </a:lnTo>
                    <a:lnTo>
                      <a:pt x="0" y="548640"/>
                    </a:lnTo>
                    <a:close/>
                  </a:path>
                </a:pathLst>
              </a:custGeom>
              <a:blipFill>
                <a:blip r:embed="rId5">
                  <a:alphaModFix amt="0"/>
                </a:blip>
                <a:stretch>
                  <a:fillRect l="0" t="-14950" r="0" b="-14950"/>
                </a:stretch>
              </a:blipFill>
            </p:spPr>
            <p:txBody>
              <a:bodyPr/>
              <a:p/>
            </p:txBody>
          </p:sp>
          <p:sp>
            <p:nvSpPr>
              <p:cNvPr name="TextBox 177" id="177"/>
              <p:cNvSpPr txBox="true"/>
              <p:nvPr/>
            </p:nvSpPr>
            <p:spPr>
              <a:xfrm>
                <a:off x="0" y="-38100"/>
                <a:ext cx="1828800" cy="586740"/>
              </a:xfrm>
              <a:prstGeom prst="rect">
                <a:avLst/>
              </a:prstGeom>
            </p:spPr>
            <p:txBody>
              <a:bodyPr anchor="ctr" rtlCol="false" tIns="0" lIns="0" bIns="0" rIns="0"/>
              <a:lstStyle/>
              <a:p>
                <a:pPr algn="ctr">
                  <a:lnSpc>
                    <a:spcPts val="1800"/>
                  </a:lnSpc>
                </a:pPr>
                <a:r>
                  <a:rPr lang="en-US" sz="1500" b="true">
                    <a:solidFill>
                      <a:srgbClr val="14313B"/>
                    </a:solidFill>
                    <a:latin typeface="Calibri (MS) Bold"/>
                    <a:ea typeface="Calibri (MS) Bold"/>
                    <a:cs typeface="Calibri (MS) Bold"/>
                    <a:sym typeface="Calibri (MS) Bold"/>
                  </a:rPr>
                  <a:t>Perluasan</a:t>
                </a:r>
              </a:p>
            </p:txBody>
          </p:sp>
        </p:grpSp>
      </p:grpSp>
      <p:grpSp>
        <p:nvGrpSpPr>
          <p:cNvPr name="Group 178" id="178"/>
          <p:cNvGrpSpPr/>
          <p:nvPr/>
        </p:nvGrpSpPr>
        <p:grpSpPr>
          <a:xfrm rot="0">
            <a:off x="15512796" y="2194560"/>
            <a:ext cx="1371600" cy="411480"/>
            <a:chOff x="0" y="0"/>
            <a:chExt cx="1828800" cy="548640"/>
          </a:xfrm>
        </p:grpSpPr>
        <p:grpSp>
          <p:nvGrpSpPr>
            <p:cNvPr name="Group 179" id="179"/>
            <p:cNvGrpSpPr/>
            <p:nvPr/>
          </p:nvGrpSpPr>
          <p:grpSpPr>
            <a:xfrm rot="0">
              <a:off x="0" y="0"/>
              <a:ext cx="1828800" cy="548640"/>
              <a:chOff x="0" y="0"/>
              <a:chExt cx="1828800" cy="548640"/>
            </a:xfrm>
          </p:grpSpPr>
          <p:sp>
            <p:nvSpPr>
              <p:cNvPr name="Freeform 180" id="180"/>
              <p:cNvSpPr/>
              <p:nvPr/>
            </p:nvSpPr>
            <p:spPr>
              <a:xfrm flipH="false" flipV="false" rot="0">
                <a:off x="0" y="0"/>
                <a:ext cx="1828800" cy="548640"/>
              </a:xfrm>
              <a:custGeom>
                <a:avLst/>
                <a:gdLst/>
                <a:ahLst/>
                <a:cxnLst/>
                <a:rect r="r" b="b" t="t" l="l"/>
                <a:pathLst>
                  <a:path h="548640" w="1828800">
                    <a:moveTo>
                      <a:pt x="0" y="274320"/>
                    </a:moveTo>
                    <a:cubicBezTo>
                      <a:pt x="0" y="122809"/>
                      <a:pt x="122809" y="0"/>
                      <a:pt x="274320" y="0"/>
                    </a:cubicBezTo>
                    <a:lnTo>
                      <a:pt x="1554480" y="0"/>
                    </a:lnTo>
                    <a:cubicBezTo>
                      <a:pt x="1705991" y="0"/>
                      <a:pt x="1828800" y="122809"/>
                      <a:pt x="1828800" y="274320"/>
                    </a:cubicBezTo>
                    <a:cubicBezTo>
                      <a:pt x="1828800" y="425831"/>
                      <a:pt x="1705991" y="548640"/>
                      <a:pt x="1554480"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81" id="181"/>
            <p:cNvGrpSpPr/>
            <p:nvPr/>
          </p:nvGrpSpPr>
          <p:grpSpPr>
            <a:xfrm rot="0">
              <a:off x="236673" y="71002"/>
              <a:ext cx="1355454" cy="406636"/>
              <a:chOff x="0" y="0"/>
              <a:chExt cx="1828800" cy="548640"/>
            </a:xfrm>
          </p:grpSpPr>
          <p:sp>
            <p:nvSpPr>
              <p:cNvPr name="Freeform 182" id="182"/>
              <p:cNvSpPr/>
              <p:nvPr/>
            </p:nvSpPr>
            <p:spPr>
              <a:xfrm flipH="false" flipV="false" rot="0">
                <a:off x="0" y="0"/>
                <a:ext cx="1828800" cy="548640"/>
              </a:xfrm>
              <a:custGeom>
                <a:avLst/>
                <a:gdLst/>
                <a:ahLst/>
                <a:cxnLst/>
                <a:rect r="r" b="b" t="t" l="l"/>
                <a:pathLst>
                  <a:path h="548640" w="1828800">
                    <a:moveTo>
                      <a:pt x="0" y="0"/>
                    </a:moveTo>
                    <a:lnTo>
                      <a:pt x="1828800" y="0"/>
                    </a:lnTo>
                    <a:lnTo>
                      <a:pt x="1828800" y="548640"/>
                    </a:lnTo>
                    <a:lnTo>
                      <a:pt x="0" y="548640"/>
                    </a:lnTo>
                    <a:close/>
                  </a:path>
                </a:pathLst>
              </a:custGeom>
              <a:blipFill>
                <a:blip r:embed="rId5">
                  <a:alphaModFix amt="0"/>
                </a:blip>
                <a:stretch>
                  <a:fillRect l="0" t="-14950" r="0" b="-14950"/>
                </a:stretch>
              </a:blipFill>
            </p:spPr>
            <p:txBody>
              <a:bodyPr/>
              <a:p/>
            </p:txBody>
          </p:sp>
          <p:sp>
            <p:nvSpPr>
              <p:cNvPr name="TextBox 183" id="183"/>
              <p:cNvSpPr txBox="true"/>
              <p:nvPr/>
            </p:nvSpPr>
            <p:spPr>
              <a:xfrm>
                <a:off x="0" y="-38100"/>
                <a:ext cx="1828800" cy="586740"/>
              </a:xfrm>
              <a:prstGeom prst="rect">
                <a:avLst/>
              </a:prstGeom>
            </p:spPr>
            <p:txBody>
              <a:bodyPr anchor="ctr" rtlCol="false" tIns="0" lIns="0" bIns="0" rIns="0"/>
              <a:lstStyle/>
              <a:p>
                <a:pPr algn="ctr">
                  <a:lnSpc>
                    <a:spcPts val="1800"/>
                  </a:lnSpc>
                </a:pPr>
                <a:r>
                  <a:rPr lang="en-US" sz="1500" b="true">
                    <a:solidFill>
                      <a:srgbClr val="14313B"/>
                    </a:solidFill>
                    <a:latin typeface="Calibri (MS) Bold"/>
                    <a:ea typeface="Calibri (MS) Bold"/>
                    <a:cs typeface="Calibri (MS) Bold"/>
                    <a:sym typeface="Calibri (MS) Bold"/>
                  </a:rPr>
                  <a:t>Perluasan</a:t>
                </a:r>
              </a:p>
            </p:txBody>
          </p:sp>
        </p:grpSp>
      </p:grpSp>
      <p:grpSp>
        <p:nvGrpSpPr>
          <p:cNvPr name="Group 184" id="184"/>
          <p:cNvGrpSpPr/>
          <p:nvPr/>
        </p:nvGrpSpPr>
        <p:grpSpPr>
          <a:xfrm rot="0">
            <a:off x="10437876" y="6560820"/>
            <a:ext cx="1371600" cy="384048"/>
            <a:chOff x="0" y="0"/>
            <a:chExt cx="1828800" cy="512064"/>
          </a:xfrm>
        </p:grpSpPr>
        <p:grpSp>
          <p:nvGrpSpPr>
            <p:cNvPr name="Group 185" id="185"/>
            <p:cNvGrpSpPr/>
            <p:nvPr/>
          </p:nvGrpSpPr>
          <p:grpSpPr>
            <a:xfrm rot="0">
              <a:off x="0" y="0"/>
              <a:ext cx="1828800" cy="512064"/>
              <a:chOff x="0" y="0"/>
              <a:chExt cx="1828800" cy="512064"/>
            </a:xfrm>
          </p:grpSpPr>
          <p:sp>
            <p:nvSpPr>
              <p:cNvPr name="Freeform 186" id="186"/>
              <p:cNvSpPr/>
              <p:nvPr/>
            </p:nvSpPr>
            <p:spPr>
              <a:xfrm flipH="false" flipV="false" rot="0">
                <a:off x="0" y="0"/>
                <a:ext cx="1828800" cy="512064"/>
              </a:xfrm>
              <a:custGeom>
                <a:avLst/>
                <a:gdLst/>
                <a:ahLst/>
                <a:cxnLst/>
                <a:rect r="r" b="b" t="t" l="l"/>
                <a:pathLst>
                  <a:path h="512064" w="1828800">
                    <a:moveTo>
                      <a:pt x="0" y="256032"/>
                    </a:moveTo>
                    <a:cubicBezTo>
                      <a:pt x="0" y="114681"/>
                      <a:pt x="114681" y="0"/>
                      <a:pt x="256032" y="0"/>
                    </a:cubicBezTo>
                    <a:lnTo>
                      <a:pt x="1572768" y="0"/>
                    </a:lnTo>
                    <a:cubicBezTo>
                      <a:pt x="1714119" y="0"/>
                      <a:pt x="1828800" y="114681"/>
                      <a:pt x="1828800" y="256032"/>
                    </a:cubicBezTo>
                    <a:cubicBezTo>
                      <a:pt x="1828800" y="397383"/>
                      <a:pt x="1714119" y="512064"/>
                      <a:pt x="1572768" y="512064"/>
                    </a:cubicBezTo>
                    <a:lnTo>
                      <a:pt x="256032" y="512064"/>
                    </a:lnTo>
                    <a:cubicBezTo>
                      <a:pt x="114681" y="512064"/>
                      <a:pt x="0" y="397383"/>
                      <a:pt x="0" y="256032"/>
                    </a:cubicBezTo>
                    <a:close/>
                  </a:path>
                </a:pathLst>
              </a:custGeom>
              <a:solidFill>
                <a:srgbClr val="FFD23B"/>
              </a:solidFill>
            </p:spPr>
            <p:txBody>
              <a:bodyPr/>
              <a:p/>
            </p:txBody>
          </p:sp>
        </p:grpSp>
        <p:grpSp>
          <p:nvGrpSpPr>
            <p:cNvPr name="Group 187" id="187"/>
            <p:cNvGrpSpPr/>
            <p:nvPr/>
          </p:nvGrpSpPr>
          <p:grpSpPr>
            <a:xfrm rot="0">
              <a:off x="0" y="0"/>
              <a:ext cx="1828800" cy="512064"/>
              <a:chOff x="0" y="0"/>
              <a:chExt cx="1828800" cy="512064"/>
            </a:xfrm>
          </p:grpSpPr>
          <p:sp>
            <p:nvSpPr>
              <p:cNvPr name="Freeform 188" id="188"/>
              <p:cNvSpPr/>
              <p:nvPr/>
            </p:nvSpPr>
            <p:spPr>
              <a:xfrm flipH="false" flipV="false" rot="0">
                <a:off x="0" y="0"/>
                <a:ext cx="1828800" cy="512064"/>
              </a:xfrm>
              <a:custGeom>
                <a:avLst/>
                <a:gdLst/>
                <a:ahLst/>
                <a:cxnLst/>
                <a:rect r="r" b="b" t="t" l="l"/>
                <a:pathLst>
                  <a:path h="512064" w="1828800">
                    <a:moveTo>
                      <a:pt x="0" y="0"/>
                    </a:moveTo>
                    <a:lnTo>
                      <a:pt x="1828800" y="0"/>
                    </a:lnTo>
                    <a:lnTo>
                      <a:pt x="1828800" y="512064"/>
                    </a:lnTo>
                    <a:lnTo>
                      <a:pt x="0" y="512064"/>
                    </a:lnTo>
                    <a:close/>
                  </a:path>
                </a:pathLst>
              </a:custGeom>
              <a:blipFill>
                <a:blip r:embed="rId5">
                  <a:alphaModFix amt="0"/>
                </a:blip>
                <a:stretch>
                  <a:fillRect l="0" t="-19589" r="0" b="-19589"/>
                </a:stretch>
              </a:blipFill>
            </p:spPr>
            <p:txBody>
              <a:bodyPr/>
              <a:p/>
            </p:txBody>
          </p:sp>
          <p:sp>
            <p:nvSpPr>
              <p:cNvPr name="TextBox 189" id="189"/>
              <p:cNvSpPr txBox="true"/>
              <p:nvPr/>
            </p:nvSpPr>
            <p:spPr>
              <a:xfrm>
                <a:off x="0" y="-38100"/>
                <a:ext cx="1828800" cy="550164"/>
              </a:xfrm>
              <a:prstGeom prst="rect">
                <a:avLst/>
              </a:prstGeom>
            </p:spPr>
            <p:txBody>
              <a:bodyPr anchor="ctr" rtlCol="false" tIns="0" lIns="0" bIns="0" rIns="0"/>
              <a:lstStyle/>
              <a:p>
                <a:pPr algn="ctr">
                  <a:lnSpc>
                    <a:spcPts val="1800"/>
                  </a:lnSpc>
                </a:pPr>
                <a:r>
                  <a:rPr lang="en-US" sz="1500" b="true">
                    <a:solidFill>
                      <a:srgbClr val="14313B"/>
                    </a:solidFill>
                    <a:latin typeface="Calibri (MS) Bold"/>
                    <a:ea typeface="Calibri (MS) Bold"/>
                    <a:cs typeface="Calibri (MS) Bold"/>
                    <a:sym typeface="Calibri (MS) Bold"/>
                  </a:rPr>
                  <a:t>Perluasan</a:t>
                </a:r>
              </a:p>
            </p:txBody>
          </p:sp>
        </p:grpSp>
      </p:grpSp>
      <p:sp>
        <p:nvSpPr>
          <p:cNvPr name="Freeform 190" id="190"/>
          <p:cNvSpPr/>
          <p:nvPr/>
        </p:nvSpPr>
        <p:spPr>
          <a:xfrm>
            <a:off x="4434109" y="7269480"/>
            <a:ext cx="549371" cy="48657"/>
          </a:xfrm>
          <a:custGeom>
            <a:avLst/>
            <a:gdLst/>
            <a:ahLst/>
            <a:cxnLst/>
            <a:rect r="r" b="b" t="t" l="l"/>
            <a:pathLst>
              <a:path h="48657" w="549371">
                <a:moveTo>
                  <a:pt x="0" y="0"/>
                </a:moveTo>
                <a:lnTo>
                  <a:pt x="250357" y="0"/>
                </a:lnTo>
                <a:cubicBezTo>
                  <a:pt x="256809" y="0"/>
                  <a:pt x="262997" y="2564"/>
                  <a:pt x="267560" y="7126"/>
                </a:cubicBezTo>
                <a:cubicBezTo>
                  <a:pt x="272122" y="11689"/>
                  <a:pt x="274685" y="17877"/>
                  <a:pt x="274685" y="24329"/>
                </a:cubicBezTo>
                <a:lnTo>
                  <a:pt x="274685" y="24329"/>
                </a:lnTo>
                <a:cubicBezTo>
                  <a:pt x="274685" y="30781"/>
                  <a:pt x="277248" y="36969"/>
                  <a:pt x="281811" y="41532"/>
                </a:cubicBezTo>
                <a:cubicBezTo>
                  <a:pt x="286374" y="46094"/>
                  <a:pt x="292562" y="48658"/>
                  <a:pt x="299014" y="48658"/>
                </a:cubicBezTo>
                <a:lnTo>
                  <a:pt x="549371" y="48658"/>
                </a:lnTo>
              </a:path>
            </a:pathLst>
          </a:custGeom>
          <a:ln cap="flat" w="38100">
            <a:solidFill>
              <a:srgbClr val="39C0D3"/>
            </a:solidFill>
            <a:prstDash val="solid"/>
            <a:headEnd type="none" len="sm" w="sm"/>
            <a:tailEnd type="triangle" len="med" w="lg"/>
          </a:ln>
        </p:spPr>
        <p:txBody>
          <a:bodyPr/>
          <a:p/>
        </p:txBody>
      </p:sp>
      <p:sp>
        <p:nvSpPr>
          <p:cNvPr name="Freeform 191" id="191"/>
          <p:cNvSpPr/>
          <p:nvPr/>
        </p:nvSpPr>
        <p:spPr>
          <a:xfrm>
            <a:off x="8787140" y="7304105"/>
            <a:ext cx="588629" cy="22486"/>
          </a:xfrm>
          <a:custGeom>
            <a:avLst/>
            <a:gdLst/>
            <a:ahLst/>
            <a:cxnLst/>
            <a:rect r="r" b="b" t="t" l="l"/>
            <a:pathLst>
              <a:path h="22486" w="588629">
                <a:moveTo>
                  <a:pt x="0" y="0"/>
                </a:moveTo>
                <a:lnTo>
                  <a:pt x="283072" y="0"/>
                </a:lnTo>
                <a:cubicBezTo>
                  <a:pt x="286053" y="0"/>
                  <a:pt x="288914" y="1185"/>
                  <a:pt x="291022" y="3293"/>
                </a:cubicBezTo>
                <a:cubicBezTo>
                  <a:pt x="293131" y="5402"/>
                  <a:pt x="294315" y="8262"/>
                  <a:pt x="294315" y="11244"/>
                </a:cubicBezTo>
                <a:lnTo>
                  <a:pt x="294315" y="11244"/>
                </a:lnTo>
                <a:cubicBezTo>
                  <a:pt x="294315" y="14225"/>
                  <a:pt x="295499" y="17085"/>
                  <a:pt x="297608" y="19194"/>
                </a:cubicBezTo>
                <a:cubicBezTo>
                  <a:pt x="299716" y="21302"/>
                  <a:pt x="302576" y="22487"/>
                  <a:pt x="305558" y="22487"/>
                </a:cubicBezTo>
                <a:lnTo>
                  <a:pt x="588630" y="22487"/>
                </a:lnTo>
              </a:path>
            </a:pathLst>
          </a:custGeom>
          <a:ln cap="flat" w="38100">
            <a:solidFill>
              <a:srgbClr val="39C0D3"/>
            </a:solidFill>
            <a:prstDash val="solid"/>
            <a:headEnd type="none" len="sm" w="sm"/>
            <a:tailEnd type="triangle" len="med" w="lg"/>
          </a:ln>
        </p:spPr>
        <p:txBody>
          <a:bodyPr/>
          <a:p/>
        </p:txBody>
      </p:sp>
      <p:sp>
        <p:nvSpPr>
          <p:cNvPr name="Freeform 192" id="192"/>
          <p:cNvSpPr/>
          <p:nvPr/>
        </p:nvSpPr>
        <p:spPr>
          <a:xfrm>
            <a:off x="13009311" y="7269480"/>
            <a:ext cx="487232" cy="29992"/>
          </a:xfrm>
          <a:custGeom>
            <a:avLst/>
            <a:gdLst/>
            <a:ahLst/>
            <a:cxnLst/>
            <a:rect r="r" b="b" t="t" l="l"/>
            <a:pathLst>
              <a:path h="29992" w="487232">
                <a:moveTo>
                  <a:pt x="0" y="29992"/>
                </a:moveTo>
                <a:lnTo>
                  <a:pt x="228621" y="29992"/>
                </a:lnTo>
                <a:cubicBezTo>
                  <a:pt x="232597" y="29992"/>
                  <a:pt x="236412" y="28413"/>
                  <a:pt x="239225" y="25600"/>
                </a:cubicBezTo>
                <a:cubicBezTo>
                  <a:pt x="242037" y="22788"/>
                  <a:pt x="243616" y="18974"/>
                  <a:pt x="243616" y="14996"/>
                </a:cubicBezTo>
                <a:lnTo>
                  <a:pt x="243616" y="14996"/>
                </a:lnTo>
                <a:cubicBezTo>
                  <a:pt x="243616" y="11019"/>
                  <a:pt x="245196" y="7205"/>
                  <a:pt x="248008" y="4392"/>
                </a:cubicBezTo>
                <a:cubicBezTo>
                  <a:pt x="250821" y="1580"/>
                  <a:pt x="254636" y="0"/>
                  <a:pt x="258612" y="0"/>
                </a:cubicBezTo>
                <a:lnTo>
                  <a:pt x="487233" y="0"/>
                </a:lnTo>
              </a:path>
            </a:pathLst>
          </a:custGeom>
          <a:ln cap="flat" w="38100">
            <a:solidFill>
              <a:srgbClr val="39C0D3"/>
            </a:solidFill>
            <a:prstDash val="solid"/>
            <a:headEnd type="none" len="sm" w="sm"/>
            <a:tailEnd type="triangle" len="med" w="lg"/>
          </a:ln>
        </p:spPr>
        <p:txBody>
          <a:bodyPr/>
          <a:p/>
        </p:txBody>
      </p:sp>
      <p:sp>
        <p:nvSpPr>
          <p:cNvPr name="TextBox 193" id="193"/>
          <p:cNvSpPr txBox="true"/>
          <p:nvPr/>
        </p:nvSpPr>
        <p:spPr>
          <a:xfrm rot="0">
            <a:off x="822960" y="713232"/>
            <a:ext cx="16637508" cy="85725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Tahapan Penelitian</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Enam tahap penelitian untuk menjawab tiga tujuan</a:t>
            </a:r>
          </a:p>
        </p:txBody>
      </p:sp>
      <p:sp>
        <p:nvSpPr>
          <p:cNvPr name="TextBox 194" id="194"/>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13</a:t>
            </a:r>
          </a:p>
        </p:txBody>
      </p:sp>
      <p:grpSp>
        <p:nvGrpSpPr>
          <p:cNvPr name="Group 195" id="195"/>
          <p:cNvGrpSpPr/>
          <p:nvPr/>
        </p:nvGrpSpPr>
        <p:grpSpPr>
          <a:xfrm rot="0">
            <a:off x="16047720" y="9646920"/>
            <a:ext cx="420624" cy="420624"/>
            <a:chOff x="0" y="0"/>
            <a:chExt cx="560832" cy="560832"/>
          </a:xfrm>
        </p:grpSpPr>
        <p:sp>
          <p:nvSpPr>
            <p:cNvPr name="Freeform 196" id="196"/>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97" id="197"/>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6304" r="0" b="-576304"/>
              </a:stretch>
            </a:blipFill>
          </p:spPr>
          <p:txBody>
            <a:bodyPr/>
            <a:p/>
          </p:txBody>
        </p:sp>
        <p:sp>
          <p:nvSpPr>
            <p:cNvPr name="TextBox 6" id="6"/>
            <p:cNvSpPr txBox="true"/>
            <p:nvPr/>
          </p:nvSpPr>
          <p:spPr>
            <a:xfrm>
              <a:off x="0" y="-28575"/>
              <a:ext cx="16459200" cy="54063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grpSp>
        <p:nvGrpSpPr>
          <p:cNvPr name="Group 7" id="7"/>
          <p:cNvGrpSpPr/>
          <p:nvPr/>
        </p:nvGrpSpPr>
        <p:grpSpPr>
          <a:xfrm rot="0">
            <a:off x="5223322" y="2016371"/>
            <a:ext cx="3920678" cy="3527596"/>
            <a:chOff x="0" y="0"/>
            <a:chExt cx="5227570" cy="4703461"/>
          </a:xfrm>
        </p:grpSpPr>
        <p:grpSp>
          <p:nvGrpSpPr>
            <p:cNvPr name="Group 8" id="8"/>
            <p:cNvGrpSpPr/>
            <p:nvPr/>
          </p:nvGrpSpPr>
          <p:grpSpPr>
            <a:xfrm rot="0">
              <a:off x="0" y="0"/>
              <a:ext cx="5227570" cy="4703461"/>
              <a:chOff x="0" y="0"/>
              <a:chExt cx="1032607" cy="929079"/>
            </a:xfrm>
          </p:grpSpPr>
          <p:sp>
            <p:nvSpPr>
              <p:cNvPr name="Freeform 9" id="9"/>
              <p:cNvSpPr/>
              <p:nvPr/>
            </p:nvSpPr>
            <p:spPr>
              <a:xfrm flipH="false" flipV="false" rot="0">
                <a:off x="0" y="0"/>
                <a:ext cx="1032607" cy="929079"/>
              </a:xfrm>
              <a:custGeom>
                <a:avLst/>
                <a:gdLst/>
                <a:ahLst/>
                <a:cxnLst/>
                <a:rect r="r" b="b" t="t" l="l"/>
                <a:pathLst>
                  <a:path h="929079" w="1032607">
                    <a:moveTo>
                      <a:pt x="39493" y="0"/>
                    </a:moveTo>
                    <a:lnTo>
                      <a:pt x="993114" y="0"/>
                    </a:lnTo>
                    <a:cubicBezTo>
                      <a:pt x="1003588" y="0"/>
                      <a:pt x="1013633" y="4161"/>
                      <a:pt x="1021039" y="11567"/>
                    </a:cubicBezTo>
                    <a:cubicBezTo>
                      <a:pt x="1028446" y="18973"/>
                      <a:pt x="1032607" y="29019"/>
                      <a:pt x="1032607" y="39493"/>
                    </a:cubicBezTo>
                    <a:lnTo>
                      <a:pt x="1032607" y="889586"/>
                    </a:lnTo>
                    <a:cubicBezTo>
                      <a:pt x="1032607" y="900060"/>
                      <a:pt x="1028446" y="910105"/>
                      <a:pt x="1021039" y="917512"/>
                    </a:cubicBezTo>
                    <a:cubicBezTo>
                      <a:pt x="1013633" y="924918"/>
                      <a:pt x="1003588" y="929079"/>
                      <a:pt x="993114" y="929079"/>
                    </a:cubicBezTo>
                    <a:lnTo>
                      <a:pt x="39493" y="929079"/>
                    </a:lnTo>
                    <a:cubicBezTo>
                      <a:pt x="17682" y="929079"/>
                      <a:pt x="0" y="911397"/>
                      <a:pt x="0" y="889586"/>
                    </a:cubicBezTo>
                    <a:lnTo>
                      <a:pt x="0" y="39493"/>
                    </a:lnTo>
                    <a:cubicBezTo>
                      <a:pt x="0" y="17682"/>
                      <a:pt x="17682" y="0"/>
                      <a:pt x="39493" y="0"/>
                    </a:cubicBezTo>
                    <a:close/>
                  </a:path>
                </a:pathLst>
              </a:custGeom>
              <a:solidFill>
                <a:srgbClr val="FFFFFF"/>
              </a:solidFill>
              <a:ln w="19050" cap="sq">
                <a:solidFill>
                  <a:srgbClr val="CFE5E9"/>
                </a:solidFill>
                <a:prstDash val="solid"/>
                <a:miter/>
              </a:ln>
            </p:spPr>
            <p:txBody>
              <a:bodyPr/>
              <a:p/>
            </p:txBody>
          </p:sp>
          <p:sp>
            <p:nvSpPr>
              <p:cNvPr name="TextBox 10" id="10"/>
              <p:cNvSpPr txBox="true"/>
              <p:nvPr/>
            </p:nvSpPr>
            <p:spPr>
              <a:xfrm>
                <a:off x="0" y="-19050"/>
                <a:ext cx="1032607" cy="948129"/>
              </a:xfrm>
              <a:prstGeom prst="rect">
                <a:avLst/>
              </a:prstGeom>
            </p:spPr>
            <p:txBody>
              <a:bodyPr anchor="ctr" rtlCol="false" tIns="50800" lIns="50800" bIns="50800" rIns="50800"/>
              <a:lstStyle/>
              <a:p>
                <a:pPr algn="ctr">
                  <a:lnSpc>
                    <a:spcPts val="1889"/>
                  </a:lnSpc>
                </a:pPr>
              </a:p>
            </p:txBody>
          </p:sp>
        </p:grpSp>
        <p:sp>
          <p:nvSpPr>
            <p:cNvPr name="Freeform 11" id="11"/>
            <p:cNvSpPr/>
            <p:nvPr/>
          </p:nvSpPr>
          <p:spPr>
            <a:xfrm flipH="false" flipV="false" rot="0">
              <a:off x="798205" y="354729"/>
              <a:ext cx="3574718" cy="1370309"/>
            </a:xfrm>
            <a:custGeom>
              <a:avLst/>
              <a:gdLst/>
              <a:ahLst/>
              <a:cxnLst/>
              <a:rect r="r" b="b" t="t" l="l"/>
              <a:pathLst>
                <a:path h="1370309" w="3574718">
                  <a:moveTo>
                    <a:pt x="0" y="0"/>
                  </a:moveTo>
                  <a:lnTo>
                    <a:pt x="3574718" y="0"/>
                  </a:lnTo>
                  <a:lnTo>
                    <a:pt x="3574718" y="1370309"/>
                  </a:lnTo>
                  <a:lnTo>
                    <a:pt x="0" y="1370309"/>
                  </a:lnTo>
                  <a:lnTo>
                    <a:pt x="0" y="0"/>
                  </a:lnTo>
                  <a:close/>
                </a:path>
              </a:pathLst>
            </a:custGeom>
            <a:blipFill>
              <a:blip r:embed="rId5"/>
              <a:stretch>
                <a:fillRect l="0" t="0" r="0" b="0"/>
              </a:stretch>
            </a:blipFill>
          </p:spPr>
          <p:txBody>
            <a:bodyPr/>
            <a:p/>
          </p:txBody>
        </p:sp>
        <p:sp>
          <p:nvSpPr>
            <p:cNvPr name="TextBox 12" id="12"/>
            <p:cNvSpPr txBox="true"/>
            <p:nvPr/>
          </p:nvSpPr>
          <p:spPr>
            <a:xfrm rot="0">
              <a:off x="346073" y="3014435"/>
              <a:ext cx="4535424" cy="1460500"/>
            </a:xfrm>
            <a:prstGeom prst="rect">
              <a:avLst/>
            </a:prstGeom>
          </p:spPr>
          <p:txBody>
            <a:bodyPr anchor="t" rtlCol="false" tIns="0" lIns="0" bIns="0" rIns="0">
              <a:spAutoFit/>
            </a:bodyPr>
            <a:lstStyle/>
            <a:p>
              <a:pPr algn="just">
                <a:lnSpc>
                  <a:spcPts val="2160"/>
                </a:lnSpc>
              </a:pPr>
              <a:r>
                <a:rPr lang="en-US" sz="1800">
                  <a:solidFill>
                    <a:srgbClr val="14313B"/>
                  </a:solidFill>
                  <a:latin typeface="Calibri (MS)"/>
                  <a:ea typeface="Calibri (MS)"/>
                  <a:cs typeface="Calibri (MS)"/>
                  <a:sym typeface="Calibri (MS)"/>
                </a:rPr>
                <a:t>Pembangunan model meliputi: </a:t>
              </a:r>
              <a:r>
                <a:rPr lang="en-US" sz="1800" i="true">
                  <a:solidFill>
                    <a:srgbClr val="14313B"/>
                  </a:solidFill>
                  <a:latin typeface="Calibri (MS) Italics"/>
                  <a:ea typeface="Calibri (MS) Italics"/>
                  <a:cs typeface="Calibri (MS) Italics"/>
                  <a:sym typeface="Calibri (MS) Italics"/>
                </a:rPr>
                <a:t>Causal Loop Diagram</a:t>
              </a:r>
              <a:r>
                <a:rPr lang="en-US" sz="1800">
                  <a:solidFill>
                    <a:srgbClr val="14313B"/>
                  </a:solidFill>
                  <a:latin typeface="Calibri (MS)"/>
                  <a:ea typeface="Calibri (MS)"/>
                  <a:cs typeface="Calibri (MS)"/>
                  <a:sym typeface="Calibri (MS)"/>
                </a:rPr>
                <a:t>, </a:t>
              </a:r>
              <a:r>
                <a:rPr lang="en-US" sz="1800" i="true">
                  <a:solidFill>
                    <a:srgbClr val="14313B"/>
                  </a:solidFill>
                  <a:latin typeface="Calibri (MS) Italics"/>
                  <a:ea typeface="Calibri (MS) Italics"/>
                  <a:cs typeface="Calibri (MS) Italics"/>
                  <a:sym typeface="Calibri (MS) Italics"/>
                </a:rPr>
                <a:t>Stock and flow diagram, </a:t>
              </a:r>
              <a:r>
                <a:rPr lang="en-US" sz="1800">
                  <a:solidFill>
                    <a:srgbClr val="14313B"/>
                  </a:solidFill>
                  <a:latin typeface="Calibri (MS)"/>
                  <a:ea typeface="Calibri (MS)"/>
                  <a:cs typeface="Calibri (MS)"/>
                  <a:sym typeface="Calibri (MS)"/>
                </a:rPr>
                <a:t> Simulasi model, serta pengujian model</a:t>
              </a:r>
            </a:p>
          </p:txBody>
        </p:sp>
        <p:grpSp>
          <p:nvGrpSpPr>
            <p:cNvPr name="Group 13" id="13"/>
            <p:cNvGrpSpPr/>
            <p:nvPr/>
          </p:nvGrpSpPr>
          <p:grpSpPr>
            <a:xfrm rot="0">
              <a:off x="317852" y="1955255"/>
              <a:ext cx="4535424" cy="1097280"/>
              <a:chOff x="0" y="0"/>
              <a:chExt cx="4535424" cy="1097280"/>
            </a:xfrm>
          </p:grpSpPr>
          <p:sp>
            <p:nvSpPr>
              <p:cNvPr name="Freeform 14" id="14"/>
              <p:cNvSpPr/>
              <p:nvPr/>
            </p:nvSpPr>
            <p:spPr>
              <a:xfrm flipH="false" flipV="false" rot="0">
                <a:off x="0" y="0"/>
                <a:ext cx="4535424" cy="1097280"/>
              </a:xfrm>
              <a:custGeom>
                <a:avLst/>
                <a:gdLst/>
                <a:ahLst/>
                <a:cxnLst/>
                <a:rect r="r" b="b" t="t" l="l"/>
                <a:pathLst>
                  <a:path h="1097280" w="4535424">
                    <a:moveTo>
                      <a:pt x="0" y="0"/>
                    </a:moveTo>
                    <a:lnTo>
                      <a:pt x="4535424" y="0"/>
                    </a:lnTo>
                    <a:lnTo>
                      <a:pt x="4535424" y="1097280"/>
                    </a:lnTo>
                    <a:lnTo>
                      <a:pt x="0" y="1097280"/>
                    </a:lnTo>
                    <a:close/>
                  </a:path>
                </a:pathLst>
              </a:custGeom>
              <a:blipFill>
                <a:blip r:embed="rId4">
                  <a:alphaModFix amt="0"/>
                </a:blip>
                <a:stretch>
                  <a:fillRect l="0" t="-30538" r="0" b="-30538"/>
                </a:stretch>
              </a:blipFill>
            </p:spPr>
            <p:txBody>
              <a:bodyPr/>
              <a:p/>
            </p:txBody>
          </p:sp>
          <p:sp>
            <p:nvSpPr>
              <p:cNvPr name="TextBox 15" id="15"/>
              <p:cNvSpPr txBox="true"/>
              <p:nvPr/>
            </p:nvSpPr>
            <p:spPr>
              <a:xfrm>
                <a:off x="0" y="-66675"/>
                <a:ext cx="4535424" cy="1163955"/>
              </a:xfrm>
              <a:prstGeom prst="rect">
                <a:avLst/>
              </a:prstGeom>
            </p:spPr>
            <p:txBody>
              <a:bodyPr anchor="ctr" rtlCol="false" tIns="0" lIns="0" bIns="0" rIns="0"/>
              <a:lstStyle/>
              <a:p>
                <a:pPr algn="ctr">
                  <a:lnSpc>
                    <a:spcPts val="3720"/>
                  </a:lnSpc>
                </a:pPr>
                <a:r>
                  <a:rPr lang="en-US" sz="3100" b="true">
                    <a:solidFill>
                      <a:srgbClr val="0B5E6E"/>
                    </a:solidFill>
                    <a:latin typeface="Calibri (MS) Bold"/>
                    <a:ea typeface="Calibri (MS) Bold"/>
                    <a:cs typeface="Calibri (MS) Bold"/>
                    <a:sym typeface="Calibri (MS) Bold"/>
                  </a:rPr>
                  <a:t>Vensim PLE</a:t>
                </a:r>
              </a:p>
            </p:txBody>
          </p:sp>
        </p:grpSp>
      </p:grpSp>
      <p:grpSp>
        <p:nvGrpSpPr>
          <p:cNvPr name="Group 16" id="16"/>
          <p:cNvGrpSpPr/>
          <p:nvPr/>
        </p:nvGrpSpPr>
        <p:grpSpPr>
          <a:xfrm rot="0">
            <a:off x="14017178" y="2016371"/>
            <a:ext cx="3920678" cy="3527596"/>
            <a:chOff x="0" y="0"/>
            <a:chExt cx="5227570" cy="4703461"/>
          </a:xfrm>
        </p:grpSpPr>
        <p:grpSp>
          <p:nvGrpSpPr>
            <p:cNvPr name="Group 17" id="17"/>
            <p:cNvGrpSpPr/>
            <p:nvPr/>
          </p:nvGrpSpPr>
          <p:grpSpPr>
            <a:xfrm rot="0">
              <a:off x="0" y="0"/>
              <a:ext cx="5227570" cy="4703461"/>
              <a:chOff x="0" y="0"/>
              <a:chExt cx="1032607" cy="929079"/>
            </a:xfrm>
          </p:grpSpPr>
          <p:sp>
            <p:nvSpPr>
              <p:cNvPr name="Freeform 18" id="18"/>
              <p:cNvSpPr/>
              <p:nvPr/>
            </p:nvSpPr>
            <p:spPr>
              <a:xfrm flipH="false" flipV="false" rot="0">
                <a:off x="0" y="0"/>
                <a:ext cx="1032607" cy="929079"/>
              </a:xfrm>
              <a:custGeom>
                <a:avLst/>
                <a:gdLst/>
                <a:ahLst/>
                <a:cxnLst/>
                <a:rect r="r" b="b" t="t" l="l"/>
                <a:pathLst>
                  <a:path h="929079" w="1032607">
                    <a:moveTo>
                      <a:pt x="39493" y="0"/>
                    </a:moveTo>
                    <a:lnTo>
                      <a:pt x="993114" y="0"/>
                    </a:lnTo>
                    <a:cubicBezTo>
                      <a:pt x="1003588" y="0"/>
                      <a:pt x="1013633" y="4161"/>
                      <a:pt x="1021039" y="11567"/>
                    </a:cubicBezTo>
                    <a:cubicBezTo>
                      <a:pt x="1028446" y="18973"/>
                      <a:pt x="1032607" y="29019"/>
                      <a:pt x="1032607" y="39493"/>
                    </a:cubicBezTo>
                    <a:lnTo>
                      <a:pt x="1032607" y="889586"/>
                    </a:lnTo>
                    <a:cubicBezTo>
                      <a:pt x="1032607" y="900060"/>
                      <a:pt x="1028446" y="910105"/>
                      <a:pt x="1021039" y="917512"/>
                    </a:cubicBezTo>
                    <a:cubicBezTo>
                      <a:pt x="1013633" y="924918"/>
                      <a:pt x="1003588" y="929079"/>
                      <a:pt x="993114" y="929079"/>
                    </a:cubicBezTo>
                    <a:lnTo>
                      <a:pt x="39493" y="929079"/>
                    </a:lnTo>
                    <a:cubicBezTo>
                      <a:pt x="17682" y="929079"/>
                      <a:pt x="0" y="911397"/>
                      <a:pt x="0" y="889586"/>
                    </a:cubicBezTo>
                    <a:lnTo>
                      <a:pt x="0" y="39493"/>
                    </a:lnTo>
                    <a:cubicBezTo>
                      <a:pt x="0" y="17682"/>
                      <a:pt x="17682" y="0"/>
                      <a:pt x="39493" y="0"/>
                    </a:cubicBezTo>
                    <a:close/>
                  </a:path>
                </a:pathLst>
              </a:custGeom>
              <a:solidFill>
                <a:srgbClr val="FFFFFF"/>
              </a:solidFill>
              <a:ln w="19050" cap="sq">
                <a:solidFill>
                  <a:srgbClr val="CFE5E9"/>
                </a:solidFill>
                <a:prstDash val="solid"/>
                <a:miter/>
              </a:ln>
            </p:spPr>
            <p:txBody>
              <a:bodyPr/>
              <a:p/>
            </p:txBody>
          </p:sp>
          <p:sp>
            <p:nvSpPr>
              <p:cNvPr name="TextBox 19" id="19"/>
              <p:cNvSpPr txBox="true"/>
              <p:nvPr/>
            </p:nvSpPr>
            <p:spPr>
              <a:xfrm>
                <a:off x="0" y="-19050"/>
                <a:ext cx="1032607" cy="948129"/>
              </a:xfrm>
              <a:prstGeom prst="rect">
                <a:avLst/>
              </a:prstGeom>
            </p:spPr>
            <p:txBody>
              <a:bodyPr anchor="ctr" rtlCol="false" tIns="50800" lIns="50800" bIns="50800" rIns="50800"/>
              <a:lstStyle/>
              <a:p>
                <a:pPr algn="ctr">
                  <a:lnSpc>
                    <a:spcPts val="1889"/>
                  </a:lnSpc>
                </a:pPr>
              </a:p>
            </p:txBody>
          </p:sp>
        </p:grpSp>
        <p:sp>
          <p:nvSpPr>
            <p:cNvPr name="TextBox 20" id="20"/>
            <p:cNvSpPr txBox="true"/>
            <p:nvPr/>
          </p:nvSpPr>
          <p:spPr>
            <a:xfrm rot="0">
              <a:off x="346073" y="3014435"/>
              <a:ext cx="4535424" cy="1460500"/>
            </a:xfrm>
            <a:prstGeom prst="rect">
              <a:avLst/>
            </a:prstGeom>
          </p:spPr>
          <p:txBody>
            <a:bodyPr anchor="t" rtlCol="false" tIns="0" lIns="0" bIns="0" rIns="0">
              <a:spAutoFit/>
            </a:bodyPr>
            <a:lstStyle/>
            <a:p>
              <a:pPr algn="just">
                <a:lnSpc>
                  <a:spcPts val="2160"/>
                </a:lnSpc>
              </a:pPr>
              <a:r>
                <a:rPr lang="en-US" sz="1800">
                  <a:solidFill>
                    <a:srgbClr val="14313B"/>
                  </a:solidFill>
                  <a:latin typeface="Calibri (MS)"/>
                  <a:ea typeface="Calibri (MS)"/>
                  <a:cs typeface="Calibri (MS)"/>
                  <a:sym typeface="Calibri (MS)"/>
                </a:rPr>
                <a:t>Dengan library PySD menjalankan model untuk pengujian berulang seperti kalibrasi, analisis sensitivitas, dan simulasi skenario</a:t>
              </a:r>
            </a:p>
          </p:txBody>
        </p:sp>
        <p:grpSp>
          <p:nvGrpSpPr>
            <p:cNvPr name="Group 21" id="21"/>
            <p:cNvGrpSpPr/>
            <p:nvPr/>
          </p:nvGrpSpPr>
          <p:grpSpPr>
            <a:xfrm rot="0">
              <a:off x="317852" y="1955255"/>
              <a:ext cx="4535424" cy="1097280"/>
              <a:chOff x="0" y="0"/>
              <a:chExt cx="4535424" cy="1097280"/>
            </a:xfrm>
          </p:grpSpPr>
          <p:sp>
            <p:nvSpPr>
              <p:cNvPr name="Freeform 22" id="22"/>
              <p:cNvSpPr/>
              <p:nvPr/>
            </p:nvSpPr>
            <p:spPr>
              <a:xfrm flipH="false" flipV="false" rot="0">
                <a:off x="0" y="0"/>
                <a:ext cx="4535424" cy="1097280"/>
              </a:xfrm>
              <a:custGeom>
                <a:avLst/>
                <a:gdLst/>
                <a:ahLst/>
                <a:cxnLst/>
                <a:rect r="r" b="b" t="t" l="l"/>
                <a:pathLst>
                  <a:path h="1097280" w="4535424">
                    <a:moveTo>
                      <a:pt x="0" y="0"/>
                    </a:moveTo>
                    <a:lnTo>
                      <a:pt x="4535424" y="0"/>
                    </a:lnTo>
                    <a:lnTo>
                      <a:pt x="4535424" y="1097280"/>
                    </a:lnTo>
                    <a:lnTo>
                      <a:pt x="0" y="1097280"/>
                    </a:lnTo>
                    <a:close/>
                  </a:path>
                </a:pathLst>
              </a:custGeom>
              <a:blipFill>
                <a:blip r:embed="rId4">
                  <a:alphaModFix amt="0"/>
                </a:blip>
                <a:stretch>
                  <a:fillRect l="0" t="-30538" r="0" b="-30538"/>
                </a:stretch>
              </a:blipFill>
            </p:spPr>
            <p:txBody>
              <a:bodyPr/>
              <a:p/>
            </p:txBody>
          </p:sp>
          <p:sp>
            <p:nvSpPr>
              <p:cNvPr name="TextBox 23" id="23"/>
              <p:cNvSpPr txBox="true"/>
              <p:nvPr/>
            </p:nvSpPr>
            <p:spPr>
              <a:xfrm>
                <a:off x="0" y="-66675"/>
                <a:ext cx="4535424" cy="1163955"/>
              </a:xfrm>
              <a:prstGeom prst="rect">
                <a:avLst/>
              </a:prstGeom>
            </p:spPr>
            <p:txBody>
              <a:bodyPr anchor="ctr" rtlCol="false" tIns="0" lIns="0" bIns="0" rIns="0"/>
              <a:lstStyle/>
              <a:p>
                <a:pPr algn="ctr">
                  <a:lnSpc>
                    <a:spcPts val="3720"/>
                  </a:lnSpc>
                </a:pPr>
                <a:r>
                  <a:rPr lang="en-US" sz="3100" b="true">
                    <a:solidFill>
                      <a:srgbClr val="0B5E6E"/>
                    </a:solidFill>
                    <a:latin typeface="Calibri (MS) Bold"/>
                    <a:ea typeface="Calibri (MS) Bold"/>
                    <a:cs typeface="Calibri (MS) Bold"/>
                    <a:sym typeface="Calibri (MS) Bold"/>
                  </a:rPr>
                  <a:t>Python</a:t>
                </a:r>
              </a:p>
            </p:txBody>
          </p:sp>
        </p:grpSp>
        <p:sp>
          <p:nvSpPr>
            <p:cNvPr name="Freeform 24" id="24"/>
            <p:cNvSpPr/>
            <p:nvPr/>
          </p:nvSpPr>
          <p:spPr>
            <a:xfrm flipH="false" flipV="false" rot="0">
              <a:off x="1825488" y="378662"/>
              <a:ext cx="1576594" cy="1576594"/>
            </a:xfrm>
            <a:custGeom>
              <a:avLst/>
              <a:gdLst/>
              <a:ahLst/>
              <a:cxnLst/>
              <a:rect r="r" b="b" t="t" l="l"/>
              <a:pathLst>
                <a:path h="1576594" w="1576594">
                  <a:moveTo>
                    <a:pt x="0" y="0"/>
                  </a:moveTo>
                  <a:lnTo>
                    <a:pt x="1576594" y="0"/>
                  </a:lnTo>
                  <a:lnTo>
                    <a:pt x="1576594" y="1576593"/>
                  </a:lnTo>
                  <a:lnTo>
                    <a:pt x="0" y="1576593"/>
                  </a:lnTo>
                  <a:lnTo>
                    <a:pt x="0" y="0"/>
                  </a:lnTo>
                  <a:close/>
                </a:path>
              </a:pathLst>
            </a:custGeom>
            <a:blipFill>
              <a:blip r:embed="rId6"/>
              <a:stretch>
                <a:fillRect l="0" t="0" r="0" b="0"/>
              </a:stretch>
            </a:blipFill>
          </p:spPr>
          <p:txBody>
            <a:bodyPr/>
            <a:p/>
          </p:txBody>
        </p:sp>
      </p:grpSp>
      <p:grpSp>
        <p:nvGrpSpPr>
          <p:cNvPr name="Group 25" id="25"/>
          <p:cNvGrpSpPr/>
          <p:nvPr/>
        </p:nvGrpSpPr>
        <p:grpSpPr>
          <a:xfrm rot="0">
            <a:off x="9620250" y="2016371"/>
            <a:ext cx="3920678" cy="3527596"/>
            <a:chOff x="0" y="0"/>
            <a:chExt cx="5227570" cy="4703461"/>
          </a:xfrm>
        </p:grpSpPr>
        <p:grpSp>
          <p:nvGrpSpPr>
            <p:cNvPr name="Group 26" id="26"/>
            <p:cNvGrpSpPr/>
            <p:nvPr/>
          </p:nvGrpSpPr>
          <p:grpSpPr>
            <a:xfrm rot="0">
              <a:off x="0" y="0"/>
              <a:ext cx="5227570" cy="4703461"/>
              <a:chOff x="0" y="0"/>
              <a:chExt cx="1032607" cy="929079"/>
            </a:xfrm>
          </p:grpSpPr>
          <p:sp>
            <p:nvSpPr>
              <p:cNvPr name="Freeform 27" id="27"/>
              <p:cNvSpPr/>
              <p:nvPr/>
            </p:nvSpPr>
            <p:spPr>
              <a:xfrm flipH="false" flipV="false" rot="0">
                <a:off x="0" y="0"/>
                <a:ext cx="1032607" cy="929079"/>
              </a:xfrm>
              <a:custGeom>
                <a:avLst/>
                <a:gdLst/>
                <a:ahLst/>
                <a:cxnLst/>
                <a:rect r="r" b="b" t="t" l="l"/>
                <a:pathLst>
                  <a:path h="929079" w="1032607">
                    <a:moveTo>
                      <a:pt x="31084" y="0"/>
                    </a:moveTo>
                    <a:lnTo>
                      <a:pt x="1001523" y="0"/>
                    </a:lnTo>
                    <a:cubicBezTo>
                      <a:pt x="1018690" y="0"/>
                      <a:pt x="1032607" y="13917"/>
                      <a:pt x="1032607" y="31084"/>
                    </a:cubicBezTo>
                    <a:lnTo>
                      <a:pt x="1032607" y="897995"/>
                    </a:lnTo>
                    <a:cubicBezTo>
                      <a:pt x="1032607" y="906239"/>
                      <a:pt x="1029332" y="914145"/>
                      <a:pt x="1023502" y="919975"/>
                    </a:cubicBezTo>
                    <a:cubicBezTo>
                      <a:pt x="1017673" y="925804"/>
                      <a:pt x="1009767" y="929079"/>
                      <a:pt x="1001523" y="929079"/>
                    </a:cubicBezTo>
                    <a:lnTo>
                      <a:pt x="31084" y="929079"/>
                    </a:lnTo>
                    <a:cubicBezTo>
                      <a:pt x="13917" y="929079"/>
                      <a:pt x="0" y="915162"/>
                      <a:pt x="0" y="897995"/>
                    </a:cubicBezTo>
                    <a:lnTo>
                      <a:pt x="0" y="31084"/>
                    </a:lnTo>
                    <a:cubicBezTo>
                      <a:pt x="0" y="13917"/>
                      <a:pt x="13917" y="0"/>
                      <a:pt x="31084" y="0"/>
                    </a:cubicBezTo>
                    <a:close/>
                  </a:path>
                </a:pathLst>
              </a:custGeom>
              <a:solidFill>
                <a:srgbClr val="FFFFFF"/>
              </a:solidFill>
              <a:ln w="19050" cap="sq">
                <a:solidFill>
                  <a:srgbClr val="CFE5E9"/>
                </a:solidFill>
                <a:prstDash val="solid"/>
                <a:miter/>
              </a:ln>
            </p:spPr>
            <p:txBody>
              <a:bodyPr/>
              <a:p/>
            </p:txBody>
          </p:sp>
          <p:sp>
            <p:nvSpPr>
              <p:cNvPr name="TextBox 28" id="28"/>
              <p:cNvSpPr txBox="true"/>
              <p:nvPr/>
            </p:nvSpPr>
            <p:spPr>
              <a:xfrm>
                <a:off x="0" y="-19050"/>
                <a:ext cx="1032607" cy="948129"/>
              </a:xfrm>
              <a:prstGeom prst="rect">
                <a:avLst/>
              </a:prstGeom>
            </p:spPr>
            <p:txBody>
              <a:bodyPr anchor="ctr" rtlCol="false" tIns="64543" lIns="64543" bIns="64543" rIns="64543"/>
              <a:lstStyle/>
              <a:p>
                <a:pPr algn="ctr">
                  <a:lnSpc>
                    <a:spcPts val="1889"/>
                  </a:lnSpc>
                </a:pPr>
              </a:p>
            </p:txBody>
          </p:sp>
        </p:grpSp>
        <p:sp>
          <p:nvSpPr>
            <p:cNvPr name="TextBox 29" id="29"/>
            <p:cNvSpPr txBox="true"/>
            <p:nvPr/>
          </p:nvSpPr>
          <p:spPr>
            <a:xfrm rot="0">
              <a:off x="346073" y="3014435"/>
              <a:ext cx="4535424" cy="1104900"/>
            </a:xfrm>
            <a:prstGeom prst="rect">
              <a:avLst/>
            </a:prstGeom>
          </p:spPr>
          <p:txBody>
            <a:bodyPr anchor="t" rtlCol="false" tIns="0" lIns="0" bIns="0" rIns="0">
              <a:spAutoFit/>
            </a:bodyPr>
            <a:lstStyle/>
            <a:p>
              <a:pPr algn="just">
                <a:lnSpc>
                  <a:spcPts val="2160"/>
                </a:lnSpc>
              </a:pPr>
              <a:r>
                <a:rPr lang="en-US" sz="1800">
                  <a:solidFill>
                    <a:srgbClr val="14313B"/>
                  </a:solidFill>
                  <a:latin typeface="Calibri (MS)"/>
                  <a:ea typeface="Calibri (MS)"/>
                  <a:cs typeface="Calibri (MS)"/>
                  <a:sym typeface="Calibri (MS)"/>
                </a:rPr>
                <a:t>Penyusunan basis data, penurunan oarameter, dan perhitungan statistik.</a:t>
              </a:r>
            </a:p>
          </p:txBody>
        </p:sp>
        <p:grpSp>
          <p:nvGrpSpPr>
            <p:cNvPr name="Group 30" id="30"/>
            <p:cNvGrpSpPr/>
            <p:nvPr/>
          </p:nvGrpSpPr>
          <p:grpSpPr>
            <a:xfrm rot="0">
              <a:off x="317852" y="1904162"/>
              <a:ext cx="4563645" cy="1199467"/>
              <a:chOff x="0" y="0"/>
              <a:chExt cx="4563645" cy="1199467"/>
            </a:xfrm>
          </p:grpSpPr>
          <p:sp>
            <p:nvSpPr>
              <p:cNvPr name="Freeform 31" id="31"/>
              <p:cNvSpPr/>
              <p:nvPr/>
            </p:nvSpPr>
            <p:spPr>
              <a:xfrm flipH="false" flipV="false" rot="0">
                <a:off x="0" y="0"/>
                <a:ext cx="4563645" cy="1199467"/>
              </a:xfrm>
              <a:custGeom>
                <a:avLst/>
                <a:gdLst/>
                <a:ahLst/>
                <a:cxnLst/>
                <a:rect r="r" b="b" t="t" l="l"/>
                <a:pathLst>
                  <a:path h="1199467" w="4563645">
                    <a:moveTo>
                      <a:pt x="0" y="0"/>
                    </a:moveTo>
                    <a:lnTo>
                      <a:pt x="4563645" y="0"/>
                    </a:lnTo>
                    <a:lnTo>
                      <a:pt x="4563645" y="1199467"/>
                    </a:lnTo>
                    <a:lnTo>
                      <a:pt x="0" y="1199467"/>
                    </a:lnTo>
                    <a:close/>
                  </a:path>
                </a:pathLst>
              </a:custGeom>
              <a:blipFill>
                <a:blip r:embed="rId4">
                  <a:alphaModFix amt="0"/>
                </a:blip>
                <a:stretch>
                  <a:fillRect l="0" t="-27936" r="618" b="-19417"/>
                </a:stretch>
              </a:blipFill>
            </p:spPr>
            <p:txBody>
              <a:bodyPr/>
              <a:p/>
            </p:txBody>
          </p:sp>
          <p:sp>
            <p:nvSpPr>
              <p:cNvPr name="TextBox 32" id="32"/>
              <p:cNvSpPr txBox="true"/>
              <p:nvPr/>
            </p:nvSpPr>
            <p:spPr>
              <a:xfrm>
                <a:off x="0" y="-57150"/>
                <a:ext cx="4563645" cy="1256617"/>
              </a:xfrm>
              <a:prstGeom prst="rect">
                <a:avLst/>
              </a:prstGeom>
            </p:spPr>
            <p:txBody>
              <a:bodyPr anchor="ctr" rtlCol="false" tIns="0" lIns="0" bIns="0" rIns="0"/>
              <a:lstStyle/>
              <a:p>
                <a:pPr algn="ctr">
                  <a:lnSpc>
                    <a:spcPts val="3120"/>
                  </a:lnSpc>
                </a:pPr>
                <a:r>
                  <a:rPr lang="en-US" sz="2600" b="true">
                    <a:solidFill>
                      <a:srgbClr val="0B5E6E"/>
                    </a:solidFill>
                    <a:latin typeface="Calibri (MS) Bold"/>
                    <a:ea typeface="Calibri (MS) Bold"/>
                    <a:cs typeface="Calibri (MS) Bold"/>
                    <a:sym typeface="Calibri (MS) Bold"/>
                  </a:rPr>
                  <a:t>Microsoft Excel, Gsheet</a:t>
                </a:r>
              </a:p>
            </p:txBody>
          </p:sp>
        </p:grpSp>
        <p:sp>
          <p:nvSpPr>
            <p:cNvPr name="Freeform 33" id="33"/>
            <p:cNvSpPr/>
            <p:nvPr/>
          </p:nvSpPr>
          <p:spPr>
            <a:xfrm flipH="false" flipV="false" rot="0">
              <a:off x="1467177" y="467562"/>
              <a:ext cx="1180406" cy="1284216"/>
            </a:xfrm>
            <a:custGeom>
              <a:avLst/>
              <a:gdLst/>
              <a:ahLst/>
              <a:cxnLst/>
              <a:rect r="r" b="b" t="t" l="l"/>
              <a:pathLst>
                <a:path h="1284216" w="1180406">
                  <a:moveTo>
                    <a:pt x="0" y="0"/>
                  </a:moveTo>
                  <a:lnTo>
                    <a:pt x="1180406" y="0"/>
                  </a:lnTo>
                  <a:lnTo>
                    <a:pt x="1180406" y="1284216"/>
                  </a:lnTo>
                  <a:lnTo>
                    <a:pt x="0" y="1284216"/>
                  </a:lnTo>
                  <a:lnTo>
                    <a:pt x="0" y="0"/>
                  </a:lnTo>
                  <a:close/>
                </a:path>
              </a:pathLst>
            </a:custGeom>
            <a:blipFill>
              <a:blip r:embed="rId7"/>
              <a:stretch>
                <a:fillRect l="-2719" t="0" r="-2719" b="0"/>
              </a:stretch>
            </a:blipFill>
          </p:spPr>
          <p:txBody>
            <a:bodyPr/>
            <a:p/>
          </p:txBody>
        </p:sp>
        <p:sp>
          <p:nvSpPr>
            <p:cNvPr name="Freeform 34" id="34"/>
            <p:cNvSpPr/>
            <p:nvPr/>
          </p:nvSpPr>
          <p:spPr>
            <a:xfrm flipH="false" flipV="false" rot="0">
              <a:off x="2724972" y="467562"/>
              <a:ext cx="978979" cy="1284216"/>
            </a:xfrm>
            <a:custGeom>
              <a:avLst/>
              <a:gdLst/>
              <a:ahLst/>
              <a:cxnLst/>
              <a:rect r="r" b="b" t="t" l="l"/>
              <a:pathLst>
                <a:path h="1284216" w="978979">
                  <a:moveTo>
                    <a:pt x="0" y="0"/>
                  </a:moveTo>
                  <a:lnTo>
                    <a:pt x="978979" y="0"/>
                  </a:lnTo>
                  <a:lnTo>
                    <a:pt x="978979" y="1284216"/>
                  </a:lnTo>
                  <a:lnTo>
                    <a:pt x="0" y="1284216"/>
                  </a:lnTo>
                  <a:lnTo>
                    <a:pt x="0" y="0"/>
                  </a:lnTo>
                  <a:close/>
                </a:path>
              </a:pathLst>
            </a:custGeom>
            <a:blipFill>
              <a:blip r:embed="rId8"/>
              <a:stretch>
                <a:fillRect l="-61433" t="0" r="-61341" b="0"/>
              </a:stretch>
            </a:blipFill>
          </p:spPr>
          <p:txBody>
            <a:bodyPr/>
            <a:p/>
          </p:txBody>
        </p:sp>
      </p:grpSp>
      <p:grpSp>
        <p:nvGrpSpPr>
          <p:cNvPr name="Group 35" id="35"/>
          <p:cNvGrpSpPr/>
          <p:nvPr/>
        </p:nvGrpSpPr>
        <p:grpSpPr>
          <a:xfrm rot="0">
            <a:off x="5223322" y="5886510"/>
            <a:ext cx="3920678" cy="3527596"/>
            <a:chOff x="0" y="0"/>
            <a:chExt cx="5227570" cy="4703461"/>
          </a:xfrm>
        </p:grpSpPr>
        <p:grpSp>
          <p:nvGrpSpPr>
            <p:cNvPr name="Group 36" id="36"/>
            <p:cNvGrpSpPr/>
            <p:nvPr/>
          </p:nvGrpSpPr>
          <p:grpSpPr>
            <a:xfrm rot="0">
              <a:off x="0" y="0"/>
              <a:ext cx="5227570" cy="4703461"/>
              <a:chOff x="0" y="0"/>
              <a:chExt cx="1032607" cy="929079"/>
            </a:xfrm>
          </p:grpSpPr>
          <p:sp>
            <p:nvSpPr>
              <p:cNvPr name="Freeform 37" id="37"/>
              <p:cNvSpPr/>
              <p:nvPr/>
            </p:nvSpPr>
            <p:spPr>
              <a:xfrm flipH="false" flipV="false" rot="0">
                <a:off x="0" y="0"/>
                <a:ext cx="1032607" cy="929079"/>
              </a:xfrm>
              <a:custGeom>
                <a:avLst/>
                <a:gdLst/>
                <a:ahLst/>
                <a:cxnLst/>
                <a:rect r="r" b="b" t="t" l="l"/>
                <a:pathLst>
                  <a:path h="929079" w="1032607">
                    <a:moveTo>
                      <a:pt x="39493" y="0"/>
                    </a:moveTo>
                    <a:lnTo>
                      <a:pt x="993114" y="0"/>
                    </a:lnTo>
                    <a:cubicBezTo>
                      <a:pt x="1003588" y="0"/>
                      <a:pt x="1013633" y="4161"/>
                      <a:pt x="1021039" y="11567"/>
                    </a:cubicBezTo>
                    <a:cubicBezTo>
                      <a:pt x="1028446" y="18973"/>
                      <a:pt x="1032607" y="29019"/>
                      <a:pt x="1032607" y="39493"/>
                    </a:cubicBezTo>
                    <a:lnTo>
                      <a:pt x="1032607" y="889586"/>
                    </a:lnTo>
                    <a:cubicBezTo>
                      <a:pt x="1032607" y="900060"/>
                      <a:pt x="1028446" y="910105"/>
                      <a:pt x="1021039" y="917512"/>
                    </a:cubicBezTo>
                    <a:cubicBezTo>
                      <a:pt x="1013633" y="924918"/>
                      <a:pt x="1003588" y="929079"/>
                      <a:pt x="993114" y="929079"/>
                    </a:cubicBezTo>
                    <a:lnTo>
                      <a:pt x="39493" y="929079"/>
                    </a:lnTo>
                    <a:cubicBezTo>
                      <a:pt x="17682" y="929079"/>
                      <a:pt x="0" y="911397"/>
                      <a:pt x="0" y="889586"/>
                    </a:cubicBezTo>
                    <a:lnTo>
                      <a:pt x="0" y="39493"/>
                    </a:lnTo>
                    <a:cubicBezTo>
                      <a:pt x="0" y="17682"/>
                      <a:pt x="17682" y="0"/>
                      <a:pt x="39493" y="0"/>
                    </a:cubicBezTo>
                    <a:close/>
                  </a:path>
                </a:pathLst>
              </a:custGeom>
              <a:solidFill>
                <a:srgbClr val="FFFFFF"/>
              </a:solidFill>
              <a:ln w="19050" cap="sq">
                <a:solidFill>
                  <a:srgbClr val="CFE5E9"/>
                </a:solidFill>
                <a:prstDash val="solid"/>
                <a:miter/>
              </a:ln>
            </p:spPr>
            <p:txBody>
              <a:bodyPr/>
              <a:p/>
            </p:txBody>
          </p:sp>
          <p:sp>
            <p:nvSpPr>
              <p:cNvPr name="TextBox 38" id="38"/>
              <p:cNvSpPr txBox="true"/>
              <p:nvPr/>
            </p:nvSpPr>
            <p:spPr>
              <a:xfrm>
                <a:off x="0" y="-19050"/>
                <a:ext cx="1032607" cy="948129"/>
              </a:xfrm>
              <a:prstGeom prst="rect">
                <a:avLst/>
              </a:prstGeom>
            </p:spPr>
            <p:txBody>
              <a:bodyPr anchor="ctr" rtlCol="false" tIns="50800" lIns="50800" bIns="50800" rIns="50800"/>
              <a:lstStyle/>
              <a:p>
                <a:pPr algn="ctr">
                  <a:lnSpc>
                    <a:spcPts val="1889"/>
                  </a:lnSpc>
                </a:pPr>
              </a:p>
            </p:txBody>
          </p:sp>
        </p:grpSp>
        <p:grpSp>
          <p:nvGrpSpPr>
            <p:cNvPr name="Group 39" id="39"/>
            <p:cNvGrpSpPr/>
            <p:nvPr/>
          </p:nvGrpSpPr>
          <p:grpSpPr>
            <a:xfrm rot="0">
              <a:off x="317852" y="1955255"/>
              <a:ext cx="4535424" cy="1097280"/>
              <a:chOff x="0" y="0"/>
              <a:chExt cx="4535424" cy="1097280"/>
            </a:xfrm>
          </p:grpSpPr>
          <p:sp>
            <p:nvSpPr>
              <p:cNvPr name="Freeform 40" id="40"/>
              <p:cNvSpPr/>
              <p:nvPr/>
            </p:nvSpPr>
            <p:spPr>
              <a:xfrm flipH="false" flipV="false" rot="0">
                <a:off x="0" y="0"/>
                <a:ext cx="4535424" cy="1097280"/>
              </a:xfrm>
              <a:custGeom>
                <a:avLst/>
                <a:gdLst/>
                <a:ahLst/>
                <a:cxnLst/>
                <a:rect r="r" b="b" t="t" l="l"/>
                <a:pathLst>
                  <a:path h="1097280" w="4535424">
                    <a:moveTo>
                      <a:pt x="0" y="0"/>
                    </a:moveTo>
                    <a:lnTo>
                      <a:pt x="4535424" y="0"/>
                    </a:lnTo>
                    <a:lnTo>
                      <a:pt x="4535424" y="1097280"/>
                    </a:lnTo>
                    <a:lnTo>
                      <a:pt x="0" y="1097280"/>
                    </a:lnTo>
                    <a:close/>
                  </a:path>
                </a:pathLst>
              </a:custGeom>
              <a:blipFill>
                <a:blip r:embed="rId4">
                  <a:alphaModFix amt="0"/>
                </a:blip>
                <a:stretch>
                  <a:fillRect l="0" t="-30538" r="0" b="-30538"/>
                </a:stretch>
              </a:blipFill>
            </p:spPr>
            <p:txBody>
              <a:bodyPr/>
              <a:p/>
            </p:txBody>
          </p:sp>
          <p:sp>
            <p:nvSpPr>
              <p:cNvPr name="TextBox 41" id="41"/>
              <p:cNvSpPr txBox="true"/>
              <p:nvPr/>
            </p:nvSpPr>
            <p:spPr>
              <a:xfrm>
                <a:off x="0" y="-66675"/>
                <a:ext cx="4535424" cy="1163955"/>
              </a:xfrm>
              <a:prstGeom prst="rect">
                <a:avLst/>
              </a:prstGeom>
            </p:spPr>
            <p:txBody>
              <a:bodyPr anchor="ctr" rtlCol="false" tIns="0" lIns="0" bIns="0" rIns="0"/>
              <a:lstStyle/>
              <a:p>
                <a:pPr algn="ctr">
                  <a:lnSpc>
                    <a:spcPts val="3720"/>
                  </a:lnSpc>
                </a:pPr>
                <a:r>
                  <a:rPr lang="en-US" sz="3100" b="true">
                    <a:solidFill>
                      <a:srgbClr val="0B5E6E"/>
                    </a:solidFill>
                    <a:latin typeface="Calibri (MS) Bold"/>
                    <a:ea typeface="Calibri (MS) Bold"/>
                    <a:cs typeface="Calibri (MS) Bold"/>
                    <a:sym typeface="Calibri (MS) Bold"/>
                  </a:rPr>
                  <a:t>SDEverywhere</a:t>
                </a:r>
              </a:p>
            </p:txBody>
          </p:sp>
        </p:grpSp>
        <p:sp>
          <p:nvSpPr>
            <p:cNvPr name="Freeform 42" id="42"/>
            <p:cNvSpPr/>
            <p:nvPr/>
          </p:nvSpPr>
          <p:spPr>
            <a:xfrm flipH="false" flipV="false" rot="0">
              <a:off x="1738170" y="204025"/>
              <a:ext cx="1751231" cy="1751231"/>
            </a:xfrm>
            <a:custGeom>
              <a:avLst/>
              <a:gdLst/>
              <a:ahLst/>
              <a:cxnLst/>
              <a:rect r="r" b="b" t="t" l="l"/>
              <a:pathLst>
                <a:path h="1751231" w="1751231">
                  <a:moveTo>
                    <a:pt x="0" y="0"/>
                  </a:moveTo>
                  <a:lnTo>
                    <a:pt x="1751231" y="0"/>
                  </a:lnTo>
                  <a:lnTo>
                    <a:pt x="1751231" y="1751230"/>
                  </a:lnTo>
                  <a:lnTo>
                    <a:pt x="0" y="1751230"/>
                  </a:lnTo>
                  <a:lnTo>
                    <a:pt x="0" y="0"/>
                  </a:lnTo>
                  <a:close/>
                </a:path>
              </a:pathLst>
            </a:custGeom>
            <a:blipFill>
              <a:blip r:embed="rId9"/>
              <a:stretch>
                <a:fillRect l="0" t="0" r="0" b="0"/>
              </a:stretch>
            </a:blipFill>
          </p:spPr>
          <p:txBody>
            <a:bodyPr/>
            <a:p/>
          </p:txBody>
        </p:sp>
        <p:sp>
          <p:nvSpPr>
            <p:cNvPr name="TextBox 43" id="43"/>
            <p:cNvSpPr txBox="true"/>
            <p:nvPr/>
          </p:nvSpPr>
          <p:spPr>
            <a:xfrm rot="0">
              <a:off x="346073" y="3014435"/>
              <a:ext cx="4535424" cy="1460500"/>
            </a:xfrm>
            <a:prstGeom prst="rect">
              <a:avLst/>
            </a:prstGeom>
          </p:spPr>
          <p:txBody>
            <a:bodyPr anchor="t" rtlCol="false" tIns="0" lIns="0" bIns="0" rIns="0">
              <a:spAutoFit/>
            </a:bodyPr>
            <a:lstStyle/>
            <a:p>
              <a:pPr algn="just">
                <a:lnSpc>
                  <a:spcPts val="2160"/>
                </a:lnSpc>
              </a:pPr>
              <a:r>
                <a:rPr lang="en-US" sz="1800">
                  <a:solidFill>
                    <a:srgbClr val="14313B"/>
                  </a:solidFill>
                  <a:latin typeface="Calibri (MS)"/>
                  <a:ea typeface="Calibri (MS)"/>
                  <a:cs typeface="Calibri (MS)"/>
                  <a:sym typeface="Calibri (MS)"/>
                </a:rPr>
                <a:t>konversi model yang sudah dibuat di Vensim menjadi kode yang dapat dijalankan pada aplikasi berbasis web </a:t>
              </a:r>
            </a:p>
          </p:txBody>
        </p:sp>
      </p:grpSp>
      <p:grpSp>
        <p:nvGrpSpPr>
          <p:cNvPr name="Group 44" id="44"/>
          <p:cNvGrpSpPr/>
          <p:nvPr/>
        </p:nvGrpSpPr>
        <p:grpSpPr>
          <a:xfrm rot="0">
            <a:off x="822960" y="2016371"/>
            <a:ext cx="3920678" cy="3527596"/>
            <a:chOff x="0" y="0"/>
            <a:chExt cx="5227570" cy="4703461"/>
          </a:xfrm>
        </p:grpSpPr>
        <p:grpSp>
          <p:nvGrpSpPr>
            <p:cNvPr name="Group 45" id="45"/>
            <p:cNvGrpSpPr/>
            <p:nvPr/>
          </p:nvGrpSpPr>
          <p:grpSpPr>
            <a:xfrm rot="0">
              <a:off x="0" y="0"/>
              <a:ext cx="5227570" cy="4703461"/>
              <a:chOff x="0" y="0"/>
              <a:chExt cx="1032607" cy="929079"/>
            </a:xfrm>
          </p:grpSpPr>
          <p:sp>
            <p:nvSpPr>
              <p:cNvPr name="Freeform 46" id="46"/>
              <p:cNvSpPr/>
              <p:nvPr/>
            </p:nvSpPr>
            <p:spPr>
              <a:xfrm flipH="false" flipV="false" rot="0">
                <a:off x="0" y="0"/>
                <a:ext cx="1032607" cy="929079"/>
              </a:xfrm>
              <a:custGeom>
                <a:avLst/>
                <a:gdLst/>
                <a:ahLst/>
                <a:cxnLst/>
                <a:rect r="r" b="b" t="t" l="l"/>
                <a:pathLst>
                  <a:path h="929079" w="1032607">
                    <a:moveTo>
                      <a:pt x="39493" y="0"/>
                    </a:moveTo>
                    <a:lnTo>
                      <a:pt x="993114" y="0"/>
                    </a:lnTo>
                    <a:cubicBezTo>
                      <a:pt x="1003588" y="0"/>
                      <a:pt x="1013633" y="4161"/>
                      <a:pt x="1021039" y="11567"/>
                    </a:cubicBezTo>
                    <a:cubicBezTo>
                      <a:pt x="1028446" y="18973"/>
                      <a:pt x="1032607" y="29019"/>
                      <a:pt x="1032607" y="39493"/>
                    </a:cubicBezTo>
                    <a:lnTo>
                      <a:pt x="1032607" y="889586"/>
                    </a:lnTo>
                    <a:cubicBezTo>
                      <a:pt x="1032607" y="900060"/>
                      <a:pt x="1028446" y="910105"/>
                      <a:pt x="1021039" y="917512"/>
                    </a:cubicBezTo>
                    <a:cubicBezTo>
                      <a:pt x="1013633" y="924918"/>
                      <a:pt x="1003588" y="929079"/>
                      <a:pt x="993114" y="929079"/>
                    </a:cubicBezTo>
                    <a:lnTo>
                      <a:pt x="39493" y="929079"/>
                    </a:lnTo>
                    <a:cubicBezTo>
                      <a:pt x="17682" y="929079"/>
                      <a:pt x="0" y="911397"/>
                      <a:pt x="0" y="889586"/>
                    </a:cubicBezTo>
                    <a:lnTo>
                      <a:pt x="0" y="39493"/>
                    </a:lnTo>
                    <a:cubicBezTo>
                      <a:pt x="0" y="17682"/>
                      <a:pt x="17682" y="0"/>
                      <a:pt x="39493" y="0"/>
                    </a:cubicBezTo>
                    <a:close/>
                  </a:path>
                </a:pathLst>
              </a:custGeom>
              <a:solidFill>
                <a:srgbClr val="FFFFFF"/>
              </a:solidFill>
              <a:ln w="19050" cap="sq">
                <a:solidFill>
                  <a:srgbClr val="CFE5E9"/>
                </a:solidFill>
                <a:prstDash val="solid"/>
                <a:miter/>
              </a:ln>
            </p:spPr>
            <p:txBody>
              <a:bodyPr/>
              <a:p/>
            </p:txBody>
          </p:sp>
          <p:sp>
            <p:nvSpPr>
              <p:cNvPr name="TextBox 47" id="47"/>
              <p:cNvSpPr txBox="true"/>
              <p:nvPr/>
            </p:nvSpPr>
            <p:spPr>
              <a:xfrm>
                <a:off x="0" y="-19050"/>
                <a:ext cx="1032607" cy="948129"/>
              </a:xfrm>
              <a:prstGeom prst="rect">
                <a:avLst/>
              </a:prstGeom>
            </p:spPr>
            <p:txBody>
              <a:bodyPr anchor="ctr" rtlCol="false" tIns="50800" lIns="50800" bIns="50800" rIns="50800"/>
              <a:lstStyle/>
              <a:p>
                <a:pPr algn="ctr">
                  <a:lnSpc>
                    <a:spcPts val="1889"/>
                  </a:lnSpc>
                </a:pPr>
              </a:p>
            </p:txBody>
          </p:sp>
        </p:grpSp>
        <p:sp>
          <p:nvSpPr>
            <p:cNvPr name="Freeform 48" id="48"/>
            <p:cNvSpPr/>
            <p:nvPr/>
          </p:nvSpPr>
          <p:spPr>
            <a:xfrm flipH="false" flipV="false" rot="0">
              <a:off x="1860320" y="325559"/>
              <a:ext cx="1506931" cy="1428649"/>
            </a:xfrm>
            <a:custGeom>
              <a:avLst/>
              <a:gdLst/>
              <a:ahLst/>
              <a:cxnLst/>
              <a:rect r="r" b="b" t="t" l="l"/>
              <a:pathLst>
                <a:path h="1428649" w="1506931">
                  <a:moveTo>
                    <a:pt x="0" y="0"/>
                  </a:moveTo>
                  <a:lnTo>
                    <a:pt x="1506931" y="0"/>
                  </a:lnTo>
                  <a:lnTo>
                    <a:pt x="1506931" y="1428649"/>
                  </a:lnTo>
                  <a:lnTo>
                    <a:pt x="0" y="1428649"/>
                  </a:lnTo>
                  <a:lnTo>
                    <a:pt x="0" y="0"/>
                  </a:lnTo>
                  <a:close/>
                </a:path>
              </a:pathLst>
            </a:custGeom>
            <a:blipFill>
              <a:blip r:embed="rId10"/>
              <a:stretch>
                <a:fillRect l="0" t="0" r="0" b="0"/>
              </a:stretch>
            </a:blipFill>
          </p:spPr>
          <p:txBody>
            <a:bodyPr/>
            <a:p/>
          </p:txBody>
        </p:sp>
        <p:grpSp>
          <p:nvGrpSpPr>
            <p:cNvPr name="Group 49" id="49"/>
            <p:cNvGrpSpPr/>
            <p:nvPr/>
          </p:nvGrpSpPr>
          <p:grpSpPr>
            <a:xfrm rot="0">
              <a:off x="346073" y="1955255"/>
              <a:ext cx="4535424" cy="1097280"/>
              <a:chOff x="0" y="0"/>
              <a:chExt cx="4535424" cy="1097280"/>
            </a:xfrm>
          </p:grpSpPr>
          <p:sp>
            <p:nvSpPr>
              <p:cNvPr name="Freeform 50" id="50"/>
              <p:cNvSpPr/>
              <p:nvPr/>
            </p:nvSpPr>
            <p:spPr>
              <a:xfrm flipH="false" flipV="false" rot="0">
                <a:off x="0" y="0"/>
                <a:ext cx="4535424" cy="1097280"/>
              </a:xfrm>
              <a:custGeom>
                <a:avLst/>
                <a:gdLst/>
                <a:ahLst/>
                <a:cxnLst/>
                <a:rect r="r" b="b" t="t" l="l"/>
                <a:pathLst>
                  <a:path h="1097280" w="4535424">
                    <a:moveTo>
                      <a:pt x="0" y="0"/>
                    </a:moveTo>
                    <a:lnTo>
                      <a:pt x="4535424" y="0"/>
                    </a:lnTo>
                    <a:lnTo>
                      <a:pt x="4535424" y="1097280"/>
                    </a:lnTo>
                    <a:lnTo>
                      <a:pt x="0" y="1097280"/>
                    </a:lnTo>
                    <a:close/>
                  </a:path>
                </a:pathLst>
              </a:custGeom>
              <a:blipFill>
                <a:blip r:embed="rId4">
                  <a:alphaModFix amt="0"/>
                </a:blip>
                <a:stretch>
                  <a:fillRect l="0" t="-30538" r="0" b="-30538"/>
                </a:stretch>
              </a:blipFill>
            </p:spPr>
            <p:txBody>
              <a:bodyPr/>
              <a:p/>
            </p:txBody>
          </p:sp>
          <p:sp>
            <p:nvSpPr>
              <p:cNvPr name="TextBox 51" id="51"/>
              <p:cNvSpPr txBox="true"/>
              <p:nvPr/>
            </p:nvSpPr>
            <p:spPr>
              <a:xfrm>
                <a:off x="0" y="-66675"/>
                <a:ext cx="4535424" cy="1163955"/>
              </a:xfrm>
              <a:prstGeom prst="rect">
                <a:avLst/>
              </a:prstGeom>
            </p:spPr>
            <p:txBody>
              <a:bodyPr anchor="ctr" rtlCol="false" tIns="0" lIns="0" bIns="0" rIns="0"/>
              <a:lstStyle/>
              <a:p>
                <a:pPr algn="l">
                  <a:lnSpc>
                    <a:spcPts val="3720"/>
                  </a:lnSpc>
                </a:pPr>
                <a:r>
                  <a:rPr lang="en-US" sz="3100" b="true">
                    <a:solidFill>
                      <a:srgbClr val="0B5E6E"/>
                    </a:solidFill>
                    <a:latin typeface="Calibri (MS) Bold"/>
                    <a:ea typeface="Calibri (MS) Bold"/>
                    <a:cs typeface="Calibri (MS) Bold"/>
                    <a:sym typeface="Calibri (MS) Bold"/>
                  </a:rPr>
                  <a:t>Google Earth Engine</a:t>
                </a:r>
              </a:p>
            </p:txBody>
          </p:sp>
        </p:grpSp>
        <p:sp>
          <p:nvSpPr>
            <p:cNvPr name="TextBox 52" id="52"/>
            <p:cNvSpPr txBox="true"/>
            <p:nvPr/>
          </p:nvSpPr>
          <p:spPr>
            <a:xfrm rot="0">
              <a:off x="274320" y="3014435"/>
              <a:ext cx="4535424" cy="749300"/>
            </a:xfrm>
            <a:prstGeom prst="rect">
              <a:avLst/>
            </a:prstGeom>
          </p:spPr>
          <p:txBody>
            <a:bodyPr anchor="t" rtlCol="false" tIns="0" lIns="0" bIns="0" rIns="0">
              <a:spAutoFit/>
            </a:bodyPr>
            <a:lstStyle/>
            <a:p>
              <a:pPr algn="just">
                <a:lnSpc>
                  <a:spcPts val="2160"/>
                </a:lnSpc>
              </a:pPr>
              <a:r>
                <a:rPr lang="en-US" sz="1800">
                  <a:solidFill>
                    <a:srgbClr val="14313B"/>
                  </a:solidFill>
                  <a:latin typeface="Calibri (MS)"/>
                  <a:ea typeface="Calibri (MS)"/>
                  <a:cs typeface="Calibri (MS)"/>
                  <a:sym typeface="Calibri (MS)"/>
                </a:rPr>
                <a:t>Ekstraksi dan pengolahan data citra satelit (Dynamic world dan NTL)</a:t>
              </a:r>
            </a:p>
          </p:txBody>
        </p:sp>
      </p:grpSp>
      <p:grpSp>
        <p:nvGrpSpPr>
          <p:cNvPr name="Group 53" id="53"/>
          <p:cNvGrpSpPr/>
          <p:nvPr/>
        </p:nvGrpSpPr>
        <p:grpSpPr>
          <a:xfrm rot="0">
            <a:off x="9653321" y="5886510"/>
            <a:ext cx="3920678" cy="3527596"/>
            <a:chOff x="0" y="0"/>
            <a:chExt cx="5227570" cy="4703461"/>
          </a:xfrm>
        </p:grpSpPr>
        <p:grpSp>
          <p:nvGrpSpPr>
            <p:cNvPr name="Group 54" id="54"/>
            <p:cNvGrpSpPr/>
            <p:nvPr/>
          </p:nvGrpSpPr>
          <p:grpSpPr>
            <a:xfrm rot="0">
              <a:off x="0" y="0"/>
              <a:ext cx="5227570" cy="4703461"/>
              <a:chOff x="0" y="0"/>
              <a:chExt cx="1032607" cy="929079"/>
            </a:xfrm>
          </p:grpSpPr>
          <p:sp>
            <p:nvSpPr>
              <p:cNvPr name="Freeform 55" id="55"/>
              <p:cNvSpPr/>
              <p:nvPr/>
            </p:nvSpPr>
            <p:spPr>
              <a:xfrm flipH="false" flipV="false" rot="0">
                <a:off x="0" y="0"/>
                <a:ext cx="1032607" cy="929079"/>
              </a:xfrm>
              <a:custGeom>
                <a:avLst/>
                <a:gdLst/>
                <a:ahLst/>
                <a:cxnLst/>
                <a:rect r="r" b="b" t="t" l="l"/>
                <a:pathLst>
                  <a:path h="929079" w="1032607">
                    <a:moveTo>
                      <a:pt x="32109" y="0"/>
                    </a:moveTo>
                    <a:lnTo>
                      <a:pt x="1000498" y="0"/>
                    </a:lnTo>
                    <a:cubicBezTo>
                      <a:pt x="1009013" y="0"/>
                      <a:pt x="1017180" y="3383"/>
                      <a:pt x="1023202" y="9405"/>
                    </a:cubicBezTo>
                    <a:cubicBezTo>
                      <a:pt x="1029224" y="15426"/>
                      <a:pt x="1032607" y="23593"/>
                      <a:pt x="1032607" y="32109"/>
                    </a:cubicBezTo>
                    <a:lnTo>
                      <a:pt x="1032607" y="896970"/>
                    </a:lnTo>
                    <a:cubicBezTo>
                      <a:pt x="1032607" y="905486"/>
                      <a:pt x="1029224" y="913653"/>
                      <a:pt x="1023202" y="919674"/>
                    </a:cubicBezTo>
                    <a:cubicBezTo>
                      <a:pt x="1017180" y="925696"/>
                      <a:pt x="1009013" y="929079"/>
                      <a:pt x="1000498" y="929079"/>
                    </a:cubicBezTo>
                    <a:lnTo>
                      <a:pt x="32109" y="929079"/>
                    </a:lnTo>
                    <a:cubicBezTo>
                      <a:pt x="23593" y="929079"/>
                      <a:pt x="15426" y="925696"/>
                      <a:pt x="9405" y="919674"/>
                    </a:cubicBezTo>
                    <a:cubicBezTo>
                      <a:pt x="3383" y="913653"/>
                      <a:pt x="0" y="905486"/>
                      <a:pt x="0" y="896970"/>
                    </a:cubicBezTo>
                    <a:lnTo>
                      <a:pt x="0" y="32109"/>
                    </a:lnTo>
                    <a:cubicBezTo>
                      <a:pt x="0" y="23593"/>
                      <a:pt x="3383" y="15426"/>
                      <a:pt x="9405" y="9405"/>
                    </a:cubicBezTo>
                    <a:cubicBezTo>
                      <a:pt x="15426" y="3383"/>
                      <a:pt x="23593" y="0"/>
                      <a:pt x="32109" y="0"/>
                    </a:cubicBezTo>
                    <a:close/>
                  </a:path>
                </a:pathLst>
              </a:custGeom>
              <a:solidFill>
                <a:srgbClr val="FFFFFF"/>
              </a:solidFill>
              <a:ln w="19050" cap="sq">
                <a:solidFill>
                  <a:srgbClr val="CFE5E9"/>
                </a:solidFill>
                <a:prstDash val="solid"/>
                <a:miter/>
              </a:ln>
            </p:spPr>
            <p:txBody>
              <a:bodyPr/>
              <a:p/>
            </p:txBody>
          </p:sp>
          <p:sp>
            <p:nvSpPr>
              <p:cNvPr name="TextBox 56" id="56"/>
              <p:cNvSpPr txBox="true"/>
              <p:nvPr/>
            </p:nvSpPr>
            <p:spPr>
              <a:xfrm>
                <a:off x="0" y="-19050"/>
                <a:ext cx="1032607" cy="948129"/>
              </a:xfrm>
              <a:prstGeom prst="rect">
                <a:avLst/>
              </a:prstGeom>
            </p:spPr>
            <p:txBody>
              <a:bodyPr anchor="ctr" rtlCol="false" tIns="62482" lIns="62482" bIns="62482" rIns="62482"/>
              <a:lstStyle/>
              <a:p>
                <a:pPr algn="ctr">
                  <a:lnSpc>
                    <a:spcPts val="1889"/>
                  </a:lnSpc>
                </a:pPr>
              </a:p>
            </p:txBody>
          </p:sp>
        </p:grpSp>
        <p:grpSp>
          <p:nvGrpSpPr>
            <p:cNvPr name="Group 57" id="57"/>
            <p:cNvGrpSpPr/>
            <p:nvPr/>
          </p:nvGrpSpPr>
          <p:grpSpPr>
            <a:xfrm rot="0">
              <a:off x="346073" y="1701455"/>
              <a:ext cx="4535424" cy="1269680"/>
              <a:chOff x="0" y="0"/>
              <a:chExt cx="4535424" cy="1269680"/>
            </a:xfrm>
          </p:grpSpPr>
          <p:sp>
            <p:nvSpPr>
              <p:cNvPr name="Freeform 58" id="58"/>
              <p:cNvSpPr/>
              <p:nvPr/>
            </p:nvSpPr>
            <p:spPr>
              <a:xfrm flipH="false" flipV="false" rot="0">
                <a:off x="0" y="0"/>
                <a:ext cx="4535424" cy="1269681"/>
              </a:xfrm>
              <a:custGeom>
                <a:avLst/>
                <a:gdLst/>
                <a:ahLst/>
                <a:cxnLst/>
                <a:rect r="r" b="b" t="t" l="l"/>
                <a:pathLst>
                  <a:path h="1269681" w="4535424">
                    <a:moveTo>
                      <a:pt x="0" y="0"/>
                    </a:moveTo>
                    <a:lnTo>
                      <a:pt x="4535424" y="0"/>
                    </a:lnTo>
                    <a:lnTo>
                      <a:pt x="4535424" y="1269681"/>
                    </a:lnTo>
                    <a:lnTo>
                      <a:pt x="0" y="1269681"/>
                    </a:lnTo>
                    <a:close/>
                  </a:path>
                </a:pathLst>
              </a:custGeom>
              <a:blipFill>
                <a:blip r:embed="rId4">
                  <a:alphaModFix amt="0"/>
                </a:blip>
                <a:stretch>
                  <a:fillRect l="0" t="-26391" r="0" b="-12813"/>
                </a:stretch>
              </a:blipFill>
            </p:spPr>
            <p:txBody>
              <a:bodyPr/>
              <a:p/>
            </p:txBody>
          </p:sp>
          <p:sp>
            <p:nvSpPr>
              <p:cNvPr name="TextBox 59" id="59"/>
              <p:cNvSpPr txBox="true"/>
              <p:nvPr/>
            </p:nvSpPr>
            <p:spPr>
              <a:xfrm>
                <a:off x="0" y="-57150"/>
                <a:ext cx="4535424" cy="1326830"/>
              </a:xfrm>
              <a:prstGeom prst="rect">
                <a:avLst/>
              </a:prstGeom>
            </p:spPr>
            <p:txBody>
              <a:bodyPr anchor="ctr" rtlCol="false" tIns="0" lIns="0" bIns="0" rIns="0"/>
              <a:lstStyle/>
              <a:p>
                <a:pPr algn="ctr">
                  <a:lnSpc>
                    <a:spcPts val="3240"/>
                  </a:lnSpc>
                </a:pPr>
                <a:r>
                  <a:rPr lang="en-US" sz="2700" b="true">
                    <a:solidFill>
                      <a:srgbClr val="0B5E6E"/>
                    </a:solidFill>
                    <a:latin typeface="Calibri (MS) Bold"/>
                    <a:ea typeface="Calibri (MS) Bold"/>
                    <a:cs typeface="Calibri (MS) Bold"/>
                    <a:sym typeface="Calibri (MS) Bold"/>
                  </a:rPr>
                  <a:t>Next js, TypeScript, Tailwind CSS</a:t>
                </a:r>
              </a:p>
            </p:txBody>
          </p:sp>
        </p:grpSp>
        <p:sp>
          <p:nvSpPr>
            <p:cNvPr name="TextBox 60" id="60"/>
            <p:cNvSpPr txBox="true"/>
            <p:nvPr/>
          </p:nvSpPr>
          <p:spPr>
            <a:xfrm rot="0">
              <a:off x="346073" y="3014435"/>
              <a:ext cx="4535424" cy="749300"/>
            </a:xfrm>
            <a:prstGeom prst="rect">
              <a:avLst/>
            </a:prstGeom>
          </p:spPr>
          <p:txBody>
            <a:bodyPr anchor="t" rtlCol="false" tIns="0" lIns="0" bIns="0" rIns="0">
              <a:spAutoFit/>
            </a:bodyPr>
            <a:lstStyle/>
            <a:p>
              <a:pPr algn="just">
                <a:lnSpc>
                  <a:spcPts val="2160"/>
                </a:lnSpc>
              </a:pPr>
              <a:r>
                <a:rPr lang="en-US" sz="1800">
                  <a:solidFill>
                    <a:srgbClr val="14313B"/>
                  </a:solidFill>
                  <a:latin typeface="Calibri (MS)"/>
                  <a:ea typeface="Calibri (MS)"/>
                  <a:cs typeface="Calibri (MS)"/>
                  <a:sym typeface="Calibri (MS)"/>
                </a:rPr>
                <a:t>Pengembangan antarmuka aplikasi web interaktif</a:t>
              </a:r>
            </a:p>
          </p:txBody>
        </p:sp>
        <p:sp>
          <p:nvSpPr>
            <p:cNvPr name="Freeform 61" id="61"/>
            <p:cNvSpPr/>
            <p:nvPr/>
          </p:nvSpPr>
          <p:spPr>
            <a:xfrm flipH="false" flipV="false" rot="0">
              <a:off x="2821433" y="726246"/>
              <a:ext cx="940764" cy="975209"/>
            </a:xfrm>
            <a:custGeom>
              <a:avLst/>
              <a:gdLst/>
              <a:ahLst/>
              <a:cxnLst/>
              <a:rect r="r" b="b" t="t" l="l"/>
              <a:pathLst>
                <a:path h="975209" w="940764">
                  <a:moveTo>
                    <a:pt x="0" y="0"/>
                  </a:moveTo>
                  <a:lnTo>
                    <a:pt x="940764" y="0"/>
                  </a:lnTo>
                  <a:lnTo>
                    <a:pt x="940764" y="975209"/>
                  </a:lnTo>
                  <a:lnTo>
                    <a:pt x="0" y="975209"/>
                  </a:lnTo>
                  <a:lnTo>
                    <a:pt x="0" y="0"/>
                  </a:lnTo>
                  <a:close/>
                </a:path>
              </a:pathLst>
            </a:custGeom>
            <a:blipFill>
              <a:blip r:embed="rId11"/>
              <a:stretch>
                <a:fillRect l="-296464" t="-106623" r="-59521" b="-40210"/>
              </a:stretch>
            </a:blipFill>
          </p:spPr>
          <p:txBody>
            <a:bodyPr/>
            <a:p/>
          </p:txBody>
        </p:sp>
        <p:sp>
          <p:nvSpPr>
            <p:cNvPr name="Freeform 62" id="62"/>
            <p:cNvSpPr/>
            <p:nvPr/>
          </p:nvSpPr>
          <p:spPr>
            <a:xfrm flipH="false" flipV="false" rot="0">
              <a:off x="1615812" y="322118"/>
              <a:ext cx="1799097" cy="404128"/>
            </a:xfrm>
            <a:custGeom>
              <a:avLst/>
              <a:gdLst/>
              <a:ahLst/>
              <a:cxnLst/>
              <a:rect r="r" b="b" t="t" l="l"/>
              <a:pathLst>
                <a:path h="404128" w="1799097">
                  <a:moveTo>
                    <a:pt x="0" y="0"/>
                  </a:moveTo>
                  <a:lnTo>
                    <a:pt x="1799097" y="0"/>
                  </a:lnTo>
                  <a:lnTo>
                    <a:pt x="1799097" y="404128"/>
                  </a:lnTo>
                  <a:lnTo>
                    <a:pt x="0" y="404128"/>
                  </a:lnTo>
                  <a:lnTo>
                    <a:pt x="0" y="0"/>
                  </a:lnTo>
                  <a:close/>
                </a:path>
              </a:pathLst>
            </a:custGeom>
            <a:blipFill>
              <a:blip r:embed="rId11"/>
              <a:stretch>
                <a:fillRect l="-127665" t="-125258" r="-10773" b="-370381"/>
              </a:stretch>
            </a:blipFill>
          </p:spPr>
          <p:txBody>
            <a:bodyPr/>
            <a:p/>
          </p:txBody>
        </p:sp>
        <p:sp>
          <p:nvSpPr>
            <p:cNvPr name="Freeform 63" id="63"/>
            <p:cNvSpPr/>
            <p:nvPr/>
          </p:nvSpPr>
          <p:spPr>
            <a:xfrm flipH="false" flipV="false" rot="0">
              <a:off x="1465374" y="881059"/>
              <a:ext cx="1317416" cy="665583"/>
            </a:xfrm>
            <a:custGeom>
              <a:avLst/>
              <a:gdLst/>
              <a:ahLst/>
              <a:cxnLst/>
              <a:rect r="r" b="b" t="t" l="l"/>
              <a:pathLst>
                <a:path h="665583" w="1317416">
                  <a:moveTo>
                    <a:pt x="0" y="0"/>
                  </a:moveTo>
                  <a:lnTo>
                    <a:pt x="1317416" y="0"/>
                  </a:lnTo>
                  <a:lnTo>
                    <a:pt x="1317416" y="665583"/>
                  </a:lnTo>
                  <a:lnTo>
                    <a:pt x="0" y="665583"/>
                  </a:lnTo>
                  <a:lnTo>
                    <a:pt x="0" y="0"/>
                  </a:lnTo>
                  <a:close/>
                </a:path>
              </a:pathLst>
            </a:custGeom>
            <a:blipFill>
              <a:blip r:embed="rId11"/>
              <a:stretch>
                <a:fillRect l="-11106" t="-72899" r="-113616" b="-76697"/>
              </a:stretch>
            </a:blipFill>
          </p:spPr>
          <p:txBody>
            <a:bodyPr/>
            <a:p/>
          </p:txBody>
        </p:sp>
      </p:grpSp>
      <p:grpSp>
        <p:nvGrpSpPr>
          <p:cNvPr name="Group 64" id="64"/>
          <p:cNvGrpSpPr/>
          <p:nvPr/>
        </p:nvGrpSpPr>
        <p:grpSpPr>
          <a:xfrm rot="0">
            <a:off x="822960" y="274320"/>
            <a:ext cx="2040922" cy="411480"/>
            <a:chOff x="0" y="0"/>
            <a:chExt cx="2721229" cy="548640"/>
          </a:xfrm>
        </p:grpSpPr>
        <p:sp>
          <p:nvSpPr>
            <p:cNvPr name="Freeform 65" id="65"/>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66" id="66"/>
          <p:cNvGrpSpPr/>
          <p:nvPr/>
        </p:nvGrpSpPr>
        <p:grpSpPr>
          <a:xfrm rot="0">
            <a:off x="822960" y="274320"/>
            <a:ext cx="2040941" cy="411480"/>
            <a:chOff x="0" y="0"/>
            <a:chExt cx="2721254" cy="548640"/>
          </a:xfrm>
        </p:grpSpPr>
        <p:sp>
          <p:nvSpPr>
            <p:cNvPr name="Freeform 67" id="67"/>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12">
                <a:alphaModFix amt="0"/>
              </a:blip>
              <a:stretch>
                <a:fillRect l="0" t="-46578" r="0" b="-46578"/>
              </a:stretch>
            </a:blipFill>
          </p:spPr>
          <p:txBody>
            <a:bodyPr/>
            <a:p/>
          </p:txBody>
        </p:sp>
      </p:grpSp>
      <p:grpSp>
        <p:nvGrpSpPr>
          <p:cNvPr name="Group 68" id="68"/>
          <p:cNvGrpSpPr/>
          <p:nvPr/>
        </p:nvGrpSpPr>
        <p:grpSpPr>
          <a:xfrm rot="0">
            <a:off x="822960" y="260033"/>
            <a:ext cx="2040941" cy="425768"/>
            <a:chOff x="0" y="0"/>
            <a:chExt cx="2721254" cy="567690"/>
          </a:xfrm>
        </p:grpSpPr>
        <p:sp>
          <p:nvSpPr>
            <p:cNvPr name="Freeform 69" id="69"/>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4">
                <a:alphaModFix amt="0"/>
              </a:blip>
              <a:stretch>
                <a:fillRect l="0" t="-43402" r="0" b="-43402"/>
              </a:stretch>
            </a:blipFill>
          </p:spPr>
          <p:txBody>
            <a:bodyPr/>
            <a:p/>
          </p:txBody>
        </p:sp>
        <p:sp>
          <p:nvSpPr>
            <p:cNvPr name="TextBox 70" id="70"/>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71" id="71"/>
          <p:cNvGrpSpPr/>
          <p:nvPr/>
        </p:nvGrpSpPr>
        <p:grpSpPr>
          <a:xfrm rot="0">
            <a:off x="2973629" y="274320"/>
            <a:ext cx="2378392" cy="411480"/>
            <a:chOff x="0" y="0"/>
            <a:chExt cx="3171190" cy="548640"/>
          </a:xfrm>
        </p:grpSpPr>
        <p:sp>
          <p:nvSpPr>
            <p:cNvPr name="Freeform 72" id="7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73" id="73"/>
          <p:cNvGrpSpPr/>
          <p:nvPr/>
        </p:nvGrpSpPr>
        <p:grpSpPr>
          <a:xfrm rot="0">
            <a:off x="2973629" y="274320"/>
            <a:ext cx="2378354" cy="411480"/>
            <a:chOff x="0" y="0"/>
            <a:chExt cx="3171139" cy="548640"/>
          </a:xfrm>
        </p:grpSpPr>
        <p:sp>
          <p:nvSpPr>
            <p:cNvPr name="Freeform 74" id="7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12">
                <a:alphaModFix amt="0"/>
              </a:blip>
              <a:stretch>
                <a:fillRect l="0" t="-62546" r="1" b="-62543"/>
              </a:stretch>
            </a:blipFill>
          </p:spPr>
          <p:txBody>
            <a:bodyPr/>
            <a:p/>
          </p:txBody>
        </p:sp>
      </p:grpSp>
      <p:grpSp>
        <p:nvGrpSpPr>
          <p:cNvPr name="Group 75" id="75"/>
          <p:cNvGrpSpPr/>
          <p:nvPr/>
        </p:nvGrpSpPr>
        <p:grpSpPr>
          <a:xfrm rot="0">
            <a:off x="2973629" y="260033"/>
            <a:ext cx="2378354" cy="425768"/>
            <a:chOff x="0" y="0"/>
            <a:chExt cx="3171139" cy="567690"/>
          </a:xfrm>
        </p:grpSpPr>
        <p:sp>
          <p:nvSpPr>
            <p:cNvPr name="Freeform 76" id="76"/>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4">
                <a:alphaModFix amt="0"/>
              </a:blip>
              <a:stretch>
                <a:fillRect l="0" t="-58844" r="0" b="-58844"/>
              </a:stretch>
            </a:blipFill>
          </p:spPr>
          <p:txBody>
            <a:bodyPr/>
            <a:p/>
          </p:txBody>
        </p:sp>
        <p:sp>
          <p:nvSpPr>
            <p:cNvPr name="TextBox 77" id="77"/>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Metodologi</a:t>
              </a:r>
            </a:p>
          </p:txBody>
        </p:sp>
      </p:grpSp>
      <p:grpSp>
        <p:nvGrpSpPr>
          <p:cNvPr name="Group 78" id="78"/>
          <p:cNvGrpSpPr/>
          <p:nvPr/>
        </p:nvGrpSpPr>
        <p:grpSpPr>
          <a:xfrm rot="0">
            <a:off x="5461711" y="274320"/>
            <a:ext cx="1591056" cy="411480"/>
            <a:chOff x="0" y="0"/>
            <a:chExt cx="2121408" cy="548640"/>
          </a:xfrm>
        </p:grpSpPr>
        <p:sp>
          <p:nvSpPr>
            <p:cNvPr name="Freeform 79" id="79"/>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80" id="80"/>
          <p:cNvGrpSpPr/>
          <p:nvPr/>
        </p:nvGrpSpPr>
        <p:grpSpPr>
          <a:xfrm rot="0">
            <a:off x="5461711" y="274320"/>
            <a:ext cx="1591056" cy="411480"/>
            <a:chOff x="0" y="0"/>
            <a:chExt cx="2121408" cy="548640"/>
          </a:xfrm>
        </p:grpSpPr>
        <p:sp>
          <p:nvSpPr>
            <p:cNvPr name="Freeform 81" id="81"/>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12">
                <a:alphaModFix amt="0"/>
              </a:blip>
              <a:stretch>
                <a:fillRect l="0" t="-25289" r="0" b="-25289"/>
              </a:stretch>
            </a:blipFill>
          </p:spPr>
          <p:txBody>
            <a:bodyPr/>
            <a:p/>
          </p:txBody>
        </p:sp>
      </p:grpSp>
      <p:grpSp>
        <p:nvGrpSpPr>
          <p:cNvPr name="Group 82" id="82"/>
          <p:cNvGrpSpPr/>
          <p:nvPr/>
        </p:nvGrpSpPr>
        <p:grpSpPr>
          <a:xfrm rot="0">
            <a:off x="5461711" y="260033"/>
            <a:ext cx="1591056" cy="425768"/>
            <a:chOff x="0" y="0"/>
            <a:chExt cx="2121408" cy="567690"/>
          </a:xfrm>
        </p:grpSpPr>
        <p:sp>
          <p:nvSpPr>
            <p:cNvPr name="Freeform 83" id="83"/>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4">
                <a:alphaModFix amt="0"/>
              </a:blip>
              <a:stretch>
                <a:fillRect l="0" t="-22813" r="0" b="-22813"/>
              </a:stretch>
            </a:blipFill>
          </p:spPr>
          <p:txBody>
            <a:bodyPr/>
            <a:p/>
          </p:txBody>
        </p:sp>
        <p:sp>
          <p:nvSpPr>
            <p:cNvPr name="TextBox 84" id="84"/>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85" id="85"/>
          <p:cNvGrpSpPr/>
          <p:nvPr/>
        </p:nvGrpSpPr>
        <p:grpSpPr>
          <a:xfrm rot="0">
            <a:off x="7162495" y="274320"/>
            <a:ext cx="2490788" cy="411480"/>
            <a:chOff x="0" y="0"/>
            <a:chExt cx="3321050" cy="548640"/>
          </a:xfrm>
        </p:grpSpPr>
        <p:sp>
          <p:nvSpPr>
            <p:cNvPr name="Freeform 86" id="86"/>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87" id="87"/>
          <p:cNvGrpSpPr/>
          <p:nvPr/>
        </p:nvGrpSpPr>
        <p:grpSpPr>
          <a:xfrm rot="0">
            <a:off x="7162495" y="274320"/>
            <a:ext cx="2490826" cy="411480"/>
            <a:chOff x="0" y="0"/>
            <a:chExt cx="3321101" cy="548640"/>
          </a:xfrm>
        </p:grpSpPr>
        <p:sp>
          <p:nvSpPr>
            <p:cNvPr name="Freeform 88" id="88"/>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12">
                <a:alphaModFix amt="0"/>
              </a:blip>
              <a:stretch>
                <a:fillRect l="0" t="-67868" r="-1" b="-67865"/>
              </a:stretch>
            </a:blipFill>
          </p:spPr>
          <p:txBody>
            <a:bodyPr/>
            <a:p/>
          </p:txBody>
        </p:sp>
      </p:grpSp>
      <p:grpSp>
        <p:nvGrpSpPr>
          <p:cNvPr name="Group 89" id="89"/>
          <p:cNvGrpSpPr/>
          <p:nvPr/>
        </p:nvGrpSpPr>
        <p:grpSpPr>
          <a:xfrm rot="0">
            <a:off x="7162495" y="260033"/>
            <a:ext cx="2490826" cy="425768"/>
            <a:chOff x="0" y="0"/>
            <a:chExt cx="3321101" cy="567690"/>
          </a:xfrm>
        </p:grpSpPr>
        <p:sp>
          <p:nvSpPr>
            <p:cNvPr name="Freeform 90" id="90"/>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4">
                <a:alphaModFix amt="0"/>
              </a:blip>
              <a:stretch>
                <a:fillRect l="0" t="-63991" r="0" b="-63991"/>
              </a:stretch>
            </a:blipFill>
          </p:spPr>
          <p:txBody>
            <a:bodyPr/>
            <a:p/>
          </p:txBody>
        </p:sp>
        <p:sp>
          <p:nvSpPr>
            <p:cNvPr name="TextBox 91" id="91"/>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92" id="92"/>
          <p:cNvGrpSpPr/>
          <p:nvPr/>
        </p:nvGrpSpPr>
        <p:grpSpPr>
          <a:xfrm rot="0">
            <a:off x="9763049" y="274320"/>
            <a:ext cx="1366076" cy="411480"/>
            <a:chOff x="0" y="0"/>
            <a:chExt cx="1821434" cy="548640"/>
          </a:xfrm>
        </p:grpSpPr>
        <p:sp>
          <p:nvSpPr>
            <p:cNvPr name="Freeform 93" id="9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94" id="94"/>
          <p:cNvGrpSpPr/>
          <p:nvPr/>
        </p:nvGrpSpPr>
        <p:grpSpPr>
          <a:xfrm rot="0">
            <a:off x="9763049" y="274320"/>
            <a:ext cx="1366114" cy="411480"/>
            <a:chOff x="0" y="0"/>
            <a:chExt cx="1821485" cy="548640"/>
          </a:xfrm>
        </p:grpSpPr>
        <p:sp>
          <p:nvSpPr>
            <p:cNvPr name="Freeform 95" id="9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12">
                <a:alphaModFix amt="0"/>
              </a:blip>
              <a:stretch>
                <a:fillRect l="0" t="-14645" r="-2" b="-14645"/>
              </a:stretch>
            </a:blipFill>
          </p:spPr>
          <p:txBody>
            <a:bodyPr/>
            <a:p/>
          </p:txBody>
        </p:sp>
      </p:grpSp>
      <p:grpSp>
        <p:nvGrpSpPr>
          <p:cNvPr name="Group 96" id="96"/>
          <p:cNvGrpSpPr/>
          <p:nvPr/>
        </p:nvGrpSpPr>
        <p:grpSpPr>
          <a:xfrm rot="0">
            <a:off x="9763049" y="260033"/>
            <a:ext cx="1366114" cy="425768"/>
            <a:chOff x="0" y="0"/>
            <a:chExt cx="1821485" cy="567690"/>
          </a:xfrm>
        </p:grpSpPr>
        <p:sp>
          <p:nvSpPr>
            <p:cNvPr name="Freeform 97" id="97"/>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4">
                <a:alphaModFix amt="0"/>
              </a:blip>
              <a:stretch>
                <a:fillRect l="0" t="-12519" r="0" b="-12519"/>
              </a:stretch>
            </a:blipFill>
          </p:spPr>
          <p:txBody>
            <a:bodyPr/>
            <a:p/>
          </p:txBody>
        </p:sp>
        <p:sp>
          <p:nvSpPr>
            <p:cNvPr name="TextBox 98" id="98"/>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99" id="99"/>
          <p:cNvGrpSpPr/>
          <p:nvPr/>
        </p:nvGrpSpPr>
        <p:grpSpPr>
          <a:xfrm rot="0">
            <a:off x="11238890" y="274320"/>
            <a:ext cx="1253680" cy="411480"/>
            <a:chOff x="0" y="0"/>
            <a:chExt cx="1671574" cy="548640"/>
          </a:xfrm>
        </p:grpSpPr>
        <p:sp>
          <p:nvSpPr>
            <p:cNvPr name="Freeform 100" id="100"/>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01" id="101"/>
          <p:cNvGrpSpPr/>
          <p:nvPr/>
        </p:nvGrpSpPr>
        <p:grpSpPr>
          <a:xfrm rot="0">
            <a:off x="11238890" y="274320"/>
            <a:ext cx="1253642" cy="411480"/>
            <a:chOff x="0" y="0"/>
            <a:chExt cx="1671523" cy="548640"/>
          </a:xfrm>
        </p:grpSpPr>
        <p:sp>
          <p:nvSpPr>
            <p:cNvPr name="Freeform 102" id="102"/>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12">
                <a:alphaModFix amt="0"/>
              </a:blip>
              <a:stretch>
                <a:fillRect l="0" t="-9324" r="3" b="-9321"/>
              </a:stretch>
            </a:blipFill>
          </p:spPr>
          <p:txBody>
            <a:bodyPr/>
            <a:p/>
          </p:txBody>
        </p:sp>
      </p:grpSp>
      <p:grpSp>
        <p:nvGrpSpPr>
          <p:cNvPr name="Group 103" id="103"/>
          <p:cNvGrpSpPr/>
          <p:nvPr/>
        </p:nvGrpSpPr>
        <p:grpSpPr>
          <a:xfrm rot="0">
            <a:off x="11238890" y="260033"/>
            <a:ext cx="1253642" cy="425768"/>
            <a:chOff x="0" y="0"/>
            <a:chExt cx="1671523" cy="567690"/>
          </a:xfrm>
        </p:grpSpPr>
        <p:sp>
          <p:nvSpPr>
            <p:cNvPr name="Freeform 104" id="104"/>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4">
                <a:alphaModFix amt="0"/>
              </a:blip>
              <a:stretch>
                <a:fillRect l="0" t="-7372" r="0" b="-7372"/>
              </a:stretch>
            </a:blipFill>
          </p:spPr>
          <p:txBody>
            <a:bodyPr/>
            <a:p/>
          </p:txBody>
        </p:sp>
        <p:sp>
          <p:nvSpPr>
            <p:cNvPr name="TextBox 105" id="105"/>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106" id="106"/>
          <p:cNvSpPr txBox="true"/>
          <p:nvPr/>
        </p:nvSpPr>
        <p:spPr>
          <a:xfrm rot="0">
            <a:off x="822960" y="713232"/>
            <a:ext cx="16637508" cy="72390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Alat dan Perangkat Lunak</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Perangkat yang digunakan pada setiap tahap</a:t>
            </a:r>
          </a:p>
        </p:txBody>
      </p:sp>
      <p:sp>
        <p:nvSpPr>
          <p:cNvPr name="TextBox 107" id="107"/>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14</a:t>
            </a:r>
          </a:p>
        </p:txBody>
      </p:sp>
      <p:grpSp>
        <p:nvGrpSpPr>
          <p:cNvPr name="Group 108" id="108"/>
          <p:cNvGrpSpPr/>
          <p:nvPr/>
        </p:nvGrpSpPr>
        <p:grpSpPr>
          <a:xfrm rot="0">
            <a:off x="16047720" y="9646920"/>
            <a:ext cx="420624" cy="420624"/>
            <a:chOff x="0" y="0"/>
            <a:chExt cx="560832" cy="560832"/>
          </a:xfrm>
        </p:grpSpPr>
        <p:sp>
          <p:nvSpPr>
            <p:cNvPr name="Freeform 109" id="109"/>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10" id="110"/>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5725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Pengumpulan dan Preprocessing Data</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Empat masalah data ditangani sebelum pemodelan</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15</a:t>
            </a:r>
          </a:p>
        </p:txBody>
      </p:sp>
      <p:grpSp>
        <p:nvGrpSpPr>
          <p:cNvPr name="Group 67" id="67"/>
          <p:cNvGrpSpPr/>
          <p:nvPr/>
        </p:nvGrpSpPr>
        <p:grpSpPr>
          <a:xfrm rot="0">
            <a:off x="816607" y="2325367"/>
            <a:ext cx="4017769" cy="5773417"/>
            <a:chOff x="0" y="0"/>
            <a:chExt cx="5357025" cy="7697889"/>
          </a:xfrm>
        </p:grpSpPr>
        <p:sp>
          <p:nvSpPr>
            <p:cNvPr name="Freeform 68" id="68"/>
            <p:cNvSpPr/>
            <p:nvPr/>
          </p:nvSpPr>
          <p:spPr>
            <a:xfrm flipH="false" flipV="false" rot="0">
              <a:off x="0" y="0"/>
              <a:ext cx="5357114" cy="7697978"/>
            </a:xfrm>
            <a:custGeom>
              <a:avLst/>
              <a:gdLst/>
              <a:ahLst/>
              <a:cxnLst/>
              <a:rect r="r" b="b" t="t" l="l"/>
              <a:pathLst>
                <a:path h="7697978" w="5357114">
                  <a:moveTo>
                    <a:pt x="0" y="428625"/>
                  </a:moveTo>
                  <a:cubicBezTo>
                    <a:pt x="0" y="191897"/>
                    <a:pt x="191897" y="0"/>
                    <a:pt x="428625" y="0"/>
                  </a:cubicBezTo>
                  <a:lnTo>
                    <a:pt x="4928489" y="0"/>
                  </a:lnTo>
                  <a:cubicBezTo>
                    <a:pt x="5165217" y="0"/>
                    <a:pt x="5357114" y="191897"/>
                    <a:pt x="5357114" y="428625"/>
                  </a:cubicBezTo>
                  <a:lnTo>
                    <a:pt x="5357114" y="7269353"/>
                  </a:lnTo>
                  <a:cubicBezTo>
                    <a:pt x="5357114" y="7506081"/>
                    <a:pt x="5165217" y="7697978"/>
                    <a:pt x="4928489" y="7697978"/>
                  </a:cubicBezTo>
                  <a:lnTo>
                    <a:pt x="428625" y="7697978"/>
                  </a:lnTo>
                  <a:cubicBezTo>
                    <a:pt x="191897" y="7697851"/>
                    <a:pt x="0" y="7506081"/>
                    <a:pt x="0" y="7269353"/>
                  </a:cubicBezTo>
                  <a:close/>
                </a:path>
              </a:pathLst>
            </a:custGeom>
            <a:solidFill>
              <a:srgbClr val="EAF8FA"/>
            </a:solidFill>
            <a:ln w="12700" cap="sq">
              <a:solidFill>
                <a:srgbClr val="CFE5E9"/>
              </a:solidFill>
              <a:prstDash val="solid"/>
              <a:miter/>
            </a:ln>
          </p:spPr>
          <p:txBody>
            <a:bodyPr/>
            <a:p/>
          </p:txBody>
        </p:sp>
      </p:grpSp>
      <p:grpSp>
        <p:nvGrpSpPr>
          <p:cNvPr name="Group 69" id="69"/>
          <p:cNvGrpSpPr/>
          <p:nvPr/>
        </p:nvGrpSpPr>
        <p:grpSpPr>
          <a:xfrm rot="0">
            <a:off x="1051560" y="2560320"/>
            <a:ext cx="548640" cy="548640"/>
            <a:chOff x="0" y="0"/>
            <a:chExt cx="731520" cy="731520"/>
          </a:xfrm>
        </p:grpSpPr>
        <p:sp>
          <p:nvSpPr>
            <p:cNvPr name="Freeform 70" id="70"/>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71" id="71"/>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1</a:t>
              </a:r>
            </a:p>
          </p:txBody>
        </p:sp>
      </p:grpSp>
      <p:sp>
        <p:nvSpPr>
          <p:cNvPr name="TextBox 72" id="72"/>
          <p:cNvSpPr txBox="true"/>
          <p:nvPr/>
        </p:nvSpPr>
        <p:spPr>
          <a:xfrm rot="0">
            <a:off x="1737360" y="2512695"/>
            <a:ext cx="2926080" cy="870585"/>
          </a:xfrm>
          <a:prstGeom prst="rect">
            <a:avLst/>
          </a:prstGeom>
        </p:spPr>
        <p:txBody>
          <a:bodyPr anchor="t" rtlCol="false" tIns="0" lIns="0" bIns="0" rIns="0">
            <a:spAutoFit/>
          </a:bodyPr>
          <a:lstStyle/>
          <a:p>
            <a:pPr algn="l">
              <a:lnSpc>
                <a:spcPts val="2340"/>
              </a:lnSpc>
            </a:pPr>
            <a:r>
              <a:rPr lang="en-US" sz="1950" b="true">
                <a:solidFill>
                  <a:srgbClr val="0B5E6E"/>
                </a:solidFill>
                <a:latin typeface="Calibri (MS) Bold"/>
                <a:ea typeface="Calibri (MS) Bold"/>
                <a:cs typeface="Calibri (MS) Bold"/>
                <a:sym typeface="Calibri (MS) Bold"/>
              </a:rPr>
              <a:t>Perubahan metode pencatatan wisnus 2018→2019</a:t>
            </a:r>
          </a:p>
        </p:txBody>
      </p:sp>
      <p:sp>
        <p:nvSpPr>
          <p:cNvPr name="TextBox 73" id="73"/>
          <p:cNvSpPr txBox="true"/>
          <p:nvPr/>
        </p:nvSpPr>
        <p:spPr>
          <a:xfrm rot="0">
            <a:off x="1097280" y="3629025"/>
            <a:ext cx="3474720" cy="394335"/>
          </a:xfrm>
          <a:prstGeom prst="rect">
            <a:avLst/>
          </a:prstGeom>
        </p:spPr>
        <p:txBody>
          <a:bodyPr anchor="t" rtlCol="false" tIns="0" lIns="0" bIns="0" rIns="0">
            <a:spAutoFit/>
          </a:bodyPr>
          <a:lstStyle/>
          <a:p>
            <a:pPr algn="l">
              <a:lnSpc>
                <a:spcPts val="1788"/>
              </a:lnSpc>
            </a:pPr>
            <a:r>
              <a:rPr lang="en-US" sz="1490" b="true">
                <a:solidFill>
                  <a:srgbClr val="E4604F"/>
                </a:solidFill>
                <a:latin typeface="Calibri (MS) Bold"/>
                <a:ea typeface="Calibri (MS) Bold"/>
                <a:cs typeface="Calibri (MS) Bold"/>
                <a:sym typeface="Calibri (MS) Bold"/>
              </a:rPr>
              <a:t>Masalah</a:t>
            </a:r>
          </a:p>
        </p:txBody>
      </p:sp>
      <p:sp>
        <p:nvSpPr>
          <p:cNvPr name="TextBox 74" id="74"/>
          <p:cNvSpPr txBox="true"/>
          <p:nvPr/>
        </p:nvSpPr>
        <p:spPr>
          <a:xfrm rot="0">
            <a:off x="1097280" y="3985260"/>
            <a:ext cx="3474720" cy="1501140"/>
          </a:xfrm>
          <a:prstGeom prst="rect">
            <a:avLst/>
          </a:prstGeom>
        </p:spPr>
        <p:txBody>
          <a:bodyPr anchor="t" rtlCol="false" tIns="0" lIns="0" bIns="0" rIns="0">
            <a:spAutoFit/>
          </a:bodyPr>
          <a:lstStyle/>
          <a:p>
            <a:pPr algn="l">
              <a:lnSpc>
                <a:spcPts val="2063"/>
              </a:lnSpc>
            </a:pPr>
            <a:r>
              <a:rPr lang="en-US" sz="1719">
                <a:solidFill>
                  <a:srgbClr val="14313B"/>
                </a:solidFill>
                <a:latin typeface="Calibri (MS)"/>
                <a:ea typeface="Calibri (MS)"/>
                <a:cs typeface="Calibri (MS)"/>
                <a:sym typeface="Calibri (MS)"/>
              </a:rPr>
              <a:t>Lonjakan 8,0 → 20,5 juta (×2,57) tanpa perubahan lapangan sepadan.</a:t>
            </a:r>
          </a:p>
        </p:txBody>
      </p:sp>
      <p:grpSp>
        <p:nvGrpSpPr>
          <p:cNvPr name="Group 75" id="75"/>
          <p:cNvGrpSpPr/>
          <p:nvPr/>
        </p:nvGrpSpPr>
        <p:grpSpPr>
          <a:xfrm rot="0">
            <a:off x="1045207" y="5708647"/>
            <a:ext cx="3560569" cy="2207257"/>
            <a:chOff x="0" y="0"/>
            <a:chExt cx="4747425" cy="2943009"/>
          </a:xfrm>
        </p:grpSpPr>
        <p:sp>
          <p:nvSpPr>
            <p:cNvPr name="Freeform 76" id="76"/>
            <p:cNvSpPr/>
            <p:nvPr/>
          </p:nvSpPr>
          <p:spPr>
            <a:xfrm flipH="false" flipV="false" rot="0">
              <a:off x="0" y="0"/>
              <a:ext cx="4747387" cy="2942971"/>
            </a:xfrm>
            <a:custGeom>
              <a:avLst/>
              <a:gdLst/>
              <a:ahLst/>
              <a:cxnLst/>
              <a:rect r="r" b="b" t="t" l="l"/>
              <a:pathLst>
                <a:path h="2942971" w="4747387">
                  <a:moveTo>
                    <a:pt x="0" y="235458"/>
                  </a:moveTo>
                  <a:cubicBezTo>
                    <a:pt x="0" y="105410"/>
                    <a:pt x="105410" y="0"/>
                    <a:pt x="235458" y="0"/>
                  </a:cubicBezTo>
                  <a:lnTo>
                    <a:pt x="4511929" y="0"/>
                  </a:lnTo>
                  <a:cubicBezTo>
                    <a:pt x="4641977" y="0"/>
                    <a:pt x="4747387" y="105410"/>
                    <a:pt x="4747387" y="235458"/>
                  </a:cubicBezTo>
                  <a:lnTo>
                    <a:pt x="4747387" y="2707513"/>
                  </a:lnTo>
                  <a:cubicBezTo>
                    <a:pt x="4747387" y="2837561"/>
                    <a:pt x="4641977" y="2942971"/>
                    <a:pt x="4511929" y="2942971"/>
                  </a:cubicBezTo>
                  <a:lnTo>
                    <a:pt x="235458" y="2942971"/>
                  </a:lnTo>
                  <a:cubicBezTo>
                    <a:pt x="105410" y="2942971"/>
                    <a:pt x="0" y="2837561"/>
                    <a:pt x="0" y="2707513"/>
                  </a:cubicBezTo>
                  <a:close/>
                </a:path>
              </a:pathLst>
            </a:custGeom>
            <a:solidFill>
              <a:srgbClr val="FFFFFF"/>
            </a:solidFill>
            <a:ln w="12700" cap="sq">
              <a:solidFill>
                <a:srgbClr val="CFE5E9"/>
              </a:solidFill>
              <a:prstDash val="solid"/>
              <a:miter/>
            </a:ln>
          </p:spPr>
          <p:txBody>
            <a:bodyPr/>
            <a:p/>
          </p:txBody>
        </p:sp>
        <p:sp>
          <p:nvSpPr>
            <p:cNvPr name="TextBox 77" id="77"/>
            <p:cNvSpPr txBox="true"/>
            <p:nvPr/>
          </p:nvSpPr>
          <p:spPr>
            <a:xfrm>
              <a:off x="0" y="-28575"/>
              <a:ext cx="4747425" cy="2971584"/>
            </a:xfrm>
            <a:prstGeom prst="rect">
              <a:avLst/>
            </a:prstGeom>
          </p:spPr>
          <p:txBody>
            <a:bodyPr anchor="t" rtlCol="false" tIns="50800" lIns="50800" bIns="50800" rIns="50800"/>
            <a:lstStyle/>
            <a:p>
              <a:pPr algn="l">
                <a:lnSpc>
                  <a:spcPts val="1788"/>
                </a:lnSpc>
              </a:pPr>
              <a:r>
                <a:rPr lang="en-US" sz="1490" b="true">
                  <a:solidFill>
                    <a:srgbClr val="0B5E6E"/>
                  </a:solidFill>
                  <a:latin typeface="Calibri (MS) Bold"/>
                  <a:ea typeface="Calibri (MS) Bold"/>
                  <a:cs typeface="Calibri (MS) Bold"/>
                  <a:sym typeface="Calibri (MS) Bold"/>
                </a:rPr>
                <a:t>Perlakuan</a:t>
              </a:r>
            </a:p>
            <a:p>
              <a:pPr algn="l">
                <a:lnSpc>
                  <a:spcPts val="2063"/>
                </a:lnSpc>
              </a:pPr>
              <a:r>
                <a:rPr lang="en-US" sz="1719">
                  <a:solidFill>
                    <a:srgbClr val="14313B"/>
                  </a:solidFill>
                  <a:latin typeface="Calibri (MS)"/>
                  <a:ea typeface="Calibri (MS)"/>
                  <a:cs typeface="Calibri (MS)"/>
                  <a:sym typeface="Calibri (MS)"/>
                </a:rPr>
                <a:t>Seri 2015–2018 disambung (faktor 2,2997) hanya untuk uji P5; tidak dipakai menurunkan parameter.</a:t>
              </a:r>
            </a:p>
          </p:txBody>
        </p:sp>
      </p:grpSp>
      <p:grpSp>
        <p:nvGrpSpPr>
          <p:cNvPr name="Group 78" id="78"/>
          <p:cNvGrpSpPr/>
          <p:nvPr/>
        </p:nvGrpSpPr>
        <p:grpSpPr>
          <a:xfrm rot="0">
            <a:off x="5041135" y="2325367"/>
            <a:ext cx="4017769" cy="5773417"/>
            <a:chOff x="0" y="0"/>
            <a:chExt cx="5357025" cy="7697889"/>
          </a:xfrm>
        </p:grpSpPr>
        <p:sp>
          <p:nvSpPr>
            <p:cNvPr name="Freeform 79" id="79"/>
            <p:cNvSpPr/>
            <p:nvPr/>
          </p:nvSpPr>
          <p:spPr>
            <a:xfrm flipH="false" flipV="false" rot="0">
              <a:off x="0" y="0"/>
              <a:ext cx="5357114" cy="7697978"/>
            </a:xfrm>
            <a:custGeom>
              <a:avLst/>
              <a:gdLst/>
              <a:ahLst/>
              <a:cxnLst/>
              <a:rect r="r" b="b" t="t" l="l"/>
              <a:pathLst>
                <a:path h="7697978" w="5357114">
                  <a:moveTo>
                    <a:pt x="0" y="428625"/>
                  </a:moveTo>
                  <a:cubicBezTo>
                    <a:pt x="0" y="191897"/>
                    <a:pt x="191897" y="0"/>
                    <a:pt x="428625" y="0"/>
                  </a:cubicBezTo>
                  <a:lnTo>
                    <a:pt x="4928489" y="0"/>
                  </a:lnTo>
                  <a:cubicBezTo>
                    <a:pt x="5165217" y="0"/>
                    <a:pt x="5357114" y="191897"/>
                    <a:pt x="5357114" y="428625"/>
                  </a:cubicBezTo>
                  <a:lnTo>
                    <a:pt x="5357114" y="7269353"/>
                  </a:lnTo>
                  <a:cubicBezTo>
                    <a:pt x="5357114" y="7506081"/>
                    <a:pt x="5165217" y="7697978"/>
                    <a:pt x="4928489" y="7697978"/>
                  </a:cubicBezTo>
                  <a:lnTo>
                    <a:pt x="428625" y="7697978"/>
                  </a:lnTo>
                  <a:cubicBezTo>
                    <a:pt x="191897" y="7697851"/>
                    <a:pt x="0" y="7506081"/>
                    <a:pt x="0" y="7269353"/>
                  </a:cubicBezTo>
                  <a:close/>
                </a:path>
              </a:pathLst>
            </a:custGeom>
            <a:solidFill>
              <a:srgbClr val="EAF8FA"/>
            </a:solidFill>
            <a:ln w="12700" cap="sq">
              <a:solidFill>
                <a:srgbClr val="CFE5E9"/>
              </a:solidFill>
              <a:prstDash val="solid"/>
              <a:miter/>
            </a:ln>
          </p:spPr>
          <p:txBody>
            <a:bodyPr/>
            <a:p/>
          </p:txBody>
        </p:sp>
      </p:grpSp>
      <p:grpSp>
        <p:nvGrpSpPr>
          <p:cNvPr name="Group 80" id="80"/>
          <p:cNvGrpSpPr/>
          <p:nvPr/>
        </p:nvGrpSpPr>
        <p:grpSpPr>
          <a:xfrm rot="0">
            <a:off x="5276088" y="2560320"/>
            <a:ext cx="548640" cy="548640"/>
            <a:chOff x="0" y="0"/>
            <a:chExt cx="731520" cy="731520"/>
          </a:xfrm>
        </p:grpSpPr>
        <p:sp>
          <p:nvSpPr>
            <p:cNvPr name="Freeform 81" id="81"/>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82" id="82"/>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2</a:t>
              </a:r>
            </a:p>
          </p:txBody>
        </p:sp>
      </p:grpSp>
      <p:sp>
        <p:nvSpPr>
          <p:cNvPr name="TextBox 83" id="83"/>
          <p:cNvSpPr txBox="true"/>
          <p:nvPr/>
        </p:nvSpPr>
        <p:spPr>
          <a:xfrm rot="0">
            <a:off x="5961888" y="2512695"/>
            <a:ext cx="2926080" cy="870585"/>
          </a:xfrm>
          <a:prstGeom prst="rect">
            <a:avLst/>
          </a:prstGeom>
        </p:spPr>
        <p:txBody>
          <a:bodyPr anchor="t" rtlCol="false" tIns="0" lIns="0" bIns="0" rIns="0">
            <a:spAutoFit/>
          </a:bodyPr>
          <a:lstStyle/>
          <a:p>
            <a:pPr algn="l">
              <a:lnSpc>
                <a:spcPts val="2340"/>
              </a:lnSpc>
            </a:pPr>
            <a:r>
              <a:rPr lang="en-US" sz="1950" b="true">
                <a:solidFill>
                  <a:srgbClr val="0B5E6E"/>
                </a:solidFill>
                <a:latin typeface="Calibri (MS) Bold"/>
                <a:ea typeface="Calibri (MS) Bold"/>
                <a:cs typeface="Calibri (MS) Bold"/>
                <a:sym typeface="Calibri (MS) Bold"/>
              </a:rPr>
              <a:t>Lahan terbangun 2015 kosong</a:t>
            </a:r>
          </a:p>
        </p:txBody>
      </p:sp>
      <p:sp>
        <p:nvSpPr>
          <p:cNvPr name="TextBox 84" id="84"/>
          <p:cNvSpPr txBox="true"/>
          <p:nvPr/>
        </p:nvSpPr>
        <p:spPr>
          <a:xfrm rot="0">
            <a:off x="5321808" y="3629025"/>
            <a:ext cx="3474720" cy="394335"/>
          </a:xfrm>
          <a:prstGeom prst="rect">
            <a:avLst/>
          </a:prstGeom>
        </p:spPr>
        <p:txBody>
          <a:bodyPr anchor="t" rtlCol="false" tIns="0" lIns="0" bIns="0" rIns="0">
            <a:spAutoFit/>
          </a:bodyPr>
          <a:lstStyle/>
          <a:p>
            <a:pPr algn="l">
              <a:lnSpc>
                <a:spcPts val="1788"/>
              </a:lnSpc>
            </a:pPr>
            <a:r>
              <a:rPr lang="en-US" sz="1490" b="true">
                <a:solidFill>
                  <a:srgbClr val="E4604F"/>
                </a:solidFill>
                <a:latin typeface="Calibri (MS) Bold"/>
                <a:ea typeface="Calibri (MS) Bold"/>
                <a:cs typeface="Calibri (MS) Bold"/>
                <a:sym typeface="Calibri (MS) Bold"/>
              </a:rPr>
              <a:t>Masalah</a:t>
            </a:r>
          </a:p>
        </p:txBody>
      </p:sp>
      <p:sp>
        <p:nvSpPr>
          <p:cNvPr name="TextBox 85" id="85"/>
          <p:cNvSpPr txBox="true"/>
          <p:nvPr/>
        </p:nvSpPr>
        <p:spPr>
          <a:xfrm rot="0">
            <a:off x="5321808" y="3985260"/>
            <a:ext cx="3474720" cy="1501140"/>
          </a:xfrm>
          <a:prstGeom prst="rect">
            <a:avLst/>
          </a:prstGeom>
        </p:spPr>
        <p:txBody>
          <a:bodyPr anchor="t" rtlCol="false" tIns="0" lIns="0" bIns="0" rIns="0">
            <a:spAutoFit/>
          </a:bodyPr>
          <a:lstStyle/>
          <a:p>
            <a:pPr algn="l">
              <a:lnSpc>
                <a:spcPts val="2063"/>
              </a:lnSpc>
            </a:pPr>
            <a:r>
              <a:rPr lang="en-US" sz="1719">
                <a:solidFill>
                  <a:srgbClr val="14313B"/>
                </a:solidFill>
                <a:latin typeface="Calibri (MS)"/>
                <a:ea typeface="Calibri (MS)"/>
                <a:cs typeface="Calibri (MS)"/>
                <a:sym typeface="Calibri (MS)"/>
              </a:rPr>
              <a:t>Dynamic World baru tersedia sejak 2016.</a:t>
            </a:r>
          </a:p>
        </p:txBody>
      </p:sp>
      <p:grpSp>
        <p:nvGrpSpPr>
          <p:cNvPr name="Group 86" id="86"/>
          <p:cNvGrpSpPr/>
          <p:nvPr/>
        </p:nvGrpSpPr>
        <p:grpSpPr>
          <a:xfrm rot="0">
            <a:off x="5269735" y="5708647"/>
            <a:ext cx="3560569" cy="2207260"/>
            <a:chOff x="0" y="0"/>
            <a:chExt cx="4747425" cy="2943013"/>
          </a:xfrm>
        </p:grpSpPr>
        <p:sp>
          <p:nvSpPr>
            <p:cNvPr name="Freeform 87" id="87"/>
            <p:cNvSpPr/>
            <p:nvPr/>
          </p:nvSpPr>
          <p:spPr>
            <a:xfrm flipH="false" flipV="false" rot="0">
              <a:off x="0" y="0"/>
              <a:ext cx="4747387" cy="2942975"/>
            </a:xfrm>
            <a:custGeom>
              <a:avLst/>
              <a:gdLst/>
              <a:ahLst/>
              <a:cxnLst/>
              <a:rect r="r" b="b" t="t" l="l"/>
              <a:pathLst>
                <a:path h="2942975" w="4747387">
                  <a:moveTo>
                    <a:pt x="0" y="235458"/>
                  </a:moveTo>
                  <a:cubicBezTo>
                    <a:pt x="0" y="105410"/>
                    <a:pt x="105410" y="0"/>
                    <a:pt x="235458" y="0"/>
                  </a:cubicBezTo>
                  <a:lnTo>
                    <a:pt x="4511929" y="0"/>
                  </a:lnTo>
                  <a:cubicBezTo>
                    <a:pt x="4641977" y="0"/>
                    <a:pt x="4747387" y="105410"/>
                    <a:pt x="4747387" y="235458"/>
                  </a:cubicBezTo>
                  <a:lnTo>
                    <a:pt x="4747387" y="2707517"/>
                  </a:lnTo>
                  <a:cubicBezTo>
                    <a:pt x="4747387" y="2837565"/>
                    <a:pt x="4641977" y="2942975"/>
                    <a:pt x="4511929" y="2942975"/>
                  </a:cubicBezTo>
                  <a:lnTo>
                    <a:pt x="235458" y="2942975"/>
                  </a:lnTo>
                  <a:cubicBezTo>
                    <a:pt x="105410" y="2942975"/>
                    <a:pt x="0" y="2837565"/>
                    <a:pt x="0" y="2707517"/>
                  </a:cubicBezTo>
                  <a:close/>
                </a:path>
              </a:pathLst>
            </a:custGeom>
            <a:solidFill>
              <a:srgbClr val="FFFFFF"/>
            </a:solidFill>
            <a:ln w="12700" cap="sq">
              <a:solidFill>
                <a:srgbClr val="CFE5E9"/>
              </a:solidFill>
              <a:prstDash val="solid"/>
              <a:miter/>
            </a:ln>
          </p:spPr>
          <p:txBody>
            <a:bodyPr/>
            <a:p/>
          </p:txBody>
        </p:sp>
        <p:sp>
          <p:nvSpPr>
            <p:cNvPr name="TextBox 88" id="88"/>
            <p:cNvSpPr txBox="true"/>
            <p:nvPr/>
          </p:nvSpPr>
          <p:spPr>
            <a:xfrm>
              <a:off x="0" y="-28575"/>
              <a:ext cx="4747425" cy="2971588"/>
            </a:xfrm>
            <a:prstGeom prst="rect">
              <a:avLst/>
            </a:prstGeom>
          </p:spPr>
          <p:txBody>
            <a:bodyPr anchor="t" rtlCol="false" tIns="50800" lIns="50800" bIns="50800" rIns="50800"/>
            <a:lstStyle/>
            <a:p>
              <a:pPr algn="l">
                <a:lnSpc>
                  <a:spcPts val="1788"/>
                </a:lnSpc>
              </a:pPr>
              <a:r>
                <a:rPr lang="en-US" sz="1490" b="true">
                  <a:solidFill>
                    <a:srgbClr val="0B5E6E"/>
                  </a:solidFill>
                  <a:latin typeface="Calibri (MS) Bold"/>
                  <a:ea typeface="Calibri (MS) Bold"/>
                  <a:cs typeface="Calibri (MS) Bold"/>
                  <a:sym typeface="Calibri (MS) Bold"/>
                </a:rPr>
                <a:t>Perlakuan</a:t>
              </a:r>
            </a:p>
            <a:p>
              <a:pPr algn="l">
                <a:lnSpc>
                  <a:spcPts val="2063"/>
                </a:lnSpc>
              </a:pPr>
              <a:r>
                <a:rPr lang="en-US" sz="1719">
                  <a:solidFill>
                    <a:srgbClr val="14313B"/>
                  </a:solidFill>
                  <a:latin typeface="Calibri (MS)"/>
                  <a:ea typeface="Calibri (MS)"/>
                  <a:cs typeface="Calibri (MS)"/>
                  <a:sym typeface="Calibri (MS)"/>
                </a:rPr>
                <a:t>Ekstrapolasi mundur tren log-linear 2016–2025; ditandai dan tidak dipakai menurunkan parameter.</a:t>
              </a:r>
            </a:p>
          </p:txBody>
        </p:sp>
      </p:grpSp>
      <p:grpSp>
        <p:nvGrpSpPr>
          <p:cNvPr name="Group 89" id="89"/>
          <p:cNvGrpSpPr/>
          <p:nvPr/>
        </p:nvGrpSpPr>
        <p:grpSpPr>
          <a:xfrm rot="0">
            <a:off x="9265663" y="2325367"/>
            <a:ext cx="4017769" cy="5773417"/>
            <a:chOff x="0" y="0"/>
            <a:chExt cx="5357025" cy="7697889"/>
          </a:xfrm>
        </p:grpSpPr>
        <p:sp>
          <p:nvSpPr>
            <p:cNvPr name="Freeform 90" id="90"/>
            <p:cNvSpPr/>
            <p:nvPr/>
          </p:nvSpPr>
          <p:spPr>
            <a:xfrm flipH="false" flipV="false" rot="0">
              <a:off x="0" y="0"/>
              <a:ext cx="5357114" cy="7697978"/>
            </a:xfrm>
            <a:custGeom>
              <a:avLst/>
              <a:gdLst/>
              <a:ahLst/>
              <a:cxnLst/>
              <a:rect r="r" b="b" t="t" l="l"/>
              <a:pathLst>
                <a:path h="7697978" w="5357114">
                  <a:moveTo>
                    <a:pt x="0" y="428625"/>
                  </a:moveTo>
                  <a:cubicBezTo>
                    <a:pt x="0" y="191897"/>
                    <a:pt x="191897" y="0"/>
                    <a:pt x="428625" y="0"/>
                  </a:cubicBezTo>
                  <a:lnTo>
                    <a:pt x="4928489" y="0"/>
                  </a:lnTo>
                  <a:cubicBezTo>
                    <a:pt x="5165217" y="0"/>
                    <a:pt x="5357114" y="191897"/>
                    <a:pt x="5357114" y="428625"/>
                  </a:cubicBezTo>
                  <a:lnTo>
                    <a:pt x="5357114" y="7269353"/>
                  </a:lnTo>
                  <a:cubicBezTo>
                    <a:pt x="5357114" y="7506081"/>
                    <a:pt x="5165217" y="7697978"/>
                    <a:pt x="4928489" y="7697978"/>
                  </a:cubicBezTo>
                  <a:lnTo>
                    <a:pt x="428625" y="7697978"/>
                  </a:lnTo>
                  <a:cubicBezTo>
                    <a:pt x="191897" y="7697851"/>
                    <a:pt x="0" y="7506081"/>
                    <a:pt x="0" y="7269353"/>
                  </a:cubicBezTo>
                  <a:close/>
                </a:path>
              </a:pathLst>
            </a:custGeom>
            <a:solidFill>
              <a:srgbClr val="EAF8FA"/>
            </a:solidFill>
            <a:ln w="12700" cap="sq">
              <a:solidFill>
                <a:srgbClr val="CFE5E9"/>
              </a:solidFill>
              <a:prstDash val="solid"/>
              <a:miter/>
            </a:ln>
          </p:spPr>
          <p:txBody>
            <a:bodyPr/>
            <a:p/>
          </p:txBody>
        </p:sp>
      </p:grpSp>
      <p:grpSp>
        <p:nvGrpSpPr>
          <p:cNvPr name="Group 91" id="91"/>
          <p:cNvGrpSpPr/>
          <p:nvPr/>
        </p:nvGrpSpPr>
        <p:grpSpPr>
          <a:xfrm rot="0">
            <a:off x="9500616" y="2560320"/>
            <a:ext cx="548640" cy="548640"/>
            <a:chOff x="0" y="0"/>
            <a:chExt cx="731520" cy="731520"/>
          </a:xfrm>
        </p:grpSpPr>
        <p:sp>
          <p:nvSpPr>
            <p:cNvPr name="Freeform 92" id="92"/>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93" id="93"/>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3</a:t>
              </a:r>
            </a:p>
          </p:txBody>
        </p:sp>
      </p:grpSp>
      <p:sp>
        <p:nvSpPr>
          <p:cNvPr name="TextBox 94" id="94"/>
          <p:cNvSpPr txBox="true"/>
          <p:nvPr/>
        </p:nvSpPr>
        <p:spPr>
          <a:xfrm rot="0">
            <a:off x="10186416" y="2512695"/>
            <a:ext cx="2926080" cy="870585"/>
          </a:xfrm>
          <a:prstGeom prst="rect">
            <a:avLst/>
          </a:prstGeom>
        </p:spPr>
        <p:txBody>
          <a:bodyPr anchor="t" rtlCol="false" tIns="0" lIns="0" bIns="0" rIns="0">
            <a:spAutoFit/>
          </a:bodyPr>
          <a:lstStyle/>
          <a:p>
            <a:pPr algn="l">
              <a:lnSpc>
                <a:spcPts val="2340"/>
              </a:lnSpc>
            </a:pPr>
            <a:r>
              <a:rPr lang="en-US" sz="1950" b="true">
                <a:solidFill>
                  <a:srgbClr val="0B5E6E"/>
                </a:solidFill>
                <a:latin typeface="Calibri (MS) Bold"/>
                <a:ea typeface="Calibri (MS) Bold"/>
                <a:cs typeface="Calibri (MS) Bold"/>
                <a:sym typeface="Calibri (MS) Bold"/>
              </a:rPr>
              <a:t>Lonjakan akomodasi 2018</a:t>
            </a:r>
          </a:p>
        </p:txBody>
      </p:sp>
      <p:sp>
        <p:nvSpPr>
          <p:cNvPr name="TextBox 95" id="95"/>
          <p:cNvSpPr txBox="true"/>
          <p:nvPr/>
        </p:nvSpPr>
        <p:spPr>
          <a:xfrm rot="0">
            <a:off x="9546336" y="3629025"/>
            <a:ext cx="3474720" cy="394335"/>
          </a:xfrm>
          <a:prstGeom prst="rect">
            <a:avLst/>
          </a:prstGeom>
        </p:spPr>
        <p:txBody>
          <a:bodyPr anchor="t" rtlCol="false" tIns="0" lIns="0" bIns="0" rIns="0">
            <a:spAutoFit/>
          </a:bodyPr>
          <a:lstStyle/>
          <a:p>
            <a:pPr algn="l">
              <a:lnSpc>
                <a:spcPts val="1788"/>
              </a:lnSpc>
            </a:pPr>
            <a:r>
              <a:rPr lang="en-US" sz="1490" b="true">
                <a:solidFill>
                  <a:srgbClr val="E4604F"/>
                </a:solidFill>
                <a:latin typeface="Calibri (MS) Bold"/>
                <a:ea typeface="Calibri (MS) Bold"/>
                <a:cs typeface="Calibri (MS) Bold"/>
                <a:sym typeface="Calibri (MS) Bold"/>
              </a:rPr>
              <a:t>Masalah</a:t>
            </a:r>
          </a:p>
        </p:txBody>
      </p:sp>
      <p:sp>
        <p:nvSpPr>
          <p:cNvPr name="TextBox 96" id="96"/>
          <p:cNvSpPr txBox="true"/>
          <p:nvPr/>
        </p:nvSpPr>
        <p:spPr>
          <a:xfrm rot="0">
            <a:off x="9546336" y="3985260"/>
            <a:ext cx="3474720" cy="1501140"/>
          </a:xfrm>
          <a:prstGeom prst="rect">
            <a:avLst/>
          </a:prstGeom>
        </p:spPr>
        <p:txBody>
          <a:bodyPr anchor="t" rtlCol="false" tIns="0" lIns="0" bIns="0" rIns="0">
            <a:spAutoFit/>
          </a:bodyPr>
          <a:lstStyle/>
          <a:p>
            <a:pPr algn="l">
              <a:lnSpc>
                <a:spcPts val="2063"/>
              </a:lnSpc>
            </a:pPr>
            <a:r>
              <a:rPr lang="en-US" sz="1719">
                <a:solidFill>
                  <a:srgbClr val="14313B"/>
                </a:solidFill>
                <a:latin typeface="Calibri (MS)"/>
                <a:ea typeface="Calibri (MS)"/>
                <a:cs typeface="Calibri (MS)"/>
                <a:sym typeface="Calibri (MS)"/>
              </a:rPr>
              <a:t>+438 unit, hampir seluruhnya non-bintang; diduga perluasan cakupan pendataan.</a:t>
            </a:r>
          </a:p>
        </p:txBody>
      </p:sp>
      <p:grpSp>
        <p:nvGrpSpPr>
          <p:cNvPr name="Group 97" id="97"/>
          <p:cNvGrpSpPr/>
          <p:nvPr/>
        </p:nvGrpSpPr>
        <p:grpSpPr>
          <a:xfrm rot="0">
            <a:off x="9494263" y="5708647"/>
            <a:ext cx="3560569" cy="2207257"/>
            <a:chOff x="0" y="0"/>
            <a:chExt cx="4747425" cy="2943009"/>
          </a:xfrm>
        </p:grpSpPr>
        <p:sp>
          <p:nvSpPr>
            <p:cNvPr name="Freeform 98" id="98"/>
            <p:cNvSpPr/>
            <p:nvPr/>
          </p:nvSpPr>
          <p:spPr>
            <a:xfrm flipH="false" flipV="false" rot="0">
              <a:off x="0" y="0"/>
              <a:ext cx="4747387" cy="2942971"/>
            </a:xfrm>
            <a:custGeom>
              <a:avLst/>
              <a:gdLst/>
              <a:ahLst/>
              <a:cxnLst/>
              <a:rect r="r" b="b" t="t" l="l"/>
              <a:pathLst>
                <a:path h="2942971" w="4747387">
                  <a:moveTo>
                    <a:pt x="0" y="235458"/>
                  </a:moveTo>
                  <a:cubicBezTo>
                    <a:pt x="0" y="105410"/>
                    <a:pt x="105410" y="0"/>
                    <a:pt x="235458" y="0"/>
                  </a:cubicBezTo>
                  <a:lnTo>
                    <a:pt x="4511929" y="0"/>
                  </a:lnTo>
                  <a:cubicBezTo>
                    <a:pt x="4641977" y="0"/>
                    <a:pt x="4747387" y="105410"/>
                    <a:pt x="4747387" y="235458"/>
                  </a:cubicBezTo>
                  <a:lnTo>
                    <a:pt x="4747387" y="2707513"/>
                  </a:lnTo>
                  <a:cubicBezTo>
                    <a:pt x="4747387" y="2837561"/>
                    <a:pt x="4641977" y="2942971"/>
                    <a:pt x="4511929" y="2942971"/>
                  </a:cubicBezTo>
                  <a:lnTo>
                    <a:pt x="235458" y="2942971"/>
                  </a:lnTo>
                  <a:cubicBezTo>
                    <a:pt x="105410" y="2942971"/>
                    <a:pt x="0" y="2837561"/>
                    <a:pt x="0" y="2707513"/>
                  </a:cubicBezTo>
                  <a:close/>
                </a:path>
              </a:pathLst>
            </a:custGeom>
            <a:solidFill>
              <a:srgbClr val="FFFFFF"/>
            </a:solidFill>
            <a:ln w="12700" cap="sq">
              <a:solidFill>
                <a:srgbClr val="CFE5E9"/>
              </a:solidFill>
              <a:prstDash val="solid"/>
              <a:miter/>
            </a:ln>
          </p:spPr>
          <p:txBody>
            <a:bodyPr/>
            <a:p/>
          </p:txBody>
        </p:sp>
        <p:sp>
          <p:nvSpPr>
            <p:cNvPr name="TextBox 99" id="99"/>
            <p:cNvSpPr txBox="true"/>
            <p:nvPr/>
          </p:nvSpPr>
          <p:spPr>
            <a:xfrm>
              <a:off x="0" y="-28575"/>
              <a:ext cx="4747425" cy="2971584"/>
            </a:xfrm>
            <a:prstGeom prst="rect">
              <a:avLst/>
            </a:prstGeom>
          </p:spPr>
          <p:txBody>
            <a:bodyPr anchor="t" rtlCol="false" tIns="50800" lIns="50800" bIns="50800" rIns="50800"/>
            <a:lstStyle/>
            <a:p>
              <a:pPr algn="l">
                <a:lnSpc>
                  <a:spcPts val="1788"/>
                </a:lnSpc>
              </a:pPr>
              <a:r>
                <a:rPr lang="en-US" sz="1490" b="true">
                  <a:solidFill>
                    <a:srgbClr val="0B5E6E"/>
                  </a:solidFill>
                  <a:latin typeface="Calibri (MS) Bold"/>
                  <a:ea typeface="Calibri (MS) Bold"/>
                  <a:cs typeface="Calibri (MS) Bold"/>
                  <a:sym typeface="Calibri (MS) Bold"/>
                </a:rPr>
                <a:t>Perlakuan</a:t>
              </a:r>
            </a:p>
            <a:p>
              <a:pPr algn="l">
                <a:lnSpc>
                  <a:spcPts val="2063"/>
                </a:lnSpc>
              </a:pPr>
              <a:r>
                <a:rPr lang="en-US" sz="1719">
                  <a:solidFill>
                    <a:srgbClr val="14313B"/>
                  </a:solidFill>
                  <a:latin typeface="Calibri (MS)"/>
                  <a:ea typeface="Calibri (MS)"/>
                  <a:cs typeface="Calibri (MS)"/>
                  <a:sym typeface="Calibri (MS)"/>
                </a:rPr>
                <a:t>Dipertahankan apa adanya (tidak ada dasar koreksi); dicatat dan diperiksa pada kalibrasi Tahap 1.</a:t>
              </a:r>
            </a:p>
          </p:txBody>
        </p:sp>
      </p:grpSp>
      <p:grpSp>
        <p:nvGrpSpPr>
          <p:cNvPr name="Group 100" id="100"/>
          <p:cNvGrpSpPr/>
          <p:nvPr/>
        </p:nvGrpSpPr>
        <p:grpSpPr>
          <a:xfrm rot="0">
            <a:off x="13490191" y="2325367"/>
            <a:ext cx="4017769" cy="5773417"/>
            <a:chOff x="0" y="0"/>
            <a:chExt cx="5357025" cy="7697889"/>
          </a:xfrm>
        </p:grpSpPr>
        <p:sp>
          <p:nvSpPr>
            <p:cNvPr name="Freeform 101" id="101"/>
            <p:cNvSpPr/>
            <p:nvPr/>
          </p:nvSpPr>
          <p:spPr>
            <a:xfrm flipH="false" flipV="false" rot="0">
              <a:off x="0" y="0"/>
              <a:ext cx="5357114" cy="7697978"/>
            </a:xfrm>
            <a:custGeom>
              <a:avLst/>
              <a:gdLst/>
              <a:ahLst/>
              <a:cxnLst/>
              <a:rect r="r" b="b" t="t" l="l"/>
              <a:pathLst>
                <a:path h="7697978" w="5357114">
                  <a:moveTo>
                    <a:pt x="0" y="428625"/>
                  </a:moveTo>
                  <a:cubicBezTo>
                    <a:pt x="0" y="191897"/>
                    <a:pt x="191897" y="0"/>
                    <a:pt x="428625" y="0"/>
                  </a:cubicBezTo>
                  <a:lnTo>
                    <a:pt x="4928489" y="0"/>
                  </a:lnTo>
                  <a:cubicBezTo>
                    <a:pt x="5165217" y="0"/>
                    <a:pt x="5357114" y="191897"/>
                    <a:pt x="5357114" y="428625"/>
                  </a:cubicBezTo>
                  <a:lnTo>
                    <a:pt x="5357114" y="7269353"/>
                  </a:lnTo>
                  <a:cubicBezTo>
                    <a:pt x="5357114" y="7506081"/>
                    <a:pt x="5165217" y="7697978"/>
                    <a:pt x="4928489" y="7697978"/>
                  </a:cubicBezTo>
                  <a:lnTo>
                    <a:pt x="428625" y="7697978"/>
                  </a:lnTo>
                  <a:cubicBezTo>
                    <a:pt x="191897" y="7697851"/>
                    <a:pt x="0" y="7506081"/>
                    <a:pt x="0" y="7269353"/>
                  </a:cubicBezTo>
                  <a:close/>
                </a:path>
              </a:pathLst>
            </a:custGeom>
            <a:solidFill>
              <a:srgbClr val="EAF8FA"/>
            </a:solidFill>
            <a:ln w="12700" cap="sq">
              <a:solidFill>
                <a:srgbClr val="CFE5E9"/>
              </a:solidFill>
              <a:prstDash val="solid"/>
              <a:miter/>
            </a:ln>
          </p:spPr>
          <p:txBody>
            <a:bodyPr/>
            <a:p/>
          </p:txBody>
        </p:sp>
      </p:grpSp>
      <p:grpSp>
        <p:nvGrpSpPr>
          <p:cNvPr name="Group 102" id="102"/>
          <p:cNvGrpSpPr/>
          <p:nvPr/>
        </p:nvGrpSpPr>
        <p:grpSpPr>
          <a:xfrm rot="0">
            <a:off x="13725144" y="2560320"/>
            <a:ext cx="548640" cy="548640"/>
            <a:chOff x="0" y="0"/>
            <a:chExt cx="731520" cy="731520"/>
          </a:xfrm>
        </p:grpSpPr>
        <p:sp>
          <p:nvSpPr>
            <p:cNvPr name="Freeform 103" id="103"/>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104" id="104"/>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4</a:t>
              </a:r>
            </a:p>
          </p:txBody>
        </p:sp>
      </p:grpSp>
      <p:sp>
        <p:nvSpPr>
          <p:cNvPr name="TextBox 105" id="105"/>
          <p:cNvSpPr txBox="true"/>
          <p:nvPr/>
        </p:nvSpPr>
        <p:spPr>
          <a:xfrm rot="0">
            <a:off x="14410944" y="2512695"/>
            <a:ext cx="2926080" cy="870585"/>
          </a:xfrm>
          <a:prstGeom prst="rect">
            <a:avLst/>
          </a:prstGeom>
        </p:spPr>
        <p:txBody>
          <a:bodyPr anchor="t" rtlCol="false" tIns="0" lIns="0" bIns="0" rIns="0">
            <a:spAutoFit/>
          </a:bodyPr>
          <a:lstStyle/>
          <a:p>
            <a:pPr algn="l">
              <a:lnSpc>
                <a:spcPts val="2340"/>
              </a:lnSpc>
            </a:pPr>
            <a:r>
              <a:rPr lang="en-US" sz="1950" b="true">
                <a:solidFill>
                  <a:srgbClr val="0B5E6E"/>
                </a:solidFill>
                <a:latin typeface="Calibri (MS) Bold"/>
                <a:ea typeface="Calibri (MS) Bold"/>
                <a:cs typeface="Calibri (MS) Bold"/>
                <a:sym typeface="Calibri (MS) Bold"/>
              </a:rPr>
              <a:t>Pandemi 2020–2021</a:t>
            </a:r>
          </a:p>
        </p:txBody>
      </p:sp>
      <p:sp>
        <p:nvSpPr>
          <p:cNvPr name="TextBox 106" id="106"/>
          <p:cNvSpPr txBox="true"/>
          <p:nvPr/>
        </p:nvSpPr>
        <p:spPr>
          <a:xfrm rot="0">
            <a:off x="13770864" y="3629025"/>
            <a:ext cx="3474720" cy="394335"/>
          </a:xfrm>
          <a:prstGeom prst="rect">
            <a:avLst/>
          </a:prstGeom>
        </p:spPr>
        <p:txBody>
          <a:bodyPr anchor="t" rtlCol="false" tIns="0" lIns="0" bIns="0" rIns="0">
            <a:spAutoFit/>
          </a:bodyPr>
          <a:lstStyle/>
          <a:p>
            <a:pPr algn="l">
              <a:lnSpc>
                <a:spcPts val="1788"/>
              </a:lnSpc>
            </a:pPr>
            <a:r>
              <a:rPr lang="en-US" sz="1490" b="true">
                <a:solidFill>
                  <a:srgbClr val="E4604F"/>
                </a:solidFill>
                <a:latin typeface="Calibri (MS) Bold"/>
                <a:ea typeface="Calibri (MS) Bold"/>
                <a:cs typeface="Calibri (MS) Bold"/>
                <a:sym typeface="Calibri (MS) Bold"/>
              </a:rPr>
              <a:t>Masalah</a:t>
            </a:r>
          </a:p>
        </p:txBody>
      </p:sp>
      <p:sp>
        <p:nvSpPr>
          <p:cNvPr name="TextBox 107" id="107"/>
          <p:cNvSpPr txBox="true"/>
          <p:nvPr/>
        </p:nvSpPr>
        <p:spPr>
          <a:xfrm rot="0">
            <a:off x="13770864" y="3985260"/>
            <a:ext cx="3474720" cy="1501140"/>
          </a:xfrm>
          <a:prstGeom prst="rect">
            <a:avLst/>
          </a:prstGeom>
        </p:spPr>
        <p:txBody>
          <a:bodyPr anchor="t" rtlCol="false" tIns="0" lIns="0" bIns="0" rIns="0">
            <a:spAutoFit/>
          </a:bodyPr>
          <a:lstStyle/>
          <a:p>
            <a:pPr algn="l">
              <a:lnSpc>
                <a:spcPts val="2063"/>
              </a:lnSpc>
            </a:pPr>
            <a:r>
              <a:rPr lang="en-US" sz="1719">
                <a:solidFill>
                  <a:srgbClr val="14313B"/>
                </a:solidFill>
                <a:latin typeface="Calibri (MS)"/>
                <a:ea typeface="Calibri (MS)"/>
                <a:cs typeface="Calibri (MS)"/>
                <a:sym typeface="Calibri (MS)"/>
              </a:rPr>
              <a:t>Shock dari luar yang tidak dimodelkan.</a:t>
            </a:r>
          </a:p>
        </p:txBody>
      </p:sp>
      <p:grpSp>
        <p:nvGrpSpPr>
          <p:cNvPr name="Group 108" id="108"/>
          <p:cNvGrpSpPr/>
          <p:nvPr/>
        </p:nvGrpSpPr>
        <p:grpSpPr>
          <a:xfrm rot="0">
            <a:off x="13718791" y="5708647"/>
            <a:ext cx="3560569" cy="2207257"/>
            <a:chOff x="0" y="0"/>
            <a:chExt cx="4747425" cy="2943009"/>
          </a:xfrm>
        </p:grpSpPr>
        <p:sp>
          <p:nvSpPr>
            <p:cNvPr name="Freeform 109" id="109"/>
            <p:cNvSpPr/>
            <p:nvPr/>
          </p:nvSpPr>
          <p:spPr>
            <a:xfrm flipH="false" flipV="false" rot="0">
              <a:off x="0" y="0"/>
              <a:ext cx="4747387" cy="2942971"/>
            </a:xfrm>
            <a:custGeom>
              <a:avLst/>
              <a:gdLst/>
              <a:ahLst/>
              <a:cxnLst/>
              <a:rect r="r" b="b" t="t" l="l"/>
              <a:pathLst>
                <a:path h="2942971" w="4747387">
                  <a:moveTo>
                    <a:pt x="0" y="235458"/>
                  </a:moveTo>
                  <a:cubicBezTo>
                    <a:pt x="0" y="105410"/>
                    <a:pt x="105410" y="0"/>
                    <a:pt x="235458" y="0"/>
                  </a:cubicBezTo>
                  <a:lnTo>
                    <a:pt x="4511929" y="0"/>
                  </a:lnTo>
                  <a:cubicBezTo>
                    <a:pt x="4641977" y="0"/>
                    <a:pt x="4747387" y="105410"/>
                    <a:pt x="4747387" y="235458"/>
                  </a:cubicBezTo>
                  <a:lnTo>
                    <a:pt x="4747387" y="2707513"/>
                  </a:lnTo>
                  <a:cubicBezTo>
                    <a:pt x="4747387" y="2837561"/>
                    <a:pt x="4641977" y="2942971"/>
                    <a:pt x="4511929" y="2942971"/>
                  </a:cubicBezTo>
                  <a:lnTo>
                    <a:pt x="235458" y="2942971"/>
                  </a:lnTo>
                  <a:cubicBezTo>
                    <a:pt x="105410" y="2942971"/>
                    <a:pt x="0" y="2837561"/>
                    <a:pt x="0" y="2707513"/>
                  </a:cubicBezTo>
                  <a:close/>
                </a:path>
              </a:pathLst>
            </a:custGeom>
            <a:solidFill>
              <a:srgbClr val="FFFFFF"/>
            </a:solidFill>
            <a:ln w="12700" cap="sq">
              <a:solidFill>
                <a:srgbClr val="CFE5E9"/>
              </a:solidFill>
              <a:prstDash val="solid"/>
              <a:miter/>
            </a:ln>
          </p:spPr>
          <p:txBody>
            <a:bodyPr/>
            <a:p/>
          </p:txBody>
        </p:sp>
        <p:sp>
          <p:nvSpPr>
            <p:cNvPr name="TextBox 110" id="110"/>
            <p:cNvSpPr txBox="true"/>
            <p:nvPr/>
          </p:nvSpPr>
          <p:spPr>
            <a:xfrm>
              <a:off x="0" y="-28575"/>
              <a:ext cx="4747425" cy="2971584"/>
            </a:xfrm>
            <a:prstGeom prst="rect">
              <a:avLst/>
            </a:prstGeom>
          </p:spPr>
          <p:txBody>
            <a:bodyPr anchor="t" rtlCol="false" tIns="50800" lIns="50800" bIns="50800" rIns="50800"/>
            <a:lstStyle/>
            <a:p>
              <a:pPr algn="l">
                <a:lnSpc>
                  <a:spcPts val="1788"/>
                </a:lnSpc>
              </a:pPr>
              <a:r>
                <a:rPr lang="en-US" sz="1490" b="true">
                  <a:solidFill>
                    <a:srgbClr val="0B5E6E"/>
                  </a:solidFill>
                  <a:latin typeface="Calibri (MS) Bold"/>
                  <a:ea typeface="Calibri (MS) Bold"/>
                  <a:cs typeface="Calibri (MS) Bold"/>
                  <a:sym typeface="Calibri (MS) Bold"/>
                </a:rPr>
                <a:t>Perlakuan</a:t>
              </a:r>
            </a:p>
            <a:p>
              <a:pPr algn="l">
                <a:lnSpc>
                  <a:spcPts val="2063"/>
                </a:lnSpc>
              </a:pPr>
              <a:r>
                <a:rPr lang="en-US" sz="1719">
                  <a:solidFill>
                    <a:srgbClr val="14313B"/>
                  </a:solidFill>
                  <a:latin typeface="Calibri (MS)"/>
                  <a:ea typeface="Calibri (MS)"/>
                  <a:cs typeface="Calibri (MS)"/>
                  <a:sym typeface="Calibri (MS)"/>
                </a:rPr>
                <a:t>Tetap disimulasikan; statistik uji dilaporkan dua versi (dengan dan tanpa 2020–2021).</a:t>
              </a:r>
            </a:p>
          </p:txBody>
        </p:sp>
      </p:grpSp>
      <p:grpSp>
        <p:nvGrpSpPr>
          <p:cNvPr name="Group 111" id="111"/>
          <p:cNvGrpSpPr/>
          <p:nvPr/>
        </p:nvGrpSpPr>
        <p:grpSpPr>
          <a:xfrm rot="0">
            <a:off x="816607" y="8451847"/>
            <a:ext cx="16654777" cy="881377"/>
            <a:chOff x="0" y="0"/>
            <a:chExt cx="22206369" cy="1175169"/>
          </a:xfrm>
        </p:grpSpPr>
        <p:sp>
          <p:nvSpPr>
            <p:cNvPr name="Freeform 112" id="112"/>
            <p:cNvSpPr/>
            <p:nvPr/>
          </p:nvSpPr>
          <p:spPr>
            <a:xfrm flipH="false" flipV="false" rot="0">
              <a:off x="0" y="0"/>
              <a:ext cx="22206331" cy="1175131"/>
            </a:xfrm>
            <a:custGeom>
              <a:avLst/>
              <a:gdLst/>
              <a:ahLst/>
              <a:cxnLst/>
              <a:rect r="r" b="b" t="t" l="l"/>
              <a:pathLst>
                <a:path h="1175131" w="22206331">
                  <a:moveTo>
                    <a:pt x="0" y="93980"/>
                  </a:moveTo>
                  <a:cubicBezTo>
                    <a:pt x="0" y="42037"/>
                    <a:pt x="42037" y="0"/>
                    <a:pt x="93980" y="0"/>
                  </a:cubicBezTo>
                  <a:lnTo>
                    <a:pt x="22112351" y="0"/>
                  </a:lnTo>
                  <a:cubicBezTo>
                    <a:pt x="22164294" y="0"/>
                    <a:pt x="22206331" y="42037"/>
                    <a:pt x="22206331" y="93980"/>
                  </a:cubicBezTo>
                  <a:lnTo>
                    <a:pt x="22206331" y="1081151"/>
                  </a:lnTo>
                  <a:cubicBezTo>
                    <a:pt x="22206331" y="1133094"/>
                    <a:pt x="22164294" y="1175131"/>
                    <a:pt x="22112351" y="1175131"/>
                  </a:cubicBezTo>
                  <a:lnTo>
                    <a:pt x="93980" y="1175131"/>
                  </a:lnTo>
                  <a:cubicBezTo>
                    <a:pt x="42037" y="1175131"/>
                    <a:pt x="0" y="1133094"/>
                    <a:pt x="0" y="1081151"/>
                  </a:cubicBezTo>
                  <a:close/>
                </a:path>
              </a:pathLst>
            </a:custGeom>
            <a:solidFill>
              <a:srgbClr val="FFF1BF"/>
            </a:solidFill>
            <a:ln w="12700" cap="sq">
              <a:solidFill>
                <a:srgbClr val="FFD23B"/>
              </a:solidFill>
              <a:prstDash val="solid"/>
              <a:miter/>
            </a:ln>
          </p:spPr>
          <p:txBody>
            <a:bodyPr/>
            <a:p/>
          </p:txBody>
        </p:sp>
        <p:sp>
          <p:nvSpPr>
            <p:cNvPr name="TextBox 113" id="113"/>
            <p:cNvSpPr txBox="true"/>
            <p:nvPr/>
          </p:nvSpPr>
          <p:spPr>
            <a:xfrm>
              <a:off x="0" y="-38100"/>
              <a:ext cx="22206369" cy="121326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Perlakuan ditetapkan sebelum model dijalankan, sehingga tidak disesuaikan dengan hasil simulasi.</a:t>
              </a:r>
            </a:p>
          </p:txBody>
        </p:sp>
      </p:grpSp>
      <p:grpSp>
        <p:nvGrpSpPr>
          <p:cNvPr name="Group 114" id="114"/>
          <p:cNvGrpSpPr/>
          <p:nvPr/>
        </p:nvGrpSpPr>
        <p:grpSpPr>
          <a:xfrm rot="0">
            <a:off x="16047720" y="9646920"/>
            <a:ext cx="420624" cy="420624"/>
            <a:chOff x="0" y="0"/>
            <a:chExt cx="560832" cy="560832"/>
          </a:xfrm>
        </p:grpSpPr>
        <p:sp>
          <p:nvSpPr>
            <p:cNvPr name="Freeform 115" id="115"/>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16" id="116"/>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0B5E6E"/>
        </a:solidFill>
      </p:bgPr>
    </p:bg>
    <p:spTree>
      <p:nvGrpSpPr>
        <p:cNvPr id="1" name=""/>
        <p:cNvGrpSpPr/>
        <p:nvPr/>
      </p:nvGrpSpPr>
      <p:grpSpPr>
        <a:xfrm>
          <a:off x="0" y="0"/>
          <a:ext cx="0" cy="0"/>
          <a:chOff x="0" y="0"/>
          <a:chExt cx="0" cy="0"/>
        </a:xfrm>
      </p:grpSpPr>
      <p:grpSp>
        <p:nvGrpSpPr>
          <p:cNvPr name="Group 2" id="2"/>
          <p:cNvGrpSpPr/>
          <p:nvPr/>
        </p:nvGrpSpPr>
        <p:grpSpPr>
          <a:xfrm rot="0">
            <a:off x="8462772" y="1645920"/>
            <a:ext cx="1371600" cy="1371600"/>
            <a:chOff x="0" y="0"/>
            <a:chExt cx="1828800" cy="1828800"/>
          </a:xfrm>
        </p:grpSpPr>
        <p:sp>
          <p:nvSpPr>
            <p:cNvPr name="Freeform 3" id="3" descr="Logo Politeknik Statistika STIS"/>
            <p:cNvSpPr/>
            <p:nvPr/>
          </p:nvSpPr>
          <p:spPr>
            <a:xfrm flipH="false" flipV="false" rot="0">
              <a:off x="0" y="0"/>
              <a:ext cx="1828800" cy="1828800"/>
            </a:xfrm>
            <a:custGeom>
              <a:avLst/>
              <a:gdLst/>
              <a:ahLst/>
              <a:cxnLst/>
              <a:rect r="r" b="b" t="t" l="l"/>
              <a:pathLst>
                <a:path h="1828800" w="1828800">
                  <a:moveTo>
                    <a:pt x="0" y="0"/>
                  </a:moveTo>
                  <a:lnTo>
                    <a:pt x="1828800" y="0"/>
                  </a:lnTo>
                  <a:lnTo>
                    <a:pt x="1828800" y="1828800"/>
                  </a:lnTo>
                  <a:lnTo>
                    <a:pt x="0" y="1828800"/>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3497580"/>
            <a:ext cx="16637508" cy="1371600"/>
            <a:chOff x="0" y="0"/>
            <a:chExt cx="22183344" cy="1828800"/>
          </a:xfrm>
        </p:grpSpPr>
        <p:sp>
          <p:nvSpPr>
            <p:cNvPr name="Freeform 5" id="5"/>
            <p:cNvSpPr/>
            <p:nvPr/>
          </p:nvSpPr>
          <p:spPr>
            <a:xfrm flipH="false" flipV="false" rot="0">
              <a:off x="0" y="0"/>
              <a:ext cx="22183344" cy="1828800"/>
            </a:xfrm>
            <a:custGeom>
              <a:avLst/>
              <a:gdLst/>
              <a:ahLst/>
              <a:cxnLst/>
              <a:rect r="r" b="b" t="t" l="l"/>
              <a:pathLst>
                <a:path h="1828800" w="22183344">
                  <a:moveTo>
                    <a:pt x="0" y="0"/>
                  </a:moveTo>
                  <a:lnTo>
                    <a:pt x="22183344" y="0"/>
                  </a:lnTo>
                  <a:lnTo>
                    <a:pt x="22183344" y="1828800"/>
                  </a:lnTo>
                  <a:lnTo>
                    <a:pt x="0" y="1828800"/>
                  </a:lnTo>
                  <a:close/>
                </a:path>
              </a:pathLst>
            </a:custGeom>
            <a:blipFill>
              <a:blip r:embed="rId4">
                <a:alphaModFix amt="0"/>
              </a:blip>
              <a:stretch>
                <a:fillRect l="0" t="-186188" r="0" b="-186189"/>
              </a:stretch>
            </a:blipFill>
          </p:spPr>
          <p:txBody>
            <a:bodyPr/>
            <a:p/>
          </p:txBody>
        </p:sp>
      </p:grpSp>
      <p:grpSp>
        <p:nvGrpSpPr>
          <p:cNvPr name="Group 6" id="6"/>
          <p:cNvGrpSpPr/>
          <p:nvPr/>
        </p:nvGrpSpPr>
        <p:grpSpPr>
          <a:xfrm rot="0">
            <a:off x="822960" y="3376136"/>
            <a:ext cx="16637508" cy="1493044"/>
            <a:chOff x="0" y="0"/>
            <a:chExt cx="22183344" cy="1990725"/>
          </a:xfrm>
        </p:grpSpPr>
        <p:sp>
          <p:nvSpPr>
            <p:cNvPr name="Freeform 7" id="7"/>
            <p:cNvSpPr/>
            <p:nvPr/>
          </p:nvSpPr>
          <p:spPr>
            <a:xfrm flipH="false" flipV="false" rot="0">
              <a:off x="0" y="0"/>
              <a:ext cx="22183344" cy="1990725"/>
            </a:xfrm>
            <a:custGeom>
              <a:avLst/>
              <a:gdLst/>
              <a:ahLst/>
              <a:cxnLst/>
              <a:rect r="r" b="b" t="t" l="l"/>
              <a:pathLst>
                <a:path h="1990725" w="22183344">
                  <a:moveTo>
                    <a:pt x="0" y="0"/>
                  </a:moveTo>
                  <a:lnTo>
                    <a:pt x="22183344" y="0"/>
                  </a:lnTo>
                  <a:lnTo>
                    <a:pt x="22183344" y="1990725"/>
                  </a:lnTo>
                  <a:lnTo>
                    <a:pt x="0" y="1990725"/>
                  </a:lnTo>
                  <a:close/>
                </a:path>
              </a:pathLst>
            </a:custGeom>
            <a:blipFill>
              <a:blip r:embed="rId5">
                <a:alphaModFix amt="0"/>
              </a:blip>
              <a:stretch>
                <a:fillRect l="0" t="-166977" r="0" b="-166977"/>
              </a:stretch>
            </a:blipFill>
          </p:spPr>
          <p:txBody>
            <a:bodyPr/>
            <a:p/>
          </p:txBody>
        </p:sp>
      </p:grpSp>
      <p:grpSp>
        <p:nvGrpSpPr>
          <p:cNvPr name="Group 8" id="8"/>
          <p:cNvGrpSpPr/>
          <p:nvPr/>
        </p:nvGrpSpPr>
        <p:grpSpPr>
          <a:xfrm rot="0">
            <a:off x="822960" y="3254692"/>
            <a:ext cx="16637508" cy="1614488"/>
            <a:chOff x="0" y="0"/>
            <a:chExt cx="22183344" cy="2152650"/>
          </a:xfrm>
        </p:grpSpPr>
        <p:sp>
          <p:nvSpPr>
            <p:cNvPr name="Freeform 9" id="9"/>
            <p:cNvSpPr/>
            <p:nvPr/>
          </p:nvSpPr>
          <p:spPr>
            <a:xfrm flipH="false" flipV="false" rot="0">
              <a:off x="0" y="0"/>
              <a:ext cx="22183344" cy="2152650"/>
            </a:xfrm>
            <a:custGeom>
              <a:avLst/>
              <a:gdLst/>
              <a:ahLst/>
              <a:cxnLst/>
              <a:rect r="r" b="b" t="t" l="l"/>
              <a:pathLst>
                <a:path h="2152650" w="22183344">
                  <a:moveTo>
                    <a:pt x="0" y="0"/>
                  </a:moveTo>
                  <a:lnTo>
                    <a:pt x="22183344" y="0"/>
                  </a:lnTo>
                  <a:lnTo>
                    <a:pt x="22183344" y="2152650"/>
                  </a:lnTo>
                  <a:lnTo>
                    <a:pt x="0" y="2152650"/>
                  </a:lnTo>
                  <a:close/>
                </a:path>
              </a:pathLst>
            </a:custGeom>
            <a:blipFill>
              <a:blip r:embed="rId6">
                <a:alphaModFix amt="0"/>
              </a:blip>
              <a:stretch>
                <a:fillRect l="0" t="-150795" r="0" b="-150795"/>
              </a:stretch>
            </a:blipFill>
          </p:spPr>
          <p:txBody>
            <a:bodyPr/>
            <a:p/>
          </p:txBody>
        </p:sp>
        <p:sp>
          <p:nvSpPr>
            <p:cNvPr name="TextBox 10" id="10"/>
            <p:cNvSpPr txBox="true"/>
            <p:nvPr/>
          </p:nvSpPr>
          <p:spPr>
            <a:xfrm>
              <a:off x="0" y="-161925"/>
              <a:ext cx="22183344" cy="2314575"/>
            </a:xfrm>
            <a:prstGeom prst="rect">
              <a:avLst/>
            </a:prstGeom>
          </p:spPr>
          <p:txBody>
            <a:bodyPr anchor="ctr" rtlCol="false" tIns="0" lIns="0" bIns="0" rIns="0"/>
            <a:lstStyle/>
            <a:p>
              <a:pPr algn="ctr">
                <a:lnSpc>
                  <a:spcPts val="9360"/>
                </a:lnSpc>
              </a:pPr>
              <a:r>
                <a:rPr lang="en-US" sz="7800" b="true">
                  <a:solidFill>
                    <a:srgbClr val="FFD23B"/>
                  </a:solidFill>
                  <a:latin typeface="Calibri (MS) Bold"/>
                  <a:ea typeface="Calibri (MS) Bold"/>
                  <a:cs typeface="Calibri (MS) Bold"/>
                  <a:sym typeface="Calibri (MS) Bold"/>
                </a:rPr>
                <a:t>Tujuan 1</a:t>
              </a:r>
            </a:p>
          </p:txBody>
        </p:sp>
      </p:grpSp>
      <p:sp>
        <p:nvSpPr>
          <p:cNvPr name="TextBox 11" id="11"/>
          <p:cNvSpPr txBox="true"/>
          <p:nvPr/>
        </p:nvSpPr>
        <p:spPr>
          <a:xfrm rot="0">
            <a:off x="2057400" y="4922520"/>
            <a:ext cx="14168628" cy="1249680"/>
          </a:xfrm>
          <a:prstGeom prst="rect">
            <a:avLst/>
          </a:prstGeom>
        </p:spPr>
        <p:txBody>
          <a:bodyPr anchor="t" rtlCol="false" tIns="0" lIns="0" bIns="0" rIns="0">
            <a:spAutoFit/>
          </a:bodyPr>
          <a:lstStyle/>
          <a:p>
            <a:pPr algn="ctr">
              <a:lnSpc>
                <a:spcPts val="3060"/>
              </a:lnSpc>
            </a:pPr>
            <a:r>
              <a:rPr lang="en-US" sz="2400">
                <a:solidFill>
                  <a:srgbClr val="FFFFFF"/>
                </a:solidFill>
                <a:latin typeface="Calibri (MS)"/>
                <a:ea typeface="Calibri (MS)"/>
                <a:cs typeface="Calibri (MS)"/>
                <a:sym typeface="Calibri (MS)"/>
              </a:rPr>
              <a:t>Mengidentifikasi dan merumuskan variabel-variabel utama penyusun CLD dalam model sistem dinamis kebijakan pariwisata di Provinsi DIY.</a:t>
            </a:r>
          </a:p>
        </p:txBody>
      </p:sp>
      <p:sp>
        <p:nvSpPr>
          <p:cNvPr name="TextBox 12" id="12"/>
          <p:cNvSpPr txBox="true"/>
          <p:nvPr/>
        </p:nvSpPr>
        <p:spPr>
          <a:xfrm rot="0">
            <a:off x="822960" y="6236970"/>
            <a:ext cx="16637508" cy="758190"/>
          </a:xfrm>
          <a:prstGeom prst="rect">
            <a:avLst/>
          </a:prstGeom>
        </p:spPr>
        <p:txBody>
          <a:bodyPr anchor="t" rtlCol="false" tIns="0" lIns="0" bIns="0" rIns="0">
            <a:spAutoFit/>
          </a:bodyPr>
          <a:lstStyle/>
          <a:p>
            <a:pPr algn="ctr">
              <a:lnSpc>
                <a:spcPts val="2700"/>
              </a:lnSpc>
            </a:pPr>
            <a:r>
              <a:rPr lang="en-US" sz="1800" b="true">
                <a:solidFill>
                  <a:srgbClr val="FFFFFF"/>
                </a:solidFill>
                <a:latin typeface="Calibri (MS) Bold"/>
                <a:ea typeface="Calibri (MS) Bold"/>
                <a:cs typeface="Calibri (MS) Bold"/>
                <a:sym typeface="Calibri (MS) Bold"/>
              </a:rPr>
              <a:t>Metode identifikasi  →  Evaluasi kandidat  →  Hubungan kausal  →  CLD  →  Batas model</a:t>
            </a:r>
          </a:p>
        </p:txBody>
      </p:sp>
      <p:grpSp>
        <p:nvGrpSpPr>
          <p:cNvPr name="Group 13" id="13"/>
          <p:cNvGrpSpPr/>
          <p:nvPr/>
        </p:nvGrpSpPr>
        <p:grpSpPr>
          <a:xfrm rot="0">
            <a:off x="16962120" y="9555480"/>
            <a:ext cx="420624" cy="420624"/>
            <a:chOff x="0" y="0"/>
            <a:chExt cx="560832" cy="560832"/>
          </a:xfrm>
        </p:grpSpPr>
        <p:sp>
          <p:nvSpPr>
            <p:cNvPr name="Freeform 14" id="14"/>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5" id="15"/>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Identifikasi dan Perumusan Variabel CLD</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Variabel disusun dari model rujukan, disesuaikan dengan kondisi DIY, lalu dievaluasi</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17</a:t>
            </a:r>
          </a:p>
        </p:txBody>
      </p:sp>
      <p:grpSp>
        <p:nvGrpSpPr>
          <p:cNvPr name="Group 67" id="67"/>
          <p:cNvGrpSpPr/>
          <p:nvPr/>
        </p:nvGrpSpPr>
        <p:grpSpPr>
          <a:xfrm rot="0">
            <a:off x="816607" y="2325367"/>
            <a:ext cx="3761737" cy="2801617"/>
            <a:chOff x="0" y="0"/>
            <a:chExt cx="5015649" cy="3735489"/>
          </a:xfrm>
        </p:grpSpPr>
        <p:sp>
          <p:nvSpPr>
            <p:cNvPr name="Freeform 68" id="68"/>
            <p:cNvSpPr/>
            <p:nvPr/>
          </p:nvSpPr>
          <p:spPr>
            <a:xfrm flipH="false" flipV="false" rot="0">
              <a:off x="0" y="0"/>
              <a:ext cx="5015611" cy="3735451"/>
            </a:xfrm>
            <a:custGeom>
              <a:avLst/>
              <a:gdLst/>
              <a:ahLst/>
              <a:cxnLst/>
              <a:rect r="r" b="b" t="t" l="l"/>
              <a:pathLst>
                <a:path h="3735451" w="5015611">
                  <a:moveTo>
                    <a:pt x="0" y="298831"/>
                  </a:moveTo>
                  <a:cubicBezTo>
                    <a:pt x="0" y="133858"/>
                    <a:pt x="133858" y="0"/>
                    <a:pt x="298831" y="0"/>
                  </a:cubicBezTo>
                  <a:lnTo>
                    <a:pt x="4716780" y="0"/>
                  </a:lnTo>
                  <a:cubicBezTo>
                    <a:pt x="4881880" y="0"/>
                    <a:pt x="5015611" y="133858"/>
                    <a:pt x="5015611" y="298831"/>
                  </a:cubicBezTo>
                  <a:lnTo>
                    <a:pt x="5015611" y="3436620"/>
                  </a:lnTo>
                  <a:cubicBezTo>
                    <a:pt x="5015611" y="3601720"/>
                    <a:pt x="4881753" y="3735451"/>
                    <a:pt x="4716780" y="3735451"/>
                  </a:cubicBezTo>
                  <a:lnTo>
                    <a:pt x="298831" y="3735451"/>
                  </a:lnTo>
                  <a:cubicBezTo>
                    <a:pt x="133858" y="3735451"/>
                    <a:pt x="0" y="3601720"/>
                    <a:pt x="0" y="3436620"/>
                  </a:cubicBezTo>
                  <a:close/>
                </a:path>
              </a:pathLst>
            </a:custGeom>
            <a:solidFill>
              <a:srgbClr val="EAF8FA"/>
            </a:solidFill>
            <a:ln w="12700" cap="sq">
              <a:solidFill>
                <a:srgbClr val="CFE5E9"/>
              </a:solidFill>
              <a:prstDash val="solid"/>
              <a:miter/>
            </a:ln>
          </p:spPr>
          <p:txBody>
            <a:bodyPr/>
            <a:p/>
          </p:txBody>
        </p:sp>
      </p:grpSp>
      <p:grpSp>
        <p:nvGrpSpPr>
          <p:cNvPr name="Group 69" id="69"/>
          <p:cNvGrpSpPr/>
          <p:nvPr/>
        </p:nvGrpSpPr>
        <p:grpSpPr>
          <a:xfrm rot="0">
            <a:off x="1051560" y="2514600"/>
            <a:ext cx="548640" cy="548640"/>
            <a:chOff x="0" y="0"/>
            <a:chExt cx="731520" cy="731520"/>
          </a:xfrm>
        </p:grpSpPr>
        <p:sp>
          <p:nvSpPr>
            <p:cNvPr name="Freeform 70" id="70"/>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71" id="71"/>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1</a:t>
              </a:r>
            </a:p>
          </p:txBody>
        </p:sp>
      </p:grpSp>
      <p:sp>
        <p:nvSpPr>
          <p:cNvPr name="TextBox 72" id="72"/>
          <p:cNvSpPr txBox="true"/>
          <p:nvPr/>
        </p:nvSpPr>
        <p:spPr>
          <a:xfrm rot="0">
            <a:off x="1737360" y="2512695"/>
            <a:ext cx="2697480" cy="596265"/>
          </a:xfrm>
          <a:prstGeom prst="rect">
            <a:avLst/>
          </a:prstGeom>
        </p:spPr>
        <p:txBody>
          <a:bodyPr anchor="t" rtlCol="false" tIns="0" lIns="0" bIns="0" rIns="0">
            <a:spAutoFit/>
          </a:bodyPr>
          <a:lstStyle/>
          <a:p>
            <a:pPr algn="l">
              <a:lnSpc>
                <a:spcPts val="2340"/>
              </a:lnSpc>
            </a:pPr>
            <a:r>
              <a:rPr lang="en-US" sz="1950" b="true">
                <a:solidFill>
                  <a:srgbClr val="0B5E6E"/>
                </a:solidFill>
                <a:latin typeface="Calibri (MS) Bold"/>
                <a:ea typeface="Calibri (MS) Bold"/>
                <a:cs typeface="Calibri (MS) Bold"/>
                <a:sym typeface="Calibri (MS) Bold"/>
              </a:rPr>
              <a:t>Model rujukan</a:t>
            </a:r>
          </a:p>
        </p:txBody>
      </p:sp>
      <p:sp>
        <p:nvSpPr>
          <p:cNvPr name="TextBox 73" id="73"/>
          <p:cNvSpPr txBox="true"/>
          <p:nvPr/>
        </p:nvSpPr>
        <p:spPr>
          <a:xfrm rot="0">
            <a:off x="1097280" y="3253740"/>
            <a:ext cx="3291840" cy="1775460"/>
          </a:xfrm>
          <a:prstGeom prst="rect">
            <a:avLst/>
          </a:prstGeom>
        </p:spPr>
        <p:txBody>
          <a:bodyPr anchor="t" rtlCol="false" tIns="0" lIns="0" bIns="0" rIns="0">
            <a:spAutoFit/>
          </a:bodyPr>
          <a:lstStyle/>
          <a:p>
            <a:pPr algn="l">
              <a:lnSpc>
                <a:spcPts val="2004"/>
              </a:lnSpc>
            </a:pPr>
            <a:r>
              <a:rPr lang="en-US" sz="1670">
                <a:solidFill>
                  <a:srgbClr val="14313B"/>
                </a:solidFill>
                <a:latin typeface="Calibri (MS)"/>
                <a:ea typeface="Calibri (MS)"/>
                <a:cs typeface="Calibri (MS)"/>
                <a:sym typeface="Calibri (MS)"/>
              </a:rPr>
              <a:t>Mai &amp; Smith (2018), Cat Ba Island: titik awal mengenali komponen dan feedback loop.</a:t>
            </a:r>
          </a:p>
        </p:txBody>
      </p:sp>
      <p:grpSp>
        <p:nvGrpSpPr>
          <p:cNvPr name="Group 74" id="74"/>
          <p:cNvGrpSpPr/>
          <p:nvPr/>
        </p:nvGrpSpPr>
        <p:grpSpPr>
          <a:xfrm rot="0">
            <a:off x="4617720" y="3566160"/>
            <a:ext cx="365760" cy="320040"/>
            <a:chOff x="0" y="0"/>
            <a:chExt cx="487680" cy="426720"/>
          </a:xfrm>
        </p:grpSpPr>
        <p:sp>
          <p:nvSpPr>
            <p:cNvPr name="Freeform 75" id="75"/>
            <p:cNvSpPr/>
            <p:nvPr/>
          </p:nvSpPr>
          <p:spPr>
            <a:xfrm flipH="false" flipV="false" rot="0">
              <a:off x="0" y="0"/>
              <a:ext cx="487680" cy="426720"/>
            </a:xfrm>
            <a:custGeom>
              <a:avLst/>
              <a:gdLst/>
              <a:ahLst/>
              <a:cxnLst/>
              <a:rect r="r" b="b" t="t" l="l"/>
              <a:pathLst>
                <a:path h="426720" w="487680">
                  <a:moveTo>
                    <a:pt x="0" y="106680"/>
                  </a:moveTo>
                  <a:lnTo>
                    <a:pt x="274320" y="106680"/>
                  </a:lnTo>
                  <a:lnTo>
                    <a:pt x="274320" y="0"/>
                  </a:lnTo>
                  <a:lnTo>
                    <a:pt x="487680" y="213360"/>
                  </a:lnTo>
                  <a:lnTo>
                    <a:pt x="274320" y="426720"/>
                  </a:lnTo>
                  <a:lnTo>
                    <a:pt x="274320" y="320040"/>
                  </a:lnTo>
                  <a:lnTo>
                    <a:pt x="0" y="320040"/>
                  </a:lnTo>
                  <a:close/>
                </a:path>
              </a:pathLst>
            </a:custGeom>
            <a:solidFill>
              <a:srgbClr val="39C0D3"/>
            </a:solidFill>
          </p:spPr>
          <p:txBody>
            <a:bodyPr/>
            <a:p/>
          </p:txBody>
        </p:sp>
      </p:grpSp>
      <p:grpSp>
        <p:nvGrpSpPr>
          <p:cNvPr name="Group 76" id="76"/>
          <p:cNvGrpSpPr/>
          <p:nvPr/>
        </p:nvGrpSpPr>
        <p:grpSpPr>
          <a:xfrm rot="0">
            <a:off x="5041135" y="2325367"/>
            <a:ext cx="3761737" cy="2801617"/>
            <a:chOff x="0" y="0"/>
            <a:chExt cx="5015649" cy="3735489"/>
          </a:xfrm>
        </p:grpSpPr>
        <p:sp>
          <p:nvSpPr>
            <p:cNvPr name="Freeform 77" id="77"/>
            <p:cNvSpPr/>
            <p:nvPr/>
          </p:nvSpPr>
          <p:spPr>
            <a:xfrm flipH="false" flipV="false" rot="0">
              <a:off x="0" y="0"/>
              <a:ext cx="5015611" cy="3735451"/>
            </a:xfrm>
            <a:custGeom>
              <a:avLst/>
              <a:gdLst/>
              <a:ahLst/>
              <a:cxnLst/>
              <a:rect r="r" b="b" t="t" l="l"/>
              <a:pathLst>
                <a:path h="3735451" w="5015611">
                  <a:moveTo>
                    <a:pt x="0" y="298831"/>
                  </a:moveTo>
                  <a:cubicBezTo>
                    <a:pt x="0" y="133858"/>
                    <a:pt x="133858" y="0"/>
                    <a:pt x="298831" y="0"/>
                  </a:cubicBezTo>
                  <a:lnTo>
                    <a:pt x="4716780" y="0"/>
                  </a:lnTo>
                  <a:cubicBezTo>
                    <a:pt x="4881880" y="0"/>
                    <a:pt x="5015611" y="133858"/>
                    <a:pt x="5015611" y="298831"/>
                  </a:cubicBezTo>
                  <a:lnTo>
                    <a:pt x="5015611" y="3436620"/>
                  </a:lnTo>
                  <a:cubicBezTo>
                    <a:pt x="5015611" y="3601720"/>
                    <a:pt x="4881753" y="3735451"/>
                    <a:pt x="4716780" y="3735451"/>
                  </a:cubicBezTo>
                  <a:lnTo>
                    <a:pt x="298831" y="3735451"/>
                  </a:lnTo>
                  <a:cubicBezTo>
                    <a:pt x="133858" y="3735451"/>
                    <a:pt x="0" y="3601720"/>
                    <a:pt x="0" y="3436620"/>
                  </a:cubicBezTo>
                  <a:close/>
                </a:path>
              </a:pathLst>
            </a:custGeom>
            <a:solidFill>
              <a:srgbClr val="EAF8FA"/>
            </a:solidFill>
            <a:ln w="12700" cap="sq">
              <a:solidFill>
                <a:srgbClr val="CFE5E9"/>
              </a:solidFill>
              <a:prstDash val="solid"/>
              <a:miter/>
            </a:ln>
          </p:spPr>
          <p:txBody>
            <a:bodyPr/>
            <a:p/>
          </p:txBody>
        </p:sp>
      </p:grpSp>
      <p:grpSp>
        <p:nvGrpSpPr>
          <p:cNvPr name="Group 78" id="78"/>
          <p:cNvGrpSpPr/>
          <p:nvPr/>
        </p:nvGrpSpPr>
        <p:grpSpPr>
          <a:xfrm rot="0">
            <a:off x="5276088" y="2514600"/>
            <a:ext cx="548640" cy="548640"/>
            <a:chOff x="0" y="0"/>
            <a:chExt cx="731520" cy="731520"/>
          </a:xfrm>
        </p:grpSpPr>
        <p:sp>
          <p:nvSpPr>
            <p:cNvPr name="Freeform 79" id="79"/>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80" id="80"/>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2</a:t>
              </a:r>
            </a:p>
          </p:txBody>
        </p:sp>
      </p:grpSp>
      <p:sp>
        <p:nvSpPr>
          <p:cNvPr name="TextBox 81" id="81"/>
          <p:cNvSpPr txBox="true"/>
          <p:nvPr/>
        </p:nvSpPr>
        <p:spPr>
          <a:xfrm rot="0">
            <a:off x="5961888" y="2512695"/>
            <a:ext cx="2697480" cy="596265"/>
          </a:xfrm>
          <a:prstGeom prst="rect">
            <a:avLst/>
          </a:prstGeom>
        </p:spPr>
        <p:txBody>
          <a:bodyPr anchor="t" rtlCol="false" tIns="0" lIns="0" bIns="0" rIns="0">
            <a:spAutoFit/>
          </a:bodyPr>
          <a:lstStyle/>
          <a:p>
            <a:pPr algn="l">
              <a:lnSpc>
                <a:spcPts val="2340"/>
              </a:lnSpc>
            </a:pPr>
            <a:r>
              <a:rPr lang="en-US" sz="1950" b="true">
                <a:solidFill>
                  <a:srgbClr val="0B5E6E"/>
                </a:solidFill>
                <a:latin typeface="Calibri (MS) Bold"/>
                <a:ea typeface="Calibri (MS) Bold"/>
                <a:cs typeface="Calibri (MS) Bold"/>
                <a:sym typeface="Calibri (MS) Bold"/>
              </a:rPr>
              <a:t>Penyesuaian dengan kondisi DIY</a:t>
            </a:r>
          </a:p>
        </p:txBody>
      </p:sp>
      <p:sp>
        <p:nvSpPr>
          <p:cNvPr name="TextBox 82" id="82"/>
          <p:cNvSpPr txBox="true"/>
          <p:nvPr/>
        </p:nvSpPr>
        <p:spPr>
          <a:xfrm rot="0">
            <a:off x="5321808" y="3253740"/>
            <a:ext cx="3291840" cy="1775460"/>
          </a:xfrm>
          <a:prstGeom prst="rect">
            <a:avLst/>
          </a:prstGeom>
        </p:spPr>
        <p:txBody>
          <a:bodyPr anchor="t" rtlCol="false" tIns="0" lIns="0" bIns="0" rIns="0">
            <a:spAutoFit/>
          </a:bodyPr>
          <a:lstStyle/>
          <a:p>
            <a:pPr algn="l">
              <a:lnSpc>
                <a:spcPts val="2004"/>
              </a:lnSpc>
            </a:pPr>
            <a:r>
              <a:rPr lang="en-US" sz="1670">
                <a:solidFill>
                  <a:srgbClr val="14313B"/>
                </a:solidFill>
                <a:latin typeface="Calibri (MS)"/>
                <a:ea typeface="Calibri (MS)"/>
                <a:cs typeface="Calibri (MS)"/>
                <a:sym typeface="Calibri (MS)"/>
              </a:rPr>
              <a:t>UU 10/2009, RIPPARDA DIY, Renja Dispar DIY 2025, Renstra Kemenpar 2025–2029, IPKN 2024.</a:t>
            </a:r>
          </a:p>
        </p:txBody>
      </p:sp>
      <p:grpSp>
        <p:nvGrpSpPr>
          <p:cNvPr name="Group 83" id="83"/>
          <p:cNvGrpSpPr/>
          <p:nvPr/>
        </p:nvGrpSpPr>
        <p:grpSpPr>
          <a:xfrm rot="0">
            <a:off x="8842248" y="3566160"/>
            <a:ext cx="365760" cy="320040"/>
            <a:chOff x="0" y="0"/>
            <a:chExt cx="487680" cy="426720"/>
          </a:xfrm>
        </p:grpSpPr>
        <p:sp>
          <p:nvSpPr>
            <p:cNvPr name="Freeform 84" id="84"/>
            <p:cNvSpPr/>
            <p:nvPr/>
          </p:nvSpPr>
          <p:spPr>
            <a:xfrm flipH="false" flipV="false" rot="0">
              <a:off x="0" y="0"/>
              <a:ext cx="487680" cy="426720"/>
            </a:xfrm>
            <a:custGeom>
              <a:avLst/>
              <a:gdLst/>
              <a:ahLst/>
              <a:cxnLst/>
              <a:rect r="r" b="b" t="t" l="l"/>
              <a:pathLst>
                <a:path h="426720" w="487680">
                  <a:moveTo>
                    <a:pt x="0" y="106680"/>
                  </a:moveTo>
                  <a:lnTo>
                    <a:pt x="274320" y="106680"/>
                  </a:lnTo>
                  <a:lnTo>
                    <a:pt x="274320" y="0"/>
                  </a:lnTo>
                  <a:lnTo>
                    <a:pt x="487680" y="213360"/>
                  </a:lnTo>
                  <a:lnTo>
                    <a:pt x="274320" y="426720"/>
                  </a:lnTo>
                  <a:lnTo>
                    <a:pt x="274320" y="320040"/>
                  </a:lnTo>
                  <a:lnTo>
                    <a:pt x="0" y="320040"/>
                  </a:lnTo>
                  <a:close/>
                </a:path>
              </a:pathLst>
            </a:custGeom>
            <a:solidFill>
              <a:srgbClr val="39C0D3"/>
            </a:solidFill>
          </p:spPr>
          <p:txBody>
            <a:bodyPr/>
            <a:p/>
          </p:txBody>
        </p:sp>
      </p:grpSp>
      <p:grpSp>
        <p:nvGrpSpPr>
          <p:cNvPr name="Group 85" id="85"/>
          <p:cNvGrpSpPr/>
          <p:nvPr/>
        </p:nvGrpSpPr>
        <p:grpSpPr>
          <a:xfrm rot="0">
            <a:off x="9265663" y="2325367"/>
            <a:ext cx="3761737" cy="2801617"/>
            <a:chOff x="0" y="0"/>
            <a:chExt cx="5015649" cy="3735489"/>
          </a:xfrm>
        </p:grpSpPr>
        <p:sp>
          <p:nvSpPr>
            <p:cNvPr name="Freeform 86" id="86"/>
            <p:cNvSpPr/>
            <p:nvPr/>
          </p:nvSpPr>
          <p:spPr>
            <a:xfrm flipH="false" flipV="false" rot="0">
              <a:off x="0" y="0"/>
              <a:ext cx="5015611" cy="3735451"/>
            </a:xfrm>
            <a:custGeom>
              <a:avLst/>
              <a:gdLst/>
              <a:ahLst/>
              <a:cxnLst/>
              <a:rect r="r" b="b" t="t" l="l"/>
              <a:pathLst>
                <a:path h="3735451" w="5015611">
                  <a:moveTo>
                    <a:pt x="0" y="298831"/>
                  </a:moveTo>
                  <a:cubicBezTo>
                    <a:pt x="0" y="133858"/>
                    <a:pt x="133858" y="0"/>
                    <a:pt x="298831" y="0"/>
                  </a:cubicBezTo>
                  <a:lnTo>
                    <a:pt x="4716780" y="0"/>
                  </a:lnTo>
                  <a:cubicBezTo>
                    <a:pt x="4881880" y="0"/>
                    <a:pt x="5015611" y="133858"/>
                    <a:pt x="5015611" y="298831"/>
                  </a:cubicBezTo>
                  <a:lnTo>
                    <a:pt x="5015611" y="3436620"/>
                  </a:lnTo>
                  <a:cubicBezTo>
                    <a:pt x="5015611" y="3601720"/>
                    <a:pt x="4881753" y="3735451"/>
                    <a:pt x="4716780" y="3735451"/>
                  </a:cubicBezTo>
                  <a:lnTo>
                    <a:pt x="298831" y="3735451"/>
                  </a:lnTo>
                  <a:cubicBezTo>
                    <a:pt x="133858" y="3735451"/>
                    <a:pt x="0" y="3601720"/>
                    <a:pt x="0" y="3436620"/>
                  </a:cubicBezTo>
                  <a:close/>
                </a:path>
              </a:pathLst>
            </a:custGeom>
            <a:solidFill>
              <a:srgbClr val="EAF8FA"/>
            </a:solidFill>
            <a:ln w="12700" cap="sq">
              <a:solidFill>
                <a:srgbClr val="CFE5E9"/>
              </a:solidFill>
              <a:prstDash val="solid"/>
              <a:miter/>
            </a:ln>
          </p:spPr>
          <p:txBody>
            <a:bodyPr/>
            <a:p/>
          </p:txBody>
        </p:sp>
      </p:grpSp>
      <p:grpSp>
        <p:nvGrpSpPr>
          <p:cNvPr name="Group 87" id="87"/>
          <p:cNvGrpSpPr/>
          <p:nvPr/>
        </p:nvGrpSpPr>
        <p:grpSpPr>
          <a:xfrm rot="0">
            <a:off x="9500616" y="2514600"/>
            <a:ext cx="548640" cy="548640"/>
            <a:chOff x="0" y="0"/>
            <a:chExt cx="731520" cy="731520"/>
          </a:xfrm>
        </p:grpSpPr>
        <p:sp>
          <p:nvSpPr>
            <p:cNvPr name="Freeform 88" id="88"/>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89" id="89"/>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3</a:t>
              </a:r>
            </a:p>
          </p:txBody>
        </p:sp>
      </p:grpSp>
      <p:sp>
        <p:nvSpPr>
          <p:cNvPr name="TextBox 90" id="90"/>
          <p:cNvSpPr txBox="true"/>
          <p:nvPr/>
        </p:nvSpPr>
        <p:spPr>
          <a:xfrm rot="0">
            <a:off x="10186416" y="2512695"/>
            <a:ext cx="2697480" cy="596265"/>
          </a:xfrm>
          <a:prstGeom prst="rect">
            <a:avLst/>
          </a:prstGeom>
        </p:spPr>
        <p:txBody>
          <a:bodyPr anchor="t" rtlCol="false" tIns="0" lIns="0" bIns="0" rIns="0">
            <a:spAutoFit/>
          </a:bodyPr>
          <a:lstStyle/>
          <a:p>
            <a:pPr algn="l">
              <a:lnSpc>
                <a:spcPts val="2340"/>
              </a:lnSpc>
            </a:pPr>
            <a:r>
              <a:rPr lang="en-US" sz="1950" b="true">
                <a:solidFill>
                  <a:srgbClr val="0B5E6E"/>
                </a:solidFill>
                <a:latin typeface="Calibri (MS) Bold"/>
                <a:ea typeface="Calibri (MS) Bold"/>
                <a:cs typeface="Calibri (MS) Bold"/>
                <a:sym typeface="Calibri (MS) Bold"/>
              </a:rPr>
              <a:t>Literatur pendukung</a:t>
            </a:r>
          </a:p>
        </p:txBody>
      </p:sp>
      <p:sp>
        <p:nvSpPr>
          <p:cNvPr name="TextBox 91" id="91"/>
          <p:cNvSpPr txBox="true"/>
          <p:nvPr/>
        </p:nvSpPr>
        <p:spPr>
          <a:xfrm rot="0">
            <a:off x="9546336" y="3253740"/>
            <a:ext cx="3291840" cy="1775460"/>
          </a:xfrm>
          <a:prstGeom prst="rect">
            <a:avLst/>
          </a:prstGeom>
        </p:spPr>
        <p:txBody>
          <a:bodyPr anchor="t" rtlCol="false" tIns="0" lIns="0" bIns="0" rIns="0">
            <a:spAutoFit/>
          </a:bodyPr>
          <a:lstStyle/>
          <a:p>
            <a:pPr algn="l">
              <a:lnSpc>
                <a:spcPts val="2004"/>
              </a:lnSpc>
            </a:pPr>
            <a:r>
              <a:rPr lang="en-US" sz="1670">
                <a:solidFill>
                  <a:srgbClr val="14313B"/>
                </a:solidFill>
                <a:latin typeface="Calibri (MS)"/>
                <a:ea typeface="Calibri (MS)"/>
                <a:cs typeface="Calibri (MS)"/>
                <a:sym typeface="Calibri (MS)"/>
              </a:rPr>
              <a:t>Dukungan mekanisme per hubungan: daya tarik, ekonomi, akomodasi, TK, kepadatan, daya dukung.</a:t>
            </a:r>
          </a:p>
        </p:txBody>
      </p:sp>
      <p:grpSp>
        <p:nvGrpSpPr>
          <p:cNvPr name="Group 92" id="92"/>
          <p:cNvGrpSpPr/>
          <p:nvPr/>
        </p:nvGrpSpPr>
        <p:grpSpPr>
          <a:xfrm rot="0">
            <a:off x="13066776" y="3566160"/>
            <a:ext cx="365760" cy="320040"/>
            <a:chOff x="0" y="0"/>
            <a:chExt cx="487680" cy="426720"/>
          </a:xfrm>
        </p:grpSpPr>
        <p:sp>
          <p:nvSpPr>
            <p:cNvPr name="Freeform 93" id="93"/>
            <p:cNvSpPr/>
            <p:nvPr/>
          </p:nvSpPr>
          <p:spPr>
            <a:xfrm flipH="false" flipV="false" rot="0">
              <a:off x="0" y="0"/>
              <a:ext cx="487680" cy="426720"/>
            </a:xfrm>
            <a:custGeom>
              <a:avLst/>
              <a:gdLst/>
              <a:ahLst/>
              <a:cxnLst/>
              <a:rect r="r" b="b" t="t" l="l"/>
              <a:pathLst>
                <a:path h="426720" w="487680">
                  <a:moveTo>
                    <a:pt x="0" y="106680"/>
                  </a:moveTo>
                  <a:lnTo>
                    <a:pt x="274320" y="106680"/>
                  </a:lnTo>
                  <a:lnTo>
                    <a:pt x="274320" y="0"/>
                  </a:lnTo>
                  <a:lnTo>
                    <a:pt x="487680" y="213360"/>
                  </a:lnTo>
                  <a:lnTo>
                    <a:pt x="274320" y="426720"/>
                  </a:lnTo>
                  <a:lnTo>
                    <a:pt x="274320" y="320040"/>
                  </a:lnTo>
                  <a:lnTo>
                    <a:pt x="0" y="320040"/>
                  </a:lnTo>
                  <a:close/>
                </a:path>
              </a:pathLst>
            </a:custGeom>
            <a:solidFill>
              <a:srgbClr val="39C0D3"/>
            </a:solidFill>
          </p:spPr>
          <p:txBody>
            <a:bodyPr/>
            <a:p/>
          </p:txBody>
        </p:sp>
      </p:grpSp>
      <p:grpSp>
        <p:nvGrpSpPr>
          <p:cNvPr name="Group 94" id="94"/>
          <p:cNvGrpSpPr/>
          <p:nvPr/>
        </p:nvGrpSpPr>
        <p:grpSpPr>
          <a:xfrm rot="0">
            <a:off x="13490191" y="2325367"/>
            <a:ext cx="3761737" cy="2801617"/>
            <a:chOff x="0" y="0"/>
            <a:chExt cx="5015649" cy="3735489"/>
          </a:xfrm>
        </p:grpSpPr>
        <p:sp>
          <p:nvSpPr>
            <p:cNvPr name="Freeform 95" id="95"/>
            <p:cNvSpPr/>
            <p:nvPr/>
          </p:nvSpPr>
          <p:spPr>
            <a:xfrm flipH="false" flipV="false" rot="0">
              <a:off x="0" y="0"/>
              <a:ext cx="5015611" cy="3735451"/>
            </a:xfrm>
            <a:custGeom>
              <a:avLst/>
              <a:gdLst/>
              <a:ahLst/>
              <a:cxnLst/>
              <a:rect r="r" b="b" t="t" l="l"/>
              <a:pathLst>
                <a:path h="3735451" w="5015611">
                  <a:moveTo>
                    <a:pt x="0" y="298831"/>
                  </a:moveTo>
                  <a:cubicBezTo>
                    <a:pt x="0" y="133858"/>
                    <a:pt x="133858" y="0"/>
                    <a:pt x="298831" y="0"/>
                  </a:cubicBezTo>
                  <a:lnTo>
                    <a:pt x="4716780" y="0"/>
                  </a:lnTo>
                  <a:cubicBezTo>
                    <a:pt x="4881880" y="0"/>
                    <a:pt x="5015611" y="133858"/>
                    <a:pt x="5015611" y="298831"/>
                  </a:cubicBezTo>
                  <a:lnTo>
                    <a:pt x="5015611" y="3436620"/>
                  </a:lnTo>
                  <a:cubicBezTo>
                    <a:pt x="5015611" y="3601720"/>
                    <a:pt x="4881753" y="3735451"/>
                    <a:pt x="4716780" y="3735451"/>
                  </a:cubicBezTo>
                  <a:lnTo>
                    <a:pt x="298831" y="3735451"/>
                  </a:lnTo>
                  <a:cubicBezTo>
                    <a:pt x="133858" y="3735451"/>
                    <a:pt x="0" y="3601720"/>
                    <a:pt x="0" y="3436620"/>
                  </a:cubicBezTo>
                  <a:close/>
                </a:path>
              </a:pathLst>
            </a:custGeom>
            <a:solidFill>
              <a:srgbClr val="EAF8FA"/>
            </a:solidFill>
            <a:ln w="12700" cap="sq">
              <a:solidFill>
                <a:srgbClr val="CFE5E9"/>
              </a:solidFill>
              <a:prstDash val="solid"/>
              <a:miter/>
            </a:ln>
          </p:spPr>
          <p:txBody>
            <a:bodyPr/>
            <a:p/>
          </p:txBody>
        </p:sp>
      </p:grpSp>
      <p:grpSp>
        <p:nvGrpSpPr>
          <p:cNvPr name="Group 96" id="96"/>
          <p:cNvGrpSpPr/>
          <p:nvPr/>
        </p:nvGrpSpPr>
        <p:grpSpPr>
          <a:xfrm rot="0">
            <a:off x="13725144" y="2514600"/>
            <a:ext cx="548640" cy="548640"/>
            <a:chOff x="0" y="0"/>
            <a:chExt cx="731520" cy="731520"/>
          </a:xfrm>
        </p:grpSpPr>
        <p:sp>
          <p:nvSpPr>
            <p:cNvPr name="Freeform 97" id="97"/>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98" id="98"/>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4</a:t>
              </a:r>
            </a:p>
          </p:txBody>
        </p:sp>
      </p:grpSp>
      <p:sp>
        <p:nvSpPr>
          <p:cNvPr name="TextBox 99" id="99"/>
          <p:cNvSpPr txBox="true"/>
          <p:nvPr/>
        </p:nvSpPr>
        <p:spPr>
          <a:xfrm rot="0">
            <a:off x="14410944" y="2512695"/>
            <a:ext cx="2697480" cy="596265"/>
          </a:xfrm>
          <a:prstGeom prst="rect">
            <a:avLst/>
          </a:prstGeom>
        </p:spPr>
        <p:txBody>
          <a:bodyPr anchor="t" rtlCol="false" tIns="0" lIns="0" bIns="0" rIns="0">
            <a:spAutoFit/>
          </a:bodyPr>
          <a:lstStyle/>
          <a:p>
            <a:pPr algn="l">
              <a:lnSpc>
                <a:spcPts val="2340"/>
              </a:lnSpc>
            </a:pPr>
            <a:r>
              <a:rPr lang="en-US" sz="1950" b="true">
                <a:solidFill>
                  <a:srgbClr val="0B5E6E"/>
                </a:solidFill>
                <a:latin typeface="Calibri (MS) Bold"/>
                <a:ea typeface="Calibri (MS) Bold"/>
                <a:cs typeface="Calibri (MS) Bold"/>
                <a:sym typeface="Calibri (MS) Bold"/>
              </a:rPr>
              <a:t>Evaluasi struktur</a:t>
            </a:r>
          </a:p>
        </p:txBody>
      </p:sp>
      <p:sp>
        <p:nvSpPr>
          <p:cNvPr name="TextBox 100" id="100"/>
          <p:cNvSpPr txBox="true"/>
          <p:nvPr/>
        </p:nvSpPr>
        <p:spPr>
          <a:xfrm rot="0">
            <a:off x="13770864" y="3253740"/>
            <a:ext cx="3291840" cy="1775460"/>
          </a:xfrm>
          <a:prstGeom prst="rect">
            <a:avLst/>
          </a:prstGeom>
        </p:spPr>
        <p:txBody>
          <a:bodyPr anchor="t" rtlCol="false" tIns="0" lIns="0" bIns="0" rIns="0">
            <a:spAutoFit/>
          </a:bodyPr>
          <a:lstStyle/>
          <a:p>
            <a:pPr algn="l">
              <a:lnSpc>
                <a:spcPts val="2004"/>
              </a:lnSpc>
            </a:pPr>
            <a:r>
              <a:rPr lang="en-US" sz="1670">
                <a:solidFill>
                  <a:srgbClr val="14313B"/>
                </a:solidFill>
                <a:latin typeface="Calibri (MS)"/>
                <a:ea typeface="Calibri (MS)"/>
                <a:cs typeface="Calibri (MS)"/>
                <a:sym typeface="Calibri (MS)"/>
              </a:rPr>
              <a:t>Diperiksa pada empat tingkat: variabel, hubungan kausal, feedback loop, dan batas model.</a:t>
            </a:r>
          </a:p>
        </p:txBody>
      </p:sp>
      <p:graphicFrame>
        <p:nvGraphicFramePr>
          <p:cNvPr name="Table 101" id="101"/>
          <p:cNvGraphicFramePr>
            <a:graphicFrameLocks noGrp="true"/>
          </p:cNvGraphicFramePr>
          <p:nvPr/>
        </p:nvGraphicFramePr>
        <p:xfrm>
          <a:off x="822960" y="5349240"/>
          <a:ext cx="16611600" cy="2755900"/>
        </p:xfrm>
        <a:graphic>
          <a:graphicData uri="http://schemas.openxmlformats.org/drawingml/2006/table">
            <a:tbl>
              <a:tblPr/>
              <a:tblGrid>
                <a:gridCol w="2329676"/>
                <a:gridCol w="2329676"/>
                <a:gridCol w="8710961"/>
                <a:gridCol w="3241288"/>
              </a:tblGrid>
              <a:tr h="393700">
                <a:tc>
                  <a:txBody>
                    <a:bodyPr anchor="t" rtlCol="false"/>
                    <a:lstStyle/>
                    <a:p>
                      <a:pPr algn="l">
                        <a:lnSpc>
                          <a:spcPts val="1788"/>
                        </a:lnSpc>
                        <a:defRPr/>
                      </a:pPr>
                      <a:r>
                        <a:rPr lang="en-US" sz="1490" b="true">
                          <a:solidFill>
                            <a:srgbClr val="FFFFFF"/>
                          </a:solidFill>
                          <a:latin typeface="Calibri (MS) Bold"/>
                          <a:ea typeface="Calibri (MS) Bold"/>
                          <a:cs typeface="Calibri (MS) Bold"/>
                          <a:sym typeface="Calibri (MS) Bold"/>
                        </a:rPr>
                        <a:t>Tingkat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88"/>
                        </a:lnSpc>
                        <a:defRPr/>
                      </a:pPr>
                      <a:r>
                        <a:rPr lang="en-US" sz="1490" b="true">
                          <a:solidFill>
                            <a:srgbClr val="FFFFFF"/>
                          </a:solidFill>
                          <a:latin typeface="Calibri (MS) Bold"/>
                          <a:ea typeface="Calibri (MS) Bold"/>
                          <a:cs typeface="Calibri (MS) Bold"/>
                          <a:sym typeface="Calibri (MS) Bold"/>
                        </a:rPr>
                        <a:t>Aspek</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88"/>
                        </a:lnSpc>
                        <a:defRPr/>
                      </a:pPr>
                      <a:r>
                        <a:rPr lang="en-US" sz="1490" b="true">
                          <a:solidFill>
                            <a:srgbClr val="FFFFFF"/>
                          </a:solidFill>
                          <a:latin typeface="Calibri (MS) Bold"/>
                          <a:ea typeface="Calibri (MS) Bold"/>
                          <a:cs typeface="Calibri (MS) Bold"/>
                          <a:sym typeface="Calibri (MS) Bold"/>
                        </a:rPr>
                        <a:t>Pertanyaan evaluasi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88"/>
                        </a:lnSpc>
                        <a:defRPr/>
                      </a:pPr>
                      <a:r>
                        <a:rPr lang="en-US" sz="1490" b="true">
                          <a:solidFill>
                            <a:srgbClr val="FFFFFF"/>
                          </a:solidFill>
                          <a:latin typeface="Calibri (MS) Bold"/>
                          <a:ea typeface="Calibri (MS) Bold"/>
                          <a:cs typeface="Calibri (MS) Bold"/>
                          <a:sym typeface="Calibri (MS) Bold"/>
                        </a:rPr>
                        <a:t>Dasar</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r>
              <a:tr h="393700">
                <a:tc>
                  <a:txBody>
                    <a:bodyPr anchor="t" rtlCol="false"/>
                    <a:lstStyle/>
                    <a:p>
                      <a:pPr algn="l">
                        <a:lnSpc>
                          <a:spcPts val="1788"/>
                        </a:lnSpc>
                        <a:defRPr/>
                      </a:pPr>
                      <a:r>
                        <a:rPr lang="en-US" sz="1490">
                          <a:solidFill>
                            <a:srgbClr val="14313B"/>
                          </a:solidFill>
                          <a:latin typeface="Calibri (MS)"/>
                          <a:ea typeface="Calibri (MS)"/>
                          <a:cs typeface="Calibri (MS)"/>
                          <a:sym typeface="Calibri (MS)"/>
                        </a:rPr>
                        <a:t>Variabel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Relevan &amp; terdefinisi jelas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Relevan terhadap masalah dan punya definisi operasional jelas?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Sterman (2000)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393700">
                <a:tc>
                  <a:txBody>
                    <a:bodyPr anchor="t" rtlCol="false"/>
                    <a:lstStyle/>
                    <a:p>
                      <a:pPr algn="l">
                        <a:lnSpc>
                          <a:spcPts val="1788"/>
                        </a:lnSpc>
                        <a:defRPr/>
                      </a:pPr>
                      <a:r>
                        <a:rPr lang="en-US" sz="1490">
                          <a:solidFill>
                            <a:srgbClr val="14313B"/>
                          </a:solidFill>
                          <a:latin typeface="Calibri (MS)"/>
                          <a:ea typeface="Calibri (MS)"/>
                          <a:cs typeface="Calibri (MS)"/>
                          <a:sym typeface="Calibri (MS)"/>
                        </a:rPr>
                        <a:t>Hubungan kausal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Mekanisme</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Ada mekanisme yang menjelaskan perubahan variabel akibat?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Sterman (2000); Barlas (1996)</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393700">
                <a:tc>
                  <a:txBody>
                    <a:bodyPr anchor="t" rtlCol="false"/>
                    <a:lstStyle/>
                    <a:p>
                      <a:pPr algn="l">
                        <a:lnSpc>
                          <a:spcPts val="1788"/>
                        </a:lnSpc>
                        <a:defRPr/>
                      </a:pPr>
                      <a:r>
                        <a:rPr lang="en-US" sz="1490">
                          <a:solidFill>
                            <a:srgbClr val="14313B"/>
                          </a:solidFill>
                          <a:latin typeface="Calibri (MS)"/>
                          <a:ea typeface="Calibri (MS)"/>
                          <a:cs typeface="Calibri (MS)"/>
                          <a:sym typeface="Calibri (MS)"/>
                        </a:rPr>
                        <a:t>Hubungan kausal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Arah hubungan (+/−)</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Tanda (+/−) konsisten dengan arah pengaruh ceteris paribus?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Richardson (1997)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393700">
                <a:tc>
                  <a:txBody>
                    <a:bodyPr anchor="t" rtlCol="false"/>
                    <a:lstStyle/>
                    <a:p>
                      <a:pPr algn="l">
                        <a:lnSpc>
                          <a:spcPts val="1788"/>
                        </a:lnSpc>
                        <a:defRPr/>
                      </a:pPr>
                      <a:r>
                        <a:rPr lang="en-US" sz="1490">
                          <a:solidFill>
                            <a:srgbClr val="14313B"/>
                          </a:solidFill>
                          <a:latin typeface="Calibri (MS)"/>
                          <a:ea typeface="Calibri (MS)"/>
                          <a:cs typeface="Calibri (MS)"/>
                          <a:sym typeface="Calibri (MS)"/>
                        </a:rPr>
                        <a:t>Hubungan kausal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Dukungan sumber</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Didukung teori, bukti empiris, atau definisi model yang jelas?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Barlas (1996)</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393700">
                <a:tc>
                  <a:txBody>
                    <a:bodyPr anchor="t" rtlCol="false"/>
                    <a:lstStyle/>
                    <a:p>
                      <a:pPr algn="l">
                        <a:lnSpc>
                          <a:spcPts val="1788"/>
                        </a:lnSpc>
                        <a:defRPr/>
                      </a:pPr>
                      <a:r>
                        <a:rPr lang="en-US" sz="1490">
                          <a:solidFill>
                            <a:srgbClr val="14313B"/>
                          </a:solidFill>
                          <a:latin typeface="Calibri (MS)"/>
                          <a:ea typeface="Calibri (MS)"/>
                          <a:cs typeface="Calibri (MS)"/>
                          <a:sym typeface="Calibri (MS)"/>
                        </a:rPr>
                        <a:t>Feedback loop</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Konsistensi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Rangkaian menghasilkan mekanisme reinforcing/balancing yang logis?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Sterman (2000)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393700">
                <a:tc>
                  <a:txBody>
                    <a:bodyPr anchor="t" rtlCol="false"/>
                    <a:lstStyle/>
                    <a:p>
                      <a:pPr algn="l">
                        <a:lnSpc>
                          <a:spcPts val="1788"/>
                        </a:lnSpc>
                        <a:defRPr/>
                      </a:pPr>
                      <a:r>
                        <a:rPr lang="en-US" sz="1490">
                          <a:solidFill>
                            <a:srgbClr val="14313B"/>
                          </a:solidFill>
                          <a:latin typeface="Calibri (MS)"/>
                          <a:ea typeface="Calibri (MS)"/>
                          <a:cs typeface="Calibri (MS)"/>
                          <a:sym typeface="Calibri (MS)"/>
                        </a:rPr>
                        <a:t>Batas model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Kecukupan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Cukup menjelaskan masalah tanpa aspek yang tidak diperlukan?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Mai &amp; Smith (2018)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bl>
          </a:graphicData>
        </a:graphic>
      </p:graphicFrame>
      <p:grpSp>
        <p:nvGrpSpPr>
          <p:cNvPr name="Group 102" id="102"/>
          <p:cNvGrpSpPr/>
          <p:nvPr/>
        </p:nvGrpSpPr>
        <p:grpSpPr>
          <a:xfrm rot="0">
            <a:off x="816607" y="8360407"/>
            <a:ext cx="16654777" cy="789937"/>
            <a:chOff x="0" y="0"/>
            <a:chExt cx="22206369" cy="1053249"/>
          </a:xfrm>
        </p:grpSpPr>
        <p:sp>
          <p:nvSpPr>
            <p:cNvPr name="Freeform 103" id="103"/>
            <p:cNvSpPr/>
            <p:nvPr/>
          </p:nvSpPr>
          <p:spPr>
            <a:xfrm flipH="false" flipV="false" rot="0">
              <a:off x="0" y="0"/>
              <a:ext cx="22206331" cy="1053211"/>
            </a:xfrm>
            <a:custGeom>
              <a:avLst/>
              <a:gdLst/>
              <a:ahLst/>
              <a:cxnLst/>
              <a:rect r="r" b="b" t="t" l="l"/>
              <a:pathLst>
                <a:path h="1053211" w="22206331">
                  <a:moveTo>
                    <a:pt x="0" y="84201"/>
                  </a:moveTo>
                  <a:cubicBezTo>
                    <a:pt x="0" y="37719"/>
                    <a:pt x="37719" y="0"/>
                    <a:pt x="84201" y="0"/>
                  </a:cubicBezTo>
                  <a:lnTo>
                    <a:pt x="22122130" y="0"/>
                  </a:lnTo>
                  <a:cubicBezTo>
                    <a:pt x="22168613" y="0"/>
                    <a:pt x="22206331" y="37719"/>
                    <a:pt x="22206331" y="84201"/>
                  </a:cubicBezTo>
                  <a:lnTo>
                    <a:pt x="22206331" y="969010"/>
                  </a:lnTo>
                  <a:cubicBezTo>
                    <a:pt x="22206331" y="1015492"/>
                    <a:pt x="22168613" y="1053211"/>
                    <a:pt x="22122130" y="1053211"/>
                  </a:cubicBezTo>
                  <a:lnTo>
                    <a:pt x="84201" y="1053211"/>
                  </a:lnTo>
                  <a:cubicBezTo>
                    <a:pt x="37719" y="1053211"/>
                    <a:pt x="0" y="1015492"/>
                    <a:pt x="0" y="969010"/>
                  </a:cubicBezTo>
                  <a:close/>
                </a:path>
              </a:pathLst>
            </a:custGeom>
            <a:solidFill>
              <a:srgbClr val="FFF1BF"/>
            </a:solidFill>
            <a:ln w="12700" cap="sq">
              <a:solidFill>
                <a:srgbClr val="FFD23B"/>
              </a:solidFill>
              <a:prstDash val="solid"/>
              <a:miter/>
            </a:ln>
          </p:spPr>
          <p:txBody>
            <a:bodyPr/>
            <a:p/>
          </p:txBody>
        </p:sp>
        <p:sp>
          <p:nvSpPr>
            <p:cNvPr name="TextBox 104" id="104"/>
            <p:cNvSpPr txBox="true"/>
            <p:nvPr/>
          </p:nvSpPr>
          <p:spPr>
            <a:xfrm>
              <a:off x="0" y="-38100"/>
              <a:ext cx="22206369" cy="109134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CLD adalah hasil adaptasi, penyesuaian dengan kondisi DIY, dan evaluasi, bukan salinan model rujukan. Ketersediaan data dipertimbangkan saat model dikuantifikasi.</a:t>
              </a:r>
            </a:p>
          </p:txBody>
        </p:sp>
      </p:grpSp>
      <p:sp>
        <p:nvSpPr>
          <p:cNvPr name="TextBox 105" id="105"/>
          <p:cNvSpPr txBox="true"/>
          <p:nvPr/>
        </p:nvSpPr>
        <p:spPr>
          <a:xfrm rot="0">
            <a:off x="822960" y="9198102"/>
            <a:ext cx="15544800" cy="293370"/>
          </a:xfrm>
          <a:prstGeom prst="rect">
            <a:avLst/>
          </a:prstGeom>
        </p:spPr>
        <p:txBody>
          <a:bodyPr anchor="t" rtlCol="false" tIns="0" lIns="0" bIns="0" rIns="0">
            <a:spAutoFit/>
          </a:bodyPr>
          <a:lstStyle/>
          <a:p>
            <a:pPr algn="l">
              <a:lnSpc>
                <a:spcPts val="1451"/>
              </a:lnSpc>
            </a:pPr>
            <a:r>
              <a:rPr lang="en-US" sz="1209" i="true">
                <a:solidFill>
                  <a:srgbClr val="5E6E78"/>
                </a:solidFill>
                <a:latin typeface="Calibri (MS) Italics"/>
                <a:ea typeface="Calibri (MS) Italics"/>
                <a:cs typeface="Calibri (MS) Italics"/>
                <a:sym typeface="Calibri (MS) Italics"/>
              </a:rPr>
              <a:t>Sumber: Buku Subbab 3.7.2.1–3.7.2.2, Tabel 10–11.</a:t>
            </a:r>
          </a:p>
        </p:txBody>
      </p:sp>
      <p:grpSp>
        <p:nvGrpSpPr>
          <p:cNvPr name="Group 106" id="106"/>
          <p:cNvGrpSpPr/>
          <p:nvPr/>
        </p:nvGrpSpPr>
        <p:grpSpPr>
          <a:xfrm rot="0">
            <a:off x="16047720" y="9646920"/>
            <a:ext cx="420624" cy="420624"/>
            <a:chOff x="0" y="0"/>
            <a:chExt cx="560832" cy="560832"/>
          </a:xfrm>
        </p:grpSpPr>
        <p:sp>
          <p:nvSpPr>
            <p:cNvPr name="Freeform 107" id="107"/>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08" id="108"/>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Hasil Identifikasi dan Evaluasi Variabel CLD</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CLD disusun melalui adaptasi dan evaluasi, bukan menyalin model rujukan</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18</a:t>
            </a:r>
          </a:p>
        </p:txBody>
      </p:sp>
      <p:sp>
        <p:nvSpPr>
          <p:cNvPr name="TextBox 67" id="67"/>
          <p:cNvSpPr txBox="true"/>
          <p:nvPr/>
        </p:nvSpPr>
        <p:spPr>
          <a:xfrm rot="0">
            <a:off x="822960" y="2171700"/>
            <a:ext cx="10149840" cy="571500"/>
          </a:xfrm>
          <a:prstGeom prst="rect">
            <a:avLst/>
          </a:prstGeom>
        </p:spPr>
        <p:txBody>
          <a:bodyPr anchor="t" rtlCol="false" tIns="0" lIns="0" bIns="0" rIns="0">
            <a:spAutoFit/>
          </a:bodyPr>
          <a:lstStyle/>
          <a:p>
            <a:pPr algn="l">
              <a:lnSpc>
                <a:spcPts val="2688"/>
              </a:lnSpc>
            </a:pPr>
            <a:r>
              <a:rPr lang="en-US" sz="2000" b="true">
                <a:solidFill>
                  <a:srgbClr val="0B5E6E"/>
                </a:solidFill>
                <a:latin typeface="Calibri (MS) Bold"/>
                <a:ea typeface="Calibri (MS) Bold"/>
                <a:cs typeface="Calibri (MS) Bold"/>
                <a:sym typeface="Calibri (MS) Bold"/>
              </a:rPr>
              <a:t>Hasil evaluasi kandidat variabel penyusun CLD</a:t>
            </a:r>
          </a:p>
        </p:txBody>
      </p:sp>
      <p:graphicFrame>
        <p:nvGraphicFramePr>
          <p:cNvPr name="Table 68" id="68"/>
          <p:cNvGraphicFramePr>
            <a:graphicFrameLocks noGrp="true"/>
          </p:cNvGraphicFramePr>
          <p:nvPr/>
        </p:nvGraphicFramePr>
        <p:xfrm>
          <a:off x="822960" y="2880360"/>
          <a:ext cx="10121900" cy="4826000"/>
        </p:xfrm>
        <a:graphic>
          <a:graphicData uri="http://schemas.openxmlformats.org/drawingml/2006/table">
            <a:tbl>
              <a:tblPr/>
              <a:tblGrid>
                <a:gridCol w="2462084"/>
                <a:gridCol w="5562486"/>
                <a:gridCol w="2097330"/>
              </a:tblGrid>
              <a:tr h="480948">
                <a:tc>
                  <a:txBody>
                    <a:bodyPr anchor="t" rtlCol="false"/>
                    <a:lstStyle/>
                    <a:p>
                      <a:pPr algn="l">
                        <a:lnSpc>
                          <a:spcPts val="1680"/>
                        </a:lnSpc>
                        <a:defRPr/>
                      </a:pPr>
                      <a:r>
                        <a:rPr lang="en-US" sz="1400" b="true">
                          <a:solidFill>
                            <a:srgbClr val="FFFFFF"/>
                          </a:solidFill>
                          <a:latin typeface="Calibri (MS) Bold"/>
                          <a:ea typeface="Calibri (MS) Bold"/>
                          <a:cs typeface="Calibri (MS) Bold"/>
                          <a:sym typeface="Calibri (MS) Bold"/>
                        </a:rPr>
                        <a:t>Subsistem</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l">
                        <a:lnSpc>
                          <a:spcPts val="1680"/>
                        </a:lnSpc>
                        <a:defRPr/>
                      </a:pPr>
                      <a:r>
                        <a:rPr lang="en-US" sz="1400" b="true">
                          <a:solidFill>
                            <a:srgbClr val="FFFFFF"/>
                          </a:solidFill>
                          <a:latin typeface="Calibri (MS) Bold"/>
                          <a:ea typeface="Calibri (MS) Bold"/>
                          <a:cs typeface="Calibri (MS) Bold"/>
                          <a:sym typeface="Calibri (MS) Bold"/>
                        </a:rPr>
                        <a:t>Kandidat variabel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ctr">
                        <a:lnSpc>
                          <a:spcPts val="1680"/>
                        </a:lnSpc>
                        <a:defRPr/>
                      </a:pPr>
                      <a:r>
                        <a:rPr lang="en-US" sz="1400" b="true">
                          <a:solidFill>
                            <a:srgbClr val="FFFFFF"/>
                          </a:solidFill>
                          <a:latin typeface="Calibri (MS) Bold"/>
                          <a:ea typeface="Calibri (MS) Bold"/>
                          <a:cs typeface="Calibri (MS) Bold"/>
                          <a:sym typeface="Calibri (MS) Bold"/>
                        </a:rPr>
                        <a:t>Status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r>
              <a:tr h="724175">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Permintaan &amp; daya tarik</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Jumlah Wisatawan, Laju Kedatangan, Daya Tarik Destinasi, Kepadatan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680"/>
                        </a:lnSpc>
                        <a:defRPr/>
                      </a:pPr>
                      <a:r>
                        <a:rPr lang="en-US" sz="1400">
                          <a:solidFill>
                            <a:srgbClr val="14313B"/>
                          </a:solidFill>
                          <a:latin typeface="Calibri (MS)"/>
                          <a:ea typeface="Calibri (MS)"/>
                          <a:cs typeface="Calibri (MS)"/>
                          <a:sym typeface="Calibri (MS)"/>
                        </a:rPr>
                        <a:t>Dipertahankan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724175">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Atraksi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Jumlah ODTW</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680"/>
                        </a:lnSpc>
                        <a:defRPr/>
                      </a:pPr>
                      <a:r>
                        <a:rPr lang="en-US" sz="1400">
                          <a:solidFill>
                            <a:srgbClr val="14313B"/>
                          </a:solidFill>
                          <a:latin typeface="Calibri (MS)"/>
                          <a:ea typeface="Calibri (MS)"/>
                          <a:cs typeface="Calibri (MS)"/>
                          <a:sym typeface="Calibri (MS)"/>
                        </a:rPr>
                        <a:t>Dipertahankan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724175">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Ekonomi &amp; investasi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Pengeluaran Wisatawan, PDRB Sektor Pariwisata, Investasi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680"/>
                        </a:lnSpc>
                        <a:defRPr/>
                      </a:pPr>
                      <a:r>
                        <a:rPr lang="en-US" sz="1400">
                          <a:solidFill>
                            <a:srgbClr val="14313B"/>
                          </a:solidFill>
                          <a:latin typeface="Calibri (MS)"/>
                          <a:ea typeface="Calibri (MS)"/>
                          <a:cs typeface="Calibri (MS)"/>
                          <a:sym typeface="Calibri (MS)"/>
                        </a:rPr>
                        <a:t>Dipertahankan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724175">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Akomodasi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Jumlah Hotel &amp; Akomodasi, Rasio Permintaan thd Kapasitas Kamar, Laju Konstruksi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680"/>
                        </a:lnSpc>
                        <a:defRPr/>
                      </a:pPr>
                      <a:r>
                        <a:rPr lang="en-US" sz="1400">
                          <a:solidFill>
                            <a:srgbClr val="14313B"/>
                          </a:solidFill>
                          <a:latin typeface="Calibri (MS)"/>
                          <a:ea typeface="Calibri (MS)"/>
                          <a:cs typeface="Calibri (MS)"/>
                          <a:sym typeface="Calibri (MS)"/>
                        </a:rPr>
                        <a:t>Dipertahankan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724175">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Lahan &amp; daya dukung</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Rasio Daya Dukung Lahan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680"/>
                        </a:lnSpc>
                        <a:defRPr/>
                      </a:pPr>
                      <a:r>
                        <a:rPr lang="en-US" sz="1400">
                          <a:solidFill>
                            <a:srgbClr val="14313B"/>
                          </a:solidFill>
                          <a:latin typeface="Calibri (MS)"/>
                          <a:ea typeface="Calibri (MS)"/>
                          <a:cs typeface="Calibri (MS)"/>
                          <a:sym typeface="Calibri (MS)"/>
                        </a:rPr>
                        <a:t>Dipertahankan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724175">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Tenaga kerja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Tenaga Kerja Pariwisata, Selisih TK Dibutuhkan, Laju Penyerapan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680"/>
                        </a:lnSpc>
                        <a:defRPr/>
                      </a:pPr>
                      <a:r>
                        <a:rPr lang="en-US" sz="1400">
                          <a:solidFill>
                            <a:srgbClr val="14313B"/>
                          </a:solidFill>
                          <a:latin typeface="Calibri (MS)"/>
                          <a:ea typeface="Calibri (MS)"/>
                          <a:cs typeface="Calibri (MS)"/>
                          <a:sym typeface="Calibri (MS)"/>
                        </a:rPr>
                        <a:t>Dipertahankan, peran direvisi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1BF"/>
                    </a:solidFill>
                  </a:tcPr>
                </a:tc>
              </a:tr>
            </a:tbl>
          </a:graphicData>
        </a:graphic>
      </p:graphicFrame>
      <p:sp>
        <p:nvSpPr>
          <p:cNvPr name="TextBox 69" id="69"/>
          <p:cNvSpPr txBox="true"/>
          <p:nvPr/>
        </p:nvSpPr>
        <p:spPr>
          <a:xfrm rot="0">
            <a:off x="822960" y="7905750"/>
            <a:ext cx="10149840" cy="918210"/>
          </a:xfrm>
          <a:prstGeom prst="rect">
            <a:avLst/>
          </a:prstGeom>
        </p:spPr>
        <p:txBody>
          <a:bodyPr anchor="t" rtlCol="false" tIns="0" lIns="0" bIns="0" rIns="0">
            <a:spAutoFit/>
          </a:bodyPr>
          <a:lstStyle/>
          <a:p>
            <a:pPr algn="l">
              <a:lnSpc>
                <a:spcPts val="1881"/>
              </a:lnSpc>
            </a:pPr>
            <a:r>
              <a:rPr lang="en-US" sz="1400">
                <a:solidFill>
                  <a:srgbClr val="5E6E78"/>
                </a:solidFill>
                <a:latin typeface="Calibri (MS)"/>
                <a:ea typeface="Calibri (MS)"/>
                <a:cs typeface="Calibri (MS)"/>
                <a:sym typeface="Calibri (MS)"/>
              </a:rPr>
              <a:t>Dasar evaluasi: regulasi dan dokumen perencanaan (RIPPARDA DIY 2012; Renja Dinas Pariwisata DIY 2025), indikator resmi, karakteristik empiris DIY, dan literatur.</a:t>
            </a:r>
          </a:p>
        </p:txBody>
      </p:sp>
      <p:grpSp>
        <p:nvGrpSpPr>
          <p:cNvPr name="Group 70" id="70"/>
          <p:cNvGrpSpPr/>
          <p:nvPr/>
        </p:nvGrpSpPr>
        <p:grpSpPr>
          <a:xfrm rot="0">
            <a:off x="11384280" y="2395728"/>
            <a:ext cx="6071616" cy="1828800"/>
            <a:chOff x="0" y="0"/>
            <a:chExt cx="8095488" cy="2438400"/>
          </a:xfrm>
        </p:grpSpPr>
        <p:sp>
          <p:nvSpPr>
            <p:cNvPr name="Freeform 71" id="71"/>
            <p:cNvSpPr/>
            <p:nvPr/>
          </p:nvSpPr>
          <p:spPr>
            <a:xfrm flipH="false" flipV="false" rot="0">
              <a:off x="0" y="0"/>
              <a:ext cx="8095488" cy="2438400"/>
            </a:xfrm>
            <a:custGeom>
              <a:avLst/>
              <a:gdLst/>
              <a:ahLst/>
              <a:cxnLst/>
              <a:rect r="r" b="b" t="t" l="l"/>
              <a:pathLst>
                <a:path h="2438400" w="8095488">
                  <a:moveTo>
                    <a:pt x="0" y="170688"/>
                  </a:moveTo>
                  <a:cubicBezTo>
                    <a:pt x="0" y="76454"/>
                    <a:pt x="76454" y="0"/>
                    <a:pt x="170688" y="0"/>
                  </a:cubicBezTo>
                  <a:lnTo>
                    <a:pt x="7924800" y="0"/>
                  </a:lnTo>
                  <a:cubicBezTo>
                    <a:pt x="8019034" y="0"/>
                    <a:pt x="8095488" y="76454"/>
                    <a:pt x="8095488" y="170688"/>
                  </a:cubicBezTo>
                  <a:lnTo>
                    <a:pt x="8095488" y="2267712"/>
                  </a:lnTo>
                  <a:cubicBezTo>
                    <a:pt x="8095488" y="2361946"/>
                    <a:pt x="8019034" y="2438400"/>
                    <a:pt x="7924800" y="2438400"/>
                  </a:cubicBezTo>
                  <a:lnTo>
                    <a:pt x="170688" y="2438400"/>
                  </a:lnTo>
                  <a:cubicBezTo>
                    <a:pt x="76454" y="2438400"/>
                    <a:pt x="0" y="2361946"/>
                    <a:pt x="0" y="2267712"/>
                  </a:cubicBezTo>
                  <a:close/>
                </a:path>
              </a:pathLst>
            </a:custGeom>
            <a:solidFill>
              <a:srgbClr val="EAF8FA"/>
            </a:solidFill>
          </p:spPr>
          <p:txBody>
            <a:bodyPr/>
            <a:p/>
          </p:txBody>
        </p:sp>
      </p:grpSp>
      <p:sp>
        <p:nvSpPr>
          <p:cNvPr name="TextBox 72" id="72"/>
          <p:cNvSpPr txBox="true"/>
          <p:nvPr/>
        </p:nvSpPr>
        <p:spPr>
          <a:xfrm rot="0">
            <a:off x="11658600" y="2274570"/>
            <a:ext cx="5522976" cy="1017270"/>
          </a:xfrm>
          <a:prstGeom prst="rect">
            <a:avLst/>
          </a:prstGeom>
        </p:spPr>
        <p:txBody>
          <a:bodyPr anchor="t" rtlCol="false" tIns="0" lIns="0" bIns="0" rIns="0">
            <a:spAutoFit/>
          </a:bodyPr>
          <a:lstStyle/>
          <a:p>
            <a:pPr algn="l">
              <a:lnSpc>
                <a:spcPts val="5375"/>
              </a:lnSpc>
            </a:pPr>
            <a:r>
              <a:rPr lang="en-US" sz="3999" b="true">
                <a:solidFill>
                  <a:srgbClr val="0B5E6E"/>
                </a:solidFill>
                <a:latin typeface="Calibri (MS) Bold"/>
                <a:ea typeface="Calibri (MS) Bold"/>
                <a:cs typeface="Calibri (MS) Bold"/>
                <a:sym typeface="Calibri (MS) Bold"/>
              </a:rPr>
              <a:t>15</a:t>
            </a:r>
          </a:p>
        </p:txBody>
      </p:sp>
      <p:sp>
        <p:nvSpPr>
          <p:cNvPr name="TextBox 73" id="73"/>
          <p:cNvSpPr txBox="true"/>
          <p:nvPr/>
        </p:nvSpPr>
        <p:spPr>
          <a:xfrm rot="0">
            <a:off x="11658600" y="3100073"/>
            <a:ext cx="5522976" cy="1009650"/>
          </a:xfrm>
          <a:prstGeom prst="rect">
            <a:avLst/>
          </a:prstGeom>
        </p:spPr>
        <p:txBody>
          <a:bodyPr anchor="t" rtlCol="false" tIns="0" lIns="0" bIns="0" rIns="0">
            <a:spAutoFit/>
          </a:bodyPr>
          <a:lstStyle/>
          <a:p>
            <a:pPr algn="l">
              <a:lnSpc>
                <a:spcPts val="2149"/>
              </a:lnSpc>
            </a:pPr>
            <a:r>
              <a:rPr lang="en-US" sz="1599">
                <a:solidFill>
                  <a:srgbClr val="5E6E78"/>
                </a:solidFill>
                <a:latin typeface="Calibri (MS)"/>
                <a:ea typeface="Calibri (MS)"/>
                <a:cs typeface="Calibri (MS)"/>
                <a:sym typeface="Calibri (MS)"/>
              </a:rPr>
              <a:t>kandidat variabel dari 6 subsistem dievaluasi — seluruhnya dipertahankan</a:t>
            </a:r>
          </a:p>
        </p:txBody>
      </p:sp>
      <p:grpSp>
        <p:nvGrpSpPr>
          <p:cNvPr name="Group 74" id="74"/>
          <p:cNvGrpSpPr/>
          <p:nvPr/>
        </p:nvGrpSpPr>
        <p:grpSpPr>
          <a:xfrm rot="0">
            <a:off x="11384280" y="4379976"/>
            <a:ext cx="6071616" cy="1828800"/>
            <a:chOff x="0" y="0"/>
            <a:chExt cx="8095488" cy="2438400"/>
          </a:xfrm>
        </p:grpSpPr>
        <p:sp>
          <p:nvSpPr>
            <p:cNvPr name="Freeform 75" id="75"/>
            <p:cNvSpPr/>
            <p:nvPr/>
          </p:nvSpPr>
          <p:spPr>
            <a:xfrm flipH="false" flipV="false" rot="0">
              <a:off x="0" y="0"/>
              <a:ext cx="8095488" cy="2438400"/>
            </a:xfrm>
            <a:custGeom>
              <a:avLst/>
              <a:gdLst/>
              <a:ahLst/>
              <a:cxnLst/>
              <a:rect r="r" b="b" t="t" l="l"/>
              <a:pathLst>
                <a:path h="2438400" w="8095488">
                  <a:moveTo>
                    <a:pt x="0" y="170688"/>
                  </a:moveTo>
                  <a:cubicBezTo>
                    <a:pt x="0" y="76454"/>
                    <a:pt x="76454" y="0"/>
                    <a:pt x="170688" y="0"/>
                  </a:cubicBezTo>
                  <a:lnTo>
                    <a:pt x="7924800" y="0"/>
                  </a:lnTo>
                  <a:cubicBezTo>
                    <a:pt x="8019034" y="0"/>
                    <a:pt x="8095488" y="76454"/>
                    <a:pt x="8095488" y="170688"/>
                  </a:cubicBezTo>
                  <a:lnTo>
                    <a:pt x="8095488" y="2267712"/>
                  </a:lnTo>
                  <a:cubicBezTo>
                    <a:pt x="8095488" y="2361946"/>
                    <a:pt x="8019034" y="2438400"/>
                    <a:pt x="7924800" y="2438400"/>
                  </a:cubicBezTo>
                  <a:lnTo>
                    <a:pt x="170688" y="2438400"/>
                  </a:lnTo>
                  <a:cubicBezTo>
                    <a:pt x="76454" y="2438400"/>
                    <a:pt x="0" y="2361946"/>
                    <a:pt x="0" y="2267712"/>
                  </a:cubicBezTo>
                  <a:close/>
                </a:path>
              </a:pathLst>
            </a:custGeom>
            <a:solidFill>
              <a:srgbClr val="EAF8FA"/>
            </a:solidFill>
          </p:spPr>
          <p:txBody>
            <a:bodyPr/>
            <a:p/>
          </p:txBody>
        </p:sp>
      </p:grpSp>
      <p:sp>
        <p:nvSpPr>
          <p:cNvPr name="TextBox 76" id="76"/>
          <p:cNvSpPr txBox="true"/>
          <p:nvPr/>
        </p:nvSpPr>
        <p:spPr>
          <a:xfrm rot="0">
            <a:off x="11658600" y="4258818"/>
            <a:ext cx="5522976" cy="1017270"/>
          </a:xfrm>
          <a:prstGeom prst="rect">
            <a:avLst/>
          </a:prstGeom>
        </p:spPr>
        <p:txBody>
          <a:bodyPr anchor="t" rtlCol="false" tIns="0" lIns="0" bIns="0" rIns="0">
            <a:spAutoFit/>
          </a:bodyPr>
          <a:lstStyle/>
          <a:p>
            <a:pPr algn="l">
              <a:lnSpc>
                <a:spcPts val="5375"/>
              </a:lnSpc>
            </a:pPr>
            <a:r>
              <a:rPr lang="en-US" sz="3999" b="true">
                <a:solidFill>
                  <a:srgbClr val="0B5E6E"/>
                </a:solidFill>
                <a:latin typeface="Calibri (MS) Bold"/>
                <a:ea typeface="Calibri (MS) Bold"/>
                <a:cs typeface="Calibri (MS) Bold"/>
                <a:sym typeface="Calibri (MS) Bold"/>
              </a:rPr>
              <a:t>18</a:t>
            </a:r>
          </a:p>
        </p:txBody>
      </p:sp>
      <p:sp>
        <p:nvSpPr>
          <p:cNvPr name="TextBox 77" id="77"/>
          <p:cNvSpPr txBox="true"/>
          <p:nvPr/>
        </p:nvSpPr>
        <p:spPr>
          <a:xfrm rot="0">
            <a:off x="11658600" y="5084321"/>
            <a:ext cx="5522976" cy="1009650"/>
          </a:xfrm>
          <a:prstGeom prst="rect">
            <a:avLst/>
          </a:prstGeom>
        </p:spPr>
        <p:txBody>
          <a:bodyPr anchor="t" rtlCol="false" tIns="0" lIns="0" bIns="0" rIns="0">
            <a:spAutoFit/>
          </a:bodyPr>
          <a:lstStyle/>
          <a:p>
            <a:pPr algn="l">
              <a:lnSpc>
                <a:spcPts val="2149"/>
              </a:lnSpc>
            </a:pPr>
            <a:r>
              <a:rPr lang="en-US" sz="1599">
                <a:solidFill>
                  <a:srgbClr val="5E6E78"/>
                </a:solidFill>
                <a:latin typeface="Calibri (MS)"/>
                <a:ea typeface="Calibri (MS)"/>
                <a:cs typeface="Calibri (MS)"/>
                <a:sym typeface="Calibri (MS)"/>
              </a:rPr>
              <a:t>hubungan kausal dievaluasi: arah, mekanisme, dan dasarnya (literatur pendukung atau definisi dalam model)</a:t>
            </a:r>
          </a:p>
        </p:txBody>
      </p:sp>
      <p:grpSp>
        <p:nvGrpSpPr>
          <p:cNvPr name="Group 78" id="78"/>
          <p:cNvGrpSpPr/>
          <p:nvPr/>
        </p:nvGrpSpPr>
        <p:grpSpPr>
          <a:xfrm rot="0">
            <a:off x="11384280" y="6364224"/>
            <a:ext cx="6071616" cy="1828800"/>
            <a:chOff x="0" y="0"/>
            <a:chExt cx="8095488" cy="2438400"/>
          </a:xfrm>
        </p:grpSpPr>
        <p:sp>
          <p:nvSpPr>
            <p:cNvPr name="Freeform 79" id="79"/>
            <p:cNvSpPr/>
            <p:nvPr/>
          </p:nvSpPr>
          <p:spPr>
            <a:xfrm flipH="false" flipV="false" rot="0">
              <a:off x="0" y="0"/>
              <a:ext cx="8095488" cy="2438400"/>
            </a:xfrm>
            <a:custGeom>
              <a:avLst/>
              <a:gdLst/>
              <a:ahLst/>
              <a:cxnLst/>
              <a:rect r="r" b="b" t="t" l="l"/>
              <a:pathLst>
                <a:path h="2438400" w="8095488">
                  <a:moveTo>
                    <a:pt x="0" y="170688"/>
                  </a:moveTo>
                  <a:cubicBezTo>
                    <a:pt x="0" y="76454"/>
                    <a:pt x="76454" y="0"/>
                    <a:pt x="170688" y="0"/>
                  </a:cubicBezTo>
                  <a:lnTo>
                    <a:pt x="7924800" y="0"/>
                  </a:lnTo>
                  <a:cubicBezTo>
                    <a:pt x="8019034" y="0"/>
                    <a:pt x="8095488" y="76454"/>
                    <a:pt x="8095488" y="170688"/>
                  </a:cubicBezTo>
                  <a:lnTo>
                    <a:pt x="8095488" y="2267712"/>
                  </a:lnTo>
                  <a:cubicBezTo>
                    <a:pt x="8095488" y="2361946"/>
                    <a:pt x="8019034" y="2438400"/>
                    <a:pt x="7924800" y="2438400"/>
                  </a:cubicBezTo>
                  <a:lnTo>
                    <a:pt x="170688" y="2438400"/>
                  </a:lnTo>
                  <a:cubicBezTo>
                    <a:pt x="76454" y="2438400"/>
                    <a:pt x="0" y="2361946"/>
                    <a:pt x="0" y="2267712"/>
                  </a:cubicBezTo>
                  <a:close/>
                </a:path>
              </a:pathLst>
            </a:custGeom>
            <a:solidFill>
              <a:srgbClr val="FFF1BF"/>
            </a:solidFill>
          </p:spPr>
          <p:txBody>
            <a:bodyPr/>
            <a:p/>
          </p:txBody>
        </p:sp>
      </p:grpSp>
      <p:sp>
        <p:nvSpPr>
          <p:cNvPr name="TextBox 80" id="80"/>
          <p:cNvSpPr txBox="true"/>
          <p:nvPr/>
        </p:nvSpPr>
        <p:spPr>
          <a:xfrm rot="0">
            <a:off x="11658600" y="6243066"/>
            <a:ext cx="5522976" cy="1017270"/>
          </a:xfrm>
          <a:prstGeom prst="rect">
            <a:avLst/>
          </a:prstGeom>
        </p:spPr>
        <p:txBody>
          <a:bodyPr anchor="t" rtlCol="false" tIns="0" lIns="0" bIns="0" rIns="0">
            <a:spAutoFit/>
          </a:bodyPr>
          <a:lstStyle/>
          <a:p>
            <a:pPr algn="l">
              <a:lnSpc>
                <a:spcPts val="5375"/>
              </a:lnSpc>
            </a:pPr>
            <a:r>
              <a:rPr lang="en-US" sz="3999" b="true">
                <a:solidFill>
                  <a:srgbClr val="0B5E6E"/>
                </a:solidFill>
                <a:latin typeface="Calibri (MS) Bold"/>
                <a:ea typeface="Calibri (MS) Bold"/>
                <a:cs typeface="Calibri (MS) Bold"/>
                <a:sym typeface="Calibri (MS) Bold"/>
              </a:rPr>
              <a:t>1</a:t>
            </a:r>
          </a:p>
        </p:txBody>
      </p:sp>
      <p:sp>
        <p:nvSpPr>
          <p:cNvPr name="TextBox 81" id="81"/>
          <p:cNvSpPr txBox="true"/>
          <p:nvPr/>
        </p:nvSpPr>
        <p:spPr>
          <a:xfrm rot="0">
            <a:off x="11658600" y="7068569"/>
            <a:ext cx="5522976" cy="1009650"/>
          </a:xfrm>
          <a:prstGeom prst="rect">
            <a:avLst/>
          </a:prstGeom>
        </p:spPr>
        <p:txBody>
          <a:bodyPr anchor="t" rtlCol="false" tIns="0" lIns="0" bIns="0" rIns="0">
            <a:spAutoFit/>
          </a:bodyPr>
          <a:lstStyle/>
          <a:p>
            <a:pPr algn="l">
              <a:lnSpc>
                <a:spcPts val="2149"/>
              </a:lnSpc>
            </a:pPr>
            <a:r>
              <a:rPr lang="en-US" sz="1599">
                <a:solidFill>
                  <a:srgbClr val="5E6E78"/>
                </a:solidFill>
                <a:latin typeface="Calibri (MS)"/>
                <a:ea typeface="Calibri (MS)"/>
                <a:cs typeface="Calibri (MS)"/>
                <a:sym typeface="Calibri (MS)"/>
              </a:rPr>
              <a:t>hubungan dibuang: Tenaga Kerja Pariwisata → pembangunan ODTW (dasar sebab-akibatnya tidak cukup)</a:t>
            </a:r>
          </a:p>
        </p:txBody>
      </p:sp>
      <p:grpSp>
        <p:nvGrpSpPr>
          <p:cNvPr name="Group 82" id="82"/>
          <p:cNvGrpSpPr/>
          <p:nvPr/>
        </p:nvGrpSpPr>
        <p:grpSpPr>
          <a:xfrm rot="0">
            <a:off x="11384280" y="8348472"/>
            <a:ext cx="6071616" cy="886968"/>
            <a:chOff x="0" y="0"/>
            <a:chExt cx="8095488" cy="1182624"/>
          </a:xfrm>
        </p:grpSpPr>
        <p:sp>
          <p:nvSpPr>
            <p:cNvPr name="Freeform 83" id="83"/>
            <p:cNvSpPr/>
            <p:nvPr/>
          </p:nvSpPr>
          <p:spPr>
            <a:xfrm flipH="false" flipV="false" rot="0">
              <a:off x="0" y="0"/>
              <a:ext cx="8095488" cy="1182624"/>
            </a:xfrm>
            <a:custGeom>
              <a:avLst/>
              <a:gdLst/>
              <a:ahLst/>
              <a:cxnLst/>
              <a:rect r="r" b="b" t="t" l="l"/>
              <a:pathLst>
                <a:path h="1182624" w="8095488">
                  <a:moveTo>
                    <a:pt x="0" y="170688"/>
                  </a:moveTo>
                  <a:cubicBezTo>
                    <a:pt x="0" y="76454"/>
                    <a:pt x="76454" y="0"/>
                    <a:pt x="170688" y="0"/>
                  </a:cubicBezTo>
                  <a:lnTo>
                    <a:pt x="7924800" y="0"/>
                  </a:lnTo>
                  <a:cubicBezTo>
                    <a:pt x="8019034" y="0"/>
                    <a:pt x="8095488" y="76454"/>
                    <a:pt x="8095488" y="170688"/>
                  </a:cubicBezTo>
                  <a:lnTo>
                    <a:pt x="8095488" y="1011936"/>
                  </a:lnTo>
                  <a:cubicBezTo>
                    <a:pt x="8095488" y="1106170"/>
                    <a:pt x="8019034" y="1182624"/>
                    <a:pt x="7924800" y="1182624"/>
                  </a:cubicBezTo>
                  <a:lnTo>
                    <a:pt x="170688" y="1182624"/>
                  </a:lnTo>
                  <a:cubicBezTo>
                    <a:pt x="76454" y="1182624"/>
                    <a:pt x="0" y="1106170"/>
                    <a:pt x="0" y="1011936"/>
                  </a:cubicBezTo>
                  <a:close/>
                </a:path>
              </a:pathLst>
            </a:custGeom>
            <a:solidFill>
              <a:srgbClr val="0B5E6E"/>
            </a:solidFill>
          </p:spPr>
          <p:txBody>
            <a:bodyPr/>
            <a:p/>
          </p:txBody>
        </p:sp>
      </p:grpSp>
      <p:grpSp>
        <p:nvGrpSpPr>
          <p:cNvPr name="Group 84" id="84"/>
          <p:cNvGrpSpPr/>
          <p:nvPr/>
        </p:nvGrpSpPr>
        <p:grpSpPr>
          <a:xfrm rot="0">
            <a:off x="11658600" y="8348472"/>
            <a:ext cx="5577840" cy="886968"/>
            <a:chOff x="0" y="0"/>
            <a:chExt cx="7437120" cy="1182624"/>
          </a:xfrm>
        </p:grpSpPr>
        <p:sp>
          <p:nvSpPr>
            <p:cNvPr name="Freeform 85" id="85"/>
            <p:cNvSpPr/>
            <p:nvPr/>
          </p:nvSpPr>
          <p:spPr>
            <a:xfrm flipH="false" flipV="false" rot="0">
              <a:off x="0" y="0"/>
              <a:ext cx="7437120" cy="1182624"/>
            </a:xfrm>
            <a:custGeom>
              <a:avLst/>
              <a:gdLst/>
              <a:ahLst/>
              <a:cxnLst/>
              <a:rect r="r" b="b" t="t" l="l"/>
              <a:pathLst>
                <a:path h="1182624" w="7437120">
                  <a:moveTo>
                    <a:pt x="0" y="0"/>
                  </a:moveTo>
                  <a:lnTo>
                    <a:pt x="7437120" y="0"/>
                  </a:lnTo>
                  <a:lnTo>
                    <a:pt x="7437120" y="1182624"/>
                  </a:lnTo>
                  <a:lnTo>
                    <a:pt x="0" y="1182624"/>
                  </a:lnTo>
                  <a:close/>
                </a:path>
              </a:pathLst>
            </a:custGeom>
            <a:blipFill>
              <a:blip r:embed="rId5">
                <a:alphaModFix amt="0"/>
              </a:blip>
              <a:stretch>
                <a:fillRect l="0" t="-72449" r="0" b="-72449"/>
              </a:stretch>
            </a:blipFill>
          </p:spPr>
          <p:txBody>
            <a:bodyPr/>
            <a:p/>
          </p:txBody>
        </p:sp>
      </p:grpSp>
      <p:grpSp>
        <p:nvGrpSpPr>
          <p:cNvPr name="Group 86" id="86"/>
          <p:cNvGrpSpPr/>
          <p:nvPr/>
        </p:nvGrpSpPr>
        <p:grpSpPr>
          <a:xfrm rot="0">
            <a:off x="11658600" y="8312753"/>
            <a:ext cx="5577840" cy="922687"/>
            <a:chOff x="0" y="0"/>
            <a:chExt cx="7437120" cy="1230249"/>
          </a:xfrm>
        </p:grpSpPr>
        <p:sp>
          <p:nvSpPr>
            <p:cNvPr name="Freeform 87" id="87"/>
            <p:cNvSpPr/>
            <p:nvPr/>
          </p:nvSpPr>
          <p:spPr>
            <a:xfrm flipH="false" flipV="false" rot="0">
              <a:off x="0" y="0"/>
              <a:ext cx="7437120" cy="1230249"/>
            </a:xfrm>
            <a:custGeom>
              <a:avLst/>
              <a:gdLst/>
              <a:ahLst/>
              <a:cxnLst/>
              <a:rect r="r" b="b" t="t" l="l"/>
              <a:pathLst>
                <a:path h="1230249" w="7437120">
                  <a:moveTo>
                    <a:pt x="0" y="0"/>
                  </a:moveTo>
                  <a:lnTo>
                    <a:pt x="7437120" y="0"/>
                  </a:lnTo>
                  <a:lnTo>
                    <a:pt x="7437120" y="1230249"/>
                  </a:lnTo>
                  <a:lnTo>
                    <a:pt x="0" y="1230249"/>
                  </a:lnTo>
                  <a:close/>
                </a:path>
              </a:pathLst>
            </a:custGeom>
            <a:blipFill>
              <a:blip r:embed="rId6">
                <a:alphaModFix amt="0"/>
              </a:blip>
              <a:stretch>
                <a:fillRect l="0" t="-67791" r="0" b="-67791"/>
              </a:stretch>
            </a:blipFill>
          </p:spPr>
          <p:txBody>
            <a:bodyPr/>
            <a:p/>
          </p:txBody>
        </p:sp>
        <p:sp>
          <p:nvSpPr>
            <p:cNvPr name="TextBox 88" id="88"/>
            <p:cNvSpPr txBox="true"/>
            <p:nvPr/>
          </p:nvSpPr>
          <p:spPr>
            <a:xfrm>
              <a:off x="0" y="-47625"/>
              <a:ext cx="7437120" cy="1277874"/>
            </a:xfrm>
            <a:prstGeom prst="rect">
              <a:avLst/>
            </a:prstGeom>
          </p:spPr>
          <p:txBody>
            <a:bodyPr anchor="ctr" rtlCol="false" tIns="0" lIns="0" bIns="0" rIns="0"/>
            <a:lstStyle/>
            <a:p>
              <a:pPr algn="l">
                <a:lnSpc>
                  <a:spcPts val="1881"/>
                </a:lnSpc>
              </a:pPr>
              <a:r>
                <a:rPr lang="en-US" sz="1400">
                  <a:solidFill>
                    <a:srgbClr val="FFFFFF"/>
                  </a:solidFill>
                  <a:latin typeface="Calibri (MS)"/>
                  <a:ea typeface="Calibri (MS)"/>
                  <a:cs typeface="Calibri (MS)"/>
                  <a:sym typeface="Calibri (MS)"/>
                </a:rPr>
                <a:t>Populasi, limbah, dan air (model rujukan) sejak awal di luar batas — bukan kandidat yang ditolak</a:t>
              </a:r>
            </a:p>
          </p:txBody>
        </p:sp>
      </p:grpSp>
      <p:grpSp>
        <p:nvGrpSpPr>
          <p:cNvPr name="Group 89" id="89"/>
          <p:cNvGrpSpPr/>
          <p:nvPr/>
        </p:nvGrpSpPr>
        <p:grpSpPr>
          <a:xfrm rot="0">
            <a:off x="16047720" y="9646920"/>
            <a:ext cx="420624" cy="420624"/>
            <a:chOff x="0" y="0"/>
            <a:chExt cx="560832" cy="560832"/>
          </a:xfrm>
        </p:grpSpPr>
        <p:sp>
          <p:nvSpPr>
            <p:cNvPr name="Freeform 90" id="90"/>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91" id="91"/>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Perumusan dan Evaluasi Hubungan Kausal</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18 hubungan sebab-akibat beserta dasar masing-masing</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19</a:t>
            </a:r>
          </a:p>
        </p:txBody>
      </p:sp>
      <p:graphicFrame>
        <p:nvGraphicFramePr>
          <p:cNvPr name="Table 67" id="67"/>
          <p:cNvGraphicFramePr>
            <a:graphicFrameLocks noGrp="true"/>
          </p:cNvGraphicFramePr>
          <p:nvPr/>
        </p:nvGraphicFramePr>
        <p:xfrm>
          <a:off x="822960" y="2286000"/>
          <a:ext cx="8204200" cy="5588000"/>
        </p:xfrm>
        <a:graphic>
          <a:graphicData uri="http://schemas.openxmlformats.org/drawingml/2006/table">
            <a:tbl>
              <a:tblPr/>
              <a:tblGrid>
                <a:gridCol w="1134624"/>
                <a:gridCol w="3752986"/>
                <a:gridCol w="523672"/>
                <a:gridCol w="2792919"/>
              </a:tblGrid>
              <a:tr h="558800">
                <a:tc>
                  <a:txBody>
                    <a:bodyPr anchor="t" rtlCol="false"/>
                    <a:lstStyle/>
                    <a:p>
                      <a:pPr algn="l">
                        <a:lnSpc>
                          <a:spcPts val="1655"/>
                        </a:lnSpc>
                        <a:defRPr/>
                      </a:pPr>
                      <a:r>
                        <a:rPr lang="en-US" sz="1380" b="true">
                          <a:solidFill>
                            <a:srgbClr val="FFFFFF"/>
                          </a:solidFill>
                          <a:latin typeface="Calibri (MS) Bold"/>
                          <a:ea typeface="Calibri (MS) Bold"/>
                          <a:cs typeface="Calibri (MS) Bold"/>
                          <a:sym typeface="Calibri (MS) Bold"/>
                        </a:rPr>
                        <a:t>Loop</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655"/>
                        </a:lnSpc>
                        <a:defRPr/>
                      </a:pPr>
                      <a:r>
                        <a:rPr lang="en-US" sz="1380" b="true">
                          <a:solidFill>
                            <a:srgbClr val="FFFFFF"/>
                          </a:solidFill>
                          <a:latin typeface="Calibri (MS) Bold"/>
                          <a:ea typeface="Calibri (MS) Bold"/>
                          <a:cs typeface="Calibri (MS) Bold"/>
                          <a:sym typeface="Calibri (MS) Bold"/>
                        </a:rPr>
                        <a:t>Hubungan kausal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655"/>
                        </a:lnSpc>
                        <a:defRPr/>
                      </a:pPr>
                      <a:r>
                        <a:rPr lang="en-US" sz="1380" b="true">
                          <a:solidFill>
                            <a:srgbClr val="FFFFFF"/>
                          </a:solidFill>
                          <a:latin typeface="Calibri (MS) Bold"/>
                          <a:ea typeface="Calibri (MS) Bold"/>
                          <a:cs typeface="Calibri (MS) Bold"/>
                          <a:sym typeface="Calibri (MS) Bold"/>
                        </a:rPr>
                        <a:t>Pol.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655"/>
                        </a:lnSpc>
                        <a:defRPr/>
                      </a:pPr>
                      <a:r>
                        <a:rPr lang="en-US" sz="1380" b="true">
                          <a:solidFill>
                            <a:srgbClr val="FFFFFF"/>
                          </a:solidFill>
                          <a:latin typeface="Calibri (MS) Bold"/>
                          <a:ea typeface="Calibri (MS) Bold"/>
                          <a:cs typeface="Calibri (MS) Bold"/>
                          <a:sym typeface="Calibri (MS) Bold"/>
                        </a:rPr>
                        <a:t>Jenis dasar</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R1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Jumlah Wisatawan → Laju Kedatangan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Struktur pertumbuhan (Sterman; Mai &amp; Smith)</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R1,R2,B1,B2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Daya Tarik Destinasi → Laju Kedatangan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Literatur (Hu &amp; Ritchie; Leiper)</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R2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Jumlah Wisatawan → Pengeluaran Wisatawan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Definisi penjumlahan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R2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Pengeluaran → PDRB Sektor Pariwisata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Literatur TSA (Frechtling; Munjal)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R2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PDRB → Investasi Sektor Pariwisata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Formulasi berbasis data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R2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Investasi → Laju Pembangunan ODTW</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Persamaan stok-aliran; Fatina dkk.</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R2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Jumlah ODTW → Daya Tarik</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Literatur (Leiper; Hu &amp; Ritchie)</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B1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Jumlah Wisatawan → Kepadatan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Definisi dalam model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B1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Kepadatan → Daya Tarik</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Literatur (Saveriades; Mai &amp; Smith)</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bl>
          </a:graphicData>
        </a:graphic>
      </p:graphicFrame>
      <p:graphicFrame>
        <p:nvGraphicFramePr>
          <p:cNvPr name="Table 68" id="68"/>
          <p:cNvGraphicFramePr>
            <a:graphicFrameLocks noGrp="true"/>
          </p:cNvGraphicFramePr>
          <p:nvPr/>
        </p:nvGraphicFramePr>
        <p:xfrm>
          <a:off x="9235440" y="2286000"/>
          <a:ext cx="8204200" cy="5588000"/>
        </p:xfrm>
        <a:graphic>
          <a:graphicData uri="http://schemas.openxmlformats.org/drawingml/2006/table">
            <a:tbl>
              <a:tblPr/>
              <a:tblGrid>
                <a:gridCol w="698230"/>
                <a:gridCol w="4189379"/>
                <a:gridCol w="523672"/>
                <a:gridCol w="2792919"/>
              </a:tblGrid>
              <a:tr h="558800">
                <a:tc>
                  <a:txBody>
                    <a:bodyPr anchor="t" rtlCol="false"/>
                    <a:lstStyle/>
                    <a:p>
                      <a:pPr algn="l">
                        <a:lnSpc>
                          <a:spcPts val="1655"/>
                        </a:lnSpc>
                        <a:defRPr/>
                      </a:pPr>
                      <a:r>
                        <a:rPr lang="en-US" sz="1380" b="true">
                          <a:solidFill>
                            <a:srgbClr val="FFFFFF"/>
                          </a:solidFill>
                          <a:latin typeface="Calibri (MS) Bold"/>
                          <a:ea typeface="Calibri (MS) Bold"/>
                          <a:cs typeface="Calibri (MS) Bold"/>
                          <a:sym typeface="Calibri (MS) Bold"/>
                        </a:rPr>
                        <a:t>Loop</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655"/>
                        </a:lnSpc>
                        <a:defRPr/>
                      </a:pPr>
                      <a:r>
                        <a:rPr lang="en-US" sz="1380" b="true">
                          <a:solidFill>
                            <a:srgbClr val="FFFFFF"/>
                          </a:solidFill>
                          <a:latin typeface="Calibri (MS) Bold"/>
                          <a:ea typeface="Calibri (MS) Bold"/>
                          <a:cs typeface="Calibri (MS) Bold"/>
                          <a:sym typeface="Calibri (MS) Bold"/>
                        </a:rPr>
                        <a:t>Hubungan kausal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655"/>
                        </a:lnSpc>
                        <a:defRPr/>
                      </a:pPr>
                      <a:r>
                        <a:rPr lang="en-US" sz="1380" b="true">
                          <a:solidFill>
                            <a:srgbClr val="FFFFFF"/>
                          </a:solidFill>
                          <a:latin typeface="Calibri (MS) Bold"/>
                          <a:ea typeface="Calibri (MS) Bold"/>
                          <a:cs typeface="Calibri (MS) Bold"/>
                          <a:sym typeface="Calibri (MS) Bold"/>
                        </a:rPr>
                        <a:t>Pol.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655"/>
                        </a:lnSpc>
                        <a:defRPr/>
                      </a:pPr>
                      <a:r>
                        <a:rPr lang="en-US" sz="1380" b="true">
                          <a:solidFill>
                            <a:srgbClr val="FFFFFF"/>
                          </a:solidFill>
                          <a:latin typeface="Calibri (MS) Bold"/>
                          <a:ea typeface="Calibri (MS) Bold"/>
                          <a:cs typeface="Calibri (MS) Bold"/>
                          <a:sym typeface="Calibri (MS) Bold"/>
                        </a:rPr>
                        <a:t>Jenis dasar</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B2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Konstruksi hotel &amp; pembangunan ODTW → Konversi lahan pariwisata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Formulasi model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B2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Konversi lahan pariwisata → Lahan Terbangun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Persamaan stok-aliran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B2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Lahan Terbangun → Rasio Daya Dukung Lahan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Definisi dalam model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B2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Rasio Daya Dukung Lahan → Daya Tarik</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Literatur + definisi model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B3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Jumlah Hotel → Rasio Permintaan thd Kapasitas Kamar</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Definisi kapasitas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B3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Rasio Permintaan → Laju Konstruksi Hotel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Literatur (Wheaton &amp; Rossoff)</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B4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PDRB → Tenaga Kerja Dibutuhkan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Literatur (Munjal; Sánchez López)</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B4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Tenaga Kerja Pariwisata → Selisih TK Dibutuhkan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Definisi penyesuaian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B4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Selisih TK Dibutuhkan → Laju Penyerapan TK</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Struktur goal-seeking</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bl>
          </a:graphicData>
        </a:graphic>
      </p:graphicFrame>
      <p:grpSp>
        <p:nvGrpSpPr>
          <p:cNvPr name="Group 69" id="69"/>
          <p:cNvGrpSpPr/>
          <p:nvPr/>
        </p:nvGrpSpPr>
        <p:grpSpPr>
          <a:xfrm rot="0">
            <a:off x="816607" y="8177527"/>
            <a:ext cx="16654777" cy="927097"/>
            <a:chOff x="0" y="0"/>
            <a:chExt cx="22206369" cy="1236129"/>
          </a:xfrm>
        </p:grpSpPr>
        <p:sp>
          <p:nvSpPr>
            <p:cNvPr name="Freeform 70" id="70"/>
            <p:cNvSpPr/>
            <p:nvPr/>
          </p:nvSpPr>
          <p:spPr>
            <a:xfrm flipH="false" flipV="false" rot="0">
              <a:off x="0" y="0"/>
              <a:ext cx="22206458" cy="1236218"/>
            </a:xfrm>
            <a:custGeom>
              <a:avLst/>
              <a:gdLst/>
              <a:ahLst/>
              <a:cxnLst/>
              <a:rect r="r" b="b" t="t" l="l"/>
              <a:pathLst>
                <a:path h="1236218" w="22206458">
                  <a:moveTo>
                    <a:pt x="0" y="98933"/>
                  </a:moveTo>
                  <a:cubicBezTo>
                    <a:pt x="0" y="44323"/>
                    <a:pt x="44323" y="0"/>
                    <a:pt x="98933" y="0"/>
                  </a:cubicBezTo>
                  <a:lnTo>
                    <a:pt x="22107525" y="0"/>
                  </a:lnTo>
                  <a:cubicBezTo>
                    <a:pt x="22162136" y="0"/>
                    <a:pt x="22206458" y="44323"/>
                    <a:pt x="22206458" y="98933"/>
                  </a:cubicBezTo>
                  <a:lnTo>
                    <a:pt x="22206458" y="1137285"/>
                  </a:lnTo>
                  <a:cubicBezTo>
                    <a:pt x="22206458" y="1191895"/>
                    <a:pt x="22162136" y="1236218"/>
                    <a:pt x="22107525" y="1236218"/>
                  </a:cubicBezTo>
                  <a:lnTo>
                    <a:pt x="98933" y="1236218"/>
                  </a:lnTo>
                  <a:cubicBezTo>
                    <a:pt x="44323" y="1236091"/>
                    <a:pt x="0" y="1191895"/>
                    <a:pt x="0" y="1137285"/>
                  </a:cubicBezTo>
                  <a:close/>
                </a:path>
              </a:pathLst>
            </a:custGeom>
            <a:solidFill>
              <a:srgbClr val="FFF1BF"/>
            </a:solidFill>
            <a:ln w="12700" cap="sq">
              <a:solidFill>
                <a:srgbClr val="FFD23B"/>
              </a:solidFill>
              <a:prstDash val="solid"/>
              <a:miter/>
            </a:ln>
          </p:spPr>
          <p:txBody>
            <a:bodyPr/>
            <a:p/>
          </p:txBody>
        </p:sp>
        <p:sp>
          <p:nvSpPr>
            <p:cNvPr name="TextBox 71" id="71"/>
            <p:cNvSpPr txBox="true"/>
            <p:nvPr/>
          </p:nvSpPr>
          <p:spPr>
            <a:xfrm>
              <a:off x="0" y="-38100"/>
              <a:ext cx="22206369" cy="127422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Setiap panah terlacak ke mekanisme dan sumber; dukungan konseptual tidak dipakai sebagai dasar nilai parameter. Hubungan TK → pembangunan ODTW tidak dipertahankan.</a:t>
              </a:r>
            </a:p>
          </p:txBody>
        </p:sp>
      </p:grpSp>
      <p:sp>
        <p:nvSpPr>
          <p:cNvPr name="TextBox 72" id="72"/>
          <p:cNvSpPr txBox="true"/>
          <p:nvPr/>
        </p:nvSpPr>
        <p:spPr>
          <a:xfrm rot="0">
            <a:off x="822960" y="9198102"/>
            <a:ext cx="15544800" cy="293370"/>
          </a:xfrm>
          <a:prstGeom prst="rect">
            <a:avLst/>
          </a:prstGeom>
        </p:spPr>
        <p:txBody>
          <a:bodyPr anchor="t" rtlCol="false" tIns="0" lIns="0" bIns="0" rIns="0">
            <a:spAutoFit/>
          </a:bodyPr>
          <a:lstStyle/>
          <a:p>
            <a:pPr algn="l">
              <a:lnSpc>
                <a:spcPts val="1451"/>
              </a:lnSpc>
            </a:pPr>
            <a:r>
              <a:rPr lang="en-US" sz="1209" i="true">
                <a:solidFill>
                  <a:srgbClr val="5E6E78"/>
                </a:solidFill>
                <a:latin typeface="Calibri (MS) Italics"/>
                <a:ea typeface="Calibri (MS) Italics"/>
                <a:cs typeface="Calibri (MS) Italics"/>
                <a:sym typeface="Calibri (MS) Italics"/>
              </a:rPr>
              <a:t>Sumber: Buku Subbab 4.1.3, Tabel 25 (versi lengkap dengan mekanisme di buku).</a:t>
            </a:r>
          </a:p>
        </p:txBody>
      </p:sp>
      <p:grpSp>
        <p:nvGrpSpPr>
          <p:cNvPr name="Group 73" id="73"/>
          <p:cNvGrpSpPr/>
          <p:nvPr/>
        </p:nvGrpSpPr>
        <p:grpSpPr>
          <a:xfrm rot="0">
            <a:off x="16047720" y="9646920"/>
            <a:ext cx="420624" cy="420624"/>
            <a:chOff x="0" y="0"/>
            <a:chExt cx="560832" cy="560832"/>
          </a:xfrm>
        </p:grpSpPr>
        <p:sp>
          <p:nvSpPr>
            <p:cNvPr name="Freeform 74" id="74"/>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75" id="75"/>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Causal Loop Diagram dan Feedback Loop</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CLD akhir memiliki dua reinforcing loop dan empat balancing loop</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20</a:t>
            </a:r>
          </a:p>
        </p:txBody>
      </p:sp>
      <p:grpSp>
        <p:nvGrpSpPr>
          <p:cNvPr name="Group 67" id="67"/>
          <p:cNvGrpSpPr/>
          <p:nvPr/>
        </p:nvGrpSpPr>
        <p:grpSpPr>
          <a:xfrm rot="0">
            <a:off x="822960" y="2663466"/>
            <a:ext cx="6949440" cy="5142957"/>
            <a:chOff x="0" y="0"/>
            <a:chExt cx="9265920" cy="6857276"/>
          </a:xfrm>
        </p:grpSpPr>
        <p:sp>
          <p:nvSpPr>
            <p:cNvPr name="Freeform 68" id="68" descr="image11.png"/>
            <p:cNvSpPr/>
            <p:nvPr/>
          </p:nvSpPr>
          <p:spPr>
            <a:xfrm flipH="false" flipV="false" rot="0">
              <a:off x="0" y="0"/>
              <a:ext cx="9265920" cy="6857238"/>
            </a:xfrm>
            <a:custGeom>
              <a:avLst/>
              <a:gdLst/>
              <a:ahLst/>
              <a:cxnLst/>
              <a:rect r="r" b="b" t="t" l="l"/>
              <a:pathLst>
                <a:path h="6857238" w="9265920">
                  <a:moveTo>
                    <a:pt x="0" y="0"/>
                  </a:moveTo>
                  <a:lnTo>
                    <a:pt x="9265920" y="0"/>
                  </a:lnTo>
                  <a:lnTo>
                    <a:pt x="9265920" y="6857238"/>
                  </a:lnTo>
                  <a:lnTo>
                    <a:pt x="0" y="6857238"/>
                  </a:lnTo>
                  <a:lnTo>
                    <a:pt x="0" y="0"/>
                  </a:lnTo>
                  <a:close/>
                </a:path>
              </a:pathLst>
            </a:custGeom>
            <a:blipFill>
              <a:blip r:embed="rId7"/>
              <a:stretch>
                <a:fillRect l="0" t="0" r="0" b="0"/>
              </a:stretch>
            </a:blipFill>
          </p:spPr>
          <p:txBody>
            <a:bodyPr/>
            <a:p/>
          </p:txBody>
        </p:sp>
      </p:grpSp>
      <p:graphicFrame>
        <p:nvGraphicFramePr>
          <p:cNvPr name="Table 69" id="69"/>
          <p:cNvGraphicFramePr>
            <a:graphicFrameLocks noGrp="true"/>
          </p:cNvGraphicFramePr>
          <p:nvPr/>
        </p:nvGraphicFramePr>
        <p:xfrm>
          <a:off x="8046720" y="2240280"/>
          <a:ext cx="9398000" cy="5867400"/>
        </p:xfrm>
        <a:graphic>
          <a:graphicData uri="http://schemas.openxmlformats.org/drawingml/2006/table">
            <a:tbl>
              <a:tblPr/>
              <a:tblGrid>
                <a:gridCol w="821184"/>
                <a:gridCol w="1551126"/>
                <a:gridCol w="4197165"/>
                <a:gridCol w="2828524"/>
              </a:tblGrid>
              <a:tr h="838200">
                <a:tc>
                  <a:txBody>
                    <a:bodyPr anchor="t" rtlCol="false"/>
                    <a:lstStyle/>
                    <a:p>
                      <a:pPr algn="l">
                        <a:lnSpc>
                          <a:spcPts val="1788"/>
                        </a:lnSpc>
                        <a:defRPr/>
                      </a:pPr>
                      <a:r>
                        <a:rPr lang="en-US" sz="1490" b="true">
                          <a:solidFill>
                            <a:srgbClr val="FFFFFF"/>
                          </a:solidFill>
                          <a:latin typeface="Calibri (MS) Bold"/>
                          <a:ea typeface="Calibri (MS) Bold"/>
                          <a:cs typeface="Calibri (MS) Bold"/>
                          <a:sym typeface="Calibri (MS) Bold"/>
                        </a:rPr>
                        <a:t>Loop</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88"/>
                        </a:lnSpc>
                        <a:defRPr/>
                      </a:pPr>
                      <a:r>
                        <a:rPr lang="en-US" sz="1490" b="true">
                          <a:solidFill>
                            <a:srgbClr val="FFFFFF"/>
                          </a:solidFill>
                          <a:latin typeface="Calibri (MS) Bold"/>
                          <a:ea typeface="Calibri (MS) Bold"/>
                          <a:cs typeface="Calibri (MS) Bold"/>
                          <a:sym typeface="Calibri (MS) Bold"/>
                        </a:rPr>
                        <a:t>Jenis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88"/>
                        </a:lnSpc>
                        <a:defRPr/>
                      </a:pPr>
                      <a:r>
                        <a:rPr lang="en-US" sz="1490" b="true">
                          <a:solidFill>
                            <a:srgbClr val="FFFFFF"/>
                          </a:solidFill>
                          <a:latin typeface="Calibri (MS) Bold"/>
                          <a:ea typeface="Calibri (MS) Bold"/>
                          <a:cs typeface="Calibri (MS) Bold"/>
                          <a:sym typeface="Calibri (MS) Bold"/>
                        </a:rPr>
                        <a:t>Rantai kausal ringkas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88"/>
                        </a:lnSpc>
                        <a:defRPr/>
                      </a:pPr>
                      <a:r>
                        <a:rPr lang="en-US" sz="1490" b="true">
                          <a:solidFill>
                            <a:srgbClr val="FFFFFF"/>
                          </a:solidFill>
                          <a:latin typeface="Calibri (MS) Bold"/>
                          <a:ea typeface="Calibri (MS) Bold"/>
                          <a:cs typeface="Calibri (MS) Bold"/>
                          <a:sym typeface="Calibri (MS) Bold"/>
                        </a:rPr>
                        <a:t>Peran dalam model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r>
              <a:tr h="838200">
                <a:tc>
                  <a:txBody>
                    <a:bodyPr anchor="t" rtlCol="false"/>
                    <a:lstStyle/>
                    <a:p>
                      <a:pPr algn="l">
                        <a:lnSpc>
                          <a:spcPts val="1788"/>
                        </a:lnSpc>
                        <a:defRPr/>
                      </a:pPr>
                      <a:r>
                        <a:rPr lang="en-US" sz="1490" b="true">
                          <a:solidFill>
                            <a:srgbClr val="14313B"/>
                          </a:solidFill>
                          <a:latin typeface="Calibri (MS) Bold"/>
                          <a:ea typeface="Calibri (MS) Bold"/>
                          <a:cs typeface="Calibri (MS) Bold"/>
                          <a:sym typeface="Calibri (MS) Bold"/>
                        </a:rPr>
                        <a:t>R1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BDEFF3"/>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Reinforcing</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BDEFF3"/>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Wisatawan (+) → Laju Kedatangan (+) → Wisatawan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Pertumbuhan kunjungan bersifat akumulatif</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838200">
                <a:tc>
                  <a:txBody>
                    <a:bodyPr anchor="t" rtlCol="false"/>
                    <a:lstStyle/>
                    <a:p>
                      <a:pPr algn="l">
                        <a:lnSpc>
                          <a:spcPts val="1788"/>
                        </a:lnSpc>
                        <a:defRPr/>
                      </a:pPr>
                      <a:r>
                        <a:rPr lang="en-US" sz="1490" b="true">
                          <a:solidFill>
                            <a:srgbClr val="14313B"/>
                          </a:solidFill>
                          <a:latin typeface="Calibri (MS) Bold"/>
                          <a:ea typeface="Calibri (MS) Bold"/>
                          <a:cs typeface="Calibri (MS) Bold"/>
                          <a:sym typeface="Calibri (MS) Bold"/>
                        </a:rPr>
                        <a:t>R2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BDEFF3"/>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Reinforcing</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BDEFF3"/>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Wisatawan → Pengeluaran → PDRB → Investasi → Pembangunan ODTW → ODTW → Daya Tarik → Kedatangan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Jalur ekonomi–atraksi; tempat Insentif Kebijakan bekerja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838200">
                <a:tc>
                  <a:txBody>
                    <a:bodyPr anchor="t" rtlCol="false"/>
                    <a:lstStyle/>
                    <a:p>
                      <a:pPr algn="l">
                        <a:lnSpc>
                          <a:spcPts val="1788"/>
                        </a:lnSpc>
                        <a:defRPr/>
                      </a:pPr>
                      <a:r>
                        <a:rPr lang="en-US" sz="1490" b="true">
                          <a:solidFill>
                            <a:srgbClr val="14313B"/>
                          </a:solidFill>
                          <a:latin typeface="Calibri (MS) Bold"/>
                          <a:ea typeface="Calibri (MS) Bold"/>
                          <a:cs typeface="Calibri (MS) Bold"/>
                          <a:sym typeface="Calibri (MS) Bold"/>
                        </a:rPr>
                        <a:t>B1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1B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Balancing</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1B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Wisatawan (+) → Kepadatan (−) → Daya Tarik → Kedatangan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Pembatas kepadatan (crowding)</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838200">
                <a:tc>
                  <a:txBody>
                    <a:bodyPr anchor="t" rtlCol="false"/>
                    <a:lstStyle/>
                    <a:p>
                      <a:pPr algn="l">
                        <a:lnSpc>
                          <a:spcPts val="1788"/>
                        </a:lnSpc>
                        <a:defRPr/>
                      </a:pPr>
                      <a:r>
                        <a:rPr lang="en-US" sz="1490" b="true">
                          <a:solidFill>
                            <a:srgbClr val="14313B"/>
                          </a:solidFill>
                          <a:latin typeface="Calibri (MS) Bold"/>
                          <a:ea typeface="Calibri (MS) Bold"/>
                          <a:cs typeface="Calibri (MS) Bold"/>
                          <a:sym typeface="Calibri (MS) Bold"/>
                        </a:rPr>
                        <a:t>B2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1B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Balancing</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1B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Konstruksi hotel &amp; ODTW (+) → Konversi lahan → Lahan Terbangun (−) → RDDL (+) → Daya Tarik</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Pembatas daya dukung lahan; tempat Konservasi Lahan bekerja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838200">
                <a:tc>
                  <a:txBody>
                    <a:bodyPr anchor="t" rtlCol="false"/>
                    <a:lstStyle/>
                    <a:p>
                      <a:pPr algn="l">
                        <a:lnSpc>
                          <a:spcPts val="1788"/>
                        </a:lnSpc>
                        <a:defRPr/>
                      </a:pPr>
                      <a:r>
                        <a:rPr lang="en-US" sz="1490" b="true">
                          <a:solidFill>
                            <a:srgbClr val="14313B"/>
                          </a:solidFill>
                          <a:latin typeface="Calibri (MS) Bold"/>
                          <a:ea typeface="Calibri (MS) Bold"/>
                          <a:cs typeface="Calibri (MS) Bold"/>
                          <a:sym typeface="Calibri (MS) Bold"/>
                        </a:rPr>
                        <a:t>B3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1B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Balancing</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1B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Hotel (−) → Rasio Permintaan thd Kapasitas Kamar (+) → Laju Konstruksi → Hotel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Penyesuaian kapasitas akomodasi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838200">
                <a:tc>
                  <a:txBody>
                    <a:bodyPr anchor="t" rtlCol="false"/>
                    <a:lstStyle/>
                    <a:p>
                      <a:pPr algn="l">
                        <a:lnSpc>
                          <a:spcPts val="1788"/>
                        </a:lnSpc>
                        <a:defRPr/>
                      </a:pPr>
                      <a:r>
                        <a:rPr lang="en-US" sz="1490" b="true">
                          <a:solidFill>
                            <a:srgbClr val="14313B"/>
                          </a:solidFill>
                          <a:latin typeface="Calibri (MS) Bold"/>
                          <a:ea typeface="Calibri (MS) Bold"/>
                          <a:cs typeface="Calibri (MS) Bold"/>
                          <a:sym typeface="Calibri (MS) Bold"/>
                        </a:rPr>
                        <a:t>B4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1B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Balancing</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1B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TK Pariwisata (−) → Selisih TK Dibutuhkan (+) → Laju Penyerapan → TK</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Goal-seeking tenaga kerja; loop lokal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bl>
          </a:graphicData>
        </a:graphic>
      </p:graphicFrame>
      <p:grpSp>
        <p:nvGrpSpPr>
          <p:cNvPr name="Group 70" id="70"/>
          <p:cNvGrpSpPr/>
          <p:nvPr/>
        </p:nvGrpSpPr>
        <p:grpSpPr>
          <a:xfrm rot="0">
            <a:off x="816607" y="8360407"/>
            <a:ext cx="16654777" cy="835657"/>
            <a:chOff x="0" y="0"/>
            <a:chExt cx="22206369" cy="1114209"/>
          </a:xfrm>
        </p:grpSpPr>
        <p:sp>
          <p:nvSpPr>
            <p:cNvPr name="Freeform 71" id="71"/>
            <p:cNvSpPr/>
            <p:nvPr/>
          </p:nvSpPr>
          <p:spPr>
            <a:xfrm flipH="false" flipV="false" rot="0">
              <a:off x="0" y="0"/>
              <a:ext cx="22206458" cy="1114298"/>
            </a:xfrm>
            <a:custGeom>
              <a:avLst/>
              <a:gdLst/>
              <a:ahLst/>
              <a:cxnLst/>
              <a:rect r="r" b="b" t="t" l="l"/>
              <a:pathLst>
                <a:path h="1114298" w="22206458">
                  <a:moveTo>
                    <a:pt x="0" y="89154"/>
                  </a:moveTo>
                  <a:cubicBezTo>
                    <a:pt x="0" y="39878"/>
                    <a:pt x="39878" y="0"/>
                    <a:pt x="89154" y="0"/>
                  </a:cubicBezTo>
                  <a:lnTo>
                    <a:pt x="22117304" y="0"/>
                  </a:lnTo>
                  <a:cubicBezTo>
                    <a:pt x="22166580" y="0"/>
                    <a:pt x="22206458" y="39878"/>
                    <a:pt x="22206458" y="89154"/>
                  </a:cubicBezTo>
                  <a:lnTo>
                    <a:pt x="22206458" y="1025144"/>
                  </a:lnTo>
                  <a:cubicBezTo>
                    <a:pt x="22206458" y="1074420"/>
                    <a:pt x="22166580" y="1114298"/>
                    <a:pt x="22117304" y="1114298"/>
                  </a:cubicBezTo>
                  <a:lnTo>
                    <a:pt x="89154" y="1114298"/>
                  </a:lnTo>
                  <a:cubicBezTo>
                    <a:pt x="39878" y="1114171"/>
                    <a:pt x="0" y="1074293"/>
                    <a:pt x="0" y="1025017"/>
                  </a:cubicBezTo>
                  <a:close/>
                </a:path>
              </a:pathLst>
            </a:custGeom>
            <a:solidFill>
              <a:srgbClr val="FFF1BF"/>
            </a:solidFill>
            <a:ln w="12700" cap="sq">
              <a:solidFill>
                <a:srgbClr val="FFD23B"/>
              </a:solidFill>
              <a:prstDash val="solid"/>
              <a:miter/>
            </a:ln>
          </p:spPr>
          <p:txBody>
            <a:bodyPr/>
            <a:p/>
          </p:txBody>
        </p:sp>
        <p:sp>
          <p:nvSpPr>
            <p:cNvPr name="TextBox 72" id="72"/>
            <p:cNvSpPr txBox="true"/>
            <p:nvPr/>
          </p:nvSpPr>
          <p:spPr>
            <a:xfrm>
              <a:off x="0" y="-38100"/>
              <a:ext cx="22206369" cy="115230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Pertumbuhan didorong R1–R2 dan ditahan B1–B2. Dua variabel kebijakan bekerja di R2 (insentif) dan B2 (konservasi). Hubungan TK → pembangunan ODTW tidak dipakai.</a:t>
              </a:r>
            </a:p>
          </p:txBody>
        </p:sp>
      </p:grpSp>
      <p:sp>
        <p:nvSpPr>
          <p:cNvPr name="TextBox 73" id="73"/>
          <p:cNvSpPr txBox="true"/>
          <p:nvPr/>
        </p:nvSpPr>
        <p:spPr>
          <a:xfrm rot="0">
            <a:off x="822960" y="9234678"/>
            <a:ext cx="15544800" cy="293370"/>
          </a:xfrm>
          <a:prstGeom prst="rect">
            <a:avLst/>
          </a:prstGeom>
        </p:spPr>
        <p:txBody>
          <a:bodyPr anchor="t" rtlCol="false" tIns="0" lIns="0" bIns="0" rIns="0">
            <a:spAutoFit/>
          </a:bodyPr>
          <a:lstStyle/>
          <a:p>
            <a:pPr algn="l">
              <a:lnSpc>
                <a:spcPts val="1451"/>
              </a:lnSpc>
            </a:pPr>
            <a:r>
              <a:rPr lang="en-US" sz="1209" i="true">
                <a:solidFill>
                  <a:srgbClr val="5E6E78"/>
                </a:solidFill>
                <a:latin typeface="Calibri (MS) Italics"/>
                <a:ea typeface="Calibri (MS) Italics"/>
                <a:cs typeface="Calibri (MS) Italics"/>
                <a:sym typeface="Calibri (MS) Italics"/>
              </a:rPr>
              <a:t>Sumber: Buku Subbab 4.1.3, Tabel 26, Gambar CLD.</a:t>
            </a:r>
          </a:p>
        </p:txBody>
      </p:sp>
      <p:grpSp>
        <p:nvGrpSpPr>
          <p:cNvPr name="Group 74" id="74"/>
          <p:cNvGrpSpPr/>
          <p:nvPr/>
        </p:nvGrpSpPr>
        <p:grpSpPr>
          <a:xfrm rot="0">
            <a:off x="16047720" y="9646920"/>
            <a:ext cx="420624" cy="420624"/>
            <a:chOff x="0" y="0"/>
            <a:chExt cx="560832" cy="560832"/>
          </a:xfrm>
        </p:grpSpPr>
        <p:sp>
          <p:nvSpPr>
            <p:cNvPr name="Freeform 75" id="75"/>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76" id="76"/>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Penetapan Batas Model</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Batas model menentukan sejauh mana hasil boleh ditafsirkan</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21</a:t>
            </a:r>
          </a:p>
        </p:txBody>
      </p:sp>
      <p:grpSp>
        <p:nvGrpSpPr>
          <p:cNvPr name="Group 67" id="67"/>
          <p:cNvGrpSpPr/>
          <p:nvPr/>
        </p:nvGrpSpPr>
        <p:grpSpPr>
          <a:xfrm rot="0">
            <a:off x="822960" y="2286000"/>
            <a:ext cx="5394960" cy="640080"/>
            <a:chOff x="0" y="0"/>
            <a:chExt cx="7193280" cy="853440"/>
          </a:xfrm>
        </p:grpSpPr>
        <p:sp>
          <p:nvSpPr>
            <p:cNvPr name="Freeform 68" id="68"/>
            <p:cNvSpPr/>
            <p:nvPr/>
          </p:nvSpPr>
          <p:spPr>
            <a:xfrm flipH="false" flipV="false" rot="0">
              <a:off x="0" y="0"/>
              <a:ext cx="7193280" cy="853440"/>
            </a:xfrm>
            <a:custGeom>
              <a:avLst/>
              <a:gdLst/>
              <a:ahLst/>
              <a:cxnLst/>
              <a:rect r="r" b="b" t="t" l="l"/>
              <a:pathLst>
                <a:path h="853440" w="7193280">
                  <a:moveTo>
                    <a:pt x="0" y="68326"/>
                  </a:moveTo>
                  <a:cubicBezTo>
                    <a:pt x="0" y="30607"/>
                    <a:pt x="30607" y="0"/>
                    <a:pt x="68326" y="0"/>
                  </a:cubicBezTo>
                  <a:lnTo>
                    <a:pt x="7124954" y="0"/>
                  </a:lnTo>
                  <a:cubicBezTo>
                    <a:pt x="7162673" y="0"/>
                    <a:pt x="7193280" y="30607"/>
                    <a:pt x="7193280" y="68326"/>
                  </a:cubicBezTo>
                  <a:lnTo>
                    <a:pt x="7193280" y="785114"/>
                  </a:lnTo>
                  <a:cubicBezTo>
                    <a:pt x="7193280" y="822833"/>
                    <a:pt x="7162673" y="853440"/>
                    <a:pt x="7124954" y="853440"/>
                  </a:cubicBezTo>
                  <a:lnTo>
                    <a:pt x="68326" y="853440"/>
                  </a:lnTo>
                  <a:cubicBezTo>
                    <a:pt x="30607" y="853440"/>
                    <a:pt x="0" y="822833"/>
                    <a:pt x="0" y="785114"/>
                  </a:cubicBezTo>
                  <a:close/>
                </a:path>
              </a:pathLst>
            </a:custGeom>
            <a:solidFill>
              <a:srgbClr val="0B5E6E"/>
            </a:solidFill>
          </p:spPr>
          <p:txBody>
            <a:bodyPr/>
            <a:p/>
          </p:txBody>
        </p:sp>
        <p:sp>
          <p:nvSpPr>
            <p:cNvPr name="TextBox 69" id="69"/>
            <p:cNvSpPr txBox="true"/>
            <p:nvPr/>
          </p:nvSpPr>
          <p:spPr>
            <a:xfrm>
              <a:off x="0" y="-38100"/>
              <a:ext cx="7193280" cy="891540"/>
            </a:xfrm>
            <a:prstGeom prst="rect">
              <a:avLst/>
            </a:prstGeom>
          </p:spPr>
          <p:txBody>
            <a:bodyPr anchor="ctr" rtlCol="false" tIns="50800" lIns="50800" bIns="50800" rIns="50800"/>
            <a:lstStyle/>
            <a:p>
              <a:pPr algn="l">
                <a:lnSpc>
                  <a:spcPts val="2484"/>
                </a:lnSpc>
              </a:pPr>
              <a:r>
                <a:rPr lang="en-US" sz="2070" b="true">
                  <a:solidFill>
                    <a:srgbClr val="FFFFFF"/>
                  </a:solidFill>
                  <a:latin typeface="Calibri (MS) Bold"/>
                  <a:ea typeface="Calibri (MS) Bold"/>
                  <a:cs typeface="Calibri (MS) Bold"/>
                  <a:sym typeface="Calibri (MS) Bold"/>
                </a:rPr>
                <a:t>Dihitung di dalam model · 26 variabel</a:t>
              </a:r>
            </a:p>
          </p:txBody>
        </p:sp>
      </p:grpSp>
      <p:grpSp>
        <p:nvGrpSpPr>
          <p:cNvPr name="Group 70" id="70"/>
          <p:cNvGrpSpPr/>
          <p:nvPr/>
        </p:nvGrpSpPr>
        <p:grpSpPr>
          <a:xfrm rot="0">
            <a:off x="816607" y="3011167"/>
            <a:ext cx="5407657" cy="4493257"/>
            <a:chOff x="0" y="0"/>
            <a:chExt cx="7210209" cy="5991009"/>
          </a:xfrm>
        </p:grpSpPr>
        <p:sp>
          <p:nvSpPr>
            <p:cNvPr name="Freeform 71" id="71"/>
            <p:cNvSpPr/>
            <p:nvPr/>
          </p:nvSpPr>
          <p:spPr>
            <a:xfrm flipH="false" flipV="false" rot="0">
              <a:off x="0" y="0"/>
              <a:ext cx="7210171" cy="5990971"/>
            </a:xfrm>
            <a:custGeom>
              <a:avLst/>
              <a:gdLst/>
              <a:ahLst/>
              <a:cxnLst/>
              <a:rect r="r" b="b" t="t" l="l"/>
              <a:pathLst>
                <a:path h="5990971" w="7210171">
                  <a:moveTo>
                    <a:pt x="0" y="479298"/>
                  </a:moveTo>
                  <a:cubicBezTo>
                    <a:pt x="0" y="214630"/>
                    <a:pt x="214630" y="0"/>
                    <a:pt x="479298" y="0"/>
                  </a:cubicBezTo>
                  <a:lnTo>
                    <a:pt x="6730873" y="0"/>
                  </a:lnTo>
                  <a:cubicBezTo>
                    <a:pt x="6995541" y="0"/>
                    <a:pt x="7210171" y="214630"/>
                    <a:pt x="7210171" y="479298"/>
                  </a:cubicBezTo>
                  <a:lnTo>
                    <a:pt x="7210171" y="5511673"/>
                  </a:lnTo>
                  <a:cubicBezTo>
                    <a:pt x="7210171" y="5776341"/>
                    <a:pt x="6995541" y="5990971"/>
                    <a:pt x="6730873" y="5990971"/>
                  </a:cubicBezTo>
                  <a:lnTo>
                    <a:pt x="479298" y="5990971"/>
                  </a:lnTo>
                  <a:cubicBezTo>
                    <a:pt x="214630" y="5990971"/>
                    <a:pt x="0" y="5776468"/>
                    <a:pt x="0" y="5511673"/>
                  </a:cubicBezTo>
                  <a:close/>
                </a:path>
              </a:pathLst>
            </a:custGeom>
            <a:solidFill>
              <a:srgbClr val="EAF8FA"/>
            </a:solidFill>
            <a:ln w="12700" cap="sq">
              <a:solidFill>
                <a:srgbClr val="CFE5E9"/>
              </a:solidFill>
              <a:prstDash val="solid"/>
              <a:miter/>
            </a:ln>
          </p:spPr>
          <p:txBody>
            <a:bodyPr/>
            <a:p/>
          </p:txBody>
        </p:sp>
        <p:sp>
          <p:nvSpPr>
            <p:cNvPr name="TextBox 72" id="72"/>
            <p:cNvSpPr txBox="true"/>
            <p:nvPr/>
          </p:nvSpPr>
          <p:spPr>
            <a:xfrm>
              <a:off x="0" y="-38100"/>
              <a:ext cx="7210209" cy="6029109"/>
            </a:xfrm>
            <a:prstGeom prst="rect">
              <a:avLst/>
            </a:prstGeom>
          </p:spPr>
          <p:txBody>
            <a:bodyPr anchor="t" rtlCol="false" tIns="50800" lIns="50800" bIns="50800" rIns="50800"/>
            <a:lstStyle/>
            <a:p>
              <a:pPr algn="l">
                <a:lnSpc>
                  <a:spcPts val="2004"/>
                </a:lnSpc>
              </a:pPr>
              <a:r>
                <a:rPr lang="en-US" sz="1670">
                  <a:solidFill>
                    <a:srgbClr val="14313B"/>
                  </a:solidFill>
                  <a:latin typeface="Calibri (MS)"/>
                  <a:ea typeface="Calibri (MS)"/>
                  <a:cs typeface="Calibri (MS)"/>
                  <a:sym typeface="Calibri (MS)"/>
                </a:rPr>
                <a:t>• Wisatawan, kedatangan, penurunan</a:t>
              </a:r>
            </a:p>
            <a:p>
              <a:pPr algn="l">
                <a:lnSpc>
                  <a:spcPts val="2004"/>
                </a:lnSpc>
              </a:pPr>
              <a:r>
                <a:rPr lang="en-US" sz="1670">
                  <a:solidFill>
                    <a:srgbClr val="14313B"/>
                  </a:solidFill>
                  <a:latin typeface="Calibri (MS)"/>
                  <a:ea typeface="Calibri (MS)"/>
                  <a:cs typeface="Calibri (MS)"/>
                  <a:sym typeface="Calibri (MS)"/>
                </a:rPr>
                <a:t>• Akomodasi, konstruksi, demolisi</a:t>
              </a:r>
            </a:p>
            <a:p>
              <a:pPr algn="l">
                <a:lnSpc>
                  <a:spcPts val="2004"/>
                </a:lnSpc>
              </a:pPr>
              <a:r>
                <a:rPr lang="en-US" sz="1670">
                  <a:solidFill>
                    <a:srgbClr val="14313B"/>
                  </a:solidFill>
                  <a:latin typeface="Calibri (MS)"/>
                  <a:ea typeface="Calibri (MS)"/>
                  <a:cs typeface="Calibri (MS)"/>
                  <a:sym typeface="Calibri (MS)"/>
                </a:rPr>
                <a:t>• ODTW, pembangunan, penutupan</a:t>
              </a:r>
            </a:p>
            <a:p>
              <a:pPr algn="l">
                <a:lnSpc>
                  <a:spcPts val="2004"/>
                </a:lnSpc>
              </a:pPr>
              <a:r>
                <a:rPr lang="en-US" sz="1670">
                  <a:solidFill>
                    <a:srgbClr val="14313B"/>
                  </a:solidFill>
                  <a:latin typeface="Calibri (MS)"/>
                  <a:ea typeface="Calibri (MS)"/>
                  <a:cs typeface="Calibri (MS)"/>
                  <a:sym typeface="Calibri (MS)"/>
                </a:rPr>
                <a:t>• PDRB, pengeluaran, investasi</a:t>
              </a:r>
            </a:p>
            <a:p>
              <a:pPr algn="l">
                <a:lnSpc>
                  <a:spcPts val="2004"/>
                </a:lnSpc>
              </a:pPr>
              <a:r>
                <a:rPr lang="en-US" sz="1670">
                  <a:solidFill>
                    <a:srgbClr val="14313B"/>
                  </a:solidFill>
                  <a:latin typeface="Calibri (MS)"/>
                  <a:ea typeface="Calibri (MS)"/>
                  <a:cs typeface="Calibri (MS)"/>
                  <a:sym typeface="Calibri (MS)"/>
                </a:rPr>
                <a:t>• TK, penyerapan, keluar</a:t>
              </a:r>
            </a:p>
            <a:p>
              <a:pPr algn="l">
                <a:lnSpc>
                  <a:spcPts val="2004"/>
                </a:lnSpc>
              </a:pPr>
              <a:r>
                <a:rPr lang="en-US" sz="1670">
                  <a:solidFill>
                    <a:srgbClr val="14313B"/>
                  </a:solidFill>
                  <a:latin typeface="Calibri (MS)"/>
                  <a:ea typeface="Calibri (MS)"/>
                  <a:cs typeface="Calibri (MS)"/>
                  <a:sym typeface="Calibri (MS)"/>
                </a:rPr>
                <a:t>• Lahan terbangun &amp; konversinya</a:t>
              </a:r>
            </a:p>
            <a:p>
              <a:pPr algn="l">
                <a:lnSpc>
                  <a:spcPts val="2004"/>
                </a:lnSpc>
              </a:pPr>
              <a:r>
                <a:rPr lang="en-US" sz="1670">
                  <a:solidFill>
                    <a:srgbClr val="14313B"/>
                  </a:solidFill>
                  <a:latin typeface="Calibri (MS)"/>
                  <a:ea typeface="Calibri (MS)"/>
                  <a:cs typeface="Calibri (MS)"/>
                  <a:sym typeface="Calibri (MS)"/>
                </a:rPr>
                <a:t>• Daya tarik, kepadatan, daya dukung</a:t>
              </a:r>
            </a:p>
            <a:p>
              <a:pPr algn="l">
                <a:lnSpc>
                  <a:spcPts val="2004"/>
                </a:lnSpc>
              </a:pPr>
              <a:r>
                <a:rPr lang="en-US" sz="1670">
                  <a:solidFill>
                    <a:srgbClr val="14313B"/>
                  </a:solidFill>
                  <a:latin typeface="Calibri (MS)"/>
                  <a:ea typeface="Calibri (MS)"/>
                  <a:cs typeface="Calibri (MS)"/>
                  <a:sym typeface="Calibri (MS)"/>
                </a:rPr>
                <a:t>• Okupansi &amp; tekanan permintaan kamar</a:t>
              </a:r>
            </a:p>
          </p:txBody>
        </p:sp>
      </p:grpSp>
      <p:grpSp>
        <p:nvGrpSpPr>
          <p:cNvPr name="Group 73" id="73"/>
          <p:cNvGrpSpPr/>
          <p:nvPr/>
        </p:nvGrpSpPr>
        <p:grpSpPr>
          <a:xfrm rot="0">
            <a:off x="6446520" y="2286000"/>
            <a:ext cx="5394960" cy="640080"/>
            <a:chOff x="0" y="0"/>
            <a:chExt cx="7193280" cy="853440"/>
          </a:xfrm>
        </p:grpSpPr>
        <p:sp>
          <p:nvSpPr>
            <p:cNvPr name="Freeform 74" id="74"/>
            <p:cNvSpPr/>
            <p:nvPr/>
          </p:nvSpPr>
          <p:spPr>
            <a:xfrm flipH="false" flipV="false" rot="0">
              <a:off x="0" y="0"/>
              <a:ext cx="7193280" cy="853440"/>
            </a:xfrm>
            <a:custGeom>
              <a:avLst/>
              <a:gdLst/>
              <a:ahLst/>
              <a:cxnLst/>
              <a:rect r="r" b="b" t="t" l="l"/>
              <a:pathLst>
                <a:path h="853440" w="7193280">
                  <a:moveTo>
                    <a:pt x="0" y="68326"/>
                  </a:moveTo>
                  <a:cubicBezTo>
                    <a:pt x="0" y="30607"/>
                    <a:pt x="30607" y="0"/>
                    <a:pt x="68326" y="0"/>
                  </a:cubicBezTo>
                  <a:lnTo>
                    <a:pt x="7124954" y="0"/>
                  </a:lnTo>
                  <a:cubicBezTo>
                    <a:pt x="7162673" y="0"/>
                    <a:pt x="7193280" y="30607"/>
                    <a:pt x="7193280" y="68326"/>
                  </a:cubicBezTo>
                  <a:lnTo>
                    <a:pt x="7193280" y="785114"/>
                  </a:lnTo>
                  <a:cubicBezTo>
                    <a:pt x="7193280" y="822833"/>
                    <a:pt x="7162673" y="853440"/>
                    <a:pt x="7124954" y="853440"/>
                  </a:cubicBezTo>
                  <a:lnTo>
                    <a:pt x="68326" y="853440"/>
                  </a:lnTo>
                  <a:cubicBezTo>
                    <a:pt x="30607" y="853440"/>
                    <a:pt x="0" y="822833"/>
                    <a:pt x="0" y="785114"/>
                  </a:cubicBezTo>
                  <a:close/>
                </a:path>
              </a:pathLst>
            </a:custGeom>
            <a:solidFill>
              <a:srgbClr val="39C0D3"/>
            </a:solidFill>
          </p:spPr>
          <p:txBody>
            <a:bodyPr/>
            <a:p/>
          </p:txBody>
        </p:sp>
        <p:sp>
          <p:nvSpPr>
            <p:cNvPr name="TextBox 75" id="75"/>
            <p:cNvSpPr txBox="true"/>
            <p:nvPr/>
          </p:nvSpPr>
          <p:spPr>
            <a:xfrm>
              <a:off x="0" y="-38100"/>
              <a:ext cx="7193280" cy="891540"/>
            </a:xfrm>
            <a:prstGeom prst="rect">
              <a:avLst/>
            </a:prstGeom>
          </p:spPr>
          <p:txBody>
            <a:bodyPr anchor="ctr" rtlCol="false" tIns="50800" lIns="50800" bIns="50800" rIns="50800"/>
            <a:lstStyle/>
            <a:p>
              <a:pPr algn="l">
                <a:lnSpc>
                  <a:spcPts val="2484"/>
                </a:lnSpc>
              </a:pPr>
              <a:r>
                <a:rPr lang="en-US" sz="2070" b="true">
                  <a:solidFill>
                    <a:srgbClr val="FFFFFF"/>
                  </a:solidFill>
                  <a:latin typeface="Calibri (MS) Bold"/>
                  <a:ea typeface="Calibri (MS) Bold"/>
                  <a:cs typeface="Calibri (MS) Bold"/>
                  <a:sym typeface="Calibri (MS) Bold"/>
                </a:rPr>
                <a:t>Input dari luar model · 35 parameter</a:t>
              </a:r>
            </a:p>
          </p:txBody>
        </p:sp>
      </p:grpSp>
      <p:grpSp>
        <p:nvGrpSpPr>
          <p:cNvPr name="Group 76" id="76"/>
          <p:cNvGrpSpPr/>
          <p:nvPr/>
        </p:nvGrpSpPr>
        <p:grpSpPr>
          <a:xfrm rot="0">
            <a:off x="6440167" y="3011167"/>
            <a:ext cx="5407657" cy="4493257"/>
            <a:chOff x="0" y="0"/>
            <a:chExt cx="7210209" cy="5991009"/>
          </a:xfrm>
        </p:grpSpPr>
        <p:sp>
          <p:nvSpPr>
            <p:cNvPr name="Freeform 77" id="77"/>
            <p:cNvSpPr/>
            <p:nvPr/>
          </p:nvSpPr>
          <p:spPr>
            <a:xfrm flipH="false" flipV="false" rot="0">
              <a:off x="0" y="0"/>
              <a:ext cx="7210171" cy="5990971"/>
            </a:xfrm>
            <a:custGeom>
              <a:avLst/>
              <a:gdLst/>
              <a:ahLst/>
              <a:cxnLst/>
              <a:rect r="r" b="b" t="t" l="l"/>
              <a:pathLst>
                <a:path h="5990971" w="7210171">
                  <a:moveTo>
                    <a:pt x="0" y="479298"/>
                  </a:moveTo>
                  <a:cubicBezTo>
                    <a:pt x="0" y="214630"/>
                    <a:pt x="214630" y="0"/>
                    <a:pt x="479298" y="0"/>
                  </a:cubicBezTo>
                  <a:lnTo>
                    <a:pt x="6730873" y="0"/>
                  </a:lnTo>
                  <a:cubicBezTo>
                    <a:pt x="6995541" y="0"/>
                    <a:pt x="7210171" y="214630"/>
                    <a:pt x="7210171" y="479298"/>
                  </a:cubicBezTo>
                  <a:lnTo>
                    <a:pt x="7210171" y="5511673"/>
                  </a:lnTo>
                  <a:cubicBezTo>
                    <a:pt x="7210171" y="5776341"/>
                    <a:pt x="6995541" y="5990971"/>
                    <a:pt x="6730873" y="5990971"/>
                  </a:cubicBezTo>
                  <a:lnTo>
                    <a:pt x="479298" y="5990971"/>
                  </a:lnTo>
                  <a:cubicBezTo>
                    <a:pt x="214630" y="5990971"/>
                    <a:pt x="0" y="5776468"/>
                    <a:pt x="0" y="5511673"/>
                  </a:cubicBezTo>
                  <a:close/>
                </a:path>
              </a:pathLst>
            </a:custGeom>
            <a:solidFill>
              <a:srgbClr val="EAF8FA"/>
            </a:solidFill>
            <a:ln w="12700" cap="sq">
              <a:solidFill>
                <a:srgbClr val="CFE5E9"/>
              </a:solidFill>
              <a:prstDash val="solid"/>
              <a:miter/>
            </a:ln>
          </p:spPr>
          <p:txBody>
            <a:bodyPr/>
            <a:p/>
          </p:txBody>
        </p:sp>
        <p:sp>
          <p:nvSpPr>
            <p:cNvPr name="TextBox 78" id="78"/>
            <p:cNvSpPr txBox="true"/>
            <p:nvPr/>
          </p:nvSpPr>
          <p:spPr>
            <a:xfrm>
              <a:off x="0" y="-38100"/>
              <a:ext cx="7210209" cy="6029109"/>
            </a:xfrm>
            <a:prstGeom prst="rect">
              <a:avLst/>
            </a:prstGeom>
          </p:spPr>
          <p:txBody>
            <a:bodyPr anchor="t" rtlCol="false" tIns="50800" lIns="50800" bIns="50800" rIns="50800"/>
            <a:lstStyle/>
            <a:p>
              <a:pPr algn="l">
                <a:lnSpc>
                  <a:spcPts val="2004"/>
                </a:lnSpc>
              </a:pPr>
              <a:r>
                <a:rPr lang="en-US" sz="1670">
                  <a:solidFill>
                    <a:srgbClr val="14313B"/>
                  </a:solidFill>
                  <a:latin typeface="Calibri (MS)"/>
                  <a:ea typeface="Calibri (MS)"/>
                  <a:cs typeface="Calibri (MS)"/>
                  <a:sym typeface="Calibri (MS)"/>
                </a:rPr>
                <a:t>• Pendorong permintaan eksternal (LPE, LPD)</a:t>
              </a:r>
            </a:p>
            <a:p>
              <a:pPr algn="l">
                <a:lnSpc>
                  <a:spcPts val="2004"/>
                </a:lnSpc>
              </a:pPr>
              <a:r>
                <a:rPr lang="en-US" sz="1670">
                  <a:solidFill>
                    <a:srgbClr val="14313B"/>
                  </a:solidFill>
                  <a:latin typeface="Calibri (MS)"/>
                  <a:ea typeface="Calibri (MS)"/>
                  <a:cs typeface="Calibri (MS)"/>
                  <a:sym typeface="Calibri (MS)"/>
                </a:rPr>
                <a:t>• Perilaku &amp; karakteristik wisatawan</a:t>
              </a:r>
            </a:p>
            <a:p>
              <a:pPr algn="l">
                <a:lnSpc>
                  <a:spcPts val="2004"/>
                </a:lnSpc>
              </a:pPr>
              <a:r>
                <a:rPr lang="en-US" sz="1670">
                  <a:solidFill>
                    <a:srgbClr val="14313B"/>
                  </a:solidFill>
                  <a:latin typeface="Calibri (MS)"/>
                  <a:ea typeface="Calibri (MS)"/>
                  <a:cs typeface="Calibri (MS)"/>
                  <a:sym typeface="Calibri (MS)"/>
                </a:rPr>
                <a:t>• Karakteristik akomodasi</a:t>
              </a:r>
            </a:p>
            <a:p>
              <a:pPr algn="l">
                <a:lnSpc>
                  <a:spcPts val="2004"/>
                </a:lnSpc>
              </a:pPr>
              <a:r>
                <a:rPr lang="en-US" sz="1670">
                  <a:solidFill>
                    <a:srgbClr val="14313B"/>
                  </a:solidFill>
                  <a:latin typeface="Calibri (MS)"/>
                  <a:ea typeface="Calibri (MS)"/>
                  <a:cs typeface="Calibri (MS)"/>
                  <a:sym typeface="Calibri (MS)"/>
                </a:rPr>
                <a:t>• Koefisien hasil derivasi data historis</a:t>
              </a:r>
            </a:p>
            <a:p>
              <a:pPr algn="l">
                <a:lnSpc>
                  <a:spcPts val="2004"/>
                </a:lnSpc>
              </a:pPr>
              <a:r>
                <a:rPr lang="en-US" sz="1670">
                  <a:solidFill>
                    <a:srgbClr val="14313B"/>
                  </a:solidFill>
                  <a:latin typeface="Calibri (MS)"/>
                  <a:ea typeface="Calibri (MS)"/>
                  <a:cs typeface="Calibri (MS)"/>
                  <a:sym typeface="Calibri (MS)"/>
                </a:rPr>
                <a:t>• Koefisien &amp; batas kebutuhan lahan</a:t>
              </a:r>
            </a:p>
            <a:p>
              <a:pPr algn="l">
                <a:lnSpc>
                  <a:spcPts val="2004"/>
                </a:lnSpc>
              </a:pPr>
              <a:r>
                <a:rPr lang="en-US" sz="1670">
                  <a:solidFill>
                    <a:srgbClr val="14313B"/>
                  </a:solidFill>
                  <a:latin typeface="Calibri (MS)"/>
                  <a:ea typeface="Calibri (MS)"/>
                  <a:cs typeface="Calibri (MS)"/>
                  <a:sym typeface="Calibri (MS)"/>
                </a:rPr>
                <a:t>• Parameter &amp; nilai referensi daya tarik</a:t>
              </a:r>
            </a:p>
            <a:p>
              <a:pPr algn="l">
                <a:lnSpc>
                  <a:spcPts val="2004"/>
                </a:lnSpc>
              </a:pPr>
              <a:r>
                <a:rPr lang="en-US" sz="1670">
                  <a:solidFill>
                    <a:srgbClr val="14313B"/>
                  </a:solidFill>
                  <a:latin typeface="Calibri (MS)"/>
                  <a:ea typeface="Calibri (MS)"/>
                  <a:cs typeface="Calibri (MS)"/>
                  <a:sym typeface="Calibri (MS)"/>
                </a:rPr>
                <a:t>• Pembangunan ODTW non-investasi</a:t>
              </a:r>
            </a:p>
            <a:p>
              <a:pPr algn="l">
                <a:lnSpc>
                  <a:spcPts val="2004"/>
                </a:lnSpc>
              </a:pPr>
              <a:r>
                <a:rPr lang="en-US" sz="1670">
                  <a:solidFill>
                    <a:srgbClr val="14313B"/>
                  </a:solidFill>
                  <a:latin typeface="Calibri (MS)"/>
                  <a:ea typeface="Calibri (MS)"/>
                  <a:cs typeface="Calibri (MS)"/>
                  <a:sym typeface="Calibri (MS)"/>
                </a:rPr>
                <a:t>• Dua variabel kebijakan</a:t>
              </a:r>
            </a:p>
          </p:txBody>
        </p:sp>
      </p:grpSp>
      <p:grpSp>
        <p:nvGrpSpPr>
          <p:cNvPr name="Group 79" id="79"/>
          <p:cNvGrpSpPr/>
          <p:nvPr/>
        </p:nvGrpSpPr>
        <p:grpSpPr>
          <a:xfrm rot="0">
            <a:off x="12070080" y="2286000"/>
            <a:ext cx="5394960" cy="640080"/>
            <a:chOff x="0" y="0"/>
            <a:chExt cx="7193280" cy="853440"/>
          </a:xfrm>
        </p:grpSpPr>
        <p:sp>
          <p:nvSpPr>
            <p:cNvPr name="Freeform 80" id="80"/>
            <p:cNvSpPr/>
            <p:nvPr/>
          </p:nvSpPr>
          <p:spPr>
            <a:xfrm flipH="false" flipV="false" rot="0">
              <a:off x="0" y="0"/>
              <a:ext cx="7193280" cy="853440"/>
            </a:xfrm>
            <a:custGeom>
              <a:avLst/>
              <a:gdLst/>
              <a:ahLst/>
              <a:cxnLst/>
              <a:rect r="r" b="b" t="t" l="l"/>
              <a:pathLst>
                <a:path h="853440" w="7193280">
                  <a:moveTo>
                    <a:pt x="0" y="68326"/>
                  </a:moveTo>
                  <a:cubicBezTo>
                    <a:pt x="0" y="30607"/>
                    <a:pt x="30607" y="0"/>
                    <a:pt x="68326" y="0"/>
                  </a:cubicBezTo>
                  <a:lnTo>
                    <a:pt x="7124954" y="0"/>
                  </a:lnTo>
                  <a:cubicBezTo>
                    <a:pt x="7162673" y="0"/>
                    <a:pt x="7193280" y="30607"/>
                    <a:pt x="7193280" y="68326"/>
                  </a:cubicBezTo>
                  <a:lnTo>
                    <a:pt x="7193280" y="785114"/>
                  </a:lnTo>
                  <a:cubicBezTo>
                    <a:pt x="7193280" y="822833"/>
                    <a:pt x="7162673" y="853440"/>
                    <a:pt x="7124954" y="853440"/>
                  </a:cubicBezTo>
                  <a:lnTo>
                    <a:pt x="68326" y="853440"/>
                  </a:lnTo>
                  <a:cubicBezTo>
                    <a:pt x="30607" y="853440"/>
                    <a:pt x="0" y="822833"/>
                    <a:pt x="0" y="785114"/>
                  </a:cubicBezTo>
                  <a:close/>
                </a:path>
              </a:pathLst>
            </a:custGeom>
            <a:solidFill>
              <a:srgbClr val="FFD23B"/>
            </a:solidFill>
          </p:spPr>
          <p:txBody>
            <a:bodyPr/>
            <a:p/>
          </p:txBody>
        </p:sp>
        <p:sp>
          <p:nvSpPr>
            <p:cNvPr name="TextBox 81" id="81"/>
            <p:cNvSpPr txBox="true"/>
            <p:nvPr/>
          </p:nvSpPr>
          <p:spPr>
            <a:xfrm>
              <a:off x="0" y="-38100"/>
              <a:ext cx="7193280" cy="891540"/>
            </a:xfrm>
            <a:prstGeom prst="rect">
              <a:avLst/>
            </a:prstGeom>
          </p:spPr>
          <p:txBody>
            <a:bodyPr anchor="ctr" rtlCol="false" tIns="50800" lIns="50800" bIns="50800" rIns="50800"/>
            <a:lstStyle/>
            <a:p>
              <a:pPr algn="l">
                <a:lnSpc>
                  <a:spcPts val="2484"/>
                </a:lnSpc>
              </a:pPr>
              <a:r>
                <a:rPr lang="en-US" sz="2070" b="true">
                  <a:solidFill>
                    <a:srgbClr val="14313B"/>
                  </a:solidFill>
                  <a:latin typeface="Calibri (MS) Bold"/>
                  <a:ea typeface="Calibri (MS) Bold"/>
                  <a:cs typeface="Calibri (MS) Bold"/>
                  <a:sym typeface="Calibri (MS) Bold"/>
                </a:rPr>
                <a:t>Dikeluarkan · 15 aspek</a:t>
              </a:r>
            </a:p>
          </p:txBody>
        </p:sp>
      </p:grpSp>
      <p:grpSp>
        <p:nvGrpSpPr>
          <p:cNvPr name="Group 82" id="82"/>
          <p:cNvGrpSpPr/>
          <p:nvPr/>
        </p:nvGrpSpPr>
        <p:grpSpPr>
          <a:xfrm rot="0">
            <a:off x="12063727" y="3011167"/>
            <a:ext cx="5407657" cy="4493257"/>
            <a:chOff x="0" y="0"/>
            <a:chExt cx="7210209" cy="5991009"/>
          </a:xfrm>
        </p:grpSpPr>
        <p:sp>
          <p:nvSpPr>
            <p:cNvPr name="Freeform 83" id="83"/>
            <p:cNvSpPr/>
            <p:nvPr/>
          </p:nvSpPr>
          <p:spPr>
            <a:xfrm flipH="false" flipV="false" rot="0">
              <a:off x="0" y="0"/>
              <a:ext cx="7210171" cy="5990971"/>
            </a:xfrm>
            <a:custGeom>
              <a:avLst/>
              <a:gdLst/>
              <a:ahLst/>
              <a:cxnLst/>
              <a:rect r="r" b="b" t="t" l="l"/>
              <a:pathLst>
                <a:path h="5990971" w="7210171">
                  <a:moveTo>
                    <a:pt x="0" y="479298"/>
                  </a:moveTo>
                  <a:cubicBezTo>
                    <a:pt x="0" y="214630"/>
                    <a:pt x="214630" y="0"/>
                    <a:pt x="479298" y="0"/>
                  </a:cubicBezTo>
                  <a:lnTo>
                    <a:pt x="6730873" y="0"/>
                  </a:lnTo>
                  <a:cubicBezTo>
                    <a:pt x="6995541" y="0"/>
                    <a:pt x="7210171" y="214630"/>
                    <a:pt x="7210171" y="479298"/>
                  </a:cubicBezTo>
                  <a:lnTo>
                    <a:pt x="7210171" y="5511673"/>
                  </a:lnTo>
                  <a:cubicBezTo>
                    <a:pt x="7210171" y="5776341"/>
                    <a:pt x="6995541" y="5990971"/>
                    <a:pt x="6730873" y="5990971"/>
                  </a:cubicBezTo>
                  <a:lnTo>
                    <a:pt x="479298" y="5990971"/>
                  </a:lnTo>
                  <a:cubicBezTo>
                    <a:pt x="214630" y="5990971"/>
                    <a:pt x="0" y="5776468"/>
                    <a:pt x="0" y="5511673"/>
                  </a:cubicBezTo>
                  <a:close/>
                </a:path>
              </a:pathLst>
            </a:custGeom>
            <a:solidFill>
              <a:srgbClr val="EAF8FA"/>
            </a:solidFill>
            <a:ln w="12700" cap="sq">
              <a:solidFill>
                <a:srgbClr val="CFE5E9"/>
              </a:solidFill>
              <a:prstDash val="solid"/>
              <a:miter/>
            </a:ln>
          </p:spPr>
          <p:txBody>
            <a:bodyPr/>
            <a:p/>
          </p:txBody>
        </p:sp>
        <p:sp>
          <p:nvSpPr>
            <p:cNvPr name="TextBox 84" id="84"/>
            <p:cNvSpPr txBox="true"/>
            <p:nvPr/>
          </p:nvSpPr>
          <p:spPr>
            <a:xfrm>
              <a:off x="0" y="-38100"/>
              <a:ext cx="7210209" cy="6029109"/>
            </a:xfrm>
            <a:prstGeom prst="rect">
              <a:avLst/>
            </a:prstGeom>
          </p:spPr>
          <p:txBody>
            <a:bodyPr anchor="t" rtlCol="false" tIns="50800" lIns="50800" bIns="50800" rIns="50800"/>
            <a:lstStyle/>
            <a:p>
              <a:pPr algn="l">
                <a:lnSpc>
                  <a:spcPts val="2004"/>
                </a:lnSpc>
              </a:pPr>
              <a:r>
                <a:rPr lang="en-US" sz="1670">
                  <a:solidFill>
                    <a:srgbClr val="14313B"/>
                  </a:solidFill>
                  <a:latin typeface="Calibri (MS)"/>
                  <a:ea typeface="Calibri (MS)"/>
                  <a:cs typeface="Calibri (MS)"/>
                  <a:sym typeface="Calibri (MS)"/>
                </a:rPr>
                <a:t>• Pemisahan wisman–wisnus; harga</a:t>
              </a:r>
            </a:p>
            <a:p>
              <a:pPr algn="l">
                <a:lnSpc>
                  <a:spcPts val="2004"/>
                </a:lnSpc>
              </a:pPr>
              <a:r>
                <a:rPr lang="en-US" sz="1670">
                  <a:solidFill>
                    <a:srgbClr val="14313B"/>
                  </a:solidFill>
                  <a:latin typeface="Calibri (MS)"/>
                  <a:ea typeface="Calibri (MS)"/>
                  <a:cs typeface="Calibri (MS)"/>
                  <a:sym typeface="Calibri (MS)"/>
                </a:rPr>
                <a:t>• Aksesibilitas; promosi &amp; citra</a:t>
              </a:r>
            </a:p>
            <a:p>
              <a:pPr algn="l">
                <a:lnSpc>
                  <a:spcPts val="2004"/>
                </a:lnSpc>
              </a:pPr>
              <a:r>
                <a:rPr lang="en-US" sz="1670">
                  <a:solidFill>
                    <a:srgbClr val="14313B"/>
                  </a:solidFill>
                  <a:latin typeface="Calibri (MS)"/>
                  <a:ea typeface="Calibri (MS)"/>
                  <a:cs typeface="Calibri (MS)"/>
                  <a:sym typeface="Calibri (MS)"/>
                </a:rPr>
                <a:t>• Kualitas SDM; musim/bulanan</a:t>
              </a:r>
            </a:p>
            <a:p>
              <a:pPr algn="l">
                <a:lnSpc>
                  <a:spcPts val="2004"/>
                </a:lnSpc>
              </a:pPr>
              <a:r>
                <a:rPr lang="en-US" sz="1670">
                  <a:solidFill>
                    <a:srgbClr val="14313B"/>
                  </a:solidFill>
                  <a:latin typeface="Calibri (MS)"/>
                  <a:ea typeface="Calibri (MS)"/>
                  <a:cs typeface="Calibri (MS)"/>
                  <a:sym typeface="Calibri (MS)"/>
                </a:rPr>
                <a:t>• Shock (pandemi, erupsi, gempa)</a:t>
              </a:r>
            </a:p>
            <a:p>
              <a:pPr algn="l">
                <a:lnSpc>
                  <a:spcPts val="2004"/>
                </a:lnSpc>
              </a:pPr>
              <a:r>
                <a:rPr lang="en-US" sz="1670">
                  <a:solidFill>
                    <a:srgbClr val="14313B"/>
                  </a:solidFill>
                  <a:latin typeface="Calibri (MS)"/>
                  <a:ea typeface="Calibri (MS)"/>
                  <a:cs typeface="Calibri (MS)"/>
                  <a:sym typeface="Calibri (MS)"/>
                </a:rPr>
                <a:t>• Persaingan antardestinasi; zonasi RTRW</a:t>
              </a:r>
            </a:p>
            <a:p>
              <a:pPr algn="l">
                <a:lnSpc>
                  <a:spcPts val="2004"/>
                </a:lnSpc>
              </a:pPr>
              <a:r>
                <a:rPr lang="en-US" sz="1670">
                  <a:solidFill>
                    <a:srgbClr val="14313B"/>
                  </a:solidFill>
                  <a:latin typeface="Calibri (MS)"/>
                  <a:ea typeface="Calibri (MS)"/>
                  <a:cs typeface="Calibri (MS)"/>
                  <a:sym typeface="Calibri (MS)"/>
                </a:rPr>
                <a:t>• Dampak lingkungan non-lahan; sosial budaya</a:t>
              </a:r>
            </a:p>
            <a:p>
              <a:pPr algn="l">
                <a:lnSpc>
                  <a:spcPts val="2004"/>
                </a:lnSpc>
              </a:pPr>
              <a:r>
                <a:rPr lang="en-US" sz="1670">
                  <a:solidFill>
                    <a:srgbClr val="14313B"/>
                  </a:solidFill>
                  <a:latin typeface="Calibri (MS)"/>
                  <a:ea typeface="Calibri (MS)"/>
                  <a:cs typeface="Calibri (MS)"/>
                  <a:sym typeface="Calibri (MS)"/>
                </a:rPr>
                <a:t>• Distribusi manfaat; investasi APBN/APBD</a:t>
              </a:r>
            </a:p>
            <a:p>
              <a:pPr algn="l">
                <a:lnSpc>
                  <a:spcPts val="2004"/>
                </a:lnSpc>
              </a:pPr>
              <a:r>
                <a:rPr lang="en-US" sz="1670">
                  <a:solidFill>
                    <a:srgbClr val="14313B"/>
                  </a:solidFill>
                  <a:latin typeface="Calibri (MS)"/>
                  <a:ea typeface="Calibri (MS)"/>
                  <a:cs typeface="Calibri (MS)"/>
                  <a:sym typeface="Calibri (MS)"/>
                </a:rPr>
                <a:t>• Perpindahan TK antarsektor; harga lahan</a:t>
              </a:r>
            </a:p>
          </p:txBody>
        </p:sp>
      </p:grpSp>
      <p:grpSp>
        <p:nvGrpSpPr>
          <p:cNvPr name="Group 85" id="85"/>
          <p:cNvGrpSpPr/>
          <p:nvPr/>
        </p:nvGrpSpPr>
        <p:grpSpPr>
          <a:xfrm rot="0">
            <a:off x="816607" y="7628887"/>
            <a:ext cx="16654777" cy="698497"/>
            <a:chOff x="0" y="0"/>
            <a:chExt cx="22206369" cy="931329"/>
          </a:xfrm>
        </p:grpSpPr>
        <p:sp>
          <p:nvSpPr>
            <p:cNvPr name="Freeform 86" id="86"/>
            <p:cNvSpPr/>
            <p:nvPr/>
          </p:nvSpPr>
          <p:spPr>
            <a:xfrm flipH="false" flipV="false" rot="0">
              <a:off x="0" y="0"/>
              <a:ext cx="22206458" cy="931418"/>
            </a:xfrm>
            <a:custGeom>
              <a:avLst/>
              <a:gdLst/>
              <a:ahLst/>
              <a:cxnLst/>
              <a:rect r="r" b="b" t="t" l="l"/>
              <a:pathLst>
                <a:path h="931418" w="22206458">
                  <a:moveTo>
                    <a:pt x="0" y="74549"/>
                  </a:moveTo>
                  <a:cubicBezTo>
                    <a:pt x="0" y="33401"/>
                    <a:pt x="33401" y="0"/>
                    <a:pt x="74549" y="0"/>
                  </a:cubicBezTo>
                  <a:lnTo>
                    <a:pt x="22131910" y="0"/>
                  </a:lnTo>
                  <a:cubicBezTo>
                    <a:pt x="22173057" y="0"/>
                    <a:pt x="22206458" y="33401"/>
                    <a:pt x="22206458" y="74549"/>
                  </a:cubicBezTo>
                  <a:lnTo>
                    <a:pt x="22206458" y="856869"/>
                  </a:lnTo>
                  <a:cubicBezTo>
                    <a:pt x="22206458" y="898017"/>
                    <a:pt x="22173057" y="931418"/>
                    <a:pt x="22131910" y="931418"/>
                  </a:cubicBezTo>
                  <a:lnTo>
                    <a:pt x="74549" y="931418"/>
                  </a:lnTo>
                  <a:cubicBezTo>
                    <a:pt x="33401" y="931291"/>
                    <a:pt x="0" y="898017"/>
                    <a:pt x="0" y="856869"/>
                  </a:cubicBezTo>
                  <a:close/>
                </a:path>
              </a:pathLst>
            </a:custGeom>
            <a:solidFill>
              <a:srgbClr val="FFFFFF"/>
            </a:solidFill>
            <a:ln w="12700" cap="sq">
              <a:solidFill>
                <a:srgbClr val="CFE5E9"/>
              </a:solidFill>
              <a:prstDash val="solid"/>
              <a:miter/>
            </a:ln>
          </p:spPr>
          <p:txBody>
            <a:bodyPr/>
            <a:p/>
          </p:txBody>
        </p:sp>
        <p:sp>
          <p:nvSpPr>
            <p:cNvPr name="TextBox 87" id="87"/>
            <p:cNvSpPr txBox="true"/>
            <p:nvPr/>
          </p:nvSpPr>
          <p:spPr>
            <a:xfrm>
              <a:off x="0" y="-28575"/>
              <a:ext cx="22206369" cy="959904"/>
            </a:xfrm>
            <a:prstGeom prst="rect">
              <a:avLst/>
            </a:prstGeom>
          </p:spPr>
          <p:txBody>
            <a:bodyPr anchor="ctr" rtlCol="false" tIns="50800" lIns="50800" bIns="50800" rIns="50800"/>
            <a:lstStyle/>
            <a:p>
              <a:pPr algn="l">
                <a:lnSpc>
                  <a:spcPts val="1932"/>
                </a:lnSpc>
              </a:pPr>
              <a:r>
                <a:rPr lang="en-US" sz="1610" b="true">
                  <a:solidFill>
                    <a:srgbClr val="E4604F"/>
                  </a:solidFill>
                  <a:latin typeface="Calibri (MS) Bold"/>
                  <a:ea typeface="Calibri (MS) Bold"/>
                  <a:cs typeface="Calibri (MS) Bold"/>
                  <a:sym typeface="Calibri (MS) Bold"/>
                </a:rPr>
                <a:t>Konsekuensi utama:  </a:t>
              </a:r>
              <a:r>
                <a:rPr lang="en-US" sz="1610">
                  <a:solidFill>
                    <a:srgbClr val="14313B"/>
                  </a:solidFill>
                  <a:latin typeface="Calibri (MS)"/>
                  <a:ea typeface="Calibri (MS)"/>
                  <a:cs typeface="Calibri (MS)"/>
                  <a:sym typeface="Calibri (MS)"/>
                </a:rPr>
                <a:t>pengaruh harga tidak tercakup; promosi &amp; aksesibilitas sudah termasuk dalam LPE; proyeksi tanpa shock; daya dukung lahan cenderung longgar (memakai luas wilayah).</a:t>
              </a:r>
            </a:p>
          </p:txBody>
        </p:sp>
      </p:grpSp>
      <p:grpSp>
        <p:nvGrpSpPr>
          <p:cNvPr name="Group 88" id="88"/>
          <p:cNvGrpSpPr/>
          <p:nvPr/>
        </p:nvGrpSpPr>
        <p:grpSpPr>
          <a:xfrm rot="0">
            <a:off x="816607" y="8424415"/>
            <a:ext cx="16654777" cy="744217"/>
            <a:chOff x="0" y="0"/>
            <a:chExt cx="22206369" cy="992289"/>
          </a:xfrm>
        </p:grpSpPr>
        <p:sp>
          <p:nvSpPr>
            <p:cNvPr name="Freeform 89" id="89"/>
            <p:cNvSpPr/>
            <p:nvPr/>
          </p:nvSpPr>
          <p:spPr>
            <a:xfrm flipH="false" flipV="false" rot="0">
              <a:off x="0" y="0"/>
              <a:ext cx="22206331" cy="992251"/>
            </a:xfrm>
            <a:custGeom>
              <a:avLst/>
              <a:gdLst/>
              <a:ahLst/>
              <a:cxnLst/>
              <a:rect r="r" b="b" t="t" l="l"/>
              <a:pathLst>
                <a:path h="992251" w="22206331">
                  <a:moveTo>
                    <a:pt x="0" y="79375"/>
                  </a:moveTo>
                  <a:cubicBezTo>
                    <a:pt x="0" y="35560"/>
                    <a:pt x="35560" y="0"/>
                    <a:pt x="79375" y="0"/>
                  </a:cubicBezTo>
                  <a:lnTo>
                    <a:pt x="22126956" y="0"/>
                  </a:lnTo>
                  <a:cubicBezTo>
                    <a:pt x="22170771" y="0"/>
                    <a:pt x="22206331" y="35560"/>
                    <a:pt x="22206331" y="79375"/>
                  </a:cubicBezTo>
                  <a:lnTo>
                    <a:pt x="22206331" y="912876"/>
                  </a:lnTo>
                  <a:cubicBezTo>
                    <a:pt x="22206331" y="956691"/>
                    <a:pt x="22170771" y="992251"/>
                    <a:pt x="22126956" y="992251"/>
                  </a:cubicBezTo>
                  <a:lnTo>
                    <a:pt x="79375" y="992251"/>
                  </a:lnTo>
                  <a:cubicBezTo>
                    <a:pt x="35560" y="992251"/>
                    <a:pt x="0" y="956691"/>
                    <a:pt x="0" y="912876"/>
                  </a:cubicBezTo>
                  <a:close/>
                </a:path>
              </a:pathLst>
            </a:custGeom>
            <a:solidFill>
              <a:srgbClr val="FFF1BF"/>
            </a:solidFill>
            <a:ln w="12700" cap="sq">
              <a:solidFill>
                <a:srgbClr val="FFD23B"/>
              </a:solidFill>
              <a:prstDash val="solid"/>
              <a:miter/>
            </a:ln>
          </p:spPr>
          <p:txBody>
            <a:bodyPr/>
            <a:p/>
          </p:txBody>
        </p:sp>
        <p:sp>
          <p:nvSpPr>
            <p:cNvPr name="TextBox 90" id="90"/>
            <p:cNvSpPr txBox="true"/>
            <p:nvPr/>
          </p:nvSpPr>
          <p:spPr>
            <a:xfrm>
              <a:off x="0" y="-38100"/>
              <a:ext cx="22206369" cy="103038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Hasil model tidak dapat dipakai untuk menjawab pertanyaan tentang harga, promosi, musim, maupun shock eksternal.</a:t>
              </a:r>
            </a:p>
          </p:txBody>
        </p:sp>
      </p:grpSp>
      <p:sp>
        <p:nvSpPr>
          <p:cNvPr name="TextBox 91" id="91"/>
          <p:cNvSpPr txBox="true"/>
          <p:nvPr/>
        </p:nvSpPr>
        <p:spPr>
          <a:xfrm rot="0">
            <a:off x="822960" y="9198102"/>
            <a:ext cx="15544800" cy="293370"/>
          </a:xfrm>
          <a:prstGeom prst="rect">
            <a:avLst/>
          </a:prstGeom>
        </p:spPr>
        <p:txBody>
          <a:bodyPr anchor="t" rtlCol="false" tIns="0" lIns="0" bIns="0" rIns="0">
            <a:spAutoFit/>
          </a:bodyPr>
          <a:lstStyle/>
          <a:p>
            <a:pPr algn="l">
              <a:lnSpc>
                <a:spcPts val="1451"/>
              </a:lnSpc>
            </a:pPr>
            <a:r>
              <a:rPr lang="en-US" sz="1209" i="true">
                <a:solidFill>
                  <a:srgbClr val="5E6E78"/>
                </a:solidFill>
                <a:latin typeface="Calibri (MS) Italics"/>
                <a:ea typeface="Calibri (MS) Italics"/>
                <a:cs typeface="Calibri (MS) Italics"/>
                <a:sym typeface="Calibri (MS) Italics"/>
              </a:rPr>
              <a:t>Sumber: Buku Subbab 3.7.4 (uji kecukupan batas), 4.1.2, Tabel 13–15; rincian di Lampiran 9.</a:t>
            </a:r>
          </a:p>
        </p:txBody>
      </p:sp>
      <p:grpSp>
        <p:nvGrpSpPr>
          <p:cNvPr name="Group 92" id="92"/>
          <p:cNvGrpSpPr/>
          <p:nvPr/>
        </p:nvGrpSpPr>
        <p:grpSpPr>
          <a:xfrm rot="0">
            <a:off x="16047720" y="9646920"/>
            <a:ext cx="420624" cy="420624"/>
            <a:chOff x="0" y="0"/>
            <a:chExt cx="560832" cy="560832"/>
          </a:xfrm>
        </p:grpSpPr>
        <p:sp>
          <p:nvSpPr>
            <p:cNvPr name="Freeform 93" id="93"/>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94" id="94"/>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Ringkasan Hasil Tujuan 1</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22</a:t>
            </a:r>
          </a:p>
        </p:txBody>
      </p:sp>
      <p:grpSp>
        <p:nvGrpSpPr>
          <p:cNvPr name="Group 67" id="67"/>
          <p:cNvGrpSpPr/>
          <p:nvPr/>
        </p:nvGrpSpPr>
        <p:grpSpPr>
          <a:xfrm rot="0">
            <a:off x="822960" y="2286000"/>
            <a:ext cx="16642080" cy="777240"/>
            <a:chOff x="0" y="0"/>
            <a:chExt cx="22189440" cy="1036320"/>
          </a:xfrm>
        </p:grpSpPr>
        <p:sp>
          <p:nvSpPr>
            <p:cNvPr name="Freeform 68" id="68"/>
            <p:cNvSpPr/>
            <p:nvPr/>
          </p:nvSpPr>
          <p:spPr>
            <a:xfrm flipH="false" flipV="false" rot="0">
              <a:off x="0" y="0"/>
              <a:ext cx="22189441" cy="1036320"/>
            </a:xfrm>
            <a:custGeom>
              <a:avLst/>
              <a:gdLst/>
              <a:ahLst/>
              <a:cxnLst/>
              <a:rect r="r" b="b" t="t" l="l"/>
              <a:pathLst>
                <a:path h="1036320" w="22189441">
                  <a:moveTo>
                    <a:pt x="0" y="82931"/>
                  </a:moveTo>
                  <a:cubicBezTo>
                    <a:pt x="0" y="37084"/>
                    <a:pt x="37084" y="0"/>
                    <a:pt x="82931" y="0"/>
                  </a:cubicBezTo>
                  <a:lnTo>
                    <a:pt x="22106510" y="0"/>
                  </a:lnTo>
                  <a:cubicBezTo>
                    <a:pt x="22152356" y="0"/>
                    <a:pt x="22189441" y="37084"/>
                    <a:pt x="22189441" y="82931"/>
                  </a:cubicBezTo>
                  <a:lnTo>
                    <a:pt x="22189441" y="953389"/>
                  </a:lnTo>
                  <a:cubicBezTo>
                    <a:pt x="22189441" y="999236"/>
                    <a:pt x="22152356" y="1036320"/>
                    <a:pt x="22106510" y="1036320"/>
                  </a:cubicBezTo>
                  <a:lnTo>
                    <a:pt x="82931" y="1036320"/>
                  </a:lnTo>
                  <a:cubicBezTo>
                    <a:pt x="37084" y="1036320"/>
                    <a:pt x="0" y="999236"/>
                    <a:pt x="0" y="953389"/>
                  </a:cubicBezTo>
                  <a:close/>
                </a:path>
              </a:pathLst>
            </a:custGeom>
            <a:solidFill>
              <a:srgbClr val="0B5E6E"/>
            </a:solidFill>
          </p:spPr>
          <p:txBody>
            <a:bodyPr/>
            <a:p/>
          </p:txBody>
        </p:sp>
        <p:sp>
          <p:nvSpPr>
            <p:cNvPr name="TextBox 69" id="69"/>
            <p:cNvSpPr txBox="true"/>
            <p:nvPr/>
          </p:nvSpPr>
          <p:spPr>
            <a:xfrm>
              <a:off x="0" y="-38100"/>
              <a:ext cx="22189440" cy="1074420"/>
            </a:xfrm>
            <a:prstGeom prst="rect">
              <a:avLst/>
            </a:prstGeom>
          </p:spPr>
          <p:txBody>
            <a:bodyPr anchor="ctr" rtlCol="false" tIns="50800" lIns="50800" bIns="50800" rIns="50800"/>
            <a:lstStyle/>
            <a:p>
              <a:pPr algn="l">
                <a:lnSpc>
                  <a:spcPts val="2484"/>
                </a:lnSpc>
              </a:pPr>
              <a:r>
                <a:rPr lang="en-US" sz="2070" b="true">
                  <a:solidFill>
                    <a:srgbClr val="FFFFFF"/>
                  </a:solidFill>
                  <a:latin typeface="Calibri (MS) Bold"/>
                  <a:ea typeface="Calibri (MS) Bold"/>
                  <a:cs typeface="Calibri (MS) Bold"/>
                  <a:sym typeface="Calibri (MS) Bold"/>
                </a:rPr>
                <a:t>Apa hasil yang diperoleh untuk Tujuan 1?</a:t>
              </a:r>
            </a:p>
          </p:txBody>
        </p:sp>
      </p:grpSp>
      <p:grpSp>
        <p:nvGrpSpPr>
          <p:cNvPr name="Group 70" id="70"/>
          <p:cNvGrpSpPr/>
          <p:nvPr/>
        </p:nvGrpSpPr>
        <p:grpSpPr>
          <a:xfrm rot="0">
            <a:off x="816607" y="3285487"/>
            <a:ext cx="16654777" cy="1132837"/>
            <a:chOff x="0" y="0"/>
            <a:chExt cx="22206369" cy="1510449"/>
          </a:xfrm>
        </p:grpSpPr>
        <p:sp>
          <p:nvSpPr>
            <p:cNvPr name="Freeform 71" id="71"/>
            <p:cNvSpPr/>
            <p:nvPr/>
          </p:nvSpPr>
          <p:spPr>
            <a:xfrm flipH="false" flipV="false" rot="0">
              <a:off x="0" y="0"/>
              <a:ext cx="22206204" cy="1510284"/>
            </a:xfrm>
            <a:custGeom>
              <a:avLst/>
              <a:gdLst/>
              <a:ahLst/>
              <a:cxnLst/>
              <a:rect r="r" b="b" t="t" l="l"/>
              <a:pathLst>
                <a:path h="1510284" w="22206204">
                  <a:moveTo>
                    <a:pt x="0" y="120777"/>
                  </a:moveTo>
                  <a:cubicBezTo>
                    <a:pt x="0" y="54102"/>
                    <a:pt x="54102" y="0"/>
                    <a:pt x="120777" y="0"/>
                  </a:cubicBezTo>
                  <a:lnTo>
                    <a:pt x="22085427" y="0"/>
                  </a:lnTo>
                  <a:cubicBezTo>
                    <a:pt x="22152102" y="0"/>
                    <a:pt x="22206204" y="54102"/>
                    <a:pt x="22206204" y="120777"/>
                  </a:cubicBezTo>
                  <a:lnTo>
                    <a:pt x="22206204" y="1389507"/>
                  </a:lnTo>
                  <a:cubicBezTo>
                    <a:pt x="22206204" y="1456182"/>
                    <a:pt x="22152102" y="1510284"/>
                    <a:pt x="22085427" y="1510284"/>
                  </a:cubicBezTo>
                  <a:lnTo>
                    <a:pt x="120777" y="1510284"/>
                  </a:lnTo>
                  <a:cubicBezTo>
                    <a:pt x="54102" y="1510284"/>
                    <a:pt x="0" y="1456182"/>
                    <a:pt x="0" y="1389507"/>
                  </a:cubicBezTo>
                  <a:close/>
                </a:path>
              </a:pathLst>
            </a:custGeom>
            <a:solidFill>
              <a:srgbClr val="EAF8FA"/>
            </a:solidFill>
            <a:ln w="12700" cap="sq">
              <a:solidFill>
                <a:srgbClr val="CFE5E9"/>
              </a:solidFill>
              <a:prstDash val="solid"/>
              <a:miter/>
            </a:ln>
          </p:spPr>
          <p:txBody>
            <a:bodyPr/>
            <a:p/>
          </p:txBody>
        </p:sp>
      </p:grpSp>
      <p:grpSp>
        <p:nvGrpSpPr>
          <p:cNvPr name="Group 72" id="72"/>
          <p:cNvGrpSpPr/>
          <p:nvPr/>
        </p:nvGrpSpPr>
        <p:grpSpPr>
          <a:xfrm rot="0">
            <a:off x="1051560" y="3577590"/>
            <a:ext cx="548640" cy="548640"/>
            <a:chOff x="0" y="0"/>
            <a:chExt cx="731520" cy="731520"/>
          </a:xfrm>
        </p:grpSpPr>
        <p:sp>
          <p:nvSpPr>
            <p:cNvPr name="Freeform 73" id="73"/>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74" id="74"/>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1</a:t>
              </a:r>
            </a:p>
          </p:txBody>
        </p:sp>
      </p:grpSp>
      <p:grpSp>
        <p:nvGrpSpPr>
          <p:cNvPr name="Group 75" id="75"/>
          <p:cNvGrpSpPr/>
          <p:nvPr/>
        </p:nvGrpSpPr>
        <p:grpSpPr>
          <a:xfrm rot="0">
            <a:off x="1828800" y="3383280"/>
            <a:ext cx="4206240" cy="937260"/>
            <a:chOff x="0" y="0"/>
            <a:chExt cx="5608320" cy="1249680"/>
          </a:xfrm>
        </p:grpSpPr>
        <p:sp>
          <p:nvSpPr>
            <p:cNvPr name="Freeform 76" id="76"/>
            <p:cNvSpPr/>
            <p:nvPr/>
          </p:nvSpPr>
          <p:spPr>
            <a:xfrm flipH="false" flipV="false" rot="0">
              <a:off x="0" y="0"/>
              <a:ext cx="5608320" cy="1249680"/>
            </a:xfrm>
            <a:custGeom>
              <a:avLst/>
              <a:gdLst/>
              <a:ahLst/>
              <a:cxnLst/>
              <a:rect r="r" b="b" t="t" l="l"/>
              <a:pathLst>
                <a:path h="1249680" w="5608320">
                  <a:moveTo>
                    <a:pt x="0" y="0"/>
                  </a:moveTo>
                  <a:lnTo>
                    <a:pt x="5608320" y="0"/>
                  </a:lnTo>
                  <a:lnTo>
                    <a:pt x="5608320" y="1249680"/>
                  </a:lnTo>
                  <a:lnTo>
                    <a:pt x="0" y="1249680"/>
                  </a:lnTo>
                  <a:close/>
                </a:path>
              </a:pathLst>
            </a:custGeom>
            <a:blipFill>
              <a:blip r:embed="rId6">
                <a:alphaModFix amt="0"/>
              </a:blip>
              <a:stretch>
                <a:fillRect l="0" t="-37445" r="0" b="-37445"/>
              </a:stretch>
            </a:blipFill>
          </p:spPr>
          <p:txBody>
            <a:bodyPr/>
            <a:p/>
          </p:txBody>
        </p:sp>
        <p:sp>
          <p:nvSpPr>
            <p:cNvPr name="TextBox 77" id="77"/>
            <p:cNvSpPr txBox="true"/>
            <p:nvPr/>
          </p:nvSpPr>
          <p:spPr>
            <a:xfrm>
              <a:off x="0" y="-38100"/>
              <a:ext cx="5608320" cy="1287780"/>
            </a:xfrm>
            <a:prstGeom prst="rect">
              <a:avLst/>
            </a:prstGeom>
          </p:spPr>
          <p:txBody>
            <a:bodyPr anchor="ctr" rtlCol="false" tIns="0" lIns="0" bIns="0" rIns="0"/>
            <a:lstStyle/>
            <a:p>
              <a:pPr algn="l">
                <a:lnSpc>
                  <a:spcPts val="2279"/>
                </a:lnSpc>
              </a:pPr>
              <a:r>
                <a:rPr lang="en-US" sz="1899" b="true">
                  <a:solidFill>
                    <a:srgbClr val="0B5E6E"/>
                  </a:solidFill>
                  <a:latin typeface="Calibri (MS) Bold"/>
                  <a:ea typeface="Calibri (MS) Bold"/>
                  <a:cs typeface="Calibri (MS) Bold"/>
                  <a:sym typeface="Calibri (MS) Bold"/>
                </a:rPr>
                <a:t>15 variabel kunci</a:t>
              </a:r>
            </a:p>
          </p:txBody>
        </p:sp>
      </p:grpSp>
      <p:grpSp>
        <p:nvGrpSpPr>
          <p:cNvPr name="Group 78" id="78"/>
          <p:cNvGrpSpPr/>
          <p:nvPr/>
        </p:nvGrpSpPr>
        <p:grpSpPr>
          <a:xfrm rot="0">
            <a:off x="6126480" y="3383280"/>
            <a:ext cx="11155680" cy="937260"/>
            <a:chOff x="0" y="0"/>
            <a:chExt cx="14874240" cy="1249680"/>
          </a:xfrm>
        </p:grpSpPr>
        <p:sp>
          <p:nvSpPr>
            <p:cNvPr name="Freeform 79" id="79"/>
            <p:cNvSpPr/>
            <p:nvPr/>
          </p:nvSpPr>
          <p:spPr>
            <a:xfrm flipH="false" flipV="false" rot="0">
              <a:off x="0" y="0"/>
              <a:ext cx="14874239" cy="1249680"/>
            </a:xfrm>
            <a:custGeom>
              <a:avLst/>
              <a:gdLst/>
              <a:ahLst/>
              <a:cxnLst/>
              <a:rect r="r" b="b" t="t" l="l"/>
              <a:pathLst>
                <a:path h="1249680" w="14874239">
                  <a:moveTo>
                    <a:pt x="0" y="0"/>
                  </a:moveTo>
                  <a:lnTo>
                    <a:pt x="14874239" y="0"/>
                  </a:lnTo>
                  <a:lnTo>
                    <a:pt x="14874239" y="1249680"/>
                  </a:lnTo>
                  <a:lnTo>
                    <a:pt x="0" y="1249680"/>
                  </a:lnTo>
                  <a:close/>
                </a:path>
              </a:pathLst>
            </a:custGeom>
            <a:blipFill>
              <a:blip r:embed="rId6">
                <a:alphaModFix amt="0"/>
              </a:blip>
              <a:stretch>
                <a:fillRect l="0" t="-181919" r="0" b="-181919"/>
              </a:stretch>
            </a:blipFill>
          </p:spPr>
          <p:txBody>
            <a:bodyPr/>
            <a:p/>
          </p:txBody>
        </p:sp>
        <p:sp>
          <p:nvSpPr>
            <p:cNvPr name="TextBox 80" id="80"/>
            <p:cNvSpPr txBox="true"/>
            <p:nvPr/>
          </p:nvSpPr>
          <p:spPr>
            <a:xfrm>
              <a:off x="0" y="-38100"/>
              <a:ext cx="14874240" cy="1287780"/>
            </a:xfrm>
            <a:prstGeom prst="rect">
              <a:avLst/>
            </a:prstGeom>
          </p:spPr>
          <p:txBody>
            <a:bodyPr anchor="ctr" rtlCol="false" tIns="0" lIns="0" bIns="0" rIns="0"/>
            <a:lstStyle/>
            <a:p>
              <a:pPr algn="l">
                <a:lnSpc>
                  <a:spcPts val="2063"/>
                </a:lnSpc>
              </a:pPr>
              <a:r>
                <a:rPr lang="en-US" sz="1719">
                  <a:solidFill>
                    <a:srgbClr val="14313B"/>
                  </a:solidFill>
                  <a:latin typeface="Calibri (MS)"/>
                  <a:ea typeface="Calibri (MS)"/>
                  <a:cs typeface="Calibri (MS)"/>
                  <a:sym typeface="Calibri (MS)"/>
                </a:rPr>
                <a:t>Berasal dari 6 subsistem (permintaan &amp; daya tarik, atraksi, ekonomi &amp; investasi, akomodasi, lahan, tenaga kerja); semuanya punya padanan statistik resmi.</a:t>
              </a:r>
            </a:p>
          </p:txBody>
        </p:sp>
      </p:grpSp>
      <p:grpSp>
        <p:nvGrpSpPr>
          <p:cNvPr name="Group 81" id="81"/>
          <p:cNvGrpSpPr/>
          <p:nvPr/>
        </p:nvGrpSpPr>
        <p:grpSpPr>
          <a:xfrm rot="0">
            <a:off x="816607" y="4588507"/>
            <a:ext cx="16654777" cy="1132837"/>
            <a:chOff x="0" y="0"/>
            <a:chExt cx="22206369" cy="1510449"/>
          </a:xfrm>
        </p:grpSpPr>
        <p:sp>
          <p:nvSpPr>
            <p:cNvPr name="Freeform 82" id="82"/>
            <p:cNvSpPr/>
            <p:nvPr/>
          </p:nvSpPr>
          <p:spPr>
            <a:xfrm flipH="false" flipV="false" rot="0">
              <a:off x="0" y="0"/>
              <a:ext cx="22206204" cy="1510284"/>
            </a:xfrm>
            <a:custGeom>
              <a:avLst/>
              <a:gdLst/>
              <a:ahLst/>
              <a:cxnLst/>
              <a:rect r="r" b="b" t="t" l="l"/>
              <a:pathLst>
                <a:path h="1510284" w="22206204">
                  <a:moveTo>
                    <a:pt x="0" y="120777"/>
                  </a:moveTo>
                  <a:cubicBezTo>
                    <a:pt x="0" y="54102"/>
                    <a:pt x="54102" y="0"/>
                    <a:pt x="120777" y="0"/>
                  </a:cubicBezTo>
                  <a:lnTo>
                    <a:pt x="22085427" y="0"/>
                  </a:lnTo>
                  <a:cubicBezTo>
                    <a:pt x="22152102" y="0"/>
                    <a:pt x="22206204" y="54102"/>
                    <a:pt x="22206204" y="120777"/>
                  </a:cubicBezTo>
                  <a:lnTo>
                    <a:pt x="22206204" y="1389507"/>
                  </a:lnTo>
                  <a:cubicBezTo>
                    <a:pt x="22206204" y="1456182"/>
                    <a:pt x="22152102" y="1510284"/>
                    <a:pt x="22085427" y="1510284"/>
                  </a:cubicBezTo>
                  <a:lnTo>
                    <a:pt x="120777" y="1510284"/>
                  </a:lnTo>
                  <a:cubicBezTo>
                    <a:pt x="54102" y="1510284"/>
                    <a:pt x="0" y="1456182"/>
                    <a:pt x="0" y="1389507"/>
                  </a:cubicBezTo>
                  <a:close/>
                </a:path>
              </a:pathLst>
            </a:custGeom>
            <a:solidFill>
              <a:srgbClr val="EAF8FA"/>
            </a:solidFill>
            <a:ln w="12700" cap="sq">
              <a:solidFill>
                <a:srgbClr val="CFE5E9"/>
              </a:solidFill>
              <a:prstDash val="solid"/>
              <a:miter/>
            </a:ln>
          </p:spPr>
          <p:txBody>
            <a:bodyPr/>
            <a:p/>
          </p:txBody>
        </p:sp>
      </p:grpSp>
      <p:grpSp>
        <p:nvGrpSpPr>
          <p:cNvPr name="Group 83" id="83"/>
          <p:cNvGrpSpPr/>
          <p:nvPr/>
        </p:nvGrpSpPr>
        <p:grpSpPr>
          <a:xfrm rot="0">
            <a:off x="1051560" y="4880610"/>
            <a:ext cx="548640" cy="548640"/>
            <a:chOff x="0" y="0"/>
            <a:chExt cx="731520" cy="731520"/>
          </a:xfrm>
        </p:grpSpPr>
        <p:sp>
          <p:nvSpPr>
            <p:cNvPr name="Freeform 84" id="84"/>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85" id="85"/>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2</a:t>
              </a:r>
            </a:p>
          </p:txBody>
        </p:sp>
      </p:grpSp>
      <p:grpSp>
        <p:nvGrpSpPr>
          <p:cNvPr name="Group 86" id="86"/>
          <p:cNvGrpSpPr/>
          <p:nvPr/>
        </p:nvGrpSpPr>
        <p:grpSpPr>
          <a:xfrm rot="0">
            <a:off x="1828800" y="4686300"/>
            <a:ext cx="4206240" cy="937260"/>
            <a:chOff x="0" y="0"/>
            <a:chExt cx="5608320" cy="1249680"/>
          </a:xfrm>
        </p:grpSpPr>
        <p:sp>
          <p:nvSpPr>
            <p:cNvPr name="Freeform 87" id="87"/>
            <p:cNvSpPr/>
            <p:nvPr/>
          </p:nvSpPr>
          <p:spPr>
            <a:xfrm flipH="false" flipV="false" rot="0">
              <a:off x="0" y="0"/>
              <a:ext cx="5608320" cy="1249680"/>
            </a:xfrm>
            <a:custGeom>
              <a:avLst/>
              <a:gdLst/>
              <a:ahLst/>
              <a:cxnLst/>
              <a:rect r="r" b="b" t="t" l="l"/>
              <a:pathLst>
                <a:path h="1249680" w="5608320">
                  <a:moveTo>
                    <a:pt x="0" y="0"/>
                  </a:moveTo>
                  <a:lnTo>
                    <a:pt x="5608320" y="0"/>
                  </a:lnTo>
                  <a:lnTo>
                    <a:pt x="5608320" y="1249680"/>
                  </a:lnTo>
                  <a:lnTo>
                    <a:pt x="0" y="1249680"/>
                  </a:lnTo>
                  <a:close/>
                </a:path>
              </a:pathLst>
            </a:custGeom>
            <a:blipFill>
              <a:blip r:embed="rId6">
                <a:alphaModFix amt="0"/>
              </a:blip>
              <a:stretch>
                <a:fillRect l="0" t="-37445" r="0" b="-37445"/>
              </a:stretch>
            </a:blipFill>
          </p:spPr>
          <p:txBody>
            <a:bodyPr/>
            <a:p/>
          </p:txBody>
        </p:sp>
        <p:sp>
          <p:nvSpPr>
            <p:cNvPr name="TextBox 88" id="88"/>
            <p:cNvSpPr txBox="true"/>
            <p:nvPr/>
          </p:nvSpPr>
          <p:spPr>
            <a:xfrm>
              <a:off x="0" y="-38100"/>
              <a:ext cx="5608320" cy="1287780"/>
            </a:xfrm>
            <a:prstGeom prst="rect">
              <a:avLst/>
            </a:prstGeom>
          </p:spPr>
          <p:txBody>
            <a:bodyPr anchor="ctr" rtlCol="false" tIns="0" lIns="0" bIns="0" rIns="0"/>
            <a:lstStyle/>
            <a:p>
              <a:pPr algn="l">
                <a:lnSpc>
                  <a:spcPts val="2279"/>
                </a:lnSpc>
              </a:pPr>
              <a:r>
                <a:rPr lang="en-US" sz="1899" b="true">
                  <a:solidFill>
                    <a:srgbClr val="0B5E6E"/>
                  </a:solidFill>
                  <a:latin typeface="Calibri (MS) Bold"/>
                  <a:ea typeface="Calibri (MS) Bold"/>
                  <a:cs typeface="Calibri (MS) Bold"/>
                  <a:sym typeface="Calibri (MS) Bold"/>
                </a:rPr>
                <a:t>18 hubungan kausal</a:t>
              </a:r>
            </a:p>
          </p:txBody>
        </p:sp>
      </p:grpSp>
      <p:grpSp>
        <p:nvGrpSpPr>
          <p:cNvPr name="Group 89" id="89"/>
          <p:cNvGrpSpPr/>
          <p:nvPr/>
        </p:nvGrpSpPr>
        <p:grpSpPr>
          <a:xfrm rot="0">
            <a:off x="6126480" y="4686300"/>
            <a:ext cx="11155680" cy="937260"/>
            <a:chOff x="0" y="0"/>
            <a:chExt cx="14874240" cy="1249680"/>
          </a:xfrm>
        </p:grpSpPr>
        <p:sp>
          <p:nvSpPr>
            <p:cNvPr name="Freeform 90" id="90"/>
            <p:cNvSpPr/>
            <p:nvPr/>
          </p:nvSpPr>
          <p:spPr>
            <a:xfrm flipH="false" flipV="false" rot="0">
              <a:off x="0" y="0"/>
              <a:ext cx="14874239" cy="1249680"/>
            </a:xfrm>
            <a:custGeom>
              <a:avLst/>
              <a:gdLst/>
              <a:ahLst/>
              <a:cxnLst/>
              <a:rect r="r" b="b" t="t" l="l"/>
              <a:pathLst>
                <a:path h="1249680" w="14874239">
                  <a:moveTo>
                    <a:pt x="0" y="0"/>
                  </a:moveTo>
                  <a:lnTo>
                    <a:pt x="14874239" y="0"/>
                  </a:lnTo>
                  <a:lnTo>
                    <a:pt x="14874239" y="1249680"/>
                  </a:lnTo>
                  <a:lnTo>
                    <a:pt x="0" y="1249680"/>
                  </a:lnTo>
                  <a:close/>
                </a:path>
              </a:pathLst>
            </a:custGeom>
            <a:blipFill>
              <a:blip r:embed="rId6">
                <a:alphaModFix amt="0"/>
              </a:blip>
              <a:stretch>
                <a:fillRect l="0" t="-181919" r="0" b="-181919"/>
              </a:stretch>
            </a:blipFill>
          </p:spPr>
          <p:txBody>
            <a:bodyPr/>
            <a:p/>
          </p:txBody>
        </p:sp>
        <p:sp>
          <p:nvSpPr>
            <p:cNvPr name="TextBox 91" id="91"/>
            <p:cNvSpPr txBox="true"/>
            <p:nvPr/>
          </p:nvSpPr>
          <p:spPr>
            <a:xfrm>
              <a:off x="0" y="-38100"/>
              <a:ext cx="14874240" cy="1287780"/>
            </a:xfrm>
            <a:prstGeom prst="rect">
              <a:avLst/>
            </a:prstGeom>
          </p:spPr>
          <p:txBody>
            <a:bodyPr anchor="ctr" rtlCol="false" tIns="0" lIns="0" bIns="0" rIns="0"/>
            <a:lstStyle/>
            <a:p>
              <a:pPr algn="l">
                <a:lnSpc>
                  <a:spcPts val="2063"/>
                </a:lnSpc>
              </a:pPr>
              <a:r>
                <a:rPr lang="en-US" sz="1719">
                  <a:solidFill>
                    <a:srgbClr val="14313B"/>
                  </a:solidFill>
                  <a:latin typeface="Calibri (MS)"/>
                  <a:ea typeface="Calibri (MS)"/>
                  <a:cs typeface="Calibri (MS)"/>
                  <a:sym typeface="Calibri (MS)"/>
                </a:rPr>
                <a:t>Dievaluasi arah, mekanisme, dan jenis dukungannya; 1 hubungan (TK → pembangunan ODTW) tidak dipertahankan.</a:t>
              </a:r>
            </a:p>
          </p:txBody>
        </p:sp>
      </p:grpSp>
      <p:grpSp>
        <p:nvGrpSpPr>
          <p:cNvPr name="Group 92" id="92"/>
          <p:cNvGrpSpPr/>
          <p:nvPr/>
        </p:nvGrpSpPr>
        <p:grpSpPr>
          <a:xfrm rot="0">
            <a:off x="816607" y="5891527"/>
            <a:ext cx="16654777" cy="1132837"/>
            <a:chOff x="0" y="0"/>
            <a:chExt cx="22206369" cy="1510449"/>
          </a:xfrm>
        </p:grpSpPr>
        <p:sp>
          <p:nvSpPr>
            <p:cNvPr name="Freeform 93" id="93"/>
            <p:cNvSpPr/>
            <p:nvPr/>
          </p:nvSpPr>
          <p:spPr>
            <a:xfrm flipH="false" flipV="false" rot="0">
              <a:off x="0" y="0"/>
              <a:ext cx="22206204" cy="1510284"/>
            </a:xfrm>
            <a:custGeom>
              <a:avLst/>
              <a:gdLst/>
              <a:ahLst/>
              <a:cxnLst/>
              <a:rect r="r" b="b" t="t" l="l"/>
              <a:pathLst>
                <a:path h="1510284" w="22206204">
                  <a:moveTo>
                    <a:pt x="0" y="120777"/>
                  </a:moveTo>
                  <a:cubicBezTo>
                    <a:pt x="0" y="54102"/>
                    <a:pt x="54102" y="0"/>
                    <a:pt x="120777" y="0"/>
                  </a:cubicBezTo>
                  <a:lnTo>
                    <a:pt x="22085427" y="0"/>
                  </a:lnTo>
                  <a:cubicBezTo>
                    <a:pt x="22152102" y="0"/>
                    <a:pt x="22206204" y="54102"/>
                    <a:pt x="22206204" y="120777"/>
                  </a:cubicBezTo>
                  <a:lnTo>
                    <a:pt x="22206204" y="1389507"/>
                  </a:lnTo>
                  <a:cubicBezTo>
                    <a:pt x="22206204" y="1456182"/>
                    <a:pt x="22152102" y="1510284"/>
                    <a:pt x="22085427" y="1510284"/>
                  </a:cubicBezTo>
                  <a:lnTo>
                    <a:pt x="120777" y="1510284"/>
                  </a:lnTo>
                  <a:cubicBezTo>
                    <a:pt x="54102" y="1510284"/>
                    <a:pt x="0" y="1456182"/>
                    <a:pt x="0" y="1389507"/>
                  </a:cubicBezTo>
                  <a:close/>
                </a:path>
              </a:pathLst>
            </a:custGeom>
            <a:solidFill>
              <a:srgbClr val="EAF8FA"/>
            </a:solidFill>
            <a:ln w="12700" cap="sq">
              <a:solidFill>
                <a:srgbClr val="CFE5E9"/>
              </a:solidFill>
              <a:prstDash val="solid"/>
              <a:miter/>
            </a:ln>
          </p:spPr>
          <p:txBody>
            <a:bodyPr/>
            <a:p/>
          </p:txBody>
        </p:sp>
      </p:grpSp>
      <p:grpSp>
        <p:nvGrpSpPr>
          <p:cNvPr name="Group 94" id="94"/>
          <p:cNvGrpSpPr/>
          <p:nvPr/>
        </p:nvGrpSpPr>
        <p:grpSpPr>
          <a:xfrm rot="0">
            <a:off x="1051560" y="6183630"/>
            <a:ext cx="548640" cy="548640"/>
            <a:chOff x="0" y="0"/>
            <a:chExt cx="731520" cy="731520"/>
          </a:xfrm>
        </p:grpSpPr>
        <p:sp>
          <p:nvSpPr>
            <p:cNvPr name="Freeform 95" id="95"/>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96" id="96"/>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3</a:t>
              </a:r>
            </a:p>
          </p:txBody>
        </p:sp>
      </p:grpSp>
      <p:grpSp>
        <p:nvGrpSpPr>
          <p:cNvPr name="Group 97" id="97"/>
          <p:cNvGrpSpPr/>
          <p:nvPr/>
        </p:nvGrpSpPr>
        <p:grpSpPr>
          <a:xfrm rot="0">
            <a:off x="1828800" y="5989320"/>
            <a:ext cx="4206240" cy="937260"/>
            <a:chOff x="0" y="0"/>
            <a:chExt cx="5608320" cy="1249680"/>
          </a:xfrm>
        </p:grpSpPr>
        <p:sp>
          <p:nvSpPr>
            <p:cNvPr name="Freeform 98" id="98"/>
            <p:cNvSpPr/>
            <p:nvPr/>
          </p:nvSpPr>
          <p:spPr>
            <a:xfrm flipH="false" flipV="false" rot="0">
              <a:off x="0" y="0"/>
              <a:ext cx="5608320" cy="1249680"/>
            </a:xfrm>
            <a:custGeom>
              <a:avLst/>
              <a:gdLst/>
              <a:ahLst/>
              <a:cxnLst/>
              <a:rect r="r" b="b" t="t" l="l"/>
              <a:pathLst>
                <a:path h="1249680" w="5608320">
                  <a:moveTo>
                    <a:pt x="0" y="0"/>
                  </a:moveTo>
                  <a:lnTo>
                    <a:pt x="5608320" y="0"/>
                  </a:lnTo>
                  <a:lnTo>
                    <a:pt x="5608320" y="1249680"/>
                  </a:lnTo>
                  <a:lnTo>
                    <a:pt x="0" y="1249680"/>
                  </a:lnTo>
                  <a:close/>
                </a:path>
              </a:pathLst>
            </a:custGeom>
            <a:blipFill>
              <a:blip r:embed="rId6">
                <a:alphaModFix amt="0"/>
              </a:blip>
              <a:stretch>
                <a:fillRect l="0" t="-37445" r="0" b="-37445"/>
              </a:stretch>
            </a:blipFill>
          </p:spPr>
          <p:txBody>
            <a:bodyPr/>
            <a:p/>
          </p:txBody>
        </p:sp>
        <p:sp>
          <p:nvSpPr>
            <p:cNvPr name="TextBox 99" id="99"/>
            <p:cNvSpPr txBox="true"/>
            <p:nvPr/>
          </p:nvSpPr>
          <p:spPr>
            <a:xfrm>
              <a:off x="0" y="-38100"/>
              <a:ext cx="5608320" cy="1287780"/>
            </a:xfrm>
            <a:prstGeom prst="rect">
              <a:avLst/>
            </a:prstGeom>
          </p:spPr>
          <p:txBody>
            <a:bodyPr anchor="ctr" rtlCol="false" tIns="0" lIns="0" bIns="0" rIns="0"/>
            <a:lstStyle/>
            <a:p>
              <a:pPr algn="l">
                <a:lnSpc>
                  <a:spcPts val="2279"/>
                </a:lnSpc>
              </a:pPr>
              <a:r>
                <a:rPr lang="en-US" sz="1899" b="true">
                  <a:solidFill>
                    <a:srgbClr val="0B5E6E"/>
                  </a:solidFill>
                  <a:latin typeface="Calibri (MS) Bold"/>
                  <a:ea typeface="Calibri (MS) Bold"/>
                  <a:cs typeface="Calibri (MS) Bold"/>
                  <a:sym typeface="Calibri (MS) Bold"/>
                </a:rPr>
                <a:t>6 feedback loop</a:t>
              </a:r>
            </a:p>
          </p:txBody>
        </p:sp>
      </p:grpSp>
      <p:grpSp>
        <p:nvGrpSpPr>
          <p:cNvPr name="Group 100" id="100"/>
          <p:cNvGrpSpPr/>
          <p:nvPr/>
        </p:nvGrpSpPr>
        <p:grpSpPr>
          <a:xfrm rot="0">
            <a:off x="6126480" y="5989320"/>
            <a:ext cx="11155680" cy="937260"/>
            <a:chOff x="0" y="0"/>
            <a:chExt cx="14874240" cy="1249680"/>
          </a:xfrm>
        </p:grpSpPr>
        <p:sp>
          <p:nvSpPr>
            <p:cNvPr name="Freeform 101" id="101"/>
            <p:cNvSpPr/>
            <p:nvPr/>
          </p:nvSpPr>
          <p:spPr>
            <a:xfrm flipH="false" flipV="false" rot="0">
              <a:off x="0" y="0"/>
              <a:ext cx="14874239" cy="1249680"/>
            </a:xfrm>
            <a:custGeom>
              <a:avLst/>
              <a:gdLst/>
              <a:ahLst/>
              <a:cxnLst/>
              <a:rect r="r" b="b" t="t" l="l"/>
              <a:pathLst>
                <a:path h="1249680" w="14874239">
                  <a:moveTo>
                    <a:pt x="0" y="0"/>
                  </a:moveTo>
                  <a:lnTo>
                    <a:pt x="14874239" y="0"/>
                  </a:lnTo>
                  <a:lnTo>
                    <a:pt x="14874239" y="1249680"/>
                  </a:lnTo>
                  <a:lnTo>
                    <a:pt x="0" y="1249680"/>
                  </a:lnTo>
                  <a:close/>
                </a:path>
              </a:pathLst>
            </a:custGeom>
            <a:blipFill>
              <a:blip r:embed="rId6">
                <a:alphaModFix amt="0"/>
              </a:blip>
              <a:stretch>
                <a:fillRect l="0" t="-181919" r="0" b="-181919"/>
              </a:stretch>
            </a:blipFill>
          </p:spPr>
          <p:txBody>
            <a:bodyPr/>
            <a:p/>
          </p:txBody>
        </p:sp>
        <p:sp>
          <p:nvSpPr>
            <p:cNvPr name="TextBox 102" id="102"/>
            <p:cNvSpPr txBox="true"/>
            <p:nvPr/>
          </p:nvSpPr>
          <p:spPr>
            <a:xfrm>
              <a:off x="0" y="-38100"/>
              <a:ext cx="14874240" cy="1287780"/>
            </a:xfrm>
            <a:prstGeom prst="rect">
              <a:avLst/>
            </a:prstGeom>
          </p:spPr>
          <p:txBody>
            <a:bodyPr anchor="ctr" rtlCol="false" tIns="0" lIns="0" bIns="0" rIns="0"/>
            <a:lstStyle/>
            <a:p>
              <a:pPr algn="l">
                <a:lnSpc>
                  <a:spcPts val="2063"/>
                </a:lnSpc>
              </a:pPr>
              <a:r>
                <a:rPr lang="en-US" sz="1719">
                  <a:solidFill>
                    <a:srgbClr val="14313B"/>
                  </a:solidFill>
                  <a:latin typeface="Calibri (MS)"/>
                  <a:ea typeface="Calibri (MS)"/>
                  <a:cs typeface="Calibri (MS)"/>
                  <a:sym typeface="Calibri (MS)"/>
                </a:rPr>
                <a:t>R1 pertumbuhan, R2 ekonomi–atraksi, B1 kepadatan, B2 daya dukung lahan, B3 okupansi, B4 penyesuaian TK — hipotesis dinamis penelitian.</a:t>
              </a:r>
            </a:p>
          </p:txBody>
        </p:sp>
      </p:grpSp>
      <p:grpSp>
        <p:nvGrpSpPr>
          <p:cNvPr name="Group 103" id="103"/>
          <p:cNvGrpSpPr/>
          <p:nvPr/>
        </p:nvGrpSpPr>
        <p:grpSpPr>
          <a:xfrm rot="0">
            <a:off x="816607" y="7194547"/>
            <a:ext cx="16654777" cy="1132837"/>
            <a:chOff x="0" y="0"/>
            <a:chExt cx="22206369" cy="1510449"/>
          </a:xfrm>
        </p:grpSpPr>
        <p:sp>
          <p:nvSpPr>
            <p:cNvPr name="Freeform 104" id="104"/>
            <p:cNvSpPr/>
            <p:nvPr/>
          </p:nvSpPr>
          <p:spPr>
            <a:xfrm flipH="false" flipV="false" rot="0">
              <a:off x="0" y="0"/>
              <a:ext cx="22206204" cy="1510284"/>
            </a:xfrm>
            <a:custGeom>
              <a:avLst/>
              <a:gdLst/>
              <a:ahLst/>
              <a:cxnLst/>
              <a:rect r="r" b="b" t="t" l="l"/>
              <a:pathLst>
                <a:path h="1510284" w="22206204">
                  <a:moveTo>
                    <a:pt x="0" y="120777"/>
                  </a:moveTo>
                  <a:cubicBezTo>
                    <a:pt x="0" y="54102"/>
                    <a:pt x="54102" y="0"/>
                    <a:pt x="120777" y="0"/>
                  </a:cubicBezTo>
                  <a:lnTo>
                    <a:pt x="22085427" y="0"/>
                  </a:lnTo>
                  <a:cubicBezTo>
                    <a:pt x="22152102" y="0"/>
                    <a:pt x="22206204" y="54102"/>
                    <a:pt x="22206204" y="120777"/>
                  </a:cubicBezTo>
                  <a:lnTo>
                    <a:pt x="22206204" y="1389507"/>
                  </a:lnTo>
                  <a:cubicBezTo>
                    <a:pt x="22206204" y="1456182"/>
                    <a:pt x="22152102" y="1510284"/>
                    <a:pt x="22085427" y="1510284"/>
                  </a:cubicBezTo>
                  <a:lnTo>
                    <a:pt x="120777" y="1510284"/>
                  </a:lnTo>
                  <a:cubicBezTo>
                    <a:pt x="54102" y="1510284"/>
                    <a:pt x="0" y="1456182"/>
                    <a:pt x="0" y="1389507"/>
                  </a:cubicBezTo>
                  <a:close/>
                </a:path>
              </a:pathLst>
            </a:custGeom>
            <a:solidFill>
              <a:srgbClr val="EAF8FA"/>
            </a:solidFill>
            <a:ln w="12700" cap="sq">
              <a:solidFill>
                <a:srgbClr val="CFE5E9"/>
              </a:solidFill>
              <a:prstDash val="solid"/>
              <a:miter/>
            </a:ln>
          </p:spPr>
          <p:txBody>
            <a:bodyPr/>
            <a:p/>
          </p:txBody>
        </p:sp>
      </p:grpSp>
      <p:grpSp>
        <p:nvGrpSpPr>
          <p:cNvPr name="Group 105" id="105"/>
          <p:cNvGrpSpPr/>
          <p:nvPr/>
        </p:nvGrpSpPr>
        <p:grpSpPr>
          <a:xfrm rot="0">
            <a:off x="1051560" y="7486650"/>
            <a:ext cx="548640" cy="548640"/>
            <a:chOff x="0" y="0"/>
            <a:chExt cx="731520" cy="731520"/>
          </a:xfrm>
        </p:grpSpPr>
        <p:sp>
          <p:nvSpPr>
            <p:cNvPr name="Freeform 106" id="106"/>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107" id="107"/>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4</a:t>
              </a:r>
            </a:p>
          </p:txBody>
        </p:sp>
      </p:grpSp>
      <p:grpSp>
        <p:nvGrpSpPr>
          <p:cNvPr name="Group 108" id="108"/>
          <p:cNvGrpSpPr/>
          <p:nvPr/>
        </p:nvGrpSpPr>
        <p:grpSpPr>
          <a:xfrm rot="0">
            <a:off x="1828800" y="7292340"/>
            <a:ext cx="4206240" cy="937260"/>
            <a:chOff x="0" y="0"/>
            <a:chExt cx="5608320" cy="1249680"/>
          </a:xfrm>
        </p:grpSpPr>
        <p:sp>
          <p:nvSpPr>
            <p:cNvPr name="Freeform 109" id="109"/>
            <p:cNvSpPr/>
            <p:nvPr/>
          </p:nvSpPr>
          <p:spPr>
            <a:xfrm flipH="false" flipV="false" rot="0">
              <a:off x="0" y="0"/>
              <a:ext cx="5608320" cy="1249680"/>
            </a:xfrm>
            <a:custGeom>
              <a:avLst/>
              <a:gdLst/>
              <a:ahLst/>
              <a:cxnLst/>
              <a:rect r="r" b="b" t="t" l="l"/>
              <a:pathLst>
                <a:path h="1249680" w="5608320">
                  <a:moveTo>
                    <a:pt x="0" y="0"/>
                  </a:moveTo>
                  <a:lnTo>
                    <a:pt x="5608320" y="0"/>
                  </a:lnTo>
                  <a:lnTo>
                    <a:pt x="5608320" y="1249680"/>
                  </a:lnTo>
                  <a:lnTo>
                    <a:pt x="0" y="1249680"/>
                  </a:lnTo>
                  <a:close/>
                </a:path>
              </a:pathLst>
            </a:custGeom>
            <a:blipFill>
              <a:blip r:embed="rId6">
                <a:alphaModFix amt="0"/>
              </a:blip>
              <a:stretch>
                <a:fillRect l="0" t="-37445" r="0" b="-37445"/>
              </a:stretch>
            </a:blipFill>
          </p:spPr>
          <p:txBody>
            <a:bodyPr/>
            <a:p/>
          </p:txBody>
        </p:sp>
        <p:sp>
          <p:nvSpPr>
            <p:cNvPr name="TextBox 110" id="110"/>
            <p:cNvSpPr txBox="true"/>
            <p:nvPr/>
          </p:nvSpPr>
          <p:spPr>
            <a:xfrm>
              <a:off x="0" y="-38100"/>
              <a:ext cx="5608320" cy="1287780"/>
            </a:xfrm>
            <a:prstGeom prst="rect">
              <a:avLst/>
            </a:prstGeom>
          </p:spPr>
          <p:txBody>
            <a:bodyPr anchor="ctr" rtlCol="false" tIns="0" lIns="0" bIns="0" rIns="0"/>
            <a:lstStyle/>
            <a:p>
              <a:pPr algn="l">
                <a:lnSpc>
                  <a:spcPts val="2279"/>
                </a:lnSpc>
              </a:pPr>
              <a:r>
                <a:rPr lang="en-US" sz="1899" b="true">
                  <a:solidFill>
                    <a:srgbClr val="0B5E6E"/>
                  </a:solidFill>
                  <a:latin typeface="Calibri (MS) Bold"/>
                  <a:ea typeface="Calibri (MS) Bold"/>
                  <a:cs typeface="Calibri (MS) Bold"/>
                  <a:sym typeface="Calibri (MS) Bold"/>
                </a:rPr>
                <a:t>Batas model eksplisit</a:t>
              </a:r>
            </a:p>
          </p:txBody>
        </p:sp>
      </p:grpSp>
      <p:grpSp>
        <p:nvGrpSpPr>
          <p:cNvPr name="Group 111" id="111"/>
          <p:cNvGrpSpPr/>
          <p:nvPr/>
        </p:nvGrpSpPr>
        <p:grpSpPr>
          <a:xfrm rot="0">
            <a:off x="6126480" y="7292340"/>
            <a:ext cx="11155680" cy="937260"/>
            <a:chOff x="0" y="0"/>
            <a:chExt cx="14874240" cy="1249680"/>
          </a:xfrm>
        </p:grpSpPr>
        <p:sp>
          <p:nvSpPr>
            <p:cNvPr name="Freeform 112" id="112"/>
            <p:cNvSpPr/>
            <p:nvPr/>
          </p:nvSpPr>
          <p:spPr>
            <a:xfrm flipH="false" flipV="false" rot="0">
              <a:off x="0" y="0"/>
              <a:ext cx="14874239" cy="1249680"/>
            </a:xfrm>
            <a:custGeom>
              <a:avLst/>
              <a:gdLst/>
              <a:ahLst/>
              <a:cxnLst/>
              <a:rect r="r" b="b" t="t" l="l"/>
              <a:pathLst>
                <a:path h="1249680" w="14874239">
                  <a:moveTo>
                    <a:pt x="0" y="0"/>
                  </a:moveTo>
                  <a:lnTo>
                    <a:pt x="14874239" y="0"/>
                  </a:lnTo>
                  <a:lnTo>
                    <a:pt x="14874239" y="1249680"/>
                  </a:lnTo>
                  <a:lnTo>
                    <a:pt x="0" y="1249680"/>
                  </a:lnTo>
                  <a:close/>
                </a:path>
              </a:pathLst>
            </a:custGeom>
            <a:blipFill>
              <a:blip r:embed="rId6">
                <a:alphaModFix amt="0"/>
              </a:blip>
              <a:stretch>
                <a:fillRect l="0" t="-181919" r="0" b="-181919"/>
              </a:stretch>
            </a:blipFill>
          </p:spPr>
          <p:txBody>
            <a:bodyPr/>
            <a:p/>
          </p:txBody>
        </p:sp>
        <p:sp>
          <p:nvSpPr>
            <p:cNvPr name="TextBox 113" id="113"/>
            <p:cNvSpPr txBox="true"/>
            <p:nvPr/>
          </p:nvSpPr>
          <p:spPr>
            <a:xfrm>
              <a:off x="0" y="-38100"/>
              <a:ext cx="14874240" cy="1287780"/>
            </a:xfrm>
            <a:prstGeom prst="rect">
              <a:avLst/>
            </a:prstGeom>
          </p:spPr>
          <p:txBody>
            <a:bodyPr anchor="ctr" rtlCol="false" tIns="0" lIns="0" bIns="0" rIns="0"/>
            <a:lstStyle/>
            <a:p>
              <a:pPr algn="l">
                <a:lnSpc>
                  <a:spcPts val="2063"/>
                </a:lnSpc>
              </a:pPr>
              <a:r>
                <a:rPr lang="en-US" sz="1719">
                  <a:solidFill>
                    <a:srgbClr val="14313B"/>
                  </a:solidFill>
                  <a:latin typeface="Calibri (MS)"/>
                  <a:ea typeface="Calibri (MS)"/>
                  <a:cs typeface="Calibri (MS)"/>
                  <a:sym typeface="Calibri (MS)"/>
                </a:rPr>
                <a:t>26 variabel dihitung model, 35 input dari luar model, 15 aspek dikeluarkan beserta dampaknya pada penafsiran hasil.</a:t>
              </a:r>
            </a:p>
          </p:txBody>
        </p:sp>
      </p:grpSp>
      <p:grpSp>
        <p:nvGrpSpPr>
          <p:cNvPr name="Group 114" id="114"/>
          <p:cNvGrpSpPr/>
          <p:nvPr/>
        </p:nvGrpSpPr>
        <p:grpSpPr>
          <a:xfrm rot="0">
            <a:off x="816607" y="8497567"/>
            <a:ext cx="16654777" cy="744217"/>
            <a:chOff x="0" y="0"/>
            <a:chExt cx="22206369" cy="992289"/>
          </a:xfrm>
        </p:grpSpPr>
        <p:sp>
          <p:nvSpPr>
            <p:cNvPr name="Freeform 115" id="115"/>
            <p:cNvSpPr/>
            <p:nvPr/>
          </p:nvSpPr>
          <p:spPr>
            <a:xfrm flipH="false" flipV="false" rot="0">
              <a:off x="0" y="0"/>
              <a:ext cx="22206331" cy="992251"/>
            </a:xfrm>
            <a:custGeom>
              <a:avLst/>
              <a:gdLst/>
              <a:ahLst/>
              <a:cxnLst/>
              <a:rect r="r" b="b" t="t" l="l"/>
              <a:pathLst>
                <a:path h="992251" w="22206331">
                  <a:moveTo>
                    <a:pt x="0" y="79375"/>
                  </a:moveTo>
                  <a:cubicBezTo>
                    <a:pt x="0" y="35560"/>
                    <a:pt x="35560" y="0"/>
                    <a:pt x="79375" y="0"/>
                  </a:cubicBezTo>
                  <a:lnTo>
                    <a:pt x="22126956" y="0"/>
                  </a:lnTo>
                  <a:cubicBezTo>
                    <a:pt x="22170771" y="0"/>
                    <a:pt x="22206331" y="35560"/>
                    <a:pt x="22206331" y="79375"/>
                  </a:cubicBezTo>
                  <a:lnTo>
                    <a:pt x="22206331" y="912876"/>
                  </a:lnTo>
                  <a:cubicBezTo>
                    <a:pt x="22206331" y="956691"/>
                    <a:pt x="22170771" y="992251"/>
                    <a:pt x="22126956" y="992251"/>
                  </a:cubicBezTo>
                  <a:lnTo>
                    <a:pt x="79375" y="992251"/>
                  </a:lnTo>
                  <a:cubicBezTo>
                    <a:pt x="35560" y="992251"/>
                    <a:pt x="0" y="956691"/>
                    <a:pt x="0" y="912876"/>
                  </a:cubicBezTo>
                  <a:close/>
                </a:path>
              </a:pathLst>
            </a:custGeom>
            <a:solidFill>
              <a:srgbClr val="FFF1BF"/>
            </a:solidFill>
            <a:ln w="12700" cap="sq">
              <a:solidFill>
                <a:srgbClr val="FFD23B"/>
              </a:solidFill>
              <a:prstDash val="solid"/>
              <a:miter/>
            </a:ln>
          </p:spPr>
          <p:txBody>
            <a:bodyPr/>
            <a:p/>
          </p:txBody>
        </p:sp>
        <p:sp>
          <p:nvSpPr>
            <p:cNvPr name="TextBox 116" id="116"/>
            <p:cNvSpPr txBox="true"/>
            <p:nvPr/>
          </p:nvSpPr>
          <p:spPr>
            <a:xfrm>
              <a:off x="0" y="-38100"/>
              <a:ext cx="22206369" cy="103038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CLD final menjadi masukan langsung Tujuan 2: dioperasionalkan menjadi SFD 61 variabel (5 stock, 10 flow, 11 auxiliary, 35 parameter).</a:t>
              </a:r>
            </a:p>
          </p:txBody>
        </p:sp>
      </p:grpSp>
      <p:grpSp>
        <p:nvGrpSpPr>
          <p:cNvPr name="Group 117" id="117"/>
          <p:cNvGrpSpPr/>
          <p:nvPr/>
        </p:nvGrpSpPr>
        <p:grpSpPr>
          <a:xfrm rot="0">
            <a:off x="16047720" y="9646920"/>
            <a:ext cx="420624" cy="420624"/>
            <a:chOff x="0" y="0"/>
            <a:chExt cx="560832" cy="560832"/>
          </a:xfrm>
        </p:grpSpPr>
        <p:sp>
          <p:nvSpPr>
            <p:cNvPr name="Freeform 118" id="118"/>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19" id="119"/>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bg>
      <p:bgPr>
        <a:solidFill>
          <a:srgbClr val="0B5E6E"/>
        </a:solidFill>
      </p:bgPr>
    </p:bg>
    <p:spTree>
      <p:nvGrpSpPr>
        <p:cNvPr id="1" name=""/>
        <p:cNvGrpSpPr/>
        <p:nvPr/>
      </p:nvGrpSpPr>
      <p:grpSpPr>
        <a:xfrm>
          <a:off x="0" y="0"/>
          <a:ext cx="0" cy="0"/>
          <a:chOff x="0" y="0"/>
          <a:chExt cx="0" cy="0"/>
        </a:xfrm>
      </p:grpSpPr>
      <p:grpSp>
        <p:nvGrpSpPr>
          <p:cNvPr name="Group 2" id="2"/>
          <p:cNvGrpSpPr/>
          <p:nvPr/>
        </p:nvGrpSpPr>
        <p:grpSpPr>
          <a:xfrm rot="0">
            <a:off x="8462772" y="1645920"/>
            <a:ext cx="1371600" cy="1371600"/>
            <a:chOff x="0" y="0"/>
            <a:chExt cx="1828800" cy="1828800"/>
          </a:xfrm>
        </p:grpSpPr>
        <p:sp>
          <p:nvSpPr>
            <p:cNvPr name="Freeform 3" id="3" descr="Logo Politeknik Statistika STIS"/>
            <p:cNvSpPr/>
            <p:nvPr/>
          </p:nvSpPr>
          <p:spPr>
            <a:xfrm flipH="false" flipV="false" rot="0">
              <a:off x="0" y="0"/>
              <a:ext cx="1828800" cy="1828800"/>
            </a:xfrm>
            <a:custGeom>
              <a:avLst/>
              <a:gdLst/>
              <a:ahLst/>
              <a:cxnLst/>
              <a:rect r="r" b="b" t="t" l="l"/>
              <a:pathLst>
                <a:path h="1828800" w="1828800">
                  <a:moveTo>
                    <a:pt x="0" y="0"/>
                  </a:moveTo>
                  <a:lnTo>
                    <a:pt x="1828800" y="0"/>
                  </a:lnTo>
                  <a:lnTo>
                    <a:pt x="1828800" y="1828800"/>
                  </a:lnTo>
                  <a:lnTo>
                    <a:pt x="0" y="1828800"/>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3497580"/>
            <a:ext cx="16637508" cy="1371600"/>
            <a:chOff x="0" y="0"/>
            <a:chExt cx="22183344" cy="1828800"/>
          </a:xfrm>
        </p:grpSpPr>
        <p:sp>
          <p:nvSpPr>
            <p:cNvPr name="Freeform 5" id="5"/>
            <p:cNvSpPr/>
            <p:nvPr/>
          </p:nvSpPr>
          <p:spPr>
            <a:xfrm flipH="false" flipV="false" rot="0">
              <a:off x="0" y="0"/>
              <a:ext cx="22183344" cy="1828800"/>
            </a:xfrm>
            <a:custGeom>
              <a:avLst/>
              <a:gdLst/>
              <a:ahLst/>
              <a:cxnLst/>
              <a:rect r="r" b="b" t="t" l="l"/>
              <a:pathLst>
                <a:path h="1828800" w="22183344">
                  <a:moveTo>
                    <a:pt x="0" y="0"/>
                  </a:moveTo>
                  <a:lnTo>
                    <a:pt x="22183344" y="0"/>
                  </a:lnTo>
                  <a:lnTo>
                    <a:pt x="22183344" y="1828800"/>
                  </a:lnTo>
                  <a:lnTo>
                    <a:pt x="0" y="1828800"/>
                  </a:lnTo>
                  <a:close/>
                </a:path>
              </a:pathLst>
            </a:custGeom>
            <a:blipFill>
              <a:blip r:embed="rId4">
                <a:alphaModFix amt="0"/>
              </a:blip>
              <a:stretch>
                <a:fillRect l="0" t="-186188" r="0" b="-186189"/>
              </a:stretch>
            </a:blipFill>
          </p:spPr>
          <p:txBody>
            <a:bodyPr/>
            <a:p/>
          </p:txBody>
        </p:sp>
      </p:grpSp>
      <p:grpSp>
        <p:nvGrpSpPr>
          <p:cNvPr name="Group 6" id="6"/>
          <p:cNvGrpSpPr/>
          <p:nvPr/>
        </p:nvGrpSpPr>
        <p:grpSpPr>
          <a:xfrm rot="0">
            <a:off x="822960" y="3376136"/>
            <a:ext cx="16637508" cy="1493044"/>
            <a:chOff x="0" y="0"/>
            <a:chExt cx="22183344" cy="1990725"/>
          </a:xfrm>
        </p:grpSpPr>
        <p:sp>
          <p:nvSpPr>
            <p:cNvPr name="Freeform 7" id="7"/>
            <p:cNvSpPr/>
            <p:nvPr/>
          </p:nvSpPr>
          <p:spPr>
            <a:xfrm flipH="false" flipV="false" rot="0">
              <a:off x="0" y="0"/>
              <a:ext cx="22183344" cy="1990725"/>
            </a:xfrm>
            <a:custGeom>
              <a:avLst/>
              <a:gdLst/>
              <a:ahLst/>
              <a:cxnLst/>
              <a:rect r="r" b="b" t="t" l="l"/>
              <a:pathLst>
                <a:path h="1990725" w="22183344">
                  <a:moveTo>
                    <a:pt x="0" y="0"/>
                  </a:moveTo>
                  <a:lnTo>
                    <a:pt x="22183344" y="0"/>
                  </a:lnTo>
                  <a:lnTo>
                    <a:pt x="22183344" y="1990725"/>
                  </a:lnTo>
                  <a:lnTo>
                    <a:pt x="0" y="1990725"/>
                  </a:lnTo>
                  <a:close/>
                </a:path>
              </a:pathLst>
            </a:custGeom>
            <a:blipFill>
              <a:blip r:embed="rId5">
                <a:alphaModFix amt="0"/>
              </a:blip>
              <a:stretch>
                <a:fillRect l="0" t="-166977" r="0" b="-166977"/>
              </a:stretch>
            </a:blipFill>
          </p:spPr>
          <p:txBody>
            <a:bodyPr/>
            <a:p/>
          </p:txBody>
        </p:sp>
      </p:grpSp>
      <p:grpSp>
        <p:nvGrpSpPr>
          <p:cNvPr name="Group 8" id="8"/>
          <p:cNvGrpSpPr/>
          <p:nvPr/>
        </p:nvGrpSpPr>
        <p:grpSpPr>
          <a:xfrm rot="0">
            <a:off x="822960" y="3254692"/>
            <a:ext cx="16637508" cy="1614488"/>
            <a:chOff x="0" y="0"/>
            <a:chExt cx="22183344" cy="2152650"/>
          </a:xfrm>
        </p:grpSpPr>
        <p:sp>
          <p:nvSpPr>
            <p:cNvPr name="Freeform 9" id="9"/>
            <p:cNvSpPr/>
            <p:nvPr/>
          </p:nvSpPr>
          <p:spPr>
            <a:xfrm flipH="false" flipV="false" rot="0">
              <a:off x="0" y="0"/>
              <a:ext cx="22183344" cy="2152650"/>
            </a:xfrm>
            <a:custGeom>
              <a:avLst/>
              <a:gdLst/>
              <a:ahLst/>
              <a:cxnLst/>
              <a:rect r="r" b="b" t="t" l="l"/>
              <a:pathLst>
                <a:path h="2152650" w="22183344">
                  <a:moveTo>
                    <a:pt x="0" y="0"/>
                  </a:moveTo>
                  <a:lnTo>
                    <a:pt x="22183344" y="0"/>
                  </a:lnTo>
                  <a:lnTo>
                    <a:pt x="22183344" y="2152650"/>
                  </a:lnTo>
                  <a:lnTo>
                    <a:pt x="0" y="2152650"/>
                  </a:lnTo>
                  <a:close/>
                </a:path>
              </a:pathLst>
            </a:custGeom>
            <a:blipFill>
              <a:blip r:embed="rId6">
                <a:alphaModFix amt="0"/>
              </a:blip>
              <a:stretch>
                <a:fillRect l="0" t="-150795" r="0" b="-150795"/>
              </a:stretch>
            </a:blipFill>
          </p:spPr>
          <p:txBody>
            <a:bodyPr/>
            <a:p/>
          </p:txBody>
        </p:sp>
        <p:sp>
          <p:nvSpPr>
            <p:cNvPr name="TextBox 10" id="10"/>
            <p:cNvSpPr txBox="true"/>
            <p:nvPr/>
          </p:nvSpPr>
          <p:spPr>
            <a:xfrm>
              <a:off x="0" y="-161925"/>
              <a:ext cx="22183344" cy="2314575"/>
            </a:xfrm>
            <a:prstGeom prst="rect">
              <a:avLst/>
            </a:prstGeom>
          </p:spPr>
          <p:txBody>
            <a:bodyPr anchor="ctr" rtlCol="false" tIns="0" lIns="0" bIns="0" rIns="0"/>
            <a:lstStyle/>
            <a:p>
              <a:pPr algn="ctr">
                <a:lnSpc>
                  <a:spcPts val="9360"/>
                </a:lnSpc>
              </a:pPr>
              <a:r>
                <a:rPr lang="en-US" sz="7800" b="true">
                  <a:solidFill>
                    <a:srgbClr val="FFD23B"/>
                  </a:solidFill>
                  <a:latin typeface="Calibri (MS) Bold"/>
                  <a:ea typeface="Calibri (MS) Bold"/>
                  <a:cs typeface="Calibri (MS) Bold"/>
                  <a:sym typeface="Calibri (MS) Bold"/>
                </a:rPr>
                <a:t>Tujuan 2</a:t>
              </a:r>
            </a:p>
          </p:txBody>
        </p:sp>
      </p:grpSp>
      <p:sp>
        <p:nvSpPr>
          <p:cNvPr name="TextBox 11" id="11"/>
          <p:cNvSpPr txBox="true"/>
          <p:nvPr/>
        </p:nvSpPr>
        <p:spPr>
          <a:xfrm rot="0">
            <a:off x="2057400" y="4884420"/>
            <a:ext cx="14168628" cy="1287780"/>
          </a:xfrm>
          <a:prstGeom prst="rect">
            <a:avLst/>
          </a:prstGeom>
        </p:spPr>
        <p:txBody>
          <a:bodyPr anchor="t" rtlCol="false" tIns="0" lIns="0" bIns="0" rIns="0">
            <a:spAutoFit/>
          </a:bodyPr>
          <a:lstStyle/>
          <a:p>
            <a:pPr algn="ctr">
              <a:lnSpc>
                <a:spcPts val="3059"/>
              </a:lnSpc>
            </a:pPr>
            <a:r>
              <a:rPr lang="en-US" sz="2100">
                <a:solidFill>
                  <a:srgbClr val="FFFFFF"/>
                </a:solidFill>
                <a:latin typeface="Calibri (MS)"/>
                <a:ea typeface="Calibri (MS)"/>
                <a:cs typeface="Calibri (MS)"/>
                <a:sym typeface="Calibri (MS)"/>
              </a:rPr>
              <a:t>Mengembangkan model sistem dinamis yang komprehensif dan memanfaatkan data citra satelit untuk memutakhirkan variabel yang mengalami jeda data, serta menguji validitas strukturnya dan kesesuaiannya terhadap data historis sebagai dasar simulasi kebijakan pariwisata.</a:t>
            </a:r>
          </a:p>
        </p:txBody>
      </p:sp>
      <p:sp>
        <p:nvSpPr>
          <p:cNvPr name="TextBox 12" id="12"/>
          <p:cNvSpPr txBox="true"/>
          <p:nvPr/>
        </p:nvSpPr>
        <p:spPr>
          <a:xfrm rot="0">
            <a:off x="822960" y="6717030"/>
            <a:ext cx="16637508" cy="758190"/>
          </a:xfrm>
          <a:prstGeom prst="rect">
            <a:avLst/>
          </a:prstGeom>
        </p:spPr>
        <p:txBody>
          <a:bodyPr anchor="t" rtlCol="false" tIns="0" lIns="0" bIns="0" rIns="0">
            <a:spAutoFit/>
          </a:bodyPr>
          <a:lstStyle/>
          <a:p>
            <a:pPr algn="ctr">
              <a:lnSpc>
                <a:spcPts val="2700"/>
              </a:lnSpc>
            </a:pPr>
            <a:r>
              <a:rPr lang="en-US" sz="1800" b="true">
                <a:solidFill>
                  <a:srgbClr val="FFFFFF"/>
                </a:solidFill>
                <a:latin typeface="Calibri (MS) Bold"/>
                <a:ea typeface="Calibri (MS) Bold"/>
                <a:cs typeface="Calibri (MS) Bold"/>
                <a:sym typeface="Calibri (MS) Bold"/>
              </a:rPr>
              <a:t>2A Citra satelit  →  2B Formulasi  →  2C Parameter  →  2D Uji struktur  →  2E Uji perilaku &amp; kalibrasi  →  2F Sensitivitas  →  2G Skenario</a:t>
            </a:r>
          </a:p>
        </p:txBody>
      </p:sp>
      <p:grpSp>
        <p:nvGrpSpPr>
          <p:cNvPr name="Group 13" id="13"/>
          <p:cNvGrpSpPr/>
          <p:nvPr/>
        </p:nvGrpSpPr>
        <p:grpSpPr>
          <a:xfrm rot="0">
            <a:off x="16962120" y="9555480"/>
            <a:ext cx="420624" cy="420624"/>
            <a:chOff x="0" y="0"/>
            <a:chExt cx="560832" cy="560832"/>
          </a:xfrm>
        </p:grpSpPr>
        <p:sp>
          <p:nvSpPr>
            <p:cNvPr name="Freeform 14" id="14"/>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5" id="15"/>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2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0010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Integrasi Data Citra Satelit</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Citra satelit dipakai untuk memperbarui data, bukan menggantikan statistik resmi</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pSp>
        <p:nvGrpSpPr>
          <p:cNvPr name="Group 66" id="66"/>
          <p:cNvGrpSpPr/>
          <p:nvPr/>
        </p:nvGrpSpPr>
        <p:grpSpPr>
          <a:xfrm rot="0">
            <a:off x="822960" y="2400300"/>
            <a:ext cx="5074920" cy="2400300"/>
            <a:chOff x="0" y="0"/>
            <a:chExt cx="6766560" cy="3200400"/>
          </a:xfrm>
        </p:grpSpPr>
        <p:sp>
          <p:nvSpPr>
            <p:cNvPr name="Freeform 67" id="67"/>
            <p:cNvSpPr/>
            <p:nvPr/>
          </p:nvSpPr>
          <p:spPr>
            <a:xfrm flipH="false" flipV="false" rot="0">
              <a:off x="0" y="0"/>
              <a:ext cx="6766560" cy="3200400"/>
            </a:xfrm>
            <a:custGeom>
              <a:avLst/>
              <a:gdLst/>
              <a:ahLst/>
              <a:cxnLst/>
              <a:rect r="r" b="b" t="t" l="l"/>
              <a:pathLst>
                <a:path h="3200400" w="6766560">
                  <a:moveTo>
                    <a:pt x="0" y="182880"/>
                  </a:moveTo>
                  <a:cubicBezTo>
                    <a:pt x="0" y="81915"/>
                    <a:pt x="81915" y="0"/>
                    <a:pt x="182880" y="0"/>
                  </a:cubicBezTo>
                  <a:lnTo>
                    <a:pt x="6583680" y="0"/>
                  </a:lnTo>
                  <a:cubicBezTo>
                    <a:pt x="6684645" y="0"/>
                    <a:pt x="6766560" y="81915"/>
                    <a:pt x="6766560" y="182880"/>
                  </a:cubicBezTo>
                  <a:lnTo>
                    <a:pt x="6766560" y="3017520"/>
                  </a:lnTo>
                  <a:cubicBezTo>
                    <a:pt x="6766560" y="3118485"/>
                    <a:pt x="6684645" y="3200400"/>
                    <a:pt x="6583680" y="3200400"/>
                  </a:cubicBezTo>
                  <a:lnTo>
                    <a:pt x="182880" y="3200400"/>
                  </a:lnTo>
                  <a:cubicBezTo>
                    <a:pt x="81915" y="3200400"/>
                    <a:pt x="0" y="3118485"/>
                    <a:pt x="0" y="3017520"/>
                  </a:cubicBezTo>
                  <a:close/>
                </a:path>
              </a:pathLst>
            </a:custGeom>
            <a:solidFill>
              <a:srgbClr val="EAF8FA"/>
            </a:solidFill>
          </p:spPr>
          <p:txBody>
            <a:bodyPr/>
            <a:p/>
          </p:txBody>
        </p:sp>
      </p:grpSp>
      <p:sp>
        <p:nvSpPr>
          <p:cNvPr name="TextBox 68" id="68"/>
          <p:cNvSpPr txBox="true"/>
          <p:nvPr/>
        </p:nvSpPr>
        <p:spPr>
          <a:xfrm rot="0">
            <a:off x="1097280" y="2450592"/>
            <a:ext cx="4114800" cy="416052"/>
          </a:xfrm>
          <a:prstGeom prst="rect">
            <a:avLst/>
          </a:prstGeom>
        </p:spPr>
        <p:txBody>
          <a:bodyPr anchor="t" rtlCol="false" tIns="0" lIns="0" bIns="0" rIns="0">
            <a:spAutoFit/>
          </a:bodyPr>
          <a:lstStyle/>
          <a:p>
            <a:pPr algn="l">
              <a:lnSpc>
                <a:spcPts val="1800"/>
              </a:lnSpc>
            </a:pPr>
            <a:r>
              <a:rPr lang="en-US" sz="1500" b="true">
                <a:solidFill>
                  <a:srgbClr val="5E6E78"/>
                </a:solidFill>
                <a:latin typeface="Calibri (MS) Bold"/>
                <a:ea typeface="Calibri (MS) Bold"/>
                <a:cs typeface="Calibri (MS) Bold"/>
                <a:sym typeface="Calibri (MS) Bold"/>
              </a:rPr>
              <a:t>DATA CITRA</a:t>
            </a:r>
          </a:p>
        </p:txBody>
      </p:sp>
      <p:sp>
        <p:nvSpPr>
          <p:cNvPr name="TextBox 69" id="69"/>
          <p:cNvSpPr txBox="true"/>
          <p:nvPr/>
        </p:nvSpPr>
        <p:spPr>
          <a:xfrm rot="0">
            <a:off x="1097280" y="2807208"/>
            <a:ext cx="4526280" cy="59436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VIIRS Day/Night Band</a:t>
            </a:r>
          </a:p>
        </p:txBody>
      </p:sp>
      <p:sp>
        <p:nvSpPr>
          <p:cNvPr name="TextBox 70" id="70"/>
          <p:cNvSpPr txBox="true"/>
          <p:nvPr/>
        </p:nvSpPr>
        <p:spPr>
          <a:xfrm rot="0">
            <a:off x="1097280" y="3383280"/>
            <a:ext cx="4526280" cy="6858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intensitas cahaya malam (NTL), diolah di Google Earth Engine</a:t>
            </a:r>
          </a:p>
        </p:txBody>
      </p:sp>
      <p:sp>
        <p:nvSpPr>
          <p:cNvPr name="AutoShape 71" id="71"/>
          <p:cNvSpPr/>
          <p:nvPr/>
        </p:nvSpPr>
        <p:spPr>
          <a:xfrm rot="113220">
            <a:off x="5917244" y="3560254"/>
            <a:ext cx="578501" cy="0"/>
          </a:xfrm>
          <a:prstGeom prst="line">
            <a:avLst/>
          </a:prstGeom>
          <a:ln cap="rnd" w="19050">
            <a:solidFill>
              <a:srgbClr val="39C0D3"/>
            </a:solidFill>
            <a:prstDash val="solid"/>
            <a:headEnd type="none" len="sm" w="sm"/>
            <a:tailEnd type="triangle" len="med" w="lg"/>
          </a:ln>
        </p:spPr>
        <p:txBody>
          <a:bodyPr/>
          <a:p/>
        </p:txBody>
      </p:sp>
      <p:grpSp>
        <p:nvGrpSpPr>
          <p:cNvPr name="Group 72" id="72"/>
          <p:cNvGrpSpPr/>
          <p:nvPr/>
        </p:nvGrpSpPr>
        <p:grpSpPr>
          <a:xfrm rot="0">
            <a:off x="6515100" y="2400300"/>
            <a:ext cx="5623560" cy="2400300"/>
            <a:chOff x="0" y="0"/>
            <a:chExt cx="7498080" cy="3200400"/>
          </a:xfrm>
        </p:grpSpPr>
        <p:sp>
          <p:nvSpPr>
            <p:cNvPr name="Freeform 73" id="73"/>
            <p:cNvSpPr/>
            <p:nvPr/>
          </p:nvSpPr>
          <p:spPr>
            <a:xfrm flipH="false" flipV="false" rot="0">
              <a:off x="0" y="0"/>
              <a:ext cx="7498080" cy="3200400"/>
            </a:xfrm>
            <a:custGeom>
              <a:avLst/>
              <a:gdLst/>
              <a:ahLst/>
              <a:cxnLst/>
              <a:rect r="r" b="b" t="t" l="l"/>
              <a:pathLst>
                <a:path h="3200400" w="7498080">
                  <a:moveTo>
                    <a:pt x="0" y="182880"/>
                  </a:moveTo>
                  <a:cubicBezTo>
                    <a:pt x="0" y="81915"/>
                    <a:pt x="81915" y="0"/>
                    <a:pt x="182880" y="0"/>
                  </a:cubicBezTo>
                  <a:lnTo>
                    <a:pt x="7315200" y="0"/>
                  </a:lnTo>
                  <a:cubicBezTo>
                    <a:pt x="7416165" y="0"/>
                    <a:pt x="7498080" y="81915"/>
                    <a:pt x="7498080" y="182880"/>
                  </a:cubicBezTo>
                  <a:lnTo>
                    <a:pt x="7498080" y="3017520"/>
                  </a:lnTo>
                  <a:cubicBezTo>
                    <a:pt x="7498080" y="3118485"/>
                    <a:pt x="7416165" y="3200400"/>
                    <a:pt x="7315200" y="3200400"/>
                  </a:cubicBezTo>
                  <a:lnTo>
                    <a:pt x="182880" y="3200400"/>
                  </a:lnTo>
                  <a:cubicBezTo>
                    <a:pt x="81915" y="3200400"/>
                    <a:pt x="0" y="3118485"/>
                    <a:pt x="0" y="3017520"/>
                  </a:cubicBezTo>
                  <a:close/>
                </a:path>
              </a:pathLst>
            </a:custGeom>
            <a:solidFill>
              <a:srgbClr val="EAF8FA"/>
            </a:solidFill>
          </p:spPr>
          <p:txBody>
            <a:bodyPr/>
            <a:p/>
          </p:txBody>
        </p:sp>
      </p:grpSp>
      <p:sp>
        <p:nvSpPr>
          <p:cNvPr name="TextBox 74" id="74"/>
          <p:cNvSpPr txBox="true"/>
          <p:nvPr/>
        </p:nvSpPr>
        <p:spPr>
          <a:xfrm rot="0">
            <a:off x="6789420" y="2450592"/>
            <a:ext cx="4114800" cy="416052"/>
          </a:xfrm>
          <a:prstGeom prst="rect">
            <a:avLst/>
          </a:prstGeom>
        </p:spPr>
        <p:txBody>
          <a:bodyPr anchor="t" rtlCol="false" tIns="0" lIns="0" bIns="0" rIns="0">
            <a:spAutoFit/>
          </a:bodyPr>
          <a:lstStyle/>
          <a:p>
            <a:pPr algn="l">
              <a:lnSpc>
                <a:spcPts val="1800"/>
              </a:lnSpc>
            </a:pPr>
            <a:r>
              <a:rPr lang="en-US" sz="1500" b="true">
                <a:solidFill>
                  <a:srgbClr val="5E6E78"/>
                </a:solidFill>
                <a:latin typeface="Calibri (MS) Bold"/>
                <a:ea typeface="Calibri (MS) Bold"/>
                <a:cs typeface="Calibri (MS) Bold"/>
                <a:sym typeface="Calibri (MS) Bold"/>
              </a:rPr>
              <a:t>METODE</a:t>
            </a:r>
          </a:p>
        </p:txBody>
      </p:sp>
      <p:sp>
        <p:nvSpPr>
          <p:cNvPr name="TextBox 75" id="75"/>
          <p:cNvSpPr txBox="true"/>
          <p:nvPr/>
        </p:nvSpPr>
        <p:spPr>
          <a:xfrm rot="0">
            <a:off x="6789420" y="2807208"/>
            <a:ext cx="5074920" cy="59436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Regresi linear sederhana</a:t>
            </a:r>
          </a:p>
        </p:txBody>
      </p:sp>
      <p:sp>
        <p:nvSpPr>
          <p:cNvPr name="TextBox 76" id="76"/>
          <p:cNvSpPr txBox="true"/>
          <p:nvPr/>
        </p:nvSpPr>
        <p:spPr>
          <a:xfrm rot="0">
            <a:off x="6789420" y="3383280"/>
            <a:ext cx="5074920" cy="6858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ODTW = 121,61 + 34,59 × NTL, dilatih pada data BPS 2018–2024</a:t>
            </a:r>
          </a:p>
        </p:txBody>
      </p:sp>
      <p:sp>
        <p:nvSpPr>
          <p:cNvPr name="AutoShape 77" id="77"/>
          <p:cNvSpPr/>
          <p:nvPr/>
        </p:nvSpPr>
        <p:spPr>
          <a:xfrm rot="113220">
            <a:off x="12158024" y="3560254"/>
            <a:ext cx="578501" cy="0"/>
          </a:xfrm>
          <a:prstGeom prst="line">
            <a:avLst/>
          </a:prstGeom>
          <a:ln cap="rnd" w="19050">
            <a:solidFill>
              <a:srgbClr val="39C0D3"/>
            </a:solidFill>
            <a:prstDash val="solid"/>
            <a:headEnd type="none" len="sm" w="sm"/>
            <a:tailEnd type="triangle" len="med" w="lg"/>
          </a:ln>
        </p:spPr>
        <p:txBody>
          <a:bodyPr/>
          <a:p/>
        </p:txBody>
      </p:sp>
      <p:grpSp>
        <p:nvGrpSpPr>
          <p:cNvPr name="Group 78" id="78"/>
          <p:cNvGrpSpPr/>
          <p:nvPr/>
        </p:nvGrpSpPr>
        <p:grpSpPr>
          <a:xfrm rot="0">
            <a:off x="12755880" y="2400300"/>
            <a:ext cx="4704588" cy="2400300"/>
            <a:chOff x="0" y="0"/>
            <a:chExt cx="6272784" cy="3200400"/>
          </a:xfrm>
        </p:grpSpPr>
        <p:sp>
          <p:nvSpPr>
            <p:cNvPr name="Freeform 79" id="79"/>
            <p:cNvSpPr/>
            <p:nvPr/>
          </p:nvSpPr>
          <p:spPr>
            <a:xfrm flipH="false" flipV="false" rot="0">
              <a:off x="0" y="0"/>
              <a:ext cx="6272784" cy="3200400"/>
            </a:xfrm>
            <a:custGeom>
              <a:avLst/>
              <a:gdLst/>
              <a:ahLst/>
              <a:cxnLst/>
              <a:rect r="r" b="b" t="t" l="l"/>
              <a:pathLst>
                <a:path h="3200400" w="6272784">
                  <a:moveTo>
                    <a:pt x="0" y="182880"/>
                  </a:moveTo>
                  <a:cubicBezTo>
                    <a:pt x="0" y="81915"/>
                    <a:pt x="81915" y="0"/>
                    <a:pt x="182880" y="0"/>
                  </a:cubicBezTo>
                  <a:lnTo>
                    <a:pt x="6089904" y="0"/>
                  </a:lnTo>
                  <a:cubicBezTo>
                    <a:pt x="6190869" y="0"/>
                    <a:pt x="6272784" y="81915"/>
                    <a:pt x="6272784" y="182880"/>
                  </a:cubicBezTo>
                  <a:lnTo>
                    <a:pt x="6272784" y="3017520"/>
                  </a:lnTo>
                  <a:cubicBezTo>
                    <a:pt x="6272784" y="3118485"/>
                    <a:pt x="6190869" y="3200400"/>
                    <a:pt x="6089904" y="3200400"/>
                  </a:cubicBezTo>
                  <a:lnTo>
                    <a:pt x="182880" y="3200400"/>
                  </a:lnTo>
                  <a:cubicBezTo>
                    <a:pt x="81915" y="3200400"/>
                    <a:pt x="0" y="3118485"/>
                    <a:pt x="0" y="3017520"/>
                  </a:cubicBezTo>
                  <a:close/>
                </a:path>
              </a:pathLst>
            </a:custGeom>
            <a:solidFill>
              <a:srgbClr val="FFF1BF"/>
            </a:solidFill>
          </p:spPr>
          <p:txBody>
            <a:bodyPr/>
            <a:p/>
          </p:txBody>
        </p:sp>
      </p:grpSp>
      <p:sp>
        <p:nvSpPr>
          <p:cNvPr name="TextBox 80" id="80"/>
          <p:cNvSpPr txBox="true"/>
          <p:nvPr/>
        </p:nvSpPr>
        <p:spPr>
          <a:xfrm rot="0">
            <a:off x="13030200" y="2450592"/>
            <a:ext cx="4114800" cy="416052"/>
          </a:xfrm>
          <a:prstGeom prst="rect">
            <a:avLst/>
          </a:prstGeom>
        </p:spPr>
        <p:txBody>
          <a:bodyPr anchor="t" rtlCol="false" tIns="0" lIns="0" bIns="0" rIns="0">
            <a:spAutoFit/>
          </a:bodyPr>
          <a:lstStyle/>
          <a:p>
            <a:pPr algn="l">
              <a:lnSpc>
                <a:spcPts val="1800"/>
              </a:lnSpc>
            </a:pPr>
            <a:r>
              <a:rPr lang="en-US" sz="1500" b="true">
                <a:solidFill>
                  <a:srgbClr val="5E6E78"/>
                </a:solidFill>
                <a:latin typeface="Calibri (MS) Bold"/>
                <a:ea typeface="Calibri (MS) Bold"/>
                <a:cs typeface="Calibri (MS) Bold"/>
                <a:sym typeface="Calibri (MS) Bold"/>
              </a:rPr>
              <a:t>MENGISI VARIABEL MODEL</a:t>
            </a:r>
          </a:p>
        </p:txBody>
      </p:sp>
      <p:sp>
        <p:nvSpPr>
          <p:cNvPr name="TextBox 81" id="81"/>
          <p:cNvSpPr txBox="true"/>
          <p:nvPr/>
        </p:nvSpPr>
        <p:spPr>
          <a:xfrm rot="0">
            <a:off x="13030200" y="2807208"/>
            <a:ext cx="4183380" cy="100584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Jumlah ODTW 2015–2017 dan 2025</a:t>
            </a:r>
          </a:p>
        </p:txBody>
      </p:sp>
      <p:sp>
        <p:nvSpPr>
          <p:cNvPr name="TextBox 82" id="82"/>
          <p:cNvSpPr txBox="true"/>
          <p:nvPr/>
        </p:nvSpPr>
        <p:spPr>
          <a:xfrm rot="0">
            <a:off x="13030200" y="3726180"/>
            <a:ext cx="4183380" cy="100584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stok awal ODTW 2025 = 201 unit</a:t>
            </a:r>
          </a:p>
        </p:txBody>
      </p:sp>
      <p:grpSp>
        <p:nvGrpSpPr>
          <p:cNvPr name="Group 83" id="83"/>
          <p:cNvGrpSpPr/>
          <p:nvPr/>
        </p:nvGrpSpPr>
        <p:grpSpPr>
          <a:xfrm rot="0">
            <a:off x="822960" y="5074920"/>
            <a:ext cx="5074920" cy="2400300"/>
            <a:chOff x="0" y="0"/>
            <a:chExt cx="6766560" cy="3200400"/>
          </a:xfrm>
        </p:grpSpPr>
        <p:sp>
          <p:nvSpPr>
            <p:cNvPr name="Freeform 84" id="84"/>
            <p:cNvSpPr/>
            <p:nvPr/>
          </p:nvSpPr>
          <p:spPr>
            <a:xfrm flipH="false" flipV="false" rot="0">
              <a:off x="0" y="0"/>
              <a:ext cx="6766560" cy="3200400"/>
            </a:xfrm>
            <a:custGeom>
              <a:avLst/>
              <a:gdLst/>
              <a:ahLst/>
              <a:cxnLst/>
              <a:rect r="r" b="b" t="t" l="l"/>
              <a:pathLst>
                <a:path h="3200400" w="6766560">
                  <a:moveTo>
                    <a:pt x="0" y="182880"/>
                  </a:moveTo>
                  <a:cubicBezTo>
                    <a:pt x="0" y="81915"/>
                    <a:pt x="81915" y="0"/>
                    <a:pt x="182880" y="0"/>
                  </a:cubicBezTo>
                  <a:lnTo>
                    <a:pt x="6583680" y="0"/>
                  </a:lnTo>
                  <a:cubicBezTo>
                    <a:pt x="6684645" y="0"/>
                    <a:pt x="6766560" y="81915"/>
                    <a:pt x="6766560" y="182880"/>
                  </a:cubicBezTo>
                  <a:lnTo>
                    <a:pt x="6766560" y="3017520"/>
                  </a:lnTo>
                  <a:cubicBezTo>
                    <a:pt x="6766560" y="3118485"/>
                    <a:pt x="6684645" y="3200400"/>
                    <a:pt x="6583680" y="3200400"/>
                  </a:cubicBezTo>
                  <a:lnTo>
                    <a:pt x="182880" y="3200400"/>
                  </a:lnTo>
                  <a:cubicBezTo>
                    <a:pt x="81915" y="3200400"/>
                    <a:pt x="0" y="3118485"/>
                    <a:pt x="0" y="3017520"/>
                  </a:cubicBezTo>
                  <a:close/>
                </a:path>
              </a:pathLst>
            </a:custGeom>
            <a:solidFill>
              <a:srgbClr val="EAF8FA"/>
            </a:solidFill>
          </p:spPr>
          <p:txBody>
            <a:bodyPr/>
            <a:p/>
          </p:txBody>
        </p:sp>
      </p:grpSp>
      <p:sp>
        <p:nvSpPr>
          <p:cNvPr name="TextBox 85" id="85"/>
          <p:cNvSpPr txBox="true"/>
          <p:nvPr/>
        </p:nvSpPr>
        <p:spPr>
          <a:xfrm rot="0">
            <a:off x="1097280" y="5125212"/>
            <a:ext cx="4114800" cy="416052"/>
          </a:xfrm>
          <a:prstGeom prst="rect">
            <a:avLst/>
          </a:prstGeom>
        </p:spPr>
        <p:txBody>
          <a:bodyPr anchor="t" rtlCol="false" tIns="0" lIns="0" bIns="0" rIns="0">
            <a:spAutoFit/>
          </a:bodyPr>
          <a:lstStyle/>
          <a:p>
            <a:pPr algn="l">
              <a:lnSpc>
                <a:spcPts val="1800"/>
              </a:lnSpc>
            </a:pPr>
            <a:r>
              <a:rPr lang="en-US" sz="1500" b="true">
                <a:solidFill>
                  <a:srgbClr val="5E6E78"/>
                </a:solidFill>
                <a:latin typeface="Calibri (MS) Bold"/>
                <a:ea typeface="Calibri (MS) Bold"/>
                <a:cs typeface="Calibri (MS) Bold"/>
                <a:sym typeface="Calibri (MS) Bold"/>
              </a:rPr>
              <a:t>DATA CITRA</a:t>
            </a:r>
          </a:p>
        </p:txBody>
      </p:sp>
      <p:sp>
        <p:nvSpPr>
          <p:cNvPr name="TextBox 86" id="86"/>
          <p:cNvSpPr txBox="true"/>
          <p:nvPr/>
        </p:nvSpPr>
        <p:spPr>
          <a:xfrm rot="0">
            <a:off x="1097280" y="5481828"/>
            <a:ext cx="4526280" cy="59436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Dynamic World (Sentinel-2)</a:t>
            </a:r>
          </a:p>
        </p:txBody>
      </p:sp>
      <p:sp>
        <p:nvSpPr>
          <p:cNvPr name="TextBox 87" id="87"/>
          <p:cNvSpPr txBox="true"/>
          <p:nvPr/>
        </p:nvSpPr>
        <p:spPr>
          <a:xfrm rot="0">
            <a:off x="1097280" y="6057900"/>
            <a:ext cx="4526280" cy="134874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kelas “built” pada batas administratif DIY</a:t>
            </a:r>
          </a:p>
        </p:txBody>
      </p:sp>
      <p:sp>
        <p:nvSpPr>
          <p:cNvPr name="AutoShape 88" id="88"/>
          <p:cNvSpPr/>
          <p:nvPr/>
        </p:nvSpPr>
        <p:spPr>
          <a:xfrm rot="113220">
            <a:off x="5917244" y="6234875"/>
            <a:ext cx="578501" cy="0"/>
          </a:xfrm>
          <a:prstGeom prst="line">
            <a:avLst/>
          </a:prstGeom>
          <a:ln cap="rnd" w="19050">
            <a:solidFill>
              <a:srgbClr val="39C0D3"/>
            </a:solidFill>
            <a:prstDash val="solid"/>
            <a:headEnd type="none" len="sm" w="sm"/>
            <a:tailEnd type="triangle" len="med" w="lg"/>
          </a:ln>
        </p:spPr>
        <p:txBody>
          <a:bodyPr/>
          <a:p/>
        </p:txBody>
      </p:sp>
      <p:grpSp>
        <p:nvGrpSpPr>
          <p:cNvPr name="Group 89" id="89"/>
          <p:cNvGrpSpPr/>
          <p:nvPr/>
        </p:nvGrpSpPr>
        <p:grpSpPr>
          <a:xfrm rot="0">
            <a:off x="6515100" y="5074920"/>
            <a:ext cx="5623560" cy="2400300"/>
            <a:chOff x="0" y="0"/>
            <a:chExt cx="7498080" cy="3200400"/>
          </a:xfrm>
        </p:grpSpPr>
        <p:sp>
          <p:nvSpPr>
            <p:cNvPr name="Freeform 90" id="90"/>
            <p:cNvSpPr/>
            <p:nvPr/>
          </p:nvSpPr>
          <p:spPr>
            <a:xfrm flipH="false" flipV="false" rot="0">
              <a:off x="0" y="0"/>
              <a:ext cx="7498080" cy="3200400"/>
            </a:xfrm>
            <a:custGeom>
              <a:avLst/>
              <a:gdLst/>
              <a:ahLst/>
              <a:cxnLst/>
              <a:rect r="r" b="b" t="t" l="l"/>
              <a:pathLst>
                <a:path h="3200400" w="7498080">
                  <a:moveTo>
                    <a:pt x="0" y="182880"/>
                  </a:moveTo>
                  <a:cubicBezTo>
                    <a:pt x="0" y="81915"/>
                    <a:pt x="81915" y="0"/>
                    <a:pt x="182880" y="0"/>
                  </a:cubicBezTo>
                  <a:lnTo>
                    <a:pt x="7315200" y="0"/>
                  </a:lnTo>
                  <a:cubicBezTo>
                    <a:pt x="7416165" y="0"/>
                    <a:pt x="7498080" y="81915"/>
                    <a:pt x="7498080" y="182880"/>
                  </a:cubicBezTo>
                  <a:lnTo>
                    <a:pt x="7498080" y="3017520"/>
                  </a:lnTo>
                  <a:cubicBezTo>
                    <a:pt x="7498080" y="3118485"/>
                    <a:pt x="7416165" y="3200400"/>
                    <a:pt x="7315200" y="3200400"/>
                  </a:cubicBezTo>
                  <a:lnTo>
                    <a:pt x="182880" y="3200400"/>
                  </a:lnTo>
                  <a:cubicBezTo>
                    <a:pt x="81915" y="3200400"/>
                    <a:pt x="0" y="3118485"/>
                    <a:pt x="0" y="3017520"/>
                  </a:cubicBezTo>
                  <a:close/>
                </a:path>
              </a:pathLst>
            </a:custGeom>
            <a:solidFill>
              <a:srgbClr val="EAF8FA"/>
            </a:solidFill>
          </p:spPr>
          <p:txBody>
            <a:bodyPr/>
            <a:p/>
          </p:txBody>
        </p:sp>
      </p:grpSp>
      <p:sp>
        <p:nvSpPr>
          <p:cNvPr name="TextBox 91" id="91"/>
          <p:cNvSpPr txBox="true"/>
          <p:nvPr/>
        </p:nvSpPr>
        <p:spPr>
          <a:xfrm rot="0">
            <a:off x="6789420" y="5125212"/>
            <a:ext cx="4114800" cy="416052"/>
          </a:xfrm>
          <a:prstGeom prst="rect">
            <a:avLst/>
          </a:prstGeom>
        </p:spPr>
        <p:txBody>
          <a:bodyPr anchor="t" rtlCol="false" tIns="0" lIns="0" bIns="0" rIns="0">
            <a:spAutoFit/>
          </a:bodyPr>
          <a:lstStyle/>
          <a:p>
            <a:pPr algn="l">
              <a:lnSpc>
                <a:spcPts val="1800"/>
              </a:lnSpc>
            </a:pPr>
            <a:r>
              <a:rPr lang="en-US" sz="1500" b="true">
                <a:solidFill>
                  <a:srgbClr val="5E6E78"/>
                </a:solidFill>
                <a:latin typeface="Calibri (MS) Bold"/>
                <a:ea typeface="Calibri (MS) Bold"/>
                <a:cs typeface="Calibri (MS) Bold"/>
                <a:sym typeface="Calibri (MS) Bold"/>
              </a:rPr>
              <a:t>METODE</a:t>
            </a:r>
          </a:p>
        </p:txBody>
      </p:sp>
      <p:sp>
        <p:nvSpPr>
          <p:cNvPr name="TextBox 92" id="92"/>
          <p:cNvSpPr txBox="true"/>
          <p:nvPr/>
        </p:nvSpPr>
        <p:spPr>
          <a:xfrm rot="0">
            <a:off x="6798945" y="5481828"/>
            <a:ext cx="5074920" cy="59436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Klasifikasi langsung</a:t>
            </a:r>
          </a:p>
        </p:txBody>
      </p:sp>
      <p:sp>
        <p:nvSpPr>
          <p:cNvPr name="TextBox 93" id="93"/>
          <p:cNvSpPr txBox="true"/>
          <p:nvPr/>
        </p:nvSpPr>
        <p:spPr>
          <a:xfrm rot="0">
            <a:off x="6789420" y="6057900"/>
            <a:ext cx="5074920" cy="134874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luas lahan terbangun 2016–2025; 2015 ekstrapolasi log-linear (tidak dipakai menurunkan parameter)</a:t>
            </a:r>
          </a:p>
        </p:txBody>
      </p:sp>
      <p:sp>
        <p:nvSpPr>
          <p:cNvPr name="AutoShape 94" id="94"/>
          <p:cNvSpPr/>
          <p:nvPr/>
        </p:nvSpPr>
        <p:spPr>
          <a:xfrm rot="113220">
            <a:off x="12158024" y="6234875"/>
            <a:ext cx="578501" cy="0"/>
          </a:xfrm>
          <a:prstGeom prst="line">
            <a:avLst/>
          </a:prstGeom>
          <a:ln cap="rnd" w="19050">
            <a:solidFill>
              <a:srgbClr val="39C0D3"/>
            </a:solidFill>
            <a:prstDash val="solid"/>
            <a:headEnd type="none" len="sm" w="sm"/>
            <a:tailEnd type="triangle" len="med" w="lg"/>
          </a:ln>
        </p:spPr>
        <p:txBody>
          <a:bodyPr/>
          <a:p/>
        </p:txBody>
      </p:sp>
      <p:grpSp>
        <p:nvGrpSpPr>
          <p:cNvPr name="Group 95" id="95"/>
          <p:cNvGrpSpPr/>
          <p:nvPr/>
        </p:nvGrpSpPr>
        <p:grpSpPr>
          <a:xfrm rot="0">
            <a:off x="12755880" y="5074920"/>
            <a:ext cx="4704588" cy="2400300"/>
            <a:chOff x="0" y="0"/>
            <a:chExt cx="6272784" cy="3200400"/>
          </a:xfrm>
        </p:grpSpPr>
        <p:sp>
          <p:nvSpPr>
            <p:cNvPr name="Freeform 96" id="96"/>
            <p:cNvSpPr/>
            <p:nvPr/>
          </p:nvSpPr>
          <p:spPr>
            <a:xfrm flipH="false" flipV="false" rot="0">
              <a:off x="0" y="0"/>
              <a:ext cx="6272784" cy="3200400"/>
            </a:xfrm>
            <a:custGeom>
              <a:avLst/>
              <a:gdLst/>
              <a:ahLst/>
              <a:cxnLst/>
              <a:rect r="r" b="b" t="t" l="l"/>
              <a:pathLst>
                <a:path h="3200400" w="6272784">
                  <a:moveTo>
                    <a:pt x="0" y="182880"/>
                  </a:moveTo>
                  <a:cubicBezTo>
                    <a:pt x="0" y="81915"/>
                    <a:pt x="81915" y="0"/>
                    <a:pt x="182880" y="0"/>
                  </a:cubicBezTo>
                  <a:lnTo>
                    <a:pt x="6089904" y="0"/>
                  </a:lnTo>
                  <a:cubicBezTo>
                    <a:pt x="6190869" y="0"/>
                    <a:pt x="6272784" y="81915"/>
                    <a:pt x="6272784" y="182880"/>
                  </a:cubicBezTo>
                  <a:lnTo>
                    <a:pt x="6272784" y="3017520"/>
                  </a:lnTo>
                  <a:cubicBezTo>
                    <a:pt x="6272784" y="3118485"/>
                    <a:pt x="6190869" y="3200400"/>
                    <a:pt x="6089904" y="3200400"/>
                  </a:cubicBezTo>
                  <a:lnTo>
                    <a:pt x="182880" y="3200400"/>
                  </a:lnTo>
                  <a:cubicBezTo>
                    <a:pt x="81915" y="3200400"/>
                    <a:pt x="0" y="3118485"/>
                    <a:pt x="0" y="3017520"/>
                  </a:cubicBezTo>
                  <a:close/>
                </a:path>
              </a:pathLst>
            </a:custGeom>
            <a:solidFill>
              <a:srgbClr val="FFF1BF"/>
            </a:solidFill>
          </p:spPr>
          <p:txBody>
            <a:bodyPr/>
            <a:p/>
          </p:txBody>
        </p:sp>
      </p:grpSp>
      <p:sp>
        <p:nvSpPr>
          <p:cNvPr name="TextBox 97" id="97"/>
          <p:cNvSpPr txBox="true"/>
          <p:nvPr/>
        </p:nvSpPr>
        <p:spPr>
          <a:xfrm rot="0">
            <a:off x="13030200" y="5125212"/>
            <a:ext cx="4114800" cy="416052"/>
          </a:xfrm>
          <a:prstGeom prst="rect">
            <a:avLst/>
          </a:prstGeom>
        </p:spPr>
        <p:txBody>
          <a:bodyPr anchor="t" rtlCol="false" tIns="0" lIns="0" bIns="0" rIns="0">
            <a:spAutoFit/>
          </a:bodyPr>
          <a:lstStyle/>
          <a:p>
            <a:pPr algn="l">
              <a:lnSpc>
                <a:spcPts val="1800"/>
              </a:lnSpc>
            </a:pPr>
            <a:r>
              <a:rPr lang="en-US" sz="1500" b="true">
                <a:solidFill>
                  <a:srgbClr val="5E6E78"/>
                </a:solidFill>
                <a:latin typeface="Calibri (MS) Bold"/>
                <a:ea typeface="Calibri (MS) Bold"/>
                <a:cs typeface="Calibri (MS) Bold"/>
                <a:sym typeface="Calibri (MS) Bold"/>
              </a:rPr>
              <a:t>MENGISI VARIABEL MODEL</a:t>
            </a:r>
          </a:p>
        </p:txBody>
      </p:sp>
      <p:sp>
        <p:nvSpPr>
          <p:cNvPr name="TextBox 98" id="98"/>
          <p:cNvSpPr txBox="true"/>
          <p:nvPr/>
        </p:nvSpPr>
        <p:spPr>
          <a:xfrm rot="0">
            <a:off x="13030200" y="5481828"/>
            <a:ext cx="4183380" cy="100584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Luas lahan terbangun</a:t>
            </a:r>
          </a:p>
        </p:txBody>
      </p:sp>
      <p:sp>
        <p:nvSpPr>
          <p:cNvPr name="TextBox 99" id="99"/>
          <p:cNvSpPr txBox="true"/>
          <p:nvPr/>
        </p:nvSpPr>
        <p:spPr>
          <a:xfrm rot="0">
            <a:off x="13030200" y="6400800"/>
            <a:ext cx="4183380" cy="100584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stok awal lahan terbangun 2025 = 55.029,54 ha</a:t>
            </a:r>
          </a:p>
        </p:txBody>
      </p:sp>
      <p:grpSp>
        <p:nvGrpSpPr>
          <p:cNvPr name="Group 100" id="100"/>
          <p:cNvGrpSpPr/>
          <p:nvPr/>
        </p:nvGrpSpPr>
        <p:grpSpPr>
          <a:xfrm rot="0">
            <a:off x="822960" y="7886700"/>
            <a:ext cx="16637508" cy="1303020"/>
            <a:chOff x="0" y="0"/>
            <a:chExt cx="22183344" cy="1737360"/>
          </a:xfrm>
        </p:grpSpPr>
        <p:sp>
          <p:nvSpPr>
            <p:cNvPr name="Freeform 101" id="101"/>
            <p:cNvSpPr/>
            <p:nvPr/>
          </p:nvSpPr>
          <p:spPr>
            <a:xfrm flipH="false" flipV="false" rot="0">
              <a:off x="0" y="0"/>
              <a:ext cx="22183344" cy="1737360"/>
            </a:xfrm>
            <a:custGeom>
              <a:avLst/>
              <a:gdLst/>
              <a:ahLst/>
              <a:cxnLst/>
              <a:rect r="r" b="b" t="t" l="l"/>
              <a:pathLst>
                <a:path h="1737360" w="22183344">
                  <a:moveTo>
                    <a:pt x="0" y="182880"/>
                  </a:moveTo>
                  <a:cubicBezTo>
                    <a:pt x="0" y="81915"/>
                    <a:pt x="81915" y="0"/>
                    <a:pt x="182880" y="0"/>
                  </a:cubicBezTo>
                  <a:lnTo>
                    <a:pt x="22000463" y="0"/>
                  </a:lnTo>
                  <a:cubicBezTo>
                    <a:pt x="22101428" y="0"/>
                    <a:pt x="22183344" y="81915"/>
                    <a:pt x="22183344" y="182880"/>
                  </a:cubicBezTo>
                  <a:lnTo>
                    <a:pt x="22183344" y="1554480"/>
                  </a:lnTo>
                  <a:cubicBezTo>
                    <a:pt x="22183344" y="1655445"/>
                    <a:pt x="22101428" y="1737360"/>
                    <a:pt x="22000463" y="1737360"/>
                  </a:cubicBezTo>
                  <a:lnTo>
                    <a:pt x="182880" y="1737360"/>
                  </a:lnTo>
                  <a:cubicBezTo>
                    <a:pt x="81915" y="1737360"/>
                    <a:pt x="0" y="1655445"/>
                    <a:pt x="0" y="1554480"/>
                  </a:cubicBezTo>
                  <a:close/>
                </a:path>
              </a:pathLst>
            </a:custGeom>
            <a:solidFill>
              <a:srgbClr val="0B5E6E"/>
            </a:solidFill>
          </p:spPr>
          <p:txBody>
            <a:bodyPr/>
            <a:p/>
          </p:txBody>
        </p:sp>
      </p:grpSp>
      <p:grpSp>
        <p:nvGrpSpPr>
          <p:cNvPr name="Group 102" id="102"/>
          <p:cNvGrpSpPr/>
          <p:nvPr/>
        </p:nvGrpSpPr>
        <p:grpSpPr>
          <a:xfrm rot="0">
            <a:off x="1234440" y="7886700"/>
            <a:ext cx="10149840" cy="1303020"/>
            <a:chOff x="0" y="0"/>
            <a:chExt cx="13533120" cy="1737360"/>
          </a:xfrm>
        </p:grpSpPr>
        <p:sp>
          <p:nvSpPr>
            <p:cNvPr name="Freeform 103" id="103"/>
            <p:cNvSpPr/>
            <p:nvPr/>
          </p:nvSpPr>
          <p:spPr>
            <a:xfrm flipH="false" flipV="false" rot="0">
              <a:off x="0" y="0"/>
              <a:ext cx="13533120" cy="1737360"/>
            </a:xfrm>
            <a:custGeom>
              <a:avLst/>
              <a:gdLst/>
              <a:ahLst/>
              <a:cxnLst/>
              <a:rect r="r" b="b" t="t" l="l"/>
              <a:pathLst>
                <a:path h="1737360" w="13533120">
                  <a:moveTo>
                    <a:pt x="0" y="0"/>
                  </a:moveTo>
                  <a:lnTo>
                    <a:pt x="13533120" y="0"/>
                  </a:lnTo>
                  <a:lnTo>
                    <a:pt x="13533120" y="1737360"/>
                  </a:lnTo>
                  <a:lnTo>
                    <a:pt x="0" y="1737360"/>
                  </a:lnTo>
                  <a:close/>
                </a:path>
              </a:pathLst>
            </a:custGeom>
            <a:blipFill>
              <a:blip r:embed="rId4">
                <a:alphaModFix amt="0"/>
              </a:blip>
              <a:stretch>
                <a:fillRect l="0" t="-101672" r="0" b="-101672"/>
              </a:stretch>
            </a:blipFill>
          </p:spPr>
          <p:txBody>
            <a:bodyPr/>
            <a:p/>
          </p:txBody>
        </p:sp>
      </p:grpSp>
      <p:grpSp>
        <p:nvGrpSpPr>
          <p:cNvPr name="Group 104" id="104"/>
          <p:cNvGrpSpPr/>
          <p:nvPr/>
        </p:nvGrpSpPr>
        <p:grpSpPr>
          <a:xfrm rot="0">
            <a:off x="1234440" y="7850981"/>
            <a:ext cx="10149840" cy="1338739"/>
            <a:chOff x="0" y="0"/>
            <a:chExt cx="13533120" cy="1784985"/>
          </a:xfrm>
        </p:grpSpPr>
        <p:sp>
          <p:nvSpPr>
            <p:cNvPr name="Freeform 105" id="105"/>
            <p:cNvSpPr/>
            <p:nvPr/>
          </p:nvSpPr>
          <p:spPr>
            <a:xfrm flipH="false" flipV="false" rot="0">
              <a:off x="0" y="0"/>
              <a:ext cx="13533120" cy="1784985"/>
            </a:xfrm>
            <a:custGeom>
              <a:avLst/>
              <a:gdLst/>
              <a:ahLst/>
              <a:cxnLst/>
              <a:rect r="r" b="b" t="t" l="l"/>
              <a:pathLst>
                <a:path h="1784985" w="13533120">
                  <a:moveTo>
                    <a:pt x="0" y="0"/>
                  </a:moveTo>
                  <a:lnTo>
                    <a:pt x="13533120" y="0"/>
                  </a:lnTo>
                  <a:lnTo>
                    <a:pt x="13533120" y="1784985"/>
                  </a:lnTo>
                  <a:lnTo>
                    <a:pt x="0" y="1784985"/>
                  </a:lnTo>
                  <a:close/>
                </a:path>
              </a:pathLst>
            </a:custGeom>
            <a:blipFill>
              <a:blip r:embed="rId5">
                <a:alphaModFix amt="0"/>
              </a:blip>
              <a:stretch>
                <a:fillRect l="0" t="-97625" r="0" b="-97625"/>
              </a:stretch>
            </a:blipFill>
          </p:spPr>
          <p:txBody>
            <a:bodyPr/>
            <a:p/>
          </p:txBody>
        </p:sp>
      </p:grpSp>
      <p:grpSp>
        <p:nvGrpSpPr>
          <p:cNvPr name="Group 106" id="106"/>
          <p:cNvGrpSpPr/>
          <p:nvPr/>
        </p:nvGrpSpPr>
        <p:grpSpPr>
          <a:xfrm rot="0">
            <a:off x="1234440" y="7815262"/>
            <a:ext cx="10149840" cy="1374458"/>
            <a:chOff x="0" y="0"/>
            <a:chExt cx="13533120" cy="1832610"/>
          </a:xfrm>
        </p:grpSpPr>
        <p:sp>
          <p:nvSpPr>
            <p:cNvPr name="Freeform 107" id="107"/>
            <p:cNvSpPr/>
            <p:nvPr/>
          </p:nvSpPr>
          <p:spPr>
            <a:xfrm flipH="false" flipV="false" rot="0">
              <a:off x="0" y="0"/>
              <a:ext cx="13533120" cy="1832610"/>
            </a:xfrm>
            <a:custGeom>
              <a:avLst/>
              <a:gdLst/>
              <a:ahLst/>
              <a:cxnLst/>
              <a:rect r="r" b="b" t="t" l="l"/>
              <a:pathLst>
                <a:path h="1832610" w="13533120">
                  <a:moveTo>
                    <a:pt x="0" y="0"/>
                  </a:moveTo>
                  <a:lnTo>
                    <a:pt x="13533120" y="0"/>
                  </a:lnTo>
                  <a:lnTo>
                    <a:pt x="13533120" y="1832610"/>
                  </a:lnTo>
                  <a:lnTo>
                    <a:pt x="0" y="1832610"/>
                  </a:lnTo>
                  <a:close/>
                </a:path>
              </a:pathLst>
            </a:custGeom>
            <a:blipFill>
              <a:blip r:embed="rId6">
                <a:alphaModFix amt="0"/>
              </a:blip>
              <a:stretch>
                <a:fillRect l="0" t="-93889" r="0" b="-93889"/>
              </a:stretch>
            </a:blipFill>
          </p:spPr>
          <p:txBody>
            <a:bodyPr/>
            <a:p/>
          </p:txBody>
        </p:sp>
        <p:sp>
          <p:nvSpPr>
            <p:cNvPr name="TextBox 108" id="108"/>
            <p:cNvSpPr txBox="true"/>
            <p:nvPr/>
          </p:nvSpPr>
          <p:spPr>
            <a:xfrm>
              <a:off x="0" y="-47625"/>
              <a:ext cx="13533120" cy="1880235"/>
            </a:xfrm>
            <a:prstGeom prst="rect">
              <a:avLst/>
            </a:prstGeom>
          </p:spPr>
          <p:txBody>
            <a:bodyPr anchor="ctr" rtlCol="false" tIns="0" lIns="0" bIns="0" rIns="0"/>
            <a:lstStyle/>
            <a:p>
              <a:pPr algn="l">
                <a:lnSpc>
                  <a:spcPts val="2610"/>
                </a:lnSpc>
              </a:pPr>
              <a:r>
                <a:rPr lang="en-US" sz="2175" b="true">
                  <a:solidFill>
                    <a:srgbClr val="FFFFFF"/>
                  </a:solidFill>
                  <a:latin typeface="Calibri (MS) Bold"/>
                  <a:ea typeface="Calibri (MS) Bold"/>
                  <a:cs typeface="Calibri (MS) Bold"/>
                  <a:sym typeface="Calibri (MS) Bold"/>
                </a:rPr>
                <a:t>Prinsip: citra memperbarui variabel yang sudah punya data resmi — tidak membentuk struktur model dan tidak menggantikan statistik resmi.</a:t>
              </a:r>
            </a:p>
          </p:txBody>
        </p:sp>
      </p:grpSp>
      <p:grpSp>
        <p:nvGrpSpPr>
          <p:cNvPr name="Group 109" id="109"/>
          <p:cNvGrpSpPr/>
          <p:nvPr/>
        </p:nvGrpSpPr>
        <p:grpSpPr>
          <a:xfrm rot="0">
            <a:off x="11795760" y="7886700"/>
            <a:ext cx="5623560" cy="1303020"/>
            <a:chOff x="0" y="0"/>
            <a:chExt cx="7498080" cy="1737360"/>
          </a:xfrm>
        </p:grpSpPr>
        <p:sp>
          <p:nvSpPr>
            <p:cNvPr name="Freeform 110" id="110"/>
            <p:cNvSpPr/>
            <p:nvPr/>
          </p:nvSpPr>
          <p:spPr>
            <a:xfrm flipH="false" flipV="false" rot="0">
              <a:off x="0" y="0"/>
              <a:ext cx="7498080" cy="1737360"/>
            </a:xfrm>
            <a:custGeom>
              <a:avLst/>
              <a:gdLst/>
              <a:ahLst/>
              <a:cxnLst/>
              <a:rect r="r" b="b" t="t" l="l"/>
              <a:pathLst>
                <a:path h="1737360" w="7498080">
                  <a:moveTo>
                    <a:pt x="0" y="0"/>
                  </a:moveTo>
                  <a:lnTo>
                    <a:pt x="7498080" y="0"/>
                  </a:lnTo>
                  <a:lnTo>
                    <a:pt x="7498080" y="1737360"/>
                  </a:lnTo>
                  <a:lnTo>
                    <a:pt x="0" y="1737360"/>
                  </a:lnTo>
                  <a:close/>
                </a:path>
              </a:pathLst>
            </a:custGeom>
            <a:blipFill>
              <a:blip r:embed="rId4">
                <a:alphaModFix amt="0"/>
              </a:blip>
              <a:stretch>
                <a:fillRect l="0" t="-34035" r="0" b="-34034"/>
              </a:stretch>
            </a:blipFill>
          </p:spPr>
          <p:txBody>
            <a:bodyPr/>
            <a:p/>
          </p:txBody>
        </p:sp>
      </p:grpSp>
      <p:grpSp>
        <p:nvGrpSpPr>
          <p:cNvPr name="Group 111" id="111"/>
          <p:cNvGrpSpPr/>
          <p:nvPr/>
        </p:nvGrpSpPr>
        <p:grpSpPr>
          <a:xfrm rot="0">
            <a:off x="11795760" y="7858125"/>
            <a:ext cx="5623560" cy="1331595"/>
            <a:chOff x="0" y="0"/>
            <a:chExt cx="7498080" cy="1775460"/>
          </a:xfrm>
        </p:grpSpPr>
        <p:sp>
          <p:nvSpPr>
            <p:cNvPr name="Freeform 112" id="112"/>
            <p:cNvSpPr/>
            <p:nvPr/>
          </p:nvSpPr>
          <p:spPr>
            <a:xfrm flipH="false" flipV="false" rot="0">
              <a:off x="0" y="0"/>
              <a:ext cx="7498080" cy="1775460"/>
            </a:xfrm>
            <a:custGeom>
              <a:avLst/>
              <a:gdLst/>
              <a:ahLst/>
              <a:cxnLst/>
              <a:rect r="r" b="b" t="t" l="l"/>
              <a:pathLst>
                <a:path h="1775460" w="7498080">
                  <a:moveTo>
                    <a:pt x="0" y="0"/>
                  </a:moveTo>
                  <a:lnTo>
                    <a:pt x="7498080" y="0"/>
                  </a:lnTo>
                  <a:lnTo>
                    <a:pt x="7498080" y="1775460"/>
                  </a:lnTo>
                  <a:lnTo>
                    <a:pt x="0" y="1775460"/>
                  </a:lnTo>
                  <a:close/>
                </a:path>
              </a:pathLst>
            </a:custGeom>
            <a:blipFill>
              <a:blip r:embed="rId5">
                <a:alphaModFix amt="0"/>
              </a:blip>
              <a:stretch>
                <a:fillRect l="0" t="-32231" r="0" b="-32231"/>
              </a:stretch>
            </a:blipFill>
          </p:spPr>
          <p:txBody>
            <a:bodyPr/>
            <a:p/>
          </p:txBody>
        </p:sp>
      </p:grpSp>
      <p:grpSp>
        <p:nvGrpSpPr>
          <p:cNvPr name="Group 113" id="113"/>
          <p:cNvGrpSpPr/>
          <p:nvPr/>
        </p:nvGrpSpPr>
        <p:grpSpPr>
          <a:xfrm rot="0">
            <a:off x="11795760" y="7829550"/>
            <a:ext cx="5623560" cy="1360170"/>
            <a:chOff x="0" y="0"/>
            <a:chExt cx="7498080" cy="1813560"/>
          </a:xfrm>
        </p:grpSpPr>
        <p:sp>
          <p:nvSpPr>
            <p:cNvPr name="Freeform 114" id="114"/>
            <p:cNvSpPr/>
            <p:nvPr/>
          </p:nvSpPr>
          <p:spPr>
            <a:xfrm flipH="false" flipV="false" rot="0">
              <a:off x="0" y="0"/>
              <a:ext cx="7498080" cy="1813560"/>
            </a:xfrm>
            <a:custGeom>
              <a:avLst/>
              <a:gdLst/>
              <a:ahLst/>
              <a:cxnLst/>
              <a:rect r="r" b="b" t="t" l="l"/>
              <a:pathLst>
                <a:path h="1813560" w="7498080">
                  <a:moveTo>
                    <a:pt x="0" y="0"/>
                  </a:moveTo>
                  <a:lnTo>
                    <a:pt x="7498080" y="0"/>
                  </a:lnTo>
                  <a:lnTo>
                    <a:pt x="7498080" y="1813560"/>
                  </a:lnTo>
                  <a:lnTo>
                    <a:pt x="0" y="1813560"/>
                  </a:lnTo>
                  <a:close/>
                </a:path>
              </a:pathLst>
            </a:custGeom>
            <a:blipFill>
              <a:blip r:embed="rId6">
                <a:alphaModFix amt="0"/>
              </a:blip>
              <a:stretch>
                <a:fillRect l="0" t="-30559" r="0" b="-30559"/>
              </a:stretch>
            </a:blipFill>
          </p:spPr>
          <p:txBody>
            <a:bodyPr/>
            <a:p/>
          </p:txBody>
        </p:sp>
        <p:sp>
          <p:nvSpPr>
            <p:cNvPr name="TextBox 115" id="115"/>
            <p:cNvSpPr txBox="true"/>
            <p:nvPr/>
          </p:nvSpPr>
          <p:spPr>
            <a:xfrm>
              <a:off x="0" y="-38100"/>
              <a:ext cx="7498080" cy="1851660"/>
            </a:xfrm>
            <a:prstGeom prst="rect">
              <a:avLst/>
            </a:prstGeom>
          </p:spPr>
          <p:txBody>
            <a:bodyPr anchor="ctr" rtlCol="false" tIns="0" lIns="0" bIns="0" rIns="0"/>
            <a:lstStyle/>
            <a:p>
              <a:pPr algn="l">
                <a:lnSpc>
                  <a:spcPts val="2160"/>
                </a:lnSpc>
              </a:pPr>
              <a:r>
                <a:rPr lang="en-US" sz="1800">
                  <a:solidFill>
                    <a:srgbClr val="6BE5EA"/>
                  </a:solidFill>
                  <a:latin typeface="Calibri (MS)"/>
                  <a:ea typeface="Calibri (MS)"/>
                  <a:cs typeface="Calibri (MS)"/>
                  <a:sym typeface="Calibri (MS)"/>
                </a:rPr>
                <a:t>Kelayakan NTL: R² selisih tahunan ≥ 0,30 dan RMSE relatif LOOCV ≤ 10%.  Dynamic World: uji akurasi pada 200 titik sampel.</a:t>
              </a:r>
            </a:p>
          </p:txBody>
        </p:sp>
      </p:grpSp>
      <p:sp>
        <p:nvSpPr>
          <p:cNvPr name="TextBox 116" id="116"/>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24</a:t>
            </a:r>
          </a:p>
        </p:txBody>
      </p:sp>
      <p:grpSp>
        <p:nvGrpSpPr>
          <p:cNvPr name="Group 117" id="117"/>
          <p:cNvGrpSpPr/>
          <p:nvPr/>
        </p:nvGrpSpPr>
        <p:grpSpPr>
          <a:xfrm rot="0">
            <a:off x="12755880" y="274320"/>
            <a:ext cx="3931920" cy="411480"/>
            <a:chOff x="0" y="0"/>
            <a:chExt cx="5242560" cy="548640"/>
          </a:xfrm>
        </p:grpSpPr>
        <p:sp>
          <p:nvSpPr>
            <p:cNvPr name="Freeform 118" id="118"/>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19" id="119"/>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2A · Integrasi citra satelit</a:t>
              </a:r>
            </a:p>
          </p:txBody>
        </p:sp>
      </p:grpSp>
      <p:grpSp>
        <p:nvGrpSpPr>
          <p:cNvPr name="Group 120" id="120"/>
          <p:cNvGrpSpPr/>
          <p:nvPr/>
        </p:nvGrpSpPr>
        <p:grpSpPr>
          <a:xfrm rot="0">
            <a:off x="16047720" y="9646920"/>
            <a:ext cx="420624" cy="420624"/>
            <a:chOff x="0" y="0"/>
            <a:chExt cx="560832" cy="560832"/>
          </a:xfrm>
        </p:grpSpPr>
        <p:sp>
          <p:nvSpPr>
            <p:cNvPr name="Freeform 121" id="121"/>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22" id="122"/>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2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0010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Estimasi Jumlah ODTW dengan Night-Time Light</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Tahapan estimasi ODTW: dari citra VIIRS sampai regresi dan selang prediksi</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25</a:t>
            </a:r>
          </a:p>
        </p:txBody>
      </p:sp>
      <p:sp>
        <p:nvSpPr>
          <p:cNvPr name="Freeform 67" id="67"/>
          <p:cNvSpPr/>
          <p:nvPr/>
        </p:nvSpPr>
        <p:spPr>
          <a:xfrm flipH="false" flipV="false" rot="0">
            <a:off x="806291" y="2223611"/>
            <a:ext cx="4056697" cy="3448622"/>
          </a:xfrm>
          <a:custGeom>
            <a:avLst/>
            <a:gdLst/>
            <a:ahLst/>
            <a:cxnLst/>
            <a:rect r="r" b="b" t="t" l="l"/>
            <a:pathLst>
              <a:path h="3448622" w="4056697">
                <a:moveTo>
                  <a:pt x="0" y="0"/>
                </a:moveTo>
                <a:lnTo>
                  <a:pt x="4056698" y="0"/>
                </a:lnTo>
                <a:lnTo>
                  <a:pt x="4056698" y="3448622"/>
                </a:lnTo>
                <a:lnTo>
                  <a:pt x="0" y="344862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68" id="68"/>
          <p:cNvGrpSpPr/>
          <p:nvPr/>
        </p:nvGrpSpPr>
        <p:grpSpPr>
          <a:xfrm rot="0">
            <a:off x="1051560" y="2468880"/>
            <a:ext cx="530352" cy="530352"/>
            <a:chOff x="0" y="0"/>
            <a:chExt cx="707136" cy="707136"/>
          </a:xfrm>
        </p:grpSpPr>
        <p:sp>
          <p:nvSpPr>
            <p:cNvPr name="Freeform 69" id="69"/>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70" id="70"/>
          <p:cNvGrpSpPr/>
          <p:nvPr/>
        </p:nvGrpSpPr>
        <p:grpSpPr>
          <a:xfrm rot="0">
            <a:off x="1051560" y="2447449"/>
            <a:ext cx="530352" cy="551783"/>
            <a:chOff x="0" y="0"/>
            <a:chExt cx="707136" cy="735711"/>
          </a:xfrm>
        </p:grpSpPr>
        <p:sp>
          <p:nvSpPr>
            <p:cNvPr name="Freeform 71" id="71"/>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72" id="72"/>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1</a:t>
              </a:r>
            </a:p>
          </p:txBody>
        </p:sp>
      </p:grpSp>
      <p:sp>
        <p:nvSpPr>
          <p:cNvPr name="TextBox 73" id="73"/>
          <p:cNvSpPr txBox="true"/>
          <p:nvPr/>
        </p:nvSpPr>
        <p:spPr>
          <a:xfrm rot="0">
            <a:off x="1719072" y="2372868"/>
            <a:ext cx="2971800" cy="484937"/>
          </a:xfrm>
          <a:prstGeom prst="rect">
            <a:avLst/>
          </a:prstGeom>
        </p:spPr>
        <p:txBody>
          <a:bodyPr anchor="t" rtlCol="false" tIns="0" lIns="0" bIns="0" rIns="0">
            <a:spAutoFit/>
          </a:bodyPr>
          <a:lstStyle/>
          <a:p>
            <a:pPr algn="l">
              <a:lnSpc>
                <a:spcPts val="2485"/>
              </a:lnSpc>
            </a:pPr>
            <a:r>
              <a:rPr lang="en-US" sz="1850" b="true">
                <a:solidFill>
                  <a:srgbClr val="0B5E6E"/>
                </a:solidFill>
                <a:latin typeface="Calibri (MS) Bold"/>
                <a:ea typeface="Calibri (MS) Bold"/>
                <a:cs typeface="Calibri (MS) Bold"/>
                <a:sym typeface="Calibri (MS) Bold"/>
              </a:rPr>
              <a:t>Definisi wilayah kajian</a:t>
            </a:r>
          </a:p>
        </p:txBody>
      </p:sp>
      <p:sp>
        <p:nvSpPr>
          <p:cNvPr name="TextBox 74" id="74"/>
          <p:cNvSpPr txBox="true"/>
          <p:nvPr/>
        </p:nvSpPr>
        <p:spPr>
          <a:xfrm rot="0">
            <a:off x="1051560" y="3041142"/>
            <a:ext cx="3566160" cy="969416"/>
          </a:xfrm>
          <a:prstGeom prst="rect">
            <a:avLst/>
          </a:prstGeom>
        </p:spPr>
        <p:txBody>
          <a:bodyPr anchor="t" rtlCol="false" tIns="0" lIns="0" bIns="0" rIns="0">
            <a:spAutoFit/>
          </a:bodyPr>
          <a:lstStyle/>
          <a:p>
            <a:pPr algn="l">
              <a:lnSpc>
                <a:spcPts val="2149"/>
              </a:lnSpc>
            </a:pPr>
            <a:r>
              <a:rPr lang="en-US" sz="1599">
                <a:solidFill>
                  <a:srgbClr val="14313B"/>
                </a:solidFill>
                <a:latin typeface="Calibri (MS)"/>
                <a:ea typeface="Calibri (MS)"/>
                <a:cs typeface="Calibri (MS)"/>
                <a:sym typeface="Calibri (MS)"/>
              </a:rPr>
              <a:t>Batas administratif Provinsi DIY (5 kabupaten/kota, 317.036 ha) didefinisikan di Google Earth Engine.</a:t>
            </a:r>
          </a:p>
        </p:txBody>
      </p:sp>
      <p:sp>
        <p:nvSpPr>
          <p:cNvPr name="Freeform 75" id="75"/>
          <p:cNvSpPr/>
          <p:nvPr/>
        </p:nvSpPr>
        <p:spPr>
          <a:xfrm flipH="false" flipV="false" rot="0">
            <a:off x="5012531" y="2223611"/>
            <a:ext cx="4056697" cy="3448622"/>
          </a:xfrm>
          <a:custGeom>
            <a:avLst/>
            <a:gdLst/>
            <a:ahLst/>
            <a:cxnLst/>
            <a:rect r="r" b="b" t="t" l="l"/>
            <a:pathLst>
              <a:path h="3448622" w="4056697">
                <a:moveTo>
                  <a:pt x="0" y="0"/>
                </a:moveTo>
                <a:lnTo>
                  <a:pt x="4056698" y="0"/>
                </a:lnTo>
                <a:lnTo>
                  <a:pt x="4056698" y="3448622"/>
                </a:lnTo>
                <a:lnTo>
                  <a:pt x="0" y="344862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76" id="76"/>
          <p:cNvGrpSpPr/>
          <p:nvPr/>
        </p:nvGrpSpPr>
        <p:grpSpPr>
          <a:xfrm rot="0">
            <a:off x="5257800" y="2468880"/>
            <a:ext cx="530352" cy="530352"/>
            <a:chOff x="0" y="0"/>
            <a:chExt cx="707136" cy="707136"/>
          </a:xfrm>
        </p:grpSpPr>
        <p:sp>
          <p:nvSpPr>
            <p:cNvPr name="Freeform 77" id="77"/>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78" id="78"/>
          <p:cNvGrpSpPr/>
          <p:nvPr/>
        </p:nvGrpSpPr>
        <p:grpSpPr>
          <a:xfrm rot="0">
            <a:off x="5257800" y="2447449"/>
            <a:ext cx="530352" cy="551783"/>
            <a:chOff x="0" y="0"/>
            <a:chExt cx="707136" cy="735711"/>
          </a:xfrm>
        </p:grpSpPr>
        <p:sp>
          <p:nvSpPr>
            <p:cNvPr name="Freeform 79" id="79"/>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80" id="80"/>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2</a:t>
              </a:r>
            </a:p>
          </p:txBody>
        </p:sp>
      </p:grpSp>
      <p:sp>
        <p:nvSpPr>
          <p:cNvPr name="TextBox 81" id="81"/>
          <p:cNvSpPr txBox="true"/>
          <p:nvPr/>
        </p:nvSpPr>
        <p:spPr>
          <a:xfrm rot="0">
            <a:off x="5925312" y="2372868"/>
            <a:ext cx="2971800" cy="484937"/>
          </a:xfrm>
          <a:prstGeom prst="rect">
            <a:avLst/>
          </a:prstGeom>
        </p:spPr>
        <p:txBody>
          <a:bodyPr anchor="t" rtlCol="false" tIns="0" lIns="0" bIns="0" rIns="0">
            <a:spAutoFit/>
          </a:bodyPr>
          <a:lstStyle/>
          <a:p>
            <a:pPr algn="l">
              <a:lnSpc>
                <a:spcPts val="2485"/>
              </a:lnSpc>
            </a:pPr>
            <a:r>
              <a:rPr lang="en-US" sz="1850" b="true">
                <a:solidFill>
                  <a:srgbClr val="0B5E6E"/>
                </a:solidFill>
                <a:latin typeface="Calibri (MS) Bold"/>
                <a:ea typeface="Calibri (MS) Bold"/>
                <a:cs typeface="Calibri (MS) Bold"/>
                <a:sym typeface="Calibri (MS) Bold"/>
              </a:rPr>
              <a:t>Pemanggilan koleksi citra</a:t>
            </a:r>
          </a:p>
        </p:txBody>
      </p:sp>
      <p:sp>
        <p:nvSpPr>
          <p:cNvPr name="TextBox 82" id="82"/>
          <p:cNvSpPr txBox="true"/>
          <p:nvPr/>
        </p:nvSpPr>
        <p:spPr>
          <a:xfrm rot="0">
            <a:off x="5257800" y="3041142"/>
            <a:ext cx="3566160" cy="969416"/>
          </a:xfrm>
          <a:prstGeom prst="rect">
            <a:avLst/>
          </a:prstGeom>
        </p:spPr>
        <p:txBody>
          <a:bodyPr anchor="t" rtlCol="false" tIns="0" lIns="0" bIns="0" rIns="0">
            <a:spAutoFit/>
          </a:bodyPr>
          <a:lstStyle/>
          <a:p>
            <a:pPr algn="l">
              <a:lnSpc>
                <a:spcPts val="2149"/>
              </a:lnSpc>
            </a:pPr>
            <a:r>
              <a:rPr lang="en-US" sz="1599">
                <a:solidFill>
                  <a:srgbClr val="14313B"/>
                </a:solidFill>
                <a:latin typeface="Calibri (MS)"/>
                <a:ea typeface="Calibri (MS)"/>
                <a:cs typeface="Calibri (MS)"/>
                <a:sym typeface="Calibri (MS)"/>
              </a:rPr>
              <a:t>VIIRS Day/Night Band (NOAA): komposit radiansi bulanan 2015–2025, satuan nW/cm²/sr.</a:t>
            </a:r>
          </a:p>
        </p:txBody>
      </p:sp>
      <p:sp>
        <p:nvSpPr>
          <p:cNvPr name="Freeform 83" id="83"/>
          <p:cNvSpPr/>
          <p:nvPr/>
        </p:nvSpPr>
        <p:spPr>
          <a:xfrm flipH="false" flipV="false" rot="0">
            <a:off x="9218771" y="2223611"/>
            <a:ext cx="4056697" cy="3448622"/>
          </a:xfrm>
          <a:custGeom>
            <a:avLst/>
            <a:gdLst/>
            <a:ahLst/>
            <a:cxnLst/>
            <a:rect r="r" b="b" t="t" l="l"/>
            <a:pathLst>
              <a:path h="3448622" w="4056697">
                <a:moveTo>
                  <a:pt x="0" y="0"/>
                </a:moveTo>
                <a:lnTo>
                  <a:pt x="4056698" y="0"/>
                </a:lnTo>
                <a:lnTo>
                  <a:pt x="4056698" y="3448622"/>
                </a:lnTo>
                <a:lnTo>
                  <a:pt x="0" y="344862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84" id="84"/>
          <p:cNvGrpSpPr/>
          <p:nvPr/>
        </p:nvGrpSpPr>
        <p:grpSpPr>
          <a:xfrm rot="0">
            <a:off x="9464040" y="2468880"/>
            <a:ext cx="530352" cy="530352"/>
            <a:chOff x="0" y="0"/>
            <a:chExt cx="707136" cy="707136"/>
          </a:xfrm>
        </p:grpSpPr>
        <p:sp>
          <p:nvSpPr>
            <p:cNvPr name="Freeform 85" id="85"/>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86" id="86"/>
          <p:cNvGrpSpPr/>
          <p:nvPr/>
        </p:nvGrpSpPr>
        <p:grpSpPr>
          <a:xfrm rot="0">
            <a:off x="9464040" y="2447449"/>
            <a:ext cx="530352" cy="551783"/>
            <a:chOff x="0" y="0"/>
            <a:chExt cx="707136" cy="735711"/>
          </a:xfrm>
        </p:grpSpPr>
        <p:sp>
          <p:nvSpPr>
            <p:cNvPr name="Freeform 87" id="87"/>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88" id="88"/>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3</a:t>
              </a:r>
            </a:p>
          </p:txBody>
        </p:sp>
      </p:grpSp>
      <p:sp>
        <p:nvSpPr>
          <p:cNvPr name="TextBox 89" id="89"/>
          <p:cNvSpPr txBox="true"/>
          <p:nvPr/>
        </p:nvSpPr>
        <p:spPr>
          <a:xfrm rot="0">
            <a:off x="10131552" y="2372868"/>
            <a:ext cx="2971800" cy="484937"/>
          </a:xfrm>
          <a:prstGeom prst="rect">
            <a:avLst/>
          </a:prstGeom>
        </p:spPr>
        <p:txBody>
          <a:bodyPr anchor="t" rtlCol="false" tIns="0" lIns="0" bIns="0" rIns="0">
            <a:spAutoFit/>
          </a:bodyPr>
          <a:lstStyle/>
          <a:p>
            <a:pPr algn="l">
              <a:lnSpc>
                <a:spcPts val="2485"/>
              </a:lnSpc>
            </a:pPr>
            <a:r>
              <a:rPr lang="en-US" sz="1850" b="true">
                <a:solidFill>
                  <a:srgbClr val="0B5E6E"/>
                </a:solidFill>
                <a:latin typeface="Calibri (MS) Bold"/>
                <a:ea typeface="Calibri (MS) Bold"/>
                <a:cs typeface="Calibri (MS) Bold"/>
                <a:sym typeface="Calibri (MS) Bold"/>
              </a:rPr>
              <a:t>Rata-rata per tahun</a:t>
            </a:r>
          </a:p>
        </p:txBody>
      </p:sp>
      <p:sp>
        <p:nvSpPr>
          <p:cNvPr name="TextBox 90" id="90"/>
          <p:cNvSpPr txBox="true"/>
          <p:nvPr/>
        </p:nvSpPr>
        <p:spPr>
          <a:xfrm rot="0">
            <a:off x="9464040" y="3041142"/>
            <a:ext cx="3566160" cy="696316"/>
          </a:xfrm>
          <a:prstGeom prst="rect">
            <a:avLst/>
          </a:prstGeom>
        </p:spPr>
        <p:txBody>
          <a:bodyPr anchor="t" rtlCol="false" tIns="0" lIns="0" bIns="0" rIns="0">
            <a:spAutoFit/>
          </a:bodyPr>
          <a:lstStyle/>
          <a:p>
            <a:pPr algn="l">
              <a:lnSpc>
                <a:spcPts val="2149"/>
              </a:lnSpc>
            </a:pPr>
            <a:r>
              <a:rPr lang="en-US" sz="1599">
                <a:solidFill>
                  <a:srgbClr val="14313B"/>
                </a:solidFill>
                <a:latin typeface="Calibri (MS)"/>
                <a:ea typeface="Calibri (MS)"/>
                <a:cs typeface="Calibri (MS)"/>
                <a:sym typeface="Calibri (MS)"/>
              </a:rPr>
              <a:t>Radiansi bulanan dirata-ratakan menjadi komposit tahunan.</a:t>
            </a:r>
          </a:p>
        </p:txBody>
      </p:sp>
      <p:grpSp>
        <p:nvGrpSpPr>
          <p:cNvPr name="Group 91" id="91"/>
          <p:cNvGrpSpPr/>
          <p:nvPr/>
        </p:nvGrpSpPr>
        <p:grpSpPr>
          <a:xfrm rot="0">
            <a:off x="9400032" y="3810610"/>
            <a:ext cx="3694176" cy="571786"/>
            <a:chOff x="0" y="0"/>
            <a:chExt cx="4925568" cy="762381"/>
          </a:xfrm>
        </p:grpSpPr>
        <p:sp>
          <p:nvSpPr>
            <p:cNvPr name="Freeform 92" id="92"/>
            <p:cNvSpPr/>
            <p:nvPr/>
          </p:nvSpPr>
          <p:spPr>
            <a:xfrm flipH="false" flipV="false" rot="0">
              <a:off x="0" y="0"/>
              <a:ext cx="4925568" cy="762381"/>
            </a:xfrm>
            <a:custGeom>
              <a:avLst/>
              <a:gdLst/>
              <a:ahLst/>
              <a:cxnLst/>
              <a:rect r="r" b="b" t="t" l="l"/>
              <a:pathLst>
                <a:path h="762381" w="4925568">
                  <a:moveTo>
                    <a:pt x="0" y="97536"/>
                  </a:moveTo>
                  <a:cubicBezTo>
                    <a:pt x="0" y="43688"/>
                    <a:pt x="43688" y="0"/>
                    <a:pt x="97536" y="0"/>
                  </a:cubicBezTo>
                  <a:lnTo>
                    <a:pt x="4828032" y="0"/>
                  </a:lnTo>
                  <a:cubicBezTo>
                    <a:pt x="4881880" y="0"/>
                    <a:pt x="4925568" y="43688"/>
                    <a:pt x="4925568" y="97536"/>
                  </a:cubicBezTo>
                  <a:lnTo>
                    <a:pt x="4925568" y="664845"/>
                  </a:lnTo>
                  <a:cubicBezTo>
                    <a:pt x="4925568" y="718693"/>
                    <a:pt x="4881880" y="762381"/>
                    <a:pt x="4828032" y="762381"/>
                  </a:cubicBezTo>
                  <a:lnTo>
                    <a:pt x="97536" y="762381"/>
                  </a:lnTo>
                  <a:cubicBezTo>
                    <a:pt x="43688" y="762381"/>
                    <a:pt x="0" y="718693"/>
                    <a:pt x="0" y="664845"/>
                  </a:cubicBezTo>
                  <a:close/>
                </a:path>
              </a:pathLst>
            </a:custGeom>
            <a:solidFill>
              <a:srgbClr val="FFF1BF"/>
            </a:solidFill>
          </p:spPr>
          <p:txBody>
            <a:bodyPr/>
            <a:p/>
          </p:txBody>
        </p:sp>
      </p:grpSp>
      <p:sp>
        <p:nvSpPr>
          <p:cNvPr name="TextBox 93" id="93"/>
          <p:cNvSpPr txBox="true"/>
          <p:nvPr/>
        </p:nvSpPr>
        <p:spPr>
          <a:xfrm rot="0">
            <a:off x="9537192" y="3854044"/>
            <a:ext cx="3291840" cy="446075"/>
          </a:xfrm>
          <a:prstGeom prst="rect">
            <a:avLst/>
          </a:prstGeom>
        </p:spPr>
        <p:txBody>
          <a:bodyPr anchor="t" rtlCol="false" tIns="0" lIns="0" bIns="0" rIns="0">
            <a:spAutoFit/>
          </a:bodyPr>
          <a:lstStyle/>
          <a:p>
            <a:pPr algn="l">
              <a:lnSpc>
                <a:spcPts val="2485"/>
              </a:lnSpc>
            </a:pPr>
            <a:r>
              <a:rPr lang="en-US" sz="1850" i="true">
                <a:solidFill>
                  <a:srgbClr val="14313B"/>
                </a:solidFill>
                <a:latin typeface="Cambria Italics"/>
                <a:ea typeface="Cambria Italics"/>
                <a:cs typeface="Cambria Italics"/>
                <a:sym typeface="Cambria Italics"/>
              </a:rPr>
              <a:t>NTLₜ = (1/n) · Σᵢ₌₁ⁿ Rᵢ,ₜ</a:t>
            </a:r>
          </a:p>
        </p:txBody>
      </p:sp>
      <p:sp>
        <p:nvSpPr>
          <p:cNvPr name="TextBox 94" id="94"/>
          <p:cNvSpPr txBox="true"/>
          <p:nvPr/>
        </p:nvSpPr>
        <p:spPr>
          <a:xfrm rot="0">
            <a:off x="9464040" y="4359554"/>
            <a:ext cx="3566160" cy="664159"/>
          </a:xfrm>
          <a:prstGeom prst="rect">
            <a:avLst/>
          </a:prstGeom>
        </p:spPr>
        <p:txBody>
          <a:bodyPr anchor="t" rtlCol="false" tIns="0" lIns="0" bIns="0" rIns="0">
            <a:spAutoFit/>
          </a:bodyPr>
          <a:lstStyle/>
          <a:p>
            <a:pPr algn="l">
              <a:lnSpc>
                <a:spcPts val="1948"/>
              </a:lnSpc>
            </a:pPr>
            <a:r>
              <a:rPr lang="en-US" sz="1449" b="true">
                <a:solidFill>
                  <a:srgbClr val="0B5E6E"/>
                </a:solidFill>
                <a:latin typeface="Calibri (MS) Bold"/>
                <a:ea typeface="Calibri (MS) Bold"/>
                <a:cs typeface="Calibri (MS) Bold"/>
                <a:sym typeface="Calibri (MS) Bold"/>
              </a:rPr>
              <a:t>Rᵢ,ₜ radiansi bulan ke-i tahun t; n bulan tersedia</a:t>
            </a:r>
          </a:p>
        </p:txBody>
      </p:sp>
      <p:sp>
        <p:nvSpPr>
          <p:cNvPr name="Freeform 95" id="95"/>
          <p:cNvSpPr/>
          <p:nvPr/>
        </p:nvSpPr>
        <p:spPr>
          <a:xfrm flipH="false" flipV="false" rot="0">
            <a:off x="13425011" y="2223611"/>
            <a:ext cx="4056697" cy="3448622"/>
          </a:xfrm>
          <a:custGeom>
            <a:avLst/>
            <a:gdLst/>
            <a:ahLst/>
            <a:cxnLst/>
            <a:rect r="r" b="b" t="t" l="l"/>
            <a:pathLst>
              <a:path h="3448622" w="4056697">
                <a:moveTo>
                  <a:pt x="0" y="0"/>
                </a:moveTo>
                <a:lnTo>
                  <a:pt x="4056698" y="0"/>
                </a:lnTo>
                <a:lnTo>
                  <a:pt x="4056698" y="3448622"/>
                </a:lnTo>
                <a:lnTo>
                  <a:pt x="0" y="344862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96" id="96"/>
          <p:cNvGrpSpPr/>
          <p:nvPr/>
        </p:nvGrpSpPr>
        <p:grpSpPr>
          <a:xfrm rot="0">
            <a:off x="13670280" y="2468880"/>
            <a:ext cx="530352" cy="530352"/>
            <a:chOff x="0" y="0"/>
            <a:chExt cx="707136" cy="707136"/>
          </a:xfrm>
        </p:grpSpPr>
        <p:sp>
          <p:nvSpPr>
            <p:cNvPr name="Freeform 97" id="97"/>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98" id="98"/>
          <p:cNvGrpSpPr/>
          <p:nvPr/>
        </p:nvGrpSpPr>
        <p:grpSpPr>
          <a:xfrm rot="0">
            <a:off x="13670280" y="2447449"/>
            <a:ext cx="530352" cy="551783"/>
            <a:chOff x="0" y="0"/>
            <a:chExt cx="707136" cy="735711"/>
          </a:xfrm>
        </p:grpSpPr>
        <p:sp>
          <p:nvSpPr>
            <p:cNvPr name="Freeform 99" id="99"/>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100" id="100"/>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4</a:t>
              </a:r>
            </a:p>
          </p:txBody>
        </p:sp>
      </p:grpSp>
      <p:sp>
        <p:nvSpPr>
          <p:cNvPr name="TextBox 101" id="101"/>
          <p:cNvSpPr txBox="true"/>
          <p:nvPr/>
        </p:nvSpPr>
        <p:spPr>
          <a:xfrm rot="0">
            <a:off x="14337792" y="2372868"/>
            <a:ext cx="2971800" cy="484937"/>
          </a:xfrm>
          <a:prstGeom prst="rect">
            <a:avLst/>
          </a:prstGeom>
        </p:spPr>
        <p:txBody>
          <a:bodyPr anchor="t" rtlCol="false" tIns="0" lIns="0" bIns="0" rIns="0">
            <a:spAutoFit/>
          </a:bodyPr>
          <a:lstStyle/>
          <a:p>
            <a:pPr algn="l">
              <a:lnSpc>
                <a:spcPts val="2485"/>
              </a:lnSpc>
            </a:pPr>
            <a:r>
              <a:rPr lang="en-US" sz="1850" b="true">
                <a:solidFill>
                  <a:srgbClr val="0B5E6E"/>
                </a:solidFill>
                <a:latin typeface="Calibri (MS) Bold"/>
                <a:ea typeface="Calibri (MS) Bold"/>
                <a:cs typeface="Calibri (MS) Bold"/>
                <a:sym typeface="Calibri (MS) Bold"/>
              </a:rPr>
              <a:t>Rata-rata per wilayah</a:t>
            </a:r>
          </a:p>
        </p:txBody>
      </p:sp>
      <p:sp>
        <p:nvSpPr>
          <p:cNvPr name="TextBox 102" id="102"/>
          <p:cNvSpPr txBox="true"/>
          <p:nvPr/>
        </p:nvSpPr>
        <p:spPr>
          <a:xfrm rot="0">
            <a:off x="13670280" y="3041142"/>
            <a:ext cx="3566160" cy="969416"/>
          </a:xfrm>
          <a:prstGeom prst="rect">
            <a:avLst/>
          </a:prstGeom>
        </p:spPr>
        <p:txBody>
          <a:bodyPr anchor="t" rtlCol="false" tIns="0" lIns="0" bIns="0" rIns="0">
            <a:spAutoFit/>
          </a:bodyPr>
          <a:lstStyle/>
          <a:p>
            <a:pPr algn="l">
              <a:lnSpc>
                <a:spcPts val="2149"/>
              </a:lnSpc>
            </a:pPr>
            <a:r>
              <a:rPr lang="en-US" sz="1599">
                <a:solidFill>
                  <a:srgbClr val="14313B"/>
                </a:solidFill>
                <a:latin typeface="Calibri (MS)"/>
                <a:ea typeface="Calibri (MS)"/>
                <a:cs typeface="Calibri (MS)"/>
                <a:sym typeface="Calibri (MS)"/>
              </a:rPr>
              <a:t>Rata-rata seluruh piksel di wilayah DIY → satu nilai NTL per tahun.</a:t>
            </a:r>
          </a:p>
        </p:txBody>
      </p:sp>
      <p:grpSp>
        <p:nvGrpSpPr>
          <p:cNvPr name="Group 103" id="103"/>
          <p:cNvGrpSpPr/>
          <p:nvPr/>
        </p:nvGrpSpPr>
        <p:grpSpPr>
          <a:xfrm rot="0">
            <a:off x="13606272" y="4083710"/>
            <a:ext cx="3694176" cy="571786"/>
            <a:chOff x="0" y="0"/>
            <a:chExt cx="4925568" cy="762381"/>
          </a:xfrm>
        </p:grpSpPr>
        <p:sp>
          <p:nvSpPr>
            <p:cNvPr name="Freeform 104" id="104"/>
            <p:cNvSpPr/>
            <p:nvPr/>
          </p:nvSpPr>
          <p:spPr>
            <a:xfrm flipH="false" flipV="false" rot="0">
              <a:off x="0" y="0"/>
              <a:ext cx="4925568" cy="762381"/>
            </a:xfrm>
            <a:custGeom>
              <a:avLst/>
              <a:gdLst/>
              <a:ahLst/>
              <a:cxnLst/>
              <a:rect r="r" b="b" t="t" l="l"/>
              <a:pathLst>
                <a:path h="762381" w="4925568">
                  <a:moveTo>
                    <a:pt x="0" y="97536"/>
                  </a:moveTo>
                  <a:cubicBezTo>
                    <a:pt x="0" y="43688"/>
                    <a:pt x="43688" y="0"/>
                    <a:pt x="97536" y="0"/>
                  </a:cubicBezTo>
                  <a:lnTo>
                    <a:pt x="4828032" y="0"/>
                  </a:lnTo>
                  <a:cubicBezTo>
                    <a:pt x="4881880" y="0"/>
                    <a:pt x="4925568" y="43688"/>
                    <a:pt x="4925568" y="97536"/>
                  </a:cubicBezTo>
                  <a:lnTo>
                    <a:pt x="4925568" y="664845"/>
                  </a:lnTo>
                  <a:cubicBezTo>
                    <a:pt x="4925568" y="718693"/>
                    <a:pt x="4881880" y="762381"/>
                    <a:pt x="4828032" y="762381"/>
                  </a:cubicBezTo>
                  <a:lnTo>
                    <a:pt x="97536" y="762381"/>
                  </a:lnTo>
                  <a:cubicBezTo>
                    <a:pt x="43688" y="762381"/>
                    <a:pt x="0" y="718693"/>
                    <a:pt x="0" y="664845"/>
                  </a:cubicBezTo>
                  <a:close/>
                </a:path>
              </a:pathLst>
            </a:custGeom>
            <a:solidFill>
              <a:srgbClr val="FFF1BF"/>
            </a:solidFill>
          </p:spPr>
          <p:txBody>
            <a:bodyPr/>
            <a:p/>
          </p:txBody>
        </p:sp>
      </p:grpSp>
      <p:sp>
        <p:nvSpPr>
          <p:cNvPr name="TextBox 105" id="105"/>
          <p:cNvSpPr txBox="true"/>
          <p:nvPr/>
        </p:nvSpPr>
        <p:spPr>
          <a:xfrm rot="0">
            <a:off x="13743432" y="4127144"/>
            <a:ext cx="3291840" cy="446075"/>
          </a:xfrm>
          <a:prstGeom prst="rect">
            <a:avLst/>
          </a:prstGeom>
        </p:spPr>
        <p:txBody>
          <a:bodyPr anchor="t" rtlCol="false" tIns="0" lIns="0" bIns="0" rIns="0">
            <a:spAutoFit/>
          </a:bodyPr>
          <a:lstStyle/>
          <a:p>
            <a:pPr algn="l">
              <a:lnSpc>
                <a:spcPts val="2485"/>
              </a:lnSpc>
            </a:pPr>
            <a:r>
              <a:rPr lang="en-US" sz="1850" i="true">
                <a:solidFill>
                  <a:srgbClr val="14313B"/>
                </a:solidFill>
                <a:latin typeface="Cambria Italics"/>
                <a:ea typeface="Cambria Italics"/>
                <a:cs typeface="Cambria Italics"/>
                <a:sym typeface="Cambria Italics"/>
              </a:rPr>
              <a:t>NTL̄ₜ = (1/N) · Σₚ Rₚ,ₜ</a:t>
            </a:r>
          </a:p>
        </p:txBody>
      </p:sp>
      <p:sp>
        <p:nvSpPr>
          <p:cNvPr name="TextBox 106" id="106"/>
          <p:cNvSpPr txBox="true"/>
          <p:nvPr/>
        </p:nvSpPr>
        <p:spPr>
          <a:xfrm rot="0">
            <a:off x="13670280" y="4632655"/>
            <a:ext cx="3566160" cy="416662"/>
          </a:xfrm>
          <a:prstGeom prst="rect">
            <a:avLst/>
          </a:prstGeom>
        </p:spPr>
        <p:txBody>
          <a:bodyPr anchor="t" rtlCol="false" tIns="0" lIns="0" bIns="0" rIns="0">
            <a:spAutoFit/>
          </a:bodyPr>
          <a:lstStyle/>
          <a:p>
            <a:pPr algn="l">
              <a:lnSpc>
                <a:spcPts val="1948"/>
              </a:lnSpc>
            </a:pPr>
            <a:r>
              <a:rPr lang="en-US" sz="1449" b="true">
                <a:solidFill>
                  <a:srgbClr val="0B5E6E"/>
                </a:solidFill>
                <a:latin typeface="Calibri (MS) Bold"/>
                <a:ea typeface="Calibri (MS) Bold"/>
                <a:cs typeface="Calibri (MS) Bold"/>
                <a:sym typeface="Calibri (MS) Bold"/>
              </a:rPr>
              <a:t>N = jumlah piksel dalam batas DIY</a:t>
            </a:r>
          </a:p>
        </p:txBody>
      </p:sp>
      <p:sp>
        <p:nvSpPr>
          <p:cNvPr name="Freeform 107" id="107"/>
          <p:cNvSpPr/>
          <p:nvPr/>
        </p:nvSpPr>
        <p:spPr>
          <a:xfrm flipH="false" flipV="false" rot="0">
            <a:off x="806291" y="5821775"/>
            <a:ext cx="5458778" cy="3448622"/>
          </a:xfrm>
          <a:custGeom>
            <a:avLst/>
            <a:gdLst/>
            <a:ahLst/>
            <a:cxnLst/>
            <a:rect r="r" b="b" t="t" l="l"/>
            <a:pathLst>
              <a:path h="3448622" w="5458778">
                <a:moveTo>
                  <a:pt x="0" y="0"/>
                </a:moveTo>
                <a:lnTo>
                  <a:pt x="5458778" y="0"/>
                </a:lnTo>
                <a:lnTo>
                  <a:pt x="5458778" y="3448622"/>
                </a:lnTo>
                <a:lnTo>
                  <a:pt x="0" y="3448622"/>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txBody>
          <a:bodyPr/>
          <a:p/>
        </p:txBody>
      </p:sp>
      <p:grpSp>
        <p:nvGrpSpPr>
          <p:cNvPr name="Group 108" id="108"/>
          <p:cNvGrpSpPr/>
          <p:nvPr/>
        </p:nvGrpSpPr>
        <p:grpSpPr>
          <a:xfrm rot="0">
            <a:off x="1051560" y="6067044"/>
            <a:ext cx="530352" cy="530352"/>
            <a:chOff x="0" y="0"/>
            <a:chExt cx="707136" cy="707136"/>
          </a:xfrm>
        </p:grpSpPr>
        <p:sp>
          <p:nvSpPr>
            <p:cNvPr name="Freeform 109" id="109"/>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110" id="110"/>
          <p:cNvGrpSpPr/>
          <p:nvPr/>
        </p:nvGrpSpPr>
        <p:grpSpPr>
          <a:xfrm rot="0">
            <a:off x="1051560" y="6045613"/>
            <a:ext cx="530352" cy="551783"/>
            <a:chOff x="0" y="0"/>
            <a:chExt cx="707136" cy="735711"/>
          </a:xfrm>
        </p:grpSpPr>
        <p:sp>
          <p:nvSpPr>
            <p:cNvPr name="Freeform 111" id="111"/>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112" id="112"/>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5</a:t>
              </a:r>
            </a:p>
          </p:txBody>
        </p:sp>
      </p:grpSp>
      <p:sp>
        <p:nvSpPr>
          <p:cNvPr name="TextBox 113" id="113"/>
          <p:cNvSpPr txBox="true"/>
          <p:nvPr/>
        </p:nvSpPr>
        <p:spPr>
          <a:xfrm rot="0">
            <a:off x="1719072" y="5971032"/>
            <a:ext cx="4373880" cy="484937"/>
          </a:xfrm>
          <a:prstGeom prst="rect">
            <a:avLst/>
          </a:prstGeom>
        </p:spPr>
        <p:txBody>
          <a:bodyPr anchor="t" rtlCol="false" tIns="0" lIns="0" bIns="0" rIns="0">
            <a:spAutoFit/>
          </a:bodyPr>
          <a:lstStyle/>
          <a:p>
            <a:pPr algn="l">
              <a:lnSpc>
                <a:spcPts val="2485"/>
              </a:lnSpc>
            </a:pPr>
            <a:r>
              <a:rPr lang="en-US" sz="1850" b="true">
                <a:solidFill>
                  <a:srgbClr val="0B5E6E"/>
                </a:solidFill>
                <a:latin typeface="Calibri (MS) Bold"/>
                <a:ea typeface="Calibri (MS) Bold"/>
                <a:cs typeface="Calibri (MS) Bold"/>
                <a:sym typeface="Calibri (MS) Bold"/>
              </a:rPr>
              <a:t>Regresi linear sederhana (OLS)</a:t>
            </a:r>
          </a:p>
        </p:txBody>
      </p:sp>
      <p:sp>
        <p:nvSpPr>
          <p:cNvPr name="TextBox 114" id="114"/>
          <p:cNvSpPr txBox="true"/>
          <p:nvPr/>
        </p:nvSpPr>
        <p:spPr>
          <a:xfrm rot="0">
            <a:off x="1051560" y="6639306"/>
            <a:ext cx="4968240" cy="696316"/>
          </a:xfrm>
          <a:prstGeom prst="rect">
            <a:avLst/>
          </a:prstGeom>
        </p:spPr>
        <p:txBody>
          <a:bodyPr anchor="t" rtlCol="false" tIns="0" lIns="0" bIns="0" rIns="0">
            <a:spAutoFit/>
          </a:bodyPr>
          <a:lstStyle/>
          <a:p>
            <a:pPr algn="l">
              <a:lnSpc>
                <a:spcPts val="2149"/>
              </a:lnSpc>
            </a:pPr>
            <a:r>
              <a:rPr lang="en-US" sz="1599">
                <a:solidFill>
                  <a:srgbClr val="14313B"/>
                </a:solidFill>
                <a:latin typeface="Calibri (MS)"/>
                <a:ea typeface="Calibri (MS)"/>
                <a:cs typeface="Calibri (MS)"/>
                <a:sym typeface="Calibri (MS)"/>
              </a:rPr>
              <a:t>NTL tahunan dipasangkan dengan ODTW BPS pada tahun yang datanya tersedia (2018–2024, n = 7).</a:t>
            </a:r>
          </a:p>
        </p:txBody>
      </p:sp>
      <p:grpSp>
        <p:nvGrpSpPr>
          <p:cNvPr name="Group 115" id="115"/>
          <p:cNvGrpSpPr/>
          <p:nvPr/>
        </p:nvGrpSpPr>
        <p:grpSpPr>
          <a:xfrm rot="0">
            <a:off x="987552" y="7408774"/>
            <a:ext cx="5096256" cy="942404"/>
            <a:chOff x="0" y="0"/>
            <a:chExt cx="6795008" cy="1256538"/>
          </a:xfrm>
        </p:grpSpPr>
        <p:sp>
          <p:nvSpPr>
            <p:cNvPr name="Freeform 116" id="116"/>
            <p:cNvSpPr/>
            <p:nvPr/>
          </p:nvSpPr>
          <p:spPr>
            <a:xfrm flipH="false" flipV="false" rot="0">
              <a:off x="0" y="0"/>
              <a:ext cx="6795008" cy="1256538"/>
            </a:xfrm>
            <a:custGeom>
              <a:avLst/>
              <a:gdLst/>
              <a:ahLst/>
              <a:cxnLst/>
              <a:rect r="r" b="b" t="t" l="l"/>
              <a:pathLst>
                <a:path h="1256538" w="6795008">
                  <a:moveTo>
                    <a:pt x="0" y="97536"/>
                  </a:moveTo>
                  <a:cubicBezTo>
                    <a:pt x="0" y="43688"/>
                    <a:pt x="43688" y="0"/>
                    <a:pt x="97536" y="0"/>
                  </a:cubicBezTo>
                  <a:lnTo>
                    <a:pt x="6697472" y="0"/>
                  </a:lnTo>
                  <a:cubicBezTo>
                    <a:pt x="6751320" y="0"/>
                    <a:pt x="6795008" y="43688"/>
                    <a:pt x="6795008" y="97536"/>
                  </a:cubicBezTo>
                  <a:lnTo>
                    <a:pt x="6795008" y="1159002"/>
                  </a:lnTo>
                  <a:cubicBezTo>
                    <a:pt x="6795008" y="1212850"/>
                    <a:pt x="6751320" y="1256538"/>
                    <a:pt x="6697472" y="1256538"/>
                  </a:cubicBezTo>
                  <a:lnTo>
                    <a:pt x="97536" y="1256538"/>
                  </a:lnTo>
                  <a:cubicBezTo>
                    <a:pt x="43688" y="1256538"/>
                    <a:pt x="0" y="1212977"/>
                    <a:pt x="0" y="1159002"/>
                  </a:cubicBezTo>
                  <a:close/>
                </a:path>
              </a:pathLst>
            </a:custGeom>
            <a:solidFill>
              <a:srgbClr val="FFF1BF"/>
            </a:solidFill>
          </p:spPr>
          <p:txBody>
            <a:bodyPr/>
            <a:p/>
          </p:txBody>
        </p:sp>
      </p:grpSp>
      <p:sp>
        <p:nvSpPr>
          <p:cNvPr name="TextBox 117" id="117"/>
          <p:cNvSpPr txBox="true"/>
          <p:nvPr/>
        </p:nvSpPr>
        <p:spPr>
          <a:xfrm rot="0">
            <a:off x="1124712" y="7452208"/>
            <a:ext cx="4693920" cy="816712"/>
          </a:xfrm>
          <a:prstGeom prst="rect">
            <a:avLst/>
          </a:prstGeom>
        </p:spPr>
        <p:txBody>
          <a:bodyPr anchor="t" rtlCol="false" tIns="0" lIns="0" bIns="0" rIns="0">
            <a:spAutoFit/>
          </a:bodyPr>
          <a:lstStyle/>
          <a:p>
            <a:pPr algn="l">
              <a:lnSpc>
                <a:spcPts val="2485"/>
              </a:lnSpc>
            </a:pPr>
            <a:r>
              <a:rPr lang="en-US" sz="1850" i="true">
                <a:solidFill>
                  <a:srgbClr val="14313B"/>
                </a:solidFill>
                <a:latin typeface="Cambria Italics"/>
                <a:ea typeface="Cambria Italics"/>
                <a:cs typeface="Cambria Italics"/>
                <a:sym typeface="Cambria Italics"/>
              </a:rPr>
              <a:t>ODTWₜ = a + b · NTLₜ</a:t>
            </a:r>
          </a:p>
          <a:p>
            <a:pPr algn="l">
              <a:lnSpc>
                <a:spcPts val="2485"/>
              </a:lnSpc>
            </a:pPr>
            <a:r>
              <a:rPr lang="en-US" sz="1850" i="true">
                <a:solidFill>
                  <a:srgbClr val="14313B"/>
                </a:solidFill>
                <a:latin typeface="Cambria Italics"/>
                <a:ea typeface="Cambria Italics"/>
                <a:cs typeface="Cambria Italics"/>
                <a:sym typeface="Cambria Italics"/>
              </a:rPr>
              <a:t>ODTW = 121,61 + 34,59 · NTL</a:t>
            </a:r>
          </a:p>
        </p:txBody>
      </p:sp>
      <p:sp>
        <p:nvSpPr>
          <p:cNvPr name="TextBox 118" id="118"/>
          <p:cNvSpPr txBox="true"/>
          <p:nvPr/>
        </p:nvSpPr>
        <p:spPr>
          <a:xfrm rot="0">
            <a:off x="1051560" y="8328355"/>
            <a:ext cx="4968240" cy="416662"/>
          </a:xfrm>
          <a:prstGeom prst="rect">
            <a:avLst/>
          </a:prstGeom>
        </p:spPr>
        <p:txBody>
          <a:bodyPr anchor="t" rtlCol="false" tIns="0" lIns="0" bIns="0" rIns="0">
            <a:spAutoFit/>
          </a:bodyPr>
          <a:lstStyle/>
          <a:p>
            <a:pPr algn="l">
              <a:lnSpc>
                <a:spcPts val="1948"/>
              </a:lnSpc>
            </a:pPr>
            <a:r>
              <a:rPr lang="en-US" sz="1449" b="true">
                <a:solidFill>
                  <a:srgbClr val="0B5E6E"/>
                </a:solidFill>
                <a:latin typeface="Calibri (MS) Bold"/>
                <a:ea typeface="Calibri (MS) Bold"/>
                <a:cs typeface="Calibri (MS) Bold"/>
                <a:sym typeface="Calibri (MS) Bold"/>
              </a:rPr>
              <a:t>a intersep, b kemiringan</a:t>
            </a:r>
          </a:p>
        </p:txBody>
      </p:sp>
      <p:sp>
        <p:nvSpPr>
          <p:cNvPr name="Freeform 119" id="119"/>
          <p:cNvSpPr/>
          <p:nvPr/>
        </p:nvSpPr>
        <p:spPr>
          <a:xfrm flipH="false" flipV="false" rot="0">
            <a:off x="6414611" y="5821775"/>
            <a:ext cx="5458778" cy="3448622"/>
          </a:xfrm>
          <a:custGeom>
            <a:avLst/>
            <a:gdLst/>
            <a:ahLst/>
            <a:cxnLst/>
            <a:rect r="r" b="b" t="t" l="l"/>
            <a:pathLst>
              <a:path h="3448622" w="5458778">
                <a:moveTo>
                  <a:pt x="0" y="0"/>
                </a:moveTo>
                <a:lnTo>
                  <a:pt x="5458778" y="0"/>
                </a:lnTo>
                <a:lnTo>
                  <a:pt x="5458778" y="3448622"/>
                </a:lnTo>
                <a:lnTo>
                  <a:pt x="0" y="3448622"/>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txBody>
          <a:bodyPr/>
          <a:p/>
        </p:txBody>
      </p:sp>
      <p:grpSp>
        <p:nvGrpSpPr>
          <p:cNvPr name="Group 120" id="120"/>
          <p:cNvGrpSpPr/>
          <p:nvPr/>
        </p:nvGrpSpPr>
        <p:grpSpPr>
          <a:xfrm rot="0">
            <a:off x="6659880" y="6067044"/>
            <a:ext cx="530352" cy="530352"/>
            <a:chOff x="0" y="0"/>
            <a:chExt cx="707136" cy="707136"/>
          </a:xfrm>
        </p:grpSpPr>
        <p:sp>
          <p:nvSpPr>
            <p:cNvPr name="Freeform 121" id="121"/>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122" id="122"/>
          <p:cNvGrpSpPr/>
          <p:nvPr/>
        </p:nvGrpSpPr>
        <p:grpSpPr>
          <a:xfrm rot="0">
            <a:off x="6659880" y="6045613"/>
            <a:ext cx="530352" cy="551783"/>
            <a:chOff x="0" y="0"/>
            <a:chExt cx="707136" cy="735711"/>
          </a:xfrm>
        </p:grpSpPr>
        <p:sp>
          <p:nvSpPr>
            <p:cNvPr name="Freeform 123" id="123"/>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124" id="124"/>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6</a:t>
              </a:r>
            </a:p>
          </p:txBody>
        </p:sp>
      </p:grpSp>
      <p:sp>
        <p:nvSpPr>
          <p:cNvPr name="TextBox 125" id="125"/>
          <p:cNvSpPr txBox="true"/>
          <p:nvPr/>
        </p:nvSpPr>
        <p:spPr>
          <a:xfrm rot="0">
            <a:off x="7327392" y="5971032"/>
            <a:ext cx="4373880" cy="484937"/>
          </a:xfrm>
          <a:prstGeom prst="rect">
            <a:avLst/>
          </a:prstGeom>
        </p:spPr>
        <p:txBody>
          <a:bodyPr anchor="t" rtlCol="false" tIns="0" lIns="0" bIns="0" rIns="0">
            <a:spAutoFit/>
          </a:bodyPr>
          <a:lstStyle/>
          <a:p>
            <a:pPr algn="l">
              <a:lnSpc>
                <a:spcPts val="2485"/>
              </a:lnSpc>
            </a:pPr>
            <a:r>
              <a:rPr lang="en-US" sz="1850" b="true">
                <a:solidFill>
                  <a:srgbClr val="0B5E6E"/>
                </a:solidFill>
                <a:latin typeface="Calibri (MS) Bold"/>
                <a:ea typeface="Calibri (MS) Bold"/>
                <a:cs typeface="Calibri (MS) Bold"/>
                <a:sym typeface="Calibri (MS) Bold"/>
              </a:rPr>
              <a:t>Uji kelayakan hasil estimasi</a:t>
            </a:r>
          </a:p>
        </p:txBody>
      </p:sp>
      <p:sp>
        <p:nvSpPr>
          <p:cNvPr name="TextBox 126" id="126"/>
          <p:cNvSpPr txBox="true"/>
          <p:nvPr/>
        </p:nvSpPr>
        <p:spPr>
          <a:xfrm rot="0">
            <a:off x="6659880" y="6639306"/>
            <a:ext cx="4968240" cy="969416"/>
          </a:xfrm>
          <a:prstGeom prst="rect">
            <a:avLst/>
          </a:prstGeom>
        </p:spPr>
        <p:txBody>
          <a:bodyPr anchor="t" rtlCol="false" tIns="0" lIns="0" bIns="0" rIns="0">
            <a:spAutoFit/>
          </a:bodyPr>
          <a:lstStyle/>
          <a:p>
            <a:pPr algn="l">
              <a:lnSpc>
                <a:spcPts val="2149"/>
              </a:lnSpc>
            </a:pPr>
            <a:r>
              <a:rPr lang="en-US" sz="1599">
                <a:solidFill>
                  <a:srgbClr val="14313B"/>
                </a:solidFill>
                <a:latin typeface="Calibri (MS)"/>
                <a:ea typeface="Calibri (MS)"/>
                <a:cs typeface="Calibri (MS)"/>
                <a:sym typeface="Calibri (MS)"/>
              </a:rPr>
              <a:t>Korelasi pada nilai level dan selisih tahunan (menghindari spurious regression karena tren yang sama), lalu LOOCV.</a:t>
            </a:r>
          </a:p>
        </p:txBody>
      </p:sp>
      <p:grpSp>
        <p:nvGrpSpPr>
          <p:cNvPr name="Group 127" id="127"/>
          <p:cNvGrpSpPr/>
          <p:nvPr/>
        </p:nvGrpSpPr>
        <p:grpSpPr>
          <a:xfrm rot="0">
            <a:off x="6595872" y="7681874"/>
            <a:ext cx="5096256" cy="942404"/>
            <a:chOff x="0" y="0"/>
            <a:chExt cx="6795008" cy="1256538"/>
          </a:xfrm>
        </p:grpSpPr>
        <p:sp>
          <p:nvSpPr>
            <p:cNvPr name="Freeform 128" id="128"/>
            <p:cNvSpPr/>
            <p:nvPr/>
          </p:nvSpPr>
          <p:spPr>
            <a:xfrm flipH="false" flipV="false" rot="0">
              <a:off x="0" y="0"/>
              <a:ext cx="6795008" cy="1256538"/>
            </a:xfrm>
            <a:custGeom>
              <a:avLst/>
              <a:gdLst/>
              <a:ahLst/>
              <a:cxnLst/>
              <a:rect r="r" b="b" t="t" l="l"/>
              <a:pathLst>
                <a:path h="1256538" w="6795008">
                  <a:moveTo>
                    <a:pt x="0" y="97536"/>
                  </a:moveTo>
                  <a:cubicBezTo>
                    <a:pt x="0" y="43688"/>
                    <a:pt x="43688" y="0"/>
                    <a:pt x="97536" y="0"/>
                  </a:cubicBezTo>
                  <a:lnTo>
                    <a:pt x="6697472" y="0"/>
                  </a:lnTo>
                  <a:cubicBezTo>
                    <a:pt x="6751320" y="0"/>
                    <a:pt x="6795008" y="43688"/>
                    <a:pt x="6795008" y="97536"/>
                  </a:cubicBezTo>
                  <a:lnTo>
                    <a:pt x="6795008" y="1159002"/>
                  </a:lnTo>
                  <a:cubicBezTo>
                    <a:pt x="6795008" y="1212850"/>
                    <a:pt x="6751320" y="1256538"/>
                    <a:pt x="6697472" y="1256538"/>
                  </a:cubicBezTo>
                  <a:lnTo>
                    <a:pt x="97536" y="1256538"/>
                  </a:lnTo>
                  <a:cubicBezTo>
                    <a:pt x="43688" y="1256538"/>
                    <a:pt x="0" y="1212977"/>
                    <a:pt x="0" y="1159002"/>
                  </a:cubicBezTo>
                  <a:close/>
                </a:path>
              </a:pathLst>
            </a:custGeom>
            <a:solidFill>
              <a:srgbClr val="FFF1BF"/>
            </a:solidFill>
          </p:spPr>
          <p:txBody>
            <a:bodyPr/>
            <a:p/>
          </p:txBody>
        </p:sp>
      </p:grpSp>
      <p:sp>
        <p:nvSpPr>
          <p:cNvPr name="TextBox 129" id="129"/>
          <p:cNvSpPr txBox="true"/>
          <p:nvPr/>
        </p:nvSpPr>
        <p:spPr>
          <a:xfrm rot="0">
            <a:off x="6733032" y="7725308"/>
            <a:ext cx="4693920" cy="816712"/>
          </a:xfrm>
          <a:prstGeom prst="rect">
            <a:avLst/>
          </a:prstGeom>
        </p:spPr>
        <p:txBody>
          <a:bodyPr anchor="t" rtlCol="false" tIns="0" lIns="0" bIns="0" rIns="0">
            <a:spAutoFit/>
          </a:bodyPr>
          <a:lstStyle/>
          <a:p>
            <a:pPr algn="l">
              <a:lnSpc>
                <a:spcPts val="2485"/>
              </a:lnSpc>
            </a:pPr>
            <a:r>
              <a:rPr lang="en-US" sz="1850" i="true">
                <a:solidFill>
                  <a:srgbClr val="14313B"/>
                </a:solidFill>
                <a:latin typeface="Cambria Italics"/>
                <a:ea typeface="Cambria Italics"/>
                <a:cs typeface="Cambria Italics"/>
                <a:sym typeface="Cambria Italics"/>
              </a:rPr>
              <a:t>R²(ΔNTL, ΔODTW) ≥ 0,30</a:t>
            </a:r>
          </a:p>
          <a:p>
            <a:pPr algn="l">
              <a:lnSpc>
                <a:spcPts val="2485"/>
              </a:lnSpc>
            </a:pPr>
            <a:r>
              <a:rPr lang="en-US" sz="1850" i="true">
                <a:solidFill>
                  <a:srgbClr val="14313B"/>
                </a:solidFill>
                <a:latin typeface="Cambria Italics"/>
                <a:ea typeface="Cambria Italics"/>
                <a:cs typeface="Cambria Italics"/>
                <a:sym typeface="Cambria Italics"/>
              </a:rPr>
              <a:t>RMSE relatif LOOCV ≤ 10%</a:t>
            </a:r>
          </a:p>
        </p:txBody>
      </p:sp>
      <p:sp>
        <p:nvSpPr>
          <p:cNvPr name="TextBox 130" id="130"/>
          <p:cNvSpPr txBox="true"/>
          <p:nvPr/>
        </p:nvSpPr>
        <p:spPr>
          <a:xfrm rot="0">
            <a:off x="6659880" y="8601456"/>
            <a:ext cx="4968240" cy="416662"/>
          </a:xfrm>
          <a:prstGeom prst="rect">
            <a:avLst/>
          </a:prstGeom>
        </p:spPr>
        <p:txBody>
          <a:bodyPr anchor="t" rtlCol="false" tIns="0" lIns="0" bIns="0" rIns="0">
            <a:spAutoFit/>
          </a:bodyPr>
          <a:lstStyle/>
          <a:p>
            <a:pPr algn="l">
              <a:lnSpc>
                <a:spcPts val="1948"/>
              </a:lnSpc>
            </a:pPr>
            <a:r>
              <a:rPr lang="en-US" sz="1449" b="true">
                <a:solidFill>
                  <a:srgbClr val="0B5E6E"/>
                </a:solidFill>
                <a:latin typeface="Calibri (MS) Bold"/>
                <a:ea typeface="Calibri (MS) Bold"/>
                <a:cs typeface="Calibri (MS) Bold"/>
                <a:sym typeface="Calibri (MS) Bold"/>
              </a:rPr>
              <a:t>Hasil: R² selisih 0,405 · RMSE relatif 5,99% → layak</a:t>
            </a:r>
          </a:p>
        </p:txBody>
      </p:sp>
      <p:sp>
        <p:nvSpPr>
          <p:cNvPr name="Freeform 131" id="131"/>
          <p:cNvSpPr/>
          <p:nvPr/>
        </p:nvSpPr>
        <p:spPr>
          <a:xfrm flipH="false" flipV="false" rot="0">
            <a:off x="12022931" y="5821775"/>
            <a:ext cx="5458778" cy="3448622"/>
          </a:xfrm>
          <a:custGeom>
            <a:avLst/>
            <a:gdLst/>
            <a:ahLst/>
            <a:cxnLst/>
            <a:rect r="r" b="b" t="t" l="l"/>
            <a:pathLst>
              <a:path h="3448622" w="5458778">
                <a:moveTo>
                  <a:pt x="0" y="0"/>
                </a:moveTo>
                <a:lnTo>
                  <a:pt x="5458778" y="0"/>
                </a:lnTo>
                <a:lnTo>
                  <a:pt x="5458778" y="3448622"/>
                </a:lnTo>
                <a:lnTo>
                  <a:pt x="0" y="3448622"/>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txBody>
          <a:bodyPr/>
          <a:p/>
        </p:txBody>
      </p:sp>
      <p:grpSp>
        <p:nvGrpSpPr>
          <p:cNvPr name="Group 132" id="132"/>
          <p:cNvGrpSpPr/>
          <p:nvPr/>
        </p:nvGrpSpPr>
        <p:grpSpPr>
          <a:xfrm rot="0">
            <a:off x="12268200" y="6067044"/>
            <a:ext cx="530352" cy="530352"/>
            <a:chOff x="0" y="0"/>
            <a:chExt cx="707136" cy="707136"/>
          </a:xfrm>
        </p:grpSpPr>
        <p:sp>
          <p:nvSpPr>
            <p:cNvPr name="Freeform 133" id="133"/>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134" id="134"/>
          <p:cNvGrpSpPr/>
          <p:nvPr/>
        </p:nvGrpSpPr>
        <p:grpSpPr>
          <a:xfrm rot="0">
            <a:off x="12268200" y="6045613"/>
            <a:ext cx="530352" cy="551783"/>
            <a:chOff x="0" y="0"/>
            <a:chExt cx="707136" cy="735711"/>
          </a:xfrm>
        </p:grpSpPr>
        <p:sp>
          <p:nvSpPr>
            <p:cNvPr name="Freeform 135" id="135"/>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136" id="136"/>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7</a:t>
              </a:r>
            </a:p>
          </p:txBody>
        </p:sp>
      </p:grpSp>
      <p:sp>
        <p:nvSpPr>
          <p:cNvPr name="TextBox 137" id="137"/>
          <p:cNvSpPr txBox="true"/>
          <p:nvPr/>
        </p:nvSpPr>
        <p:spPr>
          <a:xfrm rot="0">
            <a:off x="12935712" y="5971032"/>
            <a:ext cx="4373880" cy="800710"/>
          </a:xfrm>
          <a:prstGeom prst="rect">
            <a:avLst/>
          </a:prstGeom>
        </p:spPr>
        <p:txBody>
          <a:bodyPr anchor="t" rtlCol="false" tIns="0" lIns="0" bIns="0" rIns="0">
            <a:spAutoFit/>
          </a:bodyPr>
          <a:lstStyle/>
          <a:p>
            <a:pPr algn="l">
              <a:lnSpc>
                <a:spcPts val="2485"/>
              </a:lnSpc>
            </a:pPr>
            <a:r>
              <a:rPr lang="en-US" sz="1850" b="true">
                <a:solidFill>
                  <a:srgbClr val="0B5E6E"/>
                </a:solidFill>
                <a:latin typeface="Calibri (MS) Bold"/>
                <a:ea typeface="Calibri (MS) Bold"/>
                <a:cs typeface="Calibri (MS) Bold"/>
                <a:sym typeface="Calibri (MS) Bold"/>
              </a:rPr>
              <a:t>Estimasi tahun kosong + selang prediksi</a:t>
            </a:r>
          </a:p>
        </p:txBody>
      </p:sp>
      <p:sp>
        <p:nvSpPr>
          <p:cNvPr name="TextBox 138" id="138"/>
          <p:cNvSpPr txBox="true"/>
          <p:nvPr/>
        </p:nvSpPr>
        <p:spPr>
          <a:xfrm rot="0">
            <a:off x="12268200" y="6777076"/>
            <a:ext cx="4968240" cy="696316"/>
          </a:xfrm>
          <a:prstGeom prst="rect">
            <a:avLst/>
          </a:prstGeom>
        </p:spPr>
        <p:txBody>
          <a:bodyPr anchor="t" rtlCol="false" tIns="0" lIns="0" bIns="0" rIns="0">
            <a:spAutoFit/>
          </a:bodyPr>
          <a:lstStyle/>
          <a:p>
            <a:pPr algn="l">
              <a:lnSpc>
                <a:spcPts val="2149"/>
              </a:lnSpc>
            </a:pPr>
            <a:r>
              <a:rPr lang="en-US" sz="1599">
                <a:solidFill>
                  <a:srgbClr val="14313B"/>
                </a:solidFill>
                <a:latin typeface="Calibri (MS)"/>
                <a:ea typeface="Calibri (MS)"/>
                <a:cs typeface="Calibri (MS)"/>
                <a:sym typeface="Calibri (MS)"/>
              </a:rPr>
              <a:t>Model final dilatih ulang pada ketujuh titik, lalu mengisi 2015–2017 dan 2025.</a:t>
            </a:r>
          </a:p>
        </p:txBody>
      </p:sp>
      <p:grpSp>
        <p:nvGrpSpPr>
          <p:cNvPr name="Group 139" id="139"/>
          <p:cNvGrpSpPr/>
          <p:nvPr/>
        </p:nvGrpSpPr>
        <p:grpSpPr>
          <a:xfrm rot="0">
            <a:off x="12204192" y="7546543"/>
            <a:ext cx="5096256" cy="887540"/>
            <a:chOff x="0" y="0"/>
            <a:chExt cx="6795008" cy="1183386"/>
          </a:xfrm>
        </p:grpSpPr>
        <p:sp>
          <p:nvSpPr>
            <p:cNvPr name="Freeform 140" id="140"/>
            <p:cNvSpPr/>
            <p:nvPr/>
          </p:nvSpPr>
          <p:spPr>
            <a:xfrm flipH="false" flipV="false" rot="0">
              <a:off x="0" y="0"/>
              <a:ext cx="6795008" cy="1183386"/>
            </a:xfrm>
            <a:custGeom>
              <a:avLst/>
              <a:gdLst/>
              <a:ahLst/>
              <a:cxnLst/>
              <a:rect r="r" b="b" t="t" l="l"/>
              <a:pathLst>
                <a:path h="1183386" w="6795008">
                  <a:moveTo>
                    <a:pt x="0" y="97536"/>
                  </a:moveTo>
                  <a:cubicBezTo>
                    <a:pt x="0" y="43688"/>
                    <a:pt x="43688" y="0"/>
                    <a:pt x="97536" y="0"/>
                  </a:cubicBezTo>
                  <a:lnTo>
                    <a:pt x="6697472" y="0"/>
                  </a:lnTo>
                  <a:cubicBezTo>
                    <a:pt x="6751320" y="0"/>
                    <a:pt x="6795008" y="43688"/>
                    <a:pt x="6795008" y="97536"/>
                  </a:cubicBezTo>
                  <a:lnTo>
                    <a:pt x="6795008" y="1085850"/>
                  </a:lnTo>
                  <a:cubicBezTo>
                    <a:pt x="6795008" y="1139698"/>
                    <a:pt x="6751320" y="1183386"/>
                    <a:pt x="6697472" y="1183386"/>
                  </a:cubicBezTo>
                  <a:lnTo>
                    <a:pt x="97536" y="1183386"/>
                  </a:lnTo>
                  <a:cubicBezTo>
                    <a:pt x="43688" y="1183386"/>
                    <a:pt x="0" y="1139825"/>
                    <a:pt x="0" y="1085850"/>
                  </a:cubicBezTo>
                  <a:close/>
                </a:path>
              </a:pathLst>
            </a:custGeom>
            <a:solidFill>
              <a:srgbClr val="FFF1BF"/>
            </a:solidFill>
          </p:spPr>
          <p:txBody>
            <a:bodyPr/>
            <a:p/>
          </p:txBody>
        </p:sp>
      </p:grpSp>
      <p:sp>
        <p:nvSpPr>
          <p:cNvPr name="TextBox 141" id="141"/>
          <p:cNvSpPr txBox="true"/>
          <p:nvPr/>
        </p:nvSpPr>
        <p:spPr>
          <a:xfrm rot="0">
            <a:off x="12341352" y="7589977"/>
            <a:ext cx="4693920" cy="761848"/>
          </a:xfrm>
          <a:prstGeom prst="rect">
            <a:avLst/>
          </a:prstGeom>
        </p:spPr>
        <p:txBody>
          <a:bodyPr anchor="t" rtlCol="false" tIns="0" lIns="0" bIns="0" rIns="0">
            <a:spAutoFit/>
          </a:bodyPr>
          <a:lstStyle/>
          <a:p>
            <a:pPr algn="l">
              <a:lnSpc>
                <a:spcPts val="2485"/>
              </a:lnSpc>
            </a:pPr>
            <a:r>
              <a:rPr lang="en-US" sz="1850" i="true">
                <a:solidFill>
                  <a:srgbClr val="14313B"/>
                </a:solidFill>
                <a:latin typeface="Cambria Italics"/>
                <a:ea typeface="Cambria Italics"/>
                <a:cs typeface="Cambria Italics"/>
                <a:sym typeface="Cambria Italics"/>
              </a:rPr>
              <a:t>ŷ₀ ± t₀,₉₇₅; ₙ₋₂ · s · √[1 + 1/n + (x₀ − x̄)² / Sₓₓ]</a:t>
            </a:r>
          </a:p>
        </p:txBody>
      </p:sp>
      <p:sp>
        <p:nvSpPr>
          <p:cNvPr name="TextBox 142" id="142"/>
          <p:cNvSpPr txBox="true"/>
          <p:nvPr/>
        </p:nvSpPr>
        <p:spPr>
          <a:xfrm rot="0">
            <a:off x="12268200" y="8411261"/>
            <a:ext cx="4968240" cy="416662"/>
          </a:xfrm>
          <a:prstGeom prst="rect">
            <a:avLst/>
          </a:prstGeom>
        </p:spPr>
        <p:txBody>
          <a:bodyPr anchor="t" rtlCol="false" tIns="0" lIns="0" bIns="0" rIns="0">
            <a:spAutoFit/>
          </a:bodyPr>
          <a:lstStyle/>
          <a:p>
            <a:pPr algn="l">
              <a:lnSpc>
                <a:spcPts val="1948"/>
              </a:lnSpc>
            </a:pPr>
            <a:r>
              <a:rPr lang="en-US" sz="1449" b="true">
                <a:solidFill>
                  <a:srgbClr val="0B5E6E"/>
                </a:solidFill>
                <a:latin typeface="Calibri (MS) Bold"/>
                <a:ea typeface="Calibri (MS) Bold"/>
                <a:cs typeface="Calibri (MS) Bold"/>
                <a:sym typeface="Calibri (MS) Bold"/>
              </a:rPr>
              <a:t>2025: 200,7 (176,7–224,8) → stok awal ODTW 201 unit</a:t>
            </a:r>
          </a:p>
        </p:txBody>
      </p:sp>
      <p:grpSp>
        <p:nvGrpSpPr>
          <p:cNvPr name="Group 143" id="143"/>
          <p:cNvGrpSpPr/>
          <p:nvPr/>
        </p:nvGrpSpPr>
        <p:grpSpPr>
          <a:xfrm rot="0">
            <a:off x="12755880" y="274320"/>
            <a:ext cx="3931920" cy="411480"/>
            <a:chOff x="0" y="0"/>
            <a:chExt cx="5242560" cy="548640"/>
          </a:xfrm>
        </p:grpSpPr>
        <p:sp>
          <p:nvSpPr>
            <p:cNvPr name="Freeform 144" id="144"/>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45" id="145"/>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2A · Integrasi citra satelit</a:t>
              </a:r>
            </a:p>
          </p:txBody>
        </p:sp>
      </p:grpSp>
      <p:grpSp>
        <p:nvGrpSpPr>
          <p:cNvPr name="Group 146" id="146"/>
          <p:cNvGrpSpPr/>
          <p:nvPr/>
        </p:nvGrpSpPr>
        <p:grpSpPr>
          <a:xfrm rot="0">
            <a:off x="16047720" y="9646920"/>
            <a:ext cx="420624" cy="420624"/>
            <a:chOff x="0" y="0"/>
            <a:chExt cx="560832" cy="560832"/>
          </a:xfrm>
        </p:grpSpPr>
        <p:sp>
          <p:nvSpPr>
            <p:cNvPr name="Freeform 147" id="147"/>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48" id="148"/>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2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0010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Validasi dan Evaluasi Kelayakan Data Citra</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Ukuran yang dipakai untuk menilai kelayakan NTL dan Dynamic World</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26</a:t>
            </a:r>
          </a:p>
        </p:txBody>
      </p:sp>
      <p:grpSp>
        <p:nvGrpSpPr>
          <p:cNvPr name="Group 67" id="67"/>
          <p:cNvGrpSpPr/>
          <p:nvPr/>
        </p:nvGrpSpPr>
        <p:grpSpPr>
          <a:xfrm rot="0">
            <a:off x="822960" y="2240280"/>
            <a:ext cx="8183880" cy="566928"/>
            <a:chOff x="0" y="0"/>
            <a:chExt cx="10911840" cy="755904"/>
          </a:xfrm>
        </p:grpSpPr>
        <p:sp>
          <p:nvSpPr>
            <p:cNvPr name="Freeform 68" id="68"/>
            <p:cNvSpPr/>
            <p:nvPr/>
          </p:nvSpPr>
          <p:spPr>
            <a:xfrm flipH="false" flipV="false" rot="0">
              <a:off x="0" y="0"/>
              <a:ext cx="10911840" cy="755904"/>
            </a:xfrm>
            <a:custGeom>
              <a:avLst/>
              <a:gdLst/>
              <a:ahLst/>
              <a:cxnLst/>
              <a:rect r="r" b="b" t="t" l="l"/>
              <a:pathLst>
                <a:path h="755904" w="10911840">
                  <a:moveTo>
                    <a:pt x="0" y="121920"/>
                  </a:moveTo>
                  <a:cubicBezTo>
                    <a:pt x="0" y="54610"/>
                    <a:pt x="54610" y="0"/>
                    <a:pt x="121920" y="0"/>
                  </a:cubicBezTo>
                  <a:lnTo>
                    <a:pt x="10789920" y="0"/>
                  </a:lnTo>
                  <a:cubicBezTo>
                    <a:pt x="10857230" y="0"/>
                    <a:pt x="10911840" y="54610"/>
                    <a:pt x="10911840" y="121920"/>
                  </a:cubicBezTo>
                  <a:lnTo>
                    <a:pt x="10911840" y="633984"/>
                  </a:lnTo>
                  <a:cubicBezTo>
                    <a:pt x="10911840" y="701294"/>
                    <a:pt x="10857230" y="755904"/>
                    <a:pt x="10789920" y="755904"/>
                  </a:cubicBezTo>
                  <a:lnTo>
                    <a:pt x="121920" y="755904"/>
                  </a:lnTo>
                  <a:cubicBezTo>
                    <a:pt x="54610" y="755904"/>
                    <a:pt x="0" y="701294"/>
                    <a:pt x="0" y="633984"/>
                  </a:cubicBezTo>
                  <a:close/>
                </a:path>
              </a:pathLst>
            </a:custGeom>
            <a:solidFill>
              <a:srgbClr val="0B5E6E"/>
            </a:solidFill>
          </p:spPr>
          <p:txBody>
            <a:bodyPr/>
            <a:p/>
          </p:txBody>
        </p:sp>
      </p:grpSp>
      <p:grpSp>
        <p:nvGrpSpPr>
          <p:cNvPr name="Group 69" id="69"/>
          <p:cNvGrpSpPr/>
          <p:nvPr/>
        </p:nvGrpSpPr>
        <p:grpSpPr>
          <a:xfrm rot="0">
            <a:off x="822960" y="2240280"/>
            <a:ext cx="8183880" cy="566928"/>
            <a:chOff x="0" y="0"/>
            <a:chExt cx="10911840" cy="755904"/>
          </a:xfrm>
        </p:grpSpPr>
        <p:sp>
          <p:nvSpPr>
            <p:cNvPr name="Freeform 70" id="70"/>
            <p:cNvSpPr/>
            <p:nvPr/>
          </p:nvSpPr>
          <p:spPr>
            <a:xfrm flipH="false" flipV="false" rot="0">
              <a:off x="0" y="0"/>
              <a:ext cx="10911840" cy="755904"/>
            </a:xfrm>
            <a:custGeom>
              <a:avLst/>
              <a:gdLst/>
              <a:ahLst/>
              <a:cxnLst/>
              <a:rect r="r" b="b" t="t" l="l"/>
              <a:pathLst>
                <a:path h="755904" w="10911840">
                  <a:moveTo>
                    <a:pt x="0" y="0"/>
                  </a:moveTo>
                  <a:lnTo>
                    <a:pt x="10911840" y="0"/>
                  </a:lnTo>
                  <a:lnTo>
                    <a:pt x="10911840" y="755904"/>
                  </a:lnTo>
                  <a:lnTo>
                    <a:pt x="0" y="755904"/>
                  </a:lnTo>
                  <a:close/>
                </a:path>
              </a:pathLst>
            </a:custGeom>
            <a:blipFill>
              <a:blip r:embed="rId5">
                <a:alphaModFix amt="0"/>
              </a:blip>
              <a:stretch>
                <a:fillRect l="0" t="-231080" r="0" b="-231080"/>
              </a:stretch>
            </a:blipFill>
          </p:spPr>
          <p:txBody>
            <a:bodyPr/>
            <a:p/>
          </p:txBody>
        </p:sp>
      </p:grpSp>
      <p:grpSp>
        <p:nvGrpSpPr>
          <p:cNvPr name="Group 71" id="71"/>
          <p:cNvGrpSpPr/>
          <p:nvPr/>
        </p:nvGrpSpPr>
        <p:grpSpPr>
          <a:xfrm rot="0">
            <a:off x="822960" y="2190274"/>
            <a:ext cx="8183880" cy="616934"/>
            <a:chOff x="0" y="0"/>
            <a:chExt cx="10911840" cy="822579"/>
          </a:xfrm>
        </p:grpSpPr>
        <p:sp>
          <p:nvSpPr>
            <p:cNvPr name="Freeform 72" id="72"/>
            <p:cNvSpPr/>
            <p:nvPr/>
          </p:nvSpPr>
          <p:spPr>
            <a:xfrm flipH="false" flipV="false" rot="0">
              <a:off x="0" y="0"/>
              <a:ext cx="10911840" cy="822579"/>
            </a:xfrm>
            <a:custGeom>
              <a:avLst/>
              <a:gdLst/>
              <a:ahLst/>
              <a:cxnLst/>
              <a:rect r="r" b="b" t="t" l="l"/>
              <a:pathLst>
                <a:path h="822579" w="10911840">
                  <a:moveTo>
                    <a:pt x="0" y="0"/>
                  </a:moveTo>
                  <a:lnTo>
                    <a:pt x="10911840" y="0"/>
                  </a:lnTo>
                  <a:lnTo>
                    <a:pt x="10911840" y="822579"/>
                  </a:lnTo>
                  <a:lnTo>
                    <a:pt x="0" y="822579"/>
                  </a:lnTo>
                  <a:close/>
                </a:path>
              </a:pathLst>
            </a:custGeom>
            <a:blipFill>
              <a:blip r:embed="rId6">
                <a:alphaModFix amt="0"/>
              </a:blip>
              <a:stretch>
                <a:fillRect l="0" t="-208476" r="0" b="-208476"/>
              </a:stretch>
            </a:blipFill>
          </p:spPr>
          <p:txBody>
            <a:bodyPr/>
            <a:p/>
          </p:txBody>
        </p:sp>
        <p:sp>
          <p:nvSpPr>
            <p:cNvPr name="TextBox 73" id="73"/>
            <p:cNvSpPr txBox="true"/>
            <p:nvPr/>
          </p:nvSpPr>
          <p:spPr>
            <a:xfrm>
              <a:off x="0" y="-66675"/>
              <a:ext cx="10911840" cy="889254"/>
            </a:xfrm>
            <a:prstGeom prst="rect">
              <a:avLst/>
            </a:prstGeom>
          </p:spPr>
          <p:txBody>
            <a:bodyPr anchor="ctr" rtlCol="false" tIns="0" lIns="0" bIns="0" rIns="0"/>
            <a:lstStyle/>
            <a:p>
              <a:pPr algn="ctr">
                <a:lnSpc>
                  <a:spcPts val="2419"/>
                </a:lnSpc>
              </a:pPr>
              <a:r>
                <a:rPr lang="en-US" sz="1800" b="true">
                  <a:solidFill>
                    <a:srgbClr val="FFFFFF"/>
                  </a:solidFill>
                  <a:latin typeface="Calibri (MS) Bold"/>
                  <a:ea typeface="Calibri (MS) Bold"/>
                  <a:cs typeface="Calibri (MS) Bold"/>
                  <a:sym typeface="Calibri (MS) Bold"/>
                </a:rPr>
                <a:t>NTL VIIRS → estimasi jumlah ODTW</a:t>
              </a:r>
            </a:p>
          </p:txBody>
        </p:sp>
      </p:grpSp>
      <p:grpSp>
        <p:nvGrpSpPr>
          <p:cNvPr name="Group 74" id="74"/>
          <p:cNvGrpSpPr/>
          <p:nvPr/>
        </p:nvGrpSpPr>
        <p:grpSpPr>
          <a:xfrm rot="0">
            <a:off x="822960" y="2926080"/>
            <a:ext cx="8183880" cy="1485900"/>
            <a:chOff x="0" y="0"/>
            <a:chExt cx="10911840" cy="1981200"/>
          </a:xfrm>
        </p:grpSpPr>
        <p:sp>
          <p:nvSpPr>
            <p:cNvPr name="Freeform 75" id="75"/>
            <p:cNvSpPr/>
            <p:nvPr/>
          </p:nvSpPr>
          <p:spPr>
            <a:xfrm flipH="false" flipV="false" rot="0">
              <a:off x="0" y="0"/>
              <a:ext cx="10911840" cy="1981200"/>
            </a:xfrm>
            <a:custGeom>
              <a:avLst/>
              <a:gdLst/>
              <a:ahLst/>
              <a:cxnLst/>
              <a:rect r="r" b="b" t="t" l="l"/>
              <a:pathLst>
                <a:path h="1981200" w="10911840">
                  <a:moveTo>
                    <a:pt x="0" y="121920"/>
                  </a:moveTo>
                  <a:cubicBezTo>
                    <a:pt x="0" y="54610"/>
                    <a:pt x="54610" y="0"/>
                    <a:pt x="121920" y="0"/>
                  </a:cubicBezTo>
                  <a:lnTo>
                    <a:pt x="10789920" y="0"/>
                  </a:lnTo>
                  <a:cubicBezTo>
                    <a:pt x="10857230" y="0"/>
                    <a:pt x="10911840" y="54610"/>
                    <a:pt x="10911840" y="121920"/>
                  </a:cubicBezTo>
                  <a:lnTo>
                    <a:pt x="10911840" y="1859280"/>
                  </a:lnTo>
                  <a:cubicBezTo>
                    <a:pt x="10911840" y="1926590"/>
                    <a:pt x="10857230" y="1981200"/>
                    <a:pt x="10789920" y="1981200"/>
                  </a:cubicBezTo>
                  <a:lnTo>
                    <a:pt x="121920" y="1981200"/>
                  </a:lnTo>
                  <a:cubicBezTo>
                    <a:pt x="54610" y="1981200"/>
                    <a:pt x="0" y="1926590"/>
                    <a:pt x="0" y="1859280"/>
                  </a:cubicBezTo>
                  <a:close/>
                </a:path>
              </a:pathLst>
            </a:custGeom>
            <a:solidFill>
              <a:srgbClr val="EAF8FA"/>
            </a:solidFill>
          </p:spPr>
          <p:txBody>
            <a:bodyPr/>
            <a:p/>
          </p:txBody>
        </p:sp>
      </p:grpSp>
      <p:sp>
        <p:nvSpPr>
          <p:cNvPr name="TextBox 76" id="76"/>
          <p:cNvSpPr txBox="true"/>
          <p:nvPr/>
        </p:nvSpPr>
        <p:spPr>
          <a:xfrm rot="0">
            <a:off x="1051560" y="2959608"/>
            <a:ext cx="7726680" cy="441960"/>
          </a:xfrm>
          <a:prstGeom prst="rect">
            <a:avLst/>
          </a:prstGeom>
        </p:spPr>
        <p:txBody>
          <a:bodyPr anchor="t" rtlCol="false" tIns="0" lIns="0" bIns="0" rIns="0">
            <a:spAutoFit/>
          </a:bodyPr>
          <a:lstStyle/>
          <a:p>
            <a:pPr algn="l">
              <a:lnSpc>
                <a:spcPts val="2083"/>
              </a:lnSpc>
            </a:pPr>
            <a:r>
              <a:rPr lang="en-US" sz="1550" b="true">
                <a:solidFill>
                  <a:srgbClr val="0B5E6E"/>
                </a:solidFill>
                <a:latin typeface="Calibri (MS) Bold"/>
                <a:ea typeface="Calibri (MS) Bold"/>
                <a:cs typeface="Calibri (MS) Bold"/>
                <a:sym typeface="Calibri (MS) Bold"/>
              </a:rPr>
              <a:t>Korelasi Pearson (level dan selisih tahunan)</a:t>
            </a:r>
          </a:p>
        </p:txBody>
      </p:sp>
      <p:sp>
        <p:nvSpPr>
          <p:cNvPr name="TextBox 77" id="77"/>
          <p:cNvSpPr txBox="true"/>
          <p:nvPr/>
        </p:nvSpPr>
        <p:spPr>
          <a:xfrm rot="0">
            <a:off x="1051560" y="3352800"/>
            <a:ext cx="7726680" cy="4236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r = Σ(xᵢ − x̄)(yᵢ − ȳ) / √[Σ(xᵢ − x̄)² · Σ(yᵢ − ȳ)²]</a:t>
            </a:r>
          </a:p>
        </p:txBody>
      </p:sp>
      <p:sp>
        <p:nvSpPr>
          <p:cNvPr name="TextBox 78" id="78"/>
          <p:cNvSpPr txBox="true"/>
          <p:nvPr/>
        </p:nvSpPr>
        <p:spPr>
          <a:xfrm rot="0">
            <a:off x="1051560" y="3691128"/>
            <a:ext cx="7726680" cy="4236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Δxₜ = xₜ − xₜ₋₁ ;  layak bila R²(selisih) ≥ 0,30</a:t>
            </a:r>
          </a:p>
        </p:txBody>
      </p:sp>
      <p:sp>
        <p:nvSpPr>
          <p:cNvPr name="TextBox 79" id="79"/>
          <p:cNvSpPr txBox="true"/>
          <p:nvPr/>
        </p:nvSpPr>
        <p:spPr>
          <a:xfrm rot="0">
            <a:off x="1051560" y="4028694"/>
            <a:ext cx="7726680" cy="372008"/>
          </a:xfrm>
          <a:prstGeom prst="rect">
            <a:avLst/>
          </a:prstGeom>
        </p:spPr>
        <p:txBody>
          <a:bodyPr anchor="t" rtlCol="false" tIns="0" lIns="0" bIns="0" rIns="0">
            <a:spAutoFit/>
          </a:bodyPr>
          <a:lstStyle/>
          <a:p>
            <a:pPr algn="l">
              <a:lnSpc>
                <a:spcPts val="1746"/>
              </a:lnSpc>
            </a:pPr>
            <a:r>
              <a:rPr lang="en-US" sz="1299">
                <a:solidFill>
                  <a:srgbClr val="5E6E78"/>
                </a:solidFill>
                <a:latin typeface="Calibri (MS)"/>
                <a:ea typeface="Calibri (MS)"/>
                <a:cs typeface="Calibri (MS)"/>
                <a:sym typeface="Calibri (MS)"/>
              </a:rPr>
              <a:t>Hasil: R² selisih 0,405 (level 0,785 — sebagian dibentuk tren waktu bersama)</a:t>
            </a:r>
          </a:p>
        </p:txBody>
      </p:sp>
      <p:grpSp>
        <p:nvGrpSpPr>
          <p:cNvPr name="Group 80" id="80"/>
          <p:cNvGrpSpPr/>
          <p:nvPr/>
        </p:nvGrpSpPr>
        <p:grpSpPr>
          <a:xfrm rot="0">
            <a:off x="822960" y="4539996"/>
            <a:ext cx="8183880" cy="1485900"/>
            <a:chOff x="0" y="0"/>
            <a:chExt cx="10911840" cy="1981200"/>
          </a:xfrm>
        </p:grpSpPr>
        <p:sp>
          <p:nvSpPr>
            <p:cNvPr name="Freeform 81" id="81"/>
            <p:cNvSpPr/>
            <p:nvPr/>
          </p:nvSpPr>
          <p:spPr>
            <a:xfrm flipH="false" flipV="false" rot="0">
              <a:off x="0" y="0"/>
              <a:ext cx="10911840" cy="1981200"/>
            </a:xfrm>
            <a:custGeom>
              <a:avLst/>
              <a:gdLst/>
              <a:ahLst/>
              <a:cxnLst/>
              <a:rect r="r" b="b" t="t" l="l"/>
              <a:pathLst>
                <a:path h="1981200" w="10911840">
                  <a:moveTo>
                    <a:pt x="0" y="121920"/>
                  </a:moveTo>
                  <a:cubicBezTo>
                    <a:pt x="0" y="54610"/>
                    <a:pt x="54610" y="0"/>
                    <a:pt x="121920" y="0"/>
                  </a:cubicBezTo>
                  <a:lnTo>
                    <a:pt x="10789920" y="0"/>
                  </a:lnTo>
                  <a:cubicBezTo>
                    <a:pt x="10857230" y="0"/>
                    <a:pt x="10911840" y="54610"/>
                    <a:pt x="10911840" y="121920"/>
                  </a:cubicBezTo>
                  <a:lnTo>
                    <a:pt x="10911840" y="1859280"/>
                  </a:lnTo>
                  <a:cubicBezTo>
                    <a:pt x="10911840" y="1926590"/>
                    <a:pt x="10857230" y="1981200"/>
                    <a:pt x="10789920" y="1981200"/>
                  </a:cubicBezTo>
                  <a:lnTo>
                    <a:pt x="121920" y="1981200"/>
                  </a:lnTo>
                  <a:cubicBezTo>
                    <a:pt x="54610" y="1981200"/>
                    <a:pt x="0" y="1926590"/>
                    <a:pt x="0" y="1859280"/>
                  </a:cubicBezTo>
                  <a:close/>
                </a:path>
              </a:pathLst>
            </a:custGeom>
            <a:solidFill>
              <a:srgbClr val="EAF8FA"/>
            </a:solidFill>
          </p:spPr>
          <p:txBody>
            <a:bodyPr/>
            <a:p/>
          </p:txBody>
        </p:sp>
      </p:grpSp>
      <p:sp>
        <p:nvSpPr>
          <p:cNvPr name="TextBox 82" id="82"/>
          <p:cNvSpPr txBox="true"/>
          <p:nvPr/>
        </p:nvSpPr>
        <p:spPr>
          <a:xfrm rot="0">
            <a:off x="1051560" y="4573524"/>
            <a:ext cx="7726680" cy="441960"/>
          </a:xfrm>
          <a:prstGeom prst="rect">
            <a:avLst/>
          </a:prstGeom>
        </p:spPr>
        <p:txBody>
          <a:bodyPr anchor="t" rtlCol="false" tIns="0" lIns="0" bIns="0" rIns="0">
            <a:spAutoFit/>
          </a:bodyPr>
          <a:lstStyle/>
          <a:p>
            <a:pPr algn="l">
              <a:lnSpc>
                <a:spcPts val="2083"/>
              </a:lnSpc>
            </a:pPr>
            <a:r>
              <a:rPr lang="en-US" sz="1550" b="true">
                <a:solidFill>
                  <a:srgbClr val="0B5E6E"/>
                </a:solidFill>
                <a:latin typeface="Calibri (MS) Bold"/>
                <a:ea typeface="Calibri (MS) Bold"/>
                <a:cs typeface="Calibri (MS) Bold"/>
                <a:sym typeface="Calibri (MS) Bold"/>
              </a:rPr>
              <a:t>Leave-one-out cross-validation (k = 7 iterasi)</a:t>
            </a:r>
          </a:p>
        </p:txBody>
      </p:sp>
      <p:sp>
        <p:nvSpPr>
          <p:cNvPr name="TextBox 83" id="83"/>
          <p:cNvSpPr txBox="true"/>
          <p:nvPr/>
        </p:nvSpPr>
        <p:spPr>
          <a:xfrm rot="0">
            <a:off x="1051560" y="4966716"/>
            <a:ext cx="7726680" cy="4236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RMSE = √[(1/k) · Σᵢ (ŷ₋ᵢ − yᵢ)²]</a:t>
            </a:r>
          </a:p>
        </p:txBody>
      </p:sp>
      <p:sp>
        <p:nvSpPr>
          <p:cNvPr name="TextBox 84" id="84"/>
          <p:cNvSpPr txBox="true"/>
          <p:nvPr/>
        </p:nvSpPr>
        <p:spPr>
          <a:xfrm rot="0">
            <a:off x="1051560" y="5305044"/>
            <a:ext cx="7726680" cy="4236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RMSE relatif = RMSE / ȳ × 100% ≤ 10%</a:t>
            </a:r>
          </a:p>
        </p:txBody>
      </p:sp>
      <p:sp>
        <p:nvSpPr>
          <p:cNvPr name="TextBox 85" id="85"/>
          <p:cNvSpPr txBox="true"/>
          <p:nvPr/>
        </p:nvSpPr>
        <p:spPr>
          <a:xfrm rot="0">
            <a:off x="1051560" y="5642610"/>
            <a:ext cx="7726680" cy="372008"/>
          </a:xfrm>
          <a:prstGeom prst="rect">
            <a:avLst/>
          </a:prstGeom>
        </p:spPr>
        <p:txBody>
          <a:bodyPr anchor="t" rtlCol="false" tIns="0" lIns="0" bIns="0" rIns="0">
            <a:spAutoFit/>
          </a:bodyPr>
          <a:lstStyle/>
          <a:p>
            <a:pPr algn="l">
              <a:lnSpc>
                <a:spcPts val="1746"/>
              </a:lnSpc>
            </a:pPr>
            <a:r>
              <a:rPr lang="en-US" sz="1299">
                <a:solidFill>
                  <a:srgbClr val="5E6E78"/>
                </a:solidFill>
                <a:latin typeface="Calibri (MS)"/>
                <a:ea typeface="Calibri (MS)"/>
                <a:cs typeface="Calibri (MS)"/>
                <a:sym typeface="Calibri (MS)"/>
              </a:rPr>
              <a:t>ŷ₋ᵢ prediksi tahun i dari model tanpa tahun i. Hasil: 5,99% → layak</a:t>
            </a:r>
          </a:p>
        </p:txBody>
      </p:sp>
      <p:grpSp>
        <p:nvGrpSpPr>
          <p:cNvPr name="Group 86" id="86"/>
          <p:cNvGrpSpPr/>
          <p:nvPr/>
        </p:nvGrpSpPr>
        <p:grpSpPr>
          <a:xfrm rot="0">
            <a:off x="822960" y="6153912"/>
            <a:ext cx="8183880" cy="1485900"/>
            <a:chOff x="0" y="0"/>
            <a:chExt cx="10911840" cy="1981200"/>
          </a:xfrm>
        </p:grpSpPr>
        <p:sp>
          <p:nvSpPr>
            <p:cNvPr name="Freeform 87" id="87"/>
            <p:cNvSpPr/>
            <p:nvPr/>
          </p:nvSpPr>
          <p:spPr>
            <a:xfrm flipH="false" flipV="false" rot="0">
              <a:off x="0" y="0"/>
              <a:ext cx="10911840" cy="1981200"/>
            </a:xfrm>
            <a:custGeom>
              <a:avLst/>
              <a:gdLst/>
              <a:ahLst/>
              <a:cxnLst/>
              <a:rect r="r" b="b" t="t" l="l"/>
              <a:pathLst>
                <a:path h="1981200" w="10911840">
                  <a:moveTo>
                    <a:pt x="0" y="121920"/>
                  </a:moveTo>
                  <a:cubicBezTo>
                    <a:pt x="0" y="54610"/>
                    <a:pt x="54610" y="0"/>
                    <a:pt x="121920" y="0"/>
                  </a:cubicBezTo>
                  <a:lnTo>
                    <a:pt x="10789920" y="0"/>
                  </a:lnTo>
                  <a:cubicBezTo>
                    <a:pt x="10857230" y="0"/>
                    <a:pt x="10911840" y="54610"/>
                    <a:pt x="10911840" y="121920"/>
                  </a:cubicBezTo>
                  <a:lnTo>
                    <a:pt x="10911840" y="1859280"/>
                  </a:lnTo>
                  <a:cubicBezTo>
                    <a:pt x="10911840" y="1926590"/>
                    <a:pt x="10857230" y="1981200"/>
                    <a:pt x="10789920" y="1981200"/>
                  </a:cubicBezTo>
                  <a:lnTo>
                    <a:pt x="121920" y="1981200"/>
                  </a:lnTo>
                  <a:cubicBezTo>
                    <a:pt x="54610" y="1981200"/>
                    <a:pt x="0" y="1926590"/>
                    <a:pt x="0" y="1859280"/>
                  </a:cubicBezTo>
                  <a:close/>
                </a:path>
              </a:pathLst>
            </a:custGeom>
            <a:solidFill>
              <a:srgbClr val="EAF8FA"/>
            </a:solidFill>
          </p:spPr>
          <p:txBody>
            <a:bodyPr/>
            <a:p/>
          </p:txBody>
        </p:sp>
      </p:grpSp>
      <p:sp>
        <p:nvSpPr>
          <p:cNvPr name="TextBox 88" id="88"/>
          <p:cNvSpPr txBox="true"/>
          <p:nvPr/>
        </p:nvSpPr>
        <p:spPr>
          <a:xfrm rot="0">
            <a:off x="1051560" y="6187440"/>
            <a:ext cx="7726680" cy="441960"/>
          </a:xfrm>
          <a:prstGeom prst="rect">
            <a:avLst/>
          </a:prstGeom>
        </p:spPr>
        <p:txBody>
          <a:bodyPr anchor="t" rtlCol="false" tIns="0" lIns="0" bIns="0" rIns="0">
            <a:spAutoFit/>
          </a:bodyPr>
          <a:lstStyle/>
          <a:p>
            <a:pPr algn="l">
              <a:lnSpc>
                <a:spcPts val="2083"/>
              </a:lnSpc>
            </a:pPr>
            <a:r>
              <a:rPr lang="en-US" sz="1550" b="true">
                <a:solidFill>
                  <a:srgbClr val="0B5E6E"/>
                </a:solidFill>
                <a:latin typeface="Calibri (MS) Bold"/>
                <a:ea typeface="Calibri (MS) Bold"/>
                <a:cs typeface="Calibri (MS) Bold"/>
                <a:sym typeface="Calibri (MS) Bold"/>
              </a:rPr>
              <a:t>Selang prediksi 95% pada tahun estimasi</a:t>
            </a:r>
          </a:p>
        </p:txBody>
      </p:sp>
      <p:sp>
        <p:nvSpPr>
          <p:cNvPr name="TextBox 89" id="89"/>
          <p:cNvSpPr txBox="true"/>
          <p:nvPr/>
        </p:nvSpPr>
        <p:spPr>
          <a:xfrm rot="0">
            <a:off x="1051560" y="6580632"/>
            <a:ext cx="7726680" cy="4236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ŷ₀ ± t₀,₉₇₅; ₙ₋₂ · s · √[1 + 1/n + (x₀ − x̄)² / Sₓₓ]</a:t>
            </a:r>
          </a:p>
        </p:txBody>
      </p:sp>
      <p:sp>
        <p:nvSpPr>
          <p:cNvPr name="TextBox 90" id="90"/>
          <p:cNvSpPr txBox="true"/>
          <p:nvPr/>
        </p:nvSpPr>
        <p:spPr>
          <a:xfrm rot="0">
            <a:off x="1051560" y="6918198"/>
            <a:ext cx="7726680" cy="593903"/>
          </a:xfrm>
          <a:prstGeom prst="rect">
            <a:avLst/>
          </a:prstGeom>
        </p:spPr>
        <p:txBody>
          <a:bodyPr anchor="t" rtlCol="false" tIns="0" lIns="0" bIns="0" rIns="0">
            <a:spAutoFit/>
          </a:bodyPr>
          <a:lstStyle/>
          <a:p>
            <a:pPr algn="l">
              <a:lnSpc>
                <a:spcPts val="1746"/>
              </a:lnSpc>
            </a:pPr>
            <a:r>
              <a:rPr lang="en-US" sz="1299">
                <a:solidFill>
                  <a:srgbClr val="5E6E78"/>
                </a:solidFill>
                <a:latin typeface="Calibri (MS)"/>
                <a:ea typeface="Calibri (MS)"/>
                <a:cs typeface="Calibri (MS)"/>
                <a:sym typeface="Calibri (MS)"/>
              </a:rPr>
              <a:t>s standard error residual; Sₓₓ jumlah kuadrat simpangan NTL. 2016 paling lebar (≈ 58 unit) karena di luar rentang data latih</a:t>
            </a:r>
          </a:p>
        </p:txBody>
      </p:sp>
      <p:grpSp>
        <p:nvGrpSpPr>
          <p:cNvPr name="Group 91" id="91"/>
          <p:cNvGrpSpPr/>
          <p:nvPr/>
        </p:nvGrpSpPr>
        <p:grpSpPr>
          <a:xfrm rot="0">
            <a:off x="822960" y="7767828"/>
            <a:ext cx="8183880" cy="1485900"/>
            <a:chOff x="0" y="0"/>
            <a:chExt cx="10911840" cy="1981200"/>
          </a:xfrm>
        </p:grpSpPr>
        <p:sp>
          <p:nvSpPr>
            <p:cNvPr name="Freeform 92" id="92"/>
            <p:cNvSpPr/>
            <p:nvPr/>
          </p:nvSpPr>
          <p:spPr>
            <a:xfrm flipH="false" flipV="false" rot="0">
              <a:off x="0" y="0"/>
              <a:ext cx="10911840" cy="1981200"/>
            </a:xfrm>
            <a:custGeom>
              <a:avLst/>
              <a:gdLst/>
              <a:ahLst/>
              <a:cxnLst/>
              <a:rect r="r" b="b" t="t" l="l"/>
              <a:pathLst>
                <a:path h="1981200" w="10911840">
                  <a:moveTo>
                    <a:pt x="0" y="121920"/>
                  </a:moveTo>
                  <a:cubicBezTo>
                    <a:pt x="0" y="54610"/>
                    <a:pt x="54610" y="0"/>
                    <a:pt x="121920" y="0"/>
                  </a:cubicBezTo>
                  <a:lnTo>
                    <a:pt x="10789920" y="0"/>
                  </a:lnTo>
                  <a:cubicBezTo>
                    <a:pt x="10857230" y="0"/>
                    <a:pt x="10911840" y="54610"/>
                    <a:pt x="10911840" y="121920"/>
                  </a:cubicBezTo>
                  <a:lnTo>
                    <a:pt x="10911840" y="1859280"/>
                  </a:lnTo>
                  <a:cubicBezTo>
                    <a:pt x="10911840" y="1926590"/>
                    <a:pt x="10857230" y="1981200"/>
                    <a:pt x="10789920" y="1981200"/>
                  </a:cubicBezTo>
                  <a:lnTo>
                    <a:pt x="121920" y="1981200"/>
                  </a:lnTo>
                  <a:cubicBezTo>
                    <a:pt x="54610" y="1981200"/>
                    <a:pt x="0" y="1926590"/>
                    <a:pt x="0" y="1859280"/>
                  </a:cubicBezTo>
                  <a:close/>
                </a:path>
              </a:pathLst>
            </a:custGeom>
            <a:solidFill>
              <a:srgbClr val="EAF8FA"/>
            </a:solidFill>
          </p:spPr>
          <p:txBody>
            <a:bodyPr/>
            <a:p/>
          </p:txBody>
        </p:sp>
      </p:grpSp>
      <p:sp>
        <p:nvSpPr>
          <p:cNvPr name="TextBox 93" id="93"/>
          <p:cNvSpPr txBox="true"/>
          <p:nvPr/>
        </p:nvSpPr>
        <p:spPr>
          <a:xfrm rot="0">
            <a:off x="1051560" y="7801356"/>
            <a:ext cx="7726680" cy="441960"/>
          </a:xfrm>
          <a:prstGeom prst="rect">
            <a:avLst/>
          </a:prstGeom>
        </p:spPr>
        <p:txBody>
          <a:bodyPr anchor="t" rtlCol="false" tIns="0" lIns="0" bIns="0" rIns="0">
            <a:spAutoFit/>
          </a:bodyPr>
          <a:lstStyle/>
          <a:p>
            <a:pPr algn="l">
              <a:lnSpc>
                <a:spcPts val="2083"/>
              </a:lnSpc>
            </a:pPr>
            <a:r>
              <a:rPr lang="en-US" sz="1550" b="true">
                <a:solidFill>
                  <a:srgbClr val="0B5E6E"/>
                </a:solidFill>
                <a:latin typeface="Calibri (MS) Bold"/>
                <a:ea typeface="Calibri (MS) Bold"/>
                <a:cs typeface="Calibri (MS) Bold"/>
                <a:sym typeface="Calibri (MS) Bold"/>
              </a:rPr>
              <a:t>Validasi temporal dan spasial</a:t>
            </a:r>
          </a:p>
        </p:txBody>
      </p:sp>
      <p:sp>
        <p:nvSpPr>
          <p:cNvPr name="TextBox 94" id="94"/>
          <p:cNvSpPr txBox="true"/>
          <p:nvPr/>
        </p:nvSpPr>
        <p:spPr>
          <a:xfrm rot="0">
            <a:off x="1051560" y="8193786"/>
            <a:ext cx="7726680" cy="593903"/>
          </a:xfrm>
          <a:prstGeom prst="rect">
            <a:avLst/>
          </a:prstGeom>
        </p:spPr>
        <p:txBody>
          <a:bodyPr anchor="t" rtlCol="false" tIns="0" lIns="0" bIns="0" rIns="0">
            <a:spAutoFit/>
          </a:bodyPr>
          <a:lstStyle/>
          <a:p>
            <a:pPr algn="l">
              <a:lnSpc>
                <a:spcPts val="1746"/>
              </a:lnSpc>
            </a:pPr>
            <a:r>
              <a:rPr lang="en-US" sz="1299">
                <a:solidFill>
                  <a:srgbClr val="5E6E78"/>
                </a:solidFill>
                <a:latin typeface="Calibri (MS)"/>
                <a:ea typeface="Calibri (MS)"/>
                <a:cs typeface="Calibri (MS)"/>
                <a:sym typeface="Calibri (MS)"/>
              </a:rPr>
              <a:t>Seri NTL vs ODTW BPS disandingkan (searah 2018–2024); NTL titik sampel dibandingkan basemap: Malioboro–Keraton 37,376 · Kotagede 12,631 · TN Merapi 0,959</a:t>
            </a:r>
          </a:p>
        </p:txBody>
      </p:sp>
      <p:grpSp>
        <p:nvGrpSpPr>
          <p:cNvPr name="Group 95" id="95"/>
          <p:cNvGrpSpPr/>
          <p:nvPr/>
        </p:nvGrpSpPr>
        <p:grpSpPr>
          <a:xfrm rot="0">
            <a:off x="9281160" y="2240280"/>
            <a:ext cx="8183880" cy="566928"/>
            <a:chOff x="0" y="0"/>
            <a:chExt cx="10911840" cy="755904"/>
          </a:xfrm>
        </p:grpSpPr>
        <p:sp>
          <p:nvSpPr>
            <p:cNvPr name="Freeform 96" id="96"/>
            <p:cNvSpPr/>
            <p:nvPr/>
          </p:nvSpPr>
          <p:spPr>
            <a:xfrm flipH="false" flipV="false" rot="0">
              <a:off x="0" y="0"/>
              <a:ext cx="10911840" cy="755904"/>
            </a:xfrm>
            <a:custGeom>
              <a:avLst/>
              <a:gdLst/>
              <a:ahLst/>
              <a:cxnLst/>
              <a:rect r="r" b="b" t="t" l="l"/>
              <a:pathLst>
                <a:path h="755904" w="10911840">
                  <a:moveTo>
                    <a:pt x="0" y="121920"/>
                  </a:moveTo>
                  <a:cubicBezTo>
                    <a:pt x="0" y="54610"/>
                    <a:pt x="54610" y="0"/>
                    <a:pt x="121920" y="0"/>
                  </a:cubicBezTo>
                  <a:lnTo>
                    <a:pt x="10789920" y="0"/>
                  </a:lnTo>
                  <a:cubicBezTo>
                    <a:pt x="10857230" y="0"/>
                    <a:pt x="10911840" y="54610"/>
                    <a:pt x="10911840" y="121920"/>
                  </a:cubicBezTo>
                  <a:lnTo>
                    <a:pt x="10911840" y="633984"/>
                  </a:lnTo>
                  <a:cubicBezTo>
                    <a:pt x="10911840" y="701294"/>
                    <a:pt x="10857230" y="755904"/>
                    <a:pt x="10789920" y="755904"/>
                  </a:cubicBezTo>
                  <a:lnTo>
                    <a:pt x="121920" y="755904"/>
                  </a:lnTo>
                  <a:cubicBezTo>
                    <a:pt x="54610" y="755904"/>
                    <a:pt x="0" y="701294"/>
                    <a:pt x="0" y="633984"/>
                  </a:cubicBezTo>
                  <a:close/>
                </a:path>
              </a:pathLst>
            </a:custGeom>
            <a:solidFill>
              <a:srgbClr val="39C0D3"/>
            </a:solidFill>
          </p:spPr>
          <p:txBody>
            <a:bodyPr/>
            <a:p/>
          </p:txBody>
        </p:sp>
      </p:grpSp>
      <p:grpSp>
        <p:nvGrpSpPr>
          <p:cNvPr name="Group 97" id="97"/>
          <p:cNvGrpSpPr/>
          <p:nvPr/>
        </p:nvGrpSpPr>
        <p:grpSpPr>
          <a:xfrm rot="0">
            <a:off x="9281160" y="2240280"/>
            <a:ext cx="8183880" cy="566928"/>
            <a:chOff x="0" y="0"/>
            <a:chExt cx="10911840" cy="755904"/>
          </a:xfrm>
        </p:grpSpPr>
        <p:sp>
          <p:nvSpPr>
            <p:cNvPr name="Freeform 98" id="98"/>
            <p:cNvSpPr/>
            <p:nvPr/>
          </p:nvSpPr>
          <p:spPr>
            <a:xfrm flipH="false" flipV="false" rot="0">
              <a:off x="0" y="0"/>
              <a:ext cx="10911840" cy="755904"/>
            </a:xfrm>
            <a:custGeom>
              <a:avLst/>
              <a:gdLst/>
              <a:ahLst/>
              <a:cxnLst/>
              <a:rect r="r" b="b" t="t" l="l"/>
              <a:pathLst>
                <a:path h="755904" w="10911840">
                  <a:moveTo>
                    <a:pt x="0" y="0"/>
                  </a:moveTo>
                  <a:lnTo>
                    <a:pt x="10911840" y="0"/>
                  </a:lnTo>
                  <a:lnTo>
                    <a:pt x="10911840" y="755904"/>
                  </a:lnTo>
                  <a:lnTo>
                    <a:pt x="0" y="755904"/>
                  </a:lnTo>
                  <a:close/>
                </a:path>
              </a:pathLst>
            </a:custGeom>
            <a:blipFill>
              <a:blip r:embed="rId5">
                <a:alphaModFix amt="0"/>
              </a:blip>
              <a:stretch>
                <a:fillRect l="0" t="-231080" r="0" b="-231080"/>
              </a:stretch>
            </a:blipFill>
          </p:spPr>
          <p:txBody>
            <a:bodyPr/>
            <a:p/>
          </p:txBody>
        </p:sp>
      </p:grpSp>
      <p:grpSp>
        <p:nvGrpSpPr>
          <p:cNvPr name="Group 99" id="99"/>
          <p:cNvGrpSpPr/>
          <p:nvPr/>
        </p:nvGrpSpPr>
        <p:grpSpPr>
          <a:xfrm rot="0">
            <a:off x="9281160" y="2190274"/>
            <a:ext cx="8183880" cy="616934"/>
            <a:chOff x="0" y="0"/>
            <a:chExt cx="10911840" cy="822579"/>
          </a:xfrm>
        </p:grpSpPr>
        <p:sp>
          <p:nvSpPr>
            <p:cNvPr name="Freeform 100" id="100"/>
            <p:cNvSpPr/>
            <p:nvPr/>
          </p:nvSpPr>
          <p:spPr>
            <a:xfrm flipH="false" flipV="false" rot="0">
              <a:off x="0" y="0"/>
              <a:ext cx="10911840" cy="822579"/>
            </a:xfrm>
            <a:custGeom>
              <a:avLst/>
              <a:gdLst/>
              <a:ahLst/>
              <a:cxnLst/>
              <a:rect r="r" b="b" t="t" l="l"/>
              <a:pathLst>
                <a:path h="822579" w="10911840">
                  <a:moveTo>
                    <a:pt x="0" y="0"/>
                  </a:moveTo>
                  <a:lnTo>
                    <a:pt x="10911840" y="0"/>
                  </a:lnTo>
                  <a:lnTo>
                    <a:pt x="10911840" y="822579"/>
                  </a:lnTo>
                  <a:lnTo>
                    <a:pt x="0" y="822579"/>
                  </a:lnTo>
                  <a:close/>
                </a:path>
              </a:pathLst>
            </a:custGeom>
            <a:blipFill>
              <a:blip r:embed="rId6">
                <a:alphaModFix amt="0"/>
              </a:blip>
              <a:stretch>
                <a:fillRect l="0" t="-208476" r="0" b="-208476"/>
              </a:stretch>
            </a:blipFill>
          </p:spPr>
          <p:txBody>
            <a:bodyPr/>
            <a:p/>
          </p:txBody>
        </p:sp>
        <p:sp>
          <p:nvSpPr>
            <p:cNvPr name="TextBox 101" id="101"/>
            <p:cNvSpPr txBox="true"/>
            <p:nvPr/>
          </p:nvSpPr>
          <p:spPr>
            <a:xfrm>
              <a:off x="0" y="-66675"/>
              <a:ext cx="10911840" cy="889254"/>
            </a:xfrm>
            <a:prstGeom prst="rect">
              <a:avLst/>
            </a:prstGeom>
          </p:spPr>
          <p:txBody>
            <a:bodyPr anchor="ctr" rtlCol="false" tIns="0" lIns="0" bIns="0" rIns="0"/>
            <a:lstStyle/>
            <a:p>
              <a:pPr algn="ctr">
                <a:lnSpc>
                  <a:spcPts val="2419"/>
                </a:lnSpc>
              </a:pPr>
              <a:r>
                <a:rPr lang="en-US" sz="1800" b="true">
                  <a:solidFill>
                    <a:srgbClr val="FFFFFF"/>
                  </a:solidFill>
                  <a:latin typeface="Calibri (MS) Bold"/>
                  <a:ea typeface="Calibri (MS) Bold"/>
                  <a:cs typeface="Calibri (MS) Bold"/>
                  <a:sym typeface="Calibri (MS) Bold"/>
                </a:rPr>
                <a:t>Dynamic World → luas lahan terbangun</a:t>
              </a:r>
            </a:p>
          </p:txBody>
        </p:sp>
      </p:grpSp>
      <p:grpSp>
        <p:nvGrpSpPr>
          <p:cNvPr name="Group 102" id="102"/>
          <p:cNvGrpSpPr/>
          <p:nvPr/>
        </p:nvGrpSpPr>
        <p:grpSpPr>
          <a:xfrm rot="0">
            <a:off x="9281160" y="2926080"/>
            <a:ext cx="8183880" cy="1485900"/>
            <a:chOff x="0" y="0"/>
            <a:chExt cx="10911840" cy="1981200"/>
          </a:xfrm>
        </p:grpSpPr>
        <p:sp>
          <p:nvSpPr>
            <p:cNvPr name="Freeform 103" id="103"/>
            <p:cNvSpPr/>
            <p:nvPr/>
          </p:nvSpPr>
          <p:spPr>
            <a:xfrm flipH="false" flipV="false" rot="0">
              <a:off x="0" y="0"/>
              <a:ext cx="10911840" cy="1981200"/>
            </a:xfrm>
            <a:custGeom>
              <a:avLst/>
              <a:gdLst/>
              <a:ahLst/>
              <a:cxnLst/>
              <a:rect r="r" b="b" t="t" l="l"/>
              <a:pathLst>
                <a:path h="1981200" w="10911840">
                  <a:moveTo>
                    <a:pt x="0" y="121920"/>
                  </a:moveTo>
                  <a:cubicBezTo>
                    <a:pt x="0" y="54610"/>
                    <a:pt x="54610" y="0"/>
                    <a:pt x="121920" y="0"/>
                  </a:cubicBezTo>
                  <a:lnTo>
                    <a:pt x="10789920" y="0"/>
                  </a:lnTo>
                  <a:cubicBezTo>
                    <a:pt x="10857230" y="0"/>
                    <a:pt x="10911840" y="54610"/>
                    <a:pt x="10911840" y="121920"/>
                  </a:cubicBezTo>
                  <a:lnTo>
                    <a:pt x="10911840" y="1859280"/>
                  </a:lnTo>
                  <a:cubicBezTo>
                    <a:pt x="10911840" y="1926590"/>
                    <a:pt x="10857230" y="1981200"/>
                    <a:pt x="10789920" y="1981200"/>
                  </a:cubicBezTo>
                  <a:lnTo>
                    <a:pt x="121920" y="1981200"/>
                  </a:lnTo>
                  <a:cubicBezTo>
                    <a:pt x="54610" y="1981200"/>
                    <a:pt x="0" y="1926590"/>
                    <a:pt x="0" y="1859280"/>
                  </a:cubicBezTo>
                  <a:close/>
                </a:path>
              </a:pathLst>
            </a:custGeom>
            <a:solidFill>
              <a:srgbClr val="EAF8FA"/>
            </a:solidFill>
          </p:spPr>
          <p:txBody>
            <a:bodyPr/>
            <a:p/>
          </p:txBody>
        </p:sp>
      </p:grpSp>
      <p:sp>
        <p:nvSpPr>
          <p:cNvPr name="TextBox 104" id="104"/>
          <p:cNvSpPr txBox="true"/>
          <p:nvPr/>
        </p:nvSpPr>
        <p:spPr>
          <a:xfrm rot="0">
            <a:off x="9509760" y="2959608"/>
            <a:ext cx="7726680" cy="441960"/>
          </a:xfrm>
          <a:prstGeom prst="rect">
            <a:avLst/>
          </a:prstGeom>
        </p:spPr>
        <p:txBody>
          <a:bodyPr anchor="t" rtlCol="false" tIns="0" lIns="0" bIns="0" rIns="0">
            <a:spAutoFit/>
          </a:bodyPr>
          <a:lstStyle/>
          <a:p>
            <a:pPr algn="l">
              <a:lnSpc>
                <a:spcPts val="2083"/>
              </a:lnSpc>
            </a:pPr>
            <a:r>
              <a:rPr lang="en-US" sz="1550" b="true">
                <a:solidFill>
                  <a:srgbClr val="0B5E6E"/>
                </a:solidFill>
                <a:latin typeface="Calibri (MS) Bold"/>
                <a:ea typeface="Calibri (MS) Bold"/>
                <a:cs typeface="Calibri (MS) Bold"/>
                <a:sym typeface="Calibri (MS) Bold"/>
              </a:rPr>
              <a:t>Akurasi keseluruhan dan per kelas (n = 200 titik)</a:t>
            </a:r>
          </a:p>
        </p:txBody>
      </p:sp>
      <p:sp>
        <p:nvSpPr>
          <p:cNvPr name="TextBox 105" id="105"/>
          <p:cNvSpPr txBox="true"/>
          <p:nvPr/>
        </p:nvSpPr>
        <p:spPr>
          <a:xfrm rot="0">
            <a:off x="9509760" y="3352800"/>
            <a:ext cx="7726680" cy="4236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OA = (n₁₁ + n₀₀) / n</a:t>
            </a:r>
          </a:p>
        </p:txBody>
      </p:sp>
      <p:sp>
        <p:nvSpPr>
          <p:cNvPr name="TextBox 106" id="106"/>
          <p:cNvSpPr txBox="true"/>
          <p:nvPr/>
        </p:nvSpPr>
        <p:spPr>
          <a:xfrm rot="0">
            <a:off x="9509760" y="3691128"/>
            <a:ext cx="7726680" cy="4236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UA = n₁₁ / (n₁₁ + n₁₀) ;  PA = n₁₁ / (n₁₁ + n₀₁)</a:t>
            </a:r>
          </a:p>
        </p:txBody>
      </p:sp>
      <p:sp>
        <p:nvSpPr>
          <p:cNvPr name="TextBox 107" id="107"/>
          <p:cNvSpPr txBox="true"/>
          <p:nvPr/>
        </p:nvSpPr>
        <p:spPr>
          <a:xfrm rot="0">
            <a:off x="9509760" y="4028694"/>
            <a:ext cx="7726680" cy="372008"/>
          </a:xfrm>
          <a:prstGeom prst="rect">
            <a:avLst/>
          </a:prstGeom>
        </p:spPr>
        <p:txBody>
          <a:bodyPr anchor="t" rtlCol="false" tIns="0" lIns="0" bIns="0" rIns="0">
            <a:spAutoFit/>
          </a:bodyPr>
          <a:lstStyle/>
          <a:p>
            <a:pPr algn="l">
              <a:lnSpc>
                <a:spcPts val="1746"/>
              </a:lnSpc>
            </a:pPr>
            <a:r>
              <a:rPr lang="en-US" sz="1299">
                <a:solidFill>
                  <a:srgbClr val="5E6E78"/>
                </a:solidFill>
                <a:latin typeface="Calibri (MS)"/>
                <a:ea typeface="Calibri (MS)"/>
                <a:cs typeface="Calibri (MS)"/>
                <a:sym typeface="Calibri (MS)"/>
              </a:rPr>
              <a:t>n₁₁, n₀₀ benar; n₁₀ commission error; n₀₁ omission error. Hasil: OA 80,50% · UA 66,00% · PA 73,58%</a:t>
            </a:r>
          </a:p>
        </p:txBody>
      </p:sp>
      <p:grpSp>
        <p:nvGrpSpPr>
          <p:cNvPr name="Group 108" id="108"/>
          <p:cNvGrpSpPr/>
          <p:nvPr/>
        </p:nvGrpSpPr>
        <p:grpSpPr>
          <a:xfrm rot="0">
            <a:off x="9281160" y="4539996"/>
            <a:ext cx="8183880" cy="1485900"/>
            <a:chOff x="0" y="0"/>
            <a:chExt cx="10911840" cy="1981200"/>
          </a:xfrm>
        </p:grpSpPr>
        <p:sp>
          <p:nvSpPr>
            <p:cNvPr name="Freeform 109" id="109"/>
            <p:cNvSpPr/>
            <p:nvPr/>
          </p:nvSpPr>
          <p:spPr>
            <a:xfrm flipH="false" flipV="false" rot="0">
              <a:off x="0" y="0"/>
              <a:ext cx="10911840" cy="1981200"/>
            </a:xfrm>
            <a:custGeom>
              <a:avLst/>
              <a:gdLst/>
              <a:ahLst/>
              <a:cxnLst/>
              <a:rect r="r" b="b" t="t" l="l"/>
              <a:pathLst>
                <a:path h="1981200" w="10911840">
                  <a:moveTo>
                    <a:pt x="0" y="121920"/>
                  </a:moveTo>
                  <a:cubicBezTo>
                    <a:pt x="0" y="54610"/>
                    <a:pt x="54610" y="0"/>
                    <a:pt x="121920" y="0"/>
                  </a:cubicBezTo>
                  <a:lnTo>
                    <a:pt x="10789920" y="0"/>
                  </a:lnTo>
                  <a:cubicBezTo>
                    <a:pt x="10857230" y="0"/>
                    <a:pt x="10911840" y="54610"/>
                    <a:pt x="10911840" y="121920"/>
                  </a:cubicBezTo>
                  <a:lnTo>
                    <a:pt x="10911840" y="1859280"/>
                  </a:lnTo>
                  <a:cubicBezTo>
                    <a:pt x="10911840" y="1926590"/>
                    <a:pt x="10857230" y="1981200"/>
                    <a:pt x="10789920" y="1981200"/>
                  </a:cubicBezTo>
                  <a:lnTo>
                    <a:pt x="121920" y="1981200"/>
                  </a:lnTo>
                  <a:cubicBezTo>
                    <a:pt x="54610" y="1981200"/>
                    <a:pt x="0" y="1926590"/>
                    <a:pt x="0" y="1859280"/>
                  </a:cubicBezTo>
                  <a:close/>
                </a:path>
              </a:pathLst>
            </a:custGeom>
            <a:solidFill>
              <a:srgbClr val="EAF8FA"/>
            </a:solidFill>
          </p:spPr>
          <p:txBody>
            <a:bodyPr/>
            <a:p/>
          </p:txBody>
        </p:sp>
      </p:grpSp>
      <p:sp>
        <p:nvSpPr>
          <p:cNvPr name="TextBox 110" id="110"/>
          <p:cNvSpPr txBox="true"/>
          <p:nvPr/>
        </p:nvSpPr>
        <p:spPr>
          <a:xfrm rot="0">
            <a:off x="9509760" y="4573524"/>
            <a:ext cx="7726680" cy="441960"/>
          </a:xfrm>
          <a:prstGeom prst="rect">
            <a:avLst/>
          </a:prstGeom>
        </p:spPr>
        <p:txBody>
          <a:bodyPr anchor="t" rtlCol="false" tIns="0" lIns="0" bIns="0" rIns="0">
            <a:spAutoFit/>
          </a:bodyPr>
          <a:lstStyle/>
          <a:p>
            <a:pPr algn="l">
              <a:lnSpc>
                <a:spcPts val="2083"/>
              </a:lnSpc>
            </a:pPr>
            <a:r>
              <a:rPr lang="en-US" sz="1550" b="true">
                <a:solidFill>
                  <a:srgbClr val="0B5E6E"/>
                </a:solidFill>
                <a:latin typeface="Calibri (MS) Bold"/>
                <a:ea typeface="Calibri (MS) Bold"/>
                <a:cs typeface="Calibri (MS) Bold"/>
                <a:sym typeface="Calibri (MS) Bold"/>
              </a:rPr>
              <a:t>F1-score dan koefisien Kappa</a:t>
            </a:r>
          </a:p>
        </p:txBody>
      </p:sp>
      <p:sp>
        <p:nvSpPr>
          <p:cNvPr name="TextBox 111" id="111"/>
          <p:cNvSpPr txBox="true"/>
          <p:nvPr/>
        </p:nvSpPr>
        <p:spPr>
          <a:xfrm rot="0">
            <a:off x="9509760" y="4966716"/>
            <a:ext cx="7726680" cy="4236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F1 = 2 · UA · PA / (UA + PA)</a:t>
            </a:r>
          </a:p>
        </p:txBody>
      </p:sp>
      <p:sp>
        <p:nvSpPr>
          <p:cNvPr name="TextBox 112" id="112"/>
          <p:cNvSpPr txBox="true"/>
          <p:nvPr/>
        </p:nvSpPr>
        <p:spPr>
          <a:xfrm rot="0">
            <a:off x="9509760" y="5305044"/>
            <a:ext cx="7726680" cy="4236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κ = (pₒ − pₑ) / (1 − pₑ)</a:t>
            </a:r>
          </a:p>
        </p:txBody>
      </p:sp>
      <p:sp>
        <p:nvSpPr>
          <p:cNvPr name="TextBox 113" id="113"/>
          <p:cNvSpPr txBox="true"/>
          <p:nvPr/>
        </p:nvSpPr>
        <p:spPr>
          <a:xfrm rot="0">
            <a:off x="9509760" y="5642610"/>
            <a:ext cx="7726680" cy="372008"/>
          </a:xfrm>
          <a:prstGeom prst="rect">
            <a:avLst/>
          </a:prstGeom>
        </p:spPr>
        <p:txBody>
          <a:bodyPr anchor="t" rtlCol="false" tIns="0" lIns="0" bIns="0" rIns="0">
            <a:spAutoFit/>
          </a:bodyPr>
          <a:lstStyle/>
          <a:p>
            <a:pPr algn="l">
              <a:lnSpc>
                <a:spcPts val="1746"/>
              </a:lnSpc>
            </a:pPr>
            <a:r>
              <a:rPr lang="en-US" sz="1299">
                <a:solidFill>
                  <a:srgbClr val="5E6E78"/>
                </a:solidFill>
                <a:latin typeface="Calibri (MS)"/>
                <a:ea typeface="Calibri (MS)"/>
                <a:cs typeface="Calibri (MS)"/>
                <a:sym typeface="Calibri (MS)"/>
              </a:rPr>
              <a:t>pₒ kesepakatan teramati, pₑ kesepakatan karena kebetulan. Hasil: F1 77,19% · κ 0,61</a:t>
            </a:r>
          </a:p>
        </p:txBody>
      </p:sp>
      <p:grpSp>
        <p:nvGrpSpPr>
          <p:cNvPr name="Group 114" id="114"/>
          <p:cNvGrpSpPr/>
          <p:nvPr/>
        </p:nvGrpSpPr>
        <p:grpSpPr>
          <a:xfrm rot="0">
            <a:off x="9281160" y="6153912"/>
            <a:ext cx="8183880" cy="1485900"/>
            <a:chOff x="0" y="0"/>
            <a:chExt cx="10911840" cy="1981200"/>
          </a:xfrm>
        </p:grpSpPr>
        <p:sp>
          <p:nvSpPr>
            <p:cNvPr name="Freeform 115" id="115"/>
            <p:cNvSpPr/>
            <p:nvPr/>
          </p:nvSpPr>
          <p:spPr>
            <a:xfrm flipH="false" flipV="false" rot="0">
              <a:off x="0" y="0"/>
              <a:ext cx="10911840" cy="1981200"/>
            </a:xfrm>
            <a:custGeom>
              <a:avLst/>
              <a:gdLst/>
              <a:ahLst/>
              <a:cxnLst/>
              <a:rect r="r" b="b" t="t" l="l"/>
              <a:pathLst>
                <a:path h="1981200" w="10911840">
                  <a:moveTo>
                    <a:pt x="0" y="121920"/>
                  </a:moveTo>
                  <a:cubicBezTo>
                    <a:pt x="0" y="54610"/>
                    <a:pt x="54610" y="0"/>
                    <a:pt x="121920" y="0"/>
                  </a:cubicBezTo>
                  <a:lnTo>
                    <a:pt x="10789920" y="0"/>
                  </a:lnTo>
                  <a:cubicBezTo>
                    <a:pt x="10857230" y="0"/>
                    <a:pt x="10911840" y="54610"/>
                    <a:pt x="10911840" y="121920"/>
                  </a:cubicBezTo>
                  <a:lnTo>
                    <a:pt x="10911840" y="1859280"/>
                  </a:lnTo>
                  <a:cubicBezTo>
                    <a:pt x="10911840" y="1926590"/>
                    <a:pt x="10857230" y="1981200"/>
                    <a:pt x="10789920" y="1981200"/>
                  </a:cubicBezTo>
                  <a:lnTo>
                    <a:pt x="121920" y="1981200"/>
                  </a:lnTo>
                  <a:cubicBezTo>
                    <a:pt x="54610" y="1981200"/>
                    <a:pt x="0" y="1926590"/>
                    <a:pt x="0" y="1859280"/>
                  </a:cubicBezTo>
                  <a:close/>
                </a:path>
              </a:pathLst>
            </a:custGeom>
            <a:solidFill>
              <a:srgbClr val="EAF8FA"/>
            </a:solidFill>
          </p:spPr>
          <p:txBody>
            <a:bodyPr/>
            <a:p/>
          </p:txBody>
        </p:sp>
      </p:grpSp>
      <p:sp>
        <p:nvSpPr>
          <p:cNvPr name="TextBox 116" id="116"/>
          <p:cNvSpPr txBox="true"/>
          <p:nvPr/>
        </p:nvSpPr>
        <p:spPr>
          <a:xfrm rot="0">
            <a:off x="9509760" y="6187440"/>
            <a:ext cx="7726680" cy="441960"/>
          </a:xfrm>
          <a:prstGeom prst="rect">
            <a:avLst/>
          </a:prstGeom>
        </p:spPr>
        <p:txBody>
          <a:bodyPr anchor="t" rtlCol="false" tIns="0" lIns="0" bIns="0" rIns="0">
            <a:spAutoFit/>
          </a:bodyPr>
          <a:lstStyle/>
          <a:p>
            <a:pPr algn="l">
              <a:lnSpc>
                <a:spcPts val="2083"/>
              </a:lnSpc>
            </a:pPr>
            <a:r>
              <a:rPr lang="en-US" sz="1550" b="true">
                <a:solidFill>
                  <a:srgbClr val="0B5E6E"/>
                </a:solidFill>
                <a:latin typeface="Calibri (MS) Bold"/>
                <a:ea typeface="Calibri (MS) Bold"/>
                <a:cs typeface="Calibri (MS) Bold"/>
                <a:sym typeface="Calibri (MS) Bold"/>
              </a:rPr>
              <a:t>Akurasi terbobot luas (Olofsson dkk., 2014)</a:t>
            </a:r>
          </a:p>
        </p:txBody>
      </p:sp>
      <p:sp>
        <p:nvSpPr>
          <p:cNvPr name="TextBox 117" id="117"/>
          <p:cNvSpPr txBox="true"/>
          <p:nvPr/>
        </p:nvSpPr>
        <p:spPr>
          <a:xfrm rot="0">
            <a:off x="9509760" y="6580632"/>
            <a:ext cx="7726680" cy="4236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ÔA = Σᵢ Wᵢ · (nᵢᵢ / nᵢ.) ;  Wᵢ = Aᵢ / A_total</a:t>
            </a:r>
          </a:p>
        </p:txBody>
      </p:sp>
      <p:sp>
        <p:nvSpPr>
          <p:cNvPr name="TextBox 118" id="118"/>
          <p:cNvSpPr txBox="true"/>
          <p:nvPr/>
        </p:nvSpPr>
        <p:spPr>
          <a:xfrm rot="0">
            <a:off x="9509760" y="6918198"/>
            <a:ext cx="7726680" cy="372008"/>
          </a:xfrm>
          <a:prstGeom prst="rect">
            <a:avLst/>
          </a:prstGeom>
        </p:spPr>
        <p:txBody>
          <a:bodyPr anchor="t" rtlCol="false" tIns="0" lIns="0" bIns="0" rIns="0">
            <a:spAutoFit/>
          </a:bodyPr>
          <a:lstStyle/>
          <a:p>
            <a:pPr algn="l">
              <a:lnSpc>
                <a:spcPts val="1746"/>
              </a:lnSpc>
            </a:pPr>
            <a:r>
              <a:rPr lang="en-US" sz="1299">
                <a:solidFill>
                  <a:srgbClr val="5E6E78"/>
                </a:solidFill>
                <a:latin typeface="Calibri (MS)"/>
                <a:ea typeface="Calibri (MS)"/>
                <a:cs typeface="Calibri (MS)"/>
                <a:sym typeface="Calibri (MS)"/>
              </a:rPr>
              <a:t>Sampel 100/100 tidak proporsional luas kelas → versi tak bias. Hasil: 89,95%</a:t>
            </a:r>
          </a:p>
        </p:txBody>
      </p:sp>
      <p:grpSp>
        <p:nvGrpSpPr>
          <p:cNvPr name="Group 119" id="119"/>
          <p:cNvGrpSpPr/>
          <p:nvPr/>
        </p:nvGrpSpPr>
        <p:grpSpPr>
          <a:xfrm rot="0">
            <a:off x="9281160" y="7767828"/>
            <a:ext cx="8183880" cy="1485900"/>
            <a:chOff x="0" y="0"/>
            <a:chExt cx="10911840" cy="1981200"/>
          </a:xfrm>
        </p:grpSpPr>
        <p:sp>
          <p:nvSpPr>
            <p:cNvPr name="Freeform 120" id="120"/>
            <p:cNvSpPr/>
            <p:nvPr/>
          </p:nvSpPr>
          <p:spPr>
            <a:xfrm flipH="false" flipV="false" rot="0">
              <a:off x="0" y="0"/>
              <a:ext cx="10911840" cy="1981200"/>
            </a:xfrm>
            <a:custGeom>
              <a:avLst/>
              <a:gdLst/>
              <a:ahLst/>
              <a:cxnLst/>
              <a:rect r="r" b="b" t="t" l="l"/>
              <a:pathLst>
                <a:path h="1981200" w="10911840">
                  <a:moveTo>
                    <a:pt x="0" y="121920"/>
                  </a:moveTo>
                  <a:cubicBezTo>
                    <a:pt x="0" y="54610"/>
                    <a:pt x="54610" y="0"/>
                    <a:pt x="121920" y="0"/>
                  </a:cubicBezTo>
                  <a:lnTo>
                    <a:pt x="10789920" y="0"/>
                  </a:lnTo>
                  <a:cubicBezTo>
                    <a:pt x="10857230" y="0"/>
                    <a:pt x="10911840" y="54610"/>
                    <a:pt x="10911840" y="121920"/>
                  </a:cubicBezTo>
                  <a:lnTo>
                    <a:pt x="10911840" y="1859280"/>
                  </a:lnTo>
                  <a:cubicBezTo>
                    <a:pt x="10911840" y="1926590"/>
                    <a:pt x="10857230" y="1981200"/>
                    <a:pt x="10789920" y="1981200"/>
                  </a:cubicBezTo>
                  <a:lnTo>
                    <a:pt x="121920" y="1981200"/>
                  </a:lnTo>
                  <a:cubicBezTo>
                    <a:pt x="54610" y="1981200"/>
                    <a:pt x="0" y="1926590"/>
                    <a:pt x="0" y="1859280"/>
                  </a:cubicBezTo>
                  <a:close/>
                </a:path>
              </a:pathLst>
            </a:custGeom>
            <a:solidFill>
              <a:srgbClr val="EAF8FA"/>
            </a:solidFill>
          </p:spPr>
          <p:txBody>
            <a:bodyPr/>
            <a:p/>
          </p:txBody>
        </p:sp>
      </p:grpSp>
      <p:sp>
        <p:nvSpPr>
          <p:cNvPr name="TextBox 121" id="121"/>
          <p:cNvSpPr txBox="true"/>
          <p:nvPr/>
        </p:nvSpPr>
        <p:spPr>
          <a:xfrm rot="0">
            <a:off x="9509760" y="7801356"/>
            <a:ext cx="7726680" cy="441960"/>
          </a:xfrm>
          <a:prstGeom prst="rect">
            <a:avLst/>
          </a:prstGeom>
        </p:spPr>
        <p:txBody>
          <a:bodyPr anchor="t" rtlCol="false" tIns="0" lIns="0" bIns="0" rIns="0">
            <a:spAutoFit/>
          </a:bodyPr>
          <a:lstStyle/>
          <a:p>
            <a:pPr algn="l">
              <a:lnSpc>
                <a:spcPts val="2083"/>
              </a:lnSpc>
            </a:pPr>
            <a:r>
              <a:rPr lang="en-US" sz="1550" b="true">
                <a:solidFill>
                  <a:srgbClr val="0B5E6E"/>
                </a:solidFill>
                <a:latin typeface="Calibri (MS) Bold"/>
                <a:ea typeface="Calibri (MS) Bold"/>
                <a:cs typeface="Calibri (MS) Bold"/>
                <a:sym typeface="Calibri (MS) Bold"/>
              </a:rPr>
              <a:t>Diagnosis ketidakstabilan temporal (gaya ANCOVA)</a:t>
            </a:r>
          </a:p>
        </p:txBody>
      </p:sp>
      <p:sp>
        <p:nvSpPr>
          <p:cNvPr name="TextBox 122" id="122"/>
          <p:cNvSpPr txBox="true"/>
          <p:nvPr/>
        </p:nvSpPr>
        <p:spPr>
          <a:xfrm rot="0">
            <a:off x="9509760" y="8194548"/>
            <a:ext cx="7726680" cy="4236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Luasₜ = a + b · Obsₜ</a:t>
            </a:r>
          </a:p>
        </p:txBody>
      </p:sp>
      <p:sp>
        <p:nvSpPr>
          <p:cNvPr name="TextBox 123" id="123"/>
          <p:cNvSpPr txBox="true"/>
          <p:nvPr/>
        </p:nvSpPr>
        <p:spPr>
          <a:xfrm rot="0">
            <a:off x="9509760" y="8532876"/>
            <a:ext cx="7726680" cy="4236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Luas_terkoreksi,ₜ = Luasₜ − b · (Obsₜ − Obs_acuan)</a:t>
            </a:r>
          </a:p>
        </p:txBody>
      </p:sp>
      <p:sp>
        <p:nvSpPr>
          <p:cNvPr name="TextBox 124" id="124"/>
          <p:cNvSpPr txBox="true"/>
          <p:nvPr/>
        </p:nvSpPr>
        <p:spPr>
          <a:xfrm rot="0">
            <a:off x="9509760" y="8870442"/>
            <a:ext cx="7726680" cy="372008"/>
          </a:xfrm>
          <a:prstGeom prst="rect">
            <a:avLst/>
          </a:prstGeom>
        </p:spPr>
        <p:txBody>
          <a:bodyPr anchor="t" rtlCol="false" tIns="0" lIns="0" bIns="0" rIns="0">
            <a:spAutoFit/>
          </a:bodyPr>
          <a:lstStyle/>
          <a:p>
            <a:pPr algn="l">
              <a:lnSpc>
                <a:spcPts val="1746"/>
              </a:lnSpc>
            </a:pPr>
            <a:r>
              <a:rPr lang="en-US" sz="1299">
                <a:solidFill>
                  <a:srgbClr val="5E6E78"/>
                </a:solidFill>
                <a:latin typeface="Calibri (MS)"/>
                <a:ea typeface="Calibri (MS)"/>
                <a:cs typeface="Calibri (MS)"/>
                <a:sym typeface="Calibri (MS)"/>
              </a:rPr>
              <a:t>Sah bila Obs tidak berkorelasi dengan tahun; hanya diagnostik, nilai mentah tetap dipakai</a:t>
            </a:r>
          </a:p>
        </p:txBody>
      </p:sp>
      <p:grpSp>
        <p:nvGrpSpPr>
          <p:cNvPr name="Group 125" id="125"/>
          <p:cNvGrpSpPr/>
          <p:nvPr/>
        </p:nvGrpSpPr>
        <p:grpSpPr>
          <a:xfrm rot="0">
            <a:off x="12755880" y="274320"/>
            <a:ext cx="3931920" cy="411480"/>
            <a:chOff x="0" y="0"/>
            <a:chExt cx="5242560" cy="548640"/>
          </a:xfrm>
        </p:grpSpPr>
        <p:sp>
          <p:nvSpPr>
            <p:cNvPr name="Freeform 126" id="126"/>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27" id="127"/>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2A · Integrasi citra satelit</a:t>
              </a:r>
            </a:p>
          </p:txBody>
        </p:sp>
      </p:grpSp>
      <p:grpSp>
        <p:nvGrpSpPr>
          <p:cNvPr name="Group 128" id="128"/>
          <p:cNvGrpSpPr/>
          <p:nvPr/>
        </p:nvGrpSpPr>
        <p:grpSpPr>
          <a:xfrm rot="0">
            <a:off x="16047720" y="9646920"/>
            <a:ext cx="420624" cy="420624"/>
            <a:chOff x="0" y="0"/>
            <a:chExt cx="560832" cy="560832"/>
          </a:xfrm>
        </p:grpSpPr>
        <p:sp>
          <p:nvSpPr>
            <p:cNvPr name="Freeform 129" id="129"/>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30" id="130"/>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2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Estimasi Jumlah ODTW</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Cahaya malam (NTL) layak dipakai untuk mengestimasi jumlah ODTW</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pSp>
        <p:nvGrpSpPr>
          <p:cNvPr name="Group 66" id="66"/>
          <p:cNvGrpSpPr/>
          <p:nvPr/>
        </p:nvGrpSpPr>
        <p:grpSpPr>
          <a:xfrm rot="0">
            <a:off x="839353" y="2331720"/>
            <a:ext cx="9431274" cy="5897880"/>
            <a:chOff x="0" y="0"/>
            <a:chExt cx="12575032" cy="7863840"/>
          </a:xfrm>
        </p:grpSpPr>
        <p:sp>
          <p:nvSpPr>
            <p:cNvPr name="Freeform 67" id="67" descr="Perbandingan tren NTL dan jumlah ODTW DIY 2015-2025"/>
            <p:cNvSpPr/>
            <p:nvPr/>
          </p:nvSpPr>
          <p:spPr>
            <a:xfrm flipH="false" flipV="false" rot="0">
              <a:off x="0" y="0"/>
              <a:ext cx="12575032" cy="7863840"/>
            </a:xfrm>
            <a:custGeom>
              <a:avLst/>
              <a:gdLst/>
              <a:ahLst/>
              <a:cxnLst/>
              <a:rect r="r" b="b" t="t" l="l"/>
              <a:pathLst>
                <a:path h="7863840" w="12575032">
                  <a:moveTo>
                    <a:pt x="0" y="0"/>
                  </a:moveTo>
                  <a:lnTo>
                    <a:pt x="12575032" y="0"/>
                  </a:lnTo>
                  <a:lnTo>
                    <a:pt x="12575032" y="7863840"/>
                  </a:lnTo>
                  <a:lnTo>
                    <a:pt x="0" y="7863840"/>
                  </a:lnTo>
                  <a:lnTo>
                    <a:pt x="0" y="0"/>
                  </a:lnTo>
                  <a:close/>
                </a:path>
              </a:pathLst>
            </a:custGeom>
            <a:blipFill>
              <a:blip r:embed="rId7"/>
              <a:stretch>
                <a:fillRect l="0" t="0" r="0" b="0"/>
              </a:stretch>
            </a:blipFill>
          </p:spPr>
          <p:txBody>
            <a:bodyPr/>
            <a:p/>
          </p:txBody>
        </p:sp>
      </p:grpSp>
      <p:sp>
        <p:nvSpPr>
          <p:cNvPr name="TextBox 68" id="68"/>
          <p:cNvSpPr txBox="true"/>
          <p:nvPr/>
        </p:nvSpPr>
        <p:spPr>
          <a:xfrm rot="0">
            <a:off x="822960" y="8183880"/>
            <a:ext cx="9464040" cy="525780"/>
          </a:xfrm>
          <a:prstGeom prst="rect">
            <a:avLst/>
          </a:prstGeom>
        </p:spPr>
        <p:txBody>
          <a:bodyPr anchor="t" rtlCol="false" tIns="0" lIns="0" bIns="0" rIns="0">
            <a:spAutoFit/>
          </a:bodyPr>
          <a:lstStyle/>
          <a:p>
            <a:pPr algn="l">
              <a:lnSpc>
                <a:spcPts val="2070"/>
              </a:lnSpc>
            </a:pPr>
            <a:r>
              <a:rPr lang="en-US" sz="1725" i="true">
                <a:solidFill>
                  <a:srgbClr val="5E6E78"/>
                </a:solidFill>
                <a:latin typeface="Calibri (MS) Italics"/>
                <a:ea typeface="Calibri (MS) Italics"/>
                <a:cs typeface="Calibri (MS) Italics"/>
                <a:sym typeface="Calibri (MS) Italics"/>
              </a:rPr>
              <a:t>Tren NTL dan jumlah ODTW DIY, 2015–2025 (segitiga = estimasi dari NTL)</a:t>
            </a:r>
          </a:p>
        </p:txBody>
      </p:sp>
      <p:grpSp>
        <p:nvGrpSpPr>
          <p:cNvPr name="Group 69" id="69"/>
          <p:cNvGrpSpPr/>
          <p:nvPr/>
        </p:nvGrpSpPr>
        <p:grpSpPr>
          <a:xfrm rot="0">
            <a:off x="10698480" y="2331720"/>
            <a:ext cx="3291840" cy="2057400"/>
            <a:chOff x="0" y="0"/>
            <a:chExt cx="4389120" cy="2743200"/>
          </a:xfrm>
        </p:grpSpPr>
        <p:sp>
          <p:nvSpPr>
            <p:cNvPr name="Freeform 70" id="70"/>
            <p:cNvSpPr/>
            <p:nvPr/>
          </p:nvSpPr>
          <p:spPr>
            <a:xfrm flipH="false" flipV="false" rot="0">
              <a:off x="0" y="0"/>
              <a:ext cx="4389120" cy="2743200"/>
            </a:xfrm>
            <a:custGeom>
              <a:avLst/>
              <a:gdLst/>
              <a:ahLst/>
              <a:cxnLst/>
              <a:rect r="r" b="b" t="t" l="l"/>
              <a:pathLst>
                <a:path h="2743200" w="4389120">
                  <a:moveTo>
                    <a:pt x="0" y="182880"/>
                  </a:moveTo>
                  <a:cubicBezTo>
                    <a:pt x="0" y="81915"/>
                    <a:pt x="81915" y="0"/>
                    <a:pt x="182880" y="0"/>
                  </a:cubicBezTo>
                  <a:lnTo>
                    <a:pt x="4206240" y="0"/>
                  </a:lnTo>
                  <a:cubicBezTo>
                    <a:pt x="4307205" y="0"/>
                    <a:pt x="4389120" y="81915"/>
                    <a:pt x="4389120" y="182880"/>
                  </a:cubicBezTo>
                  <a:lnTo>
                    <a:pt x="4389120" y="2560320"/>
                  </a:lnTo>
                  <a:cubicBezTo>
                    <a:pt x="4389120" y="2661285"/>
                    <a:pt x="4307205" y="2743200"/>
                    <a:pt x="4206240" y="2743200"/>
                  </a:cubicBezTo>
                  <a:lnTo>
                    <a:pt x="182880" y="2743200"/>
                  </a:lnTo>
                  <a:cubicBezTo>
                    <a:pt x="81915" y="2743200"/>
                    <a:pt x="0" y="2661285"/>
                    <a:pt x="0" y="2560320"/>
                  </a:cubicBezTo>
                  <a:close/>
                </a:path>
              </a:pathLst>
            </a:custGeom>
            <a:solidFill>
              <a:srgbClr val="EAF8FA"/>
            </a:solidFill>
          </p:spPr>
          <p:txBody>
            <a:bodyPr/>
            <a:p/>
          </p:txBody>
        </p:sp>
      </p:grpSp>
      <p:grpSp>
        <p:nvGrpSpPr>
          <p:cNvPr name="Group 71" id="71"/>
          <p:cNvGrpSpPr/>
          <p:nvPr/>
        </p:nvGrpSpPr>
        <p:grpSpPr>
          <a:xfrm rot="0">
            <a:off x="10904220" y="2468880"/>
            <a:ext cx="2880360" cy="685800"/>
            <a:chOff x="0" y="0"/>
            <a:chExt cx="3840480" cy="914400"/>
          </a:xfrm>
        </p:grpSpPr>
        <p:sp>
          <p:nvSpPr>
            <p:cNvPr name="Freeform 72" id="72"/>
            <p:cNvSpPr/>
            <p:nvPr/>
          </p:nvSpPr>
          <p:spPr>
            <a:xfrm flipH="false" flipV="false" rot="0">
              <a:off x="0" y="0"/>
              <a:ext cx="3840480" cy="914400"/>
            </a:xfrm>
            <a:custGeom>
              <a:avLst/>
              <a:gdLst/>
              <a:ahLst/>
              <a:cxnLst/>
              <a:rect r="r" b="b" t="t" l="l"/>
              <a:pathLst>
                <a:path h="914400" w="3840480">
                  <a:moveTo>
                    <a:pt x="0" y="0"/>
                  </a:moveTo>
                  <a:lnTo>
                    <a:pt x="3840480" y="0"/>
                  </a:lnTo>
                  <a:lnTo>
                    <a:pt x="3840480" y="914400"/>
                  </a:lnTo>
                  <a:lnTo>
                    <a:pt x="0" y="914400"/>
                  </a:lnTo>
                  <a:close/>
                </a:path>
              </a:pathLst>
            </a:custGeom>
            <a:blipFill>
              <a:blip r:embed="rId4">
                <a:alphaModFix amt="0"/>
              </a:blip>
              <a:stretch>
                <a:fillRect l="0" t="-31780" r="0" b="-31780"/>
              </a:stretch>
            </a:blipFill>
          </p:spPr>
          <p:txBody>
            <a:bodyPr/>
            <a:p/>
          </p:txBody>
        </p:sp>
      </p:grpSp>
      <p:grpSp>
        <p:nvGrpSpPr>
          <p:cNvPr name="Group 73" id="73"/>
          <p:cNvGrpSpPr/>
          <p:nvPr/>
        </p:nvGrpSpPr>
        <p:grpSpPr>
          <a:xfrm rot="0">
            <a:off x="10904220" y="2418874"/>
            <a:ext cx="2880360" cy="735806"/>
            <a:chOff x="0" y="0"/>
            <a:chExt cx="3840480" cy="981075"/>
          </a:xfrm>
        </p:grpSpPr>
        <p:sp>
          <p:nvSpPr>
            <p:cNvPr name="Freeform 74" id="74"/>
            <p:cNvSpPr/>
            <p:nvPr/>
          </p:nvSpPr>
          <p:spPr>
            <a:xfrm flipH="false" flipV="false" rot="0">
              <a:off x="0" y="0"/>
              <a:ext cx="3840480" cy="981075"/>
            </a:xfrm>
            <a:custGeom>
              <a:avLst/>
              <a:gdLst/>
              <a:ahLst/>
              <a:cxnLst/>
              <a:rect r="r" b="b" t="t" l="l"/>
              <a:pathLst>
                <a:path h="981075" w="3840480">
                  <a:moveTo>
                    <a:pt x="0" y="0"/>
                  </a:moveTo>
                  <a:lnTo>
                    <a:pt x="3840480" y="0"/>
                  </a:lnTo>
                  <a:lnTo>
                    <a:pt x="3840480" y="981075"/>
                  </a:lnTo>
                  <a:lnTo>
                    <a:pt x="0" y="981075"/>
                  </a:lnTo>
                  <a:close/>
                </a:path>
              </a:pathLst>
            </a:custGeom>
            <a:blipFill>
              <a:blip r:embed="rId5">
                <a:alphaModFix amt="0"/>
              </a:blip>
              <a:stretch>
                <a:fillRect l="0" t="-26222" r="0" b="-26222"/>
              </a:stretch>
            </a:blipFill>
          </p:spPr>
          <p:txBody>
            <a:bodyPr/>
            <a:p/>
          </p:txBody>
        </p:sp>
      </p:grpSp>
      <p:grpSp>
        <p:nvGrpSpPr>
          <p:cNvPr name="Group 75" id="75"/>
          <p:cNvGrpSpPr/>
          <p:nvPr/>
        </p:nvGrpSpPr>
        <p:grpSpPr>
          <a:xfrm rot="0">
            <a:off x="10904220" y="2368867"/>
            <a:ext cx="2880360" cy="785812"/>
            <a:chOff x="0" y="0"/>
            <a:chExt cx="3840480" cy="1047750"/>
          </a:xfrm>
        </p:grpSpPr>
        <p:sp>
          <p:nvSpPr>
            <p:cNvPr name="Freeform 76" id="76"/>
            <p:cNvSpPr/>
            <p:nvPr/>
          </p:nvSpPr>
          <p:spPr>
            <a:xfrm flipH="false" flipV="false" rot="0">
              <a:off x="0" y="0"/>
              <a:ext cx="3840480" cy="1047750"/>
            </a:xfrm>
            <a:custGeom>
              <a:avLst/>
              <a:gdLst/>
              <a:ahLst/>
              <a:cxnLst/>
              <a:rect r="r" b="b" t="t" l="l"/>
              <a:pathLst>
                <a:path h="1047750" w="3840480">
                  <a:moveTo>
                    <a:pt x="0" y="0"/>
                  </a:moveTo>
                  <a:lnTo>
                    <a:pt x="3840480" y="0"/>
                  </a:lnTo>
                  <a:lnTo>
                    <a:pt x="3840480" y="1047750"/>
                  </a:lnTo>
                  <a:lnTo>
                    <a:pt x="0" y="1047750"/>
                  </a:lnTo>
                  <a:close/>
                </a:path>
              </a:pathLst>
            </a:custGeom>
            <a:blipFill>
              <a:blip r:embed="rId6">
                <a:alphaModFix amt="0"/>
              </a:blip>
              <a:stretch>
                <a:fillRect l="0" t="-21421" r="0" b="-21421"/>
              </a:stretch>
            </a:blipFill>
          </p:spPr>
          <p:txBody>
            <a:bodyPr/>
            <a:p/>
          </p:txBody>
        </p:sp>
        <p:sp>
          <p:nvSpPr>
            <p:cNvPr name="TextBox 77" id="77"/>
            <p:cNvSpPr txBox="true"/>
            <p:nvPr/>
          </p:nvSpPr>
          <p:spPr>
            <a:xfrm>
              <a:off x="0" y="-66675"/>
              <a:ext cx="3840480" cy="1114425"/>
            </a:xfrm>
            <a:prstGeom prst="rect">
              <a:avLst/>
            </a:prstGeom>
          </p:spPr>
          <p:txBody>
            <a:bodyPr anchor="ctr" rtlCol="false" tIns="0" lIns="0" bIns="0" rIns="0"/>
            <a:lstStyle/>
            <a:p>
              <a:pPr algn="l">
                <a:lnSpc>
                  <a:spcPts val="3960"/>
                </a:lnSpc>
              </a:pPr>
              <a:r>
                <a:rPr lang="en-US" sz="3300" b="true">
                  <a:solidFill>
                    <a:srgbClr val="0B5E6E"/>
                  </a:solidFill>
                  <a:latin typeface="Calibri (MS) Bold"/>
                  <a:ea typeface="Calibri (MS) Bold"/>
                  <a:cs typeface="Calibri (MS) Bold"/>
                  <a:sym typeface="Calibri (MS) Bold"/>
                </a:rPr>
                <a:t>0,405</a:t>
              </a:r>
            </a:p>
          </p:txBody>
        </p:sp>
      </p:grpSp>
      <p:sp>
        <p:nvSpPr>
          <p:cNvPr name="TextBox 78" id="78"/>
          <p:cNvSpPr txBox="true"/>
          <p:nvPr/>
        </p:nvSpPr>
        <p:spPr>
          <a:xfrm rot="0">
            <a:off x="10904220" y="3096387"/>
            <a:ext cx="2880360" cy="1251585"/>
          </a:xfrm>
          <a:prstGeom prst="rect">
            <a:avLst/>
          </a:prstGeom>
        </p:spPr>
        <p:txBody>
          <a:bodyPr anchor="t" rtlCol="false" tIns="0" lIns="0" bIns="0" rIns="0">
            <a:spAutoFit/>
          </a:bodyPr>
          <a:lstStyle/>
          <a:p>
            <a:pPr algn="l">
              <a:lnSpc>
                <a:spcPts val="1980"/>
              </a:lnSpc>
            </a:pPr>
            <a:r>
              <a:rPr lang="en-US" sz="1650">
                <a:solidFill>
                  <a:srgbClr val="14313B"/>
                </a:solidFill>
                <a:latin typeface="Calibri (MS)"/>
                <a:ea typeface="Calibri (MS)"/>
                <a:cs typeface="Calibri (MS)"/>
                <a:sym typeface="Calibri (MS)"/>
              </a:rPr>
              <a:t>R² selisih tahunan (≥ 0,30 → layak). R² level 0,785 dipengaruhi tren bersama</a:t>
            </a:r>
          </a:p>
        </p:txBody>
      </p:sp>
      <p:grpSp>
        <p:nvGrpSpPr>
          <p:cNvPr name="Group 79" id="79"/>
          <p:cNvGrpSpPr/>
          <p:nvPr/>
        </p:nvGrpSpPr>
        <p:grpSpPr>
          <a:xfrm rot="0">
            <a:off x="14127480" y="2331720"/>
            <a:ext cx="3291840" cy="2057400"/>
            <a:chOff x="0" y="0"/>
            <a:chExt cx="4389120" cy="2743200"/>
          </a:xfrm>
        </p:grpSpPr>
        <p:sp>
          <p:nvSpPr>
            <p:cNvPr name="Freeform 80" id="80"/>
            <p:cNvSpPr/>
            <p:nvPr/>
          </p:nvSpPr>
          <p:spPr>
            <a:xfrm flipH="false" flipV="false" rot="0">
              <a:off x="0" y="0"/>
              <a:ext cx="4389120" cy="2743200"/>
            </a:xfrm>
            <a:custGeom>
              <a:avLst/>
              <a:gdLst/>
              <a:ahLst/>
              <a:cxnLst/>
              <a:rect r="r" b="b" t="t" l="l"/>
              <a:pathLst>
                <a:path h="2743200" w="4389120">
                  <a:moveTo>
                    <a:pt x="0" y="182880"/>
                  </a:moveTo>
                  <a:cubicBezTo>
                    <a:pt x="0" y="81915"/>
                    <a:pt x="81915" y="0"/>
                    <a:pt x="182880" y="0"/>
                  </a:cubicBezTo>
                  <a:lnTo>
                    <a:pt x="4206240" y="0"/>
                  </a:lnTo>
                  <a:cubicBezTo>
                    <a:pt x="4307205" y="0"/>
                    <a:pt x="4389120" y="81915"/>
                    <a:pt x="4389120" y="182880"/>
                  </a:cubicBezTo>
                  <a:lnTo>
                    <a:pt x="4389120" y="2560320"/>
                  </a:lnTo>
                  <a:cubicBezTo>
                    <a:pt x="4389120" y="2661285"/>
                    <a:pt x="4307205" y="2743200"/>
                    <a:pt x="4206240" y="2743200"/>
                  </a:cubicBezTo>
                  <a:lnTo>
                    <a:pt x="182880" y="2743200"/>
                  </a:lnTo>
                  <a:cubicBezTo>
                    <a:pt x="81915" y="2743200"/>
                    <a:pt x="0" y="2661285"/>
                    <a:pt x="0" y="2560320"/>
                  </a:cubicBezTo>
                  <a:close/>
                </a:path>
              </a:pathLst>
            </a:custGeom>
            <a:solidFill>
              <a:srgbClr val="EAF8FA"/>
            </a:solidFill>
          </p:spPr>
          <p:txBody>
            <a:bodyPr/>
            <a:p/>
          </p:txBody>
        </p:sp>
      </p:grpSp>
      <p:grpSp>
        <p:nvGrpSpPr>
          <p:cNvPr name="Group 81" id="81"/>
          <p:cNvGrpSpPr/>
          <p:nvPr/>
        </p:nvGrpSpPr>
        <p:grpSpPr>
          <a:xfrm rot="0">
            <a:off x="14333220" y="2468880"/>
            <a:ext cx="2880360" cy="685800"/>
            <a:chOff x="0" y="0"/>
            <a:chExt cx="3840480" cy="914400"/>
          </a:xfrm>
        </p:grpSpPr>
        <p:sp>
          <p:nvSpPr>
            <p:cNvPr name="Freeform 82" id="82"/>
            <p:cNvSpPr/>
            <p:nvPr/>
          </p:nvSpPr>
          <p:spPr>
            <a:xfrm flipH="false" flipV="false" rot="0">
              <a:off x="0" y="0"/>
              <a:ext cx="3840480" cy="914400"/>
            </a:xfrm>
            <a:custGeom>
              <a:avLst/>
              <a:gdLst/>
              <a:ahLst/>
              <a:cxnLst/>
              <a:rect r="r" b="b" t="t" l="l"/>
              <a:pathLst>
                <a:path h="914400" w="3840480">
                  <a:moveTo>
                    <a:pt x="0" y="0"/>
                  </a:moveTo>
                  <a:lnTo>
                    <a:pt x="3840480" y="0"/>
                  </a:lnTo>
                  <a:lnTo>
                    <a:pt x="3840480" y="914400"/>
                  </a:lnTo>
                  <a:lnTo>
                    <a:pt x="0" y="914400"/>
                  </a:lnTo>
                  <a:close/>
                </a:path>
              </a:pathLst>
            </a:custGeom>
            <a:blipFill>
              <a:blip r:embed="rId4">
                <a:alphaModFix amt="0"/>
              </a:blip>
              <a:stretch>
                <a:fillRect l="0" t="-31780" r="0" b="-31780"/>
              </a:stretch>
            </a:blipFill>
          </p:spPr>
          <p:txBody>
            <a:bodyPr/>
            <a:p/>
          </p:txBody>
        </p:sp>
      </p:grpSp>
      <p:grpSp>
        <p:nvGrpSpPr>
          <p:cNvPr name="Group 83" id="83"/>
          <p:cNvGrpSpPr/>
          <p:nvPr/>
        </p:nvGrpSpPr>
        <p:grpSpPr>
          <a:xfrm rot="0">
            <a:off x="14333220" y="2418874"/>
            <a:ext cx="2880360" cy="735806"/>
            <a:chOff x="0" y="0"/>
            <a:chExt cx="3840480" cy="981075"/>
          </a:xfrm>
        </p:grpSpPr>
        <p:sp>
          <p:nvSpPr>
            <p:cNvPr name="Freeform 84" id="84"/>
            <p:cNvSpPr/>
            <p:nvPr/>
          </p:nvSpPr>
          <p:spPr>
            <a:xfrm flipH="false" flipV="false" rot="0">
              <a:off x="0" y="0"/>
              <a:ext cx="3840480" cy="981075"/>
            </a:xfrm>
            <a:custGeom>
              <a:avLst/>
              <a:gdLst/>
              <a:ahLst/>
              <a:cxnLst/>
              <a:rect r="r" b="b" t="t" l="l"/>
              <a:pathLst>
                <a:path h="981075" w="3840480">
                  <a:moveTo>
                    <a:pt x="0" y="0"/>
                  </a:moveTo>
                  <a:lnTo>
                    <a:pt x="3840480" y="0"/>
                  </a:lnTo>
                  <a:lnTo>
                    <a:pt x="3840480" y="981075"/>
                  </a:lnTo>
                  <a:lnTo>
                    <a:pt x="0" y="981075"/>
                  </a:lnTo>
                  <a:close/>
                </a:path>
              </a:pathLst>
            </a:custGeom>
            <a:blipFill>
              <a:blip r:embed="rId5">
                <a:alphaModFix amt="0"/>
              </a:blip>
              <a:stretch>
                <a:fillRect l="0" t="-26222" r="0" b="-26222"/>
              </a:stretch>
            </a:blipFill>
          </p:spPr>
          <p:txBody>
            <a:bodyPr/>
            <a:p/>
          </p:txBody>
        </p:sp>
      </p:grpSp>
      <p:grpSp>
        <p:nvGrpSpPr>
          <p:cNvPr name="Group 85" id="85"/>
          <p:cNvGrpSpPr/>
          <p:nvPr/>
        </p:nvGrpSpPr>
        <p:grpSpPr>
          <a:xfrm rot="0">
            <a:off x="14333220" y="2368867"/>
            <a:ext cx="2880360" cy="785812"/>
            <a:chOff x="0" y="0"/>
            <a:chExt cx="3840480" cy="1047750"/>
          </a:xfrm>
        </p:grpSpPr>
        <p:sp>
          <p:nvSpPr>
            <p:cNvPr name="Freeform 86" id="86"/>
            <p:cNvSpPr/>
            <p:nvPr/>
          </p:nvSpPr>
          <p:spPr>
            <a:xfrm flipH="false" flipV="false" rot="0">
              <a:off x="0" y="0"/>
              <a:ext cx="3840480" cy="1047750"/>
            </a:xfrm>
            <a:custGeom>
              <a:avLst/>
              <a:gdLst/>
              <a:ahLst/>
              <a:cxnLst/>
              <a:rect r="r" b="b" t="t" l="l"/>
              <a:pathLst>
                <a:path h="1047750" w="3840480">
                  <a:moveTo>
                    <a:pt x="0" y="0"/>
                  </a:moveTo>
                  <a:lnTo>
                    <a:pt x="3840480" y="0"/>
                  </a:lnTo>
                  <a:lnTo>
                    <a:pt x="3840480" y="1047750"/>
                  </a:lnTo>
                  <a:lnTo>
                    <a:pt x="0" y="1047750"/>
                  </a:lnTo>
                  <a:close/>
                </a:path>
              </a:pathLst>
            </a:custGeom>
            <a:blipFill>
              <a:blip r:embed="rId6">
                <a:alphaModFix amt="0"/>
              </a:blip>
              <a:stretch>
                <a:fillRect l="0" t="-21421" r="0" b="-21421"/>
              </a:stretch>
            </a:blipFill>
          </p:spPr>
          <p:txBody>
            <a:bodyPr/>
            <a:p/>
          </p:txBody>
        </p:sp>
        <p:sp>
          <p:nvSpPr>
            <p:cNvPr name="TextBox 87" id="87"/>
            <p:cNvSpPr txBox="true"/>
            <p:nvPr/>
          </p:nvSpPr>
          <p:spPr>
            <a:xfrm>
              <a:off x="0" y="-66675"/>
              <a:ext cx="3840480" cy="1114425"/>
            </a:xfrm>
            <a:prstGeom prst="rect">
              <a:avLst/>
            </a:prstGeom>
          </p:spPr>
          <p:txBody>
            <a:bodyPr anchor="ctr" rtlCol="false" tIns="0" lIns="0" bIns="0" rIns="0"/>
            <a:lstStyle/>
            <a:p>
              <a:pPr algn="l">
                <a:lnSpc>
                  <a:spcPts val="3960"/>
                </a:lnSpc>
              </a:pPr>
              <a:r>
                <a:rPr lang="en-US" sz="3300" b="true">
                  <a:solidFill>
                    <a:srgbClr val="0B5E6E"/>
                  </a:solidFill>
                  <a:latin typeface="Calibri (MS) Bold"/>
                  <a:ea typeface="Calibri (MS) Bold"/>
                  <a:cs typeface="Calibri (MS) Bold"/>
                  <a:sym typeface="Calibri (MS) Bold"/>
                </a:rPr>
                <a:t>5,99%</a:t>
              </a:r>
            </a:p>
          </p:txBody>
        </p:sp>
      </p:grpSp>
      <p:sp>
        <p:nvSpPr>
          <p:cNvPr name="TextBox 88" id="88"/>
          <p:cNvSpPr txBox="true"/>
          <p:nvPr/>
        </p:nvSpPr>
        <p:spPr>
          <a:xfrm rot="0">
            <a:off x="14333220" y="3096387"/>
            <a:ext cx="2880360" cy="1251585"/>
          </a:xfrm>
          <a:prstGeom prst="rect">
            <a:avLst/>
          </a:prstGeom>
        </p:spPr>
        <p:txBody>
          <a:bodyPr anchor="t" rtlCol="false" tIns="0" lIns="0" bIns="0" rIns="0">
            <a:spAutoFit/>
          </a:bodyPr>
          <a:lstStyle/>
          <a:p>
            <a:pPr algn="l">
              <a:lnSpc>
                <a:spcPts val="1980"/>
              </a:lnSpc>
            </a:pPr>
            <a:r>
              <a:rPr lang="en-US" sz="1650">
                <a:solidFill>
                  <a:srgbClr val="14313B"/>
                </a:solidFill>
                <a:latin typeface="Calibri (MS)"/>
                <a:ea typeface="Calibri (MS)"/>
                <a:cs typeface="Calibri (MS)"/>
                <a:sym typeface="Calibri (MS)"/>
              </a:rPr>
              <a:t>RMSE relatif LOOCV (≤ 10% → layak)</a:t>
            </a:r>
          </a:p>
        </p:txBody>
      </p:sp>
      <p:grpSp>
        <p:nvGrpSpPr>
          <p:cNvPr name="Group 89" id="89"/>
          <p:cNvGrpSpPr/>
          <p:nvPr/>
        </p:nvGrpSpPr>
        <p:grpSpPr>
          <a:xfrm rot="0">
            <a:off x="10698480" y="4553712"/>
            <a:ext cx="3291840" cy="2057400"/>
            <a:chOff x="0" y="0"/>
            <a:chExt cx="4389120" cy="2743200"/>
          </a:xfrm>
        </p:grpSpPr>
        <p:sp>
          <p:nvSpPr>
            <p:cNvPr name="Freeform 90" id="90"/>
            <p:cNvSpPr/>
            <p:nvPr/>
          </p:nvSpPr>
          <p:spPr>
            <a:xfrm flipH="false" flipV="false" rot="0">
              <a:off x="0" y="0"/>
              <a:ext cx="4389120" cy="2743200"/>
            </a:xfrm>
            <a:custGeom>
              <a:avLst/>
              <a:gdLst/>
              <a:ahLst/>
              <a:cxnLst/>
              <a:rect r="r" b="b" t="t" l="l"/>
              <a:pathLst>
                <a:path h="2743200" w="4389120">
                  <a:moveTo>
                    <a:pt x="0" y="182880"/>
                  </a:moveTo>
                  <a:cubicBezTo>
                    <a:pt x="0" y="81915"/>
                    <a:pt x="81915" y="0"/>
                    <a:pt x="182880" y="0"/>
                  </a:cubicBezTo>
                  <a:lnTo>
                    <a:pt x="4206240" y="0"/>
                  </a:lnTo>
                  <a:cubicBezTo>
                    <a:pt x="4307205" y="0"/>
                    <a:pt x="4389120" y="81915"/>
                    <a:pt x="4389120" y="182880"/>
                  </a:cubicBezTo>
                  <a:lnTo>
                    <a:pt x="4389120" y="2560320"/>
                  </a:lnTo>
                  <a:cubicBezTo>
                    <a:pt x="4389120" y="2661285"/>
                    <a:pt x="4307205" y="2743200"/>
                    <a:pt x="4206240" y="2743200"/>
                  </a:cubicBezTo>
                  <a:lnTo>
                    <a:pt x="182880" y="2743200"/>
                  </a:lnTo>
                  <a:cubicBezTo>
                    <a:pt x="81915" y="2743200"/>
                    <a:pt x="0" y="2661285"/>
                    <a:pt x="0" y="2560320"/>
                  </a:cubicBezTo>
                  <a:close/>
                </a:path>
              </a:pathLst>
            </a:custGeom>
            <a:solidFill>
              <a:srgbClr val="EAF8FA"/>
            </a:solidFill>
          </p:spPr>
          <p:txBody>
            <a:bodyPr/>
            <a:p/>
          </p:txBody>
        </p:sp>
      </p:grpSp>
      <p:grpSp>
        <p:nvGrpSpPr>
          <p:cNvPr name="Group 91" id="91"/>
          <p:cNvGrpSpPr/>
          <p:nvPr/>
        </p:nvGrpSpPr>
        <p:grpSpPr>
          <a:xfrm rot="0">
            <a:off x="10904220" y="4690872"/>
            <a:ext cx="2880360" cy="685800"/>
            <a:chOff x="0" y="0"/>
            <a:chExt cx="3840480" cy="914400"/>
          </a:xfrm>
        </p:grpSpPr>
        <p:sp>
          <p:nvSpPr>
            <p:cNvPr name="Freeform 92" id="92"/>
            <p:cNvSpPr/>
            <p:nvPr/>
          </p:nvSpPr>
          <p:spPr>
            <a:xfrm flipH="false" flipV="false" rot="0">
              <a:off x="0" y="0"/>
              <a:ext cx="3840480" cy="914400"/>
            </a:xfrm>
            <a:custGeom>
              <a:avLst/>
              <a:gdLst/>
              <a:ahLst/>
              <a:cxnLst/>
              <a:rect r="r" b="b" t="t" l="l"/>
              <a:pathLst>
                <a:path h="914400" w="3840480">
                  <a:moveTo>
                    <a:pt x="0" y="0"/>
                  </a:moveTo>
                  <a:lnTo>
                    <a:pt x="3840480" y="0"/>
                  </a:lnTo>
                  <a:lnTo>
                    <a:pt x="3840480" y="914400"/>
                  </a:lnTo>
                  <a:lnTo>
                    <a:pt x="0" y="914400"/>
                  </a:lnTo>
                  <a:close/>
                </a:path>
              </a:pathLst>
            </a:custGeom>
            <a:blipFill>
              <a:blip r:embed="rId4">
                <a:alphaModFix amt="0"/>
              </a:blip>
              <a:stretch>
                <a:fillRect l="0" t="-31780" r="0" b="-31780"/>
              </a:stretch>
            </a:blipFill>
          </p:spPr>
          <p:txBody>
            <a:bodyPr/>
            <a:p/>
          </p:txBody>
        </p:sp>
      </p:grpSp>
      <p:grpSp>
        <p:nvGrpSpPr>
          <p:cNvPr name="Group 93" id="93"/>
          <p:cNvGrpSpPr/>
          <p:nvPr/>
        </p:nvGrpSpPr>
        <p:grpSpPr>
          <a:xfrm rot="0">
            <a:off x="10904220" y="4640866"/>
            <a:ext cx="2880360" cy="735806"/>
            <a:chOff x="0" y="0"/>
            <a:chExt cx="3840480" cy="981075"/>
          </a:xfrm>
        </p:grpSpPr>
        <p:sp>
          <p:nvSpPr>
            <p:cNvPr name="Freeform 94" id="94"/>
            <p:cNvSpPr/>
            <p:nvPr/>
          </p:nvSpPr>
          <p:spPr>
            <a:xfrm flipH="false" flipV="false" rot="0">
              <a:off x="0" y="0"/>
              <a:ext cx="3840480" cy="981075"/>
            </a:xfrm>
            <a:custGeom>
              <a:avLst/>
              <a:gdLst/>
              <a:ahLst/>
              <a:cxnLst/>
              <a:rect r="r" b="b" t="t" l="l"/>
              <a:pathLst>
                <a:path h="981075" w="3840480">
                  <a:moveTo>
                    <a:pt x="0" y="0"/>
                  </a:moveTo>
                  <a:lnTo>
                    <a:pt x="3840480" y="0"/>
                  </a:lnTo>
                  <a:lnTo>
                    <a:pt x="3840480" y="981075"/>
                  </a:lnTo>
                  <a:lnTo>
                    <a:pt x="0" y="981075"/>
                  </a:lnTo>
                  <a:close/>
                </a:path>
              </a:pathLst>
            </a:custGeom>
            <a:blipFill>
              <a:blip r:embed="rId5">
                <a:alphaModFix amt="0"/>
              </a:blip>
              <a:stretch>
                <a:fillRect l="0" t="-26222" r="0" b="-26222"/>
              </a:stretch>
            </a:blipFill>
          </p:spPr>
          <p:txBody>
            <a:bodyPr/>
            <a:p/>
          </p:txBody>
        </p:sp>
      </p:grpSp>
      <p:grpSp>
        <p:nvGrpSpPr>
          <p:cNvPr name="Group 95" id="95"/>
          <p:cNvGrpSpPr/>
          <p:nvPr/>
        </p:nvGrpSpPr>
        <p:grpSpPr>
          <a:xfrm rot="0">
            <a:off x="10904220" y="4590860"/>
            <a:ext cx="2880360" cy="785812"/>
            <a:chOff x="0" y="0"/>
            <a:chExt cx="3840480" cy="1047750"/>
          </a:xfrm>
        </p:grpSpPr>
        <p:sp>
          <p:nvSpPr>
            <p:cNvPr name="Freeform 96" id="96"/>
            <p:cNvSpPr/>
            <p:nvPr/>
          </p:nvSpPr>
          <p:spPr>
            <a:xfrm flipH="false" flipV="false" rot="0">
              <a:off x="0" y="0"/>
              <a:ext cx="3840480" cy="1047750"/>
            </a:xfrm>
            <a:custGeom>
              <a:avLst/>
              <a:gdLst/>
              <a:ahLst/>
              <a:cxnLst/>
              <a:rect r="r" b="b" t="t" l="l"/>
              <a:pathLst>
                <a:path h="1047750" w="3840480">
                  <a:moveTo>
                    <a:pt x="0" y="0"/>
                  </a:moveTo>
                  <a:lnTo>
                    <a:pt x="3840480" y="0"/>
                  </a:lnTo>
                  <a:lnTo>
                    <a:pt x="3840480" y="1047750"/>
                  </a:lnTo>
                  <a:lnTo>
                    <a:pt x="0" y="1047750"/>
                  </a:lnTo>
                  <a:close/>
                </a:path>
              </a:pathLst>
            </a:custGeom>
            <a:blipFill>
              <a:blip r:embed="rId6">
                <a:alphaModFix amt="0"/>
              </a:blip>
              <a:stretch>
                <a:fillRect l="0" t="-21421" r="0" b="-21421"/>
              </a:stretch>
            </a:blipFill>
          </p:spPr>
          <p:txBody>
            <a:bodyPr/>
            <a:p/>
          </p:txBody>
        </p:sp>
        <p:sp>
          <p:nvSpPr>
            <p:cNvPr name="TextBox 97" id="97"/>
            <p:cNvSpPr txBox="true"/>
            <p:nvPr/>
          </p:nvSpPr>
          <p:spPr>
            <a:xfrm>
              <a:off x="0" y="-66675"/>
              <a:ext cx="3840480" cy="1114425"/>
            </a:xfrm>
            <a:prstGeom prst="rect">
              <a:avLst/>
            </a:prstGeom>
          </p:spPr>
          <p:txBody>
            <a:bodyPr anchor="ctr" rtlCol="false" tIns="0" lIns="0" bIns="0" rIns="0"/>
            <a:lstStyle/>
            <a:p>
              <a:pPr algn="l">
                <a:lnSpc>
                  <a:spcPts val="3960"/>
                </a:lnSpc>
              </a:pPr>
              <a:r>
                <a:rPr lang="en-US" sz="3300" b="true">
                  <a:solidFill>
                    <a:srgbClr val="0B5E6E"/>
                  </a:solidFill>
                  <a:latin typeface="Calibri (MS) Bold"/>
                  <a:ea typeface="Calibri (MS) Bold"/>
                  <a:cs typeface="Calibri (MS) Bold"/>
                  <a:sym typeface="Calibri (MS) Bold"/>
                </a:rPr>
                <a:t>201 unit</a:t>
              </a:r>
            </a:p>
          </p:txBody>
        </p:sp>
      </p:grpSp>
      <p:sp>
        <p:nvSpPr>
          <p:cNvPr name="TextBox 98" id="98"/>
          <p:cNvSpPr txBox="true"/>
          <p:nvPr/>
        </p:nvSpPr>
        <p:spPr>
          <a:xfrm rot="0">
            <a:off x="10904220" y="5318379"/>
            <a:ext cx="2880360" cy="1251585"/>
          </a:xfrm>
          <a:prstGeom prst="rect">
            <a:avLst/>
          </a:prstGeom>
        </p:spPr>
        <p:txBody>
          <a:bodyPr anchor="t" rtlCol="false" tIns="0" lIns="0" bIns="0" rIns="0">
            <a:spAutoFit/>
          </a:bodyPr>
          <a:lstStyle/>
          <a:p>
            <a:pPr algn="l">
              <a:lnSpc>
                <a:spcPts val="1980"/>
              </a:lnSpc>
            </a:pPr>
            <a:r>
              <a:rPr lang="en-US" sz="1650">
                <a:solidFill>
                  <a:srgbClr val="14313B"/>
                </a:solidFill>
                <a:latin typeface="Calibri (MS)"/>
                <a:ea typeface="Calibri (MS)"/>
                <a:cs typeface="Calibri (MS)"/>
                <a:sym typeface="Calibri (MS)"/>
              </a:rPr>
              <a:t>estimasi ODTW 2025; selang prediksi 95%: 176,7–224,8</a:t>
            </a:r>
          </a:p>
        </p:txBody>
      </p:sp>
      <p:grpSp>
        <p:nvGrpSpPr>
          <p:cNvPr name="Group 99" id="99"/>
          <p:cNvGrpSpPr/>
          <p:nvPr/>
        </p:nvGrpSpPr>
        <p:grpSpPr>
          <a:xfrm rot="0">
            <a:off x="14127480" y="4553712"/>
            <a:ext cx="3291840" cy="2057400"/>
            <a:chOff x="0" y="0"/>
            <a:chExt cx="4389120" cy="2743200"/>
          </a:xfrm>
        </p:grpSpPr>
        <p:sp>
          <p:nvSpPr>
            <p:cNvPr name="Freeform 100" id="100"/>
            <p:cNvSpPr/>
            <p:nvPr/>
          </p:nvSpPr>
          <p:spPr>
            <a:xfrm flipH="false" flipV="false" rot="0">
              <a:off x="0" y="0"/>
              <a:ext cx="4389120" cy="2743200"/>
            </a:xfrm>
            <a:custGeom>
              <a:avLst/>
              <a:gdLst/>
              <a:ahLst/>
              <a:cxnLst/>
              <a:rect r="r" b="b" t="t" l="l"/>
              <a:pathLst>
                <a:path h="2743200" w="4389120">
                  <a:moveTo>
                    <a:pt x="0" y="182880"/>
                  </a:moveTo>
                  <a:cubicBezTo>
                    <a:pt x="0" y="81915"/>
                    <a:pt x="81915" y="0"/>
                    <a:pt x="182880" y="0"/>
                  </a:cubicBezTo>
                  <a:lnTo>
                    <a:pt x="4206240" y="0"/>
                  </a:lnTo>
                  <a:cubicBezTo>
                    <a:pt x="4307205" y="0"/>
                    <a:pt x="4389120" y="81915"/>
                    <a:pt x="4389120" y="182880"/>
                  </a:cubicBezTo>
                  <a:lnTo>
                    <a:pt x="4389120" y="2560320"/>
                  </a:lnTo>
                  <a:cubicBezTo>
                    <a:pt x="4389120" y="2661285"/>
                    <a:pt x="4307205" y="2743200"/>
                    <a:pt x="4206240" y="2743200"/>
                  </a:cubicBezTo>
                  <a:lnTo>
                    <a:pt x="182880" y="2743200"/>
                  </a:lnTo>
                  <a:cubicBezTo>
                    <a:pt x="81915" y="2743200"/>
                    <a:pt x="0" y="2661285"/>
                    <a:pt x="0" y="2560320"/>
                  </a:cubicBezTo>
                  <a:close/>
                </a:path>
              </a:pathLst>
            </a:custGeom>
            <a:solidFill>
              <a:srgbClr val="EAF8FA"/>
            </a:solidFill>
          </p:spPr>
          <p:txBody>
            <a:bodyPr/>
            <a:p/>
          </p:txBody>
        </p:sp>
      </p:grpSp>
      <p:grpSp>
        <p:nvGrpSpPr>
          <p:cNvPr name="Group 101" id="101"/>
          <p:cNvGrpSpPr/>
          <p:nvPr/>
        </p:nvGrpSpPr>
        <p:grpSpPr>
          <a:xfrm rot="0">
            <a:off x="14333220" y="4690872"/>
            <a:ext cx="2880360" cy="685800"/>
            <a:chOff x="0" y="0"/>
            <a:chExt cx="3840480" cy="914400"/>
          </a:xfrm>
        </p:grpSpPr>
        <p:sp>
          <p:nvSpPr>
            <p:cNvPr name="Freeform 102" id="102"/>
            <p:cNvSpPr/>
            <p:nvPr/>
          </p:nvSpPr>
          <p:spPr>
            <a:xfrm flipH="false" flipV="false" rot="0">
              <a:off x="0" y="0"/>
              <a:ext cx="3840480" cy="914400"/>
            </a:xfrm>
            <a:custGeom>
              <a:avLst/>
              <a:gdLst/>
              <a:ahLst/>
              <a:cxnLst/>
              <a:rect r="r" b="b" t="t" l="l"/>
              <a:pathLst>
                <a:path h="914400" w="3840480">
                  <a:moveTo>
                    <a:pt x="0" y="0"/>
                  </a:moveTo>
                  <a:lnTo>
                    <a:pt x="3840480" y="0"/>
                  </a:lnTo>
                  <a:lnTo>
                    <a:pt x="3840480" y="914400"/>
                  </a:lnTo>
                  <a:lnTo>
                    <a:pt x="0" y="914400"/>
                  </a:lnTo>
                  <a:close/>
                </a:path>
              </a:pathLst>
            </a:custGeom>
            <a:blipFill>
              <a:blip r:embed="rId4">
                <a:alphaModFix amt="0"/>
              </a:blip>
              <a:stretch>
                <a:fillRect l="0" t="-31780" r="0" b="-31780"/>
              </a:stretch>
            </a:blipFill>
          </p:spPr>
          <p:txBody>
            <a:bodyPr/>
            <a:p/>
          </p:txBody>
        </p:sp>
      </p:grpSp>
      <p:grpSp>
        <p:nvGrpSpPr>
          <p:cNvPr name="Group 103" id="103"/>
          <p:cNvGrpSpPr/>
          <p:nvPr/>
        </p:nvGrpSpPr>
        <p:grpSpPr>
          <a:xfrm rot="0">
            <a:off x="14333220" y="4640866"/>
            <a:ext cx="2880360" cy="735806"/>
            <a:chOff x="0" y="0"/>
            <a:chExt cx="3840480" cy="981075"/>
          </a:xfrm>
        </p:grpSpPr>
        <p:sp>
          <p:nvSpPr>
            <p:cNvPr name="Freeform 104" id="104"/>
            <p:cNvSpPr/>
            <p:nvPr/>
          </p:nvSpPr>
          <p:spPr>
            <a:xfrm flipH="false" flipV="false" rot="0">
              <a:off x="0" y="0"/>
              <a:ext cx="3840480" cy="981075"/>
            </a:xfrm>
            <a:custGeom>
              <a:avLst/>
              <a:gdLst/>
              <a:ahLst/>
              <a:cxnLst/>
              <a:rect r="r" b="b" t="t" l="l"/>
              <a:pathLst>
                <a:path h="981075" w="3840480">
                  <a:moveTo>
                    <a:pt x="0" y="0"/>
                  </a:moveTo>
                  <a:lnTo>
                    <a:pt x="3840480" y="0"/>
                  </a:lnTo>
                  <a:lnTo>
                    <a:pt x="3840480" y="981075"/>
                  </a:lnTo>
                  <a:lnTo>
                    <a:pt x="0" y="981075"/>
                  </a:lnTo>
                  <a:close/>
                </a:path>
              </a:pathLst>
            </a:custGeom>
            <a:blipFill>
              <a:blip r:embed="rId5">
                <a:alphaModFix amt="0"/>
              </a:blip>
              <a:stretch>
                <a:fillRect l="0" t="-26222" r="0" b="-26222"/>
              </a:stretch>
            </a:blipFill>
          </p:spPr>
          <p:txBody>
            <a:bodyPr/>
            <a:p/>
          </p:txBody>
        </p:sp>
      </p:grpSp>
      <p:grpSp>
        <p:nvGrpSpPr>
          <p:cNvPr name="Group 105" id="105"/>
          <p:cNvGrpSpPr/>
          <p:nvPr/>
        </p:nvGrpSpPr>
        <p:grpSpPr>
          <a:xfrm rot="0">
            <a:off x="14333220" y="4590860"/>
            <a:ext cx="2880360" cy="785812"/>
            <a:chOff x="0" y="0"/>
            <a:chExt cx="3840480" cy="1047750"/>
          </a:xfrm>
        </p:grpSpPr>
        <p:sp>
          <p:nvSpPr>
            <p:cNvPr name="Freeform 106" id="106"/>
            <p:cNvSpPr/>
            <p:nvPr/>
          </p:nvSpPr>
          <p:spPr>
            <a:xfrm flipH="false" flipV="false" rot="0">
              <a:off x="0" y="0"/>
              <a:ext cx="3840480" cy="1047750"/>
            </a:xfrm>
            <a:custGeom>
              <a:avLst/>
              <a:gdLst/>
              <a:ahLst/>
              <a:cxnLst/>
              <a:rect r="r" b="b" t="t" l="l"/>
              <a:pathLst>
                <a:path h="1047750" w="3840480">
                  <a:moveTo>
                    <a:pt x="0" y="0"/>
                  </a:moveTo>
                  <a:lnTo>
                    <a:pt x="3840480" y="0"/>
                  </a:lnTo>
                  <a:lnTo>
                    <a:pt x="3840480" y="1047750"/>
                  </a:lnTo>
                  <a:lnTo>
                    <a:pt x="0" y="1047750"/>
                  </a:lnTo>
                  <a:close/>
                </a:path>
              </a:pathLst>
            </a:custGeom>
            <a:blipFill>
              <a:blip r:embed="rId6">
                <a:alphaModFix amt="0"/>
              </a:blip>
              <a:stretch>
                <a:fillRect l="0" t="-21421" r="0" b="-21421"/>
              </a:stretch>
            </a:blipFill>
          </p:spPr>
          <p:txBody>
            <a:bodyPr/>
            <a:p/>
          </p:txBody>
        </p:sp>
        <p:sp>
          <p:nvSpPr>
            <p:cNvPr name="TextBox 107" id="107"/>
            <p:cNvSpPr txBox="true"/>
            <p:nvPr/>
          </p:nvSpPr>
          <p:spPr>
            <a:xfrm>
              <a:off x="0" y="-66675"/>
              <a:ext cx="3840480" cy="1114425"/>
            </a:xfrm>
            <a:prstGeom prst="rect">
              <a:avLst/>
            </a:prstGeom>
          </p:spPr>
          <p:txBody>
            <a:bodyPr anchor="ctr" rtlCol="false" tIns="0" lIns="0" bIns="0" rIns="0"/>
            <a:lstStyle/>
            <a:p>
              <a:pPr algn="l">
                <a:lnSpc>
                  <a:spcPts val="3960"/>
                </a:lnSpc>
              </a:pPr>
              <a:r>
                <a:rPr lang="en-US" sz="3300" b="true">
                  <a:solidFill>
                    <a:srgbClr val="0B5E6E"/>
                  </a:solidFill>
                  <a:latin typeface="Calibri (MS) Bold"/>
                  <a:ea typeface="Calibri (MS) Bold"/>
                  <a:cs typeface="Calibri (MS) Bold"/>
                  <a:sym typeface="Calibri (MS) Bold"/>
                </a:rPr>
                <a:t>37,4 vs 0,96</a:t>
              </a:r>
            </a:p>
          </p:txBody>
        </p:sp>
      </p:grpSp>
      <p:sp>
        <p:nvSpPr>
          <p:cNvPr name="TextBox 108" id="108"/>
          <p:cNvSpPr txBox="true"/>
          <p:nvPr/>
        </p:nvSpPr>
        <p:spPr>
          <a:xfrm rot="0">
            <a:off x="14333220" y="5318379"/>
            <a:ext cx="2880360" cy="1251585"/>
          </a:xfrm>
          <a:prstGeom prst="rect">
            <a:avLst/>
          </a:prstGeom>
        </p:spPr>
        <p:txBody>
          <a:bodyPr anchor="t" rtlCol="false" tIns="0" lIns="0" bIns="0" rIns="0">
            <a:spAutoFit/>
          </a:bodyPr>
          <a:lstStyle/>
          <a:p>
            <a:pPr algn="l">
              <a:lnSpc>
                <a:spcPts val="1980"/>
              </a:lnSpc>
            </a:pPr>
            <a:r>
              <a:rPr lang="en-US" sz="1650">
                <a:solidFill>
                  <a:srgbClr val="14313B"/>
                </a:solidFill>
                <a:latin typeface="Calibri (MS)"/>
                <a:ea typeface="Calibri (MS)"/>
                <a:cs typeface="Calibri (MS)"/>
                <a:sym typeface="Calibri (MS)"/>
              </a:rPr>
              <a:t>NTL Malioboro–Keraton vs TN Gunung Merapi (validasi spasial)</a:t>
            </a:r>
          </a:p>
        </p:txBody>
      </p:sp>
      <p:sp>
        <p:nvSpPr>
          <p:cNvPr name="TextBox 109" id="109"/>
          <p:cNvSpPr txBox="true"/>
          <p:nvPr/>
        </p:nvSpPr>
        <p:spPr>
          <a:xfrm rot="0">
            <a:off x="10698480" y="6812280"/>
            <a:ext cx="6761988" cy="2446020"/>
          </a:xfrm>
          <a:prstGeom prst="rect">
            <a:avLst/>
          </a:prstGeom>
        </p:spPr>
        <p:txBody>
          <a:bodyPr anchor="t" rtlCol="false" tIns="0" lIns="0" bIns="0" rIns="0">
            <a:spAutoFit/>
          </a:bodyPr>
          <a:lstStyle/>
          <a:p>
            <a:pPr algn="l" marL="470537" indent="-117634" lvl="3">
              <a:lnSpc>
                <a:spcPts val="2160"/>
              </a:lnSpc>
              <a:buFont typeface="Arial"/>
              <a:buChar char="￭"/>
            </a:pPr>
            <a:r>
              <a:rPr lang="en-US" sz="1800">
                <a:solidFill>
                  <a:srgbClr val="14313B"/>
                </a:solidFill>
                <a:latin typeface="Calibri (MS)"/>
                <a:ea typeface="Calibri (MS)"/>
                <a:cs typeface="Calibri (MS)"/>
                <a:sym typeface="Calibri (MS)"/>
              </a:rPr>
              <a:t>Perbedaan arah NTL–ODTW terbesar pada 2021–2022 dan 2023–2024, sama dengan tahun error LOOCV terbesar</a:t>
            </a:r>
          </a:p>
          <a:p>
            <a:pPr algn="l" marL="470537" indent="-117634" lvl="3">
              <a:lnSpc>
                <a:spcPts val="2160"/>
              </a:lnSpc>
              <a:buFont typeface="Arial"/>
              <a:buChar char="￭"/>
            </a:pPr>
            <a:r>
              <a:rPr lang="en-US" sz="1800">
                <a:solidFill>
                  <a:srgbClr val="14313B"/>
                </a:solidFill>
                <a:latin typeface="Calibri (MS)"/>
                <a:ea typeface="Calibri (MS)"/>
                <a:cs typeface="Calibri (MS)"/>
                <a:sym typeface="Calibri (MS)"/>
              </a:rPr>
              <a:t>Estimasi 2025 turun dari 218 (2024) → sensitivitas diuji pada 189–218 unit</a:t>
            </a:r>
          </a:p>
          <a:p>
            <a:pPr algn="l" marL="470537" indent="-117634" lvl="3">
              <a:lnSpc>
                <a:spcPts val="2160"/>
              </a:lnSpc>
              <a:buFont typeface="Arial"/>
              <a:buChar char="￭"/>
            </a:pPr>
            <a:r>
              <a:rPr lang="en-US" sz="1800">
                <a:solidFill>
                  <a:srgbClr val="14313B"/>
                </a:solidFill>
                <a:latin typeface="Calibri (MS)"/>
                <a:ea typeface="Calibri (MS)"/>
                <a:cs typeface="Calibri (MS)"/>
                <a:sym typeface="Calibri (MS)"/>
              </a:rPr>
              <a:t>Kurang tajam membedakan industri tahap awal dan wisata skala kecil (Sentolo 1,16 vs Pantai Baron 1,69)</a:t>
            </a:r>
          </a:p>
        </p:txBody>
      </p:sp>
      <p:sp>
        <p:nvSpPr>
          <p:cNvPr name="TextBox 110" id="110"/>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27</a:t>
            </a:r>
          </a:p>
        </p:txBody>
      </p:sp>
      <p:grpSp>
        <p:nvGrpSpPr>
          <p:cNvPr name="Group 111" id="111"/>
          <p:cNvGrpSpPr/>
          <p:nvPr/>
        </p:nvGrpSpPr>
        <p:grpSpPr>
          <a:xfrm rot="0">
            <a:off x="12755880" y="274320"/>
            <a:ext cx="3931920" cy="411480"/>
            <a:chOff x="0" y="0"/>
            <a:chExt cx="5242560" cy="548640"/>
          </a:xfrm>
        </p:grpSpPr>
        <p:sp>
          <p:nvSpPr>
            <p:cNvPr name="Freeform 112" id="112"/>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13" id="113"/>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2A · Integrasi citra satelit</a:t>
              </a:r>
            </a:p>
          </p:txBody>
        </p:sp>
      </p:grpSp>
      <p:grpSp>
        <p:nvGrpSpPr>
          <p:cNvPr name="Group 114" id="114"/>
          <p:cNvGrpSpPr/>
          <p:nvPr/>
        </p:nvGrpSpPr>
        <p:grpSpPr>
          <a:xfrm rot="0">
            <a:off x="16047720" y="9646920"/>
            <a:ext cx="420624" cy="420624"/>
            <a:chOff x="0" y="0"/>
            <a:chExt cx="560832" cy="560832"/>
          </a:xfrm>
        </p:grpSpPr>
        <p:sp>
          <p:nvSpPr>
            <p:cNvPr name="Freeform 115" id="115"/>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16" id="116"/>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2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Estimasi ODTW — Validasi Temporal dan Spasial</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NTL mengisi data ODTW 2015–2017 dan 2025, dan konsisten secara spasial</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28</a:t>
            </a:r>
          </a:p>
        </p:txBody>
      </p:sp>
      <p:grpSp>
        <p:nvGrpSpPr>
          <p:cNvPr name="Group 67" id="67"/>
          <p:cNvGrpSpPr/>
          <p:nvPr/>
        </p:nvGrpSpPr>
        <p:grpSpPr>
          <a:xfrm rot="0">
            <a:off x="12755880" y="274320"/>
            <a:ext cx="3931920" cy="411480"/>
            <a:chOff x="0" y="0"/>
            <a:chExt cx="5242560" cy="548640"/>
          </a:xfrm>
        </p:grpSpPr>
        <p:sp>
          <p:nvSpPr>
            <p:cNvPr name="Freeform 68" id="68"/>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69" id="69"/>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2A · Integrasi citra satelit</a:t>
              </a:r>
            </a:p>
          </p:txBody>
        </p:sp>
      </p:grpSp>
      <p:sp>
        <p:nvSpPr>
          <p:cNvPr name="TextBox 70" id="70"/>
          <p:cNvSpPr txBox="true"/>
          <p:nvPr/>
        </p:nvSpPr>
        <p:spPr>
          <a:xfrm rot="0">
            <a:off x="822960" y="2192655"/>
            <a:ext cx="7315200" cy="504825"/>
          </a:xfrm>
          <a:prstGeom prst="rect">
            <a:avLst/>
          </a:prstGeom>
        </p:spPr>
        <p:txBody>
          <a:bodyPr anchor="t" rtlCol="false" tIns="0" lIns="0" bIns="0" rIns="0">
            <a:spAutoFit/>
          </a:bodyPr>
          <a:lstStyle/>
          <a:p>
            <a:pPr algn="l">
              <a:lnSpc>
                <a:spcPts val="2206"/>
              </a:lnSpc>
            </a:pPr>
            <a:r>
              <a:rPr lang="en-US" sz="1839" b="true">
                <a:solidFill>
                  <a:srgbClr val="0B5E6E"/>
                </a:solidFill>
                <a:latin typeface="Calibri (MS) Bold"/>
                <a:ea typeface="Calibri (MS) Bold"/>
                <a:cs typeface="Calibri (MS) Bold"/>
                <a:sym typeface="Calibri (MS) Bold"/>
              </a:rPr>
              <a:t>Estimasi pada tahun tanpa data BPS</a:t>
            </a:r>
          </a:p>
        </p:txBody>
      </p:sp>
      <p:graphicFrame>
        <p:nvGraphicFramePr>
          <p:cNvPr name="Table 71" id="71"/>
          <p:cNvGraphicFramePr>
            <a:graphicFrameLocks noGrp="true"/>
          </p:cNvGraphicFramePr>
          <p:nvPr/>
        </p:nvGraphicFramePr>
        <p:xfrm>
          <a:off x="822960" y="2743200"/>
          <a:ext cx="7302500" cy="2286000"/>
        </p:xfrm>
        <a:graphic>
          <a:graphicData uri="http://schemas.openxmlformats.org/drawingml/2006/table">
            <a:tbl>
              <a:tblPr/>
              <a:tblGrid>
                <a:gridCol w="1318507"/>
                <a:gridCol w="1318507"/>
                <a:gridCol w="1622778"/>
                <a:gridCol w="3042708"/>
              </a:tblGrid>
              <a:tr h="457200">
                <a:tc>
                  <a:txBody>
                    <a:bodyPr anchor="t" rtlCol="false"/>
                    <a:lstStyle/>
                    <a:p>
                      <a:pPr algn="l">
                        <a:lnSpc>
                          <a:spcPts val="1932"/>
                        </a:lnSpc>
                        <a:defRPr/>
                      </a:pPr>
                      <a:r>
                        <a:rPr lang="en-US" sz="1610" b="true">
                          <a:solidFill>
                            <a:srgbClr val="FFFFFF"/>
                          </a:solidFill>
                          <a:latin typeface="Calibri (MS) Bold"/>
                          <a:ea typeface="Calibri (MS) Bold"/>
                          <a:cs typeface="Calibri (MS) Bold"/>
                          <a:sym typeface="Calibri (MS) Bold"/>
                        </a:rPr>
                        <a:t>Tahun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932"/>
                        </a:lnSpc>
                        <a:defRPr/>
                      </a:pPr>
                      <a:r>
                        <a:rPr lang="en-US" sz="1610" b="true">
                          <a:solidFill>
                            <a:srgbClr val="FFFFFF"/>
                          </a:solidFill>
                          <a:latin typeface="Calibri (MS) Bold"/>
                          <a:ea typeface="Calibri (MS) Bold"/>
                          <a:cs typeface="Calibri (MS) Bold"/>
                          <a:sym typeface="Calibri (MS) Bold"/>
                        </a:rPr>
                        <a:t>NTL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932"/>
                        </a:lnSpc>
                        <a:defRPr/>
                      </a:pPr>
                      <a:r>
                        <a:rPr lang="en-US" sz="1610" b="true">
                          <a:solidFill>
                            <a:srgbClr val="FFFFFF"/>
                          </a:solidFill>
                          <a:latin typeface="Calibri (MS) Bold"/>
                          <a:ea typeface="Calibri (MS) Bold"/>
                          <a:cs typeface="Calibri (MS) Bold"/>
                          <a:sym typeface="Calibri (MS) Bold"/>
                        </a:rPr>
                        <a:t>Estimasi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932"/>
                        </a:lnSpc>
                        <a:defRPr/>
                      </a:pPr>
                      <a:r>
                        <a:rPr lang="en-US" sz="1610" b="true">
                          <a:solidFill>
                            <a:srgbClr val="FFFFFF"/>
                          </a:solidFill>
                          <a:latin typeface="Calibri (MS) Bold"/>
                          <a:ea typeface="Calibri (MS) Bold"/>
                          <a:cs typeface="Calibri (MS) Bold"/>
                          <a:sym typeface="Calibri (MS) Bold"/>
                        </a:rPr>
                        <a:t>Selang prediksi 95%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r>
              <a:tr h="457200">
                <a:tc>
                  <a:txBody>
                    <a:bodyPr anchor="t" rtlCol="false"/>
                    <a:lstStyle/>
                    <a:p>
                      <a:pPr algn="l">
                        <a:lnSpc>
                          <a:spcPts val="1932"/>
                        </a:lnSpc>
                        <a:defRPr/>
                      </a:pPr>
                      <a:r>
                        <a:rPr lang="en-US" sz="1610">
                          <a:solidFill>
                            <a:srgbClr val="14313B"/>
                          </a:solidFill>
                          <a:latin typeface="Calibri (MS)"/>
                          <a:ea typeface="Calibri (MS)"/>
                          <a:cs typeface="Calibri (MS)"/>
                          <a:sym typeface="Calibri (MS)"/>
                        </a:rPr>
                        <a:t>2015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1,262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165,2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138,5 – 191,9</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457200">
                <a:tc>
                  <a:txBody>
                    <a:bodyPr anchor="t" rtlCol="false"/>
                    <a:lstStyle/>
                    <a:p>
                      <a:pPr algn="l">
                        <a:lnSpc>
                          <a:spcPts val="1932"/>
                        </a:lnSpc>
                        <a:defRPr/>
                      </a:pPr>
                      <a:r>
                        <a:rPr lang="en-US" sz="1610">
                          <a:solidFill>
                            <a:srgbClr val="14313B"/>
                          </a:solidFill>
                          <a:latin typeface="Calibri (MS)"/>
                          <a:ea typeface="Calibri (MS)"/>
                          <a:cs typeface="Calibri (MS)"/>
                          <a:sym typeface="Calibri (MS)"/>
                        </a:rPr>
                        <a:t>2016</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1,054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158,1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128,9 – 187,3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457200">
                <a:tc>
                  <a:txBody>
                    <a:bodyPr anchor="t" rtlCol="false"/>
                    <a:lstStyle/>
                    <a:p>
                      <a:pPr algn="l">
                        <a:lnSpc>
                          <a:spcPts val="1932"/>
                        </a:lnSpc>
                        <a:defRPr/>
                      </a:pPr>
                      <a:r>
                        <a:rPr lang="en-US" sz="1610">
                          <a:solidFill>
                            <a:srgbClr val="14313B"/>
                          </a:solidFill>
                          <a:latin typeface="Calibri (MS)"/>
                          <a:ea typeface="Calibri (MS)"/>
                          <a:cs typeface="Calibri (MS)"/>
                          <a:sym typeface="Calibri (MS)"/>
                        </a:rPr>
                        <a:t>2017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1,438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171,4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146,4 – 196,3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457200">
                <a:tc>
                  <a:txBody>
                    <a:bodyPr anchor="t" rtlCol="false"/>
                    <a:lstStyle/>
                    <a:p>
                      <a:pPr algn="l">
                        <a:lnSpc>
                          <a:spcPts val="1932"/>
                        </a:lnSpc>
                        <a:defRPr/>
                      </a:pPr>
                      <a:r>
                        <a:rPr lang="en-US" sz="1610">
                          <a:solidFill>
                            <a:srgbClr val="14313B"/>
                          </a:solidFill>
                          <a:latin typeface="Calibri (MS)"/>
                          <a:ea typeface="Calibri (MS)"/>
                          <a:cs typeface="Calibri (MS)"/>
                          <a:sym typeface="Calibri (MS)"/>
                        </a:rPr>
                        <a:t>2025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2,288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200,7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1B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176,7 – 224,8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bl>
          </a:graphicData>
        </a:graphic>
      </p:graphicFrame>
      <p:grpSp>
        <p:nvGrpSpPr>
          <p:cNvPr name="Group 72" id="72"/>
          <p:cNvGrpSpPr/>
          <p:nvPr/>
        </p:nvGrpSpPr>
        <p:grpSpPr>
          <a:xfrm rot="0">
            <a:off x="816607" y="5205727"/>
            <a:ext cx="7327897" cy="3075937"/>
            <a:chOff x="0" y="0"/>
            <a:chExt cx="9770529" cy="4101249"/>
          </a:xfrm>
        </p:grpSpPr>
        <p:sp>
          <p:nvSpPr>
            <p:cNvPr name="Freeform 73" id="73"/>
            <p:cNvSpPr/>
            <p:nvPr/>
          </p:nvSpPr>
          <p:spPr>
            <a:xfrm flipH="false" flipV="false" rot="0">
              <a:off x="0" y="0"/>
              <a:ext cx="9770491" cy="4101211"/>
            </a:xfrm>
            <a:custGeom>
              <a:avLst/>
              <a:gdLst/>
              <a:ahLst/>
              <a:cxnLst/>
              <a:rect r="r" b="b" t="t" l="l"/>
              <a:pathLst>
                <a:path h="4101211" w="9770491">
                  <a:moveTo>
                    <a:pt x="0" y="328041"/>
                  </a:moveTo>
                  <a:cubicBezTo>
                    <a:pt x="0" y="146939"/>
                    <a:pt x="146939" y="0"/>
                    <a:pt x="328041" y="0"/>
                  </a:cubicBezTo>
                  <a:lnTo>
                    <a:pt x="9442450" y="0"/>
                  </a:lnTo>
                  <a:cubicBezTo>
                    <a:pt x="9623679" y="0"/>
                    <a:pt x="9770491" y="146939"/>
                    <a:pt x="9770491" y="328041"/>
                  </a:cubicBezTo>
                  <a:lnTo>
                    <a:pt x="9770491" y="3773170"/>
                  </a:lnTo>
                  <a:cubicBezTo>
                    <a:pt x="9770491" y="3954399"/>
                    <a:pt x="9623552" y="4101211"/>
                    <a:pt x="9442450" y="4101211"/>
                  </a:cubicBezTo>
                  <a:lnTo>
                    <a:pt x="328041" y="4101211"/>
                  </a:lnTo>
                  <a:cubicBezTo>
                    <a:pt x="146939" y="4101211"/>
                    <a:pt x="0" y="3954399"/>
                    <a:pt x="0" y="3773170"/>
                  </a:cubicBezTo>
                  <a:close/>
                </a:path>
              </a:pathLst>
            </a:custGeom>
            <a:solidFill>
              <a:srgbClr val="EAF8FA"/>
            </a:solidFill>
            <a:ln w="12700" cap="sq">
              <a:solidFill>
                <a:srgbClr val="CFE5E9"/>
              </a:solidFill>
              <a:prstDash val="solid"/>
              <a:miter/>
            </a:ln>
          </p:spPr>
          <p:txBody>
            <a:bodyPr/>
            <a:p/>
          </p:txBody>
        </p:sp>
        <p:sp>
          <p:nvSpPr>
            <p:cNvPr name="TextBox 74" id="74"/>
            <p:cNvSpPr txBox="true"/>
            <p:nvPr/>
          </p:nvSpPr>
          <p:spPr>
            <a:xfrm>
              <a:off x="0" y="-38100"/>
              <a:ext cx="9770529" cy="4139349"/>
            </a:xfrm>
            <a:prstGeom prst="rect">
              <a:avLst/>
            </a:prstGeom>
          </p:spPr>
          <p:txBody>
            <a:bodyPr anchor="t" rtlCol="false" tIns="50800" lIns="50800" bIns="50800" rIns="50800"/>
            <a:lstStyle/>
            <a:p>
              <a:pPr algn="l">
                <a:lnSpc>
                  <a:spcPts val="2004"/>
                </a:lnSpc>
              </a:pPr>
              <a:r>
                <a:rPr lang="en-US" sz="1670" b="true">
                  <a:solidFill>
                    <a:srgbClr val="0B5E6E"/>
                  </a:solidFill>
                  <a:latin typeface="Calibri (MS) Bold"/>
                  <a:ea typeface="Calibri (MS) Bold"/>
                  <a:cs typeface="Calibri (MS) Bold"/>
                  <a:sym typeface="Calibri (MS) Bold"/>
                </a:rPr>
                <a:t>• 2025 = 201 unit </a:t>
              </a:r>
              <a:r>
                <a:rPr lang="en-US" sz="1670">
                  <a:solidFill>
                    <a:srgbClr val="14313B"/>
                  </a:solidFill>
                  <a:latin typeface="Calibri (MS)"/>
                  <a:ea typeface="Calibri (MS)"/>
                  <a:cs typeface="Calibri (MS)"/>
                  <a:sym typeface="Calibri (MS)"/>
                </a:rPr>
                <a:t>→ stok awal &amp; ODTW Referensi; turun dari 218 (2024) sehingga diuji sensitivitas 189–218.</a:t>
              </a:r>
            </a:p>
            <a:p>
              <a:pPr algn="l">
                <a:lnSpc>
                  <a:spcPts val="2004"/>
                </a:lnSpc>
              </a:pPr>
              <a:r>
                <a:rPr lang="en-US" sz="1670" b="true">
                  <a:solidFill>
                    <a:srgbClr val="0B5E6E"/>
                  </a:solidFill>
                  <a:latin typeface="Calibri (MS) Bold"/>
                  <a:ea typeface="Calibri (MS) Bold"/>
                  <a:cs typeface="Calibri (MS) Bold"/>
                  <a:sym typeface="Calibri (MS) Bold"/>
                </a:rPr>
                <a:t>• 2016 selang terlebar (≈58 unit) </a:t>
              </a:r>
              <a:r>
                <a:rPr lang="en-US" sz="1670">
                  <a:solidFill>
                    <a:srgbClr val="14313B"/>
                  </a:solidFill>
                  <a:latin typeface="Calibri (MS)"/>
                  <a:ea typeface="Calibri (MS)"/>
                  <a:cs typeface="Calibri (MS)"/>
                  <a:sym typeface="Calibri (MS)"/>
                </a:rPr>
                <a:t>karena NTL 1,054 di luar rentang data latih 1,483–2,512.</a:t>
              </a:r>
            </a:p>
            <a:p>
              <a:pPr algn="l">
                <a:lnSpc>
                  <a:spcPts val="2004"/>
                </a:lnSpc>
              </a:pPr>
              <a:r>
                <a:rPr lang="en-US" sz="1670" b="true">
                  <a:solidFill>
                    <a:srgbClr val="0B5E6E"/>
                  </a:solidFill>
                  <a:latin typeface="Calibri (MS) Bold"/>
                  <a:ea typeface="Calibri (MS) Bold"/>
                  <a:cs typeface="Calibri (MS) Bold"/>
                  <a:sym typeface="Calibri (MS) Bold"/>
                </a:rPr>
                <a:t>• Validasi spasial (NTL 2025, buffer 300 m): </a:t>
              </a:r>
              <a:r>
                <a:rPr lang="en-US" sz="1670">
                  <a:solidFill>
                    <a:srgbClr val="14313B"/>
                  </a:solidFill>
                  <a:latin typeface="Calibri (MS)"/>
                  <a:ea typeface="Calibri (MS)"/>
                  <a:cs typeface="Calibri (MS)"/>
                  <a:sym typeface="Calibri (MS)"/>
                </a:rPr>
                <a:t>Malioboro–Keraton 37,376 · Kotagede 12,631 · Pantai Baron 1,692 · Sentolo 1,161 · TN Merapi 0,959.</a:t>
              </a:r>
            </a:p>
          </p:txBody>
        </p:sp>
      </p:grpSp>
      <p:grpSp>
        <p:nvGrpSpPr>
          <p:cNvPr name="Group 75" id="75"/>
          <p:cNvGrpSpPr/>
          <p:nvPr/>
        </p:nvGrpSpPr>
        <p:grpSpPr>
          <a:xfrm rot="0">
            <a:off x="9029700" y="2240280"/>
            <a:ext cx="7909560" cy="6035040"/>
            <a:chOff x="0" y="0"/>
            <a:chExt cx="10546080" cy="8046720"/>
          </a:xfrm>
        </p:grpSpPr>
        <p:sp>
          <p:nvSpPr>
            <p:cNvPr name="Freeform 76" id="76" descr="image14.png"/>
            <p:cNvSpPr/>
            <p:nvPr/>
          </p:nvSpPr>
          <p:spPr>
            <a:xfrm flipH="false" flipV="false" rot="0">
              <a:off x="0" y="0"/>
              <a:ext cx="10546080" cy="8046720"/>
            </a:xfrm>
            <a:custGeom>
              <a:avLst/>
              <a:gdLst/>
              <a:ahLst/>
              <a:cxnLst/>
              <a:rect r="r" b="b" t="t" l="l"/>
              <a:pathLst>
                <a:path h="8046720" w="10546080">
                  <a:moveTo>
                    <a:pt x="0" y="0"/>
                  </a:moveTo>
                  <a:lnTo>
                    <a:pt x="10546080" y="0"/>
                  </a:lnTo>
                  <a:lnTo>
                    <a:pt x="10546080" y="8046720"/>
                  </a:lnTo>
                  <a:lnTo>
                    <a:pt x="0" y="8046720"/>
                  </a:lnTo>
                  <a:lnTo>
                    <a:pt x="0" y="0"/>
                  </a:lnTo>
                  <a:close/>
                </a:path>
              </a:pathLst>
            </a:custGeom>
            <a:blipFill>
              <a:blip r:embed="rId7"/>
              <a:stretch>
                <a:fillRect l="0" t="0" r="0" b="0"/>
              </a:stretch>
            </a:blipFill>
          </p:spPr>
          <p:txBody>
            <a:bodyPr/>
            <a:p/>
          </p:txBody>
        </p:sp>
      </p:grpSp>
      <p:grpSp>
        <p:nvGrpSpPr>
          <p:cNvPr name="Group 77" id="77"/>
          <p:cNvGrpSpPr/>
          <p:nvPr/>
        </p:nvGrpSpPr>
        <p:grpSpPr>
          <a:xfrm rot="0">
            <a:off x="816607" y="8406127"/>
            <a:ext cx="16654777" cy="789937"/>
            <a:chOff x="0" y="0"/>
            <a:chExt cx="22206369" cy="1053249"/>
          </a:xfrm>
        </p:grpSpPr>
        <p:sp>
          <p:nvSpPr>
            <p:cNvPr name="Freeform 78" id="78"/>
            <p:cNvSpPr/>
            <p:nvPr/>
          </p:nvSpPr>
          <p:spPr>
            <a:xfrm flipH="false" flipV="false" rot="0">
              <a:off x="0" y="0"/>
              <a:ext cx="22206331" cy="1053211"/>
            </a:xfrm>
            <a:custGeom>
              <a:avLst/>
              <a:gdLst/>
              <a:ahLst/>
              <a:cxnLst/>
              <a:rect r="r" b="b" t="t" l="l"/>
              <a:pathLst>
                <a:path h="1053211" w="22206331">
                  <a:moveTo>
                    <a:pt x="0" y="84201"/>
                  </a:moveTo>
                  <a:cubicBezTo>
                    <a:pt x="0" y="37719"/>
                    <a:pt x="37719" y="0"/>
                    <a:pt x="84201" y="0"/>
                  </a:cubicBezTo>
                  <a:lnTo>
                    <a:pt x="22122130" y="0"/>
                  </a:lnTo>
                  <a:cubicBezTo>
                    <a:pt x="22168613" y="0"/>
                    <a:pt x="22206331" y="37719"/>
                    <a:pt x="22206331" y="84201"/>
                  </a:cubicBezTo>
                  <a:lnTo>
                    <a:pt x="22206331" y="969010"/>
                  </a:lnTo>
                  <a:cubicBezTo>
                    <a:pt x="22206331" y="1015492"/>
                    <a:pt x="22168613" y="1053211"/>
                    <a:pt x="22122130" y="1053211"/>
                  </a:cubicBezTo>
                  <a:lnTo>
                    <a:pt x="84201" y="1053211"/>
                  </a:lnTo>
                  <a:cubicBezTo>
                    <a:pt x="37719" y="1053211"/>
                    <a:pt x="0" y="1015492"/>
                    <a:pt x="0" y="969010"/>
                  </a:cubicBezTo>
                  <a:close/>
                </a:path>
              </a:pathLst>
            </a:custGeom>
            <a:solidFill>
              <a:srgbClr val="FFF1BF"/>
            </a:solidFill>
            <a:ln w="12700" cap="sq">
              <a:solidFill>
                <a:srgbClr val="FFD23B"/>
              </a:solidFill>
              <a:prstDash val="solid"/>
              <a:miter/>
            </a:ln>
          </p:spPr>
          <p:txBody>
            <a:bodyPr/>
            <a:p/>
          </p:txBody>
        </p:sp>
        <p:sp>
          <p:nvSpPr>
            <p:cNvPr name="TextBox 79" id="79"/>
            <p:cNvSpPr txBox="true"/>
            <p:nvPr/>
          </p:nvSpPr>
          <p:spPr>
            <a:xfrm>
              <a:off x="0" y="-38100"/>
              <a:ext cx="22206369" cy="109134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NTL peka membedakan kawasan padat/aktif dari kawasan minim aktivitas, tetapi kurang tajam untuk aktivitas skala kecil (Sentolo vs Pantai Baron).</a:t>
              </a:r>
            </a:p>
          </p:txBody>
        </p:sp>
      </p:grpSp>
      <p:grpSp>
        <p:nvGrpSpPr>
          <p:cNvPr name="Group 80" id="80"/>
          <p:cNvGrpSpPr/>
          <p:nvPr/>
        </p:nvGrpSpPr>
        <p:grpSpPr>
          <a:xfrm rot="0">
            <a:off x="16047720" y="9646920"/>
            <a:ext cx="420624" cy="420624"/>
            <a:chOff x="0" y="0"/>
            <a:chExt cx="560832" cy="560832"/>
          </a:xfrm>
        </p:grpSpPr>
        <p:sp>
          <p:nvSpPr>
            <p:cNvPr name="Freeform 81" id="81"/>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82" id="82"/>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2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Estimasi Lahan Terbangun — Uji Akurasi</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Dynamic World akurat, tetapi data tahunannya mengandung noise</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pSp>
        <p:nvGrpSpPr>
          <p:cNvPr name="Group 66" id="66"/>
          <p:cNvGrpSpPr/>
          <p:nvPr/>
        </p:nvGrpSpPr>
        <p:grpSpPr>
          <a:xfrm rot="0">
            <a:off x="839353" y="2331720"/>
            <a:ext cx="9431274" cy="5897880"/>
            <a:chOff x="0" y="0"/>
            <a:chExt cx="12575032" cy="7863840"/>
          </a:xfrm>
        </p:grpSpPr>
        <p:sp>
          <p:nvSpPr>
            <p:cNvPr name="Freeform 67" id="67" descr="Perbandingan lahan terbangun Dynamic World dengan data BPS dan DLHK"/>
            <p:cNvSpPr/>
            <p:nvPr/>
          </p:nvSpPr>
          <p:spPr>
            <a:xfrm flipH="false" flipV="false" rot="0">
              <a:off x="0" y="0"/>
              <a:ext cx="12575032" cy="7863840"/>
            </a:xfrm>
            <a:custGeom>
              <a:avLst/>
              <a:gdLst/>
              <a:ahLst/>
              <a:cxnLst/>
              <a:rect r="r" b="b" t="t" l="l"/>
              <a:pathLst>
                <a:path h="7863840" w="12575032">
                  <a:moveTo>
                    <a:pt x="0" y="0"/>
                  </a:moveTo>
                  <a:lnTo>
                    <a:pt x="12575032" y="0"/>
                  </a:lnTo>
                  <a:lnTo>
                    <a:pt x="12575032" y="7863840"/>
                  </a:lnTo>
                  <a:lnTo>
                    <a:pt x="0" y="7863840"/>
                  </a:lnTo>
                  <a:lnTo>
                    <a:pt x="0" y="0"/>
                  </a:lnTo>
                  <a:close/>
                </a:path>
              </a:pathLst>
            </a:custGeom>
            <a:blipFill>
              <a:blip r:embed="rId7"/>
              <a:stretch>
                <a:fillRect l="0" t="0" r="0" b="0"/>
              </a:stretch>
            </a:blipFill>
          </p:spPr>
          <p:txBody>
            <a:bodyPr/>
            <a:p/>
          </p:txBody>
        </p:sp>
      </p:grpSp>
      <p:sp>
        <p:nvSpPr>
          <p:cNvPr name="TextBox 68" id="68"/>
          <p:cNvSpPr txBox="true"/>
          <p:nvPr/>
        </p:nvSpPr>
        <p:spPr>
          <a:xfrm rot="0">
            <a:off x="822960" y="8183880"/>
            <a:ext cx="9464040" cy="525780"/>
          </a:xfrm>
          <a:prstGeom prst="rect">
            <a:avLst/>
          </a:prstGeom>
        </p:spPr>
        <p:txBody>
          <a:bodyPr anchor="t" rtlCol="false" tIns="0" lIns="0" bIns="0" rIns="0">
            <a:spAutoFit/>
          </a:bodyPr>
          <a:lstStyle/>
          <a:p>
            <a:pPr algn="l">
              <a:lnSpc>
                <a:spcPts val="2070"/>
              </a:lnSpc>
            </a:pPr>
            <a:r>
              <a:rPr lang="en-US" sz="1725" i="true">
                <a:solidFill>
                  <a:srgbClr val="5E6E78"/>
                </a:solidFill>
                <a:latin typeface="Calibri (MS) Italics"/>
                <a:ea typeface="Calibri (MS) Italics"/>
                <a:cs typeface="Calibri (MS) Italics"/>
                <a:sym typeface="Calibri (MS) Italics"/>
              </a:rPr>
              <a:t>Lahan terbangun: Dynamic World vs data resmi BPS dan DLHK DIY, 2015–2019</a:t>
            </a:r>
          </a:p>
        </p:txBody>
      </p:sp>
      <p:grpSp>
        <p:nvGrpSpPr>
          <p:cNvPr name="Group 69" id="69"/>
          <p:cNvGrpSpPr/>
          <p:nvPr/>
        </p:nvGrpSpPr>
        <p:grpSpPr>
          <a:xfrm rot="0">
            <a:off x="10698480" y="2331720"/>
            <a:ext cx="3291840" cy="2057400"/>
            <a:chOff x="0" y="0"/>
            <a:chExt cx="4389120" cy="2743200"/>
          </a:xfrm>
        </p:grpSpPr>
        <p:sp>
          <p:nvSpPr>
            <p:cNvPr name="Freeform 70" id="70"/>
            <p:cNvSpPr/>
            <p:nvPr/>
          </p:nvSpPr>
          <p:spPr>
            <a:xfrm flipH="false" flipV="false" rot="0">
              <a:off x="0" y="0"/>
              <a:ext cx="4389120" cy="2743200"/>
            </a:xfrm>
            <a:custGeom>
              <a:avLst/>
              <a:gdLst/>
              <a:ahLst/>
              <a:cxnLst/>
              <a:rect r="r" b="b" t="t" l="l"/>
              <a:pathLst>
                <a:path h="2743200" w="4389120">
                  <a:moveTo>
                    <a:pt x="0" y="182880"/>
                  </a:moveTo>
                  <a:cubicBezTo>
                    <a:pt x="0" y="81915"/>
                    <a:pt x="81915" y="0"/>
                    <a:pt x="182880" y="0"/>
                  </a:cubicBezTo>
                  <a:lnTo>
                    <a:pt x="4206240" y="0"/>
                  </a:lnTo>
                  <a:cubicBezTo>
                    <a:pt x="4307205" y="0"/>
                    <a:pt x="4389120" y="81915"/>
                    <a:pt x="4389120" y="182880"/>
                  </a:cubicBezTo>
                  <a:lnTo>
                    <a:pt x="4389120" y="2560320"/>
                  </a:lnTo>
                  <a:cubicBezTo>
                    <a:pt x="4389120" y="2661285"/>
                    <a:pt x="4307205" y="2743200"/>
                    <a:pt x="4206240" y="2743200"/>
                  </a:cubicBezTo>
                  <a:lnTo>
                    <a:pt x="182880" y="2743200"/>
                  </a:lnTo>
                  <a:cubicBezTo>
                    <a:pt x="81915" y="2743200"/>
                    <a:pt x="0" y="2661285"/>
                    <a:pt x="0" y="2560320"/>
                  </a:cubicBezTo>
                  <a:close/>
                </a:path>
              </a:pathLst>
            </a:custGeom>
            <a:solidFill>
              <a:srgbClr val="EAF8FA"/>
            </a:solidFill>
          </p:spPr>
          <p:txBody>
            <a:bodyPr/>
            <a:p/>
          </p:txBody>
        </p:sp>
      </p:grpSp>
      <p:grpSp>
        <p:nvGrpSpPr>
          <p:cNvPr name="Group 71" id="71"/>
          <p:cNvGrpSpPr/>
          <p:nvPr/>
        </p:nvGrpSpPr>
        <p:grpSpPr>
          <a:xfrm rot="0">
            <a:off x="10904220" y="2468880"/>
            <a:ext cx="2880360" cy="685800"/>
            <a:chOff x="0" y="0"/>
            <a:chExt cx="3840480" cy="914400"/>
          </a:xfrm>
        </p:grpSpPr>
        <p:sp>
          <p:nvSpPr>
            <p:cNvPr name="Freeform 72" id="72"/>
            <p:cNvSpPr/>
            <p:nvPr/>
          </p:nvSpPr>
          <p:spPr>
            <a:xfrm flipH="false" flipV="false" rot="0">
              <a:off x="0" y="0"/>
              <a:ext cx="3840480" cy="914400"/>
            </a:xfrm>
            <a:custGeom>
              <a:avLst/>
              <a:gdLst/>
              <a:ahLst/>
              <a:cxnLst/>
              <a:rect r="r" b="b" t="t" l="l"/>
              <a:pathLst>
                <a:path h="914400" w="3840480">
                  <a:moveTo>
                    <a:pt x="0" y="0"/>
                  </a:moveTo>
                  <a:lnTo>
                    <a:pt x="3840480" y="0"/>
                  </a:lnTo>
                  <a:lnTo>
                    <a:pt x="3840480" y="914400"/>
                  </a:lnTo>
                  <a:lnTo>
                    <a:pt x="0" y="914400"/>
                  </a:lnTo>
                  <a:close/>
                </a:path>
              </a:pathLst>
            </a:custGeom>
            <a:blipFill>
              <a:blip r:embed="rId4">
                <a:alphaModFix amt="0"/>
              </a:blip>
              <a:stretch>
                <a:fillRect l="0" t="-31780" r="0" b="-31780"/>
              </a:stretch>
            </a:blipFill>
          </p:spPr>
          <p:txBody>
            <a:bodyPr/>
            <a:p/>
          </p:txBody>
        </p:sp>
      </p:grpSp>
      <p:grpSp>
        <p:nvGrpSpPr>
          <p:cNvPr name="Group 73" id="73"/>
          <p:cNvGrpSpPr/>
          <p:nvPr/>
        </p:nvGrpSpPr>
        <p:grpSpPr>
          <a:xfrm rot="0">
            <a:off x="10904220" y="2418874"/>
            <a:ext cx="2880360" cy="735806"/>
            <a:chOff x="0" y="0"/>
            <a:chExt cx="3840480" cy="981075"/>
          </a:xfrm>
        </p:grpSpPr>
        <p:sp>
          <p:nvSpPr>
            <p:cNvPr name="Freeform 74" id="74"/>
            <p:cNvSpPr/>
            <p:nvPr/>
          </p:nvSpPr>
          <p:spPr>
            <a:xfrm flipH="false" flipV="false" rot="0">
              <a:off x="0" y="0"/>
              <a:ext cx="3840480" cy="981075"/>
            </a:xfrm>
            <a:custGeom>
              <a:avLst/>
              <a:gdLst/>
              <a:ahLst/>
              <a:cxnLst/>
              <a:rect r="r" b="b" t="t" l="l"/>
              <a:pathLst>
                <a:path h="981075" w="3840480">
                  <a:moveTo>
                    <a:pt x="0" y="0"/>
                  </a:moveTo>
                  <a:lnTo>
                    <a:pt x="3840480" y="0"/>
                  </a:lnTo>
                  <a:lnTo>
                    <a:pt x="3840480" y="981075"/>
                  </a:lnTo>
                  <a:lnTo>
                    <a:pt x="0" y="981075"/>
                  </a:lnTo>
                  <a:close/>
                </a:path>
              </a:pathLst>
            </a:custGeom>
            <a:blipFill>
              <a:blip r:embed="rId5">
                <a:alphaModFix amt="0"/>
              </a:blip>
              <a:stretch>
                <a:fillRect l="0" t="-26222" r="0" b="-26222"/>
              </a:stretch>
            </a:blipFill>
          </p:spPr>
          <p:txBody>
            <a:bodyPr/>
            <a:p/>
          </p:txBody>
        </p:sp>
      </p:grpSp>
      <p:grpSp>
        <p:nvGrpSpPr>
          <p:cNvPr name="Group 75" id="75"/>
          <p:cNvGrpSpPr/>
          <p:nvPr/>
        </p:nvGrpSpPr>
        <p:grpSpPr>
          <a:xfrm rot="0">
            <a:off x="10904220" y="2368867"/>
            <a:ext cx="2880360" cy="785812"/>
            <a:chOff x="0" y="0"/>
            <a:chExt cx="3840480" cy="1047750"/>
          </a:xfrm>
        </p:grpSpPr>
        <p:sp>
          <p:nvSpPr>
            <p:cNvPr name="Freeform 76" id="76"/>
            <p:cNvSpPr/>
            <p:nvPr/>
          </p:nvSpPr>
          <p:spPr>
            <a:xfrm flipH="false" flipV="false" rot="0">
              <a:off x="0" y="0"/>
              <a:ext cx="3840480" cy="1047750"/>
            </a:xfrm>
            <a:custGeom>
              <a:avLst/>
              <a:gdLst/>
              <a:ahLst/>
              <a:cxnLst/>
              <a:rect r="r" b="b" t="t" l="l"/>
              <a:pathLst>
                <a:path h="1047750" w="3840480">
                  <a:moveTo>
                    <a:pt x="0" y="0"/>
                  </a:moveTo>
                  <a:lnTo>
                    <a:pt x="3840480" y="0"/>
                  </a:lnTo>
                  <a:lnTo>
                    <a:pt x="3840480" y="1047750"/>
                  </a:lnTo>
                  <a:lnTo>
                    <a:pt x="0" y="1047750"/>
                  </a:lnTo>
                  <a:close/>
                </a:path>
              </a:pathLst>
            </a:custGeom>
            <a:blipFill>
              <a:blip r:embed="rId6">
                <a:alphaModFix amt="0"/>
              </a:blip>
              <a:stretch>
                <a:fillRect l="0" t="-21421" r="0" b="-21421"/>
              </a:stretch>
            </a:blipFill>
          </p:spPr>
          <p:txBody>
            <a:bodyPr/>
            <a:p/>
          </p:txBody>
        </p:sp>
        <p:sp>
          <p:nvSpPr>
            <p:cNvPr name="TextBox 77" id="77"/>
            <p:cNvSpPr txBox="true"/>
            <p:nvPr/>
          </p:nvSpPr>
          <p:spPr>
            <a:xfrm>
              <a:off x="0" y="-66675"/>
              <a:ext cx="3840480" cy="1114425"/>
            </a:xfrm>
            <a:prstGeom prst="rect">
              <a:avLst/>
            </a:prstGeom>
          </p:spPr>
          <p:txBody>
            <a:bodyPr anchor="ctr" rtlCol="false" tIns="0" lIns="0" bIns="0" rIns="0"/>
            <a:lstStyle/>
            <a:p>
              <a:pPr algn="l">
                <a:lnSpc>
                  <a:spcPts val="4320"/>
                </a:lnSpc>
              </a:pPr>
              <a:r>
                <a:rPr lang="en-US" sz="3600" b="true">
                  <a:solidFill>
                    <a:srgbClr val="0B5E6E"/>
                  </a:solidFill>
                  <a:latin typeface="Calibri (MS) Bold"/>
                  <a:ea typeface="Calibri (MS) Bold"/>
                  <a:cs typeface="Calibri (MS) Bold"/>
                  <a:sym typeface="Calibri (MS) Bold"/>
                </a:rPr>
                <a:t>89,95%</a:t>
              </a:r>
            </a:p>
          </p:txBody>
        </p:sp>
      </p:grpSp>
      <p:sp>
        <p:nvSpPr>
          <p:cNvPr name="TextBox 78" id="78"/>
          <p:cNvSpPr txBox="true"/>
          <p:nvPr/>
        </p:nvSpPr>
        <p:spPr>
          <a:xfrm rot="0">
            <a:off x="10904220" y="3096387"/>
            <a:ext cx="2880360" cy="1251585"/>
          </a:xfrm>
          <a:prstGeom prst="rect">
            <a:avLst/>
          </a:prstGeom>
        </p:spPr>
        <p:txBody>
          <a:bodyPr anchor="t" rtlCol="false" tIns="0" lIns="0" bIns="0" rIns="0">
            <a:spAutoFit/>
          </a:bodyPr>
          <a:lstStyle/>
          <a:p>
            <a:pPr algn="l">
              <a:lnSpc>
                <a:spcPts val="1980"/>
              </a:lnSpc>
            </a:pPr>
            <a:r>
              <a:rPr lang="en-US" sz="1650">
                <a:solidFill>
                  <a:srgbClr val="14313B"/>
                </a:solidFill>
                <a:latin typeface="Calibri (MS)"/>
                <a:ea typeface="Calibri (MS)"/>
                <a:cs typeface="Calibri (MS)"/>
                <a:sym typeface="Calibri (MS)"/>
              </a:rPr>
              <a:t>akurasi keseluruhan terbobot luas (tak terbobot 80,50%)</a:t>
            </a:r>
          </a:p>
        </p:txBody>
      </p:sp>
      <p:grpSp>
        <p:nvGrpSpPr>
          <p:cNvPr name="Group 79" id="79"/>
          <p:cNvGrpSpPr/>
          <p:nvPr/>
        </p:nvGrpSpPr>
        <p:grpSpPr>
          <a:xfrm rot="0">
            <a:off x="14127480" y="2331720"/>
            <a:ext cx="3291840" cy="2057400"/>
            <a:chOff x="0" y="0"/>
            <a:chExt cx="4389120" cy="2743200"/>
          </a:xfrm>
        </p:grpSpPr>
        <p:sp>
          <p:nvSpPr>
            <p:cNvPr name="Freeform 80" id="80"/>
            <p:cNvSpPr/>
            <p:nvPr/>
          </p:nvSpPr>
          <p:spPr>
            <a:xfrm flipH="false" flipV="false" rot="0">
              <a:off x="0" y="0"/>
              <a:ext cx="4389120" cy="2743200"/>
            </a:xfrm>
            <a:custGeom>
              <a:avLst/>
              <a:gdLst/>
              <a:ahLst/>
              <a:cxnLst/>
              <a:rect r="r" b="b" t="t" l="l"/>
              <a:pathLst>
                <a:path h="2743200" w="4389120">
                  <a:moveTo>
                    <a:pt x="0" y="182880"/>
                  </a:moveTo>
                  <a:cubicBezTo>
                    <a:pt x="0" y="81915"/>
                    <a:pt x="81915" y="0"/>
                    <a:pt x="182880" y="0"/>
                  </a:cubicBezTo>
                  <a:lnTo>
                    <a:pt x="4206240" y="0"/>
                  </a:lnTo>
                  <a:cubicBezTo>
                    <a:pt x="4307205" y="0"/>
                    <a:pt x="4389120" y="81915"/>
                    <a:pt x="4389120" y="182880"/>
                  </a:cubicBezTo>
                  <a:lnTo>
                    <a:pt x="4389120" y="2560320"/>
                  </a:lnTo>
                  <a:cubicBezTo>
                    <a:pt x="4389120" y="2661285"/>
                    <a:pt x="4307205" y="2743200"/>
                    <a:pt x="4206240" y="2743200"/>
                  </a:cubicBezTo>
                  <a:lnTo>
                    <a:pt x="182880" y="2743200"/>
                  </a:lnTo>
                  <a:cubicBezTo>
                    <a:pt x="81915" y="2743200"/>
                    <a:pt x="0" y="2661285"/>
                    <a:pt x="0" y="2560320"/>
                  </a:cubicBezTo>
                  <a:close/>
                </a:path>
              </a:pathLst>
            </a:custGeom>
            <a:solidFill>
              <a:srgbClr val="EAF8FA"/>
            </a:solidFill>
          </p:spPr>
          <p:txBody>
            <a:bodyPr/>
            <a:p/>
          </p:txBody>
        </p:sp>
      </p:grpSp>
      <p:grpSp>
        <p:nvGrpSpPr>
          <p:cNvPr name="Group 81" id="81"/>
          <p:cNvGrpSpPr/>
          <p:nvPr/>
        </p:nvGrpSpPr>
        <p:grpSpPr>
          <a:xfrm rot="0">
            <a:off x="14333220" y="2468880"/>
            <a:ext cx="2880360" cy="685800"/>
            <a:chOff x="0" y="0"/>
            <a:chExt cx="3840480" cy="914400"/>
          </a:xfrm>
        </p:grpSpPr>
        <p:sp>
          <p:nvSpPr>
            <p:cNvPr name="Freeform 82" id="82"/>
            <p:cNvSpPr/>
            <p:nvPr/>
          </p:nvSpPr>
          <p:spPr>
            <a:xfrm flipH="false" flipV="false" rot="0">
              <a:off x="0" y="0"/>
              <a:ext cx="3840480" cy="914400"/>
            </a:xfrm>
            <a:custGeom>
              <a:avLst/>
              <a:gdLst/>
              <a:ahLst/>
              <a:cxnLst/>
              <a:rect r="r" b="b" t="t" l="l"/>
              <a:pathLst>
                <a:path h="914400" w="3840480">
                  <a:moveTo>
                    <a:pt x="0" y="0"/>
                  </a:moveTo>
                  <a:lnTo>
                    <a:pt x="3840480" y="0"/>
                  </a:lnTo>
                  <a:lnTo>
                    <a:pt x="3840480" y="914400"/>
                  </a:lnTo>
                  <a:lnTo>
                    <a:pt x="0" y="914400"/>
                  </a:lnTo>
                  <a:close/>
                </a:path>
              </a:pathLst>
            </a:custGeom>
            <a:blipFill>
              <a:blip r:embed="rId4">
                <a:alphaModFix amt="0"/>
              </a:blip>
              <a:stretch>
                <a:fillRect l="0" t="-31780" r="0" b="-31780"/>
              </a:stretch>
            </a:blipFill>
          </p:spPr>
          <p:txBody>
            <a:bodyPr/>
            <a:p/>
          </p:txBody>
        </p:sp>
      </p:grpSp>
      <p:grpSp>
        <p:nvGrpSpPr>
          <p:cNvPr name="Group 83" id="83"/>
          <p:cNvGrpSpPr/>
          <p:nvPr/>
        </p:nvGrpSpPr>
        <p:grpSpPr>
          <a:xfrm rot="0">
            <a:off x="14333220" y="2418874"/>
            <a:ext cx="2880360" cy="735806"/>
            <a:chOff x="0" y="0"/>
            <a:chExt cx="3840480" cy="981075"/>
          </a:xfrm>
        </p:grpSpPr>
        <p:sp>
          <p:nvSpPr>
            <p:cNvPr name="Freeform 84" id="84"/>
            <p:cNvSpPr/>
            <p:nvPr/>
          </p:nvSpPr>
          <p:spPr>
            <a:xfrm flipH="false" flipV="false" rot="0">
              <a:off x="0" y="0"/>
              <a:ext cx="3840480" cy="981075"/>
            </a:xfrm>
            <a:custGeom>
              <a:avLst/>
              <a:gdLst/>
              <a:ahLst/>
              <a:cxnLst/>
              <a:rect r="r" b="b" t="t" l="l"/>
              <a:pathLst>
                <a:path h="981075" w="3840480">
                  <a:moveTo>
                    <a:pt x="0" y="0"/>
                  </a:moveTo>
                  <a:lnTo>
                    <a:pt x="3840480" y="0"/>
                  </a:lnTo>
                  <a:lnTo>
                    <a:pt x="3840480" y="981075"/>
                  </a:lnTo>
                  <a:lnTo>
                    <a:pt x="0" y="981075"/>
                  </a:lnTo>
                  <a:close/>
                </a:path>
              </a:pathLst>
            </a:custGeom>
            <a:blipFill>
              <a:blip r:embed="rId5">
                <a:alphaModFix amt="0"/>
              </a:blip>
              <a:stretch>
                <a:fillRect l="0" t="-26222" r="0" b="-26222"/>
              </a:stretch>
            </a:blipFill>
          </p:spPr>
          <p:txBody>
            <a:bodyPr/>
            <a:p/>
          </p:txBody>
        </p:sp>
      </p:grpSp>
      <p:grpSp>
        <p:nvGrpSpPr>
          <p:cNvPr name="Group 85" id="85"/>
          <p:cNvGrpSpPr/>
          <p:nvPr/>
        </p:nvGrpSpPr>
        <p:grpSpPr>
          <a:xfrm rot="0">
            <a:off x="14333220" y="2368867"/>
            <a:ext cx="2880360" cy="785812"/>
            <a:chOff x="0" y="0"/>
            <a:chExt cx="3840480" cy="1047750"/>
          </a:xfrm>
        </p:grpSpPr>
        <p:sp>
          <p:nvSpPr>
            <p:cNvPr name="Freeform 86" id="86"/>
            <p:cNvSpPr/>
            <p:nvPr/>
          </p:nvSpPr>
          <p:spPr>
            <a:xfrm flipH="false" flipV="false" rot="0">
              <a:off x="0" y="0"/>
              <a:ext cx="3840480" cy="1047750"/>
            </a:xfrm>
            <a:custGeom>
              <a:avLst/>
              <a:gdLst/>
              <a:ahLst/>
              <a:cxnLst/>
              <a:rect r="r" b="b" t="t" l="l"/>
              <a:pathLst>
                <a:path h="1047750" w="3840480">
                  <a:moveTo>
                    <a:pt x="0" y="0"/>
                  </a:moveTo>
                  <a:lnTo>
                    <a:pt x="3840480" y="0"/>
                  </a:lnTo>
                  <a:lnTo>
                    <a:pt x="3840480" y="1047750"/>
                  </a:lnTo>
                  <a:lnTo>
                    <a:pt x="0" y="1047750"/>
                  </a:lnTo>
                  <a:close/>
                </a:path>
              </a:pathLst>
            </a:custGeom>
            <a:blipFill>
              <a:blip r:embed="rId6">
                <a:alphaModFix amt="0"/>
              </a:blip>
              <a:stretch>
                <a:fillRect l="0" t="-21421" r="0" b="-21421"/>
              </a:stretch>
            </a:blipFill>
          </p:spPr>
          <p:txBody>
            <a:bodyPr/>
            <a:p/>
          </p:txBody>
        </p:sp>
        <p:sp>
          <p:nvSpPr>
            <p:cNvPr name="TextBox 87" id="87"/>
            <p:cNvSpPr txBox="true"/>
            <p:nvPr/>
          </p:nvSpPr>
          <p:spPr>
            <a:xfrm>
              <a:off x="0" y="-66675"/>
              <a:ext cx="3840480" cy="1114425"/>
            </a:xfrm>
            <a:prstGeom prst="rect">
              <a:avLst/>
            </a:prstGeom>
          </p:spPr>
          <p:txBody>
            <a:bodyPr anchor="ctr" rtlCol="false" tIns="0" lIns="0" bIns="0" rIns="0"/>
            <a:lstStyle/>
            <a:p>
              <a:pPr algn="l">
                <a:lnSpc>
                  <a:spcPts val="4320"/>
                </a:lnSpc>
              </a:pPr>
              <a:r>
                <a:rPr lang="en-US" sz="3600" b="true">
                  <a:solidFill>
                    <a:srgbClr val="0B5E6E"/>
                  </a:solidFill>
                  <a:latin typeface="Calibri (MS) Bold"/>
                  <a:ea typeface="Calibri (MS) Bold"/>
                  <a:cs typeface="Calibri (MS) Bold"/>
                  <a:sym typeface="Calibri (MS) Bold"/>
                </a:rPr>
                <a:t>0,61</a:t>
              </a:r>
            </a:p>
          </p:txBody>
        </p:sp>
      </p:grpSp>
      <p:sp>
        <p:nvSpPr>
          <p:cNvPr name="TextBox 88" id="88"/>
          <p:cNvSpPr txBox="true"/>
          <p:nvPr/>
        </p:nvSpPr>
        <p:spPr>
          <a:xfrm rot="0">
            <a:off x="14333220" y="3096387"/>
            <a:ext cx="2880360" cy="1251585"/>
          </a:xfrm>
          <a:prstGeom prst="rect">
            <a:avLst/>
          </a:prstGeom>
        </p:spPr>
        <p:txBody>
          <a:bodyPr anchor="t" rtlCol="false" tIns="0" lIns="0" bIns="0" rIns="0">
            <a:spAutoFit/>
          </a:bodyPr>
          <a:lstStyle/>
          <a:p>
            <a:pPr algn="l">
              <a:lnSpc>
                <a:spcPts val="1980"/>
              </a:lnSpc>
            </a:pPr>
            <a:r>
              <a:rPr lang="en-US" sz="1650">
                <a:solidFill>
                  <a:srgbClr val="14313B"/>
                </a:solidFill>
                <a:latin typeface="Calibri (MS)"/>
                <a:ea typeface="Calibri (MS)"/>
                <a:cs typeface="Calibri (MS)"/>
                <a:sym typeface="Calibri (MS)"/>
              </a:rPr>
              <a:t>koefisien Kappa — kesepakatan kuat (Landis &amp; Koch)</a:t>
            </a:r>
          </a:p>
        </p:txBody>
      </p:sp>
      <p:grpSp>
        <p:nvGrpSpPr>
          <p:cNvPr name="Group 89" id="89"/>
          <p:cNvGrpSpPr/>
          <p:nvPr/>
        </p:nvGrpSpPr>
        <p:grpSpPr>
          <a:xfrm rot="0">
            <a:off x="10698480" y="4553712"/>
            <a:ext cx="3291840" cy="2057400"/>
            <a:chOff x="0" y="0"/>
            <a:chExt cx="4389120" cy="2743200"/>
          </a:xfrm>
        </p:grpSpPr>
        <p:sp>
          <p:nvSpPr>
            <p:cNvPr name="Freeform 90" id="90"/>
            <p:cNvSpPr/>
            <p:nvPr/>
          </p:nvSpPr>
          <p:spPr>
            <a:xfrm flipH="false" flipV="false" rot="0">
              <a:off x="0" y="0"/>
              <a:ext cx="4389120" cy="2743200"/>
            </a:xfrm>
            <a:custGeom>
              <a:avLst/>
              <a:gdLst/>
              <a:ahLst/>
              <a:cxnLst/>
              <a:rect r="r" b="b" t="t" l="l"/>
              <a:pathLst>
                <a:path h="2743200" w="4389120">
                  <a:moveTo>
                    <a:pt x="0" y="182880"/>
                  </a:moveTo>
                  <a:cubicBezTo>
                    <a:pt x="0" y="81915"/>
                    <a:pt x="81915" y="0"/>
                    <a:pt x="182880" y="0"/>
                  </a:cubicBezTo>
                  <a:lnTo>
                    <a:pt x="4206240" y="0"/>
                  </a:lnTo>
                  <a:cubicBezTo>
                    <a:pt x="4307205" y="0"/>
                    <a:pt x="4389120" y="81915"/>
                    <a:pt x="4389120" y="182880"/>
                  </a:cubicBezTo>
                  <a:lnTo>
                    <a:pt x="4389120" y="2560320"/>
                  </a:lnTo>
                  <a:cubicBezTo>
                    <a:pt x="4389120" y="2661285"/>
                    <a:pt x="4307205" y="2743200"/>
                    <a:pt x="4206240" y="2743200"/>
                  </a:cubicBezTo>
                  <a:lnTo>
                    <a:pt x="182880" y="2743200"/>
                  </a:lnTo>
                  <a:cubicBezTo>
                    <a:pt x="81915" y="2743200"/>
                    <a:pt x="0" y="2661285"/>
                    <a:pt x="0" y="2560320"/>
                  </a:cubicBezTo>
                  <a:close/>
                </a:path>
              </a:pathLst>
            </a:custGeom>
            <a:solidFill>
              <a:srgbClr val="EAF8FA"/>
            </a:solidFill>
          </p:spPr>
          <p:txBody>
            <a:bodyPr/>
            <a:p/>
          </p:txBody>
        </p:sp>
      </p:grpSp>
      <p:grpSp>
        <p:nvGrpSpPr>
          <p:cNvPr name="Group 91" id="91"/>
          <p:cNvGrpSpPr/>
          <p:nvPr/>
        </p:nvGrpSpPr>
        <p:grpSpPr>
          <a:xfrm rot="0">
            <a:off x="10904220" y="4690872"/>
            <a:ext cx="2880360" cy="685800"/>
            <a:chOff x="0" y="0"/>
            <a:chExt cx="3840480" cy="914400"/>
          </a:xfrm>
        </p:grpSpPr>
        <p:sp>
          <p:nvSpPr>
            <p:cNvPr name="Freeform 92" id="92"/>
            <p:cNvSpPr/>
            <p:nvPr/>
          </p:nvSpPr>
          <p:spPr>
            <a:xfrm flipH="false" flipV="false" rot="0">
              <a:off x="0" y="0"/>
              <a:ext cx="3840480" cy="914400"/>
            </a:xfrm>
            <a:custGeom>
              <a:avLst/>
              <a:gdLst/>
              <a:ahLst/>
              <a:cxnLst/>
              <a:rect r="r" b="b" t="t" l="l"/>
              <a:pathLst>
                <a:path h="914400" w="3840480">
                  <a:moveTo>
                    <a:pt x="0" y="0"/>
                  </a:moveTo>
                  <a:lnTo>
                    <a:pt x="3840480" y="0"/>
                  </a:lnTo>
                  <a:lnTo>
                    <a:pt x="3840480" y="914400"/>
                  </a:lnTo>
                  <a:lnTo>
                    <a:pt x="0" y="914400"/>
                  </a:lnTo>
                  <a:close/>
                </a:path>
              </a:pathLst>
            </a:custGeom>
            <a:blipFill>
              <a:blip r:embed="rId4">
                <a:alphaModFix amt="0"/>
              </a:blip>
              <a:stretch>
                <a:fillRect l="0" t="-31780" r="0" b="-31780"/>
              </a:stretch>
            </a:blipFill>
          </p:spPr>
          <p:txBody>
            <a:bodyPr/>
            <a:p/>
          </p:txBody>
        </p:sp>
      </p:grpSp>
      <p:grpSp>
        <p:nvGrpSpPr>
          <p:cNvPr name="Group 93" id="93"/>
          <p:cNvGrpSpPr/>
          <p:nvPr/>
        </p:nvGrpSpPr>
        <p:grpSpPr>
          <a:xfrm rot="0">
            <a:off x="10904220" y="4640866"/>
            <a:ext cx="2880360" cy="735806"/>
            <a:chOff x="0" y="0"/>
            <a:chExt cx="3840480" cy="981075"/>
          </a:xfrm>
        </p:grpSpPr>
        <p:sp>
          <p:nvSpPr>
            <p:cNvPr name="Freeform 94" id="94"/>
            <p:cNvSpPr/>
            <p:nvPr/>
          </p:nvSpPr>
          <p:spPr>
            <a:xfrm flipH="false" flipV="false" rot="0">
              <a:off x="0" y="0"/>
              <a:ext cx="3840480" cy="981075"/>
            </a:xfrm>
            <a:custGeom>
              <a:avLst/>
              <a:gdLst/>
              <a:ahLst/>
              <a:cxnLst/>
              <a:rect r="r" b="b" t="t" l="l"/>
              <a:pathLst>
                <a:path h="981075" w="3840480">
                  <a:moveTo>
                    <a:pt x="0" y="0"/>
                  </a:moveTo>
                  <a:lnTo>
                    <a:pt x="3840480" y="0"/>
                  </a:lnTo>
                  <a:lnTo>
                    <a:pt x="3840480" y="981075"/>
                  </a:lnTo>
                  <a:lnTo>
                    <a:pt x="0" y="981075"/>
                  </a:lnTo>
                  <a:close/>
                </a:path>
              </a:pathLst>
            </a:custGeom>
            <a:blipFill>
              <a:blip r:embed="rId5">
                <a:alphaModFix amt="0"/>
              </a:blip>
              <a:stretch>
                <a:fillRect l="0" t="-26222" r="0" b="-26222"/>
              </a:stretch>
            </a:blipFill>
          </p:spPr>
          <p:txBody>
            <a:bodyPr/>
            <a:p/>
          </p:txBody>
        </p:sp>
      </p:grpSp>
      <p:grpSp>
        <p:nvGrpSpPr>
          <p:cNvPr name="Group 95" id="95"/>
          <p:cNvGrpSpPr/>
          <p:nvPr/>
        </p:nvGrpSpPr>
        <p:grpSpPr>
          <a:xfrm rot="0">
            <a:off x="10904220" y="4590860"/>
            <a:ext cx="2880360" cy="785812"/>
            <a:chOff x="0" y="0"/>
            <a:chExt cx="3840480" cy="1047750"/>
          </a:xfrm>
        </p:grpSpPr>
        <p:sp>
          <p:nvSpPr>
            <p:cNvPr name="Freeform 96" id="96"/>
            <p:cNvSpPr/>
            <p:nvPr/>
          </p:nvSpPr>
          <p:spPr>
            <a:xfrm flipH="false" flipV="false" rot="0">
              <a:off x="0" y="0"/>
              <a:ext cx="3840480" cy="1047750"/>
            </a:xfrm>
            <a:custGeom>
              <a:avLst/>
              <a:gdLst/>
              <a:ahLst/>
              <a:cxnLst/>
              <a:rect r="r" b="b" t="t" l="l"/>
              <a:pathLst>
                <a:path h="1047750" w="3840480">
                  <a:moveTo>
                    <a:pt x="0" y="0"/>
                  </a:moveTo>
                  <a:lnTo>
                    <a:pt x="3840480" y="0"/>
                  </a:lnTo>
                  <a:lnTo>
                    <a:pt x="3840480" y="1047750"/>
                  </a:lnTo>
                  <a:lnTo>
                    <a:pt x="0" y="1047750"/>
                  </a:lnTo>
                  <a:close/>
                </a:path>
              </a:pathLst>
            </a:custGeom>
            <a:blipFill>
              <a:blip r:embed="rId6">
                <a:alphaModFix amt="0"/>
              </a:blip>
              <a:stretch>
                <a:fillRect l="0" t="-21421" r="0" b="-21421"/>
              </a:stretch>
            </a:blipFill>
          </p:spPr>
          <p:txBody>
            <a:bodyPr/>
            <a:p/>
          </p:txBody>
        </p:sp>
        <p:sp>
          <p:nvSpPr>
            <p:cNvPr name="TextBox 97" id="97"/>
            <p:cNvSpPr txBox="true"/>
            <p:nvPr/>
          </p:nvSpPr>
          <p:spPr>
            <a:xfrm>
              <a:off x="0" y="-66675"/>
              <a:ext cx="3840480" cy="1114425"/>
            </a:xfrm>
            <a:prstGeom prst="rect">
              <a:avLst/>
            </a:prstGeom>
          </p:spPr>
          <p:txBody>
            <a:bodyPr anchor="ctr" rtlCol="false" tIns="0" lIns="0" bIns="0" rIns="0"/>
            <a:lstStyle/>
            <a:p>
              <a:pPr algn="l">
                <a:lnSpc>
                  <a:spcPts val="4320"/>
                </a:lnSpc>
              </a:pPr>
              <a:r>
                <a:rPr lang="en-US" sz="3600" b="true">
                  <a:solidFill>
                    <a:srgbClr val="0B5E6E"/>
                  </a:solidFill>
                  <a:latin typeface="Calibri (MS) Bold"/>
                  <a:ea typeface="Calibri (MS) Bold"/>
                  <a:cs typeface="Calibri (MS) Bold"/>
                  <a:sym typeface="Calibri (MS) Bold"/>
                </a:rPr>
                <a:t>66,00%</a:t>
              </a:r>
            </a:p>
          </p:txBody>
        </p:sp>
      </p:grpSp>
      <p:sp>
        <p:nvSpPr>
          <p:cNvPr name="TextBox 98" id="98"/>
          <p:cNvSpPr txBox="true"/>
          <p:nvPr/>
        </p:nvSpPr>
        <p:spPr>
          <a:xfrm rot="0">
            <a:off x="10904220" y="5318379"/>
            <a:ext cx="2880360" cy="1251585"/>
          </a:xfrm>
          <a:prstGeom prst="rect">
            <a:avLst/>
          </a:prstGeom>
        </p:spPr>
        <p:txBody>
          <a:bodyPr anchor="t" rtlCol="false" tIns="0" lIns="0" bIns="0" rIns="0">
            <a:spAutoFit/>
          </a:bodyPr>
          <a:lstStyle/>
          <a:p>
            <a:pPr algn="l">
              <a:lnSpc>
                <a:spcPts val="1980"/>
              </a:lnSpc>
            </a:pPr>
            <a:r>
              <a:rPr lang="en-US" sz="1650">
                <a:solidFill>
                  <a:srgbClr val="14313B"/>
                </a:solidFill>
                <a:latin typeface="Calibri (MS)"/>
                <a:ea typeface="Calibri (MS)"/>
                <a:cs typeface="Calibri (MS)"/>
                <a:sym typeface="Calibri (MS)"/>
              </a:rPr>
              <a:t>user's accuracy kelas terbangun: commission error dominan (34 dari 100 titik)</a:t>
            </a:r>
          </a:p>
        </p:txBody>
      </p:sp>
      <p:grpSp>
        <p:nvGrpSpPr>
          <p:cNvPr name="Group 99" id="99"/>
          <p:cNvGrpSpPr/>
          <p:nvPr/>
        </p:nvGrpSpPr>
        <p:grpSpPr>
          <a:xfrm rot="0">
            <a:off x="14127480" y="4553712"/>
            <a:ext cx="3291840" cy="2057400"/>
            <a:chOff x="0" y="0"/>
            <a:chExt cx="4389120" cy="2743200"/>
          </a:xfrm>
        </p:grpSpPr>
        <p:sp>
          <p:nvSpPr>
            <p:cNvPr name="Freeform 100" id="100"/>
            <p:cNvSpPr/>
            <p:nvPr/>
          </p:nvSpPr>
          <p:spPr>
            <a:xfrm flipH="false" flipV="false" rot="0">
              <a:off x="0" y="0"/>
              <a:ext cx="4389120" cy="2743200"/>
            </a:xfrm>
            <a:custGeom>
              <a:avLst/>
              <a:gdLst/>
              <a:ahLst/>
              <a:cxnLst/>
              <a:rect r="r" b="b" t="t" l="l"/>
              <a:pathLst>
                <a:path h="2743200" w="4389120">
                  <a:moveTo>
                    <a:pt x="0" y="182880"/>
                  </a:moveTo>
                  <a:cubicBezTo>
                    <a:pt x="0" y="81915"/>
                    <a:pt x="81915" y="0"/>
                    <a:pt x="182880" y="0"/>
                  </a:cubicBezTo>
                  <a:lnTo>
                    <a:pt x="4206240" y="0"/>
                  </a:lnTo>
                  <a:cubicBezTo>
                    <a:pt x="4307205" y="0"/>
                    <a:pt x="4389120" y="81915"/>
                    <a:pt x="4389120" y="182880"/>
                  </a:cubicBezTo>
                  <a:lnTo>
                    <a:pt x="4389120" y="2560320"/>
                  </a:lnTo>
                  <a:cubicBezTo>
                    <a:pt x="4389120" y="2661285"/>
                    <a:pt x="4307205" y="2743200"/>
                    <a:pt x="4206240" y="2743200"/>
                  </a:cubicBezTo>
                  <a:lnTo>
                    <a:pt x="182880" y="2743200"/>
                  </a:lnTo>
                  <a:cubicBezTo>
                    <a:pt x="81915" y="2743200"/>
                    <a:pt x="0" y="2661285"/>
                    <a:pt x="0" y="2560320"/>
                  </a:cubicBezTo>
                  <a:close/>
                </a:path>
              </a:pathLst>
            </a:custGeom>
            <a:solidFill>
              <a:srgbClr val="FFF1BF"/>
            </a:solidFill>
          </p:spPr>
          <p:txBody>
            <a:bodyPr/>
            <a:p/>
          </p:txBody>
        </p:sp>
      </p:grpSp>
      <p:grpSp>
        <p:nvGrpSpPr>
          <p:cNvPr name="Group 101" id="101"/>
          <p:cNvGrpSpPr/>
          <p:nvPr/>
        </p:nvGrpSpPr>
        <p:grpSpPr>
          <a:xfrm rot="0">
            <a:off x="14333220" y="4690872"/>
            <a:ext cx="2880360" cy="685800"/>
            <a:chOff x="0" y="0"/>
            <a:chExt cx="3840480" cy="914400"/>
          </a:xfrm>
        </p:grpSpPr>
        <p:sp>
          <p:nvSpPr>
            <p:cNvPr name="Freeform 102" id="102"/>
            <p:cNvSpPr/>
            <p:nvPr/>
          </p:nvSpPr>
          <p:spPr>
            <a:xfrm flipH="false" flipV="false" rot="0">
              <a:off x="0" y="0"/>
              <a:ext cx="3840480" cy="914400"/>
            </a:xfrm>
            <a:custGeom>
              <a:avLst/>
              <a:gdLst/>
              <a:ahLst/>
              <a:cxnLst/>
              <a:rect r="r" b="b" t="t" l="l"/>
              <a:pathLst>
                <a:path h="914400" w="3840480">
                  <a:moveTo>
                    <a:pt x="0" y="0"/>
                  </a:moveTo>
                  <a:lnTo>
                    <a:pt x="3840480" y="0"/>
                  </a:lnTo>
                  <a:lnTo>
                    <a:pt x="3840480" y="914400"/>
                  </a:lnTo>
                  <a:lnTo>
                    <a:pt x="0" y="914400"/>
                  </a:lnTo>
                  <a:close/>
                </a:path>
              </a:pathLst>
            </a:custGeom>
            <a:blipFill>
              <a:blip r:embed="rId4">
                <a:alphaModFix amt="0"/>
              </a:blip>
              <a:stretch>
                <a:fillRect l="0" t="-31780" r="0" b="-31780"/>
              </a:stretch>
            </a:blipFill>
          </p:spPr>
          <p:txBody>
            <a:bodyPr/>
            <a:p/>
          </p:txBody>
        </p:sp>
      </p:grpSp>
      <p:grpSp>
        <p:nvGrpSpPr>
          <p:cNvPr name="Group 103" id="103"/>
          <p:cNvGrpSpPr/>
          <p:nvPr/>
        </p:nvGrpSpPr>
        <p:grpSpPr>
          <a:xfrm rot="0">
            <a:off x="14333220" y="4640866"/>
            <a:ext cx="2880360" cy="735806"/>
            <a:chOff x="0" y="0"/>
            <a:chExt cx="3840480" cy="981075"/>
          </a:xfrm>
        </p:grpSpPr>
        <p:sp>
          <p:nvSpPr>
            <p:cNvPr name="Freeform 104" id="104"/>
            <p:cNvSpPr/>
            <p:nvPr/>
          </p:nvSpPr>
          <p:spPr>
            <a:xfrm flipH="false" flipV="false" rot="0">
              <a:off x="0" y="0"/>
              <a:ext cx="3840480" cy="981075"/>
            </a:xfrm>
            <a:custGeom>
              <a:avLst/>
              <a:gdLst/>
              <a:ahLst/>
              <a:cxnLst/>
              <a:rect r="r" b="b" t="t" l="l"/>
              <a:pathLst>
                <a:path h="981075" w="3840480">
                  <a:moveTo>
                    <a:pt x="0" y="0"/>
                  </a:moveTo>
                  <a:lnTo>
                    <a:pt x="3840480" y="0"/>
                  </a:lnTo>
                  <a:lnTo>
                    <a:pt x="3840480" y="981075"/>
                  </a:lnTo>
                  <a:lnTo>
                    <a:pt x="0" y="981075"/>
                  </a:lnTo>
                  <a:close/>
                </a:path>
              </a:pathLst>
            </a:custGeom>
            <a:blipFill>
              <a:blip r:embed="rId5">
                <a:alphaModFix amt="0"/>
              </a:blip>
              <a:stretch>
                <a:fillRect l="0" t="-26222" r="0" b="-26222"/>
              </a:stretch>
            </a:blipFill>
          </p:spPr>
          <p:txBody>
            <a:bodyPr/>
            <a:p/>
          </p:txBody>
        </p:sp>
      </p:grpSp>
      <p:grpSp>
        <p:nvGrpSpPr>
          <p:cNvPr name="Group 105" id="105"/>
          <p:cNvGrpSpPr/>
          <p:nvPr/>
        </p:nvGrpSpPr>
        <p:grpSpPr>
          <a:xfrm rot="0">
            <a:off x="14333220" y="4590860"/>
            <a:ext cx="2880360" cy="785812"/>
            <a:chOff x="0" y="0"/>
            <a:chExt cx="3840480" cy="1047750"/>
          </a:xfrm>
        </p:grpSpPr>
        <p:sp>
          <p:nvSpPr>
            <p:cNvPr name="Freeform 106" id="106"/>
            <p:cNvSpPr/>
            <p:nvPr/>
          </p:nvSpPr>
          <p:spPr>
            <a:xfrm flipH="false" flipV="false" rot="0">
              <a:off x="0" y="0"/>
              <a:ext cx="3840480" cy="1047750"/>
            </a:xfrm>
            <a:custGeom>
              <a:avLst/>
              <a:gdLst/>
              <a:ahLst/>
              <a:cxnLst/>
              <a:rect r="r" b="b" t="t" l="l"/>
              <a:pathLst>
                <a:path h="1047750" w="3840480">
                  <a:moveTo>
                    <a:pt x="0" y="0"/>
                  </a:moveTo>
                  <a:lnTo>
                    <a:pt x="3840480" y="0"/>
                  </a:lnTo>
                  <a:lnTo>
                    <a:pt x="3840480" y="1047750"/>
                  </a:lnTo>
                  <a:lnTo>
                    <a:pt x="0" y="1047750"/>
                  </a:lnTo>
                  <a:close/>
                </a:path>
              </a:pathLst>
            </a:custGeom>
            <a:blipFill>
              <a:blip r:embed="rId6">
                <a:alphaModFix amt="0"/>
              </a:blip>
              <a:stretch>
                <a:fillRect l="0" t="-21421" r="0" b="-21421"/>
              </a:stretch>
            </a:blipFill>
          </p:spPr>
          <p:txBody>
            <a:bodyPr/>
            <a:p/>
          </p:txBody>
        </p:sp>
        <p:sp>
          <p:nvSpPr>
            <p:cNvPr name="TextBox 107" id="107"/>
            <p:cNvSpPr txBox="true"/>
            <p:nvPr/>
          </p:nvSpPr>
          <p:spPr>
            <a:xfrm>
              <a:off x="0" y="-66675"/>
              <a:ext cx="3840480" cy="1114425"/>
            </a:xfrm>
            <a:prstGeom prst="rect">
              <a:avLst/>
            </a:prstGeom>
          </p:spPr>
          <p:txBody>
            <a:bodyPr anchor="ctr" rtlCol="false" tIns="0" lIns="0" bIns="0" rIns="0"/>
            <a:lstStyle/>
            <a:p>
              <a:pPr algn="l">
                <a:lnSpc>
                  <a:spcPts val="4320"/>
                </a:lnSpc>
              </a:pPr>
              <a:r>
                <a:rPr lang="en-US" sz="3600" b="true">
                  <a:solidFill>
                    <a:srgbClr val="E4604F"/>
                  </a:solidFill>
                  <a:latin typeface="Calibri (MS) Bold"/>
                  <a:ea typeface="Calibri (MS) Bold"/>
                  <a:cs typeface="Calibri (MS) Bold"/>
                  <a:sym typeface="Calibri (MS) Bold"/>
                </a:rPr>
                <a:t>−27%</a:t>
              </a:r>
            </a:p>
          </p:txBody>
        </p:sp>
      </p:grpSp>
      <p:sp>
        <p:nvSpPr>
          <p:cNvPr name="TextBox 108" id="108"/>
          <p:cNvSpPr txBox="true"/>
          <p:nvPr/>
        </p:nvSpPr>
        <p:spPr>
          <a:xfrm rot="0">
            <a:off x="14333220" y="5318379"/>
            <a:ext cx="2880360" cy="1251585"/>
          </a:xfrm>
          <a:prstGeom prst="rect">
            <a:avLst/>
          </a:prstGeom>
        </p:spPr>
        <p:txBody>
          <a:bodyPr anchor="t" rtlCol="false" tIns="0" lIns="0" bIns="0" rIns="0">
            <a:spAutoFit/>
          </a:bodyPr>
          <a:lstStyle/>
          <a:p>
            <a:pPr algn="l">
              <a:lnSpc>
                <a:spcPts val="1980"/>
              </a:lnSpc>
            </a:pPr>
            <a:r>
              <a:rPr lang="en-US" sz="1650">
                <a:solidFill>
                  <a:srgbClr val="14313B"/>
                </a:solidFill>
                <a:latin typeface="Calibri (MS)"/>
                <a:ea typeface="Calibri (MS)"/>
                <a:cs typeface="Calibri (MS)"/>
                <a:sym typeface="Calibri (MS)"/>
              </a:rPr>
              <a:t>lahan terbangun 2023→2025 (75.624 → 55.030 ha): kesalahan data, bukan perubahan fisik</a:t>
            </a:r>
          </a:p>
        </p:txBody>
      </p:sp>
      <p:sp>
        <p:nvSpPr>
          <p:cNvPr name="TextBox 109" id="109"/>
          <p:cNvSpPr txBox="true"/>
          <p:nvPr/>
        </p:nvSpPr>
        <p:spPr>
          <a:xfrm rot="0">
            <a:off x="10698480" y="6812280"/>
            <a:ext cx="6761988" cy="2446020"/>
          </a:xfrm>
          <a:prstGeom prst="rect">
            <a:avLst/>
          </a:prstGeom>
        </p:spPr>
        <p:txBody>
          <a:bodyPr anchor="t" rtlCol="false" tIns="0" lIns="0" bIns="0" rIns="0">
            <a:spAutoFit/>
          </a:bodyPr>
          <a:lstStyle/>
          <a:p>
            <a:pPr algn="l" marL="470537" indent="-117634" lvl="3">
              <a:lnSpc>
                <a:spcPts val="2160"/>
              </a:lnSpc>
              <a:buFont typeface="Arial"/>
              <a:buChar char="￭"/>
            </a:pPr>
            <a:r>
              <a:rPr lang="en-US" sz="1800">
                <a:solidFill>
                  <a:srgbClr val="14313B"/>
                </a:solidFill>
                <a:latin typeface="Calibri (MS)"/>
                <a:ea typeface="Calibri (MS)"/>
                <a:cs typeface="Calibri (MS)"/>
                <a:sym typeface="Calibri (MS)"/>
              </a:rPr>
              <a:t>Kesalahan terkonsentrasi pada piksel campuran di tepi objek (probabilitas ≈ 0,5)</a:t>
            </a:r>
          </a:p>
          <a:p>
            <a:pPr algn="l" marL="470537" indent="-117634" lvl="3">
              <a:lnSpc>
                <a:spcPts val="2160"/>
              </a:lnSpc>
              <a:buFont typeface="Arial"/>
              <a:buChar char="￭"/>
            </a:pPr>
            <a:r>
              <a:rPr lang="en-US" sz="1800">
                <a:solidFill>
                  <a:srgbClr val="14313B"/>
                </a:solidFill>
                <a:latin typeface="Calibri (MS)"/>
                <a:ea typeface="Calibri (MS)"/>
                <a:cs typeface="Calibri (MS)"/>
                <a:sym typeface="Calibri (MS)"/>
              </a:rPr>
              <a:t>BPS dan DLHK lebih inkonsisten dan tidak sejalan → Dynamic World tetap dipilih</a:t>
            </a:r>
          </a:p>
          <a:p>
            <a:pPr algn="l" marL="470537" indent="-117634" lvl="3">
              <a:lnSpc>
                <a:spcPts val="2160"/>
              </a:lnSpc>
              <a:buFont typeface="Arial"/>
              <a:buChar char="￭"/>
            </a:pPr>
            <a:r>
              <a:rPr lang="en-US" sz="1800">
                <a:solidFill>
                  <a:srgbClr val="14313B"/>
                </a:solidFill>
                <a:latin typeface="Calibri (MS)"/>
                <a:ea typeface="Calibri (MS)"/>
                <a:cs typeface="Calibri (MS)"/>
                <a:sym typeface="Calibri (MS)"/>
              </a:rPr>
              <a:t>Nilai mentah tetap dipakai (tahun dasar 2025 jadi acuan seluruh parameter dan kalibrasi); koreksi hanya diagnostik</a:t>
            </a:r>
          </a:p>
        </p:txBody>
      </p:sp>
      <p:sp>
        <p:nvSpPr>
          <p:cNvPr name="TextBox 110" id="110"/>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29</a:t>
            </a:r>
          </a:p>
        </p:txBody>
      </p:sp>
      <p:grpSp>
        <p:nvGrpSpPr>
          <p:cNvPr name="Group 111" id="111"/>
          <p:cNvGrpSpPr/>
          <p:nvPr/>
        </p:nvGrpSpPr>
        <p:grpSpPr>
          <a:xfrm rot="0">
            <a:off x="12755880" y="274320"/>
            <a:ext cx="3931920" cy="411480"/>
            <a:chOff x="0" y="0"/>
            <a:chExt cx="5242560" cy="548640"/>
          </a:xfrm>
        </p:grpSpPr>
        <p:sp>
          <p:nvSpPr>
            <p:cNvPr name="Freeform 112" id="112"/>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13" id="113"/>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2A · Integrasi citra satelit</a:t>
              </a:r>
            </a:p>
          </p:txBody>
        </p:sp>
      </p:grpSp>
      <p:grpSp>
        <p:nvGrpSpPr>
          <p:cNvPr name="Group 114" id="114"/>
          <p:cNvGrpSpPr/>
          <p:nvPr/>
        </p:nvGrpSpPr>
        <p:grpSpPr>
          <a:xfrm rot="0">
            <a:off x="16047720" y="9646920"/>
            <a:ext cx="420624" cy="420624"/>
            <a:chOff x="0" y="0"/>
            <a:chExt cx="560832" cy="560832"/>
          </a:xfrm>
        </p:grpSpPr>
        <p:sp>
          <p:nvSpPr>
            <p:cNvPr name="Freeform 115" id="115"/>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16" id="116"/>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3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5725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Diagnosis Ketidakstabilan Temporal</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Naik-turunnya data Dynamic World disebabkan jumlah observasi, bukan perubahan lahan</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30</a:t>
            </a:r>
          </a:p>
        </p:txBody>
      </p:sp>
      <p:grpSp>
        <p:nvGrpSpPr>
          <p:cNvPr name="Group 67" id="67"/>
          <p:cNvGrpSpPr/>
          <p:nvPr/>
        </p:nvGrpSpPr>
        <p:grpSpPr>
          <a:xfrm rot="0">
            <a:off x="12755880" y="274320"/>
            <a:ext cx="3931920" cy="411480"/>
            <a:chOff x="0" y="0"/>
            <a:chExt cx="5242560" cy="548640"/>
          </a:xfrm>
        </p:grpSpPr>
        <p:sp>
          <p:nvSpPr>
            <p:cNvPr name="Freeform 68" id="68"/>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69" id="69"/>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2A · Integrasi citra satelit</a:t>
              </a:r>
            </a:p>
          </p:txBody>
        </p:sp>
      </p:grpSp>
      <p:pic>
        <p:nvPicPr>
          <p:cNvPr name="Picture 70" id="70"/>
          <p:cNvPicPr>
            <a:picLocks noChangeAspect="true"/>
          </p:cNvPicPr>
          <p:nvPr/>
        </p:nvPicPr>
        <p:blipFill>
          <a:blip r:embed="rId7"/>
          <a:stretch>
            <a:fillRect/>
          </a:stretch>
        </p:blipFill>
        <p:spPr>
          <a:xfrm rot="0">
            <a:off x="-54864" y="1819656"/>
            <a:ext cx="10533888" cy="6876288"/>
          </a:xfrm>
          <a:prstGeom prst="rect">
            <a:avLst/>
          </a:prstGeom>
        </p:spPr>
      </p:pic>
      <p:sp>
        <p:nvSpPr>
          <p:cNvPr name="TextBox 71" id="71"/>
          <p:cNvSpPr txBox="true"/>
          <p:nvPr/>
        </p:nvSpPr>
        <p:spPr>
          <a:xfrm rot="0">
            <a:off x="822960" y="2202180"/>
            <a:ext cx="8778240" cy="495300"/>
          </a:xfrm>
          <a:prstGeom prst="rect">
            <a:avLst/>
          </a:prstGeom>
        </p:spPr>
        <p:txBody>
          <a:bodyPr anchor="t" rtlCol="false" tIns="0" lIns="0" bIns="0" rIns="0">
            <a:spAutoFit/>
          </a:bodyPr>
          <a:lstStyle/>
          <a:p>
            <a:pPr algn="l">
              <a:lnSpc>
                <a:spcPts val="2063"/>
              </a:lnSpc>
            </a:pPr>
            <a:r>
              <a:rPr lang="en-US" sz="1719" b="true">
                <a:solidFill>
                  <a:srgbClr val="0B5E6E"/>
                </a:solidFill>
                <a:latin typeface="Calibri (MS) Bold"/>
                <a:ea typeface="Calibri (MS) Bold"/>
                <a:cs typeface="Calibri (MS) Bold"/>
                <a:sym typeface="Calibri (MS) Bold"/>
              </a:rPr>
              <a:t>Luas lahan terbangun (ha) · label sumbu: tahun dan observasi per piksel</a:t>
            </a:r>
          </a:p>
        </p:txBody>
      </p:sp>
      <p:grpSp>
        <p:nvGrpSpPr>
          <p:cNvPr name="Group 72" id="72"/>
          <p:cNvGrpSpPr/>
          <p:nvPr/>
        </p:nvGrpSpPr>
        <p:grpSpPr>
          <a:xfrm rot="0">
            <a:off x="9869167" y="2233927"/>
            <a:ext cx="7602217" cy="1841497"/>
            <a:chOff x="0" y="0"/>
            <a:chExt cx="10136289" cy="2455329"/>
          </a:xfrm>
        </p:grpSpPr>
        <p:sp>
          <p:nvSpPr>
            <p:cNvPr name="Freeform 73" id="73"/>
            <p:cNvSpPr/>
            <p:nvPr/>
          </p:nvSpPr>
          <p:spPr>
            <a:xfrm flipH="false" flipV="false" rot="0">
              <a:off x="0" y="0"/>
              <a:ext cx="10136378" cy="2455418"/>
            </a:xfrm>
            <a:custGeom>
              <a:avLst/>
              <a:gdLst/>
              <a:ahLst/>
              <a:cxnLst/>
              <a:rect r="r" b="b" t="t" l="l"/>
              <a:pathLst>
                <a:path h="2455418" w="10136378">
                  <a:moveTo>
                    <a:pt x="0" y="196469"/>
                  </a:moveTo>
                  <a:cubicBezTo>
                    <a:pt x="0" y="87884"/>
                    <a:pt x="87884" y="0"/>
                    <a:pt x="196469" y="0"/>
                  </a:cubicBezTo>
                  <a:lnTo>
                    <a:pt x="9939909" y="0"/>
                  </a:lnTo>
                  <a:cubicBezTo>
                    <a:pt x="10048367" y="0"/>
                    <a:pt x="10136378" y="87884"/>
                    <a:pt x="10136378" y="196469"/>
                  </a:cubicBezTo>
                  <a:lnTo>
                    <a:pt x="10136378" y="2258949"/>
                  </a:lnTo>
                  <a:cubicBezTo>
                    <a:pt x="10136378" y="2367407"/>
                    <a:pt x="10048494" y="2455418"/>
                    <a:pt x="9939909" y="2455418"/>
                  </a:cubicBezTo>
                  <a:lnTo>
                    <a:pt x="196469" y="2455418"/>
                  </a:lnTo>
                  <a:cubicBezTo>
                    <a:pt x="87884" y="2455291"/>
                    <a:pt x="0" y="2367407"/>
                    <a:pt x="0" y="2258949"/>
                  </a:cubicBezTo>
                  <a:close/>
                </a:path>
              </a:pathLst>
            </a:custGeom>
            <a:solidFill>
              <a:srgbClr val="FFF1BF"/>
            </a:solidFill>
            <a:ln w="12700" cap="sq">
              <a:solidFill>
                <a:srgbClr val="FFD23B"/>
              </a:solidFill>
              <a:prstDash val="solid"/>
              <a:miter/>
            </a:ln>
          </p:spPr>
          <p:txBody>
            <a:bodyPr/>
            <a:p/>
          </p:txBody>
        </p:sp>
        <p:sp>
          <p:nvSpPr>
            <p:cNvPr name="TextBox 74" id="74"/>
            <p:cNvSpPr txBox="true"/>
            <p:nvPr/>
          </p:nvSpPr>
          <p:spPr>
            <a:xfrm>
              <a:off x="0" y="-47625"/>
              <a:ext cx="10136289" cy="2502954"/>
            </a:xfrm>
            <a:prstGeom prst="rect">
              <a:avLst/>
            </a:prstGeom>
          </p:spPr>
          <p:txBody>
            <a:bodyPr anchor="t" rtlCol="false" tIns="50800" lIns="50800" bIns="50800" rIns="50800"/>
            <a:lstStyle/>
            <a:p>
              <a:pPr algn="l">
                <a:lnSpc>
                  <a:spcPts val="2760"/>
                </a:lnSpc>
              </a:pPr>
              <a:r>
                <a:rPr lang="en-US" sz="2300" b="true">
                  <a:solidFill>
                    <a:srgbClr val="E4604F"/>
                  </a:solidFill>
                  <a:latin typeface="Calibri (MS) Bold"/>
                  <a:ea typeface="Calibri (MS) Bold"/>
                  <a:cs typeface="Calibri (MS) Bold"/>
                  <a:sym typeface="Calibri (MS) Bold"/>
                </a:rPr>
                <a:t>−27% dalam dua tahun</a:t>
              </a:r>
            </a:p>
            <a:p>
              <a:pPr algn="l">
                <a:lnSpc>
                  <a:spcPts val="1932"/>
                </a:lnSpc>
              </a:pPr>
              <a:r>
                <a:rPr lang="en-US" sz="1610">
                  <a:solidFill>
                    <a:srgbClr val="14313B"/>
                  </a:solidFill>
                  <a:latin typeface="Calibri (MS)"/>
                  <a:ea typeface="Calibri (MS)"/>
                  <a:cs typeface="Calibri (MS)"/>
                  <a:sym typeface="Calibri (MS)"/>
                </a:rPr>
                <a:t>75.624 ha (2023) → 55.030 ha (2025): tidak mungkin terjadi di lapangan → kesalahan klasifikasi. Tahun dengan observasi banyak (2019, 2023) juga tahun dengan luas besar.</a:t>
              </a:r>
            </a:p>
          </p:txBody>
        </p:sp>
      </p:grpSp>
      <p:grpSp>
        <p:nvGrpSpPr>
          <p:cNvPr name="Group 75" id="75"/>
          <p:cNvGrpSpPr/>
          <p:nvPr/>
        </p:nvGrpSpPr>
        <p:grpSpPr>
          <a:xfrm rot="0">
            <a:off x="9869167" y="4199887"/>
            <a:ext cx="7602217" cy="2070097"/>
            <a:chOff x="0" y="0"/>
            <a:chExt cx="10136289" cy="2760129"/>
          </a:xfrm>
        </p:grpSpPr>
        <p:sp>
          <p:nvSpPr>
            <p:cNvPr name="Freeform 76" id="76"/>
            <p:cNvSpPr/>
            <p:nvPr/>
          </p:nvSpPr>
          <p:spPr>
            <a:xfrm flipH="false" flipV="false" rot="0">
              <a:off x="0" y="0"/>
              <a:ext cx="10136378" cy="2760218"/>
            </a:xfrm>
            <a:custGeom>
              <a:avLst/>
              <a:gdLst/>
              <a:ahLst/>
              <a:cxnLst/>
              <a:rect r="r" b="b" t="t" l="l"/>
              <a:pathLst>
                <a:path h="2760218" w="10136378">
                  <a:moveTo>
                    <a:pt x="0" y="220853"/>
                  </a:moveTo>
                  <a:cubicBezTo>
                    <a:pt x="0" y="98806"/>
                    <a:pt x="98806" y="0"/>
                    <a:pt x="220853" y="0"/>
                  </a:cubicBezTo>
                  <a:lnTo>
                    <a:pt x="9915525" y="0"/>
                  </a:lnTo>
                  <a:cubicBezTo>
                    <a:pt x="10037445" y="0"/>
                    <a:pt x="10136378" y="98806"/>
                    <a:pt x="10136378" y="220853"/>
                  </a:cubicBezTo>
                  <a:lnTo>
                    <a:pt x="10136378" y="2539365"/>
                  </a:lnTo>
                  <a:cubicBezTo>
                    <a:pt x="10136378" y="2661285"/>
                    <a:pt x="10037572" y="2760218"/>
                    <a:pt x="9915525" y="2760218"/>
                  </a:cubicBezTo>
                  <a:lnTo>
                    <a:pt x="220853" y="2760218"/>
                  </a:lnTo>
                  <a:cubicBezTo>
                    <a:pt x="98806" y="2760091"/>
                    <a:pt x="0" y="2661285"/>
                    <a:pt x="0" y="2539365"/>
                  </a:cubicBezTo>
                  <a:close/>
                </a:path>
              </a:pathLst>
            </a:custGeom>
            <a:solidFill>
              <a:srgbClr val="EAF8FA"/>
            </a:solidFill>
            <a:ln w="12700" cap="sq">
              <a:solidFill>
                <a:srgbClr val="CFE5E9"/>
              </a:solidFill>
              <a:prstDash val="solid"/>
              <a:miter/>
            </a:ln>
          </p:spPr>
          <p:txBody>
            <a:bodyPr/>
            <a:p/>
          </p:txBody>
        </p:sp>
        <p:sp>
          <p:nvSpPr>
            <p:cNvPr name="TextBox 77" id="77"/>
            <p:cNvSpPr txBox="true"/>
            <p:nvPr/>
          </p:nvSpPr>
          <p:spPr>
            <a:xfrm>
              <a:off x="0" y="-47625"/>
              <a:ext cx="10136289" cy="2807754"/>
            </a:xfrm>
            <a:prstGeom prst="rect">
              <a:avLst/>
            </a:prstGeom>
          </p:spPr>
          <p:txBody>
            <a:bodyPr anchor="t" rtlCol="false" tIns="50800" lIns="50800" bIns="50800" rIns="50800"/>
            <a:lstStyle/>
            <a:p>
              <a:pPr algn="l">
                <a:lnSpc>
                  <a:spcPts val="2206"/>
                </a:lnSpc>
              </a:pPr>
              <a:r>
                <a:rPr lang="en-US" sz="1839" b="true">
                  <a:solidFill>
                    <a:srgbClr val="0B5E6E"/>
                  </a:solidFill>
                  <a:latin typeface="Calibri (MS) Bold"/>
                  <a:ea typeface="Calibri (MS) Bold"/>
                  <a:cs typeface="Calibri (MS) Bold"/>
                  <a:sym typeface="Calibri (MS) Bold"/>
                </a:rPr>
                <a:t>Diagnosis gaya ANCOVA</a:t>
              </a:r>
            </a:p>
            <a:p>
              <a:pPr algn="l">
                <a:lnSpc>
                  <a:spcPts val="1932"/>
                </a:lnSpc>
              </a:pPr>
              <a:r>
                <a:rPr lang="en-US" sz="1610" i="true">
                  <a:solidFill>
                    <a:srgbClr val="14313B"/>
                  </a:solidFill>
                  <a:latin typeface="Calibri (MS) Italics"/>
                  <a:ea typeface="Calibri (MS) Italics"/>
                  <a:cs typeface="Calibri (MS) Italics"/>
                  <a:sym typeface="Calibri (MS) Italics"/>
                </a:rPr>
                <a:t>Luasₜ = a + b·Obsₜ;  Luas_terkoreksi = Luasₜ − b(Obsₜ − Obs_acuan)</a:t>
              </a:r>
            </a:p>
            <a:p>
              <a:pPr algn="l">
                <a:lnSpc>
                  <a:spcPts val="1860"/>
                </a:lnSpc>
              </a:pPr>
              <a:r>
                <a:rPr lang="en-US" sz="1550">
                  <a:solidFill>
                    <a:srgbClr val="14313B"/>
                  </a:solidFill>
                  <a:latin typeface="Calibri (MS)"/>
                  <a:ea typeface="Calibri (MS)"/>
                  <a:cs typeface="Calibri (MS)"/>
                  <a:sym typeface="Calibri (MS)"/>
                </a:rPr>
                <a:t>Syarat: Obs tidak berkorelasi dengan tahun (r = 0,174; p = 0,631) → terpenuhi. Luas vs Obs: r = 0,788 (p = 0,0067). Sesudah koreksi r ≈ 0; SD perubahan tahunan 12,3% → 6,6%.</a:t>
              </a:r>
            </a:p>
          </p:txBody>
        </p:sp>
      </p:grpSp>
      <p:grpSp>
        <p:nvGrpSpPr>
          <p:cNvPr name="Group 78" id="78"/>
          <p:cNvGrpSpPr/>
          <p:nvPr/>
        </p:nvGrpSpPr>
        <p:grpSpPr>
          <a:xfrm rot="0">
            <a:off x="9869167" y="6394447"/>
            <a:ext cx="7602217" cy="1430017"/>
            <a:chOff x="0" y="0"/>
            <a:chExt cx="10136289" cy="1906689"/>
          </a:xfrm>
        </p:grpSpPr>
        <p:sp>
          <p:nvSpPr>
            <p:cNvPr name="Freeform 79" id="79"/>
            <p:cNvSpPr/>
            <p:nvPr/>
          </p:nvSpPr>
          <p:spPr>
            <a:xfrm flipH="false" flipV="false" rot="0">
              <a:off x="0" y="0"/>
              <a:ext cx="10136251" cy="1906651"/>
            </a:xfrm>
            <a:custGeom>
              <a:avLst/>
              <a:gdLst/>
              <a:ahLst/>
              <a:cxnLst/>
              <a:rect r="r" b="b" t="t" l="l"/>
              <a:pathLst>
                <a:path h="1906651" w="10136251">
                  <a:moveTo>
                    <a:pt x="0" y="152527"/>
                  </a:moveTo>
                  <a:cubicBezTo>
                    <a:pt x="0" y="68326"/>
                    <a:pt x="68326" y="0"/>
                    <a:pt x="152527" y="0"/>
                  </a:cubicBezTo>
                  <a:lnTo>
                    <a:pt x="9983724" y="0"/>
                  </a:lnTo>
                  <a:cubicBezTo>
                    <a:pt x="10067925" y="0"/>
                    <a:pt x="10136251" y="68326"/>
                    <a:pt x="10136251" y="152527"/>
                  </a:cubicBezTo>
                  <a:lnTo>
                    <a:pt x="10136251" y="1754124"/>
                  </a:lnTo>
                  <a:cubicBezTo>
                    <a:pt x="10136251" y="1838325"/>
                    <a:pt x="10067925" y="1906651"/>
                    <a:pt x="9983724" y="1906651"/>
                  </a:cubicBezTo>
                  <a:lnTo>
                    <a:pt x="152527" y="1906651"/>
                  </a:lnTo>
                  <a:cubicBezTo>
                    <a:pt x="68326" y="1906651"/>
                    <a:pt x="0" y="1838452"/>
                    <a:pt x="0" y="1754124"/>
                  </a:cubicBezTo>
                  <a:close/>
                </a:path>
              </a:pathLst>
            </a:custGeom>
            <a:solidFill>
              <a:srgbClr val="EAF8FA"/>
            </a:solidFill>
            <a:ln w="12700" cap="sq">
              <a:solidFill>
                <a:srgbClr val="CFE5E9"/>
              </a:solidFill>
              <a:prstDash val="solid"/>
              <a:miter/>
            </a:ln>
          </p:spPr>
          <p:txBody>
            <a:bodyPr/>
            <a:p/>
          </p:txBody>
        </p:sp>
        <p:sp>
          <p:nvSpPr>
            <p:cNvPr name="TextBox 80" id="80"/>
            <p:cNvSpPr txBox="true"/>
            <p:nvPr/>
          </p:nvSpPr>
          <p:spPr>
            <a:xfrm>
              <a:off x="0" y="-47625"/>
              <a:ext cx="10136289" cy="1954314"/>
            </a:xfrm>
            <a:prstGeom prst="rect">
              <a:avLst/>
            </a:prstGeom>
          </p:spPr>
          <p:txBody>
            <a:bodyPr anchor="t" rtlCol="false" tIns="50800" lIns="50800" bIns="50800" rIns="50800"/>
            <a:lstStyle/>
            <a:p>
              <a:pPr algn="l">
                <a:lnSpc>
                  <a:spcPts val="2206"/>
                </a:lnSpc>
              </a:pPr>
              <a:r>
                <a:rPr lang="en-US" sz="1839" b="true">
                  <a:solidFill>
                    <a:srgbClr val="0B5E6E"/>
                  </a:solidFill>
                  <a:latin typeface="Calibri (MS) Bold"/>
                  <a:ea typeface="Calibri (MS) Bold"/>
                  <a:cs typeface="Calibri (MS) Bold"/>
                  <a:sym typeface="Calibri (MS) Bold"/>
                </a:rPr>
                <a:t>Validasi temporal (2015–2019)</a:t>
              </a:r>
            </a:p>
            <a:p>
              <a:pPr algn="l">
                <a:lnSpc>
                  <a:spcPts val="1860"/>
                </a:lnSpc>
              </a:pPr>
              <a:r>
                <a:rPr lang="en-US" sz="1550">
                  <a:solidFill>
                    <a:srgbClr val="14313B"/>
                  </a:solidFill>
                  <a:latin typeface="Calibri (MS)"/>
                  <a:ea typeface="Calibri (MS)"/>
                  <a:cs typeface="Calibri (MS)"/>
                  <a:sym typeface="Calibri (MS)"/>
                </a:rPr>
                <a:t>BPS naik 40,2% lalu turun 38,8%; DLHK turun 12,9%; DW naik konsisten ±12–13%/tahun → DW tetap dipilih.</a:t>
              </a:r>
            </a:p>
          </p:txBody>
        </p:sp>
      </p:grpSp>
      <p:grpSp>
        <p:nvGrpSpPr>
          <p:cNvPr name="Group 81" id="81"/>
          <p:cNvGrpSpPr/>
          <p:nvPr/>
        </p:nvGrpSpPr>
        <p:grpSpPr>
          <a:xfrm rot="0">
            <a:off x="816607" y="7994647"/>
            <a:ext cx="16654777" cy="927097"/>
            <a:chOff x="0" y="0"/>
            <a:chExt cx="22206369" cy="1236129"/>
          </a:xfrm>
        </p:grpSpPr>
        <p:sp>
          <p:nvSpPr>
            <p:cNvPr name="Freeform 82" id="82"/>
            <p:cNvSpPr/>
            <p:nvPr/>
          </p:nvSpPr>
          <p:spPr>
            <a:xfrm flipH="false" flipV="false" rot="0">
              <a:off x="0" y="0"/>
              <a:ext cx="22206458" cy="1236218"/>
            </a:xfrm>
            <a:custGeom>
              <a:avLst/>
              <a:gdLst/>
              <a:ahLst/>
              <a:cxnLst/>
              <a:rect r="r" b="b" t="t" l="l"/>
              <a:pathLst>
                <a:path h="1236218" w="22206458">
                  <a:moveTo>
                    <a:pt x="0" y="98933"/>
                  </a:moveTo>
                  <a:cubicBezTo>
                    <a:pt x="0" y="44323"/>
                    <a:pt x="44323" y="0"/>
                    <a:pt x="98933" y="0"/>
                  </a:cubicBezTo>
                  <a:lnTo>
                    <a:pt x="22107525" y="0"/>
                  </a:lnTo>
                  <a:cubicBezTo>
                    <a:pt x="22162136" y="0"/>
                    <a:pt x="22206458" y="44323"/>
                    <a:pt x="22206458" y="98933"/>
                  </a:cubicBezTo>
                  <a:lnTo>
                    <a:pt x="22206458" y="1137285"/>
                  </a:lnTo>
                  <a:cubicBezTo>
                    <a:pt x="22206458" y="1191895"/>
                    <a:pt x="22162136" y="1236218"/>
                    <a:pt x="22107525" y="1236218"/>
                  </a:cubicBezTo>
                  <a:lnTo>
                    <a:pt x="98933" y="1236218"/>
                  </a:lnTo>
                  <a:cubicBezTo>
                    <a:pt x="44323" y="1236091"/>
                    <a:pt x="0" y="1191895"/>
                    <a:pt x="0" y="1137285"/>
                  </a:cubicBezTo>
                  <a:close/>
                </a:path>
              </a:pathLst>
            </a:custGeom>
            <a:solidFill>
              <a:srgbClr val="FFF1BF"/>
            </a:solidFill>
            <a:ln w="12700" cap="sq">
              <a:solidFill>
                <a:srgbClr val="FFD23B"/>
              </a:solidFill>
              <a:prstDash val="solid"/>
              <a:miter/>
            </a:ln>
          </p:spPr>
          <p:txBody>
            <a:bodyPr/>
            <a:p/>
          </p:txBody>
        </p:sp>
        <p:sp>
          <p:nvSpPr>
            <p:cNvPr name="TextBox 83" id="83"/>
            <p:cNvSpPr txBox="true"/>
            <p:nvPr/>
          </p:nvSpPr>
          <p:spPr>
            <a:xfrm>
              <a:off x="0" y="-38100"/>
              <a:ext cx="22206369" cy="127422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Nilai asli tetap dipakai (tahun dasar 2025 menjadi acuan seluruh parameter dan kalibrasi); koreksi hanya untuk pemeriksaan. Noise ini dicatat sebagai keterbatasan pada kalibrasi lahan.</a:t>
              </a:r>
            </a:p>
          </p:txBody>
        </p:sp>
      </p:grpSp>
      <p:grpSp>
        <p:nvGrpSpPr>
          <p:cNvPr name="Group 84" id="84"/>
          <p:cNvGrpSpPr/>
          <p:nvPr/>
        </p:nvGrpSpPr>
        <p:grpSpPr>
          <a:xfrm rot="0">
            <a:off x="16047720" y="9646920"/>
            <a:ext cx="420624" cy="420624"/>
            <a:chOff x="0" y="0"/>
            <a:chExt cx="560832" cy="560832"/>
          </a:xfrm>
        </p:grpSpPr>
        <p:sp>
          <p:nvSpPr>
            <p:cNvPr name="Freeform 85" id="85"/>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86" id="86"/>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3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5725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Estimasi Lahan Terbangun — Validasi Spasial</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Kesalahan Dynamic World terkumpul di tepi objek, bukan tersebar acak</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31</a:t>
            </a:r>
          </a:p>
        </p:txBody>
      </p:sp>
      <p:grpSp>
        <p:nvGrpSpPr>
          <p:cNvPr name="Group 67" id="67"/>
          <p:cNvGrpSpPr/>
          <p:nvPr/>
        </p:nvGrpSpPr>
        <p:grpSpPr>
          <a:xfrm rot="0">
            <a:off x="12755880" y="274320"/>
            <a:ext cx="3931920" cy="411480"/>
            <a:chOff x="0" y="0"/>
            <a:chExt cx="5242560" cy="548640"/>
          </a:xfrm>
        </p:grpSpPr>
        <p:sp>
          <p:nvSpPr>
            <p:cNvPr name="Freeform 68" id="68"/>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69" id="69"/>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2A · Integrasi citra satelit</a:t>
              </a:r>
            </a:p>
          </p:txBody>
        </p:sp>
      </p:grpSp>
      <p:grpSp>
        <p:nvGrpSpPr>
          <p:cNvPr name="Group 84" id="84"/>
          <p:cNvGrpSpPr/>
          <p:nvPr/>
        </p:nvGrpSpPr>
        <p:grpSpPr>
          <a:xfrm rot="0">
            <a:off x="16047720" y="9646920"/>
            <a:ext cx="420624" cy="420624"/>
            <a:chOff x="0" y="0"/>
            <a:chExt cx="560832" cy="560832"/>
          </a:xfrm>
        </p:grpSpPr>
        <p:sp>
          <p:nvSpPr>
            <p:cNvPr name="Freeform 85" id="85"/>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86" id="86"/>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pic>
        <p:nvPicPr>
          <p:cNvPr id="87" name="Picture 86" descr="dw_nonbuilt.png"/>
          <p:cNvPicPr>
            <a:picLocks noChangeAspect="1"/>
          </p:cNvPicPr>
          <p:nvPr/>
        </p:nvPicPr>
        <p:blipFill>
          <a:blip r:embed="rId2"/>
          <a:stretch>
            <a:fillRect/>
          </a:stretch>
        </p:blipFill>
        <p:spPr>
          <a:xfrm>
            <a:off x="1173589" y="1965960"/>
            <a:ext cx="7436900" cy="4343400"/>
          </a:xfrm>
          <a:prstGeom prst="rect">
            <a:avLst/>
          </a:prstGeom>
        </p:spPr>
      </p:pic>
      <p:pic>
        <p:nvPicPr>
          <p:cNvPr id="88" name="Picture 87" descr="dw_built.png"/>
          <p:cNvPicPr>
            <a:picLocks noChangeAspect="1"/>
          </p:cNvPicPr>
          <p:nvPr/>
        </p:nvPicPr>
        <p:blipFill>
          <a:blip r:embed="rId8"/>
          <a:stretch>
            <a:fillRect/>
          </a:stretch>
        </p:blipFill>
        <p:spPr>
          <a:xfrm>
            <a:off x="10042516" y="1965960"/>
            <a:ext cx="6706886" cy="4343400"/>
          </a:xfrm>
          <a:prstGeom prst="rect">
            <a:avLst/>
          </a:prstGeom>
        </p:spPr>
      </p:pic>
      <p:sp>
        <p:nvSpPr>
          <p:cNvPr id="89" name="TextBox 88"/>
          <p:cNvSpPr txBox="1"/>
          <p:nvPr/>
        </p:nvSpPr>
        <p:spPr>
          <a:xfrm>
            <a:off x="822960" y="6355080"/>
            <a:ext cx="8138160" cy="320040"/>
          </a:xfrm>
          <a:prstGeom prst="rect">
            <a:avLst/>
          </a:prstGeom>
          <a:noFill/>
        </p:spPr>
        <p:txBody>
          <a:bodyPr wrap="square" anchor="t" lIns="0" rIns="0" tIns="0" bIns="0">
            <a:spAutoFit/>
          </a:bodyPr>
          <a:lstStyle/>
          <a:p>
            <a:pPr algn="ctr">
              <a:spcAft>
                <a:spcPts val="400"/>
              </a:spcAft>
            </a:pPr>
            <a:r>
              <a:rPr sz="1440" b="1" i="0">
                <a:solidFill>
                  <a:srgbClr val="0B5E6E"/>
                </a:solidFill>
                <a:latin typeface="Calibri (MS) Bold"/>
              </a:rPr>
              <a:t>Contoh titik yang diklasifikasi bukan terbangun (titik 8, kawasan bervegetasi)</a:t>
            </a:r>
          </a:p>
        </p:txBody>
      </p:sp>
      <p:sp>
        <p:nvSpPr>
          <p:cNvPr id="90" name="TextBox 89"/>
          <p:cNvSpPr txBox="1"/>
          <p:nvPr/>
        </p:nvSpPr>
        <p:spPr>
          <a:xfrm>
            <a:off x="9326880" y="6355080"/>
            <a:ext cx="8138160" cy="320040"/>
          </a:xfrm>
          <a:prstGeom prst="rect">
            <a:avLst/>
          </a:prstGeom>
          <a:noFill/>
        </p:spPr>
        <p:txBody>
          <a:bodyPr wrap="square" anchor="t" lIns="0" rIns="0" tIns="0" bIns="0">
            <a:spAutoFit/>
          </a:bodyPr>
          <a:lstStyle/>
          <a:p>
            <a:pPr algn="ctr">
              <a:spcAft>
                <a:spcPts val="400"/>
              </a:spcAft>
            </a:pPr>
            <a:r>
              <a:rPr sz="1440" b="1" i="0">
                <a:solidFill>
                  <a:srgbClr val="0B5E6E"/>
                </a:solidFill>
                <a:latin typeface="Calibri (MS) Bold"/>
              </a:rPr>
              <a:t>Contoh titik yang diklasifikasi terbangun (titik 69, atap bangunan)</a:t>
            </a:r>
          </a:p>
        </p:txBody>
      </p:sp>
      <p:sp>
        <p:nvSpPr>
          <p:cNvPr id="91" name="Rounded Rectangle 90"/>
          <p:cNvSpPr/>
          <p:nvPr/>
        </p:nvSpPr>
        <p:spPr>
          <a:xfrm>
            <a:off x="822960" y="6858000"/>
            <a:ext cx="5440680" cy="146304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610" b="1" i="0">
                <a:solidFill>
                  <a:srgbClr val="0B5E6E"/>
                </a:solidFill>
                <a:latin typeface="Calibri (MS) Bold"/>
              </a:rPr>
              <a:t>Cara</a:t>
            </a:r>
          </a:p>
          <a:p>
            <a:pPr algn="l">
              <a:spcAft>
                <a:spcPts val="300"/>
              </a:spcAft>
            </a:pPr>
            <a:r>
              <a:rPr sz="1440" b="0" i="0">
                <a:solidFill>
                  <a:srgbClr val="14313B"/>
                </a:solidFill>
                <a:latin typeface="Calibri (MS)"/>
              </a:rPr>
              <a:t>Titik sampel uji akurasi dicek ulang pada citra resolusi tinggi (Google Earth): kelas Dynamic World dibandingkan dengan kondisi lapangan.</a:t>
            </a:r>
          </a:p>
        </p:txBody>
      </p:sp>
      <p:sp>
        <p:nvSpPr>
          <p:cNvPr id="92" name="Rounded Rectangle 91"/>
          <p:cNvSpPr/>
          <p:nvPr/>
        </p:nvSpPr>
        <p:spPr>
          <a:xfrm>
            <a:off x="6428232" y="6858000"/>
            <a:ext cx="5440680" cy="146304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610" b="1" i="0">
                <a:solidFill>
                  <a:srgbClr val="0B5E6E"/>
                </a:solidFill>
                <a:latin typeface="Calibri (MS) Bold"/>
              </a:rPr>
              <a:t>Titik yang tepat</a:t>
            </a:r>
          </a:p>
          <a:p>
            <a:pPr algn="l">
              <a:spcAft>
                <a:spcPts val="300"/>
              </a:spcAft>
            </a:pPr>
            <a:r>
              <a:rPr sz="1440" b="0" i="0">
                <a:solidFill>
                  <a:srgbClr val="14313B"/>
                </a:solidFill>
                <a:latin typeface="Calibri (MS)"/>
              </a:rPr>
              <a:t>Kawasan yang jelas terbangun atau jelas bervegetasi: kelas prediksi sesuai dengan kondisi lapangan.</a:t>
            </a:r>
          </a:p>
        </p:txBody>
      </p:sp>
      <p:sp>
        <p:nvSpPr>
          <p:cNvPr id="93" name="Rounded Rectangle 92"/>
          <p:cNvSpPr/>
          <p:nvPr/>
        </p:nvSpPr>
        <p:spPr>
          <a:xfrm>
            <a:off x="12033504" y="6858000"/>
            <a:ext cx="5440680" cy="146304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610" b="1" i="0">
                <a:solidFill>
                  <a:srgbClr val="0B5E6E"/>
                </a:solidFill>
                <a:latin typeface="Calibri (MS) Bold"/>
              </a:rPr>
              <a:t>Titik yang salah</a:t>
            </a:r>
          </a:p>
          <a:p>
            <a:pPr algn="l">
              <a:spcAft>
                <a:spcPts val="300"/>
              </a:spcAft>
            </a:pPr>
            <a:r>
              <a:rPr sz="1440" b="0" i="0">
                <a:solidFill>
                  <a:srgbClr val="14313B"/>
                </a:solidFill>
                <a:latin typeface="Calibri (MS)"/>
              </a:rPr>
              <a:t>Berada di tepi objek, misalnya tepi jalan yang perkerasannya hanya menutupi ±7 dari 10 m piksel (piksel campuran).</a:t>
            </a:r>
          </a:p>
        </p:txBody>
      </p:sp>
      <p:sp>
        <p:nvSpPr>
          <p:cNvPr id="94" name="Rounded Rectangle 93"/>
          <p:cNvSpPr/>
          <p:nvPr/>
        </p:nvSpPr>
        <p:spPr>
          <a:xfrm>
            <a:off x="822960" y="8458200"/>
            <a:ext cx="16642080" cy="77724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720" b="1" i="0">
                <a:solidFill>
                  <a:srgbClr val="0B5E6E"/>
                </a:solidFill>
                <a:latin typeface="Calibri (MS) Bold"/>
              </a:rPr>
              <a:t>Takeaway  </a:t>
            </a:r>
            <a:r>
              <a:rPr sz="1720" b="0" i="0">
                <a:solidFill>
                  <a:srgbClr val="14313B"/>
                </a:solidFill>
                <a:latin typeface="Calibri (MS)"/>
              </a:rPr>
              <a:t>Kesalahan bersifat sistematis di tepi objek (sejalan dengan commission error 34 dari 100 titik), bukan acak di seluruh wilayah; data tetap layak dipakai.</a:t>
            </a:r>
          </a:p>
        </p:txBody>
      </p:sp>
      <p:sp>
        <p:nvSpPr>
          <p:cNvPr id="95" name="TextBox 94"/>
          <p:cNvSpPr txBox="1"/>
          <p:nvPr/>
        </p:nvSpPr>
        <p:spPr>
          <a:xfrm>
            <a:off x="822960" y="9281160"/>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3.5.2 dan 4.2.2, Gambar 14–15 (sampel uji akurasi, citra Google Earth).</a:t>
            </a:r>
          </a:p>
        </p:txBody>
      </p:sp>
    </p:spTree>
  </p:cSld>
  <p:clrMapOvr>
    <a:masterClrMapping/>
  </p:clrMapOvr>
</p:sld>
</file>

<file path=ppt/slides/slide3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Simpulan Integrasi Data Citra Satelit</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Dua variabel berhasil diperbarui; kekuatannya bergantung pada jenis variabel</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32</a:t>
            </a:r>
          </a:p>
        </p:txBody>
      </p:sp>
      <p:grpSp>
        <p:nvGrpSpPr>
          <p:cNvPr name="Group 67" id="67"/>
          <p:cNvGrpSpPr/>
          <p:nvPr/>
        </p:nvGrpSpPr>
        <p:grpSpPr>
          <a:xfrm rot="0">
            <a:off x="12755880" y="274320"/>
            <a:ext cx="3931920" cy="411480"/>
            <a:chOff x="0" y="0"/>
            <a:chExt cx="5242560" cy="548640"/>
          </a:xfrm>
        </p:grpSpPr>
        <p:sp>
          <p:nvSpPr>
            <p:cNvPr name="Freeform 68" id="68"/>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69" id="69"/>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2A · Integrasi citra satelit</a:t>
              </a:r>
            </a:p>
          </p:txBody>
        </p:sp>
      </p:grpSp>
      <p:graphicFrame>
        <p:nvGraphicFramePr>
          <p:cNvPr name="Table 70" id="70"/>
          <p:cNvGraphicFramePr>
            <a:graphicFrameLocks noGrp="true"/>
          </p:cNvGraphicFramePr>
          <p:nvPr/>
        </p:nvGraphicFramePr>
        <p:xfrm>
          <a:off x="822960" y="2331720"/>
          <a:ext cx="16611600" cy="3124200"/>
        </p:xfrm>
        <a:graphic>
          <a:graphicData uri="http://schemas.openxmlformats.org/drawingml/2006/table">
            <a:tbl>
              <a:tblPr/>
              <a:tblGrid>
                <a:gridCol w="1825451"/>
                <a:gridCol w="2555631"/>
                <a:gridCol w="2738176"/>
                <a:gridCol w="3103266"/>
                <a:gridCol w="3285811"/>
                <a:gridCol w="3103266"/>
              </a:tblGrid>
              <a:tr h="1041400">
                <a:tc>
                  <a:txBody>
                    <a:bodyPr anchor="t" rtlCol="false"/>
                    <a:lstStyle/>
                    <a:p>
                      <a:pPr algn="l">
                        <a:lnSpc>
                          <a:spcPts val="1860"/>
                        </a:lnSpc>
                        <a:defRPr/>
                      </a:pPr>
                      <a:r>
                        <a:rPr lang="en-US" sz="1550" b="true">
                          <a:solidFill>
                            <a:srgbClr val="FFFFFF"/>
                          </a:solidFill>
                          <a:latin typeface="Calibri (MS) Bold"/>
                          <a:ea typeface="Calibri (MS) Bold"/>
                          <a:cs typeface="Calibri (MS) Bold"/>
                          <a:sym typeface="Calibri (MS) Bold"/>
                        </a:rPr>
                        <a:t>Variabel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860"/>
                        </a:lnSpc>
                        <a:defRPr/>
                      </a:pPr>
                      <a:r>
                        <a:rPr lang="en-US" sz="1550" b="true">
                          <a:solidFill>
                            <a:srgbClr val="FFFFFF"/>
                          </a:solidFill>
                          <a:latin typeface="Calibri (MS) Bold"/>
                          <a:ea typeface="Calibri (MS) Bold"/>
                          <a:cs typeface="Calibri (MS) Bold"/>
                          <a:sym typeface="Calibri (MS) Bold"/>
                        </a:rPr>
                        <a:t>Citra &amp; platform</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860"/>
                        </a:lnSpc>
                        <a:defRPr/>
                      </a:pPr>
                      <a:r>
                        <a:rPr lang="en-US" sz="1550" b="true">
                          <a:solidFill>
                            <a:srgbClr val="FFFFFF"/>
                          </a:solidFill>
                          <a:latin typeface="Calibri (MS) Bold"/>
                          <a:ea typeface="Calibri (MS) Bold"/>
                          <a:cs typeface="Calibri (MS) Bold"/>
                          <a:sym typeface="Calibri (MS) Bold"/>
                        </a:rPr>
                        <a:t>Metode</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860"/>
                        </a:lnSpc>
                        <a:defRPr/>
                      </a:pPr>
                      <a:r>
                        <a:rPr lang="en-US" sz="1550" b="true">
                          <a:solidFill>
                            <a:srgbClr val="FFFFFF"/>
                          </a:solidFill>
                          <a:latin typeface="Calibri (MS) Bold"/>
                          <a:ea typeface="Calibri (MS) Bold"/>
                          <a:cs typeface="Calibri (MS) Bold"/>
                          <a:sym typeface="Calibri (MS) Bold"/>
                        </a:rPr>
                        <a:t>Bukti kelayakan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860"/>
                        </a:lnSpc>
                        <a:defRPr/>
                      </a:pPr>
                      <a:r>
                        <a:rPr lang="en-US" sz="1550" b="true">
                          <a:solidFill>
                            <a:srgbClr val="FFFFFF"/>
                          </a:solidFill>
                          <a:latin typeface="Calibri (MS) Bold"/>
                          <a:ea typeface="Calibri (MS) Bold"/>
                          <a:cs typeface="Calibri (MS) Bold"/>
                          <a:sym typeface="Calibri (MS) Bold"/>
                        </a:rPr>
                        <a:t>Masuk ke model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860"/>
                        </a:lnSpc>
                        <a:defRPr/>
                      </a:pPr>
                      <a:r>
                        <a:rPr lang="en-US" sz="1550" b="true">
                          <a:solidFill>
                            <a:srgbClr val="FFFFFF"/>
                          </a:solidFill>
                          <a:latin typeface="Calibri (MS) Bold"/>
                          <a:ea typeface="Calibri (MS) Bold"/>
                          <a:cs typeface="Calibri (MS) Bold"/>
                          <a:sym typeface="Calibri (MS) Bold"/>
                        </a:rPr>
                        <a:t>Keterbatasan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r>
              <a:tr h="1041400">
                <a:tc>
                  <a:txBody>
                    <a:bodyPr anchor="t" rtlCol="false"/>
                    <a:lstStyle/>
                    <a:p>
                      <a:pPr algn="l">
                        <a:lnSpc>
                          <a:spcPts val="1860"/>
                        </a:lnSpc>
                        <a:defRPr/>
                      </a:pPr>
                      <a:r>
                        <a:rPr lang="en-US" sz="1550">
                          <a:solidFill>
                            <a:srgbClr val="14313B"/>
                          </a:solidFill>
                          <a:latin typeface="Calibri (MS)"/>
                          <a:ea typeface="Calibri (MS)"/>
                          <a:cs typeface="Calibri (MS)"/>
                          <a:sym typeface="Calibri (MS)"/>
                        </a:rPr>
                        <a:t>Jumlah ODTW</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VIIRS DNB (NOAA), GEE, 500 m</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Regresi ODTW = 121,61 + 34,59·NTL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R² selisih 0,405 (≥ 0,30); RMSE LOOCV 5,99% (≤ 10%)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2015–2017: 165/158/171; 2025: 201 (stok awal &amp; referensi)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Ukuran tidak langsung (proxy); n = 7; selang prediksi lebar</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1041400">
                <a:tc>
                  <a:txBody>
                    <a:bodyPr anchor="t" rtlCol="false"/>
                    <a:lstStyle/>
                    <a:p>
                      <a:pPr algn="l">
                        <a:lnSpc>
                          <a:spcPts val="1860"/>
                        </a:lnSpc>
                        <a:defRPr/>
                      </a:pPr>
                      <a:r>
                        <a:rPr lang="en-US" sz="1550">
                          <a:solidFill>
                            <a:srgbClr val="14313B"/>
                          </a:solidFill>
                          <a:latin typeface="Calibri (MS)"/>
                          <a:ea typeface="Calibri (MS)"/>
                          <a:cs typeface="Calibri (MS)"/>
                          <a:sym typeface="Calibri (MS)"/>
                        </a:rPr>
                        <a:t>Lahan terbangun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Dynamic World (Sentinel-2), GEE, 10 m</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Klasifikasi langsung kelas built (prob ≥ 0,5)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OA terbobot 89,95%; Kappa 0,61; 200 titik</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2016–2025; stok awal 55.029,54 ha; laju konversi dasar</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Noise antartahun (−27% 2023→2025); commission error dominan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bl>
          </a:graphicData>
        </a:graphic>
      </p:graphicFrame>
      <p:grpSp>
        <p:nvGrpSpPr>
          <p:cNvPr name="Group 71" id="71"/>
          <p:cNvGrpSpPr/>
          <p:nvPr/>
        </p:nvGrpSpPr>
        <p:grpSpPr>
          <a:xfrm rot="0">
            <a:off x="816607" y="5662927"/>
            <a:ext cx="8150857" cy="2573017"/>
            <a:chOff x="0" y="0"/>
            <a:chExt cx="10867809" cy="3430689"/>
          </a:xfrm>
        </p:grpSpPr>
        <p:sp>
          <p:nvSpPr>
            <p:cNvPr name="Freeform 72" id="72"/>
            <p:cNvSpPr/>
            <p:nvPr/>
          </p:nvSpPr>
          <p:spPr>
            <a:xfrm flipH="false" flipV="false" rot="0">
              <a:off x="0" y="0"/>
              <a:ext cx="10867771" cy="3430651"/>
            </a:xfrm>
            <a:custGeom>
              <a:avLst/>
              <a:gdLst/>
              <a:ahLst/>
              <a:cxnLst/>
              <a:rect r="r" b="b" t="t" l="l"/>
              <a:pathLst>
                <a:path h="3430651" w="10867771">
                  <a:moveTo>
                    <a:pt x="0" y="274447"/>
                  </a:moveTo>
                  <a:cubicBezTo>
                    <a:pt x="0" y="122936"/>
                    <a:pt x="122936" y="0"/>
                    <a:pt x="274447" y="0"/>
                  </a:cubicBezTo>
                  <a:lnTo>
                    <a:pt x="10593324" y="0"/>
                  </a:lnTo>
                  <a:cubicBezTo>
                    <a:pt x="10744962" y="0"/>
                    <a:pt x="10867771" y="122936"/>
                    <a:pt x="10867771" y="274447"/>
                  </a:cubicBezTo>
                  <a:lnTo>
                    <a:pt x="10867771" y="3156204"/>
                  </a:lnTo>
                  <a:cubicBezTo>
                    <a:pt x="10867771" y="3307842"/>
                    <a:pt x="10744835" y="3430651"/>
                    <a:pt x="10593324" y="3430651"/>
                  </a:cubicBezTo>
                  <a:lnTo>
                    <a:pt x="274447" y="3430651"/>
                  </a:lnTo>
                  <a:cubicBezTo>
                    <a:pt x="122936" y="3430651"/>
                    <a:pt x="0" y="3307842"/>
                    <a:pt x="0" y="3156204"/>
                  </a:cubicBezTo>
                  <a:close/>
                </a:path>
              </a:pathLst>
            </a:custGeom>
            <a:solidFill>
              <a:srgbClr val="EAF8FA"/>
            </a:solidFill>
            <a:ln w="12700" cap="sq">
              <a:solidFill>
                <a:srgbClr val="CFE5E9"/>
              </a:solidFill>
              <a:prstDash val="solid"/>
              <a:miter/>
            </a:ln>
          </p:spPr>
          <p:txBody>
            <a:bodyPr/>
            <a:p/>
          </p:txBody>
        </p:sp>
        <p:sp>
          <p:nvSpPr>
            <p:cNvPr name="TextBox 73" id="73"/>
            <p:cNvSpPr txBox="true"/>
            <p:nvPr/>
          </p:nvSpPr>
          <p:spPr>
            <a:xfrm>
              <a:off x="0" y="-47625"/>
              <a:ext cx="10867809" cy="3478314"/>
            </a:xfrm>
            <a:prstGeom prst="rect">
              <a:avLst/>
            </a:prstGeom>
          </p:spPr>
          <p:txBody>
            <a:bodyPr anchor="t" rtlCol="false" tIns="50800" lIns="50800" bIns="50800" rIns="50800"/>
            <a:lstStyle/>
            <a:p>
              <a:pPr algn="l">
                <a:lnSpc>
                  <a:spcPts val="2340"/>
                </a:lnSpc>
              </a:pPr>
              <a:r>
                <a:rPr lang="en-US" sz="1950" b="true">
                  <a:solidFill>
                    <a:srgbClr val="0B5E6E"/>
                  </a:solidFill>
                  <a:latin typeface="Calibri (MS) Bold"/>
                  <a:ea typeface="Calibri (MS) Bold"/>
                  <a:cs typeface="Calibri (MS) Bold"/>
                  <a:sym typeface="Calibri (MS) Bold"/>
                </a:rPr>
                <a:t>Prinsip yang dipegang</a:t>
              </a:r>
            </a:p>
            <a:p>
              <a:pPr algn="l">
                <a:lnSpc>
                  <a:spcPts val="2340"/>
                </a:lnSpc>
              </a:pPr>
              <a:r>
                <a:rPr lang="en-US" sz="1950">
                  <a:solidFill>
                    <a:srgbClr val="14313B"/>
                  </a:solidFill>
                  <a:latin typeface="Calibri (MS)"/>
                  <a:ea typeface="Calibri (MS)"/>
                  <a:cs typeface="Calibri (MS)"/>
                  <a:sym typeface="Calibri (MS)"/>
                </a:rPr>
                <a:t>Citra hanya memperbarui variabel yang sudah punya data resmi; tidak dimasukkan sebagai variabel model dan tidak menggantikan statistik resmi. Statistik resmi tetap acuan utama.</a:t>
              </a:r>
            </a:p>
          </p:txBody>
        </p:sp>
      </p:grpSp>
      <p:grpSp>
        <p:nvGrpSpPr>
          <p:cNvPr name="Group 74" id="74"/>
          <p:cNvGrpSpPr/>
          <p:nvPr/>
        </p:nvGrpSpPr>
        <p:grpSpPr>
          <a:xfrm rot="0">
            <a:off x="9320527" y="5662927"/>
            <a:ext cx="8150857" cy="2573017"/>
            <a:chOff x="0" y="0"/>
            <a:chExt cx="10867809" cy="3430689"/>
          </a:xfrm>
        </p:grpSpPr>
        <p:sp>
          <p:nvSpPr>
            <p:cNvPr name="Freeform 75" id="75"/>
            <p:cNvSpPr/>
            <p:nvPr/>
          </p:nvSpPr>
          <p:spPr>
            <a:xfrm flipH="false" flipV="false" rot="0">
              <a:off x="0" y="0"/>
              <a:ext cx="10867771" cy="3430651"/>
            </a:xfrm>
            <a:custGeom>
              <a:avLst/>
              <a:gdLst/>
              <a:ahLst/>
              <a:cxnLst/>
              <a:rect r="r" b="b" t="t" l="l"/>
              <a:pathLst>
                <a:path h="3430651" w="10867771">
                  <a:moveTo>
                    <a:pt x="0" y="274447"/>
                  </a:moveTo>
                  <a:cubicBezTo>
                    <a:pt x="0" y="122936"/>
                    <a:pt x="122936" y="0"/>
                    <a:pt x="274447" y="0"/>
                  </a:cubicBezTo>
                  <a:lnTo>
                    <a:pt x="10593324" y="0"/>
                  </a:lnTo>
                  <a:cubicBezTo>
                    <a:pt x="10744962" y="0"/>
                    <a:pt x="10867771" y="122936"/>
                    <a:pt x="10867771" y="274447"/>
                  </a:cubicBezTo>
                  <a:lnTo>
                    <a:pt x="10867771" y="3156204"/>
                  </a:lnTo>
                  <a:cubicBezTo>
                    <a:pt x="10867771" y="3307842"/>
                    <a:pt x="10744835" y="3430651"/>
                    <a:pt x="10593324" y="3430651"/>
                  </a:cubicBezTo>
                  <a:lnTo>
                    <a:pt x="274447" y="3430651"/>
                  </a:lnTo>
                  <a:cubicBezTo>
                    <a:pt x="122936" y="3430651"/>
                    <a:pt x="0" y="3307842"/>
                    <a:pt x="0" y="3156204"/>
                  </a:cubicBezTo>
                  <a:close/>
                </a:path>
              </a:pathLst>
            </a:custGeom>
            <a:solidFill>
              <a:srgbClr val="EAF8FA"/>
            </a:solidFill>
            <a:ln w="12700" cap="sq">
              <a:solidFill>
                <a:srgbClr val="CFE5E9"/>
              </a:solidFill>
              <a:prstDash val="solid"/>
              <a:miter/>
            </a:ln>
          </p:spPr>
          <p:txBody>
            <a:bodyPr/>
            <a:p/>
          </p:txBody>
        </p:sp>
        <p:sp>
          <p:nvSpPr>
            <p:cNvPr name="TextBox 76" id="76"/>
            <p:cNvSpPr txBox="true"/>
            <p:nvPr/>
          </p:nvSpPr>
          <p:spPr>
            <a:xfrm>
              <a:off x="0" y="-47625"/>
              <a:ext cx="10867809" cy="3478314"/>
            </a:xfrm>
            <a:prstGeom prst="rect">
              <a:avLst/>
            </a:prstGeom>
          </p:spPr>
          <p:txBody>
            <a:bodyPr anchor="t" rtlCol="false" tIns="50800" lIns="50800" bIns="50800" rIns="50800"/>
            <a:lstStyle/>
            <a:p>
              <a:pPr algn="l">
                <a:lnSpc>
                  <a:spcPts val="2340"/>
                </a:lnSpc>
              </a:pPr>
              <a:r>
                <a:rPr lang="en-US" sz="1950" b="true">
                  <a:solidFill>
                    <a:srgbClr val="0B5E6E"/>
                  </a:solidFill>
                  <a:latin typeface="Calibri (MS) Bold"/>
                  <a:ea typeface="Calibri (MS) Bold"/>
                  <a:cs typeface="Calibri (MS) Bold"/>
                  <a:sym typeface="Calibri (MS) Bold"/>
                </a:rPr>
                <a:t>Pelajaran metodologis</a:t>
              </a:r>
            </a:p>
            <a:p>
              <a:pPr algn="l">
                <a:lnSpc>
                  <a:spcPts val="2340"/>
                </a:lnSpc>
              </a:pPr>
              <a:r>
                <a:rPr lang="en-US" sz="1950">
                  <a:solidFill>
                    <a:srgbClr val="14313B"/>
                  </a:solidFill>
                  <a:latin typeface="Calibri (MS)"/>
                  <a:ea typeface="Calibri (MS)"/>
                  <a:cs typeface="Calibri (MS)"/>
                  <a:sym typeface="Calibri (MS)"/>
                </a:rPr>
                <a:t>Manfaat citra bergantung pada jenis variabel: yang bisa diklasifikasi langsung (lahan) lebih kuat daripada yang perlu regresi proxy (ODTW).</a:t>
              </a:r>
            </a:p>
          </p:txBody>
        </p:sp>
      </p:grpSp>
      <p:grpSp>
        <p:nvGrpSpPr>
          <p:cNvPr name="Group 77" id="77"/>
          <p:cNvGrpSpPr/>
          <p:nvPr/>
        </p:nvGrpSpPr>
        <p:grpSpPr>
          <a:xfrm rot="0">
            <a:off x="816607" y="8406127"/>
            <a:ext cx="16654777" cy="789937"/>
            <a:chOff x="0" y="0"/>
            <a:chExt cx="22206369" cy="1053249"/>
          </a:xfrm>
        </p:grpSpPr>
        <p:sp>
          <p:nvSpPr>
            <p:cNvPr name="Freeform 78" id="78"/>
            <p:cNvSpPr/>
            <p:nvPr/>
          </p:nvSpPr>
          <p:spPr>
            <a:xfrm flipH="false" flipV="false" rot="0">
              <a:off x="0" y="0"/>
              <a:ext cx="22206331" cy="1053211"/>
            </a:xfrm>
            <a:custGeom>
              <a:avLst/>
              <a:gdLst/>
              <a:ahLst/>
              <a:cxnLst/>
              <a:rect r="r" b="b" t="t" l="l"/>
              <a:pathLst>
                <a:path h="1053211" w="22206331">
                  <a:moveTo>
                    <a:pt x="0" y="84201"/>
                  </a:moveTo>
                  <a:cubicBezTo>
                    <a:pt x="0" y="37719"/>
                    <a:pt x="37719" y="0"/>
                    <a:pt x="84201" y="0"/>
                  </a:cubicBezTo>
                  <a:lnTo>
                    <a:pt x="22122130" y="0"/>
                  </a:lnTo>
                  <a:cubicBezTo>
                    <a:pt x="22168613" y="0"/>
                    <a:pt x="22206331" y="37719"/>
                    <a:pt x="22206331" y="84201"/>
                  </a:cubicBezTo>
                  <a:lnTo>
                    <a:pt x="22206331" y="969010"/>
                  </a:lnTo>
                  <a:cubicBezTo>
                    <a:pt x="22206331" y="1015492"/>
                    <a:pt x="22168613" y="1053211"/>
                    <a:pt x="22122130" y="1053211"/>
                  </a:cubicBezTo>
                  <a:lnTo>
                    <a:pt x="84201" y="1053211"/>
                  </a:lnTo>
                  <a:cubicBezTo>
                    <a:pt x="37719" y="1053211"/>
                    <a:pt x="0" y="1015492"/>
                    <a:pt x="0" y="969010"/>
                  </a:cubicBezTo>
                  <a:close/>
                </a:path>
              </a:pathLst>
            </a:custGeom>
            <a:solidFill>
              <a:srgbClr val="FFF1BF"/>
            </a:solidFill>
            <a:ln w="12700" cap="sq">
              <a:solidFill>
                <a:srgbClr val="FFD23B"/>
              </a:solidFill>
              <a:prstDash val="solid"/>
              <a:miter/>
            </a:ln>
          </p:spPr>
          <p:txBody>
            <a:bodyPr/>
            <a:p/>
          </p:txBody>
        </p:sp>
        <p:sp>
          <p:nvSpPr>
            <p:cNvPr name="TextBox 79" id="79"/>
            <p:cNvSpPr txBox="true"/>
            <p:nvPr/>
          </p:nvSpPr>
          <p:spPr>
            <a:xfrm>
              <a:off x="0" y="-38100"/>
              <a:ext cx="22206369" cy="109134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Bagian Tujuan 2 "memanfaatkan citra satelit untuk memperbarui data yang terlambat tersedia" terpenuhi, dengan kelayakan yang terukur.</a:t>
              </a:r>
            </a:p>
          </p:txBody>
        </p:sp>
      </p:grpSp>
      <p:grpSp>
        <p:nvGrpSpPr>
          <p:cNvPr name="Group 80" id="80"/>
          <p:cNvGrpSpPr/>
          <p:nvPr/>
        </p:nvGrpSpPr>
        <p:grpSpPr>
          <a:xfrm rot="0">
            <a:off x="16047720" y="9646920"/>
            <a:ext cx="420624" cy="420624"/>
            <a:chOff x="0" y="0"/>
            <a:chExt cx="560832" cy="560832"/>
          </a:xfrm>
        </p:grpSpPr>
        <p:sp>
          <p:nvSpPr>
            <p:cNvPr name="Freeform 81" id="81"/>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82" id="82"/>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3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Konversi ke Stock-Flow Diagram</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Model akhir memuat 61 variabel dengan lima stok utama</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pSp>
        <p:nvGrpSpPr>
          <p:cNvPr name="Group 66" id="66"/>
          <p:cNvGrpSpPr/>
          <p:nvPr/>
        </p:nvGrpSpPr>
        <p:grpSpPr>
          <a:xfrm rot="0">
            <a:off x="822960" y="2633358"/>
            <a:ext cx="11109960" cy="5568886"/>
            <a:chOff x="0" y="0"/>
            <a:chExt cx="14813280" cy="7425182"/>
          </a:xfrm>
        </p:grpSpPr>
        <p:sp>
          <p:nvSpPr>
            <p:cNvPr name="Freeform 67" id="67" descr="Stock-flow diagram pariwisata DIY"/>
            <p:cNvSpPr/>
            <p:nvPr/>
          </p:nvSpPr>
          <p:spPr>
            <a:xfrm flipH="false" flipV="false" rot="0">
              <a:off x="0" y="0"/>
              <a:ext cx="14813280" cy="7425182"/>
            </a:xfrm>
            <a:custGeom>
              <a:avLst/>
              <a:gdLst/>
              <a:ahLst/>
              <a:cxnLst/>
              <a:rect r="r" b="b" t="t" l="l"/>
              <a:pathLst>
                <a:path h="7425182" w="14813280">
                  <a:moveTo>
                    <a:pt x="0" y="0"/>
                  </a:moveTo>
                  <a:lnTo>
                    <a:pt x="14813280" y="0"/>
                  </a:lnTo>
                  <a:lnTo>
                    <a:pt x="14813280" y="7425182"/>
                  </a:lnTo>
                  <a:lnTo>
                    <a:pt x="0" y="7425182"/>
                  </a:lnTo>
                  <a:lnTo>
                    <a:pt x="0" y="0"/>
                  </a:lnTo>
                  <a:close/>
                </a:path>
              </a:pathLst>
            </a:custGeom>
            <a:blipFill>
              <a:blip r:embed="rId7"/>
              <a:stretch>
                <a:fillRect l="-73" t="0" r="-73" b="0"/>
              </a:stretch>
            </a:blipFill>
          </p:spPr>
          <p:txBody>
            <a:bodyPr/>
            <a:p/>
          </p:txBody>
        </p:sp>
      </p:grpSp>
      <p:sp>
        <p:nvSpPr>
          <p:cNvPr name="TextBox 68" id="68"/>
          <p:cNvSpPr txBox="true"/>
          <p:nvPr/>
        </p:nvSpPr>
        <p:spPr>
          <a:xfrm rot="0">
            <a:off x="822960" y="8252460"/>
            <a:ext cx="11109960" cy="525780"/>
          </a:xfrm>
          <a:prstGeom prst="rect">
            <a:avLst/>
          </a:prstGeom>
        </p:spPr>
        <p:txBody>
          <a:bodyPr anchor="t" rtlCol="false" tIns="0" lIns="0" bIns="0" rIns="0">
            <a:spAutoFit/>
          </a:bodyPr>
          <a:lstStyle/>
          <a:p>
            <a:pPr algn="l">
              <a:lnSpc>
                <a:spcPts val="2070"/>
              </a:lnSpc>
            </a:pPr>
            <a:r>
              <a:rPr lang="en-US" sz="1725" i="true">
                <a:solidFill>
                  <a:srgbClr val="5E6E78"/>
                </a:solidFill>
                <a:latin typeface="Calibri (MS) Italics"/>
                <a:ea typeface="Calibri (MS) Italics"/>
                <a:cs typeface="Calibri (MS) Italics"/>
                <a:sym typeface="Calibri (MS) Italics"/>
              </a:rPr>
              <a:t>Stock-flow diagram (SFD) pariwisata DIY · 26 variabel dihitung model, 35 input dari luar model</a:t>
            </a:r>
          </a:p>
        </p:txBody>
      </p:sp>
      <p:grpSp>
        <p:nvGrpSpPr>
          <p:cNvPr name="Group 69" id="69"/>
          <p:cNvGrpSpPr/>
          <p:nvPr/>
        </p:nvGrpSpPr>
        <p:grpSpPr>
          <a:xfrm rot="0">
            <a:off x="12344400" y="2331720"/>
            <a:ext cx="2468880" cy="1440180"/>
            <a:chOff x="0" y="0"/>
            <a:chExt cx="3291840" cy="1920240"/>
          </a:xfrm>
        </p:grpSpPr>
        <p:sp>
          <p:nvSpPr>
            <p:cNvPr name="Freeform 70" id="70"/>
            <p:cNvSpPr/>
            <p:nvPr/>
          </p:nvSpPr>
          <p:spPr>
            <a:xfrm flipH="false" flipV="false" rot="0">
              <a:off x="0" y="0"/>
              <a:ext cx="3291840" cy="1920240"/>
            </a:xfrm>
            <a:custGeom>
              <a:avLst/>
              <a:gdLst/>
              <a:ahLst/>
              <a:cxnLst/>
              <a:rect r="r" b="b" t="t" l="l"/>
              <a:pathLst>
                <a:path h="1920240" w="3291840">
                  <a:moveTo>
                    <a:pt x="0" y="182880"/>
                  </a:moveTo>
                  <a:cubicBezTo>
                    <a:pt x="0" y="81915"/>
                    <a:pt x="81915" y="0"/>
                    <a:pt x="182880" y="0"/>
                  </a:cubicBezTo>
                  <a:lnTo>
                    <a:pt x="3108960" y="0"/>
                  </a:lnTo>
                  <a:cubicBezTo>
                    <a:pt x="3209925" y="0"/>
                    <a:pt x="3291840" y="81915"/>
                    <a:pt x="3291840" y="182880"/>
                  </a:cubicBezTo>
                  <a:lnTo>
                    <a:pt x="3291840" y="1737360"/>
                  </a:lnTo>
                  <a:cubicBezTo>
                    <a:pt x="3291840" y="1838325"/>
                    <a:pt x="3209925" y="1920240"/>
                    <a:pt x="3108960" y="1920240"/>
                  </a:cubicBezTo>
                  <a:lnTo>
                    <a:pt x="182880" y="1920240"/>
                  </a:lnTo>
                  <a:cubicBezTo>
                    <a:pt x="81915" y="1920240"/>
                    <a:pt x="0" y="1838325"/>
                    <a:pt x="0" y="1737360"/>
                  </a:cubicBezTo>
                  <a:close/>
                </a:path>
              </a:pathLst>
            </a:custGeom>
            <a:solidFill>
              <a:srgbClr val="EAF8FA"/>
            </a:solidFill>
          </p:spPr>
          <p:txBody>
            <a:bodyPr/>
            <a:p/>
          </p:txBody>
        </p:sp>
      </p:grpSp>
      <p:grpSp>
        <p:nvGrpSpPr>
          <p:cNvPr name="Group 71" id="71"/>
          <p:cNvGrpSpPr/>
          <p:nvPr/>
        </p:nvGrpSpPr>
        <p:grpSpPr>
          <a:xfrm rot="0">
            <a:off x="12344400" y="2441448"/>
            <a:ext cx="2468880" cy="754380"/>
            <a:chOff x="0" y="0"/>
            <a:chExt cx="3291840" cy="1005840"/>
          </a:xfrm>
        </p:grpSpPr>
        <p:sp>
          <p:nvSpPr>
            <p:cNvPr name="Freeform 72" id="72"/>
            <p:cNvSpPr/>
            <p:nvPr/>
          </p:nvSpPr>
          <p:spPr>
            <a:xfrm flipH="false" flipV="false" rot="0">
              <a:off x="0" y="0"/>
              <a:ext cx="3291840" cy="1005840"/>
            </a:xfrm>
            <a:custGeom>
              <a:avLst/>
              <a:gdLst/>
              <a:ahLst/>
              <a:cxnLst/>
              <a:rect r="r" b="b" t="t" l="l"/>
              <a:pathLst>
                <a:path h="1005840" w="3291840">
                  <a:moveTo>
                    <a:pt x="0" y="0"/>
                  </a:moveTo>
                  <a:lnTo>
                    <a:pt x="3291840" y="0"/>
                  </a:lnTo>
                  <a:lnTo>
                    <a:pt x="3291840" y="1005840"/>
                  </a:lnTo>
                  <a:lnTo>
                    <a:pt x="0" y="1005840"/>
                  </a:lnTo>
                  <a:close/>
                </a:path>
              </a:pathLst>
            </a:custGeom>
            <a:blipFill>
              <a:blip r:embed="rId4">
                <a:alphaModFix amt="0"/>
              </a:blip>
              <a:stretch>
                <a:fillRect l="0" t="-13724" r="0" b="-13724"/>
              </a:stretch>
            </a:blipFill>
          </p:spPr>
          <p:txBody>
            <a:bodyPr/>
            <a:p/>
          </p:txBody>
        </p:sp>
      </p:grpSp>
      <p:grpSp>
        <p:nvGrpSpPr>
          <p:cNvPr name="Group 73" id="73"/>
          <p:cNvGrpSpPr/>
          <p:nvPr/>
        </p:nvGrpSpPr>
        <p:grpSpPr>
          <a:xfrm rot="0">
            <a:off x="12344400" y="2370010"/>
            <a:ext cx="2468880" cy="825818"/>
            <a:chOff x="0" y="0"/>
            <a:chExt cx="3291840" cy="1101090"/>
          </a:xfrm>
        </p:grpSpPr>
        <p:sp>
          <p:nvSpPr>
            <p:cNvPr name="Freeform 74" id="74"/>
            <p:cNvSpPr/>
            <p:nvPr/>
          </p:nvSpPr>
          <p:spPr>
            <a:xfrm flipH="false" flipV="false" rot="0">
              <a:off x="0" y="0"/>
              <a:ext cx="3291840" cy="1101090"/>
            </a:xfrm>
            <a:custGeom>
              <a:avLst/>
              <a:gdLst/>
              <a:ahLst/>
              <a:cxnLst/>
              <a:rect r="r" b="b" t="t" l="l"/>
              <a:pathLst>
                <a:path h="1101090" w="3291840">
                  <a:moveTo>
                    <a:pt x="0" y="0"/>
                  </a:moveTo>
                  <a:lnTo>
                    <a:pt x="3291840" y="0"/>
                  </a:lnTo>
                  <a:lnTo>
                    <a:pt x="3291840" y="1101090"/>
                  </a:lnTo>
                  <a:lnTo>
                    <a:pt x="0" y="1101090"/>
                  </a:lnTo>
                  <a:close/>
                </a:path>
              </a:pathLst>
            </a:custGeom>
            <a:blipFill>
              <a:blip r:embed="rId5">
                <a:alphaModFix amt="0"/>
              </a:blip>
              <a:stretch>
                <a:fillRect l="0" t="-8212" r="0" b="-8212"/>
              </a:stretch>
            </a:blipFill>
          </p:spPr>
          <p:txBody>
            <a:bodyPr/>
            <a:p/>
          </p:txBody>
        </p:sp>
      </p:grpSp>
      <p:grpSp>
        <p:nvGrpSpPr>
          <p:cNvPr name="Group 75" id="75"/>
          <p:cNvGrpSpPr/>
          <p:nvPr/>
        </p:nvGrpSpPr>
        <p:grpSpPr>
          <a:xfrm rot="0">
            <a:off x="12344400" y="2298573"/>
            <a:ext cx="2468880" cy="897255"/>
            <a:chOff x="0" y="0"/>
            <a:chExt cx="3291840" cy="1196340"/>
          </a:xfrm>
        </p:grpSpPr>
        <p:sp>
          <p:nvSpPr>
            <p:cNvPr name="Freeform 76" id="76"/>
            <p:cNvSpPr/>
            <p:nvPr/>
          </p:nvSpPr>
          <p:spPr>
            <a:xfrm flipH="false" flipV="false" rot="0">
              <a:off x="0" y="0"/>
              <a:ext cx="3291840" cy="1196341"/>
            </a:xfrm>
            <a:custGeom>
              <a:avLst/>
              <a:gdLst/>
              <a:ahLst/>
              <a:cxnLst/>
              <a:rect r="r" b="b" t="t" l="l"/>
              <a:pathLst>
                <a:path h="1196341" w="3291840">
                  <a:moveTo>
                    <a:pt x="0" y="0"/>
                  </a:moveTo>
                  <a:lnTo>
                    <a:pt x="3291840" y="0"/>
                  </a:lnTo>
                  <a:lnTo>
                    <a:pt x="3291840" y="1196341"/>
                  </a:lnTo>
                  <a:lnTo>
                    <a:pt x="0" y="1196341"/>
                  </a:lnTo>
                  <a:close/>
                </a:path>
              </a:pathLst>
            </a:custGeom>
            <a:blipFill>
              <a:blip r:embed="rId6">
                <a:alphaModFix amt="0"/>
              </a:blip>
              <a:stretch>
                <a:fillRect l="0" t="-3614" r="0" b="-3614"/>
              </a:stretch>
            </a:blipFill>
          </p:spPr>
          <p:txBody>
            <a:bodyPr/>
            <a:p/>
          </p:txBody>
        </p:sp>
        <p:sp>
          <p:nvSpPr>
            <p:cNvPr name="TextBox 77" id="77"/>
            <p:cNvSpPr txBox="true"/>
            <p:nvPr/>
          </p:nvSpPr>
          <p:spPr>
            <a:xfrm>
              <a:off x="0" y="-95250"/>
              <a:ext cx="3291840" cy="1291590"/>
            </a:xfrm>
            <a:prstGeom prst="rect">
              <a:avLst/>
            </a:prstGeom>
          </p:spPr>
          <p:txBody>
            <a:bodyPr anchor="ctr" rtlCol="false" tIns="0" lIns="0" bIns="0" rIns="0"/>
            <a:lstStyle/>
            <a:p>
              <a:pPr algn="ctr">
                <a:lnSpc>
                  <a:spcPts val="5400"/>
                </a:lnSpc>
              </a:pPr>
              <a:r>
                <a:rPr lang="en-US" sz="4500" b="true">
                  <a:solidFill>
                    <a:srgbClr val="0B5E6E"/>
                  </a:solidFill>
                  <a:latin typeface="Calibri (MS) Bold"/>
                  <a:ea typeface="Calibri (MS) Bold"/>
                  <a:cs typeface="Calibri (MS) Bold"/>
                  <a:sym typeface="Calibri (MS) Bold"/>
                </a:rPr>
                <a:t>5</a:t>
              </a:r>
            </a:p>
          </p:txBody>
        </p:sp>
      </p:grpSp>
      <p:sp>
        <p:nvSpPr>
          <p:cNvPr name="TextBox 78" id="78"/>
          <p:cNvSpPr txBox="true"/>
          <p:nvPr/>
        </p:nvSpPr>
        <p:spPr>
          <a:xfrm rot="0">
            <a:off x="12344400" y="3067812"/>
            <a:ext cx="2468880" cy="525780"/>
          </a:xfrm>
          <a:prstGeom prst="rect">
            <a:avLst/>
          </a:prstGeom>
        </p:spPr>
        <p:txBody>
          <a:bodyPr anchor="t" rtlCol="false" tIns="0" lIns="0" bIns="0" rIns="0">
            <a:spAutoFit/>
          </a:bodyPr>
          <a:lstStyle/>
          <a:p>
            <a:pPr algn="ctr">
              <a:lnSpc>
                <a:spcPts val="2250"/>
              </a:lnSpc>
            </a:pPr>
            <a:r>
              <a:rPr lang="en-US" sz="1875">
                <a:solidFill>
                  <a:srgbClr val="14313B"/>
                </a:solidFill>
                <a:latin typeface="Calibri (MS)"/>
                <a:ea typeface="Calibri (MS)"/>
                <a:cs typeface="Calibri (MS)"/>
                <a:sym typeface="Calibri (MS)"/>
              </a:rPr>
              <a:t>stock</a:t>
            </a:r>
          </a:p>
        </p:txBody>
      </p:sp>
      <p:grpSp>
        <p:nvGrpSpPr>
          <p:cNvPr name="Group 79" id="79"/>
          <p:cNvGrpSpPr/>
          <p:nvPr/>
        </p:nvGrpSpPr>
        <p:grpSpPr>
          <a:xfrm rot="0">
            <a:off x="14977872" y="2331720"/>
            <a:ext cx="2468880" cy="1440180"/>
            <a:chOff x="0" y="0"/>
            <a:chExt cx="3291840" cy="1920240"/>
          </a:xfrm>
        </p:grpSpPr>
        <p:sp>
          <p:nvSpPr>
            <p:cNvPr name="Freeform 80" id="80"/>
            <p:cNvSpPr/>
            <p:nvPr/>
          </p:nvSpPr>
          <p:spPr>
            <a:xfrm flipH="false" flipV="false" rot="0">
              <a:off x="0" y="0"/>
              <a:ext cx="3291840" cy="1920240"/>
            </a:xfrm>
            <a:custGeom>
              <a:avLst/>
              <a:gdLst/>
              <a:ahLst/>
              <a:cxnLst/>
              <a:rect r="r" b="b" t="t" l="l"/>
              <a:pathLst>
                <a:path h="1920240" w="3291840">
                  <a:moveTo>
                    <a:pt x="0" y="182880"/>
                  </a:moveTo>
                  <a:cubicBezTo>
                    <a:pt x="0" y="81915"/>
                    <a:pt x="81915" y="0"/>
                    <a:pt x="182880" y="0"/>
                  </a:cubicBezTo>
                  <a:lnTo>
                    <a:pt x="3108960" y="0"/>
                  </a:lnTo>
                  <a:cubicBezTo>
                    <a:pt x="3209925" y="0"/>
                    <a:pt x="3291840" y="81915"/>
                    <a:pt x="3291840" y="182880"/>
                  </a:cubicBezTo>
                  <a:lnTo>
                    <a:pt x="3291840" y="1737360"/>
                  </a:lnTo>
                  <a:cubicBezTo>
                    <a:pt x="3291840" y="1838325"/>
                    <a:pt x="3209925" y="1920240"/>
                    <a:pt x="3108960" y="1920240"/>
                  </a:cubicBezTo>
                  <a:lnTo>
                    <a:pt x="182880" y="1920240"/>
                  </a:lnTo>
                  <a:cubicBezTo>
                    <a:pt x="81915" y="1920240"/>
                    <a:pt x="0" y="1838325"/>
                    <a:pt x="0" y="1737360"/>
                  </a:cubicBezTo>
                  <a:close/>
                </a:path>
              </a:pathLst>
            </a:custGeom>
            <a:solidFill>
              <a:srgbClr val="EAF8FA"/>
            </a:solidFill>
          </p:spPr>
          <p:txBody>
            <a:bodyPr/>
            <a:p/>
          </p:txBody>
        </p:sp>
      </p:grpSp>
      <p:grpSp>
        <p:nvGrpSpPr>
          <p:cNvPr name="Group 81" id="81"/>
          <p:cNvGrpSpPr/>
          <p:nvPr/>
        </p:nvGrpSpPr>
        <p:grpSpPr>
          <a:xfrm rot="0">
            <a:off x="14977872" y="2441448"/>
            <a:ext cx="2468880" cy="754380"/>
            <a:chOff x="0" y="0"/>
            <a:chExt cx="3291840" cy="1005840"/>
          </a:xfrm>
        </p:grpSpPr>
        <p:sp>
          <p:nvSpPr>
            <p:cNvPr name="Freeform 82" id="82"/>
            <p:cNvSpPr/>
            <p:nvPr/>
          </p:nvSpPr>
          <p:spPr>
            <a:xfrm flipH="false" flipV="false" rot="0">
              <a:off x="0" y="0"/>
              <a:ext cx="3291840" cy="1005840"/>
            </a:xfrm>
            <a:custGeom>
              <a:avLst/>
              <a:gdLst/>
              <a:ahLst/>
              <a:cxnLst/>
              <a:rect r="r" b="b" t="t" l="l"/>
              <a:pathLst>
                <a:path h="1005840" w="3291840">
                  <a:moveTo>
                    <a:pt x="0" y="0"/>
                  </a:moveTo>
                  <a:lnTo>
                    <a:pt x="3291840" y="0"/>
                  </a:lnTo>
                  <a:lnTo>
                    <a:pt x="3291840" y="1005840"/>
                  </a:lnTo>
                  <a:lnTo>
                    <a:pt x="0" y="1005840"/>
                  </a:lnTo>
                  <a:close/>
                </a:path>
              </a:pathLst>
            </a:custGeom>
            <a:blipFill>
              <a:blip r:embed="rId4">
                <a:alphaModFix amt="0"/>
              </a:blip>
              <a:stretch>
                <a:fillRect l="0" t="-13724" r="0" b="-13724"/>
              </a:stretch>
            </a:blipFill>
          </p:spPr>
          <p:txBody>
            <a:bodyPr/>
            <a:p/>
          </p:txBody>
        </p:sp>
      </p:grpSp>
      <p:grpSp>
        <p:nvGrpSpPr>
          <p:cNvPr name="Group 83" id="83"/>
          <p:cNvGrpSpPr/>
          <p:nvPr/>
        </p:nvGrpSpPr>
        <p:grpSpPr>
          <a:xfrm rot="0">
            <a:off x="14977872" y="2370010"/>
            <a:ext cx="2468880" cy="825818"/>
            <a:chOff x="0" y="0"/>
            <a:chExt cx="3291840" cy="1101090"/>
          </a:xfrm>
        </p:grpSpPr>
        <p:sp>
          <p:nvSpPr>
            <p:cNvPr name="Freeform 84" id="84"/>
            <p:cNvSpPr/>
            <p:nvPr/>
          </p:nvSpPr>
          <p:spPr>
            <a:xfrm flipH="false" flipV="false" rot="0">
              <a:off x="0" y="0"/>
              <a:ext cx="3291840" cy="1101090"/>
            </a:xfrm>
            <a:custGeom>
              <a:avLst/>
              <a:gdLst/>
              <a:ahLst/>
              <a:cxnLst/>
              <a:rect r="r" b="b" t="t" l="l"/>
              <a:pathLst>
                <a:path h="1101090" w="3291840">
                  <a:moveTo>
                    <a:pt x="0" y="0"/>
                  </a:moveTo>
                  <a:lnTo>
                    <a:pt x="3291840" y="0"/>
                  </a:lnTo>
                  <a:lnTo>
                    <a:pt x="3291840" y="1101090"/>
                  </a:lnTo>
                  <a:lnTo>
                    <a:pt x="0" y="1101090"/>
                  </a:lnTo>
                  <a:close/>
                </a:path>
              </a:pathLst>
            </a:custGeom>
            <a:blipFill>
              <a:blip r:embed="rId5">
                <a:alphaModFix amt="0"/>
              </a:blip>
              <a:stretch>
                <a:fillRect l="0" t="-8212" r="0" b="-8212"/>
              </a:stretch>
            </a:blipFill>
          </p:spPr>
          <p:txBody>
            <a:bodyPr/>
            <a:p/>
          </p:txBody>
        </p:sp>
      </p:grpSp>
      <p:grpSp>
        <p:nvGrpSpPr>
          <p:cNvPr name="Group 85" id="85"/>
          <p:cNvGrpSpPr/>
          <p:nvPr/>
        </p:nvGrpSpPr>
        <p:grpSpPr>
          <a:xfrm rot="0">
            <a:off x="14977872" y="2298573"/>
            <a:ext cx="2468880" cy="897255"/>
            <a:chOff x="0" y="0"/>
            <a:chExt cx="3291840" cy="1196340"/>
          </a:xfrm>
        </p:grpSpPr>
        <p:sp>
          <p:nvSpPr>
            <p:cNvPr name="Freeform 86" id="86"/>
            <p:cNvSpPr/>
            <p:nvPr/>
          </p:nvSpPr>
          <p:spPr>
            <a:xfrm flipH="false" flipV="false" rot="0">
              <a:off x="0" y="0"/>
              <a:ext cx="3291840" cy="1196341"/>
            </a:xfrm>
            <a:custGeom>
              <a:avLst/>
              <a:gdLst/>
              <a:ahLst/>
              <a:cxnLst/>
              <a:rect r="r" b="b" t="t" l="l"/>
              <a:pathLst>
                <a:path h="1196341" w="3291840">
                  <a:moveTo>
                    <a:pt x="0" y="0"/>
                  </a:moveTo>
                  <a:lnTo>
                    <a:pt x="3291840" y="0"/>
                  </a:lnTo>
                  <a:lnTo>
                    <a:pt x="3291840" y="1196341"/>
                  </a:lnTo>
                  <a:lnTo>
                    <a:pt x="0" y="1196341"/>
                  </a:lnTo>
                  <a:close/>
                </a:path>
              </a:pathLst>
            </a:custGeom>
            <a:blipFill>
              <a:blip r:embed="rId6">
                <a:alphaModFix amt="0"/>
              </a:blip>
              <a:stretch>
                <a:fillRect l="0" t="-3614" r="0" b="-3614"/>
              </a:stretch>
            </a:blipFill>
          </p:spPr>
          <p:txBody>
            <a:bodyPr/>
            <a:p/>
          </p:txBody>
        </p:sp>
        <p:sp>
          <p:nvSpPr>
            <p:cNvPr name="TextBox 87" id="87"/>
            <p:cNvSpPr txBox="true"/>
            <p:nvPr/>
          </p:nvSpPr>
          <p:spPr>
            <a:xfrm>
              <a:off x="0" y="-95250"/>
              <a:ext cx="3291840" cy="1291590"/>
            </a:xfrm>
            <a:prstGeom prst="rect">
              <a:avLst/>
            </a:prstGeom>
          </p:spPr>
          <p:txBody>
            <a:bodyPr anchor="ctr" rtlCol="false" tIns="0" lIns="0" bIns="0" rIns="0"/>
            <a:lstStyle/>
            <a:p>
              <a:pPr algn="ctr">
                <a:lnSpc>
                  <a:spcPts val="5400"/>
                </a:lnSpc>
              </a:pPr>
              <a:r>
                <a:rPr lang="en-US" sz="4500" b="true">
                  <a:solidFill>
                    <a:srgbClr val="0B5E6E"/>
                  </a:solidFill>
                  <a:latin typeface="Calibri (MS) Bold"/>
                  <a:ea typeface="Calibri (MS) Bold"/>
                  <a:cs typeface="Calibri (MS) Bold"/>
                  <a:sym typeface="Calibri (MS) Bold"/>
                </a:rPr>
                <a:t>10</a:t>
              </a:r>
            </a:p>
          </p:txBody>
        </p:sp>
      </p:grpSp>
      <p:sp>
        <p:nvSpPr>
          <p:cNvPr name="TextBox 88" id="88"/>
          <p:cNvSpPr txBox="true"/>
          <p:nvPr/>
        </p:nvSpPr>
        <p:spPr>
          <a:xfrm rot="0">
            <a:off x="14977872" y="3067812"/>
            <a:ext cx="2468880" cy="525780"/>
          </a:xfrm>
          <a:prstGeom prst="rect">
            <a:avLst/>
          </a:prstGeom>
        </p:spPr>
        <p:txBody>
          <a:bodyPr anchor="t" rtlCol="false" tIns="0" lIns="0" bIns="0" rIns="0">
            <a:spAutoFit/>
          </a:bodyPr>
          <a:lstStyle/>
          <a:p>
            <a:pPr algn="ctr">
              <a:lnSpc>
                <a:spcPts val="2250"/>
              </a:lnSpc>
            </a:pPr>
            <a:r>
              <a:rPr lang="en-US" sz="1875">
                <a:solidFill>
                  <a:srgbClr val="14313B"/>
                </a:solidFill>
                <a:latin typeface="Calibri (MS)"/>
                <a:ea typeface="Calibri (MS)"/>
                <a:cs typeface="Calibri (MS)"/>
                <a:sym typeface="Calibri (MS)"/>
              </a:rPr>
              <a:t>flow</a:t>
            </a:r>
          </a:p>
        </p:txBody>
      </p:sp>
      <p:grpSp>
        <p:nvGrpSpPr>
          <p:cNvPr name="Group 89" id="89"/>
          <p:cNvGrpSpPr/>
          <p:nvPr/>
        </p:nvGrpSpPr>
        <p:grpSpPr>
          <a:xfrm rot="0">
            <a:off x="12344400" y="3977640"/>
            <a:ext cx="2468880" cy="1440180"/>
            <a:chOff x="0" y="0"/>
            <a:chExt cx="3291840" cy="1920240"/>
          </a:xfrm>
        </p:grpSpPr>
        <p:sp>
          <p:nvSpPr>
            <p:cNvPr name="Freeform 90" id="90"/>
            <p:cNvSpPr/>
            <p:nvPr/>
          </p:nvSpPr>
          <p:spPr>
            <a:xfrm flipH="false" flipV="false" rot="0">
              <a:off x="0" y="0"/>
              <a:ext cx="3291840" cy="1920240"/>
            </a:xfrm>
            <a:custGeom>
              <a:avLst/>
              <a:gdLst/>
              <a:ahLst/>
              <a:cxnLst/>
              <a:rect r="r" b="b" t="t" l="l"/>
              <a:pathLst>
                <a:path h="1920240" w="3291840">
                  <a:moveTo>
                    <a:pt x="0" y="182880"/>
                  </a:moveTo>
                  <a:cubicBezTo>
                    <a:pt x="0" y="81915"/>
                    <a:pt x="81915" y="0"/>
                    <a:pt x="182880" y="0"/>
                  </a:cubicBezTo>
                  <a:lnTo>
                    <a:pt x="3108960" y="0"/>
                  </a:lnTo>
                  <a:cubicBezTo>
                    <a:pt x="3209925" y="0"/>
                    <a:pt x="3291840" y="81915"/>
                    <a:pt x="3291840" y="182880"/>
                  </a:cubicBezTo>
                  <a:lnTo>
                    <a:pt x="3291840" y="1737360"/>
                  </a:lnTo>
                  <a:cubicBezTo>
                    <a:pt x="3291840" y="1838325"/>
                    <a:pt x="3209925" y="1920240"/>
                    <a:pt x="3108960" y="1920240"/>
                  </a:cubicBezTo>
                  <a:lnTo>
                    <a:pt x="182880" y="1920240"/>
                  </a:lnTo>
                  <a:cubicBezTo>
                    <a:pt x="81915" y="1920240"/>
                    <a:pt x="0" y="1838325"/>
                    <a:pt x="0" y="1737360"/>
                  </a:cubicBezTo>
                  <a:close/>
                </a:path>
              </a:pathLst>
            </a:custGeom>
            <a:solidFill>
              <a:srgbClr val="EAF8FA"/>
            </a:solidFill>
          </p:spPr>
          <p:txBody>
            <a:bodyPr/>
            <a:p/>
          </p:txBody>
        </p:sp>
      </p:grpSp>
      <p:grpSp>
        <p:nvGrpSpPr>
          <p:cNvPr name="Group 91" id="91"/>
          <p:cNvGrpSpPr/>
          <p:nvPr/>
        </p:nvGrpSpPr>
        <p:grpSpPr>
          <a:xfrm rot="0">
            <a:off x="12344400" y="4087368"/>
            <a:ext cx="2468880" cy="754380"/>
            <a:chOff x="0" y="0"/>
            <a:chExt cx="3291840" cy="1005840"/>
          </a:xfrm>
        </p:grpSpPr>
        <p:sp>
          <p:nvSpPr>
            <p:cNvPr name="Freeform 92" id="92"/>
            <p:cNvSpPr/>
            <p:nvPr/>
          </p:nvSpPr>
          <p:spPr>
            <a:xfrm flipH="false" flipV="false" rot="0">
              <a:off x="0" y="0"/>
              <a:ext cx="3291840" cy="1005840"/>
            </a:xfrm>
            <a:custGeom>
              <a:avLst/>
              <a:gdLst/>
              <a:ahLst/>
              <a:cxnLst/>
              <a:rect r="r" b="b" t="t" l="l"/>
              <a:pathLst>
                <a:path h="1005840" w="3291840">
                  <a:moveTo>
                    <a:pt x="0" y="0"/>
                  </a:moveTo>
                  <a:lnTo>
                    <a:pt x="3291840" y="0"/>
                  </a:lnTo>
                  <a:lnTo>
                    <a:pt x="3291840" y="1005840"/>
                  </a:lnTo>
                  <a:lnTo>
                    <a:pt x="0" y="1005840"/>
                  </a:lnTo>
                  <a:close/>
                </a:path>
              </a:pathLst>
            </a:custGeom>
            <a:blipFill>
              <a:blip r:embed="rId4">
                <a:alphaModFix amt="0"/>
              </a:blip>
              <a:stretch>
                <a:fillRect l="0" t="-13724" r="0" b="-13724"/>
              </a:stretch>
            </a:blipFill>
          </p:spPr>
          <p:txBody>
            <a:bodyPr/>
            <a:p/>
          </p:txBody>
        </p:sp>
      </p:grpSp>
      <p:grpSp>
        <p:nvGrpSpPr>
          <p:cNvPr name="Group 93" id="93"/>
          <p:cNvGrpSpPr/>
          <p:nvPr/>
        </p:nvGrpSpPr>
        <p:grpSpPr>
          <a:xfrm rot="0">
            <a:off x="12344400" y="4015931"/>
            <a:ext cx="2468880" cy="825818"/>
            <a:chOff x="0" y="0"/>
            <a:chExt cx="3291840" cy="1101090"/>
          </a:xfrm>
        </p:grpSpPr>
        <p:sp>
          <p:nvSpPr>
            <p:cNvPr name="Freeform 94" id="94"/>
            <p:cNvSpPr/>
            <p:nvPr/>
          </p:nvSpPr>
          <p:spPr>
            <a:xfrm flipH="false" flipV="false" rot="0">
              <a:off x="0" y="0"/>
              <a:ext cx="3291840" cy="1101090"/>
            </a:xfrm>
            <a:custGeom>
              <a:avLst/>
              <a:gdLst/>
              <a:ahLst/>
              <a:cxnLst/>
              <a:rect r="r" b="b" t="t" l="l"/>
              <a:pathLst>
                <a:path h="1101090" w="3291840">
                  <a:moveTo>
                    <a:pt x="0" y="0"/>
                  </a:moveTo>
                  <a:lnTo>
                    <a:pt x="3291840" y="0"/>
                  </a:lnTo>
                  <a:lnTo>
                    <a:pt x="3291840" y="1101090"/>
                  </a:lnTo>
                  <a:lnTo>
                    <a:pt x="0" y="1101090"/>
                  </a:lnTo>
                  <a:close/>
                </a:path>
              </a:pathLst>
            </a:custGeom>
            <a:blipFill>
              <a:blip r:embed="rId5">
                <a:alphaModFix amt="0"/>
              </a:blip>
              <a:stretch>
                <a:fillRect l="0" t="-8212" r="0" b="-8212"/>
              </a:stretch>
            </a:blipFill>
          </p:spPr>
          <p:txBody>
            <a:bodyPr/>
            <a:p/>
          </p:txBody>
        </p:sp>
      </p:grpSp>
      <p:grpSp>
        <p:nvGrpSpPr>
          <p:cNvPr name="Group 95" id="95"/>
          <p:cNvGrpSpPr/>
          <p:nvPr/>
        </p:nvGrpSpPr>
        <p:grpSpPr>
          <a:xfrm rot="0">
            <a:off x="12344400" y="3944493"/>
            <a:ext cx="2468880" cy="897255"/>
            <a:chOff x="0" y="0"/>
            <a:chExt cx="3291840" cy="1196340"/>
          </a:xfrm>
        </p:grpSpPr>
        <p:sp>
          <p:nvSpPr>
            <p:cNvPr name="Freeform 96" id="96"/>
            <p:cNvSpPr/>
            <p:nvPr/>
          </p:nvSpPr>
          <p:spPr>
            <a:xfrm flipH="false" flipV="false" rot="0">
              <a:off x="0" y="0"/>
              <a:ext cx="3291840" cy="1196341"/>
            </a:xfrm>
            <a:custGeom>
              <a:avLst/>
              <a:gdLst/>
              <a:ahLst/>
              <a:cxnLst/>
              <a:rect r="r" b="b" t="t" l="l"/>
              <a:pathLst>
                <a:path h="1196341" w="3291840">
                  <a:moveTo>
                    <a:pt x="0" y="0"/>
                  </a:moveTo>
                  <a:lnTo>
                    <a:pt x="3291840" y="0"/>
                  </a:lnTo>
                  <a:lnTo>
                    <a:pt x="3291840" y="1196341"/>
                  </a:lnTo>
                  <a:lnTo>
                    <a:pt x="0" y="1196341"/>
                  </a:lnTo>
                  <a:close/>
                </a:path>
              </a:pathLst>
            </a:custGeom>
            <a:blipFill>
              <a:blip r:embed="rId6">
                <a:alphaModFix amt="0"/>
              </a:blip>
              <a:stretch>
                <a:fillRect l="0" t="-3614" r="0" b="-3614"/>
              </a:stretch>
            </a:blipFill>
          </p:spPr>
          <p:txBody>
            <a:bodyPr/>
            <a:p/>
          </p:txBody>
        </p:sp>
        <p:sp>
          <p:nvSpPr>
            <p:cNvPr name="TextBox 97" id="97"/>
            <p:cNvSpPr txBox="true"/>
            <p:nvPr/>
          </p:nvSpPr>
          <p:spPr>
            <a:xfrm>
              <a:off x="0" y="-95250"/>
              <a:ext cx="3291840" cy="1291590"/>
            </a:xfrm>
            <a:prstGeom prst="rect">
              <a:avLst/>
            </a:prstGeom>
          </p:spPr>
          <p:txBody>
            <a:bodyPr anchor="ctr" rtlCol="false" tIns="0" lIns="0" bIns="0" rIns="0"/>
            <a:lstStyle/>
            <a:p>
              <a:pPr algn="ctr">
                <a:lnSpc>
                  <a:spcPts val="5400"/>
                </a:lnSpc>
              </a:pPr>
              <a:r>
                <a:rPr lang="en-US" sz="4500" b="true">
                  <a:solidFill>
                    <a:srgbClr val="0B5E6E"/>
                  </a:solidFill>
                  <a:latin typeface="Calibri (MS) Bold"/>
                  <a:ea typeface="Calibri (MS) Bold"/>
                  <a:cs typeface="Calibri (MS) Bold"/>
                  <a:sym typeface="Calibri (MS) Bold"/>
                </a:rPr>
                <a:t>11</a:t>
              </a:r>
            </a:p>
          </p:txBody>
        </p:sp>
      </p:grpSp>
      <p:sp>
        <p:nvSpPr>
          <p:cNvPr name="TextBox 98" id="98"/>
          <p:cNvSpPr txBox="true"/>
          <p:nvPr/>
        </p:nvSpPr>
        <p:spPr>
          <a:xfrm rot="0">
            <a:off x="12344400" y="4713732"/>
            <a:ext cx="2468880" cy="525780"/>
          </a:xfrm>
          <a:prstGeom prst="rect">
            <a:avLst/>
          </a:prstGeom>
        </p:spPr>
        <p:txBody>
          <a:bodyPr anchor="t" rtlCol="false" tIns="0" lIns="0" bIns="0" rIns="0">
            <a:spAutoFit/>
          </a:bodyPr>
          <a:lstStyle/>
          <a:p>
            <a:pPr algn="ctr">
              <a:lnSpc>
                <a:spcPts val="2250"/>
              </a:lnSpc>
            </a:pPr>
            <a:r>
              <a:rPr lang="en-US" sz="1875">
                <a:solidFill>
                  <a:srgbClr val="14313B"/>
                </a:solidFill>
                <a:latin typeface="Calibri (MS)"/>
                <a:ea typeface="Calibri (MS)"/>
                <a:cs typeface="Calibri (MS)"/>
                <a:sym typeface="Calibri (MS)"/>
              </a:rPr>
              <a:t>auxiliary</a:t>
            </a:r>
          </a:p>
        </p:txBody>
      </p:sp>
      <p:grpSp>
        <p:nvGrpSpPr>
          <p:cNvPr name="Group 99" id="99"/>
          <p:cNvGrpSpPr/>
          <p:nvPr/>
        </p:nvGrpSpPr>
        <p:grpSpPr>
          <a:xfrm rot="0">
            <a:off x="14977872" y="3977640"/>
            <a:ext cx="2468880" cy="1440180"/>
            <a:chOff x="0" y="0"/>
            <a:chExt cx="3291840" cy="1920240"/>
          </a:xfrm>
        </p:grpSpPr>
        <p:sp>
          <p:nvSpPr>
            <p:cNvPr name="Freeform 100" id="100"/>
            <p:cNvSpPr/>
            <p:nvPr/>
          </p:nvSpPr>
          <p:spPr>
            <a:xfrm flipH="false" flipV="false" rot="0">
              <a:off x="0" y="0"/>
              <a:ext cx="3291840" cy="1920240"/>
            </a:xfrm>
            <a:custGeom>
              <a:avLst/>
              <a:gdLst/>
              <a:ahLst/>
              <a:cxnLst/>
              <a:rect r="r" b="b" t="t" l="l"/>
              <a:pathLst>
                <a:path h="1920240" w="3291840">
                  <a:moveTo>
                    <a:pt x="0" y="182880"/>
                  </a:moveTo>
                  <a:cubicBezTo>
                    <a:pt x="0" y="81915"/>
                    <a:pt x="81915" y="0"/>
                    <a:pt x="182880" y="0"/>
                  </a:cubicBezTo>
                  <a:lnTo>
                    <a:pt x="3108960" y="0"/>
                  </a:lnTo>
                  <a:cubicBezTo>
                    <a:pt x="3209925" y="0"/>
                    <a:pt x="3291840" y="81915"/>
                    <a:pt x="3291840" y="182880"/>
                  </a:cubicBezTo>
                  <a:lnTo>
                    <a:pt x="3291840" y="1737360"/>
                  </a:lnTo>
                  <a:cubicBezTo>
                    <a:pt x="3291840" y="1838325"/>
                    <a:pt x="3209925" y="1920240"/>
                    <a:pt x="3108960" y="1920240"/>
                  </a:cubicBezTo>
                  <a:lnTo>
                    <a:pt x="182880" y="1920240"/>
                  </a:lnTo>
                  <a:cubicBezTo>
                    <a:pt x="81915" y="1920240"/>
                    <a:pt x="0" y="1838325"/>
                    <a:pt x="0" y="1737360"/>
                  </a:cubicBezTo>
                  <a:close/>
                </a:path>
              </a:pathLst>
            </a:custGeom>
            <a:solidFill>
              <a:srgbClr val="EAF8FA"/>
            </a:solidFill>
          </p:spPr>
          <p:txBody>
            <a:bodyPr/>
            <a:p/>
          </p:txBody>
        </p:sp>
      </p:grpSp>
      <p:grpSp>
        <p:nvGrpSpPr>
          <p:cNvPr name="Group 101" id="101"/>
          <p:cNvGrpSpPr/>
          <p:nvPr/>
        </p:nvGrpSpPr>
        <p:grpSpPr>
          <a:xfrm rot="0">
            <a:off x="14977872" y="4087368"/>
            <a:ext cx="2468880" cy="754380"/>
            <a:chOff x="0" y="0"/>
            <a:chExt cx="3291840" cy="1005840"/>
          </a:xfrm>
        </p:grpSpPr>
        <p:sp>
          <p:nvSpPr>
            <p:cNvPr name="Freeform 102" id="102"/>
            <p:cNvSpPr/>
            <p:nvPr/>
          </p:nvSpPr>
          <p:spPr>
            <a:xfrm flipH="false" flipV="false" rot="0">
              <a:off x="0" y="0"/>
              <a:ext cx="3291840" cy="1005840"/>
            </a:xfrm>
            <a:custGeom>
              <a:avLst/>
              <a:gdLst/>
              <a:ahLst/>
              <a:cxnLst/>
              <a:rect r="r" b="b" t="t" l="l"/>
              <a:pathLst>
                <a:path h="1005840" w="3291840">
                  <a:moveTo>
                    <a:pt x="0" y="0"/>
                  </a:moveTo>
                  <a:lnTo>
                    <a:pt x="3291840" y="0"/>
                  </a:lnTo>
                  <a:lnTo>
                    <a:pt x="3291840" y="1005840"/>
                  </a:lnTo>
                  <a:lnTo>
                    <a:pt x="0" y="1005840"/>
                  </a:lnTo>
                  <a:close/>
                </a:path>
              </a:pathLst>
            </a:custGeom>
            <a:blipFill>
              <a:blip r:embed="rId4">
                <a:alphaModFix amt="0"/>
              </a:blip>
              <a:stretch>
                <a:fillRect l="0" t="-13724" r="0" b="-13724"/>
              </a:stretch>
            </a:blipFill>
          </p:spPr>
          <p:txBody>
            <a:bodyPr/>
            <a:p/>
          </p:txBody>
        </p:sp>
      </p:grpSp>
      <p:grpSp>
        <p:nvGrpSpPr>
          <p:cNvPr name="Group 103" id="103"/>
          <p:cNvGrpSpPr/>
          <p:nvPr/>
        </p:nvGrpSpPr>
        <p:grpSpPr>
          <a:xfrm rot="0">
            <a:off x="14977872" y="4015931"/>
            <a:ext cx="2468880" cy="825818"/>
            <a:chOff x="0" y="0"/>
            <a:chExt cx="3291840" cy="1101090"/>
          </a:xfrm>
        </p:grpSpPr>
        <p:sp>
          <p:nvSpPr>
            <p:cNvPr name="Freeform 104" id="104"/>
            <p:cNvSpPr/>
            <p:nvPr/>
          </p:nvSpPr>
          <p:spPr>
            <a:xfrm flipH="false" flipV="false" rot="0">
              <a:off x="0" y="0"/>
              <a:ext cx="3291840" cy="1101090"/>
            </a:xfrm>
            <a:custGeom>
              <a:avLst/>
              <a:gdLst/>
              <a:ahLst/>
              <a:cxnLst/>
              <a:rect r="r" b="b" t="t" l="l"/>
              <a:pathLst>
                <a:path h="1101090" w="3291840">
                  <a:moveTo>
                    <a:pt x="0" y="0"/>
                  </a:moveTo>
                  <a:lnTo>
                    <a:pt x="3291840" y="0"/>
                  </a:lnTo>
                  <a:lnTo>
                    <a:pt x="3291840" y="1101090"/>
                  </a:lnTo>
                  <a:lnTo>
                    <a:pt x="0" y="1101090"/>
                  </a:lnTo>
                  <a:close/>
                </a:path>
              </a:pathLst>
            </a:custGeom>
            <a:blipFill>
              <a:blip r:embed="rId5">
                <a:alphaModFix amt="0"/>
              </a:blip>
              <a:stretch>
                <a:fillRect l="0" t="-8212" r="0" b="-8212"/>
              </a:stretch>
            </a:blipFill>
          </p:spPr>
          <p:txBody>
            <a:bodyPr/>
            <a:p/>
          </p:txBody>
        </p:sp>
      </p:grpSp>
      <p:grpSp>
        <p:nvGrpSpPr>
          <p:cNvPr name="Group 105" id="105"/>
          <p:cNvGrpSpPr/>
          <p:nvPr/>
        </p:nvGrpSpPr>
        <p:grpSpPr>
          <a:xfrm rot="0">
            <a:off x="14977872" y="3944493"/>
            <a:ext cx="2468880" cy="897255"/>
            <a:chOff x="0" y="0"/>
            <a:chExt cx="3291840" cy="1196340"/>
          </a:xfrm>
        </p:grpSpPr>
        <p:sp>
          <p:nvSpPr>
            <p:cNvPr name="Freeform 106" id="106"/>
            <p:cNvSpPr/>
            <p:nvPr/>
          </p:nvSpPr>
          <p:spPr>
            <a:xfrm flipH="false" flipV="false" rot="0">
              <a:off x="0" y="0"/>
              <a:ext cx="3291840" cy="1196341"/>
            </a:xfrm>
            <a:custGeom>
              <a:avLst/>
              <a:gdLst/>
              <a:ahLst/>
              <a:cxnLst/>
              <a:rect r="r" b="b" t="t" l="l"/>
              <a:pathLst>
                <a:path h="1196341" w="3291840">
                  <a:moveTo>
                    <a:pt x="0" y="0"/>
                  </a:moveTo>
                  <a:lnTo>
                    <a:pt x="3291840" y="0"/>
                  </a:lnTo>
                  <a:lnTo>
                    <a:pt x="3291840" y="1196341"/>
                  </a:lnTo>
                  <a:lnTo>
                    <a:pt x="0" y="1196341"/>
                  </a:lnTo>
                  <a:close/>
                </a:path>
              </a:pathLst>
            </a:custGeom>
            <a:blipFill>
              <a:blip r:embed="rId6">
                <a:alphaModFix amt="0"/>
              </a:blip>
              <a:stretch>
                <a:fillRect l="0" t="-3614" r="0" b="-3614"/>
              </a:stretch>
            </a:blipFill>
          </p:spPr>
          <p:txBody>
            <a:bodyPr/>
            <a:p/>
          </p:txBody>
        </p:sp>
        <p:sp>
          <p:nvSpPr>
            <p:cNvPr name="TextBox 107" id="107"/>
            <p:cNvSpPr txBox="true"/>
            <p:nvPr/>
          </p:nvSpPr>
          <p:spPr>
            <a:xfrm>
              <a:off x="0" y="-95250"/>
              <a:ext cx="3291840" cy="1291590"/>
            </a:xfrm>
            <a:prstGeom prst="rect">
              <a:avLst/>
            </a:prstGeom>
          </p:spPr>
          <p:txBody>
            <a:bodyPr anchor="ctr" rtlCol="false" tIns="0" lIns="0" bIns="0" rIns="0"/>
            <a:lstStyle/>
            <a:p>
              <a:pPr algn="ctr">
                <a:lnSpc>
                  <a:spcPts val="5400"/>
                </a:lnSpc>
              </a:pPr>
              <a:r>
                <a:rPr lang="en-US" sz="4500" b="true">
                  <a:solidFill>
                    <a:srgbClr val="0B5E6E"/>
                  </a:solidFill>
                  <a:latin typeface="Calibri (MS) Bold"/>
                  <a:ea typeface="Calibri (MS) Bold"/>
                  <a:cs typeface="Calibri (MS) Bold"/>
                  <a:sym typeface="Calibri (MS) Bold"/>
                </a:rPr>
                <a:t>35</a:t>
              </a:r>
            </a:p>
          </p:txBody>
        </p:sp>
      </p:grpSp>
      <p:sp>
        <p:nvSpPr>
          <p:cNvPr name="TextBox 108" id="108"/>
          <p:cNvSpPr txBox="true"/>
          <p:nvPr/>
        </p:nvSpPr>
        <p:spPr>
          <a:xfrm rot="0">
            <a:off x="14977872" y="4713732"/>
            <a:ext cx="2468880" cy="525780"/>
          </a:xfrm>
          <a:prstGeom prst="rect">
            <a:avLst/>
          </a:prstGeom>
        </p:spPr>
        <p:txBody>
          <a:bodyPr anchor="t" rtlCol="false" tIns="0" lIns="0" bIns="0" rIns="0">
            <a:spAutoFit/>
          </a:bodyPr>
          <a:lstStyle/>
          <a:p>
            <a:pPr algn="ctr">
              <a:lnSpc>
                <a:spcPts val="2250"/>
              </a:lnSpc>
            </a:pPr>
            <a:r>
              <a:rPr lang="en-US" sz="1875">
                <a:solidFill>
                  <a:srgbClr val="14313B"/>
                </a:solidFill>
                <a:latin typeface="Calibri (MS)"/>
                <a:ea typeface="Calibri (MS)"/>
                <a:cs typeface="Calibri (MS)"/>
                <a:sym typeface="Calibri (MS)"/>
              </a:rPr>
              <a:t>parameter</a:t>
            </a:r>
          </a:p>
        </p:txBody>
      </p:sp>
      <p:graphicFrame>
        <p:nvGraphicFramePr>
          <p:cNvPr name="Table 109" id="109"/>
          <p:cNvGraphicFramePr>
            <a:graphicFrameLocks noGrp="true"/>
          </p:cNvGraphicFramePr>
          <p:nvPr/>
        </p:nvGraphicFramePr>
        <p:xfrm>
          <a:off x="12344400" y="5760720"/>
          <a:ext cx="5080000" cy="3200400"/>
        </p:xfrm>
        <a:graphic>
          <a:graphicData uri="http://schemas.openxmlformats.org/drawingml/2006/table">
            <a:tbl>
              <a:tblPr/>
              <a:tblGrid>
                <a:gridCol w="2652794"/>
                <a:gridCol w="2427206"/>
              </a:tblGrid>
              <a:tr h="533400">
                <a:tc>
                  <a:txBody>
                    <a:bodyPr anchor="t" rtlCol="false"/>
                    <a:lstStyle/>
                    <a:p>
                      <a:pPr algn="l">
                        <a:lnSpc>
                          <a:spcPts val="2070"/>
                        </a:lnSpc>
                        <a:defRPr/>
                      </a:pPr>
                      <a:r>
                        <a:rPr lang="en-US" sz="1725" b="true">
                          <a:solidFill>
                            <a:srgbClr val="FFFFFF"/>
                          </a:solidFill>
                          <a:latin typeface="Calibri (MS) Bold"/>
                          <a:ea typeface="Calibri (MS) Bold"/>
                          <a:cs typeface="Calibri (MS) Bold"/>
                          <a:sym typeface="Calibri (MS) Bold"/>
                        </a:rPr>
                        <a:t>Stok (nilai awal 2025)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1679"/>
                        </a:lnSpc>
                        <a:defRPr/>
                      </a:pP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r>
              <a:tr h="533400">
                <a:tc>
                  <a:txBody>
                    <a:bodyPr anchor="t" rtlCol="false"/>
                    <a:lstStyle/>
                    <a:p>
                      <a:pPr algn="l">
                        <a:lnSpc>
                          <a:spcPts val="1980"/>
                        </a:lnSpc>
                        <a:defRPr/>
                      </a:pPr>
                      <a:r>
                        <a:rPr lang="en-US" sz="1650">
                          <a:solidFill>
                            <a:srgbClr val="14313B"/>
                          </a:solidFill>
                          <a:latin typeface="Calibri (MS)"/>
                          <a:ea typeface="Calibri (MS)"/>
                          <a:cs typeface="Calibri (MS)"/>
                          <a:sym typeface="Calibri (MS)"/>
                        </a:rPr>
                        <a:t>Jumlah wisatawan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1980"/>
                        </a:lnSpc>
                        <a:defRPr/>
                      </a:pPr>
                      <a:r>
                        <a:rPr lang="en-US" sz="1650">
                          <a:solidFill>
                            <a:srgbClr val="14313B"/>
                          </a:solidFill>
                          <a:latin typeface="Calibri (MS)"/>
                          <a:ea typeface="Calibri (MS)"/>
                          <a:cs typeface="Calibri (MS)"/>
                          <a:sym typeface="Calibri (MS)"/>
                        </a:rPr>
                        <a:t>40.695.654 kunjungan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33400">
                <a:tc>
                  <a:txBody>
                    <a:bodyPr anchor="t" rtlCol="false"/>
                    <a:lstStyle/>
                    <a:p>
                      <a:pPr algn="l">
                        <a:lnSpc>
                          <a:spcPts val="1980"/>
                        </a:lnSpc>
                        <a:defRPr/>
                      </a:pPr>
                      <a:r>
                        <a:rPr lang="en-US" sz="1650">
                          <a:solidFill>
                            <a:srgbClr val="14313B"/>
                          </a:solidFill>
                          <a:latin typeface="Calibri (MS)"/>
                          <a:ea typeface="Calibri (MS)"/>
                          <a:cs typeface="Calibri (MS)"/>
                          <a:sym typeface="Calibri (MS)"/>
                        </a:rPr>
                        <a:t>Hotel dan akomodasi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1980"/>
                        </a:lnSpc>
                        <a:defRPr/>
                      </a:pPr>
                      <a:r>
                        <a:rPr lang="en-US" sz="1650">
                          <a:solidFill>
                            <a:srgbClr val="14313B"/>
                          </a:solidFill>
                          <a:latin typeface="Calibri (MS)"/>
                          <a:ea typeface="Calibri (MS)"/>
                          <a:cs typeface="Calibri (MS)"/>
                          <a:sym typeface="Calibri (MS)"/>
                        </a:rPr>
                        <a:t>2.291 unit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33400">
                <a:tc>
                  <a:txBody>
                    <a:bodyPr anchor="t" rtlCol="false"/>
                    <a:lstStyle/>
                    <a:p>
                      <a:pPr algn="l">
                        <a:lnSpc>
                          <a:spcPts val="1980"/>
                        </a:lnSpc>
                        <a:defRPr/>
                      </a:pPr>
                      <a:r>
                        <a:rPr lang="en-US" sz="1650">
                          <a:solidFill>
                            <a:srgbClr val="14313B"/>
                          </a:solidFill>
                          <a:latin typeface="Calibri (MS)"/>
                          <a:ea typeface="Calibri (MS)"/>
                          <a:cs typeface="Calibri (MS)"/>
                          <a:sym typeface="Calibri (MS)"/>
                        </a:rPr>
                        <a:t>Objek daya tarik wisata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1980"/>
                        </a:lnSpc>
                        <a:defRPr/>
                      </a:pPr>
                      <a:r>
                        <a:rPr lang="en-US" sz="1650">
                          <a:solidFill>
                            <a:srgbClr val="14313B"/>
                          </a:solidFill>
                          <a:latin typeface="Calibri (MS)"/>
                          <a:ea typeface="Calibri (MS)"/>
                          <a:cs typeface="Calibri (MS)"/>
                          <a:sym typeface="Calibri (MS)"/>
                        </a:rPr>
                        <a:t>201 unit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33400">
                <a:tc>
                  <a:txBody>
                    <a:bodyPr anchor="t" rtlCol="false"/>
                    <a:lstStyle/>
                    <a:p>
                      <a:pPr algn="l">
                        <a:lnSpc>
                          <a:spcPts val="1980"/>
                        </a:lnSpc>
                        <a:defRPr/>
                      </a:pPr>
                      <a:r>
                        <a:rPr lang="en-US" sz="1650">
                          <a:solidFill>
                            <a:srgbClr val="14313B"/>
                          </a:solidFill>
                          <a:latin typeface="Calibri (MS)"/>
                          <a:ea typeface="Calibri (MS)"/>
                          <a:cs typeface="Calibri (MS)"/>
                          <a:sym typeface="Calibri (MS)"/>
                        </a:rPr>
                        <a:t>Tenaga kerja pariwisata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1980"/>
                        </a:lnSpc>
                        <a:defRPr/>
                      </a:pPr>
                      <a:r>
                        <a:rPr lang="en-US" sz="1650">
                          <a:solidFill>
                            <a:srgbClr val="14313B"/>
                          </a:solidFill>
                          <a:latin typeface="Calibri (MS)"/>
                          <a:ea typeface="Calibri (MS)"/>
                          <a:cs typeface="Calibri (MS)"/>
                          <a:sym typeface="Calibri (MS)"/>
                        </a:rPr>
                        <a:t>364.994 jiwa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33400">
                <a:tc>
                  <a:txBody>
                    <a:bodyPr anchor="t" rtlCol="false"/>
                    <a:lstStyle/>
                    <a:p>
                      <a:pPr algn="l">
                        <a:lnSpc>
                          <a:spcPts val="1980"/>
                        </a:lnSpc>
                        <a:defRPr/>
                      </a:pPr>
                      <a:r>
                        <a:rPr lang="en-US" sz="1650">
                          <a:solidFill>
                            <a:srgbClr val="14313B"/>
                          </a:solidFill>
                          <a:latin typeface="Calibri (MS)"/>
                          <a:ea typeface="Calibri (MS)"/>
                          <a:cs typeface="Calibri (MS)"/>
                          <a:sym typeface="Calibri (MS)"/>
                        </a:rPr>
                        <a:t>Lahan terbangun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1980"/>
                        </a:lnSpc>
                        <a:defRPr/>
                      </a:pPr>
                      <a:r>
                        <a:rPr lang="en-US" sz="1650">
                          <a:solidFill>
                            <a:srgbClr val="14313B"/>
                          </a:solidFill>
                          <a:latin typeface="Calibri (MS)"/>
                          <a:ea typeface="Calibri (MS)"/>
                          <a:cs typeface="Calibri (MS)"/>
                          <a:sym typeface="Calibri (MS)"/>
                        </a:rPr>
                        <a:t>55.029,54 ha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bl>
          </a:graphicData>
        </a:graphic>
      </p:graphicFrame>
      <p:sp>
        <p:nvSpPr>
          <p:cNvPr name="TextBox 110" id="110"/>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33</a:t>
            </a:r>
          </a:p>
        </p:txBody>
      </p:sp>
      <p:grpSp>
        <p:nvGrpSpPr>
          <p:cNvPr name="Group 111" id="111"/>
          <p:cNvGrpSpPr/>
          <p:nvPr/>
        </p:nvGrpSpPr>
        <p:grpSpPr>
          <a:xfrm rot="0">
            <a:off x="12755880" y="274320"/>
            <a:ext cx="3931920" cy="411480"/>
            <a:chOff x="0" y="0"/>
            <a:chExt cx="5242560" cy="548640"/>
          </a:xfrm>
        </p:grpSpPr>
        <p:sp>
          <p:nvSpPr>
            <p:cNvPr name="Freeform 112" id="112"/>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13" id="113"/>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2B · Formulasi model</a:t>
              </a:r>
            </a:p>
          </p:txBody>
        </p:sp>
      </p:grpSp>
      <p:grpSp>
        <p:nvGrpSpPr>
          <p:cNvPr name="Group 114" id="114"/>
          <p:cNvGrpSpPr/>
          <p:nvPr/>
        </p:nvGrpSpPr>
        <p:grpSpPr>
          <a:xfrm rot="0">
            <a:off x="16047720" y="9646920"/>
            <a:ext cx="420624" cy="420624"/>
            <a:chOff x="0" y="0"/>
            <a:chExt cx="560832" cy="560832"/>
          </a:xfrm>
        </p:grpSpPr>
        <p:sp>
          <p:nvSpPr>
            <p:cNvPr name="Freeform 115" id="115"/>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16" id="116"/>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3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Stock-Flow Diagram</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Stock-flow diagram pariwisata DIY</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34</a:t>
            </a:r>
          </a:p>
        </p:txBody>
      </p:sp>
      <p:grpSp>
        <p:nvGrpSpPr>
          <p:cNvPr name="Group 67" id="67"/>
          <p:cNvGrpSpPr/>
          <p:nvPr/>
        </p:nvGrpSpPr>
        <p:grpSpPr>
          <a:xfrm rot="0">
            <a:off x="12755880" y="274320"/>
            <a:ext cx="3931920" cy="411480"/>
            <a:chOff x="0" y="0"/>
            <a:chExt cx="5242560" cy="548640"/>
          </a:xfrm>
        </p:grpSpPr>
        <p:sp>
          <p:nvSpPr>
            <p:cNvPr name="Freeform 68" id="68"/>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69" id="69"/>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2B · Formulasi model</a:t>
              </a:r>
            </a:p>
          </p:txBody>
        </p:sp>
      </p:grpSp>
      <p:grpSp>
        <p:nvGrpSpPr>
          <p:cNvPr name="Group 70" id="70"/>
          <p:cNvGrpSpPr/>
          <p:nvPr/>
        </p:nvGrpSpPr>
        <p:grpSpPr>
          <a:xfrm rot="0">
            <a:off x="964521" y="2194560"/>
            <a:ext cx="12152719" cy="6080760"/>
            <a:chOff x="0" y="0"/>
            <a:chExt cx="16203625" cy="8107680"/>
          </a:xfrm>
        </p:grpSpPr>
        <p:sp>
          <p:nvSpPr>
            <p:cNvPr name="Freeform 71" id="71" descr="image12.png"/>
            <p:cNvSpPr/>
            <p:nvPr/>
          </p:nvSpPr>
          <p:spPr>
            <a:xfrm flipH="false" flipV="false" rot="0">
              <a:off x="0" y="0"/>
              <a:ext cx="16203676" cy="8107680"/>
            </a:xfrm>
            <a:custGeom>
              <a:avLst/>
              <a:gdLst/>
              <a:ahLst/>
              <a:cxnLst/>
              <a:rect r="r" b="b" t="t" l="l"/>
              <a:pathLst>
                <a:path h="8107680" w="16203676">
                  <a:moveTo>
                    <a:pt x="0" y="0"/>
                  </a:moveTo>
                  <a:lnTo>
                    <a:pt x="16203676" y="0"/>
                  </a:lnTo>
                  <a:lnTo>
                    <a:pt x="16203676" y="8107680"/>
                  </a:lnTo>
                  <a:lnTo>
                    <a:pt x="0" y="8107680"/>
                  </a:lnTo>
                  <a:lnTo>
                    <a:pt x="0" y="0"/>
                  </a:lnTo>
                  <a:close/>
                </a:path>
              </a:pathLst>
            </a:custGeom>
            <a:blipFill>
              <a:blip r:embed="rId7"/>
              <a:stretch>
                <a:fillRect l="0" t="0" r="0" b="0"/>
              </a:stretch>
            </a:blipFill>
          </p:spPr>
          <p:txBody>
            <a:bodyPr/>
            <a:p/>
          </p:txBody>
        </p:sp>
      </p:grpSp>
      <p:grpSp>
        <p:nvGrpSpPr>
          <p:cNvPr name="Group 72" id="72"/>
          <p:cNvGrpSpPr/>
          <p:nvPr/>
        </p:nvGrpSpPr>
        <p:grpSpPr>
          <a:xfrm rot="0">
            <a:off x="13481047" y="2188207"/>
            <a:ext cx="3990337" cy="2755897"/>
            <a:chOff x="0" y="0"/>
            <a:chExt cx="5320449" cy="3674529"/>
          </a:xfrm>
        </p:grpSpPr>
        <p:sp>
          <p:nvSpPr>
            <p:cNvPr name="Freeform 73" id="73"/>
            <p:cNvSpPr/>
            <p:nvPr/>
          </p:nvSpPr>
          <p:spPr>
            <a:xfrm flipH="false" flipV="false" rot="0">
              <a:off x="0" y="0"/>
              <a:ext cx="5320538" cy="3674618"/>
            </a:xfrm>
            <a:custGeom>
              <a:avLst/>
              <a:gdLst/>
              <a:ahLst/>
              <a:cxnLst/>
              <a:rect r="r" b="b" t="t" l="l"/>
              <a:pathLst>
                <a:path h="3674618" w="5320538">
                  <a:moveTo>
                    <a:pt x="0" y="294005"/>
                  </a:moveTo>
                  <a:cubicBezTo>
                    <a:pt x="0" y="131572"/>
                    <a:pt x="131572" y="0"/>
                    <a:pt x="294005" y="0"/>
                  </a:cubicBezTo>
                  <a:lnTo>
                    <a:pt x="5026533" y="0"/>
                  </a:lnTo>
                  <a:cubicBezTo>
                    <a:pt x="5188839" y="0"/>
                    <a:pt x="5320538" y="131572"/>
                    <a:pt x="5320538" y="294005"/>
                  </a:cubicBezTo>
                  <a:lnTo>
                    <a:pt x="5320538" y="3380613"/>
                  </a:lnTo>
                  <a:cubicBezTo>
                    <a:pt x="5320538" y="3542919"/>
                    <a:pt x="5188966" y="3674618"/>
                    <a:pt x="5026533" y="3674618"/>
                  </a:cubicBezTo>
                  <a:lnTo>
                    <a:pt x="294005" y="3674618"/>
                  </a:lnTo>
                  <a:cubicBezTo>
                    <a:pt x="131572" y="3674491"/>
                    <a:pt x="0" y="3542919"/>
                    <a:pt x="0" y="3380613"/>
                  </a:cubicBezTo>
                  <a:close/>
                </a:path>
              </a:pathLst>
            </a:custGeom>
            <a:solidFill>
              <a:srgbClr val="EAF8FA"/>
            </a:solidFill>
            <a:ln w="12700" cap="sq">
              <a:solidFill>
                <a:srgbClr val="CFE5E9"/>
              </a:solidFill>
              <a:prstDash val="solid"/>
              <a:miter/>
            </a:ln>
          </p:spPr>
          <p:txBody>
            <a:bodyPr/>
            <a:p/>
          </p:txBody>
        </p:sp>
        <p:sp>
          <p:nvSpPr>
            <p:cNvPr name="TextBox 74" id="74"/>
            <p:cNvSpPr txBox="true"/>
            <p:nvPr/>
          </p:nvSpPr>
          <p:spPr>
            <a:xfrm>
              <a:off x="0" y="-47625"/>
              <a:ext cx="5320449" cy="3722154"/>
            </a:xfrm>
            <a:prstGeom prst="rect">
              <a:avLst/>
            </a:prstGeom>
          </p:spPr>
          <p:txBody>
            <a:bodyPr anchor="t" rtlCol="false" tIns="50800" lIns="50800" bIns="50800" rIns="50800"/>
            <a:lstStyle/>
            <a:p>
              <a:pPr algn="l">
                <a:lnSpc>
                  <a:spcPts val="2206"/>
                </a:lnSpc>
              </a:pPr>
              <a:r>
                <a:rPr lang="en-US" sz="1839" b="true">
                  <a:solidFill>
                    <a:srgbClr val="0B5E6E"/>
                  </a:solidFill>
                  <a:latin typeface="Calibri (MS) Bold"/>
                  <a:ea typeface="Calibri (MS) Bold"/>
                  <a:cs typeface="Calibri (MS) Bold"/>
                  <a:sym typeface="Calibri (MS) Bold"/>
                </a:rPr>
                <a:t>5 stock (kotak)</a:t>
              </a:r>
            </a:p>
            <a:p>
              <a:pPr algn="l">
                <a:lnSpc>
                  <a:spcPts val="1860"/>
                </a:lnSpc>
              </a:pPr>
              <a:r>
                <a:rPr lang="en-US" sz="1550">
                  <a:solidFill>
                    <a:srgbClr val="14313B"/>
                  </a:solidFill>
                  <a:latin typeface="Calibri (MS)"/>
                  <a:ea typeface="Calibri (MS)"/>
                  <a:cs typeface="Calibri (MS)"/>
                  <a:sym typeface="Calibri (MS)"/>
                </a:rPr>
                <a:t>Jumlah Wisatawan · Hotel &amp; Akomodasi · ODTW · Tenaga Kerja · Lahan Terbangun</a:t>
              </a:r>
            </a:p>
          </p:txBody>
        </p:sp>
      </p:grpSp>
      <p:grpSp>
        <p:nvGrpSpPr>
          <p:cNvPr name="Group 75" id="75"/>
          <p:cNvGrpSpPr/>
          <p:nvPr/>
        </p:nvGrpSpPr>
        <p:grpSpPr>
          <a:xfrm rot="0">
            <a:off x="13481047" y="5068567"/>
            <a:ext cx="3990337" cy="1612897"/>
            <a:chOff x="0" y="0"/>
            <a:chExt cx="5320449" cy="2150529"/>
          </a:xfrm>
        </p:grpSpPr>
        <p:sp>
          <p:nvSpPr>
            <p:cNvPr name="Freeform 76" id="76"/>
            <p:cNvSpPr/>
            <p:nvPr/>
          </p:nvSpPr>
          <p:spPr>
            <a:xfrm flipH="false" flipV="false" rot="0">
              <a:off x="0" y="0"/>
              <a:ext cx="5320538" cy="2150618"/>
            </a:xfrm>
            <a:custGeom>
              <a:avLst/>
              <a:gdLst/>
              <a:ahLst/>
              <a:cxnLst/>
              <a:rect r="r" b="b" t="t" l="l"/>
              <a:pathLst>
                <a:path h="2150618" w="5320538">
                  <a:moveTo>
                    <a:pt x="0" y="172085"/>
                  </a:moveTo>
                  <a:cubicBezTo>
                    <a:pt x="0" y="77089"/>
                    <a:pt x="77089" y="0"/>
                    <a:pt x="172085" y="0"/>
                  </a:cubicBezTo>
                  <a:lnTo>
                    <a:pt x="5148453" y="0"/>
                  </a:lnTo>
                  <a:cubicBezTo>
                    <a:pt x="5243449" y="0"/>
                    <a:pt x="5320538" y="77089"/>
                    <a:pt x="5320538" y="172085"/>
                  </a:cubicBezTo>
                  <a:lnTo>
                    <a:pt x="5320538" y="1978533"/>
                  </a:lnTo>
                  <a:cubicBezTo>
                    <a:pt x="5320538" y="2073529"/>
                    <a:pt x="5243449" y="2150618"/>
                    <a:pt x="5148453" y="2150618"/>
                  </a:cubicBezTo>
                  <a:lnTo>
                    <a:pt x="172085" y="2150618"/>
                  </a:lnTo>
                  <a:cubicBezTo>
                    <a:pt x="77089" y="2150491"/>
                    <a:pt x="0" y="2073529"/>
                    <a:pt x="0" y="1978533"/>
                  </a:cubicBezTo>
                  <a:close/>
                </a:path>
              </a:pathLst>
            </a:custGeom>
            <a:solidFill>
              <a:srgbClr val="EAF8FA"/>
            </a:solidFill>
            <a:ln w="12700" cap="sq">
              <a:solidFill>
                <a:srgbClr val="CFE5E9"/>
              </a:solidFill>
              <a:prstDash val="solid"/>
              <a:miter/>
            </a:ln>
          </p:spPr>
          <p:txBody>
            <a:bodyPr/>
            <a:p/>
          </p:txBody>
        </p:sp>
        <p:sp>
          <p:nvSpPr>
            <p:cNvPr name="TextBox 77" id="77"/>
            <p:cNvSpPr txBox="true"/>
            <p:nvPr/>
          </p:nvSpPr>
          <p:spPr>
            <a:xfrm>
              <a:off x="0" y="-38100"/>
              <a:ext cx="5320449" cy="2188629"/>
            </a:xfrm>
            <a:prstGeom prst="rect">
              <a:avLst/>
            </a:prstGeom>
          </p:spPr>
          <p:txBody>
            <a:bodyPr anchor="t"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10 flow · 11 auxiliary · 35 parameter</a:t>
              </a:r>
            </a:p>
            <a:p>
              <a:pPr algn="l">
                <a:lnSpc>
                  <a:spcPts val="1860"/>
                </a:lnSpc>
              </a:pPr>
              <a:r>
                <a:rPr lang="en-US" sz="1550">
                  <a:solidFill>
                    <a:srgbClr val="14313B"/>
                  </a:solidFill>
                  <a:latin typeface="Calibri (MS)"/>
                  <a:ea typeface="Calibri (MS)"/>
                  <a:cs typeface="Calibri (MS)"/>
                  <a:sym typeface="Calibri (MS)"/>
                </a:rPr>
                <a:t>26 dihitung model + 35 input = 61 variabel</a:t>
              </a:r>
            </a:p>
          </p:txBody>
        </p:sp>
      </p:grpSp>
      <p:grpSp>
        <p:nvGrpSpPr>
          <p:cNvPr name="Group 78" id="78"/>
          <p:cNvGrpSpPr/>
          <p:nvPr/>
        </p:nvGrpSpPr>
        <p:grpSpPr>
          <a:xfrm rot="0">
            <a:off x="13481047" y="6805927"/>
            <a:ext cx="3990337" cy="1475737"/>
            <a:chOff x="0" y="0"/>
            <a:chExt cx="5320449" cy="1967649"/>
          </a:xfrm>
        </p:grpSpPr>
        <p:sp>
          <p:nvSpPr>
            <p:cNvPr name="Freeform 79" id="79"/>
            <p:cNvSpPr/>
            <p:nvPr/>
          </p:nvSpPr>
          <p:spPr>
            <a:xfrm flipH="false" flipV="false" rot="0">
              <a:off x="0" y="0"/>
              <a:ext cx="5320411" cy="1967611"/>
            </a:xfrm>
            <a:custGeom>
              <a:avLst/>
              <a:gdLst/>
              <a:ahLst/>
              <a:cxnLst/>
              <a:rect r="r" b="b" t="t" l="l"/>
              <a:pathLst>
                <a:path h="1967611" w="5320411">
                  <a:moveTo>
                    <a:pt x="0" y="157353"/>
                  </a:moveTo>
                  <a:cubicBezTo>
                    <a:pt x="0" y="70485"/>
                    <a:pt x="70485" y="0"/>
                    <a:pt x="157353" y="0"/>
                  </a:cubicBezTo>
                  <a:lnTo>
                    <a:pt x="5163058" y="0"/>
                  </a:lnTo>
                  <a:cubicBezTo>
                    <a:pt x="5250053" y="0"/>
                    <a:pt x="5320411" y="70485"/>
                    <a:pt x="5320411" y="157353"/>
                  </a:cubicBezTo>
                  <a:lnTo>
                    <a:pt x="5320411" y="1810258"/>
                  </a:lnTo>
                  <a:cubicBezTo>
                    <a:pt x="5320411" y="1897253"/>
                    <a:pt x="5249926" y="1967611"/>
                    <a:pt x="5163058" y="1967611"/>
                  </a:cubicBezTo>
                  <a:lnTo>
                    <a:pt x="157353" y="1967611"/>
                  </a:lnTo>
                  <a:cubicBezTo>
                    <a:pt x="70485" y="1967611"/>
                    <a:pt x="0" y="1897126"/>
                    <a:pt x="0" y="1810258"/>
                  </a:cubicBezTo>
                  <a:close/>
                </a:path>
              </a:pathLst>
            </a:custGeom>
            <a:solidFill>
              <a:srgbClr val="FFF1BF"/>
            </a:solidFill>
            <a:ln w="12700" cap="sq">
              <a:solidFill>
                <a:srgbClr val="FFD23B"/>
              </a:solidFill>
              <a:prstDash val="solid"/>
              <a:miter/>
            </a:ln>
          </p:spPr>
          <p:txBody>
            <a:bodyPr/>
            <a:p/>
          </p:txBody>
        </p:sp>
        <p:sp>
          <p:nvSpPr>
            <p:cNvPr name="TextBox 80" id="80"/>
            <p:cNvSpPr txBox="true"/>
            <p:nvPr/>
          </p:nvSpPr>
          <p:spPr>
            <a:xfrm>
              <a:off x="0" y="-38100"/>
              <a:ext cx="5320449" cy="2005749"/>
            </a:xfrm>
            <a:prstGeom prst="rect">
              <a:avLst/>
            </a:prstGeom>
          </p:spPr>
          <p:txBody>
            <a:bodyPr anchor="t"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Dua variabel kebijakan</a:t>
              </a:r>
            </a:p>
            <a:p>
              <a:pPr algn="l">
                <a:lnSpc>
                  <a:spcPts val="1860"/>
                </a:lnSpc>
              </a:pPr>
              <a:r>
                <a:rPr lang="en-US" sz="1550">
                  <a:solidFill>
                    <a:srgbClr val="14313B"/>
                  </a:solidFill>
                  <a:latin typeface="Calibri (MS)"/>
                  <a:ea typeface="Calibri (MS)"/>
                  <a:cs typeface="Calibri (MS)"/>
                  <a:sym typeface="Calibri (MS)"/>
                </a:rPr>
                <a:t>Insentif → investasi (R2); Konservasi → konversi lahan pariwisata (B2)</a:t>
              </a:r>
            </a:p>
          </p:txBody>
        </p:sp>
      </p:grpSp>
      <p:grpSp>
        <p:nvGrpSpPr>
          <p:cNvPr name="Group 81" id="81"/>
          <p:cNvGrpSpPr/>
          <p:nvPr/>
        </p:nvGrpSpPr>
        <p:grpSpPr>
          <a:xfrm rot="0">
            <a:off x="816607" y="8406127"/>
            <a:ext cx="16654777" cy="789937"/>
            <a:chOff x="0" y="0"/>
            <a:chExt cx="22206369" cy="1053249"/>
          </a:xfrm>
        </p:grpSpPr>
        <p:sp>
          <p:nvSpPr>
            <p:cNvPr name="Freeform 82" id="82"/>
            <p:cNvSpPr/>
            <p:nvPr/>
          </p:nvSpPr>
          <p:spPr>
            <a:xfrm flipH="false" flipV="false" rot="0">
              <a:off x="0" y="0"/>
              <a:ext cx="22206331" cy="1053211"/>
            </a:xfrm>
            <a:custGeom>
              <a:avLst/>
              <a:gdLst/>
              <a:ahLst/>
              <a:cxnLst/>
              <a:rect r="r" b="b" t="t" l="l"/>
              <a:pathLst>
                <a:path h="1053211" w="22206331">
                  <a:moveTo>
                    <a:pt x="0" y="84201"/>
                  </a:moveTo>
                  <a:cubicBezTo>
                    <a:pt x="0" y="37719"/>
                    <a:pt x="37719" y="0"/>
                    <a:pt x="84201" y="0"/>
                  </a:cubicBezTo>
                  <a:lnTo>
                    <a:pt x="22122130" y="0"/>
                  </a:lnTo>
                  <a:cubicBezTo>
                    <a:pt x="22168613" y="0"/>
                    <a:pt x="22206331" y="37719"/>
                    <a:pt x="22206331" y="84201"/>
                  </a:cubicBezTo>
                  <a:lnTo>
                    <a:pt x="22206331" y="969010"/>
                  </a:lnTo>
                  <a:cubicBezTo>
                    <a:pt x="22206331" y="1015492"/>
                    <a:pt x="22168613" y="1053211"/>
                    <a:pt x="22122130" y="1053211"/>
                  </a:cubicBezTo>
                  <a:lnTo>
                    <a:pt x="84201" y="1053211"/>
                  </a:lnTo>
                  <a:cubicBezTo>
                    <a:pt x="37719" y="1053211"/>
                    <a:pt x="0" y="1015492"/>
                    <a:pt x="0" y="969010"/>
                  </a:cubicBezTo>
                  <a:close/>
                </a:path>
              </a:pathLst>
            </a:custGeom>
            <a:solidFill>
              <a:srgbClr val="FFF1BF"/>
            </a:solidFill>
            <a:ln w="12700" cap="sq">
              <a:solidFill>
                <a:srgbClr val="FFD23B"/>
              </a:solidFill>
              <a:prstDash val="solid"/>
              <a:miter/>
            </a:ln>
          </p:spPr>
          <p:txBody>
            <a:bodyPr/>
            <a:p/>
          </p:txBody>
        </p:sp>
        <p:sp>
          <p:nvSpPr>
            <p:cNvPr name="TextBox 83" id="83"/>
            <p:cNvSpPr txBox="true"/>
            <p:nvPr/>
          </p:nvSpPr>
          <p:spPr>
            <a:xfrm>
              <a:off x="0" y="-38100"/>
              <a:ext cx="22206369" cy="109134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SFD adalah bentuk kuantitatif dari CLD dan disimulasikan 2025–2050 (Δt 1 tahun, metode Euler). Persamaan lengkap di Lampiran 15.</a:t>
              </a:r>
            </a:p>
          </p:txBody>
        </p:sp>
      </p:grpSp>
      <p:grpSp>
        <p:nvGrpSpPr>
          <p:cNvPr name="Group 84" id="84"/>
          <p:cNvGrpSpPr/>
          <p:nvPr/>
        </p:nvGrpSpPr>
        <p:grpSpPr>
          <a:xfrm rot="0">
            <a:off x="16047720" y="9646920"/>
            <a:ext cx="420624" cy="420624"/>
            <a:chOff x="0" y="0"/>
            <a:chExt cx="560832" cy="560832"/>
          </a:xfrm>
        </p:grpSpPr>
        <p:sp>
          <p:nvSpPr>
            <p:cNvPr name="Freeform 85" id="85"/>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86" id="86"/>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3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Persamaan Stok — Subsistem Wisatawan</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Daya Tarik Destinasi menghubungkan seluruh loop utama</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Freeform 66" id="66"/>
          <p:cNvSpPr/>
          <p:nvPr/>
        </p:nvSpPr>
        <p:spPr>
          <a:xfrm flipH="false" flipV="false" rot="0">
            <a:off x="806291" y="2383631"/>
            <a:ext cx="10320338" cy="2022158"/>
          </a:xfrm>
          <a:custGeom>
            <a:avLst/>
            <a:gdLst/>
            <a:ahLst/>
            <a:cxnLst/>
            <a:rect r="r" b="b" t="t" l="l"/>
            <a:pathLst>
              <a:path h="2022158" w="10320338">
                <a:moveTo>
                  <a:pt x="0" y="0"/>
                </a:moveTo>
                <a:lnTo>
                  <a:pt x="10320338" y="0"/>
                </a:lnTo>
                <a:lnTo>
                  <a:pt x="10320338" y="2022158"/>
                </a:lnTo>
                <a:lnTo>
                  <a:pt x="0" y="2022158"/>
                </a:lnTo>
                <a:lnTo>
                  <a:pt x="0" y="0"/>
                </a:lnTo>
                <a:close/>
              </a:path>
            </a:pathLst>
          </a:custGeom>
          <a:blipFill>
            <a:blip r:embed="rId7">
              <a:extLst>
                <a:ext uri="{96DAC541-7B7A-43D3-8B79-37D633B846F1}">
                  <asvg:svgBlip xmlns:asvg="http://schemas.microsoft.com/office/drawing/2016/SVG/main" r:embed="rId8"/>
                </a:ext>
              </a:extLst>
            </a:blip>
            <a:stretch>
              <a:fillRect l="0" t="-141" r="0" b="-141"/>
            </a:stretch>
          </a:blipFill>
        </p:spPr>
        <p:txBody>
          <a:bodyPr/>
          <a:p/>
        </p:txBody>
      </p:sp>
      <p:sp>
        <p:nvSpPr>
          <p:cNvPr name="TextBox 67" id="67"/>
          <p:cNvSpPr txBox="true"/>
          <p:nvPr/>
        </p:nvSpPr>
        <p:spPr>
          <a:xfrm rot="0">
            <a:off x="1234440" y="2547747"/>
            <a:ext cx="9464040" cy="428625"/>
          </a:xfrm>
          <a:prstGeom prst="rect">
            <a:avLst/>
          </a:prstGeom>
        </p:spPr>
        <p:txBody>
          <a:bodyPr anchor="t" rtlCol="false" tIns="0" lIns="0" bIns="0" rIns="0">
            <a:spAutoFit/>
          </a:bodyPr>
          <a:lstStyle/>
          <a:p>
            <a:pPr algn="l">
              <a:lnSpc>
                <a:spcPts val="1980"/>
              </a:lnSpc>
            </a:pPr>
            <a:r>
              <a:rPr lang="en-US" sz="1650" b="true">
                <a:solidFill>
                  <a:srgbClr val="5E6E78"/>
                </a:solidFill>
                <a:latin typeface="Calibri (MS) Bold"/>
                <a:ea typeface="Calibri (MS) Bold"/>
                <a:cs typeface="Calibri (MS) Bold"/>
                <a:sym typeface="Calibri (MS) Bold"/>
              </a:rPr>
              <a:t>LAJU KEDATANGAN WISATAWAN</a:t>
            </a:r>
          </a:p>
        </p:txBody>
      </p:sp>
      <p:grpSp>
        <p:nvGrpSpPr>
          <p:cNvPr name="Group 68" id="68"/>
          <p:cNvGrpSpPr/>
          <p:nvPr/>
        </p:nvGrpSpPr>
        <p:grpSpPr>
          <a:xfrm rot="0">
            <a:off x="1234440" y="3086100"/>
            <a:ext cx="9464040" cy="1165860"/>
            <a:chOff x="0" y="0"/>
            <a:chExt cx="12618720" cy="1554480"/>
          </a:xfrm>
        </p:grpSpPr>
        <p:sp>
          <p:nvSpPr>
            <p:cNvPr name="Freeform 69" id="69"/>
            <p:cNvSpPr/>
            <p:nvPr/>
          </p:nvSpPr>
          <p:spPr>
            <a:xfrm flipH="false" flipV="false" rot="0">
              <a:off x="0" y="0"/>
              <a:ext cx="12618720" cy="1554480"/>
            </a:xfrm>
            <a:custGeom>
              <a:avLst/>
              <a:gdLst/>
              <a:ahLst/>
              <a:cxnLst/>
              <a:rect r="r" b="b" t="t" l="l"/>
              <a:pathLst>
                <a:path h="1554480" w="12618720">
                  <a:moveTo>
                    <a:pt x="0" y="0"/>
                  </a:moveTo>
                  <a:lnTo>
                    <a:pt x="12618720" y="0"/>
                  </a:lnTo>
                  <a:lnTo>
                    <a:pt x="12618720" y="1554480"/>
                  </a:lnTo>
                  <a:lnTo>
                    <a:pt x="0" y="1554480"/>
                  </a:lnTo>
                  <a:close/>
                </a:path>
              </a:pathLst>
            </a:custGeom>
            <a:blipFill>
              <a:blip r:embed="rId4">
                <a:alphaModFix amt="0"/>
              </a:blip>
              <a:stretch>
                <a:fillRect l="0" t="-108062" r="0" b="-108062"/>
              </a:stretch>
            </a:blipFill>
          </p:spPr>
          <p:txBody>
            <a:bodyPr/>
            <a:p/>
          </p:txBody>
        </p:sp>
      </p:grpSp>
      <p:grpSp>
        <p:nvGrpSpPr>
          <p:cNvPr name="Group 70" id="70"/>
          <p:cNvGrpSpPr/>
          <p:nvPr/>
        </p:nvGrpSpPr>
        <p:grpSpPr>
          <a:xfrm rot="0">
            <a:off x="1234440" y="3043238"/>
            <a:ext cx="9464040" cy="1208723"/>
            <a:chOff x="0" y="0"/>
            <a:chExt cx="12618720" cy="1611630"/>
          </a:xfrm>
        </p:grpSpPr>
        <p:sp>
          <p:nvSpPr>
            <p:cNvPr name="Freeform 71" id="71"/>
            <p:cNvSpPr/>
            <p:nvPr/>
          </p:nvSpPr>
          <p:spPr>
            <a:xfrm flipH="false" flipV="false" rot="0">
              <a:off x="0" y="0"/>
              <a:ext cx="12618720" cy="1611630"/>
            </a:xfrm>
            <a:custGeom>
              <a:avLst/>
              <a:gdLst/>
              <a:ahLst/>
              <a:cxnLst/>
              <a:rect r="r" b="b" t="t" l="l"/>
              <a:pathLst>
                <a:path h="1611630" w="12618720">
                  <a:moveTo>
                    <a:pt x="0" y="0"/>
                  </a:moveTo>
                  <a:lnTo>
                    <a:pt x="12618720" y="0"/>
                  </a:lnTo>
                  <a:lnTo>
                    <a:pt x="12618720" y="1611630"/>
                  </a:lnTo>
                  <a:lnTo>
                    <a:pt x="0" y="1611630"/>
                  </a:lnTo>
                  <a:close/>
                </a:path>
              </a:pathLst>
            </a:custGeom>
            <a:blipFill>
              <a:blip r:embed="rId5">
                <a:alphaModFix amt="0"/>
              </a:blip>
              <a:stretch>
                <a:fillRect l="0" t="-102457" r="0" b="-102457"/>
              </a:stretch>
            </a:blipFill>
          </p:spPr>
          <p:txBody>
            <a:bodyPr/>
            <a:p/>
          </p:txBody>
        </p:sp>
      </p:grpSp>
      <p:grpSp>
        <p:nvGrpSpPr>
          <p:cNvPr name="Group 72" id="72"/>
          <p:cNvGrpSpPr/>
          <p:nvPr/>
        </p:nvGrpSpPr>
        <p:grpSpPr>
          <a:xfrm rot="0">
            <a:off x="1234440" y="3000375"/>
            <a:ext cx="9464040" cy="1251585"/>
            <a:chOff x="0" y="0"/>
            <a:chExt cx="12618720" cy="1668780"/>
          </a:xfrm>
        </p:grpSpPr>
        <p:sp>
          <p:nvSpPr>
            <p:cNvPr name="Freeform 73" id="73"/>
            <p:cNvSpPr/>
            <p:nvPr/>
          </p:nvSpPr>
          <p:spPr>
            <a:xfrm flipH="false" flipV="false" rot="0">
              <a:off x="0" y="0"/>
              <a:ext cx="12618720" cy="1668781"/>
            </a:xfrm>
            <a:custGeom>
              <a:avLst/>
              <a:gdLst/>
              <a:ahLst/>
              <a:cxnLst/>
              <a:rect r="r" b="b" t="t" l="l"/>
              <a:pathLst>
                <a:path h="1668781" w="12618720">
                  <a:moveTo>
                    <a:pt x="0" y="0"/>
                  </a:moveTo>
                  <a:lnTo>
                    <a:pt x="12618720" y="0"/>
                  </a:lnTo>
                  <a:lnTo>
                    <a:pt x="12618720" y="1668781"/>
                  </a:lnTo>
                  <a:lnTo>
                    <a:pt x="0" y="1668781"/>
                  </a:lnTo>
                  <a:close/>
                </a:path>
              </a:pathLst>
            </a:custGeom>
            <a:blipFill>
              <a:blip r:embed="rId6">
                <a:alphaModFix amt="0"/>
              </a:blip>
              <a:stretch>
                <a:fillRect l="0" t="-97338" r="0" b="-97338"/>
              </a:stretch>
            </a:blipFill>
          </p:spPr>
          <p:txBody>
            <a:bodyPr/>
            <a:p/>
          </p:txBody>
        </p:sp>
        <p:sp>
          <p:nvSpPr>
            <p:cNvPr name="TextBox 74" id="74"/>
            <p:cNvSpPr txBox="true"/>
            <p:nvPr/>
          </p:nvSpPr>
          <p:spPr>
            <a:xfrm>
              <a:off x="0" y="-57150"/>
              <a:ext cx="12618720" cy="1725930"/>
            </a:xfrm>
            <a:prstGeom prst="rect">
              <a:avLst/>
            </a:prstGeom>
          </p:spPr>
          <p:txBody>
            <a:bodyPr anchor="ctr" rtlCol="false" tIns="0" lIns="0" bIns="0" rIns="0"/>
            <a:lstStyle/>
            <a:p>
              <a:pPr algn="l">
                <a:lnSpc>
                  <a:spcPts val="3419"/>
                </a:lnSpc>
              </a:pPr>
              <a:r>
                <a:rPr lang="en-US" sz="2850" b="true">
                  <a:solidFill>
                    <a:srgbClr val="0B5E6E"/>
                  </a:solidFill>
                  <a:latin typeface="Calibri (MS) Bold"/>
                  <a:ea typeface="Calibri (MS) Bold"/>
                  <a:cs typeface="Calibri (MS) Bold"/>
                  <a:sym typeface="Calibri (MS) Bold"/>
                </a:rPr>
                <a:t>Jumlah Wisatawan × Laju Pertumbuhan Eksternal × Daya Tarik</a:t>
              </a:r>
            </a:p>
          </p:txBody>
        </p:sp>
      </p:grpSp>
      <p:sp>
        <p:nvSpPr>
          <p:cNvPr name="Freeform 75" id="75"/>
          <p:cNvSpPr/>
          <p:nvPr/>
        </p:nvSpPr>
        <p:spPr>
          <a:xfrm flipH="false" flipV="false" rot="0">
            <a:off x="806291" y="4578191"/>
            <a:ext cx="10320338" cy="2022158"/>
          </a:xfrm>
          <a:custGeom>
            <a:avLst/>
            <a:gdLst/>
            <a:ahLst/>
            <a:cxnLst/>
            <a:rect r="r" b="b" t="t" l="l"/>
            <a:pathLst>
              <a:path h="2022158" w="10320338">
                <a:moveTo>
                  <a:pt x="0" y="0"/>
                </a:moveTo>
                <a:lnTo>
                  <a:pt x="10320338" y="0"/>
                </a:lnTo>
                <a:lnTo>
                  <a:pt x="10320338" y="2022158"/>
                </a:lnTo>
                <a:lnTo>
                  <a:pt x="0" y="2022158"/>
                </a:lnTo>
                <a:lnTo>
                  <a:pt x="0" y="0"/>
                </a:lnTo>
                <a:close/>
              </a:path>
            </a:pathLst>
          </a:custGeom>
          <a:blipFill>
            <a:blip r:embed="rId7">
              <a:extLst>
                <a:ext uri="{96DAC541-7B7A-43D3-8B79-37D633B846F1}">
                  <asvg:svgBlip xmlns:asvg="http://schemas.microsoft.com/office/drawing/2016/SVG/main" r:embed="rId8"/>
                </a:ext>
              </a:extLst>
            </a:blip>
            <a:stretch>
              <a:fillRect l="0" t="-141" r="0" b="-141"/>
            </a:stretch>
          </a:blipFill>
        </p:spPr>
        <p:txBody>
          <a:bodyPr/>
          <a:p/>
        </p:txBody>
      </p:sp>
      <p:sp>
        <p:nvSpPr>
          <p:cNvPr name="TextBox 76" id="76"/>
          <p:cNvSpPr txBox="true"/>
          <p:nvPr/>
        </p:nvSpPr>
        <p:spPr>
          <a:xfrm rot="0">
            <a:off x="1234440" y="4742307"/>
            <a:ext cx="9464040" cy="428625"/>
          </a:xfrm>
          <a:prstGeom prst="rect">
            <a:avLst/>
          </a:prstGeom>
        </p:spPr>
        <p:txBody>
          <a:bodyPr anchor="t" rtlCol="false" tIns="0" lIns="0" bIns="0" rIns="0">
            <a:spAutoFit/>
          </a:bodyPr>
          <a:lstStyle/>
          <a:p>
            <a:pPr algn="l">
              <a:lnSpc>
                <a:spcPts val="1980"/>
              </a:lnSpc>
            </a:pPr>
            <a:r>
              <a:rPr lang="en-US" sz="1650" b="true">
                <a:solidFill>
                  <a:srgbClr val="5E6E78"/>
                </a:solidFill>
                <a:latin typeface="Calibri (MS) Bold"/>
                <a:ea typeface="Calibri (MS) Bold"/>
                <a:cs typeface="Calibri (MS) Bold"/>
                <a:sym typeface="Calibri (MS) Bold"/>
              </a:rPr>
              <a:t>LAJU PENURUNAN WISATAWAN</a:t>
            </a:r>
          </a:p>
        </p:txBody>
      </p:sp>
      <p:grpSp>
        <p:nvGrpSpPr>
          <p:cNvPr name="Group 77" id="77"/>
          <p:cNvGrpSpPr/>
          <p:nvPr/>
        </p:nvGrpSpPr>
        <p:grpSpPr>
          <a:xfrm rot="0">
            <a:off x="1234440" y="5280660"/>
            <a:ext cx="9464040" cy="1165860"/>
            <a:chOff x="0" y="0"/>
            <a:chExt cx="12618720" cy="1554480"/>
          </a:xfrm>
        </p:grpSpPr>
        <p:sp>
          <p:nvSpPr>
            <p:cNvPr name="Freeform 78" id="78"/>
            <p:cNvSpPr/>
            <p:nvPr/>
          </p:nvSpPr>
          <p:spPr>
            <a:xfrm flipH="false" flipV="false" rot="0">
              <a:off x="0" y="0"/>
              <a:ext cx="12618720" cy="1554480"/>
            </a:xfrm>
            <a:custGeom>
              <a:avLst/>
              <a:gdLst/>
              <a:ahLst/>
              <a:cxnLst/>
              <a:rect r="r" b="b" t="t" l="l"/>
              <a:pathLst>
                <a:path h="1554480" w="12618720">
                  <a:moveTo>
                    <a:pt x="0" y="0"/>
                  </a:moveTo>
                  <a:lnTo>
                    <a:pt x="12618720" y="0"/>
                  </a:lnTo>
                  <a:lnTo>
                    <a:pt x="12618720" y="1554480"/>
                  </a:lnTo>
                  <a:lnTo>
                    <a:pt x="0" y="1554480"/>
                  </a:lnTo>
                  <a:close/>
                </a:path>
              </a:pathLst>
            </a:custGeom>
            <a:blipFill>
              <a:blip r:embed="rId4">
                <a:alphaModFix amt="0"/>
              </a:blip>
              <a:stretch>
                <a:fillRect l="0" t="-108062" r="0" b="-108062"/>
              </a:stretch>
            </a:blipFill>
          </p:spPr>
          <p:txBody>
            <a:bodyPr/>
            <a:p/>
          </p:txBody>
        </p:sp>
      </p:grpSp>
      <p:grpSp>
        <p:nvGrpSpPr>
          <p:cNvPr name="Group 79" id="79"/>
          <p:cNvGrpSpPr/>
          <p:nvPr/>
        </p:nvGrpSpPr>
        <p:grpSpPr>
          <a:xfrm rot="0">
            <a:off x="1234440" y="5237797"/>
            <a:ext cx="9464040" cy="1208723"/>
            <a:chOff x="0" y="0"/>
            <a:chExt cx="12618720" cy="1611630"/>
          </a:xfrm>
        </p:grpSpPr>
        <p:sp>
          <p:nvSpPr>
            <p:cNvPr name="Freeform 80" id="80"/>
            <p:cNvSpPr/>
            <p:nvPr/>
          </p:nvSpPr>
          <p:spPr>
            <a:xfrm flipH="false" flipV="false" rot="0">
              <a:off x="0" y="0"/>
              <a:ext cx="12618720" cy="1611630"/>
            </a:xfrm>
            <a:custGeom>
              <a:avLst/>
              <a:gdLst/>
              <a:ahLst/>
              <a:cxnLst/>
              <a:rect r="r" b="b" t="t" l="l"/>
              <a:pathLst>
                <a:path h="1611630" w="12618720">
                  <a:moveTo>
                    <a:pt x="0" y="0"/>
                  </a:moveTo>
                  <a:lnTo>
                    <a:pt x="12618720" y="0"/>
                  </a:lnTo>
                  <a:lnTo>
                    <a:pt x="12618720" y="1611630"/>
                  </a:lnTo>
                  <a:lnTo>
                    <a:pt x="0" y="1611630"/>
                  </a:lnTo>
                  <a:close/>
                </a:path>
              </a:pathLst>
            </a:custGeom>
            <a:blipFill>
              <a:blip r:embed="rId5">
                <a:alphaModFix amt="0"/>
              </a:blip>
              <a:stretch>
                <a:fillRect l="0" t="-102457" r="0" b="-102457"/>
              </a:stretch>
            </a:blipFill>
          </p:spPr>
          <p:txBody>
            <a:bodyPr/>
            <a:p/>
          </p:txBody>
        </p:sp>
      </p:grpSp>
      <p:grpSp>
        <p:nvGrpSpPr>
          <p:cNvPr name="Group 81" id="81"/>
          <p:cNvGrpSpPr/>
          <p:nvPr/>
        </p:nvGrpSpPr>
        <p:grpSpPr>
          <a:xfrm rot="0">
            <a:off x="1234440" y="5194935"/>
            <a:ext cx="9464040" cy="1251585"/>
            <a:chOff x="0" y="0"/>
            <a:chExt cx="12618720" cy="1668780"/>
          </a:xfrm>
        </p:grpSpPr>
        <p:sp>
          <p:nvSpPr>
            <p:cNvPr name="Freeform 82" id="82"/>
            <p:cNvSpPr/>
            <p:nvPr/>
          </p:nvSpPr>
          <p:spPr>
            <a:xfrm flipH="false" flipV="false" rot="0">
              <a:off x="0" y="0"/>
              <a:ext cx="12618720" cy="1668781"/>
            </a:xfrm>
            <a:custGeom>
              <a:avLst/>
              <a:gdLst/>
              <a:ahLst/>
              <a:cxnLst/>
              <a:rect r="r" b="b" t="t" l="l"/>
              <a:pathLst>
                <a:path h="1668781" w="12618720">
                  <a:moveTo>
                    <a:pt x="0" y="0"/>
                  </a:moveTo>
                  <a:lnTo>
                    <a:pt x="12618720" y="0"/>
                  </a:lnTo>
                  <a:lnTo>
                    <a:pt x="12618720" y="1668781"/>
                  </a:lnTo>
                  <a:lnTo>
                    <a:pt x="0" y="1668781"/>
                  </a:lnTo>
                  <a:close/>
                </a:path>
              </a:pathLst>
            </a:custGeom>
            <a:blipFill>
              <a:blip r:embed="rId6">
                <a:alphaModFix amt="0"/>
              </a:blip>
              <a:stretch>
                <a:fillRect l="0" t="-97338" r="0" b="-97338"/>
              </a:stretch>
            </a:blipFill>
          </p:spPr>
          <p:txBody>
            <a:bodyPr/>
            <a:p/>
          </p:txBody>
        </p:sp>
        <p:sp>
          <p:nvSpPr>
            <p:cNvPr name="TextBox 83" id="83"/>
            <p:cNvSpPr txBox="true"/>
            <p:nvPr/>
          </p:nvSpPr>
          <p:spPr>
            <a:xfrm>
              <a:off x="0" y="-57150"/>
              <a:ext cx="12618720" cy="1725930"/>
            </a:xfrm>
            <a:prstGeom prst="rect">
              <a:avLst/>
            </a:prstGeom>
          </p:spPr>
          <p:txBody>
            <a:bodyPr anchor="ctr" rtlCol="false" tIns="0" lIns="0" bIns="0" rIns="0"/>
            <a:lstStyle/>
            <a:p>
              <a:pPr algn="l">
                <a:lnSpc>
                  <a:spcPts val="3419"/>
                </a:lnSpc>
              </a:pPr>
              <a:r>
                <a:rPr lang="en-US" sz="2850" b="true">
                  <a:solidFill>
                    <a:srgbClr val="0B5E6E"/>
                  </a:solidFill>
                  <a:latin typeface="Calibri (MS) Bold"/>
                  <a:ea typeface="Calibri (MS) Bold"/>
                  <a:cs typeface="Calibri (MS) Bold"/>
                  <a:sym typeface="Calibri (MS) Bold"/>
                </a:rPr>
                <a:t>Jumlah Wisatawan × Laju Penurunan Dasar</a:t>
              </a:r>
            </a:p>
          </p:txBody>
        </p:sp>
      </p:grpSp>
      <p:sp>
        <p:nvSpPr>
          <p:cNvPr name="Freeform 84" id="84"/>
          <p:cNvSpPr/>
          <p:nvPr/>
        </p:nvSpPr>
        <p:spPr>
          <a:xfrm flipH="false" flipV="false" rot="0">
            <a:off x="806291" y="6772751"/>
            <a:ext cx="10320338" cy="2022158"/>
          </a:xfrm>
          <a:custGeom>
            <a:avLst/>
            <a:gdLst/>
            <a:ahLst/>
            <a:cxnLst/>
            <a:rect r="r" b="b" t="t" l="l"/>
            <a:pathLst>
              <a:path h="2022158" w="10320338">
                <a:moveTo>
                  <a:pt x="0" y="0"/>
                </a:moveTo>
                <a:lnTo>
                  <a:pt x="10320338" y="0"/>
                </a:lnTo>
                <a:lnTo>
                  <a:pt x="10320338" y="2022158"/>
                </a:lnTo>
                <a:lnTo>
                  <a:pt x="0" y="2022158"/>
                </a:lnTo>
                <a:lnTo>
                  <a:pt x="0" y="0"/>
                </a:lnTo>
                <a:close/>
              </a:path>
            </a:pathLst>
          </a:custGeom>
          <a:blipFill>
            <a:blip r:embed="rId7">
              <a:extLst>
                <a:ext uri="{96DAC541-7B7A-43D3-8B79-37D633B846F1}">
                  <asvg:svgBlip xmlns:asvg="http://schemas.microsoft.com/office/drawing/2016/SVG/main" r:embed="rId8"/>
                </a:ext>
              </a:extLst>
            </a:blip>
            <a:stretch>
              <a:fillRect l="0" t="-141" r="0" b="-141"/>
            </a:stretch>
          </a:blipFill>
        </p:spPr>
        <p:txBody>
          <a:bodyPr/>
          <a:p/>
        </p:txBody>
      </p:sp>
      <p:sp>
        <p:nvSpPr>
          <p:cNvPr name="TextBox 85" id="85"/>
          <p:cNvSpPr txBox="true"/>
          <p:nvPr/>
        </p:nvSpPr>
        <p:spPr>
          <a:xfrm rot="0">
            <a:off x="1234440" y="6936867"/>
            <a:ext cx="9464040" cy="428625"/>
          </a:xfrm>
          <a:prstGeom prst="rect">
            <a:avLst/>
          </a:prstGeom>
        </p:spPr>
        <p:txBody>
          <a:bodyPr anchor="t" rtlCol="false" tIns="0" lIns="0" bIns="0" rIns="0">
            <a:spAutoFit/>
          </a:bodyPr>
          <a:lstStyle/>
          <a:p>
            <a:pPr algn="l">
              <a:lnSpc>
                <a:spcPts val="1980"/>
              </a:lnSpc>
            </a:pPr>
            <a:r>
              <a:rPr lang="en-US" sz="1650" b="true">
                <a:solidFill>
                  <a:srgbClr val="5E6E78"/>
                </a:solidFill>
                <a:latin typeface="Calibri (MS) Bold"/>
                <a:ea typeface="Calibri (MS) Bold"/>
                <a:cs typeface="Calibri (MS) Bold"/>
                <a:sym typeface="Calibri (MS) Bold"/>
              </a:rPr>
              <a:t>DAYA TARIK DESTINASI (indeks, 2025 = 1)</a:t>
            </a:r>
          </a:p>
        </p:txBody>
      </p:sp>
      <p:grpSp>
        <p:nvGrpSpPr>
          <p:cNvPr name="Group 86" id="86"/>
          <p:cNvGrpSpPr/>
          <p:nvPr/>
        </p:nvGrpSpPr>
        <p:grpSpPr>
          <a:xfrm rot="0">
            <a:off x="1234440" y="7475220"/>
            <a:ext cx="9464040" cy="1165860"/>
            <a:chOff x="0" y="0"/>
            <a:chExt cx="12618720" cy="1554480"/>
          </a:xfrm>
        </p:grpSpPr>
        <p:sp>
          <p:nvSpPr>
            <p:cNvPr name="Freeform 87" id="87"/>
            <p:cNvSpPr/>
            <p:nvPr/>
          </p:nvSpPr>
          <p:spPr>
            <a:xfrm flipH="false" flipV="false" rot="0">
              <a:off x="0" y="0"/>
              <a:ext cx="12618720" cy="1554480"/>
            </a:xfrm>
            <a:custGeom>
              <a:avLst/>
              <a:gdLst/>
              <a:ahLst/>
              <a:cxnLst/>
              <a:rect r="r" b="b" t="t" l="l"/>
              <a:pathLst>
                <a:path h="1554480" w="12618720">
                  <a:moveTo>
                    <a:pt x="0" y="0"/>
                  </a:moveTo>
                  <a:lnTo>
                    <a:pt x="12618720" y="0"/>
                  </a:lnTo>
                  <a:lnTo>
                    <a:pt x="12618720" y="1554480"/>
                  </a:lnTo>
                  <a:lnTo>
                    <a:pt x="0" y="1554480"/>
                  </a:lnTo>
                  <a:close/>
                </a:path>
              </a:pathLst>
            </a:custGeom>
            <a:blipFill>
              <a:blip r:embed="rId4">
                <a:alphaModFix amt="0"/>
              </a:blip>
              <a:stretch>
                <a:fillRect l="0" t="-108062" r="0" b="-108062"/>
              </a:stretch>
            </a:blipFill>
          </p:spPr>
          <p:txBody>
            <a:bodyPr/>
            <a:p/>
          </p:txBody>
        </p:sp>
      </p:grpSp>
      <p:grpSp>
        <p:nvGrpSpPr>
          <p:cNvPr name="Group 88" id="88"/>
          <p:cNvGrpSpPr/>
          <p:nvPr/>
        </p:nvGrpSpPr>
        <p:grpSpPr>
          <a:xfrm rot="0">
            <a:off x="1234440" y="7446645"/>
            <a:ext cx="9464040" cy="1194435"/>
            <a:chOff x="0" y="0"/>
            <a:chExt cx="12618720" cy="1592580"/>
          </a:xfrm>
        </p:grpSpPr>
        <p:sp>
          <p:nvSpPr>
            <p:cNvPr name="Freeform 89" id="89"/>
            <p:cNvSpPr/>
            <p:nvPr/>
          </p:nvSpPr>
          <p:spPr>
            <a:xfrm flipH="false" flipV="false" rot="0">
              <a:off x="0" y="0"/>
              <a:ext cx="12618720" cy="1592580"/>
            </a:xfrm>
            <a:custGeom>
              <a:avLst/>
              <a:gdLst/>
              <a:ahLst/>
              <a:cxnLst/>
              <a:rect r="r" b="b" t="t" l="l"/>
              <a:pathLst>
                <a:path h="1592580" w="12618720">
                  <a:moveTo>
                    <a:pt x="0" y="0"/>
                  </a:moveTo>
                  <a:lnTo>
                    <a:pt x="12618720" y="0"/>
                  </a:lnTo>
                  <a:lnTo>
                    <a:pt x="12618720" y="1592580"/>
                  </a:lnTo>
                  <a:lnTo>
                    <a:pt x="0" y="1592580"/>
                  </a:lnTo>
                  <a:close/>
                </a:path>
              </a:pathLst>
            </a:custGeom>
            <a:blipFill>
              <a:blip r:embed="rId5">
                <a:alphaModFix amt="0"/>
              </a:blip>
              <a:stretch>
                <a:fillRect l="0" t="-104281" r="0" b="-104280"/>
              </a:stretch>
            </a:blipFill>
          </p:spPr>
          <p:txBody>
            <a:bodyPr/>
            <a:p/>
          </p:txBody>
        </p:sp>
      </p:grpSp>
      <p:grpSp>
        <p:nvGrpSpPr>
          <p:cNvPr name="Group 90" id="90"/>
          <p:cNvGrpSpPr/>
          <p:nvPr/>
        </p:nvGrpSpPr>
        <p:grpSpPr>
          <a:xfrm rot="0">
            <a:off x="1234440" y="7418070"/>
            <a:ext cx="9464040" cy="1223010"/>
            <a:chOff x="0" y="0"/>
            <a:chExt cx="12618720" cy="1630680"/>
          </a:xfrm>
        </p:grpSpPr>
        <p:sp>
          <p:nvSpPr>
            <p:cNvPr name="Freeform 91" id="91"/>
            <p:cNvSpPr/>
            <p:nvPr/>
          </p:nvSpPr>
          <p:spPr>
            <a:xfrm flipH="false" flipV="false" rot="0">
              <a:off x="0" y="0"/>
              <a:ext cx="12618720" cy="1630680"/>
            </a:xfrm>
            <a:custGeom>
              <a:avLst/>
              <a:gdLst/>
              <a:ahLst/>
              <a:cxnLst/>
              <a:rect r="r" b="b" t="t" l="l"/>
              <a:pathLst>
                <a:path h="1630680" w="12618720">
                  <a:moveTo>
                    <a:pt x="0" y="0"/>
                  </a:moveTo>
                  <a:lnTo>
                    <a:pt x="12618720" y="0"/>
                  </a:lnTo>
                  <a:lnTo>
                    <a:pt x="12618720" y="1630680"/>
                  </a:lnTo>
                  <a:lnTo>
                    <a:pt x="0" y="1630680"/>
                  </a:lnTo>
                  <a:close/>
                </a:path>
              </a:pathLst>
            </a:custGeom>
            <a:blipFill>
              <a:blip r:embed="rId6">
                <a:alphaModFix amt="0"/>
              </a:blip>
              <a:stretch>
                <a:fillRect l="0" t="-100781" r="0" b="-100781"/>
              </a:stretch>
            </a:blipFill>
          </p:spPr>
          <p:txBody>
            <a:bodyPr/>
            <a:p/>
          </p:txBody>
        </p:sp>
        <p:sp>
          <p:nvSpPr>
            <p:cNvPr name="TextBox 92" id="92"/>
            <p:cNvSpPr txBox="true"/>
            <p:nvPr/>
          </p:nvSpPr>
          <p:spPr>
            <a:xfrm>
              <a:off x="0" y="-38100"/>
              <a:ext cx="12618720" cy="1668780"/>
            </a:xfrm>
            <a:prstGeom prst="rect">
              <a:avLst/>
            </a:prstGeom>
          </p:spPr>
          <p:txBody>
            <a:bodyPr anchor="ctr" rtlCol="false" tIns="0" lIns="0" bIns="0" rIns="0"/>
            <a:lstStyle/>
            <a:p>
              <a:pPr algn="l">
                <a:lnSpc>
                  <a:spcPts val="2878"/>
                </a:lnSpc>
              </a:pPr>
              <a:r>
                <a:rPr lang="en-US" sz="2400" b="true">
                  <a:solidFill>
                    <a:srgbClr val="0B5E6E"/>
                  </a:solidFill>
                  <a:latin typeface="Calibri (MS) Bold"/>
                  <a:ea typeface="Calibri (MS) Bold"/>
                  <a:cs typeface="Calibri (MS) Bold"/>
                  <a:sym typeface="Calibri (MS) Bold"/>
                </a:rPr>
                <a:t>0,40 × komponen ODTW + 0,35 × komponen kepadatan + 0,25 × komponen daya dukung lahan</a:t>
              </a:r>
            </a:p>
          </p:txBody>
        </p:sp>
      </p:grpSp>
      <p:grpSp>
        <p:nvGrpSpPr>
          <p:cNvPr name="Group 93" id="93"/>
          <p:cNvGrpSpPr/>
          <p:nvPr/>
        </p:nvGrpSpPr>
        <p:grpSpPr>
          <a:xfrm rot="0">
            <a:off x="11521440" y="2400300"/>
            <a:ext cx="5939028" cy="6377940"/>
            <a:chOff x="0" y="0"/>
            <a:chExt cx="7918704" cy="8503920"/>
          </a:xfrm>
        </p:grpSpPr>
        <p:sp>
          <p:nvSpPr>
            <p:cNvPr name="Freeform 94" id="94"/>
            <p:cNvSpPr/>
            <p:nvPr/>
          </p:nvSpPr>
          <p:spPr>
            <a:xfrm flipH="false" flipV="false" rot="0">
              <a:off x="0" y="0"/>
              <a:ext cx="7918704" cy="8503920"/>
            </a:xfrm>
            <a:custGeom>
              <a:avLst/>
              <a:gdLst/>
              <a:ahLst/>
              <a:cxnLst/>
              <a:rect r="r" b="b" t="t" l="l"/>
              <a:pathLst>
                <a:path h="8503920" w="7918704">
                  <a:moveTo>
                    <a:pt x="0" y="182880"/>
                  </a:moveTo>
                  <a:cubicBezTo>
                    <a:pt x="0" y="81915"/>
                    <a:pt x="81915" y="0"/>
                    <a:pt x="182880" y="0"/>
                  </a:cubicBezTo>
                  <a:lnTo>
                    <a:pt x="7735824" y="0"/>
                  </a:lnTo>
                  <a:cubicBezTo>
                    <a:pt x="7836789" y="0"/>
                    <a:pt x="7918704" y="81915"/>
                    <a:pt x="7918704" y="182880"/>
                  </a:cubicBezTo>
                  <a:lnTo>
                    <a:pt x="7918704" y="8321040"/>
                  </a:lnTo>
                  <a:cubicBezTo>
                    <a:pt x="7918704" y="8422005"/>
                    <a:pt x="7836789" y="8503920"/>
                    <a:pt x="7735824" y="8503920"/>
                  </a:cubicBezTo>
                  <a:lnTo>
                    <a:pt x="182880" y="8503920"/>
                  </a:lnTo>
                  <a:cubicBezTo>
                    <a:pt x="81915" y="8503920"/>
                    <a:pt x="0" y="8422005"/>
                    <a:pt x="0" y="8321040"/>
                  </a:cubicBezTo>
                  <a:close/>
                </a:path>
              </a:pathLst>
            </a:custGeom>
            <a:solidFill>
              <a:srgbClr val="EAF8FA"/>
            </a:solidFill>
          </p:spPr>
          <p:txBody>
            <a:bodyPr/>
            <a:p/>
          </p:txBody>
        </p:sp>
      </p:grpSp>
      <p:sp>
        <p:nvSpPr>
          <p:cNvPr name="TextBox 95" id="95"/>
          <p:cNvSpPr txBox="true"/>
          <p:nvPr/>
        </p:nvSpPr>
        <p:spPr>
          <a:xfrm rot="0">
            <a:off x="11932920" y="2503170"/>
            <a:ext cx="5212080" cy="651510"/>
          </a:xfrm>
          <a:prstGeom prst="rect">
            <a:avLst/>
          </a:prstGeom>
        </p:spPr>
        <p:txBody>
          <a:bodyPr anchor="t" rtlCol="false" tIns="0" lIns="0" bIns="0" rIns="0">
            <a:spAutoFit/>
          </a:bodyPr>
          <a:lstStyle/>
          <a:p>
            <a:pPr algn="l">
              <a:lnSpc>
                <a:spcPts val="2700"/>
              </a:lnSpc>
            </a:pPr>
            <a:r>
              <a:rPr lang="en-US" sz="2250" b="true">
                <a:solidFill>
                  <a:srgbClr val="0B5E6E"/>
                </a:solidFill>
                <a:latin typeface="Calibri (MS) Bold"/>
                <a:ea typeface="Calibri (MS) Bold"/>
                <a:cs typeface="Calibri (MS) Bold"/>
                <a:sym typeface="Calibri (MS) Bold"/>
              </a:rPr>
              <a:t>Nilai parameter kunci</a:t>
            </a:r>
          </a:p>
        </p:txBody>
      </p:sp>
      <p:grpSp>
        <p:nvGrpSpPr>
          <p:cNvPr name="Group 96" id="96"/>
          <p:cNvGrpSpPr/>
          <p:nvPr/>
        </p:nvGrpSpPr>
        <p:grpSpPr>
          <a:xfrm rot="0">
            <a:off x="11932920" y="3429000"/>
            <a:ext cx="5212080" cy="617220"/>
            <a:chOff x="0" y="0"/>
            <a:chExt cx="6949440" cy="822960"/>
          </a:xfrm>
        </p:grpSpPr>
        <p:sp>
          <p:nvSpPr>
            <p:cNvPr name="Freeform 97" id="97"/>
            <p:cNvSpPr/>
            <p:nvPr/>
          </p:nvSpPr>
          <p:spPr>
            <a:xfrm flipH="false" flipV="false" rot="0">
              <a:off x="0" y="0"/>
              <a:ext cx="6949440" cy="822960"/>
            </a:xfrm>
            <a:custGeom>
              <a:avLst/>
              <a:gdLst/>
              <a:ahLst/>
              <a:cxnLst/>
              <a:rect r="r" b="b" t="t" l="l"/>
              <a:pathLst>
                <a:path h="822960" w="6949440">
                  <a:moveTo>
                    <a:pt x="0" y="0"/>
                  </a:moveTo>
                  <a:lnTo>
                    <a:pt x="6949440" y="0"/>
                  </a:lnTo>
                  <a:lnTo>
                    <a:pt x="6949440" y="822960"/>
                  </a:lnTo>
                  <a:lnTo>
                    <a:pt x="0" y="822960"/>
                  </a:lnTo>
                  <a:close/>
                </a:path>
              </a:pathLst>
            </a:custGeom>
            <a:blipFill>
              <a:blip r:embed="rId4">
                <a:alphaModFix amt="0"/>
              </a:blip>
              <a:stretch>
                <a:fillRect l="0" t="-114425" r="0" b="-114425"/>
              </a:stretch>
            </a:blipFill>
          </p:spPr>
          <p:txBody>
            <a:bodyPr/>
            <a:p/>
          </p:txBody>
        </p:sp>
      </p:grpSp>
      <p:grpSp>
        <p:nvGrpSpPr>
          <p:cNvPr name="Group 98" id="98"/>
          <p:cNvGrpSpPr/>
          <p:nvPr/>
        </p:nvGrpSpPr>
        <p:grpSpPr>
          <a:xfrm rot="0">
            <a:off x="11932920" y="3378994"/>
            <a:ext cx="5212080" cy="667226"/>
            <a:chOff x="0" y="0"/>
            <a:chExt cx="6949440" cy="889635"/>
          </a:xfrm>
        </p:grpSpPr>
        <p:sp>
          <p:nvSpPr>
            <p:cNvPr name="Freeform 99" id="99"/>
            <p:cNvSpPr/>
            <p:nvPr/>
          </p:nvSpPr>
          <p:spPr>
            <a:xfrm flipH="false" flipV="false" rot="0">
              <a:off x="0" y="0"/>
              <a:ext cx="6949440" cy="889635"/>
            </a:xfrm>
            <a:custGeom>
              <a:avLst/>
              <a:gdLst/>
              <a:ahLst/>
              <a:cxnLst/>
              <a:rect r="r" b="b" t="t" l="l"/>
              <a:pathLst>
                <a:path h="889635" w="6949440">
                  <a:moveTo>
                    <a:pt x="0" y="0"/>
                  </a:moveTo>
                  <a:lnTo>
                    <a:pt x="6949440" y="0"/>
                  </a:lnTo>
                  <a:lnTo>
                    <a:pt x="6949440" y="889635"/>
                  </a:lnTo>
                  <a:lnTo>
                    <a:pt x="0" y="889635"/>
                  </a:lnTo>
                  <a:close/>
                </a:path>
              </a:pathLst>
            </a:custGeom>
            <a:blipFill>
              <a:blip r:embed="rId5">
                <a:alphaModFix amt="0"/>
              </a:blip>
              <a:stretch>
                <a:fillRect l="0" t="-102102" r="0" b="-102102"/>
              </a:stretch>
            </a:blipFill>
          </p:spPr>
          <p:txBody>
            <a:bodyPr/>
            <a:p/>
          </p:txBody>
        </p:sp>
      </p:grpSp>
      <p:grpSp>
        <p:nvGrpSpPr>
          <p:cNvPr name="Group 100" id="100"/>
          <p:cNvGrpSpPr/>
          <p:nvPr/>
        </p:nvGrpSpPr>
        <p:grpSpPr>
          <a:xfrm rot="0">
            <a:off x="11932920" y="3328988"/>
            <a:ext cx="5212080" cy="717232"/>
            <a:chOff x="0" y="0"/>
            <a:chExt cx="6949440" cy="956310"/>
          </a:xfrm>
        </p:grpSpPr>
        <p:sp>
          <p:nvSpPr>
            <p:cNvPr name="Freeform 101" id="101"/>
            <p:cNvSpPr/>
            <p:nvPr/>
          </p:nvSpPr>
          <p:spPr>
            <a:xfrm flipH="false" flipV="false" rot="0">
              <a:off x="0" y="0"/>
              <a:ext cx="6949440" cy="956310"/>
            </a:xfrm>
            <a:custGeom>
              <a:avLst/>
              <a:gdLst/>
              <a:ahLst/>
              <a:cxnLst/>
              <a:rect r="r" b="b" t="t" l="l"/>
              <a:pathLst>
                <a:path h="956310" w="6949440">
                  <a:moveTo>
                    <a:pt x="0" y="0"/>
                  </a:moveTo>
                  <a:lnTo>
                    <a:pt x="6949440" y="0"/>
                  </a:lnTo>
                  <a:lnTo>
                    <a:pt x="6949440" y="956310"/>
                  </a:lnTo>
                  <a:lnTo>
                    <a:pt x="0" y="956310"/>
                  </a:lnTo>
                  <a:close/>
                </a:path>
              </a:pathLst>
            </a:custGeom>
            <a:blipFill>
              <a:blip r:embed="rId6">
                <a:alphaModFix amt="0"/>
              </a:blip>
              <a:stretch>
                <a:fillRect l="0" t="-91596" r="0" b="-91596"/>
              </a:stretch>
            </a:blipFill>
          </p:spPr>
          <p:txBody>
            <a:bodyPr/>
            <a:p/>
          </p:txBody>
        </p:sp>
        <p:sp>
          <p:nvSpPr>
            <p:cNvPr name="TextBox 102" id="102"/>
            <p:cNvSpPr txBox="true"/>
            <p:nvPr/>
          </p:nvSpPr>
          <p:spPr>
            <a:xfrm>
              <a:off x="0" y="-66675"/>
              <a:ext cx="6949440" cy="1022985"/>
            </a:xfrm>
            <a:prstGeom prst="rect">
              <a:avLst/>
            </a:prstGeom>
          </p:spPr>
          <p:txBody>
            <a:bodyPr anchor="ctr" rtlCol="false" tIns="0" lIns="0" bIns="0" rIns="0"/>
            <a:lstStyle/>
            <a:p>
              <a:pPr algn="l">
                <a:lnSpc>
                  <a:spcPts val="3778"/>
                </a:lnSpc>
              </a:pPr>
              <a:r>
                <a:rPr lang="en-US" sz="3150" b="true">
                  <a:solidFill>
                    <a:srgbClr val="0B5E6E"/>
                  </a:solidFill>
                  <a:latin typeface="Calibri (MS) Bold"/>
                  <a:ea typeface="Calibri (MS) Bold"/>
                  <a:cs typeface="Calibri (MS) Bold"/>
                  <a:sym typeface="Calibri (MS) Bold"/>
                </a:rPr>
                <a:t>0,27726 /th</a:t>
              </a:r>
            </a:p>
          </p:txBody>
        </p:sp>
      </p:grpSp>
      <p:sp>
        <p:nvSpPr>
          <p:cNvPr name="TextBox 103" id="103"/>
          <p:cNvSpPr txBox="true"/>
          <p:nvPr/>
        </p:nvSpPr>
        <p:spPr>
          <a:xfrm rot="0">
            <a:off x="11932920" y="4000500"/>
            <a:ext cx="5212080" cy="107442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Laju Pertumbuhan Eksternal (dihitung dari data)</a:t>
            </a:r>
          </a:p>
        </p:txBody>
      </p:sp>
      <p:grpSp>
        <p:nvGrpSpPr>
          <p:cNvPr name="Group 104" id="104"/>
          <p:cNvGrpSpPr/>
          <p:nvPr/>
        </p:nvGrpSpPr>
        <p:grpSpPr>
          <a:xfrm rot="0">
            <a:off x="11932920" y="5212080"/>
            <a:ext cx="5212080" cy="617220"/>
            <a:chOff x="0" y="0"/>
            <a:chExt cx="6949440" cy="822960"/>
          </a:xfrm>
        </p:grpSpPr>
        <p:sp>
          <p:nvSpPr>
            <p:cNvPr name="Freeform 105" id="105"/>
            <p:cNvSpPr/>
            <p:nvPr/>
          </p:nvSpPr>
          <p:spPr>
            <a:xfrm flipH="false" flipV="false" rot="0">
              <a:off x="0" y="0"/>
              <a:ext cx="6949440" cy="822960"/>
            </a:xfrm>
            <a:custGeom>
              <a:avLst/>
              <a:gdLst/>
              <a:ahLst/>
              <a:cxnLst/>
              <a:rect r="r" b="b" t="t" l="l"/>
              <a:pathLst>
                <a:path h="822960" w="6949440">
                  <a:moveTo>
                    <a:pt x="0" y="0"/>
                  </a:moveTo>
                  <a:lnTo>
                    <a:pt x="6949440" y="0"/>
                  </a:lnTo>
                  <a:lnTo>
                    <a:pt x="6949440" y="822960"/>
                  </a:lnTo>
                  <a:lnTo>
                    <a:pt x="0" y="822960"/>
                  </a:lnTo>
                  <a:close/>
                </a:path>
              </a:pathLst>
            </a:custGeom>
            <a:blipFill>
              <a:blip r:embed="rId4">
                <a:alphaModFix amt="0"/>
              </a:blip>
              <a:stretch>
                <a:fillRect l="0" t="-114425" r="0" b="-114425"/>
              </a:stretch>
            </a:blipFill>
          </p:spPr>
          <p:txBody>
            <a:bodyPr/>
            <a:p/>
          </p:txBody>
        </p:sp>
      </p:grpSp>
      <p:grpSp>
        <p:nvGrpSpPr>
          <p:cNvPr name="Group 106" id="106"/>
          <p:cNvGrpSpPr/>
          <p:nvPr/>
        </p:nvGrpSpPr>
        <p:grpSpPr>
          <a:xfrm rot="0">
            <a:off x="11932920" y="5162074"/>
            <a:ext cx="5212080" cy="667226"/>
            <a:chOff x="0" y="0"/>
            <a:chExt cx="6949440" cy="889635"/>
          </a:xfrm>
        </p:grpSpPr>
        <p:sp>
          <p:nvSpPr>
            <p:cNvPr name="Freeform 107" id="107"/>
            <p:cNvSpPr/>
            <p:nvPr/>
          </p:nvSpPr>
          <p:spPr>
            <a:xfrm flipH="false" flipV="false" rot="0">
              <a:off x="0" y="0"/>
              <a:ext cx="6949440" cy="889635"/>
            </a:xfrm>
            <a:custGeom>
              <a:avLst/>
              <a:gdLst/>
              <a:ahLst/>
              <a:cxnLst/>
              <a:rect r="r" b="b" t="t" l="l"/>
              <a:pathLst>
                <a:path h="889635" w="6949440">
                  <a:moveTo>
                    <a:pt x="0" y="0"/>
                  </a:moveTo>
                  <a:lnTo>
                    <a:pt x="6949440" y="0"/>
                  </a:lnTo>
                  <a:lnTo>
                    <a:pt x="6949440" y="889635"/>
                  </a:lnTo>
                  <a:lnTo>
                    <a:pt x="0" y="889635"/>
                  </a:lnTo>
                  <a:close/>
                </a:path>
              </a:pathLst>
            </a:custGeom>
            <a:blipFill>
              <a:blip r:embed="rId5">
                <a:alphaModFix amt="0"/>
              </a:blip>
              <a:stretch>
                <a:fillRect l="0" t="-102102" r="0" b="-102102"/>
              </a:stretch>
            </a:blipFill>
          </p:spPr>
          <p:txBody>
            <a:bodyPr/>
            <a:p/>
          </p:txBody>
        </p:sp>
      </p:grpSp>
      <p:grpSp>
        <p:nvGrpSpPr>
          <p:cNvPr name="Group 108" id="108"/>
          <p:cNvGrpSpPr/>
          <p:nvPr/>
        </p:nvGrpSpPr>
        <p:grpSpPr>
          <a:xfrm rot="0">
            <a:off x="11932920" y="5112068"/>
            <a:ext cx="5212080" cy="717232"/>
            <a:chOff x="0" y="0"/>
            <a:chExt cx="6949440" cy="956310"/>
          </a:xfrm>
        </p:grpSpPr>
        <p:sp>
          <p:nvSpPr>
            <p:cNvPr name="Freeform 109" id="109"/>
            <p:cNvSpPr/>
            <p:nvPr/>
          </p:nvSpPr>
          <p:spPr>
            <a:xfrm flipH="false" flipV="false" rot="0">
              <a:off x="0" y="0"/>
              <a:ext cx="6949440" cy="956310"/>
            </a:xfrm>
            <a:custGeom>
              <a:avLst/>
              <a:gdLst/>
              <a:ahLst/>
              <a:cxnLst/>
              <a:rect r="r" b="b" t="t" l="l"/>
              <a:pathLst>
                <a:path h="956310" w="6949440">
                  <a:moveTo>
                    <a:pt x="0" y="0"/>
                  </a:moveTo>
                  <a:lnTo>
                    <a:pt x="6949440" y="0"/>
                  </a:lnTo>
                  <a:lnTo>
                    <a:pt x="6949440" y="956310"/>
                  </a:lnTo>
                  <a:lnTo>
                    <a:pt x="0" y="956310"/>
                  </a:lnTo>
                  <a:close/>
                </a:path>
              </a:pathLst>
            </a:custGeom>
            <a:blipFill>
              <a:blip r:embed="rId6">
                <a:alphaModFix amt="0"/>
              </a:blip>
              <a:stretch>
                <a:fillRect l="0" t="-91596" r="0" b="-91596"/>
              </a:stretch>
            </a:blipFill>
          </p:spPr>
          <p:txBody>
            <a:bodyPr/>
            <a:p/>
          </p:txBody>
        </p:sp>
        <p:sp>
          <p:nvSpPr>
            <p:cNvPr name="TextBox 110" id="110"/>
            <p:cNvSpPr txBox="true"/>
            <p:nvPr/>
          </p:nvSpPr>
          <p:spPr>
            <a:xfrm>
              <a:off x="0" y="-66675"/>
              <a:ext cx="6949440" cy="1022985"/>
            </a:xfrm>
            <a:prstGeom prst="rect">
              <a:avLst/>
            </a:prstGeom>
          </p:spPr>
          <p:txBody>
            <a:bodyPr anchor="ctr" rtlCol="false" tIns="0" lIns="0" bIns="0" rIns="0"/>
            <a:lstStyle/>
            <a:p>
              <a:pPr algn="l">
                <a:lnSpc>
                  <a:spcPts val="3778"/>
                </a:lnSpc>
              </a:pPr>
              <a:r>
                <a:rPr lang="en-US" sz="3150" b="true">
                  <a:solidFill>
                    <a:srgbClr val="0B5E6E"/>
                  </a:solidFill>
                  <a:latin typeface="Calibri (MS) Bold"/>
                  <a:ea typeface="Calibri (MS) Bold"/>
                  <a:cs typeface="Calibri (MS) Bold"/>
                  <a:sym typeface="Calibri (MS) Bold"/>
                </a:rPr>
                <a:t>0,207945 /th</a:t>
              </a:r>
            </a:p>
          </p:txBody>
        </p:sp>
      </p:grpSp>
      <p:sp>
        <p:nvSpPr>
          <p:cNvPr name="TextBox 111" id="111"/>
          <p:cNvSpPr txBox="true"/>
          <p:nvPr/>
        </p:nvSpPr>
        <p:spPr>
          <a:xfrm rot="0">
            <a:off x="11932920" y="5783580"/>
            <a:ext cx="5212080" cy="107442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Laju Penurunan Dasar = 0,75 × LPE (rasio 0,75: asumsi model)</a:t>
            </a:r>
          </a:p>
        </p:txBody>
      </p:sp>
      <p:grpSp>
        <p:nvGrpSpPr>
          <p:cNvPr name="Group 112" id="112"/>
          <p:cNvGrpSpPr/>
          <p:nvPr/>
        </p:nvGrpSpPr>
        <p:grpSpPr>
          <a:xfrm rot="0">
            <a:off x="11932920" y="6995160"/>
            <a:ext cx="5212080" cy="617220"/>
            <a:chOff x="0" y="0"/>
            <a:chExt cx="6949440" cy="822960"/>
          </a:xfrm>
        </p:grpSpPr>
        <p:sp>
          <p:nvSpPr>
            <p:cNvPr name="Freeform 113" id="113"/>
            <p:cNvSpPr/>
            <p:nvPr/>
          </p:nvSpPr>
          <p:spPr>
            <a:xfrm flipH="false" flipV="false" rot="0">
              <a:off x="0" y="0"/>
              <a:ext cx="6949440" cy="822960"/>
            </a:xfrm>
            <a:custGeom>
              <a:avLst/>
              <a:gdLst/>
              <a:ahLst/>
              <a:cxnLst/>
              <a:rect r="r" b="b" t="t" l="l"/>
              <a:pathLst>
                <a:path h="822960" w="6949440">
                  <a:moveTo>
                    <a:pt x="0" y="0"/>
                  </a:moveTo>
                  <a:lnTo>
                    <a:pt x="6949440" y="0"/>
                  </a:lnTo>
                  <a:lnTo>
                    <a:pt x="6949440" y="822960"/>
                  </a:lnTo>
                  <a:lnTo>
                    <a:pt x="0" y="822960"/>
                  </a:lnTo>
                  <a:close/>
                </a:path>
              </a:pathLst>
            </a:custGeom>
            <a:blipFill>
              <a:blip r:embed="rId4">
                <a:alphaModFix amt="0"/>
              </a:blip>
              <a:stretch>
                <a:fillRect l="0" t="-114425" r="0" b="-114425"/>
              </a:stretch>
            </a:blipFill>
          </p:spPr>
          <p:txBody>
            <a:bodyPr/>
            <a:p/>
          </p:txBody>
        </p:sp>
      </p:grpSp>
      <p:grpSp>
        <p:nvGrpSpPr>
          <p:cNvPr name="Group 114" id="114"/>
          <p:cNvGrpSpPr/>
          <p:nvPr/>
        </p:nvGrpSpPr>
        <p:grpSpPr>
          <a:xfrm rot="0">
            <a:off x="11932920" y="6945154"/>
            <a:ext cx="5212080" cy="667226"/>
            <a:chOff x="0" y="0"/>
            <a:chExt cx="6949440" cy="889635"/>
          </a:xfrm>
        </p:grpSpPr>
        <p:sp>
          <p:nvSpPr>
            <p:cNvPr name="Freeform 115" id="115"/>
            <p:cNvSpPr/>
            <p:nvPr/>
          </p:nvSpPr>
          <p:spPr>
            <a:xfrm flipH="false" flipV="false" rot="0">
              <a:off x="0" y="0"/>
              <a:ext cx="6949440" cy="889635"/>
            </a:xfrm>
            <a:custGeom>
              <a:avLst/>
              <a:gdLst/>
              <a:ahLst/>
              <a:cxnLst/>
              <a:rect r="r" b="b" t="t" l="l"/>
              <a:pathLst>
                <a:path h="889635" w="6949440">
                  <a:moveTo>
                    <a:pt x="0" y="0"/>
                  </a:moveTo>
                  <a:lnTo>
                    <a:pt x="6949440" y="0"/>
                  </a:lnTo>
                  <a:lnTo>
                    <a:pt x="6949440" y="889635"/>
                  </a:lnTo>
                  <a:lnTo>
                    <a:pt x="0" y="889635"/>
                  </a:lnTo>
                  <a:close/>
                </a:path>
              </a:pathLst>
            </a:custGeom>
            <a:blipFill>
              <a:blip r:embed="rId5">
                <a:alphaModFix amt="0"/>
              </a:blip>
              <a:stretch>
                <a:fillRect l="0" t="-102102" r="0" b="-102102"/>
              </a:stretch>
            </a:blipFill>
          </p:spPr>
          <p:txBody>
            <a:bodyPr/>
            <a:p/>
          </p:txBody>
        </p:sp>
      </p:grpSp>
      <p:grpSp>
        <p:nvGrpSpPr>
          <p:cNvPr name="Group 116" id="116"/>
          <p:cNvGrpSpPr/>
          <p:nvPr/>
        </p:nvGrpSpPr>
        <p:grpSpPr>
          <a:xfrm rot="0">
            <a:off x="11932920" y="6895147"/>
            <a:ext cx="5212080" cy="717232"/>
            <a:chOff x="0" y="0"/>
            <a:chExt cx="6949440" cy="956310"/>
          </a:xfrm>
        </p:grpSpPr>
        <p:sp>
          <p:nvSpPr>
            <p:cNvPr name="Freeform 117" id="117"/>
            <p:cNvSpPr/>
            <p:nvPr/>
          </p:nvSpPr>
          <p:spPr>
            <a:xfrm flipH="false" flipV="false" rot="0">
              <a:off x="0" y="0"/>
              <a:ext cx="6949440" cy="956310"/>
            </a:xfrm>
            <a:custGeom>
              <a:avLst/>
              <a:gdLst/>
              <a:ahLst/>
              <a:cxnLst/>
              <a:rect r="r" b="b" t="t" l="l"/>
              <a:pathLst>
                <a:path h="956310" w="6949440">
                  <a:moveTo>
                    <a:pt x="0" y="0"/>
                  </a:moveTo>
                  <a:lnTo>
                    <a:pt x="6949440" y="0"/>
                  </a:lnTo>
                  <a:lnTo>
                    <a:pt x="6949440" y="956310"/>
                  </a:lnTo>
                  <a:lnTo>
                    <a:pt x="0" y="956310"/>
                  </a:lnTo>
                  <a:close/>
                </a:path>
              </a:pathLst>
            </a:custGeom>
            <a:blipFill>
              <a:blip r:embed="rId6">
                <a:alphaModFix amt="0"/>
              </a:blip>
              <a:stretch>
                <a:fillRect l="0" t="-91596" r="0" b="-91596"/>
              </a:stretch>
            </a:blipFill>
          </p:spPr>
          <p:txBody>
            <a:bodyPr/>
            <a:p/>
          </p:txBody>
        </p:sp>
        <p:sp>
          <p:nvSpPr>
            <p:cNvPr name="TextBox 118" id="118"/>
            <p:cNvSpPr txBox="true"/>
            <p:nvPr/>
          </p:nvSpPr>
          <p:spPr>
            <a:xfrm>
              <a:off x="0" y="-66675"/>
              <a:ext cx="6949440" cy="1022985"/>
            </a:xfrm>
            <a:prstGeom prst="rect">
              <a:avLst/>
            </a:prstGeom>
          </p:spPr>
          <p:txBody>
            <a:bodyPr anchor="ctr" rtlCol="false" tIns="0" lIns="0" bIns="0" rIns="0"/>
            <a:lstStyle/>
            <a:p>
              <a:pPr algn="l">
                <a:lnSpc>
                  <a:spcPts val="3778"/>
                </a:lnSpc>
              </a:pPr>
              <a:r>
                <a:rPr lang="en-US" sz="3150" b="true">
                  <a:solidFill>
                    <a:srgbClr val="0B5E6E"/>
                  </a:solidFill>
                  <a:latin typeface="Calibri (MS) Bold"/>
                  <a:ea typeface="Calibri (MS) Bold"/>
                  <a:cs typeface="Calibri (MS) Bold"/>
                  <a:sym typeface="Calibri (MS) Bold"/>
                </a:rPr>
                <a:t>0,40 · 0,35 · 0,25</a:t>
              </a:r>
            </a:p>
          </p:txBody>
        </p:sp>
      </p:grpSp>
      <p:sp>
        <p:nvSpPr>
          <p:cNvPr name="TextBox 119" id="119"/>
          <p:cNvSpPr txBox="true"/>
          <p:nvPr/>
        </p:nvSpPr>
        <p:spPr>
          <a:xfrm rot="0">
            <a:off x="11932920" y="7566660"/>
            <a:ext cx="5212080" cy="107442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Bobot ODTW · kepadatan · daya dukung lahan (asumsi peneliti)</a:t>
            </a:r>
          </a:p>
        </p:txBody>
      </p:sp>
      <p:sp>
        <p:nvSpPr>
          <p:cNvPr name="TextBox 120" id="120"/>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35</a:t>
            </a:r>
          </a:p>
        </p:txBody>
      </p:sp>
      <p:grpSp>
        <p:nvGrpSpPr>
          <p:cNvPr name="Group 121" id="121"/>
          <p:cNvGrpSpPr/>
          <p:nvPr/>
        </p:nvGrpSpPr>
        <p:grpSpPr>
          <a:xfrm rot="0">
            <a:off x="12755880" y="274320"/>
            <a:ext cx="3931920" cy="411480"/>
            <a:chOff x="0" y="0"/>
            <a:chExt cx="5242560" cy="548640"/>
          </a:xfrm>
        </p:grpSpPr>
        <p:sp>
          <p:nvSpPr>
            <p:cNvPr name="Freeform 122" id="122"/>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23" id="123"/>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2B · Formulasi model</a:t>
              </a:r>
            </a:p>
          </p:txBody>
        </p:sp>
      </p:grpSp>
      <p:grpSp>
        <p:nvGrpSpPr>
          <p:cNvPr name="Group 124" id="124"/>
          <p:cNvGrpSpPr/>
          <p:nvPr/>
        </p:nvGrpSpPr>
        <p:grpSpPr>
          <a:xfrm rot="0">
            <a:off x="16047720" y="9646920"/>
            <a:ext cx="420624" cy="420624"/>
            <a:chOff x="0" y="0"/>
            <a:chExt cx="560832" cy="560832"/>
          </a:xfrm>
        </p:grpSpPr>
        <p:sp>
          <p:nvSpPr>
            <p:cNvPr name="Freeform 125" id="125"/>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26" id="126"/>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3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Persamaan Stok — Subsistem Lainnya</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Persamaan akomodasi, ODTW, tenaga kerja, lahan, dan letak variabel kebijakan</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36</a:t>
            </a:r>
          </a:p>
        </p:txBody>
      </p:sp>
      <p:grpSp>
        <p:nvGrpSpPr>
          <p:cNvPr name="Group 67" id="67"/>
          <p:cNvGrpSpPr/>
          <p:nvPr/>
        </p:nvGrpSpPr>
        <p:grpSpPr>
          <a:xfrm rot="0">
            <a:off x="12755880" y="274320"/>
            <a:ext cx="3931920" cy="411480"/>
            <a:chOff x="0" y="0"/>
            <a:chExt cx="5242560" cy="548640"/>
          </a:xfrm>
        </p:grpSpPr>
        <p:sp>
          <p:nvSpPr>
            <p:cNvPr name="Freeform 68" id="68"/>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69" id="69"/>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2B · Formulasi model</a:t>
              </a:r>
            </a:p>
          </p:txBody>
        </p:sp>
      </p:grpSp>
      <p:grpSp>
        <p:nvGrpSpPr>
          <p:cNvPr name="Group 70" id="70"/>
          <p:cNvGrpSpPr/>
          <p:nvPr/>
        </p:nvGrpSpPr>
        <p:grpSpPr>
          <a:xfrm rot="0">
            <a:off x="816607" y="2279647"/>
            <a:ext cx="8242297" cy="2801620"/>
            <a:chOff x="0" y="0"/>
            <a:chExt cx="10989729" cy="3735493"/>
          </a:xfrm>
        </p:grpSpPr>
        <p:sp>
          <p:nvSpPr>
            <p:cNvPr name="Freeform 71" id="71"/>
            <p:cNvSpPr/>
            <p:nvPr/>
          </p:nvSpPr>
          <p:spPr>
            <a:xfrm flipH="false" flipV="false" rot="0">
              <a:off x="0" y="0"/>
              <a:ext cx="10989691" cy="3735455"/>
            </a:xfrm>
            <a:custGeom>
              <a:avLst/>
              <a:gdLst/>
              <a:ahLst/>
              <a:cxnLst/>
              <a:rect r="r" b="b" t="t" l="l"/>
              <a:pathLst>
                <a:path h="3735455" w="10989691">
                  <a:moveTo>
                    <a:pt x="0" y="298831"/>
                  </a:moveTo>
                  <a:cubicBezTo>
                    <a:pt x="0" y="133858"/>
                    <a:pt x="133858" y="0"/>
                    <a:pt x="298831" y="0"/>
                  </a:cubicBezTo>
                  <a:lnTo>
                    <a:pt x="10690860" y="0"/>
                  </a:lnTo>
                  <a:cubicBezTo>
                    <a:pt x="10855960" y="0"/>
                    <a:pt x="10989691" y="133858"/>
                    <a:pt x="10989691" y="298831"/>
                  </a:cubicBezTo>
                  <a:lnTo>
                    <a:pt x="10989691" y="3436624"/>
                  </a:lnTo>
                  <a:cubicBezTo>
                    <a:pt x="10989691" y="3601724"/>
                    <a:pt x="10855833" y="3735455"/>
                    <a:pt x="10690860" y="3735455"/>
                  </a:cubicBezTo>
                  <a:lnTo>
                    <a:pt x="298831" y="3735455"/>
                  </a:lnTo>
                  <a:cubicBezTo>
                    <a:pt x="133858" y="3735455"/>
                    <a:pt x="0" y="3601724"/>
                    <a:pt x="0" y="3436624"/>
                  </a:cubicBezTo>
                  <a:close/>
                </a:path>
              </a:pathLst>
            </a:custGeom>
            <a:solidFill>
              <a:srgbClr val="EAF8FA"/>
            </a:solidFill>
            <a:ln w="12700" cap="sq">
              <a:solidFill>
                <a:srgbClr val="CFE5E9"/>
              </a:solidFill>
              <a:prstDash val="solid"/>
              <a:miter/>
            </a:ln>
          </p:spPr>
          <p:txBody>
            <a:bodyPr/>
            <a:p/>
          </p:txBody>
        </p:sp>
        <p:sp>
          <p:nvSpPr>
            <p:cNvPr name="TextBox 72" id="72"/>
            <p:cNvSpPr txBox="true"/>
            <p:nvPr/>
          </p:nvSpPr>
          <p:spPr>
            <a:xfrm>
              <a:off x="0" y="-38100"/>
              <a:ext cx="10989729" cy="3773593"/>
            </a:xfrm>
            <a:prstGeom prst="rect">
              <a:avLst/>
            </a:prstGeom>
          </p:spPr>
          <p:txBody>
            <a:bodyPr anchor="t" rtlCol="false" tIns="50800" lIns="50800" bIns="50800" rIns="50800"/>
            <a:lstStyle/>
            <a:p>
              <a:pPr algn="l">
                <a:lnSpc>
                  <a:spcPts val="2484"/>
                </a:lnSpc>
              </a:pPr>
              <a:r>
                <a:rPr lang="en-US" sz="2070" b="true">
                  <a:solidFill>
                    <a:srgbClr val="0B5E6E"/>
                  </a:solidFill>
                  <a:latin typeface="Calibri (MS) Bold"/>
                  <a:ea typeface="Calibri (MS) Bold"/>
                  <a:cs typeface="Calibri (MS) Bold"/>
                  <a:sym typeface="Calibri (MS) Bold"/>
                </a:rPr>
                <a:t>Akomodasi (B3)</a:t>
              </a:r>
            </a:p>
            <a:p>
              <a:pPr algn="l">
                <a:lnSpc>
                  <a:spcPts val="2206"/>
                </a:lnSpc>
              </a:pPr>
              <a:r>
                <a:rPr lang="en-US" sz="1839">
                  <a:solidFill>
                    <a:srgbClr val="14313B"/>
                  </a:solidFill>
                  <a:latin typeface="Calibri (MS)"/>
                  <a:ea typeface="Calibri (MS)"/>
                  <a:cs typeface="Calibri (MS)"/>
                  <a:sym typeface="Calibri (MS)"/>
                </a:rPr>
                <a:t>• Konstruksi = Investasi × 2,31385 × MAX(0; Rasio Permintaan − 0,275)</a:t>
              </a:r>
            </a:p>
            <a:p>
              <a:pPr algn="l">
                <a:lnSpc>
                  <a:spcPts val="2206"/>
                </a:lnSpc>
              </a:pPr>
              <a:r>
                <a:rPr lang="en-US" sz="1839">
                  <a:solidFill>
                    <a:srgbClr val="14313B"/>
                  </a:solidFill>
                  <a:latin typeface="Calibri (MS)"/>
                  <a:ea typeface="Calibri (MS)"/>
                  <a:cs typeface="Calibri (MS)"/>
                  <a:sym typeface="Calibri (MS)"/>
                </a:rPr>
                <a:t>• Rasio Permintaan = (Total Malam ÷ TPG) ÷ (Hotel × 21,4168 × 329,03)</a:t>
              </a:r>
            </a:p>
            <a:p>
              <a:pPr algn="l">
                <a:lnSpc>
                  <a:spcPts val="2206"/>
                </a:lnSpc>
              </a:pPr>
              <a:r>
                <a:rPr lang="en-US" sz="1839">
                  <a:solidFill>
                    <a:srgbClr val="14313B"/>
                  </a:solidFill>
                  <a:latin typeface="Calibri (MS)"/>
                  <a:ea typeface="Calibri (MS)"/>
                  <a:cs typeface="Calibri (MS)"/>
                  <a:sym typeface="Calibri (MS)"/>
                </a:rPr>
                <a:t>• TPK = MIN(1; Rasio Permintaan) · Demolisi = Hotel × 0,05</a:t>
              </a:r>
            </a:p>
          </p:txBody>
        </p:sp>
      </p:grpSp>
      <p:grpSp>
        <p:nvGrpSpPr>
          <p:cNvPr name="Group 73" id="73"/>
          <p:cNvGrpSpPr/>
          <p:nvPr/>
        </p:nvGrpSpPr>
        <p:grpSpPr>
          <a:xfrm rot="0">
            <a:off x="9229087" y="2279647"/>
            <a:ext cx="8242297" cy="2801617"/>
            <a:chOff x="0" y="0"/>
            <a:chExt cx="10989729" cy="3735489"/>
          </a:xfrm>
        </p:grpSpPr>
        <p:sp>
          <p:nvSpPr>
            <p:cNvPr name="Freeform 74" id="74"/>
            <p:cNvSpPr/>
            <p:nvPr/>
          </p:nvSpPr>
          <p:spPr>
            <a:xfrm flipH="false" flipV="false" rot="0">
              <a:off x="0" y="0"/>
              <a:ext cx="10989691" cy="3735451"/>
            </a:xfrm>
            <a:custGeom>
              <a:avLst/>
              <a:gdLst/>
              <a:ahLst/>
              <a:cxnLst/>
              <a:rect r="r" b="b" t="t" l="l"/>
              <a:pathLst>
                <a:path h="3735451" w="10989691">
                  <a:moveTo>
                    <a:pt x="0" y="298831"/>
                  </a:moveTo>
                  <a:cubicBezTo>
                    <a:pt x="0" y="133858"/>
                    <a:pt x="133858" y="0"/>
                    <a:pt x="298831" y="0"/>
                  </a:cubicBezTo>
                  <a:lnTo>
                    <a:pt x="10690860" y="0"/>
                  </a:lnTo>
                  <a:cubicBezTo>
                    <a:pt x="10855960" y="0"/>
                    <a:pt x="10989691" y="133858"/>
                    <a:pt x="10989691" y="298831"/>
                  </a:cubicBezTo>
                  <a:lnTo>
                    <a:pt x="10989691" y="3436620"/>
                  </a:lnTo>
                  <a:cubicBezTo>
                    <a:pt x="10989691" y="3601720"/>
                    <a:pt x="10855833" y="3735451"/>
                    <a:pt x="10690860" y="3735451"/>
                  </a:cubicBezTo>
                  <a:lnTo>
                    <a:pt x="298831" y="3735451"/>
                  </a:lnTo>
                  <a:cubicBezTo>
                    <a:pt x="133858" y="3735451"/>
                    <a:pt x="0" y="3601720"/>
                    <a:pt x="0" y="3436620"/>
                  </a:cubicBezTo>
                  <a:close/>
                </a:path>
              </a:pathLst>
            </a:custGeom>
            <a:solidFill>
              <a:srgbClr val="EAF8FA"/>
            </a:solidFill>
            <a:ln w="12700" cap="sq">
              <a:solidFill>
                <a:srgbClr val="CFE5E9"/>
              </a:solidFill>
              <a:prstDash val="solid"/>
              <a:miter/>
            </a:ln>
          </p:spPr>
          <p:txBody>
            <a:bodyPr/>
            <a:p/>
          </p:txBody>
        </p:sp>
        <p:sp>
          <p:nvSpPr>
            <p:cNvPr name="TextBox 75" id="75"/>
            <p:cNvSpPr txBox="true"/>
            <p:nvPr/>
          </p:nvSpPr>
          <p:spPr>
            <a:xfrm>
              <a:off x="0" y="-38100"/>
              <a:ext cx="10989729" cy="3773589"/>
            </a:xfrm>
            <a:prstGeom prst="rect">
              <a:avLst/>
            </a:prstGeom>
          </p:spPr>
          <p:txBody>
            <a:bodyPr anchor="t" rtlCol="false" tIns="50800" lIns="50800" bIns="50800" rIns="50800"/>
            <a:lstStyle/>
            <a:p>
              <a:pPr algn="l">
                <a:lnSpc>
                  <a:spcPts val="2484"/>
                </a:lnSpc>
              </a:pPr>
              <a:r>
                <a:rPr lang="en-US" sz="2070" b="true">
                  <a:solidFill>
                    <a:srgbClr val="0B5E6E"/>
                  </a:solidFill>
                  <a:latin typeface="Calibri (MS) Bold"/>
                  <a:ea typeface="Calibri (MS) Bold"/>
                  <a:cs typeface="Calibri (MS) Bold"/>
                  <a:sym typeface="Calibri (MS) Bold"/>
                </a:rPr>
                <a:t>ODTW (R2)</a:t>
              </a:r>
            </a:p>
            <a:p>
              <a:pPr algn="l">
                <a:lnSpc>
                  <a:spcPts val="2206"/>
                </a:lnSpc>
              </a:pPr>
              <a:r>
                <a:rPr lang="en-US" sz="1839">
                  <a:solidFill>
                    <a:srgbClr val="14313B"/>
                  </a:solidFill>
                  <a:latin typeface="Calibri (MS)"/>
                  <a:ea typeface="Calibri (MS)"/>
                  <a:cs typeface="Calibri (MS)"/>
                  <a:sym typeface="Calibri (MS)"/>
                </a:rPr>
                <a:t>• Pembangunan ODTW = Investasi × 0,01052 + 5,427</a:t>
              </a:r>
            </a:p>
            <a:p>
              <a:pPr algn="l">
                <a:lnSpc>
                  <a:spcPts val="2206"/>
                </a:lnSpc>
              </a:pPr>
              <a:r>
                <a:rPr lang="en-US" sz="1839">
                  <a:solidFill>
                    <a:srgbClr val="14313B"/>
                  </a:solidFill>
                  <a:latin typeface="Calibri (MS)"/>
                  <a:ea typeface="Calibri (MS)"/>
                  <a:cs typeface="Calibri (MS)"/>
                  <a:sym typeface="Calibri (MS)"/>
                </a:rPr>
                <a:t>• Penutupan ODTW = ODTW × 0,04993</a:t>
              </a:r>
            </a:p>
            <a:p>
              <a:pPr algn="l">
                <a:lnSpc>
                  <a:spcPts val="2206"/>
                </a:lnSpc>
              </a:pPr>
              <a:r>
                <a:rPr lang="en-US" sz="1839">
                  <a:solidFill>
                    <a:srgbClr val="14313B"/>
                  </a:solidFill>
                  <a:latin typeface="Calibri (MS)"/>
                  <a:ea typeface="Calibri (MS)"/>
                  <a:cs typeface="Calibri (MS)"/>
                  <a:sym typeface="Calibri (MS)"/>
                </a:rPr>
                <a:t>• Investasi = PDRB × 0,0488 × (1 + Insentif Kebijakan)</a:t>
              </a:r>
            </a:p>
          </p:txBody>
        </p:sp>
      </p:grpSp>
      <p:grpSp>
        <p:nvGrpSpPr>
          <p:cNvPr name="Group 76" id="76"/>
          <p:cNvGrpSpPr/>
          <p:nvPr/>
        </p:nvGrpSpPr>
        <p:grpSpPr>
          <a:xfrm rot="0">
            <a:off x="816607" y="5251447"/>
            <a:ext cx="8242297" cy="2801617"/>
            <a:chOff x="0" y="0"/>
            <a:chExt cx="10989729" cy="3735489"/>
          </a:xfrm>
        </p:grpSpPr>
        <p:sp>
          <p:nvSpPr>
            <p:cNvPr name="Freeform 77" id="77"/>
            <p:cNvSpPr/>
            <p:nvPr/>
          </p:nvSpPr>
          <p:spPr>
            <a:xfrm flipH="false" flipV="false" rot="0">
              <a:off x="0" y="0"/>
              <a:ext cx="10989691" cy="3735451"/>
            </a:xfrm>
            <a:custGeom>
              <a:avLst/>
              <a:gdLst/>
              <a:ahLst/>
              <a:cxnLst/>
              <a:rect r="r" b="b" t="t" l="l"/>
              <a:pathLst>
                <a:path h="3735451" w="10989691">
                  <a:moveTo>
                    <a:pt x="0" y="298831"/>
                  </a:moveTo>
                  <a:cubicBezTo>
                    <a:pt x="0" y="133858"/>
                    <a:pt x="133858" y="0"/>
                    <a:pt x="298831" y="0"/>
                  </a:cubicBezTo>
                  <a:lnTo>
                    <a:pt x="10690860" y="0"/>
                  </a:lnTo>
                  <a:cubicBezTo>
                    <a:pt x="10855960" y="0"/>
                    <a:pt x="10989691" y="133858"/>
                    <a:pt x="10989691" y="298831"/>
                  </a:cubicBezTo>
                  <a:lnTo>
                    <a:pt x="10989691" y="3436620"/>
                  </a:lnTo>
                  <a:cubicBezTo>
                    <a:pt x="10989691" y="3601720"/>
                    <a:pt x="10855833" y="3735451"/>
                    <a:pt x="10690860" y="3735451"/>
                  </a:cubicBezTo>
                  <a:lnTo>
                    <a:pt x="298831" y="3735451"/>
                  </a:lnTo>
                  <a:cubicBezTo>
                    <a:pt x="133858" y="3735451"/>
                    <a:pt x="0" y="3601720"/>
                    <a:pt x="0" y="3436620"/>
                  </a:cubicBezTo>
                  <a:close/>
                </a:path>
              </a:pathLst>
            </a:custGeom>
            <a:solidFill>
              <a:srgbClr val="EAF8FA"/>
            </a:solidFill>
            <a:ln w="12700" cap="sq">
              <a:solidFill>
                <a:srgbClr val="CFE5E9"/>
              </a:solidFill>
              <a:prstDash val="solid"/>
              <a:miter/>
            </a:ln>
          </p:spPr>
          <p:txBody>
            <a:bodyPr/>
            <a:p/>
          </p:txBody>
        </p:sp>
        <p:sp>
          <p:nvSpPr>
            <p:cNvPr name="TextBox 78" id="78"/>
            <p:cNvSpPr txBox="true"/>
            <p:nvPr/>
          </p:nvSpPr>
          <p:spPr>
            <a:xfrm>
              <a:off x="0" y="-38100"/>
              <a:ext cx="10989729" cy="3773589"/>
            </a:xfrm>
            <a:prstGeom prst="rect">
              <a:avLst/>
            </a:prstGeom>
          </p:spPr>
          <p:txBody>
            <a:bodyPr anchor="t" rtlCol="false" tIns="50800" lIns="50800" bIns="50800" rIns="50800"/>
            <a:lstStyle/>
            <a:p>
              <a:pPr algn="l">
                <a:lnSpc>
                  <a:spcPts val="2484"/>
                </a:lnSpc>
              </a:pPr>
              <a:r>
                <a:rPr lang="en-US" sz="2070" b="true">
                  <a:solidFill>
                    <a:srgbClr val="0B5E6E"/>
                  </a:solidFill>
                  <a:latin typeface="Calibri (MS) Bold"/>
                  <a:ea typeface="Calibri (MS) Bold"/>
                  <a:cs typeface="Calibri (MS) Bold"/>
                  <a:sym typeface="Calibri (MS) Bold"/>
                </a:rPr>
                <a:t>Tenaga kerja (B4)</a:t>
              </a:r>
            </a:p>
            <a:p>
              <a:pPr algn="l">
                <a:lnSpc>
                  <a:spcPts val="2206"/>
                </a:lnSpc>
              </a:pPr>
              <a:r>
                <a:rPr lang="en-US" sz="1839">
                  <a:solidFill>
                    <a:srgbClr val="14313B"/>
                  </a:solidFill>
                  <a:latin typeface="Calibri (MS)"/>
                  <a:ea typeface="Calibri (MS)"/>
                  <a:cs typeface="Calibri (MS)"/>
                  <a:sym typeface="Calibri (MS)"/>
                </a:rPr>
                <a:t>• TK Dibutuhkan = PDRB × Intensitas TK</a:t>
              </a:r>
            </a:p>
            <a:p>
              <a:pPr algn="l">
                <a:lnSpc>
                  <a:spcPts val="2206"/>
                </a:lnSpc>
              </a:pPr>
              <a:r>
                <a:rPr lang="en-US" sz="1839">
                  <a:solidFill>
                    <a:srgbClr val="14313B"/>
                  </a:solidFill>
                  <a:latin typeface="Calibri (MS)"/>
                  <a:ea typeface="Calibri (MS)"/>
                  <a:cs typeface="Calibri (MS)"/>
                  <a:sym typeface="Calibri (MS)"/>
                </a:rPr>
                <a:t>• Intensitas TK = 21,5366 × e^(−0,0110(t − 2025))</a:t>
              </a:r>
            </a:p>
            <a:p>
              <a:pPr algn="l">
                <a:lnSpc>
                  <a:spcPts val="2206"/>
                </a:lnSpc>
              </a:pPr>
              <a:r>
                <a:rPr lang="en-US" sz="1839">
                  <a:solidFill>
                    <a:srgbClr val="14313B"/>
                  </a:solidFill>
                  <a:latin typeface="Calibri (MS)"/>
                  <a:ea typeface="Calibri (MS)"/>
                  <a:cs typeface="Calibri (MS)"/>
                  <a:sym typeface="Calibri (MS)"/>
                </a:rPr>
                <a:t>• Penyerapan = MAX(0; Keluar + (TK Dibutuhkan − TK) ÷ 1)</a:t>
              </a:r>
            </a:p>
          </p:txBody>
        </p:sp>
      </p:grpSp>
      <p:grpSp>
        <p:nvGrpSpPr>
          <p:cNvPr name="Group 79" id="79"/>
          <p:cNvGrpSpPr/>
          <p:nvPr/>
        </p:nvGrpSpPr>
        <p:grpSpPr>
          <a:xfrm rot="0">
            <a:off x="9229087" y="5251447"/>
            <a:ext cx="8242297" cy="2801617"/>
            <a:chOff x="0" y="0"/>
            <a:chExt cx="10989729" cy="3735489"/>
          </a:xfrm>
        </p:grpSpPr>
        <p:sp>
          <p:nvSpPr>
            <p:cNvPr name="Freeform 80" id="80"/>
            <p:cNvSpPr/>
            <p:nvPr/>
          </p:nvSpPr>
          <p:spPr>
            <a:xfrm flipH="false" flipV="false" rot="0">
              <a:off x="0" y="0"/>
              <a:ext cx="10989691" cy="3735451"/>
            </a:xfrm>
            <a:custGeom>
              <a:avLst/>
              <a:gdLst/>
              <a:ahLst/>
              <a:cxnLst/>
              <a:rect r="r" b="b" t="t" l="l"/>
              <a:pathLst>
                <a:path h="3735451" w="10989691">
                  <a:moveTo>
                    <a:pt x="0" y="298831"/>
                  </a:moveTo>
                  <a:cubicBezTo>
                    <a:pt x="0" y="133858"/>
                    <a:pt x="133858" y="0"/>
                    <a:pt x="298831" y="0"/>
                  </a:cubicBezTo>
                  <a:lnTo>
                    <a:pt x="10690860" y="0"/>
                  </a:lnTo>
                  <a:cubicBezTo>
                    <a:pt x="10855960" y="0"/>
                    <a:pt x="10989691" y="133858"/>
                    <a:pt x="10989691" y="298831"/>
                  </a:cubicBezTo>
                  <a:lnTo>
                    <a:pt x="10989691" y="3436620"/>
                  </a:lnTo>
                  <a:cubicBezTo>
                    <a:pt x="10989691" y="3601720"/>
                    <a:pt x="10855833" y="3735451"/>
                    <a:pt x="10690860" y="3735451"/>
                  </a:cubicBezTo>
                  <a:lnTo>
                    <a:pt x="298831" y="3735451"/>
                  </a:lnTo>
                  <a:cubicBezTo>
                    <a:pt x="133858" y="3735451"/>
                    <a:pt x="0" y="3601720"/>
                    <a:pt x="0" y="3436620"/>
                  </a:cubicBezTo>
                  <a:close/>
                </a:path>
              </a:pathLst>
            </a:custGeom>
            <a:solidFill>
              <a:srgbClr val="EAF8FA"/>
            </a:solidFill>
            <a:ln w="12700" cap="sq">
              <a:solidFill>
                <a:srgbClr val="CFE5E9"/>
              </a:solidFill>
              <a:prstDash val="solid"/>
              <a:miter/>
            </a:ln>
          </p:spPr>
          <p:txBody>
            <a:bodyPr/>
            <a:p/>
          </p:txBody>
        </p:sp>
        <p:sp>
          <p:nvSpPr>
            <p:cNvPr name="TextBox 81" id="81"/>
            <p:cNvSpPr txBox="true"/>
            <p:nvPr/>
          </p:nvSpPr>
          <p:spPr>
            <a:xfrm>
              <a:off x="0" y="-38100"/>
              <a:ext cx="10989729" cy="3773589"/>
            </a:xfrm>
            <a:prstGeom prst="rect">
              <a:avLst/>
            </a:prstGeom>
          </p:spPr>
          <p:txBody>
            <a:bodyPr anchor="t" rtlCol="false" tIns="50800" lIns="50800" bIns="50800" rIns="50800"/>
            <a:lstStyle/>
            <a:p>
              <a:pPr algn="l">
                <a:lnSpc>
                  <a:spcPts val="2484"/>
                </a:lnSpc>
              </a:pPr>
              <a:r>
                <a:rPr lang="en-US" sz="2070" b="true">
                  <a:solidFill>
                    <a:srgbClr val="0B5E6E"/>
                  </a:solidFill>
                  <a:latin typeface="Calibri (MS) Bold"/>
                  <a:ea typeface="Calibri (MS) Bold"/>
                  <a:cs typeface="Calibri (MS) Bold"/>
                  <a:sym typeface="Calibri (MS) Bold"/>
                </a:rPr>
                <a:t>Lahan (B2)</a:t>
              </a:r>
            </a:p>
            <a:p>
              <a:pPr algn="l">
                <a:lnSpc>
                  <a:spcPts val="2206"/>
                </a:lnSpc>
              </a:pPr>
              <a:r>
                <a:rPr lang="en-US" sz="1839">
                  <a:solidFill>
                    <a:srgbClr val="14313B"/>
                  </a:solidFill>
                  <a:latin typeface="Calibri (MS)"/>
                  <a:ea typeface="Calibri (MS)"/>
                  <a:cs typeface="Calibri (MS)"/>
                  <a:sym typeface="Calibri (MS)"/>
                </a:rPr>
                <a:t>• Konversi non-pariwisata = 0,0436052 × Lahan × RDDL</a:t>
              </a:r>
            </a:p>
            <a:p>
              <a:pPr algn="l">
                <a:lnSpc>
                  <a:spcPts val="2206"/>
                </a:lnSpc>
              </a:pPr>
              <a:r>
                <a:rPr lang="en-US" sz="1839">
                  <a:solidFill>
                    <a:srgbClr val="14313B"/>
                  </a:solidFill>
                  <a:latin typeface="Calibri (MS)"/>
                  <a:ea typeface="Calibri (MS)"/>
                  <a:cs typeface="Calibri (MS)"/>
                  <a:sym typeface="Calibri (MS)"/>
                </a:rPr>
                <a:t>• Konversi pariwisata = (Konstruksi × 0,1 + Pemb. ODTW × 0,5) × (1 − Konservasi Lahan) × RDDL ÷ 0,826425</a:t>
              </a:r>
            </a:p>
            <a:p>
              <a:pPr algn="l">
                <a:lnSpc>
                  <a:spcPts val="2206"/>
                </a:lnSpc>
              </a:pPr>
              <a:r>
                <a:rPr lang="en-US" sz="1839">
                  <a:solidFill>
                    <a:srgbClr val="14313B"/>
                  </a:solidFill>
                  <a:latin typeface="Calibri (MS)"/>
                  <a:ea typeface="Calibri (MS)"/>
                  <a:cs typeface="Calibri (MS)"/>
                  <a:sym typeface="Calibri (MS)"/>
                </a:rPr>
                <a:t>• RDDL = MAX(0; 1 − Lahan ÷ 317.036)</a:t>
              </a:r>
            </a:p>
          </p:txBody>
        </p:sp>
      </p:grpSp>
      <p:grpSp>
        <p:nvGrpSpPr>
          <p:cNvPr name="Group 82" id="82"/>
          <p:cNvGrpSpPr/>
          <p:nvPr/>
        </p:nvGrpSpPr>
        <p:grpSpPr>
          <a:xfrm rot="0">
            <a:off x="816607" y="8360407"/>
            <a:ext cx="16654777" cy="881377"/>
            <a:chOff x="0" y="0"/>
            <a:chExt cx="22206369" cy="1175169"/>
          </a:xfrm>
        </p:grpSpPr>
        <p:sp>
          <p:nvSpPr>
            <p:cNvPr name="Freeform 83" id="83"/>
            <p:cNvSpPr/>
            <p:nvPr/>
          </p:nvSpPr>
          <p:spPr>
            <a:xfrm flipH="false" flipV="false" rot="0">
              <a:off x="0" y="0"/>
              <a:ext cx="22206331" cy="1175131"/>
            </a:xfrm>
            <a:custGeom>
              <a:avLst/>
              <a:gdLst/>
              <a:ahLst/>
              <a:cxnLst/>
              <a:rect r="r" b="b" t="t" l="l"/>
              <a:pathLst>
                <a:path h="1175131" w="22206331">
                  <a:moveTo>
                    <a:pt x="0" y="93980"/>
                  </a:moveTo>
                  <a:cubicBezTo>
                    <a:pt x="0" y="42037"/>
                    <a:pt x="42037" y="0"/>
                    <a:pt x="93980" y="0"/>
                  </a:cubicBezTo>
                  <a:lnTo>
                    <a:pt x="22112351" y="0"/>
                  </a:lnTo>
                  <a:cubicBezTo>
                    <a:pt x="22164294" y="0"/>
                    <a:pt x="22206331" y="42037"/>
                    <a:pt x="22206331" y="93980"/>
                  </a:cubicBezTo>
                  <a:lnTo>
                    <a:pt x="22206331" y="1081151"/>
                  </a:lnTo>
                  <a:cubicBezTo>
                    <a:pt x="22206331" y="1133094"/>
                    <a:pt x="22164294" y="1175131"/>
                    <a:pt x="22112351" y="1175131"/>
                  </a:cubicBezTo>
                  <a:lnTo>
                    <a:pt x="93980" y="1175131"/>
                  </a:lnTo>
                  <a:cubicBezTo>
                    <a:pt x="42037" y="1175131"/>
                    <a:pt x="0" y="1133094"/>
                    <a:pt x="0" y="1081151"/>
                  </a:cubicBezTo>
                  <a:close/>
                </a:path>
              </a:pathLst>
            </a:custGeom>
            <a:solidFill>
              <a:srgbClr val="FFF1BF"/>
            </a:solidFill>
            <a:ln w="12700" cap="sq">
              <a:solidFill>
                <a:srgbClr val="FFD23B"/>
              </a:solidFill>
              <a:prstDash val="solid"/>
              <a:miter/>
            </a:ln>
          </p:spPr>
          <p:txBody>
            <a:bodyPr/>
            <a:p/>
          </p:txBody>
        </p:sp>
        <p:sp>
          <p:nvSpPr>
            <p:cNvPr name="TextBox 84" id="84"/>
            <p:cNvSpPr txBox="true"/>
            <p:nvPr/>
          </p:nvSpPr>
          <p:spPr>
            <a:xfrm>
              <a:off x="0" y="-38100"/>
              <a:ext cx="22206369" cy="121326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Dua variabel kebijakan bekerja di dua jalur: Insentif Kebijakan pada investasi (R2), Konservasi Lahan pada konversi lahan pariwisata (B2). Fungsi MIN/MAX ditambahkan setelah uji kondisi ekstrem.</a:t>
              </a:r>
            </a:p>
          </p:txBody>
        </p:sp>
      </p:grpSp>
      <p:grpSp>
        <p:nvGrpSpPr>
          <p:cNvPr name="Group 85" id="85"/>
          <p:cNvGrpSpPr/>
          <p:nvPr/>
        </p:nvGrpSpPr>
        <p:grpSpPr>
          <a:xfrm rot="0">
            <a:off x="16047720" y="9646920"/>
            <a:ext cx="420624" cy="420624"/>
            <a:chOff x="0" y="0"/>
            <a:chExt cx="560832" cy="560832"/>
          </a:xfrm>
        </p:grpSpPr>
        <p:sp>
          <p:nvSpPr>
            <p:cNvPr name="Freeform 86" id="86"/>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87" id="87"/>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3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Penetapan Parameter</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35 parameter dari lima jenis sumber; hanya yang belum pasti boleh dikalibrasi</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37</a:t>
            </a:r>
          </a:p>
        </p:txBody>
      </p:sp>
      <p:grpSp>
        <p:nvGrpSpPr>
          <p:cNvPr name="Group 67" id="67"/>
          <p:cNvGrpSpPr/>
          <p:nvPr/>
        </p:nvGrpSpPr>
        <p:grpSpPr>
          <a:xfrm rot="0">
            <a:off x="12755880" y="274320"/>
            <a:ext cx="3931920" cy="411480"/>
            <a:chOff x="0" y="0"/>
            <a:chExt cx="5242560" cy="548640"/>
          </a:xfrm>
        </p:grpSpPr>
        <p:sp>
          <p:nvSpPr>
            <p:cNvPr name="Freeform 68" id="68"/>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69" id="69"/>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2C · Parameterisasi</a:t>
              </a:r>
            </a:p>
          </p:txBody>
        </p:sp>
      </p:grpSp>
      <p:grpSp>
        <p:nvGrpSpPr>
          <p:cNvPr name="Group 70" id="70"/>
          <p:cNvGrpSpPr/>
          <p:nvPr/>
        </p:nvGrpSpPr>
        <p:grpSpPr>
          <a:xfrm rot="0">
            <a:off x="822960" y="2286000"/>
            <a:ext cx="3154680" cy="1325880"/>
            <a:chOff x="0" y="0"/>
            <a:chExt cx="4206240" cy="1767840"/>
          </a:xfrm>
        </p:grpSpPr>
        <p:sp>
          <p:nvSpPr>
            <p:cNvPr name="Freeform 71" id="71"/>
            <p:cNvSpPr/>
            <p:nvPr/>
          </p:nvSpPr>
          <p:spPr>
            <a:xfrm flipH="false" flipV="false" rot="0">
              <a:off x="0" y="0"/>
              <a:ext cx="4206240" cy="1767840"/>
            </a:xfrm>
            <a:custGeom>
              <a:avLst/>
              <a:gdLst/>
              <a:ahLst/>
              <a:cxnLst/>
              <a:rect r="r" b="b" t="t" l="l"/>
              <a:pathLst>
                <a:path h="1767840" w="4206240">
                  <a:moveTo>
                    <a:pt x="0" y="141478"/>
                  </a:moveTo>
                  <a:cubicBezTo>
                    <a:pt x="0" y="63373"/>
                    <a:pt x="63373" y="0"/>
                    <a:pt x="141478" y="0"/>
                  </a:cubicBezTo>
                  <a:lnTo>
                    <a:pt x="4064762" y="0"/>
                  </a:lnTo>
                  <a:cubicBezTo>
                    <a:pt x="4142867" y="0"/>
                    <a:pt x="4206240" y="63373"/>
                    <a:pt x="4206240" y="141478"/>
                  </a:cubicBezTo>
                  <a:lnTo>
                    <a:pt x="4206240" y="1626362"/>
                  </a:lnTo>
                  <a:cubicBezTo>
                    <a:pt x="4206240" y="1704467"/>
                    <a:pt x="4142867" y="1767840"/>
                    <a:pt x="4064762" y="1767840"/>
                  </a:cubicBezTo>
                  <a:lnTo>
                    <a:pt x="141478" y="1767840"/>
                  </a:lnTo>
                  <a:cubicBezTo>
                    <a:pt x="63373" y="1767840"/>
                    <a:pt x="0" y="1704467"/>
                    <a:pt x="0" y="1626362"/>
                  </a:cubicBezTo>
                  <a:close/>
                </a:path>
              </a:pathLst>
            </a:custGeom>
            <a:solidFill>
              <a:srgbClr val="0B5E6E"/>
            </a:solidFill>
          </p:spPr>
          <p:txBody>
            <a:bodyPr/>
            <a:p/>
          </p:txBody>
        </p:sp>
        <p:sp>
          <p:nvSpPr>
            <p:cNvPr name="TextBox 72" id="72"/>
            <p:cNvSpPr txBox="true"/>
            <p:nvPr/>
          </p:nvSpPr>
          <p:spPr>
            <a:xfrm>
              <a:off x="0" y="-76200"/>
              <a:ext cx="4206240" cy="1844040"/>
            </a:xfrm>
            <a:prstGeom prst="rect">
              <a:avLst/>
            </a:prstGeom>
          </p:spPr>
          <p:txBody>
            <a:bodyPr anchor="ctr" rtlCol="false" tIns="50800" lIns="50800" bIns="50800" rIns="50800"/>
            <a:lstStyle/>
            <a:p>
              <a:pPr algn="ctr">
                <a:lnSpc>
                  <a:spcPts val="4691"/>
                </a:lnSpc>
              </a:pPr>
              <a:r>
                <a:rPr lang="en-US" sz="3909" b="true">
                  <a:solidFill>
                    <a:srgbClr val="FFFFFF"/>
                  </a:solidFill>
                  <a:latin typeface="Calibri (MS) Bold"/>
                  <a:ea typeface="Calibri (MS) Bold"/>
                  <a:cs typeface="Calibri (MS) Bold"/>
                  <a:sym typeface="Calibri (MS) Bold"/>
                </a:rPr>
                <a:t>11</a:t>
              </a:r>
            </a:p>
            <a:p>
              <a:pPr algn="ctr">
                <a:lnSpc>
                  <a:spcPts val="2063"/>
                </a:lnSpc>
              </a:pPr>
              <a:r>
                <a:rPr lang="en-US" sz="1719" b="true">
                  <a:solidFill>
                    <a:srgbClr val="FFFFFF"/>
                  </a:solidFill>
                  <a:latin typeface="Calibri (MS) Bold"/>
                  <a:ea typeface="Calibri (MS) Bold"/>
                  <a:cs typeface="Calibri (MS) Bold"/>
                  <a:sym typeface="Calibri (MS) Bold"/>
                </a:rPr>
                <a:t>Data statistik resmi</a:t>
              </a:r>
            </a:p>
          </p:txBody>
        </p:sp>
      </p:grpSp>
      <p:grpSp>
        <p:nvGrpSpPr>
          <p:cNvPr name="Group 73" id="73"/>
          <p:cNvGrpSpPr/>
          <p:nvPr/>
        </p:nvGrpSpPr>
        <p:grpSpPr>
          <a:xfrm rot="0">
            <a:off x="816607" y="3696967"/>
            <a:ext cx="3167377" cy="3030217"/>
            <a:chOff x="0" y="0"/>
            <a:chExt cx="4223169" cy="4040289"/>
          </a:xfrm>
        </p:grpSpPr>
        <p:sp>
          <p:nvSpPr>
            <p:cNvPr name="Freeform 74" id="74"/>
            <p:cNvSpPr/>
            <p:nvPr/>
          </p:nvSpPr>
          <p:spPr>
            <a:xfrm flipH="false" flipV="false" rot="0">
              <a:off x="0" y="0"/>
              <a:ext cx="4223131" cy="4040251"/>
            </a:xfrm>
            <a:custGeom>
              <a:avLst/>
              <a:gdLst/>
              <a:ahLst/>
              <a:cxnLst/>
              <a:rect r="r" b="b" t="t" l="l"/>
              <a:pathLst>
                <a:path h="4040251" w="4223131">
                  <a:moveTo>
                    <a:pt x="0" y="323215"/>
                  </a:moveTo>
                  <a:cubicBezTo>
                    <a:pt x="0" y="144653"/>
                    <a:pt x="144653" y="0"/>
                    <a:pt x="323215" y="0"/>
                  </a:cubicBezTo>
                  <a:lnTo>
                    <a:pt x="3899916" y="0"/>
                  </a:lnTo>
                  <a:cubicBezTo>
                    <a:pt x="4078478" y="0"/>
                    <a:pt x="4223131" y="144653"/>
                    <a:pt x="4223131" y="323215"/>
                  </a:cubicBezTo>
                  <a:lnTo>
                    <a:pt x="4223131" y="3717036"/>
                  </a:lnTo>
                  <a:cubicBezTo>
                    <a:pt x="4223131" y="3895598"/>
                    <a:pt x="4078478" y="4040251"/>
                    <a:pt x="3899916" y="4040251"/>
                  </a:cubicBezTo>
                  <a:lnTo>
                    <a:pt x="323215" y="4040251"/>
                  </a:lnTo>
                  <a:cubicBezTo>
                    <a:pt x="144653" y="4040251"/>
                    <a:pt x="0" y="3895598"/>
                    <a:pt x="0" y="3717036"/>
                  </a:cubicBezTo>
                  <a:close/>
                </a:path>
              </a:pathLst>
            </a:custGeom>
            <a:solidFill>
              <a:srgbClr val="EAF8FA"/>
            </a:solidFill>
            <a:ln w="12700" cap="sq">
              <a:solidFill>
                <a:srgbClr val="CFE5E9"/>
              </a:solidFill>
              <a:prstDash val="solid"/>
              <a:miter/>
            </a:ln>
          </p:spPr>
          <p:txBody>
            <a:bodyPr/>
            <a:p/>
          </p:txBody>
        </p:sp>
        <p:sp>
          <p:nvSpPr>
            <p:cNvPr name="TextBox 75" id="75"/>
            <p:cNvSpPr txBox="true"/>
            <p:nvPr/>
          </p:nvSpPr>
          <p:spPr>
            <a:xfrm>
              <a:off x="0" y="-19050"/>
              <a:ext cx="4223169" cy="4059339"/>
            </a:xfrm>
            <a:prstGeom prst="rect">
              <a:avLst/>
            </a:prstGeom>
          </p:spPr>
          <p:txBody>
            <a:bodyPr anchor="t" rtlCol="false" tIns="50800" lIns="50800" bIns="50800" rIns="50800"/>
            <a:lstStyle/>
            <a:p>
              <a:pPr algn="l">
                <a:lnSpc>
                  <a:spcPts val="1860"/>
                </a:lnSpc>
              </a:pPr>
              <a:r>
                <a:rPr lang="en-US" sz="1550">
                  <a:solidFill>
                    <a:srgbClr val="14313B"/>
                  </a:solidFill>
                  <a:latin typeface="Calibri (MS)"/>
                  <a:ea typeface="Calibri (MS)"/>
                  <a:cs typeface="Calibri (MS)"/>
                  <a:sym typeface="Calibri (MS)"/>
                </a:rPr>
                <a:t>• Pengeluaran/kunjungan 0,00272</a:t>
              </a:r>
            </a:p>
            <a:p>
              <a:pPr algn="l">
                <a:lnSpc>
                  <a:spcPts val="1860"/>
                </a:lnSpc>
              </a:pPr>
              <a:r>
                <a:rPr lang="en-US" sz="1550">
                  <a:solidFill>
                    <a:srgbClr val="14313B"/>
                  </a:solidFill>
                  <a:latin typeface="Calibri (MS)"/>
                  <a:ea typeface="Calibri (MS)"/>
                  <a:cs typeface="Calibri (MS)"/>
                  <a:sym typeface="Calibri (MS)"/>
                </a:rPr>
                <a:t>• Rasio nilai tambah 0,1531</a:t>
              </a:r>
            </a:p>
            <a:p>
              <a:pPr algn="l">
                <a:lnSpc>
                  <a:spcPts val="1860"/>
                </a:lnSpc>
              </a:pPr>
              <a:r>
                <a:rPr lang="en-US" sz="1550">
                  <a:solidFill>
                    <a:srgbClr val="14313B"/>
                  </a:solidFill>
                  <a:latin typeface="Calibri (MS)"/>
                  <a:ea typeface="Calibri (MS)"/>
                  <a:cs typeface="Calibri (MS)"/>
                  <a:sym typeface="Calibri (MS)"/>
                </a:rPr>
                <a:t>• Rasio investasi/PDRB 0,0488</a:t>
              </a:r>
            </a:p>
            <a:p>
              <a:pPr algn="l">
                <a:lnSpc>
                  <a:spcPts val="1860"/>
                </a:lnSpc>
              </a:pPr>
              <a:r>
                <a:rPr lang="en-US" sz="1550">
                  <a:solidFill>
                    <a:srgbClr val="14313B"/>
                  </a:solidFill>
                  <a:latin typeface="Calibri (MS)"/>
                  <a:ea typeface="Calibri (MS)"/>
                  <a:cs typeface="Calibri (MS)"/>
                  <a:sym typeface="Calibri (MS)"/>
                </a:rPr>
                <a:t>• Malam tersedia/kamar 329,03</a:t>
              </a:r>
            </a:p>
          </p:txBody>
        </p:sp>
      </p:grpSp>
      <p:grpSp>
        <p:nvGrpSpPr>
          <p:cNvPr name="Group 76" id="76"/>
          <p:cNvGrpSpPr/>
          <p:nvPr/>
        </p:nvGrpSpPr>
        <p:grpSpPr>
          <a:xfrm rot="0">
            <a:off x="816607" y="6805927"/>
            <a:ext cx="3167377" cy="1109977"/>
            <a:chOff x="0" y="0"/>
            <a:chExt cx="4223169" cy="1479969"/>
          </a:xfrm>
        </p:grpSpPr>
        <p:sp>
          <p:nvSpPr>
            <p:cNvPr name="Freeform 77" id="77"/>
            <p:cNvSpPr/>
            <p:nvPr/>
          </p:nvSpPr>
          <p:spPr>
            <a:xfrm flipH="false" flipV="false" rot="0">
              <a:off x="0" y="0"/>
              <a:ext cx="4223131" cy="1479931"/>
            </a:xfrm>
            <a:custGeom>
              <a:avLst/>
              <a:gdLst/>
              <a:ahLst/>
              <a:cxnLst/>
              <a:rect r="r" b="b" t="t" l="l"/>
              <a:pathLst>
                <a:path h="1479931" w="4223131">
                  <a:moveTo>
                    <a:pt x="0" y="118364"/>
                  </a:moveTo>
                  <a:cubicBezTo>
                    <a:pt x="0" y="52959"/>
                    <a:pt x="52959" y="0"/>
                    <a:pt x="118364" y="0"/>
                  </a:cubicBezTo>
                  <a:lnTo>
                    <a:pt x="4104767" y="0"/>
                  </a:lnTo>
                  <a:cubicBezTo>
                    <a:pt x="4170172" y="0"/>
                    <a:pt x="4223131" y="52959"/>
                    <a:pt x="4223131" y="118364"/>
                  </a:cubicBezTo>
                  <a:lnTo>
                    <a:pt x="4223131" y="1361567"/>
                  </a:lnTo>
                  <a:cubicBezTo>
                    <a:pt x="4223131" y="1426972"/>
                    <a:pt x="4170172" y="1479931"/>
                    <a:pt x="4104767" y="1479931"/>
                  </a:cubicBezTo>
                  <a:lnTo>
                    <a:pt x="118364" y="1479931"/>
                  </a:lnTo>
                  <a:cubicBezTo>
                    <a:pt x="52959" y="1479931"/>
                    <a:pt x="0" y="1426972"/>
                    <a:pt x="0" y="1361567"/>
                  </a:cubicBezTo>
                  <a:close/>
                </a:path>
              </a:pathLst>
            </a:custGeom>
            <a:solidFill>
              <a:srgbClr val="FFFFFF"/>
            </a:solidFill>
            <a:ln w="12700" cap="sq">
              <a:solidFill>
                <a:srgbClr val="CFE5E9"/>
              </a:solidFill>
              <a:prstDash val="solid"/>
              <a:miter/>
            </a:ln>
          </p:spPr>
          <p:txBody>
            <a:bodyPr/>
            <a:p/>
          </p:txBody>
        </p:sp>
        <p:sp>
          <p:nvSpPr>
            <p:cNvPr name="TextBox 78" id="78"/>
            <p:cNvSpPr txBox="true"/>
            <p:nvPr/>
          </p:nvSpPr>
          <p:spPr>
            <a:xfrm>
              <a:off x="0" y="-38100"/>
              <a:ext cx="4223169" cy="1518069"/>
            </a:xfrm>
            <a:prstGeom prst="rect">
              <a:avLst/>
            </a:prstGeom>
          </p:spPr>
          <p:txBody>
            <a:bodyPr anchor="t" rtlCol="false" tIns="50800" lIns="50800" bIns="50800" rIns="50800"/>
            <a:lstStyle/>
            <a:p>
              <a:pPr algn="l">
                <a:lnSpc>
                  <a:spcPts val="1727"/>
                </a:lnSpc>
              </a:pPr>
              <a:r>
                <a:rPr lang="en-US" sz="1439" b="true">
                  <a:solidFill>
                    <a:srgbClr val="0B5E6E"/>
                  </a:solidFill>
                  <a:latin typeface="Calibri (MS) Bold"/>
                  <a:ea typeface="Calibri (MS) Bold"/>
                  <a:cs typeface="Calibri (MS) Bold"/>
                  <a:sym typeface="Calibri (MS) Bold"/>
                </a:rPr>
                <a:t>Kalibrasi?</a:t>
              </a:r>
            </a:p>
            <a:p>
              <a:pPr algn="l">
                <a:lnSpc>
                  <a:spcPts val="1788"/>
                </a:lnSpc>
              </a:pPr>
              <a:r>
                <a:rPr lang="en-US" sz="1490">
                  <a:solidFill>
                    <a:srgbClr val="14313B"/>
                  </a:solidFill>
                  <a:latin typeface="Calibri (MS)"/>
                  <a:ea typeface="Calibri (MS)"/>
                  <a:cs typeface="Calibri (MS)"/>
                  <a:sym typeface="Calibri (MS)"/>
                </a:rPr>
                <a:t>Tidak dikalibrasi</a:t>
              </a:r>
            </a:p>
          </p:txBody>
        </p:sp>
      </p:grpSp>
      <p:grpSp>
        <p:nvGrpSpPr>
          <p:cNvPr name="Group 79" id="79"/>
          <p:cNvGrpSpPr/>
          <p:nvPr/>
        </p:nvGrpSpPr>
        <p:grpSpPr>
          <a:xfrm rot="0">
            <a:off x="4187952" y="2286000"/>
            <a:ext cx="3154680" cy="1325880"/>
            <a:chOff x="0" y="0"/>
            <a:chExt cx="4206240" cy="1767840"/>
          </a:xfrm>
        </p:grpSpPr>
        <p:sp>
          <p:nvSpPr>
            <p:cNvPr name="Freeform 80" id="80"/>
            <p:cNvSpPr/>
            <p:nvPr/>
          </p:nvSpPr>
          <p:spPr>
            <a:xfrm flipH="false" flipV="false" rot="0">
              <a:off x="0" y="0"/>
              <a:ext cx="4206240" cy="1767840"/>
            </a:xfrm>
            <a:custGeom>
              <a:avLst/>
              <a:gdLst/>
              <a:ahLst/>
              <a:cxnLst/>
              <a:rect r="r" b="b" t="t" l="l"/>
              <a:pathLst>
                <a:path h="1767840" w="4206240">
                  <a:moveTo>
                    <a:pt x="0" y="141478"/>
                  </a:moveTo>
                  <a:cubicBezTo>
                    <a:pt x="0" y="63373"/>
                    <a:pt x="63373" y="0"/>
                    <a:pt x="141478" y="0"/>
                  </a:cubicBezTo>
                  <a:lnTo>
                    <a:pt x="4064762" y="0"/>
                  </a:lnTo>
                  <a:cubicBezTo>
                    <a:pt x="4142867" y="0"/>
                    <a:pt x="4206240" y="63373"/>
                    <a:pt x="4206240" y="141478"/>
                  </a:cubicBezTo>
                  <a:lnTo>
                    <a:pt x="4206240" y="1626362"/>
                  </a:lnTo>
                  <a:cubicBezTo>
                    <a:pt x="4206240" y="1704467"/>
                    <a:pt x="4142867" y="1767840"/>
                    <a:pt x="4064762" y="1767840"/>
                  </a:cubicBezTo>
                  <a:lnTo>
                    <a:pt x="141478" y="1767840"/>
                  </a:lnTo>
                  <a:cubicBezTo>
                    <a:pt x="63373" y="1767840"/>
                    <a:pt x="0" y="1704467"/>
                    <a:pt x="0" y="1626362"/>
                  </a:cubicBezTo>
                  <a:close/>
                </a:path>
              </a:pathLst>
            </a:custGeom>
            <a:solidFill>
              <a:srgbClr val="39C0D3"/>
            </a:solidFill>
          </p:spPr>
          <p:txBody>
            <a:bodyPr/>
            <a:p/>
          </p:txBody>
        </p:sp>
        <p:sp>
          <p:nvSpPr>
            <p:cNvPr name="TextBox 81" id="81"/>
            <p:cNvSpPr txBox="true"/>
            <p:nvPr/>
          </p:nvSpPr>
          <p:spPr>
            <a:xfrm>
              <a:off x="0" y="-76200"/>
              <a:ext cx="4206240" cy="1844040"/>
            </a:xfrm>
            <a:prstGeom prst="rect">
              <a:avLst/>
            </a:prstGeom>
          </p:spPr>
          <p:txBody>
            <a:bodyPr anchor="ctr" rtlCol="false" tIns="50800" lIns="50800" bIns="50800" rIns="50800"/>
            <a:lstStyle/>
            <a:p>
              <a:pPr algn="ctr">
                <a:lnSpc>
                  <a:spcPts val="4691"/>
                </a:lnSpc>
              </a:pPr>
              <a:r>
                <a:rPr lang="en-US" sz="3909" b="true">
                  <a:solidFill>
                    <a:srgbClr val="FFFFFF"/>
                  </a:solidFill>
                  <a:latin typeface="Calibri (MS) Bold"/>
                  <a:ea typeface="Calibri (MS) Bold"/>
                  <a:cs typeface="Calibri (MS) Bold"/>
                  <a:sym typeface="Calibri (MS) Bold"/>
                </a:rPr>
                <a:t>8</a:t>
              </a:r>
            </a:p>
            <a:p>
              <a:pPr algn="ctr">
                <a:lnSpc>
                  <a:spcPts val="2063"/>
                </a:lnSpc>
              </a:pPr>
              <a:r>
                <a:rPr lang="en-US" sz="1719" b="true">
                  <a:solidFill>
                    <a:srgbClr val="FFFFFF"/>
                  </a:solidFill>
                  <a:latin typeface="Calibri (MS) Bold"/>
                  <a:ea typeface="Calibri (MS) Bold"/>
                  <a:cs typeface="Calibri (MS) Bold"/>
                  <a:sym typeface="Calibri (MS) Bold"/>
                </a:rPr>
                <a:t>Persamaan stok-aliran</a:t>
              </a:r>
            </a:p>
          </p:txBody>
        </p:sp>
      </p:grpSp>
      <p:grpSp>
        <p:nvGrpSpPr>
          <p:cNvPr name="Group 82" id="82"/>
          <p:cNvGrpSpPr/>
          <p:nvPr/>
        </p:nvGrpSpPr>
        <p:grpSpPr>
          <a:xfrm rot="0">
            <a:off x="4181599" y="3696967"/>
            <a:ext cx="3167377" cy="3030217"/>
            <a:chOff x="0" y="0"/>
            <a:chExt cx="4223169" cy="4040289"/>
          </a:xfrm>
        </p:grpSpPr>
        <p:sp>
          <p:nvSpPr>
            <p:cNvPr name="Freeform 83" id="83"/>
            <p:cNvSpPr/>
            <p:nvPr/>
          </p:nvSpPr>
          <p:spPr>
            <a:xfrm flipH="false" flipV="false" rot="0">
              <a:off x="0" y="0"/>
              <a:ext cx="4223131" cy="4040251"/>
            </a:xfrm>
            <a:custGeom>
              <a:avLst/>
              <a:gdLst/>
              <a:ahLst/>
              <a:cxnLst/>
              <a:rect r="r" b="b" t="t" l="l"/>
              <a:pathLst>
                <a:path h="4040251" w="4223131">
                  <a:moveTo>
                    <a:pt x="0" y="323215"/>
                  </a:moveTo>
                  <a:cubicBezTo>
                    <a:pt x="0" y="144653"/>
                    <a:pt x="144653" y="0"/>
                    <a:pt x="323215" y="0"/>
                  </a:cubicBezTo>
                  <a:lnTo>
                    <a:pt x="3899916" y="0"/>
                  </a:lnTo>
                  <a:cubicBezTo>
                    <a:pt x="4078478" y="0"/>
                    <a:pt x="4223131" y="144653"/>
                    <a:pt x="4223131" y="323215"/>
                  </a:cubicBezTo>
                  <a:lnTo>
                    <a:pt x="4223131" y="3717036"/>
                  </a:lnTo>
                  <a:cubicBezTo>
                    <a:pt x="4223131" y="3895598"/>
                    <a:pt x="4078478" y="4040251"/>
                    <a:pt x="3899916" y="4040251"/>
                  </a:cubicBezTo>
                  <a:lnTo>
                    <a:pt x="323215" y="4040251"/>
                  </a:lnTo>
                  <a:cubicBezTo>
                    <a:pt x="144653" y="4040251"/>
                    <a:pt x="0" y="3895598"/>
                    <a:pt x="0" y="3717036"/>
                  </a:cubicBezTo>
                  <a:close/>
                </a:path>
              </a:pathLst>
            </a:custGeom>
            <a:solidFill>
              <a:srgbClr val="EAF8FA"/>
            </a:solidFill>
            <a:ln w="12700" cap="sq">
              <a:solidFill>
                <a:srgbClr val="CFE5E9"/>
              </a:solidFill>
              <a:prstDash val="solid"/>
              <a:miter/>
            </a:ln>
          </p:spPr>
          <p:txBody>
            <a:bodyPr/>
            <a:p/>
          </p:txBody>
        </p:sp>
        <p:sp>
          <p:nvSpPr>
            <p:cNvPr name="TextBox 84" id="84"/>
            <p:cNvSpPr txBox="true"/>
            <p:nvPr/>
          </p:nvSpPr>
          <p:spPr>
            <a:xfrm>
              <a:off x="0" y="-19050"/>
              <a:ext cx="4223169" cy="4059339"/>
            </a:xfrm>
            <a:prstGeom prst="rect">
              <a:avLst/>
            </a:prstGeom>
          </p:spPr>
          <p:txBody>
            <a:bodyPr anchor="t" rtlCol="false" tIns="50800" lIns="50800" bIns="50800" rIns="50800"/>
            <a:lstStyle/>
            <a:p>
              <a:pPr algn="l">
                <a:lnSpc>
                  <a:spcPts val="1860"/>
                </a:lnSpc>
              </a:pPr>
              <a:r>
                <a:rPr lang="en-US" sz="1550">
                  <a:solidFill>
                    <a:srgbClr val="14313B"/>
                  </a:solidFill>
                  <a:latin typeface="Calibri (MS)"/>
                  <a:ea typeface="Calibri (MS)"/>
                  <a:cs typeface="Calibri (MS)"/>
                  <a:sym typeface="Calibri (MS)"/>
                </a:rPr>
                <a:t>• LPE 0,27726 · LPD 0,207945</a:t>
              </a:r>
            </a:p>
            <a:p>
              <a:pPr algn="l">
                <a:lnSpc>
                  <a:spcPts val="1860"/>
                </a:lnSpc>
              </a:pPr>
              <a:r>
                <a:rPr lang="en-US" sz="1550">
                  <a:solidFill>
                    <a:srgbClr val="14313B"/>
                  </a:solidFill>
                  <a:latin typeface="Calibri (MS)"/>
                  <a:ea typeface="Calibri (MS)"/>
                  <a:cs typeface="Calibri (MS)"/>
                  <a:sym typeface="Calibri (MS)"/>
                </a:rPr>
                <a:t>• Batas TPK pemicu konstruksi 0,275</a:t>
              </a:r>
            </a:p>
            <a:p>
              <a:pPr algn="l">
                <a:lnSpc>
                  <a:spcPts val="1860"/>
                </a:lnSpc>
              </a:pPr>
              <a:r>
                <a:rPr lang="en-US" sz="1550">
                  <a:solidFill>
                    <a:srgbClr val="14313B"/>
                  </a:solidFill>
                  <a:latin typeface="Calibri (MS)"/>
                  <a:ea typeface="Calibri (MS)"/>
                  <a:cs typeface="Calibri (MS)"/>
                  <a:sym typeface="Calibri (MS)"/>
                </a:rPr>
                <a:t>• Sens. konstruksi 2,31385</a:t>
              </a:r>
            </a:p>
            <a:p>
              <a:pPr algn="l">
                <a:lnSpc>
                  <a:spcPts val="1860"/>
                </a:lnSpc>
              </a:pPr>
              <a:r>
                <a:rPr lang="en-US" sz="1550">
                  <a:solidFill>
                    <a:srgbClr val="14313B"/>
                  </a:solidFill>
                  <a:latin typeface="Calibri (MS)"/>
                  <a:ea typeface="Calibri (MS)"/>
                  <a:cs typeface="Calibri (MS)"/>
                  <a:sym typeface="Calibri (MS)"/>
                </a:rPr>
                <a:t>• Laju konversi dasar 0,0436</a:t>
              </a:r>
            </a:p>
          </p:txBody>
        </p:sp>
      </p:grpSp>
      <p:grpSp>
        <p:nvGrpSpPr>
          <p:cNvPr name="Group 85" id="85"/>
          <p:cNvGrpSpPr/>
          <p:nvPr/>
        </p:nvGrpSpPr>
        <p:grpSpPr>
          <a:xfrm rot="0">
            <a:off x="4181599" y="6805927"/>
            <a:ext cx="3167377" cy="1109977"/>
            <a:chOff x="0" y="0"/>
            <a:chExt cx="4223169" cy="1479969"/>
          </a:xfrm>
        </p:grpSpPr>
        <p:sp>
          <p:nvSpPr>
            <p:cNvPr name="Freeform 86" id="86"/>
            <p:cNvSpPr/>
            <p:nvPr/>
          </p:nvSpPr>
          <p:spPr>
            <a:xfrm flipH="false" flipV="false" rot="0">
              <a:off x="0" y="0"/>
              <a:ext cx="4223131" cy="1479931"/>
            </a:xfrm>
            <a:custGeom>
              <a:avLst/>
              <a:gdLst/>
              <a:ahLst/>
              <a:cxnLst/>
              <a:rect r="r" b="b" t="t" l="l"/>
              <a:pathLst>
                <a:path h="1479931" w="4223131">
                  <a:moveTo>
                    <a:pt x="0" y="118364"/>
                  </a:moveTo>
                  <a:cubicBezTo>
                    <a:pt x="0" y="52959"/>
                    <a:pt x="52959" y="0"/>
                    <a:pt x="118364" y="0"/>
                  </a:cubicBezTo>
                  <a:lnTo>
                    <a:pt x="4104767" y="0"/>
                  </a:lnTo>
                  <a:cubicBezTo>
                    <a:pt x="4170172" y="0"/>
                    <a:pt x="4223131" y="52959"/>
                    <a:pt x="4223131" y="118364"/>
                  </a:cubicBezTo>
                  <a:lnTo>
                    <a:pt x="4223131" y="1361567"/>
                  </a:lnTo>
                  <a:cubicBezTo>
                    <a:pt x="4223131" y="1426972"/>
                    <a:pt x="4170172" y="1479931"/>
                    <a:pt x="4104767" y="1479931"/>
                  </a:cubicBezTo>
                  <a:lnTo>
                    <a:pt x="118364" y="1479931"/>
                  </a:lnTo>
                  <a:cubicBezTo>
                    <a:pt x="52959" y="1479931"/>
                    <a:pt x="0" y="1426972"/>
                    <a:pt x="0" y="1361567"/>
                  </a:cubicBezTo>
                  <a:close/>
                </a:path>
              </a:pathLst>
            </a:custGeom>
            <a:solidFill>
              <a:srgbClr val="FFFFFF"/>
            </a:solidFill>
            <a:ln w="12700" cap="sq">
              <a:solidFill>
                <a:srgbClr val="CFE5E9"/>
              </a:solidFill>
              <a:prstDash val="solid"/>
              <a:miter/>
            </a:ln>
          </p:spPr>
          <p:txBody>
            <a:bodyPr/>
            <a:p/>
          </p:txBody>
        </p:sp>
        <p:sp>
          <p:nvSpPr>
            <p:cNvPr name="TextBox 87" id="87"/>
            <p:cNvSpPr txBox="true"/>
            <p:nvPr/>
          </p:nvSpPr>
          <p:spPr>
            <a:xfrm>
              <a:off x="0" y="-38100"/>
              <a:ext cx="4223169" cy="1518069"/>
            </a:xfrm>
            <a:prstGeom prst="rect">
              <a:avLst/>
            </a:prstGeom>
          </p:spPr>
          <p:txBody>
            <a:bodyPr anchor="t" rtlCol="false" tIns="50800" lIns="50800" bIns="50800" rIns="50800"/>
            <a:lstStyle/>
            <a:p>
              <a:pPr algn="l">
                <a:lnSpc>
                  <a:spcPts val="1727"/>
                </a:lnSpc>
              </a:pPr>
              <a:r>
                <a:rPr lang="en-US" sz="1439" b="true">
                  <a:solidFill>
                    <a:srgbClr val="0B5E6E"/>
                  </a:solidFill>
                  <a:latin typeface="Calibri (MS) Bold"/>
                  <a:ea typeface="Calibri (MS) Bold"/>
                  <a:cs typeface="Calibri (MS) Bold"/>
                  <a:sym typeface="Calibri (MS) Bold"/>
                </a:rPr>
                <a:t>Kalibrasi?</a:t>
              </a:r>
            </a:p>
            <a:p>
              <a:pPr algn="l">
                <a:lnSpc>
                  <a:spcPts val="1788"/>
                </a:lnSpc>
              </a:pPr>
              <a:r>
                <a:rPr lang="en-US" sz="1490">
                  <a:solidFill>
                    <a:srgbClr val="14313B"/>
                  </a:solidFill>
                  <a:latin typeface="Calibri (MS)"/>
                  <a:ea typeface="Calibri (MS)"/>
                  <a:cs typeface="Calibri (MS)"/>
                  <a:sym typeface="Calibri (MS)"/>
                </a:rPr>
                <a:t>Tidak (kecuali yang belum pasti: batas TPK, laju konversi)</a:t>
              </a:r>
            </a:p>
          </p:txBody>
        </p:sp>
      </p:grpSp>
      <p:grpSp>
        <p:nvGrpSpPr>
          <p:cNvPr name="Group 88" id="88"/>
          <p:cNvGrpSpPr/>
          <p:nvPr/>
        </p:nvGrpSpPr>
        <p:grpSpPr>
          <a:xfrm rot="0">
            <a:off x="7552944" y="2286000"/>
            <a:ext cx="3154680" cy="1325880"/>
            <a:chOff x="0" y="0"/>
            <a:chExt cx="4206240" cy="1767840"/>
          </a:xfrm>
        </p:grpSpPr>
        <p:sp>
          <p:nvSpPr>
            <p:cNvPr name="Freeform 89" id="89"/>
            <p:cNvSpPr/>
            <p:nvPr/>
          </p:nvSpPr>
          <p:spPr>
            <a:xfrm flipH="false" flipV="false" rot="0">
              <a:off x="0" y="0"/>
              <a:ext cx="4206240" cy="1767840"/>
            </a:xfrm>
            <a:custGeom>
              <a:avLst/>
              <a:gdLst/>
              <a:ahLst/>
              <a:cxnLst/>
              <a:rect r="r" b="b" t="t" l="l"/>
              <a:pathLst>
                <a:path h="1767840" w="4206240">
                  <a:moveTo>
                    <a:pt x="0" y="141478"/>
                  </a:moveTo>
                  <a:cubicBezTo>
                    <a:pt x="0" y="63373"/>
                    <a:pt x="63373" y="0"/>
                    <a:pt x="141478" y="0"/>
                  </a:cubicBezTo>
                  <a:lnTo>
                    <a:pt x="4064762" y="0"/>
                  </a:lnTo>
                  <a:cubicBezTo>
                    <a:pt x="4142867" y="0"/>
                    <a:pt x="4206240" y="63373"/>
                    <a:pt x="4206240" y="141478"/>
                  </a:cubicBezTo>
                  <a:lnTo>
                    <a:pt x="4206240" y="1626362"/>
                  </a:lnTo>
                  <a:cubicBezTo>
                    <a:pt x="4206240" y="1704467"/>
                    <a:pt x="4142867" y="1767840"/>
                    <a:pt x="4064762" y="1767840"/>
                  </a:cubicBezTo>
                  <a:lnTo>
                    <a:pt x="141478" y="1767840"/>
                  </a:lnTo>
                  <a:cubicBezTo>
                    <a:pt x="63373" y="1767840"/>
                    <a:pt x="0" y="1704467"/>
                    <a:pt x="0" y="1626362"/>
                  </a:cubicBezTo>
                  <a:close/>
                </a:path>
              </a:pathLst>
            </a:custGeom>
            <a:solidFill>
              <a:srgbClr val="3AC1D1"/>
            </a:solidFill>
          </p:spPr>
          <p:txBody>
            <a:bodyPr/>
            <a:p/>
          </p:txBody>
        </p:sp>
        <p:sp>
          <p:nvSpPr>
            <p:cNvPr name="TextBox 90" id="90"/>
            <p:cNvSpPr txBox="true"/>
            <p:nvPr/>
          </p:nvSpPr>
          <p:spPr>
            <a:xfrm>
              <a:off x="0" y="-76200"/>
              <a:ext cx="4206240" cy="1844040"/>
            </a:xfrm>
            <a:prstGeom prst="rect">
              <a:avLst/>
            </a:prstGeom>
          </p:spPr>
          <p:txBody>
            <a:bodyPr anchor="ctr" rtlCol="false" tIns="50800" lIns="50800" bIns="50800" rIns="50800"/>
            <a:lstStyle/>
            <a:p>
              <a:pPr algn="ctr">
                <a:lnSpc>
                  <a:spcPts val="4691"/>
                </a:lnSpc>
              </a:pPr>
              <a:r>
                <a:rPr lang="en-US" sz="3909" b="true">
                  <a:solidFill>
                    <a:srgbClr val="FFFFFF"/>
                  </a:solidFill>
                  <a:latin typeface="Calibri (MS) Bold"/>
                  <a:ea typeface="Calibri (MS) Bold"/>
                  <a:cs typeface="Calibri (MS) Bold"/>
                  <a:sym typeface="Calibri (MS) Bold"/>
                </a:rPr>
                <a:t>2</a:t>
              </a:r>
            </a:p>
            <a:p>
              <a:pPr algn="ctr">
                <a:lnSpc>
                  <a:spcPts val="2063"/>
                </a:lnSpc>
              </a:pPr>
              <a:r>
                <a:rPr lang="en-US" sz="1719" b="true">
                  <a:solidFill>
                    <a:srgbClr val="FFFFFF"/>
                  </a:solidFill>
                  <a:latin typeface="Calibri (MS) Bold"/>
                  <a:ea typeface="Calibri (MS) Bold"/>
                  <a:cs typeface="Calibri (MS) Bold"/>
                  <a:sym typeface="Calibri (MS) Bold"/>
                </a:rPr>
                <a:t>Ketentuan regulasi</a:t>
              </a:r>
            </a:p>
          </p:txBody>
        </p:sp>
      </p:grpSp>
      <p:grpSp>
        <p:nvGrpSpPr>
          <p:cNvPr name="Group 91" id="91"/>
          <p:cNvGrpSpPr/>
          <p:nvPr/>
        </p:nvGrpSpPr>
        <p:grpSpPr>
          <a:xfrm rot="0">
            <a:off x="7546591" y="3696967"/>
            <a:ext cx="3167377" cy="3030217"/>
            <a:chOff x="0" y="0"/>
            <a:chExt cx="4223169" cy="4040289"/>
          </a:xfrm>
        </p:grpSpPr>
        <p:sp>
          <p:nvSpPr>
            <p:cNvPr name="Freeform 92" id="92"/>
            <p:cNvSpPr/>
            <p:nvPr/>
          </p:nvSpPr>
          <p:spPr>
            <a:xfrm flipH="false" flipV="false" rot="0">
              <a:off x="0" y="0"/>
              <a:ext cx="4223131" cy="4040251"/>
            </a:xfrm>
            <a:custGeom>
              <a:avLst/>
              <a:gdLst/>
              <a:ahLst/>
              <a:cxnLst/>
              <a:rect r="r" b="b" t="t" l="l"/>
              <a:pathLst>
                <a:path h="4040251" w="4223131">
                  <a:moveTo>
                    <a:pt x="0" y="323215"/>
                  </a:moveTo>
                  <a:cubicBezTo>
                    <a:pt x="0" y="144653"/>
                    <a:pt x="144653" y="0"/>
                    <a:pt x="323215" y="0"/>
                  </a:cubicBezTo>
                  <a:lnTo>
                    <a:pt x="3899916" y="0"/>
                  </a:lnTo>
                  <a:cubicBezTo>
                    <a:pt x="4078478" y="0"/>
                    <a:pt x="4223131" y="144653"/>
                    <a:pt x="4223131" y="323215"/>
                  </a:cubicBezTo>
                  <a:lnTo>
                    <a:pt x="4223131" y="3717036"/>
                  </a:lnTo>
                  <a:cubicBezTo>
                    <a:pt x="4223131" y="3895598"/>
                    <a:pt x="4078478" y="4040251"/>
                    <a:pt x="3899916" y="4040251"/>
                  </a:cubicBezTo>
                  <a:lnTo>
                    <a:pt x="323215" y="4040251"/>
                  </a:lnTo>
                  <a:cubicBezTo>
                    <a:pt x="144653" y="4040251"/>
                    <a:pt x="0" y="3895598"/>
                    <a:pt x="0" y="3717036"/>
                  </a:cubicBezTo>
                  <a:close/>
                </a:path>
              </a:pathLst>
            </a:custGeom>
            <a:solidFill>
              <a:srgbClr val="EAF8FA"/>
            </a:solidFill>
            <a:ln w="12700" cap="sq">
              <a:solidFill>
                <a:srgbClr val="CFE5E9"/>
              </a:solidFill>
              <a:prstDash val="solid"/>
              <a:miter/>
            </a:ln>
          </p:spPr>
          <p:txBody>
            <a:bodyPr/>
            <a:p/>
          </p:txBody>
        </p:sp>
        <p:sp>
          <p:nvSpPr>
            <p:cNvPr name="TextBox 93" id="93"/>
            <p:cNvSpPr txBox="true"/>
            <p:nvPr/>
          </p:nvSpPr>
          <p:spPr>
            <a:xfrm>
              <a:off x="0" y="-19050"/>
              <a:ext cx="4223169" cy="4059339"/>
            </a:xfrm>
            <a:prstGeom prst="rect">
              <a:avLst/>
            </a:prstGeom>
          </p:spPr>
          <p:txBody>
            <a:bodyPr anchor="t" rtlCol="false" tIns="50800" lIns="50800" bIns="50800" rIns="50800"/>
            <a:lstStyle/>
            <a:p>
              <a:pPr algn="l">
                <a:lnSpc>
                  <a:spcPts val="1860"/>
                </a:lnSpc>
              </a:pPr>
              <a:r>
                <a:rPr lang="en-US" sz="1550">
                  <a:solidFill>
                    <a:srgbClr val="14313B"/>
                  </a:solidFill>
                  <a:latin typeface="Calibri (MS)"/>
                  <a:ea typeface="Calibri (MS)"/>
                  <a:cs typeface="Calibri (MS)"/>
                  <a:sym typeface="Calibri (MS)"/>
                </a:rPr>
                <a:t>• Laju demolisi 0,05 (UU PPh)</a:t>
              </a:r>
            </a:p>
            <a:p>
              <a:pPr algn="l">
                <a:lnSpc>
                  <a:spcPts val="1860"/>
                </a:lnSpc>
              </a:pPr>
              <a:r>
                <a:rPr lang="en-US" sz="1550">
                  <a:solidFill>
                    <a:srgbClr val="14313B"/>
                  </a:solidFill>
                  <a:latin typeface="Calibri (MS)"/>
                  <a:ea typeface="Calibri (MS)"/>
                  <a:cs typeface="Calibri (MS)"/>
                  <a:sym typeface="Calibri (MS)"/>
                </a:rPr>
                <a:t>• Laju keluar TK 0,03 (PP 45/2015)</a:t>
              </a:r>
            </a:p>
          </p:txBody>
        </p:sp>
      </p:grpSp>
      <p:grpSp>
        <p:nvGrpSpPr>
          <p:cNvPr name="Group 94" id="94"/>
          <p:cNvGrpSpPr/>
          <p:nvPr/>
        </p:nvGrpSpPr>
        <p:grpSpPr>
          <a:xfrm rot="0">
            <a:off x="7546591" y="6805927"/>
            <a:ext cx="3167377" cy="1109977"/>
            <a:chOff x="0" y="0"/>
            <a:chExt cx="4223169" cy="1479969"/>
          </a:xfrm>
        </p:grpSpPr>
        <p:sp>
          <p:nvSpPr>
            <p:cNvPr name="Freeform 95" id="95"/>
            <p:cNvSpPr/>
            <p:nvPr/>
          </p:nvSpPr>
          <p:spPr>
            <a:xfrm flipH="false" flipV="false" rot="0">
              <a:off x="0" y="0"/>
              <a:ext cx="4223131" cy="1479931"/>
            </a:xfrm>
            <a:custGeom>
              <a:avLst/>
              <a:gdLst/>
              <a:ahLst/>
              <a:cxnLst/>
              <a:rect r="r" b="b" t="t" l="l"/>
              <a:pathLst>
                <a:path h="1479931" w="4223131">
                  <a:moveTo>
                    <a:pt x="0" y="118364"/>
                  </a:moveTo>
                  <a:cubicBezTo>
                    <a:pt x="0" y="52959"/>
                    <a:pt x="52959" y="0"/>
                    <a:pt x="118364" y="0"/>
                  </a:cubicBezTo>
                  <a:lnTo>
                    <a:pt x="4104767" y="0"/>
                  </a:lnTo>
                  <a:cubicBezTo>
                    <a:pt x="4170172" y="0"/>
                    <a:pt x="4223131" y="52959"/>
                    <a:pt x="4223131" y="118364"/>
                  </a:cubicBezTo>
                  <a:lnTo>
                    <a:pt x="4223131" y="1361567"/>
                  </a:lnTo>
                  <a:cubicBezTo>
                    <a:pt x="4223131" y="1426972"/>
                    <a:pt x="4170172" y="1479931"/>
                    <a:pt x="4104767" y="1479931"/>
                  </a:cubicBezTo>
                  <a:lnTo>
                    <a:pt x="118364" y="1479931"/>
                  </a:lnTo>
                  <a:cubicBezTo>
                    <a:pt x="52959" y="1479931"/>
                    <a:pt x="0" y="1426972"/>
                    <a:pt x="0" y="1361567"/>
                  </a:cubicBezTo>
                  <a:close/>
                </a:path>
              </a:pathLst>
            </a:custGeom>
            <a:solidFill>
              <a:srgbClr val="FFFFFF"/>
            </a:solidFill>
            <a:ln w="12700" cap="sq">
              <a:solidFill>
                <a:srgbClr val="CFE5E9"/>
              </a:solidFill>
              <a:prstDash val="solid"/>
              <a:miter/>
            </a:ln>
          </p:spPr>
          <p:txBody>
            <a:bodyPr/>
            <a:p/>
          </p:txBody>
        </p:sp>
        <p:sp>
          <p:nvSpPr>
            <p:cNvPr name="TextBox 96" id="96"/>
            <p:cNvSpPr txBox="true"/>
            <p:nvPr/>
          </p:nvSpPr>
          <p:spPr>
            <a:xfrm>
              <a:off x="0" y="-38100"/>
              <a:ext cx="4223169" cy="1518069"/>
            </a:xfrm>
            <a:prstGeom prst="rect">
              <a:avLst/>
            </a:prstGeom>
          </p:spPr>
          <p:txBody>
            <a:bodyPr anchor="t" rtlCol="false" tIns="50800" lIns="50800" bIns="50800" rIns="50800"/>
            <a:lstStyle/>
            <a:p>
              <a:pPr algn="l">
                <a:lnSpc>
                  <a:spcPts val="1727"/>
                </a:lnSpc>
              </a:pPr>
              <a:r>
                <a:rPr lang="en-US" sz="1439" b="true">
                  <a:solidFill>
                    <a:srgbClr val="0B5E6E"/>
                  </a:solidFill>
                  <a:latin typeface="Calibri (MS) Bold"/>
                  <a:ea typeface="Calibri (MS) Bold"/>
                  <a:cs typeface="Calibri (MS) Bold"/>
                  <a:sym typeface="Calibri (MS) Bold"/>
                </a:rPr>
                <a:t>Kalibrasi?</a:t>
              </a:r>
            </a:p>
            <a:p>
              <a:pPr algn="l">
                <a:lnSpc>
                  <a:spcPts val="1788"/>
                </a:lnSpc>
              </a:pPr>
              <a:r>
                <a:rPr lang="en-US" sz="1490">
                  <a:solidFill>
                    <a:srgbClr val="14313B"/>
                  </a:solidFill>
                  <a:latin typeface="Calibri (MS)"/>
                  <a:ea typeface="Calibri (MS)"/>
                  <a:cs typeface="Calibri (MS)"/>
                  <a:sym typeface="Calibri (MS)"/>
                </a:rPr>
                <a:t>Boleh (nilai pendekatan)</a:t>
              </a:r>
            </a:p>
          </p:txBody>
        </p:sp>
      </p:grpSp>
      <p:grpSp>
        <p:nvGrpSpPr>
          <p:cNvPr name="Group 97" id="97"/>
          <p:cNvGrpSpPr/>
          <p:nvPr/>
        </p:nvGrpSpPr>
        <p:grpSpPr>
          <a:xfrm rot="0">
            <a:off x="10917936" y="2286000"/>
            <a:ext cx="3154680" cy="1325880"/>
            <a:chOff x="0" y="0"/>
            <a:chExt cx="4206240" cy="1767840"/>
          </a:xfrm>
        </p:grpSpPr>
        <p:sp>
          <p:nvSpPr>
            <p:cNvPr name="Freeform 98" id="98"/>
            <p:cNvSpPr/>
            <p:nvPr/>
          </p:nvSpPr>
          <p:spPr>
            <a:xfrm flipH="false" flipV="false" rot="0">
              <a:off x="0" y="0"/>
              <a:ext cx="4206240" cy="1767840"/>
            </a:xfrm>
            <a:custGeom>
              <a:avLst/>
              <a:gdLst/>
              <a:ahLst/>
              <a:cxnLst/>
              <a:rect r="r" b="b" t="t" l="l"/>
              <a:pathLst>
                <a:path h="1767840" w="4206240">
                  <a:moveTo>
                    <a:pt x="0" y="141478"/>
                  </a:moveTo>
                  <a:cubicBezTo>
                    <a:pt x="0" y="63373"/>
                    <a:pt x="63373" y="0"/>
                    <a:pt x="141478" y="0"/>
                  </a:cubicBezTo>
                  <a:lnTo>
                    <a:pt x="4064762" y="0"/>
                  </a:lnTo>
                  <a:cubicBezTo>
                    <a:pt x="4142867" y="0"/>
                    <a:pt x="4206240" y="63373"/>
                    <a:pt x="4206240" y="141478"/>
                  </a:cubicBezTo>
                  <a:lnTo>
                    <a:pt x="4206240" y="1626362"/>
                  </a:lnTo>
                  <a:cubicBezTo>
                    <a:pt x="4206240" y="1704467"/>
                    <a:pt x="4142867" y="1767840"/>
                    <a:pt x="4064762" y="1767840"/>
                  </a:cubicBezTo>
                  <a:lnTo>
                    <a:pt x="141478" y="1767840"/>
                  </a:lnTo>
                  <a:cubicBezTo>
                    <a:pt x="63373" y="1767840"/>
                    <a:pt x="0" y="1704467"/>
                    <a:pt x="0" y="1626362"/>
                  </a:cubicBezTo>
                  <a:close/>
                </a:path>
              </a:pathLst>
            </a:custGeom>
            <a:solidFill>
              <a:srgbClr val="FFD23B"/>
            </a:solidFill>
          </p:spPr>
          <p:txBody>
            <a:bodyPr/>
            <a:p/>
          </p:txBody>
        </p:sp>
        <p:sp>
          <p:nvSpPr>
            <p:cNvPr name="TextBox 99" id="99"/>
            <p:cNvSpPr txBox="true"/>
            <p:nvPr/>
          </p:nvSpPr>
          <p:spPr>
            <a:xfrm>
              <a:off x="0" y="-76200"/>
              <a:ext cx="4206240" cy="1844040"/>
            </a:xfrm>
            <a:prstGeom prst="rect">
              <a:avLst/>
            </a:prstGeom>
          </p:spPr>
          <p:txBody>
            <a:bodyPr anchor="ctr" rtlCol="false" tIns="50800" lIns="50800" bIns="50800" rIns="50800"/>
            <a:lstStyle/>
            <a:p>
              <a:pPr algn="ctr">
                <a:lnSpc>
                  <a:spcPts val="4691"/>
                </a:lnSpc>
              </a:pPr>
              <a:r>
                <a:rPr lang="en-US" sz="3909" b="true">
                  <a:solidFill>
                    <a:srgbClr val="14313B"/>
                  </a:solidFill>
                  <a:latin typeface="Calibri (MS) Bold"/>
                  <a:ea typeface="Calibri (MS) Bold"/>
                  <a:cs typeface="Calibri (MS) Bold"/>
                  <a:sym typeface="Calibri (MS) Bold"/>
                </a:rPr>
                <a:t>8</a:t>
              </a:r>
            </a:p>
            <a:p>
              <a:pPr algn="ctr">
                <a:lnSpc>
                  <a:spcPts val="2063"/>
                </a:lnSpc>
              </a:pPr>
              <a:r>
                <a:rPr lang="en-US" sz="1719" b="true">
                  <a:solidFill>
                    <a:srgbClr val="14313B"/>
                  </a:solidFill>
                  <a:latin typeface="Calibri (MS) Bold"/>
                  <a:ea typeface="Calibri (MS) Bold"/>
                  <a:cs typeface="Calibri (MS) Bold"/>
                  <a:sym typeface="Calibri (MS) Bold"/>
                </a:rPr>
                <a:t>Asumsi pemodelan</a:t>
              </a:r>
            </a:p>
          </p:txBody>
        </p:sp>
      </p:grpSp>
      <p:grpSp>
        <p:nvGrpSpPr>
          <p:cNvPr name="Group 100" id="100"/>
          <p:cNvGrpSpPr/>
          <p:nvPr/>
        </p:nvGrpSpPr>
        <p:grpSpPr>
          <a:xfrm rot="0">
            <a:off x="10911583" y="3696967"/>
            <a:ext cx="3167377" cy="3030217"/>
            <a:chOff x="0" y="0"/>
            <a:chExt cx="4223169" cy="4040289"/>
          </a:xfrm>
        </p:grpSpPr>
        <p:sp>
          <p:nvSpPr>
            <p:cNvPr name="Freeform 101" id="101"/>
            <p:cNvSpPr/>
            <p:nvPr/>
          </p:nvSpPr>
          <p:spPr>
            <a:xfrm flipH="false" flipV="false" rot="0">
              <a:off x="0" y="0"/>
              <a:ext cx="4223131" cy="4040251"/>
            </a:xfrm>
            <a:custGeom>
              <a:avLst/>
              <a:gdLst/>
              <a:ahLst/>
              <a:cxnLst/>
              <a:rect r="r" b="b" t="t" l="l"/>
              <a:pathLst>
                <a:path h="4040251" w="4223131">
                  <a:moveTo>
                    <a:pt x="0" y="323215"/>
                  </a:moveTo>
                  <a:cubicBezTo>
                    <a:pt x="0" y="144653"/>
                    <a:pt x="144653" y="0"/>
                    <a:pt x="323215" y="0"/>
                  </a:cubicBezTo>
                  <a:lnTo>
                    <a:pt x="3899916" y="0"/>
                  </a:lnTo>
                  <a:cubicBezTo>
                    <a:pt x="4078478" y="0"/>
                    <a:pt x="4223131" y="144653"/>
                    <a:pt x="4223131" y="323215"/>
                  </a:cubicBezTo>
                  <a:lnTo>
                    <a:pt x="4223131" y="3717036"/>
                  </a:lnTo>
                  <a:cubicBezTo>
                    <a:pt x="4223131" y="3895598"/>
                    <a:pt x="4078478" y="4040251"/>
                    <a:pt x="3899916" y="4040251"/>
                  </a:cubicBezTo>
                  <a:lnTo>
                    <a:pt x="323215" y="4040251"/>
                  </a:lnTo>
                  <a:cubicBezTo>
                    <a:pt x="144653" y="4040251"/>
                    <a:pt x="0" y="3895598"/>
                    <a:pt x="0" y="3717036"/>
                  </a:cubicBezTo>
                  <a:close/>
                </a:path>
              </a:pathLst>
            </a:custGeom>
            <a:solidFill>
              <a:srgbClr val="EAF8FA"/>
            </a:solidFill>
            <a:ln w="12700" cap="sq">
              <a:solidFill>
                <a:srgbClr val="CFE5E9"/>
              </a:solidFill>
              <a:prstDash val="solid"/>
              <a:miter/>
            </a:ln>
          </p:spPr>
          <p:txBody>
            <a:bodyPr/>
            <a:p/>
          </p:txBody>
        </p:sp>
        <p:sp>
          <p:nvSpPr>
            <p:cNvPr name="TextBox 102" id="102"/>
            <p:cNvSpPr txBox="true"/>
            <p:nvPr/>
          </p:nvSpPr>
          <p:spPr>
            <a:xfrm>
              <a:off x="0" y="-19050"/>
              <a:ext cx="4223169" cy="4059339"/>
            </a:xfrm>
            <a:prstGeom prst="rect">
              <a:avLst/>
            </a:prstGeom>
          </p:spPr>
          <p:txBody>
            <a:bodyPr anchor="t" rtlCol="false" tIns="50800" lIns="50800" bIns="50800" rIns="50800"/>
            <a:lstStyle/>
            <a:p>
              <a:pPr algn="l">
                <a:lnSpc>
                  <a:spcPts val="1860"/>
                </a:lnSpc>
              </a:pPr>
              <a:r>
                <a:rPr lang="en-US" sz="1550">
                  <a:solidFill>
                    <a:srgbClr val="14313B"/>
                  </a:solidFill>
                  <a:latin typeface="Calibri (MS)"/>
                  <a:ea typeface="Calibri (MS)"/>
                  <a:cs typeface="Calibri (MS)"/>
                  <a:sym typeface="Calibri (MS)"/>
                </a:rPr>
                <a:t>• Bobot 0,40 / 0,35 / 0,25</a:t>
              </a:r>
            </a:p>
            <a:p>
              <a:pPr algn="l">
                <a:lnSpc>
                  <a:spcPts val="1860"/>
                </a:lnSpc>
              </a:pPr>
              <a:r>
                <a:rPr lang="en-US" sz="1550">
                  <a:solidFill>
                    <a:srgbClr val="14313B"/>
                  </a:solidFill>
                  <a:latin typeface="Calibri (MS)"/>
                  <a:ea typeface="Calibri (MS)"/>
                  <a:cs typeface="Calibri (MS)"/>
                  <a:sym typeface="Calibri (MS)"/>
                </a:rPr>
                <a:t>• Elastisitas 0,3 · batas 1,5</a:t>
              </a:r>
            </a:p>
            <a:p>
              <a:pPr algn="l">
                <a:lnSpc>
                  <a:spcPts val="1860"/>
                </a:lnSpc>
              </a:pPr>
              <a:r>
                <a:rPr lang="en-US" sz="1550">
                  <a:solidFill>
                    <a:srgbClr val="14313B"/>
                  </a:solidFill>
                  <a:latin typeface="Calibri (MS)"/>
                  <a:ea typeface="Calibri (MS)"/>
                  <a:cs typeface="Calibri (MS)"/>
                  <a:sym typeface="Calibri (MS)"/>
                </a:rPr>
                <a:t>• Lahan/hotel 0,1 · /ODTW 0,5</a:t>
              </a:r>
            </a:p>
            <a:p>
              <a:pPr algn="l">
                <a:lnSpc>
                  <a:spcPts val="1860"/>
                </a:lnSpc>
              </a:pPr>
              <a:r>
                <a:rPr lang="en-US" sz="1550">
                  <a:solidFill>
                    <a:srgbClr val="14313B"/>
                  </a:solidFill>
                  <a:latin typeface="Calibri (MS)"/>
                  <a:ea typeface="Calibri (MS)"/>
                  <a:cs typeface="Calibri (MS)"/>
                  <a:sym typeface="Calibri (MS)"/>
                </a:rPr>
                <a:t>• Waktu penyesuaian TK 1</a:t>
              </a:r>
            </a:p>
          </p:txBody>
        </p:sp>
      </p:grpSp>
      <p:grpSp>
        <p:nvGrpSpPr>
          <p:cNvPr name="Group 103" id="103"/>
          <p:cNvGrpSpPr/>
          <p:nvPr/>
        </p:nvGrpSpPr>
        <p:grpSpPr>
          <a:xfrm rot="0">
            <a:off x="10911583" y="6805927"/>
            <a:ext cx="3167377" cy="1109977"/>
            <a:chOff x="0" y="0"/>
            <a:chExt cx="4223169" cy="1479969"/>
          </a:xfrm>
        </p:grpSpPr>
        <p:sp>
          <p:nvSpPr>
            <p:cNvPr name="Freeform 104" id="104"/>
            <p:cNvSpPr/>
            <p:nvPr/>
          </p:nvSpPr>
          <p:spPr>
            <a:xfrm flipH="false" flipV="false" rot="0">
              <a:off x="0" y="0"/>
              <a:ext cx="4223131" cy="1479931"/>
            </a:xfrm>
            <a:custGeom>
              <a:avLst/>
              <a:gdLst/>
              <a:ahLst/>
              <a:cxnLst/>
              <a:rect r="r" b="b" t="t" l="l"/>
              <a:pathLst>
                <a:path h="1479931" w="4223131">
                  <a:moveTo>
                    <a:pt x="0" y="118364"/>
                  </a:moveTo>
                  <a:cubicBezTo>
                    <a:pt x="0" y="52959"/>
                    <a:pt x="52959" y="0"/>
                    <a:pt x="118364" y="0"/>
                  </a:cubicBezTo>
                  <a:lnTo>
                    <a:pt x="4104767" y="0"/>
                  </a:lnTo>
                  <a:cubicBezTo>
                    <a:pt x="4170172" y="0"/>
                    <a:pt x="4223131" y="52959"/>
                    <a:pt x="4223131" y="118364"/>
                  </a:cubicBezTo>
                  <a:lnTo>
                    <a:pt x="4223131" y="1361567"/>
                  </a:lnTo>
                  <a:cubicBezTo>
                    <a:pt x="4223131" y="1426972"/>
                    <a:pt x="4170172" y="1479931"/>
                    <a:pt x="4104767" y="1479931"/>
                  </a:cubicBezTo>
                  <a:lnTo>
                    <a:pt x="118364" y="1479931"/>
                  </a:lnTo>
                  <a:cubicBezTo>
                    <a:pt x="52959" y="1479931"/>
                    <a:pt x="0" y="1426972"/>
                    <a:pt x="0" y="1361567"/>
                  </a:cubicBezTo>
                  <a:close/>
                </a:path>
              </a:pathLst>
            </a:custGeom>
            <a:solidFill>
              <a:srgbClr val="FFFFFF"/>
            </a:solidFill>
            <a:ln w="12700" cap="sq">
              <a:solidFill>
                <a:srgbClr val="CFE5E9"/>
              </a:solidFill>
              <a:prstDash val="solid"/>
              <a:miter/>
            </a:ln>
          </p:spPr>
          <p:txBody>
            <a:bodyPr/>
            <a:p/>
          </p:txBody>
        </p:sp>
        <p:sp>
          <p:nvSpPr>
            <p:cNvPr name="TextBox 105" id="105"/>
            <p:cNvSpPr txBox="true"/>
            <p:nvPr/>
          </p:nvSpPr>
          <p:spPr>
            <a:xfrm>
              <a:off x="0" y="-38100"/>
              <a:ext cx="4223169" cy="1518069"/>
            </a:xfrm>
            <a:prstGeom prst="rect">
              <a:avLst/>
            </a:prstGeom>
          </p:spPr>
          <p:txBody>
            <a:bodyPr anchor="t" rtlCol="false" tIns="50800" lIns="50800" bIns="50800" rIns="50800"/>
            <a:lstStyle/>
            <a:p>
              <a:pPr algn="l">
                <a:lnSpc>
                  <a:spcPts val="1727"/>
                </a:lnSpc>
              </a:pPr>
              <a:r>
                <a:rPr lang="en-US" sz="1439" b="true">
                  <a:solidFill>
                    <a:srgbClr val="0B5E6E"/>
                  </a:solidFill>
                  <a:latin typeface="Calibri (MS) Bold"/>
                  <a:ea typeface="Calibri (MS) Bold"/>
                  <a:cs typeface="Calibri (MS) Bold"/>
                  <a:sym typeface="Calibri (MS) Bold"/>
                </a:rPr>
                <a:t>Kalibrasi?</a:t>
              </a:r>
            </a:p>
            <a:p>
              <a:pPr algn="l">
                <a:lnSpc>
                  <a:spcPts val="1788"/>
                </a:lnSpc>
              </a:pPr>
              <a:r>
                <a:rPr lang="en-US" sz="1490">
                  <a:solidFill>
                    <a:srgbClr val="14313B"/>
                  </a:solidFill>
                  <a:latin typeface="Calibri (MS)"/>
                  <a:ea typeface="Calibri (MS)"/>
                  <a:cs typeface="Calibri (MS)"/>
                  <a:sym typeface="Calibri (MS)"/>
                </a:rPr>
                <a:t>Diuji sensitivitas</a:t>
              </a:r>
            </a:p>
          </p:txBody>
        </p:sp>
      </p:grpSp>
      <p:grpSp>
        <p:nvGrpSpPr>
          <p:cNvPr name="Group 106" id="106"/>
          <p:cNvGrpSpPr/>
          <p:nvPr/>
        </p:nvGrpSpPr>
        <p:grpSpPr>
          <a:xfrm rot="0">
            <a:off x="14282928" y="2286000"/>
            <a:ext cx="3154680" cy="1325880"/>
            <a:chOff x="0" y="0"/>
            <a:chExt cx="4206240" cy="1767840"/>
          </a:xfrm>
        </p:grpSpPr>
        <p:sp>
          <p:nvSpPr>
            <p:cNvPr name="Freeform 107" id="107"/>
            <p:cNvSpPr/>
            <p:nvPr/>
          </p:nvSpPr>
          <p:spPr>
            <a:xfrm flipH="false" flipV="false" rot="0">
              <a:off x="0" y="0"/>
              <a:ext cx="4206240" cy="1767840"/>
            </a:xfrm>
            <a:custGeom>
              <a:avLst/>
              <a:gdLst/>
              <a:ahLst/>
              <a:cxnLst/>
              <a:rect r="r" b="b" t="t" l="l"/>
              <a:pathLst>
                <a:path h="1767840" w="4206240">
                  <a:moveTo>
                    <a:pt x="0" y="141478"/>
                  </a:moveTo>
                  <a:cubicBezTo>
                    <a:pt x="0" y="63373"/>
                    <a:pt x="63373" y="0"/>
                    <a:pt x="141478" y="0"/>
                  </a:cubicBezTo>
                  <a:lnTo>
                    <a:pt x="4064762" y="0"/>
                  </a:lnTo>
                  <a:cubicBezTo>
                    <a:pt x="4142867" y="0"/>
                    <a:pt x="4206240" y="63373"/>
                    <a:pt x="4206240" y="141478"/>
                  </a:cubicBezTo>
                  <a:lnTo>
                    <a:pt x="4206240" y="1626362"/>
                  </a:lnTo>
                  <a:cubicBezTo>
                    <a:pt x="4206240" y="1704467"/>
                    <a:pt x="4142867" y="1767840"/>
                    <a:pt x="4064762" y="1767840"/>
                  </a:cubicBezTo>
                  <a:lnTo>
                    <a:pt x="141478" y="1767840"/>
                  </a:lnTo>
                  <a:cubicBezTo>
                    <a:pt x="63373" y="1767840"/>
                    <a:pt x="0" y="1704467"/>
                    <a:pt x="0" y="1626362"/>
                  </a:cubicBezTo>
                  <a:close/>
                </a:path>
              </a:pathLst>
            </a:custGeom>
            <a:solidFill>
              <a:srgbClr val="8A99A1"/>
            </a:solidFill>
          </p:spPr>
          <p:txBody>
            <a:bodyPr/>
            <a:p/>
          </p:txBody>
        </p:sp>
        <p:sp>
          <p:nvSpPr>
            <p:cNvPr name="TextBox 108" id="108"/>
            <p:cNvSpPr txBox="true"/>
            <p:nvPr/>
          </p:nvSpPr>
          <p:spPr>
            <a:xfrm>
              <a:off x="0" y="-76200"/>
              <a:ext cx="4206240" cy="1844040"/>
            </a:xfrm>
            <a:prstGeom prst="rect">
              <a:avLst/>
            </a:prstGeom>
          </p:spPr>
          <p:txBody>
            <a:bodyPr anchor="ctr" rtlCol="false" tIns="50800" lIns="50800" bIns="50800" rIns="50800"/>
            <a:lstStyle/>
            <a:p>
              <a:pPr algn="ctr">
                <a:lnSpc>
                  <a:spcPts val="4691"/>
                </a:lnSpc>
              </a:pPr>
              <a:r>
                <a:rPr lang="en-US" sz="3909" b="true">
                  <a:solidFill>
                    <a:srgbClr val="FFFFFF"/>
                  </a:solidFill>
                  <a:latin typeface="Calibri (MS) Bold"/>
                  <a:ea typeface="Calibri (MS) Bold"/>
                  <a:cs typeface="Calibri (MS) Bold"/>
                  <a:sym typeface="Calibri (MS) Bold"/>
                </a:rPr>
                <a:t>6</a:t>
              </a:r>
            </a:p>
            <a:p>
              <a:pPr algn="ctr">
                <a:lnSpc>
                  <a:spcPts val="2063"/>
                </a:lnSpc>
              </a:pPr>
              <a:r>
                <a:rPr lang="en-US" sz="1719" b="true">
                  <a:solidFill>
                    <a:srgbClr val="FFFFFF"/>
                  </a:solidFill>
                  <a:latin typeface="Calibri (MS) Bold"/>
                  <a:ea typeface="Calibri (MS) Bold"/>
                  <a:cs typeface="Calibri (MS) Bold"/>
                  <a:sym typeface="Calibri (MS) Bold"/>
                </a:rPr>
                <a:t>Normalisasi &amp; kebijakan</a:t>
              </a:r>
            </a:p>
          </p:txBody>
        </p:sp>
      </p:grpSp>
      <p:grpSp>
        <p:nvGrpSpPr>
          <p:cNvPr name="Group 109" id="109"/>
          <p:cNvGrpSpPr/>
          <p:nvPr/>
        </p:nvGrpSpPr>
        <p:grpSpPr>
          <a:xfrm rot="0">
            <a:off x="14276575" y="3696967"/>
            <a:ext cx="3167377" cy="3030217"/>
            <a:chOff x="0" y="0"/>
            <a:chExt cx="4223169" cy="4040289"/>
          </a:xfrm>
        </p:grpSpPr>
        <p:sp>
          <p:nvSpPr>
            <p:cNvPr name="Freeform 110" id="110"/>
            <p:cNvSpPr/>
            <p:nvPr/>
          </p:nvSpPr>
          <p:spPr>
            <a:xfrm flipH="false" flipV="false" rot="0">
              <a:off x="0" y="0"/>
              <a:ext cx="4223131" cy="4040251"/>
            </a:xfrm>
            <a:custGeom>
              <a:avLst/>
              <a:gdLst/>
              <a:ahLst/>
              <a:cxnLst/>
              <a:rect r="r" b="b" t="t" l="l"/>
              <a:pathLst>
                <a:path h="4040251" w="4223131">
                  <a:moveTo>
                    <a:pt x="0" y="323215"/>
                  </a:moveTo>
                  <a:cubicBezTo>
                    <a:pt x="0" y="144653"/>
                    <a:pt x="144653" y="0"/>
                    <a:pt x="323215" y="0"/>
                  </a:cubicBezTo>
                  <a:lnTo>
                    <a:pt x="3899916" y="0"/>
                  </a:lnTo>
                  <a:cubicBezTo>
                    <a:pt x="4078478" y="0"/>
                    <a:pt x="4223131" y="144653"/>
                    <a:pt x="4223131" y="323215"/>
                  </a:cubicBezTo>
                  <a:lnTo>
                    <a:pt x="4223131" y="3717036"/>
                  </a:lnTo>
                  <a:cubicBezTo>
                    <a:pt x="4223131" y="3895598"/>
                    <a:pt x="4078478" y="4040251"/>
                    <a:pt x="3899916" y="4040251"/>
                  </a:cubicBezTo>
                  <a:lnTo>
                    <a:pt x="323215" y="4040251"/>
                  </a:lnTo>
                  <a:cubicBezTo>
                    <a:pt x="144653" y="4040251"/>
                    <a:pt x="0" y="3895598"/>
                    <a:pt x="0" y="3717036"/>
                  </a:cubicBezTo>
                  <a:close/>
                </a:path>
              </a:pathLst>
            </a:custGeom>
            <a:solidFill>
              <a:srgbClr val="EAF8FA"/>
            </a:solidFill>
            <a:ln w="12700" cap="sq">
              <a:solidFill>
                <a:srgbClr val="CFE5E9"/>
              </a:solidFill>
              <a:prstDash val="solid"/>
              <a:miter/>
            </a:ln>
          </p:spPr>
          <p:txBody>
            <a:bodyPr/>
            <a:p/>
          </p:txBody>
        </p:sp>
        <p:sp>
          <p:nvSpPr>
            <p:cNvPr name="TextBox 111" id="111"/>
            <p:cNvSpPr txBox="true"/>
            <p:nvPr/>
          </p:nvSpPr>
          <p:spPr>
            <a:xfrm>
              <a:off x="0" y="-19050"/>
              <a:ext cx="4223169" cy="4059339"/>
            </a:xfrm>
            <a:prstGeom prst="rect">
              <a:avLst/>
            </a:prstGeom>
          </p:spPr>
          <p:txBody>
            <a:bodyPr anchor="t" rtlCol="false" tIns="50800" lIns="50800" bIns="50800" rIns="50800"/>
            <a:lstStyle/>
            <a:p>
              <a:pPr algn="l">
                <a:lnSpc>
                  <a:spcPts val="1860"/>
                </a:lnSpc>
              </a:pPr>
              <a:r>
                <a:rPr lang="en-US" sz="1550">
                  <a:solidFill>
                    <a:srgbClr val="14313B"/>
                  </a:solidFill>
                  <a:latin typeface="Calibri (MS)"/>
                  <a:ea typeface="Calibri (MS)"/>
                  <a:cs typeface="Calibri (MS)"/>
                  <a:sym typeface="Calibri (MS)"/>
                </a:rPr>
                <a:t>• ODTW ref 201</a:t>
              </a:r>
            </a:p>
            <a:p>
              <a:pPr algn="l">
                <a:lnSpc>
                  <a:spcPts val="1860"/>
                </a:lnSpc>
              </a:pPr>
              <a:r>
                <a:rPr lang="en-US" sz="1550">
                  <a:solidFill>
                    <a:srgbClr val="14313B"/>
                  </a:solidFill>
                  <a:latin typeface="Calibri (MS)"/>
                  <a:ea typeface="Calibri (MS)"/>
                  <a:cs typeface="Calibri (MS)"/>
                  <a:sym typeface="Calibri (MS)"/>
                </a:rPr>
                <a:t>• Kepadatan ref 128,363</a:t>
              </a:r>
            </a:p>
            <a:p>
              <a:pPr algn="l">
                <a:lnSpc>
                  <a:spcPts val="1860"/>
                </a:lnSpc>
              </a:pPr>
              <a:r>
                <a:rPr lang="en-US" sz="1550">
                  <a:solidFill>
                    <a:srgbClr val="14313B"/>
                  </a:solidFill>
                  <a:latin typeface="Calibri (MS)"/>
                  <a:ea typeface="Calibri (MS)"/>
                  <a:cs typeface="Calibri (MS)"/>
                  <a:sym typeface="Calibri (MS)"/>
                </a:rPr>
                <a:t>• RDDL ref 0,826425</a:t>
              </a:r>
            </a:p>
            <a:p>
              <a:pPr algn="l">
                <a:lnSpc>
                  <a:spcPts val="1860"/>
                </a:lnSpc>
              </a:pPr>
              <a:r>
                <a:rPr lang="en-US" sz="1550">
                  <a:solidFill>
                    <a:srgbClr val="14313B"/>
                  </a:solidFill>
                  <a:latin typeface="Calibri (MS)"/>
                  <a:ea typeface="Calibri (MS)"/>
                  <a:cs typeface="Calibri (MS)"/>
                  <a:sym typeface="Calibri (MS)"/>
                </a:rPr>
                <a:t>• Insentif &amp; Konservasi = 0</a:t>
              </a:r>
            </a:p>
          </p:txBody>
        </p:sp>
      </p:grpSp>
      <p:grpSp>
        <p:nvGrpSpPr>
          <p:cNvPr name="Group 112" id="112"/>
          <p:cNvGrpSpPr/>
          <p:nvPr/>
        </p:nvGrpSpPr>
        <p:grpSpPr>
          <a:xfrm rot="0">
            <a:off x="14276575" y="6805927"/>
            <a:ext cx="3167377" cy="1109977"/>
            <a:chOff x="0" y="0"/>
            <a:chExt cx="4223169" cy="1479969"/>
          </a:xfrm>
        </p:grpSpPr>
        <p:sp>
          <p:nvSpPr>
            <p:cNvPr name="Freeform 113" id="113"/>
            <p:cNvSpPr/>
            <p:nvPr/>
          </p:nvSpPr>
          <p:spPr>
            <a:xfrm flipH="false" flipV="false" rot="0">
              <a:off x="0" y="0"/>
              <a:ext cx="4223131" cy="1479931"/>
            </a:xfrm>
            <a:custGeom>
              <a:avLst/>
              <a:gdLst/>
              <a:ahLst/>
              <a:cxnLst/>
              <a:rect r="r" b="b" t="t" l="l"/>
              <a:pathLst>
                <a:path h="1479931" w="4223131">
                  <a:moveTo>
                    <a:pt x="0" y="118364"/>
                  </a:moveTo>
                  <a:cubicBezTo>
                    <a:pt x="0" y="52959"/>
                    <a:pt x="52959" y="0"/>
                    <a:pt x="118364" y="0"/>
                  </a:cubicBezTo>
                  <a:lnTo>
                    <a:pt x="4104767" y="0"/>
                  </a:lnTo>
                  <a:cubicBezTo>
                    <a:pt x="4170172" y="0"/>
                    <a:pt x="4223131" y="52959"/>
                    <a:pt x="4223131" y="118364"/>
                  </a:cubicBezTo>
                  <a:lnTo>
                    <a:pt x="4223131" y="1361567"/>
                  </a:lnTo>
                  <a:cubicBezTo>
                    <a:pt x="4223131" y="1426972"/>
                    <a:pt x="4170172" y="1479931"/>
                    <a:pt x="4104767" y="1479931"/>
                  </a:cubicBezTo>
                  <a:lnTo>
                    <a:pt x="118364" y="1479931"/>
                  </a:lnTo>
                  <a:cubicBezTo>
                    <a:pt x="52959" y="1479931"/>
                    <a:pt x="0" y="1426972"/>
                    <a:pt x="0" y="1361567"/>
                  </a:cubicBezTo>
                  <a:close/>
                </a:path>
              </a:pathLst>
            </a:custGeom>
            <a:solidFill>
              <a:srgbClr val="FFFFFF"/>
            </a:solidFill>
            <a:ln w="12700" cap="sq">
              <a:solidFill>
                <a:srgbClr val="CFE5E9"/>
              </a:solidFill>
              <a:prstDash val="solid"/>
              <a:miter/>
            </a:ln>
          </p:spPr>
          <p:txBody>
            <a:bodyPr/>
            <a:p/>
          </p:txBody>
        </p:sp>
        <p:sp>
          <p:nvSpPr>
            <p:cNvPr name="TextBox 114" id="114"/>
            <p:cNvSpPr txBox="true"/>
            <p:nvPr/>
          </p:nvSpPr>
          <p:spPr>
            <a:xfrm>
              <a:off x="0" y="-38100"/>
              <a:ext cx="4223169" cy="1518069"/>
            </a:xfrm>
            <a:prstGeom prst="rect">
              <a:avLst/>
            </a:prstGeom>
          </p:spPr>
          <p:txBody>
            <a:bodyPr anchor="t" rtlCol="false" tIns="50800" lIns="50800" bIns="50800" rIns="50800"/>
            <a:lstStyle/>
            <a:p>
              <a:pPr algn="l">
                <a:lnSpc>
                  <a:spcPts val="1727"/>
                </a:lnSpc>
              </a:pPr>
              <a:r>
                <a:rPr lang="en-US" sz="1439" b="true">
                  <a:solidFill>
                    <a:srgbClr val="0B5E6E"/>
                  </a:solidFill>
                  <a:latin typeface="Calibri (MS) Bold"/>
                  <a:ea typeface="Calibri (MS) Bold"/>
                  <a:cs typeface="Calibri (MS) Bold"/>
                  <a:sym typeface="Calibri (MS) Bold"/>
                </a:rPr>
                <a:t>Kalibrasi?</a:t>
              </a:r>
            </a:p>
            <a:p>
              <a:pPr algn="l">
                <a:lnSpc>
                  <a:spcPts val="1788"/>
                </a:lnSpc>
              </a:pPr>
              <a:r>
                <a:rPr lang="en-US" sz="1490">
                  <a:solidFill>
                    <a:srgbClr val="14313B"/>
                  </a:solidFill>
                  <a:latin typeface="Calibri (MS)"/>
                  <a:ea typeface="Calibri (MS)"/>
                  <a:cs typeface="Calibri (MS)"/>
                  <a:sym typeface="Calibri (MS)"/>
                </a:rPr>
                <a:t>Tidak dikalibrasi</a:t>
              </a:r>
            </a:p>
          </p:txBody>
        </p:sp>
      </p:grpSp>
      <p:grpSp>
        <p:nvGrpSpPr>
          <p:cNvPr name="Group 115" id="115"/>
          <p:cNvGrpSpPr/>
          <p:nvPr/>
        </p:nvGrpSpPr>
        <p:grpSpPr>
          <a:xfrm rot="0">
            <a:off x="816607" y="8086087"/>
            <a:ext cx="16654777" cy="927097"/>
            <a:chOff x="0" y="0"/>
            <a:chExt cx="22206369" cy="1236129"/>
          </a:xfrm>
        </p:grpSpPr>
        <p:sp>
          <p:nvSpPr>
            <p:cNvPr name="Freeform 116" id="116"/>
            <p:cNvSpPr/>
            <p:nvPr/>
          </p:nvSpPr>
          <p:spPr>
            <a:xfrm flipH="false" flipV="false" rot="0">
              <a:off x="0" y="0"/>
              <a:ext cx="22206458" cy="1236218"/>
            </a:xfrm>
            <a:custGeom>
              <a:avLst/>
              <a:gdLst/>
              <a:ahLst/>
              <a:cxnLst/>
              <a:rect r="r" b="b" t="t" l="l"/>
              <a:pathLst>
                <a:path h="1236218" w="22206458">
                  <a:moveTo>
                    <a:pt x="0" y="98933"/>
                  </a:moveTo>
                  <a:cubicBezTo>
                    <a:pt x="0" y="44323"/>
                    <a:pt x="44323" y="0"/>
                    <a:pt x="98933" y="0"/>
                  </a:cubicBezTo>
                  <a:lnTo>
                    <a:pt x="22107525" y="0"/>
                  </a:lnTo>
                  <a:cubicBezTo>
                    <a:pt x="22162136" y="0"/>
                    <a:pt x="22206458" y="44323"/>
                    <a:pt x="22206458" y="98933"/>
                  </a:cubicBezTo>
                  <a:lnTo>
                    <a:pt x="22206458" y="1137285"/>
                  </a:lnTo>
                  <a:cubicBezTo>
                    <a:pt x="22206458" y="1191895"/>
                    <a:pt x="22162136" y="1236218"/>
                    <a:pt x="22107525" y="1236218"/>
                  </a:cubicBezTo>
                  <a:lnTo>
                    <a:pt x="98933" y="1236218"/>
                  </a:lnTo>
                  <a:cubicBezTo>
                    <a:pt x="44323" y="1236091"/>
                    <a:pt x="0" y="1191895"/>
                    <a:pt x="0" y="1137285"/>
                  </a:cubicBezTo>
                  <a:close/>
                </a:path>
              </a:pathLst>
            </a:custGeom>
            <a:solidFill>
              <a:srgbClr val="FFF1BF"/>
            </a:solidFill>
            <a:ln w="12700" cap="sq">
              <a:solidFill>
                <a:srgbClr val="FFD23B"/>
              </a:solidFill>
              <a:prstDash val="solid"/>
              <a:miter/>
            </a:ln>
          </p:spPr>
          <p:txBody>
            <a:bodyPr/>
            <a:p/>
          </p:txBody>
        </p:sp>
        <p:sp>
          <p:nvSpPr>
            <p:cNvPr name="TextBox 117" id="117"/>
            <p:cNvSpPr txBox="true"/>
            <p:nvPr/>
          </p:nvSpPr>
          <p:spPr>
            <a:xfrm>
              <a:off x="0" y="-38100"/>
              <a:ext cx="22206369" cy="127422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Status sumber ditetapkan sejak awal dan menentukan parameter mana yang boleh diubah; ketidakpastian dibawa sebagai rentang ke kalibrasi dan sensitivitas.</a:t>
              </a:r>
            </a:p>
          </p:txBody>
        </p:sp>
      </p:grpSp>
      <p:grpSp>
        <p:nvGrpSpPr>
          <p:cNvPr name="Group 118" id="118"/>
          <p:cNvGrpSpPr/>
          <p:nvPr/>
        </p:nvGrpSpPr>
        <p:grpSpPr>
          <a:xfrm rot="0">
            <a:off x="16047720" y="9646920"/>
            <a:ext cx="420624" cy="420624"/>
            <a:chOff x="0" y="0"/>
            <a:chExt cx="560832" cy="560832"/>
          </a:xfrm>
        </p:grpSpPr>
        <p:sp>
          <p:nvSpPr>
            <p:cNvPr name="Freeform 119" id="119"/>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20" id="120"/>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3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Penurunan Nilai Parameter</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Contoh perhitungan parameter: berasal dari data, bukan ditebak</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38</a:t>
            </a:r>
          </a:p>
        </p:txBody>
      </p:sp>
      <p:grpSp>
        <p:nvGrpSpPr>
          <p:cNvPr name="Group 67" id="67"/>
          <p:cNvGrpSpPr/>
          <p:nvPr/>
        </p:nvGrpSpPr>
        <p:grpSpPr>
          <a:xfrm rot="0">
            <a:off x="12755880" y="274320"/>
            <a:ext cx="3931920" cy="411480"/>
            <a:chOff x="0" y="0"/>
            <a:chExt cx="5242560" cy="548640"/>
          </a:xfrm>
        </p:grpSpPr>
        <p:sp>
          <p:nvSpPr>
            <p:cNvPr name="Freeform 68" id="68"/>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69" id="69"/>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2C · Parameterisasi</a:t>
              </a:r>
            </a:p>
          </p:txBody>
        </p:sp>
      </p:grpSp>
      <p:grpSp>
        <p:nvGrpSpPr>
          <p:cNvPr name="Group 70" id="70"/>
          <p:cNvGrpSpPr/>
          <p:nvPr/>
        </p:nvGrpSpPr>
        <p:grpSpPr>
          <a:xfrm rot="0">
            <a:off x="816607" y="2279647"/>
            <a:ext cx="8242297" cy="2801617"/>
            <a:chOff x="0" y="0"/>
            <a:chExt cx="10989729" cy="3735489"/>
          </a:xfrm>
        </p:grpSpPr>
        <p:sp>
          <p:nvSpPr>
            <p:cNvPr name="Freeform 71" id="71"/>
            <p:cNvSpPr/>
            <p:nvPr/>
          </p:nvSpPr>
          <p:spPr>
            <a:xfrm flipH="false" flipV="false" rot="0">
              <a:off x="0" y="0"/>
              <a:ext cx="10989691" cy="3735451"/>
            </a:xfrm>
            <a:custGeom>
              <a:avLst/>
              <a:gdLst/>
              <a:ahLst/>
              <a:cxnLst/>
              <a:rect r="r" b="b" t="t" l="l"/>
              <a:pathLst>
                <a:path h="3735451" w="10989691">
                  <a:moveTo>
                    <a:pt x="0" y="298831"/>
                  </a:moveTo>
                  <a:cubicBezTo>
                    <a:pt x="0" y="133858"/>
                    <a:pt x="133858" y="0"/>
                    <a:pt x="298831" y="0"/>
                  </a:cubicBezTo>
                  <a:lnTo>
                    <a:pt x="10690860" y="0"/>
                  </a:lnTo>
                  <a:cubicBezTo>
                    <a:pt x="10855960" y="0"/>
                    <a:pt x="10989691" y="133858"/>
                    <a:pt x="10989691" y="298831"/>
                  </a:cubicBezTo>
                  <a:lnTo>
                    <a:pt x="10989691" y="3436620"/>
                  </a:lnTo>
                  <a:cubicBezTo>
                    <a:pt x="10989691" y="3601720"/>
                    <a:pt x="10855833" y="3735451"/>
                    <a:pt x="10690860" y="3735451"/>
                  </a:cubicBezTo>
                  <a:lnTo>
                    <a:pt x="298831" y="3735451"/>
                  </a:lnTo>
                  <a:cubicBezTo>
                    <a:pt x="133858" y="3735451"/>
                    <a:pt x="0" y="3601720"/>
                    <a:pt x="0" y="3436620"/>
                  </a:cubicBezTo>
                  <a:close/>
                </a:path>
              </a:pathLst>
            </a:custGeom>
            <a:solidFill>
              <a:srgbClr val="EAF8FA"/>
            </a:solidFill>
            <a:ln w="12700" cap="sq">
              <a:solidFill>
                <a:srgbClr val="CFE5E9"/>
              </a:solidFill>
              <a:prstDash val="solid"/>
              <a:miter/>
            </a:ln>
          </p:spPr>
          <p:txBody>
            <a:bodyPr/>
            <a:p/>
          </p:txBody>
        </p:sp>
        <p:sp>
          <p:nvSpPr>
            <p:cNvPr name="TextBox 72" id="72"/>
            <p:cNvSpPr txBox="true"/>
            <p:nvPr/>
          </p:nvSpPr>
          <p:spPr>
            <a:xfrm>
              <a:off x="0" y="-38100"/>
              <a:ext cx="10989729" cy="3773589"/>
            </a:xfrm>
            <a:prstGeom prst="rect">
              <a:avLst/>
            </a:prstGeom>
          </p:spPr>
          <p:txBody>
            <a:bodyPr anchor="t" rtlCol="false" tIns="50800" lIns="50800" bIns="50800" rIns="50800"/>
            <a:lstStyle/>
            <a:p>
              <a:pPr algn="l">
                <a:lnSpc>
                  <a:spcPts val="2484"/>
                </a:lnSpc>
              </a:pPr>
              <a:r>
                <a:rPr lang="en-US" sz="2070" b="true">
                  <a:solidFill>
                    <a:srgbClr val="0B5E6E"/>
                  </a:solidFill>
                  <a:latin typeface="Calibri (MS) Bold"/>
                  <a:ea typeface="Calibri (MS) Bold"/>
                  <a:cs typeface="Calibri (MS) Bold"/>
                  <a:sym typeface="Calibri (MS) Bold"/>
                </a:rPr>
                <a:t>Laju Pertumbuhan Eksternal &amp; Penurunan Dasar</a:t>
              </a:r>
            </a:p>
            <a:p>
              <a:pPr algn="l">
                <a:lnSpc>
                  <a:spcPts val="2206"/>
                </a:lnSpc>
              </a:pPr>
              <a:r>
                <a:rPr lang="en-US" sz="1839">
                  <a:solidFill>
                    <a:srgbClr val="14313B"/>
                  </a:solidFill>
                  <a:latin typeface="Calibri (MS)"/>
                  <a:ea typeface="Calibri (MS)"/>
                  <a:cs typeface="Calibri (MS)"/>
                  <a:sym typeface="Calibri (MS)"/>
                </a:rPr>
                <a:t>LPE = g(2024→2025) ÷ (Daya Tarik 2024 − 0,75)</a:t>
              </a:r>
            </a:p>
            <a:p>
              <a:pPr algn="l">
                <a:lnSpc>
                  <a:spcPts val="2206"/>
                </a:lnSpc>
              </a:pPr>
              <a:r>
                <a:rPr lang="en-US" sz="1839">
                  <a:solidFill>
                    <a:srgbClr val="14313B"/>
                  </a:solidFill>
                  <a:latin typeface="Calibri (MS)"/>
                  <a:ea typeface="Calibri (MS)"/>
                  <a:cs typeface="Calibri (MS)"/>
                  <a:sym typeface="Calibri (MS)"/>
                </a:rPr>
                <a:t>= 0,06716 ÷ (0,99223 − 0,75) = 0,27726</a:t>
              </a:r>
            </a:p>
            <a:p>
              <a:pPr algn="l">
                <a:lnSpc>
                  <a:spcPts val="2206"/>
                </a:lnSpc>
              </a:pPr>
              <a:r>
                <a:rPr lang="en-US" sz="1839">
                  <a:solidFill>
                    <a:srgbClr val="14313B"/>
                  </a:solidFill>
                  <a:latin typeface="Calibri (MS)"/>
                  <a:ea typeface="Calibri (MS)"/>
                  <a:cs typeface="Calibri (MS)"/>
                  <a:sym typeface="Calibri (MS)"/>
                </a:rPr>
                <a:t>LPD = 0,75 × LPE = 0,207945</a:t>
              </a:r>
            </a:p>
            <a:p>
              <a:pPr algn="l">
                <a:lnSpc>
                  <a:spcPts val="2206"/>
                </a:lnSpc>
              </a:pPr>
              <a:r>
                <a:rPr lang="en-US" sz="1839">
                  <a:solidFill>
                    <a:srgbClr val="14313B"/>
                  </a:solidFill>
                  <a:latin typeface="Calibri (MS)"/>
                  <a:ea typeface="Calibri (MS)"/>
                  <a:cs typeface="Calibri (MS)"/>
                  <a:sym typeface="Calibri (MS)"/>
                </a:rPr>
                <a:t>Euler: perubahan 2024→2025 ditentukan Daya Tarik 2024</a:t>
              </a:r>
            </a:p>
          </p:txBody>
        </p:sp>
      </p:grpSp>
      <p:grpSp>
        <p:nvGrpSpPr>
          <p:cNvPr name="Group 73" id="73"/>
          <p:cNvGrpSpPr/>
          <p:nvPr/>
        </p:nvGrpSpPr>
        <p:grpSpPr>
          <a:xfrm rot="0">
            <a:off x="9229087" y="2279647"/>
            <a:ext cx="8242297" cy="2801617"/>
            <a:chOff x="0" y="0"/>
            <a:chExt cx="10989729" cy="3735489"/>
          </a:xfrm>
        </p:grpSpPr>
        <p:sp>
          <p:nvSpPr>
            <p:cNvPr name="Freeform 74" id="74"/>
            <p:cNvSpPr/>
            <p:nvPr/>
          </p:nvSpPr>
          <p:spPr>
            <a:xfrm flipH="false" flipV="false" rot="0">
              <a:off x="0" y="0"/>
              <a:ext cx="10989691" cy="3735451"/>
            </a:xfrm>
            <a:custGeom>
              <a:avLst/>
              <a:gdLst/>
              <a:ahLst/>
              <a:cxnLst/>
              <a:rect r="r" b="b" t="t" l="l"/>
              <a:pathLst>
                <a:path h="3735451" w="10989691">
                  <a:moveTo>
                    <a:pt x="0" y="298831"/>
                  </a:moveTo>
                  <a:cubicBezTo>
                    <a:pt x="0" y="133858"/>
                    <a:pt x="133858" y="0"/>
                    <a:pt x="298831" y="0"/>
                  </a:cubicBezTo>
                  <a:lnTo>
                    <a:pt x="10690860" y="0"/>
                  </a:lnTo>
                  <a:cubicBezTo>
                    <a:pt x="10855960" y="0"/>
                    <a:pt x="10989691" y="133858"/>
                    <a:pt x="10989691" y="298831"/>
                  </a:cubicBezTo>
                  <a:lnTo>
                    <a:pt x="10989691" y="3436620"/>
                  </a:lnTo>
                  <a:cubicBezTo>
                    <a:pt x="10989691" y="3601720"/>
                    <a:pt x="10855833" y="3735451"/>
                    <a:pt x="10690860" y="3735451"/>
                  </a:cubicBezTo>
                  <a:lnTo>
                    <a:pt x="298831" y="3735451"/>
                  </a:lnTo>
                  <a:cubicBezTo>
                    <a:pt x="133858" y="3735451"/>
                    <a:pt x="0" y="3601720"/>
                    <a:pt x="0" y="3436620"/>
                  </a:cubicBezTo>
                  <a:close/>
                </a:path>
              </a:pathLst>
            </a:custGeom>
            <a:solidFill>
              <a:srgbClr val="EAF8FA"/>
            </a:solidFill>
            <a:ln w="12700" cap="sq">
              <a:solidFill>
                <a:srgbClr val="CFE5E9"/>
              </a:solidFill>
              <a:prstDash val="solid"/>
              <a:miter/>
            </a:ln>
          </p:spPr>
          <p:txBody>
            <a:bodyPr/>
            <a:p/>
          </p:txBody>
        </p:sp>
        <p:sp>
          <p:nvSpPr>
            <p:cNvPr name="TextBox 75" id="75"/>
            <p:cNvSpPr txBox="true"/>
            <p:nvPr/>
          </p:nvSpPr>
          <p:spPr>
            <a:xfrm>
              <a:off x="0" y="-38100"/>
              <a:ext cx="10989729" cy="3773589"/>
            </a:xfrm>
            <a:prstGeom prst="rect">
              <a:avLst/>
            </a:prstGeom>
          </p:spPr>
          <p:txBody>
            <a:bodyPr anchor="t" rtlCol="false" tIns="50800" lIns="50800" bIns="50800" rIns="50800"/>
            <a:lstStyle/>
            <a:p>
              <a:pPr algn="l">
                <a:lnSpc>
                  <a:spcPts val="2484"/>
                </a:lnSpc>
              </a:pPr>
              <a:r>
                <a:rPr lang="en-US" sz="2070" b="true">
                  <a:solidFill>
                    <a:srgbClr val="0B5E6E"/>
                  </a:solidFill>
                  <a:latin typeface="Calibri (MS) Bold"/>
                  <a:ea typeface="Calibri (MS) Bold"/>
                  <a:cs typeface="Calibri (MS) Bold"/>
                  <a:sym typeface="Calibri (MS) Bold"/>
                </a:rPr>
                <a:t>Sensitivitas konstruksi terhadap TPK</a:t>
              </a:r>
            </a:p>
            <a:p>
              <a:pPr algn="l">
                <a:lnSpc>
                  <a:spcPts val="2206"/>
                </a:lnSpc>
              </a:pPr>
              <a:r>
                <a:rPr lang="en-US" sz="1839">
                  <a:solidFill>
                    <a:srgbClr val="14313B"/>
                  </a:solidFill>
                  <a:latin typeface="Calibri (MS)"/>
                  <a:ea typeface="Calibri (MS)"/>
                  <a:cs typeface="Calibri (MS)"/>
                  <a:sym typeface="Calibri (MS)"/>
                </a:rPr>
                <a:t>Konstruksi (dihitung balik) = ΔHotel + 0,05 × Hotel(t−1)</a:t>
              </a:r>
            </a:p>
            <a:p>
              <a:pPr algn="l">
                <a:lnSpc>
                  <a:spcPts val="2206"/>
                </a:lnSpc>
              </a:pPr>
              <a:r>
                <a:rPr lang="en-US" sz="1839">
                  <a:solidFill>
                    <a:srgbClr val="14313B"/>
                  </a:solidFill>
                  <a:latin typeface="Calibri (MS)"/>
                  <a:ea typeface="Calibri (MS)"/>
                  <a:cs typeface="Calibri (MS)"/>
                  <a:sym typeface="Calibri (MS)"/>
                </a:rPr>
                <a:t>Σ 2016–2025 = 1.126 + 806,5 = 1.932,5 unit</a:t>
              </a:r>
            </a:p>
            <a:p>
              <a:pPr algn="l">
                <a:lnSpc>
                  <a:spcPts val="2206"/>
                </a:lnSpc>
              </a:pPr>
              <a:r>
                <a:rPr lang="en-US" sz="1839">
                  <a:solidFill>
                    <a:srgbClr val="14313B"/>
                  </a:solidFill>
                  <a:latin typeface="Calibri (MS)"/>
                  <a:ea typeface="Calibri (MS)"/>
                  <a:cs typeface="Calibri (MS)"/>
                  <a:sym typeface="Calibri (MS)"/>
                </a:rPr>
                <a:t>Σ Investasi × MAX(0; TPK − 0,275) = 835,19</a:t>
              </a:r>
            </a:p>
            <a:p>
              <a:pPr algn="l">
                <a:lnSpc>
                  <a:spcPts val="2206"/>
                </a:lnSpc>
              </a:pPr>
              <a:r>
                <a:rPr lang="en-US" sz="1839">
                  <a:solidFill>
                    <a:srgbClr val="14313B"/>
                  </a:solidFill>
                  <a:latin typeface="Calibri (MS)"/>
                  <a:ea typeface="Calibri (MS)"/>
                  <a:cs typeface="Calibri (MS)"/>
                  <a:sym typeface="Calibri (MS)"/>
                </a:rPr>
                <a:t>S = 1.932,5 ÷ 835,19 = 2,31385</a:t>
              </a:r>
            </a:p>
          </p:txBody>
        </p:sp>
      </p:grpSp>
      <p:grpSp>
        <p:nvGrpSpPr>
          <p:cNvPr name="Group 76" id="76"/>
          <p:cNvGrpSpPr/>
          <p:nvPr/>
        </p:nvGrpSpPr>
        <p:grpSpPr>
          <a:xfrm rot="0">
            <a:off x="816607" y="5251447"/>
            <a:ext cx="8242297" cy="2801617"/>
            <a:chOff x="0" y="0"/>
            <a:chExt cx="10989729" cy="3735489"/>
          </a:xfrm>
        </p:grpSpPr>
        <p:sp>
          <p:nvSpPr>
            <p:cNvPr name="Freeform 77" id="77"/>
            <p:cNvSpPr/>
            <p:nvPr/>
          </p:nvSpPr>
          <p:spPr>
            <a:xfrm flipH="false" flipV="false" rot="0">
              <a:off x="0" y="0"/>
              <a:ext cx="10989691" cy="3735451"/>
            </a:xfrm>
            <a:custGeom>
              <a:avLst/>
              <a:gdLst/>
              <a:ahLst/>
              <a:cxnLst/>
              <a:rect r="r" b="b" t="t" l="l"/>
              <a:pathLst>
                <a:path h="3735451" w="10989691">
                  <a:moveTo>
                    <a:pt x="0" y="298831"/>
                  </a:moveTo>
                  <a:cubicBezTo>
                    <a:pt x="0" y="133858"/>
                    <a:pt x="133858" y="0"/>
                    <a:pt x="298831" y="0"/>
                  </a:cubicBezTo>
                  <a:lnTo>
                    <a:pt x="10690860" y="0"/>
                  </a:lnTo>
                  <a:cubicBezTo>
                    <a:pt x="10855960" y="0"/>
                    <a:pt x="10989691" y="133858"/>
                    <a:pt x="10989691" y="298831"/>
                  </a:cubicBezTo>
                  <a:lnTo>
                    <a:pt x="10989691" y="3436620"/>
                  </a:lnTo>
                  <a:cubicBezTo>
                    <a:pt x="10989691" y="3601720"/>
                    <a:pt x="10855833" y="3735451"/>
                    <a:pt x="10690860" y="3735451"/>
                  </a:cubicBezTo>
                  <a:lnTo>
                    <a:pt x="298831" y="3735451"/>
                  </a:lnTo>
                  <a:cubicBezTo>
                    <a:pt x="133858" y="3735451"/>
                    <a:pt x="0" y="3601720"/>
                    <a:pt x="0" y="3436620"/>
                  </a:cubicBezTo>
                  <a:close/>
                </a:path>
              </a:pathLst>
            </a:custGeom>
            <a:solidFill>
              <a:srgbClr val="EAF8FA"/>
            </a:solidFill>
            <a:ln w="12700" cap="sq">
              <a:solidFill>
                <a:srgbClr val="CFE5E9"/>
              </a:solidFill>
              <a:prstDash val="solid"/>
              <a:miter/>
            </a:ln>
          </p:spPr>
          <p:txBody>
            <a:bodyPr/>
            <a:p/>
          </p:txBody>
        </p:sp>
        <p:sp>
          <p:nvSpPr>
            <p:cNvPr name="TextBox 78" id="78"/>
            <p:cNvSpPr txBox="true"/>
            <p:nvPr/>
          </p:nvSpPr>
          <p:spPr>
            <a:xfrm>
              <a:off x="0" y="-38100"/>
              <a:ext cx="10989729" cy="3773589"/>
            </a:xfrm>
            <a:prstGeom prst="rect">
              <a:avLst/>
            </a:prstGeom>
          </p:spPr>
          <p:txBody>
            <a:bodyPr anchor="t" rtlCol="false" tIns="50800" lIns="50800" bIns="50800" rIns="50800"/>
            <a:lstStyle/>
            <a:p>
              <a:pPr algn="l">
                <a:lnSpc>
                  <a:spcPts val="2484"/>
                </a:lnSpc>
              </a:pPr>
              <a:r>
                <a:rPr lang="en-US" sz="2070" b="true">
                  <a:solidFill>
                    <a:srgbClr val="0B5E6E"/>
                  </a:solidFill>
                  <a:latin typeface="Calibri (MS) Bold"/>
                  <a:ea typeface="Calibri (MS) Bold"/>
                  <a:cs typeface="Calibri (MS) Bold"/>
                  <a:sym typeface="Calibri (MS) Bold"/>
                </a:rPr>
                <a:t>Laju penutupan ODTW (populasi stabil)</a:t>
              </a:r>
            </a:p>
            <a:p>
              <a:pPr algn="l">
                <a:lnSpc>
                  <a:spcPts val="2206"/>
                </a:lnSpc>
              </a:pPr>
              <a:r>
                <a:rPr lang="en-US" sz="1839">
                  <a:solidFill>
                    <a:srgbClr val="14313B"/>
                  </a:solidFill>
                  <a:latin typeface="Calibri (MS)"/>
                  <a:ea typeface="Calibri (MS)"/>
                  <a:cs typeface="Calibri (MS)"/>
                  <a:sym typeface="Calibri (MS)"/>
                </a:rPr>
                <a:t>Porsi umur &gt; T = e^(−(d+g)T); T = 5, 10, 20 tahun</a:t>
              </a:r>
            </a:p>
            <a:p>
              <a:pPr algn="l">
                <a:lnSpc>
                  <a:spcPts val="2206"/>
                </a:lnSpc>
              </a:pPr>
              <a:r>
                <a:rPr lang="en-US" sz="1839">
                  <a:solidFill>
                    <a:srgbClr val="14313B"/>
                  </a:solidFill>
                  <a:latin typeface="Calibri (MS)"/>
                  <a:ea typeface="Calibri (MS)"/>
                  <a:cs typeface="Calibri (MS)"/>
                  <a:sym typeface="Calibri (MS)"/>
                </a:rPr>
                <a:t>(d+g) = 0,0617; 0,0785; 0,0694 → rata-rata 0,0699</a:t>
              </a:r>
            </a:p>
            <a:p>
              <a:pPr algn="l">
                <a:lnSpc>
                  <a:spcPts val="2206"/>
                </a:lnSpc>
              </a:pPr>
              <a:r>
                <a:rPr lang="en-US" sz="1839">
                  <a:solidFill>
                    <a:srgbClr val="14313B"/>
                  </a:solidFill>
                  <a:latin typeface="Calibri (MS)"/>
                  <a:ea typeface="Calibri (MS)"/>
                  <a:cs typeface="Calibri (MS)"/>
                  <a:sym typeface="Calibri (MS)"/>
                </a:rPr>
                <a:t>g ODTW 2015–2025 = 0,0199</a:t>
              </a:r>
            </a:p>
            <a:p>
              <a:pPr algn="l">
                <a:lnSpc>
                  <a:spcPts val="2206"/>
                </a:lnSpc>
              </a:pPr>
              <a:r>
                <a:rPr lang="en-US" sz="1839">
                  <a:solidFill>
                    <a:srgbClr val="14313B"/>
                  </a:solidFill>
                  <a:latin typeface="Calibri (MS)"/>
                  <a:ea typeface="Calibri (MS)"/>
                  <a:cs typeface="Calibri (MS)"/>
                  <a:sym typeface="Calibri (MS)"/>
                </a:rPr>
                <a:t>d = 0,0699 − 0,0199 = 0,04993</a:t>
              </a:r>
            </a:p>
          </p:txBody>
        </p:sp>
      </p:grpSp>
      <p:grpSp>
        <p:nvGrpSpPr>
          <p:cNvPr name="Group 79" id="79"/>
          <p:cNvGrpSpPr/>
          <p:nvPr/>
        </p:nvGrpSpPr>
        <p:grpSpPr>
          <a:xfrm rot="0">
            <a:off x="9229087" y="5251447"/>
            <a:ext cx="8242297" cy="2801617"/>
            <a:chOff x="0" y="0"/>
            <a:chExt cx="10989729" cy="3735489"/>
          </a:xfrm>
        </p:grpSpPr>
        <p:sp>
          <p:nvSpPr>
            <p:cNvPr name="Freeform 80" id="80"/>
            <p:cNvSpPr/>
            <p:nvPr/>
          </p:nvSpPr>
          <p:spPr>
            <a:xfrm flipH="false" flipV="false" rot="0">
              <a:off x="0" y="0"/>
              <a:ext cx="10989691" cy="3735451"/>
            </a:xfrm>
            <a:custGeom>
              <a:avLst/>
              <a:gdLst/>
              <a:ahLst/>
              <a:cxnLst/>
              <a:rect r="r" b="b" t="t" l="l"/>
              <a:pathLst>
                <a:path h="3735451" w="10989691">
                  <a:moveTo>
                    <a:pt x="0" y="298831"/>
                  </a:moveTo>
                  <a:cubicBezTo>
                    <a:pt x="0" y="133858"/>
                    <a:pt x="133858" y="0"/>
                    <a:pt x="298831" y="0"/>
                  </a:cubicBezTo>
                  <a:lnTo>
                    <a:pt x="10690860" y="0"/>
                  </a:lnTo>
                  <a:cubicBezTo>
                    <a:pt x="10855960" y="0"/>
                    <a:pt x="10989691" y="133858"/>
                    <a:pt x="10989691" y="298831"/>
                  </a:cubicBezTo>
                  <a:lnTo>
                    <a:pt x="10989691" y="3436620"/>
                  </a:lnTo>
                  <a:cubicBezTo>
                    <a:pt x="10989691" y="3601720"/>
                    <a:pt x="10855833" y="3735451"/>
                    <a:pt x="10690860" y="3735451"/>
                  </a:cubicBezTo>
                  <a:lnTo>
                    <a:pt x="298831" y="3735451"/>
                  </a:lnTo>
                  <a:cubicBezTo>
                    <a:pt x="133858" y="3735451"/>
                    <a:pt x="0" y="3601720"/>
                    <a:pt x="0" y="3436620"/>
                  </a:cubicBezTo>
                  <a:close/>
                </a:path>
              </a:pathLst>
            </a:custGeom>
            <a:solidFill>
              <a:srgbClr val="EAF8FA"/>
            </a:solidFill>
            <a:ln w="12700" cap="sq">
              <a:solidFill>
                <a:srgbClr val="CFE5E9"/>
              </a:solidFill>
              <a:prstDash val="solid"/>
              <a:miter/>
            </a:ln>
          </p:spPr>
          <p:txBody>
            <a:bodyPr/>
            <a:p/>
          </p:txBody>
        </p:sp>
        <p:sp>
          <p:nvSpPr>
            <p:cNvPr name="TextBox 81" id="81"/>
            <p:cNvSpPr txBox="true"/>
            <p:nvPr/>
          </p:nvSpPr>
          <p:spPr>
            <a:xfrm>
              <a:off x="0" y="-38100"/>
              <a:ext cx="10989729" cy="3773589"/>
            </a:xfrm>
            <a:prstGeom prst="rect">
              <a:avLst/>
            </a:prstGeom>
          </p:spPr>
          <p:txBody>
            <a:bodyPr anchor="t" rtlCol="false" tIns="50800" lIns="50800" bIns="50800" rIns="50800"/>
            <a:lstStyle/>
            <a:p>
              <a:pPr algn="l">
                <a:lnSpc>
                  <a:spcPts val="2484"/>
                </a:lnSpc>
              </a:pPr>
              <a:r>
                <a:rPr lang="en-US" sz="2070" b="true">
                  <a:solidFill>
                    <a:srgbClr val="0B5E6E"/>
                  </a:solidFill>
                  <a:latin typeface="Calibri (MS) Bold"/>
                  <a:ea typeface="Calibri (MS) Bold"/>
                  <a:cs typeface="Calibri (MS) Bold"/>
                  <a:sym typeface="Calibri (MS) Bold"/>
                </a:rPr>
                <a:t>Laju konversi dasar (logistik)</a:t>
              </a:r>
            </a:p>
            <a:p>
              <a:pPr algn="l">
                <a:lnSpc>
                  <a:spcPts val="2206"/>
                </a:lnSpc>
              </a:pPr>
              <a:r>
                <a:rPr lang="en-US" sz="1839">
                  <a:solidFill>
                    <a:srgbClr val="14313B"/>
                  </a:solidFill>
                  <a:latin typeface="Calibri (MS)"/>
                  <a:ea typeface="Calibri (MS)"/>
                  <a:cs typeface="Calibri (MS)"/>
                  <a:sym typeface="Calibri (MS)"/>
                </a:rPr>
                <a:t>ln Lahanₜ = a + βt (DW 2016–2025): β = 0,0348</a:t>
              </a:r>
            </a:p>
            <a:p>
              <a:pPr algn="l">
                <a:lnSpc>
                  <a:spcPts val="2206"/>
                </a:lnSpc>
              </a:pPr>
              <a:r>
                <a:rPr lang="en-US" sz="1839">
                  <a:solidFill>
                    <a:srgbClr val="14313B"/>
                  </a:solidFill>
                  <a:latin typeface="Calibri (MS)"/>
                  <a:ea typeface="Calibri (MS)"/>
                  <a:cs typeface="Calibri (MS)"/>
                  <a:sym typeface="Calibri (MS)"/>
                </a:rPr>
                <a:t>k = (e^β − 1) ÷ rata-rata RDDL = (e^0,0348 − 1) ÷ 0,8121</a:t>
              </a:r>
            </a:p>
            <a:p>
              <a:pPr algn="l">
                <a:lnSpc>
                  <a:spcPts val="2206"/>
                </a:lnSpc>
              </a:pPr>
              <a:r>
                <a:rPr lang="en-US" sz="1839">
                  <a:solidFill>
                    <a:srgbClr val="14313B"/>
                  </a:solidFill>
                  <a:latin typeface="Calibri (MS)"/>
                  <a:ea typeface="Calibri (MS)"/>
                  <a:cs typeface="Calibri (MS)"/>
                  <a:sym typeface="Calibri (MS)"/>
                </a:rPr>
                <a:t>k = 0,0436052</a:t>
              </a:r>
            </a:p>
            <a:p>
              <a:pPr algn="l">
                <a:lnSpc>
                  <a:spcPts val="2206"/>
                </a:lnSpc>
              </a:pPr>
              <a:r>
                <a:rPr lang="en-US" sz="1839">
                  <a:solidFill>
                    <a:srgbClr val="14313B"/>
                  </a:solidFill>
                  <a:latin typeface="Calibri (MS)"/>
                  <a:ea typeface="Calibri (MS)"/>
                  <a:cs typeface="Calibri (MS)"/>
                  <a:sym typeface="Calibri (MS)"/>
                </a:rPr>
                <a:t>CI 95%: 0,0034118 – 0,0851069 (rentang kalibrasi)</a:t>
              </a:r>
            </a:p>
          </p:txBody>
        </p:sp>
      </p:grpSp>
      <p:grpSp>
        <p:nvGrpSpPr>
          <p:cNvPr name="Group 82" id="82"/>
          <p:cNvGrpSpPr/>
          <p:nvPr/>
        </p:nvGrpSpPr>
        <p:grpSpPr>
          <a:xfrm rot="0">
            <a:off x="816607" y="8360407"/>
            <a:ext cx="16654777" cy="881377"/>
            <a:chOff x="0" y="0"/>
            <a:chExt cx="22206369" cy="1175169"/>
          </a:xfrm>
        </p:grpSpPr>
        <p:sp>
          <p:nvSpPr>
            <p:cNvPr name="Freeform 83" id="83"/>
            <p:cNvSpPr/>
            <p:nvPr/>
          </p:nvSpPr>
          <p:spPr>
            <a:xfrm flipH="false" flipV="false" rot="0">
              <a:off x="0" y="0"/>
              <a:ext cx="22206331" cy="1175131"/>
            </a:xfrm>
            <a:custGeom>
              <a:avLst/>
              <a:gdLst/>
              <a:ahLst/>
              <a:cxnLst/>
              <a:rect r="r" b="b" t="t" l="l"/>
              <a:pathLst>
                <a:path h="1175131" w="22206331">
                  <a:moveTo>
                    <a:pt x="0" y="93980"/>
                  </a:moveTo>
                  <a:cubicBezTo>
                    <a:pt x="0" y="42037"/>
                    <a:pt x="42037" y="0"/>
                    <a:pt x="93980" y="0"/>
                  </a:cubicBezTo>
                  <a:lnTo>
                    <a:pt x="22112351" y="0"/>
                  </a:lnTo>
                  <a:cubicBezTo>
                    <a:pt x="22164294" y="0"/>
                    <a:pt x="22206331" y="42037"/>
                    <a:pt x="22206331" y="93980"/>
                  </a:cubicBezTo>
                  <a:lnTo>
                    <a:pt x="22206331" y="1081151"/>
                  </a:lnTo>
                  <a:cubicBezTo>
                    <a:pt x="22206331" y="1133094"/>
                    <a:pt x="22164294" y="1175131"/>
                    <a:pt x="22112351" y="1175131"/>
                  </a:cubicBezTo>
                  <a:lnTo>
                    <a:pt x="93980" y="1175131"/>
                  </a:lnTo>
                  <a:cubicBezTo>
                    <a:pt x="42037" y="1175131"/>
                    <a:pt x="0" y="1133094"/>
                    <a:pt x="0" y="1081151"/>
                  </a:cubicBezTo>
                  <a:close/>
                </a:path>
              </a:pathLst>
            </a:custGeom>
            <a:solidFill>
              <a:srgbClr val="FFF1BF"/>
            </a:solidFill>
            <a:ln w="12700" cap="sq">
              <a:solidFill>
                <a:srgbClr val="FFD23B"/>
              </a:solidFill>
              <a:prstDash val="solid"/>
              <a:miter/>
            </a:ln>
          </p:spPr>
          <p:txBody>
            <a:bodyPr/>
            <a:p/>
          </p:txBody>
        </p:sp>
        <p:sp>
          <p:nvSpPr>
            <p:cNvPr name="TextBox 84" id="84"/>
            <p:cNvSpPr txBox="true"/>
            <p:nvPr/>
          </p:nvSpPr>
          <p:spPr>
            <a:xfrm>
              <a:off x="0" y="-38100"/>
              <a:ext cx="22206369" cy="121326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LPE diperoleh dari koreksi Tahap 0 (sebelumnya 0,26864 karena menganggap Daya Tarik 2024 = 1); rasio 0,75 adalah asumsi model yang diuji pada analisis sensitivitas.</a:t>
              </a:r>
            </a:p>
          </p:txBody>
        </p:sp>
      </p:grpSp>
      <p:grpSp>
        <p:nvGrpSpPr>
          <p:cNvPr name="Group 85" id="85"/>
          <p:cNvGrpSpPr/>
          <p:nvPr/>
        </p:nvGrpSpPr>
        <p:grpSpPr>
          <a:xfrm rot="0">
            <a:off x="16047720" y="9646920"/>
            <a:ext cx="420624" cy="420624"/>
            <a:chOff x="0" y="0"/>
            <a:chExt cx="560832" cy="560832"/>
          </a:xfrm>
        </p:grpSpPr>
        <p:sp>
          <p:nvSpPr>
            <p:cNvPr name="Freeform 86" id="86"/>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87" id="87"/>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3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Parameter Asumsi Pemodelan</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Asumsi peneliti disampaikan terbuka beserta dasar dan cara mengujinya</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aphicFrame>
        <p:nvGraphicFramePr>
          <p:cNvPr name="Table 66" id="66"/>
          <p:cNvGraphicFramePr>
            <a:graphicFrameLocks noGrp="true"/>
          </p:cNvGraphicFramePr>
          <p:nvPr/>
        </p:nvGraphicFramePr>
        <p:xfrm>
          <a:off x="822960" y="2331720"/>
          <a:ext cx="16560800" cy="6781800"/>
        </p:xfrm>
        <a:graphic>
          <a:graphicData uri="http://schemas.openxmlformats.org/drawingml/2006/table">
            <a:tbl>
              <a:tblPr/>
              <a:tblGrid>
                <a:gridCol w="3962173"/>
                <a:gridCol w="2752937"/>
                <a:gridCol w="5238590"/>
                <a:gridCol w="4607100"/>
              </a:tblGrid>
              <a:tr h="633722">
                <a:tc>
                  <a:txBody>
                    <a:bodyPr anchor="t" rtlCol="false"/>
                    <a:lstStyle/>
                    <a:p>
                      <a:pPr algn="l">
                        <a:lnSpc>
                          <a:spcPts val="2250"/>
                        </a:lnSpc>
                        <a:defRPr/>
                      </a:pPr>
                      <a:r>
                        <a:rPr lang="en-US" sz="1875" b="true">
                          <a:solidFill>
                            <a:srgbClr val="FFFFFF"/>
                          </a:solidFill>
                          <a:latin typeface="Calibri (MS) Bold"/>
                          <a:ea typeface="Calibri (MS) Bold"/>
                          <a:cs typeface="Calibri (MS) Bold"/>
                          <a:sym typeface="Calibri (MS) Bold"/>
                        </a:rPr>
                        <a:t>Asumsi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2250"/>
                        </a:lnSpc>
                        <a:defRPr/>
                      </a:pPr>
                      <a:r>
                        <a:rPr lang="en-US" sz="1875" b="true">
                          <a:solidFill>
                            <a:srgbClr val="FFFFFF"/>
                          </a:solidFill>
                          <a:latin typeface="Calibri (MS) Bold"/>
                          <a:ea typeface="Calibri (MS) Bold"/>
                          <a:cs typeface="Calibri (MS) Bold"/>
                          <a:sym typeface="Calibri (MS) Bold"/>
                        </a:rPr>
                        <a:t>Nilai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2250"/>
                        </a:lnSpc>
                        <a:defRPr/>
                      </a:pPr>
                      <a:r>
                        <a:rPr lang="en-US" sz="1875" b="true">
                          <a:solidFill>
                            <a:srgbClr val="FFFFFF"/>
                          </a:solidFill>
                          <a:latin typeface="Calibri (MS) Bold"/>
                          <a:ea typeface="Calibri (MS) Bold"/>
                          <a:cs typeface="Calibri (MS) Bold"/>
                          <a:sym typeface="Calibri (MS) Bold"/>
                        </a:rPr>
                        <a:t>Dasar penetapan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2250"/>
                        </a:lnSpc>
                        <a:defRPr/>
                      </a:pPr>
                      <a:r>
                        <a:rPr lang="en-US" sz="1875" b="true">
                          <a:solidFill>
                            <a:srgbClr val="FFFFFF"/>
                          </a:solidFill>
                          <a:latin typeface="Calibri (MS) Bold"/>
                          <a:ea typeface="Calibri (MS) Bold"/>
                          <a:cs typeface="Calibri (MS) Bold"/>
                          <a:sym typeface="Calibri (MS) Bold"/>
                        </a:rPr>
                        <a:t>Diuji melalui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r>
              <a:tr h="1178901">
                <a:tc>
                  <a:txBody>
                    <a:bodyPr anchor="t" rtlCol="false"/>
                    <a:lstStyle/>
                    <a:p>
                      <a:pPr algn="l">
                        <a:lnSpc>
                          <a:spcPts val="2160"/>
                        </a:lnSpc>
                        <a:defRPr/>
                      </a:pPr>
                      <a:r>
                        <a:rPr lang="en-US" sz="1800" b="true">
                          <a:solidFill>
                            <a:srgbClr val="0B5E6E"/>
                          </a:solidFill>
                          <a:latin typeface="Calibri (MS) Bold"/>
                          <a:ea typeface="Calibri (MS) Bold"/>
                          <a:cs typeface="Calibri (MS) Bold"/>
                          <a:sym typeface="Calibri (MS) Bold"/>
                        </a:rPr>
                        <a:t>Rasio laju penurunan / laju pertumbuhan (LPD/LPE)</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0,75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Asumsi model; data hanya bisa menentukan selisih bersih LPE dan LPD</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Sensitivitas (rentang 0,60–0,90) dan kalibrasi diagnostik Tahap 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1305687">
                <a:tc>
                  <a:txBody>
                    <a:bodyPr anchor="t" rtlCol="false"/>
                    <a:lstStyle/>
                    <a:p>
                      <a:pPr algn="l">
                        <a:lnSpc>
                          <a:spcPts val="2160"/>
                        </a:lnSpc>
                        <a:defRPr/>
                      </a:pPr>
                      <a:r>
                        <a:rPr lang="en-US" sz="1800" b="true">
                          <a:solidFill>
                            <a:srgbClr val="0B5E6E"/>
                          </a:solidFill>
                          <a:latin typeface="Calibri (MS) Bold"/>
                          <a:ea typeface="Calibri (MS) Bold"/>
                          <a:cs typeface="Calibri (MS) Bold"/>
                          <a:sym typeface="Calibri (MS) Bold"/>
                        </a:rPr>
                        <a:t>Bobot daya tarik (ODTW / kepadatan / daya dukung lahan)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0,40 / 0,35 / 0,25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Asumsi peneliti, tanpa panel ahli, survei, atau AHP; syarat kestabilan terpenuhi (0,35 &gt; 0,25)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Sensitivitas ±10% (jumlah bobot dijaga = 1) dan 2 kombinasi alternatif</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1305687">
                <a:tc>
                  <a:txBody>
                    <a:bodyPr anchor="t" rtlCol="false"/>
                    <a:lstStyle/>
                    <a:p>
                      <a:pPr algn="l">
                        <a:lnSpc>
                          <a:spcPts val="2160"/>
                        </a:lnSpc>
                        <a:defRPr/>
                      </a:pPr>
                      <a:r>
                        <a:rPr lang="en-US" sz="1800" b="true">
                          <a:solidFill>
                            <a:srgbClr val="0B5E6E"/>
                          </a:solidFill>
                          <a:latin typeface="Calibri (MS) Bold"/>
                          <a:ea typeface="Calibri (MS) Bold"/>
                          <a:cs typeface="Calibri (MS) Bold"/>
                          <a:sym typeface="Calibri (MS) Bold"/>
                        </a:rPr>
                        <a:t>Laju demolisi dasar</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0,05 (umur ± 20 tahun)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Dibandingkan dari Permen PU 45/PRT/M/2007, UU 36/2008 Pasal 11(6), dan laju penutupan ODTW</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Kalibrasi Tahap 1 (0,02–0,08): tidak ada perbaikan yang bertahan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1305687">
                <a:tc>
                  <a:txBody>
                    <a:bodyPr anchor="t" rtlCol="false"/>
                    <a:lstStyle/>
                    <a:p>
                      <a:pPr algn="l">
                        <a:lnSpc>
                          <a:spcPts val="2160"/>
                        </a:lnSpc>
                        <a:defRPr/>
                      </a:pPr>
                      <a:r>
                        <a:rPr lang="en-US" sz="1800" b="true">
                          <a:solidFill>
                            <a:srgbClr val="0B5E6E"/>
                          </a:solidFill>
                          <a:latin typeface="Calibri (MS) Bold"/>
                          <a:ea typeface="Calibri (MS) Bold"/>
                          <a:cs typeface="Calibri (MS) Bold"/>
                          <a:sym typeface="Calibri (MS) Bold"/>
                        </a:rPr>
                        <a:t>Nilai variabel kebijakan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Insentif 0,1 dan 0,3; konservasi 1,0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Ditentukan peneliti (tidak ada dokumen yang memuat angkanya); dasar peraturan Perda 1/2012 dan 6/2021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Robustness peringkat skenario pada 7 kondisi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1052115">
                <a:tc>
                  <a:txBody>
                    <a:bodyPr anchor="t" rtlCol="false"/>
                    <a:lstStyle/>
                    <a:p>
                      <a:pPr algn="l">
                        <a:lnSpc>
                          <a:spcPts val="2160"/>
                        </a:lnSpc>
                        <a:defRPr/>
                      </a:pPr>
                      <a:r>
                        <a:rPr lang="en-US" sz="1800" b="true">
                          <a:solidFill>
                            <a:srgbClr val="0B5E6E"/>
                          </a:solidFill>
                          <a:latin typeface="Calibri (MS) Bold"/>
                          <a:ea typeface="Calibri (MS) Bold"/>
                          <a:cs typeface="Calibri (MS) Bold"/>
                          <a:sym typeface="Calibri (MS) Bold"/>
                        </a:rPr>
                        <a:t>Batas indeks kepadatan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2,0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Dua kali kepadatan tahun dasar; tidak ada dasar empiris baku untuk DIY</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Dibaca sebagai tanda peringatan, bukan standar resmi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bl>
          </a:graphicData>
        </a:graphic>
      </p:graphicFrame>
      <p:sp>
        <p:nvSpPr>
          <p:cNvPr name="TextBox 67" id="67"/>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39</a:t>
            </a:r>
          </a:p>
        </p:txBody>
      </p:sp>
      <p:grpSp>
        <p:nvGrpSpPr>
          <p:cNvPr name="Group 68" id="68"/>
          <p:cNvGrpSpPr/>
          <p:nvPr/>
        </p:nvGrpSpPr>
        <p:grpSpPr>
          <a:xfrm rot="0">
            <a:off x="12755880" y="274320"/>
            <a:ext cx="3931920" cy="411480"/>
            <a:chOff x="0" y="0"/>
            <a:chExt cx="5242560" cy="548640"/>
          </a:xfrm>
        </p:grpSpPr>
        <p:sp>
          <p:nvSpPr>
            <p:cNvPr name="Freeform 69" id="69"/>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70" id="70"/>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2C · Parameterisasi</a:t>
              </a:r>
            </a:p>
          </p:txBody>
        </p:sp>
      </p:grpSp>
      <p:grpSp>
        <p:nvGrpSpPr>
          <p:cNvPr name="Group 71" id="71"/>
          <p:cNvGrpSpPr/>
          <p:nvPr/>
        </p:nvGrpSpPr>
        <p:grpSpPr>
          <a:xfrm rot="0">
            <a:off x="16047720" y="9646920"/>
            <a:ext cx="420624" cy="420624"/>
            <a:chOff x="0" y="0"/>
            <a:chExt cx="560832" cy="560832"/>
          </a:xfrm>
        </p:grpSpPr>
        <p:sp>
          <p:nvSpPr>
            <p:cNvPr name="Freeform 72" id="72"/>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73" id="73"/>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4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0010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Rancangan Uji Struktur</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Struktur model diperiksa dulu sebelum dibandingkan dengan data</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40</a:t>
            </a:r>
          </a:p>
        </p:txBody>
      </p:sp>
      <p:sp>
        <p:nvSpPr>
          <p:cNvPr name="Freeform 67" id="67"/>
          <p:cNvSpPr/>
          <p:nvPr/>
        </p:nvSpPr>
        <p:spPr>
          <a:xfrm flipH="false" flipV="false" rot="0">
            <a:off x="806291" y="2223611"/>
            <a:ext cx="4056697" cy="3448622"/>
          </a:xfrm>
          <a:custGeom>
            <a:avLst/>
            <a:gdLst/>
            <a:ahLst/>
            <a:cxnLst/>
            <a:rect r="r" b="b" t="t" l="l"/>
            <a:pathLst>
              <a:path h="3448622" w="4056697">
                <a:moveTo>
                  <a:pt x="0" y="0"/>
                </a:moveTo>
                <a:lnTo>
                  <a:pt x="4056698" y="0"/>
                </a:lnTo>
                <a:lnTo>
                  <a:pt x="4056698" y="3448622"/>
                </a:lnTo>
                <a:lnTo>
                  <a:pt x="0" y="344862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68" id="68"/>
          <p:cNvGrpSpPr/>
          <p:nvPr/>
        </p:nvGrpSpPr>
        <p:grpSpPr>
          <a:xfrm rot="0">
            <a:off x="1051560" y="2468880"/>
            <a:ext cx="530352" cy="530352"/>
            <a:chOff x="0" y="0"/>
            <a:chExt cx="707136" cy="707136"/>
          </a:xfrm>
        </p:grpSpPr>
        <p:sp>
          <p:nvSpPr>
            <p:cNvPr name="Freeform 69" id="69"/>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70" id="70"/>
          <p:cNvGrpSpPr/>
          <p:nvPr/>
        </p:nvGrpSpPr>
        <p:grpSpPr>
          <a:xfrm rot="0">
            <a:off x="1051560" y="2447449"/>
            <a:ext cx="530352" cy="551783"/>
            <a:chOff x="0" y="0"/>
            <a:chExt cx="707136" cy="735711"/>
          </a:xfrm>
        </p:grpSpPr>
        <p:sp>
          <p:nvSpPr>
            <p:cNvPr name="Freeform 71" id="71"/>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72" id="72"/>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1</a:t>
              </a:r>
            </a:p>
          </p:txBody>
        </p:sp>
      </p:grpSp>
      <p:sp>
        <p:nvSpPr>
          <p:cNvPr name="TextBox 73" id="73"/>
          <p:cNvSpPr txBox="true"/>
          <p:nvPr/>
        </p:nvSpPr>
        <p:spPr>
          <a:xfrm rot="0">
            <a:off x="1719072" y="2353818"/>
            <a:ext cx="2971800" cy="802691"/>
          </a:xfrm>
          <a:prstGeom prst="rect">
            <a:avLst/>
          </a:prstGeom>
        </p:spPr>
        <p:txBody>
          <a:bodyPr anchor="t" rtlCol="false" tIns="0" lIns="0" bIns="0" rIns="0">
            <a:spAutoFit/>
          </a:bodyPr>
          <a:lstStyle/>
          <a:p>
            <a:pPr algn="l">
              <a:lnSpc>
                <a:spcPts val="2419"/>
              </a:lnSpc>
            </a:pPr>
            <a:r>
              <a:rPr lang="en-US" sz="1800" b="true">
                <a:solidFill>
                  <a:srgbClr val="0B5E6E"/>
                </a:solidFill>
                <a:latin typeface="Calibri (MS) Bold"/>
                <a:ea typeface="Calibri (MS) Bold"/>
                <a:cs typeface="Calibri (MS) Bold"/>
                <a:sym typeface="Calibri (MS) Bold"/>
              </a:rPr>
              <a:t>Kesesuaian struktur dan parameter</a:t>
            </a:r>
          </a:p>
        </p:txBody>
      </p:sp>
      <p:sp>
        <p:nvSpPr>
          <p:cNvPr name="TextBox 74" id="74"/>
          <p:cNvSpPr txBox="true"/>
          <p:nvPr/>
        </p:nvSpPr>
        <p:spPr>
          <a:xfrm rot="0">
            <a:off x="1051560" y="3180893"/>
            <a:ext cx="3566160" cy="1718462"/>
          </a:xfrm>
          <a:prstGeom prst="rect">
            <a:avLst/>
          </a:prstGeom>
        </p:spPr>
        <p:txBody>
          <a:bodyPr anchor="t" rtlCol="false" tIns="0" lIns="0" bIns="0" rIns="0">
            <a:spAutoFit/>
          </a:bodyPr>
          <a:lstStyle/>
          <a:p>
            <a:pPr algn="l">
              <a:lnSpc>
                <a:spcPts val="2083"/>
              </a:lnSpc>
            </a:pPr>
            <a:r>
              <a:rPr lang="en-US" sz="1550">
                <a:solidFill>
                  <a:srgbClr val="14313B"/>
                </a:solidFill>
                <a:latin typeface="Calibri (MS)"/>
                <a:ea typeface="Calibri (MS)"/>
                <a:cs typeface="Calibri (MS)"/>
                <a:sym typeface="Calibri (MS)"/>
              </a:rPr>
              <a:t>Setiap hubungan kausal dicek dengan kriteria evaluasi CLD; setiap parameter harus jelas sumbernya (data resmi, persamaan stok-aliran, regulasi, asumsi, normalisasi/kebijakan).</a:t>
            </a:r>
          </a:p>
        </p:txBody>
      </p:sp>
      <p:sp>
        <p:nvSpPr>
          <p:cNvPr name="Freeform 75" id="75"/>
          <p:cNvSpPr/>
          <p:nvPr/>
        </p:nvSpPr>
        <p:spPr>
          <a:xfrm flipH="false" flipV="false" rot="0">
            <a:off x="5012531" y="2223611"/>
            <a:ext cx="4056697" cy="3448622"/>
          </a:xfrm>
          <a:custGeom>
            <a:avLst/>
            <a:gdLst/>
            <a:ahLst/>
            <a:cxnLst/>
            <a:rect r="r" b="b" t="t" l="l"/>
            <a:pathLst>
              <a:path h="3448622" w="4056697">
                <a:moveTo>
                  <a:pt x="0" y="0"/>
                </a:moveTo>
                <a:lnTo>
                  <a:pt x="4056698" y="0"/>
                </a:lnTo>
                <a:lnTo>
                  <a:pt x="4056698" y="3448622"/>
                </a:lnTo>
                <a:lnTo>
                  <a:pt x="0" y="344862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76" id="76"/>
          <p:cNvGrpSpPr/>
          <p:nvPr/>
        </p:nvGrpSpPr>
        <p:grpSpPr>
          <a:xfrm rot="0">
            <a:off x="5257800" y="2468880"/>
            <a:ext cx="530352" cy="530352"/>
            <a:chOff x="0" y="0"/>
            <a:chExt cx="707136" cy="707136"/>
          </a:xfrm>
        </p:grpSpPr>
        <p:sp>
          <p:nvSpPr>
            <p:cNvPr name="Freeform 77" id="77"/>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78" id="78"/>
          <p:cNvGrpSpPr/>
          <p:nvPr/>
        </p:nvGrpSpPr>
        <p:grpSpPr>
          <a:xfrm rot="0">
            <a:off x="5257800" y="2447449"/>
            <a:ext cx="530352" cy="551783"/>
            <a:chOff x="0" y="0"/>
            <a:chExt cx="707136" cy="735711"/>
          </a:xfrm>
        </p:grpSpPr>
        <p:sp>
          <p:nvSpPr>
            <p:cNvPr name="Freeform 79" id="79"/>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80" id="80"/>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2</a:t>
              </a:r>
            </a:p>
          </p:txBody>
        </p:sp>
      </p:grpSp>
      <p:sp>
        <p:nvSpPr>
          <p:cNvPr name="TextBox 81" id="81"/>
          <p:cNvSpPr txBox="true"/>
          <p:nvPr/>
        </p:nvSpPr>
        <p:spPr>
          <a:xfrm rot="0">
            <a:off x="5925312" y="2353818"/>
            <a:ext cx="2971800" cy="495452"/>
          </a:xfrm>
          <a:prstGeom prst="rect">
            <a:avLst/>
          </a:prstGeom>
        </p:spPr>
        <p:txBody>
          <a:bodyPr anchor="t" rtlCol="false" tIns="0" lIns="0" bIns="0" rIns="0">
            <a:spAutoFit/>
          </a:bodyPr>
          <a:lstStyle/>
          <a:p>
            <a:pPr algn="l">
              <a:lnSpc>
                <a:spcPts val="2419"/>
              </a:lnSpc>
            </a:pPr>
            <a:r>
              <a:rPr lang="en-US" sz="1800" b="true">
                <a:solidFill>
                  <a:srgbClr val="0B5E6E"/>
                </a:solidFill>
                <a:latin typeface="Calibri (MS) Bold"/>
                <a:ea typeface="Calibri (MS) Bold"/>
                <a:cs typeface="Calibri (MS) Bold"/>
                <a:sym typeface="Calibri (MS) Bold"/>
              </a:rPr>
              <a:t>Konsistensi satuan</a:t>
            </a:r>
          </a:p>
        </p:txBody>
      </p:sp>
      <p:sp>
        <p:nvSpPr>
          <p:cNvPr name="TextBox 82" id="82"/>
          <p:cNvSpPr txBox="true"/>
          <p:nvPr/>
        </p:nvSpPr>
        <p:spPr>
          <a:xfrm rot="0">
            <a:off x="5257800" y="3060192"/>
            <a:ext cx="3566160" cy="660197"/>
          </a:xfrm>
          <a:prstGeom prst="rect">
            <a:avLst/>
          </a:prstGeom>
        </p:spPr>
        <p:txBody>
          <a:bodyPr anchor="t" rtlCol="false" tIns="0" lIns="0" bIns="0" rIns="0">
            <a:spAutoFit/>
          </a:bodyPr>
          <a:lstStyle/>
          <a:p>
            <a:pPr algn="l">
              <a:lnSpc>
                <a:spcPts val="2083"/>
              </a:lnSpc>
            </a:pPr>
            <a:r>
              <a:rPr lang="en-US" sz="1550">
                <a:solidFill>
                  <a:srgbClr val="14313B"/>
                </a:solidFill>
                <a:latin typeface="Calibri (MS)"/>
                <a:ea typeface="Calibri (MS)"/>
                <a:cs typeface="Calibri (MS)"/>
                <a:sym typeface="Calibri (MS)"/>
              </a:rPr>
              <a:t>Units Check dan Check Model pada Vensim untuk setiap persamaan.</a:t>
            </a:r>
          </a:p>
        </p:txBody>
      </p:sp>
      <p:sp>
        <p:nvSpPr>
          <p:cNvPr name="TextBox 83" id="83"/>
          <p:cNvSpPr txBox="true"/>
          <p:nvPr/>
        </p:nvSpPr>
        <p:spPr>
          <a:xfrm rot="0">
            <a:off x="5257800" y="3698291"/>
            <a:ext cx="3566160" cy="628040"/>
          </a:xfrm>
          <a:prstGeom prst="rect">
            <a:avLst/>
          </a:prstGeom>
        </p:spPr>
        <p:txBody>
          <a:bodyPr anchor="t" rtlCol="false" tIns="0" lIns="0" bIns="0" rIns="0">
            <a:spAutoFit/>
          </a:bodyPr>
          <a:lstStyle/>
          <a:p>
            <a:pPr algn="l">
              <a:lnSpc>
                <a:spcPts val="1881"/>
              </a:lnSpc>
            </a:pPr>
            <a:r>
              <a:rPr lang="en-US" sz="1400" b="true">
                <a:solidFill>
                  <a:srgbClr val="0B5E6E"/>
                </a:solidFill>
                <a:latin typeface="Calibri (MS) Bold"/>
                <a:ea typeface="Calibri (MS) Bold"/>
                <a:cs typeface="Calibri (MS) Bold"/>
                <a:sym typeface="Calibri (MS) Bold"/>
              </a:rPr>
              <a:t>Kriteria: tidak ada ketidaksesuaian satuan</a:t>
            </a:r>
          </a:p>
        </p:txBody>
      </p:sp>
      <p:sp>
        <p:nvSpPr>
          <p:cNvPr name="Freeform 84" id="84"/>
          <p:cNvSpPr/>
          <p:nvPr/>
        </p:nvSpPr>
        <p:spPr>
          <a:xfrm flipH="false" flipV="false" rot="0">
            <a:off x="9218771" y="2223611"/>
            <a:ext cx="4056697" cy="3448622"/>
          </a:xfrm>
          <a:custGeom>
            <a:avLst/>
            <a:gdLst/>
            <a:ahLst/>
            <a:cxnLst/>
            <a:rect r="r" b="b" t="t" l="l"/>
            <a:pathLst>
              <a:path h="3448622" w="4056697">
                <a:moveTo>
                  <a:pt x="0" y="0"/>
                </a:moveTo>
                <a:lnTo>
                  <a:pt x="4056698" y="0"/>
                </a:lnTo>
                <a:lnTo>
                  <a:pt x="4056698" y="3448622"/>
                </a:lnTo>
                <a:lnTo>
                  <a:pt x="0" y="344862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85" id="85"/>
          <p:cNvGrpSpPr/>
          <p:nvPr/>
        </p:nvGrpSpPr>
        <p:grpSpPr>
          <a:xfrm rot="0">
            <a:off x="9464040" y="2468880"/>
            <a:ext cx="530352" cy="530352"/>
            <a:chOff x="0" y="0"/>
            <a:chExt cx="707136" cy="707136"/>
          </a:xfrm>
        </p:grpSpPr>
        <p:sp>
          <p:nvSpPr>
            <p:cNvPr name="Freeform 86" id="86"/>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87" id="87"/>
          <p:cNvGrpSpPr/>
          <p:nvPr/>
        </p:nvGrpSpPr>
        <p:grpSpPr>
          <a:xfrm rot="0">
            <a:off x="9464040" y="2447449"/>
            <a:ext cx="530352" cy="551783"/>
            <a:chOff x="0" y="0"/>
            <a:chExt cx="707136" cy="735711"/>
          </a:xfrm>
        </p:grpSpPr>
        <p:sp>
          <p:nvSpPr>
            <p:cNvPr name="Freeform 88" id="88"/>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89" id="89"/>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3</a:t>
              </a:r>
            </a:p>
          </p:txBody>
        </p:sp>
      </p:grpSp>
      <p:sp>
        <p:nvSpPr>
          <p:cNvPr name="TextBox 90" id="90"/>
          <p:cNvSpPr txBox="true"/>
          <p:nvPr/>
        </p:nvSpPr>
        <p:spPr>
          <a:xfrm rot="0">
            <a:off x="10131552" y="2353818"/>
            <a:ext cx="2971800" cy="495452"/>
          </a:xfrm>
          <a:prstGeom prst="rect">
            <a:avLst/>
          </a:prstGeom>
        </p:spPr>
        <p:txBody>
          <a:bodyPr anchor="t" rtlCol="false" tIns="0" lIns="0" bIns="0" rIns="0">
            <a:spAutoFit/>
          </a:bodyPr>
          <a:lstStyle/>
          <a:p>
            <a:pPr algn="l">
              <a:lnSpc>
                <a:spcPts val="2419"/>
              </a:lnSpc>
            </a:pPr>
            <a:r>
              <a:rPr lang="en-US" sz="1800" b="true">
                <a:solidFill>
                  <a:srgbClr val="0B5E6E"/>
                </a:solidFill>
                <a:latin typeface="Calibri (MS) Bold"/>
                <a:ea typeface="Calibri (MS) Bold"/>
                <a:cs typeface="Calibri (MS) Bold"/>
                <a:sym typeface="Calibri (MS) Bold"/>
              </a:rPr>
              <a:t>Kecukupan batas model</a:t>
            </a:r>
          </a:p>
        </p:txBody>
      </p:sp>
      <p:sp>
        <p:nvSpPr>
          <p:cNvPr name="TextBox 91" id="91"/>
          <p:cNvSpPr txBox="true"/>
          <p:nvPr/>
        </p:nvSpPr>
        <p:spPr>
          <a:xfrm rot="0">
            <a:off x="9464040" y="3060192"/>
            <a:ext cx="3566160" cy="1453896"/>
          </a:xfrm>
          <a:prstGeom prst="rect">
            <a:avLst/>
          </a:prstGeom>
        </p:spPr>
        <p:txBody>
          <a:bodyPr anchor="t" rtlCol="false" tIns="0" lIns="0" bIns="0" rIns="0">
            <a:spAutoFit/>
          </a:bodyPr>
          <a:lstStyle/>
          <a:p>
            <a:pPr algn="l">
              <a:lnSpc>
                <a:spcPts val="2083"/>
              </a:lnSpc>
            </a:pPr>
            <a:r>
              <a:rPr lang="en-US" sz="1550">
                <a:solidFill>
                  <a:srgbClr val="14313B"/>
                </a:solidFill>
                <a:latin typeface="Calibri (MS)"/>
                <a:ea typeface="Calibri (MS)"/>
                <a:cs typeface="Calibri (MS)"/>
                <a:sym typeface="Calibri (MS)"/>
              </a:rPr>
              <a:t>Model boundary chart (Sterman, 2000): 26 variabel dihitung model, 35 input, dan aspek yang dikeluarkan beserta dampaknya → menentukan batas penafsiran hasil.</a:t>
            </a:r>
          </a:p>
        </p:txBody>
      </p:sp>
      <p:sp>
        <p:nvSpPr>
          <p:cNvPr name="Freeform 92" id="92"/>
          <p:cNvSpPr/>
          <p:nvPr/>
        </p:nvSpPr>
        <p:spPr>
          <a:xfrm flipH="false" flipV="false" rot="0">
            <a:off x="13425011" y="2223611"/>
            <a:ext cx="4056697" cy="3448622"/>
          </a:xfrm>
          <a:custGeom>
            <a:avLst/>
            <a:gdLst/>
            <a:ahLst/>
            <a:cxnLst/>
            <a:rect r="r" b="b" t="t" l="l"/>
            <a:pathLst>
              <a:path h="3448622" w="4056697">
                <a:moveTo>
                  <a:pt x="0" y="0"/>
                </a:moveTo>
                <a:lnTo>
                  <a:pt x="4056698" y="0"/>
                </a:lnTo>
                <a:lnTo>
                  <a:pt x="4056698" y="3448622"/>
                </a:lnTo>
                <a:lnTo>
                  <a:pt x="0" y="344862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93" id="93"/>
          <p:cNvGrpSpPr/>
          <p:nvPr/>
        </p:nvGrpSpPr>
        <p:grpSpPr>
          <a:xfrm rot="0">
            <a:off x="13670280" y="2468880"/>
            <a:ext cx="530352" cy="530352"/>
            <a:chOff x="0" y="0"/>
            <a:chExt cx="707136" cy="707136"/>
          </a:xfrm>
        </p:grpSpPr>
        <p:sp>
          <p:nvSpPr>
            <p:cNvPr name="Freeform 94" id="94"/>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95" id="95"/>
          <p:cNvGrpSpPr/>
          <p:nvPr/>
        </p:nvGrpSpPr>
        <p:grpSpPr>
          <a:xfrm rot="0">
            <a:off x="13670280" y="2447449"/>
            <a:ext cx="530352" cy="551783"/>
            <a:chOff x="0" y="0"/>
            <a:chExt cx="707136" cy="735711"/>
          </a:xfrm>
        </p:grpSpPr>
        <p:sp>
          <p:nvSpPr>
            <p:cNvPr name="Freeform 96" id="96"/>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97" id="97"/>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4</a:t>
              </a:r>
            </a:p>
          </p:txBody>
        </p:sp>
      </p:grpSp>
      <p:sp>
        <p:nvSpPr>
          <p:cNvPr name="TextBox 98" id="98"/>
          <p:cNvSpPr txBox="true"/>
          <p:nvPr/>
        </p:nvSpPr>
        <p:spPr>
          <a:xfrm rot="0">
            <a:off x="14337792" y="2353818"/>
            <a:ext cx="2971800" cy="495452"/>
          </a:xfrm>
          <a:prstGeom prst="rect">
            <a:avLst/>
          </a:prstGeom>
        </p:spPr>
        <p:txBody>
          <a:bodyPr anchor="t" rtlCol="false" tIns="0" lIns="0" bIns="0" rIns="0">
            <a:spAutoFit/>
          </a:bodyPr>
          <a:lstStyle/>
          <a:p>
            <a:pPr algn="l">
              <a:lnSpc>
                <a:spcPts val="2419"/>
              </a:lnSpc>
            </a:pPr>
            <a:r>
              <a:rPr lang="en-US" sz="1800" b="true">
                <a:solidFill>
                  <a:srgbClr val="0B5E6E"/>
                </a:solidFill>
                <a:latin typeface="Calibri (MS) Bold"/>
                <a:ea typeface="Calibri (MS) Bold"/>
                <a:cs typeface="Calibri (MS) Bold"/>
                <a:sym typeface="Calibri (MS) Bold"/>
              </a:rPr>
              <a:t>Keseimbangan stok</a:t>
            </a:r>
          </a:p>
        </p:txBody>
      </p:sp>
      <p:sp>
        <p:nvSpPr>
          <p:cNvPr name="TextBox 99" id="99"/>
          <p:cNvSpPr txBox="true"/>
          <p:nvPr/>
        </p:nvSpPr>
        <p:spPr>
          <a:xfrm rot="0">
            <a:off x="13670280" y="3060192"/>
            <a:ext cx="3566160" cy="924763"/>
          </a:xfrm>
          <a:prstGeom prst="rect">
            <a:avLst/>
          </a:prstGeom>
        </p:spPr>
        <p:txBody>
          <a:bodyPr anchor="t" rtlCol="false" tIns="0" lIns="0" bIns="0" rIns="0">
            <a:spAutoFit/>
          </a:bodyPr>
          <a:lstStyle/>
          <a:p>
            <a:pPr algn="l">
              <a:lnSpc>
                <a:spcPts val="2083"/>
              </a:lnSpc>
            </a:pPr>
            <a:r>
              <a:rPr lang="en-US" sz="1550">
                <a:solidFill>
                  <a:srgbClr val="14313B"/>
                </a:solidFill>
                <a:latin typeface="Calibri (MS)"/>
                <a:ea typeface="Calibri (MS)"/>
                <a:cs typeface="Calibri (MS)"/>
                <a:sym typeface="Calibri (MS)"/>
              </a:rPr>
              <a:t>Stok tahun berikutnya dicek dengan rumus stok + masuk − keluar pada 5 stok, 2025–2049.</a:t>
            </a:r>
          </a:p>
        </p:txBody>
      </p:sp>
      <p:grpSp>
        <p:nvGrpSpPr>
          <p:cNvPr name="Group 100" id="100"/>
          <p:cNvGrpSpPr/>
          <p:nvPr/>
        </p:nvGrpSpPr>
        <p:grpSpPr>
          <a:xfrm rot="0">
            <a:off x="13606272" y="4058107"/>
            <a:ext cx="3694176" cy="819340"/>
            <a:chOff x="0" y="0"/>
            <a:chExt cx="4925568" cy="1092454"/>
          </a:xfrm>
        </p:grpSpPr>
        <p:sp>
          <p:nvSpPr>
            <p:cNvPr name="Freeform 101" id="101"/>
            <p:cNvSpPr/>
            <p:nvPr/>
          </p:nvSpPr>
          <p:spPr>
            <a:xfrm flipH="false" flipV="false" rot="0">
              <a:off x="0" y="0"/>
              <a:ext cx="4925568" cy="1092454"/>
            </a:xfrm>
            <a:custGeom>
              <a:avLst/>
              <a:gdLst/>
              <a:ahLst/>
              <a:cxnLst/>
              <a:rect r="r" b="b" t="t" l="l"/>
              <a:pathLst>
                <a:path h="1092454" w="4925568">
                  <a:moveTo>
                    <a:pt x="0" y="97536"/>
                  </a:moveTo>
                  <a:cubicBezTo>
                    <a:pt x="0" y="43688"/>
                    <a:pt x="43688" y="0"/>
                    <a:pt x="97536" y="0"/>
                  </a:cubicBezTo>
                  <a:lnTo>
                    <a:pt x="4828032" y="0"/>
                  </a:lnTo>
                  <a:cubicBezTo>
                    <a:pt x="4881880" y="0"/>
                    <a:pt x="4925568" y="43688"/>
                    <a:pt x="4925568" y="97536"/>
                  </a:cubicBezTo>
                  <a:lnTo>
                    <a:pt x="4925568" y="994918"/>
                  </a:lnTo>
                  <a:cubicBezTo>
                    <a:pt x="4925568" y="1048766"/>
                    <a:pt x="4881880" y="1092454"/>
                    <a:pt x="4828032" y="1092454"/>
                  </a:cubicBezTo>
                  <a:lnTo>
                    <a:pt x="97536" y="1092454"/>
                  </a:lnTo>
                  <a:cubicBezTo>
                    <a:pt x="43688" y="1092454"/>
                    <a:pt x="0" y="1048766"/>
                    <a:pt x="0" y="994918"/>
                  </a:cubicBezTo>
                  <a:close/>
                </a:path>
              </a:pathLst>
            </a:custGeom>
            <a:solidFill>
              <a:srgbClr val="FFF1BF"/>
            </a:solidFill>
          </p:spPr>
          <p:txBody>
            <a:bodyPr/>
            <a:p/>
          </p:txBody>
        </p:sp>
      </p:grpSp>
      <p:sp>
        <p:nvSpPr>
          <p:cNvPr name="TextBox 102" id="102"/>
          <p:cNvSpPr txBox="true"/>
          <p:nvPr/>
        </p:nvSpPr>
        <p:spPr>
          <a:xfrm rot="0">
            <a:off x="13743432" y="4082491"/>
            <a:ext cx="3291840" cy="71262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Sₖ(t+1) = Sₖ(t) + ΣInflowₖ(t) − ΣOutflowₖ(t)</a:t>
            </a:r>
          </a:p>
        </p:txBody>
      </p:sp>
      <p:sp>
        <p:nvSpPr>
          <p:cNvPr name="TextBox 103" id="103"/>
          <p:cNvSpPr txBox="true"/>
          <p:nvPr/>
        </p:nvSpPr>
        <p:spPr>
          <a:xfrm rot="0">
            <a:off x="13670280" y="4873600"/>
            <a:ext cx="3566160" cy="628040"/>
          </a:xfrm>
          <a:prstGeom prst="rect">
            <a:avLst/>
          </a:prstGeom>
        </p:spPr>
        <p:txBody>
          <a:bodyPr anchor="t" rtlCol="false" tIns="0" lIns="0" bIns="0" rIns="0">
            <a:spAutoFit/>
          </a:bodyPr>
          <a:lstStyle/>
          <a:p>
            <a:pPr algn="l">
              <a:lnSpc>
                <a:spcPts val="1881"/>
              </a:lnSpc>
            </a:pPr>
            <a:r>
              <a:rPr lang="en-US" sz="1400" b="true">
                <a:solidFill>
                  <a:srgbClr val="0B5E6E"/>
                </a:solidFill>
                <a:latin typeface="Calibri (MS) Bold"/>
                <a:ea typeface="Calibri (MS) Bold"/>
                <a:cs typeface="Calibri (MS) Bold"/>
                <a:sym typeface="Calibri (MS) Bold"/>
              </a:rPr>
              <a:t>Kekal bila maks|selisih| / rata-rata stok &lt; 10⁻⁹</a:t>
            </a:r>
          </a:p>
        </p:txBody>
      </p:sp>
      <p:sp>
        <p:nvSpPr>
          <p:cNvPr name="Freeform 104" id="104"/>
          <p:cNvSpPr/>
          <p:nvPr/>
        </p:nvSpPr>
        <p:spPr>
          <a:xfrm flipH="false" flipV="false" rot="0">
            <a:off x="806291" y="5821775"/>
            <a:ext cx="5458778" cy="3448622"/>
          </a:xfrm>
          <a:custGeom>
            <a:avLst/>
            <a:gdLst/>
            <a:ahLst/>
            <a:cxnLst/>
            <a:rect r="r" b="b" t="t" l="l"/>
            <a:pathLst>
              <a:path h="3448622" w="5458778">
                <a:moveTo>
                  <a:pt x="0" y="0"/>
                </a:moveTo>
                <a:lnTo>
                  <a:pt x="5458778" y="0"/>
                </a:lnTo>
                <a:lnTo>
                  <a:pt x="5458778" y="3448622"/>
                </a:lnTo>
                <a:lnTo>
                  <a:pt x="0" y="3448622"/>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txBody>
          <a:bodyPr/>
          <a:p/>
        </p:txBody>
      </p:sp>
      <p:grpSp>
        <p:nvGrpSpPr>
          <p:cNvPr name="Group 105" id="105"/>
          <p:cNvGrpSpPr/>
          <p:nvPr/>
        </p:nvGrpSpPr>
        <p:grpSpPr>
          <a:xfrm rot="0">
            <a:off x="1051560" y="6067044"/>
            <a:ext cx="530352" cy="530352"/>
            <a:chOff x="0" y="0"/>
            <a:chExt cx="707136" cy="707136"/>
          </a:xfrm>
        </p:grpSpPr>
        <p:sp>
          <p:nvSpPr>
            <p:cNvPr name="Freeform 106" id="106"/>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107" id="107"/>
          <p:cNvGrpSpPr/>
          <p:nvPr/>
        </p:nvGrpSpPr>
        <p:grpSpPr>
          <a:xfrm rot="0">
            <a:off x="1051560" y="6045613"/>
            <a:ext cx="530352" cy="551783"/>
            <a:chOff x="0" y="0"/>
            <a:chExt cx="707136" cy="735711"/>
          </a:xfrm>
        </p:grpSpPr>
        <p:sp>
          <p:nvSpPr>
            <p:cNvPr name="Freeform 108" id="108"/>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109" id="109"/>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5</a:t>
              </a:r>
            </a:p>
          </p:txBody>
        </p:sp>
      </p:grpSp>
      <p:sp>
        <p:nvSpPr>
          <p:cNvPr name="TextBox 110" id="110"/>
          <p:cNvSpPr txBox="true"/>
          <p:nvPr/>
        </p:nvSpPr>
        <p:spPr>
          <a:xfrm rot="0">
            <a:off x="1719072" y="5951982"/>
            <a:ext cx="4373880" cy="495452"/>
          </a:xfrm>
          <a:prstGeom prst="rect">
            <a:avLst/>
          </a:prstGeom>
        </p:spPr>
        <p:txBody>
          <a:bodyPr anchor="t" rtlCol="false" tIns="0" lIns="0" bIns="0" rIns="0">
            <a:spAutoFit/>
          </a:bodyPr>
          <a:lstStyle/>
          <a:p>
            <a:pPr algn="l">
              <a:lnSpc>
                <a:spcPts val="2419"/>
              </a:lnSpc>
            </a:pPr>
            <a:r>
              <a:rPr lang="en-US" sz="1800" b="true">
                <a:solidFill>
                  <a:srgbClr val="0B5E6E"/>
                </a:solidFill>
                <a:latin typeface="Calibri (MS) Bold"/>
                <a:ea typeface="Calibri (MS) Bold"/>
                <a:cs typeface="Calibri (MS) Bold"/>
                <a:sym typeface="Calibri (MS) Bold"/>
              </a:rPr>
              <a:t>Feedback loop (loop knockout)</a:t>
            </a:r>
          </a:p>
        </p:txBody>
      </p:sp>
      <p:sp>
        <p:nvSpPr>
          <p:cNvPr name="TextBox 111" id="111"/>
          <p:cNvSpPr txBox="true"/>
          <p:nvPr/>
        </p:nvSpPr>
        <p:spPr>
          <a:xfrm rot="0">
            <a:off x="1051560" y="6658356"/>
            <a:ext cx="4968240" cy="924763"/>
          </a:xfrm>
          <a:prstGeom prst="rect">
            <a:avLst/>
          </a:prstGeom>
        </p:spPr>
        <p:txBody>
          <a:bodyPr anchor="t" rtlCol="false" tIns="0" lIns="0" bIns="0" rIns="0">
            <a:spAutoFit/>
          </a:bodyPr>
          <a:lstStyle/>
          <a:p>
            <a:pPr algn="l">
              <a:lnSpc>
                <a:spcPts val="2083"/>
              </a:lnSpc>
            </a:pPr>
            <a:r>
              <a:rPr lang="en-US" sz="1550">
                <a:solidFill>
                  <a:srgbClr val="14313B"/>
                </a:solidFill>
                <a:latin typeface="Calibri (MS)"/>
                <a:ea typeface="Calibri (MS)"/>
                <a:cs typeface="Calibri (MS)"/>
                <a:sym typeface="Calibri (MS)"/>
              </a:rPr>
              <a:t>Satu loop dinonaktifkan setiap kali dengan menahan salah satu variabelnya pada nilai tahun dasar (6 kasus: B1, B2, R2, okupansi, goal-seeking TK, semua balancing loop).</a:t>
            </a:r>
          </a:p>
        </p:txBody>
      </p:sp>
      <p:grpSp>
        <p:nvGrpSpPr>
          <p:cNvPr name="Group 112" id="112"/>
          <p:cNvGrpSpPr/>
          <p:nvPr/>
        </p:nvGrpSpPr>
        <p:grpSpPr>
          <a:xfrm rot="0">
            <a:off x="987552" y="7656271"/>
            <a:ext cx="5096256" cy="819340"/>
            <a:chOff x="0" y="0"/>
            <a:chExt cx="6795008" cy="1092454"/>
          </a:xfrm>
        </p:grpSpPr>
        <p:sp>
          <p:nvSpPr>
            <p:cNvPr name="Freeform 113" id="113"/>
            <p:cNvSpPr/>
            <p:nvPr/>
          </p:nvSpPr>
          <p:spPr>
            <a:xfrm flipH="false" flipV="false" rot="0">
              <a:off x="0" y="0"/>
              <a:ext cx="6795008" cy="1092454"/>
            </a:xfrm>
            <a:custGeom>
              <a:avLst/>
              <a:gdLst/>
              <a:ahLst/>
              <a:cxnLst/>
              <a:rect r="r" b="b" t="t" l="l"/>
              <a:pathLst>
                <a:path h="1092454" w="6795008">
                  <a:moveTo>
                    <a:pt x="0" y="97536"/>
                  </a:moveTo>
                  <a:cubicBezTo>
                    <a:pt x="0" y="43688"/>
                    <a:pt x="43688" y="0"/>
                    <a:pt x="97536" y="0"/>
                  </a:cubicBezTo>
                  <a:lnTo>
                    <a:pt x="6697472" y="0"/>
                  </a:lnTo>
                  <a:cubicBezTo>
                    <a:pt x="6751320" y="0"/>
                    <a:pt x="6795008" y="43688"/>
                    <a:pt x="6795008" y="97536"/>
                  </a:cubicBezTo>
                  <a:lnTo>
                    <a:pt x="6795008" y="994918"/>
                  </a:lnTo>
                  <a:cubicBezTo>
                    <a:pt x="6795008" y="1048766"/>
                    <a:pt x="6751320" y="1092454"/>
                    <a:pt x="6697472" y="1092454"/>
                  </a:cubicBezTo>
                  <a:lnTo>
                    <a:pt x="97536" y="1092454"/>
                  </a:lnTo>
                  <a:cubicBezTo>
                    <a:pt x="43688" y="1092454"/>
                    <a:pt x="0" y="1048766"/>
                    <a:pt x="0" y="994918"/>
                  </a:cubicBezTo>
                  <a:close/>
                </a:path>
              </a:pathLst>
            </a:custGeom>
            <a:solidFill>
              <a:srgbClr val="FFF1BF"/>
            </a:solidFill>
          </p:spPr>
          <p:txBody>
            <a:bodyPr/>
            <a:p/>
          </p:txBody>
        </p:sp>
      </p:grpSp>
      <p:sp>
        <p:nvSpPr>
          <p:cNvPr name="TextBox 114" id="114"/>
          <p:cNvSpPr txBox="true"/>
          <p:nvPr/>
        </p:nvSpPr>
        <p:spPr>
          <a:xfrm rot="0">
            <a:off x="1124712" y="7680655"/>
            <a:ext cx="4693920" cy="71262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Selisih % = (X_lumpuh,2050 − X_BASE,2050) / X_BASE,2050 × 100%</a:t>
            </a:r>
          </a:p>
        </p:txBody>
      </p:sp>
      <p:sp>
        <p:nvSpPr>
          <p:cNvPr name="TextBox 115" id="115"/>
          <p:cNvSpPr txBox="true"/>
          <p:nvPr/>
        </p:nvSpPr>
        <p:spPr>
          <a:xfrm rot="0">
            <a:off x="1051560" y="8471764"/>
            <a:ext cx="4968240" cy="389077"/>
          </a:xfrm>
          <a:prstGeom prst="rect">
            <a:avLst/>
          </a:prstGeom>
        </p:spPr>
        <p:txBody>
          <a:bodyPr anchor="t" rtlCol="false" tIns="0" lIns="0" bIns="0" rIns="0">
            <a:spAutoFit/>
          </a:bodyPr>
          <a:lstStyle/>
          <a:p>
            <a:pPr algn="l">
              <a:lnSpc>
                <a:spcPts val="1881"/>
              </a:lnSpc>
            </a:pPr>
            <a:r>
              <a:rPr lang="en-US" sz="1400" b="true">
                <a:solidFill>
                  <a:srgbClr val="0B5E6E"/>
                </a:solidFill>
                <a:latin typeface="Calibri (MS) Bold"/>
                <a:ea typeface="Calibri (MS) Bold"/>
                <a:cs typeface="Calibri (MS) Bold"/>
                <a:sym typeface="Calibri (MS) Bold"/>
              </a:rPr>
              <a:t>Kriteria: arah perubahan sesuai jenis loop</a:t>
            </a:r>
          </a:p>
        </p:txBody>
      </p:sp>
      <p:sp>
        <p:nvSpPr>
          <p:cNvPr name="Freeform 116" id="116"/>
          <p:cNvSpPr/>
          <p:nvPr/>
        </p:nvSpPr>
        <p:spPr>
          <a:xfrm flipH="false" flipV="false" rot="0">
            <a:off x="6414611" y="5821775"/>
            <a:ext cx="5458778" cy="3448622"/>
          </a:xfrm>
          <a:custGeom>
            <a:avLst/>
            <a:gdLst/>
            <a:ahLst/>
            <a:cxnLst/>
            <a:rect r="r" b="b" t="t" l="l"/>
            <a:pathLst>
              <a:path h="3448622" w="5458778">
                <a:moveTo>
                  <a:pt x="0" y="0"/>
                </a:moveTo>
                <a:lnTo>
                  <a:pt x="5458778" y="0"/>
                </a:lnTo>
                <a:lnTo>
                  <a:pt x="5458778" y="3448622"/>
                </a:lnTo>
                <a:lnTo>
                  <a:pt x="0" y="3448622"/>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txBody>
          <a:bodyPr/>
          <a:p/>
        </p:txBody>
      </p:sp>
      <p:grpSp>
        <p:nvGrpSpPr>
          <p:cNvPr name="Group 117" id="117"/>
          <p:cNvGrpSpPr/>
          <p:nvPr/>
        </p:nvGrpSpPr>
        <p:grpSpPr>
          <a:xfrm rot="0">
            <a:off x="6659880" y="6067044"/>
            <a:ext cx="530352" cy="530352"/>
            <a:chOff x="0" y="0"/>
            <a:chExt cx="707136" cy="707136"/>
          </a:xfrm>
        </p:grpSpPr>
        <p:sp>
          <p:nvSpPr>
            <p:cNvPr name="Freeform 118" id="118"/>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119" id="119"/>
          <p:cNvGrpSpPr/>
          <p:nvPr/>
        </p:nvGrpSpPr>
        <p:grpSpPr>
          <a:xfrm rot="0">
            <a:off x="6659880" y="6045613"/>
            <a:ext cx="530352" cy="551783"/>
            <a:chOff x="0" y="0"/>
            <a:chExt cx="707136" cy="735711"/>
          </a:xfrm>
        </p:grpSpPr>
        <p:sp>
          <p:nvSpPr>
            <p:cNvPr name="Freeform 120" id="120"/>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121" id="121"/>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6</a:t>
              </a:r>
            </a:p>
          </p:txBody>
        </p:sp>
      </p:grpSp>
      <p:sp>
        <p:nvSpPr>
          <p:cNvPr name="TextBox 122" id="122"/>
          <p:cNvSpPr txBox="true"/>
          <p:nvPr/>
        </p:nvSpPr>
        <p:spPr>
          <a:xfrm rot="0">
            <a:off x="7327392" y="5951982"/>
            <a:ext cx="4373880" cy="495452"/>
          </a:xfrm>
          <a:prstGeom prst="rect">
            <a:avLst/>
          </a:prstGeom>
        </p:spPr>
        <p:txBody>
          <a:bodyPr anchor="t" rtlCol="false" tIns="0" lIns="0" bIns="0" rIns="0">
            <a:spAutoFit/>
          </a:bodyPr>
          <a:lstStyle/>
          <a:p>
            <a:pPr algn="l">
              <a:lnSpc>
                <a:spcPts val="2419"/>
              </a:lnSpc>
            </a:pPr>
            <a:r>
              <a:rPr lang="en-US" sz="1800" b="true">
                <a:solidFill>
                  <a:srgbClr val="0B5E6E"/>
                </a:solidFill>
                <a:latin typeface="Calibri (MS) Bold"/>
                <a:ea typeface="Calibri (MS) Bold"/>
                <a:cs typeface="Calibri (MS) Bold"/>
                <a:sym typeface="Calibri (MS) Bold"/>
              </a:rPr>
              <a:t>Kondisi ekstrem (17 uji)</a:t>
            </a:r>
          </a:p>
        </p:txBody>
      </p:sp>
      <p:sp>
        <p:nvSpPr>
          <p:cNvPr name="TextBox 123" id="123"/>
          <p:cNvSpPr txBox="true"/>
          <p:nvPr/>
        </p:nvSpPr>
        <p:spPr>
          <a:xfrm rot="0">
            <a:off x="6659880" y="6658356"/>
            <a:ext cx="4968240" cy="1453896"/>
          </a:xfrm>
          <a:prstGeom prst="rect">
            <a:avLst/>
          </a:prstGeom>
        </p:spPr>
        <p:txBody>
          <a:bodyPr anchor="t" rtlCol="false" tIns="0" lIns="0" bIns="0" rIns="0">
            <a:spAutoFit/>
          </a:bodyPr>
          <a:lstStyle/>
          <a:p>
            <a:pPr algn="l">
              <a:lnSpc>
                <a:spcPts val="2083"/>
              </a:lnSpc>
            </a:pPr>
            <a:r>
              <a:rPr lang="en-US" sz="1550">
                <a:solidFill>
                  <a:srgbClr val="14313B"/>
                </a:solidFill>
                <a:latin typeface="Calibri (MS)"/>
                <a:ea typeface="Calibri (MS)"/>
                <a:cs typeface="Calibri (MS)"/>
                <a:sym typeface="Calibri (MS)"/>
              </a:rPr>
              <a:t>Parameter diset nol atau beberapa kali lipat; hipotesis perilaku ditulis sebelum simulasi. Enam aturan fisik: stok ≥ 0 · TPK ≤ 1 · RDDL ≥ 0 · lahan ≤ luas wilayah · 0 ≤ daya tarik ≤ 3 · wisatawan akhir ≤ 5× simulasi dasar.</a:t>
            </a:r>
          </a:p>
        </p:txBody>
      </p:sp>
      <p:sp>
        <p:nvSpPr>
          <p:cNvPr name="TextBox 124" id="124"/>
          <p:cNvSpPr txBox="true"/>
          <p:nvPr/>
        </p:nvSpPr>
        <p:spPr>
          <a:xfrm rot="0">
            <a:off x="6659880" y="8090154"/>
            <a:ext cx="4968240" cy="389077"/>
          </a:xfrm>
          <a:prstGeom prst="rect">
            <a:avLst/>
          </a:prstGeom>
        </p:spPr>
        <p:txBody>
          <a:bodyPr anchor="t" rtlCol="false" tIns="0" lIns="0" bIns="0" rIns="0">
            <a:spAutoFit/>
          </a:bodyPr>
          <a:lstStyle/>
          <a:p>
            <a:pPr algn="l">
              <a:lnSpc>
                <a:spcPts val="1881"/>
              </a:lnSpc>
            </a:pPr>
            <a:r>
              <a:rPr lang="en-US" sz="1400" b="true">
                <a:solidFill>
                  <a:srgbClr val="0B5E6E"/>
                </a:solidFill>
                <a:latin typeface="Calibri (MS) Bold"/>
                <a:ea typeface="Calibri (MS) Bold"/>
                <a:cs typeface="Calibri (MS) Bold"/>
                <a:sym typeface="Calibri (MS) Bold"/>
              </a:rPr>
              <a:t>Status: lolos · lolos dengan catatan · gagal</a:t>
            </a:r>
          </a:p>
        </p:txBody>
      </p:sp>
      <p:sp>
        <p:nvSpPr>
          <p:cNvPr name="Freeform 125" id="125"/>
          <p:cNvSpPr/>
          <p:nvPr/>
        </p:nvSpPr>
        <p:spPr>
          <a:xfrm flipH="false" flipV="false" rot="0">
            <a:off x="12022931" y="5821775"/>
            <a:ext cx="5458778" cy="3448622"/>
          </a:xfrm>
          <a:custGeom>
            <a:avLst/>
            <a:gdLst/>
            <a:ahLst/>
            <a:cxnLst/>
            <a:rect r="r" b="b" t="t" l="l"/>
            <a:pathLst>
              <a:path h="3448622" w="5458778">
                <a:moveTo>
                  <a:pt x="0" y="0"/>
                </a:moveTo>
                <a:lnTo>
                  <a:pt x="5458778" y="0"/>
                </a:lnTo>
                <a:lnTo>
                  <a:pt x="5458778" y="3448622"/>
                </a:lnTo>
                <a:lnTo>
                  <a:pt x="0" y="3448622"/>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txBody>
          <a:bodyPr/>
          <a:p/>
        </p:txBody>
      </p:sp>
      <p:grpSp>
        <p:nvGrpSpPr>
          <p:cNvPr name="Group 126" id="126"/>
          <p:cNvGrpSpPr/>
          <p:nvPr/>
        </p:nvGrpSpPr>
        <p:grpSpPr>
          <a:xfrm rot="0">
            <a:off x="12268200" y="6067044"/>
            <a:ext cx="530352" cy="530352"/>
            <a:chOff x="0" y="0"/>
            <a:chExt cx="707136" cy="707136"/>
          </a:xfrm>
        </p:grpSpPr>
        <p:sp>
          <p:nvSpPr>
            <p:cNvPr name="Freeform 127" id="127"/>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128" id="128"/>
          <p:cNvGrpSpPr/>
          <p:nvPr/>
        </p:nvGrpSpPr>
        <p:grpSpPr>
          <a:xfrm rot="0">
            <a:off x="12268200" y="6045613"/>
            <a:ext cx="530352" cy="551783"/>
            <a:chOff x="0" y="0"/>
            <a:chExt cx="707136" cy="735711"/>
          </a:xfrm>
        </p:grpSpPr>
        <p:sp>
          <p:nvSpPr>
            <p:cNvPr name="Freeform 129" id="129"/>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130" id="130"/>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7</a:t>
              </a:r>
            </a:p>
          </p:txBody>
        </p:sp>
      </p:grpSp>
      <p:sp>
        <p:nvSpPr>
          <p:cNvPr name="TextBox 131" id="131"/>
          <p:cNvSpPr txBox="true"/>
          <p:nvPr/>
        </p:nvSpPr>
        <p:spPr>
          <a:xfrm rot="0">
            <a:off x="12935712" y="5951982"/>
            <a:ext cx="4373880" cy="495452"/>
          </a:xfrm>
          <a:prstGeom prst="rect">
            <a:avLst/>
          </a:prstGeom>
        </p:spPr>
        <p:txBody>
          <a:bodyPr anchor="t" rtlCol="false" tIns="0" lIns="0" bIns="0" rIns="0">
            <a:spAutoFit/>
          </a:bodyPr>
          <a:lstStyle/>
          <a:p>
            <a:pPr algn="l">
              <a:lnSpc>
                <a:spcPts val="2419"/>
              </a:lnSpc>
            </a:pPr>
            <a:r>
              <a:rPr lang="en-US" sz="1800" b="true">
                <a:solidFill>
                  <a:srgbClr val="0B5E6E"/>
                </a:solidFill>
                <a:latin typeface="Calibri (MS) Bold"/>
                <a:ea typeface="Calibri (MS) Bold"/>
                <a:cs typeface="Calibri (MS) Bold"/>
                <a:sym typeface="Calibri (MS) Bold"/>
              </a:rPr>
              <a:t>Error integrasi numerik</a:t>
            </a:r>
          </a:p>
        </p:txBody>
      </p:sp>
      <p:sp>
        <p:nvSpPr>
          <p:cNvPr name="TextBox 132" id="132"/>
          <p:cNvSpPr txBox="true"/>
          <p:nvPr/>
        </p:nvSpPr>
        <p:spPr>
          <a:xfrm rot="0">
            <a:off x="12268200" y="6658356"/>
            <a:ext cx="4968240" cy="924763"/>
          </a:xfrm>
          <a:prstGeom prst="rect">
            <a:avLst/>
          </a:prstGeom>
        </p:spPr>
        <p:txBody>
          <a:bodyPr anchor="t" rtlCol="false" tIns="0" lIns="0" bIns="0" rIns="0">
            <a:spAutoFit/>
          </a:bodyPr>
          <a:lstStyle/>
          <a:p>
            <a:pPr algn="l">
              <a:lnSpc>
                <a:spcPts val="2083"/>
              </a:lnSpc>
            </a:pPr>
            <a:r>
              <a:rPr lang="en-US" sz="1550">
                <a:solidFill>
                  <a:srgbClr val="14313B"/>
                </a:solidFill>
                <a:latin typeface="Calibri (MS)"/>
                <a:ea typeface="Calibri (MS)"/>
                <a:cs typeface="Calibri (MS)"/>
                <a:sym typeface="Calibri (MS)"/>
              </a:rPr>
              <a:t>Simulasi diulang pada langkah waktu lebih kecil (Δt = 1; 0,5; 0,25; 0,125) untuk memastikan perilaku berasal dari struktur, bukan langkah waktu.</a:t>
            </a:r>
          </a:p>
        </p:txBody>
      </p:sp>
      <p:grpSp>
        <p:nvGrpSpPr>
          <p:cNvPr name="Group 133" id="133"/>
          <p:cNvGrpSpPr/>
          <p:nvPr/>
        </p:nvGrpSpPr>
        <p:grpSpPr>
          <a:xfrm rot="0">
            <a:off x="12204192" y="7656271"/>
            <a:ext cx="5096256" cy="1155764"/>
            <a:chOff x="0" y="0"/>
            <a:chExt cx="6795008" cy="1541018"/>
          </a:xfrm>
        </p:grpSpPr>
        <p:sp>
          <p:nvSpPr>
            <p:cNvPr name="Freeform 134" id="134"/>
            <p:cNvSpPr/>
            <p:nvPr/>
          </p:nvSpPr>
          <p:spPr>
            <a:xfrm flipH="false" flipV="false" rot="0">
              <a:off x="0" y="0"/>
              <a:ext cx="6795008" cy="1541018"/>
            </a:xfrm>
            <a:custGeom>
              <a:avLst/>
              <a:gdLst/>
              <a:ahLst/>
              <a:cxnLst/>
              <a:rect r="r" b="b" t="t" l="l"/>
              <a:pathLst>
                <a:path h="1541018" w="6795008">
                  <a:moveTo>
                    <a:pt x="0" y="97536"/>
                  </a:moveTo>
                  <a:cubicBezTo>
                    <a:pt x="0" y="43688"/>
                    <a:pt x="43688" y="0"/>
                    <a:pt x="97536" y="0"/>
                  </a:cubicBezTo>
                  <a:lnTo>
                    <a:pt x="6697472" y="0"/>
                  </a:lnTo>
                  <a:cubicBezTo>
                    <a:pt x="6751320" y="0"/>
                    <a:pt x="6795008" y="43688"/>
                    <a:pt x="6795008" y="97536"/>
                  </a:cubicBezTo>
                  <a:lnTo>
                    <a:pt x="6795008" y="1443482"/>
                  </a:lnTo>
                  <a:cubicBezTo>
                    <a:pt x="6795008" y="1497330"/>
                    <a:pt x="6751320" y="1541018"/>
                    <a:pt x="6697472" y="1541018"/>
                  </a:cubicBezTo>
                  <a:lnTo>
                    <a:pt x="97536" y="1541018"/>
                  </a:lnTo>
                  <a:cubicBezTo>
                    <a:pt x="43688" y="1541018"/>
                    <a:pt x="0" y="1497330"/>
                    <a:pt x="0" y="1443482"/>
                  </a:cubicBezTo>
                  <a:close/>
                </a:path>
              </a:pathLst>
            </a:custGeom>
            <a:solidFill>
              <a:srgbClr val="FFF1BF"/>
            </a:solidFill>
          </p:spPr>
          <p:txBody>
            <a:bodyPr/>
            <a:p/>
          </p:txBody>
        </p:sp>
      </p:grpSp>
      <p:sp>
        <p:nvSpPr>
          <p:cNvPr name="TextBox 135" id="135"/>
          <p:cNvSpPr txBox="true"/>
          <p:nvPr/>
        </p:nvSpPr>
        <p:spPr>
          <a:xfrm rot="0">
            <a:off x="12341352" y="7680655"/>
            <a:ext cx="4693920" cy="104912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Sₖ(t+Δt) = Sₖ(t) + Δt · [ΣInflowₖ − ΣOutflowₖ]</a:t>
            </a:r>
          </a:p>
          <a:p>
            <a:pPr algn="l">
              <a:lnSpc>
                <a:spcPts val="2217"/>
              </a:lnSpc>
            </a:pPr>
            <a:r>
              <a:rPr lang="en-US" sz="1650" i="true">
                <a:solidFill>
                  <a:srgbClr val="14313B"/>
                </a:solidFill>
                <a:latin typeface="Cambria Italics"/>
                <a:ea typeface="Cambria Italics"/>
                <a:cs typeface="Cambria Italics"/>
                <a:sym typeface="Cambria Italics"/>
              </a:rPr>
              <a:t>Selisih % = (X_Δt − X_Δt=1) / X_Δt=1 × 100%</a:t>
            </a:r>
          </a:p>
        </p:txBody>
      </p:sp>
      <p:grpSp>
        <p:nvGrpSpPr>
          <p:cNvPr name="Group 136" id="136"/>
          <p:cNvGrpSpPr/>
          <p:nvPr/>
        </p:nvGrpSpPr>
        <p:grpSpPr>
          <a:xfrm rot="0">
            <a:off x="12755880" y="274320"/>
            <a:ext cx="3931920" cy="411480"/>
            <a:chOff x="0" y="0"/>
            <a:chExt cx="5242560" cy="548640"/>
          </a:xfrm>
        </p:grpSpPr>
        <p:sp>
          <p:nvSpPr>
            <p:cNvPr name="Freeform 137" id="137"/>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38" id="138"/>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2D · Uji struktur</a:t>
              </a:r>
            </a:p>
          </p:txBody>
        </p:sp>
      </p:grpSp>
      <p:grpSp>
        <p:nvGrpSpPr>
          <p:cNvPr name="Group 139" id="139"/>
          <p:cNvGrpSpPr/>
          <p:nvPr/>
        </p:nvGrpSpPr>
        <p:grpSpPr>
          <a:xfrm rot="0">
            <a:off x="16047720" y="9646920"/>
            <a:ext cx="420624" cy="420624"/>
            <a:chOff x="0" y="0"/>
            <a:chExt cx="560832" cy="560832"/>
          </a:xfrm>
        </p:grpSpPr>
        <p:sp>
          <p:nvSpPr>
            <p:cNvPr name="Freeform 140" id="140"/>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41" id="141"/>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4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Konsistensi Satuan, Batas Model, dan Keseimbangan Stok</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Struktur model lolos seluruh uji verifikasi</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Freeform 66" id="66"/>
          <p:cNvSpPr/>
          <p:nvPr/>
        </p:nvSpPr>
        <p:spPr>
          <a:xfrm flipH="false" flipV="false" rot="0">
            <a:off x="806291" y="2315051"/>
            <a:ext cx="8194357" cy="2845117"/>
          </a:xfrm>
          <a:custGeom>
            <a:avLst/>
            <a:gdLst/>
            <a:ahLst/>
            <a:cxnLst/>
            <a:rect r="r" b="b" t="t" l="l"/>
            <a:pathLst>
              <a:path h="2845117" w="8194357">
                <a:moveTo>
                  <a:pt x="0" y="0"/>
                </a:moveTo>
                <a:lnTo>
                  <a:pt x="8194358" y="0"/>
                </a:lnTo>
                <a:lnTo>
                  <a:pt x="8194358" y="2845118"/>
                </a:lnTo>
                <a:lnTo>
                  <a:pt x="0" y="2845118"/>
                </a:lnTo>
                <a:lnTo>
                  <a:pt x="0" y="0"/>
                </a:lnTo>
                <a:close/>
              </a:path>
            </a:pathLst>
          </a:custGeom>
          <a:blipFill>
            <a:blip r:embed="rId7">
              <a:extLst>
                <a:ext uri="{96DAC541-7B7A-43D3-8B79-37D633B846F1}">
                  <asvg:svgBlip xmlns:asvg="http://schemas.microsoft.com/office/drawing/2016/SVG/main" r:embed="rId8"/>
                </a:ext>
              </a:extLst>
            </a:blip>
            <a:stretch>
              <a:fillRect l="0" t="-9" r="0" b="-9"/>
            </a:stretch>
          </a:blipFill>
        </p:spPr>
        <p:txBody>
          <a:bodyPr/>
          <a:p/>
        </p:txBody>
      </p:sp>
      <p:grpSp>
        <p:nvGrpSpPr>
          <p:cNvPr name="Group 67" id="67"/>
          <p:cNvGrpSpPr/>
          <p:nvPr/>
        </p:nvGrpSpPr>
        <p:grpSpPr>
          <a:xfrm rot="0">
            <a:off x="1165860" y="2743200"/>
            <a:ext cx="2674620" cy="1097280"/>
            <a:chOff x="0" y="0"/>
            <a:chExt cx="3566160" cy="1463040"/>
          </a:xfrm>
        </p:grpSpPr>
        <p:sp>
          <p:nvSpPr>
            <p:cNvPr name="Freeform 68" id="68"/>
            <p:cNvSpPr/>
            <p:nvPr/>
          </p:nvSpPr>
          <p:spPr>
            <a:xfrm flipH="false" flipV="false" rot="0">
              <a:off x="0" y="0"/>
              <a:ext cx="3566160" cy="1463040"/>
            </a:xfrm>
            <a:custGeom>
              <a:avLst/>
              <a:gdLst/>
              <a:ahLst/>
              <a:cxnLst/>
              <a:rect r="r" b="b" t="t" l="l"/>
              <a:pathLst>
                <a:path h="1463040" w="3566160">
                  <a:moveTo>
                    <a:pt x="0" y="0"/>
                  </a:moveTo>
                  <a:lnTo>
                    <a:pt x="3566160" y="0"/>
                  </a:lnTo>
                  <a:lnTo>
                    <a:pt x="3566160" y="1463040"/>
                  </a:lnTo>
                  <a:lnTo>
                    <a:pt x="0" y="1463040"/>
                  </a:lnTo>
                  <a:close/>
                </a:path>
              </a:pathLst>
            </a:custGeom>
            <a:blipFill>
              <a:blip r:embed="rId4">
                <a:alphaModFix amt="0"/>
              </a:blip>
              <a:stretch>
                <a:fillRect l="-2674" t="0" r="-2673" b="0"/>
              </a:stretch>
            </a:blipFill>
          </p:spPr>
          <p:txBody>
            <a:bodyPr/>
            <a:p/>
          </p:txBody>
        </p:sp>
      </p:grpSp>
      <p:grpSp>
        <p:nvGrpSpPr>
          <p:cNvPr name="Group 69" id="69"/>
          <p:cNvGrpSpPr/>
          <p:nvPr/>
        </p:nvGrpSpPr>
        <p:grpSpPr>
          <a:xfrm rot="0">
            <a:off x="1165860" y="2678906"/>
            <a:ext cx="2674620" cy="1161574"/>
            <a:chOff x="0" y="0"/>
            <a:chExt cx="3566160" cy="1548765"/>
          </a:xfrm>
        </p:grpSpPr>
        <p:sp>
          <p:nvSpPr>
            <p:cNvPr name="Freeform 70" id="70"/>
            <p:cNvSpPr/>
            <p:nvPr/>
          </p:nvSpPr>
          <p:spPr>
            <a:xfrm flipH="false" flipV="false" rot="0">
              <a:off x="0" y="0"/>
              <a:ext cx="3566160" cy="1548765"/>
            </a:xfrm>
            <a:custGeom>
              <a:avLst/>
              <a:gdLst/>
              <a:ahLst/>
              <a:cxnLst/>
              <a:rect r="r" b="b" t="t" l="l"/>
              <a:pathLst>
                <a:path h="1548765" w="3566160">
                  <a:moveTo>
                    <a:pt x="0" y="0"/>
                  </a:moveTo>
                  <a:lnTo>
                    <a:pt x="3566160" y="0"/>
                  </a:lnTo>
                  <a:lnTo>
                    <a:pt x="3566160" y="1548765"/>
                  </a:lnTo>
                  <a:lnTo>
                    <a:pt x="0" y="1548765"/>
                  </a:lnTo>
                  <a:close/>
                </a:path>
              </a:pathLst>
            </a:custGeom>
            <a:blipFill>
              <a:blip r:embed="rId5">
                <a:alphaModFix amt="0"/>
              </a:blip>
              <a:stretch>
                <a:fillRect l="-5760" t="0" r="-5760" b="0"/>
              </a:stretch>
            </a:blipFill>
          </p:spPr>
          <p:txBody>
            <a:bodyPr/>
            <a:p/>
          </p:txBody>
        </p:sp>
      </p:grpSp>
      <p:grpSp>
        <p:nvGrpSpPr>
          <p:cNvPr name="Group 71" id="71"/>
          <p:cNvGrpSpPr/>
          <p:nvPr/>
        </p:nvGrpSpPr>
        <p:grpSpPr>
          <a:xfrm rot="0">
            <a:off x="1165860" y="2614612"/>
            <a:ext cx="2674620" cy="1225868"/>
            <a:chOff x="0" y="0"/>
            <a:chExt cx="3566160" cy="1634490"/>
          </a:xfrm>
        </p:grpSpPr>
        <p:sp>
          <p:nvSpPr>
            <p:cNvPr name="Freeform 72" id="72"/>
            <p:cNvSpPr/>
            <p:nvPr/>
          </p:nvSpPr>
          <p:spPr>
            <a:xfrm flipH="false" flipV="false" rot="0">
              <a:off x="0" y="0"/>
              <a:ext cx="3566160" cy="1634490"/>
            </a:xfrm>
            <a:custGeom>
              <a:avLst/>
              <a:gdLst/>
              <a:ahLst/>
              <a:cxnLst/>
              <a:rect r="r" b="b" t="t" l="l"/>
              <a:pathLst>
                <a:path h="1634490" w="3566160">
                  <a:moveTo>
                    <a:pt x="0" y="0"/>
                  </a:moveTo>
                  <a:lnTo>
                    <a:pt x="3566160" y="0"/>
                  </a:lnTo>
                  <a:lnTo>
                    <a:pt x="3566160" y="1634490"/>
                  </a:lnTo>
                  <a:lnTo>
                    <a:pt x="0" y="1634490"/>
                  </a:lnTo>
                  <a:close/>
                </a:path>
              </a:pathLst>
            </a:custGeom>
            <a:blipFill>
              <a:blip r:embed="rId6">
                <a:alphaModFix amt="0"/>
              </a:blip>
              <a:stretch>
                <a:fillRect l="-8805" t="0" r="-8805" b="0"/>
              </a:stretch>
            </a:blipFill>
          </p:spPr>
          <p:txBody>
            <a:bodyPr/>
            <a:p/>
          </p:txBody>
        </p:sp>
        <p:sp>
          <p:nvSpPr>
            <p:cNvPr name="TextBox 73" id="73"/>
            <p:cNvSpPr txBox="true"/>
            <p:nvPr/>
          </p:nvSpPr>
          <p:spPr>
            <a:xfrm>
              <a:off x="0" y="-85725"/>
              <a:ext cx="3566160" cy="1720215"/>
            </a:xfrm>
            <a:prstGeom prst="rect">
              <a:avLst/>
            </a:prstGeom>
          </p:spPr>
          <p:txBody>
            <a:bodyPr anchor="ctr" rtlCol="false" tIns="0" lIns="0" bIns="0" rIns="0"/>
            <a:lstStyle/>
            <a:p>
              <a:pPr algn="l">
                <a:lnSpc>
                  <a:spcPts val="5757"/>
                </a:lnSpc>
              </a:pPr>
              <a:r>
                <a:rPr lang="en-US" sz="4800" b="true">
                  <a:solidFill>
                    <a:srgbClr val="0B5E6E"/>
                  </a:solidFill>
                  <a:latin typeface="Calibri (MS) Bold"/>
                  <a:ea typeface="Calibri (MS) Bold"/>
                  <a:cs typeface="Calibri (MS) Bold"/>
                  <a:sym typeface="Calibri (MS) Bold"/>
                </a:rPr>
                <a:t>0</a:t>
              </a:r>
            </a:p>
          </p:txBody>
        </p:sp>
      </p:grpSp>
      <p:sp>
        <p:nvSpPr>
          <p:cNvPr name="TextBox 74" id="74"/>
          <p:cNvSpPr txBox="true"/>
          <p:nvPr/>
        </p:nvSpPr>
        <p:spPr>
          <a:xfrm rot="0">
            <a:off x="1165860" y="3726180"/>
            <a:ext cx="2674620" cy="937260"/>
          </a:xfrm>
          <a:prstGeom prst="rect">
            <a:avLst/>
          </a:prstGeom>
        </p:spPr>
        <p:txBody>
          <a:bodyPr anchor="t" rtlCol="false" tIns="0" lIns="0" bIns="0" rIns="0">
            <a:spAutoFit/>
          </a:bodyPr>
          <a:lstStyle/>
          <a:p>
            <a:pPr algn="l">
              <a:lnSpc>
                <a:spcPts val="2160"/>
              </a:lnSpc>
            </a:pPr>
            <a:r>
              <a:rPr lang="en-US" sz="1800">
                <a:solidFill>
                  <a:srgbClr val="5E6E78"/>
                </a:solidFill>
                <a:latin typeface="Calibri (MS)"/>
                <a:ea typeface="Calibri (MS)"/>
                <a:cs typeface="Calibri (MS)"/>
                <a:sym typeface="Calibri (MS)"/>
              </a:rPr>
              <a:t>ketidaksesuaian satuan</a:t>
            </a:r>
          </a:p>
        </p:txBody>
      </p:sp>
      <p:sp>
        <p:nvSpPr>
          <p:cNvPr name="TextBox 75" id="75"/>
          <p:cNvSpPr txBox="true"/>
          <p:nvPr/>
        </p:nvSpPr>
        <p:spPr>
          <a:xfrm rot="0">
            <a:off x="4046220" y="2519172"/>
            <a:ext cx="4663440" cy="66294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Konsistensi satuan</a:t>
            </a:r>
          </a:p>
        </p:txBody>
      </p:sp>
      <p:sp>
        <p:nvSpPr>
          <p:cNvPr name="TextBox 76" id="76"/>
          <p:cNvSpPr txBox="true"/>
          <p:nvPr/>
        </p:nvSpPr>
        <p:spPr>
          <a:xfrm rot="0">
            <a:off x="4046220" y="3177540"/>
            <a:ext cx="4663440" cy="189738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Vensim Units Check dan Check Model pada seluruh persamaan</a:t>
            </a:r>
          </a:p>
        </p:txBody>
      </p:sp>
      <p:sp>
        <p:nvSpPr>
          <p:cNvPr name="Freeform 77" id="77"/>
          <p:cNvSpPr/>
          <p:nvPr/>
        </p:nvSpPr>
        <p:spPr>
          <a:xfrm flipH="false" flipV="false" rot="0">
            <a:off x="9282779" y="2315051"/>
            <a:ext cx="8194357" cy="2845117"/>
          </a:xfrm>
          <a:custGeom>
            <a:avLst/>
            <a:gdLst/>
            <a:ahLst/>
            <a:cxnLst/>
            <a:rect r="r" b="b" t="t" l="l"/>
            <a:pathLst>
              <a:path h="2845117" w="8194357">
                <a:moveTo>
                  <a:pt x="0" y="0"/>
                </a:moveTo>
                <a:lnTo>
                  <a:pt x="8194358" y="0"/>
                </a:lnTo>
                <a:lnTo>
                  <a:pt x="8194358" y="2845118"/>
                </a:lnTo>
                <a:lnTo>
                  <a:pt x="0" y="2845118"/>
                </a:lnTo>
                <a:lnTo>
                  <a:pt x="0" y="0"/>
                </a:lnTo>
                <a:close/>
              </a:path>
            </a:pathLst>
          </a:custGeom>
          <a:blipFill>
            <a:blip r:embed="rId7">
              <a:extLst>
                <a:ext uri="{96DAC541-7B7A-43D3-8B79-37D633B846F1}">
                  <asvg:svgBlip xmlns:asvg="http://schemas.microsoft.com/office/drawing/2016/SVG/main" r:embed="rId8"/>
                </a:ext>
              </a:extLst>
            </a:blip>
            <a:stretch>
              <a:fillRect l="0" t="-9" r="0" b="-9"/>
            </a:stretch>
          </a:blipFill>
        </p:spPr>
        <p:txBody>
          <a:bodyPr/>
          <a:p/>
        </p:txBody>
      </p:sp>
      <p:grpSp>
        <p:nvGrpSpPr>
          <p:cNvPr name="Group 78" id="78"/>
          <p:cNvGrpSpPr/>
          <p:nvPr/>
        </p:nvGrpSpPr>
        <p:grpSpPr>
          <a:xfrm rot="0">
            <a:off x="9642348" y="2743200"/>
            <a:ext cx="2674620" cy="1097280"/>
            <a:chOff x="0" y="0"/>
            <a:chExt cx="3566160" cy="1463040"/>
          </a:xfrm>
        </p:grpSpPr>
        <p:sp>
          <p:nvSpPr>
            <p:cNvPr name="Freeform 79" id="79"/>
            <p:cNvSpPr/>
            <p:nvPr/>
          </p:nvSpPr>
          <p:spPr>
            <a:xfrm flipH="false" flipV="false" rot="0">
              <a:off x="0" y="0"/>
              <a:ext cx="3566160" cy="1463040"/>
            </a:xfrm>
            <a:custGeom>
              <a:avLst/>
              <a:gdLst/>
              <a:ahLst/>
              <a:cxnLst/>
              <a:rect r="r" b="b" t="t" l="l"/>
              <a:pathLst>
                <a:path h="1463040" w="3566160">
                  <a:moveTo>
                    <a:pt x="0" y="0"/>
                  </a:moveTo>
                  <a:lnTo>
                    <a:pt x="3566160" y="0"/>
                  </a:lnTo>
                  <a:lnTo>
                    <a:pt x="3566160" y="1463040"/>
                  </a:lnTo>
                  <a:lnTo>
                    <a:pt x="0" y="1463040"/>
                  </a:lnTo>
                  <a:close/>
                </a:path>
              </a:pathLst>
            </a:custGeom>
            <a:blipFill>
              <a:blip r:embed="rId4">
                <a:alphaModFix amt="0"/>
              </a:blip>
              <a:stretch>
                <a:fillRect l="-2674" t="0" r="-2673" b="0"/>
              </a:stretch>
            </a:blipFill>
          </p:spPr>
          <p:txBody>
            <a:bodyPr/>
            <a:p/>
          </p:txBody>
        </p:sp>
      </p:grpSp>
      <p:grpSp>
        <p:nvGrpSpPr>
          <p:cNvPr name="Group 80" id="80"/>
          <p:cNvGrpSpPr/>
          <p:nvPr/>
        </p:nvGrpSpPr>
        <p:grpSpPr>
          <a:xfrm rot="0">
            <a:off x="9642348" y="2678906"/>
            <a:ext cx="2674620" cy="1161574"/>
            <a:chOff x="0" y="0"/>
            <a:chExt cx="3566160" cy="1548765"/>
          </a:xfrm>
        </p:grpSpPr>
        <p:sp>
          <p:nvSpPr>
            <p:cNvPr name="Freeform 81" id="81"/>
            <p:cNvSpPr/>
            <p:nvPr/>
          </p:nvSpPr>
          <p:spPr>
            <a:xfrm flipH="false" flipV="false" rot="0">
              <a:off x="0" y="0"/>
              <a:ext cx="3566160" cy="1548765"/>
            </a:xfrm>
            <a:custGeom>
              <a:avLst/>
              <a:gdLst/>
              <a:ahLst/>
              <a:cxnLst/>
              <a:rect r="r" b="b" t="t" l="l"/>
              <a:pathLst>
                <a:path h="1548765" w="3566160">
                  <a:moveTo>
                    <a:pt x="0" y="0"/>
                  </a:moveTo>
                  <a:lnTo>
                    <a:pt x="3566160" y="0"/>
                  </a:lnTo>
                  <a:lnTo>
                    <a:pt x="3566160" y="1548765"/>
                  </a:lnTo>
                  <a:lnTo>
                    <a:pt x="0" y="1548765"/>
                  </a:lnTo>
                  <a:close/>
                </a:path>
              </a:pathLst>
            </a:custGeom>
            <a:blipFill>
              <a:blip r:embed="rId5">
                <a:alphaModFix amt="0"/>
              </a:blip>
              <a:stretch>
                <a:fillRect l="-5760" t="0" r="-5760" b="0"/>
              </a:stretch>
            </a:blipFill>
          </p:spPr>
          <p:txBody>
            <a:bodyPr/>
            <a:p/>
          </p:txBody>
        </p:sp>
      </p:grpSp>
      <p:grpSp>
        <p:nvGrpSpPr>
          <p:cNvPr name="Group 82" id="82"/>
          <p:cNvGrpSpPr/>
          <p:nvPr/>
        </p:nvGrpSpPr>
        <p:grpSpPr>
          <a:xfrm rot="0">
            <a:off x="9642348" y="2614612"/>
            <a:ext cx="2674620" cy="1225868"/>
            <a:chOff x="0" y="0"/>
            <a:chExt cx="3566160" cy="1634490"/>
          </a:xfrm>
        </p:grpSpPr>
        <p:sp>
          <p:nvSpPr>
            <p:cNvPr name="Freeform 83" id="83"/>
            <p:cNvSpPr/>
            <p:nvPr/>
          </p:nvSpPr>
          <p:spPr>
            <a:xfrm flipH="false" flipV="false" rot="0">
              <a:off x="0" y="0"/>
              <a:ext cx="3566160" cy="1634490"/>
            </a:xfrm>
            <a:custGeom>
              <a:avLst/>
              <a:gdLst/>
              <a:ahLst/>
              <a:cxnLst/>
              <a:rect r="r" b="b" t="t" l="l"/>
              <a:pathLst>
                <a:path h="1634490" w="3566160">
                  <a:moveTo>
                    <a:pt x="0" y="0"/>
                  </a:moveTo>
                  <a:lnTo>
                    <a:pt x="3566160" y="0"/>
                  </a:lnTo>
                  <a:lnTo>
                    <a:pt x="3566160" y="1634490"/>
                  </a:lnTo>
                  <a:lnTo>
                    <a:pt x="0" y="1634490"/>
                  </a:lnTo>
                  <a:close/>
                </a:path>
              </a:pathLst>
            </a:custGeom>
            <a:blipFill>
              <a:blip r:embed="rId6">
                <a:alphaModFix amt="0"/>
              </a:blip>
              <a:stretch>
                <a:fillRect l="-8805" t="0" r="-8805" b="0"/>
              </a:stretch>
            </a:blipFill>
          </p:spPr>
          <p:txBody>
            <a:bodyPr/>
            <a:p/>
          </p:txBody>
        </p:sp>
        <p:sp>
          <p:nvSpPr>
            <p:cNvPr name="TextBox 84" id="84"/>
            <p:cNvSpPr txBox="true"/>
            <p:nvPr/>
          </p:nvSpPr>
          <p:spPr>
            <a:xfrm>
              <a:off x="0" y="-85725"/>
              <a:ext cx="3566160" cy="1720215"/>
            </a:xfrm>
            <a:prstGeom prst="rect">
              <a:avLst/>
            </a:prstGeom>
          </p:spPr>
          <p:txBody>
            <a:bodyPr anchor="ctr" rtlCol="false" tIns="0" lIns="0" bIns="0" rIns="0"/>
            <a:lstStyle/>
            <a:p>
              <a:pPr algn="l">
                <a:lnSpc>
                  <a:spcPts val="5757"/>
                </a:lnSpc>
              </a:pPr>
              <a:r>
                <a:rPr lang="en-US" sz="4800" b="true">
                  <a:solidFill>
                    <a:srgbClr val="0B5E6E"/>
                  </a:solidFill>
                  <a:latin typeface="Calibri (MS) Bold"/>
                  <a:ea typeface="Calibri (MS) Bold"/>
                  <a:cs typeface="Calibri (MS) Bold"/>
                  <a:sym typeface="Calibri (MS) Bold"/>
                </a:rPr>
                <a:t>0</a:t>
              </a:r>
            </a:p>
          </p:txBody>
        </p:sp>
      </p:grpSp>
      <p:sp>
        <p:nvSpPr>
          <p:cNvPr name="TextBox 85" id="85"/>
          <p:cNvSpPr txBox="true"/>
          <p:nvPr/>
        </p:nvSpPr>
        <p:spPr>
          <a:xfrm rot="0">
            <a:off x="9642348" y="3726180"/>
            <a:ext cx="2674620" cy="937260"/>
          </a:xfrm>
          <a:prstGeom prst="rect">
            <a:avLst/>
          </a:prstGeom>
        </p:spPr>
        <p:txBody>
          <a:bodyPr anchor="t" rtlCol="false" tIns="0" lIns="0" bIns="0" rIns="0">
            <a:spAutoFit/>
          </a:bodyPr>
          <a:lstStyle/>
          <a:p>
            <a:pPr algn="l">
              <a:lnSpc>
                <a:spcPts val="2160"/>
              </a:lnSpc>
            </a:pPr>
            <a:r>
              <a:rPr lang="en-US" sz="1800">
                <a:solidFill>
                  <a:srgbClr val="5E6E78"/>
                </a:solidFill>
                <a:latin typeface="Calibri (MS)"/>
                <a:ea typeface="Calibri (MS)"/>
                <a:cs typeface="Calibri (MS)"/>
                <a:sym typeface="Calibri (MS)"/>
              </a:rPr>
              <a:t>selisih stok</a:t>
            </a:r>
          </a:p>
        </p:txBody>
      </p:sp>
      <p:sp>
        <p:nvSpPr>
          <p:cNvPr name="TextBox 86" id="86"/>
          <p:cNvSpPr txBox="true"/>
          <p:nvPr/>
        </p:nvSpPr>
        <p:spPr>
          <a:xfrm rot="0">
            <a:off x="12522708" y="2519172"/>
            <a:ext cx="4663440" cy="66294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Keseimbangan stok</a:t>
            </a:r>
          </a:p>
        </p:txBody>
      </p:sp>
      <p:sp>
        <p:nvSpPr>
          <p:cNvPr name="TextBox 87" id="87"/>
          <p:cNvSpPr txBox="true"/>
          <p:nvPr/>
        </p:nvSpPr>
        <p:spPr>
          <a:xfrm rot="0">
            <a:off x="12522708" y="3177540"/>
            <a:ext cx="4663440" cy="189738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Stok berikutnya = stok + inflow − outflow, pada 5 stok, 2025–2049</a:t>
            </a:r>
          </a:p>
        </p:txBody>
      </p:sp>
      <p:sp>
        <p:nvSpPr>
          <p:cNvPr name="Freeform 88" id="88"/>
          <p:cNvSpPr/>
          <p:nvPr/>
        </p:nvSpPr>
        <p:spPr>
          <a:xfrm flipH="false" flipV="false" rot="0">
            <a:off x="806291" y="5332571"/>
            <a:ext cx="8194357" cy="2845117"/>
          </a:xfrm>
          <a:custGeom>
            <a:avLst/>
            <a:gdLst/>
            <a:ahLst/>
            <a:cxnLst/>
            <a:rect r="r" b="b" t="t" l="l"/>
            <a:pathLst>
              <a:path h="2845117" w="8194357">
                <a:moveTo>
                  <a:pt x="0" y="0"/>
                </a:moveTo>
                <a:lnTo>
                  <a:pt x="8194358" y="0"/>
                </a:lnTo>
                <a:lnTo>
                  <a:pt x="8194358" y="2845118"/>
                </a:lnTo>
                <a:lnTo>
                  <a:pt x="0" y="2845118"/>
                </a:lnTo>
                <a:lnTo>
                  <a:pt x="0" y="0"/>
                </a:lnTo>
                <a:close/>
              </a:path>
            </a:pathLst>
          </a:custGeom>
          <a:blipFill>
            <a:blip r:embed="rId7">
              <a:extLst>
                <a:ext uri="{96DAC541-7B7A-43D3-8B79-37D633B846F1}">
                  <asvg:svgBlip xmlns:asvg="http://schemas.microsoft.com/office/drawing/2016/SVG/main" r:embed="rId8"/>
                </a:ext>
              </a:extLst>
            </a:blip>
            <a:stretch>
              <a:fillRect l="0" t="-9" r="0" b="-9"/>
            </a:stretch>
          </a:blipFill>
        </p:spPr>
        <p:txBody>
          <a:bodyPr/>
          <a:p/>
        </p:txBody>
      </p:sp>
      <p:grpSp>
        <p:nvGrpSpPr>
          <p:cNvPr name="Group 89" id="89"/>
          <p:cNvGrpSpPr/>
          <p:nvPr/>
        </p:nvGrpSpPr>
        <p:grpSpPr>
          <a:xfrm rot="0">
            <a:off x="1165860" y="5760720"/>
            <a:ext cx="2674620" cy="1097280"/>
            <a:chOff x="0" y="0"/>
            <a:chExt cx="3566160" cy="1463040"/>
          </a:xfrm>
        </p:grpSpPr>
        <p:sp>
          <p:nvSpPr>
            <p:cNvPr name="Freeform 90" id="90"/>
            <p:cNvSpPr/>
            <p:nvPr/>
          </p:nvSpPr>
          <p:spPr>
            <a:xfrm flipH="false" flipV="false" rot="0">
              <a:off x="0" y="0"/>
              <a:ext cx="3566160" cy="1463040"/>
            </a:xfrm>
            <a:custGeom>
              <a:avLst/>
              <a:gdLst/>
              <a:ahLst/>
              <a:cxnLst/>
              <a:rect r="r" b="b" t="t" l="l"/>
              <a:pathLst>
                <a:path h="1463040" w="3566160">
                  <a:moveTo>
                    <a:pt x="0" y="0"/>
                  </a:moveTo>
                  <a:lnTo>
                    <a:pt x="3566160" y="0"/>
                  </a:lnTo>
                  <a:lnTo>
                    <a:pt x="3566160" y="1463040"/>
                  </a:lnTo>
                  <a:lnTo>
                    <a:pt x="0" y="1463040"/>
                  </a:lnTo>
                  <a:close/>
                </a:path>
              </a:pathLst>
            </a:custGeom>
            <a:blipFill>
              <a:blip r:embed="rId4">
                <a:alphaModFix amt="0"/>
              </a:blip>
              <a:stretch>
                <a:fillRect l="-2674" t="0" r="-2673" b="0"/>
              </a:stretch>
            </a:blipFill>
          </p:spPr>
          <p:txBody>
            <a:bodyPr/>
            <a:p/>
          </p:txBody>
        </p:sp>
      </p:grpSp>
      <p:grpSp>
        <p:nvGrpSpPr>
          <p:cNvPr name="Group 91" id="91"/>
          <p:cNvGrpSpPr/>
          <p:nvPr/>
        </p:nvGrpSpPr>
        <p:grpSpPr>
          <a:xfrm rot="0">
            <a:off x="1165860" y="5696426"/>
            <a:ext cx="2674620" cy="1161574"/>
            <a:chOff x="0" y="0"/>
            <a:chExt cx="3566160" cy="1548765"/>
          </a:xfrm>
        </p:grpSpPr>
        <p:sp>
          <p:nvSpPr>
            <p:cNvPr name="Freeform 92" id="92"/>
            <p:cNvSpPr/>
            <p:nvPr/>
          </p:nvSpPr>
          <p:spPr>
            <a:xfrm flipH="false" flipV="false" rot="0">
              <a:off x="0" y="0"/>
              <a:ext cx="3566160" cy="1548765"/>
            </a:xfrm>
            <a:custGeom>
              <a:avLst/>
              <a:gdLst/>
              <a:ahLst/>
              <a:cxnLst/>
              <a:rect r="r" b="b" t="t" l="l"/>
              <a:pathLst>
                <a:path h="1548765" w="3566160">
                  <a:moveTo>
                    <a:pt x="0" y="0"/>
                  </a:moveTo>
                  <a:lnTo>
                    <a:pt x="3566160" y="0"/>
                  </a:lnTo>
                  <a:lnTo>
                    <a:pt x="3566160" y="1548765"/>
                  </a:lnTo>
                  <a:lnTo>
                    <a:pt x="0" y="1548765"/>
                  </a:lnTo>
                  <a:close/>
                </a:path>
              </a:pathLst>
            </a:custGeom>
            <a:blipFill>
              <a:blip r:embed="rId5">
                <a:alphaModFix amt="0"/>
              </a:blip>
              <a:stretch>
                <a:fillRect l="-5760" t="0" r="-5760" b="0"/>
              </a:stretch>
            </a:blipFill>
          </p:spPr>
          <p:txBody>
            <a:bodyPr/>
            <a:p/>
          </p:txBody>
        </p:sp>
      </p:grpSp>
      <p:grpSp>
        <p:nvGrpSpPr>
          <p:cNvPr name="Group 93" id="93"/>
          <p:cNvGrpSpPr/>
          <p:nvPr/>
        </p:nvGrpSpPr>
        <p:grpSpPr>
          <a:xfrm rot="0">
            <a:off x="1165860" y="5632132"/>
            <a:ext cx="2674620" cy="1225868"/>
            <a:chOff x="0" y="0"/>
            <a:chExt cx="3566160" cy="1634490"/>
          </a:xfrm>
        </p:grpSpPr>
        <p:sp>
          <p:nvSpPr>
            <p:cNvPr name="Freeform 94" id="94"/>
            <p:cNvSpPr/>
            <p:nvPr/>
          </p:nvSpPr>
          <p:spPr>
            <a:xfrm flipH="false" flipV="false" rot="0">
              <a:off x="0" y="0"/>
              <a:ext cx="3566160" cy="1634490"/>
            </a:xfrm>
            <a:custGeom>
              <a:avLst/>
              <a:gdLst/>
              <a:ahLst/>
              <a:cxnLst/>
              <a:rect r="r" b="b" t="t" l="l"/>
              <a:pathLst>
                <a:path h="1634490" w="3566160">
                  <a:moveTo>
                    <a:pt x="0" y="0"/>
                  </a:moveTo>
                  <a:lnTo>
                    <a:pt x="3566160" y="0"/>
                  </a:lnTo>
                  <a:lnTo>
                    <a:pt x="3566160" y="1634490"/>
                  </a:lnTo>
                  <a:lnTo>
                    <a:pt x="0" y="1634490"/>
                  </a:lnTo>
                  <a:close/>
                </a:path>
              </a:pathLst>
            </a:custGeom>
            <a:blipFill>
              <a:blip r:embed="rId6">
                <a:alphaModFix amt="0"/>
              </a:blip>
              <a:stretch>
                <a:fillRect l="-8805" t="0" r="-8805" b="0"/>
              </a:stretch>
            </a:blipFill>
          </p:spPr>
          <p:txBody>
            <a:bodyPr/>
            <a:p/>
          </p:txBody>
        </p:sp>
        <p:sp>
          <p:nvSpPr>
            <p:cNvPr name="TextBox 95" id="95"/>
            <p:cNvSpPr txBox="true"/>
            <p:nvPr/>
          </p:nvSpPr>
          <p:spPr>
            <a:xfrm>
              <a:off x="0" y="-85725"/>
              <a:ext cx="3566160" cy="1720215"/>
            </a:xfrm>
            <a:prstGeom prst="rect">
              <a:avLst/>
            </a:prstGeom>
          </p:spPr>
          <p:txBody>
            <a:bodyPr anchor="ctr" rtlCol="false" tIns="0" lIns="0" bIns="0" rIns="0"/>
            <a:lstStyle/>
            <a:p>
              <a:pPr algn="l">
                <a:lnSpc>
                  <a:spcPts val="5757"/>
                </a:lnSpc>
              </a:pPr>
              <a:r>
                <a:rPr lang="en-US" sz="4800" b="true">
                  <a:solidFill>
                    <a:srgbClr val="0B5E6E"/>
                  </a:solidFill>
                  <a:latin typeface="Calibri (MS) Bold"/>
                  <a:ea typeface="Calibri (MS) Bold"/>
                  <a:cs typeface="Calibri (MS) Bold"/>
                  <a:sym typeface="Calibri (MS) Bold"/>
                </a:rPr>
                <a:t>6 / 6</a:t>
              </a:r>
            </a:p>
          </p:txBody>
        </p:sp>
      </p:grpSp>
      <p:sp>
        <p:nvSpPr>
          <p:cNvPr name="TextBox 96" id="96"/>
          <p:cNvSpPr txBox="true"/>
          <p:nvPr/>
        </p:nvSpPr>
        <p:spPr>
          <a:xfrm rot="0">
            <a:off x="1165860" y="6743700"/>
            <a:ext cx="2674620" cy="937260"/>
          </a:xfrm>
          <a:prstGeom prst="rect">
            <a:avLst/>
          </a:prstGeom>
        </p:spPr>
        <p:txBody>
          <a:bodyPr anchor="t" rtlCol="false" tIns="0" lIns="0" bIns="0" rIns="0">
            <a:spAutoFit/>
          </a:bodyPr>
          <a:lstStyle/>
          <a:p>
            <a:pPr algn="l">
              <a:lnSpc>
                <a:spcPts val="2160"/>
              </a:lnSpc>
            </a:pPr>
            <a:r>
              <a:rPr lang="en-US" sz="1800">
                <a:solidFill>
                  <a:srgbClr val="5E6E78"/>
                </a:solidFill>
                <a:latin typeface="Calibri (MS)"/>
                <a:ea typeface="Calibri (MS)"/>
                <a:cs typeface="Calibri (MS)"/>
                <a:sym typeface="Calibri (MS)"/>
              </a:rPr>
              <a:t>loop berfungsi</a:t>
            </a:r>
          </a:p>
        </p:txBody>
      </p:sp>
      <p:sp>
        <p:nvSpPr>
          <p:cNvPr name="TextBox 97" id="97"/>
          <p:cNvSpPr txBox="true"/>
          <p:nvPr/>
        </p:nvSpPr>
        <p:spPr>
          <a:xfrm rot="0">
            <a:off x="4046220" y="5536692"/>
            <a:ext cx="4663440" cy="66294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Uji feedback loop</a:t>
            </a:r>
          </a:p>
        </p:txBody>
      </p:sp>
      <p:sp>
        <p:nvSpPr>
          <p:cNvPr name="TextBox 98" id="98"/>
          <p:cNvSpPr txBox="true"/>
          <p:nvPr/>
        </p:nvSpPr>
        <p:spPr>
          <a:xfrm rot="0">
            <a:off x="4046220" y="6195060"/>
            <a:ext cx="4663440" cy="189738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Setiap balancing loop yang dinonaktifkan membuat pertumbuhan lebih cepat</a:t>
            </a:r>
          </a:p>
        </p:txBody>
      </p:sp>
      <p:sp>
        <p:nvSpPr>
          <p:cNvPr name="Freeform 99" id="99"/>
          <p:cNvSpPr/>
          <p:nvPr/>
        </p:nvSpPr>
        <p:spPr>
          <a:xfrm flipH="false" flipV="false" rot="0">
            <a:off x="9282779" y="5332571"/>
            <a:ext cx="8194357" cy="2845117"/>
          </a:xfrm>
          <a:custGeom>
            <a:avLst/>
            <a:gdLst/>
            <a:ahLst/>
            <a:cxnLst/>
            <a:rect r="r" b="b" t="t" l="l"/>
            <a:pathLst>
              <a:path h="2845117" w="8194357">
                <a:moveTo>
                  <a:pt x="0" y="0"/>
                </a:moveTo>
                <a:lnTo>
                  <a:pt x="8194358" y="0"/>
                </a:lnTo>
                <a:lnTo>
                  <a:pt x="8194358" y="2845118"/>
                </a:lnTo>
                <a:lnTo>
                  <a:pt x="0" y="2845118"/>
                </a:lnTo>
                <a:lnTo>
                  <a:pt x="0" y="0"/>
                </a:lnTo>
                <a:close/>
              </a:path>
            </a:pathLst>
          </a:custGeom>
          <a:blipFill>
            <a:blip r:embed="rId7">
              <a:extLst>
                <a:ext uri="{96DAC541-7B7A-43D3-8B79-37D633B846F1}">
                  <asvg:svgBlip xmlns:asvg="http://schemas.microsoft.com/office/drawing/2016/SVG/main" r:embed="rId8"/>
                </a:ext>
              </a:extLst>
            </a:blip>
            <a:stretch>
              <a:fillRect l="0" t="-9" r="0" b="-9"/>
            </a:stretch>
          </a:blipFill>
        </p:spPr>
        <p:txBody>
          <a:bodyPr/>
          <a:p/>
        </p:txBody>
      </p:sp>
      <p:grpSp>
        <p:nvGrpSpPr>
          <p:cNvPr name="Group 100" id="100"/>
          <p:cNvGrpSpPr/>
          <p:nvPr/>
        </p:nvGrpSpPr>
        <p:grpSpPr>
          <a:xfrm rot="0">
            <a:off x="9642348" y="5760720"/>
            <a:ext cx="2674620" cy="1097280"/>
            <a:chOff x="0" y="0"/>
            <a:chExt cx="3566160" cy="1463040"/>
          </a:xfrm>
        </p:grpSpPr>
        <p:sp>
          <p:nvSpPr>
            <p:cNvPr name="Freeform 101" id="101"/>
            <p:cNvSpPr/>
            <p:nvPr/>
          </p:nvSpPr>
          <p:spPr>
            <a:xfrm flipH="false" flipV="false" rot="0">
              <a:off x="0" y="0"/>
              <a:ext cx="3566160" cy="1463040"/>
            </a:xfrm>
            <a:custGeom>
              <a:avLst/>
              <a:gdLst/>
              <a:ahLst/>
              <a:cxnLst/>
              <a:rect r="r" b="b" t="t" l="l"/>
              <a:pathLst>
                <a:path h="1463040" w="3566160">
                  <a:moveTo>
                    <a:pt x="0" y="0"/>
                  </a:moveTo>
                  <a:lnTo>
                    <a:pt x="3566160" y="0"/>
                  </a:lnTo>
                  <a:lnTo>
                    <a:pt x="3566160" y="1463040"/>
                  </a:lnTo>
                  <a:lnTo>
                    <a:pt x="0" y="1463040"/>
                  </a:lnTo>
                  <a:close/>
                </a:path>
              </a:pathLst>
            </a:custGeom>
            <a:blipFill>
              <a:blip r:embed="rId4">
                <a:alphaModFix amt="0"/>
              </a:blip>
              <a:stretch>
                <a:fillRect l="-2674" t="0" r="-2673" b="0"/>
              </a:stretch>
            </a:blipFill>
          </p:spPr>
          <p:txBody>
            <a:bodyPr/>
            <a:p/>
          </p:txBody>
        </p:sp>
      </p:grpSp>
      <p:grpSp>
        <p:nvGrpSpPr>
          <p:cNvPr name="Group 102" id="102"/>
          <p:cNvGrpSpPr/>
          <p:nvPr/>
        </p:nvGrpSpPr>
        <p:grpSpPr>
          <a:xfrm rot="0">
            <a:off x="9642348" y="5696426"/>
            <a:ext cx="2674620" cy="1161574"/>
            <a:chOff x="0" y="0"/>
            <a:chExt cx="3566160" cy="1548765"/>
          </a:xfrm>
        </p:grpSpPr>
        <p:sp>
          <p:nvSpPr>
            <p:cNvPr name="Freeform 103" id="103"/>
            <p:cNvSpPr/>
            <p:nvPr/>
          </p:nvSpPr>
          <p:spPr>
            <a:xfrm flipH="false" flipV="false" rot="0">
              <a:off x="0" y="0"/>
              <a:ext cx="3566160" cy="1548765"/>
            </a:xfrm>
            <a:custGeom>
              <a:avLst/>
              <a:gdLst/>
              <a:ahLst/>
              <a:cxnLst/>
              <a:rect r="r" b="b" t="t" l="l"/>
              <a:pathLst>
                <a:path h="1548765" w="3566160">
                  <a:moveTo>
                    <a:pt x="0" y="0"/>
                  </a:moveTo>
                  <a:lnTo>
                    <a:pt x="3566160" y="0"/>
                  </a:lnTo>
                  <a:lnTo>
                    <a:pt x="3566160" y="1548765"/>
                  </a:lnTo>
                  <a:lnTo>
                    <a:pt x="0" y="1548765"/>
                  </a:lnTo>
                  <a:close/>
                </a:path>
              </a:pathLst>
            </a:custGeom>
            <a:blipFill>
              <a:blip r:embed="rId5">
                <a:alphaModFix amt="0"/>
              </a:blip>
              <a:stretch>
                <a:fillRect l="-5760" t="0" r="-5760" b="0"/>
              </a:stretch>
            </a:blipFill>
          </p:spPr>
          <p:txBody>
            <a:bodyPr/>
            <a:p/>
          </p:txBody>
        </p:sp>
      </p:grpSp>
      <p:grpSp>
        <p:nvGrpSpPr>
          <p:cNvPr name="Group 104" id="104"/>
          <p:cNvGrpSpPr/>
          <p:nvPr/>
        </p:nvGrpSpPr>
        <p:grpSpPr>
          <a:xfrm rot="0">
            <a:off x="9642348" y="5632132"/>
            <a:ext cx="2674620" cy="1225868"/>
            <a:chOff x="0" y="0"/>
            <a:chExt cx="3566160" cy="1634490"/>
          </a:xfrm>
        </p:grpSpPr>
        <p:sp>
          <p:nvSpPr>
            <p:cNvPr name="Freeform 105" id="105"/>
            <p:cNvSpPr/>
            <p:nvPr/>
          </p:nvSpPr>
          <p:spPr>
            <a:xfrm flipH="false" flipV="false" rot="0">
              <a:off x="0" y="0"/>
              <a:ext cx="3566160" cy="1634490"/>
            </a:xfrm>
            <a:custGeom>
              <a:avLst/>
              <a:gdLst/>
              <a:ahLst/>
              <a:cxnLst/>
              <a:rect r="r" b="b" t="t" l="l"/>
              <a:pathLst>
                <a:path h="1634490" w="3566160">
                  <a:moveTo>
                    <a:pt x="0" y="0"/>
                  </a:moveTo>
                  <a:lnTo>
                    <a:pt x="3566160" y="0"/>
                  </a:lnTo>
                  <a:lnTo>
                    <a:pt x="3566160" y="1634490"/>
                  </a:lnTo>
                  <a:lnTo>
                    <a:pt x="0" y="1634490"/>
                  </a:lnTo>
                  <a:close/>
                </a:path>
              </a:pathLst>
            </a:custGeom>
            <a:blipFill>
              <a:blip r:embed="rId6">
                <a:alphaModFix amt="0"/>
              </a:blip>
              <a:stretch>
                <a:fillRect l="-8805" t="0" r="-8805" b="0"/>
              </a:stretch>
            </a:blipFill>
          </p:spPr>
          <p:txBody>
            <a:bodyPr/>
            <a:p/>
          </p:txBody>
        </p:sp>
        <p:sp>
          <p:nvSpPr>
            <p:cNvPr name="TextBox 106" id="106"/>
            <p:cNvSpPr txBox="true"/>
            <p:nvPr/>
          </p:nvSpPr>
          <p:spPr>
            <a:xfrm>
              <a:off x="0" y="-85725"/>
              <a:ext cx="3566160" cy="1720215"/>
            </a:xfrm>
            <a:prstGeom prst="rect">
              <a:avLst/>
            </a:prstGeom>
          </p:spPr>
          <p:txBody>
            <a:bodyPr anchor="ctr" rtlCol="false" tIns="0" lIns="0" bIns="0" rIns="0"/>
            <a:lstStyle/>
            <a:p>
              <a:pPr algn="l">
                <a:lnSpc>
                  <a:spcPts val="5757"/>
                </a:lnSpc>
              </a:pPr>
              <a:r>
                <a:rPr lang="en-US" sz="4800" b="true">
                  <a:solidFill>
                    <a:srgbClr val="0B5E6E"/>
                  </a:solidFill>
                  <a:latin typeface="Calibri (MS) Bold"/>
                  <a:ea typeface="Calibri (MS) Bold"/>
                  <a:cs typeface="Calibri (MS) Bold"/>
                  <a:sym typeface="Calibri (MS) Bold"/>
                </a:rPr>
                <a:t>0 gagal</a:t>
              </a:r>
            </a:p>
          </p:txBody>
        </p:sp>
      </p:grpSp>
      <p:sp>
        <p:nvSpPr>
          <p:cNvPr name="TextBox 107" id="107"/>
          <p:cNvSpPr txBox="true"/>
          <p:nvPr/>
        </p:nvSpPr>
        <p:spPr>
          <a:xfrm rot="0">
            <a:off x="9642348" y="6743700"/>
            <a:ext cx="2674620" cy="937260"/>
          </a:xfrm>
          <a:prstGeom prst="rect">
            <a:avLst/>
          </a:prstGeom>
        </p:spPr>
        <p:txBody>
          <a:bodyPr anchor="t" rtlCol="false" tIns="0" lIns="0" bIns="0" rIns="0">
            <a:spAutoFit/>
          </a:bodyPr>
          <a:lstStyle/>
          <a:p>
            <a:pPr algn="l">
              <a:lnSpc>
                <a:spcPts val="2160"/>
              </a:lnSpc>
            </a:pPr>
            <a:r>
              <a:rPr lang="en-US" sz="1800">
                <a:solidFill>
                  <a:srgbClr val="5E6E78"/>
                </a:solidFill>
                <a:latin typeface="Calibri (MS)"/>
                <a:ea typeface="Calibri (MS)"/>
                <a:cs typeface="Calibri (MS)"/>
                <a:sym typeface="Calibri (MS)"/>
              </a:rPr>
              <a:t>dari 17 uji</a:t>
            </a:r>
          </a:p>
        </p:txBody>
      </p:sp>
      <p:sp>
        <p:nvSpPr>
          <p:cNvPr name="TextBox 108" id="108"/>
          <p:cNvSpPr txBox="true"/>
          <p:nvPr/>
        </p:nvSpPr>
        <p:spPr>
          <a:xfrm rot="0">
            <a:off x="12522708" y="5536692"/>
            <a:ext cx="4663440" cy="66294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Uji kondisi ekstrem</a:t>
            </a:r>
          </a:p>
        </p:txBody>
      </p:sp>
      <p:sp>
        <p:nvSpPr>
          <p:cNvPr name="TextBox 109" id="109"/>
          <p:cNvSpPr txBox="true"/>
          <p:nvPr/>
        </p:nvSpPr>
        <p:spPr>
          <a:xfrm rot="0">
            <a:off x="12522708" y="6195060"/>
            <a:ext cx="4663440" cy="189738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15 lolos, 2 lolos dengan catatan; 4 titik struktur diperbaiki (TPK &gt; 1, RDDL negatif, 2 komponen daya tarik tanpa batas)</a:t>
            </a:r>
          </a:p>
        </p:txBody>
      </p:sp>
      <p:grpSp>
        <p:nvGrpSpPr>
          <p:cNvPr name="Group 110" id="110"/>
          <p:cNvGrpSpPr/>
          <p:nvPr/>
        </p:nvGrpSpPr>
        <p:grpSpPr>
          <a:xfrm rot="0">
            <a:off x="822960" y="8435340"/>
            <a:ext cx="16637508" cy="822960"/>
            <a:chOff x="0" y="0"/>
            <a:chExt cx="22183344" cy="1097280"/>
          </a:xfrm>
        </p:grpSpPr>
        <p:sp>
          <p:nvSpPr>
            <p:cNvPr name="Freeform 111" id="111"/>
            <p:cNvSpPr/>
            <p:nvPr/>
          </p:nvSpPr>
          <p:spPr>
            <a:xfrm flipH="false" flipV="false" rot="0">
              <a:off x="0" y="0"/>
              <a:ext cx="22183344" cy="1097280"/>
            </a:xfrm>
            <a:custGeom>
              <a:avLst/>
              <a:gdLst/>
              <a:ahLst/>
              <a:cxnLst/>
              <a:rect r="r" b="b" t="t" l="l"/>
              <a:pathLst>
                <a:path h="1097280" w="22183344">
                  <a:moveTo>
                    <a:pt x="0" y="182880"/>
                  </a:moveTo>
                  <a:cubicBezTo>
                    <a:pt x="0" y="81915"/>
                    <a:pt x="81915" y="0"/>
                    <a:pt x="182880" y="0"/>
                  </a:cubicBezTo>
                  <a:lnTo>
                    <a:pt x="22000463" y="0"/>
                  </a:lnTo>
                  <a:cubicBezTo>
                    <a:pt x="22101428" y="0"/>
                    <a:pt x="22183344" y="81915"/>
                    <a:pt x="22183344" y="182880"/>
                  </a:cubicBezTo>
                  <a:lnTo>
                    <a:pt x="22183344" y="914400"/>
                  </a:lnTo>
                  <a:cubicBezTo>
                    <a:pt x="22183344" y="1015365"/>
                    <a:pt x="22101428" y="1097280"/>
                    <a:pt x="22000463" y="1097280"/>
                  </a:cubicBezTo>
                  <a:lnTo>
                    <a:pt x="182880" y="1097280"/>
                  </a:lnTo>
                  <a:cubicBezTo>
                    <a:pt x="81915" y="1097280"/>
                    <a:pt x="0" y="1015365"/>
                    <a:pt x="0" y="914400"/>
                  </a:cubicBezTo>
                  <a:close/>
                </a:path>
              </a:pathLst>
            </a:custGeom>
            <a:solidFill>
              <a:srgbClr val="FFF1BF"/>
            </a:solidFill>
          </p:spPr>
          <p:txBody>
            <a:bodyPr/>
            <a:p/>
          </p:txBody>
        </p:sp>
      </p:grpSp>
      <p:grpSp>
        <p:nvGrpSpPr>
          <p:cNvPr name="Group 112" id="112"/>
          <p:cNvGrpSpPr/>
          <p:nvPr/>
        </p:nvGrpSpPr>
        <p:grpSpPr>
          <a:xfrm rot="0">
            <a:off x="1234440" y="8435340"/>
            <a:ext cx="15814548" cy="822960"/>
            <a:chOff x="0" y="0"/>
            <a:chExt cx="21086064" cy="1097280"/>
          </a:xfrm>
        </p:grpSpPr>
        <p:sp>
          <p:nvSpPr>
            <p:cNvPr name="Freeform 113" id="113"/>
            <p:cNvSpPr/>
            <p:nvPr/>
          </p:nvSpPr>
          <p:spPr>
            <a:xfrm flipH="false" flipV="false" rot="0">
              <a:off x="0" y="0"/>
              <a:ext cx="21086063" cy="1097280"/>
            </a:xfrm>
            <a:custGeom>
              <a:avLst/>
              <a:gdLst/>
              <a:ahLst/>
              <a:cxnLst/>
              <a:rect r="r" b="b" t="t" l="l"/>
              <a:pathLst>
                <a:path h="1097280" w="21086063">
                  <a:moveTo>
                    <a:pt x="0" y="0"/>
                  </a:moveTo>
                  <a:lnTo>
                    <a:pt x="21086063" y="0"/>
                  </a:lnTo>
                  <a:lnTo>
                    <a:pt x="21086063" y="1097280"/>
                  </a:lnTo>
                  <a:lnTo>
                    <a:pt x="0" y="1097280"/>
                  </a:lnTo>
                  <a:close/>
                </a:path>
              </a:pathLst>
            </a:custGeom>
            <a:blipFill>
              <a:blip r:embed="rId4">
                <a:alphaModFix amt="0"/>
              </a:blip>
              <a:stretch>
                <a:fillRect l="0" t="-324177" r="0" b="-324177"/>
              </a:stretch>
            </a:blipFill>
          </p:spPr>
          <p:txBody>
            <a:bodyPr/>
            <a:p/>
          </p:txBody>
        </p:sp>
      </p:grpSp>
      <p:grpSp>
        <p:nvGrpSpPr>
          <p:cNvPr name="Group 114" id="114"/>
          <p:cNvGrpSpPr/>
          <p:nvPr/>
        </p:nvGrpSpPr>
        <p:grpSpPr>
          <a:xfrm rot="0">
            <a:off x="1234440" y="8406765"/>
            <a:ext cx="15814548" cy="851535"/>
            <a:chOff x="0" y="0"/>
            <a:chExt cx="21086064" cy="1135380"/>
          </a:xfrm>
        </p:grpSpPr>
        <p:sp>
          <p:nvSpPr>
            <p:cNvPr name="Freeform 115" id="115"/>
            <p:cNvSpPr/>
            <p:nvPr/>
          </p:nvSpPr>
          <p:spPr>
            <a:xfrm flipH="false" flipV="false" rot="0">
              <a:off x="0" y="0"/>
              <a:ext cx="21086063" cy="1135380"/>
            </a:xfrm>
            <a:custGeom>
              <a:avLst/>
              <a:gdLst/>
              <a:ahLst/>
              <a:cxnLst/>
              <a:rect r="r" b="b" t="t" l="l"/>
              <a:pathLst>
                <a:path h="1135380" w="21086063">
                  <a:moveTo>
                    <a:pt x="0" y="0"/>
                  </a:moveTo>
                  <a:lnTo>
                    <a:pt x="21086063" y="0"/>
                  </a:lnTo>
                  <a:lnTo>
                    <a:pt x="21086063" y="1135380"/>
                  </a:lnTo>
                  <a:lnTo>
                    <a:pt x="0" y="1135380"/>
                  </a:lnTo>
                  <a:close/>
                </a:path>
              </a:pathLst>
            </a:custGeom>
            <a:blipFill>
              <a:blip r:embed="rId5">
                <a:alphaModFix amt="0"/>
              </a:blip>
              <a:stretch>
                <a:fillRect l="0" t="-311620" r="0" b="-311620"/>
              </a:stretch>
            </a:blipFill>
          </p:spPr>
          <p:txBody>
            <a:bodyPr/>
            <a:p/>
          </p:txBody>
        </p:sp>
      </p:grpSp>
      <p:grpSp>
        <p:nvGrpSpPr>
          <p:cNvPr name="Group 116" id="116"/>
          <p:cNvGrpSpPr/>
          <p:nvPr/>
        </p:nvGrpSpPr>
        <p:grpSpPr>
          <a:xfrm rot="0">
            <a:off x="1234440" y="8378190"/>
            <a:ext cx="15814548" cy="880110"/>
            <a:chOff x="0" y="0"/>
            <a:chExt cx="21086064" cy="1173480"/>
          </a:xfrm>
        </p:grpSpPr>
        <p:sp>
          <p:nvSpPr>
            <p:cNvPr name="Freeform 117" id="117"/>
            <p:cNvSpPr/>
            <p:nvPr/>
          </p:nvSpPr>
          <p:spPr>
            <a:xfrm flipH="false" flipV="false" rot="0">
              <a:off x="0" y="0"/>
              <a:ext cx="21086065" cy="1173480"/>
            </a:xfrm>
            <a:custGeom>
              <a:avLst/>
              <a:gdLst/>
              <a:ahLst/>
              <a:cxnLst/>
              <a:rect r="r" b="b" t="t" l="l"/>
              <a:pathLst>
                <a:path h="1173480" w="21086065">
                  <a:moveTo>
                    <a:pt x="0" y="0"/>
                  </a:moveTo>
                  <a:lnTo>
                    <a:pt x="21086065" y="0"/>
                  </a:lnTo>
                  <a:lnTo>
                    <a:pt x="21086065" y="1173480"/>
                  </a:lnTo>
                  <a:lnTo>
                    <a:pt x="0" y="1173480"/>
                  </a:lnTo>
                  <a:close/>
                </a:path>
              </a:pathLst>
            </a:custGeom>
            <a:blipFill>
              <a:blip r:embed="rId6">
                <a:alphaModFix amt="0"/>
              </a:blip>
              <a:stretch>
                <a:fillRect l="0" t="-300123" r="0" b="-300123"/>
              </a:stretch>
            </a:blipFill>
          </p:spPr>
          <p:txBody>
            <a:bodyPr/>
            <a:p/>
          </p:txBody>
        </p:sp>
        <p:sp>
          <p:nvSpPr>
            <p:cNvPr name="TextBox 118" id="118"/>
            <p:cNvSpPr txBox="true"/>
            <p:nvPr/>
          </p:nvSpPr>
          <p:spPr>
            <a:xfrm>
              <a:off x="0" y="-38100"/>
              <a:ext cx="21086064" cy="1211580"/>
            </a:xfrm>
            <a:prstGeom prst="rect">
              <a:avLst/>
            </a:prstGeom>
          </p:spPr>
          <p:txBody>
            <a:bodyPr anchor="ctr" rtlCol="false" tIns="0" lIns="0" bIns="0" rIns="0"/>
            <a:lstStyle/>
            <a:p>
              <a:pPr algn="l">
                <a:lnSpc>
                  <a:spcPts val="2250"/>
                </a:lnSpc>
              </a:pPr>
              <a:r>
                <a:rPr lang="en-US" sz="1875">
                  <a:solidFill>
                    <a:srgbClr val="14313B"/>
                  </a:solidFill>
                  <a:latin typeface="Calibri (MS)"/>
                  <a:ea typeface="Calibri (MS)"/>
                  <a:cs typeface="Calibri (MS)"/>
                  <a:sym typeface="Calibri (MS)"/>
                </a:rPr>
                <a:t>Batas model: 61 variabel = 26 dihitung model + 35 input. Shock eksternal, harga, promosi, musim, dan dampak lingkungan tidak dimasukkan.</a:t>
              </a:r>
            </a:p>
          </p:txBody>
        </p:sp>
      </p:grpSp>
      <p:sp>
        <p:nvSpPr>
          <p:cNvPr name="TextBox 119" id="119"/>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41</a:t>
            </a:r>
          </a:p>
        </p:txBody>
      </p:sp>
      <p:grpSp>
        <p:nvGrpSpPr>
          <p:cNvPr name="Group 120" id="120"/>
          <p:cNvGrpSpPr/>
          <p:nvPr/>
        </p:nvGrpSpPr>
        <p:grpSpPr>
          <a:xfrm rot="0">
            <a:off x="12755880" y="274320"/>
            <a:ext cx="3931920" cy="411480"/>
            <a:chOff x="0" y="0"/>
            <a:chExt cx="5242560" cy="548640"/>
          </a:xfrm>
        </p:grpSpPr>
        <p:sp>
          <p:nvSpPr>
            <p:cNvPr name="Freeform 121" id="121"/>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22" id="122"/>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2D · Uji struktur</a:t>
              </a:r>
            </a:p>
          </p:txBody>
        </p:sp>
      </p:grpSp>
      <p:grpSp>
        <p:nvGrpSpPr>
          <p:cNvPr name="Group 123" id="123"/>
          <p:cNvGrpSpPr/>
          <p:nvPr/>
        </p:nvGrpSpPr>
        <p:grpSpPr>
          <a:xfrm rot="0">
            <a:off x="16047720" y="9646920"/>
            <a:ext cx="420624" cy="420624"/>
            <a:chOff x="0" y="0"/>
            <a:chExt cx="560832" cy="560832"/>
          </a:xfrm>
        </p:grpSpPr>
        <p:sp>
          <p:nvSpPr>
            <p:cNvPr name="Freeform 124" id="124"/>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25" id="125"/>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4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Uji Feedback Loop</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Loop kepadatan (B1) adalah balancing loop yang paling kuat</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822960" y="2188845"/>
            <a:ext cx="10149840" cy="622935"/>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Jumlah wisatawan 2050 (juta kunjungan) saat satu loop dinonaktifkan</a:t>
            </a:r>
          </a:p>
        </p:txBody>
      </p:sp>
      <p:grpSp>
        <p:nvGrpSpPr>
          <p:cNvPr name="Group 67" id="67"/>
          <p:cNvGrpSpPr/>
          <p:nvPr/>
        </p:nvGrpSpPr>
        <p:grpSpPr>
          <a:xfrm rot="0">
            <a:off x="11384280" y="2400300"/>
            <a:ext cx="6076188" cy="2125980"/>
            <a:chOff x="0" y="0"/>
            <a:chExt cx="8101584" cy="2834640"/>
          </a:xfrm>
        </p:grpSpPr>
        <p:sp>
          <p:nvSpPr>
            <p:cNvPr name="Freeform 68" id="68"/>
            <p:cNvSpPr/>
            <p:nvPr/>
          </p:nvSpPr>
          <p:spPr>
            <a:xfrm flipH="false" flipV="false" rot="0">
              <a:off x="0" y="0"/>
              <a:ext cx="8101585" cy="2834640"/>
            </a:xfrm>
            <a:custGeom>
              <a:avLst/>
              <a:gdLst/>
              <a:ahLst/>
              <a:cxnLst/>
              <a:rect r="r" b="b" t="t" l="l"/>
              <a:pathLst>
                <a:path h="2834640" w="8101585">
                  <a:moveTo>
                    <a:pt x="0" y="182880"/>
                  </a:moveTo>
                  <a:cubicBezTo>
                    <a:pt x="0" y="81915"/>
                    <a:pt x="81915" y="0"/>
                    <a:pt x="182880" y="0"/>
                  </a:cubicBezTo>
                  <a:lnTo>
                    <a:pt x="7918704" y="0"/>
                  </a:lnTo>
                  <a:cubicBezTo>
                    <a:pt x="8019669" y="0"/>
                    <a:pt x="8101585" y="81915"/>
                    <a:pt x="8101585" y="182880"/>
                  </a:cubicBezTo>
                  <a:lnTo>
                    <a:pt x="8101585" y="2651760"/>
                  </a:lnTo>
                  <a:cubicBezTo>
                    <a:pt x="8101585" y="2752725"/>
                    <a:pt x="8019669" y="2834640"/>
                    <a:pt x="7918704" y="2834640"/>
                  </a:cubicBezTo>
                  <a:lnTo>
                    <a:pt x="182880" y="2834640"/>
                  </a:lnTo>
                  <a:cubicBezTo>
                    <a:pt x="81915" y="2834640"/>
                    <a:pt x="0" y="2752725"/>
                    <a:pt x="0" y="2651760"/>
                  </a:cubicBezTo>
                  <a:close/>
                </a:path>
              </a:pathLst>
            </a:custGeom>
            <a:solidFill>
              <a:srgbClr val="EAF8FA"/>
            </a:solidFill>
          </p:spPr>
          <p:txBody>
            <a:bodyPr/>
            <a:p/>
          </p:txBody>
        </p:sp>
      </p:grpSp>
      <p:grpSp>
        <p:nvGrpSpPr>
          <p:cNvPr name="Group 69" id="69"/>
          <p:cNvGrpSpPr/>
          <p:nvPr/>
        </p:nvGrpSpPr>
        <p:grpSpPr>
          <a:xfrm rot="0">
            <a:off x="11727180" y="2564892"/>
            <a:ext cx="5486400" cy="685800"/>
            <a:chOff x="0" y="0"/>
            <a:chExt cx="7315200" cy="914400"/>
          </a:xfrm>
        </p:grpSpPr>
        <p:sp>
          <p:nvSpPr>
            <p:cNvPr name="Freeform 70" id="70"/>
            <p:cNvSpPr/>
            <p:nvPr/>
          </p:nvSpPr>
          <p:spPr>
            <a:xfrm flipH="false" flipV="false" rot="0">
              <a:off x="0" y="0"/>
              <a:ext cx="7315200" cy="914400"/>
            </a:xfrm>
            <a:custGeom>
              <a:avLst/>
              <a:gdLst/>
              <a:ahLst/>
              <a:cxnLst/>
              <a:rect r="r" b="b" t="t" l="l"/>
              <a:pathLst>
                <a:path h="914400" w="7315200">
                  <a:moveTo>
                    <a:pt x="0" y="0"/>
                  </a:moveTo>
                  <a:lnTo>
                    <a:pt x="7315200" y="0"/>
                  </a:lnTo>
                  <a:lnTo>
                    <a:pt x="7315200" y="914400"/>
                  </a:lnTo>
                  <a:lnTo>
                    <a:pt x="0" y="914400"/>
                  </a:lnTo>
                  <a:close/>
                </a:path>
              </a:pathLst>
            </a:custGeom>
            <a:blipFill>
              <a:blip r:embed="rId4">
                <a:alphaModFix amt="0"/>
              </a:blip>
              <a:stretch>
                <a:fillRect l="0" t="-105772" r="0" b="-105772"/>
              </a:stretch>
            </a:blipFill>
          </p:spPr>
          <p:txBody>
            <a:bodyPr/>
            <a:p/>
          </p:txBody>
        </p:sp>
      </p:grpSp>
      <p:grpSp>
        <p:nvGrpSpPr>
          <p:cNvPr name="Group 71" id="71"/>
          <p:cNvGrpSpPr/>
          <p:nvPr/>
        </p:nvGrpSpPr>
        <p:grpSpPr>
          <a:xfrm rot="0">
            <a:off x="11727180" y="2514886"/>
            <a:ext cx="5486400" cy="735806"/>
            <a:chOff x="0" y="0"/>
            <a:chExt cx="7315200" cy="981075"/>
          </a:xfrm>
        </p:grpSpPr>
        <p:sp>
          <p:nvSpPr>
            <p:cNvPr name="Freeform 72" id="72"/>
            <p:cNvSpPr/>
            <p:nvPr/>
          </p:nvSpPr>
          <p:spPr>
            <a:xfrm flipH="false" flipV="false" rot="0">
              <a:off x="0" y="0"/>
              <a:ext cx="7315200" cy="981075"/>
            </a:xfrm>
            <a:custGeom>
              <a:avLst/>
              <a:gdLst/>
              <a:ahLst/>
              <a:cxnLst/>
              <a:rect r="r" b="b" t="t" l="l"/>
              <a:pathLst>
                <a:path h="981075" w="7315200">
                  <a:moveTo>
                    <a:pt x="0" y="0"/>
                  </a:moveTo>
                  <a:lnTo>
                    <a:pt x="7315200" y="0"/>
                  </a:lnTo>
                  <a:lnTo>
                    <a:pt x="7315200" y="981075"/>
                  </a:lnTo>
                  <a:lnTo>
                    <a:pt x="0" y="981075"/>
                  </a:lnTo>
                  <a:close/>
                </a:path>
              </a:pathLst>
            </a:custGeom>
            <a:blipFill>
              <a:blip r:embed="rId5">
                <a:alphaModFix amt="0"/>
              </a:blip>
              <a:stretch>
                <a:fillRect l="0" t="-95185" r="0" b="-95185"/>
              </a:stretch>
            </a:blipFill>
          </p:spPr>
          <p:txBody>
            <a:bodyPr/>
            <a:p/>
          </p:txBody>
        </p:sp>
      </p:grpSp>
      <p:grpSp>
        <p:nvGrpSpPr>
          <p:cNvPr name="Group 73" id="73"/>
          <p:cNvGrpSpPr/>
          <p:nvPr/>
        </p:nvGrpSpPr>
        <p:grpSpPr>
          <a:xfrm rot="0">
            <a:off x="11727180" y="2464879"/>
            <a:ext cx="5486400" cy="785812"/>
            <a:chOff x="0" y="0"/>
            <a:chExt cx="7315200" cy="1047750"/>
          </a:xfrm>
        </p:grpSpPr>
        <p:sp>
          <p:nvSpPr>
            <p:cNvPr name="Freeform 74" id="74"/>
            <p:cNvSpPr/>
            <p:nvPr/>
          </p:nvSpPr>
          <p:spPr>
            <a:xfrm flipH="false" flipV="false" rot="0">
              <a:off x="0" y="0"/>
              <a:ext cx="7315200" cy="1047750"/>
            </a:xfrm>
            <a:custGeom>
              <a:avLst/>
              <a:gdLst/>
              <a:ahLst/>
              <a:cxnLst/>
              <a:rect r="r" b="b" t="t" l="l"/>
              <a:pathLst>
                <a:path h="1047750" w="7315200">
                  <a:moveTo>
                    <a:pt x="0" y="0"/>
                  </a:moveTo>
                  <a:lnTo>
                    <a:pt x="7315200" y="0"/>
                  </a:lnTo>
                  <a:lnTo>
                    <a:pt x="7315200" y="1047750"/>
                  </a:lnTo>
                  <a:lnTo>
                    <a:pt x="0" y="1047750"/>
                  </a:lnTo>
                  <a:close/>
                </a:path>
              </a:pathLst>
            </a:custGeom>
            <a:blipFill>
              <a:blip r:embed="rId6">
                <a:alphaModFix amt="0"/>
              </a:blip>
              <a:stretch>
                <a:fillRect l="0" t="-86041" r="0" b="-86041"/>
              </a:stretch>
            </a:blipFill>
          </p:spPr>
          <p:txBody>
            <a:bodyPr/>
            <a:p/>
          </p:txBody>
        </p:sp>
        <p:sp>
          <p:nvSpPr>
            <p:cNvPr name="TextBox 75" id="75"/>
            <p:cNvSpPr txBox="true"/>
            <p:nvPr/>
          </p:nvSpPr>
          <p:spPr>
            <a:xfrm>
              <a:off x="0" y="-66675"/>
              <a:ext cx="7315200" cy="1114425"/>
            </a:xfrm>
            <a:prstGeom prst="rect">
              <a:avLst/>
            </a:prstGeom>
          </p:spPr>
          <p:txBody>
            <a:bodyPr anchor="ctr" rtlCol="false" tIns="0" lIns="0" bIns="0" rIns="0"/>
            <a:lstStyle/>
            <a:p>
              <a:pPr algn="l">
                <a:lnSpc>
                  <a:spcPts val="3960"/>
                </a:lnSpc>
              </a:pPr>
              <a:r>
                <a:rPr lang="en-US" sz="3300" b="true">
                  <a:solidFill>
                    <a:srgbClr val="0B5E6E"/>
                  </a:solidFill>
                  <a:latin typeface="Calibri (MS) Bold"/>
                  <a:ea typeface="Calibri (MS) Bold"/>
                  <a:cs typeface="Calibri (MS) Bold"/>
                  <a:sym typeface="Calibri (MS) Bold"/>
                </a:rPr>
                <a:t>+160,2%</a:t>
              </a:r>
            </a:p>
          </p:txBody>
        </p:sp>
      </p:grpSp>
      <p:sp>
        <p:nvSpPr>
          <p:cNvPr name="TextBox 76" id="76"/>
          <p:cNvSpPr txBox="true"/>
          <p:nvPr/>
        </p:nvSpPr>
        <p:spPr>
          <a:xfrm rot="0">
            <a:off x="11727180" y="3177540"/>
            <a:ext cx="5486400" cy="12801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wisatawan 2050 saat B1 dimatikan; 5 dari 6 variabel berubah &gt; 1%</a:t>
            </a:r>
          </a:p>
        </p:txBody>
      </p:sp>
      <p:grpSp>
        <p:nvGrpSpPr>
          <p:cNvPr name="Group 77" id="77"/>
          <p:cNvGrpSpPr/>
          <p:nvPr/>
        </p:nvGrpSpPr>
        <p:grpSpPr>
          <a:xfrm rot="0">
            <a:off x="11384280" y="4732020"/>
            <a:ext cx="6076188" cy="2125980"/>
            <a:chOff x="0" y="0"/>
            <a:chExt cx="8101584" cy="2834640"/>
          </a:xfrm>
        </p:grpSpPr>
        <p:sp>
          <p:nvSpPr>
            <p:cNvPr name="Freeform 78" id="78"/>
            <p:cNvSpPr/>
            <p:nvPr/>
          </p:nvSpPr>
          <p:spPr>
            <a:xfrm flipH="false" flipV="false" rot="0">
              <a:off x="0" y="0"/>
              <a:ext cx="8101585" cy="2834640"/>
            </a:xfrm>
            <a:custGeom>
              <a:avLst/>
              <a:gdLst/>
              <a:ahLst/>
              <a:cxnLst/>
              <a:rect r="r" b="b" t="t" l="l"/>
              <a:pathLst>
                <a:path h="2834640" w="8101585">
                  <a:moveTo>
                    <a:pt x="0" y="182880"/>
                  </a:moveTo>
                  <a:cubicBezTo>
                    <a:pt x="0" y="81915"/>
                    <a:pt x="81915" y="0"/>
                    <a:pt x="182880" y="0"/>
                  </a:cubicBezTo>
                  <a:lnTo>
                    <a:pt x="7918704" y="0"/>
                  </a:lnTo>
                  <a:cubicBezTo>
                    <a:pt x="8019669" y="0"/>
                    <a:pt x="8101585" y="81915"/>
                    <a:pt x="8101585" y="182880"/>
                  </a:cubicBezTo>
                  <a:lnTo>
                    <a:pt x="8101585" y="2651760"/>
                  </a:lnTo>
                  <a:cubicBezTo>
                    <a:pt x="8101585" y="2752725"/>
                    <a:pt x="8019669" y="2834640"/>
                    <a:pt x="7918704" y="2834640"/>
                  </a:cubicBezTo>
                  <a:lnTo>
                    <a:pt x="182880" y="2834640"/>
                  </a:lnTo>
                  <a:cubicBezTo>
                    <a:pt x="81915" y="2834640"/>
                    <a:pt x="0" y="2752725"/>
                    <a:pt x="0" y="2651760"/>
                  </a:cubicBezTo>
                  <a:close/>
                </a:path>
              </a:pathLst>
            </a:custGeom>
            <a:solidFill>
              <a:srgbClr val="EAF8FA"/>
            </a:solidFill>
          </p:spPr>
          <p:txBody>
            <a:bodyPr/>
            <a:p/>
          </p:txBody>
        </p:sp>
      </p:grpSp>
      <p:grpSp>
        <p:nvGrpSpPr>
          <p:cNvPr name="Group 79" id="79"/>
          <p:cNvGrpSpPr/>
          <p:nvPr/>
        </p:nvGrpSpPr>
        <p:grpSpPr>
          <a:xfrm rot="0">
            <a:off x="11727180" y="4896612"/>
            <a:ext cx="5486400" cy="685800"/>
            <a:chOff x="0" y="0"/>
            <a:chExt cx="7315200" cy="914400"/>
          </a:xfrm>
        </p:grpSpPr>
        <p:sp>
          <p:nvSpPr>
            <p:cNvPr name="Freeform 80" id="80"/>
            <p:cNvSpPr/>
            <p:nvPr/>
          </p:nvSpPr>
          <p:spPr>
            <a:xfrm flipH="false" flipV="false" rot="0">
              <a:off x="0" y="0"/>
              <a:ext cx="7315200" cy="914400"/>
            </a:xfrm>
            <a:custGeom>
              <a:avLst/>
              <a:gdLst/>
              <a:ahLst/>
              <a:cxnLst/>
              <a:rect r="r" b="b" t="t" l="l"/>
              <a:pathLst>
                <a:path h="914400" w="7315200">
                  <a:moveTo>
                    <a:pt x="0" y="0"/>
                  </a:moveTo>
                  <a:lnTo>
                    <a:pt x="7315200" y="0"/>
                  </a:lnTo>
                  <a:lnTo>
                    <a:pt x="7315200" y="914400"/>
                  </a:lnTo>
                  <a:lnTo>
                    <a:pt x="0" y="914400"/>
                  </a:lnTo>
                  <a:close/>
                </a:path>
              </a:pathLst>
            </a:custGeom>
            <a:blipFill>
              <a:blip r:embed="rId4">
                <a:alphaModFix amt="0"/>
              </a:blip>
              <a:stretch>
                <a:fillRect l="0" t="-105772" r="0" b="-105772"/>
              </a:stretch>
            </a:blipFill>
          </p:spPr>
          <p:txBody>
            <a:bodyPr/>
            <a:p/>
          </p:txBody>
        </p:sp>
      </p:grpSp>
      <p:grpSp>
        <p:nvGrpSpPr>
          <p:cNvPr name="Group 81" id="81"/>
          <p:cNvGrpSpPr/>
          <p:nvPr/>
        </p:nvGrpSpPr>
        <p:grpSpPr>
          <a:xfrm rot="0">
            <a:off x="11727180" y="4846606"/>
            <a:ext cx="5486400" cy="735806"/>
            <a:chOff x="0" y="0"/>
            <a:chExt cx="7315200" cy="981075"/>
          </a:xfrm>
        </p:grpSpPr>
        <p:sp>
          <p:nvSpPr>
            <p:cNvPr name="Freeform 82" id="82"/>
            <p:cNvSpPr/>
            <p:nvPr/>
          </p:nvSpPr>
          <p:spPr>
            <a:xfrm flipH="false" flipV="false" rot="0">
              <a:off x="0" y="0"/>
              <a:ext cx="7315200" cy="981075"/>
            </a:xfrm>
            <a:custGeom>
              <a:avLst/>
              <a:gdLst/>
              <a:ahLst/>
              <a:cxnLst/>
              <a:rect r="r" b="b" t="t" l="l"/>
              <a:pathLst>
                <a:path h="981075" w="7315200">
                  <a:moveTo>
                    <a:pt x="0" y="0"/>
                  </a:moveTo>
                  <a:lnTo>
                    <a:pt x="7315200" y="0"/>
                  </a:lnTo>
                  <a:lnTo>
                    <a:pt x="7315200" y="981075"/>
                  </a:lnTo>
                  <a:lnTo>
                    <a:pt x="0" y="981075"/>
                  </a:lnTo>
                  <a:close/>
                </a:path>
              </a:pathLst>
            </a:custGeom>
            <a:blipFill>
              <a:blip r:embed="rId5">
                <a:alphaModFix amt="0"/>
              </a:blip>
              <a:stretch>
                <a:fillRect l="0" t="-95185" r="0" b="-95185"/>
              </a:stretch>
            </a:blipFill>
          </p:spPr>
          <p:txBody>
            <a:bodyPr/>
            <a:p/>
          </p:txBody>
        </p:sp>
      </p:grpSp>
      <p:grpSp>
        <p:nvGrpSpPr>
          <p:cNvPr name="Group 83" id="83"/>
          <p:cNvGrpSpPr/>
          <p:nvPr/>
        </p:nvGrpSpPr>
        <p:grpSpPr>
          <a:xfrm rot="0">
            <a:off x="11727180" y="4796600"/>
            <a:ext cx="5486400" cy="785812"/>
            <a:chOff x="0" y="0"/>
            <a:chExt cx="7315200" cy="1047750"/>
          </a:xfrm>
        </p:grpSpPr>
        <p:sp>
          <p:nvSpPr>
            <p:cNvPr name="Freeform 84" id="84"/>
            <p:cNvSpPr/>
            <p:nvPr/>
          </p:nvSpPr>
          <p:spPr>
            <a:xfrm flipH="false" flipV="false" rot="0">
              <a:off x="0" y="0"/>
              <a:ext cx="7315200" cy="1047750"/>
            </a:xfrm>
            <a:custGeom>
              <a:avLst/>
              <a:gdLst/>
              <a:ahLst/>
              <a:cxnLst/>
              <a:rect r="r" b="b" t="t" l="l"/>
              <a:pathLst>
                <a:path h="1047750" w="7315200">
                  <a:moveTo>
                    <a:pt x="0" y="0"/>
                  </a:moveTo>
                  <a:lnTo>
                    <a:pt x="7315200" y="0"/>
                  </a:lnTo>
                  <a:lnTo>
                    <a:pt x="7315200" y="1047750"/>
                  </a:lnTo>
                  <a:lnTo>
                    <a:pt x="0" y="1047750"/>
                  </a:lnTo>
                  <a:close/>
                </a:path>
              </a:pathLst>
            </a:custGeom>
            <a:blipFill>
              <a:blip r:embed="rId6">
                <a:alphaModFix amt="0"/>
              </a:blip>
              <a:stretch>
                <a:fillRect l="0" t="-86041" r="0" b="-86041"/>
              </a:stretch>
            </a:blipFill>
          </p:spPr>
          <p:txBody>
            <a:bodyPr/>
            <a:p/>
          </p:txBody>
        </p:sp>
        <p:sp>
          <p:nvSpPr>
            <p:cNvPr name="TextBox 85" id="85"/>
            <p:cNvSpPr txBox="true"/>
            <p:nvPr/>
          </p:nvSpPr>
          <p:spPr>
            <a:xfrm>
              <a:off x="0" y="-66675"/>
              <a:ext cx="7315200" cy="1114425"/>
            </a:xfrm>
            <a:prstGeom prst="rect">
              <a:avLst/>
            </a:prstGeom>
          </p:spPr>
          <p:txBody>
            <a:bodyPr anchor="ctr" rtlCol="false" tIns="0" lIns="0" bIns="0" rIns="0"/>
            <a:lstStyle/>
            <a:p>
              <a:pPr algn="l">
                <a:lnSpc>
                  <a:spcPts val="3960"/>
                </a:lnSpc>
              </a:pPr>
              <a:r>
                <a:rPr lang="en-US" sz="3300" b="true">
                  <a:solidFill>
                    <a:srgbClr val="0B5E6E"/>
                  </a:solidFill>
                  <a:latin typeface="Calibri (MS) Bold"/>
                  <a:ea typeface="Calibri (MS) Bold"/>
                  <a:cs typeface="Calibri (MS) Bold"/>
                  <a:sym typeface="Calibri (MS) Bold"/>
                </a:rPr>
                <a:t>Saling terkait</a:t>
              </a:r>
            </a:p>
          </p:txBody>
        </p:sp>
      </p:grpSp>
      <p:sp>
        <p:nvSpPr>
          <p:cNvPr name="TextBox 86" id="86"/>
          <p:cNvSpPr txBox="true"/>
          <p:nvPr/>
        </p:nvSpPr>
        <p:spPr>
          <a:xfrm rot="0">
            <a:off x="11727180" y="5509260"/>
            <a:ext cx="5486400" cy="12801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B1 saja dimatikan (250,3 juta) &gt; semua balancing loop dimatikan (217,4 juta), karena R2 tetap menaikkan daya tarik (1,0696)</a:t>
            </a:r>
          </a:p>
        </p:txBody>
      </p:sp>
      <p:grpSp>
        <p:nvGrpSpPr>
          <p:cNvPr name="Group 87" id="87"/>
          <p:cNvGrpSpPr/>
          <p:nvPr/>
        </p:nvGrpSpPr>
        <p:grpSpPr>
          <a:xfrm rot="0">
            <a:off x="11384280" y="7063740"/>
            <a:ext cx="6076188" cy="2125980"/>
            <a:chOff x="0" y="0"/>
            <a:chExt cx="8101584" cy="2834640"/>
          </a:xfrm>
        </p:grpSpPr>
        <p:sp>
          <p:nvSpPr>
            <p:cNvPr name="Freeform 88" id="88"/>
            <p:cNvSpPr/>
            <p:nvPr/>
          </p:nvSpPr>
          <p:spPr>
            <a:xfrm flipH="false" flipV="false" rot="0">
              <a:off x="0" y="0"/>
              <a:ext cx="8101585" cy="2834640"/>
            </a:xfrm>
            <a:custGeom>
              <a:avLst/>
              <a:gdLst/>
              <a:ahLst/>
              <a:cxnLst/>
              <a:rect r="r" b="b" t="t" l="l"/>
              <a:pathLst>
                <a:path h="2834640" w="8101585">
                  <a:moveTo>
                    <a:pt x="0" y="182880"/>
                  </a:moveTo>
                  <a:cubicBezTo>
                    <a:pt x="0" y="81915"/>
                    <a:pt x="81915" y="0"/>
                    <a:pt x="182880" y="0"/>
                  </a:cubicBezTo>
                  <a:lnTo>
                    <a:pt x="7918704" y="0"/>
                  </a:lnTo>
                  <a:cubicBezTo>
                    <a:pt x="8019669" y="0"/>
                    <a:pt x="8101585" y="81915"/>
                    <a:pt x="8101585" y="182880"/>
                  </a:cubicBezTo>
                  <a:lnTo>
                    <a:pt x="8101585" y="2651760"/>
                  </a:lnTo>
                  <a:cubicBezTo>
                    <a:pt x="8101585" y="2752725"/>
                    <a:pt x="8019669" y="2834640"/>
                    <a:pt x="7918704" y="2834640"/>
                  </a:cubicBezTo>
                  <a:lnTo>
                    <a:pt x="182880" y="2834640"/>
                  </a:lnTo>
                  <a:cubicBezTo>
                    <a:pt x="81915" y="2834640"/>
                    <a:pt x="0" y="2752725"/>
                    <a:pt x="0" y="2651760"/>
                  </a:cubicBezTo>
                  <a:close/>
                </a:path>
              </a:pathLst>
            </a:custGeom>
            <a:solidFill>
              <a:srgbClr val="EAF8FA"/>
            </a:solidFill>
          </p:spPr>
          <p:txBody>
            <a:bodyPr/>
            <a:p/>
          </p:txBody>
        </p:sp>
      </p:grpSp>
      <p:grpSp>
        <p:nvGrpSpPr>
          <p:cNvPr name="Group 89" id="89"/>
          <p:cNvGrpSpPr/>
          <p:nvPr/>
        </p:nvGrpSpPr>
        <p:grpSpPr>
          <a:xfrm rot="0">
            <a:off x="11727180" y="7228332"/>
            <a:ext cx="5486400" cy="685800"/>
            <a:chOff x="0" y="0"/>
            <a:chExt cx="7315200" cy="914400"/>
          </a:xfrm>
        </p:grpSpPr>
        <p:sp>
          <p:nvSpPr>
            <p:cNvPr name="Freeform 90" id="90"/>
            <p:cNvSpPr/>
            <p:nvPr/>
          </p:nvSpPr>
          <p:spPr>
            <a:xfrm flipH="false" flipV="false" rot="0">
              <a:off x="0" y="0"/>
              <a:ext cx="7315200" cy="914400"/>
            </a:xfrm>
            <a:custGeom>
              <a:avLst/>
              <a:gdLst/>
              <a:ahLst/>
              <a:cxnLst/>
              <a:rect r="r" b="b" t="t" l="l"/>
              <a:pathLst>
                <a:path h="914400" w="7315200">
                  <a:moveTo>
                    <a:pt x="0" y="0"/>
                  </a:moveTo>
                  <a:lnTo>
                    <a:pt x="7315200" y="0"/>
                  </a:lnTo>
                  <a:lnTo>
                    <a:pt x="7315200" y="914400"/>
                  </a:lnTo>
                  <a:lnTo>
                    <a:pt x="0" y="914400"/>
                  </a:lnTo>
                  <a:close/>
                </a:path>
              </a:pathLst>
            </a:custGeom>
            <a:blipFill>
              <a:blip r:embed="rId4">
                <a:alphaModFix amt="0"/>
              </a:blip>
              <a:stretch>
                <a:fillRect l="0" t="-105772" r="0" b="-105772"/>
              </a:stretch>
            </a:blipFill>
          </p:spPr>
          <p:txBody>
            <a:bodyPr/>
            <a:p/>
          </p:txBody>
        </p:sp>
      </p:grpSp>
      <p:grpSp>
        <p:nvGrpSpPr>
          <p:cNvPr name="Group 91" id="91"/>
          <p:cNvGrpSpPr/>
          <p:nvPr/>
        </p:nvGrpSpPr>
        <p:grpSpPr>
          <a:xfrm rot="0">
            <a:off x="11727180" y="7178326"/>
            <a:ext cx="5486400" cy="735806"/>
            <a:chOff x="0" y="0"/>
            <a:chExt cx="7315200" cy="981075"/>
          </a:xfrm>
        </p:grpSpPr>
        <p:sp>
          <p:nvSpPr>
            <p:cNvPr name="Freeform 92" id="92"/>
            <p:cNvSpPr/>
            <p:nvPr/>
          </p:nvSpPr>
          <p:spPr>
            <a:xfrm flipH="false" flipV="false" rot="0">
              <a:off x="0" y="0"/>
              <a:ext cx="7315200" cy="981075"/>
            </a:xfrm>
            <a:custGeom>
              <a:avLst/>
              <a:gdLst/>
              <a:ahLst/>
              <a:cxnLst/>
              <a:rect r="r" b="b" t="t" l="l"/>
              <a:pathLst>
                <a:path h="981075" w="7315200">
                  <a:moveTo>
                    <a:pt x="0" y="0"/>
                  </a:moveTo>
                  <a:lnTo>
                    <a:pt x="7315200" y="0"/>
                  </a:lnTo>
                  <a:lnTo>
                    <a:pt x="7315200" y="981075"/>
                  </a:lnTo>
                  <a:lnTo>
                    <a:pt x="0" y="981075"/>
                  </a:lnTo>
                  <a:close/>
                </a:path>
              </a:pathLst>
            </a:custGeom>
            <a:blipFill>
              <a:blip r:embed="rId5">
                <a:alphaModFix amt="0"/>
              </a:blip>
              <a:stretch>
                <a:fillRect l="0" t="-95185" r="0" b="-95185"/>
              </a:stretch>
            </a:blipFill>
          </p:spPr>
          <p:txBody>
            <a:bodyPr/>
            <a:p/>
          </p:txBody>
        </p:sp>
      </p:grpSp>
      <p:grpSp>
        <p:nvGrpSpPr>
          <p:cNvPr name="Group 93" id="93"/>
          <p:cNvGrpSpPr/>
          <p:nvPr/>
        </p:nvGrpSpPr>
        <p:grpSpPr>
          <a:xfrm rot="0">
            <a:off x="11727180" y="7128320"/>
            <a:ext cx="5486400" cy="785812"/>
            <a:chOff x="0" y="0"/>
            <a:chExt cx="7315200" cy="1047750"/>
          </a:xfrm>
        </p:grpSpPr>
        <p:sp>
          <p:nvSpPr>
            <p:cNvPr name="Freeform 94" id="94"/>
            <p:cNvSpPr/>
            <p:nvPr/>
          </p:nvSpPr>
          <p:spPr>
            <a:xfrm flipH="false" flipV="false" rot="0">
              <a:off x="0" y="0"/>
              <a:ext cx="7315200" cy="1047750"/>
            </a:xfrm>
            <a:custGeom>
              <a:avLst/>
              <a:gdLst/>
              <a:ahLst/>
              <a:cxnLst/>
              <a:rect r="r" b="b" t="t" l="l"/>
              <a:pathLst>
                <a:path h="1047750" w="7315200">
                  <a:moveTo>
                    <a:pt x="0" y="0"/>
                  </a:moveTo>
                  <a:lnTo>
                    <a:pt x="7315200" y="0"/>
                  </a:lnTo>
                  <a:lnTo>
                    <a:pt x="7315200" y="1047750"/>
                  </a:lnTo>
                  <a:lnTo>
                    <a:pt x="0" y="1047750"/>
                  </a:lnTo>
                  <a:close/>
                </a:path>
              </a:pathLst>
            </a:custGeom>
            <a:blipFill>
              <a:blip r:embed="rId6">
                <a:alphaModFix amt="0"/>
              </a:blip>
              <a:stretch>
                <a:fillRect l="0" t="-86041" r="0" b="-86041"/>
              </a:stretch>
            </a:blipFill>
          </p:spPr>
          <p:txBody>
            <a:bodyPr/>
            <a:p/>
          </p:txBody>
        </p:sp>
        <p:sp>
          <p:nvSpPr>
            <p:cNvPr name="TextBox 95" id="95"/>
            <p:cNvSpPr txBox="true"/>
            <p:nvPr/>
          </p:nvSpPr>
          <p:spPr>
            <a:xfrm>
              <a:off x="0" y="-66675"/>
              <a:ext cx="7315200" cy="1114425"/>
            </a:xfrm>
            <a:prstGeom prst="rect">
              <a:avLst/>
            </a:prstGeom>
          </p:spPr>
          <p:txBody>
            <a:bodyPr anchor="ctr" rtlCol="false" tIns="0" lIns="0" bIns="0" rIns="0"/>
            <a:lstStyle/>
            <a:p>
              <a:pPr algn="l">
                <a:lnSpc>
                  <a:spcPts val="3960"/>
                </a:lnSpc>
              </a:pPr>
              <a:r>
                <a:rPr lang="en-US" sz="3300" b="true">
                  <a:solidFill>
                    <a:srgbClr val="0B5E6E"/>
                  </a:solidFill>
                  <a:latin typeface="Calibri (MS) Bold"/>
                  <a:ea typeface="Calibri (MS) Bold"/>
                  <a:cs typeface="Calibri (MS) Bold"/>
                  <a:sym typeface="Calibri (MS) Bold"/>
                </a:rPr>
                <a:t>Loop lokal</a:t>
              </a:r>
            </a:p>
          </p:txBody>
        </p:sp>
      </p:grpSp>
      <p:sp>
        <p:nvSpPr>
          <p:cNvPr name="TextBox 96" id="96"/>
          <p:cNvSpPr txBox="true"/>
          <p:nvPr/>
        </p:nvSpPr>
        <p:spPr>
          <a:xfrm rot="0">
            <a:off x="11727180" y="7840980"/>
            <a:ext cx="5486400" cy="12801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Okupansi hanya memengaruhi hotel (5.404 → 4.867); goal-seeking hanya tenaga kerja</a:t>
            </a:r>
          </a:p>
        </p:txBody>
      </p:sp>
      <p:sp>
        <p:nvSpPr>
          <p:cNvPr name="TextBox 97" id="97"/>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42</a:t>
            </a:r>
          </a:p>
        </p:txBody>
      </p:sp>
      <p:grpSp>
        <p:nvGrpSpPr>
          <p:cNvPr name="Group 100" id="100"/>
          <p:cNvGrpSpPr/>
          <p:nvPr/>
        </p:nvGrpSpPr>
        <p:grpSpPr>
          <a:xfrm rot="0">
            <a:off x="12755880" y="274320"/>
            <a:ext cx="3931920" cy="411480"/>
            <a:chOff x="0" y="0"/>
            <a:chExt cx="5242560" cy="548640"/>
          </a:xfrm>
        </p:grpSpPr>
        <p:sp>
          <p:nvSpPr>
            <p:cNvPr name="Freeform 101" id="101"/>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02" id="102"/>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2D · Uji struktur</a:t>
              </a:r>
            </a:p>
          </p:txBody>
        </p:sp>
      </p:grpSp>
      <p:grpSp>
        <p:nvGrpSpPr>
          <p:cNvPr name="Group 103" id="103"/>
          <p:cNvGrpSpPr/>
          <p:nvPr/>
        </p:nvGrpSpPr>
        <p:grpSpPr>
          <a:xfrm rot="0">
            <a:off x="16047720" y="9646920"/>
            <a:ext cx="420624" cy="420624"/>
            <a:chOff x="0" y="0"/>
            <a:chExt cx="560832" cy="560832"/>
          </a:xfrm>
        </p:grpSpPr>
        <p:sp>
          <p:nvSpPr>
            <p:cNvPr name="Freeform 104" id="104"/>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05" id="105"/>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graphicFrame>
        <p:nvGraphicFramePr>
          <p:cNvPr id="106" name="Chart 105"/>
          <p:cNvGraphicFramePr>
            <a:graphicFrameLocks noGrp="1"/>
          </p:cNvGraphicFramePr>
          <p:nvPr/>
        </p:nvGraphicFramePr>
        <p:xfrm>
          <a:off x="822960" y="2834640"/>
          <a:ext cx="10424160" cy="6400800"/>
        </p:xfrm>
        <a:graphic>
          <a:graphicData uri="http://schemas.openxmlformats.org/drawingml/2006/chart">
            <c:chart xmlns:c="http://schemas.openxmlformats.org/drawingml/2006/chart" r:id="rId8"/>
          </a:graphicData>
        </a:graphic>
      </p:graphicFrame>
    </p:spTree>
  </p:cSld>
  <p:clrMapOvr>
    <a:masterClrMapping/>
  </p:clrMapOvr>
</p:sld>
</file>

<file path=ppt/slides/slide4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Uji Kondisi Ekstrem dan Error Integrasi</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Pada kondisi ekstrem, fungsi pembatas dalam model bekerja dengan benar</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43</a:t>
            </a:r>
          </a:p>
        </p:txBody>
      </p:sp>
      <p:grpSp>
        <p:nvGrpSpPr>
          <p:cNvPr name="Group 67" id="67"/>
          <p:cNvGrpSpPr/>
          <p:nvPr/>
        </p:nvGrpSpPr>
        <p:grpSpPr>
          <a:xfrm rot="0">
            <a:off x="822960" y="2289743"/>
            <a:ext cx="8183880" cy="2827115"/>
            <a:chOff x="0" y="0"/>
            <a:chExt cx="10911840" cy="3769487"/>
          </a:xfrm>
        </p:grpSpPr>
        <p:sp>
          <p:nvSpPr>
            <p:cNvPr name="Freeform 68" id="68" descr="E04.png"/>
            <p:cNvSpPr/>
            <p:nvPr/>
          </p:nvSpPr>
          <p:spPr>
            <a:xfrm flipH="false" flipV="false" rot="0">
              <a:off x="0" y="0"/>
              <a:ext cx="10911840" cy="3769487"/>
            </a:xfrm>
            <a:custGeom>
              <a:avLst/>
              <a:gdLst/>
              <a:ahLst/>
              <a:cxnLst/>
              <a:rect r="r" b="b" t="t" l="l"/>
              <a:pathLst>
                <a:path h="3769487" w="10911840">
                  <a:moveTo>
                    <a:pt x="0" y="0"/>
                  </a:moveTo>
                  <a:lnTo>
                    <a:pt x="10911840" y="0"/>
                  </a:lnTo>
                  <a:lnTo>
                    <a:pt x="10911840" y="3769487"/>
                  </a:lnTo>
                  <a:lnTo>
                    <a:pt x="0" y="3769487"/>
                  </a:lnTo>
                  <a:lnTo>
                    <a:pt x="0" y="0"/>
                  </a:lnTo>
                  <a:close/>
                </a:path>
              </a:pathLst>
            </a:custGeom>
            <a:blipFill>
              <a:blip r:embed="rId7"/>
              <a:stretch>
                <a:fillRect l="0" t="0" r="0" b="-1"/>
              </a:stretch>
            </a:blipFill>
          </p:spPr>
          <p:txBody>
            <a:bodyPr/>
            <a:p/>
          </p:txBody>
        </p:sp>
      </p:grpSp>
      <p:grpSp>
        <p:nvGrpSpPr>
          <p:cNvPr name="Group 69" id="69"/>
          <p:cNvGrpSpPr/>
          <p:nvPr/>
        </p:nvGrpSpPr>
        <p:grpSpPr>
          <a:xfrm rot="0">
            <a:off x="9281160" y="2289743"/>
            <a:ext cx="8183880" cy="2827115"/>
            <a:chOff x="0" y="0"/>
            <a:chExt cx="10911840" cy="3769487"/>
          </a:xfrm>
        </p:grpSpPr>
        <p:sp>
          <p:nvSpPr>
            <p:cNvPr name="Freeform 70" id="70" descr="E09.png"/>
            <p:cNvSpPr/>
            <p:nvPr/>
          </p:nvSpPr>
          <p:spPr>
            <a:xfrm flipH="false" flipV="false" rot="0">
              <a:off x="0" y="0"/>
              <a:ext cx="10911840" cy="3769487"/>
            </a:xfrm>
            <a:custGeom>
              <a:avLst/>
              <a:gdLst/>
              <a:ahLst/>
              <a:cxnLst/>
              <a:rect r="r" b="b" t="t" l="l"/>
              <a:pathLst>
                <a:path h="3769487" w="10911840">
                  <a:moveTo>
                    <a:pt x="0" y="0"/>
                  </a:moveTo>
                  <a:lnTo>
                    <a:pt x="10911840" y="0"/>
                  </a:lnTo>
                  <a:lnTo>
                    <a:pt x="10911840" y="3769487"/>
                  </a:lnTo>
                  <a:lnTo>
                    <a:pt x="0" y="3769487"/>
                  </a:lnTo>
                  <a:lnTo>
                    <a:pt x="0" y="0"/>
                  </a:lnTo>
                  <a:close/>
                </a:path>
              </a:pathLst>
            </a:custGeom>
            <a:blipFill>
              <a:blip r:embed="rId8"/>
              <a:stretch>
                <a:fillRect l="0" t="0" r="0" b="-1"/>
              </a:stretch>
            </a:blipFill>
          </p:spPr>
          <p:txBody>
            <a:bodyPr/>
            <a:p/>
          </p:txBody>
        </p:sp>
      </p:grpSp>
      <p:sp>
        <p:nvSpPr>
          <p:cNvPr name="TextBox 71" id="71"/>
          <p:cNvSpPr txBox="true"/>
          <p:nvPr/>
        </p:nvSpPr>
        <p:spPr>
          <a:xfrm rot="0">
            <a:off x="822960" y="5079492"/>
            <a:ext cx="8183880" cy="66294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E04 </a:t>
            </a:r>
            <a:r>
              <a:rPr lang="en-US" sz="1500">
                <a:solidFill>
                  <a:srgbClr val="14313B"/>
                </a:solidFill>
                <a:latin typeface="Calibri (MS)"/>
                <a:ea typeface="Calibri (MS)"/>
                <a:cs typeface="Calibri (MS)"/>
                <a:sym typeface="Calibri (MS)"/>
              </a:rPr>
              <a:t>· rasio investasi/PDRB = 0 → konstruksi berhenti; TPK naik lalu mendatar tepat di 1,000</a:t>
            </a:r>
          </a:p>
        </p:txBody>
      </p:sp>
      <p:sp>
        <p:nvSpPr>
          <p:cNvPr name="TextBox 72" id="72"/>
          <p:cNvSpPr txBox="true"/>
          <p:nvPr/>
        </p:nvSpPr>
        <p:spPr>
          <a:xfrm rot="0">
            <a:off x="9281160" y="5079492"/>
            <a:ext cx="8183880" cy="66294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E09 </a:t>
            </a:r>
            <a:r>
              <a:rPr lang="en-US" sz="1500">
                <a:solidFill>
                  <a:srgbClr val="14313B"/>
                </a:solidFill>
                <a:latin typeface="Calibri (MS)"/>
                <a:ea typeface="Calibri (MS)"/>
                <a:cs typeface="Calibri (MS)"/>
                <a:sym typeface="Calibri (MS)"/>
              </a:rPr>
              <a:t>· laju konversi dasar ×10 → RDDL turun tepat ke 0; lahan berhenti di luas wilayah</a:t>
            </a:r>
          </a:p>
        </p:txBody>
      </p:sp>
      <p:grpSp>
        <p:nvGrpSpPr>
          <p:cNvPr name="Group 73" id="73"/>
          <p:cNvGrpSpPr/>
          <p:nvPr/>
        </p:nvGrpSpPr>
        <p:grpSpPr>
          <a:xfrm rot="0">
            <a:off x="822960" y="5979262"/>
            <a:ext cx="5669280" cy="3174778"/>
            <a:chOff x="0" y="0"/>
            <a:chExt cx="7559040" cy="4233037"/>
          </a:xfrm>
        </p:grpSpPr>
        <p:sp>
          <p:nvSpPr>
            <p:cNvPr name="Freeform 74" id="74" descr="E15_diagnostik_TIME_STEP.png"/>
            <p:cNvSpPr/>
            <p:nvPr/>
          </p:nvSpPr>
          <p:spPr>
            <a:xfrm flipH="false" flipV="false" rot="0">
              <a:off x="0" y="0"/>
              <a:ext cx="7559040" cy="4233037"/>
            </a:xfrm>
            <a:custGeom>
              <a:avLst/>
              <a:gdLst/>
              <a:ahLst/>
              <a:cxnLst/>
              <a:rect r="r" b="b" t="t" l="l"/>
              <a:pathLst>
                <a:path h="4233037" w="7559040">
                  <a:moveTo>
                    <a:pt x="0" y="0"/>
                  </a:moveTo>
                  <a:lnTo>
                    <a:pt x="7559040" y="0"/>
                  </a:lnTo>
                  <a:lnTo>
                    <a:pt x="7559040" y="4233037"/>
                  </a:lnTo>
                  <a:lnTo>
                    <a:pt x="0" y="4233037"/>
                  </a:lnTo>
                  <a:lnTo>
                    <a:pt x="0" y="0"/>
                  </a:lnTo>
                  <a:close/>
                </a:path>
              </a:pathLst>
            </a:custGeom>
            <a:blipFill>
              <a:blip r:embed="rId9"/>
              <a:stretch>
                <a:fillRect l="-31" t="0" r="-31" b="0"/>
              </a:stretch>
            </a:blipFill>
          </p:spPr>
          <p:txBody>
            <a:bodyPr/>
            <a:p/>
          </p:txBody>
        </p:sp>
      </p:grpSp>
      <p:grpSp>
        <p:nvGrpSpPr>
          <p:cNvPr name="Group 75" id="75"/>
          <p:cNvGrpSpPr/>
          <p:nvPr/>
        </p:nvGrpSpPr>
        <p:grpSpPr>
          <a:xfrm rot="0">
            <a:off x="6812280" y="5943600"/>
            <a:ext cx="5166360" cy="2103120"/>
            <a:chOff x="0" y="0"/>
            <a:chExt cx="6888480" cy="2804160"/>
          </a:xfrm>
        </p:grpSpPr>
        <p:sp>
          <p:nvSpPr>
            <p:cNvPr name="Freeform 76" id="76"/>
            <p:cNvSpPr/>
            <p:nvPr/>
          </p:nvSpPr>
          <p:spPr>
            <a:xfrm flipH="false" flipV="false" rot="0">
              <a:off x="0" y="0"/>
              <a:ext cx="6888480" cy="2804160"/>
            </a:xfrm>
            <a:custGeom>
              <a:avLst/>
              <a:gdLst/>
              <a:ahLst/>
              <a:cxnLst/>
              <a:rect r="r" b="b" t="t" l="l"/>
              <a:pathLst>
                <a:path h="2804160" w="6888480">
                  <a:moveTo>
                    <a:pt x="0" y="170688"/>
                  </a:moveTo>
                  <a:cubicBezTo>
                    <a:pt x="0" y="76454"/>
                    <a:pt x="76454" y="0"/>
                    <a:pt x="170688" y="0"/>
                  </a:cubicBezTo>
                  <a:lnTo>
                    <a:pt x="6717792" y="0"/>
                  </a:lnTo>
                  <a:cubicBezTo>
                    <a:pt x="6812026" y="0"/>
                    <a:pt x="6888480" y="76454"/>
                    <a:pt x="6888480" y="170688"/>
                  </a:cubicBezTo>
                  <a:lnTo>
                    <a:pt x="6888480" y="2633472"/>
                  </a:lnTo>
                  <a:cubicBezTo>
                    <a:pt x="6888480" y="2727706"/>
                    <a:pt x="6812026" y="2804160"/>
                    <a:pt x="6717792" y="2804160"/>
                  </a:cubicBezTo>
                  <a:lnTo>
                    <a:pt x="170688" y="2804160"/>
                  </a:lnTo>
                  <a:cubicBezTo>
                    <a:pt x="76454" y="2804160"/>
                    <a:pt x="0" y="2727706"/>
                    <a:pt x="0" y="2633472"/>
                  </a:cubicBezTo>
                  <a:close/>
                </a:path>
              </a:pathLst>
            </a:custGeom>
            <a:solidFill>
              <a:srgbClr val="EAF8FA"/>
            </a:solidFill>
          </p:spPr>
          <p:txBody>
            <a:bodyPr/>
            <a:p/>
          </p:txBody>
        </p:sp>
      </p:grpSp>
      <p:sp>
        <p:nvSpPr>
          <p:cNvPr name="TextBox 77" id="77"/>
          <p:cNvSpPr txBox="true"/>
          <p:nvPr/>
        </p:nvSpPr>
        <p:spPr>
          <a:xfrm rot="0">
            <a:off x="7086600" y="5879592"/>
            <a:ext cx="4617720" cy="960120"/>
          </a:xfrm>
          <a:prstGeom prst="rect">
            <a:avLst/>
          </a:prstGeom>
        </p:spPr>
        <p:txBody>
          <a:bodyPr anchor="t" rtlCol="false" tIns="0" lIns="0" bIns="0" rIns="0">
            <a:spAutoFit/>
          </a:bodyPr>
          <a:lstStyle/>
          <a:p>
            <a:pPr algn="l">
              <a:lnSpc>
                <a:spcPts val="4569"/>
              </a:lnSpc>
            </a:pPr>
            <a:r>
              <a:rPr lang="en-US" sz="3399" b="true">
                <a:solidFill>
                  <a:srgbClr val="0B5E6E"/>
                </a:solidFill>
                <a:latin typeface="Calibri (MS) Bold"/>
                <a:ea typeface="Calibri (MS) Bold"/>
                <a:cs typeface="Calibri (MS) Bold"/>
                <a:sym typeface="Calibri (MS) Bold"/>
              </a:rPr>
              <a:t>0 gagal</a:t>
            </a:r>
          </a:p>
        </p:txBody>
      </p:sp>
      <p:sp>
        <p:nvSpPr>
          <p:cNvPr name="TextBox 78" id="78"/>
          <p:cNvSpPr txBox="true"/>
          <p:nvPr/>
        </p:nvSpPr>
        <p:spPr>
          <a:xfrm rot="0">
            <a:off x="7086600" y="6533645"/>
            <a:ext cx="4617720" cy="1303020"/>
          </a:xfrm>
          <a:prstGeom prst="rect">
            <a:avLst/>
          </a:prstGeom>
        </p:spPr>
        <p:txBody>
          <a:bodyPr anchor="t" rtlCol="false" tIns="0" lIns="0" bIns="0" rIns="0">
            <a:spAutoFit/>
          </a:bodyPr>
          <a:lstStyle/>
          <a:p>
            <a:pPr algn="l">
              <a:lnSpc>
                <a:spcPts val="2016"/>
              </a:lnSpc>
            </a:pPr>
            <a:r>
              <a:rPr lang="en-US" sz="1500">
                <a:solidFill>
                  <a:srgbClr val="5E6E78"/>
                </a:solidFill>
                <a:latin typeface="Calibri (MS)"/>
                <a:ea typeface="Calibri (MS)"/>
                <a:cs typeface="Calibri (MS)"/>
                <a:sym typeface="Calibri (MS)"/>
              </a:rPr>
              <a:t>dari 17 uji: 15 lolos, 2 lolos dengan catatan (E02, E15); semua perilaku sesuai dugaan awal</a:t>
            </a:r>
          </a:p>
        </p:txBody>
      </p:sp>
      <p:grpSp>
        <p:nvGrpSpPr>
          <p:cNvPr name="Group 79" id="79"/>
          <p:cNvGrpSpPr/>
          <p:nvPr/>
        </p:nvGrpSpPr>
        <p:grpSpPr>
          <a:xfrm rot="0">
            <a:off x="12298680" y="5943600"/>
            <a:ext cx="5166360" cy="2103120"/>
            <a:chOff x="0" y="0"/>
            <a:chExt cx="6888480" cy="2804160"/>
          </a:xfrm>
        </p:grpSpPr>
        <p:sp>
          <p:nvSpPr>
            <p:cNvPr name="Freeform 80" id="80"/>
            <p:cNvSpPr/>
            <p:nvPr/>
          </p:nvSpPr>
          <p:spPr>
            <a:xfrm flipH="false" flipV="false" rot="0">
              <a:off x="0" y="0"/>
              <a:ext cx="6888480" cy="2804160"/>
            </a:xfrm>
            <a:custGeom>
              <a:avLst/>
              <a:gdLst/>
              <a:ahLst/>
              <a:cxnLst/>
              <a:rect r="r" b="b" t="t" l="l"/>
              <a:pathLst>
                <a:path h="2804160" w="6888480">
                  <a:moveTo>
                    <a:pt x="0" y="170688"/>
                  </a:moveTo>
                  <a:cubicBezTo>
                    <a:pt x="0" y="76454"/>
                    <a:pt x="76454" y="0"/>
                    <a:pt x="170688" y="0"/>
                  </a:cubicBezTo>
                  <a:lnTo>
                    <a:pt x="6717792" y="0"/>
                  </a:lnTo>
                  <a:cubicBezTo>
                    <a:pt x="6812026" y="0"/>
                    <a:pt x="6888480" y="76454"/>
                    <a:pt x="6888480" y="170688"/>
                  </a:cubicBezTo>
                  <a:lnTo>
                    <a:pt x="6888480" y="2633472"/>
                  </a:lnTo>
                  <a:cubicBezTo>
                    <a:pt x="6888480" y="2727706"/>
                    <a:pt x="6812026" y="2804160"/>
                    <a:pt x="6717792" y="2804160"/>
                  </a:cubicBezTo>
                  <a:lnTo>
                    <a:pt x="170688" y="2804160"/>
                  </a:lnTo>
                  <a:cubicBezTo>
                    <a:pt x="76454" y="2804160"/>
                    <a:pt x="0" y="2727706"/>
                    <a:pt x="0" y="2633472"/>
                  </a:cubicBezTo>
                  <a:close/>
                </a:path>
              </a:pathLst>
            </a:custGeom>
            <a:solidFill>
              <a:srgbClr val="EAF8FA"/>
            </a:solidFill>
          </p:spPr>
          <p:txBody>
            <a:bodyPr/>
            <a:p/>
          </p:txBody>
        </p:sp>
      </p:grpSp>
      <p:sp>
        <p:nvSpPr>
          <p:cNvPr name="TextBox 81" id="81"/>
          <p:cNvSpPr txBox="true"/>
          <p:nvPr/>
        </p:nvSpPr>
        <p:spPr>
          <a:xfrm rot="0">
            <a:off x="12554712" y="6027877"/>
            <a:ext cx="4654296" cy="681990"/>
          </a:xfrm>
          <a:prstGeom prst="rect">
            <a:avLst/>
          </a:prstGeom>
        </p:spPr>
        <p:txBody>
          <a:bodyPr anchor="t" rtlCol="false" tIns="0" lIns="0" bIns="0" rIns="0">
            <a:spAutoFit/>
          </a:bodyPr>
          <a:lstStyle/>
          <a:p>
            <a:pPr algn="l">
              <a:lnSpc>
                <a:spcPts val="2552"/>
              </a:lnSpc>
            </a:pPr>
            <a:r>
              <a:rPr lang="en-US" sz="1899" b="true">
                <a:solidFill>
                  <a:srgbClr val="0B5E6E"/>
                </a:solidFill>
                <a:latin typeface="Calibri (MS) Bold"/>
                <a:ea typeface="Calibri (MS) Bold"/>
                <a:cs typeface="Calibri (MS) Bold"/>
                <a:sym typeface="Calibri (MS) Bold"/>
              </a:rPr>
              <a:t>Uji error integrasi (E15)</a:t>
            </a:r>
          </a:p>
        </p:txBody>
      </p:sp>
      <p:sp>
        <p:nvSpPr>
          <p:cNvPr name="TextBox 82" id="82"/>
          <p:cNvSpPr txBox="true"/>
          <p:nvPr/>
        </p:nvSpPr>
        <p:spPr>
          <a:xfrm rot="0">
            <a:off x="12554712" y="6632905"/>
            <a:ext cx="4654296" cy="1260196"/>
          </a:xfrm>
          <a:prstGeom prst="rect">
            <a:avLst/>
          </a:prstGeom>
        </p:spPr>
        <p:txBody>
          <a:bodyPr anchor="t" rtlCol="false" tIns="0" lIns="0" bIns="0" rIns="0">
            <a:spAutoFit/>
          </a:bodyPr>
          <a:lstStyle/>
          <a:p>
            <a:pPr algn="l">
              <a:lnSpc>
                <a:spcPts val="1881"/>
              </a:lnSpc>
            </a:pPr>
            <a:r>
              <a:rPr lang="en-US" sz="1400">
                <a:solidFill>
                  <a:srgbClr val="14313B"/>
                </a:solidFill>
                <a:latin typeface="Calibri (MS)"/>
                <a:ea typeface="Calibri (MS)"/>
                <a:cs typeface="Calibri (MS)"/>
                <a:sym typeface="Calibri (MS)"/>
              </a:rPr>
              <a:t>Lahan melewati luas wilayah 57,70 ha (0,018%) pada dt = 1; 0,01 ha pada dt 0,5; tidak melewati pada dt 0,25 → error perhitungan numerik, bukan kesalahan struktur.</a:t>
            </a:r>
          </a:p>
        </p:txBody>
      </p:sp>
      <p:grpSp>
        <p:nvGrpSpPr>
          <p:cNvPr name="Group 83" id="83"/>
          <p:cNvGrpSpPr/>
          <p:nvPr/>
        </p:nvGrpSpPr>
        <p:grpSpPr>
          <a:xfrm rot="0">
            <a:off x="6812280" y="8247888"/>
            <a:ext cx="10652760" cy="960120"/>
            <a:chOff x="0" y="0"/>
            <a:chExt cx="14203680" cy="1280160"/>
          </a:xfrm>
        </p:grpSpPr>
        <p:sp>
          <p:nvSpPr>
            <p:cNvPr name="Freeform 84" id="84"/>
            <p:cNvSpPr/>
            <p:nvPr/>
          </p:nvSpPr>
          <p:spPr>
            <a:xfrm flipH="false" flipV="false" rot="0">
              <a:off x="0" y="0"/>
              <a:ext cx="14203680" cy="1280160"/>
            </a:xfrm>
            <a:custGeom>
              <a:avLst/>
              <a:gdLst/>
              <a:ahLst/>
              <a:cxnLst/>
              <a:rect r="r" b="b" t="t" l="l"/>
              <a:pathLst>
                <a:path h="1280160" w="14203680">
                  <a:moveTo>
                    <a:pt x="0" y="170688"/>
                  </a:moveTo>
                  <a:cubicBezTo>
                    <a:pt x="0" y="76454"/>
                    <a:pt x="76454" y="0"/>
                    <a:pt x="170688" y="0"/>
                  </a:cubicBezTo>
                  <a:lnTo>
                    <a:pt x="14032992" y="0"/>
                  </a:lnTo>
                  <a:cubicBezTo>
                    <a:pt x="14127226" y="0"/>
                    <a:pt x="14203680" y="76454"/>
                    <a:pt x="14203680" y="170688"/>
                  </a:cubicBezTo>
                  <a:lnTo>
                    <a:pt x="14203680" y="1109472"/>
                  </a:lnTo>
                  <a:cubicBezTo>
                    <a:pt x="14203680" y="1203706"/>
                    <a:pt x="14127226" y="1280160"/>
                    <a:pt x="14032992" y="1280160"/>
                  </a:cubicBezTo>
                  <a:lnTo>
                    <a:pt x="170688" y="1280160"/>
                  </a:lnTo>
                  <a:cubicBezTo>
                    <a:pt x="76454" y="1280160"/>
                    <a:pt x="0" y="1203706"/>
                    <a:pt x="0" y="1109472"/>
                  </a:cubicBezTo>
                  <a:close/>
                </a:path>
              </a:pathLst>
            </a:custGeom>
            <a:solidFill>
              <a:srgbClr val="FFF1BF"/>
            </a:solidFill>
          </p:spPr>
          <p:txBody>
            <a:bodyPr/>
            <a:p/>
          </p:txBody>
        </p:sp>
      </p:grpSp>
      <p:grpSp>
        <p:nvGrpSpPr>
          <p:cNvPr name="Group 85" id="85"/>
          <p:cNvGrpSpPr/>
          <p:nvPr/>
        </p:nvGrpSpPr>
        <p:grpSpPr>
          <a:xfrm rot="0">
            <a:off x="7086600" y="8247888"/>
            <a:ext cx="10149840" cy="960120"/>
            <a:chOff x="0" y="0"/>
            <a:chExt cx="13533120" cy="1280160"/>
          </a:xfrm>
        </p:grpSpPr>
        <p:sp>
          <p:nvSpPr>
            <p:cNvPr name="Freeform 86" id="86"/>
            <p:cNvSpPr/>
            <p:nvPr/>
          </p:nvSpPr>
          <p:spPr>
            <a:xfrm flipH="false" flipV="false" rot="0">
              <a:off x="0" y="0"/>
              <a:ext cx="13533120" cy="1280160"/>
            </a:xfrm>
            <a:custGeom>
              <a:avLst/>
              <a:gdLst/>
              <a:ahLst/>
              <a:cxnLst/>
              <a:rect r="r" b="b" t="t" l="l"/>
              <a:pathLst>
                <a:path h="1280160" w="13533120">
                  <a:moveTo>
                    <a:pt x="0" y="0"/>
                  </a:moveTo>
                  <a:lnTo>
                    <a:pt x="13533120" y="0"/>
                  </a:lnTo>
                  <a:lnTo>
                    <a:pt x="13533120" y="1280160"/>
                  </a:lnTo>
                  <a:lnTo>
                    <a:pt x="0" y="1280160"/>
                  </a:lnTo>
                  <a:close/>
                </a:path>
              </a:pathLst>
            </a:custGeom>
            <a:blipFill>
              <a:blip r:embed="rId5">
                <a:alphaModFix amt="0"/>
              </a:blip>
              <a:stretch>
                <a:fillRect l="0" t="-155841" r="0" b="-155841"/>
              </a:stretch>
            </a:blipFill>
          </p:spPr>
          <p:txBody>
            <a:bodyPr/>
            <a:p/>
          </p:txBody>
        </p:sp>
      </p:grpSp>
      <p:grpSp>
        <p:nvGrpSpPr>
          <p:cNvPr name="Group 87" id="87"/>
          <p:cNvGrpSpPr/>
          <p:nvPr/>
        </p:nvGrpSpPr>
        <p:grpSpPr>
          <a:xfrm rot="0">
            <a:off x="7086600" y="8205025"/>
            <a:ext cx="10149840" cy="1002982"/>
            <a:chOff x="0" y="0"/>
            <a:chExt cx="13533120" cy="1337310"/>
          </a:xfrm>
        </p:grpSpPr>
        <p:sp>
          <p:nvSpPr>
            <p:cNvPr name="Freeform 88" id="88"/>
            <p:cNvSpPr/>
            <p:nvPr/>
          </p:nvSpPr>
          <p:spPr>
            <a:xfrm flipH="false" flipV="false" rot="0">
              <a:off x="0" y="0"/>
              <a:ext cx="13533120" cy="1337310"/>
            </a:xfrm>
            <a:custGeom>
              <a:avLst/>
              <a:gdLst/>
              <a:ahLst/>
              <a:cxnLst/>
              <a:rect r="r" b="b" t="t" l="l"/>
              <a:pathLst>
                <a:path h="1337310" w="13533120">
                  <a:moveTo>
                    <a:pt x="0" y="0"/>
                  </a:moveTo>
                  <a:lnTo>
                    <a:pt x="13533120" y="0"/>
                  </a:lnTo>
                  <a:lnTo>
                    <a:pt x="13533120" y="1337310"/>
                  </a:lnTo>
                  <a:lnTo>
                    <a:pt x="0" y="1337310"/>
                  </a:lnTo>
                  <a:close/>
                </a:path>
              </a:pathLst>
            </a:custGeom>
            <a:blipFill>
              <a:blip r:embed="rId6">
                <a:alphaModFix amt="0"/>
              </a:blip>
              <a:stretch>
                <a:fillRect l="0" t="-147181" r="0" b="-147181"/>
              </a:stretch>
            </a:blipFill>
          </p:spPr>
          <p:txBody>
            <a:bodyPr/>
            <a:p/>
          </p:txBody>
        </p:sp>
        <p:sp>
          <p:nvSpPr>
            <p:cNvPr name="TextBox 89" id="89"/>
            <p:cNvSpPr txBox="true"/>
            <p:nvPr/>
          </p:nvSpPr>
          <p:spPr>
            <a:xfrm>
              <a:off x="0" y="-57150"/>
              <a:ext cx="13533120" cy="1394460"/>
            </a:xfrm>
            <a:prstGeom prst="rect">
              <a:avLst/>
            </a:prstGeom>
          </p:spPr>
          <p:txBody>
            <a:bodyPr anchor="ctr" rtlCol="false" tIns="0" lIns="0" bIns="0" rIns="0"/>
            <a:lstStyle/>
            <a:p>
              <a:pPr algn="l">
                <a:lnSpc>
                  <a:spcPts val="1948"/>
                </a:lnSpc>
              </a:pPr>
              <a:r>
                <a:rPr lang="en-US" sz="1449">
                  <a:solidFill>
                    <a:srgbClr val="14313B"/>
                  </a:solidFill>
                  <a:latin typeface="Calibri (MS)"/>
                  <a:ea typeface="Calibri (MS)"/>
                  <a:cs typeface="Calibri (MS)"/>
                  <a:sym typeface="Calibri (MS)"/>
                </a:rPr>
                <a:t>Batas berlakunya model: LPE ≤ ±0,336 (≈1,25× nilai dasar). Simulasi dasar dt 1 vs 0,5 hanya berbeda −0,27% s.d. +0,34% → langkah waktu tahunan sudah cukup.</a:t>
              </a:r>
            </a:p>
          </p:txBody>
        </p:sp>
      </p:grpSp>
      <p:grpSp>
        <p:nvGrpSpPr>
          <p:cNvPr name="Group 90" id="90"/>
          <p:cNvGrpSpPr/>
          <p:nvPr/>
        </p:nvGrpSpPr>
        <p:grpSpPr>
          <a:xfrm rot="0">
            <a:off x="12755880" y="274320"/>
            <a:ext cx="3931920" cy="411480"/>
            <a:chOff x="0" y="0"/>
            <a:chExt cx="5242560" cy="548640"/>
          </a:xfrm>
        </p:grpSpPr>
        <p:sp>
          <p:nvSpPr>
            <p:cNvPr name="Freeform 91" id="91"/>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92" id="92"/>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2D · Uji struktur</a:t>
              </a:r>
            </a:p>
          </p:txBody>
        </p:sp>
      </p:grpSp>
      <p:grpSp>
        <p:nvGrpSpPr>
          <p:cNvPr name="Group 93" id="93"/>
          <p:cNvGrpSpPr/>
          <p:nvPr/>
        </p:nvGrpSpPr>
        <p:grpSpPr>
          <a:xfrm rot="0">
            <a:off x="16047720" y="9646920"/>
            <a:ext cx="420624" cy="420624"/>
            <a:chOff x="0" y="0"/>
            <a:chExt cx="560832" cy="560832"/>
          </a:xfrm>
        </p:grpSpPr>
        <p:sp>
          <p:nvSpPr>
            <p:cNvPr name="Freeform 94" id="94"/>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95" id="95"/>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4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0010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Rancangan Uji Perilaku</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Pola hasil simulasi dibandingkan dengan data, mengikuti urutan Barlas</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44</a:t>
            </a:r>
          </a:p>
        </p:txBody>
      </p:sp>
      <p:sp>
        <p:nvSpPr>
          <p:cNvPr name="Freeform 67" id="67"/>
          <p:cNvSpPr/>
          <p:nvPr/>
        </p:nvSpPr>
        <p:spPr>
          <a:xfrm flipH="false" flipV="false" rot="0">
            <a:off x="806291" y="2223611"/>
            <a:ext cx="5794058" cy="2365058"/>
          </a:xfrm>
          <a:custGeom>
            <a:avLst/>
            <a:gdLst/>
            <a:ahLst/>
            <a:cxnLst/>
            <a:rect r="r" b="b" t="t" l="l"/>
            <a:pathLst>
              <a:path h="2365058" w="5794058">
                <a:moveTo>
                  <a:pt x="0" y="0"/>
                </a:moveTo>
                <a:lnTo>
                  <a:pt x="5794058" y="0"/>
                </a:lnTo>
                <a:lnTo>
                  <a:pt x="5794058" y="2365058"/>
                </a:lnTo>
                <a:lnTo>
                  <a:pt x="0" y="236505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68" id="68"/>
          <p:cNvGrpSpPr/>
          <p:nvPr/>
        </p:nvGrpSpPr>
        <p:grpSpPr>
          <a:xfrm rot="0">
            <a:off x="1051560" y="2468880"/>
            <a:ext cx="530352" cy="530352"/>
            <a:chOff x="0" y="0"/>
            <a:chExt cx="707136" cy="707136"/>
          </a:xfrm>
        </p:grpSpPr>
        <p:sp>
          <p:nvSpPr>
            <p:cNvPr name="Freeform 69" id="69"/>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70" id="70"/>
          <p:cNvGrpSpPr/>
          <p:nvPr/>
        </p:nvGrpSpPr>
        <p:grpSpPr>
          <a:xfrm rot="0">
            <a:off x="1051560" y="2447449"/>
            <a:ext cx="530352" cy="551783"/>
            <a:chOff x="0" y="0"/>
            <a:chExt cx="707136" cy="735711"/>
          </a:xfrm>
        </p:grpSpPr>
        <p:sp>
          <p:nvSpPr>
            <p:cNvPr name="Freeform 71" id="71"/>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72" id="72"/>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P</a:t>
              </a:r>
            </a:p>
          </p:txBody>
        </p:sp>
      </p:grpSp>
      <p:sp>
        <p:nvSpPr>
          <p:cNvPr name="TextBox 73" id="73"/>
          <p:cNvSpPr txBox="true"/>
          <p:nvPr/>
        </p:nvSpPr>
        <p:spPr>
          <a:xfrm rot="0">
            <a:off x="1719072" y="2372868"/>
            <a:ext cx="4709160" cy="459334"/>
          </a:xfrm>
          <a:prstGeom prst="rect">
            <a:avLst/>
          </a:prstGeom>
        </p:spPr>
        <p:txBody>
          <a:bodyPr anchor="t" rtlCol="false" tIns="0" lIns="0" bIns="0" rIns="0">
            <a:spAutoFit/>
          </a:bodyPr>
          <a:lstStyle/>
          <a:p>
            <a:pPr algn="l">
              <a:lnSpc>
                <a:spcPts val="2284"/>
              </a:lnSpc>
            </a:pPr>
            <a:r>
              <a:rPr lang="en-US" sz="1700" b="true">
                <a:solidFill>
                  <a:srgbClr val="0B5E6E"/>
                </a:solidFill>
                <a:latin typeface="Calibri (MS) Bold"/>
                <a:ea typeface="Calibri (MS) Bold"/>
                <a:cs typeface="Calibri (MS) Bold"/>
                <a:sym typeface="Calibri (MS) Bold"/>
              </a:rPr>
              <a:t>Uji parsial (P1–P5) · 2016–2025</a:t>
            </a:r>
          </a:p>
        </p:txBody>
      </p:sp>
      <p:sp>
        <p:nvSpPr>
          <p:cNvPr name="TextBox 74" id="74"/>
          <p:cNvSpPr txBox="true"/>
          <p:nvPr/>
        </p:nvSpPr>
        <p:spPr>
          <a:xfrm rot="0">
            <a:off x="1051560" y="3022092"/>
            <a:ext cx="5303520" cy="1159154"/>
          </a:xfrm>
          <a:prstGeom prst="rect">
            <a:avLst/>
          </a:prstGeom>
        </p:spPr>
        <p:txBody>
          <a:bodyPr anchor="t" rtlCol="false" tIns="0" lIns="0" bIns="0" rIns="0">
            <a:spAutoFit/>
          </a:bodyPr>
          <a:lstStyle/>
          <a:p>
            <a:pPr algn="l">
              <a:lnSpc>
                <a:spcPts val="1948"/>
              </a:lnSpc>
            </a:pPr>
            <a:r>
              <a:rPr lang="en-US" sz="1449">
                <a:solidFill>
                  <a:srgbClr val="14313B"/>
                </a:solidFill>
                <a:latin typeface="Calibri (MS)"/>
                <a:ea typeface="Calibri (MS)"/>
                <a:cs typeface="Calibri (MS)"/>
                <a:sym typeface="Calibri (MS)"/>
              </a:rPr>
              <a:t>P1 akomodasi &amp; TPK · P2 ODTW · P3 tenaga kerja · P4 lahan · P5 wisatawan. Variabel dari luar subsistem diganti data aktual (partial-model testing; Homer, 2012). Angka utama: tanpa 2020–2021.</a:t>
            </a:r>
          </a:p>
        </p:txBody>
      </p:sp>
      <p:sp>
        <p:nvSpPr>
          <p:cNvPr name="Freeform 75" id="75"/>
          <p:cNvSpPr/>
          <p:nvPr/>
        </p:nvSpPr>
        <p:spPr>
          <a:xfrm flipH="false" flipV="false" rot="0">
            <a:off x="806291" y="4692491"/>
            <a:ext cx="5794058" cy="1862138"/>
          </a:xfrm>
          <a:custGeom>
            <a:avLst/>
            <a:gdLst/>
            <a:ahLst/>
            <a:cxnLst/>
            <a:rect r="r" b="b" t="t" l="l"/>
            <a:pathLst>
              <a:path h="1862138" w="5794058">
                <a:moveTo>
                  <a:pt x="0" y="0"/>
                </a:moveTo>
                <a:lnTo>
                  <a:pt x="5794058" y="0"/>
                </a:lnTo>
                <a:lnTo>
                  <a:pt x="5794058" y="1862138"/>
                </a:lnTo>
                <a:lnTo>
                  <a:pt x="0" y="1862138"/>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txBody>
          <a:bodyPr/>
          <a:p/>
        </p:txBody>
      </p:sp>
      <p:grpSp>
        <p:nvGrpSpPr>
          <p:cNvPr name="Group 76" id="76"/>
          <p:cNvGrpSpPr/>
          <p:nvPr/>
        </p:nvGrpSpPr>
        <p:grpSpPr>
          <a:xfrm rot="0">
            <a:off x="1051560" y="4937760"/>
            <a:ext cx="530352" cy="530352"/>
            <a:chOff x="0" y="0"/>
            <a:chExt cx="707136" cy="707136"/>
          </a:xfrm>
        </p:grpSpPr>
        <p:sp>
          <p:nvSpPr>
            <p:cNvPr name="Freeform 77" id="77"/>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78" id="78"/>
          <p:cNvGrpSpPr/>
          <p:nvPr/>
        </p:nvGrpSpPr>
        <p:grpSpPr>
          <a:xfrm rot="0">
            <a:off x="1051560" y="4916329"/>
            <a:ext cx="530352" cy="551783"/>
            <a:chOff x="0" y="0"/>
            <a:chExt cx="707136" cy="735711"/>
          </a:xfrm>
        </p:grpSpPr>
        <p:sp>
          <p:nvSpPr>
            <p:cNvPr name="Freeform 79" id="79"/>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80" id="80"/>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B</a:t>
              </a:r>
            </a:p>
          </p:txBody>
        </p:sp>
      </p:grpSp>
      <p:sp>
        <p:nvSpPr>
          <p:cNvPr name="TextBox 81" id="81"/>
          <p:cNvSpPr txBox="true"/>
          <p:nvPr/>
        </p:nvSpPr>
        <p:spPr>
          <a:xfrm rot="0">
            <a:off x="1719072" y="4841748"/>
            <a:ext cx="4709160" cy="459334"/>
          </a:xfrm>
          <a:prstGeom prst="rect">
            <a:avLst/>
          </a:prstGeom>
        </p:spPr>
        <p:txBody>
          <a:bodyPr anchor="t" rtlCol="false" tIns="0" lIns="0" bIns="0" rIns="0">
            <a:spAutoFit/>
          </a:bodyPr>
          <a:lstStyle/>
          <a:p>
            <a:pPr algn="l">
              <a:lnSpc>
                <a:spcPts val="2284"/>
              </a:lnSpc>
            </a:pPr>
            <a:r>
              <a:rPr lang="en-US" sz="1700" b="true">
                <a:solidFill>
                  <a:srgbClr val="0B5E6E"/>
                </a:solidFill>
                <a:latin typeface="Calibri (MS) Bold"/>
                <a:ea typeface="Calibri (MS) Bold"/>
                <a:cs typeface="Calibri (MS) Bold"/>
                <a:sym typeface="Calibri (MS) Bold"/>
              </a:rPr>
              <a:t>Uji penuh · 2019–2025</a:t>
            </a:r>
          </a:p>
        </p:txBody>
      </p:sp>
      <p:sp>
        <p:nvSpPr>
          <p:cNvPr name="TextBox 82" id="82"/>
          <p:cNvSpPr txBox="true"/>
          <p:nvPr/>
        </p:nvSpPr>
        <p:spPr>
          <a:xfrm rot="0">
            <a:off x="1051560" y="5490972"/>
            <a:ext cx="5303520" cy="911657"/>
          </a:xfrm>
          <a:prstGeom prst="rect">
            <a:avLst/>
          </a:prstGeom>
        </p:spPr>
        <p:txBody>
          <a:bodyPr anchor="t" rtlCol="false" tIns="0" lIns="0" bIns="0" rIns="0">
            <a:spAutoFit/>
          </a:bodyPr>
          <a:lstStyle/>
          <a:p>
            <a:pPr algn="l">
              <a:lnSpc>
                <a:spcPts val="1948"/>
              </a:lnSpc>
            </a:pPr>
            <a:r>
              <a:rPr lang="en-US" sz="1449">
                <a:solidFill>
                  <a:srgbClr val="14313B"/>
                </a:solidFill>
                <a:latin typeface="Calibri (MS)"/>
                <a:ea typeface="Calibri (MS)"/>
                <a:cs typeface="Calibri (MS)"/>
                <a:sym typeface="Calibri (MS)"/>
              </a:rPr>
              <a:t>Tanpa penggantian data; semua feedback aktif; 9 variabel dinilai. Angka utama: termasuk 2020–2021 (hanya 7 tahun data).</a:t>
            </a:r>
          </a:p>
        </p:txBody>
      </p:sp>
      <p:sp>
        <p:nvSpPr>
          <p:cNvPr name="Freeform 83" id="83"/>
          <p:cNvSpPr/>
          <p:nvPr/>
        </p:nvSpPr>
        <p:spPr>
          <a:xfrm flipH="false" flipV="false" rot="0">
            <a:off x="806291" y="6658451"/>
            <a:ext cx="5794058" cy="2611945"/>
          </a:xfrm>
          <a:custGeom>
            <a:avLst/>
            <a:gdLst/>
            <a:ahLst/>
            <a:cxnLst/>
            <a:rect r="r" b="b" t="t" l="l"/>
            <a:pathLst>
              <a:path h="2611945" w="5794058">
                <a:moveTo>
                  <a:pt x="0" y="0"/>
                </a:moveTo>
                <a:lnTo>
                  <a:pt x="5794058" y="0"/>
                </a:lnTo>
                <a:lnTo>
                  <a:pt x="5794058" y="2611946"/>
                </a:lnTo>
                <a:lnTo>
                  <a:pt x="0" y="2611946"/>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txBody>
          <a:bodyPr/>
          <a:p/>
        </p:txBody>
      </p:sp>
      <p:grpSp>
        <p:nvGrpSpPr>
          <p:cNvPr name="Group 84" id="84"/>
          <p:cNvGrpSpPr/>
          <p:nvPr/>
        </p:nvGrpSpPr>
        <p:grpSpPr>
          <a:xfrm rot="0">
            <a:off x="1051560" y="6903720"/>
            <a:ext cx="530352" cy="530352"/>
            <a:chOff x="0" y="0"/>
            <a:chExt cx="707136" cy="707136"/>
          </a:xfrm>
        </p:grpSpPr>
        <p:sp>
          <p:nvSpPr>
            <p:cNvPr name="Freeform 85" id="85"/>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86" id="86"/>
          <p:cNvGrpSpPr/>
          <p:nvPr/>
        </p:nvGrpSpPr>
        <p:grpSpPr>
          <a:xfrm rot="0">
            <a:off x="1051560" y="6882289"/>
            <a:ext cx="530352" cy="551783"/>
            <a:chOff x="0" y="0"/>
            <a:chExt cx="707136" cy="735711"/>
          </a:xfrm>
        </p:grpSpPr>
        <p:sp>
          <p:nvSpPr>
            <p:cNvPr name="Freeform 87" id="87"/>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88" id="88"/>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S</a:t>
              </a:r>
            </a:p>
          </p:txBody>
        </p:sp>
      </p:grpSp>
      <p:sp>
        <p:nvSpPr>
          <p:cNvPr name="TextBox 89" id="89"/>
          <p:cNvSpPr txBox="true"/>
          <p:nvPr/>
        </p:nvSpPr>
        <p:spPr>
          <a:xfrm rot="0">
            <a:off x="1719072" y="6807708"/>
            <a:ext cx="4709160" cy="459334"/>
          </a:xfrm>
          <a:prstGeom prst="rect">
            <a:avLst/>
          </a:prstGeom>
        </p:spPr>
        <p:txBody>
          <a:bodyPr anchor="t" rtlCol="false" tIns="0" lIns="0" bIns="0" rIns="0">
            <a:spAutoFit/>
          </a:bodyPr>
          <a:lstStyle/>
          <a:p>
            <a:pPr algn="l">
              <a:lnSpc>
                <a:spcPts val="2284"/>
              </a:lnSpc>
            </a:pPr>
            <a:r>
              <a:rPr lang="en-US" sz="1700" b="true">
                <a:solidFill>
                  <a:srgbClr val="0B5E6E"/>
                </a:solidFill>
                <a:latin typeface="Calibri (MS) Bold"/>
                <a:ea typeface="Calibri (MS) Bold"/>
                <a:cs typeface="Calibri (MS) Bold"/>
                <a:sym typeface="Calibri (MS) Bold"/>
              </a:rPr>
              <a:t>Penyesuaian data wisnus (untuk P5)</a:t>
            </a:r>
          </a:p>
        </p:txBody>
      </p:sp>
      <p:grpSp>
        <p:nvGrpSpPr>
          <p:cNvPr name="Group 90" id="90"/>
          <p:cNvGrpSpPr/>
          <p:nvPr/>
        </p:nvGrpSpPr>
        <p:grpSpPr>
          <a:xfrm rot="0">
            <a:off x="987552" y="7571232"/>
            <a:ext cx="5431536" cy="1159478"/>
            <a:chOff x="0" y="0"/>
            <a:chExt cx="7242048" cy="1545971"/>
          </a:xfrm>
        </p:grpSpPr>
        <p:sp>
          <p:nvSpPr>
            <p:cNvPr name="Freeform 91" id="91"/>
            <p:cNvSpPr/>
            <p:nvPr/>
          </p:nvSpPr>
          <p:spPr>
            <a:xfrm flipH="false" flipV="false" rot="0">
              <a:off x="0" y="0"/>
              <a:ext cx="7242048" cy="1545971"/>
            </a:xfrm>
            <a:custGeom>
              <a:avLst/>
              <a:gdLst/>
              <a:ahLst/>
              <a:cxnLst/>
              <a:rect r="r" b="b" t="t" l="l"/>
              <a:pathLst>
                <a:path h="1545971" w="7242048">
                  <a:moveTo>
                    <a:pt x="0" y="97536"/>
                  </a:moveTo>
                  <a:cubicBezTo>
                    <a:pt x="0" y="43688"/>
                    <a:pt x="43688" y="0"/>
                    <a:pt x="97536" y="0"/>
                  </a:cubicBezTo>
                  <a:lnTo>
                    <a:pt x="7144512" y="0"/>
                  </a:lnTo>
                  <a:cubicBezTo>
                    <a:pt x="7198360" y="0"/>
                    <a:pt x="7242048" y="43688"/>
                    <a:pt x="7242048" y="97536"/>
                  </a:cubicBezTo>
                  <a:lnTo>
                    <a:pt x="7242048" y="1448435"/>
                  </a:lnTo>
                  <a:cubicBezTo>
                    <a:pt x="7242048" y="1502283"/>
                    <a:pt x="7198360" y="1545971"/>
                    <a:pt x="7144512" y="1545971"/>
                  </a:cubicBezTo>
                  <a:lnTo>
                    <a:pt x="97536" y="1545971"/>
                  </a:lnTo>
                  <a:cubicBezTo>
                    <a:pt x="43688" y="1545971"/>
                    <a:pt x="0" y="1502283"/>
                    <a:pt x="0" y="1448435"/>
                  </a:cubicBezTo>
                  <a:close/>
                </a:path>
              </a:pathLst>
            </a:custGeom>
            <a:solidFill>
              <a:srgbClr val="FFF1BF"/>
            </a:solidFill>
          </p:spPr>
          <p:txBody>
            <a:bodyPr/>
            <a:p/>
          </p:txBody>
        </p:sp>
      </p:grpSp>
      <p:sp>
        <p:nvSpPr>
          <p:cNvPr name="TextBox 92" id="92"/>
          <p:cNvSpPr txBox="true"/>
          <p:nvPr/>
        </p:nvSpPr>
        <p:spPr>
          <a:xfrm rot="0">
            <a:off x="1124712" y="7614666"/>
            <a:ext cx="5029200" cy="1033729"/>
          </a:xfrm>
          <a:prstGeom prst="rect">
            <a:avLst/>
          </a:prstGeom>
        </p:spPr>
        <p:txBody>
          <a:bodyPr anchor="t" rtlCol="false" tIns="0" lIns="0" bIns="0" rIns="0">
            <a:spAutoFit/>
          </a:bodyPr>
          <a:lstStyle/>
          <a:p>
            <a:pPr algn="l">
              <a:lnSpc>
                <a:spcPts val="2083"/>
              </a:lnSpc>
            </a:pPr>
            <a:r>
              <a:rPr lang="en-US" sz="1550" i="true">
                <a:solidFill>
                  <a:srgbClr val="14313B"/>
                </a:solidFill>
                <a:latin typeface="Cambria Italics"/>
                <a:ea typeface="Cambria Italics"/>
                <a:cs typeface="Cambria Italics"/>
                <a:sym typeface="Cambria Italics"/>
              </a:rPr>
              <a:t>g_pra = (W₂₀₁₈ / W₂₀₁₅)^(1/3) − 1</a:t>
            </a:r>
          </a:p>
          <a:p>
            <a:pPr algn="l">
              <a:lnSpc>
                <a:spcPts val="2083"/>
              </a:lnSpc>
            </a:pPr>
            <a:r>
              <a:rPr lang="en-US" sz="1550" i="true">
                <a:solidFill>
                  <a:srgbClr val="14313B"/>
                </a:solidFill>
                <a:latin typeface="Cambria Italics"/>
                <a:ea typeface="Cambria Italics"/>
                <a:cs typeface="Cambria Italics"/>
                <a:sym typeface="Cambria Italics"/>
              </a:rPr>
              <a:t>g_pasca = (W₂₀₂₅ / W₂₀₂₁)^(1/4) − 1</a:t>
            </a:r>
          </a:p>
          <a:p>
            <a:pPr algn="l">
              <a:lnSpc>
                <a:spcPts val="2083"/>
              </a:lnSpc>
            </a:pPr>
            <a:r>
              <a:rPr lang="en-US" sz="1550" i="true">
                <a:solidFill>
                  <a:srgbClr val="14313B"/>
                </a:solidFill>
                <a:latin typeface="Cambria Italics"/>
                <a:ea typeface="Cambria Italics"/>
                <a:cs typeface="Cambria Italics"/>
                <a:sym typeface="Cambria Italics"/>
              </a:rPr>
              <a:t>Faktor = (W₂₀₁₉ / W₂₀₁₈) / (1 + ḡ)</a:t>
            </a:r>
          </a:p>
        </p:txBody>
      </p:sp>
      <p:sp>
        <p:nvSpPr>
          <p:cNvPr name="TextBox 93" id="93"/>
          <p:cNvSpPr txBox="true"/>
          <p:nvPr/>
        </p:nvSpPr>
        <p:spPr>
          <a:xfrm rot="0">
            <a:off x="1051560" y="8726881"/>
            <a:ext cx="5303520" cy="389077"/>
          </a:xfrm>
          <a:prstGeom prst="rect">
            <a:avLst/>
          </a:prstGeom>
        </p:spPr>
        <p:txBody>
          <a:bodyPr anchor="t" rtlCol="false" tIns="0" lIns="0" bIns="0" rIns="0">
            <a:spAutoFit/>
          </a:bodyPr>
          <a:lstStyle/>
          <a:p>
            <a:pPr algn="l">
              <a:lnSpc>
                <a:spcPts val="1881"/>
              </a:lnSpc>
            </a:pPr>
            <a:r>
              <a:rPr lang="en-US" sz="1400" b="true">
                <a:solidFill>
                  <a:srgbClr val="0B5E6E"/>
                </a:solidFill>
                <a:latin typeface="Calibri (MS) Bold"/>
                <a:ea typeface="Calibri (MS) Bold"/>
                <a:cs typeface="Calibri (MS) Bold"/>
                <a:sym typeface="Calibri (MS) Bold"/>
              </a:rPr>
              <a:t>ḡ = rata-rata g_pra dan g_pasca → faktor 2,2997</a:t>
            </a:r>
          </a:p>
        </p:txBody>
      </p:sp>
      <p:graphicFrame>
        <p:nvGraphicFramePr>
          <p:cNvPr name="Table 94" id="94"/>
          <p:cNvGraphicFramePr>
            <a:graphicFrameLocks noGrp="true"/>
          </p:cNvGraphicFramePr>
          <p:nvPr/>
        </p:nvGraphicFramePr>
        <p:xfrm>
          <a:off x="6812280" y="2240280"/>
          <a:ext cx="10604500" cy="6400800"/>
        </p:xfrm>
        <a:graphic>
          <a:graphicData uri="http://schemas.openxmlformats.org/drawingml/2006/table">
            <a:tbl>
              <a:tblPr/>
              <a:tblGrid>
                <a:gridCol w="2184618"/>
                <a:gridCol w="4733339"/>
                <a:gridCol w="3686543"/>
              </a:tblGrid>
              <a:tr h="529835">
                <a:tc>
                  <a:txBody>
                    <a:bodyPr anchor="t" rtlCol="false"/>
                    <a:lstStyle/>
                    <a:p>
                      <a:pPr algn="l">
                        <a:lnSpc>
                          <a:spcPts val="1739"/>
                        </a:lnSpc>
                        <a:defRPr/>
                      </a:pPr>
                      <a:r>
                        <a:rPr lang="en-US" sz="1449" b="true">
                          <a:solidFill>
                            <a:srgbClr val="FFFFFF"/>
                          </a:solidFill>
                          <a:latin typeface="Calibri (MS) Bold"/>
                          <a:ea typeface="Calibri (MS) Bold"/>
                          <a:cs typeface="Calibri (MS) Bold"/>
                          <a:sym typeface="Calibri (MS) Bold"/>
                        </a:rPr>
                        <a:t>Metrik (urutan penilaian)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l">
                        <a:lnSpc>
                          <a:spcPts val="1739"/>
                        </a:lnSpc>
                        <a:defRPr/>
                      </a:pPr>
                      <a:r>
                        <a:rPr lang="en-US" sz="1449" b="true">
                          <a:solidFill>
                            <a:srgbClr val="FFFFFF"/>
                          </a:solidFill>
                          <a:latin typeface="Calibri (MS) Bold"/>
                          <a:ea typeface="Calibri (MS) Bold"/>
                          <a:cs typeface="Calibri (MS) Bold"/>
                          <a:sym typeface="Calibri (MS) Bold"/>
                        </a:rPr>
                        <a:t>Rumus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l">
                        <a:lnSpc>
                          <a:spcPts val="1739"/>
                        </a:lnSpc>
                        <a:defRPr/>
                      </a:pPr>
                      <a:r>
                        <a:rPr lang="en-US" sz="1449" b="true">
                          <a:solidFill>
                            <a:srgbClr val="FFFFFF"/>
                          </a:solidFill>
                          <a:latin typeface="Calibri (MS) Bold"/>
                          <a:ea typeface="Calibri (MS) Bold"/>
                          <a:cs typeface="Calibri (MS) Bold"/>
                          <a:sym typeface="Calibri (MS) Bold"/>
                        </a:rPr>
                        <a:t>Kriteria / pedoman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r>
              <a:tr h="978494">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1 · Uji tren (saringan awal)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i="true">
                          <a:solidFill>
                            <a:srgbClr val="14313B"/>
                          </a:solidFill>
                          <a:latin typeface="Cambria Italics"/>
                          <a:ea typeface="Cambria Italics"/>
                          <a:cs typeface="Cambria Italics"/>
                          <a:sym typeface="Cambria Italics"/>
                        </a:rPr>
                        <a:t>t = |bₛ − bₐ| / √(Var(bₛ) + Var(bₐ)) ;  db = 2n − 4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α = 0,05 → sama · berbeda nyata · berlawanan arah. Bila berbeda, E1–E2 tidak dibaca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978494">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2 · E1 error rata-rata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i="true">
                          <a:solidFill>
                            <a:srgbClr val="14313B"/>
                          </a:solidFill>
                          <a:latin typeface="Cambria Italics"/>
                          <a:ea typeface="Cambria Italics"/>
                          <a:cs typeface="Cambria Italics"/>
                          <a:sym typeface="Cambria Italics"/>
                        </a:rPr>
                        <a:t>E1 = |S̄ − Ā| / Ā</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Pedoman empiris &lt; 0,05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978494">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3 · E2 error variasi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i="true">
                          <a:solidFill>
                            <a:srgbClr val="14313B"/>
                          </a:solidFill>
                          <a:latin typeface="Cambria Italics"/>
                          <a:ea typeface="Cambria Italics"/>
                          <a:cs typeface="Cambria Italics"/>
                          <a:sym typeface="Cambria Italics"/>
                        </a:rPr>
                        <a:t>E2 = |σₛ − σₐ| / σₐ</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Pedoman empiris &lt; 0,30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978494">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4 · Discrepancy coefficient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i="true">
                          <a:solidFill>
                            <a:srgbClr val="14313B"/>
                          </a:solidFill>
                          <a:latin typeface="Cambria Italics"/>
                          <a:ea typeface="Cambria Italics"/>
                          <a:cs typeface="Cambria Italics"/>
                          <a:sym typeface="Cambria Italics"/>
                        </a:rPr>
                        <a:t>DC = SD(e) / (SD(A) + SD(S)) ;  eᵢ = Aᵢ − Sᵢ</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0,4–0,7 = rata-rata sampai baik (ringkasan, bukan uji)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978494">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MAPE (pelengkap)</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i="true">
                          <a:solidFill>
                            <a:srgbClr val="14313B"/>
                          </a:solidFill>
                          <a:latin typeface="Cambria Italics"/>
                          <a:ea typeface="Cambria Italics"/>
                          <a:cs typeface="Cambria Italics"/>
                          <a:sym typeface="Cambria Italics"/>
                        </a:rPr>
                        <a:t>MAPE = (100% / n) · Σ |Sᵢ − Aᵢ| / Aᵢ</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&lt; 10% sangat baik · 10–20% baik · 20–50% layak · &gt; 50% buruk</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978494">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Dekomposisi error (Sterman, 1984)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i="true">
                          <a:solidFill>
                            <a:srgbClr val="14313B"/>
                          </a:solidFill>
                          <a:latin typeface="Cambria Italics"/>
                          <a:ea typeface="Cambria Italics"/>
                          <a:cs typeface="Cambria Italics"/>
                          <a:sym typeface="Cambria Italics"/>
                        </a:rPr>
                        <a:t>MSE = (1/n) Σ(Sᵢ − Aᵢ)²</a:t>
                      </a:r>
                      <a:endParaRPr lang="en-US" sz="1100"/>
                    </a:p>
                    <a:p>
                      <a:pPr algn="l">
                        <a:lnSpc>
                          <a:spcPts val="1680"/>
                        </a:lnSpc>
                      </a:pPr>
                      <a:r>
                        <a:rPr lang="en-US" sz="1400" i="true">
                          <a:solidFill>
                            <a:srgbClr val="14313B"/>
                          </a:solidFill>
                          <a:latin typeface="Cambria Italics"/>
                          <a:ea typeface="Cambria Italics"/>
                          <a:cs typeface="Cambria Italics"/>
                          <a:sym typeface="Cambria Italics"/>
                        </a:rPr>
                        <a:t>U1 = (S̄ − Ā)²/MSE ;  U2 = (σₛ − σₐ)²/MSE</a:t>
                      </a:r>
                    </a:p>
                    <a:p>
                      <a:pPr algn="l">
                        <a:lnSpc>
                          <a:spcPts val="1680"/>
                        </a:lnSpc>
                      </a:pPr>
                      <a:r>
                        <a:rPr lang="en-US" sz="1400" i="true">
                          <a:solidFill>
                            <a:srgbClr val="14313B"/>
                          </a:solidFill>
                          <a:latin typeface="Cambria Italics"/>
                          <a:ea typeface="Cambria Italics"/>
                          <a:cs typeface="Cambria Italics"/>
                          <a:sym typeface="Cambria Italics"/>
                        </a:rPr>
                        <a:t>U3 = 2(1 − r)σₛσₐ/MSE ;  U1 + U2 + U3 = 1</a:t>
                      </a:r>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Tanpa batas nilai: U1/U2 dominan → error sistematis (perlu kalibrasi); U3 dominan → error acak</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bl>
          </a:graphicData>
        </a:graphic>
      </p:graphicFrame>
      <p:grpSp>
        <p:nvGrpSpPr>
          <p:cNvPr name="Group 95" id="95"/>
          <p:cNvGrpSpPr/>
          <p:nvPr/>
        </p:nvGrpSpPr>
        <p:grpSpPr>
          <a:xfrm rot="0">
            <a:off x="12755880" y="274320"/>
            <a:ext cx="3931920" cy="411480"/>
            <a:chOff x="0" y="0"/>
            <a:chExt cx="5242560" cy="548640"/>
          </a:xfrm>
        </p:grpSpPr>
        <p:sp>
          <p:nvSpPr>
            <p:cNvPr name="Freeform 96" id="96"/>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97" id="97"/>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2E · Uji perilaku &amp; kalibrasi</a:t>
              </a:r>
            </a:p>
          </p:txBody>
        </p:sp>
      </p:grpSp>
      <p:grpSp>
        <p:nvGrpSpPr>
          <p:cNvPr name="Group 98" id="98"/>
          <p:cNvGrpSpPr/>
          <p:nvPr/>
        </p:nvGrpSpPr>
        <p:grpSpPr>
          <a:xfrm rot="0">
            <a:off x="16047720" y="9646920"/>
            <a:ext cx="420624" cy="420624"/>
            <a:chOff x="0" y="0"/>
            <a:chExt cx="560832" cy="560832"/>
          </a:xfrm>
        </p:grpSpPr>
        <p:sp>
          <p:nvSpPr>
            <p:cNvPr name="Freeform 99" id="99"/>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00" id="100"/>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4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Rancangan Uji Perilaku — Penyesuaian Data Wisnus</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Perubahan metode pencatatan wisnus 2018→2019 disesuaikan dengan faktor 2,2997</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822960" y="2188845"/>
            <a:ext cx="9601200" cy="622935"/>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Jumlah wisatawan DIY: data mentah vs tersambung (juta kunjungan)</a:t>
            </a:r>
          </a:p>
        </p:txBody>
      </p:sp>
      <p:grpSp>
        <p:nvGrpSpPr>
          <p:cNvPr name="Group 67" id="67"/>
          <p:cNvGrpSpPr/>
          <p:nvPr/>
        </p:nvGrpSpPr>
        <p:grpSpPr>
          <a:xfrm rot="0">
            <a:off x="11109960" y="2400300"/>
            <a:ext cx="6350508" cy="2125980"/>
            <a:chOff x="0" y="0"/>
            <a:chExt cx="8467344" cy="2834640"/>
          </a:xfrm>
        </p:grpSpPr>
        <p:sp>
          <p:nvSpPr>
            <p:cNvPr name="Freeform 68" id="68"/>
            <p:cNvSpPr/>
            <p:nvPr/>
          </p:nvSpPr>
          <p:spPr>
            <a:xfrm flipH="false" flipV="false" rot="0">
              <a:off x="0" y="0"/>
              <a:ext cx="8467344" cy="2834640"/>
            </a:xfrm>
            <a:custGeom>
              <a:avLst/>
              <a:gdLst/>
              <a:ahLst/>
              <a:cxnLst/>
              <a:rect r="r" b="b" t="t" l="l"/>
              <a:pathLst>
                <a:path h="2834640" w="8467344">
                  <a:moveTo>
                    <a:pt x="0" y="182880"/>
                  </a:moveTo>
                  <a:cubicBezTo>
                    <a:pt x="0" y="81915"/>
                    <a:pt x="81915" y="0"/>
                    <a:pt x="182880" y="0"/>
                  </a:cubicBezTo>
                  <a:lnTo>
                    <a:pt x="8284464" y="0"/>
                  </a:lnTo>
                  <a:cubicBezTo>
                    <a:pt x="8385429" y="0"/>
                    <a:pt x="8467344" y="81915"/>
                    <a:pt x="8467344" y="182880"/>
                  </a:cubicBezTo>
                  <a:lnTo>
                    <a:pt x="8467344" y="2651760"/>
                  </a:lnTo>
                  <a:cubicBezTo>
                    <a:pt x="8467344" y="2752725"/>
                    <a:pt x="8385429" y="2834640"/>
                    <a:pt x="8284464" y="2834640"/>
                  </a:cubicBezTo>
                  <a:lnTo>
                    <a:pt x="182880" y="2834640"/>
                  </a:lnTo>
                  <a:cubicBezTo>
                    <a:pt x="81915" y="2834640"/>
                    <a:pt x="0" y="2752725"/>
                    <a:pt x="0" y="2651760"/>
                  </a:cubicBezTo>
                  <a:close/>
                </a:path>
              </a:pathLst>
            </a:custGeom>
            <a:solidFill>
              <a:srgbClr val="EAF8FA"/>
            </a:solidFill>
          </p:spPr>
          <p:txBody>
            <a:bodyPr/>
            <a:p/>
          </p:txBody>
        </p:sp>
      </p:grpSp>
      <p:grpSp>
        <p:nvGrpSpPr>
          <p:cNvPr name="Group 69" id="69"/>
          <p:cNvGrpSpPr/>
          <p:nvPr/>
        </p:nvGrpSpPr>
        <p:grpSpPr>
          <a:xfrm rot="0">
            <a:off x="11452860" y="2564892"/>
            <a:ext cx="5623560" cy="754380"/>
            <a:chOff x="0" y="0"/>
            <a:chExt cx="7498080" cy="1005840"/>
          </a:xfrm>
        </p:grpSpPr>
        <p:sp>
          <p:nvSpPr>
            <p:cNvPr name="Freeform 70" id="70"/>
            <p:cNvSpPr/>
            <p:nvPr/>
          </p:nvSpPr>
          <p:spPr>
            <a:xfrm flipH="false" flipV="false" rot="0">
              <a:off x="0" y="0"/>
              <a:ext cx="7498080" cy="1005840"/>
            </a:xfrm>
            <a:custGeom>
              <a:avLst/>
              <a:gdLst/>
              <a:ahLst/>
              <a:cxnLst/>
              <a:rect r="r" b="b" t="t" l="l"/>
              <a:pathLst>
                <a:path h="1005840" w="7498080">
                  <a:moveTo>
                    <a:pt x="0" y="0"/>
                  </a:moveTo>
                  <a:lnTo>
                    <a:pt x="7498080" y="0"/>
                  </a:lnTo>
                  <a:lnTo>
                    <a:pt x="7498080" y="1005840"/>
                  </a:lnTo>
                  <a:lnTo>
                    <a:pt x="0" y="1005840"/>
                  </a:lnTo>
                  <a:close/>
                </a:path>
              </a:pathLst>
            </a:custGeom>
            <a:blipFill>
              <a:blip r:embed="rId4">
                <a:alphaModFix amt="0"/>
              </a:blip>
              <a:stretch>
                <a:fillRect l="0" t="-95151" r="0" b="-95150"/>
              </a:stretch>
            </a:blipFill>
          </p:spPr>
          <p:txBody>
            <a:bodyPr/>
            <a:p/>
          </p:txBody>
        </p:sp>
      </p:grpSp>
      <p:grpSp>
        <p:nvGrpSpPr>
          <p:cNvPr name="Group 71" id="71"/>
          <p:cNvGrpSpPr/>
          <p:nvPr/>
        </p:nvGrpSpPr>
        <p:grpSpPr>
          <a:xfrm rot="0">
            <a:off x="11452860" y="2507742"/>
            <a:ext cx="5623560" cy="811530"/>
            <a:chOff x="0" y="0"/>
            <a:chExt cx="7498080" cy="1082040"/>
          </a:xfrm>
        </p:grpSpPr>
        <p:sp>
          <p:nvSpPr>
            <p:cNvPr name="Freeform 72" id="72"/>
            <p:cNvSpPr/>
            <p:nvPr/>
          </p:nvSpPr>
          <p:spPr>
            <a:xfrm flipH="false" flipV="false" rot="0">
              <a:off x="0" y="0"/>
              <a:ext cx="7498080" cy="1082040"/>
            </a:xfrm>
            <a:custGeom>
              <a:avLst/>
              <a:gdLst/>
              <a:ahLst/>
              <a:cxnLst/>
              <a:rect r="r" b="b" t="t" l="l"/>
              <a:pathLst>
                <a:path h="1082040" w="7498080">
                  <a:moveTo>
                    <a:pt x="0" y="0"/>
                  </a:moveTo>
                  <a:lnTo>
                    <a:pt x="7498080" y="0"/>
                  </a:lnTo>
                  <a:lnTo>
                    <a:pt x="7498080" y="1082040"/>
                  </a:lnTo>
                  <a:lnTo>
                    <a:pt x="0" y="1082040"/>
                  </a:lnTo>
                  <a:close/>
                </a:path>
              </a:pathLst>
            </a:custGeom>
            <a:blipFill>
              <a:blip r:embed="rId5">
                <a:alphaModFix amt="0"/>
              </a:blip>
              <a:stretch>
                <a:fillRect l="0" t="-84929" r="0" b="-84928"/>
              </a:stretch>
            </a:blipFill>
          </p:spPr>
          <p:txBody>
            <a:bodyPr/>
            <a:p/>
          </p:txBody>
        </p:sp>
      </p:grpSp>
      <p:grpSp>
        <p:nvGrpSpPr>
          <p:cNvPr name="Group 73" id="73"/>
          <p:cNvGrpSpPr/>
          <p:nvPr/>
        </p:nvGrpSpPr>
        <p:grpSpPr>
          <a:xfrm rot="0">
            <a:off x="11452860" y="2450592"/>
            <a:ext cx="5623560" cy="868680"/>
            <a:chOff x="0" y="0"/>
            <a:chExt cx="7498080" cy="1158240"/>
          </a:xfrm>
        </p:grpSpPr>
        <p:sp>
          <p:nvSpPr>
            <p:cNvPr name="Freeform 74" id="74"/>
            <p:cNvSpPr/>
            <p:nvPr/>
          </p:nvSpPr>
          <p:spPr>
            <a:xfrm flipH="false" flipV="false" rot="0">
              <a:off x="0" y="0"/>
              <a:ext cx="7498080" cy="1158240"/>
            </a:xfrm>
            <a:custGeom>
              <a:avLst/>
              <a:gdLst/>
              <a:ahLst/>
              <a:cxnLst/>
              <a:rect r="r" b="b" t="t" l="l"/>
              <a:pathLst>
                <a:path h="1158240" w="7498080">
                  <a:moveTo>
                    <a:pt x="0" y="0"/>
                  </a:moveTo>
                  <a:lnTo>
                    <a:pt x="7498080" y="0"/>
                  </a:lnTo>
                  <a:lnTo>
                    <a:pt x="7498080" y="1158240"/>
                  </a:lnTo>
                  <a:lnTo>
                    <a:pt x="0" y="1158240"/>
                  </a:lnTo>
                  <a:close/>
                </a:path>
              </a:pathLst>
            </a:custGeom>
            <a:blipFill>
              <a:blip r:embed="rId6">
                <a:alphaModFix amt="0"/>
              </a:blip>
              <a:stretch>
                <a:fillRect l="0" t="-76139" r="0" b="-76139"/>
              </a:stretch>
            </a:blipFill>
          </p:spPr>
          <p:txBody>
            <a:bodyPr/>
            <a:p/>
          </p:txBody>
        </p:sp>
        <p:sp>
          <p:nvSpPr>
            <p:cNvPr name="TextBox 75" id="75"/>
            <p:cNvSpPr txBox="true"/>
            <p:nvPr/>
          </p:nvSpPr>
          <p:spPr>
            <a:xfrm>
              <a:off x="0" y="-76200"/>
              <a:ext cx="7498080" cy="1234440"/>
            </a:xfrm>
            <a:prstGeom prst="rect">
              <a:avLst/>
            </a:prstGeom>
          </p:spPr>
          <p:txBody>
            <a:bodyPr anchor="ctr" rtlCol="false" tIns="0" lIns="0" bIns="0" rIns="0"/>
            <a:lstStyle/>
            <a:p>
              <a:pPr algn="l">
                <a:lnSpc>
                  <a:spcPts val="4680"/>
                </a:lnSpc>
              </a:pPr>
              <a:r>
                <a:rPr lang="en-US" sz="3900" b="true">
                  <a:solidFill>
                    <a:srgbClr val="0B5E6E"/>
                  </a:solidFill>
                  <a:latin typeface="Calibri (MS) Bold"/>
                  <a:ea typeface="Calibri (MS) Bold"/>
                  <a:cs typeface="Calibri (MS) Bold"/>
                  <a:sym typeface="Calibri (MS) Bold"/>
                </a:rPr>
                <a:t>2,57×</a:t>
              </a:r>
            </a:p>
          </p:txBody>
        </p:sp>
      </p:grpSp>
      <p:sp>
        <p:nvSpPr>
          <p:cNvPr name="TextBox 76" id="76"/>
          <p:cNvSpPr txBox="true"/>
          <p:nvPr/>
        </p:nvSpPr>
        <p:spPr>
          <a:xfrm rot="0">
            <a:off x="11452860" y="3273552"/>
            <a:ext cx="5623560" cy="121158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lonjakan 2018→2019 (8,0 → 20,5 juta) karena perubahan metode pencatatan</a:t>
            </a:r>
          </a:p>
        </p:txBody>
      </p:sp>
      <p:grpSp>
        <p:nvGrpSpPr>
          <p:cNvPr name="Group 77" id="77"/>
          <p:cNvGrpSpPr/>
          <p:nvPr/>
        </p:nvGrpSpPr>
        <p:grpSpPr>
          <a:xfrm rot="0">
            <a:off x="11109960" y="4732020"/>
            <a:ext cx="6350508" cy="2125980"/>
            <a:chOff x="0" y="0"/>
            <a:chExt cx="8467344" cy="2834640"/>
          </a:xfrm>
        </p:grpSpPr>
        <p:sp>
          <p:nvSpPr>
            <p:cNvPr name="Freeform 78" id="78"/>
            <p:cNvSpPr/>
            <p:nvPr/>
          </p:nvSpPr>
          <p:spPr>
            <a:xfrm flipH="false" flipV="false" rot="0">
              <a:off x="0" y="0"/>
              <a:ext cx="8467344" cy="2834640"/>
            </a:xfrm>
            <a:custGeom>
              <a:avLst/>
              <a:gdLst/>
              <a:ahLst/>
              <a:cxnLst/>
              <a:rect r="r" b="b" t="t" l="l"/>
              <a:pathLst>
                <a:path h="2834640" w="8467344">
                  <a:moveTo>
                    <a:pt x="0" y="182880"/>
                  </a:moveTo>
                  <a:cubicBezTo>
                    <a:pt x="0" y="81915"/>
                    <a:pt x="81915" y="0"/>
                    <a:pt x="182880" y="0"/>
                  </a:cubicBezTo>
                  <a:lnTo>
                    <a:pt x="8284464" y="0"/>
                  </a:lnTo>
                  <a:cubicBezTo>
                    <a:pt x="8385429" y="0"/>
                    <a:pt x="8467344" y="81915"/>
                    <a:pt x="8467344" y="182880"/>
                  </a:cubicBezTo>
                  <a:lnTo>
                    <a:pt x="8467344" y="2651760"/>
                  </a:lnTo>
                  <a:cubicBezTo>
                    <a:pt x="8467344" y="2752725"/>
                    <a:pt x="8385429" y="2834640"/>
                    <a:pt x="8284464" y="2834640"/>
                  </a:cubicBezTo>
                  <a:lnTo>
                    <a:pt x="182880" y="2834640"/>
                  </a:lnTo>
                  <a:cubicBezTo>
                    <a:pt x="81915" y="2834640"/>
                    <a:pt x="0" y="2752725"/>
                    <a:pt x="0" y="2651760"/>
                  </a:cubicBezTo>
                  <a:close/>
                </a:path>
              </a:pathLst>
            </a:custGeom>
            <a:solidFill>
              <a:srgbClr val="FFF1BF"/>
            </a:solidFill>
          </p:spPr>
          <p:txBody>
            <a:bodyPr/>
            <a:p/>
          </p:txBody>
        </p:sp>
      </p:grpSp>
      <p:grpSp>
        <p:nvGrpSpPr>
          <p:cNvPr name="Group 79" id="79"/>
          <p:cNvGrpSpPr/>
          <p:nvPr/>
        </p:nvGrpSpPr>
        <p:grpSpPr>
          <a:xfrm rot="0">
            <a:off x="11452860" y="4896612"/>
            <a:ext cx="5623560" cy="754380"/>
            <a:chOff x="0" y="0"/>
            <a:chExt cx="7498080" cy="1005840"/>
          </a:xfrm>
        </p:grpSpPr>
        <p:sp>
          <p:nvSpPr>
            <p:cNvPr name="Freeform 80" id="80"/>
            <p:cNvSpPr/>
            <p:nvPr/>
          </p:nvSpPr>
          <p:spPr>
            <a:xfrm flipH="false" flipV="false" rot="0">
              <a:off x="0" y="0"/>
              <a:ext cx="7498080" cy="1005840"/>
            </a:xfrm>
            <a:custGeom>
              <a:avLst/>
              <a:gdLst/>
              <a:ahLst/>
              <a:cxnLst/>
              <a:rect r="r" b="b" t="t" l="l"/>
              <a:pathLst>
                <a:path h="1005840" w="7498080">
                  <a:moveTo>
                    <a:pt x="0" y="0"/>
                  </a:moveTo>
                  <a:lnTo>
                    <a:pt x="7498080" y="0"/>
                  </a:lnTo>
                  <a:lnTo>
                    <a:pt x="7498080" y="1005840"/>
                  </a:lnTo>
                  <a:lnTo>
                    <a:pt x="0" y="1005840"/>
                  </a:lnTo>
                  <a:close/>
                </a:path>
              </a:pathLst>
            </a:custGeom>
            <a:blipFill>
              <a:blip r:embed="rId4">
                <a:alphaModFix amt="0"/>
              </a:blip>
              <a:stretch>
                <a:fillRect l="0" t="-95151" r="0" b="-95150"/>
              </a:stretch>
            </a:blipFill>
          </p:spPr>
          <p:txBody>
            <a:bodyPr/>
            <a:p/>
          </p:txBody>
        </p:sp>
      </p:grpSp>
      <p:grpSp>
        <p:nvGrpSpPr>
          <p:cNvPr name="Group 81" id="81"/>
          <p:cNvGrpSpPr/>
          <p:nvPr/>
        </p:nvGrpSpPr>
        <p:grpSpPr>
          <a:xfrm rot="0">
            <a:off x="11452860" y="4839462"/>
            <a:ext cx="5623560" cy="811530"/>
            <a:chOff x="0" y="0"/>
            <a:chExt cx="7498080" cy="1082040"/>
          </a:xfrm>
        </p:grpSpPr>
        <p:sp>
          <p:nvSpPr>
            <p:cNvPr name="Freeform 82" id="82"/>
            <p:cNvSpPr/>
            <p:nvPr/>
          </p:nvSpPr>
          <p:spPr>
            <a:xfrm flipH="false" flipV="false" rot="0">
              <a:off x="0" y="0"/>
              <a:ext cx="7498080" cy="1082040"/>
            </a:xfrm>
            <a:custGeom>
              <a:avLst/>
              <a:gdLst/>
              <a:ahLst/>
              <a:cxnLst/>
              <a:rect r="r" b="b" t="t" l="l"/>
              <a:pathLst>
                <a:path h="1082040" w="7498080">
                  <a:moveTo>
                    <a:pt x="0" y="0"/>
                  </a:moveTo>
                  <a:lnTo>
                    <a:pt x="7498080" y="0"/>
                  </a:lnTo>
                  <a:lnTo>
                    <a:pt x="7498080" y="1082040"/>
                  </a:lnTo>
                  <a:lnTo>
                    <a:pt x="0" y="1082040"/>
                  </a:lnTo>
                  <a:close/>
                </a:path>
              </a:pathLst>
            </a:custGeom>
            <a:blipFill>
              <a:blip r:embed="rId5">
                <a:alphaModFix amt="0"/>
              </a:blip>
              <a:stretch>
                <a:fillRect l="0" t="-84929" r="0" b="-84928"/>
              </a:stretch>
            </a:blipFill>
          </p:spPr>
          <p:txBody>
            <a:bodyPr/>
            <a:p/>
          </p:txBody>
        </p:sp>
      </p:grpSp>
      <p:grpSp>
        <p:nvGrpSpPr>
          <p:cNvPr name="Group 83" id="83"/>
          <p:cNvGrpSpPr/>
          <p:nvPr/>
        </p:nvGrpSpPr>
        <p:grpSpPr>
          <a:xfrm rot="0">
            <a:off x="11452860" y="4782312"/>
            <a:ext cx="5623560" cy="868680"/>
            <a:chOff x="0" y="0"/>
            <a:chExt cx="7498080" cy="1158240"/>
          </a:xfrm>
        </p:grpSpPr>
        <p:sp>
          <p:nvSpPr>
            <p:cNvPr name="Freeform 84" id="84"/>
            <p:cNvSpPr/>
            <p:nvPr/>
          </p:nvSpPr>
          <p:spPr>
            <a:xfrm flipH="false" flipV="false" rot="0">
              <a:off x="0" y="0"/>
              <a:ext cx="7498080" cy="1158240"/>
            </a:xfrm>
            <a:custGeom>
              <a:avLst/>
              <a:gdLst/>
              <a:ahLst/>
              <a:cxnLst/>
              <a:rect r="r" b="b" t="t" l="l"/>
              <a:pathLst>
                <a:path h="1158240" w="7498080">
                  <a:moveTo>
                    <a:pt x="0" y="0"/>
                  </a:moveTo>
                  <a:lnTo>
                    <a:pt x="7498080" y="0"/>
                  </a:lnTo>
                  <a:lnTo>
                    <a:pt x="7498080" y="1158240"/>
                  </a:lnTo>
                  <a:lnTo>
                    <a:pt x="0" y="1158240"/>
                  </a:lnTo>
                  <a:close/>
                </a:path>
              </a:pathLst>
            </a:custGeom>
            <a:blipFill>
              <a:blip r:embed="rId6">
                <a:alphaModFix amt="0"/>
              </a:blip>
              <a:stretch>
                <a:fillRect l="0" t="-76139" r="0" b="-76139"/>
              </a:stretch>
            </a:blipFill>
          </p:spPr>
          <p:txBody>
            <a:bodyPr/>
            <a:p/>
          </p:txBody>
        </p:sp>
        <p:sp>
          <p:nvSpPr>
            <p:cNvPr name="TextBox 85" id="85"/>
            <p:cNvSpPr txBox="true"/>
            <p:nvPr/>
          </p:nvSpPr>
          <p:spPr>
            <a:xfrm>
              <a:off x="0" y="-76200"/>
              <a:ext cx="7498080" cy="1234440"/>
            </a:xfrm>
            <a:prstGeom prst="rect">
              <a:avLst/>
            </a:prstGeom>
          </p:spPr>
          <p:txBody>
            <a:bodyPr anchor="ctr" rtlCol="false" tIns="0" lIns="0" bIns="0" rIns="0"/>
            <a:lstStyle/>
            <a:p>
              <a:pPr algn="l">
                <a:lnSpc>
                  <a:spcPts val="4680"/>
                </a:lnSpc>
              </a:pPr>
              <a:r>
                <a:rPr lang="en-US" sz="3900" b="true">
                  <a:solidFill>
                    <a:srgbClr val="0B5E6E"/>
                  </a:solidFill>
                  <a:latin typeface="Calibri (MS) Bold"/>
                  <a:ea typeface="Calibri (MS) Bold"/>
                  <a:cs typeface="Calibri (MS) Bold"/>
                  <a:sym typeface="Calibri (MS) Bold"/>
                </a:rPr>
                <a:t>2,2997</a:t>
              </a:r>
            </a:p>
          </p:txBody>
        </p:sp>
      </p:grpSp>
      <p:sp>
        <p:nvSpPr>
          <p:cNvPr name="TextBox 86" id="86"/>
          <p:cNvSpPr txBox="true"/>
          <p:nvPr/>
        </p:nvSpPr>
        <p:spPr>
          <a:xfrm rot="0">
            <a:off x="11452860" y="5605272"/>
            <a:ext cx="5623560" cy="121158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faktor penyesuaian (rentang 2,22–2,38), diuji ulang pada kalibrasi Tahap 3</a:t>
            </a:r>
          </a:p>
        </p:txBody>
      </p:sp>
      <p:grpSp>
        <p:nvGrpSpPr>
          <p:cNvPr name="Group 87" id="87"/>
          <p:cNvGrpSpPr/>
          <p:nvPr/>
        </p:nvGrpSpPr>
        <p:grpSpPr>
          <a:xfrm rot="0">
            <a:off x="11109960" y="7063740"/>
            <a:ext cx="6350508" cy="2125980"/>
            <a:chOff x="0" y="0"/>
            <a:chExt cx="8467344" cy="2834640"/>
          </a:xfrm>
        </p:grpSpPr>
        <p:sp>
          <p:nvSpPr>
            <p:cNvPr name="Freeform 88" id="88"/>
            <p:cNvSpPr/>
            <p:nvPr/>
          </p:nvSpPr>
          <p:spPr>
            <a:xfrm flipH="false" flipV="false" rot="0">
              <a:off x="0" y="0"/>
              <a:ext cx="8467344" cy="2834640"/>
            </a:xfrm>
            <a:custGeom>
              <a:avLst/>
              <a:gdLst/>
              <a:ahLst/>
              <a:cxnLst/>
              <a:rect r="r" b="b" t="t" l="l"/>
              <a:pathLst>
                <a:path h="2834640" w="8467344">
                  <a:moveTo>
                    <a:pt x="0" y="182880"/>
                  </a:moveTo>
                  <a:cubicBezTo>
                    <a:pt x="0" y="81915"/>
                    <a:pt x="81915" y="0"/>
                    <a:pt x="182880" y="0"/>
                  </a:cubicBezTo>
                  <a:lnTo>
                    <a:pt x="8284464" y="0"/>
                  </a:lnTo>
                  <a:cubicBezTo>
                    <a:pt x="8385429" y="0"/>
                    <a:pt x="8467344" y="81915"/>
                    <a:pt x="8467344" y="182880"/>
                  </a:cubicBezTo>
                  <a:lnTo>
                    <a:pt x="8467344" y="2651760"/>
                  </a:lnTo>
                  <a:cubicBezTo>
                    <a:pt x="8467344" y="2752725"/>
                    <a:pt x="8385429" y="2834640"/>
                    <a:pt x="8284464" y="2834640"/>
                  </a:cubicBezTo>
                  <a:lnTo>
                    <a:pt x="182880" y="2834640"/>
                  </a:lnTo>
                  <a:cubicBezTo>
                    <a:pt x="81915" y="2834640"/>
                    <a:pt x="0" y="2752725"/>
                    <a:pt x="0" y="2651760"/>
                  </a:cubicBezTo>
                  <a:close/>
                </a:path>
              </a:pathLst>
            </a:custGeom>
            <a:solidFill>
              <a:srgbClr val="EAF8FA"/>
            </a:solidFill>
          </p:spPr>
          <p:txBody>
            <a:bodyPr/>
            <a:p/>
          </p:txBody>
        </p:sp>
      </p:grpSp>
      <p:grpSp>
        <p:nvGrpSpPr>
          <p:cNvPr name="Group 89" id="89"/>
          <p:cNvGrpSpPr/>
          <p:nvPr/>
        </p:nvGrpSpPr>
        <p:grpSpPr>
          <a:xfrm rot="0">
            <a:off x="11452860" y="7228332"/>
            <a:ext cx="5623560" cy="754380"/>
            <a:chOff x="0" y="0"/>
            <a:chExt cx="7498080" cy="1005840"/>
          </a:xfrm>
        </p:grpSpPr>
        <p:sp>
          <p:nvSpPr>
            <p:cNvPr name="Freeform 90" id="90"/>
            <p:cNvSpPr/>
            <p:nvPr/>
          </p:nvSpPr>
          <p:spPr>
            <a:xfrm flipH="false" flipV="false" rot="0">
              <a:off x="0" y="0"/>
              <a:ext cx="7498080" cy="1005840"/>
            </a:xfrm>
            <a:custGeom>
              <a:avLst/>
              <a:gdLst/>
              <a:ahLst/>
              <a:cxnLst/>
              <a:rect r="r" b="b" t="t" l="l"/>
              <a:pathLst>
                <a:path h="1005840" w="7498080">
                  <a:moveTo>
                    <a:pt x="0" y="0"/>
                  </a:moveTo>
                  <a:lnTo>
                    <a:pt x="7498080" y="0"/>
                  </a:lnTo>
                  <a:lnTo>
                    <a:pt x="7498080" y="1005840"/>
                  </a:lnTo>
                  <a:lnTo>
                    <a:pt x="0" y="1005840"/>
                  </a:lnTo>
                  <a:close/>
                </a:path>
              </a:pathLst>
            </a:custGeom>
            <a:blipFill>
              <a:blip r:embed="rId4">
                <a:alphaModFix amt="0"/>
              </a:blip>
              <a:stretch>
                <a:fillRect l="0" t="-95151" r="0" b="-95150"/>
              </a:stretch>
            </a:blipFill>
          </p:spPr>
          <p:txBody>
            <a:bodyPr/>
            <a:p/>
          </p:txBody>
        </p:sp>
      </p:grpSp>
      <p:grpSp>
        <p:nvGrpSpPr>
          <p:cNvPr name="Group 91" id="91"/>
          <p:cNvGrpSpPr/>
          <p:nvPr/>
        </p:nvGrpSpPr>
        <p:grpSpPr>
          <a:xfrm rot="0">
            <a:off x="11452860" y="7171182"/>
            <a:ext cx="5623560" cy="811530"/>
            <a:chOff x="0" y="0"/>
            <a:chExt cx="7498080" cy="1082040"/>
          </a:xfrm>
        </p:grpSpPr>
        <p:sp>
          <p:nvSpPr>
            <p:cNvPr name="Freeform 92" id="92"/>
            <p:cNvSpPr/>
            <p:nvPr/>
          </p:nvSpPr>
          <p:spPr>
            <a:xfrm flipH="false" flipV="false" rot="0">
              <a:off x="0" y="0"/>
              <a:ext cx="7498080" cy="1082040"/>
            </a:xfrm>
            <a:custGeom>
              <a:avLst/>
              <a:gdLst/>
              <a:ahLst/>
              <a:cxnLst/>
              <a:rect r="r" b="b" t="t" l="l"/>
              <a:pathLst>
                <a:path h="1082040" w="7498080">
                  <a:moveTo>
                    <a:pt x="0" y="0"/>
                  </a:moveTo>
                  <a:lnTo>
                    <a:pt x="7498080" y="0"/>
                  </a:lnTo>
                  <a:lnTo>
                    <a:pt x="7498080" y="1082040"/>
                  </a:lnTo>
                  <a:lnTo>
                    <a:pt x="0" y="1082040"/>
                  </a:lnTo>
                  <a:close/>
                </a:path>
              </a:pathLst>
            </a:custGeom>
            <a:blipFill>
              <a:blip r:embed="rId5">
                <a:alphaModFix amt="0"/>
              </a:blip>
              <a:stretch>
                <a:fillRect l="0" t="-84929" r="0" b="-84928"/>
              </a:stretch>
            </a:blipFill>
          </p:spPr>
          <p:txBody>
            <a:bodyPr/>
            <a:p/>
          </p:txBody>
        </p:sp>
      </p:grpSp>
      <p:grpSp>
        <p:nvGrpSpPr>
          <p:cNvPr name="Group 93" id="93"/>
          <p:cNvGrpSpPr/>
          <p:nvPr/>
        </p:nvGrpSpPr>
        <p:grpSpPr>
          <a:xfrm rot="0">
            <a:off x="11452860" y="7114032"/>
            <a:ext cx="5623560" cy="868680"/>
            <a:chOff x="0" y="0"/>
            <a:chExt cx="7498080" cy="1158240"/>
          </a:xfrm>
        </p:grpSpPr>
        <p:sp>
          <p:nvSpPr>
            <p:cNvPr name="Freeform 94" id="94"/>
            <p:cNvSpPr/>
            <p:nvPr/>
          </p:nvSpPr>
          <p:spPr>
            <a:xfrm flipH="false" flipV="false" rot="0">
              <a:off x="0" y="0"/>
              <a:ext cx="7498080" cy="1158240"/>
            </a:xfrm>
            <a:custGeom>
              <a:avLst/>
              <a:gdLst/>
              <a:ahLst/>
              <a:cxnLst/>
              <a:rect r="r" b="b" t="t" l="l"/>
              <a:pathLst>
                <a:path h="1158240" w="7498080">
                  <a:moveTo>
                    <a:pt x="0" y="0"/>
                  </a:moveTo>
                  <a:lnTo>
                    <a:pt x="7498080" y="0"/>
                  </a:lnTo>
                  <a:lnTo>
                    <a:pt x="7498080" y="1158240"/>
                  </a:lnTo>
                  <a:lnTo>
                    <a:pt x="0" y="1158240"/>
                  </a:lnTo>
                  <a:close/>
                </a:path>
              </a:pathLst>
            </a:custGeom>
            <a:blipFill>
              <a:blip r:embed="rId6">
                <a:alphaModFix amt="0"/>
              </a:blip>
              <a:stretch>
                <a:fillRect l="0" t="-76139" r="0" b="-76139"/>
              </a:stretch>
            </a:blipFill>
          </p:spPr>
          <p:txBody>
            <a:bodyPr/>
            <a:p/>
          </p:txBody>
        </p:sp>
        <p:sp>
          <p:nvSpPr>
            <p:cNvPr name="TextBox 95" id="95"/>
            <p:cNvSpPr txBox="true"/>
            <p:nvPr/>
          </p:nvSpPr>
          <p:spPr>
            <a:xfrm>
              <a:off x="0" y="-76200"/>
              <a:ext cx="7498080" cy="1234440"/>
            </a:xfrm>
            <a:prstGeom prst="rect">
              <a:avLst/>
            </a:prstGeom>
          </p:spPr>
          <p:txBody>
            <a:bodyPr anchor="ctr" rtlCol="false" tIns="0" lIns="0" bIns="0" rIns="0"/>
            <a:lstStyle/>
            <a:p>
              <a:pPr algn="l">
                <a:lnSpc>
                  <a:spcPts val="4680"/>
                </a:lnSpc>
              </a:pPr>
              <a:r>
                <a:rPr lang="en-US" sz="3900" b="true">
                  <a:solidFill>
                    <a:srgbClr val="0B5E6E"/>
                  </a:solidFill>
                  <a:latin typeface="Calibri (MS) Bold"/>
                  <a:ea typeface="Calibri (MS) Bold"/>
                  <a:cs typeface="Calibri (MS) Bold"/>
                  <a:sym typeface="Calibri (MS) Bold"/>
                </a:rPr>
                <a:t>2019–2025</a:t>
              </a:r>
            </a:p>
          </p:txBody>
        </p:sp>
      </p:grpSp>
      <p:sp>
        <p:nvSpPr>
          <p:cNvPr name="TextBox 96" id="96"/>
          <p:cNvSpPr txBox="true"/>
          <p:nvPr/>
        </p:nvSpPr>
        <p:spPr>
          <a:xfrm rot="0">
            <a:off x="11452860" y="7936992"/>
            <a:ext cx="5623560" cy="121158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periode uji penuh (tanpa sambungan); uji P5 memakai seri tersambung sejak 2016</a:t>
            </a:r>
          </a:p>
        </p:txBody>
      </p:sp>
      <p:sp>
        <p:nvSpPr>
          <p:cNvPr name="TextBox 97" id="97"/>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45</a:t>
            </a:r>
          </a:p>
        </p:txBody>
      </p:sp>
      <p:grpSp>
        <p:nvGrpSpPr>
          <p:cNvPr name="Group 100" id="100"/>
          <p:cNvGrpSpPr/>
          <p:nvPr/>
        </p:nvGrpSpPr>
        <p:grpSpPr>
          <a:xfrm rot="0">
            <a:off x="12755880" y="274320"/>
            <a:ext cx="3931920" cy="411480"/>
            <a:chOff x="0" y="0"/>
            <a:chExt cx="5242560" cy="548640"/>
          </a:xfrm>
        </p:grpSpPr>
        <p:sp>
          <p:nvSpPr>
            <p:cNvPr name="Freeform 101" id="101"/>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02" id="102"/>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2E · Uji perilaku &amp; kalibrasi</a:t>
              </a:r>
            </a:p>
          </p:txBody>
        </p:sp>
      </p:grpSp>
      <p:grpSp>
        <p:nvGrpSpPr>
          <p:cNvPr name="Group 103" id="103"/>
          <p:cNvGrpSpPr/>
          <p:nvPr/>
        </p:nvGrpSpPr>
        <p:grpSpPr>
          <a:xfrm rot="0">
            <a:off x="16047720" y="9646920"/>
            <a:ext cx="420624" cy="420624"/>
            <a:chOff x="0" y="0"/>
            <a:chExt cx="560832" cy="560832"/>
          </a:xfrm>
        </p:grpSpPr>
        <p:sp>
          <p:nvSpPr>
            <p:cNvPr name="Freeform 104" id="104"/>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05" id="105"/>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graphicFrame>
        <p:nvGraphicFramePr>
          <p:cNvPr id="106" name="Chart 105"/>
          <p:cNvGraphicFramePr>
            <a:graphicFrameLocks noGrp="1"/>
          </p:cNvGraphicFramePr>
          <p:nvPr/>
        </p:nvGraphicFramePr>
        <p:xfrm>
          <a:off x="822960" y="2834640"/>
          <a:ext cx="10058400" cy="6309360"/>
        </p:xfrm>
        <a:graphic>
          <a:graphicData uri="http://schemas.openxmlformats.org/drawingml/2006/chart">
            <c:chart xmlns:c="http://schemas.openxmlformats.org/drawingml/2006/chart" r:id="rId8"/>
          </a:graphicData>
        </a:graphic>
      </p:graphicFrame>
    </p:spTree>
  </p:cSld>
  <p:clrMapOvr>
    <a:masterClrMapping/>
  </p:clrMapOvr>
</p:sld>
</file>

<file path=ppt/slides/slide4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Hasil Uji Parsial</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Tiap subsistem cukup baik; hanya subsistem wisatawan yang gagal uji tren</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46</a:t>
            </a:r>
          </a:p>
        </p:txBody>
      </p:sp>
      <p:grpSp>
        <p:nvGrpSpPr>
          <p:cNvPr name="Group 67" id="67"/>
          <p:cNvGrpSpPr/>
          <p:nvPr/>
        </p:nvGrpSpPr>
        <p:grpSpPr>
          <a:xfrm rot="0">
            <a:off x="12755880" y="274320"/>
            <a:ext cx="3931920" cy="411480"/>
            <a:chOff x="0" y="0"/>
            <a:chExt cx="5242560" cy="548640"/>
          </a:xfrm>
        </p:grpSpPr>
        <p:sp>
          <p:nvSpPr>
            <p:cNvPr name="Freeform 68" id="68"/>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69" id="69"/>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2E · Uji perilaku &amp; kalibrasi</a:t>
              </a:r>
            </a:p>
          </p:txBody>
        </p:sp>
      </p:grpSp>
      <p:graphicFrame>
        <p:nvGraphicFramePr>
          <p:cNvPr name="Table 70" id="70"/>
          <p:cNvGraphicFramePr>
            <a:graphicFrameLocks noGrp="true"/>
          </p:cNvGraphicFramePr>
          <p:nvPr/>
        </p:nvGraphicFramePr>
        <p:xfrm>
          <a:off x="822960" y="2286000"/>
          <a:ext cx="8712200" cy="4457700"/>
        </p:xfrm>
        <a:graphic>
          <a:graphicData uri="http://schemas.openxmlformats.org/drawingml/2006/table">
            <a:tbl>
              <a:tblPr/>
              <a:tblGrid>
                <a:gridCol w="2541059"/>
                <a:gridCol w="1452033"/>
                <a:gridCol w="816768"/>
                <a:gridCol w="816768"/>
                <a:gridCol w="907521"/>
                <a:gridCol w="907521"/>
                <a:gridCol w="1270529"/>
              </a:tblGrid>
              <a:tr h="495300">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Uji · variabel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Tren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E1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E2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DC</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MAPE</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Dominan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r>
              <a:tr h="495300">
                <a:tc>
                  <a:txBody>
                    <a:bodyPr anchor="t" rtlCol="false"/>
                    <a:lstStyle/>
                    <a:p>
                      <a:pPr algn="l">
                        <a:lnSpc>
                          <a:spcPts val="1727"/>
                        </a:lnSpc>
                        <a:defRPr/>
                      </a:pPr>
                      <a:r>
                        <a:rPr lang="en-US" sz="1439">
                          <a:solidFill>
                            <a:srgbClr val="14313B"/>
                          </a:solidFill>
                          <a:latin typeface="Calibri (MS)"/>
                          <a:ea typeface="Calibri (MS)"/>
                          <a:cs typeface="Calibri (MS)"/>
                          <a:sym typeface="Calibri (MS)"/>
                        </a:rPr>
                        <a:t>P1 · Jumlah hotel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0,0402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0,0773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0,2011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1B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6,05%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U3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495300">
                <a:tc>
                  <a:txBody>
                    <a:bodyPr anchor="t" rtlCol="false"/>
                    <a:lstStyle/>
                    <a:p>
                      <a:pPr algn="l">
                        <a:lnSpc>
                          <a:spcPts val="1727"/>
                        </a:lnSpc>
                        <a:defRPr/>
                      </a:pPr>
                      <a:r>
                        <a:rPr lang="en-US" sz="1439">
                          <a:solidFill>
                            <a:srgbClr val="14313B"/>
                          </a:solidFill>
                          <a:latin typeface="Calibri (MS)"/>
                          <a:ea typeface="Calibri (MS)"/>
                          <a:cs typeface="Calibri (MS)"/>
                          <a:sym typeface="Calibri (MS)"/>
                        </a:rPr>
                        <a:t>P1b · Jumlah hotel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0,0182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0,1223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0,2319</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7,86%</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U3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495300">
                <a:tc>
                  <a:txBody>
                    <a:bodyPr anchor="t" rtlCol="false"/>
                    <a:lstStyle/>
                    <a:p>
                      <a:pPr algn="l">
                        <a:lnSpc>
                          <a:spcPts val="1727"/>
                        </a:lnSpc>
                        <a:defRPr/>
                      </a:pPr>
                      <a:r>
                        <a:rPr lang="en-US" sz="1439">
                          <a:solidFill>
                            <a:srgbClr val="14313B"/>
                          </a:solidFill>
                          <a:latin typeface="Calibri (MS)"/>
                          <a:ea typeface="Calibri (MS)"/>
                          <a:cs typeface="Calibri (MS)"/>
                          <a:sym typeface="Calibri (MS)"/>
                        </a:rPr>
                        <a:t>P1 · TPK</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0,0643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2,5684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0,6692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17,37%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U2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495300">
                <a:tc>
                  <a:txBody>
                    <a:bodyPr anchor="t" rtlCol="false"/>
                    <a:lstStyle/>
                    <a:p>
                      <a:pPr algn="l">
                        <a:lnSpc>
                          <a:spcPts val="1727"/>
                        </a:lnSpc>
                        <a:defRPr/>
                      </a:pPr>
                      <a:r>
                        <a:rPr lang="en-US" sz="1439">
                          <a:solidFill>
                            <a:srgbClr val="14313B"/>
                          </a:solidFill>
                          <a:latin typeface="Calibri (MS)"/>
                          <a:ea typeface="Calibri (MS)"/>
                          <a:cs typeface="Calibri (MS)"/>
                          <a:sym typeface="Calibri (MS)"/>
                        </a:rPr>
                        <a:t>P1b · TPK</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0,0610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2,9435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0,7053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19,56%</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U2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495300">
                <a:tc>
                  <a:txBody>
                    <a:bodyPr anchor="t" rtlCol="false"/>
                    <a:lstStyle/>
                    <a:p>
                      <a:pPr algn="l">
                        <a:lnSpc>
                          <a:spcPts val="1727"/>
                        </a:lnSpc>
                        <a:defRPr/>
                      </a:pPr>
                      <a:r>
                        <a:rPr lang="en-US" sz="1439">
                          <a:solidFill>
                            <a:srgbClr val="14313B"/>
                          </a:solidFill>
                          <a:latin typeface="Calibri (MS)"/>
                          <a:ea typeface="Calibri (MS)"/>
                          <a:cs typeface="Calibri (MS)"/>
                          <a:sym typeface="Calibri (MS)"/>
                        </a:rPr>
                        <a:t>P2 · Jumlah ODTW</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0,0880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0,3303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0,3367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8,48%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U1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495300">
                <a:tc>
                  <a:txBody>
                    <a:bodyPr anchor="t" rtlCol="false"/>
                    <a:lstStyle/>
                    <a:p>
                      <a:pPr algn="l">
                        <a:lnSpc>
                          <a:spcPts val="1727"/>
                        </a:lnSpc>
                        <a:defRPr/>
                      </a:pPr>
                      <a:r>
                        <a:rPr lang="en-US" sz="1439">
                          <a:solidFill>
                            <a:srgbClr val="14313B"/>
                          </a:solidFill>
                          <a:latin typeface="Calibri (MS)"/>
                          <a:ea typeface="Calibri (MS)"/>
                          <a:cs typeface="Calibri (MS)"/>
                          <a:sym typeface="Calibri (MS)"/>
                        </a:rPr>
                        <a:t>P3 · Tenaga kerja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0,1370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0,3027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0,4945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12,88%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U1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495300">
                <a:tc>
                  <a:txBody>
                    <a:bodyPr anchor="t" rtlCol="false"/>
                    <a:lstStyle/>
                    <a:p>
                      <a:pPr algn="l">
                        <a:lnSpc>
                          <a:spcPts val="1727"/>
                        </a:lnSpc>
                        <a:defRPr/>
                      </a:pPr>
                      <a:r>
                        <a:rPr lang="en-US" sz="1439">
                          <a:solidFill>
                            <a:srgbClr val="14313B"/>
                          </a:solidFill>
                          <a:latin typeface="Calibri (MS)"/>
                          <a:ea typeface="Calibri (MS)"/>
                          <a:cs typeface="Calibri (MS)"/>
                          <a:sym typeface="Calibri (MS)"/>
                        </a:rPr>
                        <a:t>P4 · Lahan terbangun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0,1125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0,3918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0,4813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12,94%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U1, U3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495300">
                <a:tc>
                  <a:txBody>
                    <a:bodyPr anchor="t" rtlCol="false"/>
                    <a:lstStyle/>
                    <a:p>
                      <a:pPr algn="l">
                        <a:lnSpc>
                          <a:spcPts val="1727"/>
                        </a:lnSpc>
                        <a:defRPr/>
                      </a:pPr>
                      <a:r>
                        <a:rPr lang="en-US" sz="1439">
                          <a:solidFill>
                            <a:srgbClr val="14313B"/>
                          </a:solidFill>
                          <a:latin typeface="Calibri (MS)"/>
                          <a:ea typeface="Calibri (MS)"/>
                          <a:cs typeface="Calibri (MS)"/>
                          <a:sym typeface="Calibri (MS)"/>
                        </a:rPr>
                        <a:t>P5 · Jumlah wisatawan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Berbeda nyata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4D3C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0,4057*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U1+U2 ≈ 0,96</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bl>
          </a:graphicData>
        </a:graphic>
      </p:graphicFrame>
      <p:sp>
        <p:nvSpPr>
          <p:cNvPr name="TextBox 71" id="71"/>
          <p:cNvSpPr txBox="true"/>
          <p:nvPr/>
        </p:nvSpPr>
        <p:spPr>
          <a:xfrm rot="0">
            <a:off x="822960" y="6875145"/>
            <a:ext cx="8778240" cy="1034415"/>
          </a:xfrm>
          <a:prstGeom prst="rect">
            <a:avLst/>
          </a:prstGeom>
        </p:spPr>
        <p:txBody>
          <a:bodyPr anchor="t" rtlCol="false" tIns="0" lIns="0" bIns="0" rIns="0">
            <a:spAutoFit/>
          </a:bodyPr>
          <a:lstStyle/>
          <a:p>
            <a:pPr algn="l">
              <a:lnSpc>
                <a:spcPts val="1584"/>
              </a:lnSpc>
            </a:pPr>
            <a:r>
              <a:rPr lang="en-US" sz="1320" i="true">
                <a:solidFill>
                  <a:srgbClr val="5E6E78"/>
                </a:solidFill>
                <a:latin typeface="Calibri (MS) Italics"/>
                <a:ea typeface="Calibri (MS) Italics"/>
                <a:cs typeface="Calibri (MS) Italics"/>
                <a:sym typeface="Calibri (MS) Italics"/>
              </a:rPr>
              <a:t>Versi tanpa 2020–2021 (2016–2025). "Sama" = tren tidak berbeda nyata. E1/E2 P5 tidak dibaca karena trennya berbeda (Barlas, 1989). *DC P5 dari notebook repository (tidak ada di tabel buku).</a:t>
            </a:r>
          </a:p>
        </p:txBody>
      </p:sp>
      <p:grpSp>
        <p:nvGrpSpPr>
          <p:cNvPr name="Group 72" id="72"/>
          <p:cNvGrpSpPr/>
          <p:nvPr/>
        </p:nvGrpSpPr>
        <p:grpSpPr>
          <a:xfrm rot="0">
            <a:off x="9875520" y="2264550"/>
            <a:ext cx="3749040" cy="2191750"/>
            <a:chOff x="0" y="0"/>
            <a:chExt cx="4998720" cy="2922334"/>
          </a:xfrm>
        </p:grpSpPr>
        <p:sp>
          <p:nvSpPr>
            <p:cNvPr name="Freeform 73" id="73" descr="image28.png"/>
            <p:cNvSpPr/>
            <p:nvPr/>
          </p:nvSpPr>
          <p:spPr>
            <a:xfrm flipH="false" flipV="false" rot="0">
              <a:off x="0" y="0"/>
              <a:ext cx="4998720" cy="2922270"/>
            </a:xfrm>
            <a:custGeom>
              <a:avLst/>
              <a:gdLst/>
              <a:ahLst/>
              <a:cxnLst/>
              <a:rect r="r" b="b" t="t" l="l"/>
              <a:pathLst>
                <a:path h="2922270" w="4998720">
                  <a:moveTo>
                    <a:pt x="0" y="0"/>
                  </a:moveTo>
                  <a:lnTo>
                    <a:pt x="4998720" y="0"/>
                  </a:lnTo>
                  <a:lnTo>
                    <a:pt x="4998720" y="2922270"/>
                  </a:lnTo>
                  <a:lnTo>
                    <a:pt x="0" y="2922270"/>
                  </a:lnTo>
                  <a:lnTo>
                    <a:pt x="0" y="0"/>
                  </a:lnTo>
                  <a:close/>
                </a:path>
              </a:pathLst>
            </a:custGeom>
            <a:blipFill>
              <a:blip r:embed="rId7"/>
              <a:stretch>
                <a:fillRect l="0" t="0" r="0" b="-2"/>
              </a:stretch>
            </a:blipFill>
          </p:spPr>
          <p:txBody>
            <a:bodyPr/>
            <a:p/>
          </p:txBody>
        </p:sp>
      </p:grpSp>
      <p:grpSp>
        <p:nvGrpSpPr>
          <p:cNvPr name="Group 74" id="74"/>
          <p:cNvGrpSpPr/>
          <p:nvPr/>
        </p:nvGrpSpPr>
        <p:grpSpPr>
          <a:xfrm rot="0">
            <a:off x="13716000" y="2264550"/>
            <a:ext cx="3749040" cy="2191750"/>
            <a:chOff x="0" y="0"/>
            <a:chExt cx="4998720" cy="2922334"/>
          </a:xfrm>
        </p:grpSpPr>
        <p:sp>
          <p:nvSpPr>
            <p:cNvPr name="Freeform 75" id="75" descr="image34.png"/>
            <p:cNvSpPr/>
            <p:nvPr/>
          </p:nvSpPr>
          <p:spPr>
            <a:xfrm flipH="false" flipV="false" rot="0">
              <a:off x="0" y="0"/>
              <a:ext cx="4998720" cy="2922270"/>
            </a:xfrm>
            <a:custGeom>
              <a:avLst/>
              <a:gdLst/>
              <a:ahLst/>
              <a:cxnLst/>
              <a:rect r="r" b="b" t="t" l="l"/>
              <a:pathLst>
                <a:path h="2922270" w="4998720">
                  <a:moveTo>
                    <a:pt x="0" y="0"/>
                  </a:moveTo>
                  <a:lnTo>
                    <a:pt x="4998720" y="0"/>
                  </a:lnTo>
                  <a:lnTo>
                    <a:pt x="4998720" y="2922270"/>
                  </a:lnTo>
                  <a:lnTo>
                    <a:pt x="0" y="2922270"/>
                  </a:lnTo>
                  <a:lnTo>
                    <a:pt x="0" y="0"/>
                  </a:lnTo>
                  <a:close/>
                </a:path>
              </a:pathLst>
            </a:custGeom>
            <a:blipFill>
              <a:blip r:embed="rId8"/>
              <a:stretch>
                <a:fillRect l="0" t="0" r="0" b="-2"/>
              </a:stretch>
            </a:blipFill>
          </p:spPr>
          <p:txBody>
            <a:bodyPr/>
            <a:p/>
          </p:txBody>
        </p:sp>
      </p:grpSp>
      <p:grpSp>
        <p:nvGrpSpPr>
          <p:cNvPr name="Group 76" id="76"/>
          <p:cNvGrpSpPr/>
          <p:nvPr/>
        </p:nvGrpSpPr>
        <p:grpSpPr>
          <a:xfrm rot="0">
            <a:off x="9875520" y="4641990"/>
            <a:ext cx="3749040" cy="2191750"/>
            <a:chOff x="0" y="0"/>
            <a:chExt cx="4998720" cy="2922334"/>
          </a:xfrm>
        </p:grpSpPr>
        <p:sp>
          <p:nvSpPr>
            <p:cNvPr name="Freeform 77" id="77" descr="image35.png"/>
            <p:cNvSpPr/>
            <p:nvPr/>
          </p:nvSpPr>
          <p:spPr>
            <a:xfrm flipH="false" flipV="false" rot="0">
              <a:off x="0" y="0"/>
              <a:ext cx="4998720" cy="2922270"/>
            </a:xfrm>
            <a:custGeom>
              <a:avLst/>
              <a:gdLst/>
              <a:ahLst/>
              <a:cxnLst/>
              <a:rect r="r" b="b" t="t" l="l"/>
              <a:pathLst>
                <a:path h="2922270" w="4998720">
                  <a:moveTo>
                    <a:pt x="0" y="0"/>
                  </a:moveTo>
                  <a:lnTo>
                    <a:pt x="4998720" y="0"/>
                  </a:lnTo>
                  <a:lnTo>
                    <a:pt x="4998720" y="2922270"/>
                  </a:lnTo>
                  <a:lnTo>
                    <a:pt x="0" y="2922270"/>
                  </a:lnTo>
                  <a:lnTo>
                    <a:pt x="0" y="0"/>
                  </a:lnTo>
                  <a:close/>
                </a:path>
              </a:pathLst>
            </a:custGeom>
            <a:blipFill>
              <a:blip r:embed="rId9"/>
              <a:stretch>
                <a:fillRect l="0" t="0" r="0" b="-2"/>
              </a:stretch>
            </a:blipFill>
          </p:spPr>
          <p:txBody>
            <a:bodyPr/>
            <a:p/>
          </p:txBody>
        </p:sp>
      </p:grpSp>
      <p:grpSp>
        <p:nvGrpSpPr>
          <p:cNvPr name="Group 78" id="78"/>
          <p:cNvGrpSpPr/>
          <p:nvPr/>
        </p:nvGrpSpPr>
        <p:grpSpPr>
          <a:xfrm rot="0">
            <a:off x="13709647" y="4611367"/>
            <a:ext cx="3761737" cy="2252977"/>
            <a:chOff x="0" y="0"/>
            <a:chExt cx="5015649" cy="3003969"/>
          </a:xfrm>
        </p:grpSpPr>
        <p:sp>
          <p:nvSpPr>
            <p:cNvPr name="Freeform 79" id="79"/>
            <p:cNvSpPr/>
            <p:nvPr/>
          </p:nvSpPr>
          <p:spPr>
            <a:xfrm flipH="false" flipV="false" rot="0">
              <a:off x="0" y="0"/>
              <a:ext cx="5015611" cy="3003931"/>
            </a:xfrm>
            <a:custGeom>
              <a:avLst/>
              <a:gdLst/>
              <a:ahLst/>
              <a:cxnLst/>
              <a:rect r="r" b="b" t="t" l="l"/>
              <a:pathLst>
                <a:path h="3003931" w="5015611">
                  <a:moveTo>
                    <a:pt x="0" y="240284"/>
                  </a:moveTo>
                  <a:cubicBezTo>
                    <a:pt x="0" y="107569"/>
                    <a:pt x="107569" y="0"/>
                    <a:pt x="240284" y="0"/>
                  </a:cubicBezTo>
                  <a:lnTo>
                    <a:pt x="4775327" y="0"/>
                  </a:lnTo>
                  <a:cubicBezTo>
                    <a:pt x="4908042" y="0"/>
                    <a:pt x="5015611" y="107569"/>
                    <a:pt x="5015611" y="240284"/>
                  </a:cubicBezTo>
                  <a:lnTo>
                    <a:pt x="5015611" y="2763647"/>
                  </a:lnTo>
                  <a:cubicBezTo>
                    <a:pt x="5015611" y="2896362"/>
                    <a:pt x="4908042" y="3003931"/>
                    <a:pt x="4775327" y="3003931"/>
                  </a:cubicBezTo>
                  <a:lnTo>
                    <a:pt x="240284" y="3003931"/>
                  </a:lnTo>
                  <a:cubicBezTo>
                    <a:pt x="107569" y="3003931"/>
                    <a:pt x="0" y="2896362"/>
                    <a:pt x="0" y="2763647"/>
                  </a:cubicBezTo>
                  <a:close/>
                </a:path>
              </a:pathLst>
            </a:custGeom>
            <a:solidFill>
              <a:srgbClr val="EAF8FA"/>
            </a:solidFill>
            <a:ln w="12700" cap="sq">
              <a:solidFill>
                <a:srgbClr val="CFE5E9"/>
              </a:solidFill>
              <a:prstDash val="solid"/>
              <a:miter/>
            </a:ln>
          </p:spPr>
          <p:txBody>
            <a:bodyPr/>
            <a:p/>
          </p:txBody>
        </p:sp>
        <p:sp>
          <p:nvSpPr>
            <p:cNvPr name="TextBox 80" id="80"/>
            <p:cNvSpPr txBox="true"/>
            <p:nvPr/>
          </p:nvSpPr>
          <p:spPr>
            <a:xfrm>
              <a:off x="0" y="-38100"/>
              <a:ext cx="5015649" cy="3042069"/>
            </a:xfrm>
            <a:prstGeom prst="rect">
              <a:avLst/>
            </a:prstGeom>
          </p:spPr>
          <p:txBody>
            <a:bodyPr anchor="t" rtlCol="false" tIns="50800" lIns="50800" bIns="50800" rIns="50800"/>
            <a:lstStyle/>
            <a:p>
              <a:pPr algn="l">
                <a:lnSpc>
                  <a:spcPts val="2063"/>
                </a:lnSpc>
              </a:pPr>
              <a:r>
                <a:rPr lang="en-US" sz="1719" b="true">
                  <a:solidFill>
                    <a:srgbClr val="E4604F"/>
                  </a:solidFill>
                  <a:latin typeface="Calibri (MS) Bold"/>
                  <a:ea typeface="Calibri (MS) Bold"/>
                  <a:cs typeface="Calibri (MS) Bold"/>
                  <a:sym typeface="Calibri (MS) Bold"/>
                </a:rPr>
                <a:t>Wisatawan (P5)</a:t>
              </a:r>
            </a:p>
            <a:p>
              <a:pPr algn="l">
                <a:lnSpc>
                  <a:spcPts val="1860"/>
                </a:lnSpc>
              </a:pPr>
              <a:r>
                <a:rPr lang="en-US" sz="1550">
                  <a:solidFill>
                    <a:srgbClr val="14313B"/>
                  </a:solidFill>
                  <a:latin typeface="Calibri (MS)"/>
                  <a:ea typeface="Calibri (MS)"/>
                  <a:cs typeface="Calibri (MS)"/>
                  <a:sym typeface="Calibri (MS)"/>
                </a:rPr>
                <a:t>Simulasi ±6,4%/th vs data ±11,7%/th; error sistematis.</a:t>
              </a:r>
            </a:p>
          </p:txBody>
        </p:sp>
      </p:grpSp>
      <p:sp>
        <p:nvSpPr>
          <p:cNvPr name="TextBox 81" id="81"/>
          <p:cNvSpPr txBox="true"/>
          <p:nvPr/>
        </p:nvSpPr>
        <p:spPr>
          <a:xfrm rot="0">
            <a:off x="9875520" y="6875145"/>
            <a:ext cx="7589520" cy="394335"/>
          </a:xfrm>
          <a:prstGeom prst="rect">
            <a:avLst/>
          </a:prstGeom>
        </p:spPr>
        <p:txBody>
          <a:bodyPr anchor="t" rtlCol="false" tIns="0" lIns="0" bIns="0" rIns="0">
            <a:spAutoFit/>
          </a:bodyPr>
          <a:lstStyle/>
          <a:p>
            <a:pPr algn="l">
              <a:lnSpc>
                <a:spcPts val="1584"/>
              </a:lnSpc>
            </a:pPr>
            <a:r>
              <a:rPr lang="en-US" sz="1320" i="true">
                <a:solidFill>
                  <a:srgbClr val="5E6E78"/>
                </a:solidFill>
                <a:latin typeface="Calibri (MS) Italics"/>
                <a:ea typeface="Calibri (MS) Italics"/>
                <a:cs typeface="Calibri (MS) Italics"/>
                <a:sym typeface="Calibri (MS) Italics"/>
              </a:rPr>
              <a:t>Kiri atas: P1 hotel · kanan atas: P4 lahan · kiri bawah: P5 wisatawan</a:t>
            </a:r>
          </a:p>
        </p:txBody>
      </p:sp>
      <p:grpSp>
        <p:nvGrpSpPr>
          <p:cNvPr name="Group 82" id="82"/>
          <p:cNvGrpSpPr/>
          <p:nvPr/>
        </p:nvGrpSpPr>
        <p:grpSpPr>
          <a:xfrm rot="0">
            <a:off x="816607" y="7994647"/>
            <a:ext cx="16654777" cy="927097"/>
            <a:chOff x="0" y="0"/>
            <a:chExt cx="22206369" cy="1236129"/>
          </a:xfrm>
        </p:grpSpPr>
        <p:sp>
          <p:nvSpPr>
            <p:cNvPr name="Freeform 83" id="83"/>
            <p:cNvSpPr/>
            <p:nvPr/>
          </p:nvSpPr>
          <p:spPr>
            <a:xfrm flipH="false" flipV="false" rot="0">
              <a:off x="0" y="0"/>
              <a:ext cx="22206458" cy="1236218"/>
            </a:xfrm>
            <a:custGeom>
              <a:avLst/>
              <a:gdLst/>
              <a:ahLst/>
              <a:cxnLst/>
              <a:rect r="r" b="b" t="t" l="l"/>
              <a:pathLst>
                <a:path h="1236218" w="22206458">
                  <a:moveTo>
                    <a:pt x="0" y="98933"/>
                  </a:moveTo>
                  <a:cubicBezTo>
                    <a:pt x="0" y="44323"/>
                    <a:pt x="44323" y="0"/>
                    <a:pt x="98933" y="0"/>
                  </a:cubicBezTo>
                  <a:lnTo>
                    <a:pt x="22107525" y="0"/>
                  </a:lnTo>
                  <a:cubicBezTo>
                    <a:pt x="22162136" y="0"/>
                    <a:pt x="22206458" y="44323"/>
                    <a:pt x="22206458" y="98933"/>
                  </a:cubicBezTo>
                  <a:lnTo>
                    <a:pt x="22206458" y="1137285"/>
                  </a:lnTo>
                  <a:cubicBezTo>
                    <a:pt x="22206458" y="1191895"/>
                    <a:pt x="22162136" y="1236218"/>
                    <a:pt x="22107525" y="1236218"/>
                  </a:cubicBezTo>
                  <a:lnTo>
                    <a:pt x="98933" y="1236218"/>
                  </a:lnTo>
                  <a:cubicBezTo>
                    <a:pt x="44323" y="1236091"/>
                    <a:pt x="0" y="1191895"/>
                    <a:pt x="0" y="1137285"/>
                  </a:cubicBezTo>
                  <a:close/>
                </a:path>
              </a:pathLst>
            </a:custGeom>
            <a:solidFill>
              <a:srgbClr val="FFF1BF"/>
            </a:solidFill>
            <a:ln w="12700" cap="sq">
              <a:solidFill>
                <a:srgbClr val="FFD23B"/>
              </a:solidFill>
              <a:prstDash val="solid"/>
              <a:miter/>
            </a:ln>
          </p:spPr>
          <p:txBody>
            <a:bodyPr/>
            <a:p/>
          </p:txBody>
        </p:sp>
        <p:sp>
          <p:nvSpPr>
            <p:cNvPr name="TextBox 84" id="84"/>
            <p:cNvSpPr txBox="true"/>
            <p:nvPr/>
          </p:nvSpPr>
          <p:spPr>
            <a:xfrm>
              <a:off x="0" y="-38100"/>
              <a:ext cx="22206369" cy="127422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Ketika input dari subsistem lain diganti data aktual, tiap subsistem bisa mengikuti pola datanya (MAPE seluruhnya &lt; 20%); masalah hanya ada di subsistem wisatawan.</a:t>
              </a:r>
            </a:p>
          </p:txBody>
        </p:sp>
      </p:grpSp>
      <p:grpSp>
        <p:nvGrpSpPr>
          <p:cNvPr name="Group 85" id="85"/>
          <p:cNvGrpSpPr/>
          <p:nvPr/>
        </p:nvGrpSpPr>
        <p:grpSpPr>
          <a:xfrm rot="0">
            <a:off x="16047720" y="9646920"/>
            <a:ext cx="420624" cy="420624"/>
            <a:chOff x="0" y="0"/>
            <a:chExt cx="560832" cy="560832"/>
          </a:xfrm>
        </p:grpSpPr>
        <p:sp>
          <p:nvSpPr>
            <p:cNvPr name="Freeform 86" id="86"/>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87" id="87"/>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4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Hasil Uji Penuh</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Hasil per subsistem baik, tetapi melemah saat seluruh subsistem dijalankan bersama</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822960" y="2188845"/>
            <a:ext cx="10149840" cy="622935"/>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Discrepancy Coefficient (DC): uji parsial vs uji penuh (0 = sempurna)</a:t>
            </a:r>
          </a:p>
        </p:txBody>
      </p:sp>
      <p:sp>
        <p:nvSpPr>
          <p:cNvPr name="TextBox 67" id="67"/>
          <p:cNvSpPr txBox="true"/>
          <p:nvPr/>
        </p:nvSpPr>
        <p:spPr>
          <a:xfrm rot="0">
            <a:off x="822960" y="8595360"/>
            <a:ext cx="10149840" cy="662940"/>
          </a:xfrm>
          <a:prstGeom prst="rect">
            <a:avLst/>
          </a:prstGeom>
        </p:spPr>
        <p:txBody>
          <a:bodyPr anchor="t" rtlCol="false" tIns="0" lIns="0" bIns="0" rIns="0">
            <a:spAutoFit/>
          </a:bodyPr>
          <a:lstStyle/>
          <a:p>
            <a:pPr algn="l">
              <a:lnSpc>
                <a:spcPts val="2070"/>
              </a:lnSpc>
            </a:pPr>
            <a:r>
              <a:rPr lang="en-US" sz="1725" i="true">
                <a:solidFill>
                  <a:srgbClr val="5E6E78"/>
                </a:solidFill>
                <a:latin typeface="Calibri (MS) Italics"/>
                <a:ea typeface="Calibri (MS) Italics"/>
                <a:cs typeface="Calibri (MS) Italics"/>
                <a:sym typeface="Calibri (MS) Italics"/>
              </a:rPr>
              <a:t>DC 0,4–0,7 = rata-rata sampai baik (Barlas, 1989). Wisatawan gagal uji tren (uji P5 dan uji penuh).</a:t>
            </a:r>
          </a:p>
        </p:txBody>
      </p:sp>
      <p:graphicFrame>
        <p:nvGraphicFramePr>
          <p:cNvPr name="Table 68" id="68"/>
          <p:cNvGraphicFramePr>
            <a:graphicFrameLocks noGrp="true"/>
          </p:cNvGraphicFramePr>
          <p:nvPr/>
        </p:nvGraphicFramePr>
        <p:xfrm>
          <a:off x="11384280" y="2400300"/>
          <a:ext cx="6032500" cy="4711700"/>
        </p:xfrm>
        <a:graphic>
          <a:graphicData uri="http://schemas.openxmlformats.org/drawingml/2006/table">
            <a:tbl>
              <a:tblPr/>
              <a:tblGrid>
                <a:gridCol w="2196934"/>
                <a:gridCol w="3835566"/>
              </a:tblGrid>
              <a:tr h="565421">
                <a:tc>
                  <a:txBody>
                    <a:bodyPr anchor="t" rtlCol="false"/>
                    <a:lstStyle/>
                    <a:p>
                      <a:pPr algn="l">
                        <a:lnSpc>
                          <a:spcPts val="2070"/>
                        </a:lnSpc>
                        <a:defRPr/>
                      </a:pPr>
                      <a:r>
                        <a:rPr lang="en-US" sz="1725" b="true">
                          <a:solidFill>
                            <a:srgbClr val="FFFFFF"/>
                          </a:solidFill>
                          <a:latin typeface="Calibri (MS) Bold"/>
                          <a:ea typeface="Calibri (MS) Bold"/>
                          <a:cs typeface="Calibri (MS) Bold"/>
                          <a:sym typeface="Calibri (MS) Bold"/>
                        </a:rPr>
                        <a:t>Kategori MAPE</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2070"/>
                        </a:lnSpc>
                        <a:defRPr/>
                      </a:pPr>
                      <a:r>
                        <a:rPr lang="en-US" sz="1725" b="true">
                          <a:solidFill>
                            <a:srgbClr val="FFFFFF"/>
                          </a:solidFill>
                          <a:latin typeface="Calibri (MS) Bold"/>
                          <a:ea typeface="Calibri (MS) Bold"/>
                          <a:cs typeface="Calibri (MS) Bold"/>
                          <a:sym typeface="Calibri (MS) Bold"/>
                        </a:rPr>
                        <a:t>Variabel (uji penuh)</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r>
              <a:tr h="691061">
                <a:tc>
                  <a:txBody>
                    <a:bodyPr anchor="t" rtlCol="false"/>
                    <a:lstStyle/>
                    <a:p>
                      <a:pPr algn="l">
                        <a:lnSpc>
                          <a:spcPts val="2070"/>
                        </a:lnSpc>
                        <a:defRPr/>
                      </a:pPr>
                      <a:r>
                        <a:rPr lang="en-US" sz="1725" b="true">
                          <a:solidFill>
                            <a:srgbClr val="0B5E6E"/>
                          </a:solidFill>
                          <a:latin typeface="Calibri (MS) Bold"/>
                          <a:ea typeface="Calibri (MS) Bold"/>
                          <a:cs typeface="Calibri (MS) Bold"/>
                          <a:sym typeface="Calibri (MS) Bold"/>
                        </a:rPr>
                        <a:t>Sangat baik (&lt; 10%)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ODTW 5,68%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1507717">
                <a:tc>
                  <a:txBody>
                    <a:bodyPr anchor="t" rtlCol="false"/>
                    <a:lstStyle/>
                    <a:p>
                      <a:pPr algn="l">
                        <a:lnSpc>
                          <a:spcPts val="2070"/>
                        </a:lnSpc>
                        <a:defRPr/>
                      </a:pPr>
                      <a:r>
                        <a:rPr lang="en-US" sz="1725" b="true">
                          <a:solidFill>
                            <a:srgbClr val="0B5E6E"/>
                          </a:solidFill>
                          <a:latin typeface="Calibri (MS) Bold"/>
                          <a:ea typeface="Calibri (MS) Bold"/>
                          <a:cs typeface="Calibri (MS) Bold"/>
                          <a:sym typeface="Calibri (MS) Bold"/>
                        </a:rPr>
                        <a:t>Baik (10–20%)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Wisatawan 12,06% · Hotel 13,16% · Tenaga kerja 12,39% · Lahan 13,43% · TPK 18,98%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1256439">
                <a:tc>
                  <a:txBody>
                    <a:bodyPr anchor="t" rtlCol="false"/>
                    <a:lstStyle/>
                    <a:p>
                      <a:pPr algn="l">
                        <a:lnSpc>
                          <a:spcPts val="2070"/>
                        </a:lnSpc>
                        <a:defRPr/>
                      </a:pPr>
                      <a:r>
                        <a:rPr lang="en-US" sz="1725" b="true">
                          <a:solidFill>
                            <a:srgbClr val="0B5E6E"/>
                          </a:solidFill>
                          <a:latin typeface="Calibri (MS) Bold"/>
                          <a:ea typeface="Calibri (MS) Bold"/>
                          <a:cs typeface="Calibri (MS) Bold"/>
                          <a:sym typeface="Calibri (MS) Bold"/>
                        </a:rPr>
                        <a:t>Layak (20–50%)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PDRB 25,06% · Total malam menginap 29,52% · Investasi 33,54%</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691061">
                <a:tc>
                  <a:txBody>
                    <a:bodyPr anchor="t" rtlCol="false"/>
                    <a:lstStyle/>
                    <a:p>
                      <a:pPr algn="l">
                        <a:lnSpc>
                          <a:spcPts val="2070"/>
                        </a:lnSpc>
                        <a:defRPr/>
                      </a:pPr>
                      <a:r>
                        <a:rPr lang="en-US" sz="1725" b="true">
                          <a:solidFill>
                            <a:srgbClr val="E4604F"/>
                          </a:solidFill>
                          <a:latin typeface="Calibri (MS) Bold"/>
                          <a:ea typeface="Calibri (MS) Bold"/>
                          <a:cs typeface="Calibri (MS) Bold"/>
                          <a:sym typeface="Calibri (MS) Bold"/>
                        </a:rPr>
                        <a:t>Buruk (&gt; 50%)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Tidak ada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bl>
          </a:graphicData>
        </a:graphic>
      </p:graphicFrame>
      <p:grpSp>
        <p:nvGrpSpPr>
          <p:cNvPr name="Group 69" id="69"/>
          <p:cNvGrpSpPr/>
          <p:nvPr/>
        </p:nvGrpSpPr>
        <p:grpSpPr>
          <a:xfrm rot="0">
            <a:off x="11384280" y="7406640"/>
            <a:ext cx="6076188" cy="1851660"/>
            <a:chOff x="0" y="0"/>
            <a:chExt cx="8101584" cy="2468880"/>
          </a:xfrm>
        </p:grpSpPr>
        <p:sp>
          <p:nvSpPr>
            <p:cNvPr name="Freeform 70" id="70"/>
            <p:cNvSpPr/>
            <p:nvPr/>
          </p:nvSpPr>
          <p:spPr>
            <a:xfrm flipH="false" flipV="false" rot="0">
              <a:off x="0" y="0"/>
              <a:ext cx="8101585" cy="2468880"/>
            </a:xfrm>
            <a:custGeom>
              <a:avLst/>
              <a:gdLst/>
              <a:ahLst/>
              <a:cxnLst/>
              <a:rect r="r" b="b" t="t" l="l"/>
              <a:pathLst>
                <a:path h="2468880" w="8101585">
                  <a:moveTo>
                    <a:pt x="0" y="182880"/>
                  </a:moveTo>
                  <a:cubicBezTo>
                    <a:pt x="0" y="81915"/>
                    <a:pt x="81915" y="0"/>
                    <a:pt x="182880" y="0"/>
                  </a:cubicBezTo>
                  <a:lnTo>
                    <a:pt x="7918704" y="0"/>
                  </a:lnTo>
                  <a:cubicBezTo>
                    <a:pt x="8019669" y="0"/>
                    <a:pt x="8101585" y="81915"/>
                    <a:pt x="8101585" y="182880"/>
                  </a:cubicBezTo>
                  <a:lnTo>
                    <a:pt x="8101585" y="2286000"/>
                  </a:lnTo>
                  <a:cubicBezTo>
                    <a:pt x="8101585" y="2386965"/>
                    <a:pt x="8019669" y="2468880"/>
                    <a:pt x="7918704" y="2468880"/>
                  </a:cubicBezTo>
                  <a:lnTo>
                    <a:pt x="182880" y="2468880"/>
                  </a:lnTo>
                  <a:cubicBezTo>
                    <a:pt x="81915" y="2468880"/>
                    <a:pt x="0" y="2386965"/>
                    <a:pt x="0" y="2286000"/>
                  </a:cubicBezTo>
                  <a:close/>
                </a:path>
              </a:pathLst>
            </a:custGeom>
            <a:solidFill>
              <a:srgbClr val="FFF1BF"/>
            </a:solidFill>
          </p:spPr>
          <p:txBody>
            <a:bodyPr/>
            <a:p/>
          </p:txBody>
        </p:sp>
      </p:grpSp>
      <p:grpSp>
        <p:nvGrpSpPr>
          <p:cNvPr name="Group 71" id="71"/>
          <p:cNvGrpSpPr/>
          <p:nvPr/>
        </p:nvGrpSpPr>
        <p:grpSpPr>
          <a:xfrm rot="0">
            <a:off x="11658600" y="7406640"/>
            <a:ext cx="5554980" cy="1851660"/>
            <a:chOff x="0" y="0"/>
            <a:chExt cx="7406640" cy="2468880"/>
          </a:xfrm>
        </p:grpSpPr>
        <p:sp>
          <p:nvSpPr>
            <p:cNvPr name="Freeform 72" id="72"/>
            <p:cNvSpPr/>
            <p:nvPr/>
          </p:nvSpPr>
          <p:spPr>
            <a:xfrm flipH="false" flipV="false" rot="0">
              <a:off x="0" y="0"/>
              <a:ext cx="7406640" cy="2468880"/>
            </a:xfrm>
            <a:custGeom>
              <a:avLst/>
              <a:gdLst/>
              <a:ahLst/>
              <a:cxnLst/>
              <a:rect r="r" b="b" t="t" l="l"/>
              <a:pathLst>
                <a:path h="2468880" w="7406640">
                  <a:moveTo>
                    <a:pt x="0" y="0"/>
                  </a:moveTo>
                  <a:lnTo>
                    <a:pt x="7406640" y="0"/>
                  </a:lnTo>
                  <a:lnTo>
                    <a:pt x="7406640" y="2468880"/>
                  </a:lnTo>
                  <a:lnTo>
                    <a:pt x="0" y="2468880"/>
                  </a:lnTo>
                  <a:close/>
                </a:path>
              </a:pathLst>
            </a:custGeom>
            <a:blipFill>
              <a:blip r:embed="rId4">
                <a:alphaModFix amt="0"/>
              </a:blip>
              <a:stretch>
                <a:fillRect l="0" t="-8414" r="0" b="-8414"/>
              </a:stretch>
            </a:blipFill>
          </p:spPr>
          <p:txBody>
            <a:bodyPr/>
            <a:p/>
          </p:txBody>
        </p:sp>
      </p:grpSp>
      <p:grpSp>
        <p:nvGrpSpPr>
          <p:cNvPr name="Group 73" id="73"/>
          <p:cNvGrpSpPr/>
          <p:nvPr/>
        </p:nvGrpSpPr>
        <p:grpSpPr>
          <a:xfrm rot="0">
            <a:off x="11658600" y="7378065"/>
            <a:ext cx="5554980" cy="1880235"/>
            <a:chOff x="0" y="0"/>
            <a:chExt cx="7406640" cy="2506980"/>
          </a:xfrm>
        </p:grpSpPr>
        <p:sp>
          <p:nvSpPr>
            <p:cNvPr name="Freeform 74" id="74"/>
            <p:cNvSpPr/>
            <p:nvPr/>
          </p:nvSpPr>
          <p:spPr>
            <a:xfrm flipH="false" flipV="false" rot="0">
              <a:off x="0" y="0"/>
              <a:ext cx="7406640" cy="2506980"/>
            </a:xfrm>
            <a:custGeom>
              <a:avLst/>
              <a:gdLst/>
              <a:ahLst/>
              <a:cxnLst/>
              <a:rect r="r" b="b" t="t" l="l"/>
              <a:pathLst>
                <a:path h="2506980" w="7406640">
                  <a:moveTo>
                    <a:pt x="0" y="0"/>
                  </a:moveTo>
                  <a:lnTo>
                    <a:pt x="7406640" y="0"/>
                  </a:lnTo>
                  <a:lnTo>
                    <a:pt x="7406640" y="2506980"/>
                  </a:lnTo>
                  <a:lnTo>
                    <a:pt x="0" y="2506980"/>
                  </a:lnTo>
                  <a:close/>
                </a:path>
              </a:pathLst>
            </a:custGeom>
            <a:blipFill>
              <a:blip r:embed="rId5">
                <a:alphaModFix amt="0"/>
              </a:blip>
              <a:stretch>
                <a:fillRect l="0" t="-7526" r="0" b="-7526"/>
              </a:stretch>
            </a:blipFill>
          </p:spPr>
          <p:txBody>
            <a:bodyPr/>
            <a:p/>
          </p:txBody>
        </p:sp>
      </p:grpSp>
      <p:grpSp>
        <p:nvGrpSpPr>
          <p:cNvPr name="Group 75" id="75"/>
          <p:cNvGrpSpPr/>
          <p:nvPr/>
        </p:nvGrpSpPr>
        <p:grpSpPr>
          <a:xfrm rot="0">
            <a:off x="11658600" y="7349490"/>
            <a:ext cx="5554980" cy="1908810"/>
            <a:chOff x="0" y="0"/>
            <a:chExt cx="7406640" cy="2545080"/>
          </a:xfrm>
        </p:grpSpPr>
        <p:sp>
          <p:nvSpPr>
            <p:cNvPr name="Freeform 76" id="76"/>
            <p:cNvSpPr/>
            <p:nvPr/>
          </p:nvSpPr>
          <p:spPr>
            <a:xfrm flipH="false" flipV="false" rot="0">
              <a:off x="0" y="0"/>
              <a:ext cx="7406640" cy="2545080"/>
            </a:xfrm>
            <a:custGeom>
              <a:avLst/>
              <a:gdLst/>
              <a:ahLst/>
              <a:cxnLst/>
              <a:rect r="r" b="b" t="t" l="l"/>
              <a:pathLst>
                <a:path h="2545080" w="7406640">
                  <a:moveTo>
                    <a:pt x="0" y="0"/>
                  </a:moveTo>
                  <a:lnTo>
                    <a:pt x="7406640" y="0"/>
                  </a:lnTo>
                  <a:lnTo>
                    <a:pt x="7406640" y="2545080"/>
                  </a:lnTo>
                  <a:lnTo>
                    <a:pt x="0" y="2545080"/>
                  </a:lnTo>
                  <a:close/>
                </a:path>
              </a:pathLst>
            </a:custGeom>
            <a:blipFill>
              <a:blip r:embed="rId6">
                <a:alphaModFix amt="0"/>
              </a:blip>
              <a:stretch>
                <a:fillRect l="0" t="-6704" r="0" b="-6704"/>
              </a:stretch>
            </a:blipFill>
          </p:spPr>
          <p:txBody>
            <a:bodyPr/>
            <a:p/>
          </p:txBody>
        </p:sp>
        <p:sp>
          <p:nvSpPr>
            <p:cNvPr name="TextBox 77" id="77"/>
            <p:cNvSpPr txBox="true"/>
            <p:nvPr/>
          </p:nvSpPr>
          <p:spPr>
            <a:xfrm>
              <a:off x="0" y="-38100"/>
              <a:ext cx="7406640" cy="2583180"/>
            </a:xfrm>
            <a:prstGeom prst="rect">
              <a:avLst/>
            </a:prstGeom>
          </p:spPr>
          <p:txBody>
            <a:bodyPr anchor="ctr" rtlCol="false" tIns="0" lIns="0" bIns="0" rIns="0"/>
            <a:lstStyle/>
            <a:p>
              <a:pPr algn="l">
                <a:lnSpc>
                  <a:spcPts val="2160"/>
                </a:lnSpc>
              </a:pPr>
              <a:r>
                <a:rPr lang="en-US" sz="1800">
                  <a:solidFill>
                    <a:srgbClr val="14313B"/>
                  </a:solidFill>
                  <a:latin typeface="Calibri (MS)"/>
                  <a:ea typeface="Calibri (MS)"/>
                  <a:cs typeface="Calibri (MS)"/>
                  <a:sym typeface="Calibri (MS)"/>
                </a:rPr>
                <a:t>Kesesuaian pola (DC) lebih lemah daripada besaran error (MAPE): error berasal dari satu sumber yang sama, bukan tersebar di banyak subsistem.</a:t>
              </a:r>
            </a:p>
          </p:txBody>
        </p:sp>
      </p:grpSp>
      <p:sp>
        <p:nvSpPr>
          <p:cNvPr name="TextBox 78" id="78"/>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47</a:t>
            </a:r>
          </a:p>
        </p:txBody>
      </p:sp>
      <p:grpSp>
        <p:nvGrpSpPr>
          <p:cNvPr name="Group 81" id="81"/>
          <p:cNvGrpSpPr/>
          <p:nvPr/>
        </p:nvGrpSpPr>
        <p:grpSpPr>
          <a:xfrm rot="0">
            <a:off x="12755880" y="274320"/>
            <a:ext cx="3931920" cy="411480"/>
            <a:chOff x="0" y="0"/>
            <a:chExt cx="5242560" cy="548640"/>
          </a:xfrm>
        </p:grpSpPr>
        <p:sp>
          <p:nvSpPr>
            <p:cNvPr name="Freeform 82" id="82"/>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83" id="83"/>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2E · Uji perilaku &amp; kalibrasi</a:t>
              </a:r>
            </a:p>
          </p:txBody>
        </p:sp>
      </p:grpSp>
      <p:grpSp>
        <p:nvGrpSpPr>
          <p:cNvPr name="Group 84" id="84"/>
          <p:cNvGrpSpPr/>
          <p:nvPr/>
        </p:nvGrpSpPr>
        <p:grpSpPr>
          <a:xfrm rot="0">
            <a:off x="16047720" y="9646920"/>
            <a:ext cx="420624" cy="420624"/>
            <a:chOff x="0" y="0"/>
            <a:chExt cx="560832" cy="560832"/>
          </a:xfrm>
        </p:grpSpPr>
        <p:sp>
          <p:nvSpPr>
            <p:cNvPr name="Freeform 85" id="85"/>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86" id="86"/>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graphicFrame>
        <p:nvGraphicFramePr>
          <p:cNvPr id="87" name="Chart 86"/>
          <p:cNvGraphicFramePr>
            <a:graphicFrameLocks noGrp="1"/>
          </p:cNvGraphicFramePr>
          <p:nvPr/>
        </p:nvGraphicFramePr>
        <p:xfrm>
          <a:off x="822960" y="2788920"/>
          <a:ext cx="10149840" cy="5760720"/>
        </p:xfrm>
        <a:graphic>
          <a:graphicData uri="http://schemas.openxmlformats.org/drawingml/2006/chart">
            <c:chart xmlns:c="http://schemas.openxmlformats.org/drawingml/2006/chart" r:id="rId8"/>
          </a:graphicData>
        </a:graphic>
      </p:graphicFrame>
    </p:spTree>
  </p:cSld>
  <p:clrMapOvr>
    <a:masterClrMapping/>
  </p:clrMapOvr>
</p:sld>
</file>

<file path=ppt/slides/slide4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Hasil Uji Penuh — Sumber Error</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Error berasal dari satu sumber: pertumbuhan wisatawan, lalu terbawa ke variabel lain</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pSp>
        <p:nvGrpSpPr>
          <p:cNvPr name="Group 66" id="66"/>
          <p:cNvGrpSpPr/>
          <p:nvPr/>
        </p:nvGrpSpPr>
        <p:grpSpPr>
          <a:xfrm rot="0">
            <a:off x="822960" y="2537460"/>
            <a:ext cx="2468880" cy="2057400"/>
            <a:chOff x="0" y="0"/>
            <a:chExt cx="3291840" cy="2743200"/>
          </a:xfrm>
        </p:grpSpPr>
        <p:sp>
          <p:nvSpPr>
            <p:cNvPr name="Freeform 67" id="67"/>
            <p:cNvSpPr/>
            <p:nvPr/>
          </p:nvSpPr>
          <p:spPr>
            <a:xfrm flipH="false" flipV="false" rot="0">
              <a:off x="0" y="0"/>
              <a:ext cx="3291840" cy="2743200"/>
            </a:xfrm>
            <a:custGeom>
              <a:avLst/>
              <a:gdLst/>
              <a:ahLst/>
              <a:cxnLst/>
              <a:rect r="r" b="b" t="t" l="l"/>
              <a:pathLst>
                <a:path h="2743200" w="3291840">
                  <a:moveTo>
                    <a:pt x="0" y="182880"/>
                  </a:moveTo>
                  <a:cubicBezTo>
                    <a:pt x="0" y="81915"/>
                    <a:pt x="81915" y="0"/>
                    <a:pt x="182880" y="0"/>
                  </a:cubicBezTo>
                  <a:lnTo>
                    <a:pt x="3108960" y="0"/>
                  </a:lnTo>
                  <a:cubicBezTo>
                    <a:pt x="3209925" y="0"/>
                    <a:pt x="3291840" y="81915"/>
                    <a:pt x="3291840" y="182880"/>
                  </a:cubicBezTo>
                  <a:lnTo>
                    <a:pt x="3291840" y="2560320"/>
                  </a:lnTo>
                  <a:cubicBezTo>
                    <a:pt x="3291840" y="2661285"/>
                    <a:pt x="3209925" y="2743200"/>
                    <a:pt x="3108960" y="2743200"/>
                  </a:cubicBezTo>
                  <a:lnTo>
                    <a:pt x="182880" y="2743200"/>
                  </a:lnTo>
                  <a:cubicBezTo>
                    <a:pt x="81915" y="2743200"/>
                    <a:pt x="0" y="2661285"/>
                    <a:pt x="0" y="2560320"/>
                  </a:cubicBezTo>
                  <a:close/>
                </a:path>
              </a:pathLst>
            </a:custGeom>
            <a:solidFill>
              <a:srgbClr val="E4604F"/>
            </a:solidFill>
          </p:spPr>
          <p:txBody>
            <a:bodyPr/>
            <a:p/>
          </p:txBody>
        </p:sp>
      </p:grpSp>
      <p:grpSp>
        <p:nvGrpSpPr>
          <p:cNvPr name="Group 68" id="68"/>
          <p:cNvGrpSpPr/>
          <p:nvPr/>
        </p:nvGrpSpPr>
        <p:grpSpPr>
          <a:xfrm rot="0">
            <a:off x="960120" y="2537460"/>
            <a:ext cx="2194560" cy="2057400"/>
            <a:chOff x="0" y="0"/>
            <a:chExt cx="2926080" cy="2743200"/>
          </a:xfrm>
        </p:grpSpPr>
        <p:sp>
          <p:nvSpPr>
            <p:cNvPr name="Freeform 69" id="69"/>
            <p:cNvSpPr/>
            <p:nvPr/>
          </p:nvSpPr>
          <p:spPr>
            <a:xfrm flipH="false" flipV="false" rot="0">
              <a:off x="0" y="0"/>
              <a:ext cx="2926080" cy="2743200"/>
            </a:xfrm>
            <a:custGeom>
              <a:avLst/>
              <a:gdLst/>
              <a:ahLst/>
              <a:cxnLst/>
              <a:rect r="r" b="b" t="t" l="l"/>
              <a:pathLst>
                <a:path h="2743200" w="2926080">
                  <a:moveTo>
                    <a:pt x="0" y="0"/>
                  </a:moveTo>
                  <a:lnTo>
                    <a:pt x="2926080" y="0"/>
                  </a:lnTo>
                  <a:lnTo>
                    <a:pt x="2926080" y="2743200"/>
                  </a:lnTo>
                  <a:lnTo>
                    <a:pt x="0" y="2743200"/>
                  </a:lnTo>
                  <a:close/>
                </a:path>
              </a:pathLst>
            </a:custGeom>
            <a:blipFill>
              <a:blip r:embed="rId4">
                <a:alphaModFix amt="0"/>
              </a:blip>
              <a:stretch>
                <a:fillRect l="-70368" t="0" r="-70368" b="0"/>
              </a:stretch>
            </a:blipFill>
          </p:spPr>
          <p:txBody>
            <a:bodyPr/>
            <a:p/>
          </p:txBody>
        </p:sp>
      </p:grpSp>
      <p:grpSp>
        <p:nvGrpSpPr>
          <p:cNvPr name="Group 70" id="70"/>
          <p:cNvGrpSpPr/>
          <p:nvPr/>
        </p:nvGrpSpPr>
        <p:grpSpPr>
          <a:xfrm rot="0">
            <a:off x="960120" y="2501741"/>
            <a:ext cx="2194560" cy="2093119"/>
            <a:chOff x="0" y="0"/>
            <a:chExt cx="2926080" cy="2790825"/>
          </a:xfrm>
        </p:grpSpPr>
        <p:sp>
          <p:nvSpPr>
            <p:cNvPr name="Freeform 71" id="71"/>
            <p:cNvSpPr/>
            <p:nvPr/>
          </p:nvSpPr>
          <p:spPr>
            <a:xfrm flipH="false" flipV="false" rot="0">
              <a:off x="0" y="0"/>
              <a:ext cx="2926080" cy="2790825"/>
            </a:xfrm>
            <a:custGeom>
              <a:avLst/>
              <a:gdLst/>
              <a:ahLst/>
              <a:cxnLst/>
              <a:rect r="r" b="b" t="t" l="l"/>
              <a:pathLst>
                <a:path h="2790825" w="2926080">
                  <a:moveTo>
                    <a:pt x="0" y="0"/>
                  </a:moveTo>
                  <a:lnTo>
                    <a:pt x="2926080" y="0"/>
                  </a:lnTo>
                  <a:lnTo>
                    <a:pt x="2926080" y="2790825"/>
                  </a:lnTo>
                  <a:lnTo>
                    <a:pt x="0" y="2790825"/>
                  </a:lnTo>
                  <a:close/>
                </a:path>
              </a:pathLst>
            </a:custGeom>
            <a:blipFill>
              <a:blip r:embed="rId5">
                <a:alphaModFix amt="0"/>
              </a:blip>
              <a:stretch>
                <a:fillRect l="-72457" t="0" r="-72458" b="0"/>
              </a:stretch>
            </a:blipFill>
          </p:spPr>
          <p:txBody>
            <a:bodyPr/>
            <a:p/>
          </p:txBody>
        </p:sp>
      </p:grpSp>
      <p:grpSp>
        <p:nvGrpSpPr>
          <p:cNvPr name="Group 72" id="72"/>
          <p:cNvGrpSpPr/>
          <p:nvPr/>
        </p:nvGrpSpPr>
        <p:grpSpPr>
          <a:xfrm rot="0">
            <a:off x="960120" y="2466022"/>
            <a:ext cx="2194560" cy="2128838"/>
            <a:chOff x="0" y="0"/>
            <a:chExt cx="2926080" cy="2838450"/>
          </a:xfrm>
        </p:grpSpPr>
        <p:sp>
          <p:nvSpPr>
            <p:cNvPr name="Freeform 73" id="73"/>
            <p:cNvSpPr/>
            <p:nvPr/>
          </p:nvSpPr>
          <p:spPr>
            <a:xfrm flipH="false" flipV="false" rot="0">
              <a:off x="0" y="0"/>
              <a:ext cx="2926080" cy="2838450"/>
            </a:xfrm>
            <a:custGeom>
              <a:avLst/>
              <a:gdLst/>
              <a:ahLst/>
              <a:cxnLst/>
              <a:rect r="r" b="b" t="t" l="l"/>
              <a:pathLst>
                <a:path h="2838450" w="2926080">
                  <a:moveTo>
                    <a:pt x="0" y="0"/>
                  </a:moveTo>
                  <a:lnTo>
                    <a:pt x="2926080" y="0"/>
                  </a:lnTo>
                  <a:lnTo>
                    <a:pt x="2926080" y="2838450"/>
                  </a:lnTo>
                  <a:lnTo>
                    <a:pt x="0" y="2838450"/>
                  </a:lnTo>
                  <a:close/>
                </a:path>
              </a:pathLst>
            </a:custGeom>
            <a:blipFill>
              <a:blip r:embed="rId6">
                <a:alphaModFix amt="0"/>
              </a:blip>
              <a:stretch>
                <a:fillRect l="-74461" t="0" r="-74461" b="0"/>
              </a:stretch>
            </a:blipFill>
          </p:spPr>
          <p:txBody>
            <a:bodyPr/>
            <a:p/>
          </p:txBody>
        </p:sp>
        <p:sp>
          <p:nvSpPr>
            <p:cNvPr name="TextBox 74" id="74"/>
            <p:cNvSpPr txBox="true"/>
            <p:nvPr/>
          </p:nvSpPr>
          <p:spPr>
            <a:xfrm>
              <a:off x="0" y="-47625"/>
              <a:ext cx="2926080" cy="2886075"/>
            </a:xfrm>
            <a:prstGeom prst="rect">
              <a:avLst/>
            </a:prstGeom>
          </p:spPr>
          <p:txBody>
            <a:bodyPr anchor="ctr" rtlCol="false" tIns="0" lIns="0" bIns="0" rIns="0"/>
            <a:lstStyle/>
            <a:p>
              <a:pPr algn="ctr">
                <a:lnSpc>
                  <a:spcPts val="2340"/>
                </a:lnSpc>
              </a:pPr>
              <a:r>
                <a:rPr lang="en-US" sz="1950" b="true">
                  <a:solidFill>
                    <a:srgbClr val="FFFFFF"/>
                  </a:solidFill>
                  <a:latin typeface="Calibri (MS) Bold"/>
                  <a:ea typeface="Calibri (MS) Bold"/>
                  <a:cs typeface="Calibri (MS) Bold"/>
                  <a:sym typeface="Calibri (MS) Bold"/>
                </a:rPr>
                <a:t>Jumlah wisatawan</a:t>
              </a:r>
            </a:p>
            <a:p>
              <a:pPr algn="ctr">
                <a:lnSpc>
                  <a:spcPts val="2340"/>
                </a:lnSpc>
              </a:pPr>
              <a:r>
                <a:rPr lang="en-US" sz="1950" b="true">
                  <a:solidFill>
                    <a:srgbClr val="FFFFFF"/>
                  </a:solidFill>
                  <a:latin typeface="Calibri (MS) Bold"/>
                  <a:ea typeface="Calibri (MS) Bold"/>
                  <a:cs typeface="Calibri (MS) Bold"/>
                  <a:sym typeface="Calibri (MS) Bold"/>
                </a:rPr>
                <a:t>(tren berbeda nyata)</a:t>
              </a:r>
            </a:p>
          </p:txBody>
        </p:sp>
      </p:grpSp>
      <p:sp>
        <p:nvSpPr>
          <p:cNvPr name="AutoShape 75" id="75"/>
          <p:cNvSpPr/>
          <p:nvPr/>
        </p:nvSpPr>
        <p:spPr>
          <a:xfrm rot="157740">
            <a:off x="3269361" y="3532822"/>
            <a:ext cx="415300" cy="0"/>
          </a:xfrm>
          <a:prstGeom prst="line">
            <a:avLst/>
          </a:prstGeom>
          <a:ln cap="rnd" w="19050">
            <a:solidFill>
              <a:srgbClr val="39C0D3"/>
            </a:solidFill>
            <a:prstDash val="solid"/>
            <a:headEnd type="none" len="sm" w="sm"/>
            <a:tailEnd type="triangle" len="med" w="lg"/>
          </a:ln>
        </p:spPr>
        <p:txBody>
          <a:bodyPr/>
          <a:p/>
        </p:txBody>
      </p:sp>
      <p:grpSp>
        <p:nvGrpSpPr>
          <p:cNvPr name="Group 76" id="76"/>
          <p:cNvGrpSpPr/>
          <p:nvPr/>
        </p:nvGrpSpPr>
        <p:grpSpPr>
          <a:xfrm rot="0">
            <a:off x="3656686" y="2537460"/>
            <a:ext cx="2468880" cy="2057400"/>
            <a:chOff x="0" y="0"/>
            <a:chExt cx="3291840" cy="2743200"/>
          </a:xfrm>
        </p:grpSpPr>
        <p:sp>
          <p:nvSpPr>
            <p:cNvPr name="Freeform 77" id="77"/>
            <p:cNvSpPr/>
            <p:nvPr/>
          </p:nvSpPr>
          <p:spPr>
            <a:xfrm flipH="false" flipV="false" rot="0">
              <a:off x="0" y="0"/>
              <a:ext cx="3291840" cy="2743200"/>
            </a:xfrm>
            <a:custGeom>
              <a:avLst/>
              <a:gdLst/>
              <a:ahLst/>
              <a:cxnLst/>
              <a:rect r="r" b="b" t="t" l="l"/>
              <a:pathLst>
                <a:path h="2743200" w="3291840">
                  <a:moveTo>
                    <a:pt x="0" y="182880"/>
                  </a:moveTo>
                  <a:cubicBezTo>
                    <a:pt x="0" y="81915"/>
                    <a:pt x="81915" y="0"/>
                    <a:pt x="182880" y="0"/>
                  </a:cubicBezTo>
                  <a:lnTo>
                    <a:pt x="3108960" y="0"/>
                  </a:lnTo>
                  <a:cubicBezTo>
                    <a:pt x="3209925" y="0"/>
                    <a:pt x="3291840" y="81915"/>
                    <a:pt x="3291840" y="182880"/>
                  </a:cubicBezTo>
                  <a:lnTo>
                    <a:pt x="3291840" y="2560320"/>
                  </a:lnTo>
                  <a:cubicBezTo>
                    <a:pt x="3291840" y="2661285"/>
                    <a:pt x="3209925" y="2743200"/>
                    <a:pt x="3108960" y="2743200"/>
                  </a:cubicBezTo>
                  <a:lnTo>
                    <a:pt x="182880" y="2743200"/>
                  </a:lnTo>
                  <a:cubicBezTo>
                    <a:pt x="81915" y="2743200"/>
                    <a:pt x="0" y="2661285"/>
                    <a:pt x="0" y="2560320"/>
                  </a:cubicBezTo>
                  <a:close/>
                </a:path>
              </a:pathLst>
            </a:custGeom>
            <a:solidFill>
              <a:srgbClr val="EAF8FA"/>
            </a:solidFill>
          </p:spPr>
          <p:txBody>
            <a:bodyPr/>
            <a:p/>
          </p:txBody>
        </p:sp>
      </p:grpSp>
      <p:grpSp>
        <p:nvGrpSpPr>
          <p:cNvPr name="Group 78" id="78"/>
          <p:cNvGrpSpPr/>
          <p:nvPr/>
        </p:nvGrpSpPr>
        <p:grpSpPr>
          <a:xfrm rot="0">
            <a:off x="3793846" y="2537460"/>
            <a:ext cx="2194560" cy="2057400"/>
            <a:chOff x="0" y="0"/>
            <a:chExt cx="2926080" cy="2743200"/>
          </a:xfrm>
        </p:grpSpPr>
        <p:sp>
          <p:nvSpPr>
            <p:cNvPr name="Freeform 79" id="79"/>
            <p:cNvSpPr/>
            <p:nvPr/>
          </p:nvSpPr>
          <p:spPr>
            <a:xfrm flipH="false" flipV="false" rot="0">
              <a:off x="0" y="0"/>
              <a:ext cx="2926080" cy="2743200"/>
            </a:xfrm>
            <a:custGeom>
              <a:avLst/>
              <a:gdLst/>
              <a:ahLst/>
              <a:cxnLst/>
              <a:rect r="r" b="b" t="t" l="l"/>
              <a:pathLst>
                <a:path h="2743200" w="2926080">
                  <a:moveTo>
                    <a:pt x="0" y="0"/>
                  </a:moveTo>
                  <a:lnTo>
                    <a:pt x="2926080" y="0"/>
                  </a:lnTo>
                  <a:lnTo>
                    <a:pt x="2926080" y="2743200"/>
                  </a:lnTo>
                  <a:lnTo>
                    <a:pt x="0" y="2743200"/>
                  </a:lnTo>
                  <a:close/>
                </a:path>
              </a:pathLst>
            </a:custGeom>
            <a:blipFill>
              <a:blip r:embed="rId4">
                <a:alphaModFix amt="0"/>
              </a:blip>
              <a:stretch>
                <a:fillRect l="-70368" t="0" r="-70368" b="0"/>
              </a:stretch>
            </a:blipFill>
          </p:spPr>
          <p:txBody>
            <a:bodyPr/>
            <a:p/>
          </p:txBody>
        </p:sp>
      </p:grpSp>
      <p:grpSp>
        <p:nvGrpSpPr>
          <p:cNvPr name="Group 80" id="80"/>
          <p:cNvGrpSpPr/>
          <p:nvPr/>
        </p:nvGrpSpPr>
        <p:grpSpPr>
          <a:xfrm rot="0">
            <a:off x="3793846" y="2501741"/>
            <a:ext cx="2194560" cy="2093119"/>
            <a:chOff x="0" y="0"/>
            <a:chExt cx="2926080" cy="2790825"/>
          </a:xfrm>
        </p:grpSpPr>
        <p:sp>
          <p:nvSpPr>
            <p:cNvPr name="Freeform 81" id="81"/>
            <p:cNvSpPr/>
            <p:nvPr/>
          </p:nvSpPr>
          <p:spPr>
            <a:xfrm flipH="false" flipV="false" rot="0">
              <a:off x="0" y="0"/>
              <a:ext cx="2926080" cy="2790825"/>
            </a:xfrm>
            <a:custGeom>
              <a:avLst/>
              <a:gdLst/>
              <a:ahLst/>
              <a:cxnLst/>
              <a:rect r="r" b="b" t="t" l="l"/>
              <a:pathLst>
                <a:path h="2790825" w="2926080">
                  <a:moveTo>
                    <a:pt x="0" y="0"/>
                  </a:moveTo>
                  <a:lnTo>
                    <a:pt x="2926080" y="0"/>
                  </a:lnTo>
                  <a:lnTo>
                    <a:pt x="2926080" y="2790825"/>
                  </a:lnTo>
                  <a:lnTo>
                    <a:pt x="0" y="2790825"/>
                  </a:lnTo>
                  <a:close/>
                </a:path>
              </a:pathLst>
            </a:custGeom>
            <a:blipFill>
              <a:blip r:embed="rId5">
                <a:alphaModFix amt="0"/>
              </a:blip>
              <a:stretch>
                <a:fillRect l="-72457" t="0" r="-72458" b="0"/>
              </a:stretch>
            </a:blipFill>
          </p:spPr>
          <p:txBody>
            <a:bodyPr/>
            <a:p/>
          </p:txBody>
        </p:sp>
      </p:grpSp>
      <p:grpSp>
        <p:nvGrpSpPr>
          <p:cNvPr name="Group 82" id="82"/>
          <p:cNvGrpSpPr/>
          <p:nvPr/>
        </p:nvGrpSpPr>
        <p:grpSpPr>
          <a:xfrm rot="0">
            <a:off x="3793846" y="2466022"/>
            <a:ext cx="2194560" cy="2128838"/>
            <a:chOff x="0" y="0"/>
            <a:chExt cx="2926080" cy="2838450"/>
          </a:xfrm>
        </p:grpSpPr>
        <p:sp>
          <p:nvSpPr>
            <p:cNvPr name="Freeform 83" id="83"/>
            <p:cNvSpPr/>
            <p:nvPr/>
          </p:nvSpPr>
          <p:spPr>
            <a:xfrm flipH="false" flipV="false" rot="0">
              <a:off x="0" y="0"/>
              <a:ext cx="2926080" cy="2838450"/>
            </a:xfrm>
            <a:custGeom>
              <a:avLst/>
              <a:gdLst/>
              <a:ahLst/>
              <a:cxnLst/>
              <a:rect r="r" b="b" t="t" l="l"/>
              <a:pathLst>
                <a:path h="2838450" w="2926080">
                  <a:moveTo>
                    <a:pt x="0" y="0"/>
                  </a:moveTo>
                  <a:lnTo>
                    <a:pt x="2926080" y="0"/>
                  </a:lnTo>
                  <a:lnTo>
                    <a:pt x="2926080" y="2838450"/>
                  </a:lnTo>
                  <a:lnTo>
                    <a:pt x="0" y="2838450"/>
                  </a:lnTo>
                  <a:close/>
                </a:path>
              </a:pathLst>
            </a:custGeom>
            <a:blipFill>
              <a:blip r:embed="rId6">
                <a:alphaModFix amt="0"/>
              </a:blip>
              <a:stretch>
                <a:fillRect l="-74461" t="0" r="-74461" b="0"/>
              </a:stretch>
            </a:blipFill>
          </p:spPr>
          <p:txBody>
            <a:bodyPr/>
            <a:p/>
          </p:txBody>
        </p:sp>
        <p:sp>
          <p:nvSpPr>
            <p:cNvPr name="TextBox 84" id="84"/>
            <p:cNvSpPr txBox="true"/>
            <p:nvPr/>
          </p:nvSpPr>
          <p:spPr>
            <a:xfrm>
              <a:off x="0" y="-47625"/>
              <a:ext cx="2926080" cy="2886075"/>
            </a:xfrm>
            <a:prstGeom prst="rect">
              <a:avLst/>
            </a:prstGeom>
          </p:spPr>
          <p:txBody>
            <a:bodyPr anchor="ctr" rtlCol="false" tIns="0" lIns="0" bIns="0" rIns="0"/>
            <a:lstStyle/>
            <a:p>
              <a:pPr algn="ctr">
                <a:lnSpc>
                  <a:spcPts val="2340"/>
                </a:lnSpc>
              </a:pPr>
              <a:r>
                <a:rPr lang="en-US" sz="1950" b="true">
                  <a:solidFill>
                    <a:srgbClr val="0B5E6E"/>
                  </a:solidFill>
                  <a:latin typeface="Calibri (MS) Bold"/>
                  <a:ea typeface="Calibri (MS) Bold"/>
                  <a:cs typeface="Calibri (MS) Bold"/>
                  <a:sym typeface="Calibri (MS) Bold"/>
                </a:rPr>
                <a:t>Pengeluaran wisatawan</a:t>
              </a:r>
            </a:p>
          </p:txBody>
        </p:sp>
      </p:grpSp>
      <p:sp>
        <p:nvSpPr>
          <p:cNvPr name="AutoShape 85" id="85"/>
          <p:cNvSpPr/>
          <p:nvPr/>
        </p:nvSpPr>
        <p:spPr>
          <a:xfrm rot="157740">
            <a:off x="6103087" y="3532822"/>
            <a:ext cx="415300" cy="0"/>
          </a:xfrm>
          <a:prstGeom prst="line">
            <a:avLst/>
          </a:prstGeom>
          <a:ln cap="rnd" w="19050">
            <a:solidFill>
              <a:srgbClr val="39C0D3"/>
            </a:solidFill>
            <a:prstDash val="solid"/>
            <a:headEnd type="none" len="sm" w="sm"/>
            <a:tailEnd type="triangle" len="med" w="lg"/>
          </a:ln>
        </p:spPr>
        <p:txBody>
          <a:bodyPr/>
          <a:p/>
        </p:txBody>
      </p:sp>
      <p:grpSp>
        <p:nvGrpSpPr>
          <p:cNvPr name="Group 86" id="86"/>
          <p:cNvGrpSpPr/>
          <p:nvPr/>
        </p:nvGrpSpPr>
        <p:grpSpPr>
          <a:xfrm rot="0">
            <a:off x="6490411" y="2537460"/>
            <a:ext cx="2468880" cy="2057400"/>
            <a:chOff x="0" y="0"/>
            <a:chExt cx="3291840" cy="2743200"/>
          </a:xfrm>
        </p:grpSpPr>
        <p:sp>
          <p:nvSpPr>
            <p:cNvPr name="Freeform 87" id="87"/>
            <p:cNvSpPr/>
            <p:nvPr/>
          </p:nvSpPr>
          <p:spPr>
            <a:xfrm flipH="false" flipV="false" rot="0">
              <a:off x="0" y="0"/>
              <a:ext cx="3291840" cy="2743200"/>
            </a:xfrm>
            <a:custGeom>
              <a:avLst/>
              <a:gdLst/>
              <a:ahLst/>
              <a:cxnLst/>
              <a:rect r="r" b="b" t="t" l="l"/>
              <a:pathLst>
                <a:path h="2743200" w="3291840">
                  <a:moveTo>
                    <a:pt x="0" y="182880"/>
                  </a:moveTo>
                  <a:cubicBezTo>
                    <a:pt x="0" y="81915"/>
                    <a:pt x="81915" y="0"/>
                    <a:pt x="182880" y="0"/>
                  </a:cubicBezTo>
                  <a:lnTo>
                    <a:pt x="3108960" y="0"/>
                  </a:lnTo>
                  <a:cubicBezTo>
                    <a:pt x="3209925" y="0"/>
                    <a:pt x="3291840" y="81915"/>
                    <a:pt x="3291840" y="182880"/>
                  </a:cubicBezTo>
                  <a:lnTo>
                    <a:pt x="3291840" y="2560320"/>
                  </a:lnTo>
                  <a:cubicBezTo>
                    <a:pt x="3291840" y="2661285"/>
                    <a:pt x="3209925" y="2743200"/>
                    <a:pt x="3108960" y="2743200"/>
                  </a:cubicBezTo>
                  <a:lnTo>
                    <a:pt x="182880" y="2743200"/>
                  </a:lnTo>
                  <a:cubicBezTo>
                    <a:pt x="81915" y="2743200"/>
                    <a:pt x="0" y="2661285"/>
                    <a:pt x="0" y="2560320"/>
                  </a:cubicBezTo>
                  <a:close/>
                </a:path>
              </a:pathLst>
            </a:custGeom>
            <a:solidFill>
              <a:srgbClr val="EAF8FA"/>
            </a:solidFill>
          </p:spPr>
          <p:txBody>
            <a:bodyPr/>
            <a:p/>
          </p:txBody>
        </p:sp>
      </p:grpSp>
      <p:grpSp>
        <p:nvGrpSpPr>
          <p:cNvPr name="Group 88" id="88"/>
          <p:cNvGrpSpPr/>
          <p:nvPr/>
        </p:nvGrpSpPr>
        <p:grpSpPr>
          <a:xfrm rot="0">
            <a:off x="6627571" y="2537460"/>
            <a:ext cx="2194560" cy="2057400"/>
            <a:chOff x="0" y="0"/>
            <a:chExt cx="2926080" cy="2743200"/>
          </a:xfrm>
        </p:grpSpPr>
        <p:sp>
          <p:nvSpPr>
            <p:cNvPr name="Freeform 89" id="89"/>
            <p:cNvSpPr/>
            <p:nvPr/>
          </p:nvSpPr>
          <p:spPr>
            <a:xfrm flipH="false" flipV="false" rot="0">
              <a:off x="0" y="0"/>
              <a:ext cx="2926080" cy="2743200"/>
            </a:xfrm>
            <a:custGeom>
              <a:avLst/>
              <a:gdLst/>
              <a:ahLst/>
              <a:cxnLst/>
              <a:rect r="r" b="b" t="t" l="l"/>
              <a:pathLst>
                <a:path h="2743200" w="2926080">
                  <a:moveTo>
                    <a:pt x="0" y="0"/>
                  </a:moveTo>
                  <a:lnTo>
                    <a:pt x="2926080" y="0"/>
                  </a:lnTo>
                  <a:lnTo>
                    <a:pt x="2926080" y="2743200"/>
                  </a:lnTo>
                  <a:lnTo>
                    <a:pt x="0" y="2743200"/>
                  </a:lnTo>
                  <a:close/>
                </a:path>
              </a:pathLst>
            </a:custGeom>
            <a:blipFill>
              <a:blip r:embed="rId4">
                <a:alphaModFix amt="0"/>
              </a:blip>
              <a:stretch>
                <a:fillRect l="-70368" t="0" r="-70368" b="0"/>
              </a:stretch>
            </a:blipFill>
          </p:spPr>
          <p:txBody>
            <a:bodyPr/>
            <a:p/>
          </p:txBody>
        </p:sp>
      </p:grpSp>
      <p:grpSp>
        <p:nvGrpSpPr>
          <p:cNvPr name="Group 90" id="90"/>
          <p:cNvGrpSpPr/>
          <p:nvPr/>
        </p:nvGrpSpPr>
        <p:grpSpPr>
          <a:xfrm rot="0">
            <a:off x="6627571" y="2501741"/>
            <a:ext cx="2194560" cy="2093119"/>
            <a:chOff x="0" y="0"/>
            <a:chExt cx="2926080" cy="2790825"/>
          </a:xfrm>
        </p:grpSpPr>
        <p:sp>
          <p:nvSpPr>
            <p:cNvPr name="Freeform 91" id="91"/>
            <p:cNvSpPr/>
            <p:nvPr/>
          </p:nvSpPr>
          <p:spPr>
            <a:xfrm flipH="false" flipV="false" rot="0">
              <a:off x="0" y="0"/>
              <a:ext cx="2926080" cy="2790825"/>
            </a:xfrm>
            <a:custGeom>
              <a:avLst/>
              <a:gdLst/>
              <a:ahLst/>
              <a:cxnLst/>
              <a:rect r="r" b="b" t="t" l="l"/>
              <a:pathLst>
                <a:path h="2790825" w="2926080">
                  <a:moveTo>
                    <a:pt x="0" y="0"/>
                  </a:moveTo>
                  <a:lnTo>
                    <a:pt x="2926080" y="0"/>
                  </a:lnTo>
                  <a:lnTo>
                    <a:pt x="2926080" y="2790825"/>
                  </a:lnTo>
                  <a:lnTo>
                    <a:pt x="0" y="2790825"/>
                  </a:lnTo>
                  <a:close/>
                </a:path>
              </a:pathLst>
            </a:custGeom>
            <a:blipFill>
              <a:blip r:embed="rId5">
                <a:alphaModFix amt="0"/>
              </a:blip>
              <a:stretch>
                <a:fillRect l="-72457" t="0" r="-72458" b="0"/>
              </a:stretch>
            </a:blipFill>
          </p:spPr>
          <p:txBody>
            <a:bodyPr/>
            <a:p/>
          </p:txBody>
        </p:sp>
      </p:grpSp>
      <p:grpSp>
        <p:nvGrpSpPr>
          <p:cNvPr name="Group 92" id="92"/>
          <p:cNvGrpSpPr/>
          <p:nvPr/>
        </p:nvGrpSpPr>
        <p:grpSpPr>
          <a:xfrm rot="0">
            <a:off x="6627571" y="2466022"/>
            <a:ext cx="2194560" cy="2128838"/>
            <a:chOff x="0" y="0"/>
            <a:chExt cx="2926080" cy="2838450"/>
          </a:xfrm>
        </p:grpSpPr>
        <p:sp>
          <p:nvSpPr>
            <p:cNvPr name="Freeform 93" id="93"/>
            <p:cNvSpPr/>
            <p:nvPr/>
          </p:nvSpPr>
          <p:spPr>
            <a:xfrm flipH="false" flipV="false" rot="0">
              <a:off x="0" y="0"/>
              <a:ext cx="2926080" cy="2838450"/>
            </a:xfrm>
            <a:custGeom>
              <a:avLst/>
              <a:gdLst/>
              <a:ahLst/>
              <a:cxnLst/>
              <a:rect r="r" b="b" t="t" l="l"/>
              <a:pathLst>
                <a:path h="2838450" w="2926080">
                  <a:moveTo>
                    <a:pt x="0" y="0"/>
                  </a:moveTo>
                  <a:lnTo>
                    <a:pt x="2926080" y="0"/>
                  </a:lnTo>
                  <a:lnTo>
                    <a:pt x="2926080" y="2838450"/>
                  </a:lnTo>
                  <a:lnTo>
                    <a:pt x="0" y="2838450"/>
                  </a:lnTo>
                  <a:close/>
                </a:path>
              </a:pathLst>
            </a:custGeom>
            <a:blipFill>
              <a:blip r:embed="rId6">
                <a:alphaModFix amt="0"/>
              </a:blip>
              <a:stretch>
                <a:fillRect l="-74461" t="0" r="-74461" b="0"/>
              </a:stretch>
            </a:blipFill>
          </p:spPr>
          <p:txBody>
            <a:bodyPr/>
            <a:p/>
          </p:txBody>
        </p:sp>
        <p:sp>
          <p:nvSpPr>
            <p:cNvPr name="TextBox 94" id="94"/>
            <p:cNvSpPr txBox="true"/>
            <p:nvPr/>
          </p:nvSpPr>
          <p:spPr>
            <a:xfrm>
              <a:off x="0" y="-47625"/>
              <a:ext cx="2926080" cy="2886075"/>
            </a:xfrm>
            <a:prstGeom prst="rect">
              <a:avLst/>
            </a:prstGeom>
          </p:spPr>
          <p:txBody>
            <a:bodyPr anchor="ctr" rtlCol="false" tIns="0" lIns="0" bIns="0" rIns="0"/>
            <a:lstStyle/>
            <a:p>
              <a:pPr algn="ctr">
                <a:lnSpc>
                  <a:spcPts val="2340"/>
                </a:lnSpc>
              </a:pPr>
              <a:r>
                <a:rPr lang="en-US" sz="1950" b="true">
                  <a:solidFill>
                    <a:srgbClr val="0B5E6E"/>
                  </a:solidFill>
                  <a:latin typeface="Calibri (MS) Bold"/>
                  <a:ea typeface="Calibri (MS) Bold"/>
                  <a:cs typeface="Calibri (MS) Bold"/>
                  <a:sym typeface="Calibri (MS) Bold"/>
                </a:rPr>
                <a:t>PDRB sektor pariwisata</a:t>
              </a:r>
            </a:p>
          </p:txBody>
        </p:sp>
      </p:grpSp>
      <p:sp>
        <p:nvSpPr>
          <p:cNvPr name="AutoShape 95" id="95"/>
          <p:cNvSpPr/>
          <p:nvPr/>
        </p:nvSpPr>
        <p:spPr>
          <a:xfrm rot="157740">
            <a:off x="8936812" y="3532822"/>
            <a:ext cx="415300" cy="0"/>
          </a:xfrm>
          <a:prstGeom prst="line">
            <a:avLst/>
          </a:prstGeom>
          <a:ln cap="rnd" w="19050">
            <a:solidFill>
              <a:srgbClr val="39C0D3"/>
            </a:solidFill>
            <a:prstDash val="solid"/>
            <a:headEnd type="none" len="sm" w="sm"/>
            <a:tailEnd type="triangle" len="med" w="lg"/>
          </a:ln>
        </p:spPr>
        <p:txBody>
          <a:bodyPr/>
          <a:p/>
        </p:txBody>
      </p:sp>
      <p:grpSp>
        <p:nvGrpSpPr>
          <p:cNvPr name="Group 96" id="96"/>
          <p:cNvGrpSpPr/>
          <p:nvPr/>
        </p:nvGrpSpPr>
        <p:grpSpPr>
          <a:xfrm rot="0">
            <a:off x="9324137" y="2537460"/>
            <a:ext cx="2468880" cy="2057400"/>
            <a:chOff x="0" y="0"/>
            <a:chExt cx="3291840" cy="2743200"/>
          </a:xfrm>
        </p:grpSpPr>
        <p:sp>
          <p:nvSpPr>
            <p:cNvPr name="Freeform 97" id="97"/>
            <p:cNvSpPr/>
            <p:nvPr/>
          </p:nvSpPr>
          <p:spPr>
            <a:xfrm flipH="false" flipV="false" rot="0">
              <a:off x="0" y="0"/>
              <a:ext cx="3291840" cy="2743200"/>
            </a:xfrm>
            <a:custGeom>
              <a:avLst/>
              <a:gdLst/>
              <a:ahLst/>
              <a:cxnLst/>
              <a:rect r="r" b="b" t="t" l="l"/>
              <a:pathLst>
                <a:path h="2743200" w="3291840">
                  <a:moveTo>
                    <a:pt x="0" y="182880"/>
                  </a:moveTo>
                  <a:cubicBezTo>
                    <a:pt x="0" y="81915"/>
                    <a:pt x="81915" y="0"/>
                    <a:pt x="182880" y="0"/>
                  </a:cubicBezTo>
                  <a:lnTo>
                    <a:pt x="3108960" y="0"/>
                  </a:lnTo>
                  <a:cubicBezTo>
                    <a:pt x="3209925" y="0"/>
                    <a:pt x="3291840" y="81915"/>
                    <a:pt x="3291840" y="182880"/>
                  </a:cubicBezTo>
                  <a:lnTo>
                    <a:pt x="3291840" y="2560320"/>
                  </a:lnTo>
                  <a:cubicBezTo>
                    <a:pt x="3291840" y="2661285"/>
                    <a:pt x="3209925" y="2743200"/>
                    <a:pt x="3108960" y="2743200"/>
                  </a:cubicBezTo>
                  <a:lnTo>
                    <a:pt x="182880" y="2743200"/>
                  </a:lnTo>
                  <a:cubicBezTo>
                    <a:pt x="81915" y="2743200"/>
                    <a:pt x="0" y="2661285"/>
                    <a:pt x="0" y="2560320"/>
                  </a:cubicBezTo>
                  <a:close/>
                </a:path>
              </a:pathLst>
            </a:custGeom>
            <a:solidFill>
              <a:srgbClr val="EAF8FA"/>
            </a:solidFill>
          </p:spPr>
          <p:txBody>
            <a:bodyPr/>
            <a:p/>
          </p:txBody>
        </p:sp>
      </p:grpSp>
      <p:grpSp>
        <p:nvGrpSpPr>
          <p:cNvPr name="Group 98" id="98"/>
          <p:cNvGrpSpPr/>
          <p:nvPr/>
        </p:nvGrpSpPr>
        <p:grpSpPr>
          <a:xfrm rot="0">
            <a:off x="9461297" y="2537460"/>
            <a:ext cx="2194560" cy="2057400"/>
            <a:chOff x="0" y="0"/>
            <a:chExt cx="2926080" cy="2743200"/>
          </a:xfrm>
        </p:grpSpPr>
        <p:sp>
          <p:nvSpPr>
            <p:cNvPr name="Freeform 99" id="99"/>
            <p:cNvSpPr/>
            <p:nvPr/>
          </p:nvSpPr>
          <p:spPr>
            <a:xfrm flipH="false" flipV="false" rot="0">
              <a:off x="0" y="0"/>
              <a:ext cx="2926080" cy="2743200"/>
            </a:xfrm>
            <a:custGeom>
              <a:avLst/>
              <a:gdLst/>
              <a:ahLst/>
              <a:cxnLst/>
              <a:rect r="r" b="b" t="t" l="l"/>
              <a:pathLst>
                <a:path h="2743200" w="2926080">
                  <a:moveTo>
                    <a:pt x="0" y="0"/>
                  </a:moveTo>
                  <a:lnTo>
                    <a:pt x="2926080" y="0"/>
                  </a:lnTo>
                  <a:lnTo>
                    <a:pt x="2926080" y="2743200"/>
                  </a:lnTo>
                  <a:lnTo>
                    <a:pt x="0" y="2743200"/>
                  </a:lnTo>
                  <a:close/>
                </a:path>
              </a:pathLst>
            </a:custGeom>
            <a:blipFill>
              <a:blip r:embed="rId4">
                <a:alphaModFix amt="0"/>
              </a:blip>
              <a:stretch>
                <a:fillRect l="-70368" t="0" r="-70368" b="0"/>
              </a:stretch>
            </a:blipFill>
          </p:spPr>
          <p:txBody>
            <a:bodyPr/>
            <a:p/>
          </p:txBody>
        </p:sp>
      </p:grpSp>
      <p:grpSp>
        <p:nvGrpSpPr>
          <p:cNvPr name="Group 100" id="100"/>
          <p:cNvGrpSpPr/>
          <p:nvPr/>
        </p:nvGrpSpPr>
        <p:grpSpPr>
          <a:xfrm rot="0">
            <a:off x="9461297" y="2501741"/>
            <a:ext cx="2194560" cy="2093119"/>
            <a:chOff x="0" y="0"/>
            <a:chExt cx="2926080" cy="2790825"/>
          </a:xfrm>
        </p:grpSpPr>
        <p:sp>
          <p:nvSpPr>
            <p:cNvPr name="Freeform 101" id="101"/>
            <p:cNvSpPr/>
            <p:nvPr/>
          </p:nvSpPr>
          <p:spPr>
            <a:xfrm flipH="false" flipV="false" rot="0">
              <a:off x="0" y="0"/>
              <a:ext cx="2926080" cy="2790825"/>
            </a:xfrm>
            <a:custGeom>
              <a:avLst/>
              <a:gdLst/>
              <a:ahLst/>
              <a:cxnLst/>
              <a:rect r="r" b="b" t="t" l="l"/>
              <a:pathLst>
                <a:path h="2790825" w="2926080">
                  <a:moveTo>
                    <a:pt x="0" y="0"/>
                  </a:moveTo>
                  <a:lnTo>
                    <a:pt x="2926080" y="0"/>
                  </a:lnTo>
                  <a:lnTo>
                    <a:pt x="2926080" y="2790825"/>
                  </a:lnTo>
                  <a:lnTo>
                    <a:pt x="0" y="2790825"/>
                  </a:lnTo>
                  <a:close/>
                </a:path>
              </a:pathLst>
            </a:custGeom>
            <a:blipFill>
              <a:blip r:embed="rId5">
                <a:alphaModFix amt="0"/>
              </a:blip>
              <a:stretch>
                <a:fillRect l="-72457" t="0" r="-72458" b="0"/>
              </a:stretch>
            </a:blipFill>
          </p:spPr>
          <p:txBody>
            <a:bodyPr/>
            <a:p/>
          </p:txBody>
        </p:sp>
      </p:grpSp>
      <p:grpSp>
        <p:nvGrpSpPr>
          <p:cNvPr name="Group 102" id="102"/>
          <p:cNvGrpSpPr/>
          <p:nvPr/>
        </p:nvGrpSpPr>
        <p:grpSpPr>
          <a:xfrm rot="0">
            <a:off x="9461297" y="2466022"/>
            <a:ext cx="2194560" cy="2128838"/>
            <a:chOff x="0" y="0"/>
            <a:chExt cx="2926080" cy="2838450"/>
          </a:xfrm>
        </p:grpSpPr>
        <p:sp>
          <p:nvSpPr>
            <p:cNvPr name="Freeform 103" id="103"/>
            <p:cNvSpPr/>
            <p:nvPr/>
          </p:nvSpPr>
          <p:spPr>
            <a:xfrm flipH="false" flipV="false" rot="0">
              <a:off x="0" y="0"/>
              <a:ext cx="2926080" cy="2838450"/>
            </a:xfrm>
            <a:custGeom>
              <a:avLst/>
              <a:gdLst/>
              <a:ahLst/>
              <a:cxnLst/>
              <a:rect r="r" b="b" t="t" l="l"/>
              <a:pathLst>
                <a:path h="2838450" w="2926080">
                  <a:moveTo>
                    <a:pt x="0" y="0"/>
                  </a:moveTo>
                  <a:lnTo>
                    <a:pt x="2926080" y="0"/>
                  </a:lnTo>
                  <a:lnTo>
                    <a:pt x="2926080" y="2838450"/>
                  </a:lnTo>
                  <a:lnTo>
                    <a:pt x="0" y="2838450"/>
                  </a:lnTo>
                  <a:close/>
                </a:path>
              </a:pathLst>
            </a:custGeom>
            <a:blipFill>
              <a:blip r:embed="rId6">
                <a:alphaModFix amt="0"/>
              </a:blip>
              <a:stretch>
                <a:fillRect l="-74461" t="0" r="-74461" b="0"/>
              </a:stretch>
            </a:blipFill>
          </p:spPr>
          <p:txBody>
            <a:bodyPr/>
            <a:p/>
          </p:txBody>
        </p:sp>
        <p:sp>
          <p:nvSpPr>
            <p:cNvPr name="TextBox 104" id="104"/>
            <p:cNvSpPr txBox="true"/>
            <p:nvPr/>
          </p:nvSpPr>
          <p:spPr>
            <a:xfrm>
              <a:off x="0" y="-47625"/>
              <a:ext cx="2926080" cy="2886075"/>
            </a:xfrm>
            <a:prstGeom prst="rect">
              <a:avLst/>
            </a:prstGeom>
          </p:spPr>
          <p:txBody>
            <a:bodyPr anchor="ctr" rtlCol="false" tIns="0" lIns="0" bIns="0" rIns="0"/>
            <a:lstStyle/>
            <a:p>
              <a:pPr algn="ctr">
                <a:lnSpc>
                  <a:spcPts val="2340"/>
                </a:lnSpc>
              </a:pPr>
              <a:r>
                <a:rPr lang="en-US" sz="1950" b="true">
                  <a:solidFill>
                    <a:srgbClr val="0B5E6E"/>
                  </a:solidFill>
                  <a:latin typeface="Calibri (MS) Bold"/>
                  <a:ea typeface="Calibri (MS) Bold"/>
                  <a:cs typeface="Calibri (MS) Bold"/>
                  <a:sym typeface="Calibri (MS) Bold"/>
                </a:rPr>
                <a:t>Investasi sektor pariwisata</a:t>
              </a:r>
            </a:p>
          </p:txBody>
        </p:sp>
      </p:grpSp>
      <p:sp>
        <p:nvSpPr>
          <p:cNvPr name="AutoShape 105" id="105"/>
          <p:cNvSpPr/>
          <p:nvPr/>
        </p:nvSpPr>
        <p:spPr>
          <a:xfrm rot="157740">
            <a:off x="11770538" y="3532822"/>
            <a:ext cx="415300" cy="0"/>
          </a:xfrm>
          <a:prstGeom prst="line">
            <a:avLst/>
          </a:prstGeom>
          <a:ln cap="rnd" w="19050">
            <a:solidFill>
              <a:srgbClr val="39C0D3"/>
            </a:solidFill>
            <a:prstDash val="solid"/>
            <a:headEnd type="none" len="sm" w="sm"/>
            <a:tailEnd type="triangle" len="med" w="lg"/>
          </a:ln>
        </p:spPr>
        <p:txBody>
          <a:bodyPr/>
          <a:p/>
        </p:txBody>
      </p:sp>
      <p:grpSp>
        <p:nvGrpSpPr>
          <p:cNvPr name="Group 106" id="106"/>
          <p:cNvGrpSpPr/>
          <p:nvPr/>
        </p:nvGrpSpPr>
        <p:grpSpPr>
          <a:xfrm rot="0">
            <a:off x="12157862" y="2537460"/>
            <a:ext cx="2468880" cy="2057400"/>
            <a:chOff x="0" y="0"/>
            <a:chExt cx="3291840" cy="2743200"/>
          </a:xfrm>
        </p:grpSpPr>
        <p:sp>
          <p:nvSpPr>
            <p:cNvPr name="Freeform 107" id="107"/>
            <p:cNvSpPr/>
            <p:nvPr/>
          </p:nvSpPr>
          <p:spPr>
            <a:xfrm flipH="false" flipV="false" rot="0">
              <a:off x="0" y="0"/>
              <a:ext cx="3291840" cy="2743200"/>
            </a:xfrm>
            <a:custGeom>
              <a:avLst/>
              <a:gdLst/>
              <a:ahLst/>
              <a:cxnLst/>
              <a:rect r="r" b="b" t="t" l="l"/>
              <a:pathLst>
                <a:path h="2743200" w="3291840">
                  <a:moveTo>
                    <a:pt x="0" y="182880"/>
                  </a:moveTo>
                  <a:cubicBezTo>
                    <a:pt x="0" y="81915"/>
                    <a:pt x="81915" y="0"/>
                    <a:pt x="182880" y="0"/>
                  </a:cubicBezTo>
                  <a:lnTo>
                    <a:pt x="3108960" y="0"/>
                  </a:lnTo>
                  <a:cubicBezTo>
                    <a:pt x="3209925" y="0"/>
                    <a:pt x="3291840" y="81915"/>
                    <a:pt x="3291840" y="182880"/>
                  </a:cubicBezTo>
                  <a:lnTo>
                    <a:pt x="3291840" y="2560320"/>
                  </a:lnTo>
                  <a:cubicBezTo>
                    <a:pt x="3291840" y="2661285"/>
                    <a:pt x="3209925" y="2743200"/>
                    <a:pt x="3108960" y="2743200"/>
                  </a:cubicBezTo>
                  <a:lnTo>
                    <a:pt x="182880" y="2743200"/>
                  </a:lnTo>
                  <a:cubicBezTo>
                    <a:pt x="81915" y="2743200"/>
                    <a:pt x="0" y="2661285"/>
                    <a:pt x="0" y="2560320"/>
                  </a:cubicBezTo>
                  <a:close/>
                </a:path>
              </a:pathLst>
            </a:custGeom>
            <a:solidFill>
              <a:srgbClr val="EAF8FA"/>
            </a:solidFill>
          </p:spPr>
          <p:txBody>
            <a:bodyPr/>
            <a:p/>
          </p:txBody>
        </p:sp>
      </p:grpSp>
      <p:grpSp>
        <p:nvGrpSpPr>
          <p:cNvPr name="Group 108" id="108"/>
          <p:cNvGrpSpPr/>
          <p:nvPr/>
        </p:nvGrpSpPr>
        <p:grpSpPr>
          <a:xfrm rot="0">
            <a:off x="12295022" y="2537460"/>
            <a:ext cx="2194560" cy="2057400"/>
            <a:chOff x="0" y="0"/>
            <a:chExt cx="2926080" cy="2743200"/>
          </a:xfrm>
        </p:grpSpPr>
        <p:sp>
          <p:nvSpPr>
            <p:cNvPr name="Freeform 109" id="109"/>
            <p:cNvSpPr/>
            <p:nvPr/>
          </p:nvSpPr>
          <p:spPr>
            <a:xfrm flipH="false" flipV="false" rot="0">
              <a:off x="0" y="0"/>
              <a:ext cx="2926080" cy="2743200"/>
            </a:xfrm>
            <a:custGeom>
              <a:avLst/>
              <a:gdLst/>
              <a:ahLst/>
              <a:cxnLst/>
              <a:rect r="r" b="b" t="t" l="l"/>
              <a:pathLst>
                <a:path h="2743200" w="2926080">
                  <a:moveTo>
                    <a:pt x="0" y="0"/>
                  </a:moveTo>
                  <a:lnTo>
                    <a:pt x="2926080" y="0"/>
                  </a:lnTo>
                  <a:lnTo>
                    <a:pt x="2926080" y="2743200"/>
                  </a:lnTo>
                  <a:lnTo>
                    <a:pt x="0" y="2743200"/>
                  </a:lnTo>
                  <a:close/>
                </a:path>
              </a:pathLst>
            </a:custGeom>
            <a:blipFill>
              <a:blip r:embed="rId4">
                <a:alphaModFix amt="0"/>
              </a:blip>
              <a:stretch>
                <a:fillRect l="-70368" t="0" r="-70368" b="0"/>
              </a:stretch>
            </a:blipFill>
          </p:spPr>
          <p:txBody>
            <a:bodyPr/>
            <a:p/>
          </p:txBody>
        </p:sp>
      </p:grpSp>
      <p:grpSp>
        <p:nvGrpSpPr>
          <p:cNvPr name="Group 110" id="110"/>
          <p:cNvGrpSpPr/>
          <p:nvPr/>
        </p:nvGrpSpPr>
        <p:grpSpPr>
          <a:xfrm rot="0">
            <a:off x="12295022" y="2501741"/>
            <a:ext cx="2194560" cy="2093119"/>
            <a:chOff x="0" y="0"/>
            <a:chExt cx="2926080" cy="2790825"/>
          </a:xfrm>
        </p:grpSpPr>
        <p:sp>
          <p:nvSpPr>
            <p:cNvPr name="Freeform 111" id="111"/>
            <p:cNvSpPr/>
            <p:nvPr/>
          </p:nvSpPr>
          <p:spPr>
            <a:xfrm flipH="false" flipV="false" rot="0">
              <a:off x="0" y="0"/>
              <a:ext cx="2926080" cy="2790825"/>
            </a:xfrm>
            <a:custGeom>
              <a:avLst/>
              <a:gdLst/>
              <a:ahLst/>
              <a:cxnLst/>
              <a:rect r="r" b="b" t="t" l="l"/>
              <a:pathLst>
                <a:path h="2790825" w="2926080">
                  <a:moveTo>
                    <a:pt x="0" y="0"/>
                  </a:moveTo>
                  <a:lnTo>
                    <a:pt x="2926080" y="0"/>
                  </a:lnTo>
                  <a:lnTo>
                    <a:pt x="2926080" y="2790825"/>
                  </a:lnTo>
                  <a:lnTo>
                    <a:pt x="0" y="2790825"/>
                  </a:lnTo>
                  <a:close/>
                </a:path>
              </a:pathLst>
            </a:custGeom>
            <a:blipFill>
              <a:blip r:embed="rId5">
                <a:alphaModFix amt="0"/>
              </a:blip>
              <a:stretch>
                <a:fillRect l="-72457" t="0" r="-72458" b="0"/>
              </a:stretch>
            </a:blipFill>
          </p:spPr>
          <p:txBody>
            <a:bodyPr/>
            <a:p/>
          </p:txBody>
        </p:sp>
      </p:grpSp>
      <p:grpSp>
        <p:nvGrpSpPr>
          <p:cNvPr name="Group 112" id="112"/>
          <p:cNvGrpSpPr/>
          <p:nvPr/>
        </p:nvGrpSpPr>
        <p:grpSpPr>
          <a:xfrm rot="0">
            <a:off x="12295022" y="2466022"/>
            <a:ext cx="2194560" cy="2128838"/>
            <a:chOff x="0" y="0"/>
            <a:chExt cx="2926080" cy="2838450"/>
          </a:xfrm>
        </p:grpSpPr>
        <p:sp>
          <p:nvSpPr>
            <p:cNvPr name="Freeform 113" id="113"/>
            <p:cNvSpPr/>
            <p:nvPr/>
          </p:nvSpPr>
          <p:spPr>
            <a:xfrm flipH="false" flipV="false" rot="0">
              <a:off x="0" y="0"/>
              <a:ext cx="2926080" cy="2838450"/>
            </a:xfrm>
            <a:custGeom>
              <a:avLst/>
              <a:gdLst/>
              <a:ahLst/>
              <a:cxnLst/>
              <a:rect r="r" b="b" t="t" l="l"/>
              <a:pathLst>
                <a:path h="2838450" w="2926080">
                  <a:moveTo>
                    <a:pt x="0" y="0"/>
                  </a:moveTo>
                  <a:lnTo>
                    <a:pt x="2926080" y="0"/>
                  </a:lnTo>
                  <a:lnTo>
                    <a:pt x="2926080" y="2838450"/>
                  </a:lnTo>
                  <a:lnTo>
                    <a:pt x="0" y="2838450"/>
                  </a:lnTo>
                  <a:close/>
                </a:path>
              </a:pathLst>
            </a:custGeom>
            <a:blipFill>
              <a:blip r:embed="rId6">
                <a:alphaModFix amt="0"/>
              </a:blip>
              <a:stretch>
                <a:fillRect l="-74461" t="0" r="-74461" b="0"/>
              </a:stretch>
            </a:blipFill>
          </p:spPr>
          <p:txBody>
            <a:bodyPr/>
            <a:p/>
          </p:txBody>
        </p:sp>
        <p:sp>
          <p:nvSpPr>
            <p:cNvPr name="TextBox 114" id="114"/>
            <p:cNvSpPr txBox="true"/>
            <p:nvPr/>
          </p:nvSpPr>
          <p:spPr>
            <a:xfrm>
              <a:off x="0" y="-47625"/>
              <a:ext cx="2926080" cy="2886075"/>
            </a:xfrm>
            <a:prstGeom prst="rect">
              <a:avLst/>
            </a:prstGeom>
          </p:spPr>
          <p:txBody>
            <a:bodyPr anchor="ctr" rtlCol="false" tIns="0" lIns="0" bIns="0" rIns="0"/>
            <a:lstStyle/>
            <a:p>
              <a:pPr algn="ctr">
                <a:lnSpc>
                  <a:spcPts val="2340"/>
                </a:lnSpc>
              </a:pPr>
              <a:r>
                <a:rPr lang="en-US" sz="1950" b="true">
                  <a:solidFill>
                    <a:srgbClr val="0B5E6E"/>
                  </a:solidFill>
                  <a:latin typeface="Calibri (MS) Bold"/>
                  <a:ea typeface="Calibri (MS) Bold"/>
                  <a:cs typeface="Calibri (MS) Bold"/>
                  <a:sym typeface="Calibri (MS) Bold"/>
                </a:rPr>
                <a:t>Konstruksi hotel dan pembangunan ODTW</a:t>
              </a:r>
            </a:p>
          </p:txBody>
        </p:sp>
      </p:grpSp>
      <p:sp>
        <p:nvSpPr>
          <p:cNvPr name="AutoShape 115" id="115"/>
          <p:cNvSpPr/>
          <p:nvPr/>
        </p:nvSpPr>
        <p:spPr>
          <a:xfrm rot="157740">
            <a:off x="14604263" y="3532822"/>
            <a:ext cx="415300" cy="0"/>
          </a:xfrm>
          <a:prstGeom prst="line">
            <a:avLst/>
          </a:prstGeom>
          <a:ln cap="rnd" w="19050">
            <a:solidFill>
              <a:srgbClr val="39C0D3"/>
            </a:solidFill>
            <a:prstDash val="solid"/>
            <a:headEnd type="none" len="sm" w="sm"/>
            <a:tailEnd type="triangle" len="med" w="lg"/>
          </a:ln>
        </p:spPr>
        <p:txBody>
          <a:bodyPr/>
          <a:p/>
        </p:txBody>
      </p:sp>
      <p:grpSp>
        <p:nvGrpSpPr>
          <p:cNvPr name="Group 116" id="116"/>
          <p:cNvGrpSpPr/>
          <p:nvPr/>
        </p:nvGrpSpPr>
        <p:grpSpPr>
          <a:xfrm rot="0">
            <a:off x="14991588" y="2537460"/>
            <a:ext cx="2468880" cy="2057400"/>
            <a:chOff x="0" y="0"/>
            <a:chExt cx="3291840" cy="2743200"/>
          </a:xfrm>
        </p:grpSpPr>
        <p:sp>
          <p:nvSpPr>
            <p:cNvPr name="Freeform 117" id="117"/>
            <p:cNvSpPr/>
            <p:nvPr/>
          </p:nvSpPr>
          <p:spPr>
            <a:xfrm flipH="false" flipV="false" rot="0">
              <a:off x="0" y="0"/>
              <a:ext cx="3291840" cy="2743200"/>
            </a:xfrm>
            <a:custGeom>
              <a:avLst/>
              <a:gdLst/>
              <a:ahLst/>
              <a:cxnLst/>
              <a:rect r="r" b="b" t="t" l="l"/>
              <a:pathLst>
                <a:path h="2743200" w="3291840">
                  <a:moveTo>
                    <a:pt x="0" y="182880"/>
                  </a:moveTo>
                  <a:cubicBezTo>
                    <a:pt x="0" y="81915"/>
                    <a:pt x="81915" y="0"/>
                    <a:pt x="182880" y="0"/>
                  </a:cubicBezTo>
                  <a:lnTo>
                    <a:pt x="3108960" y="0"/>
                  </a:lnTo>
                  <a:cubicBezTo>
                    <a:pt x="3209925" y="0"/>
                    <a:pt x="3291840" y="81915"/>
                    <a:pt x="3291840" y="182880"/>
                  </a:cubicBezTo>
                  <a:lnTo>
                    <a:pt x="3291840" y="2560320"/>
                  </a:lnTo>
                  <a:cubicBezTo>
                    <a:pt x="3291840" y="2661285"/>
                    <a:pt x="3209925" y="2743200"/>
                    <a:pt x="3108960" y="2743200"/>
                  </a:cubicBezTo>
                  <a:lnTo>
                    <a:pt x="182880" y="2743200"/>
                  </a:lnTo>
                  <a:cubicBezTo>
                    <a:pt x="81915" y="2743200"/>
                    <a:pt x="0" y="2661285"/>
                    <a:pt x="0" y="2560320"/>
                  </a:cubicBezTo>
                  <a:close/>
                </a:path>
              </a:pathLst>
            </a:custGeom>
            <a:solidFill>
              <a:srgbClr val="EAF8FA"/>
            </a:solidFill>
          </p:spPr>
          <p:txBody>
            <a:bodyPr/>
            <a:p/>
          </p:txBody>
        </p:sp>
      </p:grpSp>
      <p:grpSp>
        <p:nvGrpSpPr>
          <p:cNvPr name="Group 118" id="118"/>
          <p:cNvGrpSpPr/>
          <p:nvPr/>
        </p:nvGrpSpPr>
        <p:grpSpPr>
          <a:xfrm rot="0">
            <a:off x="15128748" y="2537460"/>
            <a:ext cx="2194560" cy="2057400"/>
            <a:chOff x="0" y="0"/>
            <a:chExt cx="2926080" cy="2743200"/>
          </a:xfrm>
        </p:grpSpPr>
        <p:sp>
          <p:nvSpPr>
            <p:cNvPr name="Freeform 119" id="119"/>
            <p:cNvSpPr/>
            <p:nvPr/>
          </p:nvSpPr>
          <p:spPr>
            <a:xfrm flipH="false" flipV="false" rot="0">
              <a:off x="0" y="0"/>
              <a:ext cx="2926080" cy="2743200"/>
            </a:xfrm>
            <a:custGeom>
              <a:avLst/>
              <a:gdLst/>
              <a:ahLst/>
              <a:cxnLst/>
              <a:rect r="r" b="b" t="t" l="l"/>
              <a:pathLst>
                <a:path h="2743200" w="2926080">
                  <a:moveTo>
                    <a:pt x="0" y="0"/>
                  </a:moveTo>
                  <a:lnTo>
                    <a:pt x="2926080" y="0"/>
                  </a:lnTo>
                  <a:lnTo>
                    <a:pt x="2926080" y="2743200"/>
                  </a:lnTo>
                  <a:lnTo>
                    <a:pt x="0" y="2743200"/>
                  </a:lnTo>
                  <a:close/>
                </a:path>
              </a:pathLst>
            </a:custGeom>
            <a:blipFill>
              <a:blip r:embed="rId4">
                <a:alphaModFix amt="0"/>
              </a:blip>
              <a:stretch>
                <a:fillRect l="-70368" t="0" r="-70368" b="0"/>
              </a:stretch>
            </a:blipFill>
          </p:spPr>
          <p:txBody>
            <a:bodyPr/>
            <a:p/>
          </p:txBody>
        </p:sp>
      </p:grpSp>
      <p:grpSp>
        <p:nvGrpSpPr>
          <p:cNvPr name="Group 120" id="120"/>
          <p:cNvGrpSpPr/>
          <p:nvPr/>
        </p:nvGrpSpPr>
        <p:grpSpPr>
          <a:xfrm rot="0">
            <a:off x="15128748" y="2501741"/>
            <a:ext cx="2194560" cy="2093119"/>
            <a:chOff x="0" y="0"/>
            <a:chExt cx="2926080" cy="2790825"/>
          </a:xfrm>
        </p:grpSpPr>
        <p:sp>
          <p:nvSpPr>
            <p:cNvPr name="Freeform 121" id="121"/>
            <p:cNvSpPr/>
            <p:nvPr/>
          </p:nvSpPr>
          <p:spPr>
            <a:xfrm flipH="false" flipV="false" rot="0">
              <a:off x="0" y="0"/>
              <a:ext cx="2926080" cy="2790825"/>
            </a:xfrm>
            <a:custGeom>
              <a:avLst/>
              <a:gdLst/>
              <a:ahLst/>
              <a:cxnLst/>
              <a:rect r="r" b="b" t="t" l="l"/>
              <a:pathLst>
                <a:path h="2790825" w="2926080">
                  <a:moveTo>
                    <a:pt x="0" y="0"/>
                  </a:moveTo>
                  <a:lnTo>
                    <a:pt x="2926080" y="0"/>
                  </a:lnTo>
                  <a:lnTo>
                    <a:pt x="2926080" y="2790825"/>
                  </a:lnTo>
                  <a:lnTo>
                    <a:pt x="0" y="2790825"/>
                  </a:lnTo>
                  <a:close/>
                </a:path>
              </a:pathLst>
            </a:custGeom>
            <a:blipFill>
              <a:blip r:embed="rId5">
                <a:alphaModFix amt="0"/>
              </a:blip>
              <a:stretch>
                <a:fillRect l="-72457" t="0" r="-72458" b="0"/>
              </a:stretch>
            </a:blipFill>
          </p:spPr>
          <p:txBody>
            <a:bodyPr/>
            <a:p/>
          </p:txBody>
        </p:sp>
      </p:grpSp>
      <p:grpSp>
        <p:nvGrpSpPr>
          <p:cNvPr name="Group 122" id="122"/>
          <p:cNvGrpSpPr/>
          <p:nvPr/>
        </p:nvGrpSpPr>
        <p:grpSpPr>
          <a:xfrm rot="0">
            <a:off x="15128748" y="2466022"/>
            <a:ext cx="2194560" cy="2128838"/>
            <a:chOff x="0" y="0"/>
            <a:chExt cx="2926080" cy="2838450"/>
          </a:xfrm>
        </p:grpSpPr>
        <p:sp>
          <p:nvSpPr>
            <p:cNvPr name="Freeform 123" id="123"/>
            <p:cNvSpPr/>
            <p:nvPr/>
          </p:nvSpPr>
          <p:spPr>
            <a:xfrm flipH="false" flipV="false" rot="0">
              <a:off x="0" y="0"/>
              <a:ext cx="2926080" cy="2838450"/>
            </a:xfrm>
            <a:custGeom>
              <a:avLst/>
              <a:gdLst/>
              <a:ahLst/>
              <a:cxnLst/>
              <a:rect r="r" b="b" t="t" l="l"/>
              <a:pathLst>
                <a:path h="2838450" w="2926080">
                  <a:moveTo>
                    <a:pt x="0" y="0"/>
                  </a:moveTo>
                  <a:lnTo>
                    <a:pt x="2926080" y="0"/>
                  </a:lnTo>
                  <a:lnTo>
                    <a:pt x="2926080" y="2838450"/>
                  </a:lnTo>
                  <a:lnTo>
                    <a:pt x="0" y="2838450"/>
                  </a:lnTo>
                  <a:close/>
                </a:path>
              </a:pathLst>
            </a:custGeom>
            <a:blipFill>
              <a:blip r:embed="rId6">
                <a:alphaModFix amt="0"/>
              </a:blip>
              <a:stretch>
                <a:fillRect l="-74461" t="0" r="-74461" b="0"/>
              </a:stretch>
            </a:blipFill>
          </p:spPr>
          <p:txBody>
            <a:bodyPr/>
            <a:p/>
          </p:txBody>
        </p:sp>
        <p:sp>
          <p:nvSpPr>
            <p:cNvPr name="TextBox 124" id="124"/>
            <p:cNvSpPr txBox="true"/>
            <p:nvPr/>
          </p:nvSpPr>
          <p:spPr>
            <a:xfrm>
              <a:off x="0" y="-47625"/>
              <a:ext cx="2926080" cy="2886075"/>
            </a:xfrm>
            <a:prstGeom prst="rect">
              <a:avLst/>
            </a:prstGeom>
          </p:spPr>
          <p:txBody>
            <a:bodyPr anchor="ctr" rtlCol="false" tIns="0" lIns="0" bIns="0" rIns="0"/>
            <a:lstStyle/>
            <a:p>
              <a:pPr algn="ctr">
                <a:lnSpc>
                  <a:spcPts val="2340"/>
                </a:lnSpc>
              </a:pPr>
              <a:r>
                <a:rPr lang="en-US" sz="1950" b="true">
                  <a:solidFill>
                    <a:srgbClr val="0B5E6E"/>
                  </a:solidFill>
                  <a:latin typeface="Calibri (MS) Bold"/>
                  <a:ea typeface="Calibri (MS) Bold"/>
                  <a:cs typeface="Calibri (MS) Bold"/>
                  <a:sym typeface="Calibri (MS) Bold"/>
                </a:rPr>
                <a:t>Tenaga kerja dan lahan terbangun</a:t>
              </a:r>
            </a:p>
          </p:txBody>
        </p:sp>
      </p:grpSp>
      <p:sp>
        <p:nvSpPr>
          <p:cNvPr name="TextBox 125" id="125"/>
          <p:cNvSpPr txBox="true"/>
          <p:nvPr/>
        </p:nvSpPr>
        <p:spPr>
          <a:xfrm rot="0">
            <a:off x="822960" y="4686300"/>
            <a:ext cx="16637508" cy="304800"/>
          </a:xfrm>
          <a:prstGeom prst="rect">
            <a:avLst/>
          </a:prstGeom>
        </p:spPr>
        <p:txBody>
          <a:bodyPr anchor="t" rtlCol="false" tIns="0" lIns="0" bIns="0" rIns="0">
            <a:spAutoFit/>
          </a:bodyPr>
          <a:lstStyle/>
          <a:p>
            <a:pPr algn="ctr">
              <a:lnSpc>
                <a:spcPts val="2160"/>
              </a:lnSpc>
            </a:pPr>
            <a:r>
              <a:rPr lang="en-US" sz="1800" i="true">
                <a:solidFill>
                  <a:srgbClr val="5E6E78"/>
                </a:solidFill>
                <a:latin typeface="Calibri (MS) Italics"/>
                <a:ea typeface="Calibri (MS) Italics"/>
                <a:cs typeface="Calibri (MS) Italics"/>
                <a:sym typeface="Calibri (MS) Italics"/>
              </a:rPr>
              <a:t>Error terbawa dari subsistem wisatawan melalui jalur ekonomi</a:t>
            </a:r>
          </a:p>
        </p:txBody>
      </p:sp>
      <p:grpSp>
        <p:nvGrpSpPr>
          <p:cNvPr name="Group 126" id="126"/>
          <p:cNvGrpSpPr/>
          <p:nvPr/>
        </p:nvGrpSpPr>
        <p:grpSpPr>
          <a:xfrm rot="0">
            <a:off x="822960" y="5486400"/>
            <a:ext cx="8161020" cy="3566160"/>
            <a:chOff x="0" y="0"/>
            <a:chExt cx="10881360" cy="4754880"/>
          </a:xfrm>
        </p:grpSpPr>
        <p:sp>
          <p:nvSpPr>
            <p:cNvPr name="Freeform 127" id="127"/>
            <p:cNvSpPr/>
            <p:nvPr/>
          </p:nvSpPr>
          <p:spPr>
            <a:xfrm flipH="false" flipV="false" rot="0">
              <a:off x="0" y="0"/>
              <a:ext cx="10881360" cy="4754880"/>
            </a:xfrm>
            <a:custGeom>
              <a:avLst/>
              <a:gdLst/>
              <a:ahLst/>
              <a:cxnLst/>
              <a:rect r="r" b="b" t="t" l="l"/>
              <a:pathLst>
                <a:path h="4754880" w="10881360">
                  <a:moveTo>
                    <a:pt x="0" y="182880"/>
                  </a:moveTo>
                  <a:cubicBezTo>
                    <a:pt x="0" y="81915"/>
                    <a:pt x="81915" y="0"/>
                    <a:pt x="182880" y="0"/>
                  </a:cubicBezTo>
                  <a:lnTo>
                    <a:pt x="10698480" y="0"/>
                  </a:lnTo>
                  <a:cubicBezTo>
                    <a:pt x="10799445" y="0"/>
                    <a:pt x="10881360" y="81915"/>
                    <a:pt x="10881360" y="182880"/>
                  </a:cubicBezTo>
                  <a:lnTo>
                    <a:pt x="10881360" y="4572000"/>
                  </a:lnTo>
                  <a:cubicBezTo>
                    <a:pt x="10881360" y="4672965"/>
                    <a:pt x="10799445" y="4754880"/>
                    <a:pt x="10698480" y="4754880"/>
                  </a:cubicBezTo>
                  <a:lnTo>
                    <a:pt x="182880" y="4754880"/>
                  </a:lnTo>
                  <a:cubicBezTo>
                    <a:pt x="81915" y="4754880"/>
                    <a:pt x="0" y="4672965"/>
                    <a:pt x="0" y="4572000"/>
                  </a:cubicBezTo>
                  <a:close/>
                </a:path>
              </a:pathLst>
            </a:custGeom>
            <a:solidFill>
              <a:srgbClr val="EAF8FA"/>
            </a:solidFill>
          </p:spPr>
          <p:txBody>
            <a:bodyPr/>
            <a:p/>
          </p:txBody>
        </p:sp>
      </p:grpSp>
      <p:sp>
        <p:nvSpPr>
          <p:cNvPr name="TextBox 128" id="128"/>
          <p:cNvSpPr txBox="true"/>
          <p:nvPr/>
        </p:nvSpPr>
        <p:spPr>
          <a:xfrm rot="0">
            <a:off x="1234440" y="5646420"/>
            <a:ext cx="7406640" cy="66294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Bukti satu sumber bersama</a:t>
            </a:r>
          </a:p>
        </p:txBody>
      </p:sp>
      <p:sp>
        <p:nvSpPr>
          <p:cNvPr name="TextBox 129" id="129"/>
          <p:cNvSpPr txBox="true"/>
          <p:nvPr/>
        </p:nvSpPr>
        <p:spPr>
          <a:xfrm rot="0">
            <a:off x="1234440" y="6332220"/>
            <a:ext cx="7406640" cy="2583180"/>
          </a:xfrm>
          <a:prstGeom prst="rect">
            <a:avLst/>
          </a:prstGeom>
        </p:spPr>
        <p:txBody>
          <a:bodyPr anchor="t" rtlCol="false" tIns="0" lIns="0" bIns="0" rIns="0">
            <a:spAutoFit/>
          </a:bodyPr>
          <a:lstStyle/>
          <a:p>
            <a:pPr algn="l" marL="529351" indent="-132338" lvl="3">
              <a:lnSpc>
                <a:spcPts val="2430"/>
              </a:lnSpc>
              <a:buFont typeface="Arial"/>
              <a:buChar char="￭"/>
            </a:pPr>
            <a:r>
              <a:rPr lang="en-US" sz="2025">
                <a:solidFill>
                  <a:srgbClr val="14313B"/>
                </a:solidFill>
                <a:latin typeface="Calibri (MS)"/>
                <a:ea typeface="Calibri (MS)"/>
                <a:cs typeface="Calibri (MS)"/>
                <a:sym typeface="Calibri (MS)"/>
              </a:rPr>
              <a:t>Komponen error U1 (bias rata-rata) dominan pada 6 dari 9 variabel</a:t>
            </a:r>
          </a:p>
          <a:p>
            <a:pPr algn="l" marL="529351" indent="-132338" lvl="3">
              <a:lnSpc>
                <a:spcPts val="2430"/>
              </a:lnSpc>
              <a:buFont typeface="Arial"/>
              <a:buChar char="￭"/>
            </a:pPr>
            <a:r>
              <a:rPr lang="en-US" sz="2025">
                <a:solidFill>
                  <a:srgbClr val="14313B"/>
                </a:solidFill>
                <a:latin typeface="Calibri (MS)"/>
                <a:ea typeface="Calibri (MS)"/>
                <a:cs typeface="Calibri (MS)"/>
                <a:sym typeface="Calibri (MS)"/>
              </a:rPr>
              <a:t>Hotel dan ODTW baik pada uji parsial (DC 0,20 dan 0,34) tetapi tinggi pada uji penuh</a:t>
            </a:r>
          </a:p>
          <a:p>
            <a:pPr algn="l" marL="529351" indent="-132338" lvl="3">
              <a:lnSpc>
                <a:spcPts val="2430"/>
              </a:lnSpc>
              <a:buFont typeface="Arial"/>
              <a:buChar char="￭"/>
            </a:pPr>
            <a:r>
              <a:rPr lang="en-US" sz="2025">
                <a:solidFill>
                  <a:srgbClr val="14313B"/>
                </a:solidFill>
                <a:latin typeface="Calibri (MS)"/>
                <a:ea typeface="Calibri (MS)"/>
                <a:cs typeface="Calibri (MS)"/>
                <a:sym typeface="Calibri (MS)"/>
              </a:rPr>
              <a:t>Uji P5 dan uji penuh saling menguatkan: akar masalah pada satu titik</a:t>
            </a:r>
          </a:p>
        </p:txBody>
      </p:sp>
      <p:grpSp>
        <p:nvGrpSpPr>
          <p:cNvPr name="Group 130" id="130"/>
          <p:cNvGrpSpPr/>
          <p:nvPr/>
        </p:nvGrpSpPr>
        <p:grpSpPr>
          <a:xfrm rot="0">
            <a:off x="9299448" y="5486400"/>
            <a:ext cx="8161020" cy="3566160"/>
            <a:chOff x="0" y="0"/>
            <a:chExt cx="10881360" cy="4754880"/>
          </a:xfrm>
        </p:grpSpPr>
        <p:sp>
          <p:nvSpPr>
            <p:cNvPr name="Freeform 131" id="131"/>
            <p:cNvSpPr/>
            <p:nvPr/>
          </p:nvSpPr>
          <p:spPr>
            <a:xfrm flipH="false" flipV="false" rot="0">
              <a:off x="0" y="0"/>
              <a:ext cx="10881360" cy="4754880"/>
            </a:xfrm>
            <a:custGeom>
              <a:avLst/>
              <a:gdLst/>
              <a:ahLst/>
              <a:cxnLst/>
              <a:rect r="r" b="b" t="t" l="l"/>
              <a:pathLst>
                <a:path h="4754880" w="10881360">
                  <a:moveTo>
                    <a:pt x="0" y="182880"/>
                  </a:moveTo>
                  <a:cubicBezTo>
                    <a:pt x="0" y="81915"/>
                    <a:pt x="81915" y="0"/>
                    <a:pt x="182880" y="0"/>
                  </a:cubicBezTo>
                  <a:lnTo>
                    <a:pt x="10698480" y="0"/>
                  </a:lnTo>
                  <a:cubicBezTo>
                    <a:pt x="10799445" y="0"/>
                    <a:pt x="10881360" y="81915"/>
                    <a:pt x="10881360" y="182880"/>
                  </a:cubicBezTo>
                  <a:lnTo>
                    <a:pt x="10881360" y="4572000"/>
                  </a:lnTo>
                  <a:cubicBezTo>
                    <a:pt x="10881360" y="4672965"/>
                    <a:pt x="10799445" y="4754880"/>
                    <a:pt x="10698480" y="4754880"/>
                  </a:cubicBezTo>
                  <a:lnTo>
                    <a:pt x="182880" y="4754880"/>
                  </a:lnTo>
                  <a:cubicBezTo>
                    <a:pt x="81915" y="4754880"/>
                    <a:pt x="0" y="4672965"/>
                    <a:pt x="0" y="4572000"/>
                  </a:cubicBezTo>
                  <a:close/>
                </a:path>
              </a:pathLst>
            </a:custGeom>
            <a:solidFill>
              <a:srgbClr val="FFF1BF"/>
            </a:solidFill>
          </p:spPr>
          <p:txBody>
            <a:bodyPr/>
            <a:p/>
          </p:txBody>
        </p:sp>
      </p:grpSp>
      <p:sp>
        <p:nvSpPr>
          <p:cNvPr name="TextBox 132" id="132"/>
          <p:cNvSpPr txBox="true"/>
          <p:nvPr/>
        </p:nvSpPr>
        <p:spPr>
          <a:xfrm rot="0">
            <a:off x="9710928" y="5646420"/>
            <a:ext cx="7406640" cy="66294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Penyebab di luar nilai parameter</a:t>
            </a:r>
          </a:p>
        </p:txBody>
      </p:sp>
      <p:sp>
        <p:nvSpPr>
          <p:cNvPr name="TextBox 133" id="133"/>
          <p:cNvSpPr txBox="true"/>
          <p:nvPr/>
        </p:nvSpPr>
        <p:spPr>
          <a:xfrm rot="0">
            <a:off x="9710928" y="6332220"/>
            <a:ext cx="7406640" cy="2583180"/>
          </a:xfrm>
          <a:prstGeom prst="rect">
            <a:avLst/>
          </a:prstGeom>
        </p:spPr>
        <p:txBody>
          <a:bodyPr anchor="t" rtlCol="false" tIns="0" lIns="0" bIns="0" rIns="0">
            <a:spAutoFit/>
          </a:bodyPr>
          <a:lstStyle/>
          <a:p>
            <a:pPr algn="l">
              <a:lnSpc>
                <a:spcPts val="2430"/>
              </a:lnSpc>
            </a:pPr>
            <a:r>
              <a:rPr lang="en-US" sz="2025">
                <a:solidFill>
                  <a:srgbClr val="14313B"/>
                </a:solidFill>
                <a:latin typeface="Calibri (MS)"/>
                <a:ea typeface="Calibri (MS)"/>
                <a:cs typeface="Calibri (MS)"/>
                <a:sym typeface="Calibri (MS)"/>
              </a:rPr>
              <a:t>Perbedaan tren berasal dari lonjakan pemulihan pascapandemi 2022–2024 yang tidak dicakup model (wisnus nasional 2024 naik 21,61%) — bukan dari nilai parameter subsistem wisatawan yang keliru.</a:t>
            </a:r>
          </a:p>
        </p:txBody>
      </p:sp>
      <p:sp>
        <p:nvSpPr>
          <p:cNvPr name="TextBox 134" id="134"/>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48</a:t>
            </a:r>
          </a:p>
        </p:txBody>
      </p:sp>
      <p:grpSp>
        <p:nvGrpSpPr>
          <p:cNvPr name="Group 135" id="135"/>
          <p:cNvGrpSpPr/>
          <p:nvPr/>
        </p:nvGrpSpPr>
        <p:grpSpPr>
          <a:xfrm rot="0">
            <a:off x="12755880" y="274320"/>
            <a:ext cx="3931920" cy="411480"/>
            <a:chOff x="0" y="0"/>
            <a:chExt cx="5242560" cy="548640"/>
          </a:xfrm>
        </p:grpSpPr>
        <p:sp>
          <p:nvSpPr>
            <p:cNvPr name="Freeform 136" id="136"/>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37" id="137"/>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2E · Uji perilaku &amp; kalibrasi</a:t>
              </a:r>
            </a:p>
          </p:txBody>
        </p:sp>
      </p:grpSp>
      <p:grpSp>
        <p:nvGrpSpPr>
          <p:cNvPr name="Group 138" id="138"/>
          <p:cNvGrpSpPr/>
          <p:nvPr/>
        </p:nvGrpSpPr>
        <p:grpSpPr>
          <a:xfrm rot="0">
            <a:off x="16047720" y="9646920"/>
            <a:ext cx="420624" cy="420624"/>
            <a:chOff x="0" y="0"/>
            <a:chExt cx="560832" cy="560832"/>
          </a:xfrm>
        </p:grpSpPr>
        <p:sp>
          <p:nvSpPr>
            <p:cNvPr name="Freeform 139" id="139"/>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40" id="140"/>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4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0010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Protokol Kalibrasi</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Aturan kalibrasi ditetapkan sebelum pencarian nilai dilakukan</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49</a:t>
            </a:r>
          </a:p>
        </p:txBody>
      </p:sp>
      <p:grpSp>
        <p:nvGrpSpPr>
          <p:cNvPr name="Group 67" id="67"/>
          <p:cNvGrpSpPr/>
          <p:nvPr/>
        </p:nvGrpSpPr>
        <p:grpSpPr>
          <a:xfrm rot="0">
            <a:off x="822960" y="2240280"/>
            <a:ext cx="8229600" cy="1024128"/>
            <a:chOff x="0" y="0"/>
            <a:chExt cx="10972800" cy="1365504"/>
          </a:xfrm>
        </p:grpSpPr>
        <p:sp>
          <p:nvSpPr>
            <p:cNvPr name="Freeform 68" id="68"/>
            <p:cNvSpPr/>
            <p:nvPr/>
          </p:nvSpPr>
          <p:spPr>
            <a:xfrm flipH="false" flipV="false" rot="0">
              <a:off x="0" y="0"/>
              <a:ext cx="10972800" cy="1365504"/>
            </a:xfrm>
            <a:custGeom>
              <a:avLst/>
              <a:gdLst/>
              <a:ahLst/>
              <a:cxnLst/>
              <a:rect r="r" b="b" t="t" l="l"/>
              <a:pathLst>
                <a:path h="1365504" w="10972800">
                  <a:moveTo>
                    <a:pt x="0" y="121920"/>
                  </a:moveTo>
                  <a:cubicBezTo>
                    <a:pt x="0" y="54610"/>
                    <a:pt x="54610" y="0"/>
                    <a:pt x="121920" y="0"/>
                  </a:cubicBezTo>
                  <a:lnTo>
                    <a:pt x="10850880" y="0"/>
                  </a:lnTo>
                  <a:cubicBezTo>
                    <a:pt x="10918190" y="0"/>
                    <a:pt x="10972800" y="54610"/>
                    <a:pt x="10972800" y="121920"/>
                  </a:cubicBezTo>
                  <a:lnTo>
                    <a:pt x="10972800" y="1243584"/>
                  </a:lnTo>
                  <a:cubicBezTo>
                    <a:pt x="10972800" y="1310894"/>
                    <a:pt x="10918190" y="1365504"/>
                    <a:pt x="10850880" y="1365504"/>
                  </a:cubicBezTo>
                  <a:lnTo>
                    <a:pt x="121920" y="1365504"/>
                  </a:lnTo>
                  <a:cubicBezTo>
                    <a:pt x="54610" y="1365504"/>
                    <a:pt x="0" y="1310894"/>
                    <a:pt x="0" y="1243584"/>
                  </a:cubicBezTo>
                  <a:close/>
                </a:path>
              </a:pathLst>
            </a:custGeom>
            <a:solidFill>
              <a:srgbClr val="EAF8FA"/>
            </a:solidFill>
          </p:spPr>
          <p:txBody>
            <a:bodyPr/>
            <a:p/>
          </p:txBody>
        </p:sp>
      </p:grpSp>
      <p:grpSp>
        <p:nvGrpSpPr>
          <p:cNvPr name="Group 69" id="69"/>
          <p:cNvGrpSpPr/>
          <p:nvPr/>
        </p:nvGrpSpPr>
        <p:grpSpPr>
          <a:xfrm rot="0">
            <a:off x="1005840" y="2404872"/>
            <a:ext cx="457200" cy="457200"/>
            <a:chOff x="0" y="0"/>
            <a:chExt cx="609600" cy="609600"/>
          </a:xfrm>
        </p:grpSpPr>
        <p:sp>
          <p:nvSpPr>
            <p:cNvPr name="Freeform 70" id="70"/>
            <p:cNvSpPr/>
            <p:nvPr/>
          </p:nvSpPr>
          <p:spPr>
            <a:xfrm flipH="false" flipV="false" rot="0">
              <a:off x="0" y="0"/>
              <a:ext cx="609600" cy="609600"/>
            </a:xfrm>
            <a:custGeom>
              <a:avLst/>
              <a:gdLst/>
              <a:ahLst/>
              <a:cxnLst/>
              <a:rect r="r" b="b" t="t" l="l"/>
              <a:pathLst>
                <a:path h="609600" w="609600">
                  <a:moveTo>
                    <a:pt x="0" y="304800"/>
                  </a:moveTo>
                  <a:cubicBezTo>
                    <a:pt x="0" y="136525"/>
                    <a:pt x="136525" y="0"/>
                    <a:pt x="304800" y="0"/>
                  </a:cubicBezTo>
                  <a:cubicBezTo>
                    <a:pt x="473075" y="0"/>
                    <a:pt x="609600" y="136525"/>
                    <a:pt x="609600" y="304800"/>
                  </a:cubicBezTo>
                  <a:cubicBezTo>
                    <a:pt x="609600" y="473075"/>
                    <a:pt x="473075" y="609600"/>
                    <a:pt x="304800" y="609600"/>
                  </a:cubicBezTo>
                  <a:cubicBezTo>
                    <a:pt x="136525" y="609600"/>
                    <a:pt x="0" y="473075"/>
                    <a:pt x="0" y="304800"/>
                  </a:cubicBezTo>
                  <a:close/>
                </a:path>
              </a:pathLst>
            </a:custGeom>
            <a:solidFill>
              <a:srgbClr val="0B5E6E"/>
            </a:solidFill>
          </p:spPr>
          <p:txBody>
            <a:bodyPr/>
            <a:p/>
          </p:txBody>
        </p:sp>
      </p:grpSp>
      <p:grpSp>
        <p:nvGrpSpPr>
          <p:cNvPr name="Group 71" id="71"/>
          <p:cNvGrpSpPr/>
          <p:nvPr/>
        </p:nvGrpSpPr>
        <p:grpSpPr>
          <a:xfrm rot="0">
            <a:off x="1005840" y="2383441"/>
            <a:ext cx="457200" cy="478631"/>
            <a:chOff x="0" y="0"/>
            <a:chExt cx="609600" cy="638175"/>
          </a:xfrm>
        </p:grpSpPr>
        <p:sp>
          <p:nvSpPr>
            <p:cNvPr name="Freeform 72" id="72"/>
            <p:cNvSpPr/>
            <p:nvPr/>
          </p:nvSpPr>
          <p:spPr>
            <a:xfrm flipH="false" flipV="false" rot="0">
              <a:off x="0" y="0"/>
              <a:ext cx="609600" cy="638175"/>
            </a:xfrm>
            <a:custGeom>
              <a:avLst/>
              <a:gdLst/>
              <a:ahLst/>
              <a:cxnLst/>
              <a:rect r="r" b="b" t="t" l="l"/>
              <a:pathLst>
                <a:path h="638175" w="609600">
                  <a:moveTo>
                    <a:pt x="0" y="0"/>
                  </a:moveTo>
                  <a:lnTo>
                    <a:pt x="609600" y="0"/>
                  </a:lnTo>
                  <a:lnTo>
                    <a:pt x="609600" y="638175"/>
                  </a:lnTo>
                  <a:lnTo>
                    <a:pt x="0" y="638175"/>
                  </a:lnTo>
                  <a:close/>
                </a:path>
              </a:pathLst>
            </a:custGeom>
            <a:blipFill>
              <a:blip r:embed="rId6">
                <a:alphaModFix amt="0"/>
              </a:blip>
              <a:stretch>
                <a:fillRect l="-84317" t="0" r="-84317" b="0"/>
              </a:stretch>
            </a:blipFill>
          </p:spPr>
          <p:txBody>
            <a:bodyPr/>
            <a:p/>
          </p:txBody>
        </p:sp>
        <p:sp>
          <p:nvSpPr>
            <p:cNvPr name="TextBox 73" id="73"/>
            <p:cNvSpPr txBox="true"/>
            <p:nvPr/>
          </p:nvSpPr>
          <p:spPr>
            <a:xfrm>
              <a:off x="0" y="-28575"/>
              <a:ext cx="609600" cy="666750"/>
            </a:xfrm>
            <a:prstGeom prst="rect">
              <a:avLst/>
            </a:prstGeom>
          </p:spPr>
          <p:txBody>
            <a:bodyPr anchor="ctr" rtlCol="false" tIns="0" lIns="0" bIns="0" rIns="0"/>
            <a:lstStyle/>
            <a:p>
              <a:pPr algn="ctr">
                <a:lnSpc>
                  <a:spcPts val="1680"/>
                </a:lnSpc>
              </a:pPr>
              <a:r>
                <a:rPr lang="en-US" sz="1400" b="true">
                  <a:solidFill>
                    <a:srgbClr val="FFFFFF"/>
                  </a:solidFill>
                  <a:latin typeface="Calibri (MS) Bold"/>
                  <a:ea typeface="Calibri (MS) Bold"/>
                  <a:cs typeface="Calibri (MS) Bold"/>
                  <a:sym typeface="Calibri (MS) Bold"/>
                </a:rPr>
                <a:t>1</a:t>
              </a:r>
            </a:p>
          </p:txBody>
        </p:sp>
      </p:grpSp>
      <p:sp>
        <p:nvSpPr>
          <p:cNvPr name="TextBox 74" id="74"/>
          <p:cNvSpPr txBox="true"/>
          <p:nvPr/>
        </p:nvSpPr>
        <p:spPr>
          <a:xfrm rot="0">
            <a:off x="1600200" y="2253996"/>
            <a:ext cx="7269480" cy="48006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Parameter dibatasi</a:t>
            </a:r>
          </a:p>
        </p:txBody>
      </p:sp>
      <p:sp>
        <p:nvSpPr>
          <p:cNvPr name="TextBox 75" id="75"/>
          <p:cNvSpPr txBox="true"/>
          <p:nvPr/>
        </p:nvSpPr>
        <p:spPr>
          <a:xfrm rot="0">
            <a:off x="1600200" y="2602230"/>
            <a:ext cx="7269480" cy="552450"/>
          </a:xfrm>
          <a:prstGeom prst="rect">
            <a:avLst/>
          </a:prstGeom>
        </p:spPr>
        <p:txBody>
          <a:bodyPr anchor="t" rtlCol="false" tIns="0" lIns="0" bIns="0" rIns="0">
            <a:spAutoFit/>
          </a:bodyPr>
          <a:lstStyle/>
          <a:p>
            <a:pPr algn="l">
              <a:lnSpc>
                <a:spcPts val="1881"/>
              </a:lnSpc>
            </a:pPr>
            <a:r>
              <a:rPr lang="en-US" sz="1400">
                <a:solidFill>
                  <a:srgbClr val="14313B"/>
                </a:solidFill>
                <a:latin typeface="Calibri (MS)"/>
                <a:ea typeface="Calibri (MS)"/>
                <a:cs typeface="Calibri (MS)"/>
                <a:sym typeface="Calibri (MS)"/>
              </a:rPr>
              <a:t>Hanya parameter yang belum pasti (asumsi/estimasi). Data resmi, persamaan stok-aliran, dan nilai referensi tidak dikalibrasi.</a:t>
            </a:r>
          </a:p>
        </p:txBody>
      </p:sp>
      <p:grpSp>
        <p:nvGrpSpPr>
          <p:cNvPr name="Group 76" id="76"/>
          <p:cNvGrpSpPr/>
          <p:nvPr/>
        </p:nvGrpSpPr>
        <p:grpSpPr>
          <a:xfrm rot="0">
            <a:off x="822960" y="3374136"/>
            <a:ext cx="8229600" cy="1298448"/>
            <a:chOff x="0" y="0"/>
            <a:chExt cx="10972800" cy="1731264"/>
          </a:xfrm>
        </p:grpSpPr>
        <p:sp>
          <p:nvSpPr>
            <p:cNvPr name="Freeform 77" id="77"/>
            <p:cNvSpPr/>
            <p:nvPr/>
          </p:nvSpPr>
          <p:spPr>
            <a:xfrm flipH="false" flipV="false" rot="0">
              <a:off x="0" y="0"/>
              <a:ext cx="10972800" cy="1731264"/>
            </a:xfrm>
            <a:custGeom>
              <a:avLst/>
              <a:gdLst/>
              <a:ahLst/>
              <a:cxnLst/>
              <a:rect r="r" b="b" t="t" l="l"/>
              <a:pathLst>
                <a:path h="1731264" w="10972800">
                  <a:moveTo>
                    <a:pt x="0" y="121920"/>
                  </a:moveTo>
                  <a:cubicBezTo>
                    <a:pt x="0" y="54610"/>
                    <a:pt x="54610" y="0"/>
                    <a:pt x="121920" y="0"/>
                  </a:cubicBezTo>
                  <a:lnTo>
                    <a:pt x="10850880" y="0"/>
                  </a:lnTo>
                  <a:cubicBezTo>
                    <a:pt x="10918190" y="0"/>
                    <a:pt x="10972800" y="54610"/>
                    <a:pt x="10972800" y="121920"/>
                  </a:cubicBezTo>
                  <a:lnTo>
                    <a:pt x="10972800" y="1609344"/>
                  </a:lnTo>
                  <a:cubicBezTo>
                    <a:pt x="10972800" y="1676654"/>
                    <a:pt x="10918190" y="1731264"/>
                    <a:pt x="10850880" y="1731264"/>
                  </a:cubicBezTo>
                  <a:lnTo>
                    <a:pt x="121920" y="1731264"/>
                  </a:lnTo>
                  <a:cubicBezTo>
                    <a:pt x="54610" y="1731264"/>
                    <a:pt x="0" y="1676654"/>
                    <a:pt x="0" y="1609344"/>
                  </a:cubicBezTo>
                  <a:close/>
                </a:path>
              </a:pathLst>
            </a:custGeom>
            <a:solidFill>
              <a:srgbClr val="EAF8FA"/>
            </a:solidFill>
          </p:spPr>
          <p:txBody>
            <a:bodyPr/>
            <a:p/>
          </p:txBody>
        </p:sp>
      </p:grpSp>
      <p:grpSp>
        <p:nvGrpSpPr>
          <p:cNvPr name="Group 78" id="78"/>
          <p:cNvGrpSpPr/>
          <p:nvPr/>
        </p:nvGrpSpPr>
        <p:grpSpPr>
          <a:xfrm rot="0">
            <a:off x="1005840" y="3538728"/>
            <a:ext cx="457200" cy="457200"/>
            <a:chOff x="0" y="0"/>
            <a:chExt cx="609600" cy="609600"/>
          </a:xfrm>
        </p:grpSpPr>
        <p:sp>
          <p:nvSpPr>
            <p:cNvPr name="Freeform 79" id="79"/>
            <p:cNvSpPr/>
            <p:nvPr/>
          </p:nvSpPr>
          <p:spPr>
            <a:xfrm flipH="false" flipV="false" rot="0">
              <a:off x="0" y="0"/>
              <a:ext cx="609600" cy="609600"/>
            </a:xfrm>
            <a:custGeom>
              <a:avLst/>
              <a:gdLst/>
              <a:ahLst/>
              <a:cxnLst/>
              <a:rect r="r" b="b" t="t" l="l"/>
              <a:pathLst>
                <a:path h="609600" w="609600">
                  <a:moveTo>
                    <a:pt x="0" y="304800"/>
                  </a:moveTo>
                  <a:cubicBezTo>
                    <a:pt x="0" y="136525"/>
                    <a:pt x="136525" y="0"/>
                    <a:pt x="304800" y="0"/>
                  </a:cubicBezTo>
                  <a:cubicBezTo>
                    <a:pt x="473075" y="0"/>
                    <a:pt x="609600" y="136525"/>
                    <a:pt x="609600" y="304800"/>
                  </a:cubicBezTo>
                  <a:cubicBezTo>
                    <a:pt x="609600" y="473075"/>
                    <a:pt x="473075" y="609600"/>
                    <a:pt x="304800" y="609600"/>
                  </a:cubicBezTo>
                  <a:cubicBezTo>
                    <a:pt x="136525" y="609600"/>
                    <a:pt x="0" y="473075"/>
                    <a:pt x="0" y="304800"/>
                  </a:cubicBezTo>
                  <a:close/>
                </a:path>
              </a:pathLst>
            </a:custGeom>
            <a:solidFill>
              <a:srgbClr val="0B5E6E"/>
            </a:solidFill>
          </p:spPr>
          <p:txBody>
            <a:bodyPr/>
            <a:p/>
          </p:txBody>
        </p:sp>
      </p:grpSp>
      <p:grpSp>
        <p:nvGrpSpPr>
          <p:cNvPr name="Group 80" id="80"/>
          <p:cNvGrpSpPr/>
          <p:nvPr/>
        </p:nvGrpSpPr>
        <p:grpSpPr>
          <a:xfrm rot="0">
            <a:off x="1005840" y="3517297"/>
            <a:ext cx="457200" cy="478631"/>
            <a:chOff x="0" y="0"/>
            <a:chExt cx="609600" cy="638175"/>
          </a:xfrm>
        </p:grpSpPr>
        <p:sp>
          <p:nvSpPr>
            <p:cNvPr name="Freeform 81" id="81"/>
            <p:cNvSpPr/>
            <p:nvPr/>
          </p:nvSpPr>
          <p:spPr>
            <a:xfrm flipH="false" flipV="false" rot="0">
              <a:off x="0" y="0"/>
              <a:ext cx="609600" cy="638175"/>
            </a:xfrm>
            <a:custGeom>
              <a:avLst/>
              <a:gdLst/>
              <a:ahLst/>
              <a:cxnLst/>
              <a:rect r="r" b="b" t="t" l="l"/>
              <a:pathLst>
                <a:path h="638175" w="609600">
                  <a:moveTo>
                    <a:pt x="0" y="0"/>
                  </a:moveTo>
                  <a:lnTo>
                    <a:pt x="609600" y="0"/>
                  </a:lnTo>
                  <a:lnTo>
                    <a:pt x="609600" y="638175"/>
                  </a:lnTo>
                  <a:lnTo>
                    <a:pt x="0" y="638175"/>
                  </a:lnTo>
                  <a:close/>
                </a:path>
              </a:pathLst>
            </a:custGeom>
            <a:blipFill>
              <a:blip r:embed="rId6">
                <a:alphaModFix amt="0"/>
              </a:blip>
              <a:stretch>
                <a:fillRect l="-84317" t="0" r="-84317" b="0"/>
              </a:stretch>
            </a:blipFill>
          </p:spPr>
          <p:txBody>
            <a:bodyPr/>
            <a:p/>
          </p:txBody>
        </p:sp>
        <p:sp>
          <p:nvSpPr>
            <p:cNvPr name="TextBox 82" id="82"/>
            <p:cNvSpPr txBox="true"/>
            <p:nvPr/>
          </p:nvSpPr>
          <p:spPr>
            <a:xfrm>
              <a:off x="0" y="-28575"/>
              <a:ext cx="609600" cy="666750"/>
            </a:xfrm>
            <a:prstGeom prst="rect">
              <a:avLst/>
            </a:prstGeom>
          </p:spPr>
          <p:txBody>
            <a:bodyPr anchor="ctr" rtlCol="false" tIns="0" lIns="0" bIns="0" rIns="0"/>
            <a:lstStyle/>
            <a:p>
              <a:pPr algn="ctr">
                <a:lnSpc>
                  <a:spcPts val="1680"/>
                </a:lnSpc>
              </a:pPr>
              <a:r>
                <a:rPr lang="en-US" sz="1400" b="true">
                  <a:solidFill>
                    <a:srgbClr val="FFFFFF"/>
                  </a:solidFill>
                  <a:latin typeface="Calibri (MS) Bold"/>
                  <a:ea typeface="Calibri (MS) Bold"/>
                  <a:cs typeface="Calibri (MS) Bold"/>
                  <a:sym typeface="Calibri (MS) Bold"/>
                </a:rPr>
                <a:t>2</a:t>
              </a:r>
            </a:p>
          </p:txBody>
        </p:sp>
      </p:grpSp>
      <p:sp>
        <p:nvSpPr>
          <p:cNvPr name="TextBox 83" id="83"/>
          <p:cNvSpPr txBox="true"/>
          <p:nvPr/>
        </p:nvSpPr>
        <p:spPr>
          <a:xfrm rot="0">
            <a:off x="1600200" y="3387852"/>
            <a:ext cx="7269480" cy="48006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Rentang berdasar</a:t>
            </a:r>
          </a:p>
        </p:txBody>
      </p:sp>
      <p:sp>
        <p:nvSpPr>
          <p:cNvPr name="TextBox 84" id="84"/>
          <p:cNvSpPr txBox="true"/>
          <p:nvPr/>
        </p:nvSpPr>
        <p:spPr>
          <a:xfrm rot="0">
            <a:off x="1600200" y="3736086"/>
            <a:ext cx="7269480" cy="552450"/>
          </a:xfrm>
          <a:prstGeom prst="rect">
            <a:avLst/>
          </a:prstGeom>
        </p:spPr>
        <p:txBody>
          <a:bodyPr anchor="t" rtlCol="false" tIns="0" lIns="0" bIns="0" rIns="0">
            <a:spAutoFit/>
          </a:bodyPr>
          <a:lstStyle/>
          <a:p>
            <a:pPr algn="l">
              <a:lnSpc>
                <a:spcPts val="1881"/>
              </a:lnSpc>
            </a:pPr>
            <a:r>
              <a:rPr lang="en-US" sz="1400">
                <a:solidFill>
                  <a:srgbClr val="14313B"/>
                </a:solidFill>
                <a:latin typeface="Calibri (MS)"/>
                <a:ea typeface="Calibri (MS)"/>
                <a:cs typeface="Calibri (MS)"/>
                <a:sym typeface="Calibri (MS)"/>
              </a:rPr>
              <a:t>Dari beberapa rujukan, atau selang kepercayaan 95% tren log-linear:</a:t>
            </a:r>
          </a:p>
        </p:txBody>
      </p:sp>
      <p:sp>
        <p:nvSpPr>
          <p:cNvPr name="TextBox 85" id="85"/>
          <p:cNvSpPr txBox="true"/>
          <p:nvPr/>
        </p:nvSpPr>
        <p:spPr>
          <a:xfrm rot="0">
            <a:off x="1600200" y="4231386"/>
            <a:ext cx="7269480" cy="404622"/>
          </a:xfrm>
          <a:prstGeom prst="rect">
            <a:avLst/>
          </a:prstGeom>
        </p:spPr>
        <p:txBody>
          <a:bodyPr anchor="t" rtlCol="false" tIns="0" lIns="0" bIns="0" rIns="0">
            <a:spAutoFit/>
          </a:bodyPr>
          <a:lstStyle/>
          <a:p>
            <a:pPr algn="l">
              <a:lnSpc>
                <a:spcPts val="2149"/>
              </a:lnSpc>
            </a:pPr>
            <a:r>
              <a:rPr lang="en-US" sz="1599" i="true">
                <a:solidFill>
                  <a:srgbClr val="14313B"/>
                </a:solidFill>
                <a:latin typeface="Cambria Italics"/>
                <a:ea typeface="Cambria Italics"/>
                <a:cs typeface="Cambria Italics"/>
                <a:sym typeface="Cambria Italics"/>
              </a:rPr>
              <a:t>k = (e^β₁ − 1) / R̄ ;  [k_L, k_U] = (e^(β₁ ∓ t*·se(β₁)) − 1) / R̄</a:t>
            </a:r>
          </a:p>
        </p:txBody>
      </p:sp>
      <p:grpSp>
        <p:nvGrpSpPr>
          <p:cNvPr name="Group 86" id="86"/>
          <p:cNvGrpSpPr/>
          <p:nvPr/>
        </p:nvGrpSpPr>
        <p:grpSpPr>
          <a:xfrm rot="0">
            <a:off x="822960" y="4782312"/>
            <a:ext cx="8229600" cy="1024128"/>
            <a:chOff x="0" y="0"/>
            <a:chExt cx="10972800" cy="1365504"/>
          </a:xfrm>
        </p:grpSpPr>
        <p:sp>
          <p:nvSpPr>
            <p:cNvPr name="Freeform 87" id="87"/>
            <p:cNvSpPr/>
            <p:nvPr/>
          </p:nvSpPr>
          <p:spPr>
            <a:xfrm flipH="false" flipV="false" rot="0">
              <a:off x="0" y="0"/>
              <a:ext cx="10972800" cy="1365504"/>
            </a:xfrm>
            <a:custGeom>
              <a:avLst/>
              <a:gdLst/>
              <a:ahLst/>
              <a:cxnLst/>
              <a:rect r="r" b="b" t="t" l="l"/>
              <a:pathLst>
                <a:path h="1365504" w="10972800">
                  <a:moveTo>
                    <a:pt x="0" y="121920"/>
                  </a:moveTo>
                  <a:cubicBezTo>
                    <a:pt x="0" y="54610"/>
                    <a:pt x="54610" y="0"/>
                    <a:pt x="121920" y="0"/>
                  </a:cubicBezTo>
                  <a:lnTo>
                    <a:pt x="10850880" y="0"/>
                  </a:lnTo>
                  <a:cubicBezTo>
                    <a:pt x="10918190" y="0"/>
                    <a:pt x="10972800" y="54610"/>
                    <a:pt x="10972800" y="121920"/>
                  </a:cubicBezTo>
                  <a:lnTo>
                    <a:pt x="10972800" y="1243584"/>
                  </a:lnTo>
                  <a:cubicBezTo>
                    <a:pt x="10972800" y="1310894"/>
                    <a:pt x="10918190" y="1365504"/>
                    <a:pt x="10850880" y="1365504"/>
                  </a:cubicBezTo>
                  <a:lnTo>
                    <a:pt x="121920" y="1365504"/>
                  </a:lnTo>
                  <a:cubicBezTo>
                    <a:pt x="54610" y="1365504"/>
                    <a:pt x="0" y="1310894"/>
                    <a:pt x="0" y="1243584"/>
                  </a:cubicBezTo>
                  <a:close/>
                </a:path>
              </a:pathLst>
            </a:custGeom>
            <a:solidFill>
              <a:srgbClr val="EAF8FA"/>
            </a:solidFill>
          </p:spPr>
          <p:txBody>
            <a:bodyPr/>
            <a:p/>
          </p:txBody>
        </p:sp>
      </p:grpSp>
      <p:grpSp>
        <p:nvGrpSpPr>
          <p:cNvPr name="Group 88" id="88"/>
          <p:cNvGrpSpPr/>
          <p:nvPr/>
        </p:nvGrpSpPr>
        <p:grpSpPr>
          <a:xfrm rot="0">
            <a:off x="1005840" y="4946904"/>
            <a:ext cx="457200" cy="457200"/>
            <a:chOff x="0" y="0"/>
            <a:chExt cx="609600" cy="609600"/>
          </a:xfrm>
        </p:grpSpPr>
        <p:sp>
          <p:nvSpPr>
            <p:cNvPr name="Freeform 89" id="89"/>
            <p:cNvSpPr/>
            <p:nvPr/>
          </p:nvSpPr>
          <p:spPr>
            <a:xfrm flipH="false" flipV="false" rot="0">
              <a:off x="0" y="0"/>
              <a:ext cx="609600" cy="609600"/>
            </a:xfrm>
            <a:custGeom>
              <a:avLst/>
              <a:gdLst/>
              <a:ahLst/>
              <a:cxnLst/>
              <a:rect r="r" b="b" t="t" l="l"/>
              <a:pathLst>
                <a:path h="609600" w="609600">
                  <a:moveTo>
                    <a:pt x="0" y="304800"/>
                  </a:moveTo>
                  <a:cubicBezTo>
                    <a:pt x="0" y="136525"/>
                    <a:pt x="136525" y="0"/>
                    <a:pt x="304800" y="0"/>
                  </a:cubicBezTo>
                  <a:cubicBezTo>
                    <a:pt x="473075" y="0"/>
                    <a:pt x="609600" y="136525"/>
                    <a:pt x="609600" y="304800"/>
                  </a:cubicBezTo>
                  <a:cubicBezTo>
                    <a:pt x="609600" y="473075"/>
                    <a:pt x="473075" y="609600"/>
                    <a:pt x="304800" y="609600"/>
                  </a:cubicBezTo>
                  <a:cubicBezTo>
                    <a:pt x="136525" y="609600"/>
                    <a:pt x="0" y="473075"/>
                    <a:pt x="0" y="304800"/>
                  </a:cubicBezTo>
                  <a:close/>
                </a:path>
              </a:pathLst>
            </a:custGeom>
            <a:solidFill>
              <a:srgbClr val="0B5E6E"/>
            </a:solidFill>
          </p:spPr>
          <p:txBody>
            <a:bodyPr/>
            <a:p/>
          </p:txBody>
        </p:sp>
      </p:grpSp>
      <p:grpSp>
        <p:nvGrpSpPr>
          <p:cNvPr name="Group 90" id="90"/>
          <p:cNvGrpSpPr/>
          <p:nvPr/>
        </p:nvGrpSpPr>
        <p:grpSpPr>
          <a:xfrm rot="0">
            <a:off x="1005840" y="4925473"/>
            <a:ext cx="457200" cy="478631"/>
            <a:chOff x="0" y="0"/>
            <a:chExt cx="609600" cy="638175"/>
          </a:xfrm>
        </p:grpSpPr>
        <p:sp>
          <p:nvSpPr>
            <p:cNvPr name="Freeform 91" id="91"/>
            <p:cNvSpPr/>
            <p:nvPr/>
          </p:nvSpPr>
          <p:spPr>
            <a:xfrm flipH="false" flipV="false" rot="0">
              <a:off x="0" y="0"/>
              <a:ext cx="609600" cy="638175"/>
            </a:xfrm>
            <a:custGeom>
              <a:avLst/>
              <a:gdLst/>
              <a:ahLst/>
              <a:cxnLst/>
              <a:rect r="r" b="b" t="t" l="l"/>
              <a:pathLst>
                <a:path h="638175" w="609600">
                  <a:moveTo>
                    <a:pt x="0" y="0"/>
                  </a:moveTo>
                  <a:lnTo>
                    <a:pt x="609600" y="0"/>
                  </a:lnTo>
                  <a:lnTo>
                    <a:pt x="609600" y="638175"/>
                  </a:lnTo>
                  <a:lnTo>
                    <a:pt x="0" y="638175"/>
                  </a:lnTo>
                  <a:close/>
                </a:path>
              </a:pathLst>
            </a:custGeom>
            <a:blipFill>
              <a:blip r:embed="rId6">
                <a:alphaModFix amt="0"/>
              </a:blip>
              <a:stretch>
                <a:fillRect l="-84317" t="0" r="-84317" b="0"/>
              </a:stretch>
            </a:blipFill>
          </p:spPr>
          <p:txBody>
            <a:bodyPr/>
            <a:p/>
          </p:txBody>
        </p:sp>
        <p:sp>
          <p:nvSpPr>
            <p:cNvPr name="TextBox 92" id="92"/>
            <p:cNvSpPr txBox="true"/>
            <p:nvPr/>
          </p:nvSpPr>
          <p:spPr>
            <a:xfrm>
              <a:off x="0" y="-28575"/>
              <a:ext cx="609600" cy="666750"/>
            </a:xfrm>
            <a:prstGeom prst="rect">
              <a:avLst/>
            </a:prstGeom>
          </p:spPr>
          <p:txBody>
            <a:bodyPr anchor="ctr" rtlCol="false" tIns="0" lIns="0" bIns="0" rIns="0"/>
            <a:lstStyle/>
            <a:p>
              <a:pPr algn="ctr">
                <a:lnSpc>
                  <a:spcPts val="1680"/>
                </a:lnSpc>
              </a:pPr>
              <a:r>
                <a:rPr lang="en-US" sz="1400" b="true">
                  <a:solidFill>
                    <a:srgbClr val="FFFFFF"/>
                  </a:solidFill>
                  <a:latin typeface="Calibri (MS) Bold"/>
                  <a:ea typeface="Calibri (MS) Bold"/>
                  <a:cs typeface="Calibri (MS) Bold"/>
                  <a:sym typeface="Calibri (MS) Bold"/>
                </a:rPr>
                <a:t>3</a:t>
              </a:r>
            </a:p>
          </p:txBody>
        </p:sp>
      </p:grpSp>
      <p:sp>
        <p:nvSpPr>
          <p:cNvPr name="TextBox 93" id="93"/>
          <p:cNvSpPr txBox="true"/>
          <p:nvPr/>
        </p:nvSpPr>
        <p:spPr>
          <a:xfrm rot="0">
            <a:off x="1600200" y="4796028"/>
            <a:ext cx="7269480" cy="48006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Parameter yang saling terkait dihitung ulang</a:t>
            </a:r>
          </a:p>
        </p:txBody>
      </p:sp>
      <p:sp>
        <p:nvSpPr>
          <p:cNvPr name="TextBox 94" id="94"/>
          <p:cNvSpPr txBox="true"/>
          <p:nvPr/>
        </p:nvSpPr>
        <p:spPr>
          <a:xfrm rot="0">
            <a:off x="1600200" y="5144262"/>
            <a:ext cx="7269480" cy="552450"/>
          </a:xfrm>
          <a:prstGeom prst="rect">
            <a:avLst/>
          </a:prstGeom>
        </p:spPr>
        <p:txBody>
          <a:bodyPr anchor="t" rtlCol="false" tIns="0" lIns="0" bIns="0" rIns="0">
            <a:spAutoFit/>
          </a:bodyPr>
          <a:lstStyle/>
          <a:p>
            <a:pPr algn="l">
              <a:lnSpc>
                <a:spcPts val="1881"/>
              </a:lnSpc>
            </a:pPr>
            <a:r>
              <a:rPr lang="en-US" sz="1400">
                <a:solidFill>
                  <a:srgbClr val="14313B"/>
                </a:solidFill>
                <a:latin typeface="Calibri (MS)"/>
                <a:ea typeface="Calibri (MS)"/>
                <a:cs typeface="Calibri (MS)"/>
                <a:sym typeface="Calibri (MS)"/>
              </a:rPr>
              <a:t>Pada setiap nilai yang dicoba, dihitung ulang dengan persamaan stok-aliran agar tetap sesuai data historis.</a:t>
            </a:r>
          </a:p>
        </p:txBody>
      </p:sp>
      <p:grpSp>
        <p:nvGrpSpPr>
          <p:cNvPr name="Group 95" id="95"/>
          <p:cNvGrpSpPr/>
          <p:nvPr/>
        </p:nvGrpSpPr>
        <p:grpSpPr>
          <a:xfrm rot="0">
            <a:off x="822960" y="5916168"/>
            <a:ext cx="8229600" cy="1298448"/>
            <a:chOff x="0" y="0"/>
            <a:chExt cx="10972800" cy="1731264"/>
          </a:xfrm>
        </p:grpSpPr>
        <p:sp>
          <p:nvSpPr>
            <p:cNvPr name="Freeform 96" id="96"/>
            <p:cNvSpPr/>
            <p:nvPr/>
          </p:nvSpPr>
          <p:spPr>
            <a:xfrm flipH="false" flipV="false" rot="0">
              <a:off x="0" y="0"/>
              <a:ext cx="10972800" cy="1731264"/>
            </a:xfrm>
            <a:custGeom>
              <a:avLst/>
              <a:gdLst/>
              <a:ahLst/>
              <a:cxnLst/>
              <a:rect r="r" b="b" t="t" l="l"/>
              <a:pathLst>
                <a:path h="1731264" w="10972800">
                  <a:moveTo>
                    <a:pt x="0" y="121920"/>
                  </a:moveTo>
                  <a:cubicBezTo>
                    <a:pt x="0" y="54610"/>
                    <a:pt x="54610" y="0"/>
                    <a:pt x="121920" y="0"/>
                  </a:cubicBezTo>
                  <a:lnTo>
                    <a:pt x="10850880" y="0"/>
                  </a:lnTo>
                  <a:cubicBezTo>
                    <a:pt x="10918190" y="0"/>
                    <a:pt x="10972800" y="54610"/>
                    <a:pt x="10972800" y="121920"/>
                  </a:cubicBezTo>
                  <a:lnTo>
                    <a:pt x="10972800" y="1609344"/>
                  </a:lnTo>
                  <a:cubicBezTo>
                    <a:pt x="10972800" y="1676654"/>
                    <a:pt x="10918190" y="1731264"/>
                    <a:pt x="10850880" y="1731264"/>
                  </a:cubicBezTo>
                  <a:lnTo>
                    <a:pt x="121920" y="1731264"/>
                  </a:lnTo>
                  <a:cubicBezTo>
                    <a:pt x="54610" y="1731264"/>
                    <a:pt x="0" y="1676654"/>
                    <a:pt x="0" y="1609344"/>
                  </a:cubicBezTo>
                  <a:close/>
                </a:path>
              </a:pathLst>
            </a:custGeom>
            <a:solidFill>
              <a:srgbClr val="EAF8FA"/>
            </a:solidFill>
          </p:spPr>
          <p:txBody>
            <a:bodyPr/>
            <a:p/>
          </p:txBody>
        </p:sp>
      </p:grpSp>
      <p:grpSp>
        <p:nvGrpSpPr>
          <p:cNvPr name="Group 97" id="97"/>
          <p:cNvGrpSpPr/>
          <p:nvPr/>
        </p:nvGrpSpPr>
        <p:grpSpPr>
          <a:xfrm rot="0">
            <a:off x="1005840" y="6080760"/>
            <a:ext cx="457200" cy="457200"/>
            <a:chOff x="0" y="0"/>
            <a:chExt cx="609600" cy="609600"/>
          </a:xfrm>
        </p:grpSpPr>
        <p:sp>
          <p:nvSpPr>
            <p:cNvPr name="Freeform 98" id="98"/>
            <p:cNvSpPr/>
            <p:nvPr/>
          </p:nvSpPr>
          <p:spPr>
            <a:xfrm flipH="false" flipV="false" rot="0">
              <a:off x="0" y="0"/>
              <a:ext cx="609600" cy="609600"/>
            </a:xfrm>
            <a:custGeom>
              <a:avLst/>
              <a:gdLst/>
              <a:ahLst/>
              <a:cxnLst/>
              <a:rect r="r" b="b" t="t" l="l"/>
              <a:pathLst>
                <a:path h="609600" w="609600">
                  <a:moveTo>
                    <a:pt x="0" y="304800"/>
                  </a:moveTo>
                  <a:cubicBezTo>
                    <a:pt x="0" y="136525"/>
                    <a:pt x="136525" y="0"/>
                    <a:pt x="304800" y="0"/>
                  </a:cubicBezTo>
                  <a:cubicBezTo>
                    <a:pt x="473075" y="0"/>
                    <a:pt x="609600" y="136525"/>
                    <a:pt x="609600" y="304800"/>
                  </a:cubicBezTo>
                  <a:cubicBezTo>
                    <a:pt x="609600" y="473075"/>
                    <a:pt x="473075" y="609600"/>
                    <a:pt x="304800" y="609600"/>
                  </a:cubicBezTo>
                  <a:cubicBezTo>
                    <a:pt x="136525" y="609600"/>
                    <a:pt x="0" y="473075"/>
                    <a:pt x="0" y="304800"/>
                  </a:cubicBezTo>
                  <a:close/>
                </a:path>
              </a:pathLst>
            </a:custGeom>
            <a:solidFill>
              <a:srgbClr val="0B5E6E"/>
            </a:solidFill>
          </p:spPr>
          <p:txBody>
            <a:bodyPr/>
            <a:p/>
          </p:txBody>
        </p:sp>
      </p:grpSp>
      <p:grpSp>
        <p:nvGrpSpPr>
          <p:cNvPr name="Group 99" id="99"/>
          <p:cNvGrpSpPr/>
          <p:nvPr/>
        </p:nvGrpSpPr>
        <p:grpSpPr>
          <a:xfrm rot="0">
            <a:off x="1005840" y="6059329"/>
            <a:ext cx="457200" cy="478631"/>
            <a:chOff x="0" y="0"/>
            <a:chExt cx="609600" cy="638175"/>
          </a:xfrm>
        </p:grpSpPr>
        <p:sp>
          <p:nvSpPr>
            <p:cNvPr name="Freeform 100" id="100"/>
            <p:cNvSpPr/>
            <p:nvPr/>
          </p:nvSpPr>
          <p:spPr>
            <a:xfrm flipH="false" flipV="false" rot="0">
              <a:off x="0" y="0"/>
              <a:ext cx="609600" cy="638175"/>
            </a:xfrm>
            <a:custGeom>
              <a:avLst/>
              <a:gdLst/>
              <a:ahLst/>
              <a:cxnLst/>
              <a:rect r="r" b="b" t="t" l="l"/>
              <a:pathLst>
                <a:path h="638175" w="609600">
                  <a:moveTo>
                    <a:pt x="0" y="0"/>
                  </a:moveTo>
                  <a:lnTo>
                    <a:pt x="609600" y="0"/>
                  </a:lnTo>
                  <a:lnTo>
                    <a:pt x="609600" y="638175"/>
                  </a:lnTo>
                  <a:lnTo>
                    <a:pt x="0" y="638175"/>
                  </a:lnTo>
                  <a:close/>
                </a:path>
              </a:pathLst>
            </a:custGeom>
            <a:blipFill>
              <a:blip r:embed="rId6">
                <a:alphaModFix amt="0"/>
              </a:blip>
              <a:stretch>
                <a:fillRect l="-84317" t="0" r="-84317" b="0"/>
              </a:stretch>
            </a:blipFill>
          </p:spPr>
          <p:txBody>
            <a:bodyPr/>
            <a:p/>
          </p:txBody>
        </p:sp>
        <p:sp>
          <p:nvSpPr>
            <p:cNvPr name="TextBox 101" id="101"/>
            <p:cNvSpPr txBox="true"/>
            <p:nvPr/>
          </p:nvSpPr>
          <p:spPr>
            <a:xfrm>
              <a:off x="0" y="-28575"/>
              <a:ext cx="609600" cy="666750"/>
            </a:xfrm>
            <a:prstGeom prst="rect">
              <a:avLst/>
            </a:prstGeom>
          </p:spPr>
          <p:txBody>
            <a:bodyPr anchor="ctr" rtlCol="false" tIns="0" lIns="0" bIns="0" rIns="0"/>
            <a:lstStyle/>
            <a:p>
              <a:pPr algn="ctr">
                <a:lnSpc>
                  <a:spcPts val="1680"/>
                </a:lnSpc>
              </a:pPr>
              <a:r>
                <a:rPr lang="en-US" sz="1400" b="true">
                  <a:solidFill>
                    <a:srgbClr val="FFFFFF"/>
                  </a:solidFill>
                  <a:latin typeface="Calibri (MS) Bold"/>
                  <a:ea typeface="Calibri (MS) Bold"/>
                  <a:cs typeface="Calibri (MS) Bold"/>
                  <a:sym typeface="Calibri (MS) Bold"/>
                </a:rPr>
                <a:t>4</a:t>
              </a:r>
            </a:p>
          </p:txBody>
        </p:sp>
      </p:grpSp>
      <p:sp>
        <p:nvSpPr>
          <p:cNvPr name="TextBox 102" id="102"/>
          <p:cNvSpPr txBox="true"/>
          <p:nvPr/>
        </p:nvSpPr>
        <p:spPr>
          <a:xfrm rot="0">
            <a:off x="1600200" y="5929884"/>
            <a:ext cx="7269480" cy="48006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Fungsi tujuan</a:t>
            </a:r>
          </a:p>
        </p:txBody>
      </p:sp>
      <p:sp>
        <p:nvSpPr>
          <p:cNvPr name="TextBox 103" id="103"/>
          <p:cNvSpPr txBox="true"/>
          <p:nvPr/>
        </p:nvSpPr>
        <p:spPr>
          <a:xfrm rot="0">
            <a:off x="1600200" y="6278118"/>
            <a:ext cx="7269480" cy="552450"/>
          </a:xfrm>
          <a:prstGeom prst="rect">
            <a:avLst/>
          </a:prstGeom>
        </p:spPr>
        <p:txBody>
          <a:bodyPr anchor="t" rtlCol="false" tIns="0" lIns="0" bIns="0" rIns="0">
            <a:spAutoFit/>
          </a:bodyPr>
          <a:lstStyle/>
          <a:p>
            <a:pPr algn="l">
              <a:lnSpc>
                <a:spcPts val="1881"/>
              </a:lnSpc>
            </a:pPr>
            <a:r>
              <a:rPr lang="en-US" sz="1400">
                <a:solidFill>
                  <a:srgbClr val="14313B"/>
                </a:solidFill>
                <a:latin typeface="Calibri (MS)"/>
                <a:ea typeface="Calibri (MS)"/>
                <a:cs typeface="Calibri (MS)"/>
                <a:sym typeface="Calibri (MS)"/>
              </a:rPr>
              <a:t>NRMSE (sejalan dengan dekomposisi U1–U3); MAPE sebagai pelengkap.</a:t>
            </a:r>
          </a:p>
        </p:txBody>
      </p:sp>
      <p:sp>
        <p:nvSpPr>
          <p:cNvPr name="TextBox 104" id="104"/>
          <p:cNvSpPr txBox="true"/>
          <p:nvPr/>
        </p:nvSpPr>
        <p:spPr>
          <a:xfrm rot="0">
            <a:off x="1600200" y="6773418"/>
            <a:ext cx="7269480" cy="404622"/>
          </a:xfrm>
          <a:prstGeom prst="rect">
            <a:avLst/>
          </a:prstGeom>
        </p:spPr>
        <p:txBody>
          <a:bodyPr anchor="t" rtlCol="false" tIns="0" lIns="0" bIns="0" rIns="0">
            <a:spAutoFit/>
          </a:bodyPr>
          <a:lstStyle/>
          <a:p>
            <a:pPr algn="l">
              <a:lnSpc>
                <a:spcPts val="2149"/>
              </a:lnSpc>
            </a:pPr>
            <a:r>
              <a:rPr lang="en-US" sz="1599" i="true">
                <a:solidFill>
                  <a:srgbClr val="14313B"/>
                </a:solidFill>
                <a:latin typeface="Cambria Italics"/>
                <a:ea typeface="Cambria Italics"/>
                <a:cs typeface="Cambria Italics"/>
                <a:sym typeface="Cambria Italics"/>
              </a:rPr>
              <a:t>J = NRMSE = √[(1/n) Σₜ (Sₜ − Aₜ)²] / Ā</a:t>
            </a:r>
          </a:p>
        </p:txBody>
      </p:sp>
      <p:grpSp>
        <p:nvGrpSpPr>
          <p:cNvPr name="Group 105" id="105"/>
          <p:cNvGrpSpPr/>
          <p:nvPr/>
        </p:nvGrpSpPr>
        <p:grpSpPr>
          <a:xfrm rot="0">
            <a:off x="822960" y="7324344"/>
            <a:ext cx="8229600" cy="1298448"/>
            <a:chOff x="0" y="0"/>
            <a:chExt cx="10972800" cy="1731264"/>
          </a:xfrm>
        </p:grpSpPr>
        <p:sp>
          <p:nvSpPr>
            <p:cNvPr name="Freeform 106" id="106"/>
            <p:cNvSpPr/>
            <p:nvPr/>
          </p:nvSpPr>
          <p:spPr>
            <a:xfrm flipH="false" flipV="false" rot="0">
              <a:off x="0" y="0"/>
              <a:ext cx="10972800" cy="1731264"/>
            </a:xfrm>
            <a:custGeom>
              <a:avLst/>
              <a:gdLst/>
              <a:ahLst/>
              <a:cxnLst/>
              <a:rect r="r" b="b" t="t" l="l"/>
              <a:pathLst>
                <a:path h="1731264" w="10972800">
                  <a:moveTo>
                    <a:pt x="0" y="121920"/>
                  </a:moveTo>
                  <a:cubicBezTo>
                    <a:pt x="0" y="54610"/>
                    <a:pt x="54610" y="0"/>
                    <a:pt x="121920" y="0"/>
                  </a:cubicBezTo>
                  <a:lnTo>
                    <a:pt x="10850880" y="0"/>
                  </a:lnTo>
                  <a:cubicBezTo>
                    <a:pt x="10918190" y="0"/>
                    <a:pt x="10972800" y="54610"/>
                    <a:pt x="10972800" y="121920"/>
                  </a:cubicBezTo>
                  <a:lnTo>
                    <a:pt x="10972800" y="1609344"/>
                  </a:lnTo>
                  <a:cubicBezTo>
                    <a:pt x="10972800" y="1676654"/>
                    <a:pt x="10918190" y="1731264"/>
                    <a:pt x="10850880" y="1731264"/>
                  </a:cubicBezTo>
                  <a:lnTo>
                    <a:pt x="121920" y="1731264"/>
                  </a:lnTo>
                  <a:cubicBezTo>
                    <a:pt x="54610" y="1731264"/>
                    <a:pt x="0" y="1676654"/>
                    <a:pt x="0" y="1609344"/>
                  </a:cubicBezTo>
                  <a:close/>
                </a:path>
              </a:pathLst>
            </a:custGeom>
            <a:solidFill>
              <a:srgbClr val="EAF8FA"/>
            </a:solidFill>
          </p:spPr>
          <p:txBody>
            <a:bodyPr/>
            <a:p/>
          </p:txBody>
        </p:sp>
      </p:grpSp>
      <p:grpSp>
        <p:nvGrpSpPr>
          <p:cNvPr name="Group 107" id="107"/>
          <p:cNvGrpSpPr/>
          <p:nvPr/>
        </p:nvGrpSpPr>
        <p:grpSpPr>
          <a:xfrm rot="0">
            <a:off x="1005840" y="7488936"/>
            <a:ext cx="457200" cy="457200"/>
            <a:chOff x="0" y="0"/>
            <a:chExt cx="609600" cy="609600"/>
          </a:xfrm>
        </p:grpSpPr>
        <p:sp>
          <p:nvSpPr>
            <p:cNvPr name="Freeform 108" id="108"/>
            <p:cNvSpPr/>
            <p:nvPr/>
          </p:nvSpPr>
          <p:spPr>
            <a:xfrm flipH="false" flipV="false" rot="0">
              <a:off x="0" y="0"/>
              <a:ext cx="609600" cy="609600"/>
            </a:xfrm>
            <a:custGeom>
              <a:avLst/>
              <a:gdLst/>
              <a:ahLst/>
              <a:cxnLst/>
              <a:rect r="r" b="b" t="t" l="l"/>
              <a:pathLst>
                <a:path h="609600" w="609600">
                  <a:moveTo>
                    <a:pt x="0" y="304800"/>
                  </a:moveTo>
                  <a:cubicBezTo>
                    <a:pt x="0" y="136525"/>
                    <a:pt x="136525" y="0"/>
                    <a:pt x="304800" y="0"/>
                  </a:cubicBezTo>
                  <a:cubicBezTo>
                    <a:pt x="473075" y="0"/>
                    <a:pt x="609600" y="136525"/>
                    <a:pt x="609600" y="304800"/>
                  </a:cubicBezTo>
                  <a:cubicBezTo>
                    <a:pt x="609600" y="473075"/>
                    <a:pt x="473075" y="609600"/>
                    <a:pt x="304800" y="609600"/>
                  </a:cubicBezTo>
                  <a:cubicBezTo>
                    <a:pt x="136525" y="609600"/>
                    <a:pt x="0" y="473075"/>
                    <a:pt x="0" y="304800"/>
                  </a:cubicBezTo>
                  <a:close/>
                </a:path>
              </a:pathLst>
            </a:custGeom>
            <a:solidFill>
              <a:srgbClr val="0B5E6E"/>
            </a:solidFill>
          </p:spPr>
          <p:txBody>
            <a:bodyPr/>
            <a:p/>
          </p:txBody>
        </p:sp>
      </p:grpSp>
      <p:grpSp>
        <p:nvGrpSpPr>
          <p:cNvPr name="Group 109" id="109"/>
          <p:cNvGrpSpPr/>
          <p:nvPr/>
        </p:nvGrpSpPr>
        <p:grpSpPr>
          <a:xfrm rot="0">
            <a:off x="1005840" y="7467505"/>
            <a:ext cx="457200" cy="478631"/>
            <a:chOff x="0" y="0"/>
            <a:chExt cx="609600" cy="638175"/>
          </a:xfrm>
        </p:grpSpPr>
        <p:sp>
          <p:nvSpPr>
            <p:cNvPr name="Freeform 110" id="110"/>
            <p:cNvSpPr/>
            <p:nvPr/>
          </p:nvSpPr>
          <p:spPr>
            <a:xfrm flipH="false" flipV="false" rot="0">
              <a:off x="0" y="0"/>
              <a:ext cx="609600" cy="638175"/>
            </a:xfrm>
            <a:custGeom>
              <a:avLst/>
              <a:gdLst/>
              <a:ahLst/>
              <a:cxnLst/>
              <a:rect r="r" b="b" t="t" l="l"/>
              <a:pathLst>
                <a:path h="638175" w="609600">
                  <a:moveTo>
                    <a:pt x="0" y="0"/>
                  </a:moveTo>
                  <a:lnTo>
                    <a:pt x="609600" y="0"/>
                  </a:lnTo>
                  <a:lnTo>
                    <a:pt x="609600" y="638175"/>
                  </a:lnTo>
                  <a:lnTo>
                    <a:pt x="0" y="638175"/>
                  </a:lnTo>
                  <a:close/>
                </a:path>
              </a:pathLst>
            </a:custGeom>
            <a:blipFill>
              <a:blip r:embed="rId6">
                <a:alphaModFix amt="0"/>
              </a:blip>
              <a:stretch>
                <a:fillRect l="-84317" t="0" r="-84317" b="0"/>
              </a:stretch>
            </a:blipFill>
          </p:spPr>
          <p:txBody>
            <a:bodyPr/>
            <a:p/>
          </p:txBody>
        </p:sp>
        <p:sp>
          <p:nvSpPr>
            <p:cNvPr name="TextBox 111" id="111"/>
            <p:cNvSpPr txBox="true"/>
            <p:nvPr/>
          </p:nvSpPr>
          <p:spPr>
            <a:xfrm>
              <a:off x="0" y="-28575"/>
              <a:ext cx="609600" cy="666750"/>
            </a:xfrm>
            <a:prstGeom prst="rect">
              <a:avLst/>
            </a:prstGeom>
          </p:spPr>
          <p:txBody>
            <a:bodyPr anchor="ctr" rtlCol="false" tIns="0" lIns="0" bIns="0" rIns="0"/>
            <a:lstStyle/>
            <a:p>
              <a:pPr algn="ctr">
                <a:lnSpc>
                  <a:spcPts val="1680"/>
                </a:lnSpc>
              </a:pPr>
              <a:r>
                <a:rPr lang="en-US" sz="1400" b="true">
                  <a:solidFill>
                    <a:srgbClr val="FFFFFF"/>
                  </a:solidFill>
                  <a:latin typeface="Calibri (MS) Bold"/>
                  <a:ea typeface="Calibri (MS) Bold"/>
                  <a:cs typeface="Calibri (MS) Bold"/>
                  <a:sym typeface="Calibri (MS) Bold"/>
                </a:rPr>
                <a:t>5</a:t>
              </a:r>
            </a:p>
          </p:txBody>
        </p:sp>
      </p:grpSp>
      <p:sp>
        <p:nvSpPr>
          <p:cNvPr name="TextBox 112" id="112"/>
          <p:cNvSpPr txBox="true"/>
          <p:nvPr/>
        </p:nvSpPr>
        <p:spPr>
          <a:xfrm rot="0">
            <a:off x="1600200" y="7338060"/>
            <a:ext cx="7269480" cy="48006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Kumpulan nilai setara</a:t>
            </a:r>
          </a:p>
        </p:txBody>
      </p:sp>
      <p:sp>
        <p:nvSpPr>
          <p:cNvPr name="TextBox 113" id="113"/>
          <p:cNvSpPr txBox="true"/>
          <p:nvPr/>
        </p:nvSpPr>
        <p:spPr>
          <a:xfrm rot="0">
            <a:off x="1600200" y="7686294"/>
            <a:ext cx="7269480" cy="552450"/>
          </a:xfrm>
          <a:prstGeom prst="rect">
            <a:avLst/>
          </a:prstGeom>
        </p:spPr>
        <p:txBody>
          <a:bodyPr anchor="t" rtlCol="false" tIns="0" lIns="0" bIns="0" rIns="0">
            <a:spAutoFit/>
          </a:bodyPr>
          <a:lstStyle/>
          <a:p>
            <a:pPr algn="l">
              <a:lnSpc>
                <a:spcPts val="1881"/>
              </a:lnSpc>
            </a:pPr>
            <a:r>
              <a:rPr lang="en-US" sz="1400">
                <a:solidFill>
                  <a:srgbClr val="14313B"/>
                </a:solidFill>
                <a:latin typeface="Calibri (MS)"/>
                <a:ea typeface="Calibri (MS)"/>
                <a:cs typeface="Calibri (MS)"/>
                <a:sym typeface="Calibri (MS)"/>
              </a:rPr>
              <a:t>Titik yang tidak lebih buruk 5% dari minimum dianggap setara:</a:t>
            </a:r>
          </a:p>
        </p:txBody>
      </p:sp>
      <p:sp>
        <p:nvSpPr>
          <p:cNvPr name="TextBox 114" id="114"/>
          <p:cNvSpPr txBox="true"/>
          <p:nvPr/>
        </p:nvSpPr>
        <p:spPr>
          <a:xfrm rot="0">
            <a:off x="1600200" y="8181594"/>
            <a:ext cx="7269480" cy="404622"/>
          </a:xfrm>
          <a:prstGeom prst="rect">
            <a:avLst/>
          </a:prstGeom>
        </p:spPr>
        <p:txBody>
          <a:bodyPr anchor="t" rtlCol="false" tIns="0" lIns="0" bIns="0" rIns="0">
            <a:spAutoFit/>
          </a:bodyPr>
          <a:lstStyle/>
          <a:p>
            <a:pPr algn="l">
              <a:lnSpc>
                <a:spcPts val="2149"/>
              </a:lnSpc>
            </a:pPr>
            <a:r>
              <a:rPr lang="en-US" sz="1599" i="true">
                <a:solidFill>
                  <a:srgbClr val="14313B"/>
                </a:solidFill>
                <a:latin typeface="Cambria Italics"/>
                <a:ea typeface="Cambria Italics"/>
                <a:cs typeface="Cambria Italics"/>
                <a:sym typeface="Cambria Italics"/>
              </a:rPr>
              <a:t>I = { θ : J(θ) ≤ 1,05 × J_min }</a:t>
            </a:r>
          </a:p>
        </p:txBody>
      </p:sp>
      <p:graphicFrame>
        <p:nvGraphicFramePr>
          <p:cNvPr name="Table 115" id="115"/>
          <p:cNvGraphicFramePr>
            <a:graphicFrameLocks noGrp="true"/>
          </p:cNvGraphicFramePr>
          <p:nvPr/>
        </p:nvGraphicFramePr>
        <p:xfrm>
          <a:off x="9281160" y="2240280"/>
          <a:ext cx="8153400" cy="2514600"/>
        </p:xfrm>
        <a:graphic>
          <a:graphicData uri="http://schemas.openxmlformats.org/drawingml/2006/table">
            <a:tbl>
              <a:tblPr/>
              <a:tblGrid>
                <a:gridCol w="728795"/>
                <a:gridCol w="3006281"/>
                <a:gridCol w="4418324"/>
              </a:tblGrid>
              <a:tr h="428664">
                <a:tc>
                  <a:txBody>
                    <a:bodyPr anchor="t" rtlCol="false"/>
                    <a:lstStyle/>
                    <a:p>
                      <a:pPr algn="ctr">
                        <a:lnSpc>
                          <a:spcPts val="1680"/>
                        </a:lnSpc>
                        <a:defRPr/>
                      </a:pPr>
                      <a:r>
                        <a:rPr lang="en-US" sz="1400" b="true">
                          <a:solidFill>
                            <a:srgbClr val="FFFFFF"/>
                          </a:solidFill>
                          <a:latin typeface="Calibri (MS) Bold"/>
                          <a:ea typeface="Calibri (MS) Bold"/>
                          <a:cs typeface="Calibri (MS) Bold"/>
                          <a:sym typeface="Calibri (MS) Bold"/>
                        </a:rPr>
                        <a:t>Aturan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l">
                        <a:lnSpc>
                          <a:spcPts val="1680"/>
                        </a:lnSpc>
                        <a:defRPr/>
                      </a:pPr>
                      <a:r>
                        <a:rPr lang="en-US" sz="1400" b="true">
                          <a:solidFill>
                            <a:srgbClr val="FFFFFF"/>
                          </a:solidFill>
                          <a:latin typeface="Calibri (MS) Bold"/>
                          <a:ea typeface="Calibri (MS) Bold"/>
                          <a:cs typeface="Calibri (MS) Bold"/>
                          <a:sym typeface="Calibri (MS) Bold"/>
                        </a:rPr>
                        <a:t>Kondisi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l">
                        <a:lnSpc>
                          <a:spcPts val="1680"/>
                        </a:lnSpc>
                        <a:defRPr/>
                      </a:pPr>
                      <a:r>
                        <a:rPr lang="en-US" sz="1400" b="true">
                          <a:solidFill>
                            <a:srgbClr val="FFFFFF"/>
                          </a:solidFill>
                          <a:latin typeface="Calibri (MS) Bold"/>
                          <a:ea typeface="Calibri (MS) Bold"/>
                          <a:cs typeface="Calibri (MS) Bold"/>
                          <a:sym typeface="Calibri (MS) Bold"/>
                        </a:rPr>
                        <a:t>Keputusan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r>
              <a:tr h="521484">
                <a:tc>
                  <a:txBody>
                    <a:bodyPr anchor="t" rtlCol="false"/>
                    <a:lstStyle/>
                    <a:p>
                      <a:pPr algn="ctr">
                        <a:lnSpc>
                          <a:spcPts val="1680"/>
                        </a:lnSpc>
                        <a:defRPr/>
                      </a:pPr>
                      <a:r>
                        <a:rPr lang="en-US" sz="1400" b="true">
                          <a:solidFill>
                            <a:srgbClr val="14313B"/>
                          </a:solidFill>
                          <a:latin typeface="Calibri (MS) Bold"/>
                          <a:ea typeface="Calibri (MS) Bold"/>
                          <a:cs typeface="Calibri (MS) Bold"/>
                          <a:sym typeface="Calibri (MS) Bold"/>
                        </a:rPr>
                        <a:t>R1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Nilai dari data ∈ 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Perbaikan tidak material → nilai turunan dipertahankan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521484">
                <a:tc>
                  <a:txBody>
                    <a:bodyPr anchor="t" rtlCol="false"/>
                    <a:lstStyle/>
                    <a:p>
                      <a:pPr algn="ctr">
                        <a:lnSpc>
                          <a:spcPts val="1680"/>
                        </a:lnSpc>
                        <a:defRPr/>
                      </a:pPr>
                      <a:r>
                        <a:rPr lang="en-US" sz="1400" b="true">
                          <a:solidFill>
                            <a:srgbClr val="14313B"/>
                          </a:solidFill>
                          <a:latin typeface="Calibri (MS) Bold"/>
                          <a:ea typeface="Calibri (MS) Bold"/>
                          <a:cs typeface="Calibri (MS) Bold"/>
                          <a:sym typeface="Calibri (MS) Bold"/>
                        </a:rPr>
                        <a:t>R2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I menyentuh kedua ujung rentang</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Tidak bisa ditentukan → nilai dari data dipertahankan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521484">
                <a:tc>
                  <a:txBody>
                    <a:bodyPr anchor="t" rtlCol="false"/>
                    <a:lstStyle/>
                    <a:p>
                      <a:pPr algn="ctr">
                        <a:lnSpc>
                          <a:spcPts val="1680"/>
                        </a:lnSpc>
                        <a:defRPr/>
                      </a:pPr>
                      <a:r>
                        <a:rPr lang="en-US" sz="1400" b="true">
                          <a:solidFill>
                            <a:srgbClr val="14313B"/>
                          </a:solidFill>
                          <a:latin typeface="Calibri (MS) Bold"/>
                          <a:ea typeface="Calibri (MS) Bold"/>
                          <a:cs typeface="Calibri (MS) Bold"/>
                          <a:sym typeface="Calibri (MS) Bold"/>
                        </a:rPr>
                        <a:t>R3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Optimum tepat di batas rentang</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Diagnostik leave-one-year-out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521484">
                <a:tc>
                  <a:txBody>
                    <a:bodyPr anchor="t" rtlCol="false"/>
                    <a:lstStyle/>
                    <a:p>
                      <a:pPr algn="ctr">
                        <a:lnSpc>
                          <a:spcPts val="1680"/>
                        </a:lnSpc>
                        <a:defRPr/>
                      </a:pPr>
                      <a:r>
                        <a:rPr lang="en-US" sz="1400" b="true">
                          <a:solidFill>
                            <a:srgbClr val="14313B"/>
                          </a:solidFill>
                          <a:latin typeface="Calibri (MS) Bold"/>
                          <a:ea typeface="Calibri (MS) Bold"/>
                          <a:cs typeface="Calibri (MS) Bold"/>
                          <a:sym typeface="Calibri (MS) Bold"/>
                        </a:rPr>
                        <a:t>R4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Selain ketiganya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Optimum diadopsi bila lolos uji kompatibilitas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bl>
          </a:graphicData>
        </a:graphic>
      </p:graphicFrame>
      <p:sp>
        <p:nvSpPr>
          <p:cNvPr name="Freeform 116" id="116"/>
          <p:cNvSpPr/>
          <p:nvPr/>
        </p:nvSpPr>
        <p:spPr>
          <a:xfrm flipH="false" flipV="false" rot="0">
            <a:off x="9264491" y="4875371"/>
            <a:ext cx="8217218" cy="4395026"/>
          </a:xfrm>
          <a:custGeom>
            <a:avLst/>
            <a:gdLst/>
            <a:ahLst/>
            <a:cxnLst/>
            <a:rect r="r" b="b" t="t" l="l"/>
            <a:pathLst>
              <a:path h="4395026" w="8217218">
                <a:moveTo>
                  <a:pt x="0" y="0"/>
                </a:moveTo>
                <a:lnTo>
                  <a:pt x="8217218" y="0"/>
                </a:lnTo>
                <a:lnTo>
                  <a:pt x="8217218" y="4395026"/>
                </a:lnTo>
                <a:lnTo>
                  <a:pt x="0" y="4395026"/>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sp>
        <p:nvSpPr>
          <p:cNvPr name="TextBox 117" id="117"/>
          <p:cNvSpPr txBox="true"/>
          <p:nvPr/>
        </p:nvSpPr>
        <p:spPr>
          <a:xfrm rot="0">
            <a:off x="9555480" y="4914900"/>
            <a:ext cx="7680960" cy="48006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Tahapan kalibrasi</a:t>
            </a:r>
          </a:p>
        </p:txBody>
      </p:sp>
      <p:sp>
        <p:nvSpPr>
          <p:cNvPr name="TextBox 118" id="118"/>
          <p:cNvSpPr txBox="true"/>
          <p:nvPr/>
        </p:nvSpPr>
        <p:spPr>
          <a:xfrm rot="0">
            <a:off x="9555480" y="5298948"/>
            <a:ext cx="7680960" cy="2034540"/>
          </a:xfrm>
          <a:prstGeom prst="rect">
            <a:avLst/>
          </a:prstGeom>
        </p:spPr>
        <p:txBody>
          <a:bodyPr anchor="t" rtlCol="false" tIns="0" lIns="0" bIns="0" rIns="0">
            <a:spAutoFit/>
          </a:bodyPr>
          <a:lstStyle/>
          <a:p>
            <a:pPr algn="l">
              <a:lnSpc>
                <a:spcPts val="1948"/>
              </a:lnSpc>
            </a:pPr>
            <a:r>
              <a:rPr lang="en-US" sz="1449" b="true">
                <a:solidFill>
                  <a:srgbClr val="14313B"/>
                </a:solidFill>
                <a:latin typeface="Calibri (MS) Bold"/>
                <a:ea typeface="Calibri (MS) Bold"/>
                <a:cs typeface="Calibri (MS) Bold"/>
                <a:sym typeface="Calibri (MS) Bold"/>
              </a:rPr>
              <a:t>Tahap 0 </a:t>
            </a:r>
            <a:r>
              <a:rPr lang="en-US" sz="1449">
                <a:solidFill>
                  <a:srgbClr val="14313B"/>
                </a:solidFill>
                <a:latin typeface="Calibri (MS)"/>
                <a:ea typeface="Calibri (MS)"/>
                <a:cs typeface="Calibri (MS)"/>
                <a:sym typeface="Calibri (MS)"/>
              </a:rPr>
              <a:t>koreksi penurunan LPE dan LPD (bukan kalibrasi)</a:t>
            </a:r>
          </a:p>
          <a:p>
            <a:pPr algn="l">
              <a:lnSpc>
                <a:spcPts val="1948"/>
              </a:lnSpc>
            </a:pPr>
            <a:r>
              <a:rPr lang="en-US" sz="1449" b="true">
                <a:solidFill>
                  <a:srgbClr val="14313B"/>
                </a:solidFill>
                <a:latin typeface="Calibri (MS) Bold"/>
                <a:ea typeface="Calibri (MS) Bold"/>
                <a:cs typeface="Calibri (MS) Bold"/>
                <a:sym typeface="Calibri (MS) Bold"/>
              </a:rPr>
              <a:t>Tahap 1 </a:t>
            </a:r>
            <a:r>
              <a:rPr lang="en-US" sz="1449">
                <a:solidFill>
                  <a:srgbClr val="14313B"/>
                </a:solidFill>
                <a:latin typeface="Calibri (MS)"/>
                <a:ea typeface="Calibri (MS)"/>
                <a:cs typeface="Calibri (MS)"/>
                <a:sym typeface="Calibri (MS)"/>
              </a:rPr>
              <a:t>akomodasi: batas TPK &amp; laju demolisi (uji P1)</a:t>
            </a:r>
          </a:p>
          <a:p>
            <a:pPr algn="l">
              <a:lnSpc>
                <a:spcPts val="1948"/>
              </a:lnSpc>
            </a:pPr>
            <a:r>
              <a:rPr lang="en-US" sz="1449" b="true">
                <a:solidFill>
                  <a:srgbClr val="14313B"/>
                </a:solidFill>
                <a:latin typeface="Calibri (MS) Bold"/>
                <a:ea typeface="Calibri (MS) Bold"/>
                <a:cs typeface="Calibri (MS) Bold"/>
                <a:sym typeface="Calibri (MS) Bold"/>
              </a:rPr>
              <a:t>Tahap 2 </a:t>
            </a:r>
            <a:r>
              <a:rPr lang="en-US" sz="1449">
                <a:solidFill>
                  <a:srgbClr val="14313B"/>
                </a:solidFill>
                <a:latin typeface="Calibri (MS)"/>
                <a:ea typeface="Calibri (MS)"/>
                <a:cs typeface="Calibri (MS)"/>
                <a:sym typeface="Calibri (MS)"/>
              </a:rPr>
              <a:t>lahan: laju konversi dasar (uji P4)</a:t>
            </a:r>
          </a:p>
          <a:p>
            <a:pPr algn="l">
              <a:lnSpc>
                <a:spcPts val="1948"/>
              </a:lnSpc>
            </a:pPr>
            <a:r>
              <a:rPr lang="en-US" sz="1449" b="true">
                <a:solidFill>
                  <a:srgbClr val="14313B"/>
                </a:solidFill>
                <a:latin typeface="Calibri (MS) Bold"/>
                <a:ea typeface="Calibri (MS) Bold"/>
                <a:cs typeface="Calibri (MS) Bold"/>
                <a:sym typeface="Calibri (MS) Bold"/>
              </a:rPr>
              <a:t>Tahap 3 </a:t>
            </a:r>
            <a:r>
              <a:rPr lang="en-US" sz="1449">
                <a:solidFill>
                  <a:srgbClr val="14313B"/>
                </a:solidFill>
                <a:latin typeface="Calibri (MS)"/>
                <a:ea typeface="Calibri (MS)"/>
                <a:cs typeface="Calibri (MS)"/>
                <a:sym typeface="Calibri (MS)"/>
              </a:rPr>
              <a:t>wisatawan: LPE dan rasio LPD/LPE (diagnostik)</a:t>
            </a:r>
          </a:p>
          <a:p>
            <a:pPr algn="l">
              <a:lnSpc>
                <a:spcPts val="1948"/>
              </a:lnSpc>
            </a:pPr>
            <a:r>
              <a:rPr lang="en-US" sz="1449" b="true">
                <a:solidFill>
                  <a:srgbClr val="14313B"/>
                </a:solidFill>
                <a:latin typeface="Calibri (MS) Bold"/>
                <a:ea typeface="Calibri (MS) Bold"/>
                <a:cs typeface="Calibri (MS) Bold"/>
                <a:sym typeface="Calibri (MS) Bold"/>
              </a:rPr>
              <a:t>Tahap 4 </a:t>
            </a:r>
            <a:r>
              <a:rPr lang="en-US" sz="1449">
                <a:solidFill>
                  <a:srgbClr val="14313B"/>
                </a:solidFill>
                <a:latin typeface="Calibri (MS)"/>
                <a:ea typeface="Calibri (MS)"/>
                <a:cs typeface="Calibri (MS)"/>
                <a:sym typeface="Calibri (MS)"/>
              </a:rPr>
              <a:t>uji kompatibilitas pada model penuh</a:t>
            </a:r>
          </a:p>
        </p:txBody>
      </p:sp>
      <p:sp>
        <p:nvSpPr>
          <p:cNvPr name="TextBox 119" id="119"/>
          <p:cNvSpPr txBox="true"/>
          <p:nvPr/>
        </p:nvSpPr>
        <p:spPr>
          <a:xfrm rot="0">
            <a:off x="9555480" y="7219950"/>
            <a:ext cx="7680960" cy="415290"/>
          </a:xfrm>
          <a:prstGeom prst="rect">
            <a:avLst/>
          </a:prstGeom>
        </p:spPr>
        <p:txBody>
          <a:bodyPr anchor="t" rtlCol="false" tIns="0" lIns="0" bIns="0" rIns="0">
            <a:spAutoFit/>
          </a:bodyPr>
          <a:lstStyle/>
          <a:p>
            <a:pPr algn="l">
              <a:lnSpc>
                <a:spcPts val="1813"/>
              </a:lnSpc>
            </a:pPr>
            <a:r>
              <a:rPr lang="en-US" sz="1350" b="true">
                <a:solidFill>
                  <a:srgbClr val="0B5E6E"/>
                </a:solidFill>
                <a:latin typeface="Calibri (MS) Bold"/>
                <a:ea typeface="Calibri (MS) Bold"/>
                <a:cs typeface="Calibri (MS) Bold"/>
                <a:sym typeface="Calibri (MS) Bold"/>
              </a:rPr>
              <a:t>Syarat penolakan pada Tahap 4 (batas 1,05)</a:t>
            </a:r>
          </a:p>
        </p:txBody>
      </p:sp>
      <p:sp>
        <p:nvSpPr>
          <p:cNvPr name="TextBox 120" id="120"/>
          <p:cNvSpPr txBox="true"/>
          <p:nvPr/>
        </p:nvSpPr>
        <p:spPr>
          <a:xfrm rot="0">
            <a:off x="9555480" y="7567422"/>
            <a:ext cx="7680960" cy="1649730"/>
          </a:xfrm>
          <a:prstGeom prst="rect">
            <a:avLst/>
          </a:prstGeom>
        </p:spPr>
        <p:txBody>
          <a:bodyPr anchor="t" rtlCol="false" tIns="0" lIns="0" bIns="0" rIns="0">
            <a:spAutoFit/>
          </a:bodyPr>
          <a:lstStyle/>
          <a:p>
            <a:pPr algn="l">
              <a:lnSpc>
                <a:spcPts val="1813"/>
              </a:lnSpc>
            </a:pPr>
            <a:r>
              <a:rPr lang="en-US" sz="1350" b="true">
                <a:solidFill>
                  <a:srgbClr val="14313B"/>
                </a:solidFill>
                <a:latin typeface="Calibri (MS) Bold"/>
                <a:ea typeface="Calibri (MS) Bold"/>
                <a:cs typeface="Calibri (MS) Bold"/>
                <a:sym typeface="Calibri (MS) Bold"/>
              </a:rPr>
              <a:t>M1 </a:t>
            </a:r>
            <a:r>
              <a:rPr lang="en-US" sz="1350">
                <a:solidFill>
                  <a:srgbClr val="14313B"/>
                </a:solidFill>
                <a:latin typeface="Calibri (MS)"/>
                <a:ea typeface="Calibri (MS)"/>
                <a:cs typeface="Calibri (MS)"/>
                <a:sym typeface="Calibri (MS)"/>
              </a:rPr>
              <a:t>NRMSE variabel target pada uji penuh &gt; 1,05 × nilai sebelum kalibrasi</a:t>
            </a:r>
          </a:p>
          <a:p>
            <a:pPr algn="l">
              <a:lnSpc>
                <a:spcPts val="1813"/>
              </a:lnSpc>
            </a:pPr>
            <a:r>
              <a:rPr lang="en-US" sz="1350" b="true">
                <a:solidFill>
                  <a:srgbClr val="14313B"/>
                </a:solidFill>
                <a:latin typeface="Calibri (MS) Bold"/>
                <a:ea typeface="Calibri (MS) Bold"/>
                <a:cs typeface="Calibri (MS) Bold"/>
                <a:sym typeface="Calibri (MS) Bold"/>
              </a:rPr>
              <a:t>M2 </a:t>
            </a:r>
            <a:r>
              <a:rPr lang="en-US" sz="1350">
                <a:solidFill>
                  <a:srgbClr val="14313B"/>
                </a:solidFill>
                <a:latin typeface="Calibri (MS)"/>
                <a:ea typeface="Calibri (MS)"/>
                <a:cs typeface="Calibri (MS)"/>
                <a:sym typeface="Calibri (MS)"/>
              </a:rPr>
              <a:t>rata-rata NRMSE 9 variabel uji penuh &gt; 1,05 × sebelumnya</a:t>
            </a:r>
          </a:p>
          <a:p>
            <a:pPr algn="l">
              <a:lnSpc>
                <a:spcPts val="1813"/>
              </a:lnSpc>
            </a:pPr>
            <a:r>
              <a:rPr lang="en-US" sz="1350" b="true">
                <a:solidFill>
                  <a:srgbClr val="14313B"/>
                </a:solidFill>
                <a:latin typeface="Calibri (MS) Bold"/>
                <a:ea typeface="Calibri (MS) Bold"/>
                <a:cs typeface="Calibri (MS) Bold"/>
                <a:sym typeface="Calibri (MS) Bold"/>
              </a:rPr>
              <a:t>S </a:t>
            </a:r>
            <a:r>
              <a:rPr lang="en-US" sz="1350">
                <a:solidFill>
                  <a:srgbClr val="14313B"/>
                </a:solidFill>
                <a:latin typeface="Calibri (MS)"/>
                <a:ea typeface="Calibri (MS)"/>
                <a:cs typeface="Calibri (MS)"/>
                <a:sym typeface="Calibri (MS)"/>
              </a:rPr>
              <a:t>uji kondisi ekstrem gagal / aturan fisik dilanggar</a:t>
            </a:r>
          </a:p>
          <a:p>
            <a:pPr algn="l">
              <a:lnSpc>
                <a:spcPts val="1813"/>
              </a:lnSpc>
            </a:pPr>
            <a:r>
              <a:rPr lang="en-US" sz="1350" b="true">
                <a:solidFill>
                  <a:srgbClr val="14313B"/>
                </a:solidFill>
                <a:latin typeface="Calibri (MS) Bold"/>
                <a:ea typeface="Calibri (MS) Bold"/>
                <a:cs typeface="Calibri (MS) Bold"/>
                <a:sym typeface="Calibri (MS) Bold"/>
              </a:rPr>
              <a:t>T </a:t>
            </a:r>
            <a:r>
              <a:rPr lang="en-US" sz="1350">
                <a:solidFill>
                  <a:srgbClr val="14313B"/>
                </a:solidFill>
                <a:latin typeface="Calibri (MS)"/>
                <a:ea typeface="Calibri (MS)"/>
                <a:cs typeface="Calibri (MS)"/>
                <a:sym typeface="Calibri (MS)"/>
              </a:rPr>
              <a:t>simulasi tidak stabil pada horizon yang diperpanjang</a:t>
            </a:r>
          </a:p>
        </p:txBody>
      </p:sp>
      <p:grpSp>
        <p:nvGrpSpPr>
          <p:cNvPr name="Group 121" id="121"/>
          <p:cNvGrpSpPr/>
          <p:nvPr/>
        </p:nvGrpSpPr>
        <p:grpSpPr>
          <a:xfrm rot="0">
            <a:off x="12755880" y="274320"/>
            <a:ext cx="3931920" cy="411480"/>
            <a:chOff x="0" y="0"/>
            <a:chExt cx="5242560" cy="548640"/>
          </a:xfrm>
        </p:grpSpPr>
        <p:sp>
          <p:nvSpPr>
            <p:cNvPr name="Freeform 122" id="122"/>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23" id="123"/>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2E · Uji perilaku &amp; kalibrasi</a:t>
              </a:r>
            </a:p>
          </p:txBody>
        </p:sp>
      </p:grpSp>
      <p:grpSp>
        <p:nvGrpSpPr>
          <p:cNvPr name="Group 124" id="124"/>
          <p:cNvGrpSpPr/>
          <p:nvPr/>
        </p:nvGrpSpPr>
        <p:grpSpPr>
          <a:xfrm rot="0">
            <a:off x="16047720" y="9646920"/>
            <a:ext cx="420624" cy="420624"/>
            <a:chOff x="0" y="0"/>
            <a:chExt cx="560832" cy="560832"/>
          </a:xfrm>
        </p:grpSpPr>
        <p:sp>
          <p:nvSpPr>
            <p:cNvPr name="Freeform 125" id="125"/>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26" id="126"/>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5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Hasil Kalibrasi Tahap 0–4</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Kalibrasi menguatkan nilai parameter dari data — tidak ada yang diganti</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pSp>
        <p:nvGrpSpPr>
          <p:cNvPr name="Group 66" id="66"/>
          <p:cNvGrpSpPr/>
          <p:nvPr/>
        </p:nvGrpSpPr>
        <p:grpSpPr>
          <a:xfrm rot="0">
            <a:off x="822960" y="2400300"/>
            <a:ext cx="3154680" cy="5143500"/>
            <a:chOff x="0" y="0"/>
            <a:chExt cx="4206240" cy="6858000"/>
          </a:xfrm>
        </p:grpSpPr>
        <p:sp>
          <p:nvSpPr>
            <p:cNvPr name="Freeform 67" id="67"/>
            <p:cNvSpPr/>
            <p:nvPr/>
          </p:nvSpPr>
          <p:spPr>
            <a:xfrm flipH="false" flipV="false" rot="0">
              <a:off x="0" y="0"/>
              <a:ext cx="4206240" cy="6858000"/>
            </a:xfrm>
            <a:custGeom>
              <a:avLst/>
              <a:gdLst/>
              <a:ahLst/>
              <a:cxnLst/>
              <a:rect r="r" b="b" t="t" l="l"/>
              <a:pathLst>
                <a:path h="6858000" w="4206240">
                  <a:moveTo>
                    <a:pt x="0" y="182880"/>
                  </a:moveTo>
                  <a:cubicBezTo>
                    <a:pt x="0" y="81915"/>
                    <a:pt x="81915" y="0"/>
                    <a:pt x="182880" y="0"/>
                  </a:cubicBezTo>
                  <a:lnTo>
                    <a:pt x="4023360" y="0"/>
                  </a:lnTo>
                  <a:cubicBezTo>
                    <a:pt x="4124325" y="0"/>
                    <a:pt x="4206240" y="81915"/>
                    <a:pt x="4206240" y="182880"/>
                  </a:cubicBezTo>
                  <a:lnTo>
                    <a:pt x="4206240" y="6675120"/>
                  </a:lnTo>
                  <a:cubicBezTo>
                    <a:pt x="4206240" y="6776085"/>
                    <a:pt x="4124325" y="6858000"/>
                    <a:pt x="4023360" y="6858000"/>
                  </a:cubicBezTo>
                  <a:lnTo>
                    <a:pt x="182880" y="6858000"/>
                  </a:lnTo>
                  <a:cubicBezTo>
                    <a:pt x="81915" y="6858000"/>
                    <a:pt x="0" y="6776085"/>
                    <a:pt x="0" y="6675120"/>
                  </a:cubicBezTo>
                  <a:close/>
                </a:path>
              </a:pathLst>
            </a:custGeom>
            <a:solidFill>
              <a:srgbClr val="EAF8FA"/>
            </a:solidFill>
          </p:spPr>
          <p:txBody>
            <a:bodyPr/>
            <a:p/>
          </p:txBody>
        </p:sp>
      </p:grpSp>
      <p:sp>
        <p:nvSpPr>
          <p:cNvPr name="TextBox 68" id="68"/>
          <p:cNvSpPr txBox="true"/>
          <p:nvPr/>
        </p:nvSpPr>
        <p:spPr>
          <a:xfrm rot="0">
            <a:off x="1097280" y="2576322"/>
            <a:ext cx="2606040" cy="400050"/>
          </a:xfrm>
          <a:prstGeom prst="rect">
            <a:avLst/>
          </a:prstGeom>
        </p:spPr>
        <p:txBody>
          <a:bodyPr anchor="t" rtlCol="false" tIns="0" lIns="0" bIns="0" rIns="0">
            <a:spAutoFit/>
          </a:bodyPr>
          <a:lstStyle/>
          <a:p>
            <a:pPr algn="l">
              <a:lnSpc>
                <a:spcPts val="1889"/>
              </a:lnSpc>
            </a:pPr>
            <a:r>
              <a:rPr lang="en-US" sz="1575" b="true">
                <a:solidFill>
                  <a:srgbClr val="5E6E78"/>
                </a:solidFill>
                <a:latin typeface="Calibri (MS) Bold"/>
                <a:ea typeface="Calibri (MS) Bold"/>
                <a:cs typeface="Calibri (MS) Bold"/>
                <a:sym typeface="Calibri (MS) Bold"/>
              </a:rPr>
              <a:t>TAHAP 0</a:t>
            </a:r>
          </a:p>
        </p:txBody>
      </p:sp>
      <p:sp>
        <p:nvSpPr>
          <p:cNvPr name="TextBox 69" id="69"/>
          <p:cNvSpPr txBox="true"/>
          <p:nvPr/>
        </p:nvSpPr>
        <p:spPr>
          <a:xfrm rot="0">
            <a:off x="1097280" y="2846070"/>
            <a:ext cx="2606040" cy="1131570"/>
          </a:xfrm>
          <a:prstGeom prst="rect">
            <a:avLst/>
          </a:prstGeom>
        </p:spPr>
        <p:txBody>
          <a:bodyPr anchor="t" rtlCol="false" tIns="0" lIns="0" bIns="0" rIns="0">
            <a:spAutoFit/>
          </a:bodyPr>
          <a:lstStyle/>
          <a:p>
            <a:pPr algn="l">
              <a:lnSpc>
                <a:spcPts val="2700"/>
              </a:lnSpc>
            </a:pPr>
            <a:r>
              <a:rPr lang="en-US" sz="2250" b="true">
                <a:solidFill>
                  <a:srgbClr val="0B5E6E"/>
                </a:solidFill>
                <a:latin typeface="Calibri (MS) Bold"/>
                <a:ea typeface="Calibri (MS) Bold"/>
                <a:cs typeface="Calibri (MS) Bold"/>
                <a:sym typeface="Calibri (MS) Bold"/>
              </a:rPr>
              <a:t>Koreksi penurunan</a:t>
            </a:r>
          </a:p>
        </p:txBody>
      </p:sp>
      <p:sp>
        <p:nvSpPr>
          <p:cNvPr name="TextBox 70" id="70"/>
          <p:cNvSpPr txBox="true"/>
          <p:nvPr/>
        </p:nvSpPr>
        <p:spPr>
          <a:xfrm rot="0">
            <a:off x="1097280" y="3931920"/>
            <a:ext cx="2606040" cy="2651760"/>
          </a:xfrm>
          <a:prstGeom prst="rect">
            <a:avLst/>
          </a:prstGeom>
        </p:spPr>
        <p:txBody>
          <a:bodyPr anchor="t" rtlCol="false" tIns="0" lIns="0" bIns="0" rIns="0">
            <a:spAutoFit/>
          </a:bodyPr>
          <a:lstStyle/>
          <a:p>
            <a:pPr algn="l">
              <a:lnSpc>
                <a:spcPts val="2070"/>
              </a:lnSpc>
            </a:pPr>
            <a:r>
              <a:rPr lang="en-US" sz="1725">
                <a:solidFill>
                  <a:srgbClr val="14313B"/>
                </a:solidFill>
                <a:latin typeface="Calibri (MS)"/>
                <a:ea typeface="Calibri (MS)"/>
                <a:cs typeface="Calibri (MS)"/>
                <a:sym typeface="Calibri (MS)"/>
              </a:rPr>
              <a:t>LPE 0,26864 → 0,27726; LPD 0,20148 → 0,207945, memakai indeks daya tarik 2024 (0,99223) sesuai integrasi Euler</a:t>
            </a:r>
          </a:p>
        </p:txBody>
      </p:sp>
      <p:grpSp>
        <p:nvGrpSpPr>
          <p:cNvPr name="Group 71" id="71"/>
          <p:cNvGrpSpPr/>
          <p:nvPr/>
        </p:nvGrpSpPr>
        <p:grpSpPr>
          <a:xfrm rot="0">
            <a:off x="1028700" y="6720840"/>
            <a:ext cx="2743200" cy="548640"/>
            <a:chOff x="0" y="0"/>
            <a:chExt cx="3657600" cy="731520"/>
          </a:xfrm>
        </p:grpSpPr>
        <p:sp>
          <p:nvSpPr>
            <p:cNvPr name="Freeform 72" id="72"/>
            <p:cNvSpPr/>
            <p:nvPr/>
          </p:nvSpPr>
          <p:spPr>
            <a:xfrm flipH="false" flipV="false" rot="0">
              <a:off x="0" y="0"/>
              <a:ext cx="3657600" cy="731520"/>
            </a:xfrm>
            <a:custGeom>
              <a:avLst/>
              <a:gdLst/>
              <a:ahLst/>
              <a:cxnLst/>
              <a:rect r="r" b="b" t="t" l="l"/>
              <a:pathLst>
                <a:path h="731520" w="3657600">
                  <a:moveTo>
                    <a:pt x="0" y="365760"/>
                  </a:moveTo>
                  <a:cubicBezTo>
                    <a:pt x="0" y="163703"/>
                    <a:pt x="163703" y="0"/>
                    <a:pt x="365760" y="0"/>
                  </a:cubicBezTo>
                  <a:lnTo>
                    <a:pt x="3291840" y="0"/>
                  </a:lnTo>
                  <a:cubicBezTo>
                    <a:pt x="3493897" y="0"/>
                    <a:pt x="3657600" y="163703"/>
                    <a:pt x="3657600" y="365760"/>
                  </a:cubicBezTo>
                  <a:cubicBezTo>
                    <a:pt x="3657600" y="567817"/>
                    <a:pt x="3493897" y="731520"/>
                    <a:pt x="3291840" y="731520"/>
                  </a:cubicBezTo>
                  <a:lnTo>
                    <a:pt x="365760" y="731520"/>
                  </a:lnTo>
                  <a:cubicBezTo>
                    <a:pt x="163703" y="731520"/>
                    <a:pt x="0" y="567817"/>
                    <a:pt x="0" y="365760"/>
                  </a:cubicBezTo>
                  <a:close/>
                </a:path>
              </a:pathLst>
            </a:custGeom>
            <a:solidFill>
              <a:srgbClr val="FFD23B"/>
            </a:solidFill>
          </p:spPr>
          <p:txBody>
            <a:bodyPr/>
            <a:p/>
          </p:txBody>
        </p:sp>
      </p:grpSp>
      <p:grpSp>
        <p:nvGrpSpPr>
          <p:cNvPr name="Group 73" id="73"/>
          <p:cNvGrpSpPr/>
          <p:nvPr/>
        </p:nvGrpSpPr>
        <p:grpSpPr>
          <a:xfrm rot="0">
            <a:off x="1028700" y="6720840"/>
            <a:ext cx="2743200" cy="548640"/>
            <a:chOff x="0" y="0"/>
            <a:chExt cx="3657600" cy="731520"/>
          </a:xfrm>
        </p:grpSpPr>
        <p:sp>
          <p:nvSpPr>
            <p:cNvPr name="Freeform 74" id="74"/>
            <p:cNvSpPr/>
            <p:nvPr/>
          </p:nvSpPr>
          <p:spPr>
            <a:xfrm flipH="false" flipV="false" rot="0">
              <a:off x="0" y="0"/>
              <a:ext cx="3657600" cy="731520"/>
            </a:xfrm>
            <a:custGeom>
              <a:avLst/>
              <a:gdLst/>
              <a:ahLst/>
              <a:cxnLst/>
              <a:rect r="r" b="b" t="t" l="l"/>
              <a:pathLst>
                <a:path h="731520" w="3657600">
                  <a:moveTo>
                    <a:pt x="0" y="0"/>
                  </a:moveTo>
                  <a:lnTo>
                    <a:pt x="3657600" y="0"/>
                  </a:lnTo>
                  <a:lnTo>
                    <a:pt x="3657600" y="731520"/>
                  </a:lnTo>
                  <a:lnTo>
                    <a:pt x="0" y="731520"/>
                  </a:lnTo>
                  <a:close/>
                </a:path>
              </a:pathLst>
            </a:custGeom>
            <a:blipFill>
              <a:blip r:embed="rId4">
                <a:alphaModFix amt="0"/>
              </a:blip>
              <a:stretch>
                <a:fillRect l="0" t="-47357" r="0" b="-47357"/>
              </a:stretch>
            </a:blipFill>
          </p:spPr>
          <p:txBody>
            <a:bodyPr/>
            <a:p/>
          </p:txBody>
        </p:sp>
      </p:grpSp>
      <p:grpSp>
        <p:nvGrpSpPr>
          <p:cNvPr name="Group 75" id="75"/>
          <p:cNvGrpSpPr/>
          <p:nvPr/>
        </p:nvGrpSpPr>
        <p:grpSpPr>
          <a:xfrm rot="0">
            <a:off x="1028700" y="6699409"/>
            <a:ext cx="2743200" cy="570071"/>
            <a:chOff x="0" y="0"/>
            <a:chExt cx="3657600" cy="760095"/>
          </a:xfrm>
        </p:grpSpPr>
        <p:sp>
          <p:nvSpPr>
            <p:cNvPr name="Freeform 76" id="76"/>
            <p:cNvSpPr/>
            <p:nvPr/>
          </p:nvSpPr>
          <p:spPr>
            <a:xfrm flipH="false" flipV="false" rot="0">
              <a:off x="0" y="0"/>
              <a:ext cx="3657600" cy="760095"/>
            </a:xfrm>
            <a:custGeom>
              <a:avLst/>
              <a:gdLst/>
              <a:ahLst/>
              <a:cxnLst/>
              <a:rect r="r" b="b" t="t" l="l"/>
              <a:pathLst>
                <a:path h="760095" w="3657600">
                  <a:moveTo>
                    <a:pt x="0" y="0"/>
                  </a:moveTo>
                  <a:lnTo>
                    <a:pt x="3657600" y="0"/>
                  </a:lnTo>
                  <a:lnTo>
                    <a:pt x="3657600" y="760095"/>
                  </a:lnTo>
                  <a:lnTo>
                    <a:pt x="0" y="760095"/>
                  </a:lnTo>
                  <a:close/>
                </a:path>
              </a:pathLst>
            </a:custGeom>
            <a:blipFill>
              <a:blip r:embed="rId5">
                <a:alphaModFix amt="0"/>
              </a:blip>
              <a:stretch>
                <a:fillRect l="0" t="-43697" r="0" b="-43697"/>
              </a:stretch>
            </a:blipFill>
          </p:spPr>
          <p:txBody>
            <a:bodyPr/>
            <a:p/>
          </p:txBody>
        </p:sp>
      </p:grpSp>
      <p:grpSp>
        <p:nvGrpSpPr>
          <p:cNvPr name="Group 77" id="77"/>
          <p:cNvGrpSpPr/>
          <p:nvPr/>
        </p:nvGrpSpPr>
        <p:grpSpPr>
          <a:xfrm rot="0">
            <a:off x="1028700" y="6677978"/>
            <a:ext cx="2743200" cy="591502"/>
            <a:chOff x="0" y="0"/>
            <a:chExt cx="3657600" cy="788670"/>
          </a:xfrm>
        </p:grpSpPr>
        <p:sp>
          <p:nvSpPr>
            <p:cNvPr name="Freeform 78" id="78"/>
            <p:cNvSpPr/>
            <p:nvPr/>
          </p:nvSpPr>
          <p:spPr>
            <a:xfrm flipH="false" flipV="false" rot="0">
              <a:off x="0" y="0"/>
              <a:ext cx="3657600" cy="788670"/>
            </a:xfrm>
            <a:custGeom>
              <a:avLst/>
              <a:gdLst/>
              <a:ahLst/>
              <a:cxnLst/>
              <a:rect r="r" b="b" t="t" l="l"/>
              <a:pathLst>
                <a:path h="788670" w="3657600">
                  <a:moveTo>
                    <a:pt x="0" y="0"/>
                  </a:moveTo>
                  <a:lnTo>
                    <a:pt x="3657600" y="0"/>
                  </a:lnTo>
                  <a:lnTo>
                    <a:pt x="3657600" y="788670"/>
                  </a:lnTo>
                  <a:lnTo>
                    <a:pt x="0" y="788670"/>
                  </a:lnTo>
                  <a:close/>
                </a:path>
              </a:pathLst>
            </a:custGeom>
            <a:blipFill>
              <a:blip r:embed="rId6">
                <a:alphaModFix amt="0"/>
              </a:blip>
              <a:stretch>
                <a:fillRect l="0" t="-40365" r="0" b="-40365"/>
              </a:stretch>
            </a:blipFill>
          </p:spPr>
          <p:txBody>
            <a:bodyPr/>
            <a:p/>
          </p:txBody>
        </p:sp>
        <p:sp>
          <p:nvSpPr>
            <p:cNvPr name="TextBox 79" id="79"/>
            <p:cNvSpPr txBox="true"/>
            <p:nvPr/>
          </p:nvSpPr>
          <p:spPr>
            <a:xfrm>
              <a:off x="0" y="-28575"/>
              <a:ext cx="3657600" cy="817245"/>
            </a:xfrm>
            <a:prstGeom prst="rect">
              <a:avLst/>
            </a:prstGeom>
          </p:spPr>
          <p:txBody>
            <a:bodyPr anchor="ctr" rtlCol="false" tIns="0" lIns="0" bIns="0" rIns="0"/>
            <a:lstStyle/>
            <a:p>
              <a:pPr algn="ctr">
                <a:lnSpc>
                  <a:spcPts val="1980"/>
                </a:lnSpc>
              </a:pPr>
              <a:r>
                <a:rPr lang="en-US" sz="1650" b="true">
                  <a:solidFill>
                    <a:srgbClr val="14313B"/>
                  </a:solidFill>
                  <a:latin typeface="Calibri (MS) Bold"/>
                  <a:ea typeface="Calibri (MS) Bold"/>
                  <a:cs typeface="Calibri (MS) Bold"/>
                  <a:sym typeface="Calibri (MS) Bold"/>
                </a:rPr>
                <a:t>Koreksi, bukan kalibrasi</a:t>
              </a:r>
            </a:p>
          </p:txBody>
        </p:sp>
      </p:grpSp>
      <p:grpSp>
        <p:nvGrpSpPr>
          <p:cNvPr name="Group 80" id="80"/>
          <p:cNvGrpSpPr/>
          <p:nvPr/>
        </p:nvGrpSpPr>
        <p:grpSpPr>
          <a:xfrm rot="0">
            <a:off x="4197096" y="2400300"/>
            <a:ext cx="3154680" cy="5143500"/>
            <a:chOff x="0" y="0"/>
            <a:chExt cx="4206240" cy="6858000"/>
          </a:xfrm>
        </p:grpSpPr>
        <p:sp>
          <p:nvSpPr>
            <p:cNvPr name="Freeform 81" id="81"/>
            <p:cNvSpPr/>
            <p:nvPr/>
          </p:nvSpPr>
          <p:spPr>
            <a:xfrm flipH="false" flipV="false" rot="0">
              <a:off x="0" y="0"/>
              <a:ext cx="4206240" cy="6858000"/>
            </a:xfrm>
            <a:custGeom>
              <a:avLst/>
              <a:gdLst/>
              <a:ahLst/>
              <a:cxnLst/>
              <a:rect r="r" b="b" t="t" l="l"/>
              <a:pathLst>
                <a:path h="6858000" w="4206240">
                  <a:moveTo>
                    <a:pt x="0" y="182880"/>
                  </a:moveTo>
                  <a:cubicBezTo>
                    <a:pt x="0" y="81915"/>
                    <a:pt x="81915" y="0"/>
                    <a:pt x="182880" y="0"/>
                  </a:cubicBezTo>
                  <a:lnTo>
                    <a:pt x="4023360" y="0"/>
                  </a:lnTo>
                  <a:cubicBezTo>
                    <a:pt x="4124325" y="0"/>
                    <a:pt x="4206240" y="81915"/>
                    <a:pt x="4206240" y="182880"/>
                  </a:cubicBezTo>
                  <a:lnTo>
                    <a:pt x="4206240" y="6675120"/>
                  </a:lnTo>
                  <a:cubicBezTo>
                    <a:pt x="4206240" y="6776085"/>
                    <a:pt x="4124325" y="6858000"/>
                    <a:pt x="4023360" y="6858000"/>
                  </a:cubicBezTo>
                  <a:lnTo>
                    <a:pt x="182880" y="6858000"/>
                  </a:lnTo>
                  <a:cubicBezTo>
                    <a:pt x="81915" y="6858000"/>
                    <a:pt x="0" y="6776085"/>
                    <a:pt x="0" y="6675120"/>
                  </a:cubicBezTo>
                  <a:close/>
                </a:path>
              </a:pathLst>
            </a:custGeom>
            <a:solidFill>
              <a:srgbClr val="EAF8FA"/>
            </a:solidFill>
          </p:spPr>
          <p:txBody>
            <a:bodyPr/>
            <a:p/>
          </p:txBody>
        </p:sp>
      </p:grpSp>
      <p:sp>
        <p:nvSpPr>
          <p:cNvPr name="TextBox 82" id="82"/>
          <p:cNvSpPr txBox="true"/>
          <p:nvPr/>
        </p:nvSpPr>
        <p:spPr>
          <a:xfrm rot="0">
            <a:off x="4471416" y="2576322"/>
            <a:ext cx="2606040" cy="400050"/>
          </a:xfrm>
          <a:prstGeom prst="rect">
            <a:avLst/>
          </a:prstGeom>
        </p:spPr>
        <p:txBody>
          <a:bodyPr anchor="t" rtlCol="false" tIns="0" lIns="0" bIns="0" rIns="0">
            <a:spAutoFit/>
          </a:bodyPr>
          <a:lstStyle/>
          <a:p>
            <a:pPr algn="l">
              <a:lnSpc>
                <a:spcPts val="1889"/>
              </a:lnSpc>
            </a:pPr>
            <a:r>
              <a:rPr lang="en-US" sz="1575" b="true">
                <a:solidFill>
                  <a:srgbClr val="5E6E78"/>
                </a:solidFill>
                <a:latin typeface="Calibri (MS) Bold"/>
                <a:ea typeface="Calibri (MS) Bold"/>
                <a:cs typeface="Calibri (MS) Bold"/>
                <a:sym typeface="Calibri (MS) Bold"/>
              </a:rPr>
              <a:t>TAHAP 1</a:t>
            </a:r>
          </a:p>
        </p:txBody>
      </p:sp>
      <p:sp>
        <p:nvSpPr>
          <p:cNvPr name="TextBox 83" id="83"/>
          <p:cNvSpPr txBox="true"/>
          <p:nvPr/>
        </p:nvSpPr>
        <p:spPr>
          <a:xfrm rot="0">
            <a:off x="4471416" y="2846070"/>
            <a:ext cx="2606040" cy="1131570"/>
          </a:xfrm>
          <a:prstGeom prst="rect">
            <a:avLst/>
          </a:prstGeom>
        </p:spPr>
        <p:txBody>
          <a:bodyPr anchor="t" rtlCol="false" tIns="0" lIns="0" bIns="0" rIns="0">
            <a:spAutoFit/>
          </a:bodyPr>
          <a:lstStyle/>
          <a:p>
            <a:pPr algn="l">
              <a:lnSpc>
                <a:spcPts val="2700"/>
              </a:lnSpc>
            </a:pPr>
            <a:r>
              <a:rPr lang="en-US" sz="2250" b="true">
                <a:solidFill>
                  <a:srgbClr val="0B5E6E"/>
                </a:solidFill>
                <a:latin typeface="Calibri (MS) Bold"/>
                <a:ea typeface="Calibri (MS) Bold"/>
                <a:cs typeface="Calibri (MS) Bold"/>
                <a:sym typeface="Calibri (MS) Bold"/>
              </a:rPr>
              <a:t>Subsistem akomodasi</a:t>
            </a:r>
          </a:p>
        </p:txBody>
      </p:sp>
      <p:sp>
        <p:nvSpPr>
          <p:cNvPr name="TextBox 84" id="84"/>
          <p:cNvSpPr txBox="true"/>
          <p:nvPr/>
        </p:nvSpPr>
        <p:spPr>
          <a:xfrm rot="0">
            <a:off x="4471416" y="3931920"/>
            <a:ext cx="2606040" cy="2651760"/>
          </a:xfrm>
          <a:prstGeom prst="rect">
            <a:avLst/>
          </a:prstGeom>
        </p:spPr>
        <p:txBody>
          <a:bodyPr anchor="t" rtlCol="false" tIns="0" lIns="0" bIns="0" rIns="0">
            <a:spAutoFit/>
          </a:bodyPr>
          <a:lstStyle/>
          <a:p>
            <a:pPr algn="l">
              <a:lnSpc>
                <a:spcPts val="2070"/>
              </a:lnSpc>
            </a:pPr>
            <a:r>
              <a:rPr lang="en-US" sz="1725">
                <a:solidFill>
                  <a:srgbClr val="14313B"/>
                </a:solidFill>
                <a:latin typeface="Calibri (MS)"/>
                <a:ea typeface="Calibri (MS)"/>
                <a:cs typeface="Calibri (MS)"/>
                <a:sym typeface="Calibri (MS)"/>
              </a:rPr>
              <a:t>Batas TPK dan laju demolisi dicari menyeluruh. Optimum TPK (0,35) ada di ujung rentang dan berubah bila periode data diganti</a:t>
            </a:r>
          </a:p>
        </p:txBody>
      </p:sp>
      <p:grpSp>
        <p:nvGrpSpPr>
          <p:cNvPr name="Group 85" id="85"/>
          <p:cNvGrpSpPr/>
          <p:nvPr/>
        </p:nvGrpSpPr>
        <p:grpSpPr>
          <a:xfrm rot="0">
            <a:off x="4402836" y="6720840"/>
            <a:ext cx="2743200" cy="548640"/>
            <a:chOff x="0" y="0"/>
            <a:chExt cx="3657600" cy="731520"/>
          </a:xfrm>
        </p:grpSpPr>
        <p:sp>
          <p:nvSpPr>
            <p:cNvPr name="Freeform 86" id="86"/>
            <p:cNvSpPr/>
            <p:nvPr/>
          </p:nvSpPr>
          <p:spPr>
            <a:xfrm flipH="false" flipV="false" rot="0">
              <a:off x="0" y="0"/>
              <a:ext cx="3657600" cy="731520"/>
            </a:xfrm>
            <a:custGeom>
              <a:avLst/>
              <a:gdLst/>
              <a:ahLst/>
              <a:cxnLst/>
              <a:rect r="r" b="b" t="t" l="l"/>
              <a:pathLst>
                <a:path h="731520" w="3657600">
                  <a:moveTo>
                    <a:pt x="0" y="365760"/>
                  </a:moveTo>
                  <a:cubicBezTo>
                    <a:pt x="0" y="163703"/>
                    <a:pt x="163703" y="0"/>
                    <a:pt x="365760" y="0"/>
                  </a:cubicBezTo>
                  <a:lnTo>
                    <a:pt x="3291840" y="0"/>
                  </a:lnTo>
                  <a:cubicBezTo>
                    <a:pt x="3493897" y="0"/>
                    <a:pt x="3657600" y="163703"/>
                    <a:pt x="3657600" y="365760"/>
                  </a:cubicBezTo>
                  <a:cubicBezTo>
                    <a:pt x="3657600" y="567817"/>
                    <a:pt x="3493897" y="731520"/>
                    <a:pt x="3291840" y="731520"/>
                  </a:cubicBezTo>
                  <a:lnTo>
                    <a:pt x="365760" y="731520"/>
                  </a:lnTo>
                  <a:cubicBezTo>
                    <a:pt x="163703" y="731520"/>
                    <a:pt x="0" y="567817"/>
                    <a:pt x="0" y="365760"/>
                  </a:cubicBezTo>
                  <a:close/>
                </a:path>
              </a:pathLst>
            </a:custGeom>
            <a:solidFill>
              <a:srgbClr val="EAF8FA"/>
            </a:solidFill>
          </p:spPr>
          <p:txBody>
            <a:bodyPr/>
            <a:p/>
          </p:txBody>
        </p:sp>
      </p:grpSp>
      <p:grpSp>
        <p:nvGrpSpPr>
          <p:cNvPr name="Group 87" id="87"/>
          <p:cNvGrpSpPr/>
          <p:nvPr/>
        </p:nvGrpSpPr>
        <p:grpSpPr>
          <a:xfrm rot="0">
            <a:off x="4402836" y="6720840"/>
            <a:ext cx="2743200" cy="548640"/>
            <a:chOff x="0" y="0"/>
            <a:chExt cx="3657600" cy="731520"/>
          </a:xfrm>
        </p:grpSpPr>
        <p:sp>
          <p:nvSpPr>
            <p:cNvPr name="Freeform 88" id="88"/>
            <p:cNvSpPr/>
            <p:nvPr/>
          </p:nvSpPr>
          <p:spPr>
            <a:xfrm flipH="false" flipV="false" rot="0">
              <a:off x="0" y="0"/>
              <a:ext cx="3657600" cy="731520"/>
            </a:xfrm>
            <a:custGeom>
              <a:avLst/>
              <a:gdLst/>
              <a:ahLst/>
              <a:cxnLst/>
              <a:rect r="r" b="b" t="t" l="l"/>
              <a:pathLst>
                <a:path h="731520" w="3657600">
                  <a:moveTo>
                    <a:pt x="0" y="0"/>
                  </a:moveTo>
                  <a:lnTo>
                    <a:pt x="3657600" y="0"/>
                  </a:lnTo>
                  <a:lnTo>
                    <a:pt x="3657600" y="731520"/>
                  </a:lnTo>
                  <a:lnTo>
                    <a:pt x="0" y="731520"/>
                  </a:lnTo>
                  <a:close/>
                </a:path>
              </a:pathLst>
            </a:custGeom>
            <a:blipFill>
              <a:blip r:embed="rId4">
                <a:alphaModFix amt="0"/>
              </a:blip>
              <a:stretch>
                <a:fillRect l="0" t="-47357" r="0" b="-47357"/>
              </a:stretch>
            </a:blipFill>
          </p:spPr>
          <p:txBody>
            <a:bodyPr/>
            <a:p/>
          </p:txBody>
        </p:sp>
      </p:grpSp>
      <p:grpSp>
        <p:nvGrpSpPr>
          <p:cNvPr name="Group 89" id="89"/>
          <p:cNvGrpSpPr/>
          <p:nvPr/>
        </p:nvGrpSpPr>
        <p:grpSpPr>
          <a:xfrm rot="0">
            <a:off x="4402836" y="6699409"/>
            <a:ext cx="2743200" cy="570071"/>
            <a:chOff x="0" y="0"/>
            <a:chExt cx="3657600" cy="760095"/>
          </a:xfrm>
        </p:grpSpPr>
        <p:sp>
          <p:nvSpPr>
            <p:cNvPr name="Freeform 90" id="90"/>
            <p:cNvSpPr/>
            <p:nvPr/>
          </p:nvSpPr>
          <p:spPr>
            <a:xfrm flipH="false" flipV="false" rot="0">
              <a:off x="0" y="0"/>
              <a:ext cx="3657600" cy="760095"/>
            </a:xfrm>
            <a:custGeom>
              <a:avLst/>
              <a:gdLst/>
              <a:ahLst/>
              <a:cxnLst/>
              <a:rect r="r" b="b" t="t" l="l"/>
              <a:pathLst>
                <a:path h="760095" w="3657600">
                  <a:moveTo>
                    <a:pt x="0" y="0"/>
                  </a:moveTo>
                  <a:lnTo>
                    <a:pt x="3657600" y="0"/>
                  </a:lnTo>
                  <a:lnTo>
                    <a:pt x="3657600" y="760095"/>
                  </a:lnTo>
                  <a:lnTo>
                    <a:pt x="0" y="760095"/>
                  </a:lnTo>
                  <a:close/>
                </a:path>
              </a:pathLst>
            </a:custGeom>
            <a:blipFill>
              <a:blip r:embed="rId5">
                <a:alphaModFix amt="0"/>
              </a:blip>
              <a:stretch>
                <a:fillRect l="0" t="-43697" r="0" b="-43697"/>
              </a:stretch>
            </a:blipFill>
          </p:spPr>
          <p:txBody>
            <a:bodyPr/>
            <a:p/>
          </p:txBody>
        </p:sp>
      </p:grpSp>
      <p:grpSp>
        <p:nvGrpSpPr>
          <p:cNvPr name="Group 91" id="91"/>
          <p:cNvGrpSpPr/>
          <p:nvPr/>
        </p:nvGrpSpPr>
        <p:grpSpPr>
          <a:xfrm rot="0">
            <a:off x="4402836" y="6677978"/>
            <a:ext cx="2743200" cy="591502"/>
            <a:chOff x="0" y="0"/>
            <a:chExt cx="3657600" cy="788670"/>
          </a:xfrm>
        </p:grpSpPr>
        <p:sp>
          <p:nvSpPr>
            <p:cNvPr name="Freeform 92" id="92"/>
            <p:cNvSpPr/>
            <p:nvPr/>
          </p:nvSpPr>
          <p:spPr>
            <a:xfrm flipH="false" flipV="false" rot="0">
              <a:off x="0" y="0"/>
              <a:ext cx="3657600" cy="788670"/>
            </a:xfrm>
            <a:custGeom>
              <a:avLst/>
              <a:gdLst/>
              <a:ahLst/>
              <a:cxnLst/>
              <a:rect r="r" b="b" t="t" l="l"/>
              <a:pathLst>
                <a:path h="788670" w="3657600">
                  <a:moveTo>
                    <a:pt x="0" y="0"/>
                  </a:moveTo>
                  <a:lnTo>
                    <a:pt x="3657600" y="0"/>
                  </a:lnTo>
                  <a:lnTo>
                    <a:pt x="3657600" y="788670"/>
                  </a:lnTo>
                  <a:lnTo>
                    <a:pt x="0" y="788670"/>
                  </a:lnTo>
                  <a:close/>
                </a:path>
              </a:pathLst>
            </a:custGeom>
            <a:blipFill>
              <a:blip r:embed="rId6">
                <a:alphaModFix amt="0"/>
              </a:blip>
              <a:stretch>
                <a:fillRect l="0" t="-40365" r="0" b="-40365"/>
              </a:stretch>
            </a:blipFill>
          </p:spPr>
          <p:txBody>
            <a:bodyPr/>
            <a:p/>
          </p:txBody>
        </p:sp>
        <p:sp>
          <p:nvSpPr>
            <p:cNvPr name="TextBox 93" id="93"/>
            <p:cNvSpPr txBox="true"/>
            <p:nvPr/>
          </p:nvSpPr>
          <p:spPr>
            <a:xfrm>
              <a:off x="0" y="-28575"/>
              <a:ext cx="3657600" cy="817245"/>
            </a:xfrm>
            <a:prstGeom prst="rect">
              <a:avLst/>
            </a:prstGeom>
          </p:spPr>
          <p:txBody>
            <a:bodyPr anchor="ctr" rtlCol="false" tIns="0" lIns="0" bIns="0" rIns="0"/>
            <a:lstStyle/>
            <a:p>
              <a:pPr algn="ctr">
                <a:lnSpc>
                  <a:spcPts val="1980"/>
                </a:lnSpc>
              </a:pPr>
              <a:r>
                <a:rPr lang="en-US" sz="1650" b="true">
                  <a:solidFill>
                    <a:srgbClr val="0B5E6E"/>
                  </a:solidFill>
                  <a:latin typeface="Calibri (MS) Bold"/>
                  <a:ea typeface="Calibri (MS) Bold"/>
                  <a:cs typeface="Calibri (MS) Bold"/>
                  <a:sym typeface="Calibri (MS) Bold"/>
                </a:rPr>
                <a:t>Dipertahankan</a:t>
              </a:r>
            </a:p>
          </p:txBody>
        </p:sp>
      </p:grpSp>
      <p:grpSp>
        <p:nvGrpSpPr>
          <p:cNvPr name="Group 94" id="94"/>
          <p:cNvGrpSpPr/>
          <p:nvPr/>
        </p:nvGrpSpPr>
        <p:grpSpPr>
          <a:xfrm rot="0">
            <a:off x="7571232" y="2400300"/>
            <a:ext cx="3154680" cy="5143500"/>
            <a:chOff x="0" y="0"/>
            <a:chExt cx="4206240" cy="6858000"/>
          </a:xfrm>
        </p:grpSpPr>
        <p:sp>
          <p:nvSpPr>
            <p:cNvPr name="Freeform 95" id="95"/>
            <p:cNvSpPr/>
            <p:nvPr/>
          </p:nvSpPr>
          <p:spPr>
            <a:xfrm flipH="false" flipV="false" rot="0">
              <a:off x="0" y="0"/>
              <a:ext cx="4206240" cy="6858000"/>
            </a:xfrm>
            <a:custGeom>
              <a:avLst/>
              <a:gdLst/>
              <a:ahLst/>
              <a:cxnLst/>
              <a:rect r="r" b="b" t="t" l="l"/>
              <a:pathLst>
                <a:path h="6858000" w="4206240">
                  <a:moveTo>
                    <a:pt x="0" y="182880"/>
                  </a:moveTo>
                  <a:cubicBezTo>
                    <a:pt x="0" y="81915"/>
                    <a:pt x="81915" y="0"/>
                    <a:pt x="182880" y="0"/>
                  </a:cubicBezTo>
                  <a:lnTo>
                    <a:pt x="4023360" y="0"/>
                  </a:lnTo>
                  <a:cubicBezTo>
                    <a:pt x="4124325" y="0"/>
                    <a:pt x="4206240" y="81915"/>
                    <a:pt x="4206240" y="182880"/>
                  </a:cubicBezTo>
                  <a:lnTo>
                    <a:pt x="4206240" y="6675120"/>
                  </a:lnTo>
                  <a:cubicBezTo>
                    <a:pt x="4206240" y="6776085"/>
                    <a:pt x="4124325" y="6858000"/>
                    <a:pt x="4023360" y="6858000"/>
                  </a:cubicBezTo>
                  <a:lnTo>
                    <a:pt x="182880" y="6858000"/>
                  </a:lnTo>
                  <a:cubicBezTo>
                    <a:pt x="81915" y="6858000"/>
                    <a:pt x="0" y="6776085"/>
                    <a:pt x="0" y="6675120"/>
                  </a:cubicBezTo>
                  <a:close/>
                </a:path>
              </a:pathLst>
            </a:custGeom>
            <a:solidFill>
              <a:srgbClr val="EAF8FA"/>
            </a:solidFill>
          </p:spPr>
          <p:txBody>
            <a:bodyPr/>
            <a:p/>
          </p:txBody>
        </p:sp>
      </p:grpSp>
      <p:sp>
        <p:nvSpPr>
          <p:cNvPr name="TextBox 96" id="96"/>
          <p:cNvSpPr txBox="true"/>
          <p:nvPr/>
        </p:nvSpPr>
        <p:spPr>
          <a:xfrm rot="0">
            <a:off x="7845552" y="2576322"/>
            <a:ext cx="2606040" cy="400050"/>
          </a:xfrm>
          <a:prstGeom prst="rect">
            <a:avLst/>
          </a:prstGeom>
        </p:spPr>
        <p:txBody>
          <a:bodyPr anchor="t" rtlCol="false" tIns="0" lIns="0" bIns="0" rIns="0">
            <a:spAutoFit/>
          </a:bodyPr>
          <a:lstStyle/>
          <a:p>
            <a:pPr algn="l">
              <a:lnSpc>
                <a:spcPts val="1889"/>
              </a:lnSpc>
            </a:pPr>
            <a:r>
              <a:rPr lang="en-US" sz="1575" b="true">
                <a:solidFill>
                  <a:srgbClr val="5E6E78"/>
                </a:solidFill>
                <a:latin typeface="Calibri (MS) Bold"/>
                <a:ea typeface="Calibri (MS) Bold"/>
                <a:cs typeface="Calibri (MS) Bold"/>
                <a:sym typeface="Calibri (MS) Bold"/>
              </a:rPr>
              <a:t>TAHAP 2</a:t>
            </a:r>
          </a:p>
        </p:txBody>
      </p:sp>
      <p:sp>
        <p:nvSpPr>
          <p:cNvPr name="TextBox 97" id="97"/>
          <p:cNvSpPr txBox="true"/>
          <p:nvPr/>
        </p:nvSpPr>
        <p:spPr>
          <a:xfrm rot="0">
            <a:off x="7845552" y="2846070"/>
            <a:ext cx="2606040" cy="1131570"/>
          </a:xfrm>
          <a:prstGeom prst="rect">
            <a:avLst/>
          </a:prstGeom>
        </p:spPr>
        <p:txBody>
          <a:bodyPr anchor="t" rtlCol="false" tIns="0" lIns="0" bIns="0" rIns="0">
            <a:spAutoFit/>
          </a:bodyPr>
          <a:lstStyle/>
          <a:p>
            <a:pPr algn="l">
              <a:lnSpc>
                <a:spcPts val="2700"/>
              </a:lnSpc>
            </a:pPr>
            <a:r>
              <a:rPr lang="en-US" sz="2250" b="true">
                <a:solidFill>
                  <a:srgbClr val="0B5E6E"/>
                </a:solidFill>
                <a:latin typeface="Calibri (MS) Bold"/>
                <a:ea typeface="Calibri (MS) Bold"/>
                <a:cs typeface="Calibri (MS) Bold"/>
                <a:sym typeface="Calibri (MS) Bold"/>
              </a:rPr>
              <a:t>Subsistem lahan</a:t>
            </a:r>
          </a:p>
        </p:txBody>
      </p:sp>
      <p:sp>
        <p:nvSpPr>
          <p:cNvPr name="TextBox 98" id="98"/>
          <p:cNvSpPr txBox="true"/>
          <p:nvPr/>
        </p:nvSpPr>
        <p:spPr>
          <a:xfrm rot="0">
            <a:off x="7845552" y="3931920"/>
            <a:ext cx="2606040" cy="2651760"/>
          </a:xfrm>
          <a:prstGeom prst="rect">
            <a:avLst/>
          </a:prstGeom>
        </p:spPr>
        <p:txBody>
          <a:bodyPr anchor="t" rtlCol="false" tIns="0" lIns="0" bIns="0" rIns="0">
            <a:spAutoFit/>
          </a:bodyPr>
          <a:lstStyle/>
          <a:p>
            <a:pPr algn="l">
              <a:lnSpc>
                <a:spcPts val="2070"/>
              </a:lnSpc>
            </a:pPr>
            <a:r>
              <a:rPr lang="en-US" sz="1725">
                <a:solidFill>
                  <a:srgbClr val="14313B"/>
                </a:solidFill>
                <a:latin typeface="Calibri (MS)"/>
                <a:ea typeface="Calibri (MS)"/>
                <a:cs typeface="Calibri (MS)"/>
                <a:sym typeface="Calibri (MS)"/>
              </a:rPr>
              <a:t>Laju konversi dasar optimum 0,0638662 (selang 95% LOGEST 0,0034–0,0851); memenuhi kriteria adopsi</a:t>
            </a:r>
          </a:p>
        </p:txBody>
      </p:sp>
      <p:grpSp>
        <p:nvGrpSpPr>
          <p:cNvPr name="Group 99" id="99"/>
          <p:cNvGrpSpPr/>
          <p:nvPr/>
        </p:nvGrpSpPr>
        <p:grpSpPr>
          <a:xfrm rot="0">
            <a:off x="7776972" y="6720840"/>
            <a:ext cx="2743200" cy="548640"/>
            <a:chOff x="0" y="0"/>
            <a:chExt cx="3657600" cy="731520"/>
          </a:xfrm>
        </p:grpSpPr>
        <p:sp>
          <p:nvSpPr>
            <p:cNvPr name="Freeform 100" id="100"/>
            <p:cNvSpPr/>
            <p:nvPr/>
          </p:nvSpPr>
          <p:spPr>
            <a:xfrm flipH="false" flipV="false" rot="0">
              <a:off x="0" y="0"/>
              <a:ext cx="3657600" cy="731520"/>
            </a:xfrm>
            <a:custGeom>
              <a:avLst/>
              <a:gdLst/>
              <a:ahLst/>
              <a:cxnLst/>
              <a:rect r="r" b="b" t="t" l="l"/>
              <a:pathLst>
                <a:path h="731520" w="3657600">
                  <a:moveTo>
                    <a:pt x="0" y="365760"/>
                  </a:moveTo>
                  <a:cubicBezTo>
                    <a:pt x="0" y="163703"/>
                    <a:pt x="163703" y="0"/>
                    <a:pt x="365760" y="0"/>
                  </a:cubicBezTo>
                  <a:lnTo>
                    <a:pt x="3291840" y="0"/>
                  </a:lnTo>
                  <a:cubicBezTo>
                    <a:pt x="3493897" y="0"/>
                    <a:pt x="3657600" y="163703"/>
                    <a:pt x="3657600" y="365760"/>
                  </a:cubicBezTo>
                  <a:cubicBezTo>
                    <a:pt x="3657600" y="567817"/>
                    <a:pt x="3493897" y="731520"/>
                    <a:pt x="3291840" y="731520"/>
                  </a:cubicBezTo>
                  <a:lnTo>
                    <a:pt x="365760" y="731520"/>
                  </a:lnTo>
                  <a:cubicBezTo>
                    <a:pt x="163703" y="731520"/>
                    <a:pt x="0" y="567817"/>
                    <a:pt x="0" y="365760"/>
                  </a:cubicBezTo>
                  <a:close/>
                </a:path>
              </a:pathLst>
            </a:custGeom>
            <a:solidFill>
              <a:srgbClr val="FFD23B"/>
            </a:solidFill>
          </p:spPr>
          <p:txBody>
            <a:bodyPr/>
            <a:p/>
          </p:txBody>
        </p:sp>
      </p:grpSp>
      <p:grpSp>
        <p:nvGrpSpPr>
          <p:cNvPr name="Group 101" id="101"/>
          <p:cNvGrpSpPr/>
          <p:nvPr/>
        </p:nvGrpSpPr>
        <p:grpSpPr>
          <a:xfrm rot="0">
            <a:off x="7776972" y="6720840"/>
            <a:ext cx="2743200" cy="548640"/>
            <a:chOff x="0" y="0"/>
            <a:chExt cx="3657600" cy="731520"/>
          </a:xfrm>
        </p:grpSpPr>
        <p:sp>
          <p:nvSpPr>
            <p:cNvPr name="Freeform 102" id="102"/>
            <p:cNvSpPr/>
            <p:nvPr/>
          </p:nvSpPr>
          <p:spPr>
            <a:xfrm flipH="false" flipV="false" rot="0">
              <a:off x="0" y="0"/>
              <a:ext cx="3657600" cy="731520"/>
            </a:xfrm>
            <a:custGeom>
              <a:avLst/>
              <a:gdLst/>
              <a:ahLst/>
              <a:cxnLst/>
              <a:rect r="r" b="b" t="t" l="l"/>
              <a:pathLst>
                <a:path h="731520" w="3657600">
                  <a:moveTo>
                    <a:pt x="0" y="0"/>
                  </a:moveTo>
                  <a:lnTo>
                    <a:pt x="3657600" y="0"/>
                  </a:lnTo>
                  <a:lnTo>
                    <a:pt x="3657600" y="731520"/>
                  </a:lnTo>
                  <a:lnTo>
                    <a:pt x="0" y="731520"/>
                  </a:lnTo>
                  <a:close/>
                </a:path>
              </a:pathLst>
            </a:custGeom>
            <a:blipFill>
              <a:blip r:embed="rId4">
                <a:alphaModFix amt="0"/>
              </a:blip>
              <a:stretch>
                <a:fillRect l="0" t="-47357" r="0" b="-47357"/>
              </a:stretch>
            </a:blipFill>
          </p:spPr>
          <p:txBody>
            <a:bodyPr/>
            <a:p/>
          </p:txBody>
        </p:sp>
      </p:grpSp>
      <p:grpSp>
        <p:nvGrpSpPr>
          <p:cNvPr name="Group 103" id="103"/>
          <p:cNvGrpSpPr/>
          <p:nvPr/>
        </p:nvGrpSpPr>
        <p:grpSpPr>
          <a:xfrm rot="0">
            <a:off x="7776972" y="6699409"/>
            <a:ext cx="2743200" cy="570071"/>
            <a:chOff x="0" y="0"/>
            <a:chExt cx="3657600" cy="760095"/>
          </a:xfrm>
        </p:grpSpPr>
        <p:sp>
          <p:nvSpPr>
            <p:cNvPr name="Freeform 104" id="104"/>
            <p:cNvSpPr/>
            <p:nvPr/>
          </p:nvSpPr>
          <p:spPr>
            <a:xfrm flipH="false" flipV="false" rot="0">
              <a:off x="0" y="0"/>
              <a:ext cx="3657600" cy="760095"/>
            </a:xfrm>
            <a:custGeom>
              <a:avLst/>
              <a:gdLst/>
              <a:ahLst/>
              <a:cxnLst/>
              <a:rect r="r" b="b" t="t" l="l"/>
              <a:pathLst>
                <a:path h="760095" w="3657600">
                  <a:moveTo>
                    <a:pt x="0" y="0"/>
                  </a:moveTo>
                  <a:lnTo>
                    <a:pt x="3657600" y="0"/>
                  </a:lnTo>
                  <a:lnTo>
                    <a:pt x="3657600" y="760095"/>
                  </a:lnTo>
                  <a:lnTo>
                    <a:pt x="0" y="760095"/>
                  </a:lnTo>
                  <a:close/>
                </a:path>
              </a:pathLst>
            </a:custGeom>
            <a:blipFill>
              <a:blip r:embed="rId5">
                <a:alphaModFix amt="0"/>
              </a:blip>
              <a:stretch>
                <a:fillRect l="0" t="-43697" r="0" b="-43697"/>
              </a:stretch>
            </a:blipFill>
          </p:spPr>
          <p:txBody>
            <a:bodyPr/>
            <a:p/>
          </p:txBody>
        </p:sp>
      </p:grpSp>
      <p:grpSp>
        <p:nvGrpSpPr>
          <p:cNvPr name="Group 105" id="105"/>
          <p:cNvGrpSpPr/>
          <p:nvPr/>
        </p:nvGrpSpPr>
        <p:grpSpPr>
          <a:xfrm rot="0">
            <a:off x="7776972" y="6677978"/>
            <a:ext cx="2743200" cy="591502"/>
            <a:chOff x="0" y="0"/>
            <a:chExt cx="3657600" cy="788670"/>
          </a:xfrm>
        </p:grpSpPr>
        <p:sp>
          <p:nvSpPr>
            <p:cNvPr name="Freeform 106" id="106"/>
            <p:cNvSpPr/>
            <p:nvPr/>
          </p:nvSpPr>
          <p:spPr>
            <a:xfrm flipH="false" flipV="false" rot="0">
              <a:off x="0" y="0"/>
              <a:ext cx="3657600" cy="788670"/>
            </a:xfrm>
            <a:custGeom>
              <a:avLst/>
              <a:gdLst/>
              <a:ahLst/>
              <a:cxnLst/>
              <a:rect r="r" b="b" t="t" l="l"/>
              <a:pathLst>
                <a:path h="788670" w="3657600">
                  <a:moveTo>
                    <a:pt x="0" y="0"/>
                  </a:moveTo>
                  <a:lnTo>
                    <a:pt x="3657600" y="0"/>
                  </a:lnTo>
                  <a:lnTo>
                    <a:pt x="3657600" y="788670"/>
                  </a:lnTo>
                  <a:lnTo>
                    <a:pt x="0" y="788670"/>
                  </a:lnTo>
                  <a:close/>
                </a:path>
              </a:pathLst>
            </a:custGeom>
            <a:blipFill>
              <a:blip r:embed="rId6">
                <a:alphaModFix amt="0"/>
              </a:blip>
              <a:stretch>
                <a:fillRect l="0" t="-40365" r="0" b="-40365"/>
              </a:stretch>
            </a:blipFill>
          </p:spPr>
          <p:txBody>
            <a:bodyPr/>
            <a:p/>
          </p:txBody>
        </p:sp>
        <p:sp>
          <p:nvSpPr>
            <p:cNvPr name="TextBox 107" id="107"/>
            <p:cNvSpPr txBox="true"/>
            <p:nvPr/>
          </p:nvSpPr>
          <p:spPr>
            <a:xfrm>
              <a:off x="0" y="-28575"/>
              <a:ext cx="3657600" cy="817245"/>
            </a:xfrm>
            <a:prstGeom prst="rect">
              <a:avLst/>
            </a:prstGeom>
          </p:spPr>
          <p:txBody>
            <a:bodyPr anchor="ctr" rtlCol="false" tIns="0" lIns="0" bIns="0" rIns="0"/>
            <a:lstStyle/>
            <a:p>
              <a:pPr algn="ctr">
                <a:lnSpc>
                  <a:spcPts val="1980"/>
                </a:lnSpc>
              </a:pPr>
              <a:r>
                <a:rPr lang="en-US" sz="1650" b="true">
                  <a:solidFill>
                    <a:srgbClr val="14313B"/>
                  </a:solidFill>
                  <a:latin typeface="Calibri (MS) Bold"/>
                  <a:ea typeface="Calibri (MS) Bold"/>
                  <a:cs typeface="Calibri (MS) Bold"/>
                  <a:sym typeface="Calibri (MS) Bold"/>
                </a:rPr>
                <a:t>Sementara diadopsi</a:t>
              </a:r>
            </a:p>
          </p:txBody>
        </p:sp>
      </p:grpSp>
      <p:grpSp>
        <p:nvGrpSpPr>
          <p:cNvPr name="Group 108" id="108"/>
          <p:cNvGrpSpPr/>
          <p:nvPr/>
        </p:nvGrpSpPr>
        <p:grpSpPr>
          <a:xfrm rot="0">
            <a:off x="10945368" y="2400300"/>
            <a:ext cx="3154680" cy="5143500"/>
            <a:chOff x="0" y="0"/>
            <a:chExt cx="4206240" cy="6858000"/>
          </a:xfrm>
        </p:grpSpPr>
        <p:sp>
          <p:nvSpPr>
            <p:cNvPr name="Freeform 109" id="109"/>
            <p:cNvSpPr/>
            <p:nvPr/>
          </p:nvSpPr>
          <p:spPr>
            <a:xfrm flipH="false" flipV="false" rot="0">
              <a:off x="0" y="0"/>
              <a:ext cx="4206240" cy="6858000"/>
            </a:xfrm>
            <a:custGeom>
              <a:avLst/>
              <a:gdLst/>
              <a:ahLst/>
              <a:cxnLst/>
              <a:rect r="r" b="b" t="t" l="l"/>
              <a:pathLst>
                <a:path h="6858000" w="4206240">
                  <a:moveTo>
                    <a:pt x="0" y="182880"/>
                  </a:moveTo>
                  <a:cubicBezTo>
                    <a:pt x="0" y="81915"/>
                    <a:pt x="81915" y="0"/>
                    <a:pt x="182880" y="0"/>
                  </a:cubicBezTo>
                  <a:lnTo>
                    <a:pt x="4023360" y="0"/>
                  </a:lnTo>
                  <a:cubicBezTo>
                    <a:pt x="4124325" y="0"/>
                    <a:pt x="4206240" y="81915"/>
                    <a:pt x="4206240" y="182880"/>
                  </a:cubicBezTo>
                  <a:lnTo>
                    <a:pt x="4206240" y="6675120"/>
                  </a:lnTo>
                  <a:cubicBezTo>
                    <a:pt x="4206240" y="6776085"/>
                    <a:pt x="4124325" y="6858000"/>
                    <a:pt x="4023360" y="6858000"/>
                  </a:cubicBezTo>
                  <a:lnTo>
                    <a:pt x="182880" y="6858000"/>
                  </a:lnTo>
                  <a:cubicBezTo>
                    <a:pt x="81915" y="6858000"/>
                    <a:pt x="0" y="6776085"/>
                    <a:pt x="0" y="6675120"/>
                  </a:cubicBezTo>
                  <a:close/>
                </a:path>
              </a:pathLst>
            </a:custGeom>
            <a:solidFill>
              <a:srgbClr val="EAF8FA"/>
            </a:solidFill>
          </p:spPr>
          <p:txBody>
            <a:bodyPr/>
            <a:p/>
          </p:txBody>
        </p:sp>
      </p:grpSp>
      <p:sp>
        <p:nvSpPr>
          <p:cNvPr name="TextBox 110" id="110"/>
          <p:cNvSpPr txBox="true"/>
          <p:nvPr/>
        </p:nvSpPr>
        <p:spPr>
          <a:xfrm rot="0">
            <a:off x="11219688" y="2576322"/>
            <a:ext cx="2606040" cy="400050"/>
          </a:xfrm>
          <a:prstGeom prst="rect">
            <a:avLst/>
          </a:prstGeom>
        </p:spPr>
        <p:txBody>
          <a:bodyPr anchor="t" rtlCol="false" tIns="0" lIns="0" bIns="0" rIns="0">
            <a:spAutoFit/>
          </a:bodyPr>
          <a:lstStyle/>
          <a:p>
            <a:pPr algn="l">
              <a:lnSpc>
                <a:spcPts val="1889"/>
              </a:lnSpc>
            </a:pPr>
            <a:r>
              <a:rPr lang="en-US" sz="1575" b="true">
                <a:solidFill>
                  <a:srgbClr val="5E6E78"/>
                </a:solidFill>
                <a:latin typeface="Calibri (MS) Bold"/>
                <a:ea typeface="Calibri (MS) Bold"/>
                <a:cs typeface="Calibri (MS) Bold"/>
                <a:sym typeface="Calibri (MS) Bold"/>
              </a:rPr>
              <a:t>TAHAP 3</a:t>
            </a:r>
          </a:p>
        </p:txBody>
      </p:sp>
      <p:sp>
        <p:nvSpPr>
          <p:cNvPr name="TextBox 111" id="111"/>
          <p:cNvSpPr txBox="true"/>
          <p:nvPr/>
        </p:nvSpPr>
        <p:spPr>
          <a:xfrm rot="0">
            <a:off x="11219688" y="2846070"/>
            <a:ext cx="2606040" cy="1131570"/>
          </a:xfrm>
          <a:prstGeom prst="rect">
            <a:avLst/>
          </a:prstGeom>
        </p:spPr>
        <p:txBody>
          <a:bodyPr anchor="t" rtlCol="false" tIns="0" lIns="0" bIns="0" rIns="0">
            <a:spAutoFit/>
          </a:bodyPr>
          <a:lstStyle/>
          <a:p>
            <a:pPr algn="l">
              <a:lnSpc>
                <a:spcPts val="2700"/>
              </a:lnSpc>
            </a:pPr>
            <a:r>
              <a:rPr lang="en-US" sz="2250" b="true">
                <a:solidFill>
                  <a:srgbClr val="0B5E6E"/>
                </a:solidFill>
                <a:latin typeface="Calibri (MS) Bold"/>
                <a:ea typeface="Calibri (MS) Bold"/>
                <a:cs typeface="Calibri (MS) Bold"/>
                <a:sym typeface="Calibri (MS) Bold"/>
              </a:rPr>
              <a:t>Subsistem wisatawan</a:t>
            </a:r>
          </a:p>
        </p:txBody>
      </p:sp>
      <p:sp>
        <p:nvSpPr>
          <p:cNvPr name="TextBox 112" id="112"/>
          <p:cNvSpPr txBox="true"/>
          <p:nvPr/>
        </p:nvSpPr>
        <p:spPr>
          <a:xfrm rot="0">
            <a:off x="11219688" y="3931920"/>
            <a:ext cx="2606040" cy="2651760"/>
          </a:xfrm>
          <a:prstGeom prst="rect">
            <a:avLst/>
          </a:prstGeom>
        </p:spPr>
        <p:txBody>
          <a:bodyPr anchor="t" rtlCol="false" tIns="0" lIns="0" bIns="0" rIns="0">
            <a:spAutoFit/>
          </a:bodyPr>
          <a:lstStyle/>
          <a:p>
            <a:pPr algn="l">
              <a:lnSpc>
                <a:spcPts val="2070"/>
              </a:lnSpc>
            </a:pPr>
            <a:r>
              <a:rPr lang="en-US" sz="1725">
                <a:solidFill>
                  <a:srgbClr val="14313B"/>
                </a:solidFill>
                <a:latin typeface="Calibri (MS)"/>
                <a:ea typeface="Calibri (MS)"/>
                <a:cs typeface="Calibri (MS)"/>
                <a:sym typeface="Calibri (MS)"/>
              </a:rPr>
              <a:t>LPE dan LPD tidak bisa ditentukan terpisah; data hanya menentukan selisih bersihnya → hanya untuk pemeriksaan</a:t>
            </a:r>
          </a:p>
        </p:txBody>
      </p:sp>
      <p:grpSp>
        <p:nvGrpSpPr>
          <p:cNvPr name="Group 113" id="113"/>
          <p:cNvGrpSpPr/>
          <p:nvPr/>
        </p:nvGrpSpPr>
        <p:grpSpPr>
          <a:xfrm rot="0">
            <a:off x="11151108" y="6720840"/>
            <a:ext cx="2743200" cy="548640"/>
            <a:chOff x="0" y="0"/>
            <a:chExt cx="3657600" cy="731520"/>
          </a:xfrm>
        </p:grpSpPr>
        <p:sp>
          <p:nvSpPr>
            <p:cNvPr name="Freeform 114" id="114"/>
            <p:cNvSpPr/>
            <p:nvPr/>
          </p:nvSpPr>
          <p:spPr>
            <a:xfrm flipH="false" flipV="false" rot="0">
              <a:off x="0" y="0"/>
              <a:ext cx="3657600" cy="731520"/>
            </a:xfrm>
            <a:custGeom>
              <a:avLst/>
              <a:gdLst/>
              <a:ahLst/>
              <a:cxnLst/>
              <a:rect r="r" b="b" t="t" l="l"/>
              <a:pathLst>
                <a:path h="731520" w="3657600">
                  <a:moveTo>
                    <a:pt x="0" y="365760"/>
                  </a:moveTo>
                  <a:cubicBezTo>
                    <a:pt x="0" y="163703"/>
                    <a:pt x="163703" y="0"/>
                    <a:pt x="365760" y="0"/>
                  </a:cubicBezTo>
                  <a:lnTo>
                    <a:pt x="3291840" y="0"/>
                  </a:lnTo>
                  <a:cubicBezTo>
                    <a:pt x="3493897" y="0"/>
                    <a:pt x="3657600" y="163703"/>
                    <a:pt x="3657600" y="365760"/>
                  </a:cubicBezTo>
                  <a:cubicBezTo>
                    <a:pt x="3657600" y="567817"/>
                    <a:pt x="3493897" y="731520"/>
                    <a:pt x="3291840" y="731520"/>
                  </a:cubicBezTo>
                  <a:lnTo>
                    <a:pt x="365760" y="731520"/>
                  </a:lnTo>
                  <a:cubicBezTo>
                    <a:pt x="163703" y="731520"/>
                    <a:pt x="0" y="567817"/>
                    <a:pt x="0" y="365760"/>
                  </a:cubicBezTo>
                  <a:close/>
                </a:path>
              </a:pathLst>
            </a:custGeom>
            <a:solidFill>
              <a:srgbClr val="EAF8FA"/>
            </a:solidFill>
          </p:spPr>
          <p:txBody>
            <a:bodyPr/>
            <a:p/>
          </p:txBody>
        </p:sp>
      </p:grpSp>
      <p:grpSp>
        <p:nvGrpSpPr>
          <p:cNvPr name="Group 115" id="115"/>
          <p:cNvGrpSpPr/>
          <p:nvPr/>
        </p:nvGrpSpPr>
        <p:grpSpPr>
          <a:xfrm rot="0">
            <a:off x="11151108" y="6720840"/>
            <a:ext cx="2743200" cy="548640"/>
            <a:chOff x="0" y="0"/>
            <a:chExt cx="3657600" cy="731520"/>
          </a:xfrm>
        </p:grpSpPr>
        <p:sp>
          <p:nvSpPr>
            <p:cNvPr name="Freeform 116" id="116"/>
            <p:cNvSpPr/>
            <p:nvPr/>
          </p:nvSpPr>
          <p:spPr>
            <a:xfrm flipH="false" flipV="false" rot="0">
              <a:off x="0" y="0"/>
              <a:ext cx="3657600" cy="731520"/>
            </a:xfrm>
            <a:custGeom>
              <a:avLst/>
              <a:gdLst/>
              <a:ahLst/>
              <a:cxnLst/>
              <a:rect r="r" b="b" t="t" l="l"/>
              <a:pathLst>
                <a:path h="731520" w="3657600">
                  <a:moveTo>
                    <a:pt x="0" y="0"/>
                  </a:moveTo>
                  <a:lnTo>
                    <a:pt x="3657600" y="0"/>
                  </a:lnTo>
                  <a:lnTo>
                    <a:pt x="3657600" y="731520"/>
                  </a:lnTo>
                  <a:lnTo>
                    <a:pt x="0" y="731520"/>
                  </a:lnTo>
                  <a:close/>
                </a:path>
              </a:pathLst>
            </a:custGeom>
            <a:blipFill>
              <a:blip r:embed="rId4">
                <a:alphaModFix amt="0"/>
              </a:blip>
              <a:stretch>
                <a:fillRect l="0" t="-47357" r="0" b="-47357"/>
              </a:stretch>
            </a:blipFill>
          </p:spPr>
          <p:txBody>
            <a:bodyPr/>
            <a:p/>
          </p:txBody>
        </p:sp>
      </p:grpSp>
      <p:grpSp>
        <p:nvGrpSpPr>
          <p:cNvPr name="Group 117" id="117"/>
          <p:cNvGrpSpPr/>
          <p:nvPr/>
        </p:nvGrpSpPr>
        <p:grpSpPr>
          <a:xfrm rot="0">
            <a:off x="11151108" y="6699409"/>
            <a:ext cx="2743200" cy="570071"/>
            <a:chOff x="0" y="0"/>
            <a:chExt cx="3657600" cy="760095"/>
          </a:xfrm>
        </p:grpSpPr>
        <p:sp>
          <p:nvSpPr>
            <p:cNvPr name="Freeform 118" id="118"/>
            <p:cNvSpPr/>
            <p:nvPr/>
          </p:nvSpPr>
          <p:spPr>
            <a:xfrm flipH="false" flipV="false" rot="0">
              <a:off x="0" y="0"/>
              <a:ext cx="3657600" cy="760095"/>
            </a:xfrm>
            <a:custGeom>
              <a:avLst/>
              <a:gdLst/>
              <a:ahLst/>
              <a:cxnLst/>
              <a:rect r="r" b="b" t="t" l="l"/>
              <a:pathLst>
                <a:path h="760095" w="3657600">
                  <a:moveTo>
                    <a:pt x="0" y="0"/>
                  </a:moveTo>
                  <a:lnTo>
                    <a:pt x="3657600" y="0"/>
                  </a:lnTo>
                  <a:lnTo>
                    <a:pt x="3657600" y="760095"/>
                  </a:lnTo>
                  <a:lnTo>
                    <a:pt x="0" y="760095"/>
                  </a:lnTo>
                  <a:close/>
                </a:path>
              </a:pathLst>
            </a:custGeom>
            <a:blipFill>
              <a:blip r:embed="rId5">
                <a:alphaModFix amt="0"/>
              </a:blip>
              <a:stretch>
                <a:fillRect l="0" t="-43697" r="0" b="-43697"/>
              </a:stretch>
            </a:blipFill>
          </p:spPr>
          <p:txBody>
            <a:bodyPr/>
            <a:p/>
          </p:txBody>
        </p:sp>
      </p:grpSp>
      <p:grpSp>
        <p:nvGrpSpPr>
          <p:cNvPr name="Group 119" id="119"/>
          <p:cNvGrpSpPr/>
          <p:nvPr/>
        </p:nvGrpSpPr>
        <p:grpSpPr>
          <a:xfrm rot="0">
            <a:off x="11151108" y="6677978"/>
            <a:ext cx="2743200" cy="591502"/>
            <a:chOff x="0" y="0"/>
            <a:chExt cx="3657600" cy="788670"/>
          </a:xfrm>
        </p:grpSpPr>
        <p:sp>
          <p:nvSpPr>
            <p:cNvPr name="Freeform 120" id="120"/>
            <p:cNvSpPr/>
            <p:nvPr/>
          </p:nvSpPr>
          <p:spPr>
            <a:xfrm flipH="false" flipV="false" rot="0">
              <a:off x="0" y="0"/>
              <a:ext cx="3657600" cy="788670"/>
            </a:xfrm>
            <a:custGeom>
              <a:avLst/>
              <a:gdLst/>
              <a:ahLst/>
              <a:cxnLst/>
              <a:rect r="r" b="b" t="t" l="l"/>
              <a:pathLst>
                <a:path h="788670" w="3657600">
                  <a:moveTo>
                    <a:pt x="0" y="0"/>
                  </a:moveTo>
                  <a:lnTo>
                    <a:pt x="3657600" y="0"/>
                  </a:lnTo>
                  <a:lnTo>
                    <a:pt x="3657600" y="788670"/>
                  </a:lnTo>
                  <a:lnTo>
                    <a:pt x="0" y="788670"/>
                  </a:lnTo>
                  <a:close/>
                </a:path>
              </a:pathLst>
            </a:custGeom>
            <a:blipFill>
              <a:blip r:embed="rId6">
                <a:alphaModFix amt="0"/>
              </a:blip>
              <a:stretch>
                <a:fillRect l="0" t="-40365" r="0" b="-40365"/>
              </a:stretch>
            </a:blipFill>
          </p:spPr>
          <p:txBody>
            <a:bodyPr/>
            <a:p/>
          </p:txBody>
        </p:sp>
        <p:sp>
          <p:nvSpPr>
            <p:cNvPr name="TextBox 121" id="121"/>
            <p:cNvSpPr txBox="true"/>
            <p:nvPr/>
          </p:nvSpPr>
          <p:spPr>
            <a:xfrm>
              <a:off x="0" y="-28575"/>
              <a:ext cx="3657600" cy="817245"/>
            </a:xfrm>
            <a:prstGeom prst="rect">
              <a:avLst/>
            </a:prstGeom>
          </p:spPr>
          <p:txBody>
            <a:bodyPr anchor="ctr" rtlCol="false" tIns="0" lIns="0" bIns="0" rIns="0"/>
            <a:lstStyle/>
            <a:p>
              <a:pPr algn="ctr">
                <a:lnSpc>
                  <a:spcPts val="1980"/>
                </a:lnSpc>
              </a:pPr>
              <a:r>
                <a:rPr lang="en-US" sz="1650" b="true">
                  <a:solidFill>
                    <a:srgbClr val="0B5E6E"/>
                  </a:solidFill>
                  <a:latin typeface="Calibri (MS) Bold"/>
                  <a:ea typeface="Calibri (MS) Bold"/>
                  <a:cs typeface="Calibri (MS) Bold"/>
                  <a:sym typeface="Calibri (MS) Bold"/>
                </a:rPr>
                <a:t>Dipertahankan</a:t>
              </a:r>
            </a:p>
          </p:txBody>
        </p:sp>
      </p:grpSp>
      <p:grpSp>
        <p:nvGrpSpPr>
          <p:cNvPr name="Group 122" id="122"/>
          <p:cNvGrpSpPr/>
          <p:nvPr/>
        </p:nvGrpSpPr>
        <p:grpSpPr>
          <a:xfrm rot="0">
            <a:off x="14319504" y="2400300"/>
            <a:ext cx="3154680" cy="5143500"/>
            <a:chOff x="0" y="0"/>
            <a:chExt cx="4206240" cy="6858000"/>
          </a:xfrm>
        </p:grpSpPr>
        <p:sp>
          <p:nvSpPr>
            <p:cNvPr name="Freeform 123" id="123"/>
            <p:cNvSpPr/>
            <p:nvPr/>
          </p:nvSpPr>
          <p:spPr>
            <a:xfrm flipH="false" flipV="false" rot="0">
              <a:off x="0" y="0"/>
              <a:ext cx="4206240" cy="6858000"/>
            </a:xfrm>
            <a:custGeom>
              <a:avLst/>
              <a:gdLst/>
              <a:ahLst/>
              <a:cxnLst/>
              <a:rect r="r" b="b" t="t" l="l"/>
              <a:pathLst>
                <a:path h="6858000" w="4206240">
                  <a:moveTo>
                    <a:pt x="0" y="182880"/>
                  </a:moveTo>
                  <a:cubicBezTo>
                    <a:pt x="0" y="81915"/>
                    <a:pt x="81915" y="0"/>
                    <a:pt x="182880" y="0"/>
                  </a:cubicBezTo>
                  <a:lnTo>
                    <a:pt x="4023360" y="0"/>
                  </a:lnTo>
                  <a:cubicBezTo>
                    <a:pt x="4124325" y="0"/>
                    <a:pt x="4206240" y="81915"/>
                    <a:pt x="4206240" y="182880"/>
                  </a:cubicBezTo>
                  <a:lnTo>
                    <a:pt x="4206240" y="6675120"/>
                  </a:lnTo>
                  <a:cubicBezTo>
                    <a:pt x="4206240" y="6776085"/>
                    <a:pt x="4124325" y="6858000"/>
                    <a:pt x="4023360" y="6858000"/>
                  </a:cubicBezTo>
                  <a:lnTo>
                    <a:pt x="182880" y="6858000"/>
                  </a:lnTo>
                  <a:cubicBezTo>
                    <a:pt x="81915" y="6858000"/>
                    <a:pt x="0" y="6776085"/>
                    <a:pt x="0" y="6675120"/>
                  </a:cubicBezTo>
                  <a:close/>
                </a:path>
              </a:pathLst>
            </a:custGeom>
            <a:solidFill>
              <a:srgbClr val="EAF8FA"/>
            </a:solidFill>
          </p:spPr>
          <p:txBody>
            <a:bodyPr/>
            <a:p/>
          </p:txBody>
        </p:sp>
      </p:grpSp>
      <p:sp>
        <p:nvSpPr>
          <p:cNvPr name="TextBox 124" id="124"/>
          <p:cNvSpPr txBox="true"/>
          <p:nvPr/>
        </p:nvSpPr>
        <p:spPr>
          <a:xfrm rot="0">
            <a:off x="14593824" y="2576322"/>
            <a:ext cx="2606040" cy="400050"/>
          </a:xfrm>
          <a:prstGeom prst="rect">
            <a:avLst/>
          </a:prstGeom>
        </p:spPr>
        <p:txBody>
          <a:bodyPr anchor="t" rtlCol="false" tIns="0" lIns="0" bIns="0" rIns="0">
            <a:spAutoFit/>
          </a:bodyPr>
          <a:lstStyle/>
          <a:p>
            <a:pPr algn="l">
              <a:lnSpc>
                <a:spcPts val="1889"/>
              </a:lnSpc>
            </a:pPr>
            <a:r>
              <a:rPr lang="en-US" sz="1575" b="true">
                <a:solidFill>
                  <a:srgbClr val="5E6E78"/>
                </a:solidFill>
                <a:latin typeface="Calibri (MS) Bold"/>
                <a:ea typeface="Calibri (MS) Bold"/>
                <a:cs typeface="Calibri (MS) Bold"/>
                <a:sym typeface="Calibri (MS) Bold"/>
              </a:rPr>
              <a:t>TAHAP 4</a:t>
            </a:r>
          </a:p>
        </p:txBody>
      </p:sp>
      <p:sp>
        <p:nvSpPr>
          <p:cNvPr name="TextBox 125" id="125"/>
          <p:cNvSpPr txBox="true"/>
          <p:nvPr/>
        </p:nvSpPr>
        <p:spPr>
          <a:xfrm rot="0">
            <a:off x="14593824" y="2846070"/>
            <a:ext cx="2606040" cy="1131570"/>
          </a:xfrm>
          <a:prstGeom prst="rect">
            <a:avLst/>
          </a:prstGeom>
        </p:spPr>
        <p:txBody>
          <a:bodyPr anchor="t" rtlCol="false" tIns="0" lIns="0" bIns="0" rIns="0">
            <a:spAutoFit/>
          </a:bodyPr>
          <a:lstStyle/>
          <a:p>
            <a:pPr algn="l">
              <a:lnSpc>
                <a:spcPts val="2700"/>
              </a:lnSpc>
            </a:pPr>
            <a:r>
              <a:rPr lang="en-US" sz="2250" b="true">
                <a:solidFill>
                  <a:srgbClr val="0B5E6E"/>
                </a:solidFill>
                <a:latin typeface="Calibri (MS) Bold"/>
                <a:ea typeface="Calibri (MS) Bold"/>
                <a:cs typeface="Calibri (MS) Bold"/>
                <a:sym typeface="Calibri (MS) Bold"/>
              </a:rPr>
              <a:t>Uji kompatibilitas</a:t>
            </a:r>
          </a:p>
        </p:txBody>
      </p:sp>
      <p:sp>
        <p:nvSpPr>
          <p:cNvPr name="TextBox 126" id="126"/>
          <p:cNvSpPr txBox="true"/>
          <p:nvPr/>
        </p:nvSpPr>
        <p:spPr>
          <a:xfrm rot="0">
            <a:off x="14593824" y="3931920"/>
            <a:ext cx="2606040" cy="2651760"/>
          </a:xfrm>
          <a:prstGeom prst="rect">
            <a:avLst/>
          </a:prstGeom>
        </p:spPr>
        <p:txBody>
          <a:bodyPr anchor="t" rtlCol="false" tIns="0" lIns="0" bIns="0" rIns="0">
            <a:spAutoFit/>
          </a:bodyPr>
          <a:lstStyle/>
          <a:p>
            <a:pPr algn="l">
              <a:lnSpc>
                <a:spcPts val="2070"/>
              </a:lnSpc>
            </a:pPr>
            <a:r>
              <a:rPr lang="en-US" sz="1725">
                <a:solidFill>
                  <a:srgbClr val="14313B"/>
                </a:solidFill>
                <a:latin typeface="Calibri (MS)"/>
                <a:ea typeface="Calibri (MS)"/>
                <a:cs typeface="Calibri (MS)"/>
                <a:sym typeface="Calibri (MS)"/>
              </a:rPr>
              <a:t>Hasil Tahap 2 memburuk pada model penuh (rasio 1,32 &gt; 1,05) → kembali ke 0,0436052</a:t>
            </a:r>
          </a:p>
        </p:txBody>
      </p:sp>
      <p:grpSp>
        <p:nvGrpSpPr>
          <p:cNvPr name="Group 127" id="127"/>
          <p:cNvGrpSpPr/>
          <p:nvPr/>
        </p:nvGrpSpPr>
        <p:grpSpPr>
          <a:xfrm rot="0">
            <a:off x="14525244" y="6720840"/>
            <a:ext cx="2743200" cy="548640"/>
            <a:chOff x="0" y="0"/>
            <a:chExt cx="3657600" cy="731520"/>
          </a:xfrm>
        </p:grpSpPr>
        <p:sp>
          <p:nvSpPr>
            <p:cNvPr name="Freeform 128" id="128"/>
            <p:cNvSpPr/>
            <p:nvPr/>
          </p:nvSpPr>
          <p:spPr>
            <a:xfrm flipH="false" flipV="false" rot="0">
              <a:off x="0" y="0"/>
              <a:ext cx="3657600" cy="731520"/>
            </a:xfrm>
            <a:custGeom>
              <a:avLst/>
              <a:gdLst/>
              <a:ahLst/>
              <a:cxnLst/>
              <a:rect r="r" b="b" t="t" l="l"/>
              <a:pathLst>
                <a:path h="731520" w="3657600">
                  <a:moveTo>
                    <a:pt x="0" y="365760"/>
                  </a:moveTo>
                  <a:cubicBezTo>
                    <a:pt x="0" y="163703"/>
                    <a:pt x="163703" y="0"/>
                    <a:pt x="365760" y="0"/>
                  </a:cubicBezTo>
                  <a:lnTo>
                    <a:pt x="3291840" y="0"/>
                  </a:lnTo>
                  <a:cubicBezTo>
                    <a:pt x="3493897" y="0"/>
                    <a:pt x="3657600" y="163703"/>
                    <a:pt x="3657600" y="365760"/>
                  </a:cubicBezTo>
                  <a:cubicBezTo>
                    <a:pt x="3657600" y="567817"/>
                    <a:pt x="3493897" y="731520"/>
                    <a:pt x="3291840" y="731520"/>
                  </a:cubicBezTo>
                  <a:lnTo>
                    <a:pt x="365760" y="731520"/>
                  </a:lnTo>
                  <a:cubicBezTo>
                    <a:pt x="163703" y="731520"/>
                    <a:pt x="0" y="567817"/>
                    <a:pt x="0" y="365760"/>
                  </a:cubicBezTo>
                  <a:close/>
                </a:path>
              </a:pathLst>
            </a:custGeom>
            <a:solidFill>
              <a:srgbClr val="E4604F"/>
            </a:solidFill>
          </p:spPr>
          <p:txBody>
            <a:bodyPr/>
            <a:p/>
          </p:txBody>
        </p:sp>
      </p:grpSp>
      <p:grpSp>
        <p:nvGrpSpPr>
          <p:cNvPr name="Group 129" id="129"/>
          <p:cNvGrpSpPr/>
          <p:nvPr/>
        </p:nvGrpSpPr>
        <p:grpSpPr>
          <a:xfrm rot="0">
            <a:off x="14525244" y="6720840"/>
            <a:ext cx="2743200" cy="548640"/>
            <a:chOff x="0" y="0"/>
            <a:chExt cx="3657600" cy="731520"/>
          </a:xfrm>
        </p:grpSpPr>
        <p:sp>
          <p:nvSpPr>
            <p:cNvPr name="Freeform 130" id="130"/>
            <p:cNvSpPr/>
            <p:nvPr/>
          </p:nvSpPr>
          <p:spPr>
            <a:xfrm flipH="false" flipV="false" rot="0">
              <a:off x="0" y="0"/>
              <a:ext cx="3657600" cy="731520"/>
            </a:xfrm>
            <a:custGeom>
              <a:avLst/>
              <a:gdLst/>
              <a:ahLst/>
              <a:cxnLst/>
              <a:rect r="r" b="b" t="t" l="l"/>
              <a:pathLst>
                <a:path h="731520" w="3657600">
                  <a:moveTo>
                    <a:pt x="0" y="0"/>
                  </a:moveTo>
                  <a:lnTo>
                    <a:pt x="3657600" y="0"/>
                  </a:lnTo>
                  <a:lnTo>
                    <a:pt x="3657600" y="731520"/>
                  </a:lnTo>
                  <a:lnTo>
                    <a:pt x="0" y="731520"/>
                  </a:lnTo>
                  <a:close/>
                </a:path>
              </a:pathLst>
            </a:custGeom>
            <a:blipFill>
              <a:blip r:embed="rId4">
                <a:alphaModFix amt="0"/>
              </a:blip>
              <a:stretch>
                <a:fillRect l="0" t="-47357" r="0" b="-47357"/>
              </a:stretch>
            </a:blipFill>
          </p:spPr>
          <p:txBody>
            <a:bodyPr/>
            <a:p/>
          </p:txBody>
        </p:sp>
      </p:grpSp>
      <p:grpSp>
        <p:nvGrpSpPr>
          <p:cNvPr name="Group 131" id="131"/>
          <p:cNvGrpSpPr/>
          <p:nvPr/>
        </p:nvGrpSpPr>
        <p:grpSpPr>
          <a:xfrm rot="0">
            <a:off x="14525244" y="6699409"/>
            <a:ext cx="2743200" cy="570071"/>
            <a:chOff x="0" y="0"/>
            <a:chExt cx="3657600" cy="760095"/>
          </a:xfrm>
        </p:grpSpPr>
        <p:sp>
          <p:nvSpPr>
            <p:cNvPr name="Freeform 132" id="132"/>
            <p:cNvSpPr/>
            <p:nvPr/>
          </p:nvSpPr>
          <p:spPr>
            <a:xfrm flipH="false" flipV="false" rot="0">
              <a:off x="0" y="0"/>
              <a:ext cx="3657600" cy="760095"/>
            </a:xfrm>
            <a:custGeom>
              <a:avLst/>
              <a:gdLst/>
              <a:ahLst/>
              <a:cxnLst/>
              <a:rect r="r" b="b" t="t" l="l"/>
              <a:pathLst>
                <a:path h="760095" w="3657600">
                  <a:moveTo>
                    <a:pt x="0" y="0"/>
                  </a:moveTo>
                  <a:lnTo>
                    <a:pt x="3657600" y="0"/>
                  </a:lnTo>
                  <a:lnTo>
                    <a:pt x="3657600" y="760095"/>
                  </a:lnTo>
                  <a:lnTo>
                    <a:pt x="0" y="760095"/>
                  </a:lnTo>
                  <a:close/>
                </a:path>
              </a:pathLst>
            </a:custGeom>
            <a:blipFill>
              <a:blip r:embed="rId5">
                <a:alphaModFix amt="0"/>
              </a:blip>
              <a:stretch>
                <a:fillRect l="0" t="-43697" r="0" b="-43697"/>
              </a:stretch>
            </a:blipFill>
          </p:spPr>
          <p:txBody>
            <a:bodyPr/>
            <a:p/>
          </p:txBody>
        </p:sp>
      </p:grpSp>
      <p:grpSp>
        <p:nvGrpSpPr>
          <p:cNvPr name="Group 133" id="133"/>
          <p:cNvGrpSpPr/>
          <p:nvPr/>
        </p:nvGrpSpPr>
        <p:grpSpPr>
          <a:xfrm rot="0">
            <a:off x="14525244" y="6677978"/>
            <a:ext cx="2743200" cy="591502"/>
            <a:chOff x="0" y="0"/>
            <a:chExt cx="3657600" cy="788670"/>
          </a:xfrm>
        </p:grpSpPr>
        <p:sp>
          <p:nvSpPr>
            <p:cNvPr name="Freeform 134" id="134"/>
            <p:cNvSpPr/>
            <p:nvPr/>
          </p:nvSpPr>
          <p:spPr>
            <a:xfrm flipH="false" flipV="false" rot="0">
              <a:off x="0" y="0"/>
              <a:ext cx="3657600" cy="788670"/>
            </a:xfrm>
            <a:custGeom>
              <a:avLst/>
              <a:gdLst/>
              <a:ahLst/>
              <a:cxnLst/>
              <a:rect r="r" b="b" t="t" l="l"/>
              <a:pathLst>
                <a:path h="788670" w="3657600">
                  <a:moveTo>
                    <a:pt x="0" y="0"/>
                  </a:moveTo>
                  <a:lnTo>
                    <a:pt x="3657600" y="0"/>
                  </a:lnTo>
                  <a:lnTo>
                    <a:pt x="3657600" y="788670"/>
                  </a:lnTo>
                  <a:lnTo>
                    <a:pt x="0" y="788670"/>
                  </a:lnTo>
                  <a:close/>
                </a:path>
              </a:pathLst>
            </a:custGeom>
            <a:blipFill>
              <a:blip r:embed="rId6">
                <a:alphaModFix amt="0"/>
              </a:blip>
              <a:stretch>
                <a:fillRect l="0" t="-40365" r="0" b="-40365"/>
              </a:stretch>
            </a:blipFill>
          </p:spPr>
          <p:txBody>
            <a:bodyPr/>
            <a:p/>
          </p:txBody>
        </p:sp>
        <p:sp>
          <p:nvSpPr>
            <p:cNvPr name="TextBox 135" id="135"/>
            <p:cNvSpPr txBox="true"/>
            <p:nvPr/>
          </p:nvSpPr>
          <p:spPr>
            <a:xfrm>
              <a:off x="0" y="-28575"/>
              <a:ext cx="3657600" cy="817245"/>
            </a:xfrm>
            <a:prstGeom prst="rect">
              <a:avLst/>
            </a:prstGeom>
          </p:spPr>
          <p:txBody>
            <a:bodyPr anchor="ctr" rtlCol="false" tIns="0" lIns="0" bIns="0" rIns="0"/>
            <a:lstStyle/>
            <a:p>
              <a:pPr algn="ctr">
                <a:lnSpc>
                  <a:spcPts val="1980"/>
                </a:lnSpc>
              </a:pPr>
              <a:r>
                <a:rPr lang="en-US" sz="1650" b="true">
                  <a:solidFill>
                    <a:srgbClr val="FFFFFF"/>
                  </a:solidFill>
                  <a:latin typeface="Calibri (MS) Bold"/>
                  <a:ea typeface="Calibri (MS) Bold"/>
                  <a:cs typeface="Calibri (MS) Bold"/>
                  <a:sym typeface="Calibri (MS) Bold"/>
                </a:rPr>
                <a:t>Ditolak</a:t>
              </a:r>
            </a:p>
          </p:txBody>
        </p:sp>
      </p:grpSp>
      <p:grpSp>
        <p:nvGrpSpPr>
          <p:cNvPr name="Group 136" id="136"/>
          <p:cNvGrpSpPr/>
          <p:nvPr/>
        </p:nvGrpSpPr>
        <p:grpSpPr>
          <a:xfrm rot="0">
            <a:off x="822960" y="7886700"/>
            <a:ext cx="16637508" cy="1371600"/>
            <a:chOff x="0" y="0"/>
            <a:chExt cx="22183344" cy="1828800"/>
          </a:xfrm>
        </p:grpSpPr>
        <p:sp>
          <p:nvSpPr>
            <p:cNvPr name="Freeform 137" id="137"/>
            <p:cNvSpPr/>
            <p:nvPr/>
          </p:nvSpPr>
          <p:spPr>
            <a:xfrm flipH="false" flipV="false" rot="0">
              <a:off x="0" y="0"/>
              <a:ext cx="22183344" cy="1828800"/>
            </a:xfrm>
            <a:custGeom>
              <a:avLst/>
              <a:gdLst/>
              <a:ahLst/>
              <a:cxnLst/>
              <a:rect r="r" b="b" t="t" l="l"/>
              <a:pathLst>
                <a:path h="1828800" w="22183344">
                  <a:moveTo>
                    <a:pt x="0" y="182880"/>
                  </a:moveTo>
                  <a:cubicBezTo>
                    <a:pt x="0" y="81915"/>
                    <a:pt x="81915" y="0"/>
                    <a:pt x="182880" y="0"/>
                  </a:cubicBezTo>
                  <a:lnTo>
                    <a:pt x="22000463" y="0"/>
                  </a:lnTo>
                  <a:cubicBezTo>
                    <a:pt x="22101428" y="0"/>
                    <a:pt x="22183344" y="81915"/>
                    <a:pt x="22183344" y="182880"/>
                  </a:cubicBezTo>
                  <a:lnTo>
                    <a:pt x="22183344" y="1645920"/>
                  </a:lnTo>
                  <a:cubicBezTo>
                    <a:pt x="22183344" y="1746885"/>
                    <a:pt x="22101428" y="1828800"/>
                    <a:pt x="22000463" y="1828800"/>
                  </a:cubicBezTo>
                  <a:lnTo>
                    <a:pt x="182880" y="1828800"/>
                  </a:lnTo>
                  <a:cubicBezTo>
                    <a:pt x="81915" y="1828800"/>
                    <a:pt x="0" y="1746885"/>
                    <a:pt x="0" y="1645920"/>
                  </a:cubicBezTo>
                  <a:close/>
                </a:path>
              </a:pathLst>
            </a:custGeom>
            <a:solidFill>
              <a:srgbClr val="0B5E6E"/>
            </a:solidFill>
          </p:spPr>
          <p:txBody>
            <a:bodyPr/>
            <a:p/>
          </p:txBody>
        </p:sp>
      </p:grpSp>
      <p:grpSp>
        <p:nvGrpSpPr>
          <p:cNvPr name="Group 138" id="138"/>
          <p:cNvGrpSpPr/>
          <p:nvPr/>
        </p:nvGrpSpPr>
        <p:grpSpPr>
          <a:xfrm rot="0">
            <a:off x="1234440" y="7886700"/>
            <a:ext cx="8503920" cy="1371600"/>
            <a:chOff x="0" y="0"/>
            <a:chExt cx="11338560" cy="1828800"/>
          </a:xfrm>
        </p:grpSpPr>
        <p:sp>
          <p:nvSpPr>
            <p:cNvPr name="Freeform 139" id="139"/>
            <p:cNvSpPr/>
            <p:nvPr/>
          </p:nvSpPr>
          <p:spPr>
            <a:xfrm flipH="false" flipV="false" rot="0">
              <a:off x="0" y="0"/>
              <a:ext cx="11338560" cy="1828800"/>
            </a:xfrm>
            <a:custGeom>
              <a:avLst/>
              <a:gdLst/>
              <a:ahLst/>
              <a:cxnLst/>
              <a:rect r="r" b="b" t="t" l="l"/>
              <a:pathLst>
                <a:path h="1828800" w="11338560">
                  <a:moveTo>
                    <a:pt x="0" y="0"/>
                  </a:moveTo>
                  <a:lnTo>
                    <a:pt x="11338560" y="0"/>
                  </a:lnTo>
                  <a:lnTo>
                    <a:pt x="11338560" y="1828800"/>
                  </a:lnTo>
                  <a:lnTo>
                    <a:pt x="0" y="1828800"/>
                  </a:lnTo>
                  <a:close/>
                </a:path>
              </a:pathLst>
            </a:custGeom>
            <a:blipFill>
              <a:blip r:embed="rId4">
                <a:alphaModFix amt="0"/>
              </a:blip>
              <a:stretch>
                <a:fillRect l="0" t="-70722" r="0" b="-70723"/>
              </a:stretch>
            </a:blipFill>
          </p:spPr>
          <p:txBody>
            <a:bodyPr/>
            <a:p/>
          </p:txBody>
        </p:sp>
      </p:grpSp>
      <p:grpSp>
        <p:nvGrpSpPr>
          <p:cNvPr name="Group 140" id="140"/>
          <p:cNvGrpSpPr/>
          <p:nvPr/>
        </p:nvGrpSpPr>
        <p:grpSpPr>
          <a:xfrm rot="0">
            <a:off x="1234440" y="7850981"/>
            <a:ext cx="8503920" cy="1407319"/>
            <a:chOff x="0" y="0"/>
            <a:chExt cx="11338560" cy="1876425"/>
          </a:xfrm>
        </p:grpSpPr>
        <p:sp>
          <p:nvSpPr>
            <p:cNvPr name="Freeform 141" id="141"/>
            <p:cNvSpPr/>
            <p:nvPr/>
          </p:nvSpPr>
          <p:spPr>
            <a:xfrm flipH="false" flipV="false" rot="0">
              <a:off x="0" y="0"/>
              <a:ext cx="11338560" cy="1876425"/>
            </a:xfrm>
            <a:custGeom>
              <a:avLst/>
              <a:gdLst/>
              <a:ahLst/>
              <a:cxnLst/>
              <a:rect r="r" b="b" t="t" l="l"/>
              <a:pathLst>
                <a:path h="1876425" w="11338560">
                  <a:moveTo>
                    <a:pt x="0" y="0"/>
                  </a:moveTo>
                  <a:lnTo>
                    <a:pt x="11338560" y="0"/>
                  </a:lnTo>
                  <a:lnTo>
                    <a:pt x="11338560" y="1876425"/>
                  </a:lnTo>
                  <a:lnTo>
                    <a:pt x="0" y="1876425"/>
                  </a:lnTo>
                  <a:close/>
                </a:path>
              </a:pathLst>
            </a:custGeom>
            <a:blipFill>
              <a:blip r:embed="rId5">
                <a:alphaModFix amt="0"/>
              </a:blip>
              <a:stretch>
                <a:fillRect l="0" t="-67658" r="0" b="-67659"/>
              </a:stretch>
            </a:blipFill>
          </p:spPr>
          <p:txBody>
            <a:bodyPr/>
            <a:p/>
          </p:txBody>
        </p:sp>
      </p:grpSp>
      <p:grpSp>
        <p:nvGrpSpPr>
          <p:cNvPr name="Group 142" id="142"/>
          <p:cNvGrpSpPr/>
          <p:nvPr/>
        </p:nvGrpSpPr>
        <p:grpSpPr>
          <a:xfrm rot="0">
            <a:off x="1234440" y="7815262"/>
            <a:ext cx="8503920" cy="1443038"/>
            <a:chOff x="0" y="0"/>
            <a:chExt cx="11338560" cy="1924050"/>
          </a:xfrm>
        </p:grpSpPr>
        <p:sp>
          <p:nvSpPr>
            <p:cNvPr name="Freeform 143" id="143"/>
            <p:cNvSpPr/>
            <p:nvPr/>
          </p:nvSpPr>
          <p:spPr>
            <a:xfrm flipH="false" flipV="false" rot="0">
              <a:off x="0" y="0"/>
              <a:ext cx="11338560" cy="1924050"/>
            </a:xfrm>
            <a:custGeom>
              <a:avLst/>
              <a:gdLst/>
              <a:ahLst/>
              <a:cxnLst/>
              <a:rect r="r" b="b" t="t" l="l"/>
              <a:pathLst>
                <a:path h="1924050" w="11338560">
                  <a:moveTo>
                    <a:pt x="0" y="0"/>
                  </a:moveTo>
                  <a:lnTo>
                    <a:pt x="11338560" y="0"/>
                  </a:lnTo>
                  <a:lnTo>
                    <a:pt x="11338560" y="1924050"/>
                  </a:lnTo>
                  <a:lnTo>
                    <a:pt x="0" y="1924050"/>
                  </a:lnTo>
                  <a:close/>
                </a:path>
              </a:pathLst>
            </a:custGeom>
            <a:blipFill>
              <a:blip r:embed="rId6">
                <a:alphaModFix amt="0"/>
              </a:blip>
              <a:stretch>
                <a:fillRect l="0" t="-64826" r="0" b="-64826"/>
              </a:stretch>
            </a:blipFill>
          </p:spPr>
          <p:txBody>
            <a:bodyPr/>
            <a:p/>
          </p:txBody>
        </p:sp>
        <p:sp>
          <p:nvSpPr>
            <p:cNvPr name="TextBox 144" id="144"/>
            <p:cNvSpPr txBox="true"/>
            <p:nvPr/>
          </p:nvSpPr>
          <p:spPr>
            <a:xfrm>
              <a:off x="0" y="-47625"/>
              <a:ext cx="11338560" cy="1971675"/>
            </a:xfrm>
            <a:prstGeom prst="rect">
              <a:avLst/>
            </a:prstGeom>
          </p:spPr>
          <p:txBody>
            <a:bodyPr anchor="ctr" rtlCol="false" tIns="0" lIns="0" bIns="0" rIns="0"/>
            <a:lstStyle/>
            <a:p>
              <a:pPr algn="l">
                <a:lnSpc>
                  <a:spcPts val="3060"/>
                </a:lnSpc>
              </a:pPr>
              <a:r>
                <a:rPr lang="en-US" sz="2550" b="true">
                  <a:solidFill>
                    <a:srgbClr val="FFD23B"/>
                  </a:solidFill>
                  <a:latin typeface="Calibri (MS) Bold"/>
                  <a:ea typeface="Calibri (MS) Bold"/>
                  <a:cs typeface="Calibri (MS) Bold"/>
                  <a:sym typeface="Calibri (MS) Bold"/>
                </a:rPr>
                <a:t>3 parameter diuji (batas TPK, laju demolisi, laju konversi) → 0 berubah</a:t>
              </a:r>
            </a:p>
          </p:txBody>
        </p:sp>
      </p:grpSp>
      <p:grpSp>
        <p:nvGrpSpPr>
          <p:cNvPr name="Group 145" id="145"/>
          <p:cNvGrpSpPr/>
          <p:nvPr/>
        </p:nvGrpSpPr>
        <p:grpSpPr>
          <a:xfrm rot="0">
            <a:off x="10012680" y="7886700"/>
            <a:ext cx="7132320" cy="1371600"/>
            <a:chOff x="0" y="0"/>
            <a:chExt cx="9509760" cy="1828800"/>
          </a:xfrm>
        </p:grpSpPr>
        <p:sp>
          <p:nvSpPr>
            <p:cNvPr name="Freeform 146" id="146"/>
            <p:cNvSpPr/>
            <p:nvPr/>
          </p:nvSpPr>
          <p:spPr>
            <a:xfrm flipH="false" flipV="false" rot="0">
              <a:off x="0" y="0"/>
              <a:ext cx="9509760" cy="1828800"/>
            </a:xfrm>
            <a:custGeom>
              <a:avLst/>
              <a:gdLst/>
              <a:ahLst/>
              <a:cxnLst/>
              <a:rect r="r" b="b" t="t" l="l"/>
              <a:pathLst>
                <a:path h="1828800" w="9509760">
                  <a:moveTo>
                    <a:pt x="0" y="0"/>
                  </a:moveTo>
                  <a:lnTo>
                    <a:pt x="9509760" y="0"/>
                  </a:lnTo>
                  <a:lnTo>
                    <a:pt x="9509760" y="1828800"/>
                  </a:lnTo>
                  <a:lnTo>
                    <a:pt x="0" y="1828800"/>
                  </a:lnTo>
                  <a:close/>
                </a:path>
              </a:pathLst>
            </a:custGeom>
            <a:blipFill>
              <a:blip r:embed="rId4">
                <a:alphaModFix amt="0"/>
              </a:blip>
              <a:stretch>
                <a:fillRect l="0" t="-51252" r="0" b="-51251"/>
              </a:stretch>
            </a:blipFill>
          </p:spPr>
          <p:txBody>
            <a:bodyPr/>
            <a:p/>
          </p:txBody>
        </p:sp>
      </p:grpSp>
      <p:grpSp>
        <p:nvGrpSpPr>
          <p:cNvPr name="Group 147" id="147"/>
          <p:cNvGrpSpPr/>
          <p:nvPr/>
        </p:nvGrpSpPr>
        <p:grpSpPr>
          <a:xfrm rot="0">
            <a:off x="10012680" y="7858125"/>
            <a:ext cx="7132320" cy="1400175"/>
            <a:chOff x="0" y="0"/>
            <a:chExt cx="9509760" cy="1866900"/>
          </a:xfrm>
        </p:grpSpPr>
        <p:sp>
          <p:nvSpPr>
            <p:cNvPr name="Freeform 148" id="148"/>
            <p:cNvSpPr/>
            <p:nvPr/>
          </p:nvSpPr>
          <p:spPr>
            <a:xfrm flipH="false" flipV="false" rot="0">
              <a:off x="0" y="0"/>
              <a:ext cx="9509760" cy="1866900"/>
            </a:xfrm>
            <a:custGeom>
              <a:avLst/>
              <a:gdLst/>
              <a:ahLst/>
              <a:cxnLst/>
              <a:rect r="r" b="b" t="t" l="l"/>
              <a:pathLst>
                <a:path h="1866900" w="9509760">
                  <a:moveTo>
                    <a:pt x="0" y="0"/>
                  </a:moveTo>
                  <a:lnTo>
                    <a:pt x="9509760" y="0"/>
                  </a:lnTo>
                  <a:lnTo>
                    <a:pt x="9509760" y="1866900"/>
                  </a:lnTo>
                  <a:lnTo>
                    <a:pt x="0" y="1866900"/>
                  </a:lnTo>
                  <a:close/>
                </a:path>
              </a:pathLst>
            </a:custGeom>
            <a:blipFill>
              <a:blip r:embed="rId5">
                <a:alphaModFix amt="0"/>
              </a:blip>
              <a:stretch>
                <a:fillRect l="0" t="-49185" r="0" b="-49185"/>
              </a:stretch>
            </a:blipFill>
          </p:spPr>
          <p:txBody>
            <a:bodyPr/>
            <a:p/>
          </p:txBody>
        </p:sp>
      </p:grpSp>
      <p:grpSp>
        <p:nvGrpSpPr>
          <p:cNvPr name="Group 149" id="149"/>
          <p:cNvGrpSpPr/>
          <p:nvPr/>
        </p:nvGrpSpPr>
        <p:grpSpPr>
          <a:xfrm rot="0">
            <a:off x="10012680" y="7829550"/>
            <a:ext cx="7132320" cy="1428750"/>
            <a:chOff x="0" y="0"/>
            <a:chExt cx="9509760" cy="1905000"/>
          </a:xfrm>
        </p:grpSpPr>
        <p:sp>
          <p:nvSpPr>
            <p:cNvPr name="Freeform 150" id="150"/>
            <p:cNvSpPr/>
            <p:nvPr/>
          </p:nvSpPr>
          <p:spPr>
            <a:xfrm flipH="false" flipV="false" rot="0">
              <a:off x="0" y="0"/>
              <a:ext cx="9509760" cy="1905000"/>
            </a:xfrm>
            <a:custGeom>
              <a:avLst/>
              <a:gdLst/>
              <a:ahLst/>
              <a:cxnLst/>
              <a:rect r="r" b="b" t="t" l="l"/>
              <a:pathLst>
                <a:path h="1905000" w="9509760">
                  <a:moveTo>
                    <a:pt x="0" y="0"/>
                  </a:moveTo>
                  <a:lnTo>
                    <a:pt x="9509760" y="0"/>
                  </a:lnTo>
                  <a:lnTo>
                    <a:pt x="9509760" y="1905000"/>
                  </a:lnTo>
                  <a:lnTo>
                    <a:pt x="0" y="1905000"/>
                  </a:lnTo>
                  <a:close/>
                </a:path>
              </a:pathLst>
            </a:custGeom>
            <a:blipFill>
              <a:blip r:embed="rId6">
                <a:alphaModFix amt="0"/>
              </a:blip>
              <a:stretch>
                <a:fillRect l="0" t="-47269" r="0" b="-47269"/>
              </a:stretch>
            </a:blipFill>
          </p:spPr>
          <p:txBody>
            <a:bodyPr/>
            <a:p/>
          </p:txBody>
        </p:sp>
        <p:sp>
          <p:nvSpPr>
            <p:cNvPr name="TextBox 151" id="151"/>
            <p:cNvSpPr txBox="true"/>
            <p:nvPr/>
          </p:nvSpPr>
          <p:spPr>
            <a:xfrm>
              <a:off x="0" y="-38100"/>
              <a:ext cx="9509760" cy="1943100"/>
            </a:xfrm>
            <a:prstGeom prst="rect">
              <a:avLst/>
            </a:prstGeom>
          </p:spPr>
          <p:txBody>
            <a:bodyPr anchor="ctr" rtlCol="false" tIns="0" lIns="0" bIns="0" rIns="0"/>
            <a:lstStyle/>
            <a:p>
              <a:pPr algn="l">
                <a:lnSpc>
                  <a:spcPts val="2250"/>
                </a:lnSpc>
              </a:pPr>
              <a:r>
                <a:rPr lang="en-US" sz="1875">
                  <a:solidFill>
                    <a:srgbClr val="FFFFFF"/>
                  </a:solidFill>
                  <a:latin typeface="Calibri (MS)"/>
                  <a:ea typeface="Calibri (MS)"/>
                  <a:cs typeface="Calibri (MS)"/>
                  <a:sym typeface="Calibri (MS)"/>
                </a:rPr>
                <a:t>Nilai yang dihitung dari data sudah dapat dipertanggungjawabkan: kalibrasi berfungsi sebagai alat validasi, bukan untuk mengubah nilai (Oliva, 2003).</a:t>
              </a:r>
            </a:p>
          </p:txBody>
        </p:sp>
      </p:grpSp>
      <p:sp>
        <p:nvSpPr>
          <p:cNvPr name="TextBox 152" id="152"/>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50</a:t>
            </a:r>
          </a:p>
        </p:txBody>
      </p:sp>
      <p:grpSp>
        <p:nvGrpSpPr>
          <p:cNvPr name="Group 153" id="153"/>
          <p:cNvGrpSpPr/>
          <p:nvPr/>
        </p:nvGrpSpPr>
        <p:grpSpPr>
          <a:xfrm rot="0">
            <a:off x="12755880" y="274320"/>
            <a:ext cx="3931920" cy="411480"/>
            <a:chOff x="0" y="0"/>
            <a:chExt cx="5242560" cy="548640"/>
          </a:xfrm>
        </p:grpSpPr>
        <p:sp>
          <p:nvSpPr>
            <p:cNvPr name="Freeform 154" id="154"/>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55" id="155"/>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2E · Uji perilaku &amp; kalibrasi</a:t>
              </a:r>
            </a:p>
          </p:txBody>
        </p:sp>
      </p:grpSp>
      <p:grpSp>
        <p:nvGrpSpPr>
          <p:cNvPr name="Group 156" id="156"/>
          <p:cNvGrpSpPr/>
          <p:nvPr/>
        </p:nvGrpSpPr>
        <p:grpSpPr>
          <a:xfrm rot="0">
            <a:off x="16047720" y="9646920"/>
            <a:ext cx="420624" cy="420624"/>
            <a:chOff x="0" y="0"/>
            <a:chExt cx="560832" cy="560832"/>
          </a:xfrm>
        </p:grpSpPr>
        <p:sp>
          <p:nvSpPr>
            <p:cNvPr name="Freeform 157" id="157"/>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58" id="158"/>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5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5725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Kalibrasi Diagnostik Subsistem Wisatawan</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Selisih pertumbuhan wisatawan berasal dari lonjakan pemulihan pascapandemi</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51</a:t>
            </a:r>
          </a:p>
        </p:txBody>
      </p:sp>
      <p:grpSp>
        <p:nvGrpSpPr>
          <p:cNvPr name="Group 67" id="67"/>
          <p:cNvGrpSpPr/>
          <p:nvPr/>
        </p:nvGrpSpPr>
        <p:grpSpPr>
          <a:xfrm rot="0">
            <a:off x="12755880" y="274320"/>
            <a:ext cx="3931920" cy="411480"/>
            <a:chOff x="0" y="0"/>
            <a:chExt cx="5242560" cy="548640"/>
          </a:xfrm>
        </p:grpSpPr>
        <p:sp>
          <p:nvSpPr>
            <p:cNvPr name="Freeform 68" id="68"/>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69" id="69"/>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2E · Uji perilaku &amp; kalibrasi</a:t>
              </a:r>
            </a:p>
          </p:txBody>
        </p:sp>
      </p:grpSp>
      <p:grpSp>
        <p:nvGrpSpPr>
          <p:cNvPr name="Group 70" id="70"/>
          <p:cNvGrpSpPr/>
          <p:nvPr/>
        </p:nvGrpSpPr>
        <p:grpSpPr>
          <a:xfrm rot="0">
            <a:off x="1435608" y="2240280"/>
            <a:ext cx="6912864" cy="3840480"/>
            <a:chOff x="0" y="0"/>
            <a:chExt cx="9217152" cy="5120640"/>
          </a:xfrm>
        </p:grpSpPr>
        <p:sp>
          <p:nvSpPr>
            <p:cNvPr name="Freeform 71" id="71" descr="image52.png"/>
            <p:cNvSpPr/>
            <p:nvPr/>
          </p:nvSpPr>
          <p:spPr>
            <a:xfrm flipH="false" flipV="false" rot="0">
              <a:off x="0" y="0"/>
              <a:ext cx="9217152" cy="5120640"/>
            </a:xfrm>
            <a:custGeom>
              <a:avLst/>
              <a:gdLst/>
              <a:ahLst/>
              <a:cxnLst/>
              <a:rect r="r" b="b" t="t" l="l"/>
              <a:pathLst>
                <a:path h="5120640" w="9217152">
                  <a:moveTo>
                    <a:pt x="0" y="0"/>
                  </a:moveTo>
                  <a:lnTo>
                    <a:pt x="9217152" y="0"/>
                  </a:lnTo>
                  <a:lnTo>
                    <a:pt x="9217152" y="5120640"/>
                  </a:lnTo>
                  <a:lnTo>
                    <a:pt x="0" y="5120640"/>
                  </a:lnTo>
                  <a:lnTo>
                    <a:pt x="0" y="0"/>
                  </a:lnTo>
                  <a:close/>
                </a:path>
              </a:pathLst>
            </a:custGeom>
            <a:blipFill>
              <a:blip r:embed="rId7"/>
              <a:stretch>
                <a:fillRect l="0" t="0" r="0" b="0"/>
              </a:stretch>
            </a:blipFill>
          </p:spPr>
          <p:txBody>
            <a:bodyPr/>
            <a:p/>
          </p:txBody>
        </p:sp>
      </p:grpSp>
      <p:grpSp>
        <p:nvGrpSpPr>
          <p:cNvPr name="Group 72" id="72"/>
          <p:cNvGrpSpPr/>
          <p:nvPr/>
        </p:nvGrpSpPr>
        <p:grpSpPr>
          <a:xfrm rot="0">
            <a:off x="10195560" y="2240280"/>
            <a:ext cx="6400800" cy="3840480"/>
            <a:chOff x="0" y="0"/>
            <a:chExt cx="8534400" cy="5120640"/>
          </a:xfrm>
        </p:grpSpPr>
        <p:sp>
          <p:nvSpPr>
            <p:cNvPr name="Freeform 73" id="73" descr="image53.png"/>
            <p:cNvSpPr/>
            <p:nvPr/>
          </p:nvSpPr>
          <p:spPr>
            <a:xfrm flipH="false" flipV="false" rot="0">
              <a:off x="0" y="0"/>
              <a:ext cx="8534400" cy="5120640"/>
            </a:xfrm>
            <a:custGeom>
              <a:avLst/>
              <a:gdLst/>
              <a:ahLst/>
              <a:cxnLst/>
              <a:rect r="r" b="b" t="t" l="l"/>
              <a:pathLst>
                <a:path h="5120640" w="8534400">
                  <a:moveTo>
                    <a:pt x="0" y="0"/>
                  </a:moveTo>
                  <a:lnTo>
                    <a:pt x="8534400" y="0"/>
                  </a:lnTo>
                  <a:lnTo>
                    <a:pt x="8534400" y="5120640"/>
                  </a:lnTo>
                  <a:lnTo>
                    <a:pt x="0" y="5120640"/>
                  </a:lnTo>
                  <a:lnTo>
                    <a:pt x="0" y="0"/>
                  </a:lnTo>
                  <a:close/>
                </a:path>
              </a:pathLst>
            </a:custGeom>
            <a:blipFill>
              <a:blip r:embed="rId8"/>
              <a:stretch>
                <a:fillRect l="0" t="0" r="0" b="0"/>
              </a:stretch>
            </a:blipFill>
          </p:spPr>
          <p:txBody>
            <a:bodyPr/>
            <a:p/>
          </p:txBody>
        </p:sp>
      </p:grpSp>
      <p:sp>
        <p:nvSpPr>
          <p:cNvPr name="TextBox 74" id="74"/>
          <p:cNvSpPr txBox="true"/>
          <p:nvPr/>
        </p:nvSpPr>
        <p:spPr>
          <a:xfrm rot="0">
            <a:off x="822960" y="6052185"/>
            <a:ext cx="8138160" cy="238125"/>
          </a:xfrm>
          <a:prstGeom prst="rect">
            <a:avLst/>
          </a:prstGeom>
        </p:spPr>
        <p:txBody>
          <a:bodyPr anchor="t" rtlCol="false" tIns="0" lIns="0" bIns="0" rIns="0">
            <a:spAutoFit/>
          </a:bodyPr>
          <a:lstStyle/>
          <a:p>
            <a:pPr algn="l">
              <a:lnSpc>
                <a:spcPts val="1655"/>
              </a:lnSpc>
            </a:pPr>
            <a:r>
              <a:rPr lang="en-US" sz="1380" i="true">
                <a:solidFill>
                  <a:srgbClr val="5E6E78"/>
                </a:solidFill>
                <a:latin typeface="Calibri (MS) Italics"/>
                <a:ea typeface="Calibri (MS) Italics"/>
                <a:cs typeface="Calibri (MS) Italics"/>
                <a:sym typeface="Calibri (MS) Italics"/>
              </a:rPr>
              <a:t>Banyak pasangan nilai sama baiknya: LPE 0,26–0,80 dengan rasio 0,60–0,86</a:t>
            </a:r>
          </a:p>
        </p:txBody>
      </p:sp>
      <p:sp>
        <p:nvSpPr>
          <p:cNvPr name="TextBox 75" id="75"/>
          <p:cNvSpPr txBox="true"/>
          <p:nvPr/>
        </p:nvSpPr>
        <p:spPr>
          <a:xfrm rot="0">
            <a:off x="9326880" y="6052185"/>
            <a:ext cx="8138160" cy="394335"/>
          </a:xfrm>
          <a:prstGeom prst="rect">
            <a:avLst/>
          </a:prstGeom>
        </p:spPr>
        <p:txBody>
          <a:bodyPr anchor="t" rtlCol="false" tIns="0" lIns="0" bIns="0" rIns="0">
            <a:spAutoFit/>
          </a:bodyPr>
          <a:lstStyle/>
          <a:p>
            <a:pPr algn="l">
              <a:lnSpc>
                <a:spcPts val="1655"/>
              </a:lnSpc>
            </a:pPr>
            <a:r>
              <a:rPr lang="en-US" sz="1380" i="true">
                <a:solidFill>
                  <a:srgbClr val="5E6E78"/>
                </a:solidFill>
                <a:latin typeface="Calibri (MS) Italics"/>
                <a:ea typeface="Calibri (MS) Italics"/>
                <a:cs typeface="Calibri (MS) Italics"/>
                <a:sym typeface="Calibri (MS) Italics"/>
              </a:rPr>
              <a:t>Data sambungan vs simulasi LPE 0,27726 dan LPE diagnostik 0,440 (D-A)</a:t>
            </a:r>
          </a:p>
        </p:txBody>
      </p:sp>
      <p:graphicFrame>
        <p:nvGraphicFramePr>
          <p:cNvPr name="Table 76" id="76"/>
          <p:cNvGraphicFramePr>
            <a:graphicFrameLocks noGrp="true"/>
          </p:cNvGraphicFramePr>
          <p:nvPr/>
        </p:nvGraphicFramePr>
        <p:xfrm>
          <a:off x="822960" y="6492240"/>
          <a:ext cx="10223500" cy="1219200"/>
        </p:xfrm>
        <a:graphic>
          <a:graphicData uri="http://schemas.openxmlformats.org/drawingml/2006/table">
            <a:tbl>
              <a:tblPr/>
              <a:tblGrid>
                <a:gridCol w="1543170"/>
                <a:gridCol w="964481"/>
                <a:gridCol w="964481"/>
                <a:gridCol w="964481"/>
                <a:gridCol w="964481"/>
                <a:gridCol w="964481"/>
                <a:gridCol w="964481"/>
                <a:gridCol w="964481"/>
                <a:gridCol w="964481"/>
                <a:gridCol w="964481"/>
              </a:tblGrid>
              <a:tr h="406400">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Tahun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2017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2018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2019</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2020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2021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2022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2023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2024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2025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r>
              <a:tr h="406400">
                <a:tc>
                  <a:txBody>
                    <a:bodyPr anchor="t" rtlCol="false"/>
                    <a:lstStyle/>
                    <a:p>
                      <a:pPr algn="l">
                        <a:lnSpc>
                          <a:spcPts val="1727"/>
                        </a:lnSpc>
                        <a:defRPr/>
                      </a:pPr>
                      <a:r>
                        <a:rPr lang="en-US" sz="1439" b="true">
                          <a:solidFill>
                            <a:srgbClr val="14313B"/>
                          </a:solidFill>
                          <a:latin typeface="Calibri (MS) Bold"/>
                          <a:ea typeface="Calibri (MS) Bold"/>
                          <a:cs typeface="Calibri (MS) Bold"/>
                          <a:sym typeface="Calibri (MS) Bold"/>
                        </a:rPr>
                        <a:t>Data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1,42%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20,36%</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11,58%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−4,43%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16,52%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12,72%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1B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18,59%</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1B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24,86%</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1B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6,72%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406400">
                <a:tc>
                  <a:txBody>
                    <a:bodyPr anchor="t" rtlCol="false"/>
                    <a:lstStyle/>
                    <a:p>
                      <a:pPr algn="l">
                        <a:lnSpc>
                          <a:spcPts val="1727"/>
                        </a:lnSpc>
                        <a:defRPr/>
                      </a:pPr>
                      <a:r>
                        <a:rPr lang="en-US" sz="1439" b="true">
                          <a:solidFill>
                            <a:srgbClr val="14313B"/>
                          </a:solidFill>
                          <a:latin typeface="Calibri (MS) Bold"/>
                          <a:ea typeface="Calibri (MS) Bold"/>
                          <a:cs typeface="Calibri (MS) Bold"/>
                          <a:sym typeface="Calibri (MS) Bold"/>
                        </a:rPr>
                        <a:t>Simulasi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6,44%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6,53%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6,47%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6,51%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6,47%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6,26%</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6,55%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6,39%</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6,72%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bl>
          </a:graphicData>
        </a:graphic>
      </p:graphicFrame>
      <p:grpSp>
        <p:nvGrpSpPr>
          <p:cNvPr name="Group 77" id="77"/>
          <p:cNvGrpSpPr/>
          <p:nvPr/>
        </p:nvGrpSpPr>
        <p:grpSpPr>
          <a:xfrm rot="0">
            <a:off x="11332207" y="6485887"/>
            <a:ext cx="6139177" cy="1247137"/>
            <a:chOff x="0" y="0"/>
            <a:chExt cx="8185569" cy="1662849"/>
          </a:xfrm>
        </p:grpSpPr>
        <p:sp>
          <p:nvSpPr>
            <p:cNvPr name="Freeform 78" id="78"/>
            <p:cNvSpPr/>
            <p:nvPr/>
          </p:nvSpPr>
          <p:spPr>
            <a:xfrm flipH="false" flipV="false" rot="0">
              <a:off x="0" y="0"/>
              <a:ext cx="8185531" cy="1662811"/>
            </a:xfrm>
            <a:custGeom>
              <a:avLst/>
              <a:gdLst/>
              <a:ahLst/>
              <a:cxnLst/>
              <a:rect r="r" b="b" t="t" l="l"/>
              <a:pathLst>
                <a:path h="1662811" w="8185531">
                  <a:moveTo>
                    <a:pt x="0" y="132969"/>
                  </a:moveTo>
                  <a:cubicBezTo>
                    <a:pt x="0" y="59563"/>
                    <a:pt x="59563" y="0"/>
                    <a:pt x="132969" y="0"/>
                  </a:cubicBezTo>
                  <a:lnTo>
                    <a:pt x="8052562" y="0"/>
                  </a:lnTo>
                  <a:cubicBezTo>
                    <a:pt x="8125968" y="0"/>
                    <a:pt x="8185531" y="59563"/>
                    <a:pt x="8185531" y="132969"/>
                  </a:cubicBezTo>
                  <a:lnTo>
                    <a:pt x="8185531" y="1529842"/>
                  </a:lnTo>
                  <a:cubicBezTo>
                    <a:pt x="8185531" y="1603248"/>
                    <a:pt x="8125968" y="1662811"/>
                    <a:pt x="8052562" y="1662811"/>
                  </a:cubicBezTo>
                  <a:lnTo>
                    <a:pt x="132969" y="1662811"/>
                  </a:lnTo>
                  <a:cubicBezTo>
                    <a:pt x="59563" y="1662811"/>
                    <a:pt x="0" y="1603248"/>
                    <a:pt x="0" y="1529842"/>
                  </a:cubicBezTo>
                  <a:close/>
                </a:path>
              </a:pathLst>
            </a:custGeom>
            <a:solidFill>
              <a:srgbClr val="EAF8FA"/>
            </a:solidFill>
            <a:ln w="12700" cap="sq">
              <a:solidFill>
                <a:srgbClr val="CFE5E9"/>
              </a:solidFill>
              <a:prstDash val="solid"/>
              <a:miter/>
            </a:ln>
          </p:spPr>
          <p:txBody>
            <a:bodyPr/>
            <a:p/>
          </p:txBody>
        </p:sp>
        <p:sp>
          <p:nvSpPr>
            <p:cNvPr name="TextBox 79" id="79"/>
            <p:cNvSpPr txBox="true"/>
            <p:nvPr/>
          </p:nvSpPr>
          <p:spPr>
            <a:xfrm>
              <a:off x="0" y="-38100"/>
              <a:ext cx="8185569" cy="1700949"/>
            </a:xfrm>
            <a:prstGeom prst="rect">
              <a:avLst/>
            </a:prstGeom>
          </p:spPr>
          <p:txBody>
            <a:bodyPr anchor="t" rtlCol="false" tIns="50800" lIns="50800" bIns="50800" rIns="50800"/>
            <a:lstStyle/>
            <a:p>
              <a:pPr algn="l">
                <a:lnSpc>
                  <a:spcPts val="2004"/>
                </a:lnSpc>
              </a:pPr>
              <a:r>
                <a:rPr lang="en-US" sz="1670" b="true">
                  <a:solidFill>
                    <a:srgbClr val="0B5E6E"/>
                  </a:solidFill>
                  <a:latin typeface="Calibri (MS) Bold"/>
                  <a:ea typeface="Calibri (MS) Bold"/>
                  <a:cs typeface="Calibri (MS) Bold"/>
                  <a:sym typeface="Calibri (MS) Bold"/>
                </a:rPr>
                <a:t>LPE yang dituntut data: 0,410–0,490</a:t>
              </a:r>
            </a:p>
            <a:p>
              <a:pPr algn="l">
                <a:lnSpc>
                  <a:spcPts val="1788"/>
                </a:lnSpc>
              </a:pPr>
              <a:r>
                <a:rPr lang="en-US" sz="1490">
                  <a:solidFill>
                    <a:srgbClr val="14313B"/>
                  </a:solidFill>
                  <a:latin typeface="Calibri (MS)"/>
                  <a:ea typeface="Calibri (MS)"/>
                  <a:cs typeface="Calibri (MS)"/>
                  <a:sym typeface="Calibri (MS)"/>
                </a:rPr>
                <a:t>Bergantung periode (D-A 0,440; D-B 0,490) dan faktor sambung (2,22–2,38).</a:t>
              </a:r>
            </a:p>
          </p:txBody>
        </p:sp>
      </p:grpSp>
      <p:grpSp>
        <p:nvGrpSpPr>
          <p:cNvPr name="Group 80" id="80"/>
          <p:cNvGrpSpPr/>
          <p:nvPr/>
        </p:nvGrpSpPr>
        <p:grpSpPr>
          <a:xfrm rot="0">
            <a:off x="816607" y="7994647"/>
            <a:ext cx="16654777" cy="927097"/>
            <a:chOff x="0" y="0"/>
            <a:chExt cx="22206369" cy="1236129"/>
          </a:xfrm>
        </p:grpSpPr>
        <p:sp>
          <p:nvSpPr>
            <p:cNvPr name="Freeform 81" id="81"/>
            <p:cNvSpPr/>
            <p:nvPr/>
          </p:nvSpPr>
          <p:spPr>
            <a:xfrm flipH="false" flipV="false" rot="0">
              <a:off x="0" y="0"/>
              <a:ext cx="22206458" cy="1236218"/>
            </a:xfrm>
            <a:custGeom>
              <a:avLst/>
              <a:gdLst/>
              <a:ahLst/>
              <a:cxnLst/>
              <a:rect r="r" b="b" t="t" l="l"/>
              <a:pathLst>
                <a:path h="1236218" w="22206458">
                  <a:moveTo>
                    <a:pt x="0" y="98933"/>
                  </a:moveTo>
                  <a:cubicBezTo>
                    <a:pt x="0" y="44323"/>
                    <a:pt x="44323" y="0"/>
                    <a:pt x="98933" y="0"/>
                  </a:cubicBezTo>
                  <a:lnTo>
                    <a:pt x="22107525" y="0"/>
                  </a:lnTo>
                  <a:cubicBezTo>
                    <a:pt x="22162136" y="0"/>
                    <a:pt x="22206458" y="44323"/>
                    <a:pt x="22206458" y="98933"/>
                  </a:cubicBezTo>
                  <a:lnTo>
                    <a:pt x="22206458" y="1137285"/>
                  </a:lnTo>
                  <a:cubicBezTo>
                    <a:pt x="22206458" y="1191895"/>
                    <a:pt x="22162136" y="1236218"/>
                    <a:pt x="22107525" y="1236218"/>
                  </a:cubicBezTo>
                  <a:lnTo>
                    <a:pt x="98933" y="1236218"/>
                  </a:lnTo>
                  <a:cubicBezTo>
                    <a:pt x="44323" y="1236091"/>
                    <a:pt x="0" y="1191895"/>
                    <a:pt x="0" y="1137285"/>
                  </a:cubicBezTo>
                  <a:close/>
                </a:path>
              </a:pathLst>
            </a:custGeom>
            <a:solidFill>
              <a:srgbClr val="FFF1BF"/>
            </a:solidFill>
            <a:ln w="12700" cap="sq">
              <a:solidFill>
                <a:srgbClr val="FFD23B"/>
              </a:solidFill>
              <a:prstDash val="solid"/>
              <a:miter/>
            </a:ln>
          </p:spPr>
          <p:txBody>
            <a:bodyPr/>
            <a:p/>
          </p:txBody>
        </p:sp>
        <p:sp>
          <p:nvSpPr>
            <p:cNvPr name="TextBox 82" id="82"/>
            <p:cNvSpPr txBox="true"/>
            <p:nvPr/>
          </p:nvSpPr>
          <p:spPr>
            <a:xfrm>
              <a:off x="0" y="-38100"/>
              <a:ext cx="22206369" cy="127422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Data hanya bisa menentukan selisih bersih LPE dan LPD; lonjakan 2022–2024 (puncak 24,86%) adalah pemulihan pascapandemi yang tidak dicakup model (wisnus nasional 2024 +21,61%). LPE/LPD dipertahankan.</a:t>
              </a:r>
            </a:p>
          </p:txBody>
        </p:sp>
      </p:grpSp>
      <p:grpSp>
        <p:nvGrpSpPr>
          <p:cNvPr name="Group 83" id="83"/>
          <p:cNvGrpSpPr/>
          <p:nvPr/>
        </p:nvGrpSpPr>
        <p:grpSpPr>
          <a:xfrm rot="0">
            <a:off x="16047720" y="9646920"/>
            <a:ext cx="420624" cy="420624"/>
            <a:chOff x="0" y="0"/>
            <a:chExt cx="560832" cy="560832"/>
          </a:xfrm>
        </p:grpSpPr>
        <p:sp>
          <p:nvSpPr>
            <p:cNvPr name="Freeform 84" id="84"/>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85" id="85"/>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5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Rangkuman Kelayakan Model</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Apakah model layak untuk simulasi skenario? Bukti dan batasnya</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52</a:t>
            </a:r>
          </a:p>
        </p:txBody>
      </p:sp>
      <p:grpSp>
        <p:nvGrpSpPr>
          <p:cNvPr name="Group 67" id="67"/>
          <p:cNvGrpSpPr/>
          <p:nvPr/>
        </p:nvGrpSpPr>
        <p:grpSpPr>
          <a:xfrm rot="0">
            <a:off x="12755880" y="274320"/>
            <a:ext cx="3931920" cy="411480"/>
            <a:chOff x="0" y="0"/>
            <a:chExt cx="5242560" cy="548640"/>
          </a:xfrm>
        </p:grpSpPr>
        <p:sp>
          <p:nvSpPr>
            <p:cNvPr name="Freeform 68" id="68"/>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69" id="69"/>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2E · Uji perilaku &amp; kalibrasi</a:t>
              </a:r>
            </a:p>
          </p:txBody>
        </p:sp>
      </p:grpSp>
      <p:grpSp>
        <p:nvGrpSpPr>
          <p:cNvPr name="Group 70" id="70"/>
          <p:cNvGrpSpPr/>
          <p:nvPr/>
        </p:nvGrpSpPr>
        <p:grpSpPr>
          <a:xfrm rot="0">
            <a:off x="816607" y="2279647"/>
            <a:ext cx="10985497" cy="881377"/>
            <a:chOff x="0" y="0"/>
            <a:chExt cx="14647329" cy="1175169"/>
          </a:xfrm>
        </p:grpSpPr>
        <p:sp>
          <p:nvSpPr>
            <p:cNvPr name="Freeform 71" id="71"/>
            <p:cNvSpPr/>
            <p:nvPr/>
          </p:nvSpPr>
          <p:spPr>
            <a:xfrm flipH="false" flipV="false" rot="0">
              <a:off x="0" y="0"/>
              <a:ext cx="14647292" cy="1175131"/>
            </a:xfrm>
            <a:custGeom>
              <a:avLst/>
              <a:gdLst/>
              <a:ahLst/>
              <a:cxnLst/>
              <a:rect r="r" b="b" t="t" l="l"/>
              <a:pathLst>
                <a:path h="1175131" w="14647292">
                  <a:moveTo>
                    <a:pt x="0" y="93980"/>
                  </a:moveTo>
                  <a:cubicBezTo>
                    <a:pt x="0" y="42037"/>
                    <a:pt x="42037" y="0"/>
                    <a:pt x="93980" y="0"/>
                  </a:cubicBezTo>
                  <a:lnTo>
                    <a:pt x="14553312" y="0"/>
                  </a:lnTo>
                  <a:cubicBezTo>
                    <a:pt x="14605254" y="0"/>
                    <a:pt x="14647292" y="42037"/>
                    <a:pt x="14647292" y="93980"/>
                  </a:cubicBezTo>
                  <a:lnTo>
                    <a:pt x="14647292" y="1081151"/>
                  </a:lnTo>
                  <a:cubicBezTo>
                    <a:pt x="14647292" y="1133094"/>
                    <a:pt x="14605254" y="1175131"/>
                    <a:pt x="14553312" y="1175131"/>
                  </a:cubicBezTo>
                  <a:lnTo>
                    <a:pt x="93980" y="1175131"/>
                  </a:lnTo>
                  <a:cubicBezTo>
                    <a:pt x="42037" y="1175131"/>
                    <a:pt x="0" y="1133094"/>
                    <a:pt x="0" y="1081151"/>
                  </a:cubicBezTo>
                  <a:close/>
                </a:path>
              </a:pathLst>
            </a:custGeom>
            <a:solidFill>
              <a:srgbClr val="EAF8FA"/>
            </a:solidFill>
            <a:ln w="12700" cap="sq">
              <a:solidFill>
                <a:srgbClr val="CFE5E9"/>
              </a:solidFill>
              <a:prstDash val="solid"/>
              <a:miter/>
            </a:ln>
          </p:spPr>
          <p:txBody>
            <a:bodyPr/>
            <a:p/>
          </p:txBody>
        </p:sp>
        <p:sp>
          <p:nvSpPr>
            <p:cNvPr name="TextBox 72" id="72"/>
            <p:cNvSpPr txBox="true"/>
            <p:nvPr/>
          </p:nvSpPr>
          <p:spPr>
            <a:xfrm>
              <a:off x="0" y="-19050"/>
              <a:ext cx="14647329" cy="1194219"/>
            </a:xfrm>
            <a:prstGeom prst="rect">
              <a:avLst/>
            </a:prstGeom>
          </p:spPr>
          <p:txBody>
            <a:bodyPr anchor="ctr" rtlCol="false" tIns="50800" lIns="50800" bIns="50800" rIns="50800"/>
            <a:lstStyle/>
            <a:p>
              <a:pPr algn="l">
                <a:lnSpc>
                  <a:spcPts val="1860"/>
                </a:lnSpc>
              </a:pPr>
              <a:r>
                <a:rPr lang="en-US" sz="1550" b="true">
                  <a:solidFill>
                    <a:srgbClr val="0B5E6E"/>
                  </a:solidFill>
                  <a:latin typeface="Calibri (MS) Bold"/>
                  <a:ea typeface="Calibri (MS) Bold"/>
                  <a:cs typeface="Calibri (MS) Bold"/>
                  <a:sym typeface="Calibri (MS) Bold"/>
                </a:rPr>
                <a:t>Struktur  </a:t>
              </a:r>
              <a:r>
                <a:rPr lang="en-US" sz="1550">
                  <a:solidFill>
                    <a:srgbClr val="14313B"/>
                  </a:solidFill>
                  <a:latin typeface="Calibri (MS)"/>
                  <a:ea typeface="Calibri (MS)"/>
                  <a:cs typeface="Calibri (MS)"/>
                  <a:sym typeface="Calibri (MS)"/>
                </a:rPr>
                <a:t>6 uji struktur lolos: satuan konsisten, stok seimbang, 6/6 loop berfungsi, 17 uji ekstrem 0 gagal, langkah waktu cukup.</a:t>
              </a:r>
            </a:p>
          </p:txBody>
        </p:sp>
      </p:grpSp>
      <p:grpSp>
        <p:nvGrpSpPr>
          <p:cNvPr name="Group 73" id="73"/>
          <p:cNvGrpSpPr/>
          <p:nvPr/>
        </p:nvGrpSpPr>
        <p:grpSpPr>
          <a:xfrm rot="0">
            <a:off x="11978640" y="2286000"/>
            <a:ext cx="2743200" cy="868680"/>
            <a:chOff x="0" y="0"/>
            <a:chExt cx="3657600" cy="1158240"/>
          </a:xfrm>
        </p:grpSpPr>
        <p:sp>
          <p:nvSpPr>
            <p:cNvPr name="Freeform 74" id="74"/>
            <p:cNvSpPr/>
            <p:nvPr/>
          </p:nvSpPr>
          <p:spPr>
            <a:xfrm flipH="false" flipV="false" rot="0">
              <a:off x="0" y="0"/>
              <a:ext cx="3657600" cy="1158240"/>
            </a:xfrm>
            <a:custGeom>
              <a:avLst/>
              <a:gdLst/>
              <a:ahLst/>
              <a:cxnLst/>
              <a:rect r="r" b="b" t="t" l="l"/>
              <a:pathLst>
                <a:path h="1158240" w="3657600">
                  <a:moveTo>
                    <a:pt x="0" y="92710"/>
                  </a:moveTo>
                  <a:cubicBezTo>
                    <a:pt x="0" y="41529"/>
                    <a:pt x="41529" y="0"/>
                    <a:pt x="92710" y="0"/>
                  </a:cubicBezTo>
                  <a:lnTo>
                    <a:pt x="3564890" y="0"/>
                  </a:lnTo>
                  <a:cubicBezTo>
                    <a:pt x="3616071" y="0"/>
                    <a:pt x="3657600" y="41529"/>
                    <a:pt x="3657600" y="92710"/>
                  </a:cubicBezTo>
                  <a:lnTo>
                    <a:pt x="3657600" y="1065530"/>
                  </a:lnTo>
                  <a:cubicBezTo>
                    <a:pt x="3657600" y="1116711"/>
                    <a:pt x="3616071" y="1158240"/>
                    <a:pt x="3564890" y="1158240"/>
                  </a:cubicBezTo>
                  <a:lnTo>
                    <a:pt x="92710" y="1158240"/>
                  </a:lnTo>
                  <a:cubicBezTo>
                    <a:pt x="41529" y="1158240"/>
                    <a:pt x="0" y="1116711"/>
                    <a:pt x="0" y="1065530"/>
                  </a:cubicBezTo>
                  <a:close/>
                </a:path>
              </a:pathLst>
            </a:custGeom>
            <a:solidFill>
              <a:srgbClr val="0B5E6E"/>
            </a:solidFill>
          </p:spPr>
          <p:txBody>
            <a:bodyPr/>
            <a:p/>
          </p:txBody>
        </p:sp>
        <p:sp>
          <p:nvSpPr>
            <p:cNvPr name="TextBox 75" id="75"/>
            <p:cNvSpPr txBox="true"/>
            <p:nvPr/>
          </p:nvSpPr>
          <p:spPr>
            <a:xfrm>
              <a:off x="0" y="-28575"/>
              <a:ext cx="3657600" cy="1186815"/>
            </a:xfrm>
            <a:prstGeom prst="rect">
              <a:avLst/>
            </a:prstGeom>
          </p:spPr>
          <p:txBody>
            <a:bodyPr anchor="ctr" rtlCol="false" tIns="50800" lIns="50800" bIns="50800" rIns="50800"/>
            <a:lstStyle/>
            <a:p>
              <a:pPr algn="ctr">
                <a:lnSpc>
                  <a:spcPts val="1788"/>
                </a:lnSpc>
              </a:pPr>
              <a:r>
                <a:rPr lang="en-US" sz="1490" b="true">
                  <a:solidFill>
                    <a:srgbClr val="FFFFFF"/>
                  </a:solidFill>
                  <a:latin typeface="Calibri (MS) Bold"/>
                  <a:ea typeface="Calibri (MS) Bold"/>
                  <a:cs typeface="Calibri (MS) Bold"/>
                  <a:sym typeface="Calibri (MS) Bold"/>
                </a:rPr>
                <a:t>LOLOS</a:t>
              </a:r>
            </a:p>
          </p:txBody>
        </p:sp>
      </p:grpSp>
      <p:grpSp>
        <p:nvGrpSpPr>
          <p:cNvPr name="Group 76" id="76"/>
          <p:cNvGrpSpPr/>
          <p:nvPr/>
        </p:nvGrpSpPr>
        <p:grpSpPr>
          <a:xfrm rot="0">
            <a:off x="816607" y="3285487"/>
            <a:ext cx="10985497" cy="881377"/>
            <a:chOff x="0" y="0"/>
            <a:chExt cx="14647329" cy="1175169"/>
          </a:xfrm>
        </p:grpSpPr>
        <p:sp>
          <p:nvSpPr>
            <p:cNvPr name="Freeform 77" id="77"/>
            <p:cNvSpPr/>
            <p:nvPr/>
          </p:nvSpPr>
          <p:spPr>
            <a:xfrm flipH="false" flipV="false" rot="0">
              <a:off x="0" y="0"/>
              <a:ext cx="14647292" cy="1175131"/>
            </a:xfrm>
            <a:custGeom>
              <a:avLst/>
              <a:gdLst/>
              <a:ahLst/>
              <a:cxnLst/>
              <a:rect r="r" b="b" t="t" l="l"/>
              <a:pathLst>
                <a:path h="1175131" w="14647292">
                  <a:moveTo>
                    <a:pt x="0" y="93980"/>
                  </a:moveTo>
                  <a:cubicBezTo>
                    <a:pt x="0" y="42037"/>
                    <a:pt x="42037" y="0"/>
                    <a:pt x="93980" y="0"/>
                  </a:cubicBezTo>
                  <a:lnTo>
                    <a:pt x="14553312" y="0"/>
                  </a:lnTo>
                  <a:cubicBezTo>
                    <a:pt x="14605254" y="0"/>
                    <a:pt x="14647292" y="42037"/>
                    <a:pt x="14647292" y="93980"/>
                  </a:cubicBezTo>
                  <a:lnTo>
                    <a:pt x="14647292" y="1081151"/>
                  </a:lnTo>
                  <a:cubicBezTo>
                    <a:pt x="14647292" y="1133094"/>
                    <a:pt x="14605254" y="1175131"/>
                    <a:pt x="14553312" y="1175131"/>
                  </a:cubicBezTo>
                  <a:lnTo>
                    <a:pt x="93980" y="1175131"/>
                  </a:lnTo>
                  <a:cubicBezTo>
                    <a:pt x="42037" y="1175131"/>
                    <a:pt x="0" y="1133094"/>
                    <a:pt x="0" y="1081151"/>
                  </a:cubicBezTo>
                  <a:close/>
                </a:path>
              </a:pathLst>
            </a:custGeom>
            <a:solidFill>
              <a:srgbClr val="EAF8FA"/>
            </a:solidFill>
            <a:ln w="12700" cap="sq">
              <a:solidFill>
                <a:srgbClr val="CFE5E9"/>
              </a:solidFill>
              <a:prstDash val="solid"/>
              <a:miter/>
            </a:ln>
          </p:spPr>
          <p:txBody>
            <a:bodyPr/>
            <a:p/>
          </p:txBody>
        </p:sp>
        <p:sp>
          <p:nvSpPr>
            <p:cNvPr name="TextBox 78" id="78"/>
            <p:cNvSpPr txBox="true"/>
            <p:nvPr/>
          </p:nvSpPr>
          <p:spPr>
            <a:xfrm>
              <a:off x="0" y="-19050"/>
              <a:ext cx="14647329" cy="1194219"/>
            </a:xfrm>
            <a:prstGeom prst="rect">
              <a:avLst/>
            </a:prstGeom>
          </p:spPr>
          <p:txBody>
            <a:bodyPr anchor="ctr" rtlCol="false" tIns="50800" lIns="50800" bIns="50800" rIns="50800"/>
            <a:lstStyle/>
            <a:p>
              <a:pPr algn="l">
                <a:lnSpc>
                  <a:spcPts val="1860"/>
                </a:lnSpc>
              </a:pPr>
              <a:r>
                <a:rPr lang="en-US" sz="1550" b="true">
                  <a:solidFill>
                    <a:srgbClr val="0B5E6E"/>
                  </a:solidFill>
                  <a:latin typeface="Calibri (MS) Bold"/>
                  <a:ea typeface="Calibri (MS) Bold"/>
                  <a:cs typeface="Calibri (MS) Bold"/>
                  <a:sym typeface="Calibri (MS) Bold"/>
                </a:rPr>
                <a:t>Perilaku subsistem  </a:t>
              </a:r>
              <a:r>
                <a:rPr lang="en-US" sz="1550">
                  <a:solidFill>
                    <a:srgbClr val="14313B"/>
                  </a:solidFill>
                  <a:latin typeface="Calibri (MS)"/>
                  <a:ea typeface="Calibri (MS)"/>
                  <a:cs typeface="Calibri (MS)"/>
                  <a:sym typeface="Calibri (MS)"/>
                </a:rPr>
                <a:t>Uji parsial: MAPE seluruh variabel &lt; 20%; akomodasi DC 0,20; tren sama kecuali wisatawan.</a:t>
              </a:r>
            </a:p>
          </p:txBody>
        </p:sp>
      </p:grpSp>
      <p:grpSp>
        <p:nvGrpSpPr>
          <p:cNvPr name="Group 79" id="79"/>
          <p:cNvGrpSpPr/>
          <p:nvPr/>
        </p:nvGrpSpPr>
        <p:grpSpPr>
          <a:xfrm rot="0">
            <a:off x="11978640" y="3291840"/>
            <a:ext cx="2743200" cy="868680"/>
            <a:chOff x="0" y="0"/>
            <a:chExt cx="3657600" cy="1158240"/>
          </a:xfrm>
        </p:grpSpPr>
        <p:sp>
          <p:nvSpPr>
            <p:cNvPr name="Freeform 80" id="80"/>
            <p:cNvSpPr/>
            <p:nvPr/>
          </p:nvSpPr>
          <p:spPr>
            <a:xfrm flipH="false" flipV="false" rot="0">
              <a:off x="0" y="0"/>
              <a:ext cx="3657600" cy="1158240"/>
            </a:xfrm>
            <a:custGeom>
              <a:avLst/>
              <a:gdLst/>
              <a:ahLst/>
              <a:cxnLst/>
              <a:rect r="r" b="b" t="t" l="l"/>
              <a:pathLst>
                <a:path h="1158240" w="3657600">
                  <a:moveTo>
                    <a:pt x="0" y="92710"/>
                  </a:moveTo>
                  <a:cubicBezTo>
                    <a:pt x="0" y="41529"/>
                    <a:pt x="41529" y="0"/>
                    <a:pt x="92710" y="0"/>
                  </a:cubicBezTo>
                  <a:lnTo>
                    <a:pt x="3564890" y="0"/>
                  </a:lnTo>
                  <a:cubicBezTo>
                    <a:pt x="3616071" y="0"/>
                    <a:pt x="3657600" y="41529"/>
                    <a:pt x="3657600" y="92710"/>
                  </a:cubicBezTo>
                  <a:lnTo>
                    <a:pt x="3657600" y="1065530"/>
                  </a:lnTo>
                  <a:cubicBezTo>
                    <a:pt x="3657600" y="1116711"/>
                    <a:pt x="3616071" y="1158240"/>
                    <a:pt x="3564890" y="1158240"/>
                  </a:cubicBezTo>
                  <a:lnTo>
                    <a:pt x="92710" y="1158240"/>
                  </a:lnTo>
                  <a:cubicBezTo>
                    <a:pt x="41529" y="1158240"/>
                    <a:pt x="0" y="1116711"/>
                    <a:pt x="0" y="1065530"/>
                  </a:cubicBezTo>
                  <a:close/>
                </a:path>
              </a:pathLst>
            </a:custGeom>
            <a:solidFill>
              <a:srgbClr val="0B5E6E"/>
            </a:solidFill>
          </p:spPr>
          <p:txBody>
            <a:bodyPr/>
            <a:p/>
          </p:txBody>
        </p:sp>
        <p:sp>
          <p:nvSpPr>
            <p:cNvPr name="TextBox 81" id="81"/>
            <p:cNvSpPr txBox="true"/>
            <p:nvPr/>
          </p:nvSpPr>
          <p:spPr>
            <a:xfrm>
              <a:off x="0" y="-28575"/>
              <a:ext cx="3657600" cy="1186815"/>
            </a:xfrm>
            <a:prstGeom prst="rect">
              <a:avLst/>
            </a:prstGeom>
          </p:spPr>
          <p:txBody>
            <a:bodyPr anchor="ctr" rtlCol="false" tIns="50800" lIns="50800" bIns="50800" rIns="50800"/>
            <a:lstStyle/>
            <a:p>
              <a:pPr algn="ctr">
                <a:lnSpc>
                  <a:spcPts val="1788"/>
                </a:lnSpc>
              </a:pPr>
              <a:r>
                <a:rPr lang="en-US" sz="1490" b="true">
                  <a:solidFill>
                    <a:srgbClr val="FFFFFF"/>
                  </a:solidFill>
                  <a:latin typeface="Calibri (MS) Bold"/>
                  <a:ea typeface="Calibri (MS) Bold"/>
                  <a:cs typeface="Calibri (MS) Bold"/>
                  <a:sym typeface="Calibri (MS) Bold"/>
                </a:rPr>
                <a:t>CUKUP BAIK</a:t>
              </a:r>
            </a:p>
          </p:txBody>
        </p:sp>
      </p:grpSp>
      <p:grpSp>
        <p:nvGrpSpPr>
          <p:cNvPr name="Group 82" id="82"/>
          <p:cNvGrpSpPr/>
          <p:nvPr/>
        </p:nvGrpSpPr>
        <p:grpSpPr>
          <a:xfrm rot="0">
            <a:off x="816607" y="4291327"/>
            <a:ext cx="10985497" cy="881377"/>
            <a:chOff x="0" y="0"/>
            <a:chExt cx="14647329" cy="1175169"/>
          </a:xfrm>
        </p:grpSpPr>
        <p:sp>
          <p:nvSpPr>
            <p:cNvPr name="Freeform 83" id="83"/>
            <p:cNvSpPr/>
            <p:nvPr/>
          </p:nvSpPr>
          <p:spPr>
            <a:xfrm flipH="false" flipV="false" rot="0">
              <a:off x="0" y="0"/>
              <a:ext cx="14647292" cy="1175131"/>
            </a:xfrm>
            <a:custGeom>
              <a:avLst/>
              <a:gdLst/>
              <a:ahLst/>
              <a:cxnLst/>
              <a:rect r="r" b="b" t="t" l="l"/>
              <a:pathLst>
                <a:path h="1175131" w="14647292">
                  <a:moveTo>
                    <a:pt x="0" y="93980"/>
                  </a:moveTo>
                  <a:cubicBezTo>
                    <a:pt x="0" y="42037"/>
                    <a:pt x="42037" y="0"/>
                    <a:pt x="93980" y="0"/>
                  </a:cubicBezTo>
                  <a:lnTo>
                    <a:pt x="14553312" y="0"/>
                  </a:lnTo>
                  <a:cubicBezTo>
                    <a:pt x="14605254" y="0"/>
                    <a:pt x="14647292" y="42037"/>
                    <a:pt x="14647292" y="93980"/>
                  </a:cubicBezTo>
                  <a:lnTo>
                    <a:pt x="14647292" y="1081151"/>
                  </a:lnTo>
                  <a:cubicBezTo>
                    <a:pt x="14647292" y="1133094"/>
                    <a:pt x="14605254" y="1175131"/>
                    <a:pt x="14553312" y="1175131"/>
                  </a:cubicBezTo>
                  <a:lnTo>
                    <a:pt x="93980" y="1175131"/>
                  </a:lnTo>
                  <a:cubicBezTo>
                    <a:pt x="42037" y="1175131"/>
                    <a:pt x="0" y="1133094"/>
                    <a:pt x="0" y="1081151"/>
                  </a:cubicBezTo>
                  <a:close/>
                </a:path>
              </a:pathLst>
            </a:custGeom>
            <a:solidFill>
              <a:srgbClr val="EAF8FA"/>
            </a:solidFill>
            <a:ln w="12700" cap="sq">
              <a:solidFill>
                <a:srgbClr val="CFE5E9"/>
              </a:solidFill>
              <a:prstDash val="solid"/>
              <a:miter/>
            </a:ln>
          </p:spPr>
          <p:txBody>
            <a:bodyPr/>
            <a:p/>
          </p:txBody>
        </p:sp>
        <p:sp>
          <p:nvSpPr>
            <p:cNvPr name="TextBox 84" id="84"/>
            <p:cNvSpPr txBox="true"/>
            <p:nvPr/>
          </p:nvSpPr>
          <p:spPr>
            <a:xfrm>
              <a:off x="0" y="-19050"/>
              <a:ext cx="14647329" cy="1194219"/>
            </a:xfrm>
            <a:prstGeom prst="rect">
              <a:avLst/>
            </a:prstGeom>
          </p:spPr>
          <p:txBody>
            <a:bodyPr anchor="ctr" rtlCol="false" tIns="50800" lIns="50800" bIns="50800" rIns="50800"/>
            <a:lstStyle/>
            <a:p>
              <a:pPr algn="l">
                <a:lnSpc>
                  <a:spcPts val="1860"/>
                </a:lnSpc>
              </a:pPr>
              <a:r>
                <a:rPr lang="en-US" sz="1550" b="true">
                  <a:solidFill>
                    <a:srgbClr val="0B5E6E"/>
                  </a:solidFill>
                  <a:latin typeface="Calibri (MS) Bold"/>
                  <a:ea typeface="Calibri (MS) Bold"/>
                  <a:cs typeface="Calibri (MS) Bold"/>
                  <a:sym typeface="Calibri (MS) Bold"/>
                </a:rPr>
                <a:t>Perilaku model penuh  </a:t>
              </a:r>
              <a:r>
                <a:rPr lang="en-US" sz="1550">
                  <a:solidFill>
                    <a:srgbClr val="14313B"/>
                  </a:solidFill>
                  <a:latin typeface="Calibri (MS)"/>
                  <a:ea typeface="Calibri (MS)"/>
                  <a:cs typeface="Calibri (MS)"/>
                  <a:sym typeface="Calibri (MS)"/>
                </a:rPr>
                <a:t>Tidak ada variabel dengan MAPE buruk; DC melemah karena error terbawa dari satu sumber.</a:t>
              </a:r>
            </a:p>
          </p:txBody>
        </p:sp>
      </p:grpSp>
      <p:grpSp>
        <p:nvGrpSpPr>
          <p:cNvPr name="Group 85" id="85"/>
          <p:cNvGrpSpPr/>
          <p:nvPr/>
        </p:nvGrpSpPr>
        <p:grpSpPr>
          <a:xfrm rot="0">
            <a:off x="11978640" y="4297680"/>
            <a:ext cx="2743200" cy="868680"/>
            <a:chOff x="0" y="0"/>
            <a:chExt cx="3657600" cy="1158240"/>
          </a:xfrm>
        </p:grpSpPr>
        <p:sp>
          <p:nvSpPr>
            <p:cNvPr name="Freeform 86" id="86"/>
            <p:cNvSpPr/>
            <p:nvPr/>
          </p:nvSpPr>
          <p:spPr>
            <a:xfrm flipH="false" flipV="false" rot="0">
              <a:off x="0" y="0"/>
              <a:ext cx="3657600" cy="1158240"/>
            </a:xfrm>
            <a:custGeom>
              <a:avLst/>
              <a:gdLst/>
              <a:ahLst/>
              <a:cxnLst/>
              <a:rect r="r" b="b" t="t" l="l"/>
              <a:pathLst>
                <a:path h="1158240" w="3657600">
                  <a:moveTo>
                    <a:pt x="0" y="92710"/>
                  </a:moveTo>
                  <a:cubicBezTo>
                    <a:pt x="0" y="41529"/>
                    <a:pt x="41529" y="0"/>
                    <a:pt x="92710" y="0"/>
                  </a:cubicBezTo>
                  <a:lnTo>
                    <a:pt x="3564890" y="0"/>
                  </a:lnTo>
                  <a:cubicBezTo>
                    <a:pt x="3616071" y="0"/>
                    <a:pt x="3657600" y="41529"/>
                    <a:pt x="3657600" y="92710"/>
                  </a:cubicBezTo>
                  <a:lnTo>
                    <a:pt x="3657600" y="1065530"/>
                  </a:lnTo>
                  <a:cubicBezTo>
                    <a:pt x="3657600" y="1116711"/>
                    <a:pt x="3616071" y="1158240"/>
                    <a:pt x="3564890" y="1158240"/>
                  </a:cubicBezTo>
                  <a:lnTo>
                    <a:pt x="92710" y="1158240"/>
                  </a:lnTo>
                  <a:cubicBezTo>
                    <a:pt x="41529" y="1158240"/>
                    <a:pt x="0" y="1116711"/>
                    <a:pt x="0" y="1065530"/>
                  </a:cubicBezTo>
                  <a:close/>
                </a:path>
              </a:pathLst>
            </a:custGeom>
            <a:solidFill>
              <a:srgbClr val="3AC1D1"/>
            </a:solidFill>
          </p:spPr>
          <p:txBody>
            <a:bodyPr/>
            <a:p/>
          </p:txBody>
        </p:sp>
        <p:sp>
          <p:nvSpPr>
            <p:cNvPr name="TextBox 87" id="87"/>
            <p:cNvSpPr txBox="true"/>
            <p:nvPr/>
          </p:nvSpPr>
          <p:spPr>
            <a:xfrm>
              <a:off x="0" y="-28575"/>
              <a:ext cx="3657600" cy="1186815"/>
            </a:xfrm>
            <a:prstGeom prst="rect">
              <a:avLst/>
            </a:prstGeom>
          </p:spPr>
          <p:txBody>
            <a:bodyPr anchor="ctr" rtlCol="false" tIns="50800" lIns="50800" bIns="50800" rIns="50800"/>
            <a:lstStyle/>
            <a:p>
              <a:pPr algn="ctr">
                <a:lnSpc>
                  <a:spcPts val="1788"/>
                </a:lnSpc>
              </a:pPr>
              <a:r>
                <a:rPr lang="en-US" sz="1490" b="true">
                  <a:solidFill>
                    <a:srgbClr val="FFFFFF"/>
                  </a:solidFill>
                  <a:latin typeface="Calibri (MS) Bold"/>
                  <a:ea typeface="Calibri (MS) Bold"/>
                  <a:cs typeface="Calibri (MS) Bold"/>
                  <a:sym typeface="Calibri (MS) Bold"/>
                </a:rPr>
                <a:t>CUKUP BAIK, DENGAN CATATAN</a:t>
              </a:r>
            </a:p>
          </p:txBody>
        </p:sp>
      </p:grpSp>
      <p:grpSp>
        <p:nvGrpSpPr>
          <p:cNvPr name="Group 88" id="88"/>
          <p:cNvGrpSpPr/>
          <p:nvPr/>
        </p:nvGrpSpPr>
        <p:grpSpPr>
          <a:xfrm rot="0">
            <a:off x="816607" y="5297167"/>
            <a:ext cx="10985497" cy="881377"/>
            <a:chOff x="0" y="0"/>
            <a:chExt cx="14647329" cy="1175169"/>
          </a:xfrm>
        </p:grpSpPr>
        <p:sp>
          <p:nvSpPr>
            <p:cNvPr name="Freeform 89" id="89"/>
            <p:cNvSpPr/>
            <p:nvPr/>
          </p:nvSpPr>
          <p:spPr>
            <a:xfrm flipH="false" flipV="false" rot="0">
              <a:off x="0" y="0"/>
              <a:ext cx="14647292" cy="1175131"/>
            </a:xfrm>
            <a:custGeom>
              <a:avLst/>
              <a:gdLst/>
              <a:ahLst/>
              <a:cxnLst/>
              <a:rect r="r" b="b" t="t" l="l"/>
              <a:pathLst>
                <a:path h="1175131" w="14647292">
                  <a:moveTo>
                    <a:pt x="0" y="93980"/>
                  </a:moveTo>
                  <a:cubicBezTo>
                    <a:pt x="0" y="42037"/>
                    <a:pt x="42037" y="0"/>
                    <a:pt x="93980" y="0"/>
                  </a:cubicBezTo>
                  <a:lnTo>
                    <a:pt x="14553312" y="0"/>
                  </a:lnTo>
                  <a:cubicBezTo>
                    <a:pt x="14605254" y="0"/>
                    <a:pt x="14647292" y="42037"/>
                    <a:pt x="14647292" y="93980"/>
                  </a:cubicBezTo>
                  <a:lnTo>
                    <a:pt x="14647292" y="1081151"/>
                  </a:lnTo>
                  <a:cubicBezTo>
                    <a:pt x="14647292" y="1133094"/>
                    <a:pt x="14605254" y="1175131"/>
                    <a:pt x="14553312" y="1175131"/>
                  </a:cubicBezTo>
                  <a:lnTo>
                    <a:pt x="93980" y="1175131"/>
                  </a:lnTo>
                  <a:cubicBezTo>
                    <a:pt x="42037" y="1175131"/>
                    <a:pt x="0" y="1133094"/>
                    <a:pt x="0" y="1081151"/>
                  </a:cubicBezTo>
                  <a:close/>
                </a:path>
              </a:pathLst>
            </a:custGeom>
            <a:solidFill>
              <a:srgbClr val="EAF8FA"/>
            </a:solidFill>
            <a:ln w="12700" cap="sq">
              <a:solidFill>
                <a:srgbClr val="CFE5E9"/>
              </a:solidFill>
              <a:prstDash val="solid"/>
              <a:miter/>
            </a:ln>
          </p:spPr>
          <p:txBody>
            <a:bodyPr/>
            <a:p/>
          </p:txBody>
        </p:sp>
        <p:sp>
          <p:nvSpPr>
            <p:cNvPr name="TextBox 90" id="90"/>
            <p:cNvSpPr txBox="true"/>
            <p:nvPr/>
          </p:nvSpPr>
          <p:spPr>
            <a:xfrm>
              <a:off x="0" y="-19050"/>
              <a:ext cx="14647329" cy="1194219"/>
            </a:xfrm>
            <a:prstGeom prst="rect">
              <a:avLst/>
            </a:prstGeom>
          </p:spPr>
          <p:txBody>
            <a:bodyPr anchor="ctr" rtlCol="false" tIns="50800" lIns="50800" bIns="50800" rIns="50800"/>
            <a:lstStyle/>
            <a:p>
              <a:pPr algn="l">
                <a:lnSpc>
                  <a:spcPts val="1860"/>
                </a:lnSpc>
              </a:pPr>
              <a:r>
                <a:rPr lang="en-US" sz="1550" b="true">
                  <a:solidFill>
                    <a:srgbClr val="0B5E6E"/>
                  </a:solidFill>
                  <a:latin typeface="Calibri (MS) Bold"/>
                  <a:ea typeface="Calibri (MS) Bold"/>
                  <a:cs typeface="Calibri (MS) Bold"/>
                  <a:sym typeface="Calibri (MS) Bold"/>
                </a:rPr>
                <a:t>Sumber error  Hanya pada pertumbuhan wisatawan → lonjakan pemulihan pascapandemi yang tidak dicakup model, bukan kesalahan parameter.</a:t>
              </a:r>
            </a:p>
          </p:txBody>
        </p:sp>
      </p:grpSp>
      <p:grpSp>
        <p:nvGrpSpPr>
          <p:cNvPr name="Group 91" id="91"/>
          <p:cNvGrpSpPr/>
          <p:nvPr/>
        </p:nvGrpSpPr>
        <p:grpSpPr>
          <a:xfrm rot="0">
            <a:off x="11978640" y="5303520"/>
            <a:ext cx="2743200" cy="868680"/>
            <a:chOff x="0" y="0"/>
            <a:chExt cx="3657600" cy="1158240"/>
          </a:xfrm>
        </p:grpSpPr>
        <p:sp>
          <p:nvSpPr>
            <p:cNvPr name="Freeform 92" id="92"/>
            <p:cNvSpPr/>
            <p:nvPr/>
          </p:nvSpPr>
          <p:spPr>
            <a:xfrm flipH="false" flipV="false" rot="0">
              <a:off x="0" y="0"/>
              <a:ext cx="3657600" cy="1158240"/>
            </a:xfrm>
            <a:custGeom>
              <a:avLst/>
              <a:gdLst/>
              <a:ahLst/>
              <a:cxnLst/>
              <a:rect r="r" b="b" t="t" l="l"/>
              <a:pathLst>
                <a:path h="1158240" w="3657600">
                  <a:moveTo>
                    <a:pt x="0" y="92710"/>
                  </a:moveTo>
                  <a:cubicBezTo>
                    <a:pt x="0" y="41529"/>
                    <a:pt x="41529" y="0"/>
                    <a:pt x="92710" y="0"/>
                  </a:cubicBezTo>
                  <a:lnTo>
                    <a:pt x="3564890" y="0"/>
                  </a:lnTo>
                  <a:cubicBezTo>
                    <a:pt x="3616071" y="0"/>
                    <a:pt x="3657600" y="41529"/>
                    <a:pt x="3657600" y="92710"/>
                  </a:cubicBezTo>
                  <a:lnTo>
                    <a:pt x="3657600" y="1065530"/>
                  </a:lnTo>
                  <a:cubicBezTo>
                    <a:pt x="3657600" y="1116711"/>
                    <a:pt x="3616071" y="1158240"/>
                    <a:pt x="3564890" y="1158240"/>
                  </a:cubicBezTo>
                  <a:lnTo>
                    <a:pt x="92710" y="1158240"/>
                  </a:lnTo>
                  <a:cubicBezTo>
                    <a:pt x="41529" y="1158240"/>
                    <a:pt x="0" y="1116711"/>
                    <a:pt x="0" y="1065530"/>
                  </a:cubicBezTo>
                  <a:close/>
                </a:path>
              </a:pathLst>
            </a:custGeom>
            <a:solidFill>
              <a:srgbClr val="3AC1D1"/>
            </a:solidFill>
          </p:spPr>
          <p:txBody>
            <a:bodyPr/>
            <a:p/>
          </p:txBody>
        </p:sp>
        <p:sp>
          <p:nvSpPr>
            <p:cNvPr name="TextBox 93" id="93"/>
            <p:cNvSpPr txBox="true"/>
            <p:nvPr/>
          </p:nvSpPr>
          <p:spPr>
            <a:xfrm>
              <a:off x="0" y="-28575"/>
              <a:ext cx="3657600" cy="1186815"/>
            </a:xfrm>
            <a:prstGeom prst="rect">
              <a:avLst/>
            </a:prstGeom>
          </p:spPr>
          <p:txBody>
            <a:bodyPr anchor="ctr" rtlCol="false" tIns="50800" lIns="50800" bIns="50800" rIns="50800"/>
            <a:lstStyle/>
            <a:p>
              <a:pPr algn="ctr">
                <a:lnSpc>
                  <a:spcPts val="1788"/>
                </a:lnSpc>
              </a:pPr>
              <a:r>
                <a:rPr lang="en-US" sz="1490" b="true">
                  <a:solidFill>
                    <a:srgbClr val="FFFFFF"/>
                  </a:solidFill>
                  <a:latin typeface="Calibri (MS) Bold"/>
                  <a:ea typeface="Calibri (MS) Bold"/>
                  <a:cs typeface="Calibri (MS) Bold"/>
                  <a:sym typeface="Calibri (MS) Bold"/>
                </a:rPr>
                <a:t>TERJELASKAN</a:t>
              </a:r>
            </a:p>
          </p:txBody>
        </p:sp>
      </p:grpSp>
      <p:grpSp>
        <p:nvGrpSpPr>
          <p:cNvPr name="Group 94" id="94"/>
          <p:cNvGrpSpPr/>
          <p:nvPr/>
        </p:nvGrpSpPr>
        <p:grpSpPr>
          <a:xfrm rot="0">
            <a:off x="816607" y="6303007"/>
            <a:ext cx="10985497" cy="881377"/>
            <a:chOff x="0" y="0"/>
            <a:chExt cx="14647329" cy="1175169"/>
          </a:xfrm>
        </p:grpSpPr>
        <p:sp>
          <p:nvSpPr>
            <p:cNvPr name="Freeform 95" id="95"/>
            <p:cNvSpPr/>
            <p:nvPr/>
          </p:nvSpPr>
          <p:spPr>
            <a:xfrm flipH="false" flipV="false" rot="0">
              <a:off x="0" y="0"/>
              <a:ext cx="14647292" cy="1175131"/>
            </a:xfrm>
            <a:custGeom>
              <a:avLst/>
              <a:gdLst/>
              <a:ahLst/>
              <a:cxnLst/>
              <a:rect r="r" b="b" t="t" l="l"/>
              <a:pathLst>
                <a:path h="1175131" w="14647292">
                  <a:moveTo>
                    <a:pt x="0" y="93980"/>
                  </a:moveTo>
                  <a:cubicBezTo>
                    <a:pt x="0" y="42037"/>
                    <a:pt x="42037" y="0"/>
                    <a:pt x="93980" y="0"/>
                  </a:cubicBezTo>
                  <a:lnTo>
                    <a:pt x="14553312" y="0"/>
                  </a:lnTo>
                  <a:cubicBezTo>
                    <a:pt x="14605254" y="0"/>
                    <a:pt x="14647292" y="42037"/>
                    <a:pt x="14647292" y="93980"/>
                  </a:cubicBezTo>
                  <a:lnTo>
                    <a:pt x="14647292" y="1081151"/>
                  </a:lnTo>
                  <a:cubicBezTo>
                    <a:pt x="14647292" y="1133094"/>
                    <a:pt x="14605254" y="1175131"/>
                    <a:pt x="14553312" y="1175131"/>
                  </a:cubicBezTo>
                  <a:lnTo>
                    <a:pt x="93980" y="1175131"/>
                  </a:lnTo>
                  <a:cubicBezTo>
                    <a:pt x="42037" y="1175131"/>
                    <a:pt x="0" y="1133094"/>
                    <a:pt x="0" y="1081151"/>
                  </a:cubicBezTo>
                  <a:close/>
                </a:path>
              </a:pathLst>
            </a:custGeom>
            <a:solidFill>
              <a:srgbClr val="EAF8FA"/>
            </a:solidFill>
            <a:ln w="12700" cap="sq">
              <a:solidFill>
                <a:srgbClr val="CFE5E9"/>
              </a:solidFill>
              <a:prstDash val="solid"/>
              <a:miter/>
            </a:ln>
          </p:spPr>
          <p:txBody>
            <a:bodyPr/>
            <a:p/>
          </p:txBody>
        </p:sp>
        <p:sp>
          <p:nvSpPr>
            <p:cNvPr name="TextBox 96" id="96"/>
            <p:cNvSpPr txBox="true"/>
            <p:nvPr/>
          </p:nvSpPr>
          <p:spPr>
            <a:xfrm>
              <a:off x="0" y="-19050"/>
              <a:ext cx="14647329" cy="1194219"/>
            </a:xfrm>
            <a:prstGeom prst="rect">
              <a:avLst/>
            </a:prstGeom>
          </p:spPr>
          <p:txBody>
            <a:bodyPr anchor="ctr" rtlCol="false" tIns="50800" lIns="50800" bIns="50800" rIns="50800"/>
            <a:lstStyle/>
            <a:p>
              <a:pPr algn="l">
                <a:lnSpc>
                  <a:spcPts val="1860"/>
                </a:lnSpc>
              </a:pPr>
              <a:r>
                <a:rPr lang="en-US" sz="1550" b="true">
                  <a:solidFill>
                    <a:srgbClr val="0B5E6E"/>
                  </a:solidFill>
                  <a:latin typeface="Calibri (MS) Bold"/>
                  <a:ea typeface="Calibri (MS) Bold"/>
                  <a:cs typeface="Calibri (MS) Bold"/>
                  <a:sym typeface="Calibri (MS) Bold"/>
                </a:rPr>
                <a:t>Nilai parameter  </a:t>
              </a:r>
              <a:r>
                <a:rPr lang="en-US" sz="1550">
                  <a:solidFill>
                    <a:srgbClr val="14313B"/>
                  </a:solidFill>
                  <a:latin typeface="Calibri (MS)"/>
                  <a:ea typeface="Calibri (MS)"/>
                  <a:cs typeface="Calibri (MS)"/>
                  <a:sym typeface="Calibri (MS)"/>
                </a:rPr>
                <a:t>Kalibrasi 3 parameter → 0 berubah; nilai dari data terkonfirmasi (Oliva, 2003).</a:t>
              </a:r>
            </a:p>
          </p:txBody>
        </p:sp>
      </p:grpSp>
      <p:grpSp>
        <p:nvGrpSpPr>
          <p:cNvPr name="Group 97" id="97"/>
          <p:cNvGrpSpPr/>
          <p:nvPr/>
        </p:nvGrpSpPr>
        <p:grpSpPr>
          <a:xfrm rot="0">
            <a:off x="11978640" y="6309360"/>
            <a:ext cx="2743200" cy="868680"/>
            <a:chOff x="0" y="0"/>
            <a:chExt cx="3657600" cy="1158240"/>
          </a:xfrm>
        </p:grpSpPr>
        <p:sp>
          <p:nvSpPr>
            <p:cNvPr name="Freeform 98" id="98"/>
            <p:cNvSpPr/>
            <p:nvPr/>
          </p:nvSpPr>
          <p:spPr>
            <a:xfrm flipH="false" flipV="false" rot="0">
              <a:off x="0" y="0"/>
              <a:ext cx="3657600" cy="1158240"/>
            </a:xfrm>
            <a:custGeom>
              <a:avLst/>
              <a:gdLst/>
              <a:ahLst/>
              <a:cxnLst/>
              <a:rect r="r" b="b" t="t" l="l"/>
              <a:pathLst>
                <a:path h="1158240" w="3657600">
                  <a:moveTo>
                    <a:pt x="0" y="92710"/>
                  </a:moveTo>
                  <a:cubicBezTo>
                    <a:pt x="0" y="41529"/>
                    <a:pt x="41529" y="0"/>
                    <a:pt x="92710" y="0"/>
                  </a:cubicBezTo>
                  <a:lnTo>
                    <a:pt x="3564890" y="0"/>
                  </a:lnTo>
                  <a:cubicBezTo>
                    <a:pt x="3616071" y="0"/>
                    <a:pt x="3657600" y="41529"/>
                    <a:pt x="3657600" y="92710"/>
                  </a:cubicBezTo>
                  <a:lnTo>
                    <a:pt x="3657600" y="1065530"/>
                  </a:lnTo>
                  <a:cubicBezTo>
                    <a:pt x="3657600" y="1116711"/>
                    <a:pt x="3616071" y="1158240"/>
                    <a:pt x="3564890" y="1158240"/>
                  </a:cubicBezTo>
                  <a:lnTo>
                    <a:pt x="92710" y="1158240"/>
                  </a:lnTo>
                  <a:cubicBezTo>
                    <a:pt x="41529" y="1158240"/>
                    <a:pt x="0" y="1116711"/>
                    <a:pt x="0" y="1065530"/>
                  </a:cubicBezTo>
                  <a:close/>
                </a:path>
              </a:pathLst>
            </a:custGeom>
            <a:solidFill>
              <a:srgbClr val="0B5E6E"/>
            </a:solidFill>
          </p:spPr>
          <p:txBody>
            <a:bodyPr/>
            <a:p/>
          </p:txBody>
        </p:sp>
        <p:sp>
          <p:nvSpPr>
            <p:cNvPr name="TextBox 99" id="99"/>
            <p:cNvSpPr txBox="true"/>
            <p:nvPr/>
          </p:nvSpPr>
          <p:spPr>
            <a:xfrm>
              <a:off x="0" y="-28575"/>
              <a:ext cx="3657600" cy="1186815"/>
            </a:xfrm>
            <a:prstGeom prst="rect">
              <a:avLst/>
            </a:prstGeom>
          </p:spPr>
          <p:txBody>
            <a:bodyPr anchor="ctr" rtlCol="false" tIns="50800" lIns="50800" bIns="50800" rIns="50800"/>
            <a:lstStyle/>
            <a:p>
              <a:pPr algn="ctr">
                <a:lnSpc>
                  <a:spcPts val="1788"/>
                </a:lnSpc>
              </a:pPr>
              <a:r>
                <a:rPr lang="en-US" sz="1490" b="true">
                  <a:solidFill>
                    <a:srgbClr val="FFFFFF"/>
                  </a:solidFill>
                  <a:latin typeface="Calibri (MS) Bold"/>
                  <a:ea typeface="Calibri (MS) Bold"/>
                  <a:cs typeface="Calibri (MS) Bold"/>
                  <a:sym typeface="Calibri (MS) Bold"/>
                </a:rPr>
                <a:t>TERKONFIRMASI</a:t>
              </a:r>
            </a:p>
          </p:txBody>
        </p:sp>
      </p:grpSp>
      <p:grpSp>
        <p:nvGrpSpPr>
          <p:cNvPr name="Group 100" id="100"/>
          <p:cNvGrpSpPr/>
          <p:nvPr/>
        </p:nvGrpSpPr>
        <p:grpSpPr>
          <a:xfrm rot="0">
            <a:off x="14944087" y="2279647"/>
            <a:ext cx="2527297" cy="4904737"/>
            <a:chOff x="0" y="0"/>
            <a:chExt cx="3369729" cy="6539649"/>
          </a:xfrm>
        </p:grpSpPr>
        <p:sp>
          <p:nvSpPr>
            <p:cNvPr name="Freeform 101" id="101"/>
            <p:cNvSpPr/>
            <p:nvPr/>
          </p:nvSpPr>
          <p:spPr>
            <a:xfrm flipH="false" flipV="false" rot="0">
              <a:off x="0" y="0"/>
              <a:ext cx="3369818" cy="6539738"/>
            </a:xfrm>
            <a:custGeom>
              <a:avLst/>
              <a:gdLst/>
              <a:ahLst/>
              <a:cxnLst/>
              <a:rect r="r" b="b" t="t" l="l"/>
              <a:pathLst>
                <a:path h="6539738" w="3369818">
                  <a:moveTo>
                    <a:pt x="0" y="269621"/>
                  </a:moveTo>
                  <a:cubicBezTo>
                    <a:pt x="0" y="120650"/>
                    <a:pt x="120650" y="0"/>
                    <a:pt x="269621" y="0"/>
                  </a:cubicBezTo>
                  <a:lnTo>
                    <a:pt x="3100197" y="0"/>
                  </a:lnTo>
                  <a:cubicBezTo>
                    <a:pt x="3249041" y="0"/>
                    <a:pt x="3369818" y="120650"/>
                    <a:pt x="3369818" y="269621"/>
                  </a:cubicBezTo>
                  <a:lnTo>
                    <a:pt x="3369818" y="6270117"/>
                  </a:lnTo>
                  <a:cubicBezTo>
                    <a:pt x="3369818" y="6418961"/>
                    <a:pt x="3249168" y="6539738"/>
                    <a:pt x="3100197" y="6539738"/>
                  </a:cubicBezTo>
                  <a:lnTo>
                    <a:pt x="269621" y="6539738"/>
                  </a:lnTo>
                  <a:cubicBezTo>
                    <a:pt x="120650" y="6539611"/>
                    <a:pt x="0" y="6418961"/>
                    <a:pt x="0" y="6270117"/>
                  </a:cubicBezTo>
                  <a:close/>
                </a:path>
              </a:pathLst>
            </a:custGeom>
            <a:solidFill>
              <a:srgbClr val="FFF1BF"/>
            </a:solidFill>
            <a:ln w="12700" cap="sq">
              <a:solidFill>
                <a:srgbClr val="FFD23B"/>
              </a:solidFill>
              <a:prstDash val="solid"/>
              <a:miter/>
            </a:ln>
          </p:spPr>
          <p:txBody>
            <a:bodyPr/>
            <a:p/>
          </p:txBody>
        </p:sp>
        <p:sp>
          <p:nvSpPr>
            <p:cNvPr name="TextBox 102" id="102"/>
            <p:cNvSpPr txBox="true"/>
            <p:nvPr/>
          </p:nvSpPr>
          <p:spPr>
            <a:xfrm>
              <a:off x="0" y="-38100"/>
              <a:ext cx="3369729" cy="6577749"/>
            </a:xfrm>
            <a:prstGeom prst="rect">
              <a:avLst/>
            </a:prstGeom>
          </p:spPr>
          <p:txBody>
            <a:bodyPr anchor="t" rtlCol="false" tIns="50800" lIns="50800" bIns="50800" rIns="50800"/>
            <a:lstStyle/>
            <a:p>
              <a:pPr algn="l">
                <a:lnSpc>
                  <a:spcPts val="2063"/>
                </a:lnSpc>
              </a:pPr>
              <a:r>
                <a:rPr lang="en-US" sz="1719" b="true">
                  <a:solidFill>
                    <a:srgbClr val="E4604F"/>
                  </a:solidFill>
                  <a:latin typeface="Calibri (MS) Bold"/>
                  <a:ea typeface="Calibri (MS) Bold"/>
                  <a:cs typeface="Calibri (MS) Bold"/>
                  <a:sym typeface="Calibri (MS) Bold"/>
                </a:rPr>
                <a:t>Batas pemakaian</a:t>
              </a:r>
            </a:p>
            <a:p>
              <a:pPr algn="l">
                <a:lnSpc>
                  <a:spcPts val="1788"/>
                </a:lnSpc>
              </a:pPr>
              <a:r>
                <a:rPr lang="en-US" sz="1490">
                  <a:solidFill>
                    <a:srgbClr val="14313B"/>
                  </a:solidFill>
                  <a:latin typeface="Calibri (MS)"/>
                  <a:ea typeface="Calibri (MS)"/>
                  <a:cs typeface="Calibri (MS)"/>
                  <a:sym typeface="Calibri (MS)"/>
                </a:rPr>
                <a:t>Bukan alat ramal angka absolut</a:t>
              </a:r>
            </a:p>
            <a:p>
              <a:pPr algn="l">
                <a:lnSpc>
                  <a:spcPts val="1788"/>
                </a:lnSpc>
              </a:pPr>
              <a:r>
                <a:rPr lang="en-US" sz="1490">
                  <a:solidFill>
                    <a:srgbClr val="14313B"/>
                  </a:solidFill>
                  <a:latin typeface="Calibri (MS)"/>
                  <a:ea typeface="Calibri (MS)"/>
                  <a:cs typeface="Calibri (MS)"/>
                  <a:sym typeface="Calibri (MS)"/>
                </a:rPr>
                <a:t>Evaluasi pascakalibrasi ≠ validasi independen</a:t>
              </a:r>
            </a:p>
            <a:p>
              <a:pPr algn="l">
                <a:lnSpc>
                  <a:spcPts val="1788"/>
                </a:lnSpc>
              </a:pPr>
              <a:r>
                <a:rPr lang="en-US" sz="1490">
                  <a:solidFill>
                    <a:srgbClr val="14313B"/>
                  </a:solidFill>
                  <a:latin typeface="Calibri (MS)"/>
                  <a:ea typeface="Calibri (MS)"/>
                  <a:cs typeface="Calibri (MS)"/>
                  <a:sym typeface="Calibri (MS)"/>
                </a:rPr>
                <a:t>Tanpa shock eksternal</a:t>
              </a:r>
            </a:p>
            <a:p>
              <a:pPr algn="l">
                <a:lnSpc>
                  <a:spcPts val="1788"/>
                </a:lnSpc>
              </a:pPr>
              <a:r>
                <a:rPr lang="en-US" sz="1490">
                  <a:solidFill>
                    <a:srgbClr val="14313B"/>
                  </a:solidFill>
                  <a:latin typeface="Calibri (MS)"/>
                  <a:ea typeface="Calibri (MS)"/>
                  <a:cs typeface="Calibri (MS)"/>
                  <a:sym typeface="Calibri (MS)"/>
                </a:rPr>
                <a:t>Rasio LPD/LPE tidak bisa ditentukan dari data</a:t>
              </a:r>
            </a:p>
          </p:txBody>
        </p:sp>
      </p:grpSp>
      <p:grpSp>
        <p:nvGrpSpPr>
          <p:cNvPr name="Group 103" id="103"/>
          <p:cNvGrpSpPr/>
          <p:nvPr/>
        </p:nvGrpSpPr>
        <p:grpSpPr>
          <a:xfrm rot="0">
            <a:off x="822960" y="7452360"/>
            <a:ext cx="16642080" cy="868680"/>
            <a:chOff x="0" y="0"/>
            <a:chExt cx="22189440" cy="1158240"/>
          </a:xfrm>
        </p:grpSpPr>
        <p:sp>
          <p:nvSpPr>
            <p:cNvPr name="Freeform 104" id="104"/>
            <p:cNvSpPr/>
            <p:nvPr/>
          </p:nvSpPr>
          <p:spPr>
            <a:xfrm flipH="false" flipV="false" rot="0">
              <a:off x="0" y="0"/>
              <a:ext cx="22189441" cy="1158240"/>
            </a:xfrm>
            <a:custGeom>
              <a:avLst/>
              <a:gdLst/>
              <a:ahLst/>
              <a:cxnLst/>
              <a:rect r="r" b="b" t="t" l="l"/>
              <a:pathLst>
                <a:path h="1158240" w="22189441">
                  <a:moveTo>
                    <a:pt x="0" y="92710"/>
                  </a:moveTo>
                  <a:cubicBezTo>
                    <a:pt x="0" y="41529"/>
                    <a:pt x="41529" y="0"/>
                    <a:pt x="92710" y="0"/>
                  </a:cubicBezTo>
                  <a:lnTo>
                    <a:pt x="22096730" y="0"/>
                  </a:lnTo>
                  <a:cubicBezTo>
                    <a:pt x="22147912" y="0"/>
                    <a:pt x="22189441" y="41529"/>
                    <a:pt x="22189441" y="92710"/>
                  </a:cubicBezTo>
                  <a:lnTo>
                    <a:pt x="22189441" y="1065530"/>
                  </a:lnTo>
                  <a:cubicBezTo>
                    <a:pt x="22189441" y="1116711"/>
                    <a:pt x="22147912" y="1158240"/>
                    <a:pt x="22096730" y="1158240"/>
                  </a:cubicBezTo>
                  <a:lnTo>
                    <a:pt x="92710" y="1158240"/>
                  </a:lnTo>
                  <a:cubicBezTo>
                    <a:pt x="41529" y="1158240"/>
                    <a:pt x="0" y="1116711"/>
                    <a:pt x="0" y="1065530"/>
                  </a:cubicBezTo>
                  <a:close/>
                </a:path>
              </a:pathLst>
            </a:custGeom>
            <a:solidFill>
              <a:srgbClr val="0B5E6E"/>
            </a:solidFill>
          </p:spPr>
          <p:txBody>
            <a:bodyPr/>
            <a:p/>
          </p:txBody>
        </p:sp>
        <p:sp>
          <p:nvSpPr>
            <p:cNvPr name="TextBox 105" id="105"/>
            <p:cNvSpPr txBox="true"/>
            <p:nvPr/>
          </p:nvSpPr>
          <p:spPr>
            <a:xfrm>
              <a:off x="0" y="-47625"/>
              <a:ext cx="22189440" cy="1205865"/>
            </a:xfrm>
            <a:prstGeom prst="rect">
              <a:avLst/>
            </a:prstGeom>
          </p:spPr>
          <p:txBody>
            <a:bodyPr anchor="ctr" rtlCol="false" tIns="50800" lIns="50800" bIns="50800" rIns="50800"/>
            <a:lstStyle/>
            <a:p>
              <a:pPr algn="l">
                <a:lnSpc>
                  <a:spcPts val="2340"/>
                </a:lnSpc>
              </a:pPr>
              <a:r>
                <a:rPr lang="en-US" sz="1950" b="true">
                  <a:solidFill>
                    <a:srgbClr val="FFFFFF"/>
                  </a:solidFill>
                  <a:latin typeface="Calibri (MS) Bold"/>
                  <a:ea typeface="Calibri (MS) Bold"/>
                  <a:cs typeface="Calibri (MS) Bold"/>
                  <a:sym typeface="Calibri (MS) Bold"/>
                </a:rPr>
                <a:t>Keputusan: model layak dipakai untuk membandingkan arah dan besaran relatif antarskenario kebijakan 2025–2050.</a:t>
              </a:r>
            </a:p>
          </p:txBody>
        </p:sp>
      </p:grpSp>
      <p:grpSp>
        <p:nvGrpSpPr>
          <p:cNvPr name="Group 106" id="106"/>
          <p:cNvGrpSpPr/>
          <p:nvPr/>
        </p:nvGrpSpPr>
        <p:grpSpPr>
          <a:xfrm rot="0">
            <a:off x="16047720" y="9646920"/>
            <a:ext cx="420624" cy="420624"/>
            <a:chOff x="0" y="0"/>
            <a:chExt cx="560832" cy="560832"/>
          </a:xfrm>
        </p:grpSpPr>
        <p:sp>
          <p:nvSpPr>
            <p:cNvPr name="Freeform 107" id="107"/>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08" id="108"/>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5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0010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Rancangan Analisis Sensitivitas</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Sensitivitas diuji dari perubahan ±10% sampai seluruh rentang nilai</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53</a:t>
            </a:r>
          </a:p>
        </p:txBody>
      </p:sp>
      <p:sp>
        <p:nvSpPr>
          <p:cNvPr name="Freeform 67" id="67"/>
          <p:cNvSpPr/>
          <p:nvPr/>
        </p:nvSpPr>
        <p:spPr>
          <a:xfrm flipH="false" flipV="false" rot="0">
            <a:off x="806291" y="2223611"/>
            <a:ext cx="5458778" cy="3448622"/>
          </a:xfrm>
          <a:custGeom>
            <a:avLst/>
            <a:gdLst/>
            <a:ahLst/>
            <a:cxnLst/>
            <a:rect r="r" b="b" t="t" l="l"/>
            <a:pathLst>
              <a:path h="3448622" w="5458778">
                <a:moveTo>
                  <a:pt x="0" y="0"/>
                </a:moveTo>
                <a:lnTo>
                  <a:pt x="5458778" y="0"/>
                </a:lnTo>
                <a:lnTo>
                  <a:pt x="5458778" y="3448622"/>
                </a:lnTo>
                <a:lnTo>
                  <a:pt x="0" y="344862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68" id="68"/>
          <p:cNvGrpSpPr/>
          <p:nvPr/>
        </p:nvGrpSpPr>
        <p:grpSpPr>
          <a:xfrm rot="0">
            <a:off x="1051560" y="2468880"/>
            <a:ext cx="530352" cy="530352"/>
            <a:chOff x="0" y="0"/>
            <a:chExt cx="707136" cy="707136"/>
          </a:xfrm>
        </p:grpSpPr>
        <p:sp>
          <p:nvSpPr>
            <p:cNvPr name="Freeform 69" id="69"/>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70" id="70"/>
          <p:cNvGrpSpPr/>
          <p:nvPr/>
        </p:nvGrpSpPr>
        <p:grpSpPr>
          <a:xfrm rot="0">
            <a:off x="1051560" y="2447449"/>
            <a:ext cx="530352" cy="551783"/>
            <a:chOff x="0" y="0"/>
            <a:chExt cx="707136" cy="735711"/>
          </a:xfrm>
        </p:grpSpPr>
        <p:sp>
          <p:nvSpPr>
            <p:cNvPr name="Freeform 71" id="71"/>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72" id="72"/>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1</a:t>
              </a:r>
            </a:p>
          </p:txBody>
        </p:sp>
      </p:grpSp>
      <p:sp>
        <p:nvSpPr>
          <p:cNvPr name="TextBox 73" id="73"/>
          <p:cNvSpPr txBox="true"/>
          <p:nvPr/>
        </p:nvSpPr>
        <p:spPr>
          <a:xfrm rot="0">
            <a:off x="1719072" y="2372868"/>
            <a:ext cx="4373880" cy="800710"/>
          </a:xfrm>
          <a:prstGeom prst="rect">
            <a:avLst/>
          </a:prstGeom>
        </p:spPr>
        <p:txBody>
          <a:bodyPr anchor="t" rtlCol="false" tIns="0" lIns="0" bIns="0" rIns="0">
            <a:spAutoFit/>
          </a:bodyPr>
          <a:lstStyle/>
          <a:p>
            <a:pPr algn="l">
              <a:lnSpc>
                <a:spcPts val="2485"/>
              </a:lnSpc>
            </a:pPr>
            <a:r>
              <a:rPr lang="en-US" sz="1850" b="true">
                <a:solidFill>
                  <a:srgbClr val="0B5E6E"/>
                </a:solidFill>
                <a:latin typeface="Calibri (MS) Bold"/>
                <a:ea typeface="Calibri (MS) Bold"/>
                <a:cs typeface="Calibri (MS) Bold"/>
                <a:sym typeface="Calibri (MS) Bold"/>
              </a:rPr>
              <a:t>Bagian 1 · Perubahan ±10% (satu per satu)</a:t>
            </a:r>
          </a:p>
        </p:txBody>
      </p:sp>
      <p:sp>
        <p:nvSpPr>
          <p:cNvPr name="TextBox 74" id="74"/>
          <p:cNvSpPr txBox="true"/>
          <p:nvPr/>
        </p:nvSpPr>
        <p:spPr>
          <a:xfrm rot="0">
            <a:off x="1051560" y="3178912"/>
            <a:ext cx="4968240" cy="1242517"/>
          </a:xfrm>
          <a:prstGeom prst="rect">
            <a:avLst/>
          </a:prstGeom>
        </p:spPr>
        <p:txBody>
          <a:bodyPr anchor="t" rtlCol="false" tIns="0" lIns="0" bIns="0" rIns="0">
            <a:spAutoFit/>
          </a:bodyPr>
          <a:lstStyle/>
          <a:p>
            <a:pPr algn="l">
              <a:lnSpc>
                <a:spcPts val="2149"/>
              </a:lnSpc>
            </a:pPr>
            <a:r>
              <a:rPr lang="en-US" sz="1599">
                <a:solidFill>
                  <a:srgbClr val="14313B"/>
                </a:solidFill>
                <a:latin typeface="Calibri (MS)"/>
                <a:ea typeface="Calibri (MS)"/>
                <a:cs typeface="Calibri (MS)"/>
                <a:sym typeface="Calibri (MS)"/>
              </a:rPr>
              <a:t>Prosedur Mai dan Smith (2018): 32 parameter dinaikkan dan diturunkan 10%, satu parameter per simulasi. Kedua variabel kebijakan tidak diuji di sini (nilainya nol pada kondisi dasar).</a:t>
            </a:r>
          </a:p>
        </p:txBody>
      </p:sp>
      <p:grpSp>
        <p:nvGrpSpPr>
          <p:cNvPr name="Group 75" id="75"/>
          <p:cNvGrpSpPr/>
          <p:nvPr/>
        </p:nvGrpSpPr>
        <p:grpSpPr>
          <a:xfrm rot="0">
            <a:off x="987552" y="4494581"/>
            <a:ext cx="5096256" cy="546164"/>
            <a:chOff x="0" y="0"/>
            <a:chExt cx="6795008" cy="728218"/>
          </a:xfrm>
        </p:grpSpPr>
        <p:sp>
          <p:nvSpPr>
            <p:cNvPr name="Freeform 76" id="76"/>
            <p:cNvSpPr/>
            <p:nvPr/>
          </p:nvSpPr>
          <p:spPr>
            <a:xfrm flipH="false" flipV="false" rot="0">
              <a:off x="0" y="0"/>
              <a:ext cx="6795008" cy="728218"/>
            </a:xfrm>
            <a:custGeom>
              <a:avLst/>
              <a:gdLst/>
              <a:ahLst/>
              <a:cxnLst/>
              <a:rect r="r" b="b" t="t" l="l"/>
              <a:pathLst>
                <a:path h="728218" w="6795008">
                  <a:moveTo>
                    <a:pt x="0" y="97536"/>
                  </a:moveTo>
                  <a:cubicBezTo>
                    <a:pt x="0" y="43688"/>
                    <a:pt x="43688" y="0"/>
                    <a:pt x="97536" y="0"/>
                  </a:cubicBezTo>
                  <a:lnTo>
                    <a:pt x="6697472" y="0"/>
                  </a:lnTo>
                  <a:cubicBezTo>
                    <a:pt x="6751320" y="0"/>
                    <a:pt x="6795008" y="43688"/>
                    <a:pt x="6795008" y="97536"/>
                  </a:cubicBezTo>
                  <a:lnTo>
                    <a:pt x="6795008" y="630682"/>
                  </a:lnTo>
                  <a:cubicBezTo>
                    <a:pt x="6795008" y="684530"/>
                    <a:pt x="6751320" y="728218"/>
                    <a:pt x="6697472" y="728218"/>
                  </a:cubicBezTo>
                  <a:lnTo>
                    <a:pt x="97536" y="728218"/>
                  </a:lnTo>
                  <a:cubicBezTo>
                    <a:pt x="43688" y="728218"/>
                    <a:pt x="0" y="684657"/>
                    <a:pt x="0" y="630682"/>
                  </a:cubicBezTo>
                  <a:close/>
                </a:path>
              </a:pathLst>
            </a:custGeom>
            <a:solidFill>
              <a:srgbClr val="FFF1BF"/>
            </a:solidFill>
          </p:spPr>
          <p:txBody>
            <a:bodyPr/>
            <a:p/>
          </p:txBody>
        </p:sp>
      </p:grpSp>
      <p:sp>
        <p:nvSpPr>
          <p:cNvPr name="TextBox 77" id="77"/>
          <p:cNvSpPr txBox="true"/>
          <p:nvPr/>
        </p:nvSpPr>
        <p:spPr>
          <a:xfrm rot="0">
            <a:off x="1124712" y="4538015"/>
            <a:ext cx="4693920" cy="420472"/>
          </a:xfrm>
          <a:prstGeom prst="rect">
            <a:avLst/>
          </a:prstGeom>
        </p:spPr>
        <p:txBody>
          <a:bodyPr anchor="t" rtlCol="false" tIns="0" lIns="0" bIns="0" rIns="0">
            <a:spAutoFit/>
          </a:bodyPr>
          <a:lstStyle/>
          <a:p>
            <a:pPr algn="l">
              <a:lnSpc>
                <a:spcPts val="2284"/>
              </a:lnSpc>
            </a:pPr>
            <a:r>
              <a:rPr lang="en-US" sz="1700" i="true">
                <a:solidFill>
                  <a:srgbClr val="14313B"/>
                </a:solidFill>
                <a:latin typeface="Cambria Italics"/>
                <a:ea typeface="Cambria Italics"/>
                <a:cs typeface="Cambria Italics"/>
                <a:sym typeface="Cambria Italics"/>
              </a:rPr>
              <a:t>Δ% = (Kₚ − K_BASE) / K_BASE × 100%</a:t>
            </a:r>
          </a:p>
        </p:txBody>
      </p:sp>
      <p:sp>
        <p:nvSpPr>
          <p:cNvPr name="TextBox 78" id="78"/>
          <p:cNvSpPr txBox="true"/>
          <p:nvPr/>
        </p:nvSpPr>
        <p:spPr>
          <a:xfrm rot="0">
            <a:off x="1051560" y="5017922"/>
            <a:ext cx="4968240" cy="416662"/>
          </a:xfrm>
          <a:prstGeom prst="rect">
            <a:avLst/>
          </a:prstGeom>
        </p:spPr>
        <p:txBody>
          <a:bodyPr anchor="t" rtlCol="false" tIns="0" lIns="0" bIns="0" rIns="0">
            <a:spAutoFit/>
          </a:bodyPr>
          <a:lstStyle/>
          <a:p>
            <a:pPr algn="l">
              <a:lnSpc>
                <a:spcPts val="1948"/>
              </a:lnSpc>
            </a:pPr>
            <a:r>
              <a:rPr lang="en-US" sz="1449" b="true">
                <a:solidFill>
                  <a:srgbClr val="0B5E6E"/>
                </a:solidFill>
                <a:latin typeface="Calibri (MS) Bold"/>
                <a:ea typeface="Calibri (MS) Bold"/>
                <a:cs typeface="Calibri (MS) Bold"/>
                <a:sym typeface="Calibri (MS) Bold"/>
              </a:rPr>
              <a:t>K = keluaran 2050; pengaruh maksimum = |Δ%| terbesar</a:t>
            </a:r>
          </a:p>
        </p:txBody>
      </p:sp>
      <p:sp>
        <p:nvSpPr>
          <p:cNvPr name="Freeform 79" id="79"/>
          <p:cNvSpPr/>
          <p:nvPr/>
        </p:nvSpPr>
        <p:spPr>
          <a:xfrm flipH="false" flipV="false" rot="0">
            <a:off x="6414611" y="2223611"/>
            <a:ext cx="5458778" cy="3448622"/>
          </a:xfrm>
          <a:custGeom>
            <a:avLst/>
            <a:gdLst/>
            <a:ahLst/>
            <a:cxnLst/>
            <a:rect r="r" b="b" t="t" l="l"/>
            <a:pathLst>
              <a:path h="3448622" w="5458778">
                <a:moveTo>
                  <a:pt x="0" y="0"/>
                </a:moveTo>
                <a:lnTo>
                  <a:pt x="5458778" y="0"/>
                </a:lnTo>
                <a:lnTo>
                  <a:pt x="5458778" y="3448622"/>
                </a:lnTo>
                <a:lnTo>
                  <a:pt x="0" y="344862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80" id="80"/>
          <p:cNvGrpSpPr/>
          <p:nvPr/>
        </p:nvGrpSpPr>
        <p:grpSpPr>
          <a:xfrm rot="0">
            <a:off x="6659880" y="2468880"/>
            <a:ext cx="530352" cy="530352"/>
            <a:chOff x="0" y="0"/>
            <a:chExt cx="707136" cy="707136"/>
          </a:xfrm>
        </p:grpSpPr>
        <p:sp>
          <p:nvSpPr>
            <p:cNvPr name="Freeform 81" id="81"/>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82" id="82"/>
          <p:cNvGrpSpPr/>
          <p:nvPr/>
        </p:nvGrpSpPr>
        <p:grpSpPr>
          <a:xfrm rot="0">
            <a:off x="6659880" y="2447449"/>
            <a:ext cx="530352" cy="551783"/>
            <a:chOff x="0" y="0"/>
            <a:chExt cx="707136" cy="735711"/>
          </a:xfrm>
        </p:grpSpPr>
        <p:sp>
          <p:nvSpPr>
            <p:cNvPr name="Freeform 83" id="83"/>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84" id="84"/>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2</a:t>
              </a:r>
            </a:p>
          </p:txBody>
        </p:sp>
      </p:grpSp>
      <p:sp>
        <p:nvSpPr>
          <p:cNvPr name="TextBox 85" id="85"/>
          <p:cNvSpPr txBox="true"/>
          <p:nvPr/>
        </p:nvSpPr>
        <p:spPr>
          <a:xfrm rot="0">
            <a:off x="7327392" y="2372868"/>
            <a:ext cx="4373880" cy="484937"/>
          </a:xfrm>
          <a:prstGeom prst="rect">
            <a:avLst/>
          </a:prstGeom>
        </p:spPr>
        <p:txBody>
          <a:bodyPr anchor="t" rtlCol="false" tIns="0" lIns="0" bIns="0" rIns="0">
            <a:spAutoFit/>
          </a:bodyPr>
          <a:lstStyle/>
          <a:p>
            <a:pPr algn="l">
              <a:lnSpc>
                <a:spcPts val="2485"/>
              </a:lnSpc>
            </a:pPr>
            <a:r>
              <a:rPr lang="en-US" sz="1850" b="true">
                <a:solidFill>
                  <a:srgbClr val="0B5E6E"/>
                </a:solidFill>
                <a:latin typeface="Calibri (MS) Bold"/>
                <a:ea typeface="Calibri (MS) Bold"/>
                <a:cs typeface="Calibri (MS) Bold"/>
                <a:sym typeface="Calibri (MS) Bold"/>
              </a:rPr>
              <a:t>Bagian 2 · Seluruh rentang nilai</a:t>
            </a:r>
          </a:p>
        </p:txBody>
      </p:sp>
      <p:sp>
        <p:nvSpPr>
          <p:cNvPr name="TextBox 86" id="86"/>
          <p:cNvSpPr txBox="true"/>
          <p:nvPr/>
        </p:nvSpPr>
        <p:spPr>
          <a:xfrm rot="0">
            <a:off x="6659880" y="3041142"/>
            <a:ext cx="4968240" cy="1242517"/>
          </a:xfrm>
          <a:prstGeom prst="rect">
            <a:avLst/>
          </a:prstGeom>
        </p:spPr>
        <p:txBody>
          <a:bodyPr anchor="t" rtlCol="false" tIns="0" lIns="0" bIns="0" rIns="0">
            <a:spAutoFit/>
          </a:bodyPr>
          <a:lstStyle/>
          <a:p>
            <a:pPr algn="l">
              <a:lnSpc>
                <a:spcPts val="2149"/>
              </a:lnSpc>
            </a:pPr>
            <a:r>
              <a:rPr lang="en-US" sz="1599">
                <a:solidFill>
                  <a:srgbClr val="14313B"/>
                </a:solidFill>
                <a:latin typeface="Calibri (MS)"/>
                <a:ea typeface="Calibri (MS)"/>
                <a:cs typeface="Calibri (MS)"/>
                <a:sym typeface="Calibri (MS)"/>
              </a:rPr>
              <a:t>17 kelompok parameter asumsi dan kedua variabel kebijakan diuji pada seluruh rentang nilainya (dari beberapa rujukan atau selang kepercayaan 95%, sama dengan rentang kalibrasi).</a:t>
            </a:r>
          </a:p>
        </p:txBody>
      </p:sp>
      <p:grpSp>
        <p:nvGrpSpPr>
          <p:cNvPr name="Group 87" id="87"/>
          <p:cNvGrpSpPr/>
          <p:nvPr/>
        </p:nvGrpSpPr>
        <p:grpSpPr>
          <a:xfrm rot="0">
            <a:off x="6595872" y="4356811"/>
            <a:ext cx="5096256" cy="836390"/>
            <a:chOff x="0" y="0"/>
            <a:chExt cx="6795008" cy="1115187"/>
          </a:xfrm>
        </p:grpSpPr>
        <p:sp>
          <p:nvSpPr>
            <p:cNvPr name="Freeform 88" id="88"/>
            <p:cNvSpPr/>
            <p:nvPr/>
          </p:nvSpPr>
          <p:spPr>
            <a:xfrm flipH="false" flipV="false" rot="0">
              <a:off x="0" y="0"/>
              <a:ext cx="6795008" cy="1115187"/>
            </a:xfrm>
            <a:custGeom>
              <a:avLst/>
              <a:gdLst/>
              <a:ahLst/>
              <a:cxnLst/>
              <a:rect r="r" b="b" t="t" l="l"/>
              <a:pathLst>
                <a:path h="1115187" w="6795008">
                  <a:moveTo>
                    <a:pt x="0" y="97536"/>
                  </a:moveTo>
                  <a:cubicBezTo>
                    <a:pt x="0" y="43688"/>
                    <a:pt x="43688" y="0"/>
                    <a:pt x="97536" y="0"/>
                  </a:cubicBezTo>
                  <a:lnTo>
                    <a:pt x="6697472" y="0"/>
                  </a:lnTo>
                  <a:cubicBezTo>
                    <a:pt x="6751320" y="0"/>
                    <a:pt x="6795008" y="43688"/>
                    <a:pt x="6795008" y="97536"/>
                  </a:cubicBezTo>
                  <a:lnTo>
                    <a:pt x="6795008" y="1017651"/>
                  </a:lnTo>
                  <a:cubicBezTo>
                    <a:pt x="6795008" y="1071499"/>
                    <a:pt x="6751320" y="1115187"/>
                    <a:pt x="6697472" y="1115187"/>
                  </a:cubicBezTo>
                  <a:lnTo>
                    <a:pt x="97536" y="1115187"/>
                  </a:lnTo>
                  <a:cubicBezTo>
                    <a:pt x="43688" y="1115187"/>
                    <a:pt x="0" y="1071499"/>
                    <a:pt x="0" y="1017651"/>
                  </a:cubicBezTo>
                  <a:close/>
                </a:path>
              </a:pathLst>
            </a:custGeom>
            <a:solidFill>
              <a:srgbClr val="FFF1BF"/>
            </a:solidFill>
          </p:spPr>
          <p:txBody>
            <a:bodyPr/>
            <a:p/>
          </p:txBody>
        </p:sp>
      </p:grpSp>
      <p:sp>
        <p:nvSpPr>
          <p:cNvPr name="TextBox 89" id="89"/>
          <p:cNvSpPr txBox="true"/>
          <p:nvPr/>
        </p:nvSpPr>
        <p:spPr>
          <a:xfrm rot="0">
            <a:off x="6733032" y="4400245"/>
            <a:ext cx="4693920" cy="710641"/>
          </a:xfrm>
          <a:prstGeom prst="rect">
            <a:avLst/>
          </a:prstGeom>
        </p:spPr>
        <p:txBody>
          <a:bodyPr anchor="t" rtlCol="false" tIns="0" lIns="0" bIns="0" rIns="0">
            <a:spAutoFit/>
          </a:bodyPr>
          <a:lstStyle/>
          <a:p>
            <a:pPr algn="l">
              <a:lnSpc>
                <a:spcPts val="2284"/>
              </a:lnSpc>
            </a:pPr>
            <a:r>
              <a:rPr lang="en-US" sz="1700" i="true">
                <a:solidFill>
                  <a:srgbClr val="14313B"/>
                </a:solidFill>
                <a:latin typeface="Cambria Italics"/>
                <a:ea typeface="Cambria Italics"/>
                <a:cs typeface="Cambria Italics"/>
                <a:sym typeface="Cambria Italics"/>
              </a:rPr>
              <a:t>Selisih hasil = Keluaran_maks − Keluaran_min</a:t>
            </a:r>
          </a:p>
        </p:txBody>
      </p:sp>
      <p:sp>
        <p:nvSpPr>
          <p:cNvPr name="TextBox 90" id="90"/>
          <p:cNvSpPr txBox="true"/>
          <p:nvPr/>
        </p:nvSpPr>
        <p:spPr>
          <a:xfrm rot="0">
            <a:off x="6659880" y="5170322"/>
            <a:ext cx="4968240" cy="416662"/>
          </a:xfrm>
          <a:prstGeom prst="rect">
            <a:avLst/>
          </a:prstGeom>
        </p:spPr>
        <p:txBody>
          <a:bodyPr anchor="t" rtlCol="false" tIns="0" lIns="0" bIns="0" rIns="0">
            <a:spAutoFit/>
          </a:bodyPr>
          <a:lstStyle/>
          <a:p>
            <a:pPr algn="l">
              <a:lnSpc>
                <a:spcPts val="1948"/>
              </a:lnSpc>
            </a:pPr>
            <a:r>
              <a:rPr lang="en-US" sz="1449" b="true">
                <a:solidFill>
                  <a:srgbClr val="0B5E6E"/>
                </a:solidFill>
                <a:latin typeface="Calibri (MS) Bold"/>
                <a:ea typeface="Calibri (MS) Bold"/>
                <a:cs typeface="Calibri (MS) Bold"/>
                <a:sym typeface="Calibri (MS) Bold"/>
              </a:rPr>
              <a:t>Dinyatakan dalam poin persen terhadap simulasi dasar</a:t>
            </a:r>
          </a:p>
        </p:txBody>
      </p:sp>
      <p:sp>
        <p:nvSpPr>
          <p:cNvPr name="Freeform 91" id="91"/>
          <p:cNvSpPr/>
          <p:nvPr/>
        </p:nvSpPr>
        <p:spPr>
          <a:xfrm flipH="false" flipV="false" rot="0">
            <a:off x="12022931" y="2223611"/>
            <a:ext cx="5458778" cy="3448622"/>
          </a:xfrm>
          <a:custGeom>
            <a:avLst/>
            <a:gdLst/>
            <a:ahLst/>
            <a:cxnLst/>
            <a:rect r="r" b="b" t="t" l="l"/>
            <a:pathLst>
              <a:path h="3448622" w="5458778">
                <a:moveTo>
                  <a:pt x="0" y="0"/>
                </a:moveTo>
                <a:lnTo>
                  <a:pt x="5458778" y="0"/>
                </a:lnTo>
                <a:lnTo>
                  <a:pt x="5458778" y="3448622"/>
                </a:lnTo>
                <a:lnTo>
                  <a:pt x="0" y="344862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92" id="92"/>
          <p:cNvGrpSpPr/>
          <p:nvPr/>
        </p:nvGrpSpPr>
        <p:grpSpPr>
          <a:xfrm rot="0">
            <a:off x="12268200" y="2468880"/>
            <a:ext cx="530352" cy="530352"/>
            <a:chOff x="0" y="0"/>
            <a:chExt cx="707136" cy="707136"/>
          </a:xfrm>
        </p:grpSpPr>
        <p:sp>
          <p:nvSpPr>
            <p:cNvPr name="Freeform 93" id="93"/>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94" id="94"/>
          <p:cNvGrpSpPr/>
          <p:nvPr/>
        </p:nvGrpSpPr>
        <p:grpSpPr>
          <a:xfrm rot="0">
            <a:off x="12268200" y="2447449"/>
            <a:ext cx="530352" cy="551783"/>
            <a:chOff x="0" y="0"/>
            <a:chExt cx="707136" cy="735711"/>
          </a:xfrm>
        </p:grpSpPr>
        <p:sp>
          <p:nvSpPr>
            <p:cNvPr name="Freeform 95" id="95"/>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96" id="96"/>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3</a:t>
              </a:r>
            </a:p>
          </p:txBody>
        </p:sp>
      </p:grpSp>
      <p:sp>
        <p:nvSpPr>
          <p:cNvPr name="TextBox 97" id="97"/>
          <p:cNvSpPr txBox="true"/>
          <p:nvPr/>
        </p:nvSpPr>
        <p:spPr>
          <a:xfrm rot="0">
            <a:off x="12935712" y="2372868"/>
            <a:ext cx="4373880" cy="484937"/>
          </a:xfrm>
          <a:prstGeom prst="rect">
            <a:avLst/>
          </a:prstGeom>
        </p:spPr>
        <p:txBody>
          <a:bodyPr anchor="t" rtlCol="false" tIns="0" lIns="0" bIns="0" rIns="0">
            <a:spAutoFit/>
          </a:bodyPr>
          <a:lstStyle/>
          <a:p>
            <a:pPr algn="l">
              <a:lnSpc>
                <a:spcPts val="2485"/>
              </a:lnSpc>
            </a:pPr>
            <a:r>
              <a:rPr lang="en-US" sz="1850" b="true">
                <a:solidFill>
                  <a:srgbClr val="0B5E6E"/>
                </a:solidFill>
                <a:latin typeface="Calibri (MS) Bold"/>
                <a:ea typeface="Calibri (MS) Bold"/>
                <a:cs typeface="Calibri (MS) Bold"/>
                <a:sym typeface="Calibri (MS) Bold"/>
              </a:rPr>
              <a:t>Robustness peringkat skenario</a:t>
            </a:r>
          </a:p>
        </p:txBody>
      </p:sp>
      <p:sp>
        <p:nvSpPr>
          <p:cNvPr name="TextBox 98" id="98"/>
          <p:cNvSpPr txBox="true"/>
          <p:nvPr/>
        </p:nvSpPr>
        <p:spPr>
          <a:xfrm rot="0">
            <a:off x="12268200" y="3041142"/>
            <a:ext cx="4968240" cy="1242517"/>
          </a:xfrm>
          <a:prstGeom prst="rect">
            <a:avLst/>
          </a:prstGeom>
        </p:spPr>
        <p:txBody>
          <a:bodyPr anchor="t" rtlCol="false" tIns="0" lIns="0" bIns="0" rIns="0">
            <a:spAutoFit/>
          </a:bodyPr>
          <a:lstStyle/>
          <a:p>
            <a:pPr algn="l">
              <a:lnSpc>
                <a:spcPts val="2149"/>
              </a:lnSpc>
            </a:pPr>
            <a:r>
              <a:rPr lang="en-US" sz="1599">
                <a:solidFill>
                  <a:srgbClr val="14313B"/>
                </a:solidFill>
                <a:latin typeface="Calibri (MS)"/>
                <a:ea typeface="Calibri (MS)"/>
                <a:cs typeface="Calibri (MS)"/>
                <a:sym typeface="Calibri (MS)"/>
              </a:rPr>
              <a:t>3 skenario × 7 kondisi: C0 acuan + C1–C6 yang menggeser rasio LPD/LPE (0,65; 0,90), bobot daya tarik (2 kombinasi alternatif), dan laju konversi dasar (batas selang kepercayaan 95%).</a:t>
            </a:r>
          </a:p>
        </p:txBody>
      </p:sp>
      <p:sp>
        <p:nvSpPr>
          <p:cNvPr name="TextBox 99" id="99"/>
          <p:cNvSpPr txBox="true"/>
          <p:nvPr/>
        </p:nvSpPr>
        <p:spPr>
          <a:xfrm rot="0">
            <a:off x="12268200" y="4242511"/>
            <a:ext cx="4968240" cy="664159"/>
          </a:xfrm>
          <a:prstGeom prst="rect">
            <a:avLst/>
          </a:prstGeom>
        </p:spPr>
        <p:txBody>
          <a:bodyPr anchor="t" rtlCol="false" tIns="0" lIns="0" bIns="0" rIns="0">
            <a:spAutoFit/>
          </a:bodyPr>
          <a:lstStyle/>
          <a:p>
            <a:pPr algn="l">
              <a:lnSpc>
                <a:spcPts val="1948"/>
              </a:lnSpc>
            </a:pPr>
            <a:r>
              <a:rPr lang="en-US" sz="1449" b="true">
                <a:solidFill>
                  <a:srgbClr val="0B5E6E"/>
                </a:solidFill>
                <a:latin typeface="Calibri (MS) Bold"/>
                <a:ea typeface="Calibri (MS) Bold"/>
                <a:cs typeface="Calibri (MS) Bold"/>
                <a:sym typeface="Calibri (MS) Bold"/>
              </a:rPr>
              <a:t>Robust bila urutan skenario pada 7 indikator sama di C0–C6</a:t>
            </a:r>
          </a:p>
        </p:txBody>
      </p:sp>
      <p:sp>
        <p:nvSpPr>
          <p:cNvPr name="Freeform 100" id="100"/>
          <p:cNvSpPr/>
          <p:nvPr/>
        </p:nvSpPr>
        <p:spPr>
          <a:xfrm flipH="false" flipV="false" rot="0">
            <a:off x="806291" y="5821775"/>
            <a:ext cx="5458778" cy="3448622"/>
          </a:xfrm>
          <a:custGeom>
            <a:avLst/>
            <a:gdLst/>
            <a:ahLst/>
            <a:cxnLst/>
            <a:rect r="r" b="b" t="t" l="l"/>
            <a:pathLst>
              <a:path h="3448622" w="5458778">
                <a:moveTo>
                  <a:pt x="0" y="0"/>
                </a:moveTo>
                <a:lnTo>
                  <a:pt x="5458778" y="0"/>
                </a:lnTo>
                <a:lnTo>
                  <a:pt x="5458778" y="3448622"/>
                </a:lnTo>
                <a:lnTo>
                  <a:pt x="0" y="344862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101" id="101"/>
          <p:cNvGrpSpPr/>
          <p:nvPr/>
        </p:nvGrpSpPr>
        <p:grpSpPr>
          <a:xfrm rot="0">
            <a:off x="1051560" y="6067044"/>
            <a:ext cx="530352" cy="530352"/>
            <a:chOff x="0" y="0"/>
            <a:chExt cx="707136" cy="707136"/>
          </a:xfrm>
        </p:grpSpPr>
        <p:sp>
          <p:nvSpPr>
            <p:cNvPr name="Freeform 102" id="102"/>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103" id="103"/>
          <p:cNvGrpSpPr/>
          <p:nvPr/>
        </p:nvGrpSpPr>
        <p:grpSpPr>
          <a:xfrm rot="0">
            <a:off x="1051560" y="6045613"/>
            <a:ext cx="530352" cy="551783"/>
            <a:chOff x="0" y="0"/>
            <a:chExt cx="707136" cy="735711"/>
          </a:xfrm>
        </p:grpSpPr>
        <p:sp>
          <p:nvSpPr>
            <p:cNvPr name="Freeform 104" id="104"/>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105" id="105"/>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4</a:t>
              </a:r>
            </a:p>
          </p:txBody>
        </p:sp>
      </p:grpSp>
      <p:sp>
        <p:nvSpPr>
          <p:cNvPr name="TextBox 106" id="106"/>
          <p:cNvSpPr txBox="true"/>
          <p:nvPr/>
        </p:nvSpPr>
        <p:spPr>
          <a:xfrm rot="0">
            <a:off x="1719072" y="5971032"/>
            <a:ext cx="4373880" cy="484937"/>
          </a:xfrm>
          <a:prstGeom prst="rect">
            <a:avLst/>
          </a:prstGeom>
        </p:spPr>
        <p:txBody>
          <a:bodyPr anchor="t" rtlCol="false" tIns="0" lIns="0" bIns="0" rIns="0">
            <a:spAutoFit/>
          </a:bodyPr>
          <a:lstStyle/>
          <a:p>
            <a:pPr algn="l">
              <a:lnSpc>
                <a:spcPts val="2485"/>
              </a:lnSpc>
            </a:pPr>
            <a:r>
              <a:rPr lang="en-US" sz="1850" b="true">
                <a:solidFill>
                  <a:srgbClr val="0B5E6E"/>
                </a:solidFill>
                <a:latin typeface="Calibri (MS) Bold"/>
                <a:ea typeface="Calibri (MS) Bold"/>
                <a:cs typeface="Calibri (MS) Bold"/>
                <a:sym typeface="Calibri (MS) Bold"/>
              </a:rPr>
              <a:t>Enam variabel keluaran</a:t>
            </a:r>
          </a:p>
        </p:txBody>
      </p:sp>
      <p:sp>
        <p:nvSpPr>
          <p:cNvPr name="TextBox 107" id="107"/>
          <p:cNvSpPr txBox="true"/>
          <p:nvPr/>
        </p:nvSpPr>
        <p:spPr>
          <a:xfrm rot="0">
            <a:off x="1051560" y="6639306"/>
            <a:ext cx="4968240" cy="1515618"/>
          </a:xfrm>
          <a:prstGeom prst="rect">
            <a:avLst/>
          </a:prstGeom>
        </p:spPr>
        <p:txBody>
          <a:bodyPr anchor="t" rtlCol="false" tIns="0" lIns="0" bIns="0" rIns="0">
            <a:spAutoFit/>
          </a:bodyPr>
          <a:lstStyle/>
          <a:p>
            <a:pPr algn="l">
              <a:lnSpc>
                <a:spcPts val="2149"/>
              </a:lnSpc>
            </a:pPr>
            <a:r>
              <a:rPr lang="en-US" sz="1599">
                <a:solidFill>
                  <a:srgbClr val="14313B"/>
                </a:solidFill>
                <a:latin typeface="Calibri (MS)"/>
                <a:ea typeface="Calibri (MS)"/>
                <a:cs typeface="Calibri (MS)"/>
                <a:sym typeface="Calibri (MS)"/>
              </a:rPr>
              <a:t>Jumlah wisatawan (acuan utama), PDRB sektor pariwisata (ekonomi), lahan terbangun (lingkungan), serta hotel &amp; akomodasi, tenaga kerja, dan ODTW sebagai pendamping — agar parameter penting bagi dimensi lain tidak terlewat.</a:t>
            </a:r>
          </a:p>
        </p:txBody>
      </p:sp>
      <p:sp>
        <p:nvSpPr>
          <p:cNvPr name="Freeform 108" id="108"/>
          <p:cNvSpPr/>
          <p:nvPr/>
        </p:nvSpPr>
        <p:spPr>
          <a:xfrm flipH="false" flipV="false" rot="0">
            <a:off x="6414611" y="5821775"/>
            <a:ext cx="5458778" cy="3448622"/>
          </a:xfrm>
          <a:custGeom>
            <a:avLst/>
            <a:gdLst/>
            <a:ahLst/>
            <a:cxnLst/>
            <a:rect r="r" b="b" t="t" l="l"/>
            <a:pathLst>
              <a:path h="3448622" w="5458778">
                <a:moveTo>
                  <a:pt x="0" y="0"/>
                </a:moveTo>
                <a:lnTo>
                  <a:pt x="5458778" y="0"/>
                </a:lnTo>
                <a:lnTo>
                  <a:pt x="5458778" y="3448622"/>
                </a:lnTo>
                <a:lnTo>
                  <a:pt x="0" y="344862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109" id="109"/>
          <p:cNvGrpSpPr/>
          <p:nvPr/>
        </p:nvGrpSpPr>
        <p:grpSpPr>
          <a:xfrm rot="0">
            <a:off x="6659880" y="6067044"/>
            <a:ext cx="530352" cy="530352"/>
            <a:chOff x="0" y="0"/>
            <a:chExt cx="707136" cy="707136"/>
          </a:xfrm>
        </p:grpSpPr>
        <p:sp>
          <p:nvSpPr>
            <p:cNvPr name="Freeform 110" id="110"/>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111" id="111"/>
          <p:cNvGrpSpPr/>
          <p:nvPr/>
        </p:nvGrpSpPr>
        <p:grpSpPr>
          <a:xfrm rot="0">
            <a:off x="6659880" y="6045613"/>
            <a:ext cx="530352" cy="551783"/>
            <a:chOff x="0" y="0"/>
            <a:chExt cx="707136" cy="735711"/>
          </a:xfrm>
        </p:grpSpPr>
        <p:sp>
          <p:nvSpPr>
            <p:cNvPr name="Freeform 112" id="112"/>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113" id="113"/>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5</a:t>
              </a:r>
            </a:p>
          </p:txBody>
        </p:sp>
      </p:grpSp>
      <p:sp>
        <p:nvSpPr>
          <p:cNvPr name="TextBox 114" id="114"/>
          <p:cNvSpPr txBox="true"/>
          <p:nvPr/>
        </p:nvSpPr>
        <p:spPr>
          <a:xfrm rot="0">
            <a:off x="7327392" y="5971032"/>
            <a:ext cx="4373880" cy="484937"/>
          </a:xfrm>
          <a:prstGeom prst="rect">
            <a:avLst/>
          </a:prstGeom>
        </p:spPr>
        <p:txBody>
          <a:bodyPr anchor="t" rtlCol="false" tIns="0" lIns="0" bIns="0" rIns="0">
            <a:spAutoFit/>
          </a:bodyPr>
          <a:lstStyle/>
          <a:p>
            <a:pPr algn="l">
              <a:lnSpc>
                <a:spcPts val="2485"/>
              </a:lnSpc>
            </a:pPr>
            <a:r>
              <a:rPr lang="en-US" sz="1850" b="true">
                <a:solidFill>
                  <a:srgbClr val="0B5E6E"/>
                </a:solidFill>
                <a:latin typeface="Calibri (MS) Bold"/>
                <a:ea typeface="Calibri (MS) Bold"/>
                <a:cs typeface="Calibri (MS) Bold"/>
                <a:sym typeface="Calibri (MS) Bold"/>
              </a:rPr>
              <a:t>Ketentuan pengujian</a:t>
            </a:r>
          </a:p>
        </p:txBody>
      </p:sp>
      <p:sp>
        <p:nvSpPr>
          <p:cNvPr name="TextBox 115" id="115"/>
          <p:cNvSpPr txBox="true"/>
          <p:nvPr/>
        </p:nvSpPr>
        <p:spPr>
          <a:xfrm rot="0">
            <a:off x="6659880" y="6639306"/>
            <a:ext cx="4968240" cy="1788719"/>
          </a:xfrm>
          <a:prstGeom prst="rect">
            <a:avLst/>
          </a:prstGeom>
        </p:spPr>
        <p:txBody>
          <a:bodyPr anchor="t" rtlCol="false" tIns="0" lIns="0" bIns="0" rIns="0">
            <a:spAutoFit/>
          </a:bodyPr>
          <a:lstStyle/>
          <a:p>
            <a:pPr algn="l">
              <a:lnSpc>
                <a:spcPts val="2149"/>
              </a:lnSpc>
            </a:pPr>
            <a:r>
              <a:rPr lang="en-US" sz="1599">
                <a:solidFill>
                  <a:srgbClr val="14313B"/>
                </a:solidFill>
                <a:latin typeface="Calibri (MS)"/>
                <a:ea typeface="Calibri (MS)"/>
                <a:cs typeface="Calibri (MS)"/>
                <a:sym typeface="Calibri (MS)"/>
              </a:rPr>
              <a:t>Parameter yang saling terkait dihitung ulang (LPE–LPD rasio 0,75; batas TPK/demolisi–sensitivitas konstruksi; penutupan ODTW–sensitivitas ODTW; luas lahan–nilai referensi); ketiga bobot daya tarik dijaga berjumlah 1; nilai awal stok diubah melalui kondisi awal simulasi.</a:t>
            </a:r>
          </a:p>
        </p:txBody>
      </p:sp>
      <p:sp>
        <p:nvSpPr>
          <p:cNvPr name="Freeform 116" id="116"/>
          <p:cNvSpPr/>
          <p:nvPr/>
        </p:nvSpPr>
        <p:spPr>
          <a:xfrm flipH="false" flipV="false" rot="0">
            <a:off x="12022931" y="5821775"/>
            <a:ext cx="5458778" cy="3448622"/>
          </a:xfrm>
          <a:custGeom>
            <a:avLst/>
            <a:gdLst/>
            <a:ahLst/>
            <a:cxnLst/>
            <a:rect r="r" b="b" t="t" l="l"/>
            <a:pathLst>
              <a:path h="3448622" w="5458778">
                <a:moveTo>
                  <a:pt x="0" y="0"/>
                </a:moveTo>
                <a:lnTo>
                  <a:pt x="5458778" y="0"/>
                </a:lnTo>
                <a:lnTo>
                  <a:pt x="5458778" y="3448622"/>
                </a:lnTo>
                <a:lnTo>
                  <a:pt x="0" y="344862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117" id="117"/>
          <p:cNvGrpSpPr/>
          <p:nvPr/>
        </p:nvGrpSpPr>
        <p:grpSpPr>
          <a:xfrm rot="0">
            <a:off x="12268200" y="6067044"/>
            <a:ext cx="530352" cy="530352"/>
            <a:chOff x="0" y="0"/>
            <a:chExt cx="707136" cy="707136"/>
          </a:xfrm>
        </p:grpSpPr>
        <p:sp>
          <p:nvSpPr>
            <p:cNvPr name="Freeform 118" id="118"/>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119" id="119"/>
          <p:cNvGrpSpPr/>
          <p:nvPr/>
        </p:nvGrpSpPr>
        <p:grpSpPr>
          <a:xfrm rot="0">
            <a:off x="12268200" y="6045613"/>
            <a:ext cx="530352" cy="551783"/>
            <a:chOff x="0" y="0"/>
            <a:chExt cx="707136" cy="735711"/>
          </a:xfrm>
        </p:grpSpPr>
        <p:sp>
          <p:nvSpPr>
            <p:cNvPr name="Freeform 120" id="120"/>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121" id="121"/>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6</a:t>
              </a:r>
            </a:p>
          </p:txBody>
        </p:sp>
      </p:grpSp>
      <p:sp>
        <p:nvSpPr>
          <p:cNvPr name="TextBox 122" id="122"/>
          <p:cNvSpPr txBox="true"/>
          <p:nvPr/>
        </p:nvSpPr>
        <p:spPr>
          <a:xfrm rot="0">
            <a:off x="12935712" y="5971032"/>
            <a:ext cx="4373880" cy="484937"/>
          </a:xfrm>
          <a:prstGeom prst="rect">
            <a:avLst/>
          </a:prstGeom>
        </p:spPr>
        <p:txBody>
          <a:bodyPr anchor="t" rtlCol="false" tIns="0" lIns="0" bIns="0" rIns="0">
            <a:spAutoFit/>
          </a:bodyPr>
          <a:lstStyle/>
          <a:p>
            <a:pPr algn="l">
              <a:lnSpc>
                <a:spcPts val="2485"/>
              </a:lnSpc>
            </a:pPr>
            <a:r>
              <a:rPr lang="en-US" sz="1850" b="true">
                <a:solidFill>
                  <a:srgbClr val="0B5E6E"/>
                </a:solidFill>
                <a:latin typeface="Calibri (MS) Bold"/>
                <a:ea typeface="Calibri (MS) Bold"/>
                <a:cs typeface="Calibri (MS) Bold"/>
                <a:sym typeface="Calibri (MS) Bold"/>
              </a:rPr>
              <a:t>Penetapan variabel kebijakan</a:t>
            </a:r>
          </a:p>
        </p:txBody>
      </p:sp>
      <p:sp>
        <p:nvSpPr>
          <p:cNvPr name="TextBox 123" id="123"/>
          <p:cNvSpPr txBox="true"/>
          <p:nvPr/>
        </p:nvSpPr>
        <p:spPr>
          <a:xfrm rot="0">
            <a:off x="12268200" y="6639306"/>
            <a:ext cx="4968240" cy="1242517"/>
          </a:xfrm>
          <a:prstGeom prst="rect">
            <a:avLst/>
          </a:prstGeom>
        </p:spPr>
        <p:txBody>
          <a:bodyPr anchor="t" rtlCol="false" tIns="0" lIns="0" bIns="0" rIns="0">
            <a:spAutoFit/>
          </a:bodyPr>
          <a:lstStyle/>
          <a:p>
            <a:pPr algn="l">
              <a:lnSpc>
                <a:spcPts val="2149"/>
              </a:lnSpc>
            </a:pPr>
            <a:r>
              <a:rPr lang="en-US" sz="1599">
                <a:solidFill>
                  <a:srgbClr val="14313B"/>
                </a:solidFill>
                <a:latin typeface="Calibri (MS)"/>
                <a:ea typeface="Calibri (MS)"/>
                <a:cs typeface="Calibri (MS)"/>
                <a:sym typeface="Calibri (MS)"/>
              </a:rPr>
              <a:t>Hasil sensitivitas menjadi kriteria pertama (berpengaruh pada model), lalu disaring dengan dasar kebijakan dan kewenangan pemerintah → Insentif Kebijakan dan Kebijakan Konservasi Lahan.</a:t>
            </a:r>
          </a:p>
        </p:txBody>
      </p:sp>
      <p:grpSp>
        <p:nvGrpSpPr>
          <p:cNvPr name="Group 124" id="124"/>
          <p:cNvGrpSpPr/>
          <p:nvPr/>
        </p:nvGrpSpPr>
        <p:grpSpPr>
          <a:xfrm rot="0">
            <a:off x="12755880" y="274320"/>
            <a:ext cx="3931920" cy="411480"/>
            <a:chOff x="0" y="0"/>
            <a:chExt cx="5242560" cy="548640"/>
          </a:xfrm>
        </p:grpSpPr>
        <p:sp>
          <p:nvSpPr>
            <p:cNvPr name="Freeform 125" id="125"/>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26" id="126"/>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2F · Analisis sensitivitas</a:t>
              </a:r>
            </a:p>
          </p:txBody>
        </p:sp>
      </p:grpSp>
      <p:grpSp>
        <p:nvGrpSpPr>
          <p:cNvPr name="Group 127" id="127"/>
          <p:cNvGrpSpPr/>
          <p:nvPr/>
        </p:nvGrpSpPr>
        <p:grpSpPr>
          <a:xfrm rot="0">
            <a:off x="16047720" y="9646920"/>
            <a:ext cx="420624" cy="420624"/>
            <a:chOff x="0" y="0"/>
            <a:chExt cx="560832" cy="560832"/>
          </a:xfrm>
        </p:grpSpPr>
        <p:sp>
          <p:nvSpPr>
            <p:cNvPr name="Freeform 128" id="128"/>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29" id="129"/>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5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Hasil Analisis Sensitivitas</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Ketidakpastian terbesar ada pada asumsi, bukan pada data</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822960" y="2188845"/>
            <a:ext cx="10149840" cy="622935"/>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Pengaruh maksimum terhadap jumlah wisatawan 2050 (uji ±10%, %)</a:t>
            </a:r>
          </a:p>
        </p:txBody>
      </p:sp>
      <p:grpSp>
        <p:nvGrpSpPr>
          <p:cNvPr name="Group 105" id="105"/>
          <p:cNvGrpSpPr/>
          <p:nvPr/>
        </p:nvGrpSpPr>
        <p:grpSpPr>
          <a:xfrm rot="0">
            <a:off x="11727180" y="2564892"/>
            <a:ext cx="5486400" cy="685800"/>
            <a:chOff x="0" y="0"/>
            <a:chExt cx="7315200" cy="914400"/>
          </a:xfrm>
        </p:grpSpPr>
        <p:sp>
          <p:nvSpPr>
            <p:cNvPr name="Freeform 106" id="106"/>
            <p:cNvSpPr/>
            <p:nvPr/>
          </p:nvSpPr>
          <p:spPr>
            <a:xfrm flipH="false" flipV="false" rot="0">
              <a:off x="0" y="0"/>
              <a:ext cx="7315200" cy="914400"/>
            </a:xfrm>
            <a:custGeom>
              <a:avLst/>
              <a:gdLst/>
              <a:ahLst/>
              <a:cxnLst/>
              <a:rect r="r" b="b" t="t" l="l"/>
              <a:pathLst>
                <a:path h="914400" w="7315200">
                  <a:moveTo>
                    <a:pt x="0" y="0"/>
                  </a:moveTo>
                  <a:lnTo>
                    <a:pt x="7315200" y="0"/>
                  </a:lnTo>
                  <a:lnTo>
                    <a:pt x="7315200" y="914400"/>
                  </a:lnTo>
                  <a:lnTo>
                    <a:pt x="0" y="914400"/>
                  </a:lnTo>
                  <a:close/>
                </a:path>
              </a:pathLst>
            </a:custGeom>
            <a:blipFill>
              <a:blip r:embed="rId4">
                <a:alphaModFix amt="0"/>
              </a:blip>
              <a:stretch>
                <a:fillRect l="0" t="-105772" r="0" b="-105772"/>
              </a:stretch>
            </a:blipFill>
          </p:spPr>
          <p:txBody>
            <a:bodyPr/>
            <a:p/>
          </p:txBody>
        </p:sp>
      </p:grpSp>
      <p:grpSp>
        <p:nvGrpSpPr>
          <p:cNvPr name="Group 107" id="107"/>
          <p:cNvGrpSpPr/>
          <p:nvPr/>
        </p:nvGrpSpPr>
        <p:grpSpPr>
          <a:xfrm rot="0">
            <a:off x="11727180" y="2514886"/>
            <a:ext cx="5486400" cy="735806"/>
            <a:chOff x="0" y="0"/>
            <a:chExt cx="7315200" cy="981075"/>
          </a:xfrm>
        </p:grpSpPr>
        <p:sp>
          <p:nvSpPr>
            <p:cNvPr name="Freeform 108" id="108"/>
            <p:cNvSpPr/>
            <p:nvPr/>
          </p:nvSpPr>
          <p:spPr>
            <a:xfrm flipH="false" flipV="false" rot="0">
              <a:off x="0" y="0"/>
              <a:ext cx="7315200" cy="981075"/>
            </a:xfrm>
            <a:custGeom>
              <a:avLst/>
              <a:gdLst/>
              <a:ahLst/>
              <a:cxnLst/>
              <a:rect r="r" b="b" t="t" l="l"/>
              <a:pathLst>
                <a:path h="981075" w="7315200">
                  <a:moveTo>
                    <a:pt x="0" y="0"/>
                  </a:moveTo>
                  <a:lnTo>
                    <a:pt x="7315200" y="0"/>
                  </a:lnTo>
                  <a:lnTo>
                    <a:pt x="7315200" y="981075"/>
                  </a:lnTo>
                  <a:lnTo>
                    <a:pt x="0" y="981075"/>
                  </a:lnTo>
                  <a:close/>
                </a:path>
              </a:pathLst>
            </a:custGeom>
            <a:blipFill>
              <a:blip r:embed="rId5">
                <a:alphaModFix amt="0"/>
              </a:blip>
              <a:stretch>
                <a:fillRect l="0" t="-95185" r="0" b="-95185"/>
              </a:stretch>
            </a:blipFill>
          </p:spPr>
          <p:txBody>
            <a:bodyPr/>
            <a:p/>
          </p:txBody>
        </p:sp>
      </p:grpSp>
      <p:grpSp>
        <p:nvGrpSpPr>
          <p:cNvPr name="Group 109" id="109"/>
          <p:cNvGrpSpPr/>
          <p:nvPr/>
        </p:nvGrpSpPr>
        <p:grpSpPr>
          <a:xfrm rot="0">
            <a:off x="11727180" y="2464879"/>
            <a:ext cx="5486400" cy="785812"/>
            <a:chOff x="0" y="0"/>
            <a:chExt cx="7315200" cy="1047750"/>
          </a:xfrm>
        </p:grpSpPr>
        <p:sp>
          <p:nvSpPr>
            <p:cNvPr name="Freeform 110" id="110"/>
            <p:cNvSpPr/>
            <p:nvPr/>
          </p:nvSpPr>
          <p:spPr>
            <a:xfrm flipH="false" flipV="false" rot="0">
              <a:off x="0" y="0"/>
              <a:ext cx="7315200" cy="1047750"/>
            </a:xfrm>
            <a:custGeom>
              <a:avLst/>
              <a:gdLst/>
              <a:ahLst/>
              <a:cxnLst/>
              <a:rect r="r" b="b" t="t" l="l"/>
              <a:pathLst>
                <a:path h="1047750" w="7315200">
                  <a:moveTo>
                    <a:pt x="0" y="0"/>
                  </a:moveTo>
                  <a:lnTo>
                    <a:pt x="7315200" y="0"/>
                  </a:lnTo>
                  <a:lnTo>
                    <a:pt x="7315200" y="1047750"/>
                  </a:lnTo>
                  <a:lnTo>
                    <a:pt x="0" y="1047750"/>
                  </a:lnTo>
                  <a:close/>
                </a:path>
              </a:pathLst>
            </a:custGeom>
            <a:blipFill>
              <a:blip r:embed="rId6">
                <a:alphaModFix amt="0"/>
              </a:blip>
              <a:stretch>
                <a:fillRect l="0" t="-86041" r="0" b="-86041"/>
              </a:stretch>
            </a:blipFill>
          </p:spPr>
          <p:txBody>
            <a:bodyPr/>
            <a:p/>
          </p:txBody>
        </p:sp>
        <p:sp>
          <p:nvSpPr>
            <p:cNvPr name="TextBox 111" id="111"/>
            <p:cNvSpPr txBox="true"/>
            <p:nvPr/>
          </p:nvSpPr>
          <p:spPr>
            <a:xfrm>
              <a:off x="0" y="-66675"/>
              <a:ext cx="7315200" cy="1114425"/>
            </a:xfrm>
            <a:prstGeom prst="rect">
              <a:avLst/>
            </a:prstGeom>
          </p:spPr>
          <p:txBody>
            <a:bodyPr anchor="ctr" rtlCol="false" tIns="0" lIns="0" bIns="0" rIns="0"/>
            <a:lstStyle/>
            <a:p>
              <a:pPr algn="l">
                <a:lnSpc>
                  <a:spcPts val="4320"/>
                </a:lnSpc>
              </a:pPr>
              <a:r>
                <a:rPr lang="en-US" sz="3600" b="true">
                  <a:solidFill>
                    <a:srgbClr val="0B5E6E"/>
                  </a:solidFill>
                  <a:latin typeface="Calibri (MS) Bold"/>
                  <a:ea typeface="Calibri (MS) Bold"/>
                  <a:cs typeface="Calibri (MS) Bold"/>
                  <a:sym typeface="Calibri (MS) Bold"/>
                </a:rPr>
                <a:t>3 dari 4</a:t>
              </a:r>
            </a:p>
          </p:txBody>
        </p:sp>
      </p:grpSp>
      <p:sp>
        <p:nvSpPr>
          <p:cNvPr name="TextBox 112" id="112"/>
          <p:cNvSpPr txBox="true"/>
          <p:nvPr/>
        </p:nvSpPr>
        <p:spPr>
          <a:xfrm rot="0">
            <a:off x="11727180" y="3177540"/>
            <a:ext cx="5486400" cy="12801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peringkat teratas adalah asumsi (laju penurunan dasar, bobot kepadatan, bobot ODTW)</a:t>
            </a:r>
          </a:p>
        </p:txBody>
      </p:sp>
      <p:grpSp>
        <p:nvGrpSpPr>
          <p:cNvPr name="Group 113" id="113"/>
          <p:cNvGrpSpPr/>
          <p:nvPr/>
        </p:nvGrpSpPr>
        <p:grpSpPr>
          <a:xfrm rot="0">
            <a:off x="11384280" y="4732020"/>
            <a:ext cx="6076188" cy="2125980"/>
            <a:chOff x="0" y="0"/>
            <a:chExt cx="8101584" cy="2834640"/>
          </a:xfrm>
        </p:grpSpPr>
        <p:sp>
          <p:nvSpPr>
            <p:cNvPr name="Freeform 114" id="114"/>
            <p:cNvSpPr/>
            <p:nvPr/>
          </p:nvSpPr>
          <p:spPr>
            <a:xfrm flipH="false" flipV="false" rot="0">
              <a:off x="0" y="0"/>
              <a:ext cx="8101585" cy="2834640"/>
            </a:xfrm>
            <a:custGeom>
              <a:avLst/>
              <a:gdLst/>
              <a:ahLst/>
              <a:cxnLst/>
              <a:rect r="r" b="b" t="t" l="l"/>
              <a:pathLst>
                <a:path h="2834640" w="8101585">
                  <a:moveTo>
                    <a:pt x="0" y="182880"/>
                  </a:moveTo>
                  <a:cubicBezTo>
                    <a:pt x="0" y="81915"/>
                    <a:pt x="81915" y="0"/>
                    <a:pt x="182880" y="0"/>
                  </a:cubicBezTo>
                  <a:lnTo>
                    <a:pt x="7918704" y="0"/>
                  </a:lnTo>
                  <a:cubicBezTo>
                    <a:pt x="8019669" y="0"/>
                    <a:pt x="8101585" y="81915"/>
                    <a:pt x="8101585" y="182880"/>
                  </a:cubicBezTo>
                  <a:lnTo>
                    <a:pt x="8101585" y="2651760"/>
                  </a:lnTo>
                  <a:cubicBezTo>
                    <a:pt x="8101585" y="2752725"/>
                    <a:pt x="8019669" y="2834640"/>
                    <a:pt x="7918704" y="2834640"/>
                  </a:cubicBezTo>
                  <a:lnTo>
                    <a:pt x="182880" y="2834640"/>
                  </a:lnTo>
                  <a:cubicBezTo>
                    <a:pt x="81915" y="2834640"/>
                    <a:pt x="0" y="2752725"/>
                    <a:pt x="0" y="2651760"/>
                  </a:cubicBezTo>
                  <a:close/>
                </a:path>
              </a:pathLst>
            </a:custGeom>
            <a:solidFill>
              <a:srgbClr val="EAF8FA"/>
            </a:solidFill>
          </p:spPr>
          <p:txBody>
            <a:bodyPr/>
            <a:p/>
          </p:txBody>
        </p:sp>
      </p:grpSp>
      <p:grpSp>
        <p:nvGrpSpPr>
          <p:cNvPr name="Group 115" id="115"/>
          <p:cNvGrpSpPr/>
          <p:nvPr/>
        </p:nvGrpSpPr>
        <p:grpSpPr>
          <a:xfrm rot="0">
            <a:off x="11727180" y="4896612"/>
            <a:ext cx="5486400" cy="685800"/>
            <a:chOff x="0" y="0"/>
            <a:chExt cx="7315200" cy="914400"/>
          </a:xfrm>
        </p:grpSpPr>
        <p:sp>
          <p:nvSpPr>
            <p:cNvPr name="Freeform 116" id="116"/>
            <p:cNvSpPr/>
            <p:nvPr/>
          </p:nvSpPr>
          <p:spPr>
            <a:xfrm flipH="false" flipV="false" rot="0">
              <a:off x="0" y="0"/>
              <a:ext cx="7315200" cy="914400"/>
            </a:xfrm>
            <a:custGeom>
              <a:avLst/>
              <a:gdLst/>
              <a:ahLst/>
              <a:cxnLst/>
              <a:rect r="r" b="b" t="t" l="l"/>
              <a:pathLst>
                <a:path h="914400" w="7315200">
                  <a:moveTo>
                    <a:pt x="0" y="0"/>
                  </a:moveTo>
                  <a:lnTo>
                    <a:pt x="7315200" y="0"/>
                  </a:lnTo>
                  <a:lnTo>
                    <a:pt x="7315200" y="914400"/>
                  </a:lnTo>
                  <a:lnTo>
                    <a:pt x="0" y="914400"/>
                  </a:lnTo>
                  <a:close/>
                </a:path>
              </a:pathLst>
            </a:custGeom>
            <a:blipFill>
              <a:blip r:embed="rId4">
                <a:alphaModFix amt="0"/>
              </a:blip>
              <a:stretch>
                <a:fillRect l="0" t="-105772" r="0" b="-105772"/>
              </a:stretch>
            </a:blipFill>
          </p:spPr>
          <p:txBody>
            <a:bodyPr/>
            <a:p/>
          </p:txBody>
        </p:sp>
      </p:grpSp>
      <p:grpSp>
        <p:nvGrpSpPr>
          <p:cNvPr name="Group 117" id="117"/>
          <p:cNvGrpSpPr/>
          <p:nvPr/>
        </p:nvGrpSpPr>
        <p:grpSpPr>
          <a:xfrm rot="0">
            <a:off x="11727180" y="4846606"/>
            <a:ext cx="5486400" cy="735806"/>
            <a:chOff x="0" y="0"/>
            <a:chExt cx="7315200" cy="981075"/>
          </a:xfrm>
        </p:grpSpPr>
        <p:sp>
          <p:nvSpPr>
            <p:cNvPr name="Freeform 118" id="118"/>
            <p:cNvSpPr/>
            <p:nvPr/>
          </p:nvSpPr>
          <p:spPr>
            <a:xfrm flipH="false" flipV="false" rot="0">
              <a:off x="0" y="0"/>
              <a:ext cx="7315200" cy="981075"/>
            </a:xfrm>
            <a:custGeom>
              <a:avLst/>
              <a:gdLst/>
              <a:ahLst/>
              <a:cxnLst/>
              <a:rect r="r" b="b" t="t" l="l"/>
              <a:pathLst>
                <a:path h="981075" w="7315200">
                  <a:moveTo>
                    <a:pt x="0" y="0"/>
                  </a:moveTo>
                  <a:lnTo>
                    <a:pt x="7315200" y="0"/>
                  </a:lnTo>
                  <a:lnTo>
                    <a:pt x="7315200" y="981075"/>
                  </a:lnTo>
                  <a:lnTo>
                    <a:pt x="0" y="981075"/>
                  </a:lnTo>
                  <a:close/>
                </a:path>
              </a:pathLst>
            </a:custGeom>
            <a:blipFill>
              <a:blip r:embed="rId5">
                <a:alphaModFix amt="0"/>
              </a:blip>
              <a:stretch>
                <a:fillRect l="0" t="-95185" r="0" b="-95185"/>
              </a:stretch>
            </a:blipFill>
          </p:spPr>
          <p:txBody>
            <a:bodyPr/>
            <a:p/>
          </p:txBody>
        </p:sp>
      </p:grpSp>
      <p:grpSp>
        <p:nvGrpSpPr>
          <p:cNvPr name="Group 119" id="119"/>
          <p:cNvGrpSpPr/>
          <p:nvPr/>
        </p:nvGrpSpPr>
        <p:grpSpPr>
          <a:xfrm rot="0">
            <a:off x="11727180" y="4796600"/>
            <a:ext cx="5486400" cy="785812"/>
            <a:chOff x="0" y="0"/>
            <a:chExt cx="7315200" cy="1047750"/>
          </a:xfrm>
        </p:grpSpPr>
        <p:sp>
          <p:nvSpPr>
            <p:cNvPr name="Freeform 120" id="120"/>
            <p:cNvSpPr/>
            <p:nvPr/>
          </p:nvSpPr>
          <p:spPr>
            <a:xfrm flipH="false" flipV="false" rot="0">
              <a:off x="0" y="0"/>
              <a:ext cx="7315200" cy="1047750"/>
            </a:xfrm>
            <a:custGeom>
              <a:avLst/>
              <a:gdLst/>
              <a:ahLst/>
              <a:cxnLst/>
              <a:rect r="r" b="b" t="t" l="l"/>
              <a:pathLst>
                <a:path h="1047750" w="7315200">
                  <a:moveTo>
                    <a:pt x="0" y="0"/>
                  </a:moveTo>
                  <a:lnTo>
                    <a:pt x="7315200" y="0"/>
                  </a:lnTo>
                  <a:lnTo>
                    <a:pt x="7315200" y="1047750"/>
                  </a:lnTo>
                  <a:lnTo>
                    <a:pt x="0" y="1047750"/>
                  </a:lnTo>
                  <a:close/>
                </a:path>
              </a:pathLst>
            </a:custGeom>
            <a:blipFill>
              <a:blip r:embed="rId6">
                <a:alphaModFix amt="0"/>
              </a:blip>
              <a:stretch>
                <a:fillRect l="0" t="-86041" r="0" b="-86041"/>
              </a:stretch>
            </a:blipFill>
          </p:spPr>
          <p:txBody>
            <a:bodyPr/>
            <a:p/>
          </p:txBody>
        </p:sp>
        <p:sp>
          <p:nvSpPr>
            <p:cNvPr name="TextBox 121" id="121"/>
            <p:cNvSpPr txBox="true"/>
            <p:nvPr/>
          </p:nvSpPr>
          <p:spPr>
            <a:xfrm>
              <a:off x="0" y="-66675"/>
              <a:ext cx="7315200" cy="1114425"/>
            </a:xfrm>
            <a:prstGeom prst="rect">
              <a:avLst/>
            </a:prstGeom>
          </p:spPr>
          <p:txBody>
            <a:bodyPr anchor="ctr" rtlCol="false" tIns="0" lIns="0" bIns="0" rIns="0"/>
            <a:lstStyle/>
            <a:p>
              <a:pPr algn="l">
                <a:lnSpc>
                  <a:spcPts val="4320"/>
                </a:lnSpc>
              </a:pPr>
              <a:r>
                <a:rPr lang="en-US" sz="3600" b="true">
                  <a:solidFill>
                    <a:srgbClr val="0B5E6E"/>
                  </a:solidFill>
                  <a:latin typeface="Calibri (MS) Bold"/>
                  <a:ea typeface="Calibri (MS) Bold"/>
                  <a:cs typeface="Calibri (MS) Bold"/>
                  <a:sym typeface="Calibri (MS) Bold"/>
                </a:rPr>
                <a:t>42,07%</a:t>
              </a:r>
            </a:p>
          </p:txBody>
        </p:sp>
      </p:grpSp>
      <p:sp>
        <p:nvSpPr>
          <p:cNvPr name="TextBox 122" id="122"/>
          <p:cNvSpPr txBox="true"/>
          <p:nvPr/>
        </p:nvSpPr>
        <p:spPr>
          <a:xfrm rot="0">
            <a:off x="11727180" y="5509260"/>
            <a:ext cx="5486400" cy="12801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pengaruh laju penurunan dasar: pertumbuhan dan penurunan hampir seimbang sehingga selisihnya sensitif</a:t>
            </a:r>
          </a:p>
        </p:txBody>
      </p:sp>
      <p:grpSp>
        <p:nvGrpSpPr>
          <p:cNvPr name="Group 123" id="123"/>
          <p:cNvGrpSpPr/>
          <p:nvPr/>
        </p:nvGrpSpPr>
        <p:grpSpPr>
          <a:xfrm rot="0">
            <a:off x="11384280" y="7063740"/>
            <a:ext cx="6076188" cy="2125980"/>
            <a:chOff x="0" y="0"/>
            <a:chExt cx="8101584" cy="2834640"/>
          </a:xfrm>
        </p:grpSpPr>
        <p:sp>
          <p:nvSpPr>
            <p:cNvPr name="Freeform 124" id="124"/>
            <p:cNvSpPr/>
            <p:nvPr/>
          </p:nvSpPr>
          <p:spPr>
            <a:xfrm flipH="false" flipV="false" rot="0">
              <a:off x="0" y="0"/>
              <a:ext cx="8101585" cy="2834640"/>
            </a:xfrm>
            <a:custGeom>
              <a:avLst/>
              <a:gdLst/>
              <a:ahLst/>
              <a:cxnLst/>
              <a:rect r="r" b="b" t="t" l="l"/>
              <a:pathLst>
                <a:path h="2834640" w="8101585">
                  <a:moveTo>
                    <a:pt x="0" y="182880"/>
                  </a:moveTo>
                  <a:cubicBezTo>
                    <a:pt x="0" y="81915"/>
                    <a:pt x="81915" y="0"/>
                    <a:pt x="182880" y="0"/>
                  </a:cubicBezTo>
                  <a:lnTo>
                    <a:pt x="7918704" y="0"/>
                  </a:lnTo>
                  <a:cubicBezTo>
                    <a:pt x="8019669" y="0"/>
                    <a:pt x="8101585" y="81915"/>
                    <a:pt x="8101585" y="182880"/>
                  </a:cubicBezTo>
                  <a:lnTo>
                    <a:pt x="8101585" y="2651760"/>
                  </a:lnTo>
                  <a:cubicBezTo>
                    <a:pt x="8101585" y="2752725"/>
                    <a:pt x="8019669" y="2834640"/>
                    <a:pt x="7918704" y="2834640"/>
                  </a:cubicBezTo>
                  <a:lnTo>
                    <a:pt x="182880" y="2834640"/>
                  </a:lnTo>
                  <a:cubicBezTo>
                    <a:pt x="81915" y="2834640"/>
                    <a:pt x="0" y="2752725"/>
                    <a:pt x="0" y="2651760"/>
                  </a:cubicBezTo>
                  <a:close/>
                </a:path>
              </a:pathLst>
            </a:custGeom>
            <a:solidFill>
              <a:srgbClr val="EAF8FA"/>
            </a:solidFill>
          </p:spPr>
          <p:txBody>
            <a:bodyPr/>
            <a:p/>
          </p:txBody>
        </p:sp>
      </p:grpSp>
      <p:grpSp>
        <p:nvGrpSpPr>
          <p:cNvPr name="Group 125" id="125"/>
          <p:cNvGrpSpPr/>
          <p:nvPr/>
        </p:nvGrpSpPr>
        <p:grpSpPr>
          <a:xfrm rot="0">
            <a:off x="11727180" y="7228332"/>
            <a:ext cx="5486400" cy="685800"/>
            <a:chOff x="0" y="0"/>
            <a:chExt cx="7315200" cy="914400"/>
          </a:xfrm>
        </p:grpSpPr>
        <p:sp>
          <p:nvSpPr>
            <p:cNvPr name="Freeform 126" id="126"/>
            <p:cNvSpPr/>
            <p:nvPr/>
          </p:nvSpPr>
          <p:spPr>
            <a:xfrm flipH="false" flipV="false" rot="0">
              <a:off x="0" y="0"/>
              <a:ext cx="7315200" cy="914400"/>
            </a:xfrm>
            <a:custGeom>
              <a:avLst/>
              <a:gdLst/>
              <a:ahLst/>
              <a:cxnLst/>
              <a:rect r="r" b="b" t="t" l="l"/>
              <a:pathLst>
                <a:path h="914400" w="7315200">
                  <a:moveTo>
                    <a:pt x="0" y="0"/>
                  </a:moveTo>
                  <a:lnTo>
                    <a:pt x="7315200" y="0"/>
                  </a:lnTo>
                  <a:lnTo>
                    <a:pt x="7315200" y="914400"/>
                  </a:lnTo>
                  <a:lnTo>
                    <a:pt x="0" y="914400"/>
                  </a:lnTo>
                  <a:close/>
                </a:path>
              </a:pathLst>
            </a:custGeom>
            <a:blipFill>
              <a:blip r:embed="rId4">
                <a:alphaModFix amt="0"/>
              </a:blip>
              <a:stretch>
                <a:fillRect l="0" t="-105772" r="0" b="-105772"/>
              </a:stretch>
            </a:blipFill>
          </p:spPr>
          <p:txBody>
            <a:bodyPr/>
            <a:p/>
          </p:txBody>
        </p:sp>
      </p:grpSp>
      <p:grpSp>
        <p:nvGrpSpPr>
          <p:cNvPr name="Group 127" id="127"/>
          <p:cNvGrpSpPr/>
          <p:nvPr/>
        </p:nvGrpSpPr>
        <p:grpSpPr>
          <a:xfrm rot="0">
            <a:off x="11727180" y="7178326"/>
            <a:ext cx="5486400" cy="735806"/>
            <a:chOff x="0" y="0"/>
            <a:chExt cx="7315200" cy="981075"/>
          </a:xfrm>
        </p:grpSpPr>
        <p:sp>
          <p:nvSpPr>
            <p:cNvPr name="Freeform 128" id="128"/>
            <p:cNvSpPr/>
            <p:nvPr/>
          </p:nvSpPr>
          <p:spPr>
            <a:xfrm flipH="false" flipV="false" rot="0">
              <a:off x="0" y="0"/>
              <a:ext cx="7315200" cy="981075"/>
            </a:xfrm>
            <a:custGeom>
              <a:avLst/>
              <a:gdLst/>
              <a:ahLst/>
              <a:cxnLst/>
              <a:rect r="r" b="b" t="t" l="l"/>
              <a:pathLst>
                <a:path h="981075" w="7315200">
                  <a:moveTo>
                    <a:pt x="0" y="0"/>
                  </a:moveTo>
                  <a:lnTo>
                    <a:pt x="7315200" y="0"/>
                  </a:lnTo>
                  <a:lnTo>
                    <a:pt x="7315200" y="981075"/>
                  </a:lnTo>
                  <a:lnTo>
                    <a:pt x="0" y="981075"/>
                  </a:lnTo>
                  <a:close/>
                </a:path>
              </a:pathLst>
            </a:custGeom>
            <a:blipFill>
              <a:blip r:embed="rId5">
                <a:alphaModFix amt="0"/>
              </a:blip>
              <a:stretch>
                <a:fillRect l="0" t="-95185" r="0" b="-95185"/>
              </a:stretch>
            </a:blipFill>
          </p:spPr>
          <p:txBody>
            <a:bodyPr/>
            <a:p/>
          </p:txBody>
        </p:sp>
      </p:grpSp>
      <p:grpSp>
        <p:nvGrpSpPr>
          <p:cNvPr name="Group 129" id="129"/>
          <p:cNvGrpSpPr/>
          <p:nvPr/>
        </p:nvGrpSpPr>
        <p:grpSpPr>
          <a:xfrm rot="0">
            <a:off x="11727180" y="7128320"/>
            <a:ext cx="5486400" cy="785812"/>
            <a:chOff x="0" y="0"/>
            <a:chExt cx="7315200" cy="1047750"/>
          </a:xfrm>
        </p:grpSpPr>
        <p:sp>
          <p:nvSpPr>
            <p:cNvPr name="Freeform 130" id="130"/>
            <p:cNvSpPr/>
            <p:nvPr/>
          </p:nvSpPr>
          <p:spPr>
            <a:xfrm flipH="false" flipV="false" rot="0">
              <a:off x="0" y="0"/>
              <a:ext cx="7315200" cy="1047750"/>
            </a:xfrm>
            <a:custGeom>
              <a:avLst/>
              <a:gdLst/>
              <a:ahLst/>
              <a:cxnLst/>
              <a:rect r="r" b="b" t="t" l="l"/>
              <a:pathLst>
                <a:path h="1047750" w="7315200">
                  <a:moveTo>
                    <a:pt x="0" y="0"/>
                  </a:moveTo>
                  <a:lnTo>
                    <a:pt x="7315200" y="0"/>
                  </a:lnTo>
                  <a:lnTo>
                    <a:pt x="7315200" y="1047750"/>
                  </a:lnTo>
                  <a:lnTo>
                    <a:pt x="0" y="1047750"/>
                  </a:lnTo>
                  <a:close/>
                </a:path>
              </a:pathLst>
            </a:custGeom>
            <a:blipFill>
              <a:blip r:embed="rId6">
                <a:alphaModFix amt="0"/>
              </a:blip>
              <a:stretch>
                <a:fillRect l="0" t="-86041" r="0" b="-86041"/>
              </a:stretch>
            </a:blipFill>
          </p:spPr>
          <p:txBody>
            <a:bodyPr/>
            <a:p/>
          </p:txBody>
        </p:sp>
        <p:sp>
          <p:nvSpPr>
            <p:cNvPr name="TextBox 131" id="131"/>
            <p:cNvSpPr txBox="true"/>
            <p:nvPr/>
          </p:nvSpPr>
          <p:spPr>
            <a:xfrm>
              <a:off x="0" y="-66675"/>
              <a:ext cx="7315200" cy="1114425"/>
            </a:xfrm>
            <a:prstGeom prst="rect">
              <a:avLst/>
            </a:prstGeom>
          </p:spPr>
          <p:txBody>
            <a:bodyPr anchor="ctr" rtlCol="false" tIns="0" lIns="0" bIns="0" rIns="0"/>
            <a:lstStyle/>
            <a:p>
              <a:pPr algn="l">
                <a:lnSpc>
                  <a:spcPts val="4320"/>
                </a:lnSpc>
              </a:pPr>
              <a:r>
                <a:rPr lang="en-US" sz="3600" b="true">
                  <a:solidFill>
                    <a:srgbClr val="0B5E6E"/>
                  </a:solidFill>
                  <a:latin typeface="Calibri (MS) Bold"/>
                  <a:ea typeface="Calibri (MS) Bold"/>
                  <a:cs typeface="Calibri (MS) Bold"/>
                  <a:sym typeface="Calibri (MS) Bold"/>
                </a:rPr>
                <a:t>153,57 poin</a:t>
              </a:r>
            </a:p>
          </p:txBody>
        </p:sp>
      </p:grpSp>
      <p:sp>
        <p:nvSpPr>
          <p:cNvPr name="TextBox 132" id="132"/>
          <p:cNvSpPr txBox="true"/>
          <p:nvPr/>
        </p:nvSpPr>
        <p:spPr>
          <a:xfrm rot="0">
            <a:off x="11727180" y="7840980"/>
            <a:ext cx="5486400" cy="12801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selisih hasil wisatawan akibat rasio LPD/LPE 0,60–0,90 (LPE tetap); 69,65 bila LPE dihitung ulang</a:t>
            </a:r>
          </a:p>
        </p:txBody>
      </p:sp>
      <p:sp>
        <p:nvSpPr>
          <p:cNvPr name="TextBox 133" id="133"/>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54</a:t>
            </a:r>
          </a:p>
        </p:txBody>
      </p:sp>
      <p:grpSp>
        <p:nvGrpSpPr>
          <p:cNvPr name="Group 136" id="136"/>
          <p:cNvGrpSpPr/>
          <p:nvPr/>
        </p:nvGrpSpPr>
        <p:grpSpPr>
          <a:xfrm rot="0">
            <a:off x="12755880" y="274320"/>
            <a:ext cx="3931920" cy="411480"/>
            <a:chOff x="0" y="0"/>
            <a:chExt cx="5242560" cy="548640"/>
          </a:xfrm>
        </p:grpSpPr>
        <p:sp>
          <p:nvSpPr>
            <p:cNvPr name="Freeform 137" id="137"/>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38" id="138"/>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2F · Analisis sensitivitas</a:t>
              </a:r>
            </a:p>
          </p:txBody>
        </p:sp>
      </p:grpSp>
      <p:grpSp>
        <p:nvGrpSpPr>
          <p:cNvPr name="Group 139" id="139"/>
          <p:cNvGrpSpPr/>
          <p:nvPr/>
        </p:nvGrpSpPr>
        <p:grpSpPr>
          <a:xfrm rot="0">
            <a:off x="16047720" y="9646920"/>
            <a:ext cx="420624" cy="420624"/>
            <a:chOff x="0" y="0"/>
            <a:chExt cx="560832" cy="560832"/>
          </a:xfrm>
        </p:grpSpPr>
        <p:sp>
          <p:nvSpPr>
            <p:cNvPr name="Freeform 140" id="140"/>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41" id="141"/>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graphicFrame>
        <p:nvGraphicFramePr>
          <p:cNvPr id="142" name="Chart 141"/>
          <p:cNvGraphicFramePr>
            <a:graphicFrameLocks noGrp="1"/>
          </p:cNvGraphicFramePr>
          <p:nvPr/>
        </p:nvGraphicFramePr>
        <p:xfrm>
          <a:off x="822960" y="2788920"/>
          <a:ext cx="10332720" cy="5532120"/>
        </p:xfrm>
        <a:graphic>
          <a:graphicData uri="http://schemas.openxmlformats.org/drawingml/2006/chart">
            <c:chart xmlns:c="http://schemas.openxmlformats.org/drawingml/2006/chart" r:id="rId8"/>
          </a:graphicData>
        </a:graphic>
      </p:graphicFrame>
      <p:sp>
        <p:nvSpPr>
          <p:cNvPr id="143" name="Rounded Rectangle 142"/>
          <p:cNvSpPr/>
          <p:nvPr/>
        </p:nvSpPr>
        <p:spPr>
          <a:xfrm>
            <a:off x="1097280" y="8503920"/>
            <a:ext cx="274320" cy="274320"/>
          </a:xfrm>
          <a:prstGeom prst="roundRect">
            <a:avLst>
              <a:gd name="adj" fmla="val 10000"/>
            </a:avLst>
          </a:prstGeom>
          <a:solidFill>
            <a:srgbClr val="FFD2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ctr"/>
          </a:p>
        </p:txBody>
      </p:sp>
      <p:sp>
        <p:nvSpPr>
          <p:cNvPr id="144" name="TextBox 143"/>
          <p:cNvSpPr txBox="1"/>
          <p:nvPr/>
        </p:nvSpPr>
        <p:spPr>
          <a:xfrm>
            <a:off x="1463040" y="8476488"/>
            <a:ext cx="2194560" cy="329184"/>
          </a:xfrm>
          <a:prstGeom prst="rect">
            <a:avLst/>
          </a:prstGeom>
          <a:noFill/>
        </p:spPr>
        <p:txBody>
          <a:bodyPr wrap="square" anchor="ctr" lIns="0" rIns="0" tIns="0" bIns="0">
            <a:spAutoFit/>
          </a:bodyPr>
          <a:lstStyle/>
          <a:p>
            <a:pPr algn="l">
              <a:spcAft>
                <a:spcPts val="400"/>
              </a:spcAft>
            </a:pPr>
            <a:r>
              <a:rPr sz="1320" b="0" i="0">
                <a:solidFill>
                  <a:srgbClr val="14313B"/>
                </a:solidFill>
                <a:latin typeface="Calibri (MS)"/>
              </a:rPr>
              <a:t>Asumsi peneliti</a:t>
            </a:r>
          </a:p>
        </p:txBody>
      </p:sp>
      <p:sp>
        <p:nvSpPr>
          <p:cNvPr id="145" name="Rounded Rectangle 144"/>
          <p:cNvSpPr/>
          <p:nvPr/>
        </p:nvSpPr>
        <p:spPr>
          <a:xfrm>
            <a:off x="3657600" y="8503920"/>
            <a:ext cx="274320" cy="274320"/>
          </a:xfrm>
          <a:prstGeom prst="roundRect">
            <a:avLst>
              <a:gd name="adj" fmla="val 10000"/>
            </a:avLst>
          </a:prstGeom>
          <a:solidFill>
            <a:srgbClr val="9EDCE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ctr"/>
          </a:p>
        </p:txBody>
      </p:sp>
      <p:sp>
        <p:nvSpPr>
          <p:cNvPr id="146" name="TextBox 145"/>
          <p:cNvSpPr txBox="1"/>
          <p:nvPr/>
        </p:nvSpPr>
        <p:spPr>
          <a:xfrm>
            <a:off x="4023360" y="8476488"/>
            <a:ext cx="2194560" cy="329184"/>
          </a:xfrm>
          <a:prstGeom prst="rect">
            <a:avLst/>
          </a:prstGeom>
          <a:noFill/>
        </p:spPr>
        <p:txBody>
          <a:bodyPr wrap="square" anchor="ctr" lIns="0" rIns="0" tIns="0" bIns="0">
            <a:spAutoFit/>
          </a:bodyPr>
          <a:lstStyle/>
          <a:p>
            <a:pPr algn="l">
              <a:spcAft>
                <a:spcPts val="400"/>
              </a:spcAft>
            </a:pPr>
            <a:r>
              <a:rPr sz="1320" b="0" i="0">
                <a:solidFill>
                  <a:srgbClr val="14313B"/>
                </a:solidFill>
                <a:latin typeface="Calibri (MS)"/>
              </a:rPr>
              <a:t>Nilai acuan (normalisasi)</a:t>
            </a:r>
          </a:p>
        </p:txBody>
      </p:sp>
      <p:sp>
        <p:nvSpPr>
          <p:cNvPr id="147" name="Rounded Rectangle 146"/>
          <p:cNvSpPr/>
          <p:nvPr/>
        </p:nvSpPr>
        <p:spPr>
          <a:xfrm>
            <a:off x="6217920" y="8503920"/>
            <a:ext cx="274320" cy="274320"/>
          </a:xfrm>
          <a:prstGeom prst="roundRect">
            <a:avLst>
              <a:gd name="adj" fmla="val 10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ctr"/>
          </a:p>
        </p:txBody>
      </p:sp>
      <p:sp>
        <p:nvSpPr>
          <p:cNvPr id="148" name="TextBox 147"/>
          <p:cNvSpPr txBox="1"/>
          <p:nvPr/>
        </p:nvSpPr>
        <p:spPr>
          <a:xfrm>
            <a:off x="6583679" y="8476488"/>
            <a:ext cx="2194560" cy="329184"/>
          </a:xfrm>
          <a:prstGeom prst="rect">
            <a:avLst/>
          </a:prstGeom>
          <a:noFill/>
        </p:spPr>
        <p:txBody>
          <a:bodyPr wrap="square" anchor="ctr" lIns="0" rIns="0" tIns="0" bIns="0">
            <a:spAutoFit/>
          </a:bodyPr>
          <a:lstStyle/>
          <a:p>
            <a:pPr algn="l">
              <a:spcAft>
                <a:spcPts val="400"/>
              </a:spcAft>
            </a:pPr>
            <a:r>
              <a:rPr sz="1320" b="0" i="0">
                <a:solidFill>
                  <a:srgbClr val="14313B"/>
                </a:solidFill>
                <a:latin typeface="Calibri (MS)"/>
              </a:rPr>
              <a:t>Dihitung dari data</a:t>
            </a:r>
          </a:p>
        </p:txBody>
      </p:sp>
      <p:sp>
        <p:nvSpPr>
          <p:cNvPr id="149" name="Rounded Rectangle 148"/>
          <p:cNvSpPr/>
          <p:nvPr/>
        </p:nvSpPr>
        <p:spPr>
          <a:xfrm>
            <a:off x="8778239" y="8503920"/>
            <a:ext cx="274320" cy="274320"/>
          </a:xfrm>
          <a:prstGeom prst="roundRect">
            <a:avLst>
              <a:gd name="adj" fmla="val 10000"/>
            </a:avLst>
          </a:prstGeom>
          <a:solidFill>
            <a:srgbClr val="8A9BA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ctr"/>
          </a:p>
        </p:txBody>
      </p:sp>
      <p:sp>
        <p:nvSpPr>
          <p:cNvPr id="150" name="TextBox 149"/>
          <p:cNvSpPr txBox="1"/>
          <p:nvPr/>
        </p:nvSpPr>
        <p:spPr>
          <a:xfrm>
            <a:off x="9143999" y="8476488"/>
            <a:ext cx="2194560" cy="329184"/>
          </a:xfrm>
          <a:prstGeom prst="rect">
            <a:avLst/>
          </a:prstGeom>
          <a:noFill/>
        </p:spPr>
        <p:txBody>
          <a:bodyPr wrap="square" anchor="ctr" lIns="0" rIns="0" tIns="0" bIns="0">
            <a:spAutoFit/>
          </a:bodyPr>
          <a:lstStyle/>
          <a:p>
            <a:pPr algn="l">
              <a:spcAft>
                <a:spcPts val="400"/>
              </a:spcAft>
            </a:pPr>
            <a:r>
              <a:rPr sz="1320" b="0" i="0">
                <a:solidFill>
                  <a:srgbClr val="14313B"/>
                </a:solidFill>
                <a:latin typeface="Calibri (MS)"/>
              </a:rPr>
              <a:t>Persamaan stok-aliran</a:t>
            </a:r>
          </a:p>
        </p:txBody>
      </p:sp>
    </p:spTree>
  </p:cSld>
  <p:clrMapOvr>
    <a:masterClrMapping/>
  </p:clrMapOvr>
</p:sld>
</file>

<file path=ppt/slides/slide5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Kriteria Penetapan Variabel Kebijakan</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Variabel kebijakan dipilih dengan tiga kriteria sekaligus</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Freeform 66" id="66"/>
          <p:cNvSpPr/>
          <p:nvPr/>
        </p:nvSpPr>
        <p:spPr>
          <a:xfrm flipH="false" flipV="false" rot="0">
            <a:off x="806291" y="2383631"/>
            <a:ext cx="5382578" cy="3942397"/>
          </a:xfrm>
          <a:custGeom>
            <a:avLst/>
            <a:gdLst/>
            <a:ahLst/>
            <a:cxnLst/>
            <a:rect r="r" b="b" t="t" l="l"/>
            <a:pathLst>
              <a:path h="3942397" w="5382578">
                <a:moveTo>
                  <a:pt x="0" y="0"/>
                </a:moveTo>
                <a:lnTo>
                  <a:pt x="5382578" y="0"/>
                </a:lnTo>
                <a:lnTo>
                  <a:pt x="5382578" y="3942398"/>
                </a:lnTo>
                <a:lnTo>
                  <a:pt x="0" y="3942398"/>
                </a:lnTo>
                <a:lnTo>
                  <a:pt x="0" y="0"/>
                </a:lnTo>
                <a:close/>
              </a:path>
            </a:pathLst>
          </a:custGeom>
          <a:blipFill>
            <a:blip r:embed="rId7">
              <a:extLst>
                <a:ext uri="{96DAC541-7B7A-43D3-8B79-37D633B846F1}">
                  <asvg:svgBlip xmlns:asvg="http://schemas.microsoft.com/office/drawing/2016/SVG/main" r:embed="rId8"/>
                </a:ext>
              </a:extLst>
            </a:blip>
            <a:stretch>
              <a:fillRect l="-67" t="0" r="-67" b="0"/>
            </a:stretch>
          </a:blipFill>
        </p:spPr>
        <p:txBody>
          <a:bodyPr/>
          <a:p/>
        </p:txBody>
      </p:sp>
      <p:grpSp>
        <p:nvGrpSpPr>
          <p:cNvPr name="Group 67" id="67"/>
          <p:cNvGrpSpPr/>
          <p:nvPr/>
        </p:nvGrpSpPr>
        <p:grpSpPr>
          <a:xfrm rot="0">
            <a:off x="1165860" y="2715768"/>
            <a:ext cx="685800" cy="685800"/>
            <a:chOff x="0" y="0"/>
            <a:chExt cx="914400" cy="914400"/>
          </a:xfrm>
        </p:grpSpPr>
        <p:sp>
          <p:nvSpPr>
            <p:cNvPr name="Freeform 68" id="68"/>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69" id="69"/>
          <p:cNvGrpSpPr/>
          <p:nvPr/>
        </p:nvGrpSpPr>
        <p:grpSpPr>
          <a:xfrm rot="0">
            <a:off x="1165860" y="2715768"/>
            <a:ext cx="685800" cy="685800"/>
            <a:chOff x="0" y="0"/>
            <a:chExt cx="914400" cy="914400"/>
          </a:xfrm>
        </p:grpSpPr>
        <p:sp>
          <p:nvSpPr>
            <p:cNvPr name="Freeform 70" id="70"/>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txBody>
            <a:bodyPr/>
            <a:p/>
          </p:txBody>
        </p:sp>
      </p:grpSp>
      <p:grpSp>
        <p:nvGrpSpPr>
          <p:cNvPr name="Group 71" id="71"/>
          <p:cNvGrpSpPr/>
          <p:nvPr/>
        </p:nvGrpSpPr>
        <p:grpSpPr>
          <a:xfrm rot="0">
            <a:off x="1165860" y="2687193"/>
            <a:ext cx="685800" cy="714375"/>
            <a:chOff x="0" y="0"/>
            <a:chExt cx="914400" cy="952500"/>
          </a:xfrm>
        </p:grpSpPr>
        <p:sp>
          <p:nvSpPr>
            <p:cNvPr name="Freeform 72" id="72"/>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743" t="0" r="-83741" b="0"/>
              </a:stretch>
            </a:blipFill>
          </p:spPr>
          <p:txBody>
            <a:bodyPr/>
            <a:p/>
          </p:txBody>
        </p:sp>
      </p:grpSp>
      <p:grpSp>
        <p:nvGrpSpPr>
          <p:cNvPr name="Group 73" id="73"/>
          <p:cNvGrpSpPr/>
          <p:nvPr/>
        </p:nvGrpSpPr>
        <p:grpSpPr>
          <a:xfrm rot="0">
            <a:off x="1165860" y="2658618"/>
            <a:ext cx="685800" cy="742950"/>
            <a:chOff x="0" y="0"/>
            <a:chExt cx="914400" cy="990600"/>
          </a:xfrm>
        </p:grpSpPr>
        <p:sp>
          <p:nvSpPr>
            <p:cNvPr name="Freeform 74" id="74"/>
            <p:cNvSpPr/>
            <p:nvPr/>
          </p:nvSpPr>
          <p:spPr>
            <a:xfrm flipH="false" flipV="false" rot="0">
              <a:off x="0" y="0"/>
              <a:ext cx="914400" cy="990600"/>
            </a:xfrm>
            <a:custGeom>
              <a:avLst/>
              <a:gdLst/>
              <a:ahLst/>
              <a:cxnLst/>
              <a:rect r="r" b="b" t="t" l="l"/>
              <a:pathLst>
                <a:path h="990600" w="914400">
                  <a:moveTo>
                    <a:pt x="0" y="0"/>
                  </a:moveTo>
                  <a:lnTo>
                    <a:pt x="914400" y="0"/>
                  </a:lnTo>
                  <a:lnTo>
                    <a:pt x="914400" y="990600"/>
                  </a:lnTo>
                  <a:lnTo>
                    <a:pt x="0" y="990600"/>
                  </a:lnTo>
                  <a:close/>
                </a:path>
              </a:pathLst>
            </a:custGeom>
            <a:blipFill>
              <a:blip r:embed="rId6">
                <a:alphaModFix amt="0"/>
              </a:blip>
              <a:stretch>
                <a:fillRect l="-88995" t="0" r="-88995" b="0"/>
              </a:stretch>
            </a:blipFill>
          </p:spPr>
          <p:txBody>
            <a:bodyPr/>
            <a:p/>
          </p:txBody>
        </p:sp>
        <p:sp>
          <p:nvSpPr>
            <p:cNvPr name="TextBox 75" id="75"/>
            <p:cNvSpPr txBox="true"/>
            <p:nvPr/>
          </p:nvSpPr>
          <p:spPr>
            <a:xfrm>
              <a:off x="0" y="-38100"/>
              <a:ext cx="914400" cy="10287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1</a:t>
              </a:r>
            </a:p>
          </p:txBody>
        </p:sp>
      </p:grpSp>
      <p:grpSp>
        <p:nvGrpSpPr>
          <p:cNvPr name="Group 76" id="76"/>
          <p:cNvGrpSpPr/>
          <p:nvPr/>
        </p:nvGrpSpPr>
        <p:grpSpPr>
          <a:xfrm rot="0">
            <a:off x="2125980" y="2715768"/>
            <a:ext cx="3840480" cy="685800"/>
            <a:chOff x="0" y="0"/>
            <a:chExt cx="5120640" cy="914400"/>
          </a:xfrm>
        </p:grpSpPr>
        <p:sp>
          <p:nvSpPr>
            <p:cNvPr name="Freeform 77" id="77"/>
            <p:cNvSpPr/>
            <p:nvPr/>
          </p:nvSpPr>
          <p:spPr>
            <a:xfrm flipH="false" flipV="false" rot="0">
              <a:off x="0" y="0"/>
              <a:ext cx="5120640" cy="914400"/>
            </a:xfrm>
            <a:custGeom>
              <a:avLst/>
              <a:gdLst/>
              <a:ahLst/>
              <a:cxnLst/>
              <a:rect r="r" b="b" t="t" l="l"/>
              <a:pathLst>
                <a:path h="914400" w="5120640">
                  <a:moveTo>
                    <a:pt x="0" y="0"/>
                  </a:moveTo>
                  <a:lnTo>
                    <a:pt x="5120640" y="0"/>
                  </a:lnTo>
                  <a:lnTo>
                    <a:pt x="5120640" y="914400"/>
                  </a:lnTo>
                  <a:lnTo>
                    <a:pt x="0" y="914400"/>
                  </a:lnTo>
                  <a:close/>
                </a:path>
              </a:pathLst>
            </a:custGeom>
            <a:blipFill>
              <a:blip r:embed="rId4">
                <a:alphaModFix amt="0"/>
              </a:blip>
              <a:stretch>
                <a:fillRect l="0" t="-59040" r="0" b="-59040"/>
              </a:stretch>
            </a:blipFill>
          </p:spPr>
          <p:txBody>
            <a:bodyPr/>
            <a:p/>
          </p:txBody>
        </p:sp>
      </p:grpSp>
      <p:grpSp>
        <p:nvGrpSpPr>
          <p:cNvPr name="Group 78" id="78"/>
          <p:cNvGrpSpPr/>
          <p:nvPr/>
        </p:nvGrpSpPr>
        <p:grpSpPr>
          <a:xfrm rot="0">
            <a:off x="2125980" y="2680049"/>
            <a:ext cx="3840480" cy="721519"/>
            <a:chOff x="0" y="0"/>
            <a:chExt cx="5120640" cy="962025"/>
          </a:xfrm>
        </p:grpSpPr>
        <p:sp>
          <p:nvSpPr>
            <p:cNvPr name="Freeform 79" id="79"/>
            <p:cNvSpPr/>
            <p:nvPr/>
          </p:nvSpPr>
          <p:spPr>
            <a:xfrm flipH="false" flipV="false" rot="0">
              <a:off x="0" y="0"/>
              <a:ext cx="5120640" cy="962025"/>
            </a:xfrm>
            <a:custGeom>
              <a:avLst/>
              <a:gdLst/>
              <a:ahLst/>
              <a:cxnLst/>
              <a:rect r="r" b="b" t="t" l="l"/>
              <a:pathLst>
                <a:path h="962025" w="5120640">
                  <a:moveTo>
                    <a:pt x="0" y="0"/>
                  </a:moveTo>
                  <a:lnTo>
                    <a:pt x="5120640" y="0"/>
                  </a:lnTo>
                  <a:lnTo>
                    <a:pt x="5120640" y="962025"/>
                  </a:lnTo>
                  <a:lnTo>
                    <a:pt x="0" y="962025"/>
                  </a:lnTo>
                  <a:close/>
                </a:path>
              </a:pathLst>
            </a:custGeom>
            <a:blipFill>
              <a:blip r:embed="rId5">
                <a:alphaModFix amt="0"/>
              </a:blip>
              <a:stretch>
                <a:fillRect l="0" t="-53642" r="0" b="-53642"/>
              </a:stretch>
            </a:blipFill>
          </p:spPr>
          <p:txBody>
            <a:bodyPr/>
            <a:p/>
          </p:txBody>
        </p:sp>
      </p:grpSp>
      <p:grpSp>
        <p:nvGrpSpPr>
          <p:cNvPr name="Group 80" id="80"/>
          <p:cNvGrpSpPr/>
          <p:nvPr/>
        </p:nvGrpSpPr>
        <p:grpSpPr>
          <a:xfrm rot="0">
            <a:off x="2125980" y="2644330"/>
            <a:ext cx="3840480" cy="757238"/>
            <a:chOff x="0" y="0"/>
            <a:chExt cx="5120640" cy="1009650"/>
          </a:xfrm>
        </p:grpSpPr>
        <p:sp>
          <p:nvSpPr>
            <p:cNvPr name="Freeform 81" id="81"/>
            <p:cNvSpPr/>
            <p:nvPr/>
          </p:nvSpPr>
          <p:spPr>
            <a:xfrm flipH="false" flipV="false" rot="0">
              <a:off x="0" y="0"/>
              <a:ext cx="5120640" cy="1009650"/>
            </a:xfrm>
            <a:custGeom>
              <a:avLst/>
              <a:gdLst/>
              <a:ahLst/>
              <a:cxnLst/>
              <a:rect r="r" b="b" t="t" l="l"/>
              <a:pathLst>
                <a:path h="1009650" w="5120640">
                  <a:moveTo>
                    <a:pt x="0" y="0"/>
                  </a:moveTo>
                  <a:lnTo>
                    <a:pt x="5120640" y="0"/>
                  </a:lnTo>
                  <a:lnTo>
                    <a:pt x="5120640" y="1009650"/>
                  </a:lnTo>
                  <a:lnTo>
                    <a:pt x="0" y="1009650"/>
                  </a:lnTo>
                  <a:close/>
                </a:path>
              </a:pathLst>
            </a:custGeom>
            <a:blipFill>
              <a:blip r:embed="rId6">
                <a:alphaModFix amt="0"/>
              </a:blip>
              <a:stretch>
                <a:fillRect l="0" t="-48822" r="0" b="-48822"/>
              </a:stretch>
            </a:blipFill>
          </p:spPr>
          <p:txBody>
            <a:bodyPr/>
            <a:p/>
          </p:txBody>
        </p:sp>
        <p:sp>
          <p:nvSpPr>
            <p:cNvPr name="TextBox 82" id="82"/>
            <p:cNvSpPr txBox="true"/>
            <p:nvPr/>
          </p:nvSpPr>
          <p:spPr>
            <a:xfrm>
              <a:off x="0" y="-47625"/>
              <a:ext cx="5120640" cy="1057275"/>
            </a:xfrm>
            <a:prstGeom prst="rect">
              <a:avLst/>
            </a:prstGeom>
          </p:spPr>
          <p:txBody>
            <a:bodyPr anchor="ctr" rtlCol="false" tIns="0" lIns="0" bIns="0" rIns="0"/>
            <a:lstStyle/>
            <a:p>
              <a:pPr algn="l">
                <a:lnSpc>
                  <a:spcPts val="3060"/>
                </a:lnSpc>
              </a:pPr>
              <a:r>
                <a:rPr lang="en-US" sz="2550" b="true">
                  <a:solidFill>
                    <a:srgbClr val="0B5E6E"/>
                  </a:solidFill>
                  <a:latin typeface="Calibri (MS) Bold"/>
                  <a:ea typeface="Calibri (MS) Bold"/>
                  <a:cs typeface="Calibri (MS) Bold"/>
                  <a:sym typeface="Calibri (MS) Bold"/>
                </a:rPr>
                <a:t>Berpengaruh pada model</a:t>
              </a:r>
            </a:p>
          </p:txBody>
        </p:sp>
      </p:grpSp>
      <p:sp>
        <p:nvSpPr>
          <p:cNvPr name="TextBox 83" id="83"/>
          <p:cNvSpPr txBox="true"/>
          <p:nvPr/>
        </p:nvSpPr>
        <p:spPr>
          <a:xfrm rot="0">
            <a:off x="1165860" y="3560445"/>
            <a:ext cx="4732020" cy="2680335"/>
          </a:xfrm>
          <a:prstGeom prst="rect">
            <a:avLst/>
          </a:prstGeom>
        </p:spPr>
        <p:txBody>
          <a:bodyPr anchor="t" rtlCol="false" tIns="0" lIns="0" bIns="0" rIns="0">
            <a:spAutoFit/>
          </a:bodyPr>
          <a:lstStyle/>
          <a:p>
            <a:pPr algn="l">
              <a:lnSpc>
                <a:spcPts val="2610"/>
              </a:lnSpc>
            </a:pPr>
            <a:r>
              <a:rPr lang="en-US" sz="2175">
                <a:solidFill>
                  <a:srgbClr val="14313B"/>
                </a:solidFill>
                <a:latin typeface="Calibri (MS)"/>
                <a:ea typeface="Calibri (MS)"/>
                <a:cs typeface="Calibri (MS)"/>
                <a:sym typeface="Calibri (MS)"/>
              </a:rPr>
              <a:t>Parameter terbukti memengaruhi perilaku model berdasarkan analisis sensitivitas.</a:t>
            </a:r>
          </a:p>
        </p:txBody>
      </p:sp>
      <p:sp>
        <p:nvSpPr>
          <p:cNvPr name="Freeform 84" id="84"/>
          <p:cNvSpPr/>
          <p:nvPr/>
        </p:nvSpPr>
        <p:spPr>
          <a:xfrm flipH="false" flipV="false" rot="0">
            <a:off x="6450425" y="2383631"/>
            <a:ext cx="5382578" cy="3942397"/>
          </a:xfrm>
          <a:custGeom>
            <a:avLst/>
            <a:gdLst/>
            <a:ahLst/>
            <a:cxnLst/>
            <a:rect r="r" b="b" t="t" l="l"/>
            <a:pathLst>
              <a:path h="3942397" w="5382578">
                <a:moveTo>
                  <a:pt x="0" y="0"/>
                </a:moveTo>
                <a:lnTo>
                  <a:pt x="5382578" y="0"/>
                </a:lnTo>
                <a:lnTo>
                  <a:pt x="5382578" y="3942398"/>
                </a:lnTo>
                <a:lnTo>
                  <a:pt x="0" y="3942398"/>
                </a:lnTo>
                <a:lnTo>
                  <a:pt x="0" y="0"/>
                </a:lnTo>
                <a:close/>
              </a:path>
            </a:pathLst>
          </a:custGeom>
          <a:blipFill>
            <a:blip r:embed="rId7">
              <a:extLst>
                <a:ext uri="{96DAC541-7B7A-43D3-8B79-37D633B846F1}">
                  <asvg:svgBlip xmlns:asvg="http://schemas.microsoft.com/office/drawing/2016/SVG/main" r:embed="rId8"/>
                </a:ext>
              </a:extLst>
            </a:blip>
            <a:stretch>
              <a:fillRect l="-67" t="0" r="-67" b="0"/>
            </a:stretch>
          </a:blipFill>
        </p:spPr>
        <p:txBody>
          <a:bodyPr/>
          <a:p/>
        </p:txBody>
      </p:sp>
      <p:grpSp>
        <p:nvGrpSpPr>
          <p:cNvPr name="Group 85" id="85"/>
          <p:cNvGrpSpPr/>
          <p:nvPr/>
        </p:nvGrpSpPr>
        <p:grpSpPr>
          <a:xfrm rot="0">
            <a:off x="6809994" y="2715768"/>
            <a:ext cx="685800" cy="685800"/>
            <a:chOff x="0" y="0"/>
            <a:chExt cx="914400" cy="914400"/>
          </a:xfrm>
        </p:grpSpPr>
        <p:sp>
          <p:nvSpPr>
            <p:cNvPr name="Freeform 86" id="86"/>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87" id="87"/>
          <p:cNvGrpSpPr/>
          <p:nvPr/>
        </p:nvGrpSpPr>
        <p:grpSpPr>
          <a:xfrm rot="0">
            <a:off x="6809994" y="2715768"/>
            <a:ext cx="685800" cy="685800"/>
            <a:chOff x="0" y="0"/>
            <a:chExt cx="914400" cy="914400"/>
          </a:xfrm>
        </p:grpSpPr>
        <p:sp>
          <p:nvSpPr>
            <p:cNvPr name="Freeform 88" id="88"/>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txBody>
            <a:bodyPr/>
            <a:p/>
          </p:txBody>
        </p:sp>
      </p:grpSp>
      <p:grpSp>
        <p:nvGrpSpPr>
          <p:cNvPr name="Group 89" id="89"/>
          <p:cNvGrpSpPr/>
          <p:nvPr/>
        </p:nvGrpSpPr>
        <p:grpSpPr>
          <a:xfrm rot="0">
            <a:off x="6809994" y="2687193"/>
            <a:ext cx="685800" cy="714375"/>
            <a:chOff x="0" y="0"/>
            <a:chExt cx="914400" cy="952500"/>
          </a:xfrm>
        </p:grpSpPr>
        <p:sp>
          <p:nvSpPr>
            <p:cNvPr name="Freeform 90" id="90"/>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743" t="0" r="-83741" b="0"/>
              </a:stretch>
            </a:blipFill>
          </p:spPr>
          <p:txBody>
            <a:bodyPr/>
            <a:p/>
          </p:txBody>
        </p:sp>
      </p:grpSp>
      <p:grpSp>
        <p:nvGrpSpPr>
          <p:cNvPr name="Group 91" id="91"/>
          <p:cNvGrpSpPr/>
          <p:nvPr/>
        </p:nvGrpSpPr>
        <p:grpSpPr>
          <a:xfrm rot="0">
            <a:off x="6809994" y="2658618"/>
            <a:ext cx="685800" cy="742950"/>
            <a:chOff x="0" y="0"/>
            <a:chExt cx="914400" cy="990600"/>
          </a:xfrm>
        </p:grpSpPr>
        <p:sp>
          <p:nvSpPr>
            <p:cNvPr name="Freeform 92" id="92"/>
            <p:cNvSpPr/>
            <p:nvPr/>
          </p:nvSpPr>
          <p:spPr>
            <a:xfrm flipH="false" flipV="false" rot="0">
              <a:off x="0" y="0"/>
              <a:ext cx="914400" cy="990600"/>
            </a:xfrm>
            <a:custGeom>
              <a:avLst/>
              <a:gdLst/>
              <a:ahLst/>
              <a:cxnLst/>
              <a:rect r="r" b="b" t="t" l="l"/>
              <a:pathLst>
                <a:path h="990600" w="914400">
                  <a:moveTo>
                    <a:pt x="0" y="0"/>
                  </a:moveTo>
                  <a:lnTo>
                    <a:pt x="914400" y="0"/>
                  </a:lnTo>
                  <a:lnTo>
                    <a:pt x="914400" y="990600"/>
                  </a:lnTo>
                  <a:lnTo>
                    <a:pt x="0" y="990600"/>
                  </a:lnTo>
                  <a:close/>
                </a:path>
              </a:pathLst>
            </a:custGeom>
            <a:blipFill>
              <a:blip r:embed="rId6">
                <a:alphaModFix amt="0"/>
              </a:blip>
              <a:stretch>
                <a:fillRect l="-88995" t="0" r="-88995" b="0"/>
              </a:stretch>
            </a:blipFill>
          </p:spPr>
          <p:txBody>
            <a:bodyPr/>
            <a:p/>
          </p:txBody>
        </p:sp>
        <p:sp>
          <p:nvSpPr>
            <p:cNvPr name="TextBox 93" id="93"/>
            <p:cNvSpPr txBox="true"/>
            <p:nvPr/>
          </p:nvSpPr>
          <p:spPr>
            <a:xfrm>
              <a:off x="0" y="-38100"/>
              <a:ext cx="914400" cy="10287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2</a:t>
              </a:r>
            </a:p>
          </p:txBody>
        </p:sp>
      </p:grpSp>
      <p:grpSp>
        <p:nvGrpSpPr>
          <p:cNvPr name="Group 94" id="94"/>
          <p:cNvGrpSpPr/>
          <p:nvPr/>
        </p:nvGrpSpPr>
        <p:grpSpPr>
          <a:xfrm rot="0">
            <a:off x="7770114" y="2715768"/>
            <a:ext cx="3840480" cy="685800"/>
            <a:chOff x="0" y="0"/>
            <a:chExt cx="5120640" cy="914400"/>
          </a:xfrm>
        </p:grpSpPr>
        <p:sp>
          <p:nvSpPr>
            <p:cNvPr name="Freeform 95" id="95"/>
            <p:cNvSpPr/>
            <p:nvPr/>
          </p:nvSpPr>
          <p:spPr>
            <a:xfrm flipH="false" flipV="false" rot="0">
              <a:off x="0" y="0"/>
              <a:ext cx="5120640" cy="914400"/>
            </a:xfrm>
            <a:custGeom>
              <a:avLst/>
              <a:gdLst/>
              <a:ahLst/>
              <a:cxnLst/>
              <a:rect r="r" b="b" t="t" l="l"/>
              <a:pathLst>
                <a:path h="914400" w="5120640">
                  <a:moveTo>
                    <a:pt x="0" y="0"/>
                  </a:moveTo>
                  <a:lnTo>
                    <a:pt x="5120640" y="0"/>
                  </a:lnTo>
                  <a:lnTo>
                    <a:pt x="5120640" y="914400"/>
                  </a:lnTo>
                  <a:lnTo>
                    <a:pt x="0" y="914400"/>
                  </a:lnTo>
                  <a:close/>
                </a:path>
              </a:pathLst>
            </a:custGeom>
            <a:blipFill>
              <a:blip r:embed="rId4">
                <a:alphaModFix amt="0"/>
              </a:blip>
              <a:stretch>
                <a:fillRect l="0" t="-59040" r="0" b="-59040"/>
              </a:stretch>
            </a:blipFill>
          </p:spPr>
          <p:txBody>
            <a:bodyPr/>
            <a:p/>
          </p:txBody>
        </p:sp>
      </p:grpSp>
      <p:grpSp>
        <p:nvGrpSpPr>
          <p:cNvPr name="Group 96" id="96"/>
          <p:cNvGrpSpPr/>
          <p:nvPr/>
        </p:nvGrpSpPr>
        <p:grpSpPr>
          <a:xfrm rot="0">
            <a:off x="7770114" y="2680049"/>
            <a:ext cx="3840480" cy="721519"/>
            <a:chOff x="0" y="0"/>
            <a:chExt cx="5120640" cy="962025"/>
          </a:xfrm>
        </p:grpSpPr>
        <p:sp>
          <p:nvSpPr>
            <p:cNvPr name="Freeform 97" id="97"/>
            <p:cNvSpPr/>
            <p:nvPr/>
          </p:nvSpPr>
          <p:spPr>
            <a:xfrm flipH="false" flipV="false" rot="0">
              <a:off x="0" y="0"/>
              <a:ext cx="5120640" cy="962025"/>
            </a:xfrm>
            <a:custGeom>
              <a:avLst/>
              <a:gdLst/>
              <a:ahLst/>
              <a:cxnLst/>
              <a:rect r="r" b="b" t="t" l="l"/>
              <a:pathLst>
                <a:path h="962025" w="5120640">
                  <a:moveTo>
                    <a:pt x="0" y="0"/>
                  </a:moveTo>
                  <a:lnTo>
                    <a:pt x="5120640" y="0"/>
                  </a:lnTo>
                  <a:lnTo>
                    <a:pt x="5120640" y="962025"/>
                  </a:lnTo>
                  <a:lnTo>
                    <a:pt x="0" y="962025"/>
                  </a:lnTo>
                  <a:close/>
                </a:path>
              </a:pathLst>
            </a:custGeom>
            <a:blipFill>
              <a:blip r:embed="rId5">
                <a:alphaModFix amt="0"/>
              </a:blip>
              <a:stretch>
                <a:fillRect l="0" t="-53642" r="0" b="-53642"/>
              </a:stretch>
            </a:blipFill>
          </p:spPr>
          <p:txBody>
            <a:bodyPr/>
            <a:p/>
          </p:txBody>
        </p:sp>
      </p:grpSp>
      <p:grpSp>
        <p:nvGrpSpPr>
          <p:cNvPr name="Group 98" id="98"/>
          <p:cNvGrpSpPr/>
          <p:nvPr/>
        </p:nvGrpSpPr>
        <p:grpSpPr>
          <a:xfrm rot="0">
            <a:off x="7770114" y="2644330"/>
            <a:ext cx="3840480" cy="757238"/>
            <a:chOff x="0" y="0"/>
            <a:chExt cx="5120640" cy="1009650"/>
          </a:xfrm>
        </p:grpSpPr>
        <p:sp>
          <p:nvSpPr>
            <p:cNvPr name="Freeform 99" id="99"/>
            <p:cNvSpPr/>
            <p:nvPr/>
          </p:nvSpPr>
          <p:spPr>
            <a:xfrm flipH="false" flipV="false" rot="0">
              <a:off x="0" y="0"/>
              <a:ext cx="5120640" cy="1009650"/>
            </a:xfrm>
            <a:custGeom>
              <a:avLst/>
              <a:gdLst/>
              <a:ahLst/>
              <a:cxnLst/>
              <a:rect r="r" b="b" t="t" l="l"/>
              <a:pathLst>
                <a:path h="1009650" w="5120640">
                  <a:moveTo>
                    <a:pt x="0" y="0"/>
                  </a:moveTo>
                  <a:lnTo>
                    <a:pt x="5120640" y="0"/>
                  </a:lnTo>
                  <a:lnTo>
                    <a:pt x="5120640" y="1009650"/>
                  </a:lnTo>
                  <a:lnTo>
                    <a:pt x="0" y="1009650"/>
                  </a:lnTo>
                  <a:close/>
                </a:path>
              </a:pathLst>
            </a:custGeom>
            <a:blipFill>
              <a:blip r:embed="rId6">
                <a:alphaModFix amt="0"/>
              </a:blip>
              <a:stretch>
                <a:fillRect l="0" t="-48822" r="0" b="-48822"/>
              </a:stretch>
            </a:blipFill>
          </p:spPr>
          <p:txBody>
            <a:bodyPr/>
            <a:p/>
          </p:txBody>
        </p:sp>
        <p:sp>
          <p:nvSpPr>
            <p:cNvPr name="TextBox 100" id="100"/>
            <p:cNvSpPr txBox="true"/>
            <p:nvPr/>
          </p:nvSpPr>
          <p:spPr>
            <a:xfrm>
              <a:off x="0" y="-47625"/>
              <a:ext cx="5120640" cy="1057275"/>
            </a:xfrm>
            <a:prstGeom prst="rect">
              <a:avLst/>
            </a:prstGeom>
          </p:spPr>
          <p:txBody>
            <a:bodyPr anchor="ctr" rtlCol="false" tIns="0" lIns="0" bIns="0" rIns="0"/>
            <a:lstStyle/>
            <a:p>
              <a:pPr algn="l">
                <a:lnSpc>
                  <a:spcPts val="3060"/>
                </a:lnSpc>
              </a:pPr>
              <a:r>
                <a:rPr lang="en-US" sz="2550" b="true">
                  <a:solidFill>
                    <a:srgbClr val="0B5E6E"/>
                  </a:solidFill>
                  <a:latin typeface="Calibri (MS) Bold"/>
                  <a:ea typeface="Calibri (MS) Bold"/>
                  <a:cs typeface="Calibri (MS) Bold"/>
                  <a:sym typeface="Calibri (MS) Bold"/>
                </a:rPr>
                <a:t>Dasar kebijakan</a:t>
              </a:r>
            </a:p>
          </p:txBody>
        </p:sp>
      </p:grpSp>
      <p:sp>
        <p:nvSpPr>
          <p:cNvPr name="TextBox 101" id="101"/>
          <p:cNvSpPr txBox="true"/>
          <p:nvPr/>
        </p:nvSpPr>
        <p:spPr>
          <a:xfrm rot="0">
            <a:off x="6809994" y="3560445"/>
            <a:ext cx="4732020" cy="2680335"/>
          </a:xfrm>
          <a:prstGeom prst="rect">
            <a:avLst/>
          </a:prstGeom>
        </p:spPr>
        <p:txBody>
          <a:bodyPr anchor="t" rtlCol="false" tIns="0" lIns="0" bIns="0" rIns="0">
            <a:spAutoFit/>
          </a:bodyPr>
          <a:lstStyle/>
          <a:p>
            <a:pPr algn="l">
              <a:lnSpc>
                <a:spcPts val="2610"/>
              </a:lnSpc>
            </a:pPr>
            <a:r>
              <a:rPr lang="en-US" sz="2175">
                <a:solidFill>
                  <a:srgbClr val="14313B"/>
                </a:solidFill>
                <a:latin typeface="Calibri (MS)"/>
                <a:ea typeface="Calibri (MS)"/>
                <a:cs typeface="Calibri (MS)"/>
                <a:sym typeface="Calibri (MS)"/>
              </a:rPr>
              <a:t>Ada peraturan atau dokumen perencanaan yang menjadikannya sasaran: Perda DIY 1/2012 (pembukaan lahan baru bagi investor) dan Perda DIY 6/2021 (larangan alih fungsi lahan pangan).</a:t>
            </a:r>
          </a:p>
        </p:txBody>
      </p:sp>
      <p:sp>
        <p:nvSpPr>
          <p:cNvPr name="Freeform 102" id="102"/>
          <p:cNvSpPr/>
          <p:nvPr/>
        </p:nvSpPr>
        <p:spPr>
          <a:xfrm flipH="false" flipV="false" rot="0">
            <a:off x="12094559" y="2383631"/>
            <a:ext cx="5382578" cy="3942397"/>
          </a:xfrm>
          <a:custGeom>
            <a:avLst/>
            <a:gdLst/>
            <a:ahLst/>
            <a:cxnLst/>
            <a:rect r="r" b="b" t="t" l="l"/>
            <a:pathLst>
              <a:path h="3942397" w="5382578">
                <a:moveTo>
                  <a:pt x="0" y="0"/>
                </a:moveTo>
                <a:lnTo>
                  <a:pt x="5382578" y="0"/>
                </a:lnTo>
                <a:lnTo>
                  <a:pt x="5382578" y="3942398"/>
                </a:lnTo>
                <a:lnTo>
                  <a:pt x="0" y="3942398"/>
                </a:lnTo>
                <a:lnTo>
                  <a:pt x="0" y="0"/>
                </a:lnTo>
                <a:close/>
              </a:path>
            </a:pathLst>
          </a:custGeom>
          <a:blipFill>
            <a:blip r:embed="rId7">
              <a:extLst>
                <a:ext uri="{96DAC541-7B7A-43D3-8B79-37D633B846F1}">
                  <asvg:svgBlip xmlns:asvg="http://schemas.microsoft.com/office/drawing/2016/SVG/main" r:embed="rId8"/>
                </a:ext>
              </a:extLst>
            </a:blip>
            <a:stretch>
              <a:fillRect l="-67" t="0" r="-67" b="0"/>
            </a:stretch>
          </a:blipFill>
        </p:spPr>
        <p:txBody>
          <a:bodyPr/>
          <a:p/>
        </p:txBody>
      </p:sp>
      <p:grpSp>
        <p:nvGrpSpPr>
          <p:cNvPr name="Group 103" id="103"/>
          <p:cNvGrpSpPr/>
          <p:nvPr/>
        </p:nvGrpSpPr>
        <p:grpSpPr>
          <a:xfrm rot="0">
            <a:off x="12454128" y="2715768"/>
            <a:ext cx="685800" cy="685800"/>
            <a:chOff x="0" y="0"/>
            <a:chExt cx="914400" cy="914400"/>
          </a:xfrm>
        </p:grpSpPr>
        <p:sp>
          <p:nvSpPr>
            <p:cNvPr name="Freeform 104" id="104"/>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105" id="105"/>
          <p:cNvGrpSpPr/>
          <p:nvPr/>
        </p:nvGrpSpPr>
        <p:grpSpPr>
          <a:xfrm rot="0">
            <a:off x="12454128" y="2715768"/>
            <a:ext cx="685800" cy="685800"/>
            <a:chOff x="0" y="0"/>
            <a:chExt cx="914400" cy="914400"/>
          </a:xfrm>
        </p:grpSpPr>
        <p:sp>
          <p:nvSpPr>
            <p:cNvPr name="Freeform 106" id="106"/>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txBody>
            <a:bodyPr/>
            <a:p/>
          </p:txBody>
        </p:sp>
      </p:grpSp>
      <p:grpSp>
        <p:nvGrpSpPr>
          <p:cNvPr name="Group 107" id="107"/>
          <p:cNvGrpSpPr/>
          <p:nvPr/>
        </p:nvGrpSpPr>
        <p:grpSpPr>
          <a:xfrm rot="0">
            <a:off x="12454128" y="2687193"/>
            <a:ext cx="685800" cy="714375"/>
            <a:chOff x="0" y="0"/>
            <a:chExt cx="914400" cy="952500"/>
          </a:xfrm>
        </p:grpSpPr>
        <p:sp>
          <p:nvSpPr>
            <p:cNvPr name="Freeform 108" id="108"/>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743" t="0" r="-83741" b="0"/>
              </a:stretch>
            </a:blipFill>
          </p:spPr>
          <p:txBody>
            <a:bodyPr/>
            <a:p/>
          </p:txBody>
        </p:sp>
      </p:grpSp>
      <p:grpSp>
        <p:nvGrpSpPr>
          <p:cNvPr name="Group 109" id="109"/>
          <p:cNvGrpSpPr/>
          <p:nvPr/>
        </p:nvGrpSpPr>
        <p:grpSpPr>
          <a:xfrm rot="0">
            <a:off x="12454128" y="2658618"/>
            <a:ext cx="685800" cy="742950"/>
            <a:chOff x="0" y="0"/>
            <a:chExt cx="914400" cy="990600"/>
          </a:xfrm>
        </p:grpSpPr>
        <p:sp>
          <p:nvSpPr>
            <p:cNvPr name="Freeform 110" id="110"/>
            <p:cNvSpPr/>
            <p:nvPr/>
          </p:nvSpPr>
          <p:spPr>
            <a:xfrm flipH="false" flipV="false" rot="0">
              <a:off x="0" y="0"/>
              <a:ext cx="914400" cy="990600"/>
            </a:xfrm>
            <a:custGeom>
              <a:avLst/>
              <a:gdLst/>
              <a:ahLst/>
              <a:cxnLst/>
              <a:rect r="r" b="b" t="t" l="l"/>
              <a:pathLst>
                <a:path h="990600" w="914400">
                  <a:moveTo>
                    <a:pt x="0" y="0"/>
                  </a:moveTo>
                  <a:lnTo>
                    <a:pt x="914400" y="0"/>
                  </a:lnTo>
                  <a:lnTo>
                    <a:pt x="914400" y="990600"/>
                  </a:lnTo>
                  <a:lnTo>
                    <a:pt x="0" y="990600"/>
                  </a:lnTo>
                  <a:close/>
                </a:path>
              </a:pathLst>
            </a:custGeom>
            <a:blipFill>
              <a:blip r:embed="rId6">
                <a:alphaModFix amt="0"/>
              </a:blip>
              <a:stretch>
                <a:fillRect l="-88995" t="0" r="-88995" b="0"/>
              </a:stretch>
            </a:blipFill>
          </p:spPr>
          <p:txBody>
            <a:bodyPr/>
            <a:p/>
          </p:txBody>
        </p:sp>
        <p:sp>
          <p:nvSpPr>
            <p:cNvPr name="TextBox 111" id="111"/>
            <p:cNvSpPr txBox="true"/>
            <p:nvPr/>
          </p:nvSpPr>
          <p:spPr>
            <a:xfrm>
              <a:off x="0" y="-38100"/>
              <a:ext cx="914400" cy="10287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3</a:t>
              </a:r>
            </a:p>
          </p:txBody>
        </p:sp>
      </p:grpSp>
      <p:grpSp>
        <p:nvGrpSpPr>
          <p:cNvPr name="Group 112" id="112"/>
          <p:cNvGrpSpPr/>
          <p:nvPr/>
        </p:nvGrpSpPr>
        <p:grpSpPr>
          <a:xfrm rot="0">
            <a:off x="13414248" y="2715768"/>
            <a:ext cx="3840480" cy="685800"/>
            <a:chOff x="0" y="0"/>
            <a:chExt cx="5120640" cy="914400"/>
          </a:xfrm>
        </p:grpSpPr>
        <p:sp>
          <p:nvSpPr>
            <p:cNvPr name="Freeform 113" id="113"/>
            <p:cNvSpPr/>
            <p:nvPr/>
          </p:nvSpPr>
          <p:spPr>
            <a:xfrm flipH="false" flipV="false" rot="0">
              <a:off x="0" y="0"/>
              <a:ext cx="5120640" cy="914400"/>
            </a:xfrm>
            <a:custGeom>
              <a:avLst/>
              <a:gdLst/>
              <a:ahLst/>
              <a:cxnLst/>
              <a:rect r="r" b="b" t="t" l="l"/>
              <a:pathLst>
                <a:path h="914400" w="5120640">
                  <a:moveTo>
                    <a:pt x="0" y="0"/>
                  </a:moveTo>
                  <a:lnTo>
                    <a:pt x="5120640" y="0"/>
                  </a:lnTo>
                  <a:lnTo>
                    <a:pt x="5120640" y="914400"/>
                  </a:lnTo>
                  <a:lnTo>
                    <a:pt x="0" y="914400"/>
                  </a:lnTo>
                  <a:close/>
                </a:path>
              </a:pathLst>
            </a:custGeom>
            <a:blipFill>
              <a:blip r:embed="rId4">
                <a:alphaModFix amt="0"/>
              </a:blip>
              <a:stretch>
                <a:fillRect l="0" t="-59040" r="0" b="-59040"/>
              </a:stretch>
            </a:blipFill>
          </p:spPr>
          <p:txBody>
            <a:bodyPr/>
            <a:p/>
          </p:txBody>
        </p:sp>
      </p:grpSp>
      <p:grpSp>
        <p:nvGrpSpPr>
          <p:cNvPr name="Group 114" id="114"/>
          <p:cNvGrpSpPr/>
          <p:nvPr/>
        </p:nvGrpSpPr>
        <p:grpSpPr>
          <a:xfrm rot="0">
            <a:off x="13414248" y="2680049"/>
            <a:ext cx="3840480" cy="721519"/>
            <a:chOff x="0" y="0"/>
            <a:chExt cx="5120640" cy="962025"/>
          </a:xfrm>
        </p:grpSpPr>
        <p:sp>
          <p:nvSpPr>
            <p:cNvPr name="Freeform 115" id="115"/>
            <p:cNvSpPr/>
            <p:nvPr/>
          </p:nvSpPr>
          <p:spPr>
            <a:xfrm flipH="false" flipV="false" rot="0">
              <a:off x="0" y="0"/>
              <a:ext cx="5120640" cy="962025"/>
            </a:xfrm>
            <a:custGeom>
              <a:avLst/>
              <a:gdLst/>
              <a:ahLst/>
              <a:cxnLst/>
              <a:rect r="r" b="b" t="t" l="l"/>
              <a:pathLst>
                <a:path h="962025" w="5120640">
                  <a:moveTo>
                    <a:pt x="0" y="0"/>
                  </a:moveTo>
                  <a:lnTo>
                    <a:pt x="5120640" y="0"/>
                  </a:lnTo>
                  <a:lnTo>
                    <a:pt x="5120640" y="962025"/>
                  </a:lnTo>
                  <a:lnTo>
                    <a:pt x="0" y="962025"/>
                  </a:lnTo>
                  <a:close/>
                </a:path>
              </a:pathLst>
            </a:custGeom>
            <a:blipFill>
              <a:blip r:embed="rId5">
                <a:alphaModFix amt="0"/>
              </a:blip>
              <a:stretch>
                <a:fillRect l="0" t="-53642" r="0" b="-53642"/>
              </a:stretch>
            </a:blipFill>
          </p:spPr>
          <p:txBody>
            <a:bodyPr/>
            <a:p/>
          </p:txBody>
        </p:sp>
      </p:grpSp>
      <p:grpSp>
        <p:nvGrpSpPr>
          <p:cNvPr name="Group 116" id="116"/>
          <p:cNvGrpSpPr/>
          <p:nvPr/>
        </p:nvGrpSpPr>
        <p:grpSpPr>
          <a:xfrm rot="0">
            <a:off x="13414248" y="2644330"/>
            <a:ext cx="3840480" cy="757238"/>
            <a:chOff x="0" y="0"/>
            <a:chExt cx="5120640" cy="1009650"/>
          </a:xfrm>
        </p:grpSpPr>
        <p:sp>
          <p:nvSpPr>
            <p:cNvPr name="Freeform 117" id="117"/>
            <p:cNvSpPr/>
            <p:nvPr/>
          </p:nvSpPr>
          <p:spPr>
            <a:xfrm flipH="false" flipV="false" rot="0">
              <a:off x="0" y="0"/>
              <a:ext cx="5120640" cy="1009650"/>
            </a:xfrm>
            <a:custGeom>
              <a:avLst/>
              <a:gdLst/>
              <a:ahLst/>
              <a:cxnLst/>
              <a:rect r="r" b="b" t="t" l="l"/>
              <a:pathLst>
                <a:path h="1009650" w="5120640">
                  <a:moveTo>
                    <a:pt x="0" y="0"/>
                  </a:moveTo>
                  <a:lnTo>
                    <a:pt x="5120640" y="0"/>
                  </a:lnTo>
                  <a:lnTo>
                    <a:pt x="5120640" y="1009650"/>
                  </a:lnTo>
                  <a:lnTo>
                    <a:pt x="0" y="1009650"/>
                  </a:lnTo>
                  <a:close/>
                </a:path>
              </a:pathLst>
            </a:custGeom>
            <a:blipFill>
              <a:blip r:embed="rId6">
                <a:alphaModFix amt="0"/>
              </a:blip>
              <a:stretch>
                <a:fillRect l="0" t="-48822" r="0" b="-48822"/>
              </a:stretch>
            </a:blipFill>
          </p:spPr>
          <p:txBody>
            <a:bodyPr/>
            <a:p/>
          </p:txBody>
        </p:sp>
        <p:sp>
          <p:nvSpPr>
            <p:cNvPr name="TextBox 118" id="118"/>
            <p:cNvSpPr txBox="true"/>
            <p:nvPr/>
          </p:nvSpPr>
          <p:spPr>
            <a:xfrm>
              <a:off x="0" y="-47625"/>
              <a:ext cx="5120640" cy="1057275"/>
            </a:xfrm>
            <a:prstGeom prst="rect">
              <a:avLst/>
            </a:prstGeom>
          </p:spPr>
          <p:txBody>
            <a:bodyPr anchor="ctr" rtlCol="false" tIns="0" lIns="0" bIns="0" rIns="0"/>
            <a:lstStyle/>
            <a:p>
              <a:pPr algn="l">
                <a:lnSpc>
                  <a:spcPts val="3060"/>
                </a:lnSpc>
              </a:pPr>
              <a:r>
                <a:rPr lang="en-US" sz="2550" b="true">
                  <a:solidFill>
                    <a:srgbClr val="0B5E6E"/>
                  </a:solidFill>
                  <a:latin typeface="Calibri (MS) Bold"/>
                  <a:ea typeface="Calibri (MS) Bold"/>
                  <a:cs typeface="Calibri (MS) Bold"/>
                  <a:sym typeface="Calibri (MS) Bold"/>
                </a:rPr>
                <a:t>Dapat dikendalikan pemerintah</a:t>
              </a:r>
            </a:p>
          </p:txBody>
        </p:sp>
      </p:grpSp>
      <p:sp>
        <p:nvSpPr>
          <p:cNvPr name="TextBox 119" id="119"/>
          <p:cNvSpPr txBox="true"/>
          <p:nvPr/>
        </p:nvSpPr>
        <p:spPr>
          <a:xfrm rot="0">
            <a:off x="12454128" y="3560445"/>
            <a:ext cx="4732020" cy="2680335"/>
          </a:xfrm>
          <a:prstGeom prst="rect">
            <a:avLst/>
          </a:prstGeom>
        </p:spPr>
        <p:txBody>
          <a:bodyPr anchor="t" rtlCol="false" tIns="0" lIns="0" bIns="0" rIns="0">
            <a:spAutoFit/>
          </a:bodyPr>
          <a:lstStyle/>
          <a:p>
            <a:pPr algn="l">
              <a:lnSpc>
                <a:spcPts val="2610"/>
              </a:lnSpc>
            </a:pPr>
            <a:r>
              <a:rPr lang="en-US" sz="2175">
                <a:solidFill>
                  <a:srgbClr val="14313B"/>
                </a:solidFill>
                <a:latin typeface="Calibri (MS)"/>
                <a:ea typeface="Calibri (MS)"/>
                <a:cs typeface="Calibri (MS)"/>
                <a:sym typeface="Calibri (MS)"/>
              </a:rPr>
              <a:t>Pemerintah memiliki instrumen: kemudahan perizinan dan insentif fiskal; zonasi dan moratorium izin.</a:t>
            </a:r>
          </a:p>
        </p:txBody>
      </p:sp>
      <p:grpSp>
        <p:nvGrpSpPr>
          <p:cNvPr name="Group 120" id="120"/>
          <p:cNvGrpSpPr/>
          <p:nvPr/>
        </p:nvGrpSpPr>
        <p:grpSpPr>
          <a:xfrm rot="0">
            <a:off x="822960" y="6789420"/>
            <a:ext cx="9875520" cy="2331720"/>
            <a:chOff x="0" y="0"/>
            <a:chExt cx="13167360" cy="3108960"/>
          </a:xfrm>
        </p:grpSpPr>
        <p:sp>
          <p:nvSpPr>
            <p:cNvPr name="Freeform 121" id="121"/>
            <p:cNvSpPr/>
            <p:nvPr/>
          </p:nvSpPr>
          <p:spPr>
            <a:xfrm flipH="false" flipV="false" rot="0">
              <a:off x="0" y="0"/>
              <a:ext cx="13167361" cy="3108960"/>
            </a:xfrm>
            <a:custGeom>
              <a:avLst/>
              <a:gdLst/>
              <a:ahLst/>
              <a:cxnLst/>
              <a:rect r="r" b="b" t="t" l="l"/>
              <a:pathLst>
                <a:path h="3108960" w="13167361">
                  <a:moveTo>
                    <a:pt x="0" y="182880"/>
                  </a:moveTo>
                  <a:cubicBezTo>
                    <a:pt x="0" y="81915"/>
                    <a:pt x="81915" y="0"/>
                    <a:pt x="182880" y="0"/>
                  </a:cubicBezTo>
                  <a:lnTo>
                    <a:pt x="12984480" y="0"/>
                  </a:lnTo>
                  <a:cubicBezTo>
                    <a:pt x="13085445" y="0"/>
                    <a:pt x="13167361" y="81915"/>
                    <a:pt x="13167361" y="182880"/>
                  </a:cubicBezTo>
                  <a:lnTo>
                    <a:pt x="13167361" y="2926080"/>
                  </a:lnTo>
                  <a:cubicBezTo>
                    <a:pt x="13167361" y="3027045"/>
                    <a:pt x="13085445" y="3108960"/>
                    <a:pt x="12984480" y="3108960"/>
                  </a:cubicBezTo>
                  <a:lnTo>
                    <a:pt x="182880" y="3108960"/>
                  </a:lnTo>
                  <a:cubicBezTo>
                    <a:pt x="81915" y="3108960"/>
                    <a:pt x="0" y="3027045"/>
                    <a:pt x="0" y="2926080"/>
                  </a:cubicBezTo>
                  <a:close/>
                </a:path>
              </a:pathLst>
            </a:custGeom>
            <a:solidFill>
              <a:srgbClr val="0B5E6E"/>
            </a:solidFill>
          </p:spPr>
          <p:txBody>
            <a:bodyPr/>
            <a:p/>
          </p:txBody>
        </p:sp>
      </p:grpSp>
      <p:sp>
        <p:nvSpPr>
          <p:cNvPr name="TextBox 122" id="122"/>
          <p:cNvSpPr txBox="true"/>
          <p:nvPr/>
        </p:nvSpPr>
        <p:spPr>
          <a:xfrm rot="0">
            <a:off x="1234440" y="6823710"/>
            <a:ext cx="9052560" cy="720090"/>
          </a:xfrm>
          <a:prstGeom prst="rect">
            <a:avLst/>
          </a:prstGeom>
        </p:spPr>
        <p:txBody>
          <a:bodyPr anchor="t" rtlCol="false" tIns="0" lIns="0" bIns="0" rIns="0">
            <a:spAutoFit/>
          </a:bodyPr>
          <a:lstStyle/>
          <a:p>
            <a:pPr algn="l">
              <a:lnSpc>
                <a:spcPts val="2700"/>
              </a:lnSpc>
            </a:pPr>
            <a:r>
              <a:rPr lang="en-US" sz="2250" b="true">
                <a:solidFill>
                  <a:srgbClr val="FFD23B"/>
                </a:solidFill>
                <a:latin typeface="Calibri (MS) Bold"/>
                <a:ea typeface="Calibri (MS) Bold"/>
                <a:cs typeface="Calibri (MS) Bold"/>
                <a:sym typeface="Calibri (MS) Bold"/>
              </a:rPr>
              <a:t>Memenuhi ketiganya → dua variabel kebijakan</a:t>
            </a:r>
          </a:p>
        </p:txBody>
      </p:sp>
      <p:sp>
        <p:nvSpPr>
          <p:cNvPr name="TextBox 123" id="123"/>
          <p:cNvSpPr txBox="true"/>
          <p:nvPr/>
        </p:nvSpPr>
        <p:spPr>
          <a:xfrm rot="0">
            <a:off x="1234440" y="7469505"/>
            <a:ext cx="9052560" cy="1377315"/>
          </a:xfrm>
          <a:prstGeom prst="rect">
            <a:avLst/>
          </a:prstGeom>
        </p:spPr>
        <p:txBody>
          <a:bodyPr anchor="t" rtlCol="false" tIns="0" lIns="0" bIns="0" rIns="0">
            <a:spAutoFit/>
          </a:bodyPr>
          <a:lstStyle/>
          <a:p>
            <a:pPr algn="l">
              <a:lnSpc>
                <a:spcPts val="2790"/>
              </a:lnSpc>
            </a:pPr>
            <a:r>
              <a:rPr lang="en-US" sz="2325" b="true">
                <a:solidFill>
                  <a:srgbClr val="FFFFFF"/>
                </a:solidFill>
                <a:latin typeface="Calibri (MS) Bold"/>
                <a:ea typeface="Calibri (MS) Bold"/>
                <a:cs typeface="Calibri (MS) Bold"/>
                <a:sym typeface="Calibri (MS) Bold"/>
              </a:rPr>
              <a:t>Insentif Kebijakan (dasar: Perda 1/2012) · Kebijakan Konservasi Lahan (dasar: Perda 6/2021)</a:t>
            </a:r>
          </a:p>
        </p:txBody>
      </p:sp>
      <p:grpSp>
        <p:nvGrpSpPr>
          <p:cNvPr name="Group 124" id="124"/>
          <p:cNvGrpSpPr/>
          <p:nvPr/>
        </p:nvGrpSpPr>
        <p:grpSpPr>
          <a:xfrm rot="0">
            <a:off x="10972800" y="6789420"/>
            <a:ext cx="6487668" cy="2331720"/>
            <a:chOff x="0" y="0"/>
            <a:chExt cx="8650224" cy="3108960"/>
          </a:xfrm>
        </p:grpSpPr>
        <p:sp>
          <p:nvSpPr>
            <p:cNvPr name="Freeform 125" id="125"/>
            <p:cNvSpPr/>
            <p:nvPr/>
          </p:nvSpPr>
          <p:spPr>
            <a:xfrm flipH="false" flipV="false" rot="0">
              <a:off x="0" y="0"/>
              <a:ext cx="8650224" cy="3108960"/>
            </a:xfrm>
            <a:custGeom>
              <a:avLst/>
              <a:gdLst/>
              <a:ahLst/>
              <a:cxnLst/>
              <a:rect r="r" b="b" t="t" l="l"/>
              <a:pathLst>
                <a:path h="3108960" w="8650224">
                  <a:moveTo>
                    <a:pt x="0" y="182880"/>
                  </a:moveTo>
                  <a:cubicBezTo>
                    <a:pt x="0" y="81915"/>
                    <a:pt x="81915" y="0"/>
                    <a:pt x="182880" y="0"/>
                  </a:cubicBezTo>
                  <a:lnTo>
                    <a:pt x="8467344" y="0"/>
                  </a:lnTo>
                  <a:cubicBezTo>
                    <a:pt x="8568309" y="0"/>
                    <a:pt x="8650224" y="81915"/>
                    <a:pt x="8650224" y="182880"/>
                  </a:cubicBezTo>
                  <a:lnTo>
                    <a:pt x="8650224" y="2926080"/>
                  </a:lnTo>
                  <a:cubicBezTo>
                    <a:pt x="8650224" y="3027045"/>
                    <a:pt x="8568309" y="3108960"/>
                    <a:pt x="8467344" y="3108960"/>
                  </a:cubicBezTo>
                  <a:lnTo>
                    <a:pt x="182880" y="3108960"/>
                  </a:lnTo>
                  <a:cubicBezTo>
                    <a:pt x="81915" y="3108960"/>
                    <a:pt x="0" y="3027045"/>
                    <a:pt x="0" y="2926080"/>
                  </a:cubicBezTo>
                  <a:close/>
                </a:path>
              </a:pathLst>
            </a:custGeom>
            <a:solidFill>
              <a:srgbClr val="FFF1BF"/>
            </a:solidFill>
          </p:spPr>
          <p:txBody>
            <a:bodyPr/>
            <a:p/>
          </p:txBody>
        </p:sp>
      </p:grpSp>
      <p:sp>
        <p:nvSpPr>
          <p:cNvPr name="TextBox 126" id="126"/>
          <p:cNvSpPr txBox="true"/>
          <p:nvPr/>
        </p:nvSpPr>
        <p:spPr>
          <a:xfrm rot="0">
            <a:off x="11315700" y="6824853"/>
            <a:ext cx="5897880" cy="554355"/>
          </a:xfrm>
          <a:prstGeom prst="rect">
            <a:avLst/>
          </a:prstGeom>
        </p:spPr>
        <p:txBody>
          <a:bodyPr anchor="t" rtlCol="false" tIns="0" lIns="0" bIns="0" rIns="0">
            <a:spAutoFit/>
          </a:bodyPr>
          <a:lstStyle/>
          <a:p>
            <a:pPr algn="l">
              <a:lnSpc>
                <a:spcPts val="2340"/>
              </a:lnSpc>
            </a:pPr>
            <a:r>
              <a:rPr lang="en-US" sz="1950" b="true">
                <a:solidFill>
                  <a:srgbClr val="5E6E78"/>
                </a:solidFill>
                <a:latin typeface="Calibri (MS) Bold"/>
                <a:ea typeface="Calibri (MS) Bold"/>
                <a:cs typeface="Calibri (MS) Bold"/>
                <a:sym typeface="Calibri (MS) Bold"/>
              </a:rPr>
              <a:t>Tidak dijadikan variabel kebijakan</a:t>
            </a:r>
          </a:p>
        </p:txBody>
      </p:sp>
      <p:sp>
        <p:nvSpPr>
          <p:cNvPr name="TextBox 127" id="127"/>
          <p:cNvSpPr txBox="true"/>
          <p:nvPr/>
        </p:nvSpPr>
        <p:spPr>
          <a:xfrm rot="0">
            <a:off x="11315700" y="7292340"/>
            <a:ext cx="5897880" cy="176022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Parameter yang berpengaruh tetapi tidak bisa dikendalikan pemerintah (perilaku wisatawan, bobot indeks) diuji sebagai ketidakpastian. Pembangunan ODTW oleh pemerintah: data sumber pembiayaannya tidak tersedia.</a:t>
            </a:r>
          </a:p>
        </p:txBody>
      </p:sp>
      <p:sp>
        <p:nvSpPr>
          <p:cNvPr name="TextBox 128" id="128"/>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55</a:t>
            </a:r>
          </a:p>
        </p:txBody>
      </p:sp>
      <p:grpSp>
        <p:nvGrpSpPr>
          <p:cNvPr name="Group 129" id="129"/>
          <p:cNvGrpSpPr/>
          <p:nvPr/>
        </p:nvGrpSpPr>
        <p:grpSpPr>
          <a:xfrm rot="0">
            <a:off x="12755880" y="274320"/>
            <a:ext cx="3931920" cy="411480"/>
            <a:chOff x="0" y="0"/>
            <a:chExt cx="5242560" cy="548640"/>
          </a:xfrm>
        </p:grpSpPr>
        <p:sp>
          <p:nvSpPr>
            <p:cNvPr name="Freeform 130" id="130"/>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31" id="131"/>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2G · Skenario kebijakan</a:t>
              </a:r>
            </a:p>
          </p:txBody>
        </p:sp>
      </p:grpSp>
      <p:grpSp>
        <p:nvGrpSpPr>
          <p:cNvPr name="Group 132" id="132"/>
          <p:cNvGrpSpPr/>
          <p:nvPr/>
        </p:nvGrpSpPr>
        <p:grpSpPr>
          <a:xfrm rot="0">
            <a:off x="16047720" y="9646920"/>
            <a:ext cx="420624" cy="420624"/>
            <a:chOff x="0" y="0"/>
            <a:chExt cx="560832" cy="560832"/>
          </a:xfrm>
        </p:grpSpPr>
        <p:sp>
          <p:nvSpPr>
            <p:cNvPr name="Freeform 133" id="133"/>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34" id="134"/>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5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Rancangan Skenario dan Indikator Kinerja</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Tiga skenario dari kombinasi dua variabel kebijakan</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pSp>
        <p:nvGrpSpPr>
          <p:cNvPr name="Group 66" id="66"/>
          <p:cNvGrpSpPr/>
          <p:nvPr/>
        </p:nvGrpSpPr>
        <p:grpSpPr>
          <a:xfrm rot="0">
            <a:off x="822960" y="2331720"/>
            <a:ext cx="16637508" cy="1028700"/>
            <a:chOff x="0" y="0"/>
            <a:chExt cx="22183344" cy="1371600"/>
          </a:xfrm>
        </p:grpSpPr>
        <p:sp>
          <p:nvSpPr>
            <p:cNvPr name="Freeform 67" id="67"/>
            <p:cNvSpPr/>
            <p:nvPr/>
          </p:nvSpPr>
          <p:spPr>
            <a:xfrm flipH="false" flipV="false" rot="0">
              <a:off x="0" y="0"/>
              <a:ext cx="22183344" cy="1371600"/>
            </a:xfrm>
            <a:custGeom>
              <a:avLst/>
              <a:gdLst/>
              <a:ahLst/>
              <a:cxnLst/>
              <a:rect r="r" b="b" t="t" l="l"/>
              <a:pathLst>
                <a:path h="1371600" w="22183344">
                  <a:moveTo>
                    <a:pt x="0" y="182880"/>
                  </a:moveTo>
                  <a:cubicBezTo>
                    <a:pt x="0" y="81915"/>
                    <a:pt x="81915" y="0"/>
                    <a:pt x="182880" y="0"/>
                  </a:cubicBezTo>
                  <a:lnTo>
                    <a:pt x="22000463" y="0"/>
                  </a:lnTo>
                  <a:cubicBezTo>
                    <a:pt x="22101428" y="0"/>
                    <a:pt x="22183344" y="81915"/>
                    <a:pt x="22183344" y="182880"/>
                  </a:cubicBezTo>
                  <a:lnTo>
                    <a:pt x="22183344" y="1188720"/>
                  </a:lnTo>
                  <a:cubicBezTo>
                    <a:pt x="22183344" y="1289685"/>
                    <a:pt x="22101428" y="1371600"/>
                    <a:pt x="22000463" y="1371600"/>
                  </a:cubicBezTo>
                  <a:lnTo>
                    <a:pt x="182880" y="1371600"/>
                  </a:lnTo>
                  <a:cubicBezTo>
                    <a:pt x="81915" y="1371600"/>
                    <a:pt x="0" y="1289685"/>
                    <a:pt x="0" y="1188720"/>
                  </a:cubicBezTo>
                  <a:close/>
                </a:path>
              </a:pathLst>
            </a:custGeom>
            <a:solidFill>
              <a:srgbClr val="FFF1BF"/>
            </a:solidFill>
          </p:spPr>
          <p:txBody>
            <a:bodyPr/>
            <a:p/>
          </p:txBody>
        </p:sp>
      </p:grpSp>
      <p:grpSp>
        <p:nvGrpSpPr>
          <p:cNvPr name="Group 68" id="68"/>
          <p:cNvGrpSpPr/>
          <p:nvPr/>
        </p:nvGrpSpPr>
        <p:grpSpPr>
          <a:xfrm rot="0">
            <a:off x="1234440" y="2331720"/>
            <a:ext cx="15814548" cy="1028700"/>
            <a:chOff x="0" y="0"/>
            <a:chExt cx="21086064" cy="1371600"/>
          </a:xfrm>
        </p:grpSpPr>
        <p:sp>
          <p:nvSpPr>
            <p:cNvPr name="Freeform 69" id="69"/>
            <p:cNvSpPr/>
            <p:nvPr/>
          </p:nvSpPr>
          <p:spPr>
            <a:xfrm flipH="false" flipV="false" rot="0">
              <a:off x="0" y="0"/>
              <a:ext cx="21086063" cy="1371600"/>
            </a:xfrm>
            <a:custGeom>
              <a:avLst/>
              <a:gdLst/>
              <a:ahLst/>
              <a:cxnLst/>
              <a:rect r="r" b="b" t="t" l="l"/>
              <a:pathLst>
                <a:path h="1371600" w="21086063">
                  <a:moveTo>
                    <a:pt x="0" y="0"/>
                  </a:moveTo>
                  <a:lnTo>
                    <a:pt x="21086063" y="0"/>
                  </a:lnTo>
                  <a:lnTo>
                    <a:pt x="21086063" y="1371600"/>
                  </a:lnTo>
                  <a:lnTo>
                    <a:pt x="0" y="1371600"/>
                  </a:lnTo>
                  <a:close/>
                </a:path>
              </a:pathLst>
            </a:custGeom>
            <a:blipFill>
              <a:blip r:embed="rId4">
                <a:alphaModFix amt="0"/>
              </a:blip>
              <a:stretch>
                <a:fillRect l="0" t="-249341" r="0" b="-249341"/>
              </a:stretch>
            </a:blipFill>
          </p:spPr>
          <p:txBody>
            <a:bodyPr/>
            <a:p/>
          </p:txBody>
        </p:sp>
      </p:grpSp>
      <p:grpSp>
        <p:nvGrpSpPr>
          <p:cNvPr name="Group 70" id="70"/>
          <p:cNvGrpSpPr/>
          <p:nvPr/>
        </p:nvGrpSpPr>
        <p:grpSpPr>
          <a:xfrm rot="0">
            <a:off x="1234440" y="2296001"/>
            <a:ext cx="15814548" cy="1064419"/>
            <a:chOff x="0" y="0"/>
            <a:chExt cx="21086064" cy="1419225"/>
          </a:xfrm>
        </p:grpSpPr>
        <p:sp>
          <p:nvSpPr>
            <p:cNvPr name="Freeform 71" id="71"/>
            <p:cNvSpPr/>
            <p:nvPr/>
          </p:nvSpPr>
          <p:spPr>
            <a:xfrm flipH="false" flipV="false" rot="0">
              <a:off x="0" y="0"/>
              <a:ext cx="21086063" cy="1419225"/>
            </a:xfrm>
            <a:custGeom>
              <a:avLst/>
              <a:gdLst/>
              <a:ahLst/>
              <a:cxnLst/>
              <a:rect r="r" b="b" t="t" l="l"/>
              <a:pathLst>
                <a:path h="1419225" w="21086063">
                  <a:moveTo>
                    <a:pt x="0" y="0"/>
                  </a:moveTo>
                  <a:lnTo>
                    <a:pt x="21086063" y="0"/>
                  </a:lnTo>
                  <a:lnTo>
                    <a:pt x="21086063" y="1419225"/>
                  </a:lnTo>
                  <a:lnTo>
                    <a:pt x="0" y="1419225"/>
                  </a:lnTo>
                  <a:close/>
                </a:path>
              </a:pathLst>
            </a:custGeom>
            <a:blipFill>
              <a:blip r:embed="rId5">
                <a:alphaModFix amt="0"/>
              </a:blip>
              <a:stretch>
                <a:fillRect l="0" t="-239296" r="0" b="-239296"/>
              </a:stretch>
            </a:blipFill>
          </p:spPr>
          <p:txBody>
            <a:bodyPr/>
            <a:p/>
          </p:txBody>
        </p:sp>
      </p:grpSp>
      <p:grpSp>
        <p:nvGrpSpPr>
          <p:cNvPr name="Group 72" id="72"/>
          <p:cNvGrpSpPr/>
          <p:nvPr/>
        </p:nvGrpSpPr>
        <p:grpSpPr>
          <a:xfrm rot="0">
            <a:off x="1234440" y="2260283"/>
            <a:ext cx="15814548" cy="1100138"/>
            <a:chOff x="0" y="0"/>
            <a:chExt cx="21086064" cy="1466850"/>
          </a:xfrm>
        </p:grpSpPr>
        <p:sp>
          <p:nvSpPr>
            <p:cNvPr name="Freeform 73" id="73"/>
            <p:cNvSpPr/>
            <p:nvPr/>
          </p:nvSpPr>
          <p:spPr>
            <a:xfrm flipH="false" flipV="false" rot="0">
              <a:off x="0" y="0"/>
              <a:ext cx="21086065" cy="1466850"/>
            </a:xfrm>
            <a:custGeom>
              <a:avLst/>
              <a:gdLst/>
              <a:ahLst/>
              <a:cxnLst/>
              <a:rect r="r" b="b" t="t" l="l"/>
              <a:pathLst>
                <a:path h="1466850" w="21086065">
                  <a:moveTo>
                    <a:pt x="0" y="0"/>
                  </a:moveTo>
                  <a:lnTo>
                    <a:pt x="21086065" y="0"/>
                  </a:lnTo>
                  <a:lnTo>
                    <a:pt x="21086065" y="1466850"/>
                  </a:lnTo>
                  <a:lnTo>
                    <a:pt x="0" y="1466850"/>
                  </a:lnTo>
                  <a:close/>
                </a:path>
              </a:pathLst>
            </a:custGeom>
            <a:blipFill>
              <a:blip r:embed="rId6">
                <a:alphaModFix amt="0"/>
              </a:blip>
              <a:stretch>
                <a:fillRect l="0" t="-230098" r="0" b="-230098"/>
              </a:stretch>
            </a:blipFill>
          </p:spPr>
          <p:txBody>
            <a:bodyPr/>
            <a:p/>
          </p:txBody>
        </p:sp>
        <p:sp>
          <p:nvSpPr>
            <p:cNvPr name="TextBox 74" id="74"/>
            <p:cNvSpPr txBox="true"/>
            <p:nvPr/>
          </p:nvSpPr>
          <p:spPr>
            <a:xfrm>
              <a:off x="0" y="-47625"/>
              <a:ext cx="21086064" cy="1514475"/>
            </a:xfrm>
            <a:prstGeom prst="rect">
              <a:avLst/>
            </a:prstGeom>
          </p:spPr>
          <p:txBody>
            <a:bodyPr anchor="ctr" rtlCol="false" tIns="0" lIns="0" bIns="0" rIns="0"/>
            <a:lstStyle/>
            <a:p>
              <a:pPr algn="l">
                <a:lnSpc>
                  <a:spcPts val="2340"/>
                </a:lnSpc>
              </a:pPr>
              <a:r>
                <a:rPr lang="en-US" sz="1950">
                  <a:solidFill>
                    <a:srgbClr val="14313B"/>
                  </a:solidFill>
                  <a:latin typeface="Calibri (MS)"/>
                  <a:ea typeface="Calibri (MS)"/>
                  <a:cs typeface="Calibri (MS)"/>
                  <a:sym typeface="Calibri (MS)"/>
                </a:rPr>
                <a:t>Dua dokumen kebijakan yang bertegangan:  Perda DIY 1/2012 (indikasi pembukaan lahan baru bagi investor)  ↔  Perda DIY 6/2021 (larangan alih fungsi lahan pangan)</a:t>
              </a:r>
            </a:p>
          </p:txBody>
        </p:sp>
      </p:grpSp>
      <p:grpSp>
        <p:nvGrpSpPr>
          <p:cNvPr name="Group 75" id="75"/>
          <p:cNvGrpSpPr/>
          <p:nvPr/>
        </p:nvGrpSpPr>
        <p:grpSpPr>
          <a:xfrm rot="0">
            <a:off x="822960" y="3634740"/>
            <a:ext cx="5349240" cy="4594860"/>
            <a:chOff x="0" y="0"/>
            <a:chExt cx="7132320" cy="6126480"/>
          </a:xfrm>
        </p:grpSpPr>
        <p:sp>
          <p:nvSpPr>
            <p:cNvPr name="Freeform 76" id="76"/>
            <p:cNvSpPr/>
            <p:nvPr/>
          </p:nvSpPr>
          <p:spPr>
            <a:xfrm flipH="false" flipV="false" rot="0">
              <a:off x="0" y="0"/>
              <a:ext cx="7132320" cy="6126480"/>
            </a:xfrm>
            <a:custGeom>
              <a:avLst/>
              <a:gdLst/>
              <a:ahLst/>
              <a:cxnLst/>
              <a:rect r="r" b="b" t="t" l="l"/>
              <a:pathLst>
                <a:path h="6126480" w="7132320">
                  <a:moveTo>
                    <a:pt x="0" y="182880"/>
                  </a:moveTo>
                  <a:cubicBezTo>
                    <a:pt x="0" y="81915"/>
                    <a:pt x="81915" y="0"/>
                    <a:pt x="182880" y="0"/>
                  </a:cubicBezTo>
                  <a:lnTo>
                    <a:pt x="6949440" y="0"/>
                  </a:lnTo>
                  <a:cubicBezTo>
                    <a:pt x="7050405" y="0"/>
                    <a:pt x="7132320" y="81915"/>
                    <a:pt x="7132320" y="182880"/>
                  </a:cubicBezTo>
                  <a:lnTo>
                    <a:pt x="7132320" y="5943600"/>
                  </a:lnTo>
                  <a:cubicBezTo>
                    <a:pt x="7132320" y="6044565"/>
                    <a:pt x="7050405" y="6126480"/>
                    <a:pt x="6949440" y="6126480"/>
                  </a:cubicBezTo>
                  <a:lnTo>
                    <a:pt x="182880" y="6126480"/>
                  </a:lnTo>
                  <a:cubicBezTo>
                    <a:pt x="81915" y="6126480"/>
                    <a:pt x="0" y="6044565"/>
                    <a:pt x="0" y="5943600"/>
                  </a:cubicBezTo>
                  <a:close/>
                </a:path>
              </a:pathLst>
            </a:custGeom>
            <a:solidFill>
              <a:srgbClr val="EAF8FA"/>
            </a:solidFill>
          </p:spPr>
          <p:txBody>
            <a:bodyPr/>
            <a:p/>
          </p:txBody>
        </p:sp>
      </p:grpSp>
      <p:grpSp>
        <p:nvGrpSpPr>
          <p:cNvPr name="Group 77" id="77"/>
          <p:cNvGrpSpPr/>
          <p:nvPr/>
        </p:nvGrpSpPr>
        <p:grpSpPr>
          <a:xfrm rot="0">
            <a:off x="822960" y="3634740"/>
            <a:ext cx="5349240" cy="822960"/>
            <a:chOff x="0" y="0"/>
            <a:chExt cx="7132320" cy="1097280"/>
          </a:xfrm>
        </p:grpSpPr>
        <p:sp>
          <p:nvSpPr>
            <p:cNvPr name="Freeform 78" id="78"/>
            <p:cNvSpPr/>
            <p:nvPr/>
          </p:nvSpPr>
          <p:spPr>
            <a:xfrm flipH="false" flipV="false" rot="0">
              <a:off x="0" y="0"/>
              <a:ext cx="7132320" cy="1097280"/>
            </a:xfrm>
            <a:custGeom>
              <a:avLst/>
              <a:gdLst/>
              <a:ahLst/>
              <a:cxnLst/>
              <a:rect r="r" b="b" t="t" l="l"/>
              <a:pathLst>
                <a:path h="1097280" w="7132320">
                  <a:moveTo>
                    <a:pt x="0" y="182880"/>
                  </a:moveTo>
                  <a:cubicBezTo>
                    <a:pt x="0" y="81915"/>
                    <a:pt x="81915" y="0"/>
                    <a:pt x="182880" y="0"/>
                  </a:cubicBezTo>
                  <a:lnTo>
                    <a:pt x="6949440" y="0"/>
                  </a:lnTo>
                  <a:cubicBezTo>
                    <a:pt x="7050405" y="0"/>
                    <a:pt x="7132320" y="81915"/>
                    <a:pt x="7132320" y="182880"/>
                  </a:cubicBezTo>
                  <a:lnTo>
                    <a:pt x="7132320" y="914400"/>
                  </a:lnTo>
                  <a:cubicBezTo>
                    <a:pt x="7132320" y="1015365"/>
                    <a:pt x="7050405" y="1097280"/>
                    <a:pt x="6949440" y="1097280"/>
                  </a:cubicBezTo>
                  <a:lnTo>
                    <a:pt x="182880" y="1097280"/>
                  </a:lnTo>
                  <a:cubicBezTo>
                    <a:pt x="81915" y="1097280"/>
                    <a:pt x="0" y="1015365"/>
                    <a:pt x="0" y="914400"/>
                  </a:cubicBezTo>
                  <a:close/>
                </a:path>
              </a:pathLst>
            </a:custGeom>
            <a:solidFill>
              <a:srgbClr val="8A99A1"/>
            </a:solidFill>
          </p:spPr>
          <p:txBody>
            <a:bodyPr/>
            <a:p/>
          </p:txBody>
        </p:sp>
      </p:grpSp>
      <p:grpSp>
        <p:nvGrpSpPr>
          <p:cNvPr name="Group 79" id="79"/>
          <p:cNvGrpSpPr/>
          <p:nvPr/>
        </p:nvGrpSpPr>
        <p:grpSpPr>
          <a:xfrm rot="0">
            <a:off x="822960" y="3634740"/>
            <a:ext cx="5349240" cy="822960"/>
            <a:chOff x="0" y="0"/>
            <a:chExt cx="7132320" cy="1097280"/>
          </a:xfrm>
        </p:grpSpPr>
        <p:sp>
          <p:nvSpPr>
            <p:cNvPr name="Freeform 80" id="80"/>
            <p:cNvSpPr/>
            <p:nvPr/>
          </p:nvSpPr>
          <p:spPr>
            <a:xfrm flipH="false" flipV="false" rot="0">
              <a:off x="0" y="0"/>
              <a:ext cx="7132320" cy="1097280"/>
            </a:xfrm>
            <a:custGeom>
              <a:avLst/>
              <a:gdLst/>
              <a:ahLst/>
              <a:cxnLst/>
              <a:rect r="r" b="b" t="t" l="l"/>
              <a:pathLst>
                <a:path h="1097280" w="7132320">
                  <a:moveTo>
                    <a:pt x="0" y="0"/>
                  </a:moveTo>
                  <a:lnTo>
                    <a:pt x="7132320" y="0"/>
                  </a:lnTo>
                  <a:lnTo>
                    <a:pt x="7132320" y="1097280"/>
                  </a:lnTo>
                  <a:lnTo>
                    <a:pt x="0" y="1097280"/>
                  </a:lnTo>
                  <a:close/>
                </a:path>
              </a:pathLst>
            </a:custGeom>
            <a:blipFill>
              <a:blip r:embed="rId4">
                <a:alphaModFix amt="0"/>
              </a:blip>
              <a:stretch>
                <a:fillRect l="0" t="-76564" r="0" b="-76564"/>
              </a:stretch>
            </a:blipFill>
          </p:spPr>
          <p:txBody>
            <a:bodyPr/>
            <a:p/>
          </p:txBody>
        </p:sp>
      </p:grpSp>
      <p:grpSp>
        <p:nvGrpSpPr>
          <p:cNvPr name="Group 81" id="81"/>
          <p:cNvGrpSpPr/>
          <p:nvPr/>
        </p:nvGrpSpPr>
        <p:grpSpPr>
          <a:xfrm rot="0">
            <a:off x="822960" y="3599021"/>
            <a:ext cx="5349240" cy="858679"/>
            <a:chOff x="0" y="0"/>
            <a:chExt cx="7132320" cy="1144905"/>
          </a:xfrm>
        </p:grpSpPr>
        <p:sp>
          <p:nvSpPr>
            <p:cNvPr name="Freeform 82" id="82"/>
            <p:cNvSpPr/>
            <p:nvPr/>
          </p:nvSpPr>
          <p:spPr>
            <a:xfrm flipH="false" flipV="false" rot="0">
              <a:off x="0" y="0"/>
              <a:ext cx="7132320" cy="1144905"/>
            </a:xfrm>
            <a:custGeom>
              <a:avLst/>
              <a:gdLst/>
              <a:ahLst/>
              <a:cxnLst/>
              <a:rect r="r" b="b" t="t" l="l"/>
              <a:pathLst>
                <a:path h="1144905" w="7132320">
                  <a:moveTo>
                    <a:pt x="0" y="0"/>
                  </a:moveTo>
                  <a:lnTo>
                    <a:pt x="7132320" y="0"/>
                  </a:lnTo>
                  <a:lnTo>
                    <a:pt x="7132320" y="1144905"/>
                  </a:lnTo>
                  <a:lnTo>
                    <a:pt x="0" y="1144905"/>
                  </a:lnTo>
                  <a:close/>
                </a:path>
              </a:pathLst>
            </a:custGeom>
            <a:blipFill>
              <a:blip r:embed="rId5">
                <a:alphaModFix amt="0"/>
              </a:blip>
              <a:stretch>
                <a:fillRect l="0" t="-71300" r="0" b="-71300"/>
              </a:stretch>
            </a:blipFill>
          </p:spPr>
          <p:txBody>
            <a:bodyPr/>
            <a:p/>
          </p:txBody>
        </p:sp>
      </p:grpSp>
      <p:grpSp>
        <p:nvGrpSpPr>
          <p:cNvPr name="Group 83" id="83"/>
          <p:cNvGrpSpPr/>
          <p:nvPr/>
        </p:nvGrpSpPr>
        <p:grpSpPr>
          <a:xfrm rot="0">
            <a:off x="822960" y="3563303"/>
            <a:ext cx="5349240" cy="894398"/>
            <a:chOff x="0" y="0"/>
            <a:chExt cx="7132320" cy="1192530"/>
          </a:xfrm>
        </p:grpSpPr>
        <p:sp>
          <p:nvSpPr>
            <p:cNvPr name="Freeform 84" id="84"/>
            <p:cNvSpPr/>
            <p:nvPr/>
          </p:nvSpPr>
          <p:spPr>
            <a:xfrm flipH="false" flipV="false" rot="0">
              <a:off x="0" y="0"/>
              <a:ext cx="7132320" cy="1192530"/>
            </a:xfrm>
            <a:custGeom>
              <a:avLst/>
              <a:gdLst/>
              <a:ahLst/>
              <a:cxnLst/>
              <a:rect r="r" b="b" t="t" l="l"/>
              <a:pathLst>
                <a:path h="1192530" w="7132320">
                  <a:moveTo>
                    <a:pt x="0" y="0"/>
                  </a:moveTo>
                  <a:lnTo>
                    <a:pt x="7132320" y="0"/>
                  </a:lnTo>
                  <a:lnTo>
                    <a:pt x="7132320" y="1192530"/>
                  </a:lnTo>
                  <a:lnTo>
                    <a:pt x="0" y="1192530"/>
                  </a:lnTo>
                  <a:close/>
                </a:path>
              </a:pathLst>
            </a:custGeom>
            <a:blipFill>
              <a:blip r:embed="rId6">
                <a:alphaModFix amt="0"/>
              </a:blip>
              <a:stretch>
                <a:fillRect l="0" t="-66536" r="0" b="-66536"/>
              </a:stretch>
            </a:blipFill>
          </p:spPr>
          <p:txBody>
            <a:bodyPr/>
            <a:p/>
          </p:txBody>
        </p:sp>
        <p:sp>
          <p:nvSpPr>
            <p:cNvPr name="TextBox 85" id="85"/>
            <p:cNvSpPr txBox="true"/>
            <p:nvPr/>
          </p:nvSpPr>
          <p:spPr>
            <a:xfrm>
              <a:off x="0" y="-47625"/>
              <a:ext cx="7132320" cy="1240155"/>
            </a:xfrm>
            <a:prstGeom prst="rect">
              <a:avLst/>
            </a:prstGeom>
          </p:spPr>
          <p:txBody>
            <a:bodyPr anchor="ctr" rtlCol="false" tIns="0" lIns="0" bIns="0" rIns="0"/>
            <a:lstStyle/>
            <a:p>
              <a:pPr algn="ctr">
                <a:lnSpc>
                  <a:spcPts val="3060"/>
                </a:lnSpc>
              </a:pPr>
              <a:r>
                <a:rPr lang="en-US" sz="2550" b="true">
                  <a:solidFill>
                    <a:srgbClr val="FFFFFF"/>
                  </a:solidFill>
                  <a:latin typeface="Calibri (MS) Bold"/>
                  <a:ea typeface="Calibri (MS) Bold"/>
                  <a:cs typeface="Calibri (MS) Bold"/>
                  <a:sym typeface="Calibri (MS) Bold"/>
                </a:rPr>
                <a:t>Business-as-Usual</a:t>
              </a:r>
            </a:p>
          </p:txBody>
        </p:sp>
      </p:grpSp>
      <p:grpSp>
        <p:nvGrpSpPr>
          <p:cNvPr name="Group 86" id="86"/>
          <p:cNvGrpSpPr/>
          <p:nvPr/>
        </p:nvGrpSpPr>
        <p:grpSpPr>
          <a:xfrm rot="0">
            <a:off x="1097280" y="4663440"/>
            <a:ext cx="2331720" cy="822960"/>
            <a:chOff x="0" y="0"/>
            <a:chExt cx="3108960" cy="1097280"/>
          </a:xfrm>
        </p:grpSpPr>
        <p:sp>
          <p:nvSpPr>
            <p:cNvPr name="Freeform 87" id="87"/>
            <p:cNvSpPr/>
            <p:nvPr/>
          </p:nvSpPr>
          <p:spPr>
            <a:xfrm flipH="false" flipV="false" rot="0">
              <a:off x="0" y="0"/>
              <a:ext cx="3108960" cy="1097280"/>
            </a:xfrm>
            <a:custGeom>
              <a:avLst/>
              <a:gdLst/>
              <a:ahLst/>
              <a:cxnLst/>
              <a:rect r="r" b="b" t="t" l="l"/>
              <a:pathLst>
                <a:path h="1097280" w="3108960">
                  <a:moveTo>
                    <a:pt x="0" y="0"/>
                  </a:moveTo>
                  <a:lnTo>
                    <a:pt x="3108960" y="0"/>
                  </a:lnTo>
                  <a:lnTo>
                    <a:pt x="3108960" y="1097280"/>
                  </a:lnTo>
                  <a:lnTo>
                    <a:pt x="0" y="1097280"/>
                  </a:lnTo>
                  <a:close/>
                </a:path>
              </a:pathLst>
            </a:custGeom>
            <a:blipFill>
              <a:blip r:embed="rId4">
                <a:alphaModFix amt="0"/>
              </a:blip>
              <a:stretch>
                <a:fillRect l="0" t="-5168" r="0" b="-5168"/>
              </a:stretch>
            </a:blipFill>
          </p:spPr>
          <p:txBody>
            <a:bodyPr/>
            <a:p/>
          </p:txBody>
        </p:sp>
      </p:grpSp>
      <p:grpSp>
        <p:nvGrpSpPr>
          <p:cNvPr name="Group 88" id="88"/>
          <p:cNvGrpSpPr/>
          <p:nvPr/>
        </p:nvGrpSpPr>
        <p:grpSpPr>
          <a:xfrm rot="0">
            <a:off x="1097280" y="4592003"/>
            <a:ext cx="2331720" cy="894398"/>
            <a:chOff x="0" y="0"/>
            <a:chExt cx="3108960" cy="1192530"/>
          </a:xfrm>
        </p:grpSpPr>
        <p:sp>
          <p:nvSpPr>
            <p:cNvPr name="Freeform 89" id="89"/>
            <p:cNvSpPr/>
            <p:nvPr/>
          </p:nvSpPr>
          <p:spPr>
            <a:xfrm flipH="false" flipV="false" rot="0">
              <a:off x="0" y="0"/>
              <a:ext cx="3108960" cy="1192530"/>
            </a:xfrm>
            <a:custGeom>
              <a:avLst/>
              <a:gdLst/>
              <a:ahLst/>
              <a:cxnLst/>
              <a:rect r="r" b="b" t="t" l="l"/>
              <a:pathLst>
                <a:path h="1192530" w="3108960">
                  <a:moveTo>
                    <a:pt x="0" y="0"/>
                  </a:moveTo>
                  <a:lnTo>
                    <a:pt x="3108960" y="0"/>
                  </a:lnTo>
                  <a:lnTo>
                    <a:pt x="3108960" y="1192530"/>
                  </a:lnTo>
                  <a:lnTo>
                    <a:pt x="0" y="1192530"/>
                  </a:lnTo>
                  <a:close/>
                </a:path>
              </a:pathLst>
            </a:custGeom>
            <a:blipFill>
              <a:blip r:embed="rId5">
                <a:alphaModFix amt="0"/>
              </a:blip>
              <a:stretch>
                <a:fillRect l="0" t="-762" r="0" b="-762"/>
              </a:stretch>
            </a:blipFill>
          </p:spPr>
          <p:txBody>
            <a:bodyPr/>
            <a:p/>
          </p:txBody>
        </p:sp>
      </p:grpSp>
      <p:grpSp>
        <p:nvGrpSpPr>
          <p:cNvPr name="Group 90" id="90"/>
          <p:cNvGrpSpPr/>
          <p:nvPr/>
        </p:nvGrpSpPr>
        <p:grpSpPr>
          <a:xfrm rot="0">
            <a:off x="1097280" y="4520565"/>
            <a:ext cx="2331720" cy="965835"/>
            <a:chOff x="0" y="0"/>
            <a:chExt cx="3108960" cy="1287780"/>
          </a:xfrm>
        </p:grpSpPr>
        <p:sp>
          <p:nvSpPr>
            <p:cNvPr name="Freeform 91" id="91"/>
            <p:cNvSpPr/>
            <p:nvPr/>
          </p:nvSpPr>
          <p:spPr>
            <a:xfrm flipH="false" flipV="false" rot="0">
              <a:off x="0" y="0"/>
              <a:ext cx="3108960" cy="1287781"/>
            </a:xfrm>
            <a:custGeom>
              <a:avLst/>
              <a:gdLst/>
              <a:ahLst/>
              <a:cxnLst/>
              <a:rect r="r" b="b" t="t" l="l"/>
              <a:pathLst>
                <a:path h="1287781" w="3108960">
                  <a:moveTo>
                    <a:pt x="0" y="0"/>
                  </a:moveTo>
                  <a:lnTo>
                    <a:pt x="3108960" y="0"/>
                  </a:lnTo>
                  <a:lnTo>
                    <a:pt x="3108960" y="1287781"/>
                  </a:lnTo>
                  <a:lnTo>
                    <a:pt x="0" y="1287781"/>
                  </a:lnTo>
                  <a:close/>
                </a:path>
              </a:pathLst>
            </a:custGeom>
            <a:blipFill>
              <a:blip r:embed="rId6">
                <a:alphaModFix amt="0"/>
              </a:blip>
              <a:stretch>
                <a:fillRect l="-3145" t="0" r="-3145" b="0"/>
              </a:stretch>
            </a:blipFill>
          </p:spPr>
          <p:txBody>
            <a:bodyPr/>
            <a:p/>
          </p:txBody>
        </p:sp>
        <p:sp>
          <p:nvSpPr>
            <p:cNvPr name="TextBox 92" id="92"/>
            <p:cNvSpPr txBox="true"/>
            <p:nvPr/>
          </p:nvSpPr>
          <p:spPr>
            <a:xfrm>
              <a:off x="0" y="-95250"/>
              <a:ext cx="3108960" cy="1383030"/>
            </a:xfrm>
            <a:prstGeom prst="rect">
              <a:avLst/>
            </a:prstGeom>
          </p:spPr>
          <p:txBody>
            <a:bodyPr anchor="ctr" rtlCol="false" tIns="0" lIns="0" bIns="0" rIns="0"/>
            <a:lstStyle/>
            <a:p>
              <a:pPr algn="ctr">
                <a:lnSpc>
                  <a:spcPts val="5400"/>
                </a:lnSpc>
              </a:pPr>
              <a:r>
                <a:rPr lang="en-US" sz="4500" b="true">
                  <a:solidFill>
                    <a:srgbClr val="0B5E6E"/>
                  </a:solidFill>
                  <a:latin typeface="Calibri (MS) Bold"/>
                  <a:ea typeface="Calibri (MS) Bold"/>
                  <a:cs typeface="Calibri (MS) Bold"/>
                  <a:sym typeface="Calibri (MS) Bold"/>
                </a:rPr>
                <a:t>0</a:t>
              </a:r>
            </a:p>
          </p:txBody>
        </p:sp>
      </p:grpSp>
      <p:sp>
        <p:nvSpPr>
          <p:cNvPr name="TextBox 93" id="93"/>
          <p:cNvSpPr txBox="true"/>
          <p:nvPr/>
        </p:nvSpPr>
        <p:spPr>
          <a:xfrm rot="0">
            <a:off x="1097280" y="5400675"/>
            <a:ext cx="2331720" cy="497205"/>
          </a:xfrm>
          <a:prstGeom prst="rect">
            <a:avLst/>
          </a:prstGeom>
        </p:spPr>
        <p:txBody>
          <a:bodyPr anchor="t" rtlCol="false" tIns="0" lIns="0" bIns="0" rIns="0">
            <a:spAutoFit/>
          </a:bodyPr>
          <a:lstStyle/>
          <a:p>
            <a:pPr algn="ctr">
              <a:lnSpc>
                <a:spcPts val="1980"/>
              </a:lnSpc>
            </a:pPr>
            <a:r>
              <a:rPr lang="en-US" sz="1650">
                <a:solidFill>
                  <a:srgbClr val="5E6E78"/>
                </a:solidFill>
                <a:latin typeface="Calibri (MS)"/>
                <a:ea typeface="Calibri (MS)"/>
                <a:cs typeface="Calibri (MS)"/>
                <a:sym typeface="Calibri (MS)"/>
              </a:rPr>
              <a:t>Insentif Kebijakan</a:t>
            </a:r>
          </a:p>
        </p:txBody>
      </p:sp>
      <p:grpSp>
        <p:nvGrpSpPr>
          <p:cNvPr name="Group 94" id="94"/>
          <p:cNvGrpSpPr/>
          <p:nvPr/>
        </p:nvGrpSpPr>
        <p:grpSpPr>
          <a:xfrm rot="0">
            <a:off x="3566160" y="4663440"/>
            <a:ext cx="2331720" cy="822960"/>
            <a:chOff x="0" y="0"/>
            <a:chExt cx="3108960" cy="1097280"/>
          </a:xfrm>
        </p:grpSpPr>
        <p:sp>
          <p:nvSpPr>
            <p:cNvPr name="Freeform 95" id="95"/>
            <p:cNvSpPr/>
            <p:nvPr/>
          </p:nvSpPr>
          <p:spPr>
            <a:xfrm flipH="false" flipV="false" rot="0">
              <a:off x="0" y="0"/>
              <a:ext cx="3108960" cy="1097280"/>
            </a:xfrm>
            <a:custGeom>
              <a:avLst/>
              <a:gdLst/>
              <a:ahLst/>
              <a:cxnLst/>
              <a:rect r="r" b="b" t="t" l="l"/>
              <a:pathLst>
                <a:path h="1097280" w="3108960">
                  <a:moveTo>
                    <a:pt x="0" y="0"/>
                  </a:moveTo>
                  <a:lnTo>
                    <a:pt x="3108960" y="0"/>
                  </a:lnTo>
                  <a:lnTo>
                    <a:pt x="3108960" y="1097280"/>
                  </a:lnTo>
                  <a:lnTo>
                    <a:pt x="0" y="1097280"/>
                  </a:lnTo>
                  <a:close/>
                </a:path>
              </a:pathLst>
            </a:custGeom>
            <a:blipFill>
              <a:blip r:embed="rId4">
                <a:alphaModFix amt="0"/>
              </a:blip>
              <a:stretch>
                <a:fillRect l="0" t="-5168" r="0" b="-5168"/>
              </a:stretch>
            </a:blipFill>
          </p:spPr>
          <p:txBody>
            <a:bodyPr/>
            <a:p/>
          </p:txBody>
        </p:sp>
      </p:grpSp>
      <p:grpSp>
        <p:nvGrpSpPr>
          <p:cNvPr name="Group 96" id="96"/>
          <p:cNvGrpSpPr/>
          <p:nvPr/>
        </p:nvGrpSpPr>
        <p:grpSpPr>
          <a:xfrm rot="0">
            <a:off x="3566160" y="4592003"/>
            <a:ext cx="2331720" cy="894398"/>
            <a:chOff x="0" y="0"/>
            <a:chExt cx="3108960" cy="1192530"/>
          </a:xfrm>
        </p:grpSpPr>
        <p:sp>
          <p:nvSpPr>
            <p:cNvPr name="Freeform 97" id="97"/>
            <p:cNvSpPr/>
            <p:nvPr/>
          </p:nvSpPr>
          <p:spPr>
            <a:xfrm flipH="false" flipV="false" rot="0">
              <a:off x="0" y="0"/>
              <a:ext cx="3108960" cy="1192530"/>
            </a:xfrm>
            <a:custGeom>
              <a:avLst/>
              <a:gdLst/>
              <a:ahLst/>
              <a:cxnLst/>
              <a:rect r="r" b="b" t="t" l="l"/>
              <a:pathLst>
                <a:path h="1192530" w="3108960">
                  <a:moveTo>
                    <a:pt x="0" y="0"/>
                  </a:moveTo>
                  <a:lnTo>
                    <a:pt x="3108960" y="0"/>
                  </a:lnTo>
                  <a:lnTo>
                    <a:pt x="3108960" y="1192530"/>
                  </a:lnTo>
                  <a:lnTo>
                    <a:pt x="0" y="1192530"/>
                  </a:lnTo>
                  <a:close/>
                </a:path>
              </a:pathLst>
            </a:custGeom>
            <a:blipFill>
              <a:blip r:embed="rId5">
                <a:alphaModFix amt="0"/>
              </a:blip>
              <a:stretch>
                <a:fillRect l="0" t="-762" r="0" b="-762"/>
              </a:stretch>
            </a:blipFill>
          </p:spPr>
          <p:txBody>
            <a:bodyPr/>
            <a:p/>
          </p:txBody>
        </p:sp>
      </p:grpSp>
      <p:grpSp>
        <p:nvGrpSpPr>
          <p:cNvPr name="Group 98" id="98"/>
          <p:cNvGrpSpPr/>
          <p:nvPr/>
        </p:nvGrpSpPr>
        <p:grpSpPr>
          <a:xfrm rot="0">
            <a:off x="3566160" y="4520565"/>
            <a:ext cx="2331720" cy="965835"/>
            <a:chOff x="0" y="0"/>
            <a:chExt cx="3108960" cy="1287780"/>
          </a:xfrm>
        </p:grpSpPr>
        <p:sp>
          <p:nvSpPr>
            <p:cNvPr name="Freeform 99" id="99"/>
            <p:cNvSpPr/>
            <p:nvPr/>
          </p:nvSpPr>
          <p:spPr>
            <a:xfrm flipH="false" flipV="false" rot="0">
              <a:off x="0" y="0"/>
              <a:ext cx="3108960" cy="1287781"/>
            </a:xfrm>
            <a:custGeom>
              <a:avLst/>
              <a:gdLst/>
              <a:ahLst/>
              <a:cxnLst/>
              <a:rect r="r" b="b" t="t" l="l"/>
              <a:pathLst>
                <a:path h="1287781" w="3108960">
                  <a:moveTo>
                    <a:pt x="0" y="0"/>
                  </a:moveTo>
                  <a:lnTo>
                    <a:pt x="3108960" y="0"/>
                  </a:lnTo>
                  <a:lnTo>
                    <a:pt x="3108960" y="1287781"/>
                  </a:lnTo>
                  <a:lnTo>
                    <a:pt x="0" y="1287781"/>
                  </a:lnTo>
                  <a:close/>
                </a:path>
              </a:pathLst>
            </a:custGeom>
            <a:blipFill>
              <a:blip r:embed="rId6">
                <a:alphaModFix amt="0"/>
              </a:blip>
              <a:stretch>
                <a:fillRect l="-3145" t="0" r="-3145" b="0"/>
              </a:stretch>
            </a:blipFill>
          </p:spPr>
          <p:txBody>
            <a:bodyPr/>
            <a:p/>
          </p:txBody>
        </p:sp>
        <p:sp>
          <p:nvSpPr>
            <p:cNvPr name="TextBox 100" id="100"/>
            <p:cNvSpPr txBox="true"/>
            <p:nvPr/>
          </p:nvSpPr>
          <p:spPr>
            <a:xfrm>
              <a:off x="0" y="-95250"/>
              <a:ext cx="3108960" cy="1383030"/>
            </a:xfrm>
            <a:prstGeom prst="rect">
              <a:avLst/>
            </a:prstGeom>
          </p:spPr>
          <p:txBody>
            <a:bodyPr anchor="ctr" rtlCol="false" tIns="0" lIns="0" bIns="0" rIns="0"/>
            <a:lstStyle/>
            <a:p>
              <a:pPr algn="ctr">
                <a:lnSpc>
                  <a:spcPts val="5400"/>
                </a:lnSpc>
              </a:pPr>
              <a:r>
                <a:rPr lang="en-US" sz="4500" b="true">
                  <a:solidFill>
                    <a:srgbClr val="0B5E6E"/>
                  </a:solidFill>
                  <a:latin typeface="Calibri (MS) Bold"/>
                  <a:ea typeface="Calibri (MS) Bold"/>
                  <a:cs typeface="Calibri (MS) Bold"/>
                  <a:sym typeface="Calibri (MS) Bold"/>
                </a:rPr>
                <a:t>0</a:t>
              </a:r>
            </a:p>
          </p:txBody>
        </p:sp>
      </p:grpSp>
      <p:sp>
        <p:nvSpPr>
          <p:cNvPr name="TextBox 101" id="101"/>
          <p:cNvSpPr txBox="true"/>
          <p:nvPr/>
        </p:nvSpPr>
        <p:spPr>
          <a:xfrm rot="0">
            <a:off x="3566160" y="5400675"/>
            <a:ext cx="2331720" cy="497205"/>
          </a:xfrm>
          <a:prstGeom prst="rect">
            <a:avLst/>
          </a:prstGeom>
        </p:spPr>
        <p:txBody>
          <a:bodyPr anchor="t" rtlCol="false" tIns="0" lIns="0" bIns="0" rIns="0">
            <a:spAutoFit/>
          </a:bodyPr>
          <a:lstStyle/>
          <a:p>
            <a:pPr algn="ctr">
              <a:lnSpc>
                <a:spcPts val="1980"/>
              </a:lnSpc>
            </a:pPr>
            <a:r>
              <a:rPr lang="en-US" sz="1650">
                <a:solidFill>
                  <a:srgbClr val="5E6E78"/>
                </a:solidFill>
                <a:latin typeface="Calibri (MS)"/>
                <a:ea typeface="Calibri (MS)"/>
                <a:cs typeface="Calibri (MS)"/>
                <a:sym typeface="Calibri (MS)"/>
              </a:rPr>
              <a:t>Konservasi Lahan</a:t>
            </a:r>
          </a:p>
        </p:txBody>
      </p:sp>
      <p:sp>
        <p:nvSpPr>
          <p:cNvPr name="TextBox 102" id="102"/>
          <p:cNvSpPr txBox="true"/>
          <p:nvPr/>
        </p:nvSpPr>
        <p:spPr>
          <a:xfrm rot="0">
            <a:off x="1165860" y="6057900"/>
            <a:ext cx="4663440" cy="203454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Tanpa insentif investasi tambahan; kebutuhan lahan fasilitas pariwisata dipenuhi lewat konversi seperti pola historis.</a:t>
            </a:r>
          </a:p>
        </p:txBody>
      </p:sp>
      <p:grpSp>
        <p:nvGrpSpPr>
          <p:cNvPr name="Group 103" id="103"/>
          <p:cNvGrpSpPr/>
          <p:nvPr/>
        </p:nvGrpSpPr>
        <p:grpSpPr>
          <a:xfrm rot="0">
            <a:off x="6467094" y="3634740"/>
            <a:ext cx="5349240" cy="4594860"/>
            <a:chOff x="0" y="0"/>
            <a:chExt cx="7132320" cy="6126480"/>
          </a:xfrm>
        </p:grpSpPr>
        <p:sp>
          <p:nvSpPr>
            <p:cNvPr name="Freeform 104" id="104"/>
            <p:cNvSpPr/>
            <p:nvPr/>
          </p:nvSpPr>
          <p:spPr>
            <a:xfrm flipH="false" flipV="false" rot="0">
              <a:off x="0" y="0"/>
              <a:ext cx="7132320" cy="6126480"/>
            </a:xfrm>
            <a:custGeom>
              <a:avLst/>
              <a:gdLst/>
              <a:ahLst/>
              <a:cxnLst/>
              <a:rect r="r" b="b" t="t" l="l"/>
              <a:pathLst>
                <a:path h="6126480" w="7132320">
                  <a:moveTo>
                    <a:pt x="0" y="182880"/>
                  </a:moveTo>
                  <a:cubicBezTo>
                    <a:pt x="0" y="81915"/>
                    <a:pt x="81915" y="0"/>
                    <a:pt x="182880" y="0"/>
                  </a:cubicBezTo>
                  <a:lnTo>
                    <a:pt x="6949440" y="0"/>
                  </a:lnTo>
                  <a:cubicBezTo>
                    <a:pt x="7050405" y="0"/>
                    <a:pt x="7132320" y="81915"/>
                    <a:pt x="7132320" y="182880"/>
                  </a:cubicBezTo>
                  <a:lnTo>
                    <a:pt x="7132320" y="5943600"/>
                  </a:lnTo>
                  <a:cubicBezTo>
                    <a:pt x="7132320" y="6044565"/>
                    <a:pt x="7050405" y="6126480"/>
                    <a:pt x="6949440" y="6126480"/>
                  </a:cubicBezTo>
                  <a:lnTo>
                    <a:pt x="182880" y="6126480"/>
                  </a:lnTo>
                  <a:cubicBezTo>
                    <a:pt x="81915" y="6126480"/>
                    <a:pt x="0" y="6044565"/>
                    <a:pt x="0" y="5943600"/>
                  </a:cubicBezTo>
                  <a:close/>
                </a:path>
              </a:pathLst>
            </a:custGeom>
            <a:solidFill>
              <a:srgbClr val="EAF8FA"/>
            </a:solidFill>
          </p:spPr>
          <p:txBody>
            <a:bodyPr/>
            <a:p/>
          </p:txBody>
        </p:sp>
      </p:grpSp>
      <p:grpSp>
        <p:nvGrpSpPr>
          <p:cNvPr name="Group 105" id="105"/>
          <p:cNvGrpSpPr/>
          <p:nvPr/>
        </p:nvGrpSpPr>
        <p:grpSpPr>
          <a:xfrm rot="0">
            <a:off x="6467094" y="3634740"/>
            <a:ext cx="5349240" cy="822960"/>
            <a:chOff x="0" y="0"/>
            <a:chExt cx="7132320" cy="1097280"/>
          </a:xfrm>
        </p:grpSpPr>
        <p:sp>
          <p:nvSpPr>
            <p:cNvPr name="Freeform 106" id="106"/>
            <p:cNvSpPr/>
            <p:nvPr/>
          </p:nvSpPr>
          <p:spPr>
            <a:xfrm flipH="false" flipV="false" rot="0">
              <a:off x="0" y="0"/>
              <a:ext cx="7132320" cy="1097280"/>
            </a:xfrm>
            <a:custGeom>
              <a:avLst/>
              <a:gdLst/>
              <a:ahLst/>
              <a:cxnLst/>
              <a:rect r="r" b="b" t="t" l="l"/>
              <a:pathLst>
                <a:path h="1097280" w="7132320">
                  <a:moveTo>
                    <a:pt x="0" y="182880"/>
                  </a:moveTo>
                  <a:cubicBezTo>
                    <a:pt x="0" y="81915"/>
                    <a:pt x="81915" y="0"/>
                    <a:pt x="182880" y="0"/>
                  </a:cubicBezTo>
                  <a:lnTo>
                    <a:pt x="6949440" y="0"/>
                  </a:lnTo>
                  <a:cubicBezTo>
                    <a:pt x="7050405" y="0"/>
                    <a:pt x="7132320" y="81915"/>
                    <a:pt x="7132320" y="182880"/>
                  </a:cubicBezTo>
                  <a:lnTo>
                    <a:pt x="7132320" y="914400"/>
                  </a:lnTo>
                  <a:cubicBezTo>
                    <a:pt x="7132320" y="1015365"/>
                    <a:pt x="7050405" y="1097280"/>
                    <a:pt x="6949440" y="1097280"/>
                  </a:cubicBezTo>
                  <a:lnTo>
                    <a:pt x="182880" y="1097280"/>
                  </a:lnTo>
                  <a:cubicBezTo>
                    <a:pt x="81915" y="1097280"/>
                    <a:pt x="0" y="1015365"/>
                    <a:pt x="0" y="914400"/>
                  </a:cubicBezTo>
                  <a:close/>
                </a:path>
              </a:pathLst>
            </a:custGeom>
            <a:solidFill>
              <a:srgbClr val="39C0D3"/>
            </a:solidFill>
          </p:spPr>
          <p:txBody>
            <a:bodyPr/>
            <a:p/>
          </p:txBody>
        </p:sp>
      </p:grpSp>
      <p:grpSp>
        <p:nvGrpSpPr>
          <p:cNvPr name="Group 107" id="107"/>
          <p:cNvGrpSpPr/>
          <p:nvPr/>
        </p:nvGrpSpPr>
        <p:grpSpPr>
          <a:xfrm rot="0">
            <a:off x="6467094" y="3634740"/>
            <a:ext cx="5349240" cy="822960"/>
            <a:chOff x="0" y="0"/>
            <a:chExt cx="7132320" cy="1097280"/>
          </a:xfrm>
        </p:grpSpPr>
        <p:sp>
          <p:nvSpPr>
            <p:cNvPr name="Freeform 108" id="108"/>
            <p:cNvSpPr/>
            <p:nvPr/>
          </p:nvSpPr>
          <p:spPr>
            <a:xfrm flipH="false" flipV="false" rot="0">
              <a:off x="0" y="0"/>
              <a:ext cx="7132320" cy="1097280"/>
            </a:xfrm>
            <a:custGeom>
              <a:avLst/>
              <a:gdLst/>
              <a:ahLst/>
              <a:cxnLst/>
              <a:rect r="r" b="b" t="t" l="l"/>
              <a:pathLst>
                <a:path h="1097280" w="7132320">
                  <a:moveTo>
                    <a:pt x="0" y="0"/>
                  </a:moveTo>
                  <a:lnTo>
                    <a:pt x="7132320" y="0"/>
                  </a:lnTo>
                  <a:lnTo>
                    <a:pt x="7132320" y="1097280"/>
                  </a:lnTo>
                  <a:lnTo>
                    <a:pt x="0" y="1097280"/>
                  </a:lnTo>
                  <a:close/>
                </a:path>
              </a:pathLst>
            </a:custGeom>
            <a:blipFill>
              <a:blip r:embed="rId4">
                <a:alphaModFix amt="0"/>
              </a:blip>
              <a:stretch>
                <a:fillRect l="0" t="-76564" r="0" b="-76564"/>
              </a:stretch>
            </a:blipFill>
          </p:spPr>
          <p:txBody>
            <a:bodyPr/>
            <a:p/>
          </p:txBody>
        </p:sp>
      </p:grpSp>
      <p:grpSp>
        <p:nvGrpSpPr>
          <p:cNvPr name="Group 109" id="109"/>
          <p:cNvGrpSpPr/>
          <p:nvPr/>
        </p:nvGrpSpPr>
        <p:grpSpPr>
          <a:xfrm rot="0">
            <a:off x="6467094" y="3599021"/>
            <a:ext cx="5349240" cy="858679"/>
            <a:chOff x="0" y="0"/>
            <a:chExt cx="7132320" cy="1144905"/>
          </a:xfrm>
        </p:grpSpPr>
        <p:sp>
          <p:nvSpPr>
            <p:cNvPr name="Freeform 110" id="110"/>
            <p:cNvSpPr/>
            <p:nvPr/>
          </p:nvSpPr>
          <p:spPr>
            <a:xfrm flipH="false" flipV="false" rot="0">
              <a:off x="0" y="0"/>
              <a:ext cx="7132320" cy="1144905"/>
            </a:xfrm>
            <a:custGeom>
              <a:avLst/>
              <a:gdLst/>
              <a:ahLst/>
              <a:cxnLst/>
              <a:rect r="r" b="b" t="t" l="l"/>
              <a:pathLst>
                <a:path h="1144905" w="7132320">
                  <a:moveTo>
                    <a:pt x="0" y="0"/>
                  </a:moveTo>
                  <a:lnTo>
                    <a:pt x="7132320" y="0"/>
                  </a:lnTo>
                  <a:lnTo>
                    <a:pt x="7132320" y="1144905"/>
                  </a:lnTo>
                  <a:lnTo>
                    <a:pt x="0" y="1144905"/>
                  </a:lnTo>
                  <a:close/>
                </a:path>
              </a:pathLst>
            </a:custGeom>
            <a:blipFill>
              <a:blip r:embed="rId5">
                <a:alphaModFix amt="0"/>
              </a:blip>
              <a:stretch>
                <a:fillRect l="0" t="-71300" r="0" b="-71300"/>
              </a:stretch>
            </a:blipFill>
          </p:spPr>
          <p:txBody>
            <a:bodyPr/>
            <a:p/>
          </p:txBody>
        </p:sp>
      </p:grpSp>
      <p:grpSp>
        <p:nvGrpSpPr>
          <p:cNvPr name="Group 111" id="111"/>
          <p:cNvGrpSpPr/>
          <p:nvPr/>
        </p:nvGrpSpPr>
        <p:grpSpPr>
          <a:xfrm rot="0">
            <a:off x="6467094" y="3563303"/>
            <a:ext cx="5349240" cy="894398"/>
            <a:chOff x="0" y="0"/>
            <a:chExt cx="7132320" cy="1192530"/>
          </a:xfrm>
        </p:grpSpPr>
        <p:sp>
          <p:nvSpPr>
            <p:cNvPr name="Freeform 112" id="112"/>
            <p:cNvSpPr/>
            <p:nvPr/>
          </p:nvSpPr>
          <p:spPr>
            <a:xfrm flipH="false" flipV="false" rot="0">
              <a:off x="0" y="0"/>
              <a:ext cx="7132320" cy="1192530"/>
            </a:xfrm>
            <a:custGeom>
              <a:avLst/>
              <a:gdLst/>
              <a:ahLst/>
              <a:cxnLst/>
              <a:rect r="r" b="b" t="t" l="l"/>
              <a:pathLst>
                <a:path h="1192530" w="7132320">
                  <a:moveTo>
                    <a:pt x="0" y="0"/>
                  </a:moveTo>
                  <a:lnTo>
                    <a:pt x="7132320" y="0"/>
                  </a:lnTo>
                  <a:lnTo>
                    <a:pt x="7132320" y="1192530"/>
                  </a:lnTo>
                  <a:lnTo>
                    <a:pt x="0" y="1192530"/>
                  </a:lnTo>
                  <a:close/>
                </a:path>
              </a:pathLst>
            </a:custGeom>
            <a:blipFill>
              <a:blip r:embed="rId6">
                <a:alphaModFix amt="0"/>
              </a:blip>
              <a:stretch>
                <a:fillRect l="0" t="-66536" r="0" b="-66536"/>
              </a:stretch>
            </a:blipFill>
          </p:spPr>
          <p:txBody>
            <a:bodyPr/>
            <a:p/>
          </p:txBody>
        </p:sp>
        <p:sp>
          <p:nvSpPr>
            <p:cNvPr name="TextBox 113" id="113"/>
            <p:cNvSpPr txBox="true"/>
            <p:nvPr/>
          </p:nvSpPr>
          <p:spPr>
            <a:xfrm>
              <a:off x="0" y="-47625"/>
              <a:ext cx="7132320" cy="1240155"/>
            </a:xfrm>
            <a:prstGeom prst="rect">
              <a:avLst/>
            </a:prstGeom>
          </p:spPr>
          <p:txBody>
            <a:bodyPr anchor="ctr" rtlCol="false" tIns="0" lIns="0" bIns="0" rIns="0"/>
            <a:lstStyle/>
            <a:p>
              <a:pPr algn="ctr">
                <a:lnSpc>
                  <a:spcPts val="3060"/>
                </a:lnSpc>
              </a:pPr>
              <a:r>
                <a:rPr lang="en-US" sz="2550" b="true">
                  <a:solidFill>
                    <a:srgbClr val="FFFFFF"/>
                  </a:solidFill>
                  <a:latin typeface="Calibri (MS) Bold"/>
                  <a:ea typeface="Calibri (MS) Bold"/>
                  <a:cs typeface="Calibri (MS) Bold"/>
                  <a:sym typeface="Calibri (MS) Bold"/>
                </a:rPr>
                <a:t>Sustainable</a:t>
              </a:r>
            </a:p>
          </p:txBody>
        </p:sp>
      </p:grpSp>
      <p:grpSp>
        <p:nvGrpSpPr>
          <p:cNvPr name="Group 114" id="114"/>
          <p:cNvGrpSpPr/>
          <p:nvPr/>
        </p:nvGrpSpPr>
        <p:grpSpPr>
          <a:xfrm rot="0">
            <a:off x="6741414" y="4663440"/>
            <a:ext cx="2331720" cy="822960"/>
            <a:chOff x="0" y="0"/>
            <a:chExt cx="3108960" cy="1097280"/>
          </a:xfrm>
        </p:grpSpPr>
        <p:sp>
          <p:nvSpPr>
            <p:cNvPr name="Freeform 115" id="115"/>
            <p:cNvSpPr/>
            <p:nvPr/>
          </p:nvSpPr>
          <p:spPr>
            <a:xfrm flipH="false" flipV="false" rot="0">
              <a:off x="0" y="0"/>
              <a:ext cx="3108960" cy="1097280"/>
            </a:xfrm>
            <a:custGeom>
              <a:avLst/>
              <a:gdLst/>
              <a:ahLst/>
              <a:cxnLst/>
              <a:rect r="r" b="b" t="t" l="l"/>
              <a:pathLst>
                <a:path h="1097280" w="3108960">
                  <a:moveTo>
                    <a:pt x="0" y="0"/>
                  </a:moveTo>
                  <a:lnTo>
                    <a:pt x="3108960" y="0"/>
                  </a:lnTo>
                  <a:lnTo>
                    <a:pt x="3108960" y="1097280"/>
                  </a:lnTo>
                  <a:lnTo>
                    <a:pt x="0" y="1097280"/>
                  </a:lnTo>
                  <a:close/>
                </a:path>
              </a:pathLst>
            </a:custGeom>
            <a:blipFill>
              <a:blip r:embed="rId4">
                <a:alphaModFix amt="0"/>
              </a:blip>
              <a:stretch>
                <a:fillRect l="0" t="-5168" r="0" b="-5168"/>
              </a:stretch>
            </a:blipFill>
          </p:spPr>
          <p:txBody>
            <a:bodyPr/>
            <a:p/>
          </p:txBody>
        </p:sp>
      </p:grpSp>
      <p:grpSp>
        <p:nvGrpSpPr>
          <p:cNvPr name="Group 116" id="116"/>
          <p:cNvGrpSpPr/>
          <p:nvPr/>
        </p:nvGrpSpPr>
        <p:grpSpPr>
          <a:xfrm rot="0">
            <a:off x="6741414" y="4592003"/>
            <a:ext cx="2331720" cy="894398"/>
            <a:chOff x="0" y="0"/>
            <a:chExt cx="3108960" cy="1192530"/>
          </a:xfrm>
        </p:grpSpPr>
        <p:sp>
          <p:nvSpPr>
            <p:cNvPr name="Freeform 117" id="117"/>
            <p:cNvSpPr/>
            <p:nvPr/>
          </p:nvSpPr>
          <p:spPr>
            <a:xfrm flipH="false" flipV="false" rot="0">
              <a:off x="0" y="0"/>
              <a:ext cx="3108960" cy="1192530"/>
            </a:xfrm>
            <a:custGeom>
              <a:avLst/>
              <a:gdLst/>
              <a:ahLst/>
              <a:cxnLst/>
              <a:rect r="r" b="b" t="t" l="l"/>
              <a:pathLst>
                <a:path h="1192530" w="3108960">
                  <a:moveTo>
                    <a:pt x="0" y="0"/>
                  </a:moveTo>
                  <a:lnTo>
                    <a:pt x="3108960" y="0"/>
                  </a:lnTo>
                  <a:lnTo>
                    <a:pt x="3108960" y="1192530"/>
                  </a:lnTo>
                  <a:lnTo>
                    <a:pt x="0" y="1192530"/>
                  </a:lnTo>
                  <a:close/>
                </a:path>
              </a:pathLst>
            </a:custGeom>
            <a:blipFill>
              <a:blip r:embed="rId5">
                <a:alphaModFix amt="0"/>
              </a:blip>
              <a:stretch>
                <a:fillRect l="0" t="-762" r="0" b="-762"/>
              </a:stretch>
            </a:blipFill>
          </p:spPr>
          <p:txBody>
            <a:bodyPr/>
            <a:p/>
          </p:txBody>
        </p:sp>
      </p:grpSp>
      <p:grpSp>
        <p:nvGrpSpPr>
          <p:cNvPr name="Group 118" id="118"/>
          <p:cNvGrpSpPr/>
          <p:nvPr/>
        </p:nvGrpSpPr>
        <p:grpSpPr>
          <a:xfrm rot="0">
            <a:off x="6741414" y="4520565"/>
            <a:ext cx="2331720" cy="965835"/>
            <a:chOff x="0" y="0"/>
            <a:chExt cx="3108960" cy="1287780"/>
          </a:xfrm>
        </p:grpSpPr>
        <p:sp>
          <p:nvSpPr>
            <p:cNvPr name="Freeform 119" id="119"/>
            <p:cNvSpPr/>
            <p:nvPr/>
          </p:nvSpPr>
          <p:spPr>
            <a:xfrm flipH="false" flipV="false" rot="0">
              <a:off x="0" y="0"/>
              <a:ext cx="3108960" cy="1287781"/>
            </a:xfrm>
            <a:custGeom>
              <a:avLst/>
              <a:gdLst/>
              <a:ahLst/>
              <a:cxnLst/>
              <a:rect r="r" b="b" t="t" l="l"/>
              <a:pathLst>
                <a:path h="1287781" w="3108960">
                  <a:moveTo>
                    <a:pt x="0" y="0"/>
                  </a:moveTo>
                  <a:lnTo>
                    <a:pt x="3108960" y="0"/>
                  </a:lnTo>
                  <a:lnTo>
                    <a:pt x="3108960" y="1287781"/>
                  </a:lnTo>
                  <a:lnTo>
                    <a:pt x="0" y="1287781"/>
                  </a:lnTo>
                  <a:close/>
                </a:path>
              </a:pathLst>
            </a:custGeom>
            <a:blipFill>
              <a:blip r:embed="rId6">
                <a:alphaModFix amt="0"/>
              </a:blip>
              <a:stretch>
                <a:fillRect l="-3145" t="0" r="-3145" b="0"/>
              </a:stretch>
            </a:blipFill>
          </p:spPr>
          <p:txBody>
            <a:bodyPr/>
            <a:p/>
          </p:txBody>
        </p:sp>
        <p:sp>
          <p:nvSpPr>
            <p:cNvPr name="TextBox 120" id="120"/>
            <p:cNvSpPr txBox="true"/>
            <p:nvPr/>
          </p:nvSpPr>
          <p:spPr>
            <a:xfrm>
              <a:off x="0" y="-95250"/>
              <a:ext cx="3108960" cy="1383030"/>
            </a:xfrm>
            <a:prstGeom prst="rect">
              <a:avLst/>
            </a:prstGeom>
          </p:spPr>
          <p:txBody>
            <a:bodyPr anchor="ctr" rtlCol="false" tIns="0" lIns="0" bIns="0" rIns="0"/>
            <a:lstStyle/>
            <a:p>
              <a:pPr algn="ctr">
                <a:lnSpc>
                  <a:spcPts val="5400"/>
                </a:lnSpc>
              </a:pPr>
              <a:r>
                <a:rPr lang="en-US" sz="4500" b="true">
                  <a:solidFill>
                    <a:srgbClr val="0B5E6E"/>
                  </a:solidFill>
                  <a:latin typeface="Calibri (MS) Bold"/>
                  <a:ea typeface="Calibri (MS) Bold"/>
                  <a:cs typeface="Calibri (MS) Bold"/>
                  <a:sym typeface="Calibri (MS) Bold"/>
                </a:rPr>
                <a:t>0,1</a:t>
              </a:r>
            </a:p>
          </p:txBody>
        </p:sp>
      </p:grpSp>
      <p:sp>
        <p:nvSpPr>
          <p:cNvPr name="TextBox 121" id="121"/>
          <p:cNvSpPr txBox="true"/>
          <p:nvPr/>
        </p:nvSpPr>
        <p:spPr>
          <a:xfrm rot="0">
            <a:off x="6741414" y="5400675"/>
            <a:ext cx="2331720" cy="497205"/>
          </a:xfrm>
          <a:prstGeom prst="rect">
            <a:avLst/>
          </a:prstGeom>
        </p:spPr>
        <p:txBody>
          <a:bodyPr anchor="t" rtlCol="false" tIns="0" lIns="0" bIns="0" rIns="0">
            <a:spAutoFit/>
          </a:bodyPr>
          <a:lstStyle/>
          <a:p>
            <a:pPr algn="ctr">
              <a:lnSpc>
                <a:spcPts val="1980"/>
              </a:lnSpc>
            </a:pPr>
            <a:r>
              <a:rPr lang="en-US" sz="1650">
                <a:solidFill>
                  <a:srgbClr val="5E6E78"/>
                </a:solidFill>
                <a:latin typeface="Calibri (MS)"/>
                <a:ea typeface="Calibri (MS)"/>
                <a:cs typeface="Calibri (MS)"/>
                <a:sym typeface="Calibri (MS)"/>
              </a:rPr>
              <a:t>Insentif Kebijakan</a:t>
            </a:r>
          </a:p>
        </p:txBody>
      </p:sp>
      <p:grpSp>
        <p:nvGrpSpPr>
          <p:cNvPr name="Group 122" id="122"/>
          <p:cNvGrpSpPr/>
          <p:nvPr/>
        </p:nvGrpSpPr>
        <p:grpSpPr>
          <a:xfrm rot="0">
            <a:off x="9210294" y="4663440"/>
            <a:ext cx="2331720" cy="822960"/>
            <a:chOff x="0" y="0"/>
            <a:chExt cx="3108960" cy="1097280"/>
          </a:xfrm>
        </p:grpSpPr>
        <p:sp>
          <p:nvSpPr>
            <p:cNvPr name="Freeform 123" id="123"/>
            <p:cNvSpPr/>
            <p:nvPr/>
          </p:nvSpPr>
          <p:spPr>
            <a:xfrm flipH="false" flipV="false" rot="0">
              <a:off x="0" y="0"/>
              <a:ext cx="3108960" cy="1097280"/>
            </a:xfrm>
            <a:custGeom>
              <a:avLst/>
              <a:gdLst/>
              <a:ahLst/>
              <a:cxnLst/>
              <a:rect r="r" b="b" t="t" l="l"/>
              <a:pathLst>
                <a:path h="1097280" w="3108960">
                  <a:moveTo>
                    <a:pt x="0" y="0"/>
                  </a:moveTo>
                  <a:lnTo>
                    <a:pt x="3108960" y="0"/>
                  </a:lnTo>
                  <a:lnTo>
                    <a:pt x="3108960" y="1097280"/>
                  </a:lnTo>
                  <a:lnTo>
                    <a:pt x="0" y="1097280"/>
                  </a:lnTo>
                  <a:close/>
                </a:path>
              </a:pathLst>
            </a:custGeom>
            <a:blipFill>
              <a:blip r:embed="rId4">
                <a:alphaModFix amt="0"/>
              </a:blip>
              <a:stretch>
                <a:fillRect l="0" t="-5168" r="0" b="-5168"/>
              </a:stretch>
            </a:blipFill>
          </p:spPr>
          <p:txBody>
            <a:bodyPr/>
            <a:p/>
          </p:txBody>
        </p:sp>
      </p:grpSp>
      <p:grpSp>
        <p:nvGrpSpPr>
          <p:cNvPr name="Group 124" id="124"/>
          <p:cNvGrpSpPr/>
          <p:nvPr/>
        </p:nvGrpSpPr>
        <p:grpSpPr>
          <a:xfrm rot="0">
            <a:off x="9210294" y="4592003"/>
            <a:ext cx="2331720" cy="894398"/>
            <a:chOff x="0" y="0"/>
            <a:chExt cx="3108960" cy="1192530"/>
          </a:xfrm>
        </p:grpSpPr>
        <p:sp>
          <p:nvSpPr>
            <p:cNvPr name="Freeform 125" id="125"/>
            <p:cNvSpPr/>
            <p:nvPr/>
          </p:nvSpPr>
          <p:spPr>
            <a:xfrm flipH="false" flipV="false" rot="0">
              <a:off x="0" y="0"/>
              <a:ext cx="3108960" cy="1192530"/>
            </a:xfrm>
            <a:custGeom>
              <a:avLst/>
              <a:gdLst/>
              <a:ahLst/>
              <a:cxnLst/>
              <a:rect r="r" b="b" t="t" l="l"/>
              <a:pathLst>
                <a:path h="1192530" w="3108960">
                  <a:moveTo>
                    <a:pt x="0" y="0"/>
                  </a:moveTo>
                  <a:lnTo>
                    <a:pt x="3108960" y="0"/>
                  </a:lnTo>
                  <a:lnTo>
                    <a:pt x="3108960" y="1192530"/>
                  </a:lnTo>
                  <a:lnTo>
                    <a:pt x="0" y="1192530"/>
                  </a:lnTo>
                  <a:close/>
                </a:path>
              </a:pathLst>
            </a:custGeom>
            <a:blipFill>
              <a:blip r:embed="rId5">
                <a:alphaModFix amt="0"/>
              </a:blip>
              <a:stretch>
                <a:fillRect l="0" t="-762" r="0" b="-762"/>
              </a:stretch>
            </a:blipFill>
          </p:spPr>
          <p:txBody>
            <a:bodyPr/>
            <a:p/>
          </p:txBody>
        </p:sp>
      </p:grpSp>
      <p:grpSp>
        <p:nvGrpSpPr>
          <p:cNvPr name="Group 126" id="126"/>
          <p:cNvGrpSpPr/>
          <p:nvPr/>
        </p:nvGrpSpPr>
        <p:grpSpPr>
          <a:xfrm rot="0">
            <a:off x="9210294" y="4520565"/>
            <a:ext cx="2331720" cy="965835"/>
            <a:chOff x="0" y="0"/>
            <a:chExt cx="3108960" cy="1287780"/>
          </a:xfrm>
        </p:grpSpPr>
        <p:sp>
          <p:nvSpPr>
            <p:cNvPr name="Freeform 127" id="127"/>
            <p:cNvSpPr/>
            <p:nvPr/>
          </p:nvSpPr>
          <p:spPr>
            <a:xfrm flipH="false" flipV="false" rot="0">
              <a:off x="0" y="0"/>
              <a:ext cx="3108960" cy="1287781"/>
            </a:xfrm>
            <a:custGeom>
              <a:avLst/>
              <a:gdLst/>
              <a:ahLst/>
              <a:cxnLst/>
              <a:rect r="r" b="b" t="t" l="l"/>
              <a:pathLst>
                <a:path h="1287781" w="3108960">
                  <a:moveTo>
                    <a:pt x="0" y="0"/>
                  </a:moveTo>
                  <a:lnTo>
                    <a:pt x="3108960" y="0"/>
                  </a:lnTo>
                  <a:lnTo>
                    <a:pt x="3108960" y="1287781"/>
                  </a:lnTo>
                  <a:lnTo>
                    <a:pt x="0" y="1287781"/>
                  </a:lnTo>
                  <a:close/>
                </a:path>
              </a:pathLst>
            </a:custGeom>
            <a:blipFill>
              <a:blip r:embed="rId6">
                <a:alphaModFix amt="0"/>
              </a:blip>
              <a:stretch>
                <a:fillRect l="-3145" t="0" r="-3145" b="0"/>
              </a:stretch>
            </a:blipFill>
          </p:spPr>
          <p:txBody>
            <a:bodyPr/>
            <a:p/>
          </p:txBody>
        </p:sp>
        <p:sp>
          <p:nvSpPr>
            <p:cNvPr name="TextBox 128" id="128"/>
            <p:cNvSpPr txBox="true"/>
            <p:nvPr/>
          </p:nvSpPr>
          <p:spPr>
            <a:xfrm>
              <a:off x="0" y="-95250"/>
              <a:ext cx="3108960" cy="1383030"/>
            </a:xfrm>
            <a:prstGeom prst="rect">
              <a:avLst/>
            </a:prstGeom>
          </p:spPr>
          <p:txBody>
            <a:bodyPr anchor="ctr" rtlCol="false" tIns="0" lIns="0" bIns="0" rIns="0"/>
            <a:lstStyle/>
            <a:p>
              <a:pPr algn="ctr">
                <a:lnSpc>
                  <a:spcPts val="5400"/>
                </a:lnSpc>
              </a:pPr>
              <a:r>
                <a:rPr lang="en-US" sz="4500" b="true">
                  <a:solidFill>
                    <a:srgbClr val="0B5E6E"/>
                  </a:solidFill>
                  <a:latin typeface="Calibri (MS) Bold"/>
                  <a:ea typeface="Calibri (MS) Bold"/>
                  <a:cs typeface="Calibri (MS) Bold"/>
                  <a:sym typeface="Calibri (MS) Bold"/>
                </a:rPr>
                <a:t>1,0</a:t>
              </a:r>
            </a:p>
          </p:txBody>
        </p:sp>
      </p:grpSp>
      <p:sp>
        <p:nvSpPr>
          <p:cNvPr name="TextBox 129" id="129"/>
          <p:cNvSpPr txBox="true"/>
          <p:nvPr/>
        </p:nvSpPr>
        <p:spPr>
          <a:xfrm rot="0">
            <a:off x="9210294" y="5400675"/>
            <a:ext cx="2331720" cy="497205"/>
          </a:xfrm>
          <a:prstGeom prst="rect">
            <a:avLst/>
          </a:prstGeom>
        </p:spPr>
        <p:txBody>
          <a:bodyPr anchor="t" rtlCol="false" tIns="0" lIns="0" bIns="0" rIns="0">
            <a:spAutoFit/>
          </a:bodyPr>
          <a:lstStyle/>
          <a:p>
            <a:pPr algn="ctr">
              <a:lnSpc>
                <a:spcPts val="1980"/>
              </a:lnSpc>
            </a:pPr>
            <a:r>
              <a:rPr lang="en-US" sz="1650">
                <a:solidFill>
                  <a:srgbClr val="5E6E78"/>
                </a:solidFill>
                <a:latin typeface="Calibri (MS)"/>
                <a:ea typeface="Calibri (MS)"/>
                <a:cs typeface="Calibri (MS)"/>
                <a:sym typeface="Calibri (MS)"/>
              </a:rPr>
              <a:t>Konservasi Lahan</a:t>
            </a:r>
          </a:p>
        </p:txBody>
      </p:sp>
      <p:sp>
        <p:nvSpPr>
          <p:cNvPr name="TextBox 130" id="130"/>
          <p:cNvSpPr txBox="true"/>
          <p:nvPr/>
        </p:nvSpPr>
        <p:spPr>
          <a:xfrm rot="0">
            <a:off x="6809994" y="6057900"/>
            <a:ext cx="4663440" cy="203454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Dorongan investasi terbatas disertai pemenuhan kebutuhan lahan fasilitas pariwisata tanpa konversi lahan tambahan.</a:t>
            </a:r>
          </a:p>
        </p:txBody>
      </p:sp>
      <p:grpSp>
        <p:nvGrpSpPr>
          <p:cNvPr name="Group 131" id="131"/>
          <p:cNvGrpSpPr/>
          <p:nvPr/>
        </p:nvGrpSpPr>
        <p:grpSpPr>
          <a:xfrm rot="0">
            <a:off x="12111228" y="3634740"/>
            <a:ext cx="5349240" cy="4594860"/>
            <a:chOff x="0" y="0"/>
            <a:chExt cx="7132320" cy="6126480"/>
          </a:xfrm>
        </p:grpSpPr>
        <p:sp>
          <p:nvSpPr>
            <p:cNvPr name="Freeform 132" id="132"/>
            <p:cNvSpPr/>
            <p:nvPr/>
          </p:nvSpPr>
          <p:spPr>
            <a:xfrm flipH="false" flipV="false" rot="0">
              <a:off x="0" y="0"/>
              <a:ext cx="7132320" cy="6126480"/>
            </a:xfrm>
            <a:custGeom>
              <a:avLst/>
              <a:gdLst/>
              <a:ahLst/>
              <a:cxnLst/>
              <a:rect r="r" b="b" t="t" l="l"/>
              <a:pathLst>
                <a:path h="6126480" w="7132320">
                  <a:moveTo>
                    <a:pt x="0" y="182880"/>
                  </a:moveTo>
                  <a:cubicBezTo>
                    <a:pt x="0" y="81915"/>
                    <a:pt x="81915" y="0"/>
                    <a:pt x="182880" y="0"/>
                  </a:cubicBezTo>
                  <a:lnTo>
                    <a:pt x="6949440" y="0"/>
                  </a:lnTo>
                  <a:cubicBezTo>
                    <a:pt x="7050405" y="0"/>
                    <a:pt x="7132320" y="81915"/>
                    <a:pt x="7132320" y="182880"/>
                  </a:cubicBezTo>
                  <a:lnTo>
                    <a:pt x="7132320" y="5943600"/>
                  </a:lnTo>
                  <a:cubicBezTo>
                    <a:pt x="7132320" y="6044565"/>
                    <a:pt x="7050405" y="6126480"/>
                    <a:pt x="6949440" y="6126480"/>
                  </a:cubicBezTo>
                  <a:lnTo>
                    <a:pt x="182880" y="6126480"/>
                  </a:lnTo>
                  <a:cubicBezTo>
                    <a:pt x="81915" y="6126480"/>
                    <a:pt x="0" y="6044565"/>
                    <a:pt x="0" y="5943600"/>
                  </a:cubicBezTo>
                  <a:close/>
                </a:path>
              </a:pathLst>
            </a:custGeom>
            <a:solidFill>
              <a:srgbClr val="EAF8FA"/>
            </a:solidFill>
          </p:spPr>
          <p:txBody>
            <a:bodyPr/>
            <a:p/>
          </p:txBody>
        </p:sp>
      </p:grpSp>
      <p:grpSp>
        <p:nvGrpSpPr>
          <p:cNvPr name="Group 133" id="133"/>
          <p:cNvGrpSpPr/>
          <p:nvPr/>
        </p:nvGrpSpPr>
        <p:grpSpPr>
          <a:xfrm rot="0">
            <a:off x="12111228" y="3634740"/>
            <a:ext cx="5349240" cy="822960"/>
            <a:chOff x="0" y="0"/>
            <a:chExt cx="7132320" cy="1097280"/>
          </a:xfrm>
        </p:grpSpPr>
        <p:sp>
          <p:nvSpPr>
            <p:cNvPr name="Freeform 134" id="134"/>
            <p:cNvSpPr/>
            <p:nvPr/>
          </p:nvSpPr>
          <p:spPr>
            <a:xfrm flipH="false" flipV="false" rot="0">
              <a:off x="0" y="0"/>
              <a:ext cx="7132320" cy="1097280"/>
            </a:xfrm>
            <a:custGeom>
              <a:avLst/>
              <a:gdLst/>
              <a:ahLst/>
              <a:cxnLst/>
              <a:rect r="r" b="b" t="t" l="l"/>
              <a:pathLst>
                <a:path h="1097280" w="7132320">
                  <a:moveTo>
                    <a:pt x="0" y="182880"/>
                  </a:moveTo>
                  <a:cubicBezTo>
                    <a:pt x="0" y="81915"/>
                    <a:pt x="81915" y="0"/>
                    <a:pt x="182880" y="0"/>
                  </a:cubicBezTo>
                  <a:lnTo>
                    <a:pt x="6949440" y="0"/>
                  </a:lnTo>
                  <a:cubicBezTo>
                    <a:pt x="7050405" y="0"/>
                    <a:pt x="7132320" y="81915"/>
                    <a:pt x="7132320" y="182880"/>
                  </a:cubicBezTo>
                  <a:lnTo>
                    <a:pt x="7132320" y="914400"/>
                  </a:lnTo>
                  <a:cubicBezTo>
                    <a:pt x="7132320" y="1015365"/>
                    <a:pt x="7050405" y="1097280"/>
                    <a:pt x="6949440" y="1097280"/>
                  </a:cubicBezTo>
                  <a:lnTo>
                    <a:pt x="182880" y="1097280"/>
                  </a:lnTo>
                  <a:cubicBezTo>
                    <a:pt x="81915" y="1097280"/>
                    <a:pt x="0" y="1015365"/>
                    <a:pt x="0" y="914400"/>
                  </a:cubicBezTo>
                  <a:close/>
                </a:path>
              </a:pathLst>
            </a:custGeom>
            <a:solidFill>
              <a:srgbClr val="FFD23B"/>
            </a:solidFill>
          </p:spPr>
          <p:txBody>
            <a:bodyPr/>
            <a:p/>
          </p:txBody>
        </p:sp>
      </p:grpSp>
      <p:grpSp>
        <p:nvGrpSpPr>
          <p:cNvPr name="Group 135" id="135"/>
          <p:cNvGrpSpPr/>
          <p:nvPr/>
        </p:nvGrpSpPr>
        <p:grpSpPr>
          <a:xfrm rot="0">
            <a:off x="12111228" y="3634740"/>
            <a:ext cx="5349240" cy="822960"/>
            <a:chOff x="0" y="0"/>
            <a:chExt cx="7132320" cy="1097280"/>
          </a:xfrm>
        </p:grpSpPr>
        <p:sp>
          <p:nvSpPr>
            <p:cNvPr name="Freeform 136" id="136"/>
            <p:cNvSpPr/>
            <p:nvPr/>
          </p:nvSpPr>
          <p:spPr>
            <a:xfrm flipH="false" flipV="false" rot="0">
              <a:off x="0" y="0"/>
              <a:ext cx="7132320" cy="1097280"/>
            </a:xfrm>
            <a:custGeom>
              <a:avLst/>
              <a:gdLst/>
              <a:ahLst/>
              <a:cxnLst/>
              <a:rect r="r" b="b" t="t" l="l"/>
              <a:pathLst>
                <a:path h="1097280" w="7132320">
                  <a:moveTo>
                    <a:pt x="0" y="0"/>
                  </a:moveTo>
                  <a:lnTo>
                    <a:pt x="7132320" y="0"/>
                  </a:lnTo>
                  <a:lnTo>
                    <a:pt x="7132320" y="1097280"/>
                  </a:lnTo>
                  <a:lnTo>
                    <a:pt x="0" y="1097280"/>
                  </a:lnTo>
                  <a:close/>
                </a:path>
              </a:pathLst>
            </a:custGeom>
            <a:blipFill>
              <a:blip r:embed="rId4">
                <a:alphaModFix amt="0"/>
              </a:blip>
              <a:stretch>
                <a:fillRect l="0" t="-76564" r="0" b="-76564"/>
              </a:stretch>
            </a:blipFill>
          </p:spPr>
          <p:txBody>
            <a:bodyPr/>
            <a:p/>
          </p:txBody>
        </p:sp>
      </p:grpSp>
      <p:grpSp>
        <p:nvGrpSpPr>
          <p:cNvPr name="Group 137" id="137"/>
          <p:cNvGrpSpPr/>
          <p:nvPr/>
        </p:nvGrpSpPr>
        <p:grpSpPr>
          <a:xfrm rot="0">
            <a:off x="12111228" y="3599021"/>
            <a:ext cx="5349240" cy="858679"/>
            <a:chOff x="0" y="0"/>
            <a:chExt cx="7132320" cy="1144905"/>
          </a:xfrm>
        </p:grpSpPr>
        <p:sp>
          <p:nvSpPr>
            <p:cNvPr name="Freeform 138" id="138"/>
            <p:cNvSpPr/>
            <p:nvPr/>
          </p:nvSpPr>
          <p:spPr>
            <a:xfrm flipH="false" flipV="false" rot="0">
              <a:off x="0" y="0"/>
              <a:ext cx="7132320" cy="1144905"/>
            </a:xfrm>
            <a:custGeom>
              <a:avLst/>
              <a:gdLst/>
              <a:ahLst/>
              <a:cxnLst/>
              <a:rect r="r" b="b" t="t" l="l"/>
              <a:pathLst>
                <a:path h="1144905" w="7132320">
                  <a:moveTo>
                    <a:pt x="0" y="0"/>
                  </a:moveTo>
                  <a:lnTo>
                    <a:pt x="7132320" y="0"/>
                  </a:lnTo>
                  <a:lnTo>
                    <a:pt x="7132320" y="1144905"/>
                  </a:lnTo>
                  <a:lnTo>
                    <a:pt x="0" y="1144905"/>
                  </a:lnTo>
                  <a:close/>
                </a:path>
              </a:pathLst>
            </a:custGeom>
            <a:blipFill>
              <a:blip r:embed="rId5">
                <a:alphaModFix amt="0"/>
              </a:blip>
              <a:stretch>
                <a:fillRect l="0" t="-71300" r="0" b="-71300"/>
              </a:stretch>
            </a:blipFill>
          </p:spPr>
          <p:txBody>
            <a:bodyPr/>
            <a:p/>
          </p:txBody>
        </p:sp>
      </p:grpSp>
      <p:grpSp>
        <p:nvGrpSpPr>
          <p:cNvPr name="Group 139" id="139"/>
          <p:cNvGrpSpPr/>
          <p:nvPr/>
        </p:nvGrpSpPr>
        <p:grpSpPr>
          <a:xfrm rot="0">
            <a:off x="12111228" y="3563303"/>
            <a:ext cx="5349240" cy="894398"/>
            <a:chOff x="0" y="0"/>
            <a:chExt cx="7132320" cy="1192530"/>
          </a:xfrm>
        </p:grpSpPr>
        <p:sp>
          <p:nvSpPr>
            <p:cNvPr name="Freeform 140" id="140"/>
            <p:cNvSpPr/>
            <p:nvPr/>
          </p:nvSpPr>
          <p:spPr>
            <a:xfrm flipH="false" flipV="false" rot="0">
              <a:off x="0" y="0"/>
              <a:ext cx="7132320" cy="1192530"/>
            </a:xfrm>
            <a:custGeom>
              <a:avLst/>
              <a:gdLst/>
              <a:ahLst/>
              <a:cxnLst/>
              <a:rect r="r" b="b" t="t" l="l"/>
              <a:pathLst>
                <a:path h="1192530" w="7132320">
                  <a:moveTo>
                    <a:pt x="0" y="0"/>
                  </a:moveTo>
                  <a:lnTo>
                    <a:pt x="7132320" y="0"/>
                  </a:lnTo>
                  <a:lnTo>
                    <a:pt x="7132320" y="1192530"/>
                  </a:lnTo>
                  <a:lnTo>
                    <a:pt x="0" y="1192530"/>
                  </a:lnTo>
                  <a:close/>
                </a:path>
              </a:pathLst>
            </a:custGeom>
            <a:blipFill>
              <a:blip r:embed="rId6">
                <a:alphaModFix amt="0"/>
              </a:blip>
              <a:stretch>
                <a:fillRect l="0" t="-66536" r="0" b="-66536"/>
              </a:stretch>
            </a:blipFill>
          </p:spPr>
          <p:txBody>
            <a:bodyPr/>
            <a:p/>
          </p:txBody>
        </p:sp>
        <p:sp>
          <p:nvSpPr>
            <p:cNvPr name="TextBox 141" id="141"/>
            <p:cNvSpPr txBox="true"/>
            <p:nvPr/>
          </p:nvSpPr>
          <p:spPr>
            <a:xfrm>
              <a:off x="0" y="-47625"/>
              <a:ext cx="7132320" cy="1240155"/>
            </a:xfrm>
            <a:prstGeom prst="rect">
              <a:avLst/>
            </a:prstGeom>
          </p:spPr>
          <p:txBody>
            <a:bodyPr anchor="ctr" rtlCol="false" tIns="0" lIns="0" bIns="0" rIns="0"/>
            <a:lstStyle/>
            <a:p>
              <a:pPr algn="ctr">
                <a:lnSpc>
                  <a:spcPts val="3060"/>
                </a:lnSpc>
              </a:pPr>
              <a:r>
                <a:rPr lang="en-US" sz="2550" b="true">
                  <a:solidFill>
                    <a:srgbClr val="14313B"/>
                  </a:solidFill>
                  <a:latin typeface="Calibri (MS) Bold"/>
                  <a:ea typeface="Calibri (MS) Bold"/>
                  <a:cs typeface="Calibri (MS) Bold"/>
                  <a:sym typeface="Calibri (MS) Bold"/>
                </a:rPr>
                <a:t>Development Priority</a:t>
              </a:r>
            </a:p>
          </p:txBody>
        </p:sp>
      </p:grpSp>
      <p:grpSp>
        <p:nvGrpSpPr>
          <p:cNvPr name="Group 142" id="142"/>
          <p:cNvGrpSpPr/>
          <p:nvPr/>
        </p:nvGrpSpPr>
        <p:grpSpPr>
          <a:xfrm rot="0">
            <a:off x="12385548" y="4663440"/>
            <a:ext cx="2331720" cy="822960"/>
            <a:chOff x="0" y="0"/>
            <a:chExt cx="3108960" cy="1097280"/>
          </a:xfrm>
        </p:grpSpPr>
        <p:sp>
          <p:nvSpPr>
            <p:cNvPr name="Freeform 143" id="143"/>
            <p:cNvSpPr/>
            <p:nvPr/>
          </p:nvSpPr>
          <p:spPr>
            <a:xfrm flipH="false" flipV="false" rot="0">
              <a:off x="0" y="0"/>
              <a:ext cx="3108960" cy="1097280"/>
            </a:xfrm>
            <a:custGeom>
              <a:avLst/>
              <a:gdLst/>
              <a:ahLst/>
              <a:cxnLst/>
              <a:rect r="r" b="b" t="t" l="l"/>
              <a:pathLst>
                <a:path h="1097280" w="3108960">
                  <a:moveTo>
                    <a:pt x="0" y="0"/>
                  </a:moveTo>
                  <a:lnTo>
                    <a:pt x="3108960" y="0"/>
                  </a:lnTo>
                  <a:lnTo>
                    <a:pt x="3108960" y="1097280"/>
                  </a:lnTo>
                  <a:lnTo>
                    <a:pt x="0" y="1097280"/>
                  </a:lnTo>
                  <a:close/>
                </a:path>
              </a:pathLst>
            </a:custGeom>
            <a:blipFill>
              <a:blip r:embed="rId4">
                <a:alphaModFix amt="0"/>
              </a:blip>
              <a:stretch>
                <a:fillRect l="0" t="-5168" r="0" b="-5168"/>
              </a:stretch>
            </a:blipFill>
          </p:spPr>
          <p:txBody>
            <a:bodyPr/>
            <a:p/>
          </p:txBody>
        </p:sp>
      </p:grpSp>
      <p:grpSp>
        <p:nvGrpSpPr>
          <p:cNvPr name="Group 144" id="144"/>
          <p:cNvGrpSpPr/>
          <p:nvPr/>
        </p:nvGrpSpPr>
        <p:grpSpPr>
          <a:xfrm rot="0">
            <a:off x="12385548" y="4592003"/>
            <a:ext cx="2331720" cy="894398"/>
            <a:chOff x="0" y="0"/>
            <a:chExt cx="3108960" cy="1192530"/>
          </a:xfrm>
        </p:grpSpPr>
        <p:sp>
          <p:nvSpPr>
            <p:cNvPr name="Freeform 145" id="145"/>
            <p:cNvSpPr/>
            <p:nvPr/>
          </p:nvSpPr>
          <p:spPr>
            <a:xfrm flipH="false" flipV="false" rot="0">
              <a:off x="0" y="0"/>
              <a:ext cx="3108960" cy="1192530"/>
            </a:xfrm>
            <a:custGeom>
              <a:avLst/>
              <a:gdLst/>
              <a:ahLst/>
              <a:cxnLst/>
              <a:rect r="r" b="b" t="t" l="l"/>
              <a:pathLst>
                <a:path h="1192530" w="3108960">
                  <a:moveTo>
                    <a:pt x="0" y="0"/>
                  </a:moveTo>
                  <a:lnTo>
                    <a:pt x="3108960" y="0"/>
                  </a:lnTo>
                  <a:lnTo>
                    <a:pt x="3108960" y="1192530"/>
                  </a:lnTo>
                  <a:lnTo>
                    <a:pt x="0" y="1192530"/>
                  </a:lnTo>
                  <a:close/>
                </a:path>
              </a:pathLst>
            </a:custGeom>
            <a:blipFill>
              <a:blip r:embed="rId5">
                <a:alphaModFix amt="0"/>
              </a:blip>
              <a:stretch>
                <a:fillRect l="0" t="-762" r="0" b="-762"/>
              </a:stretch>
            </a:blipFill>
          </p:spPr>
          <p:txBody>
            <a:bodyPr/>
            <a:p/>
          </p:txBody>
        </p:sp>
      </p:grpSp>
      <p:grpSp>
        <p:nvGrpSpPr>
          <p:cNvPr name="Group 146" id="146"/>
          <p:cNvGrpSpPr/>
          <p:nvPr/>
        </p:nvGrpSpPr>
        <p:grpSpPr>
          <a:xfrm rot="0">
            <a:off x="12385548" y="4520565"/>
            <a:ext cx="2331720" cy="965835"/>
            <a:chOff x="0" y="0"/>
            <a:chExt cx="3108960" cy="1287780"/>
          </a:xfrm>
        </p:grpSpPr>
        <p:sp>
          <p:nvSpPr>
            <p:cNvPr name="Freeform 147" id="147"/>
            <p:cNvSpPr/>
            <p:nvPr/>
          </p:nvSpPr>
          <p:spPr>
            <a:xfrm flipH="false" flipV="false" rot="0">
              <a:off x="0" y="0"/>
              <a:ext cx="3108960" cy="1287781"/>
            </a:xfrm>
            <a:custGeom>
              <a:avLst/>
              <a:gdLst/>
              <a:ahLst/>
              <a:cxnLst/>
              <a:rect r="r" b="b" t="t" l="l"/>
              <a:pathLst>
                <a:path h="1287781" w="3108960">
                  <a:moveTo>
                    <a:pt x="0" y="0"/>
                  </a:moveTo>
                  <a:lnTo>
                    <a:pt x="3108960" y="0"/>
                  </a:lnTo>
                  <a:lnTo>
                    <a:pt x="3108960" y="1287781"/>
                  </a:lnTo>
                  <a:lnTo>
                    <a:pt x="0" y="1287781"/>
                  </a:lnTo>
                  <a:close/>
                </a:path>
              </a:pathLst>
            </a:custGeom>
            <a:blipFill>
              <a:blip r:embed="rId6">
                <a:alphaModFix amt="0"/>
              </a:blip>
              <a:stretch>
                <a:fillRect l="-3145" t="0" r="-3145" b="0"/>
              </a:stretch>
            </a:blipFill>
          </p:spPr>
          <p:txBody>
            <a:bodyPr/>
            <a:p/>
          </p:txBody>
        </p:sp>
        <p:sp>
          <p:nvSpPr>
            <p:cNvPr name="TextBox 148" id="148"/>
            <p:cNvSpPr txBox="true"/>
            <p:nvPr/>
          </p:nvSpPr>
          <p:spPr>
            <a:xfrm>
              <a:off x="0" y="-95250"/>
              <a:ext cx="3108960" cy="1383030"/>
            </a:xfrm>
            <a:prstGeom prst="rect">
              <a:avLst/>
            </a:prstGeom>
          </p:spPr>
          <p:txBody>
            <a:bodyPr anchor="ctr" rtlCol="false" tIns="0" lIns="0" bIns="0" rIns="0"/>
            <a:lstStyle/>
            <a:p>
              <a:pPr algn="ctr">
                <a:lnSpc>
                  <a:spcPts val="5400"/>
                </a:lnSpc>
              </a:pPr>
              <a:r>
                <a:rPr lang="en-US" sz="4500" b="true">
                  <a:solidFill>
                    <a:srgbClr val="0B5E6E"/>
                  </a:solidFill>
                  <a:latin typeface="Calibri (MS) Bold"/>
                  <a:ea typeface="Calibri (MS) Bold"/>
                  <a:cs typeface="Calibri (MS) Bold"/>
                  <a:sym typeface="Calibri (MS) Bold"/>
                </a:rPr>
                <a:t>0,3</a:t>
              </a:r>
            </a:p>
          </p:txBody>
        </p:sp>
      </p:grpSp>
      <p:sp>
        <p:nvSpPr>
          <p:cNvPr name="TextBox 149" id="149"/>
          <p:cNvSpPr txBox="true"/>
          <p:nvPr/>
        </p:nvSpPr>
        <p:spPr>
          <a:xfrm rot="0">
            <a:off x="12385548" y="5400675"/>
            <a:ext cx="2331720" cy="497205"/>
          </a:xfrm>
          <a:prstGeom prst="rect">
            <a:avLst/>
          </a:prstGeom>
        </p:spPr>
        <p:txBody>
          <a:bodyPr anchor="t" rtlCol="false" tIns="0" lIns="0" bIns="0" rIns="0">
            <a:spAutoFit/>
          </a:bodyPr>
          <a:lstStyle/>
          <a:p>
            <a:pPr algn="ctr">
              <a:lnSpc>
                <a:spcPts val="1980"/>
              </a:lnSpc>
            </a:pPr>
            <a:r>
              <a:rPr lang="en-US" sz="1650">
                <a:solidFill>
                  <a:srgbClr val="5E6E78"/>
                </a:solidFill>
                <a:latin typeface="Calibri (MS)"/>
                <a:ea typeface="Calibri (MS)"/>
                <a:cs typeface="Calibri (MS)"/>
                <a:sym typeface="Calibri (MS)"/>
              </a:rPr>
              <a:t>Insentif Kebijakan</a:t>
            </a:r>
          </a:p>
        </p:txBody>
      </p:sp>
      <p:grpSp>
        <p:nvGrpSpPr>
          <p:cNvPr name="Group 150" id="150"/>
          <p:cNvGrpSpPr/>
          <p:nvPr/>
        </p:nvGrpSpPr>
        <p:grpSpPr>
          <a:xfrm rot="0">
            <a:off x="14854428" y="4663440"/>
            <a:ext cx="2331720" cy="822960"/>
            <a:chOff x="0" y="0"/>
            <a:chExt cx="3108960" cy="1097280"/>
          </a:xfrm>
        </p:grpSpPr>
        <p:sp>
          <p:nvSpPr>
            <p:cNvPr name="Freeform 151" id="151"/>
            <p:cNvSpPr/>
            <p:nvPr/>
          </p:nvSpPr>
          <p:spPr>
            <a:xfrm flipH="false" flipV="false" rot="0">
              <a:off x="0" y="0"/>
              <a:ext cx="3108960" cy="1097280"/>
            </a:xfrm>
            <a:custGeom>
              <a:avLst/>
              <a:gdLst/>
              <a:ahLst/>
              <a:cxnLst/>
              <a:rect r="r" b="b" t="t" l="l"/>
              <a:pathLst>
                <a:path h="1097280" w="3108960">
                  <a:moveTo>
                    <a:pt x="0" y="0"/>
                  </a:moveTo>
                  <a:lnTo>
                    <a:pt x="3108960" y="0"/>
                  </a:lnTo>
                  <a:lnTo>
                    <a:pt x="3108960" y="1097280"/>
                  </a:lnTo>
                  <a:lnTo>
                    <a:pt x="0" y="1097280"/>
                  </a:lnTo>
                  <a:close/>
                </a:path>
              </a:pathLst>
            </a:custGeom>
            <a:blipFill>
              <a:blip r:embed="rId4">
                <a:alphaModFix amt="0"/>
              </a:blip>
              <a:stretch>
                <a:fillRect l="0" t="-5168" r="0" b="-5168"/>
              </a:stretch>
            </a:blipFill>
          </p:spPr>
          <p:txBody>
            <a:bodyPr/>
            <a:p/>
          </p:txBody>
        </p:sp>
      </p:grpSp>
      <p:grpSp>
        <p:nvGrpSpPr>
          <p:cNvPr name="Group 152" id="152"/>
          <p:cNvGrpSpPr/>
          <p:nvPr/>
        </p:nvGrpSpPr>
        <p:grpSpPr>
          <a:xfrm rot="0">
            <a:off x="14854428" y="4592003"/>
            <a:ext cx="2331720" cy="894398"/>
            <a:chOff x="0" y="0"/>
            <a:chExt cx="3108960" cy="1192530"/>
          </a:xfrm>
        </p:grpSpPr>
        <p:sp>
          <p:nvSpPr>
            <p:cNvPr name="Freeform 153" id="153"/>
            <p:cNvSpPr/>
            <p:nvPr/>
          </p:nvSpPr>
          <p:spPr>
            <a:xfrm flipH="false" flipV="false" rot="0">
              <a:off x="0" y="0"/>
              <a:ext cx="3108960" cy="1192530"/>
            </a:xfrm>
            <a:custGeom>
              <a:avLst/>
              <a:gdLst/>
              <a:ahLst/>
              <a:cxnLst/>
              <a:rect r="r" b="b" t="t" l="l"/>
              <a:pathLst>
                <a:path h="1192530" w="3108960">
                  <a:moveTo>
                    <a:pt x="0" y="0"/>
                  </a:moveTo>
                  <a:lnTo>
                    <a:pt x="3108960" y="0"/>
                  </a:lnTo>
                  <a:lnTo>
                    <a:pt x="3108960" y="1192530"/>
                  </a:lnTo>
                  <a:lnTo>
                    <a:pt x="0" y="1192530"/>
                  </a:lnTo>
                  <a:close/>
                </a:path>
              </a:pathLst>
            </a:custGeom>
            <a:blipFill>
              <a:blip r:embed="rId5">
                <a:alphaModFix amt="0"/>
              </a:blip>
              <a:stretch>
                <a:fillRect l="0" t="-762" r="0" b="-762"/>
              </a:stretch>
            </a:blipFill>
          </p:spPr>
          <p:txBody>
            <a:bodyPr/>
            <a:p/>
          </p:txBody>
        </p:sp>
      </p:grpSp>
      <p:grpSp>
        <p:nvGrpSpPr>
          <p:cNvPr name="Group 154" id="154"/>
          <p:cNvGrpSpPr/>
          <p:nvPr/>
        </p:nvGrpSpPr>
        <p:grpSpPr>
          <a:xfrm rot="0">
            <a:off x="14854428" y="4520565"/>
            <a:ext cx="2331720" cy="965835"/>
            <a:chOff x="0" y="0"/>
            <a:chExt cx="3108960" cy="1287780"/>
          </a:xfrm>
        </p:grpSpPr>
        <p:sp>
          <p:nvSpPr>
            <p:cNvPr name="Freeform 155" id="155"/>
            <p:cNvSpPr/>
            <p:nvPr/>
          </p:nvSpPr>
          <p:spPr>
            <a:xfrm flipH="false" flipV="false" rot="0">
              <a:off x="0" y="0"/>
              <a:ext cx="3108960" cy="1287781"/>
            </a:xfrm>
            <a:custGeom>
              <a:avLst/>
              <a:gdLst/>
              <a:ahLst/>
              <a:cxnLst/>
              <a:rect r="r" b="b" t="t" l="l"/>
              <a:pathLst>
                <a:path h="1287781" w="3108960">
                  <a:moveTo>
                    <a:pt x="0" y="0"/>
                  </a:moveTo>
                  <a:lnTo>
                    <a:pt x="3108960" y="0"/>
                  </a:lnTo>
                  <a:lnTo>
                    <a:pt x="3108960" y="1287781"/>
                  </a:lnTo>
                  <a:lnTo>
                    <a:pt x="0" y="1287781"/>
                  </a:lnTo>
                  <a:close/>
                </a:path>
              </a:pathLst>
            </a:custGeom>
            <a:blipFill>
              <a:blip r:embed="rId6">
                <a:alphaModFix amt="0"/>
              </a:blip>
              <a:stretch>
                <a:fillRect l="-3145" t="0" r="-3145" b="0"/>
              </a:stretch>
            </a:blipFill>
          </p:spPr>
          <p:txBody>
            <a:bodyPr/>
            <a:p/>
          </p:txBody>
        </p:sp>
        <p:sp>
          <p:nvSpPr>
            <p:cNvPr name="TextBox 156" id="156"/>
            <p:cNvSpPr txBox="true"/>
            <p:nvPr/>
          </p:nvSpPr>
          <p:spPr>
            <a:xfrm>
              <a:off x="0" y="-95250"/>
              <a:ext cx="3108960" cy="1383030"/>
            </a:xfrm>
            <a:prstGeom prst="rect">
              <a:avLst/>
            </a:prstGeom>
          </p:spPr>
          <p:txBody>
            <a:bodyPr anchor="ctr" rtlCol="false" tIns="0" lIns="0" bIns="0" rIns="0"/>
            <a:lstStyle/>
            <a:p>
              <a:pPr algn="ctr">
                <a:lnSpc>
                  <a:spcPts val="5400"/>
                </a:lnSpc>
              </a:pPr>
              <a:r>
                <a:rPr lang="en-US" sz="4500" b="true">
                  <a:solidFill>
                    <a:srgbClr val="0B5E6E"/>
                  </a:solidFill>
                  <a:latin typeface="Calibri (MS) Bold"/>
                  <a:ea typeface="Calibri (MS) Bold"/>
                  <a:cs typeface="Calibri (MS) Bold"/>
                  <a:sym typeface="Calibri (MS) Bold"/>
                </a:rPr>
                <a:t>0</a:t>
              </a:r>
            </a:p>
          </p:txBody>
        </p:sp>
      </p:grpSp>
      <p:sp>
        <p:nvSpPr>
          <p:cNvPr name="TextBox 157" id="157"/>
          <p:cNvSpPr txBox="true"/>
          <p:nvPr/>
        </p:nvSpPr>
        <p:spPr>
          <a:xfrm rot="0">
            <a:off x="14854428" y="5400675"/>
            <a:ext cx="2331720" cy="497205"/>
          </a:xfrm>
          <a:prstGeom prst="rect">
            <a:avLst/>
          </a:prstGeom>
        </p:spPr>
        <p:txBody>
          <a:bodyPr anchor="t" rtlCol="false" tIns="0" lIns="0" bIns="0" rIns="0">
            <a:spAutoFit/>
          </a:bodyPr>
          <a:lstStyle/>
          <a:p>
            <a:pPr algn="ctr">
              <a:lnSpc>
                <a:spcPts val="1980"/>
              </a:lnSpc>
            </a:pPr>
            <a:r>
              <a:rPr lang="en-US" sz="1650">
                <a:solidFill>
                  <a:srgbClr val="5E6E78"/>
                </a:solidFill>
                <a:latin typeface="Calibri (MS)"/>
                <a:ea typeface="Calibri (MS)"/>
                <a:cs typeface="Calibri (MS)"/>
                <a:sym typeface="Calibri (MS)"/>
              </a:rPr>
              <a:t>Konservasi Lahan</a:t>
            </a:r>
          </a:p>
        </p:txBody>
      </p:sp>
      <p:sp>
        <p:nvSpPr>
          <p:cNvPr name="TextBox 158" id="158"/>
          <p:cNvSpPr txBox="true"/>
          <p:nvPr/>
        </p:nvSpPr>
        <p:spPr>
          <a:xfrm rot="0">
            <a:off x="12454128" y="6057900"/>
            <a:ext cx="4663440" cy="203454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Ekspansi investasi agresif tanpa pengendalian kebutuhan lahan pariwisata.</a:t>
            </a:r>
          </a:p>
        </p:txBody>
      </p:sp>
      <p:grpSp>
        <p:nvGrpSpPr>
          <p:cNvPr name="Group 159" id="159"/>
          <p:cNvGrpSpPr/>
          <p:nvPr/>
        </p:nvGrpSpPr>
        <p:grpSpPr>
          <a:xfrm rot="0">
            <a:off x="822960" y="8503920"/>
            <a:ext cx="16637508" cy="754380"/>
            <a:chOff x="0" y="0"/>
            <a:chExt cx="22183344" cy="1005840"/>
          </a:xfrm>
        </p:grpSpPr>
        <p:sp>
          <p:nvSpPr>
            <p:cNvPr name="Freeform 160" id="160"/>
            <p:cNvSpPr/>
            <p:nvPr/>
          </p:nvSpPr>
          <p:spPr>
            <a:xfrm flipH="false" flipV="false" rot="0">
              <a:off x="0" y="0"/>
              <a:ext cx="22183344" cy="1005840"/>
            </a:xfrm>
            <a:custGeom>
              <a:avLst/>
              <a:gdLst/>
              <a:ahLst/>
              <a:cxnLst/>
              <a:rect r="r" b="b" t="t" l="l"/>
              <a:pathLst>
                <a:path h="1005840" w="22183344">
                  <a:moveTo>
                    <a:pt x="0" y="182880"/>
                  </a:moveTo>
                  <a:cubicBezTo>
                    <a:pt x="0" y="81915"/>
                    <a:pt x="81915" y="0"/>
                    <a:pt x="182880" y="0"/>
                  </a:cubicBezTo>
                  <a:lnTo>
                    <a:pt x="22000463" y="0"/>
                  </a:lnTo>
                  <a:cubicBezTo>
                    <a:pt x="22101428" y="0"/>
                    <a:pt x="22183344" y="81915"/>
                    <a:pt x="22183344" y="182880"/>
                  </a:cubicBezTo>
                  <a:lnTo>
                    <a:pt x="22183344" y="822960"/>
                  </a:lnTo>
                  <a:cubicBezTo>
                    <a:pt x="22183344" y="923925"/>
                    <a:pt x="22101428" y="1005840"/>
                    <a:pt x="22000463" y="1005840"/>
                  </a:cubicBezTo>
                  <a:lnTo>
                    <a:pt x="182880" y="1005840"/>
                  </a:lnTo>
                  <a:cubicBezTo>
                    <a:pt x="81915" y="1005840"/>
                    <a:pt x="0" y="923925"/>
                    <a:pt x="0" y="822960"/>
                  </a:cubicBezTo>
                  <a:close/>
                </a:path>
              </a:pathLst>
            </a:custGeom>
            <a:solidFill>
              <a:srgbClr val="0B5E6E"/>
            </a:solidFill>
          </p:spPr>
          <p:txBody>
            <a:bodyPr/>
            <a:p/>
          </p:txBody>
        </p:sp>
      </p:grpSp>
      <p:grpSp>
        <p:nvGrpSpPr>
          <p:cNvPr name="Group 161" id="161"/>
          <p:cNvGrpSpPr/>
          <p:nvPr/>
        </p:nvGrpSpPr>
        <p:grpSpPr>
          <a:xfrm rot="0">
            <a:off x="1234440" y="8503920"/>
            <a:ext cx="15814548" cy="754380"/>
            <a:chOff x="0" y="0"/>
            <a:chExt cx="21086064" cy="1005840"/>
          </a:xfrm>
        </p:grpSpPr>
        <p:sp>
          <p:nvSpPr>
            <p:cNvPr name="Freeform 162" id="162"/>
            <p:cNvSpPr/>
            <p:nvPr/>
          </p:nvSpPr>
          <p:spPr>
            <a:xfrm flipH="false" flipV="false" rot="0">
              <a:off x="0" y="0"/>
              <a:ext cx="21086063" cy="1005840"/>
            </a:xfrm>
            <a:custGeom>
              <a:avLst/>
              <a:gdLst/>
              <a:ahLst/>
              <a:cxnLst/>
              <a:rect r="r" b="b" t="t" l="l"/>
              <a:pathLst>
                <a:path h="1005840" w="21086063">
                  <a:moveTo>
                    <a:pt x="0" y="0"/>
                  </a:moveTo>
                  <a:lnTo>
                    <a:pt x="21086063" y="0"/>
                  </a:lnTo>
                  <a:lnTo>
                    <a:pt x="21086063" y="1005840"/>
                  </a:lnTo>
                  <a:lnTo>
                    <a:pt x="0" y="1005840"/>
                  </a:lnTo>
                  <a:close/>
                </a:path>
              </a:pathLst>
            </a:custGeom>
            <a:blipFill>
              <a:blip r:embed="rId4">
                <a:alphaModFix amt="0"/>
              </a:blip>
              <a:stretch>
                <a:fillRect l="0" t="-358193" r="0" b="-358193"/>
              </a:stretch>
            </a:blipFill>
          </p:spPr>
          <p:txBody>
            <a:bodyPr/>
            <a:p/>
          </p:txBody>
        </p:sp>
      </p:grpSp>
      <p:grpSp>
        <p:nvGrpSpPr>
          <p:cNvPr name="Group 163" id="163"/>
          <p:cNvGrpSpPr/>
          <p:nvPr/>
        </p:nvGrpSpPr>
        <p:grpSpPr>
          <a:xfrm rot="0">
            <a:off x="1234440" y="8475345"/>
            <a:ext cx="15814548" cy="782955"/>
            <a:chOff x="0" y="0"/>
            <a:chExt cx="21086064" cy="1043940"/>
          </a:xfrm>
        </p:grpSpPr>
        <p:sp>
          <p:nvSpPr>
            <p:cNvPr name="Freeform 164" id="164"/>
            <p:cNvSpPr/>
            <p:nvPr/>
          </p:nvSpPr>
          <p:spPr>
            <a:xfrm flipH="false" flipV="false" rot="0">
              <a:off x="0" y="0"/>
              <a:ext cx="21086063" cy="1043940"/>
            </a:xfrm>
            <a:custGeom>
              <a:avLst/>
              <a:gdLst/>
              <a:ahLst/>
              <a:cxnLst/>
              <a:rect r="r" b="b" t="t" l="l"/>
              <a:pathLst>
                <a:path h="1043940" w="21086063">
                  <a:moveTo>
                    <a:pt x="0" y="0"/>
                  </a:moveTo>
                  <a:lnTo>
                    <a:pt x="21086063" y="0"/>
                  </a:lnTo>
                  <a:lnTo>
                    <a:pt x="21086063" y="1043940"/>
                  </a:lnTo>
                  <a:lnTo>
                    <a:pt x="0" y="1043940"/>
                  </a:lnTo>
                  <a:close/>
                </a:path>
              </a:pathLst>
            </a:custGeom>
            <a:blipFill>
              <a:blip r:embed="rId5">
                <a:alphaModFix amt="0"/>
              </a:blip>
              <a:stretch>
                <a:fillRect l="0" t="-343295" r="0" b="-343295"/>
              </a:stretch>
            </a:blipFill>
          </p:spPr>
          <p:txBody>
            <a:bodyPr/>
            <a:p/>
          </p:txBody>
        </p:sp>
      </p:grpSp>
      <p:grpSp>
        <p:nvGrpSpPr>
          <p:cNvPr name="Group 165" id="165"/>
          <p:cNvGrpSpPr/>
          <p:nvPr/>
        </p:nvGrpSpPr>
        <p:grpSpPr>
          <a:xfrm rot="0">
            <a:off x="1234440" y="8446770"/>
            <a:ext cx="15814548" cy="811530"/>
            <a:chOff x="0" y="0"/>
            <a:chExt cx="21086064" cy="1082040"/>
          </a:xfrm>
        </p:grpSpPr>
        <p:sp>
          <p:nvSpPr>
            <p:cNvPr name="Freeform 166" id="166"/>
            <p:cNvSpPr/>
            <p:nvPr/>
          </p:nvSpPr>
          <p:spPr>
            <a:xfrm flipH="false" flipV="false" rot="0">
              <a:off x="0" y="0"/>
              <a:ext cx="21086065" cy="1082040"/>
            </a:xfrm>
            <a:custGeom>
              <a:avLst/>
              <a:gdLst/>
              <a:ahLst/>
              <a:cxnLst/>
              <a:rect r="r" b="b" t="t" l="l"/>
              <a:pathLst>
                <a:path h="1082040" w="21086065">
                  <a:moveTo>
                    <a:pt x="0" y="0"/>
                  </a:moveTo>
                  <a:lnTo>
                    <a:pt x="21086065" y="0"/>
                  </a:lnTo>
                  <a:lnTo>
                    <a:pt x="21086065" y="1082040"/>
                  </a:lnTo>
                  <a:lnTo>
                    <a:pt x="0" y="1082040"/>
                  </a:lnTo>
                  <a:close/>
                </a:path>
              </a:pathLst>
            </a:custGeom>
            <a:blipFill>
              <a:blip r:embed="rId6">
                <a:alphaModFix amt="0"/>
              </a:blip>
              <a:stretch>
                <a:fillRect l="0" t="-329711" r="0" b="-329711"/>
              </a:stretch>
            </a:blipFill>
          </p:spPr>
          <p:txBody>
            <a:bodyPr/>
            <a:p/>
          </p:txBody>
        </p:sp>
        <p:sp>
          <p:nvSpPr>
            <p:cNvPr name="TextBox 167" id="167"/>
            <p:cNvSpPr txBox="true"/>
            <p:nvPr/>
          </p:nvSpPr>
          <p:spPr>
            <a:xfrm>
              <a:off x="0" y="-38100"/>
              <a:ext cx="21086064" cy="1120140"/>
            </a:xfrm>
            <a:prstGeom prst="rect">
              <a:avLst/>
            </a:prstGeom>
          </p:spPr>
          <p:txBody>
            <a:bodyPr anchor="ctr" rtlCol="false" tIns="0" lIns="0" bIns="0" rIns="0"/>
            <a:lstStyle/>
            <a:p>
              <a:pPr algn="l">
                <a:lnSpc>
                  <a:spcPts val="2250"/>
                </a:lnSpc>
              </a:pPr>
              <a:r>
                <a:rPr lang="en-US" sz="1875">
                  <a:solidFill>
                    <a:srgbClr val="FFFFFF"/>
                  </a:solidFill>
                  <a:latin typeface="Calibri (MS)"/>
                  <a:ea typeface="Calibri (MS)"/>
                  <a:cs typeface="Calibri (MS)"/>
                  <a:sym typeface="Calibri (MS)"/>
                </a:rPr>
                <a:t>Skenario adalah paket dua variabel kebijakan → kontribusi masing-masing dipisahkan lewat simulasi tambahan (bukan skenario baru).</a:t>
              </a:r>
            </a:p>
          </p:txBody>
        </p:sp>
      </p:grpSp>
      <p:sp>
        <p:nvSpPr>
          <p:cNvPr name="TextBox 168" id="168"/>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56</a:t>
            </a:r>
          </a:p>
        </p:txBody>
      </p:sp>
      <p:grpSp>
        <p:nvGrpSpPr>
          <p:cNvPr name="Group 169" id="169"/>
          <p:cNvGrpSpPr/>
          <p:nvPr/>
        </p:nvGrpSpPr>
        <p:grpSpPr>
          <a:xfrm rot="0">
            <a:off x="12755880" y="274320"/>
            <a:ext cx="3931920" cy="411480"/>
            <a:chOff x="0" y="0"/>
            <a:chExt cx="5242560" cy="548640"/>
          </a:xfrm>
        </p:grpSpPr>
        <p:sp>
          <p:nvSpPr>
            <p:cNvPr name="Freeform 170" id="170"/>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71" id="171"/>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2G · Skenario kebijakan</a:t>
              </a:r>
            </a:p>
          </p:txBody>
        </p:sp>
      </p:grpSp>
      <p:grpSp>
        <p:nvGrpSpPr>
          <p:cNvPr name="Group 172" id="172"/>
          <p:cNvGrpSpPr/>
          <p:nvPr/>
        </p:nvGrpSpPr>
        <p:grpSpPr>
          <a:xfrm rot="0">
            <a:off x="16047720" y="9646920"/>
            <a:ext cx="420624" cy="420624"/>
            <a:chOff x="0" y="0"/>
            <a:chExt cx="560832" cy="560832"/>
          </a:xfrm>
        </p:grpSpPr>
        <p:sp>
          <p:nvSpPr>
            <p:cNvPr name="Freeform 173" id="173"/>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74" id="174"/>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5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Hasil Perbandingan Skenario</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Tidak ada skenario yang unggul di ketiga dimensi sekaligus</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aphicFrame>
        <p:nvGraphicFramePr>
          <p:cNvPr name="Table 66" id="66"/>
          <p:cNvGraphicFramePr>
            <a:graphicFrameLocks noGrp="true"/>
          </p:cNvGraphicFramePr>
          <p:nvPr/>
        </p:nvGraphicFramePr>
        <p:xfrm>
          <a:off x="822960" y="2331720"/>
          <a:ext cx="16535400" cy="5346700"/>
        </p:xfrm>
        <a:graphic>
          <a:graphicData uri="http://schemas.openxmlformats.org/drawingml/2006/table">
            <a:tbl>
              <a:tblPr/>
              <a:tblGrid>
                <a:gridCol w="2069763"/>
                <a:gridCol w="6211970"/>
                <a:gridCol w="2604241"/>
                <a:gridCol w="2737861"/>
                <a:gridCol w="2911565"/>
              </a:tblGrid>
              <a:tr h="555897">
                <a:tc>
                  <a:txBody>
                    <a:bodyPr anchor="t" rtlCol="false"/>
                    <a:lstStyle/>
                    <a:p>
                      <a:pPr algn="ctr">
                        <a:lnSpc>
                          <a:spcPts val="2160"/>
                        </a:lnSpc>
                        <a:defRPr/>
                      </a:pPr>
                      <a:r>
                        <a:rPr lang="en-US" sz="1800" b="true">
                          <a:solidFill>
                            <a:srgbClr val="FFFFFF"/>
                          </a:solidFill>
                          <a:latin typeface="Calibri (MS) Bold"/>
                          <a:ea typeface="Calibri (MS) Bold"/>
                          <a:cs typeface="Calibri (MS) Bold"/>
                          <a:sym typeface="Calibri (MS) Bold"/>
                        </a:rPr>
                        <a:t>Dimensi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2160"/>
                        </a:lnSpc>
                        <a:defRPr/>
                      </a:pPr>
                      <a:r>
                        <a:rPr lang="en-US" sz="1800" b="true">
                          <a:solidFill>
                            <a:srgbClr val="FFFFFF"/>
                          </a:solidFill>
                          <a:latin typeface="Calibri (MS) Bold"/>
                          <a:ea typeface="Calibri (MS) Bold"/>
                          <a:cs typeface="Calibri (MS) Bold"/>
                          <a:sym typeface="Calibri (MS) Bold"/>
                        </a:rPr>
                        <a:t>Indikator tahun 2050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160"/>
                        </a:lnSpc>
                        <a:defRPr/>
                      </a:pPr>
                      <a:r>
                        <a:rPr lang="en-US" sz="1800" b="true">
                          <a:solidFill>
                            <a:srgbClr val="FFFFFF"/>
                          </a:solidFill>
                          <a:latin typeface="Calibri (MS) Bold"/>
                          <a:ea typeface="Calibri (MS) Bold"/>
                          <a:cs typeface="Calibri (MS) Bold"/>
                          <a:sym typeface="Calibri (MS) Bold"/>
                        </a:rPr>
                        <a:t>BAU</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160"/>
                        </a:lnSpc>
                        <a:defRPr/>
                      </a:pPr>
                      <a:r>
                        <a:rPr lang="en-US" sz="1800" b="true">
                          <a:solidFill>
                            <a:srgbClr val="FFFFFF"/>
                          </a:solidFill>
                          <a:latin typeface="Calibri (MS) Bold"/>
                          <a:ea typeface="Calibri (MS) Bold"/>
                          <a:cs typeface="Calibri (MS) Bold"/>
                          <a:sym typeface="Calibri (MS) Bold"/>
                        </a:rPr>
                        <a:t>Sustainable</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160"/>
                        </a:lnSpc>
                        <a:defRPr/>
                      </a:pPr>
                      <a:r>
                        <a:rPr lang="en-US" sz="1800" b="true">
                          <a:solidFill>
                            <a:srgbClr val="FFFFFF"/>
                          </a:solidFill>
                          <a:latin typeface="Calibri (MS) Bold"/>
                          <a:ea typeface="Calibri (MS) Bold"/>
                          <a:cs typeface="Calibri (MS) Bold"/>
                          <a:sym typeface="Calibri (MS) Bold"/>
                        </a:rPr>
                        <a:t>Development Priority</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r>
              <a:tr h="532311">
                <a:tc rowSpan="3">
                  <a:txBody>
                    <a:bodyPr anchor="t" rtlCol="false"/>
                    <a:lstStyle/>
                    <a:p>
                      <a:pPr algn="ctr">
                        <a:lnSpc>
                          <a:spcPts val="2250"/>
                        </a:lnSpc>
                        <a:defRPr/>
                      </a:pPr>
                      <a:r>
                        <a:rPr lang="en-US" sz="1875" b="true">
                          <a:solidFill>
                            <a:srgbClr val="0B5E6E"/>
                          </a:solidFill>
                          <a:latin typeface="Calibri (MS) Bold"/>
                          <a:ea typeface="Calibri (MS) Bold"/>
                          <a:cs typeface="Calibri (MS) Bold"/>
                          <a:sym typeface="Calibri (MS) Bold"/>
                        </a:rPr>
                        <a:t>Ekonomi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250"/>
                        </a:lnSpc>
                        <a:defRPr/>
                      </a:pPr>
                      <a:r>
                        <a:rPr lang="en-US" sz="1875">
                          <a:solidFill>
                            <a:srgbClr val="14313B"/>
                          </a:solidFill>
                          <a:latin typeface="Calibri (MS)"/>
                          <a:ea typeface="Calibri (MS)"/>
                          <a:cs typeface="Calibri (MS)"/>
                          <a:sym typeface="Calibri (MS)"/>
                        </a:rPr>
                        <a:t>Lapangan kerja pariwisata (jiwa)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650.355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667.458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b="true">
                          <a:solidFill>
                            <a:srgbClr val="14313B"/>
                          </a:solidFill>
                          <a:latin typeface="Calibri (MS) Bold"/>
                          <a:ea typeface="Calibri (MS) Bold"/>
                          <a:cs typeface="Calibri (MS) Bold"/>
                          <a:sym typeface="Calibri (MS) Bold"/>
                        </a:rPr>
                        <a:t>697.021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BDEFF3"/>
                    </a:solidFill>
                  </a:tcPr>
                </a:tc>
              </a:tr>
              <a:tr h="532311">
                <a:tc vMerge="true">
                  <a:txBody>
                    <a:bodyPr anchor="t" rtlCol="false"/>
                    <a:lstStyle/>
                    <a:p>
                      <a:pPr algn="ctr">
                        <a:lnSpc>
                          <a:spcPts val="2250"/>
                        </a:lnSpc>
                        <a:defRPr/>
                      </a:pPr>
                      <a:r>
                        <a:rPr lang="en-US" sz="1875" b="true">
                          <a:solidFill>
                            <a:srgbClr val="0B5E6E"/>
                          </a:solidFill>
                          <a:latin typeface="Calibri (MS) Bold"/>
                          <a:ea typeface="Calibri (MS) Bold"/>
                          <a:cs typeface="Calibri (MS) Bold"/>
                          <a:sym typeface="Calibri (MS) Bold"/>
                        </a:rPr>
                        <a:t>Ekonomi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250"/>
                        </a:lnSpc>
                        <a:defRPr/>
                      </a:pPr>
                      <a:r>
                        <a:rPr lang="en-US" sz="1875">
                          <a:solidFill>
                            <a:srgbClr val="14313B"/>
                          </a:solidFill>
                          <a:latin typeface="Calibri (MS)"/>
                          <a:ea typeface="Calibri (MS)"/>
                          <a:cs typeface="Calibri (MS)"/>
                          <a:sym typeface="Calibri (MS)"/>
                        </a:rPr>
                        <a:t>PDRB pariwisata (miliar Rp)</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40.061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41.194</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b="true">
                          <a:solidFill>
                            <a:srgbClr val="14313B"/>
                          </a:solidFill>
                          <a:latin typeface="Calibri (MS) Bold"/>
                          <a:ea typeface="Calibri (MS) Bold"/>
                          <a:cs typeface="Calibri (MS) Bold"/>
                          <a:sym typeface="Calibri (MS) Bold"/>
                        </a:rPr>
                        <a:t>43.152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BDEFF3"/>
                    </a:solidFill>
                  </a:tcPr>
                </a:tc>
              </a:tr>
              <a:tr h="532311">
                <a:tc vMerge="true">
                  <a:txBody>
                    <a:bodyPr anchor="t" rtlCol="false"/>
                    <a:lstStyle/>
                    <a:p>
                      <a:pPr algn="ctr">
                        <a:lnSpc>
                          <a:spcPts val="2250"/>
                        </a:lnSpc>
                        <a:defRPr/>
                      </a:pPr>
                      <a:r>
                        <a:rPr lang="en-US" sz="1875" b="true">
                          <a:solidFill>
                            <a:srgbClr val="0B5E6E"/>
                          </a:solidFill>
                          <a:latin typeface="Calibri (MS) Bold"/>
                          <a:ea typeface="Calibri (MS) Bold"/>
                          <a:cs typeface="Calibri (MS) Bold"/>
                          <a:sym typeface="Calibri (MS) Bold"/>
                        </a:rPr>
                        <a:t>Ekonomi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250"/>
                        </a:lnSpc>
                        <a:defRPr/>
                      </a:pPr>
                      <a:r>
                        <a:rPr lang="en-US" sz="1875">
                          <a:solidFill>
                            <a:srgbClr val="14313B"/>
                          </a:solidFill>
                          <a:latin typeface="Calibri (MS)"/>
                          <a:ea typeface="Calibri (MS)"/>
                          <a:cs typeface="Calibri (MS)"/>
                          <a:sym typeface="Calibri (MS)"/>
                        </a:rPr>
                        <a:t>Investasi kumulatif (miliar Rp) · gambaran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37.318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41.550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50.133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32311">
                <a:tc rowSpan="3">
                  <a:txBody>
                    <a:bodyPr anchor="t" rtlCol="false"/>
                    <a:lstStyle/>
                    <a:p>
                      <a:pPr algn="ctr">
                        <a:lnSpc>
                          <a:spcPts val="2250"/>
                        </a:lnSpc>
                        <a:defRPr/>
                      </a:pPr>
                      <a:r>
                        <a:rPr lang="en-US" sz="1875" b="true">
                          <a:solidFill>
                            <a:srgbClr val="0B5E6E"/>
                          </a:solidFill>
                          <a:latin typeface="Calibri (MS) Bold"/>
                          <a:ea typeface="Calibri (MS) Bold"/>
                          <a:cs typeface="Calibri (MS) Bold"/>
                          <a:sym typeface="Calibri (MS) Bold"/>
                        </a:rPr>
                        <a:t>Lingkungan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250"/>
                        </a:lnSpc>
                        <a:defRPr/>
                      </a:pPr>
                      <a:r>
                        <a:rPr lang="en-US" sz="1875">
                          <a:solidFill>
                            <a:srgbClr val="14313B"/>
                          </a:solidFill>
                          <a:latin typeface="Calibri (MS)"/>
                          <a:ea typeface="Calibri (MS)"/>
                          <a:cs typeface="Calibri (MS)"/>
                          <a:sym typeface="Calibri (MS)"/>
                        </a:rPr>
                        <a:t>Rasio daya dukung lahan (batas &gt; 0,331)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0,6145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b="true">
                          <a:solidFill>
                            <a:srgbClr val="14313B"/>
                          </a:solidFill>
                          <a:latin typeface="Calibri (MS) Bold"/>
                          <a:ea typeface="Calibri (MS) Bold"/>
                          <a:cs typeface="Calibri (MS) Bold"/>
                          <a:sym typeface="Calibri (MS) Bold"/>
                        </a:rPr>
                        <a:t>0,6180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BDEFF3"/>
                    </a:solidFill>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0,6140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32311">
                <a:tc vMerge="true">
                  <a:txBody>
                    <a:bodyPr anchor="t" rtlCol="false"/>
                    <a:lstStyle/>
                    <a:p>
                      <a:pPr algn="ctr">
                        <a:lnSpc>
                          <a:spcPts val="2250"/>
                        </a:lnSpc>
                        <a:defRPr/>
                      </a:pPr>
                      <a:r>
                        <a:rPr lang="en-US" sz="1875" b="true">
                          <a:solidFill>
                            <a:srgbClr val="0B5E6E"/>
                          </a:solidFill>
                          <a:latin typeface="Calibri (MS) Bold"/>
                          <a:ea typeface="Calibri (MS) Bold"/>
                          <a:cs typeface="Calibri (MS) Bold"/>
                          <a:sym typeface="Calibri (MS) Bold"/>
                        </a:rPr>
                        <a:t>Lingkungan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250"/>
                        </a:lnSpc>
                        <a:defRPr/>
                      </a:pPr>
                      <a:r>
                        <a:rPr lang="en-US" sz="1875">
                          <a:solidFill>
                            <a:srgbClr val="14313B"/>
                          </a:solidFill>
                          <a:latin typeface="Calibri (MS)"/>
                          <a:ea typeface="Calibri (MS)"/>
                          <a:cs typeface="Calibri (MS)"/>
                          <a:sym typeface="Calibri (MS)"/>
                        </a:rPr>
                        <a:t>Lahan terbangun (ha)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122.208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b="true">
                          <a:solidFill>
                            <a:srgbClr val="14313B"/>
                          </a:solidFill>
                          <a:latin typeface="Calibri (MS) Bold"/>
                          <a:ea typeface="Calibri (MS) Bold"/>
                          <a:cs typeface="Calibri (MS) Bold"/>
                          <a:sym typeface="Calibri (MS) Bold"/>
                        </a:rPr>
                        <a:t>121.094</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BDEFF3"/>
                    </a:solidFill>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122.377</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32311">
                <a:tc vMerge="true">
                  <a:txBody>
                    <a:bodyPr anchor="t" rtlCol="false"/>
                    <a:lstStyle/>
                    <a:p>
                      <a:pPr algn="ctr">
                        <a:lnSpc>
                          <a:spcPts val="2250"/>
                        </a:lnSpc>
                        <a:defRPr/>
                      </a:pPr>
                      <a:r>
                        <a:rPr lang="en-US" sz="1875" b="true">
                          <a:solidFill>
                            <a:srgbClr val="0B5E6E"/>
                          </a:solidFill>
                          <a:latin typeface="Calibri (MS) Bold"/>
                          <a:ea typeface="Calibri (MS) Bold"/>
                          <a:cs typeface="Calibri (MS) Bold"/>
                          <a:sym typeface="Calibri (MS) Bold"/>
                        </a:rPr>
                        <a:t>Lingkungan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250"/>
                        </a:lnSpc>
                        <a:defRPr/>
                      </a:pPr>
                      <a:r>
                        <a:rPr lang="en-US" sz="1875">
                          <a:solidFill>
                            <a:srgbClr val="14313B"/>
                          </a:solidFill>
                          <a:latin typeface="Calibri (MS)"/>
                          <a:ea typeface="Calibri (MS)"/>
                          <a:cs typeface="Calibri (MS)"/>
                          <a:sym typeface="Calibri (MS)"/>
                        </a:rPr>
                        <a:t>Konversi lahan pariwisata kumulatif (ha)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947,0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b="true">
                          <a:solidFill>
                            <a:srgbClr val="14313B"/>
                          </a:solidFill>
                          <a:latin typeface="Calibri (MS) Bold"/>
                          <a:ea typeface="Calibri (MS) Bold"/>
                          <a:cs typeface="Calibri (MS) Bold"/>
                          <a:sym typeface="Calibri (MS) Bold"/>
                        </a:rPr>
                        <a:t>0,0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BDEFF3"/>
                    </a:solidFill>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1.095,1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32311">
                <a:tc rowSpan="2">
                  <a:txBody>
                    <a:bodyPr anchor="t" rtlCol="false"/>
                    <a:lstStyle/>
                    <a:p>
                      <a:pPr algn="ctr">
                        <a:lnSpc>
                          <a:spcPts val="2250"/>
                        </a:lnSpc>
                        <a:defRPr/>
                      </a:pPr>
                      <a:r>
                        <a:rPr lang="en-US" sz="1875" b="true">
                          <a:solidFill>
                            <a:srgbClr val="0B5E6E"/>
                          </a:solidFill>
                          <a:latin typeface="Calibri (MS) Bold"/>
                          <a:ea typeface="Calibri (MS) Bold"/>
                          <a:cs typeface="Calibri (MS) Bold"/>
                          <a:sym typeface="Calibri (MS) Bold"/>
                        </a:rPr>
                        <a:t>Sosial</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250"/>
                        </a:lnSpc>
                        <a:defRPr/>
                      </a:pPr>
                      <a:r>
                        <a:rPr lang="en-US" sz="1875">
                          <a:solidFill>
                            <a:srgbClr val="14313B"/>
                          </a:solidFill>
                          <a:latin typeface="Calibri (MS)"/>
                          <a:ea typeface="Calibri (MS)"/>
                          <a:cs typeface="Calibri (MS)"/>
                          <a:sym typeface="Calibri (MS)"/>
                        </a:rPr>
                        <a:t>Indeks kepadatan (batas &lt; 2,0)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b="true">
                          <a:solidFill>
                            <a:srgbClr val="14313B"/>
                          </a:solidFill>
                          <a:latin typeface="Calibri (MS) Bold"/>
                          <a:ea typeface="Calibri (MS) Bold"/>
                          <a:cs typeface="Calibri (MS) Bold"/>
                          <a:sym typeface="Calibri (MS) Bold"/>
                        </a:rPr>
                        <a:t>2,3638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BDEFF3"/>
                    </a:solidFill>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2,4307</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2,5462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32311">
                <a:tc vMerge="true">
                  <a:txBody>
                    <a:bodyPr anchor="t" rtlCol="false"/>
                    <a:lstStyle/>
                    <a:p>
                      <a:pPr algn="ctr">
                        <a:lnSpc>
                          <a:spcPts val="2250"/>
                        </a:lnSpc>
                        <a:defRPr/>
                      </a:pPr>
                      <a:r>
                        <a:rPr lang="en-US" sz="1875" b="true">
                          <a:solidFill>
                            <a:srgbClr val="0B5E6E"/>
                          </a:solidFill>
                          <a:latin typeface="Calibri (MS) Bold"/>
                          <a:ea typeface="Calibri (MS) Bold"/>
                          <a:cs typeface="Calibri (MS) Bold"/>
                          <a:sym typeface="Calibri (MS) Bold"/>
                        </a:rPr>
                        <a:t>Sosial</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250"/>
                        </a:lnSpc>
                        <a:defRPr/>
                      </a:pPr>
                      <a:r>
                        <a:rPr lang="en-US" sz="1875">
                          <a:solidFill>
                            <a:srgbClr val="14313B"/>
                          </a:solidFill>
                          <a:latin typeface="Calibri (MS)"/>
                          <a:ea typeface="Calibri (MS)"/>
                          <a:cs typeface="Calibri (MS)"/>
                          <a:sym typeface="Calibri (MS)"/>
                        </a:rPr>
                        <a:t>Daya tarik destinasi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0,8132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0,8205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b="true">
                          <a:solidFill>
                            <a:srgbClr val="14313B"/>
                          </a:solidFill>
                          <a:latin typeface="Calibri (MS) Bold"/>
                          <a:ea typeface="Calibri (MS) Bold"/>
                          <a:cs typeface="Calibri (MS) Bold"/>
                          <a:sym typeface="Calibri (MS) Bold"/>
                        </a:rPr>
                        <a:t>0,8322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BDEFF3"/>
                    </a:solidFill>
                  </a:tcPr>
                </a:tc>
              </a:tr>
              <a:tr h="532311">
                <a:tc>
                  <a:txBody>
                    <a:bodyPr anchor="t" rtlCol="false"/>
                    <a:lstStyle/>
                    <a:p>
                      <a:pPr algn="ctr">
                        <a:lnSpc>
                          <a:spcPts val="2250"/>
                        </a:lnSpc>
                        <a:defRPr/>
                      </a:pPr>
                      <a:r>
                        <a:rPr lang="en-US" sz="1875" b="true">
                          <a:solidFill>
                            <a:srgbClr val="0B5E6E"/>
                          </a:solidFill>
                          <a:latin typeface="Calibri (MS) Bold"/>
                          <a:ea typeface="Calibri (MS) Bold"/>
                          <a:cs typeface="Calibri (MS) Bold"/>
                          <a:sym typeface="Calibri (MS) Bold"/>
                        </a:rPr>
                        <a:t>Skala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250"/>
                        </a:lnSpc>
                        <a:defRPr/>
                      </a:pPr>
                      <a:r>
                        <a:rPr lang="en-US" sz="1875">
                          <a:solidFill>
                            <a:srgbClr val="14313B"/>
                          </a:solidFill>
                          <a:latin typeface="Calibri (MS)"/>
                          <a:ea typeface="Calibri (MS)"/>
                          <a:cs typeface="Calibri (MS)"/>
                          <a:sym typeface="Calibri (MS)"/>
                        </a:rPr>
                        <a:t>Jumlah wisatawan (juta kunjungan) · dilaporkan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96,20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98,92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103,62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bl>
          </a:graphicData>
        </a:graphic>
      </p:graphicFrame>
      <p:grpSp>
        <p:nvGrpSpPr>
          <p:cNvPr name="Group 67" id="67"/>
          <p:cNvGrpSpPr/>
          <p:nvPr/>
        </p:nvGrpSpPr>
        <p:grpSpPr>
          <a:xfrm rot="0">
            <a:off x="822960" y="8092440"/>
            <a:ext cx="5349240" cy="1165860"/>
            <a:chOff x="0" y="0"/>
            <a:chExt cx="7132320" cy="1554480"/>
          </a:xfrm>
        </p:grpSpPr>
        <p:sp>
          <p:nvSpPr>
            <p:cNvPr name="Freeform 68" id="68"/>
            <p:cNvSpPr/>
            <p:nvPr/>
          </p:nvSpPr>
          <p:spPr>
            <a:xfrm flipH="false" flipV="false" rot="0">
              <a:off x="0" y="0"/>
              <a:ext cx="7132320" cy="1554480"/>
            </a:xfrm>
            <a:custGeom>
              <a:avLst/>
              <a:gdLst/>
              <a:ahLst/>
              <a:cxnLst/>
              <a:rect r="r" b="b" t="t" l="l"/>
              <a:pathLst>
                <a:path h="1554480" w="7132320">
                  <a:moveTo>
                    <a:pt x="0" y="182880"/>
                  </a:moveTo>
                  <a:cubicBezTo>
                    <a:pt x="0" y="81915"/>
                    <a:pt x="81915" y="0"/>
                    <a:pt x="182880" y="0"/>
                  </a:cubicBezTo>
                  <a:lnTo>
                    <a:pt x="6949440" y="0"/>
                  </a:lnTo>
                  <a:cubicBezTo>
                    <a:pt x="7050405" y="0"/>
                    <a:pt x="7132320" y="81915"/>
                    <a:pt x="7132320" y="182880"/>
                  </a:cubicBezTo>
                  <a:lnTo>
                    <a:pt x="7132320" y="1371600"/>
                  </a:lnTo>
                  <a:cubicBezTo>
                    <a:pt x="7132320" y="1472565"/>
                    <a:pt x="7050405" y="1554480"/>
                    <a:pt x="6949440" y="1554480"/>
                  </a:cubicBezTo>
                  <a:lnTo>
                    <a:pt x="182880" y="1554480"/>
                  </a:lnTo>
                  <a:cubicBezTo>
                    <a:pt x="81915" y="1554480"/>
                    <a:pt x="0" y="1472565"/>
                    <a:pt x="0" y="1371600"/>
                  </a:cubicBezTo>
                  <a:close/>
                </a:path>
              </a:pathLst>
            </a:custGeom>
            <a:solidFill>
              <a:srgbClr val="FFF1BF"/>
            </a:solidFill>
          </p:spPr>
          <p:txBody>
            <a:bodyPr/>
            <a:p/>
          </p:txBody>
        </p:sp>
      </p:grpSp>
      <p:sp>
        <p:nvSpPr>
          <p:cNvPr name="TextBox 69" id="69"/>
          <p:cNvSpPr txBox="true"/>
          <p:nvPr/>
        </p:nvSpPr>
        <p:spPr>
          <a:xfrm rot="0">
            <a:off x="1097280" y="8045577"/>
            <a:ext cx="4800600" cy="622935"/>
          </a:xfrm>
          <a:prstGeom prst="rect">
            <a:avLst/>
          </a:prstGeom>
        </p:spPr>
        <p:txBody>
          <a:bodyPr anchor="t" rtlCol="false" tIns="0" lIns="0" bIns="0" rIns="0">
            <a:spAutoFit/>
          </a:bodyPr>
          <a:lstStyle/>
          <a:p>
            <a:pPr algn="l">
              <a:lnSpc>
                <a:spcPts val="2340"/>
              </a:lnSpc>
            </a:pPr>
            <a:r>
              <a:rPr lang="en-US" sz="1950" b="true">
                <a:solidFill>
                  <a:srgbClr val="0B5E6E"/>
                </a:solidFill>
                <a:latin typeface="Calibri (MS) Bold"/>
                <a:ea typeface="Calibri (MS) Bold"/>
                <a:cs typeface="Calibri (MS) Bold"/>
                <a:sym typeface="Calibri (MS) Bold"/>
              </a:rPr>
              <a:t>Development Priority unggul di ekonomi</a:t>
            </a:r>
          </a:p>
        </p:txBody>
      </p:sp>
      <p:sp>
        <p:nvSpPr>
          <p:cNvPr name="TextBox 70" id="70"/>
          <p:cNvSpPr txBox="true"/>
          <p:nvPr/>
        </p:nvSpPr>
        <p:spPr>
          <a:xfrm rot="0">
            <a:off x="1097280" y="8567928"/>
            <a:ext cx="4800600" cy="5943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+7,18% lapangan kerja dan +7,71% PDRB vs BAU</a:t>
            </a:r>
          </a:p>
        </p:txBody>
      </p:sp>
      <p:grpSp>
        <p:nvGrpSpPr>
          <p:cNvPr name="Group 71" id="71"/>
          <p:cNvGrpSpPr/>
          <p:nvPr/>
        </p:nvGrpSpPr>
        <p:grpSpPr>
          <a:xfrm rot="0">
            <a:off x="6467094" y="8092440"/>
            <a:ext cx="5349240" cy="1165860"/>
            <a:chOff x="0" y="0"/>
            <a:chExt cx="7132320" cy="1554480"/>
          </a:xfrm>
        </p:grpSpPr>
        <p:sp>
          <p:nvSpPr>
            <p:cNvPr name="Freeform 72" id="72"/>
            <p:cNvSpPr/>
            <p:nvPr/>
          </p:nvSpPr>
          <p:spPr>
            <a:xfrm flipH="false" flipV="false" rot="0">
              <a:off x="0" y="0"/>
              <a:ext cx="7132320" cy="1554480"/>
            </a:xfrm>
            <a:custGeom>
              <a:avLst/>
              <a:gdLst/>
              <a:ahLst/>
              <a:cxnLst/>
              <a:rect r="r" b="b" t="t" l="l"/>
              <a:pathLst>
                <a:path h="1554480" w="7132320">
                  <a:moveTo>
                    <a:pt x="0" y="182880"/>
                  </a:moveTo>
                  <a:cubicBezTo>
                    <a:pt x="0" y="81915"/>
                    <a:pt x="81915" y="0"/>
                    <a:pt x="182880" y="0"/>
                  </a:cubicBezTo>
                  <a:lnTo>
                    <a:pt x="6949440" y="0"/>
                  </a:lnTo>
                  <a:cubicBezTo>
                    <a:pt x="7050405" y="0"/>
                    <a:pt x="7132320" y="81915"/>
                    <a:pt x="7132320" y="182880"/>
                  </a:cubicBezTo>
                  <a:lnTo>
                    <a:pt x="7132320" y="1371600"/>
                  </a:lnTo>
                  <a:cubicBezTo>
                    <a:pt x="7132320" y="1472565"/>
                    <a:pt x="7050405" y="1554480"/>
                    <a:pt x="6949440" y="1554480"/>
                  </a:cubicBezTo>
                  <a:lnTo>
                    <a:pt x="182880" y="1554480"/>
                  </a:lnTo>
                  <a:cubicBezTo>
                    <a:pt x="81915" y="1554480"/>
                    <a:pt x="0" y="1472565"/>
                    <a:pt x="0" y="1371600"/>
                  </a:cubicBezTo>
                  <a:close/>
                </a:path>
              </a:pathLst>
            </a:custGeom>
            <a:solidFill>
              <a:srgbClr val="FFF1BF"/>
            </a:solidFill>
          </p:spPr>
          <p:txBody>
            <a:bodyPr/>
            <a:p/>
          </p:txBody>
        </p:sp>
      </p:grpSp>
      <p:sp>
        <p:nvSpPr>
          <p:cNvPr name="TextBox 73" id="73"/>
          <p:cNvSpPr txBox="true"/>
          <p:nvPr/>
        </p:nvSpPr>
        <p:spPr>
          <a:xfrm rot="0">
            <a:off x="6741414" y="8045577"/>
            <a:ext cx="4800600" cy="622935"/>
          </a:xfrm>
          <a:prstGeom prst="rect">
            <a:avLst/>
          </a:prstGeom>
        </p:spPr>
        <p:txBody>
          <a:bodyPr anchor="t" rtlCol="false" tIns="0" lIns="0" bIns="0" rIns="0">
            <a:spAutoFit/>
          </a:bodyPr>
          <a:lstStyle/>
          <a:p>
            <a:pPr algn="l">
              <a:lnSpc>
                <a:spcPts val="2340"/>
              </a:lnSpc>
            </a:pPr>
            <a:r>
              <a:rPr lang="en-US" sz="1950" b="true">
                <a:solidFill>
                  <a:srgbClr val="0B5E6E"/>
                </a:solidFill>
                <a:latin typeface="Calibri (MS) Bold"/>
                <a:ea typeface="Calibri (MS) Bold"/>
                <a:cs typeface="Calibri (MS) Bold"/>
                <a:sym typeface="Calibri (MS) Bold"/>
              </a:rPr>
              <a:t>Sustainable unggul di lingkungan</a:t>
            </a:r>
          </a:p>
        </p:txBody>
      </p:sp>
      <p:sp>
        <p:nvSpPr>
          <p:cNvPr name="TextBox 74" id="74"/>
          <p:cNvSpPr txBox="true"/>
          <p:nvPr/>
        </p:nvSpPr>
        <p:spPr>
          <a:xfrm rot="0">
            <a:off x="6741414" y="8567928"/>
            <a:ext cx="4800600" cy="5943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konversi lahan pariwisata −100% vs BAU</a:t>
            </a:r>
          </a:p>
        </p:txBody>
      </p:sp>
      <p:grpSp>
        <p:nvGrpSpPr>
          <p:cNvPr name="Group 75" id="75"/>
          <p:cNvGrpSpPr/>
          <p:nvPr/>
        </p:nvGrpSpPr>
        <p:grpSpPr>
          <a:xfrm rot="0">
            <a:off x="12111228" y="8092440"/>
            <a:ext cx="5349240" cy="1165860"/>
            <a:chOff x="0" y="0"/>
            <a:chExt cx="7132320" cy="1554480"/>
          </a:xfrm>
        </p:grpSpPr>
        <p:sp>
          <p:nvSpPr>
            <p:cNvPr name="Freeform 76" id="76"/>
            <p:cNvSpPr/>
            <p:nvPr/>
          </p:nvSpPr>
          <p:spPr>
            <a:xfrm flipH="false" flipV="false" rot="0">
              <a:off x="0" y="0"/>
              <a:ext cx="7132320" cy="1554480"/>
            </a:xfrm>
            <a:custGeom>
              <a:avLst/>
              <a:gdLst/>
              <a:ahLst/>
              <a:cxnLst/>
              <a:rect r="r" b="b" t="t" l="l"/>
              <a:pathLst>
                <a:path h="1554480" w="7132320">
                  <a:moveTo>
                    <a:pt x="0" y="182880"/>
                  </a:moveTo>
                  <a:cubicBezTo>
                    <a:pt x="0" y="81915"/>
                    <a:pt x="81915" y="0"/>
                    <a:pt x="182880" y="0"/>
                  </a:cubicBezTo>
                  <a:lnTo>
                    <a:pt x="6949440" y="0"/>
                  </a:lnTo>
                  <a:cubicBezTo>
                    <a:pt x="7050405" y="0"/>
                    <a:pt x="7132320" y="81915"/>
                    <a:pt x="7132320" y="182880"/>
                  </a:cubicBezTo>
                  <a:lnTo>
                    <a:pt x="7132320" y="1371600"/>
                  </a:lnTo>
                  <a:cubicBezTo>
                    <a:pt x="7132320" y="1472565"/>
                    <a:pt x="7050405" y="1554480"/>
                    <a:pt x="6949440" y="1554480"/>
                  </a:cubicBezTo>
                  <a:lnTo>
                    <a:pt x="182880" y="1554480"/>
                  </a:lnTo>
                  <a:cubicBezTo>
                    <a:pt x="81915" y="1554480"/>
                    <a:pt x="0" y="1472565"/>
                    <a:pt x="0" y="1371600"/>
                  </a:cubicBezTo>
                  <a:close/>
                </a:path>
              </a:pathLst>
            </a:custGeom>
            <a:solidFill>
              <a:srgbClr val="FFF1BF"/>
            </a:solidFill>
          </p:spPr>
          <p:txBody>
            <a:bodyPr/>
            <a:p/>
          </p:txBody>
        </p:sp>
      </p:grpSp>
      <p:sp>
        <p:nvSpPr>
          <p:cNvPr name="TextBox 77" id="77"/>
          <p:cNvSpPr txBox="true"/>
          <p:nvPr/>
        </p:nvSpPr>
        <p:spPr>
          <a:xfrm rot="0">
            <a:off x="12385548" y="8045577"/>
            <a:ext cx="4800600" cy="622935"/>
          </a:xfrm>
          <a:prstGeom prst="rect">
            <a:avLst/>
          </a:prstGeom>
        </p:spPr>
        <p:txBody>
          <a:bodyPr anchor="t" rtlCol="false" tIns="0" lIns="0" bIns="0" rIns="0">
            <a:spAutoFit/>
          </a:bodyPr>
          <a:lstStyle/>
          <a:p>
            <a:pPr algn="l">
              <a:lnSpc>
                <a:spcPts val="2340"/>
              </a:lnSpc>
            </a:pPr>
            <a:r>
              <a:rPr lang="en-US" sz="1950" b="true">
                <a:solidFill>
                  <a:srgbClr val="0B5E6E"/>
                </a:solidFill>
                <a:latin typeface="Calibri (MS) Bold"/>
                <a:ea typeface="Calibri (MS) Bold"/>
                <a:cs typeface="Calibri (MS) Bold"/>
                <a:sym typeface="Calibri (MS) Bold"/>
              </a:rPr>
              <a:t>BAU unggul di kepadatan</a:t>
            </a:r>
          </a:p>
        </p:txBody>
      </p:sp>
      <p:sp>
        <p:nvSpPr>
          <p:cNvPr name="TextBox 78" id="78"/>
          <p:cNvSpPr txBox="true"/>
          <p:nvPr/>
        </p:nvSpPr>
        <p:spPr>
          <a:xfrm rot="0">
            <a:off x="12385548" y="8567928"/>
            <a:ext cx="4800600" cy="5943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indeks 2,36 vs 2,43 (S) dan 2,55 (DP)</a:t>
            </a:r>
          </a:p>
        </p:txBody>
      </p:sp>
      <p:sp>
        <p:nvSpPr>
          <p:cNvPr name="TextBox 79" id="79"/>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57</a:t>
            </a:r>
          </a:p>
        </p:txBody>
      </p:sp>
      <p:grpSp>
        <p:nvGrpSpPr>
          <p:cNvPr name="Group 80" id="80"/>
          <p:cNvGrpSpPr/>
          <p:nvPr/>
        </p:nvGrpSpPr>
        <p:grpSpPr>
          <a:xfrm rot="0">
            <a:off x="12755880" y="274320"/>
            <a:ext cx="3931920" cy="411480"/>
            <a:chOff x="0" y="0"/>
            <a:chExt cx="5242560" cy="548640"/>
          </a:xfrm>
        </p:grpSpPr>
        <p:sp>
          <p:nvSpPr>
            <p:cNvPr name="Freeform 81" id="81"/>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82" id="82"/>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2G · Skenario kebijakan</a:t>
              </a:r>
            </a:p>
          </p:txBody>
        </p:sp>
      </p:grpSp>
      <p:grpSp>
        <p:nvGrpSpPr>
          <p:cNvPr name="Group 83" id="83"/>
          <p:cNvGrpSpPr/>
          <p:nvPr/>
        </p:nvGrpSpPr>
        <p:grpSpPr>
          <a:xfrm rot="0">
            <a:off x="16047720" y="9646920"/>
            <a:ext cx="420624" cy="420624"/>
            <a:chOff x="0" y="0"/>
            <a:chExt cx="560832" cy="560832"/>
          </a:xfrm>
        </p:grpSpPr>
        <p:sp>
          <p:nvSpPr>
            <p:cNvPr name="Freeform 84" id="84"/>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85" id="85"/>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5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Hasil Perbandingan Skenario — Komposisi Daya Tarik</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Pertambahan ODTW lebih berpengaruh daripada tekanan kepadatan dan lahan</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58</a:t>
            </a:r>
          </a:p>
        </p:txBody>
      </p:sp>
      <p:grpSp>
        <p:nvGrpSpPr>
          <p:cNvPr name="Group 67" id="67"/>
          <p:cNvGrpSpPr/>
          <p:nvPr/>
        </p:nvGrpSpPr>
        <p:grpSpPr>
          <a:xfrm rot="0">
            <a:off x="822960" y="2307946"/>
            <a:ext cx="4983480" cy="2790730"/>
            <a:chOff x="0" y="0"/>
            <a:chExt cx="6644640" cy="3720973"/>
          </a:xfrm>
        </p:grpSpPr>
        <p:sp>
          <p:nvSpPr>
            <p:cNvPr name="Freeform 68" id="68" descr="skenario_Jumlah_Wisatawan.png"/>
            <p:cNvSpPr/>
            <p:nvPr/>
          </p:nvSpPr>
          <p:spPr>
            <a:xfrm flipH="false" flipV="false" rot="0">
              <a:off x="0" y="0"/>
              <a:ext cx="6644640" cy="3720973"/>
            </a:xfrm>
            <a:custGeom>
              <a:avLst/>
              <a:gdLst/>
              <a:ahLst/>
              <a:cxnLst/>
              <a:rect r="r" b="b" t="t" l="l"/>
              <a:pathLst>
                <a:path h="3720973" w="6644640">
                  <a:moveTo>
                    <a:pt x="0" y="0"/>
                  </a:moveTo>
                  <a:lnTo>
                    <a:pt x="6644640" y="0"/>
                  </a:lnTo>
                  <a:lnTo>
                    <a:pt x="6644640" y="3720973"/>
                  </a:lnTo>
                  <a:lnTo>
                    <a:pt x="0" y="3720973"/>
                  </a:lnTo>
                  <a:lnTo>
                    <a:pt x="0" y="0"/>
                  </a:lnTo>
                  <a:close/>
                </a:path>
              </a:pathLst>
            </a:custGeom>
            <a:blipFill>
              <a:blip r:embed="rId7"/>
              <a:stretch>
                <a:fillRect l="0" t="0" r="0" b="0"/>
              </a:stretch>
            </a:blipFill>
          </p:spPr>
          <p:txBody>
            <a:bodyPr/>
            <a:p/>
          </p:txBody>
        </p:sp>
      </p:grpSp>
      <p:grpSp>
        <p:nvGrpSpPr>
          <p:cNvPr name="Group 69" id="69"/>
          <p:cNvGrpSpPr/>
          <p:nvPr/>
        </p:nvGrpSpPr>
        <p:grpSpPr>
          <a:xfrm rot="0">
            <a:off x="5989320" y="2307946"/>
            <a:ext cx="4983480" cy="2790730"/>
            <a:chOff x="0" y="0"/>
            <a:chExt cx="6644640" cy="3720973"/>
          </a:xfrm>
        </p:grpSpPr>
        <p:sp>
          <p:nvSpPr>
            <p:cNvPr name="Freeform 70" id="70" descr="skenario_PDRB_Sektor_Pariwisata.png"/>
            <p:cNvSpPr/>
            <p:nvPr/>
          </p:nvSpPr>
          <p:spPr>
            <a:xfrm flipH="false" flipV="false" rot="0">
              <a:off x="0" y="0"/>
              <a:ext cx="6644640" cy="3720973"/>
            </a:xfrm>
            <a:custGeom>
              <a:avLst/>
              <a:gdLst/>
              <a:ahLst/>
              <a:cxnLst/>
              <a:rect r="r" b="b" t="t" l="l"/>
              <a:pathLst>
                <a:path h="3720973" w="6644640">
                  <a:moveTo>
                    <a:pt x="0" y="0"/>
                  </a:moveTo>
                  <a:lnTo>
                    <a:pt x="6644640" y="0"/>
                  </a:lnTo>
                  <a:lnTo>
                    <a:pt x="6644640" y="3720973"/>
                  </a:lnTo>
                  <a:lnTo>
                    <a:pt x="0" y="3720973"/>
                  </a:lnTo>
                  <a:lnTo>
                    <a:pt x="0" y="0"/>
                  </a:lnTo>
                  <a:close/>
                </a:path>
              </a:pathLst>
            </a:custGeom>
            <a:blipFill>
              <a:blip r:embed="rId8"/>
              <a:stretch>
                <a:fillRect l="0" t="0" r="0" b="0"/>
              </a:stretch>
            </a:blipFill>
          </p:spPr>
          <p:txBody>
            <a:bodyPr/>
            <a:p/>
          </p:txBody>
        </p:sp>
      </p:grpSp>
      <p:sp>
        <p:nvSpPr>
          <p:cNvPr name="TextBox 71" id="71"/>
          <p:cNvSpPr txBox="true"/>
          <p:nvPr/>
        </p:nvSpPr>
        <p:spPr>
          <a:xfrm rot="0">
            <a:off x="822960" y="5043678"/>
            <a:ext cx="10149840" cy="506730"/>
          </a:xfrm>
          <a:prstGeom prst="rect">
            <a:avLst/>
          </a:prstGeom>
        </p:spPr>
        <p:txBody>
          <a:bodyPr anchor="t" rtlCol="false" tIns="0" lIns="0" bIns="0" rIns="0">
            <a:spAutoFit/>
          </a:bodyPr>
          <a:lstStyle/>
          <a:p>
            <a:pPr algn="l">
              <a:lnSpc>
                <a:spcPts val="1746"/>
              </a:lnSpc>
            </a:pPr>
            <a:r>
              <a:rPr lang="en-US" sz="1299">
                <a:solidFill>
                  <a:srgbClr val="5E6E78"/>
                </a:solidFill>
                <a:latin typeface="Calibri (MS)"/>
                <a:ea typeface="Calibri (MS)"/>
                <a:cs typeface="Calibri (MS)"/>
                <a:sym typeface="Calibri (MS)"/>
              </a:rPr>
              <a:t>Perkembangan 2025–2050: jumlah wisatawan (kiri) dan PDRB sektor pariwisata (kanan) menurut skenario</a:t>
            </a:r>
          </a:p>
        </p:txBody>
      </p:sp>
      <p:graphicFrame>
        <p:nvGraphicFramePr>
          <p:cNvPr name="Table 72" id="72"/>
          <p:cNvGraphicFramePr>
            <a:graphicFrameLocks noGrp="true"/>
          </p:cNvGraphicFramePr>
          <p:nvPr/>
        </p:nvGraphicFramePr>
        <p:xfrm>
          <a:off x="822960" y="5623560"/>
          <a:ext cx="10096500" cy="2311400"/>
        </p:xfrm>
        <a:graphic>
          <a:graphicData uri="http://schemas.openxmlformats.org/drawingml/2006/table">
            <a:tbl>
              <a:tblPr/>
              <a:tblGrid>
                <a:gridCol w="3547419"/>
                <a:gridCol w="2183027"/>
                <a:gridCol w="2183027"/>
                <a:gridCol w="2183027"/>
              </a:tblGrid>
              <a:tr h="477471">
                <a:tc>
                  <a:txBody>
                    <a:bodyPr anchor="t" rtlCol="false"/>
                    <a:lstStyle/>
                    <a:p>
                      <a:pPr algn="l">
                        <a:lnSpc>
                          <a:spcPts val="1800"/>
                        </a:lnSpc>
                        <a:defRPr/>
                      </a:pPr>
                      <a:r>
                        <a:rPr lang="en-US" sz="1500" b="true">
                          <a:solidFill>
                            <a:srgbClr val="FFFFFF"/>
                          </a:solidFill>
                          <a:latin typeface="Calibri (MS) Bold"/>
                          <a:ea typeface="Calibri (MS) Bold"/>
                          <a:cs typeface="Calibri (MS) Bold"/>
                          <a:sym typeface="Calibri (MS) Bold"/>
                        </a:rPr>
                        <a:t>Komponen indeks daya tarik 2050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ctr">
                        <a:lnSpc>
                          <a:spcPts val="1800"/>
                        </a:lnSpc>
                        <a:defRPr/>
                      </a:pPr>
                      <a:r>
                        <a:rPr lang="en-US" sz="1500" b="true">
                          <a:solidFill>
                            <a:srgbClr val="FFFFFF"/>
                          </a:solidFill>
                          <a:latin typeface="Calibri (MS) Bold"/>
                          <a:ea typeface="Calibri (MS) Bold"/>
                          <a:cs typeface="Calibri (MS) Bold"/>
                          <a:sym typeface="Calibri (MS) Bold"/>
                        </a:rPr>
                        <a:t>BAU</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ctr">
                        <a:lnSpc>
                          <a:spcPts val="1800"/>
                        </a:lnSpc>
                        <a:defRPr/>
                      </a:pPr>
                      <a:r>
                        <a:rPr lang="en-US" sz="1500" b="true">
                          <a:solidFill>
                            <a:srgbClr val="FFFFFF"/>
                          </a:solidFill>
                          <a:latin typeface="Calibri (MS) Bold"/>
                          <a:ea typeface="Calibri (MS) Bold"/>
                          <a:cs typeface="Calibri (MS) Bold"/>
                          <a:sym typeface="Calibri (MS) Bold"/>
                        </a:rPr>
                        <a:t>Sustainable</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ctr">
                        <a:lnSpc>
                          <a:spcPts val="1800"/>
                        </a:lnSpc>
                        <a:defRPr/>
                      </a:pPr>
                      <a:r>
                        <a:rPr lang="en-US" sz="1500" b="true">
                          <a:solidFill>
                            <a:srgbClr val="FFFFFF"/>
                          </a:solidFill>
                          <a:latin typeface="Calibri (MS) Bold"/>
                          <a:ea typeface="Calibri (MS) Bold"/>
                          <a:cs typeface="Calibri (MS) Bold"/>
                          <a:sym typeface="Calibri (MS) Bold"/>
                        </a:rPr>
                        <a:t>Development Priority</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r>
              <a:tr h="458482">
                <a:tc>
                  <a:txBody>
                    <a:bodyPr anchor="t" rtlCol="false"/>
                    <a:lstStyle/>
                    <a:p>
                      <a:pPr algn="l">
                        <a:lnSpc>
                          <a:spcPts val="1800"/>
                        </a:lnSpc>
                        <a:defRPr/>
                      </a:pPr>
                      <a:r>
                        <a:rPr lang="en-US" sz="1500">
                          <a:solidFill>
                            <a:srgbClr val="14313B"/>
                          </a:solidFill>
                          <a:latin typeface="Calibri (MS)"/>
                          <a:ea typeface="Calibri (MS)"/>
                          <a:cs typeface="Calibri (MS)"/>
                          <a:sym typeface="Calibri (MS)"/>
                        </a:rPr>
                        <a:t>Objek daya tarik wisata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14313B"/>
                          </a:solidFill>
                          <a:latin typeface="Calibri (MS)"/>
                          <a:ea typeface="Calibri (MS)"/>
                          <a:cs typeface="Calibri (MS)"/>
                          <a:sym typeface="Calibri (MS)"/>
                        </a:rPr>
                        <a:t>0,4793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14313B"/>
                          </a:solidFill>
                          <a:latin typeface="Calibri (MS)"/>
                          <a:ea typeface="Calibri (MS)"/>
                          <a:cs typeface="Calibri (MS)"/>
                          <a:sym typeface="Calibri (MS)"/>
                        </a:rPr>
                        <a:t>0,4896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0B5E6E"/>
                          </a:solidFill>
                          <a:latin typeface="Calibri (MS)"/>
                          <a:ea typeface="Calibri (MS)"/>
                          <a:cs typeface="Calibri (MS)"/>
                          <a:sym typeface="Calibri (MS)"/>
                        </a:rPr>
                        <a:t>0,5090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EAF8FA"/>
                    </a:solidFill>
                  </a:tcPr>
                </a:tc>
              </a:tr>
              <a:tr h="458482">
                <a:tc>
                  <a:txBody>
                    <a:bodyPr anchor="t" rtlCol="false"/>
                    <a:lstStyle/>
                    <a:p>
                      <a:pPr algn="l">
                        <a:lnSpc>
                          <a:spcPts val="1800"/>
                        </a:lnSpc>
                        <a:defRPr/>
                      </a:pPr>
                      <a:r>
                        <a:rPr lang="en-US" sz="1500">
                          <a:solidFill>
                            <a:srgbClr val="14313B"/>
                          </a:solidFill>
                          <a:latin typeface="Calibri (MS)"/>
                          <a:ea typeface="Calibri (MS)"/>
                          <a:cs typeface="Calibri (MS)"/>
                          <a:sym typeface="Calibri (MS)"/>
                        </a:rPr>
                        <a:t>Kepadatan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14313B"/>
                          </a:solidFill>
                          <a:latin typeface="Calibri (MS)"/>
                          <a:ea typeface="Calibri (MS)"/>
                          <a:cs typeface="Calibri (MS)"/>
                          <a:sym typeface="Calibri (MS)"/>
                        </a:rPr>
                        <a:t>0,1481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14313B"/>
                          </a:solidFill>
                          <a:latin typeface="Calibri (MS)"/>
                          <a:ea typeface="Calibri (MS)"/>
                          <a:cs typeface="Calibri (MS)"/>
                          <a:sym typeface="Calibri (MS)"/>
                        </a:rPr>
                        <a:t>0,1440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14313B"/>
                          </a:solidFill>
                          <a:latin typeface="Calibri (MS)"/>
                          <a:ea typeface="Calibri (MS)"/>
                          <a:cs typeface="Calibri (MS)"/>
                          <a:sym typeface="Calibri (MS)"/>
                        </a:rPr>
                        <a:t>0,1375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482">
                <a:tc>
                  <a:txBody>
                    <a:bodyPr anchor="t" rtlCol="false"/>
                    <a:lstStyle/>
                    <a:p>
                      <a:pPr algn="l">
                        <a:lnSpc>
                          <a:spcPts val="1800"/>
                        </a:lnSpc>
                        <a:defRPr/>
                      </a:pPr>
                      <a:r>
                        <a:rPr lang="en-US" sz="1500">
                          <a:solidFill>
                            <a:srgbClr val="14313B"/>
                          </a:solidFill>
                          <a:latin typeface="Calibri (MS)"/>
                          <a:ea typeface="Calibri (MS)"/>
                          <a:cs typeface="Calibri (MS)"/>
                          <a:sym typeface="Calibri (MS)"/>
                        </a:rPr>
                        <a:t>Daya dukung lahan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14313B"/>
                          </a:solidFill>
                          <a:latin typeface="Calibri (MS)"/>
                          <a:ea typeface="Calibri (MS)"/>
                          <a:cs typeface="Calibri (MS)"/>
                          <a:sym typeface="Calibri (MS)"/>
                        </a:rPr>
                        <a:t>0,1859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14313B"/>
                          </a:solidFill>
                          <a:latin typeface="Calibri (MS)"/>
                          <a:ea typeface="Calibri (MS)"/>
                          <a:cs typeface="Calibri (MS)"/>
                          <a:sym typeface="Calibri (MS)"/>
                        </a:rPr>
                        <a:t>0,1869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14313B"/>
                          </a:solidFill>
                          <a:latin typeface="Calibri (MS)"/>
                          <a:ea typeface="Calibri (MS)"/>
                          <a:cs typeface="Calibri (MS)"/>
                          <a:sym typeface="Calibri (MS)"/>
                        </a:rPr>
                        <a:t>0,1857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482">
                <a:tc>
                  <a:txBody>
                    <a:bodyPr anchor="t" rtlCol="false"/>
                    <a:lstStyle/>
                    <a:p>
                      <a:pPr algn="l">
                        <a:lnSpc>
                          <a:spcPts val="1800"/>
                        </a:lnSpc>
                        <a:defRPr/>
                      </a:pPr>
                      <a:r>
                        <a:rPr lang="en-US" sz="1500" b="true">
                          <a:solidFill>
                            <a:srgbClr val="14313B"/>
                          </a:solidFill>
                          <a:latin typeface="Calibri (MS) Bold"/>
                          <a:ea typeface="Calibri (MS) Bold"/>
                          <a:cs typeface="Calibri (MS) Bold"/>
                          <a:sym typeface="Calibri (MS) Bold"/>
                        </a:rPr>
                        <a:t>Total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b="true">
                          <a:solidFill>
                            <a:srgbClr val="14313B"/>
                          </a:solidFill>
                          <a:latin typeface="Calibri (MS) Bold"/>
                          <a:ea typeface="Calibri (MS) Bold"/>
                          <a:cs typeface="Calibri (MS) Bold"/>
                          <a:sym typeface="Calibri (MS) Bold"/>
                        </a:rPr>
                        <a:t>0,8132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b="true">
                          <a:solidFill>
                            <a:srgbClr val="14313B"/>
                          </a:solidFill>
                          <a:latin typeface="Calibri (MS) Bold"/>
                          <a:ea typeface="Calibri (MS) Bold"/>
                          <a:cs typeface="Calibri (MS) Bold"/>
                          <a:sym typeface="Calibri (MS) Bold"/>
                        </a:rPr>
                        <a:t>0,8205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b="true">
                          <a:solidFill>
                            <a:srgbClr val="0B5E6E"/>
                          </a:solidFill>
                          <a:latin typeface="Calibri (MS) Bold"/>
                          <a:ea typeface="Calibri (MS) Bold"/>
                          <a:cs typeface="Calibri (MS) Bold"/>
                          <a:sym typeface="Calibri (MS) Bold"/>
                        </a:rPr>
                        <a:t>0,8322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EAF8FA"/>
                    </a:solidFill>
                  </a:tcPr>
                </a:tc>
              </a:tr>
            </a:tbl>
          </a:graphicData>
        </a:graphic>
      </p:graphicFrame>
      <p:grpSp>
        <p:nvGrpSpPr>
          <p:cNvPr name="Group 73" id="73"/>
          <p:cNvGrpSpPr/>
          <p:nvPr/>
        </p:nvGrpSpPr>
        <p:grpSpPr>
          <a:xfrm rot="0">
            <a:off x="11384280" y="2395728"/>
            <a:ext cx="6071616" cy="1783080"/>
            <a:chOff x="0" y="0"/>
            <a:chExt cx="8095488" cy="2377440"/>
          </a:xfrm>
        </p:grpSpPr>
        <p:sp>
          <p:nvSpPr>
            <p:cNvPr name="Freeform 74" id="74"/>
            <p:cNvSpPr/>
            <p:nvPr/>
          </p:nvSpPr>
          <p:spPr>
            <a:xfrm flipH="false" flipV="false" rot="0">
              <a:off x="0" y="0"/>
              <a:ext cx="8095488" cy="2377440"/>
            </a:xfrm>
            <a:custGeom>
              <a:avLst/>
              <a:gdLst/>
              <a:ahLst/>
              <a:cxnLst/>
              <a:rect r="r" b="b" t="t" l="l"/>
              <a:pathLst>
                <a:path h="2377440" w="8095488">
                  <a:moveTo>
                    <a:pt x="0" y="170688"/>
                  </a:moveTo>
                  <a:cubicBezTo>
                    <a:pt x="0" y="76454"/>
                    <a:pt x="76454" y="0"/>
                    <a:pt x="170688" y="0"/>
                  </a:cubicBezTo>
                  <a:lnTo>
                    <a:pt x="7924800" y="0"/>
                  </a:lnTo>
                  <a:cubicBezTo>
                    <a:pt x="8019034" y="0"/>
                    <a:pt x="8095488" y="76454"/>
                    <a:pt x="8095488" y="170688"/>
                  </a:cubicBezTo>
                  <a:lnTo>
                    <a:pt x="8095488" y="2206752"/>
                  </a:lnTo>
                  <a:cubicBezTo>
                    <a:pt x="8095488" y="2300986"/>
                    <a:pt x="8019034" y="2377440"/>
                    <a:pt x="7924800" y="2377440"/>
                  </a:cubicBezTo>
                  <a:lnTo>
                    <a:pt x="170688" y="2377440"/>
                  </a:lnTo>
                  <a:cubicBezTo>
                    <a:pt x="76454" y="2377440"/>
                    <a:pt x="0" y="2300986"/>
                    <a:pt x="0" y="2206752"/>
                  </a:cubicBezTo>
                  <a:close/>
                </a:path>
              </a:pathLst>
            </a:custGeom>
            <a:solidFill>
              <a:srgbClr val="EAF8FA"/>
            </a:solidFill>
          </p:spPr>
          <p:txBody>
            <a:bodyPr/>
            <a:p/>
          </p:txBody>
        </p:sp>
      </p:grpSp>
      <p:sp>
        <p:nvSpPr>
          <p:cNvPr name="TextBox 75" id="75"/>
          <p:cNvSpPr txBox="true"/>
          <p:nvPr/>
        </p:nvSpPr>
        <p:spPr>
          <a:xfrm rot="0">
            <a:off x="11658600" y="2331720"/>
            <a:ext cx="5522976" cy="960120"/>
          </a:xfrm>
          <a:prstGeom prst="rect">
            <a:avLst/>
          </a:prstGeom>
        </p:spPr>
        <p:txBody>
          <a:bodyPr anchor="t" rtlCol="false" tIns="0" lIns="0" bIns="0" rIns="0">
            <a:spAutoFit/>
          </a:bodyPr>
          <a:lstStyle/>
          <a:p>
            <a:pPr algn="l">
              <a:lnSpc>
                <a:spcPts val="4838"/>
              </a:lnSpc>
            </a:pPr>
            <a:r>
              <a:rPr lang="en-US" sz="3600" b="true">
                <a:solidFill>
                  <a:srgbClr val="0B5E6E"/>
                </a:solidFill>
                <a:latin typeface="Calibri (MS) Bold"/>
                <a:ea typeface="Calibri (MS) Bold"/>
                <a:cs typeface="Calibri (MS) Bold"/>
                <a:sym typeface="Calibri (MS) Bold"/>
              </a:rPr>
              <a:t>+0,0297</a:t>
            </a:r>
          </a:p>
        </p:txBody>
      </p:sp>
      <p:sp>
        <p:nvSpPr>
          <p:cNvPr name="TextBox 76" id="76"/>
          <p:cNvSpPr txBox="true"/>
          <p:nvPr/>
        </p:nvSpPr>
        <p:spPr>
          <a:xfrm rot="0">
            <a:off x="11658600" y="3036570"/>
            <a:ext cx="5522976" cy="963930"/>
          </a:xfrm>
          <a:prstGeom prst="rect">
            <a:avLst/>
          </a:prstGeom>
        </p:spPr>
        <p:txBody>
          <a:bodyPr anchor="t" rtlCol="false" tIns="0" lIns="0" bIns="0" rIns="0">
            <a:spAutoFit/>
          </a:bodyPr>
          <a:lstStyle/>
          <a:p>
            <a:pPr algn="l">
              <a:lnSpc>
                <a:spcPts val="2149"/>
              </a:lnSpc>
            </a:pPr>
            <a:r>
              <a:rPr lang="en-US" sz="1599">
                <a:solidFill>
                  <a:srgbClr val="5E6E78"/>
                </a:solidFill>
                <a:latin typeface="Calibri (MS)"/>
                <a:ea typeface="Calibri (MS)"/>
                <a:cs typeface="Calibri (MS)"/>
                <a:sym typeface="Calibri (MS)"/>
              </a:rPr>
              <a:t>komponen ODTW: Development Priority dibanding BAU</a:t>
            </a:r>
          </a:p>
        </p:txBody>
      </p:sp>
      <p:grpSp>
        <p:nvGrpSpPr>
          <p:cNvPr name="Group 77" id="77"/>
          <p:cNvGrpSpPr/>
          <p:nvPr/>
        </p:nvGrpSpPr>
        <p:grpSpPr>
          <a:xfrm rot="0">
            <a:off x="11384280" y="4315968"/>
            <a:ext cx="6071616" cy="1783080"/>
            <a:chOff x="0" y="0"/>
            <a:chExt cx="8095488" cy="2377440"/>
          </a:xfrm>
        </p:grpSpPr>
        <p:sp>
          <p:nvSpPr>
            <p:cNvPr name="Freeform 78" id="78"/>
            <p:cNvSpPr/>
            <p:nvPr/>
          </p:nvSpPr>
          <p:spPr>
            <a:xfrm flipH="false" flipV="false" rot="0">
              <a:off x="0" y="0"/>
              <a:ext cx="8095488" cy="2377440"/>
            </a:xfrm>
            <a:custGeom>
              <a:avLst/>
              <a:gdLst/>
              <a:ahLst/>
              <a:cxnLst/>
              <a:rect r="r" b="b" t="t" l="l"/>
              <a:pathLst>
                <a:path h="2377440" w="8095488">
                  <a:moveTo>
                    <a:pt x="0" y="170688"/>
                  </a:moveTo>
                  <a:cubicBezTo>
                    <a:pt x="0" y="76454"/>
                    <a:pt x="76454" y="0"/>
                    <a:pt x="170688" y="0"/>
                  </a:cubicBezTo>
                  <a:lnTo>
                    <a:pt x="7924800" y="0"/>
                  </a:lnTo>
                  <a:cubicBezTo>
                    <a:pt x="8019034" y="0"/>
                    <a:pt x="8095488" y="76454"/>
                    <a:pt x="8095488" y="170688"/>
                  </a:cubicBezTo>
                  <a:lnTo>
                    <a:pt x="8095488" y="2206752"/>
                  </a:lnTo>
                  <a:cubicBezTo>
                    <a:pt x="8095488" y="2300986"/>
                    <a:pt x="8019034" y="2377440"/>
                    <a:pt x="7924800" y="2377440"/>
                  </a:cubicBezTo>
                  <a:lnTo>
                    <a:pt x="170688" y="2377440"/>
                  </a:lnTo>
                  <a:cubicBezTo>
                    <a:pt x="76454" y="2377440"/>
                    <a:pt x="0" y="2300986"/>
                    <a:pt x="0" y="2206752"/>
                  </a:cubicBezTo>
                  <a:close/>
                </a:path>
              </a:pathLst>
            </a:custGeom>
            <a:solidFill>
              <a:srgbClr val="EAF8FA"/>
            </a:solidFill>
          </p:spPr>
          <p:txBody>
            <a:bodyPr/>
            <a:p/>
          </p:txBody>
        </p:sp>
      </p:grpSp>
      <p:sp>
        <p:nvSpPr>
          <p:cNvPr name="TextBox 79" id="79"/>
          <p:cNvSpPr txBox="true"/>
          <p:nvPr/>
        </p:nvSpPr>
        <p:spPr>
          <a:xfrm rot="0">
            <a:off x="11658600" y="4251960"/>
            <a:ext cx="5522976" cy="960120"/>
          </a:xfrm>
          <a:prstGeom prst="rect">
            <a:avLst/>
          </a:prstGeom>
        </p:spPr>
        <p:txBody>
          <a:bodyPr anchor="t" rtlCol="false" tIns="0" lIns="0" bIns="0" rIns="0">
            <a:spAutoFit/>
          </a:bodyPr>
          <a:lstStyle/>
          <a:p>
            <a:pPr algn="l">
              <a:lnSpc>
                <a:spcPts val="4838"/>
              </a:lnSpc>
            </a:pPr>
            <a:r>
              <a:rPr lang="en-US" sz="3600" b="true">
                <a:solidFill>
                  <a:srgbClr val="0B5E6E"/>
                </a:solidFill>
                <a:latin typeface="Calibri (MS) Bold"/>
                <a:ea typeface="Calibri (MS) Bold"/>
                <a:cs typeface="Calibri (MS) Bold"/>
                <a:sym typeface="Calibri (MS) Bold"/>
              </a:rPr>
              <a:t>−0,0106</a:t>
            </a:r>
          </a:p>
        </p:txBody>
      </p:sp>
      <p:sp>
        <p:nvSpPr>
          <p:cNvPr name="TextBox 80" id="80"/>
          <p:cNvSpPr txBox="true"/>
          <p:nvPr/>
        </p:nvSpPr>
        <p:spPr>
          <a:xfrm rot="0">
            <a:off x="11658600" y="4956810"/>
            <a:ext cx="5522976" cy="963930"/>
          </a:xfrm>
          <a:prstGeom prst="rect">
            <a:avLst/>
          </a:prstGeom>
        </p:spPr>
        <p:txBody>
          <a:bodyPr anchor="t" rtlCol="false" tIns="0" lIns="0" bIns="0" rIns="0">
            <a:spAutoFit/>
          </a:bodyPr>
          <a:lstStyle/>
          <a:p>
            <a:pPr algn="l">
              <a:lnSpc>
                <a:spcPts val="2149"/>
              </a:lnSpc>
            </a:pPr>
            <a:r>
              <a:rPr lang="en-US" sz="1599">
                <a:solidFill>
                  <a:srgbClr val="5E6E78"/>
                </a:solidFill>
                <a:latin typeface="Calibri (MS)"/>
                <a:ea typeface="Calibri (MS)"/>
                <a:cs typeface="Calibri (MS)"/>
                <a:sym typeface="Calibri (MS)"/>
              </a:rPr>
              <a:t>komponen kepadatan: Development Priority dibanding BAU</a:t>
            </a:r>
          </a:p>
        </p:txBody>
      </p:sp>
      <p:grpSp>
        <p:nvGrpSpPr>
          <p:cNvPr name="Group 81" id="81"/>
          <p:cNvGrpSpPr/>
          <p:nvPr/>
        </p:nvGrpSpPr>
        <p:grpSpPr>
          <a:xfrm rot="0">
            <a:off x="11384280" y="6236208"/>
            <a:ext cx="6071616" cy="1783080"/>
            <a:chOff x="0" y="0"/>
            <a:chExt cx="8095488" cy="2377440"/>
          </a:xfrm>
        </p:grpSpPr>
        <p:sp>
          <p:nvSpPr>
            <p:cNvPr name="Freeform 82" id="82"/>
            <p:cNvSpPr/>
            <p:nvPr/>
          </p:nvSpPr>
          <p:spPr>
            <a:xfrm flipH="false" flipV="false" rot="0">
              <a:off x="0" y="0"/>
              <a:ext cx="8095488" cy="2377440"/>
            </a:xfrm>
            <a:custGeom>
              <a:avLst/>
              <a:gdLst/>
              <a:ahLst/>
              <a:cxnLst/>
              <a:rect r="r" b="b" t="t" l="l"/>
              <a:pathLst>
                <a:path h="2377440" w="8095488">
                  <a:moveTo>
                    <a:pt x="0" y="170688"/>
                  </a:moveTo>
                  <a:cubicBezTo>
                    <a:pt x="0" y="76454"/>
                    <a:pt x="76454" y="0"/>
                    <a:pt x="170688" y="0"/>
                  </a:cubicBezTo>
                  <a:lnTo>
                    <a:pt x="7924800" y="0"/>
                  </a:lnTo>
                  <a:cubicBezTo>
                    <a:pt x="8019034" y="0"/>
                    <a:pt x="8095488" y="76454"/>
                    <a:pt x="8095488" y="170688"/>
                  </a:cubicBezTo>
                  <a:lnTo>
                    <a:pt x="8095488" y="2206752"/>
                  </a:lnTo>
                  <a:cubicBezTo>
                    <a:pt x="8095488" y="2300986"/>
                    <a:pt x="8019034" y="2377440"/>
                    <a:pt x="7924800" y="2377440"/>
                  </a:cubicBezTo>
                  <a:lnTo>
                    <a:pt x="170688" y="2377440"/>
                  </a:lnTo>
                  <a:cubicBezTo>
                    <a:pt x="76454" y="2377440"/>
                    <a:pt x="0" y="2300986"/>
                    <a:pt x="0" y="2206752"/>
                  </a:cubicBezTo>
                  <a:close/>
                </a:path>
              </a:pathLst>
            </a:custGeom>
            <a:solidFill>
              <a:srgbClr val="EAF8FA"/>
            </a:solidFill>
          </p:spPr>
          <p:txBody>
            <a:bodyPr/>
            <a:p/>
          </p:txBody>
        </p:sp>
      </p:grpSp>
      <p:sp>
        <p:nvSpPr>
          <p:cNvPr name="TextBox 83" id="83"/>
          <p:cNvSpPr txBox="true"/>
          <p:nvPr/>
        </p:nvSpPr>
        <p:spPr>
          <a:xfrm rot="0">
            <a:off x="11658600" y="6172200"/>
            <a:ext cx="5522976" cy="960120"/>
          </a:xfrm>
          <a:prstGeom prst="rect">
            <a:avLst/>
          </a:prstGeom>
        </p:spPr>
        <p:txBody>
          <a:bodyPr anchor="t" rtlCol="false" tIns="0" lIns="0" bIns="0" rIns="0">
            <a:spAutoFit/>
          </a:bodyPr>
          <a:lstStyle/>
          <a:p>
            <a:pPr algn="l">
              <a:lnSpc>
                <a:spcPts val="4838"/>
              </a:lnSpc>
            </a:pPr>
            <a:r>
              <a:rPr lang="en-US" sz="3600" b="true">
                <a:solidFill>
                  <a:srgbClr val="0B5E6E"/>
                </a:solidFill>
                <a:latin typeface="Calibri (MS) Bold"/>
                <a:ea typeface="Calibri (MS) Bold"/>
                <a:cs typeface="Calibri (MS) Bold"/>
                <a:sym typeface="Calibri (MS) Bold"/>
              </a:rPr>
              <a:t>−0,0002</a:t>
            </a:r>
          </a:p>
        </p:txBody>
      </p:sp>
      <p:sp>
        <p:nvSpPr>
          <p:cNvPr name="TextBox 84" id="84"/>
          <p:cNvSpPr txBox="true"/>
          <p:nvPr/>
        </p:nvSpPr>
        <p:spPr>
          <a:xfrm rot="0">
            <a:off x="11658600" y="6877050"/>
            <a:ext cx="5522976" cy="963930"/>
          </a:xfrm>
          <a:prstGeom prst="rect">
            <a:avLst/>
          </a:prstGeom>
        </p:spPr>
        <p:txBody>
          <a:bodyPr anchor="t" rtlCol="false" tIns="0" lIns="0" bIns="0" rIns="0">
            <a:spAutoFit/>
          </a:bodyPr>
          <a:lstStyle/>
          <a:p>
            <a:pPr algn="l">
              <a:lnSpc>
                <a:spcPts val="2149"/>
              </a:lnSpc>
            </a:pPr>
            <a:r>
              <a:rPr lang="en-US" sz="1599">
                <a:solidFill>
                  <a:srgbClr val="5E6E78"/>
                </a:solidFill>
                <a:latin typeface="Calibri (MS)"/>
                <a:ea typeface="Calibri (MS)"/>
                <a:cs typeface="Calibri (MS)"/>
                <a:sym typeface="Calibri (MS)"/>
              </a:rPr>
              <a:t>komponen daya dukung lahan: Development Priority dibanding BAU</a:t>
            </a:r>
          </a:p>
        </p:txBody>
      </p:sp>
      <p:grpSp>
        <p:nvGrpSpPr>
          <p:cNvPr name="Group 85" id="85"/>
          <p:cNvGrpSpPr/>
          <p:nvPr/>
        </p:nvGrpSpPr>
        <p:grpSpPr>
          <a:xfrm rot="0">
            <a:off x="822960" y="8229600"/>
            <a:ext cx="16642080" cy="987552"/>
            <a:chOff x="0" y="0"/>
            <a:chExt cx="22189440" cy="1316736"/>
          </a:xfrm>
        </p:grpSpPr>
        <p:sp>
          <p:nvSpPr>
            <p:cNvPr name="Freeform 86" id="86"/>
            <p:cNvSpPr/>
            <p:nvPr/>
          </p:nvSpPr>
          <p:spPr>
            <a:xfrm flipH="false" flipV="false" rot="0">
              <a:off x="0" y="0"/>
              <a:ext cx="22189439" cy="1316736"/>
            </a:xfrm>
            <a:custGeom>
              <a:avLst/>
              <a:gdLst/>
              <a:ahLst/>
              <a:cxnLst/>
              <a:rect r="r" b="b" t="t" l="l"/>
              <a:pathLst>
                <a:path h="1316736" w="22189439">
                  <a:moveTo>
                    <a:pt x="0" y="170688"/>
                  </a:moveTo>
                  <a:cubicBezTo>
                    <a:pt x="0" y="76454"/>
                    <a:pt x="76454" y="0"/>
                    <a:pt x="170688" y="0"/>
                  </a:cubicBezTo>
                  <a:lnTo>
                    <a:pt x="22018752" y="0"/>
                  </a:lnTo>
                  <a:cubicBezTo>
                    <a:pt x="22112987" y="0"/>
                    <a:pt x="22189439" y="76454"/>
                    <a:pt x="22189439" y="170688"/>
                  </a:cubicBezTo>
                  <a:lnTo>
                    <a:pt x="22189439" y="1146048"/>
                  </a:lnTo>
                  <a:cubicBezTo>
                    <a:pt x="22189439" y="1240282"/>
                    <a:pt x="22112987" y="1316736"/>
                    <a:pt x="22018752" y="1316736"/>
                  </a:cubicBezTo>
                  <a:lnTo>
                    <a:pt x="170688" y="1316736"/>
                  </a:lnTo>
                  <a:cubicBezTo>
                    <a:pt x="76454" y="1316736"/>
                    <a:pt x="0" y="1240282"/>
                    <a:pt x="0" y="1146048"/>
                  </a:cubicBezTo>
                  <a:close/>
                </a:path>
              </a:pathLst>
            </a:custGeom>
            <a:solidFill>
              <a:srgbClr val="FFF1BF"/>
            </a:solidFill>
          </p:spPr>
          <p:txBody>
            <a:bodyPr/>
            <a:p/>
          </p:txBody>
        </p:sp>
      </p:grpSp>
      <p:grpSp>
        <p:nvGrpSpPr>
          <p:cNvPr name="Group 87" id="87"/>
          <p:cNvGrpSpPr/>
          <p:nvPr/>
        </p:nvGrpSpPr>
        <p:grpSpPr>
          <a:xfrm rot="0">
            <a:off x="1143000" y="8229600"/>
            <a:ext cx="16002000" cy="987552"/>
            <a:chOff x="0" y="0"/>
            <a:chExt cx="21336000" cy="1316736"/>
          </a:xfrm>
        </p:grpSpPr>
        <p:sp>
          <p:nvSpPr>
            <p:cNvPr name="Freeform 88" id="88"/>
            <p:cNvSpPr/>
            <p:nvPr/>
          </p:nvSpPr>
          <p:spPr>
            <a:xfrm flipH="false" flipV="false" rot="0">
              <a:off x="0" y="0"/>
              <a:ext cx="21336000" cy="1316736"/>
            </a:xfrm>
            <a:custGeom>
              <a:avLst/>
              <a:gdLst/>
              <a:ahLst/>
              <a:cxnLst/>
              <a:rect r="r" b="b" t="t" l="l"/>
              <a:pathLst>
                <a:path h="1316736" w="21336000">
                  <a:moveTo>
                    <a:pt x="0" y="0"/>
                  </a:moveTo>
                  <a:lnTo>
                    <a:pt x="21336000" y="0"/>
                  </a:lnTo>
                  <a:lnTo>
                    <a:pt x="21336000" y="1316736"/>
                  </a:lnTo>
                  <a:lnTo>
                    <a:pt x="0" y="1316736"/>
                  </a:lnTo>
                  <a:close/>
                </a:path>
              </a:pathLst>
            </a:custGeom>
            <a:blipFill>
              <a:blip r:embed="rId5">
                <a:alphaModFix amt="0"/>
              </a:blip>
              <a:stretch>
                <a:fillRect l="0" t="-265510" r="0" b="-265510"/>
              </a:stretch>
            </a:blipFill>
          </p:spPr>
          <p:txBody>
            <a:bodyPr/>
            <a:p/>
          </p:txBody>
        </p:sp>
      </p:grpSp>
      <p:grpSp>
        <p:nvGrpSpPr>
          <p:cNvPr name="Group 89" id="89"/>
          <p:cNvGrpSpPr/>
          <p:nvPr/>
        </p:nvGrpSpPr>
        <p:grpSpPr>
          <a:xfrm rot="0">
            <a:off x="1143000" y="8193881"/>
            <a:ext cx="16002000" cy="1023271"/>
            <a:chOff x="0" y="0"/>
            <a:chExt cx="21336000" cy="1364361"/>
          </a:xfrm>
        </p:grpSpPr>
        <p:sp>
          <p:nvSpPr>
            <p:cNvPr name="Freeform 90" id="90"/>
            <p:cNvSpPr/>
            <p:nvPr/>
          </p:nvSpPr>
          <p:spPr>
            <a:xfrm flipH="false" flipV="false" rot="0">
              <a:off x="0" y="0"/>
              <a:ext cx="21336000" cy="1364361"/>
            </a:xfrm>
            <a:custGeom>
              <a:avLst/>
              <a:gdLst/>
              <a:ahLst/>
              <a:cxnLst/>
              <a:rect r="r" b="b" t="t" l="l"/>
              <a:pathLst>
                <a:path h="1364361" w="21336000">
                  <a:moveTo>
                    <a:pt x="0" y="0"/>
                  </a:moveTo>
                  <a:lnTo>
                    <a:pt x="21336000" y="0"/>
                  </a:lnTo>
                  <a:lnTo>
                    <a:pt x="21336000" y="1364361"/>
                  </a:lnTo>
                  <a:lnTo>
                    <a:pt x="0" y="1364361"/>
                  </a:lnTo>
                  <a:close/>
                </a:path>
              </a:pathLst>
            </a:custGeom>
            <a:blipFill>
              <a:blip r:embed="rId6">
                <a:alphaModFix amt="0"/>
              </a:blip>
              <a:stretch>
                <a:fillRect l="0" t="-254708" r="0" b="-254708"/>
              </a:stretch>
            </a:blipFill>
          </p:spPr>
          <p:txBody>
            <a:bodyPr/>
            <a:p/>
          </p:txBody>
        </p:sp>
        <p:sp>
          <p:nvSpPr>
            <p:cNvPr name="TextBox 91" id="91"/>
            <p:cNvSpPr txBox="true"/>
            <p:nvPr/>
          </p:nvSpPr>
          <p:spPr>
            <a:xfrm>
              <a:off x="0" y="-47625"/>
              <a:ext cx="21336000" cy="1411986"/>
            </a:xfrm>
            <a:prstGeom prst="rect">
              <a:avLst/>
            </a:prstGeom>
          </p:spPr>
          <p:txBody>
            <a:bodyPr anchor="ctr" rtlCol="false" tIns="0" lIns="0" bIns="0" rIns="0"/>
            <a:lstStyle/>
            <a:p>
              <a:pPr algn="l">
                <a:lnSpc>
                  <a:spcPts val="2149"/>
                </a:lnSpc>
              </a:pPr>
              <a:r>
                <a:rPr lang="en-US" sz="1599">
                  <a:solidFill>
                    <a:srgbClr val="14313B"/>
                  </a:solidFill>
                  <a:latin typeface="Calibri (MS)"/>
                  <a:ea typeface="Calibri (MS)"/>
                  <a:cs typeface="Calibri (MS)"/>
                  <a:sym typeface="Calibri (MS)"/>
                </a:rPr>
                <a:t>RDDL ≈ 0,614, jauh di atas batas 0,331 → sampai 2050 daya dukung lahan belum menahan pertumbuhan; pertambahan atraksi lebih menentukan daya tarik daripada tekanan lahan.</a:t>
              </a:r>
            </a:p>
          </p:txBody>
        </p:sp>
      </p:grpSp>
      <p:grpSp>
        <p:nvGrpSpPr>
          <p:cNvPr name="Group 92" id="92"/>
          <p:cNvGrpSpPr/>
          <p:nvPr/>
        </p:nvGrpSpPr>
        <p:grpSpPr>
          <a:xfrm rot="0">
            <a:off x="12755880" y="274320"/>
            <a:ext cx="3931920" cy="411480"/>
            <a:chOff x="0" y="0"/>
            <a:chExt cx="5242560" cy="548640"/>
          </a:xfrm>
        </p:grpSpPr>
        <p:sp>
          <p:nvSpPr>
            <p:cNvPr name="Freeform 93" id="93"/>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94" id="94"/>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2G · Skenario kebijakan</a:t>
              </a:r>
            </a:p>
          </p:txBody>
        </p:sp>
      </p:grpSp>
      <p:grpSp>
        <p:nvGrpSpPr>
          <p:cNvPr name="Group 95" id="95"/>
          <p:cNvGrpSpPr/>
          <p:nvPr/>
        </p:nvGrpSpPr>
        <p:grpSpPr>
          <a:xfrm rot="0">
            <a:off x="16047720" y="9646920"/>
            <a:ext cx="420624" cy="420624"/>
            <a:chOff x="0" y="0"/>
            <a:chExt cx="560832" cy="560832"/>
          </a:xfrm>
        </p:grpSpPr>
        <p:sp>
          <p:nvSpPr>
            <p:cNvPr name="Freeform 96" id="96"/>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97" id="97"/>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5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Hasil Perbandingan Skenario — Batas Kepadatan</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Kedua variabel kebijakan hanya menunda waktu terlewatinya batas kepadatan</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pSp>
        <p:nvGrpSpPr>
          <p:cNvPr name="Group 66" id="66"/>
          <p:cNvGrpSpPr/>
          <p:nvPr/>
        </p:nvGrpSpPr>
        <p:grpSpPr>
          <a:xfrm rot="0">
            <a:off x="822960" y="2545994"/>
            <a:ext cx="10149840" cy="5675090"/>
            <a:chOff x="0" y="0"/>
            <a:chExt cx="13533120" cy="7566787"/>
          </a:xfrm>
        </p:grpSpPr>
        <p:sp>
          <p:nvSpPr>
            <p:cNvPr name="Freeform 67" id="67" descr="Indeks kepadatan wisatawan menurut skenario 2025-2050"/>
            <p:cNvSpPr/>
            <p:nvPr/>
          </p:nvSpPr>
          <p:spPr>
            <a:xfrm flipH="false" flipV="false" rot="0">
              <a:off x="0" y="0"/>
              <a:ext cx="13533120" cy="7566787"/>
            </a:xfrm>
            <a:custGeom>
              <a:avLst/>
              <a:gdLst/>
              <a:ahLst/>
              <a:cxnLst/>
              <a:rect r="r" b="b" t="t" l="l"/>
              <a:pathLst>
                <a:path h="7566787" w="13533120">
                  <a:moveTo>
                    <a:pt x="0" y="0"/>
                  </a:moveTo>
                  <a:lnTo>
                    <a:pt x="13533120" y="0"/>
                  </a:lnTo>
                  <a:lnTo>
                    <a:pt x="13533120" y="7566787"/>
                  </a:lnTo>
                  <a:lnTo>
                    <a:pt x="0" y="7566787"/>
                  </a:lnTo>
                  <a:lnTo>
                    <a:pt x="0" y="0"/>
                  </a:lnTo>
                  <a:close/>
                </a:path>
              </a:pathLst>
            </a:custGeom>
            <a:blipFill>
              <a:blip r:embed="rId7"/>
              <a:stretch>
                <a:fillRect l="0" t="0" r="0" b="0"/>
              </a:stretch>
            </a:blipFill>
          </p:spPr>
          <p:txBody>
            <a:bodyPr/>
            <a:p/>
          </p:txBody>
        </p:sp>
      </p:grpSp>
      <p:sp>
        <p:nvSpPr>
          <p:cNvPr name="TextBox 68" id="68"/>
          <p:cNvSpPr txBox="true"/>
          <p:nvPr/>
        </p:nvSpPr>
        <p:spPr>
          <a:xfrm rot="0">
            <a:off x="822960" y="8389620"/>
            <a:ext cx="10149840" cy="295275"/>
          </a:xfrm>
          <a:prstGeom prst="rect">
            <a:avLst/>
          </a:prstGeom>
        </p:spPr>
        <p:txBody>
          <a:bodyPr anchor="t" rtlCol="false" tIns="0" lIns="0" bIns="0" rIns="0">
            <a:spAutoFit/>
          </a:bodyPr>
          <a:lstStyle/>
          <a:p>
            <a:pPr algn="l">
              <a:lnSpc>
                <a:spcPts val="2070"/>
              </a:lnSpc>
            </a:pPr>
            <a:r>
              <a:rPr lang="en-US" sz="1725" i="true">
                <a:solidFill>
                  <a:srgbClr val="5E6E78"/>
                </a:solidFill>
                <a:latin typeface="Calibri (MS) Italics"/>
                <a:ea typeface="Calibri (MS) Italics"/>
                <a:cs typeface="Calibri (MS) Italics"/>
                <a:sym typeface="Calibri (MS) Italics"/>
              </a:rPr>
              <a:t>Indeks kepadatan menurut skenario, 2025–2050, dengan garis batas 2,0</a:t>
            </a:r>
          </a:p>
        </p:txBody>
      </p:sp>
      <p:grpSp>
        <p:nvGrpSpPr>
          <p:cNvPr name="Group 69" id="69"/>
          <p:cNvGrpSpPr/>
          <p:nvPr/>
        </p:nvGrpSpPr>
        <p:grpSpPr>
          <a:xfrm rot="0">
            <a:off x="11384280" y="2400300"/>
            <a:ext cx="1892808" cy="2057400"/>
            <a:chOff x="0" y="0"/>
            <a:chExt cx="2523744" cy="2743200"/>
          </a:xfrm>
        </p:grpSpPr>
        <p:sp>
          <p:nvSpPr>
            <p:cNvPr name="Freeform 70" id="70"/>
            <p:cNvSpPr/>
            <p:nvPr/>
          </p:nvSpPr>
          <p:spPr>
            <a:xfrm flipH="false" flipV="false" rot="0">
              <a:off x="0" y="0"/>
              <a:ext cx="2523744" cy="2743200"/>
            </a:xfrm>
            <a:custGeom>
              <a:avLst/>
              <a:gdLst/>
              <a:ahLst/>
              <a:cxnLst/>
              <a:rect r="r" b="b" t="t" l="l"/>
              <a:pathLst>
                <a:path h="2743200" w="2523744">
                  <a:moveTo>
                    <a:pt x="0" y="182880"/>
                  </a:moveTo>
                  <a:cubicBezTo>
                    <a:pt x="0" y="81915"/>
                    <a:pt x="81915" y="0"/>
                    <a:pt x="182880" y="0"/>
                  </a:cubicBezTo>
                  <a:lnTo>
                    <a:pt x="2340864" y="0"/>
                  </a:lnTo>
                  <a:cubicBezTo>
                    <a:pt x="2441829" y="0"/>
                    <a:pt x="2523744" y="81915"/>
                    <a:pt x="2523744" y="182880"/>
                  </a:cubicBezTo>
                  <a:lnTo>
                    <a:pt x="2523744" y="2560320"/>
                  </a:lnTo>
                  <a:cubicBezTo>
                    <a:pt x="2523744" y="2661285"/>
                    <a:pt x="2441829" y="2743200"/>
                    <a:pt x="2340864" y="2743200"/>
                  </a:cubicBezTo>
                  <a:lnTo>
                    <a:pt x="182880" y="2743200"/>
                  </a:lnTo>
                  <a:cubicBezTo>
                    <a:pt x="81915" y="2743200"/>
                    <a:pt x="0" y="2661285"/>
                    <a:pt x="0" y="2560320"/>
                  </a:cubicBezTo>
                  <a:close/>
                </a:path>
              </a:pathLst>
            </a:custGeom>
            <a:solidFill>
              <a:srgbClr val="EAF8FA"/>
            </a:solidFill>
          </p:spPr>
          <p:txBody>
            <a:bodyPr/>
            <a:p/>
          </p:txBody>
        </p:sp>
      </p:grpSp>
      <p:grpSp>
        <p:nvGrpSpPr>
          <p:cNvPr name="Group 71" id="71"/>
          <p:cNvGrpSpPr/>
          <p:nvPr/>
        </p:nvGrpSpPr>
        <p:grpSpPr>
          <a:xfrm rot="0">
            <a:off x="11384280" y="2537460"/>
            <a:ext cx="1892808" cy="822960"/>
            <a:chOff x="0" y="0"/>
            <a:chExt cx="2523744" cy="1097280"/>
          </a:xfrm>
        </p:grpSpPr>
        <p:sp>
          <p:nvSpPr>
            <p:cNvPr name="Freeform 72" id="72"/>
            <p:cNvSpPr/>
            <p:nvPr/>
          </p:nvSpPr>
          <p:spPr>
            <a:xfrm flipH="false" flipV="false" rot="0">
              <a:off x="0" y="0"/>
              <a:ext cx="2523744" cy="1097280"/>
            </a:xfrm>
            <a:custGeom>
              <a:avLst/>
              <a:gdLst/>
              <a:ahLst/>
              <a:cxnLst/>
              <a:rect r="r" b="b" t="t" l="l"/>
              <a:pathLst>
                <a:path h="1097280" w="2523744">
                  <a:moveTo>
                    <a:pt x="0" y="0"/>
                  </a:moveTo>
                  <a:lnTo>
                    <a:pt x="2523744" y="0"/>
                  </a:lnTo>
                  <a:lnTo>
                    <a:pt x="2523744" y="1097280"/>
                  </a:lnTo>
                  <a:lnTo>
                    <a:pt x="0" y="1097280"/>
                  </a:lnTo>
                  <a:close/>
                </a:path>
              </a:pathLst>
            </a:custGeom>
            <a:blipFill>
              <a:blip r:embed="rId4">
                <a:alphaModFix amt="0"/>
              </a:blip>
              <a:stretch>
                <a:fillRect l="-5822" t="0" r="-5823" b="0"/>
              </a:stretch>
            </a:blipFill>
          </p:spPr>
          <p:txBody>
            <a:bodyPr/>
            <a:p/>
          </p:txBody>
        </p:sp>
      </p:grpSp>
      <p:grpSp>
        <p:nvGrpSpPr>
          <p:cNvPr name="Group 73" id="73"/>
          <p:cNvGrpSpPr/>
          <p:nvPr/>
        </p:nvGrpSpPr>
        <p:grpSpPr>
          <a:xfrm rot="0">
            <a:off x="11384280" y="2473166"/>
            <a:ext cx="1892808" cy="887254"/>
            <a:chOff x="0" y="0"/>
            <a:chExt cx="2523744" cy="1183005"/>
          </a:xfrm>
        </p:grpSpPr>
        <p:sp>
          <p:nvSpPr>
            <p:cNvPr name="Freeform 74" id="74"/>
            <p:cNvSpPr/>
            <p:nvPr/>
          </p:nvSpPr>
          <p:spPr>
            <a:xfrm flipH="false" flipV="false" rot="0">
              <a:off x="0" y="0"/>
              <a:ext cx="2523744" cy="1183005"/>
            </a:xfrm>
            <a:custGeom>
              <a:avLst/>
              <a:gdLst/>
              <a:ahLst/>
              <a:cxnLst/>
              <a:rect r="r" b="b" t="t" l="l"/>
              <a:pathLst>
                <a:path h="1183005" w="2523744">
                  <a:moveTo>
                    <a:pt x="0" y="0"/>
                  </a:moveTo>
                  <a:lnTo>
                    <a:pt x="2523744" y="0"/>
                  </a:lnTo>
                  <a:lnTo>
                    <a:pt x="2523744" y="1183005"/>
                  </a:lnTo>
                  <a:lnTo>
                    <a:pt x="0" y="1183005"/>
                  </a:lnTo>
                  <a:close/>
                </a:path>
              </a:pathLst>
            </a:custGeom>
            <a:blipFill>
              <a:blip r:embed="rId5">
                <a:alphaModFix amt="0"/>
              </a:blip>
              <a:stretch>
                <a:fillRect l="-10184" t="0" r="-10184" b="0"/>
              </a:stretch>
            </a:blipFill>
          </p:spPr>
          <p:txBody>
            <a:bodyPr/>
            <a:p/>
          </p:txBody>
        </p:sp>
      </p:grpSp>
      <p:grpSp>
        <p:nvGrpSpPr>
          <p:cNvPr name="Group 75" id="75"/>
          <p:cNvGrpSpPr/>
          <p:nvPr/>
        </p:nvGrpSpPr>
        <p:grpSpPr>
          <a:xfrm rot="0">
            <a:off x="11384280" y="2408872"/>
            <a:ext cx="1892808" cy="951548"/>
            <a:chOff x="0" y="0"/>
            <a:chExt cx="2523744" cy="1268730"/>
          </a:xfrm>
        </p:grpSpPr>
        <p:sp>
          <p:nvSpPr>
            <p:cNvPr name="Freeform 76" id="76"/>
            <p:cNvSpPr/>
            <p:nvPr/>
          </p:nvSpPr>
          <p:spPr>
            <a:xfrm flipH="false" flipV="false" rot="0">
              <a:off x="0" y="0"/>
              <a:ext cx="2523744" cy="1268730"/>
            </a:xfrm>
            <a:custGeom>
              <a:avLst/>
              <a:gdLst/>
              <a:ahLst/>
              <a:cxnLst/>
              <a:rect r="r" b="b" t="t" l="l"/>
              <a:pathLst>
                <a:path h="1268730" w="2523744">
                  <a:moveTo>
                    <a:pt x="0" y="0"/>
                  </a:moveTo>
                  <a:lnTo>
                    <a:pt x="2523744" y="0"/>
                  </a:lnTo>
                  <a:lnTo>
                    <a:pt x="2523744" y="1268730"/>
                  </a:lnTo>
                  <a:lnTo>
                    <a:pt x="0" y="1268730"/>
                  </a:lnTo>
                  <a:close/>
                </a:path>
              </a:pathLst>
            </a:custGeom>
            <a:blipFill>
              <a:blip r:embed="rId6">
                <a:alphaModFix amt="0"/>
              </a:blip>
              <a:stretch>
                <a:fillRect l="-14500" t="0" r="-14500" b="0"/>
              </a:stretch>
            </a:blipFill>
          </p:spPr>
          <p:txBody>
            <a:bodyPr/>
            <a:p/>
          </p:txBody>
        </p:sp>
        <p:sp>
          <p:nvSpPr>
            <p:cNvPr name="TextBox 77" id="77"/>
            <p:cNvSpPr txBox="true"/>
            <p:nvPr/>
          </p:nvSpPr>
          <p:spPr>
            <a:xfrm>
              <a:off x="0" y="-85725"/>
              <a:ext cx="2523744" cy="1354455"/>
            </a:xfrm>
            <a:prstGeom prst="rect">
              <a:avLst/>
            </a:prstGeom>
          </p:spPr>
          <p:txBody>
            <a:bodyPr anchor="ctr" rtlCol="false" tIns="0" lIns="0" bIns="0" rIns="0"/>
            <a:lstStyle/>
            <a:p>
              <a:pPr algn="ctr">
                <a:lnSpc>
                  <a:spcPts val="5040"/>
                </a:lnSpc>
              </a:pPr>
              <a:r>
                <a:rPr lang="en-US" sz="4200" b="true">
                  <a:solidFill>
                    <a:srgbClr val="0B5E6E"/>
                  </a:solidFill>
                  <a:latin typeface="Calibri (MS) Bold"/>
                  <a:ea typeface="Calibri (MS) Bold"/>
                  <a:cs typeface="Calibri (MS) Bold"/>
                  <a:sym typeface="Calibri (MS) Bold"/>
                </a:rPr>
                <a:t>2041</a:t>
              </a:r>
            </a:p>
          </p:txBody>
        </p:sp>
      </p:grpSp>
      <p:sp>
        <p:nvSpPr>
          <p:cNvPr name="TextBox 78" id="78"/>
          <p:cNvSpPr txBox="true"/>
          <p:nvPr/>
        </p:nvSpPr>
        <p:spPr>
          <a:xfrm rot="0">
            <a:off x="11494008" y="3343275"/>
            <a:ext cx="1673352" cy="1045845"/>
          </a:xfrm>
          <a:prstGeom prst="rect">
            <a:avLst/>
          </a:prstGeom>
        </p:spPr>
        <p:txBody>
          <a:bodyPr anchor="t" rtlCol="false" tIns="0" lIns="0" bIns="0" rIns="0">
            <a:spAutoFit/>
          </a:bodyPr>
          <a:lstStyle/>
          <a:p>
            <a:pPr algn="ctr">
              <a:lnSpc>
                <a:spcPts val="1980"/>
              </a:lnSpc>
            </a:pPr>
            <a:r>
              <a:rPr lang="en-US" sz="1650">
                <a:solidFill>
                  <a:srgbClr val="14313B"/>
                </a:solidFill>
                <a:latin typeface="Calibri (MS)"/>
                <a:ea typeface="Calibri (MS)"/>
                <a:cs typeface="Calibri (MS)"/>
                <a:sym typeface="Calibri (MS)"/>
              </a:rPr>
              <a:t>Development Priority</a:t>
            </a:r>
          </a:p>
        </p:txBody>
      </p:sp>
      <p:grpSp>
        <p:nvGrpSpPr>
          <p:cNvPr name="Group 79" id="79"/>
          <p:cNvGrpSpPr/>
          <p:nvPr/>
        </p:nvGrpSpPr>
        <p:grpSpPr>
          <a:xfrm rot="0">
            <a:off x="13441680" y="2400300"/>
            <a:ext cx="1892808" cy="2057400"/>
            <a:chOff x="0" y="0"/>
            <a:chExt cx="2523744" cy="2743200"/>
          </a:xfrm>
        </p:grpSpPr>
        <p:sp>
          <p:nvSpPr>
            <p:cNvPr name="Freeform 80" id="80"/>
            <p:cNvSpPr/>
            <p:nvPr/>
          </p:nvSpPr>
          <p:spPr>
            <a:xfrm flipH="false" flipV="false" rot="0">
              <a:off x="0" y="0"/>
              <a:ext cx="2523744" cy="2743200"/>
            </a:xfrm>
            <a:custGeom>
              <a:avLst/>
              <a:gdLst/>
              <a:ahLst/>
              <a:cxnLst/>
              <a:rect r="r" b="b" t="t" l="l"/>
              <a:pathLst>
                <a:path h="2743200" w="2523744">
                  <a:moveTo>
                    <a:pt x="0" y="182880"/>
                  </a:moveTo>
                  <a:cubicBezTo>
                    <a:pt x="0" y="81915"/>
                    <a:pt x="81915" y="0"/>
                    <a:pt x="182880" y="0"/>
                  </a:cubicBezTo>
                  <a:lnTo>
                    <a:pt x="2340864" y="0"/>
                  </a:lnTo>
                  <a:cubicBezTo>
                    <a:pt x="2441829" y="0"/>
                    <a:pt x="2523744" y="81915"/>
                    <a:pt x="2523744" y="182880"/>
                  </a:cubicBezTo>
                  <a:lnTo>
                    <a:pt x="2523744" y="2560320"/>
                  </a:lnTo>
                  <a:cubicBezTo>
                    <a:pt x="2523744" y="2661285"/>
                    <a:pt x="2441829" y="2743200"/>
                    <a:pt x="2340864" y="2743200"/>
                  </a:cubicBezTo>
                  <a:lnTo>
                    <a:pt x="182880" y="2743200"/>
                  </a:lnTo>
                  <a:cubicBezTo>
                    <a:pt x="81915" y="2743200"/>
                    <a:pt x="0" y="2661285"/>
                    <a:pt x="0" y="2560320"/>
                  </a:cubicBezTo>
                  <a:close/>
                </a:path>
              </a:pathLst>
            </a:custGeom>
            <a:solidFill>
              <a:srgbClr val="EAF8FA"/>
            </a:solidFill>
          </p:spPr>
          <p:txBody>
            <a:bodyPr/>
            <a:p/>
          </p:txBody>
        </p:sp>
      </p:grpSp>
      <p:grpSp>
        <p:nvGrpSpPr>
          <p:cNvPr name="Group 81" id="81"/>
          <p:cNvGrpSpPr/>
          <p:nvPr/>
        </p:nvGrpSpPr>
        <p:grpSpPr>
          <a:xfrm rot="0">
            <a:off x="13441680" y="2537460"/>
            <a:ext cx="1892808" cy="822960"/>
            <a:chOff x="0" y="0"/>
            <a:chExt cx="2523744" cy="1097280"/>
          </a:xfrm>
        </p:grpSpPr>
        <p:sp>
          <p:nvSpPr>
            <p:cNvPr name="Freeform 82" id="82"/>
            <p:cNvSpPr/>
            <p:nvPr/>
          </p:nvSpPr>
          <p:spPr>
            <a:xfrm flipH="false" flipV="false" rot="0">
              <a:off x="0" y="0"/>
              <a:ext cx="2523744" cy="1097280"/>
            </a:xfrm>
            <a:custGeom>
              <a:avLst/>
              <a:gdLst/>
              <a:ahLst/>
              <a:cxnLst/>
              <a:rect r="r" b="b" t="t" l="l"/>
              <a:pathLst>
                <a:path h="1097280" w="2523744">
                  <a:moveTo>
                    <a:pt x="0" y="0"/>
                  </a:moveTo>
                  <a:lnTo>
                    <a:pt x="2523744" y="0"/>
                  </a:lnTo>
                  <a:lnTo>
                    <a:pt x="2523744" y="1097280"/>
                  </a:lnTo>
                  <a:lnTo>
                    <a:pt x="0" y="1097280"/>
                  </a:lnTo>
                  <a:close/>
                </a:path>
              </a:pathLst>
            </a:custGeom>
            <a:blipFill>
              <a:blip r:embed="rId4">
                <a:alphaModFix amt="0"/>
              </a:blip>
              <a:stretch>
                <a:fillRect l="-5822" t="0" r="-5823" b="0"/>
              </a:stretch>
            </a:blipFill>
          </p:spPr>
          <p:txBody>
            <a:bodyPr/>
            <a:p/>
          </p:txBody>
        </p:sp>
      </p:grpSp>
      <p:grpSp>
        <p:nvGrpSpPr>
          <p:cNvPr name="Group 83" id="83"/>
          <p:cNvGrpSpPr/>
          <p:nvPr/>
        </p:nvGrpSpPr>
        <p:grpSpPr>
          <a:xfrm rot="0">
            <a:off x="13441680" y="2473166"/>
            <a:ext cx="1892808" cy="887254"/>
            <a:chOff x="0" y="0"/>
            <a:chExt cx="2523744" cy="1183005"/>
          </a:xfrm>
        </p:grpSpPr>
        <p:sp>
          <p:nvSpPr>
            <p:cNvPr name="Freeform 84" id="84"/>
            <p:cNvSpPr/>
            <p:nvPr/>
          </p:nvSpPr>
          <p:spPr>
            <a:xfrm flipH="false" flipV="false" rot="0">
              <a:off x="0" y="0"/>
              <a:ext cx="2523744" cy="1183005"/>
            </a:xfrm>
            <a:custGeom>
              <a:avLst/>
              <a:gdLst/>
              <a:ahLst/>
              <a:cxnLst/>
              <a:rect r="r" b="b" t="t" l="l"/>
              <a:pathLst>
                <a:path h="1183005" w="2523744">
                  <a:moveTo>
                    <a:pt x="0" y="0"/>
                  </a:moveTo>
                  <a:lnTo>
                    <a:pt x="2523744" y="0"/>
                  </a:lnTo>
                  <a:lnTo>
                    <a:pt x="2523744" y="1183005"/>
                  </a:lnTo>
                  <a:lnTo>
                    <a:pt x="0" y="1183005"/>
                  </a:lnTo>
                  <a:close/>
                </a:path>
              </a:pathLst>
            </a:custGeom>
            <a:blipFill>
              <a:blip r:embed="rId5">
                <a:alphaModFix amt="0"/>
              </a:blip>
              <a:stretch>
                <a:fillRect l="-10184" t="0" r="-10184" b="0"/>
              </a:stretch>
            </a:blipFill>
          </p:spPr>
          <p:txBody>
            <a:bodyPr/>
            <a:p/>
          </p:txBody>
        </p:sp>
      </p:grpSp>
      <p:grpSp>
        <p:nvGrpSpPr>
          <p:cNvPr name="Group 85" id="85"/>
          <p:cNvGrpSpPr/>
          <p:nvPr/>
        </p:nvGrpSpPr>
        <p:grpSpPr>
          <a:xfrm rot="0">
            <a:off x="13441680" y="2408872"/>
            <a:ext cx="1892808" cy="951548"/>
            <a:chOff x="0" y="0"/>
            <a:chExt cx="2523744" cy="1268730"/>
          </a:xfrm>
        </p:grpSpPr>
        <p:sp>
          <p:nvSpPr>
            <p:cNvPr name="Freeform 86" id="86"/>
            <p:cNvSpPr/>
            <p:nvPr/>
          </p:nvSpPr>
          <p:spPr>
            <a:xfrm flipH="false" flipV="false" rot="0">
              <a:off x="0" y="0"/>
              <a:ext cx="2523744" cy="1268730"/>
            </a:xfrm>
            <a:custGeom>
              <a:avLst/>
              <a:gdLst/>
              <a:ahLst/>
              <a:cxnLst/>
              <a:rect r="r" b="b" t="t" l="l"/>
              <a:pathLst>
                <a:path h="1268730" w="2523744">
                  <a:moveTo>
                    <a:pt x="0" y="0"/>
                  </a:moveTo>
                  <a:lnTo>
                    <a:pt x="2523744" y="0"/>
                  </a:lnTo>
                  <a:lnTo>
                    <a:pt x="2523744" y="1268730"/>
                  </a:lnTo>
                  <a:lnTo>
                    <a:pt x="0" y="1268730"/>
                  </a:lnTo>
                  <a:close/>
                </a:path>
              </a:pathLst>
            </a:custGeom>
            <a:blipFill>
              <a:blip r:embed="rId6">
                <a:alphaModFix amt="0"/>
              </a:blip>
              <a:stretch>
                <a:fillRect l="-14500" t="0" r="-14500" b="0"/>
              </a:stretch>
            </a:blipFill>
          </p:spPr>
          <p:txBody>
            <a:bodyPr/>
            <a:p/>
          </p:txBody>
        </p:sp>
        <p:sp>
          <p:nvSpPr>
            <p:cNvPr name="TextBox 87" id="87"/>
            <p:cNvSpPr txBox="true"/>
            <p:nvPr/>
          </p:nvSpPr>
          <p:spPr>
            <a:xfrm>
              <a:off x="0" y="-85725"/>
              <a:ext cx="2523744" cy="1354455"/>
            </a:xfrm>
            <a:prstGeom prst="rect">
              <a:avLst/>
            </a:prstGeom>
          </p:spPr>
          <p:txBody>
            <a:bodyPr anchor="ctr" rtlCol="false" tIns="0" lIns="0" bIns="0" rIns="0"/>
            <a:lstStyle/>
            <a:p>
              <a:pPr algn="ctr">
                <a:lnSpc>
                  <a:spcPts val="5040"/>
                </a:lnSpc>
              </a:pPr>
              <a:r>
                <a:rPr lang="en-US" sz="4200" b="true">
                  <a:solidFill>
                    <a:srgbClr val="0B5E6E"/>
                  </a:solidFill>
                  <a:latin typeface="Calibri (MS) Bold"/>
                  <a:ea typeface="Calibri (MS) Bold"/>
                  <a:cs typeface="Calibri (MS) Bold"/>
                  <a:sym typeface="Calibri (MS) Bold"/>
                </a:rPr>
                <a:t>2042</a:t>
              </a:r>
            </a:p>
          </p:txBody>
        </p:sp>
      </p:grpSp>
      <p:sp>
        <p:nvSpPr>
          <p:cNvPr name="TextBox 88" id="88"/>
          <p:cNvSpPr txBox="true"/>
          <p:nvPr/>
        </p:nvSpPr>
        <p:spPr>
          <a:xfrm rot="0">
            <a:off x="13551408" y="3343275"/>
            <a:ext cx="1673352" cy="1045845"/>
          </a:xfrm>
          <a:prstGeom prst="rect">
            <a:avLst/>
          </a:prstGeom>
        </p:spPr>
        <p:txBody>
          <a:bodyPr anchor="t" rtlCol="false" tIns="0" lIns="0" bIns="0" rIns="0">
            <a:spAutoFit/>
          </a:bodyPr>
          <a:lstStyle/>
          <a:p>
            <a:pPr algn="ctr">
              <a:lnSpc>
                <a:spcPts val="1980"/>
              </a:lnSpc>
            </a:pPr>
            <a:r>
              <a:rPr lang="en-US" sz="1650">
                <a:solidFill>
                  <a:srgbClr val="14313B"/>
                </a:solidFill>
                <a:latin typeface="Calibri (MS)"/>
                <a:ea typeface="Calibri (MS)"/>
                <a:cs typeface="Calibri (MS)"/>
                <a:sym typeface="Calibri (MS)"/>
              </a:rPr>
              <a:t>Sustainable</a:t>
            </a:r>
          </a:p>
        </p:txBody>
      </p:sp>
      <p:grpSp>
        <p:nvGrpSpPr>
          <p:cNvPr name="Group 89" id="89"/>
          <p:cNvGrpSpPr/>
          <p:nvPr/>
        </p:nvGrpSpPr>
        <p:grpSpPr>
          <a:xfrm rot="0">
            <a:off x="15499080" y="2400300"/>
            <a:ext cx="1892808" cy="2057400"/>
            <a:chOff x="0" y="0"/>
            <a:chExt cx="2523744" cy="2743200"/>
          </a:xfrm>
        </p:grpSpPr>
        <p:sp>
          <p:nvSpPr>
            <p:cNvPr name="Freeform 90" id="90"/>
            <p:cNvSpPr/>
            <p:nvPr/>
          </p:nvSpPr>
          <p:spPr>
            <a:xfrm flipH="false" flipV="false" rot="0">
              <a:off x="0" y="0"/>
              <a:ext cx="2523744" cy="2743200"/>
            </a:xfrm>
            <a:custGeom>
              <a:avLst/>
              <a:gdLst/>
              <a:ahLst/>
              <a:cxnLst/>
              <a:rect r="r" b="b" t="t" l="l"/>
              <a:pathLst>
                <a:path h="2743200" w="2523744">
                  <a:moveTo>
                    <a:pt x="0" y="182880"/>
                  </a:moveTo>
                  <a:cubicBezTo>
                    <a:pt x="0" y="81915"/>
                    <a:pt x="81915" y="0"/>
                    <a:pt x="182880" y="0"/>
                  </a:cubicBezTo>
                  <a:lnTo>
                    <a:pt x="2340864" y="0"/>
                  </a:lnTo>
                  <a:cubicBezTo>
                    <a:pt x="2441829" y="0"/>
                    <a:pt x="2523744" y="81915"/>
                    <a:pt x="2523744" y="182880"/>
                  </a:cubicBezTo>
                  <a:lnTo>
                    <a:pt x="2523744" y="2560320"/>
                  </a:lnTo>
                  <a:cubicBezTo>
                    <a:pt x="2523744" y="2661285"/>
                    <a:pt x="2441829" y="2743200"/>
                    <a:pt x="2340864" y="2743200"/>
                  </a:cubicBezTo>
                  <a:lnTo>
                    <a:pt x="182880" y="2743200"/>
                  </a:lnTo>
                  <a:cubicBezTo>
                    <a:pt x="81915" y="2743200"/>
                    <a:pt x="0" y="2661285"/>
                    <a:pt x="0" y="2560320"/>
                  </a:cubicBezTo>
                  <a:close/>
                </a:path>
              </a:pathLst>
            </a:custGeom>
            <a:solidFill>
              <a:srgbClr val="EAF8FA"/>
            </a:solidFill>
          </p:spPr>
          <p:txBody>
            <a:bodyPr/>
            <a:p/>
          </p:txBody>
        </p:sp>
      </p:grpSp>
      <p:grpSp>
        <p:nvGrpSpPr>
          <p:cNvPr name="Group 91" id="91"/>
          <p:cNvGrpSpPr/>
          <p:nvPr/>
        </p:nvGrpSpPr>
        <p:grpSpPr>
          <a:xfrm rot="0">
            <a:off x="15499080" y="2537460"/>
            <a:ext cx="1892808" cy="822960"/>
            <a:chOff x="0" y="0"/>
            <a:chExt cx="2523744" cy="1097280"/>
          </a:xfrm>
        </p:grpSpPr>
        <p:sp>
          <p:nvSpPr>
            <p:cNvPr name="Freeform 92" id="92"/>
            <p:cNvSpPr/>
            <p:nvPr/>
          </p:nvSpPr>
          <p:spPr>
            <a:xfrm flipH="false" flipV="false" rot="0">
              <a:off x="0" y="0"/>
              <a:ext cx="2523744" cy="1097280"/>
            </a:xfrm>
            <a:custGeom>
              <a:avLst/>
              <a:gdLst/>
              <a:ahLst/>
              <a:cxnLst/>
              <a:rect r="r" b="b" t="t" l="l"/>
              <a:pathLst>
                <a:path h="1097280" w="2523744">
                  <a:moveTo>
                    <a:pt x="0" y="0"/>
                  </a:moveTo>
                  <a:lnTo>
                    <a:pt x="2523744" y="0"/>
                  </a:lnTo>
                  <a:lnTo>
                    <a:pt x="2523744" y="1097280"/>
                  </a:lnTo>
                  <a:lnTo>
                    <a:pt x="0" y="1097280"/>
                  </a:lnTo>
                  <a:close/>
                </a:path>
              </a:pathLst>
            </a:custGeom>
            <a:blipFill>
              <a:blip r:embed="rId4">
                <a:alphaModFix amt="0"/>
              </a:blip>
              <a:stretch>
                <a:fillRect l="-5822" t="0" r="-5823" b="0"/>
              </a:stretch>
            </a:blipFill>
          </p:spPr>
          <p:txBody>
            <a:bodyPr/>
            <a:p/>
          </p:txBody>
        </p:sp>
      </p:grpSp>
      <p:grpSp>
        <p:nvGrpSpPr>
          <p:cNvPr name="Group 93" id="93"/>
          <p:cNvGrpSpPr/>
          <p:nvPr/>
        </p:nvGrpSpPr>
        <p:grpSpPr>
          <a:xfrm rot="0">
            <a:off x="15499080" y="2473166"/>
            <a:ext cx="1892808" cy="887254"/>
            <a:chOff x="0" y="0"/>
            <a:chExt cx="2523744" cy="1183005"/>
          </a:xfrm>
        </p:grpSpPr>
        <p:sp>
          <p:nvSpPr>
            <p:cNvPr name="Freeform 94" id="94"/>
            <p:cNvSpPr/>
            <p:nvPr/>
          </p:nvSpPr>
          <p:spPr>
            <a:xfrm flipH="false" flipV="false" rot="0">
              <a:off x="0" y="0"/>
              <a:ext cx="2523744" cy="1183005"/>
            </a:xfrm>
            <a:custGeom>
              <a:avLst/>
              <a:gdLst/>
              <a:ahLst/>
              <a:cxnLst/>
              <a:rect r="r" b="b" t="t" l="l"/>
              <a:pathLst>
                <a:path h="1183005" w="2523744">
                  <a:moveTo>
                    <a:pt x="0" y="0"/>
                  </a:moveTo>
                  <a:lnTo>
                    <a:pt x="2523744" y="0"/>
                  </a:lnTo>
                  <a:lnTo>
                    <a:pt x="2523744" y="1183005"/>
                  </a:lnTo>
                  <a:lnTo>
                    <a:pt x="0" y="1183005"/>
                  </a:lnTo>
                  <a:close/>
                </a:path>
              </a:pathLst>
            </a:custGeom>
            <a:blipFill>
              <a:blip r:embed="rId5">
                <a:alphaModFix amt="0"/>
              </a:blip>
              <a:stretch>
                <a:fillRect l="-10184" t="0" r="-10184" b="0"/>
              </a:stretch>
            </a:blipFill>
          </p:spPr>
          <p:txBody>
            <a:bodyPr/>
            <a:p/>
          </p:txBody>
        </p:sp>
      </p:grpSp>
      <p:grpSp>
        <p:nvGrpSpPr>
          <p:cNvPr name="Group 95" id="95"/>
          <p:cNvGrpSpPr/>
          <p:nvPr/>
        </p:nvGrpSpPr>
        <p:grpSpPr>
          <a:xfrm rot="0">
            <a:off x="15499080" y="2408872"/>
            <a:ext cx="1892808" cy="951548"/>
            <a:chOff x="0" y="0"/>
            <a:chExt cx="2523744" cy="1268730"/>
          </a:xfrm>
        </p:grpSpPr>
        <p:sp>
          <p:nvSpPr>
            <p:cNvPr name="Freeform 96" id="96"/>
            <p:cNvSpPr/>
            <p:nvPr/>
          </p:nvSpPr>
          <p:spPr>
            <a:xfrm flipH="false" flipV="false" rot="0">
              <a:off x="0" y="0"/>
              <a:ext cx="2523744" cy="1268730"/>
            </a:xfrm>
            <a:custGeom>
              <a:avLst/>
              <a:gdLst/>
              <a:ahLst/>
              <a:cxnLst/>
              <a:rect r="r" b="b" t="t" l="l"/>
              <a:pathLst>
                <a:path h="1268730" w="2523744">
                  <a:moveTo>
                    <a:pt x="0" y="0"/>
                  </a:moveTo>
                  <a:lnTo>
                    <a:pt x="2523744" y="0"/>
                  </a:lnTo>
                  <a:lnTo>
                    <a:pt x="2523744" y="1268730"/>
                  </a:lnTo>
                  <a:lnTo>
                    <a:pt x="0" y="1268730"/>
                  </a:lnTo>
                  <a:close/>
                </a:path>
              </a:pathLst>
            </a:custGeom>
            <a:blipFill>
              <a:blip r:embed="rId6">
                <a:alphaModFix amt="0"/>
              </a:blip>
              <a:stretch>
                <a:fillRect l="-14500" t="0" r="-14500" b="0"/>
              </a:stretch>
            </a:blipFill>
          </p:spPr>
          <p:txBody>
            <a:bodyPr/>
            <a:p/>
          </p:txBody>
        </p:sp>
        <p:sp>
          <p:nvSpPr>
            <p:cNvPr name="TextBox 97" id="97"/>
            <p:cNvSpPr txBox="true"/>
            <p:nvPr/>
          </p:nvSpPr>
          <p:spPr>
            <a:xfrm>
              <a:off x="0" y="-85725"/>
              <a:ext cx="2523744" cy="1354455"/>
            </a:xfrm>
            <a:prstGeom prst="rect">
              <a:avLst/>
            </a:prstGeom>
          </p:spPr>
          <p:txBody>
            <a:bodyPr anchor="ctr" rtlCol="false" tIns="0" lIns="0" bIns="0" rIns="0"/>
            <a:lstStyle/>
            <a:p>
              <a:pPr algn="ctr">
                <a:lnSpc>
                  <a:spcPts val="5040"/>
                </a:lnSpc>
              </a:pPr>
              <a:r>
                <a:rPr lang="en-US" sz="4200" b="true">
                  <a:solidFill>
                    <a:srgbClr val="0B5E6E"/>
                  </a:solidFill>
                  <a:latin typeface="Calibri (MS) Bold"/>
                  <a:ea typeface="Calibri (MS) Bold"/>
                  <a:cs typeface="Calibri (MS) Bold"/>
                  <a:sym typeface="Calibri (MS) Bold"/>
                </a:rPr>
                <a:t>2043</a:t>
              </a:r>
            </a:p>
          </p:txBody>
        </p:sp>
      </p:grpSp>
      <p:sp>
        <p:nvSpPr>
          <p:cNvPr name="TextBox 98" id="98"/>
          <p:cNvSpPr txBox="true"/>
          <p:nvPr/>
        </p:nvSpPr>
        <p:spPr>
          <a:xfrm rot="0">
            <a:off x="15608808" y="3343275"/>
            <a:ext cx="1673352" cy="1045845"/>
          </a:xfrm>
          <a:prstGeom prst="rect">
            <a:avLst/>
          </a:prstGeom>
        </p:spPr>
        <p:txBody>
          <a:bodyPr anchor="t" rtlCol="false" tIns="0" lIns="0" bIns="0" rIns="0">
            <a:spAutoFit/>
          </a:bodyPr>
          <a:lstStyle/>
          <a:p>
            <a:pPr algn="ctr">
              <a:lnSpc>
                <a:spcPts val="1980"/>
              </a:lnSpc>
            </a:pPr>
            <a:r>
              <a:rPr lang="en-US" sz="1650">
                <a:solidFill>
                  <a:srgbClr val="14313B"/>
                </a:solidFill>
                <a:latin typeface="Calibri (MS)"/>
                <a:ea typeface="Calibri (MS)"/>
                <a:cs typeface="Calibri (MS)"/>
                <a:sym typeface="Calibri (MS)"/>
              </a:rPr>
              <a:t>Business-as-Usual</a:t>
            </a:r>
          </a:p>
        </p:txBody>
      </p:sp>
      <p:sp>
        <p:nvSpPr>
          <p:cNvPr name="TextBox 99" id="99"/>
          <p:cNvSpPr txBox="true"/>
          <p:nvPr/>
        </p:nvSpPr>
        <p:spPr>
          <a:xfrm rot="0">
            <a:off x="11384280" y="4411980"/>
            <a:ext cx="6076188" cy="594360"/>
          </a:xfrm>
          <a:prstGeom prst="rect">
            <a:avLst/>
          </a:prstGeom>
        </p:spPr>
        <p:txBody>
          <a:bodyPr anchor="t" rtlCol="false" tIns="0" lIns="0" bIns="0" rIns="0">
            <a:spAutoFit/>
          </a:bodyPr>
          <a:lstStyle/>
          <a:p>
            <a:pPr algn="l">
              <a:lnSpc>
                <a:spcPts val="2160"/>
              </a:lnSpc>
            </a:pPr>
            <a:r>
              <a:rPr lang="en-US" sz="1800" i="true">
                <a:solidFill>
                  <a:srgbClr val="5E6E78"/>
                </a:solidFill>
                <a:latin typeface="Calibri (MS) Italics"/>
                <a:ea typeface="Calibri (MS) Italics"/>
                <a:cs typeface="Calibri (MS) Italics"/>
                <a:sym typeface="Calibri (MS) Italics"/>
              </a:rPr>
              <a:t>tahun batas 2,0 terlewati — selisih antarskenario hanya 2 tahun</a:t>
            </a:r>
          </a:p>
        </p:txBody>
      </p:sp>
      <p:grpSp>
        <p:nvGrpSpPr>
          <p:cNvPr name="Group 100" id="100"/>
          <p:cNvGrpSpPr/>
          <p:nvPr/>
        </p:nvGrpSpPr>
        <p:grpSpPr>
          <a:xfrm rot="0">
            <a:off x="11384280" y="5212080"/>
            <a:ext cx="6076188" cy="1714500"/>
            <a:chOff x="0" y="0"/>
            <a:chExt cx="8101584" cy="2286000"/>
          </a:xfrm>
        </p:grpSpPr>
        <p:sp>
          <p:nvSpPr>
            <p:cNvPr name="Freeform 101" id="101"/>
            <p:cNvSpPr/>
            <p:nvPr/>
          </p:nvSpPr>
          <p:spPr>
            <a:xfrm flipH="false" flipV="false" rot="0">
              <a:off x="0" y="0"/>
              <a:ext cx="8101585" cy="2286000"/>
            </a:xfrm>
            <a:custGeom>
              <a:avLst/>
              <a:gdLst/>
              <a:ahLst/>
              <a:cxnLst/>
              <a:rect r="r" b="b" t="t" l="l"/>
              <a:pathLst>
                <a:path h="2286000" w="8101585">
                  <a:moveTo>
                    <a:pt x="0" y="182880"/>
                  </a:moveTo>
                  <a:cubicBezTo>
                    <a:pt x="0" y="81915"/>
                    <a:pt x="81915" y="0"/>
                    <a:pt x="182880" y="0"/>
                  </a:cubicBezTo>
                  <a:lnTo>
                    <a:pt x="7918704" y="0"/>
                  </a:lnTo>
                  <a:cubicBezTo>
                    <a:pt x="8019669" y="0"/>
                    <a:pt x="8101585" y="81915"/>
                    <a:pt x="8101585" y="182880"/>
                  </a:cubicBezTo>
                  <a:lnTo>
                    <a:pt x="8101585" y="2103120"/>
                  </a:lnTo>
                  <a:cubicBezTo>
                    <a:pt x="8101585" y="2204085"/>
                    <a:pt x="8019669" y="2286000"/>
                    <a:pt x="7918704" y="2286000"/>
                  </a:cubicBezTo>
                  <a:lnTo>
                    <a:pt x="182880" y="2286000"/>
                  </a:lnTo>
                  <a:cubicBezTo>
                    <a:pt x="81915" y="2286000"/>
                    <a:pt x="0" y="2204085"/>
                    <a:pt x="0" y="2103120"/>
                  </a:cubicBezTo>
                  <a:close/>
                </a:path>
              </a:pathLst>
            </a:custGeom>
            <a:solidFill>
              <a:srgbClr val="0B5E6E"/>
            </a:solidFill>
          </p:spPr>
          <p:txBody>
            <a:bodyPr/>
            <a:p/>
          </p:txBody>
        </p:sp>
      </p:grpSp>
      <p:grpSp>
        <p:nvGrpSpPr>
          <p:cNvPr name="Group 102" id="102"/>
          <p:cNvGrpSpPr/>
          <p:nvPr/>
        </p:nvGrpSpPr>
        <p:grpSpPr>
          <a:xfrm rot="0">
            <a:off x="11727180" y="5212080"/>
            <a:ext cx="5417820" cy="1714500"/>
            <a:chOff x="0" y="0"/>
            <a:chExt cx="7223760" cy="2286000"/>
          </a:xfrm>
        </p:grpSpPr>
        <p:sp>
          <p:nvSpPr>
            <p:cNvPr name="Freeform 103" id="103"/>
            <p:cNvSpPr/>
            <p:nvPr/>
          </p:nvSpPr>
          <p:spPr>
            <a:xfrm flipH="false" flipV="false" rot="0">
              <a:off x="0" y="0"/>
              <a:ext cx="7223760" cy="2286000"/>
            </a:xfrm>
            <a:custGeom>
              <a:avLst/>
              <a:gdLst/>
              <a:ahLst/>
              <a:cxnLst/>
              <a:rect r="r" b="b" t="t" l="l"/>
              <a:pathLst>
                <a:path h="2286000" w="7223760">
                  <a:moveTo>
                    <a:pt x="0" y="0"/>
                  </a:moveTo>
                  <a:lnTo>
                    <a:pt x="7223760" y="0"/>
                  </a:lnTo>
                  <a:lnTo>
                    <a:pt x="7223760" y="2286000"/>
                  </a:lnTo>
                  <a:lnTo>
                    <a:pt x="0" y="2286000"/>
                  </a:lnTo>
                  <a:close/>
                </a:path>
              </a:pathLst>
            </a:custGeom>
            <a:blipFill>
              <a:blip r:embed="rId4">
                <a:alphaModFix amt="0"/>
              </a:blip>
              <a:stretch>
                <a:fillRect l="0" t="-11530" r="0" b="-11530"/>
              </a:stretch>
            </a:blipFill>
          </p:spPr>
          <p:txBody>
            <a:bodyPr/>
            <a:p/>
          </p:txBody>
        </p:sp>
      </p:grpSp>
      <p:grpSp>
        <p:nvGrpSpPr>
          <p:cNvPr name="Group 104" id="104"/>
          <p:cNvGrpSpPr/>
          <p:nvPr/>
        </p:nvGrpSpPr>
        <p:grpSpPr>
          <a:xfrm rot="0">
            <a:off x="11727180" y="5176361"/>
            <a:ext cx="5417820" cy="1750219"/>
            <a:chOff x="0" y="0"/>
            <a:chExt cx="7223760" cy="2333625"/>
          </a:xfrm>
        </p:grpSpPr>
        <p:sp>
          <p:nvSpPr>
            <p:cNvPr name="Freeform 105" id="105"/>
            <p:cNvSpPr/>
            <p:nvPr/>
          </p:nvSpPr>
          <p:spPr>
            <a:xfrm flipH="false" flipV="false" rot="0">
              <a:off x="0" y="0"/>
              <a:ext cx="7223760" cy="2333625"/>
            </a:xfrm>
            <a:custGeom>
              <a:avLst/>
              <a:gdLst/>
              <a:ahLst/>
              <a:cxnLst/>
              <a:rect r="r" b="b" t="t" l="l"/>
              <a:pathLst>
                <a:path h="2333625" w="7223760">
                  <a:moveTo>
                    <a:pt x="0" y="0"/>
                  </a:moveTo>
                  <a:lnTo>
                    <a:pt x="7223760" y="0"/>
                  </a:lnTo>
                  <a:lnTo>
                    <a:pt x="7223760" y="2333625"/>
                  </a:lnTo>
                  <a:lnTo>
                    <a:pt x="0" y="2333625"/>
                  </a:lnTo>
                  <a:close/>
                </a:path>
              </a:pathLst>
            </a:custGeom>
            <a:blipFill>
              <a:blip r:embed="rId5">
                <a:alphaModFix amt="0"/>
              </a:blip>
              <a:stretch>
                <a:fillRect l="0" t="-10274" r="0" b="-10274"/>
              </a:stretch>
            </a:blipFill>
          </p:spPr>
          <p:txBody>
            <a:bodyPr/>
            <a:p/>
          </p:txBody>
        </p:sp>
      </p:grpSp>
      <p:grpSp>
        <p:nvGrpSpPr>
          <p:cNvPr name="Group 106" id="106"/>
          <p:cNvGrpSpPr/>
          <p:nvPr/>
        </p:nvGrpSpPr>
        <p:grpSpPr>
          <a:xfrm rot="0">
            <a:off x="11727180" y="5140642"/>
            <a:ext cx="5417820" cy="1785938"/>
            <a:chOff x="0" y="0"/>
            <a:chExt cx="7223760" cy="2381250"/>
          </a:xfrm>
        </p:grpSpPr>
        <p:sp>
          <p:nvSpPr>
            <p:cNvPr name="Freeform 107" id="107"/>
            <p:cNvSpPr/>
            <p:nvPr/>
          </p:nvSpPr>
          <p:spPr>
            <a:xfrm flipH="false" flipV="false" rot="0">
              <a:off x="0" y="0"/>
              <a:ext cx="7223760" cy="2381250"/>
            </a:xfrm>
            <a:custGeom>
              <a:avLst/>
              <a:gdLst/>
              <a:ahLst/>
              <a:cxnLst/>
              <a:rect r="r" b="b" t="t" l="l"/>
              <a:pathLst>
                <a:path h="2381250" w="7223760">
                  <a:moveTo>
                    <a:pt x="0" y="0"/>
                  </a:moveTo>
                  <a:lnTo>
                    <a:pt x="7223760" y="0"/>
                  </a:lnTo>
                  <a:lnTo>
                    <a:pt x="7223760" y="2381250"/>
                  </a:lnTo>
                  <a:lnTo>
                    <a:pt x="0" y="2381250"/>
                  </a:lnTo>
                  <a:close/>
                </a:path>
              </a:pathLst>
            </a:custGeom>
            <a:blipFill>
              <a:blip r:embed="rId6">
                <a:alphaModFix amt="0"/>
              </a:blip>
              <a:stretch>
                <a:fillRect l="0" t="-9109" r="0" b="-9109"/>
              </a:stretch>
            </a:blipFill>
          </p:spPr>
          <p:txBody>
            <a:bodyPr/>
            <a:p/>
          </p:txBody>
        </p:sp>
        <p:sp>
          <p:nvSpPr>
            <p:cNvPr name="TextBox 108" id="108"/>
            <p:cNvSpPr txBox="true"/>
            <p:nvPr/>
          </p:nvSpPr>
          <p:spPr>
            <a:xfrm>
              <a:off x="0" y="-47625"/>
              <a:ext cx="7223760" cy="2428875"/>
            </a:xfrm>
            <a:prstGeom prst="rect">
              <a:avLst/>
            </a:prstGeom>
          </p:spPr>
          <p:txBody>
            <a:bodyPr anchor="ctr" rtlCol="false" tIns="0" lIns="0" bIns="0" rIns="0"/>
            <a:lstStyle/>
            <a:p>
              <a:pPr algn="l">
                <a:lnSpc>
                  <a:spcPts val="2340"/>
                </a:lnSpc>
              </a:pPr>
              <a:r>
                <a:rPr lang="en-US" sz="1950">
                  <a:solidFill>
                    <a:srgbClr val="FFFFFF"/>
                  </a:solidFill>
                  <a:latin typeface="Calibri (MS)"/>
                  <a:ea typeface="Calibri (MS)"/>
                  <a:cs typeface="Calibri (MS)"/>
                  <a:sym typeface="Calibri (MS)"/>
                </a:rPr>
                <a:t>Kedua variabel kebijakan bekerja di sisi penyediaan (investasi, lahan), sedangkan kepadatan ditentukan pertumbuhan jumlah wisatawan.</a:t>
              </a:r>
            </a:p>
          </p:txBody>
        </p:sp>
      </p:grpSp>
      <p:grpSp>
        <p:nvGrpSpPr>
          <p:cNvPr name="Group 109" id="109"/>
          <p:cNvGrpSpPr/>
          <p:nvPr/>
        </p:nvGrpSpPr>
        <p:grpSpPr>
          <a:xfrm rot="0">
            <a:off x="11384280" y="7132320"/>
            <a:ext cx="6076188" cy="960120"/>
            <a:chOff x="0" y="0"/>
            <a:chExt cx="8101584" cy="1280160"/>
          </a:xfrm>
        </p:grpSpPr>
        <p:sp>
          <p:nvSpPr>
            <p:cNvPr name="Freeform 110" id="110"/>
            <p:cNvSpPr/>
            <p:nvPr/>
          </p:nvSpPr>
          <p:spPr>
            <a:xfrm flipH="false" flipV="false" rot="0">
              <a:off x="0" y="0"/>
              <a:ext cx="8101585" cy="1280160"/>
            </a:xfrm>
            <a:custGeom>
              <a:avLst/>
              <a:gdLst/>
              <a:ahLst/>
              <a:cxnLst/>
              <a:rect r="r" b="b" t="t" l="l"/>
              <a:pathLst>
                <a:path h="1280160" w="8101585">
                  <a:moveTo>
                    <a:pt x="0" y="182880"/>
                  </a:moveTo>
                  <a:cubicBezTo>
                    <a:pt x="0" y="81915"/>
                    <a:pt x="81915" y="0"/>
                    <a:pt x="182880" y="0"/>
                  </a:cubicBezTo>
                  <a:lnTo>
                    <a:pt x="7918704" y="0"/>
                  </a:lnTo>
                  <a:cubicBezTo>
                    <a:pt x="8019669" y="0"/>
                    <a:pt x="8101585" y="81915"/>
                    <a:pt x="8101585" y="182880"/>
                  </a:cubicBezTo>
                  <a:lnTo>
                    <a:pt x="8101585" y="1097280"/>
                  </a:lnTo>
                  <a:cubicBezTo>
                    <a:pt x="8101585" y="1198245"/>
                    <a:pt x="8019669" y="1280160"/>
                    <a:pt x="7918704" y="1280160"/>
                  </a:cubicBezTo>
                  <a:lnTo>
                    <a:pt x="182880" y="1280160"/>
                  </a:lnTo>
                  <a:cubicBezTo>
                    <a:pt x="81915" y="1280160"/>
                    <a:pt x="0" y="1198245"/>
                    <a:pt x="0" y="1097280"/>
                  </a:cubicBezTo>
                  <a:close/>
                </a:path>
              </a:pathLst>
            </a:custGeom>
            <a:solidFill>
              <a:srgbClr val="EAF8FA"/>
            </a:solidFill>
          </p:spPr>
          <p:txBody>
            <a:bodyPr/>
            <a:p/>
          </p:txBody>
        </p:sp>
      </p:grpSp>
      <p:grpSp>
        <p:nvGrpSpPr>
          <p:cNvPr name="Group 111" id="111"/>
          <p:cNvGrpSpPr/>
          <p:nvPr/>
        </p:nvGrpSpPr>
        <p:grpSpPr>
          <a:xfrm rot="0">
            <a:off x="11658600" y="7132320"/>
            <a:ext cx="5554980" cy="960120"/>
            <a:chOff x="0" y="0"/>
            <a:chExt cx="7406640" cy="1280160"/>
          </a:xfrm>
        </p:grpSpPr>
        <p:sp>
          <p:nvSpPr>
            <p:cNvPr name="Freeform 112" id="112"/>
            <p:cNvSpPr/>
            <p:nvPr/>
          </p:nvSpPr>
          <p:spPr>
            <a:xfrm flipH="false" flipV="false" rot="0">
              <a:off x="0" y="0"/>
              <a:ext cx="7406640" cy="1280160"/>
            </a:xfrm>
            <a:custGeom>
              <a:avLst/>
              <a:gdLst/>
              <a:ahLst/>
              <a:cxnLst/>
              <a:rect r="r" b="b" t="t" l="l"/>
              <a:pathLst>
                <a:path h="1280160" w="7406640">
                  <a:moveTo>
                    <a:pt x="0" y="0"/>
                  </a:moveTo>
                  <a:lnTo>
                    <a:pt x="7406640" y="0"/>
                  </a:lnTo>
                  <a:lnTo>
                    <a:pt x="7406640" y="1280160"/>
                  </a:lnTo>
                  <a:lnTo>
                    <a:pt x="0" y="1280160"/>
                  </a:lnTo>
                  <a:close/>
                </a:path>
              </a:pathLst>
            </a:custGeom>
            <a:blipFill>
              <a:blip r:embed="rId4">
                <a:alphaModFix amt="0"/>
              </a:blip>
              <a:stretch>
                <a:fillRect l="0" t="-62656" r="0" b="-62655"/>
              </a:stretch>
            </a:blipFill>
          </p:spPr>
          <p:txBody>
            <a:bodyPr/>
            <a:p/>
          </p:txBody>
        </p:sp>
      </p:grpSp>
      <p:grpSp>
        <p:nvGrpSpPr>
          <p:cNvPr name="Group 113" id="113"/>
          <p:cNvGrpSpPr/>
          <p:nvPr/>
        </p:nvGrpSpPr>
        <p:grpSpPr>
          <a:xfrm rot="0">
            <a:off x="11658600" y="7103745"/>
            <a:ext cx="5554980" cy="988695"/>
            <a:chOff x="0" y="0"/>
            <a:chExt cx="7406640" cy="1318260"/>
          </a:xfrm>
        </p:grpSpPr>
        <p:sp>
          <p:nvSpPr>
            <p:cNvPr name="Freeform 114" id="114"/>
            <p:cNvSpPr/>
            <p:nvPr/>
          </p:nvSpPr>
          <p:spPr>
            <a:xfrm flipH="false" flipV="false" rot="0">
              <a:off x="0" y="0"/>
              <a:ext cx="7406640" cy="1318260"/>
            </a:xfrm>
            <a:custGeom>
              <a:avLst/>
              <a:gdLst/>
              <a:ahLst/>
              <a:cxnLst/>
              <a:rect r="r" b="b" t="t" l="l"/>
              <a:pathLst>
                <a:path h="1318260" w="7406640">
                  <a:moveTo>
                    <a:pt x="0" y="0"/>
                  </a:moveTo>
                  <a:lnTo>
                    <a:pt x="7406640" y="0"/>
                  </a:lnTo>
                  <a:lnTo>
                    <a:pt x="7406640" y="1318260"/>
                  </a:lnTo>
                  <a:lnTo>
                    <a:pt x="0" y="1318260"/>
                  </a:lnTo>
                  <a:close/>
                </a:path>
              </a:pathLst>
            </a:custGeom>
            <a:blipFill>
              <a:blip r:embed="rId5">
                <a:alphaModFix amt="0"/>
              </a:blip>
              <a:stretch>
                <a:fillRect l="0" t="-59400" r="0" b="-59399"/>
              </a:stretch>
            </a:blipFill>
          </p:spPr>
          <p:txBody>
            <a:bodyPr/>
            <a:p/>
          </p:txBody>
        </p:sp>
      </p:grpSp>
      <p:grpSp>
        <p:nvGrpSpPr>
          <p:cNvPr name="Group 115" id="115"/>
          <p:cNvGrpSpPr/>
          <p:nvPr/>
        </p:nvGrpSpPr>
        <p:grpSpPr>
          <a:xfrm rot="0">
            <a:off x="11658600" y="7075170"/>
            <a:ext cx="5554980" cy="1017270"/>
            <a:chOff x="0" y="0"/>
            <a:chExt cx="7406640" cy="1356360"/>
          </a:xfrm>
        </p:grpSpPr>
        <p:sp>
          <p:nvSpPr>
            <p:cNvPr name="Freeform 116" id="116"/>
            <p:cNvSpPr/>
            <p:nvPr/>
          </p:nvSpPr>
          <p:spPr>
            <a:xfrm flipH="false" flipV="false" rot="0">
              <a:off x="0" y="0"/>
              <a:ext cx="7406640" cy="1356360"/>
            </a:xfrm>
            <a:custGeom>
              <a:avLst/>
              <a:gdLst/>
              <a:ahLst/>
              <a:cxnLst/>
              <a:rect r="r" b="b" t="t" l="l"/>
              <a:pathLst>
                <a:path h="1356360" w="7406640">
                  <a:moveTo>
                    <a:pt x="0" y="0"/>
                  </a:moveTo>
                  <a:lnTo>
                    <a:pt x="7406640" y="0"/>
                  </a:lnTo>
                  <a:lnTo>
                    <a:pt x="7406640" y="1356360"/>
                  </a:lnTo>
                  <a:lnTo>
                    <a:pt x="0" y="1356360"/>
                  </a:lnTo>
                  <a:close/>
                </a:path>
              </a:pathLst>
            </a:custGeom>
            <a:blipFill>
              <a:blip r:embed="rId6">
                <a:alphaModFix amt="0"/>
              </a:blip>
              <a:stretch>
                <a:fillRect l="0" t="-56401" r="0" b="-56401"/>
              </a:stretch>
            </a:blipFill>
          </p:spPr>
          <p:txBody>
            <a:bodyPr/>
            <a:p/>
          </p:txBody>
        </p:sp>
        <p:sp>
          <p:nvSpPr>
            <p:cNvPr name="TextBox 117" id="117"/>
            <p:cNvSpPr txBox="true"/>
            <p:nvPr/>
          </p:nvSpPr>
          <p:spPr>
            <a:xfrm>
              <a:off x="0" y="-38100"/>
              <a:ext cx="7406640" cy="1394460"/>
            </a:xfrm>
            <a:prstGeom prst="rect">
              <a:avLst/>
            </a:prstGeom>
          </p:spPr>
          <p:txBody>
            <a:bodyPr anchor="ctr" rtlCol="false" tIns="0" lIns="0" bIns="0" rIns="0"/>
            <a:lstStyle/>
            <a:p>
              <a:pPr algn="l">
                <a:lnSpc>
                  <a:spcPts val="2160"/>
                </a:lnSpc>
              </a:pPr>
              <a:r>
                <a:rPr lang="en-US" sz="1800">
                  <a:solidFill>
                    <a:srgbClr val="14313B"/>
                  </a:solidFill>
                  <a:latin typeface="Calibri (MS)"/>
                  <a:ea typeface="Calibri (MS)"/>
                  <a:cs typeface="Calibri (MS)"/>
                  <a:sym typeface="Calibri (MS)"/>
                </a:rPr>
                <a:t>Rasio daya dukung lahan ≈ 0,614 — batas 0,331 tidak terlewati</a:t>
              </a:r>
            </a:p>
          </p:txBody>
        </p:sp>
      </p:grpSp>
      <p:grpSp>
        <p:nvGrpSpPr>
          <p:cNvPr name="Group 118" id="118"/>
          <p:cNvGrpSpPr/>
          <p:nvPr/>
        </p:nvGrpSpPr>
        <p:grpSpPr>
          <a:xfrm rot="0">
            <a:off x="11384280" y="8298180"/>
            <a:ext cx="6076188" cy="960120"/>
            <a:chOff x="0" y="0"/>
            <a:chExt cx="8101584" cy="1280160"/>
          </a:xfrm>
        </p:grpSpPr>
        <p:sp>
          <p:nvSpPr>
            <p:cNvPr name="Freeform 119" id="119"/>
            <p:cNvSpPr/>
            <p:nvPr/>
          </p:nvSpPr>
          <p:spPr>
            <a:xfrm flipH="false" flipV="false" rot="0">
              <a:off x="0" y="0"/>
              <a:ext cx="8101585" cy="1280160"/>
            </a:xfrm>
            <a:custGeom>
              <a:avLst/>
              <a:gdLst/>
              <a:ahLst/>
              <a:cxnLst/>
              <a:rect r="r" b="b" t="t" l="l"/>
              <a:pathLst>
                <a:path h="1280160" w="8101585">
                  <a:moveTo>
                    <a:pt x="0" y="182880"/>
                  </a:moveTo>
                  <a:cubicBezTo>
                    <a:pt x="0" y="81915"/>
                    <a:pt x="81915" y="0"/>
                    <a:pt x="182880" y="0"/>
                  </a:cubicBezTo>
                  <a:lnTo>
                    <a:pt x="7918704" y="0"/>
                  </a:lnTo>
                  <a:cubicBezTo>
                    <a:pt x="8019669" y="0"/>
                    <a:pt x="8101585" y="81915"/>
                    <a:pt x="8101585" y="182880"/>
                  </a:cubicBezTo>
                  <a:lnTo>
                    <a:pt x="8101585" y="1097280"/>
                  </a:lnTo>
                  <a:cubicBezTo>
                    <a:pt x="8101585" y="1198245"/>
                    <a:pt x="8019669" y="1280160"/>
                    <a:pt x="7918704" y="1280160"/>
                  </a:cubicBezTo>
                  <a:lnTo>
                    <a:pt x="182880" y="1280160"/>
                  </a:lnTo>
                  <a:cubicBezTo>
                    <a:pt x="81915" y="1280160"/>
                    <a:pt x="0" y="1198245"/>
                    <a:pt x="0" y="1097280"/>
                  </a:cubicBezTo>
                  <a:close/>
                </a:path>
              </a:pathLst>
            </a:custGeom>
            <a:solidFill>
              <a:srgbClr val="FFF1BF"/>
            </a:solidFill>
          </p:spPr>
          <p:txBody>
            <a:bodyPr/>
            <a:p/>
          </p:txBody>
        </p:sp>
      </p:grpSp>
      <p:grpSp>
        <p:nvGrpSpPr>
          <p:cNvPr name="Group 120" id="120"/>
          <p:cNvGrpSpPr/>
          <p:nvPr/>
        </p:nvGrpSpPr>
        <p:grpSpPr>
          <a:xfrm rot="0">
            <a:off x="11658600" y="8298180"/>
            <a:ext cx="5554980" cy="960120"/>
            <a:chOff x="0" y="0"/>
            <a:chExt cx="7406640" cy="1280160"/>
          </a:xfrm>
        </p:grpSpPr>
        <p:sp>
          <p:nvSpPr>
            <p:cNvPr name="Freeform 121" id="121"/>
            <p:cNvSpPr/>
            <p:nvPr/>
          </p:nvSpPr>
          <p:spPr>
            <a:xfrm flipH="false" flipV="false" rot="0">
              <a:off x="0" y="0"/>
              <a:ext cx="7406640" cy="1280160"/>
            </a:xfrm>
            <a:custGeom>
              <a:avLst/>
              <a:gdLst/>
              <a:ahLst/>
              <a:cxnLst/>
              <a:rect r="r" b="b" t="t" l="l"/>
              <a:pathLst>
                <a:path h="1280160" w="7406640">
                  <a:moveTo>
                    <a:pt x="0" y="0"/>
                  </a:moveTo>
                  <a:lnTo>
                    <a:pt x="7406640" y="0"/>
                  </a:lnTo>
                  <a:lnTo>
                    <a:pt x="7406640" y="1280160"/>
                  </a:lnTo>
                  <a:lnTo>
                    <a:pt x="0" y="1280160"/>
                  </a:lnTo>
                  <a:close/>
                </a:path>
              </a:pathLst>
            </a:custGeom>
            <a:blipFill>
              <a:blip r:embed="rId4">
                <a:alphaModFix amt="0"/>
              </a:blip>
              <a:stretch>
                <a:fillRect l="0" t="-62656" r="0" b="-62655"/>
              </a:stretch>
            </a:blipFill>
          </p:spPr>
          <p:txBody>
            <a:bodyPr/>
            <a:p/>
          </p:txBody>
        </p:sp>
      </p:grpSp>
      <p:grpSp>
        <p:nvGrpSpPr>
          <p:cNvPr name="Group 122" id="122"/>
          <p:cNvGrpSpPr/>
          <p:nvPr/>
        </p:nvGrpSpPr>
        <p:grpSpPr>
          <a:xfrm rot="0">
            <a:off x="11658600" y="8269605"/>
            <a:ext cx="5554980" cy="988695"/>
            <a:chOff x="0" y="0"/>
            <a:chExt cx="7406640" cy="1318260"/>
          </a:xfrm>
        </p:grpSpPr>
        <p:sp>
          <p:nvSpPr>
            <p:cNvPr name="Freeform 123" id="123"/>
            <p:cNvSpPr/>
            <p:nvPr/>
          </p:nvSpPr>
          <p:spPr>
            <a:xfrm flipH="false" flipV="false" rot="0">
              <a:off x="0" y="0"/>
              <a:ext cx="7406640" cy="1318260"/>
            </a:xfrm>
            <a:custGeom>
              <a:avLst/>
              <a:gdLst/>
              <a:ahLst/>
              <a:cxnLst/>
              <a:rect r="r" b="b" t="t" l="l"/>
              <a:pathLst>
                <a:path h="1318260" w="7406640">
                  <a:moveTo>
                    <a:pt x="0" y="0"/>
                  </a:moveTo>
                  <a:lnTo>
                    <a:pt x="7406640" y="0"/>
                  </a:lnTo>
                  <a:lnTo>
                    <a:pt x="7406640" y="1318260"/>
                  </a:lnTo>
                  <a:lnTo>
                    <a:pt x="0" y="1318260"/>
                  </a:lnTo>
                  <a:close/>
                </a:path>
              </a:pathLst>
            </a:custGeom>
            <a:blipFill>
              <a:blip r:embed="rId5">
                <a:alphaModFix amt="0"/>
              </a:blip>
              <a:stretch>
                <a:fillRect l="0" t="-59400" r="0" b="-59399"/>
              </a:stretch>
            </a:blipFill>
          </p:spPr>
          <p:txBody>
            <a:bodyPr/>
            <a:p/>
          </p:txBody>
        </p:sp>
      </p:grpSp>
      <p:grpSp>
        <p:nvGrpSpPr>
          <p:cNvPr name="Group 124" id="124"/>
          <p:cNvGrpSpPr/>
          <p:nvPr/>
        </p:nvGrpSpPr>
        <p:grpSpPr>
          <a:xfrm rot="0">
            <a:off x="11658600" y="8241030"/>
            <a:ext cx="5554980" cy="1017270"/>
            <a:chOff x="0" y="0"/>
            <a:chExt cx="7406640" cy="1356360"/>
          </a:xfrm>
        </p:grpSpPr>
        <p:sp>
          <p:nvSpPr>
            <p:cNvPr name="Freeform 125" id="125"/>
            <p:cNvSpPr/>
            <p:nvPr/>
          </p:nvSpPr>
          <p:spPr>
            <a:xfrm flipH="false" flipV="false" rot="0">
              <a:off x="0" y="0"/>
              <a:ext cx="7406640" cy="1356360"/>
            </a:xfrm>
            <a:custGeom>
              <a:avLst/>
              <a:gdLst/>
              <a:ahLst/>
              <a:cxnLst/>
              <a:rect r="r" b="b" t="t" l="l"/>
              <a:pathLst>
                <a:path h="1356360" w="7406640">
                  <a:moveTo>
                    <a:pt x="0" y="0"/>
                  </a:moveTo>
                  <a:lnTo>
                    <a:pt x="7406640" y="0"/>
                  </a:lnTo>
                  <a:lnTo>
                    <a:pt x="7406640" y="1356360"/>
                  </a:lnTo>
                  <a:lnTo>
                    <a:pt x="0" y="1356360"/>
                  </a:lnTo>
                  <a:close/>
                </a:path>
              </a:pathLst>
            </a:custGeom>
            <a:blipFill>
              <a:blip r:embed="rId6">
                <a:alphaModFix amt="0"/>
              </a:blip>
              <a:stretch>
                <a:fillRect l="0" t="-56401" r="0" b="-56401"/>
              </a:stretch>
            </a:blipFill>
          </p:spPr>
          <p:txBody>
            <a:bodyPr/>
            <a:p/>
          </p:txBody>
        </p:sp>
        <p:sp>
          <p:nvSpPr>
            <p:cNvPr name="TextBox 126" id="126"/>
            <p:cNvSpPr txBox="true"/>
            <p:nvPr/>
          </p:nvSpPr>
          <p:spPr>
            <a:xfrm>
              <a:off x="0" y="-38100"/>
              <a:ext cx="7406640" cy="1394460"/>
            </a:xfrm>
            <a:prstGeom prst="rect">
              <a:avLst/>
            </a:prstGeom>
          </p:spPr>
          <p:txBody>
            <a:bodyPr anchor="ctr" rtlCol="false" tIns="0" lIns="0" bIns="0" rIns="0"/>
            <a:lstStyle/>
            <a:p>
              <a:pPr algn="l">
                <a:lnSpc>
                  <a:spcPts val="2160"/>
                </a:lnSpc>
              </a:pPr>
              <a:r>
                <a:rPr lang="en-US" sz="1800">
                  <a:solidFill>
                    <a:srgbClr val="14313B"/>
                  </a:solidFill>
                  <a:latin typeface="Calibri (MS)"/>
                  <a:ea typeface="Calibri (MS)"/>
                  <a:cs typeface="Calibri (MS)"/>
                  <a:sym typeface="Calibri (MS)"/>
                </a:rPr>
                <a:t>Batas 2,0 ditentukan peneliti (2× kepadatan tahun dasar): tanda peringatan, bukan standar resmi</a:t>
              </a:r>
            </a:p>
          </p:txBody>
        </p:sp>
      </p:grpSp>
      <p:sp>
        <p:nvSpPr>
          <p:cNvPr name="TextBox 127" id="127"/>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59</a:t>
            </a:r>
          </a:p>
        </p:txBody>
      </p:sp>
      <p:grpSp>
        <p:nvGrpSpPr>
          <p:cNvPr name="Group 128" id="128"/>
          <p:cNvGrpSpPr/>
          <p:nvPr/>
        </p:nvGrpSpPr>
        <p:grpSpPr>
          <a:xfrm rot="0">
            <a:off x="12755880" y="274320"/>
            <a:ext cx="3931920" cy="411480"/>
            <a:chOff x="0" y="0"/>
            <a:chExt cx="5242560" cy="548640"/>
          </a:xfrm>
        </p:grpSpPr>
        <p:sp>
          <p:nvSpPr>
            <p:cNvPr name="Freeform 129" id="129"/>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30" id="130"/>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2G · Skenario kebijakan</a:t>
              </a:r>
            </a:p>
          </p:txBody>
        </p:sp>
      </p:grpSp>
      <p:grpSp>
        <p:nvGrpSpPr>
          <p:cNvPr name="Group 131" id="131"/>
          <p:cNvGrpSpPr/>
          <p:nvPr/>
        </p:nvGrpSpPr>
        <p:grpSpPr>
          <a:xfrm rot="0">
            <a:off x="16047720" y="9646920"/>
            <a:ext cx="420624" cy="420624"/>
            <a:chOff x="0" y="0"/>
            <a:chExt cx="560832" cy="560832"/>
          </a:xfrm>
        </p:grpSpPr>
        <p:sp>
          <p:nvSpPr>
            <p:cNvPr name="Freeform 132" id="132"/>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33" id="133"/>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6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Kontribusi Masing-masing Variabel Kebijakan</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Kedua variabel kebijakan bekerja di jalur berbeda, sehingga efeknya hampir tidak saling memengaruhi</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aphicFrame>
        <p:nvGraphicFramePr>
          <p:cNvPr name="Table 66" id="66"/>
          <p:cNvGraphicFramePr>
            <a:graphicFrameLocks noGrp="true"/>
          </p:cNvGraphicFramePr>
          <p:nvPr/>
        </p:nvGraphicFramePr>
        <p:xfrm>
          <a:off x="822960" y="2331720"/>
          <a:ext cx="16522700" cy="3429000"/>
        </p:xfrm>
        <a:graphic>
          <a:graphicData uri="http://schemas.openxmlformats.org/drawingml/2006/table">
            <a:tbl>
              <a:tblPr/>
              <a:tblGrid>
                <a:gridCol w="5673096"/>
                <a:gridCol w="2735766"/>
                <a:gridCol w="3002796"/>
                <a:gridCol w="2468736"/>
                <a:gridCol w="2642306"/>
              </a:tblGrid>
              <a:tr h="685800">
                <a:tc>
                  <a:txBody>
                    <a:bodyPr anchor="t" rtlCol="false"/>
                    <a:lstStyle/>
                    <a:p>
                      <a:pPr algn="l">
                        <a:lnSpc>
                          <a:spcPts val="2250"/>
                        </a:lnSpc>
                        <a:defRPr/>
                      </a:pPr>
                      <a:r>
                        <a:rPr lang="en-US" sz="1875" b="true">
                          <a:solidFill>
                            <a:srgbClr val="FFFFFF"/>
                          </a:solidFill>
                          <a:latin typeface="Calibri (MS) Bold"/>
                          <a:ea typeface="Calibri (MS) Bold"/>
                          <a:cs typeface="Calibri (MS) Bold"/>
                          <a:sym typeface="Calibri (MS) Bold"/>
                        </a:rPr>
                        <a:t>Indikator (Sustainable − BAU)</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250"/>
                        </a:lnSpc>
                        <a:defRPr/>
                      </a:pPr>
                      <a:r>
                        <a:rPr lang="en-US" sz="1875" b="true">
                          <a:solidFill>
                            <a:srgbClr val="FFFFFF"/>
                          </a:solidFill>
                          <a:latin typeface="Calibri (MS) Bold"/>
                          <a:ea typeface="Calibri (MS) Bold"/>
                          <a:cs typeface="Calibri (MS) Bold"/>
                          <a:sym typeface="Calibri (MS) Bold"/>
                        </a:rPr>
                        <a:t>Kontribusi insentif</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250"/>
                        </a:lnSpc>
                        <a:defRPr/>
                      </a:pPr>
                      <a:r>
                        <a:rPr lang="en-US" sz="1875" b="true">
                          <a:solidFill>
                            <a:srgbClr val="FFFFFF"/>
                          </a:solidFill>
                          <a:latin typeface="Calibri (MS) Bold"/>
                          <a:ea typeface="Calibri (MS) Bold"/>
                          <a:cs typeface="Calibri (MS) Bold"/>
                          <a:sym typeface="Calibri (MS) Bold"/>
                        </a:rPr>
                        <a:t>Kontribusi konservasi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250"/>
                        </a:lnSpc>
                        <a:defRPr/>
                      </a:pPr>
                      <a:r>
                        <a:rPr lang="en-US" sz="1875" b="true">
                          <a:solidFill>
                            <a:srgbClr val="FFFFFF"/>
                          </a:solidFill>
                          <a:latin typeface="Calibri (MS) Bold"/>
                          <a:ea typeface="Calibri (MS) Bold"/>
                          <a:cs typeface="Calibri (MS) Bold"/>
                          <a:sym typeface="Calibri (MS) Bold"/>
                        </a:rPr>
                        <a:t>Efek interaksi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250"/>
                        </a:lnSpc>
                        <a:defRPr/>
                      </a:pPr>
                      <a:r>
                        <a:rPr lang="en-US" sz="1875" b="true">
                          <a:solidFill>
                            <a:srgbClr val="FFFFFF"/>
                          </a:solidFill>
                          <a:latin typeface="Calibri (MS) Bold"/>
                          <a:ea typeface="Calibri (MS) Bold"/>
                          <a:cs typeface="Calibri (MS) Bold"/>
                          <a:sym typeface="Calibri (MS) Bold"/>
                        </a:rPr>
                        <a:t>Selisih paket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r>
              <a:tr h="685800">
                <a:tc>
                  <a:txBody>
                    <a:bodyPr anchor="t" rtlCol="false"/>
                    <a:lstStyle/>
                    <a:p>
                      <a:pPr algn="l">
                        <a:lnSpc>
                          <a:spcPts val="2340"/>
                        </a:lnSpc>
                        <a:defRPr/>
                      </a:pPr>
                      <a:r>
                        <a:rPr lang="en-US" sz="1950">
                          <a:solidFill>
                            <a:srgbClr val="14313B"/>
                          </a:solidFill>
                          <a:latin typeface="Calibri (MS)"/>
                          <a:ea typeface="Calibri (MS)"/>
                          <a:cs typeface="Calibri (MS)"/>
                          <a:sym typeface="Calibri (MS)"/>
                        </a:rPr>
                        <a:t>Jumlah wisatawan (juta kunjungan)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+2,46</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+0,24</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+0,02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b="true">
                          <a:solidFill>
                            <a:srgbClr val="14313B"/>
                          </a:solidFill>
                          <a:latin typeface="Calibri (MS) Bold"/>
                          <a:ea typeface="Calibri (MS) Bold"/>
                          <a:cs typeface="Calibri (MS) Bold"/>
                          <a:sym typeface="Calibri (MS) Bold"/>
                        </a:rPr>
                        <a:t>+2,72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685800">
                <a:tc>
                  <a:txBody>
                    <a:bodyPr anchor="t" rtlCol="false"/>
                    <a:lstStyle/>
                    <a:p>
                      <a:pPr algn="l">
                        <a:lnSpc>
                          <a:spcPts val="2340"/>
                        </a:lnSpc>
                        <a:defRPr/>
                      </a:pPr>
                      <a:r>
                        <a:rPr lang="en-US" sz="1950">
                          <a:solidFill>
                            <a:srgbClr val="14313B"/>
                          </a:solidFill>
                          <a:latin typeface="Calibri (MS)"/>
                          <a:ea typeface="Calibri (MS)"/>
                          <a:cs typeface="Calibri (MS)"/>
                          <a:sym typeface="Calibri (MS)"/>
                        </a:rPr>
                        <a:t>Konversi lahan pariwisata kumulatif (ha)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+50,1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−947,0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−50,1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b="true">
                          <a:solidFill>
                            <a:srgbClr val="14313B"/>
                          </a:solidFill>
                          <a:latin typeface="Calibri (MS) Bold"/>
                          <a:ea typeface="Calibri (MS) Bold"/>
                          <a:cs typeface="Calibri (MS) Bold"/>
                          <a:sym typeface="Calibri (MS) Bold"/>
                        </a:rPr>
                        <a:t>−947,0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685800">
                <a:tc>
                  <a:txBody>
                    <a:bodyPr anchor="t" rtlCol="false"/>
                    <a:lstStyle/>
                    <a:p>
                      <a:pPr algn="l">
                        <a:lnSpc>
                          <a:spcPts val="2340"/>
                        </a:lnSpc>
                        <a:defRPr/>
                      </a:pPr>
                      <a:r>
                        <a:rPr lang="en-US" sz="1950">
                          <a:solidFill>
                            <a:srgbClr val="14313B"/>
                          </a:solidFill>
                          <a:latin typeface="Calibri (MS)"/>
                          <a:ea typeface="Calibri (MS)"/>
                          <a:cs typeface="Calibri (MS)"/>
                          <a:sym typeface="Calibri (MS)"/>
                        </a:rPr>
                        <a:t>Lahan terbangun (ha)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+57,6</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−1.114,0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−57,6</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b="true">
                          <a:solidFill>
                            <a:srgbClr val="14313B"/>
                          </a:solidFill>
                          <a:latin typeface="Calibri (MS) Bold"/>
                          <a:ea typeface="Calibri (MS) Bold"/>
                          <a:cs typeface="Calibri (MS) Bold"/>
                          <a:sym typeface="Calibri (MS) Bold"/>
                        </a:rPr>
                        <a:t>−1.114,0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685800">
                <a:tc>
                  <a:txBody>
                    <a:bodyPr anchor="t" rtlCol="false"/>
                    <a:lstStyle/>
                    <a:p>
                      <a:pPr algn="l">
                        <a:lnSpc>
                          <a:spcPts val="2340"/>
                        </a:lnSpc>
                        <a:defRPr/>
                      </a:pPr>
                      <a:r>
                        <a:rPr lang="en-US" sz="1950">
                          <a:solidFill>
                            <a:srgbClr val="14313B"/>
                          </a:solidFill>
                          <a:latin typeface="Calibri (MS)"/>
                          <a:ea typeface="Calibri (MS)"/>
                          <a:cs typeface="Calibri (MS)"/>
                          <a:sym typeface="Calibri (MS)"/>
                        </a:rPr>
                        <a:t>Rasio daya dukung lahan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−0,00018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+0,00351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+0,00018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b="true">
                          <a:solidFill>
                            <a:srgbClr val="14313B"/>
                          </a:solidFill>
                          <a:latin typeface="Calibri (MS) Bold"/>
                          <a:ea typeface="Calibri (MS) Bold"/>
                          <a:cs typeface="Calibri (MS) Bold"/>
                          <a:sym typeface="Calibri (MS) Bold"/>
                        </a:rPr>
                        <a:t>+0,00351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bl>
          </a:graphicData>
        </a:graphic>
      </p:graphicFrame>
      <p:sp>
        <p:nvSpPr>
          <p:cNvPr name="TextBox 67" id="67"/>
          <p:cNvSpPr txBox="true"/>
          <p:nvPr/>
        </p:nvSpPr>
        <p:spPr>
          <a:xfrm rot="0">
            <a:off x="822960" y="5783580"/>
            <a:ext cx="16637508" cy="525780"/>
          </a:xfrm>
          <a:prstGeom prst="rect">
            <a:avLst/>
          </a:prstGeom>
        </p:spPr>
        <p:txBody>
          <a:bodyPr anchor="t" rtlCol="false" tIns="0" lIns="0" bIns="0" rIns="0">
            <a:spAutoFit/>
          </a:bodyPr>
          <a:lstStyle/>
          <a:p>
            <a:pPr algn="l">
              <a:lnSpc>
                <a:spcPts val="2070"/>
              </a:lnSpc>
            </a:pPr>
            <a:r>
              <a:rPr lang="en-US" sz="1725" i="true">
                <a:solidFill>
                  <a:srgbClr val="5E6E78"/>
                </a:solidFill>
                <a:latin typeface="Calibri (MS) Italics"/>
                <a:ea typeface="Calibri (MS) Italics"/>
                <a:cs typeface="Calibri (MS) Italics"/>
                <a:sym typeface="Calibri (MS) Italics"/>
              </a:rPr>
              <a:t>Kontribusi = hasil satu kebijakan saja − tanpa kebijakan · Efek interaksi = selisih paket − (kontribusi insentif + konservasi)</a:t>
            </a:r>
          </a:p>
        </p:txBody>
      </p:sp>
      <p:grpSp>
        <p:nvGrpSpPr>
          <p:cNvPr name="Group 68" id="68"/>
          <p:cNvGrpSpPr/>
          <p:nvPr/>
        </p:nvGrpSpPr>
        <p:grpSpPr>
          <a:xfrm rot="0">
            <a:off x="822960" y="6515100"/>
            <a:ext cx="8161020" cy="2743200"/>
            <a:chOff x="0" y="0"/>
            <a:chExt cx="10881360" cy="3657600"/>
          </a:xfrm>
        </p:grpSpPr>
        <p:sp>
          <p:nvSpPr>
            <p:cNvPr name="Freeform 69" id="69"/>
            <p:cNvSpPr/>
            <p:nvPr/>
          </p:nvSpPr>
          <p:spPr>
            <a:xfrm flipH="false" flipV="false" rot="0">
              <a:off x="0" y="0"/>
              <a:ext cx="10881360" cy="3657600"/>
            </a:xfrm>
            <a:custGeom>
              <a:avLst/>
              <a:gdLst/>
              <a:ahLst/>
              <a:cxnLst/>
              <a:rect r="r" b="b" t="t" l="l"/>
              <a:pathLst>
                <a:path h="3657600" w="10881360">
                  <a:moveTo>
                    <a:pt x="0" y="182880"/>
                  </a:moveTo>
                  <a:cubicBezTo>
                    <a:pt x="0" y="81915"/>
                    <a:pt x="81915" y="0"/>
                    <a:pt x="182880" y="0"/>
                  </a:cubicBezTo>
                  <a:lnTo>
                    <a:pt x="10698480" y="0"/>
                  </a:lnTo>
                  <a:cubicBezTo>
                    <a:pt x="10799445" y="0"/>
                    <a:pt x="10881360" y="81915"/>
                    <a:pt x="10881360" y="182880"/>
                  </a:cubicBezTo>
                  <a:lnTo>
                    <a:pt x="10881360" y="3474720"/>
                  </a:lnTo>
                  <a:cubicBezTo>
                    <a:pt x="10881360" y="3575685"/>
                    <a:pt x="10799445" y="3657600"/>
                    <a:pt x="10698480" y="3657600"/>
                  </a:cubicBezTo>
                  <a:lnTo>
                    <a:pt x="182880" y="3657600"/>
                  </a:lnTo>
                  <a:cubicBezTo>
                    <a:pt x="81915" y="3657600"/>
                    <a:pt x="0" y="3575685"/>
                    <a:pt x="0" y="3474720"/>
                  </a:cubicBezTo>
                  <a:close/>
                </a:path>
              </a:pathLst>
            </a:custGeom>
            <a:solidFill>
              <a:srgbClr val="EAF8FA"/>
            </a:solidFill>
          </p:spPr>
          <p:txBody>
            <a:bodyPr/>
            <a:p/>
          </p:txBody>
        </p:sp>
      </p:grpSp>
      <p:sp>
        <p:nvSpPr>
          <p:cNvPr name="TextBox 70" id="70"/>
          <p:cNvSpPr txBox="true"/>
          <p:nvPr/>
        </p:nvSpPr>
        <p:spPr>
          <a:xfrm rot="0">
            <a:off x="1234440" y="6606540"/>
            <a:ext cx="7406640" cy="66294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Insentif → ekonomi · Konservasi → lahan</a:t>
            </a:r>
          </a:p>
        </p:txBody>
      </p:sp>
      <p:sp>
        <p:nvSpPr>
          <p:cNvPr name="TextBox 71" id="71"/>
          <p:cNvSpPr txBox="true"/>
          <p:nvPr/>
        </p:nvSpPr>
        <p:spPr>
          <a:xfrm rot="0">
            <a:off x="1234440" y="7292340"/>
            <a:ext cx="7406640" cy="1760220"/>
          </a:xfrm>
          <a:prstGeom prst="rect">
            <a:avLst/>
          </a:prstGeom>
        </p:spPr>
        <p:txBody>
          <a:bodyPr anchor="t" rtlCol="false" tIns="0" lIns="0" bIns="0" rIns="0">
            <a:spAutoFit/>
          </a:bodyPr>
          <a:lstStyle/>
          <a:p>
            <a:pPr algn="l">
              <a:lnSpc>
                <a:spcPts val="2430"/>
              </a:lnSpc>
            </a:pPr>
            <a:r>
              <a:rPr lang="en-US" sz="2025">
                <a:solidFill>
                  <a:srgbClr val="14313B"/>
                </a:solidFill>
                <a:latin typeface="Calibri (MS)"/>
                <a:ea typeface="Calibri (MS)"/>
                <a:cs typeface="Calibri (MS)"/>
                <a:sym typeface="Calibri (MS)"/>
              </a:rPr>
              <a:t>Interaksi hanya ≈ 0,7% dari selisih paket pada jumlah wisatawan: efek kedua kebijakan hampir bisa langsung dijumlahkan.</a:t>
            </a:r>
          </a:p>
        </p:txBody>
      </p:sp>
      <p:grpSp>
        <p:nvGrpSpPr>
          <p:cNvPr name="Group 72" id="72"/>
          <p:cNvGrpSpPr/>
          <p:nvPr/>
        </p:nvGrpSpPr>
        <p:grpSpPr>
          <a:xfrm rot="0">
            <a:off x="9299448" y="6515100"/>
            <a:ext cx="8161020" cy="2743200"/>
            <a:chOff x="0" y="0"/>
            <a:chExt cx="10881360" cy="3657600"/>
          </a:xfrm>
        </p:grpSpPr>
        <p:sp>
          <p:nvSpPr>
            <p:cNvPr name="Freeform 73" id="73"/>
            <p:cNvSpPr/>
            <p:nvPr/>
          </p:nvSpPr>
          <p:spPr>
            <a:xfrm flipH="false" flipV="false" rot="0">
              <a:off x="0" y="0"/>
              <a:ext cx="10881360" cy="3657600"/>
            </a:xfrm>
            <a:custGeom>
              <a:avLst/>
              <a:gdLst/>
              <a:ahLst/>
              <a:cxnLst/>
              <a:rect r="r" b="b" t="t" l="l"/>
              <a:pathLst>
                <a:path h="3657600" w="10881360">
                  <a:moveTo>
                    <a:pt x="0" y="182880"/>
                  </a:moveTo>
                  <a:cubicBezTo>
                    <a:pt x="0" y="81915"/>
                    <a:pt x="81915" y="0"/>
                    <a:pt x="182880" y="0"/>
                  </a:cubicBezTo>
                  <a:lnTo>
                    <a:pt x="10698480" y="0"/>
                  </a:lnTo>
                  <a:cubicBezTo>
                    <a:pt x="10799445" y="0"/>
                    <a:pt x="10881360" y="81915"/>
                    <a:pt x="10881360" y="182880"/>
                  </a:cubicBezTo>
                  <a:lnTo>
                    <a:pt x="10881360" y="3474720"/>
                  </a:lnTo>
                  <a:cubicBezTo>
                    <a:pt x="10881360" y="3575685"/>
                    <a:pt x="10799445" y="3657600"/>
                    <a:pt x="10698480" y="3657600"/>
                  </a:cubicBezTo>
                  <a:lnTo>
                    <a:pt x="182880" y="3657600"/>
                  </a:lnTo>
                  <a:cubicBezTo>
                    <a:pt x="81915" y="3657600"/>
                    <a:pt x="0" y="3575685"/>
                    <a:pt x="0" y="3474720"/>
                  </a:cubicBezTo>
                  <a:close/>
                </a:path>
              </a:pathLst>
            </a:custGeom>
            <a:solidFill>
              <a:srgbClr val="FFF1BF"/>
            </a:solidFill>
          </p:spPr>
          <p:txBody>
            <a:bodyPr/>
            <a:p/>
          </p:txBody>
        </p:sp>
      </p:grpSp>
      <p:sp>
        <p:nvSpPr>
          <p:cNvPr name="TextBox 74" id="74"/>
          <p:cNvSpPr txBox="true"/>
          <p:nvPr/>
        </p:nvSpPr>
        <p:spPr>
          <a:xfrm rot="0">
            <a:off x="9710928" y="6606540"/>
            <a:ext cx="7406640" cy="66294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Kebutuhan lahan dari insentif diserap konservasi</a:t>
            </a:r>
          </a:p>
        </p:txBody>
      </p:sp>
      <p:sp>
        <p:nvSpPr>
          <p:cNvPr name="TextBox 75" id="75"/>
          <p:cNvSpPr txBox="true"/>
          <p:nvPr/>
        </p:nvSpPr>
        <p:spPr>
          <a:xfrm rot="0">
            <a:off x="9710928" y="7292340"/>
            <a:ext cx="7406640" cy="1897380"/>
          </a:xfrm>
          <a:prstGeom prst="rect">
            <a:avLst/>
          </a:prstGeom>
        </p:spPr>
        <p:txBody>
          <a:bodyPr anchor="t" rtlCol="false" tIns="0" lIns="0" bIns="0" rIns="0">
            <a:spAutoFit/>
          </a:bodyPr>
          <a:lstStyle/>
          <a:p>
            <a:pPr algn="l">
              <a:lnSpc>
                <a:spcPts val="2430"/>
              </a:lnSpc>
            </a:pPr>
            <a:r>
              <a:rPr lang="en-US" sz="2025">
                <a:solidFill>
                  <a:srgbClr val="14313B"/>
                </a:solidFill>
                <a:latin typeface="Calibri (MS)"/>
                <a:ea typeface="Calibri (MS)"/>
                <a:cs typeface="Calibri (MS)"/>
                <a:sym typeface="Calibri (MS)"/>
              </a:rPr>
              <a:t>Interaksi −57,6 ha menghapus tambahan +57,6 ha dari insentif: Sustainable membuat konversi lahan pariwisata menjadi nol tanpa mengurangi pertumbuhan ekonomi → kedua kebijakan dapat dirancang terpisah.</a:t>
            </a:r>
          </a:p>
        </p:txBody>
      </p:sp>
      <p:sp>
        <p:nvSpPr>
          <p:cNvPr name="TextBox 76" id="76"/>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60</a:t>
            </a:r>
          </a:p>
        </p:txBody>
      </p:sp>
      <p:grpSp>
        <p:nvGrpSpPr>
          <p:cNvPr name="Group 77" id="77"/>
          <p:cNvGrpSpPr/>
          <p:nvPr/>
        </p:nvGrpSpPr>
        <p:grpSpPr>
          <a:xfrm rot="0">
            <a:off x="12755880" y="274320"/>
            <a:ext cx="3931920" cy="411480"/>
            <a:chOff x="0" y="0"/>
            <a:chExt cx="5242560" cy="548640"/>
          </a:xfrm>
        </p:grpSpPr>
        <p:sp>
          <p:nvSpPr>
            <p:cNvPr name="Freeform 78" id="78"/>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79" id="79"/>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2G · Skenario kebijakan</a:t>
              </a:r>
            </a:p>
          </p:txBody>
        </p:sp>
      </p:grpSp>
      <p:grpSp>
        <p:nvGrpSpPr>
          <p:cNvPr name="Group 80" id="80"/>
          <p:cNvGrpSpPr/>
          <p:nvPr/>
        </p:nvGrpSpPr>
        <p:grpSpPr>
          <a:xfrm rot="0">
            <a:off x="16047720" y="9646920"/>
            <a:ext cx="420624" cy="420624"/>
            <a:chOff x="0" y="0"/>
            <a:chExt cx="560832" cy="560832"/>
          </a:xfrm>
        </p:grpSpPr>
        <p:sp>
          <p:nvSpPr>
            <p:cNvPr name="Freeform 81" id="81"/>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82" id="82"/>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6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Robustness Peringkat Skenario</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Urutan skenario tetap sama pada tujuh kondisi parameter</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pSp>
        <p:nvGrpSpPr>
          <p:cNvPr name="Group 66" id="66"/>
          <p:cNvGrpSpPr/>
          <p:nvPr/>
        </p:nvGrpSpPr>
        <p:grpSpPr>
          <a:xfrm rot="0">
            <a:off x="822960" y="2304288"/>
            <a:ext cx="16637508" cy="1069848"/>
            <a:chOff x="0" y="0"/>
            <a:chExt cx="22183344" cy="1426464"/>
          </a:xfrm>
        </p:grpSpPr>
        <p:sp>
          <p:nvSpPr>
            <p:cNvPr name="Freeform 67" id="67"/>
            <p:cNvSpPr/>
            <p:nvPr/>
          </p:nvSpPr>
          <p:spPr>
            <a:xfrm flipH="false" flipV="false" rot="0">
              <a:off x="0" y="0"/>
              <a:ext cx="22183344" cy="1426464"/>
            </a:xfrm>
            <a:custGeom>
              <a:avLst/>
              <a:gdLst/>
              <a:ahLst/>
              <a:cxnLst/>
              <a:rect r="r" b="b" t="t" l="l"/>
              <a:pathLst>
                <a:path h="1426464" w="22183344">
                  <a:moveTo>
                    <a:pt x="0" y="182880"/>
                  </a:moveTo>
                  <a:cubicBezTo>
                    <a:pt x="0" y="81915"/>
                    <a:pt x="81915" y="0"/>
                    <a:pt x="182880" y="0"/>
                  </a:cubicBezTo>
                  <a:lnTo>
                    <a:pt x="22000463" y="0"/>
                  </a:lnTo>
                  <a:cubicBezTo>
                    <a:pt x="22101428" y="0"/>
                    <a:pt x="22183344" y="81915"/>
                    <a:pt x="22183344" y="182880"/>
                  </a:cubicBezTo>
                  <a:lnTo>
                    <a:pt x="22183344" y="1243584"/>
                  </a:lnTo>
                  <a:cubicBezTo>
                    <a:pt x="22183344" y="1344549"/>
                    <a:pt x="22101428" y="1426464"/>
                    <a:pt x="22000463" y="1426464"/>
                  </a:cubicBezTo>
                  <a:lnTo>
                    <a:pt x="182880" y="1426464"/>
                  </a:lnTo>
                  <a:cubicBezTo>
                    <a:pt x="81915" y="1426464"/>
                    <a:pt x="0" y="1344549"/>
                    <a:pt x="0" y="1243584"/>
                  </a:cubicBezTo>
                  <a:close/>
                </a:path>
              </a:pathLst>
            </a:custGeom>
            <a:solidFill>
              <a:srgbClr val="EAF8FA"/>
            </a:solidFill>
          </p:spPr>
          <p:txBody>
            <a:bodyPr/>
            <a:p/>
          </p:txBody>
        </p:sp>
      </p:grpSp>
      <p:grpSp>
        <p:nvGrpSpPr>
          <p:cNvPr name="Group 68" id="68"/>
          <p:cNvGrpSpPr/>
          <p:nvPr/>
        </p:nvGrpSpPr>
        <p:grpSpPr>
          <a:xfrm rot="0">
            <a:off x="1165860" y="2304288"/>
            <a:ext cx="15951708" cy="1069848"/>
            <a:chOff x="0" y="0"/>
            <a:chExt cx="21268944" cy="1426464"/>
          </a:xfrm>
        </p:grpSpPr>
        <p:sp>
          <p:nvSpPr>
            <p:cNvPr name="Freeform 69" id="69"/>
            <p:cNvSpPr/>
            <p:nvPr/>
          </p:nvSpPr>
          <p:spPr>
            <a:xfrm flipH="false" flipV="false" rot="0">
              <a:off x="0" y="0"/>
              <a:ext cx="21268944" cy="1426464"/>
            </a:xfrm>
            <a:custGeom>
              <a:avLst/>
              <a:gdLst/>
              <a:ahLst/>
              <a:cxnLst/>
              <a:rect r="r" b="b" t="t" l="l"/>
              <a:pathLst>
                <a:path h="1426464" w="21268944">
                  <a:moveTo>
                    <a:pt x="0" y="0"/>
                  </a:moveTo>
                  <a:lnTo>
                    <a:pt x="21268944" y="0"/>
                  </a:lnTo>
                  <a:lnTo>
                    <a:pt x="21268944" y="1426464"/>
                  </a:lnTo>
                  <a:lnTo>
                    <a:pt x="0" y="1426464"/>
                  </a:lnTo>
                  <a:close/>
                </a:path>
              </a:pathLst>
            </a:custGeom>
            <a:blipFill>
              <a:blip r:embed="rId4">
                <a:alphaModFix amt="0"/>
              </a:blip>
              <a:stretch>
                <a:fillRect l="0" t="-240324" r="0" b="-240324"/>
              </a:stretch>
            </a:blipFill>
          </p:spPr>
          <p:txBody>
            <a:bodyPr/>
            <a:p/>
          </p:txBody>
        </p:sp>
      </p:grpSp>
      <p:grpSp>
        <p:nvGrpSpPr>
          <p:cNvPr name="Group 70" id="70"/>
          <p:cNvGrpSpPr/>
          <p:nvPr/>
        </p:nvGrpSpPr>
        <p:grpSpPr>
          <a:xfrm rot="0">
            <a:off x="1165860" y="2275713"/>
            <a:ext cx="15951708" cy="1098423"/>
            <a:chOff x="0" y="0"/>
            <a:chExt cx="21268944" cy="1464564"/>
          </a:xfrm>
        </p:grpSpPr>
        <p:sp>
          <p:nvSpPr>
            <p:cNvPr name="Freeform 71" id="71"/>
            <p:cNvSpPr/>
            <p:nvPr/>
          </p:nvSpPr>
          <p:spPr>
            <a:xfrm flipH="false" flipV="false" rot="0">
              <a:off x="0" y="0"/>
              <a:ext cx="21268944" cy="1464564"/>
            </a:xfrm>
            <a:custGeom>
              <a:avLst/>
              <a:gdLst/>
              <a:ahLst/>
              <a:cxnLst/>
              <a:rect r="r" b="b" t="t" l="l"/>
              <a:pathLst>
                <a:path h="1464564" w="21268944">
                  <a:moveTo>
                    <a:pt x="0" y="0"/>
                  </a:moveTo>
                  <a:lnTo>
                    <a:pt x="21268944" y="0"/>
                  </a:lnTo>
                  <a:lnTo>
                    <a:pt x="21268944" y="1464564"/>
                  </a:lnTo>
                  <a:lnTo>
                    <a:pt x="0" y="1464564"/>
                  </a:lnTo>
                  <a:close/>
                </a:path>
              </a:pathLst>
            </a:custGeom>
            <a:blipFill>
              <a:blip r:embed="rId5">
                <a:alphaModFix amt="0"/>
              </a:blip>
              <a:stretch>
                <a:fillRect l="0" t="-232772" r="0" b="-232772"/>
              </a:stretch>
            </a:blipFill>
          </p:spPr>
          <p:txBody>
            <a:bodyPr/>
            <a:p/>
          </p:txBody>
        </p:sp>
      </p:grpSp>
      <p:grpSp>
        <p:nvGrpSpPr>
          <p:cNvPr name="Group 72" id="72"/>
          <p:cNvGrpSpPr/>
          <p:nvPr/>
        </p:nvGrpSpPr>
        <p:grpSpPr>
          <a:xfrm rot="0">
            <a:off x="1165860" y="2247138"/>
            <a:ext cx="15951708" cy="1126998"/>
            <a:chOff x="0" y="0"/>
            <a:chExt cx="21268944" cy="1502664"/>
          </a:xfrm>
        </p:grpSpPr>
        <p:sp>
          <p:nvSpPr>
            <p:cNvPr name="Freeform 73" id="73"/>
            <p:cNvSpPr/>
            <p:nvPr/>
          </p:nvSpPr>
          <p:spPr>
            <a:xfrm flipH="false" flipV="false" rot="0">
              <a:off x="0" y="0"/>
              <a:ext cx="21268944" cy="1502664"/>
            </a:xfrm>
            <a:custGeom>
              <a:avLst/>
              <a:gdLst/>
              <a:ahLst/>
              <a:cxnLst/>
              <a:rect r="r" b="b" t="t" l="l"/>
              <a:pathLst>
                <a:path h="1502664" w="21268944">
                  <a:moveTo>
                    <a:pt x="0" y="0"/>
                  </a:moveTo>
                  <a:lnTo>
                    <a:pt x="21268944" y="0"/>
                  </a:lnTo>
                  <a:lnTo>
                    <a:pt x="21268944" y="1502664"/>
                  </a:lnTo>
                  <a:lnTo>
                    <a:pt x="0" y="1502664"/>
                  </a:lnTo>
                  <a:close/>
                </a:path>
              </a:pathLst>
            </a:custGeom>
            <a:blipFill>
              <a:blip r:embed="rId6">
                <a:alphaModFix amt="0"/>
              </a:blip>
              <a:stretch>
                <a:fillRect l="0" t="-225794" r="0" b="-225794"/>
              </a:stretch>
            </a:blipFill>
          </p:spPr>
          <p:txBody>
            <a:bodyPr/>
            <a:p/>
          </p:txBody>
        </p:sp>
        <p:sp>
          <p:nvSpPr>
            <p:cNvPr name="TextBox 74" id="74"/>
            <p:cNvSpPr txBox="true"/>
            <p:nvPr/>
          </p:nvSpPr>
          <p:spPr>
            <a:xfrm>
              <a:off x="0" y="-38100"/>
              <a:ext cx="21268944" cy="1540764"/>
            </a:xfrm>
            <a:prstGeom prst="rect">
              <a:avLst/>
            </a:prstGeom>
          </p:spPr>
          <p:txBody>
            <a:bodyPr anchor="ctr" rtlCol="false" tIns="0" lIns="0" bIns="0" rIns="0"/>
            <a:lstStyle/>
            <a:p>
              <a:pPr algn="l">
                <a:lnSpc>
                  <a:spcPts val="2250"/>
                </a:lnSpc>
              </a:pPr>
              <a:r>
                <a:rPr lang="en-US" sz="1875">
                  <a:solidFill>
                    <a:srgbClr val="14313B"/>
                  </a:solidFill>
                  <a:latin typeface="Calibri (MS)"/>
                  <a:ea typeface="Calibri (MS)"/>
                  <a:cs typeface="Calibri (MS)"/>
                  <a:sym typeface="Calibri (MS)"/>
                </a:rPr>
                <a:t>Uji: 3 skenario × 7 kondisi — C0 (acuan) + C1–C6 yang menggeser rasio LPD/LPE (0,65; 0,90), bobot daya tarik (2 kombinasi alternatif), dan laju konversi dasar (batas selang kepercayaan 95%).</a:t>
              </a:r>
            </a:p>
          </p:txBody>
        </p:sp>
      </p:grpSp>
      <p:sp>
        <p:nvSpPr>
          <p:cNvPr name="TextBox 75" id="75"/>
          <p:cNvSpPr txBox="true"/>
          <p:nvPr/>
        </p:nvSpPr>
        <p:spPr>
          <a:xfrm rot="0">
            <a:off x="960120" y="3424428"/>
            <a:ext cx="5486400" cy="525780"/>
          </a:xfrm>
          <a:prstGeom prst="rect">
            <a:avLst/>
          </a:prstGeom>
        </p:spPr>
        <p:txBody>
          <a:bodyPr anchor="t" rtlCol="false" tIns="0" lIns="0" bIns="0" rIns="0">
            <a:spAutoFit/>
          </a:bodyPr>
          <a:lstStyle/>
          <a:p>
            <a:pPr algn="l">
              <a:lnSpc>
                <a:spcPts val="2070"/>
              </a:lnSpc>
            </a:pPr>
            <a:r>
              <a:rPr lang="en-US" sz="1725" b="true">
                <a:solidFill>
                  <a:srgbClr val="5E6E78"/>
                </a:solidFill>
                <a:latin typeface="Calibri (MS) Bold"/>
                <a:ea typeface="Calibri (MS) Bold"/>
                <a:cs typeface="Calibri (MS) Bold"/>
                <a:sym typeface="Calibri (MS) Bold"/>
              </a:rPr>
              <a:t>Indikator</a:t>
            </a:r>
          </a:p>
        </p:txBody>
      </p:sp>
      <p:sp>
        <p:nvSpPr>
          <p:cNvPr name="TextBox 76" id="76"/>
          <p:cNvSpPr txBox="true"/>
          <p:nvPr/>
        </p:nvSpPr>
        <p:spPr>
          <a:xfrm rot="0">
            <a:off x="6858000" y="3424428"/>
            <a:ext cx="8229600" cy="525780"/>
          </a:xfrm>
          <a:prstGeom prst="rect">
            <a:avLst/>
          </a:prstGeom>
        </p:spPr>
        <p:txBody>
          <a:bodyPr anchor="t" rtlCol="false" tIns="0" lIns="0" bIns="0" rIns="0">
            <a:spAutoFit/>
          </a:bodyPr>
          <a:lstStyle/>
          <a:p>
            <a:pPr algn="l">
              <a:lnSpc>
                <a:spcPts val="2070"/>
              </a:lnSpc>
            </a:pPr>
            <a:r>
              <a:rPr lang="en-US" sz="1725" b="true">
                <a:solidFill>
                  <a:srgbClr val="5E6E78"/>
                </a:solidFill>
                <a:latin typeface="Calibri (MS) Bold"/>
                <a:ea typeface="Calibri (MS) Bold"/>
                <a:cs typeface="Calibri (MS) Bold"/>
                <a:sym typeface="Calibri (MS) Bold"/>
              </a:rPr>
              <a:t>Urutan dari terbaik ke terburuk — identik pada C0–C6</a:t>
            </a:r>
          </a:p>
        </p:txBody>
      </p:sp>
      <p:grpSp>
        <p:nvGrpSpPr>
          <p:cNvPr name="Group 77" id="77"/>
          <p:cNvGrpSpPr/>
          <p:nvPr/>
        </p:nvGrpSpPr>
        <p:grpSpPr>
          <a:xfrm rot="0">
            <a:off x="822960" y="4005072"/>
            <a:ext cx="16637508" cy="576072"/>
            <a:chOff x="0" y="0"/>
            <a:chExt cx="22183344" cy="768096"/>
          </a:xfrm>
        </p:grpSpPr>
        <p:sp>
          <p:nvSpPr>
            <p:cNvPr name="Freeform 78" id="78"/>
            <p:cNvSpPr/>
            <p:nvPr/>
          </p:nvSpPr>
          <p:spPr>
            <a:xfrm flipH="false" flipV="false" rot="0">
              <a:off x="0" y="0"/>
              <a:ext cx="22183344" cy="768096"/>
            </a:xfrm>
            <a:custGeom>
              <a:avLst/>
              <a:gdLst/>
              <a:ahLst/>
              <a:cxnLst/>
              <a:rect r="r" b="b" t="t" l="l"/>
              <a:pathLst>
                <a:path h="768096" w="22183344">
                  <a:moveTo>
                    <a:pt x="0" y="182880"/>
                  </a:moveTo>
                  <a:cubicBezTo>
                    <a:pt x="0" y="81915"/>
                    <a:pt x="81915" y="0"/>
                    <a:pt x="182880" y="0"/>
                  </a:cubicBezTo>
                  <a:lnTo>
                    <a:pt x="22000463" y="0"/>
                  </a:lnTo>
                  <a:cubicBezTo>
                    <a:pt x="22101428" y="0"/>
                    <a:pt x="22183344" y="81915"/>
                    <a:pt x="22183344" y="182880"/>
                  </a:cubicBezTo>
                  <a:lnTo>
                    <a:pt x="22183344" y="585216"/>
                  </a:lnTo>
                  <a:cubicBezTo>
                    <a:pt x="22183344" y="686181"/>
                    <a:pt x="22101428" y="768096"/>
                    <a:pt x="22000463" y="768096"/>
                  </a:cubicBezTo>
                  <a:lnTo>
                    <a:pt x="182880" y="768096"/>
                  </a:lnTo>
                  <a:cubicBezTo>
                    <a:pt x="81915" y="768096"/>
                    <a:pt x="0" y="686181"/>
                    <a:pt x="0" y="585216"/>
                  </a:cubicBezTo>
                  <a:close/>
                </a:path>
              </a:pathLst>
            </a:custGeom>
            <a:solidFill>
              <a:srgbClr val="EAF8FA"/>
            </a:solidFill>
          </p:spPr>
          <p:txBody>
            <a:bodyPr/>
            <a:p/>
          </p:txBody>
        </p:sp>
      </p:grpSp>
      <p:grpSp>
        <p:nvGrpSpPr>
          <p:cNvPr name="Group 79" id="79"/>
          <p:cNvGrpSpPr/>
          <p:nvPr/>
        </p:nvGrpSpPr>
        <p:grpSpPr>
          <a:xfrm rot="0">
            <a:off x="1097280" y="4005072"/>
            <a:ext cx="5486400" cy="576072"/>
            <a:chOff x="0" y="0"/>
            <a:chExt cx="7315200" cy="768096"/>
          </a:xfrm>
        </p:grpSpPr>
        <p:sp>
          <p:nvSpPr>
            <p:cNvPr name="Freeform 80" id="80"/>
            <p:cNvSpPr/>
            <p:nvPr/>
          </p:nvSpPr>
          <p:spPr>
            <a:xfrm flipH="false" flipV="false" rot="0">
              <a:off x="0" y="0"/>
              <a:ext cx="7315200" cy="768096"/>
            </a:xfrm>
            <a:custGeom>
              <a:avLst/>
              <a:gdLst/>
              <a:ahLst/>
              <a:cxnLst/>
              <a:rect r="r" b="b" t="t" l="l"/>
              <a:pathLst>
                <a:path h="768096" w="7315200">
                  <a:moveTo>
                    <a:pt x="0" y="0"/>
                  </a:moveTo>
                  <a:lnTo>
                    <a:pt x="7315200" y="0"/>
                  </a:lnTo>
                  <a:lnTo>
                    <a:pt x="7315200" y="768096"/>
                  </a:lnTo>
                  <a:lnTo>
                    <a:pt x="0" y="768096"/>
                  </a:lnTo>
                  <a:close/>
                </a:path>
              </a:pathLst>
            </a:custGeom>
            <a:blipFill>
              <a:blip r:embed="rId4">
                <a:alphaModFix amt="0"/>
              </a:blip>
              <a:stretch>
                <a:fillRect l="0" t="-135443" r="0" b="-135443"/>
              </a:stretch>
            </a:blipFill>
          </p:spPr>
          <p:txBody>
            <a:bodyPr/>
            <a:p/>
          </p:txBody>
        </p:sp>
      </p:grpSp>
      <p:grpSp>
        <p:nvGrpSpPr>
          <p:cNvPr name="Group 81" id="81"/>
          <p:cNvGrpSpPr/>
          <p:nvPr/>
        </p:nvGrpSpPr>
        <p:grpSpPr>
          <a:xfrm rot="0">
            <a:off x="1097280" y="3969353"/>
            <a:ext cx="5486400" cy="611791"/>
            <a:chOff x="0" y="0"/>
            <a:chExt cx="7315200" cy="815721"/>
          </a:xfrm>
        </p:grpSpPr>
        <p:sp>
          <p:nvSpPr>
            <p:cNvPr name="Freeform 82" id="82"/>
            <p:cNvSpPr/>
            <p:nvPr/>
          </p:nvSpPr>
          <p:spPr>
            <a:xfrm flipH="false" flipV="false" rot="0">
              <a:off x="0" y="0"/>
              <a:ext cx="7315200" cy="815721"/>
            </a:xfrm>
            <a:custGeom>
              <a:avLst/>
              <a:gdLst/>
              <a:ahLst/>
              <a:cxnLst/>
              <a:rect r="r" b="b" t="t" l="l"/>
              <a:pathLst>
                <a:path h="815721" w="7315200">
                  <a:moveTo>
                    <a:pt x="0" y="0"/>
                  </a:moveTo>
                  <a:lnTo>
                    <a:pt x="7315200" y="0"/>
                  </a:lnTo>
                  <a:lnTo>
                    <a:pt x="7315200" y="815721"/>
                  </a:lnTo>
                  <a:lnTo>
                    <a:pt x="0" y="815721"/>
                  </a:lnTo>
                  <a:close/>
                </a:path>
              </a:pathLst>
            </a:custGeom>
            <a:blipFill>
              <a:blip r:embed="rId5">
                <a:alphaModFix amt="0"/>
              </a:blip>
              <a:stretch>
                <a:fillRect l="0" t="-124616" r="0" b="-124616"/>
              </a:stretch>
            </a:blipFill>
          </p:spPr>
          <p:txBody>
            <a:bodyPr/>
            <a:p/>
          </p:txBody>
        </p:sp>
      </p:grpSp>
      <p:grpSp>
        <p:nvGrpSpPr>
          <p:cNvPr name="Group 83" id="83"/>
          <p:cNvGrpSpPr/>
          <p:nvPr/>
        </p:nvGrpSpPr>
        <p:grpSpPr>
          <a:xfrm rot="0">
            <a:off x="1097280" y="3933634"/>
            <a:ext cx="5486400" cy="647510"/>
            <a:chOff x="0" y="0"/>
            <a:chExt cx="7315200" cy="863346"/>
          </a:xfrm>
        </p:grpSpPr>
        <p:sp>
          <p:nvSpPr>
            <p:cNvPr name="Freeform 84" id="84"/>
            <p:cNvSpPr/>
            <p:nvPr/>
          </p:nvSpPr>
          <p:spPr>
            <a:xfrm flipH="false" flipV="false" rot="0">
              <a:off x="0" y="0"/>
              <a:ext cx="7315200" cy="863346"/>
            </a:xfrm>
            <a:custGeom>
              <a:avLst/>
              <a:gdLst/>
              <a:ahLst/>
              <a:cxnLst/>
              <a:rect r="r" b="b" t="t" l="l"/>
              <a:pathLst>
                <a:path h="863346" w="7315200">
                  <a:moveTo>
                    <a:pt x="0" y="0"/>
                  </a:moveTo>
                  <a:lnTo>
                    <a:pt x="7315200" y="0"/>
                  </a:lnTo>
                  <a:lnTo>
                    <a:pt x="7315200" y="863346"/>
                  </a:lnTo>
                  <a:lnTo>
                    <a:pt x="0" y="863346"/>
                  </a:lnTo>
                  <a:close/>
                </a:path>
              </a:pathLst>
            </a:custGeom>
            <a:blipFill>
              <a:blip r:embed="rId6">
                <a:alphaModFix amt="0"/>
              </a:blip>
              <a:stretch>
                <a:fillRect l="0" t="-115098" r="0" b="-115098"/>
              </a:stretch>
            </a:blipFill>
          </p:spPr>
          <p:txBody>
            <a:bodyPr/>
            <a:p/>
          </p:txBody>
        </p:sp>
        <p:sp>
          <p:nvSpPr>
            <p:cNvPr name="TextBox 85" id="85"/>
            <p:cNvSpPr txBox="true"/>
            <p:nvPr/>
          </p:nvSpPr>
          <p:spPr>
            <a:xfrm>
              <a:off x="0" y="-47625"/>
              <a:ext cx="7315200" cy="910971"/>
            </a:xfrm>
            <a:prstGeom prst="rect">
              <a:avLst/>
            </a:prstGeom>
          </p:spPr>
          <p:txBody>
            <a:bodyPr anchor="ctr" rtlCol="false" tIns="0" lIns="0" bIns="0" rIns="0"/>
            <a:lstStyle/>
            <a:p>
              <a:pPr algn="l">
                <a:lnSpc>
                  <a:spcPts val="2340"/>
                </a:lnSpc>
              </a:pPr>
              <a:r>
                <a:rPr lang="en-US" sz="1950" b="true">
                  <a:solidFill>
                    <a:srgbClr val="0B5E6E"/>
                  </a:solidFill>
                  <a:latin typeface="Calibri (MS) Bold"/>
                  <a:ea typeface="Calibri (MS) Bold"/>
                  <a:cs typeface="Calibri (MS) Bold"/>
                  <a:sym typeface="Calibri (MS) Bold"/>
                </a:rPr>
                <a:t>Lapangan kerja pariwisata</a:t>
              </a:r>
            </a:p>
          </p:txBody>
        </p:sp>
      </p:grpSp>
      <p:grpSp>
        <p:nvGrpSpPr>
          <p:cNvPr name="Group 86" id="86"/>
          <p:cNvGrpSpPr/>
          <p:nvPr/>
        </p:nvGrpSpPr>
        <p:grpSpPr>
          <a:xfrm rot="0">
            <a:off x="6858000" y="4073652"/>
            <a:ext cx="2880360" cy="438912"/>
            <a:chOff x="0" y="0"/>
            <a:chExt cx="3840480" cy="585216"/>
          </a:xfrm>
        </p:grpSpPr>
        <p:sp>
          <p:nvSpPr>
            <p:cNvPr name="Freeform 87" id="87"/>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FFD23B"/>
            </a:solidFill>
          </p:spPr>
          <p:txBody>
            <a:bodyPr/>
            <a:p/>
          </p:txBody>
        </p:sp>
      </p:grpSp>
      <p:grpSp>
        <p:nvGrpSpPr>
          <p:cNvPr name="Group 88" id="88"/>
          <p:cNvGrpSpPr/>
          <p:nvPr/>
        </p:nvGrpSpPr>
        <p:grpSpPr>
          <a:xfrm rot="0">
            <a:off x="6858000" y="4073652"/>
            <a:ext cx="2880360" cy="438912"/>
            <a:chOff x="0" y="0"/>
            <a:chExt cx="3840480" cy="585216"/>
          </a:xfrm>
        </p:grpSpPr>
        <p:sp>
          <p:nvSpPr>
            <p:cNvPr name="Freeform 89" id="89"/>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90" id="90"/>
          <p:cNvGrpSpPr/>
          <p:nvPr/>
        </p:nvGrpSpPr>
        <p:grpSpPr>
          <a:xfrm rot="0">
            <a:off x="6858000" y="4045077"/>
            <a:ext cx="2880360" cy="467487"/>
            <a:chOff x="0" y="0"/>
            <a:chExt cx="3840480" cy="623316"/>
          </a:xfrm>
        </p:grpSpPr>
        <p:sp>
          <p:nvSpPr>
            <p:cNvPr name="Freeform 91" id="91"/>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92" id="92"/>
          <p:cNvGrpSpPr/>
          <p:nvPr/>
        </p:nvGrpSpPr>
        <p:grpSpPr>
          <a:xfrm rot="0">
            <a:off x="6858000" y="4016502"/>
            <a:ext cx="2880360" cy="496062"/>
            <a:chOff x="0" y="0"/>
            <a:chExt cx="3840480" cy="661416"/>
          </a:xfrm>
        </p:grpSpPr>
        <p:sp>
          <p:nvSpPr>
            <p:cNvPr name="Freeform 93" id="93"/>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94" id="94"/>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14313B"/>
                  </a:solidFill>
                  <a:latin typeface="Calibri (MS) Bold"/>
                  <a:ea typeface="Calibri (MS) Bold"/>
                  <a:cs typeface="Calibri (MS) Bold"/>
                  <a:sym typeface="Calibri (MS) Bold"/>
                </a:rPr>
                <a:t>Development Priority</a:t>
              </a:r>
            </a:p>
          </p:txBody>
        </p:sp>
      </p:grpSp>
      <p:grpSp>
        <p:nvGrpSpPr>
          <p:cNvPr name="Group 95" id="95"/>
          <p:cNvGrpSpPr/>
          <p:nvPr/>
        </p:nvGrpSpPr>
        <p:grpSpPr>
          <a:xfrm rot="0">
            <a:off x="9738360" y="4005072"/>
            <a:ext cx="342900" cy="576072"/>
            <a:chOff x="0" y="0"/>
            <a:chExt cx="457200" cy="768096"/>
          </a:xfrm>
        </p:grpSpPr>
        <p:sp>
          <p:nvSpPr>
            <p:cNvPr name="Freeform 96" id="96"/>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txBody>
            <a:bodyPr/>
            <a:p/>
          </p:txBody>
        </p:sp>
      </p:grpSp>
      <p:grpSp>
        <p:nvGrpSpPr>
          <p:cNvPr name="Group 97" id="97"/>
          <p:cNvGrpSpPr/>
          <p:nvPr/>
        </p:nvGrpSpPr>
        <p:grpSpPr>
          <a:xfrm rot="0">
            <a:off x="9738360" y="3969353"/>
            <a:ext cx="342900" cy="611791"/>
            <a:chOff x="0" y="0"/>
            <a:chExt cx="457200" cy="815721"/>
          </a:xfrm>
        </p:grpSpPr>
        <p:sp>
          <p:nvSpPr>
            <p:cNvPr name="Freeform 98" id="98"/>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9075" t="0" r="-179075" b="0"/>
              </a:stretch>
            </a:blipFill>
          </p:spPr>
          <p:txBody>
            <a:bodyPr/>
            <a:p/>
          </p:txBody>
        </p:sp>
      </p:grpSp>
      <p:grpSp>
        <p:nvGrpSpPr>
          <p:cNvPr name="Group 99" id="99"/>
          <p:cNvGrpSpPr/>
          <p:nvPr/>
        </p:nvGrpSpPr>
        <p:grpSpPr>
          <a:xfrm rot="0">
            <a:off x="9738360" y="3933634"/>
            <a:ext cx="342900" cy="647510"/>
            <a:chOff x="0" y="0"/>
            <a:chExt cx="457200" cy="863346"/>
          </a:xfrm>
        </p:grpSpPr>
        <p:sp>
          <p:nvSpPr>
            <p:cNvPr name="Freeform 100" id="100"/>
            <p:cNvSpPr/>
            <p:nvPr/>
          </p:nvSpPr>
          <p:spPr>
            <a:xfrm flipH="false" flipV="false" rot="0">
              <a:off x="0" y="0"/>
              <a:ext cx="457200" cy="863346"/>
            </a:xfrm>
            <a:custGeom>
              <a:avLst/>
              <a:gdLst/>
              <a:ahLst/>
              <a:cxnLst/>
              <a:rect r="r" b="b" t="t" l="l"/>
              <a:pathLst>
                <a:path h="863346" w="457200">
                  <a:moveTo>
                    <a:pt x="0" y="0"/>
                  </a:moveTo>
                  <a:lnTo>
                    <a:pt x="457200" y="0"/>
                  </a:lnTo>
                  <a:lnTo>
                    <a:pt x="457200" y="863346"/>
                  </a:lnTo>
                  <a:lnTo>
                    <a:pt x="0" y="863346"/>
                  </a:lnTo>
                  <a:close/>
                </a:path>
              </a:pathLst>
            </a:custGeom>
            <a:blipFill>
              <a:blip r:embed="rId6">
                <a:alphaModFix amt="0"/>
              </a:blip>
              <a:stretch>
                <a:fillRect l="-192279" t="0" r="-192279" b="0"/>
              </a:stretch>
            </a:blipFill>
          </p:spPr>
          <p:txBody>
            <a:bodyPr/>
            <a:p/>
          </p:txBody>
        </p:sp>
        <p:sp>
          <p:nvSpPr>
            <p:cNvPr name="TextBox 101" id="101"/>
            <p:cNvSpPr txBox="true"/>
            <p:nvPr/>
          </p:nvSpPr>
          <p:spPr>
            <a:xfrm>
              <a:off x="0" y="-47625"/>
              <a:ext cx="457200" cy="910971"/>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102" id="102"/>
          <p:cNvGrpSpPr/>
          <p:nvPr/>
        </p:nvGrpSpPr>
        <p:grpSpPr>
          <a:xfrm rot="0">
            <a:off x="10081260" y="4073652"/>
            <a:ext cx="2880360" cy="438912"/>
            <a:chOff x="0" y="0"/>
            <a:chExt cx="3840480" cy="585216"/>
          </a:xfrm>
        </p:grpSpPr>
        <p:sp>
          <p:nvSpPr>
            <p:cNvPr name="Freeform 103" id="103"/>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39C0D3"/>
            </a:solidFill>
          </p:spPr>
          <p:txBody>
            <a:bodyPr/>
            <a:p/>
          </p:txBody>
        </p:sp>
      </p:grpSp>
      <p:grpSp>
        <p:nvGrpSpPr>
          <p:cNvPr name="Group 104" id="104"/>
          <p:cNvGrpSpPr/>
          <p:nvPr/>
        </p:nvGrpSpPr>
        <p:grpSpPr>
          <a:xfrm rot="0">
            <a:off x="10081260" y="4073652"/>
            <a:ext cx="2880360" cy="438912"/>
            <a:chOff x="0" y="0"/>
            <a:chExt cx="3840480" cy="585216"/>
          </a:xfrm>
        </p:grpSpPr>
        <p:sp>
          <p:nvSpPr>
            <p:cNvPr name="Freeform 105" id="105"/>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106" id="106"/>
          <p:cNvGrpSpPr/>
          <p:nvPr/>
        </p:nvGrpSpPr>
        <p:grpSpPr>
          <a:xfrm rot="0">
            <a:off x="10081260" y="4045077"/>
            <a:ext cx="2880360" cy="467487"/>
            <a:chOff x="0" y="0"/>
            <a:chExt cx="3840480" cy="623316"/>
          </a:xfrm>
        </p:grpSpPr>
        <p:sp>
          <p:nvSpPr>
            <p:cNvPr name="Freeform 107" id="107"/>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108" id="108"/>
          <p:cNvGrpSpPr/>
          <p:nvPr/>
        </p:nvGrpSpPr>
        <p:grpSpPr>
          <a:xfrm rot="0">
            <a:off x="10081260" y="4016502"/>
            <a:ext cx="2880360" cy="496062"/>
            <a:chOff x="0" y="0"/>
            <a:chExt cx="3840480" cy="661416"/>
          </a:xfrm>
        </p:grpSpPr>
        <p:sp>
          <p:nvSpPr>
            <p:cNvPr name="Freeform 109" id="109"/>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110" id="110"/>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Sustainable</a:t>
              </a:r>
            </a:p>
          </p:txBody>
        </p:sp>
      </p:grpSp>
      <p:grpSp>
        <p:nvGrpSpPr>
          <p:cNvPr name="Group 111" id="111"/>
          <p:cNvGrpSpPr/>
          <p:nvPr/>
        </p:nvGrpSpPr>
        <p:grpSpPr>
          <a:xfrm rot="0">
            <a:off x="12961620" y="4005072"/>
            <a:ext cx="342900" cy="576072"/>
            <a:chOff x="0" y="0"/>
            <a:chExt cx="457200" cy="768096"/>
          </a:xfrm>
        </p:grpSpPr>
        <p:sp>
          <p:nvSpPr>
            <p:cNvPr name="Freeform 112" id="112"/>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txBody>
            <a:bodyPr/>
            <a:p/>
          </p:txBody>
        </p:sp>
      </p:grpSp>
      <p:grpSp>
        <p:nvGrpSpPr>
          <p:cNvPr name="Group 113" id="113"/>
          <p:cNvGrpSpPr/>
          <p:nvPr/>
        </p:nvGrpSpPr>
        <p:grpSpPr>
          <a:xfrm rot="0">
            <a:off x="12961620" y="3969353"/>
            <a:ext cx="342900" cy="611791"/>
            <a:chOff x="0" y="0"/>
            <a:chExt cx="457200" cy="815721"/>
          </a:xfrm>
        </p:grpSpPr>
        <p:sp>
          <p:nvSpPr>
            <p:cNvPr name="Freeform 114" id="114"/>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9075" t="0" r="-179075" b="0"/>
              </a:stretch>
            </a:blipFill>
          </p:spPr>
          <p:txBody>
            <a:bodyPr/>
            <a:p/>
          </p:txBody>
        </p:sp>
      </p:grpSp>
      <p:grpSp>
        <p:nvGrpSpPr>
          <p:cNvPr name="Group 115" id="115"/>
          <p:cNvGrpSpPr/>
          <p:nvPr/>
        </p:nvGrpSpPr>
        <p:grpSpPr>
          <a:xfrm rot="0">
            <a:off x="12961620" y="3933634"/>
            <a:ext cx="342900" cy="647510"/>
            <a:chOff x="0" y="0"/>
            <a:chExt cx="457200" cy="863346"/>
          </a:xfrm>
        </p:grpSpPr>
        <p:sp>
          <p:nvSpPr>
            <p:cNvPr name="Freeform 116" id="116"/>
            <p:cNvSpPr/>
            <p:nvPr/>
          </p:nvSpPr>
          <p:spPr>
            <a:xfrm flipH="false" flipV="false" rot="0">
              <a:off x="0" y="0"/>
              <a:ext cx="457200" cy="863346"/>
            </a:xfrm>
            <a:custGeom>
              <a:avLst/>
              <a:gdLst/>
              <a:ahLst/>
              <a:cxnLst/>
              <a:rect r="r" b="b" t="t" l="l"/>
              <a:pathLst>
                <a:path h="863346" w="457200">
                  <a:moveTo>
                    <a:pt x="0" y="0"/>
                  </a:moveTo>
                  <a:lnTo>
                    <a:pt x="457200" y="0"/>
                  </a:lnTo>
                  <a:lnTo>
                    <a:pt x="457200" y="863346"/>
                  </a:lnTo>
                  <a:lnTo>
                    <a:pt x="0" y="863346"/>
                  </a:lnTo>
                  <a:close/>
                </a:path>
              </a:pathLst>
            </a:custGeom>
            <a:blipFill>
              <a:blip r:embed="rId6">
                <a:alphaModFix amt="0"/>
              </a:blip>
              <a:stretch>
                <a:fillRect l="-192279" t="0" r="-192279" b="0"/>
              </a:stretch>
            </a:blipFill>
          </p:spPr>
          <p:txBody>
            <a:bodyPr/>
            <a:p/>
          </p:txBody>
        </p:sp>
        <p:sp>
          <p:nvSpPr>
            <p:cNvPr name="TextBox 117" id="117"/>
            <p:cNvSpPr txBox="true"/>
            <p:nvPr/>
          </p:nvSpPr>
          <p:spPr>
            <a:xfrm>
              <a:off x="0" y="-47625"/>
              <a:ext cx="457200" cy="910971"/>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118" id="118"/>
          <p:cNvGrpSpPr/>
          <p:nvPr/>
        </p:nvGrpSpPr>
        <p:grpSpPr>
          <a:xfrm rot="0">
            <a:off x="13304520" y="4073652"/>
            <a:ext cx="2880360" cy="438912"/>
            <a:chOff x="0" y="0"/>
            <a:chExt cx="3840480" cy="585216"/>
          </a:xfrm>
        </p:grpSpPr>
        <p:sp>
          <p:nvSpPr>
            <p:cNvPr name="Freeform 119" id="119"/>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8A99A1"/>
            </a:solidFill>
          </p:spPr>
          <p:txBody>
            <a:bodyPr/>
            <a:p/>
          </p:txBody>
        </p:sp>
      </p:grpSp>
      <p:grpSp>
        <p:nvGrpSpPr>
          <p:cNvPr name="Group 120" id="120"/>
          <p:cNvGrpSpPr/>
          <p:nvPr/>
        </p:nvGrpSpPr>
        <p:grpSpPr>
          <a:xfrm rot="0">
            <a:off x="13304520" y="4073652"/>
            <a:ext cx="2880360" cy="438912"/>
            <a:chOff x="0" y="0"/>
            <a:chExt cx="3840480" cy="585216"/>
          </a:xfrm>
        </p:grpSpPr>
        <p:sp>
          <p:nvSpPr>
            <p:cNvPr name="Freeform 121" id="121"/>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122" id="122"/>
          <p:cNvGrpSpPr/>
          <p:nvPr/>
        </p:nvGrpSpPr>
        <p:grpSpPr>
          <a:xfrm rot="0">
            <a:off x="13304520" y="4045077"/>
            <a:ext cx="2880360" cy="467487"/>
            <a:chOff x="0" y="0"/>
            <a:chExt cx="3840480" cy="623316"/>
          </a:xfrm>
        </p:grpSpPr>
        <p:sp>
          <p:nvSpPr>
            <p:cNvPr name="Freeform 123" id="123"/>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124" id="124"/>
          <p:cNvGrpSpPr/>
          <p:nvPr/>
        </p:nvGrpSpPr>
        <p:grpSpPr>
          <a:xfrm rot="0">
            <a:off x="13304520" y="4016502"/>
            <a:ext cx="2880360" cy="496062"/>
            <a:chOff x="0" y="0"/>
            <a:chExt cx="3840480" cy="661416"/>
          </a:xfrm>
        </p:grpSpPr>
        <p:sp>
          <p:nvSpPr>
            <p:cNvPr name="Freeform 125" id="125"/>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126" id="126"/>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BAU</a:t>
              </a:r>
            </a:p>
          </p:txBody>
        </p:sp>
      </p:grpSp>
      <p:grpSp>
        <p:nvGrpSpPr>
          <p:cNvPr name="Group 127" id="127"/>
          <p:cNvGrpSpPr/>
          <p:nvPr/>
        </p:nvGrpSpPr>
        <p:grpSpPr>
          <a:xfrm rot="0">
            <a:off x="16390620" y="4087368"/>
            <a:ext cx="891540" cy="411480"/>
            <a:chOff x="0" y="0"/>
            <a:chExt cx="1188720" cy="548640"/>
          </a:xfrm>
        </p:grpSpPr>
        <p:sp>
          <p:nvSpPr>
            <p:cNvPr name="Freeform 128" id="128"/>
            <p:cNvSpPr/>
            <p:nvPr/>
          </p:nvSpPr>
          <p:spPr>
            <a:xfrm flipH="false" flipV="false" rot="0">
              <a:off x="0" y="0"/>
              <a:ext cx="1188720" cy="548640"/>
            </a:xfrm>
            <a:custGeom>
              <a:avLst/>
              <a:gdLst/>
              <a:ahLst/>
              <a:cxnLst/>
              <a:rect r="r" b="b" t="t" l="l"/>
              <a:pathLst>
                <a:path h="548640" w="1188720">
                  <a:moveTo>
                    <a:pt x="0" y="274320"/>
                  </a:moveTo>
                  <a:cubicBezTo>
                    <a:pt x="0" y="122809"/>
                    <a:pt x="122809" y="0"/>
                    <a:pt x="274320" y="0"/>
                  </a:cubicBezTo>
                  <a:lnTo>
                    <a:pt x="914400" y="0"/>
                  </a:lnTo>
                  <a:cubicBezTo>
                    <a:pt x="1065911" y="0"/>
                    <a:pt x="1188720" y="122809"/>
                    <a:pt x="1188720" y="274320"/>
                  </a:cubicBezTo>
                  <a:cubicBezTo>
                    <a:pt x="1188720" y="425831"/>
                    <a:pt x="1065911" y="548640"/>
                    <a:pt x="91440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129" id="129"/>
          <p:cNvGrpSpPr/>
          <p:nvPr/>
        </p:nvGrpSpPr>
        <p:grpSpPr>
          <a:xfrm rot="0">
            <a:off x="16390620" y="4087368"/>
            <a:ext cx="891540" cy="411480"/>
            <a:chOff x="0" y="0"/>
            <a:chExt cx="1188720" cy="548640"/>
          </a:xfrm>
        </p:grpSpPr>
        <p:sp>
          <p:nvSpPr>
            <p:cNvPr name="Freeform 130" id="130"/>
            <p:cNvSpPr/>
            <p:nvPr/>
          </p:nvSpPr>
          <p:spPr>
            <a:xfrm flipH="false" flipV="false" rot="0">
              <a:off x="0" y="0"/>
              <a:ext cx="1188720" cy="548640"/>
            </a:xfrm>
            <a:custGeom>
              <a:avLst/>
              <a:gdLst/>
              <a:ahLst/>
              <a:cxnLst/>
              <a:rect r="r" b="b" t="t" l="l"/>
              <a:pathLst>
                <a:path h="548640" w="1188720">
                  <a:moveTo>
                    <a:pt x="0" y="0"/>
                  </a:moveTo>
                  <a:lnTo>
                    <a:pt x="1188720" y="0"/>
                  </a:lnTo>
                  <a:lnTo>
                    <a:pt x="1188720" y="548640"/>
                  </a:lnTo>
                  <a:lnTo>
                    <a:pt x="0" y="548640"/>
                  </a:lnTo>
                  <a:close/>
                </a:path>
              </a:pathLst>
            </a:custGeom>
            <a:blipFill>
              <a:blip r:embed="rId4">
                <a:alphaModFix amt="0"/>
              </a:blip>
              <a:stretch>
                <a:fillRect l="-9258" t="0" r="-9257" b="0"/>
              </a:stretch>
            </a:blipFill>
          </p:spPr>
          <p:txBody>
            <a:bodyPr/>
            <a:p/>
          </p:txBody>
        </p:sp>
      </p:grpSp>
      <p:grpSp>
        <p:nvGrpSpPr>
          <p:cNvPr name="Group 131" id="131"/>
          <p:cNvGrpSpPr/>
          <p:nvPr/>
        </p:nvGrpSpPr>
        <p:grpSpPr>
          <a:xfrm rot="0">
            <a:off x="16390620" y="4058793"/>
            <a:ext cx="891540" cy="440055"/>
            <a:chOff x="0" y="0"/>
            <a:chExt cx="1188720" cy="586740"/>
          </a:xfrm>
        </p:grpSpPr>
        <p:sp>
          <p:nvSpPr>
            <p:cNvPr name="Freeform 132" id="132"/>
            <p:cNvSpPr/>
            <p:nvPr/>
          </p:nvSpPr>
          <p:spPr>
            <a:xfrm flipH="false" flipV="false" rot="0">
              <a:off x="0" y="0"/>
              <a:ext cx="1188720" cy="586740"/>
            </a:xfrm>
            <a:custGeom>
              <a:avLst/>
              <a:gdLst/>
              <a:ahLst/>
              <a:cxnLst/>
              <a:rect r="r" b="b" t="t" l="l"/>
              <a:pathLst>
                <a:path h="586740" w="1188720">
                  <a:moveTo>
                    <a:pt x="0" y="0"/>
                  </a:moveTo>
                  <a:lnTo>
                    <a:pt x="1188720" y="0"/>
                  </a:lnTo>
                  <a:lnTo>
                    <a:pt x="1188720" y="586740"/>
                  </a:lnTo>
                  <a:lnTo>
                    <a:pt x="0" y="586740"/>
                  </a:lnTo>
                  <a:close/>
                </a:path>
              </a:pathLst>
            </a:custGeom>
            <a:blipFill>
              <a:blip r:embed="rId5">
                <a:alphaModFix amt="0"/>
              </a:blip>
              <a:stretch>
                <a:fillRect l="-13373" t="0" r="-13372" b="0"/>
              </a:stretch>
            </a:blipFill>
          </p:spPr>
          <p:txBody>
            <a:bodyPr/>
            <a:p/>
          </p:txBody>
        </p:sp>
      </p:grpSp>
      <p:grpSp>
        <p:nvGrpSpPr>
          <p:cNvPr name="Group 133" id="133"/>
          <p:cNvGrpSpPr/>
          <p:nvPr/>
        </p:nvGrpSpPr>
        <p:grpSpPr>
          <a:xfrm rot="0">
            <a:off x="16390620" y="4030218"/>
            <a:ext cx="891540" cy="468630"/>
            <a:chOff x="0" y="0"/>
            <a:chExt cx="1188720" cy="624840"/>
          </a:xfrm>
        </p:grpSpPr>
        <p:sp>
          <p:nvSpPr>
            <p:cNvPr name="Freeform 134" id="134"/>
            <p:cNvSpPr/>
            <p:nvPr/>
          </p:nvSpPr>
          <p:spPr>
            <a:xfrm flipH="false" flipV="false" rot="0">
              <a:off x="0" y="0"/>
              <a:ext cx="1188720" cy="624840"/>
            </a:xfrm>
            <a:custGeom>
              <a:avLst/>
              <a:gdLst/>
              <a:ahLst/>
              <a:cxnLst/>
              <a:rect r="r" b="b" t="t" l="l"/>
              <a:pathLst>
                <a:path h="624840" w="1188720">
                  <a:moveTo>
                    <a:pt x="0" y="0"/>
                  </a:moveTo>
                  <a:lnTo>
                    <a:pt x="1188720" y="0"/>
                  </a:lnTo>
                  <a:lnTo>
                    <a:pt x="1188720" y="624840"/>
                  </a:lnTo>
                  <a:lnTo>
                    <a:pt x="0" y="624840"/>
                  </a:lnTo>
                  <a:close/>
                </a:path>
              </a:pathLst>
            </a:custGeom>
            <a:blipFill>
              <a:blip r:embed="rId6">
                <a:alphaModFix amt="0"/>
              </a:blip>
              <a:stretch>
                <a:fillRect l="-17441" t="0" r="-17441" b="0"/>
              </a:stretch>
            </a:blipFill>
          </p:spPr>
          <p:txBody>
            <a:bodyPr/>
            <a:p/>
          </p:txBody>
        </p:sp>
        <p:sp>
          <p:nvSpPr>
            <p:cNvPr name="TextBox 135" id="135"/>
            <p:cNvSpPr txBox="true"/>
            <p:nvPr/>
          </p:nvSpPr>
          <p:spPr>
            <a:xfrm>
              <a:off x="0" y="-38100"/>
              <a:ext cx="1188720" cy="662940"/>
            </a:xfrm>
            <a:prstGeom prst="rect">
              <a:avLst/>
            </a:prstGeom>
          </p:spPr>
          <p:txBody>
            <a:bodyPr anchor="ctr" rtlCol="false" tIns="0" lIns="0" bIns="0" rIns="0"/>
            <a:lstStyle/>
            <a:p>
              <a:pPr algn="ctr">
                <a:lnSpc>
                  <a:spcPts val="1709"/>
                </a:lnSpc>
              </a:pPr>
              <a:r>
                <a:rPr lang="en-US" sz="1425" b="true">
                  <a:solidFill>
                    <a:srgbClr val="FFFFFF"/>
                  </a:solidFill>
                  <a:latin typeface="Calibri (MS) Bold"/>
                  <a:ea typeface="Calibri (MS) Bold"/>
                  <a:cs typeface="Calibri (MS) Bold"/>
                  <a:sym typeface="Calibri (MS) Bold"/>
                </a:rPr>
                <a:t>ROBUST</a:t>
              </a:r>
            </a:p>
          </p:txBody>
        </p:sp>
      </p:grpSp>
      <p:grpSp>
        <p:nvGrpSpPr>
          <p:cNvPr name="Group 136" id="136"/>
          <p:cNvGrpSpPr/>
          <p:nvPr/>
        </p:nvGrpSpPr>
        <p:grpSpPr>
          <a:xfrm rot="0">
            <a:off x="822960" y="4649724"/>
            <a:ext cx="16637508" cy="576072"/>
            <a:chOff x="0" y="0"/>
            <a:chExt cx="22183344" cy="768096"/>
          </a:xfrm>
        </p:grpSpPr>
        <p:sp>
          <p:nvSpPr>
            <p:cNvPr name="Freeform 137" id="137"/>
            <p:cNvSpPr/>
            <p:nvPr/>
          </p:nvSpPr>
          <p:spPr>
            <a:xfrm flipH="false" flipV="false" rot="0">
              <a:off x="0" y="0"/>
              <a:ext cx="22183344" cy="768096"/>
            </a:xfrm>
            <a:custGeom>
              <a:avLst/>
              <a:gdLst/>
              <a:ahLst/>
              <a:cxnLst/>
              <a:rect r="r" b="b" t="t" l="l"/>
              <a:pathLst>
                <a:path h="768096" w="22183344">
                  <a:moveTo>
                    <a:pt x="0" y="182880"/>
                  </a:moveTo>
                  <a:cubicBezTo>
                    <a:pt x="0" y="81915"/>
                    <a:pt x="81915" y="0"/>
                    <a:pt x="182880" y="0"/>
                  </a:cubicBezTo>
                  <a:lnTo>
                    <a:pt x="22000463" y="0"/>
                  </a:lnTo>
                  <a:cubicBezTo>
                    <a:pt x="22101428" y="0"/>
                    <a:pt x="22183344" y="81915"/>
                    <a:pt x="22183344" y="182880"/>
                  </a:cubicBezTo>
                  <a:lnTo>
                    <a:pt x="22183344" y="585216"/>
                  </a:lnTo>
                  <a:cubicBezTo>
                    <a:pt x="22183344" y="686181"/>
                    <a:pt x="22101428" y="768096"/>
                    <a:pt x="22000463" y="768096"/>
                  </a:cubicBezTo>
                  <a:lnTo>
                    <a:pt x="182880" y="768096"/>
                  </a:lnTo>
                  <a:cubicBezTo>
                    <a:pt x="81915" y="768096"/>
                    <a:pt x="0" y="686181"/>
                    <a:pt x="0" y="585216"/>
                  </a:cubicBezTo>
                  <a:close/>
                </a:path>
              </a:pathLst>
            </a:custGeom>
            <a:solidFill>
              <a:srgbClr val="FFFFFF"/>
            </a:solidFill>
          </p:spPr>
          <p:txBody>
            <a:bodyPr/>
            <a:p/>
          </p:txBody>
        </p:sp>
      </p:grpSp>
      <p:grpSp>
        <p:nvGrpSpPr>
          <p:cNvPr name="Group 138" id="138"/>
          <p:cNvGrpSpPr/>
          <p:nvPr/>
        </p:nvGrpSpPr>
        <p:grpSpPr>
          <a:xfrm rot="0">
            <a:off x="1097280" y="4649724"/>
            <a:ext cx="5486400" cy="576072"/>
            <a:chOff x="0" y="0"/>
            <a:chExt cx="7315200" cy="768096"/>
          </a:xfrm>
        </p:grpSpPr>
        <p:sp>
          <p:nvSpPr>
            <p:cNvPr name="Freeform 139" id="139"/>
            <p:cNvSpPr/>
            <p:nvPr/>
          </p:nvSpPr>
          <p:spPr>
            <a:xfrm flipH="false" flipV="false" rot="0">
              <a:off x="0" y="0"/>
              <a:ext cx="7315200" cy="768096"/>
            </a:xfrm>
            <a:custGeom>
              <a:avLst/>
              <a:gdLst/>
              <a:ahLst/>
              <a:cxnLst/>
              <a:rect r="r" b="b" t="t" l="l"/>
              <a:pathLst>
                <a:path h="768096" w="7315200">
                  <a:moveTo>
                    <a:pt x="0" y="0"/>
                  </a:moveTo>
                  <a:lnTo>
                    <a:pt x="7315200" y="0"/>
                  </a:lnTo>
                  <a:lnTo>
                    <a:pt x="7315200" y="768096"/>
                  </a:lnTo>
                  <a:lnTo>
                    <a:pt x="0" y="768096"/>
                  </a:lnTo>
                  <a:close/>
                </a:path>
              </a:pathLst>
            </a:custGeom>
            <a:blipFill>
              <a:blip r:embed="rId4">
                <a:alphaModFix amt="0"/>
              </a:blip>
              <a:stretch>
                <a:fillRect l="0" t="-135443" r="0" b="-135443"/>
              </a:stretch>
            </a:blipFill>
          </p:spPr>
          <p:txBody>
            <a:bodyPr/>
            <a:p/>
          </p:txBody>
        </p:sp>
      </p:grpSp>
      <p:grpSp>
        <p:nvGrpSpPr>
          <p:cNvPr name="Group 140" id="140"/>
          <p:cNvGrpSpPr/>
          <p:nvPr/>
        </p:nvGrpSpPr>
        <p:grpSpPr>
          <a:xfrm rot="0">
            <a:off x="1097280" y="4614005"/>
            <a:ext cx="5486400" cy="611791"/>
            <a:chOff x="0" y="0"/>
            <a:chExt cx="7315200" cy="815721"/>
          </a:xfrm>
        </p:grpSpPr>
        <p:sp>
          <p:nvSpPr>
            <p:cNvPr name="Freeform 141" id="141"/>
            <p:cNvSpPr/>
            <p:nvPr/>
          </p:nvSpPr>
          <p:spPr>
            <a:xfrm flipH="false" flipV="false" rot="0">
              <a:off x="0" y="0"/>
              <a:ext cx="7315200" cy="815721"/>
            </a:xfrm>
            <a:custGeom>
              <a:avLst/>
              <a:gdLst/>
              <a:ahLst/>
              <a:cxnLst/>
              <a:rect r="r" b="b" t="t" l="l"/>
              <a:pathLst>
                <a:path h="815721" w="7315200">
                  <a:moveTo>
                    <a:pt x="0" y="0"/>
                  </a:moveTo>
                  <a:lnTo>
                    <a:pt x="7315200" y="0"/>
                  </a:lnTo>
                  <a:lnTo>
                    <a:pt x="7315200" y="815721"/>
                  </a:lnTo>
                  <a:lnTo>
                    <a:pt x="0" y="815721"/>
                  </a:lnTo>
                  <a:close/>
                </a:path>
              </a:pathLst>
            </a:custGeom>
            <a:blipFill>
              <a:blip r:embed="rId5">
                <a:alphaModFix amt="0"/>
              </a:blip>
              <a:stretch>
                <a:fillRect l="0" t="-124616" r="0" b="-124616"/>
              </a:stretch>
            </a:blipFill>
          </p:spPr>
          <p:txBody>
            <a:bodyPr/>
            <a:p/>
          </p:txBody>
        </p:sp>
      </p:grpSp>
      <p:grpSp>
        <p:nvGrpSpPr>
          <p:cNvPr name="Group 142" id="142"/>
          <p:cNvGrpSpPr/>
          <p:nvPr/>
        </p:nvGrpSpPr>
        <p:grpSpPr>
          <a:xfrm rot="0">
            <a:off x="1097280" y="4578286"/>
            <a:ext cx="5486400" cy="647510"/>
            <a:chOff x="0" y="0"/>
            <a:chExt cx="7315200" cy="863346"/>
          </a:xfrm>
        </p:grpSpPr>
        <p:sp>
          <p:nvSpPr>
            <p:cNvPr name="Freeform 143" id="143"/>
            <p:cNvSpPr/>
            <p:nvPr/>
          </p:nvSpPr>
          <p:spPr>
            <a:xfrm flipH="false" flipV="false" rot="0">
              <a:off x="0" y="0"/>
              <a:ext cx="7315200" cy="863346"/>
            </a:xfrm>
            <a:custGeom>
              <a:avLst/>
              <a:gdLst/>
              <a:ahLst/>
              <a:cxnLst/>
              <a:rect r="r" b="b" t="t" l="l"/>
              <a:pathLst>
                <a:path h="863346" w="7315200">
                  <a:moveTo>
                    <a:pt x="0" y="0"/>
                  </a:moveTo>
                  <a:lnTo>
                    <a:pt x="7315200" y="0"/>
                  </a:lnTo>
                  <a:lnTo>
                    <a:pt x="7315200" y="863346"/>
                  </a:lnTo>
                  <a:lnTo>
                    <a:pt x="0" y="863346"/>
                  </a:lnTo>
                  <a:close/>
                </a:path>
              </a:pathLst>
            </a:custGeom>
            <a:blipFill>
              <a:blip r:embed="rId6">
                <a:alphaModFix amt="0"/>
              </a:blip>
              <a:stretch>
                <a:fillRect l="0" t="-115098" r="0" b="-115098"/>
              </a:stretch>
            </a:blipFill>
          </p:spPr>
          <p:txBody>
            <a:bodyPr/>
            <a:p/>
          </p:txBody>
        </p:sp>
        <p:sp>
          <p:nvSpPr>
            <p:cNvPr name="TextBox 144" id="144"/>
            <p:cNvSpPr txBox="true"/>
            <p:nvPr/>
          </p:nvSpPr>
          <p:spPr>
            <a:xfrm>
              <a:off x="0" y="-47625"/>
              <a:ext cx="7315200" cy="910971"/>
            </a:xfrm>
            <a:prstGeom prst="rect">
              <a:avLst/>
            </a:prstGeom>
          </p:spPr>
          <p:txBody>
            <a:bodyPr anchor="ctr" rtlCol="false" tIns="0" lIns="0" bIns="0" rIns="0"/>
            <a:lstStyle/>
            <a:p>
              <a:pPr algn="l">
                <a:lnSpc>
                  <a:spcPts val="2340"/>
                </a:lnSpc>
              </a:pPr>
              <a:r>
                <a:rPr lang="en-US" sz="1950" b="true">
                  <a:solidFill>
                    <a:srgbClr val="0B5E6E"/>
                  </a:solidFill>
                  <a:latin typeface="Calibri (MS) Bold"/>
                  <a:ea typeface="Calibri (MS) Bold"/>
                  <a:cs typeface="Calibri (MS) Bold"/>
                  <a:sym typeface="Calibri (MS) Bold"/>
                </a:rPr>
                <a:t>PDRB pariwisata</a:t>
              </a:r>
            </a:p>
          </p:txBody>
        </p:sp>
      </p:grpSp>
      <p:grpSp>
        <p:nvGrpSpPr>
          <p:cNvPr name="Group 145" id="145"/>
          <p:cNvGrpSpPr/>
          <p:nvPr/>
        </p:nvGrpSpPr>
        <p:grpSpPr>
          <a:xfrm rot="0">
            <a:off x="6858000" y="4718304"/>
            <a:ext cx="2880360" cy="438912"/>
            <a:chOff x="0" y="0"/>
            <a:chExt cx="3840480" cy="585216"/>
          </a:xfrm>
        </p:grpSpPr>
        <p:sp>
          <p:nvSpPr>
            <p:cNvPr name="Freeform 146" id="146"/>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FFD23B"/>
            </a:solidFill>
          </p:spPr>
          <p:txBody>
            <a:bodyPr/>
            <a:p/>
          </p:txBody>
        </p:sp>
      </p:grpSp>
      <p:grpSp>
        <p:nvGrpSpPr>
          <p:cNvPr name="Group 147" id="147"/>
          <p:cNvGrpSpPr/>
          <p:nvPr/>
        </p:nvGrpSpPr>
        <p:grpSpPr>
          <a:xfrm rot="0">
            <a:off x="6858000" y="4718304"/>
            <a:ext cx="2880360" cy="438912"/>
            <a:chOff x="0" y="0"/>
            <a:chExt cx="3840480" cy="585216"/>
          </a:xfrm>
        </p:grpSpPr>
        <p:sp>
          <p:nvSpPr>
            <p:cNvPr name="Freeform 148" id="148"/>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149" id="149"/>
          <p:cNvGrpSpPr/>
          <p:nvPr/>
        </p:nvGrpSpPr>
        <p:grpSpPr>
          <a:xfrm rot="0">
            <a:off x="6858000" y="4689729"/>
            <a:ext cx="2880360" cy="467487"/>
            <a:chOff x="0" y="0"/>
            <a:chExt cx="3840480" cy="623316"/>
          </a:xfrm>
        </p:grpSpPr>
        <p:sp>
          <p:nvSpPr>
            <p:cNvPr name="Freeform 150" id="150"/>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151" id="151"/>
          <p:cNvGrpSpPr/>
          <p:nvPr/>
        </p:nvGrpSpPr>
        <p:grpSpPr>
          <a:xfrm rot="0">
            <a:off x="6858000" y="4661154"/>
            <a:ext cx="2880360" cy="496062"/>
            <a:chOff x="0" y="0"/>
            <a:chExt cx="3840480" cy="661416"/>
          </a:xfrm>
        </p:grpSpPr>
        <p:sp>
          <p:nvSpPr>
            <p:cNvPr name="Freeform 152" id="152"/>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153" id="153"/>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14313B"/>
                  </a:solidFill>
                  <a:latin typeface="Calibri (MS) Bold"/>
                  <a:ea typeface="Calibri (MS) Bold"/>
                  <a:cs typeface="Calibri (MS) Bold"/>
                  <a:sym typeface="Calibri (MS) Bold"/>
                </a:rPr>
                <a:t>Development Priority</a:t>
              </a:r>
            </a:p>
          </p:txBody>
        </p:sp>
      </p:grpSp>
      <p:grpSp>
        <p:nvGrpSpPr>
          <p:cNvPr name="Group 154" id="154"/>
          <p:cNvGrpSpPr/>
          <p:nvPr/>
        </p:nvGrpSpPr>
        <p:grpSpPr>
          <a:xfrm rot="0">
            <a:off x="9738360" y="4649724"/>
            <a:ext cx="342900" cy="576072"/>
            <a:chOff x="0" y="0"/>
            <a:chExt cx="457200" cy="768096"/>
          </a:xfrm>
        </p:grpSpPr>
        <p:sp>
          <p:nvSpPr>
            <p:cNvPr name="Freeform 155" id="155"/>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txBody>
            <a:bodyPr/>
            <a:p/>
          </p:txBody>
        </p:sp>
      </p:grpSp>
      <p:grpSp>
        <p:nvGrpSpPr>
          <p:cNvPr name="Group 156" id="156"/>
          <p:cNvGrpSpPr/>
          <p:nvPr/>
        </p:nvGrpSpPr>
        <p:grpSpPr>
          <a:xfrm rot="0">
            <a:off x="9738360" y="4614005"/>
            <a:ext cx="342900" cy="611791"/>
            <a:chOff x="0" y="0"/>
            <a:chExt cx="457200" cy="815721"/>
          </a:xfrm>
        </p:grpSpPr>
        <p:sp>
          <p:nvSpPr>
            <p:cNvPr name="Freeform 157" id="157"/>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9075" t="0" r="-179075" b="0"/>
              </a:stretch>
            </a:blipFill>
          </p:spPr>
          <p:txBody>
            <a:bodyPr/>
            <a:p/>
          </p:txBody>
        </p:sp>
      </p:grpSp>
      <p:grpSp>
        <p:nvGrpSpPr>
          <p:cNvPr name="Group 158" id="158"/>
          <p:cNvGrpSpPr/>
          <p:nvPr/>
        </p:nvGrpSpPr>
        <p:grpSpPr>
          <a:xfrm rot="0">
            <a:off x="9738360" y="4578286"/>
            <a:ext cx="342900" cy="647510"/>
            <a:chOff x="0" y="0"/>
            <a:chExt cx="457200" cy="863346"/>
          </a:xfrm>
        </p:grpSpPr>
        <p:sp>
          <p:nvSpPr>
            <p:cNvPr name="Freeform 159" id="159"/>
            <p:cNvSpPr/>
            <p:nvPr/>
          </p:nvSpPr>
          <p:spPr>
            <a:xfrm flipH="false" flipV="false" rot="0">
              <a:off x="0" y="0"/>
              <a:ext cx="457200" cy="863346"/>
            </a:xfrm>
            <a:custGeom>
              <a:avLst/>
              <a:gdLst/>
              <a:ahLst/>
              <a:cxnLst/>
              <a:rect r="r" b="b" t="t" l="l"/>
              <a:pathLst>
                <a:path h="863346" w="457200">
                  <a:moveTo>
                    <a:pt x="0" y="0"/>
                  </a:moveTo>
                  <a:lnTo>
                    <a:pt x="457200" y="0"/>
                  </a:lnTo>
                  <a:lnTo>
                    <a:pt x="457200" y="863346"/>
                  </a:lnTo>
                  <a:lnTo>
                    <a:pt x="0" y="863346"/>
                  </a:lnTo>
                  <a:close/>
                </a:path>
              </a:pathLst>
            </a:custGeom>
            <a:blipFill>
              <a:blip r:embed="rId6">
                <a:alphaModFix amt="0"/>
              </a:blip>
              <a:stretch>
                <a:fillRect l="-192279" t="0" r="-192279" b="0"/>
              </a:stretch>
            </a:blipFill>
          </p:spPr>
          <p:txBody>
            <a:bodyPr/>
            <a:p/>
          </p:txBody>
        </p:sp>
        <p:sp>
          <p:nvSpPr>
            <p:cNvPr name="TextBox 160" id="160"/>
            <p:cNvSpPr txBox="true"/>
            <p:nvPr/>
          </p:nvSpPr>
          <p:spPr>
            <a:xfrm>
              <a:off x="0" y="-47625"/>
              <a:ext cx="457200" cy="910971"/>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161" id="161"/>
          <p:cNvGrpSpPr/>
          <p:nvPr/>
        </p:nvGrpSpPr>
        <p:grpSpPr>
          <a:xfrm rot="0">
            <a:off x="10081260" y="4718304"/>
            <a:ext cx="2880360" cy="438912"/>
            <a:chOff x="0" y="0"/>
            <a:chExt cx="3840480" cy="585216"/>
          </a:xfrm>
        </p:grpSpPr>
        <p:sp>
          <p:nvSpPr>
            <p:cNvPr name="Freeform 162" id="162"/>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39C0D3"/>
            </a:solidFill>
          </p:spPr>
          <p:txBody>
            <a:bodyPr/>
            <a:p/>
          </p:txBody>
        </p:sp>
      </p:grpSp>
      <p:grpSp>
        <p:nvGrpSpPr>
          <p:cNvPr name="Group 163" id="163"/>
          <p:cNvGrpSpPr/>
          <p:nvPr/>
        </p:nvGrpSpPr>
        <p:grpSpPr>
          <a:xfrm rot="0">
            <a:off x="10081260" y="4718304"/>
            <a:ext cx="2880360" cy="438912"/>
            <a:chOff x="0" y="0"/>
            <a:chExt cx="3840480" cy="585216"/>
          </a:xfrm>
        </p:grpSpPr>
        <p:sp>
          <p:nvSpPr>
            <p:cNvPr name="Freeform 164" id="164"/>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165" id="165"/>
          <p:cNvGrpSpPr/>
          <p:nvPr/>
        </p:nvGrpSpPr>
        <p:grpSpPr>
          <a:xfrm rot="0">
            <a:off x="10081260" y="4689729"/>
            <a:ext cx="2880360" cy="467487"/>
            <a:chOff x="0" y="0"/>
            <a:chExt cx="3840480" cy="623316"/>
          </a:xfrm>
        </p:grpSpPr>
        <p:sp>
          <p:nvSpPr>
            <p:cNvPr name="Freeform 166" id="166"/>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167" id="167"/>
          <p:cNvGrpSpPr/>
          <p:nvPr/>
        </p:nvGrpSpPr>
        <p:grpSpPr>
          <a:xfrm rot="0">
            <a:off x="10081260" y="4661154"/>
            <a:ext cx="2880360" cy="496062"/>
            <a:chOff x="0" y="0"/>
            <a:chExt cx="3840480" cy="661416"/>
          </a:xfrm>
        </p:grpSpPr>
        <p:sp>
          <p:nvSpPr>
            <p:cNvPr name="Freeform 168" id="168"/>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169" id="169"/>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Sustainable</a:t>
              </a:r>
            </a:p>
          </p:txBody>
        </p:sp>
      </p:grpSp>
      <p:grpSp>
        <p:nvGrpSpPr>
          <p:cNvPr name="Group 170" id="170"/>
          <p:cNvGrpSpPr/>
          <p:nvPr/>
        </p:nvGrpSpPr>
        <p:grpSpPr>
          <a:xfrm rot="0">
            <a:off x="12961620" y="4649724"/>
            <a:ext cx="342900" cy="576072"/>
            <a:chOff x="0" y="0"/>
            <a:chExt cx="457200" cy="768096"/>
          </a:xfrm>
        </p:grpSpPr>
        <p:sp>
          <p:nvSpPr>
            <p:cNvPr name="Freeform 171" id="171"/>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txBody>
            <a:bodyPr/>
            <a:p/>
          </p:txBody>
        </p:sp>
      </p:grpSp>
      <p:grpSp>
        <p:nvGrpSpPr>
          <p:cNvPr name="Group 172" id="172"/>
          <p:cNvGrpSpPr/>
          <p:nvPr/>
        </p:nvGrpSpPr>
        <p:grpSpPr>
          <a:xfrm rot="0">
            <a:off x="12961620" y="4614005"/>
            <a:ext cx="342900" cy="611791"/>
            <a:chOff x="0" y="0"/>
            <a:chExt cx="457200" cy="815721"/>
          </a:xfrm>
        </p:grpSpPr>
        <p:sp>
          <p:nvSpPr>
            <p:cNvPr name="Freeform 173" id="173"/>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9075" t="0" r="-179075" b="0"/>
              </a:stretch>
            </a:blipFill>
          </p:spPr>
          <p:txBody>
            <a:bodyPr/>
            <a:p/>
          </p:txBody>
        </p:sp>
      </p:grpSp>
      <p:grpSp>
        <p:nvGrpSpPr>
          <p:cNvPr name="Group 174" id="174"/>
          <p:cNvGrpSpPr/>
          <p:nvPr/>
        </p:nvGrpSpPr>
        <p:grpSpPr>
          <a:xfrm rot="0">
            <a:off x="12961620" y="4578286"/>
            <a:ext cx="342900" cy="647510"/>
            <a:chOff x="0" y="0"/>
            <a:chExt cx="457200" cy="863346"/>
          </a:xfrm>
        </p:grpSpPr>
        <p:sp>
          <p:nvSpPr>
            <p:cNvPr name="Freeform 175" id="175"/>
            <p:cNvSpPr/>
            <p:nvPr/>
          </p:nvSpPr>
          <p:spPr>
            <a:xfrm flipH="false" flipV="false" rot="0">
              <a:off x="0" y="0"/>
              <a:ext cx="457200" cy="863346"/>
            </a:xfrm>
            <a:custGeom>
              <a:avLst/>
              <a:gdLst/>
              <a:ahLst/>
              <a:cxnLst/>
              <a:rect r="r" b="b" t="t" l="l"/>
              <a:pathLst>
                <a:path h="863346" w="457200">
                  <a:moveTo>
                    <a:pt x="0" y="0"/>
                  </a:moveTo>
                  <a:lnTo>
                    <a:pt x="457200" y="0"/>
                  </a:lnTo>
                  <a:lnTo>
                    <a:pt x="457200" y="863346"/>
                  </a:lnTo>
                  <a:lnTo>
                    <a:pt x="0" y="863346"/>
                  </a:lnTo>
                  <a:close/>
                </a:path>
              </a:pathLst>
            </a:custGeom>
            <a:blipFill>
              <a:blip r:embed="rId6">
                <a:alphaModFix amt="0"/>
              </a:blip>
              <a:stretch>
                <a:fillRect l="-192279" t="0" r="-192279" b="0"/>
              </a:stretch>
            </a:blipFill>
          </p:spPr>
          <p:txBody>
            <a:bodyPr/>
            <a:p/>
          </p:txBody>
        </p:sp>
        <p:sp>
          <p:nvSpPr>
            <p:cNvPr name="TextBox 176" id="176"/>
            <p:cNvSpPr txBox="true"/>
            <p:nvPr/>
          </p:nvSpPr>
          <p:spPr>
            <a:xfrm>
              <a:off x="0" y="-47625"/>
              <a:ext cx="457200" cy="910971"/>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177" id="177"/>
          <p:cNvGrpSpPr/>
          <p:nvPr/>
        </p:nvGrpSpPr>
        <p:grpSpPr>
          <a:xfrm rot="0">
            <a:off x="13304520" y="4718304"/>
            <a:ext cx="2880360" cy="438912"/>
            <a:chOff x="0" y="0"/>
            <a:chExt cx="3840480" cy="585216"/>
          </a:xfrm>
        </p:grpSpPr>
        <p:sp>
          <p:nvSpPr>
            <p:cNvPr name="Freeform 178" id="178"/>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8A99A1"/>
            </a:solidFill>
          </p:spPr>
          <p:txBody>
            <a:bodyPr/>
            <a:p/>
          </p:txBody>
        </p:sp>
      </p:grpSp>
      <p:grpSp>
        <p:nvGrpSpPr>
          <p:cNvPr name="Group 179" id="179"/>
          <p:cNvGrpSpPr/>
          <p:nvPr/>
        </p:nvGrpSpPr>
        <p:grpSpPr>
          <a:xfrm rot="0">
            <a:off x="13304520" y="4718304"/>
            <a:ext cx="2880360" cy="438912"/>
            <a:chOff x="0" y="0"/>
            <a:chExt cx="3840480" cy="585216"/>
          </a:xfrm>
        </p:grpSpPr>
        <p:sp>
          <p:nvSpPr>
            <p:cNvPr name="Freeform 180" id="180"/>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181" id="181"/>
          <p:cNvGrpSpPr/>
          <p:nvPr/>
        </p:nvGrpSpPr>
        <p:grpSpPr>
          <a:xfrm rot="0">
            <a:off x="13304520" y="4689729"/>
            <a:ext cx="2880360" cy="467487"/>
            <a:chOff x="0" y="0"/>
            <a:chExt cx="3840480" cy="623316"/>
          </a:xfrm>
        </p:grpSpPr>
        <p:sp>
          <p:nvSpPr>
            <p:cNvPr name="Freeform 182" id="182"/>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183" id="183"/>
          <p:cNvGrpSpPr/>
          <p:nvPr/>
        </p:nvGrpSpPr>
        <p:grpSpPr>
          <a:xfrm rot="0">
            <a:off x="13304520" y="4661154"/>
            <a:ext cx="2880360" cy="496062"/>
            <a:chOff x="0" y="0"/>
            <a:chExt cx="3840480" cy="661416"/>
          </a:xfrm>
        </p:grpSpPr>
        <p:sp>
          <p:nvSpPr>
            <p:cNvPr name="Freeform 184" id="184"/>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185" id="185"/>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BAU</a:t>
              </a:r>
            </a:p>
          </p:txBody>
        </p:sp>
      </p:grpSp>
      <p:grpSp>
        <p:nvGrpSpPr>
          <p:cNvPr name="Group 186" id="186"/>
          <p:cNvGrpSpPr/>
          <p:nvPr/>
        </p:nvGrpSpPr>
        <p:grpSpPr>
          <a:xfrm rot="0">
            <a:off x="16390620" y="4732020"/>
            <a:ext cx="891540" cy="411480"/>
            <a:chOff x="0" y="0"/>
            <a:chExt cx="1188720" cy="548640"/>
          </a:xfrm>
        </p:grpSpPr>
        <p:sp>
          <p:nvSpPr>
            <p:cNvPr name="Freeform 187" id="187"/>
            <p:cNvSpPr/>
            <p:nvPr/>
          </p:nvSpPr>
          <p:spPr>
            <a:xfrm flipH="false" flipV="false" rot="0">
              <a:off x="0" y="0"/>
              <a:ext cx="1188720" cy="548640"/>
            </a:xfrm>
            <a:custGeom>
              <a:avLst/>
              <a:gdLst/>
              <a:ahLst/>
              <a:cxnLst/>
              <a:rect r="r" b="b" t="t" l="l"/>
              <a:pathLst>
                <a:path h="548640" w="1188720">
                  <a:moveTo>
                    <a:pt x="0" y="274320"/>
                  </a:moveTo>
                  <a:cubicBezTo>
                    <a:pt x="0" y="122809"/>
                    <a:pt x="122809" y="0"/>
                    <a:pt x="274320" y="0"/>
                  </a:cubicBezTo>
                  <a:lnTo>
                    <a:pt x="914400" y="0"/>
                  </a:lnTo>
                  <a:cubicBezTo>
                    <a:pt x="1065911" y="0"/>
                    <a:pt x="1188720" y="122809"/>
                    <a:pt x="1188720" y="274320"/>
                  </a:cubicBezTo>
                  <a:cubicBezTo>
                    <a:pt x="1188720" y="425831"/>
                    <a:pt x="1065911" y="548640"/>
                    <a:pt x="91440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188" id="188"/>
          <p:cNvGrpSpPr/>
          <p:nvPr/>
        </p:nvGrpSpPr>
        <p:grpSpPr>
          <a:xfrm rot="0">
            <a:off x="16390620" y="4732020"/>
            <a:ext cx="891540" cy="411480"/>
            <a:chOff x="0" y="0"/>
            <a:chExt cx="1188720" cy="548640"/>
          </a:xfrm>
        </p:grpSpPr>
        <p:sp>
          <p:nvSpPr>
            <p:cNvPr name="Freeform 189" id="189"/>
            <p:cNvSpPr/>
            <p:nvPr/>
          </p:nvSpPr>
          <p:spPr>
            <a:xfrm flipH="false" flipV="false" rot="0">
              <a:off x="0" y="0"/>
              <a:ext cx="1188720" cy="548640"/>
            </a:xfrm>
            <a:custGeom>
              <a:avLst/>
              <a:gdLst/>
              <a:ahLst/>
              <a:cxnLst/>
              <a:rect r="r" b="b" t="t" l="l"/>
              <a:pathLst>
                <a:path h="548640" w="1188720">
                  <a:moveTo>
                    <a:pt x="0" y="0"/>
                  </a:moveTo>
                  <a:lnTo>
                    <a:pt x="1188720" y="0"/>
                  </a:lnTo>
                  <a:lnTo>
                    <a:pt x="1188720" y="548640"/>
                  </a:lnTo>
                  <a:lnTo>
                    <a:pt x="0" y="548640"/>
                  </a:lnTo>
                  <a:close/>
                </a:path>
              </a:pathLst>
            </a:custGeom>
            <a:blipFill>
              <a:blip r:embed="rId4">
                <a:alphaModFix amt="0"/>
              </a:blip>
              <a:stretch>
                <a:fillRect l="-9258" t="0" r="-9257" b="0"/>
              </a:stretch>
            </a:blipFill>
          </p:spPr>
          <p:txBody>
            <a:bodyPr/>
            <a:p/>
          </p:txBody>
        </p:sp>
      </p:grpSp>
      <p:grpSp>
        <p:nvGrpSpPr>
          <p:cNvPr name="Group 190" id="190"/>
          <p:cNvGrpSpPr/>
          <p:nvPr/>
        </p:nvGrpSpPr>
        <p:grpSpPr>
          <a:xfrm rot="0">
            <a:off x="16390620" y="4703445"/>
            <a:ext cx="891540" cy="440055"/>
            <a:chOff x="0" y="0"/>
            <a:chExt cx="1188720" cy="586740"/>
          </a:xfrm>
        </p:grpSpPr>
        <p:sp>
          <p:nvSpPr>
            <p:cNvPr name="Freeform 191" id="191"/>
            <p:cNvSpPr/>
            <p:nvPr/>
          </p:nvSpPr>
          <p:spPr>
            <a:xfrm flipH="false" flipV="false" rot="0">
              <a:off x="0" y="0"/>
              <a:ext cx="1188720" cy="586740"/>
            </a:xfrm>
            <a:custGeom>
              <a:avLst/>
              <a:gdLst/>
              <a:ahLst/>
              <a:cxnLst/>
              <a:rect r="r" b="b" t="t" l="l"/>
              <a:pathLst>
                <a:path h="586740" w="1188720">
                  <a:moveTo>
                    <a:pt x="0" y="0"/>
                  </a:moveTo>
                  <a:lnTo>
                    <a:pt x="1188720" y="0"/>
                  </a:lnTo>
                  <a:lnTo>
                    <a:pt x="1188720" y="586740"/>
                  </a:lnTo>
                  <a:lnTo>
                    <a:pt x="0" y="586740"/>
                  </a:lnTo>
                  <a:close/>
                </a:path>
              </a:pathLst>
            </a:custGeom>
            <a:blipFill>
              <a:blip r:embed="rId5">
                <a:alphaModFix amt="0"/>
              </a:blip>
              <a:stretch>
                <a:fillRect l="-13373" t="0" r="-13372" b="0"/>
              </a:stretch>
            </a:blipFill>
          </p:spPr>
          <p:txBody>
            <a:bodyPr/>
            <a:p/>
          </p:txBody>
        </p:sp>
      </p:grpSp>
      <p:grpSp>
        <p:nvGrpSpPr>
          <p:cNvPr name="Group 192" id="192"/>
          <p:cNvGrpSpPr/>
          <p:nvPr/>
        </p:nvGrpSpPr>
        <p:grpSpPr>
          <a:xfrm rot="0">
            <a:off x="16390620" y="4674870"/>
            <a:ext cx="891540" cy="468630"/>
            <a:chOff x="0" y="0"/>
            <a:chExt cx="1188720" cy="624840"/>
          </a:xfrm>
        </p:grpSpPr>
        <p:sp>
          <p:nvSpPr>
            <p:cNvPr name="Freeform 193" id="193"/>
            <p:cNvSpPr/>
            <p:nvPr/>
          </p:nvSpPr>
          <p:spPr>
            <a:xfrm flipH="false" flipV="false" rot="0">
              <a:off x="0" y="0"/>
              <a:ext cx="1188720" cy="624840"/>
            </a:xfrm>
            <a:custGeom>
              <a:avLst/>
              <a:gdLst/>
              <a:ahLst/>
              <a:cxnLst/>
              <a:rect r="r" b="b" t="t" l="l"/>
              <a:pathLst>
                <a:path h="624840" w="1188720">
                  <a:moveTo>
                    <a:pt x="0" y="0"/>
                  </a:moveTo>
                  <a:lnTo>
                    <a:pt x="1188720" y="0"/>
                  </a:lnTo>
                  <a:lnTo>
                    <a:pt x="1188720" y="624840"/>
                  </a:lnTo>
                  <a:lnTo>
                    <a:pt x="0" y="624840"/>
                  </a:lnTo>
                  <a:close/>
                </a:path>
              </a:pathLst>
            </a:custGeom>
            <a:blipFill>
              <a:blip r:embed="rId6">
                <a:alphaModFix amt="0"/>
              </a:blip>
              <a:stretch>
                <a:fillRect l="-17441" t="0" r="-17441" b="0"/>
              </a:stretch>
            </a:blipFill>
          </p:spPr>
          <p:txBody>
            <a:bodyPr/>
            <a:p/>
          </p:txBody>
        </p:sp>
        <p:sp>
          <p:nvSpPr>
            <p:cNvPr name="TextBox 194" id="194"/>
            <p:cNvSpPr txBox="true"/>
            <p:nvPr/>
          </p:nvSpPr>
          <p:spPr>
            <a:xfrm>
              <a:off x="0" y="-38100"/>
              <a:ext cx="1188720" cy="662940"/>
            </a:xfrm>
            <a:prstGeom prst="rect">
              <a:avLst/>
            </a:prstGeom>
          </p:spPr>
          <p:txBody>
            <a:bodyPr anchor="ctr" rtlCol="false" tIns="0" lIns="0" bIns="0" rIns="0"/>
            <a:lstStyle/>
            <a:p>
              <a:pPr algn="ctr">
                <a:lnSpc>
                  <a:spcPts val="1709"/>
                </a:lnSpc>
              </a:pPr>
              <a:r>
                <a:rPr lang="en-US" sz="1425" b="true">
                  <a:solidFill>
                    <a:srgbClr val="FFFFFF"/>
                  </a:solidFill>
                  <a:latin typeface="Calibri (MS) Bold"/>
                  <a:ea typeface="Calibri (MS) Bold"/>
                  <a:cs typeface="Calibri (MS) Bold"/>
                  <a:sym typeface="Calibri (MS) Bold"/>
                </a:rPr>
                <a:t>ROBUST</a:t>
              </a:r>
            </a:p>
          </p:txBody>
        </p:sp>
      </p:grpSp>
      <p:grpSp>
        <p:nvGrpSpPr>
          <p:cNvPr name="Group 195" id="195"/>
          <p:cNvGrpSpPr/>
          <p:nvPr/>
        </p:nvGrpSpPr>
        <p:grpSpPr>
          <a:xfrm rot="0">
            <a:off x="822960" y="5294376"/>
            <a:ext cx="16637508" cy="576072"/>
            <a:chOff x="0" y="0"/>
            <a:chExt cx="22183344" cy="768096"/>
          </a:xfrm>
        </p:grpSpPr>
        <p:sp>
          <p:nvSpPr>
            <p:cNvPr name="Freeform 196" id="196"/>
            <p:cNvSpPr/>
            <p:nvPr/>
          </p:nvSpPr>
          <p:spPr>
            <a:xfrm flipH="false" flipV="false" rot="0">
              <a:off x="0" y="0"/>
              <a:ext cx="22183344" cy="768096"/>
            </a:xfrm>
            <a:custGeom>
              <a:avLst/>
              <a:gdLst/>
              <a:ahLst/>
              <a:cxnLst/>
              <a:rect r="r" b="b" t="t" l="l"/>
              <a:pathLst>
                <a:path h="768096" w="22183344">
                  <a:moveTo>
                    <a:pt x="0" y="182880"/>
                  </a:moveTo>
                  <a:cubicBezTo>
                    <a:pt x="0" y="81915"/>
                    <a:pt x="81915" y="0"/>
                    <a:pt x="182880" y="0"/>
                  </a:cubicBezTo>
                  <a:lnTo>
                    <a:pt x="22000463" y="0"/>
                  </a:lnTo>
                  <a:cubicBezTo>
                    <a:pt x="22101428" y="0"/>
                    <a:pt x="22183344" y="81915"/>
                    <a:pt x="22183344" y="182880"/>
                  </a:cubicBezTo>
                  <a:lnTo>
                    <a:pt x="22183344" y="585216"/>
                  </a:lnTo>
                  <a:cubicBezTo>
                    <a:pt x="22183344" y="686181"/>
                    <a:pt x="22101428" y="768096"/>
                    <a:pt x="22000463" y="768096"/>
                  </a:cubicBezTo>
                  <a:lnTo>
                    <a:pt x="182880" y="768096"/>
                  </a:lnTo>
                  <a:cubicBezTo>
                    <a:pt x="81915" y="768096"/>
                    <a:pt x="0" y="686181"/>
                    <a:pt x="0" y="585216"/>
                  </a:cubicBezTo>
                  <a:close/>
                </a:path>
              </a:pathLst>
            </a:custGeom>
            <a:solidFill>
              <a:srgbClr val="EAF8FA"/>
            </a:solidFill>
          </p:spPr>
          <p:txBody>
            <a:bodyPr/>
            <a:p/>
          </p:txBody>
        </p:sp>
      </p:grpSp>
      <p:grpSp>
        <p:nvGrpSpPr>
          <p:cNvPr name="Group 197" id="197"/>
          <p:cNvGrpSpPr/>
          <p:nvPr/>
        </p:nvGrpSpPr>
        <p:grpSpPr>
          <a:xfrm rot="0">
            <a:off x="1097280" y="5294376"/>
            <a:ext cx="5486400" cy="576072"/>
            <a:chOff x="0" y="0"/>
            <a:chExt cx="7315200" cy="768096"/>
          </a:xfrm>
        </p:grpSpPr>
        <p:sp>
          <p:nvSpPr>
            <p:cNvPr name="Freeform 198" id="198"/>
            <p:cNvSpPr/>
            <p:nvPr/>
          </p:nvSpPr>
          <p:spPr>
            <a:xfrm flipH="false" flipV="false" rot="0">
              <a:off x="0" y="0"/>
              <a:ext cx="7315200" cy="768096"/>
            </a:xfrm>
            <a:custGeom>
              <a:avLst/>
              <a:gdLst/>
              <a:ahLst/>
              <a:cxnLst/>
              <a:rect r="r" b="b" t="t" l="l"/>
              <a:pathLst>
                <a:path h="768096" w="7315200">
                  <a:moveTo>
                    <a:pt x="0" y="0"/>
                  </a:moveTo>
                  <a:lnTo>
                    <a:pt x="7315200" y="0"/>
                  </a:lnTo>
                  <a:lnTo>
                    <a:pt x="7315200" y="768096"/>
                  </a:lnTo>
                  <a:lnTo>
                    <a:pt x="0" y="768096"/>
                  </a:lnTo>
                  <a:close/>
                </a:path>
              </a:pathLst>
            </a:custGeom>
            <a:blipFill>
              <a:blip r:embed="rId4">
                <a:alphaModFix amt="0"/>
              </a:blip>
              <a:stretch>
                <a:fillRect l="0" t="-135443" r="0" b="-135443"/>
              </a:stretch>
            </a:blipFill>
          </p:spPr>
          <p:txBody>
            <a:bodyPr/>
            <a:p/>
          </p:txBody>
        </p:sp>
      </p:grpSp>
      <p:grpSp>
        <p:nvGrpSpPr>
          <p:cNvPr name="Group 199" id="199"/>
          <p:cNvGrpSpPr/>
          <p:nvPr/>
        </p:nvGrpSpPr>
        <p:grpSpPr>
          <a:xfrm rot="0">
            <a:off x="1097280" y="5258657"/>
            <a:ext cx="5486400" cy="611791"/>
            <a:chOff x="0" y="0"/>
            <a:chExt cx="7315200" cy="815721"/>
          </a:xfrm>
        </p:grpSpPr>
        <p:sp>
          <p:nvSpPr>
            <p:cNvPr name="Freeform 200" id="200"/>
            <p:cNvSpPr/>
            <p:nvPr/>
          </p:nvSpPr>
          <p:spPr>
            <a:xfrm flipH="false" flipV="false" rot="0">
              <a:off x="0" y="0"/>
              <a:ext cx="7315200" cy="815721"/>
            </a:xfrm>
            <a:custGeom>
              <a:avLst/>
              <a:gdLst/>
              <a:ahLst/>
              <a:cxnLst/>
              <a:rect r="r" b="b" t="t" l="l"/>
              <a:pathLst>
                <a:path h="815721" w="7315200">
                  <a:moveTo>
                    <a:pt x="0" y="0"/>
                  </a:moveTo>
                  <a:lnTo>
                    <a:pt x="7315200" y="0"/>
                  </a:lnTo>
                  <a:lnTo>
                    <a:pt x="7315200" y="815721"/>
                  </a:lnTo>
                  <a:lnTo>
                    <a:pt x="0" y="815721"/>
                  </a:lnTo>
                  <a:close/>
                </a:path>
              </a:pathLst>
            </a:custGeom>
            <a:blipFill>
              <a:blip r:embed="rId5">
                <a:alphaModFix amt="0"/>
              </a:blip>
              <a:stretch>
                <a:fillRect l="0" t="-124616" r="0" b="-124616"/>
              </a:stretch>
            </a:blipFill>
          </p:spPr>
          <p:txBody>
            <a:bodyPr/>
            <a:p/>
          </p:txBody>
        </p:sp>
      </p:grpSp>
      <p:grpSp>
        <p:nvGrpSpPr>
          <p:cNvPr name="Group 201" id="201"/>
          <p:cNvGrpSpPr/>
          <p:nvPr/>
        </p:nvGrpSpPr>
        <p:grpSpPr>
          <a:xfrm rot="0">
            <a:off x="1097280" y="5222938"/>
            <a:ext cx="5486400" cy="647510"/>
            <a:chOff x="0" y="0"/>
            <a:chExt cx="7315200" cy="863346"/>
          </a:xfrm>
        </p:grpSpPr>
        <p:sp>
          <p:nvSpPr>
            <p:cNvPr name="Freeform 202" id="202"/>
            <p:cNvSpPr/>
            <p:nvPr/>
          </p:nvSpPr>
          <p:spPr>
            <a:xfrm flipH="false" flipV="false" rot="0">
              <a:off x="0" y="0"/>
              <a:ext cx="7315200" cy="863346"/>
            </a:xfrm>
            <a:custGeom>
              <a:avLst/>
              <a:gdLst/>
              <a:ahLst/>
              <a:cxnLst/>
              <a:rect r="r" b="b" t="t" l="l"/>
              <a:pathLst>
                <a:path h="863346" w="7315200">
                  <a:moveTo>
                    <a:pt x="0" y="0"/>
                  </a:moveTo>
                  <a:lnTo>
                    <a:pt x="7315200" y="0"/>
                  </a:lnTo>
                  <a:lnTo>
                    <a:pt x="7315200" y="863346"/>
                  </a:lnTo>
                  <a:lnTo>
                    <a:pt x="0" y="863346"/>
                  </a:lnTo>
                  <a:close/>
                </a:path>
              </a:pathLst>
            </a:custGeom>
            <a:blipFill>
              <a:blip r:embed="rId6">
                <a:alphaModFix amt="0"/>
              </a:blip>
              <a:stretch>
                <a:fillRect l="0" t="-115098" r="0" b="-115098"/>
              </a:stretch>
            </a:blipFill>
          </p:spPr>
          <p:txBody>
            <a:bodyPr/>
            <a:p/>
          </p:txBody>
        </p:sp>
        <p:sp>
          <p:nvSpPr>
            <p:cNvPr name="TextBox 203" id="203"/>
            <p:cNvSpPr txBox="true"/>
            <p:nvPr/>
          </p:nvSpPr>
          <p:spPr>
            <a:xfrm>
              <a:off x="0" y="-47625"/>
              <a:ext cx="7315200" cy="910971"/>
            </a:xfrm>
            <a:prstGeom prst="rect">
              <a:avLst/>
            </a:prstGeom>
          </p:spPr>
          <p:txBody>
            <a:bodyPr anchor="ctr" rtlCol="false" tIns="0" lIns="0" bIns="0" rIns="0"/>
            <a:lstStyle/>
            <a:p>
              <a:pPr algn="l">
                <a:lnSpc>
                  <a:spcPts val="2340"/>
                </a:lnSpc>
              </a:pPr>
              <a:r>
                <a:rPr lang="en-US" sz="1950" b="true">
                  <a:solidFill>
                    <a:srgbClr val="0B5E6E"/>
                  </a:solidFill>
                  <a:latin typeface="Calibri (MS) Bold"/>
                  <a:ea typeface="Calibri (MS) Bold"/>
                  <a:cs typeface="Calibri (MS) Bold"/>
                  <a:sym typeface="Calibri (MS) Bold"/>
                </a:rPr>
                <a:t>Daya tarik destinasi</a:t>
              </a:r>
            </a:p>
          </p:txBody>
        </p:sp>
      </p:grpSp>
      <p:grpSp>
        <p:nvGrpSpPr>
          <p:cNvPr name="Group 204" id="204"/>
          <p:cNvGrpSpPr/>
          <p:nvPr/>
        </p:nvGrpSpPr>
        <p:grpSpPr>
          <a:xfrm rot="0">
            <a:off x="6858000" y="5362956"/>
            <a:ext cx="2880360" cy="438912"/>
            <a:chOff x="0" y="0"/>
            <a:chExt cx="3840480" cy="585216"/>
          </a:xfrm>
        </p:grpSpPr>
        <p:sp>
          <p:nvSpPr>
            <p:cNvPr name="Freeform 205" id="205"/>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FFD23B"/>
            </a:solidFill>
          </p:spPr>
          <p:txBody>
            <a:bodyPr/>
            <a:p/>
          </p:txBody>
        </p:sp>
      </p:grpSp>
      <p:grpSp>
        <p:nvGrpSpPr>
          <p:cNvPr name="Group 206" id="206"/>
          <p:cNvGrpSpPr/>
          <p:nvPr/>
        </p:nvGrpSpPr>
        <p:grpSpPr>
          <a:xfrm rot="0">
            <a:off x="6858000" y="5362956"/>
            <a:ext cx="2880360" cy="438912"/>
            <a:chOff x="0" y="0"/>
            <a:chExt cx="3840480" cy="585216"/>
          </a:xfrm>
        </p:grpSpPr>
        <p:sp>
          <p:nvSpPr>
            <p:cNvPr name="Freeform 207" id="207"/>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208" id="208"/>
          <p:cNvGrpSpPr/>
          <p:nvPr/>
        </p:nvGrpSpPr>
        <p:grpSpPr>
          <a:xfrm rot="0">
            <a:off x="6858000" y="5334381"/>
            <a:ext cx="2880360" cy="467487"/>
            <a:chOff x="0" y="0"/>
            <a:chExt cx="3840480" cy="623316"/>
          </a:xfrm>
        </p:grpSpPr>
        <p:sp>
          <p:nvSpPr>
            <p:cNvPr name="Freeform 209" id="209"/>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210" id="210"/>
          <p:cNvGrpSpPr/>
          <p:nvPr/>
        </p:nvGrpSpPr>
        <p:grpSpPr>
          <a:xfrm rot="0">
            <a:off x="6858000" y="5305806"/>
            <a:ext cx="2880360" cy="496062"/>
            <a:chOff x="0" y="0"/>
            <a:chExt cx="3840480" cy="661416"/>
          </a:xfrm>
        </p:grpSpPr>
        <p:sp>
          <p:nvSpPr>
            <p:cNvPr name="Freeform 211" id="211"/>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212" id="212"/>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14313B"/>
                  </a:solidFill>
                  <a:latin typeface="Calibri (MS) Bold"/>
                  <a:ea typeface="Calibri (MS) Bold"/>
                  <a:cs typeface="Calibri (MS) Bold"/>
                  <a:sym typeface="Calibri (MS) Bold"/>
                </a:rPr>
                <a:t>Development Priority</a:t>
              </a:r>
            </a:p>
          </p:txBody>
        </p:sp>
      </p:grpSp>
      <p:grpSp>
        <p:nvGrpSpPr>
          <p:cNvPr name="Group 213" id="213"/>
          <p:cNvGrpSpPr/>
          <p:nvPr/>
        </p:nvGrpSpPr>
        <p:grpSpPr>
          <a:xfrm rot="0">
            <a:off x="9738360" y="5294376"/>
            <a:ext cx="342900" cy="576072"/>
            <a:chOff x="0" y="0"/>
            <a:chExt cx="457200" cy="768096"/>
          </a:xfrm>
        </p:grpSpPr>
        <p:sp>
          <p:nvSpPr>
            <p:cNvPr name="Freeform 214" id="214"/>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txBody>
            <a:bodyPr/>
            <a:p/>
          </p:txBody>
        </p:sp>
      </p:grpSp>
      <p:grpSp>
        <p:nvGrpSpPr>
          <p:cNvPr name="Group 215" id="215"/>
          <p:cNvGrpSpPr/>
          <p:nvPr/>
        </p:nvGrpSpPr>
        <p:grpSpPr>
          <a:xfrm rot="0">
            <a:off x="9738360" y="5258657"/>
            <a:ext cx="342900" cy="611791"/>
            <a:chOff x="0" y="0"/>
            <a:chExt cx="457200" cy="815721"/>
          </a:xfrm>
        </p:grpSpPr>
        <p:sp>
          <p:nvSpPr>
            <p:cNvPr name="Freeform 216" id="216"/>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9075" t="0" r="-179075" b="0"/>
              </a:stretch>
            </a:blipFill>
          </p:spPr>
          <p:txBody>
            <a:bodyPr/>
            <a:p/>
          </p:txBody>
        </p:sp>
      </p:grpSp>
      <p:grpSp>
        <p:nvGrpSpPr>
          <p:cNvPr name="Group 217" id="217"/>
          <p:cNvGrpSpPr/>
          <p:nvPr/>
        </p:nvGrpSpPr>
        <p:grpSpPr>
          <a:xfrm rot="0">
            <a:off x="9738360" y="5222938"/>
            <a:ext cx="342900" cy="647510"/>
            <a:chOff x="0" y="0"/>
            <a:chExt cx="457200" cy="863346"/>
          </a:xfrm>
        </p:grpSpPr>
        <p:sp>
          <p:nvSpPr>
            <p:cNvPr name="Freeform 218" id="218"/>
            <p:cNvSpPr/>
            <p:nvPr/>
          </p:nvSpPr>
          <p:spPr>
            <a:xfrm flipH="false" flipV="false" rot="0">
              <a:off x="0" y="0"/>
              <a:ext cx="457200" cy="863346"/>
            </a:xfrm>
            <a:custGeom>
              <a:avLst/>
              <a:gdLst/>
              <a:ahLst/>
              <a:cxnLst/>
              <a:rect r="r" b="b" t="t" l="l"/>
              <a:pathLst>
                <a:path h="863346" w="457200">
                  <a:moveTo>
                    <a:pt x="0" y="0"/>
                  </a:moveTo>
                  <a:lnTo>
                    <a:pt x="457200" y="0"/>
                  </a:lnTo>
                  <a:lnTo>
                    <a:pt x="457200" y="863346"/>
                  </a:lnTo>
                  <a:lnTo>
                    <a:pt x="0" y="863346"/>
                  </a:lnTo>
                  <a:close/>
                </a:path>
              </a:pathLst>
            </a:custGeom>
            <a:blipFill>
              <a:blip r:embed="rId6">
                <a:alphaModFix amt="0"/>
              </a:blip>
              <a:stretch>
                <a:fillRect l="-192279" t="0" r="-192279" b="0"/>
              </a:stretch>
            </a:blipFill>
          </p:spPr>
          <p:txBody>
            <a:bodyPr/>
            <a:p/>
          </p:txBody>
        </p:sp>
        <p:sp>
          <p:nvSpPr>
            <p:cNvPr name="TextBox 219" id="219"/>
            <p:cNvSpPr txBox="true"/>
            <p:nvPr/>
          </p:nvSpPr>
          <p:spPr>
            <a:xfrm>
              <a:off x="0" y="-47625"/>
              <a:ext cx="457200" cy="910971"/>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220" id="220"/>
          <p:cNvGrpSpPr/>
          <p:nvPr/>
        </p:nvGrpSpPr>
        <p:grpSpPr>
          <a:xfrm rot="0">
            <a:off x="10081260" y="5362956"/>
            <a:ext cx="2880360" cy="438912"/>
            <a:chOff x="0" y="0"/>
            <a:chExt cx="3840480" cy="585216"/>
          </a:xfrm>
        </p:grpSpPr>
        <p:sp>
          <p:nvSpPr>
            <p:cNvPr name="Freeform 221" id="221"/>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39C0D3"/>
            </a:solidFill>
          </p:spPr>
          <p:txBody>
            <a:bodyPr/>
            <a:p/>
          </p:txBody>
        </p:sp>
      </p:grpSp>
      <p:grpSp>
        <p:nvGrpSpPr>
          <p:cNvPr name="Group 222" id="222"/>
          <p:cNvGrpSpPr/>
          <p:nvPr/>
        </p:nvGrpSpPr>
        <p:grpSpPr>
          <a:xfrm rot="0">
            <a:off x="10081260" y="5362956"/>
            <a:ext cx="2880360" cy="438912"/>
            <a:chOff x="0" y="0"/>
            <a:chExt cx="3840480" cy="585216"/>
          </a:xfrm>
        </p:grpSpPr>
        <p:sp>
          <p:nvSpPr>
            <p:cNvPr name="Freeform 223" id="223"/>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224" id="224"/>
          <p:cNvGrpSpPr/>
          <p:nvPr/>
        </p:nvGrpSpPr>
        <p:grpSpPr>
          <a:xfrm rot="0">
            <a:off x="10081260" y="5334381"/>
            <a:ext cx="2880360" cy="467487"/>
            <a:chOff x="0" y="0"/>
            <a:chExt cx="3840480" cy="623316"/>
          </a:xfrm>
        </p:grpSpPr>
        <p:sp>
          <p:nvSpPr>
            <p:cNvPr name="Freeform 225" id="225"/>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226" id="226"/>
          <p:cNvGrpSpPr/>
          <p:nvPr/>
        </p:nvGrpSpPr>
        <p:grpSpPr>
          <a:xfrm rot="0">
            <a:off x="10081260" y="5305806"/>
            <a:ext cx="2880360" cy="496062"/>
            <a:chOff x="0" y="0"/>
            <a:chExt cx="3840480" cy="661416"/>
          </a:xfrm>
        </p:grpSpPr>
        <p:sp>
          <p:nvSpPr>
            <p:cNvPr name="Freeform 227" id="227"/>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228" id="228"/>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Sustainable</a:t>
              </a:r>
            </a:p>
          </p:txBody>
        </p:sp>
      </p:grpSp>
      <p:grpSp>
        <p:nvGrpSpPr>
          <p:cNvPr name="Group 229" id="229"/>
          <p:cNvGrpSpPr/>
          <p:nvPr/>
        </p:nvGrpSpPr>
        <p:grpSpPr>
          <a:xfrm rot="0">
            <a:off x="12961620" y="5294376"/>
            <a:ext cx="342900" cy="576072"/>
            <a:chOff x="0" y="0"/>
            <a:chExt cx="457200" cy="768096"/>
          </a:xfrm>
        </p:grpSpPr>
        <p:sp>
          <p:nvSpPr>
            <p:cNvPr name="Freeform 230" id="230"/>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txBody>
            <a:bodyPr/>
            <a:p/>
          </p:txBody>
        </p:sp>
      </p:grpSp>
      <p:grpSp>
        <p:nvGrpSpPr>
          <p:cNvPr name="Group 231" id="231"/>
          <p:cNvGrpSpPr/>
          <p:nvPr/>
        </p:nvGrpSpPr>
        <p:grpSpPr>
          <a:xfrm rot="0">
            <a:off x="12961620" y="5258657"/>
            <a:ext cx="342900" cy="611791"/>
            <a:chOff x="0" y="0"/>
            <a:chExt cx="457200" cy="815721"/>
          </a:xfrm>
        </p:grpSpPr>
        <p:sp>
          <p:nvSpPr>
            <p:cNvPr name="Freeform 232" id="232"/>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9075" t="0" r="-179075" b="0"/>
              </a:stretch>
            </a:blipFill>
          </p:spPr>
          <p:txBody>
            <a:bodyPr/>
            <a:p/>
          </p:txBody>
        </p:sp>
      </p:grpSp>
      <p:grpSp>
        <p:nvGrpSpPr>
          <p:cNvPr name="Group 233" id="233"/>
          <p:cNvGrpSpPr/>
          <p:nvPr/>
        </p:nvGrpSpPr>
        <p:grpSpPr>
          <a:xfrm rot="0">
            <a:off x="12961620" y="5222938"/>
            <a:ext cx="342900" cy="647510"/>
            <a:chOff x="0" y="0"/>
            <a:chExt cx="457200" cy="863346"/>
          </a:xfrm>
        </p:grpSpPr>
        <p:sp>
          <p:nvSpPr>
            <p:cNvPr name="Freeform 234" id="234"/>
            <p:cNvSpPr/>
            <p:nvPr/>
          </p:nvSpPr>
          <p:spPr>
            <a:xfrm flipH="false" flipV="false" rot="0">
              <a:off x="0" y="0"/>
              <a:ext cx="457200" cy="863346"/>
            </a:xfrm>
            <a:custGeom>
              <a:avLst/>
              <a:gdLst/>
              <a:ahLst/>
              <a:cxnLst/>
              <a:rect r="r" b="b" t="t" l="l"/>
              <a:pathLst>
                <a:path h="863346" w="457200">
                  <a:moveTo>
                    <a:pt x="0" y="0"/>
                  </a:moveTo>
                  <a:lnTo>
                    <a:pt x="457200" y="0"/>
                  </a:lnTo>
                  <a:lnTo>
                    <a:pt x="457200" y="863346"/>
                  </a:lnTo>
                  <a:lnTo>
                    <a:pt x="0" y="863346"/>
                  </a:lnTo>
                  <a:close/>
                </a:path>
              </a:pathLst>
            </a:custGeom>
            <a:blipFill>
              <a:blip r:embed="rId6">
                <a:alphaModFix amt="0"/>
              </a:blip>
              <a:stretch>
                <a:fillRect l="-192279" t="0" r="-192279" b="0"/>
              </a:stretch>
            </a:blipFill>
          </p:spPr>
          <p:txBody>
            <a:bodyPr/>
            <a:p/>
          </p:txBody>
        </p:sp>
        <p:sp>
          <p:nvSpPr>
            <p:cNvPr name="TextBox 235" id="235"/>
            <p:cNvSpPr txBox="true"/>
            <p:nvPr/>
          </p:nvSpPr>
          <p:spPr>
            <a:xfrm>
              <a:off x="0" y="-47625"/>
              <a:ext cx="457200" cy="910971"/>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236" id="236"/>
          <p:cNvGrpSpPr/>
          <p:nvPr/>
        </p:nvGrpSpPr>
        <p:grpSpPr>
          <a:xfrm rot="0">
            <a:off x="13304520" y="5362956"/>
            <a:ext cx="2880360" cy="438912"/>
            <a:chOff x="0" y="0"/>
            <a:chExt cx="3840480" cy="585216"/>
          </a:xfrm>
        </p:grpSpPr>
        <p:sp>
          <p:nvSpPr>
            <p:cNvPr name="Freeform 237" id="237"/>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8A99A1"/>
            </a:solidFill>
          </p:spPr>
          <p:txBody>
            <a:bodyPr/>
            <a:p/>
          </p:txBody>
        </p:sp>
      </p:grpSp>
      <p:grpSp>
        <p:nvGrpSpPr>
          <p:cNvPr name="Group 238" id="238"/>
          <p:cNvGrpSpPr/>
          <p:nvPr/>
        </p:nvGrpSpPr>
        <p:grpSpPr>
          <a:xfrm rot="0">
            <a:off x="13304520" y="5362956"/>
            <a:ext cx="2880360" cy="438912"/>
            <a:chOff x="0" y="0"/>
            <a:chExt cx="3840480" cy="585216"/>
          </a:xfrm>
        </p:grpSpPr>
        <p:sp>
          <p:nvSpPr>
            <p:cNvPr name="Freeform 239" id="239"/>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240" id="240"/>
          <p:cNvGrpSpPr/>
          <p:nvPr/>
        </p:nvGrpSpPr>
        <p:grpSpPr>
          <a:xfrm rot="0">
            <a:off x="13304520" y="5334381"/>
            <a:ext cx="2880360" cy="467487"/>
            <a:chOff x="0" y="0"/>
            <a:chExt cx="3840480" cy="623316"/>
          </a:xfrm>
        </p:grpSpPr>
        <p:sp>
          <p:nvSpPr>
            <p:cNvPr name="Freeform 241" id="241"/>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242" id="242"/>
          <p:cNvGrpSpPr/>
          <p:nvPr/>
        </p:nvGrpSpPr>
        <p:grpSpPr>
          <a:xfrm rot="0">
            <a:off x="13304520" y="5305806"/>
            <a:ext cx="2880360" cy="496062"/>
            <a:chOff x="0" y="0"/>
            <a:chExt cx="3840480" cy="661416"/>
          </a:xfrm>
        </p:grpSpPr>
        <p:sp>
          <p:nvSpPr>
            <p:cNvPr name="Freeform 243" id="243"/>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244" id="244"/>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BAU</a:t>
              </a:r>
            </a:p>
          </p:txBody>
        </p:sp>
      </p:grpSp>
      <p:grpSp>
        <p:nvGrpSpPr>
          <p:cNvPr name="Group 245" id="245"/>
          <p:cNvGrpSpPr/>
          <p:nvPr/>
        </p:nvGrpSpPr>
        <p:grpSpPr>
          <a:xfrm rot="0">
            <a:off x="16390620" y="5376672"/>
            <a:ext cx="891540" cy="411480"/>
            <a:chOff x="0" y="0"/>
            <a:chExt cx="1188720" cy="548640"/>
          </a:xfrm>
        </p:grpSpPr>
        <p:sp>
          <p:nvSpPr>
            <p:cNvPr name="Freeform 246" id="246"/>
            <p:cNvSpPr/>
            <p:nvPr/>
          </p:nvSpPr>
          <p:spPr>
            <a:xfrm flipH="false" flipV="false" rot="0">
              <a:off x="0" y="0"/>
              <a:ext cx="1188720" cy="548640"/>
            </a:xfrm>
            <a:custGeom>
              <a:avLst/>
              <a:gdLst/>
              <a:ahLst/>
              <a:cxnLst/>
              <a:rect r="r" b="b" t="t" l="l"/>
              <a:pathLst>
                <a:path h="548640" w="1188720">
                  <a:moveTo>
                    <a:pt x="0" y="274320"/>
                  </a:moveTo>
                  <a:cubicBezTo>
                    <a:pt x="0" y="122809"/>
                    <a:pt x="122809" y="0"/>
                    <a:pt x="274320" y="0"/>
                  </a:cubicBezTo>
                  <a:lnTo>
                    <a:pt x="914400" y="0"/>
                  </a:lnTo>
                  <a:cubicBezTo>
                    <a:pt x="1065911" y="0"/>
                    <a:pt x="1188720" y="122809"/>
                    <a:pt x="1188720" y="274320"/>
                  </a:cubicBezTo>
                  <a:cubicBezTo>
                    <a:pt x="1188720" y="425831"/>
                    <a:pt x="1065911" y="548640"/>
                    <a:pt x="91440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247" id="247"/>
          <p:cNvGrpSpPr/>
          <p:nvPr/>
        </p:nvGrpSpPr>
        <p:grpSpPr>
          <a:xfrm rot="0">
            <a:off x="16390620" y="5376672"/>
            <a:ext cx="891540" cy="411480"/>
            <a:chOff x="0" y="0"/>
            <a:chExt cx="1188720" cy="548640"/>
          </a:xfrm>
        </p:grpSpPr>
        <p:sp>
          <p:nvSpPr>
            <p:cNvPr name="Freeform 248" id="248"/>
            <p:cNvSpPr/>
            <p:nvPr/>
          </p:nvSpPr>
          <p:spPr>
            <a:xfrm flipH="false" flipV="false" rot="0">
              <a:off x="0" y="0"/>
              <a:ext cx="1188720" cy="548640"/>
            </a:xfrm>
            <a:custGeom>
              <a:avLst/>
              <a:gdLst/>
              <a:ahLst/>
              <a:cxnLst/>
              <a:rect r="r" b="b" t="t" l="l"/>
              <a:pathLst>
                <a:path h="548640" w="1188720">
                  <a:moveTo>
                    <a:pt x="0" y="0"/>
                  </a:moveTo>
                  <a:lnTo>
                    <a:pt x="1188720" y="0"/>
                  </a:lnTo>
                  <a:lnTo>
                    <a:pt x="1188720" y="548640"/>
                  </a:lnTo>
                  <a:lnTo>
                    <a:pt x="0" y="548640"/>
                  </a:lnTo>
                  <a:close/>
                </a:path>
              </a:pathLst>
            </a:custGeom>
            <a:blipFill>
              <a:blip r:embed="rId4">
                <a:alphaModFix amt="0"/>
              </a:blip>
              <a:stretch>
                <a:fillRect l="-9258" t="0" r="-9257" b="0"/>
              </a:stretch>
            </a:blipFill>
          </p:spPr>
          <p:txBody>
            <a:bodyPr/>
            <a:p/>
          </p:txBody>
        </p:sp>
      </p:grpSp>
      <p:grpSp>
        <p:nvGrpSpPr>
          <p:cNvPr name="Group 249" id="249"/>
          <p:cNvGrpSpPr/>
          <p:nvPr/>
        </p:nvGrpSpPr>
        <p:grpSpPr>
          <a:xfrm rot="0">
            <a:off x="16390620" y="5348097"/>
            <a:ext cx="891540" cy="440055"/>
            <a:chOff x="0" y="0"/>
            <a:chExt cx="1188720" cy="586740"/>
          </a:xfrm>
        </p:grpSpPr>
        <p:sp>
          <p:nvSpPr>
            <p:cNvPr name="Freeform 250" id="250"/>
            <p:cNvSpPr/>
            <p:nvPr/>
          </p:nvSpPr>
          <p:spPr>
            <a:xfrm flipH="false" flipV="false" rot="0">
              <a:off x="0" y="0"/>
              <a:ext cx="1188720" cy="586740"/>
            </a:xfrm>
            <a:custGeom>
              <a:avLst/>
              <a:gdLst/>
              <a:ahLst/>
              <a:cxnLst/>
              <a:rect r="r" b="b" t="t" l="l"/>
              <a:pathLst>
                <a:path h="586740" w="1188720">
                  <a:moveTo>
                    <a:pt x="0" y="0"/>
                  </a:moveTo>
                  <a:lnTo>
                    <a:pt x="1188720" y="0"/>
                  </a:lnTo>
                  <a:lnTo>
                    <a:pt x="1188720" y="586740"/>
                  </a:lnTo>
                  <a:lnTo>
                    <a:pt x="0" y="586740"/>
                  </a:lnTo>
                  <a:close/>
                </a:path>
              </a:pathLst>
            </a:custGeom>
            <a:blipFill>
              <a:blip r:embed="rId5">
                <a:alphaModFix amt="0"/>
              </a:blip>
              <a:stretch>
                <a:fillRect l="-13373" t="0" r="-13372" b="0"/>
              </a:stretch>
            </a:blipFill>
          </p:spPr>
          <p:txBody>
            <a:bodyPr/>
            <a:p/>
          </p:txBody>
        </p:sp>
      </p:grpSp>
      <p:grpSp>
        <p:nvGrpSpPr>
          <p:cNvPr name="Group 251" id="251"/>
          <p:cNvGrpSpPr/>
          <p:nvPr/>
        </p:nvGrpSpPr>
        <p:grpSpPr>
          <a:xfrm rot="0">
            <a:off x="16390620" y="5319522"/>
            <a:ext cx="891540" cy="468630"/>
            <a:chOff x="0" y="0"/>
            <a:chExt cx="1188720" cy="624840"/>
          </a:xfrm>
        </p:grpSpPr>
        <p:sp>
          <p:nvSpPr>
            <p:cNvPr name="Freeform 252" id="252"/>
            <p:cNvSpPr/>
            <p:nvPr/>
          </p:nvSpPr>
          <p:spPr>
            <a:xfrm flipH="false" flipV="false" rot="0">
              <a:off x="0" y="0"/>
              <a:ext cx="1188720" cy="624840"/>
            </a:xfrm>
            <a:custGeom>
              <a:avLst/>
              <a:gdLst/>
              <a:ahLst/>
              <a:cxnLst/>
              <a:rect r="r" b="b" t="t" l="l"/>
              <a:pathLst>
                <a:path h="624840" w="1188720">
                  <a:moveTo>
                    <a:pt x="0" y="0"/>
                  </a:moveTo>
                  <a:lnTo>
                    <a:pt x="1188720" y="0"/>
                  </a:lnTo>
                  <a:lnTo>
                    <a:pt x="1188720" y="624840"/>
                  </a:lnTo>
                  <a:lnTo>
                    <a:pt x="0" y="624840"/>
                  </a:lnTo>
                  <a:close/>
                </a:path>
              </a:pathLst>
            </a:custGeom>
            <a:blipFill>
              <a:blip r:embed="rId6">
                <a:alphaModFix amt="0"/>
              </a:blip>
              <a:stretch>
                <a:fillRect l="-17441" t="0" r="-17441" b="0"/>
              </a:stretch>
            </a:blipFill>
          </p:spPr>
          <p:txBody>
            <a:bodyPr/>
            <a:p/>
          </p:txBody>
        </p:sp>
        <p:sp>
          <p:nvSpPr>
            <p:cNvPr name="TextBox 253" id="253"/>
            <p:cNvSpPr txBox="true"/>
            <p:nvPr/>
          </p:nvSpPr>
          <p:spPr>
            <a:xfrm>
              <a:off x="0" y="-38100"/>
              <a:ext cx="1188720" cy="662940"/>
            </a:xfrm>
            <a:prstGeom prst="rect">
              <a:avLst/>
            </a:prstGeom>
          </p:spPr>
          <p:txBody>
            <a:bodyPr anchor="ctr" rtlCol="false" tIns="0" lIns="0" bIns="0" rIns="0"/>
            <a:lstStyle/>
            <a:p>
              <a:pPr algn="ctr">
                <a:lnSpc>
                  <a:spcPts val="1709"/>
                </a:lnSpc>
              </a:pPr>
              <a:r>
                <a:rPr lang="en-US" sz="1425" b="true">
                  <a:solidFill>
                    <a:srgbClr val="FFFFFF"/>
                  </a:solidFill>
                  <a:latin typeface="Calibri (MS) Bold"/>
                  <a:ea typeface="Calibri (MS) Bold"/>
                  <a:cs typeface="Calibri (MS) Bold"/>
                  <a:sym typeface="Calibri (MS) Bold"/>
                </a:rPr>
                <a:t>ROBUST</a:t>
              </a:r>
            </a:p>
          </p:txBody>
        </p:sp>
      </p:grpSp>
      <p:grpSp>
        <p:nvGrpSpPr>
          <p:cNvPr name="Group 254" id="254"/>
          <p:cNvGrpSpPr/>
          <p:nvPr/>
        </p:nvGrpSpPr>
        <p:grpSpPr>
          <a:xfrm rot="0">
            <a:off x="822960" y="5939028"/>
            <a:ext cx="16637508" cy="576072"/>
            <a:chOff x="0" y="0"/>
            <a:chExt cx="22183344" cy="768096"/>
          </a:xfrm>
        </p:grpSpPr>
        <p:sp>
          <p:nvSpPr>
            <p:cNvPr name="Freeform 255" id="255"/>
            <p:cNvSpPr/>
            <p:nvPr/>
          </p:nvSpPr>
          <p:spPr>
            <a:xfrm flipH="false" flipV="false" rot="0">
              <a:off x="0" y="0"/>
              <a:ext cx="22183344" cy="768096"/>
            </a:xfrm>
            <a:custGeom>
              <a:avLst/>
              <a:gdLst/>
              <a:ahLst/>
              <a:cxnLst/>
              <a:rect r="r" b="b" t="t" l="l"/>
              <a:pathLst>
                <a:path h="768096" w="22183344">
                  <a:moveTo>
                    <a:pt x="0" y="182880"/>
                  </a:moveTo>
                  <a:cubicBezTo>
                    <a:pt x="0" y="81915"/>
                    <a:pt x="81915" y="0"/>
                    <a:pt x="182880" y="0"/>
                  </a:cubicBezTo>
                  <a:lnTo>
                    <a:pt x="22000463" y="0"/>
                  </a:lnTo>
                  <a:cubicBezTo>
                    <a:pt x="22101428" y="0"/>
                    <a:pt x="22183344" y="81915"/>
                    <a:pt x="22183344" y="182880"/>
                  </a:cubicBezTo>
                  <a:lnTo>
                    <a:pt x="22183344" y="585216"/>
                  </a:lnTo>
                  <a:cubicBezTo>
                    <a:pt x="22183344" y="686181"/>
                    <a:pt x="22101428" y="768096"/>
                    <a:pt x="22000463" y="768096"/>
                  </a:cubicBezTo>
                  <a:lnTo>
                    <a:pt x="182880" y="768096"/>
                  </a:lnTo>
                  <a:cubicBezTo>
                    <a:pt x="81915" y="768096"/>
                    <a:pt x="0" y="686181"/>
                    <a:pt x="0" y="585216"/>
                  </a:cubicBezTo>
                  <a:close/>
                </a:path>
              </a:pathLst>
            </a:custGeom>
            <a:solidFill>
              <a:srgbClr val="FFFFFF"/>
            </a:solidFill>
          </p:spPr>
          <p:txBody>
            <a:bodyPr/>
            <a:p/>
          </p:txBody>
        </p:sp>
      </p:grpSp>
      <p:grpSp>
        <p:nvGrpSpPr>
          <p:cNvPr name="Group 256" id="256"/>
          <p:cNvGrpSpPr/>
          <p:nvPr/>
        </p:nvGrpSpPr>
        <p:grpSpPr>
          <a:xfrm rot="0">
            <a:off x="1097280" y="5939028"/>
            <a:ext cx="5486400" cy="576072"/>
            <a:chOff x="0" y="0"/>
            <a:chExt cx="7315200" cy="768096"/>
          </a:xfrm>
        </p:grpSpPr>
        <p:sp>
          <p:nvSpPr>
            <p:cNvPr name="Freeform 257" id="257"/>
            <p:cNvSpPr/>
            <p:nvPr/>
          </p:nvSpPr>
          <p:spPr>
            <a:xfrm flipH="false" flipV="false" rot="0">
              <a:off x="0" y="0"/>
              <a:ext cx="7315200" cy="768096"/>
            </a:xfrm>
            <a:custGeom>
              <a:avLst/>
              <a:gdLst/>
              <a:ahLst/>
              <a:cxnLst/>
              <a:rect r="r" b="b" t="t" l="l"/>
              <a:pathLst>
                <a:path h="768096" w="7315200">
                  <a:moveTo>
                    <a:pt x="0" y="0"/>
                  </a:moveTo>
                  <a:lnTo>
                    <a:pt x="7315200" y="0"/>
                  </a:lnTo>
                  <a:lnTo>
                    <a:pt x="7315200" y="768096"/>
                  </a:lnTo>
                  <a:lnTo>
                    <a:pt x="0" y="768096"/>
                  </a:lnTo>
                  <a:close/>
                </a:path>
              </a:pathLst>
            </a:custGeom>
            <a:blipFill>
              <a:blip r:embed="rId4">
                <a:alphaModFix amt="0"/>
              </a:blip>
              <a:stretch>
                <a:fillRect l="0" t="-135443" r="0" b="-135443"/>
              </a:stretch>
            </a:blipFill>
          </p:spPr>
          <p:txBody>
            <a:bodyPr/>
            <a:p/>
          </p:txBody>
        </p:sp>
      </p:grpSp>
      <p:grpSp>
        <p:nvGrpSpPr>
          <p:cNvPr name="Group 258" id="258"/>
          <p:cNvGrpSpPr/>
          <p:nvPr/>
        </p:nvGrpSpPr>
        <p:grpSpPr>
          <a:xfrm rot="0">
            <a:off x="1097280" y="5903309"/>
            <a:ext cx="5486400" cy="611791"/>
            <a:chOff x="0" y="0"/>
            <a:chExt cx="7315200" cy="815721"/>
          </a:xfrm>
        </p:grpSpPr>
        <p:sp>
          <p:nvSpPr>
            <p:cNvPr name="Freeform 259" id="259"/>
            <p:cNvSpPr/>
            <p:nvPr/>
          </p:nvSpPr>
          <p:spPr>
            <a:xfrm flipH="false" flipV="false" rot="0">
              <a:off x="0" y="0"/>
              <a:ext cx="7315200" cy="815721"/>
            </a:xfrm>
            <a:custGeom>
              <a:avLst/>
              <a:gdLst/>
              <a:ahLst/>
              <a:cxnLst/>
              <a:rect r="r" b="b" t="t" l="l"/>
              <a:pathLst>
                <a:path h="815721" w="7315200">
                  <a:moveTo>
                    <a:pt x="0" y="0"/>
                  </a:moveTo>
                  <a:lnTo>
                    <a:pt x="7315200" y="0"/>
                  </a:lnTo>
                  <a:lnTo>
                    <a:pt x="7315200" y="815721"/>
                  </a:lnTo>
                  <a:lnTo>
                    <a:pt x="0" y="815721"/>
                  </a:lnTo>
                  <a:close/>
                </a:path>
              </a:pathLst>
            </a:custGeom>
            <a:blipFill>
              <a:blip r:embed="rId5">
                <a:alphaModFix amt="0"/>
              </a:blip>
              <a:stretch>
                <a:fillRect l="0" t="-124616" r="0" b="-124616"/>
              </a:stretch>
            </a:blipFill>
          </p:spPr>
          <p:txBody>
            <a:bodyPr/>
            <a:p/>
          </p:txBody>
        </p:sp>
      </p:grpSp>
      <p:grpSp>
        <p:nvGrpSpPr>
          <p:cNvPr name="Group 260" id="260"/>
          <p:cNvGrpSpPr/>
          <p:nvPr/>
        </p:nvGrpSpPr>
        <p:grpSpPr>
          <a:xfrm rot="0">
            <a:off x="1097280" y="5867590"/>
            <a:ext cx="5486400" cy="647510"/>
            <a:chOff x="0" y="0"/>
            <a:chExt cx="7315200" cy="863346"/>
          </a:xfrm>
        </p:grpSpPr>
        <p:sp>
          <p:nvSpPr>
            <p:cNvPr name="Freeform 261" id="261"/>
            <p:cNvSpPr/>
            <p:nvPr/>
          </p:nvSpPr>
          <p:spPr>
            <a:xfrm flipH="false" flipV="false" rot="0">
              <a:off x="0" y="0"/>
              <a:ext cx="7315200" cy="863346"/>
            </a:xfrm>
            <a:custGeom>
              <a:avLst/>
              <a:gdLst/>
              <a:ahLst/>
              <a:cxnLst/>
              <a:rect r="r" b="b" t="t" l="l"/>
              <a:pathLst>
                <a:path h="863346" w="7315200">
                  <a:moveTo>
                    <a:pt x="0" y="0"/>
                  </a:moveTo>
                  <a:lnTo>
                    <a:pt x="7315200" y="0"/>
                  </a:lnTo>
                  <a:lnTo>
                    <a:pt x="7315200" y="863346"/>
                  </a:lnTo>
                  <a:lnTo>
                    <a:pt x="0" y="863346"/>
                  </a:lnTo>
                  <a:close/>
                </a:path>
              </a:pathLst>
            </a:custGeom>
            <a:blipFill>
              <a:blip r:embed="rId6">
                <a:alphaModFix amt="0"/>
              </a:blip>
              <a:stretch>
                <a:fillRect l="0" t="-115098" r="0" b="-115098"/>
              </a:stretch>
            </a:blipFill>
          </p:spPr>
          <p:txBody>
            <a:bodyPr/>
            <a:p/>
          </p:txBody>
        </p:sp>
        <p:sp>
          <p:nvSpPr>
            <p:cNvPr name="TextBox 262" id="262"/>
            <p:cNvSpPr txBox="true"/>
            <p:nvPr/>
          </p:nvSpPr>
          <p:spPr>
            <a:xfrm>
              <a:off x="0" y="-47625"/>
              <a:ext cx="7315200" cy="910971"/>
            </a:xfrm>
            <a:prstGeom prst="rect">
              <a:avLst/>
            </a:prstGeom>
          </p:spPr>
          <p:txBody>
            <a:bodyPr anchor="ctr" rtlCol="false" tIns="0" lIns="0" bIns="0" rIns="0"/>
            <a:lstStyle/>
            <a:p>
              <a:pPr algn="l">
                <a:lnSpc>
                  <a:spcPts val="2340"/>
                </a:lnSpc>
              </a:pPr>
              <a:r>
                <a:rPr lang="en-US" sz="1950" b="true">
                  <a:solidFill>
                    <a:srgbClr val="0B5E6E"/>
                  </a:solidFill>
                  <a:latin typeface="Calibri (MS) Bold"/>
                  <a:ea typeface="Calibri (MS) Bold"/>
                  <a:cs typeface="Calibri (MS) Bold"/>
                  <a:sym typeface="Calibri (MS) Bold"/>
                </a:rPr>
                <a:t>Rasio daya dukung lahan</a:t>
              </a:r>
            </a:p>
          </p:txBody>
        </p:sp>
      </p:grpSp>
      <p:grpSp>
        <p:nvGrpSpPr>
          <p:cNvPr name="Group 263" id="263"/>
          <p:cNvGrpSpPr/>
          <p:nvPr/>
        </p:nvGrpSpPr>
        <p:grpSpPr>
          <a:xfrm rot="0">
            <a:off x="6858000" y="6007608"/>
            <a:ext cx="2880360" cy="438912"/>
            <a:chOff x="0" y="0"/>
            <a:chExt cx="3840480" cy="585216"/>
          </a:xfrm>
        </p:grpSpPr>
        <p:sp>
          <p:nvSpPr>
            <p:cNvPr name="Freeform 264" id="264"/>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39C0D3"/>
            </a:solidFill>
          </p:spPr>
          <p:txBody>
            <a:bodyPr/>
            <a:p/>
          </p:txBody>
        </p:sp>
      </p:grpSp>
      <p:grpSp>
        <p:nvGrpSpPr>
          <p:cNvPr name="Group 265" id="265"/>
          <p:cNvGrpSpPr/>
          <p:nvPr/>
        </p:nvGrpSpPr>
        <p:grpSpPr>
          <a:xfrm rot="0">
            <a:off x="6858000" y="6007608"/>
            <a:ext cx="2880360" cy="438912"/>
            <a:chOff x="0" y="0"/>
            <a:chExt cx="3840480" cy="585216"/>
          </a:xfrm>
        </p:grpSpPr>
        <p:sp>
          <p:nvSpPr>
            <p:cNvPr name="Freeform 266" id="266"/>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267" id="267"/>
          <p:cNvGrpSpPr/>
          <p:nvPr/>
        </p:nvGrpSpPr>
        <p:grpSpPr>
          <a:xfrm rot="0">
            <a:off x="6858000" y="5979033"/>
            <a:ext cx="2880360" cy="467487"/>
            <a:chOff x="0" y="0"/>
            <a:chExt cx="3840480" cy="623316"/>
          </a:xfrm>
        </p:grpSpPr>
        <p:sp>
          <p:nvSpPr>
            <p:cNvPr name="Freeform 268" id="268"/>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269" id="269"/>
          <p:cNvGrpSpPr/>
          <p:nvPr/>
        </p:nvGrpSpPr>
        <p:grpSpPr>
          <a:xfrm rot="0">
            <a:off x="6858000" y="5950458"/>
            <a:ext cx="2880360" cy="496062"/>
            <a:chOff x="0" y="0"/>
            <a:chExt cx="3840480" cy="661416"/>
          </a:xfrm>
        </p:grpSpPr>
        <p:sp>
          <p:nvSpPr>
            <p:cNvPr name="Freeform 270" id="270"/>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271" id="271"/>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Sustainable</a:t>
              </a:r>
            </a:p>
          </p:txBody>
        </p:sp>
      </p:grpSp>
      <p:grpSp>
        <p:nvGrpSpPr>
          <p:cNvPr name="Group 272" id="272"/>
          <p:cNvGrpSpPr/>
          <p:nvPr/>
        </p:nvGrpSpPr>
        <p:grpSpPr>
          <a:xfrm rot="0">
            <a:off x="9738360" y="5939028"/>
            <a:ext cx="342900" cy="576072"/>
            <a:chOff x="0" y="0"/>
            <a:chExt cx="457200" cy="768096"/>
          </a:xfrm>
        </p:grpSpPr>
        <p:sp>
          <p:nvSpPr>
            <p:cNvPr name="Freeform 273" id="273"/>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txBody>
            <a:bodyPr/>
            <a:p/>
          </p:txBody>
        </p:sp>
      </p:grpSp>
      <p:grpSp>
        <p:nvGrpSpPr>
          <p:cNvPr name="Group 274" id="274"/>
          <p:cNvGrpSpPr/>
          <p:nvPr/>
        </p:nvGrpSpPr>
        <p:grpSpPr>
          <a:xfrm rot="0">
            <a:off x="9738360" y="5903309"/>
            <a:ext cx="342900" cy="611791"/>
            <a:chOff x="0" y="0"/>
            <a:chExt cx="457200" cy="815721"/>
          </a:xfrm>
        </p:grpSpPr>
        <p:sp>
          <p:nvSpPr>
            <p:cNvPr name="Freeform 275" id="275"/>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9075" t="0" r="-179075" b="0"/>
              </a:stretch>
            </a:blipFill>
          </p:spPr>
          <p:txBody>
            <a:bodyPr/>
            <a:p/>
          </p:txBody>
        </p:sp>
      </p:grpSp>
      <p:grpSp>
        <p:nvGrpSpPr>
          <p:cNvPr name="Group 276" id="276"/>
          <p:cNvGrpSpPr/>
          <p:nvPr/>
        </p:nvGrpSpPr>
        <p:grpSpPr>
          <a:xfrm rot="0">
            <a:off x="9738360" y="5867590"/>
            <a:ext cx="342900" cy="647510"/>
            <a:chOff x="0" y="0"/>
            <a:chExt cx="457200" cy="863346"/>
          </a:xfrm>
        </p:grpSpPr>
        <p:sp>
          <p:nvSpPr>
            <p:cNvPr name="Freeform 277" id="277"/>
            <p:cNvSpPr/>
            <p:nvPr/>
          </p:nvSpPr>
          <p:spPr>
            <a:xfrm flipH="false" flipV="false" rot="0">
              <a:off x="0" y="0"/>
              <a:ext cx="457200" cy="863346"/>
            </a:xfrm>
            <a:custGeom>
              <a:avLst/>
              <a:gdLst/>
              <a:ahLst/>
              <a:cxnLst/>
              <a:rect r="r" b="b" t="t" l="l"/>
              <a:pathLst>
                <a:path h="863346" w="457200">
                  <a:moveTo>
                    <a:pt x="0" y="0"/>
                  </a:moveTo>
                  <a:lnTo>
                    <a:pt x="457200" y="0"/>
                  </a:lnTo>
                  <a:lnTo>
                    <a:pt x="457200" y="863346"/>
                  </a:lnTo>
                  <a:lnTo>
                    <a:pt x="0" y="863346"/>
                  </a:lnTo>
                  <a:close/>
                </a:path>
              </a:pathLst>
            </a:custGeom>
            <a:blipFill>
              <a:blip r:embed="rId6">
                <a:alphaModFix amt="0"/>
              </a:blip>
              <a:stretch>
                <a:fillRect l="-192279" t="0" r="-192279" b="0"/>
              </a:stretch>
            </a:blipFill>
          </p:spPr>
          <p:txBody>
            <a:bodyPr/>
            <a:p/>
          </p:txBody>
        </p:sp>
        <p:sp>
          <p:nvSpPr>
            <p:cNvPr name="TextBox 278" id="278"/>
            <p:cNvSpPr txBox="true"/>
            <p:nvPr/>
          </p:nvSpPr>
          <p:spPr>
            <a:xfrm>
              <a:off x="0" y="-47625"/>
              <a:ext cx="457200" cy="910971"/>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279" id="279"/>
          <p:cNvGrpSpPr/>
          <p:nvPr/>
        </p:nvGrpSpPr>
        <p:grpSpPr>
          <a:xfrm rot="0">
            <a:off x="10081260" y="6007608"/>
            <a:ext cx="2880360" cy="438912"/>
            <a:chOff x="0" y="0"/>
            <a:chExt cx="3840480" cy="585216"/>
          </a:xfrm>
        </p:grpSpPr>
        <p:sp>
          <p:nvSpPr>
            <p:cNvPr name="Freeform 280" id="280"/>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8A99A1"/>
            </a:solidFill>
          </p:spPr>
          <p:txBody>
            <a:bodyPr/>
            <a:p/>
          </p:txBody>
        </p:sp>
      </p:grpSp>
      <p:grpSp>
        <p:nvGrpSpPr>
          <p:cNvPr name="Group 281" id="281"/>
          <p:cNvGrpSpPr/>
          <p:nvPr/>
        </p:nvGrpSpPr>
        <p:grpSpPr>
          <a:xfrm rot="0">
            <a:off x="10081260" y="6007608"/>
            <a:ext cx="2880360" cy="438912"/>
            <a:chOff x="0" y="0"/>
            <a:chExt cx="3840480" cy="585216"/>
          </a:xfrm>
        </p:grpSpPr>
        <p:sp>
          <p:nvSpPr>
            <p:cNvPr name="Freeform 282" id="282"/>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283" id="283"/>
          <p:cNvGrpSpPr/>
          <p:nvPr/>
        </p:nvGrpSpPr>
        <p:grpSpPr>
          <a:xfrm rot="0">
            <a:off x="10081260" y="5979033"/>
            <a:ext cx="2880360" cy="467487"/>
            <a:chOff x="0" y="0"/>
            <a:chExt cx="3840480" cy="623316"/>
          </a:xfrm>
        </p:grpSpPr>
        <p:sp>
          <p:nvSpPr>
            <p:cNvPr name="Freeform 284" id="284"/>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285" id="285"/>
          <p:cNvGrpSpPr/>
          <p:nvPr/>
        </p:nvGrpSpPr>
        <p:grpSpPr>
          <a:xfrm rot="0">
            <a:off x="10081260" y="5950458"/>
            <a:ext cx="2880360" cy="496062"/>
            <a:chOff x="0" y="0"/>
            <a:chExt cx="3840480" cy="661416"/>
          </a:xfrm>
        </p:grpSpPr>
        <p:sp>
          <p:nvSpPr>
            <p:cNvPr name="Freeform 286" id="286"/>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287" id="287"/>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BAU</a:t>
              </a:r>
            </a:p>
          </p:txBody>
        </p:sp>
      </p:grpSp>
      <p:grpSp>
        <p:nvGrpSpPr>
          <p:cNvPr name="Group 288" id="288"/>
          <p:cNvGrpSpPr/>
          <p:nvPr/>
        </p:nvGrpSpPr>
        <p:grpSpPr>
          <a:xfrm rot="0">
            <a:off x="12961620" y="5939028"/>
            <a:ext cx="342900" cy="576072"/>
            <a:chOff x="0" y="0"/>
            <a:chExt cx="457200" cy="768096"/>
          </a:xfrm>
        </p:grpSpPr>
        <p:sp>
          <p:nvSpPr>
            <p:cNvPr name="Freeform 289" id="289"/>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txBody>
            <a:bodyPr/>
            <a:p/>
          </p:txBody>
        </p:sp>
      </p:grpSp>
      <p:grpSp>
        <p:nvGrpSpPr>
          <p:cNvPr name="Group 290" id="290"/>
          <p:cNvGrpSpPr/>
          <p:nvPr/>
        </p:nvGrpSpPr>
        <p:grpSpPr>
          <a:xfrm rot="0">
            <a:off x="12961620" y="5903309"/>
            <a:ext cx="342900" cy="611791"/>
            <a:chOff x="0" y="0"/>
            <a:chExt cx="457200" cy="815721"/>
          </a:xfrm>
        </p:grpSpPr>
        <p:sp>
          <p:nvSpPr>
            <p:cNvPr name="Freeform 291" id="291"/>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9075" t="0" r="-179075" b="0"/>
              </a:stretch>
            </a:blipFill>
          </p:spPr>
          <p:txBody>
            <a:bodyPr/>
            <a:p/>
          </p:txBody>
        </p:sp>
      </p:grpSp>
      <p:grpSp>
        <p:nvGrpSpPr>
          <p:cNvPr name="Group 292" id="292"/>
          <p:cNvGrpSpPr/>
          <p:nvPr/>
        </p:nvGrpSpPr>
        <p:grpSpPr>
          <a:xfrm rot="0">
            <a:off x="12961620" y="5867590"/>
            <a:ext cx="342900" cy="647510"/>
            <a:chOff x="0" y="0"/>
            <a:chExt cx="457200" cy="863346"/>
          </a:xfrm>
        </p:grpSpPr>
        <p:sp>
          <p:nvSpPr>
            <p:cNvPr name="Freeform 293" id="293"/>
            <p:cNvSpPr/>
            <p:nvPr/>
          </p:nvSpPr>
          <p:spPr>
            <a:xfrm flipH="false" flipV="false" rot="0">
              <a:off x="0" y="0"/>
              <a:ext cx="457200" cy="863346"/>
            </a:xfrm>
            <a:custGeom>
              <a:avLst/>
              <a:gdLst/>
              <a:ahLst/>
              <a:cxnLst/>
              <a:rect r="r" b="b" t="t" l="l"/>
              <a:pathLst>
                <a:path h="863346" w="457200">
                  <a:moveTo>
                    <a:pt x="0" y="0"/>
                  </a:moveTo>
                  <a:lnTo>
                    <a:pt x="457200" y="0"/>
                  </a:lnTo>
                  <a:lnTo>
                    <a:pt x="457200" y="863346"/>
                  </a:lnTo>
                  <a:lnTo>
                    <a:pt x="0" y="863346"/>
                  </a:lnTo>
                  <a:close/>
                </a:path>
              </a:pathLst>
            </a:custGeom>
            <a:blipFill>
              <a:blip r:embed="rId6">
                <a:alphaModFix amt="0"/>
              </a:blip>
              <a:stretch>
                <a:fillRect l="-192279" t="0" r="-192279" b="0"/>
              </a:stretch>
            </a:blipFill>
          </p:spPr>
          <p:txBody>
            <a:bodyPr/>
            <a:p/>
          </p:txBody>
        </p:sp>
        <p:sp>
          <p:nvSpPr>
            <p:cNvPr name="TextBox 294" id="294"/>
            <p:cNvSpPr txBox="true"/>
            <p:nvPr/>
          </p:nvSpPr>
          <p:spPr>
            <a:xfrm>
              <a:off x="0" y="-47625"/>
              <a:ext cx="457200" cy="910971"/>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295" id="295"/>
          <p:cNvGrpSpPr/>
          <p:nvPr/>
        </p:nvGrpSpPr>
        <p:grpSpPr>
          <a:xfrm rot="0">
            <a:off x="13304520" y="6007608"/>
            <a:ext cx="2880360" cy="438912"/>
            <a:chOff x="0" y="0"/>
            <a:chExt cx="3840480" cy="585216"/>
          </a:xfrm>
        </p:grpSpPr>
        <p:sp>
          <p:nvSpPr>
            <p:cNvPr name="Freeform 296" id="296"/>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FFD23B"/>
            </a:solidFill>
          </p:spPr>
          <p:txBody>
            <a:bodyPr/>
            <a:p/>
          </p:txBody>
        </p:sp>
      </p:grpSp>
      <p:grpSp>
        <p:nvGrpSpPr>
          <p:cNvPr name="Group 297" id="297"/>
          <p:cNvGrpSpPr/>
          <p:nvPr/>
        </p:nvGrpSpPr>
        <p:grpSpPr>
          <a:xfrm rot="0">
            <a:off x="13304520" y="6007608"/>
            <a:ext cx="2880360" cy="438912"/>
            <a:chOff x="0" y="0"/>
            <a:chExt cx="3840480" cy="585216"/>
          </a:xfrm>
        </p:grpSpPr>
        <p:sp>
          <p:nvSpPr>
            <p:cNvPr name="Freeform 298" id="298"/>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299" id="299"/>
          <p:cNvGrpSpPr/>
          <p:nvPr/>
        </p:nvGrpSpPr>
        <p:grpSpPr>
          <a:xfrm rot="0">
            <a:off x="13304520" y="5979033"/>
            <a:ext cx="2880360" cy="467487"/>
            <a:chOff x="0" y="0"/>
            <a:chExt cx="3840480" cy="623316"/>
          </a:xfrm>
        </p:grpSpPr>
        <p:sp>
          <p:nvSpPr>
            <p:cNvPr name="Freeform 300" id="300"/>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301" id="301"/>
          <p:cNvGrpSpPr/>
          <p:nvPr/>
        </p:nvGrpSpPr>
        <p:grpSpPr>
          <a:xfrm rot="0">
            <a:off x="13304520" y="5950458"/>
            <a:ext cx="2880360" cy="496062"/>
            <a:chOff x="0" y="0"/>
            <a:chExt cx="3840480" cy="661416"/>
          </a:xfrm>
        </p:grpSpPr>
        <p:sp>
          <p:nvSpPr>
            <p:cNvPr name="Freeform 302" id="302"/>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303" id="303"/>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14313B"/>
                  </a:solidFill>
                  <a:latin typeface="Calibri (MS) Bold"/>
                  <a:ea typeface="Calibri (MS) Bold"/>
                  <a:cs typeface="Calibri (MS) Bold"/>
                  <a:sym typeface="Calibri (MS) Bold"/>
                </a:rPr>
                <a:t>Development Priority</a:t>
              </a:r>
            </a:p>
          </p:txBody>
        </p:sp>
      </p:grpSp>
      <p:grpSp>
        <p:nvGrpSpPr>
          <p:cNvPr name="Group 304" id="304"/>
          <p:cNvGrpSpPr/>
          <p:nvPr/>
        </p:nvGrpSpPr>
        <p:grpSpPr>
          <a:xfrm rot="0">
            <a:off x="16390620" y="6021324"/>
            <a:ext cx="891540" cy="411480"/>
            <a:chOff x="0" y="0"/>
            <a:chExt cx="1188720" cy="548640"/>
          </a:xfrm>
        </p:grpSpPr>
        <p:sp>
          <p:nvSpPr>
            <p:cNvPr name="Freeform 305" id="305"/>
            <p:cNvSpPr/>
            <p:nvPr/>
          </p:nvSpPr>
          <p:spPr>
            <a:xfrm flipH="false" flipV="false" rot="0">
              <a:off x="0" y="0"/>
              <a:ext cx="1188720" cy="548640"/>
            </a:xfrm>
            <a:custGeom>
              <a:avLst/>
              <a:gdLst/>
              <a:ahLst/>
              <a:cxnLst/>
              <a:rect r="r" b="b" t="t" l="l"/>
              <a:pathLst>
                <a:path h="548640" w="1188720">
                  <a:moveTo>
                    <a:pt x="0" y="274320"/>
                  </a:moveTo>
                  <a:cubicBezTo>
                    <a:pt x="0" y="122809"/>
                    <a:pt x="122809" y="0"/>
                    <a:pt x="274320" y="0"/>
                  </a:cubicBezTo>
                  <a:lnTo>
                    <a:pt x="914400" y="0"/>
                  </a:lnTo>
                  <a:cubicBezTo>
                    <a:pt x="1065911" y="0"/>
                    <a:pt x="1188720" y="122809"/>
                    <a:pt x="1188720" y="274320"/>
                  </a:cubicBezTo>
                  <a:cubicBezTo>
                    <a:pt x="1188720" y="425831"/>
                    <a:pt x="1065911" y="548640"/>
                    <a:pt x="91440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06" id="306"/>
          <p:cNvGrpSpPr/>
          <p:nvPr/>
        </p:nvGrpSpPr>
        <p:grpSpPr>
          <a:xfrm rot="0">
            <a:off x="16390620" y="6021324"/>
            <a:ext cx="891540" cy="411480"/>
            <a:chOff x="0" y="0"/>
            <a:chExt cx="1188720" cy="548640"/>
          </a:xfrm>
        </p:grpSpPr>
        <p:sp>
          <p:nvSpPr>
            <p:cNvPr name="Freeform 307" id="307"/>
            <p:cNvSpPr/>
            <p:nvPr/>
          </p:nvSpPr>
          <p:spPr>
            <a:xfrm flipH="false" flipV="false" rot="0">
              <a:off x="0" y="0"/>
              <a:ext cx="1188720" cy="548640"/>
            </a:xfrm>
            <a:custGeom>
              <a:avLst/>
              <a:gdLst/>
              <a:ahLst/>
              <a:cxnLst/>
              <a:rect r="r" b="b" t="t" l="l"/>
              <a:pathLst>
                <a:path h="548640" w="1188720">
                  <a:moveTo>
                    <a:pt x="0" y="0"/>
                  </a:moveTo>
                  <a:lnTo>
                    <a:pt x="1188720" y="0"/>
                  </a:lnTo>
                  <a:lnTo>
                    <a:pt x="1188720" y="548640"/>
                  </a:lnTo>
                  <a:lnTo>
                    <a:pt x="0" y="548640"/>
                  </a:lnTo>
                  <a:close/>
                </a:path>
              </a:pathLst>
            </a:custGeom>
            <a:blipFill>
              <a:blip r:embed="rId4">
                <a:alphaModFix amt="0"/>
              </a:blip>
              <a:stretch>
                <a:fillRect l="-9258" t="0" r="-9257" b="0"/>
              </a:stretch>
            </a:blipFill>
          </p:spPr>
          <p:txBody>
            <a:bodyPr/>
            <a:p/>
          </p:txBody>
        </p:sp>
      </p:grpSp>
      <p:grpSp>
        <p:nvGrpSpPr>
          <p:cNvPr name="Group 308" id="308"/>
          <p:cNvGrpSpPr/>
          <p:nvPr/>
        </p:nvGrpSpPr>
        <p:grpSpPr>
          <a:xfrm rot="0">
            <a:off x="16390620" y="5992749"/>
            <a:ext cx="891540" cy="440055"/>
            <a:chOff x="0" y="0"/>
            <a:chExt cx="1188720" cy="586740"/>
          </a:xfrm>
        </p:grpSpPr>
        <p:sp>
          <p:nvSpPr>
            <p:cNvPr name="Freeform 309" id="309"/>
            <p:cNvSpPr/>
            <p:nvPr/>
          </p:nvSpPr>
          <p:spPr>
            <a:xfrm flipH="false" flipV="false" rot="0">
              <a:off x="0" y="0"/>
              <a:ext cx="1188720" cy="586740"/>
            </a:xfrm>
            <a:custGeom>
              <a:avLst/>
              <a:gdLst/>
              <a:ahLst/>
              <a:cxnLst/>
              <a:rect r="r" b="b" t="t" l="l"/>
              <a:pathLst>
                <a:path h="586740" w="1188720">
                  <a:moveTo>
                    <a:pt x="0" y="0"/>
                  </a:moveTo>
                  <a:lnTo>
                    <a:pt x="1188720" y="0"/>
                  </a:lnTo>
                  <a:lnTo>
                    <a:pt x="1188720" y="586740"/>
                  </a:lnTo>
                  <a:lnTo>
                    <a:pt x="0" y="586740"/>
                  </a:lnTo>
                  <a:close/>
                </a:path>
              </a:pathLst>
            </a:custGeom>
            <a:blipFill>
              <a:blip r:embed="rId5">
                <a:alphaModFix amt="0"/>
              </a:blip>
              <a:stretch>
                <a:fillRect l="-13373" t="0" r="-13372" b="0"/>
              </a:stretch>
            </a:blipFill>
          </p:spPr>
          <p:txBody>
            <a:bodyPr/>
            <a:p/>
          </p:txBody>
        </p:sp>
      </p:grpSp>
      <p:grpSp>
        <p:nvGrpSpPr>
          <p:cNvPr name="Group 310" id="310"/>
          <p:cNvGrpSpPr/>
          <p:nvPr/>
        </p:nvGrpSpPr>
        <p:grpSpPr>
          <a:xfrm rot="0">
            <a:off x="16390620" y="5964174"/>
            <a:ext cx="891540" cy="468630"/>
            <a:chOff x="0" y="0"/>
            <a:chExt cx="1188720" cy="624840"/>
          </a:xfrm>
        </p:grpSpPr>
        <p:sp>
          <p:nvSpPr>
            <p:cNvPr name="Freeform 311" id="311"/>
            <p:cNvSpPr/>
            <p:nvPr/>
          </p:nvSpPr>
          <p:spPr>
            <a:xfrm flipH="false" flipV="false" rot="0">
              <a:off x="0" y="0"/>
              <a:ext cx="1188720" cy="624840"/>
            </a:xfrm>
            <a:custGeom>
              <a:avLst/>
              <a:gdLst/>
              <a:ahLst/>
              <a:cxnLst/>
              <a:rect r="r" b="b" t="t" l="l"/>
              <a:pathLst>
                <a:path h="624840" w="1188720">
                  <a:moveTo>
                    <a:pt x="0" y="0"/>
                  </a:moveTo>
                  <a:lnTo>
                    <a:pt x="1188720" y="0"/>
                  </a:lnTo>
                  <a:lnTo>
                    <a:pt x="1188720" y="624840"/>
                  </a:lnTo>
                  <a:lnTo>
                    <a:pt x="0" y="624840"/>
                  </a:lnTo>
                  <a:close/>
                </a:path>
              </a:pathLst>
            </a:custGeom>
            <a:blipFill>
              <a:blip r:embed="rId6">
                <a:alphaModFix amt="0"/>
              </a:blip>
              <a:stretch>
                <a:fillRect l="-17441" t="0" r="-17441" b="0"/>
              </a:stretch>
            </a:blipFill>
          </p:spPr>
          <p:txBody>
            <a:bodyPr/>
            <a:p/>
          </p:txBody>
        </p:sp>
        <p:sp>
          <p:nvSpPr>
            <p:cNvPr name="TextBox 312" id="312"/>
            <p:cNvSpPr txBox="true"/>
            <p:nvPr/>
          </p:nvSpPr>
          <p:spPr>
            <a:xfrm>
              <a:off x="0" y="-38100"/>
              <a:ext cx="1188720" cy="662940"/>
            </a:xfrm>
            <a:prstGeom prst="rect">
              <a:avLst/>
            </a:prstGeom>
          </p:spPr>
          <p:txBody>
            <a:bodyPr anchor="ctr" rtlCol="false" tIns="0" lIns="0" bIns="0" rIns="0"/>
            <a:lstStyle/>
            <a:p>
              <a:pPr algn="ctr">
                <a:lnSpc>
                  <a:spcPts val="1709"/>
                </a:lnSpc>
              </a:pPr>
              <a:r>
                <a:rPr lang="en-US" sz="1425" b="true">
                  <a:solidFill>
                    <a:srgbClr val="FFFFFF"/>
                  </a:solidFill>
                  <a:latin typeface="Calibri (MS) Bold"/>
                  <a:ea typeface="Calibri (MS) Bold"/>
                  <a:cs typeface="Calibri (MS) Bold"/>
                  <a:sym typeface="Calibri (MS) Bold"/>
                </a:rPr>
                <a:t>ROBUST</a:t>
              </a:r>
            </a:p>
          </p:txBody>
        </p:sp>
      </p:grpSp>
      <p:grpSp>
        <p:nvGrpSpPr>
          <p:cNvPr name="Group 313" id="313"/>
          <p:cNvGrpSpPr/>
          <p:nvPr/>
        </p:nvGrpSpPr>
        <p:grpSpPr>
          <a:xfrm rot="0">
            <a:off x="822960" y="6583680"/>
            <a:ext cx="16637508" cy="576072"/>
            <a:chOff x="0" y="0"/>
            <a:chExt cx="22183344" cy="768096"/>
          </a:xfrm>
        </p:grpSpPr>
        <p:sp>
          <p:nvSpPr>
            <p:cNvPr name="Freeform 314" id="314"/>
            <p:cNvSpPr/>
            <p:nvPr/>
          </p:nvSpPr>
          <p:spPr>
            <a:xfrm flipH="false" flipV="false" rot="0">
              <a:off x="0" y="0"/>
              <a:ext cx="22183344" cy="768096"/>
            </a:xfrm>
            <a:custGeom>
              <a:avLst/>
              <a:gdLst/>
              <a:ahLst/>
              <a:cxnLst/>
              <a:rect r="r" b="b" t="t" l="l"/>
              <a:pathLst>
                <a:path h="768096" w="22183344">
                  <a:moveTo>
                    <a:pt x="0" y="182880"/>
                  </a:moveTo>
                  <a:cubicBezTo>
                    <a:pt x="0" y="81915"/>
                    <a:pt x="81915" y="0"/>
                    <a:pt x="182880" y="0"/>
                  </a:cubicBezTo>
                  <a:lnTo>
                    <a:pt x="22000463" y="0"/>
                  </a:lnTo>
                  <a:cubicBezTo>
                    <a:pt x="22101428" y="0"/>
                    <a:pt x="22183344" y="81915"/>
                    <a:pt x="22183344" y="182880"/>
                  </a:cubicBezTo>
                  <a:lnTo>
                    <a:pt x="22183344" y="585216"/>
                  </a:lnTo>
                  <a:cubicBezTo>
                    <a:pt x="22183344" y="686181"/>
                    <a:pt x="22101428" y="768096"/>
                    <a:pt x="22000463" y="768096"/>
                  </a:cubicBezTo>
                  <a:lnTo>
                    <a:pt x="182880" y="768096"/>
                  </a:lnTo>
                  <a:cubicBezTo>
                    <a:pt x="81915" y="768096"/>
                    <a:pt x="0" y="686181"/>
                    <a:pt x="0" y="585216"/>
                  </a:cubicBezTo>
                  <a:close/>
                </a:path>
              </a:pathLst>
            </a:custGeom>
            <a:solidFill>
              <a:srgbClr val="EAF8FA"/>
            </a:solidFill>
          </p:spPr>
          <p:txBody>
            <a:bodyPr/>
            <a:p/>
          </p:txBody>
        </p:sp>
      </p:grpSp>
      <p:grpSp>
        <p:nvGrpSpPr>
          <p:cNvPr name="Group 315" id="315"/>
          <p:cNvGrpSpPr/>
          <p:nvPr/>
        </p:nvGrpSpPr>
        <p:grpSpPr>
          <a:xfrm rot="0">
            <a:off x="1097280" y="6583680"/>
            <a:ext cx="5486400" cy="576072"/>
            <a:chOff x="0" y="0"/>
            <a:chExt cx="7315200" cy="768096"/>
          </a:xfrm>
        </p:grpSpPr>
        <p:sp>
          <p:nvSpPr>
            <p:cNvPr name="Freeform 316" id="316"/>
            <p:cNvSpPr/>
            <p:nvPr/>
          </p:nvSpPr>
          <p:spPr>
            <a:xfrm flipH="false" flipV="false" rot="0">
              <a:off x="0" y="0"/>
              <a:ext cx="7315200" cy="768096"/>
            </a:xfrm>
            <a:custGeom>
              <a:avLst/>
              <a:gdLst/>
              <a:ahLst/>
              <a:cxnLst/>
              <a:rect r="r" b="b" t="t" l="l"/>
              <a:pathLst>
                <a:path h="768096" w="7315200">
                  <a:moveTo>
                    <a:pt x="0" y="0"/>
                  </a:moveTo>
                  <a:lnTo>
                    <a:pt x="7315200" y="0"/>
                  </a:lnTo>
                  <a:lnTo>
                    <a:pt x="7315200" y="768096"/>
                  </a:lnTo>
                  <a:lnTo>
                    <a:pt x="0" y="768096"/>
                  </a:lnTo>
                  <a:close/>
                </a:path>
              </a:pathLst>
            </a:custGeom>
            <a:blipFill>
              <a:blip r:embed="rId4">
                <a:alphaModFix amt="0"/>
              </a:blip>
              <a:stretch>
                <a:fillRect l="0" t="-135443" r="0" b="-135443"/>
              </a:stretch>
            </a:blipFill>
          </p:spPr>
          <p:txBody>
            <a:bodyPr/>
            <a:p/>
          </p:txBody>
        </p:sp>
      </p:grpSp>
      <p:grpSp>
        <p:nvGrpSpPr>
          <p:cNvPr name="Group 317" id="317"/>
          <p:cNvGrpSpPr/>
          <p:nvPr/>
        </p:nvGrpSpPr>
        <p:grpSpPr>
          <a:xfrm rot="0">
            <a:off x="1097280" y="6547961"/>
            <a:ext cx="5486400" cy="611791"/>
            <a:chOff x="0" y="0"/>
            <a:chExt cx="7315200" cy="815721"/>
          </a:xfrm>
        </p:grpSpPr>
        <p:sp>
          <p:nvSpPr>
            <p:cNvPr name="Freeform 318" id="318"/>
            <p:cNvSpPr/>
            <p:nvPr/>
          </p:nvSpPr>
          <p:spPr>
            <a:xfrm flipH="false" flipV="false" rot="0">
              <a:off x="0" y="0"/>
              <a:ext cx="7315200" cy="815721"/>
            </a:xfrm>
            <a:custGeom>
              <a:avLst/>
              <a:gdLst/>
              <a:ahLst/>
              <a:cxnLst/>
              <a:rect r="r" b="b" t="t" l="l"/>
              <a:pathLst>
                <a:path h="815721" w="7315200">
                  <a:moveTo>
                    <a:pt x="0" y="0"/>
                  </a:moveTo>
                  <a:lnTo>
                    <a:pt x="7315200" y="0"/>
                  </a:lnTo>
                  <a:lnTo>
                    <a:pt x="7315200" y="815721"/>
                  </a:lnTo>
                  <a:lnTo>
                    <a:pt x="0" y="815721"/>
                  </a:lnTo>
                  <a:close/>
                </a:path>
              </a:pathLst>
            </a:custGeom>
            <a:blipFill>
              <a:blip r:embed="rId5">
                <a:alphaModFix amt="0"/>
              </a:blip>
              <a:stretch>
                <a:fillRect l="0" t="-124616" r="0" b="-124616"/>
              </a:stretch>
            </a:blipFill>
          </p:spPr>
          <p:txBody>
            <a:bodyPr/>
            <a:p/>
          </p:txBody>
        </p:sp>
      </p:grpSp>
      <p:grpSp>
        <p:nvGrpSpPr>
          <p:cNvPr name="Group 319" id="319"/>
          <p:cNvGrpSpPr/>
          <p:nvPr/>
        </p:nvGrpSpPr>
        <p:grpSpPr>
          <a:xfrm rot="0">
            <a:off x="1097280" y="6512243"/>
            <a:ext cx="5486400" cy="647510"/>
            <a:chOff x="0" y="0"/>
            <a:chExt cx="7315200" cy="863346"/>
          </a:xfrm>
        </p:grpSpPr>
        <p:sp>
          <p:nvSpPr>
            <p:cNvPr name="Freeform 320" id="320"/>
            <p:cNvSpPr/>
            <p:nvPr/>
          </p:nvSpPr>
          <p:spPr>
            <a:xfrm flipH="false" flipV="false" rot="0">
              <a:off x="0" y="0"/>
              <a:ext cx="7315200" cy="863346"/>
            </a:xfrm>
            <a:custGeom>
              <a:avLst/>
              <a:gdLst/>
              <a:ahLst/>
              <a:cxnLst/>
              <a:rect r="r" b="b" t="t" l="l"/>
              <a:pathLst>
                <a:path h="863346" w="7315200">
                  <a:moveTo>
                    <a:pt x="0" y="0"/>
                  </a:moveTo>
                  <a:lnTo>
                    <a:pt x="7315200" y="0"/>
                  </a:lnTo>
                  <a:lnTo>
                    <a:pt x="7315200" y="863346"/>
                  </a:lnTo>
                  <a:lnTo>
                    <a:pt x="0" y="863346"/>
                  </a:lnTo>
                  <a:close/>
                </a:path>
              </a:pathLst>
            </a:custGeom>
            <a:blipFill>
              <a:blip r:embed="rId6">
                <a:alphaModFix amt="0"/>
              </a:blip>
              <a:stretch>
                <a:fillRect l="0" t="-115098" r="0" b="-115098"/>
              </a:stretch>
            </a:blipFill>
          </p:spPr>
          <p:txBody>
            <a:bodyPr/>
            <a:p/>
          </p:txBody>
        </p:sp>
        <p:sp>
          <p:nvSpPr>
            <p:cNvPr name="TextBox 321" id="321"/>
            <p:cNvSpPr txBox="true"/>
            <p:nvPr/>
          </p:nvSpPr>
          <p:spPr>
            <a:xfrm>
              <a:off x="0" y="-47625"/>
              <a:ext cx="7315200" cy="910971"/>
            </a:xfrm>
            <a:prstGeom prst="rect">
              <a:avLst/>
            </a:prstGeom>
          </p:spPr>
          <p:txBody>
            <a:bodyPr anchor="ctr" rtlCol="false" tIns="0" lIns="0" bIns="0" rIns="0"/>
            <a:lstStyle/>
            <a:p>
              <a:pPr algn="l">
                <a:lnSpc>
                  <a:spcPts val="2340"/>
                </a:lnSpc>
              </a:pPr>
              <a:r>
                <a:rPr lang="en-US" sz="1950" b="true">
                  <a:solidFill>
                    <a:srgbClr val="0B5E6E"/>
                  </a:solidFill>
                  <a:latin typeface="Calibri (MS) Bold"/>
                  <a:ea typeface="Calibri (MS) Bold"/>
                  <a:cs typeface="Calibri (MS) Bold"/>
                  <a:sym typeface="Calibri (MS) Bold"/>
                </a:rPr>
                <a:t>Lahan terbangun</a:t>
              </a:r>
            </a:p>
          </p:txBody>
        </p:sp>
      </p:grpSp>
      <p:grpSp>
        <p:nvGrpSpPr>
          <p:cNvPr name="Group 322" id="322"/>
          <p:cNvGrpSpPr/>
          <p:nvPr/>
        </p:nvGrpSpPr>
        <p:grpSpPr>
          <a:xfrm rot="0">
            <a:off x="6858000" y="6652260"/>
            <a:ext cx="2880360" cy="438912"/>
            <a:chOff x="0" y="0"/>
            <a:chExt cx="3840480" cy="585216"/>
          </a:xfrm>
        </p:grpSpPr>
        <p:sp>
          <p:nvSpPr>
            <p:cNvPr name="Freeform 323" id="323"/>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39C0D3"/>
            </a:solidFill>
          </p:spPr>
          <p:txBody>
            <a:bodyPr/>
            <a:p/>
          </p:txBody>
        </p:sp>
      </p:grpSp>
      <p:grpSp>
        <p:nvGrpSpPr>
          <p:cNvPr name="Group 324" id="324"/>
          <p:cNvGrpSpPr/>
          <p:nvPr/>
        </p:nvGrpSpPr>
        <p:grpSpPr>
          <a:xfrm rot="0">
            <a:off x="6858000" y="6652260"/>
            <a:ext cx="2880360" cy="438912"/>
            <a:chOff x="0" y="0"/>
            <a:chExt cx="3840480" cy="585216"/>
          </a:xfrm>
        </p:grpSpPr>
        <p:sp>
          <p:nvSpPr>
            <p:cNvPr name="Freeform 325" id="325"/>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326" id="326"/>
          <p:cNvGrpSpPr/>
          <p:nvPr/>
        </p:nvGrpSpPr>
        <p:grpSpPr>
          <a:xfrm rot="0">
            <a:off x="6858000" y="6623685"/>
            <a:ext cx="2880360" cy="467487"/>
            <a:chOff x="0" y="0"/>
            <a:chExt cx="3840480" cy="623316"/>
          </a:xfrm>
        </p:grpSpPr>
        <p:sp>
          <p:nvSpPr>
            <p:cNvPr name="Freeform 327" id="327"/>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328" id="328"/>
          <p:cNvGrpSpPr/>
          <p:nvPr/>
        </p:nvGrpSpPr>
        <p:grpSpPr>
          <a:xfrm rot="0">
            <a:off x="6858000" y="6595110"/>
            <a:ext cx="2880360" cy="496062"/>
            <a:chOff x="0" y="0"/>
            <a:chExt cx="3840480" cy="661416"/>
          </a:xfrm>
        </p:grpSpPr>
        <p:sp>
          <p:nvSpPr>
            <p:cNvPr name="Freeform 329" id="329"/>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330" id="330"/>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Sustainable</a:t>
              </a:r>
            </a:p>
          </p:txBody>
        </p:sp>
      </p:grpSp>
      <p:grpSp>
        <p:nvGrpSpPr>
          <p:cNvPr name="Group 331" id="331"/>
          <p:cNvGrpSpPr/>
          <p:nvPr/>
        </p:nvGrpSpPr>
        <p:grpSpPr>
          <a:xfrm rot="0">
            <a:off x="9738360" y="6583680"/>
            <a:ext cx="342900" cy="576072"/>
            <a:chOff x="0" y="0"/>
            <a:chExt cx="457200" cy="768096"/>
          </a:xfrm>
        </p:grpSpPr>
        <p:sp>
          <p:nvSpPr>
            <p:cNvPr name="Freeform 332" id="332"/>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txBody>
            <a:bodyPr/>
            <a:p/>
          </p:txBody>
        </p:sp>
      </p:grpSp>
      <p:grpSp>
        <p:nvGrpSpPr>
          <p:cNvPr name="Group 333" id="333"/>
          <p:cNvGrpSpPr/>
          <p:nvPr/>
        </p:nvGrpSpPr>
        <p:grpSpPr>
          <a:xfrm rot="0">
            <a:off x="9738360" y="6547961"/>
            <a:ext cx="342900" cy="611791"/>
            <a:chOff x="0" y="0"/>
            <a:chExt cx="457200" cy="815721"/>
          </a:xfrm>
        </p:grpSpPr>
        <p:sp>
          <p:nvSpPr>
            <p:cNvPr name="Freeform 334" id="334"/>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9075" t="0" r="-179075" b="0"/>
              </a:stretch>
            </a:blipFill>
          </p:spPr>
          <p:txBody>
            <a:bodyPr/>
            <a:p/>
          </p:txBody>
        </p:sp>
      </p:grpSp>
      <p:grpSp>
        <p:nvGrpSpPr>
          <p:cNvPr name="Group 335" id="335"/>
          <p:cNvGrpSpPr/>
          <p:nvPr/>
        </p:nvGrpSpPr>
        <p:grpSpPr>
          <a:xfrm rot="0">
            <a:off x="9738360" y="6512243"/>
            <a:ext cx="342900" cy="647510"/>
            <a:chOff x="0" y="0"/>
            <a:chExt cx="457200" cy="863346"/>
          </a:xfrm>
        </p:grpSpPr>
        <p:sp>
          <p:nvSpPr>
            <p:cNvPr name="Freeform 336" id="336"/>
            <p:cNvSpPr/>
            <p:nvPr/>
          </p:nvSpPr>
          <p:spPr>
            <a:xfrm flipH="false" flipV="false" rot="0">
              <a:off x="0" y="0"/>
              <a:ext cx="457200" cy="863346"/>
            </a:xfrm>
            <a:custGeom>
              <a:avLst/>
              <a:gdLst/>
              <a:ahLst/>
              <a:cxnLst/>
              <a:rect r="r" b="b" t="t" l="l"/>
              <a:pathLst>
                <a:path h="863346" w="457200">
                  <a:moveTo>
                    <a:pt x="0" y="0"/>
                  </a:moveTo>
                  <a:lnTo>
                    <a:pt x="457200" y="0"/>
                  </a:lnTo>
                  <a:lnTo>
                    <a:pt x="457200" y="863346"/>
                  </a:lnTo>
                  <a:lnTo>
                    <a:pt x="0" y="863346"/>
                  </a:lnTo>
                  <a:close/>
                </a:path>
              </a:pathLst>
            </a:custGeom>
            <a:blipFill>
              <a:blip r:embed="rId6">
                <a:alphaModFix amt="0"/>
              </a:blip>
              <a:stretch>
                <a:fillRect l="-192279" t="0" r="-192279" b="0"/>
              </a:stretch>
            </a:blipFill>
          </p:spPr>
          <p:txBody>
            <a:bodyPr/>
            <a:p/>
          </p:txBody>
        </p:sp>
        <p:sp>
          <p:nvSpPr>
            <p:cNvPr name="TextBox 337" id="337"/>
            <p:cNvSpPr txBox="true"/>
            <p:nvPr/>
          </p:nvSpPr>
          <p:spPr>
            <a:xfrm>
              <a:off x="0" y="-47625"/>
              <a:ext cx="457200" cy="910971"/>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338" id="338"/>
          <p:cNvGrpSpPr/>
          <p:nvPr/>
        </p:nvGrpSpPr>
        <p:grpSpPr>
          <a:xfrm rot="0">
            <a:off x="10081260" y="6652260"/>
            <a:ext cx="2880360" cy="438912"/>
            <a:chOff x="0" y="0"/>
            <a:chExt cx="3840480" cy="585216"/>
          </a:xfrm>
        </p:grpSpPr>
        <p:sp>
          <p:nvSpPr>
            <p:cNvPr name="Freeform 339" id="339"/>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8A99A1"/>
            </a:solidFill>
          </p:spPr>
          <p:txBody>
            <a:bodyPr/>
            <a:p/>
          </p:txBody>
        </p:sp>
      </p:grpSp>
      <p:grpSp>
        <p:nvGrpSpPr>
          <p:cNvPr name="Group 340" id="340"/>
          <p:cNvGrpSpPr/>
          <p:nvPr/>
        </p:nvGrpSpPr>
        <p:grpSpPr>
          <a:xfrm rot="0">
            <a:off x="10081260" y="6652260"/>
            <a:ext cx="2880360" cy="438912"/>
            <a:chOff x="0" y="0"/>
            <a:chExt cx="3840480" cy="585216"/>
          </a:xfrm>
        </p:grpSpPr>
        <p:sp>
          <p:nvSpPr>
            <p:cNvPr name="Freeform 341" id="341"/>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342" id="342"/>
          <p:cNvGrpSpPr/>
          <p:nvPr/>
        </p:nvGrpSpPr>
        <p:grpSpPr>
          <a:xfrm rot="0">
            <a:off x="10081260" y="6623685"/>
            <a:ext cx="2880360" cy="467487"/>
            <a:chOff x="0" y="0"/>
            <a:chExt cx="3840480" cy="623316"/>
          </a:xfrm>
        </p:grpSpPr>
        <p:sp>
          <p:nvSpPr>
            <p:cNvPr name="Freeform 343" id="343"/>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344" id="344"/>
          <p:cNvGrpSpPr/>
          <p:nvPr/>
        </p:nvGrpSpPr>
        <p:grpSpPr>
          <a:xfrm rot="0">
            <a:off x="10081260" y="6595110"/>
            <a:ext cx="2880360" cy="496062"/>
            <a:chOff x="0" y="0"/>
            <a:chExt cx="3840480" cy="661416"/>
          </a:xfrm>
        </p:grpSpPr>
        <p:sp>
          <p:nvSpPr>
            <p:cNvPr name="Freeform 345" id="345"/>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346" id="346"/>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BAU</a:t>
              </a:r>
            </a:p>
          </p:txBody>
        </p:sp>
      </p:grpSp>
      <p:grpSp>
        <p:nvGrpSpPr>
          <p:cNvPr name="Group 347" id="347"/>
          <p:cNvGrpSpPr/>
          <p:nvPr/>
        </p:nvGrpSpPr>
        <p:grpSpPr>
          <a:xfrm rot="0">
            <a:off x="12961620" y="6583680"/>
            <a:ext cx="342900" cy="576072"/>
            <a:chOff x="0" y="0"/>
            <a:chExt cx="457200" cy="768096"/>
          </a:xfrm>
        </p:grpSpPr>
        <p:sp>
          <p:nvSpPr>
            <p:cNvPr name="Freeform 348" id="348"/>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txBody>
            <a:bodyPr/>
            <a:p/>
          </p:txBody>
        </p:sp>
      </p:grpSp>
      <p:grpSp>
        <p:nvGrpSpPr>
          <p:cNvPr name="Group 349" id="349"/>
          <p:cNvGrpSpPr/>
          <p:nvPr/>
        </p:nvGrpSpPr>
        <p:grpSpPr>
          <a:xfrm rot="0">
            <a:off x="12961620" y="6547961"/>
            <a:ext cx="342900" cy="611791"/>
            <a:chOff x="0" y="0"/>
            <a:chExt cx="457200" cy="815721"/>
          </a:xfrm>
        </p:grpSpPr>
        <p:sp>
          <p:nvSpPr>
            <p:cNvPr name="Freeform 350" id="350"/>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9075" t="0" r="-179075" b="0"/>
              </a:stretch>
            </a:blipFill>
          </p:spPr>
          <p:txBody>
            <a:bodyPr/>
            <a:p/>
          </p:txBody>
        </p:sp>
      </p:grpSp>
      <p:grpSp>
        <p:nvGrpSpPr>
          <p:cNvPr name="Group 351" id="351"/>
          <p:cNvGrpSpPr/>
          <p:nvPr/>
        </p:nvGrpSpPr>
        <p:grpSpPr>
          <a:xfrm rot="0">
            <a:off x="12961620" y="6512243"/>
            <a:ext cx="342900" cy="647510"/>
            <a:chOff x="0" y="0"/>
            <a:chExt cx="457200" cy="863346"/>
          </a:xfrm>
        </p:grpSpPr>
        <p:sp>
          <p:nvSpPr>
            <p:cNvPr name="Freeform 352" id="352"/>
            <p:cNvSpPr/>
            <p:nvPr/>
          </p:nvSpPr>
          <p:spPr>
            <a:xfrm flipH="false" flipV="false" rot="0">
              <a:off x="0" y="0"/>
              <a:ext cx="457200" cy="863346"/>
            </a:xfrm>
            <a:custGeom>
              <a:avLst/>
              <a:gdLst/>
              <a:ahLst/>
              <a:cxnLst/>
              <a:rect r="r" b="b" t="t" l="l"/>
              <a:pathLst>
                <a:path h="863346" w="457200">
                  <a:moveTo>
                    <a:pt x="0" y="0"/>
                  </a:moveTo>
                  <a:lnTo>
                    <a:pt x="457200" y="0"/>
                  </a:lnTo>
                  <a:lnTo>
                    <a:pt x="457200" y="863346"/>
                  </a:lnTo>
                  <a:lnTo>
                    <a:pt x="0" y="863346"/>
                  </a:lnTo>
                  <a:close/>
                </a:path>
              </a:pathLst>
            </a:custGeom>
            <a:blipFill>
              <a:blip r:embed="rId6">
                <a:alphaModFix amt="0"/>
              </a:blip>
              <a:stretch>
                <a:fillRect l="-192279" t="0" r="-192279" b="0"/>
              </a:stretch>
            </a:blipFill>
          </p:spPr>
          <p:txBody>
            <a:bodyPr/>
            <a:p/>
          </p:txBody>
        </p:sp>
        <p:sp>
          <p:nvSpPr>
            <p:cNvPr name="TextBox 353" id="353"/>
            <p:cNvSpPr txBox="true"/>
            <p:nvPr/>
          </p:nvSpPr>
          <p:spPr>
            <a:xfrm>
              <a:off x="0" y="-47625"/>
              <a:ext cx="457200" cy="910971"/>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354" id="354"/>
          <p:cNvGrpSpPr/>
          <p:nvPr/>
        </p:nvGrpSpPr>
        <p:grpSpPr>
          <a:xfrm rot="0">
            <a:off x="13304520" y="6652260"/>
            <a:ext cx="2880360" cy="438912"/>
            <a:chOff x="0" y="0"/>
            <a:chExt cx="3840480" cy="585216"/>
          </a:xfrm>
        </p:grpSpPr>
        <p:sp>
          <p:nvSpPr>
            <p:cNvPr name="Freeform 355" id="355"/>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FFD23B"/>
            </a:solidFill>
          </p:spPr>
          <p:txBody>
            <a:bodyPr/>
            <a:p/>
          </p:txBody>
        </p:sp>
      </p:grpSp>
      <p:grpSp>
        <p:nvGrpSpPr>
          <p:cNvPr name="Group 356" id="356"/>
          <p:cNvGrpSpPr/>
          <p:nvPr/>
        </p:nvGrpSpPr>
        <p:grpSpPr>
          <a:xfrm rot="0">
            <a:off x="13304520" y="6652260"/>
            <a:ext cx="2880360" cy="438912"/>
            <a:chOff x="0" y="0"/>
            <a:chExt cx="3840480" cy="585216"/>
          </a:xfrm>
        </p:grpSpPr>
        <p:sp>
          <p:nvSpPr>
            <p:cNvPr name="Freeform 357" id="357"/>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358" id="358"/>
          <p:cNvGrpSpPr/>
          <p:nvPr/>
        </p:nvGrpSpPr>
        <p:grpSpPr>
          <a:xfrm rot="0">
            <a:off x="13304520" y="6623685"/>
            <a:ext cx="2880360" cy="467487"/>
            <a:chOff x="0" y="0"/>
            <a:chExt cx="3840480" cy="623316"/>
          </a:xfrm>
        </p:grpSpPr>
        <p:sp>
          <p:nvSpPr>
            <p:cNvPr name="Freeform 359" id="359"/>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360" id="360"/>
          <p:cNvGrpSpPr/>
          <p:nvPr/>
        </p:nvGrpSpPr>
        <p:grpSpPr>
          <a:xfrm rot="0">
            <a:off x="13304520" y="6595110"/>
            <a:ext cx="2880360" cy="496062"/>
            <a:chOff x="0" y="0"/>
            <a:chExt cx="3840480" cy="661416"/>
          </a:xfrm>
        </p:grpSpPr>
        <p:sp>
          <p:nvSpPr>
            <p:cNvPr name="Freeform 361" id="361"/>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362" id="362"/>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14313B"/>
                  </a:solidFill>
                  <a:latin typeface="Calibri (MS) Bold"/>
                  <a:ea typeface="Calibri (MS) Bold"/>
                  <a:cs typeface="Calibri (MS) Bold"/>
                  <a:sym typeface="Calibri (MS) Bold"/>
                </a:rPr>
                <a:t>Development Priority</a:t>
              </a:r>
            </a:p>
          </p:txBody>
        </p:sp>
      </p:grpSp>
      <p:grpSp>
        <p:nvGrpSpPr>
          <p:cNvPr name="Group 363" id="363"/>
          <p:cNvGrpSpPr/>
          <p:nvPr/>
        </p:nvGrpSpPr>
        <p:grpSpPr>
          <a:xfrm rot="0">
            <a:off x="16390620" y="6665976"/>
            <a:ext cx="891540" cy="411480"/>
            <a:chOff x="0" y="0"/>
            <a:chExt cx="1188720" cy="548640"/>
          </a:xfrm>
        </p:grpSpPr>
        <p:sp>
          <p:nvSpPr>
            <p:cNvPr name="Freeform 364" id="364"/>
            <p:cNvSpPr/>
            <p:nvPr/>
          </p:nvSpPr>
          <p:spPr>
            <a:xfrm flipH="false" flipV="false" rot="0">
              <a:off x="0" y="0"/>
              <a:ext cx="1188720" cy="548640"/>
            </a:xfrm>
            <a:custGeom>
              <a:avLst/>
              <a:gdLst/>
              <a:ahLst/>
              <a:cxnLst/>
              <a:rect r="r" b="b" t="t" l="l"/>
              <a:pathLst>
                <a:path h="548640" w="1188720">
                  <a:moveTo>
                    <a:pt x="0" y="274320"/>
                  </a:moveTo>
                  <a:cubicBezTo>
                    <a:pt x="0" y="122809"/>
                    <a:pt x="122809" y="0"/>
                    <a:pt x="274320" y="0"/>
                  </a:cubicBezTo>
                  <a:lnTo>
                    <a:pt x="914400" y="0"/>
                  </a:lnTo>
                  <a:cubicBezTo>
                    <a:pt x="1065911" y="0"/>
                    <a:pt x="1188720" y="122809"/>
                    <a:pt x="1188720" y="274320"/>
                  </a:cubicBezTo>
                  <a:cubicBezTo>
                    <a:pt x="1188720" y="425831"/>
                    <a:pt x="1065911" y="548640"/>
                    <a:pt x="91440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65" id="365"/>
          <p:cNvGrpSpPr/>
          <p:nvPr/>
        </p:nvGrpSpPr>
        <p:grpSpPr>
          <a:xfrm rot="0">
            <a:off x="16390620" y="6665976"/>
            <a:ext cx="891540" cy="411480"/>
            <a:chOff x="0" y="0"/>
            <a:chExt cx="1188720" cy="548640"/>
          </a:xfrm>
        </p:grpSpPr>
        <p:sp>
          <p:nvSpPr>
            <p:cNvPr name="Freeform 366" id="366"/>
            <p:cNvSpPr/>
            <p:nvPr/>
          </p:nvSpPr>
          <p:spPr>
            <a:xfrm flipH="false" flipV="false" rot="0">
              <a:off x="0" y="0"/>
              <a:ext cx="1188720" cy="548640"/>
            </a:xfrm>
            <a:custGeom>
              <a:avLst/>
              <a:gdLst/>
              <a:ahLst/>
              <a:cxnLst/>
              <a:rect r="r" b="b" t="t" l="l"/>
              <a:pathLst>
                <a:path h="548640" w="1188720">
                  <a:moveTo>
                    <a:pt x="0" y="0"/>
                  </a:moveTo>
                  <a:lnTo>
                    <a:pt x="1188720" y="0"/>
                  </a:lnTo>
                  <a:lnTo>
                    <a:pt x="1188720" y="548640"/>
                  </a:lnTo>
                  <a:lnTo>
                    <a:pt x="0" y="548640"/>
                  </a:lnTo>
                  <a:close/>
                </a:path>
              </a:pathLst>
            </a:custGeom>
            <a:blipFill>
              <a:blip r:embed="rId4">
                <a:alphaModFix amt="0"/>
              </a:blip>
              <a:stretch>
                <a:fillRect l="-9258" t="0" r="-9257" b="0"/>
              </a:stretch>
            </a:blipFill>
          </p:spPr>
          <p:txBody>
            <a:bodyPr/>
            <a:p/>
          </p:txBody>
        </p:sp>
      </p:grpSp>
      <p:grpSp>
        <p:nvGrpSpPr>
          <p:cNvPr name="Group 367" id="367"/>
          <p:cNvGrpSpPr/>
          <p:nvPr/>
        </p:nvGrpSpPr>
        <p:grpSpPr>
          <a:xfrm rot="0">
            <a:off x="16390620" y="6637401"/>
            <a:ext cx="891540" cy="440055"/>
            <a:chOff x="0" y="0"/>
            <a:chExt cx="1188720" cy="586740"/>
          </a:xfrm>
        </p:grpSpPr>
        <p:sp>
          <p:nvSpPr>
            <p:cNvPr name="Freeform 368" id="368"/>
            <p:cNvSpPr/>
            <p:nvPr/>
          </p:nvSpPr>
          <p:spPr>
            <a:xfrm flipH="false" flipV="false" rot="0">
              <a:off x="0" y="0"/>
              <a:ext cx="1188720" cy="586740"/>
            </a:xfrm>
            <a:custGeom>
              <a:avLst/>
              <a:gdLst/>
              <a:ahLst/>
              <a:cxnLst/>
              <a:rect r="r" b="b" t="t" l="l"/>
              <a:pathLst>
                <a:path h="586740" w="1188720">
                  <a:moveTo>
                    <a:pt x="0" y="0"/>
                  </a:moveTo>
                  <a:lnTo>
                    <a:pt x="1188720" y="0"/>
                  </a:lnTo>
                  <a:lnTo>
                    <a:pt x="1188720" y="586740"/>
                  </a:lnTo>
                  <a:lnTo>
                    <a:pt x="0" y="586740"/>
                  </a:lnTo>
                  <a:close/>
                </a:path>
              </a:pathLst>
            </a:custGeom>
            <a:blipFill>
              <a:blip r:embed="rId5">
                <a:alphaModFix amt="0"/>
              </a:blip>
              <a:stretch>
                <a:fillRect l="-13373" t="0" r="-13372" b="0"/>
              </a:stretch>
            </a:blipFill>
          </p:spPr>
          <p:txBody>
            <a:bodyPr/>
            <a:p/>
          </p:txBody>
        </p:sp>
      </p:grpSp>
      <p:grpSp>
        <p:nvGrpSpPr>
          <p:cNvPr name="Group 369" id="369"/>
          <p:cNvGrpSpPr/>
          <p:nvPr/>
        </p:nvGrpSpPr>
        <p:grpSpPr>
          <a:xfrm rot="0">
            <a:off x="16390620" y="6608826"/>
            <a:ext cx="891540" cy="468630"/>
            <a:chOff x="0" y="0"/>
            <a:chExt cx="1188720" cy="624840"/>
          </a:xfrm>
        </p:grpSpPr>
        <p:sp>
          <p:nvSpPr>
            <p:cNvPr name="Freeform 370" id="370"/>
            <p:cNvSpPr/>
            <p:nvPr/>
          </p:nvSpPr>
          <p:spPr>
            <a:xfrm flipH="false" flipV="false" rot="0">
              <a:off x="0" y="0"/>
              <a:ext cx="1188720" cy="624840"/>
            </a:xfrm>
            <a:custGeom>
              <a:avLst/>
              <a:gdLst/>
              <a:ahLst/>
              <a:cxnLst/>
              <a:rect r="r" b="b" t="t" l="l"/>
              <a:pathLst>
                <a:path h="624840" w="1188720">
                  <a:moveTo>
                    <a:pt x="0" y="0"/>
                  </a:moveTo>
                  <a:lnTo>
                    <a:pt x="1188720" y="0"/>
                  </a:lnTo>
                  <a:lnTo>
                    <a:pt x="1188720" y="624840"/>
                  </a:lnTo>
                  <a:lnTo>
                    <a:pt x="0" y="624840"/>
                  </a:lnTo>
                  <a:close/>
                </a:path>
              </a:pathLst>
            </a:custGeom>
            <a:blipFill>
              <a:blip r:embed="rId6">
                <a:alphaModFix amt="0"/>
              </a:blip>
              <a:stretch>
                <a:fillRect l="-17441" t="0" r="-17441" b="0"/>
              </a:stretch>
            </a:blipFill>
          </p:spPr>
          <p:txBody>
            <a:bodyPr/>
            <a:p/>
          </p:txBody>
        </p:sp>
        <p:sp>
          <p:nvSpPr>
            <p:cNvPr name="TextBox 371" id="371"/>
            <p:cNvSpPr txBox="true"/>
            <p:nvPr/>
          </p:nvSpPr>
          <p:spPr>
            <a:xfrm>
              <a:off x="0" y="-38100"/>
              <a:ext cx="1188720" cy="662940"/>
            </a:xfrm>
            <a:prstGeom prst="rect">
              <a:avLst/>
            </a:prstGeom>
          </p:spPr>
          <p:txBody>
            <a:bodyPr anchor="ctr" rtlCol="false" tIns="0" lIns="0" bIns="0" rIns="0"/>
            <a:lstStyle/>
            <a:p>
              <a:pPr algn="ctr">
                <a:lnSpc>
                  <a:spcPts val="1709"/>
                </a:lnSpc>
              </a:pPr>
              <a:r>
                <a:rPr lang="en-US" sz="1425" b="true">
                  <a:solidFill>
                    <a:srgbClr val="FFFFFF"/>
                  </a:solidFill>
                  <a:latin typeface="Calibri (MS) Bold"/>
                  <a:ea typeface="Calibri (MS) Bold"/>
                  <a:cs typeface="Calibri (MS) Bold"/>
                  <a:sym typeface="Calibri (MS) Bold"/>
                </a:rPr>
                <a:t>ROBUST</a:t>
              </a:r>
            </a:p>
          </p:txBody>
        </p:sp>
      </p:grpSp>
      <p:grpSp>
        <p:nvGrpSpPr>
          <p:cNvPr name="Group 372" id="372"/>
          <p:cNvGrpSpPr/>
          <p:nvPr/>
        </p:nvGrpSpPr>
        <p:grpSpPr>
          <a:xfrm rot="0">
            <a:off x="822960" y="7228332"/>
            <a:ext cx="16637508" cy="576072"/>
            <a:chOff x="0" y="0"/>
            <a:chExt cx="22183344" cy="768096"/>
          </a:xfrm>
        </p:grpSpPr>
        <p:sp>
          <p:nvSpPr>
            <p:cNvPr name="Freeform 373" id="373"/>
            <p:cNvSpPr/>
            <p:nvPr/>
          </p:nvSpPr>
          <p:spPr>
            <a:xfrm flipH="false" flipV="false" rot="0">
              <a:off x="0" y="0"/>
              <a:ext cx="22183344" cy="768096"/>
            </a:xfrm>
            <a:custGeom>
              <a:avLst/>
              <a:gdLst/>
              <a:ahLst/>
              <a:cxnLst/>
              <a:rect r="r" b="b" t="t" l="l"/>
              <a:pathLst>
                <a:path h="768096" w="22183344">
                  <a:moveTo>
                    <a:pt x="0" y="182880"/>
                  </a:moveTo>
                  <a:cubicBezTo>
                    <a:pt x="0" y="81915"/>
                    <a:pt x="81915" y="0"/>
                    <a:pt x="182880" y="0"/>
                  </a:cubicBezTo>
                  <a:lnTo>
                    <a:pt x="22000463" y="0"/>
                  </a:lnTo>
                  <a:cubicBezTo>
                    <a:pt x="22101428" y="0"/>
                    <a:pt x="22183344" y="81915"/>
                    <a:pt x="22183344" y="182880"/>
                  </a:cubicBezTo>
                  <a:lnTo>
                    <a:pt x="22183344" y="585216"/>
                  </a:lnTo>
                  <a:cubicBezTo>
                    <a:pt x="22183344" y="686181"/>
                    <a:pt x="22101428" y="768096"/>
                    <a:pt x="22000463" y="768096"/>
                  </a:cubicBezTo>
                  <a:lnTo>
                    <a:pt x="182880" y="768096"/>
                  </a:lnTo>
                  <a:cubicBezTo>
                    <a:pt x="81915" y="768096"/>
                    <a:pt x="0" y="686181"/>
                    <a:pt x="0" y="585216"/>
                  </a:cubicBezTo>
                  <a:close/>
                </a:path>
              </a:pathLst>
            </a:custGeom>
            <a:solidFill>
              <a:srgbClr val="FFFFFF"/>
            </a:solidFill>
          </p:spPr>
          <p:txBody>
            <a:bodyPr/>
            <a:p/>
          </p:txBody>
        </p:sp>
      </p:grpSp>
      <p:grpSp>
        <p:nvGrpSpPr>
          <p:cNvPr name="Group 374" id="374"/>
          <p:cNvGrpSpPr/>
          <p:nvPr/>
        </p:nvGrpSpPr>
        <p:grpSpPr>
          <a:xfrm rot="0">
            <a:off x="1097280" y="7228332"/>
            <a:ext cx="5486400" cy="576072"/>
            <a:chOff x="0" y="0"/>
            <a:chExt cx="7315200" cy="768096"/>
          </a:xfrm>
        </p:grpSpPr>
        <p:sp>
          <p:nvSpPr>
            <p:cNvPr name="Freeform 375" id="375"/>
            <p:cNvSpPr/>
            <p:nvPr/>
          </p:nvSpPr>
          <p:spPr>
            <a:xfrm flipH="false" flipV="false" rot="0">
              <a:off x="0" y="0"/>
              <a:ext cx="7315200" cy="768096"/>
            </a:xfrm>
            <a:custGeom>
              <a:avLst/>
              <a:gdLst/>
              <a:ahLst/>
              <a:cxnLst/>
              <a:rect r="r" b="b" t="t" l="l"/>
              <a:pathLst>
                <a:path h="768096" w="7315200">
                  <a:moveTo>
                    <a:pt x="0" y="0"/>
                  </a:moveTo>
                  <a:lnTo>
                    <a:pt x="7315200" y="0"/>
                  </a:lnTo>
                  <a:lnTo>
                    <a:pt x="7315200" y="768096"/>
                  </a:lnTo>
                  <a:lnTo>
                    <a:pt x="0" y="768096"/>
                  </a:lnTo>
                  <a:close/>
                </a:path>
              </a:pathLst>
            </a:custGeom>
            <a:blipFill>
              <a:blip r:embed="rId4">
                <a:alphaModFix amt="0"/>
              </a:blip>
              <a:stretch>
                <a:fillRect l="0" t="-135443" r="0" b="-135443"/>
              </a:stretch>
            </a:blipFill>
          </p:spPr>
          <p:txBody>
            <a:bodyPr/>
            <a:p/>
          </p:txBody>
        </p:sp>
      </p:grpSp>
      <p:grpSp>
        <p:nvGrpSpPr>
          <p:cNvPr name="Group 376" id="376"/>
          <p:cNvGrpSpPr/>
          <p:nvPr/>
        </p:nvGrpSpPr>
        <p:grpSpPr>
          <a:xfrm rot="0">
            <a:off x="1097280" y="7192613"/>
            <a:ext cx="5486400" cy="611791"/>
            <a:chOff x="0" y="0"/>
            <a:chExt cx="7315200" cy="815721"/>
          </a:xfrm>
        </p:grpSpPr>
        <p:sp>
          <p:nvSpPr>
            <p:cNvPr name="Freeform 377" id="377"/>
            <p:cNvSpPr/>
            <p:nvPr/>
          </p:nvSpPr>
          <p:spPr>
            <a:xfrm flipH="false" flipV="false" rot="0">
              <a:off x="0" y="0"/>
              <a:ext cx="7315200" cy="815721"/>
            </a:xfrm>
            <a:custGeom>
              <a:avLst/>
              <a:gdLst/>
              <a:ahLst/>
              <a:cxnLst/>
              <a:rect r="r" b="b" t="t" l="l"/>
              <a:pathLst>
                <a:path h="815721" w="7315200">
                  <a:moveTo>
                    <a:pt x="0" y="0"/>
                  </a:moveTo>
                  <a:lnTo>
                    <a:pt x="7315200" y="0"/>
                  </a:lnTo>
                  <a:lnTo>
                    <a:pt x="7315200" y="815721"/>
                  </a:lnTo>
                  <a:lnTo>
                    <a:pt x="0" y="815721"/>
                  </a:lnTo>
                  <a:close/>
                </a:path>
              </a:pathLst>
            </a:custGeom>
            <a:blipFill>
              <a:blip r:embed="rId5">
                <a:alphaModFix amt="0"/>
              </a:blip>
              <a:stretch>
                <a:fillRect l="0" t="-124616" r="0" b="-124616"/>
              </a:stretch>
            </a:blipFill>
          </p:spPr>
          <p:txBody>
            <a:bodyPr/>
            <a:p/>
          </p:txBody>
        </p:sp>
      </p:grpSp>
      <p:grpSp>
        <p:nvGrpSpPr>
          <p:cNvPr name="Group 378" id="378"/>
          <p:cNvGrpSpPr/>
          <p:nvPr/>
        </p:nvGrpSpPr>
        <p:grpSpPr>
          <a:xfrm rot="0">
            <a:off x="1097280" y="7156894"/>
            <a:ext cx="5486400" cy="647510"/>
            <a:chOff x="0" y="0"/>
            <a:chExt cx="7315200" cy="863346"/>
          </a:xfrm>
        </p:grpSpPr>
        <p:sp>
          <p:nvSpPr>
            <p:cNvPr name="Freeform 379" id="379"/>
            <p:cNvSpPr/>
            <p:nvPr/>
          </p:nvSpPr>
          <p:spPr>
            <a:xfrm flipH="false" flipV="false" rot="0">
              <a:off x="0" y="0"/>
              <a:ext cx="7315200" cy="863346"/>
            </a:xfrm>
            <a:custGeom>
              <a:avLst/>
              <a:gdLst/>
              <a:ahLst/>
              <a:cxnLst/>
              <a:rect r="r" b="b" t="t" l="l"/>
              <a:pathLst>
                <a:path h="863346" w="7315200">
                  <a:moveTo>
                    <a:pt x="0" y="0"/>
                  </a:moveTo>
                  <a:lnTo>
                    <a:pt x="7315200" y="0"/>
                  </a:lnTo>
                  <a:lnTo>
                    <a:pt x="7315200" y="863346"/>
                  </a:lnTo>
                  <a:lnTo>
                    <a:pt x="0" y="863346"/>
                  </a:lnTo>
                  <a:close/>
                </a:path>
              </a:pathLst>
            </a:custGeom>
            <a:blipFill>
              <a:blip r:embed="rId6">
                <a:alphaModFix amt="0"/>
              </a:blip>
              <a:stretch>
                <a:fillRect l="0" t="-115098" r="0" b="-115098"/>
              </a:stretch>
            </a:blipFill>
          </p:spPr>
          <p:txBody>
            <a:bodyPr/>
            <a:p/>
          </p:txBody>
        </p:sp>
        <p:sp>
          <p:nvSpPr>
            <p:cNvPr name="TextBox 380" id="380"/>
            <p:cNvSpPr txBox="true"/>
            <p:nvPr/>
          </p:nvSpPr>
          <p:spPr>
            <a:xfrm>
              <a:off x="0" y="-47625"/>
              <a:ext cx="7315200" cy="910971"/>
            </a:xfrm>
            <a:prstGeom prst="rect">
              <a:avLst/>
            </a:prstGeom>
          </p:spPr>
          <p:txBody>
            <a:bodyPr anchor="ctr" rtlCol="false" tIns="0" lIns="0" bIns="0" rIns="0"/>
            <a:lstStyle/>
            <a:p>
              <a:pPr algn="l">
                <a:lnSpc>
                  <a:spcPts val="2340"/>
                </a:lnSpc>
              </a:pPr>
              <a:r>
                <a:rPr lang="en-US" sz="1950" b="true">
                  <a:solidFill>
                    <a:srgbClr val="0B5E6E"/>
                  </a:solidFill>
                  <a:latin typeface="Calibri (MS) Bold"/>
                  <a:ea typeface="Calibri (MS) Bold"/>
                  <a:cs typeface="Calibri (MS) Bold"/>
                  <a:sym typeface="Calibri (MS) Bold"/>
                </a:rPr>
                <a:t>Konversi lahan pariwisata kumulatif</a:t>
              </a:r>
            </a:p>
          </p:txBody>
        </p:sp>
      </p:grpSp>
      <p:grpSp>
        <p:nvGrpSpPr>
          <p:cNvPr name="Group 381" id="381"/>
          <p:cNvGrpSpPr/>
          <p:nvPr/>
        </p:nvGrpSpPr>
        <p:grpSpPr>
          <a:xfrm rot="0">
            <a:off x="6858000" y="7296912"/>
            <a:ext cx="2880360" cy="438912"/>
            <a:chOff x="0" y="0"/>
            <a:chExt cx="3840480" cy="585216"/>
          </a:xfrm>
        </p:grpSpPr>
        <p:sp>
          <p:nvSpPr>
            <p:cNvPr name="Freeform 382" id="382"/>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39C0D3"/>
            </a:solidFill>
          </p:spPr>
          <p:txBody>
            <a:bodyPr/>
            <a:p/>
          </p:txBody>
        </p:sp>
      </p:grpSp>
      <p:grpSp>
        <p:nvGrpSpPr>
          <p:cNvPr name="Group 383" id="383"/>
          <p:cNvGrpSpPr/>
          <p:nvPr/>
        </p:nvGrpSpPr>
        <p:grpSpPr>
          <a:xfrm rot="0">
            <a:off x="6858000" y="7296912"/>
            <a:ext cx="2880360" cy="438912"/>
            <a:chOff x="0" y="0"/>
            <a:chExt cx="3840480" cy="585216"/>
          </a:xfrm>
        </p:grpSpPr>
        <p:sp>
          <p:nvSpPr>
            <p:cNvPr name="Freeform 384" id="384"/>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385" id="385"/>
          <p:cNvGrpSpPr/>
          <p:nvPr/>
        </p:nvGrpSpPr>
        <p:grpSpPr>
          <a:xfrm rot="0">
            <a:off x="6858000" y="7268337"/>
            <a:ext cx="2880360" cy="467487"/>
            <a:chOff x="0" y="0"/>
            <a:chExt cx="3840480" cy="623316"/>
          </a:xfrm>
        </p:grpSpPr>
        <p:sp>
          <p:nvSpPr>
            <p:cNvPr name="Freeform 386" id="386"/>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387" id="387"/>
          <p:cNvGrpSpPr/>
          <p:nvPr/>
        </p:nvGrpSpPr>
        <p:grpSpPr>
          <a:xfrm rot="0">
            <a:off x="6858000" y="7239762"/>
            <a:ext cx="2880360" cy="496062"/>
            <a:chOff x="0" y="0"/>
            <a:chExt cx="3840480" cy="661416"/>
          </a:xfrm>
        </p:grpSpPr>
        <p:sp>
          <p:nvSpPr>
            <p:cNvPr name="Freeform 388" id="388"/>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389" id="389"/>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Sustainable</a:t>
              </a:r>
            </a:p>
          </p:txBody>
        </p:sp>
      </p:grpSp>
      <p:grpSp>
        <p:nvGrpSpPr>
          <p:cNvPr name="Group 390" id="390"/>
          <p:cNvGrpSpPr/>
          <p:nvPr/>
        </p:nvGrpSpPr>
        <p:grpSpPr>
          <a:xfrm rot="0">
            <a:off x="9738360" y="7228332"/>
            <a:ext cx="342900" cy="576072"/>
            <a:chOff x="0" y="0"/>
            <a:chExt cx="457200" cy="768096"/>
          </a:xfrm>
        </p:grpSpPr>
        <p:sp>
          <p:nvSpPr>
            <p:cNvPr name="Freeform 391" id="391"/>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txBody>
            <a:bodyPr/>
            <a:p/>
          </p:txBody>
        </p:sp>
      </p:grpSp>
      <p:grpSp>
        <p:nvGrpSpPr>
          <p:cNvPr name="Group 392" id="392"/>
          <p:cNvGrpSpPr/>
          <p:nvPr/>
        </p:nvGrpSpPr>
        <p:grpSpPr>
          <a:xfrm rot="0">
            <a:off x="9738360" y="7192613"/>
            <a:ext cx="342900" cy="611791"/>
            <a:chOff x="0" y="0"/>
            <a:chExt cx="457200" cy="815721"/>
          </a:xfrm>
        </p:grpSpPr>
        <p:sp>
          <p:nvSpPr>
            <p:cNvPr name="Freeform 393" id="393"/>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9075" t="0" r="-179075" b="0"/>
              </a:stretch>
            </a:blipFill>
          </p:spPr>
          <p:txBody>
            <a:bodyPr/>
            <a:p/>
          </p:txBody>
        </p:sp>
      </p:grpSp>
      <p:grpSp>
        <p:nvGrpSpPr>
          <p:cNvPr name="Group 394" id="394"/>
          <p:cNvGrpSpPr/>
          <p:nvPr/>
        </p:nvGrpSpPr>
        <p:grpSpPr>
          <a:xfrm rot="0">
            <a:off x="9738360" y="7156894"/>
            <a:ext cx="342900" cy="647510"/>
            <a:chOff x="0" y="0"/>
            <a:chExt cx="457200" cy="863346"/>
          </a:xfrm>
        </p:grpSpPr>
        <p:sp>
          <p:nvSpPr>
            <p:cNvPr name="Freeform 395" id="395"/>
            <p:cNvSpPr/>
            <p:nvPr/>
          </p:nvSpPr>
          <p:spPr>
            <a:xfrm flipH="false" flipV="false" rot="0">
              <a:off x="0" y="0"/>
              <a:ext cx="457200" cy="863346"/>
            </a:xfrm>
            <a:custGeom>
              <a:avLst/>
              <a:gdLst/>
              <a:ahLst/>
              <a:cxnLst/>
              <a:rect r="r" b="b" t="t" l="l"/>
              <a:pathLst>
                <a:path h="863346" w="457200">
                  <a:moveTo>
                    <a:pt x="0" y="0"/>
                  </a:moveTo>
                  <a:lnTo>
                    <a:pt x="457200" y="0"/>
                  </a:lnTo>
                  <a:lnTo>
                    <a:pt x="457200" y="863346"/>
                  </a:lnTo>
                  <a:lnTo>
                    <a:pt x="0" y="863346"/>
                  </a:lnTo>
                  <a:close/>
                </a:path>
              </a:pathLst>
            </a:custGeom>
            <a:blipFill>
              <a:blip r:embed="rId6">
                <a:alphaModFix amt="0"/>
              </a:blip>
              <a:stretch>
                <a:fillRect l="-192279" t="0" r="-192279" b="0"/>
              </a:stretch>
            </a:blipFill>
          </p:spPr>
          <p:txBody>
            <a:bodyPr/>
            <a:p/>
          </p:txBody>
        </p:sp>
        <p:sp>
          <p:nvSpPr>
            <p:cNvPr name="TextBox 396" id="396"/>
            <p:cNvSpPr txBox="true"/>
            <p:nvPr/>
          </p:nvSpPr>
          <p:spPr>
            <a:xfrm>
              <a:off x="0" y="-47625"/>
              <a:ext cx="457200" cy="910971"/>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397" id="397"/>
          <p:cNvGrpSpPr/>
          <p:nvPr/>
        </p:nvGrpSpPr>
        <p:grpSpPr>
          <a:xfrm rot="0">
            <a:off x="10081260" y="7296912"/>
            <a:ext cx="2880360" cy="438912"/>
            <a:chOff x="0" y="0"/>
            <a:chExt cx="3840480" cy="585216"/>
          </a:xfrm>
        </p:grpSpPr>
        <p:sp>
          <p:nvSpPr>
            <p:cNvPr name="Freeform 398" id="398"/>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8A99A1"/>
            </a:solidFill>
          </p:spPr>
          <p:txBody>
            <a:bodyPr/>
            <a:p/>
          </p:txBody>
        </p:sp>
      </p:grpSp>
      <p:grpSp>
        <p:nvGrpSpPr>
          <p:cNvPr name="Group 399" id="399"/>
          <p:cNvGrpSpPr/>
          <p:nvPr/>
        </p:nvGrpSpPr>
        <p:grpSpPr>
          <a:xfrm rot="0">
            <a:off x="10081260" y="7296912"/>
            <a:ext cx="2880360" cy="438912"/>
            <a:chOff x="0" y="0"/>
            <a:chExt cx="3840480" cy="585216"/>
          </a:xfrm>
        </p:grpSpPr>
        <p:sp>
          <p:nvSpPr>
            <p:cNvPr name="Freeform 400" id="400"/>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401" id="401"/>
          <p:cNvGrpSpPr/>
          <p:nvPr/>
        </p:nvGrpSpPr>
        <p:grpSpPr>
          <a:xfrm rot="0">
            <a:off x="10081260" y="7268337"/>
            <a:ext cx="2880360" cy="467487"/>
            <a:chOff x="0" y="0"/>
            <a:chExt cx="3840480" cy="623316"/>
          </a:xfrm>
        </p:grpSpPr>
        <p:sp>
          <p:nvSpPr>
            <p:cNvPr name="Freeform 402" id="402"/>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403" id="403"/>
          <p:cNvGrpSpPr/>
          <p:nvPr/>
        </p:nvGrpSpPr>
        <p:grpSpPr>
          <a:xfrm rot="0">
            <a:off x="10081260" y="7239762"/>
            <a:ext cx="2880360" cy="496062"/>
            <a:chOff x="0" y="0"/>
            <a:chExt cx="3840480" cy="661416"/>
          </a:xfrm>
        </p:grpSpPr>
        <p:sp>
          <p:nvSpPr>
            <p:cNvPr name="Freeform 404" id="404"/>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405" id="405"/>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BAU</a:t>
              </a:r>
            </a:p>
          </p:txBody>
        </p:sp>
      </p:grpSp>
      <p:grpSp>
        <p:nvGrpSpPr>
          <p:cNvPr name="Group 406" id="406"/>
          <p:cNvGrpSpPr/>
          <p:nvPr/>
        </p:nvGrpSpPr>
        <p:grpSpPr>
          <a:xfrm rot="0">
            <a:off x="12961620" y="7228332"/>
            <a:ext cx="342900" cy="576072"/>
            <a:chOff x="0" y="0"/>
            <a:chExt cx="457200" cy="768096"/>
          </a:xfrm>
        </p:grpSpPr>
        <p:sp>
          <p:nvSpPr>
            <p:cNvPr name="Freeform 407" id="407"/>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txBody>
            <a:bodyPr/>
            <a:p/>
          </p:txBody>
        </p:sp>
      </p:grpSp>
      <p:grpSp>
        <p:nvGrpSpPr>
          <p:cNvPr name="Group 408" id="408"/>
          <p:cNvGrpSpPr/>
          <p:nvPr/>
        </p:nvGrpSpPr>
        <p:grpSpPr>
          <a:xfrm rot="0">
            <a:off x="12961620" y="7192613"/>
            <a:ext cx="342900" cy="611791"/>
            <a:chOff x="0" y="0"/>
            <a:chExt cx="457200" cy="815721"/>
          </a:xfrm>
        </p:grpSpPr>
        <p:sp>
          <p:nvSpPr>
            <p:cNvPr name="Freeform 409" id="409"/>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9075" t="0" r="-179075" b="0"/>
              </a:stretch>
            </a:blipFill>
          </p:spPr>
          <p:txBody>
            <a:bodyPr/>
            <a:p/>
          </p:txBody>
        </p:sp>
      </p:grpSp>
      <p:grpSp>
        <p:nvGrpSpPr>
          <p:cNvPr name="Group 410" id="410"/>
          <p:cNvGrpSpPr/>
          <p:nvPr/>
        </p:nvGrpSpPr>
        <p:grpSpPr>
          <a:xfrm rot="0">
            <a:off x="12961620" y="7156894"/>
            <a:ext cx="342900" cy="647510"/>
            <a:chOff x="0" y="0"/>
            <a:chExt cx="457200" cy="863346"/>
          </a:xfrm>
        </p:grpSpPr>
        <p:sp>
          <p:nvSpPr>
            <p:cNvPr name="Freeform 411" id="411"/>
            <p:cNvSpPr/>
            <p:nvPr/>
          </p:nvSpPr>
          <p:spPr>
            <a:xfrm flipH="false" flipV="false" rot="0">
              <a:off x="0" y="0"/>
              <a:ext cx="457200" cy="863346"/>
            </a:xfrm>
            <a:custGeom>
              <a:avLst/>
              <a:gdLst/>
              <a:ahLst/>
              <a:cxnLst/>
              <a:rect r="r" b="b" t="t" l="l"/>
              <a:pathLst>
                <a:path h="863346" w="457200">
                  <a:moveTo>
                    <a:pt x="0" y="0"/>
                  </a:moveTo>
                  <a:lnTo>
                    <a:pt x="457200" y="0"/>
                  </a:lnTo>
                  <a:lnTo>
                    <a:pt x="457200" y="863346"/>
                  </a:lnTo>
                  <a:lnTo>
                    <a:pt x="0" y="863346"/>
                  </a:lnTo>
                  <a:close/>
                </a:path>
              </a:pathLst>
            </a:custGeom>
            <a:blipFill>
              <a:blip r:embed="rId6">
                <a:alphaModFix amt="0"/>
              </a:blip>
              <a:stretch>
                <a:fillRect l="-192279" t="0" r="-192279" b="0"/>
              </a:stretch>
            </a:blipFill>
          </p:spPr>
          <p:txBody>
            <a:bodyPr/>
            <a:p/>
          </p:txBody>
        </p:sp>
        <p:sp>
          <p:nvSpPr>
            <p:cNvPr name="TextBox 412" id="412"/>
            <p:cNvSpPr txBox="true"/>
            <p:nvPr/>
          </p:nvSpPr>
          <p:spPr>
            <a:xfrm>
              <a:off x="0" y="-47625"/>
              <a:ext cx="457200" cy="910971"/>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413" id="413"/>
          <p:cNvGrpSpPr/>
          <p:nvPr/>
        </p:nvGrpSpPr>
        <p:grpSpPr>
          <a:xfrm rot="0">
            <a:off x="13304520" y="7296912"/>
            <a:ext cx="2880360" cy="438912"/>
            <a:chOff x="0" y="0"/>
            <a:chExt cx="3840480" cy="585216"/>
          </a:xfrm>
        </p:grpSpPr>
        <p:sp>
          <p:nvSpPr>
            <p:cNvPr name="Freeform 414" id="414"/>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FFD23B"/>
            </a:solidFill>
          </p:spPr>
          <p:txBody>
            <a:bodyPr/>
            <a:p/>
          </p:txBody>
        </p:sp>
      </p:grpSp>
      <p:grpSp>
        <p:nvGrpSpPr>
          <p:cNvPr name="Group 415" id="415"/>
          <p:cNvGrpSpPr/>
          <p:nvPr/>
        </p:nvGrpSpPr>
        <p:grpSpPr>
          <a:xfrm rot="0">
            <a:off x="13304520" y="7296912"/>
            <a:ext cx="2880360" cy="438912"/>
            <a:chOff x="0" y="0"/>
            <a:chExt cx="3840480" cy="585216"/>
          </a:xfrm>
        </p:grpSpPr>
        <p:sp>
          <p:nvSpPr>
            <p:cNvPr name="Freeform 416" id="416"/>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417" id="417"/>
          <p:cNvGrpSpPr/>
          <p:nvPr/>
        </p:nvGrpSpPr>
        <p:grpSpPr>
          <a:xfrm rot="0">
            <a:off x="13304520" y="7268337"/>
            <a:ext cx="2880360" cy="467487"/>
            <a:chOff x="0" y="0"/>
            <a:chExt cx="3840480" cy="623316"/>
          </a:xfrm>
        </p:grpSpPr>
        <p:sp>
          <p:nvSpPr>
            <p:cNvPr name="Freeform 418" id="418"/>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419" id="419"/>
          <p:cNvGrpSpPr/>
          <p:nvPr/>
        </p:nvGrpSpPr>
        <p:grpSpPr>
          <a:xfrm rot="0">
            <a:off x="13304520" y="7239762"/>
            <a:ext cx="2880360" cy="496062"/>
            <a:chOff x="0" y="0"/>
            <a:chExt cx="3840480" cy="661416"/>
          </a:xfrm>
        </p:grpSpPr>
        <p:sp>
          <p:nvSpPr>
            <p:cNvPr name="Freeform 420" id="420"/>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421" id="421"/>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14313B"/>
                  </a:solidFill>
                  <a:latin typeface="Calibri (MS) Bold"/>
                  <a:ea typeface="Calibri (MS) Bold"/>
                  <a:cs typeface="Calibri (MS) Bold"/>
                  <a:sym typeface="Calibri (MS) Bold"/>
                </a:rPr>
                <a:t>Development Priority</a:t>
              </a:r>
            </a:p>
          </p:txBody>
        </p:sp>
      </p:grpSp>
      <p:grpSp>
        <p:nvGrpSpPr>
          <p:cNvPr name="Group 422" id="422"/>
          <p:cNvGrpSpPr/>
          <p:nvPr/>
        </p:nvGrpSpPr>
        <p:grpSpPr>
          <a:xfrm rot="0">
            <a:off x="16390620" y="7310628"/>
            <a:ext cx="891540" cy="411480"/>
            <a:chOff x="0" y="0"/>
            <a:chExt cx="1188720" cy="548640"/>
          </a:xfrm>
        </p:grpSpPr>
        <p:sp>
          <p:nvSpPr>
            <p:cNvPr name="Freeform 423" id="423"/>
            <p:cNvSpPr/>
            <p:nvPr/>
          </p:nvSpPr>
          <p:spPr>
            <a:xfrm flipH="false" flipV="false" rot="0">
              <a:off x="0" y="0"/>
              <a:ext cx="1188720" cy="548640"/>
            </a:xfrm>
            <a:custGeom>
              <a:avLst/>
              <a:gdLst/>
              <a:ahLst/>
              <a:cxnLst/>
              <a:rect r="r" b="b" t="t" l="l"/>
              <a:pathLst>
                <a:path h="548640" w="1188720">
                  <a:moveTo>
                    <a:pt x="0" y="274320"/>
                  </a:moveTo>
                  <a:cubicBezTo>
                    <a:pt x="0" y="122809"/>
                    <a:pt x="122809" y="0"/>
                    <a:pt x="274320" y="0"/>
                  </a:cubicBezTo>
                  <a:lnTo>
                    <a:pt x="914400" y="0"/>
                  </a:lnTo>
                  <a:cubicBezTo>
                    <a:pt x="1065911" y="0"/>
                    <a:pt x="1188720" y="122809"/>
                    <a:pt x="1188720" y="274320"/>
                  </a:cubicBezTo>
                  <a:cubicBezTo>
                    <a:pt x="1188720" y="425831"/>
                    <a:pt x="1065911" y="548640"/>
                    <a:pt x="91440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24" id="424"/>
          <p:cNvGrpSpPr/>
          <p:nvPr/>
        </p:nvGrpSpPr>
        <p:grpSpPr>
          <a:xfrm rot="0">
            <a:off x="16390620" y="7310628"/>
            <a:ext cx="891540" cy="411480"/>
            <a:chOff x="0" y="0"/>
            <a:chExt cx="1188720" cy="548640"/>
          </a:xfrm>
        </p:grpSpPr>
        <p:sp>
          <p:nvSpPr>
            <p:cNvPr name="Freeform 425" id="425"/>
            <p:cNvSpPr/>
            <p:nvPr/>
          </p:nvSpPr>
          <p:spPr>
            <a:xfrm flipH="false" flipV="false" rot="0">
              <a:off x="0" y="0"/>
              <a:ext cx="1188720" cy="548640"/>
            </a:xfrm>
            <a:custGeom>
              <a:avLst/>
              <a:gdLst/>
              <a:ahLst/>
              <a:cxnLst/>
              <a:rect r="r" b="b" t="t" l="l"/>
              <a:pathLst>
                <a:path h="548640" w="1188720">
                  <a:moveTo>
                    <a:pt x="0" y="0"/>
                  </a:moveTo>
                  <a:lnTo>
                    <a:pt x="1188720" y="0"/>
                  </a:lnTo>
                  <a:lnTo>
                    <a:pt x="1188720" y="548640"/>
                  </a:lnTo>
                  <a:lnTo>
                    <a:pt x="0" y="548640"/>
                  </a:lnTo>
                  <a:close/>
                </a:path>
              </a:pathLst>
            </a:custGeom>
            <a:blipFill>
              <a:blip r:embed="rId4">
                <a:alphaModFix amt="0"/>
              </a:blip>
              <a:stretch>
                <a:fillRect l="-9258" t="0" r="-9257" b="0"/>
              </a:stretch>
            </a:blipFill>
          </p:spPr>
          <p:txBody>
            <a:bodyPr/>
            <a:p/>
          </p:txBody>
        </p:sp>
      </p:grpSp>
      <p:grpSp>
        <p:nvGrpSpPr>
          <p:cNvPr name="Group 426" id="426"/>
          <p:cNvGrpSpPr/>
          <p:nvPr/>
        </p:nvGrpSpPr>
        <p:grpSpPr>
          <a:xfrm rot="0">
            <a:off x="16390620" y="7282053"/>
            <a:ext cx="891540" cy="440055"/>
            <a:chOff x="0" y="0"/>
            <a:chExt cx="1188720" cy="586740"/>
          </a:xfrm>
        </p:grpSpPr>
        <p:sp>
          <p:nvSpPr>
            <p:cNvPr name="Freeform 427" id="427"/>
            <p:cNvSpPr/>
            <p:nvPr/>
          </p:nvSpPr>
          <p:spPr>
            <a:xfrm flipH="false" flipV="false" rot="0">
              <a:off x="0" y="0"/>
              <a:ext cx="1188720" cy="586740"/>
            </a:xfrm>
            <a:custGeom>
              <a:avLst/>
              <a:gdLst/>
              <a:ahLst/>
              <a:cxnLst/>
              <a:rect r="r" b="b" t="t" l="l"/>
              <a:pathLst>
                <a:path h="586740" w="1188720">
                  <a:moveTo>
                    <a:pt x="0" y="0"/>
                  </a:moveTo>
                  <a:lnTo>
                    <a:pt x="1188720" y="0"/>
                  </a:lnTo>
                  <a:lnTo>
                    <a:pt x="1188720" y="586740"/>
                  </a:lnTo>
                  <a:lnTo>
                    <a:pt x="0" y="586740"/>
                  </a:lnTo>
                  <a:close/>
                </a:path>
              </a:pathLst>
            </a:custGeom>
            <a:blipFill>
              <a:blip r:embed="rId5">
                <a:alphaModFix amt="0"/>
              </a:blip>
              <a:stretch>
                <a:fillRect l="-13373" t="0" r="-13372" b="0"/>
              </a:stretch>
            </a:blipFill>
          </p:spPr>
          <p:txBody>
            <a:bodyPr/>
            <a:p/>
          </p:txBody>
        </p:sp>
      </p:grpSp>
      <p:grpSp>
        <p:nvGrpSpPr>
          <p:cNvPr name="Group 428" id="428"/>
          <p:cNvGrpSpPr/>
          <p:nvPr/>
        </p:nvGrpSpPr>
        <p:grpSpPr>
          <a:xfrm rot="0">
            <a:off x="16390620" y="7253478"/>
            <a:ext cx="891540" cy="468630"/>
            <a:chOff x="0" y="0"/>
            <a:chExt cx="1188720" cy="624840"/>
          </a:xfrm>
        </p:grpSpPr>
        <p:sp>
          <p:nvSpPr>
            <p:cNvPr name="Freeform 429" id="429"/>
            <p:cNvSpPr/>
            <p:nvPr/>
          </p:nvSpPr>
          <p:spPr>
            <a:xfrm flipH="false" flipV="false" rot="0">
              <a:off x="0" y="0"/>
              <a:ext cx="1188720" cy="624840"/>
            </a:xfrm>
            <a:custGeom>
              <a:avLst/>
              <a:gdLst/>
              <a:ahLst/>
              <a:cxnLst/>
              <a:rect r="r" b="b" t="t" l="l"/>
              <a:pathLst>
                <a:path h="624840" w="1188720">
                  <a:moveTo>
                    <a:pt x="0" y="0"/>
                  </a:moveTo>
                  <a:lnTo>
                    <a:pt x="1188720" y="0"/>
                  </a:lnTo>
                  <a:lnTo>
                    <a:pt x="1188720" y="624840"/>
                  </a:lnTo>
                  <a:lnTo>
                    <a:pt x="0" y="624840"/>
                  </a:lnTo>
                  <a:close/>
                </a:path>
              </a:pathLst>
            </a:custGeom>
            <a:blipFill>
              <a:blip r:embed="rId6">
                <a:alphaModFix amt="0"/>
              </a:blip>
              <a:stretch>
                <a:fillRect l="-17441" t="0" r="-17441" b="0"/>
              </a:stretch>
            </a:blipFill>
          </p:spPr>
          <p:txBody>
            <a:bodyPr/>
            <a:p/>
          </p:txBody>
        </p:sp>
        <p:sp>
          <p:nvSpPr>
            <p:cNvPr name="TextBox 430" id="430"/>
            <p:cNvSpPr txBox="true"/>
            <p:nvPr/>
          </p:nvSpPr>
          <p:spPr>
            <a:xfrm>
              <a:off x="0" y="-38100"/>
              <a:ext cx="1188720" cy="662940"/>
            </a:xfrm>
            <a:prstGeom prst="rect">
              <a:avLst/>
            </a:prstGeom>
          </p:spPr>
          <p:txBody>
            <a:bodyPr anchor="ctr" rtlCol="false" tIns="0" lIns="0" bIns="0" rIns="0"/>
            <a:lstStyle/>
            <a:p>
              <a:pPr algn="ctr">
                <a:lnSpc>
                  <a:spcPts val="1709"/>
                </a:lnSpc>
              </a:pPr>
              <a:r>
                <a:rPr lang="en-US" sz="1425" b="true">
                  <a:solidFill>
                    <a:srgbClr val="FFFFFF"/>
                  </a:solidFill>
                  <a:latin typeface="Calibri (MS) Bold"/>
                  <a:ea typeface="Calibri (MS) Bold"/>
                  <a:cs typeface="Calibri (MS) Bold"/>
                  <a:sym typeface="Calibri (MS) Bold"/>
                </a:rPr>
                <a:t>ROBUST</a:t>
              </a:r>
            </a:p>
          </p:txBody>
        </p:sp>
      </p:grpSp>
      <p:grpSp>
        <p:nvGrpSpPr>
          <p:cNvPr name="Group 431" id="431"/>
          <p:cNvGrpSpPr/>
          <p:nvPr/>
        </p:nvGrpSpPr>
        <p:grpSpPr>
          <a:xfrm rot="0">
            <a:off x="822960" y="7872984"/>
            <a:ext cx="16637508" cy="576072"/>
            <a:chOff x="0" y="0"/>
            <a:chExt cx="22183344" cy="768096"/>
          </a:xfrm>
        </p:grpSpPr>
        <p:sp>
          <p:nvSpPr>
            <p:cNvPr name="Freeform 432" id="432"/>
            <p:cNvSpPr/>
            <p:nvPr/>
          </p:nvSpPr>
          <p:spPr>
            <a:xfrm flipH="false" flipV="false" rot="0">
              <a:off x="0" y="0"/>
              <a:ext cx="22183344" cy="768096"/>
            </a:xfrm>
            <a:custGeom>
              <a:avLst/>
              <a:gdLst/>
              <a:ahLst/>
              <a:cxnLst/>
              <a:rect r="r" b="b" t="t" l="l"/>
              <a:pathLst>
                <a:path h="768096" w="22183344">
                  <a:moveTo>
                    <a:pt x="0" y="182880"/>
                  </a:moveTo>
                  <a:cubicBezTo>
                    <a:pt x="0" y="81915"/>
                    <a:pt x="81915" y="0"/>
                    <a:pt x="182880" y="0"/>
                  </a:cubicBezTo>
                  <a:lnTo>
                    <a:pt x="22000463" y="0"/>
                  </a:lnTo>
                  <a:cubicBezTo>
                    <a:pt x="22101428" y="0"/>
                    <a:pt x="22183344" y="81915"/>
                    <a:pt x="22183344" y="182880"/>
                  </a:cubicBezTo>
                  <a:lnTo>
                    <a:pt x="22183344" y="585216"/>
                  </a:lnTo>
                  <a:cubicBezTo>
                    <a:pt x="22183344" y="686181"/>
                    <a:pt x="22101428" y="768096"/>
                    <a:pt x="22000463" y="768096"/>
                  </a:cubicBezTo>
                  <a:lnTo>
                    <a:pt x="182880" y="768096"/>
                  </a:lnTo>
                  <a:cubicBezTo>
                    <a:pt x="81915" y="768096"/>
                    <a:pt x="0" y="686181"/>
                    <a:pt x="0" y="585216"/>
                  </a:cubicBezTo>
                  <a:close/>
                </a:path>
              </a:pathLst>
            </a:custGeom>
            <a:solidFill>
              <a:srgbClr val="EAF8FA"/>
            </a:solidFill>
          </p:spPr>
          <p:txBody>
            <a:bodyPr/>
            <a:p/>
          </p:txBody>
        </p:sp>
      </p:grpSp>
      <p:grpSp>
        <p:nvGrpSpPr>
          <p:cNvPr name="Group 433" id="433"/>
          <p:cNvGrpSpPr/>
          <p:nvPr/>
        </p:nvGrpSpPr>
        <p:grpSpPr>
          <a:xfrm rot="0">
            <a:off x="1097280" y="7872984"/>
            <a:ext cx="5486400" cy="576072"/>
            <a:chOff x="0" y="0"/>
            <a:chExt cx="7315200" cy="768096"/>
          </a:xfrm>
        </p:grpSpPr>
        <p:sp>
          <p:nvSpPr>
            <p:cNvPr name="Freeform 434" id="434"/>
            <p:cNvSpPr/>
            <p:nvPr/>
          </p:nvSpPr>
          <p:spPr>
            <a:xfrm flipH="false" flipV="false" rot="0">
              <a:off x="0" y="0"/>
              <a:ext cx="7315200" cy="768096"/>
            </a:xfrm>
            <a:custGeom>
              <a:avLst/>
              <a:gdLst/>
              <a:ahLst/>
              <a:cxnLst/>
              <a:rect r="r" b="b" t="t" l="l"/>
              <a:pathLst>
                <a:path h="768096" w="7315200">
                  <a:moveTo>
                    <a:pt x="0" y="0"/>
                  </a:moveTo>
                  <a:lnTo>
                    <a:pt x="7315200" y="0"/>
                  </a:lnTo>
                  <a:lnTo>
                    <a:pt x="7315200" y="768096"/>
                  </a:lnTo>
                  <a:lnTo>
                    <a:pt x="0" y="768096"/>
                  </a:lnTo>
                  <a:close/>
                </a:path>
              </a:pathLst>
            </a:custGeom>
            <a:blipFill>
              <a:blip r:embed="rId4">
                <a:alphaModFix amt="0"/>
              </a:blip>
              <a:stretch>
                <a:fillRect l="0" t="-135443" r="0" b="-135443"/>
              </a:stretch>
            </a:blipFill>
          </p:spPr>
          <p:txBody>
            <a:bodyPr/>
            <a:p/>
          </p:txBody>
        </p:sp>
      </p:grpSp>
      <p:grpSp>
        <p:nvGrpSpPr>
          <p:cNvPr name="Group 435" id="435"/>
          <p:cNvGrpSpPr/>
          <p:nvPr/>
        </p:nvGrpSpPr>
        <p:grpSpPr>
          <a:xfrm rot="0">
            <a:off x="1097280" y="7837265"/>
            <a:ext cx="5486400" cy="611791"/>
            <a:chOff x="0" y="0"/>
            <a:chExt cx="7315200" cy="815721"/>
          </a:xfrm>
        </p:grpSpPr>
        <p:sp>
          <p:nvSpPr>
            <p:cNvPr name="Freeform 436" id="436"/>
            <p:cNvSpPr/>
            <p:nvPr/>
          </p:nvSpPr>
          <p:spPr>
            <a:xfrm flipH="false" flipV="false" rot="0">
              <a:off x="0" y="0"/>
              <a:ext cx="7315200" cy="815721"/>
            </a:xfrm>
            <a:custGeom>
              <a:avLst/>
              <a:gdLst/>
              <a:ahLst/>
              <a:cxnLst/>
              <a:rect r="r" b="b" t="t" l="l"/>
              <a:pathLst>
                <a:path h="815721" w="7315200">
                  <a:moveTo>
                    <a:pt x="0" y="0"/>
                  </a:moveTo>
                  <a:lnTo>
                    <a:pt x="7315200" y="0"/>
                  </a:lnTo>
                  <a:lnTo>
                    <a:pt x="7315200" y="815721"/>
                  </a:lnTo>
                  <a:lnTo>
                    <a:pt x="0" y="815721"/>
                  </a:lnTo>
                  <a:close/>
                </a:path>
              </a:pathLst>
            </a:custGeom>
            <a:blipFill>
              <a:blip r:embed="rId5">
                <a:alphaModFix amt="0"/>
              </a:blip>
              <a:stretch>
                <a:fillRect l="0" t="-124616" r="0" b="-124616"/>
              </a:stretch>
            </a:blipFill>
          </p:spPr>
          <p:txBody>
            <a:bodyPr/>
            <a:p/>
          </p:txBody>
        </p:sp>
      </p:grpSp>
      <p:grpSp>
        <p:nvGrpSpPr>
          <p:cNvPr name="Group 437" id="437"/>
          <p:cNvGrpSpPr/>
          <p:nvPr/>
        </p:nvGrpSpPr>
        <p:grpSpPr>
          <a:xfrm rot="0">
            <a:off x="1097280" y="7801546"/>
            <a:ext cx="5486400" cy="647510"/>
            <a:chOff x="0" y="0"/>
            <a:chExt cx="7315200" cy="863346"/>
          </a:xfrm>
        </p:grpSpPr>
        <p:sp>
          <p:nvSpPr>
            <p:cNvPr name="Freeform 438" id="438"/>
            <p:cNvSpPr/>
            <p:nvPr/>
          </p:nvSpPr>
          <p:spPr>
            <a:xfrm flipH="false" flipV="false" rot="0">
              <a:off x="0" y="0"/>
              <a:ext cx="7315200" cy="863346"/>
            </a:xfrm>
            <a:custGeom>
              <a:avLst/>
              <a:gdLst/>
              <a:ahLst/>
              <a:cxnLst/>
              <a:rect r="r" b="b" t="t" l="l"/>
              <a:pathLst>
                <a:path h="863346" w="7315200">
                  <a:moveTo>
                    <a:pt x="0" y="0"/>
                  </a:moveTo>
                  <a:lnTo>
                    <a:pt x="7315200" y="0"/>
                  </a:lnTo>
                  <a:lnTo>
                    <a:pt x="7315200" y="863346"/>
                  </a:lnTo>
                  <a:lnTo>
                    <a:pt x="0" y="863346"/>
                  </a:lnTo>
                  <a:close/>
                </a:path>
              </a:pathLst>
            </a:custGeom>
            <a:blipFill>
              <a:blip r:embed="rId6">
                <a:alphaModFix amt="0"/>
              </a:blip>
              <a:stretch>
                <a:fillRect l="0" t="-115098" r="0" b="-115098"/>
              </a:stretch>
            </a:blipFill>
          </p:spPr>
          <p:txBody>
            <a:bodyPr/>
            <a:p/>
          </p:txBody>
        </p:sp>
        <p:sp>
          <p:nvSpPr>
            <p:cNvPr name="TextBox 439" id="439"/>
            <p:cNvSpPr txBox="true"/>
            <p:nvPr/>
          </p:nvSpPr>
          <p:spPr>
            <a:xfrm>
              <a:off x="0" y="-47625"/>
              <a:ext cx="7315200" cy="910971"/>
            </a:xfrm>
            <a:prstGeom prst="rect">
              <a:avLst/>
            </a:prstGeom>
          </p:spPr>
          <p:txBody>
            <a:bodyPr anchor="ctr" rtlCol="false" tIns="0" lIns="0" bIns="0" rIns="0"/>
            <a:lstStyle/>
            <a:p>
              <a:pPr algn="l">
                <a:lnSpc>
                  <a:spcPts val="2340"/>
                </a:lnSpc>
              </a:pPr>
              <a:r>
                <a:rPr lang="en-US" sz="1950" b="true">
                  <a:solidFill>
                    <a:srgbClr val="0B5E6E"/>
                  </a:solidFill>
                  <a:latin typeface="Calibri (MS) Bold"/>
                  <a:ea typeface="Calibri (MS) Bold"/>
                  <a:cs typeface="Calibri (MS) Bold"/>
                  <a:sym typeface="Calibri (MS) Bold"/>
                </a:rPr>
                <a:t>Indeks kepadatan</a:t>
              </a:r>
            </a:p>
          </p:txBody>
        </p:sp>
      </p:grpSp>
      <p:grpSp>
        <p:nvGrpSpPr>
          <p:cNvPr name="Group 440" id="440"/>
          <p:cNvGrpSpPr/>
          <p:nvPr/>
        </p:nvGrpSpPr>
        <p:grpSpPr>
          <a:xfrm rot="0">
            <a:off x="6858000" y="7941564"/>
            <a:ext cx="2880360" cy="438912"/>
            <a:chOff x="0" y="0"/>
            <a:chExt cx="3840480" cy="585216"/>
          </a:xfrm>
        </p:grpSpPr>
        <p:sp>
          <p:nvSpPr>
            <p:cNvPr name="Freeform 441" id="441"/>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8A99A1"/>
            </a:solidFill>
          </p:spPr>
          <p:txBody>
            <a:bodyPr/>
            <a:p/>
          </p:txBody>
        </p:sp>
      </p:grpSp>
      <p:grpSp>
        <p:nvGrpSpPr>
          <p:cNvPr name="Group 442" id="442"/>
          <p:cNvGrpSpPr/>
          <p:nvPr/>
        </p:nvGrpSpPr>
        <p:grpSpPr>
          <a:xfrm rot="0">
            <a:off x="6858000" y="7941564"/>
            <a:ext cx="2880360" cy="438912"/>
            <a:chOff x="0" y="0"/>
            <a:chExt cx="3840480" cy="585216"/>
          </a:xfrm>
        </p:grpSpPr>
        <p:sp>
          <p:nvSpPr>
            <p:cNvPr name="Freeform 443" id="443"/>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444" id="444"/>
          <p:cNvGrpSpPr/>
          <p:nvPr/>
        </p:nvGrpSpPr>
        <p:grpSpPr>
          <a:xfrm rot="0">
            <a:off x="6858000" y="7912989"/>
            <a:ext cx="2880360" cy="467487"/>
            <a:chOff x="0" y="0"/>
            <a:chExt cx="3840480" cy="623316"/>
          </a:xfrm>
        </p:grpSpPr>
        <p:sp>
          <p:nvSpPr>
            <p:cNvPr name="Freeform 445" id="445"/>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446" id="446"/>
          <p:cNvGrpSpPr/>
          <p:nvPr/>
        </p:nvGrpSpPr>
        <p:grpSpPr>
          <a:xfrm rot="0">
            <a:off x="6858000" y="7884414"/>
            <a:ext cx="2880360" cy="496062"/>
            <a:chOff x="0" y="0"/>
            <a:chExt cx="3840480" cy="661416"/>
          </a:xfrm>
        </p:grpSpPr>
        <p:sp>
          <p:nvSpPr>
            <p:cNvPr name="Freeform 447" id="447"/>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448" id="448"/>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BAU</a:t>
              </a:r>
            </a:p>
          </p:txBody>
        </p:sp>
      </p:grpSp>
      <p:grpSp>
        <p:nvGrpSpPr>
          <p:cNvPr name="Group 449" id="449"/>
          <p:cNvGrpSpPr/>
          <p:nvPr/>
        </p:nvGrpSpPr>
        <p:grpSpPr>
          <a:xfrm rot="0">
            <a:off x="9738360" y="7872984"/>
            <a:ext cx="342900" cy="576072"/>
            <a:chOff x="0" y="0"/>
            <a:chExt cx="457200" cy="768096"/>
          </a:xfrm>
        </p:grpSpPr>
        <p:sp>
          <p:nvSpPr>
            <p:cNvPr name="Freeform 450" id="450"/>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txBody>
            <a:bodyPr/>
            <a:p/>
          </p:txBody>
        </p:sp>
      </p:grpSp>
      <p:grpSp>
        <p:nvGrpSpPr>
          <p:cNvPr name="Group 451" id="451"/>
          <p:cNvGrpSpPr/>
          <p:nvPr/>
        </p:nvGrpSpPr>
        <p:grpSpPr>
          <a:xfrm rot="0">
            <a:off x="9738360" y="7837265"/>
            <a:ext cx="342900" cy="611791"/>
            <a:chOff x="0" y="0"/>
            <a:chExt cx="457200" cy="815721"/>
          </a:xfrm>
        </p:grpSpPr>
        <p:sp>
          <p:nvSpPr>
            <p:cNvPr name="Freeform 452" id="452"/>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9075" t="0" r="-179075" b="0"/>
              </a:stretch>
            </a:blipFill>
          </p:spPr>
          <p:txBody>
            <a:bodyPr/>
            <a:p/>
          </p:txBody>
        </p:sp>
      </p:grpSp>
      <p:grpSp>
        <p:nvGrpSpPr>
          <p:cNvPr name="Group 453" id="453"/>
          <p:cNvGrpSpPr/>
          <p:nvPr/>
        </p:nvGrpSpPr>
        <p:grpSpPr>
          <a:xfrm rot="0">
            <a:off x="9738360" y="7801546"/>
            <a:ext cx="342900" cy="647510"/>
            <a:chOff x="0" y="0"/>
            <a:chExt cx="457200" cy="863346"/>
          </a:xfrm>
        </p:grpSpPr>
        <p:sp>
          <p:nvSpPr>
            <p:cNvPr name="Freeform 454" id="454"/>
            <p:cNvSpPr/>
            <p:nvPr/>
          </p:nvSpPr>
          <p:spPr>
            <a:xfrm flipH="false" flipV="false" rot="0">
              <a:off x="0" y="0"/>
              <a:ext cx="457200" cy="863346"/>
            </a:xfrm>
            <a:custGeom>
              <a:avLst/>
              <a:gdLst/>
              <a:ahLst/>
              <a:cxnLst/>
              <a:rect r="r" b="b" t="t" l="l"/>
              <a:pathLst>
                <a:path h="863346" w="457200">
                  <a:moveTo>
                    <a:pt x="0" y="0"/>
                  </a:moveTo>
                  <a:lnTo>
                    <a:pt x="457200" y="0"/>
                  </a:lnTo>
                  <a:lnTo>
                    <a:pt x="457200" y="863346"/>
                  </a:lnTo>
                  <a:lnTo>
                    <a:pt x="0" y="863346"/>
                  </a:lnTo>
                  <a:close/>
                </a:path>
              </a:pathLst>
            </a:custGeom>
            <a:blipFill>
              <a:blip r:embed="rId6">
                <a:alphaModFix amt="0"/>
              </a:blip>
              <a:stretch>
                <a:fillRect l="-192279" t="0" r="-192279" b="0"/>
              </a:stretch>
            </a:blipFill>
          </p:spPr>
          <p:txBody>
            <a:bodyPr/>
            <a:p/>
          </p:txBody>
        </p:sp>
        <p:sp>
          <p:nvSpPr>
            <p:cNvPr name="TextBox 455" id="455"/>
            <p:cNvSpPr txBox="true"/>
            <p:nvPr/>
          </p:nvSpPr>
          <p:spPr>
            <a:xfrm>
              <a:off x="0" y="-47625"/>
              <a:ext cx="457200" cy="910971"/>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456" id="456"/>
          <p:cNvGrpSpPr/>
          <p:nvPr/>
        </p:nvGrpSpPr>
        <p:grpSpPr>
          <a:xfrm rot="0">
            <a:off x="10081260" y="7941564"/>
            <a:ext cx="2880360" cy="438912"/>
            <a:chOff x="0" y="0"/>
            <a:chExt cx="3840480" cy="585216"/>
          </a:xfrm>
        </p:grpSpPr>
        <p:sp>
          <p:nvSpPr>
            <p:cNvPr name="Freeform 457" id="457"/>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39C0D3"/>
            </a:solidFill>
          </p:spPr>
          <p:txBody>
            <a:bodyPr/>
            <a:p/>
          </p:txBody>
        </p:sp>
      </p:grpSp>
      <p:grpSp>
        <p:nvGrpSpPr>
          <p:cNvPr name="Group 458" id="458"/>
          <p:cNvGrpSpPr/>
          <p:nvPr/>
        </p:nvGrpSpPr>
        <p:grpSpPr>
          <a:xfrm rot="0">
            <a:off x="10081260" y="7941564"/>
            <a:ext cx="2880360" cy="438912"/>
            <a:chOff x="0" y="0"/>
            <a:chExt cx="3840480" cy="585216"/>
          </a:xfrm>
        </p:grpSpPr>
        <p:sp>
          <p:nvSpPr>
            <p:cNvPr name="Freeform 459" id="459"/>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460" id="460"/>
          <p:cNvGrpSpPr/>
          <p:nvPr/>
        </p:nvGrpSpPr>
        <p:grpSpPr>
          <a:xfrm rot="0">
            <a:off x="10081260" y="7912989"/>
            <a:ext cx="2880360" cy="467487"/>
            <a:chOff x="0" y="0"/>
            <a:chExt cx="3840480" cy="623316"/>
          </a:xfrm>
        </p:grpSpPr>
        <p:sp>
          <p:nvSpPr>
            <p:cNvPr name="Freeform 461" id="461"/>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462" id="462"/>
          <p:cNvGrpSpPr/>
          <p:nvPr/>
        </p:nvGrpSpPr>
        <p:grpSpPr>
          <a:xfrm rot="0">
            <a:off x="10081260" y="7884414"/>
            <a:ext cx="2880360" cy="496062"/>
            <a:chOff x="0" y="0"/>
            <a:chExt cx="3840480" cy="661416"/>
          </a:xfrm>
        </p:grpSpPr>
        <p:sp>
          <p:nvSpPr>
            <p:cNvPr name="Freeform 463" id="463"/>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464" id="464"/>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Sustainable</a:t>
              </a:r>
            </a:p>
          </p:txBody>
        </p:sp>
      </p:grpSp>
      <p:grpSp>
        <p:nvGrpSpPr>
          <p:cNvPr name="Group 465" id="465"/>
          <p:cNvGrpSpPr/>
          <p:nvPr/>
        </p:nvGrpSpPr>
        <p:grpSpPr>
          <a:xfrm rot="0">
            <a:off x="12961620" y="7872984"/>
            <a:ext cx="342900" cy="576072"/>
            <a:chOff x="0" y="0"/>
            <a:chExt cx="457200" cy="768096"/>
          </a:xfrm>
        </p:grpSpPr>
        <p:sp>
          <p:nvSpPr>
            <p:cNvPr name="Freeform 466" id="466"/>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txBody>
            <a:bodyPr/>
            <a:p/>
          </p:txBody>
        </p:sp>
      </p:grpSp>
      <p:grpSp>
        <p:nvGrpSpPr>
          <p:cNvPr name="Group 467" id="467"/>
          <p:cNvGrpSpPr/>
          <p:nvPr/>
        </p:nvGrpSpPr>
        <p:grpSpPr>
          <a:xfrm rot="0">
            <a:off x="12961620" y="7837265"/>
            <a:ext cx="342900" cy="611791"/>
            <a:chOff x="0" y="0"/>
            <a:chExt cx="457200" cy="815721"/>
          </a:xfrm>
        </p:grpSpPr>
        <p:sp>
          <p:nvSpPr>
            <p:cNvPr name="Freeform 468" id="468"/>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9075" t="0" r="-179075" b="0"/>
              </a:stretch>
            </a:blipFill>
          </p:spPr>
          <p:txBody>
            <a:bodyPr/>
            <a:p/>
          </p:txBody>
        </p:sp>
      </p:grpSp>
      <p:grpSp>
        <p:nvGrpSpPr>
          <p:cNvPr name="Group 469" id="469"/>
          <p:cNvGrpSpPr/>
          <p:nvPr/>
        </p:nvGrpSpPr>
        <p:grpSpPr>
          <a:xfrm rot="0">
            <a:off x="12961620" y="7801546"/>
            <a:ext cx="342900" cy="647510"/>
            <a:chOff x="0" y="0"/>
            <a:chExt cx="457200" cy="863346"/>
          </a:xfrm>
        </p:grpSpPr>
        <p:sp>
          <p:nvSpPr>
            <p:cNvPr name="Freeform 470" id="470"/>
            <p:cNvSpPr/>
            <p:nvPr/>
          </p:nvSpPr>
          <p:spPr>
            <a:xfrm flipH="false" flipV="false" rot="0">
              <a:off x="0" y="0"/>
              <a:ext cx="457200" cy="863346"/>
            </a:xfrm>
            <a:custGeom>
              <a:avLst/>
              <a:gdLst/>
              <a:ahLst/>
              <a:cxnLst/>
              <a:rect r="r" b="b" t="t" l="l"/>
              <a:pathLst>
                <a:path h="863346" w="457200">
                  <a:moveTo>
                    <a:pt x="0" y="0"/>
                  </a:moveTo>
                  <a:lnTo>
                    <a:pt x="457200" y="0"/>
                  </a:lnTo>
                  <a:lnTo>
                    <a:pt x="457200" y="863346"/>
                  </a:lnTo>
                  <a:lnTo>
                    <a:pt x="0" y="863346"/>
                  </a:lnTo>
                  <a:close/>
                </a:path>
              </a:pathLst>
            </a:custGeom>
            <a:blipFill>
              <a:blip r:embed="rId6">
                <a:alphaModFix amt="0"/>
              </a:blip>
              <a:stretch>
                <a:fillRect l="-192279" t="0" r="-192279" b="0"/>
              </a:stretch>
            </a:blipFill>
          </p:spPr>
          <p:txBody>
            <a:bodyPr/>
            <a:p/>
          </p:txBody>
        </p:sp>
        <p:sp>
          <p:nvSpPr>
            <p:cNvPr name="TextBox 471" id="471"/>
            <p:cNvSpPr txBox="true"/>
            <p:nvPr/>
          </p:nvSpPr>
          <p:spPr>
            <a:xfrm>
              <a:off x="0" y="-47625"/>
              <a:ext cx="457200" cy="910971"/>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472" id="472"/>
          <p:cNvGrpSpPr/>
          <p:nvPr/>
        </p:nvGrpSpPr>
        <p:grpSpPr>
          <a:xfrm rot="0">
            <a:off x="13304520" y="7941564"/>
            <a:ext cx="2880360" cy="438912"/>
            <a:chOff x="0" y="0"/>
            <a:chExt cx="3840480" cy="585216"/>
          </a:xfrm>
        </p:grpSpPr>
        <p:sp>
          <p:nvSpPr>
            <p:cNvPr name="Freeform 473" id="473"/>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FFD23B"/>
            </a:solidFill>
          </p:spPr>
          <p:txBody>
            <a:bodyPr/>
            <a:p/>
          </p:txBody>
        </p:sp>
      </p:grpSp>
      <p:grpSp>
        <p:nvGrpSpPr>
          <p:cNvPr name="Group 474" id="474"/>
          <p:cNvGrpSpPr/>
          <p:nvPr/>
        </p:nvGrpSpPr>
        <p:grpSpPr>
          <a:xfrm rot="0">
            <a:off x="13304520" y="7941564"/>
            <a:ext cx="2880360" cy="438912"/>
            <a:chOff x="0" y="0"/>
            <a:chExt cx="3840480" cy="585216"/>
          </a:xfrm>
        </p:grpSpPr>
        <p:sp>
          <p:nvSpPr>
            <p:cNvPr name="Freeform 475" id="475"/>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476" id="476"/>
          <p:cNvGrpSpPr/>
          <p:nvPr/>
        </p:nvGrpSpPr>
        <p:grpSpPr>
          <a:xfrm rot="0">
            <a:off x="13304520" y="7912989"/>
            <a:ext cx="2880360" cy="467487"/>
            <a:chOff x="0" y="0"/>
            <a:chExt cx="3840480" cy="623316"/>
          </a:xfrm>
        </p:grpSpPr>
        <p:sp>
          <p:nvSpPr>
            <p:cNvPr name="Freeform 477" id="477"/>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478" id="478"/>
          <p:cNvGrpSpPr/>
          <p:nvPr/>
        </p:nvGrpSpPr>
        <p:grpSpPr>
          <a:xfrm rot="0">
            <a:off x="13304520" y="7884414"/>
            <a:ext cx="2880360" cy="496062"/>
            <a:chOff x="0" y="0"/>
            <a:chExt cx="3840480" cy="661416"/>
          </a:xfrm>
        </p:grpSpPr>
        <p:sp>
          <p:nvSpPr>
            <p:cNvPr name="Freeform 479" id="479"/>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480" id="480"/>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14313B"/>
                  </a:solidFill>
                  <a:latin typeface="Calibri (MS) Bold"/>
                  <a:ea typeface="Calibri (MS) Bold"/>
                  <a:cs typeface="Calibri (MS) Bold"/>
                  <a:sym typeface="Calibri (MS) Bold"/>
                </a:rPr>
                <a:t>Development Priority</a:t>
              </a:r>
            </a:p>
          </p:txBody>
        </p:sp>
      </p:grpSp>
      <p:grpSp>
        <p:nvGrpSpPr>
          <p:cNvPr name="Group 481" id="481"/>
          <p:cNvGrpSpPr/>
          <p:nvPr/>
        </p:nvGrpSpPr>
        <p:grpSpPr>
          <a:xfrm rot="0">
            <a:off x="16390620" y="7955280"/>
            <a:ext cx="891540" cy="411480"/>
            <a:chOff x="0" y="0"/>
            <a:chExt cx="1188720" cy="548640"/>
          </a:xfrm>
        </p:grpSpPr>
        <p:sp>
          <p:nvSpPr>
            <p:cNvPr name="Freeform 482" id="482"/>
            <p:cNvSpPr/>
            <p:nvPr/>
          </p:nvSpPr>
          <p:spPr>
            <a:xfrm flipH="false" flipV="false" rot="0">
              <a:off x="0" y="0"/>
              <a:ext cx="1188720" cy="548640"/>
            </a:xfrm>
            <a:custGeom>
              <a:avLst/>
              <a:gdLst/>
              <a:ahLst/>
              <a:cxnLst/>
              <a:rect r="r" b="b" t="t" l="l"/>
              <a:pathLst>
                <a:path h="548640" w="1188720">
                  <a:moveTo>
                    <a:pt x="0" y="274320"/>
                  </a:moveTo>
                  <a:cubicBezTo>
                    <a:pt x="0" y="122809"/>
                    <a:pt x="122809" y="0"/>
                    <a:pt x="274320" y="0"/>
                  </a:cubicBezTo>
                  <a:lnTo>
                    <a:pt x="914400" y="0"/>
                  </a:lnTo>
                  <a:cubicBezTo>
                    <a:pt x="1065911" y="0"/>
                    <a:pt x="1188720" y="122809"/>
                    <a:pt x="1188720" y="274320"/>
                  </a:cubicBezTo>
                  <a:cubicBezTo>
                    <a:pt x="1188720" y="425831"/>
                    <a:pt x="1065911" y="548640"/>
                    <a:pt x="91440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83" id="483"/>
          <p:cNvGrpSpPr/>
          <p:nvPr/>
        </p:nvGrpSpPr>
        <p:grpSpPr>
          <a:xfrm rot="0">
            <a:off x="16390620" y="7955280"/>
            <a:ext cx="891540" cy="411480"/>
            <a:chOff x="0" y="0"/>
            <a:chExt cx="1188720" cy="548640"/>
          </a:xfrm>
        </p:grpSpPr>
        <p:sp>
          <p:nvSpPr>
            <p:cNvPr name="Freeform 484" id="484"/>
            <p:cNvSpPr/>
            <p:nvPr/>
          </p:nvSpPr>
          <p:spPr>
            <a:xfrm flipH="false" flipV="false" rot="0">
              <a:off x="0" y="0"/>
              <a:ext cx="1188720" cy="548640"/>
            </a:xfrm>
            <a:custGeom>
              <a:avLst/>
              <a:gdLst/>
              <a:ahLst/>
              <a:cxnLst/>
              <a:rect r="r" b="b" t="t" l="l"/>
              <a:pathLst>
                <a:path h="548640" w="1188720">
                  <a:moveTo>
                    <a:pt x="0" y="0"/>
                  </a:moveTo>
                  <a:lnTo>
                    <a:pt x="1188720" y="0"/>
                  </a:lnTo>
                  <a:lnTo>
                    <a:pt x="1188720" y="548640"/>
                  </a:lnTo>
                  <a:lnTo>
                    <a:pt x="0" y="548640"/>
                  </a:lnTo>
                  <a:close/>
                </a:path>
              </a:pathLst>
            </a:custGeom>
            <a:blipFill>
              <a:blip r:embed="rId4">
                <a:alphaModFix amt="0"/>
              </a:blip>
              <a:stretch>
                <a:fillRect l="-9258" t="0" r="-9257" b="0"/>
              </a:stretch>
            </a:blipFill>
          </p:spPr>
          <p:txBody>
            <a:bodyPr/>
            <a:p/>
          </p:txBody>
        </p:sp>
      </p:grpSp>
      <p:grpSp>
        <p:nvGrpSpPr>
          <p:cNvPr name="Group 485" id="485"/>
          <p:cNvGrpSpPr/>
          <p:nvPr/>
        </p:nvGrpSpPr>
        <p:grpSpPr>
          <a:xfrm rot="0">
            <a:off x="16390620" y="7926705"/>
            <a:ext cx="891540" cy="440055"/>
            <a:chOff x="0" y="0"/>
            <a:chExt cx="1188720" cy="586740"/>
          </a:xfrm>
        </p:grpSpPr>
        <p:sp>
          <p:nvSpPr>
            <p:cNvPr name="Freeform 486" id="486"/>
            <p:cNvSpPr/>
            <p:nvPr/>
          </p:nvSpPr>
          <p:spPr>
            <a:xfrm flipH="false" flipV="false" rot="0">
              <a:off x="0" y="0"/>
              <a:ext cx="1188720" cy="586740"/>
            </a:xfrm>
            <a:custGeom>
              <a:avLst/>
              <a:gdLst/>
              <a:ahLst/>
              <a:cxnLst/>
              <a:rect r="r" b="b" t="t" l="l"/>
              <a:pathLst>
                <a:path h="586740" w="1188720">
                  <a:moveTo>
                    <a:pt x="0" y="0"/>
                  </a:moveTo>
                  <a:lnTo>
                    <a:pt x="1188720" y="0"/>
                  </a:lnTo>
                  <a:lnTo>
                    <a:pt x="1188720" y="586740"/>
                  </a:lnTo>
                  <a:lnTo>
                    <a:pt x="0" y="586740"/>
                  </a:lnTo>
                  <a:close/>
                </a:path>
              </a:pathLst>
            </a:custGeom>
            <a:blipFill>
              <a:blip r:embed="rId5">
                <a:alphaModFix amt="0"/>
              </a:blip>
              <a:stretch>
                <a:fillRect l="-13373" t="0" r="-13372" b="0"/>
              </a:stretch>
            </a:blipFill>
          </p:spPr>
          <p:txBody>
            <a:bodyPr/>
            <a:p/>
          </p:txBody>
        </p:sp>
      </p:grpSp>
      <p:grpSp>
        <p:nvGrpSpPr>
          <p:cNvPr name="Group 487" id="487"/>
          <p:cNvGrpSpPr/>
          <p:nvPr/>
        </p:nvGrpSpPr>
        <p:grpSpPr>
          <a:xfrm rot="0">
            <a:off x="16390620" y="7898130"/>
            <a:ext cx="891540" cy="468630"/>
            <a:chOff x="0" y="0"/>
            <a:chExt cx="1188720" cy="624840"/>
          </a:xfrm>
        </p:grpSpPr>
        <p:sp>
          <p:nvSpPr>
            <p:cNvPr name="Freeform 488" id="488"/>
            <p:cNvSpPr/>
            <p:nvPr/>
          </p:nvSpPr>
          <p:spPr>
            <a:xfrm flipH="false" flipV="false" rot="0">
              <a:off x="0" y="0"/>
              <a:ext cx="1188720" cy="624840"/>
            </a:xfrm>
            <a:custGeom>
              <a:avLst/>
              <a:gdLst/>
              <a:ahLst/>
              <a:cxnLst/>
              <a:rect r="r" b="b" t="t" l="l"/>
              <a:pathLst>
                <a:path h="624840" w="1188720">
                  <a:moveTo>
                    <a:pt x="0" y="0"/>
                  </a:moveTo>
                  <a:lnTo>
                    <a:pt x="1188720" y="0"/>
                  </a:lnTo>
                  <a:lnTo>
                    <a:pt x="1188720" y="624840"/>
                  </a:lnTo>
                  <a:lnTo>
                    <a:pt x="0" y="624840"/>
                  </a:lnTo>
                  <a:close/>
                </a:path>
              </a:pathLst>
            </a:custGeom>
            <a:blipFill>
              <a:blip r:embed="rId6">
                <a:alphaModFix amt="0"/>
              </a:blip>
              <a:stretch>
                <a:fillRect l="-17441" t="0" r="-17441" b="0"/>
              </a:stretch>
            </a:blipFill>
          </p:spPr>
          <p:txBody>
            <a:bodyPr/>
            <a:p/>
          </p:txBody>
        </p:sp>
        <p:sp>
          <p:nvSpPr>
            <p:cNvPr name="TextBox 489" id="489"/>
            <p:cNvSpPr txBox="true"/>
            <p:nvPr/>
          </p:nvSpPr>
          <p:spPr>
            <a:xfrm>
              <a:off x="0" y="-38100"/>
              <a:ext cx="1188720" cy="662940"/>
            </a:xfrm>
            <a:prstGeom prst="rect">
              <a:avLst/>
            </a:prstGeom>
          </p:spPr>
          <p:txBody>
            <a:bodyPr anchor="ctr" rtlCol="false" tIns="0" lIns="0" bIns="0" rIns="0"/>
            <a:lstStyle/>
            <a:p>
              <a:pPr algn="ctr">
                <a:lnSpc>
                  <a:spcPts val="1709"/>
                </a:lnSpc>
              </a:pPr>
              <a:r>
                <a:rPr lang="en-US" sz="1425" b="true">
                  <a:solidFill>
                    <a:srgbClr val="FFFFFF"/>
                  </a:solidFill>
                  <a:latin typeface="Calibri (MS) Bold"/>
                  <a:ea typeface="Calibri (MS) Bold"/>
                  <a:cs typeface="Calibri (MS) Bold"/>
                  <a:sym typeface="Calibri (MS) Bold"/>
                </a:rPr>
                <a:t>ROBUST</a:t>
              </a:r>
            </a:p>
          </p:txBody>
        </p:sp>
      </p:grpSp>
      <p:grpSp>
        <p:nvGrpSpPr>
          <p:cNvPr name="Group 490" id="490"/>
          <p:cNvGrpSpPr/>
          <p:nvPr/>
        </p:nvGrpSpPr>
        <p:grpSpPr>
          <a:xfrm rot="0">
            <a:off x="822960" y="8641080"/>
            <a:ext cx="16637508" cy="685800"/>
            <a:chOff x="0" y="0"/>
            <a:chExt cx="22183344" cy="914400"/>
          </a:xfrm>
        </p:grpSpPr>
        <p:sp>
          <p:nvSpPr>
            <p:cNvPr name="Freeform 491" id="491"/>
            <p:cNvSpPr/>
            <p:nvPr/>
          </p:nvSpPr>
          <p:spPr>
            <a:xfrm flipH="false" flipV="false" rot="0">
              <a:off x="0" y="0"/>
              <a:ext cx="22183344" cy="914400"/>
            </a:xfrm>
            <a:custGeom>
              <a:avLst/>
              <a:gdLst/>
              <a:ahLst/>
              <a:cxnLst/>
              <a:rect r="r" b="b" t="t" l="l"/>
              <a:pathLst>
                <a:path h="914400" w="22183344">
                  <a:moveTo>
                    <a:pt x="0" y="182880"/>
                  </a:moveTo>
                  <a:cubicBezTo>
                    <a:pt x="0" y="81915"/>
                    <a:pt x="81915" y="0"/>
                    <a:pt x="182880" y="0"/>
                  </a:cubicBezTo>
                  <a:lnTo>
                    <a:pt x="22000463" y="0"/>
                  </a:lnTo>
                  <a:cubicBezTo>
                    <a:pt x="22101428" y="0"/>
                    <a:pt x="22183344" y="81915"/>
                    <a:pt x="22183344" y="182880"/>
                  </a:cubicBezTo>
                  <a:lnTo>
                    <a:pt x="22183344" y="731520"/>
                  </a:lnTo>
                  <a:cubicBezTo>
                    <a:pt x="22183344" y="832485"/>
                    <a:pt x="22101428" y="914400"/>
                    <a:pt x="22000463" y="914400"/>
                  </a:cubicBezTo>
                  <a:lnTo>
                    <a:pt x="182880" y="914400"/>
                  </a:lnTo>
                  <a:cubicBezTo>
                    <a:pt x="81915" y="914400"/>
                    <a:pt x="0" y="832485"/>
                    <a:pt x="0" y="731520"/>
                  </a:cubicBezTo>
                  <a:close/>
                </a:path>
              </a:pathLst>
            </a:custGeom>
            <a:solidFill>
              <a:srgbClr val="FFF1BF"/>
            </a:solidFill>
          </p:spPr>
          <p:txBody>
            <a:bodyPr/>
            <a:p/>
          </p:txBody>
        </p:sp>
      </p:grpSp>
      <p:grpSp>
        <p:nvGrpSpPr>
          <p:cNvPr name="Group 492" id="492"/>
          <p:cNvGrpSpPr/>
          <p:nvPr/>
        </p:nvGrpSpPr>
        <p:grpSpPr>
          <a:xfrm rot="0">
            <a:off x="1165860" y="8641080"/>
            <a:ext cx="15951708" cy="685800"/>
            <a:chOff x="0" y="0"/>
            <a:chExt cx="21268944" cy="914400"/>
          </a:xfrm>
        </p:grpSpPr>
        <p:sp>
          <p:nvSpPr>
            <p:cNvPr name="Freeform 493" id="493"/>
            <p:cNvSpPr/>
            <p:nvPr/>
          </p:nvSpPr>
          <p:spPr>
            <a:xfrm flipH="false" flipV="false" rot="0">
              <a:off x="0" y="0"/>
              <a:ext cx="21268944" cy="914400"/>
            </a:xfrm>
            <a:custGeom>
              <a:avLst/>
              <a:gdLst/>
              <a:ahLst/>
              <a:cxnLst/>
              <a:rect r="r" b="b" t="t" l="l"/>
              <a:pathLst>
                <a:path h="914400" w="21268944">
                  <a:moveTo>
                    <a:pt x="0" y="0"/>
                  </a:moveTo>
                  <a:lnTo>
                    <a:pt x="21268944" y="0"/>
                  </a:lnTo>
                  <a:lnTo>
                    <a:pt x="21268944" y="914400"/>
                  </a:lnTo>
                  <a:lnTo>
                    <a:pt x="0" y="914400"/>
                  </a:lnTo>
                  <a:close/>
                </a:path>
              </a:pathLst>
            </a:custGeom>
            <a:blipFill>
              <a:blip r:embed="rId4">
                <a:alphaModFix amt="0"/>
              </a:blip>
              <a:stretch>
                <a:fillRect l="0" t="-402906" r="0" b="-402906"/>
              </a:stretch>
            </a:blipFill>
          </p:spPr>
          <p:txBody>
            <a:bodyPr/>
            <a:p/>
          </p:txBody>
        </p:sp>
      </p:grpSp>
      <p:grpSp>
        <p:nvGrpSpPr>
          <p:cNvPr name="Group 494" id="494"/>
          <p:cNvGrpSpPr/>
          <p:nvPr/>
        </p:nvGrpSpPr>
        <p:grpSpPr>
          <a:xfrm rot="0">
            <a:off x="1165860" y="8612505"/>
            <a:ext cx="15951708" cy="714375"/>
            <a:chOff x="0" y="0"/>
            <a:chExt cx="21268944" cy="952500"/>
          </a:xfrm>
        </p:grpSpPr>
        <p:sp>
          <p:nvSpPr>
            <p:cNvPr name="Freeform 495" id="495"/>
            <p:cNvSpPr/>
            <p:nvPr/>
          </p:nvSpPr>
          <p:spPr>
            <a:xfrm flipH="false" flipV="false" rot="0">
              <a:off x="0" y="0"/>
              <a:ext cx="21268944" cy="952500"/>
            </a:xfrm>
            <a:custGeom>
              <a:avLst/>
              <a:gdLst/>
              <a:ahLst/>
              <a:cxnLst/>
              <a:rect r="r" b="b" t="t" l="l"/>
              <a:pathLst>
                <a:path h="952500" w="21268944">
                  <a:moveTo>
                    <a:pt x="0" y="0"/>
                  </a:moveTo>
                  <a:lnTo>
                    <a:pt x="21268944" y="0"/>
                  </a:lnTo>
                  <a:lnTo>
                    <a:pt x="21268944" y="952500"/>
                  </a:lnTo>
                  <a:lnTo>
                    <a:pt x="0" y="952500"/>
                  </a:lnTo>
                  <a:close/>
                </a:path>
              </a:pathLst>
            </a:custGeom>
            <a:blipFill>
              <a:blip r:embed="rId5">
                <a:alphaModFix amt="0"/>
              </a:blip>
              <a:stretch>
                <a:fillRect l="0" t="-384790" r="0" b="-384790"/>
              </a:stretch>
            </a:blipFill>
          </p:spPr>
          <p:txBody>
            <a:bodyPr/>
            <a:p/>
          </p:txBody>
        </p:sp>
      </p:grpSp>
      <p:grpSp>
        <p:nvGrpSpPr>
          <p:cNvPr name="Group 496" id="496"/>
          <p:cNvGrpSpPr/>
          <p:nvPr/>
        </p:nvGrpSpPr>
        <p:grpSpPr>
          <a:xfrm rot="0">
            <a:off x="1165860" y="8583930"/>
            <a:ext cx="15951708" cy="742950"/>
            <a:chOff x="0" y="0"/>
            <a:chExt cx="21268944" cy="990600"/>
          </a:xfrm>
        </p:grpSpPr>
        <p:sp>
          <p:nvSpPr>
            <p:cNvPr name="Freeform 497" id="497"/>
            <p:cNvSpPr/>
            <p:nvPr/>
          </p:nvSpPr>
          <p:spPr>
            <a:xfrm flipH="false" flipV="false" rot="0">
              <a:off x="0" y="0"/>
              <a:ext cx="21268944" cy="990600"/>
            </a:xfrm>
            <a:custGeom>
              <a:avLst/>
              <a:gdLst/>
              <a:ahLst/>
              <a:cxnLst/>
              <a:rect r="r" b="b" t="t" l="l"/>
              <a:pathLst>
                <a:path h="990600" w="21268944">
                  <a:moveTo>
                    <a:pt x="0" y="0"/>
                  </a:moveTo>
                  <a:lnTo>
                    <a:pt x="21268944" y="0"/>
                  </a:lnTo>
                  <a:lnTo>
                    <a:pt x="21268944" y="990600"/>
                  </a:lnTo>
                  <a:lnTo>
                    <a:pt x="0" y="990600"/>
                  </a:lnTo>
                  <a:close/>
                </a:path>
              </a:pathLst>
            </a:custGeom>
            <a:blipFill>
              <a:blip r:embed="rId6">
                <a:alphaModFix amt="0"/>
              </a:blip>
              <a:stretch>
                <a:fillRect l="0" t="-368358" r="0" b="-368358"/>
              </a:stretch>
            </a:blipFill>
          </p:spPr>
          <p:txBody>
            <a:bodyPr/>
            <a:p/>
          </p:txBody>
        </p:sp>
        <p:sp>
          <p:nvSpPr>
            <p:cNvPr name="TextBox 498" id="498"/>
            <p:cNvSpPr txBox="true"/>
            <p:nvPr/>
          </p:nvSpPr>
          <p:spPr>
            <a:xfrm>
              <a:off x="0" y="-38100"/>
              <a:ext cx="21268944" cy="1028700"/>
            </a:xfrm>
            <a:prstGeom prst="rect">
              <a:avLst/>
            </a:prstGeom>
          </p:spPr>
          <p:txBody>
            <a:bodyPr anchor="ctr" rtlCol="false" tIns="0" lIns="0" bIns="0" rIns="0"/>
            <a:lstStyle/>
            <a:p>
              <a:pPr algn="l">
                <a:lnSpc>
                  <a:spcPts val="2250"/>
                </a:lnSpc>
              </a:pPr>
              <a:r>
                <a:rPr lang="en-US" sz="1875" b="true">
                  <a:solidFill>
                    <a:srgbClr val="14313B"/>
                  </a:solidFill>
                  <a:latin typeface="Calibri (MS) Bold"/>
                  <a:ea typeface="Calibri (MS) Bold"/>
                  <a:cs typeface="Calibri (MS) Bold"/>
                  <a:sym typeface="Calibri (MS) Bold"/>
                </a:rPr>
                <a:t>Yang robust adalah urutannya, bukan besarannya: angka 2050 berubah cukup besar antarkondisi → hasil bukan ramalan.</a:t>
              </a:r>
            </a:p>
          </p:txBody>
        </p:sp>
      </p:grpSp>
      <p:sp>
        <p:nvSpPr>
          <p:cNvPr name="TextBox 499" id="499"/>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61</a:t>
            </a:r>
          </a:p>
        </p:txBody>
      </p:sp>
      <p:grpSp>
        <p:nvGrpSpPr>
          <p:cNvPr name="Group 500" id="500"/>
          <p:cNvGrpSpPr/>
          <p:nvPr/>
        </p:nvGrpSpPr>
        <p:grpSpPr>
          <a:xfrm rot="0">
            <a:off x="12755880" y="274320"/>
            <a:ext cx="3931920" cy="411480"/>
            <a:chOff x="0" y="0"/>
            <a:chExt cx="5242560" cy="548640"/>
          </a:xfrm>
        </p:grpSpPr>
        <p:sp>
          <p:nvSpPr>
            <p:cNvPr name="Freeform 501" id="501"/>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502" id="502"/>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2G · Skenario kebijakan</a:t>
              </a:r>
            </a:p>
          </p:txBody>
        </p:sp>
      </p:grpSp>
      <p:grpSp>
        <p:nvGrpSpPr>
          <p:cNvPr name="Group 503" id="503"/>
          <p:cNvGrpSpPr/>
          <p:nvPr/>
        </p:nvGrpSpPr>
        <p:grpSpPr>
          <a:xfrm rot="0">
            <a:off x="16047720" y="9646920"/>
            <a:ext cx="420624" cy="420624"/>
            <a:chOff x="0" y="0"/>
            <a:chExt cx="560832" cy="560832"/>
          </a:xfrm>
        </p:grpSpPr>
        <p:sp>
          <p:nvSpPr>
            <p:cNvPr name="Freeform 504" id="504"/>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505" id="505"/>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6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Implikasi Kebijakan</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Simulasi menunjukkan trade-off antarpilihan kebijakan, bukan satu jawaban tunggal</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Freeform 66" id="66"/>
          <p:cNvSpPr/>
          <p:nvPr/>
        </p:nvSpPr>
        <p:spPr>
          <a:xfrm flipH="false" flipV="false" rot="0">
            <a:off x="806291" y="2315051"/>
            <a:ext cx="8194357" cy="3393758"/>
          </a:xfrm>
          <a:custGeom>
            <a:avLst/>
            <a:gdLst/>
            <a:ahLst/>
            <a:cxnLst/>
            <a:rect r="r" b="b" t="t" l="l"/>
            <a:pathLst>
              <a:path h="3393758" w="8194357">
                <a:moveTo>
                  <a:pt x="0" y="0"/>
                </a:moveTo>
                <a:lnTo>
                  <a:pt x="8194358" y="0"/>
                </a:lnTo>
                <a:lnTo>
                  <a:pt x="8194358" y="3393758"/>
                </a:lnTo>
                <a:lnTo>
                  <a:pt x="0" y="3393758"/>
                </a:lnTo>
                <a:lnTo>
                  <a:pt x="0" y="0"/>
                </a:lnTo>
                <a:close/>
              </a:path>
            </a:pathLst>
          </a:custGeom>
          <a:blipFill>
            <a:blip r:embed="rId7">
              <a:extLst>
                <a:ext uri="{96DAC541-7B7A-43D3-8B79-37D633B846F1}">
                  <asvg:svgBlip xmlns:asvg="http://schemas.microsoft.com/office/drawing/2016/SVG/main" r:embed="rId8"/>
                </a:ext>
              </a:extLst>
            </a:blip>
            <a:stretch>
              <a:fillRect l="0" t="-57" r="0" b="-57"/>
            </a:stretch>
          </a:blipFill>
        </p:spPr>
        <p:txBody>
          <a:bodyPr/>
          <a:p/>
        </p:txBody>
      </p:sp>
      <p:grpSp>
        <p:nvGrpSpPr>
          <p:cNvPr name="Group 67" id="67"/>
          <p:cNvGrpSpPr/>
          <p:nvPr/>
        </p:nvGrpSpPr>
        <p:grpSpPr>
          <a:xfrm rot="0">
            <a:off x="1165860" y="2633472"/>
            <a:ext cx="685800" cy="685800"/>
            <a:chOff x="0" y="0"/>
            <a:chExt cx="914400" cy="914400"/>
          </a:xfrm>
        </p:grpSpPr>
        <p:sp>
          <p:nvSpPr>
            <p:cNvPr name="Freeform 68" id="68"/>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69" id="69"/>
          <p:cNvGrpSpPr/>
          <p:nvPr/>
        </p:nvGrpSpPr>
        <p:grpSpPr>
          <a:xfrm rot="0">
            <a:off x="1165860" y="2633472"/>
            <a:ext cx="685800" cy="685800"/>
            <a:chOff x="0" y="0"/>
            <a:chExt cx="914400" cy="914400"/>
          </a:xfrm>
        </p:grpSpPr>
        <p:sp>
          <p:nvSpPr>
            <p:cNvPr name="Freeform 70" id="70"/>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txBody>
            <a:bodyPr/>
            <a:p/>
          </p:txBody>
        </p:sp>
      </p:grpSp>
      <p:grpSp>
        <p:nvGrpSpPr>
          <p:cNvPr name="Group 71" id="71"/>
          <p:cNvGrpSpPr/>
          <p:nvPr/>
        </p:nvGrpSpPr>
        <p:grpSpPr>
          <a:xfrm rot="0">
            <a:off x="1165860" y="2604897"/>
            <a:ext cx="685800" cy="714375"/>
            <a:chOff x="0" y="0"/>
            <a:chExt cx="914400" cy="952500"/>
          </a:xfrm>
        </p:grpSpPr>
        <p:sp>
          <p:nvSpPr>
            <p:cNvPr name="Freeform 72" id="72"/>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743" t="0" r="-83741" b="0"/>
              </a:stretch>
            </a:blipFill>
          </p:spPr>
          <p:txBody>
            <a:bodyPr/>
            <a:p/>
          </p:txBody>
        </p:sp>
      </p:grpSp>
      <p:grpSp>
        <p:nvGrpSpPr>
          <p:cNvPr name="Group 73" id="73"/>
          <p:cNvGrpSpPr/>
          <p:nvPr/>
        </p:nvGrpSpPr>
        <p:grpSpPr>
          <a:xfrm rot="0">
            <a:off x="1165860" y="2576322"/>
            <a:ext cx="685800" cy="742950"/>
            <a:chOff x="0" y="0"/>
            <a:chExt cx="914400" cy="990600"/>
          </a:xfrm>
        </p:grpSpPr>
        <p:sp>
          <p:nvSpPr>
            <p:cNvPr name="Freeform 74" id="74"/>
            <p:cNvSpPr/>
            <p:nvPr/>
          </p:nvSpPr>
          <p:spPr>
            <a:xfrm flipH="false" flipV="false" rot="0">
              <a:off x="0" y="0"/>
              <a:ext cx="914400" cy="990600"/>
            </a:xfrm>
            <a:custGeom>
              <a:avLst/>
              <a:gdLst/>
              <a:ahLst/>
              <a:cxnLst/>
              <a:rect r="r" b="b" t="t" l="l"/>
              <a:pathLst>
                <a:path h="990600" w="914400">
                  <a:moveTo>
                    <a:pt x="0" y="0"/>
                  </a:moveTo>
                  <a:lnTo>
                    <a:pt x="914400" y="0"/>
                  </a:lnTo>
                  <a:lnTo>
                    <a:pt x="914400" y="990600"/>
                  </a:lnTo>
                  <a:lnTo>
                    <a:pt x="0" y="990600"/>
                  </a:lnTo>
                  <a:close/>
                </a:path>
              </a:pathLst>
            </a:custGeom>
            <a:blipFill>
              <a:blip r:embed="rId6">
                <a:alphaModFix amt="0"/>
              </a:blip>
              <a:stretch>
                <a:fillRect l="-88995" t="0" r="-88995" b="0"/>
              </a:stretch>
            </a:blipFill>
          </p:spPr>
          <p:txBody>
            <a:bodyPr/>
            <a:p/>
          </p:txBody>
        </p:sp>
        <p:sp>
          <p:nvSpPr>
            <p:cNvPr name="TextBox 75" id="75"/>
            <p:cNvSpPr txBox="true"/>
            <p:nvPr/>
          </p:nvSpPr>
          <p:spPr>
            <a:xfrm>
              <a:off x="0" y="-38100"/>
              <a:ext cx="914400" cy="10287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1</a:t>
              </a:r>
            </a:p>
          </p:txBody>
        </p:sp>
      </p:grpSp>
      <p:grpSp>
        <p:nvGrpSpPr>
          <p:cNvPr name="Group 76" id="76"/>
          <p:cNvGrpSpPr/>
          <p:nvPr/>
        </p:nvGrpSpPr>
        <p:grpSpPr>
          <a:xfrm rot="0">
            <a:off x="2125980" y="2633472"/>
            <a:ext cx="6583680" cy="685800"/>
            <a:chOff x="0" y="0"/>
            <a:chExt cx="8778240" cy="914400"/>
          </a:xfrm>
        </p:grpSpPr>
        <p:sp>
          <p:nvSpPr>
            <p:cNvPr name="Freeform 77" id="77"/>
            <p:cNvSpPr/>
            <p:nvPr/>
          </p:nvSpPr>
          <p:spPr>
            <a:xfrm flipH="false" flipV="false" rot="0">
              <a:off x="0" y="0"/>
              <a:ext cx="8778240" cy="914400"/>
            </a:xfrm>
            <a:custGeom>
              <a:avLst/>
              <a:gdLst/>
              <a:ahLst/>
              <a:cxnLst/>
              <a:rect r="r" b="b" t="t" l="l"/>
              <a:pathLst>
                <a:path h="914400" w="8778240">
                  <a:moveTo>
                    <a:pt x="0" y="0"/>
                  </a:moveTo>
                  <a:lnTo>
                    <a:pt x="8778240" y="0"/>
                  </a:lnTo>
                  <a:lnTo>
                    <a:pt x="8778240" y="914400"/>
                  </a:lnTo>
                  <a:lnTo>
                    <a:pt x="0" y="914400"/>
                  </a:lnTo>
                  <a:close/>
                </a:path>
              </a:pathLst>
            </a:custGeom>
            <a:blipFill>
              <a:blip r:embed="rId4">
                <a:alphaModFix amt="0"/>
              </a:blip>
              <a:stretch>
                <a:fillRect l="0" t="-136926" r="0" b="-136926"/>
              </a:stretch>
            </a:blipFill>
          </p:spPr>
          <p:txBody>
            <a:bodyPr/>
            <a:p/>
          </p:txBody>
        </p:sp>
      </p:grpSp>
      <p:grpSp>
        <p:nvGrpSpPr>
          <p:cNvPr name="Group 78" id="78"/>
          <p:cNvGrpSpPr/>
          <p:nvPr/>
        </p:nvGrpSpPr>
        <p:grpSpPr>
          <a:xfrm rot="0">
            <a:off x="2125980" y="2604897"/>
            <a:ext cx="6583680" cy="714375"/>
            <a:chOff x="0" y="0"/>
            <a:chExt cx="8778240" cy="952500"/>
          </a:xfrm>
        </p:grpSpPr>
        <p:sp>
          <p:nvSpPr>
            <p:cNvPr name="Freeform 79" id="79"/>
            <p:cNvSpPr/>
            <p:nvPr/>
          </p:nvSpPr>
          <p:spPr>
            <a:xfrm flipH="false" flipV="false" rot="0">
              <a:off x="0" y="0"/>
              <a:ext cx="8778240" cy="952500"/>
            </a:xfrm>
            <a:custGeom>
              <a:avLst/>
              <a:gdLst/>
              <a:ahLst/>
              <a:cxnLst/>
              <a:rect r="r" b="b" t="t" l="l"/>
              <a:pathLst>
                <a:path h="952500" w="8778240">
                  <a:moveTo>
                    <a:pt x="0" y="0"/>
                  </a:moveTo>
                  <a:lnTo>
                    <a:pt x="8778240" y="0"/>
                  </a:lnTo>
                  <a:lnTo>
                    <a:pt x="8778240" y="952500"/>
                  </a:lnTo>
                  <a:lnTo>
                    <a:pt x="0" y="952500"/>
                  </a:lnTo>
                  <a:close/>
                </a:path>
              </a:pathLst>
            </a:custGeom>
            <a:blipFill>
              <a:blip r:embed="rId5">
                <a:alphaModFix amt="0"/>
              </a:blip>
              <a:stretch>
                <a:fillRect l="0" t="-129449" r="0" b="-129449"/>
              </a:stretch>
            </a:blipFill>
          </p:spPr>
          <p:txBody>
            <a:bodyPr/>
            <a:p/>
          </p:txBody>
        </p:sp>
      </p:grpSp>
      <p:grpSp>
        <p:nvGrpSpPr>
          <p:cNvPr name="Group 80" id="80"/>
          <p:cNvGrpSpPr/>
          <p:nvPr/>
        </p:nvGrpSpPr>
        <p:grpSpPr>
          <a:xfrm rot="0">
            <a:off x="2125980" y="2576322"/>
            <a:ext cx="6583680" cy="742950"/>
            <a:chOff x="0" y="0"/>
            <a:chExt cx="8778240" cy="990600"/>
          </a:xfrm>
        </p:grpSpPr>
        <p:sp>
          <p:nvSpPr>
            <p:cNvPr name="Freeform 81" id="81"/>
            <p:cNvSpPr/>
            <p:nvPr/>
          </p:nvSpPr>
          <p:spPr>
            <a:xfrm flipH="false" flipV="false" rot="0">
              <a:off x="0" y="0"/>
              <a:ext cx="8778240" cy="990600"/>
            </a:xfrm>
            <a:custGeom>
              <a:avLst/>
              <a:gdLst/>
              <a:ahLst/>
              <a:cxnLst/>
              <a:rect r="r" b="b" t="t" l="l"/>
              <a:pathLst>
                <a:path h="990600" w="8778240">
                  <a:moveTo>
                    <a:pt x="0" y="0"/>
                  </a:moveTo>
                  <a:lnTo>
                    <a:pt x="8778240" y="0"/>
                  </a:lnTo>
                  <a:lnTo>
                    <a:pt x="8778240" y="990600"/>
                  </a:lnTo>
                  <a:lnTo>
                    <a:pt x="0" y="990600"/>
                  </a:lnTo>
                  <a:close/>
                </a:path>
              </a:pathLst>
            </a:custGeom>
            <a:blipFill>
              <a:blip r:embed="rId6">
                <a:alphaModFix amt="0"/>
              </a:blip>
              <a:stretch>
                <a:fillRect l="0" t="-122667" r="0" b="-122667"/>
              </a:stretch>
            </a:blipFill>
          </p:spPr>
          <p:txBody>
            <a:bodyPr/>
            <a:p/>
          </p:txBody>
        </p:sp>
        <p:sp>
          <p:nvSpPr>
            <p:cNvPr name="TextBox 82" id="82"/>
            <p:cNvSpPr txBox="true"/>
            <p:nvPr/>
          </p:nvSpPr>
          <p:spPr>
            <a:xfrm>
              <a:off x="0" y="-38100"/>
              <a:ext cx="8778240" cy="1028700"/>
            </a:xfrm>
            <a:prstGeom prst="rect">
              <a:avLst/>
            </a:prstGeom>
          </p:spPr>
          <p:txBody>
            <a:bodyPr anchor="ctr" rtlCol="false" tIns="0" lIns="0" bIns="0" rIns="0"/>
            <a:lstStyle/>
            <a:p>
              <a:pPr algn="l">
                <a:lnSpc>
                  <a:spcPts val="2878"/>
                </a:lnSpc>
              </a:pPr>
              <a:r>
                <a:rPr lang="en-US" sz="2400" b="true">
                  <a:solidFill>
                    <a:srgbClr val="0B5E6E"/>
                  </a:solidFill>
                  <a:latin typeface="Calibri (MS) Bold"/>
                  <a:ea typeface="Calibri (MS) Bold"/>
                  <a:cs typeface="Calibri (MS) Bold"/>
                  <a:sym typeface="Calibri (MS) Bold"/>
                </a:rPr>
                <a:t>Prioritas tak terelakkan</a:t>
              </a:r>
            </a:p>
          </p:txBody>
        </p:sp>
      </p:grpSp>
      <p:sp>
        <p:nvSpPr>
          <p:cNvPr name="TextBox 83" id="83"/>
          <p:cNvSpPr txBox="true"/>
          <p:nvPr/>
        </p:nvSpPr>
        <p:spPr>
          <a:xfrm rot="0">
            <a:off x="1234440" y="3423285"/>
            <a:ext cx="7406640" cy="2200275"/>
          </a:xfrm>
          <a:prstGeom prst="rect">
            <a:avLst/>
          </a:prstGeom>
        </p:spPr>
        <p:txBody>
          <a:bodyPr anchor="t" rtlCol="false" tIns="0" lIns="0" bIns="0" rIns="0">
            <a:spAutoFit/>
          </a:bodyPr>
          <a:lstStyle/>
          <a:p>
            <a:pPr algn="l">
              <a:lnSpc>
                <a:spcPts val="2340"/>
              </a:lnSpc>
            </a:pPr>
            <a:r>
              <a:rPr lang="en-US" sz="1950">
                <a:solidFill>
                  <a:srgbClr val="14313B"/>
                </a:solidFill>
                <a:latin typeface="Calibri (MS)"/>
                <a:ea typeface="Calibri (MS)"/>
                <a:cs typeface="Calibri (MS)"/>
                <a:sym typeface="Calibri (MS)"/>
              </a:rPr>
              <a:t>Development Priority tertinggi pada lapangan kerja dan nilai tambah, tetapi konversi lahan pariwisata +15,64% vs BAU dan kepadatan tertinggi. Sustainable membuat konversi lahan fasilitas pariwisata menjadi nol dan tetap tumbuh lebih tinggi dari BAU.</a:t>
            </a:r>
          </a:p>
        </p:txBody>
      </p:sp>
      <p:sp>
        <p:nvSpPr>
          <p:cNvPr name="Freeform 84" id="84"/>
          <p:cNvSpPr/>
          <p:nvPr/>
        </p:nvSpPr>
        <p:spPr>
          <a:xfrm flipH="false" flipV="false" rot="0">
            <a:off x="9282779" y="2315051"/>
            <a:ext cx="8194357" cy="3393758"/>
          </a:xfrm>
          <a:custGeom>
            <a:avLst/>
            <a:gdLst/>
            <a:ahLst/>
            <a:cxnLst/>
            <a:rect r="r" b="b" t="t" l="l"/>
            <a:pathLst>
              <a:path h="3393758" w="8194357">
                <a:moveTo>
                  <a:pt x="0" y="0"/>
                </a:moveTo>
                <a:lnTo>
                  <a:pt x="8194358" y="0"/>
                </a:lnTo>
                <a:lnTo>
                  <a:pt x="8194358" y="3393758"/>
                </a:lnTo>
                <a:lnTo>
                  <a:pt x="0" y="3393758"/>
                </a:lnTo>
                <a:lnTo>
                  <a:pt x="0" y="0"/>
                </a:lnTo>
                <a:close/>
              </a:path>
            </a:pathLst>
          </a:custGeom>
          <a:blipFill>
            <a:blip r:embed="rId7">
              <a:extLst>
                <a:ext uri="{96DAC541-7B7A-43D3-8B79-37D633B846F1}">
                  <asvg:svgBlip xmlns:asvg="http://schemas.microsoft.com/office/drawing/2016/SVG/main" r:embed="rId8"/>
                </a:ext>
              </a:extLst>
            </a:blip>
            <a:stretch>
              <a:fillRect l="0" t="-57" r="0" b="-57"/>
            </a:stretch>
          </a:blipFill>
        </p:spPr>
        <p:txBody>
          <a:bodyPr/>
          <a:p/>
        </p:txBody>
      </p:sp>
      <p:grpSp>
        <p:nvGrpSpPr>
          <p:cNvPr name="Group 85" id="85"/>
          <p:cNvGrpSpPr/>
          <p:nvPr/>
        </p:nvGrpSpPr>
        <p:grpSpPr>
          <a:xfrm rot="0">
            <a:off x="9642348" y="2633472"/>
            <a:ext cx="685800" cy="685800"/>
            <a:chOff x="0" y="0"/>
            <a:chExt cx="914400" cy="914400"/>
          </a:xfrm>
        </p:grpSpPr>
        <p:sp>
          <p:nvSpPr>
            <p:cNvPr name="Freeform 86" id="86"/>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87" id="87"/>
          <p:cNvGrpSpPr/>
          <p:nvPr/>
        </p:nvGrpSpPr>
        <p:grpSpPr>
          <a:xfrm rot="0">
            <a:off x="9642348" y="2633472"/>
            <a:ext cx="685800" cy="685800"/>
            <a:chOff x="0" y="0"/>
            <a:chExt cx="914400" cy="914400"/>
          </a:xfrm>
        </p:grpSpPr>
        <p:sp>
          <p:nvSpPr>
            <p:cNvPr name="Freeform 88" id="88"/>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txBody>
            <a:bodyPr/>
            <a:p/>
          </p:txBody>
        </p:sp>
      </p:grpSp>
      <p:grpSp>
        <p:nvGrpSpPr>
          <p:cNvPr name="Group 89" id="89"/>
          <p:cNvGrpSpPr/>
          <p:nvPr/>
        </p:nvGrpSpPr>
        <p:grpSpPr>
          <a:xfrm rot="0">
            <a:off x="9642348" y="2604897"/>
            <a:ext cx="685800" cy="714375"/>
            <a:chOff x="0" y="0"/>
            <a:chExt cx="914400" cy="952500"/>
          </a:xfrm>
        </p:grpSpPr>
        <p:sp>
          <p:nvSpPr>
            <p:cNvPr name="Freeform 90" id="90"/>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743" t="0" r="-83741" b="0"/>
              </a:stretch>
            </a:blipFill>
          </p:spPr>
          <p:txBody>
            <a:bodyPr/>
            <a:p/>
          </p:txBody>
        </p:sp>
      </p:grpSp>
      <p:grpSp>
        <p:nvGrpSpPr>
          <p:cNvPr name="Group 91" id="91"/>
          <p:cNvGrpSpPr/>
          <p:nvPr/>
        </p:nvGrpSpPr>
        <p:grpSpPr>
          <a:xfrm rot="0">
            <a:off x="9642348" y="2576322"/>
            <a:ext cx="685800" cy="742950"/>
            <a:chOff x="0" y="0"/>
            <a:chExt cx="914400" cy="990600"/>
          </a:xfrm>
        </p:grpSpPr>
        <p:sp>
          <p:nvSpPr>
            <p:cNvPr name="Freeform 92" id="92"/>
            <p:cNvSpPr/>
            <p:nvPr/>
          </p:nvSpPr>
          <p:spPr>
            <a:xfrm flipH="false" flipV="false" rot="0">
              <a:off x="0" y="0"/>
              <a:ext cx="914400" cy="990600"/>
            </a:xfrm>
            <a:custGeom>
              <a:avLst/>
              <a:gdLst/>
              <a:ahLst/>
              <a:cxnLst/>
              <a:rect r="r" b="b" t="t" l="l"/>
              <a:pathLst>
                <a:path h="990600" w="914400">
                  <a:moveTo>
                    <a:pt x="0" y="0"/>
                  </a:moveTo>
                  <a:lnTo>
                    <a:pt x="914400" y="0"/>
                  </a:lnTo>
                  <a:lnTo>
                    <a:pt x="914400" y="990600"/>
                  </a:lnTo>
                  <a:lnTo>
                    <a:pt x="0" y="990600"/>
                  </a:lnTo>
                  <a:close/>
                </a:path>
              </a:pathLst>
            </a:custGeom>
            <a:blipFill>
              <a:blip r:embed="rId6">
                <a:alphaModFix amt="0"/>
              </a:blip>
              <a:stretch>
                <a:fillRect l="-88995" t="0" r="-88995" b="0"/>
              </a:stretch>
            </a:blipFill>
          </p:spPr>
          <p:txBody>
            <a:bodyPr/>
            <a:p/>
          </p:txBody>
        </p:sp>
        <p:sp>
          <p:nvSpPr>
            <p:cNvPr name="TextBox 93" id="93"/>
            <p:cNvSpPr txBox="true"/>
            <p:nvPr/>
          </p:nvSpPr>
          <p:spPr>
            <a:xfrm>
              <a:off x="0" y="-38100"/>
              <a:ext cx="914400" cy="10287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2</a:t>
              </a:r>
            </a:p>
          </p:txBody>
        </p:sp>
      </p:grpSp>
      <p:grpSp>
        <p:nvGrpSpPr>
          <p:cNvPr name="Group 94" id="94"/>
          <p:cNvGrpSpPr/>
          <p:nvPr/>
        </p:nvGrpSpPr>
        <p:grpSpPr>
          <a:xfrm rot="0">
            <a:off x="10602468" y="2633472"/>
            <a:ext cx="6583680" cy="685800"/>
            <a:chOff x="0" y="0"/>
            <a:chExt cx="8778240" cy="914400"/>
          </a:xfrm>
        </p:grpSpPr>
        <p:sp>
          <p:nvSpPr>
            <p:cNvPr name="Freeform 95" id="95"/>
            <p:cNvSpPr/>
            <p:nvPr/>
          </p:nvSpPr>
          <p:spPr>
            <a:xfrm flipH="false" flipV="false" rot="0">
              <a:off x="0" y="0"/>
              <a:ext cx="8778240" cy="914400"/>
            </a:xfrm>
            <a:custGeom>
              <a:avLst/>
              <a:gdLst/>
              <a:ahLst/>
              <a:cxnLst/>
              <a:rect r="r" b="b" t="t" l="l"/>
              <a:pathLst>
                <a:path h="914400" w="8778240">
                  <a:moveTo>
                    <a:pt x="0" y="0"/>
                  </a:moveTo>
                  <a:lnTo>
                    <a:pt x="8778240" y="0"/>
                  </a:lnTo>
                  <a:lnTo>
                    <a:pt x="8778240" y="914400"/>
                  </a:lnTo>
                  <a:lnTo>
                    <a:pt x="0" y="914400"/>
                  </a:lnTo>
                  <a:close/>
                </a:path>
              </a:pathLst>
            </a:custGeom>
            <a:blipFill>
              <a:blip r:embed="rId4">
                <a:alphaModFix amt="0"/>
              </a:blip>
              <a:stretch>
                <a:fillRect l="0" t="-136926" r="0" b="-136926"/>
              </a:stretch>
            </a:blipFill>
          </p:spPr>
          <p:txBody>
            <a:bodyPr/>
            <a:p/>
          </p:txBody>
        </p:sp>
      </p:grpSp>
      <p:grpSp>
        <p:nvGrpSpPr>
          <p:cNvPr name="Group 96" id="96"/>
          <p:cNvGrpSpPr/>
          <p:nvPr/>
        </p:nvGrpSpPr>
        <p:grpSpPr>
          <a:xfrm rot="0">
            <a:off x="10602468" y="2604897"/>
            <a:ext cx="6583680" cy="714375"/>
            <a:chOff x="0" y="0"/>
            <a:chExt cx="8778240" cy="952500"/>
          </a:xfrm>
        </p:grpSpPr>
        <p:sp>
          <p:nvSpPr>
            <p:cNvPr name="Freeform 97" id="97"/>
            <p:cNvSpPr/>
            <p:nvPr/>
          </p:nvSpPr>
          <p:spPr>
            <a:xfrm flipH="false" flipV="false" rot="0">
              <a:off x="0" y="0"/>
              <a:ext cx="8778240" cy="952500"/>
            </a:xfrm>
            <a:custGeom>
              <a:avLst/>
              <a:gdLst/>
              <a:ahLst/>
              <a:cxnLst/>
              <a:rect r="r" b="b" t="t" l="l"/>
              <a:pathLst>
                <a:path h="952500" w="8778240">
                  <a:moveTo>
                    <a:pt x="0" y="0"/>
                  </a:moveTo>
                  <a:lnTo>
                    <a:pt x="8778240" y="0"/>
                  </a:lnTo>
                  <a:lnTo>
                    <a:pt x="8778240" y="952500"/>
                  </a:lnTo>
                  <a:lnTo>
                    <a:pt x="0" y="952500"/>
                  </a:lnTo>
                  <a:close/>
                </a:path>
              </a:pathLst>
            </a:custGeom>
            <a:blipFill>
              <a:blip r:embed="rId5">
                <a:alphaModFix amt="0"/>
              </a:blip>
              <a:stretch>
                <a:fillRect l="0" t="-129449" r="0" b="-129449"/>
              </a:stretch>
            </a:blipFill>
          </p:spPr>
          <p:txBody>
            <a:bodyPr/>
            <a:p/>
          </p:txBody>
        </p:sp>
      </p:grpSp>
      <p:grpSp>
        <p:nvGrpSpPr>
          <p:cNvPr name="Group 98" id="98"/>
          <p:cNvGrpSpPr/>
          <p:nvPr/>
        </p:nvGrpSpPr>
        <p:grpSpPr>
          <a:xfrm rot="0">
            <a:off x="10602468" y="2576322"/>
            <a:ext cx="6583680" cy="742950"/>
            <a:chOff x="0" y="0"/>
            <a:chExt cx="8778240" cy="990600"/>
          </a:xfrm>
        </p:grpSpPr>
        <p:sp>
          <p:nvSpPr>
            <p:cNvPr name="Freeform 99" id="99"/>
            <p:cNvSpPr/>
            <p:nvPr/>
          </p:nvSpPr>
          <p:spPr>
            <a:xfrm flipH="false" flipV="false" rot="0">
              <a:off x="0" y="0"/>
              <a:ext cx="8778240" cy="990600"/>
            </a:xfrm>
            <a:custGeom>
              <a:avLst/>
              <a:gdLst/>
              <a:ahLst/>
              <a:cxnLst/>
              <a:rect r="r" b="b" t="t" l="l"/>
              <a:pathLst>
                <a:path h="990600" w="8778240">
                  <a:moveTo>
                    <a:pt x="0" y="0"/>
                  </a:moveTo>
                  <a:lnTo>
                    <a:pt x="8778240" y="0"/>
                  </a:lnTo>
                  <a:lnTo>
                    <a:pt x="8778240" y="990600"/>
                  </a:lnTo>
                  <a:lnTo>
                    <a:pt x="0" y="990600"/>
                  </a:lnTo>
                  <a:close/>
                </a:path>
              </a:pathLst>
            </a:custGeom>
            <a:blipFill>
              <a:blip r:embed="rId6">
                <a:alphaModFix amt="0"/>
              </a:blip>
              <a:stretch>
                <a:fillRect l="0" t="-122667" r="0" b="-122667"/>
              </a:stretch>
            </a:blipFill>
          </p:spPr>
          <p:txBody>
            <a:bodyPr/>
            <a:p/>
          </p:txBody>
        </p:sp>
        <p:sp>
          <p:nvSpPr>
            <p:cNvPr name="TextBox 100" id="100"/>
            <p:cNvSpPr txBox="true"/>
            <p:nvPr/>
          </p:nvSpPr>
          <p:spPr>
            <a:xfrm>
              <a:off x="0" y="-38100"/>
              <a:ext cx="8778240" cy="1028700"/>
            </a:xfrm>
            <a:prstGeom prst="rect">
              <a:avLst/>
            </a:prstGeom>
          </p:spPr>
          <p:txBody>
            <a:bodyPr anchor="ctr" rtlCol="false" tIns="0" lIns="0" bIns="0" rIns="0"/>
            <a:lstStyle/>
            <a:p>
              <a:pPr algn="l">
                <a:lnSpc>
                  <a:spcPts val="2878"/>
                </a:lnSpc>
              </a:pPr>
              <a:r>
                <a:rPr lang="en-US" sz="2400" b="true">
                  <a:solidFill>
                    <a:srgbClr val="0B5E6E"/>
                  </a:solidFill>
                  <a:latin typeface="Calibri (MS) Bold"/>
                  <a:ea typeface="Calibri (MS) Bold"/>
                  <a:cs typeface="Calibri (MS) Bold"/>
                  <a:sym typeface="Calibri (MS) Bold"/>
                </a:rPr>
                <a:t>Instrumen lahan sektor pariwisata terbatas</a:t>
              </a:r>
            </a:p>
          </p:txBody>
        </p:sp>
      </p:grpSp>
      <p:sp>
        <p:nvSpPr>
          <p:cNvPr name="TextBox 101" id="101"/>
          <p:cNvSpPr txBox="true"/>
          <p:nvPr/>
        </p:nvSpPr>
        <p:spPr>
          <a:xfrm rot="0">
            <a:off x="9710928" y="3423285"/>
            <a:ext cx="7406640" cy="2200275"/>
          </a:xfrm>
          <a:prstGeom prst="rect">
            <a:avLst/>
          </a:prstGeom>
        </p:spPr>
        <p:txBody>
          <a:bodyPr anchor="t" rtlCol="false" tIns="0" lIns="0" bIns="0" rIns="0">
            <a:spAutoFit/>
          </a:bodyPr>
          <a:lstStyle/>
          <a:p>
            <a:pPr algn="l">
              <a:lnSpc>
                <a:spcPts val="2340"/>
              </a:lnSpc>
            </a:pPr>
            <a:r>
              <a:rPr lang="en-US" sz="1950">
                <a:solidFill>
                  <a:srgbClr val="14313B"/>
                </a:solidFill>
                <a:latin typeface="Calibri (MS)"/>
                <a:ea typeface="Calibri (MS)"/>
                <a:cs typeface="Calibri (MS)"/>
                <a:sym typeface="Calibri (MS)"/>
              </a:rPr>
              <a:t>Lahan terbangun total hanya turun 0,91% karena konversi non-pariwisata tetap berjalan → pengendalian ruang perlu terpadu lintas sektor.</a:t>
            </a:r>
          </a:p>
        </p:txBody>
      </p:sp>
      <p:sp>
        <p:nvSpPr>
          <p:cNvPr name="Freeform 102" id="102"/>
          <p:cNvSpPr/>
          <p:nvPr/>
        </p:nvSpPr>
        <p:spPr>
          <a:xfrm flipH="false" flipV="false" rot="0">
            <a:off x="806291" y="5881211"/>
            <a:ext cx="8194357" cy="3393757"/>
          </a:xfrm>
          <a:custGeom>
            <a:avLst/>
            <a:gdLst/>
            <a:ahLst/>
            <a:cxnLst/>
            <a:rect r="r" b="b" t="t" l="l"/>
            <a:pathLst>
              <a:path h="3393757" w="8194357">
                <a:moveTo>
                  <a:pt x="0" y="0"/>
                </a:moveTo>
                <a:lnTo>
                  <a:pt x="8194358" y="0"/>
                </a:lnTo>
                <a:lnTo>
                  <a:pt x="8194358" y="3393758"/>
                </a:lnTo>
                <a:lnTo>
                  <a:pt x="0" y="3393758"/>
                </a:lnTo>
                <a:lnTo>
                  <a:pt x="0" y="0"/>
                </a:lnTo>
                <a:close/>
              </a:path>
            </a:pathLst>
          </a:custGeom>
          <a:blipFill>
            <a:blip r:embed="rId7">
              <a:extLst>
                <a:ext uri="{96DAC541-7B7A-43D3-8B79-37D633B846F1}">
                  <asvg:svgBlip xmlns:asvg="http://schemas.microsoft.com/office/drawing/2016/SVG/main" r:embed="rId8"/>
                </a:ext>
              </a:extLst>
            </a:blip>
            <a:stretch>
              <a:fillRect l="0" t="-57" r="0" b="-57"/>
            </a:stretch>
          </a:blipFill>
        </p:spPr>
        <p:txBody>
          <a:bodyPr/>
          <a:p/>
        </p:txBody>
      </p:sp>
      <p:grpSp>
        <p:nvGrpSpPr>
          <p:cNvPr name="Group 103" id="103"/>
          <p:cNvGrpSpPr/>
          <p:nvPr/>
        </p:nvGrpSpPr>
        <p:grpSpPr>
          <a:xfrm rot="0">
            <a:off x="1165860" y="6199632"/>
            <a:ext cx="685800" cy="685800"/>
            <a:chOff x="0" y="0"/>
            <a:chExt cx="914400" cy="914400"/>
          </a:xfrm>
        </p:grpSpPr>
        <p:sp>
          <p:nvSpPr>
            <p:cNvPr name="Freeform 104" id="104"/>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105" id="105"/>
          <p:cNvGrpSpPr/>
          <p:nvPr/>
        </p:nvGrpSpPr>
        <p:grpSpPr>
          <a:xfrm rot="0">
            <a:off x="1165860" y="6199632"/>
            <a:ext cx="685800" cy="685800"/>
            <a:chOff x="0" y="0"/>
            <a:chExt cx="914400" cy="914400"/>
          </a:xfrm>
        </p:grpSpPr>
        <p:sp>
          <p:nvSpPr>
            <p:cNvPr name="Freeform 106" id="106"/>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txBody>
            <a:bodyPr/>
            <a:p/>
          </p:txBody>
        </p:sp>
      </p:grpSp>
      <p:grpSp>
        <p:nvGrpSpPr>
          <p:cNvPr name="Group 107" id="107"/>
          <p:cNvGrpSpPr/>
          <p:nvPr/>
        </p:nvGrpSpPr>
        <p:grpSpPr>
          <a:xfrm rot="0">
            <a:off x="1165860" y="6171057"/>
            <a:ext cx="685800" cy="714375"/>
            <a:chOff x="0" y="0"/>
            <a:chExt cx="914400" cy="952500"/>
          </a:xfrm>
        </p:grpSpPr>
        <p:sp>
          <p:nvSpPr>
            <p:cNvPr name="Freeform 108" id="108"/>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743" t="0" r="-83741" b="0"/>
              </a:stretch>
            </a:blipFill>
          </p:spPr>
          <p:txBody>
            <a:bodyPr/>
            <a:p/>
          </p:txBody>
        </p:sp>
      </p:grpSp>
      <p:grpSp>
        <p:nvGrpSpPr>
          <p:cNvPr name="Group 109" id="109"/>
          <p:cNvGrpSpPr/>
          <p:nvPr/>
        </p:nvGrpSpPr>
        <p:grpSpPr>
          <a:xfrm rot="0">
            <a:off x="1165860" y="6142482"/>
            <a:ext cx="685800" cy="742950"/>
            <a:chOff x="0" y="0"/>
            <a:chExt cx="914400" cy="990600"/>
          </a:xfrm>
        </p:grpSpPr>
        <p:sp>
          <p:nvSpPr>
            <p:cNvPr name="Freeform 110" id="110"/>
            <p:cNvSpPr/>
            <p:nvPr/>
          </p:nvSpPr>
          <p:spPr>
            <a:xfrm flipH="false" flipV="false" rot="0">
              <a:off x="0" y="0"/>
              <a:ext cx="914400" cy="990600"/>
            </a:xfrm>
            <a:custGeom>
              <a:avLst/>
              <a:gdLst/>
              <a:ahLst/>
              <a:cxnLst/>
              <a:rect r="r" b="b" t="t" l="l"/>
              <a:pathLst>
                <a:path h="990600" w="914400">
                  <a:moveTo>
                    <a:pt x="0" y="0"/>
                  </a:moveTo>
                  <a:lnTo>
                    <a:pt x="914400" y="0"/>
                  </a:lnTo>
                  <a:lnTo>
                    <a:pt x="914400" y="990600"/>
                  </a:lnTo>
                  <a:lnTo>
                    <a:pt x="0" y="990600"/>
                  </a:lnTo>
                  <a:close/>
                </a:path>
              </a:pathLst>
            </a:custGeom>
            <a:blipFill>
              <a:blip r:embed="rId6">
                <a:alphaModFix amt="0"/>
              </a:blip>
              <a:stretch>
                <a:fillRect l="-88995" t="0" r="-88995" b="0"/>
              </a:stretch>
            </a:blipFill>
          </p:spPr>
          <p:txBody>
            <a:bodyPr/>
            <a:p/>
          </p:txBody>
        </p:sp>
        <p:sp>
          <p:nvSpPr>
            <p:cNvPr name="TextBox 111" id="111"/>
            <p:cNvSpPr txBox="true"/>
            <p:nvPr/>
          </p:nvSpPr>
          <p:spPr>
            <a:xfrm>
              <a:off x="0" y="-38100"/>
              <a:ext cx="914400" cy="10287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3</a:t>
              </a:r>
            </a:p>
          </p:txBody>
        </p:sp>
      </p:grpSp>
      <p:grpSp>
        <p:nvGrpSpPr>
          <p:cNvPr name="Group 112" id="112"/>
          <p:cNvGrpSpPr/>
          <p:nvPr/>
        </p:nvGrpSpPr>
        <p:grpSpPr>
          <a:xfrm rot="0">
            <a:off x="2125980" y="6199632"/>
            <a:ext cx="6583680" cy="685800"/>
            <a:chOff x="0" y="0"/>
            <a:chExt cx="8778240" cy="914400"/>
          </a:xfrm>
        </p:grpSpPr>
        <p:sp>
          <p:nvSpPr>
            <p:cNvPr name="Freeform 113" id="113"/>
            <p:cNvSpPr/>
            <p:nvPr/>
          </p:nvSpPr>
          <p:spPr>
            <a:xfrm flipH="false" flipV="false" rot="0">
              <a:off x="0" y="0"/>
              <a:ext cx="8778240" cy="914400"/>
            </a:xfrm>
            <a:custGeom>
              <a:avLst/>
              <a:gdLst/>
              <a:ahLst/>
              <a:cxnLst/>
              <a:rect r="r" b="b" t="t" l="l"/>
              <a:pathLst>
                <a:path h="914400" w="8778240">
                  <a:moveTo>
                    <a:pt x="0" y="0"/>
                  </a:moveTo>
                  <a:lnTo>
                    <a:pt x="8778240" y="0"/>
                  </a:lnTo>
                  <a:lnTo>
                    <a:pt x="8778240" y="914400"/>
                  </a:lnTo>
                  <a:lnTo>
                    <a:pt x="0" y="914400"/>
                  </a:lnTo>
                  <a:close/>
                </a:path>
              </a:pathLst>
            </a:custGeom>
            <a:blipFill>
              <a:blip r:embed="rId4">
                <a:alphaModFix amt="0"/>
              </a:blip>
              <a:stretch>
                <a:fillRect l="0" t="-136926" r="0" b="-136926"/>
              </a:stretch>
            </a:blipFill>
          </p:spPr>
          <p:txBody>
            <a:bodyPr/>
            <a:p/>
          </p:txBody>
        </p:sp>
      </p:grpSp>
      <p:grpSp>
        <p:nvGrpSpPr>
          <p:cNvPr name="Group 114" id="114"/>
          <p:cNvGrpSpPr/>
          <p:nvPr/>
        </p:nvGrpSpPr>
        <p:grpSpPr>
          <a:xfrm rot="0">
            <a:off x="2125980" y="6171057"/>
            <a:ext cx="6583680" cy="714375"/>
            <a:chOff x="0" y="0"/>
            <a:chExt cx="8778240" cy="952500"/>
          </a:xfrm>
        </p:grpSpPr>
        <p:sp>
          <p:nvSpPr>
            <p:cNvPr name="Freeform 115" id="115"/>
            <p:cNvSpPr/>
            <p:nvPr/>
          </p:nvSpPr>
          <p:spPr>
            <a:xfrm flipH="false" flipV="false" rot="0">
              <a:off x="0" y="0"/>
              <a:ext cx="8778240" cy="952500"/>
            </a:xfrm>
            <a:custGeom>
              <a:avLst/>
              <a:gdLst/>
              <a:ahLst/>
              <a:cxnLst/>
              <a:rect r="r" b="b" t="t" l="l"/>
              <a:pathLst>
                <a:path h="952500" w="8778240">
                  <a:moveTo>
                    <a:pt x="0" y="0"/>
                  </a:moveTo>
                  <a:lnTo>
                    <a:pt x="8778240" y="0"/>
                  </a:lnTo>
                  <a:lnTo>
                    <a:pt x="8778240" y="952500"/>
                  </a:lnTo>
                  <a:lnTo>
                    <a:pt x="0" y="952500"/>
                  </a:lnTo>
                  <a:close/>
                </a:path>
              </a:pathLst>
            </a:custGeom>
            <a:blipFill>
              <a:blip r:embed="rId5">
                <a:alphaModFix amt="0"/>
              </a:blip>
              <a:stretch>
                <a:fillRect l="0" t="-129449" r="0" b="-129449"/>
              </a:stretch>
            </a:blipFill>
          </p:spPr>
          <p:txBody>
            <a:bodyPr/>
            <a:p/>
          </p:txBody>
        </p:sp>
      </p:grpSp>
      <p:grpSp>
        <p:nvGrpSpPr>
          <p:cNvPr name="Group 116" id="116"/>
          <p:cNvGrpSpPr/>
          <p:nvPr/>
        </p:nvGrpSpPr>
        <p:grpSpPr>
          <a:xfrm rot="0">
            <a:off x="2125980" y="6142482"/>
            <a:ext cx="6583680" cy="742950"/>
            <a:chOff x="0" y="0"/>
            <a:chExt cx="8778240" cy="990600"/>
          </a:xfrm>
        </p:grpSpPr>
        <p:sp>
          <p:nvSpPr>
            <p:cNvPr name="Freeform 117" id="117"/>
            <p:cNvSpPr/>
            <p:nvPr/>
          </p:nvSpPr>
          <p:spPr>
            <a:xfrm flipH="false" flipV="false" rot="0">
              <a:off x="0" y="0"/>
              <a:ext cx="8778240" cy="990600"/>
            </a:xfrm>
            <a:custGeom>
              <a:avLst/>
              <a:gdLst/>
              <a:ahLst/>
              <a:cxnLst/>
              <a:rect r="r" b="b" t="t" l="l"/>
              <a:pathLst>
                <a:path h="990600" w="8778240">
                  <a:moveTo>
                    <a:pt x="0" y="0"/>
                  </a:moveTo>
                  <a:lnTo>
                    <a:pt x="8778240" y="0"/>
                  </a:lnTo>
                  <a:lnTo>
                    <a:pt x="8778240" y="990600"/>
                  </a:lnTo>
                  <a:lnTo>
                    <a:pt x="0" y="990600"/>
                  </a:lnTo>
                  <a:close/>
                </a:path>
              </a:pathLst>
            </a:custGeom>
            <a:blipFill>
              <a:blip r:embed="rId6">
                <a:alphaModFix amt="0"/>
              </a:blip>
              <a:stretch>
                <a:fillRect l="0" t="-122667" r="0" b="-122667"/>
              </a:stretch>
            </a:blipFill>
          </p:spPr>
          <p:txBody>
            <a:bodyPr/>
            <a:p/>
          </p:txBody>
        </p:sp>
        <p:sp>
          <p:nvSpPr>
            <p:cNvPr name="TextBox 118" id="118"/>
            <p:cNvSpPr txBox="true"/>
            <p:nvPr/>
          </p:nvSpPr>
          <p:spPr>
            <a:xfrm>
              <a:off x="0" y="-38100"/>
              <a:ext cx="8778240" cy="1028700"/>
            </a:xfrm>
            <a:prstGeom prst="rect">
              <a:avLst/>
            </a:prstGeom>
          </p:spPr>
          <p:txBody>
            <a:bodyPr anchor="ctr" rtlCol="false" tIns="0" lIns="0" bIns="0" rIns="0"/>
            <a:lstStyle/>
            <a:p>
              <a:pPr algn="l">
                <a:lnSpc>
                  <a:spcPts val="2878"/>
                </a:lnSpc>
              </a:pPr>
              <a:r>
                <a:rPr lang="en-US" sz="2400" b="true">
                  <a:solidFill>
                    <a:srgbClr val="0B5E6E"/>
                  </a:solidFill>
                  <a:latin typeface="Calibri (MS) Bold"/>
                  <a:ea typeface="Calibri (MS) Bold"/>
                  <a:cs typeface="Calibri (MS) Bold"/>
                  <a:sym typeface="Calibri (MS) Bold"/>
                </a:rPr>
                <a:t>Kepadatan butuh instrumen sisi permintaan</a:t>
              </a:r>
            </a:p>
          </p:txBody>
        </p:sp>
      </p:grpSp>
      <p:sp>
        <p:nvSpPr>
          <p:cNvPr name="TextBox 119" id="119"/>
          <p:cNvSpPr txBox="true"/>
          <p:nvPr/>
        </p:nvSpPr>
        <p:spPr>
          <a:xfrm rot="0">
            <a:off x="1234440" y="6989445"/>
            <a:ext cx="7406640" cy="2200275"/>
          </a:xfrm>
          <a:prstGeom prst="rect">
            <a:avLst/>
          </a:prstGeom>
        </p:spPr>
        <p:txBody>
          <a:bodyPr anchor="t" rtlCol="false" tIns="0" lIns="0" bIns="0" rIns="0">
            <a:spAutoFit/>
          </a:bodyPr>
          <a:lstStyle/>
          <a:p>
            <a:pPr algn="l">
              <a:lnSpc>
                <a:spcPts val="2340"/>
              </a:lnSpc>
            </a:pPr>
            <a:r>
              <a:rPr lang="en-US" sz="1950">
                <a:solidFill>
                  <a:srgbClr val="14313B"/>
                </a:solidFill>
                <a:latin typeface="Calibri (MS)"/>
                <a:ea typeface="Calibri (MS)"/>
                <a:cs typeface="Calibri (MS)"/>
                <a:sym typeface="Calibri (MS)"/>
              </a:rPr>
              <a:t>Batas kepadatan terlewati pada 2041–2043 di ketiga skenario; perlu pengaturan sebaran kunjungan antarwaktu dan antarlokasi, di luar cakupan model.</a:t>
            </a:r>
          </a:p>
        </p:txBody>
      </p:sp>
      <p:sp>
        <p:nvSpPr>
          <p:cNvPr name="Freeform 120" id="120"/>
          <p:cNvSpPr/>
          <p:nvPr/>
        </p:nvSpPr>
        <p:spPr>
          <a:xfrm flipH="false" flipV="false" rot="0">
            <a:off x="9282779" y="5881211"/>
            <a:ext cx="8194357" cy="3393757"/>
          </a:xfrm>
          <a:custGeom>
            <a:avLst/>
            <a:gdLst/>
            <a:ahLst/>
            <a:cxnLst/>
            <a:rect r="r" b="b" t="t" l="l"/>
            <a:pathLst>
              <a:path h="3393757" w="8194357">
                <a:moveTo>
                  <a:pt x="0" y="0"/>
                </a:moveTo>
                <a:lnTo>
                  <a:pt x="8194358" y="0"/>
                </a:lnTo>
                <a:lnTo>
                  <a:pt x="8194358" y="3393758"/>
                </a:lnTo>
                <a:lnTo>
                  <a:pt x="0" y="3393758"/>
                </a:lnTo>
                <a:lnTo>
                  <a:pt x="0" y="0"/>
                </a:lnTo>
                <a:close/>
              </a:path>
            </a:pathLst>
          </a:custGeom>
          <a:blipFill>
            <a:blip r:embed="rId7">
              <a:extLst>
                <a:ext uri="{96DAC541-7B7A-43D3-8B79-37D633B846F1}">
                  <asvg:svgBlip xmlns:asvg="http://schemas.microsoft.com/office/drawing/2016/SVG/main" r:embed="rId8"/>
                </a:ext>
              </a:extLst>
            </a:blip>
            <a:stretch>
              <a:fillRect l="0" t="-57" r="0" b="-57"/>
            </a:stretch>
          </a:blipFill>
        </p:spPr>
        <p:txBody>
          <a:bodyPr/>
          <a:p/>
        </p:txBody>
      </p:sp>
      <p:grpSp>
        <p:nvGrpSpPr>
          <p:cNvPr name="Group 121" id="121"/>
          <p:cNvGrpSpPr/>
          <p:nvPr/>
        </p:nvGrpSpPr>
        <p:grpSpPr>
          <a:xfrm rot="0">
            <a:off x="9642348" y="6199632"/>
            <a:ext cx="685800" cy="685800"/>
            <a:chOff x="0" y="0"/>
            <a:chExt cx="914400" cy="914400"/>
          </a:xfrm>
        </p:grpSpPr>
        <p:sp>
          <p:nvSpPr>
            <p:cNvPr name="Freeform 122" id="122"/>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123" id="123"/>
          <p:cNvGrpSpPr/>
          <p:nvPr/>
        </p:nvGrpSpPr>
        <p:grpSpPr>
          <a:xfrm rot="0">
            <a:off x="9642348" y="6199632"/>
            <a:ext cx="685800" cy="685800"/>
            <a:chOff x="0" y="0"/>
            <a:chExt cx="914400" cy="914400"/>
          </a:xfrm>
        </p:grpSpPr>
        <p:sp>
          <p:nvSpPr>
            <p:cNvPr name="Freeform 124" id="124"/>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txBody>
            <a:bodyPr/>
            <a:p/>
          </p:txBody>
        </p:sp>
      </p:grpSp>
      <p:grpSp>
        <p:nvGrpSpPr>
          <p:cNvPr name="Group 125" id="125"/>
          <p:cNvGrpSpPr/>
          <p:nvPr/>
        </p:nvGrpSpPr>
        <p:grpSpPr>
          <a:xfrm rot="0">
            <a:off x="9642348" y="6171057"/>
            <a:ext cx="685800" cy="714375"/>
            <a:chOff x="0" y="0"/>
            <a:chExt cx="914400" cy="952500"/>
          </a:xfrm>
        </p:grpSpPr>
        <p:sp>
          <p:nvSpPr>
            <p:cNvPr name="Freeform 126" id="126"/>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743" t="0" r="-83741" b="0"/>
              </a:stretch>
            </a:blipFill>
          </p:spPr>
          <p:txBody>
            <a:bodyPr/>
            <a:p/>
          </p:txBody>
        </p:sp>
      </p:grpSp>
      <p:grpSp>
        <p:nvGrpSpPr>
          <p:cNvPr name="Group 127" id="127"/>
          <p:cNvGrpSpPr/>
          <p:nvPr/>
        </p:nvGrpSpPr>
        <p:grpSpPr>
          <a:xfrm rot="0">
            <a:off x="9642348" y="6142482"/>
            <a:ext cx="685800" cy="742950"/>
            <a:chOff x="0" y="0"/>
            <a:chExt cx="914400" cy="990600"/>
          </a:xfrm>
        </p:grpSpPr>
        <p:sp>
          <p:nvSpPr>
            <p:cNvPr name="Freeform 128" id="128"/>
            <p:cNvSpPr/>
            <p:nvPr/>
          </p:nvSpPr>
          <p:spPr>
            <a:xfrm flipH="false" flipV="false" rot="0">
              <a:off x="0" y="0"/>
              <a:ext cx="914400" cy="990600"/>
            </a:xfrm>
            <a:custGeom>
              <a:avLst/>
              <a:gdLst/>
              <a:ahLst/>
              <a:cxnLst/>
              <a:rect r="r" b="b" t="t" l="l"/>
              <a:pathLst>
                <a:path h="990600" w="914400">
                  <a:moveTo>
                    <a:pt x="0" y="0"/>
                  </a:moveTo>
                  <a:lnTo>
                    <a:pt x="914400" y="0"/>
                  </a:lnTo>
                  <a:lnTo>
                    <a:pt x="914400" y="990600"/>
                  </a:lnTo>
                  <a:lnTo>
                    <a:pt x="0" y="990600"/>
                  </a:lnTo>
                  <a:close/>
                </a:path>
              </a:pathLst>
            </a:custGeom>
            <a:blipFill>
              <a:blip r:embed="rId6">
                <a:alphaModFix amt="0"/>
              </a:blip>
              <a:stretch>
                <a:fillRect l="-88995" t="0" r="-88995" b="0"/>
              </a:stretch>
            </a:blipFill>
          </p:spPr>
          <p:txBody>
            <a:bodyPr/>
            <a:p/>
          </p:txBody>
        </p:sp>
        <p:sp>
          <p:nvSpPr>
            <p:cNvPr name="TextBox 129" id="129"/>
            <p:cNvSpPr txBox="true"/>
            <p:nvPr/>
          </p:nvSpPr>
          <p:spPr>
            <a:xfrm>
              <a:off x="0" y="-38100"/>
              <a:ext cx="914400" cy="10287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4</a:t>
              </a:r>
            </a:p>
          </p:txBody>
        </p:sp>
      </p:grpSp>
      <p:grpSp>
        <p:nvGrpSpPr>
          <p:cNvPr name="Group 130" id="130"/>
          <p:cNvGrpSpPr/>
          <p:nvPr/>
        </p:nvGrpSpPr>
        <p:grpSpPr>
          <a:xfrm rot="0">
            <a:off x="10602468" y="6199632"/>
            <a:ext cx="6583680" cy="685800"/>
            <a:chOff x="0" y="0"/>
            <a:chExt cx="8778240" cy="914400"/>
          </a:xfrm>
        </p:grpSpPr>
        <p:sp>
          <p:nvSpPr>
            <p:cNvPr name="Freeform 131" id="131"/>
            <p:cNvSpPr/>
            <p:nvPr/>
          </p:nvSpPr>
          <p:spPr>
            <a:xfrm flipH="false" flipV="false" rot="0">
              <a:off x="0" y="0"/>
              <a:ext cx="8778240" cy="914400"/>
            </a:xfrm>
            <a:custGeom>
              <a:avLst/>
              <a:gdLst/>
              <a:ahLst/>
              <a:cxnLst/>
              <a:rect r="r" b="b" t="t" l="l"/>
              <a:pathLst>
                <a:path h="914400" w="8778240">
                  <a:moveTo>
                    <a:pt x="0" y="0"/>
                  </a:moveTo>
                  <a:lnTo>
                    <a:pt x="8778240" y="0"/>
                  </a:lnTo>
                  <a:lnTo>
                    <a:pt x="8778240" y="914400"/>
                  </a:lnTo>
                  <a:lnTo>
                    <a:pt x="0" y="914400"/>
                  </a:lnTo>
                  <a:close/>
                </a:path>
              </a:pathLst>
            </a:custGeom>
            <a:blipFill>
              <a:blip r:embed="rId4">
                <a:alphaModFix amt="0"/>
              </a:blip>
              <a:stretch>
                <a:fillRect l="0" t="-136926" r="0" b="-136926"/>
              </a:stretch>
            </a:blipFill>
          </p:spPr>
          <p:txBody>
            <a:bodyPr/>
            <a:p/>
          </p:txBody>
        </p:sp>
      </p:grpSp>
      <p:grpSp>
        <p:nvGrpSpPr>
          <p:cNvPr name="Group 132" id="132"/>
          <p:cNvGrpSpPr/>
          <p:nvPr/>
        </p:nvGrpSpPr>
        <p:grpSpPr>
          <a:xfrm rot="0">
            <a:off x="10602468" y="6171057"/>
            <a:ext cx="6583680" cy="714375"/>
            <a:chOff x="0" y="0"/>
            <a:chExt cx="8778240" cy="952500"/>
          </a:xfrm>
        </p:grpSpPr>
        <p:sp>
          <p:nvSpPr>
            <p:cNvPr name="Freeform 133" id="133"/>
            <p:cNvSpPr/>
            <p:nvPr/>
          </p:nvSpPr>
          <p:spPr>
            <a:xfrm flipH="false" flipV="false" rot="0">
              <a:off x="0" y="0"/>
              <a:ext cx="8778240" cy="952500"/>
            </a:xfrm>
            <a:custGeom>
              <a:avLst/>
              <a:gdLst/>
              <a:ahLst/>
              <a:cxnLst/>
              <a:rect r="r" b="b" t="t" l="l"/>
              <a:pathLst>
                <a:path h="952500" w="8778240">
                  <a:moveTo>
                    <a:pt x="0" y="0"/>
                  </a:moveTo>
                  <a:lnTo>
                    <a:pt x="8778240" y="0"/>
                  </a:lnTo>
                  <a:lnTo>
                    <a:pt x="8778240" y="952500"/>
                  </a:lnTo>
                  <a:lnTo>
                    <a:pt x="0" y="952500"/>
                  </a:lnTo>
                  <a:close/>
                </a:path>
              </a:pathLst>
            </a:custGeom>
            <a:blipFill>
              <a:blip r:embed="rId5">
                <a:alphaModFix amt="0"/>
              </a:blip>
              <a:stretch>
                <a:fillRect l="0" t="-129449" r="0" b="-129449"/>
              </a:stretch>
            </a:blipFill>
          </p:spPr>
          <p:txBody>
            <a:bodyPr/>
            <a:p/>
          </p:txBody>
        </p:sp>
      </p:grpSp>
      <p:grpSp>
        <p:nvGrpSpPr>
          <p:cNvPr name="Group 134" id="134"/>
          <p:cNvGrpSpPr/>
          <p:nvPr/>
        </p:nvGrpSpPr>
        <p:grpSpPr>
          <a:xfrm rot="0">
            <a:off x="10602468" y="6142482"/>
            <a:ext cx="6583680" cy="742950"/>
            <a:chOff x="0" y="0"/>
            <a:chExt cx="8778240" cy="990600"/>
          </a:xfrm>
        </p:grpSpPr>
        <p:sp>
          <p:nvSpPr>
            <p:cNvPr name="Freeform 135" id="135"/>
            <p:cNvSpPr/>
            <p:nvPr/>
          </p:nvSpPr>
          <p:spPr>
            <a:xfrm flipH="false" flipV="false" rot="0">
              <a:off x="0" y="0"/>
              <a:ext cx="8778240" cy="990600"/>
            </a:xfrm>
            <a:custGeom>
              <a:avLst/>
              <a:gdLst/>
              <a:ahLst/>
              <a:cxnLst/>
              <a:rect r="r" b="b" t="t" l="l"/>
              <a:pathLst>
                <a:path h="990600" w="8778240">
                  <a:moveTo>
                    <a:pt x="0" y="0"/>
                  </a:moveTo>
                  <a:lnTo>
                    <a:pt x="8778240" y="0"/>
                  </a:lnTo>
                  <a:lnTo>
                    <a:pt x="8778240" y="990600"/>
                  </a:lnTo>
                  <a:lnTo>
                    <a:pt x="0" y="990600"/>
                  </a:lnTo>
                  <a:close/>
                </a:path>
              </a:pathLst>
            </a:custGeom>
            <a:blipFill>
              <a:blip r:embed="rId6">
                <a:alphaModFix amt="0"/>
              </a:blip>
              <a:stretch>
                <a:fillRect l="0" t="-122667" r="0" b="-122667"/>
              </a:stretch>
            </a:blipFill>
          </p:spPr>
          <p:txBody>
            <a:bodyPr/>
            <a:p/>
          </p:txBody>
        </p:sp>
        <p:sp>
          <p:nvSpPr>
            <p:cNvPr name="TextBox 136" id="136"/>
            <p:cNvSpPr txBox="true"/>
            <p:nvPr/>
          </p:nvSpPr>
          <p:spPr>
            <a:xfrm>
              <a:off x="0" y="-38100"/>
              <a:ext cx="8778240" cy="1028700"/>
            </a:xfrm>
            <a:prstGeom prst="rect">
              <a:avLst/>
            </a:prstGeom>
          </p:spPr>
          <p:txBody>
            <a:bodyPr anchor="ctr" rtlCol="false" tIns="0" lIns="0" bIns="0" rIns="0"/>
            <a:lstStyle/>
            <a:p>
              <a:pPr algn="l">
                <a:lnSpc>
                  <a:spcPts val="2878"/>
                </a:lnSpc>
              </a:pPr>
              <a:r>
                <a:rPr lang="en-US" sz="2400" b="true">
                  <a:solidFill>
                    <a:srgbClr val="0B5E6E"/>
                  </a:solidFill>
                  <a:latin typeface="Calibri (MS) Bold"/>
                  <a:ea typeface="Calibri (MS) Bold"/>
                  <a:cs typeface="Calibri (MS) Bold"/>
                  <a:sym typeface="Calibri (MS) Bold"/>
                </a:rPr>
                <a:t>Ketegangan antardokumen kebijakan</a:t>
              </a:r>
            </a:p>
          </p:txBody>
        </p:sp>
      </p:grpSp>
      <p:sp>
        <p:nvSpPr>
          <p:cNvPr name="TextBox 137" id="137"/>
          <p:cNvSpPr txBox="true"/>
          <p:nvPr/>
        </p:nvSpPr>
        <p:spPr>
          <a:xfrm rot="0">
            <a:off x="9710928" y="6989445"/>
            <a:ext cx="7406640" cy="2200275"/>
          </a:xfrm>
          <a:prstGeom prst="rect">
            <a:avLst/>
          </a:prstGeom>
        </p:spPr>
        <p:txBody>
          <a:bodyPr anchor="t" rtlCol="false" tIns="0" lIns="0" bIns="0" rIns="0">
            <a:spAutoFit/>
          </a:bodyPr>
          <a:lstStyle/>
          <a:p>
            <a:pPr algn="l">
              <a:lnSpc>
                <a:spcPts val="2340"/>
              </a:lnSpc>
            </a:pPr>
            <a:r>
              <a:rPr lang="en-US" sz="1950">
                <a:solidFill>
                  <a:srgbClr val="14313B"/>
                </a:solidFill>
                <a:latin typeface="Calibri (MS)"/>
                <a:ea typeface="Calibri (MS)"/>
                <a:cs typeface="Calibri (MS)"/>
                <a:sym typeface="Calibri (MS)"/>
              </a:rPr>
              <a:t>Perbedaan arah Perda DIY 1/2012 (pembukaan lahan baru) dan Perda DIY 6/2021 (larangan alih fungsi lahan pangan) terlihat dalam angka Development Priority vs Sustainable.</a:t>
            </a:r>
          </a:p>
        </p:txBody>
      </p:sp>
      <p:sp>
        <p:nvSpPr>
          <p:cNvPr name="TextBox 138" id="138"/>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62</a:t>
            </a:r>
          </a:p>
        </p:txBody>
      </p:sp>
      <p:grpSp>
        <p:nvGrpSpPr>
          <p:cNvPr name="Group 139" id="139"/>
          <p:cNvGrpSpPr/>
          <p:nvPr/>
        </p:nvGrpSpPr>
        <p:grpSpPr>
          <a:xfrm rot="0">
            <a:off x="12755880" y="274320"/>
            <a:ext cx="3931920" cy="411480"/>
            <a:chOff x="0" y="0"/>
            <a:chExt cx="5242560" cy="548640"/>
          </a:xfrm>
        </p:grpSpPr>
        <p:sp>
          <p:nvSpPr>
            <p:cNvPr name="Freeform 140" id="140"/>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41" id="141"/>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2G · Skenario kebijakan</a:t>
              </a:r>
            </a:p>
          </p:txBody>
        </p:sp>
      </p:grpSp>
      <p:grpSp>
        <p:nvGrpSpPr>
          <p:cNvPr name="Group 142" id="142"/>
          <p:cNvGrpSpPr/>
          <p:nvPr/>
        </p:nvGrpSpPr>
        <p:grpSpPr>
          <a:xfrm rot="0">
            <a:off x="16047720" y="9646920"/>
            <a:ext cx="420624" cy="420624"/>
            <a:chOff x="0" y="0"/>
            <a:chExt cx="560832" cy="560832"/>
          </a:xfrm>
        </p:grpSpPr>
        <p:sp>
          <p:nvSpPr>
            <p:cNvPr name="Freeform 143" id="143"/>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44" id="144"/>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6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Ringkasan Hasil Tujuan 2</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63</a:t>
            </a:r>
          </a:p>
        </p:txBody>
      </p:sp>
      <p:grpSp>
        <p:nvGrpSpPr>
          <p:cNvPr name="Group 67" id="67"/>
          <p:cNvGrpSpPr/>
          <p:nvPr/>
        </p:nvGrpSpPr>
        <p:grpSpPr>
          <a:xfrm rot="0">
            <a:off x="822960" y="2286000"/>
            <a:ext cx="16642080" cy="777240"/>
            <a:chOff x="0" y="0"/>
            <a:chExt cx="22189440" cy="1036320"/>
          </a:xfrm>
        </p:grpSpPr>
        <p:sp>
          <p:nvSpPr>
            <p:cNvPr name="Freeform 68" id="68"/>
            <p:cNvSpPr/>
            <p:nvPr/>
          </p:nvSpPr>
          <p:spPr>
            <a:xfrm flipH="false" flipV="false" rot="0">
              <a:off x="0" y="0"/>
              <a:ext cx="22189441" cy="1036320"/>
            </a:xfrm>
            <a:custGeom>
              <a:avLst/>
              <a:gdLst/>
              <a:ahLst/>
              <a:cxnLst/>
              <a:rect r="r" b="b" t="t" l="l"/>
              <a:pathLst>
                <a:path h="1036320" w="22189441">
                  <a:moveTo>
                    <a:pt x="0" y="82931"/>
                  </a:moveTo>
                  <a:cubicBezTo>
                    <a:pt x="0" y="37084"/>
                    <a:pt x="37084" y="0"/>
                    <a:pt x="82931" y="0"/>
                  </a:cubicBezTo>
                  <a:lnTo>
                    <a:pt x="22106510" y="0"/>
                  </a:lnTo>
                  <a:cubicBezTo>
                    <a:pt x="22152356" y="0"/>
                    <a:pt x="22189441" y="37084"/>
                    <a:pt x="22189441" y="82931"/>
                  </a:cubicBezTo>
                  <a:lnTo>
                    <a:pt x="22189441" y="953389"/>
                  </a:lnTo>
                  <a:cubicBezTo>
                    <a:pt x="22189441" y="999236"/>
                    <a:pt x="22152356" y="1036320"/>
                    <a:pt x="22106510" y="1036320"/>
                  </a:cubicBezTo>
                  <a:lnTo>
                    <a:pt x="82931" y="1036320"/>
                  </a:lnTo>
                  <a:cubicBezTo>
                    <a:pt x="37084" y="1036320"/>
                    <a:pt x="0" y="999236"/>
                    <a:pt x="0" y="953389"/>
                  </a:cubicBezTo>
                  <a:close/>
                </a:path>
              </a:pathLst>
            </a:custGeom>
            <a:solidFill>
              <a:srgbClr val="0B5E6E"/>
            </a:solidFill>
          </p:spPr>
          <p:txBody>
            <a:bodyPr/>
            <a:p/>
          </p:txBody>
        </p:sp>
        <p:sp>
          <p:nvSpPr>
            <p:cNvPr name="TextBox 69" id="69"/>
            <p:cNvSpPr txBox="true"/>
            <p:nvPr/>
          </p:nvSpPr>
          <p:spPr>
            <a:xfrm>
              <a:off x="0" y="-38100"/>
              <a:ext cx="22189440" cy="1074420"/>
            </a:xfrm>
            <a:prstGeom prst="rect">
              <a:avLst/>
            </a:prstGeom>
          </p:spPr>
          <p:txBody>
            <a:bodyPr anchor="ctr" rtlCol="false" tIns="50800" lIns="50800" bIns="50800" rIns="50800"/>
            <a:lstStyle/>
            <a:p>
              <a:pPr algn="l">
                <a:lnSpc>
                  <a:spcPts val="2484"/>
                </a:lnSpc>
              </a:pPr>
              <a:r>
                <a:rPr lang="en-US" sz="2070" b="true">
                  <a:solidFill>
                    <a:srgbClr val="FFFFFF"/>
                  </a:solidFill>
                  <a:latin typeface="Calibri (MS) Bold"/>
                  <a:ea typeface="Calibri (MS) Bold"/>
                  <a:cs typeface="Calibri (MS) Bold"/>
                  <a:sym typeface="Calibri (MS) Bold"/>
                </a:rPr>
                <a:t>Apa hasil yang diperoleh untuk Tujuan 2?</a:t>
              </a:r>
            </a:p>
          </p:txBody>
        </p:sp>
      </p:grpSp>
      <p:grpSp>
        <p:nvGrpSpPr>
          <p:cNvPr name="Group 70" id="70"/>
          <p:cNvGrpSpPr/>
          <p:nvPr/>
        </p:nvGrpSpPr>
        <p:grpSpPr>
          <a:xfrm rot="0">
            <a:off x="816607" y="3285487"/>
            <a:ext cx="16654777" cy="1132837"/>
            <a:chOff x="0" y="0"/>
            <a:chExt cx="22206369" cy="1510449"/>
          </a:xfrm>
        </p:grpSpPr>
        <p:sp>
          <p:nvSpPr>
            <p:cNvPr name="Freeform 71" id="71"/>
            <p:cNvSpPr/>
            <p:nvPr/>
          </p:nvSpPr>
          <p:spPr>
            <a:xfrm flipH="false" flipV="false" rot="0">
              <a:off x="0" y="0"/>
              <a:ext cx="22206204" cy="1510284"/>
            </a:xfrm>
            <a:custGeom>
              <a:avLst/>
              <a:gdLst/>
              <a:ahLst/>
              <a:cxnLst/>
              <a:rect r="r" b="b" t="t" l="l"/>
              <a:pathLst>
                <a:path h="1510284" w="22206204">
                  <a:moveTo>
                    <a:pt x="0" y="120777"/>
                  </a:moveTo>
                  <a:cubicBezTo>
                    <a:pt x="0" y="54102"/>
                    <a:pt x="54102" y="0"/>
                    <a:pt x="120777" y="0"/>
                  </a:cubicBezTo>
                  <a:lnTo>
                    <a:pt x="22085427" y="0"/>
                  </a:lnTo>
                  <a:cubicBezTo>
                    <a:pt x="22152102" y="0"/>
                    <a:pt x="22206204" y="54102"/>
                    <a:pt x="22206204" y="120777"/>
                  </a:cubicBezTo>
                  <a:lnTo>
                    <a:pt x="22206204" y="1389507"/>
                  </a:lnTo>
                  <a:cubicBezTo>
                    <a:pt x="22206204" y="1456182"/>
                    <a:pt x="22152102" y="1510284"/>
                    <a:pt x="22085427" y="1510284"/>
                  </a:cubicBezTo>
                  <a:lnTo>
                    <a:pt x="120777" y="1510284"/>
                  </a:lnTo>
                  <a:cubicBezTo>
                    <a:pt x="54102" y="1510284"/>
                    <a:pt x="0" y="1456182"/>
                    <a:pt x="0" y="1389507"/>
                  </a:cubicBezTo>
                  <a:close/>
                </a:path>
              </a:pathLst>
            </a:custGeom>
            <a:solidFill>
              <a:srgbClr val="EAF8FA"/>
            </a:solidFill>
            <a:ln w="12700" cap="sq">
              <a:solidFill>
                <a:srgbClr val="CFE5E9"/>
              </a:solidFill>
              <a:prstDash val="solid"/>
              <a:miter/>
            </a:ln>
          </p:spPr>
          <p:txBody>
            <a:bodyPr/>
            <a:p/>
          </p:txBody>
        </p:sp>
      </p:grpSp>
      <p:grpSp>
        <p:nvGrpSpPr>
          <p:cNvPr name="Group 72" id="72"/>
          <p:cNvGrpSpPr/>
          <p:nvPr/>
        </p:nvGrpSpPr>
        <p:grpSpPr>
          <a:xfrm rot="0">
            <a:off x="1051560" y="3577590"/>
            <a:ext cx="548640" cy="548640"/>
            <a:chOff x="0" y="0"/>
            <a:chExt cx="731520" cy="731520"/>
          </a:xfrm>
        </p:grpSpPr>
        <p:sp>
          <p:nvSpPr>
            <p:cNvPr name="Freeform 73" id="73"/>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74" id="74"/>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1</a:t>
              </a:r>
            </a:p>
          </p:txBody>
        </p:sp>
      </p:grpSp>
      <p:grpSp>
        <p:nvGrpSpPr>
          <p:cNvPr name="Group 75" id="75"/>
          <p:cNvGrpSpPr/>
          <p:nvPr/>
        </p:nvGrpSpPr>
        <p:grpSpPr>
          <a:xfrm rot="0">
            <a:off x="1828800" y="3383280"/>
            <a:ext cx="4206240" cy="937260"/>
            <a:chOff x="0" y="0"/>
            <a:chExt cx="5608320" cy="1249680"/>
          </a:xfrm>
        </p:grpSpPr>
        <p:sp>
          <p:nvSpPr>
            <p:cNvPr name="Freeform 76" id="76"/>
            <p:cNvSpPr/>
            <p:nvPr/>
          </p:nvSpPr>
          <p:spPr>
            <a:xfrm flipH="false" flipV="false" rot="0">
              <a:off x="0" y="0"/>
              <a:ext cx="5608320" cy="1249680"/>
            </a:xfrm>
            <a:custGeom>
              <a:avLst/>
              <a:gdLst/>
              <a:ahLst/>
              <a:cxnLst/>
              <a:rect r="r" b="b" t="t" l="l"/>
              <a:pathLst>
                <a:path h="1249680" w="5608320">
                  <a:moveTo>
                    <a:pt x="0" y="0"/>
                  </a:moveTo>
                  <a:lnTo>
                    <a:pt x="5608320" y="0"/>
                  </a:lnTo>
                  <a:lnTo>
                    <a:pt x="5608320" y="1249680"/>
                  </a:lnTo>
                  <a:lnTo>
                    <a:pt x="0" y="1249680"/>
                  </a:lnTo>
                  <a:close/>
                </a:path>
              </a:pathLst>
            </a:custGeom>
            <a:blipFill>
              <a:blip r:embed="rId6">
                <a:alphaModFix amt="0"/>
              </a:blip>
              <a:stretch>
                <a:fillRect l="0" t="-37445" r="0" b="-37445"/>
              </a:stretch>
            </a:blipFill>
          </p:spPr>
          <p:txBody>
            <a:bodyPr/>
            <a:p/>
          </p:txBody>
        </p:sp>
        <p:sp>
          <p:nvSpPr>
            <p:cNvPr name="TextBox 77" id="77"/>
            <p:cNvSpPr txBox="true"/>
            <p:nvPr/>
          </p:nvSpPr>
          <p:spPr>
            <a:xfrm>
              <a:off x="0" y="-38100"/>
              <a:ext cx="5608320" cy="1287780"/>
            </a:xfrm>
            <a:prstGeom prst="rect">
              <a:avLst/>
            </a:prstGeom>
          </p:spPr>
          <p:txBody>
            <a:bodyPr anchor="ctr" rtlCol="false" tIns="0" lIns="0" bIns="0" rIns="0"/>
            <a:lstStyle/>
            <a:p>
              <a:pPr algn="l">
                <a:lnSpc>
                  <a:spcPts val="2279"/>
                </a:lnSpc>
              </a:pPr>
              <a:r>
                <a:rPr lang="en-US" sz="1899" b="true">
                  <a:solidFill>
                    <a:srgbClr val="0B5E6E"/>
                  </a:solidFill>
                  <a:latin typeface="Calibri (MS) Bold"/>
                  <a:ea typeface="Calibri (MS) Bold"/>
                  <a:cs typeface="Calibri (MS) Bold"/>
                  <a:sym typeface="Calibri (MS) Bold"/>
                </a:rPr>
                <a:t>Citra satelit terintegrasi</a:t>
              </a:r>
            </a:p>
          </p:txBody>
        </p:sp>
      </p:grpSp>
      <p:grpSp>
        <p:nvGrpSpPr>
          <p:cNvPr name="Group 78" id="78"/>
          <p:cNvGrpSpPr/>
          <p:nvPr/>
        </p:nvGrpSpPr>
        <p:grpSpPr>
          <a:xfrm rot="0">
            <a:off x="6126480" y="3383280"/>
            <a:ext cx="11155680" cy="937260"/>
            <a:chOff x="0" y="0"/>
            <a:chExt cx="14874240" cy="1249680"/>
          </a:xfrm>
        </p:grpSpPr>
        <p:sp>
          <p:nvSpPr>
            <p:cNvPr name="Freeform 79" id="79"/>
            <p:cNvSpPr/>
            <p:nvPr/>
          </p:nvSpPr>
          <p:spPr>
            <a:xfrm flipH="false" flipV="false" rot="0">
              <a:off x="0" y="0"/>
              <a:ext cx="14874239" cy="1249680"/>
            </a:xfrm>
            <a:custGeom>
              <a:avLst/>
              <a:gdLst/>
              <a:ahLst/>
              <a:cxnLst/>
              <a:rect r="r" b="b" t="t" l="l"/>
              <a:pathLst>
                <a:path h="1249680" w="14874239">
                  <a:moveTo>
                    <a:pt x="0" y="0"/>
                  </a:moveTo>
                  <a:lnTo>
                    <a:pt x="14874239" y="0"/>
                  </a:lnTo>
                  <a:lnTo>
                    <a:pt x="14874239" y="1249680"/>
                  </a:lnTo>
                  <a:lnTo>
                    <a:pt x="0" y="1249680"/>
                  </a:lnTo>
                  <a:close/>
                </a:path>
              </a:pathLst>
            </a:custGeom>
            <a:blipFill>
              <a:blip r:embed="rId6">
                <a:alphaModFix amt="0"/>
              </a:blip>
              <a:stretch>
                <a:fillRect l="0" t="-181919" r="0" b="-181919"/>
              </a:stretch>
            </a:blipFill>
          </p:spPr>
          <p:txBody>
            <a:bodyPr/>
            <a:p/>
          </p:txBody>
        </p:sp>
        <p:sp>
          <p:nvSpPr>
            <p:cNvPr name="TextBox 80" id="80"/>
            <p:cNvSpPr txBox="true"/>
            <p:nvPr/>
          </p:nvSpPr>
          <p:spPr>
            <a:xfrm>
              <a:off x="0" y="-38100"/>
              <a:ext cx="14874240" cy="1287780"/>
            </a:xfrm>
            <a:prstGeom prst="rect">
              <a:avLst/>
            </a:prstGeom>
          </p:spPr>
          <p:txBody>
            <a:bodyPr anchor="ctr" rtlCol="false" tIns="0" lIns="0" bIns="0" rIns="0"/>
            <a:lstStyle/>
            <a:p>
              <a:pPr algn="l">
                <a:lnSpc>
                  <a:spcPts val="2063"/>
                </a:lnSpc>
              </a:pPr>
              <a:r>
                <a:rPr lang="en-US" sz="1719">
                  <a:solidFill>
                    <a:srgbClr val="14313B"/>
                  </a:solidFill>
                  <a:latin typeface="Calibri (MS)"/>
                  <a:ea typeface="Calibri (MS)"/>
                  <a:cs typeface="Calibri (MS)"/>
                  <a:sym typeface="Calibri (MS)"/>
                </a:rPr>
                <a:t>VIIRS mengisi ODTW 2015–2017 &amp; 2025 (R² selisih 0,405; LOOCV 5,99%); Dynamic World menyediakan lahan terbangun 2016–2025 (OA 89,95%; κ 0,61).</a:t>
              </a:r>
            </a:p>
          </p:txBody>
        </p:sp>
      </p:grpSp>
      <p:grpSp>
        <p:nvGrpSpPr>
          <p:cNvPr name="Group 81" id="81"/>
          <p:cNvGrpSpPr/>
          <p:nvPr/>
        </p:nvGrpSpPr>
        <p:grpSpPr>
          <a:xfrm rot="0">
            <a:off x="816607" y="4588507"/>
            <a:ext cx="16654777" cy="1132837"/>
            <a:chOff x="0" y="0"/>
            <a:chExt cx="22206369" cy="1510449"/>
          </a:xfrm>
        </p:grpSpPr>
        <p:sp>
          <p:nvSpPr>
            <p:cNvPr name="Freeform 82" id="82"/>
            <p:cNvSpPr/>
            <p:nvPr/>
          </p:nvSpPr>
          <p:spPr>
            <a:xfrm flipH="false" flipV="false" rot="0">
              <a:off x="0" y="0"/>
              <a:ext cx="22206204" cy="1510284"/>
            </a:xfrm>
            <a:custGeom>
              <a:avLst/>
              <a:gdLst/>
              <a:ahLst/>
              <a:cxnLst/>
              <a:rect r="r" b="b" t="t" l="l"/>
              <a:pathLst>
                <a:path h="1510284" w="22206204">
                  <a:moveTo>
                    <a:pt x="0" y="120777"/>
                  </a:moveTo>
                  <a:cubicBezTo>
                    <a:pt x="0" y="54102"/>
                    <a:pt x="54102" y="0"/>
                    <a:pt x="120777" y="0"/>
                  </a:cubicBezTo>
                  <a:lnTo>
                    <a:pt x="22085427" y="0"/>
                  </a:lnTo>
                  <a:cubicBezTo>
                    <a:pt x="22152102" y="0"/>
                    <a:pt x="22206204" y="54102"/>
                    <a:pt x="22206204" y="120777"/>
                  </a:cubicBezTo>
                  <a:lnTo>
                    <a:pt x="22206204" y="1389507"/>
                  </a:lnTo>
                  <a:cubicBezTo>
                    <a:pt x="22206204" y="1456182"/>
                    <a:pt x="22152102" y="1510284"/>
                    <a:pt x="22085427" y="1510284"/>
                  </a:cubicBezTo>
                  <a:lnTo>
                    <a:pt x="120777" y="1510284"/>
                  </a:lnTo>
                  <a:cubicBezTo>
                    <a:pt x="54102" y="1510284"/>
                    <a:pt x="0" y="1456182"/>
                    <a:pt x="0" y="1389507"/>
                  </a:cubicBezTo>
                  <a:close/>
                </a:path>
              </a:pathLst>
            </a:custGeom>
            <a:solidFill>
              <a:srgbClr val="EAF8FA"/>
            </a:solidFill>
            <a:ln w="12700" cap="sq">
              <a:solidFill>
                <a:srgbClr val="CFE5E9"/>
              </a:solidFill>
              <a:prstDash val="solid"/>
              <a:miter/>
            </a:ln>
          </p:spPr>
          <p:txBody>
            <a:bodyPr/>
            <a:p/>
          </p:txBody>
        </p:sp>
      </p:grpSp>
      <p:grpSp>
        <p:nvGrpSpPr>
          <p:cNvPr name="Group 83" id="83"/>
          <p:cNvGrpSpPr/>
          <p:nvPr/>
        </p:nvGrpSpPr>
        <p:grpSpPr>
          <a:xfrm rot="0">
            <a:off x="1051560" y="4880610"/>
            <a:ext cx="548640" cy="548640"/>
            <a:chOff x="0" y="0"/>
            <a:chExt cx="731520" cy="731520"/>
          </a:xfrm>
        </p:grpSpPr>
        <p:sp>
          <p:nvSpPr>
            <p:cNvPr name="Freeform 84" id="84"/>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85" id="85"/>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2</a:t>
              </a:r>
            </a:p>
          </p:txBody>
        </p:sp>
      </p:grpSp>
      <p:grpSp>
        <p:nvGrpSpPr>
          <p:cNvPr name="Group 86" id="86"/>
          <p:cNvGrpSpPr/>
          <p:nvPr/>
        </p:nvGrpSpPr>
        <p:grpSpPr>
          <a:xfrm rot="0">
            <a:off x="1828800" y="4686300"/>
            <a:ext cx="4206240" cy="937260"/>
            <a:chOff x="0" y="0"/>
            <a:chExt cx="5608320" cy="1249680"/>
          </a:xfrm>
        </p:grpSpPr>
        <p:sp>
          <p:nvSpPr>
            <p:cNvPr name="Freeform 87" id="87"/>
            <p:cNvSpPr/>
            <p:nvPr/>
          </p:nvSpPr>
          <p:spPr>
            <a:xfrm flipH="false" flipV="false" rot="0">
              <a:off x="0" y="0"/>
              <a:ext cx="5608320" cy="1249680"/>
            </a:xfrm>
            <a:custGeom>
              <a:avLst/>
              <a:gdLst/>
              <a:ahLst/>
              <a:cxnLst/>
              <a:rect r="r" b="b" t="t" l="l"/>
              <a:pathLst>
                <a:path h="1249680" w="5608320">
                  <a:moveTo>
                    <a:pt x="0" y="0"/>
                  </a:moveTo>
                  <a:lnTo>
                    <a:pt x="5608320" y="0"/>
                  </a:lnTo>
                  <a:lnTo>
                    <a:pt x="5608320" y="1249680"/>
                  </a:lnTo>
                  <a:lnTo>
                    <a:pt x="0" y="1249680"/>
                  </a:lnTo>
                  <a:close/>
                </a:path>
              </a:pathLst>
            </a:custGeom>
            <a:blipFill>
              <a:blip r:embed="rId6">
                <a:alphaModFix amt="0"/>
              </a:blip>
              <a:stretch>
                <a:fillRect l="0" t="-37445" r="0" b="-37445"/>
              </a:stretch>
            </a:blipFill>
          </p:spPr>
          <p:txBody>
            <a:bodyPr/>
            <a:p/>
          </p:txBody>
        </p:sp>
        <p:sp>
          <p:nvSpPr>
            <p:cNvPr name="TextBox 88" id="88"/>
            <p:cNvSpPr txBox="true"/>
            <p:nvPr/>
          </p:nvSpPr>
          <p:spPr>
            <a:xfrm>
              <a:off x="0" y="-38100"/>
              <a:ext cx="5608320" cy="1287780"/>
            </a:xfrm>
            <a:prstGeom prst="rect">
              <a:avLst/>
            </a:prstGeom>
          </p:spPr>
          <p:txBody>
            <a:bodyPr anchor="ctr" rtlCol="false" tIns="0" lIns="0" bIns="0" rIns="0"/>
            <a:lstStyle/>
            <a:p>
              <a:pPr algn="l">
                <a:lnSpc>
                  <a:spcPts val="2279"/>
                </a:lnSpc>
              </a:pPr>
              <a:r>
                <a:rPr lang="en-US" sz="1899" b="true">
                  <a:solidFill>
                    <a:srgbClr val="0B5E6E"/>
                  </a:solidFill>
                  <a:latin typeface="Calibri (MS) Bold"/>
                  <a:ea typeface="Calibri (MS) Bold"/>
                  <a:cs typeface="Calibri (MS) Bold"/>
                  <a:sym typeface="Calibri (MS) Bold"/>
                </a:rPr>
                <a:t>Model SD 61 variabel</a:t>
              </a:r>
            </a:p>
          </p:txBody>
        </p:sp>
      </p:grpSp>
      <p:grpSp>
        <p:nvGrpSpPr>
          <p:cNvPr name="Group 89" id="89"/>
          <p:cNvGrpSpPr/>
          <p:nvPr/>
        </p:nvGrpSpPr>
        <p:grpSpPr>
          <a:xfrm rot="0">
            <a:off x="6126480" y="4686300"/>
            <a:ext cx="11155680" cy="937260"/>
            <a:chOff x="0" y="0"/>
            <a:chExt cx="14874240" cy="1249680"/>
          </a:xfrm>
        </p:grpSpPr>
        <p:sp>
          <p:nvSpPr>
            <p:cNvPr name="Freeform 90" id="90"/>
            <p:cNvSpPr/>
            <p:nvPr/>
          </p:nvSpPr>
          <p:spPr>
            <a:xfrm flipH="false" flipV="false" rot="0">
              <a:off x="0" y="0"/>
              <a:ext cx="14874239" cy="1249680"/>
            </a:xfrm>
            <a:custGeom>
              <a:avLst/>
              <a:gdLst/>
              <a:ahLst/>
              <a:cxnLst/>
              <a:rect r="r" b="b" t="t" l="l"/>
              <a:pathLst>
                <a:path h="1249680" w="14874239">
                  <a:moveTo>
                    <a:pt x="0" y="0"/>
                  </a:moveTo>
                  <a:lnTo>
                    <a:pt x="14874239" y="0"/>
                  </a:lnTo>
                  <a:lnTo>
                    <a:pt x="14874239" y="1249680"/>
                  </a:lnTo>
                  <a:lnTo>
                    <a:pt x="0" y="1249680"/>
                  </a:lnTo>
                  <a:close/>
                </a:path>
              </a:pathLst>
            </a:custGeom>
            <a:blipFill>
              <a:blip r:embed="rId6">
                <a:alphaModFix amt="0"/>
              </a:blip>
              <a:stretch>
                <a:fillRect l="0" t="-181919" r="0" b="-181919"/>
              </a:stretch>
            </a:blipFill>
          </p:spPr>
          <p:txBody>
            <a:bodyPr/>
            <a:p/>
          </p:txBody>
        </p:sp>
        <p:sp>
          <p:nvSpPr>
            <p:cNvPr name="TextBox 91" id="91"/>
            <p:cNvSpPr txBox="true"/>
            <p:nvPr/>
          </p:nvSpPr>
          <p:spPr>
            <a:xfrm>
              <a:off x="0" y="-38100"/>
              <a:ext cx="14874240" cy="1287780"/>
            </a:xfrm>
            <a:prstGeom prst="rect">
              <a:avLst/>
            </a:prstGeom>
          </p:spPr>
          <p:txBody>
            <a:bodyPr anchor="ctr" rtlCol="false" tIns="0" lIns="0" bIns="0" rIns="0"/>
            <a:lstStyle/>
            <a:p>
              <a:pPr algn="l">
                <a:lnSpc>
                  <a:spcPts val="2063"/>
                </a:lnSpc>
              </a:pPr>
              <a:r>
                <a:rPr lang="en-US" sz="1719">
                  <a:solidFill>
                    <a:srgbClr val="14313B"/>
                  </a:solidFill>
                  <a:latin typeface="Calibri (MS)"/>
                  <a:ea typeface="Calibri (MS)"/>
                  <a:cs typeface="Calibri (MS)"/>
                  <a:sym typeface="Calibri (MS)"/>
                </a:rPr>
                <a:t>5 stock, 10 flow, 11 auxiliary, 35 parameter dari 5 kategori sumber; nilai awal 2025 terlacak ke data resmi dan citra.</a:t>
              </a:r>
            </a:p>
          </p:txBody>
        </p:sp>
      </p:grpSp>
      <p:grpSp>
        <p:nvGrpSpPr>
          <p:cNvPr name="Group 92" id="92"/>
          <p:cNvGrpSpPr/>
          <p:nvPr/>
        </p:nvGrpSpPr>
        <p:grpSpPr>
          <a:xfrm rot="0">
            <a:off x="816607" y="5891527"/>
            <a:ext cx="16654777" cy="1132837"/>
            <a:chOff x="0" y="0"/>
            <a:chExt cx="22206369" cy="1510449"/>
          </a:xfrm>
        </p:grpSpPr>
        <p:sp>
          <p:nvSpPr>
            <p:cNvPr name="Freeform 93" id="93"/>
            <p:cNvSpPr/>
            <p:nvPr/>
          </p:nvSpPr>
          <p:spPr>
            <a:xfrm flipH="false" flipV="false" rot="0">
              <a:off x="0" y="0"/>
              <a:ext cx="22206204" cy="1510284"/>
            </a:xfrm>
            <a:custGeom>
              <a:avLst/>
              <a:gdLst/>
              <a:ahLst/>
              <a:cxnLst/>
              <a:rect r="r" b="b" t="t" l="l"/>
              <a:pathLst>
                <a:path h="1510284" w="22206204">
                  <a:moveTo>
                    <a:pt x="0" y="120777"/>
                  </a:moveTo>
                  <a:cubicBezTo>
                    <a:pt x="0" y="54102"/>
                    <a:pt x="54102" y="0"/>
                    <a:pt x="120777" y="0"/>
                  </a:cubicBezTo>
                  <a:lnTo>
                    <a:pt x="22085427" y="0"/>
                  </a:lnTo>
                  <a:cubicBezTo>
                    <a:pt x="22152102" y="0"/>
                    <a:pt x="22206204" y="54102"/>
                    <a:pt x="22206204" y="120777"/>
                  </a:cubicBezTo>
                  <a:lnTo>
                    <a:pt x="22206204" y="1389507"/>
                  </a:lnTo>
                  <a:cubicBezTo>
                    <a:pt x="22206204" y="1456182"/>
                    <a:pt x="22152102" y="1510284"/>
                    <a:pt x="22085427" y="1510284"/>
                  </a:cubicBezTo>
                  <a:lnTo>
                    <a:pt x="120777" y="1510284"/>
                  </a:lnTo>
                  <a:cubicBezTo>
                    <a:pt x="54102" y="1510284"/>
                    <a:pt x="0" y="1456182"/>
                    <a:pt x="0" y="1389507"/>
                  </a:cubicBezTo>
                  <a:close/>
                </a:path>
              </a:pathLst>
            </a:custGeom>
            <a:solidFill>
              <a:srgbClr val="EAF8FA"/>
            </a:solidFill>
            <a:ln w="12700" cap="sq">
              <a:solidFill>
                <a:srgbClr val="CFE5E9"/>
              </a:solidFill>
              <a:prstDash val="solid"/>
              <a:miter/>
            </a:ln>
          </p:spPr>
          <p:txBody>
            <a:bodyPr/>
            <a:p/>
          </p:txBody>
        </p:sp>
      </p:grpSp>
      <p:grpSp>
        <p:nvGrpSpPr>
          <p:cNvPr name="Group 94" id="94"/>
          <p:cNvGrpSpPr/>
          <p:nvPr/>
        </p:nvGrpSpPr>
        <p:grpSpPr>
          <a:xfrm rot="0">
            <a:off x="1051560" y="6183630"/>
            <a:ext cx="548640" cy="548640"/>
            <a:chOff x="0" y="0"/>
            <a:chExt cx="731520" cy="731520"/>
          </a:xfrm>
        </p:grpSpPr>
        <p:sp>
          <p:nvSpPr>
            <p:cNvPr name="Freeform 95" id="95"/>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96" id="96"/>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3</a:t>
              </a:r>
            </a:p>
          </p:txBody>
        </p:sp>
      </p:grpSp>
      <p:grpSp>
        <p:nvGrpSpPr>
          <p:cNvPr name="Group 97" id="97"/>
          <p:cNvGrpSpPr/>
          <p:nvPr/>
        </p:nvGrpSpPr>
        <p:grpSpPr>
          <a:xfrm rot="0">
            <a:off x="1828800" y="5989320"/>
            <a:ext cx="4206240" cy="937260"/>
            <a:chOff x="0" y="0"/>
            <a:chExt cx="5608320" cy="1249680"/>
          </a:xfrm>
        </p:grpSpPr>
        <p:sp>
          <p:nvSpPr>
            <p:cNvPr name="Freeform 98" id="98"/>
            <p:cNvSpPr/>
            <p:nvPr/>
          </p:nvSpPr>
          <p:spPr>
            <a:xfrm flipH="false" flipV="false" rot="0">
              <a:off x="0" y="0"/>
              <a:ext cx="5608320" cy="1249680"/>
            </a:xfrm>
            <a:custGeom>
              <a:avLst/>
              <a:gdLst/>
              <a:ahLst/>
              <a:cxnLst/>
              <a:rect r="r" b="b" t="t" l="l"/>
              <a:pathLst>
                <a:path h="1249680" w="5608320">
                  <a:moveTo>
                    <a:pt x="0" y="0"/>
                  </a:moveTo>
                  <a:lnTo>
                    <a:pt x="5608320" y="0"/>
                  </a:lnTo>
                  <a:lnTo>
                    <a:pt x="5608320" y="1249680"/>
                  </a:lnTo>
                  <a:lnTo>
                    <a:pt x="0" y="1249680"/>
                  </a:lnTo>
                  <a:close/>
                </a:path>
              </a:pathLst>
            </a:custGeom>
            <a:blipFill>
              <a:blip r:embed="rId6">
                <a:alphaModFix amt="0"/>
              </a:blip>
              <a:stretch>
                <a:fillRect l="0" t="-37445" r="0" b="-37445"/>
              </a:stretch>
            </a:blipFill>
          </p:spPr>
          <p:txBody>
            <a:bodyPr/>
            <a:p/>
          </p:txBody>
        </p:sp>
        <p:sp>
          <p:nvSpPr>
            <p:cNvPr name="TextBox 99" id="99"/>
            <p:cNvSpPr txBox="true"/>
            <p:nvPr/>
          </p:nvSpPr>
          <p:spPr>
            <a:xfrm>
              <a:off x="0" y="-38100"/>
              <a:ext cx="5608320" cy="1287780"/>
            </a:xfrm>
            <a:prstGeom prst="rect">
              <a:avLst/>
            </a:prstGeom>
          </p:spPr>
          <p:txBody>
            <a:bodyPr anchor="ctr" rtlCol="false" tIns="0" lIns="0" bIns="0" rIns="0"/>
            <a:lstStyle/>
            <a:p>
              <a:pPr algn="l">
                <a:lnSpc>
                  <a:spcPts val="2279"/>
                </a:lnSpc>
              </a:pPr>
              <a:r>
                <a:rPr lang="en-US" sz="1899" b="true">
                  <a:solidFill>
                    <a:srgbClr val="0B5E6E"/>
                  </a:solidFill>
                  <a:latin typeface="Calibri (MS) Bold"/>
                  <a:ea typeface="Calibri (MS) Bold"/>
                  <a:cs typeface="Calibri (MS) Bold"/>
                  <a:sym typeface="Calibri (MS) Bold"/>
                </a:rPr>
                <a:t>Valid secara struktur</a:t>
              </a:r>
            </a:p>
          </p:txBody>
        </p:sp>
      </p:grpSp>
      <p:grpSp>
        <p:nvGrpSpPr>
          <p:cNvPr name="Group 100" id="100"/>
          <p:cNvGrpSpPr/>
          <p:nvPr/>
        </p:nvGrpSpPr>
        <p:grpSpPr>
          <a:xfrm rot="0">
            <a:off x="6126480" y="5989320"/>
            <a:ext cx="11155680" cy="937260"/>
            <a:chOff x="0" y="0"/>
            <a:chExt cx="14874240" cy="1249680"/>
          </a:xfrm>
        </p:grpSpPr>
        <p:sp>
          <p:nvSpPr>
            <p:cNvPr name="Freeform 101" id="101"/>
            <p:cNvSpPr/>
            <p:nvPr/>
          </p:nvSpPr>
          <p:spPr>
            <a:xfrm flipH="false" flipV="false" rot="0">
              <a:off x="0" y="0"/>
              <a:ext cx="14874239" cy="1249680"/>
            </a:xfrm>
            <a:custGeom>
              <a:avLst/>
              <a:gdLst/>
              <a:ahLst/>
              <a:cxnLst/>
              <a:rect r="r" b="b" t="t" l="l"/>
              <a:pathLst>
                <a:path h="1249680" w="14874239">
                  <a:moveTo>
                    <a:pt x="0" y="0"/>
                  </a:moveTo>
                  <a:lnTo>
                    <a:pt x="14874239" y="0"/>
                  </a:lnTo>
                  <a:lnTo>
                    <a:pt x="14874239" y="1249680"/>
                  </a:lnTo>
                  <a:lnTo>
                    <a:pt x="0" y="1249680"/>
                  </a:lnTo>
                  <a:close/>
                </a:path>
              </a:pathLst>
            </a:custGeom>
            <a:blipFill>
              <a:blip r:embed="rId6">
                <a:alphaModFix amt="0"/>
              </a:blip>
              <a:stretch>
                <a:fillRect l="0" t="-181919" r="0" b="-181919"/>
              </a:stretch>
            </a:blipFill>
          </p:spPr>
          <p:txBody>
            <a:bodyPr/>
            <a:p/>
          </p:txBody>
        </p:sp>
        <p:sp>
          <p:nvSpPr>
            <p:cNvPr name="TextBox 102" id="102"/>
            <p:cNvSpPr txBox="true"/>
            <p:nvPr/>
          </p:nvSpPr>
          <p:spPr>
            <a:xfrm>
              <a:off x="0" y="-38100"/>
              <a:ext cx="14874240" cy="1287780"/>
            </a:xfrm>
            <a:prstGeom prst="rect">
              <a:avLst/>
            </a:prstGeom>
          </p:spPr>
          <p:txBody>
            <a:bodyPr anchor="ctr" rtlCol="false" tIns="0" lIns="0" bIns="0" rIns="0"/>
            <a:lstStyle/>
            <a:p>
              <a:pPr algn="l">
                <a:lnSpc>
                  <a:spcPts val="2063"/>
                </a:lnSpc>
              </a:pPr>
              <a:r>
                <a:rPr lang="en-US" sz="1719">
                  <a:solidFill>
                    <a:srgbClr val="14313B"/>
                  </a:solidFill>
                  <a:latin typeface="Calibri (MS)"/>
                  <a:ea typeface="Calibri (MS)"/>
                  <a:cs typeface="Calibri (MS)"/>
                  <a:sym typeface="Calibri (MS)"/>
                </a:rPr>
                <a:t>6 uji struktur lolos (17 uji ekstrem tanpa gagal); perilaku cukup baik per subsistem; kalibrasi tidak mengubah parameter.</a:t>
              </a:r>
            </a:p>
          </p:txBody>
        </p:sp>
      </p:grpSp>
      <p:grpSp>
        <p:nvGrpSpPr>
          <p:cNvPr name="Group 103" id="103"/>
          <p:cNvGrpSpPr/>
          <p:nvPr/>
        </p:nvGrpSpPr>
        <p:grpSpPr>
          <a:xfrm rot="0">
            <a:off x="816607" y="7194547"/>
            <a:ext cx="16654777" cy="1132837"/>
            <a:chOff x="0" y="0"/>
            <a:chExt cx="22206369" cy="1510449"/>
          </a:xfrm>
        </p:grpSpPr>
        <p:sp>
          <p:nvSpPr>
            <p:cNvPr name="Freeform 104" id="104"/>
            <p:cNvSpPr/>
            <p:nvPr/>
          </p:nvSpPr>
          <p:spPr>
            <a:xfrm flipH="false" flipV="false" rot="0">
              <a:off x="0" y="0"/>
              <a:ext cx="22206204" cy="1510284"/>
            </a:xfrm>
            <a:custGeom>
              <a:avLst/>
              <a:gdLst/>
              <a:ahLst/>
              <a:cxnLst/>
              <a:rect r="r" b="b" t="t" l="l"/>
              <a:pathLst>
                <a:path h="1510284" w="22206204">
                  <a:moveTo>
                    <a:pt x="0" y="120777"/>
                  </a:moveTo>
                  <a:cubicBezTo>
                    <a:pt x="0" y="54102"/>
                    <a:pt x="54102" y="0"/>
                    <a:pt x="120777" y="0"/>
                  </a:cubicBezTo>
                  <a:lnTo>
                    <a:pt x="22085427" y="0"/>
                  </a:lnTo>
                  <a:cubicBezTo>
                    <a:pt x="22152102" y="0"/>
                    <a:pt x="22206204" y="54102"/>
                    <a:pt x="22206204" y="120777"/>
                  </a:cubicBezTo>
                  <a:lnTo>
                    <a:pt x="22206204" y="1389507"/>
                  </a:lnTo>
                  <a:cubicBezTo>
                    <a:pt x="22206204" y="1456182"/>
                    <a:pt x="22152102" y="1510284"/>
                    <a:pt x="22085427" y="1510284"/>
                  </a:cubicBezTo>
                  <a:lnTo>
                    <a:pt x="120777" y="1510284"/>
                  </a:lnTo>
                  <a:cubicBezTo>
                    <a:pt x="54102" y="1510284"/>
                    <a:pt x="0" y="1456182"/>
                    <a:pt x="0" y="1389507"/>
                  </a:cubicBezTo>
                  <a:close/>
                </a:path>
              </a:pathLst>
            </a:custGeom>
            <a:solidFill>
              <a:srgbClr val="EAF8FA"/>
            </a:solidFill>
            <a:ln w="12700" cap="sq">
              <a:solidFill>
                <a:srgbClr val="CFE5E9"/>
              </a:solidFill>
              <a:prstDash val="solid"/>
              <a:miter/>
            </a:ln>
          </p:spPr>
          <p:txBody>
            <a:bodyPr/>
            <a:p/>
          </p:txBody>
        </p:sp>
      </p:grpSp>
      <p:grpSp>
        <p:nvGrpSpPr>
          <p:cNvPr name="Group 105" id="105"/>
          <p:cNvGrpSpPr/>
          <p:nvPr/>
        </p:nvGrpSpPr>
        <p:grpSpPr>
          <a:xfrm rot="0">
            <a:off x="1051560" y="7486650"/>
            <a:ext cx="548640" cy="548640"/>
            <a:chOff x="0" y="0"/>
            <a:chExt cx="731520" cy="731520"/>
          </a:xfrm>
        </p:grpSpPr>
        <p:sp>
          <p:nvSpPr>
            <p:cNvPr name="Freeform 106" id="106"/>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107" id="107"/>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4</a:t>
              </a:r>
            </a:p>
          </p:txBody>
        </p:sp>
      </p:grpSp>
      <p:grpSp>
        <p:nvGrpSpPr>
          <p:cNvPr name="Group 108" id="108"/>
          <p:cNvGrpSpPr/>
          <p:nvPr/>
        </p:nvGrpSpPr>
        <p:grpSpPr>
          <a:xfrm rot="0">
            <a:off x="1828800" y="7292340"/>
            <a:ext cx="4206240" cy="937260"/>
            <a:chOff x="0" y="0"/>
            <a:chExt cx="5608320" cy="1249680"/>
          </a:xfrm>
        </p:grpSpPr>
        <p:sp>
          <p:nvSpPr>
            <p:cNvPr name="Freeform 109" id="109"/>
            <p:cNvSpPr/>
            <p:nvPr/>
          </p:nvSpPr>
          <p:spPr>
            <a:xfrm flipH="false" flipV="false" rot="0">
              <a:off x="0" y="0"/>
              <a:ext cx="5608320" cy="1249680"/>
            </a:xfrm>
            <a:custGeom>
              <a:avLst/>
              <a:gdLst/>
              <a:ahLst/>
              <a:cxnLst/>
              <a:rect r="r" b="b" t="t" l="l"/>
              <a:pathLst>
                <a:path h="1249680" w="5608320">
                  <a:moveTo>
                    <a:pt x="0" y="0"/>
                  </a:moveTo>
                  <a:lnTo>
                    <a:pt x="5608320" y="0"/>
                  </a:lnTo>
                  <a:lnTo>
                    <a:pt x="5608320" y="1249680"/>
                  </a:lnTo>
                  <a:lnTo>
                    <a:pt x="0" y="1249680"/>
                  </a:lnTo>
                  <a:close/>
                </a:path>
              </a:pathLst>
            </a:custGeom>
            <a:blipFill>
              <a:blip r:embed="rId6">
                <a:alphaModFix amt="0"/>
              </a:blip>
              <a:stretch>
                <a:fillRect l="0" t="-37445" r="0" b="-37445"/>
              </a:stretch>
            </a:blipFill>
          </p:spPr>
          <p:txBody>
            <a:bodyPr/>
            <a:p/>
          </p:txBody>
        </p:sp>
        <p:sp>
          <p:nvSpPr>
            <p:cNvPr name="TextBox 110" id="110"/>
            <p:cNvSpPr txBox="true"/>
            <p:nvPr/>
          </p:nvSpPr>
          <p:spPr>
            <a:xfrm>
              <a:off x="0" y="-38100"/>
              <a:ext cx="5608320" cy="1287780"/>
            </a:xfrm>
            <a:prstGeom prst="rect">
              <a:avLst/>
            </a:prstGeom>
          </p:spPr>
          <p:txBody>
            <a:bodyPr anchor="ctr" rtlCol="false" tIns="0" lIns="0" bIns="0" rIns="0"/>
            <a:lstStyle/>
            <a:p>
              <a:pPr algn="l">
                <a:lnSpc>
                  <a:spcPts val="2279"/>
                </a:lnSpc>
              </a:pPr>
              <a:r>
                <a:rPr lang="en-US" sz="1899" b="true">
                  <a:solidFill>
                    <a:srgbClr val="0B5E6E"/>
                  </a:solidFill>
                  <a:latin typeface="Calibri (MS) Bold"/>
                  <a:ea typeface="Calibri (MS) Bold"/>
                  <a:cs typeface="Calibri (MS) Bold"/>
                  <a:sym typeface="Calibri (MS) Bold"/>
                </a:rPr>
                <a:t>Dasar simulasi kebijakan</a:t>
              </a:r>
            </a:p>
          </p:txBody>
        </p:sp>
      </p:grpSp>
      <p:grpSp>
        <p:nvGrpSpPr>
          <p:cNvPr name="Group 111" id="111"/>
          <p:cNvGrpSpPr/>
          <p:nvPr/>
        </p:nvGrpSpPr>
        <p:grpSpPr>
          <a:xfrm rot="0">
            <a:off x="6126480" y="7292340"/>
            <a:ext cx="11155680" cy="937260"/>
            <a:chOff x="0" y="0"/>
            <a:chExt cx="14874240" cy="1249680"/>
          </a:xfrm>
        </p:grpSpPr>
        <p:sp>
          <p:nvSpPr>
            <p:cNvPr name="Freeform 112" id="112"/>
            <p:cNvSpPr/>
            <p:nvPr/>
          </p:nvSpPr>
          <p:spPr>
            <a:xfrm flipH="false" flipV="false" rot="0">
              <a:off x="0" y="0"/>
              <a:ext cx="14874239" cy="1249680"/>
            </a:xfrm>
            <a:custGeom>
              <a:avLst/>
              <a:gdLst/>
              <a:ahLst/>
              <a:cxnLst/>
              <a:rect r="r" b="b" t="t" l="l"/>
              <a:pathLst>
                <a:path h="1249680" w="14874239">
                  <a:moveTo>
                    <a:pt x="0" y="0"/>
                  </a:moveTo>
                  <a:lnTo>
                    <a:pt x="14874239" y="0"/>
                  </a:lnTo>
                  <a:lnTo>
                    <a:pt x="14874239" y="1249680"/>
                  </a:lnTo>
                  <a:lnTo>
                    <a:pt x="0" y="1249680"/>
                  </a:lnTo>
                  <a:close/>
                </a:path>
              </a:pathLst>
            </a:custGeom>
            <a:blipFill>
              <a:blip r:embed="rId6">
                <a:alphaModFix amt="0"/>
              </a:blip>
              <a:stretch>
                <a:fillRect l="0" t="-181919" r="0" b="-181919"/>
              </a:stretch>
            </a:blipFill>
          </p:spPr>
          <p:txBody>
            <a:bodyPr/>
            <a:p/>
          </p:txBody>
        </p:sp>
        <p:sp>
          <p:nvSpPr>
            <p:cNvPr name="TextBox 113" id="113"/>
            <p:cNvSpPr txBox="true"/>
            <p:nvPr/>
          </p:nvSpPr>
          <p:spPr>
            <a:xfrm>
              <a:off x="0" y="-38100"/>
              <a:ext cx="14874240" cy="1287780"/>
            </a:xfrm>
            <a:prstGeom prst="rect">
              <a:avLst/>
            </a:prstGeom>
          </p:spPr>
          <p:txBody>
            <a:bodyPr anchor="ctr" rtlCol="false" tIns="0" lIns="0" bIns="0" rIns="0"/>
            <a:lstStyle/>
            <a:p>
              <a:pPr algn="l">
                <a:lnSpc>
                  <a:spcPts val="2063"/>
                </a:lnSpc>
              </a:pPr>
              <a:r>
                <a:rPr lang="en-US" sz="1719">
                  <a:solidFill>
                    <a:srgbClr val="14313B"/>
                  </a:solidFill>
                  <a:latin typeface="Calibri (MS)"/>
                  <a:ea typeface="Calibri (MS)"/>
                  <a:cs typeface="Calibri (MS)"/>
                  <a:sym typeface="Calibri (MS)"/>
                </a:rPr>
                <a:t>Tidak ada skenario unggul di ketiga dimensi; DP unggul ekonomi, Sustainable unggul lingkungan, BAU unggul kepadatan — urutannya robust pada 7 kondisi.</a:t>
              </a:r>
            </a:p>
          </p:txBody>
        </p:sp>
      </p:grpSp>
      <p:grpSp>
        <p:nvGrpSpPr>
          <p:cNvPr name="Group 114" id="114"/>
          <p:cNvGrpSpPr/>
          <p:nvPr/>
        </p:nvGrpSpPr>
        <p:grpSpPr>
          <a:xfrm rot="0">
            <a:off x="816607" y="8497567"/>
            <a:ext cx="16654777" cy="744217"/>
            <a:chOff x="0" y="0"/>
            <a:chExt cx="22206369" cy="992289"/>
          </a:xfrm>
        </p:grpSpPr>
        <p:sp>
          <p:nvSpPr>
            <p:cNvPr name="Freeform 115" id="115"/>
            <p:cNvSpPr/>
            <p:nvPr/>
          </p:nvSpPr>
          <p:spPr>
            <a:xfrm flipH="false" flipV="false" rot="0">
              <a:off x="0" y="0"/>
              <a:ext cx="22206331" cy="992251"/>
            </a:xfrm>
            <a:custGeom>
              <a:avLst/>
              <a:gdLst/>
              <a:ahLst/>
              <a:cxnLst/>
              <a:rect r="r" b="b" t="t" l="l"/>
              <a:pathLst>
                <a:path h="992251" w="22206331">
                  <a:moveTo>
                    <a:pt x="0" y="79375"/>
                  </a:moveTo>
                  <a:cubicBezTo>
                    <a:pt x="0" y="35560"/>
                    <a:pt x="35560" y="0"/>
                    <a:pt x="79375" y="0"/>
                  </a:cubicBezTo>
                  <a:lnTo>
                    <a:pt x="22126956" y="0"/>
                  </a:lnTo>
                  <a:cubicBezTo>
                    <a:pt x="22170771" y="0"/>
                    <a:pt x="22206331" y="35560"/>
                    <a:pt x="22206331" y="79375"/>
                  </a:cubicBezTo>
                  <a:lnTo>
                    <a:pt x="22206331" y="912876"/>
                  </a:lnTo>
                  <a:cubicBezTo>
                    <a:pt x="22206331" y="956691"/>
                    <a:pt x="22170771" y="992251"/>
                    <a:pt x="22126956" y="992251"/>
                  </a:cubicBezTo>
                  <a:lnTo>
                    <a:pt x="79375" y="992251"/>
                  </a:lnTo>
                  <a:cubicBezTo>
                    <a:pt x="35560" y="992251"/>
                    <a:pt x="0" y="956691"/>
                    <a:pt x="0" y="912876"/>
                  </a:cubicBezTo>
                  <a:close/>
                </a:path>
              </a:pathLst>
            </a:custGeom>
            <a:solidFill>
              <a:srgbClr val="FFF1BF"/>
            </a:solidFill>
            <a:ln w="12700" cap="sq">
              <a:solidFill>
                <a:srgbClr val="FFD23B"/>
              </a:solidFill>
              <a:prstDash val="solid"/>
              <a:miter/>
            </a:ln>
          </p:spPr>
          <p:txBody>
            <a:bodyPr/>
            <a:p/>
          </p:txBody>
        </p:sp>
        <p:sp>
          <p:nvSpPr>
            <p:cNvPr name="TextBox 116" id="116"/>
            <p:cNvSpPr txBox="true"/>
            <p:nvPr/>
          </p:nvSpPr>
          <p:spPr>
            <a:xfrm>
              <a:off x="0" y="-38100"/>
              <a:ext cx="22206369" cy="103038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Model memanfaatkan citra, sudah divalidasi, dan mampu membandingkan skenario kebijakan secara kuantitatif beserta tingkat robustness-nya.</a:t>
              </a:r>
            </a:p>
          </p:txBody>
        </p:sp>
      </p:grpSp>
      <p:grpSp>
        <p:nvGrpSpPr>
          <p:cNvPr name="Group 117" id="117"/>
          <p:cNvGrpSpPr/>
          <p:nvPr/>
        </p:nvGrpSpPr>
        <p:grpSpPr>
          <a:xfrm rot="0">
            <a:off x="16047720" y="9646920"/>
            <a:ext cx="420624" cy="420624"/>
            <a:chOff x="0" y="0"/>
            <a:chExt cx="560832" cy="560832"/>
          </a:xfrm>
        </p:grpSpPr>
        <p:sp>
          <p:nvSpPr>
            <p:cNvPr name="Freeform 118" id="118"/>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19" id="119"/>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64.xml><?xml version="1.0" encoding="utf-8"?>
<p:sld xmlns:p="http://schemas.openxmlformats.org/presentationml/2006/main" xmlns:a="http://schemas.openxmlformats.org/drawingml/2006/main" xmlns:r="http://schemas.openxmlformats.org/officeDocument/2006/relationships">
  <p:cSld>
    <p:bg>
      <p:bgPr>
        <a:solidFill>
          <a:srgbClr val="0B5E6E"/>
        </a:solidFill>
      </p:bgPr>
    </p:bg>
    <p:spTree>
      <p:nvGrpSpPr>
        <p:cNvPr id="1" name=""/>
        <p:cNvGrpSpPr/>
        <p:nvPr/>
      </p:nvGrpSpPr>
      <p:grpSpPr>
        <a:xfrm>
          <a:off x="0" y="0"/>
          <a:ext cx="0" cy="0"/>
          <a:chOff x="0" y="0"/>
          <a:chExt cx="0" cy="0"/>
        </a:xfrm>
      </p:grpSpPr>
      <p:grpSp>
        <p:nvGrpSpPr>
          <p:cNvPr name="Group 2" id="2"/>
          <p:cNvGrpSpPr/>
          <p:nvPr/>
        </p:nvGrpSpPr>
        <p:grpSpPr>
          <a:xfrm rot="0">
            <a:off x="8462772" y="1645920"/>
            <a:ext cx="1371600" cy="1371600"/>
            <a:chOff x="0" y="0"/>
            <a:chExt cx="1828800" cy="1828800"/>
          </a:xfrm>
        </p:grpSpPr>
        <p:sp>
          <p:nvSpPr>
            <p:cNvPr name="Freeform 3" id="3" descr="Logo Politeknik Statistika STIS"/>
            <p:cNvSpPr/>
            <p:nvPr/>
          </p:nvSpPr>
          <p:spPr>
            <a:xfrm flipH="false" flipV="false" rot="0">
              <a:off x="0" y="0"/>
              <a:ext cx="1828800" cy="1828800"/>
            </a:xfrm>
            <a:custGeom>
              <a:avLst/>
              <a:gdLst/>
              <a:ahLst/>
              <a:cxnLst/>
              <a:rect r="r" b="b" t="t" l="l"/>
              <a:pathLst>
                <a:path h="1828800" w="1828800">
                  <a:moveTo>
                    <a:pt x="0" y="0"/>
                  </a:moveTo>
                  <a:lnTo>
                    <a:pt x="1828800" y="0"/>
                  </a:lnTo>
                  <a:lnTo>
                    <a:pt x="1828800" y="1828800"/>
                  </a:lnTo>
                  <a:lnTo>
                    <a:pt x="0" y="1828800"/>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3497580"/>
            <a:ext cx="16637508" cy="1371600"/>
            <a:chOff x="0" y="0"/>
            <a:chExt cx="22183344" cy="1828800"/>
          </a:xfrm>
        </p:grpSpPr>
        <p:sp>
          <p:nvSpPr>
            <p:cNvPr name="Freeform 5" id="5"/>
            <p:cNvSpPr/>
            <p:nvPr/>
          </p:nvSpPr>
          <p:spPr>
            <a:xfrm flipH="false" flipV="false" rot="0">
              <a:off x="0" y="0"/>
              <a:ext cx="22183344" cy="1828800"/>
            </a:xfrm>
            <a:custGeom>
              <a:avLst/>
              <a:gdLst/>
              <a:ahLst/>
              <a:cxnLst/>
              <a:rect r="r" b="b" t="t" l="l"/>
              <a:pathLst>
                <a:path h="1828800" w="22183344">
                  <a:moveTo>
                    <a:pt x="0" y="0"/>
                  </a:moveTo>
                  <a:lnTo>
                    <a:pt x="22183344" y="0"/>
                  </a:lnTo>
                  <a:lnTo>
                    <a:pt x="22183344" y="1828800"/>
                  </a:lnTo>
                  <a:lnTo>
                    <a:pt x="0" y="1828800"/>
                  </a:lnTo>
                  <a:close/>
                </a:path>
              </a:pathLst>
            </a:custGeom>
            <a:blipFill>
              <a:blip r:embed="rId4">
                <a:alphaModFix amt="0"/>
              </a:blip>
              <a:stretch>
                <a:fillRect l="0" t="-186188" r="0" b="-186189"/>
              </a:stretch>
            </a:blipFill>
          </p:spPr>
          <p:txBody>
            <a:bodyPr/>
            <a:p/>
          </p:txBody>
        </p:sp>
      </p:grpSp>
      <p:grpSp>
        <p:nvGrpSpPr>
          <p:cNvPr name="Group 6" id="6"/>
          <p:cNvGrpSpPr/>
          <p:nvPr/>
        </p:nvGrpSpPr>
        <p:grpSpPr>
          <a:xfrm rot="0">
            <a:off x="822960" y="3376136"/>
            <a:ext cx="16637508" cy="1493044"/>
            <a:chOff x="0" y="0"/>
            <a:chExt cx="22183344" cy="1990725"/>
          </a:xfrm>
        </p:grpSpPr>
        <p:sp>
          <p:nvSpPr>
            <p:cNvPr name="Freeform 7" id="7"/>
            <p:cNvSpPr/>
            <p:nvPr/>
          </p:nvSpPr>
          <p:spPr>
            <a:xfrm flipH="false" flipV="false" rot="0">
              <a:off x="0" y="0"/>
              <a:ext cx="22183344" cy="1990725"/>
            </a:xfrm>
            <a:custGeom>
              <a:avLst/>
              <a:gdLst/>
              <a:ahLst/>
              <a:cxnLst/>
              <a:rect r="r" b="b" t="t" l="l"/>
              <a:pathLst>
                <a:path h="1990725" w="22183344">
                  <a:moveTo>
                    <a:pt x="0" y="0"/>
                  </a:moveTo>
                  <a:lnTo>
                    <a:pt x="22183344" y="0"/>
                  </a:lnTo>
                  <a:lnTo>
                    <a:pt x="22183344" y="1990725"/>
                  </a:lnTo>
                  <a:lnTo>
                    <a:pt x="0" y="1990725"/>
                  </a:lnTo>
                  <a:close/>
                </a:path>
              </a:pathLst>
            </a:custGeom>
            <a:blipFill>
              <a:blip r:embed="rId5">
                <a:alphaModFix amt="0"/>
              </a:blip>
              <a:stretch>
                <a:fillRect l="0" t="-166977" r="0" b="-166977"/>
              </a:stretch>
            </a:blipFill>
          </p:spPr>
          <p:txBody>
            <a:bodyPr/>
            <a:p/>
          </p:txBody>
        </p:sp>
      </p:grpSp>
      <p:grpSp>
        <p:nvGrpSpPr>
          <p:cNvPr name="Group 8" id="8"/>
          <p:cNvGrpSpPr/>
          <p:nvPr/>
        </p:nvGrpSpPr>
        <p:grpSpPr>
          <a:xfrm rot="0">
            <a:off x="822960" y="3254692"/>
            <a:ext cx="16637508" cy="1614488"/>
            <a:chOff x="0" y="0"/>
            <a:chExt cx="22183344" cy="2152650"/>
          </a:xfrm>
        </p:grpSpPr>
        <p:sp>
          <p:nvSpPr>
            <p:cNvPr name="Freeform 9" id="9"/>
            <p:cNvSpPr/>
            <p:nvPr/>
          </p:nvSpPr>
          <p:spPr>
            <a:xfrm flipH="false" flipV="false" rot="0">
              <a:off x="0" y="0"/>
              <a:ext cx="22183344" cy="2152650"/>
            </a:xfrm>
            <a:custGeom>
              <a:avLst/>
              <a:gdLst/>
              <a:ahLst/>
              <a:cxnLst/>
              <a:rect r="r" b="b" t="t" l="l"/>
              <a:pathLst>
                <a:path h="2152650" w="22183344">
                  <a:moveTo>
                    <a:pt x="0" y="0"/>
                  </a:moveTo>
                  <a:lnTo>
                    <a:pt x="22183344" y="0"/>
                  </a:lnTo>
                  <a:lnTo>
                    <a:pt x="22183344" y="2152650"/>
                  </a:lnTo>
                  <a:lnTo>
                    <a:pt x="0" y="2152650"/>
                  </a:lnTo>
                  <a:close/>
                </a:path>
              </a:pathLst>
            </a:custGeom>
            <a:blipFill>
              <a:blip r:embed="rId6">
                <a:alphaModFix amt="0"/>
              </a:blip>
              <a:stretch>
                <a:fillRect l="0" t="-150795" r="0" b="-150795"/>
              </a:stretch>
            </a:blipFill>
          </p:spPr>
          <p:txBody>
            <a:bodyPr/>
            <a:p/>
          </p:txBody>
        </p:sp>
        <p:sp>
          <p:nvSpPr>
            <p:cNvPr name="TextBox 10" id="10"/>
            <p:cNvSpPr txBox="true"/>
            <p:nvPr/>
          </p:nvSpPr>
          <p:spPr>
            <a:xfrm>
              <a:off x="0" y="-161925"/>
              <a:ext cx="22183344" cy="2314575"/>
            </a:xfrm>
            <a:prstGeom prst="rect">
              <a:avLst/>
            </a:prstGeom>
          </p:spPr>
          <p:txBody>
            <a:bodyPr anchor="ctr" rtlCol="false" tIns="0" lIns="0" bIns="0" rIns="0"/>
            <a:lstStyle/>
            <a:p>
              <a:pPr algn="ctr">
                <a:lnSpc>
                  <a:spcPts val="9360"/>
                </a:lnSpc>
              </a:pPr>
              <a:r>
                <a:rPr lang="en-US" sz="7800" b="true">
                  <a:solidFill>
                    <a:srgbClr val="FFD23B"/>
                  </a:solidFill>
                  <a:latin typeface="Calibri (MS) Bold"/>
                  <a:ea typeface="Calibri (MS) Bold"/>
                  <a:cs typeface="Calibri (MS) Bold"/>
                  <a:sym typeface="Calibri (MS) Bold"/>
                </a:rPr>
                <a:t>Tujuan 3</a:t>
              </a:r>
            </a:p>
          </p:txBody>
        </p:sp>
      </p:grpSp>
      <p:sp>
        <p:nvSpPr>
          <p:cNvPr name="TextBox 11" id="11"/>
          <p:cNvSpPr txBox="true"/>
          <p:nvPr/>
        </p:nvSpPr>
        <p:spPr>
          <a:xfrm rot="0">
            <a:off x="2057400" y="4922520"/>
            <a:ext cx="14168628" cy="1249680"/>
          </a:xfrm>
          <a:prstGeom prst="rect">
            <a:avLst/>
          </a:prstGeom>
        </p:spPr>
        <p:txBody>
          <a:bodyPr anchor="t" rtlCol="false" tIns="0" lIns="0" bIns="0" rIns="0">
            <a:spAutoFit/>
          </a:bodyPr>
          <a:lstStyle/>
          <a:p>
            <a:pPr algn="ctr">
              <a:lnSpc>
                <a:spcPts val="3060"/>
              </a:lnSpc>
            </a:pPr>
            <a:r>
              <a:rPr lang="en-US" sz="2400">
                <a:solidFill>
                  <a:srgbClr val="FFFFFF"/>
                </a:solidFill>
                <a:latin typeface="Calibri (MS)"/>
                <a:ea typeface="Calibri (MS)"/>
                <a:cs typeface="Calibri (MS)"/>
                <a:sym typeface="Calibri (MS)"/>
              </a:rPr>
              <a:t>Membangun aplikasi berbasis web yang mengimplementasikan hasil pemodelan dan simulasi skenario kebijakan sebagai alat bantu analisis dan pengambilan keputusan.</a:t>
            </a:r>
          </a:p>
        </p:txBody>
      </p:sp>
      <p:sp>
        <p:nvSpPr>
          <p:cNvPr name="TextBox 12" id="12"/>
          <p:cNvSpPr txBox="true"/>
          <p:nvPr/>
        </p:nvSpPr>
        <p:spPr>
          <a:xfrm rot="0">
            <a:off x="822960" y="6236970"/>
            <a:ext cx="16637508" cy="758190"/>
          </a:xfrm>
          <a:prstGeom prst="rect">
            <a:avLst/>
          </a:prstGeom>
        </p:spPr>
        <p:txBody>
          <a:bodyPr anchor="t" rtlCol="false" tIns="0" lIns="0" bIns="0" rIns="0">
            <a:spAutoFit/>
          </a:bodyPr>
          <a:lstStyle/>
          <a:p>
            <a:pPr algn="ctr">
              <a:lnSpc>
                <a:spcPts val="2700"/>
              </a:lnSpc>
            </a:pPr>
            <a:r>
              <a:rPr lang="en-US" sz="1800" b="true">
                <a:solidFill>
                  <a:srgbClr val="FFFFFF"/>
                </a:solidFill>
                <a:latin typeface="Calibri (MS) Bold"/>
                <a:ea typeface="Calibri (MS) Bold"/>
                <a:cs typeface="Calibri (MS) Bold"/>
                <a:sym typeface="Calibri (MS) Bold"/>
              </a:rPr>
              <a:t>Alasan &amp; kebutuhan  →  Arsitektur  →  Fitur  →  Uji fungsional  →  Usability (SUS)</a:t>
            </a:r>
          </a:p>
        </p:txBody>
      </p:sp>
      <p:grpSp>
        <p:nvGrpSpPr>
          <p:cNvPr name="Group 13" id="13"/>
          <p:cNvGrpSpPr/>
          <p:nvPr/>
        </p:nvGrpSpPr>
        <p:grpSpPr>
          <a:xfrm rot="0">
            <a:off x="16962120" y="9555480"/>
            <a:ext cx="420624" cy="420624"/>
            <a:chOff x="0" y="0"/>
            <a:chExt cx="560832" cy="560832"/>
          </a:xfrm>
        </p:grpSpPr>
        <p:sp>
          <p:nvSpPr>
            <p:cNvPr name="Freeform 14" id="14"/>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5" id="15"/>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6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Implementasi Aplikasi Berbasis Web</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Alasan pembuatan aplikasi dan kebutuhan pengguna</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0B5E6E"/>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65</a:t>
            </a:r>
          </a:p>
        </p:txBody>
      </p:sp>
      <p:grpSp>
        <p:nvGrpSpPr>
          <p:cNvPr name="Group 67" id="67"/>
          <p:cNvGrpSpPr/>
          <p:nvPr/>
        </p:nvGrpSpPr>
        <p:grpSpPr>
          <a:xfrm rot="0">
            <a:off x="816607" y="2279647"/>
            <a:ext cx="7876537" cy="2390137"/>
            <a:chOff x="0" y="0"/>
            <a:chExt cx="10502049" cy="3186849"/>
          </a:xfrm>
        </p:grpSpPr>
        <p:sp>
          <p:nvSpPr>
            <p:cNvPr name="Freeform 68" id="68"/>
            <p:cNvSpPr/>
            <p:nvPr/>
          </p:nvSpPr>
          <p:spPr>
            <a:xfrm flipH="false" flipV="false" rot="0">
              <a:off x="0" y="0"/>
              <a:ext cx="10502011" cy="3186811"/>
            </a:xfrm>
            <a:custGeom>
              <a:avLst/>
              <a:gdLst/>
              <a:ahLst/>
              <a:cxnLst/>
              <a:rect r="r" b="b" t="t" l="l"/>
              <a:pathLst>
                <a:path h="3186811" w="10502011">
                  <a:moveTo>
                    <a:pt x="0" y="254889"/>
                  </a:moveTo>
                  <a:cubicBezTo>
                    <a:pt x="0" y="114173"/>
                    <a:pt x="114173" y="0"/>
                    <a:pt x="254889" y="0"/>
                  </a:cubicBezTo>
                  <a:lnTo>
                    <a:pt x="10247122" y="0"/>
                  </a:lnTo>
                  <a:cubicBezTo>
                    <a:pt x="10387965" y="0"/>
                    <a:pt x="10502011" y="114173"/>
                    <a:pt x="10502011" y="254889"/>
                  </a:cubicBezTo>
                  <a:lnTo>
                    <a:pt x="10502011" y="2931922"/>
                  </a:lnTo>
                  <a:cubicBezTo>
                    <a:pt x="10502011" y="3072765"/>
                    <a:pt x="10387838" y="3186811"/>
                    <a:pt x="10247122" y="3186811"/>
                  </a:cubicBezTo>
                  <a:lnTo>
                    <a:pt x="254889" y="3186811"/>
                  </a:lnTo>
                  <a:cubicBezTo>
                    <a:pt x="114173" y="3186811"/>
                    <a:pt x="0" y="3072765"/>
                    <a:pt x="0" y="2931922"/>
                  </a:cubicBezTo>
                  <a:close/>
                </a:path>
              </a:pathLst>
            </a:custGeom>
            <a:solidFill>
              <a:srgbClr val="EAF8FA"/>
            </a:solidFill>
            <a:ln w="12700" cap="sq">
              <a:solidFill>
                <a:srgbClr val="CFE5E9"/>
              </a:solidFill>
              <a:prstDash val="solid"/>
              <a:miter/>
            </a:ln>
          </p:spPr>
          <p:txBody>
            <a:bodyPr/>
            <a:p/>
          </p:txBody>
        </p:sp>
        <p:sp>
          <p:nvSpPr>
            <p:cNvPr name="TextBox 69" id="69"/>
            <p:cNvSpPr txBox="true"/>
            <p:nvPr/>
          </p:nvSpPr>
          <p:spPr>
            <a:xfrm>
              <a:off x="0" y="-47625"/>
              <a:ext cx="10502049" cy="3234474"/>
            </a:xfrm>
            <a:prstGeom prst="rect">
              <a:avLst/>
            </a:prstGeom>
          </p:spPr>
          <p:txBody>
            <a:bodyPr anchor="t" rtlCol="false" tIns="50800" lIns="50800" bIns="50800" rIns="50800"/>
            <a:lstStyle/>
            <a:p>
              <a:pPr algn="l">
                <a:lnSpc>
                  <a:spcPts val="2340"/>
                </a:lnSpc>
              </a:pPr>
              <a:r>
                <a:rPr lang="en-US" sz="1950" b="true">
                  <a:solidFill>
                    <a:srgbClr val="E4604F"/>
                  </a:solidFill>
                  <a:latin typeface="Calibri (MS) Bold"/>
                  <a:ea typeface="Calibri (MS) Bold"/>
                  <a:cs typeface="Calibri (MS) Bold"/>
                  <a:sym typeface="Calibri (MS) Bold"/>
                </a:rPr>
                <a:t>Masalah</a:t>
              </a:r>
            </a:p>
            <a:p>
              <a:pPr algn="l">
                <a:lnSpc>
                  <a:spcPts val="2063"/>
                </a:lnSpc>
              </a:pPr>
              <a:r>
                <a:rPr lang="en-US" sz="1719">
                  <a:solidFill>
                    <a:srgbClr val="14313B"/>
                  </a:solidFill>
                  <a:latin typeface="Calibri (MS)"/>
                  <a:ea typeface="Calibri (MS)"/>
                  <a:cs typeface="Calibri (MS)"/>
                  <a:sym typeface="Calibri (MS)"/>
                </a:rPr>
                <a:t>Hasil model biasanya berhenti di grafik statis dan laporan; menjalankan model butuh Vensim dan keahlian pemodelan, sehingga sulit dipakai pemangku kepentingan non-teknis.</a:t>
              </a:r>
            </a:p>
          </p:txBody>
        </p:sp>
      </p:grpSp>
      <p:grpSp>
        <p:nvGrpSpPr>
          <p:cNvPr name="Group 70" id="70"/>
          <p:cNvGrpSpPr/>
          <p:nvPr/>
        </p:nvGrpSpPr>
        <p:grpSpPr>
          <a:xfrm rot="0">
            <a:off x="816607" y="4839967"/>
            <a:ext cx="7876537" cy="2435857"/>
            <a:chOff x="0" y="0"/>
            <a:chExt cx="10502049" cy="3247809"/>
          </a:xfrm>
        </p:grpSpPr>
        <p:sp>
          <p:nvSpPr>
            <p:cNvPr name="Freeform 71" id="71"/>
            <p:cNvSpPr/>
            <p:nvPr/>
          </p:nvSpPr>
          <p:spPr>
            <a:xfrm flipH="false" flipV="false" rot="0">
              <a:off x="0" y="0"/>
              <a:ext cx="10502011" cy="3247771"/>
            </a:xfrm>
            <a:custGeom>
              <a:avLst/>
              <a:gdLst/>
              <a:ahLst/>
              <a:cxnLst/>
              <a:rect r="r" b="b" t="t" l="l"/>
              <a:pathLst>
                <a:path h="3247771" w="10502011">
                  <a:moveTo>
                    <a:pt x="0" y="259842"/>
                  </a:moveTo>
                  <a:cubicBezTo>
                    <a:pt x="0" y="116332"/>
                    <a:pt x="116332" y="0"/>
                    <a:pt x="259842" y="0"/>
                  </a:cubicBezTo>
                  <a:lnTo>
                    <a:pt x="10242169" y="0"/>
                  </a:lnTo>
                  <a:cubicBezTo>
                    <a:pt x="10385678" y="0"/>
                    <a:pt x="10502011" y="116332"/>
                    <a:pt x="10502011" y="259842"/>
                  </a:cubicBezTo>
                  <a:lnTo>
                    <a:pt x="10502011" y="2987929"/>
                  </a:lnTo>
                  <a:cubicBezTo>
                    <a:pt x="10502011" y="3131439"/>
                    <a:pt x="10385678" y="3247771"/>
                    <a:pt x="10242169" y="3247771"/>
                  </a:cubicBezTo>
                  <a:lnTo>
                    <a:pt x="259842" y="3247771"/>
                  </a:lnTo>
                  <a:cubicBezTo>
                    <a:pt x="116332" y="3247771"/>
                    <a:pt x="0" y="3131439"/>
                    <a:pt x="0" y="2987929"/>
                  </a:cubicBezTo>
                  <a:close/>
                </a:path>
              </a:pathLst>
            </a:custGeom>
            <a:solidFill>
              <a:srgbClr val="EAF8FA"/>
            </a:solidFill>
            <a:ln w="12700" cap="sq">
              <a:solidFill>
                <a:srgbClr val="CFE5E9"/>
              </a:solidFill>
              <a:prstDash val="solid"/>
              <a:miter/>
            </a:ln>
          </p:spPr>
          <p:txBody>
            <a:bodyPr/>
            <a:p/>
          </p:txBody>
        </p:sp>
        <p:sp>
          <p:nvSpPr>
            <p:cNvPr name="TextBox 72" id="72"/>
            <p:cNvSpPr txBox="true"/>
            <p:nvPr/>
          </p:nvSpPr>
          <p:spPr>
            <a:xfrm>
              <a:off x="0" y="-47625"/>
              <a:ext cx="10502049" cy="3295434"/>
            </a:xfrm>
            <a:prstGeom prst="rect">
              <a:avLst/>
            </a:prstGeom>
          </p:spPr>
          <p:txBody>
            <a:bodyPr anchor="t" rtlCol="false" tIns="50800" lIns="50800" bIns="50800" rIns="50800"/>
            <a:lstStyle/>
            <a:p>
              <a:pPr algn="l">
                <a:lnSpc>
                  <a:spcPts val="2340"/>
                </a:lnSpc>
              </a:pPr>
              <a:r>
                <a:rPr lang="en-US" sz="1950" b="true">
                  <a:solidFill>
                    <a:srgbClr val="0B5E6E"/>
                  </a:solidFill>
                  <a:latin typeface="Calibri (MS) Bold"/>
                  <a:ea typeface="Calibri (MS) Bold"/>
                  <a:cs typeface="Calibri (MS) Bold"/>
                  <a:sym typeface="Calibri (MS) Bold"/>
                </a:rPr>
                <a:t>Prinsip rancangan</a:t>
              </a:r>
            </a:p>
            <a:p>
              <a:pPr algn="l">
                <a:lnSpc>
                  <a:spcPts val="2063"/>
                </a:lnSpc>
              </a:pPr>
              <a:r>
                <a:rPr lang="en-US" sz="1719">
                  <a:solidFill>
                    <a:srgbClr val="14313B"/>
                  </a:solidFill>
                  <a:latin typeface="Calibri (MS)"/>
                  <a:ea typeface="Calibri (MS)"/>
                  <a:cs typeface="Calibri (MS)"/>
                  <a:sym typeface="Calibri (MS)"/>
                </a:rPr>
                <a:t>Model sistem dinamis tetap menjadi sumber logika perhitungan; antarmuka hanya lapisan interaksi (menerima masukan, meneruskan ke model, menampilkan keluaran). Konsep decision support system (Power, 2002).</a:t>
              </a:r>
            </a:p>
          </p:txBody>
        </p:sp>
      </p:grpSp>
      <p:graphicFrame>
        <p:nvGraphicFramePr>
          <p:cNvPr name="Table 73" id="73"/>
          <p:cNvGraphicFramePr>
            <a:graphicFrameLocks noGrp="true"/>
          </p:cNvGraphicFramePr>
          <p:nvPr/>
        </p:nvGraphicFramePr>
        <p:xfrm>
          <a:off x="9052560" y="2286000"/>
          <a:ext cx="8394700" cy="4876800"/>
        </p:xfrm>
        <a:graphic>
          <a:graphicData uri="http://schemas.openxmlformats.org/drawingml/2006/table">
            <a:tbl>
              <a:tblPr/>
              <a:tblGrid>
                <a:gridCol w="4014857"/>
                <a:gridCol w="4379843"/>
              </a:tblGrid>
              <a:tr h="812800">
                <a:tc>
                  <a:txBody>
                    <a:bodyPr anchor="t" rtlCol="false"/>
                    <a:lstStyle/>
                    <a:p>
                      <a:pPr algn="l">
                        <a:lnSpc>
                          <a:spcPts val="1860"/>
                        </a:lnSpc>
                        <a:defRPr/>
                      </a:pPr>
                      <a:r>
                        <a:rPr lang="en-US" sz="1550" b="true">
                          <a:solidFill>
                            <a:srgbClr val="FFFFFF"/>
                          </a:solidFill>
                          <a:latin typeface="Calibri (MS) Bold"/>
                          <a:ea typeface="Calibri (MS) Bold"/>
                          <a:cs typeface="Calibri (MS) Bold"/>
                          <a:sym typeface="Calibri (MS) Bold"/>
                        </a:rPr>
                        <a:t>Kebutuhan pengguna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860"/>
                        </a:lnSpc>
                        <a:defRPr/>
                      </a:pPr>
                      <a:r>
                        <a:rPr lang="en-US" sz="1550" b="true">
                          <a:solidFill>
                            <a:srgbClr val="FFFFFF"/>
                          </a:solidFill>
                          <a:latin typeface="Calibri (MS) Bold"/>
                          <a:ea typeface="Calibri (MS) Bold"/>
                          <a:cs typeface="Calibri (MS) Bold"/>
                          <a:sym typeface="Calibri (MS) Bold"/>
                        </a:rPr>
                        <a:t>Fitur yang menjawab</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r>
              <a:tr h="812800">
                <a:tc>
                  <a:txBody>
                    <a:bodyPr anchor="t" rtlCol="false"/>
                    <a:lstStyle/>
                    <a:p>
                      <a:pPr algn="l">
                        <a:lnSpc>
                          <a:spcPts val="1860"/>
                        </a:lnSpc>
                        <a:defRPr/>
                      </a:pPr>
                      <a:r>
                        <a:rPr lang="en-US" sz="1550">
                          <a:solidFill>
                            <a:srgbClr val="14313B"/>
                          </a:solidFill>
                          <a:latin typeface="Calibri (MS)"/>
                          <a:ea typeface="Calibri (MS)"/>
                          <a:cs typeface="Calibri (MS)"/>
                          <a:sym typeface="Calibri (MS)"/>
                        </a:rPr>
                        <a:t>Memahami dasar model dan keabsahannya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Halaman Model: struktur &amp; evaluasi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812800">
                <a:tc>
                  <a:txBody>
                    <a:bodyPr anchor="t" rtlCol="false"/>
                    <a:lstStyle/>
                    <a:p>
                      <a:pPr algn="l">
                        <a:lnSpc>
                          <a:spcPts val="1860"/>
                        </a:lnSpc>
                        <a:defRPr/>
                      </a:pPr>
                      <a:r>
                        <a:rPr lang="en-US" sz="1550">
                          <a:solidFill>
                            <a:srgbClr val="14313B"/>
                          </a:solidFill>
                          <a:latin typeface="Calibri (MS)"/>
                          <a:ea typeface="Calibri (MS)"/>
                          <a:cs typeface="Calibri (MS)"/>
                          <a:sym typeface="Calibri (MS)"/>
                        </a:rPr>
                        <a:t>Membandingkan pilihan kebijakan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Halaman Skenario: BAU, Sustainable, DP + bandingkan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812800">
                <a:tc>
                  <a:txBody>
                    <a:bodyPr anchor="t" rtlCol="false"/>
                    <a:lstStyle/>
                    <a:p>
                      <a:pPr algn="l">
                        <a:lnSpc>
                          <a:spcPts val="1860"/>
                        </a:lnSpc>
                        <a:defRPr/>
                      </a:pPr>
                      <a:r>
                        <a:rPr lang="en-US" sz="1550">
                          <a:solidFill>
                            <a:srgbClr val="14313B"/>
                          </a:solidFill>
                          <a:latin typeface="Calibri (MS)"/>
                          <a:ea typeface="Calibri (MS)"/>
                          <a:cs typeface="Calibri (MS)"/>
                          <a:sym typeface="Calibri (MS)"/>
                        </a:rPr>
                        <a:t>Mencoba nilai kebijakan sendiri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Halaman Simulasi: atur 2 variabel kebijakan, pilih variabel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812800">
                <a:tc>
                  <a:txBody>
                    <a:bodyPr anchor="t" rtlCol="false"/>
                    <a:lstStyle/>
                    <a:p>
                      <a:pPr algn="l">
                        <a:lnSpc>
                          <a:spcPts val="1860"/>
                        </a:lnSpc>
                        <a:defRPr/>
                      </a:pPr>
                      <a:r>
                        <a:rPr lang="en-US" sz="1550">
                          <a:solidFill>
                            <a:srgbClr val="14313B"/>
                          </a:solidFill>
                          <a:latin typeface="Calibri (MS)"/>
                          <a:ea typeface="Calibri (MS)"/>
                          <a:cs typeface="Calibri (MS)"/>
                          <a:sym typeface="Calibri (MS)"/>
                        </a:rPr>
                        <a:t>Akses tanpa instalasi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Aplikasi web (Vercel), model berjalan di peramban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812800">
                <a:tc>
                  <a:txBody>
                    <a:bodyPr anchor="t" rtlCol="false"/>
                    <a:lstStyle/>
                    <a:p>
                      <a:pPr algn="l">
                        <a:lnSpc>
                          <a:spcPts val="1860"/>
                        </a:lnSpc>
                        <a:defRPr/>
                      </a:pPr>
                      <a:r>
                        <a:rPr lang="en-US" sz="1550">
                          <a:solidFill>
                            <a:srgbClr val="14313B"/>
                          </a:solidFill>
                          <a:latin typeface="Calibri (MS)"/>
                          <a:ea typeface="Calibri (MS)"/>
                          <a:cs typeface="Calibri (MS)"/>
                          <a:sym typeface="Calibri (MS)"/>
                        </a:rPr>
                        <a:t>Evaluasi kualitas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Black-box (ISO/IEC 25010) + SUS (ISO 9241-11)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bl>
          </a:graphicData>
        </a:graphic>
      </p:graphicFrame>
      <p:grpSp>
        <p:nvGrpSpPr>
          <p:cNvPr name="Group 74" id="74"/>
          <p:cNvGrpSpPr/>
          <p:nvPr/>
        </p:nvGrpSpPr>
        <p:grpSpPr>
          <a:xfrm rot="0">
            <a:off x="816607" y="7491727"/>
            <a:ext cx="16654777" cy="835657"/>
            <a:chOff x="0" y="0"/>
            <a:chExt cx="22206369" cy="1114209"/>
          </a:xfrm>
        </p:grpSpPr>
        <p:sp>
          <p:nvSpPr>
            <p:cNvPr name="Freeform 75" id="75"/>
            <p:cNvSpPr/>
            <p:nvPr/>
          </p:nvSpPr>
          <p:spPr>
            <a:xfrm flipH="false" flipV="false" rot="0">
              <a:off x="0" y="0"/>
              <a:ext cx="22206458" cy="1114298"/>
            </a:xfrm>
            <a:custGeom>
              <a:avLst/>
              <a:gdLst/>
              <a:ahLst/>
              <a:cxnLst/>
              <a:rect r="r" b="b" t="t" l="l"/>
              <a:pathLst>
                <a:path h="1114298" w="22206458">
                  <a:moveTo>
                    <a:pt x="0" y="89154"/>
                  </a:moveTo>
                  <a:cubicBezTo>
                    <a:pt x="0" y="39878"/>
                    <a:pt x="39878" y="0"/>
                    <a:pt x="89154" y="0"/>
                  </a:cubicBezTo>
                  <a:lnTo>
                    <a:pt x="22117304" y="0"/>
                  </a:lnTo>
                  <a:cubicBezTo>
                    <a:pt x="22166580" y="0"/>
                    <a:pt x="22206458" y="39878"/>
                    <a:pt x="22206458" y="89154"/>
                  </a:cubicBezTo>
                  <a:lnTo>
                    <a:pt x="22206458" y="1025144"/>
                  </a:lnTo>
                  <a:cubicBezTo>
                    <a:pt x="22206458" y="1074420"/>
                    <a:pt x="22166580" y="1114298"/>
                    <a:pt x="22117304" y="1114298"/>
                  </a:cubicBezTo>
                  <a:lnTo>
                    <a:pt x="89154" y="1114298"/>
                  </a:lnTo>
                  <a:cubicBezTo>
                    <a:pt x="39878" y="1114171"/>
                    <a:pt x="0" y="1074293"/>
                    <a:pt x="0" y="1025017"/>
                  </a:cubicBezTo>
                  <a:close/>
                </a:path>
              </a:pathLst>
            </a:custGeom>
            <a:solidFill>
              <a:srgbClr val="FFF1BF"/>
            </a:solidFill>
            <a:ln w="12700" cap="sq">
              <a:solidFill>
                <a:srgbClr val="FFD23B"/>
              </a:solidFill>
              <a:prstDash val="solid"/>
              <a:miter/>
            </a:ln>
          </p:spPr>
          <p:txBody>
            <a:bodyPr/>
            <a:p/>
          </p:txBody>
        </p:sp>
        <p:sp>
          <p:nvSpPr>
            <p:cNvPr name="TextBox 76" id="76"/>
            <p:cNvSpPr txBox="true"/>
            <p:nvPr/>
          </p:nvSpPr>
          <p:spPr>
            <a:xfrm>
              <a:off x="0" y="-38100"/>
              <a:ext cx="22206369" cy="115230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Aplikasi menjembatani model ilmiah dengan kebutuhan Pemda DIY, Dinas Pariwisata, dan pemangku kepentingan tanpa keahlian pemodelan.</a:t>
              </a:r>
            </a:p>
          </p:txBody>
        </p:sp>
      </p:grpSp>
      <p:grpSp>
        <p:nvGrpSpPr>
          <p:cNvPr name="Group 77" id="77"/>
          <p:cNvGrpSpPr/>
          <p:nvPr/>
        </p:nvGrpSpPr>
        <p:grpSpPr>
          <a:xfrm rot="0">
            <a:off x="16047720" y="9646920"/>
            <a:ext cx="420624" cy="420624"/>
            <a:chOff x="0" y="0"/>
            <a:chExt cx="560832" cy="560832"/>
          </a:xfrm>
        </p:grpSpPr>
        <p:sp>
          <p:nvSpPr>
            <p:cNvPr name="Freeform 78" id="78"/>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79" id="79"/>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6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Arsitektur dan Implementasi Aplikasi</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Model dapat dicoba langsung tanpa software pemodelan</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0B5E6E"/>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pSp>
        <p:nvGrpSpPr>
          <p:cNvPr name="Group 66" id="66"/>
          <p:cNvGrpSpPr/>
          <p:nvPr/>
        </p:nvGrpSpPr>
        <p:grpSpPr>
          <a:xfrm rot="0">
            <a:off x="822960" y="2400300"/>
            <a:ext cx="2674620" cy="1783080"/>
            <a:chOff x="0" y="0"/>
            <a:chExt cx="3566160" cy="2377440"/>
          </a:xfrm>
        </p:grpSpPr>
        <p:sp>
          <p:nvSpPr>
            <p:cNvPr name="Freeform 67" id="67"/>
            <p:cNvSpPr/>
            <p:nvPr/>
          </p:nvSpPr>
          <p:spPr>
            <a:xfrm flipH="false" flipV="false" rot="0">
              <a:off x="0" y="0"/>
              <a:ext cx="3566160" cy="2377440"/>
            </a:xfrm>
            <a:custGeom>
              <a:avLst/>
              <a:gdLst/>
              <a:ahLst/>
              <a:cxnLst/>
              <a:rect r="r" b="b" t="t" l="l"/>
              <a:pathLst>
                <a:path h="2377440" w="3566160">
                  <a:moveTo>
                    <a:pt x="0" y="182880"/>
                  </a:moveTo>
                  <a:cubicBezTo>
                    <a:pt x="0" y="81915"/>
                    <a:pt x="81915" y="0"/>
                    <a:pt x="182880" y="0"/>
                  </a:cubicBezTo>
                  <a:lnTo>
                    <a:pt x="3383280" y="0"/>
                  </a:lnTo>
                  <a:cubicBezTo>
                    <a:pt x="3484245" y="0"/>
                    <a:pt x="3566160" y="81915"/>
                    <a:pt x="3566160" y="182880"/>
                  </a:cubicBezTo>
                  <a:lnTo>
                    <a:pt x="3566160" y="2194560"/>
                  </a:lnTo>
                  <a:cubicBezTo>
                    <a:pt x="3566160" y="2295525"/>
                    <a:pt x="3484245" y="2377440"/>
                    <a:pt x="3383280" y="2377440"/>
                  </a:cubicBezTo>
                  <a:lnTo>
                    <a:pt x="182880" y="2377440"/>
                  </a:lnTo>
                  <a:cubicBezTo>
                    <a:pt x="81915" y="2377440"/>
                    <a:pt x="0" y="2295525"/>
                    <a:pt x="0" y="2194560"/>
                  </a:cubicBezTo>
                  <a:close/>
                </a:path>
              </a:pathLst>
            </a:custGeom>
            <a:solidFill>
              <a:srgbClr val="EAF8FA"/>
            </a:solidFill>
          </p:spPr>
          <p:txBody>
            <a:bodyPr/>
            <a:p/>
          </p:txBody>
        </p:sp>
      </p:grpSp>
      <p:grpSp>
        <p:nvGrpSpPr>
          <p:cNvPr name="Group 68" id="68"/>
          <p:cNvGrpSpPr/>
          <p:nvPr/>
        </p:nvGrpSpPr>
        <p:grpSpPr>
          <a:xfrm rot="0">
            <a:off x="960120" y="2537460"/>
            <a:ext cx="2400300" cy="685800"/>
            <a:chOff x="0" y="0"/>
            <a:chExt cx="3200400" cy="914400"/>
          </a:xfrm>
        </p:grpSpPr>
        <p:sp>
          <p:nvSpPr>
            <p:cNvPr name="Freeform 69" id="69"/>
            <p:cNvSpPr/>
            <p:nvPr/>
          </p:nvSpPr>
          <p:spPr>
            <a:xfrm flipH="false" flipV="false" rot="0">
              <a:off x="0" y="0"/>
              <a:ext cx="3200400" cy="914400"/>
            </a:xfrm>
            <a:custGeom>
              <a:avLst/>
              <a:gdLst/>
              <a:ahLst/>
              <a:cxnLst/>
              <a:rect r="r" b="b" t="t" l="l"/>
              <a:pathLst>
                <a:path h="914400" w="3200400">
                  <a:moveTo>
                    <a:pt x="0" y="0"/>
                  </a:moveTo>
                  <a:lnTo>
                    <a:pt x="3200400" y="0"/>
                  </a:lnTo>
                  <a:lnTo>
                    <a:pt x="3200400" y="914400"/>
                  </a:lnTo>
                  <a:lnTo>
                    <a:pt x="0" y="914400"/>
                  </a:lnTo>
                  <a:close/>
                </a:path>
              </a:pathLst>
            </a:custGeom>
            <a:blipFill>
              <a:blip r:embed="rId4">
                <a:alphaModFix amt="0"/>
              </a:blip>
              <a:stretch>
                <a:fillRect l="0" t="-18150" r="0" b="-18149"/>
              </a:stretch>
            </a:blipFill>
          </p:spPr>
          <p:txBody>
            <a:bodyPr/>
            <a:p/>
          </p:txBody>
        </p:sp>
      </p:grpSp>
      <p:grpSp>
        <p:nvGrpSpPr>
          <p:cNvPr name="Group 70" id="70"/>
          <p:cNvGrpSpPr/>
          <p:nvPr/>
        </p:nvGrpSpPr>
        <p:grpSpPr>
          <a:xfrm rot="0">
            <a:off x="960120" y="2494598"/>
            <a:ext cx="2400300" cy="728662"/>
            <a:chOff x="0" y="0"/>
            <a:chExt cx="3200400" cy="971550"/>
          </a:xfrm>
        </p:grpSpPr>
        <p:sp>
          <p:nvSpPr>
            <p:cNvPr name="Freeform 71" id="71"/>
            <p:cNvSpPr/>
            <p:nvPr/>
          </p:nvSpPr>
          <p:spPr>
            <a:xfrm flipH="false" flipV="false" rot="0">
              <a:off x="0" y="0"/>
              <a:ext cx="3200400" cy="971550"/>
            </a:xfrm>
            <a:custGeom>
              <a:avLst/>
              <a:gdLst/>
              <a:ahLst/>
              <a:cxnLst/>
              <a:rect r="r" b="b" t="t" l="l"/>
              <a:pathLst>
                <a:path h="971550" w="3200400">
                  <a:moveTo>
                    <a:pt x="0" y="0"/>
                  </a:moveTo>
                  <a:lnTo>
                    <a:pt x="3200400" y="0"/>
                  </a:lnTo>
                  <a:lnTo>
                    <a:pt x="3200400" y="971550"/>
                  </a:lnTo>
                  <a:lnTo>
                    <a:pt x="0" y="971550"/>
                  </a:lnTo>
                  <a:close/>
                </a:path>
              </a:pathLst>
            </a:custGeom>
            <a:blipFill>
              <a:blip r:embed="rId5">
                <a:alphaModFix amt="0"/>
              </a:blip>
              <a:stretch>
                <a:fillRect l="0" t="-14141" r="0" b="-14141"/>
              </a:stretch>
            </a:blipFill>
          </p:spPr>
          <p:txBody>
            <a:bodyPr/>
            <a:p/>
          </p:txBody>
        </p:sp>
      </p:grpSp>
      <p:grpSp>
        <p:nvGrpSpPr>
          <p:cNvPr name="Group 72" id="72"/>
          <p:cNvGrpSpPr/>
          <p:nvPr/>
        </p:nvGrpSpPr>
        <p:grpSpPr>
          <a:xfrm rot="0">
            <a:off x="960120" y="2451735"/>
            <a:ext cx="2400300" cy="771525"/>
            <a:chOff x="0" y="0"/>
            <a:chExt cx="3200400" cy="1028700"/>
          </a:xfrm>
        </p:grpSpPr>
        <p:sp>
          <p:nvSpPr>
            <p:cNvPr name="Freeform 73" id="73"/>
            <p:cNvSpPr/>
            <p:nvPr/>
          </p:nvSpPr>
          <p:spPr>
            <a:xfrm flipH="false" flipV="false" rot="0">
              <a:off x="0" y="0"/>
              <a:ext cx="3200400" cy="1028699"/>
            </a:xfrm>
            <a:custGeom>
              <a:avLst/>
              <a:gdLst/>
              <a:ahLst/>
              <a:cxnLst/>
              <a:rect r="r" b="b" t="t" l="l"/>
              <a:pathLst>
                <a:path h="1028699" w="3200400">
                  <a:moveTo>
                    <a:pt x="0" y="0"/>
                  </a:moveTo>
                  <a:lnTo>
                    <a:pt x="3200400" y="0"/>
                  </a:lnTo>
                  <a:lnTo>
                    <a:pt x="3200400" y="1028699"/>
                  </a:lnTo>
                  <a:lnTo>
                    <a:pt x="0" y="1028699"/>
                  </a:lnTo>
                  <a:close/>
                </a:path>
              </a:pathLst>
            </a:custGeom>
            <a:blipFill>
              <a:blip r:embed="rId6">
                <a:alphaModFix amt="0"/>
              </a:blip>
              <a:stretch>
                <a:fillRect l="0" t="-10620" r="0" b="-10620"/>
              </a:stretch>
            </a:blipFill>
          </p:spPr>
          <p:txBody>
            <a:bodyPr/>
            <a:p/>
          </p:txBody>
        </p:sp>
        <p:sp>
          <p:nvSpPr>
            <p:cNvPr name="TextBox 74" id="74"/>
            <p:cNvSpPr txBox="true"/>
            <p:nvPr/>
          </p:nvSpPr>
          <p:spPr>
            <a:xfrm>
              <a:off x="0" y="-57150"/>
              <a:ext cx="3200400" cy="1085850"/>
            </a:xfrm>
            <a:prstGeom prst="rect">
              <a:avLst/>
            </a:prstGeom>
          </p:spPr>
          <p:txBody>
            <a:bodyPr anchor="ctr" rtlCol="false" tIns="0" lIns="0" bIns="0" rIns="0"/>
            <a:lstStyle/>
            <a:p>
              <a:pPr algn="ctr">
                <a:lnSpc>
                  <a:spcPts val="2700"/>
                </a:lnSpc>
              </a:pPr>
              <a:r>
                <a:rPr lang="en-US" sz="2250" b="true">
                  <a:solidFill>
                    <a:srgbClr val="0B5E6E"/>
                  </a:solidFill>
                  <a:latin typeface="Calibri (MS) Bold"/>
                  <a:ea typeface="Calibri (MS) Bold"/>
                  <a:cs typeface="Calibri (MS) Bold"/>
                  <a:sym typeface="Calibri (MS) Bold"/>
                </a:rPr>
                <a:t>Model Vensim</a:t>
              </a:r>
            </a:p>
          </p:txBody>
        </p:sp>
      </p:grpSp>
      <p:sp>
        <p:nvSpPr>
          <p:cNvPr name="AutoShape 75" id="75"/>
          <p:cNvSpPr/>
          <p:nvPr/>
        </p:nvSpPr>
        <p:spPr>
          <a:xfrm rot="181380">
            <a:off x="3488426" y="3258503"/>
            <a:ext cx="361217" cy="0"/>
          </a:xfrm>
          <a:prstGeom prst="line">
            <a:avLst/>
          </a:prstGeom>
          <a:ln cap="rnd" w="19050">
            <a:solidFill>
              <a:srgbClr val="39C0D3"/>
            </a:solidFill>
            <a:prstDash val="solid"/>
            <a:headEnd type="none" len="sm" w="sm"/>
            <a:tailEnd type="triangle" len="med" w="lg"/>
          </a:ln>
        </p:spPr>
        <p:txBody>
          <a:bodyPr/>
          <a:p/>
        </p:txBody>
      </p:sp>
      <p:grpSp>
        <p:nvGrpSpPr>
          <p:cNvPr name="Group 76" id="76"/>
          <p:cNvGrpSpPr/>
          <p:nvPr/>
        </p:nvGrpSpPr>
        <p:grpSpPr>
          <a:xfrm rot="0">
            <a:off x="3840480" y="2400300"/>
            <a:ext cx="2674620" cy="1783080"/>
            <a:chOff x="0" y="0"/>
            <a:chExt cx="3566160" cy="2377440"/>
          </a:xfrm>
        </p:grpSpPr>
        <p:sp>
          <p:nvSpPr>
            <p:cNvPr name="Freeform 77" id="77"/>
            <p:cNvSpPr/>
            <p:nvPr/>
          </p:nvSpPr>
          <p:spPr>
            <a:xfrm flipH="false" flipV="false" rot="0">
              <a:off x="0" y="0"/>
              <a:ext cx="3566160" cy="2377440"/>
            </a:xfrm>
            <a:custGeom>
              <a:avLst/>
              <a:gdLst/>
              <a:ahLst/>
              <a:cxnLst/>
              <a:rect r="r" b="b" t="t" l="l"/>
              <a:pathLst>
                <a:path h="2377440" w="3566160">
                  <a:moveTo>
                    <a:pt x="0" y="182880"/>
                  </a:moveTo>
                  <a:cubicBezTo>
                    <a:pt x="0" y="81915"/>
                    <a:pt x="81915" y="0"/>
                    <a:pt x="182880" y="0"/>
                  </a:cubicBezTo>
                  <a:lnTo>
                    <a:pt x="3383280" y="0"/>
                  </a:lnTo>
                  <a:cubicBezTo>
                    <a:pt x="3484245" y="0"/>
                    <a:pt x="3566160" y="81915"/>
                    <a:pt x="3566160" y="182880"/>
                  </a:cubicBezTo>
                  <a:lnTo>
                    <a:pt x="3566160" y="2194560"/>
                  </a:lnTo>
                  <a:cubicBezTo>
                    <a:pt x="3566160" y="2295525"/>
                    <a:pt x="3484245" y="2377440"/>
                    <a:pt x="3383280" y="2377440"/>
                  </a:cubicBezTo>
                  <a:lnTo>
                    <a:pt x="182880" y="2377440"/>
                  </a:lnTo>
                  <a:cubicBezTo>
                    <a:pt x="81915" y="2377440"/>
                    <a:pt x="0" y="2295525"/>
                    <a:pt x="0" y="2194560"/>
                  </a:cubicBezTo>
                  <a:close/>
                </a:path>
              </a:pathLst>
            </a:custGeom>
            <a:solidFill>
              <a:srgbClr val="EAF8FA"/>
            </a:solidFill>
          </p:spPr>
          <p:txBody>
            <a:bodyPr/>
            <a:p/>
          </p:txBody>
        </p:sp>
      </p:grpSp>
      <p:grpSp>
        <p:nvGrpSpPr>
          <p:cNvPr name="Group 78" id="78"/>
          <p:cNvGrpSpPr/>
          <p:nvPr/>
        </p:nvGrpSpPr>
        <p:grpSpPr>
          <a:xfrm rot="0">
            <a:off x="3977640" y="2537460"/>
            <a:ext cx="2400300" cy="685800"/>
            <a:chOff x="0" y="0"/>
            <a:chExt cx="3200400" cy="914400"/>
          </a:xfrm>
        </p:grpSpPr>
        <p:sp>
          <p:nvSpPr>
            <p:cNvPr name="Freeform 79" id="79"/>
            <p:cNvSpPr/>
            <p:nvPr/>
          </p:nvSpPr>
          <p:spPr>
            <a:xfrm flipH="false" flipV="false" rot="0">
              <a:off x="0" y="0"/>
              <a:ext cx="3200400" cy="914400"/>
            </a:xfrm>
            <a:custGeom>
              <a:avLst/>
              <a:gdLst/>
              <a:ahLst/>
              <a:cxnLst/>
              <a:rect r="r" b="b" t="t" l="l"/>
              <a:pathLst>
                <a:path h="914400" w="3200400">
                  <a:moveTo>
                    <a:pt x="0" y="0"/>
                  </a:moveTo>
                  <a:lnTo>
                    <a:pt x="3200400" y="0"/>
                  </a:lnTo>
                  <a:lnTo>
                    <a:pt x="3200400" y="914400"/>
                  </a:lnTo>
                  <a:lnTo>
                    <a:pt x="0" y="914400"/>
                  </a:lnTo>
                  <a:close/>
                </a:path>
              </a:pathLst>
            </a:custGeom>
            <a:blipFill>
              <a:blip r:embed="rId4">
                <a:alphaModFix amt="0"/>
              </a:blip>
              <a:stretch>
                <a:fillRect l="0" t="-18150" r="0" b="-18149"/>
              </a:stretch>
            </a:blipFill>
          </p:spPr>
          <p:txBody>
            <a:bodyPr/>
            <a:p/>
          </p:txBody>
        </p:sp>
      </p:grpSp>
      <p:grpSp>
        <p:nvGrpSpPr>
          <p:cNvPr name="Group 80" id="80"/>
          <p:cNvGrpSpPr/>
          <p:nvPr/>
        </p:nvGrpSpPr>
        <p:grpSpPr>
          <a:xfrm rot="0">
            <a:off x="3977640" y="2494598"/>
            <a:ext cx="2400300" cy="728662"/>
            <a:chOff x="0" y="0"/>
            <a:chExt cx="3200400" cy="971550"/>
          </a:xfrm>
        </p:grpSpPr>
        <p:sp>
          <p:nvSpPr>
            <p:cNvPr name="Freeform 81" id="81"/>
            <p:cNvSpPr/>
            <p:nvPr/>
          </p:nvSpPr>
          <p:spPr>
            <a:xfrm flipH="false" flipV="false" rot="0">
              <a:off x="0" y="0"/>
              <a:ext cx="3200400" cy="971550"/>
            </a:xfrm>
            <a:custGeom>
              <a:avLst/>
              <a:gdLst/>
              <a:ahLst/>
              <a:cxnLst/>
              <a:rect r="r" b="b" t="t" l="l"/>
              <a:pathLst>
                <a:path h="971550" w="3200400">
                  <a:moveTo>
                    <a:pt x="0" y="0"/>
                  </a:moveTo>
                  <a:lnTo>
                    <a:pt x="3200400" y="0"/>
                  </a:lnTo>
                  <a:lnTo>
                    <a:pt x="3200400" y="971550"/>
                  </a:lnTo>
                  <a:lnTo>
                    <a:pt x="0" y="971550"/>
                  </a:lnTo>
                  <a:close/>
                </a:path>
              </a:pathLst>
            </a:custGeom>
            <a:blipFill>
              <a:blip r:embed="rId5">
                <a:alphaModFix amt="0"/>
              </a:blip>
              <a:stretch>
                <a:fillRect l="0" t="-14141" r="0" b="-14141"/>
              </a:stretch>
            </a:blipFill>
          </p:spPr>
          <p:txBody>
            <a:bodyPr/>
            <a:p/>
          </p:txBody>
        </p:sp>
      </p:grpSp>
      <p:grpSp>
        <p:nvGrpSpPr>
          <p:cNvPr name="Group 82" id="82"/>
          <p:cNvGrpSpPr/>
          <p:nvPr/>
        </p:nvGrpSpPr>
        <p:grpSpPr>
          <a:xfrm rot="0">
            <a:off x="3977640" y="2451735"/>
            <a:ext cx="2400300" cy="771525"/>
            <a:chOff x="0" y="0"/>
            <a:chExt cx="3200400" cy="1028700"/>
          </a:xfrm>
        </p:grpSpPr>
        <p:sp>
          <p:nvSpPr>
            <p:cNvPr name="Freeform 83" id="83"/>
            <p:cNvSpPr/>
            <p:nvPr/>
          </p:nvSpPr>
          <p:spPr>
            <a:xfrm flipH="false" flipV="false" rot="0">
              <a:off x="0" y="0"/>
              <a:ext cx="3200400" cy="1028699"/>
            </a:xfrm>
            <a:custGeom>
              <a:avLst/>
              <a:gdLst/>
              <a:ahLst/>
              <a:cxnLst/>
              <a:rect r="r" b="b" t="t" l="l"/>
              <a:pathLst>
                <a:path h="1028699" w="3200400">
                  <a:moveTo>
                    <a:pt x="0" y="0"/>
                  </a:moveTo>
                  <a:lnTo>
                    <a:pt x="3200400" y="0"/>
                  </a:lnTo>
                  <a:lnTo>
                    <a:pt x="3200400" y="1028699"/>
                  </a:lnTo>
                  <a:lnTo>
                    <a:pt x="0" y="1028699"/>
                  </a:lnTo>
                  <a:close/>
                </a:path>
              </a:pathLst>
            </a:custGeom>
            <a:blipFill>
              <a:blip r:embed="rId6">
                <a:alphaModFix amt="0"/>
              </a:blip>
              <a:stretch>
                <a:fillRect l="0" t="-10620" r="0" b="-10620"/>
              </a:stretch>
            </a:blipFill>
          </p:spPr>
          <p:txBody>
            <a:bodyPr/>
            <a:p/>
          </p:txBody>
        </p:sp>
        <p:sp>
          <p:nvSpPr>
            <p:cNvPr name="TextBox 84" id="84"/>
            <p:cNvSpPr txBox="true"/>
            <p:nvPr/>
          </p:nvSpPr>
          <p:spPr>
            <a:xfrm>
              <a:off x="0" y="-57150"/>
              <a:ext cx="3200400" cy="1085850"/>
            </a:xfrm>
            <a:prstGeom prst="rect">
              <a:avLst/>
            </a:prstGeom>
          </p:spPr>
          <p:txBody>
            <a:bodyPr anchor="ctr" rtlCol="false" tIns="0" lIns="0" bIns="0" rIns="0"/>
            <a:lstStyle/>
            <a:p>
              <a:pPr algn="ctr">
                <a:lnSpc>
                  <a:spcPts val="2700"/>
                </a:lnSpc>
              </a:pPr>
              <a:r>
                <a:rPr lang="en-US" sz="2250" b="true">
                  <a:solidFill>
                    <a:srgbClr val="0B5E6E"/>
                  </a:solidFill>
                  <a:latin typeface="Calibri (MS) Bold"/>
                  <a:ea typeface="Calibri (MS) Bold"/>
                  <a:cs typeface="Calibri (MS) Bold"/>
                  <a:sym typeface="Calibri (MS) Bold"/>
                </a:rPr>
                <a:t>SDEverywhere</a:t>
              </a:r>
            </a:p>
          </p:txBody>
        </p:sp>
      </p:grpSp>
      <p:sp>
        <p:nvSpPr>
          <p:cNvPr name="TextBox 85" id="85"/>
          <p:cNvSpPr txBox="true"/>
          <p:nvPr/>
        </p:nvSpPr>
        <p:spPr>
          <a:xfrm rot="0">
            <a:off x="3977640" y="3137535"/>
            <a:ext cx="2400300" cy="977265"/>
          </a:xfrm>
          <a:prstGeom prst="rect">
            <a:avLst/>
          </a:prstGeom>
        </p:spPr>
        <p:txBody>
          <a:bodyPr anchor="t" rtlCol="false" tIns="0" lIns="0" bIns="0" rIns="0">
            <a:spAutoFit/>
          </a:bodyPr>
          <a:lstStyle/>
          <a:p>
            <a:pPr algn="ctr">
              <a:lnSpc>
                <a:spcPts val="1980"/>
              </a:lnSpc>
            </a:pPr>
            <a:r>
              <a:rPr lang="en-US" sz="1650">
                <a:solidFill>
                  <a:srgbClr val="5E6E78"/>
                </a:solidFill>
                <a:latin typeface="Calibri (MS)"/>
                <a:ea typeface="Calibri (MS)"/>
                <a:cs typeface="Calibri (MS)"/>
                <a:sym typeface="Calibri (MS)"/>
              </a:rPr>
              <a:t>konversi ke kode web</a:t>
            </a:r>
          </a:p>
        </p:txBody>
      </p:sp>
      <p:sp>
        <p:nvSpPr>
          <p:cNvPr name="AutoShape 86" id="86"/>
          <p:cNvSpPr/>
          <p:nvPr/>
        </p:nvSpPr>
        <p:spPr>
          <a:xfrm rot="181380">
            <a:off x="6505946" y="3258503"/>
            <a:ext cx="361217" cy="0"/>
          </a:xfrm>
          <a:prstGeom prst="line">
            <a:avLst/>
          </a:prstGeom>
          <a:ln cap="rnd" w="19050">
            <a:solidFill>
              <a:srgbClr val="39C0D3"/>
            </a:solidFill>
            <a:prstDash val="solid"/>
            <a:headEnd type="none" len="sm" w="sm"/>
            <a:tailEnd type="triangle" len="med" w="lg"/>
          </a:ln>
        </p:spPr>
        <p:txBody>
          <a:bodyPr/>
          <a:p/>
        </p:txBody>
      </p:sp>
      <p:grpSp>
        <p:nvGrpSpPr>
          <p:cNvPr name="Group 87" id="87"/>
          <p:cNvGrpSpPr/>
          <p:nvPr/>
        </p:nvGrpSpPr>
        <p:grpSpPr>
          <a:xfrm rot="0">
            <a:off x="6858000" y="2400300"/>
            <a:ext cx="2674620" cy="1783080"/>
            <a:chOff x="0" y="0"/>
            <a:chExt cx="3566160" cy="2377440"/>
          </a:xfrm>
        </p:grpSpPr>
        <p:sp>
          <p:nvSpPr>
            <p:cNvPr name="Freeform 88" id="88"/>
            <p:cNvSpPr/>
            <p:nvPr/>
          </p:nvSpPr>
          <p:spPr>
            <a:xfrm flipH="false" flipV="false" rot="0">
              <a:off x="0" y="0"/>
              <a:ext cx="3566160" cy="2377440"/>
            </a:xfrm>
            <a:custGeom>
              <a:avLst/>
              <a:gdLst/>
              <a:ahLst/>
              <a:cxnLst/>
              <a:rect r="r" b="b" t="t" l="l"/>
              <a:pathLst>
                <a:path h="2377440" w="3566160">
                  <a:moveTo>
                    <a:pt x="0" y="182880"/>
                  </a:moveTo>
                  <a:cubicBezTo>
                    <a:pt x="0" y="81915"/>
                    <a:pt x="81915" y="0"/>
                    <a:pt x="182880" y="0"/>
                  </a:cubicBezTo>
                  <a:lnTo>
                    <a:pt x="3383280" y="0"/>
                  </a:lnTo>
                  <a:cubicBezTo>
                    <a:pt x="3484245" y="0"/>
                    <a:pt x="3566160" y="81915"/>
                    <a:pt x="3566160" y="182880"/>
                  </a:cubicBezTo>
                  <a:lnTo>
                    <a:pt x="3566160" y="2194560"/>
                  </a:lnTo>
                  <a:cubicBezTo>
                    <a:pt x="3566160" y="2295525"/>
                    <a:pt x="3484245" y="2377440"/>
                    <a:pt x="3383280" y="2377440"/>
                  </a:cubicBezTo>
                  <a:lnTo>
                    <a:pt x="182880" y="2377440"/>
                  </a:lnTo>
                  <a:cubicBezTo>
                    <a:pt x="81915" y="2377440"/>
                    <a:pt x="0" y="2295525"/>
                    <a:pt x="0" y="2194560"/>
                  </a:cubicBezTo>
                  <a:close/>
                </a:path>
              </a:pathLst>
            </a:custGeom>
            <a:solidFill>
              <a:srgbClr val="0B5E6E"/>
            </a:solidFill>
          </p:spPr>
          <p:txBody>
            <a:bodyPr/>
            <a:p/>
          </p:txBody>
        </p:sp>
      </p:grpSp>
      <p:grpSp>
        <p:nvGrpSpPr>
          <p:cNvPr name="Group 89" id="89"/>
          <p:cNvGrpSpPr/>
          <p:nvPr/>
        </p:nvGrpSpPr>
        <p:grpSpPr>
          <a:xfrm rot="0">
            <a:off x="6995160" y="2537460"/>
            <a:ext cx="2400300" cy="685800"/>
            <a:chOff x="0" y="0"/>
            <a:chExt cx="3200400" cy="914400"/>
          </a:xfrm>
        </p:grpSpPr>
        <p:sp>
          <p:nvSpPr>
            <p:cNvPr name="Freeform 90" id="90"/>
            <p:cNvSpPr/>
            <p:nvPr/>
          </p:nvSpPr>
          <p:spPr>
            <a:xfrm flipH="false" flipV="false" rot="0">
              <a:off x="0" y="0"/>
              <a:ext cx="3200400" cy="914400"/>
            </a:xfrm>
            <a:custGeom>
              <a:avLst/>
              <a:gdLst/>
              <a:ahLst/>
              <a:cxnLst/>
              <a:rect r="r" b="b" t="t" l="l"/>
              <a:pathLst>
                <a:path h="914400" w="3200400">
                  <a:moveTo>
                    <a:pt x="0" y="0"/>
                  </a:moveTo>
                  <a:lnTo>
                    <a:pt x="3200400" y="0"/>
                  </a:lnTo>
                  <a:lnTo>
                    <a:pt x="3200400" y="914400"/>
                  </a:lnTo>
                  <a:lnTo>
                    <a:pt x="0" y="914400"/>
                  </a:lnTo>
                  <a:close/>
                </a:path>
              </a:pathLst>
            </a:custGeom>
            <a:blipFill>
              <a:blip r:embed="rId4">
                <a:alphaModFix amt="0"/>
              </a:blip>
              <a:stretch>
                <a:fillRect l="0" t="-18150" r="0" b="-18149"/>
              </a:stretch>
            </a:blipFill>
          </p:spPr>
          <p:txBody>
            <a:bodyPr/>
            <a:p/>
          </p:txBody>
        </p:sp>
      </p:grpSp>
      <p:grpSp>
        <p:nvGrpSpPr>
          <p:cNvPr name="Group 91" id="91"/>
          <p:cNvGrpSpPr/>
          <p:nvPr/>
        </p:nvGrpSpPr>
        <p:grpSpPr>
          <a:xfrm rot="0">
            <a:off x="6995160" y="2494598"/>
            <a:ext cx="2400300" cy="728662"/>
            <a:chOff x="0" y="0"/>
            <a:chExt cx="3200400" cy="971550"/>
          </a:xfrm>
        </p:grpSpPr>
        <p:sp>
          <p:nvSpPr>
            <p:cNvPr name="Freeform 92" id="92"/>
            <p:cNvSpPr/>
            <p:nvPr/>
          </p:nvSpPr>
          <p:spPr>
            <a:xfrm flipH="false" flipV="false" rot="0">
              <a:off x="0" y="0"/>
              <a:ext cx="3200400" cy="971550"/>
            </a:xfrm>
            <a:custGeom>
              <a:avLst/>
              <a:gdLst/>
              <a:ahLst/>
              <a:cxnLst/>
              <a:rect r="r" b="b" t="t" l="l"/>
              <a:pathLst>
                <a:path h="971550" w="3200400">
                  <a:moveTo>
                    <a:pt x="0" y="0"/>
                  </a:moveTo>
                  <a:lnTo>
                    <a:pt x="3200400" y="0"/>
                  </a:lnTo>
                  <a:lnTo>
                    <a:pt x="3200400" y="971550"/>
                  </a:lnTo>
                  <a:lnTo>
                    <a:pt x="0" y="971550"/>
                  </a:lnTo>
                  <a:close/>
                </a:path>
              </a:pathLst>
            </a:custGeom>
            <a:blipFill>
              <a:blip r:embed="rId5">
                <a:alphaModFix amt="0"/>
              </a:blip>
              <a:stretch>
                <a:fillRect l="0" t="-14141" r="0" b="-14141"/>
              </a:stretch>
            </a:blipFill>
          </p:spPr>
          <p:txBody>
            <a:bodyPr/>
            <a:p/>
          </p:txBody>
        </p:sp>
      </p:grpSp>
      <p:grpSp>
        <p:nvGrpSpPr>
          <p:cNvPr name="Group 93" id="93"/>
          <p:cNvGrpSpPr/>
          <p:nvPr/>
        </p:nvGrpSpPr>
        <p:grpSpPr>
          <a:xfrm rot="0">
            <a:off x="6995160" y="2451735"/>
            <a:ext cx="2400300" cy="771525"/>
            <a:chOff x="0" y="0"/>
            <a:chExt cx="3200400" cy="1028700"/>
          </a:xfrm>
        </p:grpSpPr>
        <p:sp>
          <p:nvSpPr>
            <p:cNvPr name="Freeform 94" id="94"/>
            <p:cNvSpPr/>
            <p:nvPr/>
          </p:nvSpPr>
          <p:spPr>
            <a:xfrm flipH="false" flipV="false" rot="0">
              <a:off x="0" y="0"/>
              <a:ext cx="3200400" cy="1028699"/>
            </a:xfrm>
            <a:custGeom>
              <a:avLst/>
              <a:gdLst/>
              <a:ahLst/>
              <a:cxnLst/>
              <a:rect r="r" b="b" t="t" l="l"/>
              <a:pathLst>
                <a:path h="1028699" w="3200400">
                  <a:moveTo>
                    <a:pt x="0" y="0"/>
                  </a:moveTo>
                  <a:lnTo>
                    <a:pt x="3200400" y="0"/>
                  </a:lnTo>
                  <a:lnTo>
                    <a:pt x="3200400" y="1028699"/>
                  </a:lnTo>
                  <a:lnTo>
                    <a:pt x="0" y="1028699"/>
                  </a:lnTo>
                  <a:close/>
                </a:path>
              </a:pathLst>
            </a:custGeom>
            <a:blipFill>
              <a:blip r:embed="rId6">
                <a:alphaModFix amt="0"/>
              </a:blip>
              <a:stretch>
                <a:fillRect l="0" t="-10620" r="0" b="-10620"/>
              </a:stretch>
            </a:blipFill>
          </p:spPr>
          <p:txBody>
            <a:bodyPr/>
            <a:p/>
          </p:txBody>
        </p:sp>
        <p:sp>
          <p:nvSpPr>
            <p:cNvPr name="TextBox 95" id="95"/>
            <p:cNvSpPr txBox="true"/>
            <p:nvPr/>
          </p:nvSpPr>
          <p:spPr>
            <a:xfrm>
              <a:off x="0" y="-57150"/>
              <a:ext cx="3200400" cy="1085850"/>
            </a:xfrm>
            <a:prstGeom prst="rect">
              <a:avLst/>
            </a:prstGeom>
          </p:spPr>
          <p:txBody>
            <a:bodyPr anchor="ctr" rtlCol="false" tIns="0" lIns="0" bIns="0" rIns="0"/>
            <a:lstStyle/>
            <a:p>
              <a:pPr algn="ctr">
                <a:lnSpc>
                  <a:spcPts val="2700"/>
                </a:lnSpc>
              </a:pPr>
              <a:r>
                <a:rPr lang="en-US" sz="2250" b="true">
                  <a:solidFill>
                    <a:srgbClr val="FFFFFF"/>
                  </a:solidFill>
                  <a:latin typeface="Calibri (MS) Bold"/>
                  <a:ea typeface="Calibri (MS) Bold"/>
                  <a:cs typeface="Calibri (MS) Bold"/>
                  <a:sym typeface="Calibri (MS) Bold"/>
                </a:rPr>
                <a:t>Aplikasi web</a:t>
              </a:r>
            </a:p>
          </p:txBody>
        </p:sp>
      </p:grpSp>
      <p:sp>
        <p:nvSpPr>
          <p:cNvPr name="TextBox 96" id="96"/>
          <p:cNvSpPr txBox="true"/>
          <p:nvPr/>
        </p:nvSpPr>
        <p:spPr>
          <a:xfrm rot="0">
            <a:off x="6995160" y="3137535"/>
            <a:ext cx="2400300" cy="523875"/>
          </a:xfrm>
          <a:prstGeom prst="rect">
            <a:avLst/>
          </a:prstGeom>
        </p:spPr>
        <p:txBody>
          <a:bodyPr anchor="t" rtlCol="false" tIns="0" lIns="0" bIns="0" rIns="0">
            <a:spAutoFit/>
          </a:bodyPr>
          <a:lstStyle/>
          <a:p>
            <a:pPr algn="ctr">
              <a:lnSpc>
                <a:spcPts val="1980"/>
              </a:lnSpc>
            </a:pPr>
            <a:r>
              <a:rPr lang="en-US" sz="1650">
                <a:solidFill>
                  <a:srgbClr val="6BE5EA"/>
                </a:solidFill>
                <a:latin typeface="Calibri (MS)"/>
                <a:ea typeface="Calibri (MS)"/>
                <a:cs typeface="Calibri (MS)"/>
                <a:sym typeface="Calibri (MS)"/>
              </a:rPr>
              <a:t>Next.js · TypeScript · Tailwind CSS</a:t>
            </a:r>
          </a:p>
        </p:txBody>
      </p:sp>
      <p:grpSp>
        <p:nvGrpSpPr>
          <p:cNvPr name="Group 97" id="97"/>
          <p:cNvGrpSpPr/>
          <p:nvPr/>
        </p:nvGrpSpPr>
        <p:grpSpPr>
          <a:xfrm rot="0">
            <a:off x="822960" y="4594860"/>
            <a:ext cx="4183380" cy="1508760"/>
            <a:chOff x="0" y="0"/>
            <a:chExt cx="5577840" cy="2011680"/>
          </a:xfrm>
        </p:grpSpPr>
        <p:sp>
          <p:nvSpPr>
            <p:cNvPr name="Freeform 98" id="98"/>
            <p:cNvSpPr/>
            <p:nvPr/>
          </p:nvSpPr>
          <p:spPr>
            <a:xfrm flipH="false" flipV="false" rot="0">
              <a:off x="0" y="0"/>
              <a:ext cx="5577840" cy="2011680"/>
            </a:xfrm>
            <a:custGeom>
              <a:avLst/>
              <a:gdLst/>
              <a:ahLst/>
              <a:cxnLst/>
              <a:rect r="r" b="b" t="t" l="l"/>
              <a:pathLst>
                <a:path h="2011680" w="5577840">
                  <a:moveTo>
                    <a:pt x="0" y="182880"/>
                  </a:moveTo>
                  <a:cubicBezTo>
                    <a:pt x="0" y="81915"/>
                    <a:pt x="81915" y="0"/>
                    <a:pt x="182880" y="0"/>
                  </a:cubicBezTo>
                  <a:lnTo>
                    <a:pt x="5394960" y="0"/>
                  </a:lnTo>
                  <a:cubicBezTo>
                    <a:pt x="5495925" y="0"/>
                    <a:pt x="5577840" y="81915"/>
                    <a:pt x="5577840" y="182880"/>
                  </a:cubicBezTo>
                  <a:lnTo>
                    <a:pt x="5577840" y="1828800"/>
                  </a:lnTo>
                  <a:cubicBezTo>
                    <a:pt x="5577840" y="1929765"/>
                    <a:pt x="5495925" y="2011680"/>
                    <a:pt x="5394960" y="2011680"/>
                  </a:cubicBezTo>
                  <a:lnTo>
                    <a:pt x="182880" y="2011680"/>
                  </a:lnTo>
                  <a:cubicBezTo>
                    <a:pt x="81915" y="2011680"/>
                    <a:pt x="0" y="1929765"/>
                    <a:pt x="0" y="1828800"/>
                  </a:cubicBezTo>
                  <a:close/>
                </a:path>
              </a:pathLst>
            </a:custGeom>
            <a:solidFill>
              <a:srgbClr val="FFF1BF"/>
            </a:solidFill>
          </p:spPr>
          <p:txBody>
            <a:bodyPr/>
            <a:p/>
          </p:txBody>
        </p:sp>
      </p:grpSp>
      <p:sp>
        <p:nvSpPr>
          <p:cNvPr name="TextBox 99" id="99"/>
          <p:cNvSpPr txBox="true"/>
          <p:nvPr/>
        </p:nvSpPr>
        <p:spPr>
          <a:xfrm rot="0">
            <a:off x="1097280" y="4560570"/>
            <a:ext cx="3703320" cy="651510"/>
          </a:xfrm>
          <a:prstGeom prst="rect">
            <a:avLst/>
          </a:prstGeom>
        </p:spPr>
        <p:txBody>
          <a:bodyPr anchor="t" rtlCol="false" tIns="0" lIns="0" bIns="0" rIns="0">
            <a:spAutoFit/>
          </a:bodyPr>
          <a:lstStyle/>
          <a:p>
            <a:pPr algn="l">
              <a:lnSpc>
                <a:spcPts val="2700"/>
              </a:lnSpc>
            </a:pPr>
            <a:r>
              <a:rPr lang="en-US" sz="2250" b="true">
                <a:solidFill>
                  <a:srgbClr val="0B5E6E"/>
                </a:solidFill>
                <a:latin typeface="Calibri (MS) Bold"/>
                <a:ea typeface="Calibri (MS) Bold"/>
                <a:cs typeface="Calibri (MS) Bold"/>
                <a:sym typeface="Calibri (MS) Bold"/>
              </a:rPr>
              <a:t>Beranda</a:t>
            </a:r>
          </a:p>
        </p:txBody>
      </p:sp>
      <p:sp>
        <p:nvSpPr>
          <p:cNvPr name="TextBox 100" id="100"/>
          <p:cNvSpPr txBox="true"/>
          <p:nvPr/>
        </p:nvSpPr>
        <p:spPr>
          <a:xfrm rot="0">
            <a:off x="1097280" y="5138928"/>
            <a:ext cx="3703320" cy="9372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gambaran umum dan navigasi</a:t>
            </a:r>
          </a:p>
        </p:txBody>
      </p:sp>
      <p:grpSp>
        <p:nvGrpSpPr>
          <p:cNvPr name="Group 101" id="101"/>
          <p:cNvGrpSpPr/>
          <p:nvPr/>
        </p:nvGrpSpPr>
        <p:grpSpPr>
          <a:xfrm rot="0">
            <a:off x="5212080" y="4594860"/>
            <a:ext cx="4183380" cy="1508760"/>
            <a:chOff x="0" y="0"/>
            <a:chExt cx="5577840" cy="2011680"/>
          </a:xfrm>
        </p:grpSpPr>
        <p:sp>
          <p:nvSpPr>
            <p:cNvPr name="Freeform 102" id="102"/>
            <p:cNvSpPr/>
            <p:nvPr/>
          </p:nvSpPr>
          <p:spPr>
            <a:xfrm flipH="false" flipV="false" rot="0">
              <a:off x="0" y="0"/>
              <a:ext cx="5577840" cy="2011680"/>
            </a:xfrm>
            <a:custGeom>
              <a:avLst/>
              <a:gdLst/>
              <a:ahLst/>
              <a:cxnLst/>
              <a:rect r="r" b="b" t="t" l="l"/>
              <a:pathLst>
                <a:path h="2011680" w="5577840">
                  <a:moveTo>
                    <a:pt x="0" y="182880"/>
                  </a:moveTo>
                  <a:cubicBezTo>
                    <a:pt x="0" y="81915"/>
                    <a:pt x="81915" y="0"/>
                    <a:pt x="182880" y="0"/>
                  </a:cubicBezTo>
                  <a:lnTo>
                    <a:pt x="5394960" y="0"/>
                  </a:lnTo>
                  <a:cubicBezTo>
                    <a:pt x="5495925" y="0"/>
                    <a:pt x="5577840" y="81915"/>
                    <a:pt x="5577840" y="182880"/>
                  </a:cubicBezTo>
                  <a:lnTo>
                    <a:pt x="5577840" y="1828800"/>
                  </a:lnTo>
                  <a:cubicBezTo>
                    <a:pt x="5577840" y="1929765"/>
                    <a:pt x="5495925" y="2011680"/>
                    <a:pt x="5394960" y="2011680"/>
                  </a:cubicBezTo>
                  <a:lnTo>
                    <a:pt x="182880" y="2011680"/>
                  </a:lnTo>
                  <a:cubicBezTo>
                    <a:pt x="81915" y="2011680"/>
                    <a:pt x="0" y="1929765"/>
                    <a:pt x="0" y="1828800"/>
                  </a:cubicBezTo>
                  <a:close/>
                </a:path>
              </a:pathLst>
            </a:custGeom>
            <a:solidFill>
              <a:srgbClr val="FFF1BF"/>
            </a:solidFill>
          </p:spPr>
          <p:txBody>
            <a:bodyPr/>
            <a:p/>
          </p:txBody>
        </p:sp>
      </p:grpSp>
      <p:sp>
        <p:nvSpPr>
          <p:cNvPr name="TextBox 103" id="103"/>
          <p:cNvSpPr txBox="true"/>
          <p:nvPr/>
        </p:nvSpPr>
        <p:spPr>
          <a:xfrm rot="0">
            <a:off x="5486400" y="4560570"/>
            <a:ext cx="3703320" cy="651510"/>
          </a:xfrm>
          <a:prstGeom prst="rect">
            <a:avLst/>
          </a:prstGeom>
        </p:spPr>
        <p:txBody>
          <a:bodyPr anchor="t" rtlCol="false" tIns="0" lIns="0" bIns="0" rIns="0">
            <a:spAutoFit/>
          </a:bodyPr>
          <a:lstStyle/>
          <a:p>
            <a:pPr algn="l">
              <a:lnSpc>
                <a:spcPts val="2700"/>
              </a:lnSpc>
            </a:pPr>
            <a:r>
              <a:rPr lang="en-US" sz="2250" b="true">
                <a:solidFill>
                  <a:srgbClr val="0B5E6E"/>
                </a:solidFill>
                <a:latin typeface="Calibri (MS) Bold"/>
                <a:ea typeface="Calibri (MS) Bold"/>
                <a:cs typeface="Calibri (MS) Bold"/>
                <a:sym typeface="Calibri (MS) Bold"/>
              </a:rPr>
              <a:t>Model</a:t>
            </a:r>
          </a:p>
        </p:txBody>
      </p:sp>
      <p:sp>
        <p:nvSpPr>
          <p:cNvPr name="TextBox 104" id="104"/>
          <p:cNvSpPr txBox="true"/>
          <p:nvPr/>
        </p:nvSpPr>
        <p:spPr>
          <a:xfrm rot="0">
            <a:off x="5486400" y="5138928"/>
            <a:ext cx="3703320" cy="9372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struktur model dan evaluasi model</a:t>
            </a:r>
          </a:p>
        </p:txBody>
      </p:sp>
      <p:grpSp>
        <p:nvGrpSpPr>
          <p:cNvPr name="Group 105" id="105"/>
          <p:cNvGrpSpPr/>
          <p:nvPr/>
        </p:nvGrpSpPr>
        <p:grpSpPr>
          <a:xfrm rot="0">
            <a:off x="822960" y="6309360"/>
            <a:ext cx="4183380" cy="1508760"/>
            <a:chOff x="0" y="0"/>
            <a:chExt cx="5577840" cy="2011680"/>
          </a:xfrm>
        </p:grpSpPr>
        <p:sp>
          <p:nvSpPr>
            <p:cNvPr name="Freeform 106" id="106"/>
            <p:cNvSpPr/>
            <p:nvPr/>
          </p:nvSpPr>
          <p:spPr>
            <a:xfrm flipH="false" flipV="false" rot="0">
              <a:off x="0" y="0"/>
              <a:ext cx="5577840" cy="2011680"/>
            </a:xfrm>
            <a:custGeom>
              <a:avLst/>
              <a:gdLst/>
              <a:ahLst/>
              <a:cxnLst/>
              <a:rect r="r" b="b" t="t" l="l"/>
              <a:pathLst>
                <a:path h="2011680" w="5577840">
                  <a:moveTo>
                    <a:pt x="0" y="182880"/>
                  </a:moveTo>
                  <a:cubicBezTo>
                    <a:pt x="0" y="81915"/>
                    <a:pt x="81915" y="0"/>
                    <a:pt x="182880" y="0"/>
                  </a:cubicBezTo>
                  <a:lnTo>
                    <a:pt x="5394960" y="0"/>
                  </a:lnTo>
                  <a:cubicBezTo>
                    <a:pt x="5495925" y="0"/>
                    <a:pt x="5577840" y="81915"/>
                    <a:pt x="5577840" y="182880"/>
                  </a:cubicBezTo>
                  <a:lnTo>
                    <a:pt x="5577840" y="1828800"/>
                  </a:lnTo>
                  <a:cubicBezTo>
                    <a:pt x="5577840" y="1929765"/>
                    <a:pt x="5495925" y="2011680"/>
                    <a:pt x="5394960" y="2011680"/>
                  </a:cubicBezTo>
                  <a:lnTo>
                    <a:pt x="182880" y="2011680"/>
                  </a:lnTo>
                  <a:cubicBezTo>
                    <a:pt x="81915" y="2011680"/>
                    <a:pt x="0" y="1929765"/>
                    <a:pt x="0" y="1828800"/>
                  </a:cubicBezTo>
                  <a:close/>
                </a:path>
              </a:pathLst>
            </a:custGeom>
            <a:solidFill>
              <a:srgbClr val="FFF1BF"/>
            </a:solidFill>
          </p:spPr>
          <p:txBody>
            <a:bodyPr/>
            <a:p/>
          </p:txBody>
        </p:sp>
      </p:grpSp>
      <p:sp>
        <p:nvSpPr>
          <p:cNvPr name="TextBox 107" id="107"/>
          <p:cNvSpPr txBox="true"/>
          <p:nvPr/>
        </p:nvSpPr>
        <p:spPr>
          <a:xfrm rot="0">
            <a:off x="1097280" y="6275070"/>
            <a:ext cx="3703320" cy="651510"/>
          </a:xfrm>
          <a:prstGeom prst="rect">
            <a:avLst/>
          </a:prstGeom>
        </p:spPr>
        <p:txBody>
          <a:bodyPr anchor="t" rtlCol="false" tIns="0" lIns="0" bIns="0" rIns="0">
            <a:spAutoFit/>
          </a:bodyPr>
          <a:lstStyle/>
          <a:p>
            <a:pPr algn="l">
              <a:lnSpc>
                <a:spcPts val="2700"/>
              </a:lnSpc>
            </a:pPr>
            <a:r>
              <a:rPr lang="en-US" sz="2250" b="true">
                <a:solidFill>
                  <a:srgbClr val="0B5E6E"/>
                </a:solidFill>
                <a:latin typeface="Calibri (MS) Bold"/>
                <a:ea typeface="Calibri (MS) Bold"/>
                <a:cs typeface="Calibri (MS) Bold"/>
                <a:sym typeface="Calibri (MS) Bold"/>
              </a:rPr>
              <a:t>Skenario</a:t>
            </a:r>
          </a:p>
        </p:txBody>
      </p:sp>
      <p:sp>
        <p:nvSpPr>
          <p:cNvPr name="TextBox 108" id="108"/>
          <p:cNvSpPr txBox="true"/>
          <p:nvPr/>
        </p:nvSpPr>
        <p:spPr>
          <a:xfrm rot="0">
            <a:off x="1097280" y="6853428"/>
            <a:ext cx="3703320" cy="9372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tiga skenario dan perbandingannya</a:t>
            </a:r>
          </a:p>
        </p:txBody>
      </p:sp>
      <p:grpSp>
        <p:nvGrpSpPr>
          <p:cNvPr name="Group 109" id="109"/>
          <p:cNvGrpSpPr/>
          <p:nvPr/>
        </p:nvGrpSpPr>
        <p:grpSpPr>
          <a:xfrm rot="0">
            <a:off x="5212080" y="6309360"/>
            <a:ext cx="4183380" cy="1508760"/>
            <a:chOff x="0" y="0"/>
            <a:chExt cx="5577840" cy="2011680"/>
          </a:xfrm>
        </p:grpSpPr>
        <p:sp>
          <p:nvSpPr>
            <p:cNvPr name="Freeform 110" id="110"/>
            <p:cNvSpPr/>
            <p:nvPr/>
          </p:nvSpPr>
          <p:spPr>
            <a:xfrm flipH="false" flipV="false" rot="0">
              <a:off x="0" y="0"/>
              <a:ext cx="5577840" cy="2011680"/>
            </a:xfrm>
            <a:custGeom>
              <a:avLst/>
              <a:gdLst/>
              <a:ahLst/>
              <a:cxnLst/>
              <a:rect r="r" b="b" t="t" l="l"/>
              <a:pathLst>
                <a:path h="2011680" w="5577840">
                  <a:moveTo>
                    <a:pt x="0" y="182880"/>
                  </a:moveTo>
                  <a:cubicBezTo>
                    <a:pt x="0" y="81915"/>
                    <a:pt x="81915" y="0"/>
                    <a:pt x="182880" y="0"/>
                  </a:cubicBezTo>
                  <a:lnTo>
                    <a:pt x="5394960" y="0"/>
                  </a:lnTo>
                  <a:cubicBezTo>
                    <a:pt x="5495925" y="0"/>
                    <a:pt x="5577840" y="81915"/>
                    <a:pt x="5577840" y="182880"/>
                  </a:cubicBezTo>
                  <a:lnTo>
                    <a:pt x="5577840" y="1828800"/>
                  </a:lnTo>
                  <a:cubicBezTo>
                    <a:pt x="5577840" y="1929765"/>
                    <a:pt x="5495925" y="2011680"/>
                    <a:pt x="5394960" y="2011680"/>
                  </a:cubicBezTo>
                  <a:lnTo>
                    <a:pt x="182880" y="2011680"/>
                  </a:lnTo>
                  <a:cubicBezTo>
                    <a:pt x="81915" y="2011680"/>
                    <a:pt x="0" y="1929765"/>
                    <a:pt x="0" y="1828800"/>
                  </a:cubicBezTo>
                  <a:close/>
                </a:path>
              </a:pathLst>
            </a:custGeom>
            <a:solidFill>
              <a:srgbClr val="FFF1BF"/>
            </a:solidFill>
          </p:spPr>
          <p:txBody>
            <a:bodyPr/>
            <a:p/>
          </p:txBody>
        </p:sp>
      </p:grpSp>
      <p:sp>
        <p:nvSpPr>
          <p:cNvPr name="TextBox 111" id="111"/>
          <p:cNvSpPr txBox="true"/>
          <p:nvPr/>
        </p:nvSpPr>
        <p:spPr>
          <a:xfrm rot="0">
            <a:off x="5486400" y="6275070"/>
            <a:ext cx="3703320" cy="651510"/>
          </a:xfrm>
          <a:prstGeom prst="rect">
            <a:avLst/>
          </a:prstGeom>
        </p:spPr>
        <p:txBody>
          <a:bodyPr anchor="t" rtlCol="false" tIns="0" lIns="0" bIns="0" rIns="0">
            <a:spAutoFit/>
          </a:bodyPr>
          <a:lstStyle/>
          <a:p>
            <a:pPr algn="l">
              <a:lnSpc>
                <a:spcPts val="2700"/>
              </a:lnSpc>
            </a:pPr>
            <a:r>
              <a:rPr lang="en-US" sz="2250" b="true">
                <a:solidFill>
                  <a:srgbClr val="0B5E6E"/>
                </a:solidFill>
                <a:latin typeface="Calibri (MS) Bold"/>
                <a:ea typeface="Calibri (MS) Bold"/>
                <a:cs typeface="Calibri (MS) Bold"/>
                <a:sym typeface="Calibri (MS) Bold"/>
              </a:rPr>
              <a:t>Simulasi</a:t>
            </a:r>
          </a:p>
        </p:txBody>
      </p:sp>
      <p:sp>
        <p:nvSpPr>
          <p:cNvPr name="TextBox 112" id="112"/>
          <p:cNvSpPr txBox="true"/>
          <p:nvPr/>
        </p:nvSpPr>
        <p:spPr>
          <a:xfrm rot="0">
            <a:off x="5486400" y="6853428"/>
            <a:ext cx="3703320" cy="9372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atur dua variabel kebijakan, pilih variabel, jalankan 2025–2050</a:t>
            </a:r>
          </a:p>
        </p:txBody>
      </p:sp>
      <p:grpSp>
        <p:nvGrpSpPr>
          <p:cNvPr name="Group 113" id="113"/>
          <p:cNvGrpSpPr/>
          <p:nvPr/>
        </p:nvGrpSpPr>
        <p:grpSpPr>
          <a:xfrm rot="0">
            <a:off x="822960" y="8298180"/>
            <a:ext cx="8092440" cy="617220"/>
            <a:chOff x="0" y="0"/>
            <a:chExt cx="10789920" cy="822960"/>
          </a:xfrm>
        </p:grpSpPr>
        <p:sp>
          <p:nvSpPr>
            <p:cNvPr name="Freeform 114" id="114"/>
            <p:cNvSpPr/>
            <p:nvPr/>
          </p:nvSpPr>
          <p:spPr>
            <a:xfrm flipH="false" flipV="false" rot="0">
              <a:off x="0" y="0"/>
              <a:ext cx="10789920" cy="822960"/>
            </a:xfrm>
            <a:custGeom>
              <a:avLst/>
              <a:gdLst/>
              <a:ahLst/>
              <a:cxnLst/>
              <a:rect r="r" b="b" t="t" l="l"/>
              <a:pathLst>
                <a:path h="822960" w="10789920">
                  <a:moveTo>
                    <a:pt x="0" y="411480"/>
                  </a:moveTo>
                  <a:cubicBezTo>
                    <a:pt x="0" y="184277"/>
                    <a:pt x="184277" y="0"/>
                    <a:pt x="411480" y="0"/>
                  </a:cubicBezTo>
                  <a:lnTo>
                    <a:pt x="10378440" y="0"/>
                  </a:lnTo>
                  <a:cubicBezTo>
                    <a:pt x="10605643" y="0"/>
                    <a:pt x="10789920" y="184277"/>
                    <a:pt x="10789920" y="411480"/>
                  </a:cubicBezTo>
                  <a:cubicBezTo>
                    <a:pt x="10789920" y="638683"/>
                    <a:pt x="10605643" y="822960"/>
                    <a:pt x="10378440" y="822960"/>
                  </a:cubicBezTo>
                  <a:lnTo>
                    <a:pt x="411480" y="822960"/>
                  </a:lnTo>
                  <a:cubicBezTo>
                    <a:pt x="184277" y="822960"/>
                    <a:pt x="0" y="638683"/>
                    <a:pt x="0" y="411480"/>
                  </a:cubicBezTo>
                  <a:close/>
                </a:path>
              </a:pathLst>
            </a:custGeom>
            <a:solidFill>
              <a:srgbClr val="39C0D3"/>
            </a:solidFill>
          </p:spPr>
          <p:txBody>
            <a:bodyPr/>
            <a:p/>
          </p:txBody>
        </p:sp>
      </p:grpSp>
      <p:grpSp>
        <p:nvGrpSpPr>
          <p:cNvPr name="Group 115" id="115"/>
          <p:cNvGrpSpPr/>
          <p:nvPr/>
        </p:nvGrpSpPr>
        <p:grpSpPr>
          <a:xfrm rot="0">
            <a:off x="822960" y="8298180"/>
            <a:ext cx="8092440" cy="617220"/>
            <a:chOff x="0" y="0"/>
            <a:chExt cx="10789920" cy="822960"/>
          </a:xfrm>
        </p:grpSpPr>
        <p:sp>
          <p:nvSpPr>
            <p:cNvPr name="Freeform 116" id="116"/>
            <p:cNvSpPr/>
            <p:nvPr/>
          </p:nvSpPr>
          <p:spPr>
            <a:xfrm flipH="false" flipV="false" rot="0">
              <a:off x="0" y="0"/>
              <a:ext cx="10789920" cy="822960"/>
            </a:xfrm>
            <a:custGeom>
              <a:avLst/>
              <a:gdLst/>
              <a:ahLst/>
              <a:cxnLst/>
              <a:rect r="r" b="b" t="t" l="l"/>
              <a:pathLst>
                <a:path h="822960" w="10789920">
                  <a:moveTo>
                    <a:pt x="0" y="0"/>
                  </a:moveTo>
                  <a:lnTo>
                    <a:pt x="10789920" y="0"/>
                  </a:lnTo>
                  <a:lnTo>
                    <a:pt x="10789920" y="822960"/>
                  </a:lnTo>
                  <a:lnTo>
                    <a:pt x="0" y="822960"/>
                  </a:lnTo>
                  <a:close/>
                </a:path>
              </a:pathLst>
            </a:custGeom>
            <a:blipFill>
              <a:blip r:embed="rId4">
                <a:alphaModFix amt="0"/>
              </a:blip>
              <a:stretch>
                <a:fillRect l="0" t="-205293" r="0" b="-205293"/>
              </a:stretch>
            </a:blipFill>
          </p:spPr>
          <p:txBody>
            <a:bodyPr/>
            <a:p/>
          </p:txBody>
        </p:sp>
      </p:grpSp>
      <p:grpSp>
        <p:nvGrpSpPr>
          <p:cNvPr name="Group 117" id="117"/>
          <p:cNvGrpSpPr/>
          <p:nvPr/>
        </p:nvGrpSpPr>
        <p:grpSpPr>
          <a:xfrm rot="0">
            <a:off x="822960" y="8262461"/>
            <a:ext cx="8092440" cy="652939"/>
            <a:chOff x="0" y="0"/>
            <a:chExt cx="10789920" cy="870585"/>
          </a:xfrm>
        </p:grpSpPr>
        <p:sp>
          <p:nvSpPr>
            <p:cNvPr name="Freeform 118" id="118"/>
            <p:cNvSpPr/>
            <p:nvPr/>
          </p:nvSpPr>
          <p:spPr>
            <a:xfrm flipH="false" flipV="false" rot="0">
              <a:off x="0" y="0"/>
              <a:ext cx="10789920" cy="870585"/>
            </a:xfrm>
            <a:custGeom>
              <a:avLst/>
              <a:gdLst/>
              <a:ahLst/>
              <a:cxnLst/>
              <a:rect r="r" b="b" t="t" l="l"/>
              <a:pathLst>
                <a:path h="870585" w="10789920">
                  <a:moveTo>
                    <a:pt x="0" y="0"/>
                  </a:moveTo>
                  <a:lnTo>
                    <a:pt x="10789920" y="0"/>
                  </a:lnTo>
                  <a:lnTo>
                    <a:pt x="10789920" y="870585"/>
                  </a:lnTo>
                  <a:lnTo>
                    <a:pt x="0" y="870585"/>
                  </a:lnTo>
                  <a:close/>
                </a:path>
              </a:pathLst>
            </a:custGeom>
            <a:blipFill>
              <a:blip r:embed="rId5">
                <a:alphaModFix amt="0"/>
              </a:blip>
              <a:stretch>
                <a:fillRect l="0" t="-191327" r="0" b="-191327"/>
              </a:stretch>
            </a:blipFill>
          </p:spPr>
          <p:txBody>
            <a:bodyPr/>
            <a:p/>
          </p:txBody>
        </p:sp>
      </p:grpSp>
      <p:grpSp>
        <p:nvGrpSpPr>
          <p:cNvPr name="Group 119" id="119"/>
          <p:cNvGrpSpPr/>
          <p:nvPr/>
        </p:nvGrpSpPr>
        <p:grpSpPr>
          <a:xfrm rot="0">
            <a:off x="822960" y="8226743"/>
            <a:ext cx="8092440" cy="688657"/>
            <a:chOff x="0" y="0"/>
            <a:chExt cx="10789920" cy="918210"/>
          </a:xfrm>
        </p:grpSpPr>
        <p:sp>
          <p:nvSpPr>
            <p:cNvPr name="Freeform 120" id="120"/>
            <p:cNvSpPr/>
            <p:nvPr/>
          </p:nvSpPr>
          <p:spPr>
            <a:xfrm flipH="false" flipV="false" rot="0">
              <a:off x="0" y="0"/>
              <a:ext cx="10789920" cy="918210"/>
            </a:xfrm>
            <a:custGeom>
              <a:avLst/>
              <a:gdLst/>
              <a:ahLst/>
              <a:cxnLst/>
              <a:rect r="r" b="b" t="t" l="l"/>
              <a:pathLst>
                <a:path h="918210" w="10789920">
                  <a:moveTo>
                    <a:pt x="0" y="0"/>
                  </a:moveTo>
                  <a:lnTo>
                    <a:pt x="10789920" y="0"/>
                  </a:lnTo>
                  <a:lnTo>
                    <a:pt x="10789920" y="918210"/>
                  </a:lnTo>
                  <a:lnTo>
                    <a:pt x="0" y="918210"/>
                  </a:lnTo>
                  <a:close/>
                </a:path>
              </a:pathLst>
            </a:custGeom>
            <a:blipFill>
              <a:blip r:embed="rId6">
                <a:alphaModFix amt="0"/>
              </a:blip>
              <a:stretch>
                <a:fillRect l="0" t="-178969" r="0" b="-178969"/>
              </a:stretch>
            </a:blipFill>
          </p:spPr>
          <p:txBody>
            <a:bodyPr/>
            <a:p/>
          </p:txBody>
        </p:sp>
        <p:sp>
          <p:nvSpPr>
            <p:cNvPr name="TextBox 121" id="121"/>
            <p:cNvSpPr txBox="true"/>
            <p:nvPr/>
          </p:nvSpPr>
          <p:spPr>
            <a:xfrm>
              <a:off x="0" y="-47625"/>
              <a:ext cx="10789920" cy="965835"/>
            </a:xfrm>
            <a:prstGeom prst="rect">
              <a:avLst/>
            </a:prstGeom>
          </p:spPr>
          <p:txBody>
            <a:bodyPr anchor="ctr" rtlCol="false" tIns="0" lIns="0" bIns="0" rIns="0"/>
            <a:lstStyle/>
            <a:p>
              <a:pPr algn="ctr">
                <a:lnSpc>
                  <a:spcPts val="2520"/>
                </a:lnSpc>
              </a:pPr>
              <a:r>
                <a:rPr lang="en-US" sz="2100" b="true">
                  <a:solidFill>
                    <a:srgbClr val="FFFFFF"/>
                  </a:solidFill>
                  <a:latin typeface="Calibri (MS) Bold"/>
                  <a:ea typeface="Calibri (MS) Bold"/>
                  <a:cs typeface="Calibri (MS) Bold"/>
                  <a:sym typeface="Calibri (MS) Bold"/>
                </a:rPr>
                <a:t>sistemdinamispariwisata.vercel.app</a:t>
              </a:r>
            </a:p>
          </p:txBody>
        </p:sp>
      </p:grpSp>
      <p:grpSp>
        <p:nvGrpSpPr>
          <p:cNvPr name="Group 122" id="122"/>
          <p:cNvGrpSpPr/>
          <p:nvPr/>
        </p:nvGrpSpPr>
        <p:grpSpPr>
          <a:xfrm rot="0">
            <a:off x="9738360" y="2817400"/>
            <a:ext cx="3771900" cy="4995100"/>
            <a:chOff x="0" y="0"/>
            <a:chExt cx="5029200" cy="6660134"/>
          </a:xfrm>
        </p:grpSpPr>
        <p:sp>
          <p:nvSpPr>
            <p:cNvPr name="Freeform 123" id="123" descr="Halaman Skenario aplikasi"/>
            <p:cNvSpPr/>
            <p:nvPr/>
          </p:nvSpPr>
          <p:spPr>
            <a:xfrm flipH="false" flipV="false" rot="0">
              <a:off x="0" y="0"/>
              <a:ext cx="5029200" cy="6660134"/>
            </a:xfrm>
            <a:custGeom>
              <a:avLst/>
              <a:gdLst/>
              <a:ahLst/>
              <a:cxnLst/>
              <a:rect r="r" b="b" t="t" l="l"/>
              <a:pathLst>
                <a:path h="6660134" w="5029200">
                  <a:moveTo>
                    <a:pt x="0" y="0"/>
                  </a:moveTo>
                  <a:lnTo>
                    <a:pt x="5029200" y="0"/>
                  </a:lnTo>
                  <a:lnTo>
                    <a:pt x="5029200" y="6660134"/>
                  </a:lnTo>
                  <a:lnTo>
                    <a:pt x="0" y="6660134"/>
                  </a:lnTo>
                  <a:lnTo>
                    <a:pt x="0" y="0"/>
                  </a:lnTo>
                  <a:close/>
                </a:path>
              </a:pathLst>
            </a:custGeom>
            <a:blipFill>
              <a:blip r:embed="rId7"/>
              <a:stretch>
                <a:fillRect l="0" t="-77" r="0" b="-77"/>
              </a:stretch>
            </a:blipFill>
          </p:spPr>
          <p:txBody>
            <a:bodyPr/>
            <a:p/>
          </p:txBody>
        </p:sp>
      </p:grpSp>
      <p:grpSp>
        <p:nvGrpSpPr>
          <p:cNvPr name="Group 124" id="124"/>
          <p:cNvGrpSpPr/>
          <p:nvPr/>
        </p:nvGrpSpPr>
        <p:grpSpPr>
          <a:xfrm rot="0">
            <a:off x="13716000" y="2861948"/>
            <a:ext cx="3744468" cy="4906042"/>
            <a:chOff x="0" y="0"/>
            <a:chExt cx="4992624" cy="6541389"/>
          </a:xfrm>
        </p:grpSpPr>
        <p:sp>
          <p:nvSpPr>
            <p:cNvPr name="Freeform 125" id="125" descr="Halaman Simulasi aplikasi"/>
            <p:cNvSpPr/>
            <p:nvPr/>
          </p:nvSpPr>
          <p:spPr>
            <a:xfrm flipH="false" flipV="false" rot="0">
              <a:off x="0" y="0"/>
              <a:ext cx="4992624" cy="6541389"/>
            </a:xfrm>
            <a:custGeom>
              <a:avLst/>
              <a:gdLst/>
              <a:ahLst/>
              <a:cxnLst/>
              <a:rect r="r" b="b" t="t" l="l"/>
              <a:pathLst>
                <a:path h="6541389" w="4992624">
                  <a:moveTo>
                    <a:pt x="0" y="0"/>
                  </a:moveTo>
                  <a:lnTo>
                    <a:pt x="4992624" y="0"/>
                  </a:lnTo>
                  <a:lnTo>
                    <a:pt x="4992624" y="6541389"/>
                  </a:lnTo>
                  <a:lnTo>
                    <a:pt x="0" y="6541389"/>
                  </a:lnTo>
                  <a:lnTo>
                    <a:pt x="0" y="0"/>
                  </a:lnTo>
                  <a:close/>
                </a:path>
              </a:pathLst>
            </a:custGeom>
            <a:blipFill>
              <a:blip r:embed="rId8"/>
              <a:stretch>
                <a:fillRect l="-42" t="0" r="-42" b="0"/>
              </a:stretch>
            </a:blipFill>
          </p:spPr>
          <p:txBody>
            <a:bodyPr/>
            <a:p/>
          </p:txBody>
        </p:sp>
      </p:grpSp>
      <p:sp>
        <p:nvSpPr>
          <p:cNvPr name="TextBox 126" id="126"/>
          <p:cNvSpPr txBox="true"/>
          <p:nvPr/>
        </p:nvSpPr>
        <p:spPr>
          <a:xfrm rot="0">
            <a:off x="9738360" y="8252460"/>
            <a:ext cx="3771900" cy="525780"/>
          </a:xfrm>
          <a:prstGeom prst="rect">
            <a:avLst/>
          </a:prstGeom>
        </p:spPr>
        <p:txBody>
          <a:bodyPr anchor="t" rtlCol="false" tIns="0" lIns="0" bIns="0" rIns="0">
            <a:spAutoFit/>
          </a:bodyPr>
          <a:lstStyle/>
          <a:p>
            <a:pPr algn="ctr">
              <a:lnSpc>
                <a:spcPts val="2160"/>
              </a:lnSpc>
            </a:pPr>
            <a:r>
              <a:rPr lang="en-US" sz="1800" b="true">
                <a:solidFill>
                  <a:srgbClr val="0B5E6E"/>
                </a:solidFill>
                <a:latin typeface="Calibri (MS) Bold"/>
                <a:ea typeface="Calibri (MS) Bold"/>
                <a:cs typeface="Calibri (MS) Bold"/>
                <a:sym typeface="Calibri (MS) Bold"/>
              </a:rPr>
              <a:t>Halaman Skenario</a:t>
            </a:r>
          </a:p>
        </p:txBody>
      </p:sp>
      <p:sp>
        <p:nvSpPr>
          <p:cNvPr name="TextBox 127" id="127"/>
          <p:cNvSpPr txBox="true"/>
          <p:nvPr/>
        </p:nvSpPr>
        <p:spPr>
          <a:xfrm rot="0">
            <a:off x="13716000" y="8252460"/>
            <a:ext cx="3744468" cy="525780"/>
          </a:xfrm>
          <a:prstGeom prst="rect">
            <a:avLst/>
          </a:prstGeom>
        </p:spPr>
        <p:txBody>
          <a:bodyPr anchor="t" rtlCol="false" tIns="0" lIns="0" bIns="0" rIns="0">
            <a:spAutoFit/>
          </a:bodyPr>
          <a:lstStyle/>
          <a:p>
            <a:pPr algn="ctr">
              <a:lnSpc>
                <a:spcPts val="2160"/>
              </a:lnSpc>
            </a:pPr>
            <a:r>
              <a:rPr lang="en-US" sz="1800" b="true">
                <a:solidFill>
                  <a:srgbClr val="0B5E6E"/>
                </a:solidFill>
                <a:latin typeface="Calibri (MS) Bold"/>
                <a:ea typeface="Calibri (MS) Bold"/>
                <a:cs typeface="Calibri (MS) Bold"/>
                <a:sym typeface="Calibri (MS) Bold"/>
              </a:rPr>
              <a:t>Halaman Simulasi</a:t>
            </a:r>
          </a:p>
        </p:txBody>
      </p:sp>
      <p:sp>
        <p:nvSpPr>
          <p:cNvPr name="TextBox 128" id="128"/>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66</a:t>
            </a:r>
          </a:p>
        </p:txBody>
      </p:sp>
      <p:grpSp>
        <p:nvGrpSpPr>
          <p:cNvPr name="Group 129" id="129"/>
          <p:cNvGrpSpPr/>
          <p:nvPr/>
        </p:nvGrpSpPr>
        <p:grpSpPr>
          <a:xfrm rot="0">
            <a:off x="16047720" y="9646920"/>
            <a:ext cx="420624" cy="420624"/>
            <a:chOff x="0" y="0"/>
            <a:chExt cx="560832" cy="560832"/>
          </a:xfrm>
        </p:grpSpPr>
        <p:sp>
          <p:nvSpPr>
            <p:cNvPr name="Freeform 130" id="130"/>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31" id="131"/>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6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Implementasi Aplikasi — Halaman Aplikasi</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Empat halaman aplikasi: dari input kebijakan sampai grafik hasil</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Tujuan 3</a:t>
              </a:r>
            </a:p>
          </p:txBody>
        </p:sp>
      </p:grpSp>
      <p:grpSp>
        <p:nvGrpSpPr>
          <p:cNvPr name="Group 21" id="21"/>
          <p:cNvGrpSpPr/>
          <p:nvPr/>
        </p:nvGrpSpPr>
        <p:grpSpPr>
          <a:xfrm rot="0">
            <a:off x="822960" y="2674620"/>
            <a:ext cx="4192714" cy="5143500"/>
            <a:chOff x="0" y="0"/>
            <a:chExt cx="5590286" cy="6858000"/>
          </a:xfrm>
        </p:grpSpPr>
        <p:sp>
          <p:nvSpPr>
            <p:cNvPr name="Freeform 22" id="22" descr="Halaman Beranda aplikasi"/>
            <p:cNvSpPr/>
            <p:nvPr/>
          </p:nvSpPr>
          <p:spPr>
            <a:xfrm flipH="false" flipV="false" rot="0">
              <a:off x="0" y="0"/>
              <a:ext cx="5590286" cy="6858000"/>
            </a:xfrm>
            <a:custGeom>
              <a:avLst/>
              <a:gdLst/>
              <a:ahLst/>
              <a:cxnLst/>
              <a:rect r="r" b="b" t="t" l="l"/>
              <a:pathLst>
                <a:path h="6858000" w="5590286">
                  <a:moveTo>
                    <a:pt x="0" y="0"/>
                  </a:moveTo>
                  <a:lnTo>
                    <a:pt x="5590286" y="0"/>
                  </a:lnTo>
                  <a:lnTo>
                    <a:pt x="5590286" y="6858000"/>
                  </a:lnTo>
                  <a:lnTo>
                    <a:pt x="0" y="6858000"/>
                  </a:lnTo>
                  <a:lnTo>
                    <a:pt x="0" y="0"/>
                  </a:lnTo>
                  <a:close/>
                </a:path>
              </a:pathLst>
            </a:custGeom>
            <a:blipFill>
              <a:blip r:embed="rId7"/>
              <a:stretch>
                <a:fillRect l="-14" t="0" r="-14" b="0"/>
              </a:stretch>
            </a:blipFill>
          </p:spPr>
          <p:txBody>
            <a:bodyPr/>
            <a:p/>
          </p:txBody>
        </p:sp>
      </p:grpSp>
      <p:sp>
        <p:nvSpPr>
          <p:cNvPr name="TextBox 23" id="23"/>
          <p:cNvSpPr txBox="true"/>
          <p:nvPr/>
        </p:nvSpPr>
        <p:spPr>
          <a:xfrm rot="0">
            <a:off x="822960" y="7840980"/>
            <a:ext cx="4192762" cy="525780"/>
          </a:xfrm>
          <a:prstGeom prst="rect">
            <a:avLst/>
          </a:prstGeom>
        </p:spPr>
        <p:txBody>
          <a:bodyPr anchor="t" rtlCol="false" tIns="0" lIns="0" bIns="0" rIns="0">
            <a:spAutoFit/>
          </a:bodyPr>
          <a:lstStyle/>
          <a:p>
            <a:pPr algn="ctr">
              <a:lnSpc>
                <a:spcPts val="2250"/>
              </a:lnSpc>
            </a:pPr>
            <a:r>
              <a:rPr lang="en-US" sz="1875" b="true">
                <a:solidFill>
                  <a:srgbClr val="0B5E6E"/>
                </a:solidFill>
                <a:latin typeface="Calibri (MS) Bold"/>
                <a:ea typeface="Calibri (MS) Bold"/>
                <a:cs typeface="Calibri (MS) Bold"/>
                <a:sym typeface="Calibri (MS) Bold"/>
              </a:rPr>
              <a:t>Beranda</a:t>
            </a:r>
          </a:p>
        </p:txBody>
      </p:sp>
      <p:grpSp>
        <p:nvGrpSpPr>
          <p:cNvPr name="Group 24" id="24"/>
          <p:cNvGrpSpPr/>
          <p:nvPr/>
        </p:nvGrpSpPr>
        <p:grpSpPr>
          <a:xfrm rot="0">
            <a:off x="5290042" y="2674620"/>
            <a:ext cx="3814572" cy="5143500"/>
            <a:chOff x="0" y="0"/>
            <a:chExt cx="5086096" cy="6858000"/>
          </a:xfrm>
        </p:grpSpPr>
        <p:sp>
          <p:nvSpPr>
            <p:cNvPr name="Freeform 25" id="25" descr="Halaman Model aplikasi"/>
            <p:cNvSpPr/>
            <p:nvPr/>
          </p:nvSpPr>
          <p:spPr>
            <a:xfrm flipH="false" flipV="false" rot="0">
              <a:off x="0" y="0"/>
              <a:ext cx="5086096" cy="6858000"/>
            </a:xfrm>
            <a:custGeom>
              <a:avLst/>
              <a:gdLst/>
              <a:ahLst/>
              <a:cxnLst/>
              <a:rect r="r" b="b" t="t" l="l"/>
              <a:pathLst>
                <a:path h="6858000" w="5086096">
                  <a:moveTo>
                    <a:pt x="0" y="0"/>
                  </a:moveTo>
                  <a:lnTo>
                    <a:pt x="5086096" y="0"/>
                  </a:lnTo>
                  <a:lnTo>
                    <a:pt x="5086096" y="6858000"/>
                  </a:lnTo>
                  <a:lnTo>
                    <a:pt x="0" y="6858000"/>
                  </a:lnTo>
                  <a:lnTo>
                    <a:pt x="0" y="0"/>
                  </a:lnTo>
                  <a:close/>
                </a:path>
              </a:pathLst>
            </a:custGeom>
            <a:blipFill>
              <a:blip r:embed="rId8"/>
              <a:stretch>
                <a:fillRect l="0" t="-7" r="0" b="-7"/>
              </a:stretch>
            </a:blipFill>
          </p:spPr>
          <p:txBody>
            <a:bodyPr/>
            <a:p/>
          </p:txBody>
        </p:sp>
      </p:grpSp>
      <p:sp>
        <p:nvSpPr>
          <p:cNvPr name="TextBox 26" id="26"/>
          <p:cNvSpPr txBox="true"/>
          <p:nvPr/>
        </p:nvSpPr>
        <p:spPr>
          <a:xfrm rot="0">
            <a:off x="5290042" y="7840980"/>
            <a:ext cx="3814572" cy="525780"/>
          </a:xfrm>
          <a:prstGeom prst="rect">
            <a:avLst/>
          </a:prstGeom>
        </p:spPr>
        <p:txBody>
          <a:bodyPr anchor="t" rtlCol="false" tIns="0" lIns="0" bIns="0" rIns="0">
            <a:spAutoFit/>
          </a:bodyPr>
          <a:lstStyle/>
          <a:p>
            <a:pPr algn="ctr">
              <a:lnSpc>
                <a:spcPts val="2250"/>
              </a:lnSpc>
            </a:pPr>
            <a:r>
              <a:rPr lang="en-US" sz="1875" b="true">
                <a:solidFill>
                  <a:srgbClr val="0B5E6E"/>
                </a:solidFill>
                <a:latin typeface="Calibri (MS) Bold"/>
                <a:ea typeface="Calibri (MS) Bold"/>
                <a:cs typeface="Calibri (MS) Bold"/>
                <a:sym typeface="Calibri (MS) Bold"/>
              </a:rPr>
              <a:t>Model</a:t>
            </a:r>
          </a:p>
        </p:txBody>
      </p:sp>
      <p:grpSp>
        <p:nvGrpSpPr>
          <p:cNvPr name="Group 27" id="27"/>
          <p:cNvGrpSpPr/>
          <p:nvPr/>
        </p:nvGrpSpPr>
        <p:grpSpPr>
          <a:xfrm rot="0">
            <a:off x="9378934" y="2674620"/>
            <a:ext cx="3883914" cy="5143500"/>
            <a:chOff x="0" y="0"/>
            <a:chExt cx="5178552" cy="6858000"/>
          </a:xfrm>
        </p:grpSpPr>
        <p:sp>
          <p:nvSpPr>
            <p:cNvPr name="Freeform 28" id="28" descr="Halaman Skenario aplikasi"/>
            <p:cNvSpPr/>
            <p:nvPr/>
          </p:nvSpPr>
          <p:spPr>
            <a:xfrm flipH="false" flipV="false" rot="0">
              <a:off x="0" y="0"/>
              <a:ext cx="5178552" cy="6858000"/>
            </a:xfrm>
            <a:custGeom>
              <a:avLst/>
              <a:gdLst/>
              <a:ahLst/>
              <a:cxnLst/>
              <a:rect r="r" b="b" t="t" l="l"/>
              <a:pathLst>
                <a:path h="6858000" w="5178552">
                  <a:moveTo>
                    <a:pt x="0" y="0"/>
                  </a:moveTo>
                  <a:lnTo>
                    <a:pt x="5178552" y="0"/>
                  </a:lnTo>
                  <a:lnTo>
                    <a:pt x="5178552" y="6858000"/>
                  </a:lnTo>
                  <a:lnTo>
                    <a:pt x="0" y="6858000"/>
                  </a:lnTo>
                  <a:lnTo>
                    <a:pt x="0" y="0"/>
                  </a:lnTo>
                  <a:close/>
                </a:path>
              </a:pathLst>
            </a:custGeom>
            <a:blipFill>
              <a:blip r:embed="rId9"/>
              <a:stretch>
                <a:fillRect l="0" t="-77" r="0" b="-77"/>
              </a:stretch>
            </a:blipFill>
          </p:spPr>
          <p:txBody>
            <a:bodyPr/>
            <a:p/>
          </p:txBody>
        </p:sp>
      </p:grpSp>
      <p:sp>
        <p:nvSpPr>
          <p:cNvPr name="TextBox 29" id="29"/>
          <p:cNvSpPr txBox="true"/>
          <p:nvPr/>
        </p:nvSpPr>
        <p:spPr>
          <a:xfrm rot="0">
            <a:off x="9378934" y="7840980"/>
            <a:ext cx="3883962" cy="525780"/>
          </a:xfrm>
          <a:prstGeom prst="rect">
            <a:avLst/>
          </a:prstGeom>
        </p:spPr>
        <p:txBody>
          <a:bodyPr anchor="t" rtlCol="false" tIns="0" lIns="0" bIns="0" rIns="0">
            <a:spAutoFit/>
          </a:bodyPr>
          <a:lstStyle/>
          <a:p>
            <a:pPr algn="ctr">
              <a:lnSpc>
                <a:spcPts val="2250"/>
              </a:lnSpc>
            </a:pPr>
            <a:r>
              <a:rPr lang="en-US" sz="1875" b="true">
                <a:solidFill>
                  <a:srgbClr val="0B5E6E"/>
                </a:solidFill>
                <a:latin typeface="Calibri (MS) Bold"/>
                <a:ea typeface="Calibri (MS) Bold"/>
                <a:cs typeface="Calibri (MS) Bold"/>
                <a:sym typeface="Calibri (MS) Bold"/>
              </a:rPr>
              <a:t>Skenario</a:t>
            </a:r>
          </a:p>
        </p:txBody>
      </p:sp>
      <p:grpSp>
        <p:nvGrpSpPr>
          <p:cNvPr name="Group 30" id="30"/>
          <p:cNvGrpSpPr/>
          <p:nvPr/>
        </p:nvGrpSpPr>
        <p:grpSpPr>
          <a:xfrm rot="0">
            <a:off x="13537216" y="2674620"/>
            <a:ext cx="3925729" cy="5143500"/>
            <a:chOff x="0" y="0"/>
            <a:chExt cx="5234305" cy="6858000"/>
          </a:xfrm>
        </p:grpSpPr>
        <p:sp>
          <p:nvSpPr>
            <p:cNvPr name="Freeform 31" id="31" descr="Halaman Simulasi aplikasi"/>
            <p:cNvSpPr/>
            <p:nvPr/>
          </p:nvSpPr>
          <p:spPr>
            <a:xfrm flipH="false" flipV="false" rot="0">
              <a:off x="0" y="0"/>
              <a:ext cx="5234305" cy="6858000"/>
            </a:xfrm>
            <a:custGeom>
              <a:avLst/>
              <a:gdLst/>
              <a:ahLst/>
              <a:cxnLst/>
              <a:rect r="r" b="b" t="t" l="l"/>
              <a:pathLst>
                <a:path h="6858000" w="5234305">
                  <a:moveTo>
                    <a:pt x="0" y="0"/>
                  </a:moveTo>
                  <a:lnTo>
                    <a:pt x="5234305" y="0"/>
                  </a:lnTo>
                  <a:lnTo>
                    <a:pt x="5234305" y="6858000"/>
                  </a:lnTo>
                  <a:lnTo>
                    <a:pt x="0" y="6858000"/>
                  </a:lnTo>
                  <a:lnTo>
                    <a:pt x="0" y="0"/>
                  </a:lnTo>
                  <a:close/>
                </a:path>
              </a:pathLst>
            </a:custGeom>
            <a:blipFill>
              <a:blip r:embed="rId10"/>
              <a:stretch>
                <a:fillRect l="-42" t="0" r="-42" b="0"/>
              </a:stretch>
            </a:blipFill>
          </p:spPr>
          <p:txBody>
            <a:bodyPr/>
            <a:p/>
          </p:txBody>
        </p:sp>
      </p:grpSp>
      <p:sp>
        <p:nvSpPr>
          <p:cNvPr name="TextBox 32" id="32"/>
          <p:cNvSpPr txBox="true"/>
          <p:nvPr/>
        </p:nvSpPr>
        <p:spPr>
          <a:xfrm rot="0">
            <a:off x="13537216" y="7840980"/>
            <a:ext cx="3925738" cy="525780"/>
          </a:xfrm>
          <a:prstGeom prst="rect">
            <a:avLst/>
          </a:prstGeom>
        </p:spPr>
        <p:txBody>
          <a:bodyPr anchor="t" rtlCol="false" tIns="0" lIns="0" bIns="0" rIns="0">
            <a:spAutoFit/>
          </a:bodyPr>
          <a:lstStyle/>
          <a:p>
            <a:pPr algn="ctr">
              <a:lnSpc>
                <a:spcPts val="2250"/>
              </a:lnSpc>
            </a:pPr>
            <a:r>
              <a:rPr lang="en-US" sz="1875" b="true">
                <a:solidFill>
                  <a:srgbClr val="0B5E6E"/>
                </a:solidFill>
                <a:latin typeface="Calibri (MS) Bold"/>
                <a:ea typeface="Calibri (MS) Bold"/>
                <a:cs typeface="Calibri (MS) Bold"/>
                <a:sym typeface="Calibri (MS) Bold"/>
              </a:rPr>
              <a:t>Simulasi</a:t>
            </a:r>
          </a:p>
        </p:txBody>
      </p:sp>
      <p:sp>
        <p:nvSpPr>
          <p:cNvPr name="TextBox 33" id="33"/>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67</a:t>
            </a:r>
          </a:p>
        </p:txBody>
      </p:sp>
      <p:sp>
        <p:nvSpPr>
          <p:cNvPr name="TextBox 34" id="34"/>
          <p:cNvSpPr txBox="true"/>
          <p:nvPr/>
        </p:nvSpPr>
        <p:spPr>
          <a:xfrm rot="0">
            <a:off x="822960" y="8475345"/>
            <a:ext cx="16642080" cy="760095"/>
          </a:xfrm>
          <a:prstGeom prst="rect">
            <a:avLst/>
          </a:prstGeom>
        </p:spPr>
        <p:txBody>
          <a:bodyPr anchor="t" rtlCol="false" tIns="0" lIns="0" bIns="0" rIns="0">
            <a:spAutoFit/>
          </a:bodyPr>
          <a:lstStyle/>
          <a:p>
            <a:pPr algn="l">
              <a:lnSpc>
                <a:spcPts val="1932"/>
              </a:lnSpc>
            </a:pPr>
            <a:r>
              <a:rPr lang="en-US" sz="1610" b="true">
                <a:solidFill>
                  <a:srgbClr val="0B5E6E"/>
                </a:solidFill>
                <a:latin typeface="Calibri (MS) Bold"/>
                <a:ea typeface="Calibri (MS) Bold"/>
                <a:cs typeface="Calibri (MS) Bold"/>
                <a:sym typeface="Calibri (MS) Bold"/>
              </a:rPr>
              <a:t>Input: </a:t>
            </a:r>
            <a:r>
              <a:rPr lang="en-US" sz="1610">
                <a:solidFill>
                  <a:srgbClr val="14313B"/>
                </a:solidFill>
                <a:latin typeface="Calibri (MS)"/>
                <a:ea typeface="Calibri (MS)"/>
                <a:cs typeface="Calibri (MS)"/>
                <a:sym typeface="Calibri (MS)"/>
              </a:rPr>
              <a:t>pilih skenario atau atur Insentif Kebijakan (0–0,5) dan Kebijakan Konservasi Lahan (0–1).  </a:t>
            </a:r>
            <a:r>
              <a:rPr lang="en-US" sz="1610" b="true">
                <a:solidFill>
                  <a:srgbClr val="0B5E6E"/>
                </a:solidFill>
                <a:latin typeface="Calibri (MS) Bold"/>
                <a:ea typeface="Calibri (MS) Bold"/>
                <a:cs typeface="Calibri (MS) Bold"/>
                <a:sym typeface="Calibri (MS) Bold"/>
              </a:rPr>
              <a:t>Proses: </a:t>
            </a:r>
            <a:r>
              <a:rPr lang="en-US" sz="1610">
                <a:solidFill>
                  <a:srgbClr val="14313B"/>
                </a:solidFill>
                <a:latin typeface="Calibri (MS)"/>
                <a:ea typeface="Calibri (MS)"/>
                <a:cs typeface="Calibri (MS)"/>
                <a:sym typeface="Calibri (MS)"/>
              </a:rPr>
              <a:t>model hasil konversi SDEverywhere menghitung 2025–2050 di peramban.  </a:t>
            </a:r>
            <a:r>
              <a:rPr lang="en-US" sz="1610" b="true">
                <a:solidFill>
                  <a:srgbClr val="0B5E6E"/>
                </a:solidFill>
                <a:latin typeface="Calibri (MS) Bold"/>
                <a:ea typeface="Calibri (MS) Bold"/>
                <a:cs typeface="Calibri (MS) Bold"/>
                <a:sym typeface="Calibri (MS) Bold"/>
              </a:rPr>
              <a:t>Output: </a:t>
            </a:r>
            <a:r>
              <a:rPr lang="en-US" sz="1610">
                <a:solidFill>
                  <a:srgbClr val="14313B"/>
                </a:solidFill>
                <a:latin typeface="Calibri (MS)"/>
                <a:ea typeface="Calibri (MS)"/>
                <a:cs typeface="Calibri (MS)"/>
                <a:sym typeface="Calibri (MS)"/>
              </a:rPr>
              <a:t>indikator numerik dan grafik deret waktu; perbandingan tiga skenario.</a:t>
            </a:r>
          </a:p>
        </p:txBody>
      </p:sp>
      <p:grpSp>
        <p:nvGrpSpPr>
          <p:cNvPr name="Group 35" id="35"/>
          <p:cNvGrpSpPr/>
          <p:nvPr/>
        </p:nvGrpSpPr>
        <p:grpSpPr>
          <a:xfrm rot="0">
            <a:off x="16047720" y="9646920"/>
            <a:ext cx="420624" cy="420624"/>
            <a:chOff x="0" y="0"/>
            <a:chExt cx="560832" cy="560832"/>
          </a:xfrm>
        </p:grpSpPr>
        <p:sp>
          <p:nvSpPr>
            <p:cNvPr name="Freeform 36" id="36"/>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37" id="37"/>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6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Hasil Pengujian Fungsional (Black-box)</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9 dari 9 kasus uji berhasil (Pass)</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0B5E6E"/>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68</a:t>
            </a:r>
          </a:p>
        </p:txBody>
      </p:sp>
      <p:graphicFrame>
        <p:nvGraphicFramePr>
          <p:cNvPr name="Table 67" id="67"/>
          <p:cNvGraphicFramePr>
            <a:graphicFrameLocks noGrp="true"/>
          </p:cNvGraphicFramePr>
          <p:nvPr/>
        </p:nvGraphicFramePr>
        <p:xfrm>
          <a:off x="822960" y="2286000"/>
          <a:ext cx="16611600" cy="5461000"/>
        </p:xfrm>
        <a:graphic>
          <a:graphicData uri="http://schemas.openxmlformats.org/drawingml/2006/table">
            <a:tbl>
              <a:tblPr/>
              <a:tblGrid>
                <a:gridCol w="638908"/>
                <a:gridCol w="3833446"/>
                <a:gridCol w="5537200"/>
                <a:gridCol w="5324231"/>
                <a:gridCol w="1277815"/>
              </a:tblGrid>
              <a:tr h="546100">
                <a:tc>
                  <a:txBody>
                    <a:bodyPr anchor="t" rtlCol="false"/>
                    <a:lstStyle/>
                    <a:p>
                      <a:pPr algn="l">
                        <a:lnSpc>
                          <a:spcPts val="1860"/>
                        </a:lnSpc>
                        <a:defRPr/>
                      </a:pPr>
                      <a:r>
                        <a:rPr lang="en-US" sz="1550" b="true">
                          <a:solidFill>
                            <a:srgbClr val="FFFFFF"/>
                          </a:solidFill>
                          <a:latin typeface="Calibri (MS) Bold"/>
                          <a:ea typeface="Calibri (MS) Bold"/>
                          <a:cs typeface="Calibri (MS) Bold"/>
                          <a:sym typeface="Calibri (MS) Bold"/>
                        </a:rPr>
                        <a:t>No</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860"/>
                        </a:lnSpc>
                        <a:defRPr/>
                      </a:pPr>
                      <a:r>
                        <a:rPr lang="en-US" sz="1550" b="true">
                          <a:solidFill>
                            <a:srgbClr val="FFFFFF"/>
                          </a:solidFill>
                          <a:latin typeface="Calibri (MS) Bold"/>
                          <a:ea typeface="Calibri (MS) Bold"/>
                          <a:cs typeface="Calibri (MS) Bold"/>
                          <a:sym typeface="Calibri (MS) Bold"/>
                        </a:rPr>
                        <a:t>Fungsi yang diuji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860"/>
                        </a:lnSpc>
                        <a:defRPr/>
                      </a:pPr>
                      <a:r>
                        <a:rPr lang="en-US" sz="1550" b="true">
                          <a:solidFill>
                            <a:srgbClr val="FFFFFF"/>
                          </a:solidFill>
                          <a:latin typeface="Calibri (MS) Bold"/>
                          <a:ea typeface="Calibri (MS) Bold"/>
                          <a:cs typeface="Calibri (MS) Bold"/>
                          <a:sym typeface="Calibri (MS) Bold"/>
                        </a:rPr>
                        <a:t>Tindakan / masukan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860"/>
                        </a:lnSpc>
                        <a:defRPr/>
                      </a:pPr>
                      <a:r>
                        <a:rPr lang="en-US" sz="1550" b="true">
                          <a:solidFill>
                            <a:srgbClr val="FFFFFF"/>
                          </a:solidFill>
                          <a:latin typeface="Calibri (MS) Bold"/>
                          <a:ea typeface="Calibri (MS) Bold"/>
                          <a:cs typeface="Calibri (MS) Bold"/>
                          <a:sym typeface="Calibri (MS) Bold"/>
                        </a:rPr>
                        <a:t>Hasil yang diharapkan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860"/>
                        </a:lnSpc>
                        <a:defRPr/>
                      </a:pPr>
                      <a:r>
                        <a:rPr lang="en-US" sz="1550" b="true">
                          <a:solidFill>
                            <a:srgbClr val="FFFFFF"/>
                          </a:solidFill>
                          <a:latin typeface="Calibri (MS) Bold"/>
                          <a:ea typeface="Calibri (MS) Bold"/>
                          <a:cs typeface="Calibri (MS) Bold"/>
                          <a:sym typeface="Calibri (MS) Bold"/>
                        </a:rPr>
                        <a:t>Status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r>
              <a:tr h="546100">
                <a:tc>
                  <a:txBody>
                    <a:bodyPr anchor="t" rtlCol="false"/>
                    <a:lstStyle/>
                    <a:p>
                      <a:pPr algn="l">
                        <a:lnSpc>
                          <a:spcPts val="1860"/>
                        </a:lnSpc>
                        <a:defRPr/>
                      </a:pPr>
                      <a:r>
                        <a:rPr lang="en-US" sz="1550">
                          <a:solidFill>
                            <a:srgbClr val="14313B"/>
                          </a:solidFill>
                          <a:latin typeface="Calibri (MS)"/>
                          <a:ea typeface="Calibri (MS)"/>
                          <a:cs typeface="Calibri (MS)"/>
                          <a:sym typeface="Calibri (MS)"/>
                        </a:rPr>
                        <a:t>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Navigasi aplikasi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Pilih menu Beranda, Model, Skenario, Simulasi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Halaman sesuai menu tampil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Pass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BDEFF3"/>
                    </a:solidFill>
                  </a:tcPr>
                </a:tc>
              </a:tr>
              <a:tr h="546100">
                <a:tc>
                  <a:txBody>
                    <a:bodyPr anchor="t" rtlCol="false"/>
                    <a:lstStyle/>
                    <a:p>
                      <a:pPr algn="l">
                        <a:lnSpc>
                          <a:spcPts val="1860"/>
                        </a:lnSpc>
                        <a:defRPr/>
                      </a:pPr>
                      <a:r>
                        <a:rPr lang="en-US" sz="1550">
                          <a:solidFill>
                            <a:srgbClr val="14313B"/>
                          </a:solidFill>
                          <a:latin typeface="Calibri (MS)"/>
                          <a:ea typeface="Calibri (MS)"/>
                          <a:cs typeface="Calibri (MS)"/>
                          <a:sym typeface="Calibri (MS)"/>
                        </a:rPr>
                        <a:t>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Pergantian tampilan Model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Pilih tab Struktur / Evaluasi Model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Konten sesuai tab</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Pass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BDEFF3"/>
                    </a:solidFill>
                  </a:tcPr>
                </a:tc>
              </a:tr>
              <a:tr h="546100">
                <a:tc>
                  <a:txBody>
                    <a:bodyPr anchor="t" rtlCol="false"/>
                    <a:lstStyle/>
                    <a:p>
                      <a:pPr algn="l">
                        <a:lnSpc>
                          <a:spcPts val="1860"/>
                        </a:lnSpc>
                        <a:defRPr/>
                      </a:pPr>
                      <a:r>
                        <a:rPr lang="en-US" sz="1550">
                          <a:solidFill>
                            <a:srgbClr val="14313B"/>
                          </a:solidFill>
                          <a:latin typeface="Calibri (MS)"/>
                          <a:ea typeface="Calibri (MS)"/>
                          <a:cs typeface="Calibri (MS)"/>
                          <a:sym typeface="Calibri (MS)"/>
                        </a:rPr>
                        <a:t>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Pemilihan skenario</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Pilih BAU, Sustainable, atau DP</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Skenario menjadi aktif</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Pass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BDEFF3"/>
                    </a:solidFill>
                  </a:tcPr>
                </a:tc>
              </a:tr>
              <a:tr h="546100">
                <a:tc>
                  <a:txBody>
                    <a:bodyPr anchor="t" rtlCol="false"/>
                    <a:lstStyle/>
                    <a:p>
                      <a:pPr algn="l">
                        <a:lnSpc>
                          <a:spcPts val="1860"/>
                        </a:lnSpc>
                        <a:defRPr/>
                      </a:pPr>
                      <a:r>
                        <a:rPr lang="en-US" sz="1550">
                          <a:solidFill>
                            <a:srgbClr val="14313B"/>
                          </a:solidFill>
                          <a:latin typeface="Calibri (MS)"/>
                          <a:ea typeface="Calibri (MS)"/>
                          <a:cs typeface="Calibri (MS)"/>
                          <a:sym typeface="Calibri (MS)"/>
                        </a:rPr>
                        <a:t>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Perbandingan skenario</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Aktifkan Bandingkan Semua Skenario</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Ketiga skenario tampil berdampingan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Pass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BDEFF3"/>
                    </a:solidFill>
                  </a:tcPr>
                </a:tc>
              </a:tr>
              <a:tr h="546100">
                <a:tc>
                  <a:txBody>
                    <a:bodyPr anchor="t" rtlCol="false"/>
                    <a:lstStyle/>
                    <a:p>
                      <a:pPr algn="l">
                        <a:lnSpc>
                          <a:spcPts val="1860"/>
                        </a:lnSpc>
                        <a:defRPr/>
                      </a:pPr>
                      <a:r>
                        <a:rPr lang="en-US" sz="1550">
                          <a:solidFill>
                            <a:srgbClr val="14313B"/>
                          </a:solidFill>
                          <a:latin typeface="Calibri (MS)"/>
                          <a:ea typeface="Calibri (MS)"/>
                          <a:cs typeface="Calibri (MS)"/>
                          <a:sym typeface="Calibri (MS)"/>
                        </a:rPr>
                        <a:t>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Menjalankan simulasi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Tekan Jalankan Simulasi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Hasil 2025–2050 tampil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Pass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BDEFF3"/>
                    </a:solidFill>
                  </a:tcPr>
                </a:tc>
              </a:tr>
              <a:tr h="546100">
                <a:tc>
                  <a:txBody>
                    <a:bodyPr anchor="t" rtlCol="false"/>
                    <a:lstStyle/>
                    <a:p>
                      <a:pPr algn="l">
                        <a:lnSpc>
                          <a:spcPts val="1860"/>
                        </a:lnSpc>
                        <a:defRPr/>
                      </a:pPr>
                      <a:r>
                        <a:rPr lang="en-US" sz="1550">
                          <a:solidFill>
                            <a:srgbClr val="14313B"/>
                          </a:solidFill>
                          <a:latin typeface="Calibri (MS)"/>
                          <a:ea typeface="Calibri (MS)"/>
                          <a:cs typeface="Calibri (MS)"/>
                          <a:sym typeface="Calibri (MS)"/>
                        </a:rPr>
                        <a:t>6</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Pemilihan variabel keluaran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Pilih / batalkan variabel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Grafik dan data menyesuaikan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Pass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BDEFF3"/>
                    </a:solidFill>
                  </a:tcPr>
                </a:tc>
              </a:tr>
              <a:tr h="546100">
                <a:tc>
                  <a:txBody>
                    <a:bodyPr anchor="t" rtlCol="false"/>
                    <a:lstStyle/>
                    <a:p>
                      <a:pPr algn="l">
                        <a:lnSpc>
                          <a:spcPts val="1860"/>
                        </a:lnSpc>
                        <a:defRPr/>
                      </a:pPr>
                      <a:r>
                        <a:rPr lang="en-US" sz="1550">
                          <a:solidFill>
                            <a:srgbClr val="14313B"/>
                          </a:solidFill>
                          <a:latin typeface="Calibri (MS)"/>
                          <a:ea typeface="Calibri (MS)"/>
                          <a:cs typeface="Calibri (MS)"/>
                          <a:sym typeface="Calibri (MS)"/>
                        </a:rPr>
                        <a:t>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Perubahan Insentif Kebijakan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Ubah nilai lewat kontrol parameter</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Nilai berubah dan dipakai simulasi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Pass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BDEFF3"/>
                    </a:solidFill>
                  </a:tcPr>
                </a:tc>
              </a:tr>
              <a:tr h="546100">
                <a:tc>
                  <a:txBody>
                    <a:bodyPr anchor="t" rtlCol="false"/>
                    <a:lstStyle/>
                    <a:p>
                      <a:pPr algn="l">
                        <a:lnSpc>
                          <a:spcPts val="1860"/>
                        </a:lnSpc>
                        <a:defRPr/>
                      </a:pPr>
                      <a:r>
                        <a:rPr lang="en-US" sz="1550">
                          <a:solidFill>
                            <a:srgbClr val="14313B"/>
                          </a:solidFill>
                          <a:latin typeface="Calibri (MS)"/>
                          <a:ea typeface="Calibri (MS)"/>
                          <a:cs typeface="Calibri (MS)"/>
                          <a:sym typeface="Calibri (MS)"/>
                        </a:rPr>
                        <a:t>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Perubahan Konservasi Lahan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Ubah nilai lewat kontrol parameter</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Nilai berubah dan dipakai simulasi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Pass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BDEFF3"/>
                    </a:solidFill>
                  </a:tcPr>
                </a:tc>
              </a:tr>
              <a:tr h="546100">
                <a:tc>
                  <a:txBody>
                    <a:bodyPr anchor="t" rtlCol="false"/>
                    <a:lstStyle/>
                    <a:p>
                      <a:pPr algn="l">
                        <a:lnSpc>
                          <a:spcPts val="1860"/>
                        </a:lnSpc>
                        <a:defRPr/>
                      </a:pPr>
                      <a:r>
                        <a:rPr lang="en-US" sz="1550">
                          <a:solidFill>
                            <a:srgbClr val="14313B"/>
                          </a:solidFill>
                          <a:latin typeface="Calibri (MS)"/>
                          <a:ea typeface="Calibri (MS)"/>
                          <a:cs typeface="Calibri (MS)"/>
                          <a:sym typeface="Calibri (MS)"/>
                        </a:rPr>
                        <a:t>9</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Reset parameter</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Tekan Reset ke BAU</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Parameter kembali ke BAU</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Pass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BDEFF3"/>
                    </a:solidFill>
                  </a:tcPr>
                </a:tc>
              </a:tr>
            </a:tbl>
          </a:graphicData>
        </a:graphic>
      </p:graphicFrame>
      <p:grpSp>
        <p:nvGrpSpPr>
          <p:cNvPr name="Group 68" id="68"/>
          <p:cNvGrpSpPr/>
          <p:nvPr/>
        </p:nvGrpSpPr>
        <p:grpSpPr>
          <a:xfrm rot="0">
            <a:off x="816607" y="7994647"/>
            <a:ext cx="16654777" cy="927097"/>
            <a:chOff x="0" y="0"/>
            <a:chExt cx="22206369" cy="1236129"/>
          </a:xfrm>
        </p:grpSpPr>
        <p:sp>
          <p:nvSpPr>
            <p:cNvPr name="Freeform 69" id="69"/>
            <p:cNvSpPr/>
            <p:nvPr/>
          </p:nvSpPr>
          <p:spPr>
            <a:xfrm flipH="false" flipV="false" rot="0">
              <a:off x="0" y="0"/>
              <a:ext cx="22206458" cy="1236218"/>
            </a:xfrm>
            <a:custGeom>
              <a:avLst/>
              <a:gdLst/>
              <a:ahLst/>
              <a:cxnLst/>
              <a:rect r="r" b="b" t="t" l="l"/>
              <a:pathLst>
                <a:path h="1236218" w="22206458">
                  <a:moveTo>
                    <a:pt x="0" y="98933"/>
                  </a:moveTo>
                  <a:cubicBezTo>
                    <a:pt x="0" y="44323"/>
                    <a:pt x="44323" y="0"/>
                    <a:pt x="98933" y="0"/>
                  </a:cubicBezTo>
                  <a:lnTo>
                    <a:pt x="22107525" y="0"/>
                  </a:lnTo>
                  <a:cubicBezTo>
                    <a:pt x="22162136" y="0"/>
                    <a:pt x="22206458" y="44323"/>
                    <a:pt x="22206458" y="98933"/>
                  </a:cubicBezTo>
                  <a:lnTo>
                    <a:pt x="22206458" y="1137285"/>
                  </a:lnTo>
                  <a:cubicBezTo>
                    <a:pt x="22206458" y="1191895"/>
                    <a:pt x="22162136" y="1236218"/>
                    <a:pt x="22107525" y="1236218"/>
                  </a:cubicBezTo>
                  <a:lnTo>
                    <a:pt x="98933" y="1236218"/>
                  </a:lnTo>
                  <a:cubicBezTo>
                    <a:pt x="44323" y="1236091"/>
                    <a:pt x="0" y="1191895"/>
                    <a:pt x="0" y="1137285"/>
                  </a:cubicBezTo>
                  <a:close/>
                </a:path>
              </a:pathLst>
            </a:custGeom>
            <a:solidFill>
              <a:srgbClr val="FFF1BF"/>
            </a:solidFill>
            <a:ln w="12700" cap="sq">
              <a:solidFill>
                <a:srgbClr val="FFD23B"/>
              </a:solidFill>
              <a:prstDash val="solid"/>
              <a:miter/>
            </a:ln>
          </p:spPr>
          <p:txBody>
            <a:bodyPr/>
            <a:p/>
          </p:txBody>
        </p:sp>
        <p:sp>
          <p:nvSpPr>
            <p:cNvPr name="TextBox 70" id="70"/>
            <p:cNvSpPr txBox="true"/>
            <p:nvPr/>
          </p:nvSpPr>
          <p:spPr>
            <a:xfrm>
              <a:off x="0" y="-38100"/>
              <a:ext cx="22206369" cy="127422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Fungsi utama berjalan sesuai rancangan (100% kasus uji). Pengujian ini tidak menilai kemudahan penggunaan — itu dinilai lewat SUS.</a:t>
              </a:r>
            </a:p>
          </p:txBody>
        </p:sp>
      </p:grpSp>
      <p:grpSp>
        <p:nvGrpSpPr>
          <p:cNvPr name="Group 71" id="71"/>
          <p:cNvGrpSpPr/>
          <p:nvPr/>
        </p:nvGrpSpPr>
        <p:grpSpPr>
          <a:xfrm rot="0">
            <a:off x="16047720" y="9646920"/>
            <a:ext cx="420624" cy="420624"/>
            <a:chOff x="0" y="0"/>
            <a:chExt cx="560832" cy="560832"/>
          </a:xfrm>
        </p:grpSpPr>
        <p:sp>
          <p:nvSpPr>
            <p:cNvPr name="Freeform 72" id="72"/>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73" id="73"/>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6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Hasil Evaluasi Usability (SUS)</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Skor SUS rata-rata 88,50: aplikasi mudah digunakan</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0B5E6E"/>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822960" y="2188845"/>
            <a:ext cx="9052560" cy="622935"/>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Skor SUS per responden (n = 10)</a:t>
            </a:r>
          </a:p>
        </p:txBody>
      </p:sp>
      <p:sp>
        <p:nvSpPr>
          <p:cNvPr name="TextBox 67" id="67"/>
          <p:cNvSpPr txBox="true"/>
          <p:nvPr/>
        </p:nvSpPr>
        <p:spPr>
          <a:xfrm rot="0">
            <a:off x="822960" y="7448550"/>
            <a:ext cx="9464040" cy="506730"/>
          </a:xfrm>
          <a:prstGeom prst="rect">
            <a:avLst/>
          </a:prstGeom>
        </p:spPr>
        <p:txBody>
          <a:bodyPr anchor="t" rtlCol="false" tIns="0" lIns="0" bIns="0" rIns="0">
            <a:spAutoFit/>
          </a:bodyPr>
          <a:lstStyle/>
          <a:p>
            <a:pPr algn="l">
              <a:lnSpc>
                <a:spcPts val="1889"/>
              </a:lnSpc>
            </a:pPr>
            <a:r>
              <a:rPr lang="en-US" sz="1299" i="true">
                <a:solidFill>
                  <a:srgbClr val="5E6E78"/>
                </a:solidFill>
                <a:latin typeface="Calibri (MS) Italics"/>
                <a:ea typeface="Calibri (MS) Italics"/>
                <a:cs typeface="Calibri (MS) Italics"/>
                <a:sym typeface="Calibri (MS) Italics"/>
              </a:rPr>
              <a:t>Batang merah = skor di bawah rata-rata normatif SUS (±68; Brooke, 2013): hanya R8. Responden: 10 mahasiswa (data kuesioner) setelah mencoba lima tugas.</a:t>
            </a:r>
          </a:p>
        </p:txBody>
      </p:sp>
      <p:grpSp>
        <p:nvGrpSpPr>
          <p:cNvPr name="Group 68" id="68"/>
          <p:cNvGrpSpPr/>
          <p:nvPr/>
        </p:nvGrpSpPr>
        <p:grpSpPr>
          <a:xfrm rot="0">
            <a:off x="10698480" y="2400300"/>
            <a:ext cx="6761988" cy="1714500"/>
            <a:chOff x="0" y="0"/>
            <a:chExt cx="9015984" cy="2286000"/>
          </a:xfrm>
        </p:grpSpPr>
        <p:sp>
          <p:nvSpPr>
            <p:cNvPr name="Freeform 69" id="69"/>
            <p:cNvSpPr/>
            <p:nvPr/>
          </p:nvSpPr>
          <p:spPr>
            <a:xfrm flipH="false" flipV="false" rot="0">
              <a:off x="0" y="0"/>
              <a:ext cx="9015985" cy="2286000"/>
            </a:xfrm>
            <a:custGeom>
              <a:avLst/>
              <a:gdLst/>
              <a:ahLst/>
              <a:cxnLst/>
              <a:rect r="r" b="b" t="t" l="l"/>
              <a:pathLst>
                <a:path h="2286000" w="9015985">
                  <a:moveTo>
                    <a:pt x="0" y="182880"/>
                  </a:moveTo>
                  <a:cubicBezTo>
                    <a:pt x="0" y="81915"/>
                    <a:pt x="81915" y="0"/>
                    <a:pt x="182880" y="0"/>
                  </a:cubicBezTo>
                  <a:lnTo>
                    <a:pt x="8833104" y="0"/>
                  </a:lnTo>
                  <a:cubicBezTo>
                    <a:pt x="8934069" y="0"/>
                    <a:pt x="9015985" y="81915"/>
                    <a:pt x="9015985" y="182880"/>
                  </a:cubicBezTo>
                  <a:lnTo>
                    <a:pt x="9015985" y="2103120"/>
                  </a:lnTo>
                  <a:cubicBezTo>
                    <a:pt x="9015985" y="2204085"/>
                    <a:pt x="8934069" y="2286000"/>
                    <a:pt x="8833104" y="2286000"/>
                  </a:cubicBezTo>
                  <a:lnTo>
                    <a:pt x="182880" y="2286000"/>
                  </a:lnTo>
                  <a:cubicBezTo>
                    <a:pt x="81915" y="2286000"/>
                    <a:pt x="0" y="2204085"/>
                    <a:pt x="0" y="2103120"/>
                  </a:cubicBezTo>
                  <a:close/>
                </a:path>
              </a:pathLst>
            </a:custGeom>
            <a:solidFill>
              <a:srgbClr val="EAF8FA"/>
            </a:solidFill>
          </p:spPr>
          <p:txBody>
            <a:bodyPr/>
            <a:p/>
          </p:txBody>
        </p:sp>
      </p:grpSp>
      <p:grpSp>
        <p:nvGrpSpPr>
          <p:cNvPr name="Group 70" id="70"/>
          <p:cNvGrpSpPr/>
          <p:nvPr/>
        </p:nvGrpSpPr>
        <p:grpSpPr>
          <a:xfrm rot="0">
            <a:off x="11041380" y="2400300"/>
            <a:ext cx="2400300" cy="1714500"/>
            <a:chOff x="0" y="0"/>
            <a:chExt cx="3200400" cy="2286000"/>
          </a:xfrm>
        </p:grpSpPr>
        <p:sp>
          <p:nvSpPr>
            <p:cNvPr name="Freeform 71" id="71"/>
            <p:cNvSpPr/>
            <p:nvPr/>
          </p:nvSpPr>
          <p:spPr>
            <a:xfrm flipH="false" flipV="false" rot="0">
              <a:off x="0" y="0"/>
              <a:ext cx="3200400" cy="2286000"/>
            </a:xfrm>
            <a:custGeom>
              <a:avLst/>
              <a:gdLst/>
              <a:ahLst/>
              <a:cxnLst/>
              <a:rect r="r" b="b" t="t" l="l"/>
              <a:pathLst>
                <a:path h="2286000" w="3200400">
                  <a:moveTo>
                    <a:pt x="0" y="0"/>
                  </a:moveTo>
                  <a:lnTo>
                    <a:pt x="3200400" y="0"/>
                  </a:lnTo>
                  <a:lnTo>
                    <a:pt x="3200400" y="2286000"/>
                  </a:lnTo>
                  <a:lnTo>
                    <a:pt x="0" y="2286000"/>
                  </a:lnTo>
                  <a:close/>
                </a:path>
              </a:pathLst>
            </a:custGeom>
            <a:blipFill>
              <a:blip r:embed="rId4">
                <a:alphaModFix amt="0"/>
              </a:blip>
              <a:stretch>
                <a:fillRect l="-41709" t="0" r="-41709" b="0"/>
              </a:stretch>
            </a:blipFill>
          </p:spPr>
          <p:txBody>
            <a:bodyPr/>
            <a:p/>
          </p:txBody>
        </p:sp>
      </p:grpSp>
      <p:grpSp>
        <p:nvGrpSpPr>
          <p:cNvPr name="Group 72" id="72"/>
          <p:cNvGrpSpPr/>
          <p:nvPr/>
        </p:nvGrpSpPr>
        <p:grpSpPr>
          <a:xfrm rot="0">
            <a:off x="11041380" y="2336006"/>
            <a:ext cx="2400300" cy="1778794"/>
            <a:chOff x="0" y="0"/>
            <a:chExt cx="3200400" cy="2371725"/>
          </a:xfrm>
        </p:grpSpPr>
        <p:sp>
          <p:nvSpPr>
            <p:cNvPr name="Freeform 73" id="73"/>
            <p:cNvSpPr/>
            <p:nvPr/>
          </p:nvSpPr>
          <p:spPr>
            <a:xfrm flipH="false" flipV="false" rot="0">
              <a:off x="0" y="0"/>
              <a:ext cx="3200400" cy="2371725"/>
            </a:xfrm>
            <a:custGeom>
              <a:avLst/>
              <a:gdLst/>
              <a:ahLst/>
              <a:cxnLst/>
              <a:rect r="r" b="b" t="t" l="l"/>
              <a:pathLst>
                <a:path h="2371725" w="3200400">
                  <a:moveTo>
                    <a:pt x="0" y="0"/>
                  </a:moveTo>
                  <a:lnTo>
                    <a:pt x="3200400" y="0"/>
                  </a:lnTo>
                  <a:lnTo>
                    <a:pt x="3200400" y="2371725"/>
                  </a:lnTo>
                  <a:lnTo>
                    <a:pt x="0" y="2371725"/>
                  </a:lnTo>
                  <a:close/>
                </a:path>
              </a:pathLst>
            </a:custGeom>
            <a:blipFill>
              <a:blip r:embed="rId5">
                <a:alphaModFix amt="0"/>
              </a:blip>
              <a:stretch>
                <a:fillRect l="-45148" t="0" r="-45148" b="0"/>
              </a:stretch>
            </a:blipFill>
          </p:spPr>
          <p:txBody>
            <a:bodyPr/>
            <a:p/>
          </p:txBody>
        </p:sp>
      </p:grpSp>
      <p:grpSp>
        <p:nvGrpSpPr>
          <p:cNvPr name="Group 74" id="74"/>
          <p:cNvGrpSpPr/>
          <p:nvPr/>
        </p:nvGrpSpPr>
        <p:grpSpPr>
          <a:xfrm rot="0">
            <a:off x="11041380" y="2271712"/>
            <a:ext cx="2400300" cy="1843088"/>
            <a:chOff x="0" y="0"/>
            <a:chExt cx="3200400" cy="2457450"/>
          </a:xfrm>
        </p:grpSpPr>
        <p:sp>
          <p:nvSpPr>
            <p:cNvPr name="Freeform 75" id="75"/>
            <p:cNvSpPr/>
            <p:nvPr/>
          </p:nvSpPr>
          <p:spPr>
            <a:xfrm flipH="false" flipV="false" rot="0">
              <a:off x="0" y="0"/>
              <a:ext cx="3200400" cy="2457450"/>
            </a:xfrm>
            <a:custGeom>
              <a:avLst/>
              <a:gdLst/>
              <a:ahLst/>
              <a:cxnLst/>
              <a:rect r="r" b="b" t="t" l="l"/>
              <a:pathLst>
                <a:path h="2457450" w="3200400">
                  <a:moveTo>
                    <a:pt x="0" y="0"/>
                  </a:moveTo>
                  <a:lnTo>
                    <a:pt x="3200400" y="0"/>
                  </a:lnTo>
                  <a:lnTo>
                    <a:pt x="3200400" y="2457450"/>
                  </a:lnTo>
                  <a:lnTo>
                    <a:pt x="0" y="2457450"/>
                  </a:lnTo>
                  <a:close/>
                </a:path>
              </a:pathLst>
            </a:custGeom>
            <a:blipFill>
              <a:blip r:embed="rId6">
                <a:alphaModFix amt="0"/>
              </a:blip>
              <a:stretch>
                <a:fillRect l="-48518" t="0" r="-48518" b="0"/>
              </a:stretch>
            </a:blipFill>
          </p:spPr>
          <p:txBody>
            <a:bodyPr/>
            <a:p/>
          </p:txBody>
        </p:sp>
        <p:sp>
          <p:nvSpPr>
            <p:cNvPr name="TextBox 76" id="76"/>
            <p:cNvSpPr txBox="true"/>
            <p:nvPr/>
          </p:nvSpPr>
          <p:spPr>
            <a:xfrm>
              <a:off x="0" y="-85725"/>
              <a:ext cx="3200400" cy="2543175"/>
            </a:xfrm>
            <a:prstGeom prst="rect">
              <a:avLst/>
            </a:prstGeom>
          </p:spPr>
          <p:txBody>
            <a:bodyPr anchor="ctr" rtlCol="false" tIns="0" lIns="0" bIns="0" rIns="0"/>
            <a:lstStyle/>
            <a:p>
              <a:pPr algn="l">
                <a:lnSpc>
                  <a:spcPts val="5040"/>
                </a:lnSpc>
              </a:pPr>
              <a:r>
                <a:rPr lang="en-US" sz="4200" b="true">
                  <a:solidFill>
                    <a:srgbClr val="0B5E6E"/>
                  </a:solidFill>
                  <a:latin typeface="Calibri (MS) Bold"/>
                  <a:ea typeface="Calibri (MS) Bold"/>
                  <a:cs typeface="Calibri (MS) Bold"/>
                  <a:sym typeface="Calibri (MS) Bold"/>
                </a:rPr>
                <a:t>9 / 9</a:t>
              </a:r>
            </a:p>
          </p:txBody>
        </p:sp>
      </p:grpSp>
      <p:grpSp>
        <p:nvGrpSpPr>
          <p:cNvPr name="Group 77" id="77"/>
          <p:cNvGrpSpPr/>
          <p:nvPr/>
        </p:nvGrpSpPr>
        <p:grpSpPr>
          <a:xfrm rot="0">
            <a:off x="13510260" y="2400300"/>
            <a:ext cx="3771900" cy="1714500"/>
            <a:chOff x="0" y="0"/>
            <a:chExt cx="5029200" cy="2286000"/>
          </a:xfrm>
        </p:grpSpPr>
        <p:sp>
          <p:nvSpPr>
            <p:cNvPr name="Freeform 78" id="78"/>
            <p:cNvSpPr/>
            <p:nvPr/>
          </p:nvSpPr>
          <p:spPr>
            <a:xfrm flipH="false" flipV="false" rot="0">
              <a:off x="0" y="0"/>
              <a:ext cx="5029200" cy="2286000"/>
            </a:xfrm>
            <a:custGeom>
              <a:avLst/>
              <a:gdLst/>
              <a:ahLst/>
              <a:cxnLst/>
              <a:rect r="r" b="b" t="t" l="l"/>
              <a:pathLst>
                <a:path h="2286000" w="5029200">
                  <a:moveTo>
                    <a:pt x="0" y="0"/>
                  </a:moveTo>
                  <a:lnTo>
                    <a:pt x="5029200" y="0"/>
                  </a:lnTo>
                  <a:lnTo>
                    <a:pt x="5029200" y="2286000"/>
                  </a:lnTo>
                  <a:lnTo>
                    <a:pt x="0" y="2286000"/>
                  </a:lnTo>
                  <a:close/>
                </a:path>
              </a:pathLst>
            </a:custGeom>
            <a:blipFill>
              <a:blip r:embed="rId4">
                <a:alphaModFix amt="0"/>
              </a:blip>
              <a:stretch>
                <a:fillRect l="-8360" t="0" r="-8360" b="0"/>
              </a:stretch>
            </a:blipFill>
          </p:spPr>
          <p:txBody>
            <a:bodyPr/>
            <a:p/>
          </p:txBody>
        </p:sp>
      </p:grpSp>
      <p:grpSp>
        <p:nvGrpSpPr>
          <p:cNvPr name="Group 79" id="79"/>
          <p:cNvGrpSpPr/>
          <p:nvPr/>
        </p:nvGrpSpPr>
        <p:grpSpPr>
          <a:xfrm rot="0">
            <a:off x="13510260" y="2371725"/>
            <a:ext cx="3771900" cy="1743075"/>
            <a:chOff x="0" y="0"/>
            <a:chExt cx="5029200" cy="2324100"/>
          </a:xfrm>
        </p:grpSpPr>
        <p:sp>
          <p:nvSpPr>
            <p:cNvPr name="Freeform 80" id="80"/>
            <p:cNvSpPr/>
            <p:nvPr/>
          </p:nvSpPr>
          <p:spPr>
            <a:xfrm flipH="false" flipV="false" rot="0">
              <a:off x="0" y="0"/>
              <a:ext cx="5029200" cy="2324100"/>
            </a:xfrm>
            <a:custGeom>
              <a:avLst/>
              <a:gdLst/>
              <a:ahLst/>
              <a:cxnLst/>
              <a:rect r="r" b="b" t="t" l="l"/>
              <a:pathLst>
                <a:path h="2324100" w="5029200">
                  <a:moveTo>
                    <a:pt x="0" y="0"/>
                  </a:moveTo>
                  <a:lnTo>
                    <a:pt x="5029200" y="0"/>
                  </a:lnTo>
                  <a:lnTo>
                    <a:pt x="5029200" y="2324100"/>
                  </a:lnTo>
                  <a:lnTo>
                    <a:pt x="0" y="2324100"/>
                  </a:lnTo>
                  <a:close/>
                </a:path>
              </a:pathLst>
            </a:custGeom>
            <a:blipFill>
              <a:blip r:embed="rId5">
                <a:alphaModFix amt="0"/>
              </a:blip>
              <a:stretch>
                <a:fillRect l="-9333" t="0" r="-9333" b="0"/>
              </a:stretch>
            </a:blipFill>
          </p:spPr>
          <p:txBody>
            <a:bodyPr/>
            <a:p/>
          </p:txBody>
        </p:sp>
      </p:grpSp>
      <p:grpSp>
        <p:nvGrpSpPr>
          <p:cNvPr name="Group 81" id="81"/>
          <p:cNvGrpSpPr/>
          <p:nvPr/>
        </p:nvGrpSpPr>
        <p:grpSpPr>
          <a:xfrm rot="0">
            <a:off x="13510260" y="2343150"/>
            <a:ext cx="3771900" cy="1771650"/>
            <a:chOff x="0" y="0"/>
            <a:chExt cx="5029200" cy="2362200"/>
          </a:xfrm>
        </p:grpSpPr>
        <p:sp>
          <p:nvSpPr>
            <p:cNvPr name="Freeform 82" id="82"/>
            <p:cNvSpPr/>
            <p:nvPr/>
          </p:nvSpPr>
          <p:spPr>
            <a:xfrm flipH="false" flipV="false" rot="0">
              <a:off x="0" y="0"/>
              <a:ext cx="5029200" cy="2362200"/>
            </a:xfrm>
            <a:custGeom>
              <a:avLst/>
              <a:gdLst/>
              <a:ahLst/>
              <a:cxnLst/>
              <a:rect r="r" b="b" t="t" l="l"/>
              <a:pathLst>
                <a:path h="2362200" w="5029200">
                  <a:moveTo>
                    <a:pt x="0" y="0"/>
                  </a:moveTo>
                  <a:lnTo>
                    <a:pt x="5029200" y="0"/>
                  </a:lnTo>
                  <a:lnTo>
                    <a:pt x="5029200" y="2362200"/>
                  </a:lnTo>
                  <a:lnTo>
                    <a:pt x="0" y="2362200"/>
                  </a:lnTo>
                  <a:close/>
                </a:path>
              </a:pathLst>
            </a:custGeom>
            <a:blipFill>
              <a:blip r:embed="rId6">
                <a:alphaModFix amt="0"/>
              </a:blip>
              <a:stretch>
                <a:fillRect l="-10263" t="0" r="-10263" b="0"/>
              </a:stretch>
            </a:blipFill>
          </p:spPr>
          <p:txBody>
            <a:bodyPr/>
            <a:p/>
          </p:txBody>
        </p:sp>
        <p:sp>
          <p:nvSpPr>
            <p:cNvPr name="TextBox 83" id="83"/>
            <p:cNvSpPr txBox="true"/>
            <p:nvPr/>
          </p:nvSpPr>
          <p:spPr>
            <a:xfrm>
              <a:off x="0" y="-38100"/>
              <a:ext cx="5029200" cy="2400300"/>
            </a:xfrm>
            <a:prstGeom prst="rect">
              <a:avLst/>
            </a:prstGeom>
          </p:spPr>
          <p:txBody>
            <a:bodyPr anchor="ctr" rtlCol="false" tIns="0" lIns="0" bIns="0" rIns="0"/>
            <a:lstStyle/>
            <a:p>
              <a:pPr algn="l">
                <a:lnSpc>
                  <a:spcPts val="2250"/>
                </a:lnSpc>
              </a:pPr>
              <a:r>
                <a:rPr lang="en-US" sz="1875">
                  <a:solidFill>
                    <a:srgbClr val="14313B"/>
                  </a:solidFill>
                  <a:latin typeface="Calibri (MS)"/>
                  <a:ea typeface="Calibri (MS)"/>
                  <a:cs typeface="Calibri (MS)"/>
                  <a:sym typeface="Calibri (MS)"/>
                </a:rPr>
                <a:t>kasus uji black-box berstatus Pass (100%)</a:t>
              </a:r>
            </a:p>
          </p:txBody>
        </p:sp>
      </p:grpSp>
      <p:grpSp>
        <p:nvGrpSpPr>
          <p:cNvPr name="Group 84" id="84"/>
          <p:cNvGrpSpPr/>
          <p:nvPr/>
        </p:nvGrpSpPr>
        <p:grpSpPr>
          <a:xfrm rot="0">
            <a:off x="10698480" y="4293108"/>
            <a:ext cx="6761988" cy="1714500"/>
            <a:chOff x="0" y="0"/>
            <a:chExt cx="9015984" cy="2286000"/>
          </a:xfrm>
        </p:grpSpPr>
        <p:sp>
          <p:nvSpPr>
            <p:cNvPr name="Freeform 85" id="85"/>
            <p:cNvSpPr/>
            <p:nvPr/>
          </p:nvSpPr>
          <p:spPr>
            <a:xfrm flipH="false" flipV="false" rot="0">
              <a:off x="0" y="0"/>
              <a:ext cx="9015985" cy="2286000"/>
            </a:xfrm>
            <a:custGeom>
              <a:avLst/>
              <a:gdLst/>
              <a:ahLst/>
              <a:cxnLst/>
              <a:rect r="r" b="b" t="t" l="l"/>
              <a:pathLst>
                <a:path h="2286000" w="9015985">
                  <a:moveTo>
                    <a:pt x="0" y="182880"/>
                  </a:moveTo>
                  <a:cubicBezTo>
                    <a:pt x="0" y="81915"/>
                    <a:pt x="81915" y="0"/>
                    <a:pt x="182880" y="0"/>
                  </a:cubicBezTo>
                  <a:lnTo>
                    <a:pt x="8833104" y="0"/>
                  </a:lnTo>
                  <a:cubicBezTo>
                    <a:pt x="8934069" y="0"/>
                    <a:pt x="9015985" y="81915"/>
                    <a:pt x="9015985" y="182880"/>
                  </a:cubicBezTo>
                  <a:lnTo>
                    <a:pt x="9015985" y="2103120"/>
                  </a:lnTo>
                  <a:cubicBezTo>
                    <a:pt x="9015985" y="2204085"/>
                    <a:pt x="8934069" y="2286000"/>
                    <a:pt x="8833104" y="2286000"/>
                  </a:cubicBezTo>
                  <a:lnTo>
                    <a:pt x="182880" y="2286000"/>
                  </a:lnTo>
                  <a:cubicBezTo>
                    <a:pt x="81915" y="2286000"/>
                    <a:pt x="0" y="2204085"/>
                    <a:pt x="0" y="2103120"/>
                  </a:cubicBezTo>
                  <a:close/>
                </a:path>
              </a:pathLst>
            </a:custGeom>
            <a:solidFill>
              <a:srgbClr val="EAF8FA"/>
            </a:solidFill>
          </p:spPr>
          <p:txBody>
            <a:bodyPr/>
            <a:p/>
          </p:txBody>
        </p:sp>
      </p:grpSp>
      <p:grpSp>
        <p:nvGrpSpPr>
          <p:cNvPr name="Group 86" id="86"/>
          <p:cNvGrpSpPr/>
          <p:nvPr/>
        </p:nvGrpSpPr>
        <p:grpSpPr>
          <a:xfrm rot="0">
            <a:off x="11041380" y="4293108"/>
            <a:ext cx="2400300" cy="1714500"/>
            <a:chOff x="0" y="0"/>
            <a:chExt cx="3200400" cy="2286000"/>
          </a:xfrm>
        </p:grpSpPr>
        <p:sp>
          <p:nvSpPr>
            <p:cNvPr name="Freeform 87" id="87"/>
            <p:cNvSpPr/>
            <p:nvPr/>
          </p:nvSpPr>
          <p:spPr>
            <a:xfrm flipH="false" flipV="false" rot="0">
              <a:off x="0" y="0"/>
              <a:ext cx="3200400" cy="2286000"/>
            </a:xfrm>
            <a:custGeom>
              <a:avLst/>
              <a:gdLst/>
              <a:ahLst/>
              <a:cxnLst/>
              <a:rect r="r" b="b" t="t" l="l"/>
              <a:pathLst>
                <a:path h="2286000" w="3200400">
                  <a:moveTo>
                    <a:pt x="0" y="0"/>
                  </a:moveTo>
                  <a:lnTo>
                    <a:pt x="3200400" y="0"/>
                  </a:lnTo>
                  <a:lnTo>
                    <a:pt x="3200400" y="2286000"/>
                  </a:lnTo>
                  <a:lnTo>
                    <a:pt x="0" y="2286000"/>
                  </a:lnTo>
                  <a:close/>
                </a:path>
              </a:pathLst>
            </a:custGeom>
            <a:blipFill>
              <a:blip r:embed="rId4">
                <a:alphaModFix amt="0"/>
              </a:blip>
              <a:stretch>
                <a:fillRect l="-41709" t="0" r="-41709" b="0"/>
              </a:stretch>
            </a:blipFill>
          </p:spPr>
          <p:txBody>
            <a:bodyPr/>
            <a:p/>
          </p:txBody>
        </p:sp>
      </p:grpSp>
      <p:grpSp>
        <p:nvGrpSpPr>
          <p:cNvPr name="Group 88" id="88"/>
          <p:cNvGrpSpPr/>
          <p:nvPr/>
        </p:nvGrpSpPr>
        <p:grpSpPr>
          <a:xfrm rot="0">
            <a:off x="11041380" y="4228814"/>
            <a:ext cx="2400300" cy="1778794"/>
            <a:chOff x="0" y="0"/>
            <a:chExt cx="3200400" cy="2371725"/>
          </a:xfrm>
        </p:grpSpPr>
        <p:sp>
          <p:nvSpPr>
            <p:cNvPr name="Freeform 89" id="89"/>
            <p:cNvSpPr/>
            <p:nvPr/>
          </p:nvSpPr>
          <p:spPr>
            <a:xfrm flipH="false" flipV="false" rot="0">
              <a:off x="0" y="0"/>
              <a:ext cx="3200400" cy="2371725"/>
            </a:xfrm>
            <a:custGeom>
              <a:avLst/>
              <a:gdLst/>
              <a:ahLst/>
              <a:cxnLst/>
              <a:rect r="r" b="b" t="t" l="l"/>
              <a:pathLst>
                <a:path h="2371725" w="3200400">
                  <a:moveTo>
                    <a:pt x="0" y="0"/>
                  </a:moveTo>
                  <a:lnTo>
                    <a:pt x="3200400" y="0"/>
                  </a:lnTo>
                  <a:lnTo>
                    <a:pt x="3200400" y="2371725"/>
                  </a:lnTo>
                  <a:lnTo>
                    <a:pt x="0" y="2371725"/>
                  </a:lnTo>
                  <a:close/>
                </a:path>
              </a:pathLst>
            </a:custGeom>
            <a:blipFill>
              <a:blip r:embed="rId5">
                <a:alphaModFix amt="0"/>
              </a:blip>
              <a:stretch>
                <a:fillRect l="-45148" t="0" r="-45148" b="0"/>
              </a:stretch>
            </a:blipFill>
          </p:spPr>
          <p:txBody>
            <a:bodyPr/>
            <a:p/>
          </p:txBody>
        </p:sp>
      </p:grpSp>
      <p:grpSp>
        <p:nvGrpSpPr>
          <p:cNvPr name="Group 90" id="90"/>
          <p:cNvGrpSpPr/>
          <p:nvPr/>
        </p:nvGrpSpPr>
        <p:grpSpPr>
          <a:xfrm rot="0">
            <a:off x="11041380" y="4164521"/>
            <a:ext cx="2400300" cy="1843088"/>
            <a:chOff x="0" y="0"/>
            <a:chExt cx="3200400" cy="2457450"/>
          </a:xfrm>
        </p:grpSpPr>
        <p:sp>
          <p:nvSpPr>
            <p:cNvPr name="Freeform 91" id="91"/>
            <p:cNvSpPr/>
            <p:nvPr/>
          </p:nvSpPr>
          <p:spPr>
            <a:xfrm flipH="false" flipV="false" rot="0">
              <a:off x="0" y="0"/>
              <a:ext cx="3200400" cy="2457450"/>
            </a:xfrm>
            <a:custGeom>
              <a:avLst/>
              <a:gdLst/>
              <a:ahLst/>
              <a:cxnLst/>
              <a:rect r="r" b="b" t="t" l="l"/>
              <a:pathLst>
                <a:path h="2457450" w="3200400">
                  <a:moveTo>
                    <a:pt x="0" y="0"/>
                  </a:moveTo>
                  <a:lnTo>
                    <a:pt x="3200400" y="0"/>
                  </a:lnTo>
                  <a:lnTo>
                    <a:pt x="3200400" y="2457450"/>
                  </a:lnTo>
                  <a:lnTo>
                    <a:pt x="0" y="2457450"/>
                  </a:lnTo>
                  <a:close/>
                </a:path>
              </a:pathLst>
            </a:custGeom>
            <a:blipFill>
              <a:blip r:embed="rId6">
                <a:alphaModFix amt="0"/>
              </a:blip>
              <a:stretch>
                <a:fillRect l="-48518" t="0" r="-48518" b="0"/>
              </a:stretch>
            </a:blipFill>
          </p:spPr>
          <p:txBody>
            <a:bodyPr/>
            <a:p/>
          </p:txBody>
        </p:sp>
        <p:sp>
          <p:nvSpPr>
            <p:cNvPr name="TextBox 92" id="92"/>
            <p:cNvSpPr txBox="true"/>
            <p:nvPr/>
          </p:nvSpPr>
          <p:spPr>
            <a:xfrm>
              <a:off x="0" y="-85725"/>
              <a:ext cx="3200400" cy="2543175"/>
            </a:xfrm>
            <a:prstGeom prst="rect">
              <a:avLst/>
            </a:prstGeom>
          </p:spPr>
          <p:txBody>
            <a:bodyPr anchor="ctr" rtlCol="false" tIns="0" lIns="0" bIns="0" rIns="0"/>
            <a:lstStyle/>
            <a:p>
              <a:pPr algn="l">
                <a:lnSpc>
                  <a:spcPts val="5040"/>
                </a:lnSpc>
              </a:pPr>
              <a:r>
                <a:rPr lang="en-US" sz="4200" b="true">
                  <a:solidFill>
                    <a:srgbClr val="0B5E6E"/>
                  </a:solidFill>
                  <a:latin typeface="Calibri (MS) Bold"/>
                  <a:ea typeface="Calibri (MS) Bold"/>
                  <a:cs typeface="Calibri (MS) Bold"/>
                  <a:sym typeface="Calibri (MS) Bold"/>
                </a:rPr>
                <a:t>88,50</a:t>
              </a:r>
            </a:p>
          </p:txBody>
        </p:sp>
      </p:grpSp>
      <p:grpSp>
        <p:nvGrpSpPr>
          <p:cNvPr name="Group 93" id="93"/>
          <p:cNvGrpSpPr/>
          <p:nvPr/>
        </p:nvGrpSpPr>
        <p:grpSpPr>
          <a:xfrm rot="0">
            <a:off x="13510260" y="4293108"/>
            <a:ext cx="3771900" cy="1714500"/>
            <a:chOff x="0" y="0"/>
            <a:chExt cx="5029200" cy="2286000"/>
          </a:xfrm>
        </p:grpSpPr>
        <p:sp>
          <p:nvSpPr>
            <p:cNvPr name="Freeform 94" id="94"/>
            <p:cNvSpPr/>
            <p:nvPr/>
          </p:nvSpPr>
          <p:spPr>
            <a:xfrm flipH="false" flipV="false" rot="0">
              <a:off x="0" y="0"/>
              <a:ext cx="5029200" cy="2286000"/>
            </a:xfrm>
            <a:custGeom>
              <a:avLst/>
              <a:gdLst/>
              <a:ahLst/>
              <a:cxnLst/>
              <a:rect r="r" b="b" t="t" l="l"/>
              <a:pathLst>
                <a:path h="2286000" w="5029200">
                  <a:moveTo>
                    <a:pt x="0" y="0"/>
                  </a:moveTo>
                  <a:lnTo>
                    <a:pt x="5029200" y="0"/>
                  </a:lnTo>
                  <a:lnTo>
                    <a:pt x="5029200" y="2286000"/>
                  </a:lnTo>
                  <a:lnTo>
                    <a:pt x="0" y="2286000"/>
                  </a:lnTo>
                  <a:close/>
                </a:path>
              </a:pathLst>
            </a:custGeom>
            <a:blipFill>
              <a:blip r:embed="rId4">
                <a:alphaModFix amt="0"/>
              </a:blip>
              <a:stretch>
                <a:fillRect l="-8360" t="0" r="-8360" b="0"/>
              </a:stretch>
            </a:blipFill>
          </p:spPr>
          <p:txBody>
            <a:bodyPr/>
            <a:p/>
          </p:txBody>
        </p:sp>
      </p:grpSp>
      <p:grpSp>
        <p:nvGrpSpPr>
          <p:cNvPr name="Group 95" id="95"/>
          <p:cNvGrpSpPr/>
          <p:nvPr/>
        </p:nvGrpSpPr>
        <p:grpSpPr>
          <a:xfrm rot="0">
            <a:off x="13510260" y="4264533"/>
            <a:ext cx="3771900" cy="1743075"/>
            <a:chOff x="0" y="0"/>
            <a:chExt cx="5029200" cy="2324100"/>
          </a:xfrm>
        </p:grpSpPr>
        <p:sp>
          <p:nvSpPr>
            <p:cNvPr name="Freeform 96" id="96"/>
            <p:cNvSpPr/>
            <p:nvPr/>
          </p:nvSpPr>
          <p:spPr>
            <a:xfrm flipH="false" flipV="false" rot="0">
              <a:off x="0" y="0"/>
              <a:ext cx="5029200" cy="2324100"/>
            </a:xfrm>
            <a:custGeom>
              <a:avLst/>
              <a:gdLst/>
              <a:ahLst/>
              <a:cxnLst/>
              <a:rect r="r" b="b" t="t" l="l"/>
              <a:pathLst>
                <a:path h="2324100" w="5029200">
                  <a:moveTo>
                    <a:pt x="0" y="0"/>
                  </a:moveTo>
                  <a:lnTo>
                    <a:pt x="5029200" y="0"/>
                  </a:lnTo>
                  <a:lnTo>
                    <a:pt x="5029200" y="2324100"/>
                  </a:lnTo>
                  <a:lnTo>
                    <a:pt x="0" y="2324100"/>
                  </a:lnTo>
                  <a:close/>
                </a:path>
              </a:pathLst>
            </a:custGeom>
            <a:blipFill>
              <a:blip r:embed="rId5">
                <a:alphaModFix amt="0"/>
              </a:blip>
              <a:stretch>
                <a:fillRect l="-9333" t="0" r="-9333" b="0"/>
              </a:stretch>
            </a:blipFill>
          </p:spPr>
          <p:txBody>
            <a:bodyPr/>
            <a:p/>
          </p:txBody>
        </p:sp>
      </p:grpSp>
      <p:grpSp>
        <p:nvGrpSpPr>
          <p:cNvPr name="Group 97" id="97"/>
          <p:cNvGrpSpPr/>
          <p:nvPr/>
        </p:nvGrpSpPr>
        <p:grpSpPr>
          <a:xfrm rot="0">
            <a:off x="13510260" y="4235958"/>
            <a:ext cx="3771900" cy="1771650"/>
            <a:chOff x="0" y="0"/>
            <a:chExt cx="5029200" cy="2362200"/>
          </a:xfrm>
        </p:grpSpPr>
        <p:sp>
          <p:nvSpPr>
            <p:cNvPr name="Freeform 98" id="98"/>
            <p:cNvSpPr/>
            <p:nvPr/>
          </p:nvSpPr>
          <p:spPr>
            <a:xfrm flipH="false" flipV="false" rot="0">
              <a:off x="0" y="0"/>
              <a:ext cx="5029200" cy="2362200"/>
            </a:xfrm>
            <a:custGeom>
              <a:avLst/>
              <a:gdLst/>
              <a:ahLst/>
              <a:cxnLst/>
              <a:rect r="r" b="b" t="t" l="l"/>
              <a:pathLst>
                <a:path h="2362200" w="5029200">
                  <a:moveTo>
                    <a:pt x="0" y="0"/>
                  </a:moveTo>
                  <a:lnTo>
                    <a:pt x="5029200" y="0"/>
                  </a:lnTo>
                  <a:lnTo>
                    <a:pt x="5029200" y="2362200"/>
                  </a:lnTo>
                  <a:lnTo>
                    <a:pt x="0" y="2362200"/>
                  </a:lnTo>
                  <a:close/>
                </a:path>
              </a:pathLst>
            </a:custGeom>
            <a:blipFill>
              <a:blip r:embed="rId6">
                <a:alphaModFix amt="0"/>
              </a:blip>
              <a:stretch>
                <a:fillRect l="-10263" t="0" r="-10263" b="0"/>
              </a:stretch>
            </a:blipFill>
          </p:spPr>
          <p:txBody>
            <a:bodyPr/>
            <a:p/>
          </p:txBody>
        </p:sp>
        <p:sp>
          <p:nvSpPr>
            <p:cNvPr name="TextBox 99" id="99"/>
            <p:cNvSpPr txBox="true"/>
            <p:nvPr/>
          </p:nvSpPr>
          <p:spPr>
            <a:xfrm>
              <a:off x="0" y="-38100"/>
              <a:ext cx="5029200" cy="2400300"/>
            </a:xfrm>
            <a:prstGeom prst="rect">
              <a:avLst/>
            </a:prstGeom>
          </p:spPr>
          <p:txBody>
            <a:bodyPr anchor="ctr" rtlCol="false" tIns="0" lIns="0" bIns="0" rIns="0"/>
            <a:lstStyle/>
            <a:p>
              <a:pPr algn="l">
                <a:lnSpc>
                  <a:spcPts val="2250"/>
                </a:lnSpc>
              </a:pPr>
              <a:r>
                <a:rPr lang="en-US" sz="1875">
                  <a:solidFill>
                    <a:srgbClr val="14313B"/>
                  </a:solidFill>
                  <a:latin typeface="Calibri (MS)"/>
                  <a:ea typeface="Calibri (MS)"/>
                  <a:cs typeface="Calibri (MS)"/>
                  <a:sym typeface="Calibri (MS)"/>
                </a:rPr>
                <a:t>skor SUS rata-rata (median 92,50; SD 13,85)</a:t>
              </a:r>
            </a:p>
          </p:txBody>
        </p:sp>
      </p:grpSp>
      <p:grpSp>
        <p:nvGrpSpPr>
          <p:cNvPr name="Group 100" id="100"/>
          <p:cNvGrpSpPr/>
          <p:nvPr/>
        </p:nvGrpSpPr>
        <p:grpSpPr>
          <a:xfrm rot="0">
            <a:off x="10698480" y="6185916"/>
            <a:ext cx="6761988" cy="1714500"/>
            <a:chOff x="0" y="0"/>
            <a:chExt cx="9015984" cy="2286000"/>
          </a:xfrm>
        </p:grpSpPr>
        <p:sp>
          <p:nvSpPr>
            <p:cNvPr name="Freeform 101" id="101"/>
            <p:cNvSpPr/>
            <p:nvPr/>
          </p:nvSpPr>
          <p:spPr>
            <a:xfrm flipH="false" flipV="false" rot="0">
              <a:off x="0" y="0"/>
              <a:ext cx="9015985" cy="2286000"/>
            </a:xfrm>
            <a:custGeom>
              <a:avLst/>
              <a:gdLst/>
              <a:ahLst/>
              <a:cxnLst/>
              <a:rect r="r" b="b" t="t" l="l"/>
              <a:pathLst>
                <a:path h="2286000" w="9015985">
                  <a:moveTo>
                    <a:pt x="0" y="182880"/>
                  </a:moveTo>
                  <a:cubicBezTo>
                    <a:pt x="0" y="81915"/>
                    <a:pt x="81915" y="0"/>
                    <a:pt x="182880" y="0"/>
                  </a:cubicBezTo>
                  <a:lnTo>
                    <a:pt x="8833104" y="0"/>
                  </a:lnTo>
                  <a:cubicBezTo>
                    <a:pt x="8934069" y="0"/>
                    <a:pt x="9015985" y="81915"/>
                    <a:pt x="9015985" y="182880"/>
                  </a:cubicBezTo>
                  <a:lnTo>
                    <a:pt x="9015985" y="2103120"/>
                  </a:lnTo>
                  <a:cubicBezTo>
                    <a:pt x="9015985" y="2204085"/>
                    <a:pt x="8934069" y="2286000"/>
                    <a:pt x="8833104" y="2286000"/>
                  </a:cubicBezTo>
                  <a:lnTo>
                    <a:pt x="182880" y="2286000"/>
                  </a:lnTo>
                  <a:cubicBezTo>
                    <a:pt x="81915" y="2286000"/>
                    <a:pt x="0" y="2204085"/>
                    <a:pt x="0" y="2103120"/>
                  </a:cubicBezTo>
                  <a:close/>
                </a:path>
              </a:pathLst>
            </a:custGeom>
            <a:solidFill>
              <a:srgbClr val="EAF8FA"/>
            </a:solidFill>
          </p:spPr>
          <p:txBody>
            <a:bodyPr/>
            <a:p/>
          </p:txBody>
        </p:sp>
      </p:grpSp>
      <p:grpSp>
        <p:nvGrpSpPr>
          <p:cNvPr name="Group 102" id="102"/>
          <p:cNvGrpSpPr/>
          <p:nvPr/>
        </p:nvGrpSpPr>
        <p:grpSpPr>
          <a:xfrm rot="0">
            <a:off x="11041380" y="6185916"/>
            <a:ext cx="2400300" cy="1714500"/>
            <a:chOff x="0" y="0"/>
            <a:chExt cx="3200400" cy="2286000"/>
          </a:xfrm>
        </p:grpSpPr>
        <p:sp>
          <p:nvSpPr>
            <p:cNvPr name="Freeform 103" id="103"/>
            <p:cNvSpPr/>
            <p:nvPr/>
          </p:nvSpPr>
          <p:spPr>
            <a:xfrm flipH="false" flipV="false" rot="0">
              <a:off x="0" y="0"/>
              <a:ext cx="3200400" cy="2286000"/>
            </a:xfrm>
            <a:custGeom>
              <a:avLst/>
              <a:gdLst/>
              <a:ahLst/>
              <a:cxnLst/>
              <a:rect r="r" b="b" t="t" l="l"/>
              <a:pathLst>
                <a:path h="2286000" w="3200400">
                  <a:moveTo>
                    <a:pt x="0" y="0"/>
                  </a:moveTo>
                  <a:lnTo>
                    <a:pt x="3200400" y="0"/>
                  </a:lnTo>
                  <a:lnTo>
                    <a:pt x="3200400" y="2286000"/>
                  </a:lnTo>
                  <a:lnTo>
                    <a:pt x="0" y="2286000"/>
                  </a:lnTo>
                  <a:close/>
                </a:path>
              </a:pathLst>
            </a:custGeom>
            <a:blipFill>
              <a:blip r:embed="rId4">
                <a:alphaModFix amt="0"/>
              </a:blip>
              <a:stretch>
                <a:fillRect l="-41709" t="0" r="-41709" b="0"/>
              </a:stretch>
            </a:blipFill>
          </p:spPr>
          <p:txBody>
            <a:bodyPr/>
            <a:p/>
          </p:txBody>
        </p:sp>
      </p:grpSp>
      <p:grpSp>
        <p:nvGrpSpPr>
          <p:cNvPr name="Group 104" id="104"/>
          <p:cNvGrpSpPr/>
          <p:nvPr/>
        </p:nvGrpSpPr>
        <p:grpSpPr>
          <a:xfrm rot="0">
            <a:off x="11041380" y="6121622"/>
            <a:ext cx="2400300" cy="1778794"/>
            <a:chOff x="0" y="0"/>
            <a:chExt cx="3200400" cy="2371725"/>
          </a:xfrm>
        </p:grpSpPr>
        <p:sp>
          <p:nvSpPr>
            <p:cNvPr name="Freeform 105" id="105"/>
            <p:cNvSpPr/>
            <p:nvPr/>
          </p:nvSpPr>
          <p:spPr>
            <a:xfrm flipH="false" flipV="false" rot="0">
              <a:off x="0" y="0"/>
              <a:ext cx="3200400" cy="2371725"/>
            </a:xfrm>
            <a:custGeom>
              <a:avLst/>
              <a:gdLst/>
              <a:ahLst/>
              <a:cxnLst/>
              <a:rect r="r" b="b" t="t" l="l"/>
              <a:pathLst>
                <a:path h="2371725" w="3200400">
                  <a:moveTo>
                    <a:pt x="0" y="0"/>
                  </a:moveTo>
                  <a:lnTo>
                    <a:pt x="3200400" y="0"/>
                  </a:lnTo>
                  <a:lnTo>
                    <a:pt x="3200400" y="2371725"/>
                  </a:lnTo>
                  <a:lnTo>
                    <a:pt x="0" y="2371725"/>
                  </a:lnTo>
                  <a:close/>
                </a:path>
              </a:pathLst>
            </a:custGeom>
            <a:blipFill>
              <a:blip r:embed="rId5">
                <a:alphaModFix amt="0"/>
              </a:blip>
              <a:stretch>
                <a:fillRect l="-45148" t="0" r="-45148" b="0"/>
              </a:stretch>
            </a:blipFill>
          </p:spPr>
          <p:txBody>
            <a:bodyPr/>
            <a:p/>
          </p:txBody>
        </p:sp>
      </p:grpSp>
      <p:grpSp>
        <p:nvGrpSpPr>
          <p:cNvPr name="Group 106" id="106"/>
          <p:cNvGrpSpPr/>
          <p:nvPr/>
        </p:nvGrpSpPr>
        <p:grpSpPr>
          <a:xfrm rot="0">
            <a:off x="11041380" y="6057329"/>
            <a:ext cx="2400300" cy="1843088"/>
            <a:chOff x="0" y="0"/>
            <a:chExt cx="3200400" cy="2457450"/>
          </a:xfrm>
        </p:grpSpPr>
        <p:sp>
          <p:nvSpPr>
            <p:cNvPr name="Freeform 107" id="107"/>
            <p:cNvSpPr/>
            <p:nvPr/>
          </p:nvSpPr>
          <p:spPr>
            <a:xfrm flipH="false" flipV="false" rot="0">
              <a:off x="0" y="0"/>
              <a:ext cx="3200400" cy="2457450"/>
            </a:xfrm>
            <a:custGeom>
              <a:avLst/>
              <a:gdLst/>
              <a:ahLst/>
              <a:cxnLst/>
              <a:rect r="r" b="b" t="t" l="l"/>
              <a:pathLst>
                <a:path h="2457450" w="3200400">
                  <a:moveTo>
                    <a:pt x="0" y="0"/>
                  </a:moveTo>
                  <a:lnTo>
                    <a:pt x="3200400" y="0"/>
                  </a:lnTo>
                  <a:lnTo>
                    <a:pt x="3200400" y="2457450"/>
                  </a:lnTo>
                  <a:lnTo>
                    <a:pt x="0" y="2457450"/>
                  </a:lnTo>
                  <a:close/>
                </a:path>
              </a:pathLst>
            </a:custGeom>
            <a:blipFill>
              <a:blip r:embed="rId6">
                <a:alphaModFix amt="0"/>
              </a:blip>
              <a:stretch>
                <a:fillRect l="-48518" t="0" r="-48518" b="0"/>
              </a:stretch>
            </a:blipFill>
          </p:spPr>
          <p:txBody>
            <a:bodyPr/>
            <a:p/>
          </p:txBody>
        </p:sp>
        <p:sp>
          <p:nvSpPr>
            <p:cNvPr name="TextBox 108" id="108"/>
            <p:cNvSpPr txBox="true"/>
            <p:nvPr/>
          </p:nvSpPr>
          <p:spPr>
            <a:xfrm>
              <a:off x="0" y="-85725"/>
              <a:ext cx="3200400" cy="2543175"/>
            </a:xfrm>
            <a:prstGeom prst="rect">
              <a:avLst/>
            </a:prstGeom>
          </p:spPr>
          <p:txBody>
            <a:bodyPr anchor="ctr" rtlCol="false" tIns="0" lIns="0" bIns="0" rIns="0"/>
            <a:lstStyle/>
            <a:p>
              <a:pPr algn="l">
                <a:lnSpc>
                  <a:spcPts val="5040"/>
                </a:lnSpc>
              </a:pPr>
              <a:r>
                <a:rPr lang="en-US" sz="4200" b="true">
                  <a:solidFill>
                    <a:srgbClr val="0B5E6E"/>
                  </a:solidFill>
                  <a:latin typeface="Calibri (MS) Bold"/>
                  <a:ea typeface="Calibri (MS) Bold"/>
                  <a:cs typeface="Calibri (MS) Bold"/>
                  <a:sym typeface="Calibri (MS) Bold"/>
                </a:rPr>
                <a:t>8 / 10</a:t>
              </a:r>
            </a:p>
          </p:txBody>
        </p:sp>
      </p:grpSp>
      <p:grpSp>
        <p:nvGrpSpPr>
          <p:cNvPr name="Group 109" id="109"/>
          <p:cNvGrpSpPr/>
          <p:nvPr/>
        </p:nvGrpSpPr>
        <p:grpSpPr>
          <a:xfrm rot="0">
            <a:off x="13510260" y="6185916"/>
            <a:ext cx="3771900" cy="1714500"/>
            <a:chOff x="0" y="0"/>
            <a:chExt cx="5029200" cy="2286000"/>
          </a:xfrm>
        </p:grpSpPr>
        <p:sp>
          <p:nvSpPr>
            <p:cNvPr name="Freeform 110" id="110"/>
            <p:cNvSpPr/>
            <p:nvPr/>
          </p:nvSpPr>
          <p:spPr>
            <a:xfrm flipH="false" flipV="false" rot="0">
              <a:off x="0" y="0"/>
              <a:ext cx="5029200" cy="2286000"/>
            </a:xfrm>
            <a:custGeom>
              <a:avLst/>
              <a:gdLst/>
              <a:ahLst/>
              <a:cxnLst/>
              <a:rect r="r" b="b" t="t" l="l"/>
              <a:pathLst>
                <a:path h="2286000" w="5029200">
                  <a:moveTo>
                    <a:pt x="0" y="0"/>
                  </a:moveTo>
                  <a:lnTo>
                    <a:pt x="5029200" y="0"/>
                  </a:lnTo>
                  <a:lnTo>
                    <a:pt x="5029200" y="2286000"/>
                  </a:lnTo>
                  <a:lnTo>
                    <a:pt x="0" y="2286000"/>
                  </a:lnTo>
                  <a:close/>
                </a:path>
              </a:pathLst>
            </a:custGeom>
            <a:blipFill>
              <a:blip r:embed="rId4">
                <a:alphaModFix amt="0"/>
              </a:blip>
              <a:stretch>
                <a:fillRect l="-8360" t="0" r="-8360" b="0"/>
              </a:stretch>
            </a:blipFill>
          </p:spPr>
          <p:txBody>
            <a:bodyPr/>
            <a:p/>
          </p:txBody>
        </p:sp>
      </p:grpSp>
      <p:grpSp>
        <p:nvGrpSpPr>
          <p:cNvPr name="Group 111" id="111"/>
          <p:cNvGrpSpPr/>
          <p:nvPr/>
        </p:nvGrpSpPr>
        <p:grpSpPr>
          <a:xfrm rot="0">
            <a:off x="13510260" y="6157341"/>
            <a:ext cx="3771900" cy="1743075"/>
            <a:chOff x="0" y="0"/>
            <a:chExt cx="5029200" cy="2324100"/>
          </a:xfrm>
        </p:grpSpPr>
        <p:sp>
          <p:nvSpPr>
            <p:cNvPr name="Freeform 112" id="112"/>
            <p:cNvSpPr/>
            <p:nvPr/>
          </p:nvSpPr>
          <p:spPr>
            <a:xfrm flipH="false" flipV="false" rot="0">
              <a:off x="0" y="0"/>
              <a:ext cx="5029200" cy="2324100"/>
            </a:xfrm>
            <a:custGeom>
              <a:avLst/>
              <a:gdLst/>
              <a:ahLst/>
              <a:cxnLst/>
              <a:rect r="r" b="b" t="t" l="l"/>
              <a:pathLst>
                <a:path h="2324100" w="5029200">
                  <a:moveTo>
                    <a:pt x="0" y="0"/>
                  </a:moveTo>
                  <a:lnTo>
                    <a:pt x="5029200" y="0"/>
                  </a:lnTo>
                  <a:lnTo>
                    <a:pt x="5029200" y="2324100"/>
                  </a:lnTo>
                  <a:lnTo>
                    <a:pt x="0" y="2324100"/>
                  </a:lnTo>
                  <a:close/>
                </a:path>
              </a:pathLst>
            </a:custGeom>
            <a:blipFill>
              <a:blip r:embed="rId5">
                <a:alphaModFix amt="0"/>
              </a:blip>
              <a:stretch>
                <a:fillRect l="-9333" t="0" r="-9333" b="0"/>
              </a:stretch>
            </a:blipFill>
          </p:spPr>
          <p:txBody>
            <a:bodyPr/>
            <a:p/>
          </p:txBody>
        </p:sp>
      </p:grpSp>
      <p:grpSp>
        <p:nvGrpSpPr>
          <p:cNvPr name="Group 113" id="113"/>
          <p:cNvGrpSpPr/>
          <p:nvPr/>
        </p:nvGrpSpPr>
        <p:grpSpPr>
          <a:xfrm rot="0">
            <a:off x="13510260" y="6128766"/>
            <a:ext cx="3771900" cy="1771650"/>
            <a:chOff x="0" y="0"/>
            <a:chExt cx="5029200" cy="2362200"/>
          </a:xfrm>
        </p:grpSpPr>
        <p:sp>
          <p:nvSpPr>
            <p:cNvPr name="Freeform 114" id="114"/>
            <p:cNvSpPr/>
            <p:nvPr/>
          </p:nvSpPr>
          <p:spPr>
            <a:xfrm flipH="false" flipV="false" rot="0">
              <a:off x="0" y="0"/>
              <a:ext cx="5029200" cy="2362200"/>
            </a:xfrm>
            <a:custGeom>
              <a:avLst/>
              <a:gdLst/>
              <a:ahLst/>
              <a:cxnLst/>
              <a:rect r="r" b="b" t="t" l="l"/>
              <a:pathLst>
                <a:path h="2362200" w="5029200">
                  <a:moveTo>
                    <a:pt x="0" y="0"/>
                  </a:moveTo>
                  <a:lnTo>
                    <a:pt x="5029200" y="0"/>
                  </a:lnTo>
                  <a:lnTo>
                    <a:pt x="5029200" y="2362200"/>
                  </a:lnTo>
                  <a:lnTo>
                    <a:pt x="0" y="2362200"/>
                  </a:lnTo>
                  <a:close/>
                </a:path>
              </a:pathLst>
            </a:custGeom>
            <a:blipFill>
              <a:blip r:embed="rId6">
                <a:alphaModFix amt="0"/>
              </a:blip>
              <a:stretch>
                <a:fillRect l="-10263" t="0" r="-10263" b="0"/>
              </a:stretch>
            </a:blipFill>
          </p:spPr>
          <p:txBody>
            <a:bodyPr/>
            <a:p/>
          </p:txBody>
        </p:sp>
        <p:sp>
          <p:nvSpPr>
            <p:cNvPr name="TextBox 115" id="115"/>
            <p:cNvSpPr txBox="true"/>
            <p:nvPr/>
          </p:nvSpPr>
          <p:spPr>
            <a:xfrm>
              <a:off x="0" y="-38100"/>
              <a:ext cx="5029200" cy="2400300"/>
            </a:xfrm>
            <a:prstGeom prst="rect">
              <a:avLst/>
            </a:prstGeom>
          </p:spPr>
          <p:txBody>
            <a:bodyPr anchor="ctr" rtlCol="false" tIns="0" lIns="0" bIns="0" rIns="0"/>
            <a:lstStyle/>
            <a:p>
              <a:pPr algn="l">
                <a:lnSpc>
                  <a:spcPts val="2250"/>
                </a:lnSpc>
              </a:pPr>
              <a:r>
                <a:rPr lang="en-US" sz="1875">
                  <a:solidFill>
                    <a:srgbClr val="14313B"/>
                  </a:solidFill>
                  <a:latin typeface="Calibri (MS)"/>
                  <a:ea typeface="Calibri (MS)"/>
                  <a:cs typeface="Calibri (MS)"/>
                  <a:sym typeface="Calibri (MS)"/>
                </a:rPr>
                <a:t>responden memberi skor ≥ 85; antara Excellent (85,5) dan Best Imaginable (90,9)</a:t>
              </a:r>
            </a:p>
          </p:txBody>
        </p:sp>
      </p:grpSp>
      <p:grpSp>
        <p:nvGrpSpPr>
          <p:cNvPr name="Group 116" id="116"/>
          <p:cNvGrpSpPr/>
          <p:nvPr/>
        </p:nvGrpSpPr>
        <p:grpSpPr>
          <a:xfrm rot="0">
            <a:off x="822960" y="8092440"/>
            <a:ext cx="16637508" cy="1165860"/>
            <a:chOff x="0" y="0"/>
            <a:chExt cx="22183344" cy="1554480"/>
          </a:xfrm>
        </p:grpSpPr>
        <p:sp>
          <p:nvSpPr>
            <p:cNvPr name="Freeform 117" id="117"/>
            <p:cNvSpPr/>
            <p:nvPr/>
          </p:nvSpPr>
          <p:spPr>
            <a:xfrm flipH="false" flipV="false" rot="0">
              <a:off x="0" y="0"/>
              <a:ext cx="22183344" cy="1554480"/>
            </a:xfrm>
            <a:custGeom>
              <a:avLst/>
              <a:gdLst/>
              <a:ahLst/>
              <a:cxnLst/>
              <a:rect r="r" b="b" t="t" l="l"/>
              <a:pathLst>
                <a:path h="1554480" w="22183344">
                  <a:moveTo>
                    <a:pt x="0" y="182880"/>
                  </a:moveTo>
                  <a:cubicBezTo>
                    <a:pt x="0" y="81915"/>
                    <a:pt x="81915" y="0"/>
                    <a:pt x="182880" y="0"/>
                  </a:cubicBezTo>
                  <a:lnTo>
                    <a:pt x="22000463" y="0"/>
                  </a:lnTo>
                  <a:cubicBezTo>
                    <a:pt x="22101428" y="0"/>
                    <a:pt x="22183344" y="81915"/>
                    <a:pt x="22183344" y="182880"/>
                  </a:cubicBezTo>
                  <a:lnTo>
                    <a:pt x="22183344" y="1371600"/>
                  </a:lnTo>
                  <a:cubicBezTo>
                    <a:pt x="22183344" y="1472565"/>
                    <a:pt x="22101428" y="1554480"/>
                    <a:pt x="22000463" y="1554480"/>
                  </a:cubicBezTo>
                  <a:lnTo>
                    <a:pt x="182880" y="1554480"/>
                  </a:lnTo>
                  <a:cubicBezTo>
                    <a:pt x="81915" y="1554480"/>
                    <a:pt x="0" y="1472565"/>
                    <a:pt x="0" y="1371600"/>
                  </a:cubicBezTo>
                  <a:close/>
                </a:path>
              </a:pathLst>
            </a:custGeom>
            <a:solidFill>
              <a:srgbClr val="FFF1BF"/>
            </a:solidFill>
          </p:spPr>
          <p:txBody>
            <a:bodyPr/>
            <a:p/>
          </p:txBody>
        </p:sp>
      </p:grpSp>
      <p:grpSp>
        <p:nvGrpSpPr>
          <p:cNvPr name="Group 118" id="118"/>
          <p:cNvGrpSpPr/>
          <p:nvPr/>
        </p:nvGrpSpPr>
        <p:grpSpPr>
          <a:xfrm rot="0">
            <a:off x="1165860" y="8092440"/>
            <a:ext cx="15951708" cy="1165860"/>
            <a:chOff x="0" y="0"/>
            <a:chExt cx="21268944" cy="1554480"/>
          </a:xfrm>
        </p:grpSpPr>
        <p:sp>
          <p:nvSpPr>
            <p:cNvPr name="Freeform 119" id="119"/>
            <p:cNvSpPr/>
            <p:nvPr/>
          </p:nvSpPr>
          <p:spPr>
            <a:xfrm flipH="false" flipV="false" rot="0">
              <a:off x="0" y="0"/>
              <a:ext cx="21268944" cy="1554480"/>
            </a:xfrm>
            <a:custGeom>
              <a:avLst/>
              <a:gdLst/>
              <a:ahLst/>
              <a:cxnLst/>
              <a:rect r="r" b="b" t="t" l="l"/>
              <a:pathLst>
                <a:path h="1554480" w="21268944">
                  <a:moveTo>
                    <a:pt x="0" y="0"/>
                  </a:moveTo>
                  <a:lnTo>
                    <a:pt x="21268944" y="0"/>
                  </a:lnTo>
                  <a:lnTo>
                    <a:pt x="21268944" y="1554480"/>
                  </a:lnTo>
                  <a:lnTo>
                    <a:pt x="0" y="1554480"/>
                  </a:lnTo>
                  <a:close/>
                </a:path>
              </a:pathLst>
            </a:custGeom>
            <a:blipFill>
              <a:blip r:embed="rId4">
                <a:alphaModFix amt="0"/>
              </a:blip>
              <a:stretch>
                <a:fillRect l="0" t="-216415" r="0" b="-216415"/>
              </a:stretch>
            </a:blipFill>
          </p:spPr>
          <p:txBody>
            <a:bodyPr/>
            <a:p/>
          </p:txBody>
        </p:sp>
      </p:grpSp>
      <p:grpSp>
        <p:nvGrpSpPr>
          <p:cNvPr name="Group 120" id="120"/>
          <p:cNvGrpSpPr/>
          <p:nvPr/>
        </p:nvGrpSpPr>
        <p:grpSpPr>
          <a:xfrm rot="0">
            <a:off x="1165860" y="8063865"/>
            <a:ext cx="15951708" cy="1194435"/>
            <a:chOff x="0" y="0"/>
            <a:chExt cx="21268944" cy="1592580"/>
          </a:xfrm>
        </p:grpSpPr>
        <p:sp>
          <p:nvSpPr>
            <p:cNvPr name="Freeform 121" id="121"/>
            <p:cNvSpPr/>
            <p:nvPr/>
          </p:nvSpPr>
          <p:spPr>
            <a:xfrm flipH="false" flipV="false" rot="0">
              <a:off x="0" y="0"/>
              <a:ext cx="21268944" cy="1592580"/>
            </a:xfrm>
            <a:custGeom>
              <a:avLst/>
              <a:gdLst/>
              <a:ahLst/>
              <a:cxnLst/>
              <a:rect r="r" b="b" t="t" l="l"/>
              <a:pathLst>
                <a:path h="1592580" w="21268944">
                  <a:moveTo>
                    <a:pt x="0" y="0"/>
                  </a:moveTo>
                  <a:lnTo>
                    <a:pt x="21268944" y="0"/>
                  </a:lnTo>
                  <a:lnTo>
                    <a:pt x="21268944" y="1592580"/>
                  </a:lnTo>
                  <a:lnTo>
                    <a:pt x="0" y="1592580"/>
                  </a:lnTo>
                  <a:close/>
                </a:path>
              </a:pathLst>
            </a:custGeom>
            <a:blipFill>
              <a:blip r:embed="rId5">
                <a:alphaModFix amt="0"/>
              </a:blip>
              <a:stretch>
                <a:fillRect l="0" t="-210042" r="0" b="-210042"/>
              </a:stretch>
            </a:blipFill>
          </p:spPr>
          <p:txBody>
            <a:bodyPr/>
            <a:p/>
          </p:txBody>
        </p:sp>
      </p:grpSp>
      <p:grpSp>
        <p:nvGrpSpPr>
          <p:cNvPr name="Group 122" id="122"/>
          <p:cNvGrpSpPr/>
          <p:nvPr/>
        </p:nvGrpSpPr>
        <p:grpSpPr>
          <a:xfrm rot="0">
            <a:off x="1165860" y="8035290"/>
            <a:ext cx="15951708" cy="1223010"/>
            <a:chOff x="0" y="0"/>
            <a:chExt cx="21268944" cy="1630680"/>
          </a:xfrm>
        </p:grpSpPr>
        <p:sp>
          <p:nvSpPr>
            <p:cNvPr name="Freeform 123" id="123"/>
            <p:cNvSpPr/>
            <p:nvPr/>
          </p:nvSpPr>
          <p:spPr>
            <a:xfrm flipH="false" flipV="false" rot="0">
              <a:off x="0" y="0"/>
              <a:ext cx="21268944" cy="1630680"/>
            </a:xfrm>
            <a:custGeom>
              <a:avLst/>
              <a:gdLst/>
              <a:ahLst/>
              <a:cxnLst/>
              <a:rect r="r" b="b" t="t" l="l"/>
              <a:pathLst>
                <a:path h="1630680" w="21268944">
                  <a:moveTo>
                    <a:pt x="0" y="0"/>
                  </a:moveTo>
                  <a:lnTo>
                    <a:pt x="21268944" y="0"/>
                  </a:lnTo>
                  <a:lnTo>
                    <a:pt x="21268944" y="1630680"/>
                  </a:lnTo>
                  <a:lnTo>
                    <a:pt x="0" y="1630680"/>
                  </a:lnTo>
                  <a:close/>
                </a:path>
              </a:pathLst>
            </a:custGeom>
            <a:blipFill>
              <a:blip r:embed="rId6">
                <a:alphaModFix amt="0"/>
              </a:blip>
              <a:stretch>
                <a:fillRect l="0" t="-204143" r="0" b="-204143"/>
              </a:stretch>
            </a:blipFill>
          </p:spPr>
          <p:txBody>
            <a:bodyPr/>
            <a:p/>
          </p:txBody>
        </p:sp>
        <p:sp>
          <p:nvSpPr>
            <p:cNvPr name="TextBox 124" id="124"/>
            <p:cNvSpPr txBox="true"/>
            <p:nvPr/>
          </p:nvSpPr>
          <p:spPr>
            <a:xfrm>
              <a:off x="0" y="-38100"/>
              <a:ext cx="21268944" cy="1668780"/>
            </a:xfrm>
            <a:prstGeom prst="rect">
              <a:avLst/>
            </a:prstGeom>
          </p:spPr>
          <p:txBody>
            <a:bodyPr anchor="ctr" rtlCol="false" tIns="0" lIns="0" bIns="0" rIns="0"/>
            <a:lstStyle/>
            <a:p>
              <a:pPr algn="l">
                <a:lnSpc>
                  <a:spcPts val="2250"/>
                </a:lnSpc>
              </a:pPr>
              <a:r>
                <a:rPr lang="en-US" sz="1875">
                  <a:solidFill>
                    <a:srgbClr val="14313B"/>
                  </a:solidFill>
                  <a:latin typeface="Calibri (MS)"/>
                  <a:ea typeface="Calibri (MS)"/>
                  <a:cs typeface="Calibri (MS)"/>
                  <a:sym typeface="Calibri (MS)"/>
                </a:rPr>
                <a:t>Masukan: 2 responden sulit membaca grafik/hasil simulasi, 1 responden bingung pada tampilan dua garis pengatur kebijakan. Saran: penjelasan hasil otomatis, panduan penggunaan, chatbot.</a:t>
              </a:r>
            </a:p>
          </p:txBody>
        </p:sp>
      </p:grpSp>
      <p:sp>
        <p:nvSpPr>
          <p:cNvPr name="TextBox 125" id="125"/>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69</a:t>
            </a:r>
          </a:p>
        </p:txBody>
      </p:sp>
      <p:grpSp>
        <p:nvGrpSpPr>
          <p:cNvPr name="Group 128" id="128"/>
          <p:cNvGrpSpPr/>
          <p:nvPr/>
        </p:nvGrpSpPr>
        <p:grpSpPr>
          <a:xfrm rot="0">
            <a:off x="16047720" y="9646920"/>
            <a:ext cx="420624" cy="420624"/>
            <a:chOff x="0" y="0"/>
            <a:chExt cx="560832" cy="560832"/>
          </a:xfrm>
        </p:grpSpPr>
        <p:sp>
          <p:nvSpPr>
            <p:cNvPr name="Freeform 129" id="129"/>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30" id="130"/>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graphicFrame>
        <p:nvGraphicFramePr>
          <p:cNvPr id="131" name="Chart 130"/>
          <p:cNvGraphicFramePr>
            <a:graphicFrameLocks noGrp="1"/>
          </p:cNvGraphicFramePr>
          <p:nvPr/>
        </p:nvGraphicFramePr>
        <p:xfrm>
          <a:off x="822960" y="2788920"/>
          <a:ext cx="9509760" cy="4572000"/>
        </p:xfrm>
        <a:graphic>
          <a:graphicData uri="http://schemas.openxmlformats.org/drawingml/2006/chart">
            <c:chart xmlns:c="http://schemas.openxmlformats.org/drawingml/2006/chart" r:id="rId8"/>
          </a:graphicData>
        </a:graphic>
      </p:graphicFrame>
    </p:spTree>
  </p:cSld>
  <p:clrMapOvr>
    <a:masterClrMapping/>
  </p:clrMapOvr>
</p:sld>
</file>

<file path=ppt/slides/slide7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Ringkasan Hasil Tujuan 3</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0B5E6E"/>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70</a:t>
            </a:r>
          </a:p>
        </p:txBody>
      </p:sp>
      <p:grpSp>
        <p:nvGrpSpPr>
          <p:cNvPr name="Group 67" id="67"/>
          <p:cNvGrpSpPr/>
          <p:nvPr/>
        </p:nvGrpSpPr>
        <p:grpSpPr>
          <a:xfrm rot="0">
            <a:off x="822960" y="2286000"/>
            <a:ext cx="16642080" cy="777240"/>
            <a:chOff x="0" y="0"/>
            <a:chExt cx="22189440" cy="1036320"/>
          </a:xfrm>
        </p:grpSpPr>
        <p:sp>
          <p:nvSpPr>
            <p:cNvPr name="Freeform 68" id="68"/>
            <p:cNvSpPr/>
            <p:nvPr/>
          </p:nvSpPr>
          <p:spPr>
            <a:xfrm flipH="false" flipV="false" rot="0">
              <a:off x="0" y="0"/>
              <a:ext cx="22189441" cy="1036320"/>
            </a:xfrm>
            <a:custGeom>
              <a:avLst/>
              <a:gdLst/>
              <a:ahLst/>
              <a:cxnLst/>
              <a:rect r="r" b="b" t="t" l="l"/>
              <a:pathLst>
                <a:path h="1036320" w="22189441">
                  <a:moveTo>
                    <a:pt x="0" y="82931"/>
                  </a:moveTo>
                  <a:cubicBezTo>
                    <a:pt x="0" y="37084"/>
                    <a:pt x="37084" y="0"/>
                    <a:pt x="82931" y="0"/>
                  </a:cubicBezTo>
                  <a:lnTo>
                    <a:pt x="22106510" y="0"/>
                  </a:lnTo>
                  <a:cubicBezTo>
                    <a:pt x="22152356" y="0"/>
                    <a:pt x="22189441" y="37084"/>
                    <a:pt x="22189441" y="82931"/>
                  </a:cubicBezTo>
                  <a:lnTo>
                    <a:pt x="22189441" y="953389"/>
                  </a:lnTo>
                  <a:cubicBezTo>
                    <a:pt x="22189441" y="999236"/>
                    <a:pt x="22152356" y="1036320"/>
                    <a:pt x="22106510" y="1036320"/>
                  </a:cubicBezTo>
                  <a:lnTo>
                    <a:pt x="82931" y="1036320"/>
                  </a:lnTo>
                  <a:cubicBezTo>
                    <a:pt x="37084" y="1036320"/>
                    <a:pt x="0" y="999236"/>
                    <a:pt x="0" y="953389"/>
                  </a:cubicBezTo>
                  <a:close/>
                </a:path>
              </a:pathLst>
            </a:custGeom>
            <a:solidFill>
              <a:srgbClr val="0B5E6E"/>
            </a:solidFill>
          </p:spPr>
          <p:txBody>
            <a:bodyPr/>
            <a:p/>
          </p:txBody>
        </p:sp>
        <p:sp>
          <p:nvSpPr>
            <p:cNvPr name="TextBox 69" id="69"/>
            <p:cNvSpPr txBox="true"/>
            <p:nvPr/>
          </p:nvSpPr>
          <p:spPr>
            <a:xfrm>
              <a:off x="0" y="-38100"/>
              <a:ext cx="22189440" cy="1074420"/>
            </a:xfrm>
            <a:prstGeom prst="rect">
              <a:avLst/>
            </a:prstGeom>
          </p:spPr>
          <p:txBody>
            <a:bodyPr anchor="ctr" rtlCol="false" tIns="50800" lIns="50800" bIns="50800" rIns="50800"/>
            <a:lstStyle/>
            <a:p>
              <a:pPr algn="l">
                <a:lnSpc>
                  <a:spcPts val="2484"/>
                </a:lnSpc>
              </a:pPr>
              <a:r>
                <a:rPr lang="en-US" sz="2070" b="true">
                  <a:solidFill>
                    <a:srgbClr val="FFFFFF"/>
                  </a:solidFill>
                  <a:latin typeface="Calibri (MS) Bold"/>
                  <a:ea typeface="Calibri (MS) Bold"/>
                  <a:cs typeface="Calibri (MS) Bold"/>
                  <a:sym typeface="Calibri (MS) Bold"/>
                </a:rPr>
                <a:t>Apa hasil yang diperoleh untuk Tujuan 3?</a:t>
              </a:r>
            </a:p>
          </p:txBody>
        </p:sp>
      </p:grpSp>
      <p:grpSp>
        <p:nvGrpSpPr>
          <p:cNvPr name="Group 70" id="70"/>
          <p:cNvGrpSpPr/>
          <p:nvPr/>
        </p:nvGrpSpPr>
        <p:grpSpPr>
          <a:xfrm rot="0">
            <a:off x="816607" y="3285487"/>
            <a:ext cx="16654777" cy="1132837"/>
            <a:chOff x="0" y="0"/>
            <a:chExt cx="22206369" cy="1510449"/>
          </a:xfrm>
        </p:grpSpPr>
        <p:sp>
          <p:nvSpPr>
            <p:cNvPr name="Freeform 71" id="71"/>
            <p:cNvSpPr/>
            <p:nvPr/>
          </p:nvSpPr>
          <p:spPr>
            <a:xfrm flipH="false" flipV="false" rot="0">
              <a:off x="0" y="0"/>
              <a:ext cx="22206204" cy="1510284"/>
            </a:xfrm>
            <a:custGeom>
              <a:avLst/>
              <a:gdLst/>
              <a:ahLst/>
              <a:cxnLst/>
              <a:rect r="r" b="b" t="t" l="l"/>
              <a:pathLst>
                <a:path h="1510284" w="22206204">
                  <a:moveTo>
                    <a:pt x="0" y="120777"/>
                  </a:moveTo>
                  <a:cubicBezTo>
                    <a:pt x="0" y="54102"/>
                    <a:pt x="54102" y="0"/>
                    <a:pt x="120777" y="0"/>
                  </a:cubicBezTo>
                  <a:lnTo>
                    <a:pt x="22085427" y="0"/>
                  </a:lnTo>
                  <a:cubicBezTo>
                    <a:pt x="22152102" y="0"/>
                    <a:pt x="22206204" y="54102"/>
                    <a:pt x="22206204" y="120777"/>
                  </a:cubicBezTo>
                  <a:lnTo>
                    <a:pt x="22206204" y="1389507"/>
                  </a:lnTo>
                  <a:cubicBezTo>
                    <a:pt x="22206204" y="1456182"/>
                    <a:pt x="22152102" y="1510284"/>
                    <a:pt x="22085427" y="1510284"/>
                  </a:cubicBezTo>
                  <a:lnTo>
                    <a:pt x="120777" y="1510284"/>
                  </a:lnTo>
                  <a:cubicBezTo>
                    <a:pt x="54102" y="1510284"/>
                    <a:pt x="0" y="1456182"/>
                    <a:pt x="0" y="1389507"/>
                  </a:cubicBezTo>
                  <a:close/>
                </a:path>
              </a:pathLst>
            </a:custGeom>
            <a:solidFill>
              <a:srgbClr val="EAF8FA"/>
            </a:solidFill>
            <a:ln w="12700" cap="sq">
              <a:solidFill>
                <a:srgbClr val="CFE5E9"/>
              </a:solidFill>
              <a:prstDash val="solid"/>
              <a:miter/>
            </a:ln>
          </p:spPr>
          <p:txBody>
            <a:bodyPr/>
            <a:p/>
          </p:txBody>
        </p:sp>
      </p:grpSp>
      <p:grpSp>
        <p:nvGrpSpPr>
          <p:cNvPr name="Group 72" id="72"/>
          <p:cNvGrpSpPr/>
          <p:nvPr/>
        </p:nvGrpSpPr>
        <p:grpSpPr>
          <a:xfrm rot="0">
            <a:off x="1051560" y="3577590"/>
            <a:ext cx="548640" cy="548640"/>
            <a:chOff x="0" y="0"/>
            <a:chExt cx="731520" cy="731520"/>
          </a:xfrm>
        </p:grpSpPr>
        <p:sp>
          <p:nvSpPr>
            <p:cNvPr name="Freeform 73" id="73"/>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74" id="74"/>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1</a:t>
              </a:r>
            </a:p>
          </p:txBody>
        </p:sp>
      </p:grpSp>
      <p:grpSp>
        <p:nvGrpSpPr>
          <p:cNvPr name="Group 75" id="75"/>
          <p:cNvGrpSpPr/>
          <p:nvPr/>
        </p:nvGrpSpPr>
        <p:grpSpPr>
          <a:xfrm rot="0">
            <a:off x="1828800" y="3383280"/>
            <a:ext cx="4206240" cy="937260"/>
            <a:chOff x="0" y="0"/>
            <a:chExt cx="5608320" cy="1249680"/>
          </a:xfrm>
        </p:grpSpPr>
        <p:sp>
          <p:nvSpPr>
            <p:cNvPr name="Freeform 76" id="76"/>
            <p:cNvSpPr/>
            <p:nvPr/>
          </p:nvSpPr>
          <p:spPr>
            <a:xfrm flipH="false" flipV="false" rot="0">
              <a:off x="0" y="0"/>
              <a:ext cx="5608320" cy="1249680"/>
            </a:xfrm>
            <a:custGeom>
              <a:avLst/>
              <a:gdLst/>
              <a:ahLst/>
              <a:cxnLst/>
              <a:rect r="r" b="b" t="t" l="l"/>
              <a:pathLst>
                <a:path h="1249680" w="5608320">
                  <a:moveTo>
                    <a:pt x="0" y="0"/>
                  </a:moveTo>
                  <a:lnTo>
                    <a:pt x="5608320" y="0"/>
                  </a:lnTo>
                  <a:lnTo>
                    <a:pt x="5608320" y="1249680"/>
                  </a:lnTo>
                  <a:lnTo>
                    <a:pt x="0" y="1249680"/>
                  </a:lnTo>
                  <a:close/>
                </a:path>
              </a:pathLst>
            </a:custGeom>
            <a:blipFill>
              <a:blip r:embed="rId6">
                <a:alphaModFix amt="0"/>
              </a:blip>
              <a:stretch>
                <a:fillRect l="0" t="-37445" r="0" b="-37445"/>
              </a:stretch>
            </a:blipFill>
          </p:spPr>
          <p:txBody>
            <a:bodyPr/>
            <a:p/>
          </p:txBody>
        </p:sp>
        <p:sp>
          <p:nvSpPr>
            <p:cNvPr name="TextBox 77" id="77"/>
            <p:cNvSpPr txBox="true"/>
            <p:nvPr/>
          </p:nvSpPr>
          <p:spPr>
            <a:xfrm>
              <a:off x="0" y="-38100"/>
              <a:ext cx="5608320" cy="1287780"/>
            </a:xfrm>
            <a:prstGeom prst="rect">
              <a:avLst/>
            </a:prstGeom>
          </p:spPr>
          <p:txBody>
            <a:bodyPr anchor="ctr" rtlCol="false" tIns="0" lIns="0" bIns="0" rIns="0"/>
            <a:lstStyle/>
            <a:p>
              <a:pPr algn="l">
                <a:lnSpc>
                  <a:spcPts val="2279"/>
                </a:lnSpc>
              </a:pPr>
              <a:r>
                <a:rPr lang="en-US" sz="1899" b="true">
                  <a:solidFill>
                    <a:srgbClr val="0B5E6E"/>
                  </a:solidFill>
                  <a:latin typeface="Calibri (MS) Bold"/>
                  <a:ea typeface="Calibri (MS) Bold"/>
                  <a:cs typeface="Calibri (MS) Bold"/>
                  <a:sym typeface="Calibri (MS) Bold"/>
                </a:rPr>
                <a:t>Aplikasi web DST</a:t>
              </a:r>
            </a:p>
          </p:txBody>
        </p:sp>
      </p:grpSp>
      <p:grpSp>
        <p:nvGrpSpPr>
          <p:cNvPr name="Group 78" id="78"/>
          <p:cNvGrpSpPr/>
          <p:nvPr/>
        </p:nvGrpSpPr>
        <p:grpSpPr>
          <a:xfrm rot="0">
            <a:off x="6126480" y="3383280"/>
            <a:ext cx="11155680" cy="937260"/>
            <a:chOff x="0" y="0"/>
            <a:chExt cx="14874240" cy="1249680"/>
          </a:xfrm>
        </p:grpSpPr>
        <p:sp>
          <p:nvSpPr>
            <p:cNvPr name="Freeform 79" id="79"/>
            <p:cNvSpPr/>
            <p:nvPr/>
          </p:nvSpPr>
          <p:spPr>
            <a:xfrm flipH="false" flipV="false" rot="0">
              <a:off x="0" y="0"/>
              <a:ext cx="14874239" cy="1249680"/>
            </a:xfrm>
            <a:custGeom>
              <a:avLst/>
              <a:gdLst/>
              <a:ahLst/>
              <a:cxnLst/>
              <a:rect r="r" b="b" t="t" l="l"/>
              <a:pathLst>
                <a:path h="1249680" w="14874239">
                  <a:moveTo>
                    <a:pt x="0" y="0"/>
                  </a:moveTo>
                  <a:lnTo>
                    <a:pt x="14874239" y="0"/>
                  </a:lnTo>
                  <a:lnTo>
                    <a:pt x="14874239" y="1249680"/>
                  </a:lnTo>
                  <a:lnTo>
                    <a:pt x="0" y="1249680"/>
                  </a:lnTo>
                  <a:close/>
                </a:path>
              </a:pathLst>
            </a:custGeom>
            <a:blipFill>
              <a:blip r:embed="rId6">
                <a:alphaModFix amt="0"/>
              </a:blip>
              <a:stretch>
                <a:fillRect l="0" t="-181919" r="0" b="-181919"/>
              </a:stretch>
            </a:blipFill>
          </p:spPr>
          <p:txBody>
            <a:bodyPr/>
            <a:p/>
          </p:txBody>
        </p:sp>
        <p:sp>
          <p:nvSpPr>
            <p:cNvPr name="TextBox 80" id="80"/>
            <p:cNvSpPr txBox="true"/>
            <p:nvPr/>
          </p:nvSpPr>
          <p:spPr>
            <a:xfrm>
              <a:off x="0" y="-38100"/>
              <a:ext cx="14874240" cy="1287780"/>
            </a:xfrm>
            <a:prstGeom prst="rect">
              <a:avLst/>
            </a:prstGeom>
          </p:spPr>
          <p:txBody>
            <a:bodyPr anchor="ctr" rtlCol="false" tIns="0" lIns="0" bIns="0" rIns="0"/>
            <a:lstStyle/>
            <a:p>
              <a:pPr algn="l">
                <a:lnSpc>
                  <a:spcPts val="2063"/>
                </a:lnSpc>
              </a:pPr>
              <a:r>
                <a:rPr lang="en-US" sz="1719">
                  <a:solidFill>
                    <a:srgbClr val="14313B"/>
                  </a:solidFill>
                  <a:latin typeface="Calibri (MS)"/>
                  <a:ea typeface="Calibri (MS)"/>
                  <a:cs typeface="Calibri (MS)"/>
                  <a:sym typeface="Calibri (MS)"/>
                </a:rPr>
                <a:t>Model Vensim final dikonversi SDEverywhere dan dijalankan di peramban (Next.js, TypeScript, Tailwind): sistemdinamispariwisata.vercel.app.</a:t>
              </a:r>
            </a:p>
          </p:txBody>
        </p:sp>
      </p:grpSp>
      <p:grpSp>
        <p:nvGrpSpPr>
          <p:cNvPr name="Group 81" id="81"/>
          <p:cNvGrpSpPr/>
          <p:nvPr/>
        </p:nvGrpSpPr>
        <p:grpSpPr>
          <a:xfrm rot="0">
            <a:off x="816607" y="4588507"/>
            <a:ext cx="16654777" cy="1132837"/>
            <a:chOff x="0" y="0"/>
            <a:chExt cx="22206369" cy="1510449"/>
          </a:xfrm>
        </p:grpSpPr>
        <p:sp>
          <p:nvSpPr>
            <p:cNvPr name="Freeform 82" id="82"/>
            <p:cNvSpPr/>
            <p:nvPr/>
          </p:nvSpPr>
          <p:spPr>
            <a:xfrm flipH="false" flipV="false" rot="0">
              <a:off x="0" y="0"/>
              <a:ext cx="22206204" cy="1510284"/>
            </a:xfrm>
            <a:custGeom>
              <a:avLst/>
              <a:gdLst/>
              <a:ahLst/>
              <a:cxnLst/>
              <a:rect r="r" b="b" t="t" l="l"/>
              <a:pathLst>
                <a:path h="1510284" w="22206204">
                  <a:moveTo>
                    <a:pt x="0" y="120777"/>
                  </a:moveTo>
                  <a:cubicBezTo>
                    <a:pt x="0" y="54102"/>
                    <a:pt x="54102" y="0"/>
                    <a:pt x="120777" y="0"/>
                  </a:cubicBezTo>
                  <a:lnTo>
                    <a:pt x="22085427" y="0"/>
                  </a:lnTo>
                  <a:cubicBezTo>
                    <a:pt x="22152102" y="0"/>
                    <a:pt x="22206204" y="54102"/>
                    <a:pt x="22206204" y="120777"/>
                  </a:cubicBezTo>
                  <a:lnTo>
                    <a:pt x="22206204" y="1389507"/>
                  </a:lnTo>
                  <a:cubicBezTo>
                    <a:pt x="22206204" y="1456182"/>
                    <a:pt x="22152102" y="1510284"/>
                    <a:pt x="22085427" y="1510284"/>
                  </a:cubicBezTo>
                  <a:lnTo>
                    <a:pt x="120777" y="1510284"/>
                  </a:lnTo>
                  <a:cubicBezTo>
                    <a:pt x="54102" y="1510284"/>
                    <a:pt x="0" y="1456182"/>
                    <a:pt x="0" y="1389507"/>
                  </a:cubicBezTo>
                  <a:close/>
                </a:path>
              </a:pathLst>
            </a:custGeom>
            <a:solidFill>
              <a:srgbClr val="EAF8FA"/>
            </a:solidFill>
            <a:ln w="12700" cap="sq">
              <a:solidFill>
                <a:srgbClr val="CFE5E9"/>
              </a:solidFill>
              <a:prstDash val="solid"/>
              <a:miter/>
            </a:ln>
          </p:spPr>
          <p:txBody>
            <a:bodyPr/>
            <a:p/>
          </p:txBody>
        </p:sp>
      </p:grpSp>
      <p:grpSp>
        <p:nvGrpSpPr>
          <p:cNvPr name="Group 83" id="83"/>
          <p:cNvGrpSpPr/>
          <p:nvPr/>
        </p:nvGrpSpPr>
        <p:grpSpPr>
          <a:xfrm rot="0">
            <a:off x="1051560" y="4880610"/>
            <a:ext cx="548640" cy="548640"/>
            <a:chOff x="0" y="0"/>
            <a:chExt cx="731520" cy="731520"/>
          </a:xfrm>
        </p:grpSpPr>
        <p:sp>
          <p:nvSpPr>
            <p:cNvPr name="Freeform 84" id="84"/>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85" id="85"/>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2</a:t>
              </a:r>
            </a:p>
          </p:txBody>
        </p:sp>
      </p:grpSp>
      <p:grpSp>
        <p:nvGrpSpPr>
          <p:cNvPr name="Group 86" id="86"/>
          <p:cNvGrpSpPr/>
          <p:nvPr/>
        </p:nvGrpSpPr>
        <p:grpSpPr>
          <a:xfrm rot="0">
            <a:off x="1828800" y="4686300"/>
            <a:ext cx="4206240" cy="937260"/>
            <a:chOff x="0" y="0"/>
            <a:chExt cx="5608320" cy="1249680"/>
          </a:xfrm>
        </p:grpSpPr>
        <p:sp>
          <p:nvSpPr>
            <p:cNvPr name="Freeform 87" id="87"/>
            <p:cNvSpPr/>
            <p:nvPr/>
          </p:nvSpPr>
          <p:spPr>
            <a:xfrm flipH="false" flipV="false" rot="0">
              <a:off x="0" y="0"/>
              <a:ext cx="5608320" cy="1249680"/>
            </a:xfrm>
            <a:custGeom>
              <a:avLst/>
              <a:gdLst/>
              <a:ahLst/>
              <a:cxnLst/>
              <a:rect r="r" b="b" t="t" l="l"/>
              <a:pathLst>
                <a:path h="1249680" w="5608320">
                  <a:moveTo>
                    <a:pt x="0" y="0"/>
                  </a:moveTo>
                  <a:lnTo>
                    <a:pt x="5608320" y="0"/>
                  </a:lnTo>
                  <a:lnTo>
                    <a:pt x="5608320" y="1249680"/>
                  </a:lnTo>
                  <a:lnTo>
                    <a:pt x="0" y="1249680"/>
                  </a:lnTo>
                  <a:close/>
                </a:path>
              </a:pathLst>
            </a:custGeom>
            <a:blipFill>
              <a:blip r:embed="rId6">
                <a:alphaModFix amt="0"/>
              </a:blip>
              <a:stretch>
                <a:fillRect l="0" t="-37445" r="0" b="-37445"/>
              </a:stretch>
            </a:blipFill>
          </p:spPr>
          <p:txBody>
            <a:bodyPr/>
            <a:p/>
          </p:txBody>
        </p:sp>
        <p:sp>
          <p:nvSpPr>
            <p:cNvPr name="TextBox 88" id="88"/>
            <p:cNvSpPr txBox="true"/>
            <p:nvPr/>
          </p:nvSpPr>
          <p:spPr>
            <a:xfrm>
              <a:off x="0" y="-38100"/>
              <a:ext cx="5608320" cy="1287780"/>
            </a:xfrm>
            <a:prstGeom prst="rect">
              <a:avLst/>
            </a:prstGeom>
          </p:spPr>
          <p:txBody>
            <a:bodyPr anchor="ctr" rtlCol="false" tIns="0" lIns="0" bIns="0" rIns="0"/>
            <a:lstStyle/>
            <a:p>
              <a:pPr algn="l">
                <a:lnSpc>
                  <a:spcPts val="2279"/>
                </a:lnSpc>
              </a:pPr>
              <a:r>
                <a:rPr lang="en-US" sz="1899" b="true">
                  <a:solidFill>
                    <a:srgbClr val="0B5E6E"/>
                  </a:solidFill>
                  <a:latin typeface="Calibri (MS) Bold"/>
                  <a:ea typeface="Calibri (MS) Bold"/>
                  <a:cs typeface="Calibri (MS) Bold"/>
                  <a:sym typeface="Calibri (MS) Bold"/>
                </a:rPr>
                <a:t>Empat halaman</a:t>
              </a:r>
            </a:p>
          </p:txBody>
        </p:sp>
      </p:grpSp>
      <p:grpSp>
        <p:nvGrpSpPr>
          <p:cNvPr name="Group 89" id="89"/>
          <p:cNvGrpSpPr/>
          <p:nvPr/>
        </p:nvGrpSpPr>
        <p:grpSpPr>
          <a:xfrm rot="0">
            <a:off x="6126480" y="4686300"/>
            <a:ext cx="11155680" cy="937260"/>
            <a:chOff x="0" y="0"/>
            <a:chExt cx="14874240" cy="1249680"/>
          </a:xfrm>
        </p:grpSpPr>
        <p:sp>
          <p:nvSpPr>
            <p:cNvPr name="Freeform 90" id="90"/>
            <p:cNvSpPr/>
            <p:nvPr/>
          </p:nvSpPr>
          <p:spPr>
            <a:xfrm flipH="false" flipV="false" rot="0">
              <a:off x="0" y="0"/>
              <a:ext cx="14874239" cy="1249680"/>
            </a:xfrm>
            <a:custGeom>
              <a:avLst/>
              <a:gdLst/>
              <a:ahLst/>
              <a:cxnLst/>
              <a:rect r="r" b="b" t="t" l="l"/>
              <a:pathLst>
                <a:path h="1249680" w="14874239">
                  <a:moveTo>
                    <a:pt x="0" y="0"/>
                  </a:moveTo>
                  <a:lnTo>
                    <a:pt x="14874239" y="0"/>
                  </a:lnTo>
                  <a:lnTo>
                    <a:pt x="14874239" y="1249680"/>
                  </a:lnTo>
                  <a:lnTo>
                    <a:pt x="0" y="1249680"/>
                  </a:lnTo>
                  <a:close/>
                </a:path>
              </a:pathLst>
            </a:custGeom>
            <a:blipFill>
              <a:blip r:embed="rId6">
                <a:alphaModFix amt="0"/>
              </a:blip>
              <a:stretch>
                <a:fillRect l="0" t="-181919" r="0" b="-181919"/>
              </a:stretch>
            </a:blipFill>
          </p:spPr>
          <p:txBody>
            <a:bodyPr/>
            <a:p/>
          </p:txBody>
        </p:sp>
        <p:sp>
          <p:nvSpPr>
            <p:cNvPr name="TextBox 91" id="91"/>
            <p:cNvSpPr txBox="true"/>
            <p:nvPr/>
          </p:nvSpPr>
          <p:spPr>
            <a:xfrm>
              <a:off x="0" y="-38100"/>
              <a:ext cx="14874240" cy="1287780"/>
            </a:xfrm>
            <a:prstGeom prst="rect">
              <a:avLst/>
            </a:prstGeom>
          </p:spPr>
          <p:txBody>
            <a:bodyPr anchor="ctr" rtlCol="false" tIns="0" lIns="0" bIns="0" rIns="0"/>
            <a:lstStyle/>
            <a:p>
              <a:pPr algn="l">
                <a:lnSpc>
                  <a:spcPts val="2063"/>
                </a:lnSpc>
              </a:pPr>
              <a:r>
                <a:rPr lang="en-US" sz="1719">
                  <a:solidFill>
                    <a:srgbClr val="14313B"/>
                  </a:solidFill>
                  <a:latin typeface="Calibri (MS)"/>
                  <a:ea typeface="Calibri (MS)"/>
                  <a:cs typeface="Calibri (MS)"/>
                  <a:sym typeface="Calibri (MS)"/>
                </a:rPr>
                <a:t>Beranda, Model (struktur &amp; evaluasi), Skenario (tiga skenario + perbandingan), Simulasi (dua variabel kebijakan, pilihan variabel, 2025–2050).</a:t>
              </a:r>
            </a:p>
          </p:txBody>
        </p:sp>
      </p:grpSp>
      <p:grpSp>
        <p:nvGrpSpPr>
          <p:cNvPr name="Group 92" id="92"/>
          <p:cNvGrpSpPr/>
          <p:nvPr/>
        </p:nvGrpSpPr>
        <p:grpSpPr>
          <a:xfrm rot="0">
            <a:off x="816607" y="5891527"/>
            <a:ext cx="16654777" cy="1132837"/>
            <a:chOff x="0" y="0"/>
            <a:chExt cx="22206369" cy="1510449"/>
          </a:xfrm>
        </p:grpSpPr>
        <p:sp>
          <p:nvSpPr>
            <p:cNvPr name="Freeform 93" id="93"/>
            <p:cNvSpPr/>
            <p:nvPr/>
          </p:nvSpPr>
          <p:spPr>
            <a:xfrm flipH="false" flipV="false" rot="0">
              <a:off x="0" y="0"/>
              <a:ext cx="22206204" cy="1510284"/>
            </a:xfrm>
            <a:custGeom>
              <a:avLst/>
              <a:gdLst/>
              <a:ahLst/>
              <a:cxnLst/>
              <a:rect r="r" b="b" t="t" l="l"/>
              <a:pathLst>
                <a:path h="1510284" w="22206204">
                  <a:moveTo>
                    <a:pt x="0" y="120777"/>
                  </a:moveTo>
                  <a:cubicBezTo>
                    <a:pt x="0" y="54102"/>
                    <a:pt x="54102" y="0"/>
                    <a:pt x="120777" y="0"/>
                  </a:cubicBezTo>
                  <a:lnTo>
                    <a:pt x="22085427" y="0"/>
                  </a:lnTo>
                  <a:cubicBezTo>
                    <a:pt x="22152102" y="0"/>
                    <a:pt x="22206204" y="54102"/>
                    <a:pt x="22206204" y="120777"/>
                  </a:cubicBezTo>
                  <a:lnTo>
                    <a:pt x="22206204" y="1389507"/>
                  </a:lnTo>
                  <a:cubicBezTo>
                    <a:pt x="22206204" y="1456182"/>
                    <a:pt x="22152102" y="1510284"/>
                    <a:pt x="22085427" y="1510284"/>
                  </a:cubicBezTo>
                  <a:lnTo>
                    <a:pt x="120777" y="1510284"/>
                  </a:lnTo>
                  <a:cubicBezTo>
                    <a:pt x="54102" y="1510284"/>
                    <a:pt x="0" y="1456182"/>
                    <a:pt x="0" y="1389507"/>
                  </a:cubicBezTo>
                  <a:close/>
                </a:path>
              </a:pathLst>
            </a:custGeom>
            <a:solidFill>
              <a:srgbClr val="EAF8FA"/>
            </a:solidFill>
            <a:ln w="12700" cap="sq">
              <a:solidFill>
                <a:srgbClr val="CFE5E9"/>
              </a:solidFill>
              <a:prstDash val="solid"/>
              <a:miter/>
            </a:ln>
          </p:spPr>
          <p:txBody>
            <a:bodyPr/>
            <a:p/>
          </p:txBody>
        </p:sp>
      </p:grpSp>
      <p:grpSp>
        <p:nvGrpSpPr>
          <p:cNvPr name="Group 94" id="94"/>
          <p:cNvGrpSpPr/>
          <p:nvPr/>
        </p:nvGrpSpPr>
        <p:grpSpPr>
          <a:xfrm rot="0">
            <a:off x="1051560" y="6183630"/>
            <a:ext cx="548640" cy="548640"/>
            <a:chOff x="0" y="0"/>
            <a:chExt cx="731520" cy="731520"/>
          </a:xfrm>
        </p:grpSpPr>
        <p:sp>
          <p:nvSpPr>
            <p:cNvPr name="Freeform 95" id="95"/>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96" id="96"/>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3</a:t>
              </a:r>
            </a:p>
          </p:txBody>
        </p:sp>
      </p:grpSp>
      <p:grpSp>
        <p:nvGrpSpPr>
          <p:cNvPr name="Group 97" id="97"/>
          <p:cNvGrpSpPr/>
          <p:nvPr/>
        </p:nvGrpSpPr>
        <p:grpSpPr>
          <a:xfrm rot="0">
            <a:off x="1828800" y="5989320"/>
            <a:ext cx="4206240" cy="937260"/>
            <a:chOff x="0" y="0"/>
            <a:chExt cx="5608320" cy="1249680"/>
          </a:xfrm>
        </p:grpSpPr>
        <p:sp>
          <p:nvSpPr>
            <p:cNvPr name="Freeform 98" id="98"/>
            <p:cNvSpPr/>
            <p:nvPr/>
          </p:nvSpPr>
          <p:spPr>
            <a:xfrm flipH="false" flipV="false" rot="0">
              <a:off x="0" y="0"/>
              <a:ext cx="5608320" cy="1249680"/>
            </a:xfrm>
            <a:custGeom>
              <a:avLst/>
              <a:gdLst/>
              <a:ahLst/>
              <a:cxnLst/>
              <a:rect r="r" b="b" t="t" l="l"/>
              <a:pathLst>
                <a:path h="1249680" w="5608320">
                  <a:moveTo>
                    <a:pt x="0" y="0"/>
                  </a:moveTo>
                  <a:lnTo>
                    <a:pt x="5608320" y="0"/>
                  </a:lnTo>
                  <a:lnTo>
                    <a:pt x="5608320" y="1249680"/>
                  </a:lnTo>
                  <a:lnTo>
                    <a:pt x="0" y="1249680"/>
                  </a:lnTo>
                  <a:close/>
                </a:path>
              </a:pathLst>
            </a:custGeom>
            <a:blipFill>
              <a:blip r:embed="rId6">
                <a:alphaModFix amt="0"/>
              </a:blip>
              <a:stretch>
                <a:fillRect l="0" t="-37445" r="0" b="-37445"/>
              </a:stretch>
            </a:blipFill>
          </p:spPr>
          <p:txBody>
            <a:bodyPr/>
            <a:p/>
          </p:txBody>
        </p:sp>
        <p:sp>
          <p:nvSpPr>
            <p:cNvPr name="TextBox 99" id="99"/>
            <p:cNvSpPr txBox="true"/>
            <p:nvPr/>
          </p:nvSpPr>
          <p:spPr>
            <a:xfrm>
              <a:off x="0" y="-38100"/>
              <a:ext cx="5608320" cy="1287780"/>
            </a:xfrm>
            <a:prstGeom prst="rect">
              <a:avLst/>
            </a:prstGeom>
          </p:spPr>
          <p:txBody>
            <a:bodyPr anchor="ctr" rtlCol="false" tIns="0" lIns="0" bIns="0" rIns="0"/>
            <a:lstStyle/>
            <a:p>
              <a:pPr algn="l">
                <a:lnSpc>
                  <a:spcPts val="2279"/>
                </a:lnSpc>
              </a:pPr>
              <a:r>
                <a:rPr lang="en-US" sz="1899" b="true">
                  <a:solidFill>
                    <a:srgbClr val="0B5E6E"/>
                  </a:solidFill>
                  <a:latin typeface="Calibri (MS) Bold"/>
                  <a:ea typeface="Calibri (MS) Bold"/>
                  <a:cs typeface="Calibri (MS) Bold"/>
                  <a:sym typeface="Calibri (MS) Bold"/>
                </a:rPr>
                <a:t>Fungsional</a:t>
              </a:r>
            </a:p>
          </p:txBody>
        </p:sp>
      </p:grpSp>
      <p:grpSp>
        <p:nvGrpSpPr>
          <p:cNvPr name="Group 100" id="100"/>
          <p:cNvGrpSpPr/>
          <p:nvPr/>
        </p:nvGrpSpPr>
        <p:grpSpPr>
          <a:xfrm rot="0">
            <a:off x="6126480" y="5989320"/>
            <a:ext cx="11155680" cy="937260"/>
            <a:chOff x="0" y="0"/>
            <a:chExt cx="14874240" cy="1249680"/>
          </a:xfrm>
        </p:grpSpPr>
        <p:sp>
          <p:nvSpPr>
            <p:cNvPr name="Freeform 101" id="101"/>
            <p:cNvSpPr/>
            <p:nvPr/>
          </p:nvSpPr>
          <p:spPr>
            <a:xfrm flipH="false" flipV="false" rot="0">
              <a:off x="0" y="0"/>
              <a:ext cx="14874239" cy="1249680"/>
            </a:xfrm>
            <a:custGeom>
              <a:avLst/>
              <a:gdLst/>
              <a:ahLst/>
              <a:cxnLst/>
              <a:rect r="r" b="b" t="t" l="l"/>
              <a:pathLst>
                <a:path h="1249680" w="14874239">
                  <a:moveTo>
                    <a:pt x="0" y="0"/>
                  </a:moveTo>
                  <a:lnTo>
                    <a:pt x="14874239" y="0"/>
                  </a:lnTo>
                  <a:lnTo>
                    <a:pt x="14874239" y="1249680"/>
                  </a:lnTo>
                  <a:lnTo>
                    <a:pt x="0" y="1249680"/>
                  </a:lnTo>
                  <a:close/>
                </a:path>
              </a:pathLst>
            </a:custGeom>
            <a:blipFill>
              <a:blip r:embed="rId6">
                <a:alphaModFix amt="0"/>
              </a:blip>
              <a:stretch>
                <a:fillRect l="0" t="-181919" r="0" b="-181919"/>
              </a:stretch>
            </a:blipFill>
          </p:spPr>
          <p:txBody>
            <a:bodyPr/>
            <a:p/>
          </p:txBody>
        </p:sp>
        <p:sp>
          <p:nvSpPr>
            <p:cNvPr name="TextBox 102" id="102"/>
            <p:cNvSpPr txBox="true"/>
            <p:nvPr/>
          </p:nvSpPr>
          <p:spPr>
            <a:xfrm>
              <a:off x="0" y="-38100"/>
              <a:ext cx="14874240" cy="1287780"/>
            </a:xfrm>
            <a:prstGeom prst="rect">
              <a:avLst/>
            </a:prstGeom>
          </p:spPr>
          <p:txBody>
            <a:bodyPr anchor="ctr" rtlCol="false" tIns="0" lIns="0" bIns="0" rIns="0"/>
            <a:lstStyle/>
            <a:p>
              <a:pPr algn="l">
                <a:lnSpc>
                  <a:spcPts val="2063"/>
                </a:lnSpc>
              </a:pPr>
              <a:r>
                <a:rPr lang="en-US" sz="1719">
                  <a:solidFill>
                    <a:srgbClr val="14313B"/>
                  </a:solidFill>
                  <a:latin typeface="Calibri (MS)"/>
                  <a:ea typeface="Calibri (MS)"/>
                  <a:cs typeface="Calibri (MS)"/>
                  <a:sym typeface="Calibri (MS)"/>
                </a:rPr>
                <a:t>9 dari 9 kasus black-box Pass.</a:t>
              </a:r>
            </a:p>
          </p:txBody>
        </p:sp>
      </p:grpSp>
      <p:grpSp>
        <p:nvGrpSpPr>
          <p:cNvPr name="Group 103" id="103"/>
          <p:cNvGrpSpPr/>
          <p:nvPr/>
        </p:nvGrpSpPr>
        <p:grpSpPr>
          <a:xfrm rot="0">
            <a:off x="816607" y="7194547"/>
            <a:ext cx="16654777" cy="1132837"/>
            <a:chOff x="0" y="0"/>
            <a:chExt cx="22206369" cy="1510449"/>
          </a:xfrm>
        </p:grpSpPr>
        <p:sp>
          <p:nvSpPr>
            <p:cNvPr name="Freeform 104" id="104"/>
            <p:cNvSpPr/>
            <p:nvPr/>
          </p:nvSpPr>
          <p:spPr>
            <a:xfrm flipH="false" flipV="false" rot="0">
              <a:off x="0" y="0"/>
              <a:ext cx="22206204" cy="1510284"/>
            </a:xfrm>
            <a:custGeom>
              <a:avLst/>
              <a:gdLst/>
              <a:ahLst/>
              <a:cxnLst/>
              <a:rect r="r" b="b" t="t" l="l"/>
              <a:pathLst>
                <a:path h="1510284" w="22206204">
                  <a:moveTo>
                    <a:pt x="0" y="120777"/>
                  </a:moveTo>
                  <a:cubicBezTo>
                    <a:pt x="0" y="54102"/>
                    <a:pt x="54102" y="0"/>
                    <a:pt x="120777" y="0"/>
                  </a:cubicBezTo>
                  <a:lnTo>
                    <a:pt x="22085427" y="0"/>
                  </a:lnTo>
                  <a:cubicBezTo>
                    <a:pt x="22152102" y="0"/>
                    <a:pt x="22206204" y="54102"/>
                    <a:pt x="22206204" y="120777"/>
                  </a:cubicBezTo>
                  <a:lnTo>
                    <a:pt x="22206204" y="1389507"/>
                  </a:lnTo>
                  <a:cubicBezTo>
                    <a:pt x="22206204" y="1456182"/>
                    <a:pt x="22152102" y="1510284"/>
                    <a:pt x="22085427" y="1510284"/>
                  </a:cubicBezTo>
                  <a:lnTo>
                    <a:pt x="120777" y="1510284"/>
                  </a:lnTo>
                  <a:cubicBezTo>
                    <a:pt x="54102" y="1510284"/>
                    <a:pt x="0" y="1456182"/>
                    <a:pt x="0" y="1389507"/>
                  </a:cubicBezTo>
                  <a:close/>
                </a:path>
              </a:pathLst>
            </a:custGeom>
            <a:solidFill>
              <a:srgbClr val="EAF8FA"/>
            </a:solidFill>
            <a:ln w="12700" cap="sq">
              <a:solidFill>
                <a:srgbClr val="CFE5E9"/>
              </a:solidFill>
              <a:prstDash val="solid"/>
              <a:miter/>
            </a:ln>
          </p:spPr>
          <p:txBody>
            <a:bodyPr/>
            <a:p/>
          </p:txBody>
        </p:sp>
      </p:grpSp>
      <p:grpSp>
        <p:nvGrpSpPr>
          <p:cNvPr name="Group 105" id="105"/>
          <p:cNvGrpSpPr/>
          <p:nvPr/>
        </p:nvGrpSpPr>
        <p:grpSpPr>
          <a:xfrm rot="0">
            <a:off x="1051560" y="7486650"/>
            <a:ext cx="548640" cy="548640"/>
            <a:chOff x="0" y="0"/>
            <a:chExt cx="731520" cy="731520"/>
          </a:xfrm>
        </p:grpSpPr>
        <p:sp>
          <p:nvSpPr>
            <p:cNvPr name="Freeform 106" id="106"/>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107" id="107"/>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4</a:t>
              </a:r>
            </a:p>
          </p:txBody>
        </p:sp>
      </p:grpSp>
      <p:grpSp>
        <p:nvGrpSpPr>
          <p:cNvPr name="Group 108" id="108"/>
          <p:cNvGrpSpPr/>
          <p:nvPr/>
        </p:nvGrpSpPr>
        <p:grpSpPr>
          <a:xfrm rot="0">
            <a:off x="1828800" y="7292340"/>
            <a:ext cx="4206240" cy="937260"/>
            <a:chOff x="0" y="0"/>
            <a:chExt cx="5608320" cy="1249680"/>
          </a:xfrm>
        </p:grpSpPr>
        <p:sp>
          <p:nvSpPr>
            <p:cNvPr name="Freeform 109" id="109"/>
            <p:cNvSpPr/>
            <p:nvPr/>
          </p:nvSpPr>
          <p:spPr>
            <a:xfrm flipH="false" flipV="false" rot="0">
              <a:off x="0" y="0"/>
              <a:ext cx="5608320" cy="1249680"/>
            </a:xfrm>
            <a:custGeom>
              <a:avLst/>
              <a:gdLst/>
              <a:ahLst/>
              <a:cxnLst/>
              <a:rect r="r" b="b" t="t" l="l"/>
              <a:pathLst>
                <a:path h="1249680" w="5608320">
                  <a:moveTo>
                    <a:pt x="0" y="0"/>
                  </a:moveTo>
                  <a:lnTo>
                    <a:pt x="5608320" y="0"/>
                  </a:lnTo>
                  <a:lnTo>
                    <a:pt x="5608320" y="1249680"/>
                  </a:lnTo>
                  <a:lnTo>
                    <a:pt x="0" y="1249680"/>
                  </a:lnTo>
                  <a:close/>
                </a:path>
              </a:pathLst>
            </a:custGeom>
            <a:blipFill>
              <a:blip r:embed="rId6">
                <a:alphaModFix amt="0"/>
              </a:blip>
              <a:stretch>
                <a:fillRect l="0" t="-37445" r="0" b="-37445"/>
              </a:stretch>
            </a:blipFill>
          </p:spPr>
          <p:txBody>
            <a:bodyPr/>
            <a:p/>
          </p:txBody>
        </p:sp>
        <p:sp>
          <p:nvSpPr>
            <p:cNvPr name="TextBox 110" id="110"/>
            <p:cNvSpPr txBox="true"/>
            <p:nvPr/>
          </p:nvSpPr>
          <p:spPr>
            <a:xfrm>
              <a:off x="0" y="-38100"/>
              <a:ext cx="5608320" cy="1287780"/>
            </a:xfrm>
            <a:prstGeom prst="rect">
              <a:avLst/>
            </a:prstGeom>
          </p:spPr>
          <p:txBody>
            <a:bodyPr anchor="ctr" rtlCol="false" tIns="0" lIns="0" bIns="0" rIns="0"/>
            <a:lstStyle/>
            <a:p>
              <a:pPr algn="l">
                <a:lnSpc>
                  <a:spcPts val="2279"/>
                </a:lnSpc>
              </a:pPr>
              <a:r>
                <a:rPr lang="en-US" sz="1899" b="true">
                  <a:solidFill>
                    <a:srgbClr val="0B5E6E"/>
                  </a:solidFill>
                  <a:latin typeface="Calibri (MS) Bold"/>
                  <a:ea typeface="Calibri (MS) Bold"/>
                  <a:cs typeface="Calibri (MS) Bold"/>
                  <a:sym typeface="Calibri (MS) Bold"/>
                </a:rPr>
                <a:t>Usability</a:t>
              </a:r>
            </a:p>
          </p:txBody>
        </p:sp>
      </p:grpSp>
      <p:grpSp>
        <p:nvGrpSpPr>
          <p:cNvPr name="Group 111" id="111"/>
          <p:cNvGrpSpPr/>
          <p:nvPr/>
        </p:nvGrpSpPr>
        <p:grpSpPr>
          <a:xfrm rot="0">
            <a:off x="6126480" y="7292340"/>
            <a:ext cx="11155680" cy="937260"/>
            <a:chOff x="0" y="0"/>
            <a:chExt cx="14874240" cy="1249680"/>
          </a:xfrm>
        </p:grpSpPr>
        <p:sp>
          <p:nvSpPr>
            <p:cNvPr name="Freeform 112" id="112"/>
            <p:cNvSpPr/>
            <p:nvPr/>
          </p:nvSpPr>
          <p:spPr>
            <a:xfrm flipH="false" flipV="false" rot="0">
              <a:off x="0" y="0"/>
              <a:ext cx="14874239" cy="1249680"/>
            </a:xfrm>
            <a:custGeom>
              <a:avLst/>
              <a:gdLst/>
              <a:ahLst/>
              <a:cxnLst/>
              <a:rect r="r" b="b" t="t" l="l"/>
              <a:pathLst>
                <a:path h="1249680" w="14874239">
                  <a:moveTo>
                    <a:pt x="0" y="0"/>
                  </a:moveTo>
                  <a:lnTo>
                    <a:pt x="14874239" y="0"/>
                  </a:lnTo>
                  <a:lnTo>
                    <a:pt x="14874239" y="1249680"/>
                  </a:lnTo>
                  <a:lnTo>
                    <a:pt x="0" y="1249680"/>
                  </a:lnTo>
                  <a:close/>
                </a:path>
              </a:pathLst>
            </a:custGeom>
            <a:blipFill>
              <a:blip r:embed="rId6">
                <a:alphaModFix amt="0"/>
              </a:blip>
              <a:stretch>
                <a:fillRect l="0" t="-181919" r="0" b="-181919"/>
              </a:stretch>
            </a:blipFill>
          </p:spPr>
          <p:txBody>
            <a:bodyPr/>
            <a:p/>
          </p:txBody>
        </p:sp>
        <p:sp>
          <p:nvSpPr>
            <p:cNvPr name="TextBox 113" id="113"/>
            <p:cNvSpPr txBox="true"/>
            <p:nvPr/>
          </p:nvSpPr>
          <p:spPr>
            <a:xfrm>
              <a:off x="0" y="-38100"/>
              <a:ext cx="14874240" cy="1287780"/>
            </a:xfrm>
            <a:prstGeom prst="rect">
              <a:avLst/>
            </a:prstGeom>
          </p:spPr>
          <p:txBody>
            <a:bodyPr anchor="ctr" rtlCol="false" tIns="0" lIns="0" bIns="0" rIns="0"/>
            <a:lstStyle/>
            <a:p>
              <a:pPr algn="l">
                <a:lnSpc>
                  <a:spcPts val="2063"/>
                </a:lnSpc>
              </a:pPr>
              <a:r>
                <a:rPr lang="en-US" sz="1719">
                  <a:solidFill>
                    <a:srgbClr val="14313B"/>
                  </a:solidFill>
                  <a:latin typeface="Calibri (MS)"/>
                  <a:ea typeface="Calibri (MS)"/>
                  <a:cs typeface="Calibri (MS)"/>
                  <a:sym typeface="Calibri (MS)"/>
                </a:rPr>
                <a:t>SUS rata-rata 88,50 (median 92,50; n = 10) — antara Excellent dan Best Imaginable; masukan: perlu bantuan interpretasi hasil.</a:t>
              </a:r>
            </a:p>
          </p:txBody>
        </p:sp>
      </p:grpSp>
      <p:grpSp>
        <p:nvGrpSpPr>
          <p:cNvPr name="Group 114" id="114"/>
          <p:cNvGrpSpPr/>
          <p:nvPr/>
        </p:nvGrpSpPr>
        <p:grpSpPr>
          <a:xfrm rot="0">
            <a:off x="816607" y="8497567"/>
            <a:ext cx="16654777" cy="744217"/>
            <a:chOff x="0" y="0"/>
            <a:chExt cx="22206369" cy="992289"/>
          </a:xfrm>
        </p:grpSpPr>
        <p:sp>
          <p:nvSpPr>
            <p:cNvPr name="Freeform 115" id="115"/>
            <p:cNvSpPr/>
            <p:nvPr/>
          </p:nvSpPr>
          <p:spPr>
            <a:xfrm flipH="false" flipV="false" rot="0">
              <a:off x="0" y="0"/>
              <a:ext cx="22206331" cy="992251"/>
            </a:xfrm>
            <a:custGeom>
              <a:avLst/>
              <a:gdLst/>
              <a:ahLst/>
              <a:cxnLst/>
              <a:rect r="r" b="b" t="t" l="l"/>
              <a:pathLst>
                <a:path h="992251" w="22206331">
                  <a:moveTo>
                    <a:pt x="0" y="79375"/>
                  </a:moveTo>
                  <a:cubicBezTo>
                    <a:pt x="0" y="35560"/>
                    <a:pt x="35560" y="0"/>
                    <a:pt x="79375" y="0"/>
                  </a:cubicBezTo>
                  <a:lnTo>
                    <a:pt x="22126956" y="0"/>
                  </a:lnTo>
                  <a:cubicBezTo>
                    <a:pt x="22170771" y="0"/>
                    <a:pt x="22206331" y="35560"/>
                    <a:pt x="22206331" y="79375"/>
                  </a:cubicBezTo>
                  <a:lnTo>
                    <a:pt x="22206331" y="912876"/>
                  </a:lnTo>
                  <a:cubicBezTo>
                    <a:pt x="22206331" y="956691"/>
                    <a:pt x="22170771" y="992251"/>
                    <a:pt x="22126956" y="992251"/>
                  </a:cubicBezTo>
                  <a:lnTo>
                    <a:pt x="79375" y="992251"/>
                  </a:lnTo>
                  <a:cubicBezTo>
                    <a:pt x="35560" y="992251"/>
                    <a:pt x="0" y="956691"/>
                    <a:pt x="0" y="912876"/>
                  </a:cubicBezTo>
                  <a:close/>
                </a:path>
              </a:pathLst>
            </a:custGeom>
            <a:solidFill>
              <a:srgbClr val="FFF1BF"/>
            </a:solidFill>
            <a:ln w="12700" cap="sq">
              <a:solidFill>
                <a:srgbClr val="FFD23B"/>
              </a:solidFill>
              <a:prstDash val="solid"/>
              <a:miter/>
            </a:ln>
          </p:spPr>
          <p:txBody>
            <a:bodyPr/>
            <a:p/>
          </p:txBody>
        </p:sp>
        <p:sp>
          <p:nvSpPr>
            <p:cNvPr name="TextBox 116" id="116"/>
            <p:cNvSpPr txBox="true"/>
            <p:nvPr/>
          </p:nvSpPr>
          <p:spPr>
            <a:xfrm>
              <a:off x="0" y="-38100"/>
              <a:ext cx="22206369" cy="103038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Hasil pemodelan dan simulasi skenario kebijakan kini dapat dieksplorasi tanpa perangkat lunak pemodelan.</a:t>
              </a:r>
            </a:p>
          </p:txBody>
        </p:sp>
      </p:grpSp>
      <p:grpSp>
        <p:nvGrpSpPr>
          <p:cNvPr name="Group 117" id="117"/>
          <p:cNvGrpSpPr/>
          <p:nvPr/>
        </p:nvGrpSpPr>
        <p:grpSpPr>
          <a:xfrm rot="0">
            <a:off x="16047720" y="9646920"/>
            <a:ext cx="420624" cy="420624"/>
            <a:chOff x="0" y="0"/>
            <a:chExt cx="560832" cy="560832"/>
          </a:xfrm>
        </p:grpSpPr>
        <p:sp>
          <p:nvSpPr>
            <p:cNvPr name="Freeform 118" id="118"/>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19" id="119"/>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7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Diskusi</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Kekuatan penelitian ada pada cara pengujiannya, bukan sekadar kecocokan dengan data</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0B5E6E"/>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Penutup</a:t>
              </a:r>
            </a:p>
          </p:txBody>
        </p:sp>
      </p:grpSp>
      <p:sp>
        <p:nvSpPr>
          <p:cNvPr name="TextBox 66" id="66"/>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71</a:t>
            </a:r>
          </a:p>
        </p:txBody>
      </p:sp>
      <p:sp>
        <p:nvSpPr>
          <p:cNvPr name="Freeform 67" id="67"/>
          <p:cNvSpPr/>
          <p:nvPr/>
        </p:nvSpPr>
        <p:spPr>
          <a:xfrm flipH="false" flipV="false" rot="0">
            <a:off x="806291" y="2379059"/>
            <a:ext cx="5428297" cy="5565458"/>
          </a:xfrm>
          <a:custGeom>
            <a:avLst/>
            <a:gdLst/>
            <a:ahLst/>
            <a:cxnLst/>
            <a:rect r="r" b="b" t="t" l="l"/>
            <a:pathLst>
              <a:path h="5565458" w="5428297">
                <a:moveTo>
                  <a:pt x="0" y="0"/>
                </a:moveTo>
                <a:lnTo>
                  <a:pt x="5428298" y="0"/>
                </a:lnTo>
                <a:lnTo>
                  <a:pt x="5428298" y="5565458"/>
                </a:lnTo>
                <a:lnTo>
                  <a:pt x="0" y="556545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68" id="68"/>
          <p:cNvGrpSpPr/>
          <p:nvPr/>
        </p:nvGrpSpPr>
        <p:grpSpPr>
          <a:xfrm rot="0">
            <a:off x="1115568" y="2697480"/>
            <a:ext cx="685800" cy="685800"/>
            <a:chOff x="0" y="0"/>
            <a:chExt cx="914400" cy="914400"/>
          </a:xfrm>
        </p:grpSpPr>
        <p:sp>
          <p:nvSpPr>
            <p:cNvPr name="Freeform 69" id="69"/>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70" id="70"/>
          <p:cNvGrpSpPr/>
          <p:nvPr/>
        </p:nvGrpSpPr>
        <p:grpSpPr>
          <a:xfrm rot="0">
            <a:off x="1115568" y="2661761"/>
            <a:ext cx="685800" cy="721519"/>
            <a:chOff x="0" y="0"/>
            <a:chExt cx="914400" cy="962025"/>
          </a:xfrm>
        </p:grpSpPr>
        <p:sp>
          <p:nvSpPr>
            <p:cNvPr name="Freeform 71" id="71"/>
            <p:cNvSpPr/>
            <p:nvPr/>
          </p:nvSpPr>
          <p:spPr>
            <a:xfrm flipH="false" flipV="false" rot="0">
              <a:off x="0" y="0"/>
              <a:ext cx="914400" cy="962025"/>
            </a:xfrm>
            <a:custGeom>
              <a:avLst/>
              <a:gdLst/>
              <a:ahLst/>
              <a:cxnLst/>
              <a:rect r="r" b="b" t="t" l="l"/>
              <a:pathLst>
                <a:path h="962025" w="914400">
                  <a:moveTo>
                    <a:pt x="0" y="0"/>
                  </a:moveTo>
                  <a:lnTo>
                    <a:pt x="914400" y="0"/>
                  </a:lnTo>
                  <a:lnTo>
                    <a:pt x="914400" y="962025"/>
                  </a:lnTo>
                  <a:lnTo>
                    <a:pt x="0" y="962025"/>
                  </a:lnTo>
                  <a:close/>
                </a:path>
              </a:pathLst>
            </a:custGeom>
            <a:blipFill>
              <a:blip r:embed="rId6">
                <a:alphaModFix amt="0"/>
              </a:blip>
              <a:stretch>
                <a:fillRect l="-84986" t="0" r="-84986" b="0"/>
              </a:stretch>
            </a:blipFill>
          </p:spPr>
          <p:txBody>
            <a:bodyPr/>
            <a:p/>
          </p:txBody>
        </p:sp>
        <p:sp>
          <p:nvSpPr>
            <p:cNvPr name="TextBox 72" id="72"/>
            <p:cNvSpPr txBox="true"/>
            <p:nvPr/>
          </p:nvSpPr>
          <p:spPr>
            <a:xfrm>
              <a:off x="0" y="-47625"/>
              <a:ext cx="914400" cy="1009650"/>
            </a:xfrm>
            <a:prstGeom prst="rect">
              <a:avLst/>
            </a:prstGeom>
          </p:spPr>
          <p:txBody>
            <a:bodyPr anchor="ctr" rtlCol="false" tIns="0" lIns="0" bIns="0" rIns="0"/>
            <a:lstStyle/>
            <a:p>
              <a:pPr algn="ctr">
                <a:lnSpc>
                  <a:spcPts val="2638"/>
                </a:lnSpc>
              </a:pPr>
              <a:r>
                <a:rPr lang="en-US" sz="2199" b="true">
                  <a:solidFill>
                    <a:srgbClr val="FFFFFF"/>
                  </a:solidFill>
                  <a:latin typeface="Calibri (MS) Bold"/>
                  <a:ea typeface="Calibri (MS) Bold"/>
                  <a:cs typeface="Calibri (MS) Bold"/>
                  <a:sym typeface="Calibri (MS) Bold"/>
                </a:rPr>
                <a:t>1</a:t>
              </a:r>
            </a:p>
          </p:txBody>
        </p:sp>
      </p:grpSp>
      <p:sp>
        <p:nvSpPr>
          <p:cNvPr name="TextBox 73" id="73"/>
          <p:cNvSpPr txBox="true"/>
          <p:nvPr/>
        </p:nvSpPr>
        <p:spPr>
          <a:xfrm rot="0">
            <a:off x="1965960" y="2572512"/>
            <a:ext cx="4023360" cy="1249680"/>
          </a:xfrm>
          <a:prstGeom prst="rect">
            <a:avLst/>
          </a:prstGeom>
        </p:spPr>
        <p:txBody>
          <a:bodyPr anchor="t" rtlCol="false" tIns="0" lIns="0" bIns="0" rIns="0">
            <a:spAutoFit/>
          </a:bodyPr>
          <a:lstStyle/>
          <a:p>
            <a:pPr algn="l">
              <a:lnSpc>
                <a:spcPts val="3090"/>
              </a:lnSpc>
            </a:pPr>
            <a:r>
              <a:rPr lang="en-US" sz="2300" b="true">
                <a:solidFill>
                  <a:srgbClr val="0B5E6E"/>
                </a:solidFill>
                <a:latin typeface="Calibri (MS) Bold"/>
                <a:ea typeface="Calibri (MS) Bold"/>
                <a:cs typeface="Calibri (MS) Bold"/>
                <a:sym typeface="Calibri (MS) Bold"/>
              </a:rPr>
              <a:t>Kalibrasi sebagai alat validasi</a:t>
            </a:r>
          </a:p>
        </p:txBody>
      </p:sp>
      <p:sp>
        <p:nvSpPr>
          <p:cNvPr name="TextBox 74" id="74"/>
          <p:cNvSpPr txBox="true"/>
          <p:nvPr/>
        </p:nvSpPr>
        <p:spPr>
          <a:xfrm rot="0">
            <a:off x="1115568" y="3760470"/>
            <a:ext cx="4809744" cy="4011930"/>
          </a:xfrm>
          <a:prstGeom prst="rect">
            <a:avLst/>
          </a:prstGeom>
        </p:spPr>
        <p:txBody>
          <a:bodyPr anchor="t" rtlCol="false" tIns="0" lIns="0" bIns="0" rIns="0">
            <a:spAutoFit/>
          </a:bodyPr>
          <a:lstStyle/>
          <a:p>
            <a:pPr algn="l">
              <a:lnSpc>
                <a:spcPts val="2761"/>
              </a:lnSpc>
            </a:pPr>
            <a:r>
              <a:rPr lang="en-US" sz="1950">
                <a:solidFill>
                  <a:srgbClr val="14313B"/>
                </a:solidFill>
                <a:latin typeface="Calibri (MS)"/>
                <a:ea typeface="Calibri (MS)"/>
                <a:cs typeface="Calibri (MS)"/>
                <a:sym typeface="Calibri (MS)"/>
              </a:rPr>
              <a:t>Tiga parameter diuji (batas TPK, laju demolisi, laju konversi) dan tidak satu pun berubah. Nilai yang dihitung dari data sudah dapat dipertanggungjawabkan — sejalan dengan Oliva (2003): kalibrasi dipakai untuk menguji struktur model.</a:t>
            </a:r>
          </a:p>
        </p:txBody>
      </p:sp>
      <p:sp>
        <p:nvSpPr>
          <p:cNvPr name="Freeform 75" id="75"/>
          <p:cNvSpPr/>
          <p:nvPr/>
        </p:nvSpPr>
        <p:spPr>
          <a:xfrm flipH="false" flipV="false" rot="0">
            <a:off x="6429851" y="2379059"/>
            <a:ext cx="5428297" cy="5565458"/>
          </a:xfrm>
          <a:custGeom>
            <a:avLst/>
            <a:gdLst/>
            <a:ahLst/>
            <a:cxnLst/>
            <a:rect r="r" b="b" t="t" l="l"/>
            <a:pathLst>
              <a:path h="5565458" w="5428297">
                <a:moveTo>
                  <a:pt x="0" y="0"/>
                </a:moveTo>
                <a:lnTo>
                  <a:pt x="5428298" y="0"/>
                </a:lnTo>
                <a:lnTo>
                  <a:pt x="5428298" y="5565458"/>
                </a:lnTo>
                <a:lnTo>
                  <a:pt x="0" y="556545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76" id="76"/>
          <p:cNvGrpSpPr/>
          <p:nvPr/>
        </p:nvGrpSpPr>
        <p:grpSpPr>
          <a:xfrm rot="0">
            <a:off x="6739128" y="2697480"/>
            <a:ext cx="685800" cy="685800"/>
            <a:chOff x="0" y="0"/>
            <a:chExt cx="914400" cy="914400"/>
          </a:xfrm>
        </p:grpSpPr>
        <p:sp>
          <p:nvSpPr>
            <p:cNvPr name="Freeform 77" id="77"/>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78" id="78"/>
          <p:cNvGrpSpPr/>
          <p:nvPr/>
        </p:nvGrpSpPr>
        <p:grpSpPr>
          <a:xfrm rot="0">
            <a:off x="6739128" y="2661761"/>
            <a:ext cx="685800" cy="721519"/>
            <a:chOff x="0" y="0"/>
            <a:chExt cx="914400" cy="962025"/>
          </a:xfrm>
        </p:grpSpPr>
        <p:sp>
          <p:nvSpPr>
            <p:cNvPr name="Freeform 79" id="79"/>
            <p:cNvSpPr/>
            <p:nvPr/>
          </p:nvSpPr>
          <p:spPr>
            <a:xfrm flipH="false" flipV="false" rot="0">
              <a:off x="0" y="0"/>
              <a:ext cx="914400" cy="962025"/>
            </a:xfrm>
            <a:custGeom>
              <a:avLst/>
              <a:gdLst/>
              <a:ahLst/>
              <a:cxnLst/>
              <a:rect r="r" b="b" t="t" l="l"/>
              <a:pathLst>
                <a:path h="962025" w="914400">
                  <a:moveTo>
                    <a:pt x="0" y="0"/>
                  </a:moveTo>
                  <a:lnTo>
                    <a:pt x="914400" y="0"/>
                  </a:lnTo>
                  <a:lnTo>
                    <a:pt x="914400" y="962025"/>
                  </a:lnTo>
                  <a:lnTo>
                    <a:pt x="0" y="962025"/>
                  </a:lnTo>
                  <a:close/>
                </a:path>
              </a:pathLst>
            </a:custGeom>
            <a:blipFill>
              <a:blip r:embed="rId6">
                <a:alphaModFix amt="0"/>
              </a:blip>
              <a:stretch>
                <a:fillRect l="-84986" t="0" r="-84986" b="0"/>
              </a:stretch>
            </a:blipFill>
          </p:spPr>
          <p:txBody>
            <a:bodyPr/>
            <a:p/>
          </p:txBody>
        </p:sp>
        <p:sp>
          <p:nvSpPr>
            <p:cNvPr name="TextBox 80" id="80"/>
            <p:cNvSpPr txBox="true"/>
            <p:nvPr/>
          </p:nvSpPr>
          <p:spPr>
            <a:xfrm>
              <a:off x="0" y="-47625"/>
              <a:ext cx="914400" cy="1009650"/>
            </a:xfrm>
            <a:prstGeom prst="rect">
              <a:avLst/>
            </a:prstGeom>
          </p:spPr>
          <p:txBody>
            <a:bodyPr anchor="ctr" rtlCol="false" tIns="0" lIns="0" bIns="0" rIns="0"/>
            <a:lstStyle/>
            <a:p>
              <a:pPr algn="ctr">
                <a:lnSpc>
                  <a:spcPts val="2638"/>
                </a:lnSpc>
              </a:pPr>
              <a:r>
                <a:rPr lang="en-US" sz="2199" b="true">
                  <a:solidFill>
                    <a:srgbClr val="FFFFFF"/>
                  </a:solidFill>
                  <a:latin typeface="Calibri (MS) Bold"/>
                  <a:ea typeface="Calibri (MS) Bold"/>
                  <a:cs typeface="Calibri (MS) Bold"/>
                  <a:sym typeface="Calibri (MS) Bold"/>
                </a:rPr>
                <a:t>2</a:t>
              </a:r>
            </a:p>
          </p:txBody>
        </p:sp>
      </p:grpSp>
      <p:sp>
        <p:nvSpPr>
          <p:cNvPr name="TextBox 81" id="81"/>
          <p:cNvSpPr txBox="true"/>
          <p:nvPr/>
        </p:nvSpPr>
        <p:spPr>
          <a:xfrm rot="0">
            <a:off x="7589520" y="2572512"/>
            <a:ext cx="4023360" cy="1249680"/>
          </a:xfrm>
          <a:prstGeom prst="rect">
            <a:avLst/>
          </a:prstGeom>
        </p:spPr>
        <p:txBody>
          <a:bodyPr anchor="t" rtlCol="false" tIns="0" lIns="0" bIns="0" rIns="0">
            <a:spAutoFit/>
          </a:bodyPr>
          <a:lstStyle/>
          <a:p>
            <a:pPr algn="l">
              <a:lnSpc>
                <a:spcPts val="3090"/>
              </a:lnSpc>
            </a:pPr>
            <a:r>
              <a:rPr lang="en-US" sz="2300" b="true">
                <a:solidFill>
                  <a:srgbClr val="0B5E6E"/>
                </a:solidFill>
                <a:latin typeface="Calibri (MS) Bold"/>
                <a:ea typeface="Calibri (MS) Bold"/>
                <a:cs typeface="Calibri (MS) Bold"/>
                <a:sym typeface="Calibri (MS) Bold"/>
              </a:rPr>
              <a:t>Manfaat citra satelit bergantung pada jenis variabel</a:t>
            </a:r>
          </a:p>
        </p:txBody>
      </p:sp>
      <p:sp>
        <p:nvSpPr>
          <p:cNvPr name="TextBox 82" id="82"/>
          <p:cNvSpPr txBox="true"/>
          <p:nvPr/>
        </p:nvSpPr>
        <p:spPr>
          <a:xfrm rot="0">
            <a:off x="6739128" y="3760470"/>
            <a:ext cx="4809744" cy="4011930"/>
          </a:xfrm>
          <a:prstGeom prst="rect">
            <a:avLst/>
          </a:prstGeom>
        </p:spPr>
        <p:txBody>
          <a:bodyPr anchor="t" rtlCol="false" tIns="0" lIns="0" bIns="0" rIns="0">
            <a:spAutoFit/>
          </a:bodyPr>
          <a:lstStyle/>
          <a:p>
            <a:pPr algn="l">
              <a:lnSpc>
                <a:spcPts val="2761"/>
              </a:lnSpc>
            </a:pPr>
            <a:r>
              <a:rPr lang="en-US" sz="1950">
                <a:solidFill>
                  <a:srgbClr val="14313B"/>
                </a:solidFill>
                <a:latin typeface="Calibri (MS)"/>
                <a:ea typeface="Calibri (MS)"/>
                <a:cs typeface="Calibri (MS)"/>
                <a:sym typeface="Calibri (MS)"/>
              </a:rPr>
              <a:t>Lahan terbangun: Dynamic World diklasifikasi langsung, tanpa regresi tambahan. ODTW: cahaya malam memerlukan regresi proxy dengan kekuatan sedang (R² selisih tahunan 0,405). Manfaat citra bergantung pada apakah variabel bisa diklasifikasi langsung atau butuh hubungan statistik.</a:t>
            </a:r>
          </a:p>
        </p:txBody>
      </p:sp>
      <p:sp>
        <p:nvSpPr>
          <p:cNvPr name="Freeform 83" id="83"/>
          <p:cNvSpPr/>
          <p:nvPr/>
        </p:nvSpPr>
        <p:spPr>
          <a:xfrm flipH="false" flipV="false" rot="0">
            <a:off x="12053411" y="2379059"/>
            <a:ext cx="5428297" cy="5565458"/>
          </a:xfrm>
          <a:custGeom>
            <a:avLst/>
            <a:gdLst/>
            <a:ahLst/>
            <a:cxnLst/>
            <a:rect r="r" b="b" t="t" l="l"/>
            <a:pathLst>
              <a:path h="5565458" w="5428297">
                <a:moveTo>
                  <a:pt x="0" y="0"/>
                </a:moveTo>
                <a:lnTo>
                  <a:pt x="5428298" y="0"/>
                </a:lnTo>
                <a:lnTo>
                  <a:pt x="5428298" y="5565458"/>
                </a:lnTo>
                <a:lnTo>
                  <a:pt x="0" y="556545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84" id="84"/>
          <p:cNvGrpSpPr/>
          <p:nvPr/>
        </p:nvGrpSpPr>
        <p:grpSpPr>
          <a:xfrm rot="0">
            <a:off x="12362688" y="2697480"/>
            <a:ext cx="685800" cy="685800"/>
            <a:chOff x="0" y="0"/>
            <a:chExt cx="914400" cy="914400"/>
          </a:xfrm>
        </p:grpSpPr>
        <p:sp>
          <p:nvSpPr>
            <p:cNvPr name="Freeform 85" id="85"/>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86" id="86"/>
          <p:cNvGrpSpPr/>
          <p:nvPr/>
        </p:nvGrpSpPr>
        <p:grpSpPr>
          <a:xfrm rot="0">
            <a:off x="12362688" y="2661761"/>
            <a:ext cx="685800" cy="721519"/>
            <a:chOff x="0" y="0"/>
            <a:chExt cx="914400" cy="962025"/>
          </a:xfrm>
        </p:grpSpPr>
        <p:sp>
          <p:nvSpPr>
            <p:cNvPr name="Freeform 87" id="87"/>
            <p:cNvSpPr/>
            <p:nvPr/>
          </p:nvSpPr>
          <p:spPr>
            <a:xfrm flipH="false" flipV="false" rot="0">
              <a:off x="0" y="0"/>
              <a:ext cx="914400" cy="962025"/>
            </a:xfrm>
            <a:custGeom>
              <a:avLst/>
              <a:gdLst/>
              <a:ahLst/>
              <a:cxnLst/>
              <a:rect r="r" b="b" t="t" l="l"/>
              <a:pathLst>
                <a:path h="962025" w="914400">
                  <a:moveTo>
                    <a:pt x="0" y="0"/>
                  </a:moveTo>
                  <a:lnTo>
                    <a:pt x="914400" y="0"/>
                  </a:lnTo>
                  <a:lnTo>
                    <a:pt x="914400" y="962025"/>
                  </a:lnTo>
                  <a:lnTo>
                    <a:pt x="0" y="962025"/>
                  </a:lnTo>
                  <a:close/>
                </a:path>
              </a:pathLst>
            </a:custGeom>
            <a:blipFill>
              <a:blip r:embed="rId6">
                <a:alphaModFix amt="0"/>
              </a:blip>
              <a:stretch>
                <a:fillRect l="-84986" t="0" r="-84986" b="0"/>
              </a:stretch>
            </a:blipFill>
          </p:spPr>
          <p:txBody>
            <a:bodyPr/>
            <a:p/>
          </p:txBody>
        </p:sp>
        <p:sp>
          <p:nvSpPr>
            <p:cNvPr name="TextBox 88" id="88"/>
            <p:cNvSpPr txBox="true"/>
            <p:nvPr/>
          </p:nvSpPr>
          <p:spPr>
            <a:xfrm>
              <a:off x="0" y="-47625"/>
              <a:ext cx="914400" cy="1009650"/>
            </a:xfrm>
            <a:prstGeom prst="rect">
              <a:avLst/>
            </a:prstGeom>
          </p:spPr>
          <p:txBody>
            <a:bodyPr anchor="ctr" rtlCol="false" tIns="0" lIns="0" bIns="0" rIns="0"/>
            <a:lstStyle/>
            <a:p>
              <a:pPr algn="ctr">
                <a:lnSpc>
                  <a:spcPts val="2638"/>
                </a:lnSpc>
              </a:pPr>
              <a:r>
                <a:rPr lang="en-US" sz="2199" b="true">
                  <a:solidFill>
                    <a:srgbClr val="FFFFFF"/>
                  </a:solidFill>
                  <a:latin typeface="Calibri (MS) Bold"/>
                  <a:ea typeface="Calibri (MS) Bold"/>
                  <a:cs typeface="Calibri (MS) Bold"/>
                  <a:sym typeface="Calibri (MS) Bold"/>
                </a:rPr>
                <a:t>3</a:t>
              </a:r>
            </a:p>
          </p:txBody>
        </p:sp>
      </p:grpSp>
      <p:sp>
        <p:nvSpPr>
          <p:cNvPr name="TextBox 89" id="89"/>
          <p:cNvSpPr txBox="true"/>
          <p:nvPr/>
        </p:nvSpPr>
        <p:spPr>
          <a:xfrm rot="0">
            <a:off x="13213080" y="2572512"/>
            <a:ext cx="4023360" cy="1249680"/>
          </a:xfrm>
          <a:prstGeom prst="rect">
            <a:avLst/>
          </a:prstGeom>
        </p:spPr>
        <p:txBody>
          <a:bodyPr anchor="t" rtlCol="false" tIns="0" lIns="0" bIns="0" rIns="0">
            <a:spAutoFit/>
          </a:bodyPr>
          <a:lstStyle/>
          <a:p>
            <a:pPr algn="l">
              <a:lnSpc>
                <a:spcPts val="3090"/>
              </a:lnSpc>
            </a:pPr>
            <a:r>
              <a:rPr lang="en-US" sz="2300" b="true">
                <a:solidFill>
                  <a:srgbClr val="0B5E6E"/>
                </a:solidFill>
                <a:latin typeface="Calibri (MS) Bold"/>
                <a:ea typeface="Calibri (MS) Bold"/>
                <a:cs typeface="Calibri (MS) Bold"/>
                <a:sym typeface="Calibri (MS) Bold"/>
              </a:rPr>
              <a:t>Dua kebijakan dapat dirancang terpisah</a:t>
            </a:r>
          </a:p>
        </p:txBody>
      </p:sp>
      <p:sp>
        <p:nvSpPr>
          <p:cNvPr name="TextBox 90" id="90"/>
          <p:cNvSpPr txBox="true"/>
          <p:nvPr/>
        </p:nvSpPr>
        <p:spPr>
          <a:xfrm rot="0">
            <a:off x="12362688" y="3760470"/>
            <a:ext cx="4809744" cy="4011930"/>
          </a:xfrm>
          <a:prstGeom prst="rect">
            <a:avLst/>
          </a:prstGeom>
        </p:spPr>
        <p:txBody>
          <a:bodyPr anchor="t" rtlCol="false" tIns="0" lIns="0" bIns="0" rIns="0">
            <a:spAutoFit/>
          </a:bodyPr>
          <a:lstStyle/>
          <a:p>
            <a:pPr algn="l">
              <a:lnSpc>
                <a:spcPts val="2761"/>
              </a:lnSpc>
            </a:pPr>
            <a:r>
              <a:rPr lang="en-US" sz="1950">
                <a:solidFill>
                  <a:srgbClr val="14313B"/>
                </a:solidFill>
                <a:latin typeface="Calibri (MS)"/>
                <a:ea typeface="Calibri (MS)"/>
                <a:cs typeface="Calibri (MS)"/>
                <a:sym typeface="Calibri (MS)"/>
              </a:rPr>
              <a:t>Efek interaksi hanya ≈ 0,7% dari selisih paket pada jumlah wisatawan: insentif menggerakkan ekonomi, konservasi menggerakkan lahan. Satu kebijakan dapat ditambah atau dikurangi tanpa mengulang seluruh simulasi untuk memperkirakan dampaknya.</a:t>
            </a:r>
          </a:p>
        </p:txBody>
      </p:sp>
      <p:grpSp>
        <p:nvGrpSpPr>
          <p:cNvPr name="Group 91" id="91"/>
          <p:cNvGrpSpPr/>
          <p:nvPr/>
        </p:nvGrpSpPr>
        <p:grpSpPr>
          <a:xfrm rot="0">
            <a:off x="822960" y="8156448"/>
            <a:ext cx="16642080" cy="1078992"/>
            <a:chOff x="0" y="0"/>
            <a:chExt cx="22189440" cy="1438656"/>
          </a:xfrm>
        </p:grpSpPr>
        <p:sp>
          <p:nvSpPr>
            <p:cNvPr name="Freeform 92" id="92"/>
            <p:cNvSpPr/>
            <p:nvPr/>
          </p:nvSpPr>
          <p:spPr>
            <a:xfrm flipH="false" flipV="false" rot="0">
              <a:off x="0" y="0"/>
              <a:ext cx="22189439" cy="1438656"/>
            </a:xfrm>
            <a:custGeom>
              <a:avLst/>
              <a:gdLst/>
              <a:ahLst/>
              <a:cxnLst/>
              <a:rect r="r" b="b" t="t" l="l"/>
              <a:pathLst>
                <a:path h="1438656" w="22189439">
                  <a:moveTo>
                    <a:pt x="0" y="170688"/>
                  </a:moveTo>
                  <a:cubicBezTo>
                    <a:pt x="0" y="76454"/>
                    <a:pt x="76454" y="0"/>
                    <a:pt x="170688" y="0"/>
                  </a:cubicBezTo>
                  <a:lnTo>
                    <a:pt x="22018752" y="0"/>
                  </a:lnTo>
                  <a:cubicBezTo>
                    <a:pt x="22112987" y="0"/>
                    <a:pt x="22189439" y="76454"/>
                    <a:pt x="22189439" y="170688"/>
                  </a:cubicBezTo>
                  <a:lnTo>
                    <a:pt x="22189439" y="1267968"/>
                  </a:lnTo>
                  <a:cubicBezTo>
                    <a:pt x="22189439" y="1362202"/>
                    <a:pt x="22112987" y="1438656"/>
                    <a:pt x="22018752" y="1438656"/>
                  </a:cubicBezTo>
                  <a:lnTo>
                    <a:pt x="170688" y="1438656"/>
                  </a:lnTo>
                  <a:cubicBezTo>
                    <a:pt x="76454" y="1438656"/>
                    <a:pt x="0" y="1362202"/>
                    <a:pt x="0" y="1267968"/>
                  </a:cubicBezTo>
                  <a:close/>
                </a:path>
              </a:pathLst>
            </a:custGeom>
            <a:solidFill>
              <a:srgbClr val="0B5E6E"/>
            </a:solidFill>
          </p:spPr>
          <p:txBody>
            <a:bodyPr/>
            <a:p/>
          </p:txBody>
        </p:sp>
      </p:grpSp>
      <p:grpSp>
        <p:nvGrpSpPr>
          <p:cNvPr name="Group 93" id="93"/>
          <p:cNvGrpSpPr/>
          <p:nvPr/>
        </p:nvGrpSpPr>
        <p:grpSpPr>
          <a:xfrm rot="0">
            <a:off x="1188720" y="8156448"/>
            <a:ext cx="15910560" cy="1078992"/>
            <a:chOff x="0" y="0"/>
            <a:chExt cx="21214080" cy="1438656"/>
          </a:xfrm>
        </p:grpSpPr>
        <p:sp>
          <p:nvSpPr>
            <p:cNvPr name="Freeform 94" id="94"/>
            <p:cNvSpPr/>
            <p:nvPr/>
          </p:nvSpPr>
          <p:spPr>
            <a:xfrm flipH="false" flipV="false" rot="0">
              <a:off x="0" y="0"/>
              <a:ext cx="21214080" cy="1438656"/>
            </a:xfrm>
            <a:custGeom>
              <a:avLst/>
              <a:gdLst/>
              <a:ahLst/>
              <a:cxnLst/>
              <a:rect r="r" b="b" t="t" l="l"/>
              <a:pathLst>
                <a:path h="1438656" w="21214080">
                  <a:moveTo>
                    <a:pt x="0" y="0"/>
                  </a:moveTo>
                  <a:lnTo>
                    <a:pt x="21214080" y="0"/>
                  </a:lnTo>
                  <a:lnTo>
                    <a:pt x="21214080" y="1438656"/>
                  </a:lnTo>
                  <a:lnTo>
                    <a:pt x="0" y="1438656"/>
                  </a:lnTo>
                  <a:close/>
                </a:path>
              </a:pathLst>
            </a:custGeom>
            <a:blipFill>
              <a:blip r:embed="rId5">
                <a:alphaModFix amt="0"/>
              </a:blip>
              <a:stretch>
                <a:fillRect l="0" t="-237122" r="0" b="-237121"/>
              </a:stretch>
            </a:blipFill>
          </p:spPr>
          <p:txBody>
            <a:bodyPr/>
            <a:p/>
          </p:txBody>
        </p:sp>
      </p:grpSp>
      <p:grpSp>
        <p:nvGrpSpPr>
          <p:cNvPr name="Group 95" id="95"/>
          <p:cNvGrpSpPr/>
          <p:nvPr/>
        </p:nvGrpSpPr>
        <p:grpSpPr>
          <a:xfrm rot="0">
            <a:off x="1188720" y="8113586"/>
            <a:ext cx="15910560" cy="1121854"/>
            <a:chOff x="0" y="0"/>
            <a:chExt cx="21214080" cy="1495806"/>
          </a:xfrm>
        </p:grpSpPr>
        <p:sp>
          <p:nvSpPr>
            <p:cNvPr name="Freeform 96" id="96"/>
            <p:cNvSpPr/>
            <p:nvPr/>
          </p:nvSpPr>
          <p:spPr>
            <a:xfrm flipH="false" flipV="false" rot="0">
              <a:off x="0" y="0"/>
              <a:ext cx="21214080" cy="1495806"/>
            </a:xfrm>
            <a:custGeom>
              <a:avLst/>
              <a:gdLst/>
              <a:ahLst/>
              <a:cxnLst/>
              <a:rect r="r" b="b" t="t" l="l"/>
              <a:pathLst>
                <a:path h="1495806" w="21214080">
                  <a:moveTo>
                    <a:pt x="0" y="0"/>
                  </a:moveTo>
                  <a:lnTo>
                    <a:pt x="21214080" y="0"/>
                  </a:lnTo>
                  <a:lnTo>
                    <a:pt x="21214080" y="1495806"/>
                  </a:lnTo>
                  <a:lnTo>
                    <a:pt x="0" y="1495806"/>
                  </a:lnTo>
                  <a:close/>
                </a:path>
              </a:pathLst>
            </a:custGeom>
            <a:blipFill>
              <a:blip r:embed="rId6">
                <a:alphaModFix amt="0"/>
              </a:blip>
              <a:stretch>
                <a:fillRect l="0" t="-226344" r="0" b="-226344"/>
              </a:stretch>
            </a:blipFill>
          </p:spPr>
          <p:txBody>
            <a:bodyPr/>
            <a:p/>
          </p:txBody>
        </p:sp>
        <p:sp>
          <p:nvSpPr>
            <p:cNvPr name="TextBox 97" id="97"/>
            <p:cNvSpPr txBox="true"/>
            <p:nvPr/>
          </p:nvSpPr>
          <p:spPr>
            <a:xfrm>
              <a:off x="0" y="-57150"/>
              <a:ext cx="21214080" cy="1552956"/>
            </a:xfrm>
            <a:prstGeom prst="rect">
              <a:avLst/>
            </a:prstGeom>
          </p:spPr>
          <p:txBody>
            <a:bodyPr anchor="ctr" rtlCol="false" tIns="0" lIns="0" bIns="0" rIns="0"/>
            <a:lstStyle/>
            <a:p>
              <a:pPr algn="l">
                <a:lnSpc>
                  <a:spcPts val="2284"/>
                </a:lnSpc>
              </a:pPr>
              <a:r>
                <a:rPr lang="en-US" sz="1700">
                  <a:solidFill>
                    <a:srgbClr val="FFFFFF"/>
                  </a:solidFill>
                  <a:latin typeface="Calibri (MS)"/>
                  <a:ea typeface="Calibri (MS)"/>
                  <a:cs typeface="Calibri (MS)"/>
                  <a:sym typeface="Calibri (MS)"/>
                </a:rPr>
                <a:t>Kontribusi penelitian: cara pengujian yang bisa memisahkan sumber ketidaksesuaian, serta gambaran trade-off kebijakan secara kuantitatif beserta robustness-nya terhadap ketidakpastian asumsi.</a:t>
              </a:r>
            </a:p>
          </p:txBody>
        </p:sp>
      </p:grpSp>
      <p:grpSp>
        <p:nvGrpSpPr>
          <p:cNvPr name="Group 98" id="98"/>
          <p:cNvGrpSpPr/>
          <p:nvPr/>
        </p:nvGrpSpPr>
        <p:grpSpPr>
          <a:xfrm rot="0">
            <a:off x="16047720" y="9646920"/>
            <a:ext cx="420624" cy="420624"/>
            <a:chOff x="0" y="0"/>
            <a:chExt cx="560832" cy="560832"/>
          </a:xfrm>
        </p:grpSpPr>
        <p:sp>
          <p:nvSpPr>
            <p:cNvPr name="Freeform 99" id="99"/>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00" id="100"/>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7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Keterbatasan Penelitian</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Keterbatasan disampaikan terbuka; model dipakai untuk membandingkan</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0B5E6E"/>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Penutup</a:t>
              </a:r>
            </a:p>
          </p:txBody>
        </p:sp>
      </p:grpSp>
      <p:grpSp>
        <p:nvGrpSpPr>
          <p:cNvPr name="Group 66" id="66"/>
          <p:cNvGrpSpPr/>
          <p:nvPr/>
        </p:nvGrpSpPr>
        <p:grpSpPr>
          <a:xfrm rot="0">
            <a:off x="822960" y="2400300"/>
            <a:ext cx="5349240" cy="5692140"/>
            <a:chOff x="0" y="0"/>
            <a:chExt cx="7132320" cy="7589520"/>
          </a:xfrm>
        </p:grpSpPr>
        <p:sp>
          <p:nvSpPr>
            <p:cNvPr name="Freeform 67" id="67"/>
            <p:cNvSpPr/>
            <p:nvPr/>
          </p:nvSpPr>
          <p:spPr>
            <a:xfrm flipH="false" flipV="false" rot="0">
              <a:off x="0" y="0"/>
              <a:ext cx="7132320" cy="7589520"/>
            </a:xfrm>
            <a:custGeom>
              <a:avLst/>
              <a:gdLst/>
              <a:ahLst/>
              <a:cxnLst/>
              <a:rect r="r" b="b" t="t" l="l"/>
              <a:pathLst>
                <a:path h="7589520" w="7132320">
                  <a:moveTo>
                    <a:pt x="0" y="182880"/>
                  </a:moveTo>
                  <a:cubicBezTo>
                    <a:pt x="0" y="81915"/>
                    <a:pt x="81915" y="0"/>
                    <a:pt x="182880" y="0"/>
                  </a:cubicBezTo>
                  <a:lnTo>
                    <a:pt x="6949440" y="0"/>
                  </a:lnTo>
                  <a:cubicBezTo>
                    <a:pt x="7050405" y="0"/>
                    <a:pt x="7132320" y="81915"/>
                    <a:pt x="7132320" y="182880"/>
                  </a:cubicBezTo>
                  <a:lnTo>
                    <a:pt x="7132320" y="7406640"/>
                  </a:lnTo>
                  <a:cubicBezTo>
                    <a:pt x="7132320" y="7507605"/>
                    <a:pt x="7050405" y="7589520"/>
                    <a:pt x="6949440" y="7589520"/>
                  </a:cubicBezTo>
                  <a:lnTo>
                    <a:pt x="182880" y="7589520"/>
                  </a:lnTo>
                  <a:cubicBezTo>
                    <a:pt x="81915" y="7589520"/>
                    <a:pt x="0" y="7507605"/>
                    <a:pt x="0" y="7406640"/>
                  </a:cubicBezTo>
                  <a:close/>
                </a:path>
              </a:pathLst>
            </a:custGeom>
            <a:solidFill>
              <a:srgbClr val="EAF8FA"/>
            </a:solidFill>
          </p:spPr>
          <p:txBody>
            <a:bodyPr/>
            <a:p/>
          </p:txBody>
        </p:sp>
      </p:grpSp>
      <p:grpSp>
        <p:nvGrpSpPr>
          <p:cNvPr name="Group 68" id="68"/>
          <p:cNvGrpSpPr/>
          <p:nvPr/>
        </p:nvGrpSpPr>
        <p:grpSpPr>
          <a:xfrm rot="0">
            <a:off x="822960" y="2400300"/>
            <a:ext cx="5349240" cy="822960"/>
            <a:chOff x="0" y="0"/>
            <a:chExt cx="7132320" cy="1097280"/>
          </a:xfrm>
        </p:grpSpPr>
        <p:sp>
          <p:nvSpPr>
            <p:cNvPr name="Freeform 69" id="69"/>
            <p:cNvSpPr/>
            <p:nvPr/>
          </p:nvSpPr>
          <p:spPr>
            <a:xfrm flipH="false" flipV="false" rot="0">
              <a:off x="0" y="0"/>
              <a:ext cx="7132320" cy="1097280"/>
            </a:xfrm>
            <a:custGeom>
              <a:avLst/>
              <a:gdLst/>
              <a:ahLst/>
              <a:cxnLst/>
              <a:rect r="r" b="b" t="t" l="l"/>
              <a:pathLst>
                <a:path h="1097280" w="7132320">
                  <a:moveTo>
                    <a:pt x="0" y="182880"/>
                  </a:moveTo>
                  <a:cubicBezTo>
                    <a:pt x="0" y="81915"/>
                    <a:pt x="81915" y="0"/>
                    <a:pt x="182880" y="0"/>
                  </a:cubicBezTo>
                  <a:lnTo>
                    <a:pt x="6949440" y="0"/>
                  </a:lnTo>
                  <a:cubicBezTo>
                    <a:pt x="7050405" y="0"/>
                    <a:pt x="7132320" y="81915"/>
                    <a:pt x="7132320" y="182880"/>
                  </a:cubicBezTo>
                  <a:lnTo>
                    <a:pt x="7132320" y="914400"/>
                  </a:lnTo>
                  <a:cubicBezTo>
                    <a:pt x="7132320" y="1015365"/>
                    <a:pt x="7050405" y="1097280"/>
                    <a:pt x="6949440" y="1097280"/>
                  </a:cubicBezTo>
                  <a:lnTo>
                    <a:pt x="182880" y="1097280"/>
                  </a:lnTo>
                  <a:cubicBezTo>
                    <a:pt x="81915" y="1097280"/>
                    <a:pt x="0" y="1015365"/>
                    <a:pt x="0" y="914400"/>
                  </a:cubicBezTo>
                  <a:close/>
                </a:path>
              </a:pathLst>
            </a:custGeom>
            <a:solidFill>
              <a:srgbClr val="0B5E6E"/>
            </a:solidFill>
          </p:spPr>
          <p:txBody>
            <a:bodyPr/>
            <a:p/>
          </p:txBody>
        </p:sp>
      </p:grpSp>
      <p:grpSp>
        <p:nvGrpSpPr>
          <p:cNvPr name="Group 70" id="70"/>
          <p:cNvGrpSpPr/>
          <p:nvPr/>
        </p:nvGrpSpPr>
        <p:grpSpPr>
          <a:xfrm rot="0">
            <a:off x="822960" y="2400300"/>
            <a:ext cx="5349240" cy="822960"/>
            <a:chOff x="0" y="0"/>
            <a:chExt cx="7132320" cy="1097280"/>
          </a:xfrm>
        </p:grpSpPr>
        <p:sp>
          <p:nvSpPr>
            <p:cNvPr name="Freeform 71" id="71"/>
            <p:cNvSpPr/>
            <p:nvPr/>
          </p:nvSpPr>
          <p:spPr>
            <a:xfrm flipH="false" flipV="false" rot="0">
              <a:off x="0" y="0"/>
              <a:ext cx="7132320" cy="1097280"/>
            </a:xfrm>
            <a:custGeom>
              <a:avLst/>
              <a:gdLst/>
              <a:ahLst/>
              <a:cxnLst/>
              <a:rect r="r" b="b" t="t" l="l"/>
              <a:pathLst>
                <a:path h="1097280" w="7132320">
                  <a:moveTo>
                    <a:pt x="0" y="0"/>
                  </a:moveTo>
                  <a:lnTo>
                    <a:pt x="7132320" y="0"/>
                  </a:lnTo>
                  <a:lnTo>
                    <a:pt x="7132320" y="1097280"/>
                  </a:lnTo>
                  <a:lnTo>
                    <a:pt x="0" y="1097280"/>
                  </a:lnTo>
                  <a:close/>
                </a:path>
              </a:pathLst>
            </a:custGeom>
            <a:blipFill>
              <a:blip r:embed="rId4">
                <a:alphaModFix amt="0"/>
              </a:blip>
              <a:stretch>
                <a:fillRect l="0" t="-76564" r="0" b="-76564"/>
              </a:stretch>
            </a:blipFill>
          </p:spPr>
          <p:txBody>
            <a:bodyPr/>
            <a:p/>
          </p:txBody>
        </p:sp>
      </p:grpSp>
      <p:grpSp>
        <p:nvGrpSpPr>
          <p:cNvPr name="Group 72" id="72"/>
          <p:cNvGrpSpPr/>
          <p:nvPr/>
        </p:nvGrpSpPr>
        <p:grpSpPr>
          <a:xfrm rot="0">
            <a:off x="822960" y="2371725"/>
            <a:ext cx="5349240" cy="851535"/>
            <a:chOff x="0" y="0"/>
            <a:chExt cx="7132320" cy="1135380"/>
          </a:xfrm>
        </p:grpSpPr>
        <p:sp>
          <p:nvSpPr>
            <p:cNvPr name="Freeform 73" id="73"/>
            <p:cNvSpPr/>
            <p:nvPr/>
          </p:nvSpPr>
          <p:spPr>
            <a:xfrm flipH="false" flipV="false" rot="0">
              <a:off x="0" y="0"/>
              <a:ext cx="7132320" cy="1135380"/>
            </a:xfrm>
            <a:custGeom>
              <a:avLst/>
              <a:gdLst/>
              <a:ahLst/>
              <a:cxnLst/>
              <a:rect r="r" b="b" t="t" l="l"/>
              <a:pathLst>
                <a:path h="1135380" w="7132320">
                  <a:moveTo>
                    <a:pt x="0" y="0"/>
                  </a:moveTo>
                  <a:lnTo>
                    <a:pt x="7132320" y="0"/>
                  </a:lnTo>
                  <a:lnTo>
                    <a:pt x="7132320" y="1135380"/>
                  </a:lnTo>
                  <a:lnTo>
                    <a:pt x="0" y="1135380"/>
                  </a:lnTo>
                  <a:close/>
                </a:path>
              </a:pathLst>
            </a:custGeom>
            <a:blipFill>
              <a:blip r:embed="rId5">
                <a:alphaModFix amt="0"/>
              </a:blip>
              <a:stretch>
                <a:fillRect l="0" t="-72317" r="0" b="-72317"/>
              </a:stretch>
            </a:blipFill>
          </p:spPr>
          <p:txBody>
            <a:bodyPr/>
            <a:p/>
          </p:txBody>
        </p:sp>
      </p:grpSp>
      <p:grpSp>
        <p:nvGrpSpPr>
          <p:cNvPr name="Group 74" id="74"/>
          <p:cNvGrpSpPr/>
          <p:nvPr/>
        </p:nvGrpSpPr>
        <p:grpSpPr>
          <a:xfrm rot="0">
            <a:off x="822960" y="2343150"/>
            <a:ext cx="5349240" cy="880110"/>
            <a:chOff x="0" y="0"/>
            <a:chExt cx="7132320" cy="1173480"/>
          </a:xfrm>
        </p:grpSpPr>
        <p:sp>
          <p:nvSpPr>
            <p:cNvPr name="Freeform 75" id="75"/>
            <p:cNvSpPr/>
            <p:nvPr/>
          </p:nvSpPr>
          <p:spPr>
            <a:xfrm flipH="false" flipV="false" rot="0">
              <a:off x="0" y="0"/>
              <a:ext cx="7132320" cy="1173480"/>
            </a:xfrm>
            <a:custGeom>
              <a:avLst/>
              <a:gdLst/>
              <a:ahLst/>
              <a:cxnLst/>
              <a:rect r="r" b="b" t="t" l="l"/>
              <a:pathLst>
                <a:path h="1173480" w="7132320">
                  <a:moveTo>
                    <a:pt x="0" y="0"/>
                  </a:moveTo>
                  <a:lnTo>
                    <a:pt x="7132320" y="0"/>
                  </a:lnTo>
                  <a:lnTo>
                    <a:pt x="7132320" y="1173480"/>
                  </a:lnTo>
                  <a:lnTo>
                    <a:pt x="0" y="1173480"/>
                  </a:lnTo>
                  <a:close/>
                </a:path>
              </a:pathLst>
            </a:custGeom>
            <a:blipFill>
              <a:blip r:embed="rId6">
                <a:alphaModFix amt="0"/>
              </a:blip>
              <a:stretch>
                <a:fillRect l="0" t="-68428" r="0" b="-68428"/>
              </a:stretch>
            </a:blipFill>
          </p:spPr>
          <p:txBody>
            <a:bodyPr/>
            <a:p/>
          </p:txBody>
        </p:sp>
        <p:sp>
          <p:nvSpPr>
            <p:cNvPr name="TextBox 76" id="76"/>
            <p:cNvSpPr txBox="true"/>
            <p:nvPr/>
          </p:nvSpPr>
          <p:spPr>
            <a:xfrm>
              <a:off x="0" y="-38100"/>
              <a:ext cx="7132320" cy="121158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Data</a:t>
              </a:r>
            </a:p>
          </p:txBody>
        </p:sp>
      </p:grpSp>
      <p:sp>
        <p:nvSpPr>
          <p:cNvPr name="TextBox 77" id="77"/>
          <p:cNvSpPr txBox="true"/>
          <p:nvPr/>
        </p:nvSpPr>
        <p:spPr>
          <a:xfrm rot="0">
            <a:off x="1097280" y="3383280"/>
            <a:ext cx="4800600" cy="4640580"/>
          </a:xfrm>
          <a:prstGeom prst="rect">
            <a:avLst/>
          </a:prstGeom>
        </p:spPr>
        <p:txBody>
          <a:bodyPr anchor="t" rtlCol="false" tIns="0" lIns="0" bIns="0" rIns="0">
            <a:spAutoFit/>
          </a:bodyPr>
          <a:lstStyle/>
          <a:p>
            <a:pPr algn="l" marL="490140" indent="-122535" lvl="3">
              <a:lnSpc>
                <a:spcPts val="2250"/>
              </a:lnSpc>
              <a:buFont typeface="Arial"/>
              <a:buChar char="￭"/>
            </a:pPr>
            <a:r>
              <a:rPr lang="en-US" sz="1875">
                <a:solidFill>
                  <a:srgbClr val="14313B"/>
                </a:solidFill>
                <a:latin typeface="Calibri (MS)"/>
                <a:ea typeface="Calibri (MS)"/>
                <a:cs typeface="Calibri (MS)"/>
                <a:sym typeface="Calibri (MS)"/>
              </a:rPr>
              <a:t>Perubahan metode pencatatan wisnus 2018/2019 (faktor penyesuaian 2,22–2,38)</a:t>
            </a:r>
          </a:p>
          <a:p>
            <a:pPr algn="l" marL="490140" indent="-122535" lvl="3">
              <a:lnSpc>
                <a:spcPts val="2250"/>
              </a:lnSpc>
              <a:buFont typeface="Arial"/>
              <a:buChar char="￭"/>
            </a:pPr>
            <a:r>
              <a:rPr lang="en-US" sz="1875">
                <a:solidFill>
                  <a:srgbClr val="14313B"/>
                </a:solidFill>
                <a:latin typeface="Calibri (MS)"/>
                <a:ea typeface="Calibri (MS)"/>
                <a:cs typeface="Calibri (MS)"/>
                <a:sym typeface="Calibri (MS)"/>
              </a:rPr>
              <a:t>Data lahan terbangun mengandung noise (−27% dalam dua tahun)</a:t>
            </a:r>
          </a:p>
          <a:p>
            <a:pPr algn="l" marL="490140" indent="-122535" lvl="3">
              <a:lnSpc>
                <a:spcPts val="2250"/>
              </a:lnSpc>
              <a:buFont typeface="Arial"/>
              <a:buChar char="￭"/>
            </a:pPr>
            <a:r>
              <a:rPr lang="en-US" sz="1875">
                <a:solidFill>
                  <a:srgbClr val="14313B"/>
                </a:solidFill>
                <a:latin typeface="Calibri (MS)"/>
                <a:ea typeface="Calibri (MS)"/>
                <a:cs typeface="Calibri (MS)"/>
                <a:sym typeface="Calibri (MS)"/>
              </a:rPr>
              <a:t>ODTW 2015–2017 dan 2025 hasil regresi (R² ≈ 0,41)</a:t>
            </a:r>
          </a:p>
          <a:p>
            <a:pPr algn="l" marL="490140" indent="-122535" lvl="3">
              <a:lnSpc>
                <a:spcPts val="2250"/>
              </a:lnSpc>
              <a:buFont typeface="Arial"/>
              <a:buChar char="￭"/>
            </a:pPr>
            <a:r>
              <a:rPr lang="en-US" sz="1875">
                <a:solidFill>
                  <a:srgbClr val="14313B"/>
                </a:solidFill>
                <a:latin typeface="Calibri (MS)"/>
                <a:ea typeface="Calibri (MS)"/>
                <a:cs typeface="Calibri (MS)"/>
                <a:sym typeface="Calibri (MS)"/>
              </a:rPr>
              <a:t>Lonjakan akomodasi 2018 tak dapat direproduksi</a:t>
            </a:r>
          </a:p>
          <a:p>
            <a:pPr algn="l" marL="490140" indent="-122535" lvl="3">
              <a:lnSpc>
                <a:spcPts val="2250"/>
              </a:lnSpc>
              <a:buFont typeface="Arial"/>
              <a:buChar char="￭"/>
            </a:pPr>
            <a:r>
              <a:rPr lang="en-US" sz="1875">
                <a:solidFill>
                  <a:srgbClr val="14313B"/>
                </a:solidFill>
                <a:latin typeface="Calibri (MS)"/>
                <a:ea typeface="Calibri (MS)"/>
                <a:cs typeface="Calibri (MS)"/>
                <a:sym typeface="Calibri (MS)"/>
              </a:rPr>
              <a:t>Investasi hanya realisasi PMA dan PMDN</a:t>
            </a:r>
          </a:p>
        </p:txBody>
      </p:sp>
      <p:grpSp>
        <p:nvGrpSpPr>
          <p:cNvPr name="Group 78" id="78"/>
          <p:cNvGrpSpPr/>
          <p:nvPr/>
        </p:nvGrpSpPr>
        <p:grpSpPr>
          <a:xfrm rot="0">
            <a:off x="6467094" y="2400300"/>
            <a:ext cx="5349240" cy="5692140"/>
            <a:chOff x="0" y="0"/>
            <a:chExt cx="7132320" cy="7589520"/>
          </a:xfrm>
        </p:grpSpPr>
        <p:sp>
          <p:nvSpPr>
            <p:cNvPr name="Freeform 79" id="79"/>
            <p:cNvSpPr/>
            <p:nvPr/>
          </p:nvSpPr>
          <p:spPr>
            <a:xfrm flipH="false" flipV="false" rot="0">
              <a:off x="0" y="0"/>
              <a:ext cx="7132320" cy="7589520"/>
            </a:xfrm>
            <a:custGeom>
              <a:avLst/>
              <a:gdLst/>
              <a:ahLst/>
              <a:cxnLst/>
              <a:rect r="r" b="b" t="t" l="l"/>
              <a:pathLst>
                <a:path h="7589520" w="7132320">
                  <a:moveTo>
                    <a:pt x="0" y="182880"/>
                  </a:moveTo>
                  <a:cubicBezTo>
                    <a:pt x="0" y="81915"/>
                    <a:pt x="81915" y="0"/>
                    <a:pt x="182880" y="0"/>
                  </a:cubicBezTo>
                  <a:lnTo>
                    <a:pt x="6949440" y="0"/>
                  </a:lnTo>
                  <a:cubicBezTo>
                    <a:pt x="7050405" y="0"/>
                    <a:pt x="7132320" y="81915"/>
                    <a:pt x="7132320" y="182880"/>
                  </a:cubicBezTo>
                  <a:lnTo>
                    <a:pt x="7132320" y="7406640"/>
                  </a:lnTo>
                  <a:cubicBezTo>
                    <a:pt x="7132320" y="7507605"/>
                    <a:pt x="7050405" y="7589520"/>
                    <a:pt x="6949440" y="7589520"/>
                  </a:cubicBezTo>
                  <a:lnTo>
                    <a:pt x="182880" y="7589520"/>
                  </a:lnTo>
                  <a:cubicBezTo>
                    <a:pt x="81915" y="7589520"/>
                    <a:pt x="0" y="7507605"/>
                    <a:pt x="0" y="7406640"/>
                  </a:cubicBezTo>
                  <a:close/>
                </a:path>
              </a:pathLst>
            </a:custGeom>
            <a:solidFill>
              <a:srgbClr val="EAF8FA"/>
            </a:solidFill>
          </p:spPr>
          <p:txBody>
            <a:bodyPr/>
            <a:p/>
          </p:txBody>
        </p:sp>
      </p:grpSp>
      <p:grpSp>
        <p:nvGrpSpPr>
          <p:cNvPr name="Group 80" id="80"/>
          <p:cNvGrpSpPr/>
          <p:nvPr/>
        </p:nvGrpSpPr>
        <p:grpSpPr>
          <a:xfrm rot="0">
            <a:off x="6467094" y="2400300"/>
            <a:ext cx="5349240" cy="822960"/>
            <a:chOff x="0" y="0"/>
            <a:chExt cx="7132320" cy="1097280"/>
          </a:xfrm>
        </p:grpSpPr>
        <p:sp>
          <p:nvSpPr>
            <p:cNvPr name="Freeform 81" id="81"/>
            <p:cNvSpPr/>
            <p:nvPr/>
          </p:nvSpPr>
          <p:spPr>
            <a:xfrm flipH="false" flipV="false" rot="0">
              <a:off x="0" y="0"/>
              <a:ext cx="7132320" cy="1097280"/>
            </a:xfrm>
            <a:custGeom>
              <a:avLst/>
              <a:gdLst/>
              <a:ahLst/>
              <a:cxnLst/>
              <a:rect r="r" b="b" t="t" l="l"/>
              <a:pathLst>
                <a:path h="1097280" w="7132320">
                  <a:moveTo>
                    <a:pt x="0" y="182880"/>
                  </a:moveTo>
                  <a:cubicBezTo>
                    <a:pt x="0" y="81915"/>
                    <a:pt x="81915" y="0"/>
                    <a:pt x="182880" y="0"/>
                  </a:cubicBezTo>
                  <a:lnTo>
                    <a:pt x="6949440" y="0"/>
                  </a:lnTo>
                  <a:cubicBezTo>
                    <a:pt x="7050405" y="0"/>
                    <a:pt x="7132320" y="81915"/>
                    <a:pt x="7132320" y="182880"/>
                  </a:cubicBezTo>
                  <a:lnTo>
                    <a:pt x="7132320" y="914400"/>
                  </a:lnTo>
                  <a:cubicBezTo>
                    <a:pt x="7132320" y="1015365"/>
                    <a:pt x="7050405" y="1097280"/>
                    <a:pt x="6949440" y="1097280"/>
                  </a:cubicBezTo>
                  <a:lnTo>
                    <a:pt x="182880" y="1097280"/>
                  </a:lnTo>
                  <a:cubicBezTo>
                    <a:pt x="81915" y="1097280"/>
                    <a:pt x="0" y="1015365"/>
                    <a:pt x="0" y="914400"/>
                  </a:cubicBezTo>
                  <a:close/>
                </a:path>
              </a:pathLst>
            </a:custGeom>
            <a:solidFill>
              <a:srgbClr val="0B5E6E"/>
            </a:solidFill>
          </p:spPr>
          <p:txBody>
            <a:bodyPr/>
            <a:p/>
          </p:txBody>
        </p:sp>
      </p:grpSp>
      <p:grpSp>
        <p:nvGrpSpPr>
          <p:cNvPr name="Group 82" id="82"/>
          <p:cNvGrpSpPr/>
          <p:nvPr/>
        </p:nvGrpSpPr>
        <p:grpSpPr>
          <a:xfrm rot="0">
            <a:off x="6467094" y="2400300"/>
            <a:ext cx="5349240" cy="822960"/>
            <a:chOff x="0" y="0"/>
            <a:chExt cx="7132320" cy="1097280"/>
          </a:xfrm>
        </p:grpSpPr>
        <p:sp>
          <p:nvSpPr>
            <p:cNvPr name="Freeform 83" id="83"/>
            <p:cNvSpPr/>
            <p:nvPr/>
          </p:nvSpPr>
          <p:spPr>
            <a:xfrm flipH="false" flipV="false" rot="0">
              <a:off x="0" y="0"/>
              <a:ext cx="7132320" cy="1097280"/>
            </a:xfrm>
            <a:custGeom>
              <a:avLst/>
              <a:gdLst/>
              <a:ahLst/>
              <a:cxnLst/>
              <a:rect r="r" b="b" t="t" l="l"/>
              <a:pathLst>
                <a:path h="1097280" w="7132320">
                  <a:moveTo>
                    <a:pt x="0" y="0"/>
                  </a:moveTo>
                  <a:lnTo>
                    <a:pt x="7132320" y="0"/>
                  </a:lnTo>
                  <a:lnTo>
                    <a:pt x="7132320" y="1097280"/>
                  </a:lnTo>
                  <a:lnTo>
                    <a:pt x="0" y="1097280"/>
                  </a:lnTo>
                  <a:close/>
                </a:path>
              </a:pathLst>
            </a:custGeom>
            <a:blipFill>
              <a:blip r:embed="rId4">
                <a:alphaModFix amt="0"/>
              </a:blip>
              <a:stretch>
                <a:fillRect l="0" t="-76564" r="0" b="-76564"/>
              </a:stretch>
            </a:blipFill>
          </p:spPr>
          <p:txBody>
            <a:bodyPr/>
            <a:p/>
          </p:txBody>
        </p:sp>
      </p:grpSp>
      <p:grpSp>
        <p:nvGrpSpPr>
          <p:cNvPr name="Group 84" id="84"/>
          <p:cNvGrpSpPr/>
          <p:nvPr/>
        </p:nvGrpSpPr>
        <p:grpSpPr>
          <a:xfrm rot="0">
            <a:off x="6467094" y="2371725"/>
            <a:ext cx="5349240" cy="851535"/>
            <a:chOff x="0" y="0"/>
            <a:chExt cx="7132320" cy="1135380"/>
          </a:xfrm>
        </p:grpSpPr>
        <p:sp>
          <p:nvSpPr>
            <p:cNvPr name="Freeform 85" id="85"/>
            <p:cNvSpPr/>
            <p:nvPr/>
          </p:nvSpPr>
          <p:spPr>
            <a:xfrm flipH="false" flipV="false" rot="0">
              <a:off x="0" y="0"/>
              <a:ext cx="7132320" cy="1135380"/>
            </a:xfrm>
            <a:custGeom>
              <a:avLst/>
              <a:gdLst/>
              <a:ahLst/>
              <a:cxnLst/>
              <a:rect r="r" b="b" t="t" l="l"/>
              <a:pathLst>
                <a:path h="1135380" w="7132320">
                  <a:moveTo>
                    <a:pt x="0" y="0"/>
                  </a:moveTo>
                  <a:lnTo>
                    <a:pt x="7132320" y="0"/>
                  </a:lnTo>
                  <a:lnTo>
                    <a:pt x="7132320" y="1135380"/>
                  </a:lnTo>
                  <a:lnTo>
                    <a:pt x="0" y="1135380"/>
                  </a:lnTo>
                  <a:close/>
                </a:path>
              </a:pathLst>
            </a:custGeom>
            <a:blipFill>
              <a:blip r:embed="rId5">
                <a:alphaModFix amt="0"/>
              </a:blip>
              <a:stretch>
                <a:fillRect l="0" t="-72317" r="0" b="-72317"/>
              </a:stretch>
            </a:blipFill>
          </p:spPr>
          <p:txBody>
            <a:bodyPr/>
            <a:p/>
          </p:txBody>
        </p:sp>
      </p:grpSp>
      <p:grpSp>
        <p:nvGrpSpPr>
          <p:cNvPr name="Group 86" id="86"/>
          <p:cNvGrpSpPr/>
          <p:nvPr/>
        </p:nvGrpSpPr>
        <p:grpSpPr>
          <a:xfrm rot="0">
            <a:off x="6467094" y="2343150"/>
            <a:ext cx="5349240" cy="880110"/>
            <a:chOff x="0" y="0"/>
            <a:chExt cx="7132320" cy="1173480"/>
          </a:xfrm>
        </p:grpSpPr>
        <p:sp>
          <p:nvSpPr>
            <p:cNvPr name="Freeform 87" id="87"/>
            <p:cNvSpPr/>
            <p:nvPr/>
          </p:nvSpPr>
          <p:spPr>
            <a:xfrm flipH="false" flipV="false" rot="0">
              <a:off x="0" y="0"/>
              <a:ext cx="7132320" cy="1173480"/>
            </a:xfrm>
            <a:custGeom>
              <a:avLst/>
              <a:gdLst/>
              <a:ahLst/>
              <a:cxnLst/>
              <a:rect r="r" b="b" t="t" l="l"/>
              <a:pathLst>
                <a:path h="1173480" w="7132320">
                  <a:moveTo>
                    <a:pt x="0" y="0"/>
                  </a:moveTo>
                  <a:lnTo>
                    <a:pt x="7132320" y="0"/>
                  </a:lnTo>
                  <a:lnTo>
                    <a:pt x="7132320" y="1173480"/>
                  </a:lnTo>
                  <a:lnTo>
                    <a:pt x="0" y="1173480"/>
                  </a:lnTo>
                  <a:close/>
                </a:path>
              </a:pathLst>
            </a:custGeom>
            <a:blipFill>
              <a:blip r:embed="rId6">
                <a:alphaModFix amt="0"/>
              </a:blip>
              <a:stretch>
                <a:fillRect l="0" t="-68428" r="0" b="-68428"/>
              </a:stretch>
            </a:blipFill>
          </p:spPr>
          <p:txBody>
            <a:bodyPr/>
            <a:p/>
          </p:txBody>
        </p:sp>
        <p:sp>
          <p:nvSpPr>
            <p:cNvPr name="TextBox 88" id="88"/>
            <p:cNvSpPr txBox="true"/>
            <p:nvPr/>
          </p:nvSpPr>
          <p:spPr>
            <a:xfrm>
              <a:off x="0" y="-38100"/>
              <a:ext cx="7132320" cy="121158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Struktur model</a:t>
              </a:r>
            </a:p>
          </p:txBody>
        </p:sp>
      </p:grpSp>
      <p:sp>
        <p:nvSpPr>
          <p:cNvPr name="TextBox 89" id="89"/>
          <p:cNvSpPr txBox="true"/>
          <p:nvPr/>
        </p:nvSpPr>
        <p:spPr>
          <a:xfrm rot="0">
            <a:off x="6741414" y="3383280"/>
            <a:ext cx="4800600" cy="4640580"/>
          </a:xfrm>
          <a:prstGeom prst="rect">
            <a:avLst/>
          </a:prstGeom>
        </p:spPr>
        <p:txBody>
          <a:bodyPr anchor="t" rtlCol="false" tIns="0" lIns="0" bIns="0" rIns="0">
            <a:spAutoFit/>
          </a:bodyPr>
          <a:lstStyle/>
          <a:p>
            <a:pPr algn="l" marL="490140" indent="-122535" lvl="3">
              <a:lnSpc>
                <a:spcPts val="2250"/>
              </a:lnSpc>
              <a:buFont typeface="Arial"/>
              <a:buChar char="￭"/>
            </a:pPr>
            <a:r>
              <a:rPr lang="en-US" sz="1875">
                <a:solidFill>
                  <a:srgbClr val="14313B"/>
                </a:solidFill>
                <a:latin typeface="Calibri (MS)"/>
                <a:ea typeface="Calibri (MS)"/>
                <a:cs typeface="Calibri (MS)"/>
                <a:sym typeface="Calibri (MS)"/>
              </a:rPr>
              <a:t>Tanpa shock, harga, promosi, musim, dan lingkungan</a:t>
            </a:r>
          </a:p>
          <a:p>
            <a:pPr algn="l" marL="490140" indent="-122535" lvl="3">
              <a:lnSpc>
                <a:spcPts val="2250"/>
              </a:lnSpc>
              <a:buFont typeface="Arial"/>
              <a:buChar char="￭"/>
            </a:pPr>
            <a:r>
              <a:rPr lang="en-US" sz="1875">
                <a:solidFill>
                  <a:srgbClr val="14313B"/>
                </a:solidFill>
                <a:latin typeface="Calibri (MS)"/>
                <a:ea typeface="Calibri (MS)"/>
                <a:cs typeface="Calibri (MS)"/>
                <a:sym typeface="Calibri (MS)"/>
              </a:rPr>
              <a:t>Daya dukung lahan = luas wilayah (longgar)</a:t>
            </a:r>
          </a:p>
          <a:p>
            <a:pPr algn="l" marL="490140" indent="-122535" lvl="3">
              <a:lnSpc>
                <a:spcPts val="2250"/>
              </a:lnSpc>
              <a:buFont typeface="Arial"/>
              <a:buChar char="￭"/>
            </a:pPr>
            <a:r>
              <a:rPr lang="en-US" sz="1875">
                <a:solidFill>
                  <a:srgbClr val="14313B"/>
                </a:solidFill>
                <a:latin typeface="Calibri (MS)"/>
                <a:ea typeface="Calibri (MS)"/>
                <a:cs typeface="Calibri (MS)"/>
                <a:sym typeface="Calibri (MS)"/>
              </a:rPr>
              <a:t>Permintaan kamar tak terlayani tidak menekan kunjungan</a:t>
            </a:r>
          </a:p>
          <a:p>
            <a:pPr algn="l" marL="490140" indent="-122535" lvl="3">
              <a:lnSpc>
                <a:spcPts val="2250"/>
              </a:lnSpc>
              <a:buFont typeface="Arial"/>
              <a:buChar char="￭"/>
            </a:pPr>
            <a:r>
              <a:rPr lang="en-US" sz="1875">
                <a:solidFill>
                  <a:srgbClr val="14313B"/>
                </a:solidFill>
                <a:latin typeface="Calibri (MS)"/>
                <a:ea typeface="Calibri (MS)"/>
                <a:cs typeface="Calibri (MS)"/>
                <a:sym typeface="Calibri (MS)"/>
              </a:rPr>
              <a:t>Tenaga kerja hanya indikator keluaran</a:t>
            </a:r>
          </a:p>
        </p:txBody>
      </p:sp>
      <p:grpSp>
        <p:nvGrpSpPr>
          <p:cNvPr name="Group 90" id="90"/>
          <p:cNvGrpSpPr/>
          <p:nvPr/>
        </p:nvGrpSpPr>
        <p:grpSpPr>
          <a:xfrm rot="0">
            <a:off x="12111228" y="2400300"/>
            <a:ext cx="5349240" cy="5692140"/>
            <a:chOff x="0" y="0"/>
            <a:chExt cx="7132320" cy="7589520"/>
          </a:xfrm>
        </p:grpSpPr>
        <p:sp>
          <p:nvSpPr>
            <p:cNvPr name="Freeform 91" id="91"/>
            <p:cNvSpPr/>
            <p:nvPr/>
          </p:nvSpPr>
          <p:spPr>
            <a:xfrm flipH="false" flipV="false" rot="0">
              <a:off x="0" y="0"/>
              <a:ext cx="7132320" cy="7589520"/>
            </a:xfrm>
            <a:custGeom>
              <a:avLst/>
              <a:gdLst/>
              <a:ahLst/>
              <a:cxnLst/>
              <a:rect r="r" b="b" t="t" l="l"/>
              <a:pathLst>
                <a:path h="7589520" w="7132320">
                  <a:moveTo>
                    <a:pt x="0" y="182880"/>
                  </a:moveTo>
                  <a:cubicBezTo>
                    <a:pt x="0" y="81915"/>
                    <a:pt x="81915" y="0"/>
                    <a:pt x="182880" y="0"/>
                  </a:cubicBezTo>
                  <a:lnTo>
                    <a:pt x="6949440" y="0"/>
                  </a:lnTo>
                  <a:cubicBezTo>
                    <a:pt x="7050405" y="0"/>
                    <a:pt x="7132320" y="81915"/>
                    <a:pt x="7132320" y="182880"/>
                  </a:cubicBezTo>
                  <a:lnTo>
                    <a:pt x="7132320" y="7406640"/>
                  </a:lnTo>
                  <a:cubicBezTo>
                    <a:pt x="7132320" y="7507605"/>
                    <a:pt x="7050405" y="7589520"/>
                    <a:pt x="6949440" y="7589520"/>
                  </a:cubicBezTo>
                  <a:lnTo>
                    <a:pt x="182880" y="7589520"/>
                  </a:lnTo>
                  <a:cubicBezTo>
                    <a:pt x="81915" y="7589520"/>
                    <a:pt x="0" y="7507605"/>
                    <a:pt x="0" y="7406640"/>
                  </a:cubicBezTo>
                  <a:close/>
                </a:path>
              </a:pathLst>
            </a:custGeom>
            <a:solidFill>
              <a:srgbClr val="EAF8FA"/>
            </a:solidFill>
          </p:spPr>
          <p:txBody>
            <a:bodyPr/>
            <a:p/>
          </p:txBody>
        </p:sp>
      </p:grpSp>
      <p:grpSp>
        <p:nvGrpSpPr>
          <p:cNvPr name="Group 92" id="92"/>
          <p:cNvGrpSpPr/>
          <p:nvPr/>
        </p:nvGrpSpPr>
        <p:grpSpPr>
          <a:xfrm rot="0">
            <a:off x="12111228" y="2400300"/>
            <a:ext cx="5349240" cy="822960"/>
            <a:chOff x="0" y="0"/>
            <a:chExt cx="7132320" cy="1097280"/>
          </a:xfrm>
        </p:grpSpPr>
        <p:sp>
          <p:nvSpPr>
            <p:cNvPr name="Freeform 93" id="93"/>
            <p:cNvSpPr/>
            <p:nvPr/>
          </p:nvSpPr>
          <p:spPr>
            <a:xfrm flipH="false" flipV="false" rot="0">
              <a:off x="0" y="0"/>
              <a:ext cx="7132320" cy="1097280"/>
            </a:xfrm>
            <a:custGeom>
              <a:avLst/>
              <a:gdLst/>
              <a:ahLst/>
              <a:cxnLst/>
              <a:rect r="r" b="b" t="t" l="l"/>
              <a:pathLst>
                <a:path h="1097280" w="7132320">
                  <a:moveTo>
                    <a:pt x="0" y="182880"/>
                  </a:moveTo>
                  <a:cubicBezTo>
                    <a:pt x="0" y="81915"/>
                    <a:pt x="81915" y="0"/>
                    <a:pt x="182880" y="0"/>
                  </a:cubicBezTo>
                  <a:lnTo>
                    <a:pt x="6949440" y="0"/>
                  </a:lnTo>
                  <a:cubicBezTo>
                    <a:pt x="7050405" y="0"/>
                    <a:pt x="7132320" y="81915"/>
                    <a:pt x="7132320" y="182880"/>
                  </a:cubicBezTo>
                  <a:lnTo>
                    <a:pt x="7132320" y="914400"/>
                  </a:lnTo>
                  <a:cubicBezTo>
                    <a:pt x="7132320" y="1015365"/>
                    <a:pt x="7050405" y="1097280"/>
                    <a:pt x="6949440" y="1097280"/>
                  </a:cubicBezTo>
                  <a:lnTo>
                    <a:pt x="182880" y="1097280"/>
                  </a:lnTo>
                  <a:cubicBezTo>
                    <a:pt x="81915" y="1097280"/>
                    <a:pt x="0" y="1015365"/>
                    <a:pt x="0" y="914400"/>
                  </a:cubicBezTo>
                  <a:close/>
                </a:path>
              </a:pathLst>
            </a:custGeom>
            <a:solidFill>
              <a:srgbClr val="0B5E6E"/>
            </a:solidFill>
          </p:spPr>
          <p:txBody>
            <a:bodyPr/>
            <a:p/>
          </p:txBody>
        </p:sp>
      </p:grpSp>
      <p:grpSp>
        <p:nvGrpSpPr>
          <p:cNvPr name="Group 94" id="94"/>
          <p:cNvGrpSpPr/>
          <p:nvPr/>
        </p:nvGrpSpPr>
        <p:grpSpPr>
          <a:xfrm rot="0">
            <a:off x="12111228" y="2400300"/>
            <a:ext cx="5349240" cy="822960"/>
            <a:chOff x="0" y="0"/>
            <a:chExt cx="7132320" cy="1097280"/>
          </a:xfrm>
        </p:grpSpPr>
        <p:sp>
          <p:nvSpPr>
            <p:cNvPr name="Freeform 95" id="95"/>
            <p:cNvSpPr/>
            <p:nvPr/>
          </p:nvSpPr>
          <p:spPr>
            <a:xfrm flipH="false" flipV="false" rot="0">
              <a:off x="0" y="0"/>
              <a:ext cx="7132320" cy="1097280"/>
            </a:xfrm>
            <a:custGeom>
              <a:avLst/>
              <a:gdLst/>
              <a:ahLst/>
              <a:cxnLst/>
              <a:rect r="r" b="b" t="t" l="l"/>
              <a:pathLst>
                <a:path h="1097280" w="7132320">
                  <a:moveTo>
                    <a:pt x="0" y="0"/>
                  </a:moveTo>
                  <a:lnTo>
                    <a:pt x="7132320" y="0"/>
                  </a:lnTo>
                  <a:lnTo>
                    <a:pt x="7132320" y="1097280"/>
                  </a:lnTo>
                  <a:lnTo>
                    <a:pt x="0" y="1097280"/>
                  </a:lnTo>
                  <a:close/>
                </a:path>
              </a:pathLst>
            </a:custGeom>
            <a:blipFill>
              <a:blip r:embed="rId4">
                <a:alphaModFix amt="0"/>
              </a:blip>
              <a:stretch>
                <a:fillRect l="0" t="-76564" r="0" b="-76564"/>
              </a:stretch>
            </a:blipFill>
          </p:spPr>
          <p:txBody>
            <a:bodyPr/>
            <a:p/>
          </p:txBody>
        </p:sp>
      </p:grpSp>
      <p:grpSp>
        <p:nvGrpSpPr>
          <p:cNvPr name="Group 96" id="96"/>
          <p:cNvGrpSpPr/>
          <p:nvPr/>
        </p:nvGrpSpPr>
        <p:grpSpPr>
          <a:xfrm rot="0">
            <a:off x="12111228" y="2371725"/>
            <a:ext cx="5349240" cy="851535"/>
            <a:chOff x="0" y="0"/>
            <a:chExt cx="7132320" cy="1135380"/>
          </a:xfrm>
        </p:grpSpPr>
        <p:sp>
          <p:nvSpPr>
            <p:cNvPr name="Freeform 97" id="97"/>
            <p:cNvSpPr/>
            <p:nvPr/>
          </p:nvSpPr>
          <p:spPr>
            <a:xfrm flipH="false" flipV="false" rot="0">
              <a:off x="0" y="0"/>
              <a:ext cx="7132320" cy="1135380"/>
            </a:xfrm>
            <a:custGeom>
              <a:avLst/>
              <a:gdLst/>
              <a:ahLst/>
              <a:cxnLst/>
              <a:rect r="r" b="b" t="t" l="l"/>
              <a:pathLst>
                <a:path h="1135380" w="7132320">
                  <a:moveTo>
                    <a:pt x="0" y="0"/>
                  </a:moveTo>
                  <a:lnTo>
                    <a:pt x="7132320" y="0"/>
                  </a:lnTo>
                  <a:lnTo>
                    <a:pt x="7132320" y="1135380"/>
                  </a:lnTo>
                  <a:lnTo>
                    <a:pt x="0" y="1135380"/>
                  </a:lnTo>
                  <a:close/>
                </a:path>
              </a:pathLst>
            </a:custGeom>
            <a:blipFill>
              <a:blip r:embed="rId5">
                <a:alphaModFix amt="0"/>
              </a:blip>
              <a:stretch>
                <a:fillRect l="0" t="-72317" r="0" b="-72317"/>
              </a:stretch>
            </a:blipFill>
          </p:spPr>
          <p:txBody>
            <a:bodyPr/>
            <a:p/>
          </p:txBody>
        </p:sp>
      </p:grpSp>
      <p:grpSp>
        <p:nvGrpSpPr>
          <p:cNvPr name="Group 98" id="98"/>
          <p:cNvGrpSpPr/>
          <p:nvPr/>
        </p:nvGrpSpPr>
        <p:grpSpPr>
          <a:xfrm rot="0">
            <a:off x="12111228" y="2343150"/>
            <a:ext cx="5349240" cy="880110"/>
            <a:chOff x="0" y="0"/>
            <a:chExt cx="7132320" cy="1173480"/>
          </a:xfrm>
        </p:grpSpPr>
        <p:sp>
          <p:nvSpPr>
            <p:cNvPr name="Freeform 99" id="99"/>
            <p:cNvSpPr/>
            <p:nvPr/>
          </p:nvSpPr>
          <p:spPr>
            <a:xfrm flipH="false" flipV="false" rot="0">
              <a:off x="0" y="0"/>
              <a:ext cx="7132320" cy="1173480"/>
            </a:xfrm>
            <a:custGeom>
              <a:avLst/>
              <a:gdLst/>
              <a:ahLst/>
              <a:cxnLst/>
              <a:rect r="r" b="b" t="t" l="l"/>
              <a:pathLst>
                <a:path h="1173480" w="7132320">
                  <a:moveTo>
                    <a:pt x="0" y="0"/>
                  </a:moveTo>
                  <a:lnTo>
                    <a:pt x="7132320" y="0"/>
                  </a:lnTo>
                  <a:lnTo>
                    <a:pt x="7132320" y="1173480"/>
                  </a:lnTo>
                  <a:lnTo>
                    <a:pt x="0" y="1173480"/>
                  </a:lnTo>
                  <a:close/>
                </a:path>
              </a:pathLst>
            </a:custGeom>
            <a:blipFill>
              <a:blip r:embed="rId6">
                <a:alphaModFix amt="0"/>
              </a:blip>
              <a:stretch>
                <a:fillRect l="0" t="-68428" r="0" b="-68428"/>
              </a:stretch>
            </a:blipFill>
          </p:spPr>
          <p:txBody>
            <a:bodyPr/>
            <a:p/>
          </p:txBody>
        </p:sp>
        <p:sp>
          <p:nvSpPr>
            <p:cNvPr name="TextBox 100" id="100"/>
            <p:cNvSpPr txBox="true"/>
            <p:nvPr/>
          </p:nvSpPr>
          <p:spPr>
            <a:xfrm>
              <a:off x="0" y="-38100"/>
              <a:ext cx="7132320" cy="121158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Penafsiran</a:t>
              </a:r>
            </a:p>
          </p:txBody>
        </p:sp>
      </p:grpSp>
      <p:sp>
        <p:nvSpPr>
          <p:cNvPr name="TextBox 101" id="101"/>
          <p:cNvSpPr txBox="true"/>
          <p:nvPr/>
        </p:nvSpPr>
        <p:spPr>
          <a:xfrm rot="0">
            <a:off x="12385548" y="3383280"/>
            <a:ext cx="4800600" cy="4640580"/>
          </a:xfrm>
          <a:prstGeom prst="rect">
            <a:avLst/>
          </a:prstGeom>
        </p:spPr>
        <p:txBody>
          <a:bodyPr anchor="t" rtlCol="false" tIns="0" lIns="0" bIns="0" rIns="0">
            <a:spAutoFit/>
          </a:bodyPr>
          <a:lstStyle/>
          <a:p>
            <a:pPr algn="l" marL="490140" indent="-122535" lvl="3">
              <a:lnSpc>
                <a:spcPts val="2250"/>
              </a:lnSpc>
              <a:buFont typeface="Arial"/>
              <a:buChar char="￭"/>
            </a:pPr>
            <a:r>
              <a:rPr lang="en-US" sz="1875">
                <a:solidFill>
                  <a:srgbClr val="14313B"/>
                </a:solidFill>
                <a:latin typeface="Calibri (MS)"/>
                <a:ea typeface="Calibri (MS)"/>
                <a:cs typeface="Calibri (MS)"/>
                <a:sym typeface="Calibri (MS)"/>
              </a:rPr>
              <a:t>Rasio LPD/LPE: asumsi, tidak bisa ditentukan dari data</a:t>
            </a:r>
          </a:p>
          <a:p>
            <a:pPr algn="l" marL="490140" indent="-122535" lvl="3">
              <a:lnSpc>
                <a:spcPts val="2250"/>
              </a:lnSpc>
              <a:buFont typeface="Arial"/>
              <a:buChar char="￭"/>
            </a:pPr>
            <a:r>
              <a:rPr lang="en-US" sz="1875">
                <a:solidFill>
                  <a:srgbClr val="14313B"/>
                </a:solidFill>
                <a:latin typeface="Calibri (MS)"/>
                <a:ea typeface="Calibri (MS)"/>
                <a:cs typeface="Calibri (MS)"/>
                <a:sym typeface="Calibri (MS)"/>
              </a:rPr>
              <a:t>Nilai variabel kebijakan dan batas kepadatan 2,0: ditentukan peneliti</a:t>
            </a:r>
          </a:p>
          <a:p>
            <a:pPr algn="l" marL="490140" indent="-122535" lvl="3">
              <a:lnSpc>
                <a:spcPts val="2250"/>
              </a:lnSpc>
              <a:buFont typeface="Arial"/>
              <a:buChar char="￭"/>
            </a:pPr>
            <a:r>
              <a:rPr lang="en-US" sz="1875">
                <a:solidFill>
                  <a:srgbClr val="14313B"/>
                </a:solidFill>
                <a:latin typeface="Calibri (MS)"/>
                <a:ea typeface="Calibri (MS)"/>
                <a:cs typeface="Calibri (MS)"/>
                <a:sym typeface="Calibri (MS)"/>
              </a:rPr>
              <a:t>Evaluasi pascakalibrasi memakai data yang sama (bukan validasi independen)</a:t>
            </a:r>
          </a:p>
          <a:p>
            <a:pPr algn="l" marL="490140" indent="-122535" lvl="3">
              <a:lnSpc>
                <a:spcPts val="2250"/>
              </a:lnSpc>
              <a:buFont typeface="Arial"/>
              <a:buChar char="￭"/>
            </a:pPr>
            <a:r>
              <a:rPr lang="en-US" sz="1875">
                <a:solidFill>
                  <a:srgbClr val="14313B"/>
                </a:solidFill>
                <a:latin typeface="Calibri (MS)"/>
                <a:ea typeface="Calibri (MS)"/>
                <a:cs typeface="Calibri (MS)"/>
                <a:sym typeface="Calibri (MS)"/>
              </a:rPr>
              <a:t>Skenario tanpa lokakarya pemangku kepentingan</a:t>
            </a:r>
          </a:p>
        </p:txBody>
      </p:sp>
      <p:grpSp>
        <p:nvGrpSpPr>
          <p:cNvPr name="Group 102" id="102"/>
          <p:cNvGrpSpPr/>
          <p:nvPr/>
        </p:nvGrpSpPr>
        <p:grpSpPr>
          <a:xfrm rot="0">
            <a:off x="822960" y="8366760"/>
            <a:ext cx="16637508" cy="891540"/>
            <a:chOff x="0" y="0"/>
            <a:chExt cx="22183344" cy="1188720"/>
          </a:xfrm>
        </p:grpSpPr>
        <p:sp>
          <p:nvSpPr>
            <p:cNvPr name="Freeform 103" id="103"/>
            <p:cNvSpPr/>
            <p:nvPr/>
          </p:nvSpPr>
          <p:spPr>
            <a:xfrm flipH="false" flipV="false" rot="0">
              <a:off x="0" y="0"/>
              <a:ext cx="22183344" cy="1188720"/>
            </a:xfrm>
            <a:custGeom>
              <a:avLst/>
              <a:gdLst/>
              <a:ahLst/>
              <a:cxnLst/>
              <a:rect r="r" b="b" t="t" l="l"/>
              <a:pathLst>
                <a:path h="1188720" w="22183344">
                  <a:moveTo>
                    <a:pt x="0" y="182880"/>
                  </a:moveTo>
                  <a:cubicBezTo>
                    <a:pt x="0" y="81915"/>
                    <a:pt x="81915" y="0"/>
                    <a:pt x="182880" y="0"/>
                  </a:cubicBezTo>
                  <a:lnTo>
                    <a:pt x="22000463" y="0"/>
                  </a:lnTo>
                  <a:cubicBezTo>
                    <a:pt x="22101428" y="0"/>
                    <a:pt x="22183344" y="81915"/>
                    <a:pt x="22183344" y="182880"/>
                  </a:cubicBezTo>
                  <a:lnTo>
                    <a:pt x="22183344" y="1005840"/>
                  </a:lnTo>
                  <a:cubicBezTo>
                    <a:pt x="22183344" y="1106805"/>
                    <a:pt x="22101428" y="1188720"/>
                    <a:pt x="22000463" y="1188720"/>
                  </a:cubicBezTo>
                  <a:lnTo>
                    <a:pt x="182880" y="1188720"/>
                  </a:lnTo>
                  <a:cubicBezTo>
                    <a:pt x="81915" y="1188720"/>
                    <a:pt x="0" y="1106805"/>
                    <a:pt x="0" y="1005840"/>
                  </a:cubicBezTo>
                  <a:close/>
                </a:path>
              </a:pathLst>
            </a:custGeom>
            <a:solidFill>
              <a:srgbClr val="FFF1BF"/>
            </a:solidFill>
          </p:spPr>
          <p:txBody>
            <a:bodyPr/>
            <a:p/>
          </p:txBody>
        </p:sp>
      </p:grpSp>
      <p:grpSp>
        <p:nvGrpSpPr>
          <p:cNvPr name="Group 104" id="104"/>
          <p:cNvGrpSpPr/>
          <p:nvPr/>
        </p:nvGrpSpPr>
        <p:grpSpPr>
          <a:xfrm rot="0">
            <a:off x="1234440" y="8366760"/>
            <a:ext cx="15814548" cy="891540"/>
            <a:chOff x="0" y="0"/>
            <a:chExt cx="21086064" cy="1188720"/>
          </a:xfrm>
        </p:grpSpPr>
        <p:sp>
          <p:nvSpPr>
            <p:cNvPr name="Freeform 105" id="105"/>
            <p:cNvSpPr/>
            <p:nvPr/>
          </p:nvSpPr>
          <p:spPr>
            <a:xfrm flipH="false" flipV="false" rot="0">
              <a:off x="0" y="0"/>
              <a:ext cx="21086063" cy="1188720"/>
            </a:xfrm>
            <a:custGeom>
              <a:avLst/>
              <a:gdLst/>
              <a:ahLst/>
              <a:cxnLst/>
              <a:rect r="r" b="b" t="t" l="l"/>
              <a:pathLst>
                <a:path h="1188720" w="21086063">
                  <a:moveTo>
                    <a:pt x="0" y="0"/>
                  </a:moveTo>
                  <a:lnTo>
                    <a:pt x="21086063" y="0"/>
                  </a:lnTo>
                  <a:lnTo>
                    <a:pt x="21086063" y="1188720"/>
                  </a:lnTo>
                  <a:lnTo>
                    <a:pt x="0" y="1188720"/>
                  </a:lnTo>
                  <a:close/>
                </a:path>
              </a:pathLst>
            </a:custGeom>
            <a:blipFill>
              <a:blip r:embed="rId4">
                <a:alphaModFix amt="0"/>
              </a:blip>
              <a:stretch>
                <a:fillRect l="0" t="-295394" r="0" b="-295394"/>
              </a:stretch>
            </a:blipFill>
          </p:spPr>
          <p:txBody>
            <a:bodyPr/>
            <a:p/>
          </p:txBody>
        </p:sp>
      </p:grpSp>
      <p:grpSp>
        <p:nvGrpSpPr>
          <p:cNvPr name="Group 106" id="106"/>
          <p:cNvGrpSpPr/>
          <p:nvPr/>
        </p:nvGrpSpPr>
        <p:grpSpPr>
          <a:xfrm rot="0">
            <a:off x="1234440" y="8338185"/>
            <a:ext cx="15814548" cy="920115"/>
            <a:chOff x="0" y="0"/>
            <a:chExt cx="21086064" cy="1226820"/>
          </a:xfrm>
        </p:grpSpPr>
        <p:sp>
          <p:nvSpPr>
            <p:cNvPr name="Freeform 107" id="107"/>
            <p:cNvSpPr/>
            <p:nvPr/>
          </p:nvSpPr>
          <p:spPr>
            <a:xfrm flipH="false" flipV="false" rot="0">
              <a:off x="0" y="0"/>
              <a:ext cx="21086063" cy="1226820"/>
            </a:xfrm>
            <a:custGeom>
              <a:avLst/>
              <a:gdLst/>
              <a:ahLst/>
              <a:cxnLst/>
              <a:rect r="r" b="b" t="t" l="l"/>
              <a:pathLst>
                <a:path h="1226820" w="21086063">
                  <a:moveTo>
                    <a:pt x="0" y="0"/>
                  </a:moveTo>
                  <a:lnTo>
                    <a:pt x="21086063" y="0"/>
                  </a:lnTo>
                  <a:lnTo>
                    <a:pt x="21086063" y="1226820"/>
                  </a:lnTo>
                  <a:lnTo>
                    <a:pt x="0" y="1226820"/>
                  </a:lnTo>
                  <a:close/>
                </a:path>
              </a:pathLst>
            </a:custGeom>
            <a:blipFill>
              <a:blip r:embed="rId5">
                <a:alphaModFix amt="0"/>
              </a:blip>
              <a:stretch>
                <a:fillRect l="0" t="-284667" r="0" b="-284667"/>
              </a:stretch>
            </a:blipFill>
          </p:spPr>
          <p:txBody>
            <a:bodyPr/>
            <a:p/>
          </p:txBody>
        </p:sp>
      </p:grpSp>
      <p:grpSp>
        <p:nvGrpSpPr>
          <p:cNvPr name="Group 108" id="108"/>
          <p:cNvGrpSpPr/>
          <p:nvPr/>
        </p:nvGrpSpPr>
        <p:grpSpPr>
          <a:xfrm rot="0">
            <a:off x="1234440" y="8309610"/>
            <a:ext cx="15814548" cy="948690"/>
            <a:chOff x="0" y="0"/>
            <a:chExt cx="21086064" cy="1264920"/>
          </a:xfrm>
        </p:grpSpPr>
        <p:sp>
          <p:nvSpPr>
            <p:cNvPr name="Freeform 109" id="109"/>
            <p:cNvSpPr/>
            <p:nvPr/>
          </p:nvSpPr>
          <p:spPr>
            <a:xfrm flipH="false" flipV="false" rot="0">
              <a:off x="0" y="0"/>
              <a:ext cx="21086065" cy="1264920"/>
            </a:xfrm>
            <a:custGeom>
              <a:avLst/>
              <a:gdLst/>
              <a:ahLst/>
              <a:cxnLst/>
              <a:rect r="r" b="b" t="t" l="l"/>
              <a:pathLst>
                <a:path h="1264920" w="21086065">
                  <a:moveTo>
                    <a:pt x="0" y="0"/>
                  </a:moveTo>
                  <a:lnTo>
                    <a:pt x="21086065" y="0"/>
                  </a:lnTo>
                  <a:lnTo>
                    <a:pt x="21086065" y="1264920"/>
                  </a:lnTo>
                  <a:lnTo>
                    <a:pt x="0" y="1264920"/>
                  </a:lnTo>
                  <a:close/>
                </a:path>
              </a:pathLst>
            </a:custGeom>
            <a:blipFill>
              <a:blip r:embed="rId6">
                <a:alphaModFix amt="0"/>
              </a:blip>
              <a:stretch>
                <a:fillRect l="0" t="-274813" r="0" b="-274813"/>
              </a:stretch>
            </a:blipFill>
          </p:spPr>
          <p:txBody>
            <a:bodyPr/>
            <a:p/>
          </p:txBody>
        </p:sp>
        <p:sp>
          <p:nvSpPr>
            <p:cNvPr name="TextBox 110" id="110"/>
            <p:cNvSpPr txBox="true"/>
            <p:nvPr/>
          </p:nvSpPr>
          <p:spPr>
            <a:xfrm>
              <a:off x="0" y="-38100"/>
              <a:ext cx="21086064" cy="1303020"/>
            </a:xfrm>
            <a:prstGeom prst="rect">
              <a:avLst/>
            </a:prstGeom>
          </p:spPr>
          <p:txBody>
            <a:bodyPr anchor="ctr" rtlCol="false" tIns="0" lIns="0" bIns="0" rIns="0"/>
            <a:lstStyle/>
            <a:p>
              <a:pPr algn="l">
                <a:lnSpc>
                  <a:spcPts val="2430"/>
                </a:lnSpc>
              </a:pPr>
              <a:r>
                <a:rPr lang="en-US" sz="2025" b="true">
                  <a:solidFill>
                    <a:srgbClr val="0B5E6E"/>
                  </a:solidFill>
                  <a:latin typeface="Calibri (MS) Bold"/>
                  <a:ea typeface="Calibri (MS) Bold"/>
                  <a:cs typeface="Calibri (MS) Bold"/>
                  <a:sym typeface="Calibri (MS) Bold"/>
                </a:rPr>
                <a:t>Model dipakai untuk membandingkan arah dan besaran relatif antarskenario — bukan untuk meramalkan angka absolut pada tahun tertentu.</a:t>
              </a:r>
            </a:p>
          </p:txBody>
        </p:sp>
      </p:grpSp>
      <p:sp>
        <p:nvSpPr>
          <p:cNvPr name="TextBox 111" id="111"/>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72</a:t>
            </a:r>
          </a:p>
        </p:txBody>
      </p:sp>
      <p:grpSp>
        <p:nvGrpSpPr>
          <p:cNvPr name="Group 112" id="112"/>
          <p:cNvGrpSpPr/>
          <p:nvPr/>
        </p:nvGrpSpPr>
        <p:grpSpPr>
          <a:xfrm rot="0">
            <a:off x="16047720" y="9646920"/>
            <a:ext cx="420624" cy="420624"/>
            <a:chOff x="0" y="0"/>
            <a:chExt cx="560832" cy="560832"/>
          </a:xfrm>
        </p:grpSpPr>
        <p:sp>
          <p:nvSpPr>
            <p:cNvPr name="Freeform 113" id="113"/>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14" id="114"/>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7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Kesimpulan</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Ketiga tujuan penelitian tercapai</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0B5E6E"/>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Penutup</a:t>
              </a:r>
            </a:p>
          </p:txBody>
        </p:sp>
      </p:grpSp>
      <p:grpSp>
        <p:nvGrpSpPr>
          <p:cNvPr name="Group 66" id="66"/>
          <p:cNvGrpSpPr/>
          <p:nvPr/>
        </p:nvGrpSpPr>
        <p:grpSpPr>
          <a:xfrm rot="0">
            <a:off x="822960" y="2400300"/>
            <a:ext cx="4800600" cy="1851660"/>
            <a:chOff x="0" y="0"/>
            <a:chExt cx="6400800" cy="2468880"/>
          </a:xfrm>
        </p:grpSpPr>
        <p:sp>
          <p:nvSpPr>
            <p:cNvPr name="Freeform 67" id="67"/>
            <p:cNvSpPr/>
            <p:nvPr/>
          </p:nvSpPr>
          <p:spPr>
            <a:xfrm flipH="false" flipV="false" rot="0">
              <a:off x="0" y="0"/>
              <a:ext cx="6400800" cy="2468880"/>
            </a:xfrm>
            <a:custGeom>
              <a:avLst/>
              <a:gdLst/>
              <a:ahLst/>
              <a:cxnLst/>
              <a:rect r="r" b="b" t="t" l="l"/>
              <a:pathLst>
                <a:path h="2468880" w="6400800">
                  <a:moveTo>
                    <a:pt x="0" y="182880"/>
                  </a:moveTo>
                  <a:cubicBezTo>
                    <a:pt x="0" y="81915"/>
                    <a:pt x="81915" y="0"/>
                    <a:pt x="182880" y="0"/>
                  </a:cubicBezTo>
                  <a:lnTo>
                    <a:pt x="6217920" y="0"/>
                  </a:lnTo>
                  <a:cubicBezTo>
                    <a:pt x="6318885" y="0"/>
                    <a:pt x="6400800" y="81915"/>
                    <a:pt x="6400800" y="182880"/>
                  </a:cubicBezTo>
                  <a:lnTo>
                    <a:pt x="6400800" y="2286000"/>
                  </a:lnTo>
                  <a:cubicBezTo>
                    <a:pt x="6400800" y="2386965"/>
                    <a:pt x="6318885" y="2468880"/>
                    <a:pt x="6217920" y="2468880"/>
                  </a:cubicBezTo>
                  <a:lnTo>
                    <a:pt x="182880" y="2468880"/>
                  </a:lnTo>
                  <a:cubicBezTo>
                    <a:pt x="81915" y="2468880"/>
                    <a:pt x="0" y="2386965"/>
                    <a:pt x="0" y="2286000"/>
                  </a:cubicBezTo>
                  <a:close/>
                </a:path>
              </a:pathLst>
            </a:custGeom>
            <a:solidFill>
              <a:srgbClr val="0B5E6E"/>
            </a:solidFill>
          </p:spPr>
          <p:txBody>
            <a:bodyPr/>
            <a:p/>
          </p:txBody>
        </p:sp>
      </p:grpSp>
      <p:sp>
        <p:nvSpPr>
          <p:cNvPr name="TextBox 68" id="68"/>
          <p:cNvSpPr txBox="true"/>
          <p:nvPr/>
        </p:nvSpPr>
        <p:spPr>
          <a:xfrm rot="0">
            <a:off x="1165860" y="2560320"/>
            <a:ext cx="4114800" cy="525780"/>
          </a:xfrm>
          <a:prstGeom prst="rect">
            <a:avLst/>
          </a:prstGeom>
        </p:spPr>
        <p:txBody>
          <a:bodyPr anchor="t" rtlCol="false" tIns="0" lIns="0" bIns="0" rIns="0">
            <a:spAutoFit/>
          </a:bodyPr>
          <a:lstStyle/>
          <a:p>
            <a:pPr algn="l">
              <a:lnSpc>
                <a:spcPts val="2160"/>
              </a:lnSpc>
            </a:pPr>
            <a:r>
              <a:rPr lang="en-US" sz="1800" b="true">
                <a:solidFill>
                  <a:srgbClr val="FFD23B"/>
                </a:solidFill>
                <a:latin typeface="Calibri (MS) Bold"/>
                <a:ea typeface="Calibri (MS) Bold"/>
                <a:cs typeface="Calibri (MS) Bold"/>
                <a:sym typeface="Calibri (MS) Bold"/>
              </a:rPr>
              <a:t>Tujuan 1</a:t>
            </a:r>
          </a:p>
        </p:txBody>
      </p:sp>
      <p:sp>
        <p:nvSpPr>
          <p:cNvPr name="TextBox 69" id="69"/>
          <p:cNvSpPr txBox="true"/>
          <p:nvPr/>
        </p:nvSpPr>
        <p:spPr>
          <a:xfrm rot="0">
            <a:off x="1165860" y="3040380"/>
            <a:ext cx="4114800" cy="1074420"/>
          </a:xfrm>
          <a:prstGeom prst="rect">
            <a:avLst/>
          </a:prstGeom>
        </p:spPr>
        <p:txBody>
          <a:bodyPr anchor="t" rtlCol="false" tIns="0" lIns="0" bIns="0" rIns="0">
            <a:spAutoFit/>
          </a:bodyPr>
          <a:lstStyle/>
          <a:p>
            <a:pPr algn="l">
              <a:lnSpc>
                <a:spcPts val="2878"/>
              </a:lnSpc>
            </a:pPr>
            <a:r>
              <a:rPr lang="en-US" sz="2400" b="true">
                <a:solidFill>
                  <a:srgbClr val="FFFFFF"/>
                </a:solidFill>
                <a:latin typeface="Calibri (MS) Bold"/>
                <a:ea typeface="Calibri (MS) Bold"/>
                <a:cs typeface="Calibri (MS) Bold"/>
                <a:sym typeface="Calibri (MS) Bold"/>
              </a:rPr>
              <a:t>Variabel penyusun CLD</a:t>
            </a:r>
          </a:p>
        </p:txBody>
      </p:sp>
      <p:sp>
        <p:nvSpPr>
          <p:cNvPr name="AutoShape 70" id="70"/>
          <p:cNvSpPr/>
          <p:nvPr/>
        </p:nvSpPr>
        <p:spPr>
          <a:xfrm rot="99720">
            <a:off x="5637952" y="3285934"/>
            <a:ext cx="657015" cy="0"/>
          </a:xfrm>
          <a:prstGeom prst="line">
            <a:avLst/>
          </a:prstGeom>
          <a:ln cap="rnd" w="19050">
            <a:solidFill>
              <a:srgbClr val="39C0D3"/>
            </a:solidFill>
            <a:prstDash val="solid"/>
            <a:headEnd type="none" len="sm" w="sm"/>
            <a:tailEnd type="triangle" len="med" w="lg"/>
          </a:ln>
        </p:spPr>
        <p:txBody>
          <a:bodyPr/>
          <a:p/>
        </p:txBody>
      </p:sp>
      <p:grpSp>
        <p:nvGrpSpPr>
          <p:cNvPr name="Group 71" id="71"/>
          <p:cNvGrpSpPr/>
          <p:nvPr/>
        </p:nvGrpSpPr>
        <p:grpSpPr>
          <a:xfrm rot="0">
            <a:off x="6309360" y="2400300"/>
            <a:ext cx="11151108" cy="1851660"/>
            <a:chOff x="0" y="0"/>
            <a:chExt cx="14868144" cy="2468880"/>
          </a:xfrm>
        </p:grpSpPr>
        <p:sp>
          <p:nvSpPr>
            <p:cNvPr name="Freeform 72" id="72"/>
            <p:cNvSpPr/>
            <p:nvPr/>
          </p:nvSpPr>
          <p:spPr>
            <a:xfrm flipH="false" flipV="false" rot="0">
              <a:off x="0" y="0"/>
              <a:ext cx="14868144" cy="2468880"/>
            </a:xfrm>
            <a:custGeom>
              <a:avLst/>
              <a:gdLst/>
              <a:ahLst/>
              <a:cxnLst/>
              <a:rect r="r" b="b" t="t" l="l"/>
              <a:pathLst>
                <a:path h="2468880" w="14868144">
                  <a:moveTo>
                    <a:pt x="0" y="182880"/>
                  </a:moveTo>
                  <a:cubicBezTo>
                    <a:pt x="0" y="81915"/>
                    <a:pt x="81915" y="0"/>
                    <a:pt x="182880" y="0"/>
                  </a:cubicBezTo>
                  <a:lnTo>
                    <a:pt x="14685263" y="0"/>
                  </a:lnTo>
                  <a:cubicBezTo>
                    <a:pt x="14786228" y="0"/>
                    <a:pt x="14868144" y="81915"/>
                    <a:pt x="14868144" y="182880"/>
                  </a:cubicBezTo>
                  <a:lnTo>
                    <a:pt x="14868144" y="2286000"/>
                  </a:lnTo>
                  <a:cubicBezTo>
                    <a:pt x="14868144" y="2386965"/>
                    <a:pt x="14786228" y="2468880"/>
                    <a:pt x="14685263" y="2468880"/>
                  </a:cubicBezTo>
                  <a:lnTo>
                    <a:pt x="182880" y="2468880"/>
                  </a:lnTo>
                  <a:cubicBezTo>
                    <a:pt x="81915" y="2468880"/>
                    <a:pt x="0" y="2386965"/>
                    <a:pt x="0" y="2286000"/>
                  </a:cubicBezTo>
                  <a:close/>
                </a:path>
              </a:pathLst>
            </a:custGeom>
            <a:solidFill>
              <a:srgbClr val="EAF8FA"/>
            </a:solidFill>
          </p:spPr>
          <p:txBody>
            <a:bodyPr/>
            <a:p/>
          </p:txBody>
        </p:sp>
      </p:grpSp>
      <p:grpSp>
        <p:nvGrpSpPr>
          <p:cNvPr name="Group 73" id="73"/>
          <p:cNvGrpSpPr/>
          <p:nvPr/>
        </p:nvGrpSpPr>
        <p:grpSpPr>
          <a:xfrm rot="0">
            <a:off x="6720840" y="2400300"/>
            <a:ext cx="10355580" cy="1851660"/>
            <a:chOff x="0" y="0"/>
            <a:chExt cx="13807440" cy="2468880"/>
          </a:xfrm>
        </p:grpSpPr>
        <p:sp>
          <p:nvSpPr>
            <p:cNvPr name="Freeform 74" id="74"/>
            <p:cNvSpPr/>
            <p:nvPr/>
          </p:nvSpPr>
          <p:spPr>
            <a:xfrm flipH="false" flipV="false" rot="0">
              <a:off x="0" y="0"/>
              <a:ext cx="13807439" cy="2468880"/>
            </a:xfrm>
            <a:custGeom>
              <a:avLst/>
              <a:gdLst/>
              <a:ahLst/>
              <a:cxnLst/>
              <a:rect r="r" b="b" t="t" l="l"/>
              <a:pathLst>
                <a:path h="2468880" w="13807439">
                  <a:moveTo>
                    <a:pt x="0" y="0"/>
                  </a:moveTo>
                  <a:lnTo>
                    <a:pt x="13807439" y="0"/>
                  </a:lnTo>
                  <a:lnTo>
                    <a:pt x="13807439" y="2468880"/>
                  </a:lnTo>
                  <a:lnTo>
                    <a:pt x="0" y="2468880"/>
                  </a:lnTo>
                  <a:close/>
                </a:path>
              </a:pathLst>
            </a:custGeom>
            <a:blipFill>
              <a:blip r:embed="rId4">
                <a:alphaModFix amt="0"/>
              </a:blip>
              <a:stretch>
                <a:fillRect l="0" t="-58896" r="0" b="-58896"/>
              </a:stretch>
            </a:blipFill>
          </p:spPr>
          <p:txBody>
            <a:bodyPr/>
            <a:p/>
          </p:txBody>
        </p:sp>
      </p:grpSp>
      <p:grpSp>
        <p:nvGrpSpPr>
          <p:cNvPr name="Group 75" id="75"/>
          <p:cNvGrpSpPr/>
          <p:nvPr/>
        </p:nvGrpSpPr>
        <p:grpSpPr>
          <a:xfrm rot="0">
            <a:off x="6720840" y="2371725"/>
            <a:ext cx="10355580" cy="1880235"/>
            <a:chOff x="0" y="0"/>
            <a:chExt cx="13807440" cy="2506980"/>
          </a:xfrm>
        </p:grpSpPr>
        <p:sp>
          <p:nvSpPr>
            <p:cNvPr name="Freeform 76" id="76"/>
            <p:cNvSpPr/>
            <p:nvPr/>
          </p:nvSpPr>
          <p:spPr>
            <a:xfrm flipH="false" flipV="false" rot="0">
              <a:off x="0" y="0"/>
              <a:ext cx="13807439" cy="2506980"/>
            </a:xfrm>
            <a:custGeom>
              <a:avLst/>
              <a:gdLst/>
              <a:ahLst/>
              <a:cxnLst/>
              <a:rect r="r" b="b" t="t" l="l"/>
              <a:pathLst>
                <a:path h="2506980" w="13807439">
                  <a:moveTo>
                    <a:pt x="0" y="0"/>
                  </a:moveTo>
                  <a:lnTo>
                    <a:pt x="13807439" y="0"/>
                  </a:lnTo>
                  <a:lnTo>
                    <a:pt x="13807439" y="2506980"/>
                  </a:lnTo>
                  <a:lnTo>
                    <a:pt x="0" y="2506980"/>
                  </a:lnTo>
                  <a:close/>
                </a:path>
              </a:pathLst>
            </a:custGeom>
            <a:blipFill>
              <a:blip r:embed="rId5">
                <a:alphaModFix amt="0"/>
              </a:blip>
              <a:stretch>
                <a:fillRect l="0" t="-57241" r="0" b="-57241"/>
              </a:stretch>
            </a:blipFill>
          </p:spPr>
          <p:txBody>
            <a:bodyPr/>
            <a:p/>
          </p:txBody>
        </p:sp>
      </p:grpSp>
      <p:grpSp>
        <p:nvGrpSpPr>
          <p:cNvPr name="Group 77" id="77"/>
          <p:cNvGrpSpPr/>
          <p:nvPr/>
        </p:nvGrpSpPr>
        <p:grpSpPr>
          <a:xfrm rot="0">
            <a:off x="6720840" y="2343150"/>
            <a:ext cx="10355580" cy="1908810"/>
            <a:chOff x="0" y="0"/>
            <a:chExt cx="13807440" cy="2545080"/>
          </a:xfrm>
        </p:grpSpPr>
        <p:sp>
          <p:nvSpPr>
            <p:cNvPr name="Freeform 78" id="78"/>
            <p:cNvSpPr/>
            <p:nvPr/>
          </p:nvSpPr>
          <p:spPr>
            <a:xfrm flipH="false" flipV="false" rot="0">
              <a:off x="0" y="0"/>
              <a:ext cx="13807439" cy="2545080"/>
            </a:xfrm>
            <a:custGeom>
              <a:avLst/>
              <a:gdLst/>
              <a:ahLst/>
              <a:cxnLst/>
              <a:rect r="r" b="b" t="t" l="l"/>
              <a:pathLst>
                <a:path h="2545080" w="13807439">
                  <a:moveTo>
                    <a:pt x="0" y="0"/>
                  </a:moveTo>
                  <a:lnTo>
                    <a:pt x="13807439" y="0"/>
                  </a:lnTo>
                  <a:lnTo>
                    <a:pt x="13807439" y="2545080"/>
                  </a:lnTo>
                  <a:lnTo>
                    <a:pt x="0" y="2545080"/>
                  </a:lnTo>
                  <a:close/>
                </a:path>
              </a:pathLst>
            </a:custGeom>
            <a:blipFill>
              <a:blip r:embed="rId6">
                <a:alphaModFix amt="0"/>
              </a:blip>
              <a:stretch>
                <a:fillRect l="0" t="-55709" r="0" b="-55709"/>
              </a:stretch>
            </a:blipFill>
          </p:spPr>
          <p:txBody>
            <a:bodyPr/>
            <a:p/>
          </p:txBody>
        </p:sp>
        <p:sp>
          <p:nvSpPr>
            <p:cNvPr name="TextBox 79" id="79"/>
            <p:cNvSpPr txBox="true"/>
            <p:nvPr/>
          </p:nvSpPr>
          <p:spPr>
            <a:xfrm>
              <a:off x="0" y="-38100"/>
              <a:ext cx="13807440" cy="2583180"/>
            </a:xfrm>
            <a:prstGeom prst="rect">
              <a:avLst/>
            </a:prstGeom>
          </p:spPr>
          <p:txBody>
            <a:bodyPr anchor="ctr" rtlCol="false" tIns="0" lIns="0" bIns="0" rIns="0"/>
            <a:lstStyle/>
            <a:p>
              <a:pPr algn="l">
                <a:lnSpc>
                  <a:spcPts val="2430"/>
                </a:lnSpc>
              </a:pPr>
              <a:r>
                <a:rPr lang="en-US" sz="2025">
                  <a:solidFill>
                    <a:srgbClr val="14313B"/>
                  </a:solidFill>
                  <a:latin typeface="Calibri (MS)"/>
                  <a:ea typeface="Calibri (MS)"/>
                  <a:cs typeface="Calibri (MS)"/>
                  <a:sym typeface="Calibri (MS)"/>
                </a:rPr>
                <a:t>Teridentifikasi dan dirumuskan: 5 stock, 10 flow, 11 auxiliary, 35 parameter, dengan enam feedback loop — diadaptasi dari Mai &amp; Smith (2018) sesuai ketersediaan data resmi Indonesia.</a:t>
              </a:r>
            </a:p>
          </p:txBody>
        </p:sp>
      </p:grpSp>
      <p:grpSp>
        <p:nvGrpSpPr>
          <p:cNvPr name="Group 80" id="80"/>
          <p:cNvGrpSpPr/>
          <p:nvPr/>
        </p:nvGrpSpPr>
        <p:grpSpPr>
          <a:xfrm rot="0">
            <a:off x="822960" y="4457700"/>
            <a:ext cx="4800600" cy="1851660"/>
            <a:chOff x="0" y="0"/>
            <a:chExt cx="6400800" cy="2468880"/>
          </a:xfrm>
        </p:grpSpPr>
        <p:sp>
          <p:nvSpPr>
            <p:cNvPr name="Freeform 81" id="81"/>
            <p:cNvSpPr/>
            <p:nvPr/>
          </p:nvSpPr>
          <p:spPr>
            <a:xfrm flipH="false" flipV="false" rot="0">
              <a:off x="0" y="0"/>
              <a:ext cx="6400800" cy="2468880"/>
            </a:xfrm>
            <a:custGeom>
              <a:avLst/>
              <a:gdLst/>
              <a:ahLst/>
              <a:cxnLst/>
              <a:rect r="r" b="b" t="t" l="l"/>
              <a:pathLst>
                <a:path h="2468880" w="6400800">
                  <a:moveTo>
                    <a:pt x="0" y="182880"/>
                  </a:moveTo>
                  <a:cubicBezTo>
                    <a:pt x="0" y="81915"/>
                    <a:pt x="81915" y="0"/>
                    <a:pt x="182880" y="0"/>
                  </a:cubicBezTo>
                  <a:lnTo>
                    <a:pt x="6217920" y="0"/>
                  </a:lnTo>
                  <a:cubicBezTo>
                    <a:pt x="6318885" y="0"/>
                    <a:pt x="6400800" y="81915"/>
                    <a:pt x="6400800" y="182880"/>
                  </a:cubicBezTo>
                  <a:lnTo>
                    <a:pt x="6400800" y="2286000"/>
                  </a:lnTo>
                  <a:cubicBezTo>
                    <a:pt x="6400800" y="2386965"/>
                    <a:pt x="6318885" y="2468880"/>
                    <a:pt x="6217920" y="2468880"/>
                  </a:cubicBezTo>
                  <a:lnTo>
                    <a:pt x="182880" y="2468880"/>
                  </a:lnTo>
                  <a:cubicBezTo>
                    <a:pt x="81915" y="2468880"/>
                    <a:pt x="0" y="2386965"/>
                    <a:pt x="0" y="2286000"/>
                  </a:cubicBezTo>
                  <a:close/>
                </a:path>
              </a:pathLst>
            </a:custGeom>
            <a:solidFill>
              <a:srgbClr val="0B5E6E"/>
            </a:solidFill>
          </p:spPr>
          <p:txBody>
            <a:bodyPr/>
            <a:p/>
          </p:txBody>
        </p:sp>
      </p:grpSp>
      <p:sp>
        <p:nvSpPr>
          <p:cNvPr name="TextBox 82" id="82"/>
          <p:cNvSpPr txBox="true"/>
          <p:nvPr/>
        </p:nvSpPr>
        <p:spPr>
          <a:xfrm rot="0">
            <a:off x="1165860" y="4617720"/>
            <a:ext cx="4114800" cy="525780"/>
          </a:xfrm>
          <a:prstGeom prst="rect">
            <a:avLst/>
          </a:prstGeom>
        </p:spPr>
        <p:txBody>
          <a:bodyPr anchor="t" rtlCol="false" tIns="0" lIns="0" bIns="0" rIns="0">
            <a:spAutoFit/>
          </a:bodyPr>
          <a:lstStyle/>
          <a:p>
            <a:pPr algn="l">
              <a:lnSpc>
                <a:spcPts val="2160"/>
              </a:lnSpc>
            </a:pPr>
            <a:r>
              <a:rPr lang="en-US" sz="1800" b="true">
                <a:solidFill>
                  <a:srgbClr val="FFD23B"/>
                </a:solidFill>
                <a:latin typeface="Calibri (MS) Bold"/>
                <a:ea typeface="Calibri (MS) Bold"/>
                <a:cs typeface="Calibri (MS) Bold"/>
                <a:sym typeface="Calibri (MS) Bold"/>
              </a:rPr>
              <a:t>Tujuan 2</a:t>
            </a:r>
          </a:p>
        </p:txBody>
      </p:sp>
      <p:sp>
        <p:nvSpPr>
          <p:cNvPr name="TextBox 83" id="83"/>
          <p:cNvSpPr txBox="true"/>
          <p:nvPr/>
        </p:nvSpPr>
        <p:spPr>
          <a:xfrm rot="0">
            <a:off x="1165860" y="5097780"/>
            <a:ext cx="4114800" cy="1074420"/>
          </a:xfrm>
          <a:prstGeom prst="rect">
            <a:avLst/>
          </a:prstGeom>
        </p:spPr>
        <p:txBody>
          <a:bodyPr anchor="t" rtlCol="false" tIns="0" lIns="0" bIns="0" rIns="0">
            <a:spAutoFit/>
          </a:bodyPr>
          <a:lstStyle/>
          <a:p>
            <a:pPr algn="l">
              <a:lnSpc>
                <a:spcPts val="2878"/>
              </a:lnSpc>
            </a:pPr>
            <a:r>
              <a:rPr lang="en-US" sz="2400" b="true">
                <a:solidFill>
                  <a:srgbClr val="FFFFFF"/>
                </a:solidFill>
                <a:latin typeface="Calibri (MS) Bold"/>
                <a:ea typeface="Calibri (MS) Bold"/>
                <a:cs typeface="Calibri (MS) Bold"/>
                <a:sym typeface="Calibri (MS) Bold"/>
              </a:rPr>
              <a:t>Model tervalidasi dan simulasi skenario</a:t>
            </a:r>
          </a:p>
        </p:txBody>
      </p:sp>
      <p:sp>
        <p:nvSpPr>
          <p:cNvPr name="AutoShape 84" id="84"/>
          <p:cNvSpPr/>
          <p:nvPr/>
        </p:nvSpPr>
        <p:spPr>
          <a:xfrm rot="99720">
            <a:off x="5637952" y="5343334"/>
            <a:ext cx="657015" cy="0"/>
          </a:xfrm>
          <a:prstGeom prst="line">
            <a:avLst/>
          </a:prstGeom>
          <a:ln cap="rnd" w="19050">
            <a:solidFill>
              <a:srgbClr val="39C0D3"/>
            </a:solidFill>
            <a:prstDash val="solid"/>
            <a:headEnd type="none" len="sm" w="sm"/>
            <a:tailEnd type="triangle" len="med" w="lg"/>
          </a:ln>
        </p:spPr>
        <p:txBody>
          <a:bodyPr/>
          <a:p/>
        </p:txBody>
      </p:sp>
      <p:grpSp>
        <p:nvGrpSpPr>
          <p:cNvPr name="Group 85" id="85"/>
          <p:cNvGrpSpPr/>
          <p:nvPr/>
        </p:nvGrpSpPr>
        <p:grpSpPr>
          <a:xfrm rot="0">
            <a:off x="6309360" y="4457700"/>
            <a:ext cx="11151108" cy="1851660"/>
            <a:chOff x="0" y="0"/>
            <a:chExt cx="14868144" cy="2468880"/>
          </a:xfrm>
        </p:grpSpPr>
        <p:sp>
          <p:nvSpPr>
            <p:cNvPr name="Freeform 86" id="86"/>
            <p:cNvSpPr/>
            <p:nvPr/>
          </p:nvSpPr>
          <p:spPr>
            <a:xfrm flipH="false" flipV="false" rot="0">
              <a:off x="0" y="0"/>
              <a:ext cx="14868144" cy="2468880"/>
            </a:xfrm>
            <a:custGeom>
              <a:avLst/>
              <a:gdLst/>
              <a:ahLst/>
              <a:cxnLst/>
              <a:rect r="r" b="b" t="t" l="l"/>
              <a:pathLst>
                <a:path h="2468880" w="14868144">
                  <a:moveTo>
                    <a:pt x="0" y="182880"/>
                  </a:moveTo>
                  <a:cubicBezTo>
                    <a:pt x="0" y="81915"/>
                    <a:pt x="81915" y="0"/>
                    <a:pt x="182880" y="0"/>
                  </a:cubicBezTo>
                  <a:lnTo>
                    <a:pt x="14685263" y="0"/>
                  </a:lnTo>
                  <a:cubicBezTo>
                    <a:pt x="14786228" y="0"/>
                    <a:pt x="14868144" y="81915"/>
                    <a:pt x="14868144" y="182880"/>
                  </a:cubicBezTo>
                  <a:lnTo>
                    <a:pt x="14868144" y="2286000"/>
                  </a:lnTo>
                  <a:cubicBezTo>
                    <a:pt x="14868144" y="2386965"/>
                    <a:pt x="14786228" y="2468880"/>
                    <a:pt x="14685263" y="2468880"/>
                  </a:cubicBezTo>
                  <a:lnTo>
                    <a:pt x="182880" y="2468880"/>
                  </a:lnTo>
                  <a:cubicBezTo>
                    <a:pt x="81915" y="2468880"/>
                    <a:pt x="0" y="2386965"/>
                    <a:pt x="0" y="2286000"/>
                  </a:cubicBezTo>
                  <a:close/>
                </a:path>
              </a:pathLst>
            </a:custGeom>
            <a:solidFill>
              <a:srgbClr val="EAF8FA"/>
            </a:solidFill>
          </p:spPr>
          <p:txBody>
            <a:bodyPr/>
            <a:p/>
          </p:txBody>
        </p:sp>
      </p:grpSp>
      <p:grpSp>
        <p:nvGrpSpPr>
          <p:cNvPr name="Group 87" id="87"/>
          <p:cNvGrpSpPr/>
          <p:nvPr/>
        </p:nvGrpSpPr>
        <p:grpSpPr>
          <a:xfrm rot="0">
            <a:off x="6720840" y="4457700"/>
            <a:ext cx="10355580" cy="1851660"/>
            <a:chOff x="0" y="0"/>
            <a:chExt cx="13807440" cy="2468880"/>
          </a:xfrm>
        </p:grpSpPr>
        <p:sp>
          <p:nvSpPr>
            <p:cNvPr name="Freeform 88" id="88"/>
            <p:cNvSpPr/>
            <p:nvPr/>
          </p:nvSpPr>
          <p:spPr>
            <a:xfrm flipH="false" flipV="false" rot="0">
              <a:off x="0" y="0"/>
              <a:ext cx="13807439" cy="2468880"/>
            </a:xfrm>
            <a:custGeom>
              <a:avLst/>
              <a:gdLst/>
              <a:ahLst/>
              <a:cxnLst/>
              <a:rect r="r" b="b" t="t" l="l"/>
              <a:pathLst>
                <a:path h="2468880" w="13807439">
                  <a:moveTo>
                    <a:pt x="0" y="0"/>
                  </a:moveTo>
                  <a:lnTo>
                    <a:pt x="13807439" y="0"/>
                  </a:lnTo>
                  <a:lnTo>
                    <a:pt x="13807439" y="2468880"/>
                  </a:lnTo>
                  <a:lnTo>
                    <a:pt x="0" y="2468880"/>
                  </a:lnTo>
                  <a:close/>
                </a:path>
              </a:pathLst>
            </a:custGeom>
            <a:blipFill>
              <a:blip r:embed="rId4">
                <a:alphaModFix amt="0"/>
              </a:blip>
              <a:stretch>
                <a:fillRect l="0" t="-58896" r="0" b="-58896"/>
              </a:stretch>
            </a:blipFill>
          </p:spPr>
          <p:txBody>
            <a:bodyPr/>
            <a:p/>
          </p:txBody>
        </p:sp>
      </p:grpSp>
      <p:grpSp>
        <p:nvGrpSpPr>
          <p:cNvPr name="Group 89" id="89"/>
          <p:cNvGrpSpPr/>
          <p:nvPr/>
        </p:nvGrpSpPr>
        <p:grpSpPr>
          <a:xfrm rot="0">
            <a:off x="6720840" y="4429125"/>
            <a:ext cx="10355580" cy="1880235"/>
            <a:chOff x="0" y="0"/>
            <a:chExt cx="13807440" cy="2506980"/>
          </a:xfrm>
        </p:grpSpPr>
        <p:sp>
          <p:nvSpPr>
            <p:cNvPr name="Freeform 90" id="90"/>
            <p:cNvSpPr/>
            <p:nvPr/>
          </p:nvSpPr>
          <p:spPr>
            <a:xfrm flipH="false" flipV="false" rot="0">
              <a:off x="0" y="0"/>
              <a:ext cx="13807439" cy="2506980"/>
            </a:xfrm>
            <a:custGeom>
              <a:avLst/>
              <a:gdLst/>
              <a:ahLst/>
              <a:cxnLst/>
              <a:rect r="r" b="b" t="t" l="l"/>
              <a:pathLst>
                <a:path h="2506980" w="13807439">
                  <a:moveTo>
                    <a:pt x="0" y="0"/>
                  </a:moveTo>
                  <a:lnTo>
                    <a:pt x="13807439" y="0"/>
                  </a:lnTo>
                  <a:lnTo>
                    <a:pt x="13807439" y="2506980"/>
                  </a:lnTo>
                  <a:lnTo>
                    <a:pt x="0" y="2506980"/>
                  </a:lnTo>
                  <a:close/>
                </a:path>
              </a:pathLst>
            </a:custGeom>
            <a:blipFill>
              <a:blip r:embed="rId5">
                <a:alphaModFix amt="0"/>
              </a:blip>
              <a:stretch>
                <a:fillRect l="0" t="-57241" r="0" b="-57241"/>
              </a:stretch>
            </a:blipFill>
          </p:spPr>
          <p:txBody>
            <a:bodyPr/>
            <a:p/>
          </p:txBody>
        </p:sp>
      </p:grpSp>
      <p:grpSp>
        <p:nvGrpSpPr>
          <p:cNvPr name="Group 91" id="91"/>
          <p:cNvGrpSpPr/>
          <p:nvPr/>
        </p:nvGrpSpPr>
        <p:grpSpPr>
          <a:xfrm rot="0">
            <a:off x="6720840" y="4400550"/>
            <a:ext cx="10355580" cy="1908810"/>
            <a:chOff x="0" y="0"/>
            <a:chExt cx="13807440" cy="2545080"/>
          </a:xfrm>
        </p:grpSpPr>
        <p:sp>
          <p:nvSpPr>
            <p:cNvPr name="Freeform 92" id="92"/>
            <p:cNvSpPr/>
            <p:nvPr/>
          </p:nvSpPr>
          <p:spPr>
            <a:xfrm flipH="false" flipV="false" rot="0">
              <a:off x="0" y="0"/>
              <a:ext cx="13807439" cy="2545080"/>
            </a:xfrm>
            <a:custGeom>
              <a:avLst/>
              <a:gdLst/>
              <a:ahLst/>
              <a:cxnLst/>
              <a:rect r="r" b="b" t="t" l="l"/>
              <a:pathLst>
                <a:path h="2545080" w="13807439">
                  <a:moveTo>
                    <a:pt x="0" y="0"/>
                  </a:moveTo>
                  <a:lnTo>
                    <a:pt x="13807439" y="0"/>
                  </a:lnTo>
                  <a:lnTo>
                    <a:pt x="13807439" y="2545080"/>
                  </a:lnTo>
                  <a:lnTo>
                    <a:pt x="0" y="2545080"/>
                  </a:lnTo>
                  <a:close/>
                </a:path>
              </a:pathLst>
            </a:custGeom>
            <a:blipFill>
              <a:blip r:embed="rId6">
                <a:alphaModFix amt="0"/>
              </a:blip>
              <a:stretch>
                <a:fillRect l="0" t="-55709" r="0" b="-55709"/>
              </a:stretch>
            </a:blipFill>
          </p:spPr>
          <p:txBody>
            <a:bodyPr/>
            <a:p/>
          </p:txBody>
        </p:sp>
        <p:sp>
          <p:nvSpPr>
            <p:cNvPr name="TextBox 93" id="93"/>
            <p:cNvSpPr txBox="true"/>
            <p:nvPr/>
          </p:nvSpPr>
          <p:spPr>
            <a:xfrm>
              <a:off x="0" y="-38100"/>
              <a:ext cx="13807440" cy="2583180"/>
            </a:xfrm>
            <a:prstGeom prst="rect">
              <a:avLst/>
            </a:prstGeom>
          </p:spPr>
          <p:txBody>
            <a:bodyPr anchor="ctr" rtlCol="false" tIns="0" lIns="0" bIns="0" rIns="0"/>
            <a:lstStyle/>
            <a:p>
              <a:pPr algn="l">
                <a:lnSpc>
                  <a:spcPts val="2430"/>
                </a:lnSpc>
              </a:pPr>
              <a:r>
                <a:rPr lang="en-US" sz="2025">
                  <a:solidFill>
                    <a:srgbClr val="14313B"/>
                  </a:solidFill>
                  <a:latin typeface="Calibri (MS)"/>
                  <a:ea typeface="Calibri (MS)"/>
                  <a:cs typeface="Calibri (MS)"/>
                  <a:sym typeface="Calibri (MS)"/>
                </a:rPr>
                <a:t>Struktur model valid dan perilakunya cukup baik per subsistem; kalibrasi tidak mengubah parameter apa pun. Tiga skenario: tidak ada yang unggul di semua dimensi, dan pola ini robust terhadap ketidakpastian parameter terbesar.</a:t>
              </a:r>
            </a:p>
          </p:txBody>
        </p:sp>
      </p:grpSp>
      <p:grpSp>
        <p:nvGrpSpPr>
          <p:cNvPr name="Group 94" id="94"/>
          <p:cNvGrpSpPr/>
          <p:nvPr/>
        </p:nvGrpSpPr>
        <p:grpSpPr>
          <a:xfrm rot="0">
            <a:off x="822960" y="6515100"/>
            <a:ext cx="4800600" cy="1851660"/>
            <a:chOff x="0" y="0"/>
            <a:chExt cx="6400800" cy="2468880"/>
          </a:xfrm>
        </p:grpSpPr>
        <p:sp>
          <p:nvSpPr>
            <p:cNvPr name="Freeform 95" id="95"/>
            <p:cNvSpPr/>
            <p:nvPr/>
          </p:nvSpPr>
          <p:spPr>
            <a:xfrm flipH="false" flipV="false" rot="0">
              <a:off x="0" y="0"/>
              <a:ext cx="6400800" cy="2468880"/>
            </a:xfrm>
            <a:custGeom>
              <a:avLst/>
              <a:gdLst/>
              <a:ahLst/>
              <a:cxnLst/>
              <a:rect r="r" b="b" t="t" l="l"/>
              <a:pathLst>
                <a:path h="2468880" w="6400800">
                  <a:moveTo>
                    <a:pt x="0" y="182880"/>
                  </a:moveTo>
                  <a:cubicBezTo>
                    <a:pt x="0" y="81915"/>
                    <a:pt x="81915" y="0"/>
                    <a:pt x="182880" y="0"/>
                  </a:cubicBezTo>
                  <a:lnTo>
                    <a:pt x="6217920" y="0"/>
                  </a:lnTo>
                  <a:cubicBezTo>
                    <a:pt x="6318885" y="0"/>
                    <a:pt x="6400800" y="81915"/>
                    <a:pt x="6400800" y="182880"/>
                  </a:cubicBezTo>
                  <a:lnTo>
                    <a:pt x="6400800" y="2286000"/>
                  </a:lnTo>
                  <a:cubicBezTo>
                    <a:pt x="6400800" y="2386965"/>
                    <a:pt x="6318885" y="2468880"/>
                    <a:pt x="6217920" y="2468880"/>
                  </a:cubicBezTo>
                  <a:lnTo>
                    <a:pt x="182880" y="2468880"/>
                  </a:lnTo>
                  <a:cubicBezTo>
                    <a:pt x="81915" y="2468880"/>
                    <a:pt x="0" y="2386965"/>
                    <a:pt x="0" y="2286000"/>
                  </a:cubicBezTo>
                  <a:close/>
                </a:path>
              </a:pathLst>
            </a:custGeom>
            <a:solidFill>
              <a:srgbClr val="0B5E6E"/>
            </a:solidFill>
          </p:spPr>
          <p:txBody>
            <a:bodyPr/>
            <a:p/>
          </p:txBody>
        </p:sp>
      </p:grpSp>
      <p:sp>
        <p:nvSpPr>
          <p:cNvPr name="TextBox 96" id="96"/>
          <p:cNvSpPr txBox="true"/>
          <p:nvPr/>
        </p:nvSpPr>
        <p:spPr>
          <a:xfrm rot="0">
            <a:off x="1165860" y="6675120"/>
            <a:ext cx="4114800" cy="525780"/>
          </a:xfrm>
          <a:prstGeom prst="rect">
            <a:avLst/>
          </a:prstGeom>
        </p:spPr>
        <p:txBody>
          <a:bodyPr anchor="t" rtlCol="false" tIns="0" lIns="0" bIns="0" rIns="0">
            <a:spAutoFit/>
          </a:bodyPr>
          <a:lstStyle/>
          <a:p>
            <a:pPr algn="l">
              <a:lnSpc>
                <a:spcPts val="2160"/>
              </a:lnSpc>
            </a:pPr>
            <a:r>
              <a:rPr lang="en-US" sz="1800" b="true">
                <a:solidFill>
                  <a:srgbClr val="FFD23B"/>
                </a:solidFill>
                <a:latin typeface="Calibri (MS) Bold"/>
                <a:ea typeface="Calibri (MS) Bold"/>
                <a:cs typeface="Calibri (MS) Bold"/>
                <a:sym typeface="Calibri (MS) Bold"/>
              </a:rPr>
              <a:t>Tujuan 3</a:t>
            </a:r>
          </a:p>
        </p:txBody>
      </p:sp>
      <p:sp>
        <p:nvSpPr>
          <p:cNvPr name="TextBox 97" id="97"/>
          <p:cNvSpPr txBox="true"/>
          <p:nvPr/>
        </p:nvSpPr>
        <p:spPr>
          <a:xfrm rot="0">
            <a:off x="1165860" y="7155180"/>
            <a:ext cx="4114800" cy="1074420"/>
          </a:xfrm>
          <a:prstGeom prst="rect">
            <a:avLst/>
          </a:prstGeom>
        </p:spPr>
        <p:txBody>
          <a:bodyPr anchor="t" rtlCol="false" tIns="0" lIns="0" bIns="0" rIns="0">
            <a:spAutoFit/>
          </a:bodyPr>
          <a:lstStyle/>
          <a:p>
            <a:pPr algn="l">
              <a:lnSpc>
                <a:spcPts val="2878"/>
              </a:lnSpc>
            </a:pPr>
            <a:r>
              <a:rPr lang="en-US" sz="2400" b="true">
                <a:solidFill>
                  <a:srgbClr val="FFFFFF"/>
                </a:solidFill>
                <a:latin typeface="Calibri (MS) Bold"/>
                <a:ea typeface="Calibri (MS) Bold"/>
                <a:cs typeface="Calibri (MS) Bold"/>
                <a:sym typeface="Calibri (MS) Bold"/>
              </a:rPr>
              <a:t>Aplikasi web</a:t>
            </a:r>
          </a:p>
        </p:txBody>
      </p:sp>
      <p:sp>
        <p:nvSpPr>
          <p:cNvPr name="AutoShape 98" id="98"/>
          <p:cNvSpPr/>
          <p:nvPr/>
        </p:nvSpPr>
        <p:spPr>
          <a:xfrm rot="99720">
            <a:off x="5637952" y="7400734"/>
            <a:ext cx="657015" cy="0"/>
          </a:xfrm>
          <a:prstGeom prst="line">
            <a:avLst/>
          </a:prstGeom>
          <a:ln cap="rnd" w="19050">
            <a:solidFill>
              <a:srgbClr val="39C0D3"/>
            </a:solidFill>
            <a:prstDash val="solid"/>
            <a:headEnd type="none" len="sm" w="sm"/>
            <a:tailEnd type="triangle" len="med" w="lg"/>
          </a:ln>
        </p:spPr>
        <p:txBody>
          <a:bodyPr/>
          <a:p/>
        </p:txBody>
      </p:sp>
      <p:grpSp>
        <p:nvGrpSpPr>
          <p:cNvPr name="Group 99" id="99"/>
          <p:cNvGrpSpPr/>
          <p:nvPr/>
        </p:nvGrpSpPr>
        <p:grpSpPr>
          <a:xfrm rot="0">
            <a:off x="6309360" y="6515100"/>
            <a:ext cx="11151108" cy="1851660"/>
            <a:chOff x="0" y="0"/>
            <a:chExt cx="14868144" cy="2468880"/>
          </a:xfrm>
        </p:grpSpPr>
        <p:sp>
          <p:nvSpPr>
            <p:cNvPr name="Freeform 100" id="100"/>
            <p:cNvSpPr/>
            <p:nvPr/>
          </p:nvSpPr>
          <p:spPr>
            <a:xfrm flipH="false" flipV="false" rot="0">
              <a:off x="0" y="0"/>
              <a:ext cx="14868144" cy="2468880"/>
            </a:xfrm>
            <a:custGeom>
              <a:avLst/>
              <a:gdLst/>
              <a:ahLst/>
              <a:cxnLst/>
              <a:rect r="r" b="b" t="t" l="l"/>
              <a:pathLst>
                <a:path h="2468880" w="14868144">
                  <a:moveTo>
                    <a:pt x="0" y="182880"/>
                  </a:moveTo>
                  <a:cubicBezTo>
                    <a:pt x="0" y="81915"/>
                    <a:pt x="81915" y="0"/>
                    <a:pt x="182880" y="0"/>
                  </a:cubicBezTo>
                  <a:lnTo>
                    <a:pt x="14685263" y="0"/>
                  </a:lnTo>
                  <a:cubicBezTo>
                    <a:pt x="14786228" y="0"/>
                    <a:pt x="14868144" y="81915"/>
                    <a:pt x="14868144" y="182880"/>
                  </a:cubicBezTo>
                  <a:lnTo>
                    <a:pt x="14868144" y="2286000"/>
                  </a:lnTo>
                  <a:cubicBezTo>
                    <a:pt x="14868144" y="2386965"/>
                    <a:pt x="14786228" y="2468880"/>
                    <a:pt x="14685263" y="2468880"/>
                  </a:cubicBezTo>
                  <a:lnTo>
                    <a:pt x="182880" y="2468880"/>
                  </a:lnTo>
                  <a:cubicBezTo>
                    <a:pt x="81915" y="2468880"/>
                    <a:pt x="0" y="2386965"/>
                    <a:pt x="0" y="2286000"/>
                  </a:cubicBezTo>
                  <a:close/>
                </a:path>
              </a:pathLst>
            </a:custGeom>
            <a:solidFill>
              <a:srgbClr val="EAF8FA"/>
            </a:solidFill>
          </p:spPr>
          <p:txBody>
            <a:bodyPr/>
            <a:p/>
          </p:txBody>
        </p:sp>
      </p:grpSp>
      <p:grpSp>
        <p:nvGrpSpPr>
          <p:cNvPr name="Group 101" id="101"/>
          <p:cNvGrpSpPr/>
          <p:nvPr/>
        </p:nvGrpSpPr>
        <p:grpSpPr>
          <a:xfrm rot="0">
            <a:off x="6720840" y="6515100"/>
            <a:ext cx="10355580" cy="1851660"/>
            <a:chOff x="0" y="0"/>
            <a:chExt cx="13807440" cy="2468880"/>
          </a:xfrm>
        </p:grpSpPr>
        <p:sp>
          <p:nvSpPr>
            <p:cNvPr name="Freeform 102" id="102"/>
            <p:cNvSpPr/>
            <p:nvPr/>
          </p:nvSpPr>
          <p:spPr>
            <a:xfrm flipH="false" flipV="false" rot="0">
              <a:off x="0" y="0"/>
              <a:ext cx="13807439" cy="2468880"/>
            </a:xfrm>
            <a:custGeom>
              <a:avLst/>
              <a:gdLst/>
              <a:ahLst/>
              <a:cxnLst/>
              <a:rect r="r" b="b" t="t" l="l"/>
              <a:pathLst>
                <a:path h="2468880" w="13807439">
                  <a:moveTo>
                    <a:pt x="0" y="0"/>
                  </a:moveTo>
                  <a:lnTo>
                    <a:pt x="13807439" y="0"/>
                  </a:lnTo>
                  <a:lnTo>
                    <a:pt x="13807439" y="2468880"/>
                  </a:lnTo>
                  <a:lnTo>
                    <a:pt x="0" y="2468880"/>
                  </a:lnTo>
                  <a:close/>
                </a:path>
              </a:pathLst>
            </a:custGeom>
            <a:blipFill>
              <a:blip r:embed="rId4">
                <a:alphaModFix amt="0"/>
              </a:blip>
              <a:stretch>
                <a:fillRect l="0" t="-58896" r="0" b="-58896"/>
              </a:stretch>
            </a:blipFill>
          </p:spPr>
          <p:txBody>
            <a:bodyPr/>
            <a:p/>
          </p:txBody>
        </p:sp>
      </p:grpSp>
      <p:grpSp>
        <p:nvGrpSpPr>
          <p:cNvPr name="Group 103" id="103"/>
          <p:cNvGrpSpPr/>
          <p:nvPr/>
        </p:nvGrpSpPr>
        <p:grpSpPr>
          <a:xfrm rot="0">
            <a:off x="6720840" y="6486525"/>
            <a:ext cx="10355580" cy="1880235"/>
            <a:chOff x="0" y="0"/>
            <a:chExt cx="13807440" cy="2506980"/>
          </a:xfrm>
        </p:grpSpPr>
        <p:sp>
          <p:nvSpPr>
            <p:cNvPr name="Freeform 104" id="104"/>
            <p:cNvSpPr/>
            <p:nvPr/>
          </p:nvSpPr>
          <p:spPr>
            <a:xfrm flipH="false" flipV="false" rot="0">
              <a:off x="0" y="0"/>
              <a:ext cx="13807439" cy="2506980"/>
            </a:xfrm>
            <a:custGeom>
              <a:avLst/>
              <a:gdLst/>
              <a:ahLst/>
              <a:cxnLst/>
              <a:rect r="r" b="b" t="t" l="l"/>
              <a:pathLst>
                <a:path h="2506980" w="13807439">
                  <a:moveTo>
                    <a:pt x="0" y="0"/>
                  </a:moveTo>
                  <a:lnTo>
                    <a:pt x="13807439" y="0"/>
                  </a:lnTo>
                  <a:lnTo>
                    <a:pt x="13807439" y="2506980"/>
                  </a:lnTo>
                  <a:lnTo>
                    <a:pt x="0" y="2506980"/>
                  </a:lnTo>
                  <a:close/>
                </a:path>
              </a:pathLst>
            </a:custGeom>
            <a:blipFill>
              <a:blip r:embed="rId5">
                <a:alphaModFix amt="0"/>
              </a:blip>
              <a:stretch>
                <a:fillRect l="0" t="-57241" r="0" b="-57241"/>
              </a:stretch>
            </a:blipFill>
          </p:spPr>
          <p:txBody>
            <a:bodyPr/>
            <a:p/>
          </p:txBody>
        </p:sp>
      </p:grpSp>
      <p:grpSp>
        <p:nvGrpSpPr>
          <p:cNvPr name="Group 105" id="105"/>
          <p:cNvGrpSpPr/>
          <p:nvPr/>
        </p:nvGrpSpPr>
        <p:grpSpPr>
          <a:xfrm rot="0">
            <a:off x="6720840" y="6457950"/>
            <a:ext cx="10355580" cy="1908810"/>
            <a:chOff x="0" y="0"/>
            <a:chExt cx="13807440" cy="2545080"/>
          </a:xfrm>
        </p:grpSpPr>
        <p:sp>
          <p:nvSpPr>
            <p:cNvPr name="Freeform 106" id="106"/>
            <p:cNvSpPr/>
            <p:nvPr/>
          </p:nvSpPr>
          <p:spPr>
            <a:xfrm flipH="false" flipV="false" rot="0">
              <a:off x="0" y="0"/>
              <a:ext cx="13807439" cy="2545080"/>
            </a:xfrm>
            <a:custGeom>
              <a:avLst/>
              <a:gdLst/>
              <a:ahLst/>
              <a:cxnLst/>
              <a:rect r="r" b="b" t="t" l="l"/>
              <a:pathLst>
                <a:path h="2545080" w="13807439">
                  <a:moveTo>
                    <a:pt x="0" y="0"/>
                  </a:moveTo>
                  <a:lnTo>
                    <a:pt x="13807439" y="0"/>
                  </a:lnTo>
                  <a:lnTo>
                    <a:pt x="13807439" y="2545080"/>
                  </a:lnTo>
                  <a:lnTo>
                    <a:pt x="0" y="2545080"/>
                  </a:lnTo>
                  <a:close/>
                </a:path>
              </a:pathLst>
            </a:custGeom>
            <a:blipFill>
              <a:blip r:embed="rId6">
                <a:alphaModFix amt="0"/>
              </a:blip>
              <a:stretch>
                <a:fillRect l="0" t="-55709" r="0" b="-55709"/>
              </a:stretch>
            </a:blipFill>
          </p:spPr>
          <p:txBody>
            <a:bodyPr/>
            <a:p/>
          </p:txBody>
        </p:sp>
        <p:sp>
          <p:nvSpPr>
            <p:cNvPr name="TextBox 107" id="107"/>
            <p:cNvSpPr txBox="true"/>
            <p:nvPr/>
          </p:nvSpPr>
          <p:spPr>
            <a:xfrm>
              <a:off x="0" y="-38100"/>
              <a:ext cx="13807440" cy="2583180"/>
            </a:xfrm>
            <a:prstGeom prst="rect">
              <a:avLst/>
            </a:prstGeom>
          </p:spPr>
          <p:txBody>
            <a:bodyPr anchor="ctr" rtlCol="false" tIns="0" lIns="0" bIns="0" rIns="0"/>
            <a:lstStyle/>
            <a:p>
              <a:pPr algn="l">
                <a:lnSpc>
                  <a:spcPts val="2430"/>
                </a:lnSpc>
              </a:pPr>
              <a:r>
                <a:rPr lang="en-US" sz="2025">
                  <a:solidFill>
                    <a:srgbClr val="14313B"/>
                  </a:solidFill>
                  <a:latin typeface="Calibri (MS)"/>
                  <a:ea typeface="Calibri (MS)"/>
                  <a:cs typeface="Calibri (MS)"/>
                  <a:sym typeface="Calibri (MS)"/>
                </a:rPr>
                <a:t>Lulus pengujian fungsional pada seluruh fungsi utama (9/9) dengan skor SUS rata-rata 88,50.</a:t>
              </a:r>
            </a:p>
          </p:txBody>
        </p:sp>
      </p:grpSp>
      <p:grpSp>
        <p:nvGrpSpPr>
          <p:cNvPr name="Group 108" id="108"/>
          <p:cNvGrpSpPr/>
          <p:nvPr/>
        </p:nvGrpSpPr>
        <p:grpSpPr>
          <a:xfrm rot="0">
            <a:off x="822960" y="8641080"/>
            <a:ext cx="16637508" cy="685800"/>
            <a:chOff x="0" y="0"/>
            <a:chExt cx="22183344" cy="914400"/>
          </a:xfrm>
        </p:grpSpPr>
        <p:sp>
          <p:nvSpPr>
            <p:cNvPr name="Freeform 109" id="109"/>
            <p:cNvSpPr/>
            <p:nvPr/>
          </p:nvSpPr>
          <p:spPr>
            <a:xfrm flipH="false" flipV="false" rot="0">
              <a:off x="0" y="0"/>
              <a:ext cx="22183344" cy="914400"/>
            </a:xfrm>
            <a:custGeom>
              <a:avLst/>
              <a:gdLst/>
              <a:ahLst/>
              <a:cxnLst/>
              <a:rect r="r" b="b" t="t" l="l"/>
              <a:pathLst>
                <a:path h="914400" w="22183344">
                  <a:moveTo>
                    <a:pt x="0" y="182880"/>
                  </a:moveTo>
                  <a:cubicBezTo>
                    <a:pt x="0" y="81915"/>
                    <a:pt x="81915" y="0"/>
                    <a:pt x="182880" y="0"/>
                  </a:cubicBezTo>
                  <a:lnTo>
                    <a:pt x="22000463" y="0"/>
                  </a:lnTo>
                  <a:cubicBezTo>
                    <a:pt x="22101428" y="0"/>
                    <a:pt x="22183344" y="81915"/>
                    <a:pt x="22183344" y="182880"/>
                  </a:cubicBezTo>
                  <a:lnTo>
                    <a:pt x="22183344" y="731520"/>
                  </a:lnTo>
                  <a:cubicBezTo>
                    <a:pt x="22183344" y="832485"/>
                    <a:pt x="22101428" y="914400"/>
                    <a:pt x="22000463" y="914400"/>
                  </a:cubicBezTo>
                  <a:lnTo>
                    <a:pt x="182880" y="914400"/>
                  </a:lnTo>
                  <a:cubicBezTo>
                    <a:pt x="81915" y="914400"/>
                    <a:pt x="0" y="832485"/>
                    <a:pt x="0" y="731520"/>
                  </a:cubicBezTo>
                  <a:close/>
                </a:path>
              </a:pathLst>
            </a:custGeom>
            <a:solidFill>
              <a:srgbClr val="FFF1BF"/>
            </a:solidFill>
          </p:spPr>
          <p:txBody>
            <a:bodyPr/>
            <a:p/>
          </p:txBody>
        </p:sp>
      </p:grpSp>
      <p:grpSp>
        <p:nvGrpSpPr>
          <p:cNvPr name="Group 110" id="110"/>
          <p:cNvGrpSpPr/>
          <p:nvPr/>
        </p:nvGrpSpPr>
        <p:grpSpPr>
          <a:xfrm rot="0">
            <a:off x="1234440" y="8641080"/>
            <a:ext cx="15814548" cy="685800"/>
            <a:chOff x="0" y="0"/>
            <a:chExt cx="21086064" cy="914400"/>
          </a:xfrm>
        </p:grpSpPr>
        <p:sp>
          <p:nvSpPr>
            <p:cNvPr name="Freeform 111" id="111"/>
            <p:cNvSpPr/>
            <p:nvPr/>
          </p:nvSpPr>
          <p:spPr>
            <a:xfrm flipH="false" flipV="false" rot="0">
              <a:off x="0" y="0"/>
              <a:ext cx="21086063" cy="914400"/>
            </a:xfrm>
            <a:custGeom>
              <a:avLst/>
              <a:gdLst/>
              <a:ahLst/>
              <a:cxnLst/>
              <a:rect r="r" b="b" t="t" l="l"/>
              <a:pathLst>
                <a:path h="914400" w="21086063">
                  <a:moveTo>
                    <a:pt x="0" y="0"/>
                  </a:moveTo>
                  <a:lnTo>
                    <a:pt x="21086063" y="0"/>
                  </a:lnTo>
                  <a:lnTo>
                    <a:pt x="21086063" y="914400"/>
                  </a:lnTo>
                  <a:lnTo>
                    <a:pt x="0" y="914400"/>
                  </a:lnTo>
                  <a:close/>
                </a:path>
              </a:pathLst>
            </a:custGeom>
            <a:blipFill>
              <a:blip r:embed="rId4">
                <a:alphaModFix amt="0"/>
              </a:blip>
              <a:stretch>
                <a:fillRect l="0" t="-399012" r="0" b="-399012"/>
              </a:stretch>
            </a:blipFill>
          </p:spPr>
          <p:txBody>
            <a:bodyPr/>
            <a:p/>
          </p:txBody>
        </p:sp>
      </p:grpSp>
      <p:grpSp>
        <p:nvGrpSpPr>
          <p:cNvPr name="Group 112" id="112"/>
          <p:cNvGrpSpPr/>
          <p:nvPr/>
        </p:nvGrpSpPr>
        <p:grpSpPr>
          <a:xfrm rot="0">
            <a:off x="1234440" y="8612505"/>
            <a:ext cx="15814548" cy="714375"/>
            <a:chOff x="0" y="0"/>
            <a:chExt cx="21086064" cy="952500"/>
          </a:xfrm>
        </p:grpSpPr>
        <p:sp>
          <p:nvSpPr>
            <p:cNvPr name="Freeform 113" id="113"/>
            <p:cNvSpPr/>
            <p:nvPr/>
          </p:nvSpPr>
          <p:spPr>
            <a:xfrm flipH="false" flipV="false" rot="0">
              <a:off x="0" y="0"/>
              <a:ext cx="21086063" cy="952500"/>
            </a:xfrm>
            <a:custGeom>
              <a:avLst/>
              <a:gdLst/>
              <a:ahLst/>
              <a:cxnLst/>
              <a:rect r="r" b="b" t="t" l="l"/>
              <a:pathLst>
                <a:path h="952500" w="21086063">
                  <a:moveTo>
                    <a:pt x="0" y="0"/>
                  </a:moveTo>
                  <a:lnTo>
                    <a:pt x="21086063" y="0"/>
                  </a:lnTo>
                  <a:lnTo>
                    <a:pt x="21086063" y="952500"/>
                  </a:lnTo>
                  <a:lnTo>
                    <a:pt x="0" y="952500"/>
                  </a:lnTo>
                  <a:close/>
                </a:path>
              </a:pathLst>
            </a:custGeom>
            <a:blipFill>
              <a:blip r:embed="rId5">
                <a:alphaModFix amt="0"/>
              </a:blip>
              <a:stretch>
                <a:fillRect l="0" t="-381052" r="0" b="-381052"/>
              </a:stretch>
            </a:blipFill>
          </p:spPr>
          <p:txBody>
            <a:bodyPr/>
            <a:p/>
          </p:txBody>
        </p:sp>
      </p:grpSp>
      <p:grpSp>
        <p:nvGrpSpPr>
          <p:cNvPr name="Group 114" id="114"/>
          <p:cNvGrpSpPr/>
          <p:nvPr/>
        </p:nvGrpSpPr>
        <p:grpSpPr>
          <a:xfrm rot="0">
            <a:off x="1234440" y="8583930"/>
            <a:ext cx="15814548" cy="742950"/>
            <a:chOff x="0" y="0"/>
            <a:chExt cx="21086064" cy="990600"/>
          </a:xfrm>
        </p:grpSpPr>
        <p:sp>
          <p:nvSpPr>
            <p:cNvPr name="Freeform 115" id="115"/>
            <p:cNvSpPr/>
            <p:nvPr/>
          </p:nvSpPr>
          <p:spPr>
            <a:xfrm flipH="false" flipV="false" rot="0">
              <a:off x="0" y="0"/>
              <a:ext cx="21086065" cy="990600"/>
            </a:xfrm>
            <a:custGeom>
              <a:avLst/>
              <a:gdLst/>
              <a:ahLst/>
              <a:cxnLst/>
              <a:rect r="r" b="b" t="t" l="l"/>
              <a:pathLst>
                <a:path h="990600" w="21086065">
                  <a:moveTo>
                    <a:pt x="0" y="0"/>
                  </a:moveTo>
                  <a:lnTo>
                    <a:pt x="21086065" y="0"/>
                  </a:lnTo>
                  <a:lnTo>
                    <a:pt x="21086065" y="990600"/>
                  </a:lnTo>
                  <a:lnTo>
                    <a:pt x="0" y="990600"/>
                  </a:lnTo>
                  <a:close/>
                </a:path>
              </a:pathLst>
            </a:custGeom>
            <a:blipFill>
              <a:blip r:embed="rId6">
                <a:alphaModFix amt="0"/>
              </a:blip>
              <a:stretch>
                <a:fillRect l="0" t="-364761" r="0" b="-364761"/>
              </a:stretch>
            </a:blipFill>
          </p:spPr>
          <p:txBody>
            <a:bodyPr/>
            <a:p/>
          </p:txBody>
        </p:sp>
        <p:sp>
          <p:nvSpPr>
            <p:cNvPr name="TextBox 116" id="116"/>
            <p:cNvSpPr txBox="true"/>
            <p:nvPr/>
          </p:nvSpPr>
          <p:spPr>
            <a:xfrm>
              <a:off x="0" y="-38100"/>
              <a:ext cx="21086064" cy="1028700"/>
            </a:xfrm>
            <a:prstGeom prst="rect">
              <a:avLst/>
            </a:prstGeom>
          </p:spPr>
          <p:txBody>
            <a:bodyPr anchor="ctr" rtlCol="false" tIns="0" lIns="0" bIns="0" rIns="0"/>
            <a:lstStyle/>
            <a:p>
              <a:pPr algn="l">
                <a:lnSpc>
                  <a:spcPts val="2430"/>
                </a:lnSpc>
              </a:pPr>
              <a:r>
                <a:rPr lang="en-US" sz="2025" b="true">
                  <a:solidFill>
                    <a:srgbClr val="0B5E6E"/>
                  </a:solidFill>
                  <a:latin typeface="Calibri (MS) Bold"/>
                  <a:ea typeface="Calibri (MS) Bold"/>
                  <a:cs typeface="Calibri (MS) Bold"/>
                  <a:sym typeface="Calibri (MS) Bold"/>
                </a:rPr>
                <a:t>Model yang sudah divalidasi mampu membandingkan skenario kebijakan secara kuantitatif beserta tingkat robustness-nya.</a:t>
              </a:r>
            </a:p>
          </p:txBody>
        </p:sp>
      </p:grpSp>
      <p:sp>
        <p:nvSpPr>
          <p:cNvPr name="TextBox 117" id="117"/>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73</a:t>
            </a:r>
          </a:p>
        </p:txBody>
      </p:sp>
      <p:grpSp>
        <p:nvGrpSpPr>
          <p:cNvPr name="Group 118" id="118"/>
          <p:cNvGrpSpPr/>
          <p:nvPr/>
        </p:nvGrpSpPr>
        <p:grpSpPr>
          <a:xfrm rot="0">
            <a:off x="16047720" y="9646920"/>
            <a:ext cx="420624" cy="420624"/>
            <a:chOff x="0" y="0"/>
            <a:chExt cx="560832" cy="560832"/>
          </a:xfrm>
        </p:grpSpPr>
        <p:sp>
          <p:nvSpPr>
            <p:cNvPr name="Freeform 119" id="119"/>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20" id="120"/>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7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Saran</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Saran untuk penelitian dan pengembangan selanjutnya</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0B5E6E"/>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Penutup</a:t>
              </a:r>
            </a:p>
          </p:txBody>
        </p:sp>
      </p:grpSp>
      <p:sp>
        <p:nvSpPr>
          <p:cNvPr name="Freeform 66" id="66"/>
          <p:cNvSpPr/>
          <p:nvPr/>
        </p:nvSpPr>
        <p:spPr>
          <a:xfrm flipH="false" flipV="false" rot="0">
            <a:off x="806291" y="2315051"/>
            <a:ext cx="8194357" cy="3393758"/>
          </a:xfrm>
          <a:custGeom>
            <a:avLst/>
            <a:gdLst/>
            <a:ahLst/>
            <a:cxnLst/>
            <a:rect r="r" b="b" t="t" l="l"/>
            <a:pathLst>
              <a:path h="3393758" w="8194357">
                <a:moveTo>
                  <a:pt x="0" y="0"/>
                </a:moveTo>
                <a:lnTo>
                  <a:pt x="8194358" y="0"/>
                </a:lnTo>
                <a:lnTo>
                  <a:pt x="8194358" y="3393758"/>
                </a:lnTo>
                <a:lnTo>
                  <a:pt x="0" y="3393758"/>
                </a:lnTo>
                <a:lnTo>
                  <a:pt x="0" y="0"/>
                </a:lnTo>
                <a:close/>
              </a:path>
            </a:pathLst>
          </a:custGeom>
          <a:blipFill>
            <a:blip r:embed="rId7">
              <a:extLst>
                <a:ext uri="{96DAC541-7B7A-43D3-8B79-37D633B846F1}">
                  <asvg:svgBlip xmlns:asvg="http://schemas.microsoft.com/office/drawing/2016/SVG/main" r:embed="rId8"/>
                </a:ext>
              </a:extLst>
            </a:blip>
            <a:stretch>
              <a:fillRect l="0" t="-57" r="0" b="-57"/>
            </a:stretch>
          </a:blipFill>
        </p:spPr>
        <p:txBody>
          <a:bodyPr/>
          <a:p/>
        </p:txBody>
      </p:sp>
      <p:grpSp>
        <p:nvGrpSpPr>
          <p:cNvPr name="Group 67" id="67"/>
          <p:cNvGrpSpPr/>
          <p:nvPr/>
        </p:nvGrpSpPr>
        <p:grpSpPr>
          <a:xfrm rot="0">
            <a:off x="1165860" y="2633472"/>
            <a:ext cx="685800" cy="685800"/>
            <a:chOff x="0" y="0"/>
            <a:chExt cx="914400" cy="914400"/>
          </a:xfrm>
        </p:grpSpPr>
        <p:sp>
          <p:nvSpPr>
            <p:cNvPr name="Freeform 68" id="68"/>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69" id="69"/>
          <p:cNvGrpSpPr/>
          <p:nvPr/>
        </p:nvGrpSpPr>
        <p:grpSpPr>
          <a:xfrm rot="0">
            <a:off x="1165860" y="2633472"/>
            <a:ext cx="685800" cy="685800"/>
            <a:chOff x="0" y="0"/>
            <a:chExt cx="914400" cy="914400"/>
          </a:xfrm>
        </p:grpSpPr>
        <p:sp>
          <p:nvSpPr>
            <p:cNvPr name="Freeform 70" id="70"/>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txBody>
            <a:bodyPr/>
            <a:p/>
          </p:txBody>
        </p:sp>
      </p:grpSp>
      <p:grpSp>
        <p:nvGrpSpPr>
          <p:cNvPr name="Group 71" id="71"/>
          <p:cNvGrpSpPr/>
          <p:nvPr/>
        </p:nvGrpSpPr>
        <p:grpSpPr>
          <a:xfrm rot="0">
            <a:off x="1165860" y="2604897"/>
            <a:ext cx="685800" cy="714375"/>
            <a:chOff x="0" y="0"/>
            <a:chExt cx="914400" cy="952500"/>
          </a:xfrm>
        </p:grpSpPr>
        <p:sp>
          <p:nvSpPr>
            <p:cNvPr name="Freeform 72" id="72"/>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743" t="0" r="-83741" b="0"/>
              </a:stretch>
            </a:blipFill>
          </p:spPr>
          <p:txBody>
            <a:bodyPr/>
            <a:p/>
          </p:txBody>
        </p:sp>
      </p:grpSp>
      <p:grpSp>
        <p:nvGrpSpPr>
          <p:cNvPr name="Group 73" id="73"/>
          <p:cNvGrpSpPr/>
          <p:nvPr/>
        </p:nvGrpSpPr>
        <p:grpSpPr>
          <a:xfrm rot="0">
            <a:off x="1165860" y="2576322"/>
            <a:ext cx="685800" cy="742950"/>
            <a:chOff x="0" y="0"/>
            <a:chExt cx="914400" cy="990600"/>
          </a:xfrm>
        </p:grpSpPr>
        <p:sp>
          <p:nvSpPr>
            <p:cNvPr name="Freeform 74" id="74"/>
            <p:cNvSpPr/>
            <p:nvPr/>
          </p:nvSpPr>
          <p:spPr>
            <a:xfrm flipH="false" flipV="false" rot="0">
              <a:off x="0" y="0"/>
              <a:ext cx="914400" cy="990600"/>
            </a:xfrm>
            <a:custGeom>
              <a:avLst/>
              <a:gdLst/>
              <a:ahLst/>
              <a:cxnLst/>
              <a:rect r="r" b="b" t="t" l="l"/>
              <a:pathLst>
                <a:path h="990600" w="914400">
                  <a:moveTo>
                    <a:pt x="0" y="0"/>
                  </a:moveTo>
                  <a:lnTo>
                    <a:pt x="914400" y="0"/>
                  </a:lnTo>
                  <a:lnTo>
                    <a:pt x="914400" y="990600"/>
                  </a:lnTo>
                  <a:lnTo>
                    <a:pt x="0" y="990600"/>
                  </a:lnTo>
                  <a:close/>
                </a:path>
              </a:pathLst>
            </a:custGeom>
            <a:blipFill>
              <a:blip r:embed="rId6">
                <a:alphaModFix amt="0"/>
              </a:blip>
              <a:stretch>
                <a:fillRect l="-88995" t="0" r="-88995" b="0"/>
              </a:stretch>
            </a:blipFill>
          </p:spPr>
          <p:txBody>
            <a:bodyPr/>
            <a:p/>
          </p:txBody>
        </p:sp>
        <p:sp>
          <p:nvSpPr>
            <p:cNvPr name="TextBox 75" id="75"/>
            <p:cNvSpPr txBox="true"/>
            <p:nvPr/>
          </p:nvSpPr>
          <p:spPr>
            <a:xfrm>
              <a:off x="0" y="-38100"/>
              <a:ext cx="914400" cy="10287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1</a:t>
              </a:r>
            </a:p>
          </p:txBody>
        </p:sp>
      </p:grpSp>
      <p:grpSp>
        <p:nvGrpSpPr>
          <p:cNvPr name="Group 76" id="76"/>
          <p:cNvGrpSpPr/>
          <p:nvPr/>
        </p:nvGrpSpPr>
        <p:grpSpPr>
          <a:xfrm rot="0">
            <a:off x="2125980" y="2633472"/>
            <a:ext cx="6583680" cy="685800"/>
            <a:chOff x="0" y="0"/>
            <a:chExt cx="8778240" cy="914400"/>
          </a:xfrm>
        </p:grpSpPr>
        <p:sp>
          <p:nvSpPr>
            <p:cNvPr name="Freeform 77" id="77"/>
            <p:cNvSpPr/>
            <p:nvPr/>
          </p:nvSpPr>
          <p:spPr>
            <a:xfrm flipH="false" flipV="false" rot="0">
              <a:off x="0" y="0"/>
              <a:ext cx="8778240" cy="914400"/>
            </a:xfrm>
            <a:custGeom>
              <a:avLst/>
              <a:gdLst/>
              <a:ahLst/>
              <a:cxnLst/>
              <a:rect r="r" b="b" t="t" l="l"/>
              <a:pathLst>
                <a:path h="914400" w="8778240">
                  <a:moveTo>
                    <a:pt x="0" y="0"/>
                  </a:moveTo>
                  <a:lnTo>
                    <a:pt x="8778240" y="0"/>
                  </a:lnTo>
                  <a:lnTo>
                    <a:pt x="8778240" y="914400"/>
                  </a:lnTo>
                  <a:lnTo>
                    <a:pt x="0" y="914400"/>
                  </a:lnTo>
                  <a:close/>
                </a:path>
              </a:pathLst>
            </a:custGeom>
            <a:blipFill>
              <a:blip r:embed="rId4">
                <a:alphaModFix amt="0"/>
              </a:blip>
              <a:stretch>
                <a:fillRect l="0" t="-136926" r="0" b="-136926"/>
              </a:stretch>
            </a:blipFill>
          </p:spPr>
          <p:txBody>
            <a:bodyPr/>
            <a:p/>
          </p:txBody>
        </p:sp>
      </p:grpSp>
      <p:grpSp>
        <p:nvGrpSpPr>
          <p:cNvPr name="Group 78" id="78"/>
          <p:cNvGrpSpPr/>
          <p:nvPr/>
        </p:nvGrpSpPr>
        <p:grpSpPr>
          <a:xfrm rot="0">
            <a:off x="2125980" y="2604897"/>
            <a:ext cx="6583680" cy="714375"/>
            <a:chOff x="0" y="0"/>
            <a:chExt cx="8778240" cy="952500"/>
          </a:xfrm>
        </p:grpSpPr>
        <p:sp>
          <p:nvSpPr>
            <p:cNvPr name="Freeform 79" id="79"/>
            <p:cNvSpPr/>
            <p:nvPr/>
          </p:nvSpPr>
          <p:spPr>
            <a:xfrm flipH="false" flipV="false" rot="0">
              <a:off x="0" y="0"/>
              <a:ext cx="8778240" cy="952500"/>
            </a:xfrm>
            <a:custGeom>
              <a:avLst/>
              <a:gdLst/>
              <a:ahLst/>
              <a:cxnLst/>
              <a:rect r="r" b="b" t="t" l="l"/>
              <a:pathLst>
                <a:path h="952500" w="8778240">
                  <a:moveTo>
                    <a:pt x="0" y="0"/>
                  </a:moveTo>
                  <a:lnTo>
                    <a:pt x="8778240" y="0"/>
                  </a:lnTo>
                  <a:lnTo>
                    <a:pt x="8778240" y="952500"/>
                  </a:lnTo>
                  <a:lnTo>
                    <a:pt x="0" y="952500"/>
                  </a:lnTo>
                  <a:close/>
                </a:path>
              </a:pathLst>
            </a:custGeom>
            <a:blipFill>
              <a:blip r:embed="rId5">
                <a:alphaModFix amt="0"/>
              </a:blip>
              <a:stretch>
                <a:fillRect l="0" t="-129449" r="0" b="-129449"/>
              </a:stretch>
            </a:blipFill>
          </p:spPr>
          <p:txBody>
            <a:bodyPr/>
            <a:p/>
          </p:txBody>
        </p:sp>
      </p:grpSp>
      <p:grpSp>
        <p:nvGrpSpPr>
          <p:cNvPr name="Group 80" id="80"/>
          <p:cNvGrpSpPr/>
          <p:nvPr/>
        </p:nvGrpSpPr>
        <p:grpSpPr>
          <a:xfrm rot="0">
            <a:off x="2125980" y="2576322"/>
            <a:ext cx="6583680" cy="742950"/>
            <a:chOff x="0" y="0"/>
            <a:chExt cx="8778240" cy="990600"/>
          </a:xfrm>
        </p:grpSpPr>
        <p:sp>
          <p:nvSpPr>
            <p:cNvPr name="Freeform 81" id="81"/>
            <p:cNvSpPr/>
            <p:nvPr/>
          </p:nvSpPr>
          <p:spPr>
            <a:xfrm flipH="false" flipV="false" rot="0">
              <a:off x="0" y="0"/>
              <a:ext cx="8778240" cy="990600"/>
            </a:xfrm>
            <a:custGeom>
              <a:avLst/>
              <a:gdLst/>
              <a:ahLst/>
              <a:cxnLst/>
              <a:rect r="r" b="b" t="t" l="l"/>
              <a:pathLst>
                <a:path h="990600" w="8778240">
                  <a:moveTo>
                    <a:pt x="0" y="0"/>
                  </a:moveTo>
                  <a:lnTo>
                    <a:pt x="8778240" y="0"/>
                  </a:lnTo>
                  <a:lnTo>
                    <a:pt x="8778240" y="990600"/>
                  </a:lnTo>
                  <a:lnTo>
                    <a:pt x="0" y="990600"/>
                  </a:lnTo>
                  <a:close/>
                </a:path>
              </a:pathLst>
            </a:custGeom>
            <a:blipFill>
              <a:blip r:embed="rId6">
                <a:alphaModFix amt="0"/>
              </a:blip>
              <a:stretch>
                <a:fillRect l="0" t="-122667" r="0" b="-122667"/>
              </a:stretch>
            </a:blipFill>
          </p:spPr>
          <p:txBody>
            <a:bodyPr/>
            <a:p/>
          </p:txBody>
        </p:sp>
        <p:sp>
          <p:nvSpPr>
            <p:cNvPr name="TextBox 82" id="82"/>
            <p:cNvSpPr txBox="true"/>
            <p:nvPr/>
          </p:nvSpPr>
          <p:spPr>
            <a:xfrm>
              <a:off x="0" y="-38100"/>
              <a:ext cx="8778240" cy="1028700"/>
            </a:xfrm>
            <a:prstGeom prst="rect">
              <a:avLst/>
            </a:prstGeom>
          </p:spPr>
          <p:txBody>
            <a:bodyPr anchor="ctr" rtlCol="false" tIns="0" lIns="0" bIns="0" rIns="0"/>
            <a:lstStyle/>
            <a:p>
              <a:pPr algn="l">
                <a:lnSpc>
                  <a:spcPts val="2878"/>
                </a:lnSpc>
              </a:pPr>
              <a:r>
                <a:rPr lang="en-US" sz="2400" b="true">
                  <a:solidFill>
                    <a:srgbClr val="0B5E6E"/>
                  </a:solidFill>
                  <a:latin typeface="Calibri (MS) Bold"/>
                  <a:ea typeface="Calibri (MS) Bold"/>
                  <a:cs typeface="Calibri (MS) Bold"/>
                  <a:sym typeface="Calibri (MS) Bold"/>
                </a:rPr>
                <a:t>Penelitian lanjutan</a:t>
              </a:r>
            </a:p>
          </p:txBody>
        </p:sp>
      </p:grpSp>
      <p:sp>
        <p:nvSpPr>
          <p:cNvPr name="TextBox 83" id="83"/>
          <p:cNvSpPr txBox="true"/>
          <p:nvPr/>
        </p:nvSpPr>
        <p:spPr>
          <a:xfrm rot="0">
            <a:off x="1234440" y="3423285"/>
            <a:ext cx="7406640" cy="1276350"/>
          </a:xfrm>
          <a:prstGeom prst="rect">
            <a:avLst/>
          </a:prstGeom>
        </p:spPr>
        <p:txBody>
          <a:bodyPr anchor="t" rtlCol="false" tIns="0" lIns="0" bIns="0" rIns="0">
            <a:spAutoFit/>
          </a:bodyPr>
          <a:lstStyle/>
          <a:p>
            <a:pPr algn="l">
              <a:lnSpc>
                <a:spcPts val="2340"/>
              </a:lnSpc>
            </a:pPr>
            <a:r>
              <a:rPr lang="en-US" sz="1950">
                <a:solidFill>
                  <a:srgbClr val="14313B"/>
                </a:solidFill>
                <a:latin typeface="Calibri (MS)"/>
                <a:ea typeface="Calibri (MS)"/>
                <a:cs typeface="Calibri (MS)"/>
                <a:sym typeface="Calibri (MS)"/>
              </a:rPr>
              <a:t>Perkuat dasar data untuk parameter yang ditentukan peneliti, terutama rasio laju penurunan/pertumbuhan wisatawan dan batas kepadatan, melalui survei primer (niat berkunjung kembali, daya dukung sosial) di destinasi utama DIY.</a:t>
            </a:r>
          </a:p>
        </p:txBody>
      </p:sp>
      <p:sp>
        <p:nvSpPr>
          <p:cNvPr name="Freeform 84" id="84"/>
          <p:cNvSpPr/>
          <p:nvPr/>
        </p:nvSpPr>
        <p:spPr>
          <a:xfrm flipH="false" flipV="false" rot="0">
            <a:off x="9282779" y="2315051"/>
            <a:ext cx="8194357" cy="3393758"/>
          </a:xfrm>
          <a:custGeom>
            <a:avLst/>
            <a:gdLst/>
            <a:ahLst/>
            <a:cxnLst/>
            <a:rect r="r" b="b" t="t" l="l"/>
            <a:pathLst>
              <a:path h="3393758" w="8194357">
                <a:moveTo>
                  <a:pt x="0" y="0"/>
                </a:moveTo>
                <a:lnTo>
                  <a:pt x="8194358" y="0"/>
                </a:lnTo>
                <a:lnTo>
                  <a:pt x="8194358" y="3393758"/>
                </a:lnTo>
                <a:lnTo>
                  <a:pt x="0" y="3393758"/>
                </a:lnTo>
                <a:lnTo>
                  <a:pt x="0" y="0"/>
                </a:lnTo>
                <a:close/>
              </a:path>
            </a:pathLst>
          </a:custGeom>
          <a:blipFill>
            <a:blip r:embed="rId7">
              <a:extLst>
                <a:ext uri="{96DAC541-7B7A-43D3-8B79-37D633B846F1}">
                  <asvg:svgBlip xmlns:asvg="http://schemas.microsoft.com/office/drawing/2016/SVG/main" r:embed="rId8"/>
                </a:ext>
              </a:extLst>
            </a:blip>
            <a:stretch>
              <a:fillRect l="0" t="-57" r="0" b="-57"/>
            </a:stretch>
          </a:blipFill>
        </p:spPr>
        <p:txBody>
          <a:bodyPr/>
          <a:p/>
        </p:txBody>
      </p:sp>
      <p:grpSp>
        <p:nvGrpSpPr>
          <p:cNvPr name="Group 85" id="85"/>
          <p:cNvGrpSpPr/>
          <p:nvPr/>
        </p:nvGrpSpPr>
        <p:grpSpPr>
          <a:xfrm rot="0">
            <a:off x="9642348" y="2633472"/>
            <a:ext cx="685800" cy="685800"/>
            <a:chOff x="0" y="0"/>
            <a:chExt cx="914400" cy="914400"/>
          </a:xfrm>
        </p:grpSpPr>
        <p:sp>
          <p:nvSpPr>
            <p:cNvPr name="Freeform 86" id="86"/>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87" id="87"/>
          <p:cNvGrpSpPr/>
          <p:nvPr/>
        </p:nvGrpSpPr>
        <p:grpSpPr>
          <a:xfrm rot="0">
            <a:off x="9642348" y="2633472"/>
            <a:ext cx="685800" cy="685800"/>
            <a:chOff x="0" y="0"/>
            <a:chExt cx="914400" cy="914400"/>
          </a:xfrm>
        </p:grpSpPr>
        <p:sp>
          <p:nvSpPr>
            <p:cNvPr name="Freeform 88" id="88"/>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txBody>
            <a:bodyPr/>
            <a:p/>
          </p:txBody>
        </p:sp>
      </p:grpSp>
      <p:grpSp>
        <p:nvGrpSpPr>
          <p:cNvPr name="Group 89" id="89"/>
          <p:cNvGrpSpPr/>
          <p:nvPr/>
        </p:nvGrpSpPr>
        <p:grpSpPr>
          <a:xfrm rot="0">
            <a:off x="9642348" y="2604897"/>
            <a:ext cx="685800" cy="714375"/>
            <a:chOff x="0" y="0"/>
            <a:chExt cx="914400" cy="952500"/>
          </a:xfrm>
        </p:grpSpPr>
        <p:sp>
          <p:nvSpPr>
            <p:cNvPr name="Freeform 90" id="90"/>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743" t="0" r="-83741" b="0"/>
              </a:stretch>
            </a:blipFill>
          </p:spPr>
          <p:txBody>
            <a:bodyPr/>
            <a:p/>
          </p:txBody>
        </p:sp>
      </p:grpSp>
      <p:grpSp>
        <p:nvGrpSpPr>
          <p:cNvPr name="Group 91" id="91"/>
          <p:cNvGrpSpPr/>
          <p:nvPr/>
        </p:nvGrpSpPr>
        <p:grpSpPr>
          <a:xfrm rot="0">
            <a:off x="9642348" y="2576322"/>
            <a:ext cx="685800" cy="742950"/>
            <a:chOff x="0" y="0"/>
            <a:chExt cx="914400" cy="990600"/>
          </a:xfrm>
        </p:grpSpPr>
        <p:sp>
          <p:nvSpPr>
            <p:cNvPr name="Freeform 92" id="92"/>
            <p:cNvSpPr/>
            <p:nvPr/>
          </p:nvSpPr>
          <p:spPr>
            <a:xfrm flipH="false" flipV="false" rot="0">
              <a:off x="0" y="0"/>
              <a:ext cx="914400" cy="990600"/>
            </a:xfrm>
            <a:custGeom>
              <a:avLst/>
              <a:gdLst/>
              <a:ahLst/>
              <a:cxnLst/>
              <a:rect r="r" b="b" t="t" l="l"/>
              <a:pathLst>
                <a:path h="990600" w="914400">
                  <a:moveTo>
                    <a:pt x="0" y="0"/>
                  </a:moveTo>
                  <a:lnTo>
                    <a:pt x="914400" y="0"/>
                  </a:lnTo>
                  <a:lnTo>
                    <a:pt x="914400" y="990600"/>
                  </a:lnTo>
                  <a:lnTo>
                    <a:pt x="0" y="990600"/>
                  </a:lnTo>
                  <a:close/>
                </a:path>
              </a:pathLst>
            </a:custGeom>
            <a:blipFill>
              <a:blip r:embed="rId6">
                <a:alphaModFix amt="0"/>
              </a:blip>
              <a:stretch>
                <a:fillRect l="-88995" t="0" r="-88995" b="0"/>
              </a:stretch>
            </a:blipFill>
          </p:spPr>
          <p:txBody>
            <a:bodyPr/>
            <a:p/>
          </p:txBody>
        </p:sp>
        <p:sp>
          <p:nvSpPr>
            <p:cNvPr name="TextBox 93" id="93"/>
            <p:cNvSpPr txBox="true"/>
            <p:nvPr/>
          </p:nvSpPr>
          <p:spPr>
            <a:xfrm>
              <a:off x="0" y="-38100"/>
              <a:ext cx="914400" cy="10287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2</a:t>
              </a:r>
            </a:p>
          </p:txBody>
        </p:sp>
      </p:grpSp>
      <p:grpSp>
        <p:nvGrpSpPr>
          <p:cNvPr name="Group 94" id="94"/>
          <p:cNvGrpSpPr/>
          <p:nvPr/>
        </p:nvGrpSpPr>
        <p:grpSpPr>
          <a:xfrm rot="0">
            <a:off x="10602468" y="2633472"/>
            <a:ext cx="6583680" cy="685800"/>
            <a:chOff x="0" y="0"/>
            <a:chExt cx="8778240" cy="914400"/>
          </a:xfrm>
        </p:grpSpPr>
        <p:sp>
          <p:nvSpPr>
            <p:cNvPr name="Freeform 95" id="95"/>
            <p:cNvSpPr/>
            <p:nvPr/>
          </p:nvSpPr>
          <p:spPr>
            <a:xfrm flipH="false" flipV="false" rot="0">
              <a:off x="0" y="0"/>
              <a:ext cx="8778240" cy="914400"/>
            </a:xfrm>
            <a:custGeom>
              <a:avLst/>
              <a:gdLst/>
              <a:ahLst/>
              <a:cxnLst/>
              <a:rect r="r" b="b" t="t" l="l"/>
              <a:pathLst>
                <a:path h="914400" w="8778240">
                  <a:moveTo>
                    <a:pt x="0" y="0"/>
                  </a:moveTo>
                  <a:lnTo>
                    <a:pt x="8778240" y="0"/>
                  </a:lnTo>
                  <a:lnTo>
                    <a:pt x="8778240" y="914400"/>
                  </a:lnTo>
                  <a:lnTo>
                    <a:pt x="0" y="914400"/>
                  </a:lnTo>
                  <a:close/>
                </a:path>
              </a:pathLst>
            </a:custGeom>
            <a:blipFill>
              <a:blip r:embed="rId4">
                <a:alphaModFix amt="0"/>
              </a:blip>
              <a:stretch>
                <a:fillRect l="0" t="-136926" r="0" b="-136926"/>
              </a:stretch>
            </a:blipFill>
          </p:spPr>
          <p:txBody>
            <a:bodyPr/>
            <a:p/>
          </p:txBody>
        </p:sp>
      </p:grpSp>
      <p:grpSp>
        <p:nvGrpSpPr>
          <p:cNvPr name="Group 96" id="96"/>
          <p:cNvGrpSpPr/>
          <p:nvPr/>
        </p:nvGrpSpPr>
        <p:grpSpPr>
          <a:xfrm rot="0">
            <a:off x="10602468" y="2604897"/>
            <a:ext cx="6583680" cy="714375"/>
            <a:chOff x="0" y="0"/>
            <a:chExt cx="8778240" cy="952500"/>
          </a:xfrm>
        </p:grpSpPr>
        <p:sp>
          <p:nvSpPr>
            <p:cNvPr name="Freeform 97" id="97"/>
            <p:cNvSpPr/>
            <p:nvPr/>
          </p:nvSpPr>
          <p:spPr>
            <a:xfrm flipH="false" flipV="false" rot="0">
              <a:off x="0" y="0"/>
              <a:ext cx="8778240" cy="952500"/>
            </a:xfrm>
            <a:custGeom>
              <a:avLst/>
              <a:gdLst/>
              <a:ahLst/>
              <a:cxnLst/>
              <a:rect r="r" b="b" t="t" l="l"/>
              <a:pathLst>
                <a:path h="952500" w="8778240">
                  <a:moveTo>
                    <a:pt x="0" y="0"/>
                  </a:moveTo>
                  <a:lnTo>
                    <a:pt x="8778240" y="0"/>
                  </a:lnTo>
                  <a:lnTo>
                    <a:pt x="8778240" y="952500"/>
                  </a:lnTo>
                  <a:lnTo>
                    <a:pt x="0" y="952500"/>
                  </a:lnTo>
                  <a:close/>
                </a:path>
              </a:pathLst>
            </a:custGeom>
            <a:blipFill>
              <a:blip r:embed="rId5">
                <a:alphaModFix amt="0"/>
              </a:blip>
              <a:stretch>
                <a:fillRect l="0" t="-129449" r="0" b="-129449"/>
              </a:stretch>
            </a:blipFill>
          </p:spPr>
          <p:txBody>
            <a:bodyPr/>
            <a:p/>
          </p:txBody>
        </p:sp>
      </p:grpSp>
      <p:grpSp>
        <p:nvGrpSpPr>
          <p:cNvPr name="Group 98" id="98"/>
          <p:cNvGrpSpPr/>
          <p:nvPr/>
        </p:nvGrpSpPr>
        <p:grpSpPr>
          <a:xfrm rot="0">
            <a:off x="10602468" y="2576322"/>
            <a:ext cx="6583680" cy="742950"/>
            <a:chOff x="0" y="0"/>
            <a:chExt cx="8778240" cy="990600"/>
          </a:xfrm>
        </p:grpSpPr>
        <p:sp>
          <p:nvSpPr>
            <p:cNvPr name="Freeform 99" id="99"/>
            <p:cNvSpPr/>
            <p:nvPr/>
          </p:nvSpPr>
          <p:spPr>
            <a:xfrm flipH="false" flipV="false" rot="0">
              <a:off x="0" y="0"/>
              <a:ext cx="8778240" cy="990600"/>
            </a:xfrm>
            <a:custGeom>
              <a:avLst/>
              <a:gdLst/>
              <a:ahLst/>
              <a:cxnLst/>
              <a:rect r="r" b="b" t="t" l="l"/>
              <a:pathLst>
                <a:path h="990600" w="8778240">
                  <a:moveTo>
                    <a:pt x="0" y="0"/>
                  </a:moveTo>
                  <a:lnTo>
                    <a:pt x="8778240" y="0"/>
                  </a:lnTo>
                  <a:lnTo>
                    <a:pt x="8778240" y="990600"/>
                  </a:lnTo>
                  <a:lnTo>
                    <a:pt x="0" y="990600"/>
                  </a:lnTo>
                  <a:close/>
                </a:path>
              </a:pathLst>
            </a:custGeom>
            <a:blipFill>
              <a:blip r:embed="rId6">
                <a:alphaModFix amt="0"/>
              </a:blip>
              <a:stretch>
                <a:fillRect l="0" t="-122667" r="0" b="-122667"/>
              </a:stretch>
            </a:blipFill>
          </p:spPr>
          <p:txBody>
            <a:bodyPr/>
            <a:p/>
          </p:txBody>
        </p:sp>
        <p:sp>
          <p:nvSpPr>
            <p:cNvPr name="TextBox 100" id="100"/>
            <p:cNvSpPr txBox="true"/>
            <p:nvPr/>
          </p:nvSpPr>
          <p:spPr>
            <a:xfrm>
              <a:off x="0" y="-38100"/>
              <a:ext cx="8778240" cy="1028700"/>
            </a:xfrm>
            <a:prstGeom prst="rect">
              <a:avLst/>
            </a:prstGeom>
          </p:spPr>
          <p:txBody>
            <a:bodyPr anchor="ctr" rtlCol="false" tIns="0" lIns="0" bIns="0" rIns="0"/>
            <a:lstStyle/>
            <a:p>
              <a:pPr algn="l">
                <a:lnSpc>
                  <a:spcPts val="2878"/>
                </a:lnSpc>
              </a:pPr>
              <a:r>
                <a:rPr lang="en-US" sz="2400" b="true">
                  <a:solidFill>
                    <a:srgbClr val="0B5E6E"/>
                  </a:solidFill>
                  <a:latin typeface="Calibri (MS) Bold"/>
                  <a:ea typeface="Calibri (MS) Bold"/>
                  <a:cs typeface="Calibri (MS) Bold"/>
                  <a:sym typeface="Calibri (MS) Bold"/>
                </a:rPr>
                <a:t>Pengembangan model</a:t>
              </a:r>
            </a:p>
          </p:txBody>
        </p:sp>
      </p:grpSp>
      <p:sp>
        <p:nvSpPr>
          <p:cNvPr name="TextBox 101" id="101"/>
          <p:cNvSpPr txBox="true"/>
          <p:nvPr/>
        </p:nvSpPr>
        <p:spPr>
          <a:xfrm rot="0">
            <a:off x="9710928" y="3423285"/>
            <a:ext cx="7406640" cy="2200275"/>
          </a:xfrm>
          <a:prstGeom prst="rect">
            <a:avLst/>
          </a:prstGeom>
        </p:spPr>
        <p:txBody>
          <a:bodyPr anchor="t" rtlCol="false" tIns="0" lIns="0" bIns="0" rIns="0">
            <a:spAutoFit/>
          </a:bodyPr>
          <a:lstStyle/>
          <a:p>
            <a:pPr algn="l">
              <a:lnSpc>
                <a:spcPts val="2340"/>
              </a:lnSpc>
            </a:pPr>
            <a:r>
              <a:rPr lang="en-US" sz="1950">
                <a:solidFill>
                  <a:srgbClr val="14313B"/>
                </a:solidFill>
                <a:latin typeface="Calibri (MS)"/>
                <a:ea typeface="Calibri (MS)"/>
                <a:cs typeface="Calibri (MS)"/>
                <a:sym typeface="Calibri (MS)"/>
              </a:rPr>
              <a:t>Tambahkan shock eksternal (mis. pandemi); pisahkan data pembangunan ODTW menurut sumber pembiayaan bersama Dinas Pariwisata dan Bappeda DIY; cek ulang Dynamic World pada tahun dengan noise tertinggi.</a:t>
            </a:r>
          </a:p>
        </p:txBody>
      </p:sp>
      <p:sp>
        <p:nvSpPr>
          <p:cNvPr name="Freeform 102" id="102"/>
          <p:cNvSpPr/>
          <p:nvPr/>
        </p:nvSpPr>
        <p:spPr>
          <a:xfrm flipH="false" flipV="false" rot="0">
            <a:off x="806291" y="5881211"/>
            <a:ext cx="8194357" cy="3393757"/>
          </a:xfrm>
          <a:custGeom>
            <a:avLst/>
            <a:gdLst/>
            <a:ahLst/>
            <a:cxnLst/>
            <a:rect r="r" b="b" t="t" l="l"/>
            <a:pathLst>
              <a:path h="3393757" w="8194357">
                <a:moveTo>
                  <a:pt x="0" y="0"/>
                </a:moveTo>
                <a:lnTo>
                  <a:pt x="8194358" y="0"/>
                </a:lnTo>
                <a:lnTo>
                  <a:pt x="8194358" y="3393758"/>
                </a:lnTo>
                <a:lnTo>
                  <a:pt x="0" y="3393758"/>
                </a:lnTo>
                <a:lnTo>
                  <a:pt x="0" y="0"/>
                </a:lnTo>
                <a:close/>
              </a:path>
            </a:pathLst>
          </a:custGeom>
          <a:blipFill>
            <a:blip r:embed="rId7">
              <a:extLst>
                <a:ext uri="{96DAC541-7B7A-43D3-8B79-37D633B846F1}">
                  <asvg:svgBlip xmlns:asvg="http://schemas.microsoft.com/office/drawing/2016/SVG/main" r:embed="rId8"/>
                </a:ext>
              </a:extLst>
            </a:blip>
            <a:stretch>
              <a:fillRect l="0" t="-57" r="0" b="-57"/>
            </a:stretch>
          </a:blipFill>
        </p:spPr>
        <p:txBody>
          <a:bodyPr/>
          <a:p/>
        </p:txBody>
      </p:sp>
      <p:grpSp>
        <p:nvGrpSpPr>
          <p:cNvPr name="Group 103" id="103"/>
          <p:cNvGrpSpPr/>
          <p:nvPr/>
        </p:nvGrpSpPr>
        <p:grpSpPr>
          <a:xfrm rot="0">
            <a:off x="1165860" y="6199632"/>
            <a:ext cx="685800" cy="685800"/>
            <a:chOff x="0" y="0"/>
            <a:chExt cx="914400" cy="914400"/>
          </a:xfrm>
        </p:grpSpPr>
        <p:sp>
          <p:nvSpPr>
            <p:cNvPr name="Freeform 104" id="104"/>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105" id="105"/>
          <p:cNvGrpSpPr/>
          <p:nvPr/>
        </p:nvGrpSpPr>
        <p:grpSpPr>
          <a:xfrm rot="0">
            <a:off x="1165860" y="6199632"/>
            <a:ext cx="685800" cy="685800"/>
            <a:chOff x="0" y="0"/>
            <a:chExt cx="914400" cy="914400"/>
          </a:xfrm>
        </p:grpSpPr>
        <p:sp>
          <p:nvSpPr>
            <p:cNvPr name="Freeform 106" id="106"/>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txBody>
            <a:bodyPr/>
            <a:p/>
          </p:txBody>
        </p:sp>
      </p:grpSp>
      <p:grpSp>
        <p:nvGrpSpPr>
          <p:cNvPr name="Group 107" id="107"/>
          <p:cNvGrpSpPr/>
          <p:nvPr/>
        </p:nvGrpSpPr>
        <p:grpSpPr>
          <a:xfrm rot="0">
            <a:off x="1165860" y="6171057"/>
            <a:ext cx="685800" cy="714375"/>
            <a:chOff x="0" y="0"/>
            <a:chExt cx="914400" cy="952500"/>
          </a:xfrm>
        </p:grpSpPr>
        <p:sp>
          <p:nvSpPr>
            <p:cNvPr name="Freeform 108" id="108"/>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743" t="0" r="-83741" b="0"/>
              </a:stretch>
            </a:blipFill>
          </p:spPr>
          <p:txBody>
            <a:bodyPr/>
            <a:p/>
          </p:txBody>
        </p:sp>
      </p:grpSp>
      <p:grpSp>
        <p:nvGrpSpPr>
          <p:cNvPr name="Group 109" id="109"/>
          <p:cNvGrpSpPr/>
          <p:nvPr/>
        </p:nvGrpSpPr>
        <p:grpSpPr>
          <a:xfrm rot="0">
            <a:off x="1165860" y="6142482"/>
            <a:ext cx="685800" cy="742950"/>
            <a:chOff x="0" y="0"/>
            <a:chExt cx="914400" cy="990600"/>
          </a:xfrm>
        </p:grpSpPr>
        <p:sp>
          <p:nvSpPr>
            <p:cNvPr name="Freeform 110" id="110"/>
            <p:cNvSpPr/>
            <p:nvPr/>
          </p:nvSpPr>
          <p:spPr>
            <a:xfrm flipH="false" flipV="false" rot="0">
              <a:off x="0" y="0"/>
              <a:ext cx="914400" cy="990600"/>
            </a:xfrm>
            <a:custGeom>
              <a:avLst/>
              <a:gdLst/>
              <a:ahLst/>
              <a:cxnLst/>
              <a:rect r="r" b="b" t="t" l="l"/>
              <a:pathLst>
                <a:path h="990600" w="914400">
                  <a:moveTo>
                    <a:pt x="0" y="0"/>
                  </a:moveTo>
                  <a:lnTo>
                    <a:pt x="914400" y="0"/>
                  </a:lnTo>
                  <a:lnTo>
                    <a:pt x="914400" y="990600"/>
                  </a:lnTo>
                  <a:lnTo>
                    <a:pt x="0" y="990600"/>
                  </a:lnTo>
                  <a:close/>
                </a:path>
              </a:pathLst>
            </a:custGeom>
            <a:blipFill>
              <a:blip r:embed="rId6">
                <a:alphaModFix amt="0"/>
              </a:blip>
              <a:stretch>
                <a:fillRect l="-88995" t="0" r="-88995" b="0"/>
              </a:stretch>
            </a:blipFill>
          </p:spPr>
          <p:txBody>
            <a:bodyPr/>
            <a:p/>
          </p:txBody>
        </p:sp>
        <p:sp>
          <p:nvSpPr>
            <p:cNvPr name="TextBox 111" id="111"/>
            <p:cNvSpPr txBox="true"/>
            <p:nvPr/>
          </p:nvSpPr>
          <p:spPr>
            <a:xfrm>
              <a:off x="0" y="-38100"/>
              <a:ext cx="914400" cy="10287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3</a:t>
              </a:r>
            </a:p>
          </p:txBody>
        </p:sp>
      </p:grpSp>
      <p:grpSp>
        <p:nvGrpSpPr>
          <p:cNvPr name="Group 112" id="112"/>
          <p:cNvGrpSpPr/>
          <p:nvPr/>
        </p:nvGrpSpPr>
        <p:grpSpPr>
          <a:xfrm rot="0">
            <a:off x="2125980" y="6199632"/>
            <a:ext cx="6583680" cy="685800"/>
            <a:chOff x="0" y="0"/>
            <a:chExt cx="8778240" cy="914400"/>
          </a:xfrm>
        </p:grpSpPr>
        <p:sp>
          <p:nvSpPr>
            <p:cNvPr name="Freeform 113" id="113"/>
            <p:cNvSpPr/>
            <p:nvPr/>
          </p:nvSpPr>
          <p:spPr>
            <a:xfrm flipH="false" flipV="false" rot="0">
              <a:off x="0" y="0"/>
              <a:ext cx="8778240" cy="914400"/>
            </a:xfrm>
            <a:custGeom>
              <a:avLst/>
              <a:gdLst/>
              <a:ahLst/>
              <a:cxnLst/>
              <a:rect r="r" b="b" t="t" l="l"/>
              <a:pathLst>
                <a:path h="914400" w="8778240">
                  <a:moveTo>
                    <a:pt x="0" y="0"/>
                  </a:moveTo>
                  <a:lnTo>
                    <a:pt x="8778240" y="0"/>
                  </a:lnTo>
                  <a:lnTo>
                    <a:pt x="8778240" y="914400"/>
                  </a:lnTo>
                  <a:lnTo>
                    <a:pt x="0" y="914400"/>
                  </a:lnTo>
                  <a:close/>
                </a:path>
              </a:pathLst>
            </a:custGeom>
            <a:blipFill>
              <a:blip r:embed="rId4">
                <a:alphaModFix amt="0"/>
              </a:blip>
              <a:stretch>
                <a:fillRect l="0" t="-136926" r="0" b="-136926"/>
              </a:stretch>
            </a:blipFill>
          </p:spPr>
          <p:txBody>
            <a:bodyPr/>
            <a:p/>
          </p:txBody>
        </p:sp>
      </p:grpSp>
      <p:grpSp>
        <p:nvGrpSpPr>
          <p:cNvPr name="Group 114" id="114"/>
          <p:cNvGrpSpPr/>
          <p:nvPr/>
        </p:nvGrpSpPr>
        <p:grpSpPr>
          <a:xfrm rot="0">
            <a:off x="2125980" y="6171057"/>
            <a:ext cx="6583680" cy="714375"/>
            <a:chOff x="0" y="0"/>
            <a:chExt cx="8778240" cy="952500"/>
          </a:xfrm>
        </p:grpSpPr>
        <p:sp>
          <p:nvSpPr>
            <p:cNvPr name="Freeform 115" id="115"/>
            <p:cNvSpPr/>
            <p:nvPr/>
          </p:nvSpPr>
          <p:spPr>
            <a:xfrm flipH="false" flipV="false" rot="0">
              <a:off x="0" y="0"/>
              <a:ext cx="8778240" cy="952500"/>
            </a:xfrm>
            <a:custGeom>
              <a:avLst/>
              <a:gdLst/>
              <a:ahLst/>
              <a:cxnLst/>
              <a:rect r="r" b="b" t="t" l="l"/>
              <a:pathLst>
                <a:path h="952500" w="8778240">
                  <a:moveTo>
                    <a:pt x="0" y="0"/>
                  </a:moveTo>
                  <a:lnTo>
                    <a:pt x="8778240" y="0"/>
                  </a:lnTo>
                  <a:lnTo>
                    <a:pt x="8778240" y="952500"/>
                  </a:lnTo>
                  <a:lnTo>
                    <a:pt x="0" y="952500"/>
                  </a:lnTo>
                  <a:close/>
                </a:path>
              </a:pathLst>
            </a:custGeom>
            <a:blipFill>
              <a:blip r:embed="rId5">
                <a:alphaModFix amt="0"/>
              </a:blip>
              <a:stretch>
                <a:fillRect l="0" t="-129449" r="0" b="-129449"/>
              </a:stretch>
            </a:blipFill>
          </p:spPr>
          <p:txBody>
            <a:bodyPr/>
            <a:p/>
          </p:txBody>
        </p:sp>
      </p:grpSp>
      <p:grpSp>
        <p:nvGrpSpPr>
          <p:cNvPr name="Group 116" id="116"/>
          <p:cNvGrpSpPr/>
          <p:nvPr/>
        </p:nvGrpSpPr>
        <p:grpSpPr>
          <a:xfrm rot="0">
            <a:off x="2125980" y="6142482"/>
            <a:ext cx="6583680" cy="742950"/>
            <a:chOff x="0" y="0"/>
            <a:chExt cx="8778240" cy="990600"/>
          </a:xfrm>
        </p:grpSpPr>
        <p:sp>
          <p:nvSpPr>
            <p:cNvPr name="Freeform 117" id="117"/>
            <p:cNvSpPr/>
            <p:nvPr/>
          </p:nvSpPr>
          <p:spPr>
            <a:xfrm flipH="false" flipV="false" rot="0">
              <a:off x="0" y="0"/>
              <a:ext cx="8778240" cy="990600"/>
            </a:xfrm>
            <a:custGeom>
              <a:avLst/>
              <a:gdLst/>
              <a:ahLst/>
              <a:cxnLst/>
              <a:rect r="r" b="b" t="t" l="l"/>
              <a:pathLst>
                <a:path h="990600" w="8778240">
                  <a:moveTo>
                    <a:pt x="0" y="0"/>
                  </a:moveTo>
                  <a:lnTo>
                    <a:pt x="8778240" y="0"/>
                  </a:lnTo>
                  <a:lnTo>
                    <a:pt x="8778240" y="990600"/>
                  </a:lnTo>
                  <a:lnTo>
                    <a:pt x="0" y="990600"/>
                  </a:lnTo>
                  <a:close/>
                </a:path>
              </a:pathLst>
            </a:custGeom>
            <a:blipFill>
              <a:blip r:embed="rId6">
                <a:alphaModFix amt="0"/>
              </a:blip>
              <a:stretch>
                <a:fillRect l="0" t="-122667" r="0" b="-122667"/>
              </a:stretch>
            </a:blipFill>
          </p:spPr>
          <p:txBody>
            <a:bodyPr/>
            <a:p/>
          </p:txBody>
        </p:sp>
        <p:sp>
          <p:nvSpPr>
            <p:cNvPr name="TextBox 118" id="118"/>
            <p:cNvSpPr txBox="true"/>
            <p:nvPr/>
          </p:nvSpPr>
          <p:spPr>
            <a:xfrm>
              <a:off x="0" y="-38100"/>
              <a:ext cx="8778240" cy="1028700"/>
            </a:xfrm>
            <a:prstGeom prst="rect">
              <a:avLst/>
            </a:prstGeom>
          </p:spPr>
          <p:txBody>
            <a:bodyPr anchor="ctr" rtlCol="false" tIns="0" lIns="0" bIns="0" rIns="0"/>
            <a:lstStyle/>
            <a:p>
              <a:pPr algn="l">
                <a:lnSpc>
                  <a:spcPts val="2878"/>
                </a:lnSpc>
              </a:pPr>
              <a:r>
                <a:rPr lang="en-US" sz="2400" b="true">
                  <a:solidFill>
                    <a:srgbClr val="0B5E6E"/>
                  </a:solidFill>
                  <a:latin typeface="Calibri (MS) Bold"/>
                  <a:ea typeface="Calibri (MS) Bold"/>
                  <a:cs typeface="Calibri (MS) Bold"/>
                  <a:sym typeface="Calibri (MS) Bold"/>
                </a:rPr>
                <a:t>Penyusunan skenario</a:t>
              </a:r>
            </a:p>
          </p:txBody>
        </p:sp>
      </p:grpSp>
      <p:sp>
        <p:nvSpPr>
          <p:cNvPr name="TextBox 119" id="119"/>
          <p:cNvSpPr txBox="true"/>
          <p:nvPr/>
        </p:nvSpPr>
        <p:spPr>
          <a:xfrm rot="0">
            <a:off x="1234440" y="6989445"/>
            <a:ext cx="7406640" cy="2200275"/>
          </a:xfrm>
          <a:prstGeom prst="rect">
            <a:avLst/>
          </a:prstGeom>
        </p:spPr>
        <p:txBody>
          <a:bodyPr anchor="t" rtlCol="false" tIns="0" lIns="0" bIns="0" rIns="0">
            <a:spAutoFit/>
          </a:bodyPr>
          <a:lstStyle/>
          <a:p>
            <a:pPr algn="l">
              <a:lnSpc>
                <a:spcPts val="2340"/>
              </a:lnSpc>
            </a:pPr>
            <a:r>
              <a:rPr lang="en-US" sz="1950">
                <a:solidFill>
                  <a:srgbClr val="14313B"/>
                </a:solidFill>
                <a:latin typeface="Calibri (MS)"/>
                <a:ea typeface="Calibri (MS)"/>
                <a:cs typeface="Calibri (MS)"/>
                <a:sym typeface="Calibri (MS)"/>
              </a:rPr>
              <a:t>Libatkan lokakarya pemangku kepentingan agar nilai variabel kebijakan sesuai kesepakatan pihak yang berwenang menerapkannya.</a:t>
            </a:r>
          </a:p>
        </p:txBody>
      </p:sp>
      <p:sp>
        <p:nvSpPr>
          <p:cNvPr name="Freeform 120" id="120"/>
          <p:cNvSpPr/>
          <p:nvPr/>
        </p:nvSpPr>
        <p:spPr>
          <a:xfrm flipH="false" flipV="false" rot="0">
            <a:off x="9282779" y="5881211"/>
            <a:ext cx="8194357" cy="3393757"/>
          </a:xfrm>
          <a:custGeom>
            <a:avLst/>
            <a:gdLst/>
            <a:ahLst/>
            <a:cxnLst/>
            <a:rect r="r" b="b" t="t" l="l"/>
            <a:pathLst>
              <a:path h="3393757" w="8194357">
                <a:moveTo>
                  <a:pt x="0" y="0"/>
                </a:moveTo>
                <a:lnTo>
                  <a:pt x="8194358" y="0"/>
                </a:lnTo>
                <a:lnTo>
                  <a:pt x="8194358" y="3393758"/>
                </a:lnTo>
                <a:lnTo>
                  <a:pt x="0" y="3393758"/>
                </a:lnTo>
                <a:lnTo>
                  <a:pt x="0" y="0"/>
                </a:lnTo>
                <a:close/>
              </a:path>
            </a:pathLst>
          </a:custGeom>
          <a:blipFill>
            <a:blip r:embed="rId7">
              <a:extLst>
                <a:ext uri="{96DAC541-7B7A-43D3-8B79-37D633B846F1}">
                  <asvg:svgBlip xmlns:asvg="http://schemas.microsoft.com/office/drawing/2016/SVG/main" r:embed="rId8"/>
                </a:ext>
              </a:extLst>
            </a:blip>
            <a:stretch>
              <a:fillRect l="0" t="-57" r="0" b="-57"/>
            </a:stretch>
          </a:blipFill>
        </p:spPr>
        <p:txBody>
          <a:bodyPr/>
          <a:p/>
        </p:txBody>
      </p:sp>
      <p:grpSp>
        <p:nvGrpSpPr>
          <p:cNvPr name="Group 121" id="121"/>
          <p:cNvGrpSpPr/>
          <p:nvPr/>
        </p:nvGrpSpPr>
        <p:grpSpPr>
          <a:xfrm rot="0">
            <a:off x="9642348" y="6199632"/>
            <a:ext cx="685800" cy="685800"/>
            <a:chOff x="0" y="0"/>
            <a:chExt cx="914400" cy="914400"/>
          </a:xfrm>
        </p:grpSpPr>
        <p:sp>
          <p:nvSpPr>
            <p:cNvPr name="Freeform 122" id="122"/>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123" id="123"/>
          <p:cNvGrpSpPr/>
          <p:nvPr/>
        </p:nvGrpSpPr>
        <p:grpSpPr>
          <a:xfrm rot="0">
            <a:off x="9642348" y="6199632"/>
            <a:ext cx="685800" cy="685800"/>
            <a:chOff x="0" y="0"/>
            <a:chExt cx="914400" cy="914400"/>
          </a:xfrm>
        </p:grpSpPr>
        <p:sp>
          <p:nvSpPr>
            <p:cNvPr name="Freeform 124" id="124"/>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txBody>
            <a:bodyPr/>
            <a:p/>
          </p:txBody>
        </p:sp>
      </p:grpSp>
      <p:grpSp>
        <p:nvGrpSpPr>
          <p:cNvPr name="Group 125" id="125"/>
          <p:cNvGrpSpPr/>
          <p:nvPr/>
        </p:nvGrpSpPr>
        <p:grpSpPr>
          <a:xfrm rot="0">
            <a:off x="9642348" y="6171057"/>
            <a:ext cx="685800" cy="714375"/>
            <a:chOff x="0" y="0"/>
            <a:chExt cx="914400" cy="952500"/>
          </a:xfrm>
        </p:grpSpPr>
        <p:sp>
          <p:nvSpPr>
            <p:cNvPr name="Freeform 126" id="126"/>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743" t="0" r="-83741" b="0"/>
              </a:stretch>
            </a:blipFill>
          </p:spPr>
          <p:txBody>
            <a:bodyPr/>
            <a:p/>
          </p:txBody>
        </p:sp>
      </p:grpSp>
      <p:grpSp>
        <p:nvGrpSpPr>
          <p:cNvPr name="Group 127" id="127"/>
          <p:cNvGrpSpPr/>
          <p:nvPr/>
        </p:nvGrpSpPr>
        <p:grpSpPr>
          <a:xfrm rot="0">
            <a:off x="9642348" y="6142482"/>
            <a:ext cx="685800" cy="742950"/>
            <a:chOff x="0" y="0"/>
            <a:chExt cx="914400" cy="990600"/>
          </a:xfrm>
        </p:grpSpPr>
        <p:sp>
          <p:nvSpPr>
            <p:cNvPr name="Freeform 128" id="128"/>
            <p:cNvSpPr/>
            <p:nvPr/>
          </p:nvSpPr>
          <p:spPr>
            <a:xfrm flipH="false" flipV="false" rot="0">
              <a:off x="0" y="0"/>
              <a:ext cx="914400" cy="990600"/>
            </a:xfrm>
            <a:custGeom>
              <a:avLst/>
              <a:gdLst/>
              <a:ahLst/>
              <a:cxnLst/>
              <a:rect r="r" b="b" t="t" l="l"/>
              <a:pathLst>
                <a:path h="990600" w="914400">
                  <a:moveTo>
                    <a:pt x="0" y="0"/>
                  </a:moveTo>
                  <a:lnTo>
                    <a:pt x="914400" y="0"/>
                  </a:lnTo>
                  <a:lnTo>
                    <a:pt x="914400" y="990600"/>
                  </a:lnTo>
                  <a:lnTo>
                    <a:pt x="0" y="990600"/>
                  </a:lnTo>
                  <a:close/>
                </a:path>
              </a:pathLst>
            </a:custGeom>
            <a:blipFill>
              <a:blip r:embed="rId6">
                <a:alphaModFix amt="0"/>
              </a:blip>
              <a:stretch>
                <a:fillRect l="-88995" t="0" r="-88995" b="0"/>
              </a:stretch>
            </a:blipFill>
          </p:spPr>
          <p:txBody>
            <a:bodyPr/>
            <a:p/>
          </p:txBody>
        </p:sp>
        <p:sp>
          <p:nvSpPr>
            <p:cNvPr name="TextBox 129" id="129"/>
            <p:cNvSpPr txBox="true"/>
            <p:nvPr/>
          </p:nvSpPr>
          <p:spPr>
            <a:xfrm>
              <a:off x="0" y="-38100"/>
              <a:ext cx="914400" cy="10287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4</a:t>
              </a:r>
            </a:p>
          </p:txBody>
        </p:sp>
      </p:grpSp>
      <p:grpSp>
        <p:nvGrpSpPr>
          <p:cNvPr name="Group 130" id="130"/>
          <p:cNvGrpSpPr/>
          <p:nvPr/>
        </p:nvGrpSpPr>
        <p:grpSpPr>
          <a:xfrm rot="0">
            <a:off x="10602468" y="6199632"/>
            <a:ext cx="6583680" cy="685800"/>
            <a:chOff x="0" y="0"/>
            <a:chExt cx="8778240" cy="914400"/>
          </a:xfrm>
        </p:grpSpPr>
        <p:sp>
          <p:nvSpPr>
            <p:cNvPr name="Freeform 131" id="131"/>
            <p:cNvSpPr/>
            <p:nvPr/>
          </p:nvSpPr>
          <p:spPr>
            <a:xfrm flipH="false" flipV="false" rot="0">
              <a:off x="0" y="0"/>
              <a:ext cx="8778240" cy="914400"/>
            </a:xfrm>
            <a:custGeom>
              <a:avLst/>
              <a:gdLst/>
              <a:ahLst/>
              <a:cxnLst/>
              <a:rect r="r" b="b" t="t" l="l"/>
              <a:pathLst>
                <a:path h="914400" w="8778240">
                  <a:moveTo>
                    <a:pt x="0" y="0"/>
                  </a:moveTo>
                  <a:lnTo>
                    <a:pt x="8778240" y="0"/>
                  </a:lnTo>
                  <a:lnTo>
                    <a:pt x="8778240" y="914400"/>
                  </a:lnTo>
                  <a:lnTo>
                    <a:pt x="0" y="914400"/>
                  </a:lnTo>
                  <a:close/>
                </a:path>
              </a:pathLst>
            </a:custGeom>
            <a:blipFill>
              <a:blip r:embed="rId4">
                <a:alphaModFix amt="0"/>
              </a:blip>
              <a:stretch>
                <a:fillRect l="0" t="-136926" r="0" b="-136926"/>
              </a:stretch>
            </a:blipFill>
          </p:spPr>
          <p:txBody>
            <a:bodyPr/>
            <a:p/>
          </p:txBody>
        </p:sp>
      </p:grpSp>
      <p:grpSp>
        <p:nvGrpSpPr>
          <p:cNvPr name="Group 132" id="132"/>
          <p:cNvGrpSpPr/>
          <p:nvPr/>
        </p:nvGrpSpPr>
        <p:grpSpPr>
          <a:xfrm rot="0">
            <a:off x="10602468" y="6171057"/>
            <a:ext cx="6583680" cy="714375"/>
            <a:chOff x="0" y="0"/>
            <a:chExt cx="8778240" cy="952500"/>
          </a:xfrm>
        </p:grpSpPr>
        <p:sp>
          <p:nvSpPr>
            <p:cNvPr name="Freeform 133" id="133"/>
            <p:cNvSpPr/>
            <p:nvPr/>
          </p:nvSpPr>
          <p:spPr>
            <a:xfrm flipH="false" flipV="false" rot="0">
              <a:off x="0" y="0"/>
              <a:ext cx="8778240" cy="952500"/>
            </a:xfrm>
            <a:custGeom>
              <a:avLst/>
              <a:gdLst/>
              <a:ahLst/>
              <a:cxnLst/>
              <a:rect r="r" b="b" t="t" l="l"/>
              <a:pathLst>
                <a:path h="952500" w="8778240">
                  <a:moveTo>
                    <a:pt x="0" y="0"/>
                  </a:moveTo>
                  <a:lnTo>
                    <a:pt x="8778240" y="0"/>
                  </a:lnTo>
                  <a:lnTo>
                    <a:pt x="8778240" y="952500"/>
                  </a:lnTo>
                  <a:lnTo>
                    <a:pt x="0" y="952500"/>
                  </a:lnTo>
                  <a:close/>
                </a:path>
              </a:pathLst>
            </a:custGeom>
            <a:blipFill>
              <a:blip r:embed="rId5">
                <a:alphaModFix amt="0"/>
              </a:blip>
              <a:stretch>
                <a:fillRect l="0" t="-129449" r="0" b="-129449"/>
              </a:stretch>
            </a:blipFill>
          </p:spPr>
          <p:txBody>
            <a:bodyPr/>
            <a:p/>
          </p:txBody>
        </p:sp>
      </p:grpSp>
      <p:grpSp>
        <p:nvGrpSpPr>
          <p:cNvPr name="Group 134" id="134"/>
          <p:cNvGrpSpPr/>
          <p:nvPr/>
        </p:nvGrpSpPr>
        <p:grpSpPr>
          <a:xfrm rot="0">
            <a:off x="10602468" y="6142482"/>
            <a:ext cx="6583680" cy="742950"/>
            <a:chOff x="0" y="0"/>
            <a:chExt cx="8778240" cy="990600"/>
          </a:xfrm>
        </p:grpSpPr>
        <p:sp>
          <p:nvSpPr>
            <p:cNvPr name="Freeform 135" id="135"/>
            <p:cNvSpPr/>
            <p:nvPr/>
          </p:nvSpPr>
          <p:spPr>
            <a:xfrm flipH="false" flipV="false" rot="0">
              <a:off x="0" y="0"/>
              <a:ext cx="8778240" cy="990600"/>
            </a:xfrm>
            <a:custGeom>
              <a:avLst/>
              <a:gdLst/>
              <a:ahLst/>
              <a:cxnLst/>
              <a:rect r="r" b="b" t="t" l="l"/>
              <a:pathLst>
                <a:path h="990600" w="8778240">
                  <a:moveTo>
                    <a:pt x="0" y="0"/>
                  </a:moveTo>
                  <a:lnTo>
                    <a:pt x="8778240" y="0"/>
                  </a:lnTo>
                  <a:lnTo>
                    <a:pt x="8778240" y="990600"/>
                  </a:lnTo>
                  <a:lnTo>
                    <a:pt x="0" y="990600"/>
                  </a:lnTo>
                  <a:close/>
                </a:path>
              </a:pathLst>
            </a:custGeom>
            <a:blipFill>
              <a:blip r:embed="rId6">
                <a:alphaModFix amt="0"/>
              </a:blip>
              <a:stretch>
                <a:fillRect l="0" t="-122667" r="0" b="-122667"/>
              </a:stretch>
            </a:blipFill>
          </p:spPr>
          <p:txBody>
            <a:bodyPr/>
            <a:p/>
          </p:txBody>
        </p:sp>
        <p:sp>
          <p:nvSpPr>
            <p:cNvPr name="TextBox 136" id="136"/>
            <p:cNvSpPr txBox="true"/>
            <p:nvPr/>
          </p:nvSpPr>
          <p:spPr>
            <a:xfrm>
              <a:off x="0" y="-38100"/>
              <a:ext cx="8778240" cy="1028700"/>
            </a:xfrm>
            <a:prstGeom prst="rect">
              <a:avLst/>
            </a:prstGeom>
          </p:spPr>
          <p:txBody>
            <a:bodyPr anchor="ctr" rtlCol="false" tIns="0" lIns="0" bIns="0" rIns="0"/>
            <a:lstStyle/>
            <a:p>
              <a:pPr algn="l">
                <a:lnSpc>
                  <a:spcPts val="2878"/>
                </a:lnSpc>
              </a:pPr>
              <a:r>
                <a:rPr lang="en-US" sz="2400" b="true">
                  <a:solidFill>
                    <a:srgbClr val="0B5E6E"/>
                  </a:solidFill>
                  <a:latin typeface="Calibri (MS) Bold"/>
                  <a:ea typeface="Calibri (MS) Bold"/>
                  <a:cs typeface="Calibri (MS) Bold"/>
                  <a:sym typeface="Calibri (MS) Bold"/>
                </a:rPr>
                <a:t>Pengembangan aplikasi</a:t>
              </a:r>
            </a:p>
          </p:txBody>
        </p:sp>
      </p:grpSp>
      <p:sp>
        <p:nvSpPr>
          <p:cNvPr name="TextBox 137" id="137"/>
          <p:cNvSpPr txBox="true"/>
          <p:nvPr/>
        </p:nvSpPr>
        <p:spPr>
          <a:xfrm rot="0">
            <a:off x="9710928" y="6989445"/>
            <a:ext cx="7406640" cy="2200275"/>
          </a:xfrm>
          <a:prstGeom prst="rect">
            <a:avLst/>
          </a:prstGeom>
        </p:spPr>
        <p:txBody>
          <a:bodyPr anchor="t" rtlCol="false" tIns="0" lIns="0" bIns="0" rIns="0">
            <a:spAutoFit/>
          </a:bodyPr>
          <a:lstStyle/>
          <a:p>
            <a:pPr algn="l">
              <a:lnSpc>
                <a:spcPts val="2340"/>
              </a:lnSpc>
            </a:pPr>
            <a:r>
              <a:rPr lang="en-US" sz="1950">
                <a:solidFill>
                  <a:srgbClr val="14313B"/>
                </a:solidFill>
                <a:latin typeface="Calibri (MS)"/>
                <a:ea typeface="Calibri (MS)"/>
                <a:cs typeface="Calibri (MS)"/>
                <a:sym typeface="Calibri (MS)"/>
              </a:rPr>
              <a:t>Tambahkan fitur pembaruan data tahunan dan ekspor laporan hasil simulasi agar tetap relevan bagi Pemerintah Daerah DIY.</a:t>
            </a:r>
          </a:p>
        </p:txBody>
      </p:sp>
      <p:sp>
        <p:nvSpPr>
          <p:cNvPr name="TextBox 138" id="138"/>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74</a:t>
            </a:r>
          </a:p>
        </p:txBody>
      </p:sp>
      <p:grpSp>
        <p:nvGrpSpPr>
          <p:cNvPr name="Group 139" id="139"/>
          <p:cNvGrpSpPr/>
          <p:nvPr/>
        </p:nvGrpSpPr>
        <p:grpSpPr>
          <a:xfrm rot="0">
            <a:off x="16047720" y="9646920"/>
            <a:ext cx="420624" cy="420624"/>
            <a:chOff x="0" y="0"/>
            <a:chExt cx="560832" cy="560832"/>
          </a:xfrm>
        </p:grpSpPr>
        <p:sp>
          <p:nvSpPr>
            <p:cNvPr name="Freeform 140" id="140"/>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41" id="141"/>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75.xml><?xml version="1.0" encoding="utf-8"?>
<p:sld xmlns:p="http://schemas.openxmlformats.org/presentationml/2006/main" xmlns:a="http://schemas.openxmlformats.org/drawingml/2006/main" xmlns:r="http://schemas.openxmlformats.org/officeDocument/2006/relationships">
  <p:cSld>
    <p:bg>
      <p:bgPr>
        <a:solidFill>
          <a:srgbClr val="0B5E6E"/>
        </a:solidFill>
      </p:bgPr>
    </p:bg>
    <p:spTree>
      <p:nvGrpSpPr>
        <p:cNvPr id="1" name=""/>
        <p:cNvGrpSpPr/>
        <p:nvPr/>
      </p:nvGrpSpPr>
      <p:grpSpPr>
        <a:xfrm>
          <a:off x="0" y="0"/>
          <a:ext cx="0" cy="0"/>
          <a:chOff x="0" y="0"/>
          <a:chExt cx="0" cy="0"/>
        </a:xfrm>
      </p:grpSpPr>
      <p:grpSp>
        <p:nvGrpSpPr>
          <p:cNvPr name="Group 2" id="2"/>
          <p:cNvGrpSpPr/>
          <p:nvPr/>
        </p:nvGrpSpPr>
        <p:grpSpPr>
          <a:xfrm rot="0">
            <a:off x="8462772" y="1645920"/>
            <a:ext cx="1371600" cy="1371600"/>
            <a:chOff x="0" y="0"/>
            <a:chExt cx="1828800" cy="1828800"/>
          </a:xfrm>
        </p:grpSpPr>
        <p:sp>
          <p:nvSpPr>
            <p:cNvPr name="Freeform 3" id="3" descr="Logo Politeknik Statistika STIS"/>
            <p:cNvSpPr/>
            <p:nvPr/>
          </p:nvSpPr>
          <p:spPr>
            <a:xfrm flipH="false" flipV="false" rot="0">
              <a:off x="0" y="0"/>
              <a:ext cx="1828800" cy="1828800"/>
            </a:xfrm>
            <a:custGeom>
              <a:avLst/>
              <a:gdLst/>
              <a:ahLst/>
              <a:cxnLst/>
              <a:rect r="r" b="b" t="t" l="l"/>
              <a:pathLst>
                <a:path h="1828800" w="1828800">
                  <a:moveTo>
                    <a:pt x="0" y="0"/>
                  </a:moveTo>
                  <a:lnTo>
                    <a:pt x="1828800" y="0"/>
                  </a:lnTo>
                  <a:lnTo>
                    <a:pt x="1828800" y="1828800"/>
                  </a:lnTo>
                  <a:lnTo>
                    <a:pt x="0" y="1828800"/>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3497580"/>
            <a:ext cx="16637508" cy="1371600"/>
            <a:chOff x="0" y="0"/>
            <a:chExt cx="22183344" cy="1828800"/>
          </a:xfrm>
        </p:grpSpPr>
        <p:sp>
          <p:nvSpPr>
            <p:cNvPr name="Freeform 5" id="5"/>
            <p:cNvSpPr/>
            <p:nvPr/>
          </p:nvSpPr>
          <p:spPr>
            <a:xfrm flipH="false" flipV="false" rot="0">
              <a:off x="0" y="0"/>
              <a:ext cx="22183344" cy="1828800"/>
            </a:xfrm>
            <a:custGeom>
              <a:avLst/>
              <a:gdLst/>
              <a:ahLst/>
              <a:cxnLst/>
              <a:rect r="r" b="b" t="t" l="l"/>
              <a:pathLst>
                <a:path h="1828800" w="22183344">
                  <a:moveTo>
                    <a:pt x="0" y="0"/>
                  </a:moveTo>
                  <a:lnTo>
                    <a:pt x="22183344" y="0"/>
                  </a:lnTo>
                  <a:lnTo>
                    <a:pt x="22183344" y="1828800"/>
                  </a:lnTo>
                  <a:lnTo>
                    <a:pt x="0" y="1828800"/>
                  </a:lnTo>
                  <a:close/>
                </a:path>
              </a:pathLst>
            </a:custGeom>
            <a:blipFill>
              <a:blip r:embed="rId4">
                <a:alphaModFix amt="0"/>
              </a:blip>
              <a:stretch>
                <a:fillRect l="0" t="-186188" r="0" b="-186189"/>
              </a:stretch>
            </a:blipFill>
          </p:spPr>
          <p:txBody>
            <a:bodyPr/>
            <a:p/>
          </p:txBody>
        </p:sp>
      </p:grpSp>
      <p:grpSp>
        <p:nvGrpSpPr>
          <p:cNvPr name="Group 6" id="6"/>
          <p:cNvGrpSpPr/>
          <p:nvPr/>
        </p:nvGrpSpPr>
        <p:grpSpPr>
          <a:xfrm rot="0">
            <a:off x="822960" y="3376136"/>
            <a:ext cx="16637508" cy="1493044"/>
            <a:chOff x="0" y="0"/>
            <a:chExt cx="22183344" cy="1990725"/>
          </a:xfrm>
        </p:grpSpPr>
        <p:sp>
          <p:nvSpPr>
            <p:cNvPr name="Freeform 7" id="7"/>
            <p:cNvSpPr/>
            <p:nvPr/>
          </p:nvSpPr>
          <p:spPr>
            <a:xfrm flipH="false" flipV="false" rot="0">
              <a:off x="0" y="0"/>
              <a:ext cx="22183344" cy="1990725"/>
            </a:xfrm>
            <a:custGeom>
              <a:avLst/>
              <a:gdLst/>
              <a:ahLst/>
              <a:cxnLst/>
              <a:rect r="r" b="b" t="t" l="l"/>
              <a:pathLst>
                <a:path h="1990725" w="22183344">
                  <a:moveTo>
                    <a:pt x="0" y="0"/>
                  </a:moveTo>
                  <a:lnTo>
                    <a:pt x="22183344" y="0"/>
                  </a:lnTo>
                  <a:lnTo>
                    <a:pt x="22183344" y="1990725"/>
                  </a:lnTo>
                  <a:lnTo>
                    <a:pt x="0" y="1990725"/>
                  </a:lnTo>
                  <a:close/>
                </a:path>
              </a:pathLst>
            </a:custGeom>
            <a:blipFill>
              <a:blip r:embed="rId5">
                <a:alphaModFix amt="0"/>
              </a:blip>
              <a:stretch>
                <a:fillRect l="0" t="-166977" r="0" b="-166977"/>
              </a:stretch>
            </a:blipFill>
          </p:spPr>
          <p:txBody>
            <a:bodyPr/>
            <a:p/>
          </p:txBody>
        </p:sp>
      </p:grpSp>
      <p:grpSp>
        <p:nvGrpSpPr>
          <p:cNvPr name="Group 8" id="8"/>
          <p:cNvGrpSpPr/>
          <p:nvPr/>
        </p:nvGrpSpPr>
        <p:grpSpPr>
          <a:xfrm rot="0">
            <a:off x="822960" y="3254692"/>
            <a:ext cx="16637508" cy="1614488"/>
            <a:chOff x="0" y="0"/>
            <a:chExt cx="22183344" cy="2152650"/>
          </a:xfrm>
        </p:grpSpPr>
        <p:sp>
          <p:nvSpPr>
            <p:cNvPr name="Freeform 9" id="9"/>
            <p:cNvSpPr/>
            <p:nvPr/>
          </p:nvSpPr>
          <p:spPr>
            <a:xfrm flipH="false" flipV="false" rot="0">
              <a:off x="0" y="0"/>
              <a:ext cx="22183344" cy="2152650"/>
            </a:xfrm>
            <a:custGeom>
              <a:avLst/>
              <a:gdLst/>
              <a:ahLst/>
              <a:cxnLst/>
              <a:rect r="r" b="b" t="t" l="l"/>
              <a:pathLst>
                <a:path h="2152650" w="22183344">
                  <a:moveTo>
                    <a:pt x="0" y="0"/>
                  </a:moveTo>
                  <a:lnTo>
                    <a:pt x="22183344" y="0"/>
                  </a:lnTo>
                  <a:lnTo>
                    <a:pt x="22183344" y="2152650"/>
                  </a:lnTo>
                  <a:lnTo>
                    <a:pt x="0" y="2152650"/>
                  </a:lnTo>
                  <a:close/>
                </a:path>
              </a:pathLst>
            </a:custGeom>
            <a:blipFill>
              <a:blip r:embed="rId6">
                <a:alphaModFix amt="0"/>
              </a:blip>
              <a:stretch>
                <a:fillRect l="0" t="-150795" r="0" b="-150795"/>
              </a:stretch>
            </a:blipFill>
          </p:spPr>
          <p:txBody>
            <a:bodyPr/>
            <a:p/>
          </p:txBody>
        </p:sp>
        <p:sp>
          <p:nvSpPr>
            <p:cNvPr name="TextBox 10" id="10"/>
            <p:cNvSpPr txBox="true"/>
            <p:nvPr/>
          </p:nvSpPr>
          <p:spPr>
            <a:xfrm>
              <a:off x="0" y="-161925"/>
              <a:ext cx="22183344" cy="2314575"/>
            </a:xfrm>
            <a:prstGeom prst="rect">
              <a:avLst/>
            </a:prstGeom>
          </p:spPr>
          <p:txBody>
            <a:bodyPr anchor="ctr" rtlCol="false" tIns="0" lIns="0" bIns="0" rIns="0"/>
            <a:lstStyle/>
            <a:p>
              <a:pPr algn="ctr">
                <a:lnSpc>
                  <a:spcPts val="9360"/>
                </a:lnSpc>
              </a:pPr>
              <a:r>
                <a:rPr lang="en-US" sz="7800" b="true">
                  <a:solidFill>
                    <a:srgbClr val="FFD23B"/>
                  </a:solidFill>
                  <a:latin typeface="Calibri (MS) Bold"/>
                  <a:ea typeface="Calibri (MS) Bold"/>
                  <a:cs typeface="Calibri (MS) Bold"/>
                  <a:sym typeface="Calibri (MS) Bold"/>
                </a:rPr>
                <a:t>Terima Kasih</a:t>
              </a:r>
            </a:p>
          </p:txBody>
        </p:sp>
      </p:grpSp>
      <p:sp>
        <p:nvSpPr>
          <p:cNvPr name="TextBox 11" id="11"/>
          <p:cNvSpPr txBox="true"/>
          <p:nvPr/>
        </p:nvSpPr>
        <p:spPr>
          <a:xfrm rot="0">
            <a:off x="2057400" y="4932045"/>
            <a:ext cx="14168628" cy="1240155"/>
          </a:xfrm>
          <a:prstGeom prst="rect">
            <a:avLst/>
          </a:prstGeom>
        </p:spPr>
        <p:txBody>
          <a:bodyPr anchor="t" rtlCol="false" tIns="0" lIns="0" bIns="0" rIns="0">
            <a:spAutoFit/>
          </a:bodyPr>
          <a:lstStyle/>
          <a:p>
            <a:pPr algn="ctr">
              <a:lnSpc>
                <a:spcPts val="3060"/>
              </a:lnSpc>
            </a:pPr>
            <a:r>
              <a:rPr lang="en-US" sz="2550">
                <a:solidFill>
                  <a:srgbClr val="FFFFFF"/>
                </a:solidFill>
                <a:latin typeface="Calibri (MS)"/>
                <a:ea typeface="Calibri (MS)"/>
                <a:cs typeface="Calibri (MS)"/>
                <a:sym typeface="Calibri (MS)"/>
              </a:rPr>
              <a:t>Perancangan Aplikasi Simulasi Kebijakan Pariwisata Menggunakan Sistem Dinamis dengan Integrasi Data Citra Satelit</a:t>
            </a:r>
          </a:p>
        </p:txBody>
      </p:sp>
      <p:sp>
        <p:nvSpPr>
          <p:cNvPr name="TextBox 12" id="12"/>
          <p:cNvSpPr txBox="true"/>
          <p:nvPr/>
        </p:nvSpPr>
        <p:spPr>
          <a:xfrm rot="0">
            <a:off x="822960" y="6275070"/>
            <a:ext cx="16637508" cy="720090"/>
          </a:xfrm>
          <a:prstGeom prst="rect">
            <a:avLst/>
          </a:prstGeom>
        </p:spPr>
        <p:txBody>
          <a:bodyPr anchor="t" rtlCol="false" tIns="0" lIns="0" bIns="0" rIns="0">
            <a:spAutoFit/>
          </a:bodyPr>
          <a:lstStyle/>
          <a:p>
            <a:pPr algn="ctr">
              <a:lnSpc>
                <a:spcPts val="2700"/>
              </a:lnSpc>
            </a:pPr>
            <a:r>
              <a:rPr lang="en-US" sz="2250" b="true">
                <a:solidFill>
                  <a:srgbClr val="FFFFFF"/>
                </a:solidFill>
                <a:latin typeface="Calibri (MS) Bold"/>
                <a:ea typeface="Calibri (MS) Bold"/>
                <a:cs typeface="Calibri (MS) Bold"/>
                <a:sym typeface="Calibri (MS) Bold"/>
              </a:rPr>
              <a:t>Kevin Atha Fathoni Ramadha · 222212691</a:t>
            </a:r>
          </a:p>
        </p:txBody>
      </p:sp>
      <p:grpSp>
        <p:nvGrpSpPr>
          <p:cNvPr name="Group 13" id="13"/>
          <p:cNvGrpSpPr/>
          <p:nvPr/>
        </p:nvGrpSpPr>
        <p:grpSpPr>
          <a:xfrm rot="0">
            <a:off x="6035040" y="7543800"/>
            <a:ext cx="6213348" cy="685800"/>
            <a:chOff x="0" y="0"/>
            <a:chExt cx="8284464" cy="914400"/>
          </a:xfrm>
        </p:grpSpPr>
        <p:sp>
          <p:nvSpPr>
            <p:cNvPr name="Freeform 14" id="14"/>
            <p:cNvSpPr/>
            <p:nvPr/>
          </p:nvSpPr>
          <p:spPr>
            <a:xfrm flipH="false" flipV="false" rot="0">
              <a:off x="0" y="0"/>
              <a:ext cx="8284464" cy="914400"/>
            </a:xfrm>
            <a:custGeom>
              <a:avLst/>
              <a:gdLst/>
              <a:ahLst/>
              <a:cxnLst/>
              <a:rect r="r" b="b" t="t" l="l"/>
              <a:pathLst>
                <a:path h="914400" w="8284464">
                  <a:moveTo>
                    <a:pt x="0" y="457200"/>
                  </a:moveTo>
                  <a:cubicBezTo>
                    <a:pt x="0" y="204724"/>
                    <a:pt x="204724" y="0"/>
                    <a:pt x="457200" y="0"/>
                  </a:cubicBezTo>
                  <a:lnTo>
                    <a:pt x="7827264" y="0"/>
                  </a:lnTo>
                  <a:cubicBezTo>
                    <a:pt x="8079740" y="0"/>
                    <a:pt x="8284464" y="204724"/>
                    <a:pt x="8284464" y="457200"/>
                  </a:cubicBezTo>
                  <a:cubicBezTo>
                    <a:pt x="8284464" y="709676"/>
                    <a:pt x="8079740" y="914400"/>
                    <a:pt x="7827264" y="914400"/>
                  </a:cubicBezTo>
                  <a:lnTo>
                    <a:pt x="457200" y="914400"/>
                  </a:lnTo>
                  <a:cubicBezTo>
                    <a:pt x="204724" y="914400"/>
                    <a:pt x="0" y="709676"/>
                    <a:pt x="0" y="457200"/>
                  </a:cubicBezTo>
                  <a:close/>
                </a:path>
              </a:pathLst>
            </a:custGeom>
            <a:solidFill>
              <a:srgbClr val="39C0D3"/>
            </a:solidFill>
          </p:spPr>
          <p:txBody>
            <a:bodyPr/>
            <a:p/>
          </p:txBody>
        </p:sp>
      </p:grpSp>
      <p:grpSp>
        <p:nvGrpSpPr>
          <p:cNvPr name="Group 15" id="15"/>
          <p:cNvGrpSpPr/>
          <p:nvPr/>
        </p:nvGrpSpPr>
        <p:grpSpPr>
          <a:xfrm rot="0">
            <a:off x="6035040" y="7543800"/>
            <a:ext cx="6213348" cy="685800"/>
            <a:chOff x="0" y="0"/>
            <a:chExt cx="8284464" cy="914400"/>
          </a:xfrm>
        </p:grpSpPr>
        <p:sp>
          <p:nvSpPr>
            <p:cNvPr name="Freeform 16" id="16"/>
            <p:cNvSpPr/>
            <p:nvPr/>
          </p:nvSpPr>
          <p:spPr>
            <a:xfrm flipH="false" flipV="false" rot="0">
              <a:off x="0" y="0"/>
              <a:ext cx="8284464" cy="914400"/>
            </a:xfrm>
            <a:custGeom>
              <a:avLst/>
              <a:gdLst/>
              <a:ahLst/>
              <a:cxnLst/>
              <a:rect r="r" b="b" t="t" l="l"/>
              <a:pathLst>
                <a:path h="914400" w="8284464">
                  <a:moveTo>
                    <a:pt x="0" y="0"/>
                  </a:moveTo>
                  <a:lnTo>
                    <a:pt x="8284464" y="0"/>
                  </a:lnTo>
                  <a:lnTo>
                    <a:pt x="8284464" y="914400"/>
                  </a:lnTo>
                  <a:lnTo>
                    <a:pt x="0" y="914400"/>
                  </a:lnTo>
                  <a:close/>
                </a:path>
              </a:pathLst>
            </a:custGeom>
            <a:blipFill>
              <a:blip r:embed="rId4">
                <a:alphaModFix amt="0"/>
              </a:blip>
              <a:stretch>
                <a:fillRect l="0" t="-126411" r="0" b="-126412"/>
              </a:stretch>
            </a:blipFill>
          </p:spPr>
          <p:txBody>
            <a:bodyPr/>
            <a:p/>
          </p:txBody>
        </p:sp>
      </p:grpSp>
      <p:grpSp>
        <p:nvGrpSpPr>
          <p:cNvPr name="Group 17" id="17"/>
          <p:cNvGrpSpPr/>
          <p:nvPr/>
        </p:nvGrpSpPr>
        <p:grpSpPr>
          <a:xfrm rot="0">
            <a:off x="6035040" y="7508081"/>
            <a:ext cx="6213348" cy="721519"/>
            <a:chOff x="0" y="0"/>
            <a:chExt cx="8284464" cy="962025"/>
          </a:xfrm>
        </p:grpSpPr>
        <p:sp>
          <p:nvSpPr>
            <p:cNvPr name="Freeform 18" id="18"/>
            <p:cNvSpPr/>
            <p:nvPr/>
          </p:nvSpPr>
          <p:spPr>
            <a:xfrm flipH="false" flipV="false" rot="0">
              <a:off x="0" y="0"/>
              <a:ext cx="8284464" cy="962025"/>
            </a:xfrm>
            <a:custGeom>
              <a:avLst/>
              <a:gdLst/>
              <a:ahLst/>
              <a:cxnLst/>
              <a:rect r="r" b="b" t="t" l="l"/>
              <a:pathLst>
                <a:path h="962025" w="8284464">
                  <a:moveTo>
                    <a:pt x="0" y="0"/>
                  </a:moveTo>
                  <a:lnTo>
                    <a:pt x="8284464" y="0"/>
                  </a:lnTo>
                  <a:lnTo>
                    <a:pt x="8284464" y="962025"/>
                  </a:lnTo>
                  <a:lnTo>
                    <a:pt x="0" y="962025"/>
                  </a:lnTo>
                  <a:close/>
                </a:path>
              </a:pathLst>
            </a:custGeom>
            <a:blipFill>
              <a:blip r:embed="rId5">
                <a:alphaModFix amt="0"/>
              </a:blip>
              <a:stretch>
                <a:fillRect l="0" t="-117677" r="0" b="-117679"/>
              </a:stretch>
            </a:blipFill>
          </p:spPr>
          <p:txBody>
            <a:bodyPr/>
            <a:p/>
          </p:txBody>
        </p:sp>
      </p:grpSp>
      <p:grpSp>
        <p:nvGrpSpPr>
          <p:cNvPr name="Group 19" id="19"/>
          <p:cNvGrpSpPr/>
          <p:nvPr/>
        </p:nvGrpSpPr>
        <p:grpSpPr>
          <a:xfrm rot="0">
            <a:off x="6035040" y="7472362"/>
            <a:ext cx="6213348" cy="757238"/>
            <a:chOff x="0" y="0"/>
            <a:chExt cx="8284464" cy="1009650"/>
          </a:xfrm>
        </p:grpSpPr>
        <p:sp>
          <p:nvSpPr>
            <p:cNvPr name="Freeform 20" id="20"/>
            <p:cNvSpPr/>
            <p:nvPr/>
          </p:nvSpPr>
          <p:spPr>
            <a:xfrm flipH="false" flipV="false" rot="0">
              <a:off x="0" y="0"/>
              <a:ext cx="8284464" cy="1009650"/>
            </a:xfrm>
            <a:custGeom>
              <a:avLst/>
              <a:gdLst/>
              <a:ahLst/>
              <a:cxnLst/>
              <a:rect r="r" b="b" t="t" l="l"/>
              <a:pathLst>
                <a:path h="1009650" w="8284464">
                  <a:moveTo>
                    <a:pt x="0" y="0"/>
                  </a:moveTo>
                  <a:lnTo>
                    <a:pt x="8284464" y="0"/>
                  </a:lnTo>
                  <a:lnTo>
                    <a:pt x="8284464" y="1009650"/>
                  </a:lnTo>
                  <a:lnTo>
                    <a:pt x="0" y="1009650"/>
                  </a:lnTo>
                  <a:close/>
                </a:path>
              </a:pathLst>
            </a:custGeom>
            <a:blipFill>
              <a:blip r:embed="rId6">
                <a:alphaModFix amt="0"/>
              </a:blip>
              <a:stretch>
                <a:fillRect l="0" t="-109880" r="0" b="-109880"/>
              </a:stretch>
            </a:blipFill>
          </p:spPr>
          <p:txBody>
            <a:bodyPr/>
            <a:p/>
          </p:txBody>
        </p:sp>
        <p:sp>
          <p:nvSpPr>
            <p:cNvPr name="TextBox 21" id="21"/>
            <p:cNvSpPr txBox="true"/>
            <p:nvPr/>
          </p:nvSpPr>
          <p:spPr>
            <a:xfrm>
              <a:off x="0" y="-47625"/>
              <a:ext cx="8284464" cy="1057275"/>
            </a:xfrm>
            <a:prstGeom prst="rect">
              <a:avLst/>
            </a:prstGeom>
          </p:spPr>
          <p:txBody>
            <a:bodyPr anchor="ctr" rtlCol="false" tIns="0" lIns="0" bIns="0" rIns="0"/>
            <a:lstStyle/>
            <a:p>
              <a:pPr algn="ctr">
                <a:lnSpc>
                  <a:spcPts val="2520"/>
                </a:lnSpc>
              </a:pPr>
              <a:r>
                <a:rPr lang="en-US" sz="2100" b="true">
                  <a:solidFill>
                    <a:srgbClr val="FFFFFF"/>
                  </a:solidFill>
                  <a:latin typeface="Calibri (MS) Bold"/>
                  <a:ea typeface="Calibri (MS) Bold"/>
                  <a:cs typeface="Calibri (MS) Bold"/>
                  <a:sym typeface="Calibri (MS) Bold"/>
                </a:rPr>
                <a:t>sistemdinamispariwisata.vercel.app</a:t>
              </a:r>
            </a:p>
          </p:txBody>
        </p:sp>
      </p:grpSp>
    </p:spTree>
  </p:cSld>
  <p:clrMapOvr>
    <a:masterClrMapping/>
  </p:clrMapOvr>
</p:sld>
</file>

<file path=ppt/slides/slide7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16666" r="0" b="-16666"/>
              </a:stretch>
            </a:blipFill>
          </p:spPr>
          <p:txBody>
            <a:bodyPr/>
            <a:p/>
          </p:txBody>
        </p:sp>
      </p:grpSp>
      <p:grpSp>
        <p:nvGrpSpPr>
          <p:cNvPr name="Group 4" id="4"/>
          <p:cNvGrpSpPr/>
          <p:nvPr/>
        </p:nvGrpSpPr>
        <p:grpSpPr>
          <a:xfrm rot="0">
            <a:off x="-192024" y="186404"/>
            <a:ext cx="2441448" cy="411480"/>
            <a:chOff x="0" y="0"/>
            <a:chExt cx="3255264" cy="548640"/>
          </a:xfrm>
        </p:grpSpPr>
        <p:sp>
          <p:nvSpPr>
            <p:cNvPr name="Freeform 5" id="5"/>
            <p:cNvSpPr/>
            <p:nvPr/>
          </p:nvSpPr>
          <p:spPr>
            <a:xfrm flipH="false" flipV="false" rot="0">
              <a:off x="0" y="0"/>
              <a:ext cx="3255264" cy="548640"/>
            </a:xfrm>
            <a:custGeom>
              <a:avLst/>
              <a:gdLst/>
              <a:ahLst/>
              <a:cxnLst/>
              <a:rect r="r" b="b" t="t" l="l"/>
              <a:pathLst>
                <a:path h="548640" w="3255264">
                  <a:moveTo>
                    <a:pt x="0" y="274320"/>
                  </a:moveTo>
                  <a:cubicBezTo>
                    <a:pt x="0" y="122809"/>
                    <a:pt x="122809" y="0"/>
                    <a:pt x="274320" y="0"/>
                  </a:cubicBezTo>
                  <a:lnTo>
                    <a:pt x="2980944" y="0"/>
                  </a:lnTo>
                  <a:cubicBezTo>
                    <a:pt x="3132455" y="0"/>
                    <a:pt x="3255264" y="122809"/>
                    <a:pt x="3255264" y="274320"/>
                  </a:cubicBezTo>
                  <a:cubicBezTo>
                    <a:pt x="3255264" y="425831"/>
                    <a:pt x="3132455" y="548640"/>
                    <a:pt x="2980944" y="548640"/>
                  </a:cubicBezTo>
                  <a:lnTo>
                    <a:pt x="274320" y="548640"/>
                  </a:lnTo>
                  <a:cubicBezTo>
                    <a:pt x="122809" y="548640"/>
                    <a:pt x="0" y="425831"/>
                    <a:pt x="0" y="274320"/>
                  </a:cubicBezTo>
                  <a:close/>
                </a:path>
              </a:pathLst>
            </a:custGeom>
            <a:solidFill>
              <a:srgbClr val="0B5563"/>
            </a:solidFill>
          </p:spPr>
          <p:txBody>
            <a:bodyPr/>
            <a:p/>
          </p:txBody>
        </p:sp>
      </p:grpSp>
      <p:grpSp>
        <p:nvGrpSpPr>
          <p:cNvPr name="Group 6" id="6"/>
          <p:cNvGrpSpPr/>
          <p:nvPr/>
        </p:nvGrpSpPr>
        <p:grpSpPr>
          <a:xfrm rot="0">
            <a:off x="-192024" y="186404"/>
            <a:ext cx="2441448" cy="411480"/>
            <a:chOff x="0" y="0"/>
            <a:chExt cx="3255264" cy="548640"/>
          </a:xfrm>
        </p:grpSpPr>
        <p:sp>
          <p:nvSpPr>
            <p:cNvPr name="Freeform 7" id="7"/>
            <p:cNvSpPr/>
            <p:nvPr/>
          </p:nvSpPr>
          <p:spPr>
            <a:xfrm flipH="false" flipV="false" rot="0">
              <a:off x="0" y="0"/>
              <a:ext cx="3255264" cy="548640"/>
            </a:xfrm>
            <a:custGeom>
              <a:avLst/>
              <a:gdLst/>
              <a:ahLst/>
              <a:cxnLst/>
              <a:rect r="r" b="b" t="t" l="l"/>
              <a:pathLst>
                <a:path h="548640" w="3255264">
                  <a:moveTo>
                    <a:pt x="0" y="0"/>
                  </a:moveTo>
                  <a:lnTo>
                    <a:pt x="3255264" y="0"/>
                  </a:lnTo>
                  <a:lnTo>
                    <a:pt x="3255264" y="548640"/>
                  </a:lnTo>
                  <a:lnTo>
                    <a:pt x="0" y="548640"/>
                  </a:lnTo>
                  <a:close/>
                </a:path>
              </a:pathLst>
            </a:custGeom>
            <a:blipFill>
              <a:blip r:embed="rId4">
                <a:alphaModFix amt="0"/>
              </a:blip>
              <a:stretch>
                <a:fillRect l="0" t="-65530" r="0" b="-65532"/>
              </a:stretch>
            </a:blipFill>
          </p:spPr>
          <p:txBody>
            <a:bodyPr/>
            <a:p/>
          </p:txBody>
        </p:sp>
      </p:grpSp>
      <p:grpSp>
        <p:nvGrpSpPr>
          <p:cNvPr name="Group 8" id="8"/>
          <p:cNvGrpSpPr/>
          <p:nvPr/>
        </p:nvGrpSpPr>
        <p:grpSpPr>
          <a:xfrm rot="0">
            <a:off x="-192024" y="164973"/>
            <a:ext cx="2441448" cy="432911"/>
            <a:chOff x="0" y="0"/>
            <a:chExt cx="3255264" cy="577215"/>
          </a:xfrm>
        </p:grpSpPr>
        <p:sp>
          <p:nvSpPr>
            <p:cNvPr name="Freeform 9" id="9"/>
            <p:cNvSpPr/>
            <p:nvPr/>
          </p:nvSpPr>
          <p:spPr>
            <a:xfrm flipH="false" flipV="false" rot="0">
              <a:off x="0" y="0"/>
              <a:ext cx="3255264" cy="577215"/>
            </a:xfrm>
            <a:custGeom>
              <a:avLst/>
              <a:gdLst/>
              <a:ahLst/>
              <a:cxnLst/>
              <a:rect r="r" b="b" t="t" l="l"/>
              <a:pathLst>
                <a:path h="577215" w="3255264">
                  <a:moveTo>
                    <a:pt x="0" y="0"/>
                  </a:moveTo>
                  <a:lnTo>
                    <a:pt x="3255264" y="0"/>
                  </a:lnTo>
                  <a:lnTo>
                    <a:pt x="3255264" y="577215"/>
                  </a:lnTo>
                  <a:lnTo>
                    <a:pt x="0" y="577215"/>
                  </a:lnTo>
                  <a:close/>
                </a:path>
              </a:pathLst>
            </a:custGeom>
            <a:blipFill>
              <a:blip r:embed="rId5">
                <a:alphaModFix amt="0"/>
              </a:blip>
              <a:stretch>
                <a:fillRect l="0" t="-59887" r="0" b="-59887"/>
              </a:stretch>
            </a:blipFill>
          </p:spPr>
          <p:txBody>
            <a:bodyPr/>
            <a:p/>
          </p:txBody>
        </p:sp>
        <p:sp>
          <p:nvSpPr>
            <p:cNvPr name="TextBox 10" id="10"/>
            <p:cNvSpPr txBox="true"/>
            <p:nvPr/>
          </p:nvSpPr>
          <p:spPr>
            <a:xfrm>
              <a:off x="0" y="-28575"/>
              <a:ext cx="3255264" cy="605790"/>
            </a:xfrm>
            <a:prstGeom prst="rect">
              <a:avLst/>
            </a:prstGeom>
          </p:spPr>
          <p:txBody>
            <a:bodyPr anchor="ctr" rtlCol="false" tIns="0" lIns="0" bIns="0" rIns="0"/>
            <a:lstStyle/>
            <a:p>
              <a:pPr algn="ctr">
                <a:lnSpc>
                  <a:spcPts val="1980"/>
                </a:lnSpc>
              </a:pPr>
              <a:r>
                <a:rPr lang="en-US" sz="1650" b="true">
                  <a:solidFill>
                    <a:srgbClr val="FFFFFF"/>
                  </a:solidFill>
                  <a:latin typeface="Calibri (MS) Bold"/>
                  <a:ea typeface="Calibri (MS) Bold"/>
                  <a:cs typeface="Calibri (MS) Bold"/>
                  <a:sym typeface="Calibri (MS) Bold"/>
                </a:rPr>
                <a:t>Lampiran 1</a:t>
              </a:r>
            </a:p>
          </p:txBody>
        </p:sp>
      </p:grpSp>
      <p:sp>
        <p:nvSpPr>
          <p:cNvPr name="Freeform 11" id="11"/>
          <p:cNvSpPr/>
          <p:nvPr/>
        </p:nvSpPr>
        <p:spPr>
          <a:xfrm flipH="false" flipV="false" rot="0">
            <a:off x="-516207" y="641252"/>
            <a:ext cx="11869760" cy="1116397"/>
          </a:xfrm>
          <a:custGeom>
            <a:avLst/>
            <a:gdLst/>
            <a:ahLst/>
            <a:cxnLst/>
            <a:rect r="r" b="b" t="t" l="l"/>
            <a:pathLst>
              <a:path h="1116397" w="11869760">
                <a:moveTo>
                  <a:pt x="0" y="0"/>
                </a:moveTo>
                <a:lnTo>
                  <a:pt x="11869759" y="0"/>
                </a:lnTo>
                <a:lnTo>
                  <a:pt x="11869759" y="1116396"/>
                </a:lnTo>
                <a:lnTo>
                  <a:pt x="0" y="111639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txBody>
          <a:bodyPr/>
          <a:p/>
        </p:txBody>
      </p:sp>
      <p:sp>
        <p:nvSpPr>
          <p:cNvPr name="TextBox 12" id="12"/>
          <p:cNvSpPr txBox="true"/>
          <p:nvPr/>
        </p:nvSpPr>
        <p:spPr>
          <a:xfrm rot="0">
            <a:off x="250708" y="1001582"/>
            <a:ext cx="10988421" cy="613410"/>
          </a:xfrm>
          <a:prstGeom prst="rect">
            <a:avLst/>
          </a:prstGeom>
        </p:spPr>
        <p:txBody>
          <a:bodyPr anchor="t" rtlCol="false" tIns="0" lIns="0" bIns="0" rIns="0">
            <a:spAutoFit/>
          </a:bodyPr>
          <a:lstStyle/>
          <a:p>
            <a:pPr algn="l">
              <a:lnSpc>
                <a:spcPts val="3900"/>
              </a:lnSpc>
            </a:pPr>
            <a:r>
              <a:rPr lang="en-US" sz="3900" b="true">
                <a:solidFill>
                  <a:srgbClr val="003147"/>
                </a:solidFill>
                <a:latin typeface="Calibri (MS) Bold"/>
                <a:ea typeface="Calibri (MS) Bold"/>
                <a:cs typeface="Calibri (MS) Bold"/>
                <a:sym typeface="Calibri (MS) Bold"/>
              </a:rPr>
              <a:t>Definisi Wisata, Pariwisata, dan Kebijakan Pariwisata</a:t>
            </a:r>
          </a:p>
        </p:txBody>
      </p:sp>
      <p:grpSp>
        <p:nvGrpSpPr>
          <p:cNvPr name="Group 13" id="13"/>
          <p:cNvGrpSpPr/>
          <p:nvPr/>
        </p:nvGrpSpPr>
        <p:grpSpPr>
          <a:xfrm rot="0">
            <a:off x="1028700" y="8270119"/>
            <a:ext cx="15990827" cy="819531"/>
            <a:chOff x="0" y="0"/>
            <a:chExt cx="21321103" cy="1092708"/>
          </a:xfrm>
        </p:grpSpPr>
        <p:sp>
          <p:nvSpPr>
            <p:cNvPr name="Freeform 14" id="14"/>
            <p:cNvSpPr/>
            <p:nvPr/>
          </p:nvSpPr>
          <p:spPr>
            <a:xfrm flipH="false" flipV="false" rot="0">
              <a:off x="0" y="0"/>
              <a:ext cx="21321140" cy="1092708"/>
            </a:xfrm>
            <a:custGeom>
              <a:avLst/>
              <a:gdLst/>
              <a:ahLst/>
              <a:cxnLst/>
              <a:rect r="r" b="b" t="t" l="l"/>
              <a:pathLst>
                <a:path h="1092708" w="21321140">
                  <a:moveTo>
                    <a:pt x="0" y="0"/>
                  </a:moveTo>
                  <a:lnTo>
                    <a:pt x="21321140" y="0"/>
                  </a:lnTo>
                  <a:lnTo>
                    <a:pt x="21321140" y="1092708"/>
                  </a:lnTo>
                  <a:lnTo>
                    <a:pt x="0" y="1092708"/>
                  </a:lnTo>
                  <a:lnTo>
                    <a:pt x="0" y="0"/>
                  </a:lnTo>
                  <a:close/>
                </a:path>
              </a:pathLst>
            </a:custGeom>
            <a:blipFill>
              <a:blip r:embed="rId8"/>
              <a:stretch>
                <a:fillRect l="0" t="-500" r="0" b="-500"/>
              </a:stretch>
            </a:blipFill>
          </p:spPr>
          <p:txBody>
            <a:bodyPr/>
            <a:p/>
          </p:txBody>
        </p:sp>
      </p:grpSp>
      <p:sp>
        <p:nvSpPr>
          <p:cNvPr name="Freeform 15" id="15"/>
          <p:cNvSpPr/>
          <p:nvPr/>
        </p:nvSpPr>
        <p:spPr>
          <a:xfrm flipH="false" flipV="false" rot="0">
            <a:off x="1028700" y="4400064"/>
            <a:ext cx="15990827" cy="4078929"/>
          </a:xfrm>
          <a:custGeom>
            <a:avLst/>
            <a:gdLst/>
            <a:ahLst/>
            <a:cxnLst/>
            <a:rect r="r" b="b" t="t" l="l"/>
            <a:pathLst>
              <a:path h="4078929" w="15990827">
                <a:moveTo>
                  <a:pt x="0" y="0"/>
                </a:moveTo>
                <a:lnTo>
                  <a:pt x="15990827" y="0"/>
                </a:lnTo>
                <a:lnTo>
                  <a:pt x="15990827" y="4078929"/>
                </a:lnTo>
                <a:lnTo>
                  <a:pt x="0" y="4078929"/>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txBody>
          <a:bodyPr/>
          <a:p/>
        </p:txBody>
      </p:sp>
      <p:sp>
        <p:nvSpPr>
          <p:cNvPr name="Freeform 16" id="16"/>
          <p:cNvSpPr/>
          <p:nvPr/>
        </p:nvSpPr>
        <p:spPr>
          <a:xfrm flipH="false" flipV="false" rot="0">
            <a:off x="2459260" y="2474224"/>
            <a:ext cx="2702557" cy="2797569"/>
          </a:xfrm>
          <a:custGeom>
            <a:avLst/>
            <a:gdLst/>
            <a:ahLst/>
            <a:cxnLst/>
            <a:rect r="r" b="b" t="t" l="l"/>
            <a:pathLst>
              <a:path h="2797569" w="2702557">
                <a:moveTo>
                  <a:pt x="0" y="0"/>
                </a:moveTo>
                <a:lnTo>
                  <a:pt x="2702557" y="0"/>
                </a:lnTo>
                <a:lnTo>
                  <a:pt x="2702557" y="2797568"/>
                </a:lnTo>
                <a:lnTo>
                  <a:pt x="0" y="2797568"/>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txBody>
          <a:bodyPr/>
          <a:p/>
        </p:txBody>
      </p:sp>
      <p:sp>
        <p:nvSpPr>
          <p:cNvPr name="Freeform 17" id="17"/>
          <p:cNvSpPr/>
          <p:nvPr/>
        </p:nvSpPr>
        <p:spPr>
          <a:xfrm flipH="false" flipV="false" rot="0">
            <a:off x="7792717" y="2474224"/>
            <a:ext cx="2702557" cy="2797569"/>
          </a:xfrm>
          <a:custGeom>
            <a:avLst/>
            <a:gdLst/>
            <a:ahLst/>
            <a:cxnLst/>
            <a:rect r="r" b="b" t="t" l="l"/>
            <a:pathLst>
              <a:path h="2797569" w="2702557">
                <a:moveTo>
                  <a:pt x="0" y="0"/>
                </a:moveTo>
                <a:lnTo>
                  <a:pt x="2702557" y="0"/>
                </a:lnTo>
                <a:lnTo>
                  <a:pt x="2702557" y="2797568"/>
                </a:lnTo>
                <a:lnTo>
                  <a:pt x="0" y="2797568"/>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txBody>
          <a:bodyPr/>
          <a:p/>
        </p:txBody>
      </p:sp>
      <p:sp>
        <p:nvSpPr>
          <p:cNvPr name="Freeform 18" id="18"/>
          <p:cNvSpPr/>
          <p:nvPr/>
        </p:nvSpPr>
        <p:spPr>
          <a:xfrm flipH="false" flipV="false" rot="0">
            <a:off x="13121364" y="2474224"/>
            <a:ext cx="2702557" cy="2797569"/>
          </a:xfrm>
          <a:custGeom>
            <a:avLst/>
            <a:gdLst/>
            <a:ahLst/>
            <a:cxnLst/>
            <a:rect r="r" b="b" t="t" l="l"/>
            <a:pathLst>
              <a:path h="2797569" w="2702557">
                <a:moveTo>
                  <a:pt x="0" y="0"/>
                </a:moveTo>
                <a:lnTo>
                  <a:pt x="2702557" y="0"/>
                </a:lnTo>
                <a:lnTo>
                  <a:pt x="2702557" y="2797568"/>
                </a:lnTo>
                <a:lnTo>
                  <a:pt x="0" y="2797568"/>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txBody>
          <a:bodyPr/>
          <a:p/>
        </p:txBody>
      </p:sp>
      <p:grpSp>
        <p:nvGrpSpPr>
          <p:cNvPr name="Group 19" id="19"/>
          <p:cNvGrpSpPr/>
          <p:nvPr/>
        </p:nvGrpSpPr>
        <p:grpSpPr>
          <a:xfrm rot="-5400000">
            <a:off x="4681795" y="6546409"/>
            <a:ext cx="3591239" cy="184052"/>
            <a:chOff x="0" y="0"/>
            <a:chExt cx="4788319" cy="245402"/>
          </a:xfrm>
        </p:grpSpPr>
        <p:sp>
          <p:nvSpPr>
            <p:cNvPr name="Freeform 20" id="20"/>
            <p:cNvSpPr/>
            <p:nvPr/>
          </p:nvSpPr>
          <p:spPr>
            <a:xfrm flipH="false" flipV="false" rot="0">
              <a:off x="0" y="0"/>
              <a:ext cx="4788281" cy="245364"/>
            </a:xfrm>
            <a:custGeom>
              <a:avLst/>
              <a:gdLst/>
              <a:ahLst/>
              <a:cxnLst/>
              <a:rect r="r" b="b" t="t" l="l"/>
              <a:pathLst>
                <a:path h="245364" w="4788281">
                  <a:moveTo>
                    <a:pt x="0" y="0"/>
                  </a:moveTo>
                  <a:lnTo>
                    <a:pt x="4788281" y="0"/>
                  </a:lnTo>
                  <a:lnTo>
                    <a:pt x="4788281" y="245364"/>
                  </a:lnTo>
                  <a:lnTo>
                    <a:pt x="0" y="245364"/>
                  </a:lnTo>
                  <a:lnTo>
                    <a:pt x="0" y="0"/>
                  </a:lnTo>
                  <a:close/>
                </a:path>
              </a:pathLst>
            </a:custGeom>
            <a:blipFill>
              <a:blip r:embed="rId8"/>
              <a:stretch>
                <a:fillRect l="0" t="-502" r="0" b="-517"/>
              </a:stretch>
            </a:blipFill>
          </p:spPr>
          <p:txBody>
            <a:bodyPr/>
            <a:p/>
          </p:txBody>
        </p:sp>
      </p:grpSp>
      <p:grpSp>
        <p:nvGrpSpPr>
          <p:cNvPr name="Group 21" id="21"/>
          <p:cNvGrpSpPr/>
          <p:nvPr/>
        </p:nvGrpSpPr>
        <p:grpSpPr>
          <a:xfrm rot="-5400000">
            <a:off x="10191521" y="6546409"/>
            <a:ext cx="3591239" cy="184052"/>
            <a:chOff x="0" y="0"/>
            <a:chExt cx="4788319" cy="245402"/>
          </a:xfrm>
        </p:grpSpPr>
        <p:sp>
          <p:nvSpPr>
            <p:cNvPr name="Freeform 22" id="22"/>
            <p:cNvSpPr/>
            <p:nvPr/>
          </p:nvSpPr>
          <p:spPr>
            <a:xfrm flipH="false" flipV="false" rot="0">
              <a:off x="0" y="0"/>
              <a:ext cx="4788281" cy="245364"/>
            </a:xfrm>
            <a:custGeom>
              <a:avLst/>
              <a:gdLst/>
              <a:ahLst/>
              <a:cxnLst/>
              <a:rect r="r" b="b" t="t" l="l"/>
              <a:pathLst>
                <a:path h="245364" w="4788281">
                  <a:moveTo>
                    <a:pt x="0" y="0"/>
                  </a:moveTo>
                  <a:lnTo>
                    <a:pt x="4788281" y="0"/>
                  </a:lnTo>
                  <a:lnTo>
                    <a:pt x="4788281" y="245364"/>
                  </a:lnTo>
                  <a:lnTo>
                    <a:pt x="0" y="245364"/>
                  </a:lnTo>
                  <a:lnTo>
                    <a:pt x="0" y="0"/>
                  </a:lnTo>
                  <a:close/>
                </a:path>
              </a:pathLst>
            </a:custGeom>
            <a:blipFill>
              <a:blip r:embed="rId8"/>
              <a:stretch>
                <a:fillRect l="0" t="-502" r="0" b="-517"/>
              </a:stretch>
            </a:blipFill>
          </p:spPr>
          <p:txBody>
            <a:bodyPr/>
            <a:p/>
          </p:txBody>
        </p:sp>
      </p:grpSp>
      <p:sp>
        <p:nvSpPr>
          <p:cNvPr name="Freeform 23" id="23"/>
          <p:cNvSpPr/>
          <p:nvPr/>
        </p:nvSpPr>
        <p:spPr>
          <a:xfrm flipH="false" flipV="false" rot="0">
            <a:off x="3007709" y="3097092"/>
            <a:ext cx="1605677" cy="1646844"/>
          </a:xfrm>
          <a:custGeom>
            <a:avLst/>
            <a:gdLst/>
            <a:ahLst/>
            <a:cxnLst/>
            <a:rect r="r" b="b" t="t" l="l"/>
            <a:pathLst>
              <a:path h="1646844" w="1605677">
                <a:moveTo>
                  <a:pt x="0" y="0"/>
                </a:moveTo>
                <a:lnTo>
                  <a:pt x="1605677" y="0"/>
                </a:lnTo>
                <a:lnTo>
                  <a:pt x="1605677" y="1646844"/>
                </a:lnTo>
                <a:lnTo>
                  <a:pt x="0" y="1646844"/>
                </a:lnTo>
                <a:lnTo>
                  <a:pt x="0" y="0"/>
                </a:lnTo>
                <a:close/>
              </a:path>
            </a:pathLst>
          </a:custGeom>
          <a:blipFill>
            <a:blip r:embed="rId13">
              <a:extLst>
                <a:ext uri="{96DAC541-7B7A-43D3-8B79-37D633B846F1}">
                  <asvg:svgBlip xmlns:asvg="http://schemas.microsoft.com/office/drawing/2016/SVG/main" r:embed="rId14"/>
                </a:ext>
              </a:extLst>
            </a:blip>
            <a:stretch>
              <a:fillRect l="-96" t="0" r="-96" b="0"/>
            </a:stretch>
          </a:blipFill>
        </p:spPr>
        <p:txBody>
          <a:bodyPr/>
          <a:p/>
        </p:txBody>
      </p:sp>
      <p:sp>
        <p:nvSpPr>
          <p:cNvPr name="Freeform 24" id="24"/>
          <p:cNvSpPr/>
          <p:nvPr/>
        </p:nvSpPr>
        <p:spPr>
          <a:xfrm flipH="false" flipV="false" rot="0">
            <a:off x="8284369" y="3218002"/>
            <a:ext cx="1853155" cy="1405023"/>
          </a:xfrm>
          <a:custGeom>
            <a:avLst/>
            <a:gdLst/>
            <a:ahLst/>
            <a:cxnLst/>
            <a:rect r="r" b="b" t="t" l="l"/>
            <a:pathLst>
              <a:path h="1405023" w="1853155">
                <a:moveTo>
                  <a:pt x="0" y="0"/>
                </a:moveTo>
                <a:lnTo>
                  <a:pt x="1853155" y="0"/>
                </a:lnTo>
                <a:lnTo>
                  <a:pt x="1853155" y="1405023"/>
                </a:lnTo>
                <a:lnTo>
                  <a:pt x="0" y="1405023"/>
                </a:lnTo>
                <a:lnTo>
                  <a:pt x="0" y="0"/>
                </a:lnTo>
                <a:close/>
              </a:path>
            </a:pathLst>
          </a:custGeom>
          <a:blipFill>
            <a:blip r:embed="rId15">
              <a:extLst>
                <a:ext uri="{96DAC541-7B7A-43D3-8B79-37D633B846F1}">
                  <asvg:svgBlip xmlns:asvg="http://schemas.microsoft.com/office/drawing/2016/SVG/main" r:embed="rId16"/>
                </a:ext>
              </a:extLst>
            </a:blip>
            <a:stretch>
              <a:fillRect l="0" t="-52" r="0" b="-52"/>
            </a:stretch>
          </a:blipFill>
        </p:spPr>
        <p:txBody>
          <a:bodyPr/>
          <a:p/>
        </p:txBody>
      </p:sp>
      <p:sp>
        <p:nvSpPr>
          <p:cNvPr name="Freeform 25" id="25"/>
          <p:cNvSpPr/>
          <p:nvPr/>
        </p:nvSpPr>
        <p:spPr>
          <a:xfrm flipH="false" flipV="false" rot="0">
            <a:off x="13614883" y="3062745"/>
            <a:ext cx="1715529" cy="1715529"/>
          </a:xfrm>
          <a:custGeom>
            <a:avLst/>
            <a:gdLst/>
            <a:ahLst/>
            <a:cxnLst/>
            <a:rect r="r" b="b" t="t" l="l"/>
            <a:pathLst>
              <a:path h="1715529" w="1715529">
                <a:moveTo>
                  <a:pt x="0" y="0"/>
                </a:moveTo>
                <a:lnTo>
                  <a:pt x="1715528" y="0"/>
                </a:lnTo>
                <a:lnTo>
                  <a:pt x="1715528" y="1715528"/>
                </a:lnTo>
                <a:lnTo>
                  <a:pt x="0" y="1715528"/>
                </a:lnTo>
                <a:lnTo>
                  <a:pt x="0" y="0"/>
                </a:lnTo>
                <a:close/>
              </a:path>
            </a:pathLst>
          </a:custGeom>
          <a:blipFill>
            <a:blip r:embed="rId17">
              <a:extLst>
                <a:ext uri="{96DAC541-7B7A-43D3-8B79-37D633B846F1}">
                  <asvg:svgBlip xmlns:asvg="http://schemas.microsoft.com/office/drawing/2016/SVG/main" r:embed="rId18"/>
                </a:ext>
              </a:extLst>
            </a:blip>
            <a:stretch>
              <a:fillRect l="0" t="0" r="0" b="0"/>
            </a:stretch>
          </a:blipFill>
        </p:spPr>
        <p:txBody>
          <a:bodyPr/>
          <a:p/>
        </p:txBody>
      </p:sp>
      <p:sp>
        <p:nvSpPr>
          <p:cNvPr name="TextBox 26" id="26"/>
          <p:cNvSpPr txBox="true"/>
          <p:nvPr/>
        </p:nvSpPr>
        <p:spPr>
          <a:xfrm rot="0">
            <a:off x="2073050" y="5552284"/>
            <a:ext cx="3474977" cy="623097"/>
          </a:xfrm>
          <a:prstGeom prst="rect">
            <a:avLst/>
          </a:prstGeom>
        </p:spPr>
        <p:txBody>
          <a:bodyPr anchor="t" rtlCol="false" tIns="0" lIns="0" bIns="0" rIns="0">
            <a:spAutoFit/>
          </a:bodyPr>
          <a:lstStyle/>
          <a:p>
            <a:pPr algn="ctr">
              <a:lnSpc>
                <a:spcPts val="3999"/>
              </a:lnSpc>
            </a:pPr>
            <a:r>
              <a:rPr lang="en-US" sz="3999" b="true">
                <a:solidFill>
                  <a:srgbClr val="FFFFFF"/>
                </a:solidFill>
                <a:latin typeface="Calibri (MS) Bold"/>
                <a:ea typeface="Calibri (MS) Bold"/>
                <a:cs typeface="Calibri (MS) Bold"/>
                <a:sym typeface="Calibri (MS) Bold"/>
              </a:rPr>
              <a:t>Wisata</a:t>
            </a:r>
          </a:p>
        </p:txBody>
      </p:sp>
      <p:sp>
        <p:nvSpPr>
          <p:cNvPr name="TextBox 27" id="27"/>
          <p:cNvSpPr txBox="true"/>
          <p:nvPr/>
        </p:nvSpPr>
        <p:spPr>
          <a:xfrm rot="0">
            <a:off x="7049414" y="5552284"/>
            <a:ext cx="4180561" cy="623097"/>
          </a:xfrm>
          <a:prstGeom prst="rect">
            <a:avLst/>
          </a:prstGeom>
        </p:spPr>
        <p:txBody>
          <a:bodyPr anchor="t" rtlCol="false" tIns="0" lIns="0" bIns="0" rIns="0">
            <a:spAutoFit/>
          </a:bodyPr>
          <a:lstStyle/>
          <a:p>
            <a:pPr algn="ctr">
              <a:lnSpc>
                <a:spcPts val="3999"/>
              </a:lnSpc>
            </a:pPr>
            <a:r>
              <a:rPr lang="en-US" sz="3999" b="true">
                <a:solidFill>
                  <a:srgbClr val="FFFFFF"/>
                </a:solidFill>
                <a:latin typeface="Calibri (MS) Bold"/>
                <a:ea typeface="Calibri (MS) Bold"/>
                <a:cs typeface="Calibri (MS) Bold"/>
                <a:sym typeface="Calibri (MS) Bold"/>
              </a:rPr>
              <a:t>Pariwisata</a:t>
            </a:r>
          </a:p>
        </p:txBody>
      </p:sp>
      <p:sp>
        <p:nvSpPr>
          <p:cNvPr name="TextBox 28" id="28"/>
          <p:cNvSpPr txBox="true"/>
          <p:nvPr/>
        </p:nvSpPr>
        <p:spPr>
          <a:xfrm rot="0">
            <a:off x="12740507" y="5299872"/>
            <a:ext cx="3474977" cy="1127922"/>
          </a:xfrm>
          <a:prstGeom prst="rect">
            <a:avLst/>
          </a:prstGeom>
        </p:spPr>
        <p:txBody>
          <a:bodyPr anchor="t" rtlCol="false" tIns="0" lIns="0" bIns="0" rIns="0">
            <a:spAutoFit/>
          </a:bodyPr>
          <a:lstStyle/>
          <a:p>
            <a:pPr algn="ctr">
              <a:lnSpc>
                <a:spcPts val="3999"/>
              </a:lnSpc>
            </a:pPr>
            <a:r>
              <a:rPr lang="en-US" sz="3999" b="true">
                <a:solidFill>
                  <a:srgbClr val="FFFFFF"/>
                </a:solidFill>
                <a:latin typeface="Calibri (MS) Bold"/>
                <a:ea typeface="Calibri (MS) Bold"/>
                <a:cs typeface="Calibri (MS) Bold"/>
                <a:sym typeface="Calibri (MS) Bold"/>
              </a:rPr>
              <a:t>Kebijakan Pariwisata</a:t>
            </a:r>
          </a:p>
        </p:txBody>
      </p:sp>
      <p:sp>
        <p:nvSpPr>
          <p:cNvPr name="TextBox 29" id="29"/>
          <p:cNvSpPr txBox="true"/>
          <p:nvPr/>
        </p:nvSpPr>
        <p:spPr>
          <a:xfrm rot="0">
            <a:off x="1715691" y="6339192"/>
            <a:ext cx="4189705" cy="1139828"/>
          </a:xfrm>
          <a:prstGeom prst="rect">
            <a:avLst/>
          </a:prstGeom>
        </p:spPr>
        <p:txBody>
          <a:bodyPr anchor="t" rtlCol="false" tIns="0" lIns="0" bIns="0" rIns="0">
            <a:spAutoFit/>
          </a:bodyPr>
          <a:lstStyle/>
          <a:p>
            <a:pPr algn="just">
              <a:lnSpc>
                <a:spcPts val="2800"/>
              </a:lnSpc>
            </a:pPr>
            <a:r>
              <a:rPr lang="en-US" sz="2000">
                <a:solidFill>
                  <a:srgbClr val="FFFFFF"/>
                </a:solidFill>
                <a:latin typeface="Calibri (MS)"/>
                <a:ea typeface="Calibri (MS)"/>
                <a:cs typeface="Calibri (MS)"/>
                <a:sym typeface="Calibri (MS)"/>
              </a:rPr>
              <a:t>Perjalanan sementara untuk rekreasi, pengembangan pribadi, atau mempelajari daya tarik suatu tempat.</a:t>
            </a:r>
          </a:p>
        </p:txBody>
      </p:sp>
      <p:sp>
        <p:nvSpPr>
          <p:cNvPr name="TextBox 30" id="30"/>
          <p:cNvSpPr txBox="true"/>
          <p:nvPr/>
        </p:nvSpPr>
        <p:spPr>
          <a:xfrm rot="0">
            <a:off x="7049414" y="6339192"/>
            <a:ext cx="4189705" cy="1139828"/>
          </a:xfrm>
          <a:prstGeom prst="rect">
            <a:avLst/>
          </a:prstGeom>
        </p:spPr>
        <p:txBody>
          <a:bodyPr anchor="t" rtlCol="false" tIns="0" lIns="0" bIns="0" rIns="0">
            <a:spAutoFit/>
          </a:bodyPr>
          <a:lstStyle/>
          <a:p>
            <a:pPr algn="just">
              <a:lnSpc>
                <a:spcPts val="2800"/>
              </a:lnSpc>
            </a:pPr>
            <a:r>
              <a:rPr lang="en-US" sz="2000">
                <a:solidFill>
                  <a:srgbClr val="FFFFFF"/>
                </a:solidFill>
                <a:latin typeface="Calibri (MS)"/>
                <a:ea typeface="Calibri (MS)"/>
                <a:cs typeface="Calibri (MS)"/>
                <a:sym typeface="Calibri (MS)"/>
              </a:rPr>
              <a:t>Berbagai kegiatan wisata beserta fasilitas dan layanan yang mendukungnya.</a:t>
            </a:r>
          </a:p>
        </p:txBody>
      </p:sp>
      <p:sp>
        <p:nvSpPr>
          <p:cNvPr name="TextBox 31" id="31"/>
          <p:cNvSpPr txBox="true"/>
          <p:nvPr/>
        </p:nvSpPr>
        <p:spPr>
          <a:xfrm rot="0">
            <a:off x="12383148" y="6339192"/>
            <a:ext cx="4189705" cy="1492253"/>
          </a:xfrm>
          <a:prstGeom prst="rect">
            <a:avLst/>
          </a:prstGeom>
        </p:spPr>
        <p:txBody>
          <a:bodyPr anchor="t" rtlCol="false" tIns="0" lIns="0" bIns="0" rIns="0">
            <a:spAutoFit/>
          </a:bodyPr>
          <a:lstStyle/>
          <a:p>
            <a:pPr algn="just">
              <a:lnSpc>
                <a:spcPts val="2800"/>
              </a:lnSpc>
            </a:pPr>
            <a:r>
              <a:rPr lang="en-US" sz="2000">
                <a:solidFill>
                  <a:srgbClr val="FFFFFF"/>
                </a:solidFill>
                <a:latin typeface="Calibri (MS)"/>
                <a:ea typeface="Calibri (MS)"/>
                <a:cs typeface="Calibri (MS)"/>
                <a:sym typeface="Calibri (MS)"/>
              </a:rPr>
              <a:t>Arahan pengembangan dan pengelolaan pariwisata untuk mencapai tujuan ekonomi, kesejahteraan masyarakat, dan keberlanjutan lingkungan.</a:t>
            </a:r>
          </a:p>
        </p:txBody>
      </p:sp>
      <p:grpSp>
        <p:nvGrpSpPr>
          <p:cNvPr name="Group 32" id="32"/>
          <p:cNvGrpSpPr/>
          <p:nvPr/>
        </p:nvGrpSpPr>
        <p:grpSpPr>
          <a:xfrm rot="0">
            <a:off x="822960" y="9669780"/>
            <a:ext cx="8229600" cy="411480"/>
            <a:chOff x="0" y="0"/>
            <a:chExt cx="10972800" cy="548640"/>
          </a:xfrm>
        </p:grpSpPr>
        <p:sp>
          <p:nvSpPr>
            <p:cNvPr name="Freeform 33" id="33"/>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4">
                <a:alphaModFix amt="0"/>
              </a:blip>
              <a:stretch>
                <a:fillRect l="0" t="-339430" r="0" b="-339428"/>
              </a:stretch>
            </a:blipFill>
          </p:spPr>
          <p:txBody>
            <a:bodyPr/>
            <a:p/>
          </p:txBody>
        </p:sp>
      </p:grpSp>
      <p:grpSp>
        <p:nvGrpSpPr>
          <p:cNvPr name="Group 34" id="34"/>
          <p:cNvGrpSpPr/>
          <p:nvPr/>
        </p:nvGrpSpPr>
        <p:grpSpPr>
          <a:xfrm rot="0">
            <a:off x="822960" y="9648349"/>
            <a:ext cx="8229600" cy="432911"/>
            <a:chOff x="0" y="0"/>
            <a:chExt cx="10972800" cy="577215"/>
          </a:xfrm>
        </p:grpSpPr>
        <p:sp>
          <p:nvSpPr>
            <p:cNvPr name="Freeform 35" id="35"/>
            <p:cNvSpPr/>
            <p:nvPr/>
          </p:nvSpPr>
          <p:spPr>
            <a:xfrm flipH="false" flipV="false" rot="0">
              <a:off x="0" y="0"/>
              <a:ext cx="10972800" cy="577215"/>
            </a:xfrm>
            <a:custGeom>
              <a:avLst/>
              <a:gdLst/>
              <a:ahLst/>
              <a:cxnLst/>
              <a:rect r="r" b="b" t="t" l="l"/>
              <a:pathLst>
                <a:path h="577215" w="10972800">
                  <a:moveTo>
                    <a:pt x="0" y="0"/>
                  </a:moveTo>
                  <a:lnTo>
                    <a:pt x="10972800" y="0"/>
                  </a:lnTo>
                  <a:lnTo>
                    <a:pt x="10972800" y="577215"/>
                  </a:lnTo>
                  <a:lnTo>
                    <a:pt x="0" y="577215"/>
                  </a:lnTo>
                  <a:close/>
                </a:path>
              </a:pathLst>
            </a:custGeom>
            <a:blipFill>
              <a:blip r:embed="rId5">
                <a:alphaModFix amt="0"/>
              </a:blip>
              <a:stretch>
                <a:fillRect l="0" t="-320408" r="0" b="-320408"/>
              </a:stretch>
            </a:blipFill>
          </p:spPr>
          <p:txBody>
            <a:bodyPr/>
            <a:p/>
          </p:txBody>
        </p:sp>
        <p:sp>
          <p:nvSpPr>
            <p:cNvPr name="TextBox 36" id="36"/>
            <p:cNvSpPr txBox="true"/>
            <p:nvPr/>
          </p:nvSpPr>
          <p:spPr>
            <a:xfrm>
              <a:off x="0" y="-28575"/>
              <a:ext cx="10972800" cy="605790"/>
            </a:xfrm>
            <a:prstGeom prst="rect">
              <a:avLst/>
            </a:prstGeom>
          </p:spPr>
          <p:txBody>
            <a:bodyPr anchor="ctr" rtlCol="false" tIns="0" lIns="0" bIns="0" rIns="0"/>
            <a:lstStyle/>
            <a:p>
              <a:pPr algn="l">
                <a:lnSpc>
                  <a:spcPts val="1620"/>
                </a:lnSpc>
              </a:pPr>
              <a:r>
                <a:rPr lang="en-US" sz="1350">
                  <a:solidFill>
                    <a:srgbClr val="000000"/>
                  </a:solidFill>
                  <a:latin typeface="Calibri (MS)"/>
                  <a:ea typeface="Calibri (MS)"/>
                  <a:cs typeface="Calibri (MS)"/>
                  <a:sym typeface="Calibri (MS)"/>
                </a:rPr>
                <a:t>Sidang Skripsi  ·  Politeknik Statistika STIS</a:t>
              </a:r>
            </a:p>
          </p:txBody>
        </p:sp>
      </p:grpSp>
      <p:sp>
        <p:nvSpPr>
          <p:cNvPr name="TextBox 37" id="37"/>
          <p:cNvSpPr txBox="true"/>
          <p:nvPr/>
        </p:nvSpPr>
        <p:spPr>
          <a:xfrm rot="0">
            <a:off x="1148582" y="8573510"/>
            <a:ext cx="15990827" cy="361950"/>
          </a:xfrm>
          <a:prstGeom prst="rect">
            <a:avLst/>
          </a:prstGeom>
        </p:spPr>
        <p:txBody>
          <a:bodyPr anchor="t" rtlCol="false" tIns="0" lIns="0" bIns="0" rIns="0">
            <a:spAutoFit/>
          </a:bodyPr>
          <a:lstStyle/>
          <a:p>
            <a:pPr algn="ctr">
              <a:lnSpc>
                <a:spcPts val="2250"/>
              </a:lnSpc>
            </a:pPr>
            <a:r>
              <a:rPr lang="en-US" sz="1875">
                <a:solidFill>
                  <a:srgbClr val="000000"/>
                </a:solidFill>
                <a:latin typeface="Calibri (MS)"/>
                <a:ea typeface="Calibri (MS)"/>
                <a:cs typeface="Calibri (MS)"/>
                <a:sym typeface="Calibri (MS)"/>
              </a:rPr>
              <a:t>Sumber: Undang - Undang Republik Indonesia Nomor 10 Tahun 2009 Tentang Kepariwisataan; Keller (2015); Saputra (2020)</a:t>
            </a:r>
          </a:p>
        </p:txBody>
      </p:sp>
      <p:sp>
        <p:nvSpPr>
          <p:cNvPr name="TextBox 38" id="38"/>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76</a:t>
            </a:r>
          </a:p>
        </p:txBody>
      </p:sp>
      <p:sp>
        <p:nvSpPr>
          <p:cNvPr name="TextBox 39" id="39"/>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76</a:t>
            </a:r>
          </a:p>
        </p:txBody>
      </p:sp>
    </p:spTree>
  </p:cSld>
  <p:clrMapOvr>
    <a:masterClrMapping/>
  </p:clrMapOvr>
</p:sld>
</file>

<file path=ppt/slides/slide7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2 · Nilai 35 parameter menurut jenis sumbernya</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grpSp>
        <p:nvGrpSpPr>
          <p:cNvPr name="Group 21" id="21"/>
          <p:cNvGrpSpPr/>
          <p:nvPr/>
        </p:nvGrpSpPr>
        <p:grpSpPr>
          <a:xfrm rot="0">
            <a:off x="822960" y="2331720"/>
            <a:ext cx="3154680" cy="6858000"/>
            <a:chOff x="0" y="0"/>
            <a:chExt cx="4206240" cy="9144000"/>
          </a:xfrm>
        </p:grpSpPr>
        <p:sp>
          <p:nvSpPr>
            <p:cNvPr name="Freeform 22" id="22"/>
            <p:cNvSpPr/>
            <p:nvPr/>
          </p:nvSpPr>
          <p:spPr>
            <a:xfrm flipH="false" flipV="false" rot="0">
              <a:off x="0" y="0"/>
              <a:ext cx="4206240" cy="9144000"/>
            </a:xfrm>
            <a:custGeom>
              <a:avLst/>
              <a:gdLst/>
              <a:ahLst/>
              <a:cxnLst/>
              <a:rect r="r" b="b" t="t" l="l"/>
              <a:pathLst>
                <a:path h="9144000" w="4206240">
                  <a:moveTo>
                    <a:pt x="0" y="182880"/>
                  </a:moveTo>
                  <a:cubicBezTo>
                    <a:pt x="0" y="81915"/>
                    <a:pt x="81915" y="0"/>
                    <a:pt x="182880" y="0"/>
                  </a:cubicBezTo>
                  <a:lnTo>
                    <a:pt x="4023360" y="0"/>
                  </a:lnTo>
                  <a:cubicBezTo>
                    <a:pt x="4124325" y="0"/>
                    <a:pt x="4206240" y="81915"/>
                    <a:pt x="4206240" y="182880"/>
                  </a:cubicBezTo>
                  <a:lnTo>
                    <a:pt x="4206240" y="8961120"/>
                  </a:lnTo>
                  <a:cubicBezTo>
                    <a:pt x="4206240" y="9062085"/>
                    <a:pt x="4124325" y="9144000"/>
                    <a:pt x="4023360" y="9144000"/>
                  </a:cubicBezTo>
                  <a:lnTo>
                    <a:pt x="182880" y="9144000"/>
                  </a:lnTo>
                  <a:cubicBezTo>
                    <a:pt x="81915" y="9144000"/>
                    <a:pt x="0" y="9062085"/>
                    <a:pt x="0" y="8961120"/>
                  </a:cubicBezTo>
                  <a:close/>
                </a:path>
              </a:pathLst>
            </a:custGeom>
            <a:solidFill>
              <a:srgbClr val="EAF8FA"/>
            </a:solidFill>
          </p:spPr>
          <p:txBody>
            <a:bodyPr/>
            <a:p/>
          </p:txBody>
        </p:sp>
      </p:grpSp>
      <p:sp>
        <p:nvSpPr>
          <p:cNvPr name="TextBox 23" id="23"/>
          <p:cNvSpPr txBox="true"/>
          <p:nvPr/>
        </p:nvSpPr>
        <p:spPr>
          <a:xfrm rot="0">
            <a:off x="1028700" y="2382012"/>
            <a:ext cx="2743200" cy="800100"/>
          </a:xfrm>
          <a:prstGeom prst="rect">
            <a:avLst/>
          </a:prstGeom>
        </p:spPr>
        <p:txBody>
          <a:bodyPr anchor="t" rtlCol="false" tIns="0" lIns="0" bIns="0" rIns="0">
            <a:spAutoFit/>
          </a:bodyPr>
          <a:lstStyle/>
          <a:p>
            <a:pPr algn="l">
              <a:lnSpc>
                <a:spcPts val="2430"/>
              </a:lnSpc>
            </a:pPr>
            <a:r>
              <a:rPr lang="en-US" sz="2025" b="true">
                <a:solidFill>
                  <a:srgbClr val="0B5E6E"/>
                </a:solidFill>
                <a:latin typeface="Calibri (MS) Bold"/>
                <a:ea typeface="Calibri (MS) Bold"/>
                <a:cs typeface="Calibri (MS) Bold"/>
                <a:sym typeface="Calibri (MS) Bold"/>
              </a:rPr>
              <a:t>Data statistik resmi</a:t>
            </a:r>
          </a:p>
        </p:txBody>
      </p:sp>
      <p:grpSp>
        <p:nvGrpSpPr>
          <p:cNvPr name="Group 24" id="24"/>
          <p:cNvGrpSpPr/>
          <p:nvPr/>
        </p:nvGrpSpPr>
        <p:grpSpPr>
          <a:xfrm rot="0">
            <a:off x="1028700" y="3236976"/>
            <a:ext cx="1783080" cy="384048"/>
            <a:chOff x="0" y="0"/>
            <a:chExt cx="2377440" cy="512064"/>
          </a:xfrm>
        </p:grpSpPr>
        <p:sp>
          <p:nvSpPr>
            <p:cNvPr name="Freeform 25" id="25"/>
            <p:cNvSpPr/>
            <p:nvPr/>
          </p:nvSpPr>
          <p:spPr>
            <a:xfrm flipH="false" flipV="false" rot="0">
              <a:off x="0" y="0"/>
              <a:ext cx="2377440" cy="512064"/>
            </a:xfrm>
            <a:custGeom>
              <a:avLst/>
              <a:gdLst/>
              <a:ahLst/>
              <a:cxnLst/>
              <a:rect r="r" b="b" t="t" l="l"/>
              <a:pathLst>
                <a:path h="512064" w="2377440">
                  <a:moveTo>
                    <a:pt x="0" y="256032"/>
                  </a:moveTo>
                  <a:cubicBezTo>
                    <a:pt x="0" y="114681"/>
                    <a:pt x="114681" y="0"/>
                    <a:pt x="256032" y="0"/>
                  </a:cubicBezTo>
                  <a:lnTo>
                    <a:pt x="2121408" y="0"/>
                  </a:lnTo>
                  <a:cubicBezTo>
                    <a:pt x="2262759" y="0"/>
                    <a:pt x="2377440" y="114681"/>
                    <a:pt x="2377440" y="256032"/>
                  </a:cubicBezTo>
                  <a:cubicBezTo>
                    <a:pt x="2377440" y="397383"/>
                    <a:pt x="2262759" y="512064"/>
                    <a:pt x="2121408" y="512064"/>
                  </a:cubicBezTo>
                  <a:lnTo>
                    <a:pt x="256032" y="512064"/>
                  </a:lnTo>
                  <a:cubicBezTo>
                    <a:pt x="114681" y="512064"/>
                    <a:pt x="0" y="397383"/>
                    <a:pt x="0" y="256032"/>
                  </a:cubicBezTo>
                  <a:close/>
                </a:path>
              </a:pathLst>
            </a:custGeom>
            <a:solidFill>
              <a:srgbClr val="39C0D3"/>
            </a:solidFill>
          </p:spPr>
          <p:txBody>
            <a:bodyPr/>
            <a:p/>
          </p:txBody>
        </p:sp>
      </p:grpSp>
      <p:grpSp>
        <p:nvGrpSpPr>
          <p:cNvPr name="Group 26" id="26"/>
          <p:cNvGrpSpPr/>
          <p:nvPr/>
        </p:nvGrpSpPr>
        <p:grpSpPr>
          <a:xfrm rot="0">
            <a:off x="1028700" y="3236976"/>
            <a:ext cx="1783080" cy="384048"/>
            <a:chOff x="0" y="0"/>
            <a:chExt cx="2377440" cy="512064"/>
          </a:xfrm>
        </p:grpSpPr>
        <p:sp>
          <p:nvSpPr>
            <p:cNvPr name="Freeform 27" id="27"/>
            <p:cNvSpPr/>
            <p:nvPr/>
          </p:nvSpPr>
          <p:spPr>
            <a:xfrm flipH="false" flipV="false" rot="0">
              <a:off x="0" y="0"/>
              <a:ext cx="2377440" cy="512064"/>
            </a:xfrm>
            <a:custGeom>
              <a:avLst/>
              <a:gdLst/>
              <a:ahLst/>
              <a:cxnLst/>
              <a:rect r="r" b="b" t="t" l="l"/>
              <a:pathLst>
                <a:path h="512064" w="2377440">
                  <a:moveTo>
                    <a:pt x="0" y="0"/>
                  </a:moveTo>
                  <a:lnTo>
                    <a:pt x="2377440" y="0"/>
                  </a:lnTo>
                  <a:lnTo>
                    <a:pt x="2377440" y="512064"/>
                  </a:lnTo>
                  <a:lnTo>
                    <a:pt x="0" y="512064"/>
                  </a:lnTo>
                  <a:close/>
                </a:path>
              </a:pathLst>
            </a:custGeom>
            <a:blipFill>
              <a:blip r:embed="rId4">
                <a:alphaModFix amt="0"/>
              </a:blip>
              <a:stretch>
                <a:fillRect l="0" t="-40404" r="0" b="-40401"/>
              </a:stretch>
            </a:blipFill>
          </p:spPr>
          <p:txBody>
            <a:bodyPr/>
            <a:p/>
          </p:txBody>
        </p:sp>
      </p:grpSp>
      <p:grpSp>
        <p:nvGrpSpPr>
          <p:cNvPr name="Group 28" id="28"/>
          <p:cNvGrpSpPr/>
          <p:nvPr/>
        </p:nvGrpSpPr>
        <p:grpSpPr>
          <a:xfrm rot="0">
            <a:off x="1028700" y="3208401"/>
            <a:ext cx="1783080" cy="412623"/>
            <a:chOff x="0" y="0"/>
            <a:chExt cx="2377440" cy="550164"/>
          </a:xfrm>
        </p:grpSpPr>
        <p:sp>
          <p:nvSpPr>
            <p:cNvPr name="Freeform 29" id="29"/>
            <p:cNvSpPr/>
            <p:nvPr/>
          </p:nvSpPr>
          <p:spPr>
            <a:xfrm flipH="false" flipV="false" rot="0">
              <a:off x="0" y="0"/>
              <a:ext cx="2377440" cy="550164"/>
            </a:xfrm>
            <a:custGeom>
              <a:avLst/>
              <a:gdLst/>
              <a:ahLst/>
              <a:cxnLst/>
              <a:rect r="r" b="b" t="t" l="l"/>
              <a:pathLst>
                <a:path h="550164" w="2377440">
                  <a:moveTo>
                    <a:pt x="0" y="0"/>
                  </a:moveTo>
                  <a:lnTo>
                    <a:pt x="2377440" y="0"/>
                  </a:lnTo>
                  <a:lnTo>
                    <a:pt x="2377440" y="550164"/>
                  </a:lnTo>
                  <a:lnTo>
                    <a:pt x="0" y="550164"/>
                  </a:lnTo>
                  <a:close/>
                </a:path>
              </a:pathLst>
            </a:custGeom>
            <a:blipFill>
              <a:blip r:embed="rId5">
                <a:alphaModFix amt="0"/>
              </a:blip>
              <a:stretch>
                <a:fillRect l="0" t="-34143" r="0" b="-34141"/>
              </a:stretch>
            </a:blipFill>
          </p:spPr>
          <p:txBody>
            <a:bodyPr/>
            <a:p/>
          </p:txBody>
        </p:sp>
      </p:grpSp>
      <p:grpSp>
        <p:nvGrpSpPr>
          <p:cNvPr name="Group 30" id="30"/>
          <p:cNvGrpSpPr/>
          <p:nvPr/>
        </p:nvGrpSpPr>
        <p:grpSpPr>
          <a:xfrm rot="0">
            <a:off x="1028700" y="3179826"/>
            <a:ext cx="1783080" cy="441198"/>
            <a:chOff x="0" y="0"/>
            <a:chExt cx="2377440" cy="588264"/>
          </a:xfrm>
        </p:grpSpPr>
        <p:sp>
          <p:nvSpPr>
            <p:cNvPr name="Freeform 31" id="31"/>
            <p:cNvSpPr/>
            <p:nvPr/>
          </p:nvSpPr>
          <p:spPr>
            <a:xfrm flipH="false" flipV="false" rot="0">
              <a:off x="0" y="0"/>
              <a:ext cx="2377440" cy="588264"/>
            </a:xfrm>
            <a:custGeom>
              <a:avLst/>
              <a:gdLst/>
              <a:ahLst/>
              <a:cxnLst/>
              <a:rect r="r" b="b" t="t" l="l"/>
              <a:pathLst>
                <a:path h="588264" w="2377440">
                  <a:moveTo>
                    <a:pt x="0" y="0"/>
                  </a:moveTo>
                  <a:lnTo>
                    <a:pt x="2377440" y="0"/>
                  </a:lnTo>
                  <a:lnTo>
                    <a:pt x="2377440" y="588264"/>
                  </a:lnTo>
                  <a:lnTo>
                    <a:pt x="0" y="588264"/>
                  </a:lnTo>
                  <a:close/>
                </a:path>
              </a:pathLst>
            </a:custGeom>
            <a:blipFill>
              <a:blip r:embed="rId6">
                <a:alphaModFix amt="0"/>
              </a:blip>
              <a:stretch>
                <a:fillRect l="0" t="-28747" r="0" b="-28747"/>
              </a:stretch>
            </a:blipFill>
          </p:spPr>
          <p:txBody>
            <a:bodyPr/>
            <a:p/>
          </p:txBody>
        </p:sp>
        <p:sp>
          <p:nvSpPr>
            <p:cNvPr name="TextBox 32" id="32"/>
            <p:cNvSpPr txBox="true"/>
            <p:nvPr/>
          </p:nvSpPr>
          <p:spPr>
            <a:xfrm>
              <a:off x="0" y="-38100"/>
              <a:ext cx="2377440" cy="626364"/>
            </a:xfrm>
            <a:prstGeom prst="rect">
              <a:avLst/>
            </a:prstGeom>
          </p:spPr>
          <p:txBody>
            <a:bodyPr anchor="ctr" rtlCol="false" tIns="0" lIns="0" bIns="0" rIns="0"/>
            <a:lstStyle/>
            <a:p>
              <a:pPr algn="ctr">
                <a:lnSpc>
                  <a:spcPts val="1800"/>
                </a:lnSpc>
              </a:pPr>
              <a:r>
                <a:rPr lang="en-US" sz="1500" b="true">
                  <a:solidFill>
                    <a:srgbClr val="FFFFFF"/>
                  </a:solidFill>
                  <a:latin typeface="Calibri (MS) Bold"/>
                  <a:ea typeface="Calibri (MS) Bold"/>
                  <a:cs typeface="Calibri (MS) Bold"/>
                  <a:sym typeface="Calibri (MS) Bold"/>
                </a:rPr>
                <a:t>11 parameter</a:t>
              </a:r>
            </a:p>
          </p:txBody>
        </p:sp>
      </p:grpSp>
      <p:sp>
        <p:nvSpPr>
          <p:cNvPr name="TextBox 33" id="33"/>
          <p:cNvSpPr txBox="true"/>
          <p:nvPr/>
        </p:nvSpPr>
        <p:spPr>
          <a:xfrm rot="0">
            <a:off x="1028700" y="3783330"/>
            <a:ext cx="2811780" cy="5337810"/>
          </a:xfrm>
          <a:prstGeom prst="rect">
            <a:avLst/>
          </a:prstGeom>
        </p:spPr>
        <p:txBody>
          <a:bodyPr anchor="t" rtlCol="false" tIns="0" lIns="0" bIns="0" rIns="0">
            <a:spAutoFit/>
          </a:bodyPr>
          <a:lstStyle/>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Pengeluaran/kunjungan: 0,00272 miliar Rp</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Rasio nilai tambah: 0,1531</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Rasio investasi/PDRB: 0,0488</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Proporsi menginap: 0,2058</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Lama menginap: 1,427 malam</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TPG: 2,07</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Kamar/unit: 21,4168</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Malam tersedia/kamar: 329,03</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Luas lahan: 317.036 ha</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Intensitas TK awal: 21,5366</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Kenaikan produktivitas: 0,0110</a:t>
            </a:r>
          </a:p>
        </p:txBody>
      </p:sp>
      <p:grpSp>
        <p:nvGrpSpPr>
          <p:cNvPr name="Group 34" id="34"/>
          <p:cNvGrpSpPr/>
          <p:nvPr/>
        </p:nvGrpSpPr>
        <p:grpSpPr>
          <a:xfrm rot="0">
            <a:off x="4197096" y="2331720"/>
            <a:ext cx="3154680" cy="6858000"/>
            <a:chOff x="0" y="0"/>
            <a:chExt cx="4206240" cy="9144000"/>
          </a:xfrm>
        </p:grpSpPr>
        <p:sp>
          <p:nvSpPr>
            <p:cNvPr name="Freeform 35" id="35"/>
            <p:cNvSpPr/>
            <p:nvPr/>
          </p:nvSpPr>
          <p:spPr>
            <a:xfrm flipH="false" flipV="false" rot="0">
              <a:off x="0" y="0"/>
              <a:ext cx="4206240" cy="9144000"/>
            </a:xfrm>
            <a:custGeom>
              <a:avLst/>
              <a:gdLst/>
              <a:ahLst/>
              <a:cxnLst/>
              <a:rect r="r" b="b" t="t" l="l"/>
              <a:pathLst>
                <a:path h="9144000" w="4206240">
                  <a:moveTo>
                    <a:pt x="0" y="182880"/>
                  </a:moveTo>
                  <a:cubicBezTo>
                    <a:pt x="0" y="81915"/>
                    <a:pt x="81915" y="0"/>
                    <a:pt x="182880" y="0"/>
                  </a:cubicBezTo>
                  <a:lnTo>
                    <a:pt x="4023360" y="0"/>
                  </a:lnTo>
                  <a:cubicBezTo>
                    <a:pt x="4124325" y="0"/>
                    <a:pt x="4206240" y="81915"/>
                    <a:pt x="4206240" y="182880"/>
                  </a:cubicBezTo>
                  <a:lnTo>
                    <a:pt x="4206240" y="8961120"/>
                  </a:lnTo>
                  <a:cubicBezTo>
                    <a:pt x="4206240" y="9062085"/>
                    <a:pt x="4124325" y="9144000"/>
                    <a:pt x="4023360" y="9144000"/>
                  </a:cubicBezTo>
                  <a:lnTo>
                    <a:pt x="182880" y="9144000"/>
                  </a:lnTo>
                  <a:cubicBezTo>
                    <a:pt x="81915" y="9144000"/>
                    <a:pt x="0" y="9062085"/>
                    <a:pt x="0" y="8961120"/>
                  </a:cubicBezTo>
                  <a:close/>
                </a:path>
              </a:pathLst>
            </a:custGeom>
            <a:solidFill>
              <a:srgbClr val="EAF8FA"/>
            </a:solidFill>
          </p:spPr>
          <p:txBody>
            <a:bodyPr/>
            <a:p/>
          </p:txBody>
        </p:sp>
      </p:grpSp>
      <p:sp>
        <p:nvSpPr>
          <p:cNvPr name="TextBox 36" id="36"/>
          <p:cNvSpPr txBox="true"/>
          <p:nvPr/>
        </p:nvSpPr>
        <p:spPr>
          <a:xfrm rot="0">
            <a:off x="4402836" y="2382012"/>
            <a:ext cx="2743200" cy="800100"/>
          </a:xfrm>
          <a:prstGeom prst="rect">
            <a:avLst/>
          </a:prstGeom>
        </p:spPr>
        <p:txBody>
          <a:bodyPr anchor="t" rtlCol="false" tIns="0" lIns="0" bIns="0" rIns="0">
            <a:spAutoFit/>
          </a:bodyPr>
          <a:lstStyle/>
          <a:p>
            <a:pPr algn="l">
              <a:lnSpc>
                <a:spcPts val="2430"/>
              </a:lnSpc>
            </a:pPr>
            <a:r>
              <a:rPr lang="en-US" sz="2025" b="true">
                <a:solidFill>
                  <a:srgbClr val="0B5E6E"/>
                </a:solidFill>
                <a:latin typeface="Calibri (MS) Bold"/>
                <a:ea typeface="Calibri (MS) Bold"/>
                <a:cs typeface="Calibri (MS) Bold"/>
                <a:sym typeface="Calibri (MS) Bold"/>
              </a:rPr>
              <a:t>Persamaan stok-aliran</a:t>
            </a:r>
          </a:p>
        </p:txBody>
      </p:sp>
      <p:grpSp>
        <p:nvGrpSpPr>
          <p:cNvPr name="Group 37" id="37"/>
          <p:cNvGrpSpPr/>
          <p:nvPr/>
        </p:nvGrpSpPr>
        <p:grpSpPr>
          <a:xfrm rot="0">
            <a:off x="4402836" y="3236976"/>
            <a:ext cx="1783080" cy="384048"/>
            <a:chOff x="0" y="0"/>
            <a:chExt cx="2377440" cy="512064"/>
          </a:xfrm>
        </p:grpSpPr>
        <p:sp>
          <p:nvSpPr>
            <p:cNvPr name="Freeform 38" id="38"/>
            <p:cNvSpPr/>
            <p:nvPr/>
          </p:nvSpPr>
          <p:spPr>
            <a:xfrm flipH="false" flipV="false" rot="0">
              <a:off x="0" y="0"/>
              <a:ext cx="2377440" cy="512064"/>
            </a:xfrm>
            <a:custGeom>
              <a:avLst/>
              <a:gdLst/>
              <a:ahLst/>
              <a:cxnLst/>
              <a:rect r="r" b="b" t="t" l="l"/>
              <a:pathLst>
                <a:path h="512064" w="2377440">
                  <a:moveTo>
                    <a:pt x="0" y="256032"/>
                  </a:moveTo>
                  <a:cubicBezTo>
                    <a:pt x="0" y="114681"/>
                    <a:pt x="114681" y="0"/>
                    <a:pt x="256032" y="0"/>
                  </a:cubicBezTo>
                  <a:lnTo>
                    <a:pt x="2121408" y="0"/>
                  </a:lnTo>
                  <a:cubicBezTo>
                    <a:pt x="2262759" y="0"/>
                    <a:pt x="2377440" y="114681"/>
                    <a:pt x="2377440" y="256032"/>
                  </a:cubicBezTo>
                  <a:cubicBezTo>
                    <a:pt x="2377440" y="397383"/>
                    <a:pt x="2262759" y="512064"/>
                    <a:pt x="2121408" y="512064"/>
                  </a:cubicBezTo>
                  <a:lnTo>
                    <a:pt x="256032" y="512064"/>
                  </a:lnTo>
                  <a:cubicBezTo>
                    <a:pt x="114681" y="512064"/>
                    <a:pt x="0" y="397383"/>
                    <a:pt x="0" y="256032"/>
                  </a:cubicBezTo>
                  <a:close/>
                </a:path>
              </a:pathLst>
            </a:custGeom>
            <a:solidFill>
              <a:srgbClr val="39C0D3"/>
            </a:solidFill>
          </p:spPr>
          <p:txBody>
            <a:bodyPr/>
            <a:p/>
          </p:txBody>
        </p:sp>
      </p:grpSp>
      <p:grpSp>
        <p:nvGrpSpPr>
          <p:cNvPr name="Group 39" id="39"/>
          <p:cNvGrpSpPr/>
          <p:nvPr/>
        </p:nvGrpSpPr>
        <p:grpSpPr>
          <a:xfrm rot="0">
            <a:off x="4402836" y="3236976"/>
            <a:ext cx="1783080" cy="384048"/>
            <a:chOff x="0" y="0"/>
            <a:chExt cx="2377440" cy="512064"/>
          </a:xfrm>
        </p:grpSpPr>
        <p:sp>
          <p:nvSpPr>
            <p:cNvPr name="Freeform 40" id="40"/>
            <p:cNvSpPr/>
            <p:nvPr/>
          </p:nvSpPr>
          <p:spPr>
            <a:xfrm flipH="false" flipV="false" rot="0">
              <a:off x="0" y="0"/>
              <a:ext cx="2377440" cy="512064"/>
            </a:xfrm>
            <a:custGeom>
              <a:avLst/>
              <a:gdLst/>
              <a:ahLst/>
              <a:cxnLst/>
              <a:rect r="r" b="b" t="t" l="l"/>
              <a:pathLst>
                <a:path h="512064" w="2377440">
                  <a:moveTo>
                    <a:pt x="0" y="0"/>
                  </a:moveTo>
                  <a:lnTo>
                    <a:pt x="2377440" y="0"/>
                  </a:lnTo>
                  <a:lnTo>
                    <a:pt x="2377440" y="512064"/>
                  </a:lnTo>
                  <a:lnTo>
                    <a:pt x="0" y="512064"/>
                  </a:lnTo>
                  <a:close/>
                </a:path>
              </a:pathLst>
            </a:custGeom>
            <a:blipFill>
              <a:blip r:embed="rId4">
                <a:alphaModFix amt="0"/>
              </a:blip>
              <a:stretch>
                <a:fillRect l="0" t="-40404" r="0" b="-40401"/>
              </a:stretch>
            </a:blipFill>
          </p:spPr>
          <p:txBody>
            <a:bodyPr/>
            <a:p/>
          </p:txBody>
        </p:sp>
      </p:grpSp>
      <p:grpSp>
        <p:nvGrpSpPr>
          <p:cNvPr name="Group 41" id="41"/>
          <p:cNvGrpSpPr/>
          <p:nvPr/>
        </p:nvGrpSpPr>
        <p:grpSpPr>
          <a:xfrm rot="0">
            <a:off x="4402836" y="3208401"/>
            <a:ext cx="1783080" cy="412623"/>
            <a:chOff x="0" y="0"/>
            <a:chExt cx="2377440" cy="550164"/>
          </a:xfrm>
        </p:grpSpPr>
        <p:sp>
          <p:nvSpPr>
            <p:cNvPr name="Freeform 42" id="42"/>
            <p:cNvSpPr/>
            <p:nvPr/>
          </p:nvSpPr>
          <p:spPr>
            <a:xfrm flipH="false" flipV="false" rot="0">
              <a:off x="0" y="0"/>
              <a:ext cx="2377440" cy="550164"/>
            </a:xfrm>
            <a:custGeom>
              <a:avLst/>
              <a:gdLst/>
              <a:ahLst/>
              <a:cxnLst/>
              <a:rect r="r" b="b" t="t" l="l"/>
              <a:pathLst>
                <a:path h="550164" w="2377440">
                  <a:moveTo>
                    <a:pt x="0" y="0"/>
                  </a:moveTo>
                  <a:lnTo>
                    <a:pt x="2377440" y="0"/>
                  </a:lnTo>
                  <a:lnTo>
                    <a:pt x="2377440" y="550164"/>
                  </a:lnTo>
                  <a:lnTo>
                    <a:pt x="0" y="550164"/>
                  </a:lnTo>
                  <a:close/>
                </a:path>
              </a:pathLst>
            </a:custGeom>
            <a:blipFill>
              <a:blip r:embed="rId5">
                <a:alphaModFix amt="0"/>
              </a:blip>
              <a:stretch>
                <a:fillRect l="0" t="-34143" r="0" b="-34141"/>
              </a:stretch>
            </a:blipFill>
          </p:spPr>
          <p:txBody>
            <a:bodyPr/>
            <a:p/>
          </p:txBody>
        </p:sp>
      </p:grpSp>
      <p:grpSp>
        <p:nvGrpSpPr>
          <p:cNvPr name="Group 43" id="43"/>
          <p:cNvGrpSpPr/>
          <p:nvPr/>
        </p:nvGrpSpPr>
        <p:grpSpPr>
          <a:xfrm rot="0">
            <a:off x="4402836" y="3179826"/>
            <a:ext cx="1783080" cy="441198"/>
            <a:chOff x="0" y="0"/>
            <a:chExt cx="2377440" cy="588264"/>
          </a:xfrm>
        </p:grpSpPr>
        <p:sp>
          <p:nvSpPr>
            <p:cNvPr name="Freeform 44" id="44"/>
            <p:cNvSpPr/>
            <p:nvPr/>
          </p:nvSpPr>
          <p:spPr>
            <a:xfrm flipH="false" flipV="false" rot="0">
              <a:off x="0" y="0"/>
              <a:ext cx="2377440" cy="588264"/>
            </a:xfrm>
            <a:custGeom>
              <a:avLst/>
              <a:gdLst/>
              <a:ahLst/>
              <a:cxnLst/>
              <a:rect r="r" b="b" t="t" l="l"/>
              <a:pathLst>
                <a:path h="588264" w="2377440">
                  <a:moveTo>
                    <a:pt x="0" y="0"/>
                  </a:moveTo>
                  <a:lnTo>
                    <a:pt x="2377440" y="0"/>
                  </a:lnTo>
                  <a:lnTo>
                    <a:pt x="2377440" y="588264"/>
                  </a:lnTo>
                  <a:lnTo>
                    <a:pt x="0" y="588264"/>
                  </a:lnTo>
                  <a:close/>
                </a:path>
              </a:pathLst>
            </a:custGeom>
            <a:blipFill>
              <a:blip r:embed="rId6">
                <a:alphaModFix amt="0"/>
              </a:blip>
              <a:stretch>
                <a:fillRect l="0" t="-28747" r="0" b="-28747"/>
              </a:stretch>
            </a:blipFill>
          </p:spPr>
          <p:txBody>
            <a:bodyPr/>
            <a:p/>
          </p:txBody>
        </p:sp>
        <p:sp>
          <p:nvSpPr>
            <p:cNvPr name="TextBox 45" id="45"/>
            <p:cNvSpPr txBox="true"/>
            <p:nvPr/>
          </p:nvSpPr>
          <p:spPr>
            <a:xfrm>
              <a:off x="0" y="-38100"/>
              <a:ext cx="2377440" cy="626364"/>
            </a:xfrm>
            <a:prstGeom prst="rect">
              <a:avLst/>
            </a:prstGeom>
          </p:spPr>
          <p:txBody>
            <a:bodyPr anchor="ctr" rtlCol="false" tIns="0" lIns="0" bIns="0" rIns="0"/>
            <a:lstStyle/>
            <a:p>
              <a:pPr algn="ctr">
                <a:lnSpc>
                  <a:spcPts val="1800"/>
                </a:lnSpc>
              </a:pPr>
              <a:r>
                <a:rPr lang="en-US" sz="1500" b="true">
                  <a:solidFill>
                    <a:srgbClr val="FFFFFF"/>
                  </a:solidFill>
                  <a:latin typeface="Calibri (MS) Bold"/>
                  <a:ea typeface="Calibri (MS) Bold"/>
                  <a:cs typeface="Calibri (MS) Bold"/>
                  <a:sym typeface="Calibri (MS) Bold"/>
                </a:rPr>
                <a:t>8 parameter</a:t>
              </a:r>
            </a:p>
          </p:txBody>
        </p:sp>
      </p:grpSp>
      <p:sp>
        <p:nvSpPr>
          <p:cNvPr name="TextBox 46" id="46"/>
          <p:cNvSpPr txBox="true"/>
          <p:nvPr/>
        </p:nvSpPr>
        <p:spPr>
          <a:xfrm rot="0">
            <a:off x="4402836" y="3783330"/>
            <a:ext cx="2811780" cy="5337810"/>
          </a:xfrm>
          <a:prstGeom prst="rect">
            <a:avLst/>
          </a:prstGeom>
        </p:spPr>
        <p:txBody>
          <a:bodyPr anchor="t" rtlCol="false" tIns="0" lIns="0" bIns="0" rIns="0">
            <a:spAutoFit/>
          </a:bodyPr>
          <a:lstStyle/>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LPE: 0,27726</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LPD: 0,207945</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Sens. konstruksi thd TPK: 2,31385</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Batas TPK: 0,275</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Sens. ODTW thd investasi: 0,010519</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Laju ODTW non-investasi: 5,4272</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Laju penutupan ODTW: 0,04993</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Laju konversi dasar: 0,0436052</a:t>
            </a:r>
          </a:p>
        </p:txBody>
      </p:sp>
      <p:grpSp>
        <p:nvGrpSpPr>
          <p:cNvPr name="Group 47" id="47"/>
          <p:cNvGrpSpPr/>
          <p:nvPr/>
        </p:nvGrpSpPr>
        <p:grpSpPr>
          <a:xfrm rot="0">
            <a:off x="7571232" y="2331720"/>
            <a:ext cx="3154680" cy="6858000"/>
            <a:chOff x="0" y="0"/>
            <a:chExt cx="4206240" cy="9144000"/>
          </a:xfrm>
        </p:grpSpPr>
        <p:sp>
          <p:nvSpPr>
            <p:cNvPr name="Freeform 48" id="48"/>
            <p:cNvSpPr/>
            <p:nvPr/>
          </p:nvSpPr>
          <p:spPr>
            <a:xfrm flipH="false" flipV="false" rot="0">
              <a:off x="0" y="0"/>
              <a:ext cx="4206240" cy="9144000"/>
            </a:xfrm>
            <a:custGeom>
              <a:avLst/>
              <a:gdLst/>
              <a:ahLst/>
              <a:cxnLst/>
              <a:rect r="r" b="b" t="t" l="l"/>
              <a:pathLst>
                <a:path h="9144000" w="4206240">
                  <a:moveTo>
                    <a:pt x="0" y="182880"/>
                  </a:moveTo>
                  <a:cubicBezTo>
                    <a:pt x="0" y="81915"/>
                    <a:pt x="81915" y="0"/>
                    <a:pt x="182880" y="0"/>
                  </a:cubicBezTo>
                  <a:lnTo>
                    <a:pt x="4023360" y="0"/>
                  </a:lnTo>
                  <a:cubicBezTo>
                    <a:pt x="4124325" y="0"/>
                    <a:pt x="4206240" y="81915"/>
                    <a:pt x="4206240" y="182880"/>
                  </a:cubicBezTo>
                  <a:lnTo>
                    <a:pt x="4206240" y="8961120"/>
                  </a:lnTo>
                  <a:cubicBezTo>
                    <a:pt x="4206240" y="9062085"/>
                    <a:pt x="4124325" y="9144000"/>
                    <a:pt x="4023360" y="9144000"/>
                  </a:cubicBezTo>
                  <a:lnTo>
                    <a:pt x="182880" y="9144000"/>
                  </a:lnTo>
                  <a:cubicBezTo>
                    <a:pt x="81915" y="9144000"/>
                    <a:pt x="0" y="9062085"/>
                    <a:pt x="0" y="8961120"/>
                  </a:cubicBezTo>
                  <a:close/>
                </a:path>
              </a:pathLst>
            </a:custGeom>
            <a:solidFill>
              <a:srgbClr val="EAF8FA"/>
            </a:solidFill>
          </p:spPr>
          <p:txBody>
            <a:bodyPr/>
            <a:p/>
          </p:txBody>
        </p:sp>
      </p:grpSp>
      <p:sp>
        <p:nvSpPr>
          <p:cNvPr name="TextBox 49" id="49"/>
          <p:cNvSpPr txBox="true"/>
          <p:nvPr/>
        </p:nvSpPr>
        <p:spPr>
          <a:xfrm rot="0">
            <a:off x="7776972" y="2382012"/>
            <a:ext cx="2743200" cy="800100"/>
          </a:xfrm>
          <a:prstGeom prst="rect">
            <a:avLst/>
          </a:prstGeom>
        </p:spPr>
        <p:txBody>
          <a:bodyPr anchor="t" rtlCol="false" tIns="0" lIns="0" bIns="0" rIns="0">
            <a:spAutoFit/>
          </a:bodyPr>
          <a:lstStyle/>
          <a:p>
            <a:pPr algn="l">
              <a:lnSpc>
                <a:spcPts val="2430"/>
              </a:lnSpc>
            </a:pPr>
            <a:r>
              <a:rPr lang="en-US" sz="2025" b="true">
                <a:solidFill>
                  <a:srgbClr val="0B5E6E"/>
                </a:solidFill>
                <a:latin typeface="Calibri (MS) Bold"/>
                <a:ea typeface="Calibri (MS) Bold"/>
                <a:cs typeface="Calibri (MS) Bold"/>
                <a:sym typeface="Calibri (MS) Bold"/>
              </a:rPr>
              <a:t>Ketentuan regulasi</a:t>
            </a:r>
          </a:p>
        </p:txBody>
      </p:sp>
      <p:grpSp>
        <p:nvGrpSpPr>
          <p:cNvPr name="Group 50" id="50"/>
          <p:cNvGrpSpPr/>
          <p:nvPr/>
        </p:nvGrpSpPr>
        <p:grpSpPr>
          <a:xfrm rot="0">
            <a:off x="7776972" y="3236976"/>
            <a:ext cx="1783080" cy="384048"/>
            <a:chOff x="0" y="0"/>
            <a:chExt cx="2377440" cy="512064"/>
          </a:xfrm>
        </p:grpSpPr>
        <p:sp>
          <p:nvSpPr>
            <p:cNvPr name="Freeform 51" id="51"/>
            <p:cNvSpPr/>
            <p:nvPr/>
          </p:nvSpPr>
          <p:spPr>
            <a:xfrm flipH="false" flipV="false" rot="0">
              <a:off x="0" y="0"/>
              <a:ext cx="2377440" cy="512064"/>
            </a:xfrm>
            <a:custGeom>
              <a:avLst/>
              <a:gdLst/>
              <a:ahLst/>
              <a:cxnLst/>
              <a:rect r="r" b="b" t="t" l="l"/>
              <a:pathLst>
                <a:path h="512064" w="2377440">
                  <a:moveTo>
                    <a:pt x="0" y="256032"/>
                  </a:moveTo>
                  <a:cubicBezTo>
                    <a:pt x="0" y="114681"/>
                    <a:pt x="114681" y="0"/>
                    <a:pt x="256032" y="0"/>
                  </a:cubicBezTo>
                  <a:lnTo>
                    <a:pt x="2121408" y="0"/>
                  </a:lnTo>
                  <a:cubicBezTo>
                    <a:pt x="2262759" y="0"/>
                    <a:pt x="2377440" y="114681"/>
                    <a:pt x="2377440" y="256032"/>
                  </a:cubicBezTo>
                  <a:cubicBezTo>
                    <a:pt x="2377440" y="397383"/>
                    <a:pt x="2262759" y="512064"/>
                    <a:pt x="2121408" y="512064"/>
                  </a:cubicBezTo>
                  <a:lnTo>
                    <a:pt x="256032" y="512064"/>
                  </a:lnTo>
                  <a:cubicBezTo>
                    <a:pt x="114681" y="512064"/>
                    <a:pt x="0" y="397383"/>
                    <a:pt x="0" y="256032"/>
                  </a:cubicBezTo>
                  <a:close/>
                </a:path>
              </a:pathLst>
            </a:custGeom>
            <a:solidFill>
              <a:srgbClr val="FFD23B"/>
            </a:solidFill>
          </p:spPr>
          <p:txBody>
            <a:bodyPr/>
            <a:p/>
          </p:txBody>
        </p:sp>
      </p:grpSp>
      <p:grpSp>
        <p:nvGrpSpPr>
          <p:cNvPr name="Group 52" id="52"/>
          <p:cNvGrpSpPr/>
          <p:nvPr/>
        </p:nvGrpSpPr>
        <p:grpSpPr>
          <a:xfrm rot="0">
            <a:off x="7776972" y="3236976"/>
            <a:ext cx="1783080" cy="384048"/>
            <a:chOff x="0" y="0"/>
            <a:chExt cx="2377440" cy="512064"/>
          </a:xfrm>
        </p:grpSpPr>
        <p:sp>
          <p:nvSpPr>
            <p:cNvPr name="Freeform 53" id="53"/>
            <p:cNvSpPr/>
            <p:nvPr/>
          </p:nvSpPr>
          <p:spPr>
            <a:xfrm flipH="false" flipV="false" rot="0">
              <a:off x="0" y="0"/>
              <a:ext cx="2377440" cy="512064"/>
            </a:xfrm>
            <a:custGeom>
              <a:avLst/>
              <a:gdLst/>
              <a:ahLst/>
              <a:cxnLst/>
              <a:rect r="r" b="b" t="t" l="l"/>
              <a:pathLst>
                <a:path h="512064" w="2377440">
                  <a:moveTo>
                    <a:pt x="0" y="0"/>
                  </a:moveTo>
                  <a:lnTo>
                    <a:pt x="2377440" y="0"/>
                  </a:lnTo>
                  <a:lnTo>
                    <a:pt x="2377440" y="512064"/>
                  </a:lnTo>
                  <a:lnTo>
                    <a:pt x="0" y="512064"/>
                  </a:lnTo>
                  <a:close/>
                </a:path>
              </a:pathLst>
            </a:custGeom>
            <a:blipFill>
              <a:blip r:embed="rId4">
                <a:alphaModFix amt="0"/>
              </a:blip>
              <a:stretch>
                <a:fillRect l="0" t="-40404" r="0" b="-40401"/>
              </a:stretch>
            </a:blipFill>
          </p:spPr>
          <p:txBody>
            <a:bodyPr/>
            <a:p/>
          </p:txBody>
        </p:sp>
      </p:grpSp>
      <p:grpSp>
        <p:nvGrpSpPr>
          <p:cNvPr name="Group 54" id="54"/>
          <p:cNvGrpSpPr/>
          <p:nvPr/>
        </p:nvGrpSpPr>
        <p:grpSpPr>
          <a:xfrm rot="0">
            <a:off x="7776972" y="3208401"/>
            <a:ext cx="1783080" cy="412623"/>
            <a:chOff x="0" y="0"/>
            <a:chExt cx="2377440" cy="550164"/>
          </a:xfrm>
        </p:grpSpPr>
        <p:sp>
          <p:nvSpPr>
            <p:cNvPr name="Freeform 55" id="55"/>
            <p:cNvSpPr/>
            <p:nvPr/>
          </p:nvSpPr>
          <p:spPr>
            <a:xfrm flipH="false" flipV="false" rot="0">
              <a:off x="0" y="0"/>
              <a:ext cx="2377440" cy="550164"/>
            </a:xfrm>
            <a:custGeom>
              <a:avLst/>
              <a:gdLst/>
              <a:ahLst/>
              <a:cxnLst/>
              <a:rect r="r" b="b" t="t" l="l"/>
              <a:pathLst>
                <a:path h="550164" w="2377440">
                  <a:moveTo>
                    <a:pt x="0" y="0"/>
                  </a:moveTo>
                  <a:lnTo>
                    <a:pt x="2377440" y="0"/>
                  </a:lnTo>
                  <a:lnTo>
                    <a:pt x="2377440" y="550164"/>
                  </a:lnTo>
                  <a:lnTo>
                    <a:pt x="0" y="550164"/>
                  </a:lnTo>
                  <a:close/>
                </a:path>
              </a:pathLst>
            </a:custGeom>
            <a:blipFill>
              <a:blip r:embed="rId5">
                <a:alphaModFix amt="0"/>
              </a:blip>
              <a:stretch>
                <a:fillRect l="0" t="-34143" r="0" b="-34141"/>
              </a:stretch>
            </a:blipFill>
          </p:spPr>
          <p:txBody>
            <a:bodyPr/>
            <a:p/>
          </p:txBody>
        </p:sp>
      </p:grpSp>
      <p:grpSp>
        <p:nvGrpSpPr>
          <p:cNvPr name="Group 56" id="56"/>
          <p:cNvGrpSpPr/>
          <p:nvPr/>
        </p:nvGrpSpPr>
        <p:grpSpPr>
          <a:xfrm rot="0">
            <a:off x="7776972" y="3179826"/>
            <a:ext cx="1783080" cy="441198"/>
            <a:chOff x="0" y="0"/>
            <a:chExt cx="2377440" cy="588264"/>
          </a:xfrm>
        </p:grpSpPr>
        <p:sp>
          <p:nvSpPr>
            <p:cNvPr name="Freeform 57" id="57"/>
            <p:cNvSpPr/>
            <p:nvPr/>
          </p:nvSpPr>
          <p:spPr>
            <a:xfrm flipH="false" flipV="false" rot="0">
              <a:off x="0" y="0"/>
              <a:ext cx="2377440" cy="588264"/>
            </a:xfrm>
            <a:custGeom>
              <a:avLst/>
              <a:gdLst/>
              <a:ahLst/>
              <a:cxnLst/>
              <a:rect r="r" b="b" t="t" l="l"/>
              <a:pathLst>
                <a:path h="588264" w="2377440">
                  <a:moveTo>
                    <a:pt x="0" y="0"/>
                  </a:moveTo>
                  <a:lnTo>
                    <a:pt x="2377440" y="0"/>
                  </a:lnTo>
                  <a:lnTo>
                    <a:pt x="2377440" y="588264"/>
                  </a:lnTo>
                  <a:lnTo>
                    <a:pt x="0" y="588264"/>
                  </a:lnTo>
                  <a:close/>
                </a:path>
              </a:pathLst>
            </a:custGeom>
            <a:blipFill>
              <a:blip r:embed="rId6">
                <a:alphaModFix amt="0"/>
              </a:blip>
              <a:stretch>
                <a:fillRect l="0" t="-28747" r="0" b="-28747"/>
              </a:stretch>
            </a:blipFill>
          </p:spPr>
          <p:txBody>
            <a:bodyPr/>
            <a:p/>
          </p:txBody>
        </p:sp>
        <p:sp>
          <p:nvSpPr>
            <p:cNvPr name="TextBox 58" id="58"/>
            <p:cNvSpPr txBox="true"/>
            <p:nvPr/>
          </p:nvSpPr>
          <p:spPr>
            <a:xfrm>
              <a:off x="0" y="-38100"/>
              <a:ext cx="2377440" cy="626364"/>
            </a:xfrm>
            <a:prstGeom prst="rect">
              <a:avLst/>
            </a:prstGeom>
          </p:spPr>
          <p:txBody>
            <a:bodyPr anchor="ctr" rtlCol="false" tIns="0" lIns="0" bIns="0" rIns="0"/>
            <a:lstStyle/>
            <a:p>
              <a:pPr algn="ctr">
                <a:lnSpc>
                  <a:spcPts val="1800"/>
                </a:lnSpc>
              </a:pPr>
              <a:r>
                <a:rPr lang="en-US" sz="1500" b="true">
                  <a:solidFill>
                    <a:srgbClr val="14313B"/>
                  </a:solidFill>
                  <a:latin typeface="Calibri (MS) Bold"/>
                  <a:ea typeface="Calibri (MS) Bold"/>
                  <a:cs typeface="Calibri (MS) Bold"/>
                  <a:sym typeface="Calibri (MS) Bold"/>
                </a:rPr>
                <a:t>2 parameter</a:t>
              </a:r>
            </a:p>
          </p:txBody>
        </p:sp>
      </p:grpSp>
      <p:sp>
        <p:nvSpPr>
          <p:cNvPr name="TextBox 59" id="59"/>
          <p:cNvSpPr txBox="true"/>
          <p:nvPr/>
        </p:nvSpPr>
        <p:spPr>
          <a:xfrm rot="0">
            <a:off x="7776972" y="3783330"/>
            <a:ext cx="2811780" cy="5337810"/>
          </a:xfrm>
          <a:prstGeom prst="rect">
            <a:avLst/>
          </a:prstGeom>
        </p:spPr>
        <p:txBody>
          <a:bodyPr anchor="t" rtlCol="false" tIns="0" lIns="0" bIns="0" rIns="0">
            <a:spAutoFit/>
          </a:bodyPr>
          <a:lstStyle/>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Laju demolisi dasar: 0,05</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Laju keluar dasar tenaga kerja: 0,03</a:t>
            </a:r>
          </a:p>
        </p:txBody>
      </p:sp>
      <p:grpSp>
        <p:nvGrpSpPr>
          <p:cNvPr name="Group 60" id="60"/>
          <p:cNvGrpSpPr/>
          <p:nvPr/>
        </p:nvGrpSpPr>
        <p:grpSpPr>
          <a:xfrm rot="0">
            <a:off x="10945368" y="2331720"/>
            <a:ext cx="3154680" cy="6858000"/>
            <a:chOff x="0" y="0"/>
            <a:chExt cx="4206240" cy="9144000"/>
          </a:xfrm>
        </p:grpSpPr>
        <p:sp>
          <p:nvSpPr>
            <p:cNvPr name="Freeform 61" id="61"/>
            <p:cNvSpPr/>
            <p:nvPr/>
          </p:nvSpPr>
          <p:spPr>
            <a:xfrm flipH="false" flipV="false" rot="0">
              <a:off x="0" y="0"/>
              <a:ext cx="4206240" cy="9144000"/>
            </a:xfrm>
            <a:custGeom>
              <a:avLst/>
              <a:gdLst/>
              <a:ahLst/>
              <a:cxnLst/>
              <a:rect r="r" b="b" t="t" l="l"/>
              <a:pathLst>
                <a:path h="9144000" w="4206240">
                  <a:moveTo>
                    <a:pt x="0" y="182880"/>
                  </a:moveTo>
                  <a:cubicBezTo>
                    <a:pt x="0" y="81915"/>
                    <a:pt x="81915" y="0"/>
                    <a:pt x="182880" y="0"/>
                  </a:cubicBezTo>
                  <a:lnTo>
                    <a:pt x="4023360" y="0"/>
                  </a:lnTo>
                  <a:cubicBezTo>
                    <a:pt x="4124325" y="0"/>
                    <a:pt x="4206240" y="81915"/>
                    <a:pt x="4206240" y="182880"/>
                  </a:cubicBezTo>
                  <a:lnTo>
                    <a:pt x="4206240" y="8961120"/>
                  </a:lnTo>
                  <a:cubicBezTo>
                    <a:pt x="4206240" y="9062085"/>
                    <a:pt x="4124325" y="9144000"/>
                    <a:pt x="4023360" y="9144000"/>
                  </a:cubicBezTo>
                  <a:lnTo>
                    <a:pt x="182880" y="9144000"/>
                  </a:lnTo>
                  <a:cubicBezTo>
                    <a:pt x="81915" y="9144000"/>
                    <a:pt x="0" y="9062085"/>
                    <a:pt x="0" y="8961120"/>
                  </a:cubicBezTo>
                  <a:close/>
                </a:path>
              </a:pathLst>
            </a:custGeom>
            <a:solidFill>
              <a:srgbClr val="EAF8FA"/>
            </a:solidFill>
          </p:spPr>
          <p:txBody>
            <a:bodyPr/>
            <a:p/>
          </p:txBody>
        </p:sp>
      </p:grpSp>
      <p:sp>
        <p:nvSpPr>
          <p:cNvPr name="TextBox 62" id="62"/>
          <p:cNvSpPr txBox="true"/>
          <p:nvPr/>
        </p:nvSpPr>
        <p:spPr>
          <a:xfrm rot="0">
            <a:off x="11151108" y="2382012"/>
            <a:ext cx="2743200" cy="800100"/>
          </a:xfrm>
          <a:prstGeom prst="rect">
            <a:avLst/>
          </a:prstGeom>
        </p:spPr>
        <p:txBody>
          <a:bodyPr anchor="t" rtlCol="false" tIns="0" lIns="0" bIns="0" rIns="0">
            <a:spAutoFit/>
          </a:bodyPr>
          <a:lstStyle/>
          <a:p>
            <a:pPr algn="l">
              <a:lnSpc>
                <a:spcPts val="2430"/>
              </a:lnSpc>
            </a:pPr>
            <a:r>
              <a:rPr lang="en-US" sz="2025" b="true">
                <a:solidFill>
                  <a:srgbClr val="0B5E6E"/>
                </a:solidFill>
                <a:latin typeface="Calibri (MS) Bold"/>
                <a:ea typeface="Calibri (MS) Bold"/>
                <a:cs typeface="Calibri (MS) Bold"/>
                <a:sym typeface="Calibri (MS) Bold"/>
              </a:rPr>
              <a:t>Asumsi pemodelan</a:t>
            </a:r>
          </a:p>
        </p:txBody>
      </p:sp>
      <p:grpSp>
        <p:nvGrpSpPr>
          <p:cNvPr name="Group 63" id="63"/>
          <p:cNvGrpSpPr/>
          <p:nvPr/>
        </p:nvGrpSpPr>
        <p:grpSpPr>
          <a:xfrm rot="0">
            <a:off x="11151108" y="3236976"/>
            <a:ext cx="1783080" cy="384048"/>
            <a:chOff x="0" y="0"/>
            <a:chExt cx="2377440" cy="512064"/>
          </a:xfrm>
        </p:grpSpPr>
        <p:sp>
          <p:nvSpPr>
            <p:cNvPr name="Freeform 64" id="64"/>
            <p:cNvSpPr/>
            <p:nvPr/>
          </p:nvSpPr>
          <p:spPr>
            <a:xfrm flipH="false" flipV="false" rot="0">
              <a:off x="0" y="0"/>
              <a:ext cx="2377440" cy="512064"/>
            </a:xfrm>
            <a:custGeom>
              <a:avLst/>
              <a:gdLst/>
              <a:ahLst/>
              <a:cxnLst/>
              <a:rect r="r" b="b" t="t" l="l"/>
              <a:pathLst>
                <a:path h="512064" w="2377440">
                  <a:moveTo>
                    <a:pt x="0" y="256032"/>
                  </a:moveTo>
                  <a:cubicBezTo>
                    <a:pt x="0" y="114681"/>
                    <a:pt x="114681" y="0"/>
                    <a:pt x="256032" y="0"/>
                  </a:cubicBezTo>
                  <a:lnTo>
                    <a:pt x="2121408" y="0"/>
                  </a:lnTo>
                  <a:cubicBezTo>
                    <a:pt x="2262759" y="0"/>
                    <a:pt x="2377440" y="114681"/>
                    <a:pt x="2377440" y="256032"/>
                  </a:cubicBezTo>
                  <a:cubicBezTo>
                    <a:pt x="2377440" y="397383"/>
                    <a:pt x="2262759" y="512064"/>
                    <a:pt x="2121408" y="512064"/>
                  </a:cubicBezTo>
                  <a:lnTo>
                    <a:pt x="256032" y="512064"/>
                  </a:lnTo>
                  <a:cubicBezTo>
                    <a:pt x="114681" y="512064"/>
                    <a:pt x="0" y="397383"/>
                    <a:pt x="0" y="256032"/>
                  </a:cubicBezTo>
                  <a:close/>
                </a:path>
              </a:pathLst>
            </a:custGeom>
            <a:solidFill>
              <a:srgbClr val="FFD23B"/>
            </a:solidFill>
          </p:spPr>
          <p:txBody>
            <a:bodyPr/>
            <a:p/>
          </p:txBody>
        </p:sp>
      </p:grpSp>
      <p:grpSp>
        <p:nvGrpSpPr>
          <p:cNvPr name="Group 65" id="65"/>
          <p:cNvGrpSpPr/>
          <p:nvPr/>
        </p:nvGrpSpPr>
        <p:grpSpPr>
          <a:xfrm rot="0">
            <a:off x="11151108" y="3236976"/>
            <a:ext cx="1783080" cy="384048"/>
            <a:chOff x="0" y="0"/>
            <a:chExt cx="2377440" cy="512064"/>
          </a:xfrm>
        </p:grpSpPr>
        <p:sp>
          <p:nvSpPr>
            <p:cNvPr name="Freeform 66" id="66"/>
            <p:cNvSpPr/>
            <p:nvPr/>
          </p:nvSpPr>
          <p:spPr>
            <a:xfrm flipH="false" flipV="false" rot="0">
              <a:off x="0" y="0"/>
              <a:ext cx="2377440" cy="512064"/>
            </a:xfrm>
            <a:custGeom>
              <a:avLst/>
              <a:gdLst/>
              <a:ahLst/>
              <a:cxnLst/>
              <a:rect r="r" b="b" t="t" l="l"/>
              <a:pathLst>
                <a:path h="512064" w="2377440">
                  <a:moveTo>
                    <a:pt x="0" y="0"/>
                  </a:moveTo>
                  <a:lnTo>
                    <a:pt x="2377440" y="0"/>
                  </a:lnTo>
                  <a:lnTo>
                    <a:pt x="2377440" y="512064"/>
                  </a:lnTo>
                  <a:lnTo>
                    <a:pt x="0" y="512064"/>
                  </a:lnTo>
                  <a:close/>
                </a:path>
              </a:pathLst>
            </a:custGeom>
            <a:blipFill>
              <a:blip r:embed="rId4">
                <a:alphaModFix amt="0"/>
              </a:blip>
              <a:stretch>
                <a:fillRect l="0" t="-40404" r="0" b="-40401"/>
              </a:stretch>
            </a:blipFill>
          </p:spPr>
          <p:txBody>
            <a:bodyPr/>
            <a:p/>
          </p:txBody>
        </p:sp>
      </p:grpSp>
      <p:grpSp>
        <p:nvGrpSpPr>
          <p:cNvPr name="Group 67" id="67"/>
          <p:cNvGrpSpPr/>
          <p:nvPr/>
        </p:nvGrpSpPr>
        <p:grpSpPr>
          <a:xfrm rot="0">
            <a:off x="11151108" y="3208401"/>
            <a:ext cx="1783080" cy="412623"/>
            <a:chOff x="0" y="0"/>
            <a:chExt cx="2377440" cy="550164"/>
          </a:xfrm>
        </p:grpSpPr>
        <p:sp>
          <p:nvSpPr>
            <p:cNvPr name="Freeform 68" id="68"/>
            <p:cNvSpPr/>
            <p:nvPr/>
          </p:nvSpPr>
          <p:spPr>
            <a:xfrm flipH="false" flipV="false" rot="0">
              <a:off x="0" y="0"/>
              <a:ext cx="2377440" cy="550164"/>
            </a:xfrm>
            <a:custGeom>
              <a:avLst/>
              <a:gdLst/>
              <a:ahLst/>
              <a:cxnLst/>
              <a:rect r="r" b="b" t="t" l="l"/>
              <a:pathLst>
                <a:path h="550164" w="2377440">
                  <a:moveTo>
                    <a:pt x="0" y="0"/>
                  </a:moveTo>
                  <a:lnTo>
                    <a:pt x="2377440" y="0"/>
                  </a:lnTo>
                  <a:lnTo>
                    <a:pt x="2377440" y="550164"/>
                  </a:lnTo>
                  <a:lnTo>
                    <a:pt x="0" y="550164"/>
                  </a:lnTo>
                  <a:close/>
                </a:path>
              </a:pathLst>
            </a:custGeom>
            <a:blipFill>
              <a:blip r:embed="rId5">
                <a:alphaModFix amt="0"/>
              </a:blip>
              <a:stretch>
                <a:fillRect l="0" t="-34143" r="0" b="-34141"/>
              </a:stretch>
            </a:blipFill>
          </p:spPr>
          <p:txBody>
            <a:bodyPr/>
            <a:p/>
          </p:txBody>
        </p:sp>
      </p:grpSp>
      <p:grpSp>
        <p:nvGrpSpPr>
          <p:cNvPr name="Group 69" id="69"/>
          <p:cNvGrpSpPr/>
          <p:nvPr/>
        </p:nvGrpSpPr>
        <p:grpSpPr>
          <a:xfrm rot="0">
            <a:off x="11151108" y="3179826"/>
            <a:ext cx="1783080" cy="441198"/>
            <a:chOff x="0" y="0"/>
            <a:chExt cx="2377440" cy="588264"/>
          </a:xfrm>
        </p:grpSpPr>
        <p:sp>
          <p:nvSpPr>
            <p:cNvPr name="Freeform 70" id="70"/>
            <p:cNvSpPr/>
            <p:nvPr/>
          </p:nvSpPr>
          <p:spPr>
            <a:xfrm flipH="false" flipV="false" rot="0">
              <a:off x="0" y="0"/>
              <a:ext cx="2377440" cy="588264"/>
            </a:xfrm>
            <a:custGeom>
              <a:avLst/>
              <a:gdLst/>
              <a:ahLst/>
              <a:cxnLst/>
              <a:rect r="r" b="b" t="t" l="l"/>
              <a:pathLst>
                <a:path h="588264" w="2377440">
                  <a:moveTo>
                    <a:pt x="0" y="0"/>
                  </a:moveTo>
                  <a:lnTo>
                    <a:pt x="2377440" y="0"/>
                  </a:lnTo>
                  <a:lnTo>
                    <a:pt x="2377440" y="588264"/>
                  </a:lnTo>
                  <a:lnTo>
                    <a:pt x="0" y="588264"/>
                  </a:lnTo>
                  <a:close/>
                </a:path>
              </a:pathLst>
            </a:custGeom>
            <a:blipFill>
              <a:blip r:embed="rId6">
                <a:alphaModFix amt="0"/>
              </a:blip>
              <a:stretch>
                <a:fillRect l="0" t="-28747" r="0" b="-28747"/>
              </a:stretch>
            </a:blipFill>
          </p:spPr>
          <p:txBody>
            <a:bodyPr/>
            <a:p/>
          </p:txBody>
        </p:sp>
        <p:sp>
          <p:nvSpPr>
            <p:cNvPr name="TextBox 71" id="71"/>
            <p:cNvSpPr txBox="true"/>
            <p:nvPr/>
          </p:nvSpPr>
          <p:spPr>
            <a:xfrm>
              <a:off x="0" y="-38100"/>
              <a:ext cx="2377440" cy="626364"/>
            </a:xfrm>
            <a:prstGeom prst="rect">
              <a:avLst/>
            </a:prstGeom>
          </p:spPr>
          <p:txBody>
            <a:bodyPr anchor="ctr" rtlCol="false" tIns="0" lIns="0" bIns="0" rIns="0"/>
            <a:lstStyle/>
            <a:p>
              <a:pPr algn="ctr">
                <a:lnSpc>
                  <a:spcPts val="1800"/>
                </a:lnSpc>
              </a:pPr>
              <a:r>
                <a:rPr lang="en-US" sz="1500" b="true">
                  <a:solidFill>
                    <a:srgbClr val="14313B"/>
                  </a:solidFill>
                  <a:latin typeface="Calibri (MS) Bold"/>
                  <a:ea typeface="Calibri (MS) Bold"/>
                  <a:cs typeface="Calibri (MS) Bold"/>
                  <a:sym typeface="Calibri (MS) Bold"/>
                </a:rPr>
                <a:t>8 parameter</a:t>
              </a:r>
            </a:p>
          </p:txBody>
        </p:sp>
      </p:grpSp>
      <p:sp>
        <p:nvSpPr>
          <p:cNvPr name="TextBox 72" id="72"/>
          <p:cNvSpPr txBox="true"/>
          <p:nvPr/>
        </p:nvSpPr>
        <p:spPr>
          <a:xfrm rot="0">
            <a:off x="11151108" y="3783330"/>
            <a:ext cx="2811780" cy="5337810"/>
          </a:xfrm>
          <a:prstGeom prst="rect">
            <a:avLst/>
          </a:prstGeom>
        </p:spPr>
        <p:txBody>
          <a:bodyPr anchor="t" rtlCol="false" tIns="0" lIns="0" bIns="0" rIns="0">
            <a:spAutoFit/>
          </a:bodyPr>
          <a:lstStyle/>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Bobot ODTW: 0,40</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Bobot kepadatan: 0,35</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Bobot daya dukung lahan: 0,25</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Elastisitas daya tarik ODTW: 0,3</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Batas maks. efek ODTW: 1,5</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Lahan per hotel: 0,1 ha</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Lahan per ODTW: 0,5 ha</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Waktu penyesuaian TK: 1 tahun</a:t>
            </a:r>
          </a:p>
        </p:txBody>
      </p:sp>
      <p:grpSp>
        <p:nvGrpSpPr>
          <p:cNvPr name="Group 73" id="73"/>
          <p:cNvGrpSpPr/>
          <p:nvPr/>
        </p:nvGrpSpPr>
        <p:grpSpPr>
          <a:xfrm rot="0">
            <a:off x="14319504" y="2331720"/>
            <a:ext cx="3154680" cy="6858000"/>
            <a:chOff x="0" y="0"/>
            <a:chExt cx="4206240" cy="9144000"/>
          </a:xfrm>
        </p:grpSpPr>
        <p:sp>
          <p:nvSpPr>
            <p:cNvPr name="Freeform 74" id="74"/>
            <p:cNvSpPr/>
            <p:nvPr/>
          </p:nvSpPr>
          <p:spPr>
            <a:xfrm flipH="false" flipV="false" rot="0">
              <a:off x="0" y="0"/>
              <a:ext cx="4206240" cy="9144000"/>
            </a:xfrm>
            <a:custGeom>
              <a:avLst/>
              <a:gdLst/>
              <a:ahLst/>
              <a:cxnLst/>
              <a:rect r="r" b="b" t="t" l="l"/>
              <a:pathLst>
                <a:path h="9144000" w="4206240">
                  <a:moveTo>
                    <a:pt x="0" y="182880"/>
                  </a:moveTo>
                  <a:cubicBezTo>
                    <a:pt x="0" y="81915"/>
                    <a:pt x="81915" y="0"/>
                    <a:pt x="182880" y="0"/>
                  </a:cubicBezTo>
                  <a:lnTo>
                    <a:pt x="4023360" y="0"/>
                  </a:lnTo>
                  <a:cubicBezTo>
                    <a:pt x="4124325" y="0"/>
                    <a:pt x="4206240" y="81915"/>
                    <a:pt x="4206240" y="182880"/>
                  </a:cubicBezTo>
                  <a:lnTo>
                    <a:pt x="4206240" y="8961120"/>
                  </a:lnTo>
                  <a:cubicBezTo>
                    <a:pt x="4206240" y="9062085"/>
                    <a:pt x="4124325" y="9144000"/>
                    <a:pt x="4023360" y="9144000"/>
                  </a:cubicBezTo>
                  <a:lnTo>
                    <a:pt x="182880" y="9144000"/>
                  </a:lnTo>
                  <a:cubicBezTo>
                    <a:pt x="81915" y="9144000"/>
                    <a:pt x="0" y="9062085"/>
                    <a:pt x="0" y="8961120"/>
                  </a:cubicBezTo>
                  <a:close/>
                </a:path>
              </a:pathLst>
            </a:custGeom>
            <a:solidFill>
              <a:srgbClr val="EAF8FA"/>
            </a:solidFill>
          </p:spPr>
          <p:txBody>
            <a:bodyPr/>
            <a:p/>
          </p:txBody>
        </p:sp>
      </p:grpSp>
      <p:sp>
        <p:nvSpPr>
          <p:cNvPr name="TextBox 75" id="75"/>
          <p:cNvSpPr txBox="true"/>
          <p:nvPr/>
        </p:nvSpPr>
        <p:spPr>
          <a:xfrm rot="0">
            <a:off x="14525244" y="2382012"/>
            <a:ext cx="2743200" cy="800100"/>
          </a:xfrm>
          <a:prstGeom prst="rect">
            <a:avLst/>
          </a:prstGeom>
        </p:spPr>
        <p:txBody>
          <a:bodyPr anchor="t" rtlCol="false" tIns="0" lIns="0" bIns="0" rIns="0">
            <a:spAutoFit/>
          </a:bodyPr>
          <a:lstStyle/>
          <a:p>
            <a:pPr algn="l">
              <a:lnSpc>
                <a:spcPts val="2430"/>
              </a:lnSpc>
            </a:pPr>
            <a:r>
              <a:rPr lang="en-US" sz="2025" b="true">
                <a:solidFill>
                  <a:srgbClr val="0B5E6E"/>
                </a:solidFill>
                <a:latin typeface="Calibri (MS) Bold"/>
                <a:ea typeface="Calibri (MS) Bold"/>
                <a:cs typeface="Calibri (MS) Bold"/>
                <a:sym typeface="Calibri (MS) Bold"/>
              </a:rPr>
              <a:t>Normalisasi &amp; kebijakan</a:t>
            </a:r>
          </a:p>
        </p:txBody>
      </p:sp>
      <p:grpSp>
        <p:nvGrpSpPr>
          <p:cNvPr name="Group 76" id="76"/>
          <p:cNvGrpSpPr/>
          <p:nvPr/>
        </p:nvGrpSpPr>
        <p:grpSpPr>
          <a:xfrm rot="0">
            <a:off x="14525244" y="3236976"/>
            <a:ext cx="1783080" cy="384048"/>
            <a:chOff x="0" y="0"/>
            <a:chExt cx="2377440" cy="512064"/>
          </a:xfrm>
        </p:grpSpPr>
        <p:sp>
          <p:nvSpPr>
            <p:cNvPr name="Freeform 77" id="77"/>
            <p:cNvSpPr/>
            <p:nvPr/>
          </p:nvSpPr>
          <p:spPr>
            <a:xfrm flipH="false" flipV="false" rot="0">
              <a:off x="0" y="0"/>
              <a:ext cx="2377440" cy="512064"/>
            </a:xfrm>
            <a:custGeom>
              <a:avLst/>
              <a:gdLst/>
              <a:ahLst/>
              <a:cxnLst/>
              <a:rect r="r" b="b" t="t" l="l"/>
              <a:pathLst>
                <a:path h="512064" w="2377440">
                  <a:moveTo>
                    <a:pt x="0" y="256032"/>
                  </a:moveTo>
                  <a:cubicBezTo>
                    <a:pt x="0" y="114681"/>
                    <a:pt x="114681" y="0"/>
                    <a:pt x="256032" y="0"/>
                  </a:cubicBezTo>
                  <a:lnTo>
                    <a:pt x="2121408" y="0"/>
                  </a:lnTo>
                  <a:cubicBezTo>
                    <a:pt x="2262759" y="0"/>
                    <a:pt x="2377440" y="114681"/>
                    <a:pt x="2377440" y="256032"/>
                  </a:cubicBezTo>
                  <a:cubicBezTo>
                    <a:pt x="2377440" y="397383"/>
                    <a:pt x="2262759" y="512064"/>
                    <a:pt x="2121408" y="512064"/>
                  </a:cubicBezTo>
                  <a:lnTo>
                    <a:pt x="256032" y="512064"/>
                  </a:lnTo>
                  <a:cubicBezTo>
                    <a:pt x="114681" y="512064"/>
                    <a:pt x="0" y="397383"/>
                    <a:pt x="0" y="256032"/>
                  </a:cubicBezTo>
                  <a:close/>
                </a:path>
              </a:pathLst>
            </a:custGeom>
            <a:solidFill>
              <a:srgbClr val="39C0D3"/>
            </a:solidFill>
          </p:spPr>
          <p:txBody>
            <a:bodyPr/>
            <a:p/>
          </p:txBody>
        </p:sp>
      </p:grpSp>
      <p:grpSp>
        <p:nvGrpSpPr>
          <p:cNvPr name="Group 78" id="78"/>
          <p:cNvGrpSpPr/>
          <p:nvPr/>
        </p:nvGrpSpPr>
        <p:grpSpPr>
          <a:xfrm rot="0">
            <a:off x="14525244" y="3236976"/>
            <a:ext cx="1783080" cy="384048"/>
            <a:chOff x="0" y="0"/>
            <a:chExt cx="2377440" cy="512064"/>
          </a:xfrm>
        </p:grpSpPr>
        <p:sp>
          <p:nvSpPr>
            <p:cNvPr name="Freeform 79" id="79"/>
            <p:cNvSpPr/>
            <p:nvPr/>
          </p:nvSpPr>
          <p:spPr>
            <a:xfrm flipH="false" flipV="false" rot="0">
              <a:off x="0" y="0"/>
              <a:ext cx="2377440" cy="512064"/>
            </a:xfrm>
            <a:custGeom>
              <a:avLst/>
              <a:gdLst/>
              <a:ahLst/>
              <a:cxnLst/>
              <a:rect r="r" b="b" t="t" l="l"/>
              <a:pathLst>
                <a:path h="512064" w="2377440">
                  <a:moveTo>
                    <a:pt x="0" y="0"/>
                  </a:moveTo>
                  <a:lnTo>
                    <a:pt x="2377440" y="0"/>
                  </a:lnTo>
                  <a:lnTo>
                    <a:pt x="2377440" y="512064"/>
                  </a:lnTo>
                  <a:lnTo>
                    <a:pt x="0" y="512064"/>
                  </a:lnTo>
                  <a:close/>
                </a:path>
              </a:pathLst>
            </a:custGeom>
            <a:blipFill>
              <a:blip r:embed="rId4">
                <a:alphaModFix amt="0"/>
              </a:blip>
              <a:stretch>
                <a:fillRect l="0" t="-40404" r="0" b="-40401"/>
              </a:stretch>
            </a:blipFill>
          </p:spPr>
          <p:txBody>
            <a:bodyPr/>
            <a:p/>
          </p:txBody>
        </p:sp>
      </p:grpSp>
      <p:grpSp>
        <p:nvGrpSpPr>
          <p:cNvPr name="Group 80" id="80"/>
          <p:cNvGrpSpPr/>
          <p:nvPr/>
        </p:nvGrpSpPr>
        <p:grpSpPr>
          <a:xfrm rot="0">
            <a:off x="14525244" y="3208401"/>
            <a:ext cx="1783080" cy="412623"/>
            <a:chOff x="0" y="0"/>
            <a:chExt cx="2377440" cy="550164"/>
          </a:xfrm>
        </p:grpSpPr>
        <p:sp>
          <p:nvSpPr>
            <p:cNvPr name="Freeform 81" id="81"/>
            <p:cNvSpPr/>
            <p:nvPr/>
          </p:nvSpPr>
          <p:spPr>
            <a:xfrm flipH="false" flipV="false" rot="0">
              <a:off x="0" y="0"/>
              <a:ext cx="2377440" cy="550164"/>
            </a:xfrm>
            <a:custGeom>
              <a:avLst/>
              <a:gdLst/>
              <a:ahLst/>
              <a:cxnLst/>
              <a:rect r="r" b="b" t="t" l="l"/>
              <a:pathLst>
                <a:path h="550164" w="2377440">
                  <a:moveTo>
                    <a:pt x="0" y="0"/>
                  </a:moveTo>
                  <a:lnTo>
                    <a:pt x="2377440" y="0"/>
                  </a:lnTo>
                  <a:lnTo>
                    <a:pt x="2377440" y="550164"/>
                  </a:lnTo>
                  <a:lnTo>
                    <a:pt x="0" y="550164"/>
                  </a:lnTo>
                  <a:close/>
                </a:path>
              </a:pathLst>
            </a:custGeom>
            <a:blipFill>
              <a:blip r:embed="rId5">
                <a:alphaModFix amt="0"/>
              </a:blip>
              <a:stretch>
                <a:fillRect l="0" t="-34143" r="0" b="-34141"/>
              </a:stretch>
            </a:blipFill>
          </p:spPr>
          <p:txBody>
            <a:bodyPr/>
            <a:p/>
          </p:txBody>
        </p:sp>
      </p:grpSp>
      <p:grpSp>
        <p:nvGrpSpPr>
          <p:cNvPr name="Group 82" id="82"/>
          <p:cNvGrpSpPr/>
          <p:nvPr/>
        </p:nvGrpSpPr>
        <p:grpSpPr>
          <a:xfrm rot="0">
            <a:off x="14525244" y="3179826"/>
            <a:ext cx="1783080" cy="441198"/>
            <a:chOff x="0" y="0"/>
            <a:chExt cx="2377440" cy="588264"/>
          </a:xfrm>
        </p:grpSpPr>
        <p:sp>
          <p:nvSpPr>
            <p:cNvPr name="Freeform 83" id="83"/>
            <p:cNvSpPr/>
            <p:nvPr/>
          </p:nvSpPr>
          <p:spPr>
            <a:xfrm flipH="false" flipV="false" rot="0">
              <a:off x="0" y="0"/>
              <a:ext cx="2377440" cy="588264"/>
            </a:xfrm>
            <a:custGeom>
              <a:avLst/>
              <a:gdLst/>
              <a:ahLst/>
              <a:cxnLst/>
              <a:rect r="r" b="b" t="t" l="l"/>
              <a:pathLst>
                <a:path h="588264" w="2377440">
                  <a:moveTo>
                    <a:pt x="0" y="0"/>
                  </a:moveTo>
                  <a:lnTo>
                    <a:pt x="2377440" y="0"/>
                  </a:lnTo>
                  <a:lnTo>
                    <a:pt x="2377440" y="588264"/>
                  </a:lnTo>
                  <a:lnTo>
                    <a:pt x="0" y="588264"/>
                  </a:lnTo>
                  <a:close/>
                </a:path>
              </a:pathLst>
            </a:custGeom>
            <a:blipFill>
              <a:blip r:embed="rId6">
                <a:alphaModFix amt="0"/>
              </a:blip>
              <a:stretch>
                <a:fillRect l="0" t="-28747" r="0" b="-28747"/>
              </a:stretch>
            </a:blipFill>
          </p:spPr>
          <p:txBody>
            <a:bodyPr/>
            <a:p/>
          </p:txBody>
        </p:sp>
        <p:sp>
          <p:nvSpPr>
            <p:cNvPr name="TextBox 84" id="84"/>
            <p:cNvSpPr txBox="true"/>
            <p:nvPr/>
          </p:nvSpPr>
          <p:spPr>
            <a:xfrm>
              <a:off x="0" y="-38100"/>
              <a:ext cx="2377440" cy="626364"/>
            </a:xfrm>
            <a:prstGeom prst="rect">
              <a:avLst/>
            </a:prstGeom>
          </p:spPr>
          <p:txBody>
            <a:bodyPr anchor="ctr" rtlCol="false" tIns="0" lIns="0" bIns="0" rIns="0"/>
            <a:lstStyle/>
            <a:p>
              <a:pPr algn="ctr">
                <a:lnSpc>
                  <a:spcPts val="1800"/>
                </a:lnSpc>
              </a:pPr>
              <a:r>
                <a:rPr lang="en-US" sz="1500" b="true">
                  <a:solidFill>
                    <a:srgbClr val="FFFFFF"/>
                  </a:solidFill>
                  <a:latin typeface="Calibri (MS) Bold"/>
                  <a:ea typeface="Calibri (MS) Bold"/>
                  <a:cs typeface="Calibri (MS) Bold"/>
                  <a:sym typeface="Calibri (MS) Bold"/>
                </a:rPr>
                <a:t>6 parameter</a:t>
              </a:r>
            </a:p>
          </p:txBody>
        </p:sp>
      </p:grpSp>
      <p:sp>
        <p:nvSpPr>
          <p:cNvPr name="TextBox 85" id="85"/>
          <p:cNvSpPr txBox="true"/>
          <p:nvPr/>
        </p:nvSpPr>
        <p:spPr>
          <a:xfrm rot="0">
            <a:off x="14525244" y="3783330"/>
            <a:ext cx="2811780" cy="5337810"/>
          </a:xfrm>
          <a:prstGeom prst="rect">
            <a:avLst/>
          </a:prstGeom>
        </p:spPr>
        <p:txBody>
          <a:bodyPr anchor="t" rtlCol="false" tIns="0" lIns="0" bIns="0" rIns="0">
            <a:spAutoFit/>
          </a:bodyPr>
          <a:lstStyle/>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ODTW referensi: 201</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Kepadatan referensi: 128,363</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RDDL referensi: 0,826425</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Tahun dasar intensitas TK: 2025</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Insentif kebijakan: 0 (BAU)</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Konservasi lahan: 0 (BAU)</a:t>
            </a:r>
          </a:p>
        </p:txBody>
      </p:sp>
      <p:sp>
        <p:nvSpPr>
          <p:cNvPr name="TextBox 86" id="86"/>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77</a:t>
            </a:r>
          </a:p>
        </p:txBody>
      </p:sp>
    </p:spTree>
  </p:cSld>
  <p:clrMapOvr>
    <a:masterClrMapping/>
  </p:clrMapOvr>
</p:sld>
</file>

<file path=ppt/slides/slide7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3 · Estimasi ODTW dengan NTL: validasi LOOCV dan selang prediksi</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21" id="21"/>
          <p:cNvSpPr txBox="true"/>
          <p:nvPr/>
        </p:nvSpPr>
        <p:spPr>
          <a:xfrm rot="0">
            <a:off x="822960" y="2188845"/>
            <a:ext cx="9326880" cy="622935"/>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ODTW aktual vs prediksi LOOCV (unit)</a:t>
            </a:r>
          </a:p>
        </p:txBody>
      </p:sp>
      <p:sp>
        <p:nvSpPr>
          <p:cNvPr name="TextBox 22" id="22"/>
          <p:cNvSpPr txBox="true"/>
          <p:nvPr/>
        </p:nvSpPr>
        <p:spPr>
          <a:xfrm rot="0">
            <a:off x="10698480" y="2188845"/>
            <a:ext cx="6761988" cy="622935"/>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Estimasi pada tahun tanpa data BPS (selang prediksi 95%)</a:t>
            </a:r>
          </a:p>
        </p:txBody>
      </p:sp>
      <p:graphicFrame>
        <p:nvGraphicFramePr>
          <p:cNvPr name="Table 23" id="23"/>
          <p:cNvGraphicFramePr>
            <a:graphicFrameLocks noGrp="true"/>
          </p:cNvGraphicFramePr>
          <p:nvPr/>
        </p:nvGraphicFramePr>
        <p:xfrm>
          <a:off x="10698480" y="2880360"/>
          <a:ext cx="6680200" cy="2857500"/>
        </p:xfrm>
        <a:graphic>
          <a:graphicData uri="http://schemas.openxmlformats.org/drawingml/2006/table">
            <a:tbl>
              <a:tblPr/>
              <a:tblGrid>
                <a:gridCol w="1096079"/>
                <a:gridCol w="1096079"/>
                <a:gridCol w="1354102"/>
                <a:gridCol w="1612125"/>
                <a:gridCol w="1521816"/>
              </a:tblGrid>
              <a:tr h="571500">
                <a:tc>
                  <a:txBody>
                    <a:bodyPr anchor="t" rtlCol="false"/>
                    <a:lstStyle/>
                    <a:p>
                      <a:pPr algn="ctr">
                        <a:lnSpc>
                          <a:spcPts val="2160"/>
                        </a:lnSpc>
                        <a:defRPr/>
                      </a:pPr>
                      <a:r>
                        <a:rPr lang="en-US" sz="1800" b="true">
                          <a:solidFill>
                            <a:srgbClr val="FFFFFF"/>
                          </a:solidFill>
                          <a:latin typeface="Calibri (MS) Bold"/>
                          <a:ea typeface="Calibri (MS) Bold"/>
                          <a:cs typeface="Calibri (MS) Bold"/>
                          <a:sym typeface="Calibri (MS) Bold"/>
                        </a:rPr>
                        <a:t>Tahun</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160"/>
                        </a:lnSpc>
                        <a:defRPr/>
                      </a:pPr>
                      <a:r>
                        <a:rPr lang="en-US" sz="1800" b="true">
                          <a:solidFill>
                            <a:srgbClr val="FFFFFF"/>
                          </a:solidFill>
                          <a:latin typeface="Calibri (MS) Bold"/>
                          <a:ea typeface="Calibri (MS) Bold"/>
                          <a:cs typeface="Calibri (MS) Bold"/>
                          <a:sym typeface="Calibri (MS) Bold"/>
                        </a:rPr>
                        <a:t>NTL</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160"/>
                        </a:lnSpc>
                        <a:defRPr/>
                      </a:pPr>
                      <a:r>
                        <a:rPr lang="en-US" sz="1800" b="true">
                          <a:solidFill>
                            <a:srgbClr val="FFFFFF"/>
                          </a:solidFill>
                          <a:latin typeface="Calibri (MS) Bold"/>
                          <a:ea typeface="Calibri (MS) Bold"/>
                          <a:cs typeface="Calibri (MS) Bold"/>
                          <a:sym typeface="Calibri (MS) Bold"/>
                        </a:rPr>
                        <a:t>Estimasi</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160"/>
                        </a:lnSpc>
                        <a:defRPr/>
                      </a:pPr>
                      <a:r>
                        <a:rPr lang="en-US" sz="1800" b="true">
                          <a:solidFill>
                            <a:srgbClr val="FFFFFF"/>
                          </a:solidFill>
                          <a:latin typeface="Calibri (MS) Bold"/>
                          <a:ea typeface="Calibri (MS) Bold"/>
                          <a:cs typeface="Calibri (MS) Bold"/>
                          <a:sym typeface="Calibri (MS) Bold"/>
                        </a:rPr>
                        <a:t>Batas bawah</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160"/>
                        </a:lnSpc>
                        <a:defRPr/>
                      </a:pPr>
                      <a:r>
                        <a:rPr lang="en-US" sz="1800" b="true">
                          <a:solidFill>
                            <a:srgbClr val="FFFFFF"/>
                          </a:solidFill>
                          <a:latin typeface="Calibri (MS) Bold"/>
                          <a:ea typeface="Calibri (MS) Bold"/>
                          <a:cs typeface="Calibri (MS) Bold"/>
                          <a:sym typeface="Calibri (MS) Bold"/>
                        </a:rPr>
                        <a:t>Batas atas</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r>
              <a:tr h="571500">
                <a:tc>
                  <a:txBody>
                    <a:bodyPr anchor="t" rtlCol="false"/>
                    <a:lstStyle/>
                    <a:p>
                      <a:pPr algn="ctr">
                        <a:lnSpc>
                          <a:spcPts val="2160"/>
                        </a:lnSpc>
                        <a:defRPr/>
                      </a:pPr>
                      <a:r>
                        <a:rPr lang="en-US" sz="1800">
                          <a:solidFill>
                            <a:srgbClr val="14313B"/>
                          </a:solidFill>
                          <a:latin typeface="Calibri (MS)"/>
                          <a:ea typeface="Calibri (MS)"/>
                          <a:cs typeface="Calibri (MS)"/>
                          <a:sym typeface="Calibri (MS)"/>
                        </a:rPr>
                        <a:t>2015</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1,262</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b="true">
                          <a:solidFill>
                            <a:srgbClr val="14313B"/>
                          </a:solidFill>
                          <a:latin typeface="Calibri (MS) Bold"/>
                          <a:ea typeface="Calibri (MS) Bold"/>
                          <a:cs typeface="Calibri (MS) Bold"/>
                          <a:sym typeface="Calibri (MS) Bold"/>
                        </a:rPr>
                        <a:t>165,2</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138,5</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191,9</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ctr">
                        <a:lnSpc>
                          <a:spcPts val="2160"/>
                        </a:lnSpc>
                        <a:defRPr/>
                      </a:pPr>
                      <a:r>
                        <a:rPr lang="en-US" sz="1800">
                          <a:solidFill>
                            <a:srgbClr val="14313B"/>
                          </a:solidFill>
                          <a:latin typeface="Calibri (MS)"/>
                          <a:ea typeface="Calibri (MS)"/>
                          <a:cs typeface="Calibri (MS)"/>
                          <a:sym typeface="Calibri (MS)"/>
                        </a:rPr>
                        <a:t>2016</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1,054</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b="true">
                          <a:solidFill>
                            <a:srgbClr val="14313B"/>
                          </a:solidFill>
                          <a:latin typeface="Calibri (MS) Bold"/>
                          <a:ea typeface="Calibri (MS) Bold"/>
                          <a:cs typeface="Calibri (MS) Bold"/>
                          <a:sym typeface="Calibri (MS) Bold"/>
                        </a:rPr>
                        <a:t>158,1</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128,9</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187,3</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ctr">
                        <a:lnSpc>
                          <a:spcPts val="2160"/>
                        </a:lnSpc>
                        <a:defRPr/>
                      </a:pPr>
                      <a:r>
                        <a:rPr lang="en-US" sz="1800">
                          <a:solidFill>
                            <a:srgbClr val="14313B"/>
                          </a:solidFill>
                          <a:latin typeface="Calibri (MS)"/>
                          <a:ea typeface="Calibri (MS)"/>
                          <a:cs typeface="Calibri (MS)"/>
                          <a:sym typeface="Calibri (MS)"/>
                        </a:rPr>
                        <a:t>2017</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1,438</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b="true">
                          <a:solidFill>
                            <a:srgbClr val="14313B"/>
                          </a:solidFill>
                          <a:latin typeface="Calibri (MS) Bold"/>
                          <a:ea typeface="Calibri (MS) Bold"/>
                          <a:cs typeface="Calibri (MS) Bold"/>
                          <a:sym typeface="Calibri (MS) Bold"/>
                        </a:rPr>
                        <a:t>171,4</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146,4</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196,3</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ctr">
                        <a:lnSpc>
                          <a:spcPts val="2160"/>
                        </a:lnSpc>
                        <a:defRPr/>
                      </a:pPr>
                      <a:r>
                        <a:rPr lang="en-US" sz="1800">
                          <a:solidFill>
                            <a:srgbClr val="14313B"/>
                          </a:solidFill>
                          <a:latin typeface="Calibri (MS)"/>
                          <a:ea typeface="Calibri (MS)"/>
                          <a:cs typeface="Calibri (MS)"/>
                          <a:sym typeface="Calibri (MS)"/>
                        </a:rPr>
                        <a:t>2025</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2,288</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b="true">
                          <a:solidFill>
                            <a:srgbClr val="14313B"/>
                          </a:solidFill>
                          <a:latin typeface="Calibri (MS) Bold"/>
                          <a:ea typeface="Calibri (MS) Bold"/>
                          <a:cs typeface="Calibri (MS) Bold"/>
                          <a:sym typeface="Calibri (MS) Bold"/>
                        </a:rPr>
                        <a:t>200,7</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176,7</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224,8</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bl>
          </a:graphicData>
        </a:graphic>
      </p:graphicFrame>
      <p:grpSp>
        <p:nvGrpSpPr>
          <p:cNvPr name="Group 24" id="24"/>
          <p:cNvGrpSpPr/>
          <p:nvPr/>
        </p:nvGrpSpPr>
        <p:grpSpPr>
          <a:xfrm rot="0">
            <a:off x="10698480" y="6103620"/>
            <a:ext cx="6761988" cy="3017520"/>
            <a:chOff x="0" y="0"/>
            <a:chExt cx="9015984" cy="4023360"/>
          </a:xfrm>
        </p:grpSpPr>
        <p:sp>
          <p:nvSpPr>
            <p:cNvPr name="Freeform 25" id="25"/>
            <p:cNvSpPr/>
            <p:nvPr/>
          </p:nvSpPr>
          <p:spPr>
            <a:xfrm flipH="false" flipV="false" rot="0">
              <a:off x="0" y="0"/>
              <a:ext cx="9015985" cy="4023360"/>
            </a:xfrm>
            <a:custGeom>
              <a:avLst/>
              <a:gdLst/>
              <a:ahLst/>
              <a:cxnLst/>
              <a:rect r="r" b="b" t="t" l="l"/>
              <a:pathLst>
                <a:path h="4023360" w="9015985">
                  <a:moveTo>
                    <a:pt x="0" y="182880"/>
                  </a:moveTo>
                  <a:cubicBezTo>
                    <a:pt x="0" y="81915"/>
                    <a:pt x="81915" y="0"/>
                    <a:pt x="182880" y="0"/>
                  </a:cubicBezTo>
                  <a:lnTo>
                    <a:pt x="8833104" y="0"/>
                  </a:lnTo>
                  <a:cubicBezTo>
                    <a:pt x="8934069" y="0"/>
                    <a:pt x="9015985" y="81915"/>
                    <a:pt x="9015985" y="182880"/>
                  </a:cubicBezTo>
                  <a:lnTo>
                    <a:pt x="9015985" y="3840480"/>
                  </a:lnTo>
                  <a:cubicBezTo>
                    <a:pt x="9015985" y="3941445"/>
                    <a:pt x="8934069" y="4023360"/>
                    <a:pt x="8833104" y="4023360"/>
                  </a:cubicBezTo>
                  <a:lnTo>
                    <a:pt x="182880" y="4023360"/>
                  </a:lnTo>
                  <a:cubicBezTo>
                    <a:pt x="81915" y="4023360"/>
                    <a:pt x="0" y="3941445"/>
                    <a:pt x="0" y="3840480"/>
                  </a:cubicBezTo>
                  <a:close/>
                </a:path>
              </a:pathLst>
            </a:custGeom>
            <a:solidFill>
              <a:srgbClr val="FFF1BF"/>
            </a:solidFill>
          </p:spPr>
          <p:txBody>
            <a:bodyPr/>
            <a:p/>
          </p:txBody>
        </p:sp>
      </p:grpSp>
      <p:sp>
        <p:nvSpPr>
          <p:cNvPr name="TextBox 26" id="26"/>
          <p:cNvSpPr txBox="true"/>
          <p:nvPr/>
        </p:nvSpPr>
        <p:spPr>
          <a:xfrm rot="0">
            <a:off x="10972800" y="6195060"/>
            <a:ext cx="6240780" cy="2857500"/>
          </a:xfrm>
          <a:prstGeom prst="rect">
            <a:avLst/>
          </a:prstGeom>
        </p:spPr>
        <p:txBody>
          <a:bodyPr anchor="t" rtlCol="false" tIns="0" lIns="0" bIns="0" rIns="0">
            <a:spAutoFit/>
          </a:bodyPr>
          <a:lstStyle/>
          <a:p>
            <a:pPr algn="l" marL="470537" indent="-117634" lvl="3">
              <a:lnSpc>
                <a:spcPts val="2160"/>
              </a:lnSpc>
              <a:buFont typeface="Arial"/>
              <a:buChar char="￭"/>
            </a:pPr>
            <a:r>
              <a:rPr lang="en-US" sz="1800">
                <a:solidFill>
                  <a:srgbClr val="14313B"/>
                </a:solidFill>
                <a:latin typeface="Calibri (MS)"/>
                <a:ea typeface="Calibri (MS)"/>
                <a:cs typeface="Calibri (MS)"/>
                <a:sym typeface="Calibri (MS)"/>
              </a:rPr>
              <a:t>RMSE relatif LOOCV 5,99% (error terbesar: 2022 −8,2%, 2023 +7,0%, 2024 −8,9%)</a:t>
            </a:r>
          </a:p>
          <a:p>
            <a:pPr algn="l" marL="470537" indent="-117634" lvl="3">
              <a:lnSpc>
                <a:spcPts val="2160"/>
              </a:lnSpc>
              <a:buFont typeface="Arial"/>
              <a:buChar char="￭"/>
            </a:pPr>
            <a:r>
              <a:rPr lang="en-US" sz="1800">
                <a:solidFill>
                  <a:srgbClr val="14313B"/>
                </a:solidFill>
                <a:latin typeface="Calibri (MS)"/>
                <a:ea typeface="Calibri (MS)"/>
                <a:cs typeface="Calibri (MS)"/>
                <a:sym typeface="Calibri (MS)"/>
              </a:rPr>
              <a:t>2016 memiliki selang terlebar (≈ 58 unit): NTL 1,054 di luar rentang data latih (1,483–2,512)</a:t>
            </a:r>
          </a:p>
          <a:p>
            <a:pPr algn="l" marL="470537" indent="-117634" lvl="3">
              <a:lnSpc>
                <a:spcPts val="2160"/>
              </a:lnSpc>
              <a:buFont typeface="Arial"/>
              <a:buChar char="￭"/>
            </a:pPr>
            <a:r>
              <a:rPr lang="en-US" sz="1800">
                <a:solidFill>
                  <a:srgbClr val="14313B"/>
                </a:solidFill>
                <a:latin typeface="Calibri (MS)"/>
                <a:ea typeface="Calibri (MS)"/>
                <a:cs typeface="Calibri (MS)"/>
                <a:sym typeface="Calibri (MS)"/>
              </a:rPr>
              <a:t>Estimasi tetap dipakai tanpa penyesuaian tambahan</a:t>
            </a:r>
          </a:p>
        </p:txBody>
      </p:sp>
      <p:sp>
        <p:nvSpPr>
          <p:cNvPr name="TextBox 27" id="27"/>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78</a:t>
            </a:r>
          </a:p>
        </p:txBody>
      </p:sp>
      <p:grpSp>
        <p:nvGrpSpPr>
          <p:cNvPr name="Group 28" id="28"/>
          <p:cNvGrpSpPr/>
          <p:nvPr/>
        </p:nvGrpSpPr>
        <p:grpSpPr>
          <a:xfrm rot="0">
            <a:off x="-128016" y="1929384"/>
            <a:ext cx="11411712" cy="8165592"/>
            <a:chOff x="0" y="0"/>
            <a:chExt cx="15215616" cy="10887456"/>
          </a:xfrm>
        </p:grpSpPr>
        <p:sp>
          <p:nvSpPr>
            <p:cNvPr name="Freeform 29" id="29"/>
            <p:cNvSpPr/>
            <p:nvPr/>
          </p:nvSpPr>
          <p:spPr>
            <a:xfrm flipH="false" flipV="false" rot="0">
              <a:off x="0" y="0"/>
              <a:ext cx="15215615" cy="10887456"/>
            </a:xfrm>
            <a:custGeom>
              <a:avLst/>
              <a:gdLst/>
              <a:ahLst/>
              <a:cxnLst/>
              <a:rect r="r" b="b" t="t" l="l"/>
              <a:pathLst>
                <a:path h="10887456" w="15215615">
                  <a:moveTo>
                    <a:pt x="0" y="0"/>
                  </a:moveTo>
                  <a:lnTo>
                    <a:pt x="15215615" y="0"/>
                  </a:lnTo>
                  <a:lnTo>
                    <a:pt x="15215615" y="10887456"/>
                  </a:lnTo>
                  <a:lnTo>
                    <a:pt x="0" y="10887456"/>
                  </a:lnTo>
                  <a:lnTo>
                    <a:pt x="0" y="0"/>
                  </a:lnTo>
                  <a:close/>
                </a:path>
              </a:pathLst>
            </a:custGeom>
            <a:blipFill>
              <a:blip r:embed="rId7"/>
              <a:stretch>
                <a:fillRect l="-13" t="0" r="-12" b="0"/>
              </a:stretch>
            </a:blipFill>
          </p:spPr>
          <p:txBody>
            <a:bodyPr/>
            <a:p/>
          </p:txBody>
        </p:sp>
      </p:grpSp>
    </p:spTree>
  </p:cSld>
  <p:clrMapOvr>
    <a:masterClrMapping/>
  </p:clrMapOvr>
</p:sld>
</file>

<file path=ppt/slides/slide7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4 · Uji akurasi klasifikasi lahan terbangun Dynamic World 2025</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21" id="21"/>
          <p:cNvSpPr txBox="true"/>
          <p:nvPr/>
        </p:nvSpPr>
        <p:spPr>
          <a:xfrm rot="0">
            <a:off x="822960" y="2188845"/>
            <a:ext cx="7543800" cy="622935"/>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Matriks konfusi (jumlah titik)</a:t>
            </a:r>
          </a:p>
        </p:txBody>
      </p:sp>
      <p:sp>
        <p:nvSpPr>
          <p:cNvPr name="TextBox 22" id="22"/>
          <p:cNvSpPr txBox="true"/>
          <p:nvPr/>
        </p:nvSpPr>
        <p:spPr>
          <a:xfrm rot="0">
            <a:off x="3291840" y="2793492"/>
            <a:ext cx="4937760" cy="525780"/>
          </a:xfrm>
          <a:prstGeom prst="rect">
            <a:avLst/>
          </a:prstGeom>
        </p:spPr>
        <p:txBody>
          <a:bodyPr anchor="t" rtlCol="false" tIns="0" lIns="0" bIns="0" rIns="0">
            <a:spAutoFit/>
          </a:bodyPr>
          <a:lstStyle/>
          <a:p>
            <a:pPr algn="ctr">
              <a:lnSpc>
                <a:spcPts val="2070"/>
              </a:lnSpc>
            </a:pPr>
            <a:r>
              <a:rPr lang="en-US" sz="1725" b="true">
                <a:solidFill>
                  <a:srgbClr val="5E6E78"/>
                </a:solidFill>
                <a:latin typeface="Calibri (MS) Bold"/>
                <a:ea typeface="Calibri (MS) Bold"/>
                <a:cs typeface="Calibri (MS) Bold"/>
                <a:sym typeface="Calibri (MS) Bold"/>
              </a:rPr>
              <a:t>Rujukan</a:t>
            </a:r>
          </a:p>
        </p:txBody>
      </p:sp>
      <p:sp>
        <p:nvSpPr>
          <p:cNvPr name="TextBox 23" id="23"/>
          <p:cNvSpPr txBox="true"/>
          <p:nvPr/>
        </p:nvSpPr>
        <p:spPr>
          <a:xfrm rot="0">
            <a:off x="3154680" y="3204972"/>
            <a:ext cx="2468880" cy="525780"/>
          </a:xfrm>
          <a:prstGeom prst="rect">
            <a:avLst/>
          </a:prstGeom>
        </p:spPr>
        <p:txBody>
          <a:bodyPr anchor="t" rtlCol="false" tIns="0" lIns="0" bIns="0" rIns="0">
            <a:spAutoFit/>
          </a:bodyPr>
          <a:lstStyle/>
          <a:p>
            <a:pPr algn="ctr">
              <a:lnSpc>
                <a:spcPts val="2070"/>
              </a:lnSpc>
            </a:pPr>
            <a:r>
              <a:rPr lang="en-US" sz="1725">
                <a:solidFill>
                  <a:srgbClr val="14313B"/>
                </a:solidFill>
                <a:latin typeface="Calibri (MS)"/>
                <a:ea typeface="Calibri (MS)"/>
                <a:cs typeface="Calibri (MS)"/>
                <a:sym typeface="Calibri (MS)"/>
              </a:rPr>
              <a:t>Terbangun</a:t>
            </a:r>
          </a:p>
        </p:txBody>
      </p:sp>
      <p:sp>
        <p:nvSpPr>
          <p:cNvPr name="TextBox 24" id="24"/>
          <p:cNvSpPr txBox="true"/>
          <p:nvPr/>
        </p:nvSpPr>
        <p:spPr>
          <a:xfrm rot="0">
            <a:off x="5760720" y="3204972"/>
            <a:ext cx="2468880" cy="525780"/>
          </a:xfrm>
          <a:prstGeom prst="rect">
            <a:avLst/>
          </a:prstGeom>
        </p:spPr>
        <p:txBody>
          <a:bodyPr anchor="t" rtlCol="false" tIns="0" lIns="0" bIns="0" rIns="0">
            <a:spAutoFit/>
          </a:bodyPr>
          <a:lstStyle/>
          <a:p>
            <a:pPr algn="ctr">
              <a:lnSpc>
                <a:spcPts val="2070"/>
              </a:lnSpc>
            </a:pPr>
            <a:r>
              <a:rPr lang="en-US" sz="1725">
                <a:solidFill>
                  <a:srgbClr val="14313B"/>
                </a:solidFill>
                <a:latin typeface="Calibri (MS)"/>
                <a:ea typeface="Calibri (MS)"/>
                <a:cs typeface="Calibri (MS)"/>
                <a:sym typeface="Calibri (MS)"/>
              </a:rPr>
              <a:t>Bukan terbangun</a:t>
            </a:r>
          </a:p>
        </p:txBody>
      </p:sp>
      <p:grpSp>
        <p:nvGrpSpPr>
          <p:cNvPr name="Group 25" id="25"/>
          <p:cNvGrpSpPr/>
          <p:nvPr/>
        </p:nvGrpSpPr>
        <p:grpSpPr>
          <a:xfrm rot="0">
            <a:off x="822960" y="4594860"/>
            <a:ext cx="2263140" cy="685800"/>
            <a:chOff x="0" y="0"/>
            <a:chExt cx="3017520" cy="914400"/>
          </a:xfrm>
        </p:grpSpPr>
        <p:sp>
          <p:nvSpPr>
            <p:cNvPr name="Freeform 26" id="26"/>
            <p:cNvSpPr/>
            <p:nvPr/>
          </p:nvSpPr>
          <p:spPr>
            <a:xfrm flipH="false" flipV="false" rot="0">
              <a:off x="0" y="0"/>
              <a:ext cx="3017520" cy="914400"/>
            </a:xfrm>
            <a:custGeom>
              <a:avLst/>
              <a:gdLst/>
              <a:ahLst/>
              <a:cxnLst/>
              <a:rect r="r" b="b" t="t" l="l"/>
              <a:pathLst>
                <a:path h="914400" w="3017520">
                  <a:moveTo>
                    <a:pt x="0" y="0"/>
                  </a:moveTo>
                  <a:lnTo>
                    <a:pt x="3017520" y="0"/>
                  </a:lnTo>
                  <a:lnTo>
                    <a:pt x="3017520" y="914400"/>
                  </a:lnTo>
                  <a:lnTo>
                    <a:pt x="0" y="914400"/>
                  </a:lnTo>
                  <a:close/>
                </a:path>
              </a:pathLst>
            </a:custGeom>
            <a:blipFill>
              <a:blip r:embed="rId4">
                <a:alphaModFix amt="0"/>
              </a:blip>
              <a:stretch>
                <a:fillRect l="0" t="-14255" r="0" b="-14256"/>
              </a:stretch>
            </a:blipFill>
          </p:spPr>
          <p:txBody>
            <a:bodyPr/>
            <a:p/>
          </p:txBody>
        </p:sp>
      </p:grpSp>
      <p:grpSp>
        <p:nvGrpSpPr>
          <p:cNvPr name="Group 27" id="27"/>
          <p:cNvGrpSpPr/>
          <p:nvPr/>
        </p:nvGrpSpPr>
        <p:grpSpPr>
          <a:xfrm rot="0">
            <a:off x="822960" y="4566285"/>
            <a:ext cx="2263140" cy="714375"/>
            <a:chOff x="0" y="0"/>
            <a:chExt cx="3017520" cy="952500"/>
          </a:xfrm>
        </p:grpSpPr>
        <p:sp>
          <p:nvSpPr>
            <p:cNvPr name="Freeform 28" id="28"/>
            <p:cNvSpPr/>
            <p:nvPr/>
          </p:nvSpPr>
          <p:spPr>
            <a:xfrm flipH="false" flipV="false" rot="0">
              <a:off x="0" y="0"/>
              <a:ext cx="3017520" cy="952500"/>
            </a:xfrm>
            <a:custGeom>
              <a:avLst/>
              <a:gdLst/>
              <a:ahLst/>
              <a:cxnLst/>
              <a:rect r="r" b="b" t="t" l="l"/>
              <a:pathLst>
                <a:path h="952500" w="3017520">
                  <a:moveTo>
                    <a:pt x="0" y="0"/>
                  </a:moveTo>
                  <a:lnTo>
                    <a:pt x="3017520" y="0"/>
                  </a:lnTo>
                  <a:lnTo>
                    <a:pt x="3017520" y="952500"/>
                  </a:lnTo>
                  <a:lnTo>
                    <a:pt x="0" y="952500"/>
                  </a:lnTo>
                  <a:close/>
                </a:path>
              </a:pathLst>
            </a:custGeom>
            <a:blipFill>
              <a:blip r:embed="rId5">
                <a:alphaModFix amt="0"/>
              </a:blip>
              <a:stretch>
                <a:fillRect l="0" t="-11685" r="0" b="-11686"/>
              </a:stretch>
            </a:blipFill>
          </p:spPr>
          <p:txBody>
            <a:bodyPr/>
            <a:p/>
          </p:txBody>
        </p:sp>
      </p:grpSp>
      <p:grpSp>
        <p:nvGrpSpPr>
          <p:cNvPr name="Group 29" id="29"/>
          <p:cNvGrpSpPr/>
          <p:nvPr/>
        </p:nvGrpSpPr>
        <p:grpSpPr>
          <a:xfrm rot="0">
            <a:off x="822960" y="4537710"/>
            <a:ext cx="2263140" cy="742950"/>
            <a:chOff x="0" y="0"/>
            <a:chExt cx="3017520" cy="990600"/>
          </a:xfrm>
        </p:grpSpPr>
        <p:sp>
          <p:nvSpPr>
            <p:cNvPr name="Freeform 30" id="30"/>
            <p:cNvSpPr/>
            <p:nvPr/>
          </p:nvSpPr>
          <p:spPr>
            <a:xfrm flipH="false" flipV="false" rot="0">
              <a:off x="0" y="0"/>
              <a:ext cx="3017520" cy="990600"/>
            </a:xfrm>
            <a:custGeom>
              <a:avLst/>
              <a:gdLst/>
              <a:ahLst/>
              <a:cxnLst/>
              <a:rect r="r" b="b" t="t" l="l"/>
              <a:pathLst>
                <a:path h="990600" w="3017520">
                  <a:moveTo>
                    <a:pt x="0" y="0"/>
                  </a:moveTo>
                  <a:lnTo>
                    <a:pt x="3017520" y="0"/>
                  </a:lnTo>
                  <a:lnTo>
                    <a:pt x="3017520" y="990600"/>
                  </a:lnTo>
                  <a:lnTo>
                    <a:pt x="0" y="990600"/>
                  </a:lnTo>
                  <a:close/>
                </a:path>
              </a:pathLst>
            </a:custGeom>
            <a:blipFill>
              <a:blip r:embed="rId6">
                <a:alphaModFix amt="0"/>
              </a:blip>
              <a:stretch>
                <a:fillRect l="0" t="-9354" r="0" b="-9354"/>
              </a:stretch>
            </a:blipFill>
          </p:spPr>
          <p:txBody>
            <a:bodyPr/>
            <a:p/>
          </p:txBody>
        </p:sp>
        <p:sp>
          <p:nvSpPr>
            <p:cNvPr name="TextBox 31" id="31"/>
            <p:cNvSpPr txBox="true"/>
            <p:nvPr/>
          </p:nvSpPr>
          <p:spPr>
            <a:xfrm>
              <a:off x="0" y="-38100"/>
              <a:ext cx="3017520" cy="1028700"/>
            </a:xfrm>
            <a:prstGeom prst="rect">
              <a:avLst/>
            </a:prstGeom>
          </p:spPr>
          <p:txBody>
            <a:bodyPr anchor="ctr" rtlCol="false" tIns="0" lIns="0" bIns="0" rIns="0"/>
            <a:lstStyle/>
            <a:p>
              <a:pPr algn="r">
                <a:lnSpc>
                  <a:spcPts val="2070"/>
                </a:lnSpc>
              </a:pPr>
              <a:r>
                <a:rPr lang="en-US" sz="1725">
                  <a:solidFill>
                    <a:srgbClr val="14313B"/>
                  </a:solidFill>
                  <a:latin typeface="Calibri (MS)"/>
                  <a:ea typeface="Calibri (MS)"/>
                  <a:cs typeface="Calibri (MS)"/>
                  <a:sym typeface="Calibri (MS)"/>
                </a:rPr>
                <a:t>Peta: terbangun</a:t>
              </a:r>
            </a:p>
          </p:txBody>
        </p:sp>
      </p:grpSp>
      <p:grpSp>
        <p:nvGrpSpPr>
          <p:cNvPr name="Group 32" id="32"/>
          <p:cNvGrpSpPr/>
          <p:nvPr/>
        </p:nvGrpSpPr>
        <p:grpSpPr>
          <a:xfrm rot="0">
            <a:off x="822960" y="6309360"/>
            <a:ext cx="2263140" cy="685800"/>
            <a:chOff x="0" y="0"/>
            <a:chExt cx="3017520" cy="914400"/>
          </a:xfrm>
        </p:grpSpPr>
        <p:sp>
          <p:nvSpPr>
            <p:cNvPr name="Freeform 33" id="33"/>
            <p:cNvSpPr/>
            <p:nvPr/>
          </p:nvSpPr>
          <p:spPr>
            <a:xfrm flipH="false" flipV="false" rot="0">
              <a:off x="0" y="0"/>
              <a:ext cx="3017520" cy="914400"/>
            </a:xfrm>
            <a:custGeom>
              <a:avLst/>
              <a:gdLst/>
              <a:ahLst/>
              <a:cxnLst/>
              <a:rect r="r" b="b" t="t" l="l"/>
              <a:pathLst>
                <a:path h="914400" w="3017520">
                  <a:moveTo>
                    <a:pt x="0" y="0"/>
                  </a:moveTo>
                  <a:lnTo>
                    <a:pt x="3017520" y="0"/>
                  </a:lnTo>
                  <a:lnTo>
                    <a:pt x="3017520" y="914400"/>
                  </a:lnTo>
                  <a:lnTo>
                    <a:pt x="0" y="914400"/>
                  </a:lnTo>
                  <a:close/>
                </a:path>
              </a:pathLst>
            </a:custGeom>
            <a:blipFill>
              <a:blip r:embed="rId4">
                <a:alphaModFix amt="0"/>
              </a:blip>
              <a:stretch>
                <a:fillRect l="0" t="-14255" r="0" b="-14256"/>
              </a:stretch>
            </a:blipFill>
          </p:spPr>
          <p:txBody>
            <a:bodyPr/>
            <a:p/>
          </p:txBody>
        </p:sp>
      </p:grpSp>
      <p:grpSp>
        <p:nvGrpSpPr>
          <p:cNvPr name="Group 34" id="34"/>
          <p:cNvGrpSpPr/>
          <p:nvPr/>
        </p:nvGrpSpPr>
        <p:grpSpPr>
          <a:xfrm rot="0">
            <a:off x="822960" y="6280785"/>
            <a:ext cx="2263140" cy="714375"/>
            <a:chOff x="0" y="0"/>
            <a:chExt cx="3017520" cy="952500"/>
          </a:xfrm>
        </p:grpSpPr>
        <p:sp>
          <p:nvSpPr>
            <p:cNvPr name="Freeform 35" id="35"/>
            <p:cNvSpPr/>
            <p:nvPr/>
          </p:nvSpPr>
          <p:spPr>
            <a:xfrm flipH="false" flipV="false" rot="0">
              <a:off x="0" y="0"/>
              <a:ext cx="3017520" cy="952500"/>
            </a:xfrm>
            <a:custGeom>
              <a:avLst/>
              <a:gdLst/>
              <a:ahLst/>
              <a:cxnLst/>
              <a:rect r="r" b="b" t="t" l="l"/>
              <a:pathLst>
                <a:path h="952500" w="3017520">
                  <a:moveTo>
                    <a:pt x="0" y="0"/>
                  </a:moveTo>
                  <a:lnTo>
                    <a:pt x="3017520" y="0"/>
                  </a:lnTo>
                  <a:lnTo>
                    <a:pt x="3017520" y="952500"/>
                  </a:lnTo>
                  <a:lnTo>
                    <a:pt x="0" y="952500"/>
                  </a:lnTo>
                  <a:close/>
                </a:path>
              </a:pathLst>
            </a:custGeom>
            <a:blipFill>
              <a:blip r:embed="rId5">
                <a:alphaModFix amt="0"/>
              </a:blip>
              <a:stretch>
                <a:fillRect l="0" t="-11685" r="0" b="-11686"/>
              </a:stretch>
            </a:blipFill>
          </p:spPr>
          <p:txBody>
            <a:bodyPr/>
            <a:p/>
          </p:txBody>
        </p:sp>
      </p:grpSp>
      <p:grpSp>
        <p:nvGrpSpPr>
          <p:cNvPr name="Group 36" id="36"/>
          <p:cNvGrpSpPr/>
          <p:nvPr/>
        </p:nvGrpSpPr>
        <p:grpSpPr>
          <a:xfrm rot="0">
            <a:off x="822960" y="6252210"/>
            <a:ext cx="2263140" cy="742950"/>
            <a:chOff x="0" y="0"/>
            <a:chExt cx="3017520" cy="990600"/>
          </a:xfrm>
        </p:grpSpPr>
        <p:sp>
          <p:nvSpPr>
            <p:cNvPr name="Freeform 37" id="37"/>
            <p:cNvSpPr/>
            <p:nvPr/>
          </p:nvSpPr>
          <p:spPr>
            <a:xfrm flipH="false" flipV="false" rot="0">
              <a:off x="0" y="0"/>
              <a:ext cx="3017520" cy="990600"/>
            </a:xfrm>
            <a:custGeom>
              <a:avLst/>
              <a:gdLst/>
              <a:ahLst/>
              <a:cxnLst/>
              <a:rect r="r" b="b" t="t" l="l"/>
              <a:pathLst>
                <a:path h="990600" w="3017520">
                  <a:moveTo>
                    <a:pt x="0" y="0"/>
                  </a:moveTo>
                  <a:lnTo>
                    <a:pt x="3017520" y="0"/>
                  </a:lnTo>
                  <a:lnTo>
                    <a:pt x="3017520" y="990600"/>
                  </a:lnTo>
                  <a:lnTo>
                    <a:pt x="0" y="990600"/>
                  </a:lnTo>
                  <a:close/>
                </a:path>
              </a:pathLst>
            </a:custGeom>
            <a:blipFill>
              <a:blip r:embed="rId6">
                <a:alphaModFix amt="0"/>
              </a:blip>
              <a:stretch>
                <a:fillRect l="0" t="-9354" r="0" b="-9354"/>
              </a:stretch>
            </a:blipFill>
          </p:spPr>
          <p:txBody>
            <a:bodyPr/>
            <a:p/>
          </p:txBody>
        </p:sp>
        <p:sp>
          <p:nvSpPr>
            <p:cNvPr name="TextBox 38" id="38"/>
            <p:cNvSpPr txBox="true"/>
            <p:nvPr/>
          </p:nvSpPr>
          <p:spPr>
            <a:xfrm>
              <a:off x="0" y="-38100"/>
              <a:ext cx="3017520" cy="1028700"/>
            </a:xfrm>
            <a:prstGeom prst="rect">
              <a:avLst/>
            </a:prstGeom>
          </p:spPr>
          <p:txBody>
            <a:bodyPr anchor="ctr" rtlCol="false" tIns="0" lIns="0" bIns="0" rIns="0"/>
            <a:lstStyle/>
            <a:p>
              <a:pPr algn="r">
                <a:lnSpc>
                  <a:spcPts val="2070"/>
                </a:lnSpc>
              </a:pPr>
              <a:r>
                <a:rPr lang="en-US" sz="1725">
                  <a:solidFill>
                    <a:srgbClr val="14313B"/>
                  </a:solidFill>
                  <a:latin typeface="Calibri (MS)"/>
                  <a:ea typeface="Calibri (MS)"/>
                  <a:cs typeface="Calibri (MS)"/>
                  <a:sym typeface="Calibri (MS)"/>
                </a:rPr>
                <a:t>Peta: bukan terbangun</a:t>
              </a:r>
            </a:p>
          </p:txBody>
        </p:sp>
      </p:grpSp>
      <p:grpSp>
        <p:nvGrpSpPr>
          <p:cNvPr name="Group 39" id="39"/>
          <p:cNvGrpSpPr/>
          <p:nvPr/>
        </p:nvGrpSpPr>
        <p:grpSpPr>
          <a:xfrm rot="0">
            <a:off x="3154680" y="4251960"/>
            <a:ext cx="2468880" cy="1577340"/>
            <a:chOff x="0" y="0"/>
            <a:chExt cx="3291840" cy="2103120"/>
          </a:xfrm>
        </p:grpSpPr>
        <p:sp>
          <p:nvSpPr>
            <p:cNvPr name="Freeform 40" id="40"/>
            <p:cNvSpPr/>
            <p:nvPr/>
          </p:nvSpPr>
          <p:spPr>
            <a:xfrm flipH="false" flipV="false" rot="0">
              <a:off x="0" y="0"/>
              <a:ext cx="3291840" cy="2103120"/>
            </a:xfrm>
            <a:custGeom>
              <a:avLst/>
              <a:gdLst/>
              <a:ahLst/>
              <a:cxnLst/>
              <a:rect r="r" b="b" t="t" l="l"/>
              <a:pathLst>
                <a:path h="2103120" w="3291840">
                  <a:moveTo>
                    <a:pt x="0" y="146304"/>
                  </a:moveTo>
                  <a:cubicBezTo>
                    <a:pt x="0" y="65532"/>
                    <a:pt x="65532" y="0"/>
                    <a:pt x="146304" y="0"/>
                  </a:cubicBezTo>
                  <a:lnTo>
                    <a:pt x="3145536" y="0"/>
                  </a:lnTo>
                  <a:cubicBezTo>
                    <a:pt x="3226308" y="0"/>
                    <a:pt x="3291840" y="65532"/>
                    <a:pt x="3291840" y="146304"/>
                  </a:cubicBezTo>
                  <a:lnTo>
                    <a:pt x="3291840" y="1956816"/>
                  </a:lnTo>
                  <a:cubicBezTo>
                    <a:pt x="3291840" y="2037588"/>
                    <a:pt x="3226308" y="2103120"/>
                    <a:pt x="3145536" y="2103120"/>
                  </a:cubicBezTo>
                  <a:lnTo>
                    <a:pt x="146304" y="2103120"/>
                  </a:lnTo>
                  <a:cubicBezTo>
                    <a:pt x="65532" y="2103120"/>
                    <a:pt x="0" y="2037588"/>
                    <a:pt x="0" y="1956816"/>
                  </a:cubicBezTo>
                  <a:close/>
                </a:path>
              </a:pathLst>
            </a:custGeom>
            <a:solidFill>
              <a:srgbClr val="39C0D3"/>
            </a:solidFill>
          </p:spPr>
          <p:txBody>
            <a:bodyPr/>
            <a:p/>
          </p:txBody>
        </p:sp>
      </p:grpSp>
      <p:grpSp>
        <p:nvGrpSpPr>
          <p:cNvPr name="Group 41" id="41"/>
          <p:cNvGrpSpPr/>
          <p:nvPr/>
        </p:nvGrpSpPr>
        <p:grpSpPr>
          <a:xfrm rot="0">
            <a:off x="3154680" y="4251960"/>
            <a:ext cx="2468880" cy="1577340"/>
            <a:chOff x="0" y="0"/>
            <a:chExt cx="3291840" cy="2103120"/>
          </a:xfrm>
        </p:grpSpPr>
        <p:sp>
          <p:nvSpPr>
            <p:cNvPr name="Freeform 42" id="42"/>
            <p:cNvSpPr/>
            <p:nvPr/>
          </p:nvSpPr>
          <p:spPr>
            <a:xfrm flipH="false" flipV="false" rot="0">
              <a:off x="0" y="0"/>
              <a:ext cx="3291840" cy="2103120"/>
            </a:xfrm>
            <a:custGeom>
              <a:avLst/>
              <a:gdLst/>
              <a:ahLst/>
              <a:cxnLst/>
              <a:rect r="r" b="b" t="t" l="l"/>
              <a:pathLst>
                <a:path h="2103120" w="3291840">
                  <a:moveTo>
                    <a:pt x="0" y="0"/>
                  </a:moveTo>
                  <a:lnTo>
                    <a:pt x="3291840" y="0"/>
                  </a:lnTo>
                  <a:lnTo>
                    <a:pt x="3291840" y="2103120"/>
                  </a:lnTo>
                  <a:lnTo>
                    <a:pt x="0" y="2103120"/>
                  </a:lnTo>
                  <a:close/>
                </a:path>
              </a:pathLst>
            </a:custGeom>
            <a:blipFill>
              <a:blip r:embed="rId4">
                <a:alphaModFix amt="0"/>
              </a:blip>
              <a:stretch>
                <a:fillRect l="-32028" t="0" r="-32028" b="0"/>
              </a:stretch>
            </a:blipFill>
          </p:spPr>
          <p:txBody>
            <a:bodyPr/>
            <a:p/>
          </p:txBody>
        </p:sp>
      </p:grpSp>
      <p:grpSp>
        <p:nvGrpSpPr>
          <p:cNvPr name="Group 43" id="43"/>
          <p:cNvGrpSpPr/>
          <p:nvPr/>
        </p:nvGrpSpPr>
        <p:grpSpPr>
          <a:xfrm rot="0">
            <a:off x="3154680" y="4180522"/>
            <a:ext cx="2468880" cy="1648777"/>
            <a:chOff x="0" y="0"/>
            <a:chExt cx="3291840" cy="2198370"/>
          </a:xfrm>
        </p:grpSpPr>
        <p:sp>
          <p:nvSpPr>
            <p:cNvPr name="Freeform 44" id="44"/>
            <p:cNvSpPr/>
            <p:nvPr/>
          </p:nvSpPr>
          <p:spPr>
            <a:xfrm flipH="false" flipV="false" rot="0">
              <a:off x="0" y="0"/>
              <a:ext cx="3291840" cy="2198370"/>
            </a:xfrm>
            <a:custGeom>
              <a:avLst/>
              <a:gdLst/>
              <a:ahLst/>
              <a:cxnLst/>
              <a:rect r="r" b="b" t="t" l="l"/>
              <a:pathLst>
                <a:path h="2198370" w="3291840">
                  <a:moveTo>
                    <a:pt x="0" y="0"/>
                  </a:moveTo>
                  <a:lnTo>
                    <a:pt x="3291840" y="0"/>
                  </a:lnTo>
                  <a:lnTo>
                    <a:pt x="3291840" y="2198370"/>
                  </a:lnTo>
                  <a:lnTo>
                    <a:pt x="0" y="2198370"/>
                  </a:lnTo>
                  <a:close/>
                </a:path>
              </a:pathLst>
            </a:custGeom>
            <a:blipFill>
              <a:blip r:embed="rId5">
                <a:alphaModFix amt="0"/>
              </a:blip>
              <a:stretch>
                <a:fillRect l="-35743" t="0" r="-35743" b="0"/>
              </a:stretch>
            </a:blipFill>
          </p:spPr>
          <p:txBody>
            <a:bodyPr/>
            <a:p/>
          </p:txBody>
        </p:sp>
      </p:grpSp>
      <p:grpSp>
        <p:nvGrpSpPr>
          <p:cNvPr name="Group 45" id="45"/>
          <p:cNvGrpSpPr/>
          <p:nvPr/>
        </p:nvGrpSpPr>
        <p:grpSpPr>
          <a:xfrm rot="0">
            <a:off x="3154680" y="4109085"/>
            <a:ext cx="2468880" cy="1720215"/>
            <a:chOff x="0" y="0"/>
            <a:chExt cx="3291840" cy="2293620"/>
          </a:xfrm>
        </p:grpSpPr>
        <p:sp>
          <p:nvSpPr>
            <p:cNvPr name="Freeform 46" id="46"/>
            <p:cNvSpPr/>
            <p:nvPr/>
          </p:nvSpPr>
          <p:spPr>
            <a:xfrm flipH="false" flipV="false" rot="0">
              <a:off x="0" y="0"/>
              <a:ext cx="3291840" cy="2293619"/>
            </a:xfrm>
            <a:custGeom>
              <a:avLst/>
              <a:gdLst/>
              <a:ahLst/>
              <a:cxnLst/>
              <a:rect r="r" b="b" t="t" l="l"/>
              <a:pathLst>
                <a:path h="2293619" w="3291840">
                  <a:moveTo>
                    <a:pt x="0" y="0"/>
                  </a:moveTo>
                  <a:lnTo>
                    <a:pt x="3291840" y="0"/>
                  </a:lnTo>
                  <a:lnTo>
                    <a:pt x="3291840" y="2293619"/>
                  </a:lnTo>
                  <a:lnTo>
                    <a:pt x="0" y="2293619"/>
                  </a:lnTo>
                  <a:close/>
                </a:path>
              </a:pathLst>
            </a:custGeom>
            <a:blipFill>
              <a:blip r:embed="rId6">
                <a:alphaModFix amt="0"/>
              </a:blip>
              <a:stretch>
                <a:fillRect l="-39396" t="0" r="-39396" b="0"/>
              </a:stretch>
            </a:blipFill>
          </p:spPr>
          <p:txBody>
            <a:bodyPr/>
            <a:p/>
          </p:txBody>
        </p:sp>
        <p:sp>
          <p:nvSpPr>
            <p:cNvPr name="TextBox 47" id="47"/>
            <p:cNvSpPr txBox="true"/>
            <p:nvPr/>
          </p:nvSpPr>
          <p:spPr>
            <a:xfrm>
              <a:off x="0" y="-95250"/>
              <a:ext cx="3291840" cy="2388870"/>
            </a:xfrm>
            <a:prstGeom prst="rect">
              <a:avLst/>
            </a:prstGeom>
          </p:spPr>
          <p:txBody>
            <a:bodyPr anchor="ctr" rtlCol="false" tIns="0" lIns="0" bIns="0" rIns="0"/>
            <a:lstStyle/>
            <a:p>
              <a:pPr algn="ctr">
                <a:lnSpc>
                  <a:spcPts val="5400"/>
                </a:lnSpc>
              </a:pPr>
              <a:r>
                <a:rPr lang="en-US" sz="4500" b="true">
                  <a:solidFill>
                    <a:srgbClr val="FFFFFF"/>
                  </a:solidFill>
                  <a:latin typeface="Calibri (MS) Bold"/>
                  <a:ea typeface="Calibri (MS) Bold"/>
                  <a:cs typeface="Calibri (MS) Bold"/>
                  <a:sym typeface="Calibri (MS) Bold"/>
                </a:rPr>
                <a:t>66</a:t>
              </a:r>
            </a:p>
          </p:txBody>
        </p:sp>
      </p:grpSp>
      <p:grpSp>
        <p:nvGrpSpPr>
          <p:cNvPr name="Group 48" id="48"/>
          <p:cNvGrpSpPr/>
          <p:nvPr/>
        </p:nvGrpSpPr>
        <p:grpSpPr>
          <a:xfrm rot="0">
            <a:off x="5760720" y="4251960"/>
            <a:ext cx="2468880" cy="1577340"/>
            <a:chOff x="0" y="0"/>
            <a:chExt cx="3291840" cy="2103120"/>
          </a:xfrm>
        </p:grpSpPr>
        <p:sp>
          <p:nvSpPr>
            <p:cNvPr name="Freeform 49" id="49"/>
            <p:cNvSpPr/>
            <p:nvPr/>
          </p:nvSpPr>
          <p:spPr>
            <a:xfrm flipH="false" flipV="false" rot="0">
              <a:off x="0" y="0"/>
              <a:ext cx="3291840" cy="2103120"/>
            </a:xfrm>
            <a:custGeom>
              <a:avLst/>
              <a:gdLst/>
              <a:ahLst/>
              <a:cxnLst/>
              <a:rect r="r" b="b" t="t" l="l"/>
              <a:pathLst>
                <a:path h="2103120" w="3291840">
                  <a:moveTo>
                    <a:pt x="0" y="146304"/>
                  </a:moveTo>
                  <a:cubicBezTo>
                    <a:pt x="0" y="65532"/>
                    <a:pt x="65532" y="0"/>
                    <a:pt x="146304" y="0"/>
                  </a:cubicBezTo>
                  <a:lnTo>
                    <a:pt x="3145536" y="0"/>
                  </a:lnTo>
                  <a:cubicBezTo>
                    <a:pt x="3226308" y="0"/>
                    <a:pt x="3291840" y="65532"/>
                    <a:pt x="3291840" y="146304"/>
                  </a:cubicBezTo>
                  <a:lnTo>
                    <a:pt x="3291840" y="1956816"/>
                  </a:lnTo>
                  <a:cubicBezTo>
                    <a:pt x="3291840" y="2037588"/>
                    <a:pt x="3226308" y="2103120"/>
                    <a:pt x="3145536" y="2103120"/>
                  </a:cubicBezTo>
                  <a:lnTo>
                    <a:pt x="146304" y="2103120"/>
                  </a:lnTo>
                  <a:cubicBezTo>
                    <a:pt x="65532" y="2103120"/>
                    <a:pt x="0" y="2037588"/>
                    <a:pt x="0" y="1956816"/>
                  </a:cubicBezTo>
                  <a:close/>
                </a:path>
              </a:pathLst>
            </a:custGeom>
            <a:solidFill>
              <a:srgbClr val="FFF1BF"/>
            </a:solidFill>
          </p:spPr>
          <p:txBody>
            <a:bodyPr/>
            <a:p/>
          </p:txBody>
        </p:sp>
      </p:grpSp>
      <p:grpSp>
        <p:nvGrpSpPr>
          <p:cNvPr name="Group 50" id="50"/>
          <p:cNvGrpSpPr/>
          <p:nvPr/>
        </p:nvGrpSpPr>
        <p:grpSpPr>
          <a:xfrm rot="0">
            <a:off x="5760720" y="4251960"/>
            <a:ext cx="2468880" cy="1577340"/>
            <a:chOff x="0" y="0"/>
            <a:chExt cx="3291840" cy="2103120"/>
          </a:xfrm>
        </p:grpSpPr>
        <p:sp>
          <p:nvSpPr>
            <p:cNvPr name="Freeform 51" id="51"/>
            <p:cNvSpPr/>
            <p:nvPr/>
          </p:nvSpPr>
          <p:spPr>
            <a:xfrm flipH="false" flipV="false" rot="0">
              <a:off x="0" y="0"/>
              <a:ext cx="3291840" cy="2103120"/>
            </a:xfrm>
            <a:custGeom>
              <a:avLst/>
              <a:gdLst/>
              <a:ahLst/>
              <a:cxnLst/>
              <a:rect r="r" b="b" t="t" l="l"/>
              <a:pathLst>
                <a:path h="2103120" w="3291840">
                  <a:moveTo>
                    <a:pt x="0" y="0"/>
                  </a:moveTo>
                  <a:lnTo>
                    <a:pt x="3291840" y="0"/>
                  </a:lnTo>
                  <a:lnTo>
                    <a:pt x="3291840" y="2103120"/>
                  </a:lnTo>
                  <a:lnTo>
                    <a:pt x="0" y="2103120"/>
                  </a:lnTo>
                  <a:close/>
                </a:path>
              </a:pathLst>
            </a:custGeom>
            <a:blipFill>
              <a:blip r:embed="rId4">
                <a:alphaModFix amt="0"/>
              </a:blip>
              <a:stretch>
                <a:fillRect l="-32028" t="0" r="-32028" b="0"/>
              </a:stretch>
            </a:blipFill>
          </p:spPr>
          <p:txBody>
            <a:bodyPr/>
            <a:p/>
          </p:txBody>
        </p:sp>
      </p:grpSp>
      <p:grpSp>
        <p:nvGrpSpPr>
          <p:cNvPr name="Group 52" id="52"/>
          <p:cNvGrpSpPr/>
          <p:nvPr/>
        </p:nvGrpSpPr>
        <p:grpSpPr>
          <a:xfrm rot="0">
            <a:off x="5760720" y="4180522"/>
            <a:ext cx="2468880" cy="1648777"/>
            <a:chOff x="0" y="0"/>
            <a:chExt cx="3291840" cy="2198370"/>
          </a:xfrm>
        </p:grpSpPr>
        <p:sp>
          <p:nvSpPr>
            <p:cNvPr name="Freeform 53" id="53"/>
            <p:cNvSpPr/>
            <p:nvPr/>
          </p:nvSpPr>
          <p:spPr>
            <a:xfrm flipH="false" flipV="false" rot="0">
              <a:off x="0" y="0"/>
              <a:ext cx="3291840" cy="2198370"/>
            </a:xfrm>
            <a:custGeom>
              <a:avLst/>
              <a:gdLst/>
              <a:ahLst/>
              <a:cxnLst/>
              <a:rect r="r" b="b" t="t" l="l"/>
              <a:pathLst>
                <a:path h="2198370" w="3291840">
                  <a:moveTo>
                    <a:pt x="0" y="0"/>
                  </a:moveTo>
                  <a:lnTo>
                    <a:pt x="3291840" y="0"/>
                  </a:lnTo>
                  <a:lnTo>
                    <a:pt x="3291840" y="2198370"/>
                  </a:lnTo>
                  <a:lnTo>
                    <a:pt x="0" y="2198370"/>
                  </a:lnTo>
                  <a:close/>
                </a:path>
              </a:pathLst>
            </a:custGeom>
            <a:blipFill>
              <a:blip r:embed="rId5">
                <a:alphaModFix amt="0"/>
              </a:blip>
              <a:stretch>
                <a:fillRect l="-35743" t="0" r="-35743" b="0"/>
              </a:stretch>
            </a:blipFill>
          </p:spPr>
          <p:txBody>
            <a:bodyPr/>
            <a:p/>
          </p:txBody>
        </p:sp>
      </p:grpSp>
      <p:grpSp>
        <p:nvGrpSpPr>
          <p:cNvPr name="Group 54" id="54"/>
          <p:cNvGrpSpPr/>
          <p:nvPr/>
        </p:nvGrpSpPr>
        <p:grpSpPr>
          <a:xfrm rot="0">
            <a:off x="5760720" y="4109085"/>
            <a:ext cx="2468880" cy="1720215"/>
            <a:chOff x="0" y="0"/>
            <a:chExt cx="3291840" cy="2293620"/>
          </a:xfrm>
        </p:grpSpPr>
        <p:sp>
          <p:nvSpPr>
            <p:cNvPr name="Freeform 55" id="55"/>
            <p:cNvSpPr/>
            <p:nvPr/>
          </p:nvSpPr>
          <p:spPr>
            <a:xfrm flipH="false" flipV="false" rot="0">
              <a:off x="0" y="0"/>
              <a:ext cx="3291840" cy="2293619"/>
            </a:xfrm>
            <a:custGeom>
              <a:avLst/>
              <a:gdLst/>
              <a:ahLst/>
              <a:cxnLst/>
              <a:rect r="r" b="b" t="t" l="l"/>
              <a:pathLst>
                <a:path h="2293619" w="3291840">
                  <a:moveTo>
                    <a:pt x="0" y="0"/>
                  </a:moveTo>
                  <a:lnTo>
                    <a:pt x="3291840" y="0"/>
                  </a:lnTo>
                  <a:lnTo>
                    <a:pt x="3291840" y="2293619"/>
                  </a:lnTo>
                  <a:lnTo>
                    <a:pt x="0" y="2293619"/>
                  </a:lnTo>
                  <a:close/>
                </a:path>
              </a:pathLst>
            </a:custGeom>
            <a:blipFill>
              <a:blip r:embed="rId6">
                <a:alphaModFix amt="0"/>
              </a:blip>
              <a:stretch>
                <a:fillRect l="-39396" t="0" r="-39396" b="0"/>
              </a:stretch>
            </a:blipFill>
          </p:spPr>
          <p:txBody>
            <a:bodyPr/>
            <a:p/>
          </p:txBody>
        </p:sp>
        <p:sp>
          <p:nvSpPr>
            <p:cNvPr name="TextBox 56" id="56"/>
            <p:cNvSpPr txBox="true"/>
            <p:nvPr/>
          </p:nvSpPr>
          <p:spPr>
            <a:xfrm>
              <a:off x="0" y="-95250"/>
              <a:ext cx="3291840" cy="2388870"/>
            </a:xfrm>
            <a:prstGeom prst="rect">
              <a:avLst/>
            </a:prstGeom>
          </p:spPr>
          <p:txBody>
            <a:bodyPr anchor="ctr" rtlCol="false" tIns="0" lIns="0" bIns="0" rIns="0"/>
            <a:lstStyle/>
            <a:p>
              <a:pPr algn="ctr">
                <a:lnSpc>
                  <a:spcPts val="5400"/>
                </a:lnSpc>
              </a:pPr>
              <a:r>
                <a:rPr lang="en-US" sz="4500" b="true">
                  <a:solidFill>
                    <a:srgbClr val="14313B"/>
                  </a:solidFill>
                  <a:latin typeface="Calibri (MS) Bold"/>
                  <a:ea typeface="Calibri (MS) Bold"/>
                  <a:cs typeface="Calibri (MS) Bold"/>
                  <a:sym typeface="Calibri (MS) Bold"/>
                </a:rPr>
                <a:t>34</a:t>
              </a:r>
            </a:p>
          </p:txBody>
        </p:sp>
      </p:grpSp>
      <p:grpSp>
        <p:nvGrpSpPr>
          <p:cNvPr name="Group 57" id="57"/>
          <p:cNvGrpSpPr/>
          <p:nvPr/>
        </p:nvGrpSpPr>
        <p:grpSpPr>
          <a:xfrm rot="0">
            <a:off x="3154680" y="5966460"/>
            <a:ext cx="2468880" cy="1577340"/>
            <a:chOff x="0" y="0"/>
            <a:chExt cx="3291840" cy="2103120"/>
          </a:xfrm>
        </p:grpSpPr>
        <p:sp>
          <p:nvSpPr>
            <p:cNvPr name="Freeform 58" id="58"/>
            <p:cNvSpPr/>
            <p:nvPr/>
          </p:nvSpPr>
          <p:spPr>
            <a:xfrm flipH="false" flipV="false" rot="0">
              <a:off x="0" y="0"/>
              <a:ext cx="3291840" cy="2103120"/>
            </a:xfrm>
            <a:custGeom>
              <a:avLst/>
              <a:gdLst/>
              <a:ahLst/>
              <a:cxnLst/>
              <a:rect r="r" b="b" t="t" l="l"/>
              <a:pathLst>
                <a:path h="2103120" w="3291840">
                  <a:moveTo>
                    <a:pt x="0" y="146304"/>
                  </a:moveTo>
                  <a:cubicBezTo>
                    <a:pt x="0" y="65532"/>
                    <a:pt x="65532" y="0"/>
                    <a:pt x="146304" y="0"/>
                  </a:cubicBezTo>
                  <a:lnTo>
                    <a:pt x="3145536" y="0"/>
                  </a:lnTo>
                  <a:cubicBezTo>
                    <a:pt x="3226308" y="0"/>
                    <a:pt x="3291840" y="65532"/>
                    <a:pt x="3291840" y="146304"/>
                  </a:cubicBezTo>
                  <a:lnTo>
                    <a:pt x="3291840" y="1956816"/>
                  </a:lnTo>
                  <a:cubicBezTo>
                    <a:pt x="3291840" y="2037588"/>
                    <a:pt x="3226308" y="2103120"/>
                    <a:pt x="3145536" y="2103120"/>
                  </a:cubicBezTo>
                  <a:lnTo>
                    <a:pt x="146304" y="2103120"/>
                  </a:lnTo>
                  <a:cubicBezTo>
                    <a:pt x="65532" y="2103120"/>
                    <a:pt x="0" y="2037588"/>
                    <a:pt x="0" y="1956816"/>
                  </a:cubicBezTo>
                  <a:close/>
                </a:path>
              </a:pathLst>
            </a:custGeom>
            <a:solidFill>
              <a:srgbClr val="FFF1BF"/>
            </a:solidFill>
          </p:spPr>
          <p:txBody>
            <a:bodyPr/>
            <a:p/>
          </p:txBody>
        </p:sp>
      </p:grpSp>
      <p:grpSp>
        <p:nvGrpSpPr>
          <p:cNvPr name="Group 59" id="59"/>
          <p:cNvGrpSpPr/>
          <p:nvPr/>
        </p:nvGrpSpPr>
        <p:grpSpPr>
          <a:xfrm rot="0">
            <a:off x="3154680" y="5966460"/>
            <a:ext cx="2468880" cy="1577340"/>
            <a:chOff x="0" y="0"/>
            <a:chExt cx="3291840" cy="2103120"/>
          </a:xfrm>
        </p:grpSpPr>
        <p:sp>
          <p:nvSpPr>
            <p:cNvPr name="Freeform 60" id="60"/>
            <p:cNvSpPr/>
            <p:nvPr/>
          </p:nvSpPr>
          <p:spPr>
            <a:xfrm flipH="false" flipV="false" rot="0">
              <a:off x="0" y="0"/>
              <a:ext cx="3291840" cy="2103120"/>
            </a:xfrm>
            <a:custGeom>
              <a:avLst/>
              <a:gdLst/>
              <a:ahLst/>
              <a:cxnLst/>
              <a:rect r="r" b="b" t="t" l="l"/>
              <a:pathLst>
                <a:path h="2103120" w="3291840">
                  <a:moveTo>
                    <a:pt x="0" y="0"/>
                  </a:moveTo>
                  <a:lnTo>
                    <a:pt x="3291840" y="0"/>
                  </a:lnTo>
                  <a:lnTo>
                    <a:pt x="3291840" y="2103120"/>
                  </a:lnTo>
                  <a:lnTo>
                    <a:pt x="0" y="2103120"/>
                  </a:lnTo>
                  <a:close/>
                </a:path>
              </a:pathLst>
            </a:custGeom>
            <a:blipFill>
              <a:blip r:embed="rId4">
                <a:alphaModFix amt="0"/>
              </a:blip>
              <a:stretch>
                <a:fillRect l="-32028" t="0" r="-32028" b="0"/>
              </a:stretch>
            </a:blipFill>
          </p:spPr>
          <p:txBody>
            <a:bodyPr/>
            <a:p/>
          </p:txBody>
        </p:sp>
      </p:grpSp>
      <p:grpSp>
        <p:nvGrpSpPr>
          <p:cNvPr name="Group 61" id="61"/>
          <p:cNvGrpSpPr/>
          <p:nvPr/>
        </p:nvGrpSpPr>
        <p:grpSpPr>
          <a:xfrm rot="0">
            <a:off x="3154680" y="5895022"/>
            <a:ext cx="2468880" cy="1648777"/>
            <a:chOff x="0" y="0"/>
            <a:chExt cx="3291840" cy="2198370"/>
          </a:xfrm>
        </p:grpSpPr>
        <p:sp>
          <p:nvSpPr>
            <p:cNvPr name="Freeform 62" id="62"/>
            <p:cNvSpPr/>
            <p:nvPr/>
          </p:nvSpPr>
          <p:spPr>
            <a:xfrm flipH="false" flipV="false" rot="0">
              <a:off x="0" y="0"/>
              <a:ext cx="3291840" cy="2198370"/>
            </a:xfrm>
            <a:custGeom>
              <a:avLst/>
              <a:gdLst/>
              <a:ahLst/>
              <a:cxnLst/>
              <a:rect r="r" b="b" t="t" l="l"/>
              <a:pathLst>
                <a:path h="2198370" w="3291840">
                  <a:moveTo>
                    <a:pt x="0" y="0"/>
                  </a:moveTo>
                  <a:lnTo>
                    <a:pt x="3291840" y="0"/>
                  </a:lnTo>
                  <a:lnTo>
                    <a:pt x="3291840" y="2198370"/>
                  </a:lnTo>
                  <a:lnTo>
                    <a:pt x="0" y="2198370"/>
                  </a:lnTo>
                  <a:close/>
                </a:path>
              </a:pathLst>
            </a:custGeom>
            <a:blipFill>
              <a:blip r:embed="rId5">
                <a:alphaModFix amt="0"/>
              </a:blip>
              <a:stretch>
                <a:fillRect l="-35743" t="0" r="-35743" b="0"/>
              </a:stretch>
            </a:blipFill>
          </p:spPr>
          <p:txBody>
            <a:bodyPr/>
            <a:p/>
          </p:txBody>
        </p:sp>
      </p:grpSp>
      <p:grpSp>
        <p:nvGrpSpPr>
          <p:cNvPr name="Group 63" id="63"/>
          <p:cNvGrpSpPr/>
          <p:nvPr/>
        </p:nvGrpSpPr>
        <p:grpSpPr>
          <a:xfrm rot="0">
            <a:off x="3154680" y="5823585"/>
            <a:ext cx="2468880" cy="1720215"/>
            <a:chOff x="0" y="0"/>
            <a:chExt cx="3291840" cy="2293620"/>
          </a:xfrm>
        </p:grpSpPr>
        <p:sp>
          <p:nvSpPr>
            <p:cNvPr name="Freeform 64" id="64"/>
            <p:cNvSpPr/>
            <p:nvPr/>
          </p:nvSpPr>
          <p:spPr>
            <a:xfrm flipH="false" flipV="false" rot="0">
              <a:off x="0" y="0"/>
              <a:ext cx="3291840" cy="2293619"/>
            </a:xfrm>
            <a:custGeom>
              <a:avLst/>
              <a:gdLst/>
              <a:ahLst/>
              <a:cxnLst/>
              <a:rect r="r" b="b" t="t" l="l"/>
              <a:pathLst>
                <a:path h="2293619" w="3291840">
                  <a:moveTo>
                    <a:pt x="0" y="0"/>
                  </a:moveTo>
                  <a:lnTo>
                    <a:pt x="3291840" y="0"/>
                  </a:lnTo>
                  <a:lnTo>
                    <a:pt x="3291840" y="2293619"/>
                  </a:lnTo>
                  <a:lnTo>
                    <a:pt x="0" y="2293619"/>
                  </a:lnTo>
                  <a:close/>
                </a:path>
              </a:pathLst>
            </a:custGeom>
            <a:blipFill>
              <a:blip r:embed="rId6">
                <a:alphaModFix amt="0"/>
              </a:blip>
              <a:stretch>
                <a:fillRect l="-39396" t="0" r="-39396" b="0"/>
              </a:stretch>
            </a:blipFill>
          </p:spPr>
          <p:txBody>
            <a:bodyPr/>
            <a:p/>
          </p:txBody>
        </p:sp>
        <p:sp>
          <p:nvSpPr>
            <p:cNvPr name="TextBox 65" id="65"/>
            <p:cNvSpPr txBox="true"/>
            <p:nvPr/>
          </p:nvSpPr>
          <p:spPr>
            <a:xfrm>
              <a:off x="0" y="-95250"/>
              <a:ext cx="3291840" cy="2388870"/>
            </a:xfrm>
            <a:prstGeom prst="rect">
              <a:avLst/>
            </a:prstGeom>
          </p:spPr>
          <p:txBody>
            <a:bodyPr anchor="ctr" rtlCol="false" tIns="0" lIns="0" bIns="0" rIns="0"/>
            <a:lstStyle/>
            <a:p>
              <a:pPr algn="ctr">
                <a:lnSpc>
                  <a:spcPts val="5400"/>
                </a:lnSpc>
              </a:pPr>
              <a:r>
                <a:rPr lang="en-US" sz="4500" b="true">
                  <a:solidFill>
                    <a:srgbClr val="14313B"/>
                  </a:solidFill>
                  <a:latin typeface="Calibri (MS) Bold"/>
                  <a:ea typeface="Calibri (MS) Bold"/>
                  <a:cs typeface="Calibri (MS) Bold"/>
                  <a:sym typeface="Calibri (MS) Bold"/>
                </a:rPr>
                <a:t>5</a:t>
              </a:r>
            </a:p>
          </p:txBody>
        </p:sp>
      </p:grpSp>
      <p:grpSp>
        <p:nvGrpSpPr>
          <p:cNvPr name="Group 66" id="66"/>
          <p:cNvGrpSpPr/>
          <p:nvPr/>
        </p:nvGrpSpPr>
        <p:grpSpPr>
          <a:xfrm rot="0">
            <a:off x="5760720" y="5966460"/>
            <a:ext cx="2468880" cy="1577340"/>
            <a:chOff x="0" y="0"/>
            <a:chExt cx="3291840" cy="2103120"/>
          </a:xfrm>
        </p:grpSpPr>
        <p:sp>
          <p:nvSpPr>
            <p:cNvPr name="Freeform 67" id="67"/>
            <p:cNvSpPr/>
            <p:nvPr/>
          </p:nvSpPr>
          <p:spPr>
            <a:xfrm flipH="false" flipV="false" rot="0">
              <a:off x="0" y="0"/>
              <a:ext cx="3291840" cy="2103120"/>
            </a:xfrm>
            <a:custGeom>
              <a:avLst/>
              <a:gdLst/>
              <a:ahLst/>
              <a:cxnLst/>
              <a:rect r="r" b="b" t="t" l="l"/>
              <a:pathLst>
                <a:path h="2103120" w="3291840">
                  <a:moveTo>
                    <a:pt x="0" y="146304"/>
                  </a:moveTo>
                  <a:cubicBezTo>
                    <a:pt x="0" y="65532"/>
                    <a:pt x="65532" y="0"/>
                    <a:pt x="146304" y="0"/>
                  </a:cubicBezTo>
                  <a:lnTo>
                    <a:pt x="3145536" y="0"/>
                  </a:lnTo>
                  <a:cubicBezTo>
                    <a:pt x="3226308" y="0"/>
                    <a:pt x="3291840" y="65532"/>
                    <a:pt x="3291840" y="146304"/>
                  </a:cubicBezTo>
                  <a:lnTo>
                    <a:pt x="3291840" y="1956816"/>
                  </a:lnTo>
                  <a:cubicBezTo>
                    <a:pt x="3291840" y="2037588"/>
                    <a:pt x="3226308" y="2103120"/>
                    <a:pt x="3145536" y="2103120"/>
                  </a:cubicBezTo>
                  <a:lnTo>
                    <a:pt x="146304" y="2103120"/>
                  </a:lnTo>
                  <a:cubicBezTo>
                    <a:pt x="65532" y="2103120"/>
                    <a:pt x="0" y="2037588"/>
                    <a:pt x="0" y="1956816"/>
                  </a:cubicBezTo>
                  <a:close/>
                </a:path>
              </a:pathLst>
            </a:custGeom>
            <a:solidFill>
              <a:srgbClr val="39C0D3"/>
            </a:solidFill>
          </p:spPr>
          <p:txBody>
            <a:bodyPr/>
            <a:p/>
          </p:txBody>
        </p:sp>
      </p:grpSp>
      <p:grpSp>
        <p:nvGrpSpPr>
          <p:cNvPr name="Group 68" id="68"/>
          <p:cNvGrpSpPr/>
          <p:nvPr/>
        </p:nvGrpSpPr>
        <p:grpSpPr>
          <a:xfrm rot="0">
            <a:off x="5760720" y="5966460"/>
            <a:ext cx="2468880" cy="1577340"/>
            <a:chOff x="0" y="0"/>
            <a:chExt cx="3291840" cy="2103120"/>
          </a:xfrm>
        </p:grpSpPr>
        <p:sp>
          <p:nvSpPr>
            <p:cNvPr name="Freeform 69" id="69"/>
            <p:cNvSpPr/>
            <p:nvPr/>
          </p:nvSpPr>
          <p:spPr>
            <a:xfrm flipH="false" flipV="false" rot="0">
              <a:off x="0" y="0"/>
              <a:ext cx="3291840" cy="2103120"/>
            </a:xfrm>
            <a:custGeom>
              <a:avLst/>
              <a:gdLst/>
              <a:ahLst/>
              <a:cxnLst/>
              <a:rect r="r" b="b" t="t" l="l"/>
              <a:pathLst>
                <a:path h="2103120" w="3291840">
                  <a:moveTo>
                    <a:pt x="0" y="0"/>
                  </a:moveTo>
                  <a:lnTo>
                    <a:pt x="3291840" y="0"/>
                  </a:lnTo>
                  <a:lnTo>
                    <a:pt x="3291840" y="2103120"/>
                  </a:lnTo>
                  <a:lnTo>
                    <a:pt x="0" y="2103120"/>
                  </a:lnTo>
                  <a:close/>
                </a:path>
              </a:pathLst>
            </a:custGeom>
            <a:blipFill>
              <a:blip r:embed="rId4">
                <a:alphaModFix amt="0"/>
              </a:blip>
              <a:stretch>
                <a:fillRect l="-32028" t="0" r="-32028" b="0"/>
              </a:stretch>
            </a:blipFill>
          </p:spPr>
          <p:txBody>
            <a:bodyPr/>
            <a:p/>
          </p:txBody>
        </p:sp>
      </p:grpSp>
      <p:grpSp>
        <p:nvGrpSpPr>
          <p:cNvPr name="Group 70" id="70"/>
          <p:cNvGrpSpPr/>
          <p:nvPr/>
        </p:nvGrpSpPr>
        <p:grpSpPr>
          <a:xfrm rot="0">
            <a:off x="5760720" y="5895022"/>
            <a:ext cx="2468880" cy="1648777"/>
            <a:chOff x="0" y="0"/>
            <a:chExt cx="3291840" cy="2198370"/>
          </a:xfrm>
        </p:grpSpPr>
        <p:sp>
          <p:nvSpPr>
            <p:cNvPr name="Freeform 71" id="71"/>
            <p:cNvSpPr/>
            <p:nvPr/>
          </p:nvSpPr>
          <p:spPr>
            <a:xfrm flipH="false" flipV="false" rot="0">
              <a:off x="0" y="0"/>
              <a:ext cx="3291840" cy="2198370"/>
            </a:xfrm>
            <a:custGeom>
              <a:avLst/>
              <a:gdLst/>
              <a:ahLst/>
              <a:cxnLst/>
              <a:rect r="r" b="b" t="t" l="l"/>
              <a:pathLst>
                <a:path h="2198370" w="3291840">
                  <a:moveTo>
                    <a:pt x="0" y="0"/>
                  </a:moveTo>
                  <a:lnTo>
                    <a:pt x="3291840" y="0"/>
                  </a:lnTo>
                  <a:lnTo>
                    <a:pt x="3291840" y="2198370"/>
                  </a:lnTo>
                  <a:lnTo>
                    <a:pt x="0" y="2198370"/>
                  </a:lnTo>
                  <a:close/>
                </a:path>
              </a:pathLst>
            </a:custGeom>
            <a:blipFill>
              <a:blip r:embed="rId5">
                <a:alphaModFix amt="0"/>
              </a:blip>
              <a:stretch>
                <a:fillRect l="-35743" t="0" r="-35743" b="0"/>
              </a:stretch>
            </a:blipFill>
          </p:spPr>
          <p:txBody>
            <a:bodyPr/>
            <a:p/>
          </p:txBody>
        </p:sp>
      </p:grpSp>
      <p:grpSp>
        <p:nvGrpSpPr>
          <p:cNvPr name="Group 72" id="72"/>
          <p:cNvGrpSpPr/>
          <p:nvPr/>
        </p:nvGrpSpPr>
        <p:grpSpPr>
          <a:xfrm rot="0">
            <a:off x="5760720" y="5823585"/>
            <a:ext cx="2468880" cy="1720215"/>
            <a:chOff x="0" y="0"/>
            <a:chExt cx="3291840" cy="2293620"/>
          </a:xfrm>
        </p:grpSpPr>
        <p:sp>
          <p:nvSpPr>
            <p:cNvPr name="Freeform 73" id="73"/>
            <p:cNvSpPr/>
            <p:nvPr/>
          </p:nvSpPr>
          <p:spPr>
            <a:xfrm flipH="false" flipV="false" rot="0">
              <a:off x="0" y="0"/>
              <a:ext cx="3291840" cy="2293619"/>
            </a:xfrm>
            <a:custGeom>
              <a:avLst/>
              <a:gdLst/>
              <a:ahLst/>
              <a:cxnLst/>
              <a:rect r="r" b="b" t="t" l="l"/>
              <a:pathLst>
                <a:path h="2293619" w="3291840">
                  <a:moveTo>
                    <a:pt x="0" y="0"/>
                  </a:moveTo>
                  <a:lnTo>
                    <a:pt x="3291840" y="0"/>
                  </a:lnTo>
                  <a:lnTo>
                    <a:pt x="3291840" y="2293619"/>
                  </a:lnTo>
                  <a:lnTo>
                    <a:pt x="0" y="2293619"/>
                  </a:lnTo>
                  <a:close/>
                </a:path>
              </a:pathLst>
            </a:custGeom>
            <a:blipFill>
              <a:blip r:embed="rId6">
                <a:alphaModFix amt="0"/>
              </a:blip>
              <a:stretch>
                <a:fillRect l="-39396" t="0" r="-39396" b="0"/>
              </a:stretch>
            </a:blipFill>
          </p:spPr>
          <p:txBody>
            <a:bodyPr/>
            <a:p/>
          </p:txBody>
        </p:sp>
        <p:sp>
          <p:nvSpPr>
            <p:cNvPr name="TextBox 74" id="74"/>
            <p:cNvSpPr txBox="true"/>
            <p:nvPr/>
          </p:nvSpPr>
          <p:spPr>
            <a:xfrm>
              <a:off x="0" y="-95250"/>
              <a:ext cx="3291840" cy="2388870"/>
            </a:xfrm>
            <a:prstGeom prst="rect">
              <a:avLst/>
            </a:prstGeom>
          </p:spPr>
          <p:txBody>
            <a:bodyPr anchor="ctr" rtlCol="false" tIns="0" lIns="0" bIns="0" rIns="0"/>
            <a:lstStyle/>
            <a:p>
              <a:pPr algn="ctr">
                <a:lnSpc>
                  <a:spcPts val="5400"/>
                </a:lnSpc>
              </a:pPr>
              <a:r>
                <a:rPr lang="en-US" sz="4500" b="true">
                  <a:solidFill>
                    <a:srgbClr val="FFFFFF"/>
                  </a:solidFill>
                  <a:latin typeface="Calibri (MS) Bold"/>
                  <a:ea typeface="Calibri (MS) Bold"/>
                  <a:cs typeface="Calibri (MS) Bold"/>
                  <a:sym typeface="Calibri (MS) Bold"/>
                </a:rPr>
                <a:t>95</a:t>
              </a:r>
            </a:p>
          </p:txBody>
        </p:sp>
      </p:grpSp>
      <p:sp>
        <p:nvSpPr>
          <p:cNvPr name="TextBox 75" id="75"/>
          <p:cNvSpPr txBox="true"/>
          <p:nvPr/>
        </p:nvSpPr>
        <p:spPr>
          <a:xfrm rot="0">
            <a:off x="822960" y="7772400"/>
            <a:ext cx="7818120" cy="107442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Commission error dominan: 34 titik terpetakan terbangun padahal bukan, dibanding 5 omission error.</a:t>
            </a:r>
          </a:p>
        </p:txBody>
      </p:sp>
      <p:graphicFrame>
        <p:nvGraphicFramePr>
          <p:cNvPr name="Table 76" id="76"/>
          <p:cNvGraphicFramePr>
            <a:graphicFrameLocks noGrp="true"/>
          </p:cNvGraphicFramePr>
          <p:nvPr/>
        </p:nvGraphicFramePr>
        <p:xfrm>
          <a:off x="9189720" y="2400300"/>
          <a:ext cx="8216900" cy="4800600"/>
        </p:xfrm>
        <a:graphic>
          <a:graphicData uri="http://schemas.openxmlformats.org/drawingml/2006/table">
            <a:tbl>
              <a:tblPr/>
              <a:tblGrid>
                <a:gridCol w="4188856"/>
                <a:gridCol w="1728034"/>
                <a:gridCol w="2300009"/>
              </a:tblGrid>
              <a:tr h="685800">
                <a:tc>
                  <a:txBody>
                    <a:bodyPr anchor="t" rtlCol="false"/>
                    <a:lstStyle/>
                    <a:p>
                      <a:pPr algn="l">
                        <a:lnSpc>
                          <a:spcPts val="2160"/>
                        </a:lnSpc>
                        <a:defRPr/>
                      </a:pPr>
                      <a:r>
                        <a:rPr lang="en-US" sz="1800" b="true">
                          <a:solidFill>
                            <a:srgbClr val="FFFFFF"/>
                          </a:solidFill>
                          <a:latin typeface="Calibri (MS) Bold"/>
                          <a:ea typeface="Calibri (MS) Bold"/>
                          <a:cs typeface="Calibri (MS) Bold"/>
                          <a:sym typeface="Calibri (MS) Bold"/>
                        </a:rPr>
                        <a:t>Metrik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2160"/>
                        </a:lnSpc>
                        <a:defRPr/>
                      </a:pPr>
                      <a:r>
                        <a:rPr lang="en-US" sz="1800" b="true">
                          <a:solidFill>
                            <a:srgbClr val="FFFFFF"/>
                          </a:solidFill>
                          <a:latin typeface="Calibri (MS) Bold"/>
                          <a:ea typeface="Calibri (MS) Bold"/>
                          <a:cs typeface="Calibri (MS) Bold"/>
                          <a:sym typeface="Calibri (MS) Bold"/>
                        </a:rPr>
                        <a:t>Nilai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2160"/>
                        </a:lnSpc>
                        <a:defRPr/>
                      </a:pPr>
                      <a:r>
                        <a:rPr lang="en-US" sz="1800" b="true">
                          <a:solidFill>
                            <a:srgbClr val="FFFFFF"/>
                          </a:solidFill>
                          <a:latin typeface="Calibri (MS) Bold"/>
                          <a:ea typeface="Calibri (MS) Bold"/>
                          <a:cs typeface="Calibri (MS) Bold"/>
                          <a:sym typeface="Calibri (MS) Bold"/>
                        </a:rPr>
                        <a:t>IK 95%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r>
              <a:tr h="685800">
                <a:tc>
                  <a:txBody>
                    <a:bodyPr anchor="t" rtlCol="false"/>
                    <a:lstStyle/>
                    <a:p>
                      <a:pPr algn="l">
                        <a:lnSpc>
                          <a:spcPts val="2160"/>
                        </a:lnSpc>
                        <a:defRPr/>
                      </a:pPr>
                      <a:r>
                        <a:rPr lang="en-US" sz="1800">
                          <a:solidFill>
                            <a:srgbClr val="14313B"/>
                          </a:solidFill>
                          <a:latin typeface="Calibri (MS)"/>
                          <a:ea typeface="Calibri (MS)"/>
                          <a:cs typeface="Calibri (MS)"/>
                          <a:sym typeface="Calibri (MS)"/>
                        </a:rPr>
                        <a:t>Overall accuracy (tak terbobot)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80,50%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74,46–85,39%</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685800">
                <a:tc>
                  <a:txBody>
                    <a:bodyPr anchor="t" rtlCol="false"/>
                    <a:lstStyle/>
                    <a:p>
                      <a:pPr algn="l">
                        <a:lnSpc>
                          <a:spcPts val="2160"/>
                        </a:lnSpc>
                        <a:defRPr/>
                      </a:pPr>
                      <a:r>
                        <a:rPr lang="en-US" sz="1800">
                          <a:solidFill>
                            <a:srgbClr val="14313B"/>
                          </a:solidFill>
                          <a:latin typeface="Calibri (MS)"/>
                          <a:ea typeface="Calibri (MS)"/>
                          <a:cs typeface="Calibri (MS)"/>
                          <a:sym typeface="Calibri (MS)"/>
                        </a:rPr>
                        <a:t>Overall accuracy (terbobot luas)</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89,95%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86,05–93,85%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685800">
                <a:tc>
                  <a:txBody>
                    <a:bodyPr anchor="t" rtlCol="false"/>
                    <a:lstStyle/>
                    <a:p>
                      <a:pPr algn="l">
                        <a:lnSpc>
                          <a:spcPts val="2160"/>
                        </a:lnSpc>
                        <a:defRPr/>
                      </a:pPr>
                      <a:r>
                        <a:rPr lang="en-US" sz="1800">
                          <a:solidFill>
                            <a:srgbClr val="14313B"/>
                          </a:solidFill>
                          <a:latin typeface="Calibri (MS)"/>
                          <a:ea typeface="Calibri (MS)"/>
                          <a:cs typeface="Calibri (MS)"/>
                          <a:sym typeface="Calibri (MS)"/>
                        </a:rPr>
                        <a:t>User's accuracy — terbangun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66,00%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56,67–75,33%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685800">
                <a:tc>
                  <a:txBody>
                    <a:bodyPr anchor="t" rtlCol="false"/>
                    <a:lstStyle/>
                    <a:p>
                      <a:pPr algn="l">
                        <a:lnSpc>
                          <a:spcPts val="2160"/>
                        </a:lnSpc>
                        <a:defRPr/>
                      </a:pPr>
                      <a:r>
                        <a:rPr lang="en-US" sz="1800">
                          <a:solidFill>
                            <a:srgbClr val="14313B"/>
                          </a:solidFill>
                          <a:latin typeface="Calibri (MS)"/>
                          <a:ea typeface="Calibri (MS)"/>
                          <a:cs typeface="Calibri (MS)"/>
                          <a:sym typeface="Calibri (MS)"/>
                        </a:rPr>
                        <a:t>Producer's accuracy — terbangun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73,58%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56,66–90,50%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685800">
                <a:tc>
                  <a:txBody>
                    <a:bodyPr anchor="t" rtlCol="false"/>
                    <a:lstStyle/>
                    <a:p>
                      <a:pPr algn="l">
                        <a:lnSpc>
                          <a:spcPts val="2160"/>
                        </a:lnSpc>
                        <a:defRPr/>
                      </a:pPr>
                      <a:r>
                        <a:rPr lang="en-US" sz="1800">
                          <a:solidFill>
                            <a:srgbClr val="14313B"/>
                          </a:solidFill>
                          <a:latin typeface="Calibri (MS)"/>
                          <a:ea typeface="Calibri (MS)"/>
                          <a:cs typeface="Calibri (MS)"/>
                          <a:sym typeface="Calibri (MS)"/>
                        </a:rPr>
                        <a:t>F1-score kelas terbangun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77,19%</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685800">
                <a:tc>
                  <a:txBody>
                    <a:bodyPr anchor="t" rtlCol="false"/>
                    <a:lstStyle/>
                    <a:p>
                      <a:pPr algn="l">
                        <a:lnSpc>
                          <a:spcPts val="2160"/>
                        </a:lnSpc>
                        <a:defRPr/>
                      </a:pPr>
                      <a:r>
                        <a:rPr lang="en-US" sz="1800">
                          <a:solidFill>
                            <a:srgbClr val="14313B"/>
                          </a:solidFill>
                          <a:latin typeface="Calibri (MS)"/>
                          <a:ea typeface="Calibri (MS)"/>
                          <a:cs typeface="Calibri (MS)"/>
                          <a:sym typeface="Calibri (MS)"/>
                        </a:rPr>
                        <a:t>Koefisien Kappa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0,6100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0,5002–0,7198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bl>
          </a:graphicData>
        </a:graphic>
      </p:graphicFrame>
      <p:grpSp>
        <p:nvGrpSpPr>
          <p:cNvPr name="Group 77" id="77"/>
          <p:cNvGrpSpPr/>
          <p:nvPr/>
        </p:nvGrpSpPr>
        <p:grpSpPr>
          <a:xfrm rot="0">
            <a:off x="9189720" y="7475220"/>
            <a:ext cx="8270748" cy="1783080"/>
            <a:chOff x="0" y="0"/>
            <a:chExt cx="11027664" cy="2377440"/>
          </a:xfrm>
        </p:grpSpPr>
        <p:sp>
          <p:nvSpPr>
            <p:cNvPr name="Freeform 78" id="78"/>
            <p:cNvSpPr/>
            <p:nvPr/>
          </p:nvSpPr>
          <p:spPr>
            <a:xfrm flipH="false" flipV="false" rot="0">
              <a:off x="0" y="0"/>
              <a:ext cx="11027664" cy="2377440"/>
            </a:xfrm>
            <a:custGeom>
              <a:avLst/>
              <a:gdLst/>
              <a:ahLst/>
              <a:cxnLst/>
              <a:rect r="r" b="b" t="t" l="l"/>
              <a:pathLst>
                <a:path h="2377440" w="11027664">
                  <a:moveTo>
                    <a:pt x="0" y="182880"/>
                  </a:moveTo>
                  <a:cubicBezTo>
                    <a:pt x="0" y="81915"/>
                    <a:pt x="81915" y="0"/>
                    <a:pt x="182880" y="0"/>
                  </a:cubicBezTo>
                  <a:lnTo>
                    <a:pt x="10844784" y="0"/>
                  </a:lnTo>
                  <a:cubicBezTo>
                    <a:pt x="10945749" y="0"/>
                    <a:pt x="11027664" y="81915"/>
                    <a:pt x="11027664" y="182880"/>
                  </a:cubicBezTo>
                  <a:lnTo>
                    <a:pt x="11027664" y="2194560"/>
                  </a:lnTo>
                  <a:cubicBezTo>
                    <a:pt x="11027664" y="2295525"/>
                    <a:pt x="10945749" y="2377440"/>
                    <a:pt x="10844784" y="2377440"/>
                  </a:cubicBezTo>
                  <a:lnTo>
                    <a:pt x="182880" y="2377440"/>
                  </a:lnTo>
                  <a:cubicBezTo>
                    <a:pt x="81915" y="2377440"/>
                    <a:pt x="0" y="2295525"/>
                    <a:pt x="0" y="2194560"/>
                  </a:cubicBezTo>
                  <a:close/>
                </a:path>
              </a:pathLst>
            </a:custGeom>
            <a:solidFill>
              <a:srgbClr val="FFF1BF"/>
            </a:solidFill>
          </p:spPr>
          <p:txBody>
            <a:bodyPr/>
            <a:p/>
          </p:txBody>
        </p:sp>
      </p:grpSp>
      <p:grpSp>
        <p:nvGrpSpPr>
          <p:cNvPr name="Group 79" id="79"/>
          <p:cNvGrpSpPr/>
          <p:nvPr/>
        </p:nvGrpSpPr>
        <p:grpSpPr>
          <a:xfrm rot="0">
            <a:off x="9532620" y="7475220"/>
            <a:ext cx="7612380" cy="1783080"/>
            <a:chOff x="0" y="0"/>
            <a:chExt cx="10149840" cy="2377440"/>
          </a:xfrm>
        </p:grpSpPr>
        <p:sp>
          <p:nvSpPr>
            <p:cNvPr name="Freeform 80" id="80"/>
            <p:cNvSpPr/>
            <p:nvPr/>
          </p:nvSpPr>
          <p:spPr>
            <a:xfrm flipH="false" flipV="false" rot="0">
              <a:off x="0" y="0"/>
              <a:ext cx="10149840" cy="2377440"/>
            </a:xfrm>
            <a:custGeom>
              <a:avLst/>
              <a:gdLst/>
              <a:ahLst/>
              <a:cxnLst/>
              <a:rect r="r" b="b" t="t" l="l"/>
              <a:pathLst>
                <a:path h="2377440" w="10149840">
                  <a:moveTo>
                    <a:pt x="0" y="0"/>
                  </a:moveTo>
                  <a:lnTo>
                    <a:pt x="10149840" y="0"/>
                  </a:lnTo>
                  <a:lnTo>
                    <a:pt x="10149840" y="2377440"/>
                  </a:lnTo>
                  <a:lnTo>
                    <a:pt x="0" y="2377440"/>
                  </a:lnTo>
                  <a:close/>
                </a:path>
              </a:pathLst>
            </a:custGeom>
            <a:blipFill>
              <a:blip r:embed="rId4">
                <a:alphaModFix amt="0"/>
              </a:blip>
              <a:stretch>
                <a:fillRect l="0" t="-33128" r="0" b="-33128"/>
              </a:stretch>
            </a:blipFill>
          </p:spPr>
          <p:txBody>
            <a:bodyPr/>
            <a:p/>
          </p:txBody>
        </p:sp>
      </p:grpSp>
      <p:grpSp>
        <p:nvGrpSpPr>
          <p:cNvPr name="Group 81" id="81"/>
          <p:cNvGrpSpPr/>
          <p:nvPr/>
        </p:nvGrpSpPr>
        <p:grpSpPr>
          <a:xfrm rot="0">
            <a:off x="9532620" y="7446645"/>
            <a:ext cx="7612380" cy="1811655"/>
            <a:chOff x="0" y="0"/>
            <a:chExt cx="10149840" cy="2415540"/>
          </a:xfrm>
        </p:grpSpPr>
        <p:sp>
          <p:nvSpPr>
            <p:cNvPr name="Freeform 82" id="82"/>
            <p:cNvSpPr/>
            <p:nvPr/>
          </p:nvSpPr>
          <p:spPr>
            <a:xfrm flipH="false" flipV="false" rot="0">
              <a:off x="0" y="0"/>
              <a:ext cx="10149840" cy="2415540"/>
            </a:xfrm>
            <a:custGeom>
              <a:avLst/>
              <a:gdLst/>
              <a:ahLst/>
              <a:cxnLst/>
              <a:rect r="r" b="b" t="t" l="l"/>
              <a:pathLst>
                <a:path h="2415540" w="10149840">
                  <a:moveTo>
                    <a:pt x="0" y="0"/>
                  </a:moveTo>
                  <a:lnTo>
                    <a:pt x="10149840" y="0"/>
                  </a:lnTo>
                  <a:lnTo>
                    <a:pt x="10149840" y="2415540"/>
                  </a:lnTo>
                  <a:lnTo>
                    <a:pt x="0" y="2415540"/>
                  </a:lnTo>
                  <a:close/>
                </a:path>
              </a:pathLst>
            </a:custGeom>
            <a:blipFill>
              <a:blip r:embed="rId5">
                <a:alphaModFix amt="0"/>
              </a:blip>
              <a:stretch>
                <a:fillRect l="0" t="-31817" r="0" b="-31817"/>
              </a:stretch>
            </a:blipFill>
          </p:spPr>
          <p:txBody>
            <a:bodyPr/>
            <a:p/>
          </p:txBody>
        </p:sp>
      </p:grpSp>
      <p:grpSp>
        <p:nvGrpSpPr>
          <p:cNvPr name="Group 83" id="83"/>
          <p:cNvGrpSpPr/>
          <p:nvPr/>
        </p:nvGrpSpPr>
        <p:grpSpPr>
          <a:xfrm rot="0">
            <a:off x="9532620" y="7418070"/>
            <a:ext cx="7612380" cy="1840230"/>
            <a:chOff x="0" y="0"/>
            <a:chExt cx="10149840" cy="2453640"/>
          </a:xfrm>
        </p:grpSpPr>
        <p:sp>
          <p:nvSpPr>
            <p:cNvPr name="Freeform 84" id="84"/>
            <p:cNvSpPr/>
            <p:nvPr/>
          </p:nvSpPr>
          <p:spPr>
            <a:xfrm flipH="false" flipV="false" rot="0">
              <a:off x="0" y="0"/>
              <a:ext cx="10149840" cy="2453640"/>
            </a:xfrm>
            <a:custGeom>
              <a:avLst/>
              <a:gdLst/>
              <a:ahLst/>
              <a:cxnLst/>
              <a:rect r="r" b="b" t="t" l="l"/>
              <a:pathLst>
                <a:path h="2453640" w="10149840">
                  <a:moveTo>
                    <a:pt x="0" y="0"/>
                  </a:moveTo>
                  <a:lnTo>
                    <a:pt x="10149840" y="0"/>
                  </a:lnTo>
                  <a:lnTo>
                    <a:pt x="10149840" y="2453640"/>
                  </a:lnTo>
                  <a:lnTo>
                    <a:pt x="0" y="2453640"/>
                  </a:lnTo>
                  <a:close/>
                </a:path>
              </a:pathLst>
            </a:custGeom>
            <a:blipFill>
              <a:blip r:embed="rId6">
                <a:alphaModFix amt="0"/>
              </a:blip>
              <a:stretch>
                <a:fillRect l="0" t="-30602" r="0" b="-30602"/>
              </a:stretch>
            </a:blipFill>
          </p:spPr>
          <p:txBody>
            <a:bodyPr/>
            <a:p/>
          </p:txBody>
        </p:sp>
        <p:sp>
          <p:nvSpPr>
            <p:cNvPr name="TextBox 85" id="85"/>
            <p:cNvSpPr txBox="true"/>
            <p:nvPr/>
          </p:nvSpPr>
          <p:spPr>
            <a:xfrm>
              <a:off x="0" y="-38100"/>
              <a:ext cx="10149840" cy="2491740"/>
            </a:xfrm>
            <a:prstGeom prst="rect">
              <a:avLst/>
            </a:prstGeom>
          </p:spPr>
          <p:txBody>
            <a:bodyPr anchor="ctr" rtlCol="false" tIns="0" lIns="0" bIns="0" rIns="0"/>
            <a:lstStyle/>
            <a:p>
              <a:pPr algn="l">
                <a:lnSpc>
                  <a:spcPts val="2250"/>
                </a:lnSpc>
              </a:pPr>
              <a:r>
                <a:rPr lang="en-US" sz="1875">
                  <a:solidFill>
                    <a:srgbClr val="14313B"/>
                  </a:solidFill>
                  <a:latin typeface="Calibri (MS)"/>
                  <a:ea typeface="Calibri (MS)"/>
                  <a:cs typeface="Calibri (MS)"/>
                  <a:sym typeface="Calibri (MS)"/>
                </a:rPr>
                <a:t>Kesalahan terkumpul pada titik dengan probabilitas dekat 0,5 (akurasi 52,0% pada selang 0,5–0,6 vs 97,7% pada 0–0,25): piksel campuran di tepi objek, bukan kesalahan acak.</a:t>
              </a:r>
            </a:p>
          </p:txBody>
        </p:sp>
      </p:grpSp>
      <p:sp>
        <p:nvSpPr>
          <p:cNvPr name="TextBox 86" id="86"/>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79</a:t>
            </a:r>
          </a:p>
        </p:txBody>
      </p:sp>
    </p:spTree>
  </p:cSld>
  <p:clrMapOvr>
    <a:masterClrMapping/>
  </p:clrMapOvr>
</p:sld>
</file>

<file path=ppt/slides/slide8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68580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5 · Data pendukung</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21" id="21"/>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80</a:t>
            </a:r>
          </a:p>
        </p:txBody>
      </p:sp>
      <p:graphicFrame>
        <p:nvGraphicFramePr>
          <p:cNvPr name="Table 22" id="22"/>
          <p:cNvGraphicFramePr>
            <a:graphicFrameLocks noGrp="true"/>
          </p:cNvGraphicFramePr>
          <p:nvPr/>
        </p:nvGraphicFramePr>
        <p:xfrm>
          <a:off x="822960" y="2286000"/>
          <a:ext cx="10020300" cy="2971800"/>
        </p:xfrm>
        <a:graphic>
          <a:graphicData uri="http://schemas.openxmlformats.org/drawingml/2006/table">
            <a:tbl>
              <a:tblPr/>
              <a:tblGrid>
                <a:gridCol w="888897"/>
                <a:gridCol w="1858604"/>
                <a:gridCol w="2424266"/>
                <a:gridCol w="2262648"/>
                <a:gridCol w="2585885"/>
              </a:tblGrid>
              <a:tr h="495300">
                <a:tc>
                  <a:txBody>
                    <a:bodyPr anchor="t" rtlCol="false"/>
                    <a:lstStyle/>
                    <a:p>
                      <a:pPr algn="l">
                        <a:lnSpc>
                          <a:spcPts val="1788"/>
                        </a:lnSpc>
                        <a:defRPr/>
                      </a:pPr>
                      <a:r>
                        <a:rPr lang="en-US" sz="1490" b="true">
                          <a:solidFill>
                            <a:srgbClr val="FFFFFF"/>
                          </a:solidFill>
                          <a:latin typeface="Calibri (MS) Bold"/>
                          <a:ea typeface="Calibri (MS) Bold"/>
                          <a:cs typeface="Calibri (MS) Bold"/>
                          <a:sym typeface="Calibri (MS) Bold"/>
                        </a:rPr>
                        <a:t>Tahun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88"/>
                        </a:lnSpc>
                        <a:defRPr/>
                      </a:pPr>
                      <a:r>
                        <a:rPr lang="en-US" sz="1490" b="true">
                          <a:solidFill>
                            <a:srgbClr val="FFFFFF"/>
                          </a:solidFill>
                          <a:latin typeface="Calibri (MS) Bold"/>
                          <a:ea typeface="Calibri (MS) Bold"/>
                          <a:cs typeface="Calibri (MS) Bold"/>
                          <a:sym typeface="Calibri (MS) Bold"/>
                        </a:rPr>
                        <a:t>TK pariwisata (jiwa)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88"/>
                        </a:lnSpc>
                        <a:defRPr/>
                      </a:pPr>
                      <a:r>
                        <a:rPr lang="en-US" sz="1490" b="true">
                          <a:solidFill>
                            <a:srgbClr val="FFFFFF"/>
                          </a:solidFill>
                          <a:latin typeface="Calibri (MS) Bold"/>
                          <a:ea typeface="Calibri (MS) Bold"/>
                          <a:cs typeface="Calibri (MS) Bold"/>
                          <a:sym typeface="Calibri (MS) Bold"/>
                        </a:rPr>
                        <a:t>Status TK</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88"/>
                        </a:lnSpc>
                        <a:defRPr/>
                      </a:pPr>
                      <a:r>
                        <a:rPr lang="en-US" sz="1490" b="true">
                          <a:solidFill>
                            <a:srgbClr val="FFFFFF"/>
                          </a:solidFill>
                          <a:latin typeface="Calibri (MS) Bold"/>
                          <a:ea typeface="Calibri (MS) Bold"/>
                          <a:cs typeface="Calibri (MS) Bold"/>
                          <a:sym typeface="Calibri (MS) Bold"/>
                        </a:rPr>
                        <a:t>Pengeluaran/kunjungan (Rp)</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88"/>
                        </a:lnSpc>
                        <a:defRPr/>
                      </a:pPr>
                      <a:r>
                        <a:rPr lang="en-US" sz="1490" b="true">
                          <a:solidFill>
                            <a:srgbClr val="FFFFFF"/>
                          </a:solidFill>
                          <a:latin typeface="Calibri (MS) Bold"/>
                          <a:ea typeface="Calibri (MS) Bold"/>
                          <a:cs typeface="Calibri (MS) Bold"/>
                          <a:sym typeface="Calibri (MS) Bold"/>
                        </a:rPr>
                        <a:t>Status pengeluaran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r>
              <a:tr h="495300">
                <a:tc>
                  <a:txBody>
                    <a:bodyPr anchor="t" rtlCol="false"/>
                    <a:lstStyle/>
                    <a:p>
                      <a:pPr algn="l">
                        <a:lnSpc>
                          <a:spcPts val="1788"/>
                        </a:lnSpc>
                        <a:defRPr/>
                      </a:pPr>
                      <a:r>
                        <a:rPr lang="en-US" sz="1490">
                          <a:solidFill>
                            <a:srgbClr val="14313B"/>
                          </a:solidFill>
                          <a:latin typeface="Calibri (MS)"/>
                          <a:ea typeface="Calibri (MS)"/>
                          <a:cs typeface="Calibri (MS)"/>
                          <a:sym typeface="Calibri (MS)"/>
                        </a:rPr>
                        <a:t>2015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254.537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Ekstrapolasi CAGR 3,67%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1.023.749</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Ekstrapolasi CAGR 10,27%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495300">
                <a:tc>
                  <a:txBody>
                    <a:bodyPr anchor="t" rtlCol="false"/>
                    <a:lstStyle/>
                    <a:p>
                      <a:pPr algn="l">
                        <a:lnSpc>
                          <a:spcPts val="1788"/>
                        </a:lnSpc>
                        <a:defRPr/>
                      </a:pPr>
                      <a:r>
                        <a:rPr lang="en-US" sz="1490">
                          <a:solidFill>
                            <a:srgbClr val="14313B"/>
                          </a:solidFill>
                          <a:latin typeface="Calibri (MS)"/>
                          <a:ea typeface="Calibri (MS)"/>
                          <a:cs typeface="Calibri (MS)"/>
                          <a:sym typeface="Calibri (MS)"/>
                        </a:rPr>
                        <a:t>2016</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263.878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Ekstrapolasi CAGR 3,67%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1.128.845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Ekstrapolasi CAGR 10,27%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495300">
                <a:tc>
                  <a:txBody>
                    <a:bodyPr anchor="t" rtlCol="false"/>
                    <a:lstStyle/>
                    <a:p>
                      <a:pPr algn="l">
                        <a:lnSpc>
                          <a:spcPts val="1788"/>
                        </a:lnSpc>
                        <a:defRPr/>
                      </a:pPr>
                      <a:r>
                        <a:rPr lang="en-US" sz="1490">
                          <a:solidFill>
                            <a:srgbClr val="14313B"/>
                          </a:solidFill>
                          <a:latin typeface="Calibri (MS)"/>
                          <a:ea typeface="Calibri (MS)"/>
                          <a:cs typeface="Calibri (MS)"/>
                          <a:sym typeface="Calibri (MS)"/>
                        </a:rPr>
                        <a:t>2017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273.563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Sakernas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1.244.730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Ekstrapolasi CAGR 10,27%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495300">
                <a:tc>
                  <a:txBody>
                    <a:bodyPr anchor="t" rtlCol="false"/>
                    <a:lstStyle/>
                    <a:p>
                      <a:pPr algn="l">
                        <a:lnSpc>
                          <a:spcPts val="1788"/>
                        </a:lnSpc>
                        <a:defRPr/>
                      </a:pPr>
                      <a:r>
                        <a:rPr lang="en-US" sz="1490">
                          <a:solidFill>
                            <a:srgbClr val="14313B"/>
                          </a:solidFill>
                          <a:latin typeface="Calibri (MS)"/>
                          <a:ea typeface="Calibri (MS)"/>
                          <a:cs typeface="Calibri (MS)"/>
                          <a:sym typeface="Calibri (MS)"/>
                        </a:rPr>
                        <a:t>2018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354.684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Sakernas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1.372.512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Observasi (tertimbang)</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495300">
                <a:tc>
                  <a:txBody>
                    <a:bodyPr anchor="t" rtlCol="false"/>
                    <a:lstStyle/>
                    <a:p>
                      <a:pPr algn="l">
                        <a:lnSpc>
                          <a:spcPts val="1788"/>
                        </a:lnSpc>
                        <a:defRPr/>
                      </a:pPr>
                      <a:r>
                        <a:rPr lang="en-US" sz="1490">
                          <a:solidFill>
                            <a:srgbClr val="14313B"/>
                          </a:solidFill>
                          <a:latin typeface="Calibri (MS)"/>
                          <a:ea typeface="Calibri (MS)"/>
                          <a:cs typeface="Calibri (MS)"/>
                          <a:sym typeface="Calibri (MS)"/>
                        </a:rPr>
                        <a:t>2025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364.994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Sakernas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2.720.209</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Observasi (tertimbang)</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bl>
          </a:graphicData>
        </a:graphic>
      </p:graphicFrame>
      <p:grpSp>
        <p:nvGrpSpPr>
          <p:cNvPr name="Group 23" id="23"/>
          <p:cNvGrpSpPr/>
          <p:nvPr/>
        </p:nvGrpSpPr>
        <p:grpSpPr>
          <a:xfrm rot="0">
            <a:off x="816607" y="5480047"/>
            <a:ext cx="10071097" cy="2755897"/>
            <a:chOff x="0" y="0"/>
            <a:chExt cx="13428129" cy="3674529"/>
          </a:xfrm>
        </p:grpSpPr>
        <p:sp>
          <p:nvSpPr>
            <p:cNvPr name="Freeform 24" id="24"/>
            <p:cNvSpPr/>
            <p:nvPr/>
          </p:nvSpPr>
          <p:spPr>
            <a:xfrm flipH="false" flipV="false" rot="0">
              <a:off x="0" y="0"/>
              <a:ext cx="13428218" cy="3674618"/>
            </a:xfrm>
            <a:custGeom>
              <a:avLst/>
              <a:gdLst/>
              <a:ahLst/>
              <a:cxnLst/>
              <a:rect r="r" b="b" t="t" l="l"/>
              <a:pathLst>
                <a:path h="3674618" w="13428218">
                  <a:moveTo>
                    <a:pt x="0" y="294005"/>
                  </a:moveTo>
                  <a:cubicBezTo>
                    <a:pt x="0" y="131572"/>
                    <a:pt x="131572" y="0"/>
                    <a:pt x="294005" y="0"/>
                  </a:cubicBezTo>
                  <a:lnTo>
                    <a:pt x="13134212" y="0"/>
                  </a:lnTo>
                  <a:cubicBezTo>
                    <a:pt x="13296519" y="0"/>
                    <a:pt x="13428218" y="131572"/>
                    <a:pt x="13428218" y="294005"/>
                  </a:cubicBezTo>
                  <a:lnTo>
                    <a:pt x="13428218" y="3380613"/>
                  </a:lnTo>
                  <a:cubicBezTo>
                    <a:pt x="13428218" y="3542919"/>
                    <a:pt x="13296646" y="3674618"/>
                    <a:pt x="13134212" y="3674618"/>
                  </a:cubicBezTo>
                  <a:lnTo>
                    <a:pt x="294005" y="3674618"/>
                  </a:lnTo>
                  <a:cubicBezTo>
                    <a:pt x="131572" y="3674491"/>
                    <a:pt x="0" y="3542919"/>
                    <a:pt x="0" y="3380613"/>
                  </a:cubicBezTo>
                  <a:close/>
                </a:path>
              </a:pathLst>
            </a:custGeom>
            <a:solidFill>
              <a:srgbClr val="EAF8FA"/>
            </a:solidFill>
            <a:ln w="12700" cap="sq">
              <a:solidFill>
                <a:srgbClr val="CFE5E9"/>
              </a:solidFill>
              <a:prstDash val="solid"/>
              <a:miter/>
            </a:ln>
          </p:spPr>
          <p:txBody>
            <a:bodyPr/>
            <a:p/>
          </p:txBody>
        </p:sp>
        <p:sp>
          <p:nvSpPr>
            <p:cNvPr name="TextBox 25" id="25"/>
            <p:cNvSpPr txBox="true"/>
            <p:nvPr/>
          </p:nvSpPr>
          <p:spPr>
            <a:xfrm>
              <a:off x="0" y="-38100"/>
              <a:ext cx="13428129" cy="3712629"/>
            </a:xfrm>
            <a:prstGeom prst="rect">
              <a:avLst/>
            </a:prstGeom>
          </p:spPr>
          <p:txBody>
            <a:bodyPr anchor="t"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Catatan</a:t>
              </a:r>
            </a:p>
            <a:p>
              <a:pPr algn="l">
                <a:lnSpc>
                  <a:spcPts val="1788"/>
                </a:lnSpc>
              </a:pPr>
              <a:r>
                <a:rPr lang="en-US" sz="1490">
                  <a:solidFill>
                    <a:srgbClr val="14313B"/>
                  </a:solidFill>
                  <a:latin typeface="Calibri (MS)"/>
                  <a:ea typeface="Calibri (MS)"/>
                  <a:cs typeface="Calibri (MS)"/>
                  <a:sym typeface="Calibri (MS)"/>
                </a:rPr>
                <a:t>• TK 2015–2016: NTL (R² selisih 0,070) dan PDRB (R² selisih 0,093) tidak layak sebagai penduga; dipakai CAGR 2017–2025.</a:t>
              </a:r>
            </a:p>
            <a:p>
              <a:pPr algn="l">
                <a:lnSpc>
                  <a:spcPts val="1788"/>
                </a:lnSpc>
              </a:pPr>
              <a:r>
                <a:rPr lang="en-US" sz="1490">
                  <a:solidFill>
                    <a:srgbClr val="14313B"/>
                  </a:solidFill>
                  <a:latin typeface="Calibri (MS)"/>
                  <a:ea typeface="Calibri (MS)"/>
                  <a:cs typeface="Calibri (MS)"/>
                  <a:sym typeface="Calibri (MS)"/>
                </a:rPr>
                <a:t>• Pengeluaran per kunjungan = rata-rata tertimbang wisnus (DIY, ribu Rp) dan wisman (nasional, US$ × kurs tengah BI).</a:t>
              </a:r>
            </a:p>
            <a:p>
              <a:pPr algn="l">
                <a:lnSpc>
                  <a:spcPts val="1788"/>
                </a:lnSpc>
              </a:pPr>
              <a:r>
                <a:rPr lang="en-US" sz="1490">
                  <a:solidFill>
                    <a:srgbClr val="14313B"/>
                  </a:solidFill>
                  <a:latin typeface="Calibri (MS)"/>
                  <a:ea typeface="Calibri (MS)"/>
                  <a:cs typeface="Calibri (MS)"/>
                  <a:sym typeface="Calibri (MS)"/>
                </a:rPr>
                <a:t>• Faktor sambung wisnus: g_pra 7,63%; g_pasca 15,52%; g_wajar 11,58%; lompatan 2,566 → 2,2997.</a:t>
              </a:r>
            </a:p>
          </p:txBody>
        </p:sp>
      </p:grpSp>
      <p:grpSp>
        <p:nvGrpSpPr>
          <p:cNvPr name="Group 26" id="26"/>
          <p:cNvGrpSpPr/>
          <p:nvPr/>
        </p:nvGrpSpPr>
        <p:grpSpPr>
          <a:xfrm rot="0">
            <a:off x="11149327" y="2279647"/>
            <a:ext cx="6322057" cy="5956297"/>
            <a:chOff x="0" y="0"/>
            <a:chExt cx="8429409" cy="7941729"/>
          </a:xfrm>
        </p:grpSpPr>
        <p:sp>
          <p:nvSpPr>
            <p:cNvPr name="Freeform 27" id="27"/>
            <p:cNvSpPr/>
            <p:nvPr/>
          </p:nvSpPr>
          <p:spPr>
            <a:xfrm flipH="false" flipV="false" rot="0">
              <a:off x="0" y="0"/>
              <a:ext cx="8429499" cy="7941818"/>
            </a:xfrm>
            <a:custGeom>
              <a:avLst/>
              <a:gdLst/>
              <a:ahLst/>
              <a:cxnLst/>
              <a:rect r="r" b="b" t="t" l="l"/>
              <a:pathLst>
                <a:path h="7941818" w="8429499">
                  <a:moveTo>
                    <a:pt x="0" y="635381"/>
                  </a:moveTo>
                  <a:cubicBezTo>
                    <a:pt x="0" y="284480"/>
                    <a:pt x="284480" y="0"/>
                    <a:pt x="635381" y="0"/>
                  </a:cubicBezTo>
                  <a:lnTo>
                    <a:pt x="7794117" y="0"/>
                  </a:lnTo>
                  <a:cubicBezTo>
                    <a:pt x="8145018" y="0"/>
                    <a:pt x="8429499" y="284480"/>
                    <a:pt x="8429499" y="635381"/>
                  </a:cubicBezTo>
                  <a:lnTo>
                    <a:pt x="8429499" y="7306437"/>
                  </a:lnTo>
                  <a:cubicBezTo>
                    <a:pt x="8429499" y="7657338"/>
                    <a:pt x="8145018" y="7941818"/>
                    <a:pt x="7794117" y="7941818"/>
                  </a:cubicBezTo>
                  <a:lnTo>
                    <a:pt x="635381" y="7941818"/>
                  </a:lnTo>
                  <a:cubicBezTo>
                    <a:pt x="284480" y="7941691"/>
                    <a:pt x="0" y="7657338"/>
                    <a:pt x="0" y="7306437"/>
                  </a:cubicBezTo>
                  <a:close/>
                </a:path>
              </a:pathLst>
            </a:custGeom>
            <a:solidFill>
              <a:srgbClr val="EAF8FA"/>
            </a:solidFill>
            <a:ln w="12700" cap="sq">
              <a:solidFill>
                <a:srgbClr val="CFE5E9"/>
              </a:solidFill>
              <a:prstDash val="solid"/>
              <a:miter/>
            </a:ln>
          </p:spPr>
          <p:txBody>
            <a:bodyPr/>
            <a:p/>
          </p:txBody>
        </p:sp>
        <p:sp>
          <p:nvSpPr>
            <p:cNvPr name="TextBox 28" id="28"/>
            <p:cNvSpPr txBox="true"/>
            <p:nvPr/>
          </p:nvSpPr>
          <p:spPr>
            <a:xfrm>
              <a:off x="0" y="-38100"/>
              <a:ext cx="8429409" cy="7979829"/>
            </a:xfrm>
            <a:prstGeom prst="rect">
              <a:avLst/>
            </a:prstGeom>
          </p:spPr>
          <p:txBody>
            <a:bodyPr anchor="t"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Spesifikasi Google Earth Engine</a:t>
              </a:r>
            </a:p>
            <a:p>
              <a:pPr algn="l">
                <a:lnSpc>
                  <a:spcPts val="1788"/>
                </a:lnSpc>
              </a:pPr>
              <a:r>
                <a:rPr lang="en-US" sz="1490">
                  <a:solidFill>
                    <a:srgbClr val="14313B"/>
                  </a:solidFill>
                  <a:latin typeface="Calibri (MS)"/>
                  <a:ea typeface="Calibri (MS)"/>
                  <a:cs typeface="Calibri (MS)"/>
                  <a:sym typeface="Calibri (MS)"/>
                </a:rPr>
                <a:t>NTL: NOAA/VIIRS/DNB/MONTHLY_V1/VCMSLCFG, band avg_rad, rata-rata bulanan → tahunan, reduceRegions mean, skala 500 m.</a:t>
              </a:r>
            </a:p>
            <a:p>
              <a:pPr algn="l">
                <a:lnSpc>
                  <a:spcPts val="1788"/>
                </a:lnSpc>
              </a:pPr>
              <a:r>
                <a:rPr lang="en-US" sz="1490">
                  <a:solidFill>
                    <a:srgbClr val="14313B"/>
                  </a:solidFill>
                  <a:latin typeface="Calibri (MS)"/>
                  <a:ea typeface="Calibri (MS)"/>
                  <a:cs typeface="Calibri (MS)"/>
                  <a:sym typeface="Calibri (MS)"/>
                </a:rPr>
                <a:t>Batas wilayah: FAO/GAUL/2015/level1 (DIY).</a:t>
              </a:r>
            </a:p>
            <a:p>
              <a:pPr algn="l">
                <a:lnSpc>
                  <a:spcPts val="1788"/>
                </a:lnSpc>
              </a:pPr>
              <a:r>
                <a:rPr lang="en-US" sz="1490">
                  <a:solidFill>
                    <a:srgbClr val="14313B"/>
                  </a:solidFill>
                  <a:latin typeface="Calibri (MS)"/>
                  <a:ea typeface="Calibri (MS)"/>
                  <a:cs typeface="Calibri (MS)"/>
                  <a:sym typeface="Calibri (MS)"/>
                </a:rPr>
                <a:t>Dynamic World: GOOGLE/DYNAMICWORLD/V1, band built dirata-ratakan per tahun, batas probabilitas ≥ 0,5, pixelArea, skala 10 m.</a:t>
              </a:r>
            </a:p>
            <a:p>
              <a:pPr algn="l">
                <a:lnSpc>
                  <a:spcPts val="1788"/>
                </a:lnSpc>
              </a:pPr>
              <a:r>
                <a:rPr lang="en-US" sz="1490">
                  <a:solidFill>
                    <a:srgbClr val="14313B"/>
                  </a:solidFill>
                  <a:latin typeface="Calibri (MS)"/>
                  <a:ea typeface="Calibri (MS)"/>
                  <a:cs typeface="Calibri (MS)"/>
                  <a:sym typeface="Calibri (MS)"/>
                </a:rPr>
                <a:t>Uji akurasi: stratifiedSample 100 titik/kelas, seed 2024, tahun 2025.</a:t>
              </a:r>
            </a:p>
            <a:p>
              <a:pPr algn="l">
                <a:lnSpc>
                  <a:spcPts val="1788"/>
                </a:lnSpc>
              </a:pPr>
              <a:r>
                <a:rPr lang="en-US" sz="1490">
                  <a:solidFill>
                    <a:srgbClr val="14313B"/>
                  </a:solidFill>
                  <a:latin typeface="Calibri (MS)"/>
                  <a:ea typeface="Calibri (MS)"/>
                  <a:cs typeface="Calibri (MS)"/>
                  <a:sym typeface="Calibri (MS)"/>
                </a:rPr>
                <a:t>Validasi spasial NTL: titik sampel dengan buffer 300 m.</a:t>
              </a:r>
            </a:p>
          </p:txBody>
        </p:sp>
      </p:grpSp>
      <p:sp>
        <p:nvSpPr>
          <p:cNvPr name="TextBox 29" id="29"/>
          <p:cNvSpPr txBox="true"/>
          <p:nvPr/>
        </p:nvSpPr>
        <p:spPr>
          <a:xfrm rot="0">
            <a:off x="822960" y="8576310"/>
            <a:ext cx="15544800" cy="293370"/>
          </a:xfrm>
          <a:prstGeom prst="rect">
            <a:avLst/>
          </a:prstGeom>
        </p:spPr>
        <p:txBody>
          <a:bodyPr anchor="t" rtlCol="false" tIns="0" lIns="0" bIns="0" rIns="0">
            <a:spAutoFit/>
          </a:bodyPr>
          <a:lstStyle/>
          <a:p>
            <a:pPr algn="l">
              <a:lnSpc>
                <a:spcPts val="1451"/>
              </a:lnSpc>
            </a:pPr>
            <a:r>
              <a:rPr lang="en-US" sz="1209" i="true">
                <a:solidFill>
                  <a:srgbClr val="5E6E78"/>
                </a:solidFill>
                <a:latin typeface="Calibri (MS) Italics"/>
                <a:ea typeface="Calibri (MS) Italics"/>
                <a:cs typeface="Calibri (MS) Italics"/>
                <a:sym typeface="Calibri (MS) Italics"/>
              </a:rPr>
              <a:t>Sumber: repository (Ekstrapolasi Tenaga Kerja Pariwisata, Perhitungan Pengeluaran wisatawan, Master Data, GEE.rtf). Tidak mengubah nilai final di buku.</a:t>
            </a:r>
          </a:p>
        </p:txBody>
      </p:sp>
    </p:spTree>
  </p:cSld>
  <p:clrMapOvr>
    <a:masterClrMapping/>
  </p:clrMapOvr>
</p:sld>
</file>

<file path=ppt/slides/slide8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6 · Sepuluh indikator kinerja evaluasi skenario</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graphicFrame>
        <p:nvGraphicFramePr>
          <p:cNvPr name="Table 21" id="21"/>
          <p:cNvGraphicFramePr>
            <a:graphicFrameLocks noGrp="true"/>
          </p:cNvGraphicFramePr>
          <p:nvPr/>
        </p:nvGraphicFramePr>
        <p:xfrm>
          <a:off x="822960" y="2331720"/>
          <a:ext cx="16535400" cy="6286500"/>
        </p:xfrm>
        <a:graphic>
          <a:graphicData uri="http://schemas.openxmlformats.org/drawingml/2006/table">
            <a:tbl>
              <a:tblPr/>
              <a:tblGrid>
                <a:gridCol w="2069781"/>
                <a:gridCol w="4608515"/>
                <a:gridCol w="5543839"/>
                <a:gridCol w="2337017"/>
                <a:gridCol w="1976248"/>
              </a:tblGrid>
              <a:tr h="571500">
                <a:tc>
                  <a:txBody>
                    <a:bodyPr anchor="t" rtlCol="false"/>
                    <a:lstStyle/>
                    <a:p>
                      <a:pPr algn="l">
                        <a:lnSpc>
                          <a:spcPts val="2250"/>
                        </a:lnSpc>
                        <a:defRPr/>
                      </a:pPr>
                      <a:r>
                        <a:rPr lang="en-US" sz="1875" b="true">
                          <a:solidFill>
                            <a:srgbClr val="FFFFFF"/>
                          </a:solidFill>
                          <a:latin typeface="Calibri (MS) Bold"/>
                          <a:ea typeface="Calibri (MS) Bold"/>
                          <a:cs typeface="Calibri (MS) Bold"/>
                          <a:sym typeface="Calibri (MS) Bold"/>
                        </a:rPr>
                        <a:t>Dimensi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2250"/>
                        </a:lnSpc>
                        <a:defRPr/>
                      </a:pPr>
                      <a:r>
                        <a:rPr lang="en-US" sz="1875" b="true">
                          <a:solidFill>
                            <a:srgbClr val="FFFFFF"/>
                          </a:solidFill>
                          <a:latin typeface="Calibri (MS) Bold"/>
                          <a:ea typeface="Calibri (MS) Bold"/>
                          <a:cs typeface="Calibri (MS) Bold"/>
                          <a:sym typeface="Calibri (MS) Bold"/>
                        </a:rPr>
                        <a:t>Indikator</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2250"/>
                        </a:lnSpc>
                        <a:defRPr/>
                      </a:pPr>
                      <a:r>
                        <a:rPr lang="en-US" sz="1875" b="true">
                          <a:solidFill>
                            <a:srgbClr val="FFFFFF"/>
                          </a:solidFill>
                          <a:latin typeface="Calibri (MS) Bold"/>
                          <a:ea typeface="Calibri (MS) Bold"/>
                          <a:cs typeface="Calibri (MS) Bold"/>
                          <a:sym typeface="Calibri (MS) Bold"/>
                        </a:rPr>
                        <a:t>Variabel model</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2250"/>
                        </a:lnSpc>
                        <a:defRPr/>
                      </a:pPr>
                      <a:r>
                        <a:rPr lang="en-US" sz="1875" b="true">
                          <a:solidFill>
                            <a:srgbClr val="FFFFFF"/>
                          </a:solidFill>
                          <a:latin typeface="Calibri (MS) Bold"/>
                          <a:ea typeface="Calibri (MS) Bold"/>
                          <a:cs typeface="Calibri (MS) Bold"/>
                          <a:sym typeface="Calibri (MS) Bold"/>
                        </a:rPr>
                        <a:t>Arah</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2250"/>
                        </a:lnSpc>
                        <a:defRPr/>
                      </a:pPr>
                      <a:r>
                        <a:rPr lang="en-US" sz="1875" b="true">
                          <a:solidFill>
                            <a:srgbClr val="FFFFFF"/>
                          </a:solidFill>
                          <a:latin typeface="Calibri (MS) Bold"/>
                          <a:ea typeface="Calibri (MS) Bold"/>
                          <a:cs typeface="Calibri (MS) Bold"/>
                          <a:sym typeface="Calibri (MS) Bold"/>
                        </a:rPr>
                        <a:t>Batas</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r>
              <a:tr h="571500">
                <a:tc rowSpan="4">
                  <a:txBody>
                    <a:bodyPr anchor="t" rtlCol="false"/>
                    <a:lstStyle/>
                    <a:p>
                      <a:pPr algn="ctr">
                        <a:lnSpc>
                          <a:spcPts val="2160"/>
                        </a:lnSpc>
                        <a:defRPr/>
                      </a:pPr>
                      <a:r>
                        <a:rPr lang="en-US" sz="1800" b="true">
                          <a:solidFill>
                            <a:srgbClr val="0B5E6E"/>
                          </a:solidFill>
                          <a:latin typeface="Calibri (MS) Bold"/>
                          <a:ea typeface="Calibri (MS) Bold"/>
                          <a:cs typeface="Calibri (MS) Bold"/>
                          <a:sym typeface="Calibri (MS) Bold"/>
                        </a:rPr>
                        <a:t>Ekonomi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Lapangan kerja pariwisata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Tenaga Kerja Pariwisata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Maksimum</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vMerge="true">
                  <a:txBody>
                    <a:bodyPr anchor="t" rtlCol="false"/>
                    <a:lstStyle/>
                    <a:p>
                      <a:pPr algn="ctr">
                        <a:lnSpc>
                          <a:spcPts val="2160"/>
                        </a:lnSpc>
                        <a:defRPr/>
                      </a:pPr>
                      <a:r>
                        <a:rPr lang="en-US" sz="1800" b="true">
                          <a:solidFill>
                            <a:srgbClr val="0B5E6E"/>
                          </a:solidFill>
                          <a:latin typeface="Calibri (MS) Bold"/>
                          <a:ea typeface="Calibri (MS) Bold"/>
                          <a:cs typeface="Calibri (MS) Bold"/>
                          <a:sym typeface="Calibri (MS) Bold"/>
                        </a:rPr>
                        <a:t>Ekonomi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Nilai tambah pariwisata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PDRB Sektor Pariwisata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Maksimum</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vMerge="true">
                  <a:txBody>
                    <a:bodyPr anchor="t" rtlCol="false"/>
                    <a:lstStyle/>
                    <a:p>
                      <a:pPr algn="ctr">
                        <a:lnSpc>
                          <a:spcPts val="2160"/>
                        </a:lnSpc>
                        <a:defRPr/>
                      </a:pPr>
                      <a:r>
                        <a:rPr lang="en-US" sz="1800" b="true">
                          <a:solidFill>
                            <a:srgbClr val="0B5E6E"/>
                          </a:solidFill>
                          <a:latin typeface="Calibri (MS) Bold"/>
                          <a:ea typeface="Calibri (MS) Bold"/>
                          <a:cs typeface="Calibri (MS) Bold"/>
                          <a:sym typeface="Calibri (MS) Bold"/>
                        </a:rPr>
                        <a:t>Ekonomi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Investasi kumulatif</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Akumulasi Investasi Sektor Pariwisata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Gambaran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vMerge="true">
                  <a:txBody>
                    <a:bodyPr anchor="t" rtlCol="false"/>
                    <a:lstStyle/>
                    <a:p>
                      <a:pPr algn="ctr">
                        <a:lnSpc>
                          <a:spcPts val="2160"/>
                        </a:lnSpc>
                        <a:defRPr/>
                      </a:pPr>
                      <a:r>
                        <a:rPr lang="en-US" sz="1800" b="true">
                          <a:solidFill>
                            <a:srgbClr val="0B5E6E"/>
                          </a:solidFill>
                          <a:latin typeface="Calibri (MS) Bold"/>
                          <a:ea typeface="Calibri (MS) Bold"/>
                          <a:cs typeface="Calibri (MS) Bold"/>
                          <a:sym typeface="Calibri (MS) Bold"/>
                        </a:rPr>
                        <a:t>Ekonomi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Okupansi akomodasi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Tingkat Penghunian Kamar</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Gambaran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rowSpan="3">
                  <a:txBody>
                    <a:bodyPr anchor="t" rtlCol="false"/>
                    <a:lstStyle/>
                    <a:p>
                      <a:pPr algn="ctr">
                        <a:lnSpc>
                          <a:spcPts val="2160"/>
                        </a:lnSpc>
                        <a:defRPr/>
                      </a:pPr>
                      <a:r>
                        <a:rPr lang="en-US" sz="1800" b="true">
                          <a:solidFill>
                            <a:srgbClr val="0B5E6E"/>
                          </a:solidFill>
                          <a:latin typeface="Calibri (MS) Bold"/>
                          <a:ea typeface="Calibri (MS) Bold"/>
                          <a:cs typeface="Calibri (MS) Bold"/>
                          <a:sym typeface="Calibri (MS) Bold"/>
                        </a:rPr>
                        <a:t>Lingkungan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Lahan tersedia untuk konservasi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Rasio Daya Dukung Lahan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Maksimum</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&gt; 0,331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vMerge="true">
                  <a:txBody>
                    <a:bodyPr anchor="t" rtlCol="false"/>
                    <a:lstStyle/>
                    <a:p>
                      <a:pPr algn="ctr">
                        <a:lnSpc>
                          <a:spcPts val="2160"/>
                        </a:lnSpc>
                        <a:defRPr/>
                      </a:pPr>
                      <a:r>
                        <a:rPr lang="en-US" sz="1800" b="true">
                          <a:solidFill>
                            <a:srgbClr val="0B5E6E"/>
                          </a:solidFill>
                          <a:latin typeface="Calibri (MS) Bold"/>
                          <a:ea typeface="Calibri (MS) Bold"/>
                          <a:cs typeface="Calibri (MS) Bold"/>
                          <a:sym typeface="Calibri (MS) Bold"/>
                        </a:rPr>
                        <a:t>Lingkungan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Luas lahan terbangun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Lahan Terbangun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Minimum</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vMerge="true">
                  <a:txBody>
                    <a:bodyPr anchor="t" rtlCol="false"/>
                    <a:lstStyle/>
                    <a:p>
                      <a:pPr algn="ctr">
                        <a:lnSpc>
                          <a:spcPts val="2160"/>
                        </a:lnSpc>
                        <a:defRPr/>
                      </a:pPr>
                      <a:r>
                        <a:rPr lang="en-US" sz="1800" b="true">
                          <a:solidFill>
                            <a:srgbClr val="0B5E6E"/>
                          </a:solidFill>
                          <a:latin typeface="Calibri (MS) Bold"/>
                          <a:ea typeface="Calibri (MS) Bold"/>
                          <a:cs typeface="Calibri (MS) Bold"/>
                          <a:sym typeface="Calibri (MS) Bold"/>
                        </a:rPr>
                        <a:t>Lingkungan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Konversi lahan pariwisata kumulatif</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Akumulasi Laju Konversi Lahan Pariwisata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Minimum</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rowSpan="2">
                  <a:txBody>
                    <a:bodyPr anchor="t" rtlCol="false"/>
                    <a:lstStyle/>
                    <a:p>
                      <a:pPr algn="ctr">
                        <a:lnSpc>
                          <a:spcPts val="2160"/>
                        </a:lnSpc>
                        <a:defRPr/>
                      </a:pPr>
                      <a:r>
                        <a:rPr lang="en-US" sz="1800" b="true">
                          <a:solidFill>
                            <a:srgbClr val="0B5E6E"/>
                          </a:solidFill>
                          <a:latin typeface="Calibri (MS) Bold"/>
                          <a:ea typeface="Calibri (MS) Bold"/>
                          <a:cs typeface="Calibri (MS) Bold"/>
                          <a:sym typeface="Calibri (MS) Bold"/>
                        </a:rPr>
                        <a:t>Sosial</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Indeks kepadatan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Kepadatan Wisatawan ÷ Kepadatan Referensi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Minimum</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&lt; 2,0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vMerge="true">
                  <a:txBody>
                    <a:bodyPr anchor="t" rtlCol="false"/>
                    <a:lstStyle/>
                    <a:p>
                      <a:pPr algn="ctr">
                        <a:lnSpc>
                          <a:spcPts val="2160"/>
                        </a:lnSpc>
                        <a:defRPr/>
                      </a:pPr>
                      <a:r>
                        <a:rPr lang="en-US" sz="1800" b="true">
                          <a:solidFill>
                            <a:srgbClr val="0B5E6E"/>
                          </a:solidFill>
                          <a:latin typeface="Calibri (MS) Bold"/>
                          <a:ea typeface="Calibri (MS) Bold"/>
                          <a:cs typeface="Calibri (MS) Bold"/>
                          <a:sym typeface="Calibri (MS) Bold"/>
                        </a:rPr>
                        <a:t>Sosial</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Kualitas destinasi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Daya Tarik Destinasi Wisata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Maksimum</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ctr">
                        <a:lnSpc>
                          <a:spcPts val="2160"/>
                        </a:lnSpc>
                        <a:defRPr/>
                      </a:pPr>
                      <a:r>
                        <a:rPr lang="en-US" sz="1800" b="true">
                          <a:solidFill>
                            <a:srgbClr val="0B5E6E"/>
                          </a:solidFill>
                          <a:latin typeface="Calibri (MS) Bold"/>
                          <a:ea typeface="Calibri (MS) Bold"/>
                          <a:cs typeface="Calibri (MS) Bold"/>
                          <a:sym typeface="Calibri (MS) Bold"/>
                        </a:rPr>
                        <a:t>Skala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Jumlah wisatawan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Jumlah Wisatawan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Dilaporkan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bl>
          </a:graphicData>
        </a:graphic>
      </p:graphicFrame>
      <p:sp>
        <p:nvSpPr>
          <p:cNvPr name="TextBox 22" id="22"/>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81</a:t>
            </a:r>
          </a:p>
        </p:txBody>
      </p:sp>
    </p:spTree>
  </p:cSld>
  <p:clrMapOvr>
    <a:masterClrMapping/>
  </p:clrMapOvr>
</p:sld>
</file>

<file path=ppt/slides/slide8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7 · KPI pelengkap per skenario tahun 2050</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21" id="21"/>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82</a:t>
            </a:r>
          </a:p>
        </p:txBody>
      </p:sp>
      <p:graphicFrame>
        <p:nvGraphicFramePr>
          <p:cNvPr name="Table 22" id="22"/>
          <p:cNvGraphicFramePr>
            <a:graphicFrameLocks noGrp="true"/>
          </p:cNvGraphicFramePr>
          <p:nvPr/>
        </p:nvGraphicFramePr>
        <p:xfrm>
          <a:off x="822960" y="2286000"/>
          <a:ext cx="16598900" cy="3911600"/>
        </p:xfrm>
        <a:graphic>
          <a:graphicData uri="http://schemas.openxmlformats.org/drawingml/2006/table">
            <a:tbl>
              <a:tblPr/>
              <a:tblGrid>
                <a:gridCol w="5723759"/>
                <a:gridCol w="2289503"/>
                <a:gridCol w="2480295"/>
                <a:gridCol w="3243463"/>
                <a:gridCol w="2861880"/>
              </a:tblGrid>
              <a:tr h="558800">
                <a:tc>
                  <a:txBody>
                    <a:bodyPr anchor="t" rtlCol="false"/>
                    <a:lstStyle/>
                    <a:p>
                      <a:pPr algn="l">
                        <a:lnSpc>
                          <a:spcPts val="1932"/>
                        </a:lnSpc>
                        <a:defRPr/>
                      </a:pPr>
                      <a:r>
                        <a:rPr lang="en-US" sz="1610" b="true">
                          <a:solidFill>
                            <a:srgbClr val="FFFFFF"/>
                          </a:solidFill>
                          <a:latin typeface="Calibri (MS) Bold"/>
                          <a:ea typeface="Calibri (MS) Bold"/>
                          <a:cs typeface="Calibri (MS) Bold"/>
                          <a:sym typeface="Calibri (MS) Bold"/>
                        </a:rPr>
                        <a:t>Indikator 2050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932"/>
                        </a:lnSpc>
                        <a:defRPr/>
                      </a:pPr>
                      <a:r>
                        <a:rPr lang="en-US" sz="1610" b="true">
                          <a:solidFill>
                            <a:srgbClr val="FFFFFF"/>
                          </a:solidFill>
                          <a:latin typeface="Calibri (MS) Bold"/>
                          <a:ea typeface="Calibri (MS) Bold"/>
                          <a:cs typeface="Calibri (MS) Bold"/>
                          <a:sym typeface="Calibri (MS) Bold"/>
                        </a:rPr>
                        <a:t>BAU</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932"/>
                        </a:lnSpc>
                        <a:defRPr/>
                      </a:pPr>
                      <a:r>
                        <a:rPr lang="en-US" sz="1610" b="true">
                          <a:solidFill>
                            <a:srgbClr val="FFFFFF"/>
                          </a:solidFill>
                          <a:latin typeface="Calibri (MS) Bold"/>
                          <a:ea typeface="Calibri (MS) Bold"/>
                          <a:cs typeface="Calibri (MS) Bold"/>
                          <a:sym typeface="Calibri (MS) Bold"/>
                        </a:rPr>
                        <a:t>Sustainable</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932"/>
                        </a:lnSpc>
                        <a:defRPr/>
                      </a:pPr>
                      <a:r>
                        <a:rPr lang="en-US" sz="1610" b="true">
                          <a:solidFill>
                            <a:srgbClr val="FFFFFF"/>
                          </a:solidFill>
                          <a:latin typeface="Calibri (MS) Bold"/>
                          <a:ea typeface="Calibri (MS) Bold"/>
                          <a:cs typeface="Calibri (MS) Bold"/>
                          <a:sym typeface="Calibri (MS) Bold"/>
                        </a:rPr>
                        <a:t>Development Priority</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932"/>
                        </a:lnSpc>
                        <a:defRPr/>
                      </a:pPr>
                      <a:r>
                        <a:rPr lang="en-US" sz="1610" b="true">
                          <a:solidFill>
                            <a:srgbClr val="FFFFFF"/>
                          </a:solidFill>
                          <a:latin typeface="Calibri (MS) Bold"/>
                          <a:ea typeface="Calibri (MS) Bold"/>
                          <a:cs typeface="Calibri (MS) Bold"/>
                          <a:sym typeface="Calibri (MS) Bold"/>
                        </a:rPr>
                        <a:t>Sumber</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r>
              <a:tr h="558800">
                <a:tc>
                  <a:txBody>
                    <a:bodyPr anchor="t" rtlCol="false"/>
                    <a:lstStyle/>
                    <a:p>
                      <a:pPr algn="l">
                        <a:lnSpc>
                          <a:spcPts val="1932"/>
                        </a:lnSpc>
                        <a:defRPr/>
                      </a:pPr>
                      <a:r>
                        <a:rPr lang="en-US" sz="1610">
                          <a:solidFill>
                            <a:srgbClr val="14313B"/>
                          </a:solidFill>
                          <a:latin typeface="Calibri (MS)"/>
                          <a:ea typeface="Calibri (MS)"/>
                          <a:cs typeface="Calibri (MS)"/>
                          <a:sym typeface="Calibri (MS)"/>
                        </a:rPr>
                        <a:t>Tingkat penghunian kamar (gambaran)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0,3584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0,3537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0,3458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Repository</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558800">
                <a:tc>
                  <a:txBody>
                    <a:bodyPr anchor="t" rtlCol="false"/>
                    <a:lstStyle/>
                    <a:p>
                      <a:pPr algn="l">
                        <a:lnSpc>
                          <a:spcPts val="1932"/>
                        </a:lnSpc>
                        <a:defRPr/>
                      </a:pPr>
                      <a:r>
                        <a:rPr lang="en-US" sz="1610">
                          <a:solidFill>
                            <a:srgbClr val="14313B"/>
                          </a:solidFill>
                          <a:latin typeface="Calibri (MS)"/>
                          <a:ea typeface="Calibri (MS)"/>
                          <a:cs typeface="Calibri (MS)"/>
                          <a:sym typeface="Calibri (MS)"/>
                        </a:rPr>
                        <a:t>Jumlah hotel dan akomodasi (unit)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5.404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5.631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6.033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Repository</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558800">
                <a:tc>
                  <a:txBody>
                    <a:bodyPr anchor="t" rtlCol="false"/>
                    <a:lstStyle/>
                    <a:p>
                      <a:pPr algn="l">
                        <a:lnSpc>
                          <a:spcPts val="1932"/>
                        </a:lnSpc>
                        <a:defRPr/>
                      </a:pPr>
                      <a:r>
                        <a:rPr lang="en-US" sz="1610">
                          <a:solidFill>
                            <a:srgbClr val="14313B"/>
                          </a:solidFill>
                          <a:latin typeface="Calibri (MS)"/>
                          <a:ea typeface="Calibri (MS)"/>
                          <a:cs typeface="Calibri (MS)"/>
                          <a:sym typeface="Calibri (MS)"/>
                        </a:rPr>
                        <a:t>Jumlah ODTW (unit)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367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394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449</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Repository</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558800">
                <a:tc>
                  <a:txBody>
                    <a:bodyPr anchor="t" rtlCol="false"/>
                    <a:lstStyle/>
                    <a:p>
                      <a:pPr algn="l">
                        <a:lnSpc>
                          <a:spcPts val="1932"/>
                        </a:lnSpc>
                        <a:defRPr/>
                      </a:pPr>
                      <a:r>
                        <a:rPr lang="en-US" sz="1610">
                          <a:solidFill>
                            <a:srgbClr val="14313B"/>
                          </a:solidFill>
                          <a:latin typeface="Calibri (MS)"/>
                          <a:ea typeface="Calibri (MS)"/>
                          <a:cs typeface="Calibri (MS)"/>
                          <a:sym typeface="Calibri (MS)"/>
                        </a:rPr>
                        <a:t>Investasi kumulatif 2025–2050 (miliar Rp)</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37.318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41.550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50.133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Buku Tabel 60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558800">
                <a:tc>
                  <a:txBody>
                    <a:bodyPr anchor="t" rtlCol="false"/>
                    <a:lstStyle/>
                    <a:p>
                      <a:pPr algn="l">
                        <a:lnSpc>
                          <a:spcPts val="1932"/>
                        </a:lnSpc>
                        <a:defRPr/>
                      </a:pPr>
                      <a:r>
                        <a:rPr lang="en-US" sz="1610">
                          <a:solidFill>
                            <a:srgbClr val="14313B"/>
                          </a:solidFill>
                          <a:latin typeface="Calibri (MS)"/>
                          <a:ea typeface="Calibri (MS)"/>
                          <a:cs typeface="Calibri (MS)"/>
                          <a:sym typeface="Calibri (MS)"/>
                        </a:rPr>
                        <a:t>Tahun batas kepadatan 2,0 terlewati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2043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2042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2041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Buku 4.8.3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558800">
                <a:tc>
                  <a:txBody>
                    <a:bodyPr anchor="t" rtlCol="false"/>
                    <a:lstStyle/>
                    <a:p>
                      <a:pPr algn="l">
                        <a:lnSpc>
                          <a:spcPts val="1932"/>
                        </a:lnSpc>
                        <a:defRPr/>
                      </a:pPr>
                      <a:r>
                        <a:rPr lang="en-US" sz="1610">
                          <a:solidFill>
                            <a:srgbClr val="14313B"/>
                          </a:solidFill>
                          <a:latin typeface="Calibri (MS)"/>
                          <a:ea typeface="Calibri (MS)"/>
                          <a:cs typeface="Calibri (MS)"/>
                          <a:sym typeface="Calibri (MS)"/>
                        </a:rPr>
                        <a:t>Rasio daya dukung lahan (batas &gt; 0,331)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0,6145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0,6180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0,6140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Buku Tabel 60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bl>
          </a:graphicData>
        </a:graphic>
      </p:graphicFrame>
      <p:sp>
        <p:nvSpPr>
          <p:cNvPr name="TextBox 23" id="23"/>
          <p:cNvSpPr txBox="true"/>
          <p:nvPr/>
        </p:nvSpPr>
        <p:spPr>
          <a:xfrm rot="0">
            <a:off x="822960" y="6555105"/>
            <a:ext cx="16642080" cy="942975"/>
          </a:xfrm>
          <a:prstGeom prst="rect">
            <a:avLst/>
          </a:prstGeom>
        </p:spPr>
        <p:txBody>
          <a:bodyPr anchor="t" rtlCol="false" tIns="0" lIns="0" bIns="0" rIns="0">
            <a:spAutoFit/>
          </a:bodyPr>
          <a:lstStyle/>
          <a:p>
            <a:pPr algn="l">
              <a:lnSpc>
                <a:spcPts val="1788"/>
              </a:lnSpc>
            </a:pPr>
            <a:r>
              <a:rPr lang="en-US" sz="1490" i="true">
                <a:solidFill>
                  <a:srgbClr val="5E6E78"/>
                </a:solidFill>
                <a:latin typeface="Calibri (MS) Italics"/>
                <a:ea typeface="Calibri (MS) Italics"/>
                <a:cs typeface="Calibri (MS) Italics"/>
                <a:sym typeface="Calibri (MS) Italics"/>
              </a:rPr>
              <a:t>TPK tercantum sebagai KPI gambaran pada Tabel 21 buku tetapi tidak ada di Tabel 60; nilainya diambil dari hasil_simulasi_skenario.xlsx (23 run: 3 skenario × 7 kondisi + 2 simulasi kontribusi).</a:t>
            </a:r>
          </a:p>
        </p:txBody>
      </p:sp>
    </p:spTree>
  </p:cSld>
  <p:clrMapOvr>
    <a:masterClrMapping/>
  </p:clrMapOvr>
</p:sld>
</file>

<file path=ppt/slides/slide8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8 · Hasil uji perilaku parsial dan uji penuh</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21" id="21"/>
          <p:cNvSpPr txBox="true"/>
          <p:nvPr/>
        </p:nvSpPr>
        <p:spPr>
          <a:xfrm rot="0">
            <a:off x="822960" y="2189988"/>
            <a:ext cx="8092440" cy="553212"/>
          </a:xfrm>
          <a:prstGeom prst="rect">
            <a:avLst/>
          </a:prstGeom>
        </p:spPr>
        <p:txBody>
          <a:bodyPr anchor="t" rtlCol="false" tIns="0" lIns="0" bIns="0" rIns="0">
            <a:spAutoFit/>
          </a:bodyPr>
          <a:lstStyle/>
          <a:p>
            <a:pPr algn="l">
              <a:lnSpc>
                <a:spcPts val="2430"/>
              </a:lnSpc>
            </a:pPr>
            <a:r>
              <a:rPr lang="en-US" sz="2025" b="true">
                <a:solidFill>
                  <a:srgbClr val="0B5E6E"/>
                </a:solidFill>
                <a:latin typeface="Calibri (MS) Bold"/>
                <a:ea typeface="Calibri (MS) Bold"/>
                <a:cs typeface="Calibri (MS) Bold"/>
                <a:sym typeface="Calibri (MS) Bold"/>
              </a:rPr>
              <a:t>Uji parsial (tanpa COVID)</a:t>
            </a:r>
          </a:p>
        </p:txBody>
      </p:sp>
      <p:graphicFrame>
        <p:nvGraphicFramePr>
          <p:cNvPr name="Table 22" id="22"/>
          <p:cNvGraphicFramePr>
            <a:graphicFrameLocks noGrp="true"/>
          </p:cNvGraphicFramePr>
          <p:nvPr/>
        </p:nvGraphicFramePr>
        <p:xfrm>
          <a:off x="822960" y="2811780"/>
          <a:ext cx="8039100" cy="3429000"/>
        </p:xfrm>
        <a:graphic>
          <a:graphicData uri="http://schemas.openxmlformats.org/drawingml/2006/table">
            <a:tbl>
              <a:tblPr/>
              <a:tblGrid>
                <a:gridCol w="2572958"/>
                <a:gridCol w="964557"/>
                <a:gridCol w="1093228"/>
                <a:gridCol w="1157565"/>
                <a:gridCol w="1093228"/>
                <a:gridCol w="1157565"/>
              </a:tblGrid>
              <a:tr h="571500">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Uji · Variabel</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Tren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E1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E2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DC</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MAPE</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P1 · Jumlah hotel</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0,0402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0,0773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0,2011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6,05%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P1 · TPK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0,0643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b="true">
                          <a:solidFill>
                            <a:srgbClr val="E4604F"/>
                          </a:solidFill>
                          <a:latin typeface="Calibri (MS) Bold"/>
                          <a:ea typeface="Calibri (MS) Bold"/>
                          <a:cs typeface="Calibri (MS) Bold"/>
                          <a:sym typeface="Calibri (MS) Bold"/>
                        </a:rPr>
                        <a:t>2,5684</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0,6692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17,37%</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P2 · Jumlah ODTW</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0,0880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0,3303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0,3367</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8,48%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P3 · Tenaga kerja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0,1370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0,3027</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0,4945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12,88%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P4 · Lahan terbangun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0,1125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0,3918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0,4813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12,94%</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bl>
          </a:graphicData>
        </a:graphic>
      </p:graphicFrame>
      <p:sp>
        <p:nvSpPr>
          <p:cNvPr name="TextBox 23" id="23"/>
          <p:cNvSpPr txBox="true"/>
          <p:nvPr/>
        </p:nvSpPr>
        <p:spPr>
          <a:xfrm rot="0">
            <a:off x="822960" y="6320790"/>
            <a:ext cx="8161020" cy="468630"/>
          </a:xfrm>
          <a:prstGeom prst="rect">
            <a:avLst/>
          </a:prstGeom>
        </p:spPr>
        <p:txBody>
          <a:bodyPr anchor="t" rtlCol="false" tIns="0" lIns="0" bIns="0" rIns="0">
            <a:spAutoFit/>
          </a:bodyPr>
          <a:lstStyle/>
          <a:p>
            <a:pPr algn="l">
              <a:lnSpc>
                <a:spcPts val="1889"/>
              </a:lnSpc>
            </a:pPr>
            <a:r>
              <a:rPr lang="en-US" sz="1575" i="true">
                <a:solidFill>
                  <a:srgbClr val="5E6E78"/>
                </a:solidFill>
                <a:latin typeface="Calibri (MS) Italics"/>
                <a:ea typeface="Calibri (MS) Italics"/>
                <a:cs typeface="Calibri (MS) Italics"/>
                <a:sym typeface="Calibri (MS) Italics"/>
              </a:rPr>
              <a:t>sama = tren tidak berbeda nyata. P5 (wisatawan): tren berbeda nyata.</a:t>
            </a:r>
          </a:p>
        </p:txBody>
      </p:sp>
      <p:sp>
        <p:nvSpPr>
          <p:cNvPr name="TextBox 24" id="24"/>
          <p:cNvSpPr txBox="true"/>
          <p:nvPr/>
        </p:nvSpPr>
        <p:spPr>
          <a:xfrm rot="0">
            <a:off x="9299448" y="2189988"/>
            <a:ext cx="8092440" cy="553212"/>
          </a:xfrm>
          <a:prstGeom prst="rect">
            <a:avLst/>
          </a:prstGeom>
        </p:spPr>
        <p:txBody>
          <a:bodyPr anchor="t" rtlCol="false" tIns="0" lIns="0" bIns="0" rIns="0">
            <a:spAutoFit/>
          </a:bodyPr>
          <a:lstStyle/>
          <a:p>
            <a:pPr algn="l">
              <a:lnSpc>
                <a:spcPts val="2430"/>
              </a:lnSpc>
            </a:pPr>
            <a:r>
              <a:rPr lang="en-US" sz="2025" b="true">
                <a:solidFill>
                  <a:srgbClr val="0B5E6E"/>
                </a:solidFill>
                <a:latin typeface="Calibri (MS) Bold"/>
                <a:ea typeface="Calibri (MS) Bold"/>
                <a:cs typeface="Calibri (MS) Bold"/>
                <a:sym typeface="Calibri (MS) Bold"/>
              </a:rPr>
              <a:t>Uji penuh (dengan COVID)</a:t>
            </a:r>
          </a:p>
        </p:txBody>
      </p:sp>
      <p:graphicFrame>
        <p:nvGraphicFramePr>
          <p:cNvPr name="Table 25" id="25"/>
          <p:cNvGraphicFramePr>
            <a:graphicFrameLocks noGrp="true"/>
          </p:cNvGraphicFramePr>
          <p:nvPr/>
        </p:nvGraphicFramePr>
        <p:xfrm>
          <a:off x="9299448" y="2811780"/>
          <a:ext cx="8026400" cy="5715000"/>
        </p:xfrm>
        <a:graphic>
          <a:graphicData uri="http://schemas.openxmlformats.org/drawingml/2006/table">
            <a:tbl>
              <a:tblPr/>
              <a:tblGrid>
                <a:gridCol w="2440399"/>
                <a:gridCol w="1348439"/>
                <a:gridCol w="963041"/>
                <a:gridCol w="963041"/>
                <a:gridCol w="1091507"/>
                <a:gridCol w="1219973"/>
              </a:tblGrid>
              <a:tr h="571500">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Variabel</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Tren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E1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E2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DC</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MAPE</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Jumlah wisatawan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b="true">
                          <a:solidFill>
                            <a:srgbClr val="E4604F"/>
                          </a:solidFill>
                          <a:latin typeface="Calibri (MS) Bold"/>
                          <a:ea typeface="Calibri (MS) Bold"/>
                          <a:cs typeface="Calibri (MS) Bold"/>
                          <a:sym typeface="Calibri (MS) Bold"/>
                        </a:rPr>
                        <a:t>beda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0,4482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12,06%</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Jumlah hotel</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E4604F"/>
                          </a:solidFill>
                          <a:latin typeface="Calibri (MS)"/>
                          <a:ea typeface="Calibri (MS)"/>
                          <a:cs typeface="Calibri (MS)"/>
                          <a:sym typeface="Calibri (MS)"/>
                        </a:rPr>
                        <a:t>lawan arah</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0,1399</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0,4685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0,8228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13,16%</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Jumlah ODTW</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0,0012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0,8550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0,7855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5,68%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Tenaga kerja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E4604F"/>
                          </a:solidFill>
                          <a:latin typeface="Calibri (MS)"/>
                          <a:ea typeface="Calibri (MS)"/>
                          <a:cs typeface="Calibri (MS)"/>
                          <a:sym typeface="Calibri (MS)"/>
                        </a:rPr>
                        <a:t>lawan arah</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0,1182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0,3280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0,8860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12,39%</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Lahan terbangun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0,1099</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0,3627</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0,6619</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13,43%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TPK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0,2013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0,2670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0,6224</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18,98%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PDRB pariwisata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0,2543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0,3450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0,3062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25,06%</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Investasi pariwisata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0,3839</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0,7927</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0,7356</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33,54%</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Total malam menginap</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0,2643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0,6757</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0,7041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29,52%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bl>
          </a:graphicData>
        </a:graphic>
      </p:graphicFrame>
      <p:grpSp>
        <p:nvGrpSpPr>
          <p:cNvPr name="Group 26" id="26"/>
          <p:cNvGrpSpPr/>
          <p:nvPr/>
        </p:nvGrpSpPr>
        <p:grpSpPr>
          <a:xfrm rot="0">
            <a:off x="822960" y="7132320"/>
            <a:ext cx="8161020" cy="2057400"/>
            <a:chOff x="0" y="0"/>
            <a:chExt cx="10881360" cy="2743200"/>
          </a:xfrm>
        </p:grpSpPr>
        <p:sp>
          <p:nvSpPr>
            <p:cNvPr name="Freeform 27" id="27"/>
            <p:cNvSpPr/>
            <p:nvPr/>
          </p:nvSpPr>
          <p:spPr>
            <a:xfrm flipH="false" flipV="false" rot="0">
              <a:off x="0" y="0"/>
              <a:ext cx="10881360" cy="2743200"/>
            </a:xfrm>
            <a:custGeom>
              <a:avLst/>
              <a:gdLst/>
              <a:ahLst/>
              <a:cxnLst/>
              <a:rect r="r" b="b" t="t" l="l"/>
              <a:pathLst>
                <a:path h="2743200" w="10881360">
                  <a:moveTo>
                    <a:pt x="0" y="182880"/>
                  </a:moveTo>
                  <a:cubicBezTo>
                    <a:pt x="0" y="81915"/>
                    <a:pt x="81915" y="0"/>
                    <a:pt x="182880" y="0"/>
                  </a:cubicBezTo>
                  <a:lnTo>
                    <a:pt x="10698480" y="0"/>
                  </a:lnTo>
                  <a:cubicBezTo>
                    <a:pt x="10799445" y="0"/>
                    <a:pt x="10881360" y="81915"/>
                    <a:pt x="10881360" y="182880"/>
                  </a:cubicBezTo>
                  <a:lnTo>
                    <a:pt x="10881360" y="2560320"/>
                  </a:lnTo>
                  <a:cubicBezTo>
                    <a:pt x="10881360" y="2661285"/>
                    <a:pt x="10799445" y="2743200"/>
                    <a:pt x="10698480" y="2743200"/>
                  </a:cubicBezTo>
                  <a:lnTo>
                    <a:pt x="182880" y="2743200"/>
                  </a:lnTo>
                  <a:cubicBezTo>
                    <a:pt x="81915" y="2743200"/>
                    <a:pt x="0" y="2661285"/>
                    <a:pt x="0" y="2560320"/>
                  </a:cubicBezTo>
                  <a:close/>
                </a:path>
              </a:pathLst>
            </a:custGeom>
            <a:solidFill>
              <a:srgbClr val="FFF1BF"/>
            </a:solidFill>
          </p:spPr>
          <p:txBody>
            <a:bodyPr/>
            <a:p/>
          </p:txBody>
        </p:sp>
      </p:grpSp>
      <p:grpSp>
        <p:nvGrpSpPr>
          <p:cNvPr name="Group 28" id="28"/>
          <p:cNvGrpSpPr/>
          <p:nvPr/>
        </p:nvGrpSpPr>
        <p:grpSpPr>
          <a:xfrm rot="0">
            <a:off x="1165860" y="7132320"/>
            <a:ext cx="7475220" cy="2057400"/>
            <a:chOff x="0" y="0"/>
            <a:chExt cx="9966960" cy="2743200"/>
          </a:xfrm>
        </p:grpSpPr>
        <p:sp>
          <p:nvSpPr>
            <p:cNvPr name="Freeform 29" id="29"/>
            <p:cNvSpPr/>
            <p:nvPr/>
          </p:nvSpPr>
          <p:spPr>
            <a:xfrm flipH="false" flipV="false" rot="0">
              <a:off x="0" y="0"/>
              <a:ext cx="9966960" cy="2743200"/>
            </a:xfrm>
            <a:custGeom>
              <a:avLst/>
              <a:gdLst/>
              <a:ahLst/>
              <a:cxnLst/>
              <a:rect r="r" b="b" t="t" l="l"/>
              <a:pathLst>
                <a:path h="2743200" w="9966960">
                  <a:moveTo>
                    <a:pt x="0" y="0"/>
                  </a:moveTo>
                  <a:lnTo>
                    <a:pt x="9966960" y="0"/>
                  </a:lnTo>
                  <a:lnTo>
                    <a:pt x="9966960" y="2743200"/>
                  </a:lnTo>
                  <a:lnTo>
                    <a:pt x="0" y="2743200"/>
                  </a:lnTo>
                  <a:close/>
                </a:path>
              </a:pathLst>
            </a:custGeom>
            <a:blipFill>
              <a:blip r:embed="rId4">
                <a:alphaModFix amt="0"/>
              </a:blip>
              <a:stretch>
                <a:fillRect l="0" t="-20746" r="0" b="-20746"/>
              </a:stretch>
            </a:blipFill>
          </p:spPr>
          <p:txBody>
            <a:bodyPr/>
            <a:p/>
          </p:txBody>
        </p:sp>
      </p:grpSp>
      <p:grpSp>
        <p:nvGrpSpPr>
          <p:cNvPr name="Group 30" id="30"/>
          <p:cNvGrpSpPr/>
          <p:nvPr/>
        </p:nvGrpSpPr>
        <p:grpSpPr>
          <a:xfrm rot="0">
            <a:off x="1165860" y="7103745"/>
            <a:ext cx="7475220" cy="2085975"/>
            <a:chOff x="0" y="0"/>
            <a:chExt cx="9966960" cy="2781300"/>
          </a:xfrm>
        </p:grpSpPr>
        <p:sp>
          <p:nvSpPr>
            <p:cNvPr name="Freeform 31" id="31"/>
            <p:cNvSpPr/>
            <p:nvPr/>
          </p:nvSpPr>
          <p:spPr>
            <a:xfrm flipH="false" flipV="false" rot="0">
              <a:off x="0" y="0"/>
              <a:ext cx="9966960" cy="2781300"/>
            </a:xfrm>
            <a:custGeom>
              <a:avLst/>
              <a:gdLst/>
              <a:ahLst/>
              <a:cxnLst/>
              <a:rect r="r" b="b" t="t" l="l"/>
              <a:pathLst>
                <a:path h="2781300" w="9966960">
                  <a:moveTo>
                    <a:pt x="0" y="0"/>
                  </a:moveTo>
                  <a:lnTo>
                    <a:pt x="9966960" y="0"/>
                  </a:lnTo>
                  <a:lnTo>
                    <a:pt x="9966960" y="2781300"/>
                  </a:lnTo>
                  <a:lnTo>
                    <a:pt x="0" y="2781300"/>
                  </a:lnTo>
                  <a:close/>
                </a:path>
              </a:pathLst>
            </a:custGeom>
            <a:blipFill>
              <a:blip r:embed="rId5">
                <a:alphaModFix amt="0"/>
              </a:blip>
              <a:stretch>
                <a:fillRect l="0" t="-19777" r="0" b="-19777"/>
              </a:stretch>
            </a:blipFill>
          </p:spPr>
          <p:txBody>
            <a:bodyPr/>
            <a:p/>
          </p:txBody>
        </p:sp>
      </p:grpSp>
      <p:grpSp>
        <p:nvGrpSpPr>
          <p:cNvPr name="Group 32" id="32"/>
          <p:cNvGrpSpPr/>
          <p:nvPr/>
        </p:nvGrpSpPr>
        <p:grpSpPr>
          <a:xfrm rot="0">
            <a:off x="1165860" y="7075170"/>
            <a:ext cx="7475220" cy="2114550"/>
            <a:chOff x="0" y="0"/>
            <a:chExt cx="9966960" cy="2819400"/>
          </a:xfrm>
        </p:grpSpPr>
        <p:sp>
          <p:nvSpPr>
            <p:cNvPr name="Freeform 33" id="33"/>
            <p:cNvSpPr/>
            <p:nvPr/>
          </p:nvSpPr>
          <p:spPr>
            <a:xfrm flipH="false" flipV="false" rot="0">
              <a:off x="0" y="0"/>
              <a:ext cx="9966960" cy="2819400"/>
            </a:xfrm>
            <a:custGeom>
              <a:avLst/>
              <a:gdLst/>
              <a:ahLst/>
              <a:cxnLst/>
              <a:rect r="r" b="b" t="t" l="l"/>
              <a:pathLst>
                <a:path h="2819400" w="9966960">
                  <a:moveTo>
                    <a:pt x="0" y="0"/>
                  </a:moveTo>
                  <a:lnTo>
                    <a:pt x="9966960" y="0"/>
                  </a:lnTo>
                  <a:lnTo>
                    <a:pt x="9966960" y="2819400"/>
                  </a:lnTo>
                  <a:lnTo>
                    <a:pt x="0" y="2819400"/>
                  </a:lnTo>
                  <a:close/>
                </a:path>
              </a:pathLst>
            </a:custGeom>
            <a:blipFill>
              <a:blip r:embed="rId6">
                <a:alphaModFix amt="0"/>
              </a:blip>
              <a:stretch>
                <a:fillRect l="0" t="-18882" r="0" b="-18882"/>
              </a:stretch>
            </a:blipFill>
          </p:spPr>
          <p:txBody>
            <a:bodyPr/>
            <a:p/>
          </p:txBody>
        </p:sp>
        <p:sp>
          <p:nvSpPr>
            <p:cNvPr name="TextBox 34" id="34"/>
            <p:cNvSpPr txBox="true"/>
            <p:nvPr/>
          </p:nvSpPr>
          <p:spPr>
            <a:xfrm>
              <a:off x="0" y="-38100"/>
              <a:ext cx="9966960" cy="2857500"/>
            </a:xfrm>
            <a:prstGeom prst="rect">
              <a:avLst/>
            </a:prstGeom>
          </p:spPr>
          <p:txBody>
            <a:bodyPr anchor="ctr" rtlCol="false" tIns="0" lIns="0" bIns="0" rIns="0"/>
            <a:lstStyle/>
            <a:p>
              <a:pPr algn="l">
                <a:lnSpc>
                  <a:spcPts val="2070"/>
                </a:lnSpc>
              </a:pPr>
              <a:r>
                <a:rPr lang="en-US" sz="1725">
                  <a:solidFill>
                    <a:srgbClr val="14313B"/>
                  </a:solidFill>
                  <a:latin typeface="Calibri (MS)"/>
                  <a:ea typeface="Calibri (MS)"/>
                  <a:cs typeface="Calibri (MS)"/>
                  <a:sym typeface="Calibri (MS)"/>
                </a:rPr>
                <a:t>Pedoman: E1 &lt; 0,05 · E2 &lt; 0,30 · DC 0,4–0,7 = rata-rata sampai baik · MAPE &lt;10% sangat baik, 10–20% baik, 20–50% layak, &gt;50% buruk. E1/E2 wisatawan (uji penuh) tidak dibaca karena trennya berbeda nyata.</a:t>
              </a:r>
            </a:p>
          </p:txBody>
        </p:sp>
      </p:grpSp>
      <p:sp>
        <p:nvSpPr>
          <p:cNvPr name="TextBox 35" id="35"/>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83</a:t>
            </a:r>
          </a:p>
        </p:txBody>
      </p:sp>
    </p:spTree>
  </p:cSld>
  <p:clrMapOvr>
    <a:masterClrMapping/>
  </p:clrMapOvr>
</p:sld>
</file>

<file path=ppt/slides/slide8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9 · Aspek yang dikeluarkan dari batas model</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21" id="21"/>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84</a:t>
            </a:r>
          </a:p>
        </p:txBody>
      </p:sp>
      <p:graphicFrame>
        <p:nvGraphicFramePr>
          <p:cNvPr name="Table 22" id="22"/>
          <p:cNvGraphicFramePr>
            <a:graphicFrameLocks noGrp="true"/>
          </p:cNvGraphicFramePr>
          <p:nvPr/>
        </p:nvGraphicFramePr>
        <p:xfrm>
          <a:off x="822960" y="2286000"/>
          <a:ext cx="16624300" cy="6718300"/>
        </p:xfrm>
        <a:graphic>
          <a:graphicData uri="http://schemas.openxmlformats.org/drawingml/2006/table">
            <a:tbl>
              <a:tblPr/>
              <a:tblGrid>
                <a:gridCol w="4567115"/>
                <a:gridCol w="6028593"/>
                <a:gridCol w="6028593"/>
              </a:tblGrid>
              <a:tr h="421078">
                <a:tc>
                  <a:txBody>
                    <a:bodyPr anchor="t" rtlCol="false"/>
                    <a:lstStyle/>
                    <a:p>
                      <a:pPr algn="l">
                        <a:lnSpc>
                          <a:spcPts val="1558"/>
                        </a:lnSpc>
                        <a:defRPr/>
                      </a:pPr>
                      <a:r>
                        <a:rPr lang="en-US" sz="1299" b="true">
                          <a:solidFill>
                            <a:srgbClr val="FFFFFF"/>
                          </a:solidFill>
                          <a:latin typeface="Calibri (MS) Bold"/>
                          <a:ea typeface="Calibri (MS) Bold"/>
                          <a:cs typeface="Calibri (MS) Bold"/>
                          <a:sym typeface="Calibri (MS) Bold"/>
                        </a:rPr>
                        <a:t>Aspek yang dikeluarkan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l">
                        <a:lnSpc>
                          <a:spcPts val="1558"/>
                        </a:lnSpc>
                        <a:defRPr/>
                      </a:pPr>
                      <a:r>
                        <a:rPr lang="en-US" sz="1299" b="true">
                          <a:solidFill>
                            <a:srgbClr val="FFFFFF"/>
                          </a:solidFill>
                          <a:latin typeface="Calibri (MS) Bold"/>
                          <a:ea typeface="Calibri (MS) Bold"/>
                          <a:cs typeface="Calibri (MS) Bold"/>
                          <a:sym typeface="Calibri (MS) Bold"/>
                        </a:rPr>
                        <a:t>Alasan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l">
                        <a:lnSpc>
                          <a:spcPts val="1558"/>
                        </a:lnSpc>
                        <a:defRPr/>
                      </a:pPr>
                      <a:r>
                        <a:rPr lang="en-US" sz="1299" b="true">
                          <a:solidFill>
                            <a:srgbClr val="FFFFFF"/>
                          </a:solidFill>
                          <a:latin typeface="Calibri (MS) Bold"/>
                          <a:ea typeface="Calibri (MS) Bold"/>
                          <a:cs typeface="Calibri (MS) Bold"/>
                          <a:sym typeface="Calibri (MS) Bold"/>
                        </a:rPr>
                        <a:t>Konsekuensi terhadap hasil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r>
              <a:tr h="419815">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Pemisahan wisman dan wisnus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Wisnus mendominasi kunjungan DIY</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Perbedaan pola belanja dan lama tinggal tidak terlihat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19815">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Harga dan daya saing harga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Tidak ada indeks harga pariwisata provinsi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Pengaruh harga tidak tercakup</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19815">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Aksesibilitas dan transportasi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Ditentukan kebijakan nasional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Sudah termasuk dalam laju pertumbuhan eksternal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19815">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Promosi, pemasaran, citra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Data anggaran dan efektivitas tidak tersedia tahunan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Sudah termasuk dalam laju pertumbuhan eksternal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19815">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Kualitas SDM dan sertifikasi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Data tidak lengkap; fokus pada jumlah</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Perbedaan mutu layanan tidak terlihat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19815">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Musim dan fluktuasi bulanan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Satuan waktu model tahunan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Okupansi puncak musim ramai tidak tergambar</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19815">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Shock: pandemi, erupsi, gempa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Kejadian acak di luar struktur feedback</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Proyeksi tanpa shock</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19815">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Persaingan antardestinasi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Butuh model multi-destinasi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Perpindahan ke destinasi lain tidak dimodelkan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19815">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Zonasi RTRW dan kawasan lindung</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Memakai luas wilayah administratif</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Daya dukung lahan cenderung terlalu longgar</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19815">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Dampak lingkungan: sampah, air, emisi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Data provinsi tidak konsisten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Lingkungan hanya diwakili lahan terbangun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19815">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Daya dukung sosial budaya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Sulit diukur kuantitatif di tingkat provinsi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Aspek sosial tidak terwakili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19815">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Distribusi manfaat ekonomi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Model bekerja pada tingkat agregat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Tidak menjawab siapa penerima manfaat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19815">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Investasi pemerintah (APBN/APBD)</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Data investasi = realisasi PMA dan PMDN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Masuk sebagai input tetap (non-investasi)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19815">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Perpindahan TK antarsektor</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Sakernas tidak menerbitkan data perpindahan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Laju keluar TK merupakan batas bawah</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19815">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Harga dan kepemilikan lahan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Tidak ada seri harga lahan provinsi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Hambatan ekonomi konversi tidak dimodelkan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8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10 · Hasil 17 uji kondisi ekstrem (nilai tahun 2050)</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21" id="21"/>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85</a:t>
            </a:r>
          </a:p>
        </p:txBody>
      </p:sp>
      <p:graphicFrame>
        <p:nvGraphicFramePr>
          <p:cNvPr name="Table 22" id="22"/>
          <p:cNvGraphicFramePr>
            <a:graphicFrameLocks noGrp="true"/>
          </p:cNvGraphicFramePr>
          <p:nvPr/>
        </p:nvGraphicFramePr>
        <p:xfrm>
          <a:off x="822960" y="2286000"/>
          <a:ext cx="16510000" cy="6578600"/>
        </p:xfrm>
        <a:graphic>
          <a:graphicData uri="http://schemas.openxmlformats.org/drawingml/2006/table">
            <a:tbl>
              <a:tblPr/>
              <a:tblGrid>
                <a:gridCol w="693698"/>
                <a:gridCol w="3792214"/>
                <a:gridCol w="1618628"/>
                <a:gridCol w="1618628"/>
                <a:gridCol w="1063669"/>
                <a:gridCol w="1618628"/>
                <a:gridCol w="1341149"/>
                <a:gridCol w="924930"/>
                <a:gridCol w="924930"/>
                <a:gridCol w="1063669"/>
                <a:gridCol w="1849860"/>
              </a:tblGrid>
              <a:tr h="515877">
                <a:tc>
                  <a:txBody>
                    <a:bodyPr anchor="t" rtlCol="false"/>
                    <a:lstStyle/>
                    <a:p>
                      <a:pPr algn="ctr">
                        <a:lnSpc>
                          <a:spcPts val="1378"/>
                        </a:lnSpc>
                        <a:defRPr/>
                      </a:pPr>
                      <a:r>
                        <a:rPr lang="en-US" sz="1149" b="true">
                          <a:solidFill>
                            <a:srgbClr val="FFFFFF"/>
                          </a:solidFill>
                          <a:latin typeface="Calibri (MS) Bold"/>
                          <a:ea typeface="Calibri (MS) Bold"/>
                          <a:cs typeface="Calibri (MS) Bold"/>
                          <a:sym typeface="Calibri (MS) Bold"/>
                        </a:rPr>
                        <a:t>Kode</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l">
                        <a:lnSpc>
                          <a:spcPts val="1378"/>
                        </a:lnSpc>
                        <a:defRPr/>
                      </a:pPr>
                      <a:r>
                        <a:rPr lang="en-US" sz="1149" b="true">
                          <a:solidFill>
                            <a:srgbClr val="FFFFFF"/>
                          </a:solidFill>
                          <a:latin typeface="Calibri (MS) Bold"/>
                          <a:ea typeface="Calibri (MS) Bold"/>
                          <a:cs typeface="Calibri (MS) Bold"/>
                          <a:sym typeface="Calibri (MS) Bold"/>
                        </a:rPr>
                        <a:t>Parameter &amp; nilai ekstrem</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378"/>
                        </a:lnSpc>
                        <a:defRPr/>
                      </a:pPr>
                      <a:r>
                        <a:rPr lang="en-US" sz="1149" b="true">
                          <a:solidFill>
                            <a:srgbClr val="FFFFFF"/>
                          </a:solidFill>
                          <a:latin typeface="Calibri (MS) Bold"/>
                          <a:ea typeface="Calibri (MS) Bold"/>
                          <a:cs typeface="Calibri (MS) Bold"/>
                          <a:sym typeface="Calibri (MS) Bold"/>
                        </a:rPr>
                        <a:t>Daya tarik min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ctr">
                        <a:lnSpc>
                          <a:spcPts val="1378"/>
                        </a:lnSpc>
                        <a:defRPr/>
                      </a:pPr>
                      <a:r>
                        <a:rPr lang="en-US" sz="1149" b="true">
                          <a:solidFill>
                            <a:srgbClr val="FFFFFF"/>
                          </a:solidFill>
                          <a:latin typeface="Calibri (MS) Bold"/>
                          <a:ea typeface="Calibri (MS) Bold"/>
                          <a:cs typeface="Calibri (MS) Bold"/>
                          <a:sym typeface="Calibri (MS) Bold"/>
                        </a:rPr>
                        <a:t>Status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378"/>
                        </a:lnSpc>
                        <a:defRPr/>
                      </a:pPr>
                      <a:r>
                        <a:rPr lang="en-US" sz="1149" b="true">
                          <a:solidFill>
                            <a:srgbClr val="FFFFFF"/>
                          </a:solidFill>
                          <a:latin typeface="Calibri (MS) Bold"/>
                          <a:ea typeface="Calibri (MS) Bold"/>
                          <a:cs typeface="Calibri (MS) Bold"/>
                          <a:sym typeface="Calibri (MS) Bold"/>
                        </a:rPr>
                        <a:t>Wisatawan (juta)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378"/>
                        </a:lnSpc>
                        <a:defRPr/>
                      </a:pPr>
                      <a:r>
                        <a:rPr lang="en-US" sz="1149" b="true">
                          <a:solidFill>
                            <a:srgbClr val="FFFFFF"/>
                          </a:solidFill>
                          <a:latin typeface="Calibri (MS) Bold"/>
                          <a:ea typeface="Calibri (MS) Bold"/>
                          <a:cs typeface="Calibri (MS) Bold"/>
                          <a:sym typeface="Calibri (MS) Bold"/>
                        </a:rPr>
                        <a:t>Hotel (unit)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378"/>
                        </a:lnSpc>
                        <a:defRPr/>
                      </a:pPr>
                      <a:r>
                        <a:rPr lang="en-US" sz="1149" b="true">
                          <a:solidFill>
                            <a:srgbClr val="FFFFFF"/>
                          </a:solidFill>
                          <a:latin typeface="Calibri (MS) Bold"/>
                          <a:ea typeface="Calibri (MS) Bold"/>
                          <a:cs typeface="Calibri (MS) Bold"/>
                          <a:sym typeface="Calibri (MS) Bold"/>
                        </a:rPr>
                        <a:t>ODTW</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378"/>
                        </a:lnSpc>
                        <a:defRPr/>
                      </a:pPr>
                      <a:r>
                        <a:rPr lang="en-US" sz="1149" b="true">
                          <a:solidFill>
                            <a:srgbClr val="FFFFFF"/>
                          </a:solidFill>
                          <a:latin typeface="Calibri (MS) Bold"/>
                          <a:ea typeface="Calibri (MS) Bold"/>
                          <a:cs typeface="Calibri (MS) Bold"/>
                          <a:sym typeface="Calibri (MS) Bold"/>
                        </a:rPr>
                        <a:t>TK (ribu)</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378"/>
                        </a:lnSpc>
                        <a:defRPr/>
                      </a:pPr>
                      <a:r>
                        <a:rPr lang="en-US" sz="1149" b="true">
                          <a:solidFill>
                            <a:srgbClr val="FFFFFF"/>
                          </a:solidFill>
                          <a:latin typeface="Calibri (MS) Bold"/>
                          <a:ea typeface="Calibri (MS) Bold"/>
                          <a:cs typeface="Calibri (MS) Bold"/>
                          <a:sym typeface="Calibri (MS) Bold"/>
                        </a:rPr>
                        <a:t>Lahan (ha)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378"/>
                        </a:lnSpc>
                        <a:defRPr/>
                      </a:pPr>
                      <a:r>
                        <a:rPr lang="en-US" sz="1149" b="true">
                          <a:solidFill>
                            <a:srgbClr val="FFFFFF"/>
                          </a:solidFill>
                          <a:latin typeface="Calibri (MS) Bold"/>
                          <a:ea typeface="Calibri (MS) Bold"/>
                          <a:cs typeface="Calibri (MS) Bold"/>
                          <a:sym typeface="Calibri (MS) Bold"/>
                        </a:rPr>
                        <a:t>TPK maks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378"/>
                        </a:lnSpc>
                        <a:defRPr/>
                      </a:pPr>
                      <a:r>
                        <a:rPr lang="en-US" sz="1149" b="true">
                          <a:solidFill>
                            <a:srgbClr val="FFFFFF"/>
                          </a:solidFill>
                          <a:latin typeface="Calibri (MS) Bold"/>
                          <a:ea typeface="Calibri (MS) Bold"/>
                          <a:cs typeface="Calibri (MS) Bold"/>
                          <a:sym typeface="Calibri (MS) Bold"/>
                        </a:rPr>
                        <a:t>RDDL min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r>
              <a:tr h="356631">
                <a:tc>
                  <a:txBody>
                    <a:bodyPr anchor="t" rtlCol="false"/>
                    <a:lstStyle/>
                    <a:p>
                      <a:pPr algn="ctr">
                        <a:lnSpc>
                          <a:spcPts val="1378"/>
                        </a:lnSpc>
                        <a:defRPr/>
                      </a:pPr>
                      <a:r>
                        <a:rPr lang="en-US" sz="1149" b="true">
                          <a:solidFill>
                            <a:srgbClr val="14313B"/>
                          </a:solidFill>
                          <a:latin typeface="Calibri (MS) Bold"/>
                          <a:ea typeface="Calibri (MS) Bold"/>
                          <a:cs typeface="Calibri (MS) Bold"/>
                          <a:sym typeface="Calibri (MS) Bold"/>
                        </a:rPr>
                        <a:t>E01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8"/>
                        </a:lnSpc>
                        <a:defRPr/>
                      </a:pPr>
                      <a:r>
                        <a:rPr lang="en-US" sz="1149">
                          <a:solidFill>
                            <a:srgbClr val="14313B"/>
                          </a:solidFill>
                          <a:latin typeface="Calibri (MS)"/>
                          <a:ea typeface="Calibri (MS)"/>
                          <a:cs typeface="Calibri (MS)"/>
                          <a:sym typeface="Calibri (MS)"/>
                        </a:rPr>
                        <a:t>LPE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0,903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8"/>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0,12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683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149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175,71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121.226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0,358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0,618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6631">
                <a:tc>
                  <a:txBody>
                    <a:bodyPr anchor="t" rtlCol="false"/>
                    <a:lstStyle/>
                    <a:p>
                      <a:pPr algn="ctr">
                        <a:lnSpc>
                          <a:spcPts val="1378"/>
                        </a:lnSpc>
                        <a:defRPr/>
                      </a:pPr>
                      <a:r>
                        <a:rPr lang="en-US" sz="1149" b="true">
                          <a:solidFill>
                            <a:srgbClr val="14313B"/>
                          </a:solidFill>
                          <a:latin typeface="Calibri (MS) Bold"/>
                          <a:ea typeface="Calibri (MS) Bold"/>
                          <a:cs typeface="Calibri (MS) Bold"/>
                          <a:sym typeface="Calibri (MS) Bold"/>
                        </a:rPr>
                        <a:t>E02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8"/>
                        </a:lnSpc>
                        <a:defRPr/>
                      </a:pPr>
                      <a:r>
                        <a:rPr lang="en-US" sz="1149">
                          <a:solidFill>
                            <a:srgbClr val="14313B"/>
                          </a:solidFill>
                          <a:latin typeface="Calibri (MS)"/>
                          <a:ea typeface="Calibri (MS)"/>
                          <a:cs typeface="Calibri (MS)"/>
                          <a:sym typeface="Calibri (MS)"/>
                        </a:rPr>
                        <a:t>LPD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0,758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8"/>
                        </a:lnSpc>
                        <a:defRPr/>
                      </a:pPr>
                      <a:r>
                        <a:rPr lang="en-US" sz="1149">
                          <a:solidFill>
                            <a:srgbClr val="14313B"/>
                          </a:solidFill>
                          <a:latin typeface="Calibri (MS)"/>
                          <a:ea typeface="Calibri (MS)"/>
                          <a:cs typeface="Calibri (MS)"/>
                          <a:sym typeface="Calibri (MS)"/>
                        </a:rPr>
                        <a:t>Lolos dg catatan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1B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6.343,72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254.956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5.179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35.985,56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148.742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0,511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0,531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6631">
                <a:tc>
                  <a:txBody>
                    <a:bodyPr anchor="t" rtlCol="false"/>
                    <a:lstStyle/>
                    <a:p>
                      <a:pPr algn="ctr">
                        <a:lnSpc>
                          <a:spcPts val="1378"/>
                        </a:lnSpc>
                        <a:defRPr/>
                      </a:pPr>
                      <a:r>
                        <a:rPr lang="en-US" sz="1149" b="true">
                          <a:solidFill>
                            <a:srgbClr val="14313B"/>
                          </a:solidFill>
                          <a:latin typeface="Calibri (MS) Bold"/>
                          <a:ea typeface="Calibri (MS) Bold"/>
                          <a:cs typeface="Calibri (MS) Bold"/>
                          <a:sym typeface="Calibri (MS) Bold"/>
                        </a:rPr>
                        <a:t>E03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8"/>
                        </a:lnSpc>
                        <a:defRPr/>
                      </a:pPr>
                      <a:r>
                        <a:rPr lang="en-US" sz="1149">
                          <a:solidFill>
                            <a:srgbClr val="14313B"/>
                          </a:solidFill>
                          <a:latin typeface="Calibri (MS)"/>
                          <a:ea typeface="Calibri (MS)"/>
                          <a:cs typeface="Calibri (MS)"/>
                          <a:sym typeface="Calibri (MS)"/>
                        </a:rPr>
                        <a:t>Pengeluaran per kunjungan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0,740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8"/>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71,56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635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134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170,44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121.169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1,000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0,618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6631">
                <a:tc>
                  <a:txBody>
                    <a:bodyPr anchor="t" rtlCol="false"/>
                    <a:lstStyle/>
                    <a:p>
                      <a:pPr algn="ctr">
                        <a:lnSpc>
                          <a:spcPts val="1378"/>
                        </a:lnSpc>
                        <a:defRPr/>
                      </a:pPr>
                      <a:r>
                        <a:rPr lang="en-US" sz="1149" b="true">
                          <a:solidFill>
                            <a:srgbClr val="14313B"/>
                          </a:solidFill>
                          <a:latin typeface="Calibri (MS) Bold"/>
                          <a:ea typeface="Calibri (MS) Bold"/>
                          <a:cs typeface="Calibri (MS) Bold"/>
                          <a:sym typeface="Calibri (MS) Bold"/>
                        </a:rPr>
                        <a:t>E04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8"/>
                        </a:lnSpc>
                        <a:defRPr/>
                      </a:pPr>
                      <a:r>
                        <a:rPr lang="en-US" sz="1149">
                          <a:solidFill>
                            <a:srgbClr val="14313B"/>
                          </a:solidFill>
                          <a:latin typeface="Calibri (MS)"/>
                          <a:ea typeface="Calibri (MS)"/>
                          <a:cs typeface="Calibri (MS)"/>
                          <a:sym typeface="Calibri (MS)"/>
                        </a:rPr>
                        <a:t>Rasio investasi/PDRB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0,740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8"/>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71,56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635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134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493,42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121.169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1,000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0,618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6631">
                <a:tc>
                  <a:txBody>
                    <a:bodyPr anchor="t" rtlCol="false"/>
                    <a:lstStyle/>
                    <a:p>
                      <a:pPr algn="ctr">
                        <a:lnSpc>
                          <a:spcPts val="1378"/>
                        </a:lnSpc>
                        <a:defRPr/>
                      </a:pPr>
                      <a:r>
                        <a:rPr lang="en-US" sz="1149" b="true">
                          <a:solidFill>
                            <a:srgbClr val="14313B"/>
                          </a:solidFill>
                          <a:latin typeface="Calibri (MS) Bold"/>
                          <a:ea typeface="Calibri (MS) Bold"/>
                          <a:cs typeface="Calibri (MS) Bold"/>
                          <a:sym typeface="Calibri (MS) Bold"/>
                        </a:rPr>
                        <a:t>E05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8"/>
                        </a:lnSpc>
                        <a:defRPr/>
                      </a:pPr>
                      <a:r>
                        <a:rPr lang="en-US" sz="1149">
                          <a:solidFill>
                            <a:srgbClr val="14313B"/>
                          </a:solidFill>
                          <a:latin typeface="Calibri (MS)"/>
                          <a:ea typeface="Calibri (MS)"/>
                          <a:cs typeface="Calibri (MS)"/>
                          <a:sym typeface="Calibri (MS)"/>
                        </a:rPr>
                        <a:t>Laju demolisi dasar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0,814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8"/>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96,27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6.357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367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650,79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121.826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0,358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0,616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6631">
                <a:tc>
                  <a:txBody>
                    <a:bodyPr anchor="t" rtlCol="false"/>
                    <a:lstStyle/>
                    <a:p>
                      <a:pPr algn="ctr">
                        <a:lnSpc>
                          <a:spcPts val="1378"/>
                        </a:lnSpc>
                        <a:defRPr/>
                      </a:pPr>
                      <a:r>
                        <a:rPr lang="en-US" sz="1149" b="true">
                          <a:solidFill>
                            <a:srgbClr val="14313B"/>
                          </a:solidFill>
                          <a:latin typeface="Calibri (MS) Bold"/>
                          <a:ea typeface="Calibri (MS) Bold"/>
                          <a:cs typeface="Calibri (MS) Bold"/>
                          <a:sym typeface="Calibri (MS) Bold"/>
                        </a:rPr>
                        <a:t>E06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8"/>
                        </a:lnSpc>
                        <a:defRPr/>
                      </a:pPr>
                      <a:r>
                        <a:rPr lang="en-US" sz="1149">
                          <a:solidFill>
                            <a:srgbClr val="14313B"/>
                          </a:solidFill>
                          <a:latin typeface="Calibri (MS)"/>
                          <a:ea typeface="Calibri (MS)"/>
                          <a:cs typeface="Calibri (MS)"/>
                          <a:sym typeface="Calibri (MS)"/>
                        </a:rPr>
                        <a:t>Batas TPK = 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0,814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8"/>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96,35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1.821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367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651,33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121.519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1,000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0,617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6631">
                <a:tc>
                  <a:txBody>
                    <a:bodyPr anchor="t" rtlCol="false"/>
                    <a:lstStyle/>
                    <a:p>
                      <a:pPr algn="ctr">
                        <a:lnSpc>
                          <a:spcPts val="1378"/>
                        </a:lnSpc>
                        <a:defRPr/>
                      </a:pPr>
                      <a:r>
                        <a:rPr lang="en-US" sz="1149" b="true">
                          <a:solidFill>
                            <a:srgbClr val="14313B"/>
                          </a:solidFill>
                          <a:latin typeface="Calibri (MS) Bold"/>
                          <a:ea typeface="Calibri (MS) Bold"/>
                          <a:cs typeface="Calibri (MS) Bold"/>
                          <a:sym typeface="Calibri (MS) Bold"/>
                        </a:rPr>
                        <a:t>E07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8"/>
                        </a:lnSpc>
                        <a:defRPr/>
                      </a:pPr>
                      <a:r>
                        <a:rPr lang="en-US" sz="1149">
                          <a:solidFill>
                            <a:srgbClr val="14313B"/>
                          </a:solidFill>
                          <a:latin typeface="Calibri (MS)"/>
                          <a:ea typeface="Calibri (MS)"/>
                          <a:cs typeface="Calibri (MS)"/>
                          <a:sym typeface="Calibri (MS)"/>
                        </a:rPr>
                        <a:t>Proporsi menginap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0,814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8"/>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96,38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635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367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651,46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121.366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0,000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0,617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6631">
                <a:tc>
                  <a:txBody>
                    <a:bodyPr anchor="t" rtlCol="false"/>
                    <a:lstStyle/>
                    <a:p>
                      <a:pPr algn="ctr">
                        <a:lnSpc>
                          <a:spcPts val="1378"/>
                        </a:lnSpc>
                        <a:defRPr/>
                      </a:pPr>
                      <a:r>
                        <a:rPr lang="en-US" sz="1149" b="true">
                          <a:solidFill>
                            <a:srgbClr val="14313B"/>
                          </a:solidFill>
                          <a:latin typeface="Calibri (MS) Bold"/>
                          <a:ea typeface="Calibri (MS) Bold"/>
                          <a:cs typeface="Calibri (MS) Bold"/>
                          <a:sym typeface="Calibri (MS) Bold"/>
                        </a:rPr>
                        <a:t>E08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8"/>
                        </a:lnSpc>
                        <a:defRPr/>
                      </a:pPr>
                      <a:r>
                        <a:rPr lang="en-US" sz="1149">
                          <a:solidFill>
                            <a:srgbClr val="14313B"/>
                          </a:solidFill>
                          <a:latin typeface="Calibri (MS)"/>
                          <a:ea typeface="Calibri (MS)"/>
                          <a:cs typeface="Calibri (MS)"/>
                          <a:sym typeface="Calibri (MS)"/>
                        </a:rPr>
                        <a:t>Pembangunan ODTW (investasi &amp; non)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0,698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8"/>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59,62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3.667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56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416,04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121.719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0,386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0,616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6631">
                <a:tc>
                  <a:txBody>
                    <a:bodyPr anchor="t" rtlCol="false"/>
                    <a:lstStyle/>
                    <a:p>
                      <a:pPr algn="ctr">
                        <a:lnSpc>
                          <a:spcPts val="1378"/>
                        </a:lnSpc>
                        <a:defRPr/>
                      </a:pPr>
                      <a:r>
                        <a:rPr lang="en-US" sz="1149" b="true">
                          <a:solidFill>
                            <a:srgbClr val="14313B"/>
                          </a:solidFill>
                          <a:latin typeface="Calibri (MS) Bold"/>
                          <a:ea typeface="Calibri (MS) Bold"/>
                          <a:cs typeface="Calibri (MS) Bold"/>
                          <a:sym typeface="Calibri (MS) Bold"/>
                        </a:rPr>
                        <a:t>E09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8"/>
                        </a:lnSpc>
                        <a:defRPr/>
                      </a:pPr>
                      <a:r>
                        <a:rPr lang="en-US" sz="1149">
                          <a:solidFill>
                            <a:srgbClr val="14313B"/>
                          </a:solidFill>
                          <a:latin typeface="Calibri (MS)"/>
                          <a:ea typeface="Calibri (MS)"/>
                          <a:cs typeface="Calibri (MS)"/>
                          <a:sym typeface="Calibri (MS)"/>
                        </a:rPr>
                        <a:t>Laju konversi dasar ×10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0,715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8"/>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47,40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2.846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286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326,91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317.033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0,383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0,000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6631">
                <a:tc>
                  <a:txBody>
                    <a:bodyPr anchor="t" rtlCol="false"/>
                    <a:lstStyle/>
                    <a:p>
                      <a:pPr algn="ctr">
                        <a:lnSpc>
                          <a:spcPts val="1378"/>
                        </a:lnSpc>
                        <a:defRPr/>
                      </a:pPr>
                      <a:r>
                        <a:rPr lang="en-US" sz="1149" b="true">
                          <a:solidFill>
                            <a:srgbClr val="14313B"/>
                          </a:solidFill>
                          <a:latin typeface="Calibri (MS) Bold"/>
                          <a:ea typeface="Calibri (MS) Bold"/>
                          <a:cs typeface="Calibri (MS) Bold"/>
                          <a:sym typeface="Calibri (MS) Bold"/>
                        </a:rPr>
                        <a:t>E10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8"/>
                        </a:lnSpc>
                        <a:defRPr/>
                      </a:pPr>
                      <a:r>
                        <a:rPr lang="en-US" sz="1149">
                          <a:solidFill>
                            <a:srgbClr val="14313B"/>
                          </a:solidFill>
                          <a:latin typeface="Calibri (MS)"/>
                          <a:ea typeface="Calibri (MS)"/>
                          <a:cs typeface="Calibri (MS)"/>
                          <a:sym typeface="Calibri (MS)"/>
                        </a:rPr>
                        <a:t>Konservasi lahan = 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0,814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8"/>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96,43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5.415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367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651,81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121.094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0,388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0,618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6631">
                <a:tc>
                  <a:txBody>
                    <a:bodyPr anchor="t" rtlCol="false"/>
                    <a:lstStyle/>
                    <a:p>
                      <a:pPr algn="ctr">
                        <a:lnSpc>
                          <a:spcPts val="1378"/>
                        </a:lnSpc>
                        <a:defRPr/>
                      </a:pPr>
                      <a:r>
                        <a:rPr lang="en-US" sz="1149" b="true">
                          <a:solidFill>
                            <a:srgbClr val="14313B"/>
                          </a:solidFill>
                          <a:latin typeface="Calibri (MS) Bold"/>
                          <a:ea typeface="Calibri (MS) Bold"/>
                          <a:cs typeface="Calibri (MS) Bold"/>
                          <a:sym typeface="Calibri (MS) Bold"/>
                        </a:rPr>
                        <a:t>E11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8"/>
                        </a:lnSpc>
                        <a:defRPr/>
                      </a:pPr>
                      <a:r>
                        <a:rPr lang="en-US" sz="1149">
                          <a:solidFill>
                            <a:srgbClr val="14313B"/>
                          </a:solidFill>
                          <a:latin typeface="Calibri (MS)"/>
                          <a:ea typeface="Calibri (MS)"/>
                          <a:cs typeface="Calibri (MS)"/>
                          <a:sym typeface="Calibri (MS)"/>
                        </a:rPr>
                        <a:t>Lahan per hotel &amp; per ODTW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0,814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8"/>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96,43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5.415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367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651,81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121.094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0,388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0,618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6631">
                <a:tc>
                  <a:txBody>
                    <a:bodyPr anchor="t" rtlCol="false"/>
                    <a:lstStyle/>
                    <a:p>
                      <a:pPr algn="ctr">
                        <a:lnSpc>
                          <a:spcPts val="1378"/>
                        </a:lnSpc>
                        <a:defRPr/>
                      </a:pPr>
                      <a:r>
                        <a:rPr lang="en-US" sz="1149" b="true">
                          <a:solidFill>
                            <a:srgbClr val="14313B"/>
                          </a:solidFill>
                          <a:latin typeface="Calibri (MS) Bold"/>
                          <a:ea typeface="Calibri (MS) Bold"/>
                          <a:cs typeface="Calibri (MS) Bold"/>
                          <a:sym typeface="Calibri (MS) Bold"/>
                        </a:rPr>
                        <a:t>E12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8"/>
                        </a:lnSpc>
                        <a:defRPr/>
                      </a:pPr>
                      <a:r>
                        <a:rPr lang="en-US" sz="1149">
                          <a:solidFill>
                            <a:srgbClr val="14313B"/>
                          </a:solidFill>
                          <a:latin typeface="Calibri (MS)"/>
                          <a:ea typeface="Calibri (MS)"/>
                          <a:cs typeface="Calibri (MS)"/>
                          <a:sym typeface="Calibri (MS)"/>
                        </a:rPr>
                        <a:t>Kenaikan produktivitas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0,813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8"/>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96,20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5.404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367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847,26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122.208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0,388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0,615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6631">
                <a:tc>
                  <a:txBody>
                    <a:bodyPr anchor="t" rtlCol="false"/>
                    <a:lstStyle/>
                    <a:p>
                      <a:pPr algn="ctr">
                        <a:lnSpc>
                          <a:spcPts val="1378"/>
                        </a:lnSpc>
                        <a:defRPr/>
                      </a:pPr>
                      <a:r>
                        <a:rPr lang="en-US" sz="1149" b="true">
                          <a:solidFill>
                            <a:srgbClr val="14313B"/>
                          </a:solidFill>
                          <a:latin typeface="Calibri (MS) Bold"/>
                          <a:ea typeface="Calibri (MS) Bold"/>
                          <a:cs typeface="Calibri (MS) Bold"/>
                          <a:sym typeface="Calibri (MS) Bold"/>
                        </a:rPr>
                        <a:t>E13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8"/>
                        </a:lnSpc>
                        <a:defRPr/>
                      </a:pPr>
                      <a:r>
                        <a:rPr lang="en-US" sz="1149">
                          <a:solidFill>
                            <a:srgbClr val="14313B"/>
                          </a:solidFill>
                          <a:latin typeface="Calibri (MS)"/>
                          <a:ea typeface="Calibri (MS)"/>
                          <a:cs typeface="Calibri (MS)"/>
                          <a:sym typeface="Calibri (MS)"/>
                        </a:rPr>
                        <a:t>Laju keluar dasar TK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0,813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8"/>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96,20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5.404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367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650,36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122.208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0,388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0,615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6631">
                <a:tc>
                  <a:txBody>
                    <a:bodyPr anchor="t" rtlCol="false"/>
                    <a:lstStyle/>
                    <a:p>
                      <a:pPr algn="ctr">
                        <a:lnSpc>
                          <a:spcPts val="1378"/>
                        </a:lnSpc>
                        <a:defRPr/>
                      </a:pPr>
                      <a:r>
                        <a:rPr lang="en-US" sz="1149" b="true">
                          <a:solidFill>
                            <a:srgbClr val="14313B"/>
                          </a:solidFill>
                          <a:latin typeface="Calibri (MS) Bold"/>
                          <a:ea typeface="Calibri (MS) Bold"/>
                          <a:cs typeface="Calibri (MS) Bold"/>
                          <a:sym typeface="Calibri (MS) Bold"/>
                        </a:rPr>
                        <a:t>E14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8"/>
                        </a:lnSpc>
                        <a:defRPr/>
                      </a:pPr>
                      <a:r>
                        <a:rPr lang="en-US" sz="1149">
                          <a:solidFill>
                            <a:srgbClr val="14313B"/>
                          </a:solidFill>
                          <a:latin typeface="Calibri (MS)"/>
                          <a:ea typeface="Calibri (MS)"/>
                          <a:cs typeface="Calibri (MS)"/>
                          <a:sym typeface="Calibri (MS)"/>
                        </a:rPr>
                        <a:t>Insentif kebijakan = 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0,869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8"/>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166,59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11.355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2.143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1.108,34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124.478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0,358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0,607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6631">
                <a:tc>
                  <a:txBody>
                    <a:bodyPr anchor="t" rtlCol="false"/>
                    <a:lstStyle/>
                    <a:p>
                      <a:pPr algn="ctr">
                        <a:lnSpc>
                          <a:spcPts val="1378"/>
                        </a:lnSpc>
                        <a:defRPr/>
                      </a:pPr>
                      <a:r>
                        <a:rPr lang="en-US" sz="1149" b="true">
                          <a:solidFill>
                            <a:srgbClr val="14313B"/>
                          </a:solidFill>
                          <a:latin typeface="Calibri (MS) Bold"/>
                          <a:ea typeface="Calibri (MS) Bold"/>
                          <a:cs typeface="Calibri (MS) Bold"/>
                          <a:sym typeface="Calibri (MS) Bold"/>
                        </a:rPr>
                        <a:t>E15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8"/>
                        </a:lnSpc>
                        <a:defRPr/>
                      </a:pPr>
                      <a:r>
                        <a:rPr lang="en-US" sz="1149">
                          <a:solidFill>
                            <a:srgbClr val="14313B"/>
                          </a:solidFill>
                          <a:latin typeface="Calibri (MS)"/>
                          <a:ea typeface="Calibri (MS)"/>
                          <a:cs typeface="Calibri (MS)"/>
                          <a:sym typeface="Calibri (MS)"/>
                        </a:rPr>
                        <a:t>LPE ×3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0,600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8"/>
                        </a:lnSpc>
                        <a:defRPr/>
                      </a:pPr>
                      <a:r>
                        <a:rPr lang="en-US" sz="1149">
                          <a:solidFill>
                            <a:srgbClr val="14313B"/>
                          </a:solidFill>
                          <a:latin typeface="Calibri (MS)"/>
                          <a:ea typeface="Calibri (MS)"/>
                          <a:cs typeface="Calibri (MS)"/>
                          <a:sym typeface="Calibri (MS)"/>
                        </a:rPr>
                        <a:t>Lolos dg catatan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1B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581.801,49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21.542.004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353.870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3.096.262,46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317.036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0,633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0,000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6631">
                <a:tc>
                  <a:txBody>
                    <a:bodyPr anchor="t" rtlCol="false"/>
                    <a:lstStyle/>
                    <a:p>
                      <a:pPr algn="ctr">
                        <a:lnSpc>
                          <a:spcPts val="1378"/>
                        </a:lnSpc>
                        <a:defRPr/>
                      </a:pPr>
                      <a:r>
                        <a:rPr lang="en-US" sz="1149" b="true">
                          <a:solidFill>
                            <a:srgbClr val="14313B"/>
                          </a:solidFill>
                          <a:latin typeface="Calibri (MS) Bold"/>
                          <a:ea typeface="Calibri (MS) Bold"/>
                          <a:cs typeface="Calibri (MS) Bold"/>
                          <a:sym typeface="Calibri (MS) Bold"/>
                        </a:rPr>
                        <a:t>E16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8"/>
                        </a:lnSpc>
                        <a:defRPr/>
                      </a:pPr>
                      <a:r>
                        <a:rPr lang="en-US" sz="1149">
                          <a:solidFill>
                            <a:srgbClr val="14313B"/>
                          </a:solidFill>
                          <a:latin typeface="Calibri (MS)"/>
                          <a:ea typeface="Calibri (MS)"/>
                          <a:cs typeface="Calibri (MS)"/>
                          <a:sym typeface="Calibri (MS)"/>
                        </a:rPr>
                        <a:t>Laju penutupan ODTW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0,892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8"/>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127,78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6.829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755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846,35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122.397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0,391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0,614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6631">
                <a:tc>
                  <a:txBody>
                    <a:bodyPr anchor="t" rtlCol="false"/>
                    <a:lstStyle/>
                    <a:p>
                      <a:pPr algn="ctr">
                        <a:lnSpc>
                          <a:spcPts val="1378"/>
                        </a:lnSpc>
                        <a:defRPr/>
                      </a:pPr>
                      <a:r>
                        <a:rPr lang="en-US" sz="1149" b="true">
                          <a:solidFill>
                            <a:srgbClr val="14313B"/>
                          </a:solidFill>
                          <a:latin typeface="Calibri (MS) Bold"/>
                          <a:ea typeface="Calibri (MS) Bold"/>
                          <a:cs typeface="Calibri (MS) Bold"/>
                          <a:sym typeface="Calibri (MS) Bold"/>
                        </a:rPr>
                        <a:t>E17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8"/>
                        </a:lnSpc>
                        <a:defRPr/>
                      </a:pPr>
                      <a:r>
                        <a:rPr lang="en-US" sz="1149">
                          <a:solidFill>
                            <a:srgbClr val="14313B"/>
                          </a:solidFill>
                          <a:latin typeface="Calibri (MS)"/>
                          <a:ea typeface="Calibri (MS)"/>
                          <a:cs typeface="Calibri (MS)"/>
                          <a:sym typeface="Calibri (MS)"/>
                        </a:rPr>
                        <a:t>Laju konversi dasar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0,862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8"/>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111,39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6.070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384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743,62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56.161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0,389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0,823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8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11 · Uji feedback loop: nilai 2050 saat satu loop dinonaktifkan</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21" id="21"/>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86</a:t>
            </a:r>
          </a:p>
        </p:txBody>
      </p:sp>
      <p:graphicFrame>
        <p:nvGraphicFramePr>
          <p:cNvPr name="Table 22" id="22"/>
          <p:cNvGraphicFramePr>
            <a:graphicFrameLocks noGrp="true"/>
          </p:cNvGraphicFramePr>
          <p:nvPr/>
        </p:nvGraphicFramePr>
        <p:xfrm>
          <a:off x="822960" y="2286000"/>
          <a:ext cx="16535400" cy="3556000"/>
        </p:xfrm>
        <a:graphic>
          <a:graphicData uri="http://schemas.openxmlformats.org/drawingml/2006/table">
            <a:tbl>
              <a:tblPr/>
              <a:tblGrid>
                <a:gridCol w="4724400"/>
                <a:gridCol w="1544516"/>
                <a:gridCol w="1362807"/>
                <a:gridCol w="1181100"/>
                <a:gridCol w="1453662"/>
                <a:gridCol w="1453662"/>
                <a:gridCol w="1271953"/>
                <a:gridCol w="1544516"/>
                <a:gridCol w="1998784"/>
              </a:tblGrid>
              <a:tr h="527643">
                <a:tc>
                  <a:txBody>
                    <a:bodyPr anchor="t" rtlCol="false"/>
                    <a:lstStyle/>
                    <a:p>
                      <a:pPr algn="l">
                        <a:lnSpc>
                          <a:spcPts val="1558"/>
                        </a:lnSpc>
                        <a:defRPr/>
                      </a:pPr>
                      <a:r>
                        <a:rPr lang="en-US" sz="1299" b="true">
                          <a:solidFill>
                            <a:srgbClr val="FFFFFF"/>
                          </a:solidFill>
                          <a:latin typeface="Calibri (MS) Bold"/>
                          <a:ea typeface="Calibri (MS) Bold"/>
                          <a:cs typeface="Calibri (MS) Bold"/>
                          <a:sym typeface="Calibri (MS) Bold"/>
                        </a:rPr>
                        <a:t>Kondisi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58"/>
                        </a:lnSpc>
                        <a:defRPr/>
                      </a:pPr>
                      <a:r>
                        <a:rPr lang="en-US" sz="1299" b="true">
                          <a:solidFill>
                            <a:srgbClr val="FFFFFF"/>
                          </a:solidFill>
                          <a:latin typeface="Calibri (MS) Bold"/>
                          <a:ea typeface="Calibri (MS) Bold"/>
                          <a:cs typeface="Calibri (MS) Bold"/>
                          <a:sym typeface="Calibri (MS) Bold"/>
                        </a:rPr>
                        <a:t>Wisatawan (juta)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58"/>
                        </a:lnSpc>
                        <a:defRPr/>
                      </a:pPr>
                      <a:r>
                        <a:rPr lang="en-US" sz="1299" b="true">
                          <a:solidFill>
                            <a:srgbClr val="FFFFFF"/>
                          </a:solidFill>
                          <a:latin typeface="Calibri (MS) Bold"/>
                          <a:ea typeface="Calibri (MS) Bold"/>
                          <a:cs typeface="Calibri (MS) Bold"/>
                          <a:sym typeface="Calibri (MS) Bold"/>
                        </a:rPr>
                        <a:t>Hotel (unit)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58"/>
                        </a:lnSpc>
                        <a:defRPr/>
                      </a:pPr>
                      <a:r>
                        <a:rPr lang="en-US" sz="1299" b="true">
                          <a:solidFill>
                            <a:srgbClr val="FFFFFF"/>
                          </a:solidFill>
                          <a:latin typeface="Calibri (MS) Bold"/>
                          <a:ea typeface="Calibri (MS) Bold"/>
                          <a:cs typeface="Calibri (MS) Bold"/>
                          <a:sym typeface="Calibri (MS) Bold"/>
                        </a:rPr>
                        <a:t>ODTW (unit)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58"/>
                        </a:lnSpc>
                        <a:defRPr/>
                      </a:pPr>
                      <a:r>
                        <a:rPr lang="en-US" sz="1299" b="true">
                          <a:solidFill>
                            <a:srgbClr val="FFFFFF"/>
                          </a:solidFill>
                          <a:latin typeface="Calibri (MS) Bold"/>
                          <a:ea typeface="Calibri (MS) Bold"/>
                          <a:cs typeface="Calibri (MS) Bold"/>
                          <a:sym typeface="Calibri (MS) Bold"/>
                        </a:rPr>
                        <a:t>TK (ribu)</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58"/>
                        </a:lnSpc>
                        <a:defRPr/>
                      </a:pPr>
                      <a:r>
                        <a:rPr lang="en-US" sz="1299" b="true">
                          <a:solidFill>
                            <a:srgbClr val="FFFFFF"/>
                          </a:solidFill>
                          <a:latin typeface="Calibri (MS) Bold"/>
                          <a:ea typeface="Calibri (MS) Bold"/>
                          <a:cs typeface="Calibri (MS) Bold"/>
                          <a:sym typeface="Calibri (MS) Bold"/>
                        </a:rPr>
                        <a:t>Lahan (ha)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58"/>
                        </a:lnSpc>
                        <a:defRPr/>
                      </a:pPr>
                      <a:r>
                        <a:rPr lang="en-US" sz="1299" b="true">
                          <a:solidFill>
                            <a:srgbClr val="FFFFFF"/>
                          </a:solidFill>
                          <a:latin typeface="Calibri (MS) Bold"/>
                          <a:ea typeface="Calibri (MS) Bold"/>
                          <a:cs typeface="Calibri (MS) Bold"/>
                          <a:sym typeface="Calibri (MS) Bold"/>
                        </a:rPr>
                        <a:t>Daya tarik</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ctr">
                        <a:lnSpc>
                          <a:spcPts val="1558"/>
                        </a:lnSpc>
                        <a:defRPr/>
                      </a:pPr>
                      <a:r>
                        <a:rPr lang="en-US" sz="1299" b="true">
                          <a:solidFill>
                            <a:srgbClr val="FFFFFF"/>
                          </a:solidFill>
                          <a:latin typeface="Calibri (MS) Bold"/>
                          <a:ea typeface="Calibri (MS) Bold"/>
                          <a:cs typeface="Calibri (MS) Bold"/>
                          <a:sym typeface="Calibri (MS) Bold"/>
                        </a:rPr>
                        <a:t>Δ wisatawan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ctr">
                        <a:lnSpc>
                          <a:spcPts val="1558"/>
                        </a:lnSpc>
                        <a:defRPr/>
                      </a:pPr>
                      <a:r>
                        <a:rPr lang="en-US" sz="1299" b="true">
                          <a:solidFill>
                            <a:srgbClr val="FFFFFF"/>
                          </a:solidFill>
                          <a:latin typeface="Calibri (MS) Bold"/>
                          <a:ea typeface="Calibri (MS) Bold"/>
                          <a:cs typeface="Calibri (MS) Bold"/>
                          <a:sym typeface="Calibri (MS) Bold"/>
                        </a:rPr>
                        <a:t>Variabel berubah &gt;1%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r>
              <a:tr h="432622">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Simulasi dasar (semua loop aktif)</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96,20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5.404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650,36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122.208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0,8132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8"/>
                        </a:lnSpc>
                        <a:defRPr/>
                      </a:pPr>
                      <a:r>
                        <a:rPr lang="en-US" sz="1299">
                          <a:solidFill>
                            <a:srgbClr val="14313B"/>
                          </a:solidFill>
                          <a:latin typeface="Calibri (MS)"/>
                          <a:ea typeface="Calibri (MS)"/>
                          <a:cs typeface="Calibri (MS)"/>
                          <a:sym typeface="Calibri (MS)"/>
                        </a:rPr>
                        <a: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8"/>
                        </a:lnSpc>
                        <a:defRPr/>
                      </a:pPr>
                      <a:r>
                        <a:rPr lang="en-US" sz="1299">
                          <a:solidFill>
                            <a:srgbClr val="14313B"/>
                          </a:solidFill>
                          <a:latin typeface="Calibri (MS)"/>
                          <a:ea typeface="Calibri (MS)"/>
                          <a:cs typeface="Calibri (MS)"/>
                          <a:sym typeface="Calibri (MS)"/>
                        </a:rPr>
                        <a: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32622">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B1 kepadatan dimatikan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250,32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12.151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528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1.585,46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123.070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1,0696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8"/>
                        </a:lnSpc>
                        <a:defRPr/>
                      </a:pPr>
                      <a:r>
                        <a:rPr lang="en-US" sz="1299">
                          <a:solidFill>
                            <a:srgbClr val="0B5E6E"/>
                          </a:solidFill>
                          <a:latin typeface="Calibri (MS)"/>
                          <a:ea typeface="Calibri (MS)"/>
                          <a:cs typeface="Calibri (MS)"/>
                          <a:sym typeface="Calibri (MS)"/>
                        </a:rPr>
                        <a:t>+160,2%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EAF8FA"/>
                    </a:solidFill>
                  </a:tcPr>
                </a:tc>
                <a:tc>
                  <a:txBody>
                    <a:bodyPr anchor="t" rtlCol="false"/>
                    <a:lstStyle/>
                    <a:p>
                      <a:pPr algn="ctr">
                        <a:lnSpc>
                          <a:spcPts val="1558"/>
                        </a:lnSpc>
                        <a:defRPr/>
                      </a:pPr>
                      <a:r>
                        <a:rPr lang="en-US" sz="1299">
                          <a:solidFill>
                            <a:srgbClr val="0B5E6E"/>
                          </a:solidFill>
                          <a:latin typeface="Calibri (MS)"/>
                          <a:ea typeface="Calibri (MS)"/>
                          <a:cs typeface="Calibri (MS)"/>
                          <a:sym typeface="Calibri (MS)"/>
                        </a:rPr>
                        <a:t>5 dari 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EAF8FA"/>
                    </a:solidFill>
                  </a:tcPr>
                </a:tc>
              </a:tr>
              <a:tr h="432622">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Gugus daya dukung lahan dimatikan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111,66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6.081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384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745,26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135.035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0,8632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8"/>
                        </a:lnSpc>
                        <a:defRPr/>
                      </a:pPr>
                      <a:r>
                        <a:rPr lang="en-US" sz="1299">
                          <a:solidFill>
                            <a:srgbClr val="14313B"/>
                          </a:solidFill>
                          <a:latin typeface="Calibri (MS)"/>
                          <a:ea typeface="Calibri (MS)"/>
                          <a:cs typeface="Calibri (MS)"/>
                          <a:sym typeface="Calibri (MS)"/>
                        </a:rPr>
                        <a:t>+16,1%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8"/>
                        </a:lnSpc>
                        <a:defRPr/>
                      </a:pPr>
                      <a:r>
                        <a:rPr lang="en-US" sz="1299">
                          <a:solidFill>
                            <a:srgbClr val="14313B"/>
                          </a:solidFill>
                          <a:latin typeface="Calibri (MS)"/>
                          <a:ea typeface="Calibri (MS)"/>
                          <a:cs typeface="Calibri (MS)"/>
                          <a:sym typeface="Calibri (MS)"/>
                        </a:rPr>
                        <a:t>6 dari 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32622">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R2 ekonomi–atraksi dimatikan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80,24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4.671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201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549,73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122.109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0,7635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8"/>
                        </a:lnSpc>
                        <a:defRPr/>
                      </a:pPr>
                      <a:r>
                        <a:rPr lang="en-US" sz="1299">
                          <a:solidFill>
                            <a:srgbClr val="14313B"/>
                          </a:solidFill>
                          <a:latin typeface="Calibri (MS)"/>
                          <a:ea typeface="Calibri (MS)"/>
                          <a:cs typeface="Calibri (MS)"/>
                          <a:sym typeface="Calibri (MS)"/>
                        </a:rPr>
                        <a:t>−16,6%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8"/>
                        </a:lnSpc>
                        <a:defRPr/>
                      </a:pPr>
                      <a:r>
                        <a:rPr lang="en-US" sz="1299">
                          <a:solidFill>
                            <a:srgbClr val="14313B"/>
                          </a:solidFill>
                          <a:latin typeface="Calibri (MS)"/>
                          <a:ea typeface="Calibri (MS)"/>
                          <a:cs typeface="Calibri (MS)"/>
                          <a:sym typeface="Calibri (MS)"/>
                        </a:rPr>
                        <a:t>5 dari 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32622">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Okupansi akomodasi dimatikan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96,23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4.867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650,56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122.080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0,8133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8"/>
                        </a:lnSpc>
                        <a:defRPr/>
                      </a:pPr>
                      <a:r>
                        <a:rPr lang="en-US" sz="1299">
                          <a:solidFill>
                            <a:srgbClr val="14313B"/>
                          </a:solidFill>
                          <a:latin typeface="Calibri (MS)"/>
                          <a:ea typeface="Calibri (MS)"/>
                          <a:cs typeface="Calibri (MS)"/>
                          <a:sym typeface="Calibri (MS)"/>
                        </a:rPr>
                        <a:t>+0,03%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8"/>
                        </a:lnSpc>
                        <a:defRPr/>
                      </a:pPr>
                      <a:r>
                        <a:rPr lang="en-US" sz="1299">
                          <a:solidFill>
                            <a:srgbClr val="14313B"/>
                          </a:solidFill>
                          <a:latin typeface="Calibri (MS)"/>
                          <a:ea typeface="Calibri (MS)"/>
                          <a:cs typeface="Calibri (MS)"/>
                          <a:sym typeface="Calibri (MS)"/>
                        </a:rPr>
                        <a:t>1 dari 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32622">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Goal-seeking tenaga kerja dimatikan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96,20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5.404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364,99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122.208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0,8132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8"/>
                        </a:lnSpc>
                        <a:defRPr/>
                      </a:pPr>
                      <a:r>
                        <a:rPr lang="en-US" sz="1299">
                          <a:solidFill>
                            <a:srgbClr val="14313B"/>
                          </a:solidFill>
                          <a:latin typeface="Calibri (MS)"/>
                          <a:ea typeface="Calibri (MS)"/>
                          <a:cs typeface="Calibri (MS)"/>
                          <a:sym typeface="Calibri (MS)"/>
                        </a:rPr>
                        <a:t>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8"/>
                        </a:lnSpc>
                        <a:defRPr/>
                      </a:pPr>
                      <a:r>
                        <a:rPr lang="en-US" sz="1299">
                          <a:solidFill>
                            <a:srgbClr val="14313B"/>
                          </a:solidFill>
                          <a:latin typeface="Calibri (MS)"/>
                          <a:ea typeface="Calibri (MS)"/>
                          <a:cs typeface="Calibri (MS)"/>
                          <a:sym typeface="Calibri (MS)"/>
                        </a:rPr>
                        <a:t>1 dari 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32622">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Semua balancing loop dimatikan (hanya R1)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217,37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10.885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504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1.399,44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122.930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1,0000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8"/>
                        </a:lnSpc>
                        <a:defRPr/>
                      </a:pPr>
                      <a:r>
                        <a:rPr lang="en-US" sz="1299">
                          <a:solidFill>
                            <a:srgbClr val="14313B"/>
                          </a:solidFill>
                          <a:latin typeface="Calibri (MS)"/>
                          <a:ea typeface="Calibri (MS)"/>
                          <a:cs typeface="Calibri (MS)"/>
                          <a:sym typeface="Calibri (MS)"/>
                        </a:rPr>
                        <a:t>+126,0%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8"/>
                        </a:lnSpc>
                        <a:defRPr/>
                      </a:pPr>
                      <a:r>
                        <a:rPr lang="en-US" sz="1299">
                          <a:solidFill>
                            <a:srgbClr val="14313B"/>
                          </a:solidFill>
                          <a:latin typeface="Calibri (MS)"/>
                          <a:ea typeface="Calibri (MS)"/>
                          <a:cs typeface="Calibri (MS)"/>
                          <a:sym typeface="Calibri (MS)"/>
                        </a:rPr>
                        <a:t>5 dari 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bl>
          </a:graphicData>
        </a:graphic>
      </p:graphicFrame>
      <p:grpSp>
        <p:nvGrpSpPr>
          <p:cNvPr name="Group 23" id="23"/>
          <p:cNvGrpSpPr/>
          <p:nvPr/>
        </p:nvGrpSpPr>
        <p:grpSpPr>
          <a:xfrm rot="0">
            <a:off x="822960" y="6107049"/>
            <a:ext cx="5394960" cy="3102102"/>
            <a:chOff x="0" y="0"/>
            <a:chExt cx="7193280" cy="4136136"/>
          </a:xfrm>
        </p:grpSpPr>
        <p:sp>
          <p:nvSpPr>
            <p:cNvPr name="Freeform 24" id="24" descr="uji_loop_wisatawan.png"/>
            <p:cNvSpPr/>
            <p:nvPr/>
          </p:nvSpPr>
          <p:spPr>
            <a:xfrm flipH="false" flipV="false" rot="0">
              <a:off x="0" y="0"/>
              <a:ext cx="7193280" cy="4136136"/>
            </a:xfrm>
            <a:custGeom>
              <a:avLst/>
              <a:gdLst/>
              <a:ahLst/>
              <a:cxnLst/>
              <a:rect r="r" b="b" t="t" l="l"/>
              <a:pathLst>
                <a:path h="4136136" w="7193280">
                  <a:moveTo>
                    <a:pt x="0" y="0"/>
                  </a:moveTo>
                  <a:lnTo>
                    <a:pt x="7193280" y="0"/>
                  </a:lnTo>
                  <a:lnTo>
                    <a:pt x="7193280" y="4136136"/>
                  </a:lnTo>
                  <a:lnTo>
                    <a:pt x="0" y="4136136"/>
                  </a:lnTo>
                  <a:lnTo>
                    <a:pt x="0" y="0"/>
                  </a:lnTo>
                  <a:close/>
                </a:path>
              </a:pathLst>
            </a:custGeom>
            <a:blipFill>
              <a:blip r:embed="rId7"/>
              <a:stretch>
                <a:fillRect l="0" t="0" r="0" b="0"/>
              </a:stretch>
            </a:blipFill>
          </p:spPr>
          <p:txBody>
            <a:bodyPr/>
            <a:p/>
          </p:txBody>
        </p:sp>
      </p:grpSp>
      <p:grpSp>
        <p:nvGrpSpPr>
          <p:cNvPr name="Group 25" id="25"/>
          <p:cNvGrpSpPr/>
          <p:nvPr/>
        </p:nvGrpSpPr>
        <p:grpSpPr>
          <a:xfrm rot="0">
            <a:off x="6492240" y="6172200"/>
            <a:ext cx="10972800" cy="3017520"/>
            <a:chOff x="0" y="0"/>
            <a:chExt cx="14630400" cy="4023360"/>
          </a:xfrm>
        </p:grpSpPr>
        <p:sp>
          <p:nvSpPr>
            <p:cNvPr name="Freeform 26" id="26"/>
            <p:cNvSpPr/>
            <p:nvPr/>
          </p:nvSpPr>
          <p:spPr>
            <a:xfrm flipH="false" flipV="false" rot="0">
              <a:off x="0" y="0"/>
              <a:ext cx="14630400" cy="4023360"/>
            </a:xfrm>
            <a:custGeom>
              <a:avLst/>
              <a:gdLst/>
              <a:ahLst/>
              <a:cxnLst/>
              <a:rect r="r" b="b" t="t" l="l"/>
              <a:pathLst>
                <a:path h="4023360" w="14630400">
                  <a:moveTo>
                    <a:pt x="0" y="170688"/>
                  </a:moveTo>
                  <a:cubicBezTo>
                    <a:pt x="0" y="76454"/>
                    <a:pt x="76454" y="0"/>
                    <a:pt x="170688" y="0"/>
                  </a:cubicBezTo>
                  <a:lnTo>
                    <a:pt x="14459713" y="0"/>
                  </a:lnTo>
                  <a:cubicBezTo>
                    <a:pt x="14553947" y="0"/>
                    <a:pt x="14630400" y="76454"/>
                    <a:pt x="14630400" y="170688"/>
                  </a:cubicBezTo>
                  <a:lnTo>
                    <a:pt x="14630400" y="3852672"/>
                  </a:lnTo>
                  <a:cubicBezTo>
                    <a:pt x="14630400" y="3946906"/>
                    <a:pt x="14553947" y="4023360"/>
                    <a:pt x="14459713" y="4023360"/>
                  </a:cubicBezTo>
                  <a:lnTo>
                    <a:pt x="170688" y="4023360"/>
                  </a:lnTo>
                  <a:cubicBezTo>
                    <a:pt x="76454" y="4023360"/>
                    <a:pt x="0" y="3946906"/>
                    <a:pt x="0" y="3852672"/>
                  </a:cubicBezTo>
                  <a:close/>
                </a:path>
              </a:pathLst>
            </a:custGeom>
            <a:solidFill>
              <a:srgbClr val="EAF8FA"/>
            </a:solidFill>
          </p:spPr>
          <p:txBody>
            <a:bodyPr/>
            <a:p/>
          </p:txBody>
        </p:sp>
      </p:grpSp>
      <p:sp>
        <p:nvSpPr>
          <p:cNvPr name="TextBox 27" id="27"/>
          <p:cNvSpPr txBox="true"/>
          <p:nvPr/>
        </p:nvSpPr>
        <p:spPr>
          <a:xfrm rot="0">
            <a:off x="6766560" y="6291072"/>
            <a:ext cx="10424160" cy="662940"/>
          </a:xfrm>
          <a:prstGeom prst="rect">
            <a:avLst/>
          </a:prstGeom>
        </p:spPr>
        <p:txBody>
          <a:bodyPr anchor="t" rtlCol="false" tIns="0" lIns="0" bIns="0" rIns="0">
            <a:spAutoFit/>
          </a:bodyPr>
          <a:lstStyle/>
          <a:p>
            <a:pPr algn="l">
              <a:lnSpc>
                <a:spcPts val="2688"/>
              </a:lnSpc>
            </a:pPr>
            <a:r>
              <a:rPr lang="en-US" sz="2000" b="true">
                <a:solidFill>
                  <a:srgbClr val="0B5E6E"/>
                </a:solidFill>
                <a:latin typeface="Calibri (MS) Bold"/>
                <a:ea typeface="Calibri (MS) Bold"/>
                <a:cs typeface="Calibri (MS) Bold"/>
                <a:sym typeface="Calibri (MS) Bold"/>
              </a:rPr>
              <a:t>Pembacaan</a:t>
            </a:r>
          </a:p>
        </p:txBody>
      </p:sp>
      <p:sp>
        <p:nvSpPr>
          <p:cNvPr name="TextBox 28" id="28"/>
          <p:cNvSpPr txBox="true"/>
          <p:nvPr/>
        </p:nvSpPr>
        <p:spPr>
          <a:xfrm rot="0">
            <a:off x="6766560" y="6858000"/>
            <a:ext cx="10424160" cy="2167128"/>
          </a:xfrm>
          <a:prstGeom prst="rect">
            <a:avLst/>
          </a:prstGeom>
        </p:spPr>
        <p:txBody>
          <a:bodyPr anchor="t" rtlCol="false" tIns="0" lIns="0" bIns="0" rIns="0">
            <a:spAutoFit/>
          </a:bodyPr>
          <a:lstStyle/>
          <a:p>
            <a:pPr algn="l">
              <a:lnSpc>
                <a:spcPts val="2016"/>
              </a:lnSpc>
            </a:pPr>
            <a:r>
              <a:rPr lang="en-US" sz="1500">
                <a:solidFill>
                  <a:srgbClr val="14313B"/>
                </a:solidFill>
                <a:latin typeface="Calibri (MS)"/>
                <a:ea typeface="Calibri (MS)"/>
                <a:cs typeface="Calibri (MS)"/>
                <a:sym typeface="Calibri (MS)"/>
              </a:rPr>
              <a:t>• B1 paling kuat dan berpengaruh luas: wisatawan 2050 +160,2%, 5 dari 6 variabel berubah &gt;1%</a:t>
            </a:r>
          </a:p>
          <a:p>
            <a:pPr algn="l">
              <a:lnSpc>
                <a:spcPts val="2016"/>
              </a:lnSpc>
            </a:pPr>
            <a:r>
              <a:rPr lang="en-US" sz="1500">
                <a:solidFill>
                  <a:srgbClr val="14313B"/>
                </a:solidFill>
                <a:latin typeface="Calibri (MS)"/>
                <a:ea typeface="Calibri (MS)"/>
                <a:cs typeface="Calibri (MS)"/>
                <a:sym typeface="Calibri (MS)"/>
              </a:rPr>
              <a:t>• Gugus daya dukung lahan: satu-satunya yang memengaruhi 6 dari 6 variabel (wisatawan +16,1%)</a:t>
            </a:r>
          </a:p>
          <a:p>
            <a:pPr algn="l">
              <a:lnSpc>
                <a:spcPts val="2016"/>
              </a:lnSpc>
            </a:pPr>
            <a:r>
              <a:rPr lang="en-US" sz="1500">
                <a:solidFill>
                  <a:srgbClr val="14313B"/>
                </a:solidFill>
                <a:latin typeface="Calibri (MS)"/>
                <a:ea typeface="Calibri (MS)"/>
                <a:cs typeface="Calibri (MS)"/>
                <a:sym typeface="Calibri (MS)"/>
              </a:rPr>
              <a:t>• R2: dampak terbesar pada ODTW (−45,3%), melebihi dampak pada wisatawan (−16,6%)</a:t>
            </a:r>
          </a:p>
          <a:p>
            <a:pPr algn="l">
              <a:lnSpc>
                <a:spcPts val="2016"/>
              </a:lnSpc>
            </a:pPr>
            <a:r>
              <a:rPr lang="en-US" sz="1500">
                <a:solidFill>
                  <a:srgbClr val="14313B"/>
                </a:solidFill>
                <a:latin typeface="Calibri (MS)"/>
                <a:ea typeface="Calibri (MS)"/>
                <a:cs typeface="Calibri (MS)"/>
                <a:sym typeface="Calibri (MS)"/>
              </a:rPr>
              <a:t>• Efeknya tidak bisa dijumlahkan: B1 saja (250,32 juta) &gt; semua balancing loop dimatikan (217,37 juta) karena R2 tetap menaikkan daya tarik</a:t>
            </a:r>
          </a:p>
        </p:txBody>
      </p:sp>
    </p:spTree>
  </p:cSld>
  <p:clrMapOvr>
    <a:masterClrMapping/>
  </p:clrMapOvr>
</p:sld>
</file>

<file path=ppt/slides/slide8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12 · Horizon diperpanjang sampai 2150 (uji kestabilan, BAU)</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21" id="21"/>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87</a:t>
            </a:r>
          </a:p>
        </p:txBody>
      </p:sp>
      <p:graphicFrame>
        <p:nvGraphicFramePr>
          <p:cNvPr name="Table 22" id="22"/>
          <p:cNvGraphicFramePr>
            <a:graphicFrameLocks noGrp="true"/>
          </p:cNvGraphicFramePr>
          <p:nvPr/>
        </p:nvGraphicFramePr>
        <p:xfrm>
          <a:off x="822960" y="2286000"/>
          <a:ext cx="16573500" cy="3276600"/>
        </p:xfrm>
        <a:graphic>
          <a:graphicData uri="http://schemas.openxmlformats.org/drawingml/2006/table">
            <a:tbl>
              <a:tblPr/>
              <a:tblGrid>
                <a:gridCol w="1572668"/>
                <a:gridCol w="2782412"/>
                <a:gridCol w="2056566"/>
                <a:gridCol w="1693642"/>
                <a:gridCol w="2419489"/>
                <a:gridCol w="2298515"/>
                <a:gridCol w="1693642"/>
                <a:gridCol w="2056566"/>
              </a:tblGrid>
              <a:tr h="546100">
                <a:tc>
                  <a:txBody>
                    <a:bodyPr anchor="t" rtlCol="false"/>
                    <a:lstStyle/>
                    <a:p>
                      <a:pPr algn="l">
                        <a:lnSpc>
                          <a:spcPts val="1932"/>
                        </a:lnSpc>
                        <a:defRPr/>
                      </a:pPr>
                      <a:r>
                        <a:rPr lang="en-US" sz="1610" b="true">
                          <a:solidFill>
                            <a:srgbClr val="FFFFFF"/>
                          </a:solidFill>
                          <a:latin typeface="Calibri (MS) Bold"/>
                          <a:ea typeface="Calibri (MS) Bold"/>
                          <a:cs typeface="Calibri (MS) Bold"/>
                          <a:sym typeface="Calibri (MS) Bold"/>
                        </a:rPr>
                        <a:t>Tahun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932"/>
                        </a:lnSpc>
                        <a:defRPr/>
                      </a:pPr>
                      <a:r>
                        <a:rPr lang="en-US" sz="1610" b="true">
                          <a:solidFill>
                            <a:srgbClr val="FFFFFF"/>
                          </a:solidFill>
                          <a:latin typeface="Calibri (MS) Bold"/>
                          <a:ea typeface="Calibri (MS) Bold"/>
                          <a:cs typeface="Calibri (MS) Bold"/>
                          <a:sym typeface="Calibri (MS) Bold"/>
                        </a:rPr>
                        <a:t>Wisatawan (juta)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932"/>
                        </a:lnSpc>
                        <a:defRPr/>
                      </a:pPr>
                      <a:r>
                        <a:rPr lang="en-US" sz="1610" b="true">
                          <a:solidFill>
                            <a:srgbClr val="FFFFFF"/>
                          </a:solidFill>
                          <a:latin typeface="Calibri (MS) Bold"/>
                          <a:ea typeface="Calibri (MS) Bold"/>
                          <a:cs typeface="Calibri (MS) Bold"/>
                          <a:sym typeface="Calibri (MS) Bold"/>
                        </a:rPr>
                        <a:t>Daya tarik</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932"/>
                        </a:lnSpc>
                        <a:defRPr/>
                      </a:pPr>
                      <a:r>
                        <a:rPr lang="en-US" sz="1610" b="true">
                          <a:solidFill>
                            <a:srgbClr val="FFFFFF"/>
                          </a:solidFill>
                          <a:latin typeface="Calibri (MS) Bold"/>
                          <a:ea typeface="Calibri (MS) Bold"/>
                          <a:cs typeface="Calibri (MS) Bold"/>
                          <a:sym typeface="Calibri (MS) Bold"/>
                        </a:rPr>
                        <a:t>RDDL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932"/>
                        </a:lnSpc>
                        <a:defRPr/>
                      </a:pPr>
                      <a:r>
                        <a:rPr lang="en-US" sz="1610" b="true">
                          <a:solidFill>
                            <a:srgbClr val="FFFFFF"/>
                          </a:solidFill>
                          <a:latin typeface="Calibri (MS) Bold"/>
                          <a:ea typeface="Calibri (MS) Bold"/>
                          <a:cs typeface="Calibri (MS) Bold"/>
                          <a:sym typeface="Calibri (MS) Bold"/>
                        </a:rPr>
                        <a:t>Lahan (ha)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932"/>
                        </a:lnSpc>
                        <a:defRPr/>
                      </a:pPr>
                      <a:r>
                        <a:rPr lang="en-US" sz="1610" b="true">
                          <a:solidFill>
                            <a:srgbClr val="FFFFFF"/>
                          </a:solidFill>
                          <a:latin typeface="Calibri (MS) Bold"/>
                          <a:ea typeface="Calibri (MS) Bold"/>
                          <a:cs typeface="Calibri (MS) Bold"/>
                          <a:sym typeface="Calibri (MS) Bold"/>
                        </a:rPr>
                        <a:t>Hotel (unit)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932"/>
                        </a:lnSpc>
                        <a:defRPr/>
                      </a:pPr>
                      <a:r>
                        <a:rPr lang="en-US" sz="1610" b="true">
                          <a:solidFill>
                            <a:srgbClr val="FFFFFF"/>
                          </a:solidFill>
                          <a:latin typeface="Calibri (MS) Bold"/>
                          <a:ea typeface="Calibri (MS) Bold"/>
                          <a:cs typeface="Calibri (MS) Bold"/>
                          <a:sym typeface="Calibri (MS) Bold"/>
                        </a:rPr>
                        <a:t>ODTW</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932"/>
                        </a:lnSpc>
                        <a:defRPr/>
                      </a:pPr>
                      <a:r>
                        <a:rPr lang="en-US" sz="1610" b="true">
                          <a:solidFill>
                            <a:srgbClr val="FFFFFF"/>
                          </a:solidFill>
                          <a:latin typeface="Calibri (MS) Bold"/>
                          <a:ea typeface="Calibri (MS) Bold"/>
                          <a:cs typeface="Calibri (MS) Bold"/>
                          <a:sym typeface="Calibri (MS) Bold"/>
                        </a:rPr>
                        <a:t>TK (ribu)</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r>
              <a:tr h="546100">
                <a:tc>
                  <a:txBody>
                    <a:bodyPr anchor="t" rtlCol="false"/>
                    <a:lstStyle/>
                    <a:p>
                      <a:pPr algn="l">
                        <a:lnSpc>
                          <a:spcPts val="1932"/>
                        </a:lnSpc>
                        <a:defRPr/>
                      </a:pPr>
                      <a:r>
                        <a:rPr lang="en-US" sz="1610">
                          <a:solidFill>
                            <a:srgbClr val="14313B"/>
                          </a:solidFill>
                          <a:latin typeface="Calibri (MS)"/>
                          <a:ea typeface="Calibri (MS)"/>
                          <a:cs typeface="Calibri (MS)"/>
                          <a:sym typeface="Calibri (MS)"/>
                        </a:rPr>
                        <a:t>2050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96,20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0,813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0,615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122.208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5.404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367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650,4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546100">
                <a:tc>
                  <a:txBody>
                    <a:bodyPr anchor="t" rtlCol="false"/>
                    <a:lstStyle/>
                    <a:p>
                      <a:pPr algn="l">
                        <a:lnSpc>
                          <a:spcPts val="1932"/>
                        </a:lnSpc>
                        <a:defRPr/>
                      </a:pPr>
                      <a:r>
                        <a:rPr lang="en-US" sz="1610">
                          <a:solidFill>
                            <a:srgbClr val="14313B"/>
                          </a:solidFill>
                          <a:latin typeface="Calibri (MS)"/>
                          <a:ea typeface="Calibri (MS)"/>
                          <a:cs typeface="Calibri (MS)"/>
                          <a:sym typeface="Calibri (MS)"/>
                        </a:rPr>
                        <a:t>2075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122,23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0,758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0,346</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207.210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7.191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534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637,1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546100">
                <a:tc>
                  <a:txBody>
                    <a:bodyPr anchor="t" rtlCol="false"/>
                    <a:lstStyle/>
                    <a:p>
                      <a:pPr algn="l">
                        <a:lnSpc>
                          <a:spcPts val="1932"/>
                        </a:lnSpc>
                        <a:defRPr/>
                      </a:pPr>
                      <a:r>
                        <a:rPr lang="en-US" sz="1610">
                          <a:solidFill>
                            <a:srgbClr val="14313B"/>
                          </a:solidFill>
                          <a:latin typeface="Calibri (MS)"/>
                          <a:ea typeface="Calibri (MS)"/>
                          <a:cs typeface="Calibri (MS)"/>
                          <a:sym typeface="Calibri (MS)"/>
                        </a:rPr>
                        <a:t>2100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113,79</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0,725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0,149</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269.864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6.910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597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454,6</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546100">
                <a:tc>
                  <a:txBody>
                    <a:bodyPr anchor="t" rtlCol="false"/>
                    <a:lstStyle/>
                    <a:p>
                      <a:pPr algn="l">
                        <a:lnSpc>
                          <a:spcPts val="1932"/>
                        </a:lnSpc>
                        <a:defRPr/>
                      </a:pPr>
                      <a:r>
                        <a:rPr lang="en-US" sz="1610">
                          <a:solidFill>
                            <a:srgbClr val="14313B"/>
                          </a:solidFill>
                          <a:latin typeface="Calibri (MS)"/>
                          <a:ea typeface="Calibri (MS)"/>
                          <a:cs typeface="Calibri (MS)"/>
                          <a:sym typeface="Calibri (MS)"/>
                        </a:rPr>
                        <a:t>2125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91,30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0,715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0,054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299.837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5.608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556</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277,7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546100">
                <a:tc>
                  <a:txBody>
                    <a:bodyPr anchor="t" rtlCol="false"/>
                    <a:lstStyle/>
                    <a:p>
                      <a:pPr algn="l">
                        <a:lnSpc>
                          <a:spcPts val="1932"/>
                        </a:lnSpc>
                        <a:defRPr/>
                      </a:pPr>
                      <a:r>
                        <a:rPr lang="en-US" sz="1610">
                          <a:solidFill>
                            <a:srgbClr val="14313B"/>
                          </a:solidFill>
                          <a:latin typeface="Calibri (MS)"/>
                          <a:ea typeface="Calibri (MS)"/>
                          <a:cs typeface="Calibri (MS)"/>
                          <a:sym typeface="Calibri (MS)"/>
                        </a:rPr>
                        <a:t>2150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72,65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0,721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0,018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311.190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4.444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480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167,5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bl>
          </a:graphicData>
        </a:graphic>
      </p:graphicFrame>
      <p:grpSp>
        <p:nvGrpSpPr>
          <p:cNvPr name="Group 23" id="23"/>
          <p:cNvGrpSpPr/>
          <p:nvPr/>
        </p:nvGrpSpPr>
        <p:grpSpPr>
          <a:xfrm rot="0">
            <a:off x="816607" y="5845807"/>
            <a:ext cx="16654777" cy="1750057"/>
            <a:chOff x="0" y="0"/>
            <a:chExt cx="22206369" cy="2333409"/>
          </a:xfrm>
        </p:grpSpPr>
        <p:sp>
          <p:nvSpPr>
            <p:cNvPr name="Freeform 24" id="24"/>
            <p:cNvSpPr/>
            <p:nvPr/>
          </p:nvSpPr>
          <p:spPr>
            <a:xfrm flipH="false" flipV="false" rot="0">
              <a:off x="0" y="0"/>
              <a:ext cx="22206330" cy="2333371"/>
            </a:xfrm>
            <a:custGeom>
              <a:avLst/>
              <a:gdLst/>
              <a:ahLst/>
              <a:cxnLst/>
              <a:rect r="r" b="b" t="t" l="l"/>
              <a:pathLst>
                <a:path h="2333371" w="22206330">
                  <a:moveTo>
                    <a:pt x="0" y="186690"/>
                  </a:moveTo>
                  <a:cubicBezTo>
                    <a:pt x="0" y="83566"/>
                    <a:pt x="83566" y="0"/>
                    <a:pt x="186690" y="0"/>
                  </a:cubicBezTo>
                  <a:lnTo>
                    <a:pt x="22019640" y="0"/>
                  </a:lnTo>
                  <a:cubicBezTo>
                    <a:pt x="22122764" y="0"/>
                    <a:pt x="22206330" y="83566"/>
                    <a:pt x="22206330" y="186690"/>
                  </a:cubicBezTo>
                  <a:lnTo>
                    <a:pt x="22206330" y="2146681"/>
                  </a:lnTo>
                  <a:cubicBezTo>
                    <a:pt x="22206330" y="2249805"/>
                    <a:pt x="22122764" y="2333371"/>
                    <a:pt x="22019640" y="2333371"/>
                  </a:cubicBezTo>
                  <a:lnTo>
                    <a:pt x="186690" y="2333371"/>
                  </a:lnTo>
                  <a:cubicBezTo>
                    <a:pt x="83566" y="2333371"/>
                    <a:pt x="0" y="2249805"/>
                    <a:pt x="0" y="2146681"/>
                  </a:cubicBezTo>
                  <a:close/>
                </a:path>
              </a:pathLst>
            </a:custGeom>
            <a:solidFill>
              <a:srgbClr val="EAF8FA"/>
            </a:solidFill>
            <a:ln w="12700" cap="sq">
              <a:solidFill>
                <a:srgbClr val="CFE5E9"/>
              </a:solidFill>
              <a:prstDash val="solid"/>
              <a:miter/>
            </a:ln>
          </p:spPr>
          <p:txBody>
            <a:bodyPr/>
            <a:p/>
          </p:txBody>
        </p:sp>
        <p:sp>
          <p:nvSpPr>
            <p:cNvPr name="TextBox 25" id="25"/>
            <p:cNvSpPr txBox="true"/>
            <p:nvPr/>
          </p:nvSpPr>
          <p:spPr>
            <a:xfrm>
              <a:off x="0" y="-38100"/>
              <a:ext cx="22206369" cy="2371509"/>
            </a:xfrm>
            <a:prstGeom prst="rect">
              <a:avLst/>
            </a:prstGeom>
          </p:spPr>
          <p:txBody>
            <a:bodyPr anchor="t"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Bacaan</a:t>
              </a:r>
            </a:p>
            <a:p>
              <a:pPr algn="l">
                <a:lnSpc>
                  <a:spcPts val="1860"/>
                </a:lnSpc>
              </a:pPr>
              <a:r>
                <a:rPr lang="en-US" sz="1550">
                  <a:solidFill>
                    <a:srgbClr val="14313B"/>
                  </a:solidFill>
                  <a:latin typeface="Calibri (MS)"/>
                  <a:ea typeface="Calibri (MS)"/>
                  <a:cs typeface="Calibri (MS)"/>
                  <a:sym typeface="Calibri (MS)"/>
                </a:rPr>
                <a:t>Wisatawan mencapai puncak ±122,9 juta pada 2080 lalu turun ketika RDDL mendekati nol: pola overshoot lalu turun, khas model daya dukung (limits to growth). Simulasi tetap stabil (TPK maks 0,388; daya tarik min 0,715). Uji ini dirujuk di Buku 4.3.2.4 sebagai dasar pemilihan bobot dan elastisitas; tabelnya hanya ada di repository.</a:t>
              </a:r>
            </a:p>
          </p:txBody>
        </p:sp>
      </p:grpSp>
    </p:spTree>
  </p:cSld>
  <p:clrMapOvr>
    <a:masterClrMapping/>
  </p:clrMapOvr>
</p:sld>
</file>

<file path=ppt/slides/slide8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13 · Kalibrasi per tahap: tidak ada parameter yang berubah</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21" id="21"/>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88</a:t>
            </a:r>
          </a:p>
        </p:txBody>
      </p:sp>
      <p:sp>
        <p:nvSpPr>
          <p:cNvPr name="Freeform 22" id="22"/>
          <p:cNvSpPr/>
          <p:nvPr/>
        </p:nvSpPr>
        <p:spPr>
          <a:xfrm flipH="false" flipV="false" rot="0">
            <a:off x="806291" y="2269331"/>
            <a:ext cx="8217218" cy="3370897"/>
          </a:xfrm>
          <a:custGeom>
            <a:avLst/>
            <a:gdLst/>
            <a:ahLst/>
            <a:cxnLst/>
            <a:rect r="r" b="b" t="t" l="l"/>
            <a:pathLst>
              <a:path h="3370897" w="8217218">
                <a:moveTo>
                  <a:pt x="0" y="0"/>
                </a:moveTo>
                <a:lnTo>
                  <a:pt x="8217218" y="0"/>
                </a:lnTo>
                <a:lnTo>
                  <a:pt x="8217218" y="3370898"/>
                </a:lnTo>
                <a:lnTo>
                  <a:pt x="0" y="337089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23" id="23"/>
          <p:cNvGrpSpPr/>
          <p:nvPr/>
        </p:nvGrpSpPr>
        <p:grpSpPr>
          <a:xfrm rot="0">
            <a:off x="914400" y="2390137"/>
            <a:ext cx="5120640" cy="3129248"/>
            <a:chOff x="0" y="0"/>
            <a:chExt cx="6827520" cy="4172331"/>
          </a:xfrm>
        </p:grpSpPr>
        <p:sp>
          <p:nvSpPr>
            <p:cNvPr name="Freeform 24" id="24" descr="tahap1_permukaan_J_P1.png"/>
            <p:cNvSpPr/>
            <p:nvPr/>
          </p:nvSpPr>
          <p:spPr>
            <a:xfrm flipH="false" flipV="false" rot="0">
              <a:off x="0" y="0"/>
              <a:ext cx="6827520" cy="4172331"/>
            </a:xfrm>
            <a:custGeom>
              <a:avLst/>
              <a:gdLst/>
              <a:ahLst/>
              <a:cxnLst/>
              <a:rect r="r" b="b" t="t" l="l"/>
              <a:pathLst>
                <a:path h="4172331" w="6827520">
                  <a:moveTo>
                    <a:pt x="0" y="0"/>
                  </a:moveTo>
                  <a:lnTo>
                    <a:pt x="6827520" y="0"/>
                  </a:lnTo>
                  <a:lnTo>
                    <a:pt x="6827520" y="4172331"/>
                  </a:lnTo>
                  <a:lnTo>
                    <a:pt x="0" y="4172331"/>
                  </a:lnTo>
                  <a:lnTo>
                    <a:pt x="0" y="0"/>
                  </a:lnTo>
                  <a:close/>
                </a:path>
              </a:pathLst>
            </a:custGeom>
            <a:blipFill>
              <a:blip r:embed="rId9"/>
              <a:stretch>
                <a:fillRect l="0" t="-61" r="0" b="-61"/>
              </a:stretch>
            </a:blipFill>
          </p:spPr>
          <p:txBody>
            <a:bodyPr/>
            <a:p/>
          </p:txBody>
        </p:sp>
      </p:grpSp>
      <p:sp>
        <p:nvSpPr>
          <p:cNvPr name="TextBox 25" id="25"/>
          <p:cNvSpPr txBox="true"/>
          <p:nvPr/>
        </p:nvSpPr>
        <p:spPr>
          <a:xfrm rot="0">
            <a:off x="6172200" y="2446020"/>
            <a:ext cx="2651760" cy="93726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Tahap 1 · Akomodasi (P1)</a:t>
            </a:r>
          </a:p>
        </p:txBody>
      </p:sp>
      <p:sp>
        <p:nvSpPr>
          <p:cNvPr name="TextBox 26" id="26"/>
          <p:cNvSpPr txBox="true"/>
          <p:nvPr/>
        </p:nvSpPr>
        <p:spPr>
          <a:xfrm rot="0">
            <a:off x="6172200" y="3307080"/>
            <a:ext cx="2651760" cy="2225040"/>
          </a:xfrm>
          <a:prstGeom prst="rect">
            <a:avLst/>
          </a:prstGeom>
        </p:spPr>
        <p:txBody>
          <a:bodyPr anchor="t" rtlCol="false" tIns="0" lIns="0" bIns="0" rIns="0">
            <a:spAutoFit/>
          </a:bodyPr>
          <a:lstStyle/>
          <a:p>
            <a:pPr algn="l">
              <a:lnSpc>
                <a:spcPts val="1680"/>
              </a:lnSpc>
            </a:pPr>
            <a:r>
              <a:rPr lang="en-US" sz="1250">
                <a:solidFill>
                  <a:srgbClr val="14313B"/>
                </a:solidFill>
                <a:latin typeface="Calibri (MS)"/>
                <a:ea typeface="Calibri (MS)"/>
                <a:cs typeface="Calibri (MS)"/>
                <a:sym typeface="Calibri (MS)"/>
              </a:rPr>
              <a:t>Optimum batas TPK 0,35 tepat di ujung rentang; perbaikan 11,64% hanya karena tahun 2019 dan tidak konsisten pada versi dengan COVID maupun rancangan P1b. Dipertahankan: 0,275 dan 0,05.</a:t>
            </a:r>
          </a:p>
        </p:txBody>
      </p:sp>
      <p:sp>
        <p:nvSpPr>
          <p:cNvPr name="Freeform 27" id="27"/>
          <p:cNvSpPr/>
          <p:nvPr/>
        </p:nvSpPr>
        <p:spPr>
          <a:xfrm flipH="false" flipV="false" rot="0">
            <a:off x="9264491" y="2269331"/>
            <a:ext cx="8217218" cy="3370897"/>
          </a:xfrm>
          <a:custGeom>
            <a:avLst/>
            <a:gdLst/>
            <a:ahLst/>
            <a:cxnLst/>
            <a:rect r="r" b="b" t="t" l="l"/>
            <a:pathLst>
              <a:path h="3370897" w="8217218">
                <a:moveTo>
                  <a:pt x="0" y="0"/>
                </a:moveTo>
                <a:lnTo>
                  <a:pt x="8217218" y="0"/>
                </a:lnTo>
                <a:lnTo>
                  <a:pt x="8217218" y="3370898"/>
                </a:lnTo>
                <a:lnTo>
                  <a:pt x="0" y="337089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28" id="28"/>
          <p:cNvGrpSpPr/>
          <p:nvPr/>
        </p:nvGrpSpPr>
        <p:grpSpPr>
          <a:xfrm rot="0">
            <a:off x="9372600" y="2521001"/>
            <a:ext cx="5120640" cy="2867596"/>
            <a:chOff x="0" y="0"/>
            <a:chExt cx="6827520" cy="3823462"/>
          </a:xfrm>
        </p:grpSpPr>
        <p:sp>
          <p:nvSpPr>
            <p:cNvPr name="Freeform 29" id="29" descr="tahap2_profil_J.png"/>
            <p:cNvSpPr/>
            <p:nvPr/>
          </p:nvSpPr>
          <p:spPr>
            <a:xfrm flipH="false" flipV="false" rot="0">
              <a:off x="0" y="0"/>
              <a:ext cx="6827520" cy="3823462"/>
            </a:xfrm>
            <a:custGeom>
              <a:avLst/>
              <a:gdLst/>
              <a:ahLst/>
              <a:cxnLst/>
              <a:rect r="r" b="b" t="t" l="l"/>
              <a:pathLst>
                <a:path h="3823462" w="6827520">
                  <a:moveTo>
                    <a:pt x="0" y="0"/>
                  </a:moveTo>
                  <a:lnTo>
                    <a:pt x="6827520" y="0"/>
                  </a:lnTo>
                  <a:lnTo>
                    <a:pt x="6827520" y="3823462"/>
                  </a:lnTo>
                  <a:lnTo>
                    <a:pt x="0" y="3823462"/>
                  </a:lnTo>
                  <a:lnTo>
                    <a:pt x="0" y="0"/>
                  </a:lnTo>
                  <a:close/>
                </a:path>
              </a:pathLst>
            </a:custGeom>
            <a:blipFill>
              <a:blip r:embed="rId10"/>
              <a:stretch>
                <a:fillRect l="0" t="0" r="0" b="0"/>
              </a:stretch>
            </a:blipFill>
          </p:spPr>
          <p:txBody>
            <a:bodyPr/>
            <a:p/>
          </p:txBody>
        </p:sp>
      </p:grpSp>
      <p:sp>
        <p:nvSpPr>
          <p:cNvPr name="TextBox 30" id="30"/>
          <p:cNvSpPr txBox="true"/>
          <p:nvPr/>
        </p:nvSpPr>
        <p:spPr>
          <a:xfrm rot="0">
            <a:off x="14630400" y="2446020"/>
            <a:ext cx="2651760" cy="93726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Tahap 2 · Lahan (P4)</a:t>
            </a:r>
          </a:p>
        </p:txBody>
      </p:sp>
      <p:sp>
        <p:nvSpPr>
          <p:cNvPr name="TextBox 31" id="31"/>
          <p:cNvSpPr txBox="true"/>
          <p:nvPr/>
        </p:nvSpPr>
        <p:spPr>
          <a:xfrm rot="0">
            <a:off x="14630400" y="3307080"/>
            <a:ext cx="2651760" cy="2225040"/>
          </a:xfrm>
          <a:prstGeom prst="rect">
            <a:avLst/>
          </a:prstGeom>
        </p:spPr>
        <p:txBody>
          <a:bodyPr anchor="t" rtlCol="false" tIns="0" lIns="0" bIns="0" rIns="0">
            <a:spAutoFit/>
          </a:bodyPr>
          <a:lstStyle/>
          <a:p>
            <a:pPr algn="l">
              <a:lnSpc>
                <a:spcPts val="1680"/>
              </a:lnSpc>
            </a:pPr>
            <a:r>
              <a:rPr lang="en-US" sz="1250">
                <a:solidFill>
                  <a:srgbClr val="14313B"/>
                </a:solidFill>
                <a:latin typeface="Calibri (MS)"/>
                <a:ea typeface="Calibri (MS)"/>
                <a:cs typeface="Calibri (MS)"/>
                <a:sym typeface="Calibri (MS)"/>
              </a:rPr>
              <a:t>Optimum k = 0,0639 di dalam rentang; perbaikan 14,76%, komponen bias U1 0,4250 → 0,0755. Sementara diadopsi.</a:t>
            </a:r>
          </a:p>
        </p:txBody>
      </p:sp>
      <p:sp>
        <p:nvSpPr>
          <p:cNvPr name="Freeform 32" id="32"/>
          <p:cNvSpPr/>
          <p:nvPr/>
        </p:nvSpPr>
        <p:spPr>
          <a:xfrm flipH="false" flipV="false" rot="0">
            <a:off x="806291" y="5789771"/>
            <a:ext cx="8217218" cy="3370897"/>
          </a:xfrm>
          <a:custGeom>
            <a:avLst/>
            <a:gdLst/>
            <a:ahLst/>
            <a:cxnLst/>
            <a:rect r="r" b="b" t="t" l="l"/>
            <a:pathLst>
              <a:path h="3370897" w="8217218">
                <a:moveTo>
                  <a:pt x="0" y="0"/>
                </a:moveTo>
                <a:lnTo>
                  <a:pt x="8217218" y="0"/>
                </a:lnTo>
                <a:lnTo>
                  <a:pt x="8217218" y="3370898"/>
                </a:lnTo>
                <a:lnTo>
                  <a:pt x="0" y="337089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33" id="33"/>
          <p:cNvGrpSpPr/>
          <p:nvPr/>
        </p:nvGrpSpPr>
        <p:grpSpPr>
          <a:xfrm rot="0">
            <a:off x="914400" y="6052823"/>
            <a:ext cx="5120640" cy="2844832"/>
            <a:chOff x="0" y="0"/>
            <a:chExt cx="6827520" cy="3793109"/>
          </a:xfrm>
        </p:grpSpPr>
        <p:sp>
          <p:nvSpPr>
            <p:cNvPr name="Freeform 34" id="34" descr="tahap3_punggung_identifikasi.png"/>
            <p:cNvSpPr/>
            <p:nvPr/>
          </p:nvSpPr>
          <p:spPr>
            <a:xfrm flipH="false" flipV="false" rot="0">
              <a:off x="0" y="0"/>
              <a:ext cx="6827520" cy="3793109"/>
            </a:xfrm>
            <a:custGeom>
              <a:avLst/>
              <a:gdLst/>
              <a:ahLst/>
              <a:cxnLst/>
              <a:rect r="r" b="b" t="t" l="l"/>
              <a:pathLst>
                <a:path h="3793109" w="6827520">
                  <a:moveTo>
                    <a:pt x="0" y="0"/>
                  </a:moveTo>
                  <a:lnTo>
                    <a:pt x="6827520" y="0"/>
                  </a:lnTo>
                  <a:lnTo>
                    <a:pt x="6827520" y="3793109"/>
                  </a:lnTo>
                  <a:lnTo>
                    <a:pt x="0" y="3793109"/>
                  </a:lnTo>
                  <a:lnTo>
                    <a:pt x="0" y="0"/>
                  </a:lnTo>
                  <a:close/>
                </a:path>
              </a:pathLst>
            </a:custGeom>
            <a:blipFill>
              <a:blip r:embed="rId11"/>
              <a:stretch>
                <a:fillRect l="0" t="0" r="0" b="0"/>
              </a:stretch>
            </a:blipFill>
          </p:spPr>
          <p:txBody>
            <a:bodyPr/>
            <a:p/>
          </p:txBody>
        </p:sp>
      </p:grpSp>
      <p:sp>
        <p:nvSpPr>
          <p:cNvPr name="TextBox 35" id="35"/>
          <p:cNvSpPr txBox="true"/>
          <p:nvPr/>
        </p:nvSpPr>
        <p:spPr>
          <a:xfrm rot="0">
            <a:off x="6172200" y="5966460"/>
            <a:ext cx="2651760" cy="93726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Tahap 3 · Wisatawan (diagnostik)</a:t>
            </a:r>
          </a:p>
        </p:txBody>
      </p:sp>
      <p:sp>
        <p:nvSpPr>
          <p:cNvPr name="TextBox 36" id="36"/>
          <p:cNvSpPr txBox="true"/>
          <p:nvPr/>
        </p:nvSpPr>
        <p:spPr>
          <a:xfrm rot="0">
            <a:off x="6172200" y="6827520"/>
            <a:ext cx="2651760" cy="2225040"/>
          </a:xfrm>
          <a:prstGeom prst="rect">
            <a:avLst/>
          </a:prstGeom>
        </p:spPr>
        <p:txBody>
          <a:bodyPr anchor="t" rtlCol="false" tIns="0" lIns="0" bIns="0" rIns="0">
            <a:spAutoFit/>
          </a:bodyPr>
          <a:lstStyle/>
          <a:p>
            <a:pPr algn="l">
              <a:lnSpc>
                <a:spcPts val="1680"/>
              </a:lnSpc>
            </a:pPr>
            <a:r>
              <a:rPr lang="en-US" sz="1250">
                <a:solidFill>
                  <a:srgbClr val="14313B"/>
                </a:solidFill>
                <a:latin typeface="Calibri (MS)"/>
                <a:ea typeface="Calibri (MS)"/>
                <a:cs typeface="Calibri (MS)"/>
                <a:sym typeface="Calibri (MS)"/>
              </a:rPr>
              <a:t>Banyak pasangan nilai sama baiknya: LPE dan rasio LPD/LPE tidak bisa ditentukan terpisah; data hanya menentukan selisih bersihnya. Dipertahankan.</a:t>
            </a:r>
          </a:p>
        </p:txBody>
      </p:sp>
      <p:sp>
        <p:nvSpPr>
          <p:cNvPr name="Freeform 37" id="37"/>
          <p:cNvSpPr/>
          <p:nvPr/>
        </p:nvSpPr>
        <p:spPr>
          <a:xfrm flipH="false" flipV="false" rot="0">
            <a:off x="9264491" y="5789771"/>
            <a:ext cx="8217218" cy="3370897"/>
          </a:xfrm>
          <a:custGeom>
            <a:avLst/>
            <a:gdLst/>
            <a:ahLst/>
            <a:cxnLst/>
            <a:rect r="r" b="b" t="t" l="l"/>
            <a:pathLst>
              <a:path h="3370897" w="8217218">
                <a:moveTo>
                  <a:pt x="0" y="0"/>
                </a:moveTo>
                <a:lnTo>
                  <a:pt x="8217218" y="0"/>
                </a:lnTo>
                <a:lnTo>
                  <a:pt x="8217218" y="3370898"/>
                </a:lnTo>
                <a:lnTo>
                  <a:pt x="0" y="337089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38" id="38"/>
          <p:cNvGrpSpPr/>
          <p:nvPr/>
        </p:nvGrpSpPr>
        <p:grpSpPr>
          <a:xfrm rot="0">
            <a:off x="9372600" y="5939028"/>
            <a:ext cx="5120640" cy="3072384"/>
            <a:chOff x="0" y="0"/>
            <a:chExt cx="6827520" cy="4096512"/>
          </a:xfrm>
        </p:grpSpPr>
        <p:sp>
          <p:nvSpPr>
            <p:cNvPr name="Freeform 39" id="39" descr="tahap4_lahan_uji_B.png"/>
            <p:cNvSpPr/>
            <p:nvPr/>
          </p:nvSpPr>
          <p:spPr>
            <a:xfrm flipH="false" flipV="false" rot="0">
              <a:off x="0" y="0"/>
              <a:ext cx="6827520" cy="4096512"/>
            </a:xfrm>
            <a:custGeom>
              <a:avLst/>
              <a:gdLst/>
              <a:ahLst/>
              <a:cxnLst/>
              <a:rect r="r" b="b" t="t" l="l"/>
              <a:pathLst>
                <a:path h="4096512" w="6827520">
                  <a:moveTo>
                    <a:pt x="0" y="0"/>
                  </a:moveTo>
                  <a:lnTo>
                    <a:pt x="6827520" y="0"/>
                  </a:lnTo>
                  <a:lnTo>
                    <a:pt x="6827520" y="4096512"/>
                  </a:lnTo>
                  <a:lnTo>
                    <a:pt x="0" y="4096512"/>
                  </a:lnTo>
                  <a:lnTo>
                    <a:pt x="0" y="0"/>
                  </a:lnTo>
                  <a:close/>
                </a:path>
              </a:pathLst>
            </a:custGeom>
            <a:blipFill>
              <a:blip r:embed="rId12"/>
              <a:stretch>
                <a:fillRect l="0" t="0" r="0" b="0"/>
              </a:stretch>
            </a:blipFill>
          </p:spPr>
          <p:txBody>
            <a:bodyPr/>
            <a:p/>
          </p:txBody>
        </p:sp>
      </p:grpSp>
      <p:sp>
        <p:nvSpPr>
          <p:cNvPr name="TextBox 40" id="40"/>
          <p:cNvSpPr txBox="true"/>
          <p:nvPr/>
        </p:nvSpPr>
        <p:spPr>
          <a:xfrm rot="0">
            <a:off x="14630400" y="5966460"/>
            <a:ext cx="2651760" cy="93726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Tahap 4 · Kompatibilitas</a:t>
            </a:r>
          </a:p>
        </p:txBody>
      </p:sp>
      <p:sp>
        <p:nvSpPr>
          <p:cNvPr name="TextBox 41" id="41"/>
          <p:cNvSpPr txBox="true"/>
          <p:nvPr/>
        </p:nvSpPr>
        <p:spPr>
          <a:xfrm rot="0">
            <a:off x="14630400" y="6827520"/>
            <a:ext cx="2651760" cy="2225040"/>
          </a:xfrm>
          <a:prstGeom prst="rect">
            <a:avLst/>
          </a:prstGeom>
        </p:spPr>
        <p:txBody>
          <a:bodyPr anchor="t" rtlCol="false" tIns="0" lIns="0" bIns="0" rIns="0">
            <a:spAutoFit/>
          </a:bodyPr>
          <a:lstStyle/>
          <a:p>
            <a:pPr algn="l">
              <a:lnSpc>
                <a:spcPts val="1680"/>
              </a:lnSpc>
            </a:pPr>
            <a:r>
              <a:rPr lang="en-US" sz="1250">
                <a:solidFill>
                  <a:srgbClr val="14313B"/>
                </a:solidFill>
                <a:latin typeface="Calibri (MS)"/>
                <a:ea typeface="Calibri (MS)"/>
                <a:cs typeface="Calibri (MS)"/>
                <a:sym typeface="Calibri (MS)"/>
              </a:rPr>
              <a:t>Nilai Tahap 2 memperburuk lahan terbangun pada uji penuh: NRMSE 0,1796 → 0,2378 (rasio 1,32 &gt; 1,05). Ditolak; kembali ke 0,0436052.</a:t>
            </a:r>
          </a:p>
        </p:txBody>
      </p:sp>
    </p:spTree>
  </p:cSld>
  <p:clrMapOvr>
    <a:masterClrMapping/>
  </p:clrMapOvr>
</p:sld>
</file>

<file path=ppt/slides/slide8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14 · Sensitivitas ±10% pada lima keluaran lain dan rentang penuh</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21" id="21"/>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89</a:t>
            </a:r>
          </a:p>
        </p:txBody>
      </p:sp>
      <p:grpSp>
        <p:nvGrpSpPr>
          <p:cNvPr name="Group 22" id="22"/>
          <p:cNvGrpSpPr/>
          <p:nvPr/>
        </p:nvGrpSpPr>
        <p:grpSpPr>
          <a:xfrm rot="0">
            <a:off x="1737360" y="2240280"/>
            <a:ext cx="3566160" cy="3090672"/>
            <a:chOff x="0" y="0"/>
            <a:chExt cx="4754880" cy="4120896"/>
          </a:xfrm>
        </p:grpSpPr>
        <p:sp>
          <p:nvSpPr>
            <p:cNvPr name="Freeform 23" id="23" descr="tornado_PDRB.png"/>
            <p:cNvSpPr/>
            <p:nvPr/>
          </p:nvSpPr>
          <p:spPr>
            <a:xfrm flipH="false" flipV="false" rot="0">
              <a:off x="0" y="0"/>
              <a:ext cx="4754880" cy="4120896"/>
            </a:xfrm>
            <a:custGeom>
              <a:avLst/>
              <a:gdLst/>
              <a:ahLst/>
              <a:cxnLst/>
              <a:rect r="r" b="b" t="t" l="l"/>
              <a:pathLst>
                <a:path h="4120896" w="4754880">
                  <a:moveTo>
                    <a:pt x="0" y="0"/>
                  </a:moveTo>
                  <a:lnTo>
                    <a:pt x="4754880" y="0"/>
                  </a:lnTo>
                  <a:lnTo>
                    <a:pt x="4754880" y="4120896"/>
                  </a:lnTo>
                  <a:lnTo>
                    <a:pt x="0" y="4120896"/>
                  </a:lnTo>
                  <a:lnTo>
                    <a:pt x="0" y="0"/>
                  </a:lnTo>
                  <a:close/>
                </a:path>
              </a:pathLst>
            </a:custGeom>
            <a:blipFill>
              <a:blip r:embed="rId7"/>
              <a:stretch>
                <a:fillRect l="0" t="0" r="0" b="0"/>
              </a:stretch>
            </a:blipFill>
          </p:spPr>
          <p:txBody>
            <a:bodyPr/>
            <a:p/>
          </p:txBody>
        </p:sp>
      </p:grpSp>
      <p:sp>
        <p:nvSpPr>
          <p:cNvPr name="TextBox 24" id="24"/>
          <p:cNvSpPr txBox="true"/>
          <p:nvPr/>
        </p:nvSpPr>
        <p:spPr>
          <a:xfrm rot="0">
            <a:off x="822960" y="5235702"/>
            <a:ext cx="5394960" cy="415290"/>
          </a:xfrm>
          <a:prstGeom prst="rect">
            <a:avLst/>
          </a:prstGeom>
        </p:spPr>
        <p:txBody>
          <a:bodyPr anchor="t" rtlCol="false" tIns="0" lIns="0" bIns="0" rIns="0">
            <a:spAutoFit/>
          </a:bodyPr>
          <a:lstStyle/>
          <a:p>
            <a:pPr algn="ctr">
              <a:lnSpc>
                <a:spcPts val="1746"/>
              </a:lnSpc>
            </a:pPr>
            <a:r>
              <a:rPr lang="en-US" sz="1299" b="true">
                <a:solidFill>
                  <a:srgbClr val="0B5E6E"/>
                </a:solidFill>
                <a:latin typeface="Calibri (MS) Bold"/>
                <a:ea typeface="Calibri (MS) Bold"/>
                <a:cs typeface="Calibri (MS) Bold"/>
                <a:sym typeface="Calibri (MS) Bold"/>
              </a:rPr>
              <a:t>PDRB sektor pariwisata</a:t>
            </a:r>
          </a:p>
        </p:txBody>
      </p:sp>
      <p:grpSp>
        <p:nvGrpSpPr>
          <p:cNvPr name="Group 25" id="25"/>
          <p:cNvGrpSpPr/>
          <p:nvPr/>
        </p:nvGrpSpPr>
        <p:grpSpPr>
          <a:xfrm rot="0">
            <a:off x="7360920" y="2240280"/>
            <a:ext cx="3566160" cy="3090672"/>
            <a:chOff x="0" y="0"/>
            <a:chExt cx="4754880" cy="4120896"/>
          </a:xfrm>
        </p:grpSpPr>
        <p:sp>
          <p:nvSpPr>
            <p:cNvPr name="Freeform 26" id="26" descr="tornado_Lahan.png"/>
            <p:cNvSpPr/>
            <p:nvPr/>
          </p:nvSpPr>
          <p:spPr>
            <a:xfrm flipH="false" flipV="false" rot="0">
              <a:off x="0" y="0"/>
              <a:ext cx="4754880" cy="4120896"/>
            </a:xfrm>
            <a:custGeom>
              <a:avLst/>
              <a:gdLst/>
              <a:ahLst/>
              <a:cxnLst/>
              <a:rect r="r" b="b" t="t" l="l"/>
              <a:pathLst>
                <a:path h="4120896" w="4754880">
                  <a:moveTo>
                    <a:pt x="0" y="0"/>
                  </a:moveTo>
                  <a:lnTo>
                    <a:pt x="4754880" y="0"/>
                  </a:lnTo>
                  <a:lnTo>
                    <a:pt x="4754880" y="4120896"/>
                  </a:lnTo>
                  <a:lnTo>
                    <a:pt x="0" y="4120896"/>
                  </a:lnTo>
                  <a:lnTo>
                    <a:pt x="0" y="0"/>
                  </a:lnTo>
                  <a:close/>
                </a:path>
              </a:pathLst>
            </a:custGeom>
            <a:blipFill>
              <a:blip r:embed="rId8"/>
              <a:stretch>
                <a:fillRect l="0" t="0" r="0" b="0"/>
              </a:stretch>
            </a:blipFill>
          </p:spPr>
          <p:txBody>
            <a:bodyPr/>
            <a:p/>
          </p:txBody>
        </p:sp>
      </p:grpSp>
      <p:sp>
        <p:nvSpPr>
          <p:cNvPr name="TextBox 27" id="27"/>
          <p:cNvSpPr txBox="true"/>
          <p:nvPr/>
        </p:nvSpPr>
        <p:spPr>
          <a:xfrm rot="0">
            <a:off x="6446520" y="5235702"/>
            <a:ext cx="5394960" cy="415290"/>
          </a:xfrm>
          <a:prstGeom prst="rect">
            <a:avLst/>
          </a:prstGeom>
        </p:spPr>
        <p:txBody>
          <a:bodyPr anchor="t" rtlCol="false" tIns="0" lIns="0" bIns="0" rIns="0">
            <a:spAutoFit/>
          </a:bodyPr>
          <a:lstStyle/>
          <a:p>
            <a:pPr algn="ctr">
              <a:lnSpc>
                <a:spcPts val="1746"/>
              </a:lnSpc>
            </a:pPr>
            <a:r>
              <a:rPr lang="en-US" sz="1299" b="true">
                <a:solidFill>
                  <a:srgbClr val="0B5E6E"/>
                </a:solidFill>
                <a:latin typeface="Calibri (MS) Bold"/>
                <a:ea typeface="Calibri (MS) Bold"/>
                <a:cs typeface="Calibri (MS) Bold"/>
                <a:sym typeface="Calibri (MS) Bold"/>
              </a:rPr>
              <a:t>Lahan terbangun</a:t>
            </a:r>
          </a:p>
        </p:txBody>
      </p:sp>
      <p:grpSp>
        <p:nvGrpSpPr>
          <p:cNvPr name="Group 28" id="28"/>
          <p:cNvGrpSpPr/>
          <p:nvPr/>
        </p:nvGrpSpPr>
        <p:grpSpPr>
          <a:xfrm rot="0">
            <a:off x="12984480" y="2240280"/>
            <a:ext cx="3566160" cy="3090672"/>
            <a:chOff x="0" y="0"/>
            <a:chExt cx="4754880" cy="4120896"/>
          </a:xfrm>
        </p:grpSpPr>
        <p:sp>
          <p:nvSpPr>
            <p:cNvPr name="Freeform 29" id="29" descr="tornado_Hotel.png"/>
            <p:cNvSpPr/>
            <p:nvPr/>
          </p:nvSpPr>
          <p:spPr>
            <a:xfrm flipH="false" flipV="false" rot="0">
              <a:off x="0" y="0"/>
              <a:ext cx="4754880" cy="4120896"/>
            </a:xfrm>
            <a:custGeom>
              <a:avLst/>
              <a:gdLst/>
              <a:ahLst/>
              <a:cxnLst/>
              <a:rect r="r" b="b" t="t" l="l"/>
              <a:pathLst>
                <a:path h="4120896" w="4754880">
                  <a:moveTo>
                    <a:pt x="0" y="0"/>
                  </a:moveTo>
                  <a:lnTo>
                    <a:pt x="4754880" y="0"/>
                  </a:lnTo>
                  <a:lnTo>
                    <a:pt x="4754880" y="4120896"/>
                  </a:lnTo>
                  <a:lnTo>
                    <a:pt x="0" y="4120896"/>
                  </a:lnTo>
                  <a:lnTo>
                    <a:pt x="0" y="0"/>
                  </a:lnTo>
                  <a:close/>
                </a:path>
              </a:pathLst>
            </a:custGeom>
            <a:blipFill>
              <a:blip r:embed="rId9"/>
              <a:stretch>
                <a:fillRect l="0" t="0" r="0" b="0"/>
              </a:stretch>
            </a:blipFill>
          </p:spPr>
          <p:txBody>
            <a:bodyPr/>
            <a:p/>
          </p:txBody>
        </p:sp>
      </p:grpSp>
      <p:sp>
        <p:nvSpPr>
          <p:cNvPr name="TextBox 30" id="30"/>
          <p:cNvSpPr txBox="true"/>
          <p:nvPr/>
        </p:nvSpPr>
        <p:spPr>
          <a:xfrm rot="0">
            <a:off x="12070080" y="5235702"/>
            <a:ext cx="5394960" cy="415290"/>
          </a:xfrm>
          <a:prstGeom prst="rect">
            <a:avLst/>
          </a:prstGeom>
        </p:spPr>
        <p:txBody>
          <a:bodyPr anchor="t" rtlCol="false" tIns="0" lIns="0" bIns="0" rIns="0">
            <a:spAutoFit/>
          </a:bodyPr>
          <a:lstStyle/>
          <a:p>
            <a:pPr algn="ctr">
              <a:lnSpc>
                <a:spcPts val="1746"/>
              </a:lnSpc>
            </a:pPr>
            <a:r>
              <a:rPr lang="en-US" sz="1299" b="true">
                <a:solidFill>
                  <a:srgbClr val="0B5E6E"/>
                </a:solidFill>
                <a:latin typeface="Calibri (MS) Bold"/>
                <a:ea typeface="Calibri (MS) Bold"/>
                <a:cs typeface="Calibri (MS) Bold"/>
                <a:sym typeface="Calibri (MS) Bold"/>
              </a:rPr>
              <a:t>Jumlah hotel dan akomodasi</a:t>
            </a:r>
          </a:p>
        </p:txBody>
      </p:sp>
      <p:grpSp>
        <p:nvGrpSpPr>
          <p:cNvPr name="Group 31" id="31"/>
          <p:cNvGrpSpPr/>
          <p:nvPr/>
        </p:nvGrpSpPr>
        <p:grpSpPr>
          <a:xfrm rot="0">
            <a:off x="1737360" y="5760720"/>
            <a:ext cx="3566160" cy="3090672"/>
            <a:chOff x="0" y="0"/>
            <a:chExt cx="4754880" cy="4120896"/>
          </a:xfrm>
        </p:grpSpPr>
        <p:sp>
          <p:nvSpPr>
            <p:cNvPr name="Freeform 32" id="32" descr="tornado_Tenaga_Kerja.png"/>
            <p:cNvSpPr/>
            <p:nvPr/>
          </p:nvSpPr>
          <p:spPr>
            <a:xfrm flipH="false" flipV="false" rot="0">
              <a:off x="0" y="0"/>
              <a:ext cx="4754880" cy="4120896"/>
            </a:xfrm>
            <a:custGeom>
              <a:avLst/>
              <a:gdLst/>
              <a:ahLst/>
              <a:cxnLst/>
              <a:rect r="r" b="b" t="t" l="l"/>
              <a:pathLst>
                <a:path h="4120896" w="4754880">
                  <a:moveTo>
                    <a:pt x="0" y="0"/>
                  </a:moveTo>
                  <a:lnTo>
                    <a:pt x="4754880" y="0"/>
                  </a:lnTo>
                  <a:lnTo>
                    <a:pt x="4754880" y="4120896"/>
                  </a:lnTo>
                  <a:lnTo>
                    <a:pt x="0" y="4120896"/>
                  </a:lnTo>
                  <a:lnTo>
                    <a:pt x="0" y="0"/>
                  </a:lnTo>
                  <a:close/>
                </a:path>
              </a:pathLst>
            </a:custGeom>
            <a:blipFill>
              <a:blip r:embed="rId10"/>
              <a:stretch>
                <a:fillRect l="0" t="0" r="0" b="0"/>
              </a:stretch>
            </a:blipFill>
          </p:spPr>
          <p:txBody>
            <a:bodyPr/>
            <a:p/>
          </p:txBody>
        </p:sp>
      </p:grpSp>
      <p:sp>
        <p:nvSpPr>
          <p:cNvPr name="TextBox 33" id="33"/>
          <p:cNvSpPr txBox="true"/>
          <p:nvPr/>
        </p:nvSpPr>
        <p:spPr>
          <a:xfrm rot="0">
            <a:off x="822960" y="8756142"/>
            <a:ext cx="5394960" cy="415290"/>
          </a:xfrm>
          <a:prstGeom prst="rect">
            <a:avLst/>
          </a:prstGeom>
        </p:spPr>
        <p:txBody>
          <a:bodyPr anchor="t" rtlCol="false" tIns="0" lIns="0" bIns="0" rIns="0">
            <a:spAutoFit/>
          </a:bodyPr>
          <a:lstStyle/>
          <a:p>
            <a:pPr algn="ctr">
              <a:lnSpc>
                <a:spcPts val="1746"/>
              </a:lnSpc>
            </a:pPr>
            <a:r>
              <a:rPr lang="en-US" sz="1299" b="true">
                <a:solidFill>
                  <a:srgbClr val="0B5E6E"/>
                </a:solidFill>
                <a:latin typeface="Calibri (MS) Bold"/>
                <a:ea typeface="Calibri (MS) Bold"/>
                <a:cs typeface="Calibri (MS) Bold"/>
                <a:sym typeface="Calibri (MS) Bold"/>
              </a:rPr>
              <a:t>Tenaga kerja pariwisata</a:t>
            </a:r>
          </a:p>
        </p:txBody>
      </p:sp>
      <p:grpSp>
        <p:nvGrpSpPr>
          <p:cNvPr name="Group 34" id="34"/>
          <p:cNvGrpSpPr/>
          <p:nvPr/>
        </p:nvGrpSpPr>
        <p:grpSpPr>
          <a:xfrm rot="0">
            <a:off x="7360920" y="5760720"/>
            <a:ext cx="3566160" cy="3090672"/>
            <a:chOff x="0" y="0"/>
            <a:chExt cx="4754880" cy="4120896"/>
          </a:xfrm>
        </p:grpSpPr>
        <p:sp>
          <p:nvSpPr>
            <p:cNvPr name="Freeform 35" id="35" descr="tornado_ODTW.png"/>
            <p:cNvSpPr/>
            <p:nvPr/>
          </p:nvSpPr>
          <p:spPr>
            <a:xfrm flipH="false" flipV="false" rot="0">
              <a:off x="0" y="0"/>
              <a:ext cx="4754880" cy="4120896"/>
            </a:xfrm>
            <a:custGeom>
              <a:avLst/>
              <a:gdLst/>
              <a:ahLst/>
              <a:cxnLst/>
              <a:rect r="r" b="b" t="t" l="l"/>
              <a:pathLst>
                <a:path h="4120896" w="4754880">
                  <a:moveTo>
                    <a:pt x="0" y="0"/>
                  </a:moveTo>
                  <a:lnTo>
                    <a:pt x="4754880" y="0"/>
                  </a:lnTo>
                  <a:lnTo>
                    <a:pt x="4754880" y="4120896"/>
                  </a:lnTo>
                  <a:lnTo>
                    <a:pt x="0" y="4120896"/>
                  </a:lnTo>
                  <a:lnTo>
                    <a:pt x="0" y="0"/>
                  </a:lnTo>
                  <a:close/>
                </a:path>
              </a:pathLst>
            </a:custGeom>
            <a:blipFill>
              <a:blip r:embed="rId11"/>
              <a:stretch>
                <a:fillRect l="0" t="0" r="0" b="0"/>
              </a:stretch>
            </a:blipFill>
          </p:spPr>
          <p:txBody>
            <a:bodyPr/>
            <a:p/>
          </p:txBody>
        </p:sp>
      </p:grpSp>
      <p:sp>
        <p:nvSpPr>
          <p:cNvPr name="TextBox 36" id="36"/>
          <p:cNvSpPr txBox="true"/>
          <p:nvPr/>
        </p:nvSpPr>
        <p:spPr>
          <a:xfrm rot="0">
            <a:off x="6446520" y="8756142"/>
            <a:ext cx="5394960" cy="415290"/>
          </a:xfrm>
          <a:prstGeom prst="rect">
            <a:avLst/>
          </a:prstGeom>
        </p:spPr>
        <p:txBody>
          <a:bodyPr anchor="t" rtlCol="false" tIns="0" lIns="0" bIns="0" rIns="0">
            <a:spAutoFit/>
          </a:bodyPr>
          <a:lstStyle/>
          <a:p>
            <a:pPr algn="ctr">
              <a:lnSpc>
                <a:spcPts val="1746"/>
              </a:lnSpc>
            </a:pPr>
            <a:r>
              <a:rPr lang="en-US" sz="1299" b="true">
                <a:solidFill>
                  <a:srgbClr val="0B5E6E"/>
                </a:solidFill>
                <a:latin typeface="Calibri (MS) Bold"/>
                <a:ea typeface="Calibri (MS) Bold"/>
                <a:cs typeface="Calibri (MS) Bold"/>
                <a:sym typeface="Calibri (MS) Bold"/>
              </a:rPr>
              <a:t>Jumlah ODTW</a:t>
            </a:r>
          </a:p>
        </p:txBody>
      </p:sp>
      <p:graphicFrame>
        <p:nvGraphicFramePr>
          <p:cNvPr name="Table 37" id="37"/>
          <p:cNvGraphicFramePr>
            <a:graphicFrameLocks noGrp="true"/>
          </p:cNvGraphicFramePr>
          <p:nvPr/>
        </p:nvGraphicFramePr>
        <p:xfrm>
          <a:off x="12070080" y="5852160"/>
          <a:ext cx="5346700" cy="2921000"/>
        </p:xfrm>
        <a:graphic>
          <a:graphicData uri="http://schemas.openxmlformats.org/drawingml/2006/table">
            <a:tbl>
              <a:tblPr/>
              <a:tblGrid>
                <a:gridCol w="2356173"/>
                <a:gridCol w="1178086"/>
                <a:gridCol w="906220"/>
                <a:gridCol w="906220"/>
              </a:tblGrid>
              <a:tr h="369251">
                <a:tc>
                  <a:txBody>
                    <a:bodyPr anchor="t" rtlCol="false"/>
                    <a:lstStyle/>
                    <a:p>
                      <a:pPr algn="l">
                        <a:lnSpc>
                          <a:spcPts val="1260"/>
                        </a:lnSpc>
                        <a:defRPr/>
                      </a:pPr>
                      <a:r>
                        <a:rPr lang="en-US" sz="1050" b="true">
                          <a:solidFill>
                            <a:srgbClr val="FFFFFF"/>
                          </a:solidFill>
                          <a:latin typeface="Calibri (MS) Bold"/>
                          <a:ea typeface="Calibri (MS) Bold"/>
                          <a:cs typeface="Calibri (MS) Bold"/>
                          <a:sym typeface="Calibri (MS) Bold"/>
                        </a:rPr>
                        <a:t>Parameter (seluruh rentang)</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ctr">
                        <a:lnSpc>
                          <a:spcPts val="1260"/>
                        </a:lnSpc>
                        <a:defRPr/>
                      </a:pPr>
                      <a:r>
                        <a:rPr lang="en-US" sz="1050" b="true">
                          <a:solidFill>
                            <a:srgbClr val="FFFFFF"/>
                          </a:solidFill>
                          <a:latin typeface="Calibri (MS) Bold"/>
                          <a:ea typeface="Calibri (MS) Bold"/>
                          <a:cs typeface="Calibri (MS) Bold"/>
                          <a:sym typeface="Calibri (MS) Bold"/>
                        </a:rPr>
                        <a:t>Rentang</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260"/>
                        </a:lnSpc>
                        <a:defRPr/>
                      </a:pPr>
                      <a:r>
                        <a:rPr lang="en-US" sz="1050" b="true">
                          <a:solidFill>
                            <a:srgbClr val="FFFFFF"/>
                          </a:solidFill>
                          <a:latin typeface="Calibri (MS) Bold"/>
                          <a:ea typeface="Calibri (MS) Bold"/>
                          <a:cs typeface="Calibri (MS) Bold"/>
                          <a:sym typeface="Calibri (MS) Bold"/>
                        </a:rPr>
                        <a:t>Wisatawan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260"/>
                        </a:lnSpc>
                        <a:defRPr/>
                      </a:pPr>
                      <a:r>
                        <a:rPr lang="en-US" sz="1050" b="true">
                          <a:solidFill>
                            <a:srgbClr val="FFFFFF"/>
                          </a:solidFill>
                          <a:latin typeface="Calibri (MS) Bold"/>
                          <a:ea typeface="Calibri (MS) Bold"/>
                          <a:cs typeface="Calibri (MS) Bold"/>
                          <a:sym typeface="Calibri (MS) Bold"/>
                        </a:rPr>
                        <a:t>Lahan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r>
              <a:tr h="318969">
                <a:tc>
                  <a:txBody>
                    <a:bodyPr anchor="t" rtlCol="false"/>
                    <a:lstStyle/>
                    <a:p>
                      <a:pPr algn="l">
                        <a:lnSpc>
                          <a:spcPts val="1260"/>
                        </a:lnSpc>
                        <a:defRPr/>
                      </a:pPr>
                      <a:r>
                        <a:rPr lang="en-US" sz="1050">
                          <a:solidFill>
                            <a:srgbClr val="14313B"/>
                          </a:solidFill>
                          <a:latin typeface="Calibri (MS)"/>
                          <a:ea typeface="Calibri (MS)"/>
                          <a:cs typeface="Calibri (MS)"/>
                          <a:sym typeface="Calibri (MS)"/>
                        </a:rPr>
                        <a:t>Rasio LPD/LPE (LPE tetap)</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260"/>
                        </a:lnSpc>
                        <a:defRPr/>
                      </a:pPr>
                      <a:r>
                        <a:rPr lang="en-US" sz="1050">
                          <a:solidFill>
                            <a:srgbClr val="14313B"/>
                          </a:solidFill>
                          <a:latin typeface="Calibri (MS)"/>
                          <a:ea typeface="Calibri (MS)"/>
                          <a:cs typeface="Calibri (MS)"/>
                          <a:sym typeface="Calibri (MS)"/>
                        </a:rPr>
                        <a:t>0,60–0,90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153,57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0,96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18969">
                <a:tc>
                  <a:txBody>
                    <a:bodyPr anchor="t" rtlCol="false"/>
                    <a:lstStyle/>
                    <a:p>
                      <a:pPr algn="l">
                        <a:lnSpc>
                          <a:spcPts val="1260"/>
                        </a:lnSpc>
                        <a:defRPr/>
                      </a:pPr>
                      <a:r>
                        <a:rPr lang="en-US" sz="1050">
                          <a:solidFill>
                            <a:srgbClr val="14313B"/>
                          </a:solidFill>
                          <a:latin typeface="Calibri (MS)"/>
                          <a:ea typeface="Calibri (MS)"/>
                          <a:cs typeface="Calibri (MS)"/>
                          <a:sym typeface="Calibri (MS)"/>
                        </a:rPr>
                        <a:t>Rasio LPD/LPE (LPE dihitung ulang)</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260"/>
                        </a:lnSpc>
                        <a:defRPr/>
                      </a:pPr>
                      <a:r>
                        <a:rPr lang="en-US" sz="1050">
                          <a:solidFill>
                            <a:srgbClr val="14313B"/>
                          </a:solidFill>
                          <a:latin typeface="Calibri (MS)"/>
                          <a:ea typeface="Calibri (MS)"/>
                          <a:cs typeface="Calibri (MS)"/>
                          <a:sym typeface="Calibri (MS)"/>
                        </a:rPr>
                        <a:t>0,60–0,90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69,65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0,40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18969">
                <a:tc>
                  <a:txBody>
                    <a:bodyPr anchor="t" rtlCol="false"/>
                    <a:lstStyle/>
                    <a:p>
                      <a:pPr algn="l">
                        <a:lnSpc>
                          <a:spcPts val="1260"/>
                        </a:lnSpc>
                        <a:defRPr/>
                      </a:pPr>
                      <a:r>
                        <a:rPr lang="en-US" sz="1050">
                          <a:solidFill>
                            <a:srgbClr val="14313B"/>
                          </a:solidFill>
                          <a:latin typeface="Calibri (MS)"/>
                          <a:ea typeface="Calibri (MS)"/>
                          <a:cs typeface="Calibri (MS)"/>
                          <a:sym typeface="Calibri (MS)"/>
                        </a:rPr>
                        <a:t>Bobot daya tarik</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260"/>
                        </a:lnSpc>
                        <a:defRPr/>
                      </a:pPr>
                      <a:r>
                        <a:rPr lang="en-US" sz="1050">
                          <a:solidFill>
                            <a:srgbClr val="14313B"/>
                          </a:solidFill>
                          <a:latin typeface="Calibri (MS)"/>
                          <a:ea typeface="Calibri (MS)"/>
                          <a:cs typeface="Calibri (MS)"/>
                          <a:sym typeface="Calibri (MS)"/>
                        </a:rPr>
                        <a:t>3 kombinasi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48,10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0,24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18969">
                <a:tc>
                  <a:txBody>
                    <a:bodyPr anchor="t" rtlCol="false"/>
                    <a:lstStyle/>
                    <a:p>
                      <a:pPr algn="l">
                        <a:lnSpc>
                          <a:spcPts val="1260"/>
                        </a:lnSpc>
                        <a:defRPr/>
                      </a:pPr>
                      <a:r>
                        <a:rPr lang="en-US" sz="1050">
                          <a:solidFill>
                            <a:srgbClr val="14313B"/>
                          </a:solidFill>
                          <a:latin typeface="Calibri (MS)"/>
                          <a:ea typeface="Calibri (MS)"/>
                          <a:cs typeface="Calibri (MS)"/>
                          <a:sym typeface="Calibri (MS)"/>
                        </a:rPr>
                        <a:t>Laju konversi dasar</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260"/>
                        </a:lnSpc>
                        <a:defRPr/>
                      </a:pPr>
                      <a:r>
                        <a:rPr lang="en-US" sz="1050">
                          <a:solidFill>
                            <a:srgbClr val="14313B"/>
                          </a:solidFill>
                          <a:latin typeface="Calibri (MS)"/>
                          <a:ea typeface="Calibri (MS)"/>
                          <a:cs typeface="Calibri (MS)"/>
                          <a:sym typeface="Calibri (MS)"/>
                        </a:rPr>
                        <a:t>SK 95%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30,64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115,70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18969">
                <a:tc>
                  <a:txBody>
                    <a:bodyPr anchor="t" rtlCol="false"/>
                    <a:lstStyle/>
                    <a:p>
                      <a:pPr algn="l">
                        <a:lnSpc>
                          <a:spcPts val="1260"/>
                        </a:lnSpc>
                        <a:defRPr/>
                      </a:pPr>
                      <a:r>
                        <a:rPr lang="en-US" sz="1050">
                          <a:solidFill>
                            <a:srgbClr val="14313B"/>
                          </a:solidFill>
                          <a:latin typeface="Calibri (MS)"/>
                          <a:ea typeface="Calibri (MS)"/>
                          <a:cs typeface="Calibri (MS)"/>
                          <a:sym typeface="Calibri (MS)"/>
                        </a:rPr>
                        <a:t>Elastisitas daya tarik ODTW</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260"/>
                        </a:lnSpc>
                        <a:defRPr/>
                      </a:pPr>
                      <a:r>
                        <a:rPr lang="en-US" sz="1050">
                          <a:solidFill>
                            <a:srgbClr val="14313B"/>
                          </a:solidFill>
                          <a:latin typeface="Calibri (MS)"/>
                          <a:ea typeface="Calibri (MS)"/>
                          <a:cs typeface="Calibri (MS)"/>
                          <a:sym typeface="Calibri (MS)"/>
                        </a:rPr>
                        <a:t>0,2–0,4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12,49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0,05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18969">
                <a:tc>
                  <a:txBody>
                    <a:bodyPr anchor="t" rtlCol="false"/>
                    <a:lstStyle/>
                    <a:p>
                      <a:pPr algn="l">
                        <a:lnSpc>
                          <a:spcPts val="1260"/>
                        </a:lnSpc>
                        <a:defRPr/>
                      </a:pPr>
                      <a:r>
                        <a:rPr lang="en-US" sz="1050">
                          <a:solidFill>
                            <a:srgbClr val="14313B"/>
                          </a:solidFill>
                          <a:latin typeface="Calibri (MS)"/>
                          <a:ea typeface="Calibri (MS)"/>
                          <a:cs typeface="Calibri (MS)"/>
                          <a:sym typeface="Calibri (MS)"/>
                        </a:rPr>
                        <a:t>Insentif kebijakan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260"/>
                        </a:lnSpc>
                        <a:defRPr/>
                      </a:pPr>
                      <a:r>
                        <a:rPr lang="en-US" sz="1050">
                          <a:solidFill>
                            <a:srgbClr val="14313B"/>
                          </a:solidFill>
                          <a:latin typeface="Calibri (MS)"/>
                          <a:ea typeface="Calibri (MS)"/>
                          <a:cs typeface="Calibri (MS)"/>
                          <a:sym typeface="Calibri (MS)"/>
                        </a:rPr>
                        <a:t>0,1–0,5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10,35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0,18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18969">
                <a:tc>
                  <a:txBody>
                    <a:bodyPr anchor="t" rtlCol="false"/>
                    <a:lstStyle/>
                    <a:p>
                      <a:pPr algn="l">
                        <a:lnSpc>
                          <a:spcPts val="1260"/>
                        </a:lnSpc>
                        <a:defRPr/>
                      </a:pPr>
                      <a:r>
                        <a:rPr lang="en-US" sz="1050">
                          <a:solidFill>
                            <a:srgbClr val="14313B"/>
                          </a:solidFill>
                          <a:latin typeface="Calibri (MS)"/>
                          <a:ea typeface="Calibri (MS)"/>
                          <a:cs typeface="Calibri (MS)"/>
                          <a:sym typeface="Calibri (MS)"/>
                        </a:rPr>
                        <a:t>ODTW 2025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260"/>
                        </a:lnSpc>
                        <a:defRPr/>
                      </a:pPr>
                      <a:r>
                        <a:rPr lang="en-US" sz="1050">
                          <a:solidFill>
                            <a:srgbClr val="14313B"/>
                          </a:solidFill>
                          <a:latin typeface="Calibri (MS)"/>
                          <a:ea typeface="Calibri (MS)"/>
                          <a:cs typeface="Calibri (MS)"/>
                          <a:sym typeface="Calibri (MS)"/>
                        </a:rPr>
                        <a:t>189–218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1,51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0,00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18969">
                <a:tc>
                  <a:txBody>
                    <a:bodyPr anchor="t" rtlCol="false"/>
                    <a:lstStyle/>
                    <a:p>
                      <a:pPr algn="l">
                        <a:lnSpc>
                          <a:spcPts val="1260"/>
                        </a:lnSpc>
                        <a:defRPr/>
                      </a:pPr>
                      <a:r>
                        <a:rPr lang="en-US" sz="1050">
                          <a:solidFill>
                            <a:srgbClr val="14313B"/>
                          </a:solidFill>
                          <a:latin typeface="Calibri (MS)"/>
                          <a:ea typeface="Calibri (MS)"/>
                          <a:cs typeface="Calibri (MS)"/>
                          <a:sym typeface="Calibri (MS)"/>
                        </a:rPr>
                        <a:t>Konservasi lahan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260"/>
                        </a:lnSpc>
                        <a:defRPr/>
                      </a:pPr>
                      <a:r>
                        <a:rPr lang="en-US" sz="1050">
                          <a:solidFill>
                            <a:srgbClr val="14313B"/>
                          </a:solidFill>
                          <a:latin typeface="Calibri (MS)"/>
                          <a:ea typeface="Calibri (MS)"/>
                          <a:cs typeface="Calibri (MS)"/>
                          <a:sym typeface="Calibri (MS)"/>
                        </a:rPr>
                        <a:t>0,25–1,0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0,18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0,68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bl>
          </a:graphicData>
        </a:graphic>
      </p:graphicFrame>
      <p:sp>
        <p:nvSpPr>
          <p:cNvPr name="TextBox 38" id="38"/>
          <p:cNvSpPr txBox="true"/>
          <p:nvPr/>
        </p:nvSpPr>
        <p:spPr>
          <a:xfrm rot="0">
            <a:off x="12070080" y="8839200"/>
            <a:ext cx="5394960" cy="396240"/>
          </a:xfrm>
          <a:prstGeom prst="rect">
            <a:avLst/>
          </a:prstGeom>
        </p:spPr>
        <p:txBody>
          <a:bodyPr anchor="t" rtlCol="false" tIns="0" lIns="0" bIns="0" rIns="0">
            <a:spAutoFit/>
          </a:bodyPr>
          <a:lstStyle/>
          <a:p>
            <a:pPr algn="l">
              <a:lnSpc>
                <a:spcPts val="1478"/>
              </a:lnSpc>
            </a:pPr>
            <a:r>
              <a:rPr lang="en-US" sz="1100">
                <a:solidFill>
                  <a:srgbClr val="5E6E78"/>
                </a:solidFill>
                <a:latin typeface="Calibri (MS)"/>
                <a:ea typeface="Calibri (MS)"/>
                <a:cs typeface="Calibri (MS)"/>
                <a:sym typeface="Calibri (MS)"/>
              </a:rPr>
              <a:t>Selisih hasil tertinggi–terendah (poin persen)</a:t>
            </a:r>
          </a:p>
        </p:txBody>
      </p:sp>
    </p:spTree>
  </p:cSld>
  <p:clrMapOvr>
    <a:masterClrMapping/>
  </p:clrMapOvr>
</p:sld>
</file>

<file path=ppt/slides/slide9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15 · Persamaan kunci model (Vensim, model final)</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21" id="21"/>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90</a:t>
            </a:r>
          </a:p>
        </p:txBody>
      </p:sp>
      <p:graphicFrame>
        <p:nvGraphicFramePr>
          <p:cNvPr name="Table 22" id="22"/>
          <p:cNvGraphicFramePr>
            <a:graphicFrameLocks noGrp="true"/>
          </p:cNvGraphicFramePr>
          <p:nvPr/>
        </p:nvGraphicFramePr>
        <p:xfrm>
          <a:off x="822960" y="2286000"/>
          <a:ext cx="16624300" cy="6705600"/>
        </p:xfrm>
        <a:graphic>
          <a:graphicData uri="http://schemas.openxmlformats.org/drawingml/2006/table">
            <a:tbl>
              <a:tblPr/>
              <a:tblGrid>
                <a:gridCol w="4201746"/>
                <a:gridCol w="12422554"/>
              </a:tblGrid>
              <a:tr h="424973">
                <a:tc>
                  <a:txBody>
                    <a:bodyPr anchor="t" rtlCol="false"/>
                    <a:lstStyle/>
                    <a:p>
                      <a:pPr algn="l">
                        <a:lnSpc>
                          <a:spcPts val="1620"/>
                        </a:lnSpc>
                        <a:defRPr/>
                      </a:pPr>
                      <a:r>
                        <a:rPr lang="en-US" sz="1350" b="true">
                          <a:solidFill>
                            <a:srgbClr val="FFFFFF"/>
                          </a:solidFill>
                          <a:latin typeface="Calibri (MS) Bold"/>
                          <a:ea typeface="Calibri (MS) Bold"/>
                          <a:cs typeface="Calibri (MS) Bold"/>
                          <a:sym typeface="Calibri (MS) Bold"/>
                        </a:rPr>
                        <a:t>Variabel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l">
                        <a:lnSpc>
                          <a:spcPts val="1620"/>
                        </a:lnSpc>
                        <a:defRPr/>
                      </a:pPr>
                      <a:r>
                        <a:rPr lang="en-US" sz="1350" b="true">
                          <a:solidFill>
                            <a:srgbClr val="FFFFFF"/>
                          </a:solidFill>
                          <a:latin typeface="Calibri (MS) Bold"/>
                          <a:ea typeface="Calibri (MS) Bold"/>
                          <a:cs typeface="Calibri (MS) Bold"/>
                          <a:sym typeface="Calibri (MS) Bold"/>
                        </a:rPr>
                        <a:t>Persamaan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r>
              <a:tr h="483125">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Stok (umum)</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Stok(t + dt) = Stok(t) + (aliran masuk − aliran keluar) × dt;  dt = 1 tahun (Euler)</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3125">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Laju Kedatangan Wisatawan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Jumlah Wisatawan × Laju Pertumbuhan Eksternal × Daya Tarik Destinasi Wisata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3125">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Laju Penurunan Wisatawan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Jumlah Wisatawan × Laju Penurunan Dasar</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3125">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Daya Tarik Destinasi Wisata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0,40 × MIN(1,5; (ODTW ÷ ODTW Referensi)^0,3) + 0,35 × MIN(1; Kepadatan Referensi ÷ Kepadatan) + 0,25 × (RDDL ÷ RDDL Referensi)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3125">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Kepadatan Wisatawan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Jumlah Wisatawan ÷ Luas Lahan Tersedia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3125">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PDRB Sektor Pariwisata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(Jumlah Wisatawan × Pengeluaran per Kunjungan) × Rasio Nilai Tambah Pariwisata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3125">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Investasi Sektor Pariwisata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PDRB × Rasio Investasi terhadap PDRB × (1 + Insentif Kebijakan)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3125">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Rasio Permintaan thd Kapasitas Kamar</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(Total Malam Menginap ÷ TPG) ÷ (Jumlah Hotel × Kamar per Unit × Malam Tersedia per Kamar);  TPK = MIN(1; rasio)</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3125">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Laju Konstruksi Hotel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Investasi × Sensitivitas Konstruksi thd TPK × MAX(0; Rasio Permintaan − TPK Ambang)</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3125">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Laju Pembangunan ODTW</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Investasi × Sensitivitas ODTW thd Investasi + Laju Pembangunan ODTW Non Investasi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3125">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Laju Penyerapan Tenaga Kerja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MAX(0; Laju Keluar TK + (PDRB × Intensitas TK − Tenaga Kerja) ÷ Waktu Penyesuaian)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3125">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Laju Konversi Lahan Pariwisata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(Konstruksi × Lahan per Hotel + Pembangunan ODTW × Lahan per ODTW) × (1 − Konservasi Lahan) × (RDDL ÷ RDDL Referensi)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3125">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Laju Konversi Non-Pariwisata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Laju Konversi Dasar × Lahan Terbangun × RDDL;  RDDL = MAX(0; 1 − Lahan Terbangun ÷ Luas Lahan Tersedia)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9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16 · Data historis 2015–2025</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21" id="21"/>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91</a:t>
            </a:r>
          </a:p>
        </p:txBody>
      </p:sp>
      <p:graphicFrame>
        <p:nvGraphicFramePr>
          <p:cNvPr name="Table 22" id="22"/>
          <p:cNvGraphicFramePr>
            <a:graphicFrameLocks noGrp="true"/>
          </p:cNvGraphicFramePr>
          <p:nvPr/>
        </p:nvGraphicFramePr>
        <p:xfrm>
          <a:off x="822960" y="2286000"/>
          <a:ext cx="16535400" cy="5689600"/>
        </p:xfrm>
        <a:graphic>
          <a:graphicData uri="http://schemas.openxmlformats.org/drawingml/2006/table">
            <a:tbl>
              <a:tblPr/>
              <a:tblGrid>
                <a:gridCol w="985554"/>
                <a:gridCol w="2518638"/>
                <a:gridCol w="1861601"/>
                <a:gridCol w="1204565"/>
                <a:gridCol w="1314072"/>
                <a:gridCol w="1971107"/>
                <a:gridCol w="2299625"/>
                <a:gridCol w="2409130"/>
                <a:gridCol w="1971107"/>
              </a:tblGrid>
              <a:tr h="650558">
                <a:tc>
                  <a:txBody>
                    <a:bodyPr anchor="t" rtlCol="false"/>
                    <a:lstStyle/>
                    <a:p>
                      <a:pPr algn="ctr">
                        <a:lnSpc>
                          <a:spcPts val="1500"/>
                        </a:lnSpc>
                        <a:defRPr/>
                      </a:pPr>
                      <a:r>
                        <a:rPr lang="en-US" sz="1250" b="true">
                          <a:solidFill>
                            <a:srgbClr val="FFFFFF"/>
                          </a:solidFill>
                          <a:latin typeface="Calibri (MS) Bold"/>
                          <a:ea typeface="Calibri (MS) Bold"/>
                          <a:cs typeface="Calibri (MS) Bold"/>
                          <a:sym typeface="Calibri (MS) Bold"/>
                        </a:rPr>
                        <a:t>Tahun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00"/>
                        </a:lnSpc>
                        <a:defRPr/>
                      </a:pPr>
                      <a:r>
                        <a:rPr lang="en-US" sz="1250" b="true">
                          <a:solidFill>
                            <a:srgbClr val="FFFFFF"/>
                          </a:solidFill>
                          <a:latin typeface="Calibri (MS) Bold"/>
                          <a:ea typeface="Calibri (MS) Bold"/>
                          <a:cs typeface="Calibri (MS) Bold"/>
                          <a:sym typeface="Calibri (MS) Bold"/>
                        </a:rPr>
                        <a:t>Jumlah wisatawan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00"/>
                        </a:lnSpc>
                        <a:defRPr/>
                      </a:pPr>
                      <a:r>
                        <a:rPr lang="en-US" sz="1250" b="true">
                          <a:solidFill>
                            <a:srgbClr val="FFFFFF"/>
                          </a:solidFill>
                          <a:latin typeface="Calibri (MS) Bold"/>
                          <a:ea typeface="Calibri (MS) Bold"/>
                          <a:cs typeface="Calibri (MS) Bold"/>
                          <a:sym typeface="Calibri (MS) Bold"/>
                        </a:rPr>
                        <a:t>Hotel &amp; akomodasi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00"/>
                        </a:lnSpc>
                        <a:defRPr/>
                      </a:pPr>
                      <a:r>
                        <a:rPr lang="en-US" sz="1250" b="true">
                          <a:solidFill>
                            <a:srgbClr val="FFFFFF"/>
                          </a:solidFill>
                          <a:latin typeface="Calibri (MS) Bold"/>
                          <a:ea typeface="Calibri (MS) Bold"/>
                          <a:cs typeface="Calibri (MS) Bold"/>
                          <a:sym typeface="Calibri (MS) Bold"/>
                        </a:rPr>
                        <a:t>TPK (%)</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00"/>
                        </a:lnSpc>
                        <a:defRPr/>
                      </a:pPr>
                      <a:r>
                        <a:rPr lang="en-US" sz="1250" b="true">
                          <a:solidFill>
                            <a:srgbClr val="FFFFFF"/>
                          </a:solidFill>
                          <a:latin typeface="Calibri (MS) Bold"/>
                          <a:ea typeface="Calibri (MS) Bold"/>
                          <a:cs typeface="Calibri (MS) Bold"/>
                          <a:sym typeface="Calibri (MS) Bold"/>
                        </a:rPr>
                        <a:t>ODTW (unit)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00"/>
                        </a:lnSpc>
                        <a:defRPr/>
                      </a:pPr>
                      <a:r>
                        <a:rPr lang="en-US" sz="1250" b="true">
                          <a:solidFill>
                            <a:srgbClr val="FFFFFF"/>
                          </a:solidFill>
                          <a:latin typeface="Calibri (MS) Bold"/>
                          <a:ea typeface="Calibri (MS) Bold"/>
                          <a:cs typeface="Calibri (MS) Bold"/>
                          <a:sym typeface="Calibri (MS) Bold"/>
                        </a:rPr>
                        <a:t>Tenaga kerja (jiwa)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00"/>
                        </a:lnSpc>
                        <a:defRPr/>
                      </a:pPr>
                      <a:r>
                        <a:rPr lang="en-US" sz="1250" b="true">
                          <a:solidFill>
                            <a:srgbClr val="FFFFFF"/>
                          </a:solidFill>
                          <a:latin typeface="Calibri (MS) Bold"/>
                          <a:ea typeface="Calibri (MS) Bold"/>
                          <a:cs typeface="Calibri (MS) Bold"/>
                          <a:sym typeface="Calibri (MS) Bold"/>
                        </a:rPr>
                        <a:t>Lahan terbangun (ha)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00"/>
                        </a:lnSpc>
                        <a:defRPr/>
                      </a:pPr>
                      <a:r>
                        <a:rPr lang="en-US" sz="1250" b="true">
                          <a:solidFill>
                            <a:srgbClr val="FFFFFF"/>
                          </a:solidFill>
                          <a:latin typeface="Calibri (MS) Bold"/>
                          <a:ea typeface="Calibri (MS) Bold"/>
                          <a:cs typeface="Calibri (MS) Bold"/>
                          <a:sym typeface="Calibri (MS) Bold"/>
                        </a:rPr>
                        <a:t>PDRB pariwisata (miliar Rp)</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00"/>
                        </a:lnSpc>
                        <a:defRPr/>
                      </a:pPr>
                      <a:r>
                        <a:rPr lang="en-US" sz="1250" b="true">
                          <a:solidFill>
                            <a:srgbClr val="FFFFFF"/>
                          </a:solidFill>
                          <a:latin typeface="Calibri (MS) Bold"/>
                          <a:ea typeface="Calibri (MS) Bold"/>
                          <a:cs typeface="Calibri (MS) Bold"/>
                          <a:sym typeface="Calibri (MS) Bold"/>
                        </a:rPr>
                        <a:t>Investasi (miliar Rp)</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r>
              <a:tr h="458095">
                <a:tc>
                  <a:txBody>
                    <a:bodyPr anchor="t" rtlCol="false"/>
                    <a:lstStyle/>
                    <a:p>
                      <a:pPr algn="ctr">
                        <a:lnSpc>
                          <a:spcPts val="1558"/>
                        </a:lnSpc>
                        <a:defRPr/>
                      </a:pPr>
                      <a:r>
                        <a:rPr lang="en-US" sz="1299">
                          <a:solidFill>
                            <a:srgbClr val="14313B"/>
                          </a:solidFill>
                          <a:latin typeface="Calibri (MS)"/>
                          <a:ea typeface="Calibri (MS)"/>
                          <a:cs typeface="Calibri (MS)"/>
                          <a:sym typeface="Calibri (MS)"/>
                        </a:rPr>
                        <a:t>2015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6.413.735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1.165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34,89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165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1B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254.537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5E6E78"/>
                          </a:solidFill>
                          <a:latin typeface="Calibri (MS)"/>
                          <a:ea typeface="Calibri (MS)"/>
                          <a:cs typeface="Calibri (MS)"/>
                          <a:sym typeface="Calibri (MS)"/>
                        </a:rPr>
                        <a:t>ekstrapolasi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1B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10.131,09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53,09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095">
                <a:tc>
                  <a:txBody>
                    <a:bodyPr anchor="t" rtlCol="false"/>
                    <a:lstStyle/>
                    <a:p>
                      <a:pPr algn="ctr">
                        <a:lnSpc>
                          <a:spcPts val="1558"/>
                        </a:lnSpc>
                        <a:defRPr/>
                      </a:pPr>
                      <a:r>
                        <a:rPr lang="en-US" sz="1299">
                          <a:solidFill>
                            <a:srgbClr val="14313B"/>
                          </a:solidFill>
                          <a:latin typeface="Calibri (MS)"/>
                          <a:ea typeface="Calibri (MS)"/>
                          <a:cs typeface="Calibri (MS)"/>
                          <a:sym typeface="Calibri (MS)"/>
                        </a:rPr>
                        <a:t>2016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6.551.294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1.170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37,72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158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1B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263.878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44.561,08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10.694,03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373,84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095">
                <a:tc>
                  <a:txBody>
                    <a:bodyPr anchor="t" rtlCol="false"/>
                    <a:lstStyle/>
                    <a:p>
                      <a:pPr algn="ctr">
                        <a:lnSpc>
                          <a:spcPts val="1558"/>
                        </a:lnSpc>
                        <a:defRPr/>
                      </a:pPr>
                      <a:r>
                        <a:rPr lang="en-US" sz="1299">
                          <a:solidFill>
                            <a:srgbClr val="14313B"/>
                          </a:solidFill>
                          <a:latin typeface="Calibri (MS)"/>
                          <a:ea typeface="Calibri (MS)"/>
                          <a:cs typeface="Calibri (MS)"/>
                          <a:sym typeface="Calibri (MS)"/>
                        </a:rPr>
                        <a:t>2017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6.644.412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1.179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45,08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171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1B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273.563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50.223,96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11.347,59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165,39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095">
                <a:tc>
                  <a:txBody>
                    <a:bodyPr anchor="t" rtlCol="false"/>
                    <a:lstStyle/>
                    <a:p>
                      <a:pPr algn="ctr">
                        <a:lnSpc>
                          <a:spcPts val="1558"/>
                        </a:lnSpc>
                        <a:defRPr/>
                      </a:pPr>
                      <a:r>
                        <a:rPr lang="en-US" sz="1299">
                          <a:solidFill>
                            <a:srgbClr val="14313B"/>
                          </a:solidFill>
                          <a:latin typeface="Calibri (MS)"/>
                          <a:ea typeface="Calibri (MS)"/>
                          <a:cs typeface="Calibri (MS)"/>
                          <a:sym typeface="Calibri (MS)"/>
                        </a:rPr>
                        <a:t>2018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7.996.959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1.617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45,11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177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354.684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56.624,36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12.100,99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568,33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095">
                <a:tc>
                  <a:txBody>
                    <a:bodyPr anchor="t" rtlCol="false"/>
                    <a:lstStyle/>
                    <a:p>
                      <a:pPr algn="ctr">
                        <a:lnSpc>
                          <a:spcPts val="1558"/>
                        </a:lnSpc>
                        <a:defRPr/>
                      </a:pPr>
                      <a:r>
                        <a:rPr lang="en-US" sz="1299">
                          <a:solidFill>
                            <a:srgbClr val="14313B"/>
                          </a:solidFill>
                          <a:latin typeface="Calibri (MS)"/>
                          <a:ea typeface="Calibri (MS)"/>
                          <a:cs typeface="Calibri (MS)"/>
                          <a:sym typeface="Calibri (MS)"/>
                        </a:rPr>
                        <a:t>2019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20.520.104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1.817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45,34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189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334.784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63.480,04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13.104,38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741,45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095">
                <a:tc>
                  <a:txBody>
                    <a:bodyPr anchor="t" rtlCol="false"/>
                    <a:lstStyle/>
                    <a:p>
                      <a:pPr algn="ctr">
                        <a:lnSpc>
                          <a:spcPts val="1558"/>
                        </a:lnSpc>
                        <a:defRPr/>
                      </a:pPr>
                      <a:r>
                        <a:rPr lang="en-US" sz="1299">
                          <a:solidFill>
                            <a:srgbClr val="14313B"/>
                          </a:solidFill>
                          <a:latin typeface="Calibri (MS)"/>
                          <a:ea typeface="Calibri (MS)"/>
                          <a:cs typeface="Calibri (MS)"/>
                          <a:sym typeface="Calibri (MS)"/>
                        </a:rPr>
                        <a:t>2020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19.610.135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1.848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28,90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180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313.840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58.962,04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10.926,83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489,69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095">
                <a:tc>
                  <a:txBody>
                    <a:bodyPr anchor="t" rtlCol="false"/>
                    <a:lstStyle/>
                    <a:p>
                      <a:pPr algn="ctr">
                        <a:lnSpc>
                          <a:spcPts val="1558"/>
                        </a:lnSpc>
                        <a:defRPr/>
                      </a:pPr>
                      <a:r>
                        <a:rPr lang="en-US" sz="1299">
                          <a:solidFill>
                            <a:srgbClr val="14313B"/>
                          </a:solidFill>
                          <a:latin typeface="Calibri (MS)"/>
                          <a:ea typeface="Calibri (MS)"/>
                          <a:cs typeface="Calibri (MS)"/>
                          <a:sym typeface="Calibri (MS)"/>
                        </a:rPr>
                        <a:t>2021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22.849.394,50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1.696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27,48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170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310.755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59.887,53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12.097,19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848,80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095">
                <a:tc>
                  <a:txBody>
                    <a:bodyPr anchor="t" rtlCol="false"/>
                    <a:lstStyle/>
                    <a:p>
                      <a:pPr algn="ctr">
                        <a:lnSpc>
                          <a:spcPts val="1558"/>
                        </a:lnSpc>
                        <a:defRPr/>
                      </a:pPr>
                      <a:r>
                        <a:rPr lang="en-US" sz="1299">
                          <a:solidFill>
                            <a:srgbClr val="14313B"/>
                          </a:solidFill>
                          <a:latin typeface="Calibri (MS)"/>
                          <a:ea typeface="Calibri (MS)"/>
                          <a:cs typeface="Calibri (MS)"/>
                          <a:sym typeface="Calibri (MS)"/>
                        </a:rPr>
                        <a:t>2022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25.755.726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1.818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44,99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183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395.284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57.709,08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13.672,58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463,59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095">
                <a:tc>
                  <a:txBody>
                    <a:bodyPr anchor="t" rtlCol="false"/>
                    <a:lstStyle/>
                    <a:p>
                      <a:pPr algn="ctr">
                        <a:lnSpc>
                          <a:spcPts val="1558"/>
                        </a:lnSpc>
                        <a:defRPr/>
                      </a:pPr>
                      <a:r>
                        <a:rPr lang="en-US" sz="1299">
                          <a:solidFill>
                            <a:srgbClr val="14313B"/>
                          </a:solidFill>
                          <a:latin typeface="Calibri (MS)"/>
                          <a:ea typeface="Calibri (MS)"/>
                          <a:cs typeface="Calibri (MS)"/>
                          <a:sym typeface="Calibri (MS)"/>
                        </a:rPr>
                        <a:t>2023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30.542.580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1.820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44,77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201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359.340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75.624,40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14.809,20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1.175,26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095">
                <a:tc>
                  <a:txBody>
                    <a:bodyPr anchor="t" rtlCol="false"/>
                    <a:lstStyle/>
                    <a:p>
                      <a:pPr algn="ctr">
                        <a:lnSpc>
                          <a:spcPts val="1558"/>
                        </a:lnSpc>
                        <a:defRPr/>
                      </a:pPr>
                      <a:r>
                        <a:rPr lang="en-US" sz="1299">
                          <a:solidFill>
                            <a:srgbClr val="14313B"/>
                          </a:solidFill>
                          <a:latin typeface="Calibri (MS)"/>
                          <a:ea typeface="Calibri (MS)"/>
                          <a:cs typeface="Calibri (MS)"/>
                          <a:sym typeface="Calibri (MS)"/>
                        </a:rPr>
                        <a:t>2024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38.134.536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2.000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42,17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218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350.946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73.511,57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15.873,81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712,28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095">
                <a:tc>
                  <a:txBody>
                    <a:bodyPr anchor="t" rtlCol="false"/>
                    <a:lstStyle/>
                    <a:p>
                      <a:pPr algn="ctr">
                        <a:lnSpc>
                          <a:spcPts val="1558"/>
                        </a:lnSpc>
                        <a:defRPr/>
                      </a:pPr>
                      <a:r>
                        <a:rPr lang="en-US" sz="1299">
                          <a:solidFill>
                            <a:srgbClr val="14313B"/>
                          </a:solidFill>
                          <a:latin typeface="Calibri (MS)"/>
                          <a:ea typeface="Calibri (MS)"/>
                          <a:cs typeface="Calibri (MS)"/>
                          <a:sym typeface="Calibri (MS)"/>
                        </a:rPr>
                        <a:t>2025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40.695.654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2.291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38,07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201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1B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364.994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55.029,54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16.947,62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1.325,95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bl>
          </a:graphicData>
        </a:graphic>
      </p:graphicFrame>
      <p:sp>
        <p:nvSpPr>
          <p:cNvPr name="TextBox 23" id="23"/>
          <p:cNvSpPr txBox="true"/>
          <p:nvPr/>
        </p:nvSpPr>
        <p:spPr>
          <a:xfrm rot="0">
            <a:off x="822960" y="8134350"/>
            <a:ext cx="16642080" cy="242799"/>
          </a:xfrm>
          <a:prstGeom prst="rect">
            <a:avLst/>
          </a:prstGeom>
        </p:spPr>
        <p:txBody>
          <a:bodyPr anchor="t" rtlCol="false" tIns="0" lIns="0" bIns="0" rIns="0">
            <a:spAutoFit/>
          </a:bodyPr>
          <a:lstStyle/>
          <a:p>
            <a:pPr algn="l">
              <a:lnSpc>
                <a:spcPts val="1746"/>
              </a:lnSpc>
            </a:pPr>
            <a:r>
              <a:rPr lang="en-US" sz="1299">
                <a:solidFill>
                  <a:srgbClr val="5E6E78"/>
                </a:solidFill>
                <a:latin typeface="Calibri (MS)"/>
                <a:ea typeface="Calibri (MS)"/>
                <a:cs typeface="Calibri (MS)"/>
                <a:sym typeface="Calibri (MS)"/>
              </a:rPr>
              <a:t>Kuning: nilai estimasi (ODTW 2015–2017 dan 2025 dari NTL; lahan 2015 ekstrapolasi log-linear, tidak dipakai menurunkan parameter). Sumber: BPS DIY dan BPS RI, BKPM, Dynamic World</a:t>
            </a:r>
          </a:p>
        </p:txBody>
      </p:sp>
    </p:spTree>
  </p:cSld>
  <p:clrMapOvr>
    <a:masterClrMapping/>
  </p:clrMapOvr>
</p:sld>
</file>

<file path=ppt/slides/slide9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17 · Daftar istilah (1/2): kode uji dan tahapan</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21" id="21"/>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92</a:t>
            </a:r>
          </a:p>
        </p:txBody>
      </p:sp>
      <p:graphicFrame>
        <p:nvGraphicFramePr>
          <p:cNvPr id="22" name="Table 21"/>
          <p:cNvGraphicFramePr>
            <a:graphicFrameLocks noGrp="1"/>
          </p:cNvGraphicFramePr>
          <p:nvPr/>
        </p:nvGraphicFramePr>
        <p:xfrm>
          <a:off x="822960" y="1828800"/>
          <a:ext cx="16642080" cy="6803136"/>
        </p:xfrm>
        <a:graphic>
          <a:graphicData uri="http://schemas.openxmlformats.org/drawingml/2006/table">
            <a:tbl>
              <a:tblPr firstRow="1" bandRow="1">
                <a:tableStyleId>{5C22544A-7EE6-4342-B048-85BDC9FD1C3A}</a:tableStyleId>
              </a:tblPr>
              <a:tblGrid>
                <a:gridCol w="2103120"/>
                <a:gridCol w="14538960"/>
              </a:tblGrid>
              <a:tr h="566928">
                <a:tc>
                  <a:txBody>
                    <a:bodyPr wrap="square"/>
                    <a:lstStyle/>
                    <a:p>
                      <a:r>
                        <a:rPr sz="1440" b="1" i="0">
                          <a:solidFill>
                            <a:srgbClr val="FFFFFF"/>
                          </a:solidFill>
                          <a:latin typeface="Calibri (MS) Bold"/>
                        </a:rPr>
                        <a:t>Kode</a:t>
                      </a:r>
                    </a:p>
                  </a:txBody>
                  <a:tcPr marL="73152" marR="73152" marT="36576" marB="36576" anchor="ctr">
                    <a:solidFill>
                      <a:srgbClr val="0B5E6E"/>
                    </a:solidFill>
                  </a:tcPr>
                </a:tc>
                <a:tc>
                  <a:txBody>
                    <a:bodyPr wrap="square"/>
                    <a:lstStyle/>
                    <a:p>
                      <a:r>
                        <a:rPr sz="1440" b="1" i="0">
                          <a:solidFill>
                            <a:srgbClr val="FFFFFF"/>
                          </a:solidFill>
                          <a:latin typeface="Calibri (MS) Bold"/>
                        </a:rPr>
                        <a:t>Arti</a:t>
                      </a:r>
                    </a:p>
                  </a:txBody>
                  <a:tcPr marL="73152" marR="73152" marT="36576" marB="36576" anchor="ctr">
                    <a:solidFill>
                      <a:srgbClr val="0B5E6E"/>
                    </a:solidFill>
                  </a:tcPr>
                </a:tc>
              </a:tr>
              <a:tr h="566928">
                <a:tc>
                  <a:txBody>
                    <a:bodyPr wrap="square"/>
                    <a:lstStyle/>
                    <a:p>
                      <a:r>
                        <a:rPr sz="1440" b="1" i="0">
                          <a:solidFill>
                            <a:srgbClr val="14313B"/>
                          </a:solidFill>
                          <a:latin typeface="Calibri (MS) Bold"/>
                        </a:rPr>
                        <a:t>P1</a:t>
                      </a:r>
                    </a:p>
                  </a:txBody>
                  <a:tcPr marL="73152" marR="73152" marT="36576" marB="36576" anchor="ctr">
                    <a:solidFill>
                      <a:srgbClr val="FFFFFF"/>
                    </a:solidFill>
                  </a:tcPr>
                </a:tc>
                <a:tc>
                  <a:txBody>
                    <a:bodyPr wrap="square"/>
                    <a:lstStyle/>
                    <a:p>
                      <a:r>
                        <a:rPr sz="1440" b="0" i="0">
                          <a:solidFill>
                            <a:srgbClr val="14313B"/>
                          </a:solidFill>
                          <a:latin typeface="Calibri (MS)"/>
                        </a:rPr>
                        <a:t>Uji parsial subsistem akomodasi (jumlah hotel dan TPK); input dari subsistem lain diganti data aktual</a:t>
                      </a:r>
                    </a:p>
                  </a:txBody>
                  <a:tcPr marL="73152" marR="73152" marT="36576" marB="36576" anchor="ctr">
                    <a:solidFill>
                      <a:srgbClr val="FFFFFF"/>
                    </a:solidFill>
                  </a:tcPr>
                </a:tc>
              </a:tr>
              <a:tr h="566928">
                <a:tc>
                  <a:txBody>
                    <a:bodyPr wrap="square"/>
                    <a:lstStyle/>
                    <a:p>
                      <a:r>
                        <a:rPr sz="1440" b="1" i="0">
                          <a:solidFill>
                            <a:srgbClr val="14313B"/>
                          </a:solidFill>
                          <a:latin typeface="Calibri (MS) Bold"/>
                        </a:rPr>
                        <a:t>P1b</a:t>
                      </a:r>
                    </a:p>
                  </a:txBody>
                  <a:tcPr marL="73152" marR="73152" marT="36576" marB="36576" anchor="ctr">
                    <a:solidFill>
                      <a:srgbClr val="EAF8FA"/>
                    </a:solidFill>
                  </a:tcPr>
                </a:tc>
                <a:tc>
                  <a:txBody>
                    <a:bodyPr wrap="square"/>
                    <a:lstStyle/>
                    <a:p>
                      <a:r>
                        <a:rPr sz="1440" b="0" i="0">
                          <a:solidFill>
                            <a:srgbClr val="14313B"/>
                          </a:solidFill>
                          <a:latin typeface="Calibri (MS)"/>
                        </a:rPr>
                        <a:t>Variasi P1 yang memakai rata-rata kamar per unit dari data aktual, untuk mengecek robustness rancangan P1</a:t>
                      </a:r>
                    </a:p>
                  </a:txBody>
                  <a:tcPr marL="73152" marR="73152" marT="36576" marB="36576" anchor="ctr">
                    <a:solidFill>
                      <a:srgbClr val="EAF8FA"/>
                    </a:solidFill>
                  </a:tcPr>
                </a:tc>
              </a:tr>
              <a:tr h="566928">
                <a:tc>
                  <a:txBody>
                    <a:bodyPr wrap="square"/>
                    <a:lstStyle/>
                    <a:p>
                      <a:r>
                        <a:rPr sz="1440" b="1" i="0">
                          <a:solidFill>
                            <a:srgbClr val="14313B"/>
                          </a:solidFill>
                          <a:latin typeface="Calibri (MS) Bold"/>
                        </a:rPr>
                        <a:t>P2 · P3 · P4</a:t>
                      </a:r>
                    </a:p>
                  </a:txBody>
                  <a:tcPr marL="73152" marR="73152" marT="36576" marB="36576" anchor="ctr">
                    <a:solidFill>
                      <a:srgbClr val="FFFFFF"/>
                    </a:solidFill>
                  </a:tcPr>
                </a:tc>
                <a:tc>
                  <a:txBody>
                    <a:bodyPr wrap="square"/>
                    <a:lstStyle/>
                    <a:p>
                      <a:r>
                        <a:rPr sz="1440" b="0" i="0">
                          <a:solidFill>
                            <a:srgbClr val="14313B"/>
                          </a:solidFill>
                          <a:latin typeface="Calibri (MS)"/>
                        </a:rPr>
                        <a:t>Uji parsial subsistem ODTW · tenaga kerja · lahan terbangun</a:t>
                      </a:r>
                    </a:p>
                  </a:txBody>
                  <a:tcPr marL="73152" marR="73152" marT="36576" marB="36576" anchor="ctr">
                    <a:solidFill>
                      <a:srgbClr val="FFFFFF"/>
                    </a:solidFill>
                  </a:tcPr>
                </a:tc>
              </a:tr>
              <a:tr h="566928">
                <a:tc>
                  <a:txBody>
                    <a:bodyPr wrap="square"/>
                    <a:lstStyle/>
                    <a:p>
                      <a:r>
                        <a:rPr sz="1440" b="1" i="0">
                          <a:solidFill>
                            <a:srgbClr val="14313B"/>
                          </a:solidFill>
                          <a:latin typeface="Calibri (MS) Bold"/>
                        </a:rPr>
                        <a:t>P5</a:t>
                      </a:r>
                    </a:p>
                  </a:txBody>
                  <a:tcPr marL="73152" marR="73152" marT="36576" marB="36576" anchor="ctr">
                    <a:solidFill>
                      <a:srgbClr val="EAF8FA"/>
                    </a:solidFill>
                  </a:tcPr>
                </a:tc>
                <a:tc>
                  <a:txBody>
                    <a:bodyPr wrap="square"/>
                    <a:lstStyle/>
                    <a:p>
                      <a:r>
                        <a:rPr sz="1440" b="0" i="0">
                          <a:solidFill>
                            <a:srgbClr val="14313B"/>
                          </a:solidFill>
                          <a:latin typeface="Calibri (MS)"/>
                        </a:rPr>
                        <a:t>Uji parsial subsistem wisatawan; memakai data wisnus yang sudah disesuaikan sejak 2016</a:t>
                      </a:r>
                    </a:p>
                  </a:txBody>
                  <a:tcPr marL="73152" marR="73152" marT="36576" marB="36576" anchor="ctr">
                    <a:solidFill>
                      <a:srgbClr val="EAF8FA"/>
                    </a:solidFill>
                  </a:tcPr>
                </a:tc>
              </a:tr>
              <a:tr h="566928">
                <a:tc>
                  <a:txBody>
                    <a:bodyPr wrap="square"/>
                    <a:lstStyle/>
                    <a:p>
                      <a:r>
                        <a:rPr sz="1440" b="1" i="0">
                          <a:solidFill>
                            <a:srgbClr val="14313B"/>
                          </a:solidFill>
                          <a:latin typeface="Calibri (MS) Bold"/>
                        </a:rPr>
                        <a:t>Uji penuh</a:t>
                      </a:r>
                    </a:p>
                  </a:txBody>
                  <a:tcPr marL="73152" marR="73152" marT="36576" marB="36576" anchor="ctr">
                    <a:solidFill>
                      <a:srgbClr val="FFFFFF"/>
                    </a:solidFill>
                  </a:tcPr>
                </a:tc>
                <a:tc>
                  <a:txBody>
                    <a:bodyPr wrap="square"/>
                    <a:lstStyle/>
                    <a:p>
                      <a:r>
                        <a:rPr sz="1440" b="0" i="0">
                          <a:solidFill>
                            <a:srgbClr val="14313B"/>
                          </a:solidFill>
                          <a:latin typeface="Calibri (MS)"/>
                        </a:rPr>
                        <a:t>Seluruh model dijalankan bersama tanpa penggantian data (2019–2025, 9 variabel)</a:t>
                      </a:r>
                    </a:p>
                  </a:txBody>
                  <a:tcPr marL="73152" marR="73152" marT="36576" marB="36576" anchor="ctr">
                    <a:solidFill>
                      <a:srgbClr val="FFFFFF"/>
                    </a:solidFill>
                  </a:tcPr>
                </a:tc>
              </a:tr>
              <a:tr h="566928">
                <a:tc>
                  <a:txBody>
                    <a:bodyPr wrap="square"/>
                    <a:lstStyle/>
                    <a:p>
                      <a:r>
                        <a:rPr sz="1440" b="1" i="0">
                          <a:solidFill>
                            <a:srgbClr val="14313B"/>
                          </a:solidFill>
                          <a:latin typeface="Calibri (MS) Bold"/>
                        </a:rPr>
                        <a:t>E01–E17</a:t>
                      </a:r>
                    </a:p>
                  </a:txBody>
                  <a:tcPr marL="73152" marR="73152" marT="36576" marB="36576" anchor="ctr">
                    <a:solidFill>
                      <a:srgbClr val="EAF8FA"/>
                    </a:solidFill>
                  </a:tcPr>
                </a:tc>
                <a:tc>
                  <a:txBody>
                    <a:bodyPr wrap="square"/>
                    <a:lstStyle/>
                    <a:p>
                      <a:r>
                        <a:rPr sz="1440" b="0" i="0">
                          <a:solidFill>
                            <a:srgbClr val="14313B"/>
                          </a:solidFill>
                          <a:latin typeface="Calibri (MS)"/>
                        </a:rPr>
                        <a:t>17 uji kondisi ekstrem: satu parameter dibuat nol atau dilipatgandakan (mis. E01 LPE = 0; E04 rasio investasi/PDRB = 0; E09 laju konversi ×10)</a:t>
                      </a:r>
                    </a:p>
                  </a:txBody>
                  <a:tcPr marL="73152" marR="73152" marT="36576" marB="36576" anchor="ctr">
                    <a:solidFill>
                      <a:srgbClr val="EAF8FA"/>
                    </a:solidFill>
                  </a:tcPr>
                </a:tc>
              </a:tr>
              <a:tr h="566928">
                <a:tc>
                  <a:txBody>
                    <a:bodyPr wrap="square"/>
                    <a:lstStyle/>
                    <a:p>
                      <a:r>
                        <a:rPr sz="1440" b="1" i="0">
                          <a:solidFill>
                            <a:srgbClr val="14313B"/>
                          </a:solidFill>
                          <a:latin typeface="Calibri (MS) Bold"/>
                        </a:rPr>
                        <a:t>Tahap 0–4</a:t>
                      </a:r>
                    </a:p>
                  </a:txBody>
                  <a:tcPr marL="73152" marR="73152" marT="36576" marB="36576" anchor="ctr">
                    <a:solidFill>
                      <a:srgbClr val="FFFFFF"/>
                    </a:solidFill>
                  </a:tcPr>
                </a:tc>
                <a:tc>
                  <a:txBody>
                    <a:bodyPr wrap="square"/>
                    <a:lstStyle/>
                    <a:p>
                      <a:r>
                        <a:rPr sz="1440" b="0" i="0">
                          <a:solidFill>
                            <a:srgbClr val="14313B"/>
                          </a:solidFill>
                          <a:latin typeface="Calibri (MS)"/>
                        </a:rPr>
                        <a:t>Tahap kalibrasi: 0 koreksi LPE/LPD · 1 akomodasi · 2 lahan · 3 wisatawan (hanya pemeriksaan) · 4 uji kecocokan pada model penuh</a:t>
                      </a:r>
                    </a:p>
                  </a:txBody>
                  <a:tcPr marL="73152" marR="73152" marT="36576" marB="36576" anchor="ctr">
                    <a:solidFill>
                      <a:srgbClr val="FFFFFF"/>
                    </a:solidFill>
                  </a:tcPr>
                </a:tc>
              </a:tr>
              <a:tr h="566928">
                <a:tc>
                  <a:txBody>
                    <a:bodyPr wrap="square"/>
                    <a:lstStyle/>
                    <a:p>
                      <a:r>
                        <a:rPr sz="1440" b="1" i="0">
                          <a:solidFill>
                            <a:srgbClr val="14313B"/>
                          </a:solidFill>
                          <a:latin typeface="Calibri (MS) Bold"/>
                        </a:rPr>
                        <a:t>Aturan R1–R4</a:t>
                      </a:r>
                    </a:p>
                  </a:txBody>
                  <a:tcPr marL="73152" marR="73152" marT="36576" marB="36576" anchor="ctr">
                    <a:solidFill>
                      <a:srgbClr val="EAF8FA"/>
                    </a:solidFill>
                  </a:tcPr>
                </a:tc>
                <a:tc>
                  <a:txBody>
                    <a:bodyPr wrap="square"/>
                    <a:lstStyle/>
                    <a:p>
                      <a:r>
                        <a:rPr sz="1440" b="0" i="0">
                          <a:solidFill>
                            <a:srgbClr val="14313B"/>
                          </a:solidFill>
                          <a:latin typeface="Calibri (MS)"/>
                        </a:rPr>
                        <a:t>Aturan keputusan kalibrasi (berbeda dengan loop R1–R2): R1 nilai dari data termasuk kumpulan nilai setara → dipertahankan; R2 kumpulan setara menyentuh kedua ujung rentang → tidak bisa ditentukan; R3 optimum di ujung rentang → cek leave-one-year-out; R4 lainnya → dipakai bila lolos Tahap 4</a:t>
                      </a:r>
                    </a:p>
                  </a:txBody>
                  <a:tcPr marL="73152" marR="73152" marT="36576" marB="36576" anchor="ctr">
                    <a:solidFill>
                      <a:srgbClr val="EAF8FA"/>
                    </a:solidFill>
                  </a:tcPr>
                </a:tc>
              </a:tr>
              <a:tr h="566928">
                <a:tc>
                  <a:txBody>
                    <a:bodyPr wrap="square"/>
                    <a:lstStyle/>
                    <a:p>
                      <a:r>
                        <a:rPr sz="1440" b="1" i="0">
                          <a:solidFill>
                            <a:srgbClr val="14313B"/>
                          </a:solidFill>
                          <a:latin typeface="Calibri (MS) Bold"/>
                        </a:rPr>
                        <a:t>M1 · M2 · S · T</a:t>
                      </a:r>
                    </a:p>
                  </a:txBody>
                  <a:tcPr marL="73152" marR="73152" marT="36576" marB="36576" anchor="ctr">
                    <a:solidFill>
                      <a:srgbClr val="FFFFFF"/>
                    </a:solidFill>
                  </a:tcPr>
                </a:tc>
                <a:tc>
                  <a:txBody>
                    <a:bodyPr wrap="square"/>
                    <a:lstStyle/>
                    <a:p>
                      <a:r>
                        <a:rPr sz="1440" b="0" i="0">
                          <a:solidFill>
                            <a:srgbClr val="14313B"/>
                          </a:solidFill>
                          <a:latin typeface="Calibri (MS)"/>
                        </a:rPr>
                        <a:t>Syarat penolakan Tahap 4: NRMSE variabel target memburuk &gt; 5% · rata-rata NRMSE 9 variabel memburuk &gt; 5% · uji ekstrem gagal · simulasi tidak stabil pada horizon diperpanjang</a:t>
                      </a:r>
                    </a:p>
                  </a:txBody>
                  <a:tcPr marL="73152" marR="73152" marT="36576" marB="36576" anchor="ctr">
                    <a:solidFill>
                      <a:srgbClr val="FFFFFF"/>
                    </a:solidFill>
                  </a:tcPr>
                </a:tc>
              </a:tr>
              <a:tr h="566928">
                <a:tc>
                  <a:txBody>
                    <a:bodyPr wrap="square"/>
                    <a:lstStyle/>
                    <a:p>
                      <a:r>
                        <a:rPr sz="1440" b="1" i="0">
                          <a:solidFill>
                            <a:srgbClr val="14313B"/>
                          </a:solidFill>
                          <a:latin typeface="Calibri (MS) Bold"/>
                        </a:rPr>
                        <a:t>D-A · D-B · D-C</a:t>
                      </a:r>
                    </a:p>
                  </a:txBody>
                  <a:tcPr marL="73152" marR="73152" marT="36576" marB="36576" anchor="ctr">
                    <a:solidFill>
                      <a:srgbClr val="EAF8FA"/>
                    </a:solidFill>
                  </a:tcPr>
                </a:tc>
                <a:tc>
                  <a:txBody>
                    <a:bodyPr wrap="square"/>
                    <a:lstStyle/>
                    <a:p>
                      <a:r>
                        <a:rPr sz="1440" b="0" i="0">
                          <a:solidFill>
                            <a:srgbClr val="14313B"/>
                          </a:solidFill>
                          <a:latin typeface="Calibri (MS)"/>
                        </a:rPr>
                        <a:t>Varian pemeriksaan Tahap 3: D-A periode 2016–2019 (LPE 0,440) · D-B 2016–2019 + 2022–2025 (0,490) · D-C periode D-A dengan faktor penyesuaian 2,22 atau 2,38 (0,410 / 0,470)</a:t>
                      </a:r>
                    </a:p>
                  </a:txBody>
                  <a:tcPr marL="73152" marR="73152" marT="36576" marB="36576" anchor="ctr">
                    <a:solidFill>
                      <a:srgbClr val="EAF8FA"/>
                    </a:solidFill>
                  </a:tcPr>
                </a:tc>
              </a:tr>
              <a:tr h="566928">
                <a:tc>
                  <a:txBody>
                    <a:bodyPr wrap="square"/>
                    <a:lstStyle/>
                    <a:p>
                      <a:r>
                        <a:rPr sz="1440" b="1" i="0">
                          <a:solidFill>
                            <a:srgbClr val="14313B"/>
                          </a:solidFill>
                          <a:latin typeface="Calibri (MS) Bold"/>
                        </a:rPr>
                        <a:t>C0–C6</a:t>
                      </a:r>
                    </a:p>
                  </a:txBody>
                  <a:tcPr marL="73152" marR="73152" marT="36576" marB="36576" anchor="ctr">
                    <a:solidFill>
                      <a:srgbClr val="FFFFFF"/>
                    </a:solidFill>
                  </a:tcPr>
                </a:tc>
                <a:tc>
                  <a:txBody>
                    <a:bodyPr wrap="square"/>
                    <a:lstStyle/>
                    <a:p>
                      <a:r>
                        <a:rPr sz="1440" b="0" i="0">
                          <a:solidFill>
                            <a:srgbClr val="14313B"/>
                          </a:solidFill>
                          <a:latin typeface="Calibri (MS)"/>
                        </a:rPr>
                        <a:t>Kondisi uji robustness skenario: C0 acuan (nilai final); C1–C6 menggeser rasio LPD/LPE (0,65; 0,90), bobot daya tarik (2 kombinasi lain), dan laju konversi dasar (batas bawah/atas selang 95%)</a:t>
                      </a:r>
                    </a:p>
                  </a:txBody>
                  <a:tcPr marL="73152" marR="73152" marT="36576" marB="36576" anchor="ctr">
                    <a:solidFill>
                      <a:srgbClr val="FFFFFF"/>
                    </a:solidFill>
                  </a:tcPr>
                </a:tc>
              </a:tr>
            </a:tbl>
          </a:graphicData>
        </a:graphic>
      </p:graphicFrame>
      <p:sp>
        <p:nvSpPr>
          <p:cNvPr id="23" name="TextBox 22"/>
          <p:cNvSpPr txBox="1"/>
          <p:nvPr/>
        </p:nvSpPr>
        <p:spPr>
          <a:xfrm>
            <a:off x="822960" y="9281160"/>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3.7.4, 3.8.4, 4.4.5, 4.5, 4.6 (Tabel 54), 4.8.5.</a:t>
            </a:r>
          </a:p>
        </p:txBody>
      </p:sp>
    </p:spTree>
  </p:cSld>
  <p:clrMapOvr>
    <a:masterClrMapping/>
  </p:clrMapOvr>
</p:sld>
</file>

<file path=ppt/slides/slide9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17 · Daftar istilah (2/2): ukuran dan singkatan</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21" id="21"/>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93</a:t>
            </a:r>
          </a:p>
        </p:txBody>
      </p:sp>
      <p:graphicFrame>
        <p:nvGraphicFramePr>
          <p:cNvPr id="22" name="Table 21"/>
          <p:cNvGraphicFramePr>
            <a:graphicFrameLocks noGrp="1"/>
          </p:cNvGraphicFramePr>
          <p:nvPr/>
        </p:nvGraphicFramePr>
        <p:xfrm>
          <a:off x="822960" y="1828800"/>
          <a:ext cx="16642080" cy="7150608"/>
        </p:xfrm>
        <a:graphic>
          <a:graphicData uri="http://schemas.openxmlformats.org/drawingml/2006/table">
            <a:tbl>
              <a:tblPr firstRow="1" bandRow="1">
                <a:tableStyleId>{5C22544A-7EE6-4342-B048-85BDC9FD1C3A}</a:tableStyleId>
              </a:tblPr>
              <a:tblGrid>
                <a:gridCol w="3291840"/>
                <a:gridCol w="13350240"/>
              </a:tblGrid>
              <a:tr h="420624">
                <a:tc>
                  <a:txBody>
                    <a:bodyPr wrap="square"/>
                    <a:lstStyle/>
                    <a:p>
                      <a:r>
                        <a:rPr sz="1440" b="1" i="0">
                          <a:solidFill>
                            <a:srgbClr val="FFFFFF"/>
                          </a:solidFill>
                          <a:latin typeface="Calibri (MS) Bold"/>
                        </a:rPr>
                        <a:t>Istilah</a:t>
                      </a:r>
                    </a:p>
                  </a:txBody>
                  <a:tcPr marL="73152" marR="73152" marT="36576" marB="36576" anchor="ctr">
                    <a:solidFill>
                      <a:srgbClr val="0B5E6E"/>
                    </a:solidFill>
                  </a:tcPr>
                </a:tc>
                <a:tc>
                  <a:txBody>
                    <a:bodyPr wrap="square"/>
                    <a:lstStyle/>
                    <a:p>
                      <a:r>
                        <a:rPr sz="1440" b="1" i="0">
                          <a:solidFill>
                            <a:srgbClr val="FFFFFF"/>
                          </a:solidFill>
                          <a:latin typeface="Calibri (MS) Bold"/>
                        </a:rPr>
                        <a:t>Arti</a:t>
                      </a:r>
                    </a:p>
                  </a:txBody>
                  <a:tcPr marL="73152" marR="73152" marT="36576" marB="36576" anchor="ctr">
                    <a:solidFill>
                      <a:srgbClr val="0B5E6E"/>
                    </a:solidFill>
                  </a:tcPr>
                </a:tc>
              </a:tr>
              <a:tr h="420624">
                <a:tc>
                  <a:txBody>
                    <a:bodyPr wrap="square"/>
                    <a:lstStyle/>
                    <a:p>
                      <a:r>
                        <a:rPr sz="1440" b="1" i="0">
                          <a:solidFill>
                            <a:srgbClr val="14313B"/>
                          </a:solidFill>
                          <a:latin typeface="Calibri (MS) Bold"/>
                        </a:rPr>
                        <a:t>R1 · R2</a:t>
                      </a:r>
                    </a:p>
                  </a:txBody>
                  <a:tcPr marL="73152" marR="73152" marT="36576" marB="36576" anchor="ctr">
                    <a:solidFill>
                      <a:srgbClr val="FFFFFF"/>
                    </a:solidFill>
                  </a:tcPr>
                </a:tc>
                <a:tc>
                  <a:txBody>
                    <a:bodyPr wrap="square"/>
                    <a:lstStyle/>
                    <a:p>
                      <a:r>
                        <a:rPr sz="1440" b="0" i="0">
                          <a:solidFill>
                            <a:srgbClr val="14313B"/>
                          </a:solidFill>
                          <a:latin typeface="Calibri (MS)"/>
                        </a:rPr>
                        <a:t>Reinforcing loop (saling memperkuat): R1 pertumbuhan wisatawan · R2 ekonomi–atraksi</a:t>
                      </a:r>
                    </a:p>
                  </a:txBody>
                  <a:tcPr marL="73152" marR="73152" marT="36576" marB="36576" anchor="ctr">
                    <a:solidFill>
                      <a:srgbClr val="FFFFFF"/>
                    </a:solidFill>
                  </a:tcPr>
                </a:tc>
              </a:tr>
              <a:tr h="420624">
                <a:tc>
                  <a:txBody>
                    <a:bodyPr wrap="square"/>
                    <a:lstStyle/>
                    <a:p>
                      <a:r>
                        <a:rPr sz="1440" b="1" i="0">
                          <a:solidFill>
                            <a:srgbClr val="14313B"/>
                          </a:solidFill>
                          <a:latin typeface="Calibri (MS) Bold"/>
                        </a:rPr>
                        <a:t>B1–B4</a:t>
                      </a:r>
                    </a:p>
                  </a:txBody>
                  <a:tcPr marL="73152" marR="73152" marT="36576" marB="36576" anchor="ctr">
                    <a:solidFill>
                      <a:srgbClr val="EAF8FA"/>
                    </a:solidFill>
                  </a:tcPr>
                </a:tc>
                <a:tc>
                  <a:txBody>
                    <a:bodyPr wrap="square"/>
                    <a:lstStyle/>
                    <a:p>
                      <a:r>
                        <a:rPr sz="1440" b="0" i="0">
                          <a:solidFill>
                            <a:srgbClr val="14313B"/>
                          </a:solidFill>
                          <a:latin typeface="Calibri (MS)"/>
                        </a:rPr>
                        <a:t>Balancing loop (menahan pertumbuhan): B1 kepadatan · B2 daya dukung lahan · B3 kapasitas kamar · B4 tenaga kerja</a:t>
                      </a:r>
                    </a:p>
                  </a:txBody>
                  <a:tcPr marL="73152" marR="73152" marT="36576" marB="36576" anchor="ctr">
                    <a:solidFill>
                      <a:srgbClr val="EAF8FA"/>
                    </a:solidFill>
                  </a:tcPr>
                </a:tc>
              </a:tr>
              <a:tr h="420624">
                <a:tc>
                  <a:txBody>
                    <a:bodyPr wrap="square"/>
                    <a:lstStyle/>
                    <a:p>
                      <a:r>
                        <a:rPr sz="1440" b="1" i="0">
                          <a:solidFill>
                            <a:srgbClr val="14313B"/>
                          </a:solidFill>
                          <a:latin typeface="Calibri (MS) Bold"/>
                        </a:rPr>
                        <a:t>E1</a:t>
                      </a:r>
                    </a:p>
                  </a:txBody>
                  <a:tcPr marL="73152" marR="73152" marT="36576" marB="36576" anchor="ctr">
                    <a:solidFill>
                      <a:srgbClr val="FFFFFF"/>
                    </a:solidFill>
                  </a:tcPr>
                </a:tc>
                <a:tc>
                  <a:txBody>
                    <a:bodyPr wrap="square"/>
                    <a:lstStyle/>
                    <a:p>
                      <a:r>
                        <a:rPr sz="1440" b="0" i="0">
                          <a:solidFill>
                            <a:srgbClr val="14313B"/>
                          </a:solidFill>
                          <a:latin typeface="Calibri (MS)"/>
                        </a:rPr>
                        <a:t>Error rata-rata = |rata-rata simulasi − rata-rata data| ÷ rata-rata data; baik bila &lt; 0,05</a:t>
                      </a:r>
                    </a:p>
                  </a:txBody>
                  <a:tcPr marL="73152" marR="73152" marT="36576" marB="36576" anchor="ctr">
                    <a:solidFill>
                      <a:srgbClr val="FFFFFF"/>
                    </a:solidFill>
                  </a:tcPr>
                </a:tc>
              </a:tr>
              <a:tr h="420624">
                <a:tc>
                  <a:txBody>
                    <a:bodyPr wrap="square"/>
                    <a:lstStyle/>
                    <a:p>
                      <a:r>
                        <a:rPr sz="1440" b="1" i="0">
                          <a:solidFill>
                            <a:srgbClr val="14313B"/>
                          </a:solidFill>
                          <a:latin typeface="Calibri (MS) Bold"/>
                        </a:rPr>
                        <a:t>E2</a:t>
                      </a:r>
                    </a:p>
                  </a:txBody>
                  <a:tcPr marL="73152" marR="73152" marT="36576" marB="36576" anchor="ctr">
                    <a:solidFill>
                      <a:srgbClr val="EAF8FA"/>
                    </a:solidFill>
                  </a:tcPr>
                </a:tc>
                <a:tc>
                  <a:txBody>
                    <a:bodyPr wrap="square"/>
                    <a:lstStyle/>
                    <a:p>
                      <a:r>
                        <a:rPr sz="1440" b="0" i="0">
                          <a:solidFill>
                            <a:srgbClr val="14313B"/>
                          </a:solidFill>
                          <a:latin typeface="Calibri (MS)"/>
                        </a:rPr>
                        <a:t>Error variasi = |simpangan baku simulasi − simpangan baku data| ÷ simpangan baku data; baik bila &lt; 0,30</a:t>
                      </a:r>
                    </a:p>
                  </a:txBody>
                  <a:tcPr marL="73152" marR="73152" marT="36576" marB="36576" anchor="ctr">
                    <a:solidFill>
                      <a:srgbClr val="EAF8FA"/>
                    </a:solidFill>
                  </a:tcPr>
                </a:tc>
              </a:tr>
              <a:tr h="420624">
                <a:tc>
                  <a:txBody>
                    <a:bodyPr wrap="square"/>
                    <a:lstStyle/>
                    <a:p>
                      <a:r>
                        <a:rPr sz="1440" b="1" i="0">
                          <a:solidFill>
                            <a:srgbClr val="14313B"/>
                          </a:solidFill>
                          <a:latin typeface="Calibri (MS) Bold"/>
                        </a:rPr>
                        <a:t>DC</a:t>
                      </a:r>
                    </a:p>
                  </a:txBody>
                  <a:tcPr marL="73152" marR="73152" marT="36576" marB="36576" anchor="ctr">
                    <a:solidFill>
                      <a:srgbClr val="FFFFFF"/>
                    </a:solidFill>
                  </a:tcPr>
                </a:tc>
                <a:tc>
                  <a:txBody>
                    <a:bodyPr wrap="square"/>
                    <a:lstStyle/>
                    <a:p>
                      <a:r>
                        <a:rPr sz="1440" b="0" i="0">
                          <a:solidFill>
                            <a:srgbClr val="14313B"/>
                          </a:solidFill>
                          <a:latin typeface="Calibri (MS)"/>
                        </a:rPr>
                        <a:t>Discrepancy coefficient: 0 = sempurna; 0,4–0,7 = rata-rata sampai baik (Barlas)</a:t>
                      </a:r>
                    </a:p>
                  </a:txBody>
                  <a:tcPr marL="73152" marR="73152" marT="36576" marB="36576" anchor="ctr">
                    <a:solidFill>
                      <a:srgbClr val="FFFFFF"/>
                    </a:solidFill>
                  </a:tcPr>
                </a:tc>
              </a:tr>
              <a:tr h="420624">
                <a:tc>
                  <a:txBody>
                    <a:bodyPr wrap="square"/>
                    <a:lstStyle/>
                    <a:p>
                      <a:r>
                        <a:rPr sz="1440" b="1" i="0">
                          <a:solidFill>
                            <a:srgbClr val="14313B"/>
                          </a:solidFill>
                          <a:latin typeface="Calibri (MS) Bold"/>
                        </a:rPr>
                        <a:t>U1 · U2 · U3</a:t>
                      </a:r>
                    </a:p>
                  </a:txBody>
                  <a:tcPr marL="73152" marR="73152" marT="36576" marB="36576" anchor="ctr">
                    <a:solidFill>
                      <a:srgbClr val="EAF8FA"/>
                    </a:solidFill>
                  </a:tcPr>
                </a:tc>
                <a:tc>
                  <a:txBody>
                    <a:bodyPr wrap="square"/>
                    <a:lstStyle/>
                    <a:p>
                      <a:r>
                        <a:rPr sz="1440" b="0" i="0">
                          <a:solidFill>
                            <a:srgbClr val="14313B"/>
                          </a:solidFill>
                          <a:latin typeface="Calibri (MS)"/>
                        </a:rPr>
                        <a:t>Theil inequality: porsi error karena beda rata-rata (U1), beda variasi (U2), dan sisa acak (U3)</a:t>
                      </a:r>
                    </a:p>
                  </a:txBody>
                  <a:tcPr marL="73152" marR="73152" marT="36576" marB="36576" anchor="ctr">
                    <a:solidFill>
                      <a:srgbClr val="EAF8FA"/>
                    </a:solidFill>
                  </a:tcPr>
                </a:tc>
              </a:tr>
              <a:tr h="420624">
                <a:tc>
                  <a:txBody>
                    <a:bodyPr wrap="square"/>
                    <a:lstStyle/>
                    <a:p>
                      <a:r>
                        <a:rPr sz="1440" b="1" i="0">
                          <a:solidFill>
                            <a:srgbClr val="14313B"/>
                          </a:solidFill>
                          <a:latin typeface="Calibri (MS) Bold"/>
                        </a:rPr>
                        <a:t>MAPE · NRMSE</a:t>
                      </a:r>
                    </a:p>
                  </a:txBody>
                  <a:tcPr marL="73152" marR="73152" marT="36576" marB="36576" anchor="ctr">
                    <a:solidFill>
                      <a:srgbClr val="FFFFFF"/>
                    </a:solidFill>
                  </a:tcPr>
                </a:tc>
                <a:tc>
                  <a:txBody>
                    <a:bodyPr wrap="square"/>
                    <a:lstStyle/>
                    <a:p>
                      <a:r>
                        <a:rPr sz="1440" b="0" i="0">
                          <a:solidFill>
                            <a:srgbClr val="14313B"/>
                          </a:solidFill>
                          <a:latin typeface="Calibri (MS)"/>
                        </a:rPr>
                        <a:t>Mean absolute percentage error · RMSE dibagi rata-rata data (fungsi tujuan kalibrasi)</a:t>
                      </a:r>
                    </a:p>
                  </a:txBody>
                  <a:tcPr marL="73152" marR="73152" marT="36576" marB="36576" anchor="ctr">
                    <a:solidFill>
                      <a:srgbClr val="FFFFFF"/>
                    </a:solidFill>
                  </a:tcPr>
                </a:tc>
              </a:tr>
              <a:tr h="420624">
                <a:tc>
                  <a:txBody>
                    <a:bodyPr wrap="square"/>
                    <a:lstStyle/>
                    <a:p>
                      <a:r>
                        <a:rPr sz="1440" b="1" i="0">
                          <a:solidFill>
                            <a:srgbClr val="14313B"/>
                          </a:solidFill>
                          <a:latin typeface="Calibri (MS) Bold"/>
                        </a:rPr>
                        <a:t>LOOCV</a:t>
                      </a:r>
                    </a:p>
                  </a:txBody>
                  <a:tcPr marL="73152" marR="73152" marT="36576" marB="36576" anchor="ctr">
                    <a:solidFill>
                      <a:srgbClr val="EAF8FA"/>
                    </a:solidFill>
                  </a:tcPr>
                </a:tc>
                <a:tc>
                  <a:txBody>
                    <a:bodyPr wrap="square"/>
                    <a:lstStyle/>
                    <a:p>
                      <a:r>
                        <a:rPr sz="1440" b="0" i="0">
                          <a:solidFill>
                            <a:srgbClr val="14313B"/>
                          </a:solidFill>
                          <a:latin typeface="Calibri (MS)"/>
                        </a:rPr>
                        <a:t>Leave-one-out cross-validation: satu tahun dikeluarkan bergantian lalu diprediksi oleh model sisanya</a:t>
                      </a:r>
                    </a:p>
                  </a:txBody>
                  <a:tcPr marL="73152" marR="73152" marT="36576" marB="36576" anchor="ctr">
                    <a:solidFill>
                      <a:srgbClr val="EAF8FA"/>
                    </a:solidFill>
                  </a:tcPr>
                </a:tc>
              </a:tr>
              <a:tr h="420624">
                <a:tc>
                  <a:txBody>
                    <a:bodyPr wrap="square"/>
                    <a:lstStyle/>
                    <a:p>
                      <a:r>
                        <a:rPr sz="1440" b="1" i="0">
                          <a:solidFill>
                            <a:srgbClr val="14313B"/>
                          </a:solidFill>
                          <a:latin typeface="Calibri (MS) Bold"/>
                        </a:rPr>
                        <a:t>OA · UA · PA · F1 · κ</a:t>
                      </a:r>
                    </a:p>
                  </a:txBody>
                  <a:tcPr marL="73152" marR="73152" marT="36576" marB="36576" anchor="ctr">
                    <a:solidFill>
                      <a:srgbClr val="FFFFFF"/>
                    </a:solidFill>
                  </a:tcPr>
                </a:tc>
                <a:tc>
                  <a:txBody>
                    <a:bodyPr wrap="square"/>
                    <a:lstStyle/>
                    <a:p>
                      <a:r>
                        <a:rPr sz="1440" b="0" i="0">
                          <a:solidFill>
                            <a:srgbClr val="14313B"/>
                          </a:solidFill>
                          <a:latin typeface="Calibri (MS)"/>
                        </a:rPr>
                        <a:t>Akurasi klasifikasi: keseluruhan · user's accuracy · producer's accuracy · F1-score · Kappa</a:t>
                      </a:r>
                    </a:p>
                  </a:txBody>
                  <a:tcPr marL="73152" marR="73152" marT="36576" marB="36576" anchor="ctr">
                    <a:solidFill>
                      <a:srgbClr val="FFFFFF"/>
                    </a:solidFill>
                  </a:tcPr>
                </a:tc>
              </a:tr>
              <a:tr h="420624">
                <a:tc>
                  <a:txBody>
                    <a:bodyPr wrap="square"/>
                    <a:lstStyle/>
                    <a:p>
                      <a:r>
                        <a:rPr sz="1440" b="1" i="0">
                          <a:solidFill>
                            <a:srgbClr val="14313B"/>
                          </a:solidFill>
                          <a:latin typeface="Calibri (MS) Bold"/>
                        </a:rPr>
                        <a:t>Commission / omission error</a:t>
                      </a:r>
                    </a:p>
                  </a:txBody>
                  <a:tcPr marL="73152" marR="73152" marT="36576" marB="36576" anchor="ctr">
                    <a:solidFill>
                      <a:srgbClr val="EAF8FA"/>
                    </a:solidFill>
                  </a:tcPr>
                </a:tc>
                <a:tc>
                  <a:txBody>
                    <a:bodyPr wrap="square"/>
                    <a:lstStyle/>
                    <a:p>
                      <a:r>
                        <a:rPr sz="1440" b="0" i="0">
                          <a:solidFill>
                            <a:srgbClr val="14313B"/>
                          </a:solidFill>
                          <a:latin typeface="Calibri (MS)"/>
                        </a:rPr>
                        <a:t>Commission: terpetakan terbangun padahal bukan · Omission: terbangun tetapi tidak terpetakan</a:t>
                      </a:r>
                    </a:p>
                  </a:txBody>
                  <a:tcPr marL="73152" marR="73152" marT="36576" marB="36576" anchor="ctr">
                    <a:solidFill>
                      <a:srgbClr val="EAF8FA"/>
                    </a:solidFill>
                  </a:tcPr>
                </a:tc>
              </a:tr>
              <a:tr h="420624">
                <a:tc>
                  <a:txBody>
                    <a:bodyPr wrap="square"/>
                    <a:lstStyle/>
                    <a:p>
                      <a:r>
                        <a:rPr sz="1440" b="1" i="0">
                          <a:solidFill>
                            <a:srgbClr val="14313B"/>
                          </a:solidFill>
                          <a:latin typeface="Calibri (MS) Bold"/>
                        </a:rPr>
                        <a:t>LPE · LPD</a:t>
                      </a:r>
                    </a:p>
                  </a:txBody>
                  <a:tcPr marL="73152" marR="73152" marT="36576" marB="36576" anchor="ctr">
                    <a:solidFill>
                      <a:srgbClr val="FFFFFF"/>
                    </a:solidFill>
                  </a:tcPr>
                </a:tc>
                <a:tc>
                  <a:txBody>
                    <a:bodyPr wrap="square"/>
                    <a:lstStyle/>
                    <a:p>
                      <a:r>
                        <a:rPr sz="1440" b="0" i="0">
                          <a:solidFill>
                            <a:srgbClr val="14313B"/>
                          </a:solidFill>
                          <a:latin typeface="Calibri (MS)"/>
                        </a:rPr>
                        <a:t>Laju Pertumbuhan Eksternal · Laju Penurunan Dasar wisatawan</a:t>
                      </a:r>
                    </a:p>
                  </a:txBody>
                  <a:tcPr marL="73152" marR="73152" marT="36576" marB="36576" anchor="ctr">
                    <a:solidFill>
                      <a:srgbClr val="FFFFFF"/>
                    </a:solidFill>
                  </a:tcPr>
                </a:tc>
              </a:tr>
              <a:tr h="420624">
                <a:tc>
                  <a:txBody>
                    <a:bodyPr wrap="square"/>
                    <a:lstStyle/>
                    <a:p>
                      <a:r>
                        <a:rPr sz="1440" b="1" i="0">
                          <a:solidFill>
                            <a:srgbClr val="14313B"/>
                          </a:solidFill>
                          <a:latin typeface="Calibri (MS) Bold"/>
                        </a:rPr>
                        <a:t>RDDL</a:t>
                      </a:r>
                    </a:p>
                  </a:txBody>
                  <a:tcPr marL="73152" marR="73152" marT="36576" marB="36576" anchor="ctr">
                    <a:solidFill>
                      <a:srgbClr val="EAF8FA"/>
                    </a:solidFill>
                  </a:tcPr>
                </a:tc>
                <a:tc>
                  <a:txBody>
                    <a:bodyPr wrap="square"/>
                    <a:lstStyle/>
                    <a:p>
                      <a:r>
                        <a:rPr sz="1440" b="0" i="0">
                          <a:solidFill>
                            <a:srgbClr val="14313B"/>
                          </a:solidFill>
                          <a:latin typeface="Calibri (MS)"/>
                        </a:rPr>
                        <a:t>Rasio Daya Dukung Lahan = 1 − lahan terbangun ÷ luas wilayah DIY</a:t>
                      </a:r>
                    </a:p>
                  </a:txBody>
                  <a:tcPr marL="73152" marR="73152" marT="36576" marB="36576" anchor="ctr">
                    <a:solidFill>
                      <a:srgbClr val="EAF8FA"/>
                    </a:solidFill>
                  </a:tcPr>
                </a:tc>
              </a:tr>
              <a:tr h="420624">
                <a:tc>
                  <a:txBody>
                    <a:bodyPr wrap="square"/>
                    <a:lstStyle/>
                    <a:p>
                      <a:r>
                        <a:rPr sz="1440" b="1" i="0">
                          <a:solidFill>
                            <a:srgbClr val="14313B"/>
                          </a:solidFill>
                          <a:latin typeface="Calibri (MS) Bold"/>
                        </a:rPr>
                        <a:t>TPK · TPG</a:t>
                      </a:r>
                    </a:p>
                  </a:txBody>
                  <a:tcPr marL="73152" marR="73152" marT="36576" marB="36576" anchor="ctr">
                    <a:solidFill>
                      <a:srgbClr val="FFFFFF"/>
                    </a:solidFill>
                  </a:tcPr>
                </a:tc>
                <a:tc>
                  <a:txBody>
                    <a:bodyPr wrap="square"/>
                    <a:lstStyle/>
                    <a:p>
                      <a:r>
                        <a:rPr sz="1440" b="0" i="0">
                          <a:solidFill>
                            <a:srgbClr val="14313B"/>
                          </a:solidFill>
                          <a:latin typeface="Calibri (MS)"/>
                        </a:rPr>
                        <a:t>Tingkat Penghunian Kamar · rata-rata tamu per kamar</a:t>
                      </a:r>
                    </a:p>
                  </a:txBody>
                  <a:tcPr marL="73152" marR="73152" marT="36576" marB="36576" anchor="ctr">
                    <a:solidFill>
                      <a:srgbClr val="FFFFFF"/>
                    </a:solidFill>
                  </a:tcPr>
                </a:tc>
              </a:tr>
              <a:tr h="420624">
                <a:tc>
                  <a:txBody>
                    <a:bodyPr wrap="square"/>
                    <a:lstStyle/>
                    <a:p>
                      <a:r>
                        <a:rPr sz="1440" b="1" i="0">
                          <a:solidFill>
                            <a:srgbClr val="14313B"/>
                          </a:solidFill>
                          <a:latin typeface="Calibri (MS) Bold"/>
                        </a:rPr>
                        <a:t>ODTW · NTL</a:t>
                      </a:r>
                    </a:p>
                  </a:txBody>
                  <a:tcPr marL="73152" marR="73152" marT="36576" marB="36576" anchor="ctr">
                    <a:solidFill>
                      <a:srgbClr val="EAF8FA"/>
                    </a:solidFill>
                  </a:tcPr>
                </a:tc>
                <a:tc>
                  <a:txBody>
                    <a:bodyPr wrap="square"/>
                    <a:lstStyle/>
                    <a:p>
                      <a:r>
                        <a:rPr sz="1440" b="0" i="0">
                          <a:solidFill>
                            <a:srgbClr val="14313B"/>
                          </a:solidFill>
                          <a:latin typeface="Calibri (MS)"/>
                        </a:rPr>
                        <a:t>Objek Daya Tarik Wisata · night-time light (intensitas cahaya malam VIIRS)</a:t>
                      </a:r>
                    </a:p>
                  </a:txBody>
                  <a:tcPr marL="73152" marR="73152" marT="36576" marB="36576" anchor="ctr">
                    <a:solidFill>
                      <a:srgbClr val="EAF8FA"/>
                    </a:solidFill>
                  </a:tcPr>
                </a:tc>
              </a:tr>
              <a:tr h="420624">
                <a:tc>
                  <a:txBody>
                    <a:bodyPr wrap="square"/>
                    <a:lstStyle/>
                    <a:p>
                      <a:r>
                        <a:rPr sz="1440" b="1" i="0">
                          <a:solidFill>
                            <a:srgbClr val="14313B"/>
                          </a:solidFill>
                          <a:latin typeface="Calibri (MS) Bold"/>
                        </a:rPr>
                        <a:t>BAU · Sustainable · DP</a:t>
                      </a:r>
                    </a:p>
                  </a:txBody>
                  <a:tcPr marL="73152" marR="73152" marT="36576" marB="36576" anchor="ctr">
                    <a:solidFill>
                      <a:srgbClr val="FFFFFF"/>
                    </a:solidFill>
                  </a:tcPr>
                </a:tc>
                <a:tc>
                  <a:txBody>
                    <a:bodyPr wrap="square"/>
                    <a:lstStyle/>
                    <a:p>
                      <a:r>
                        <a:rPr sz="1440" b="0" i="0">
                          <a:solidFill>
                            <a:srgbClr val="14313B"/>
                          </a:solidFill>
                          <a:latin typeface="Calibri (MS)"/>
                        </a:rPr>
                        <a:t>Business-as-Usual (tanpa kebijakan) · insentif 0,1 + konservasi 1,0 · Development Priority (insentif 0,3 + konservasi 0)</a:t>
                      </a:r>
                    </a:p>
                  </a:txBody>
                  <a:tcPr marL="73152" marR="73152" marT="36576" marB="36576" anchor="ctr">
                    <a:solidFill>
                      <a:srgbClr val="FFFFFF"/>
                    </a:solidFill>
                  </a:tcPr>
                </a:tc>
              </a:tr>
              <a:tr h="420624">
                <a:tc>
                  <a:txBody>
                    <a:bodyPr wrap="square"/>
                    <a:lstStyle/>
                    <a:p>
                      <a:r>
                        <a:rPr sz="1440" b="1" i="0">
                          <a:solidFill>
                            <a:srgbClr val="14313B"/>
                          </a:solidFill>
                          <a:latin typeface="Calibri (MS) Bold"/>
                        </a:rPr>
                        <a:t>SUS</a:t>
                      </a:r>
                    </a:p>
                  </a:txBody>
                  <a:tcPr marL="73152" marR="73152" marT="36576" marB="36576" anchor="ctr">
                    <a:solidFill>
                      <a:srgbClr val="EAF8FA"/>
                    </a:solidFill>
                  </a:tcPr>
                </a:tc>
                <a:tc>
                  <a:txBody>
                    <a:bodyPr wrap="square"/>
                    <a:lstStyle/>
                    <a:p>
                      <a:r>
                        <a:rPr sz="1440" b="0" i="0">
                          <a:solidFill>
                            <a:srgbClr val="14313B"/>
                          </a:solidFill>
                          <a:latin typeface="Calibri (MS)"/>
                        </a:rPr>
                        <a:t>System Usability Scale, skor 0–100 (rata-rata umum ±68)</a:t>
                      </a:r>
                    </a:p>
                  </a:txBody>
                  <a:tcPr marL="73152" marR="73152" marT="36576" marB="36576" anchor="ctr">
                    <a:solidFill>
                      <a:srgbClr val="EAF8FA"/>
                    </a:solidFill>
                  </a:tcPr>
                </a:tc>
              </a:tr>
            </a:tbl>
          </a:graphicData>
        </a:graphic>
      </p:graphicFrame>
      <p:sp>
        <p:nvSpPr>
          <p:cNvPr id="23" name="TextBox 22"/>
          <p:cNvSpPr txBox="1"/>
          <p:nvPr/>
        </p:nvSpPr>
        <p:spPr>
          <a:xfrm>
            <a:off x="822960" y="9281160"/>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3.5, 3.7.4, 3.9, 4.1.3; Barlas (1996); Sterman (1984).</a:t>
            </a:r>
          </a:p>
        </p:txBody>
      </p:sp>
    </p:spTree>
  </p:cSld>
  <p:clrMapOvr>
    <a:masterClrMapping/>
  </p:clrMapOvr>
</p:sld>
</file>

<file path=ppt/slides/slide9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18 · Kategori IRTS 2008 dan KBLI 2020</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21" id="21"/>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94</a:t>
            </a:r>
          </a:p>
        </p:txBody>
      </p:sp>
      <p:graphicFrame>
        <p:nvGraphicFramePr>
          <p:cNvPr id="22" name="Table 21"/>
          <p:cNvGraphicFramePr>
            <a:graphicFrameLocks noGrp="1"/>
          </p:cNvGraphicFramePr>
          <p:nvPr/>
        </p:nvGraphicFramePr>
        <p:xfrm>
          <a:off x="822960" y="1828800"/>
          <a:ext cx="16642080" cy="6400800"/>
        </p:xfrm>
        <a:graphic>
          <a:graphicData uri="http://schemas.openxmlformats.org/drawingml/2006/table">
            <a:tbl>
              <a:tblPr firstRow="1" bandRow="1">
                <a:tableStyleId>{5C22544A-7EE6-4342-B048-85BDC9FD1C3A}</a:tableStyleId>
              </a:tblPr>
              <a:tblGrid>
                <a:gridCol w="640080"/>
                <a:gridCol w="6400800"/>
                <a:gridCol w="6400800"/>
                <a:gridCol w="3200400"/>
              </a:tblGrid>
              <a:tr h="457200">
                <a:tc>
                  <a:txBody>
                    <a:bodyPr wrap="square"/>
                    <a:lstStyle/>
                    <a:p>
                      <a:r>
                        <a:rPr sz="1490" b="1" i="0">
                          <a:solidFill>
                            <a:srgbClr val="FFFFFF"/>
                          </a:solidFill>
                          <a:latin typeface="Calibri (MS) Bold"/>
                        </a:rPr>
                        <a:t>No</a:t>
                      </a:r>
                    </a:p>
                  </a:txBody>
                  <a:tcPr marL="73152" marR="73152" marT="36576" marB="36576" anchor="ctr">
                    <a:solidFill>
                      <a:srgbClr val="0B5E6E"/>
                    </a:solidFill>
                  </a:tcPr>
                </a:tc>
                <a:tc>
                  <a:txBody>
                    <a:bodyPr wrap="square"/>
                    <a:lstStyle/>
                    <a:p>
                      <a:r>
                        <a:rPr sz="1490" b="1" i="0">
                          <a:solidFill>
                            <a:srgbClr val="FFFFFF"/>
                          </a:solidFill>
                          <a:latin typeface="Calibri (MS) Bold"/>
                        </a:rPr>
                        <a:t>Aktivitas karakteristik pariwisata (IRTS 2008)</a:t>
                      </a:r>
                    </a:p>
                  </a:txBody>
                  <a:tcPr marL="73152" marR="73152" marT="36576" marB="36576" anchor="ctr">
                    <a:solidFill>
                      <a:srgbClr val="0B5E6E"/>
                    </a:solidFill>
                  </a:tcPr>
                </a:tc>
                <a:tc>
                  <a:txBody>
                    <a:bodyPr wrap="square"/>
                    <a:lstStyle/>
                    <a:p>
                      <a:r>
                        <a:rPr sz="1490" b="1" i="0">
                          <a:solidFill>
                            <a:srgbClr val="FFFFFF"/>
                          </a:solidFill>
                          <a:latin typeface="Calibri (MS) Bold"/>
                        </a:rPr>
                        <a:t>KBLI 2020 (kategori · golongan pokok)</a:t>
                      </a:r>
                    </a:p>
                  </a:txBody>
                  <a:tcPr marL="73152" marR="73152" marT="36576" marB="36576" anchor="ctr">
                    <a:solidFill>
                      <a:srgbClr val="0B5E6E"/>
                    </a:solidFill>
                  </a:tcPr>
                </a:tc>
                <a:tc>
                  <a:txBody>
                    <a:bodyPr wrap="square"/>
                    <a:lstStyle/>
                    <a:p>
                      <a:r>
                        <a:rPr sz="1490" b="1" i="0">
                          <a:solidFill>
                            <a:srgbClr val="FFFFFF"/>
                          </a:solidFill>
                          <a:latin typeface="Calibri (MS) Bold"/>
                        </a:rPr>
                        <a:t>Dipakai di model</a:t>
                      </a:r>
                    </a:p>
                  </a:txBody>
                  <a:tcPr marL="73152" marR="73152" marT="36576" marB="36576" anchor="ctr">
                    <a:solidFill>
                      <a:srgbClr val="0B5E6E"/>
                    </a:solidFill>
                  </a:tcPr>
                </a:tc>
              </a:tr>
              <a:tr h="457200">
                <a:tc>
                  <a:txBody>
                    <a:bodyPr wrap="square"/>
                    <a:lstStyle/>
                    <a:p>
                      <a:r>
                        <a:rPr sz="1490" b="0" i="0">
                          <a:solidFill>
                            <a:srgbClr val="14313B"/>
                          </a:solidFill>
                          <a:latin typeface="Calibri (MS)"/>
                        </a:rPr>
                        <a:t>1</a:t>
                      </a:r>
                    </a:p>
                  </a:txBody>
                  <a:tcPr marL="73152" marR="73152" marT="36576" marB="36576" anchor="ctr">
                    <a:solidFill>
                      <a:srgbClr val="FFFFFF"/>
                    </a:solidFill>
                  </a:tcPr>
                </a:tc>
                <a:tc>
                  <a:txBody>
                    <a:bodyPr wrap="square"/>
                    <a:lstStyle/>
                    <a:p>
                      <a:r>
                        <a:rPr sz="1490" b="0" i="0">
                          <a:solidFill>
                            <a:srgbClr val="14313B"/>
                          </a:solidFill>
                          <a:latin typeface="Calibri (MS)"/>
                        </a:rPr>
                        <a:t>Akomodasi untuk pengunjung</a:t>
                      </a:r>
                    </a:p>
                  </a:txBody>
                  <a:tcPr marL="73152" marR="73152" marT="36576" marB="36576" anchor="ctr">
                    <a:solidFill>
                      <a:srgbClr val="FFFFFF"/>
                    </a:solidFill>
                  </a:tcPr>
                </a:tc>
                <a:tc>
                  <a:txBody>
                    <a:bodyPr wrap="square"/>
                    <a:lstStyle/>
                    <a:p>
                      <a:r>
                        <a:rPr sz="1490" b="0" i="0">
                          <a:solidFill>
                            <a:srgbClr val="14313B"/>
                          </a:solidFill>
                          <a:latin typeface="Calibri (MS)"/>
                        </a:rPr>
                        <a:t>I · 55 Penyediaan akomodasi</a:t>
                      </a:r>
                    </a:p>
                  </a:txBody>
                  <a:tcPr marL="73152" marR="73152" marT="36576" marB="36576" anchor="ctr">
                    <a:solidFill>
                      <a:srgbClr val="FFFFFF"/>
                    </a:solidFill>
                  </a:tcPr>
                </a:tc>
                <a:tc>
                  <a:txBody>
                    <a:bodyPr wrap="square"/>
                    <a:lstStyle/>
                    <a:p>
                      <a:r>
                        <a:rPr sz="1490" b="0" i="0">
                          <a:solidFill>
                            <a:srgbClr val="14313B"/>
                          </a:solidFill>
                          <a:latin typeface="Calibri (MS)"/>
                        </a:rPr>
                        <a:t>Ya</a:t>
                      </a:r>
                    </a:p>
                  </a:txBody>
                  <a:tcPr marL="73152" marR="73152" marT="36576" marB="36576" anchor="ctr">
                    <a:solidFill>
                      <a:srgbClr val="BDEFF3"/>
                    </a:solidFill>
                  </a:tcPr>
                </a:tc>
              </a:tr>
              <a:tr h="457200">
                <a:tc>
                  <a:txBody>
                    <a:bodyPr wrap="square"/>
                    <a:lstStyle/>
                    <a:p>
                      <a:r>
                        <a:rPr sz="1490" b="0" i="0">
                          <a:solidFill>
                            <a:srgbClr val="14313B"/>
                          </a:solidFill>
                          <a:latin typeface="Calibri (MS)"/>
                        </a:rPr>
                        <a:t>2</a:t>
                      </a:r>
                    </a:p>
                  </a:txBody>
                  <a:tcPr marL="73152" marR="73152" marT="36576" marB="36576" anchor="ctr">
                    <a:solidFill>
                      <a:srgbClr val="EAF8FA"/>
                    </a:solidFill>
                  </a:tcPr>
                </a:tc>
                <a:tc>
                  <a:txBody>
                    <a:bodyPr wrap="square"/>
                    <a:lstStyle/>
                    <a:p>
                      <a:r>
                        <a:rPr sz="1490" b="0" i="0">
                          <a:solidFill>
                            <a:srgbClr val="14313B"/>
                          </a:solidFill>
                          <a:latin typeface="Calibri (MS)"/>
                        </a:rPr>
                        <a:t>Penyediaan makanan dan minuman</a:t>
                      </a:r>
                    </a:p>
                  </a:txBody>
                  <a:tcPr marL="73152" marR="73152" marT="36576" marB="36576" anchor="ctr">
                    <a:solidFill>
                      <a:srgbClr val="EAF8FA"/>
                    </a:solidFill>
                  </a:tcPr>
                </a:tc>
                <a:tc>
                  <a:txBody>
                    <a:bodyPr wrap="square"/>
                    <a:lstStyle/>
                    <a:p>
                      <a:r>
                        <a:rPr sz="1490" b="0" i="0">
                          <a:solidFill>
                            <a:srgbClr val="14313B"/>
                          </a:solidFill>
                          <a:latin typeface="Calibri (MS)"/>
                        </a:rPr>
                        <a:t>I · 56 Penyediaan makanan dan minuman</a:t>
                      </a:r>
                    </a:p>
                  </a:txBody>
                  <a:tcPr marL="73152" marR="73152" marT="36576" marB="36576" anchor="ctr">
                    <a:solidFill>
                      <a:srgbClr val="EAF8FA"/>
                    </a:solidFill>
                  </a:tcPr>
                </a:tc>
                <a:tc>
                  <a:txBody>
                    <a:bodyPr wrap="square"/>
                    <a:lstStyle/>
                    <a:p>
                      <a:r>
                        <a:rPr sz="1490" b="0" i="0">
                          <a:solidFill>
                            <a:srgbClr val="14313B"/>
                          </a:solidFill>
                          <a:latin typeface="Calibri (MS)"/>
                        </a:rPr>
                        <a:t>Ya</a:t>
                      </a:r>
                    </a:p>
                  </a:txBody>
                  <a:tcPr marL="73152" marR="73152" marT="36576" marB="36576" anchor="ctr">
                    <a:solidFill>
                      <a:srgbClr val="BDEFF3"/>
                    </a:solidFill>
                  </a:tcPr>
                </a:tc>
              </a:tr>
              <a:tr h="457200">
                <a:tc>
                  <a:txBody>
                    <a:bodyPr wrap="square"/>
                    <a:lstStyle/>
                    <a:p>
                      <a:r>
                        <a:rPr sz="1490" b="0" i="0">
                          <a:solidFill>
                            <a:srgbClr val="14313B"/>
                          </a:solidFill>
                          <a:latin typeface="Calibri (MS)"/>
                        </a:rPr>
                        <a:t>3</a:t>
                      </a:r>
                    </a:p>
                  </a:txBody>
                  <a:tcPr marL="73152" marR="73152" marT="36576" marB="36576" anchor="ctr">
                    <a:solidFill>
                      <a:srgbClr val="FFFFFF"/>
                    </a:solidFill>
                  </a:tcPr>
                </a:tc>
                <a:tc>
                  <a:txBody>
                    <a:bodyPr wrap="square"/>
                    <a:lstStyle/>
                    <a:p>
                      <a:r>
                        <a:rPr sz="1490" b="0" i="0">
                          <a:solidFill>
                            <a:srgbClr val="14313B"/>
                          </a:solidFill>
                          <a:latin typeface="Calibri (MS)"/>
                        </a:rPr>
                        <a:t>Angkutan penumpang kereta api</a:t>
                      </a:r>
                    </a:p>
                  </a:txBody>
                  <a:tcPr marL="73152" marR="73152" marT="36576" marB="36576" anchor="ctr">
                    <a:solidFill>
                      <a:srgbClr val="FFFFFF"/>
                    </a:solidFill>
                  </a:tcPr>
                </a:tc>
                <a:tc>
                  <a:txBody>
                    <a:bodyPr wrap="square"/>
                    <a:lstStyle/>
                    <a:p>
                      <a:r>
                        <a:rPr sz="1490" b="0" i="0">
                          <a:solidFill>
                            <a:srgbClr val="14313B"/>
                          </a:solidFill>
                          <a:latin typeface="Calibri (MS)"/>
                        </a:rPr>
                        <a:t>H · 49</a:t>
                      </a:r>
                    </a:p>
                  </a:txBody>
                  <a:tcPr marL="73152" marR="73152" marT="36576" marB="36576" anchor="ctr">
                    <a:solidFill>
                      <a:srgbClr val="FFFFFF"/>
                    </a:solidFill>
                  </a:tcPr>
                </a:tc>
                <a:tc>
                  <a:txBody>
                    <a:bodyPr wrap="square"/>
                    <a:lstStyle/>
                    <a:p>
                      <a:r>
                        <a:rPr sz="1490" b="0" i="0">
                          <a:solidFill>
                            <a:srgbClr val="14313B"/>
                          </a:solidFill>
                          <a:latin typeface="Calibri (MS)"/>
                        </a:rPr>
                        <a:t>Tidak</a:t>
                      </a:r>
                    </a:p>
                  </a:txBody>
                  <a:tcPr marL="73152" marR="73152" marT="36576" marB="36576" anchor="ctr">
                    <a:solidFill>
                      <a:srgbClr val="FFFFFF"/>
                    </a:solidFill>
                  </a:tcPr>
                </a:tc>
              </a:tr>
              <a:tr h="457200">
                <a:tc>
                  <a:txBody>
                    <a:bodyPr wrap="square"/>
                    <a:lstStyle/>
                    <a:p>
                      <a:r>
                        <a:rPr sz="1490" b="0" i="0">
                          <a:solidFill>
                            <a:srgbClr val="14313B"/>
                          </a:solidFill>
                          <a:latin typeface="Calibri (MS)"/>
                        </a:rPr>
                        <a:t>4</a:t>
                      </a:r>
                    </a:p>
                  </a:txBody>
                  <a:tcPr marL="73152" marR="73152" marT="36576" marB="36576" anchor="ctr">
                    <a:solidFill>
                      <a:srgbClr val="EAF8FA"/>
                    </a:solidFill>
                  </a:tcPr>
                </a:tc>
                <a:tc>
                  <a:txBody>
                    <a:bodyPr wrap="square"/>
                    <a:lstStyle/>
                    <a:p>
                      <a:r>
                        <a:rPr sz="1490" b="0" i="0">
                          <a:solidFill>
                            <a:srgbClr val="14313B"/>
                          </a:solidFill>
                          <a:latin typeface="Calibri (MS)"/>
                        </a:rPr>
                        <a:t>Angkutan penumpang jalan</a:t>
                      </a:r>
                    </a:p>
                  </a:txBody>
                  <a:tcPr marL="73152" marR="73152" marT="36576" marB="36576" anchor="ctr">
                    <a:solidFill>
                      <a:srgbClr val="EAF8FA"/>
                    </a:solidFill>
                  </a:tcPr>
                </a:tc>
                <a:tc>
                  <a:txBody>
                    <a:bodyPr wrap="square"/>
                    <a:lstStyle/>
                    <a:p>
                      <a:r>
                        <a:rPr sz="1490" b="0" i="0">
                          <a:solidFill>
                            <a:srgbClr val="14313B"/>
                          </a:solidFill>
                          <a:latin typeface="Calibri (MS)"/>
                        </a:rPr>
                        <a:t>H · 49</a:t>
                      </a:r>
                    </a:p>
                  </a:txBody>
                  <a:tcPr marL="73152" marR="73152" marT="36576" marB="36576" anchor="ctr">
                    <a:solidFill>
                      <a:srgbClr val="EAF8FA"/>
                    </a:solidFill>
                  </a:tcPr>
                </a:tc>
                <a:tc>
                  <a:txBody>
                    <a:bodyPr wrap="square"/>
                    <a:lstStyle/>
                    <a:p>
                      <a:r>
                        <a:rPr sz="1490" b="0" i="0">
                          <a:solidFill>
                            <a:srgbClr val="14313B"/>
                          </a:solidFill>
                          <a:latin typeface="Calibri (MS)"/>
                        </a:rPr>
                        <a:t>Tidak</a:t>
                      </a:r>
                    </a:p>
                  </a:txBody>
                  <a:tcPr marL="73152" marR="73152" marT="36576" marB="36576" anchor="ctr">
                    <a:solidFill>
                      <a:srgbClr val="EAF8FA"/>
                    </a:solidFill>
                  </a:tcPr>
                </a:tc>
              </a:tr>
              <a:tr h="457200">
                <a:tc>
                  <a:txBody>
                    <a:bodyPr wrap="square"/>
                    <a:lstStyle/>
                    <a:p>
                      <a:r>
                        <a:rPr sz="1490" b="0" i="0">
                          <a:solidFill>
                            <a:srgbClr val="14313B"/>
                          </a:solidFill>
                          <a:latin typeface="Calibri (MS)"/>
                        </a:rPr>
                        <a:t>5</a:t>
                      </a:r>
                    </a:p>
                  </a:txBody>
                  <a:tcPr marL="73152" marR="73152" marT="36576" marB="36576" anchor="ctr">
                    <a:solidFill>
                      <a:srgbClr val="FFFFFF"/>
                    </a:solidFill>
                  </a:tcPr>
                </a:tc>
                <a:tc>
                  <a:txBody>
                    <a:bodyPr wrap="square"/>
                    <a:lstStyle/>
                    <a:p>
                      <a:r>
                        <a:rPr sz="1490" b="0" i="0">
                          <a:solidFill>
                            <a:srgbClr val="14313B"/>
                          </a:solidFill>
                          <a:latin typeface="Calibri (MS)"/>
                        </a:rPr>
                        <a:t>Angkutan penumpang air</a:t>
                      </a:r>
                    </a:p>
                  </a:txBody>
                  <a:tcPr marL="73152" marR="73152" marT="36576" marB="36576" anchor="ctr">
                    <a:solidFill>
                      <a:srgbClr val="FFFFFF"/>
                    </a:solidFill>
                  </a:tcPr>
                </a:tc>
                <a:tc>
                  <a:txBody>
                    <a:bodyPr wrap="square"/>
                    <a:lstStyle/>
                    <a:p>
                      <a:r>
                        <a:rPr sz="1490" b="0" i="0">
                          <a:solidFill>
                            <a:srgbClr val="14313B"/>
                          </a:solidFill>
                          <a:latin typeface="Calibri (MS)"/>
                        </a:rPr>
                        <a:t>H · 50</a:t>
                      </a:r>
                    </a:p>
                  </a:txBody>
                  <a:tcPr marL="73152" marR="73152" marT="36576" marB="36576" anchor="ctr">
                    <a:solidFill>
                      <a:srgbClr val="FFFFFF"/>
                    </a:solidFill>
                  </a:tcPr>
                </a:tc>
                <a:tc>
                  <a:txBody>
                    <a:bodyPr wrap="square"/>
                    <a:lstStyle/>
                    <a:p>
                      <a:r>
                        <a:rPr sz="1490" b="0" i="0">
                          <a:solidFill>
                            <a:srgbClr val="14313B"/>
                          </a:solidFill>
                          <a:latin typeface="Calibri (MS)"/>
                        </a:rPr>
                        <a:t>Tidak</a:t>
                      </a:r>
                    </a:p>
                  </a:txBody>
                  <a:tcPr marL="73152" marR="73152" marT="36576" marB="36576" anchor="ctr">
                    <a:solidFill>
                      <a:srgbClr val="FFFFFF"/>
                    </a:solidFill>
                  </a:tcPr>
                </a:tc>
              </a:tr>
              <a:tr h="457200">
                <a:tc>
                  <a:txBody>
                    <a:bodyPr wrap="square"/>
                    <a:lstStyle/>
                    <a:p>
                      <a:r>
                        <a:rPr sz="1490" b="0" i="0">
                          <a:solidFill>
                            <a:srgbClr val="14313B"/>
                          </a:solidFill>
                          <a:latin typeface="Calibri (MS)"/>
                        </a:rPr>
                        <a:t>6</a:t>
                      </a:r>
                    </a:p>
                  </a:txBody>
                  <a:tcPr marL="73152" marR="73152" marT="36576" marB="36576" anchor="ctr">
                    <a:solidFill>
                      <a:srgbClr val="EAF8FA"/>
                    </a:solidFill>
                  </a:tcPr>
                </a:tc>
                <a:tc>
                  <a:txBody>
                    <a:bodyPr wrap="square"/>
                    <a:lstStyle/>
                    <a:p>
                      <a:r>
                        <a:rPr sz="1490" b="0" i="0">
                          <a:solidFill>
                            <a:srgbClr val="14313B"/>
                          </a:solidFill>
                          <a:latin typeface="Calibri (MS)"/>
                        </a:rPr>
                        <a:t>Angkutan penumpang udara</a:t>
                      </a:r>
                    </a:p>
                  </a:txBody>
                  <a:tcPr marL="73152" marR="73152" marT="36576" marB="36576" anchor="ctr">
                    <a:solidFill>
                      <a:srgbClr val="EAF8FA"/>
                    </a:solidFill>
                  </a:tcPr>
                </a:tc>
                <a:tc>
                  <a:txBody>
                    <a:bodyPr wrap="square"/>
                    <a:lstStyle/>
                    <a:p>
                      <a:r>
                        <a:rPr sz="1490" b="0" i="0">
                          <a:solidFill>
                            <a:srgbClr val="14313B"/>
                          </a:solidFill>
                          <a:latin typeface="Calibri (MS)"/>
                        </a:rPr>
                        <a:t>H · 51</a:t>
                      </a:r>
                    </a:p>
                  </a:txBody>
                  <a:tcPr marL="73152" marR="73152" marT="36576" marB="36576" anchor="ctr">
                    <a:solidFill>
                      <a:srgbClr val="EAF8FA"/>
                    </a:solidFill>
                  </a:tcPr>
                </a:tc>
                <a:tc>
                  <a:txBody>
                    <a:bodyPr wrap="square"/>
                    <a:lstStyle/>
                    <a:p>
                      <a:r>
                        <a:rPr sz="1490" b="0" i="0">
                          <a:solidFill>
                            <a:srgbClr val="14313B"/>
                          </a:solidFill>
                          <a:latin typeface="Calibri (MS)"/>
                        </a:rPr>
                        <a:t>Tidak</a:t>
                      </a:r>
                    </a:p>
                  </a:txBody>
                  <a:tcPr marL="73152" marR="73152" marT="36576" marB="36576" anchor="ctr">
                    <a:solidFill>
                      <a:srgbClr val="EAF8FA"/>
                    </a:solidFill>
                  </a:tcPr>
                </a:tc>
              </a:tr>
              <a:tr h="457200">
                <a:tc>
                  <a:txBody>
                    <a:bodyPr wrap="square"/>
                    <a:lstStyle/>
                    <a:p>
                      <a:r>
                        <a:rPr sz="1490" b="0" i="0">
                          <a:solidFill>
                            <a:srgbClr val="14313B"/>
                          </a:solidFill>
                          <a:latin typeface="Calibri (MS)"/>
                        </a:rPr>
                        <a:t>7</a:t>
                      </a:r>
                    </a:p>
                  </a:txBody>
                  <a:tcPr marL="73152" marR="73152" marT="36576" marB="36576" anchor="ctr">
                    <a:solidFill>
                      <a:srgbClr val="FFFFFF"/>
                    </a:solidFill>
                  </a:tcPr>
                </a:tc>
                <a:tc>
                  <a:txBody>
                    <a:bodyPr wrap="square"/>
                    <a:lstStyle/>
                    <a:p>
                      <a:r>
                        <a:rPr sz="1490" b="0" i="0">
                          <a:solidFill>
                            <a:srgbClr val="14313B"/>
                          </a:solidFill>
                          <a:latin typeface="Calibri (MS)"/>
                        </a:rPr>
                        <a:t>Penyewaan alat transportasi</a:t>
                      </a:r>
                    </a:p>
                  </a:txBody>
                  <a:tcPr marL="73152" marR="73152" marT="36576" marB="36576" anchor="ctr">
                    <a:solidFill>
                      <a:srgbClr val="FFFFFF"/>
                    </a:solidFill>
                  </a:tcPr>
                </a:tc>
                <a:tc>
                  <a:txBody>
                    <a:bodyPr wrap="square"/>
                    <a:lstStyle/>
                    <a:p>
                      <a:r>
                        <a:rPr sz="1490" b="0" i="0">
                          <a:solidFill>
                            <a:srgbClr val="14313B"/>
                          </a:solidFill>
                          <a:latin typeface="Calibri (MS)"/>
                        </a:rPr>
                        <a:t>N · 77</a:t>
                      </a:r>
                    </a:p>
                  </a:txBody>
                  <a:tcPr marL="73152" marR="73152" marT="36576" marB="36576" anchor="ctr">
                    <a:solidFill>
                      <a:srgbClr val="FFFFFF"/>
                    </a:solidFill>
                  </a:tcPr>
                </a:tc>
                <a:tc>
                  <a:txBody>
                    <a:bodyPr wrap="square"/>
                    <a:lstStyle/>
                    <a:p>
                      <a:r>
                        <a:rPr sz="1490" b="0" i="0">
                          <a:solidFill>
                            <a:srgbClr val="14313B"/>
                          </a:solidFill>
                          <a:latin typeface="Calibri (MS)"/>
                        </a:rPr>
                        <a:t>Tidak</a:t>
                      </a:r>
                    </a:p>
                  </a:txBody>
                  <a:tcPr marL="73152" marR="73152" marT="36576" marB="36576" anchor="ctr">
                    <a:solidFill>
                      <a:srgbClr val="FFFFFF"/>
                    </a:solidFill>
                  </a:tcPr>
                </a:tc>
              </a:tr>
              <a:tr h="457200">
                <a:tc>
                  <a:txBody>
                    <a:bodyPr wrap="square"/>
                    <a:lstStyle/>
                    <a:p>
                      <a:r>
                        <a:rPr sz="1490" b="0" i="0">
                          <a:solidFill>
                            <a:srgbClr val="14313B"/>
                          </a:solidFill>
                          <a:latin typeface="Calibri (MS)"/>
                        </a:rPr>
                        <a:t>8</a:t>
                      </a:r>
                    </a:p>
                  </a:txBody>
                  <a:tcPr marL="73152" marR="73152" marT="36576" marB="36576" anchor="ctr">
                    <a:solidFill>
                      <a:srgbClr val="EAF8FA"/>
                    </a:solidFill>
                  </a:tcPr>
                </a:tc>
                <a:tc>
                  <a:txBody>
                    <a:bodyPr wrap="square"/>
                    <a:lstStyle/>
                    <a:p>
                      <a:r>
                        <a:rPr sz="1490" b="0" i="0">
                          <a:solidFill>
                            <a:srgbClr val="14313B"/>
                          </a:solidFill>
                          <a:latin typeface="Calibri (MS)"/>
                        </a:rPr>
                        <a:t>Agen perjalanan dan jasa reservasi</a:t>
                      </a:r>
                    </a:p>
                  </a:txBody>
                  <a:tcPr marL="73152" marR="73152" marT="36576" marB="36576" anchor="ctr">
                    <a:solidFill>
                      <a:srgbClr val="EAF8FA"/>
                    </a:solidFill>
                  </a:tcPr>
                </a:tc>
                <a:tc>
                  <a:txBody>
                    <a:bodyPr wrap="square"/>
                    <a:lstStyle/>
                    <a:p>
                      <a:r>
                        <a:rPr sz="1490" b="0" i="0">
                          <a:solidFill>
                            <a:srgbClr val="14313B"/>
                          </a:solidFill>
                          <a:latin typeface="Calibri (MS)"/>
                        </a:rPr>
                        <a:t>N · 79</a:t>
                      </a:r>
                    </a:p>
                  </a:txBody>
                  <a:tcPr marL="73152" marR="73152" marT="36576" marB="36576" anchor="ctr">
                    <a:solidFill>
                      <a:srgbClr val="EAF8FA"/>
                    </a:solidFill>
                  </a:tcPr>
                </a:tc>
                <a:tc>
                  <a:txBody>
                    <a:bodyPr wrap="square"/>
                    <a:lstStyle/>
                    <a:p>
                      <a:r>
                        <a:rPr sz="1490" b="0" i="0">
                          <a:solidFill>
                            <a:srgbClr val="14313B"/>
                          </a:solidFill>
                          <a:latin typeface="Calibri (MS)"/>
                        </a:rPr>
                        <a:t>Tidak</a:t>
                      </a:r>
                    </a:p>
                  </a:txBody>
                  <a:tcPr marL="73152" marR="73152" marT="36576" marB="36576" anchor="ctr">
                    <a:solidFill>
                      <a:srgbClr val="EAF8FA"/>
                    </a:solidFill>
                  </a:tcPr>
                </a:tc>
              </a:tr>
              <a:tr h="457200">
                <a:tc>
                  <a:txBody>
                    <a:bodyPr wrap="square"/>
                    <a:lstStyle/>
                    <a:p>
                      <a:r>
                        <a:rPr sz="1490" b="0" i="0">
                          <a:solidFill>
                            <a:srgbClr val="14313B"/>
                          </a:solidFill>
                          <a:latin typeface="Calibri (MS)"/>
                        </a:rPr>
                        <a:t>9</a:t>
                      </a:r>
                    </a:p>
                  </a:txBody>
                  <a:tcPr marL="73152" marR="73152" marT="36576" marB="36576" anchor="ctr">
                    <a:solidFill>
                      <a:srgbClr val="FFFFFF"/>
                    </a:solidFill>
                  </a:tcPr>
                </a:tc>
                <a:tc>
                  <a:txBody>
                    <a:bodyPr wrap="square"/>
                    <a:lstStyle/>
                    <a:p>
                      <a:r>
                        <a:rPr sz="1490" b="0" i="0">
                          <a:solidFill>
                            <a:srgbClr val="14313B"/>
                          </a:solidFill>
                          <a:latin typeface="Calibri (MS)"/>
                        </a:rPr>
                        <a:t>Aktivitas budaya</a:t>
                      </a:r>
                    </a:p>
                  </a:txBody>
                  <a:tcPr marL="73152" marR="73152" marT="36576" marB="36576" anchor="ctr">
                    <a:solidFill>
                      <a:srgbClr val="FFFFFF"/>
                    </a:solidFill>
                  </a:tcPr>
                </a:tc>
                <a:tc>
                  <a:txBody>
                    <a:bodyPr wrap="square"/>
                    <a:lstStyle/>
                    <a:p>
                      <a:r>
                        <a:rPr sz="1490" b="0" i="0">
                          <a:solidFill>
                            <a:srgbClr val="14313B"/>
                          </a:solidFill>
                          <a:latin typeface="Calibri (MS)"/>
                        </a:rPr>
                        <a:t>R · 90 Kesenian, 91 Perpustakaan, museum, budaya</a:t>
                      </a:r>
                    </a:p>
                  </a:txBody>
                  <a:tcPr marL="73152" marR="73152" marT="36576" marB="36576" anchor="ctr">
                    <a:solidFill>
                      <a:srgbClr val="FFFFFF"/>
                    </a:solidFill>
                  </a:tcPr>
                </a:tc>
                <a:tc>
                  <a:txBody>
                    <a:bodyPr wrap="square"/>
                    <a:lstStyle/>
                    <a:p>
                      <a:r>
                        <a:rPr sz="1490" b="0" i="0">
                          <a:solidFill>
                            <a:srgbClr val="14313B"/>
                          </a:solidFill>
                          <a:latin typeface="Calibri (MS)"/>
                        </a:rPr>
                        <a:t>Ya (ODTW: 91)</a:t>
                      </a:r>
                    </a:p>
                  </a:txBody>
                  <a:tcPr marL="73152" marR="73152" marT="36576" marB="36576" anchor="ctr">
                    <a:solidFill>
                      <a:srgbClr val="BDEFF3"/>
                    </a:solidFill>
                  </a:tcPr>
                </a:tc>
              </a:tr>
              <a:tr h="457200">
                <a:tc>
                  <a:txBody>
                    <a:bodyPr wrap="square"/>
                    <a:lstStyle/>
                    <a:p>
                      <a:r>
                        <a:rPr sz="1490" b="0" i="0">
                          <a:solidFill>
                            <a:srgbClr val="14313B"/>
                          </a:solidFill>
                          <a:latin typeface="Calibri (MS)"/>
                        </a:rPr>
                        <a:t>10</a:t>
                      </a:r>
                    </a:p>
                  </a:txBody>
                  <a:tcPr marL="73152" marR="73152" marT="36576" marB="36576" anchor="ctr">
                    <a:solidFill>
                      <a:srgbClr val="EAF8FA"/>
                    </a:solidFill>
                  </a:tcPr>
                </a:tc>
                <a:tc>
                  <a:txBody>
                    <a:bodyPr wrap="square"/>
                    <a:lstStyle/>
                    <a:p>
                      <a:r>
                        <a:rPr sz="1490" b="0" i="0">
                          <a:solidFill>
                            <a:srgbClr val="14313B"/>
                          </a:solidFill>
                          <a:latin typeface="Calibri (MS)"/>
                        </a:rPr>
                        <a:t>Aktivitas olahraga dan rekreasi</a:t>
                      </a:r>
                    </a:p>
                  </a:txBody>
                  <a:tcPr marL="73152" marR="73152" marT="36576" marB="36576" anchor="ctr">
                    <a:solidFill>
                      <a:srgbClr val="EAF8FA"/>
                    </a:solidFill>
                  </a:tcPr>
                </a:tc>
                <a:tc>
                  <a:txBody>
                    <a:bodyPr wrap="square"/>
                    <a:lstStyle/>
                    <a:p>
                      <a:r>
                        <a:rPr sz="1490" b="0" i="0">
                          <a:solidFill>
                            <a:srgbClr val="14313B"/>
                          </a:solidFill>
                          <a:latin typeface="Calibri (MS)"/>
                        </a:rPr>
                        <a:t>R · 93 Olahraga dan rekreasi lainnya</a:t>
                      </a:r>
                    </a:p>
                  </a:txBody>
                  <a:tcPr marL="73152" marR="73152" marT="36576" marB="36576" anchor="ctr">
                    <a:solidFill>
                      <a:srgbClr val="EAF8FA"/>
                    </a:solidFill>
                  </a:tcPr>
                </a:tc>
                <a:tc>
                  <a:txBody>
                    <a:bodyPr wrap="square"/>
                    <a:lstStyle/>
                    <a:p>
                      <a:r>
                        <a:rPr sz="1490" b="0" i="0">
                          <a:solidFill>
                            <a:srgbClr val="14313B"/>
                          </a:solidFill>
                          <a:latin typeface="Calibri (MS)"/>
                        </a:rPr>
                        <a:t>Ya (ODTW: 93)</a:t>
                      </a:r>
                    </a:p>
                  </a:txBody>
                  <a:tcPr marL="73152" marR="73152" marT="36576" marB="36576" anchor="ctr">
                    <a:solidFill>
                      <a:srgbClr val="BDEFF3"/>
                    </a:solidFill>
                  </a:tcPr>
                </a:tc>
              </a:tr>
              <a:tr h="457200">
                <a:tc>
                  <a:txBody>
                    <a:bodyPr wrap="square"/>
                    <a:lstStyle/>
                    <a:p>
                      <a:r>
                        <a:rPr sz="1490" b="0" i="0">
                          <a:solidFill>
                            <a:srgbClr val="14313B"/>
                          </a:solidFill>
                          <a:latin typeface="Calibri (MS)"/>
                        </a:rPr>
                        <a:t>11</a:t>
                      </a:r>
                    </a:p>
                  </a:txBody>
                  <a:tcPr marL="73152" marR="73152" marT="36576" marB="36576" anchor="ctr">
                    <a:solidFill>
                      <a:srgbClr val="FFFFFF"/>
                    </a:solidFill>
                  </a:tcPr>
                </a:tc>
                <a:tc>
                  <a:txBody>
                    <a:bodyPr wrap="square"/>
                    <a:lstStyle/>
                    <a:p>
                      <a:r>
                        <a:rPr sz="1490" b="0" i="0">
                          <a:solidFill>
                            <a:srgbClr val="14313B"/>
                          </a:solidFill>
                          <a:latin typeface="Calibri (MS)"/>
                        </a:rPr>
                        <a:t>Perdagangan eceran barang khas pariwisata</a:t>
                      </a:r>
                    </a:p>
                  </a:txBody>
                  <a:tcPr marL="73152" marR="73152" marT="36576" marB="36576" anchor="ctr">
                    <a:solidFill>
                      <a:srgbClr val="FFFFFF"/>
                    </a:solidFill>
                  </a:tcPr>
                </a:tc>
                <a:tc>
                  <a:txBody>
                    <a:bodyPr wrap="square"/>
                    <a:lstStyle/>
                    <a:p>
                      <a:r>
                        <a:rPr sz="1490" b="0" i="0">
                          <a:solidFill>
                            <a:srgbClr val="14313B"/>
                          </a:solidFill>
                          <a:latin typeface="Calibri (MS)"/>
                        </a:rPr>
                        <a:t>G · 47</a:t>
                      </a:r>
                    </a:p>
                  </a:txBody>
                  <a:tcPr marL="73152" marR="73152" marT="36576" marB="36576" anchor="ctr">
                    <a:solidFill>
                      <a:srgbClr val="FFFFFF"/>
                    </a:solidFill>
                  </a:tcPr>
                </a:tc>
                <a:tc>
                  <a:txBody>
                    <a:bodyPr wrap="square"/>
                    <a:lstStyle/>
                    <a:p>
                      <a:r>
                        <a:rPr sz="1490" b="0" i="0">
                          <a:solidFill>
                            <a:srgbClr val="14313B"/>
                          </a:solidFill>
                          <a:latin typeface="Calibri (MS)"/>
                        </a:rPr>
                        <a:t>Tidak</a:t>
                      </a:r>
                    </a:p>
                  </a:txBody>
                  <a:tcPr marL="73152" marR="73152" marT="36576" marB="36576" anchor="ctr">
                    <a:solidFill>
                      <a:srgbClr val="FFFFFF"/>
                    </a:solidFill>
                  </a:tcPr>
                </a:tc>
              </a:tr>
              <a:tr h="457200">
                <a:tc>
                  <a:txBody>
                    <a:bodyPr wrap="square"/>
                    <a:lstStyle/>
                    <a:p>
                      <a:r>
                        <a:rPr sz="1490" b="0" i="0">
                          <a:solidFill>
                            <a:srgbClr val="14313B"/>
                          </a:solidFill>
                          <a:latin typeface="Calibri (MS)"/>
                        </a:rPr>
                        <a:t>12</a:t>
                      </a:r>
                    </a:p>
                  </a:txBody>
                  <a:tcPr marL="73152" marR="73152" marT="36576" marB="36576" anchor="ctr">
                    <a:solidFill>
                      <a:srgbClr val="EAF8FA"/>
                    </a:solidFill>
                  </a:tcPr>
                </a:tc>
                <a:tc>
                  <a:txBody>
                    <a:bodyPr wrap="square"/>
                    <a:lstStyle/>
                    <a:p>
                      <a:r>
                        <a:rPr sz="1490" b="0" i="0">
                          <a:solidFill>
                            <a:srgbClr val="14313B"/>
                          </a:solidFill>
                          <a:latin typeface="Calibri (MS)"/>
                        </a:rPr>
                        <a:t>Aktivitas khas pariwisata lainnya (ditetapkan tiap negara)</a:t>
                      </a:r>
                    </a:p>
                  </a:txBody>
                  <a:tcPr marL="73152" marR="73152" marT="36576" marB="36576" anchor="ctr">
                    <a:solidFill>
                      <a:srgbClr val="EAF8FA"/>
                    </a:solidFill>
                  </a:tcPr>
                </a:tc>
                <a:tc>
                  <a:txBody>
                    <a:bodyPr wrap="square"/>
                    <a:lstStyle/>
                    <a:p>
                      <a:r>
                        <a:rPr sz="1490" b="0" i="0">
                          <a:solidFill>
                            <a:srgbClr val="14313B"/>
                          </a:solidFill>
                          <a:latin typeface="Calibri (MS)"/>
                        </a:rPr>
                        <a:t>Sesuai penetapan negara</a:t>
                      </a:r>
                    </a:p>
                  </a:txBody>
                  <a:tcPr marL="73152" marR="73152" marT="36576" marB="36576" anchor="ctr">
                    <a:solidFill>
                      <a:srgbClr val="EAF8FA"/>
                    </a:solidFill>
                  </a:tcPr>
                </a:tc>
                <a:tc>
                  <a:txBody>
                    <a:bodyPr wrap="square"/>
                    <a:lstStyle/>
                    <a:p>
                      <a:r>
                        <a:rPr sz="1490" b="0" i="0">
                          <a:solidFill>
                            <a:srgbClr val="14313B"/>
                          </a:solidFill>
                          <a:latin typeface="Calibri (MS)"/>
                        </a:rPr>
                        <a:t>Tidak</a:t>
                      </a:r>
                    </a:p>
                  </a:txBody>
                  <a:tcPr marL="73152" marR="73152" marT="36576" marB="36576" anchor="ctr">
                    <a:solidFill>
                      <a:srgbClr val="EAF8FA"/>
                    </a:solidFill>
                  </a:tcPr>
                </a:tc>
              </a:tr>
              <a:tr h="457200">
                <a:tc>
                  <a:txBody>
                    <a:bodyPr wrap="square"/>
                    <a:lstStyle/>
                    <a:p>
                      <a:r>
                        <a:rPr sz="1490" b="0" i="0">
                          <a:solidFill>
                            <a:srgbClr val="14313B"/>
                          </a:solidFill>
                          <a:latin typeface="Calibri (MS)"/>
                        </a:rPr>
                        <a:t>—</a:t>
                      </a:r>
                    </a:p>
                  </a:txBody>
                  <a:tcPr marL="73152" marR="73152" marT="36576" marB="36576" anchor="ctr">
                    <a:solidFill>
                      <a:srgbClr val="FFFFFF"/>
                    </a:solidFill>
                  </a:tcPr>
                </a:tc>
                <a:tc>
                  <a:txBody>
                    <a:bodyPr wrap="square"/>
                    <a:lstStyle/>
                    <a:p>
                      <a:r>
                        <a:rPr sz="1490" b="0" i="0">
                          <a:solidFill>
                            <a:srgbClr val="14313B"/>
                          </a:solidFill>
                          <a:latin typeface="Calibri (MS)"/>
                        </a:rPr>
                        <a:t>Bukan kategori IRTS: jasa lainnya</a:t>
                      </a:r>
                    </a:p>
                  </a:txBody>
                  <a:tcPr marL="73152" marR="73152" marT="36576" marB="36576" anchor="ctr">
                    <a:solidFill>
                      <a:srgbClr val="FFFFFF"/>
                    </a:solidFill>
                  </a:tcPr>
                </a:tc>
                <a:tc>
                  <a:txBody>
                    <a:bodyPr wrap="square"/>
                    <a:lstStyle/>
                    <a:p>
                      <a:r>
                        <a:rPr sz="1490" b="0" i="0">
                          <a:solidFill>
                            <a:srgbClr val="14313B"/>
                          </a:solidFill>
                          <a:latin typeface="Calibri (MS)"/>
                        </a:rPr>
                        <a:t>S, T, U</a:t>
                      </a:r>
                    </a:p>
                  </a:txBody>
                  <a:tcPr marL="73152" marR="73152" marT="36576" marB="36576" anchor="ctr">
                    <a:solidFill>
                      <a:srgbClr val="FFFFFF"/>
                    </a:solidFill>
                  </a:tcPr>
                </a:tc>
                <a:tc>
                  <a:txBody>
                    <a:bodyPr wrap="square"/>
                    <a:lstStyle/>
                    <a:p>
                      <a:r>
                        <a:rPr sz="1490" b="0" i="0">
                          <a:solidFill>
                            <a:srgbClr val="14313B"/>
                          </a:solidFill>
                          <a:latin typeface="Calibri (MS)"/>
                        </a:rPr>
                        <a:t>Ikut terhitung*</a:t>
                      </a:r>
                    </a:p>
                  </a:txBody>
                  <a:tcPr marL="73152" marR="73152" marT="36576" marB="36576" anchor="ctr">
                    <a:solidFill>
                      <a:srgbClr val="FFF1BF"/>
                    </a:solidFill>
                  </a:tcPr>
                </a:tc>
              </a:tr>
            </a:tbl>
          </a:graphicData>
        </a:graphic>
      </p:graphicFrame>
      <p:sp>
        <p:nvSpPr>
          <p:cNvPr id="23" name="Rounded Rectangle 22"/>
          <p:cNvSpPr/>
          <p:nvPr/>
        </p:nvSpPr>
        <p:spPr>
          <a:xfrm>
            <a:off x="822960" y="8321040"/>
            <a:ext cx="16642080" cy="86868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490" b="1" i="0">
                <a:solidFill>
                  <a:srgbClr val="0B5E6E"/>
                </a:solidFill>
                <a:latin typeface="Calibri (MS) Bold"/>
              </a:rPr>
              <a:t>Cakupan model  </a:t>
            </a:r>
            <a:r>
              <a:rPr sz="1440" b="0" i="0">
                <a:solidFill>
                  <a:srgbClr val="14313B"/>
                </a:solidFill>
                <a:latin typeface="Calibri (MS)"/>
              </a:rPr>
              <a:t>PDRB dan tenaga kerja pariwisata memakai KBLI kategori I dan R, S, T, U; jumlah ODTW dikodekan pada golongan 91 dan 93. *S, T, U ikut karena BPS menyajikan R, S, T, U dalam satu kelompok, sehingga nilai sektor pariwisata cenderung lebih besar.</a:t>
            </a:r>
          </a:p>
        </p:txBody>
      </p:sp>
      <p:sp>
        <p:nvSpPr>
          <p:cNvPr id="24" name="TextBox 23"/>
          <p:cNvSpPr txBox="1"/>
          <p:nvPr/>
        </p:nvSpPr>
        <p:spPr>
          <a:xfrm>
            <a:off x="822960" y="9281160"/>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UN &amp; UNWTO (2008), IRTS 2008 (daftar aktivitas karakteristik pariwisata); BPS, KBLI 2020; Buku Subbab 2.1 dan 3.4.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DAHXA7-drhs</dc:identifier>
  <dcterms:modified xsi:type="dcterms:W3CDTF">2011-08-01T06:04:30Z</dcterms:modified>
  <cp:revision>1</cp:revision>
  <dc:title>[Lengkap] PPT SIDANG FINAL</dc:title>
</cp:coreProperties>
</file>