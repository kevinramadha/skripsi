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dia/image11.svg" ContentType="image/svg+xml"/>
  <Override PartName="/ppt/media/image15.svg" ContentType="image/svg+xml"/>
  <Override PartName="/ppt/media/image18.svg" ContentType="image/svg+xml"/>
  <Override PartName="/ppt/media/image29.svg" ContentType="image/svg+xml"/>
  <Override PartName="/ppt/media/image31.svg" ContentType="image/svg+xml"/>
  <Override PartName="/ppt/media/image39.svg" ContentType="image/svg+xml"/>
  <Override PartName="/ppt/media/image41.svg" ContentType="image/svg+xml"/>
  <Override PartName="/ppt/media/image47.svg" ContentType="image/svg+xml"/>
  <Override PartName="/ppt/media/image49.svg" ContentType="image/svg+xml"/>
  <Override PartName="/ppt/media/image51.svg" ContentType="image/svg+xml"/>
  <Override PartName="/ppt/media/image58.svg" ContentType="image/svg+xml"/>
  <Override PartName="/ppt/media/image63.svg" ContentType="image/svg+xml"/>
  <Override PartName="/ppt/media/image68.svg" ContentType="image/svg+xml"/>
  <Override PartName="/ppt/media/image75.svg" ContentType="image/svg+xml"/>
  <Override PartName="/ppt/media/image78.svg" ContentType="image/svg+xml"/>
  <Override PartName="/ppt/media/image81.svg" ContentType="image/svg+xml"/>
  <Override PartName="/ppt/media/image83.svg" ContentType="image/svg+xml"/>
  <Override PartName="/ppt/media/image85.svg" ContentType="image/svg+xml"/>
  <Override PartName="/ppt/media/image87.svg" ContentType="image/svg+xml"/>
  <Override PartName="/ppt/media/image89.svg" ContentType="image/svg+xml"/>
  <Override PartName="/ppt/media/image9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9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350" r:id="rId198"/>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346" r:id="rId194"/>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7" r:id="rId195"/>
    <p:sldId id="348" r:id="rId196"/>
    <p:sldId id="349" r:id="rId197"/>
  </p:sldIdLst>
  <p:sldSz cx="18288000" cy="10287000"/>
  <p:notesSz cx="6858000" cy="9144000"/>
  <p:embeddedFontLst>
    <p:embeddedFont>
      <p:font typeface="Calibri (MS) Bold" charset="1" panose="020F0702030404030204"/>
      <p:regular r:id="rId99"/>
    </p:embeddedFont>
    <p:embeddedFont>
      <p:font typeface="Calibri (MS) Bold Italics" charset="1" panose="020F07020304040A0204"/>
      <p:regular r:id="rId100"/>
    </p:embeddedFont>
    <p:embeddedFont>
      <p:font typeface="Calibri (MS)" charset="1" panose="020F0502020204030204"/>
      <p:regular r:id="rId101"/>
    </p:embeddedFont>
    <p:embeddedFont>
      <p:font typeface="Montserrat" charset="1" panose="00000500000000000000"/>
      <p:regular r:id="rId105"/>
    </p:embeddedFont>
    <p:embeddedFont>
      <p:font typeface="Calibri (MS) Italics" charset="1" panose="020F05020202040A0204"/>
      <p:regular r:id="rId108"/>
    </p:embeddedFont>
    <p:embeddedFont>
      <p:font typeface="Cambria Italics" charset="1" panose="020405030504060A0204"/>
      <p:regular r:id="rId1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slide" Target="slides/slide80.xml"/><Relationship Id="rId84" Type="http://schemas.openxmlformats.org/officeDocument/2006/relationships/slide" Target="slides/slide81.xml"/><Relationship Id="rId85" Type="http://schemas.openxmlformats.org/officeDocument/2006/relationships/slide" Target="slides/slide82.xml"/><Relationship Id="rId86" Type="http://schemas.openxmlformats.org/officeDocument/2006/relationships/slide" Target="slides/slide83.xml"/><Relationship Id="rId87" Type="http://schemas.openxmlformats.org/officeDocument/2006/relationships/slide" Target="slides/slide84.xml"/><Relationship Id="rId88" Type="http://schemas.openxmlformats.org/officeDocument/2006/relationships/slide" Target="slides/slide85.xml"/><Relationship Id="rId89" Type="http://schemas.openxmlformats.org/officeDocument/2006/relationships/slide" Target="slides/slide86.xml"/><Relationship Id="rId90" Type="http://schemas.openxmlformats.org/officeDocument/2006/relationships/slide" Target="slides/slide87.xml"/><Relationship Id="rId91" Type="http://schemas.openxmlformats.org/officeDocument/2006/relationships/slide" Target="slides/slide88.xml"/><Relationship Id="rId92" Type="http://schemas.openxmlformats.org/officeDocument/2006/relationships/slide" Target="slides/slide89.xml"/><Relationship Id="rId93" Type="http://schemas.openxmlformats.org/officeDocument/2006/relationships/slide" Target="slides/slide90.xml"/><Relationship Id="rId94" Type="http://schemas.openxmlformats.org/officeDocument/2006/relationships/slide" Target="slides/slide91.xml"/><Relationship Id="rId95" Type="http://schemas.openxmlformats.org/officeDocument/2006/relationships/slide" Target="slides/slide92.xml"/><Relationship Id="rId96" Type="http://schemas.openxmlformats.org/officeDocument/2006/relationships/notesMaster" Target="notesMasters/notesMaster1.xml"/><Relationship Id="rId97" Type="http://schemas.openxmlformats.org/officeDocument/2006/relationships/theme" Target="theme/theme2.xml"/><Relationship Id="rId98" Type="http://schemas.openxmlformats.org/officeDocument/2006/relationships/notesSlide" Target="notesSlides/notesSlide1.xml"/><Relationship Id="rId99" Type="http://schemas.openxmlformats.org/officeDocument/2006/relationships/font" Target="fonts/font99.fntdata"/><Relationship Id="rId100" Type="http://schemas.openxmlformats.org/officeDocument/2006/relationships/font" Target="fonts/font100.fntdata"/><Relationship Id="rId101" Type="http://schemas.openxmlformats.org/officeDocument/2006/relationships/font" Target="fonts/font101.fntdata"/><Relationship Id="rId102" Type="http://schemas.openxmlformats.org/officeDocument/2006/relationships/notesSlide" Target="notesSlides/notesSlide2.xml"/><Relationship Id="rId103" Type="http://schemas.openxmlformats.org/officeDocument/2006/relationships/notesSlide" Target="notesSlides/notesSlide3.xml"/><Relationship Id="rId104" Type="http://schemas.openxmlformats.org/officeDocument/2006/relationships/notesSlide" Target="notesSlides/notesSlide4.xml"/><Relationship Id="rId105" Type="http://schemas.openxmlformats.org/officeDocument/2006/relationships/font" Target="fonts/font105.fntdata"/><Relationship Id="rId106" Type="http://schemas.openxmlformats.org/officeDocument/2006/relationships/notesSlide" Target="notesSlides/notesSlide5.xml"/><Relationship Id="rId107" Type="http://schemas.openxmlformats.org/officeDocument/2006/relationships/notesSlide" Target="notesSlides/notesSlide6.xml"/><Relationship Id="rId108" Type="http://schemas.openxmlformats.org/officeDocument/2006/relationships/font" Target="fonts/font108.fntdata"/><Relationship Id="rId109" Type="http://schemas.openxmlformats.org/officeDocument/2006/relationships/notesSlide" Target="notesSlides/notesSlide7.xml"/><Relationship Id="rId110" Type="http://schemas.openxmlformats.org/officeDocument/2006/relationships/notesSlide" Target="notesSlides/notesSlide8.xml"/><Relationship Id="rId111" Type="http://schemas.openxmlformats.org/officeDocument/2006/relationships/notesSlide" Target="notesSlides/notesSlide9.xml"/><Relationship Id="rId112" Type="http://schemas.openxmlformats.org/officeDocument/2006/relationships/notesSlide" Target="notesSlides/notesSlide10.xml"/><Relationship Id="rId113" Type="http://schemas.openxmlformats.org/officeDocument/2006/relationships/notesSlide" Target="notesSlides/notesSlide11.xml"/><Relationship Id="rId114" Type="http://schemas.openxmlformats.org/officeDocument/2006/relationships/notesSlide" Target="notesSlides/notesSlide12.xml"/><Relationship Id="rId115" Type="http://schemas.openxmlformats.org/officeDocument/2006/relationships/notesSlide" Target="notesSlides/notesSlide13.xml"/><Relationship Id="rId116" Type="http://schemas.openxmlformats.org/officeDocument/2006/relationships/notesSlide" Target="notesSlides/notesSlide14.xml"/><Relationship Id="rId117" Type="http://schemas.openxmlformats.org/officeDocument/2006/relationships/notesSlide" Target="notesSlides/notesSlide15.xml"/><Relationship Id="rId118" Type="http://schemas.openxmlformats.org/officeDocument/2006/relationships/notesSlide" Target="notesSlides/notesSlide16.xml"/><Relationship Id="rId119" Type="http://schemas.openxmlformats.org/officeDocument/2006/relationships/notesSlide" Target="notesSlides/notesSlide17.xml"/><Relationship Id="rId120" Type="http://schemas.openxmlformats.org/officeDocument/2006/relationships/notesSlide" Target="notesSlides/notesSlide18.xml"/><Relationship Id="rId121" Type="http://schemas.openxmlformats.org/officeDocument/2006/relationships/notesSlide" Target="notesSlides/notesSlide19.xml"/><Relationship Id="rId122" Type="http://schemas.openxmlformats.org/officeDocument/2006/relationships/notesSlide" Target="notesSlides/notesSlide20.xml"/><Relationship Id="rId123" Type="http://schemas.openxmlformats.org/officeDocument/2006/relationships/notesSlide" Target="notesSlides/notesSlide21.xml"/><Relationship Id="rId124" Type="http://schemas.openxmlformats.org/officeDocument/2006/relationships/notesSlide" Target="notesSlides/notesSlide22.xml"/><Relationship Id="rId125" Type="http://schemas.openxmlformats.org/officeDocument/2006/relationships/notesSlide" Target="notesSlides/notesSlide23.xml"/><Relationship Id="rId126" Type="http://schemas.openxmlformats.org/officeDocument/2006/relationships/notesSlide" Target="notesSlides/notesSlide24.xml"/><Relationship Id="rId127" Type="http://schemas.openxmlformats.org/officeDocument/2006/relationships/notesSlide" Target="notesSlides/notesSlide25.xml"/><Relationship Id="rId128" Type="http://schemas.openxmlformats.org/officeDocument/2006/relationships/font" Target="fonts/font128.fntdata"/><Relationship Id="rId129" Type="http://schemas.openxmlformats.org/officeDocument/2006/relationships/notesSlide" Target="notesSlides/notesSlide26.xml"/><Relationship Id="rId130" Type="http://schemas.openxmlformats.org/officeDocument/2006/relationships/notesSlide" Target="notesSlides/notesSlide27.xml"/><Relationship Id="rId131" Type="http://schemas.openxmlformats.org/officeDocument/2006/relationships/notesSlide" Target="notesSlides/notesSlide28.xml"/><Relationship Id="rId132" Type="http://schemas.openxmlformats.org/officeDocument/2006/relationships/notesSlide" Target="notesSlides/notesSlide29.xml"/><Relationship Id="rId133" Type="http://schemas.openxmlformats.org/officeDocument/2006/relationships/notesSlide" Target="notesSlides/notesSlide30.xml"/><Relationship Id="rId134" Type="http://schemas.openxmlformats.org/officeDocument/2006/relationships/notesSlide" Target="notesSlides/notesSlide31.xml"/><Relationship Id="rId135" Type="http://schemas.openxmlformats.org/officeDocument/2006/relationships/notesSlide" Target="notesSlides/notesSlide32.xml"/><Relationship Id="rId136" Type="http://schemas.openxmlformats.org/officeDocument/2006/relationships/notesSlide" Target="notesSlides/notesSlide33.xml"/><Relationship Id="rId137" Type="http://schemas.openxmlformats.org/officeDocument/2006/relationships/notesSlide" Target="notesSlides/notesSlide34.xml"/><Relationship Id="rId138" Type="http://schemas.openxmlformats.org/officeDocument/2006/relationships/notesSlide" Target="notesSlides/notesSlide35.xml"/><Relationship Id="rId139" Type="http://schemas.openxmlformats.org/officeDocument/2006/relationships/notesSlide" Target="notesSlides/notesSlide36.xml"/><Relationship Id="rId140" Type="http://schemas.openxmlformats.org/officeDocument/2006/relationships/notesSlide" Target="notesSlides/notesSlide37.xml"/><Relationship Id="rId141" Type="http://schemas.openxmlformats.org/officeDocument/2006/relationships/notesSlide" Target="notesSlides/notesSlide38.xml"/><Relationship Id="rId142" Type="http://schemas.openxmlformats.org/officeDocument/2006/relationships/notesSlide" Target="notesSlides/notesSlide39.xml"/><Relationship Id="rId143" Type="http://schemas.openxmlformats.org/officeDocument/2006/relationships/notesSlide" Target="notesSlides/notesSlide40.xml"/><Relationship Id="rId144" Type="http://schemas.openxmlformats.org/officeDocument/2006/relationships/notesSlide" Target="notesSlides/notesSlide41.xml"/><Relationship Id="rId145" Type="http://schemas.openxmlformats.org/officeDocument/2006/relationships/notesSlide" Target="notesSlides/notesSlide42.xml"/><Relationship Id="rId146" Type="http://schemas.openxmlformats.org/officeDocument/2006/relationships/notesSlide" Target="notesSlides/notesSlide43.xml"/><Relationship Id="rId147" Type="http://schemas.openxmlformats.org/officeDocument/2006/relationships/notesSlide" Target="notesSlides/notesSlide44.xml"/><Relationship Id="rId148" Type="http://schemas.openxmlformats.org/officeDocument/2006/relationships/notesSlide" Target="notesSlides/notesSlide45.xml"/><Relationship Id="rId149" Type="http://schemas.openxmlformats.org/officeDocument/2006/relationships/notesSlide" Target="notesSlides/notesSlide46.xml"/><Relationship Id="rId150" Type="http://schemas.openxmlformats.org/officeDocument/2006/relationships/notesSlide" Target="notesSlides/notesSlide47.xml"/><Relationship Id="rId151" Type="http://schemas.openxmlformats.org/officeDocument/2006/relationships/notesSlide" Target="notesSlides/notesSlide48.xml"/><Relationship Id="rId152" Type="http://schemas.openxmlformats.org/officeDocument/2006/relationships/notesSlide" Target="notesSlides/notesSlide49.xml"/><Relationship Id="rId153" Type="http://schemas.openxmlformats.org/officeDocument/2006/relationships/notesSlide" Target="notesSlides/notesSlide50.xml"/><Relationship Id="rId154" Type="http://schemas.openxmlformats.org/officeDocument/2006/relationships/notesSlide" Target="notesSlides/notesSlide51.xml"/><Relationship Id="rId155" Type="http://schemas.openxmlformats.org/officeDocument/2006/relationships/notesSlide" Target="notesSlides/notesSlide52.xml"/><Relationship Id="rId156" Type="http://schemas.openxmlformats.org/officeDocument/2006/relationships/notesSlide" Target="notesSlides/notesSlide53.xml"/><Relationship Id="rId157" Type="http://schemas.openxmlformats.org/officeDocument/2006/relationships/notesSlide" Target="notesSlides/notesSlide54.xml"/><Relationship Id="rId158" Type="http://schemas.openxmlformats.org/officeDocument/2006/relationships/notesSlide" Target="notesSlides/notesSlide55.xml"/><Relationship Id="rId159" Type="http://schemas.openxmlformats.org/officeDocument/2006/relationships/notesSlide" Target="notesSlides/notesSlide56.xml"/><Relationship Id="rId160" Type="http://schemas.openxmlformats.org/officeDocument/2006/relationships/notesSlide" Target="notesSlides/notesSlide57.xml"/><Relationship Id="rId161" Type="http://schemas.openxmlformats.org/officeDocument/2006/relationships/notesSlide" Target="notesSlides/notesSlide58.xml"/><Relationship Id="rId162" Type="http://schemas.openxmlformats.org/officeDocument/2006/relationships/notesSlide" Target="notesSlides/notesSlide59.xml"/><Relationship Id="rId163" Type="http://schemas.openxmlformats.org/officeDocument/2006/relationships/notesSlide" Target="notesSlides/notesSlide60.xml"/><Relationship Id="rId164" Type="http://schemas.openxmlformats.org/officeDocument/2006/relationships/notesSlide" Target="notesSlides/notesSlide61.xml"/><Relationship Id="rId165" Type="http://schemas.openxmlformats.org/officeDocument/2006/relationships/notesSlide" Target="notesSlides/notesSlide62.xml"/><Relationship Id="rId166" Type="http://schemas.openxmlformats.org/officeDocument/2006/relationships/notesSlide" Target="notesSlides/notesSlide63.xml"/><Relationship Id="rId167" Type="http://schemas.openxmlformats.org/officeDocument/2006/relationships/notesSlide" Target="notesSlides/notesSlide64.xml"/><Relationship Id="rId168" Type="http://schemas.openxmlformats.org/officeDocument/2006/relationships/notesSlide" Target="notesSlides/notesSlide65.xml"/><Relationship Id="rId169" Type="http://schemas.openxmlformats.org/officeDocument/2006/relationships/notesSlide" Target="notesSlides/notesSlide66.xml"/><Relationship Id="rId170" Type="http://schemas.openxmlformats.org/officeDocument/2006/relationships/notesSlide" Target="notesSlides/notesSlide67.xml"/><Relationship Id="rId171" Type="http://schemas.openxmlformats.org/officeDocument/2006/relationships/notesSlide" Target="notesSlides/notesSlide68.xml"/><Relationship Id="rId172" Type="http://schemas.openxmlformats.org/officeDocument/2006/relationships/notesSlide" Target="notesSlides/notesSlide69.xml"/><Relationship Id="rId173" Type="http://schemas.openxmlformats.org/officeDocument/2006/relationships/notesSlide" Target="notesSlides/notesSlide70.xml"/><Relationship Id="rId174" Type="http://schemas.openxmlformats.org/officeDocument/2006/relationships/notesSlide" Target="notesSlides/notesSlide71.xml"/><Relationship Id="rId175" Type="http://schemas.openxmlformats.org/officeDocument/2006/relationships/notesSlide" Target="notesSlides/notesSlide72.xml"/><Relationship Id="rId176" Type="http://schemas.openxmlformats.org/officeDocument/2006/relationships/notesSlide" Target="notesSlides/notesSlide73.xml"/><Relationship Id="rId177" Type="http://schemas.openxmlformats.org/officeDocument/2006/relationships/notesSlide" Target="notesSlides/notesSlide74.xml"/><Relationship Id="rId178" Type="http://schemas.openxmlformats.org/officeDocument/2006/relationships/notesSlide" Target="notesSlides/notesSlide75.xml"/><Relationship Id="rId179" Type="http://schemas.openxmlformats.org/officeDocument/2006/relationships/notesSlide" Target="notesSlides/notesSlide76.xml"/><Relationship Id="rId180" Type="http://schemas.openxmlformats.org/officeDocument/2006/relationships/notesSlide" Target="notesSlides/notesSlide77.xml"/><Relationship Id="rId181" Type="http://schemas.openxmlformats.org/officeDocument/2006/relationships/notesSlide" Target="notesSlides/notesSlide78.xml"/><Relationship Id="rId182" Type="http://schemas.openxmlformats.org/officeDocument/2006/relationships/notesSlide" Target="notesSlides/notesSlide79.xml"/><Relationship Id="rId183" Type="http://schemas.openxmlformats.org/officeDocument/2006/relationships/notesSlide" Target="notesSlides/notesSlide80.xml"/><Relationship Id="rId184" Type="http://schemas.openxmlformats.org/officeDocument/2006/relationships/notesSlide" Target="notesSlides/notesSlide81.xml"/><Relationship Id="rId185" Type="http://schemas.openxmlformats.org/officeDocument/2006/relationships/notesSlide" Target="notesSlides/notesSlide82.xml"/><Relationship Id="rId186" Type="http://schemas.openxmlformats.org/officeDocument/2006/relationships/notesSlide" Target="notesSlides/notesSlide83.xml"/><Relationship Id="rId187" Type="http://schemas.openxmlformats.org/officeDocument/2006/relationships/notesSlide" Target="notesSlides/notesSlide84.xml"/><Relationship Id="rId188" Type="http://schemas.openxmlformats.org/officeDocument/2006/relationships/notesSlide" Target="notesSlides/notesSlide85.xml"/><Relationship Id="rId189" Type="http://schemas.openxmlformats.org/officeDocument/2006/relationships/notesSlide" Target="notesSlides/notesSlide86.xml"/><Relationship Id="rId190" Type="http://schemas.openxmlformats.org/officeDocument/2006/relationships/notesSlide" Target="notesSlides/notesSlide87.xml"/><Relationship Id="rId191" Type="http://schemas.openxmlformats.org/officeDocument/2006/relationships/notesSlide" Target="notesSlides/notesSlide88.xml"/><Relationship Id="rId192" Type="http://schemas.openxmlformats.org/officeDocument/2006/relationships/notesSlide" Target="notesSlides/notesSlide89.xml"/><Relationship Id="rId193" Type="http://schemas.openxmlformats.org/officeDocument/2006/relationships/notesSlide" Target="notesSlides/notesSlide90.xml"/><Relationship Id="rId194" Type="http://schemas.openxmlformats.org/officeDocument/2006/relationships/slide" Target="slides/slide32.xml"/><Relationship Id="rId195" Type="http://schemas.openxmlformats.org/officeDocument/2006/relationships/slide" Target="slides/slide93.xml"/><Relationship Id="rId196" Type="http://schemas.openxmlformats.org/officeDocument/2006/relationships/slide" Target="slides/slide94.xml"/><Relationship Id="rId197" Type="http://schemas.openxmlformats.org/officeDocument/2006/relationships/slide" Target="slides/slide95.xml"/><Relationship Id="rId198"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CAGR (%)</c:v>
                </c:pt>
              </c:strCache>
            </c:strRef>
          </c:tx>
          <c:dPt>
            <c:idx val="0"/>
            <c:spPr>
              <a:solidFill>
                <a:srgbClr val="39C0D3"/>
              </a:solidFill>
            </c:spPr>
          </c:dPt>
          <c:dPt>
            <c:idx val="1"/>
            <c:spPr>
              <a:solidFill>
                <a:srgbClr val="39C0D3"/>
              </a:solidFill>
            </c:spPr>
          </c:dPt>
          <c:dPt>
            <c:idx val="2"/>
            <c:spPr>
              <a:solidFill>
                <a:srgbClr val="39C0D3"/>
              </a:solidFill>
            </c:spPr>
          </c:dPt>
          <c:dPt>
            <c:idx val="3"/>
            <c:spPr>
              <a:solidFill>
                <a:srgbClr val="39C0D3"/>
              </a:solidFill>
            </c:spPr>
          </c:dPt>
          <c:dPt>
            <c:idx val="4"/>
            <c:spPr>
              <a:solidFill>
                <a:srgbClr val="39C0D3"/>
              </a:solidFill>
            </c:spPr>
          </c:dPt>
          <c:dPt>
            <c:idx val="5"/>
            <c:spPr>
              <a:solidFill>
                <a:srgbClr val="39C0D3"/>
              </a:solidFill>
            </c:spPr>
          </c:dPt>
          <c:dPt>
            <c:idx val="6"/>
            <c:spPr>
              <a:solidFill>
                <a:srgbClr val="39C0D3"/>
              </a:solidFill>
            </c:spPr>
          </c:dPt>
          <c:dPt>
            <c:idx val="7"/>
            <c:spPr>
              <a:solidFill>
                <a:srgbClr val="FFD23B"/>
              </a:solidFill>
            </c:spPr>
          </c:dPt>
          <c:cat>
            <c:strRef>
              <c:f>Sheet1!$A$2:$A$9</c:f>
              <c:strCache>
                <c:ptCount val="8"/>
                <c:pt idx="0">
                  <c:v>Pertanian</c:v>
                </c:pt>
                <c:pt idx="1">
                  <c:v>Kesehatan</c:v>
                </c:pt>
                <c:pt idx="2">
                  <c:v>Konstruksi</c:v>
                </c:pt>
                <c:pt idx="3">
                  <c:v>Perdagangan besar &amp; eceran</c:v>
                </c:pt>
                <c:pt idx="4">
                  <c:v>Industri pengolahan</c:v>
                </c:pt>
                <c:pt idx="5">
                  <c:v>Jasa keuangan</c:v>
                </c:pt>
                <c:pt idx="6">
                  <c:v>Informasi &amp; komunikasi</c:v>
                </c:pt>
                <c:pt idx="7">
                  <c:v>Perjalanan &amp; pariwisata</c:v>
                </c:pt>
              </c:strCache>
            </c:strRef>
          </c:cat>
          <c:val>
            <c:numRef>
              <c:f>Sheet1!$B$2:$B$9</c:f>
              <c:numCache>
                <c:formatCode>General</c:formatCode>
                <c:ptCount val="8"/>
                <c:pt idx="0">
                  <c:v>1.5</c:v>
                </c:pt>
                <c:pt idx="1">
                  <c:v>1.9</c:v>
                </c:pt>
                <c:pt idx="2">
                  <c:v>2.1</c:v>
                </c:pt>
                <c:pt idx="3">
                  <c:v>2.4</c:v>
                </c:pt>
                <c:pt idx="4">
                  <c:v>2.6</c:v>
                </c:pt>
                <c:pt idx="5">
                  <c:v>3.4</c:v>
                </c:pt>
                <c:pt idx="6">
                  <c:v>3.4</c:v>
                </c:pt>
                <c:pt idx="7">
                  <c:v>3.6</c:v>
                </c:pt>
              </c:numCache>
            </c:numRef>
          </c:val>
        </c:ser>
        <c:dLbls>
          <c:numFmt formatCode="0.0" sourceLinked="0"/>
          <c:txPr>
            <a:bodyPr/>
            <a:lstStyle/>
            <a:p>
              <a:pPr>
                <a:defRPr sz="1300">
                  <a:solidFill>
                    <a:srgbClr val="14313B"/>
                  </a:solidFill>
                </a:defRPr>
              </a:pPr>
            </a:p>
          </c:txPr>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B8C7CC"/>
            </a:solidFill>
          </a:ln>
        </c:spPr>
        <c:txPr>
          <a:bodyPr/>
          <a:lstStyle/>
          <a:p>
            <a:pPr>
              <a:defRPr sz="1300"/>
            </a:pPr>
          </a:p>
        </c:txPr>
        <c:crossAx val="-2113994440"/>
        <c:crosses val="autoZero"/>
        <c:auto val="1"/>
        <c:lblAlgn val="ctr"/>
        <c:lblOffset val="100"/>
        <c:noMultiLvlLbl val="0"/>
      </c:catAx>
      <c:valAx>
        <c:axId val="-2113994440"/>
        <c:scaling>
          <c:max val="4.0"/>
          <c:min val="0.0"/>
        </c:scaling>
        <c:delete val="0"/>
        <c:axPos val="b"/>
        <c:majorGridlines>
          <c:spPr>
            <a:ln>
              <a:solidFill>
                <a:srgbClr val="E3EEF1"/>
              </a:solidFill>
            </a:ln>
          </c:spPr>
        </c:majorGridlines>
        <c:majorTickMark val="out"/>
        <c:minorTickMark val="none"/>
        <c:tickLblPos val="nextTo"/>
        <c:spPr>
          <a:ln>
            <a:noFill/>
          </a:ln>
        </c:spPr>
        <c:txPr>
          <a:bodyPr/>
          <a:lstStyle/>
          <a:p>
            <a:pPr>
              <a:defRPr sz="1200"/>
            </a:pPr>
          </a:p>
        </c:txPr>
        <c:crossAx val="-2068027336"/>
        <c:crosses val="autoZero"/>
      </c:valAx>
    </c:plotArea>
    <c:dispBlanksAs val="gap"/>
  </c:chart>
  <c:txPr>
    <a:bodyPr/>
    <a:lstStyle/>
    <a:p>
      <a:pPr>
        <a:defRPr sz="1300">
          <a:solidFill>
            <a:srgbClr val="14313B"/>
          </a:solidFill>
          <a:latin typeface="Calibri (M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Kontribusi terhadap PDB (%)</c:v>
                </c:pt>
              </c:strCache>
            </c:strRef>
          </c:tx>
          <c:spPr>
            <a:ln w="44450">
              <a:solidFill>
                <a:srgbClr val="FFD23B"/>
              </a:solidFill>
            </a:ln>
          </c:spPr>
          <c:marker>
            <c:size val="9"/>
            <c:spPr>
              <a:solidFill>
                <a:srgbClr val="FFD23B"/>
              </a:solidFill>
              <a:ln>
                <a:solidFill>
                  <a:srgbClr val="FFD23B"/>
                </a:solidFill>
              </a:ln>
            </c:spPr>
          </c:marker>
          <c:cat>
            <c:strRef>
              <c:f>Sheet1!$A$2:$A$7</c:f>
              <c:strCache>
                <c:ptCount val="6"/>
                <c:pt idx="0">
                  <c:v>2020</c:v>
                </c:pt>
                <c:pt idx="1">
                  <c:v>2021</c:v>
                </c:pt>
                <c:pt idx="2">
                  <c:v>2022</c:v>
                </c:pt>
                <c:pt idx="3">
                  <c:v>2023</c:v>
                </c:pt>
                <c:pt idx="4">
                  <c:v>2024</c:v>
                </c:pt>
                <c:pt idx="5">
                  <c:v>2025</c:v>
                </c:pt>
              </c:strCache>
            </c:strRef>
          </c:cat>
          <c:val>
            <c:numRef>
              <c:f>Sheet1!$B$2:$B$7</c:f>
              <c:numCache>
                <c:formatCode>General</c:formatCode>
                <c:ptCount val="6"/>
                <c:pt idx="0">
                  <c:v>2.2</c:v>
                </c:pt>
                <c:pt idx="1">
                  <c:v>2.3</c:v>
                </c:pt>
                <c:pt idx="2">
                  <c:v>3.7</c:v>
                </c:pt>
                <c:pt idx="3">
                  <c:v>3.9</c:v>
                </c:pt>
                <c:pt idx="4">
                  <c:v>4.0</c:v>
                </c:pt>
                <c:pt idx="5">
                  <c:v>4.9</c:v>
                </c:pt>
              </c:numCache>
            </c:numRef>
          </c:val>
          <c:smooth val="0"/>
        </c:ser>
        <c:dLbls>
          <c:numFmt formatCode="0.0&quot;%&quot;" sourceLinked="0"/>
          <c:txPr>
            <a:bodyPr/>
            <a:lstStyle/>
            <a:p>
              <a:pPr>
                <a:defRPr sz="1300">
                  <a:solidFill>
                    <a:srgbClr val="14313B"/>
                  </a:solidFill>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8C7CC"/>
            </a:solidFill>
          </a:ln>
        </c:spPr>
        <c:txPr>
          <a:bodyPr/>
          <a:lstStyle/>
          <a:p>
            <a:pPr>
              <a:defRPr sz="1300"/>
            </a:pPr>
          </a:p>
        </c:txPr>
        <c:crossAx val="2140495176"/>
        <c:crosses val="autoZero"/>
        <c:auto val="1"/>
        <c:lblAlgn val="ctr"/>
        <c:lblOffset val="100"/>
        <c:noMultiLvlLbl val="0"/>
      </c:catAx>
      <c:valAx>
        <c:axId val="2140495176"/>
        <c:scaling>
          <c:max val="5.5"/>
          <c:min val="1.5"/>
        </c:scaling>
        <c:delete val="0"/>
        <c:axPos val="l"/>
        <c:majorGridlines>
          <c:spPr>
            <a:ln>
              <a:solidFill>
                <a:srgbClr val="E3EEF1"/>
              </a:solidFill>
            </a:ln>
          </c:spPr>
        </c:majorGridlines>
        <c:numFmt formatCode="0.0" sourceLinked="0"/>
        <c:majorTickMark val="out"/>
        <c:minorTickMark val="none"/>
        <c:tickLblPos val="nextTo"/>
        <c:spPr>
          <a:ln>
            <a:noFill/>
          </a:ln>
        </c:spPr>
        <c:txPr>
          <a:bodyPr/>
          <a:lstStyle/>
          <a:p>
            <a:pPr>
              <a:defRPr sz="1200"/>
            </a:pPr>
          </a:p>
        </c:txPr>
        <c:crossAx val="2118791784"/>
        <c:crosses val="autoZero"/>
      </c:valAx>
    </c:plotArea>
    <c:plotVisOnly val="1"/>
    <c:dispBlanksAs val="gap"/>
    <c:showDLblsOverMax val="0"/>
  </c:chart>
  <c:txPr>
    <a:bodyPr/>
    <a:lstStyle/>
    <a:p>
      <a:pPr>
        <a:defRPr sz="1300">
          <a:solidFill>
            <a:srgbClr val="14313B"/>
          </a:solidFill>
          <a:latin typeface="Calibri (M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Wisatawan mancanegara (juta kunjungan)</c:v>
                </c:pt>
              </c:strCache>
            </c:strRef>
          </c:tx>
          <c:spPr>
            <a:solidFill>
              <a:srgbClr val="FFD23B"/>
            </a:solidFill>
          </c:spPr>
          <c:cat>
            <c:strRef>
              <c:f>Sheet1!$A$2:$A$7</c:f>
              <c:strCache>
                <c:ptCount val="6"/>
                <c:pt idx="0">
                  <c:v>2020</c:v>
                </c:pt>
                <c:pt idx="1">
                  <c:v>2021</c:v>
                </c:pt>
                <c:pt idx="2">
                  <c:v>2022</c:v>
                </c:pt>
                <c:pt idx="3">
                  <c:v>2023</c:v>
                </c:pt>
                <c:pt idx="4">
                  <c:v>2024</c:v>
                </c:pt>
                <c:pt idx="5">
                  <c:v>2025</c:v>
                </c:pt>
              </c:strCache>
            </c:strRef>
          </c:cat>
          <c:val>
            <c:numRef>
              <c:f>Sheet1!$B$2:$B$7</c:f>
              <c:numCache>
                <c:formatCode>General</c:formatCode>
                <c:ptCount val="6"/>
                <c:pt idx="0">
                  <c:v>4.1</c:v>
                </c:pt>
                <c:pt idx="1">
                  <c:v>1.6</c:v>
                </c:pt>
                <c:pt idx="2">
                  <c:v>5.9</c:v>
                </c:pt>
                <c:pt idx="3">
                  <c:v>11.7</c:v>
                </c:pt>
                <c:pt idx="4">
                  <c:v>13.9</c:v>
                </c:pt>
                <c:pt idx="5">
                  <c:v>15.4</c:v>
                </c:pt>
              </c:numCache>
            </c:numRef>
          </c:val>
        </c:ser>
        <c:ser>
          <c:idx val="1"/>
          <c:order val="1"/>
          <c:tx>
            <c:strRef>
              <c:f>Sheet1!$C$1</c:f>
              <c:strCache>
                <c:ptCount val="1"/>
                <c:pt idx="0">
                  <c:v>Wisatawan nusantara (juta perjalanan)</c:v>
                </c:pt>
              </c:strCache>
            </c:strRef>
          </c:tx>
          <c:spPr>
            <a:solidFill>
              <a:srgbClr val="39C0D3"/>
            </a:solidFill>
          </c:spPr>
          <c:cat>
            <c:strRef>
              <c:f>Sheet1!$A$2:$A$7</c:f>
              <c:strCache>
                <c:ptCount val="6"/>
                <c:pt idx="0">
                  <c:v>2020</c:v>
                </c:pt>
                <c:pt idx="1">
                  <c:v>2021</c:v>
                </c:pt>
                <c:pt idx="2">
                  <c:v>2022</c:v>
                </c:pt>
                <c:pt idx="3">
                  <c:v>2023</c:v>
                </c:pt>
                <c:pt idx="4">
                  <c:v>2024</c:v>
                </c:pt>
                <c:pt idx="5">
                  <c:v>2025</c:v>
                </c:pt>
              </c:strCache>
            </c:strRef>
          </c:cat>
          <c:val>
            <c:numRef>
              <c:f>Sheet1!$C$2:$C$7</c:f>
              <c:numCache>
                <c:formatCode>General</c:formatCode>
                <c:ptCount val="6"/>
                <c:pt idx="0">
                  <c:v>524.6</c:v>
                </c:pt>
                <c:pt idx="1">
                  <c:v>613.3</c:v>
                </c:pt>
                <c:pt idx="2">
                  <c:v>734.9</c:v>
                </c:pt>
                <c:pt idx="3">
                  <c:v>839.7</c:v>
                </c:pt>
                <c:pt idx="4">
                  <c:v>1021.1</c:v>
                </c:pt>
                <c:pt idx="5">
                  <c:v>1200.3</c:v>
                </c:pt>
              </c:numCache>
            </c:numRef>
          </c:val>
        </c:ser>
        <c:dLbls>
          <c:numFmt formatCode="#,##0.0" sourceLinked="0"/>
          <c:txPr>
            <a:bodyPr/>
            <a:lstStyle/>
            <a:p>
              <a:pPr>
                <a:defRPr sz="1200">
                  <a:solidFill>
                    <a:srgbClr val="14313B"/>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8C7CC"/>
            </a:solidFill>
          </a:ln>
        </c:spPr>
        <c:txPr>
          <a:bodyPr/>
          <a:lstStyle/>
          <a:p>
            <a:pPr>
              <a:defRPr sz="1200"/>
            </a:pPr>
          </a:p>
        </c:txPr>
        <c:crossAx val="-2113994440"/>
        <c:crosses val="autoZero"/>
        <c:auto val="1"/>
        <c:lblAlgn val="ctr"/>
        <c:lblOffset val="100"/>
        <c:noMultiLvlLbl val="0"/>
      </c:catAx>
      <c:valAx>
        <c:axId val="-2113994440"/>
        <c:scaling/>
        <c:delete val="0"/>
        <c:axPos val="l"/>
        <c:majorGridlines>
          <c:spPr>
            <a:ln>
              <a:solidFill>
                <a:srgbClr val="E3EEF1"/>
              </a:solidFill>
            </a:ln>
          </c:spPr>
        </c:majorGridlines>
        <c:majorTickMark val="out"/>
        <c:minorTickMark val="none"/>
        <c:tickLblPos val="nextTo"/>
        <c:spPr>
          <a:ln>
            <a:noFill/>
          </a:ln>
        </c:spPr>
        <c:txPr>
          <a:bodyPr/>
          <a:lstStyle/>
          <a:p>
            <a:pPr>
              <a:defRPr sz="1100"/>
            </a:pPr>
          </a:p>
        </c:txPr>
        <c:crossAx val="-2068027336"/>
        <c:crosses val="autoZero"/>
      </c:valAx>
    </c:plotArea>
    <c:legend>
      <c:legendPos val="t"/>
      <c:overlay val="0"/>
      <c:txPr>
        <a:bodyPr/>
        <a:lstStyle/>
        <a:p>
          <a:pPr>
            <a:defRPr sz="1200"/>
          </a:pPr>
        </a:p>
      </c:txPr>
    </c:legend>
    <c:dispBlanksAs val="gap"/>
  </c:chart>
  <c:txPr>
    <a:bodyPr/>
    <a:lstStyle/>
    <a:p>
      <a:pPr>
        <a:defRPr sz="1200">
          <a:solidFill>
            <a:srgbClr val="14313B"/>
          </a:solidFill>
          <a:latin typeface="Calibri (M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Jumlah wisatawan 2050 (juta)</c:v>
                </c:pt>
              </c:strCache>
            </c:strRef>
          </c:tx>
          <c:dPt>
            <c:idx val="0"/>
            <c:spPr>
              <a:solidFill>
                <a:srgbClr val="39C0D3"/>
              </a:solidFill>
            </c:spPr>
          </c:dPt>
          <c:dPt>
            <c:idx val="1"/>
            <c:spPr>
              <a:solidFill>
                <a:srgbClr val="39C0D3"/>
              </a:solidFill>
            </c:spPr>
          </c:dPt>
          <c:dPt>
            <c:idx val="2"/>
            <c:spPr>
              <a:solidFill>
                <a:srgbClr val="39C0D3"/>
              </a:solidFill>
            </c:spPr>
          </c:dPt>
          <c:dPt>
            <c:idx val="3"/>
            <c:spPr>
              <a:solidFill>
                <a:srgbClr val="39C0D3"/>
              </a:solidFill>
            </c:spPr>
          </c:dPt>
          <c:dPt>
            <c:idx val="4"/>
            <c:spPr>
              <a:solidFill>
                <a:srgbClr val="39C0D3"/>
              </a:solidFill>
            </c:spPr>
          </c:dPt>
          <c:dPt>
            <c:idx val="5"/>
            <c:spPr>
              <a:solidFill>
                <a:srgbClr val="E4604F"/>
              </a:solidFill>
            </c:spPr>
          </c:dPt>
          <c:dPt>
            <c:idx val="6"/>
            <c:spPr>
              <a:solidFill>
                <a:srgbClr val="5E6E78"/>
              </a:solidFill>
            </c:spPr>
          </c:dPt>
          <c:cat>
            <c:strRef>
              <c:f>Sheet1!$A$2:$A$8</c:f>
              <c:strCache>
                <c:ptCount val="7"/>
                <c:pt idx="0">
                  <c:v>Semua balancing loop dimatikan (hanya R1)</c:v>
                </c:pt>
                <c:pt idx="1">
                  <c:v>Goal-seeking tenaga kerja dimatikan</c:v>
                </c:pt>
                <c:pt idx="2">
                  <c:v>Okupansi akomodasi dimatikan</c:v>
                </c:pt>
                <c:pt idx="3">
                  <c:v>R2 ekonomi–atraksi dimatikan</c:v>
                </c:pt>
                <c:pt idx="4">
                  <c:v>Daya dukung lahan dimatikan</c:v>
                </c:pt>
                <c:pt idx="5">
                  <c:v>B1 kepadatan dimatikan</c:v>
                </c:pt>
                <c:pt idx="6">
                  <c:v>Simulasi dasar (semua loop aktif)</c:v>
                </c:pt>
              </c:strCache>
            </c:strRef>
          </c:cat>
          <c:val>
            <c:numRef>
              <c:f>Sheet1!$B$2:$B$8</c:f>
              <c:numCache>
                <c:formatCode>General</c:formatCode>
                <c:ptCount val="7"/>
                <c:pt idx="0">
                  <c:v>217.37</c:v>
                </c:pt>
                <c:pt idx="1">
                  <c:v>96.2</c:v>
                </c:pt>
                <c:pt idx="2">
                  <c:v>96.23</c:v>
                </c:pt>
                <c:pt idx="3">
                  <c:v>80.24</c:v>
                </c:pt>
                <c:pt idx="4">
                  <c:v>111.66</c:v>
                </c:pt>
                <c:pt idx="5">
                  <c:v>250.32</c:v>
                </c:pt>
                <c:pt idx="6">
                  <c:v>96.2</c:v>
                </c:pt>
              </c:numCache>
            </c:numRef>
          </c:val>
        </c:ser>
        <c:dLbls>
          <c:numFmt formatCode="0.0" sourceLinked="0"/>
          <c:txPr>
            <a:bodyPr/>
            <a:lstStyle/>
            <a:p>
              <a:pPr>
                <a:defRPr sz="1200">
                  <a:solidFill>
                    <a:srgbClr val="14313B"/>
                  </a:solidFill>
                </a:defRPr>
              </a:pPr>
            </a:p>
          </c:txPr>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B8C7CC"/>
            </a:solidFill>
          </a:ln>
        </c:spPr>
        <c:txPr>
          <a:bodyPr/>
          <a:lstStyle/>
          <a:p>
            <a:pPr>
              <a:defRPr sz="1200"/>
            </a:pPr>
          </a:p>
        </c:txPr>
        <c:crossAx val="-2113994440"/>
        <c:crosses val="autoZero"/>
        <c:auto val="1"/>
        <c:lblAlgn val="ctr"/>
        <c:lblOffset val="100"/>
        <c:noMultiLvlLbl val="0"/>
      </c:catAx>
      <c:valAx>
        <c:axId val="-2113994440"/>
        <c:scaling>
          <c:max val="300.0"/>
          <c:min val="0.0"/>
        </c:scaling>
        <c:delete val="0"/>
        <c:axPos val="b"/>
        <c:majorGridlines>
          <c:spPr>
            <a:ln>
              <a:solidFill>
                <a:srgbClr val="E3EEF1"/>
              </a:solidFill>
            </a:ln>
          </c:spPr>
        </c:majorGridlines>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14313B"/>
          </a:solidFill>
          <a:latin typeface="Calibri (M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Data mentah BPS</c:v>
                </c:pt>
              </c:strCache>
            </c:strRef>
          </c:tx>
          <c:spPr>
            <a:ln w="44450">
              <a:solidFill>
                <a:srgbClr val="5E6E78"/>
              </a:solidFill>
            </a:ln>
          </c:spPr>
          <c:marker>
            <c:size val="9"/>
            <c:spPr>
              <a:solidFill>
                <a:srgbClr val="5E6E78"/>
              </a:solidFill>
              <a:ln>
                <a:solidFill>
                  <a:srgbClr val="5E6E78"/>
                </a:solidFill>
              </a:ln>
            </c:spPr>
          </c:marker>
          <c:cat>
            <c:strRef>
              <c:f>Sheet1!$A$2:$A$5</c:f>
              <c:strCache>
                <c:ptCount val="4"/>
                <c:pt idx="0">
                  <c:v>2016</c:v>
                </c:pt>
                <c:pt idx="1">
                  <c:v>2017</c:v>
                </c:pt>
                <c:pt idx="2">
                  <c:v>2018</c:v>
                </c:pt>
                <c:pt idx="3">
                  <c:v>2019</c:v>
                </c:pt>
              </c:strCache>
            </c:strRef>
          </c:cat>
          <c:val>
            <c:numRef>
              <c:f>Sheet1!$B$2:$B$5</c:f>
              <c:numCache>
                <c:formatCode>General</c:formatCode>
                <c:ptCount val="4"/>
                <c:pt idx="0">
                  <c:v>6.551294</c:v>
                </c:pt>
                <c:pt idx="1">
                  <c:v>6.644412</c:v>
                </c:pt>
                <c:pt idx="2">
                  <c:v>7.996959</c:v>
                </c:pt>
                <c:pt idx="3">
                  <c:v>20.520104</c:v>
                </c:pt>
              </c:numCache>
            </c:numRef>
          </c:val>
          <c:smooth val="0"/>
        </c:ser>
        <c:ser>
          <c:idx val="1"/>
          <c:order val="1"/>
          <c:tx>
            <c:strRef>
              <c:f>Sheet1!$C$1</c:f>
              <c:strCache>
                <c:ptCount val="1"/>
                <c:pt idx="0">
                  <c:v>Data tersambung (×2,2997)</c:v>
                </c:pt>
              </c:strCache>
            </c:strRef>
          </c:tx>
          <c:spPr>
            <a:ln w="44450">
              <a:solidFill>
                <a:srgbClr val="39C0D3"/>
              </a:solidFill>
            </a:ln>
          </c:spPr>
          <c:marker>
            <c:size val="9"/>
            <c:spPr>
              <a:solidFill>
                <a:srgbClr val="39C0D3"/>
              </a:solidFill>
              <a:ln>
                <a:solidFill>
                  <a:srgbClr val="39C0D3"/>
                </a:solidFill>
              </a:ln>
            </c:spPr>
          </c:marker>
          <c:cat>
            <c:strRef>
              <c:f>Sheet1!$A$2:$A$5</c:f>
              <c:strCache>
                <c:ptCount val="4"/>
                <c:pt idx="0">
                  <c:v>2016</c:v>
                </c:pt>
                <c:pt idx="1">
                  <c:v>2017</c:v>
                </c:pt>
                <c:pt idx="2">
                  <c:v>2018</c:v>
                </c:pt>
                <c:pt idx="3">
                  <c:v>2019</c:v>
                </c:pt>
              </c:strCache>
            </c:strRef>
          </c:cat>
          <c:val>
            <c:numRef>
              <c:f>Sheet1!$C$2:$C$5</c:f>
              <c:numCache>
                <c:formatCode>General</c:formatCode>
                <c:ptCount val="4"/>
                <c:pt idx="0">
                  <c:v>15.066309</c:v>
                </c:pt>
                <c:pt idx="1">
                  <c:v>15.280457</c:v>
                </c:pt>
                <c:pt idx="2">
                  <c:v>18.390971</c:v>
                </c:pt>
                <c:pt idx="3">
                  <c:v>20.520104</c:v>
                </c:pt>
              </c:numCache>
            </c:numRef>
          </c:val>
          <c:smooth val="0"/>
        </c:ser>
        <c:dLbls>
          <c:numFmt formatCode="0.0" sourceLinked="0"/>
          <c:txPr>
            <a:bodyPr/>
            <a:lstStyle/>
            <a:p>
              <a:pPr>
                <a:defRPr sz="1300">
                  <a:solidFill>
                    <a:srgbClr val="14313B"/>
                  </a:solidFill>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8C7CC"/>
            </a:solidFill>
          </a:ln>
        </c:spPr>
        <c:txPr>
          <a:bodyPr/>
          <a:lstStyle/>
          <a:p>
            <a:pPr>
              <a:defRPr sz="1300"/>
            </a:pPr>
          </a:p>
        </c:txPr>
        <c:crossAx val="2140495176"/>
        <c:crosses val="autoZero"/>
        <c:auto val="1"/>
        <c:lblAlgn val="ctr"/>
        <c:lblOffset val="100"/>
        <c:noMultiLvlLbl val="0"/>
      </c:catAx>
      <c:valAx>
        <c:axId val="2140495176"/>
        <c:scaling>
          <c:max val="25.0"/>
          <c:min val="0.0"/>
        </c:scaling>
        <c:delete val="0"/>
        <c:axPos val="l"/>
        <c:majorGridlines>
          <c:spPr>
            <a:ln>
              <a:solidFill>
                <a:srgbClr val="E3EEF1"/>
              </a:solidFill>
            </a:ln>
          </c:spPr>
        </c:majorGridlines>
        <c:majorTickMark val="out"/>
        <c:minorTickMark val="none"/>
        <c:tickLblPos val="nextTo"/>
        <c:spPr>
          <a:ln>
            <a:noFill/>
          </a:ln>
        </c:spPr>
        <c:txPr>
          <a:bodyPr/>
          <a:lstStyle/>
          <a:p>
            <a:pPr>
              <a:defRPr sz="1200"/>
            </a:pPr>
          </a:p>
        </c:txPr>
        <c:crossAx val="2118791784"/>
        <c:crosses val="autoZero"/>
      </c:valAx>
    </c:plotArea>
    <c:legend>
      <c:legendPos val="t"/>
      <c:layout/>
      <c:overlay val="0"/>
      <c:txPr>
        <a:bodyPr/>
        <a:lstStyle/>
        <a:p>
          <a:pPr>
            <a:defRPr sz="1300"/>
          </a:pPr>
        </a:p>
      </c:txPr>
    </c:legend>
    <c:plotVisOnly val="1"/>
    <c:dispBlanksAs val="gap"/>
    <c:showDLblsOverMax val="0"/>
  </c:chart>
  <c:txPr>
    <a:bodyPr/>
    <a:lstStyle/>
    <a:p>
      <a:pPr>
        <a:defRPr sz="1300">
          <a:solidFill>
            <a:srgbClr val="14313B"/>
          </a:solidFill>
          <a:latin typeface="Calibri (MS)"/>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Uji parsial</c:v>
                </c:pt>
              </c:strCache>
            </c:strRef>
          </c:tx>
          <c:spPr>
            <a:solidFill>
              <a:srgbClr val="39C0D3"/>
            </a:solidFill>
          </c:spPr>
          <c:cat>
            <c:strRef>
              <c:f>Sheet1!$A$2:$A$6</c:f>
              <c:strCache>
                <c:ptCount val="5"/>
                <c:pt idx="0">
                  <c:v>Jumlah hotel</c:v>
                </c:pt>
                <c:pt idx="1">
                  <c:v>Jumlah ODTW</c:v>
                </c:pt>
                <c:pt idx="2">
                  <c:v>Tenaga kerja</c:v>
                </c:pt>
                <c:pt idx="3">
                  <c:v>Lahan terbangun</c:v>
                </c:pt>
                <c:pt idx="4">
                  <c:v>TPK</c:v>
                </c:pt>
              </c:strCache>
            </c:strRef>
          </c:cat>
          <c:val>
            <c:numRef>
              <c:f>Sheet1!$B$2:$B$6</c:f>
              <c:numCache>
                <c:formatCode>General</c:formatCode>
                <c:ptCount val="5"/>
                <c:pt idx="0">
                  <c:v>0.2011</c:v>
                </c:pt>
                <c:pt idx="1">
                  <c:v>0.3367</c:v>
                </c:pt>
                <c:pt idx="2">
                  <c:v>0.4945</c:v>
                </c:pt>
                <c:pt idx="3">
                  <c:v>0.4813</c:v>
                </c:pt>
                <c:pt idx="4">
                  <c:v>0.6692</c:v>
                </c:pt>
              </c:numCache>
            </c:numRef>
          </c:val>
        </c:ser>
        <c:ser>
          <c:idx val="1"/>
          <c:order val="1"/>
          <c:tx>
            <c:strRef>
              <c:f>Sheet1!$C$1</c:f>
              <c:strCache>
                <c:ptCount val="1"/>
                <c:pt idx="0">
                  <c:v>Uji penuh</c:v>
                </c:pt>
              </c:strCache>
            </c:strRef>
          </c:tx>
          <c:spPr>
            <a:solidFill>
              <a:srgbClr val="0B5E6E"/>
            </a:solidFill>
          </c:spPr>
          <c:cat>
            <c:strRef>
              <c:f>Sheet1!$A$2:$A$6</c:f>
              <c:strCache>
                <c:ptCount val="5"/>
                <c:pt idx="0">
                  <c:v>Jumlah hotel</c:v>
                </c:pt>
                <c:pt idx="1">
                  <c:v>Jumlah ODTW</c:v>
                </c:pt>
                <c:pt idx="2">
                  <c:v>Tenaga kerja</c:v>
                </c:pt>
                <c:pt idx="3">
                  <c:v>Lahan terbangun</c:v>
                </c:pt>
                <c:pt idx="4">
                  <c:v>TPK</c:v>
                </c:pt>
              </c:strCache>
            </c:strRef>
          </c:cat>
          <c:val>
            <c:numRef>
              <c:f>Sheet1!$C$2:$C$6</c:f>
              <c:numCache>
                <c:formatCode>General</c:formatCode>
                <c:ptCount val="5"/>
                <c:pt idx="0">
                  <c:v>0.8228</c:v>
                </c:pt>
                <c:pt idx="1">
                  <c:v>0.7855</c:v>
                </c:pt>
                <c:pt idx="2">
                  <c:v>0.886</c:v>
                </c:pt>
                <c:pt idx="3">
                  <c:v>0.6619</c:v>
                </c:pt>
                <c:pt idx="4">
                  <c:v>0.6224</c:v>
                </c:pt>
              </c:numCache>
            </c:numRef>
          </c:val>
        </c:ser>
        <c:dLbls>
          <c:numFmt formatCode="0.00" sourceLinked="0"/>
          <c:txPr>
            <a:bodyPr/>
            <a:lstStyle/>
            <a:p>
              <a:pPr>
                <a:defRPr sz="1300">
                  <a:solidFill>
                    <a:srgbClr val="14313B"/>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B8C7CC"/>
            </a:solidFill>
          </a:ln>
        </c:spPr>
        <c:txPr>
          <a:bodyPr/>
          <a:lstStyle/>
          <a:p>
            <a:pPr>
              <a:defRPr sz="1300"/>
            </a:pPr>
          </a:p>
        </c:txPr>
        <c:crossAx val="-2113994440"/>
        <c:crosses val="autoZero"/>
        <c:auto val="1"/>
        <c:lblAlgn val="ctr"/>
        <c:lblOffset val="100"/>
        <c:noMultiLvlLbl val="0"/>
      </c:catAx>
      <c:valAx>
        <c:axId val="-2113994440"/>
        <c:scaling>
          <c:max val="1.0"/>
          <c:min val="0.0"/>
        </c:scaling>
        <c:delete val="0"/>
        <c:axPos val="l"/>
        <c:majorGridlines>
          <c:spPr>
            <a:ln>
              <a:solidFill>
                <a:srgbClr val="E3EEF1"/>
              </a:solidFill>
            </a:ln>
          </c:spPr>
        </c:majorGridlines>
        <c:majorTickMark val="out"/>
        <c:minorTickMark val="none"/>
        <c:tickLblPos val="nextTo"/>
        <c:spPr>
          <a:ln>
            <a:noFill/>
          </a:ln>
        </c:spPr>
        <c:txPr>
          <a:bodyPr/>
          <a:lstStyle/>
          <a:p>
            <a:pPr>
              <a:defRPr sz="1200"/>
            </a:pPr>
          </a:p>
        </c:txPr>
        <c:crossAx val="-2068027336"/>
        <c:crosses val="autoZero"/>
      </c:valAx>
    </c:plotArea>
    <c:legend>
      <c:legendPos val="t"/>
      <c:overlay val="0"/>
      <c:txPr>
        <a:bodyPr/>
        <a:lstStyle/>
        <a:p>
          <a:pPr>
            <a:defRPr sz="1300"/>
          </a:pPr>
        </a:p>
      </c:txPr>
    </c:legend>
    <c:dispBlanksAs val="gap"/>
  </c:chart>
  <c:txPr>
    <a:bodyPr/>
    <a:lstStyle/>
    <a:p>
      <a:pPr>
        <a:defRPr sz="1300">
          <a:solidFill>
            <a:srgbClr val="14313B"/>
          </a:solidFill>
          <a:latin typeface="Calibri (MS)"/>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Pengaruh maksimum (%)</c:v>
                </c:pt>
              </c:strCache>
            </c:strRef>
          </c:tx>
          <c:dPt>
            <c:idx val="0"/>
            <c:spPr>
              <a:solidFill>
                <a:srgbClr val="8A9BA3"/>
              </a:solidFill>
            </c:spPr>
          </c:dPt>
          <c:dPt>
            <c:idx val="1"/>
            <c:spPr>
              <a:solidFill>
                <a:srgbClr val="9EDCE6"/>
              </a:solidFill>
            </c:spPr>
          </c:dPt>
          <c:dPt>
            <c:idx val="2"/>
            <c:spPr>
              <a:solidFill>
                <a:srgbClr val="0B5E6E"/>
              </a:solidFill>
            </c:spPr>
          </c:dPt>
          <c:dPt>
            <c:idx val="3"/>
            <c:spPr>
              <a:solidFill>
                <a:srgbClr val="9EDCE6"/>
              </a:solidFill>
            </c:spPr>
          </c:dPt>
          <c:dPt>
            <c:idx val="4"/>
            <c:spPr>
              <a:solidFill>
                <a:srgbClr val="FFD23B"/>
              </a:solidFill>
            </c:spPr>
          </c:dPt>
          <c:dPt>
            <c:idx val="5"/>
            <c:spPr>
              <a:solidFill>
                <a:srgbClr val="FFD23B"/>
              </a:solidFill>
            </c:spPr>
          </c:dPt>
          <c:dPt>
            <c:idx val="6"/>
            <c:spPr>
              <a:solidFill>
                <a:srgbClr val="9EDCE6"/>
              </a:solidFill>
            </c:spPr>
          </c:dPt>
          <c:dPt>
            <c:idx val="7"/>
            <c:spPr>
              <a:solidFill>
                <a:srgbClr val="FFD23B"/>
              </a:solidFill>
            </c:spPr>
          </c:dPt>
          <c:cat>
            <c:strRef>
              <c:f>Sheet1!$A$2:$A$9</c:f>
              <c:strCache>
                <c:ptCount val="8"/>
                <c:pt idx="0">
                  <c:v>Sensitivitas ODTW thd investasi</c:v>
                </c:pt>
                <c:pt idx="1">
                  <c:v>ODTW referensi</c:v>
                </c:pt>
                <c:pt idx="2">
                  <c:v>Laju pertumbuhan eksternal</c:v>
                </c:pt>
                <c:pt idx="3">
                  <c:v>RDDL referensi</c:v>
                </c:pt>
                <c:pt idx="4">
                  <c:v>Bobot ODTW</c:v>
                </c:pt>
                <c:pt idx="5">
                  <c:v>Bobot kepadatan</c:v>
                </c:pt>
                <c:pt idx="6">
                  <c:v>Kepadatan referensi</c:v>
                </c:pt>
                <c:pt idx="7">
                  <c:v>Laju penurunan dasar</c:v>
                </c:pt>
              </c:strCache>
            </c:strRef>
          </c:cat>
          <c:val>
            <c:numRef>
              <c:f>Sheet1!$B$2:$B$9</c:f>
              <c:numCache>
                <c:formatCode>General</c:formatCode>
                <c:ptCount val="8"/>
                <c:pt idx="0">
                  <c:v>2.57</c:v>
                </c:pt>
                <c:pt idx="1">
                  <c:v>3.54</c:v>
                </c:pt>
                <c:pt idx="2">
                  <c:v>5.06</c:v>
                </c:pt>
                <c:pt idx="3">
                  <c:v>5.09</c:v>
                </c:pt>
                <c:pt idx="4">
                  <c:v>7.27</c:v>
                </c:pt>
                <c:pt idx="5">
                  <c:v>7.49</c:v>
                </c:pt>
                <c:pt idx="6">
                  <c:v>8.61</c:v>
                </c:pt>
                <c:pt idx="7">
                  <c:v>42.07</c:v>
                </c:pt>
              </c:numCache>
            </c:numRef>
          </c:val>
        </c:ser>
        <c:dLbls>
          <c:numFmt formatCode="0.00&quot;%&quot;" sourceLinked="0"/>
          <c:txPr>
            <a:bodyPr/>
            <a:lstStyle/>
            <a:p>
              <a:pPr>
                <a:defRPr sz="1200">
                  <a:solidFill>
                    <a:srgbClr val="14313B"/>
                  </a:solidFill>
                </a:defRPr>
              </a:pPr>
            </a:p>
          </c:txPr>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B8C7CC"/>
            </a:solidFill>
          </a:ln>
        </c:spPr>
        <c:txPr>
          <a:bodyPr/>
          <a:lstStyle/>
          <a:p>
            <a:pPr>
              <a:defRPr sz="1200"/>
            </a:pPr>
          </a:p>
        </c:txPr>
        <c:crossAx val="-2113994440"/>
        <c:crosses val="autoZero"/>
        <c:auto val="1"/>
        <c:lblAlgn val="ctr"/>
        <c:lblOffset val="100"/>
        <c:noMultiLvlLbl val="0"/>
      </c:catAx>
      <c:valAx>
        <c:axId val="-2113994440"/>
        <c:scaling>
          <c:max val="50.0"/>
          <c:min val="0.0"/>
        </c:scaling>
        <c:delete val="0"/>
        <c:axPos val="b"/>
        <c:majorGridlines>
          <c:spPr>
            <a:ln>
              <a:solidFill>
                <a:srgbClr val="E3EEF1"/>
              </a:solidFill>
            </a:ln>
          </c:spPr>
        </c:majorGridlines>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14313B"/>
          </a:solidFill>
          <a:latin typeface="Calibri (MS)"/>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Skor SUS</c:v>
                </c:pt>
              </c:strCache>
            </c:strRef>
          </c:tx>
          <c:dPt>
            <c:idx val="0"/>
            <c:spPr>
              <a:solidFill>
                <a:srgbClr val="39C0D3"/>
              </a:solidFill>
            </c:spPr>
          </c:dPt>
          <c:dPt>
            <c:idx val="1"/>
            <c:spPr>
              <a:solidFill>
                <a:srgbClr val="39C0D3"/>
              </a:solidFill>
            </c:spPr>
          </c:dPt>
          <c:dPt>
            <c:idx val="2"/>
            <c:spPr>
              <a:solidFill>
                <a:srgbClr val="39C0D3"/>
              </a:solidFill>
            </c:spPr>
          </c:dPt>
          <c:dPt>
            <c:idx val="3"/>
            <c:spPr>
              <a:solidFill>
                <a:srgbClr val="39C0D3"/>
              </a:solidFill>
            </c:spPr>
          </c:dPt>
          <c:dPt>
            <c:idx val="4"/>
            <c:spPr>
              <a:solidFill>
                <a:srgbClr val="39C0D3"/>
              </a:solidFill>
            </c:spPr>
          </c:dPt>
          <c:dPt>
            <c:idx val="5"/>
            <c:spPr>
              <a:solidFill>
                <a:srgbClr val="39C0D3"/>
              </a:solidFill>
            </c:spPr>
          </c:dPt>
          <c:dPt>
            <c:idx val="6"/>
            <c:spPr>
              <a:solidFill>
                <a:srgbClr val="39C0D3"/>
              </a:solidFill>
            </c:spPr>
          </c:dPt>
          <c:dPt>
            <c:idx val="7"/>
            <c:spPr>
              <a:solidFill>
                <a:srgbClr val="E4604F"/>
              </a:solidFill>
            </c:spPr>
          </c:dPt>
          <c:dPt>
            <c:idx val="8"/>
            <c:spPr>
              <a:solidFill>
                <a:srgbClr val="39C0D3"/>
              </a:solidFill>
            </c:spPr>
          </c:dPt>
          <c:dPt>
            <c:idx val="9"/>
            <c:spPr>
              <a:solidFill>
                <a:srgbClr val="39C0D3"/>
              </a:solidFill>
            </c:spPr>
          </c:dPt>
          <c:cat>
            <c:strRef>
              <c:f>Sheet1!$A$2:$A$11</c:f>
              <c:strCache>
                <c:ptCount val="10"/>
                <c:pt idx="0">
                  <c:v>R1</c:v>
                </c:pt>
                <c:pt idx="1">
                  <c:v>R2</c:v>
                </c:pt>
                <c:pt idx="2">
                  <c:v>R3</c:v>
                </c:pt>
                <c:pt idx="3">
                  <c:v>R4</c:v>
                </c:pt>
                <c:pt idx="4">
                  <c:v>R5</c:v>
                </c:pt>
                <c:pt idx="5">
                  <c:v>R6</c:v>
                </c:pt>
                <c:pt idx="6">
                  <c:v>R7</c:v>
                </c:pt>
                <c:pt idx="7">
                  <c:v>R8</c:v>
                </c:pt>
                <c:pt idx="8">
                  <c:v>R9</c:v>
                </c:pt>
                <c:pt idx="9">
                  <c:v>R10</c:v>
                </c:pt>
              </c:strCache>
            </c:strRef>
          </c:cat>
          <c:val>
            <c:numRef>
              <c:f>Sheet1!$B$2:$B$11</c:f>
              <c:numCache>
                <c:formatCode>General</c:formatCode>
                <c:ptCount val="10"/>
                <c:pt idx="0">
                  <c:v>97.5</c:v>
                </c:pt>
                <c:pt idx="1">
                  <c:v>87.5</c:v>
                </c:pt>
                <c:pt idx="2">
                  <c:v>100</c:v>
                </c:pt>
                <c:pt idx="3">
                  <c:v>100</c:v>
                </c:pt>
                <c:pt idx="4">
                  <c:v>85</c:v>
                </c:pt>
                <c:pt idx="5">
                  <c:v>87.5</c:v>
                </c:pt>
                <c:pt idx="6">
                  <c:v>97.5</c:v>
                </c:pt>
                <c:pt idx="7">
                  <c:v>60</c:v>
                </c:pt>
                <c:pt idx="8">
                  <c:v>70</c:v>
                </c:pt>
                <c:pt idx="9">
                  <c:v>100</c:v>
                </c:pt>
              </c:numCache>
            </c:numRef>
          </c:val>
        </c:ser>
        <c:dLbls>
          <c:numFmt formatCode="0.0" sourceLinked="0"/>
          <c:txPr>
            <a:bodyPr/>
            <a:lstStyle/>
            <a:p>
              <a:pPr>
                <a:defRPr sz="1200">
                  <a:solidFill>
                    <a:srgbClr val="14313B"/>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B8C7CC"/>
            </a:solidFill>
          </a:ln>
        </c:spPr>
        <c:txPr>
          <a:bodyPr/>
          <a:lstStyle/>
          <a:p>
            <a:pPr>
              <a:defRPr sz="1200"/>
            </a:pPr>
          </a:p>
        </c:txPr>
        <c:crossAx val="-2113994440"/>
        <c:crosses val="autoZero"/>
        <c:auto val="1"/>
        <c:lblAlgn val="ctr"/>
        <c:lblOffset val="100"/>
        <c:noMultiLvlLbl val="0"/>
      </c:catAx>
      <c:valAx>
        <c:axId val="-2113994440"/>
        <c:scaling>
          <c:max val="110.0"/>
          <c:min val="0.0"/>
        </c:scaling>
        <c:delete val="0"/>
        <c:axPos val="l"/>
        <c:majorGridlines>
          <c:spPr>
            <a:ln>
              <a:solidFill>
                <a:srgbClr val="E3EEF1"/>
              </a:solidFill>
            </a:ln>
          </c:spPr>
        </c:majorGridlines>
        <c:majorTickMark val="out"/>
        <c:minorTickMark val="none"/>
        <c:tickLblPos val="nextTo"/>
        <c:spPr>
          <a:ln>
            <a:noFill/>
          </a:ln>
        </c:spPr>
        <c:txPr>
          <a:bodyPr/>
          <a:lstStyle/>
          <a:p>
            <a:pPr>
              <a:defRPr sz="1100"/>
            </a:pPr>
          </a:p>
        </c:txPr>
        <c:crossAx val="-2068027336"/>
        <c:crosses val="autoZero"/>
        <c:majorUnit val="20.0"/>
      </c:valAx>
    </c:plotArea>
    <c:dispBlanksAs val="gap"/>
  </c:chart>
  <c:txPr>
    <a:bodyPr/>
    <a:lstStyle/>
    <a:p>
      <a:pPr>
        <a:defRPr sz="1200">
          <a:solidFill>
            <a:srgbClr val="14313B"/>
          </a:solidFill>
          <a:latin typeface="Calibri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Salam dan perkenalan. Judul: Perancangan Aplikasi Simulasi Kebijakan Pariwisata Menggunakan Sistem Dinamis dengan Integrasi Data Citra Satelit, studi kasus Provinsi DIY. Sebutkan dosen pembimbing dan dua dosen penguji.</a:t>
            </a:r>
          </a:p>
          <a:p>
            <a:r>
              <a:rPr lang="en-US"/>
              <a:t>1</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Paparan mengikuti tiga tujuan penelitian, bukan urutan bab. Setelah pendahuluan dan fondasi metodologi (data, enam tahap, preprocessing), setiap tujuan dibahas dengan pola metode, hasil, makna, lalu ditutup slide ringkasan hasil tujuan. Lampiran disiapkan untuk tanya jawab.</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Pariwisata global mencapai sekitar 1,53 miliar wisatawan internasional pada 2025 dan menyumbang 10% PDB global (2024). Proyeksi lima tahun menempatkan Travel &amp; Tourism sebagai sektor dengan laju pertumbuhan nilai tambah bruto tertinggi (CAGR 3,6%). Di Indonesia, kontribusi terhadap PDB naik dari 2,2% (2020) menjadi 4% (2024), dan kunjungan wisman 2025 mencapai 15,38 juta, naik 10,8%.</a:t>
            </a:r>
          </a:p>
          <a:p>
            <a:r>
              <a:rPr lang="en-US"/>
              <a:t>3</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Kontribusi pariwisata terhadap PDB Indonesia naik dari 2,2 persen pada 2020 menjadi 4 persen pada 2024 dan 4,9 persen pada 2025 (Kementerian Pariwisata). Di sisi permintaan, perjalanan wisatawan nusantara naik dari 524,6 juta pada 2020 menjadi 1.200,3 juta pada 2025, dan kunjungan wisman pulih dari 1,6 juta pada 2021 menjadi 15,4 juta pada 2025. Pesannya: pariwisata pulih cepat pascapandemi dan menjadi prioritas nasional, sehingga perencanaannya butuh alat yang mampu menangkap pertumbuhan jangka panjang. (±45 detik)</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DIY menerima lebih dari 40 juta perjalanan wisatawan nusantara pada 2025 (peringkat ketujuh nasional). Proporsi perjalanan antarprovinsi menuju DIY 59,69%, urutan kedua setelah DKI Jakarta. DIY peringkat satu nasional pada sub-indeks Travel and Tourism Demand Drivers IPKN 2024. Pariwisata adalah sektor prioritas kedua setelah pendidikan dalam RPJMD 2012-2025, dan kawasan Borobudur-Yogyakarta-Prambanan ditetapkan sebagai destinasi pariwisata prioritas melalui Perpres 88/2024.</a:t>
            </a:r>
          </a:p>
          <a:p>
            <a:r>
              <a:rPr lang="en-US"/>
              <a:t>4</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Pariwisata adalah sistem yang kompleks: permintaan, akomodasi, objek daya tarik, tenaga kerja, nilai tambah, dan lahan saling berinteraksi secara non-linear dan dengan jeda waktu (Mai &amp; Smith, 2018). Tekanannya nyata, misalnya kepadatan di koridor Malioboro dan konversi lahan terbangun. Karena itu keterkaitan antarkomponen, bukan komponen secara terpisah, yang menentukan apakah pertumbuhan berkelanjutan.</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Metode kuantitatif umum seperti ARIMA, exponential smoothing, VECM, regresi, dan machine learning andal untuk memproyeksikan satu atau beberapa variabel, tetapi memperlakukan variabel secara parsial tanpa feedback loop, akumulasi, dan keterkaitan antara permintaan, kapasitas, dan daya dukung. Sistem dinamis dirancang untuk memahami perilaku sistem kompleks melalui stocks, flows, feedback loop, dan delays, sehingga kebijakan dapat diuji secara virtual (Sterman, 2000). Mai &amp; Smith (2018) di Cat Ba Island menemukan limits to growth tanpa intervensi; pendekatan serupa dipakai di Labuan Bajo dan Saba Budaya Baduy.</a:t>
            </a:r>
          </a:p>
          <a:p>
            <a:r>
              <a:rPr lang="en-US"/>
              <a:t>6</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Tujuan umum: mengembangkan dan memvalidasi model sistem dinamis pariwisata yang terintegrasi dengan citra satelit untuk pemutakhiran data, guna mendukung simulasi kebijakan pariwisata di DIY. Tiga masalah: belum ada variabel penyusun CLD; belum ada model simulasi tervalidasi yang memakai citra satelit dan statistik resmi; belum ada aplikasi web pendukung keputusan. Tiap masalah dijawab satu tujuan operasional.</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Lima batasan penelitian. Wilayah DIY dengan data historis 2015-2025 dan tahun dasar 2025 sampai 2050. Struktur dibatasi pada lima stok inti dan tidak memuat guncangan eksternal, harga, promosi, dan musim. Citra satelit hanya estimator untuk lahan terbangun dan jumlah ODTW. Skenario dibatasi pada dua tuas, disusun dari analisis sensitivitas dan dokumen kebijakan tanpa lokakarya pemangku kepentingan. Model dipakai untuk membandingkan arah dan besaran relatif antarskenario, bukan meramalkan angka absolut.</a:t>
            </a:r>
          </a:p>
          <a:p>
            <a:r>
              <a:rPr lang="en-US"/>
              <a:t>9</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Dari sembilan studi sistem dinamis pariwisata yang ditinjau, semuanya bergantung pada data statistik agregat sebagai satu-satunya input dan tidak ada yang menghasilkan aplikasi web. Penelitian ini memadukan statistik resmi, data citra satelit, dan aplikasi web sekaligus, di Provinsi DIY. Tiga kebaruan: integrasi sistem dinamis dengan data spasial multi-temporal, DIY sebagai lokasi yang belum dimodelkan dengan pendekatan terpadu ini, dan implementasi tiga skenario dalam aplikasi web decision support tool.</a:t>
            </a:r>
          </a:p>
          <a:p>
            <a:r>
              <a:rPr lang="en-US"/>
              <a:t>10</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Kerangka pikir menghubungkan masalah, tujuan, metode, dan keluaran. Masalah satu dijawab dengan identifikasi variabel dan penyusunan CLD serta SFD. Masalah dua dijawab dengan integrasi citra satelit, pengujian struktur dan perilaku, kalibrasi, analisis sensitivitas, dan simulasi skenario. Masalah tiga dijawab dengan implementasi aplikasi web yang dievaluasi dengan black-box testing dan SUS.</a:t>
            </a:r>
          </a:p>
          <a:p>
            <a:r>
              <a:rPr lang="en-US"/>
              <a:t>11</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Data historis 2015-2025 tahunan mengikuti ketersediaan statistik resmi tingkat provinsi. Tahun dasar 2025, horizon proyeksi 2050, langkah waktu satu tahun. Wilayah studi DIY terdiri atas lima kabupaten/kota seluas 317.036 hektare. Data dikelompokkan dalam enam kelompok dan bersumber dari BPS (nasional dan DIY), Kementerian Investasi/BKPM, serta hasil pengolahan citra satelit melalui Google Earth Engine.</a:t>
            </a:r>
          </a:p>
          <a:p>
            <a:r>
              <a:rPr lang="en-US"/>
              <a:t>12</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Kerangka mengadaptasi lima tahap Mai &amp; Smith (2018): identifikasi masalah, formulasi hipotesis dinamis, formulasi model, pengujian model, serta perancangan dan evaluasi kebijakan. Diperluas satu tahap di awal (pengumpulan dan preprocessing data) dan satu di akhir (implementasi aplikasi web), serta satu perluasan metodologis: tahap kalibrasi di antara uji perilaku dan analisis sensitivitas (Oliva, 2003; Homer, 2012). Alat: Google Earth Engine, Vensim PLE, Python dengan PySD, Excel/Google Sheets, SDEverywhere, dan Next.js.</a:t>
            </a:r>
          </a:p>
          <a:p>
            <a:r>
              <a:rPr lang="en-US"/>
              <a:t>13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 historis 2015-2025 tahunan mengikuti ketersediaan statistik resmi tingkat provinsi. Tahun dasar 2025, horizon proyeksi 2050, langkah waktu satu tahun. Wilayah studi DIY terdiri atas lima kabupaten/kota seluas 317.036 hektare. Data dikelompokkan dalam enam kelompok dan bersumber dari BPS (nasional dan DIY), Kementerian Investasi/BKPM, serta hasil pengolahan citra satelit melalui Google Earth Engine.</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Sebelum pemodelan ada empat ketidakteraturan data. Patahan metode wisnus 2018 ke 2019 disambung dengan faktor 2,2997 hanya untuk uji P5. Lahan 2015 diekstrapolasi dan tidak dipakai menurunkan parameter. Lonjakan akomodasi 2018 dipertahankan karena tidak ada dasar koreksi. Tahun pandemi tetap disimulasikan dan statistik dilaporkan dua versi. Semua perlakuan ditetapkan sebelum model dijalankan.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Tujuan 1: mengidentifikasi dan merumuskan variabel penyusun CLD. Alurnya metode identifikasi, evaluasi kandidat, hubungan kausal, CLD, dan batas model.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Variabel tidak diambil mentah dari Mai dan Smith. Model rujukan hanya titik awal, lalu dikontekstualisasi dengan UU 10/2009, RIPPARDA, Renja Dispar, Renstra Kemenpar, dan IPKN, didukung literatur per mekanisme, lalu dievaluasi dengan enam kriteria pada empat tingkat.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Slide ini menjawab Tujuan 1. Kandidat variabel berangkat dari model Mai dan Smith (2018), lalu dikontekstualisasikan dengan RIPPARDA DIY, Renja Dinas Pariwisata DIY 2025, indikator resmi, dan literatur. Lima belas kandidat dari enam subsistem dievaluasi dan seluruhnya dipertahankan karena punya fungsi struktural. Delapan belas hubungan kausal dinilai dari arah pengaruh, mekanisme, dan jenis dukungannya; hubungan yang didukung literatur substantif dibedakan dari yang berasal dari identitas stok-aliran. Satu keputusan penting: hubungan langsung tenaga kerja ke pembangunan ODTW dibuang karena tidak ada dasar kausal memadai, sehingga tenaga kerja menjadi indikator keluaran. Jadi CLD final adalah hasil adaptasi dan evaluasi, bukan replikasi. (±1 menit)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Delapan belas hubungan kausal dievaluasi. Yang penting: dasarnya dibedakan. Ada yang didukung literatur substantif, ada yang berupa identitas atau operasionalisasi model. Dukungan konseptual tidak dipakai sebagai dasar nilai parameter. Hubungan tenaga kerja ke pembangunan ODTW dibuang.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CLD final dibangun dari kandidat variabel yang dievaluasi terhadap regulasi, dokumen perencanaan, dan literatur. Ada dua loop penguat (R1 pertumbuhan wisatawan, R2 ekonomi-investasi-atraksi) dan empat loop penyeimbang (B1 kepadatan, B2 daya dukung lahan, B3 kapasitas kamar, B4 penyesuaian tenaga kerja). Hubungan yang hanya asosiasi tanpa dasar kausal tidak dipertahankan; salah satunya hubungan langsung tenaga kerja ke pembangunan ODTW.</a:t>
            </a:r>
          </a:p>
          <a:p>
            <a:r>
              <a:rPr lang="en-US"/>
              <a:t>17</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Batas model menetapkan apa yang boleh dan tidak boleh ditafsirkan: 26 variabel endogen, 35 parameter eksogen, dan 15 aspek yang dikeluarkan, misalnya harga, promosi, musim, dan guncangan. Konsekuensinya dicatat agar hasil tidak dibaca di luar ranahnya.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Jawaban Tujuan 1: 15 variabel kunci dari enam subsistem, 18 hubungan kausal, enam loop, dan batas model eksplisit. CLD ini menjadi masukan langsung Tujuan 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Tujuan 2 adalah bagian terbesar: integrasi citra satelit, formulasi, parameterisasi, uji struktur, uji perilaku dan kalibrasi, sensitivitas, lalu simulasi skenario kebijakan sebagai pemakaian model.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Citra satelit dipakai untuk dua variabel yang datanya tidak lengkap, dan perannya hanya memutakhirkan data. Pertama, ODTW: BPS hanya menerbitkan 2018–2024; kekosongan 2015–2017 dan 2025 diisi regresi linear ODTW = 121,61 + 34,59 × NTL dari VIIRS, menghasilkan stok awal 201 unit. Kedua, lahan terbangun: luas kelas built Dynamic World 2016–2025 diagregasi langsung tanpa regresi; 2015 diekstrapolasi log-linear dan tidak dipakai menurunkan parameter; stok awal 55.029,54 ha. Kelayakan NTL dinilai dari R² selisih tahunan minimal 0,30 dan RMSE relatif LOOCV maksimal 10 persen; Dynamic World diuji akurasinya pada 200 titik. Tahapan dan rumus evaluasinya dijelaskan pada dua slide berikutnya. (±45 detik)</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Ini tahapan estimasi ODTW dari cahaya malam. Langkah satu sampai empat dikerjakan di Google Earth Engine: menetapkan batas DIY, memanggil komposit bulanan VIIRS 2015–2025, merata-ratakannya menjadi komposit tahunan, lalu mengambil rata-rata zonal seluruh piksel sehingga diperoleh satu nilai NTL per tahun. Langkah lima, NTL dipasangkan dengan ODTW BPS 2018–2024 dan diregresikan secara linear: ODTW = 121,61 + 34,59 × NTL. Langkah enam, kelayakan diuji dengan korelasi selisih tahunan dan LOOCV; keduanya lolos. Langkah tujuh, model final dilatih pada ketujuh titik dan dipakai mengisi 2015–2017 serta 2025 beserta selang prediksi 95 persen; estimasi 2025 sebesar 200,7 menjadi stok awal 201 unit. (±1,5 menit)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Slide ini merangkum metrik evaluasi kedua data citra. Untuk NTL: korelasi dihitung pada level dan pada selisih tahunan; yang menentukan kelayakan adalah R² selisih karena korelasi level bisa tinggi hanya karena tren bersama. Hasilnya 0,405, di atas ambang 0,30. LOOCV mengeluarkan satu tahun bergantian dan memprediksinya; RMSE relatif 5,99 persen, di bawah 10 persen. Setiap estimasi disertai selang prediksi 95 persen. Untuk Dynamic World: uji akurasi pada 200 titik berstratifikasi dengan OA, UA, PA, F1, dan Kappa; karena sampel tidak proporsional terhadap luas, dihitung juga OA terbobot luas sebesar 89,95 persen. Fluktuasi tahunan didiagnosis dengan penyesuaian kovariat gaya ANCOVA terhadap jumlah observasi. (±1,5 menit)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Regresi ODTW = 121,61 + 34,59 x NTL. Korelasi pada level (R2 0,785) sebagian besar dibentuk tren waktu bersama, sehingga kelayakan dinilai dari korelasi selisih tahunan: R2 0,405, di atas ambang 0,30. LOOCV menghasilkan RMSE relatif 5,99 persen, di bawah ambang 10 persen. Estimasi 2025 sebesar 201 unit turun dari 218 pada 2024 dan hanya sedikit di atas satu RMSE, sehingga diuji sensitivitasnya pada 189-218 unit. Validasi spasial: NTL Malioboro-Keraton 37,376 jauh di atas TN Gunung Merapi 0,959, tetapi kurang tajam membedakan kawasan industri tahap awal dan wisata pantai skala kecil.</a:t>
            </a:r>
          </a:p>
          <a:p>
            <a:r>
              <a:rPr lang="en-US"/>
              <a:t>20</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Model regresi dipakai mengisi tahun tanpa data BPS, disertai selang prediksi 95 persen. Nilai 2025 sebesar 201 unit menjadi stok awal, dan karena turun dari 218 nilainya diuji sensitivitas 189 sampai 218. Validasi spasial menunjukkan NTL tinggi di Malioboro dan Kotagede, rendah di TN Merapi.</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Akurasi kelas terbangun Dynamic World 2025 diuji pada 200 titik sampel berstratifikasi: akurasi keseluruhan terbobot luas 89,95 persen, tak terbobot 80,50 persen, Kappa 0,61. User's accuracy kelas terbangun 66 persen dengan komisi dominan (34 dari 100 titik peta terbangun). Seri mentah mencapai puncak 75.624 ha pada 2023 lalu turun ke 55.030 ha pada 2025, penurunan 27 persen yang secara fisik tidak mungkin; diagnosis menunjukkan artefak jumlah observasi per piksel. Dua sumber resmi (BPS dan DLHK) justru lebih tidak konsisten dan tidak sejalan, sehingga Dynamic World tetap dipilih. Nilai mentah tetap dipakai karena tahun dasar 2025 menjadi acuan seluruh parameter dan kalibrasi; koreksi hanya bersifat diagnostik.</a:t>
            </a:r>
          </a:p>
          <a:p>
            <a:r>
              <a:rPr lang="en-US"/>
              <a:t>21</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Deret Dynamic World turun 27 persen dari 2023 ke 2025, yang tidak mungkin secara fisik. Diagnosis menunjukkan luas mengikuti jumlah observasi per piksel, bukan tahun. Nilai mentah tetap dipakai karena tahun dasar 2025 sudah menjadi acuan parameter dan kalibrasi; koreksi hanya alat diagnostik.</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Simpulan bagian citra: dua variabel diperbarui dengan bukti kelayakan terukur. Pelajarannya kondisional: klasifikasi langsung seperti lahan lebih kuat daripada proksi regresi seperti ODTW.</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CLD dikonversi menjadi stock-flow diagram dengan 61 variabel: lima stok, sepuluh aliran, sebelas auxiliary, dan 35 parameter; 26 di antaranya endogen dan 35 eksogen. Lima stok adalah jumlah wisatawan, jumlah hotel dan akomodasi, jumlah ODTW, tenaga kerja pariwisata, dan lahan terbangun, dengan nilai awal tahun dasar 2025 seperti pada tabel.</a:t>
            </a:r>
          </a:p>
          <a:p>
            <a:r>
              <a:rPr lang="en-US"/>
              <a:t>18</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Ini hasil utama formulasi Tujuan 2: CLD dioperasionalkan menjadi stock-flow diagram. Lima stok sebagai kotak, aliran sebagai katup, dan variabel bantu yang menghubungkannya. Tunjukkan letak dua tuas: insentif pada jalur investasi, konservasi pada konversi lahan pariwisata.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Laju kedatangan wisatawan dihitung dari jumlah wisatawan dikalikan laju pertumbuhan eksternal dan indeks Daya Tarik; laju penurunan dari jumlah wisatawan dikalikan laju penurunan dasar. Daya Tarik adalah indeks tak berdimensi, dinormalisasi terhadap tahun dasar, dengan tiga komponen berbobot: ODTW 0,40, kepadatan 0,35, dan daya dukung lahan 0,25. Komponen ODTW dan kepadatan dibatasi nilai maksimum sebagai hasil perbaikan struktur setelah uji kondisi ekstrem. Laju pertumbuhan dan penurunan hampir seimbang sehingga model sangat sensitif terhadap rasio keduanya.</a:t>
            </a:r>
          </a:p>
          <a:p>
            <a:r>
              <a:rPr lang="en-US"/>
              <a:t>19</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Persamaan subsistem lain. Perhatikan letak dua tuas: insentif pada investasi di jalur R2, konservasi pada konversi lahan pariwisata di jalur B2. Pembatas MIN dan MAX ditambahkan setelah uji kondisi ekstrem.</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Tiga puluh lima parameter dikelompokkan menurut sumber. Pengelompokan ini menentukan apa yang boleh dikalibrasi: data resmi, identitas stok-aliran, dan nilai referensi tidak dikalibrasi.</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Contoh penurunan. LPE diturunkan dari pertumbuhan 2024 ke 2025 dengan indeks daya tarik 2024 sesuai metode Euler. Sensitivitas konstruksi dari identitas stok-aliran, laju penutupan ODTW dari teori populasi stabil, laju konversi dari tren log-linear beserta selang kepercayaannya.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Lima asumsi yang paling mungkin ditanyakan. Rasio LPD/LPE 0,75 adalah asumsi struktural yang tidak teridentifikasi dari data; data hanya mengidentifikasi selisih bersih keduanya. Bobot daya tarik 0,40/0,35/0,25 murni asumsi peneliti tanpa panel ahli, survei, atau AHP, dengan syarat kestabilan bobot kepadatan lebih dari 0,25 terpenuhi oleh 0,35. Laju demolisi 0,05 setara umur operasi 20 tahun hasil triangulasi Permen PU 45/PRT/M/2007, UU 36/2008 Pasal 11 ayat 6, dan proksi laju penutupan ODTW. Nilai tuas adalah ketetapan peneliti karena tidak ditemukan dokumen kebijakan yang memuat angka. Ambang kepadatan 2,0 ditetapkan sebagai dua kali kepadatan tahun dasar karena tidak ada dasar empiris baku untuk DIY.</a:t>
            </a:r>
          </a:p>
          <a:p>
            <a:r>
              <a:rPr lang="en-US"/>
              <a:t>29</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Uji struktur dilakukan sebelum uji perilaku, mengikuti Barlas dan Sterman, karena kecocokan dengan data tidak bermakna bila strukturnya keliru. Ada tujuh pemeriksaan. Kesesuaian struktur menelusuri setiap hubungan kausal dan kategori sumber parameter. Konsistensi dimensi memakai Units Check di Vensim. Kecukupan batas menyusun daftar variabel endogen, eksogen, dan yang dikeluarkan. Kekekalan materi membandingkan stok dengan identitas Euler dengan toleransi 10 pangkat minus 9. Uji loop melumpuhkan satu loop per kali dan menghitung selisih persen nilai 2050. Uji kondisi ekstrem menjalankan 17 kombinasi dengan enam aturan fisik. Uji galat integrasi membandingkan hasil pada langkah waktu lebih kecil. (±1,5 menit)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Empat uji struktur. Konsistensi dimensi: Units Check dan Check Model di Vensim tidak menemukan ketidaksesuaian satuan. Kekekalan materi: selisih nol pada kelima stok untuk 2025-2049; contoh akomodasi 2.291 + 158,18 - 114,55 = 2.334,63, persis sama dengan simulasi 2026. Uji loop: keenam loop berfungsi sesuai hipotesis. Kondisi ekstrem: 17 uji, 15 lolos, 2 lolos dengan catatan, tidak ada yang gagal; uji awalnya menemukan empat titik struktur yang diperbaiki dengan fungsi pembatas tanpa mengubah simulasi dasar secara berarti. Batas model: 61 variabel, 26 endogen dan 35 eksogen.</a:t>
            </a:r>
          </a:p>
          <a:p>
            <a:r>
              <a:rPr lang="en-US"/>
              <a:t>22</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Pada uji loop, setiap loop dilumpuhkan satu per satu dengan menahan variabel penutup loop pada nilai tahun dasar. Mematikan B1 menaikkan wisatawan 2050 dari 96,20 menjadi 250,32 juta (+160,2 persen) dan mengubah lima dari enam variabel lebih dari 1 persen. Hasilnya tidak aditif: mematikan B1 saja lebih tinggi daripada mematikan seluruh rem (217,37 juta), karena R2 tetap menguatkan Daya Tarik hingga 1,0696. Loop okupansi dan goal-seeking bersifat lokal: hanya memengaruhi jumlah hotel dan tenaga kerja.</a:t>
            </a:r>
          </a:p>
          <a:p>
            <a:r>
              <a:rPr lang="en-US"/>
              <a:t>23</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Uji kondisi ekstrem menjalankan 17 kombinasi parameter jauh di luar kondisi wajar dan menilainya dengan enam aturan fisik. Pada E04, rasio investasi terhadap PDRB dinolkan: konstruksi berhenti, akomodasi menyusut, dan TPK naik lalu mendatar tepat di 1,000, artinya pembatas TPK bekerja sebagai batas keras. Pada E09, laju konversi dasar dinaikkan sepuluh kali: RDDL turun tepat ke nol dan lahan berhenti di luas wilayah. Tidak ada uji yang gagal: 15 lolos dan 2 lolos dengan catatan. E15 memicu uji galat integrasi: pelanggaran 57,70 ha pada langkah waktu satu tahun hilang pada langkah 0,25 tahun, jadi itu galat numerik, bukan kesalahan struktur. Batas keberlakuan model sekitar LPE 0,336. Tabel lengkap di Lampiran 9. (±1 menit)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Uji perilaku dilakukan dalam dua bentuk. Uji parsial menguji tiap subsistem secara terpisah dengan mengganti variabel dari luar subsistem menggunakan data aktual, sehingga kesalahan subsistem lain tidak terbawa. Uji penuh menjalankan model tanpa penggantian sejak 2019. Untuk P5, data wisnus sebelum 2019 disambung dengan faktor 2,2997 dari rasio lompatan 2018–2019 terhadap laju pertumbuhan wajar. Penilaiannya berurutan menurut Barlas: uji tren dulu; bila tren berbeda nyata, E1 dan E2 tidak ditafsirkan. Lalu E1, E2, dan DC sebagai ringkasan, dilengkapi MAPE serta dekomposisi U1–U3 untuk mendiagnosis apakah galat sistematis atau sekadar derau. (±1,5 menit)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Data kunjungan wisatawan nusantara mengalami patahan metode pencacahan pada 2018 menuju 2019: dari 8,0 juta menjadi 20,5 juta, sekitar 2,57 kali. Untuk uji P5 yang butuh seri sejak 2016, data 2015-2018 disambung dengan faktor 2,2997 yang diturunkan dari besarnya lompatan dan laju pertumbuhan wajar sebelum dan sesudah patahan. Faktor ini punya ketidakpastian dengan rentang 2,22 sampai 2,38 dan diuji ulang pada kalibrasi diagnostik. Uji penuh dimulai 2019 sehingga tidak memakai sambungan.</a:t>
            </a:r>
          </a:p>
          <a:p>
            <a:r>
              <a:rPr lang="en-US"/>
              <a:t>24</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Uji parsial mengganti masukan dari subsistem lain dengan data aktual. Hasilnya, akomodasi paling baik, semua MAPE di bawah 20 persen. Satu-satunya yang gagal uji tren adalah subsistem wisatawan: simulasi sekitar 6,4 persen per tahun, data sambungan sekitar 11,7 persen.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Pada uji parsial, jumlah hotel lolos ketiga uji dengan DC 0,2011 dan MAPE 6,05 persen; ODTW DC 0,3367; tenaga kerja DC 0,4945; lahan terbangun DC 0,4813. TPK adalah titik terlemah (DC 0,6692) karena derau data total malam menginap. Pada uji penuh, DC hotel, ODTW, dan tenaga kerja naik tinggi karena galat merambat dari hulu, sedangkan MAPE tetap tergolong wajar: ODTW sangat baik, wisatawan, hotel, tenaga kerja, lahan, dan TPK baik, tiga variabel ekonomi layak, dan tidak ada yang buruk. Wisatawan gagal uji tren pada uji P5 dan uji penuh.</a:t>
            </a:r>
          </a:p>
          <a:p>
            <a:r>
              <a:rPr lang="en-US"/>
              <a:t>25</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Kesesuaian yang baik pada subsistem individual tidak sepenuhnya bertahan saat umpan balik antarsubsistem aktif. Penyebabnya dapat ditelusuri ke satu sumber bersama: galat pertumbuhan jumlah wisatawan yang merambat melalui jalur ekonomi (pengeluaran, PDRB, investasi) ke konstruksi hotel dan pembangunan ODTW, lalu ke tenaga kerja dan lahan terbangun. Komponen U1 (bias level) dominan pada enam dari sembilan variabel. Kesenjangan tren berasal dari rezim pemulihan pascapandemi 2022-2024 yang berada di luar batas model; kenaikan wisnus nasional 2024 sebesar 21,61 persen menunjukkan pola ini tidak spesifik DIY.</a:t>
            </a:r>
          </a:p>
          <a:p>
            <a:r>
              <a:rPr lang="en-US"/>
              <a:t>26</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Kalibrasi adalah perluasan di luar kerangka Mai dan Smith, mengikuti Oliva (2003) dan Homer (2012). Protokolnya ditetapkan sebelum pencarian dijalankan, dengan lima ketentuan: hanya parameter tidak pasti yang boleh dikalibrasi; rentangnya harus berdasar, misalnya selang kepercayaan 95 persen dari tren log-linear; parameter berpasangan dihitung ulang; fungsi tujuannya NRMSE; dan keputusan memakai himpunan indiferen, yaitu titik yang tidak lebih buruk 5 persen dari minimum. Empat aturan R1–R4 menentukan apakah nilai turunan data dipertahankan atau optimum diadopsi. Kalibrasi berjalan per subsistem, lalu Tahap 4 menguji kompatibilitas di model penuh dengan empat pemicu penolakan. (±1,5 menit)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Kalibrasi lima tahap. Tahap 0 adalah koreksi penurunan parameter laju pertumbuhan eksternal dan laju penurunan dasar karena penurunan awal keliru memakai indeks Daya Tarik 1 pada 2024 padahal nilainya 0,99223; dampaknya sekitar 1,6 persen pada wisatawan 2050 dan ini bukan kalibrasi. Tahap 1 dan 2 mencari nilai optimum akomodasi dan lahan. Tahap 3 diagnostik wisatawan karena parameter tidak teridentifikasi terpisah. Tahap 4 menguji kompatibilitas hasil Tahap 2 pada model penuh dan menolaknya. Dari tiga parameter yang diuji, tidak satu pun berubah. Kegagalan itu informatif: kalibrasi berfungsi sebagai instrumen validasi (Oliva, 2003).</a:t>
            </a:r>
          </a:p>
          <a:p>
            <a:r>
              <a:rPr lang="en-US"/>
              <a:t>27</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Tahap 3 bukan mencari nilai baru, tetapi mendiagnosis. Data hanya mengidentifikasi selisih bersih LPE dan LPD, terlihat dari punggung himpunan indiferen. Kesenjangan berasal dari lonjakan pemulihan 2022 sampai 2024, rezim di luar batas model.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Kesimpulan bagian pengujian: model lolos uji struktur, memadai per subsistem, galat terlokalisasi dan terjelaskan, parameter terkonfirmasi kalibrasi. Karena itu model layak untuk membandingkan skenario, bukan untuk meramal angka absolut.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Analisis sensitivitas punya dua tujuan: memilih tuas kebijakan dan mengukur ketidakpastian dari asumsi. Bagian pertama mengikuti Mai dan Smith: 32 parameter diubah plus-minus 10 persen satu per satu, dan perubahan keluaran 2050 dihitung dalam persen terhadap simulasi dasar. Bagian kedua menguji parameter berstatus asumsi dan kedua tuas pada rentang penuhnya, dengan keluaran berupa lebar rentang. Pemeringkatan dilakukan pada enam variabel keluaran, dan parameter berpasangan selalu dihitung ulang supaya peringkat tidak menyesatkan. Terakhir, kekokohan peringkat skenario diuji pada tujuh kondisi parameter. (±1,5 menit)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Pada uji perubahan 10 persen terhadap wisatawan 2050, Laju Penurunan Dasar menempati peringkat pertama dengan pengaruh maksimum 42,07 persen, karena laju pertumbuhan dan penurunan hampir seimbang sehingga selisih bersihnya sensitif. Tiga dari empat peringkat teratas berstatus asumsi. Laju Pertumbuhan Eksternal hanya peringkat enam karena saat diubah laju penurunan ikut berubah mengikuti rasio sehingga saling meredam. Pada rentang penuh, rasio LPD/LPE 0,60-0,90 menghasilkan lebar rentang wisatawan 153,57 poin persen bila LPE ditahan tetap, dan 69,65 bila LPE diturunkan ulang. Catatan: bobot daya dukung lahan awalnya 10,3 persen tetapi turun menjadi 0,51 persen setelah ketiga bobot dinormalkan, sehingga pengaruh awal adalah artefak.</a:t>
            </a:r>
          </a:p>
          <a:p>
            <a:r>
              <a:rPr lang="en-US"/>
              <a:t>28</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Penetapan tuas tidak semata berdasarkan besarnya pengaruh parameter. Tiga kriteria harus terpenuhi bersamaan: relevansi struktural (terbukti memengaruhi perilaku model), dasar kebijakan (ada peraturan atau dokumen perencanaan), dan keterkendalian (pemerintah punya instrumen). Hasilnya dua tuas: Insentif Kebijakan dan Kebijakan Konservasi Lahan. Parameter yang hanya relevan secara struktural, seperti perilaku wisatawan dan bobot indeks, diperlakukan sebagai sumber ketidakpastian dan diuji pada uji kekokohan.</a:t>
            </a:r>
          </a:p>
          <a:p>
            <a:r>
              <a:rPr lang="en-US"/>
              <a:t>16</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Skenario disusun sebagai paket kebijakan dari dua tuas. Business-as-Usual: tanpa insentif tambahan dan kebutuhan lahan dipenuhi lewat konversi seperti pola historis. Sustainable: insentif 0,1 dan konservasi 1,0, yaitu dorongan investasi terbatas disertai pemenuhan kebutuhan lahan fasilitas pariwisata tanpa konversi tambahan. Development Priority: insentif 0,3 dan konservasi 0, yaitu ekspansi investasi agresif tanpa pengendalian kebutuhan lahan. Dua skenario terakhir memotret ketegangan antara Perda DIY 1/2012 dan Perda DIY 6/2021. Nilai tuas adalah ketetapan peneliti, bukan target pemerintah.</a:t>
            </a:r>
          </a:p>
          <a:p>
            <a:r>
              <a:rPr lang="en-US"/>
              <a:t>30</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Hasil 2050. Development Priority unggul pada seluruh indikator ekonomi: lapangan kerja 697.021 jiwa (+7,18 persen terhadap BAU) dan PDRB pariwisata Rp43.152 miliar (+7,71 persen). Sustainable unggul pada seluruh indikator lingkungan: konversi lahan pariwisata kumulatif nol hektare (turun 100 persen), lahan terbangun terendah, dan rasio daya dukung lahan tertinggi. Business-as-Usual unggul pada indeks kepadatan (2,36 dibanding 2,55). Daya tarik destinasi justru tertinggi pada Development Priority karena komponen ODTW naik 0,0297, jauh melampaui penurunan komponen kepadatan 0,0106 dan komponen lahan 0,0002; rasio daya dukung lahan masih sekitar 0,614 sehingga rem daya dukung belum bekerja berarti.</a:t>
            </a:r>
          </a:p>
          <a:p>
            <a:r>
              <a:rPr lang="en-US"/>
              <a:t>31</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Grafik memperlihatkan lintasan wisatawan dan PDRB 2025–2050: ketiga skenario berhimpit di awal lalu melebar, dengan Development Priority tertinggi. Pertanyaan yang wajar: mengapa daya tarik justru tertinggi pada Development Priority padahal kepadatannya paling tinggi? Tabel komposisi menjawabnya: dibanding BAU, komponen ODTW naik 0,0297, jauh melampaui penurunan komponen kepadatan 0,0106 dan komponen lahan 0,0002. Komponen lahan hampir tidak bergerak karena RDDL masih sekitar 0,614, jauh di atas ambang 0,331. Jadi sampai 2050 pertumbuhan atraksi lebih menentukan daya tarik daripada tekanan lahan. (±1 menit)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Ambang indeks kepadatan 2,0 terlampaui pada ketiga skenario: 2041 pada Development Priority, 2042 pada Sustainable, dan 2043 pada BAU, selisih hanya dua tahun. Artinya kedua tuas hanya menggeser waktu, bukan mencegahnya. Penjelasannya struktural: kedua tuas bekerja di sisi penyediaan (investasi dan lahan), sedangkan kepadatan ditentukan pertumbuhan permintaan. Sebaliknya, ambang rasio daya dukung lahan 0,331 (Perda DIY 6/2021) tidak terlampaui pada ketiga skenario karena nilainya sekitar 0,614. Ambang 2,0 adalah ketetapan peneliti sehingga dibaca sebagai sinyal deskriptif.</a:t>
            </a:r>
          </a:p>
          <a:p>
            <a:r>
              <a:rPr lang="en-US"/>
              <a:t>32</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Karena skenario Sustainable memuat dua tuas, dilakukan simulasi dekomposisi: kontribusi tuas = keluaran tuas tunggal dikurangi tanpa intervensi, dan efek interaksi = selisih paket dikurangi jumlah kontribusi kedua tuas. Tuas insentif menggerakkan dimensi ekonomi, tuas konservasi menggerakkan dimensi lahan. Interaksi pada jumlah wisatawan hanya sekitar 0,7 persen dari selisih paket. Pada lahan terbangun, efek interaksi -57,6 hektare persis menetralkan kontribusi insentif +57,6 hektare, artinya tambahan kebutuhan lahan dari insentif diserap penuh oleh konservasi. Implikasi metodologis: portofolio kebijakan dapat dirancang modular.</a:t>
            </a:r>
          </a:p>
          <a:p>
            <a:r>
              <a:rPr lang="en-US"/>
              <a:t>33</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Pengujian kekokohan menjalankan tiga skenario pada tujuh kondisi parameter: satu kondisi acuan C0 dan enam kondisi C1-C6 yang menggeser rasio LPD/LPE ke 0,65 dan 0,90, bobot daya tarik ke dua kombinasi alternatif, dan laju konversi dasar ke batas selang kepercayaan 95 persen. Ketujuh indikator berperingkat menunjukkan urutan identik pada seluruh kondisi. Perlu ditegaskan bahwa kekokohan berlaku pada peringkat, bukan pada besaran: nilai absolut 2050 berubah cukup besar antarkondisi, sehingga angka proyeksi tidak dapat diklaim sebagai ramalan.</a:t>
            </a:r>
          </a:p>
          <a:p>
            <a:r>
              <a:rPr lang="en-US"/>
              <a:t>34</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Empat implikasi. Pertama, tidak ada pilihan yang unggul pada semua dimensi sehingga penetapan prioritas menjadi keniscayaan. Kedua, instrumen pengendalian lahan pada lingkup kewenangan pariwisata terbatas: lahan terbangun keseluruhan hanya berkurang 0,91 persen karena konversi non-pariwisata tetap berjalan. Ketiga, kepadatan tidak dapat diselesaikan oleh dua tuas yang tersedia dan memerlukan instrumen sisi permintaan seperti pengelolaan sebaran kunjungan antarwaktu dan antarlokasi, di luar cakupan model. Keempat, ada ketegangan antardokumen kebijakan yang terpotret dalam perbandingan Development Priority dan Sustainable. Angka dibaca sebagai perbandingan antarskenario, bukan ramalan.</a:t>
            </a:r>
          </a:p>
          <a:p>
            <a:r>
              <a:rPr lang="en-US"/>
              <a:t>35</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Jawaban Tujuan 2: citra satelit terintegrasi, model 61 variabel terparameterisasi, valid secara struktur, dan sebagai dasar simulasi kebijakan menunjukkan tidak ada skenario unggul di semua dimensi dengan urutan yang kokoh.</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Tujuan 3: membangun aplikasi web yang mengimplementasikan model dan skenario sebagai alat bantu keputusan.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Alasan aplikasi: hasil model biasanya statis dan butuh Vensim. Aplikasi menjaga model sebagai sumber logika, sementara antarmuka hanya lapisan interaksi. Kebutuhan pengguna dipetakan ke fitur.</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Model Vensim dikonversi memakai SDEverywhere, sedangkan antarmuka dikembangkan dengan Next.js, TypeScript, dan Tailwind CSS. Aplikasi memiliki empat halaman: Beranda, Model (struktur dan evaluasi model), Skenario (tiga skenario dan perbandingan), dan Simulasi (pengguna mengubah dua tuas, memilih variabel keluaran, dan menjalankan simulasi 2025-2050). Pengguna tidak perlu mengubah persamaan atau mengoperasikan software sistem dinamis. Aplikasi dapat diakses di sistemdinamispariwisata.vercel.app.</a:t>
            </a:r>
          </a:p>
          <a:p>
            <a:r>
              <a:rPr lang="en-US"/>
              <a:t>36</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Empat halaman aplikasi sistem dinamis pariwisata DIY: Beranda, Model (struktur dan evaluasi model), Skenario, dan Simulasi. Alamat: sistemdinamispariwisata.vercel.app.</a:t>
            </a:r>
          </a:p>
          <a:p>
            <a:r>
              <a:rPr lang="en-US"/>
              <a:t>47</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Sembilan fungsi utama diuji black-box dan semuanya Pass. Ini membuktikan fungsi berjalan sesuai spesifikasi, belum menilai kemudahan penggunaan.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Black-box testing terhadap sembilan fungsi utama: seluruhnya Pass (100 persen). Evaluasi usability dengan System Usability Scale pada 10 responden setelah lima tugas: rata-rata 88,50, median 92,50, simpangan baku 13,85, minimum 60, maksimum 100; delapan dari sepuluh responden memberi skor 85 atau lebih. Rata-rata normatif SUS sekitar 68 (Brooke, 2013); skor 88,50 berada di antara Excellent (85,5) dan Best Imaginable (90,9) menurut Bangor et al. (2009). Dua responden kesulitan menafsirkan grafik atau hasil simulasi dan satu bingung pada tampilan dua garis di tuas kebijakan; saran: interpretasi otomatis, panduan penggunaan, dan chatbot. Hasil ini mengukur perceived usability pada 10 responden.</a:t>
            </a:r>
          </a:p>
          <a:p>
            <a:r>
              <a:rPr lang="en-US"/>
              <a:t>37</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Jawaban Tujuan 3: aplikasi web berjalan di peramban, empat halaman, 9 dari 9 fungsi Pass, dan SUS 88,50.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Tiga hal perlu didiskusikan. Pertama, tahap kalibrasi yang saya tambahkan di luar kerangka Mai dan Smith justru tidak mengubah satu parameter pun; artinya kalibrasi berfungsi sebagai instrumen validasi, sejalan dengan Oliva (2003). Kedua, nilai citra satelit bersifat kondisional: lahan terbangun dari Dynamic World dapat dipakai langsung tanpa regresi, sedangkan ODTW dari cahaya malam butuh regresi proksi dengan kekuatan moderat. Ketiga, karena interaksi kedua tuas hanya sekitar 0,7 persen, portofolio kebijakan dapat dirancang modular. Kontribusi penelitian ini adalah kerangka pengujian yang membedakan sumber ketidaksesuaian dan memetakan pertukaran kebijakan beserta kekokohannya. (±1 menit)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Keterbatasan dikelompokkan menjadi tiga. Data: patahan metode wisnus 2018/2019, lahan terbangun berderau, ODTW 2015-2017 dan 2025 hasil regresi dengan R2 sekitar 0,41, lonjakan akomodasi 2018, dan data investasi hanya PMA/PMDN. Struktur model: guncangan, harga, promosi, musim, dan lingkungan dikeluarkan; daya dukung lahan memakai luas wilayah sehingga longgar; permintaan kamar tak terlayani tidak menekan kunjungan; tenaga kerja hanya indikator keluaran. Penafsiran: rasio LPD/LPE adalah asumsi; nilai tuas dan ambang kepadatan ketetapan peneliti; evaluasi pascakalibrasi memakai data yang sama sehingga bukan validasi independen; skenario tanpa lokakarya pemangku kepentingan.</a:t>
            </a:r>
          </a:p>
          <a:p>
            <a:r>
              <a:rPr lang="en-US"/>
              <a:t>38</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Tujuan satu: variabel penyusun CLD teridentifikasi dan dirumuskan menjadi model dengan 5 stock, 10 flow, 11 auxiliary, 35 parameter, dan enam loop, teradaptasi dari Mai &amp; Smith (2018) ke ketersediaan data resmi Indonesia. Tujuan dua: model yang mengintegrasikan citra satelit valid secara struktural dan memadai pada tingkat subsistem; kalibrasi tidak mengubah parameter apa pun; tiga skenario menunjukkan tidak ada yang unggul pada semua dimensi dan pola itu kokoh terhadap ketidakpastian parameter terbesar. Tujuan tiga: aplikasi web lulus pengujian fungsional pada seluruh fungsi utama.</a:t>
            </a:r>
          </a:p>
          <a:p>
            <a:r>
              <a:rPr lang="en-US"/>
              <a:t>39</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Saran: memperkuat dasar empiris parameter berstatus ketetapan, khususnya rasio laju penurunan terhadap laju pertumbuhan dan ambang indeks kepadatan, melalui survei primer; memperluas model dengan guncangan eksternal, memisahkan pembangunan ODTW berdasarkan sumber pembiayaan bersama Dinas Pariwisata dan Bappeda DIY, dan memverifikasi silang Dynamic World; melibatkan lokakarya pemangku kepentingan dalam penyusunan skenario; dan menambahkan fitur pembaruan data tahunan dan ekspor laporan pada aplikasi.</a:t>
            </a:r>
          </a:p>
          <a:p>
            <a:r>
              <a:rPr lang="en-US"/>
              <a:t>40</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Tutup dengan terima kasih dan buka sesi tanya jawab. Siapkan lampiran sebagai bahan cadangan.</a:t>
            </a:r>
          </a:p>
          <a:p>
            <a:r>
              <a:rPr lang="en-US"/>
              <a:t>41</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 menit. Mulai dari konteks global dan nasional secara singkat, lalu fokus ke DIY. Tekankan kalimat terakhir: kompleksitas dan tekanan daya dukung adalah alasan perlunya pendekatan sistem.</a:t>
            </a:r>
          </a:p>
          <a:p>
            <a:r>
              <a:rPr lang="en-US"/>
              <a:t>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Rujukan cepat untuk pertanyaan tentang nilai parameter. Lima kelompok: data statistik resmi (11), identitas stok-aliran (8), ketentuan regulasi (2), asumsi pemodelan (8), dan normalisasi serta tuas kebijakan (6).</a:t>
            </a:r>
          </a:p>
          <a:p>
            <a:r>
              <a:rPr lang="en-US"/>
              <a:t>42</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LOOCV pada tujuh titik tahun (2018-2024) menghasilkan RMSE relatif 5,99 persen. Galat terbesar pada 2022 (-8,2 persen), 2023 (+7,0 persen), dan 2024 (-8,9 persen). Estimasi tahun tanpa data BPS disertai selang prediksi 95 persen; 2016 paling lebar (sekitar 58 unit) karena NTL 1,054 berada di luar rentang data latih (1,483-2,512).</a:t>
            </a:r>
          </a:p>
          <a:p>
            <a:r>
              <a:rPr lang="en-US"/>
              <a:t>43</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Uji akurasi pada 200 titik sampel berstratifikasi (100 per kelas prediksi) terhadap interpretasi visual citra resolusi tinggi. Akurasi tak terbobot bias karena sampel tidak proporsional terhadap luas kelas, sehingga dihitung juga versi terbobot luas mengikuti Olofsson et al. (2014). Ambang klasifikasi baku 0,50 dipertahankan walaupun F1 tertinggi ada di sekitar 0,40-0,45, untuk menghindari penyesuaian berlebih.</a:t>
            </a:r>
          </a:p>
          <a:p>
            <a:r>
              <a:rPr lang="en-US"/>
              <a:t>44</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Cadangan: data yang dilengkapi ekstrapolasi CAGR dan spesifikasi teknis Google Earth Engine, dari dokumentasi repository.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Perbandingan antarskenario memakai sepuluh indikator dalam tiga dimensi triple bottom line (ekonomi, lingkungan, sosial) ditambah satu indikator skala. Arah interpretasi sengaja dibedakan: tidak semua diarahkan ke maksimum. Ambang rasio daya dukung lahan 0,331 bersumber dari Perda DIY 6/2021; ambang kepadatan 2,0 adalah ketetapan peneliti.</a:t>
            </a:r>
          </a:p>
          <a:p>
            <a:r>
              <a:rPr lang="en-US"/>
              <a:t>45</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Cadangan: KPI pelengkap per skenario, termasuk TPK yang tidak ada di Tabel 60 buku.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Hasil lengkap uji perilaku. Uji parsial dilaporkan versi tanpa COVID (2020-2021 dikeluarkan); uji penuh dilaporkan versi dengan COVID karena hanya tersisa lima titik data bila dua tahun itu dikeluarkan. Pada uji penuh jumlah wisatawan gagal uji tren sehingga E1 dan E2 tidak ditafsirkan. Pedoman: E1 di bawah 0,05, E2 di bawah 0,30, DC 0,4-0,7 rata-rata sampai baik, MAPE kategori Lewis (1982).</a:t>
            </a:r>
          </a:p>
          <a:p>
            <a:r>
              <a:rPr lang="en-US"/>
              <a:t>46</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Batas model: 61 variabel, 26 endogen dan 35 eksogen (nilai eksogen di Lampiran 1). Tabel ini merangkum aspek yang sengaja dikeluarkan beserta konsekuensinya, sehingga hasil model tidak ditafsirkan pada ranah tersebut, misalnya harga, promosi, musim, dan guncangan eksternal.</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Enam aturan fisik: stok tidak negatif, TPK tidak lebih dari satu, RDDL tidak negatif, lahan tidak melebihi luas wilayah, indeks daya tarik 0–3, dan wisatawan akhir tidak lebih dari lima kali simulasi dasar. Aturan kelipatan tidak diterapkan pada E02 dan E15 karena desain ujinya sengaja menghilangkan rem atau memperbesar pendorong; keduanya lolos dengan catatan.</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Setiap loop dilumpuhkan dengan menahan variabel penutupnya pada nilai tahun dasar. B1 paling kuat dan sistemik; gugus daya dukung lahan satu-satunya yang memengaruhi keenam variabel; R2 berdampak terbesar pada ODTW; loop okupansi dan goal-seeking bersifat lokal. Mematikan B1 saja lebih tinggi daripada mematikan seluruh rem karena R2 tetap menguatkan daya tarik.</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Cadangan: horizon diperpanjang sampai 2150 menunjukkan pola puncak lalu turun ketika daya dukung lahan menipis, dan model tetap stabil.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Rincian visual empat tahap kalibrasi setelah koreksi penurunan di Tahap 0. Tahap 1 dan 2 adalah pencarian menyeluruh, Tahap 3 diagnostik karena parameter wisatawan tidak teridentifikasi terpisah, dan Tahap 4 menguji kompatibilitas hasil Tahap 2 pada model penuh. Aturan keputusan ditetapkan sebelum pencarian dijalankan.</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Tornado untuk lima variabel keluaran selain jumlah wisatawan, serta lebar rentang ketidakpastian pada pengujian rentang penuh. Rasio LPD/LPE tetap menjadi sumber ketidakpastian terbesar; pada lahan terbangun, laju konversi dasar paling menentukan.</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Persamaan diambil dari model Vensim final yang dipakai pada simulasi skenario. Stok diintegrasikan dengan metode Euler pada langkah waktu satu tahun. Pembatas MIN dan MAX adalah hasil perbaikan struktur setelah uji kondisi ekstrem.</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Data historis tahunan yang menjadi dasar penurunan parameter dan uji perilaku. Wisatawan 2015–2018 ditampilkan sebelum penyambungan (patahan metode 2018→2019). ODTW 2015–2017 dan 2025 adalah estimasi NTL; lahan terbangun berasal dari Dynamic World.</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Validasi spasial Dynamic World: beberapa titik dari uji akurasi saya cek ulang di citra resolusi tinggi. Titik di kawasan yang jelas terbangun atau jelas bervegetasi sesuai dengan kondisi lapangan. Titik yang salah umumnya berada di tepi objek, misalnya tepi jalan yang hanya menutupi sekitar 7 dari 10 meter piksel. Jadi kesalahannya sistematis di tepi objek, bukan acak di seluruh wilayah.</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Lampiran istilah: kode uji dan tahapan yang muncul di slide pengujian, kalibrasi, dan skenario.</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Lampiran istilah: ukuran statistik dan singkatan yang dipakai di seluruh slide.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IRTS 2008 mendefinisikan 12 aktivitas karakteristik pariwisata. Model saya memakai KBLI kategori I (akomodasi dan makan minum) serta R, S, T, U untuk PDRB dan tenaga kerja pariwisata, dan ODTW dikodekan pada golongan 91 dan 93. Angkutan, agen perjalanan, dan perdagangan eceran tidak termasuk cakupan model. S, T, U ikut terhitung karena BPS menyajikannya bersama R.</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kandidat variabel struktur konseptual. Ada 15 kandidat dari enam subsistem: permintaan dan daya tarik, atraksi, ekonomi dan investasi, akomodasi, lahan dan daya dukung, serta tenaga kerja. Setiap kandidat punya dasar konteks DIY dari dokumen seperti RIPPARDA, Renja Dinas Pariwisata, dan IPKN, serta literatur pendukung. Kandidat ini belum otomatis masuk CLD; semuanya dievaluasi dulu, dan hasilnya ada di slide berikutnya.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jpeg"/><Relationship Id="rId6" Type="http://schemas.openxmlformats.org/officeDocument/2006/relationships/image" Target="../media/image4.jpeg"/><Relationship Id="rId7" Type="http://schemas.openxmlformats.org/officeDocument/2006/relationships/image" Target="../media/image5.jpeg"/><Relationship Id="rId8"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7.png"/><Relationship Id="rId8"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chart" Target="../charts/chart2.xml"/><Relationship Id="rId10" Type="http://schemas.openxmlformats.org/officeDocument/2006/relationships/chart" Target="../charts/char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10.png"/><Relationship Id="rId8" Type="http://schemas.openxmlformats.org/officeDocument/2006/relationships/image" Target="../media/image11.sv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5.jpeg"/><Relationship Id="rId5"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14.png"/><Relationship Id="rId8" Type="http://schemas.openxmlformats.org/officeDocument/2006/relationships/image" Target="../media/image15.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5.jpeg"/><Relationship Id="rId5" Type="http://schemas.openxmlformats.org/officeDocument/2006/relationships/image" Target="../media/image4.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17.png"/><Relationship Id="rId8" Type="http://schemas.openxmlformats.org/officeDocument/2006/relationships/image" Target="../media/image18.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4.jpeg"/><Relationship Id="rId5" Type="http://schemas.openxmlformats.org/officeDocument/2006/relationships/image" Target="../media/image5.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5.jpe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4.png"/><Relationship Id="rId10" Type="http://schemas.openxmlformats.org/officeDocument/2006/relationships/image" Target="../media/image25.png"/><Relationship Id="rId11" Type="http://schemas.openxmlformats.org/officeDocument/2006/relationships/image" Target="../media/image26.png"/><Relationship Id="rId12" Type="http://schemas.openxmlformats.org/officeDocument/2006/relationships/image" Target="../media/image4.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28.png"/><Relationship Id="rId8" Type="http://schemas.openxmlformats.org/officeDocument/2006/relationships/image" Target="../media/image29.svg"/><Relationship Id="rId9" Type="http://schemas.openxmlformats.org/officeDocument/2006/relationships/image" Target="../media/image30.png"/><Relationship Id="rId10" Type="http://schemas.openxmlformats.org/officeDocument/2006/relationships/image" Target="../media/image31.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5.png"/><Relationship Id="rId8" Type="http://schemas.openxmlformats.org/officeDocument/2006/relationships/image" Target="../media/image104.png"/><Relationship Id="rId9" Type="http://schemas.openxmlformats.org/officeDocument/2006/relationships/notesSlide" Target="../notesSlides/notesSlide9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8.png"/><Relationship Id="rId8" Type="http://schemas.openxmlformats.org/officeDocument/2006/relationships/image" Target="../media/image39.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28.png"/><Relationship Id="rId8" Type="http://schemas.openxmlformats.org/officeDocument/2006/relationships/image" Target="../media/image29.svg"/><Relationship Id="rId9" Type="http://schemas.openxmlformats.org/officeDocument/2006/relationships/image" Target="../media/image30.png"/><Relationship Id="rId10" Type="http://schemas.openxmlformats.org/officeDocument/2006/relationships/image" Target="../media/image31.sv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40.png"/><Relationship Id="rId8" Type="http://schemas.openxmlformats.org/officeDocument/2006/relationships/image" Target="../media/image41.sv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42.png"/><Relationship Id="rId8" Type="http://schemas.openxmlformats.org/officeDocument/2006/relationships/chart" Target="../charts/char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43.png"/><Relationship Id="rId8" Type="http://schemas.openxmlformats.org/officeDocument/2006/relationships/image" Target="../media/image44.png"/><Relationship Id="rId9" Type="http://schemas.openxmlformats.org/officeDocument/2006/relationships/image" Target="../media/image4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46.png"/><Relationship Id="rId8" Type="http://schemas.openxmlformats.org/officeDocument/2006/relationships/image" Target="../media/image47.svg"/><Relationship Id="rId9" Type="http://schemas.openxmlformats.org/officeDocument/2006/relationships/image" Target="../media/image48.png"/><Relationship Id="rId10" Type="http://schemas.openxmlformats.org/officeDocument/2006/relationships/image" Target="../media/image49.svg"/><Relationship Id="rId11" Type="http://schemas.openxmlformats.org/officeDocument/2006/relationships/image" Target="../media/image50.png"/><Relationship Id="rId12" Type="http://schemas.openxmlformats.org/officeDocument/2006/relationships/image" Target="../media/image51.sv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52.png"/><Relationship Id="rId8" Type="http://schemas.openxmlformats.org/officeDocument/2006/relationships/chart" Target="../charts/char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image" Target="../media/image5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56.png"/><Relationship Id="rId8" Type="http://schemas.openxmlformats.org/officeDocument/2006/relationships/chart" Target="../charts/char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57.png"/><Relationship Id="rId8" Type="http://schemas.openxmlformats.org/officeDocument/2006/relationships/image" Target="../media/image58.sv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59.png"/><Relationship Id="rId8" Type="http://schemas.openxmlformats.org/officeDocument/2006/relationships/image" Target="../media/image6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0.png"/><Relationship Id="rId8" Type="http://schemas.openxmlformats.org/officeDocument/2006/relationships/image" Target="../media/image31.sv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1.png"/><Relationship Id="rId8" Type="http://schemas.openxmlformats.org/officeDocument/2006/relationships/chart" Target="../charts/char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2.png"/><Relationship Id="rId8" Type="http://schemas.openxmlformats.org/officeDocument/2006/relationships/image" Target="../media/image63.sv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4.png"/><Relationship Id="rId8" Type="http://schemas.openxmlformats.org/officeDocument/2006/relationships/image" Target="../media/image6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7.png"/><Relationship Id="rId8" Type="http://schemas.openxmlformats.org/officeDocument/2006/relationships/image" Target="../media/image68.sv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9.png"/><Relationship Id="rId8" Type="http://schemas.openxmlformats.org/officeDocument/2006/relationships/image" Target="../media/image7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71.png"/><Relationship Id="rId8" Type="http://schemas.openxmlformats.org/officeDocument/2006/relationships/image" Target="../media/image72.png"/><Relationship Id="rId9" Type="http://schemas.openxmlformats.org/officeDocument/2006/relationships/image" Target="../media/image69.png"/><Relationship Id="rId10" Type="http://schemas.openxmlformats.org/officeDocument/2006/relationships/image" Target="../media/image7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73.png"/><Relationship Id="rId8" Type="http://schemas.openxmlformats.org/officeDocument/2006/relationships/chart" Target="../charts/chart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74.png"/><Relationship Id="rId8" Type="http://schemas.openxmlformats.org/officeDocument/2006/relationships/image" Target="../media/image75.sv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7.png"/><Relationship Id="rId8" Type="http://schemas.openxmlformats.org/officeDocument/2006/relationships/image" Target="../media/image68.sv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76.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77.png"/><Relationship Id="rId7" Type="http://schemas.openxmlformats.org/officeDocument/2006/relationships/image" Target="../media/image78.svg"/><Relationship Id="rId8" Type="http://schemas.openxmlformats.org/officeDocument/2006/relationships/image" Target="../media/image79.png"/><Relationship Id="rId9" Type="http://schemas.openxmlformats.org/officeDocument/2006/relationships/image" Target="../media/image80.png"/><Relationship Id="rId10" Type="http://schemas.openxmlformats.org/officeDocument/2006/relationships/image" Target="../media/image81.svg"/><Relationship Id="rId11" Type="http://schemas.openxmlformats.org/officeDocument/2006/relationships/image" Target="../media/image82.png"/><Relationship Id="rId12" Type="http://schemas.openxmlformats.org/officeDocument/2006/relationships/image" Target="../media/image83.svg"/><Relationship Id="rId13" Type="http://schemas.openxmlformats.org/officeDocument/2006/relationships/image" Target="../media/image84.png"/><Relationship Id="rId14" Type="http://schemas.openxmlformats.org/officeDocument/2006/relationships/image" Target="../media/image85.svg"/><Relationship Id="rId15" Type="http://schemas.openxmlformats.org/officeDocument/2006/relationships/image" Target="../media/image86.png"/><Relationship Id="rId16" Type="http://schemas.openxmlformats.org/officeDocument/2006/relationships/image" Target="../media/image87.svg"/><Relationship Id="rId17" Type="http://schemas.openxmlformats.org/officeDocument/2006/relationships/image" Target="../media/image88.png"/><Relationship Id="rId18" Type="http://schemas.openxmlformats.org/officeDocument/2006/relationships/image" Target="../media/image89.sv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90.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9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92.png"/><Relationship Id="rId8" Type="http://schemas.openxmlformats.org/officeDocument/2006/relationships/image" Target="../media/image93.svg"/><Relationship Id="rId9" Type="http://schemas.openxmlformats.org/officeDocument/2006/relationships/image" Target="../media/image94.png"/><Relationship Id="rId10" Type="http://schemas.openxmlformats.org/officeDocument/2006/relationships/image" Target="../media/image95.png"/><Relationship Id="rId11" Type="http://schemas.openxmlformats.org/officeDocument/2006/relationships/image" Target="../media/image96.png"/><Relationship Id="rId12" Type="http://schemas.openxmlformats.org/officeDocument/2006/relationships/image" Target="../media/image97.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98.png"/><Relationship Id="rId8" Type="http://schemas.openxmlformats.org/officeDocument/2006/relationships/image" Target="../media/image99.png"/><Relationship Id="rId9" Type="http://schemas.openxmlformats.org/officeDocument/2006/relationships/image" Target="../media/image100.png"/><Relationship Id="rId10" Type="http://schemas.openxmlformats.org/officeDocument/2006/relationships/image" Target="../media/image101.png"/><Relationship Id="rId11" Type="http://schemas.openxmlformats.org/officeDocument/2006/relationships/image" Target="../media/image10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0" y="0"/>
            <a:ext cx="18287524" cy="10287000"/>
            <a:chOff x="0" y="0"/>
            <a:chExt cx="24383365" cy="13716000"/>
          </a:xfrm>
        </p:grpSpPr>
        <p:sp>
          <p:nvSpPr>
            <p:cNvPr name="Freeform 5" id="5"/>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B3A45">
                <a:alpha val="1961"/>
              </a:srgbClr>
            </a:solidFill>
          </p:spPr>
          <p:txBody>
            <a:bodyPr/>
            <a:p/>
          </p:txBody>
        </p:sp>
      </p:grpSp>
      <p:grpSp>
        <p:nvGrpSpPr>
          <p:cNvPr name="Group 6" id="6"/>
          <p:cNvGrpSpPr/>
          <p:nvPr/>
        </p:nvGrpSpPr>
        <p:grpSpPr>
          <a:xfrm rot="0">
            <a:off x="754380" y="438912"/>
            <a:ext cx="685800" cy="987552"/>
            <a:chOff x="0" y="0"/>
            <a:chExt cx="914400" cy="1316736"/>
          </a:xfrm>
        </p:grpSpPr>
        <p:sp>
          <p:nvSpPr>
            <p:cNvPr name="Freeform 7" id="7" descr="Ikon Tugu Yogyakarta"/>
            <p:cNvSpPr/>
            <p:nvPr/>
          </p:nvSpPr>
          <p:spPr>
            <a:xfrm flipH="false" flipV="false" rot="0">
              <a:off x="0" y="0"/>
              <a:ext cx="914400" cy="1316736"/>
            </a:xfrm>
            <a:custGeom>
              <a:avLst/>
              <a:gdLst/>
              <a:ahLst/>
              <a:cxnLst/>
              <a:rect r="r" b="b" t="t" l="l"/>
              <a:pathLst>
                <a:path h="1316736" w="914400">
                  <a:moveTo>
                    <a:pt x="0" y="0"/>
                  </a:moveTo>
                  <a:lnTo>
                    <a:pt x="914400" y="0"/>
                  </a:lnTo>
                  <a:lnTo>
                    <a:pt x="914400" y="1316736"/>
                  </a:lnTo>
                  <a:lnTo>
                    <a:pt x="0" y="1316736"/>
                  </a:lnTo>
                  <a:lnTo>
                    <a:pt x="0" y="0"/>
                  </a:lnTo>
                  <a:close/>
                </a:path>
              </a:pathLst>
            </a:custGeom>
            <a:blipFill>
              <a:blip r:embed="rId4"/>
              <a:stretch>
                <a:fillRect l="0" t="-540" r="0" b="-540"/>
              </a:stretch>
            </a:blipFill>
          </p:spPr>
          <p:txBody>
            <a:bodyPr/>
            <a:p/>
          </p:txBody>
        </p:sp>
      </p:grpSp>
      <p:grpSp>
        <p:nvGrpSpPr>
          <p:cNvPr name="Group 8" id="8"/>
          <p:cNvGrpSpPr/>
          <p:nvPr/>
        </p:nvGrpSpPr>
        <p:grpSpPr>
          <a:xfrm rot="0">
            <a:off x="1645920" y="712041"/>
            <a:ext cx="4114800" cy="453866"/>
            <a:chOff x="0" y="0"/>
            <a:chExt cx="5486400" cy="605155"/>
          </a:xfrm>
        </p:grpSpPr>
        <p:sp>
          <p:nvSpPr>
            <p:cNvPr name="Freeform 9" id="9"/>
            <p:cNvSpPr/>
            <p:nvPr/>
          </p:nvSpPr>
          <p:spPr>
            <a:xfrm flipH="false" flipV="false" rot="0">
              <a:off x="0" y="0"/>
              <a:ext cx="5486400" cy="605155"/>
            </a:xfrm>
            <a:custGeom>
              <a:avLst/>
              <a:gdLst/>
              <a:ahLst/>
              <a:cxnLst/>
              <a:rect r="r" b="b" t="t" l="l"/>
              <a:pathLst>
                <a:path h="605155" w="5486400">
                  <a:moveTo>
                    <a:pt x="0" y="0"/>
                  </a:moveTo>
                  <a:lnTo>
                    <a:pt x="5486400" y="0"/>
                  </a:lnTo>
                  <a:lnTo>
                    <a:pt x="5486400" y="605155"/>
                  </a:lnTo>
                  <a:lnTo>
                    <a:pt x="0" y="605155"/>
                  </a:lnTo>
                  <a:close/>
                </a:path>
              </a:pathLst>
            </a:custGeom>
            <a:blipFill>
              <a:blip r:embed="rId5">
                <a:alphaModFix amt="0"/>
              </a:blip>
              <a:stretch>
                <a:fillRect l="0" t="-126530" r="0" b="-126530"/>
              </a:stretch>
            </a:blipFill>
          </p:spPr>
          <p:txBody>
            <a:bodyPr/>
            <a:p/>
          </p:txBody>
        </p:sp>
      </p:grpSp>
      <p:grpSp>
        <p:nvGrpSpPr>
          <p:cNvPr name="Group 10" id="10"/>
          <p:cNvGrpSpPr/>
          <p:nvPr/>
        </p:nvGrpSpPr>
        <p:grpSpPr>
          <a:xfrm rot="0">
            <a:off x="1645920" y="669179"/>
            <a:ext cx="4114800" cy="496681"/>
            <a:chOff x="0" y="0"/>
            <a:chExt cx="5486400" cy="662242"/>
          </a:xfrm>
        </p:grpSpPr>
        <p:sp>
          <p:nvSpPr>
            <p:cNvPr name="Freeform 11" id="11"/>
            <p:cNvSpPr/>
            <p:nvPr/>
          </p:nvSpPr>
          <p:spPr>
            <a:xfrm flipH="false" flipV="false" rot="0">
              <a:off x="0" y="0"/>
              <a:ext cx="5486400" cy="662305"/>
            </a:xfrm>
            <a:custGeom>
              <a:avLst/>
              <a:gdLst/>
              <a:ahLst/>
              <a:cxnLst/>
              <a:rect r="r" b="b" t="t" l="l"/>
              <a:pathLst>
                <a:path h="662305" w="5486400">
                  <a:moveTo>
                    <a:pt x="0" y="0"/>
                  </a:moveTo>
                  <a:lnTo>
                    <a:pt x="5486400" y="0"/>
                  </a:lnTo>
                  <a:lnTo>
                    <a:pt x="5486400" y="662305"/>
                  </a:lnTo>
                  <a:lnTo>
                    <a:pt x="0" y="662305"/>
                  </a:lnTo>
                  <a:close/>
                </a:path>
              </a:pathLst>
            </a:custGeom>
            <a:blipFill>
              <a:blip r:embed="rId6">
                <a:alphaModFix amt="0"/>
              </a:blip>
              <a:stretch>
                <a:fillRect l="0" t="-111302" r="0" b="-111294"/>
              </a:stretch>
            </a:blipFill>
          </p:spPr>
          <p:txBody>
            <a:bodyPr/>
            <a:p/>
          </p:txBody>
        </p:sp>
      </p:grpSp>
      <p:grpSp>
        <p:nvGrpSpPr>
          <p:cNvPr name="Group 12" id="12"/>
          <p:cNvGrpSpPr/>
          <p:nvPr/>
        </p:nvGrpSpPr>
        <p:grpSpPr>
          <a:xfrm rot="0">
            <a:off x="1645920" y="626316"/>
            <a:ext cx="4114800" cy="539544"/>
            <a:chOff x="0" y="0"/>
            <a:chExt cx="5486400" cy="719392"/>
          </a:xfrm>
        </p:grpSpPr>
        <p:sp>
          <p:nvSpPr>
            <p:cNvPr name="Freeform 13" id="13"/>
            <p:cNvSpPr/>
            <p:nvPr/>
          </p:nvSpPr>
          <p:spPr>
            <a:xfrm flipH="false" flipV="false" rot="0">
              <a:off x="0" y="0"/>
              <a:ext cx="5486400" cy="719391"/>
            </a:xfrm>
            <a:custGeom>
              <a:avLst/>
              <a:gdLst/>
              <a:ahLst/>
              <a:cxnLst/>
              <a:rect r="r" b="b" t="t" l="l"/>
              <a:pathLst>
                <a:path h="719391" w="5486400">
                  <a:moveTo>
                    <a:pt x="0" y="0"/>
                  </a:moveTo>
                  <a:lnTo>
                    <a:pt x="5486400" y="0"/>
                  </a:lnTo>
                  <a:lnTo>
                    <a:pt x="5486400" y="719391"/>
                  </a:lnTo>
                  <a:lnTo>
                    <a:pt x="0" y="719391"/>
                  </a:lnTo>
                  <a:close/>
                </a:path>
              </a:pathLst>
            </a:custGeom>
            <a:blipFill>
              <a:blip r:embed="rId7">
                <a:alphaModFix amt="0"/>
              </a:blip>
              <a:stretch>
                <a:fillRect l="0" t="-98601" r="0" b="-98601"/>
              </a:stretch>
            </a:blipFill>
          </p:spPr>
          <p:txBody>
            <a:bodyPr/>
            <a:p/>
          </p:txBody>
        </p:sp>
        <p:sp>
          <p:nvSpPr>
            <p:cNvPr name="TextBox 14" id="14"/>
            <p:cNvSpPr txBox="true"/>
            <p:nvPr/>
          </p:nvSpPr>
          <p:spPr>
            <a:xfrm>
              <a:off x="0" y="-57150"/>
              <a:ext cx="5486400" cy="776542"/>
            </a:xfrm>
            <a:prstGeom prst="rect">
              <a:avLst/>
            </a:prstGeom>
          </p:spPr>
          <p:txBody>
            <a:bodyPr anchor="ctr" rtlCol="false" tIns="0" lIns="0" bIns="0" rIns="0"/>
            <a:lstStyle/>
            <a:p>
              <a:pPr algn="l">
                <a:lnSpc>
                  <a:spcPts val="2700"/>
                </a:lnSpc>
              </a:pPr>
              <a:r>
                <a:rPr lang="en-US" sz="2250" b="true">
                  <a:solidFill>
                    <a:srgbClr val="FFFFFF"/>
                  </a:solidFill>
                  <a:latin typeface="Calibri (MS) Bold"/>
                  <a:ea typeface="Calibri (MS) Bold"/>
                  <a:cs typeface="Calibri (MS) Bold"/>
                  <a:sym typeface="Calibri (MS) Bold"/>
                </a:rPr>
                <a:t>Sidang Skripsi</a:t>
              </a:r>
            </a:p>
          </p:txBody>
        </p:sp>
      </p:grpSp>
      <p:grpSp>
        <p:nvGrpSpPr>
          <p:cNvPr name="Group 15" id="15"/>
          <p:cNvGrpSpPr/>
          <p:nvPr/>
        </p:nvGrpSpPr>
        <p:grpSpPr>
          <a:xfrm rot="0">
            <a:off x="8462772" y="548640"/>
            <a:ext cx="1371600" cy="1371600"/>
            <a:chOff x="0" y="0"/>
            <a:chExt cx="1828800" cy="1828800"/>
          </a:xfrm>
        </p:grpSpPr>
        <p:sp>
          <p:nvSpPr>
            <p:cNvPr name="Freeform 16" id="16"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8"/>
              <a:stretch>
                <a:fillRect l="0" t="0" r="0" b="0"/>
              </a:stretch>
            </a:blipFill>
          </p:spPr>
          <p:txBody>
            <a:bodyPr/>
            <a:p/>
          </p:txBody>
        </p:sp>
      </p:grpSp>
      <p:grpSp>
        <p:nvGrpSpPr>
          <p:cNvPr name="Group 17" id="17"/>
          <p:cNvGrpSpPr/>
          <p:nvPr/>
        </p:nvGrpSpPr>
        <p:grpSpPr>
          <a:xfrm rot="0">
            <a:off x="822960" y="2221992"/>
            <a:ext cx="16637508" cy="822960"/>
            <a:chOff x="0" y="0"/>
            <a:chExt cx="22183344" cy="1097280"/>
          </a:xfrm>
        </p:grpSpPr>
        <p:sp>
          <p:nvSpPr>
            <p:cNvPr name="Freeform 18" id="18"/>
            <p:cNvSpPr/>
            <p:nvPr/>
          </p:nvSpPr>
          <p:spPr>
            <a:xfrm flipH="false" flipV="false" rot="0">
              <a:off x="0" y="0"/>
              <a:ext cx="22183344" cy="1097280"/>
            </a:xfrm>
            <a:custGeom>
              <a:avLst/>
              <a:gdLst/>
              <a:ahLst/>
              <a:cxnLst/>
              <a:rect r="r" b="b" t="t" l="l"/>
              <a:pathLst>
                <a:path h="1097280" w="22183344">
                  <a:moveTo>
                    <a:pt x="0" y="0"/>
                  </a:moveTo>
                  <a:lnTo>
                    <a:pt x="22183344" y="0"/>
                  </a:lnTo>
                  <a:lnTo>
                    <a:pt x="22183344" y="1097280"/>
                  </a:lnTo>
                  <a:lnTo>
                    <a:pt x="0" y="1097280"/>
                  </a:lnTo>
                  <a:close/>
                </a:path>
              </a:pathLst>
            </a:custGeom>
            <a:blipFill>
              <a:blip r:embed="rId5">
                <a:alphaModFix amt="0"/>
              </a:blip>
              <a:stretch>
                <a:fillRect l="0" t="-343648" r="0" b="-343649"/>
              </a:stretch>
            </a:blipFill>
          </p:spPr>
          <p:txBody>
            <a:bodyPr/>
            <a:p/>
          </p:txBody>
        </p:sp>
      </p:grpSp>
      <p:grpSp>
        <p:nvGrpSpPr>
          <p:cNvPr name="Group 19" id="19"/>
          <p:cNvGrpSpPr/>
          <p:nvPr/>
        </p:nvGrpSpPr>
        <p:grpSpPr>
          <a:xfrm rot="0">
            <a:off x="822960" y="2157698"/>
            <a:ext cx="16637508" cy="887254"/>
            <a:chOff x="0" y="0"/>
            <a:chExt cx="22183344" cy="1183005"/>
          </a:xfrm>
        </p:grpSpPr>
        <p:sp>
          <p:nvSpPr>
            <p:cNvPr name="Freeform 20" id="20"/>
            <p:cNvSpPr/>
            <p:nvPr/>
          </p:nvSpPr>
          <p:spPr>
            <a:xfrm flipH="false" flipV="false" rot="0">
              <a:off x="0" y="0"/>
              <a:ext cx="22183344" cy="1183005"/>
            </a:xfrm>
            <a:custGeom>
              <a:avLst/>
              <a:gdLst/>
              <a:ahLst/>
              <a:cxnLst/>
              <a:rect r="r" b="b" t="t" l="l"/>
              <a:pathLst>
                <a:path h="1183005" w="22183344">
                  <a:moveTo>
                    <a:pt x="0" y="0"/>
                  </a:moveTo>
                  <a:lnTo>
                    <a:pt x="22183344" y="0"/>
                  </a:lnTo>
                  <a:lnTo>
                    <a:pt x="22183344" y="1183005"/>
                  </a:lnTo>
                  <a:lnTo>
                    <a:pt x="0" y="1183005"/>
                  </a:lnTo>
                  <a:close/>
                </a:path>
              </a:pathLst>
            </a:custGeom>
            <a:blipFill>
              <a:blip r:embed="rId6">
                <a:alphaModFix amt="0"/>
              </a:blip>
              <a:stretch>
                <a:fillRect l="0" t="-315122" r="0" b="-315123"/>
              </a:stretch>
            </a:blipFill>
          </p:spPr>
          <p:txBody>
            <a:bodyPr/>
            <a:p/>
          </p:txBody>
        </p:sp>
      </p:grpSp>
      <p:grpSp>
        <p:nvGrpSpPr>
          <p:cNvPr name="Group 21" id="21"/>
          <p:cNvGrpSpPr/>
          <p:nvPr/>
        </p:nvGrpSpPr>
        <p:grpSpPr>
          <a:xfrm rot="0">
            <a:off x="822960" y="2093404"/>
            <a:ext cx="16637508" cy="951548"/>
            <a:chOff x="0" y="0"/>
            <a:chExt cx="22183344" cy="1268730"/>
          </a:xfrm>
        </p:grpSpPr>
        <p:sp>
          <p:nvSpPr>
            <p:cNvPr name="Freeform 22" id="22"/>
            <p:cNvSpPr/>
            <p:nvPr/>
          </p:nvSpPr>
          <p:spPr>
            <a:xfrm flipH="false" flipV="false" rot="0">
              <a:off x="0" y="0"/>
              <a:ext cx="22183344" cy="1268730"/>
            </a:xfrm>
            <a:custGeom>
              <a:avLst/>
              <a:gdLst/>
              <a:ahLst/>
              <a:cxnLst/>
              <a:rect r="r" b="b" t="t" l="l"/>
              <a:pathLst>
                <a:path h="1268730" w="22183344">
                  <a:moveTo>
                    <a:pt x="0" y="0"/>
                  </a:moveTo>
                  <a:lnTo>
                    <a:pt x="22183344" y="0"/>
                  </a:lnTo>
                  <a:lnTo>
                    <a:pt x="22183344" y="1268730"/>
                  </a:lnTo>
                  <a:lnTo>
                    <a:pt x="0" y="1268730"/>
                  </a:lnTo>
                  <a:close/>
                </a:path>
              </a:pathLst>
            </a:custGeom>
            <a:blipFill>
              <a:blip r:embed="rId7">
                <a:alphaModFix amt="0"/>
              </a:blip>
              <a:stretch>
                <a:fillRect l="0" t="-290689" r="0" b="-290689"/>
              </a:stretch>
            </a:blipFill>
          </p:spPr>
          <p:txBody>
            <a:bodyPr/>
            <a:p/>
          </p:txBody>
        </p:sp>
        <p:sp>
          <p:nvSpPr>
            <p:cNvPr name="TextBox 23" id="23"/>
            <p:cNvSpPr txBox="true"/>
            <p:nvPr/>
          </p:nvSpPr>
          <p:spPr>
            <a:xfrm>
              <a:off x="0" y="-85725"/>
              <a:ext cx="22183344" cy="1354455"/>
            </a:xfrm>
            <a:prstGeom prst="rect">
              <a:avLst/>
            </a:prstGeom>
          </p:spPr>
          <p:txBody>
            <a:bodyPr anchor="ctr" rtlCol="false" tIns="0" lIns="0" bIns="0" rIns="0"/>
            <a:lstStyle/>
            <a:p>
              <a:pPr algn="ctr">
                <a:lnSpc>
                  <a:spcPts val="5757"/>
                </a:lnSpc>
              </a:pPr>
              <a:r>
                <a:rPr lang="en-US" b="true" sz="4800" i="true">
                  <a:solidFill>
                    <a:srgbClr val="FFD23B"/>
                  </a:solidFill>
                  <a:latin typeface="Calibri (MS) Bold Italics"/>
                  <a:ea typeface="Calibri (MS) Bold Italics"/>
                  <a:cs typeface="Calibri (MS) Bold Italics"/>
                  <a:sym typeface="Calibri (MS) Bold Italics"/>
                </a:rPr>
                <a:t>Perancangan Aplikasi</a:t>
              </a:r>
            </a:p>
          </p:txBody>
        </p:sp>
      </p:grpSp>
      <p:grpSp>
        <p:nvGrpSpPr>
          <p:cNvPr name="Group 24" id="24"/>
          <p:cNvGrpSpPr/>
          <p:nvPr/>
        </p:nvGrpSpPr>
        <p:grpSpPr>
          <a:xfrm rot="0">
            <a:off x="822960" y="3017520"/>
            <a:ext cx="16637508" cy="1097280"/>
            <a:chOff x="0" y="0"/>
            <a:chExt cx="22183344" cy="1463040"/>
          </a:xfrm>
        </p:grpSpPr>
        <p:sp>
          <p:nvSpPr>
            <p:cNvPr name="Freeform 25" id="25"/>
            <p:cNvSpPr/>
            <p:nvPr/>
          </p:nvSpPr>
          <p:spPr>
            <a:xfrm flipH="false" flipV="false" rot="0">
              <a:off x="0" y="0"/>
              <a:ext cx="22183344" cy="1463040"/>
            </a:xfrm>
            <a:custGeom>
              <a:avLst/>
              <a:gdLst/>
              <a:ahLst/>
              <a:cxnLst/>
              <a:rect r="r" b="b" t="t" l="l"/>
              <a:pathLst>
                <a:path h="1463040" w="22183344">
                  <a:moveTo>
                    <a:pt x="0" y="0"/>
                  </a:moveTo>
                  <a:lnTo>
                    <a:pt x="22183344" y="0"/>
                  </a:lnTo>
                  <a:lnTo>
                    <a:pt x="22183344" y="1463040"/>
                  </a:lnTo>
                  <a:lnTo>
                    <a:pt x="0" y="1463040"/>
                  </a:lnTo>
                  <a:close/>
                </a:path>
              </a:pathLst>
            </a:custGeom>
            <a:blipFill>
              <a:blip r:embed="rId5">
                <a:alphaModFix amt="0"/>
              </a:blip>
              <a:stretch>
                <a:fillRect l="0" t="-245236" r="0" b="-245236"/>
              </a:stretch>
            </a:blipFill>
          </p:spPr>
          <p:txBody>
            <a:bodyPr/>
            <a:p/>
          </p:txBody>
        </p:sp>
      </p:grpSp>
      <p:grpSp>
        <p:nvGrpSpPr>
          <p:cNvPr name="Group 26" id="26"/>
          <p:cNvGrpSpPr/>
          <p:nvPr/>
        </p:nvGrpSpPr>
        <p:grpSpPr>
          <a:xfrm rot="0">
            <a:off x="822960" y="2917508"/>
            <a:ext cx="16637508" cy="1197292"/>
            <a:chOff x="0" y="0"/>
            <a:chExt cx="22183344" cy="1596390"/>
          </a:xfrm>
        </p:grpSpPr>
        <p:sp>
          <p:nvSpPr>
            <p:cNvPr name="Freeform 27" id="27"/>
            <p:cNvSpPr/>
            <p:nvPr/>
          </p:nvSpPr>
          <p:spPr>
            <a:xfrm flipH="false" flipV="false" rot="0">
              <a:off x="0" y="0"/>
              <a:ext cx="22183344" cy="1596390"/>
            </a:xfrm>
            <a:custGeom>
              <a:avLst/>
              <a:gdLst/>
              <a:ahLst/>
              <a:cxnLst/>
              <a:rect r="r" b="b" t="t" l="l"/>
              <a:pathLst>
                <a:path h="1596390" w="22183344">
                  <a:moveTo>
                    <a:pt x="0" y="0"/>
                  </a:moveTo>
                  <a:lnTo>
                    <a:pt x="22183344" y="0"/>
                  </a:lnTo>
                  <a:lnTo>
                    <a:pt x="22183344" y="1596390"/>
                  </a:lnTo>
                  <a:lnTo>
                    <a:pt x="0" y="1596390"/>
                  </a:lnTo>
                  <a:close/>
                </a:path>
              </a:pathLst>
            </a:custGeom>
            <a:blipFill>
              <a:blip r:embed="rId6">
                <a:alphaModFix amt="0"/>
              </a:blip>
              <a:stretch>
                <a:fillRect l="0" t="-220574" r="0" b="-220575"/>
              </a:stretch>
            </a:blipFill>
          </p:spPr>
          <p:txBody>
            <a:bodyPr/>
            <a:p/>
          </p:txBody>
        </p:sp>
      </p:grpSp>
      <p:grpSp>
        <p:nvGrpSpPr>
          <p:cNvPr name="Group 28" id="28"/>
          <p:cNvGrpSpPr/>
          <p:nvPr/>
        </p:nvGrpSpPr>
        <p:grpSpPr>
          <a:xfrm rot="0">
            <a:off x="822960" y="2817495"/>
            <a:ext cx="16637508" cy="1297305"/>
            <a:chOff x="0" y="0"/>
            <a:chExt cx="22183344" cy="1729740"/>
          </a:xfrm>
        </p:grpSpPr>
        <p:sp>
          <p:nvSpPr>
            <p:cNvPr name="Freeform 29" id="29"/>
            <p:cNvSpPr/>
            <p:nvPr/>
          </p:nvSpPr>
          <p:spPr>
            <a:xfrm flipH="false" flipV="false" rot="0">
              <a:off x="0" y="0"/>
              <a:ext cx="22183344" cy="1729739"/>
            </a:xfrm>
            <a:custGeom>
              <a:avLst/>
              <a:gdLst/>
              <a:ahLst/>
              <a:cxnLst/>
              <a:rect r="r" b="b" t="t" l="l"/>
              <a:pathLst>
                <a:path h="1729739" w="22183344">
                  <a:moveTo>
                    <a:pt x="0" y="0"/>
                  </a:moveTo>
                  <a:lnTo>
                    <a:pt x="22183344" y="0"/>
                  </a:lnTo>
                  <a:lnTo>
                    <a:pt x="22183344" y="1729739"/>
                  </a:lnTo>
                  <a:lnTo>
                    <a:pt x="0" y="1729739"/>
                  </a:lnTo>
                  <a:close/>
                </a:path>
              </a:pathLst>
            </a:custGeom>
            <a:blipFill>
              <a:blip r:embed="rId7">
                <a:alphaModFix amt="0"/>
              </a:blip>
              <a:stretch>
                <a:fillRect l="0" t="-199889" r="0" b="-199889"/>
              </a:stretch>
            </a:blipFill>
          </p:spPr>
          <p:txBody>
            <a:bodyPr/>
            <a:p/>
          </p:txBody>
        </p:sp>
        <p:sp>
          <p:nvSpPr>
            <p:cNvPr name="TextBox 30" id="30"/>
            <p:cNvSpPr txBox="true"/>
            <p:nvPr/>
          </p:nvSpPr>
          <p:spPr>
            <a:xfrm>
              <a:off x="0" y="-133350"/>
              <a:ext cx="22183344" cy="1863090"/>
            </a:xfrm>
            <a:prstGeom prst="rect">
              <a:avLst/>
            </a:prstGeom>
          </p:spPr>
          <p:txBody>
            <a:bodyPr anchor="ctr" rtlCol="false" tIns="0" lIns="0" bIns="0" rIns="0"/>
            <a:lstStyle/>
            <a:p>
              <a:pPr algn="ctr">
                <a:lnSpc>
                  <a:spcPts val="7557"/>
                </a:lnSpc>
              </a:pPr>
              <a:r>
                <a:rPr lang="en-US" sz="6300" b="true">
                  <a:solidFill>
                    <a:srgbClr val="FFFFFF"/>
                  </a:solidFill>
                  <a:latin typeface="Calibri (MS) Bold"/>
                  <a:ea typeface="Calibri (MS) Bold"/>
                  <a:cs typeface="Calibri (MS) Bold"/>
                  <a:sym typeface="Calibri (MS) Bold"/>
                </a:rPr>
                <a:t>SIMULASI KEBIJAKAN PARIWISATA</a:t>
              </a:r>
            </a:p>
          </p:txBody>
        </p:sp>
      </p:grpSp>
      <p:grpSp>
        <p:nvGrpSpPr>
          <p:cNvPr name="Group 31" id="31"/>
          <p:cNvGrpSpPr/>
          <p:nvPr/>
        </p:nvGrpSpPr>
        <p:grpSpPr>
          <a:xfrm rot="0">
            <a:off x="822960" y="4142232"/>
            <a:ext cx="16637508" cy="685800"/>
            <a:chOff x="0" y="0"/>
            <a:chExt cx="22183344" cy="914400"/>
          </a:xfrm>
        </p:grpSpPr>
        <p:sp>
          <p:nvSpPr>
            <p:cNvPr name="Freeform 32" id="32"/>
            <p:cNvSpPr/>
            <p:nvPr/>
          </p:nvSpPr>
          <p:spPr>
            <a:xfrm flipH="false" flipV="false" rot="0">
              <a:off x="0" y="0"/>
              <a:ext cx="22183344" cy="914400"/>
            </a:xfrm>
            <a:custGeom>
              <a:avLst/>
              <a:gdLst/>
              <a:ahLst/>
              <a:cxnLst/>
              <a:rect r="r" b="b" t="t" l="l"/>
              <a:pathLst>
                <a:path h="914400" w="22183344">
                  <a:moveTo>
                    <a:pt x="0" y="0"/>
                  </a:moveTo>
                  <a:lnTo>
                    <a:pt x="22183344" y="0"/>
                  </a:lnTo>
                  <a:lnTo>
                    <a:pt x="22183344" y="914400"/>
                  </a:lnTo>
                  <a:lnTo>
                    <a:pt x="0" y="914400"/>
                  </a:lnTo>
                  <a:close/>
                </a:path>
              </a:pathLst>
            </a:custGeom>
            <a:blipFill>
              <a:blip r:embed="rId5">
                <a:alphaModFix amt="0"/>
              </a:blip>
              <a:stretch>
                <a:fillRect l="0" t="-422377" r="0" b="-422379"/>
              </a:stretch>
            </a:blipFill>
          </p:spPr>
          <p:txBody>
            <a:bodyPr/>
            <a:p/>
          </p:txBody>
        </p:sp>
      </p:grpSp>
      <p:grpSp>
        <p:nvGrpSpPr>
          <p:cNvPr name="Group 33" id="33"/>
          <p:cNvGrpSpPr/>
          <p:nvPr/>
        </p:nvGrpSpPr>
        <p:grpSpPr>
          <a:xfrm rot="0">
            <a:off x="822960" y="4092226"/>
            <a:ext cx="16637508" cy="735806"/>
            <a:chOff x="0" y="0"/>
            <a:chExt cx="22183344" cy="981075"/>
          </a:xfrm>
        </p:grpSpPr>
        <p:sp>
          <p:nvSpPr>
            <p:cNvPr name="Freeform 34" id="34"/>
            <p:cNvSpPr/>
            <p:nvPr/>
          </p:nvSpPr>
          <p:spPr>
            <a:xfrm flipH="false" flipV="false" rot="0">
              <a:off x="0" y="0"/>
              <a:ext cx="22183344" cy="981075"/>
            </a:xfrm>
            <a:custGeom>
              <a:avLst/>
              <a:gdLst/>
              <a:ahLst/>
              <a:cxnLst/>
              <a:rect r="r" b="b" t="t" l="l"/>
              <a:pathLst>
                <a:path h="981075" w="22183344">
                  <a:moveTo>
                    <a:pt x="0" y="0"/>
                  </a:moveTo>
                  <a:lnTo>
                    <a:pt x="22183344" y="0"/>
                  </a:lnTo>
                  <a:lnTo>
                    <a:pt x="22183344" y="981075"/>
                  </a:lnTo>
                  <a:lnTo>
                    <a:pt x="0" y="981075"/>
                  </a:lnTo>
                  <a:close/>
                </a:path>
              </a:pathLst>
            </a:custGeom>
            <a:blipFill>
              <a:blip r:embed="rId6">
                <a:alphaModFix amt="0"/>
              </a:blip>
              <a:stretch>
                <a:fillRect l="0" t="-390274" r="0" b="-390275"/>
              </a:stretch>
            </a:blipFill>
          </p:spPr>
          <p:txBody>
            <a:bodyPr/>
            <a:p/>
          </p:txBody>
        </p:sp>
      </p:grpSp>
      <p:grpSp>
        <p:nvGrpSpPr>
          <p:cNvPr name="Group 35" id="35"/>
          <p:cNvGrpSpPr/>
          <p:nvPr/>
        </p:nvGrpSpPr>
        <p:grpSpPr>
          <a:xfrm rot="0">
            <a:off x="822960" y="4042219"/>
            <a:ext cx="16637508" cy="785812"/>
            <a:chOff x="0" y="0"/>
            <a:chExt cx="22183344" cy="1047750"/>
          </a:xfrm>
        </p:grpSpPr>
        <p:sp>
          <p:nvSpPr>
            <p:cNvPr name="Freeform 36" id="36"/>
            <p:cNvSpPr/>
            <p:nvPr/>
          </p:nvSpPr>
          <p:spPr>
            <a:xfrm flipH="false" flipV="false" rot="0">
              <a:off x="0" y="0"/>
              <a:ext cx="22183344" cy="1047750"/>
            </a:xfrm>
            <a:custGeom>
              <a:avLst/>
              <a:gdLst/>
              <a:ahLst/>
              <a:cxnLst/>
              <a:rect r="r" b="b" t="t" l="l"/>
              <a:pathLst>
                <a:path h="1047750" w="22183344">
                  <a:moveTo>
                    <a:pt x="0" y="0"/>
                  </a:moveTo>
                  <a:lnTo>
                    <a:pt x="22183344" y="0"/>
                  </a:lnTo>
                  <a:lnTo>
                    <a:pt x="22183344" y="1047750"/>
                  </a:lnTo>
                  <a:lnTo>
                    <a:pt x="0" y="1047750"/>
                  </a:lnTo>
                  <a:close/>
                </a:path>
              </a:pathLst>
            </a:custGeom>
            <a:blipFill>
              <a:blip r:embed="rId7">
                <a:alphaModFix amt="0"/>
              </a:blip>
              <a:stretch>
                <a:fillRect l="0" t="-362544" r="0" b="-362544"/>
              </a:stretch>
            </a:blipFill>
          </p:spPr>
          <p:txBody>
            <a:bodyPr/>
            <a:p/>
          </p:txBody>
        </p:sp>
        <p:sp>
          <p:nvSpPr>
            <p:cNvPr name="TextBox 37" id="37"/>
            <p:cNvSpPr txBox="true"/>
            <p:nvPr/>
          </p:nvSpPr>
          <p:spPr>
            <a:xfrm>
              <a:off x="0" y="-66675"/>
              <a:ext cx="22183344" cy="1114425"/>
            </a:xfrm>
            <a:prstGeom prst="rect">
              <a:avLst/>
            </a:prstGeom>
          </p:spPr>
          <p:txBody>
            <a:bodyPr anchor="ctr" rtlCol="false" tIns="0" lIns="0" bIns="0" rIns="0"/>
            <a:lstStyle/>
            <a:p>
              <a:pPr algn="ctr">
                <a:lnSpc>
                  <a:spcPts val="3960"/>
                </a:lnSpc>
              </a:pPr>
              <a:r>
                <a:rPr lang="en-US" sz="3300" b="true">
                  <a:solidFill>
                    <a:srgbClr val="FFD23B"/>
                  </a:solidFill>
                  <a:latin typeface="Calibri (MS) Bold"/>
                  <a:ea typeface="Calibri (MS) Bold"/>
                  <a:cs typeface="Calibri (MS) Bold"/>
                  <a:sym typeface="Calibri (MS) Bold"/>
                </a:rPr>
                <a:t>Menggunakan Sistem Dinamis dengan Integrasi Data Citra Satelit</a:t>
              </a:r>
            </a:p>
          </p:txBody>
        </p:sp>
      </p:grpSp>
      <p:grpSp>
        <p:nvGrpSpPr>
          <p:cNvPr name="Group 38" id="38"/>
          <p:cNvGrpSpPr/>
          <p:nvPr/>
        </p:nvGrpSpPr>
        <p:grpSpPr>
          <a:xfrm rot="0">
            <a:off x="822960" y="4869180"/>
            <a:ext cx="16637508" cy="548640"/>
            <a:chOff x="0" y="0"/>
            <a:chExt cx="22183344" cy="731520"/>
          </a:xfrm>
        </p:grpSpPr>
        <p:sp>
          <p:nvSpPr>
            <p:cNvPr name="Freeform 39" id="39"/>
            <p:cNvSpPr/>
            <p:nvPr/>
          </p:nvSpPr>
          <p:spPr>
            <a:xfrm flipH="false" flipV="false" rot="0">
              <a:off x="0" y="0"/>
              <a:ext cx="22183344" cy="731520"/>
            </a:xfrm>
            <a:custGeom>
              <a:avLst/>
              <a:gdLst/>
              <a:ahLst/>
              <a:cxnLst/>
              <a:rect r="r" b="b" t="t" l="l"/>
              <a:pathLst>
                <a:path h="731520" w="22183344">
                  <a:moveTo>
                    <a:pt x="0" y="0"/>
                  </a:moveTo>
                  <a:lnTo>
                    <a:pt x="22183344" y="0"/>
                  </a:lnTo>
                  <a:lnTo>
                    <a:pt x="22183344" y="731520"/>
                  </a:lnTo>
                  <a:lnTo>
                    <a:pt x="0" y="731520"/>
                  </a:lnTo>
                  <a:close/>
                </a:path>
              </a:pathLst>
            </a:custGeom>
            <a:blipFill>
              <a:blip r:embed="rId5">
                <a:alphaModFix amt="0"/>
              </a:blip>
              <a:stretch>
                <a:fillRect l="0" t="-540472" r="0" b="-540473"/>
              </a:stretch>
            </a:blipFill>
          </p:spPr>
          <p:txBody>
            <a:bodyPr/>
            <a:p/>
          </p:txBody>
        </p:sp>
      </p:grpSp>
      <p:grpSp>
        <p:nvGrpSpPr>
          <p:cNvPr name="Group 40" id="40"/>
          <p:cNvGrpSpPr/>
          <p:nvPr/>
        </p:nvGrpSpPr>
        <p:grpSpPr>
          <a:xfrm rot="0">
            <a:off x="822960" y="4840605"/>
            <a:ext cx="16637508" cy="577215"/>
            <a:chOff x="0" y="0"/>
            <a:chExt cx="22183344" cy="769620"/>
          </a:xfrm>
        </p:grpSpPr>
        <p:sp>
          <p:nvSpPr>
            <p:cNvPr name="Freeform 41" id="41"/>
            <p:cNvSpPr/>
            <p:nvPr/>
          </p:nvSpPr>
          <p:spPr>
            <a:xfrm flipH="false" flipV="false" rot="0">
              <a:off x="0" y="0"/>
              <a:ext cx="22183344" cy="769620"/>
            </a:xfrm>
            <a:custGeom>
              <a:avLst/>
              <a:gdLst/>
              <a:ahLst/>
              <a:cxnLst/>
              <a:rect r="r" b="b" t="t" l="l"/>
              <a:pathLst>
                <a:path h="769620" w="22183344">
                  <a:moveTo>
                    <a:pt x="0" y="0"/>
                  </a:moveTo>
                  <a:lnTo>
                    <a:pt x="22183344" y="0"/>
                  </a:lnTo>
                  <a:lnTo>
                    <a:pt x="22183344" y="769620"/>
                  </a:lnTo>
                  <a:lnTo>
                    <a:pt x="0" y="769620"/>
                  </a:lnTo>
                  <a:close/>
                </a:path>
              </a:pathLst>
            </a:custGeom>
            <a:blipFill>
              <a:blip r:embed="rId6">
                <a:alphaModFix amt="0"/>
              </a:blip>
              <a:stretch>
                <a:fillRect l="0" t="-511240" r="0" b="-511242"/>
              </a:stretch>
            </a:blipFill>
          </p:spPr>
          <p:txBody>
            <a:bodyPr/>
            <a:p/>
          </p:txBody>
        </p:sp>
      </p:grpSp>
      <p:grpSp>
        <p:nvGrpSpPr>
          <p:cNvPr name="Group 42" id="42"/>
          <p:cNvGrpSpPr/>
          <p:nvPr/>
        </p:nvGrpSpPr>
        <p:grpSpPr>
          <a:xfrm rot="0">
            <a:off x="822960" y="4812030"/>
            <a:ext cx="16637508" cy="605790"/>
            <a:chOff x="0" y="0"/>
            <a:chExt cx="22183344" cy="807720"/>
          </a:xfrm>
        </p:grpSpPr>
        <p:sp>
          <p:nvSpPr>
            <p:cNvPr name="Freeform 43" id="43"/>
            <p:cNvSpPr/>
            <p:nvPr/>
          </p:nvSpPr>
          <p:spPr>
            <a:xfrm flipH="false" flipV="false" rot="0">
              <a:off x="0" y="0"/>
              <a:ext cx="22183344" cy="807720"/>
            </a:xfrm>
            <a:custGeom>
              <a:avLst/>
              <a:gdLst/>
              <a:ahLst/>
              <a:cxnLst/>
              <a:rect r="r" b="b" t="t" l="l"/>
              <a:pathLst>
                <a:path h="807720" w="22183344">
                  <a:moveTo>
                    <a:pt x="0" y="0"/>
                  </a:moveTo>
                  <a:lnTo>
                    <a:pt x="22183344" y="0"/>
                  </a:lnTo>
                  <a:lnTo>
                    <a:pt x="22183344" y="807720"/>
                  </a:lnTo>
                  <a:lnTo>
                    <a:pt x="0" y="807720"/>
                  </a:lnTo>
                  <a:close/>
                </a:path>
              </a:pathLst>
            </a:custGeom>
            <a:blipFill>
              <a:blip r:embed="rId7">
                <a:alphaModFix amt="0"/>
              </a:blip>
              <a:stretch>
                <a:fillRect l="0" t="-485140" r="0" b="-485140"/>
              </a:stretch>
            </a:blipFill>
          </p:spPr>
          <p:txBody>
            <a:bodyPr/>
            <a:p/>
          </p:txBody>
        </p:sp>
        <p:sp>
          <p:nvSpPr>
            <p:cNvPr name="TextBox 44" id="44"/>
            <p:cNvSpPr txBox="true"/>
            <p:nvPr/>
          </p:nvSpPr>
          <p:spPr>
            <a:xfrm>
              <a:off x="0" y="-38100"/>
              <a:ext cx="22183344" cy="845820"/>
            </a:xfrm>
            <a:prstGeom prst="rect">
              <a:avLst/>
            </a:prstGeom>
          </p:spPr>
          <p:txBody>
            <a:bodyPr anchor="ctr" rtlCol="false" tIns="0" lIns="0" bIns="0" rIns="0"/>
            <a:lstStyle/>
            <a:p>
              <a:pPr algn="ctr">
                <a:lnSpc>
                  <a:spcPts val="2878"/>
                </a:lnSpc>
              </a:pPr>
              <a:r>
                <a:rPr lang="en-US" sz="2400">
                  <a:solidFill>
                    <a:srgbClr val="FFFFFF"/>
                  </a:solidFill>
                  <a:latin typeface="Calibri (MS)"/>
                  <a:ea typeface="Calibri (MS)"/>
                  <a:cs typeface="Calibri (MS)"/>
                  <a:sym typeface="Calibri (MS)"/>
                </a:rPr>
                <a:t>Studi Kasus: Provinsi Daerah Istimewa Yogyakarta</a:t>
              </a:r>
            </a:p>
          </p:txBody>
        </p:sp>
      </p:grpSp>
      <p:grpSp>
        <p:nvGrpSpPr>
          <p:cNvPr name="Group 45" id="45"/>
          <p:cNvGrpSpPr/>
          <p:nvPr/>
        </p:nvGrpSpPr>
        <p:grpSpPr>
          <a:xfrm rot="0">
            <a:off x="3017520" y="5966460"/>
            <a:ext cx="12248388" cy="2948940"/>
            <a:chOff x="0" y="0"/>
            <a:chExt cx="16331184" cy="3931920"/>
          </a:xfrm>
        </p:grpSpPr>
        <p:sp>
          <p:nvSpPr>
            <p:cNvPr name="Freeform 46" id="46"/>
            <p:cNvSpPr/>
            <p:nvPr/>
          </p:nvSpPr>
          <p:spPr>
            <a:xfrm flipH="false" flipV="false" rot="0">
              <a:off x="0" y="0"/>
              <a:ext cx="16331185" cy="3931920"/>
            </a:xfrm>
            <a:custGeom>
              <a:avLst/>
              <a:gdLst/>
              <a:ahLst/>
              <a:cxnLst/>
              <a:rect r="r" b="b" t="t" l="l"/>
              <a:pathLst>
                <a:path h="3931920" w="16331185">
                  <a:moveTo>
                    <a:pt x="0" y="146304"/>
                  </a:moveTo>
                  <a:cubicBezTo>
                    <a:pt x="0" y="65532"/>
                    <a:pt x="65532" y="0"/>
                    <a:pt x="146304" y="0"/>
                  </a:cubicBezTo>
                  <a:lnTo>
                    <a:pt x="16184880" y="0"/>
                  </a:lnTo>
                  <a:cubicBezTo>
                    <a:pt x="16265652" y="0"/>
                    <a:pt x="16331185" y="65532"/>
                    <a:pt x="16331185" y="146304"/>
                  </a:cubicBezTo>
                  <a:lnTo>
                    <a:pt x="16331185" y="3785616"/>
                  </a:lnTo>
                  <a:cubicBezTo>
                    <a:pt x="16331185" y="3866388"/>
                    <a:pt x="16265652" y="3931920"/>
                    <a:pt x="16184880" y="3931920"/>
                  </a:cubicBezTo>
                  <a:lnTo>
                    <a:pt x="146304" y="3931920"/>
                  </a:lnTo>
                  <a:cubicBezTo>
                    <a:pt x="65532" y="3931920"/>
                    <a:pt x="0" y="3866388"/>
                    <a:pt x="0" y="3785616"/>
                  </a:cubicBezTo>
                  <a:close/>
                </a:path>
              </a:pathLst>
            </a:custGeom>
            <a:solidFill>
              <a:srgbClr val="FFD23B"/>
            </a:solidFill>
          </p:spPr>
          <p:txBody>
            <a:bodyPr/>
            <a:p/>
          </p:txBody>
        </p:sp>
      </p:grpSp>
      <p:grpSp>
        <p:nvGrpSpPr>
          <p:cNvPr name="Group 47" id="47"/>
          <p:cNvGrpSpPr/>
          <p:nvPr/>
        </p:nvGrpSpPr>
        <p:grpSpPr>
          <a:xfrm rot="0">
            <a:off x="3566160" y="6281928"/>
            <a:ext cx="3566160" cy="493776"/>
            <a:chOff x="0" y="0"/>
            <a:chExt cx="4754880" cy="658368"/>
          </a:xfrm>
        </p:grpSpPr>
        <p:sp>
          <p:nvSpPr>
            <p:cNvPr name="Freeform 48" id="48"/>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txBody>
            <a:bodyPr/>
            <a:p/>
          </p:txBody>
        </p:sp>
      </p:grpSp>
      <p:grpSp>
        <p:nvGrpSpPr>
          <p:cNvPr name="Group 49" id="49"/>
          <p:cNvGrpSpPr/>
          <p:nvPr/>
        </p:nvGrpSpPr>
        <p:grpSpPr>
          <a:xfrm rot="0">
            <a:off x="3566160" y="6239066"/>
            <a:ext cx="3566160" cy="536638"/>
            <a:chOff x="0" y="0"/>
            <a:chExt cx="4754880" cy="715518"/>
          </a:xfrm>
        </p:grpSpPr>
        <p:sp>
          <p:nvSpPr>
            <p:cNvPr name="Freeform 50" id="50"/>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394" r="0" b="-79396"/>
              </a:stretch>
            </a:blipFill>
          </p:spPr>
          <p:txBody>
            <a:bodyPr/>
            <a:p/>
          </p:txBody>
        </p:sp>
      </p:grpSp>
      <p:grpSp>
        <p:nvGrpSpPr>
          <p:cNvPr name="Group 51" id="51"/>
          <p:cNvGrpSpPr/>
          <p:nvPr/>
        </p:nvGrpSpPr>
        <p:grpSpPr>
          <a:xfrm rot="0">
            <a:off x="3566160" y="6196203"/>
            <a:ext cx="3566160" cy="579501"/>
            <a:chOff x="0" y="0"/>
            <a:chExt cx="4754880" cy="772668"/>
          </a:xfrm>
        </p:grpSpPr>
        <p:sp>
          <p:nvSpPr>
            <p:cNvPr name="Freeform 52" id="52"/>
            <p:cNvSpPr/>
            <p:nvPr/>
          </p:nvSpPr>
          <p:spPr>
            <a:xfrm flipH="false" flipV="false" rot="0">
              <a:off x="0" y="0"/>
              <a:ext cx="4754880" cy="772667"/>
            </a:xfrm>
            <a:custGeom>
              <a:avLst/>
              <a:gdLst/>
              <a:ahLst/>
              <a:cxnLst/>
              <a:rect r="r" b="b" t="t" l="l"/>
              <a:pathLst>
                <a:path h="772667" w="4754880">
                  <a:moveTo>
                    <a:pt x="0" y="0"/>
                  </a:moveTo>
                  <a:lnTo>
                    <a:pt x="4754880" y="0"/>
                  </a:lnTo>
                  <a:lnTo>
                    <a:pt x="4754880" y="772667"/>
                  </a:lnTo>
                  <a:lnTo>
                    <a:pt x="0" y="772667"/>
                  </a:lnTo>
                  <a:close/>
                </a:path>
              </a:pathLst>
            </a:custGeom>
            <a:blipFill>
              <a:blip r:embed="rId7">
                <a:alphaModFix amt="0"/>
              </a:blip>
              <a:stretch>
                <a:fillRect l="0" t="-69907" r="0" b="-69908"/>
              </a:stretch>
            </a:blipFill>
          </p:spPr>
          <p:txBody>
            <a:bodyPr/>
            <a:p/>
          </p:txBody>
        </p:sp>
        <p:sp>
          <p:nvSpPr>
            <p:cNvPr name="TextBox 53" id="53"/>
            <p:cNvSpPr txBox="true"/>
            <p:nvPr/>
          </p:nvSpPr>
          <p:spPr>
            <a:xfrm>
              <a:off x="0" y="-57150"/>
              <a:ext cx="4754880" cy="82981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Penyaji</a:t>
              </a:r>
            </a:p>
          </p:txBody>
        </p:sp>
      </p:grpSp>
      <p:grpSp>
        <p:nvGrpSpPr>
          <p:cNvPr name="Group 54" id="54"/>
          <p:cNvGrpSpPr/>
          <p:nvPr/>
        </p:nvGrpSpPr>
        <p:grpSpPr>
          <a:xfrm rot="0">
            <a:off x="7132320" y="6281928"/>
            <a:ext cx="274320" cy="493776"/>
            <a:chOff x="0" y="0"/>
            <a:chExt cx="365760" cy="658368"/>
          </a:xfrm>
        </p:grpSpPr>
        <p:sp>
          <p:nvSpPr>
            <p:cNvPr name="Freeform 55" id="55"/>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txBody>
            <a:bodyPr/>
            <a:p/>
          </p:txBody>
        </p:sp>
      </p:grpSp>
      <p:grpSp>
        <p:nvGrpSpPr>
          <p:cNvPr name="Group 56" id="56"/>
          <p:cNvGrpSpPr/>
          <p:nvPr/>
        </p:nvGrpSpPr>
        <p:grpSpPr>
          <a:xfrm rot="0">
            <a:off x="7132320" y="6239066"/>
            <a:ext cx="274320" cy="536638"/>
            <a:chOff x="0" y="0"/>
            <a:chExt cx="365760" cy="715518"/>
          </a:xfrm>
        </p:grpSpPr>
        <p:sp>
          <p:nvSpPr>
            <p:cNvPr name="Freeform 57" id="57"/>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1166" t="0" r="-201170" b="0"/>
              </a:stretch>
            </a:blipFill>
          </p:spPr>
          <p:txBody>
            <a:bodyPr/>
            <a:p/>
          </p:txBody>
        </p:sp>
      </p:grpSp>
      <p:grpSp>
        <p:nvGrpSpPr>
          <p:cNvPr name="Group 58" id="58"/>
          <p:cNvGrpSpPr/>
          <p:nvPr/>
        </p:nvGrpSpPr>
        <p:grpSpPr>
          <a:xfrm rot="0">
            <a:off x="7132320" y="6196203"/>
            <a:ext cx="274320" cy="579501"/>
            <a:chOff x="0" y="0"/>
            <a:chExt cx="365760" cy="772668"/>
          </a:xfrm>
        </p:grpSpPr>
        <p:sp>
          <p:nvSpPr>
            <p:cNvPr name="Freeform 59" id="59"/>
            <p:cNvSpPr/>
            <p:nvPr/>
          </p:nvSpPr>
          <p:spPr>
            <a:xfrm flipH="false" flipV="false" rot="0">
              <a:off x="0" y="0"/>
              <a:ext cx="365760" cy="772667"/>
            </a:xfrm>
            <a:custGeom>
              <a:avLst/>
              <a:gdLst/>
              <a:ahLst/>
              <a:cxnLst/>
              <a:rect r="r" b="b" t="t" l="l"/>
              <a:pathLst>
                <a:path h="772667" w="365760">
                  <a:moveTo>
                    <a:pt x="0" y="0"/>
                  </a:moveTo>
                  <a:lnTo>
                    <a:pt x="365760" y="0"/>
                  </a:lnTo>
                  <a:lnTo>
                    <a:pt x="365760" y="772667"/>
                  </a:lnTo>
                  <a:lnTo>
                    <a:pt x="0" y="772667"/>
                  </a:lnTo>
                  <a:close/>
                </a:path>
              </a:pathLst>
            </a:custGeom>
            <a:blipFill>
              <a:blip r:embed="rId7">
                <a:alphaModFix amt="0"/>
              </a:blip>
              <a:stretch>
                <a:fillRect l="-221041" t="0" r="-221041" b="0"/>
              </a:stretch>
            </a:blipFill>
          </p:spPr>
          <p:txBody>
            <a:bodyPr/>
            <a:p/>
          </p:txBody>
        </p:sp>
        <p:sp>
          <p:nvSpPr>
            <p:cNvPr name="TextBox 60" id="60"/>
            <p:cNvSpPr txBox="true"/>
            <p:nvPr/>
          </p:nvSpPr>
          <p:spPr>
            <a:xfrm>
              <a:off x="0" y="-57150"/>
              <a:ext cx="365760" cy="82981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61" id="61"/>
          <p:cNvGrpSpPr/>
          <p:nvPr/>
        </p:nvGrpSpPr>
        <p:grpSpPr>
          <a:xfrm rot="0">
            <a:off x="7543800" y="6281928"/>
            <a:ext cx="7406640" cy="493776"/>
            <a:chOff x="0" y="0"/>
            <a:chExt cx="9875520" cy="658368"/>
          </a:xfrm>
        </p:grpSpPr>
        <p:sp>
          <p:nvSpPr>
            <p:cNvPr name="Freeform 62" id="62"/>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txBody>
            <a:bodyPr/>
            <a:p/>
          </p:txBody>
        </p:sp>
      </p:grpSp>
      <p:grpSp>
        <p:nvGrpSpPr>
          <p:cNvPr name="Group 63" id="63"/>
          <p:cNvGrpSpPr/>
          <p:nvPr/>
        </p:nvGrpSpPr>
        <p:grpSpPr>
          <a:xfrm rot="0">
            <a:off x="7543800" y="6239066"/>
            <a:ext cx="7406640" cy="536638"/>
            <a:chOff x="0" y="0"/>
            <a:chExt cx="9875520" cy="715518"/>
          </a:xfrm>
        </p:grpSpPr>
        <p:sp>
          <p:nvSpPr>
            <p:cNvPr name="Freeform 64" id="64"/>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743" r="0" b="-218745"/>
              </a:stretch>
            </a:blipFill>
          </p:spPr>
          <p:txBody>
            <a:bodyPr/>
            <a:p/>
          </p:txBody>
        </p:sp>
      </p:grpSp>
      <p:grpSp>
        <p:nvGrpSpPr>
          <p:cNvPr name="Group 65" id="65"/>
          <p:cNvGrpSpPr/>
          <p:nvPr/>
        </p:nvGrpSpPr>
        <p:grpSpPr>
          <a:xfrm rot="0">
            <a:off x="7543800" y="6196203"/>
            <a:ext cx="7406640" cy="579501"/>
            <a:chOff x="0" y="0"/>
            <a:chExt cx="9875520" cy="772668"/>
          </a:xfrm>
        </p:grpSpPr>
        <p:sp>
          <p:nvSpPr>
            <p:cNvPr name="Freeform 66" id="66"/>
            <p:cNvSpPr/>
            <p:nvPr/>
          </p:nvSpPr>
          <p:spPr>
            <a:xfrm flipH="false" flipV="false" rot="0">
              <a:off x="0" y="0"/>
              <a:ext cx="9875520" cy="772667"/>
            </a:xfrm>
            <a:custGeom>
              <a:avLst/>
              <a:gdLst/>
              <a:ahLst/>
              <a:cxnLst/>
              <a:rect r="r" b="b" t="t" l="l"/>
              <a:pathLst>
                <a:path h="772667" w="9875520">
                  <a:moveTo>
                    <a:pt x="0" y="0"/>
                  </a:moveTo>
                  <a:lnTo>
                    <a:pt x="9875520" y="0"/>
                  </a:lnTo>
                  <a:lnTo>
                    <a:pt x="9875520" y="772667"/>
                  </a:lnTo>
                  <a:lnTo>
                    <a:pt x="0" y="772667"/>
                  </a:lnTo>
                  <a:close/>
                </a:path>
              </a:pathLst>
            </a:custGeom>
            <a:blipFill>
              <a:blip r:embed="rId7">
                <a:alphaModFix amt="0"/>
              </a:blip>
              <a:stretch>
                <a:fillRect l="0" t="-199039" r="0" b="-199039"/>
              </a:stretch>
            </a:blipFill>
          </p:spPr>
          <p:txBody>
            <a:bodyPr/>
            <a:p/>
          </p:txBody>
        </p:sp>
        <p:sp>
          <p:nvSpPr>
            <p:cNvPr name="TextBox 67" id="67"/>
            <p:cNvSpPr txBox="true"/>
            <p:nvPr/>
          </p:nvSpPr>
          <p:spPr>
            <a:xfrm>
              <a:off x="0" y="-57150"/>
              <a:ext cx="9875520" cy="82981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Kevin Atha Fathoni Ramadha (222212691, 4SI1)</a:t>
              </a:r>
            </a:p>
          </p:txBody>
        </p:sp>
      </p:grpSp>
      <p:grpSp>
        <p:nvGrpSpPr>
          <p:cNvPr name="Group 68" id="68"/>
          <p:cNvGrpSpPr/>
          <p:nvPr/>
        </p:nvGrpSpPr>
        <p:grpSpPr>
          <a:xfrm rot="0">
            <a:off x="3566160" y="6926580"/>
            <a:ext cx="3566160" cy="493776"/>
            <a:chOff x="0" y="0"/>
            <a:chExt cx="4754880" cy="658368"/>
          </a:xfrm>
        </p:grpSpPr>
        <p:sp>
          <p:nvSpPr>
            <p:cNvPr name="Freeform 69" id="69"/>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txBody>
            <a:bodyPr/>
            <a:p/>
          </p:txBody>
        </p:sp>
      </p:grpSp>
      <p:grpSp>
        <p:nvGrpSpPr>
          <p:cNvPr name="Group 70" id="70"/>
          <p:cNvGrpSpPr/>
          <p:nvPr/>
        </p:nvGrpSpPr>
        <p:grpSpPr>
          <a:xfrm rot="0">
            <a:off x="3566160" y="6883718"/>
            <a:ext cx="3566160" cy="536638"/>
            <a:chOff x="0" y="0"/>
            <a:chExt cx="4754880" cy="715518"/>
          </a:xfrm>
        </p:grpSpPr>
        <p:sp>
          <p:nvSpPr>
            <p:cNvPr name="Freeform 71" id="71"/>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394" r="0" b="-79396"/>
              </a:stretch>
            </a:blipFill>
          </p:spPr>
          <p:txBody>
            <a:bodyPr/>
            <a:p/>
          </p:txBody>
        </p:sp>
      </p:grpSp>
      <p:grpSp>
        <p:nvGrpSpPr>
          <p:cNvPr name="Group 72" id="72"/>
          <p:cNvGrpSpPr/>
          <p:nvPr/>
        </p:nvGrpSpPr>
        <p:grpSpPr>
          <a:xfrm rot="0">
            <a:off x="3566160" y="6840855"/>
            <a:ext cx="3566160" cy="579501"/>
            <a:chOff x="0" y="0"/>
            <a:chExt cx="4754880" cy="772668"/>
          </a:xfrm>
        </p:grpSpPr>
        <p:sp>
          <p:nvSpPr>
            <p:cNvPr name="Freeform 73" id="73"/>
            <p:cNvSpPr/>
            <p:nvPr/>
          </p:nvSpPr>
          <p:spPr>
            <a:xfrm flipH="false" flipV="false" rot="0">
              <a:off x="0" y="0"/>
              <a:ext cx="4754880" cy="772667"/>
            </a:xfrm>
            <a:custGeom>
              <a:avLst/>
              <a:gdLst/>
              <a:ahLst/>
              <a:cxnLst/>
              <a:rect r="r" b="b" t="t" l="l"/>
              <a:pathLst>
                <a:path h="772667" w="4754880">
                  <a:moveTo>
                    <a:pt x="0" y="0"/>
                  </a:moveTo>
                  <a:lnTo>
                    <a:pt x="4754880" y="0"/>
                  </a:lnTo>
                  <a:lnTo>
                    <a:pt x="4754880" y="772667"/>
                  </a:lnTo>
                  <a:lnTo>
                    <a:pt x="0" y="772667"/>
                  </a:lnTo>
                  <a:close/>
                </a:path>
              </a:pathLst>
            </a:custGeom>
            <a:blipFill>
              <a:blip r:embed="rId7">
                <a:alphaModFix amt="0"/>
              </a:blip>
              <a:stretch>
                <a:fillRect l="0" t="-69907" r="0" b="-69908"/>
              </a:stretch>
            </a:blipFill>
          </p:spPr>
          <p:txBody>
            <a:bodyPr/>
            <a:p/>
          </p:txBody>
        </p:sp>
        <p:sp>
          <p:nvSpPr>
            <p:cNvPr name="TextBox 74" id="74"/>
            <p:cNvSpPr txBox="true"/>
            <p:nvPr/>
          </p:nvSpPr>
          <p:spPr>
            <a:xfrm>
              <a:off x="0" y="-57150"/>
              <a:ext cx="4754880" cy="82981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Dosen Pembimbing</a:t>
              </a:r>
            </a:p>
          </p:txBody>
        </p:sp>
      </p:grpSp>
      <p:grpSp>
        <p:nvGrpSpPr>
          <p:cNvPr name="Group 75" id="75"/>
          <p:cNvGrpSpPr/>
          <p:nvPr/>
        </p:nvGrpSpPr>
        <p:grpSpPr>
          <a:xfrm rot="0">
            <a:off x="7132320" y="6926580"/>
            <a:ext cx="274320" cy="493776"/>
            <a:chOff x="0" y="0"/>
            <a:chExt cx="365760" cy="658368"/>
          </a:xfrm>
        </p:grpSpPr>
        <p:sp>
          <p:nvSpPr>
            <p:cNvPr name="Freeform 76" id="76"/>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txBody>
            <a:bodyPr/>
            <a:p/>
          </p:txBody>
        </p:sp>
      </p:grpSp>
      <p:grpSp>
        <p:nvGrpSpPr>
          <p:cNvPr name="Group 77" id="77"/>
          <p:cNvGrpSpPr/>
          <p:nvPr/>
        </p:nvGrpSpPr>
        <p:grpSpPr>
          <a:xfrm rot="0">
            <a:off x="7132320" y="6883718"/>
            <a:ext cx="274320" cy="536638"/>
            <a:chOff x="0" y="0"/>
            <a:chExt cx="365760" cy="715518"/>
          </a:xfrm>
        </p:grpSpPr>
        <p:sp>
          <p:nvSpPr>
            <p:cNvPr name="Freeform 78" id="78"/>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1166" t="0" r="-201170" b="0"/>
              </a:stretch>
            </a:blipFill>
          </p:spPr>
          <p:txBody>
            <a:bodyPr/>
            <a:p/>
          </p:txBody>
        </p:sp>
      </p:grpSp>
      <p:grpSp>
        <p:nvGrpSpPr>
          <p:cNvPr name="Group 79" id="79"/>
          <p:cNvGrpSpPr/>
          <p:nvPr/>
        </p:nvGrpSpPr>
        <p:grpSpPr>
          <a:xfrm rot="0">
            <a:off x="7132320" y="6840855"/>
            <a:ext cx="274320" cy="579501"/>
            <a:chOff x="0" y="0"/>
            <a:chExt cx="365760" cy="772668"/>
          </a:xfrm>
        </p:grpSpPr>
        <p:sp>
          <p:nvSpPr>
            <p:cNvPr name="Freeform 80" id="80"/>
            <p:cNvSpPr/>
            <p:nvPr/>
          </p:nvSpPr>
          <p:spPr>
            <a:xfrm flipH="false" flipV="false" rot="0">
              <a:off x="0" y="0"/>
              <a:ext cx="365760" cy="772667"/>
            </a:xfrm>
            <a:custGeom>
              <a:avLst/>
              <a:gdLst/>
              <a:ahLst/>
              <a:cxnLst/>
              <a:rect r="r" b="b" t="t" l="l"/>
              <a:pathLst>
                <a:path h="772667" w="365760">
                  <a:moveTo>
                    <a:pt x="0" y="0"/>
                  </a:moveTo>
                  <a:lnTo>
                    <a:pt x="365760" y="0"/>
                  </a:lnTo>
                  <a:lnTo>
                    <a:pt x="365760" y="772667"/>
                  </a:lnTo>
                  <a:lnTo>
                    <a:pt x="0" y="772667"/>
                  </a:lnTo>
                  <a:close/>
                </a:path>
              </a:pathLst>
            </a:custGeom>
            <a:blipFill>
              <a:blip r:embed="rId7">
                <a:alphaModFix amt="0"/>
              </a:blip>
              <a:stretch>
                <a:fillRect l="-221041" t="0" r="-221041" b="0"/>
              </a:stretch>
            </a:blipFill>
          </p:spPr>
          <p:txBody>
            <a:bodyPr/>
            <a:p/>
          </p:txBody>
        </p:sp>
        <p:sp>
          <p:nvSpPr>
            <p:cNvPr name="TextBox 81" id="81"/>
            <p:cNvSpPr txBox="true"/>
            <p:nvPr/>
          </p:nvSpPr>
          <p:spPr>
            <a:xfrm>
              <a:off x="0" y="-57150"/>
              <a:ext cx="365760" cy="82981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82" id="82"/>
          <p:cNvGrpSpPr/>
          <p:nvPr/>
        </p:nvGrpSpPr>
        <p:grpSpPr>
          <a:xfrm rot="0">
            <a:off x="7543800" y="6926580"/>
            <a:ext cx="7406640" cy="493776"/>
            <a:chOff x="0" y="0"/>
            <a:chExt cx="9875520" cy="658368"/>
          </a:xfrm>
        </p:grpSpPr>
        <p:sp>
          <p:nvSpPr>
            <p:cNvPr name="Freeform 83" id="83"/>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txBody>
            <a:bodyPr/>
            <a:p/>
          </p:txBody>
        </p:sp>
      </p:grpSp>
      <p:grpSp>
        <p:nvGrpSpPr>
          <p:cNvPr name="Group 84" id="84"/>
          <p:cNvGrpSpPr/>
          <p:nvPr/>
        </p:nvGrpSpPr>
        <p:grpSpPr>
          <a:xfrm rot="0">
            <a:off x="7543800" y="6883718"/>
            <a:ext cx="7406640" cy="536638"/>
            <a:chOff x="0" y="0"/>
            <a:chExt cx="9875520" cy="715518"/>
          </a:xfrm>
        </p:grpSpPr>
        <p:sp>
          <p:nvSpPr>
            <p:cNvPr name="Freeform 85" id="85"/>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743" r="0" b="-218745"/>
              </a:stretch>
            </a:blipFill>
          </p:spPr>
          <p:txBody>
            <a:bodyPr/>
            <a:p/>
          </p:txBody>
        </p:sp>
      </p:grpSp>
      <p:grpSp>
        <p:nvGrpSpPr>
          <p:cNvPr name="Group 86" id="86"/>
          <p:cNvGrpSpPr/>
          <p:nvPr/>
        </p:nvGrpSpPr>
        <p:grpSpPr>
          <a:xfrm rot="0">
            <a:off x="7543800" y="6840855"/>
            <a:ext cx="7406640" cy="579501"/>
            <a:chOff x="0" y="0"/>
            <a:chExt cx="9875520" cy="772668"/>
          </a:xfrm>
        </p:grpSpPr>
        <p:sp>
          <p:nvSpPr>
            <p:cNvPr name="Freeform 87" id="87"/>
            <p:cNvSpPr/>
            <p:nvPr/>
          </p:nvSpPr>
          <p:spPr>
            <a:xfrm flipH="false" flipV="false" rot="0">
              <a:off x="0" y="0"/>
              <a:ext cx="9875520" cy="772667"/>
            </a:xfrm>
            <a:custGeom>
              <a:avLst/>
              <a:gdLst/>
              <a:ahLst/>
              <a:cxnLst/>
              <a:rect r="r" b="b" t="t" l="l"/>
              <a:pathLst>
                <a:path h="772667" w="9875520">
                  <a:moveTo>
                    <a:pt x="0" y="0"/>
                  </a:moveTo>
                  <a:lnTo>
                    <a:pt x="9875520" y="0"/>
                  </a:lnTo>
                  <a:lnTo>
                    <a:pt x="9875520" y="772667"/>
                  </a:lnTo>
                  <a:lnTo>
                    <a:pt x="0" y="772667"/>
                  </a:lnTo>
                  <a:close/>
                </a:path>
              </a:pathLst>
            </a:custGeom>
            <a:blipFill>
              <a:blip r:embed="rId7">
                <a:alphaModFix amt="0"/>
              </a:blip>
              <a:stretch>
                <a:fillRect l="0" t="-199039" r="0" b="-199039"/>
              </a:stretch>
            </a:blipFill>
          </p:spPr>
          <p:txBody>
            <a:bodyPr/>
            <a:p/>
          </p:txBody>
        </p:sp>
        <p:sp>
          <p:nvSpPr>
            <p:cNvPr name="TextBox 88" id="88"/>
            <p:cNvSpPr txBox="true"/>
            <p:nvPr/>
          </p:nvSpPr>
          <p:spPr>
            <a:xfrm>
              <a:off x="0" y="-57150"/>
              <a:ext cx="9875520" cy="82981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Dr. Eng. Arie Wahyu Wijayanto, S.S.T., M.T.</a:t>
              </a:r>
            </a:p>
          </p:txBody>
        </p:sp>
      </p:grpSp>
      <p:grpSp>
        <p:nvGrpSpPr>
          <p:cNvPr name="Group 89" id="89"/>
          <p:cNvGrpSpPr/>
          <p:nvPr/>
        </p:nvGrpSpPr>
        <p:grpSpPr>
          <a:xfrm rot="0">
            <a:off x="3566160" y="7571232"/>
            <a:ext cx="3566160" cy="493776"/>
            <a:chOff x="0" y="0"/>
            <a:chExt cx="4754880" cy="658368"/>
          </a:xfrm>
        </p:grpSpPr>
        <p:sp>
          <p:nvSpPr>
            <p:cNvPr name="Freeform 90" id="90"/>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txBody>
            <a:bodyPr/>
            <a:p/>
          </p:txBody>
        </p:sp>
      </p:grpSp>
      <p:grpSp>
        <p:nvGrpSpPr>
          <p:cNvPr name="Group 91" id="91"/>
          <p:cNvGrpSpPr/>
          <p:nvPr/>
        </p:nvGrpSpPr>
        <p:grpSpPr>
          <a:xfrm rot="0">
            <a:off x="3566160" y="7528370"/>
            <a:ext cx="3566160" cy="536638"/>
            <a:chOff x="0" y="0"/>
            <a:chExt cx="4754880" cy="715518"/>
          </a:xfrm>
        </p:grpSpPr>
        <p:sp>
          <p:nvSpPr>
            <p:cNvPr name="Freeform 92" id="92"/>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394" r="0" b="-79396"/>
              </a:stretch>
            </a:blipFill>
          </p:spPr>
          <p:txBody>
            <a:bodyPr/>
            <a:p/>
          </p:txBody>
        </p:sp>
      </p:grpSp>
      <p:grpSp>
        <p:nvGrpSpPr>
          <p:cNvPr name="Group 93" id="93"/>
          <p:cNvGrpSpPr/>
          <p:nvPr/>
        </p:nvGrpSpPr>
        <p:grpSpPr>
          <a:xfrm rot="0">
            <a:off x="3566160" y="7485507"/>
            <a:ext cx="3566160" cy="579501"/>
            <a:chOff x="0" y="0"/>
            <a:chExt cx="4754880" cy="772668"/>
          </a:xfrm>
        </p:grpSpPr>
        <p:sp>
          <p:nvSpPr>
            <p:cNvPr name="Freeform 94" id="94"/>
            <p:cNvSpPr/>
            <p:nvPr/>
          </p:nvSpPr>
          <p:spPr>
            <a:xfrm flipH="false" flipV="false" rot="0">
              <a:off x="0" y="0"/>
              <a:ext cx="4754880" cy="772667"/>
            </a:xfrm>
            <a:custGeom>
              <a:avLst/>
              <a:gdLst/>
              <a:ahLst/>
              <a:cxnLst/>
              <a:rect r="r" b="b" t="t" l="l"/>
              <a:pathLst>
                <a:path h="772667" w="4754880">
                  <a:moveTo>
                    <a:pt x="0" y="0"/>
                  </a:moveTo>
                  <a:lnTo>
                    <a:pt x="4754880" y="0"/>
                  </a:lnTo>
                  <a:lnTo>
                    <a:pt x="4754880" y="772667"/>
                  </a:lnTo>
                  <a:lnTo>
                    <a:pt x="0" y="772667"/>
                  </a:lnTo>
                  <a:close/>
                </a:path>
              </a:pathLst>
            </a:custGeom>
            <a:blipFill>
              <a:blip r:embed="rId7">
                <a:alphaModFix amt="0"/>
              </a:blip>
              <a:stretch>
                <a:fillRect l="0" t="-69907" r="0" b="-69908"/>
              </a:stretch>
            </a:blipFill>
          </p:spPr>
          <p:txBody>
            <a:bodyPr/>
            <a:p/>
          </p:txBody>
        </p:sp>
        <p:sp>
          <p:nvSpPr>
            <p:cNvPr name="TextBox 95" id="95"/>
            <p:cNvSpPr txBox="true"/>
            <p:nvPr/>
          </p:nvSpPr>
          <p:spPr>
            <a:xfrm>
              <a:off x="0" y="-57150"/>
              <a:ext cx="4754880" cy="82981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Dosen Penguji 1</a:t>
              </a:r>
            </a:p>
          </p:txBody>
        </p:sp>
      </p:grpSp>
      <p:grpSp>
        <p:nvGrpSpPr>
          <p:cNvPr name="Group 96" id="96"/>
          <p:cNvGrpSpPr/>
          <p:nvPr/>
        </p:nvGrpSpPr>
        <p:grpSpPr>
          <a:xfrm rot="0">
            <a:off x="7132320" y="7571232"/>
            <a:ext cx="274320" cy="493776"/>
            <a:chOff x="0" y="0"/>
            <a:chExt cx="365760" cy="658368"/>
          </a:xfrm>
        </p:grpSpPr>
        <p:sp>
          <p:nvSpPr>
            <p:cNvPr name="Freeform 97" id="97"/>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txBody>
            <a:bodyPr/>
            <a:p/>
          </p:txBody>
        </p:sp>
      </p:grpSp>
      <p:grpSp>
        <p:nvGrpSpPr>
          <p:cNvPr name="Group 98" id="98"/>
          <p:cNvGrpSpPr/>
          <p:nvPr/>
        </p:nvGrpSpPr>
        <p:grpSpPr>
          <a:xfrm rot="0">
            <a:off x="7132320" y="7528370"/>
            <a:ext cx="274320" cy="536638"/>
            <a:chOff x="0" y="0"/>
            <a:chExt cx="365760" cy="715518"/>
          </a:xfrm>
        </p:grpSpPr>
        <p:sp>
          <p:nvSpPr>
            <p:cNvPr name="Freeform 99" id="99"/>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1166" t="0" r="-201170" b="0"/>
              </a:stretch>
            </a:blipFill>
          </p:spPr>
          <p:txBody>
            <a:bodyPr/>
            <a:p/>
          </p:txBody>
        </p:sp>
      </p:grpSp>
      <p:grpSp>
        <p:nvGrpSpPr>
          <p:cNvPr name="Group 100" id="100"/>
          <p:cNvGrpSpPr/>
          <p:nvPr/>
        </p:nvGrpSpPr>
        <p:grpSpPr>
          <a:xfrm rot="0">
            <a:off x="7132320" y="7485507"/>
            <a:ext cx="274320" cy="579501"/>
            <a:chOff x="0" y="0"/>
            <a:chExt cx="365760" cy="772668"/>
          </a:xfrm>
        </p:grpSpPr>
        <p:sp>
          <p:nvSpPr>
            <p:cNvPr name="Freeform 101" id="101"/>
            <p:cNvSpPr/>
            <p:nvPr/>
          </p:nvSpPr>
          <p:spPr>
            <a:xfrm flipH="false" flipV="false" rot="0">
              <a:off x="0" y="0"/>
              <a:ext cx="365760" cy="772667"/>
            </a:xfrm>
            <a:custGeom>
              <a:avLst/>
              <a:gdLst/>
              <a:ahLst/>
              <a:cxnLst/>
              <a:rect r="r" b="b" t="t" l="l"/>
              <a:pathLst>
                <a:path h="772667" w="365760">
                  <a:moveTo>
                    <a:pt x="0" y="0"/>
                  </a:moveTo>
                  <a:lnTo>
                    <a:pt x="365760" y="0"/>
                  </a:lnTo>
                  <a:lnTo>
                    <a:pt x="365760" y="772667"/>
                  </a:lnTo>
                  <a:lnTo>
                    <a:pt x="0" y="772667"/>
                  </a:lnTo>
                  <a:close/>
                </a:path>
              </a:pathLst>
            </a:custGeom>
            <a:blipFill>
              <a:blip r:embed="rId7">
                <a:alphaModFix amt="0"/>
              </a:blip>
              <a:stretch>
                <a:fillRect l="-221041" t="0" r="-221041" b="0"/>
              </a:stretch>
            </a:blipFill>
          </p:spPr>
          <p:txBody>
            <a:bodyPr/>
            <a:p/>
          </p:txBody>
        </p:sp>
        <p:sp>
          <p:nvSpPr>
            <p:cNvPr name="TextBox 102" id="102"/>
            <p:cNvSpPr txBox="true"/>
            <p:nvPr/>
          </p:nvSpPr>
          <p:spPr>
            <a:xfrm>
              <a:off x="0" y="-57150"/>
              <a:ext cx="365760" cy="82981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103" id="103"/>
          <p:cNvGrpSpPr/>
          <p:nvPr/>
        </p:nvGrpSpPr>
        <p:grpSpPr>
          <a:xfrm rot="0">
            <a:off x="7543800" y="7571232"/>
            <a:ext cx="7406640" cy="493776"/>
            <a:chOff x="0" y="0"/>
            <a:chExt cx="9875520" cy="658368"/>
          </a:xfrm>
        </p:grpSpPr>
        <p:sp>
          <p:nvSpPr>
            <p:cNvPr name="Freeform 104" id="104"/>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txBody>
            <a:bodyPr/>
            <a:p/>
          </p:txBody>
        </p:sp>
      </p:grpSp>
      <p:grpSp>
        <p:nvGrpSpPr>
          <p:cNvPr name="Group 105" id="105"/>
          <p:cNvGrpSpPr/>
          <p:nvPr/>
        </p:nvGrpSpPr>
        <p:grpSpPr>
          <a:xfrm rot="0">
            <a:off x="7543800" y="7528370"/>
            <a:ext cx="7406640" cy="536638"/>
            <a:chOff x="0" y="0"/>
            <a:chExt cx="9875520" cy="715518"/>
          </a:xfrm>
        </p:grpSpPr>
        <p:sp>
          <p:nvSpPr>
            <p:cNvPr name="Freeform 106" id="106"/>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743" r="0" b="-218745"/>
              </a:stretch>
            </a:blipFill>
          </p:spPr>
          <p:txBody>
            <a:bodyPr/>
            <a:p/>
          </p:txBody>
        </p:sp>
      </p:grpSp>
      <p:grpSp>
        <p:nvGrpSpPr>
          <p:cNvPr name="Group 107" id="107"/>
          <p:cNvGrpSpPr/>
          <p:nvPr/>
        </p:nvGrpSpPr>
        <p:grpSpPr>
          <a:xfrm rot="0">
            <a:off x="7543800" y="7485507"/>
            <a:ext cx="7406640" cy="579501"/>
            <a:chOff x="0" y="0"/>
            <a:chExt cx="9875520" cy="772668"/>
          </a:xfrm>
        </p:grpSpPr>
        <p:sp>
          <p:nvSpPr>
            <p:cNvPr name="Freeform 108" id="108"/>
            <p:cNvSpPr/>
            <p:nvPr/>
          </p:nvSpPr>
          <p:spPr>
            <a:xfrm flipH="false" flipV="false" rot="0">
              <a:off x="0" y="0"/>
              <a:ext cx="9875520" cy="772667"/>
            </a:xfrm>
            <a:custGeom>
              <a:avLst/>
              <a:gdLst/>
              <a:ahLst/>
              <a:cxnLst/>
              <a:rect r="r" b="b" t="t" l="l"/>
              <a:pathLst>
                <a:path h="772667" w="9875520">
                  <a:moveTo>
                    <a:pt x="0" y="0"/>
                  </a:moveTo>
                  <a:lnTo>
                    <a:pt x="9875520" y="0"/>
                  </a:lnTo>
                  <a:lnTo>
                    <a:pt x="9875520" y="772667"/>
                  </a:lnTo>
                  <a:lnTo>
                    <a:pt x="0" y="772667"/>
                  </a:lnTo>
                  <a:close/>
                </a:path>
              </a:pathLst>
            </a:custGeom>
            <a:blipFill>
              <a:blip r:embed="rId7">
                <a:alphaModFix amt="0"/>
              </a:blip>
              <a:stretch>
                <a:fillRect l="0" t="-199039" r="0" b="-199039"/>
              </a:stretch>
            </a:blipFill>
          </p:spPr>
          <p:txBody>
            <a:bodyPr/>
            <a:p/>
          </p:txBody>
        </p:sp>
        <p:sp>
          <p:nvSpPr>
            <p:cNvPr name="TextBox 109" id="109"/>
            <p:cNvSpPr txBox="true"/>
            <p:nvPr/>
          </p:nvSpPr>
          <p:spPr>
            <a:xfrm>
              <a:off x="0" y="-57150"/>
              <a:ext cx="9875520" cy="82981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Ricky Yordani, S.S.T., M.Stat.</a:t>
              </a:r>
            </a:p>
          </p:txBody>
        </p:sp>
      </p:grpSp>
      <p:grpSp>
        <p:nvGrpSpPr>
          <p:cNvPr name="Group 110" id="110"/>
          <p:cNvGrpSpPr/>
          <p:nvPr/>
        </p:nvGrpSpPr>
        <p:grpSpPr>
          <a:xfrm rot="0">
            <a:off x="3566160" y="8215884"/>
            <a:ext cx="3566160" cy="493776"/>
            <a:chOff x="0" y="0"/>
            <a:chExt cx="4754880" cy="658368"/>
          </a:xfrm>
        </p:grpSpPr>
        <p:sp>
          <p:nvSpPr>
            <p:cNvPr name="Freeform 111" id="111"/>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txBody>
            <a:bodyPr/>
            <a:p/>
          </p:txBody>
        </p:sp>
      </p:grpSp>
      <p:grpSp>
        <p:nvGrpSpPr>
          <p:cNvPr name="Group 112" id="112"/>
          <p:cNvGrpSpPr/>
          <p:nvPr/>
        </p:nvGrpSpPr>
        <p:grpSpPr>
          <a:xfrm rot="0">
            <a:off x="3566160" y="8173021"/>
            <a:ext cx="3566160" cy="536638"/>
            <a:chOff x="0" y="0"/>
            <a:chExt cx="4754880" cy="715518"/>
          </a:xfrm>
        </p:grpSpPr>
        <p:sp>
          <p:nvSpPr>
            <p:cNvPr name="Freeform 113" id="113"/>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394" r="0" b="-79396"/>
              </a:stretch>
            </a:blipFill>
          </p:spPr>
          <p:txBody>
            <a:bodyPr/>
            <a:p/>
          </p:txBody>
        </p:sp>
      </p:grpSp>
      <p:grpSp>
        <p:nvGrpSpPr>
          <p:cNvPr name="Group 114" id="114"/>
          <p:cNvGrpSpPr/>
          <p:nvPr/>
        </p:nvGrpSpPr>
        <p:grpSpPr>
          <a:xfrm rot="0">
            <a:off x="3566160" y="8130159"/>
            <a:ext cx="3566160" cy="579501"/>
            <a:chOff x="0" y="0"/>
            <a:chExt cx="4754880" cy="772668"/>
          </a:xfrm>
        </p:grpSpPr>
        <p:sp>
          <p:nvSpPr>
            <p:cNvPr name="Freeform 115" id="115"/>
            <p:cNvSpPr/>
            <p:nvPr/>
          </p:nvSpPr>
          <p:spPr>
            <a:xfrm flipH="false" flipV="false" rot="0">
              <a:off x="0" y="0"/>
              <a:ext cx="4754880" cy="772667"/>
            </a:xfrm>
            <a:custGeom>
              <a:avLst/>
              <a:gdLst/>
              <a:ahLst/>
              <a:cxnLst/>
              <a:rect r="r" b="b" t="t" l="l"/>
              <a:pathLst>
                <a:path h="772667" w="4754880">
                  <a:moveTo>
                    <a:pt x="0" y="0"/>
                  </a:moveTo>
                  <a:lnTo>
                    <a:pt x="4754880" y="0"/>
                  </a:lnTo>
                  <a:lnTo>
                    <a:pt x="4754880" y="772667"/>
                  </a:lnTo>
                  <a:lnTo>
                    <a:pt x="0" y="772667"/>
                  </a:lnTo>
                  <a:close/>
                </a:path>
              </a:pathLst>
            </a:custGeom>
            <a:blipFill>
              <a:blip r:embed="rId7">
                <a:alphaModFix amt="0"/>
              </a:blip>
              <a:stretch>
                <a:fillRect l="0" t="-69907" r="0" b="-69908"/>
              </a:stretch>
            </a:blipFill>
          </p:spPr>
          <p:txBody>
            <a:bodyPr/>
            <a:p/>
          </p:txBody>
        </p:sp>
        <p:sp>
          <p:nvSpPr>
            <p:cNvPr name="TextBox 116" id="116"/>
            <p:cNvSpPr txBox="true"/>
            <p:nvPr/>
          </p:nvSpPr>
          <p:spPr>
            <a:xfrm>
              <a:off x="0" y="-57150"/>
              <a:ext cx="4754880" cy="82981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Dosen Penguji 2</a:t>
              </a:r>
            </a:p>
          </p:txBody>
        </p:sp>
      </p:grpSp>
      <p:grpSp>
        <p:nvGrpSpPr>
          <p:cNvPr name="Group 117" id="117"/>
          <p:cNvGrpSpPr/>
          <p:nvPr/>
        </p:nvGrpSpPr>
        <p:grpSpPr>
          <a:xfrm rot="0">
            <a:off x="7132320" y="8215884"/>
            <a:ext cx="274320" cy="493776"/>
            <a:chOff x="0" y="0"/>
            <a:chExt cx="365760" cy="658368"/>
          </a:xfrm>
        </p:grpSpPr>
        <p:sp>
          <p:nvSpPr>
            <p:cNvPr name="Freeform 118" id="118"/>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txBody>
            <a:bodyPr/>
            <a:p/>
          </p:txBody>
        </p:sp>
      </p:grpSp>
      <p:grpSp>
        <p:nvGrpSpPr>
          <p:cNvPr name="Group 119" id="119"/>
          <p:cNvGrpSpPr/>
          <p:nvPr/>
        </p:nvGrpSpPr>
        <p:grpSpPr>
          <a:xfrm rot="0">
            <a:off x="7132320" y="8173021"/>
            <a:ext cx="274320" cy="536638"/>
            <a:chOff x="0" y="0"/>
            <a:chExt cx="365760" cy="715518"/>
          </a:xfrm>
        </p:grpSpPr>
        <p:sp>
          <p:nvSpPr>
            <p:cNvPr name="Freeform 120" id="120"/>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1166" t="0" r="-201170" b="0"/>
              </a:stretch>
            </a:blipFill>
          </p:spPr>
          <p:txBody>
            <a:bodyPr/>
            <a:p/>
          </p:txBody>
        </p:sp>
      </p:grpSp>
      <p:grpSp>
        <p:nvGrpSpPr>
          <p:cNvPr name="Group 121" id="121"/>
          <p:cNvGrpSpPr/>
          <p:nvPr/>
        </p:nvGrpSpPr>
        <p:grpSpPr>
          <a:xfrm rot="0">
            <a:off x="7132320" y="8130159"/>
            <a:ext cx="274320" cy="579501"/>
            <a:chOff x="0" y="0"/>
            <a:chExt cx="365760" cy="772668"/>
          </a:xfrm>
        </p:grpSpPr>
        <p:sp>
          <p:nvSpPr>
            <p:cNvPr name="Freeform 122" id="122"/>
            <p:cNvSpPr/>
            <p:nvPr/>
          </p:nvSpPr>
          <p:spPr>
            <a:xfrm flipH="false" flipV="false" rot="0">
              <a:off x="0" y="0"/>
              <a:ext cx="365760" cy="772667"/>
            </a:xfrm>
            <a:custGeom>
              <a:avLst/>
              <a:gdLst/>
              <a:ahLst/>
              <a:cxnLst/>
              <a:rect r="r" b="b" t="t" l="l"/>
              <a:pathLst>
                <a:path h="772667" w="365760">
                  <a:moveTo>
                    <a:pt x="0" y="0"/>
                  </a:moveTo>
                  <a:lnTo>
                    <a:pt x="365760" y="0"/>
                  </a:lnTo>
                  <a:lnTo>
                    <a:pt x="365760" y="772667"/>
                  </a:lnTo>
                  <a:lnTo>
                    <a:pt x="0" y="772667"/>
                  </a:lnTo>
                  <a:close/>
                </a:path>
              </a:pathLst>
            </a:custGeom>
            <a:blipFill>
              <a:blip r:embed="rId7">
                <a:alphaModFix amt="0"/>
              </a:blip>
              <a:stretch>
                <a:fillRect l="-221041" t="0" r="-221041" b="0"/>
              </a:stretch>
            </a:blipFill>
          </p:spPr>
          <p:txBody>
            <a:bodyPr/>
            <a:p/>
          </p:txBody>
        </p:sp>
        <p:sp>
          <p:nvSpPr>
            <p:cNvPr name="TextBox 123" id="123"/>
            <p:cNvSpPr txBox="true"/>
            <p:nvPr/>
          </p:nvSpPr>
          <p:spPr>
            <a:xfrm>
              <a:off x="0" y="-57150"/>
              <a:ext cx="365760" cy="82981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124" id="124"/>
          <p:cNvGrpSpPr/>
          <p:nvPr/>
        </p:nvGrpSpPr>
        <p:grpSpPr>
          <a:xfrm rot="0">
            <a:off x="7543800" y="8215884"/>
            <a:ext cx="7406640" cy="493776"/>
            <a:chOff x="0" y="0"/>
            <a:chExt cx="9875520" cy="658368"/>
          </a:xfrm>
        </p:grpSpPr>
        <p:sp>
          <p:nvSpPr>
            <p:cNvPr name="Freeform 125" id="125"/>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txBody>
            <a:bodyPr/>
            <a:p/>
          </p:txBody>
        </p:sp>
      </p:grpSp>
      <p:grpSp>
        <p:nvGrpSpPr>
          <p:cNvPr name="Group 126" id="126"/>
          <p:cNvGrpSpPr/>
          <p:nvPr/>
        </p:nvGrpSpPr>
        <p:grpSpPr>
          <a:xfrm rot="0">
            <a:off x="7543800" y="8173021"/>
            <a:ext cx="7406640" cy="536638"/>
            <a:chOff x="0" y="0"/>
            <a:chExt cx="9875520" cy="715518"/>
          </a:xfrm>
        </p:grpSpPr>
        <p:sp>
          <p:nvSpPr>
            <p:cNvPr name="Freeform 127" id="127"/>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743" r="0" b="-218745"/>
              </a:stretch>
            </a:blipFill>
          </p:spPr>
          <p:txBody>
            <a:bodyPr/>
            <a:p/>
          </p:txBody>
        </p:sp>
      </p:grpSp>
      <p:grpSp>
        <p:nvGrpSpPr>
          <p:cNvPr name="Group 128" id="128"/>
          <p:cNvGrpSpPr/>
          <p:nvPr/>
        </p:nvGrpSpPr>
        <p:grpSpPr>
          <a:xfrm rot="0">
            <a:off x="7543800" y="8130159"/>
            <a:ext cx="7406640" cy="579501"/>
            <a:chOff x="0" y="0"/>
            <a:chExt cx="9875520" cy="772668"/>
          </a:xfrm>
        </p:grpSpPr>
        <p:sp>
          <p:nvSpPr>
            <p:cNvPr name="Freeform 129" id="129"/>
            <p:cNvSpPr/>
            <p:nvPr/>
          </p:nvSpPr>
          <p:spPr>
            <a:xfrm flipH="false" flipV="false" rot="0">
              <a:off x="0" y="0"/>
              <a:ext cx="9875520" cy="772667"/>
            </a:xfrm>
            <a:custGeom>
              <a:avLst/>
              <a:gdLst/>
              <a:ahLst/>
              <a:cxnLst/>
              <a:rect r="r" b="b" t="t" l="l"/>
              <a:pathLst>
                <a:path h="772667" w="9875520">
                  <a:moveTo>
                    <a:pt x="0" y="0"/>
                  </a:moveTo>
                  <a:lnTo>
                    <a:pt x="9875520" y="0"/>
                  </a:lnTo>
                  <a:lnTo>
                    <a:pt x="9875520" y="772667"/>
                  </a:lnTo>
                  <a:lnTo>
                    <a:pt x="0" y="772667"/>
                  </a:lnTo>
                  <a:close/>
                </a:path>
              </a:pathLst>
            </a:custGeom>
            <a:blipFill>
              <a:blip r:embed="rId7">
                <a:alphaModFix amt="0"/>
              </a:blip>
              <a:stretch>
                <a:fillRect l="0" t="-199039" r="0" b="-199039"/>
              </a:stretch>
            </a:blipFill>
          </p:spPr>
          <p:txBody>
            <a:bodyPr/>
            <a:p/>
          </p:txBody>
        </p:sp>
        <p:sp>
          <p:nvSpPr>
            <p:cNvPr name="TextBox 130" id="130"/>
            <p:cNvSpPr txBox="true"/>
            <p:nvPr/>
          </p:nvSpPr>
          <p:spPr>
            <a:xfrm>
              <a:off x="0" y="-57150"/>
              <a:ext cx="9875520" cy="82981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Ibnu Santoso, S.S.T., M.T.</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Alur paparan: tiga tujuan, tiga jawaban</a:t>
            </a:r>
          </a:p>
        </p:txBody>
      </p:sp>
      <p:grpSp>
        <p:nvGrpSpPr>
          <p:cNvPr name="Group 12" id="12"/>
          <p:cNvGrpSpPr/>
          <p:nvPr/>
        </p:nvGrpSpPr>
        <p:grpSpPr>
          <a:xfrm rot="0">
            <a:off x="822960" y="2743200"/>
            <a:ext cx="2537460" cy="4251960"/>
            <a:chOff x="0" y="0"/>
            <a:chExt cx="3383280" cy="5669280"/>
          </a:xfrm>
        </p:grpSpPr>
        <p:sp>
          <p:nvSpPr>
            <p:cNvPr name="Freeform 13" id="13"/>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14" id="14"/>
          <p:cNvGrpSpPr/>
          <p:nvPr/>
        </p:nvGrpSpPr>
        <p:grpSpPr>
          <a:xfrm rot="0">
            <a:off x="1097280" y="3086100"/>
            <a:ext cx="822960" cy="822960"/>
            <a:chOff x="0" y="0"/>
            <a:chExt cx="1097280" cy="1097280"/>
          </a:xfrm>
        </p:grpSpPr>
        <p:sp>
          <p:nvSpPr>
            <p:cNvPr name="Freeform 15" id="15"/>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txBody>
            <a:bodyPr/>
            <a:p/>
          </p:txBody>
        </p:sp>
      </p:grpSp>
      <p:grpSp>
        <p:nvGrpSpPr>
          <p:cNvPr name="Group 16" id="16"/>
          <p:cNvGrpSpPr/>
          <p:nvPr/>
        </p:nvGrpSpPr>
        <p:grpSpPr>
          <a:xfrm rot="0">
            <a:off x="1097280" y="3086100"/>
            <a:ext cx="822960" cy="822960"/>
            <a:chOff x="0" y="0"/>
            <a:chExt cx="1097280" cy="1097280"/>
          </a:xfrm>
        </p:grpSpPr>
        <p:sp>
          <p:nvSpPr>
            <p:cNvPr name="Freeform 17" id="17"/>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18" id="18"/>
          <p:cNvGrpSpPr/>
          <p:nvPr/>
        </p:nvGrpSpPr>
        <p:grpSpPr>
          <a:xfrm rot="0">
            <a:off x="1097280" y="3057525"/>
            <a:ext cx="822960" cy="851535"/>
            <a:chOff x="0" y="0"/>
            <a:chExt cx="1097280" cy="1135380"/>
          </a:xfrm>
        </p:grpSpPr>
        <p:sp>
          <p:nvSpPr>
            <p:cNvPr name="Freeform 19" id="19"/>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850" t="0" r="-82850" b="0"/>
              </a:stretch>
            </a:blipFill>
          </p:spPr>
          <p:txBody>
            <a:bodyPr/>
            <a:p/>
          </p:txBody>
        </p:sp>
      </p:grpSp>
      <p:grpSp>
        <p:nvGrpSpPr>
          <p:cNvPr name="Group 20" id="20"/>
          <p:cNvGrpSpPr/>
          <p:nvPr/>
        </p:nvGrpSpPr>
        <p:grpSpPr>
          <a:xfrm rot="0">
            <a:off x="1097280" y="3028950"/>
            <a:ext cx="822960" cy="880110"/>
            <a:chOff x="0" y="0"/>
            <a:chExt cx="1097280" cy="1173480"/>
          </a:xfrm>
        </p:grpSpPr>
        <p:sp>
          <p:nvSpPr>
            <p:cNvPr name="Freeform 21" id="21"/>
            <p:cNvSpPr/>
            <p:nvPr/>
          </p:nvSpPr>
          <p:spPr>
            <a:xfrm flipH="false" flipV="false" rot="0">
              <a:off x="0" y="0"/>
              <a:ext cx="1097280" cy="1173480"/>
            </a:xfrm>
            <a:custGeom>
              <a:avLst/>
              <a:gdLst/>
              <a:ahLst/>
              <a:cxnLst/>
              <a:rect r="r" b="b" t="t" l="l"/>
              <a:pathLst>
                <a:path h="1173480" w="1097280">
                  <a:moveTo>
                    <a:pt x="0" y="0"/>
                  </a:moveTo>
                  <a:lnTo>
                    <a:pt x="1097280" y="0"/>
                  </a:lnTo>
                  <a:lnTo>
                    <a:pt x="1097280" y="1173480"/>
                  </a:lnTo>
                  <a:lnTo>
                    <a:pt x="0" y="1173480"/>
                  </a:lnTo>
                  <a:close/>
                </a:path>
              </a:pathLst>
            </a:custGeom>
            <a:blipFill>
              <a:blip r:embed="rId6">
                <a:alphaModFix amt="0"/>
              </a:blip>
              <a:stretch>
                <a:fillRect l="-87213" t="0" r="-87213" b="0"/>
              </a:stretch>
            </a:blipFill>
          </p:spPr>
          <p:txBody>
            <a:bodyPr/>
            <a:p/>
          </p:txBody>
        </p:sp>
        <p:sp>
          <p:nvSpPr>
            <p:cNvPr name="TextBox 22" id="22"/>
            <p:cNvSpPr txBox="true"/>
            <p:nvPr/>
          </p:nvSpPr>
          <p:spPr>
            <a:xfrm>
              <a:off x="0" y="-38100"/>
              <a:ext cx="1097280" cy="12115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sp>
        <p:nvSpPr>
          <p:cNvPr name="TextBox 23" id="23"/>
          <p:cNvSpPr txBox="true"/>
          <p:nvPr/>
        </p:nvSpPr>
        <p:spPr>
          <a:xfrm rot="0">
            <a:off x="1097280" y="4080510"/>
            <a:ext cx="2057400" cy="1200150"/>
          </a:xfrm>
          <a:prstGeom prst="rect">
            <a:avLst/>
          </a:prstGeom>
        </p:spPr>
        <p:txBody>
          <a:bodyPr anchor="t" rtlCol="false" tIns="0" lIns="0" bIns="0" rIns="0">
            <a:spAutoFit/>
          </a:bodyPr>
          <a:lstStyle/>
          <a:p>
            <a:pPr algn="l">
              <a:lnSpc>
                <a:spcPts val="2878"/>
              </a:lnSpc>
            </a:pPr>
            <a:r>
              <a:rPr lang="en-US" sz="1899" b="true">
                <a:solidFill>
                  <a:srgbClr val="0B5E6E"/>
                </a:solidFill>
                <a:latin typeface="Calibri (MS) Bold"/>
                <a:ea typeface="Calibri (MS) Bold"/>
                <a:cs typeface="Calibri (MS) Bold"/>
                <a:sym typeface="Calibri (MS) Bold"/>
              </a:rPr>
              <a:t>Pendahuluan</a:t>
            </a:r>
          </a:p>
        </p:txBody>
      </p:sp>
      <p:sp>
        <p:nvSpPr>
          <p:cNvPr name="TextBox 24" id="24"/>
          <p:cNvSpPr txBox="true"/>
          <p:nvPr/>
        </p:nvSpPr>
        <p:spPr>
          <a:xfrm rot="0">
            <a:off x="1097280" y="5234940"/>
            <a:ext cx="2057400" cy="14859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Masalah, celah penelitian, tujuan, ruang lingkup</a:t>
            </a:r>
          </a:p>
        </p:txBody>
      </p:sp>
      <p:grpSp>
        <p:nvGrpSpPr>
          <p:cNvPr name="Group 25" id="25"/>
          <p:cNvGrpSpPr/>
          <p:nvPr/>
        </p:nvGrpSpPr>
        <p:grpSpPr>
          <a:xfrm rot="0">
            <a:off x="3642970" y="2743200"/>
            <a:ext cx="2537460" cy="4251960"/>
            <a:chOff x="0" y="0"/>
            <a:chExt cx="3383280" cy="5669280"/>
          </a:xfrm>
        </p:grpSpPr>
        <p:sp>
          <p:nvSpPr>
            <p:cNvPr name="Freeform 26" id="26"/>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27" id="27"/>
          <p:cNvGrpSpPr/>
          <p:nvPr/>
        </p:nvGrpSpPr>
        <p:grpSpPr>
          <a:xfrm rot="0">
            <a:off x="3917290" y="3086100"/>
            <a:ext cx="822960" cy="822960"/>
            <a:chOff x="0" y="0"/>
            <a:chExt cx="1097280" cy="1097280"/>
          </a:xfrm>
        </p:grpSpPr>
        <p:sp>
          <p:nvSpPr>
            <p:cNvPr name="Freeform 28" id="28"/>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txBody>
            <a:bodyPr/>
            <a:p/>
          </p:txBody>
        </p:sp>
      </p:grpSp>
      <p:grpSp>
        <p:nvGrpSpPr>
          <p:cNvPr name="Group 29" id="29"/>
          <p:cNvGrpSpPr/>
          <p:nvPr/>
        </p:nvGrpSpPr>
        <p:grpSpPr>
          <a:xfrm rot="0">
            <a:off x="3917290" y="3086100"/>
            <a:ext cx="822960" cy="822960"/>
            <a:chOff x="0" y="0"/>
            <a:chExt cx="1097280" cy="1097280"/>
          </a:xfrm>
        </p:grpSpPr>
        <p:sp>
          <p:nvSpPr>
            <p:cNvPr name="Freeform 30" id="30"/>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31" id="31"/>
          <p:cNvGrpSpPr/>
          <p:nvPr/>
        </p:nvGrpSpPr>
        <p:grpSpPr>
          <a:xfrm rot="0">
            <a:off x="3917290" y="3057525"/>
            <a:ext cx="822960" cy="851535"/>
            <a:chOff x="0" y="0"/>
            <a:chExt cx="1097280" cy="1135380"/>
          </a:xfrm>
        </p:grpSpPr>
        <p:sp>
          <p:nvSpPr>
            <p:cNvPr name="Freeform 32" id="32"/>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850" t="0" r="-82850" b="0"/>
              </a:stretch>
            </a:blipFill>
          </p:spPr>
          <p:txBody>
            <a:bodyPr/>
            <a:p/>
          </p:txBody>
        </p:sp>
      </p:grpSp>
      <p:grpSp>
        <p:nvGrpSpPr>
          <p:cNvPr name="Group 33" id="33"/>
          <p:cNvGrpSpPr/>
          <p:nvPr/>
        </p:nvGrpSpPr>
        <p:grpSpPr>
          <a:xfrm rot="0">
            <a:off x="3917290" y="3028950"/>
            <a:ext cx="822960" cy="880110"/>
            <a:chOff x="0" y="0"/>
            <a:chExt cx="1097280" cy="1173480"/>
          </a:xfrm>
        </p:grpSpPr>
        <p:sp>
          <p:nvSpPr>
            <p:cNvPr name="Freeform 34" id="34"/>
            <p:cNvSpPr/>
            <p:nvPr/>
          </p:nvSpPr>
          <p:spPr>
            <a:xfrm flipH="false" flipV="false" rot="0">
              <a:off x="0" y="0"/>
              <a:ext cx="1097280" cy="1173480"/>
            </a:xfrm>
            <a:custGeom>
              <a:avLst/>
              <a:gdLst/>
              <a:ahLst/>
              <a:cxnLst/>
              <a:rect r="r" b="b" t="t" l="l"/>
              <a:pathLst>
                <a:path h="1173480" w="1097280">
                  <a:moveTo>
                    <a:pt x="0" y="0"/>
                  </a:moveTo>
                  <a:lnTo>
                    <a:pt x="1097280" y="0"/>
                  </a:lnTo>
                  <a:lnTo>
                    <a:pt x="1097280" y="1173480"/>
                  </a:lnTo>
                  <a:lnTo>
                    <a:pt x="0" y="1173480"/>
                  </a:lnTo>
                  <a:close/>
                </a:path>
              </a:pathLst>
            </a:custGeom>
            <a:blipFill>
              <a:blip r:embed="rId6">
                <a:alphaModFix amt="0"/>
              </a:blip>
              <a:stretch>
                <a:fillRect l="-87213" t="0" r="-87213" b="0"/>
              </a:stretch>
            </a:blipFill>
          </p:spPr>
          <p:txBody>
            <a:bodyPr/>
            <a:p/>
          </p:txBody>
        </p:sp>
        <p:sp>
          <p:nvSpPr>
            <p:cNvPr name="TextBox 35" id="35"/>
            <p:cNvSpPr txBox="true"/>
            <p:nvPr/>
          </p:nvSpPr>
          <p:spPr>
            <a:xfrm>
              <a:off x="0" y="-38100"/>
              <a:ext cx="1097280" cy="12115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sp>
        <p:nvSpPr>
          <p:cNvPr name="TextBox 36" id="36"/>
          <p:cNvSpPr txBox="true"/>
          <p:nvPr/>
        </p:nvSpPr>
        <p:spPr>
          <a:xfrm rot="0">
            <a:off x="3917290" y="4080510"/>
            <a:ext cx="2057400" cy="1200150"/>
          </a:xfrm>
          <a:prstGeom prst="rect">
            <a:avLst/>
          </a:prstGeom>
        </p:spPr>
        <p:txBody>
          <a:bodyPr anchor="t" rtlCol="false" tIns="0" lIns="0" bIns="0" rIns="0">
            <a:spAutoFit/>
          </a:bodyPr>
          <a:lstStyle/>
          <a:p>
            <a:pPr algn="l">
              <a:lnSpc>
                <a:spcPts val="2878"/>
              </a:lnSpc>
            </a:pPr>
            <a:r>
              <a:rPr lang="en-US" sz="1899" b="true">
                <a:solidFill>
                  <a:srgbClr val="0B5E6E"/>
                </a:solidFill>
                <a:latin typeface="Calibri (MS) Bold"/>
                <a:ea typeface="Calibri (MS) Bold"/>
                <a:cs typeface="Calibri (MS) Bold"/>
                <a:sym typeface="Calibri (MS) Bold"/>
              </a:rPr>
              <a:t>Metodologi</a:t>
            </a:r>
          </a:p>
        </p:txBody>
      </p:sp>
      <p:sp>
        <p:nvSpPr>
          <p:cNvPr name="TextBox 37" id="37"/>
          <p:cNvSpPr txBox="true"/>
          <p:nvPr/>
        </p:nvSpPr>
        <p:spPr>
          <a:xfrm rot="0">
            <a:off x="3917290" y="5234940"/>
            <a:ext cx="2057400" cy="14859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Data, enam tahap penelitian, preprocessing</a:t>
            </a:r>
          </a:p>
        </p:txBody>
      </p:sp>
      <p:grpSp>
        <p:nvGrpSpPr>
          <p:cNvPr name="Group 38" id="38"/>
          <p:cNvGrpSpPr/>
          <p:nvPr/>
        </p:nvGrpSpPr>
        <p:grpSpPr>
          <a:xfrm rot="0">
            <a:off x="6462979" y="2743200"/>
            <a:ext cx="2537460" cy="4251960"/>
            <a:chOff x="0" y="0"/>
            <a:chExt cx="3383280" cy="5669280"/>
          </a:xfrm>
        </p:grpSpPr>
        <p:sp>
          <p:nvSpPr>
            <p:cNvPr name="Freeform 39" id="39"/>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40" id="40"/>
          <p:cNvGrpSpPr/>
          <p:nvPr/>
        </p:nvGrpSpPr>
        <p:grpSpPr>
          <a:xfrm rot="0">
            <a:off x="6737299" y="3086100"/>
            <a:ext cx="822960" cy="822960"/>
            <a:chOff x="0" y="0"/>
            <a:chExt cx="1097280" cy="1097280"/>
          </a:xfrm>
        </p:grpSpPr>
        <p:sp>
          <p:nvSpPr>
            <p:cNvPr name="Freeform 41" id="41"/>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txBody>
            <a:bodyPr/>
            <a:p/>
          </p:txBody>
        </p:sp>
      </p:grpSp>
      <p:grpSp>
        <p:nvGrpSpPr>
          <p:cNvPr name="Group 42" id="42"/>
          <p:cNvGrpSpPr/>
          <p:nvPr/>
        </p:nvGrpSpPr>
        <p:grpSpPr>
          <a:xfrm rot="0">
            <a:off x="6737299" y="3086100"/>
            <a:ext cx="822960" cy="822960"/>
            <a:chOff x="0" y="0"/>
            <a:chExt cx="1097280" cy="1097280"/>
          </a:xfrm>
        </p:grpSpPr>
        <p:sp>
          <p:nvSpPr>
            <p:cNvPr name="Freeform 43" id="4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44" id="44"/>
          <p:cNvGrpSpPr/>
          <p:nvPr/>
        </p:nvGrpSpPr>
        <p:grpSpPr>
          <a:xfrm rot="0">
            <a:off x="6737299" y="3057525"/>
            <a:ext cx="822960" cy="851535"/>
            <a:chOff x="0" y="0"/>
            <a:chExt cx="1097280" cy="1135380"/>
          </a:xfrm>
        </p:grpSpPr>
        <p:sp>
          <p:nvSpPr>
            <p:cNvPr name="Freeform 45" id="45"/>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850" t="0" r="-82850" b="0"/>
              </a:stretch>
            </a:blipFill>
          </p:spPr>
          <p:txBody>
            <a:bodyPr/>
            <a:p/>
          </p:txBody>
        </p:sp>
      </p:grpSp>
      <p:grpSp>
        <p:nvGrpSpPr>
          <p:cNvPr name="Group 46" id="46"/>
          <p:cNvGrpSpPr/>
          <p:nvPr/>
        </p:nvGrpSpPr>
        <p:grpSpPr>
          <a:xfrm rot="0">
            <a:off x="6737299" y="3028950"/>
            <a:ext cx="822960" cy="880110"/>
            <a:chOff x="0" y="0"/>
            <a:chExt cx="1097280" cy="1173480"/>
          </a:xfrm>
        </p:grpSpPr>
        <p:sp>
          <p:nvSpPr>
            <p:cNvPr name="Freeform 47" id="47"/>
            <p:cNvSpPr/>
            <p:nvPr/>
          </p:nvSpPr>
          <p:spPr>
            <a:xfrm flipH="false" flipV="false" rot="0">
              <a:off x="0" y="0"/>
              <a:ext cx="1097280" cy="1173480"/>
            </a:xfrm>
            <a:custGeom>
              <a:avLst/>
              <a:gdLst/>
              <a:ahLst/>
              <a:cxnLst/>
              <a:rect r="r" b="b" t="t" l="l"/>
              <a:pathLst>
                <a:path h="1173480" w="1097280">
                  <a:moveTo>
                    <a:pt x="0" y="0"/>
                  </a:moveTo>
                  <a:lnTo>
                    <a:pt x="1097280" y="0"/>
                  </a:lnTo>
                  <a:lnTo>
                    <a:pt x="1097280" y="1173480"/>
                  </a:lnTo>
                  <a:lnTo>
                    <a:pt x="0" y="1173480"/>
                  </a:lnTo>
                  <a:close/>
                </a:path>
              </a:pathLst>
            </a:custGeom>
            <a:blipFill>
              <a:blip r:embed="rId6">
                <a:alphaModFix amt="0"/>
              </a:blip>
              <a:stretch>
                <a:fillRect l="-87213" t="0" r="-87213" b="0"/>
              </a:stretch>
            </a:blipFill>
          </p:spPr>
          <p:txBody>
            <a:bodyPr/>
            <a:p/>
          </p:txBody>
        </p:sp>
        <p:sp>
          <p:nvSpPr>
            <p:cNvPr name="TextBox 48" id="48"/>
            <p:cNvSpPr txBox="true"/>
            <p:nvPr/>
          </p:nvSpPr>
          <p:spPr>
            <a:xfrm>
              <a:off x="0" y="-38100"/>
              <a:ext cx="1097280" cy="12115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sp>
        <p:nvSpPr>
          <p:cNvPr name="TextBox 49" id="49"/>
          <p:cNvSpPr txBox="true"/>
          <p:nvPr/>
        </p:nvSpPr>
        <p:spPr>
          <a:xfrm rot="0">
            <a:off x="6737299" y="4080510"/>
            <a:ext cx="2057400" cy="1200150"/>
          </a:xfrm>
          <a:prstGeom prst="rect">
            <a:avLst/>
          </a:prstGeom>
        </p:spPr>
        <p:txBody>
          <a:bodyPr anchor="t" rtlCol="false" tIns="0" lIns="0" bIns="0" rIns="0">
            <a:spAutoFit/>
          </a:bodyPr>
          <a:lstStyle/>
          <a:p>
            <a:pPr algn="l">
              <a:lnSpc>
                <a:spcPts val="2878"/>
              </a:lnSpc>
            </a:pPr>
            <a:r>
              <a:rPr lang="en-US" sz="1899" b="true">
                <a:solidFill>
                  <a:srgbClr val="0B5E6E"/>
                </a:solidFill>
                <a:latin typeface="Calibri (MS) Bold"/>
                <a:ea typeface="Calibri (MS) Bold"/>
                <a:cs typeface="Calibri (MS) Bold"/>
                <a:sym typeface="Calibri (MS) Bold"/>
              </a:rPr>
              <a:t>Tujuan 1</a:t>
            </a:r>
          </a:p>
        </p:txBody>
      </p:sp>
      <p:sp>
        <p:nvSpPr>
          <p:cNvPr name="TextBox 50" id="50"/>
          <p:cNvSpPr txBox="true"/>
          <p:nvPr/>
        </p:nvSpPr>
        <p:spPr>
          <a:xfrm rot="0">
            <a:off x="6737299" y="5234940"/>
            <a:ext cx="2057400" cy="14859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Variabel dan struktur Causal Loop Diagram</a:t>
            </a:r>
          </a:p>
        </p:txBody>
      </p:sp>
      <p:grpSp>
        <p:nvGrpSpPr>
          <p:cNvPr name="Group 51" id="51"/>
          <p:cNvGrpSpPr/>
          <p:nvPr/>
        </p:nvGrpSpPr>
        <p:grpSpPr>
          <a:xfrm rot="0">
            <a:off x="9282989" y="2743200"/>
            <a:ext cx="2537460" cy="4251960"/>
            <a:chOff x="0" y="0"/>
            <a:chExt cx="3383280" cy="5669280"/>
          </a:xfrm>
        </p:grpSpPr>
        <p:sp>
          <p:nvSpPr>
            <p:cNvPr name="Freeform 52" id="52"/>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53" id="53"/>
          <p:cNvGrpSpPr/>
          <p:nvPr/>
        </p:nvGrpSpPr>
        <p:grpSpPr>
          <a:xfrm rot="0">
            <a:off x="9557309" y="3086100"/>
            <a:ext cx="822960" cy="822960"/>
            <a:chOff x="0" y="0"/>
            <a:chExt cx="1097280" cy="1097280"/>
          </a:xfrm>
        </p:grpSpPr>
        <p:sp>
          <p:nvSpPr>
            <p:cNvPr name="Freeform 54" id="54"/>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0B5E6E"/>
            </a:solidFill>
          </p:spPr>
          <p:txBody>
            <a:bodyPr/>
            <a:p/>
          </p:txBody>
        </p:sp>
      </p:grpSp>
      <p:grpSp>
        <p:nvGrpSpPr>
          <p:cNvPr name="Group 55" id="55"/>
          <p:cNvGrpSpPr/>
          <p:nvPr/>
        </p:nvGrpSpPr>
        <p:grpSpPr>
          <a:xfrm rot="0">
            <a:off x="9557309" y="3086100"/>
            <a:ext cx="822960" cy="822960"/>
            <a:chOff x="0" y="0"/>
            <a:chExt cx="1097280" cy="1097280"/>
          </a:xfrm>
        </p:grpSpPr>
        <p:sp>
          <p:nvSpPr>
            <p:cNvPr name="Freeform 56" id="56"/>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57" id="57"/>
          <p:cNvGrpSpPr/>
          <p:nvPr/>
        </p:nvGrpSpPr>
        <p:grpSpPr>
          <a:xfrm rot="0">
            <a:off x="9557309" y="3057525"/>
            <a:ext cx="822960" cy="851535"/>
            <a:chOff x="0" y="0"/>
            <a:chExt cx="1097280" cy="1135380"/>
          </a:xfrm>
        </p:grpSpPr>
        <p:sp>
          <p:nvSpPr>
            <p:cNvPr name="Freeform 58" id="58"/>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850" t="0" r="-82850" b="0"/>
              </a:stretch>
            </a:blipFill>
          </p:spPr>
          <p:txBody>
            <a:bodyPr/>
            <a:p/>
          </p:txBody>
        </p:sp>
      </p:grpSp>
      <p:grpSp>
        <p:nvGrpSpPr>
          <p:cNvPr name="Group 59" id="59"/>
          <p:cNvGrpSpPr/>
          <p:nvPr/>
        </p:nvGrpSpPr>
        <p:grpSpPr>
          <a:xfrm rot="0">
            <a:off x="9557309" y="3028950"/>
            <a:ext cx="822960" cy="880110"/>
            <a:chOff x="0" y="0"/>
            <a:chExt cx="1097280" cy="1173480"/>
          </a:xfrm>
        </p:grpSpPr>
        <p:sp>
          <p:nvSpPr>
            <p:cNvPr name="Freeform 60" id="60"/>
            <p:cNvSpPr/>
            <p:nvPr/>
          </p:nvSpPr>
          <p:spPr>
            <a:xfrm flipH="false" flipV="false" rot="0">
              <a:off x="0" y="0"/>
              <a:ext cx="1097280" cy="1173480"/>
            </a:xfrm>
            <a:custGeom>
              <a:avLst/>
              <a:gdLst/>
              <a:ahLst/>
              <a:cxnLst/>
              <a:rect r="r" b="b" t="t" l="l"/>
              <a:pathLst>
                <a:path h="1173480" w="1097280">
                  <a:moveTo>
                    <a:pt x="0" y="0"/>
                  </a:moveTo>
                  <a:lnTo>
                    <a:pt x="1097280" y="0"/>
                  </a:lnTo>
                  <a:lnTo>
                    <a:pt x="1097280" y="1173480"/>
                  </a:lnTo>
                  <a:lnTo>
                    <a:pt x="0" y="1173480"/>
                  </a:lnTo>
                  <a:close/>
                </a:path>
              </a:pathLst>
            </a:custGeom>
            <a:blipFill>
              <a:blip r:embed="rId6">
                <a:alphaModFix amt="0"/>
              </a:blip>
              <a:stretch>
                <a:fillRect l="-87213" t="0" r="-87213" b="0"/>
              </a:stretch>
            </a:blipFill>
          </p:spPr>
          <p:txBody>
            <a:bodyPr/>
            <a:p/>
          </p:txBody>
        </p:sp>
        <p:sp>
          <p:nvSpPr>
            <p:cNvPr name="TextBox 61" id="61"/>
            <p:cNvSpPr txBox="true"/>
            <p:nvPr/>
          </p:nvSpPr>
          <p:spPr>
            <a:xfrm>
              <a:off x="0" y="-38100"/>
              <a:ext cx="1097280" cy="12115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4</a:t>
              </a:r>
            </a:p>
          </p:txBody>
        </p:sp>
      </p:grpSp>
      <p:sp>
        <p:nvSpPr>
          <p:cNvPr name="TextBox 62" id="62"/>
          <p:cNvSpPr txBox="true"/>
          <p:nvPr/>
        </p:nvSpPr>
        <p:spPr>
          <a:xfrm rot="0">
            <a:off x="9557309" y="4080510"/>
            <a:ext cx="2057400" cy="1200150"/>
          </a:xfrm>
          <a:prstGeom prst="rect">
            <a:avLst/>
          </a:prstGeom>
        </p:spPr>
        <p:txBody>
          <a:bodyPr anchor="t" rtlCol="false" tIns="0" lIns="0" bIns="0" rIns="0">
            <a:spAutoFit/>
          </a:bodyPr>
          <a:lstStyle/>
          <a:p>
            <a:pPr algn="l">
              <a:lnSpc>
                <a:spcPts val="2878"/>
              </a:lnSpc>
            </a:pPr>
            <a:r>
              <a:rPr lang="en-US" sz="1899" b="true">
                <a:solidFill>
                  <a:srgbClr val="0B5E6E"/>
                </a:solidFill>
                <a:latin typeface="Calibri (MS) Bold"/>
                <a:ea typeface="Calibri (MS) Bold"/>
                <a:cs typeface="Calibri (MS) Bold"/>
                <a:sym typeface="Calibri (MS) Bold"/>
              </a:rPr>
              <a:t>Tujuan 2</a:t>
            </a:r>
          </a:p>
        </p:txBody>
      </p:sp>
      <p:sp>
        <p:nvSpPr>
          <p:cNvPr name="TextBox 63" id="63"/>
          <p:cNvSpPr txBox="true"/>
          <p:nvPr/>
        </p:nvSpPr>
        <p:spPr>
          <a:xfrm rot="0">
            <a:off x="9557309" y="5234940"/>
            <a:ext cx="2057400" cy="14859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Citra satelit, model, validasi, skenario kebijakan</a:t>
            </a:r>
          </a:p>
        </p:txBody>
      </p:sp>
      <p:grpSp>
        <p:nvGrpSpPr>
          <p:cNvPr name="Group 64" id="64"/>
          <p:cNvGrpSpPr/>
          <p:nvPr/>
        </p:nvGrpSpPr>
        <p:grpSpPr>
          <a:xfrm rot="0">
            <a:off x="12102998" y="2743200"/>
            <a:ext cx="2537460" cy="4251960"/>
            <a:chOff x="0" y="0"/>
            <a:chExt cx="3383280" cy="5669280"/>
          </a:xfrm>
        </p:grpSpPr>
        <p:sp>
          <p:nvSpPr>
            <p:cNvPr name="Freeform 65" id="65"/>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66" id="66"/>
          <p:cNvGrpSpPr/>
          <p:nvPr/>
        </p:nvGrpSpPr>
        <p:grpSpPr>
          <a:xfrm rot="0">
            <a:off x="12377318" y="3086100"/>
            <a:ext cx="822960" cy="822960"/>
            <a:chOff x="0" y="0"/>
            <a:chExt cx="1097280" cy="1097280"/>
          </a:xfrm>
        </p:grpSpPr>
        <p:sp>
          <p:nvSpPr>
            <p:cNvPr name="Freeform 67" id="67"/>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txBody>
            <a:bodyPr/>
            <a:p/>
          </p:txBody>
        </p:sp>
      </p:grpSp>
      <p:grpSp>
        <p:nvGrpSpPr>
          <p:cNvPr name="Group 68" id="68"/>
          <p:cNvGrpSpPr/>
          <p:nvPr/>
        </p:nvGrpSpPr>
        <p:grpSpPr>
          <a:xfrm rot="0">
            <a:off x="12377318" y="3086100"/>
            <a:ext cx="822960" cy="822960"/>
            <a:chOff x="0" y="0"/>
            <a:chExt cx="1097280" cy="1097280"/>
          </a:xfrm>
        </p:grpSpPr>
        <p:sp>
          <p:nvSpPr>
            <p:cNvPr name="Freeform 69" id="69"/>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70" id="70"/>
          <p:cNvGrpSpPr/>
          <p:nvPr/>
        </p:nvGrpSpPr>
        <p:grpSpPr>
          <a:xfrm rot="0">
            <a:off x="12377318" y="3057525"/>
            <a:ext cx="822960" cy="851535"/>
            <a:chOff x="0" y="0"/>
            <a:chExt cx="1097280" cy="1135380"/>
          </a:xfrm>
        </p:grpSpPr>
        <p:sp>
          <p:nvSpPr>
            <p:cNvPr name="Freeform 71" id="71"/>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850" t="0" r="-82850" b="0"/>
              </a:stretch>
            </a:blipFill>
          </p:spPr>
          <p:txBody>
            <a:bodyPr/>
            <a:p/>
          </p:txBody>
        </p:sp>
      </p:grpSp>
      <p:grpSp>
        <p:nvGrpSpPr>
          <p:cNvPr name="Group 72" id="72"/>
          <p:cNvGrpSpPr/>
          <p:nvPr/>
        </p:nvGrpSpPr>
        <p:grpSpPr>
          <a:xfrm rot="0">
            <a:off x="12377318" y="3028950"/>
            <a:ext cx="822960" cy="880110"/>
            <a:chOff x="0" y="0"/>
            <a:chExt cx="1097280" cy="1173480"/>
          </a:xfrm>
        </p:grpSpPr>
        <p:sp>
          <p:nvSpPr>
            <p:cNvPr name="Freeform 73" id="73"/>
            <p:cNvSpPr/>
            <p:nvPr/>
          </p:nvSpPr>
          <p:spPr>
            <a:xfrm flipH="false" flipV="false" rot="0">
              <a:off x="0" y="0"/>
              <a:ext cx="1097280" cy="1173480"/>
            </a:xfrm>
            <a:custGeom>
              <a:avLst/>
              <a:gdLst/>
              <a:ahLst/>
              <a:cxnLst/>
              <a:rect r="r" b="b" t="t" l="l"/>
              <a:pathLst>
                <a:path h="1173480" w="1097280">
                  <a:moveTo>
                    <a:pt x="0" y="0"/>
                  </a:moveTo>
                  <a:lnTo>
                    <a:pt x="1097280" y="0"/>
                  </a:lnTo>
                  <a:lnTo>
                    <a:pt x="1097280" y="1173480"/>
                  </a:lnTo>
                  <a:lnTo>
                    <a:pt x="0" y="1173480"/>
                  </a:lnTo>
                  <a:close/>
                </a:path>
              </a:pathLst>
            </a:custGeom>
            <a:blipFill>
              <a:blip r:embed="rId6">
                <a:alphaModFix amt="0"/>
              </a:blip>
              <a:stretch>
                <a:fillRect l="-87213" t="0" r="-87213" b="0"/>
              </a:stretch>
            </a:blipFill>
          </p:spPr>
          <p:txBody>
            <a:bodyPr/>
            <a:p/>
          </p:txBody>
        </p:sp>
        <p:sp>
          <p:nvSpPr>
            <p:cNvPr name="TextBox 74" id="74"/>
            <p:cNvSpPr txBox="true"/>
            <p:nvPr/>
          </p:nvSpPr>
          <p:spPr>
            <a:xfrm>
              <a:off x="0" y="-38100"/>
              <a:ext cx="1097280" cy="12115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5</a:t>
              </a:r>
            </a:p>
          </p:txBody>
        </p:sp>
      </p:grpSp>
      <p:sp>
        <p:nvSpPr>
          <p:cNvPr name="TextBox 75" id="75"/>
          <p:cNvSpPr txBox="true"/>
          <p:nvPr/>
        </p:nvSpPr>
        <p:spPr>
          <a:xfrm rot="0">
            <a:off x="12377318" y="4080510"/>
            <a:ext cx="2057400" cy="1200150"/>
          </a:xfrm>
          <a:prstGeom prst="rect">
            <a:avLst/>
          </a:prstGeom>
        </p:spPr>
        <p:txBody>
          <a:bodyPr anchor="t" rtlCol="false" tIns="0" lIns="0" bIns="0" rIns="0">
            <a:spAutoFit/>
          </a:bodyPr>
          <a:lstStyle/>
          <a:p>
            <a:pPr algn="l">
              <a:lnSpc>
                <a:spcPts val="2878"/>
              </a:lnSpc>
            </a:pPr>
            <a:r>
              <a:rPr lang="en-US" sz="1899" b="true">
                <a:solidFill>
                  <a:srgbClr val="0B5E6E"/>
                </a:solidFill>
                <a:latin typeface="Calibri (MS) Bold"/>
                <a:ea typeface="Calibri (MS) Bold"/>
                <a:cs typeface="Calibri (MS) Bold"/>
                <a:sym typeface="Calibri (MS) Bold"/>
              </a:rPr>
              <a:t>Tujuan 3</a:t>
            </a:r>
          </a:p>
        </p:txBody>
      </p:sp>
      <p:sp>
        <p:nvSpPr>
          <p:cNvPr name="TextBox 76" id="76"/>
          <p:cNvSpPr txBox="true"/>
          <p:nvPr/>
        </p:nvSpPr>
        <p:spPr>
          <a:xfrm rot="0">
            <a:off x="12377318" y="5234940"/>
            <a:ext cx="2057400" cy="14859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Aplikasi web dan evaluasinya</a:t>
            </a:r>
          </a:p>
        </p:txBody>
      </p:sp>
      <p:grpSp>
        <p:nvGrpSpPr>
          <p:cNvPr name="Group 77" id="77"/>
          <p:cNvGrpSpPr/>
          <p:nvPr/>
        </p:nvGrpSpPr>
        <p:grpSpPr>
          <a:xfrm rot="0">
            <a:off x="14923008" y="2743200"/>
            <a:ext cx="2537460" cy="4251960"/>
            <a:chOff x="0" y="0"/>
            <a:chExt cx="3383280" cy="5669280"/>
          </a:xfrm>
        </p:grpSpPr>
        <p:sp>
          <p:nvSpPr>
            <p:cNvPr name="Freeform 78" id="78"/>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79" id="79"/>
          <p:cNvGrpSpPr/>
          <p:nvPr/>
        </p:nvGrpSpPr>
        <p:grpSpPr>
          <a:xfrm rot="0">
            <a:off x="15197328" y="3086100"/>
            <a:ext cx="822960" cy="822960"/>
            <a:chOff x="0" y="0"/>
            <a:chExt cx="1097280" cy="1097280"/>
          </a:xfrm>
        </p:grpSpPr>
        <p:sp>
          <p:nvSpPr>
            <p:cNvPr name="Freeform 80" id="80"/>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txBody>
            <a:bodyPr/>
            <a:p/>
          </p:txBody>
        </p:sp>
      </p:grpSp>
      <p:grpSp>
        <p:nvGrpSpPr>
          <p:cNvPr name="Group 81" id="81"/>
          <p:cNvGrpSpPr/>
          <p:nvPr/>
        </p:nvGrpSpPr>
        <p:grpSpPr>
          <a:xfrm rot="0">
            <a:off x="15197328" y="3086100"/>
            <a:ext cx="822960" cy="822960"/>
            <a:chOff x="0" y="0"/>
            <a:chExt cx="1097280" cy="1097280"/>
          </a:xfrm>
        </p:grpSpPr>
        <p:sp>
          <p:nvSpPr>
            <p:cNvPr name="Freeform 82" id="82"/>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83" id="83"/>
          <p:cNvGrpSpPr/>
          <p:nvPr/>
        </p:nvGrpSpPr>
        <p:grpSpPr>
          <a:xfrm rot="0">
            <a:off x="15197328" y="3057525"/>
            <a:ext cx="822960" cy="851535"/>
            <a:chOff x="0" y="0"/>
            <a:chExt cx="1097280" cy="1135380"/>
          </a:xfrm>
        </p:grpSpPr>
        <p:sp>
          <p:nvSpPr>
            <p:cNvPr name="Freeform 84" id="84"/>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850" t="0" r="-82850" b="0"/>
              </a:stretch>
            </a:blipFill>
          </p:spPr>
          <p:txBody>
            <a:bodyPr/>
            <a:p/>
          </p:txBody>
        </p:sp>
      </p:grpSp>
      <p:grpSp>
        <p:nvGrpSpPr>
          <p:cNvPr name="Group 85" id="85"/>
          <p:cNvGrpSpPr/>
          <p:nvPr/>
        </p:nvGrpSpPr>
        <p:grpSpPr>
          <a:xfrm rot="0">
            <a:off x="15197328" y="3028950"/>
            <a:ext cx="822960" cy="880110"/>
            <a:chOff x="0" y="0"/>
            <a:chExt cx="1097280" cy="1173480"/>
          </a:xfrm>
        </p:grpSpPr>
        <p:sp>
          <p:nvSpPr>
            <p:cNvPr name="Freeform 86" id="86"/>
            <p:cNvSpPr/>
            <p:nvPr/>
          </p:nvSpPr>
          <p:spPr>
            <a:xfrm flipH="false" flipV="false" rot="0">
              <a:off x="0" y="0"/>
              <a:ext cx="1097280" cy="1173480"/>
            </a:xfrm>
            <a:custGeom>
              <a:avLst/>
              <a:gdLst/>
              <a:ahLst/>
              <a:cxnLst/>
              <a:rect r="r" b="b" t="t" l="l"/>
              <a:pathLst>
                <a:path h="1173480" w="1097280">
                  <a:moveTo>
                    <a:pt x="0" y="0"/>
                  </a:moveTo>
                  <a:lnTo>
                    <a:pt x="1097280" y="0"/>
                  </a:lnTo>
                  <a:lnTo>
                    <a:pt x="1097280" y="1173480"/>
                  </a:lnTo>
                  <a:lnTo>
                    <a:pt x="0" y="1173480"/>
                  </a:lnTo>
                  <a:close/>
                </a:path>
              </a:pathLst>
            </a:custGeom>
            <a:blipFill>
              <a:blip r:embed="rId6">
                <a:alphaModFix amt="0"/>
              </a:blip>
              <a:stretch>
                <a:fillRect l="-87213" t="0" r="-87213" b="0"/>
              </a:stretch>
            </a:blipFill>
          </p:spPr>
          <p:txBody>
            <a:bodyPr/>
            <a:p/>
          </p:txBody>
        </p:sp>
        <p:sp>
          <p:nvSpPr>
            <p:cNvPr name="TextBox 87" id="87"/>
            <p:cNvSpPr txBox="true"/>
            <p:nvPr/>
          </p:nvSpPr>
          <p:spPr>
            <a:xfrm>
              <a:off x="0" y="-38100"/>
              <a:ext cx="1097280" cy="12115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6</a:t>
              </a:r>
            </a:p>
          </p:txBody>
        </p:sp>
      </p:grpSp>
      <p:sp>
        <p:nvSpPr>
          <p:cNvPr name="TextBox 88" id="88"/>
          <p:cNvSpPr txBox="true"/>
          <p:nvPr/>
        </p:nvSpPr>
        <p:spPr>
          <a:xfrm rot="0">
            <a:off x="15197328" y="4080510"/>
            <a:ext cx="2057400" cy="1200150"/>
          </a:xfrm>
          <a:prstGeom prst="rect">
            <a:avLst/>
          </a:prstGeom>
        </p:spPr>
        <p:txBody>
          <a:bodyPr anchor="t" rtlCol="false" tIns="0" lIns="0" bIns="0" rIns="0">
            <a:spAutoFit/>
          </a:bodyPr>
          <a:lstStyle/>
          <a:p>
            <a:pPr algn="l">
              <a:lnSpc>
                <a:spcPts val="2878"/>
              </a:lnSpc>
            </a:pPr>
            <a:r>
              <a:rPr lang="en-US" sz="1899" b="true">
                <a:solidFill>
                  <a:srgbClr val="0B5E6E"/>
                </a:solidFill>
                <a:latin typeface="Calibri (MS) Bold"/>
                <a:ea typeface="Calibri (MS) Bold"/>
                <a:cs typeface="Calibri (MS) Bold"/>
                <a:sym typeface="Calibri (MS) Bold"/>
              </a:rPr>
              <a:t>Penutup</a:t>
            </a:r>
          </a:p>
        </p:txBody>
      </p:sp>
      <p:sp>
        <p:nvSpPr>
          <p:cNvPr name="TextBox 89" id="89"/>
          <p:cNvSpPr txBox="true"/>
          <p:nvPr/>
        </p:nvSpPr>
        <p:spPr>
          <a:xfrm rot="0">
            <a:off x="15197328" y="5234940"/>
            <a:ext cx="2057400" cy="14859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Diskusi, keterbatasan, kesimpulan, saran</a:t>
            </a:r>
          </a:p>
        </p:txBody>
      </p:sp>
      <p:sp>
        <p:nvSpPr>
          <p:cNvPr name="TextBox 90" id="90"/>
          <p:cNvSpPr txBox="true"/>
          <p:nvPr/>
        </p:nvSpPr>
        <p:spPr>
          <a:xfrm rot="0">
            <a:off x="822960" y="7538085"/>
            <a:ext cx="16637508" cy="691515"/>
          </a:xfrm>
          <a:prstGeom prst="rect">
            <a:avLst/>
          </a:prstGeom>
        </p:spPr>
        <p:txBody>
          <a:bodyPr anchor="t" rtlCol="false" tIns="0" lIns="0" bIns="0" rIns="0">
            <a:spAutoFit/>
          </a:bodyPr>
          <a:lstStyle/>
          <a:p>
            <a:pPr algn="l">
              <a:lnSpc>
                <a:spcPts val="2340"/>
              </a:lnSpc>
            </a:pPr>
            <a:r>
              <a:rPr lang="en-US" sz="1950">
                <a:solidFill>
                  <a:srgbClr val="5E6E78"/>
                </a:solidFill>
                <a:latin typeface="Calibri (MS)"/>
                <a:ea typeface="Calibri (MS)"/>
                <a:cs typeface="Calibri (MS)"/>
                <a:sym typeface="Calibri (MS)"/>
              </a:rPr>
              <a:t>Pola setiap tujuan: metode → hasil → makna → ringkasan hasil tujuan.  Lampiran: parameter · persamaan · data historis · citra · uji struktur · uji perilaku · kalibrasi · sensitivitas · KPI · daftar istilah · IRTS–KBLI</a:t>
            </a:r>
          </a:p>
        </p:txBody>
      </p:sp>
      <p:sp>
        <p:nvSpPr>
          <p:cNvPr name="TextBox 91" id="91"/>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a:t>
            </a:r>
          </a:p>
        </p:txBody>
      </p:sp>
      <p:grpSp>
        <p:nvGrpSpPr>
          <p:cNvPr name="Group 92" id="92"/>
          <p:cNvGrpSpPr/>
          <p:nvPr/>
        </p:nvGrpSpPr>
        <p:grpSpPr>
          <a:xfrm rot="0">
            <a:off x="16047720" y="9646920"/>
            <a:ext cx="420624" cy="420624"/>
            <a:chOff x="0" y="0"/>
            <a:chExt cx="560832" cy="560832"/>
          </a:xfrm>
        </p:grpSpPr>
        <p:sp>
          <p:nvSpPr>
            <p:cNvPr name="Freeform 93" id="93"/>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94" id="94"/>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Latar Belakang</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Pariwisata adalah sektor strategis yang terus tumbuh</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822960" y="1836420"/>
            <a:ext cx="8229600" cy="62293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Proyeksi CAGR nilai tambah bruto 5 tahun ke depan (%)</a:t>
            </a:r>
          </a:p>
        </p:txBody>
      </p:sp>
      <p:sp>
        <p:nvSpPr>
          <p:cNvPr name="TextBox 69" id="69"/>
          <p:cNvSpPr txBox="true"/>
          <p:nvPr/>
        </p:nvSpPr>
        <p:spPr>
          <a:xfrm rot="0">
            <a:off x="822960" y="8652510"/>
            <a:ext cx="8229600" cy="468630"/>
          </a:xfrm>
          <a:prstGeom prst="rect">
            <a:avLst/>
          </a:prstGeom>
        </p:spPr>
        <p:txBody>
          <a:bodyPr anchor="t" rtlCol="false" tIns="0" lIns="0" bIns="0" rIns="0">
            <a:spAutoFit/>
          </a:bodyPr>
          <a:lstStyle/>
          <a:p>
            <a:pPr algn="l">
              <a:lnSpc>
                <a:spcPts val="1889"/>
              </a:lnSpc>
            </a:pPr>
            <a:r>
              <a:rPr lang="en-US" sz="1575">
                <a:solidFill>
                  <a:srgbClr val="5E6E78"/>
                </a:solidFill>
                <a:latin typeface="Calibri (MS)"/>
                <a:ea typeface="Calibri (MS)"/>
                <a:cs typeface="Calibri (MS)"/>
                <a:sym typeface="Calibri (MS)"/>
              </a:rPr>
              <a:t>Sumber: WTTC dalam Statista</a:t>
            </a:r>
          </a:p>
        </p:txBody>
      </p:sp>
      <p:grpSp>
        <p:nvGrpSpPr>
          <p:cNvPr name="Group 70" id="70"/>
          <p:cNvGrpSpPr/>
          <p:nvPr/>
        </p:nvGrpSpPr>
        <p:grpSpPr>
          <a:xfrm rot="0">
            <a:off x="9780365" y="2199132"/>
            <a:ext cx="3652838" cy="3011329"/>
            <a:chOff x="0" y="0"/>
            <a:chExt cx="4870450" cy="4015105"/>
          </a:xfrm>
        </p:grpSpPr>
        <p:sp>
          <p:nvSpPr>
            <p:cNvPr name="Freeform 71" id="71"/>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EAF8FA"/>
            </a:solidFill>
          </p:spPr>
          <p:txBody>
            <a:bodyPr/>
            <a:p/>
          </p:txBody>
        </p:sp>
      </p:grpSp>
      <p:sp>
        <p:nvSpPr>
          <p:cNvPr name="TextBox 72" id="72"/>
          <p:cNvSpPr txBox="true"/>
          <p:nvPr/>
        </p:nvSpPr>
        <p:spPr>
          <a:xfrm rot="0">
            <a:off x="10042217" y="2369315"/>
            <a:ext cx="3142164" cy="379695"/>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DUNIA</a:t>
            </a:r>
          </a:p>
        </p:txBody>
      </p:sp>
      <p:grpSp>
        <p:nvGrpSpPr>
          <p:cNvPr name="Group 73" id="73"/>
          <p:cNvGrpSpPr/>
          <p:nvPr/>
        </p:nvGrpSpPr>
        <p:grpSpPr>
          <a:xfrm rot="0">
            <a:off x="10042217" y="2788291"/>
            <a:ext cx="3142202" cy="916495"/>
            <a:chOff x="0" y="0"/>
            <a:chExt cx="4189603" cy="1221994"/>
          </a:xfrm>
        </p:grpSpPr>
        <p:sp>
          <p:nvSpPr>
            <p:cNvPr name="Freeform 74" id="74"/>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7" r="0" b="-16758"/>
              </a:stretch>
            </a:blipFill>
          </p:spPr>
          <p:txBody>
            <a:bodyPr/>
            <a:p/>
          </p:txBody>
        </p:sp>
      </p:grpSp>
      <p:grpSp>
        <p:nvGrpSpPr>
          <p:cNvPr name="Group 75" id="75"/>
          <p:cNvGrpSpPr/>
          <p:nvPr/>
        </p:nvGrpSpPr>
        <p:grpSpPr>
          <a:xfrm rot="0">
            <a:off x="10042217" y="2726922"/>
            <a:ext cx="3142164" cy="977836"/>
            <a:chOff x="0" y="0"/>
            <a:chExt cx="4189552" cy="1303782"/>
          </a:xfrm>
        </p:grpSpPr>
        <p:sp>
          <p:nvSpPr>
            <p:cNvPr name="Freeform 76" id="76"/>
            <p:cNvSpPr/>
            <p:nvPr/>
          </p:nvSpPr>
          <p:spPr>
            <a:xfrm flipH="false" flipV="false" rot="0">
              <a:off x="0" y="0"/>
              <a:ext cx="4189603" cy="1303782"/>
            </a:xfrm>
            <a:custGeom>
              <a:avLst/>
              <a:gdLst/>
              <a:ahLst/>
              <a:cxnLst/>
              <a:rect r="r" b="b" t="t" l="l"/>
              <a:pathLst>
                <a:path h="1303782" w="4189603">
                  <a:moveTo>
                    <a:pt x="0" y="0"/>
                  </a:moveTo>
                  <a:lnTo>
                    <a:pt x="4189603" y="0"/>
                  </a:lnTo>
                  <a:lnTo>
                    <a:pt x="4189603" y="1303782"/>
                  </a:lnTo>
                  <a:lnTo>
                    <a:pt x="0" y="1303782"/>
                  </a:lnTo>
                  <a:close/>
                </a:path>
              </a:pathLst>
            </a:custGeom>
            <a:blipFill>
              <a:blip r:embed="rId5">
                <a:alphaModFix amt="0"/>
              </a:blip>
              <a:stretch>
                <a:fillRect l="0" t="-12569" r="1" b="-12568"/>
              </a:stretch>
            </a:blipFill>
          </p:spPr>
          <p:txBody>
            <a:bodyPr/>
            <a:p/>
          </p:txBody>
        </p:sp>
      </p:grpSp>
      <p:grpSp>
        <p:nvGrpSpPr>
          <p:cNvPr name="Group 77" id="77"/>
          <p:cNvGrpSpPr/>
          <p:nvPr/>
        </p:nvGrpSpPr>
        <p:grpSpPr>
          <a:xfrm rot="0">
            <a:off x="10042217" y="2662628"/>
            <a:ext cx="3142164" cy="1042130"/>
            <a:chOff x="0" y="0"/>
            <a:chExt cx="4189552" cy="1389507"/>
          </a:xfrm>
        </p:grpSpPr>
        <p:sp>
          <p:nvSpPr>
            <p:cNvPr name="Freeform 78" id="78"/>
            <p:cNvSpPr/>
            <p:nvPr/>
          </p:nvSpPr>
          <p:spPr>
            <a:xfrm flipH="false" flipV="false" rot="0">
              <a:off x="0" y="0"/>
              <a:ext cx="4189552" cy="1389506"/>
            </a:xfrm>
            <a:custGeom>
              <a:avLst/>
              <a:gdLst/>
              <a:ahLst/>
              <a:cxnLst/>
              <a:rect r="r" b="b" t="t" l="l"/>
              <a:pathLst>
                <a:path h="1389506" w="4189552">
                  <a:moveTo>
                    <a:pt x="0" y="0"/>
                  </a:moveTo>
                  <a:lnTo>
                    <a:pt x="4189552" y="0"/>
                  </a:lnTo>
                  <a:lnTo>
                    <a:pt x="4189552" y="1389506"/>
                  </a:lnTo>
                  <a:lnTo>
                    <a:pt x="0" y="1389506"/>
                  </a:lnTo>
                  <a:close/>
                </a:path>
              </a:pathLst>
            </a:custGeom>
            <a:blipFill>
              <a:blip r:embed="rId6">
                <a:alphaModFix amt="0"/>
              </a:blip>
              <a:stretch>
                <a:fillRect l="0" t="-8750" r="0" b="-8750"/>
              </a:stretch>
            </a:blipFill>
          </p:spPr>
          <p:txBody>
            <a:bodyPr/>
            <a:p/>
          </p:txBody>
        </p:sp>
        <p:sp>
          <p:nvSpPr>
            <p:cNvPr name="TextBox 79" id="79"/>
            <p:cNvSpPr txBox="true"/>
            <p:nvPr/>
          </p:nvSpPr>
          <p:spPr>
            <a:xfrm>
              <a:off x="0" y="-85725"/>
              <a:ext cx="4189552" cy="1475232"/>
            </a:xfrm>
            <a:prstGeom prst="rect">
              <a:avLst/>
            </a:prstGeom>
          </p:spPr>
          <p:txBody>
            <a:bodyPr anchor="ctr" rtlCol="false" tIns="0" lIns="0" bIns="0" rIns="0"/>
            <a:lstStyle/>
            <a:p>
              <a:pPr algn="l">
                <a:lnSpc>
                  <a:spcPts val="5397"/>
                </a:lnSpc>
              </a:pPr>
              <a:r>
                <a:rPr lang="en-US" sz="4499" b="true">
                  <a:solidFill>
                    <a:srgbClr val="0B5E6E"/>
                  </a:solidFill>
                  <a:latin typeface="Calibri (MS) Bold"/>
                  <a:ea typeface="Calibri (MS) Bold"/>
                  <a:cs typeface="Calibri (MS) Bold"/>
                  <a:sym typeface="Calibri (MS) Bold"/>
                </a:rPr>
                <a:t>1,53 miliar</a:t>
              </a:r>
            </a:p>
          </p:txBody>
        </p:sp>
      </p:grpSp>
      <p:sp>
        <p:nvSpPr>
          <p:cNvPr name="TextBox 80" id="80"/>
          <p:cNvSpPr txBox="true"/>
          <p:nvPr/>
        </p:nvSpPr>
        <p:spPr>
          <a:xfrm rot="0">
            <a:off x="10042217" y="3730904"/>
            <a:ext cx="3142164" cy="1348550"/>
          </a:xfrm>
          <a:prstGeom prst="rect">
            <a:avLst/>
          </a:prstGeom>
        </p:spPr>
        <p:txBody>
          <a:bodyPr anchor="t" rtlCol="false" tIns="0" lIns="0" bIns="0" rIns="0">
            <a:spAutoFit/>
          </a:bodyPr>
          <a:lstStyle/>
          <a:p>
            <a:pPr algn="l">
              <a:lnSpc>
                <a:spcPts val="2145"/>
              </a:lnSpc>
            </a:pPr>
            <a:r>
              <a:rPr lang="en-US" sz="1788">
                <a:solidFill>
                  <a:srgbClr val="14313B"/>
                </a:solidFill>
                <a:latin typeface="Calibri (MS)"/>
                <a:ea typeface="Calibri (MS)"/>
                <a:cs typeface="Calibri (MS)"/>
                <a:sym typeface="Calibri (MS)"/>
              </a:rPr>
              <a:t>wisatawan internasional pada 2025 (UN Tourism)</a:t>
            </a:r>
          </a:p>
        </p:txBody>
      </p:sp>
      <p:grpSp>
        <p:nvGrpSpPr>
          <p:cNvPr name="Group 81" id="81"/>
          <p:cNvGrpSpPr/>
          <p:nvPr/>
        </p:nvGrpSpPr>
        <p:grpSpPr>
          <a:xfrm rot="0">
            <a:off x="13694978" y="2199132"/>
            <a:ext cx="3652838" cy="3011329"/>
            <a:chOff x="0" y="0"/>
            <a:chExt cx="4870450" cy="4015105"/>
          </a:xfrm>
        </p:grpSpPr>
        <p:sp>
          <p:nvSpPr>
            <p:cNvPr name="Freeform 82" id="82"/>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EAF8FA"/>
            </a:solidFill>
          </p:spPr>
          <p:txBody>
            <a:bodyPr/>
            <a:p/>
          </p:txBody>
        </p:sp>
      </p:grpSp>
      <p:sp>
        <p:nvSpPr>
          <p:cNvPr name="TextBox 83" id="83"/>
          <p:cNvSpPr txBox="true"/>
          <p:nvPr/>
        </p:nvSpPr>
        <p:spPr>
          <a:xfrm rot="0">
            <a:off x="13956830" y="2369315"/>
            <a:ext cx="3142164" cy="379695"/>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DUNIA</a:t>
            </a:r>
          </a:p>
        </p:txBody>
      </p:sp>
      <p:grpSp>
        <p:nvGrpSpPr>
          <p:cNvPr name="Group 84" id="84"/>
          <p:cNvGrpSpPr/>
          <p:nvPr/>
        </p:nvGrpSpPr>
        <p:grpSpPr>
          <a:xfrm rot="0">
            <a:off x="13956830" y="2788291"/>
            <a:ext cx="3142202" cy="916495"/>
            <a:chOff x="0" y="0"/>
            <a:chExt cx="4189603" cy="1221994"/>
          </a:xfrm>
        </p:grpSpPr>
        <p:sp>
          <p:nvSpPr>
            <p:cNvPr name="Freeform 85" id="85"/>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7" r="0" b="-16758"/>
              </a:stretch>
            </a:blipFill>
          </p:spPr>
          <p:txBody>
            <a:bodyPr/>
            <a:p/>
          </p:txBody>
        </p:sp>
      </p:grpSp>
      <p:grpSp>
        <p:nvGrpSpPr>
          <p:cNvPr name="Group 86" id="86"/>
          <p:cNvGrpSpPr/>
          <p:nvPr/>
        </p:nvGrpSpPr>
        <p:grpSpPr>
          <a:xfrm rot="0">
            <a:off x="13956830" y="2726922"/>
            <a:ext cx="3142164" cy="977836"/>
            <a:chOff x="0" y="0"/>
            <a:chExt cx="4189552" cy="1303782"/>
          </a:xfrm>
        </p:grpSpPr>
        <p:sp>
          <p:nvSpPr>
            <p:cNvPr name="Freeform 87" id="87"/>
            <p:cNvSpPr/>
            <p:nvPr/>
          </p:nvSpPr>
          <p:spPr>
            <a:xfrm flipH="false" flipV="false" rot="0">
              <a:off x="0" y="0"/>
              <a:ext cx="4189603" cy="1303782"/>
            </a:xfrm>
            <a:custGeom>
              <a:avLst/>
              <a:gdLst/>
              <a:ahLst/>
              <a:cxnLst/>
              <a:rect r="r" b="b" t="t" l="l"/>
              <a:pathLst>
                <a:path h="1303782" w="4189603">
                  <a:moveTo>
                    <a:pt x="0" y="0"/>
                  </a:moveTo>
                  <a:lnTo>
                    <a:pt x="4189603" y="0"/>
                  </a:lnTo>
                  <a:lnTo>
                    <a:pt x="4189603" y="1303782"/>
                  </a:lnTo>
                  <a:lnTo>
                    <a:pt x="0" y="1303782"/>
                  </a:lnTo>
                  <a:close/>
                </a:path>
              </a:pathLst>
            </a:custGeom>
            <a:blipFill>
              <a:blip r:embed="rId5">
                <a:alphaModFix amt="0"/>
              </a:blip>
              <a:stretch>
                <a:fillRect l="0" t="-12569" r="1" b="-12568"/>
              </a:stretch>
            </a:blipFill>
          </p:spPr>
          <p:txBody>
            <a:bodyPr/>
            <a:p/>
          </p:txBody>
        </p:sp>
      </p:grpSp>
      <p:grpSp>
        <p:nvGrpSpPr>
          <p:cNvPr name="Group 88" id="88"/>
          <p:cNvGrpSpPr/>
          <p:nvPr/>
        </p:nvGrpSpPr>
        <p:grpSpPr>
          <a:xfrm rot="0">
            <a:off x="13956830" y="2662628"/>
            <a:ext cx="3142164" cy="1042130"/>
            <a:chOff x="0" y="0"/>
            <a:chExt cx="4189552" cy="1389507"/>
          </a:xfrm>
        </p:grpSpPr>
        <p:sp>
          <p:nvSpPr>
            <p:cNvPr name="Freeform 89" id="89"/>
            <p:cNvSpPr/>
            <p:nvPr/>
          </p:nvSpPr>
          <p:spPr>
            <a:xfrm flipH="false" flipV="false" rot="0">
              <a:off x="0" y="0"/>
              <a:ext cx="4189552" cy="1389506"/>
            </a:xfrm>
            <a:custGeom>
              <a:avLst/>
              <a:gdLst/>
              <a:ahLst/>
              <a:cxnLst/>
              <a:rect r="r" b="b" t="t" l="l"/>
              <a:pathLst>
                <a:path h="1389506" w="4189552">
                  <a:moveTo>
                    <a:pt x="0" y="0"/>
                  </a:moveTo>
                  <a:lnTo>
                    <a:pt x="4189552" y="0"/>
                  </a:lnTo>
                  <a:lnTo>
                    <a:pt x="4189552" y="1389506"/>
                  </a:lnTo>
                  <a:lnTo>
                    <a:pt x="0" y="1389506"/>
                  </a:lnTo>
                  <a:close/>
                </a:path>
              </a:pathLst>
            </a:custGeom>
            <a:blipFill>
              <a:blip r:embed="rId6">
                <a:alphaModFix amt="0"/>
              </a:blip>
              <a:stretch>
                <a:fillRect l="0" t="-8750" r="0" b="-8750"/>
              </a:stretch>
            </a:blipFill>
          </p:spPr>
          <p:txBody>
            <a:bodyPr/>
            <a:p/>
          </p:txBody>
        </p:sp>
        <p:sp>
          <p:nvSpPr>
            <p:cNvPr name="TextBox 90" id="90"/>
            <p:cNvSpPr txBox="true"/>
            <p:nvPr/>
          </p:nvSpPr>
          <p:spPr>
            <a:xfrm>
              <a:off x="0" y="-85725"/>
              <a:ext cx="4189552" cy="1475232"/>
            </a:xfrm>
            <a:prstGeom prst="rect">
              <a:avLst/>
            </a:prstGeom>
          </p:spPr>
          <p:txBody>
            <a:bodyPr anchor="ctr" rtlCol="false" tIns="0" lIns="0" bIns="0" rIns="0"/>
            <a:lstStyle/>
            <a:p>
              <a:pPr algn="l">
                <a:lnSpc>
                  <a:spcPts val="5397"/>
                </a:lnSpc>
              </a:pPr>
              <a:r>
                <a:rPr lang="en-US" sz="4499" b="true">
                  <a:solidFill>
                    <a:srgbClr val="0B5E6E"/>
                  </a:solidFill>
                  <a:latin typeface="Calibri (MS) Bold"/>
                  <a:ea typeface="Calibri (MS) Bold"/>
                  <a:cs typeface="Calibri (MS) Bold"/>
                  <a:sym typeface="Calibri (MS) Bold"/>
                </a:rPr>
                <a:t>10%</a:t>
              </a:r>
            </a:p>
          </p:txBody>
        </p:sp>
      </p:grpSp>
      <p:sp>
        <p:nvSpPr>
          <p:cNvPr name="TextBox 91" id="91"/>
          <p:cNvSpPr txBox="true"/>
          <p:nvPr/>
        </p:nvSpPr>
        <p:spPr>
          <a:xfrm rot="0">
            <a:off x="13956830" y="3730904"/>
            <a:ext cx="3142164" cy="1348550"/>
          </a:xfrm>
          <a:prstGeom prst="rect">
            <a:avLst/>
          </a:prstGeom>
        </p:spPr>
        <p:txBody>
          <a:bodyPr anchor="t" rtlCol="false" tIns="0" lIns="0" bIns="0" rIns="0">
            <a:spAutoFit/>
          </a:bodyPr>
          <a:lstStyle/>
          <a:p>
            <a:pPr algn="l">
              <a:lnSpc>
                <a:spcPts val="2145"/>
              </a:lnSpc>
            </a:pPr>
            <a:r>
              <a:rPr lang="en-US" sz="1788">
                <a:solidFill>
                  <a:srgbClr val="14313B"/>
                </a:solidFill>
                <a:latin typeface="Calibri (MS)"/>
                <a:ea typeface="Calibri (MS)"/>
                <a:cs typeface="Calibri (MS)"/>
                <a:sym typeface="Calibri (MS)"/>
              </a:rPr>
              <a:t>kontribusi pariwisata terhadap PDB global 2024 (WTTC)</a:t>
            </a:r>
          </a:p>
        </p:txBody>
      </p:sp>
      <p:grpSp>
        <p:nvGrpSpPr>
          <p:cNvPr name="Group 92" id="92"/>
          <p:cNvGrpSpPr/>
          <p:nvPr/>
        </p:nvGrpSpPr>
        <p:grpSpPr>
          <a:xfrm rot="0">
            <a:off x="9780365" y="5472217"/>
            <a:ext cx="3652838" cy="3011329"/>
            <a:chOff x="0" y="0"/>
            <a:chExt cx="4870450" cy="4015105"/>
          </a:xfrm>
        </p:grpSpPr>
        <p:sp>
          <p:nvSpPr>
            <p:cNvPr name="Freeform 93" id="93"/>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FFF1BF"/>
            </a:solidFill>
          </p:spPr>
          <p:txBody>
            <a:bodyPr/>
            <a:p/>
          </p:txBody>
        </p:sp>
      </p:grpSp>
      <p:sp>
        <p:nvSpPr>
          <p:cNvPr name="TextBox 94" id="94"/>
          <p:cNvSpPr txBox="true"/>
          <p:nvPr/>
        </p:nvSpPr>
        <p:spPr>
          <a:xfrm rot="0">
            <a:off x="10042217" y="5642400"/>
            <a:ext cx="3142164" cy="288779"/>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INDONESIA</a:t>
            </a:r>
          </a:p>
        </p:txBody>
      </p:sp>
      <p:grpSp>
        <p:nvGrpSpPr>
          <p:cNvPr name="Group 95" id="95"/>
          <p:cNvGrpSpPr/>
          <p:nvPr/>
        </p:nvGrpSpPr>
        <p:grpSpPr>
          <a:xfrm rot="0">
            <a:off x="10042217" y="6061377"/>
            <a:ext cx="3142202" cy="916495"/>
            <a:chOff x="0" y="0"/>
            <a:chExt cx="4189603" cy="1221994"/>
          </a:xfrm>
        </p:grpSpPr>
        <p:sp>
          <p:nvSpPr>
            <p:cNvPr name="Freeform 96" id="96"/>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7" r="0" b="-16758"/>
              </a:stretch>
            </a:blipFill>
          </p:spPr>
          <p:txBody>
            <a:bodyPr/>
            <a:p/>
          </p:txBody>
        </p:sp>
      </p:grpSp>
      <p:grpSp>
        <p:nvGrpSpPr>
          <p:cNvPr name="Group 97" id="97"/>
          <p:cNvGrpSpPr/>
          <p:nvPr/>
        </p:nvGrpSpPr>
        <p:grpSpPr>
          <a:xfrm rot="0">
            <a:off x="10042217" y="6000007"/>
            <a:ext cx="3142164" cy="977836"/>
            <a:chOff x="0" y="0"/>
            <a:chExt cx="4189552" cy="1303782"/>
          </a:xfrm>
        </p:grpSpPr>
        <p:sp>
          <p:nvSpPr>
            <p:cNvPr name="Freeform 98" id="98"/>
            <p:cNvSpPr/>
            <p:nvPr/>
          </p:nvSpPr>
          <p:spPr>
            <a:xfrm flipH="false" flipV="false" rot="0">
              <a:off x="0" y="0"/>
              <a:ext cx="4189603" cy="1303782"/>
            </a:xfrm>
            <a:custGeom>
              <a:avLst/>
              <a:gdLst/>
              <a:ahLst/>
              <a:cxnLst/>
              <a:rect r="r" b="b" t="t" l="l"/>
              <a:pathLst>
                <a:path h="1303782" w="4189603">
                  <a:moveTo>
                    <a:pt x="0" y="0"/>
                  </a:moveTo>
                  <a:lnTo>
                    <a:pt x="4189603" y="0"/>
                  </a:lnTo>
                  <a:lnTo>
                    <a:pt x="4189603" y="1303782"/>
                  </a:lnTo>
                  <a:lnTo>
                    <a:pt x="0" y="1303782"/>
                  </a:lnTo>
                  <a:close/>
                </a:path>
              </a:pathLst>
            </a:custGeom>
            <a:blipFill>
              <a:blip r:embed="rId5">
                <a:alphaModFix amt="0"/>
              </a:blip>
              <a:stretch>
                <a:fillRect l="0" t="-12569" r="1" b="-12568"/>
              </a:stretch>
            </a:blipFill>
          </p:spPr>
          <p:txBody>
            <a:bodyPr/>
            <a:p/>
          </p:txBody>
        </p:sp>
      </p:grpSp>
      <p:grpSp>
        <p:nvGrpSpPr>
          <p:cNvPr name="Group 99" id="99"/>
          <p:cNvGrpSpPr/>
          <p:nvPr/>
        </p:nvGrpSpPr>
        <p:grpSpPr>
          <a:xfrm rot="0">
            <a:off x="10042217" y="5935713"/>
            <a:ext cx="3142164" cy="1042130"/>
            <a:chOff x="0" y="0"/>
            <a:chExt cx="4189552" cy="1389507"/>
          </a:xfrm>
        </p:grpSpPr>
        <p:sp>
          <p:nvSpPr>
            <p:cNvPr name="Freeform 100" id="100"/>
            <p:cNvSpPr/>
            <p:nvPr/>
          </p:nvSpPr>
          <p:spPr>
            <a:xfrm flipH="false" flipV="false" rot="0">
              <a:off x="0" y="0"/>
              <a:ext cx="4189552" cy="1389506"/>
            </a:xfrm>
            <a:custGeom>
              <a:avLst/>
              <a:gdLst/>
              <a:ahLst/>
              <a:cxnLst/>
              <a:rect r="r" b="b" t="t" l="l"/>
              <a:pathLst>
                <a:path h="1389506" w="4189552">
                  <a:moveTo>
                    <a:pt x="0" y="0"/>
                  </a:moveTo>
                  <a:lnTo>
                    <a:pt x="4189552" y="0"/>
                  </a:lnTo>
                  <a:lnTo>
                    <a:pt x="4189552" y="1389506"/>
                  </a:lnTo>
                  <a:lnTo>
                    <a:pt x="0" y="1389506"/>
                  </a:lnTo>
                  <a:close/>
                </a:path>
              </a:pathLst>
            </a:custGeom>
            <a:blipFill>
              <a:blip r:embed="rId6">
                <a:alphaModFix amt="0"/>
              </a:blip>
              <a:stretch>
                <a:fillRect l="0" t="-8750" r="0" b="-8750"/>
              </a:stretch>
            </a:blipFill>
          </p:spPr>
          <p:txBody>
            <a:bodyPr/>
            <a:p/>
          </p:txBody>
        </p:sp>
        <p:sp>
          <p:nvSpPr>
            <p:cNvPr name="TextBox 101" id="101"/>
            <p:cNvSpPr txBox="true"/>
            <p:nvPr/>
          </p:nvSpPr>
          <p:spPr>
            <a:xfrm>
              <a:off x="0" y="-85725"/>
              <a:ext cx="4189552" cy="1475232"/>
            </a:xfrm>
            <a:prstGeom prst="rect">
              <a:avLst/>
            </a:prstGeom>
          </p:spPr>
          <p:txBody>
            <a:bodyPr anchor="ctr" rtlCol="false" tIns="0" lIns="0" bIns="0" rIns="0"/>
            <a:lstStyle/>
            <a:p>
              <a:pPr algn="l">
                <a:lnSpc>
                  <a:spcPts val="5397"/>
                </a:lnSpc>
              </a:pPr>
              <a:r>
                <a:rPr lang="en-US" sz="4499" b="true">
                  <a:solidFill>
                    <a:srgbClr val="0B5E6E"/>
                  </a:solidFill>
                  <a:latin typeface="Calibri (MS) Bold"/>
                  <a:ea typeface="Calibri (MS) Bold"/>
                  <a:cs typeface="Calibri (MS) Bold"/>
                  <a:sym typeface="Calibri (MS) Bold"/>
                </a:rPr>
                <a:t>2,2% → 4,9%</a:t>
              </a:r>
            </a:p>
          </p:txBody>
        </p:sp>
      </p:grpSp>
      <p:sp>
        <p:nvSpPr>
          <p:cNvPr name="TextBox 102" id="102"/>
          <p:cNvSpPr txBox="true"/>
          <p:nvPr/>
        </p:nvSpPr>
        <p:spPr>
          <a:xfrm rot="0">
            <a:off x="10042217" y="7003990"/>
            <a:ext cx="3142164" cy="650291"/>
          </a:xfrm>
          <a:prstGeom prst="rect">
            <a:avLst/>
          </a:prstGeom>
        </p:spPr>
        <p:txBody>
          <a:bodyPr anchor="t" rtlCol="false" tIns="0" lIns="0" bIns="0" rIns="0">
            <a:spAutoFit/>
          </a:bodyPr>
          <a:lstStyle/>
          <a:p>
            <a:pPr algn="l">
              <a:lnSpc>
                <a:spcPts val="2145"/>
              </a:lnSpc>
            </a:pPr>
            <a:r>
              <a:rPr lang="en-US" sz="1788">
                <a:solidFill>
                  <a:srgbClr val="14313B"/>
                </a:solidFill>
                <a:latin typeface="Calibri (MS)"/>
                <a:ea typeface="Calibri (MS)"/>
                <a:cs typeface="Calibri (MS)"/>
                <a:sym typeface="Calibri (MS)"/>
              </a:rPr>
              <a:t>kontribusi terhadap PDB, 2020 → 2025</a:t>
            </a:r>
          </a:p>
        </p:txBody>
      </p:sp>
      <p:grpSp>
        <p:nvGrpSpPr>
          <p:cNvPr name="Group 103" id="103"/>
          <p:cNvGrpSpPr/>
          <p:nvPr/>
        </p:nvGrpSpPr>
        <p:grpSpPr>
          <a:xfrm rot="0">
            <a:off x="13694978" y="5472217"/>
            <a:ext cx="3652838" cy="3011329"/>
            <a:chOff x="0" y="0"/>
            <a:chExt cx="4870450" cy="4015105"/>
          </a:xfrm>
        </p:grpSpPr>
        <p:sp>
          <p:nvSpPr>
            <p:cNvPr name="Freeform 104" id="104"/>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FFF1BF"/>
            </a:solidFill>
          </p:spPr>
          <p:txBody>
            <a:bodyPr/>
            <a:p/>
          </p:txBody>
        </p:sp>
      </p:grpSp>
      <p:sp>
        <p:nvSpPr>
          <p:cNvPr name="TextBox 105" id="105"/>
          <p:cNvSpPr txBox="true"/>
          <p:nvPr/>
        </p:nvSpPr>
        <p:spPr>
          <a:xfrm rot="0">
            <a:off x="13956830" y="5642400"/>
            <a:ext cx="3142164" cy="379695"/>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INDONESIA</a:t>
            </a:r>
          </a:p>
        </p:txBody>
      </p:sp>
      <p:grpSp>
        <p:nvGrpSpPr>
          <p:cNvPr name="Group 106" id="106"/>
          <p:cNvGrpSpPr/>
          <p:nvPr/>
        </p:nvGrpSpPr>
        <p:grpSpPr>
          <a:xfrm rot="0">
            <a:off x="13956830" y="6061377"/>
            <a:ext cx="3142202" cy="916495"/>
            <a:chOff x="0" y="0"/>
            <a:chExt cx="4189603" cy="1221994"/>
          </a:xfrm>
        </p:grpSpPr>
        <p:sp>
          <p:nvSpPr>
            <p:cNvPr name="Freeform 107" id="107"/>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7" r="0" b="-16758"/>
              </a:stretch>
            </a:blipFill>
          </p:spPr>
          <p:txBody>
            <a:bodyPr/>
            <a:p/>
          </p:txBody>
        </p:sp>
      </p:grpSp>
      <p:grpSp>
        <p:nvGrpSpPr>
          <p:cNvPr name="Group 108" id="108"/>
          <p:cNvGrpSpPr/>
          <p:nvPr/>
        </p:nvGrpSpPr>
        <p:grpSpPr>
          <a:xfrm rot="0">
            <a:off x="13956830" y="6000007"/>
            <a:ext cx="3142164" cy="977836"/>
            <a:chOff x="0" y="0"/>
            <a:chExt cx="4189552" cy="1303782"/>
          </a:xfrm>
        </p:grpSpPr>
        <p:sp>
          <p:nvSpPr>
            <p:cNvPr name="Freeform 109" id="109"/>
            <p:cNvSpPr/>
            <p:nvPr/>
          </p:nvSpPr>
          <p:spPr>
            <a:xfrm flipH="false" flipV="false" rot="0">
              <a:off x="0" y="0"/>
              <a:ext cx="4189603" cy="1303782"/>
            </a:xfrm>
            <a:custGeom>
              <a:avLst/>
              <a:gdLst/>
              <a:ahLst/>
              <a:cxnLst/>
              <a:rect r="r" b="b" t="t" l="l"/>
              <a:pathLst>
                <a:path h="1303782" w="4189603">
                  <a:moveTo>
                    <a:pt x="0" y="0"/>
                  </a:moveTo>
                  <a:lnTo>
                    <a:pt x="4189603" y="0"/>
                  </a:lnTo>
                  <a:lnTo>
                    <a:pt x="4189603" y="1303782"/>
                  </a:lnTo>
                  <a:lnTo>
                    <a:pt x="0" y="1303782"/>
                  </a:lnTo>
                  <a:close/>
                </a:path>
              </a:pathLst>
            </a:custGeom>
            <a:blipFill>
              <a:blip r:embed="rId5">
                <a:alphaModFix amt="0"/>
              </a:blip>
              <a:stretch>
                <a:fillRect l="0" t="-12569" r="1" b="-12568"/>
              </a:stretch>
            </a:blipFill>
          </p:spPr>
          <p:txBody>
            <a:bodyPr/>
            <a:p/>
          </p:txBody>
        </p:sp>
      </p:grpSp>
      <p:grpSp>
        <p:nvGrpSpPr>
          <p:cNvPr name="Group 110" id="110"/>
          <p:cNvGrpSpPr/>
          <p:nvPr/>
        </p:nvGrpSpPr>
        <p:grpSpPr>
          <a:xfrm rot="0">
            <a:off x="13956830" y="5935713"/>
            <a:ext cx="3142164" cy="1042130"/>
            <a:chOff x="0" y="0"/>
            <a:chExt cx="4189552" cy="1389507"/>
          </a:xfrm>
        </p:grpSpPr>
        <p:sp>
          <p:nvSpPr>
            <p:cNvPr name="Freeform 111" id="111"/>
            <p:cNvSpPr/>
            <p:nvPr/>
          </p:nvSpPr>
          <p:spPr>
            <a:xfrm flipH="false" flipV="false" rot="0">
              <a:off x="0" y="0"/>
              <a:ext cx="4189552" cy="1389506"/>
            </a:xfrm>
            <a:custGeom>
              <a:avLst/>
              <a:gdLst/>
              <a:ahLst/>
              <a:cxnLst/>
              <a:rect r="r" b="b" t="t" l="l"/>
              <a:pathLst>
                <a:path h="1389506" w="4189552">
                  <a:moveTo>
                    <a:pt x="0" y="0"/>
                  </a:moveTo>
                  <a:lnTo>
                    <a:pt x="4189552" y="0"/>
                  </a:lnTo>
                  <a:lnTo>
                    <a:pt x="4189552" y="1389506"/>
                  </a:lnTo>
                  <a:lnTo>
                    <a:pt x="0" y="1389506"/>
                  </a:lnTo>
                  <a:close/>
                </a:path>
              </a:pathLst>
            </a:custGeom>
            <a:blipFill>
              <a:blip r:embed="rId6">
                <a:alphaModFix amt="0"/>
              </a:blip>
              <a:stretch>
                <a:fillRect l="0" t="-8750" r="0" b="-8750"/>
              </a:stretch>
            </a:blipFill>
          </p:spPr>
          <p:txBody>
            <a:bodyPr/>
            <a:p/>
          </p:txBody>
        </p:sp>
        <p:sp>
          <p:nvSpPr>
            <p:cNvPr name="TextBox 112" id="112"/>
            <p:cNvSpPr txBox="true"/>
            <p:nvPr/>
          </p:nvSpPr>
          <p:spPr>
            <a:xfrm>
              <a:off x="0" y="-85725"/>
              <a:ext cx="4189552" cy="1475232"/>
            </a:xfrm>
            <a:prstGeom prst="rect">
              <a:avLst/>
            </a:prstGeom>
          </p:spPr>
          <p:txBody>
            <a:bodyPr anchor="ctr" rtlCol="false" tIns="0" lIns="0" bIns="0" rIns="0"/>
            <a:lstStyle/>
            <a:p>
              <a:pPr algn="l">
                <a:lnSpc>
                  <a:spcPts val="5397"/>
                </a:lnSpc>
              </a:pPr>
              <a:r>
                <a:rPr lang="en-US" sz="4499" b="true">
                  <a:solidFill>
                    <a:srgbClr val="0B5E6E"/>
                  </a:solidFill>
                  <a:latin typeface="Calibri (MS) Bold"/>
                  <a:ea typeface="Calibri (MS) Bold"/>
                  <a:cs typeface="Calibri (MS) Bold"/>
                  <a:sym typeface="Calibri (MS) Bold"/>
                </a:rPr>
                <a:t>15,38 juta</a:t>
              </a:r>
            </a:p>
          </p:txBody>
        </p:sp>
      </p:grpSp>
      <p:sp>
        <p:nvSpPr>
          <p:cNvPr name="TextBox 113" id="113"/>
          <p:cNvSpPr txBox="true"/>
          <p:nvPr/>
        </p:nvSpPr>
        <p:spPr>
          <a:xfrm rot="0">
            <a:off x="13956830" y="7003990"/>
            <a:ext cx="3142164" cy="923049"/>
          </a:xfrm>
          <a:prstGeom prst="rect">
            <a:avLst/>
          </a:prstGeom>
        </p:spPr>
        <p:txBody>
          <a:bodyPr anchor="t" rtlCol="false" tIns="0" lIns="0" bIns="0" rIns="0">
            <a:spAutoFit/>
          </a:bodyPr>
          <a:lstStyle/>
          <a:p>
            <a:pPr algn="l">
              <a:lnSpc>
                <a:spcPts val="2145"/>
              </a:lnSpc>
            </a:pPr>
            <a:r>
              <a:rPr lang="en-US" sz="1788">
                <a:solidFill>
                  <a:srgbClr val="14313B"/>
                </a:solidFill>
                <a:latin typeface="Calibri (MS)"/>
                <a:ea typeface="Calibri (MS)"/>
                <a:cs typeface="Calibri (MS)"/>
                <a:sym typeface="Calibri (MS)"/>
              </a:rPr>
              <a:t>kunjungan wisman 2025, naik 10,8%, tertinggi dalam lima tahun terakhir</a:t>
            </a:r>
          </a:p>
        </p:txBody>
      </p:sp>
      <p:sp>
        <p:nvSpPr>
          <p:cNvPr name="TextBox 114" id="114"/>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a:t>
            </a:r>
          </a:p>
        </p:txBody>
      </p:sp>
      <p:grpSp>
        <p:nvGrpSpPr>
          <p:cNvPr name="Group 115" id="115"/>
          <p:cNvGrpSpPr/>
          <p:nvPr/>
        </p:nvGrpSpPr>
        <p:grpSpPr>
          <a:xfrm rot="0">
            <a:off x="16047720" y="9646920"/>
            <a:ext cx="420624" cy="420624"/>
            <a:chOff x="0" y="0"/>
            <a:chExt cx="560832" cy="560832"/>
          </a:xfrm>
        </p:grpSpPr>
        <p:sp>
          <p:nvSpPr>
            <p:cNvPr name="Freeform 116" id="116"/>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17" id="117"/>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graphicFrame>
        <p:nvGraphicFramePr>
          <p:cNvPr id="118" name="Chart 117"/>
          <p:cNvGraphicFramePr>
            <a:graphicFrameLocks noGrp="1"/>
          </p:cNvGraphicFramePr>
          <p:nvPr/>
        </p:nvGraphicFramePr>
        <p:xfrm>
          <a:off x="822960" y="2468880"/>
          <a:ext cx="8778240" cy="6126480"/>
        </p:xfrm>
        <a:graphic>
          <a:graphicData uri="http://schemas.openxmlformats.org/drawingml/2006/chart">
            <c:chart xmlns:c="http://schemas.openxmlformats.org/drawingml/2006/chart" r:id="rId8"/>
          </a:graphicData>
        </a:graphic>
      </p:graphicFrame>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0010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Latar Belakang</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Peran pariwisata di Indonesia terus menguat</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822960" y="1836420"/>
            <a:ext cx="8229600" cy="45720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Kontribusi pariwisata terhadap PDB Indonesia </a:t>
            </a:r>
          </a:p>
        </p:txBody>
      </p:sp>
      <p:sp>
        <p:nvSpPr>
          <p:cNvPr name="TextBox 67" id="67"/>
          <p:cNvSpPr txBox="true"/>
          <p:nvPr/>
        </p:nvSpPr>
        <p:spPr>
          <a:xfrm rot="0">
            <a:off x="822960" y="8652510"/>
            <a:ext cx="8229600" cy="295275"/>
          </a:xfrm>
          <a:prstGeom prst="rect">
            <a:avLst/>
          </a:prstGeom>
        </p:spPr>
        <p:txBody>
          <a:bodyPr anchor="t" rtlCol="false" tIns="0" lIns="0" bIns="0" rIns="0">
            <a:spAutoFit/>
          </a:bodyPr>
          <a:lstStyle/>
          <a:p>
            <a:pPr algn="l">
              <a:lnSpc>
                <a:spcPts val="1889"/>
              </a:lnSpc>
            </a:pPr>
            <a:r>
              <a:rPr lang="en-US" sz="1575">
                <a:solidFill>
                  <a:srgbClr val="5E6E78"/>
                </a:solidFill>
                <a:latin typeface="Calibri (MS)"/>
                <a:ea typeface="Calibri (MS)"/>
                <a:cs typeface="Calibri (MS)"/>
                <a:sym typeface="Calibri (MS)"/>
              </a:rPr>
              <a:t>Sumber: Kementerian Pariwisata, 2025.</a:t>
            </a:r>
          </a:p>
        </p:txBody>
      </p:sp>
      <p:sp>
        <p:nvSpPr>
          <p:cNvPr name="TextBox 68" id="68"/>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a:t>
            </a:r>
          </a:p>
        </p:txBody>
      </p:sp>
      <p:sp>
        <p:nvSpPr>
          <p:cNvPr name="TextBox 69" id="69"/>
          <p:cNvSpPr txBox="true"/>
          <p:nvPr/>
        </p:nvSpPr>
        <p:spPr>
          <a:xfrm rot="0">
            <a:off x="9354312" y="8652510"/>
            <a:ext cx="8229600" cy="295275"/>
          </a:xfrm>
          <a:prstGeom prst="rect">
            <a:avLst/>
          </a:prstGeom>
        </p:spPr>
        <p:txBody>
          <a:bodyPr anchor="t" rtlCol="false" tIns="0" lIns="0" bIns="0" rIns="0">
            <a:spAutoFit/>
          </a:bodyPr>
          <a:lstStyle/>
          <a:p>
            <a:pPr algn="l">
              <a:lnSpc>
                <a:spcPts val="1889"/>
              </a:lnSpc>
            </a:pPr>
            <a:r>
              <a:rPr lang="en-US" sz="1575">
                <a:solidFill>
                  <a:srgbClr val="5E6E78"/>
                </a:solidFill>
                <a:latin typeface="Calibri (MS)"/>
                <a:ea typeface="Calibri (MS)"/>
                <a:cs typeface="Calibri (MS)"/>
                <a:sym typeface="Calibri (MS)"/>
              </a:rPr>
              <a:t>Sumber: Badan Pusat Statistik </a:t>
            </a:r>
          </a:p>
        </p:txBody>
      </p:sp>
      <p:sp>
        <p:nvSpPr>
          <p:cNvPr name="TextBox 70" id="70"/>
          <p:cNvSpPr txBox="true"/>
          <p:nvPr/>
        </p:nvSpPr>
        <p:spPr>
          <a:xfrm rot="0">
            <a:off x="9354312" y="1836420"/>
            <a:ext cx="8229600" cy="45720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Jumlah kunjungan wisatawan mancanegara dan nusantara</a:t>
            </a:r>
          </a:p>
        </p:txBody>
      </p:sp>
      <p:grpSp>
        <p:nvGrpSpPr>
          <p:cNvPr name="Group 75" id="75"/>
          <p:cNvGrpSpPr/>
          <p:nvPr/>
        </p:nvGrpSpPr>
        <p:grpSpPr>
          <a:xfrm rot="0">
            <a:off x="16047720" y="9646920"/>
            <a:ext cx="420624" cy="420624"/>
            <a:chOff x="0" y="0"/>
            <a:chExt cx="560832" cy="560832"/>
          </a:xfrm>
        </p:grpSpPr>
        <p:sp>
          <p:nvSpPr>
            <p:cNvPr name="Freeform 76" id="76"/>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77" id="77"/>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graphicFrame>
        <p:nvGraphicFramePr>
          <p:cNvPr id="78" name="Chart 77"/>
          <p:cNvGraphicFramePr>
            <a:graphicFrameLocks noGrp="1"/>
          </p:cNvGraphicFramePr>
          <p:nvPr/>
        </p:nvGraphicFramePr>
        <p:xfrm>
          <a:off x="822960" y="2377440"/>
          <a:ext cx="8138160" cy="6217920"/>
        </p:xfrm>
        <a:graphic>
          <a:graphicData uri="http://schemas.openxmlformats.org/drawingml/2006/chart">
            <c:chart xmlns:c="http://schemas.openxmlformats.org/drawingml/2006/chart" r:id="rId9"/>
          </a:graphicData>
        </a:graphic>
      </p:graphicFrame>
      <p:graphicFrame>
        <p:nvGraphicFramePr>
          <p:cNvPr id="79" name="Chart 78"/>
          <p:cNvGraphicFramePr>
            <a:graphicFrameLocks noGrp="1"/>
          </p:cNvGraphicFramePr>
          <p:nvPr/>
        </p:nvGraphicFramePr>
        <p:xfrm>
          <a:off x="9354312" y="2377440"/>
          <a:ext cx="8229600" cy="6217920"/>
        </p:xfrm>
        <a:graphic>
          <a:graphicData uri="http://schemas.openxmlformats.org/drawingml/2006/chart">
            <c:chart xmlns:c="http://schemas.openxmlformats.org/drawingml/2006/chart" r:id="rId10"/>
          </a:graphicData>
        </a:graphic>
      </p:graphicFrame>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grpSp>
        <p:nvGrpSpPr>
          <p:cNvPr name="Group 11" id="11"/>
          <p:cNvGrpSpPr/>
          <p:nvPr/>
        </p:nvGrpSpPr>
        <p:grpSpPr>
          <a:xfrm rot="0">
            <a:off x="822960" y="274320"/>
            <a:ext cx="2040922" cy="411480"/>
            <a:chOff x="0" y="0"/>
            <a:chExt cx="2721229" cy="548640"/>
          </a:xfrm>
        </p:grpSpPr>
        <p:sp>
          <p:nvSpPr>
            <p:cNvPr name="Freeform 12" id="12"/>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3" id="13"/>
          <p:cNvGrpSpPr/>
          <p:nvPr/>
        </p:nvGrpSpPr>
        <p:grpSpPr>
          <a:xfrm rot="0">
            <a:off x="822960" y="274320"/>
            <a:ext cx="2040922" cy="411480"/>
            <a:chOff x="0" y="0"/>
            <a:chExt cx="2721229" cy="548640"/>
          </a:xfrm>
        </p:grpSpPr>
        <p:sp>
          <p:nvSpPr>
            <p:cNvPr name="Freeform 14" id="14"/>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5" id="15"/>
          <p:cNvGrpSpPr/>
          <p:nvPr/>
        </p:nvGrpSpPr>
        <p:grpSpPr>
          <a:xfrm rot="0">
            <a:off x="822960" y="260033"/>
            <a:ext cx="2040941" cy="425768"/>
            <a:chOff x="0" y="0"/>
            <a:chExt cx="2721254" cy="567690"/>
          </a:xfrm>
        </p:grpSpPr>
        <p:sp>
          <p:nvSpPr>
            <p:cNvPr name="Freeform 16" id="16"/>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7" id="17"/>
          <p:cNvGrpSpPr/>
          <p:nvPr/>
        </p:nvGrpSpPr>
        <p:grpSpPr>
          <a:xfrm rot="0">
            <a:off x="822960" y="245745"/>
            <a:ext cx="2040941" cy="440055"/>
            <a:chOff x="0" y="0"/>
            <a:chExt cx="2721254" cy="586740"/>
          </a:xfrm>
        </p:grpSpPr>
        <p:sp>
          <p:nvSpPr>
            <p:cNvPr name="Freeform 18" id="18"/>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19" id="19"/>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Pendahuluan</a:t>
              </a:r>
            </a:p>
          </p:txBody>
        </p:sp>
      </p:grpSp>
      <p:grpSp>
        <p:nvGrpSpPr>
          <p:cNvPr name="Group 20" id="20"/>
          <p:cNvGrpSpPr/>
          <p:nvPr/>
        </p:nvGrpSpPr>
        <p:grpSpPr>
          <a:xfrm rot="0">
            <a:off x="2973629" y="274320"/>
            <a:ext cx="2378392" cy="411480"/>
            <a:chOff x="0" y="0"/>
            <a:chExt cx="3171190" cy="548640"/>
          </a:xfrm>
        </p:grpSpPr>
        <p:sp>
          <p:nvSpPr>
            <p:cNvPr name="Freeform 21" id="21"/>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2" id="22"/>
          <p:cNvGrpSpPr/>
          <p:nvPr/>
        </p:nvGrpSpPr>
        <p:grpSpPr>
          <a:xfrm rot="0">
            <a:off x="2973629" y="274320"/>
            <a:ext cx="2378392" cy="411480"/>
            <a:chOff x="0" y="0"/>
            <a:chExt cx="3171190" cy="548640"/>
          </a:xfrm>
        </p:grpSpPr>
        <p:sp>
          <p:nvSpPr>
            <p:cNvPr name="Freeform 23" id="23"/>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4" id="24"/>
          <p:cNvGrpSpPr/>
          <p:nvPr/>
        </p:nvGrpSpPr>
        <p:grpSpPr>
          <a:xfrm rot="0">
            <a:off x="2973629" y="260033"/>
            <a:ext cx="2378354" cy="425768"/>
            <a:chOff x="0" y="0"/>
            <a:chExt cx="3171139" cy="567690"/>
          </a:xfrm>
        </p:grpSpPr>
        <p:sp>
          <p:nvSpPr>
            <p:cNvPr name="Freeform 25" id="25"/>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6" id="26"/>
          <p:cNvGrpSpPr/>
          <p:nvPr/>
        </p:nvGrpSpPr>
        <p:grpSpPr>
          <a:xfrm rot="0">
            <a:off x="2973629" y="245745"/>
            <a:ext cx="2378354" cy="440055"/>
            <a:chOff x="0" y="0"/>
            <a:chExt cx="3171139" cy="586740"/>
          </a:xfrm>
        </p:grpSpPr>
        <p:sp>
          <p:nvSpPr>
            <p:cNvPr name="Freeform 27" id="27"/>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8" id="28"/>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29" id="29"/>
          <p:cNvGrpSpPr/>
          <p:nvPr/>
        </p:nvGrpSpPr>
        <p:grpSpPr>
          <a:xfrm rot="0">
            <a:off x="5461711" y="274320"/>
            <a:ext cx="1591056" cy="411480"/>
            <a:chOff x="0" y="0"/>
            <a:chExt cx="2121408" cy="548640"/>
          </a:xfrm>
        </p:grpSpPr>
        <p:sp>
          <p:nvSpPr>
            <p:cNvPr name="Freeform 30" id="30"/>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1" id="31"/>
          <p:cNvGrpSpPr/>
          <p:nvPr/>
        </p:nvGrpSpPr>
        <p:grpSpPr>
          <a:xfrm rot="0">
            <a:off x="5461711" y="274320"/>
            <a:ext cx="1591056" cy="411480"/>
            <a:chOff x="0" y="0"/>
            <a:chExt cx="2121408" cy="548640"/>
          </a:xfrm>
        </p:grpSpPr>
        <p:sp>
          <p:nvSpPr>
            <p:cNvPr name="Freeform 32" id="32"/>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3" id="33"/>
          <p:cNvGrpSpPr/>
          <p:nvPr/>
        </p:nvGrpSpPr>
        <p:grpSpPr>
          <a:xfrm rot="0">
            <a:off x="5461711" y="260033"/>
            <a:ext cx="1591056" cy="425768"/>
            <a:chOff x="0" y="0"/>
            <a:chExt cx="2121408" cy="567690"/>
          </a:xfrm>
        </p:grpSpPr>
        <p:sp>
          <p:nvSpPr>
            <p:cNvPr name="Freeform 34" id="34"/>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5" id="35"/>
          <p:cNvGrpSpPr/>
          <p:nvPr/>
        </p:nvGrpSpPr>
        <p:grpSpPr>
          <a:xfrm rot="0">
            <a:off x="5461711" y="245745"/>
            <a:ext cx="1591056" cy="440055"/>
            <a:chOff x="0" y="0"/>
            <a:chExt cx="2121408" cy="586740"/>
          </a:xfrm>
        </p:grpSpPr>
        <p:sp>
          <p:nvSpPr>
            <p:cNvPr name="Freeform 36" id="36"/>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7" id="37"/>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8" id="38"/>
          <p:cNvGrpSpPr/>
          <p:nvPr/>
        </p:nvGrpSpPr>
        <p:grpSpPr>
          <a:xfrm rot="0">
            <a:off x="7162495" y="274320"/>
            <a:ext cx="2490788" cy="411480"/>
            <a:chOff x="0" y="0"/>
            <a:chExt cx="3321050" cy="548640"/>
          </a:xfrm>
        </p:grpSpPr>
        <p:sp>
          <p:nvSpPr>
            <p:cNvPr name="Freeform 39" id="39"/>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7162495" y="274320"/>
            <a:ext cx="2490788" cy="411480"/>
            <a:chOff x="0" y="0"/>
            <a:chExt cx="3321050" cy="548640"/>
          </a:xfrm>
        </p:grpSpPr>
        <p:sp>
          <p:nvSpPr>
            <p:cNvPr name="Freeform 41" id="41"/>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2" id="42"/>
          <p:cNvGrpSpPr/>
          <p:nvPr/>
        </p:nvGrpSpPr>
        <p:grpSpPr>
          <a:xfrm rot="0">
            <a:off x="7162495" y="260033"/>
            <a:ext cx="2490826" cy="425768"/>
            <a:chOff x="0" y="0"/>
            <a:chExt cx="3321101" cy="567690"/>
          </a:xfrm>
        </p:grpSpPr>
        <p:sp>
          <p:nvSpPr>
            <p:cNvPr name="Freeform 43" id="43"/>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4" id="44"/>
          <p:cNvGrpSpPr/>
          <p:nvPr/>
        </p:nvGrpSpPr>
        <p:grpSpPr>
          <a:xfrm rot="0">
            <a:off x="7162495" y="245745"/>
            <a:ext cx="2490826" cy="440055"/>
            <a:chOff x="0" y="0"/>
            <a:chExt cx="3321101" cy="586740"/>
          </a:xfrm>
        </p:grpSpPr>
        <p:sp>
          <p:nvSpPr>
            <p:cNvPr name="Freeform 45" id="45"/>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6" id="46"/>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7" id="47"/>
          <p:cNvGrpSpPr/>
          <p:nvPr/>
        </p:nvGrpSpPr>
        <p:grpSpPr>
          <a:xfrm rot="0">
            <a:off x="9763049" y="274320"/>
            <a:ext cx="1366076" cy="411480"/>
            <a:chOff x="0" y="0"/>
            <a:chExt cx="1821434" cy="548640"/>
          </a:xfrm>
        </p:grpSpPr>
        <p:sp>
          <p:nvSpPr>
            <p:cNvPr name="Freeform 48" id="48"/>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9" id="49"/>
          <p:cNvGrpSpPr/>
          <p:nvPr/>
        </p:nvGrpSpPr>
        <p:grpSpPr>
          <a:xfrm rot="0">
            <a:off x="9763049" y="274320"/>
            <a:ext cx="1366076" cy="411480"/>
            <a:chOff x="0" y="0"/>
            <a:chExt cx="1821434" cy="548640"/>
          </a:xfrm>
        </p:grpSpPr>
        <p:sp>
          <p:nvSpPr>
            <p:cNvPr name="Freeform 50" id="50"/>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1" id="51"/>
          <p:cNvGrpSpPr/>
          <p:nvPr/>
        </p:nvGrpSpPr>
        <p:grpSpPr>
          <a:xfrm rot="0">
            <a:off x="9763049" y="260033"/>
            <a:ext cx="1366114" cy="425768"/>
            <a:chOff x="0" y="0"/>
            <a:chExt cx="1821485" cy="567690"/>
          </a:xfrm>
        </p:grpSpPr>
        <p:sp>
          <p:nvSpPr>
            <p:cNvPr name="Freeform 52" id="52"/>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3" id="53"/>
          <p:cNvGrpSpPr/>
          <p:nvPr/>
        </p:nvGrpSpPr>
        <p:grpSpPr>
          <a:xfrm rot="0">
            <a:off x="9763049" y="245745"/>
            <a:ext cx="1366114" cy="440055"/>
            <a:chOff x="0" y="0"/>
            <a:chExt cx="1821485" cy="586740"/>
          </a:xfrm>
        </p:grpSpPr>
        <p:sp>
          <p:nvSpPr>
            <p:cNvPr name="Freeform 54" id="54"/>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5" id="55"/>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6" id="56"/>
          <p:cNvGrpSpPr/>
          <p:nvPr/>
        </p:nvGrpSpPr>
        <p:grpSpPr>
          <a:xfrm rot="0">
            <a:off x="11238890" y="274320"/>
            <a:ext cx="1253680" cy="411480"/>
            <a:chOff x="0" y="0"/>
            <a:chExt cx="1671574" cy="548640"/>
          </a:xfrm>
        </p:grpSpPr>
        <p:sp>
          <p:nvSpPr>
            <p:cNvPr name="Freeform 57" id="57"/>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8" id="58"/>
          <p:cNvGrpSpPr/>
          <p:nvPr/>
        </p:nvGrpSpPr>
        <p:grpSpPr>
          <a:xfrm rot="0">
            <a:off x="11238890" y="274320"/>
            <a:ext cx="1253680" cy="411480"/>
            <a:chOff x="0" y="0"/>
            <a:chExt cx="1671574" cy="548640"/>
          </a:xfrm>
        </p:grpSpPr>
        <p:sp>
          <p:nvSpPr>
            <p:cNvPr name="Freeform 59" id="59"/>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0" id="60"/>
          <p:cNvGrpSpPr/>
          <p:nvPr/>
        </p:nvGrpSpPr>
        <p:grpSpPr>
          <a:xfrm rot="0">
            <a:off x="11238890" y="260033"/>
            <a:ext cx="1253642" cy="425768"/>
            <a:chOff x="0" y="0"/>
            <a:chExt cx="1671523" cy="567690"/>
          </a:xfrm>
        </p:grpSpPr>
        <p:sp>
          <p:nvSpPr>
            <p:cNvPr name="Freeform 61" id="61"/>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2" id="62"/>
          <p:cNvGrpSpPr/>
          <p:nvPr/>
        </p:nvGrpSpPr>
        <p:grpSpPr>
          <a:xfrm rot="0">
            <a:off x="11238890" y="245745"/>
            <a:ext cx="1253642" cy="440055"/>
            <a:chOff x="0" y="0"/>
            <a:chExt cx="1671523" cy="586740"/>
          </a:xfrm>
        </p:grpSpPr>
        <p:sp>
          <p:nvSpPr>
            <p:cNvPr name="Freeform 63" id="63"/>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4" id="64"/>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5" id="65"/>
          <p:cNvGrpSpPr/>
          <p:nvPr/>
        </p:nvGrpSpPr>
        <p:grpSpPr>
          <a:xfrm rot="0">
            <a:off x="822960" y="8042148"/>
            <a:ext cx="16642080" cy="1533906"/>
            <a:chOff x="0" y="0"/>
            <a:chExt cx="22189440" cy="2045208"/>
          </a:xfrm>
        </p:grpSpPr>
        <p:sp>
          <p:nvSpPr>
            <p:cNvPr name="Freeform 66" id="66"/>
            <p:cNvSpPr/>
            <p:nvPr/>
          </p:nvSpPr>
          <p:spPr>
            <a:xfrm flipH="false" flipV="false" rot="0">
              <a:off x="0" y="0"/>
              <a:ext cx="22189441" cy="2045208"/>
            </a:xfrm>
            <a:custGeom>
              <a:avLst/>
              <a:gdLst/>
              <a:ahLst/>
              <a:cxnLst/>
              <a:rect r="r" b="b" t="t" l="l"/>
              <a:pathLst>
                <a:path h="2045208" w="22189441">
                  <a:moveTo>
                    <a:pt x="0" y="163576"/>
                  </a:moveTo>
                  <a:cubicBezTo>
                    <a:pt x="0" y="73279"/>
                    <a:pt x="81915" y="0"/>
                    <a:pt x="182880" y="0"/>
                  </a:cubicBezTo>
                  <a:lnTo>
                    <a:pt x="22006561" y="0"/>
                  </a:lnTo>
                  <a:cubicBezTo>
                    <a:pt x="22107525" y="0"/>
                    <a:pt x="22189441" y="73279"/>
                    <a:pt x="22189441" y="163576"/>
                  </a:cubicBezTo>
                  <a:lnTo>
                    <a:pt x="22189441" y="1881632"/>
                  </a:lnTo>
                  <a:cubicBezTo>
                    <a:pt x="22189441" y="1971929"/>
                    <a:pt x="22107525" y="2045208"/>
                    <a:pt x="22006561" y="2045208"/>
                  </a:cubicBezTo>
                  <a:lnTo>
                    <a:pt x="182880" y="2045208"/>
                  </a:lnTo>
                  <a:cubicBezTo>
                    <a:pt x="81915" y="2045208"/>
                    <a:pt x="0" y="1971929"/>
                    <a:pt x="0" y="1881632"/>
                  </a:cubicBezTo>
                  <a:close/>
                </a:path>
              </a:pathLst>
            </a:custGeom>
            <a:solidFill>
              <a:srgbClr val="0B5E6E"/>
            </a:solidFill>
          </p:spPr>
          <p:txBody>
            <a:bodyPr/>
            <a:p/>
          </p:txBody>
        </p:sp>
      </p:grpSp>
      <p:grpSp>
        <p:nvGrpSpPr>
          <p:cNvPr name="Group 67" id="67"/>
          <p:cNvGrpSpPr/>
          <p:nvPr/>
        </p:nvGrpSpPr>
        <p:grpSpPr>
          <a:xfrm rot="0">
            <a:off x="1303153" y="8250765"/>
            <a:ext cx="15681674" cy="674942"/>
            <a:chOff x="0" y="0"/>
            <a:chExt cx="20908899" cy="899922"/>
          </a:xfrm>
        </p:grpSpPr>
        <p:sp>
          <p:nvSpPr>
            <p:cNvPr name="Freeform 68" id="68"/>
            <p:cNvSpPr/>
            <p:nvPr/>
          </p:nvSpPr>
          <p:spPr>
            <a:xfrm flipH="false" flipV="false" rot="0">
              <a:off x="0" y="0"/>
              <a:ext cx="20908899" cy="899922"/>
            </a:xfrm>
            <a:custGeom>
              <a:avLst/>
              <a:gdLst/>
              <a:ahLst/>
              <a:cxnLst/>
              <a:rect r="r" b="b" t="t" l="l"/>
              <a:pathLst>
                <a:path h="899922" w="20908899">
                  <a:moveTo>
                    <a:pt x="0" y="0"/>
                  </a:moveTo>
                  <a:lnTo>
                    <a:pt x="20908899" y="0"/>
                  </a:lnTo>
                  <a:lnTo>
                    <a:pt x="20908899" y="899922"/>
                  </a:lnTo>
                  <a:lnTo>
                    <a:pt x="0" y="899922"/>
                  </a:lnTo>
                  <a:close/>
                </a:path>
              </a:pathLst>
            </a:custGeom>
            <a:blipFill>
              <a:blip r:embed="rId4">
                <a:alphaModFix amt="0"/>
              </a:blip>
              <a:stretch>
                <a:fillRect l="0" t="-402403" r="0" b="-402401"/>
              </a:stretch>
            </a:blipFill>
          </p:spPr>
          <p:txBody>
            <a:bodyPr/>
            <a:p/>
          </p:txBody>
        </p:sp>
      </p:grpSp>
      <p:grpSp>
        <p:nvGrpSpPr>
          <p:cNvPr name="Group 69" id="69"/>
          <p:cNvGrpSpPr/>
          <p:nvPr/>
        </p:nvGrpSpPr>
        <p:grpSpPr>
          <a:xfrm rot="0">
            <a:off x="1303153" y="8215046"/>
            <a:ext cx="15681693" cy="710651"/>
            <a:chOff x="0" y="0"/>
            <a:chExt cx="20908924" cy="947534"/>
          </a:xfrm>
        </p:grpSpPr>
        <p:sp>
          <p:nvSpPr>
            <p:cNvPr name="Freeform 70" id="70"/>
            <p:cNvSpPr/>
            <p:nvPr/>
          </p:nvSpPr>
          <p:spPr>
            <a:xfrm flipH="false" flipV="false" rot="0">
              <a:off x="0" y="0"/>
              <a:ext cx="20908899" cy="947547"/>
            </a:xfrm>
            <a:custGeom>
              <a:avLst/>
              <a:gdLst/>
              <a:ahLst/>
              <a:cxnLst/>
              <a:rect r="r" b="b" t="t" l="l"/>
              <a:pathLst>
                <a:path h="947547" w="20908899">
                  <a:moveTo>
                    <a:pt x="0" y="0"/>
                  </a:moveTo>
                  <a:lnTo>
                    <a:pt x="20908899" y="0"/>
                  </a:lnTo>
                  <a:lnTo>
                    <a:pt x="20908899" y="947547"/>
                  </a:lnTo>
                  <a:lnTo>
                    <a:pt x="0" y="947547"/>
                  </a:lnTo>
                  <a:close/>
                </a:path>
              </a:pathLst>
            </a:custGeom>
            <a:blipFill>
              <a:blip r:embed="rId5">
                <a:alphaModFix amt="0"/>
              </a:blip>
              <a:stretch>
                <a:fillRect l="0" t="-379666" r="0" b="-379663"/>
              </a:stretch>
            </a:blipFill>
          </p:spPr>
          <p:txBody>
            <a:bodyPr/>
            <a:p/>
          </p:txBody>
        </p:sp>
      </p:grpSp>
      <p:grpSp>
        <p:nvGrpSpPr>
          <p:cNvPr name="Group 71" id="71"/>
          <p:cNvGrpSpPr/>
          <p:nvPr/>
        </p:nvGrpSpPr>
        <p:grpSpPr>
          <a:xfrm rot="0">
            <a:off x="1303153" y="8179327"/>
            <a:ext cx="15681693" cy="746369"/>
            <a:chOff x="0" y="0"/>
            <a:chExt cx="20908924" cy="995159"/>
          </a:xfrm>
        </p:grpSpPr>
        <p:sp>
          <p:nvSpPr>
            <p:cNvPr name="Freeform 72" id="72"/>
            <p:cNvSpPr/>
            <p:nvPr/>
          </p:nvSpPr>
          <p:spPr>
            <a:xfrm flipH="false" flipV="false" rot="0">
              <a:off x="0" y="0"/>
              <a:ext cx="20908924" cy="995160"/>
            </a:xfrm>
            <a:custGeom>
              <a:avLst/>
              <a:gdLst/>
              <a:ahLst/>
              <a:cxnLst/>
              <a:rect r="r" b="b" t="t" l="l"/>
              <a:pathLst>
                <a:path h="995160" w="20908924">
                  <a:moveTo>
                    <a:pt x="0" y="0"/>
                  </a:moveTo>
                  <a:lnTo>
                    <a:pt x="20908924" y="0"/>
                  </a:lnTo>
                  <a:lnTo>
                    <a:pt x="20908924" y="995160"/>
                  </a:lnTo>
                  <a:lnTo>
                    <a:pt x="0" y="995160"/>
                  </a:lnTo>
                  <a:close/>
                </a:path>
              </a:pathLst>
            </a:custGeom>
            <a:blipFill>
              <a:blip r:embed="rId6">
                <a:alphaModFix amt="0"/>
              </a:blip>
              <a:stretch>
                <a:fillRect l="0" t="-359392" r="0" b="-359392"/>
              </a:stretch>
            </a:blipFill>
          </p:spPr>
          <p:txBody>
            <a:bodyPr/>
            <a:p/>
          </p:txBody>
        </p:sp>
        <p:sp>
          <p:nvSpPr>
            <p:cNvPr name="TextBox 73" id="73"/>
            <p:cNvSpPr txBox="true"/>
            <p:nvPr/>
          </p:nvSpPr>
          <p:spPr>
            <a:xfrm>
              <a:off x="0" y="-47625"/>
              <a:ext cx="20908924" cy="1042784"/>
            </a:xfrm>
            <a:prstGeom prst="rect">
              <a:avLst/>
            </a:prstGeom>
          </p:spPr>
          <p:txBody>
            <a:bodyPr anchor="ctr" rtlCol="false" tIns="0" lIns="0" bIns="0" rIns="0"/>
            <a:lstStyle/>
            <a:p>
              <a:pPr algn="l">
                <a:lnSpc>
                  <a:spcPts val="3060"/>
                </a:lnSpc>
              </a:pPr>
              <a:r>
                <a:rPr lang="en-US" sz="2550" b="true">
                  <a:solidFill>
                    <a:srgbClr val="FFFFFF"/>
                  </a:solidFill>
                  <a:latin typeface="Calibri (MS) Bold"/>
                  <a:ea typeface="Calibri (MS) Bold"/>
                  <a:cs typeface="Calibri (MS) Bold"/>
                  <a:sym typeface="Calibri (MS) Bold"/>
                </a:rPr>
                <a:t>Borobudur–Yogyakarta–Prambanan ditetapkan sebagai Destinasi Pariwisata Prioritas (Perpres No. 88 Tahun 2024)</a:t>
              </a:r>
            </a:p>
          </p:txBody>
        </p:sp>
      </p:grpSp>
      <p:grpSp>
        <p:nvGrpSpPr>
          <p:cNvPr name="Group 74" id="74"/>
          <p:cNvGrpSpPr/>
          <p:nvPr/>
        </p:nvGrpSpPr>
        <p:grpSpPr>
          <a:xfrm rot="0">
            <a:off x="1303153" y="8962511"/>
            <a:ext cx="15681674" cy="429482"/>
            <a:chOff x="0" y="0"/>
            <a:chExt cx="20908899" cy="572643"/>
          </a:xfrm>
        </p:grpSpPr>
        <p:sp>
          <p:nvSpPr>
            <p:cNvPr name="Freeform 75" id="75"/>
            <p:cNvSpPr/>
            <p:nvPr/>
          </p:nvSpPr>
          <p:spPr>
            <a:xfrm flipH="false" flipV="false" rot="0">
              <a:off x="0" y="0"/>
              <a:ext cx="20908899" cy="572643"/>
            </a:xfrm>
            <a:custGeom>
              <a:avLst/>
              <a:gdLst/>
              <a:ahLst/>
              <a:cxnLst/>
              <a:rect r="r" b="b" t="t" l="l"/>
              <a:pathLst>
                <a:path h="572643" w="20908899">
                  <a:moveTo>
                    <a:pt x="0" y="0"/>
                  </a:moveTo>
                  <a:lnTo>
                    <a:pt x="20908899" y="0"/>
                  </a:lnTo>
                  <a:lnTo>
                    <a:pt x="20908899" y="572643"/>
                  </a:lnTo>
                  <a:lnTo>
                    <a:pt x="0" y="572643"/>
                  </a:lnTo>
                  <a:close/>
                </a:path>
              </a:pathLst>
            </a:custGeom>
            <a:blipFill>
              <a:blip r:embed="rId4">
                <a:alphaModFix amt="0"/>
              </a:blip>
              <a:stretch>
                <a:fillRect l="0" t="-660962" r="0" b="-660960"/>
              </a:stretch>
            </a:blipFill>
          </p:spPr>
          <p:txBody>
            <a:bodyPr/>
            <a:p/>
          </p:txBody>
        </p:sp>
      </p:grpSp>
      <p:grpSp>
        <p:nvGrpSpPr>
          <p:cNvPr name="Group 76" id="76"/>
          <p:cNvGrpSpPr/>
          <p:nvPr/>
        </p:nvGrpSpPr>
        <p:grpSpPr>
          <a:xfrm rot="0">
            <a:off x="1303153" y="8926792"/>
            <a:ext cx="15681693" cy="465220"/>
            <a:chOff x="0" y="0"/>
            <a:chExt cx="20908924" cy="620293"/>
          </a:xfrm>
        </p:grpSpPr>
        <p:sp>
          <p:nvSpPr>
            <p:cNvPr name="Freeform 77" id="77"/>
            <p:cNvSpPr/>
            <p:nvPr/>
          </p:nvSpPr>
          <p:spPr>
            <a:xfrm flipH="false" flipV="false" rot="0">
              <a:off x="0" y="0"/>
              <a:ext cx="20908899" cy="620268"/>
            </a:xfrm>
            <a:custGeom>
              <a:avLst/>
              <a:gdLst/>
              <a:ahLst/>
              <a:cxnLst/>
              <a:rect r="r" b="b" t="t" l="l"/>
              <a:pathLst>
                <a:path h="620268" w="20908899">
                  <a:moveTo>
                    <a:pt x="0" y="0"/>
                  </a:moveTo>
                  <a:lnTo>
                    <a:pt x="20908899" y="0"/>
                  </a:lnTo>
                  <a:lnTo>
                    <a:pt x="20908899" y="620268"/>
                  </a:lnTo>
                  <a:lnTo>
                    <a:pt x="0" y="620268"/>
                  </a:lnTo>
                  <a:close/>
                </a:path>
              </a:pathLst>
            </a:custGeom>
            <a:blipFill>
              <a:blip r:embed="rId5">
                <a:alphaModFix amt="0"/>
              </a:blip>
              <a:stretch>
                <a:fillRect l="0" t="-606371" r="0" b="-606375"/>
              </a:stretch>
            </a:blipFill>
          </p:spPr>
          <p:txBody>
            <a:bodyPr/>
            <a:p/>
          </p:txBody>
        </p:sp>
      </p:grpSp>
      <p:grpSp>
        <p:nvGrpSpPr>
          <p:cNvPr name="Group 78" id="78"/>
          <p:cNvGrpSpPr/>
          <p:nvPr/>
        </p:nvGrpSpPr>
        <p:grpSpPr>
          <a:xfrm rot="0">
            <a:off x="1303153" y="8891073"/>
            <a:ext cx="15681693" cy="500939"/>
            <a:chOff x="0" y="0"/>
            <a:chExt cx="20908924" cy="667918"/>
          </a:xfrm>
        </p:grpSpPr>
        <p:sp>
          <p:nvSpPr>
            <p:cNvPr name="Freeform 79" id="79"/>
            <p:cNvSpPr/>
            <p:nvPr/>
          </p:nvSpPr>
          <p:spPr>
            <a:xfrm flipH="false" flipV="false" rot="0">
              <a:off x="0" y="0"/>
              <a:ext cx="20908924" cy="667918"/>
            </a:xfrm>
            <a:custGeom>
              <a:avLst/>
              <a:gdLst/>
              <a:ahLst/>
              <a:cxnLst/>
              <a:rect r="r" b="b" t="t" l="l"/>
              <a:pathLst>
                <a:path h="667918" w="20908924">
                  <a:moveTo>
                    <a:pt x="0" y="0"/>
                  </a:moveTo>
                  <a:lnTo>
                    <a:pt x="20908924" y="0"/>
                  </a:lnTo>
                  <a:lnTo>
                    <a:pt x="20908924" y="667918"/>
                  </a:lnTo>
                  <a:lnTo>
                    <a:pt x="0" y="667918"/>
                  </a:lnTo>
                  <a:close/>
                </a:path>
              </a:pathLst>
            </a:custGeom>
            <a:blipFill>
              <a:blip r:embed="rId6">
                <a:alphaModFix amt="0"/>
              </a:blip>
              <a:stretch>
                <a:fillRect l="0" t="-559971" r="0" b="-559971"/>
              </a:stretch>
            </a:blipFill>
          </p:spPr>
          <p:txBody>
            <a:bodyPr/>
            <a:p/>
          </p:txBody>
        </p:sp>
        <p:sp>
          <p:nvSpPr>
            <p:cNvPr name="TextBox 80" id="80"/>
            <p:cNvSpPr txBox="true"/>
            <p:nvPr/>
          </p:nvSpPr>
          <p:spPr>
            <a:xfrm>
              <a:off x="0" y="-47625"/>
              <a:ext cx="20908924" cy="715543"/>
            </a:xfrm>
            <a:prstGeom prst="rect">
              <a:avLst/>
            </a:prstGeom>
          </p:spPr>
          <p:txBody>
            <a:bodyPr anchor="ctr" rtlCol="false" tIns="0" lIns="0" bIns="0" rIns="0"/>
            <a:lstStyle/>
            <a:p>
              <a:pPr algn="l">
                <a:lnSpc>
                  <a:spcPts val="2340"/>
                </a:lnSpc>
              </a:pPr>
              <a:r>
                <a:rPr lang="en-US" sz="1950">
                  <a:solidFill>
                    <a:srgbClr val="6BE5EA"/>
                  </a:solidFill>
                  <a:latin typeface="Calibri (MS)"/>
                  <a:ea typeface="Calibri (MS)"/>
                  <a:cs typeface="Calibri (MS)"/>
                  <a:sym typeface="Calibri (MS)"/>
                </a:rPr>
                <a:t>Daya tarik yang kuat pada skala nasional tercermin dari dominasi kunjungan wisatawan dari luar provinsi.</a:t>
              </a:r>
            </a:p>
          </p:txBody>
        </p:sp>
      </p:grpSp>
      <p:sp>
        <p:nvSpPr>
          <p:cNvPr name="TextBox 81" id="81"/>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Latar Belakang</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DIY adalah destinasi utama dan didukung kebijakan yang kuat</a:t>
            </a:r>
          </a:p>
        </p:txBody>
      </p:sp>
      <p:sp>
        <p:nvSpPr>
          <p:cNvPr name="Freeform 82" id="82"/>
          <p:cNvSpPr/>
          <p:nvPr/>
        </p:nvSpPr>
        <p:spPr>
          <a:xfrm flipH="false" flipV="false" rot="0">
            <a:off x="9518161" y="1704565"/>
            <a:ext cx="3842499" cy="3021844"/>
          </a:xfrm>
          <a:custGeom>
            <a:avLst/>
            <a:gdLst/>
            <a:ahLst/>
            <a:cxnLst/>
            <a:rect r="r" b="b" t="t" l="l"/>
            <a:pathLst>
              <a:path h="3021844" w="3842499">
                <a:moveTo>
                  <a:pt x="0" y="0"/>
                </a:moveTo>
                <a:lnTo>
                  <a:pt x="3842499" y="0"/>
                </a:lnTo>
                <a:lnTo>
                  <a:pt x="3842499" y="3021845"/>
                </a:lnTo>
                <a:lnTo>
                  <a:pt x="0" y="3021845"/>
                </a:lnTo>
                <a:lnTo>
                  <a:pt x="0" y="0"/>
                </a:lnTo>
                <a:close/>
              </a:path>
            </a:pathLst>
          </a:custGeom>
          <a:blipFill>
            <a:blip r:embed="rId7">
              <a:extLst>
                <a:ext uri="{96DAC541-7B7A-43D3-8B79-37D633B846F1}">
                  <asvg:svgBlip xmlns:asvg="http://schemas.microsoft.com/office/drawing/2016/SVG/main" r:embed="rId8"/>
                </a:ext>
              </a:extLst>
            </a:blip>
            <a:stretch>
              <a:fillRect l="0" t="-44" r="0" b="-44"/>
            </a:stretch>
          </a:blipFill>
        </p:spPr>
        <p:txBody>
          <a:bodyPr/>
          <a:p/>
        </p:txBody>
      </p:sp>
      <p:grpSp>
        <p:nvGrpSpPr>
          <p:cNvPr name="Group 83" id="83"/>
          <p:cNvGrpSpPr/>
          <p:nvPr/>
        </p:nvGrpSpPr>
        <p:grpSpPr>
          <a:xfrm rot="0">
            <a:off x="9825304" y="2117550"/>
            <a:ext cx="3241453" cy="1190720"/>
            <a:chOff x="0" y="0"/>
            <a:chExt cx="4321937" cy="1587627"/>
          </a:xfrm>
        </p:grpSpPr>
        <p:sp>
          <p:nvSpPr>
            <p:cNvPr name="Freeform 84" id="84"/>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txBody>
            <a:bodyPr/>
            <a:p/>
          </p:txBody>
        </p:sp>
      </p:grpSp>
      <p:grpSp>
        <p:nvGrpSpPr>
          <p:cNvPr name="Group 85" id="85"/>
          <p:cNvGrpSpPr/>
          <p:nvPr/>
        </p:nvGrpSpPr>
        <p:grpSpPr>
          <a:xfrm rot="0">
            <a:off x="9825304" y="2055533"/>
            <a:ext cx="3241434" cy="1252747"/>
            <a:chOff x="0" y="0"/>
            <a:chExt cx="4321912" cy="1670329"/>
          </a:xfrm>
        </p:grpSpPr>
        <p:sp>
          <p:nvSpPr>
            <p:cNvPr name="Freeform 86" id="86"/>
            <p:cNvSpPr/>
            <p:nvPr/>
          </p:nvSpPr>
          <p:spPr>
            <a:xfrm flipH="false" flipV="false" rot="0">
              <a:off x="0" y="0"/>
              <a:ext cx="4321937" cy="1670304"/>
            </a:xfrm>
            <a:custGeom>
              <a:avLst/>
              <a:gdLst/>
              <a:ahLst/>
              <a:cxnLst/>
              <a:rect r="r" b="b" t="t" l="l"/>
              <a:pathLst>
                <a:path h="1670304" w="4321937">
                  <a:moveTo>
                    <a:pt x="0" y="0"/>
                  </a:moveTo>
                  <a:lnTo>
                    <a:pt x="4321937" y="0"/>
                  </a:lnTo>
                  <a:lnTo>
                    <a:pt x="4321937" y="1670304"/>
                  </a:lnTo>
                  <a:lnTo>
                    <a:pt x="0" y="1670304"/>
                  </a:lnTo>
                  <a:close/>
                </a:path>
              </a:pathLst>
            </a:custGeom>
            <a:blipFill>
              <a:blip r:embed="rId5">
                <a:alphaModFix amt="0"/>
              </a:blip>
              <a:stretch>
                <a:fillRect l="0" t="-381" r="0" b="-383"/>
              </a:stretch>
            </a:blipFill>
          </p:spPr>
          <p:txBody>
            <a:bodyPr/>
            <a:p/>
          </p:txBody>
        </p:sp>
      </p:grpSp>
      <p:grpSp>
        <p:nvGrpSpPr>
          <p:cNvPr name="Group 87" id="87"/>
          <p:cNvGrpSpPr/>
          <p:nvPr/>
        </p:nvGrpSpPr>
        <p:grpSpPr>
          <a:xfrm rot="0">
            <a:off x="9825304" y="1991239"/>
            <a:ext cx="3241434" cy="1317041"/>
            <a:chOff x="0" y="0"/>
            <a:chExt cx="4321912" cy="1756054"/>
          </a:xfrm>
        </p:grpSpPr>
        <p:sp>
          <p:nvSpPr>
            <p:cNvPr name="Freeform 88" id="88"/>
            <p:cNvSpPr/>
            <p:nvPr/>
          </p:nvSpPr>
          <p:spPr>
            <a:xfrm flipH="false" flipV="false" rot="0">
              <a:off x="0" y="0"/>
              <a:ext cx="4321912" cy="1756054"/>
            </a:xfrm>
            <a:custGeom>
              <a:avLst/>
              <a:gdLst/>
              <a:ahLst/>
              <a:cxnLst/>
              <a:rect r="r" b="b" t="t" l="l"/>
              <a:pathLst>
                <a:path h="1756054" w="4321912">
                  <a:moveTo>
                    <a:pt x="0" y="0"/>
                  </a:moveTo>
                  <a:lnTo>
                    <a:pt x="4321912" y="0"/>
                  </a:lnTo>
                  <a:lnTo>
                    <a:pt x="4321912" y="1756054"/>
                  </a:lnTo>
                  <a:lnTo>
                    <a:pt x="0" y="1756054"/>
                  </a:lnTo>
                  <a:close/>
                </a:path>
              </a:pathLst>
            </a:custGeom>
            <a:blipFill>
              <a:blip r:embed="rId6">
                <a:alphaModFix amt="0"/>
              </a:blip>
              <a:stretch>
                <a:fillRect l="-2131" t="0" r="-2131" b="0"/>
              </a:stretch>
            </a:blipFill>
          </p:spPr>
          <p:txBody>
            <a:bodyPr/>
            <a:p/>
          </p:txBody>
        </p:sp>
        <p:sp>
          <p:nvSpPr>
            <p:cNvPr name="TextBox 89" id="89"/>
            <p:cNvSpPr txBox="true"/>
            <p:nvPr/>
          </p:nvSpPr>
          <p:spPr>
            <a:xfrm>
              <a:off x="0" y="-85725"/>
              <a:ext cx="4321912" cy="1841779"/>
            </a:xfrm>
            <a:prstGeom prst="rect">
              <a:avLst/>
            </a:prstGeom>
          </p:spPr>
          <p:txBody>
            <a:bodyPr anchor="ctr" rtlCol="false" tIns="0" lIns="0" bIns="0" rIns="0"/>
            <a:lstStyle/>
            <a:p>
              <a:pPr algn="l">
                <a:lnSpc>
                  <a:spcPts val="5397"/>
                </a:lnSpc>
              </a:pPr>
              <a:r>
                <a:rPr lang="en-US" sz="4499" b="true">
                  <a:solidFill>
                    <a:srgbClr val="0B5E6E"/>
                  </a:solidFill>
                  <a:latin typeface="Calibri (MS) Bold"/>
                  <a:ea typeface="Calibri (MS) Bold"/>
                  <a:cs typeface="Calibri (MS) Bold"/>
                  <a:sym typeface="Calibri (MS) Bold"/>
                </a:rPr>
                <a:t>&gt;40 juta</a:t>
              </a:r>
            </a:p>
          </p:txBody>
        </p:sp>
      </p:grpSp>
      <p:sp>
        <p:nvSpPr>
          <p:cNvPr name="TextBox 90" id="90"/>
          <p:cNvSpPr txBox="true"/>
          <p:nvPr/>
        </p:nvSpPr>
        <p:spPr>
          <a:xfrm rot="0">
            <a:off x="9825304" y="3401959"/>
            <a:ext cx="3241434" cy="101436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perjalanan wisatawan nusantara ke DIY pada 2025, peringkat ke-7 nasional</a:t>
            </a:r>
          </a:p>
        </p:txBody>
      </p:sp>
      <p:sp>
        <p:nvSpPr>
          <p:cNvPr name="Freeform 91" id="91"/>
          <p:cNvSpPr/>
          <p:nvPr/>
        </p:nvSpPr>
        <p:spPr>
          <a:xfrm flipH="false" flipV="false" rot="0">
            <a:off x="9518161" y="4845977"/>
            <a:ext cx="3842499" cy="3021844"/>
          </a:xfrm>
          <a:custGeom>
            <a:avLst/>
            <a:gdLst/>
            <a:ahLst/>
            <a:cxnLst/>
            <a:rect r="r" b="b" t="t" l="l"/>
            <a:pathLst>
              <a:path h="3021844" w="3842499">
                <a:moveTo>
                  <a:pt x="0" y="0"/>
                </a:moveTo>
                <a:lnTo>
                  <a:pt x="3842499" y="0"/>
                </a:lnTo>
                <a:lnTo>
                  <a:pt x="3842499" y="3021844"/>
                </a:lnTo>
                <a:lnTo>
                  <a:pt x="0" y="3021844"/>
                </a:lnTo>
                <a:lnTo>
                  <a:pt x="0" y="0"/>
                </a:lnTo>
                <a:close/>
              </a:path>
            </a:pathLst>
          </a:custGeom>
          <a:blipFill>
            <a:blip r:embed="rId7">
              <a:extLst>
                <a:ext uri="{96DAC541-7B7A-43D3-8B79-37D633B846F1}">
                  <asvg:svgBlip xmlns:asvg="http://schemas.microsoft.com/office/drawing/2016/SVG/main" r:embed="rId8"/>
                </a:ext>
              </a:extLst>
            </a:blip>
            <a:stretch>
              <a:fillRect l="0" t="-44" r="0" b="-44"/>
            </a:stretch>
          </a:blipFill>
        </p:spPr>
        <p:txBody>
          <a:bodyPr/>
          <a:p/>
        </p:txBody>
      </p:sp>
      <p:grpSp>
        <p:nvGrpSpPr>
          <p:cNvPr name="Group 92" id="92"/>
          <p:cNvGrpSpPr/>
          <p:nvPr/>
        </p:nvGrpSpPr>
        <p:grpSpPr>
          <a:xfrm rot="0">
            <a:off x="9825304" y="5258972"/>
            <a:ext cx="3241453" cy="1190720"/>
            <a:chOff x="0" y="0"/>
            <a:chExt cx="4321937" cy="1587627"/>
          </a:xfrm>
        </p:grpSpPr>
        <p:sp>
          <p:nvSpPr>
            <p:cNvPr name="Freeform 93" id="93"/>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txBody>
            <a:bodyPr/>
            <a:p/>
          </p:txBody>
        </p:sp>
      </p:grpSp>
      <p:grpSp>
        <p:nvGrpSpPr>
          <p:cNvPr name="Group 94" id="94"/>
          <p:cNvGrpSpPr/>
          <p:nvPr/>
        </p:nvGrpSpPr>
        <p:grpSpPr>
          <a:xfrm rot="0">
            <a:off x="9825304" y="5190058"/>
            <a:ext cx="3241434" cy="1259643"/>
            <a:chOff x="0" y="0"/>
            <a:chExt cx="4321912" cy="1679524"/>
          </a:xfrm>
        </p:grpSpPr>
        <p:sp>
          <p:nvSpPr>
            <p:cNvPr name="Freeform 95" id="95"/>
            <p:cNvSpPr/>
            <p:nvPr/>
          </p:nvSpPr>
          <p:spPr>
            <a:xfrm flipH="false" flipV="false" rot="0">
              <a:off x="0" y="0"/>
              <a:ext cx="4321937" cy="1679575"/>
            </a:xfrm>
            <a:custGeom>
              <a:avLst/>
              <a:gdLst/>
              <a:ahLst/>
              <a:cxnLst/>
              <a:rect r="r" b="b" t="t" l="l"/>
              <a:pathLst>
                <a:path h="1679575" w="4321937">
                  <a:moveTo>
                    <a:pt x="0" y="0"/>
                  </a:moveTo>
                  <a:lnTo>
                    <a:pt x="4321937" y="0"/>
                  </a:lnTo>
                  <a:lnTo>
                    <a:pt x="4321937" y="1679575"/>
                  </a:lnTo>
                  <a:lnTo>
                    <a:pt x="0" y="1679575"/>
                  </a:lnTo>
                  <a:close/>
                </a:path>
              </a:pathLst>
            </a:custGeom>
            <a:blipFill>
              <a:blip r:embed="rId5">
                <a:alphaModFix amt="0"/>
              </a:blip>
              <a:stretch>
                <a:fillRect l="0" t="-105" r="0" b="-102"/>
              </a:stretch>
            </a:blipFill>
          </p:spPr>
          <p:txBody>
            <a:bodyPr/>
            <a:p/>
          </p:txBody>
        </p:sp>
      </p:grpSp>
      <p:grpSp>
        <p:nvGrpSpPr>
          <p:cNvPr name="Group 96" id="96"/>
          <p:cNvGrpSpPr/>
          <p:nvPr/>
        </p:nvGrpSpPr>
        <p:grpSpPr>
          <a:xfrm rot="0">
            <a:off x="9825304" y="5118621"/>
            <a:ext cx="3241434" cy="1331081"/>
            <a:chOff x="0" y="0"/>
            <a:chExt cx="4321912" cy="1774774"/>
          </a:xfrm>
        </p:grpSpPr>
        <p:sp>
          <p:nvSpPr>
            <p:cNvPr name="Freeform 97" id="97"/>
            <p:cNvSpPr/>
            <p:nvPr/>
          </p:nvSpPr>
          <p:spPr>
            <a:xfrm flipH="false" flipV="false" rot="0">
              <a:off x="0" y="0"/>
              <a:ext cx="4321912" cy="1774774"/>
            </a:xfrm>
            <a:custGeom>
              <a:avLst/>
              <a:gdLst/>
              <a:ahLst/>
              <a:cxnLst/>
              <a:rect r="r" b="b" t="t" l="l"/>
              <a:pathLst>
                <a:path h="1774774" w="4321912">
                  <a:moveTo>
                    <a:pt x="0" y="0"/>
                  </a:moveTo>
                  <a:lnTo>
                    <a:pt x="4321912" y="0"/>
                  </a:lnTo>
                  <a:lnTo>
                    <a:pt x="4321912" y="1774774"/>
                  </a:lnTo>
                  <a:lnTo>
                    <a:pt x="0" y="1774774"/>
                  </a:lnTo>
                  <a:close/>
                </a:path>
              </a:pathLst>
            </a:custGeom>
            <a:blipFill>
              <a:blip r:embed="rId6">
                <a:alphaModFix amt="0"/>
              </a:blip>
              <a:stretch>
                <a:fillRect l="-2687" t="0" r="-2687" b="0"/>
              </a:stretch>
            </a:blipFill>
          </p:spPr>
          <p:txBody>
            <a:bodyPr/>
            <a:p/>
          </p:txBody>
        </p:sp>
        <p:sp>
          <p:nvSpPr>
            <p:cNvPr name="TextBox 98" id="98"/>
            <p:cNvSpPr txBox="true"/>
            <p:nvPr/>
          </p:nvSpPr>
          <p:spPr>
            <a:xfrm>
              <a:off x="0" y="-95250"/>
              <a:ext cx="4321912" cy="1870024"/>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59,69%</a:t>
              </a:r>
            </a:p>
          </p:txBody>
        </p:sp>
      </p:grpSp>
      <p:sp>
        <p:nvSpPr>
          <p:cNvPr name="TextBox 99" id="99"/>
          <p:cNvSpPr txBox="true"/>
          <p:nvPr/>
        </p:nvSpPr>
        <p:spPr>
          <a:xfrm rot="0">
            <a:off x="9816484" y="6391780"/>
            <a:ext cx="3241434" cy="131755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proporsi perjalanan antarprovinsi menuju DIY, urutan ke-2 setelah DKI Jakarta</a:t>
            </a:r>
          </a:p>
        </p:txBody>
      </p:sp>
      <p:sp>
        <p:nvSpPr>
          <p:cNvPr name="Freeform 100" id="100"/>
          <p:cNvSpPr/>
          <p:nvPr/>
        </p:nvSpPr>
        <p:spPr>
          <a:xfrm flipH="false" flipV="false" rot="0">
            <a:off x="13493734" y="4826927"/>
            <a:ext cx="3842499" cy="3021844"/>
          </a:xfrm>
          <a:custGeom>
            <a:avLst/>
            <a:gdLst/>
            <a:ahLst/>
            <a:cxnLst/>
            <a:rect r="r" b="b" t="t" l="l"/>
            <a:pathLst>
              <a:path h="3021844" w="3842499">
                <a:moveTo>
                  <a:pt x="0" y="0"/>
                </a:moveTo>
                <a:lnTo>
                  <a:pt x="3842499" y="0"/>
                </a:lnTo>
                <a:lnTo>
                  <a:pt x="3842499" y="3021844"/>
                </a:lnTo>
                <a:lnTo>
                  <a:pt x="0" y="3021844"/>
                </a:lnTo>
                <a:lnTo>
                  <a:pt x="0" y="0"/>
                </a:lnTo>
                <a:close/>
              </a:path>
            </a:pathLst>
          </a:custGeom>
          <a:blipFill>
            <a:blip r:embed="rId7">
              <a:extLst>
                <a:ext uri="{96DAC541-7B7A-43D3-8B79-37D633B846F1}">
                  <asvg:svgBlip xmlns:asvg="http://schemas.microsoft.com/office/drawing/2016/SVG/main" r:embed="rId8"/>
                </a:ext>
              </a:extLst>
            </a:blip>
            <a:stretch>
              <a:fillRect l="0" t="-44" r="0" b="-44"/>
            </a:stretch>
          </a:blipFill>
        </p:spPr>
        <p:txBody>
          <a:bodyPr/>
          <a:p/>
        </p:txBody>
      </p:sp>
      <p:grpSp>
        <p:nvGrpSpPr>
          <p:cNvPr name="Group 101" id="101"/>
          <p:cNvGrpSpPr/>
          <p:nvPr/>
        </p:nvGrpSpPr>
        <p:grpSpPr>
          <a:xfrm rot="0">
            <a:off x="13800877" y="5239922"/>
            <a:ext cx="3241453" cy="1190720"/>
            <a:chOff x="0" y="0"/>
            <a:chExt cx="4321937" cy="1587627"/>
          </a:xfrm>
        </p:grpSpPr>
        <p:sp>
          <p:nvSpPr>
            <p:cNvPr name="Freeform 102" id="102"/>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txBody>
            <a:bodyPr/>
            <a:p/>
          </p:txBody>
        </p:sp>
      </p:grpSp>
      <p:grpSp>
        <p:nvGrpSpPr>
          <p:cNvPr name="Group 103" id="103"/>
          <p:cNvGrpSpPr/>
          <p:nvPr/>
        </p:nvGrpSpPr>
        <p:grpSpPr>
          <a:xfrm rot="0">
            <a:off x="13800877" y="5177904"/>
            <a:ext cx="3241434" cy="1252747"/>
            <a:chOff x="0" y="0"/>
            <a:chExt cx="4321912" cy="1670329"/>
          </a:xfrm>
        </p:grpSpPr>
        <p:sp>
          <p:nvSpPr>
            <p:cNvPr name="Freeform 104" id="104"/>
            <p:cNvSpPr/>
            <p:nvPr/>
          </p:nvSpPr>
          <p:spPr>
            <a:xfrm flipH="false" flipV="false" rot="0">
              <a:off x="0" y="0"/>
              <a:ext cx="4321937" cy="1670304"/>
            </a:xfrm>
            <a:custGeom>
              <a:avLst/>
              <a:gdLst/>
              <a:ahLst/>
              <a:cxnLst/>
              <a:rect r="r" b="b" t="t" l="l"/>
              <a:pathLst>
                <a:path h="1670304" w="4321937">
                  <a:moveTo>
                    <a:pt x="0" y="0"/>
                  </a:moveTo>
                  <a:lnTo>
                    <a:pt x="4321937" y="0"/>
                  </a:lnTo>
                  <a:lnTo>
                    <a:pt x="4321937" y="1670304"/>
                  </a:lnTo>
                  <a:lnTo>
                    <a:pt x="0" y="1670304"/>
                  </a:lnTo>
                  <a:close/>
                </a:path>
              </a:pathLst>
            </a:custGeom>
            <a:blipFill>
              <a:blip r:embed="rId5">
                <a:alphaModFix amt="0"/>
              </a:blip>
              <a:stretch>
                <a:fillRect l="0" t="-381" r="0" b="-383"/>
              </a:stretch>
            </a:blipFill>
          </p:spPr>
          <p:txBody>
            <a:bodyPr/>
            <a:p/>
          </p:txBody>
        </p:sp>
      </p:grpSp>
      <p:grpSp>
        <p:nvGrpSpPr>
          <p:cNvPr name="Group 105" id="105"/>
          <p:cNvGrpSpPr/>
          <p:nvPr/>
        </p:nvGrpSpPr>
        <p:grpSpPr>
          <a:xfrm rot="0">
            <a:off x="13800877" y="5113611"/>
            <a:ext cx="3241434" cy="1317041"/>
            <a:chOff x="0" y="0"/>
            <a:chExt cx="4321912" cy="1756054"/>
          </a:xfrm>
        </p:grpSpPr>
        <p:sp>
          <p:nvSpPr>
            <p:cNvPr name="Freeform 106" id="106"/>
            <p:cNvSpPr/>
            <p:nvPr/>
          </p:nvSpPr>
          <p:spPr>
            <a:xfrm flipH="false" flipV="false" rot="0">
              <a:off x="0" y="0"/>
              <a:ext cx="4321912" cy="1756054"/>
            </a:xfrm>
            <a:custGeom>
              <a:avLst/>
              <a:gdLst/>
              <a:ahLst/>
              <a:cxnLst/>
              <a:rect r="r" b="b" t="t" l="l"/>
              <a:pathLst>
                <a:path h="1756054" w="4321912">
                  <a:moveTo>
                    <a:pt x="0" y="0"/>
                  </a:moveTo>
                  <a:lnTo>
                    <a:pt x="4321912" y="0"/>
                  </a:lnTo>
                  <a:lnTo>
                    <a:pt x="4321912" y="1756054"/>
                  </a:lnTo>
                  <a:lnTo>
                    <a:pt x="0" y="1756054"/>
                  </a:lnTo>
                  <a:close/>
                </a:path>
              </a:pathLst>
            </a:custGeom>
            <a:blipFill>
              <a:blip r:embed="rId6">
                <a:alphaModFix amt="0"/>
              </a:blip>
              <a:stretch>
                <a:fillRect l="-2131" t="0" r="-2131" b="0"/>
              </a:stretch>
            </a:blipFill>
          </p:spPr>
          <p:txBody>
            <a:bodyPr/>
            <a:p/>
          </p:txBody>
        </p:sp>
        <p:sp>
          <p:nvSpPr>
            <p:cNvPr name="TextBox 107" id="107"/>
            <p:cNvSpPr txBox="true"/>
            <p:nvPr/>
          </p:nvSpPr>
          <p:spPr>
            <a:xfrm>
              <a:off x="0" y="-85725"/>
              <a:ext cx="4321912" cy="1841779"/>
            </a:xfrm>
            <a:prstGeom prst="rect">
              <a:avLst/>
            </a:prstGeom>
          </p:spPr>
          <p:txBody>
            <a:bodyPr anchor="ctr" rtlCol="false" tIns="0" lIns="0" bIns="0" rIns="0"/>
            <a:lstStyle/>
            <a:p>
              <a:pPr algn="l">
                <a:lnSpc>
                  <a:spcPts val="5397"/>
                </a:lnSpc>
              </a:pPr>
              <a:r>
                <a:rPr lang="en-US" sz="4499" b="true">
                  <a:solidFill>
                    <a:srgbClr val="0B5E6E"/>
                  </a:solidFill>
                  <a:latin typeface="Calibri (MS) Bold"/>
                  <a:ea typeface="Calibri (MS) Bold"/>
                  <a:cs typeface="Calibri (MS) Bold"/>
                  <a:sym typeface="Calibri (MS) Bold"/>
                </a:rPr>
                <a:t>Peringkat 1</a:t>
              </a:r>
            </a:p>
          </p:txBody>
        </p:sp>
      </p:grpSp>
      <p:sp>
        <p:nvSpPr>
          <p:cNvPr name="TextBox 108" id="108"/>
          <p:cNvSpPr txBox="true"/>
          <p:nvPr/>
        </p:nvSpPr>
        <p:spPr>
          <a:xfrm rot="0">
            <a:off x="13800877" y="6524330"/>
            <a:ext cx="3241434" cy="101436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nasional pada sub-indeks Travel and Tourism Demand Drivers (IPKN 2024)</a:t>
            </a:r>
          </a:p>
        </p:txBody>
      </p:sp>
      <p:sp>
        <p:nvSpPr>
          <p:cNvPr name="Freeform 109" id="109"/>
          <p:cNvSpPr/>
          <p:nvPr/>
        </p:nvSpPr>
        <p:spPr>
          <a:xfrm flipH="false" flipV="false" rot="0">
            <a:off x="13493734" y="1704565"/>
            <a:ext cx="3842499" cy="3021844"/>
          </a:xfrm>
          <a:custGeom>
            <a:avLst/>
            <a:gdLst/>
            <a:ahLst/>
            <a:cxnLst/>
            <a:rect r="r" b="b" t="t" l="l"/>
            <a:pathLst>
              <a:path h="3021844" w="3842499">
                <a:moveTo>
                  <a:pt x="0" y="0"/>
                </a:moveTo>
                <a:lnTo>
                  <a:pt x="3842499" y="0"/>
                </a:lnTo>
                <a:lnTo>
                  <a:pt x="3842499" y="3021845"/>
                </a:lnTo>
                <a:lnTo>
                  <a:pt x="0" y="3021845"/>
                </a:lnTo>
                <a:lnTo>
                  <a:pt x="0" y="0"/>
                </a:lnTo>
                <a:close/>
              </a:path>
            </a:pathLst>
          </a:custGeom>
          <a:blipFill>
            <a:blip r:embed="rId7">
              <a:extLst>
                <a:ext uri="{96DAC541-7B7A-43D3-8B79-37D633B846F1}">
                  <asvg:svgBlip xmlns:asvg="http://schemas.microsoft.com/office/drawing/2016/SVG/main" r:embed="rId8"/>
                </a:ext>
              </a:extLst>
            </a:blip>
            <a:stretch>
              <a:fillRect l="0" t="-44" r="0" b="-44"/>
            </a:stretch>
          </a:blipFill>
        </p:spPr>
        <p:txBody>
          <a:bodyPr/>
          <a:p/>
        </p:txBody>
      </p:sp>
      <p:grpSp>
        <p:nvGrpSpPr>
          <p:cNvPr name="Group 110" id="110"/>
          <p:cNvGrpSpPr/>
          <p:nvPr/>
        </p:nvGrpSpPr>
        <p:grpSpPr>
          <a:xfrm rot="0">
            <a:off x="13800877" y="2117550"/>
            <a:ext cx="3241453" cy="1190720"/>
            <a:chOff x="0" y="0"/>
            <a:chExt cx="4321937" cy="1587627"/>
          </a:xfrm>
        </p:grpSpPr>
        <p:sp>
          <p:nvSpPr>
            <p:cNvPr name="Freeform 111" id="111"/>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txBody>
            <a:bodyPr/>
            <a:p/>
          </p:txBody>
        </p:sp>
      </p:grpSp>
      <p:grpSp>
        <p:nvGrpSpPr>
          <p:cNvPr name="Group 112" id="112"/>
          <p:cNvGrpSpPr/>
          <p:nvPr/>
        </p:nvGrpSpPr>
        <p:grpSpPr>
          <a:xfrm rot="0">
            <a:off x="13800877" y="2048647"/>
            <a:ext cx="3241434" cy="1259643"/>
            <a:chOff x="0" y="0"/>
            <a:chExt cx="4321912" cy="1679524"/>
          </a:xfrm>
        </p:grpSpPr>
        <p:sp>
          <p:nvSpPr>
            <p:cNvPr name="Freeform 113" id="113"/>
            <p:cNvSpPr/>
            <p:nvPr/>
          </p:nvSpPr>
          <p:spPr>
            <a:xfrm flipH="false" flipV="false" rot="0">
              <a:off x="0" y="0"/>
              <a:ext cx="4321937" cy="1679575"/>
            </a:xfrm>
            <a:custGeom>
              <a:avLst/>
              <a:gdLst/>
              <a:ahLst/>
              <a:cxnLst/>
              <a:rect r="r" b="b" t="t" l="l"/>
              <a:pathLst>
                <a:path h="1679575" w="4321937">
                  <a:moveTo>
                    <a:pt x="0" y="0"/>
                  </a:moveTo>
                  <a:lnTo>
                    <a:pt x="4321937" y="0"/>
                  </a:lnTo>
                  <a:lnTo>
                    <a:pt x="4321937" y="1679575"/>
                  </a:lnTo>
                  <a:lnTo>
                    <a:pt x="0" y="1679575"/>
                  </a:lnTo>
                  <a:close/>
                </a:path>
              </a:pathLst>
            </a:custGeom>
            <a:blipFill>
              <a:blip r:embed="rId5">
                <a:alphaModFix amt="0"/>
              </a:blip>
              <a:stretch>
                <a:fillRect l="0" t="-105" r="0" b="-102"/>
              </a:stretch>
            </a:blipFill>
          </p:spPr>
          <p:txBody>
            <a:bodyPr/>
            <a:p/>
          </p:txBody>
        </p:sp>
      </p:grpSp>
      <p:grpSp>
        <p:nvGrpSpPr>
          <p:cNvPr name="Group 114" id="114"/>
          <p:cNvGrpSpPr/>
          <p:nvPr/>
        </p:nvGrpSpPr>
        <p:grpSpPr>
          <a:xfrm rot="0">
            <a:off x="13800877" y="1977209"/>
            <a:ext cx="3241434" cy="1331081"/>
            <a:chOff x="0" y="0"/>
            <a:chExt cx="4321912" cy="1774774"/>
          </a:xfrm>
        </p:grpSpPr>
        <p:sp>
          <p:nvSpPr>
            <p:cNvPr name="Freeform 115" id="115"/>
            <p:cNvSpPr/>
            <p:nvPr/>
          </p:nvSpPr>
          <p:spPr>
            <a:xfrm flipH="false" flipV="false" rot="0">
              <a:off x="0" y="0"/>
              <a:ext cx="4321912" cy="1774774"/>
            </a:xfrm>
            <a:custGeom>
              <a:avLst/>
              <a:gdLst/>
              <a:ahLst/>
              <a:cxnLst/>
              <a:rect r="r" b="b" t="t" l="l"/>
              <a:pathLst>
                <a:path h="1774774" w="4321912">
                  <a:moveTo>
                    <a:pt x="0" y="0"/>
                  </a:moveTo>
                  <a:lnTo>
                    <a:pt x="4321912" y="0"/>
                  </a:lnTo>
                  <a:lnTo>
                    <a:pt x="4321912" y="1774774"/>
                  </a:lnTo>
                  <a:lnTo>
                    <a:pt x="0" y="1774774"/>
                  </a:lnTo>
                  <a:close/>
                </a:path>
              </a:pathLst>
            </a:custGeom>
            <a:blipFill>
              <a:blip r:embed="rId6">
                <a:alphaModFix amt="0"/>
              </a:blip>
              <a:stretch>
                <a:fillRect l="-2687" t="0" r="-2687" b="0"/>
              </a:stretch>
            </a:blipFill>
          </p:spPr>
          <p:txBody>
            <a:bodyPr/>
            <a:p/>
          </p:txBody>
        </p:sp>
        <p:sp>
          <p:nvSpPr>
            <p:cNvPr name="TextBox 116" id="116"/>
            <p:cNvSpPr txBox="true"/>
            <p:nvPr/>
          </p:nvSpPr>
          <p:spPr>
            <a:xfrm>
              <a:off x="0" y="-95250"/>
              <a:ext cx="4321912" cy="1870024"/>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Prioritas #2</a:t>
              </a:r>
            </a:p>
          </p:txBody>
        </p:sp>
      </p:grpSp>
      <p:sp>
        <p:nvSpPr>
          <p:cNvPr name="TextBox 117" id="117"/>
          <p:cNvSpPr txBox="true"/>
          <p:nvPr/>
        </p:nvSpPr>
        <p:spPr>
          <a:xfrm rot="0">
            <a:off x="13800877" y="3401959"/>
            <a:ext cx="3241434" cy="101436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sektor prioritas Pemda DIY setelah pendidikan (RPJMD 2012–2025)</a:t>
            </a:r>
          </a:p>
        </p:txBody>
      </p:sp>
      <p:sp>
        <p:nvSpPr>
          <p:cNvPr name="TextBox 118" id="118"/>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a:t>
            </a:r>
          </a:p>
        </p:txBody>
      </p:sp>
      <p:grpSp>
        <p:nvGrpSpPr>
          <p:cNvPr name="Group 119" id="119"/>
          <p:cNvGrpSpPr/>
          <p:nvPr/>
        </p:nvGrpSpPr>
        <p:grpSpPr>
          <a:xfrm rot="0">
            <a:off x="822960" y="1711452"/>
            <a:ext cx="7584948" cy="6169628"/>
            <a:chOff x="0" y="0"/>
            <a:chExt cx="10113264" cy="8226171"/>
          </a:xfrm>
        </p:grpSpPr>
        <p:sp>
          <p:nvSpPr>
            <p:cNvPr name="Freeform 120" id="120"/>
            <p:cNvSpPr/>
            <p:nvPr/>
          </p:nvSpPr>
          <p:spPr>
            <a:xfrm flipH="false" flipV="false" rot="0">
              <a:off x="0" y="0"/>
              <a:ext cx="10113264" cy="8226171"/>
            </a:xfrm>
            <a:custGeom>
              <a:avLst/>
              <a:gdLst/>
              <a:ahLst/>
              <a:cxnLst/>
              <a:rect r="r" b="b" t="t" l="l"/>
              <a:pathLst>
                <a:path h="8226171" w="10113264">
                  <a:moveTo>
                    <a:pt x="0" y="0"/>
                  </a:moveTo>
                  <a:lnTo>
                    <a:pt x="10113264" y="0"/>
                  </a:lnTo>
                  <a:lnTo>
                    <a:pt x="10113264" y="8226171"/>
                  </a:lnTo>
                  <a:lnTo>
                    <a:pt x="0" y="8226171"/>
                  </a:lnTo>
                  <a:lnTo>
                    <a:pt x="0" y="0"/>
                  </a:lnTo>
                  <a:close/>
                </a:path>
              </a:pathLst>
            </a:custGeom>
            <a:blipFill>
              <a:blip r:embed="rId9"/>
              <a:stretch>
                <a:fillRect l="-4358" t="0" r="-4358" b="0"/>
              </a:stretch>
            </a:blipFill>
          </p:spPr>
          <p:txBody>
            <a:bodyPr/>
            <a:p/>
          </p:txBody>
        </p:sp>
      </p:grpSp>
      <p:grpSp>
        <p:nvGrpSpPr>
          <p:cNvPr name="Group 121" id="121"/>
          <p:cNvGrpSpPr/>
          <p:nvPr/>
        </p:nvGrpSpPr>
        <p:grpSpPr>
          <a:xfrm rot="0">
            <a:off x="16047720" y="9646920"/>
            <a:ext cx="420624" cy="420624"/>
            <a:chOff x="0" y="0"/>
            <a:chExt cx="560832" cy="560832"/>
          </a:xfrm>
        </p:grpSpPr>
        <p:sp>
          <p:nvSpPr>
            <p:cNvPr name="Freeform 122" id="122"/>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23" id="123"/>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txBody>
            <a:bodyPr/>
            <a:p/>
          </p:txBody>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grpSp>
        <p:nvGrpSpPr>
          <p:cNvPr name="Group 7" id="7"/>
          <p:cNvGrpSpPr/>
          <p:nvPr/>
        </p:nvGrpSpPr>
        <p:grpSpPr>
          <a:xfrm rot="0">
            <a:off x="822960" y="2743200"/>
            <a:ext cx="2125980" cy="1645920"/>
            <a:chOff x="0" y="0"/>
            <a:chExt cx="2834640" cy="2194560"/>
          </a:xfrm>
        </p:grpSpPr>
        <p:sp>
          <p:nvSpPr>
            <p:cNvPr name="Freeform 8" id="8"/>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EAF8FA"/>
            </a:solidFill>
          </p:spPr>
          <p:txBody>
            <a:bodyPr/>
            <a:p/>
          </p:txBody>
        </p:sp>
      </p:grpSp>
      <p:grpSp>
        <p:nvGrpSpPr>
          <p:cNvPr name="Group 9" id="9"/>
          <p:cNvGrpSpPr/>
          <p:nvPr/>
        </p:nvGrpSpPr>
        <p:grpSpPr>
          <a:xfrm rot="0">
            <a:off x="960120" y="2743200"/>
            <a:ext cx="1851660" cy="1645920"/>
            <a:chOff x="0" y="0"/>
            <a:chExt cx="2468880" cy="2194560"/>
          </a:xfrm>
        </p:grpSpPr>
        <p:sp>
          <p:nvSpPr>
            <p:cNvPr name="Freeform 10" id="10"/>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txBody>
            <a:bodyPr/>
            <a:p/>
          </p:txBody>
        </p:sp>
        <p:sp>
          <p:nvSpPr>
            <p:cNvPr name="TextBox 11" id="11"/>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Permintaan wisatawan</a:t>
              </a:r>
            </a:p>
          </p:txBody>
        </p:sp>
      </p:grpSp>
      <p:grpSp>
        <p:nvGrpSpPr>
          <p:cNvPr name="Group 12" id="12"/>
          <p:cNvGrpSpPr/>
          <p:nvPr/>
        </p:nvGrpSpPr>
        <p:grpSpPr>
          <a:xfrm rot="0">
            <a:off x="3429000" y="2743200"/>
            <a:ext cx="2125980" cy="1645920"/>
            <a:chOff x="0" y="0"/>
            <a:chExt cx="2834640" cy="2194560"/>
          </a:xfrm>
        </p:grpSpPr>
        <p:sp>
          <p:nvSpPr>
            <p:cNvPr name="Freeform 13" id="13"/>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EAF8FA"/>
            </a:solidFill>
          </p:spPr>
          <p:txBody>
            <a:bodyPr/>
            <a:p/>
          </p:txBody>
        </p:sp>
      </p:grpSp>
      <p:grpSp>
        <p:nvGrpSpPr>
          <p:cNvPr name="Group 14" id="14"/>
          <p:cNvGrpSpPr/>
          <p:nvPr/>
        </p:nvGrpSpPr>
        <p:grpSpPr>
          <a:xfrm rot="0">
            <a:off x="3566160" y="2743200"/>
            <a:ext cx="1851660" cy="1645920"/>
            <a:chOff x="0" y="0"/>
            <a:chExt cx="2468880" cy="2194560"/>
          </a:xfrm>
        </p:grpSpPr>
        <p:sp>
          <p:nvSpPr>
            <p:cNvPr name="Freeform 15" id="15"/>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txBody>
            <a:bodyPr/>
            <a:p/>
          </p:txBody>
        </p:sp>
        <p:sp>
          <p:nvSpPr>
            <p:cNvPr name="TextBox 16" id="16"/>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Akomodasi &amp; objek daya tarik</a:t>
              </a:r>
            </a:p>
          </p:txBody>
        </p:sp>
      </p:grpSp>
      <p:grpSp>
        <p:nvGrpSpPr>
          <p:cNvPr name="Group 17" id="17"/>
          <p:cNvGrpSpPr/>
          <p:nvPr/>
        </p:nvGrpSpPr>
        <p:grpSpPr>
          <a:xfrm rot="0">
            <a:off x="6035040" y="2743200"/>
            <a:ext cx="2125980" cy="1645920"/>
            <a:chOff x="0" y="0"/>
            <a:chExt cx="2834640" cy="2194560"/>
          </a:xfrm>
        </p:grpSpPr>
        <p:sp>
          <p:nvSpPr>
            <p:cNvPr name="Freeform 18" id="18"/>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EAF8FA"/>
            </a:solidFill>
          </p:spPr>
          <p:txBody>
            <a:bodyPr/>
            <a:p/>
          </p:txBody>
        </p:sp>
      </p:grpSp>
      <p:grpSp>
        <p:nvGrpSpPr>
          <p:cNvPr name="Group 19" id="19"/>
          <p:cNvGrpSpPr/>
          <p:nvPr/>
        </p:nvGrpSpPr>
        <p:grpSpPr>
          <a:xfrm rot="0">
            <a:off x="6172200" y="2743200"/>
            <a:ext cx="1851660" cy="1645920"/>
            <a:chOff x="0" y="0"/>
            <a:chExt cx="2468880" cy="2194560"/>
          </a:xfrm>
        </p:grpSpPr>
        <p:sp>
          <p:nvSpPr>
            <p:cNvPr name="Freeform 20" id="20"/>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txBody>
            <a:bodyPr/>
            <a:p/>
          </p:txBody>
        </p:sp>
        <p:sp>
          <p:nvSpPr>
            <p:cNvPr name="TextBox 21" id="21"/>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Nilai tambah &amp; tenaga kerja</a:t>
              </a:r>
            </a:p>
          </p:txBody>
        </p:sp>
      </p:grpSp>
      <p:grpSp>
        <p:nvGrpSpPr>
          <p:cNvPr name="Group 22" id="22"/>
          <p:cNvGrpSpPr/>
          <p:nvPr/>
        </p:nvGrpSpPr>
        <p:grpSpPr>
          <a:xfrm rot="0">
            <a:off x="8641080" y="2743200"/>
            <a:ext cx="2125980" cy="1645920"/>
            <a:chOff x="0" y="0"/>
            <a:chExt cx="2834640" cy="2194560"/>
          </a:xfrm>
        </p:grpSpPr>
        <p:sp>
          <p:nvSpPr>
            <p:cNvPr name="Freeform 23" id="23"/>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FFF1BF"/>
            </a:solidFill>
          </p:spPr>
          <p:txBody>
            <a:bodyPr/>
            <a:p/>
          </p:txBody>
        </p:sp>
      </p:grpSp>
      <p:grpSp>
        <p:nvGrpSpPr>
          <p:cNvPr name="Group 24" id="24"/>
          <p:cNvGrpSpPr/>
          <p:nvPr/>
        </p:nvGrpSpPr>
        <p:grpSpPr>
          <a:xfrm rot="0">
            <a:off x="8778240" y="2743200"/>
            <a:ext cx="1851660" cy="1645920"/>
            <a:chOff x="0" y="0"/>
            <a:chExt cx="2468880" cy="2194560"/>
          </a:xfrm>
        </p:grpSpPr>
        <p:sp>
          <p:nvSpPr>
            <p:cNvPr name="Freeform 25" id="25"/>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txBody>
            <a:bodyPr/>
            <a:p/>
          </p:txBody>
        </p:sp>
        <p:sp>
          <p:nvSpPr>
            <p:cNvPr name="TextBox 26" id="26"/>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Tekanan tata ruang dan lahan</a:t>
              </a:r>
            </a:p>
          </p:txBody>
        </p:sp>
      </p:grpSp>
      <p:grpSp>
        <p:nvGrpSpPr>
          <p:cNvPr name="Group 27" id="27"/>
          <p:cNvGrpSpPr/>
          <p:nvPr/>
        </p:nvGrpSpPr>
        <p:grpSpPr>
          <a:xfrm rot="0">
            <a:off x="2331720" y="5650992"/>
            <a:ext cx="6583680" cy="1042416"/>
            <a:chOff x="0" y="0"/>
            <a:chExt cx="8778240" cy="1389888"/>
          </a:xfrm>
        </p:grpSpPr>
        <p:sp>
          <p:nvSpPr>
            <p:cNvPr name="Freeform 28" id="28"/>
            <p:cNvSpPr/>
            <p:nvPr/>
          </p:nvSpPr>
          <p:spPr>
            <a:xfrm flipH="false" flipV="false" rot="0">
              <a:off x="0" y="0"/>
              <a:ext cx="8778240" cy="1389888"/>
            </a:xfrm>
            <a:custGeom>
              <a:avLst/>
              <a:gdLst/>
              <a:ahLst/>
              <a:cxnLst/>
              <a:rect r="r" b="b" t="t" l="l"/>
              <a:pathLst>
                <a:path h="1389888" w="8778240">
                  <a:moveTo>
                    <a:pt x="0" y="182880"/>
                  </a:moveTo>
                  <a:cubicBezTo>
                    <a:pt x="0" y="81915"/>
                    <a:pt x="81915" y="0"/>
                    <a:pt x="182880" y="0"/>
                  </a:cubicBezTo>
                  <a:lnTo>
                    <a:pt x="8595360" y="0"/>
                  </a:lnTo>
                  <a:cubicBezTo>
                    <a:pt x="8696325" y="0"/>
                    <a:pt x="8778240" y="81915"/>
                    <a:pt x="8778240" y="182880"/>
                  </a:cubicBezTo>
                  <a:lnTo>
                    <a:pt x="8778240" y="1207008"/>
                  </a:lnTo>
                  <a:cubicBezTo>
                    <a:pt x="8778240" y="1307973"/>
                    <a:pt x="8696325" y="1389888"/>
                    <a:pt x="8595360" y="1389888"/>
                  </a:cubicBezTo>
                  <a:lnTo>
                    <a:pt x="182880" y="1389888"/>
                  </a:lnTo>
                  <a:cubicBezTo>
                    <a:pt x="81915" y="1389888"/>
                    <a:pt x="0" y="1307973"/>
                    <a:pt x="0" y="1207008"/>
                  </a:cubicBezTo>
                  <a:close/>
                </a:path>
              </a:pathLst>
            </a:custGeom>
            <a:solidFill>
              <a:srgbClr val="FFFFFF"/>
            </a:solidFill>
          </p:spPr>
          <p:txBody>
            <a:bodyPr/>
            <a:p/>
          </p:txBody>
        </p:sp>
      </p:grpSp>
      <p:grpSp>
        <p:nvGrpSpPr>
          <p:cNvPr name="Group 29" id="29"/>
          <p:cNvGrpSpPr/>
          <p:nvPr/>
        </p:nvGrpSpPr>
        <p:grpSpPr>
          <a:xfrm rot="0">
            <a:off x="2468880" y="5650992"/>
            <a:ext cx="6309360" cy="1042416"/>
            <a:chOff x="0" y="0"/>
            <a:chExt cx="8412480" cy="1389888"/>
          </a:xfrm>
        </p:grpSpPr>
        <p:sp>
          <p:nvSpPr>
            <p:cNvPr name="Freeform 30" id="30"/>
            <p:cNvSpPr/>
            <p:nvPr/>
          </p:nvSpPr>
          <p:spPr>
            <a:xfrm flipH="false" flipV="false" rot="0">
              <a:off x="0" y="0"/>
              <a:ext cx="8412480" cy="1389888"/>
            </a:xfrm>
            <a:custGeom>
              <a:avLst/>
              <a:gdLst/>
              <a:ahLst/>
              <a:cxnLst/>
              <a:rect r="r" b="b" t="t" l="l"/>
              <a:pathLst>
                <a:path h="1389888" w="8412480">
                  <a:moveTo>
                    <a:pt x="0" y="0"/>
                  </a:moveTo>
                  <a:lnTo>
                    <a:pt x="8412480" y="0"/>
                  </a:lnTo>
                  <a:lnTo>
                    <a:pt x="8412480" y="1389888"/>
                  </a:lnTo>
                  <a:lnTo>
                    <a:pt x="0" y="1389888"/>
                  </a:lnTo>
                  <a:close/>
                </a:path>
              </a:pathLst>
            </a:custGeom>
            <a:blipFill>
              <a:blip r:embed="rId4">
                <a:alphaModFix amt="0"/>
              </a:blip>
              <a:stretch>
                <a:fillRect l="0" t="-67935" r="0" b="-67935"/>
              </a:stretch>
            </a:blipFill>
          </p:spPr>
          <p:txBody>
            <a:bodyPr/>
            <a:p/>
          </p:txBody>
        </p:sp>
        <p:sp>
          <p:nvSpPr>
            <p:cNvPr name="TextBox 31" id="31"/>
            <p:cNvSpPr txBox="true"/>
            <p:nvPr/>
          </p:nvSpPr>
          <p:spPr>
            <a:xfrm>
              <a:off x="0" y="-47625"/>
              <a:ext cx="8412480" cy="1437513"/>
            </a:xfrm>
            <a:prstGeom prst="rect">
              <a:avLst/>
            </a:prstGeom>
          </p:spPr>
          <p:txBody>
            <a:bodyPr anchor="ctr" rtlCol="false" tIns="0" lIns="0" bIns="0" rIns="0"/>
            <a:lstStyle/>
            <a:p>
              <a:pPr algn="ctr">
                <a:lnSpc>
                  <a:spcPts val="2340"/>
                </a:lnSpc>
              </a:pPr>
              <a:r>
                <a:rPr lang="en-US" sz="1950" b="true">
                  <a:solidFill>
                    <a:srgbClr val="E4604F"/>
                  </a:solidFill>
                  <a:latin typeface="Calibri (MS) Bold"/>
                  <a:ea typeface="Calibri (MS) Bold"/>
                  <a:cs typeface="Calibri (MS) Bold"/>
                  <a:sym typeface="Calibri (MS) Bold"/>
                </a:rPr>
                <a:t>Kepadatan dan hilangnya daya dukung melemahkan daya tarik → menahan kunjungan</a:t>
              </a:r>
            </a:p>
          </p:txBody>
        </p:sp>
      </p:grpSp>
      <p:sp>
        <p:nvSpPr>
          <p:cNvPr name="TextBox 32" id="32"/>
          <p:cNvSpPr txBox="true"/>
          <p:nvPr/>
        </p:nvSpPr>
        <p:spPr>
          <a:xfrm rot="0">
            <a:off x="822960" y="7368540"/>
            <a:ext cx="9875520" cy="304800"/>
          </a:xfrm>
          <a:prstGeom prst="rect">
            <a:avLst/>
          </a:prstGeom>
        </p:spPr>
        <p:txBody>
          <a:bodyPr anchor="t" rtlCol="false" tIns="0" lIns="0" bIns="0" rIns="0">
            <a:spAutoFit/>
          </a:bodyPr>
          <a:lstStyle/>
          <a:p>
            <a:pPr algn="l">
              <a:lnSpc>
                <a:spcPts val="2160"/>
              </a:lnSpc>
            </a:pPr>
            <a:r>
              <a:rPr lang="en-US" sz="1800" i="true">
                <a:solidFill>
                  <a:srgbClr val="5E6E78"/>
                </a:solidFill>
                <a:latin typeface="Calibri (MS) Italics"/>
                <a:ea typeface="Calibri (MS) Italics"/>
                <a:cs typeface="Calibri (MS) Italics"/>
                <a:sym typeface="Calibri (MS) Italics"/>
              </a:rPr>
              <a:t>Hubungannya tidak linear dan dampaknya muncul dengan jeda waktu (Mai &amp; Smith, 2018)</a:t>
            </a:r>
          </a:p>
        </p:txBody>
      </p:sp>
      <p:sp>
        <p:nvSpPr>
          <p:cNvPr name="TextBox 33" id="33"/>
          <p:cNvSpPr txBox="true"/>
          <p:nvPr/>
        </p:nvSpPr>
        <p:spPr>
          <a:xfrm rot="0">
            <a:off x="11590020" y="2499360"/>
            <a:ext cx="5870448" cy="518160"/>
          </a:xfrm>
          <a:prstGeom prst="rect">
            <a:avLst/>
          </a:prstGeom>
        </p:spPr>
        <p:txBody>
          <a:bodyPr anchor="t" rtlCol="false" tIns="0" lIns="0" bIns="0" rIns="0">
            <a:spAutoFit/>
          </a:bodyPr>
          <a:lstStyle/>
          <a:p>
            <a:pPr algn="l">
              <a:lnSpc>
                <a:spcPts val="2879"/>
              </a:lnSpc>
            </a:pPr>
            <a:r>
              <a:rPr lang="en-US" sz="2400" b="true">
                <a:solidFill>
                  <a:srgbClr val="0B5E6E"/>
                </a:solidFill>
                <a:latin typeface="Calibri (MS) Bold"/>
                <a:ea typeface="Calibri (MS) Bold"/>
                <a:cs typeface="Calibri (MS) Bold"/>
                <a:sym typeface="Calibri (MS) Bold"/>
              </a:rPr>
              <a:t>Sistem kompleks</a:t>
            </a:r>
          </a:p>
        </p:txBody>
      </p:sp>
      <p:sp>
        <p:nvSpPr>
          <p:cNvPr name="TextBox 34" id="34"/>
          <p:cNvSpPr txBox="true"/>
          <p:nvPr/>
        </p:nvSpPr>
        <p:spPr>
          <a:xfrm rot="0">
            <a:off x="11590020" y="3038475"/>
            <a:ext cx="5870448" cy="676275"/>
          </a:xfrm>
          <a:prstGeom prst="rect">
            <a:avLst/>
          </a:prstGeom>
        </p:spPr>
        <p:txBody>
          <a:bodyPr anchor="t" rtlCol="false" tIns="0" lIns="0" bIns="0" rIns="0">
            <a:spAutoFit/>
          </a:bodyPr>
          <a:lstStyle/>
          <a:p>
            <a:pPr algn="l">
              <a:lnSpc>
                <a:spcPts val="2520"/>
              </a:lnSpc>
            </a:pPr>
            <a:r>
              <a:rPr lang="en-US" sz="2100">
                <a:solidFill>
                  <a:srgbClr val="14313B"/>
                </a:solidFill>
                <a:latin typeface="Calibri (MS)"/>
                <a:ea typeface="Calibri (MS)"/>
                <a:cs typeface="Calibri (MS)"/>
                <a:sym typeface="Calibri (MS)"/>
              </a:rPr>
              <a:t>Permintaan, akomodasi, ODTW, tenaga kerja, nilai tambah, dan lahan saling terkait.</a:t>
            </a:r>
          </a:p>
        </p:txBody>
      </p:sp>
      <p:sp>
        <p:nvSpPr>
          <p:cNvPr name="TextBox 35" id="35"/>
          <p:cNvSpPr txBox="true"/>
          <p:nvPr/>
        </p:nvSpPr>
        <p:spPr>
          <a:xfrm rot="0">
            <a:off x="11590020" y="4721352"/>
            <a:ext cx="5870448" cy="518160"/>
          </a:xfrm>
          <a:prstGeom prst="rect">
            <a:avLst/>
          </a:prstGeom>
        </p:spPr>
        <p:txBody>
          <a:bodyPr anchor="t" rtlCol="false" tIns="0" lIns="0" bIns="0" rIns="0">
            <a:spAutoFit/>
          </a:bodyPr>
          <a:lstStyle/>
          <a:p>
            <a:pPr algn="l">
              <a:lnSpc>
                <a:spcPts val="2879"/>
              </a:lnSpc>
            </a:pPr>
            <a:r>
              <a:rPr lang="en-US" sz="2400" b="true">
                <a:solidFill>
                  <a:srgbClr val="0B5E6E"/>
                </a:solidFill>
                <a:latin typeface="Calibri (MS) Bold"/>
                <a:ea typeface="Calibri (MS) Bold"/>
                <a:cs typeface="Calibri (MS) Bold"/>
                <a:sym typeface="Calibri (MS) Bold"/>
              </a:rPr>
              <a:t>Tekanan nyata</a:t>
            </a:r>
          </a:p>
        </p:txBody>
      </p:sp>
      <p:sp>
        <p:nvSpPr>
          <p:cNvPr name="TextBox 36" id="36"/>
          <p:cNvSpPr txBox="true"/>
          <p:nvPr/>
        </p:nvSpPr>
        <p:spPr>
          <a:xfrm rot="0">
            <a:off x="11590020" y="5260467"/>
            <a:ext cx="5870448" cy="676275"/>
          </a:xfrm>
          <a:prstGeom prst="rect">
            <a:avLst/>
          </a:prstGeom>
        </p:spPr>
        <p:txBody>
          <a:bodyPr anchor="t" rtlCol="false" tIns="0" lIns="0" bIns="0" rIns="0">
            <a:spAutoFit/>
          </a:bodyPr>
          <a:lstStyle/>
          <a:p>
            <a:pPr algn="l">
              <a:lnSpc>
                <a:spcPts val="2520"/>
              </a:lnSpc>
            </a:pPr>
            <a:r>
              <a:rPr lang="en-US" sz="2100">
                <a:solidFill>
                  <a:srgbClr val="14313B"/>
                </a:solidFill>
                <a:latin typeface="Calibri (MS)"/>
                <a:ea typeface="Calibri (MS)"/>
                <a:cs typeface="Calibri (MS)"/>
                <a:sym typeface="Calibri (MS)"/>
              </a:rPr>
              <a:t>Kepadatan kunjungan di koridor Malioboro dan konversi lahan terbangun di DIY.</a:t>
            </a:r>
          </a:p>
        </p:txBody>
      </p:sp>
      <p:sp>
        <p:nvSpPr>
          <p:cNvPr name="TextBox 37" id="37"/>
          <p:cNvSpPr txBox="true"/>
          <p:nvPr/>
        </p:nvSpPr>
        <p:spPr>
          <a:xfrm rot="0">
            <a:off x="11590020" y="6943344"/>
            <a:ext cx="5870448" cy="518160"/>
          </a:xfrm>
          <a:prstGeom prst="rect">
            <a:avLst/>
          </a:prstGeom>
        </p:spPr>
        <p:txBody>
          <a:bodyPr anchor="t" rtlCol="false" tIns="0" lIns="0" bIns="0" rIns="0">
            <a:spAutoFit/>
          </a:bodyPr>
          <a:lstStyle/>
          <a:p>
            <a:pPr algn="l">
              <a:lnSpc>
                <a:spcPts val="2879"/>
              </a:lnSpc>
            </a:pPr>
            <a:r>
              <a:rPr lang="en-US" sz="2400" b="true">
                <a:solidFill>
                  <a:srgbClr val="0B5E6E"/>
                </a:solidFill>
                <a:latin typeface="Calibri (MS) Bold"/>
                <a:ea typeface="Calibri (MS) Bold"/>
                <a:cs typeface="Calibri (MS) Bold"/>
                <a:sym typeface="Calibri (MS) Bold"/>
              </a:rPr>
              <a:t>Konsekuensi</a:t>
            </a:r>
          </a:p>
        </p:txBody>
      </p:sp>
      <p:sp>
        <p:nvSpPr>
          <p:cNvPr name="TextBox 38" id="38"/>
          <p:cNvSpPr txBox="true"/>
          <p:nvPr/>
        </p:nvSpPr>
        <p:spPr>
          <a:xfrm rot="0">
            <a:off x="11590020" y="7482459"/>
            <a:ext cx="5870448" cy="990600"/>
          </a:xfrm>
          <a:prstGeom prst="rect">
            <a:avLst/>
          </a:prstGeom>
        </p:spPr>
        <p:txBody>
          <a:bodyPr anchor="t" rtlCol="false" tIns="0" lIns="0" bIns="0" rIns="0">
            <a:spAutoFit/>
          </a:bodyPr>
          <a:lstStyle/>
          <a:p>
            <a:pPr algn="l">
              <a:lnSpc>
                <a:spcPts val="2520"/>
              </a:lnSpc>
            </a:pPr>
            <a:r>
              <a:rPr lang="en-US" sz="2100">
                <a:solidFill>
                  <a:srgbClr val="14313B"/>
                </a:solidFill>
                <a:latin typeface="Calibri (MS)"/>
                <a:ea typeface="Calibri (MS)"/>
                <a:cs typeface="Calibri (MS)"/>
                <a:sym typeface="Calibri (MS)"/>
              </a:rPr>
              <a:t>Analisis komponen terpisah tidak cukup: keterkaitanlah yang menentukan pertumbuhan berlanjut atau berbalik menekan destinasi.</a:t>
            </a:r>
          </a:p>
        </p:txBody>
      </p:sp>
      <p:sp>
        <p:nvSpPr>
          <p:cNvPr name="Freeform 39" id="39"/>
          <p:cNvSpPr/>
          <p:nvPr/>
        </p:nvSpPr>
        <p:spPr>
          <a:xfrm>
            <a:off x="1885950" y="4389120"/>
            <a:ext cx="582930" cy="1783080"/>
          </a:xfrm>
          <a:custGeom>
            <a:avLst/>
            <a:gdLst/>
            <a:ahLst/>
            <a:cxnLst/>
            <a:rect r="r" b="b" t="t" l="l"/>
            <a:pathLst>
              <a:path h="1783080" w="582930">
                <a:moveTo>
                  <a:pt x="582930" y="1783080"/>
                </a:moveTo>
                <a:lnTo>
                  <a:pt x="228600" y="1783080"/>
                </a:lnTo>
                <a:cubicBezTo>
                  <a:pt x="102348" y="1783080"/>
                  <a:pt x="0" y="1680732"/>
                  <a:pt x="0" y="1554480"/>
                </a:cubicBezTo>
                <a:lnTo>
                  <a:pt x="0" y="0"/>
                </a:lnTo>
              </a:path>
            </a:pathLst>
          </a:custGeom>
          <a:ln cap="flat" w="38100">
            <a:solidFill>
              <a:srgbClr val="E4604F"/>
            </a:solidFill>
            <a:prstDash val="solid"/>
            <a:headEnd type="none" len="sm" w="sm"/>
            <a:tailEnd type="triangle" len="med" w="lg"/>
          </a:ln>
        </p:spPr>
        <p:txBody>
          <a:bodyPr/>
          <a:p/>
        </p:txBody>
      </p:sp>
      <p:sp>
        <p:nvSpPr>
          <p:cNvPr name="Freeform 40" id="40"/>
          <p:cNvSpPr/>
          <p:nvPr/>
        </p:nvSpPr>
        <p:spPr>
          <a:xfrm>
            <a:off x="8860150" y="4454001"/>
            <a:ext cx="992416" cy="1708064"/>
          </a:xfrm>
          <a:custGeom>
            <a:avLst/>
            <a:gdLst/>
            <a:ahLst/>
            <a:cxnLst/>
            <a:rect r="r" b="b" t="t" l="l"/>
            <a:pathLst>
              <a:path h="1708064" w="992416">
                <a:moveTo>
                  <a:pt x="0" y="1708063"/>
                </a:moveTo>
                <a:lnTo>
                  <a:pt x="763816" y="1708063"/>
                </a:lnTo>
                <a:cubicBezTo>
                  <a:pt x="890068" y="1708063"/>
                  <a:pt x="992416" y="1605716"/>
                  <a:pt x="992416" y="1479463"/>
                </a:cubicBezTo>
                <a:lnTo>
                  <a:pt x="992416" y="0"/>
                </a:lnTo>
              </a:path>
            </a:pathLst>
          </a:custGeom>
          <a:ln cap="flat" w="38100">
            <a:solidFill>
              <a:srgbClr val="E4604F"/>
            </a:solidFill>
            <a:prstDash val="solid"/>
            <a:headEnd type="none" len="sm" w="sm"/>
            <a:tailEnd type="triangle" len="med" w="lg"/>
          </a:ln>
        </p:spPr>
        <p:txBody>
          <a:bodyPr/>
          <a:p/>
        </p:txBody>
      </p:sp>
      <p:sp>
        <p:nvSpPr>
          <p:cNvPr name="Freeform 41" id="41"/>
          <p:cNvSpPr/>
          <p:nvPr/>
        </p:nvSpPr>
        <p:spPr>
          <a:xfrm>
            <a:off x="2973629" y="3622755"/>
            <a:ext cx="455371" cy="19794"/>
          </a:xfrm>
          <a:custGeom>
            <a:avLst/>
            <a:gdLst/>
            <a:ahLst/>
            <a:cxnLst/>
            <a:rect r="r" b="b" t="t" l="l"/>
            <a:pathLst>
              <a:path h="19794" w="455371">
                <a:moveTo>
                  <a:pt x="0" y="19794"/>
                </a:moveTo>
                <a:lnTo>
                  <a:pt x="217788" y="19794"/>
                </a:lnTo>
                <a:cubicBezTo>
                  <a:pt x="220413" y="19794"/>
                  <a:pt x="222931" y="18752"/>
                  <a:pt x="224787" y="16896"/>
                </a:cubicBezTo>
                <a:cubicBezTo>
                  <a:pt x="226643" y="15040"/>
                  <a:pt x="227685" y="12522"/>
                  <a:pt x="227685" y="9897"/>
                </a:cubicBezTo>
                <a:lnTo>
                  <a:pt x="227685" y="9897"/>
                </a:lnTo>
                <a:cubicBezTo>
                  <a:pt x="227685" y="7272"/>
                  <a:pt x="228728" y="4755"/>
                  <a:pt x="230584" y="2899"/>
                </a:cubicBezTo>
                <a:cubicBezTo>
                  <a:pt x="232440" y="1043"/>
                  <a:pt x="234958" y="0"/>
                  <a:pt x="237583" y="0"/>
                </a:cubicBezTo>
                <a:lnTo>
                  <a:pt x="455371" y="0"/>
                </a:lnTo>
              </a:path>
            </a:pathLst>
          </a:custGeom>
          <a:ln cap="flat" w="38100">
            <a:solidFill>
              <a:srgbClr val="39C0D3"/>
            </a:solidFill>
            <a:prstDash val="solid"/>
            <a:headEnd type="none" len="sm" w="sm"/>
            <a:tailEnd type="triangle" len="med" w="lg"/>
          </a:ln>
        </p:spPr>
        <p:txBody>
          <a:bodyPr/>
          <a:p/>
        </p:txBody>
      </p:sp>
      <p:sp>
        <p:nvSpPr>
          <p:cNvPr name="Freeform 42" id="42"/>
          <p:cNvSpPr/>
          <p:nvPr/>
        </p:nvSpPr>
        <p:spPr>
          <a:xfrm>
            <a:off x="5554980" y="3530119"/>
            <a:ext cx="480060" cy="103152"/>
          </a:xfrm>
          <a:custGeom>
            <a:avLst/>
            <a:gdLst/>
            <a:ahLst/>
            <a:cxnLst/>
            <a:rect r="r" b="b" t="t" l="l"/>
            <a:pathLst>
              <a:path h="103152" w="480060">
                <a:moveTo>
                  <a:pt x="0" y="0"/>
                </a:moveTo>
                <a:lnTo>
                  <a:pt x="188454" y="0"/>
                </a:lnTo>
                <a:cubicBezTo>
                  <a:pt x="202133" y="0"/>
                  <a:pt x="215251" y="5433"/>
                  <a:pt x="224924" y="15106"/>
                </a:cubicBezTo>
                <a:cubicBezTo>
                  <a:pt x="234596" y="24778"/>
                  <a:pt x="240030" y="37897"/>
                  <a:pt x="240030" y="51576"/>
                </a:cubicBezTo>
                <a:lnTo>
                  <a:pt x="240030" y="51576"/>
                </a:lnTo>
                <a:cubicBezTo>
                  <a:pt x="240030" y="80060"/>
                  <a:pt x="263121" y="103151"/>
                  <a:pt x="291606" y="103151"/>
                </a:cubicBezTo>
                <a:lnTo>
                  <a:pt x="480060" y="103151"/>
                </a:lnTo>
              </a:path>
            </a:pathLst>
          </a:custGeom>
          <a:ln cap="flat" w="38100">
            <a:solidFill>
              <a:srgbClr val="39C0D3"/>
            </a:solidFill>
            <a:prstDash val="solid"/>
            <a:headEnd type="none" len="sm" w="sm"/>
            <a:tailEnd type="triangle" len="med" w="lg"/>
          </a:ln>
        </p:spPr>
        <p:txBody>
          <a:bodyPr/>
          <a:p/>
        </p:txBody>
      </p:sp>
      <p:sp>
        <p:nvSpPr>
          <p:cNvPr name="Freeform 43" id="43"/>
          <p:cNvSpPr/>
          <p:nvPr/>
        </p:nvSpPr>
        <p:spPr>
          <a:xfrm>
            <a:off x="8161020" y="3597635"/>
            <a:ext cx="543199" cy="19794"/>
          </a:xfrm>
          <a:custGeom>
            <a:avLst/>
            <a:gdLst/>
            <a:ahLst/>
            <a:cxnLst/>
            <a:rect r="r" b="b" t="t" l="l"/>
            <a:pathLst>
              <a:path h="19794" w="543199">
                <a:moveTo>
                  <a:pt x="0" y="19795"/>
                </a:moveTo>
                <a:lnTo>
                  <a:pt x="261702" y="19795"/>
                </a:lnTo>
                <a:cubicBezTo>
                  <a:pt x="264327" y="19795"/>
                  <a:pt x="266845" y="18752"/>
                  <a:pt x="268700" y="16896"/>
                </a:cubicBezTo>
                <a:cubicBezTo>
                  <a:pt x="270557" y="15040"/>
                  <a:pt x="271599" y="12523"/>
                  <a:pt x="271599" y="9898"/>
                </a:cubicBezTo>
                <a:lnTo>
                  <a:pt x="271599" y="9898"/>
                </a:lnTo>
                <a:cubicBezTo>
                  <a:pt x="271599" y="7272"/>
                  <a:pt x="272642" y="4755"/>
                  <a:pt x="274498" y="2899"/>
                </a:cubicBezTo>
                <a:cubicBezTo>
                  <a:pt x="276354" y="1043"/>
                  <a:pt x="278872" y="0"/>
                  <a:pt x="281496" y="0"/>
                </a:cubicBezTo>
                <a:lnTo>
                  <a:pt x="543198" y="0"/>
                </a:lnTo>
              </a:path>
            </a:pathLst>
          </a:custGeom>
          <a:ln cap="flat" w="38100">
            <a:solidFill>
              <a:srgbClr val="39C0D3"/>
            </a:solidFill>
            <a:prstDash val="solid"/>
            <a:headEnd type="none" len="sm" w="sm"/>
            <a:tailEnd type="triangle" len="med" w="lg"/>
          </a:ln>
        </p:spPr>
        <p:txBody>
          <a:bodyPr/>
          <a:p/>
        </p:txBody>
      </p:sp>
      <p:grpSp>
        <p:nvGrpSpPr>
          <p:cNvPr name="Group 44" id="44"/>
          <p:cNvGrpSpPr/>
          <p:nvPr/>
        </p:nvGrpSpPr>
        <p:grpSpPr>
          <a:xfrm rot="0">
            <a:off x="822960" y="274320"/>
            <a:ext cx="2040922" cy="411480"/>
            <a:chOff x="0" y="0"/>
            <a:chExt cx="2721229" cy="548640"/>
          </a:xfrm>
        </p:grpSpPr>
        <p:sp>
          <p:nvSpPr>
            <p:cNvPr name="Freeform 45" id="45"/>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6" id="46"/>
          <p:cNvGrpSpPr/>
          <p:nvPr/>
        </p:nvGrpSpPr>
        <p:grpSpPr>
          <a:xfrm rot="0">
            <a:off x="822960" y="274320"/>
            <a:ext cx="2040941" cy="411480"/>
            <a:chOff x="0" y="0"/>
            <a:chExt cx="2721254" cy="548640"/>
          </a:xfrm>
        </p:grpSpPr>
        <p:sp>
          <p:nvSpPr>
            <p:cNvPr name="Freeform 47" id="47"/>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5">
                <a:alphaModFix amt="0"/>
              </a:blip>
              <a:stretch>
                <a:fillRect l="0" t="-46578" r="0" b="-46578"/>
              </a:stretch>
            </a:blipFill>
          </p:spPr>
          <p:txBody>
            <a:bodyPr/>
            <a:p/>
          </p:txBody>
        </p:sp>
      </p:grpSp>
      <p:grpSp>
        <p:nvGrpSpPr>
          <p:cNvPr name="Group 48" id="48"/>
          <p:cNvGrpSpPr/>
          <p:nvPr/>
        </p:nvGrpSpPr>
        <p:grpSpPr>
          <a:xfrm rot="0">
            <a:off x="822960" y="260033"/>
            <a:ext cx="2040941" cy="425768"/>
            <a:chOff x="0" y="0"/>
            <a:chExt cx="2721254" cy="567690"/>
          </a:xfrm>
        </p:grpSpPr>
        <p:sp>
          <p:nvSpPr>
            <p:cNvPr name="Freeform 49" id="49"/>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4">
                <a:alphaModFix amt="0"/>
              </a:blip>
              <a:stretch>
                <a:fillRect l="0" t="-43402" r="0" b="-43402"/>
              </a:stretch>
            </a:blipFill>
          </p:spPr>
          <p:txBody>
            <a:bodyPr/>
            <a:p/>
          </p:txBody>
        </p:sp>
        <p:sp>
          <p:nvSpPr>
            <p:cNvPr name="TextBox 50" id="50"/>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Pendahuluan</a:t>
              </a:r>
            </a:p>
          </p:txBody>
        </p:sp>
      </p:grpSp>
      <p:grpSp>
        <p:nvGrpSpPr>
          <p:cNvPr name="Group 51" id="51"/>
          <p:cNvGrpSpPr/>
          <p:nvPr/>
        </p:nvGrpSpPr>
        <p:grpSpPr>
          <a:xfrm rot="0">
            <a:off x="2973629" y="274320"/>
            <a:ext cx="2378392" cy="411480"/>
            <a:chOff x="0" y="0"/>
            <a:chExt cx="3171190" cy="548640"/>
          </a:xfrm>
        </p:grpSpPr>
        <p:sp>
          <p:nvSpPr>
            <p:cNvPr name="Freeform 52" id="5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3" id="53"/>
          <p:cNvGrpSpPr/>
          <p:nvPr/>
        </p:nvGrpSpPr>
        <p:grpSpPr>
          <a:xfrm rot="0">
            <a:off x="2973629" y="274320"/>
            <a:ext cx="2378354" cy="411480"/>
            <a:chOff x="0" y="0"/>
            <a:chExt cx="3171139" cy="548640"/>
          </a:xfrm>
        </p:grpSpPr>
        <p:sp>
          <p:nvSpPr>
            <p:cNvPr name="Freeform 54" id="5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5">
                <a:alphaModFix amt="0"/>
              </a:blip>
              <a:stretch>
                <a:fillRect l="0" t="-62546" r="1" b="-62543"/>
              </a:stretch>
            </a:blipFill>
          </p:spPr>
          <p:txBody>
            <a:bodyPr/>
            <a:p/>
          </p:txBody>
        </p:sp>
      </p:grpSp>
      <p:grpSp>
        <p:nvGrpSpPr>
          <p:cNvPr name="Group 55" id="55"/>
          <p:cNvGrpSpPr/>
          <p:nvPr/>
        </p:nvGrpSpPr>
        <p:grpSpPr>
          <a:xfrm rot="0">
            <a:off x="2973629" y="260033"/>
            <a:ext cx="2378354" cy="425768"/>
            <a:chOff x="0" y="0"/>
            <a:chExt cx="3171139" cy="567690"/>
          </a:xfrm>
        </p:grpSpPr>
        <p:sp>
          <p:nvSpPr>
            <p:cNvPr name="Freeform 56" id="56"/>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4">
                <a:alphaModFix amt="0"/>
              </a:blip>
              <a:stretch>
                <a:fillRect l="0" t="-58844" r="0" b="-58844"/>
              </a:stretch>
            </a:blipFill>
          </p:spPr>
          <p:txBody>
            <a:bodyPr/>
            <a:p/>
          </p:txBody>
        </p:sp>
        <p:sp>
          <p:nvSpPr>
            <p:cNvPr name="TextBox 57" id="57"/>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58" id="58"/>
          <p:cNvGrpSpPr/>
          <p:nvPr/>
        </p:nvGrpSpPr>
        <p:grpSpPr>
          <a:xfrm rot="0">
            <a:off x="5461711" y="274320"/>
            <a:ext cx="1591056" cy="411480"/>
            <a:chOff x="0" y="0"/>
            <a:chExt cx="2121408" cy="548640"/>
          </a:xfrm>
        </p:grpSpPr>
        <p:sp>
          <p:nvSpPr>
            <p:cNvPr name="Freeform 59" id="59"/>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60" id="60"/>
          <p:cNvGrpSpPr/>
          <p:nvPr/>
        </p:nvGrpSpPr>
        <p:grpSpPr>
          <a:xfrm rot="0">
            <a:off x="5461711" y="274320"/>
            <a:ext cx="1591056" cy="411480"/>
            <a:chOff x="0" y="0"/>
            <a:chExt cx="2121408" cy="548640"/>
          </a:xfrm>
        </p:grpSpPr>
        <p:sp>
          <p:nvSpPr>
            <p:cNvPr name="Freeform 61" id="61"/>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5">
                <a:alphaModFix amt="0"/>
              </a:blip>
              <a:stretch>
                <a:fillRect l="0" t="-25289" r="0" b="-25289"/>
              </a:stretch>
            </a:blipFill>
          </p:spPr>
          <p:txBody>
            <a:bodyPr/>
            <a:p/>
          </p:txBody>
        </p:sp>
      </p:grpSp>
      <p:grpSp>
        <p:nvGrpSpPr>
          <p:cNvPr name="Group 62" id="62"/>
          <p:cNvGrpSpPr/>
          <p:nvPr/>
        </p:nvGrpSpPr>
        <p:grpSpPr>
          <a:xfrm rot="0">
            <a:off x="5461711" y="260033"/>
            <a:ext cx="1591056" cy="425768"/>
            <a:chOff x="0" y="0"/>
            <a:chExt cx="2121408" cy="567690"/>
          </a:xfrm>
        </p:grpSpPr>
        <p:sp>
          <p:nvSpPr>
            <p:cNvPr name="Freeform 63" id="63"/>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4">
                <a:alphaModFix amt="0"/>
              </a:blip>
              <a:stretch>
                <a:fillRect l="0" t="-22813" r="0" b="-22813"/>
              </a:stretch>
            </a:blipFill>
          </p:spPr>
          <p:txBody>
            <a:bodyPr/>
            <a:p/>
          </p:txBody>
        </p:sp>
        <p:sp>
          <p:nvSpPr>
            <p:cNvPr name="TextBox 64" id="64"/>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65" id="65"/>
          <p:cNvGrpSpPr/>
          <p:nvPr/>
        </p:nvGrpSpPr>
        <p:grpSpPr>
          <a:xfrm rot="0">
            <a:off x="7162495" y="274320"/>
            <a:ext cx="2490788" cy="411480"/>
            <a:chOff x="0" y="0"/>
            <a:chExt cx="3321050" cy="548640"/>
          </a:xfrm>
        </p:grpSpPr>
        <p:sp>
          <p:nvSpPr>
            <p:cNvPr name="Freeform 66" id="66"/>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67" id="67"/>
          <p:cNvGrpSpPr/>
          <p:nvPr/>
        </p:nvGrpSpPr>
        <p:grpSpPr>
          <a:xfrm rot="0">
            <a:off x="7162495" y="274320"/>
            <a:ext cx="2490826" cy="411480"/>
            <a:chOff x="0" y="0"/>
            <a:chExt cx="3321101" cy="548640"/>
          </a:xfrm>
        </p:grpSpPr>
        <p:sp>
          <p:nvSpPr>
            <p:cNvPr name="Freeform 68" id="68"/>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5">
                <a:alphaModFix amt="0"/>
              </a:blip>
              <a:stretch>
                <a:fillRect l="0" t="-67868" r="-1" b="-67865"/>
              </a:stretch>
            </a:blipFill>
          </p:spPr>
          <p:txBody>
            <a:bodyPr/>
            <a:p/>
          </p:txBody>
        </p:sp>
      </p:grpSp>
      <p:grpSp>
        <p:nvGrpSpPr>
          <p:cNvPr name="Group 69" id="69"/>
          <p:cNvGrpSpPr/>
          <p:nvPr/>
        </p:nvGrpSpPr>
        <p:grpSpPr>
          <a:xfrm rot="0">
            <a:off x="7162495" y="260033"/>
            <a:ext cx="2490826" cy="425768"/>
            <a:chOff x="0" y="0"/>
            <a:chExt cx="3321101" cy="567690"/>
          </a:xfrm>
        </p:grpSpPr>
        <p:sp>
          <p:nvSpPr>
            <p:cNvPr name="Freeform 70" id="70"/>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4">
                <a:alphaModFix amt="0"/>
              </a:blip>
              <a:stretch>
                <a:fillRect l="0" t="-63991" r="0" b="-63991"/>
              </a:stretch>
            </a:blipFill>
          </p:spPr>
          <p:txBody>
            <a:bodyPr/>
            <a:p/>
          </p:txBody>
        </p:sp>
        <p:sp>
          <p:nvSpPr>
            <p:cNvPr name="TextBox 71" id="71"/>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72" id="72"/>
          <p:cNvGrpSpPr/>
          <p:nvPr/>
        </p:nvGrpSpPr>
        <p:grpSpPr>
          <a:xfrm rot="0">
            <a:off x="9763049" y="274320"/>
            <a:ext cx="1366076" cy="411480"/>
            <a:chOff x="0" y="0"/>
            <a:chExt cx="1821434" cy="548640"/>
          </a:xfrm>
        </p:grpSpPr>
        <p:sp>
          <p:nvSpPr>
            <p:cNvPr name="Freeform 73" id="7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74" id="74"/>
          <p:cNvGrpSpPr/>
          <p:nvPr/>
        </p:nvGrpSpPr>
        <p:grpSpPr>
          <a:xfrm rot="0">
            <a:off x="9763049" y="274320"/>
            <a:ext cx="1366114" cy="411480"/>
            <a:chOff x="0" y="0"/>
            <a:chExt cx="1821485" cy="548640"/>
          </a:xfrm>
        </p:grpSpPr>
        <p:sp>
          <p:nvSpPr>
            <p:cNvPr name="Freeform 75" id="7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5">
                <a:alphaModFix amt="0"/>
              </a:blip>
              <a:stretch>
                <a:fillRect l="0" t="-14645" r="-2" b="-14645"/>
              </a:stretch>
            </a:blipFill>
          </p:spPr>
          <p:txBody>
            <a:bodyPr/>
            <a:p/>
          </p:txBody>
        </p:sp>
      </p:grpSp>
      <p:grpSp>
        <p:nvGrpSpPr>
          <p:cNvPr name="Group 76" id="76"/>
          <p:cNvGrpSpPr/>
          <p:nvPr/>
        </p:nvGrpSpPr>
        <p:grpSpPr>
          <a:xfrm rot="0">
            <a:off x="9763049" y="260033"/>
            <a:ext cx="1366114" cy="425768"/>
            <a:chOff x="0" y="0"/>
            <a:chExt cx="1821485" cy="567690"/>
          </a:xfrm>
        </p:grpSpPr>
        <p:sp>
          <p:nvSpPr>
            <p:cNvPr name="Freeform 77" id="77"/>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4">
                <a:alphaModFix amt="0"/>
              </a:blip>
              <a:stretch>
                <a:fillRect l="0" t="-12519" r="0" b="-12519"/>
              </a:stretch>
            </a:blipFill>
          </p:spPr>
          <p:txBody>
            <a:bodyPr/>
            <a:p/>
          </p:txBody>
        </p:sp>
        <p:sp>
          <p:nvSpPr>
            <p:cNvPr name="TextBox 78" id="78"/>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79" id="79"/>
          <p:cNvGrpSpPr/>
          <p:nvPr/>
        </p:nvGrpSpPr>
        <p:grpSpPr>
          <a:xfrm rot="0">
            <a:off x="11238890" y="274320"/>
            <a:ext cx="1253680" cy="411480"/>
            <a:chOff x="0" y="0"/>
            <a:chExt cx="1671574" cy="548640"/>
          </a:xfrm>
        </p:grpSpPr>
        <p:sp>
          <p:nvSpPr>
            <p:cNvPr name="Freeform 80" id="80"/>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81" id="81"/>
          <p:cNvGrpSpPr/>
          <p:nvPr/>
        </p:nvGrpSpPr>
        <p:grpSpPr>
          <a:xfrm rot="0">
            <a:off x="11238890" y="274320"/>
            <a:ext cx="1253642" cy="411480"/>
            <a:chOff x="0" y="0"/>
            <a:chExt cx="1671523" cy="548640"/>
          </a:xfrm>
        </p:grpSpPr>
        <p:sp>
          <p:nvSpPr>
            <p:cNvPr name="Freeform 82" id="82"/>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5">
                <a:alphaModFix amt="0"/>
              </a:blip>
              <a:stretch>
                <a:fillRect l="0" t="-9324" r="3" b="-9321"/>
              </a:stretch>
            </a:blipFill>
          </p:spPr>
          <p:txBody>
            <a:bodyPr/>
            <a:p/>
          </p:txBody>
        </p:sp>
      </p:grpSp>
      <p:grpSp>
        <p:nvGrpSpPr>
          <p:cNvPr name="Group 83" id="83"/>
          <p:cNvGrpSpPr/>
          <p:nvPr/>
        </p:nvGrpSpPr>
        <p:grpSpPr>
          <a:xfrm rot="0">
            <a:off x="11238890" y="260033"/>
            <a:ext cx="1253642" cy="425768"/>
            <a:chOff x="0" y="0"/>
            <a:chExt cx="1671523" cy="567690"/>
          </a:xfrm>
        </p:grpSpPr>
        <p:sp>
          <p:nvSpPr>
            <p:cNvPr name="Freeform 84" id="84"/>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4">
                <a:alphaModFix amt="0"/>
              </a:blip>
              <a:stretch>
                <a:fillRect l="0" t="-7372" r="0" b="-7372"/>
              </a:stretch>
            </a:blipFill>
          </p:spPr>
          <p:txBody>
            <a:bodyPr/>
            <a:p/>
          </p:txBody>
        </p:sp>
        <p:sp>
          <p:nvSpPr>
            <p:cNvPr name="TextBox 85" id="85"/>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86" id="86"/>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a:t>
            </a:r>
          </a:p>
        </p:txBody>
      </p:sp>
      <p:grpSp>
        <p:nvGrpSpPr>
          <p:cNvPr name="Group 87" id="87"/>
          <p:cNvGrpSpPr/>
          <p:nvPr/>
        </p:nvGrpSpPr>
        <p:grpSpPr>
          <a:xfrm rot="0">
            <a:off x="16047720" y="9646920"/>
            <a:ext cx="420624" cy="420624"/>
            <a:chOff x="0" y="0"/>
            <a:chExt cx="560832" cy="560832"/>
          </a:xfrm>
        </p:grpSpPr>
        <p:sp>
          <p:nvSpPr>
            <p:cNvPr name="Freeform 88" id="88"/>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89" id="89"/>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
        <p:nvSpPr>
          <p:cNvPr name="TextBox 90" id="90"/>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Latar Belakang — Permasalahan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Pertumbuhan yang pesat menekan daya dukung destinasi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Latar Belakang — Pendekatan Sistem Dinamis</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Metode peramalan biasa kurang tepat untuk perencanaan jangka panjang</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6" id="66"/>
          <p:cNvGrpSpPr/>
          <p:nvPr/>
        </p:nvGrpSpPr>
        <p:grpSpPr>
          <a:xfrm rot="0">
            <a:off x="9258300" y="2468880"/>
            <a:ext cx="8202168" cy="6240780"/>
            <a:chOff x="0" y="0"/>
            <a:chExt cx="10936224" cy="8321040"/>
          </a:xfrm>
        </p:grpSpPr>
        <p:sp>
          <p:nvSpPr>
            <p:cNvPr name="Freeform 67" id="67"/>
            <p:cNvSpPr/>
            <p:nvPr/>
          </p:nvSpPr>
          <p:spPr>
            <a:xfrm flipH="false" flipV="false" rot="0">
              <a:off x="0" y="0"/>
              <a:ext cx="10936224" cy="8321040"/>
            </a:xfrm>
            <a:custGeom>
              <a:avLst/>
              <a:gdLst/>
              <a:ahLst/>
              <a:cxnLst/>
              <a:rect r="r" b="b" t="t" l="l"/>
              <a:pathLst>
                <a:path h="8321040" w="10936224">
                  <a:moveTo>
                    <a:pt x="0" y="182880"/>
                  </a:moveTo>
                  <a:cubicBezTo>
                    <a:pt x="0" y="81915"/>
                    <a:pt x="81915" y="0"/>
                    <a:pt x="182880" y="0"/>
                  </a:cubicBezTo>
                  <a:lnTo>
                    <a:pt x="10753344" y="0"/>
                  </a:lnTo>
                  <a:cubicBezTo>
                    <a:pt x="10854309" y="0"/>
                    <a:pt x="10936224" y="81915"/>
                    <a:pt x="10936224" y="182880"/>
                  </a:cubicBezTo>
                  <a:lnTo>
                    <a:pt x="10936224" y="8138160"/>
                  </a:lnTo>
                  <a:cubicBezTo>
                    <a:pt x="10936224" y="8239125"/>
                    <a:pt x="10854309" y="8321040"/>
                    <a:pt x="10753344" y="8321040"/>
                  </a:cubicBezTo>
                  <a:lnTo>
                    <a:pt x="182880" y="8321040"/>
                  </a:lnTo>
                  <a:cubicBezTo>
                    <a:pt x="81915" y="8321040"/>
                    <a:pt x="0" y="8239125"/>
                    <a:pt x="0" y="8138160"/>
                  </a:cubicBezTo>
                  <a:close/>
                </a:path>
              </a:pathLst>
            </a:custGeom>
            <a:solidFill>
              <a:srgbClr val="0B5E6E"/>
            </a:solidFill>
          </p:spPr>
          <p:txBody>
            <a:bodyPr/>
            <a:p/>
          </p:txBody>
        </p:sp>
      </p:grpSp>
      <p:sp>
        <p:nvSpPr>
          <p:cNvPr name="TextBox 68" id="68"/>
          <p:cNvSpPr txBox="true"/>
          <p:nvPr/>
        </p:nvSpPr>
        <p:spPr>
          <a:xfrm rot="0">
            <a:off x="9738360" y="2611755"/>
            <a:ext cx="7269480" cy="748665"/>
          </a:xfrm>
          <a:prstGeom prst="rect">
            <a:avLst/>
          </a:prstGeom>
        </p:spPr>
        <p:txBody>
          <a:bodyPr anchor="t" rtlCol="false" tIns="0" lIns="0" bIns="0" rIns="0">
            <a:spAutoFit/>
          </a:bodyPr>
          <a:lstStyle/>
          <a:p>
            <a:pPr algn="l">
              <a:lnSpc>
                <a:spcPts val="3600"/>
              </a:lnSpc>
            </a:pPr>
            <a:r>
              <a:rPr lang="en-US" sz="3000" b="true">
                <a:solidFill>
                  <a:srgbClr val="FFD23B"/>
                </a:solidFill>
                <a:latin typeface="Calibri (MS) Bold"/>
                <a:ea typeface="Calibri (MS) Bold"/>
                <a:cs typeface="Calibri (MS) Bold"/>
                <a:sym typeface="Calibri (MS) Bold"/>
              </a:rPr>
              <a:t>Sistem dinamis</a:t>
            </a:r>
          </a:p>
        </p:txBody>
      </p:sp>
      <p:sp>
        <p:nvSpPr>
          <p:cNvPr name="TextBox 69" id="69"/>
          <p:cNvSpPr txBox="true"/>
          <p:nvPr/>
        </p:nvSpPr>
        <p:spPr>
          <a:xfrm rot="0">
            <a:off x="9738360" y="3314700"/>
            <a:ext cx="7269480" cy="400050"/>
          </a:xfrm>
          <a:prstGeom prst="rect">
            <a:avLst/>
          </a:prstGeom>
        </p:spPr>
        <p:txBody>
          <a:bodyPr anchor="t" rtlCol="false" tIns="0" lIns="0" bIns="0" rIns="0">
            <a:spAutoFit/>
          </a:bodyPr>
          <a:lstStyle/>
          <a:p>
            <a:pPr algn="l">
              <a:lnSpc>
                <a:spcPts val="2250"/>
              </a:lnSpc>
            </a:pPr>
            <a:r>
              <a:rPr lang="en-US" sz="1875">
                <a:solidFill>
                  <a:srgbClr val="6BE5EA"/>
                </a:solidFill>
                <a:latin typeface="Calibri (MS)"/>
                <a:ea typeface="Calibri (MS)"/>
                <a:cs typeface="Calibri (MS)"/>
                <a:sym typeface="Calibri (MS)"/>
              </a:rPr>
              <a:t>stocks · flows · feedback loop · delays</a:t>
            </a:r>
          </a:p>
        </p:txBody>
      </p:sp>
      <p:sp>
        <p:nvSpPr>
          <p:cNvPr name="TextBox 70" id="70"/>
          <p:cNvSpPr txBox="true"/>
          <p:nvPr/>
        </p:nvSpPr>
        <p:spPr>
          <a:xfrm rot="0">
            <a:off x="9738360" y="4217670"/>
            <a:ext cx="7269480" cy="2228850"/>
          </a:xfrm>
          <a:prstGeom prst="rect">
            <a:avLst/>
          </a:prstGeom>
        </p:spPr>
        <p:txBody>
          <a:bodyPr anchor="t" rtlCol="false" tIns="0" lIns="0" bIns="0" rIns="0">
            <a:spAutoFit/>
          </a:bodyPr>
          <a:lstStyle/>
          <a:p>
            <a:pPr algn="l" marL="588168" indent="-147042" lvl="3">
              <a:lnSpc>
                <a:spcPts val="2700"/>
              </a:lnSpc>
              <a:buFont typeface="Arial"/>
              <a:buChar char="￭"/>
            </a:pPr>
            <a:r>
              <a:rPr lang="en-US" sz="2250">
                <a:solidFill>
                  <a:srgbClr val="FFFFFF"/>
                </a:solidFill>
                <a:latin typeface="Calibri (MS)"/>
                <a:ea typeface="Calibri (MS)"/>
                <a:cs typeface="Calibri (MS)"/>
                <a:sym typeface="Calibri (MS)"/>
              </a:rPr>
              <a:t>Perilaku sistem ditentukan struktur internalnya</a:t>
            </a:r>
          </a:p>
          <a:p>
            <a:pPr algn="l" marL="588168" indent="-147042" lvl="3">
              <a:lnSpc>
                <a:spcPts val="2700"/>
              </a:lnSpc>
              <a:buFont typeface="Arial"/>
              <a:buChar char="￭"/>
            </a:pPr>
            <a:r>
              <a:rPr lang="en-US" sz="2250">
                <a:solidFill>
                  <a:srgbClr val="FFFFFF"/>
                </a:solidFill>
                <a:latin typeface="Calibri (MS)"/>
                <a:ea typeface="Calibri (MS)"/>
                <a:cs typeface="Calibri (MS)"/>
                <a:sym typeface="Calibri (MS)"/>
              </a:rPr>
              <a:t>Kebijakan dapat diuji secara virtual sebelum diterapkan (Sterman, 2000)</a:t>
            </a:r>
          </a:p>
          <a:p>
            <a:pPr algn="l" marL="588168" indent="-147042" lvl="3">
              <a:lnSpc>
                <a:spcPts val="2700"/>
              </a:lnSpc>
              <a:buFont typeface="Arial"/>
              <a:buChar char="￭"/>
            </a:pPr>
            <a:r>
              <a:rPr lang="en-US" sz="2250">
                <a:solidFill>
                  <a:srgbClr val="FFFFFF"/>
                </a:solidFill>
                <a:latin typeface="Calibri (MS)"/>
                <a:ea typeface="Calibri (MS)"/>
                <a:cs typeface="Calibri (MS)"/>
                <a:sym typeface="Calibri (MS)"/>
              </a:rPr>
              <a:t>Menganalisis dampak kebijakan jangka panjang</a:t>
            </a:r>
          </a:p>
          <a:p>
            <a:pPr algn="l" marL="588168" indent="-147042" lvl="3">
              <a:lnSpc>
                <a:spcPts val="2700"/>
              </a:lnSpc>
              <a:buFont typeface="Arial"/>
              <a:buChar char="￭"/>
            </a:pPr>
            <a:r>
              <a:rPr lang="en-US" sz="2250">
                <a:solidFill>
                  <a:srgbClr val="FFFFFF"/>
                </a:solidFill>
                <a:latin typeface="Calibri (MS)"/>
                <a:ea typeface="Calibri (MS)"/>
                <a:cs typeface="Calibri (MS)"/>
                <a:sym typeface="Calibri (MS)"/>
              </a:rPr>
              <a:t>Telah terbukti di pariwisata: Cat Ba Island (limits to growth tanpa intervensi) , Labuan Bajo, Saba Budaya Baduy</a:t>
            </a:r>
          </a:p>
        </p:txBody>
      </p:sp>
      <p:sp>
        <p:nvSpPr>
          <p:cNvPr name="Freeform 71" id="71"/>
          <p:cNvSpPr/>
          <p:nvPr/>
        </p:nvSpPr>
        <p:spPr>
          <a:xfrm flipH="false" flipV="false" rot="0">
            <a:off x="8412766" y="4819174"/>
            <a:ext cx="1060133" cy="1060133"/>
          </a:xfrm>
          <a:custGeom>
            <a:avLst/>
            <a:gdLst/>
            <a:ahLst/>
            <a:cxnLst/>
            <a:rect r="r" b="b" t="t" l="l"/>
            <a:pathLst>
              <a:path h="1060133" w="1060133">
                <a:moveTo>
                  <a:pt x="0" y="0"/>
                </a:moveTo>
                <a:lnTo>
                  <a:pt x="1060132" y="0"/>
                </a:lnTo>
                <a:lnTo>
                  <a:pt x="1060132" y="1060132"/>
                </a:lnTo>
                <a:lnTo>
                  <a:pt x="0" y="106013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72" id="72"/>
          <p:cNvGrpSpPr/>
          <p:nvPr/>
        </p:nvGrpSpPr>
        <p:grpSpPr>
          <a:xfrm rot="0">
            <a:off x="8462772" y="4869180"/>
            <a:ext cx="960120" cy="960120"/>
            <a:chOff x="0" y="0"/>
            <a:chExt cx="1280160" cy="1280160"/>
          </a:xfrm>
        </p:grpSpPr>
        <p:sp>
          <p:nvSpPr>
            <p:cNvPr name="Freeform 73" id="73"/>
            <p:cNvSpPr/>
            <p:nvPr/>
          </p:nvSpPr>
          <p:spPr>
            <a:xfrm flipH="false" flipV="false" rot="0">
              <a:off x="0" y="0"/>
              <a:ext cx="1280160" cy="1280160"/>
            </a:xfrm>
            <a:custGeom>
              <a:avLst/>
              <a:gdLst/>
              <a:ahLst/>
              <a:cxnLst/>
              <a:rect r="r" b="b" t="t" l="l"/>
              <a:pathLst>
                <a:path h="1280160" w="1280160">
                  <a:moveTo>
                    <a:pt x="0" y="0"/>
                  </a:moveTo>
                  <a:lnTo>
                    <a:pt x="1280160" y="0"/>
                  </a:lnTo>
                  <a:lnTo>
                    <a:pt x="1280160" y="1280160"/>
                  </a:lnTo>
                  <a:lnTo>
                    <a:pt x="0" y="1280160"/>
                  </a:lnTo>
                  <a:close/>
                </a:path>
              </a:pathLst>
            </a:custGeom>
            <a:blipFill>
              <a:blip r:embed="rId4">
                <a:alphaModFix amt="0"/>
              </a:blip>
              <a:stretch>
                <a:fillRect l="-78392" t="0" r="-78392" b="0"/>
              </a:stretch>
            </a:blipFill>
          </p:spPr>
          <p:txBody>
            <a:bodyPr/>
            <a:p/>
          </p:txBody>
        </p:sp>
      </p:grpSp>
      <p:grpSp>
        <p:nvGrpSpPr>
          <p:cNvPr name="Group 74" id="74"/>
          <p:cNvGrpSpPr/>
          <p:nvPr/>
        </p:nvGrpSpPr>
        <p:grpSpPr>
          <a:xfrm rot="0">
            <a:off x="8462772" y="4819174"/>
            <a:ext cx="960120" cy="1010126"/>
            <a:chOff x="0" y="0"/>
            <a:chExt cx="1280160" cy="1346835"/>
          </a:xfrm>
        </p:grpSpPr>
        <p:sp>
          <p:nvSpPr>
            <p:cNvPr name="Freeform 75" id="75"/>
            <p:cNvSpPr/>
            <p:nvPr/>
          </p:nvSpPr>
          <p:spPr>
            <a:xfrm flipH="false" flipV="false" rot="0">
              <a:off x="0" y="0"/>
              <a:ext cx="1280160" cy="1346835"/>
            </a:xfrm>
            <a:custGeom>
              <a:avLst/>
              <a:gdLst/>
              <a:ahLst/>
              <a:cxnLst/>
              <a:rect r="r" b="b" t="t" l="l"/>
              <a:pathLst>
                <a:path h="1346835" w="1280160">
                  <a:moveTo>
                    <a:pt x="0" y="0"/>
                  </a:moveTo>
                  <a:lnTo>
                    <a:pt x="1280160" y="0"/>
                  </a:lnTo>
                  <a:lnTo>
                    <a:pt x="1280160" y="1346835"/>
                  </a:lnTo>
                  <a:lnTo>
                    <a:pt x="0" y="1346835"/>
                  </a:lnTo>
                  <a:close/>
                </a:path>
              </a:pathLst>
            </a:custGeom>
            <a:blipFill>
              <a:blip r:embed="rId5">
                <a:alphaModFix amt="0"/>
              </a:blip>
              <a:stretch>
                <a:fillRect l="-85080" t="0" r="-85079" b="0"/>
              </a:stretch>
            </a:blipFill>
          </p:spPr>
          <p:txBody>
            <a:bodyPr/>
            <a:p/>
          </p:txBody>
        </p:sp>
      </p:grpSp>
      <p:grpSp>
        <p:nvGrpSpPr>
          <p:cNvPr name="Group 76" id="76"/>
          <p:cNvGrpSpPr/>
          <p:nvPr/>
        </p:nvGrpSpPr>
        <p:grpSpPr>
          <a:xfrm rot="0">
            <a:off x="8462772" y="4769168"/>
            <a:ext cx="960120" cy="1060132"/>
            <a:chOff x="0" y="0"/>
            <a:chExt cx="1280160" cy="1413510"/>
          </a:xfrm>
        </p:grpSpPr>
        <p:sp>
          <p:nvSpPr>
            <p:cNvPr name="Freeform 77" id="77"/>
            <p:cNvSpPr/>
            <p:nvPr/>
          </p:nvSpPr>
          <p:spPr>
            <a:xfrm flipH="false" flipV="false" rot="0">
              <a:off x="0" y="0"/>
              <a:ext cx="1280160" cy="1413510"/>
            </a:xfrm>
            <a:custGeom>
              <a:avLst/>
              <a:gdLst/>
              <a:ahLst/>
              <a:cxnLst/>
              <a:rect r="r" b="b" t="t" l="l"/>
              <a:pathLst>
                <a:path h="1413510" w="1280160">
                  <a:moveTo>
                    <a:pt x="0" y="0"/>
                  </a:moveTo>
                  <a:lnTo>
                    <a:pt x="1280160" y="0"/>
                  </a:lnTo>
                  <a:lnTo>
                    <a:pt x="1280160" y="1413510"/>
                  </a:lnTo>
                  <a:lnTo>
                    <a:pt x="0" y="1413510"/>
                  </a:lnTo>
                  <a:close/>
                </a:path>
              </a:pathLst>
            </a:custGeom>
            <a:blipFill>
              <a:blip r:embed="rId6">
                <a:alphaModFix amt="0"/>
              </a:blip>
              <a:stretch>
                <a:fillRect l="-91668" t="0" r="-91668" b="0"/>
              </a:stretch>
            </a:blipFill>
          </p:spPr>
          <p:txBody>
            <a:bodyPr/>
            <a:p/>
          </p:txBody>
        </p:sp>
        <p:sp>
          <p:nvSpPr>
            <p:cNvPr name="TextBox 78" id="78"/>
            <p:cNvSpPr txBox="true"/>
            <p:nvPr/>
          </p:nvSpPr>
          <p:spPr>
            <a:xfrm>
              <a:off x="0" y="-66675"/>
              <a:ext cx="1280160" cy="1480185"/>
            </a:xfrm>
            <a:prstGeom prst="rect">
              <a:avLst/>
            </a:prstGeom>
          </p:spPr>
          <p:txBody>
            <a:bodyPr anchor="ctr" rtlCol="false" tIns="0" lIns="0" bIns="0" rIns="0"/>
            <a:lstStyle/>
            <a:p>
              <a:pPr algn="ctr">
                <a:lnSpc>
                  <a:spcPts val="3960"/>
                </a:lnSpc>
              </a:pPr>
              <a:r>
                <a:rPr lang="en-US" sz="3300" b="true">
                  <a:solidFill>
                    <a:srgbClr val="14313B"/>
                  </a:solidFill>
                  <a:latin typeface="Calibri (MS) Bold"/>
                  <a:ea typeface="Calibri (MS) Bold"/>
                  <a:cs typeface="Calibri (MS) Bold"/>
                  <a:sym typeface="Calibri (MS) Bold"/>
                </a:rPr>
                <a:t>→</a:t>
              </a:r>
            </a:p>
          </p:txBody>
        </p:sp>
      </p:grpSp>
      <p:sp>
        <p:nvSpPr>
          <p:cNvPr name="TextBox 79" id="79"/>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a:t>
            </a:r>
          </a:p>
        </p:txBody>
      </p:sp>
      <p:grpSp>
        <p:nvGrpSpPr>
          <p:cNvPr name="Group 80" id="80"/>
          <p:cNvGrpSpPr/>
          <p:nvPr/>
        </p:nvGrpSpPr>
        <p:grpSpPr>
          <a:xfrm rot="0">
            <a:off x="822960" y="2468880"/>
            <a:ext cx="7749540" cy="6240780"/>
            <a:chOff x="0" y="0"/>
            <a:chExt cx="10332720" cy="8321040"/>
          </a:xfrm>
        </p:grpSpPr>
        <p:sp>
          <p:nvSpPr>
            <p:cNvPr name="Freeform 81" id="81"/>
            <p:cNvSpPr/>
            <p:nvPr/>
          </p:nvSpPr>
          <p:spPr>
            <a:xfrm flipH="false" flipV="false" rot="0">
              <a:off x="0" y="0"/>
              <a:ext cx="10332720" cy="8321040"/>
            </a:xfrm>
            <a:custGeom>
              <a:avLst/>
              <a:gdLst/>
              <a:ahLst/>
              <a:cxnLst/>
              <a:rect r="r" b="b" t="t" l="l"/>
              <a:pathLst>
                <a:path h="8321040" w="10332720">
                  <a:moveTo>
                    <a:pt x="0" y="182880"/>
                  </a:moveTo>
                  <a:cubicBezTo>
                    <a:pt x="0" y="81915"/>
                    <a:pt x="81915" y="0"/>
                    <a:pt x="182880" y="0"/>
                  </a:cubicBezTo>
                  <a:lnTo>
                    <a:pt x="10149840" y="0"/>
                  </a:lnTo>
                  <a:cubicBezTo>
                    <a:pt x="10250805" y="0"/>
                    <a:pt x="10332720" y="81915"/>
                    <a:pt x="10332720" y="182880"/>
                  </a:cubicBezTo>
                  <a:lnTo>
                    <a:pt x="10332720" y="8138160"/>
                  </a:lnTo>
                  <a:cubicBezTo>
                    <a:pt x="10332720" y="8239125"/>
                    <a:pt x="10250805" y="8321040"/>
                    <a:pt x="10149840" y="8321040"/>
                  </a:cubicBezTo>
                  <a:lnTo>
                    <a:pt x="182880" y="8321040"/>
                  </a:lnTo>
                  <a:cubicBezTo>
                    <a:pt x="81915" y="8321040"/>
                    <a:pt x="0" y="8239125"/>
                    <a:pt x="0" y="8138160"/>
                  </a:cubicBezTo>
                  <a:close/>
                </a:path>
              </a:pathLst>
            </a:custGeom>
            <a:solidFill>
              <a:srgbClr val="EAF8FA"/>
            </a:solidFill>
          </p:spPr>
          <p:txBody>
            <a:bodyPr/>
            <a:p/>
          </p:txBody>
        </p:sp>
      </p:grpSp>
      <p:sp>
        <p:nvSpPr>
          <p:cNvPr name="TextBox 82" id="82"/>
          <p:cNvSpPr txBox="true"/>
          <p:nvPr/>
        </p:nvSpPr>
        <p:spPr>
          <a:xfrm rot="0">
            <a:off x="1303020" y="2628424"/>
            <a:ext cx="6858000" cy="731996"/>
          </a:xfrm>
          <a:prstGeom prst="rect">
            <a:avLst/>
          </a:prstGeom>
        </p:spPr>
        <p:txBody>
          <a:bodyPr anchor="t" rtlCol="false" tIns="0" lIns="0" bIns="0" rIns="0">
            <a:spAutoFit/>
          </a:bodyPr>
          <a:lstStyle/>
          <a:p>
            <a:pPr algn="l">
              <a:lnSpc>
                <a:spcPts val="3600"/>
              </a:lnSpc>
            </a:pPr>
            <a:r>
              <a:rPr lang="en-US" sz="3000" b="true">
                <a:solidFill>
                  <a:srgbClr val="0B5E6E"/>
                </a:solidFill>
                <a:latin typeface="Calibri (MS) Bold"/>
                <a:ea typeface="Calibri (MS) Bold"/>
                <a:cs typeface="Calibri (MS) Bold"/>
                <a:sym typeface="Calibri (MS) Bold"/>
              </a:rPr>
              <a:t>Peramalan konvensional</a:t>
            </a:r>
          </a:p>
        </p:txBody>
      </p:sp>
      <p:sp>
        <p:nvSpPr>
          <p:cNvPr name="TextBox 83" id="83"/>
          <p:cNvSpPr txBox="true"/>
          <p:nvPr/>
        </p:nvSpPr>
        <p:spPr>
          <a:xfrm rot="0">
            <a:off x="1303020" y="3324225"/>
            <a:ext cx="6858000" cy="390525"/>
          </a:xfrm>
          <a:prstGeom prst="rect">
            <a:avLst/>
          </a:prstGeom>
        </p:spPr>
        <p:txBody>
          <a:bodyPr anchor="t" rtlCol="false" tIns="0" lIns="0" bIns="0" rIns="0">
            <a:spAutoFit/>
          </a:bodyPr>
          <a:lstStyle/>
          <a:p>
            <a:pPr algn="l">
              <a:lnSpc>
                <a:spcPts val="2250"/>
              </a:lnSpc>
            </a:pPr>
            <a:r>
              <a:rPr lang="en-US" sz="1875">
                <a:solidFill>
                  <a:srgbClr val="5E6E78"/>
                </a:solidFill>
                <a:latin typeface="Calibri (MS)"/>
                <a:ea typeface="Calibri (MS)"/>
                <a:cs typeface="Calibri (MS)"/>
                <a:sym typeface="Calibri (MS)"/>
              </a:rPr>
              <a:t>ARIMA · exponential smoothing · VECM · regresi · machine learning</a:t>
            </a:r>
          </a:p>
        </p:txBody>
      </p:sp>
      <p:sp>
        <p:nvSpPr>
          <p:cNvPr name="TextBox 84" id="84"/>
          <p:cNvSpPr txBox="true"/>
          <p:nvPr/>
        </p:nvSpPr>
        <p:spPr>
          <a:xfrm rot="0">
            <a:off x="1303020" y="4231958"/>
            <a:ext cx="6789420" cy="2557462"/>
          </a:xfrm>
          <a:prstGeom prst="rect">
            <a:avLst/>
          </a:prstGeom>
        </p:spPr>
        <p:txBody>
          <a:bodyPr anchor="t" rtlCol="false" tIns="0" lIns="0" bIns="0" rIns="0">
            <a:spAutoFit/>
          </a:bodyPr>
          <a:lstStyle/>
          <a:p>
            <a:pPr algn="l" marL="588168" indent="-147042" lvl="3">
              <a:lnSpc>
                <a:spcPts val="2700"/>
              </a:lnSpc>
              <a:buFont typeface="Arial"/>
              <a:buChar char="￭"/>
            </a:pPr>
            <a:r>
              <a:rPr lang="en-US" sz="2250">
                <a:solidFill>
                  <a:srgbClr val="14313B"/>
                </a:solidFill>
                <a:latin typeface="Calibri (MS)"/>
                <a:ea typeface="Calibri (MS)"/>
                <a:cs typeface="Calibri (MS)"/>
                <a:sym typeface="Calibri (MS)"/>
              </a:rPr>
              <a:t>Baik untuk memproyeksikan satu atau beberapa variabel, tetapi kurang tepat untuk perencanaan jangka panjang yang dipengaruhi feedback loop</a:t>
            </a:r>
          </a:p>
          <a:p>
            <a:pPr algn="l" marL="588168" indent="-147042" lvl="3">
              <a:lnSpc>
                <a:spcPts val="2700"/>
              </a:lnSpc>
              <a:buFont typeface="Arial"/>
              <a:buChar char="￭"/>
            </a:pPr>
            <a:r>
              <a:rPr lang="en-US" sz="2250">
                <a:solidFill>
                  <a:srgbClr val="14313B"/>
                </a:solidFill>
                <a:latin typeface="Calibri (MS)"/>
                <a:ea typeface="Calibri (MS)"/>
                <a:cs typeface="Calibri (MS)"/>
                <a:sym typeface="Calibri (MS)"/>
              </a:rPr>
              <a:t>Memperlakukan variabel secara parsial</a:t>
            </a:r>
          </a:p>
          <a:p>
            <a:pPr algn="l" marL="588168" indent="-147042" lvl="3">
              <a:lnSpc>
                <a:spcPts val="2700"/>
              </a:lnSpc>
              <a:buFont typeface="Arial"/>
              <a:buChar char="￭"/>
            </a:pPr>
            <a:r>
              <a:rPr lang="en-US" sz="2250">
                <a:solidFill>
                  <a:srgbClr val="14313B"/>
                </a:solidFill>
                <a:latin typeface="Calibri (MS)"/>
                <a:ea typeface="Calibri (MS)"/>
                <a:cs typeface="Calibri (MS)"/>
                <a:sym typeface="Calibri (MS)"/>
              </a:rPr>
              <a:t>Tidak memodelkan feedback loop, akumulasi, dan keterkaitan permintaan–kapasitas–daya dukung</a:t>
            </a:r>
          </a:p>
        </p:txBody>
      </p:sp>
      <p:sp>
        <p:nvSpPr>
          <p:cNvPr name="TextBox 85" id="85"/>
          <p:cNvSpPr txBox="true"/>
          <p:nvPr/>
        </p:nvSpPr>
        <p:spPr>
          <a:xfrm rot="0">
            <a:off x="1028700" y="8314372"/>
            <a:ext cx="5547465" cy="290512"/>
          </a:xfrm>
          <a:prstGeom prst="rect">
            <a:avLst/>
          </a:prstGeom>
        </p:spPr>
        <p:txBody>
          <a:bodyPr anchor="t" rtlCol="false" tIns="0" lIns="0" bIns="0" rIns="0">
            <a:spAutoFit/>
          </a:bodyPr>
          <a:lstStyle/>
          <a:p>
            <a:pPr algn="l">
              <a:lnSpc>
                <a:spcPts val="1889"/>
              </a:lnSpc>
            </a:pPr>
            <a:r>
              <a:rPr lang="en-US" sz="1575">
                <a:solidFill>
                  <a:srgbClr val="8A99A1"/>
                </a:solidFill>
                <a:latin typeface="Calibri (MS)"/>
                <a:ea typeface="Calibri (MS)"/>
                <a:cs typeface="Calibri (MS)"/>
                <a:sym typeface="Calibri (MS)"/>
              </a:rPr>
              <a:t>(Luo dkk.,2023; Wang dkk.,2020) </a:t>
            </a:r>
          </a:p>
        </p:txBody>
      </p:sp>
      <p:sp>
        <p:nvSpPr>
          <p:cNvPr name="TextBox 86" id="86"/>
          <p:cNvSpPr txBox="true"/>
          <p:nvPr/>
        </p:nvSpPr>
        <p:spPr>
          <a:xfrm rot="0">
            <a:off x="9451467" y="8309610"/>
            <a:ext cx="5547465" cy="295275"/>
          </a:xfrm>
          <a:prstGeom prst="rect">
            <a:avLst/>
          </a:prstGeom>
        </p:spPr>
        <p:txBody>
          <a:bodyPr anchor="t" rtlCol="false" tIns="0" lIns="0" bIns="0" rIns="0">
            <a:spAutoFit/>
          </a:bodyPr>
          <a:lstStyle/>
          <a:p>
            <a:pPr algn="l">
              <a:lnSpc>
                <a:spcPts val="1889"/>
              </a:lnSpc>
            </a:pPr>
            <a:r>
              <a:rPr lang="en-US" sz="1575">
                <a:solidFill>
                  <a:srgbClr val="8A99A1"/>
                </a:solidFill>
                <a:latin typeface="Calibri (MS)"/>
                <a:ea typeface="Calibri (MS)"/>
                <a:cs typeface="Calibri (MS)"/>
                <a:sym typeface="Calibri (MS)"/>
              </a:rPr>
              <a:t>(Mai &amp; Smith, 2018; Fatina dkk., 2023; Yakti dkk., 2024) </a:t>
            </a:r>
          </a:p>
        </p:txBody>
      </p:sp>
      <p:grpSp>
        <p:nvGrpSpPr>
          <p:cNvPr name="Group 87" id="87"/>
          <p:cNvGrpSpPr/>
          <p:nvPr/>
        </p:nvGrpSpPr>
        <p:grpSpPr>
          <a:xfrm rot="0">
            <a:off x="16047720" y="9646920"/>
            <a:ext cx="420624" cy="420624"/>
            <a:chOff x="0" y="0"/>
            <a:chExt cx="560832" cy="560832"/>
          </a:xfrm>
        </p:grpSpPr>
        <p:sp>
          <p:nvSpPr>
            <p:cNvPr name="Freeform 88" id="88"/>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89" id="89"/>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txBody>
            <a:bodyPr/>
            <a:p/>
          </p:txBody>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grpSp>
        <p:nvGrpSpPr>
          <p:cNvPr name="Group 7" id="7"/>
          <p:cNvGrpSpPr/>
          <p:nvPr/>
        </p:nvGrpSpPr>
        <p:grpSpPr>
          <a:xfrm rot="0">
            <a:off x="822960" y="2331720"/>
            <a:ext cx="16637508" cy="1234440"/>
            <a:chOff x="0" y="0"/>
            <a:chExt cx="22183344" cy="1645920"/>
          </a:xfrm>
        </p:grpSpPr>
        <p:sp>
          <p:nvSpPr>
            <p:cNvPr name="Freeform 8" id="8"/>
            <p:cNvSpPr/>
            <p:nvPr/>
          </p:nvSpPr>
          <p:spPr>
            <a:xfrm flipH="false" flipV="false" rot="0">
              <a:off x="0" y="0"/>
              <a:ext cx="22183344" cy="1645920"/>
            </a:xfrm>
            <a:custGeom>
              <a:avLst/>
              <a:gdLst/>
              <a:ahLst/>
              <a:cxnLst/>
              <a:rect r="r" b="b" t="t" l="l"/>
              <a:pathLst>
                <a:path h="1645920" w="22183344">
                  <a:moveTo>
                    <a:pt x="0" y="182880"/>
                  </a:moveTo>
                  <a:cubicBezTo>
                    <a:pt x="0" y="81915"/>
                    <a:pt x="81915" y="0"/>
                    <a:pt x="182880" y="0"/>
                  </a:cubicBezTo>
                  <a:lnTo>
                    <a:pt x="22000463" y="0"/>
                  </a:lnTo>
                  <a:cubicBezTo>
                    <a:pt x="22101428" y="0"/>
                    <a:pt x="22183344" y="81915"/>
                    <a:pt x="22183344" y="182880"/>
                  </a:cubicBezTo>
                  <a:lnTo>
                    <a:pt x="22183344" y="1463040"/>
                  </a:lnTo>
                  <a:cubicBezTo>
                    <a:pt x="22183344" y="1564005"/>
                    <a:pt x="22101428" y="1645920"/>
                    <a:pt x="22000463" y="1645920"/>
                  </a:cubicBezTo>
                  <a:lnTo>
                    <a:pt x="182880" y="1645920"/>
                  </a:lnTo>
                  <a:cubicBezTo>
                    <a:pt x="81915" y="1645920"/>
                    <a:pt x="0" y="1564005"/>
                    <a:pt x="0" y="1463040"/>
                  </a:cubicBezTo>
                  <a:close/>
                </a:path>
              </a:pathLst>
            </a:custGeom>
            <a:solidFill>
              <a:srgbClr val="0B5E6E"/>
            </a:solidFill>
          </p:spPr>
          <p:txBody>
            <a:bodyPr/>
            <a:p/>
          </p:txBody>
        </p:sp>
      </p:grpSp>
      <p:grpSp>
        <p:nvGrpSpPr>
          <p:cNvPr name="Group 9" id="9"/>
          <p:cNvGrpSpPr/>
          <p:nvPr/>
        </p:nvGrpSpPr>
        <p:grpSpPr>
          <a:xfrm rot="0">
            <a:off x="1234440" y="2331720"/>
            <a:ext cx="15814548" cy="1234440"/>
            <a:chOff x="0" y="0"/>
            <a:chExt cx="21086064" cy="1645920"/>
          </a:xfrm>
        </p:grpSpPr>
        <p:sp>
          <p:nvSpPr>
            <p:cNvPr name="Freeform 10" id="10"/>
            <p:cNvSpPr/>
            <p:nvPr/>
          </p:nvSpPr>
          <p:spPr>
            <a:xfrm flipH="false" flipV="false" rot="0">
              <a:off x="0" y="0"/>
              <a:ext cx="21086065" cy="1645920"/>
            </a:xfrm>
            <a:custGeom>
              <a:avLst/>
              <a:gdLst/>
              <a:ahLst/>
              <a:cxnLst/>
              <a:rect r="r" b="b" t="t" l="l"/>
              <a:pathLst>
                <a:path h="1645920" w="21086065">
                  <a:moveTo>
                    <a:pt x="0" y="0"/>
                  </a:moveTo>
                  <a:lnTo>
                    <a:pt x="21086065" y="0"/>
                  </a:lnTo>
                  <a:lnTo>
                    <a:pt x="21086065" y="1645920"/>
                  </a:lnTo>
                  <a:lnTo>
                    <a:pt x="0" y="1645920"/>
                  </a:lnTo>
                  <a:close/>
                </a:path>
              </a:pathLst>
            </a:custGeom>
            <a:blipFill>
              <a:blip r:embed="rId4">
                <a:alphaModFix amt="0"/>
              </a:blip>
              <a:stretch>
                <a:fillRect l="0" t="-199624" r="0" b="-199624"/>
              </a:stretch>
            </a:blipFill>
          </p:spPr>
          <p:txBody>
            <a:bodyPr/>
            <a:p/>
          </p:txBody>
        </p:sp>
        <p:sp>
          <p:nvSpPr>
            <p:cNvPr name="TextBox 11" id="11"/>
            <p:cNvSpPr txBox="true"/>
            <p:nvPr/>
          </p:nvSpPr>
          <p:spPr>
            <a:xfrm>
              <a:off x="0" y="-47625"/>
              <a:ext cx="21086064" cy="1693545"/>
            </a:xfrm>
            <a:prstGeom prst="rect">
              <a:avLst/>
            </a:prstGeom>
          </p:spPr>
          <p:txBody>
            <a:bodyPr anchor="ctr" rtlCol="false" tIns="0" lIns="0" bIns="0" rIns="0"/>
            <a:lstStyle/>
            <a:p>
              <a:pPr algn="l">
                <a:lnSpc>
                  <a:spcPts val="2610"/>
                </a:lnSpc>
              </a:pPr>
              <a:r>
                <a:rPr lang="en-US" sz="2175">
                  <a:solidFill>
                    <a:srgbClr val="FFFFFF"/>
                  </a:solidFill>
                  <a:latin typeface="Calibri (MS)"/>
                  <a:ea typeface="Calibri (MS)"/>
                  <a:cs typeface="Calibri (MS)"/>
                  <a:sym typeface="Calibri (MS)"/>
                </a:rPr>
                <a:t>Tujuan umum: mengembangkan dan memvalidasi model sistem dinamis pariwisata yang memanfaatkan citra satelit untuk memperbarui data, sebagai dasar simulasi kebijakan pariwisata di Provinsi DIY.</a:t>
              </a:r>
            </a:p>
          </p:txBody>
        </p:sp>
      </p:grpSp>
      <p:grpSp>
        <p:nvGrpSpPr>
          <p:cNvPr name="Group 12" id="12"/>
          <p:cNvGrpSpPr/>
          <p:nvPr/>
        </p:nvGrpSpPr>
        <p:grpSpPr>
          <a:xfrm rot="0">
            <a:off x="891540" y="4197096"/>
            <a:ext cx="685800" cy="685800"/>
            <a:chOff x="0" y="0"/>
            <a:chExt cx="914400" cy="914400"/>
          </a:xfrm>
        </p:grpSpPr>
        <p:sp>
          <p:nvSpPr>
            <p:cNvPr name="Freeform 13" id="1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14" id="14"/>
          <p:cNvGrpSpPr/>
          <p:nvPr/>
        </p:nvGrpSpPr>
        <p:grpSpPr>
          <a:xfrm rot="0">
            <a:off x="891540" y="4197096"/>
            <a:ext cx="685800" cy="685800"/>
            <a:chOff x="0" y="0"/>
            <a:chExt cx="914400" cy="914400"/>
          </a:xfrm>
        </p:grpSpPr>
        <p:sp>
          <p:nvSpPr>
            <p:cNvPr name="Freeform 15" id="15"/>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03" t="0" r="-78303" b="0"/>
              </a:stretch>
            </a:blipFill>
          </p:spPr>
          <p:txBody>
            <a:bodyPr/>
            <a:p/>
          </p:txBody>
        </p:sp>
        <p:sp>
          <p:nvSpPr>
            <p:cNvPr name="TextBox 16" id="16"/>
            <p:cNvSpPr txBox="true"/>
            <p:nvPr/>
          </p:nvSpPr>
          <p:spPr>
            <a:xfrm>
              <a:off x="0" y="-38100"/>
              <a:ext cx="914400" cy="95250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1</a:t>
              </a:r>
            </a:p>
          </p:txBody>
        </p:sp>
      </p:grpSp>
      <p:grpSp>
        <p:nvGrpSpPr>
          <p:cNvPr name="Group 17" id="17"/>
          <p:cNvGrpSpPr/>
          <p:nvPr/>
        </p:nvGrpSpPr>
        <p:grpSpPr>
          <a:xfrm rot="0">
            <a:off x="1851660" y="3909060"/>
            <a:ext cx="7269480" cy="1234440"/>
            <a:chOff x="0" y="0"/>
            <a:chExt cx="9692640" cy="1645920"/>
          </a:xfrm>
        </p:grpSpPr>
        <p:sp>
          <p:nvSpPr>
            <p:cNvPr name="Freeform 18" id="18"/>
            <p:cNvSpPr/>
            <p:nvPr/>
          </p:nvSpPr>
          <p:spPr>
            <a:xfrm flipH="false" flipV="false" rot="0">
              <a:off x="0" y="0"/>
              <a:ext cx="9692640" cy="1645920"/>
            </a:xfrm>
            <a:custGeom>
              <a:avLst/>
              <a:gdLst/>
              <a:ahLst/>
              <a:cxnLst/>
              <a:rect r="r" b="b" t="t" l="l"/>
              <a:pathLst>
                <a:path h="1645920" w="9692640">
                  <a:moveTo>
                    <a:pt x="0" y="143123"/>
                  </a:moveTo>
                  <a:cubicBezTo>
                    <a:pt x="0" y="64107"/>
                    <a:pt x="81915" y="0"/>
                    <a:pt x="182880" y="0"/>
                  </a:cubicBezTo>
                  <a:lnTo>
                    <a:pt x="9509760" y="0"/>
                  </a:lnTo>
                  <a:cubicBezTo>
                    <a:pt x="9610725" y="0"/>
                    <a:pt x="9692640" y="64107"/>
                    <a:pt x="9692640" y="143123"/>
                  </a:cubicBezTo>
                  <a:lnTo>
                    <a:pt x="9692640" y="1502797"/>
                  </a:lnTo>
                  <a:cubicBezTo>
                    <a:pt x="9692640" y="1581813"/>
                    <a:pt x="9610725" y="1645920"/>
                    <a:pt x="9509760" y="1645920"/>
                  </a:cubicBezTo>
                  <a:lnTo>
                    <a:pt x="182880" y="1645920"/>
                  </a:lnTo>
                  <a:cubicBezTo>
                    <a:pt x="81915" y="1645920"/>
                    <a:pt x="0" y="1581813"/>
                    <a:pt x="0" y="1502797"/>
                  </a:cubicBezTo>
                  <a:close/>
                </a:path>
              </a:pathLst>
            </a:custGeom>
            <a:solidFill>
              <a:srgbClr val="F4D3CF"/>
            </a:solidFill>
          </p:spPr>
          <p:txBody>
            <a:bodyPr/>
            <a:p/>
          </p:txBody>
        </p:sp>
      </p:grpSp>
      <p:sp>
        <p:nvSpPr>
          <p:cNvPr name="TextBox 19" id="19"/>
          <p:cNvSpPr txBox="true"/>
          <p:nvPr/>
        </p:nvSpPr>
        <p:spPr>
          <a:xfrm rot="0">
            <a:off x="2125980" y="4008120"/>
            <a:ext cx="4114800" cy="3398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MASALAH 1</a:t>
            </a:r>
          </a:p>
        </p:txBody>
      </p:sp>
      <p:sp>
        <p:nvSpPr>
          <p:cNvPr name="TextBox 20" id="20"/>
          <p:cNvSpPr txBox="true"/>
          <p:nvPr/>
        </p:nvSpPr>
        <p:spPr>
          <a:xfrm rot="0">
            <a:off x="2125980" y="4323588"/>
            <a:ext cx="678942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Belum tersedia variabel penyusun CLD untuk model sistem dinamis kebijakan pariwisata DIY.</a:t>
            </a:r>
          </a:p>
        </p:txBody>
      </p:sp>
      <p:grpSp>
        <p:nvGrpSpPr>
          <p:cNvPr name="Group 21" id="21"/>
          <p:cNvGrpSpPr/>
          <p:nvPr/>
        </p:nvGrpSpPr>
        <p:grpSpPr>
          <a:xfrm rot="0">
            <a:off x="10012680" y="3909060"/>
            <a:ext cx="7447788" cy="1234440"/>
            <a:chOff x="0" y="0"/>
            <a:chExt cx="9930384" cy="1645920"/>
          </a:xfrm>
        </p:grpSpPr>
        <p:sp>
          <p:nvSpPr>
            <p:cNvPr name="Freeform 22" id="22"/>
            <p:cNvSpPr/>
            <p:nvPr/>
          </p:nvSpPr>
          <p:spPr>
            <a:xfrm flipH="false" flipV="false" rot="0">
              <a:off x="0" y="0"/>
              <a:ext cx="9930385" cy="1645920"/>
            </a:xfrm>
            <a:custGeom>
              <a:avLst/>
              <a:gdLst/>
              <a:ahLst/>
              <a:cxnLst/>
              <a:rect r="r" b="b" t="t" l="l"/>
              <a:pathLst>
                <a:path h="1645920" w="9930385">
                  <a:moveTo>
                    <a:pt x="0" y="143123"/>
                  </a:moveTo>
                  <a:cubicBezTo>
                    <a:pt x="0" y="64107"/>
                    <a:pt x="81915" y="0"/>
                    <a:pt x="182880" y="0"/>
                  </a:cubicBezTo>
                  <a:lnTo>
                    <a:pt x="9747504" y="0"/>
                  </a:lnTo>
                  <a:cubicBezTo>
                    <a:pt x="9848469" y="0"/>
                    <a:pt x="9930385" y="64107"/>
                    <a:pt x="9930385" y="143123"/>
                  </a:cubicBezTo>
                  <a:lnTo>
                    <a:pt x="9930385" y="1502797"/>
                  </a:lnTo>
                  <a:cubicBezTo>
                    <a:pt x="9930385" y="1581813"/>
                    <a:pt x="9848469" y="1645920"/>
                    <a:pt x="9747504" y="1645920"/>
                  </a:cubicBezTo>
                  <a:lnTo>
                    <a:pt x="182880" y="1645920"/>
                  </a:lnTo>
                  <a:cubicBezTo>
                    <a:pt x="81915" y="1645920"/>
                    <a:pt x="0" y="1581813"/>
                    <a:pt x="0" y="1502797"/>
                  </a:cubicBezTo>
                  <a:close/>
                </a:path>
              </a:pathLst>
            </a:custGeom>
            <a:solidFill>
              <a:srgbClr val="EAF8FA"/>
            </a:solidFill>
          </p:spPr>
          <p:txBody>
            <a:bodyPr/>
            <a:p/>
          </p:txBody>
        </p:sp>
      </p:grpSp>
      <p:sp>
        <p:nvSpPr>
          <p:cNvPr name="TextBox 23" id="23"/>
          <p:cNvSpPr txBox="true"/>
          <p:nvPr/>
        </p:nvSpPr>
        <p:spPr>
          <a:xfrm rot="0">
            <a:off x="10287000" y="4008120"/>
            <a:ext cx="4114800" cy="339852"/>
          </a:xfrm>
          <a:prstGeom prst="rect">
            <a:avLst/>
          </a:prstGeom>
        </p:spPr>
        <p:txBody>
          <a:bodyPr anchor="t" rtlCol="false" tIns="0" lIns="0" bIns="0" rIns="0">
            <a:spAutoFit/>
          </a:bodyPr>
          <a:lstStyle/>
          <a:p>
            <a:pPr algn="l">
              <a:lnSpc>
                <a:spcPts val="1800"/>
              </a:lnSpc>
            </a:pPr>
            <a:r>
              <a:rPr lang="en-US" sz="1500" b="true">
                <a:solidFill>
                  <a:srgbClr val="0B5E6E"/>
                </a:solidFill>
                <a:latin typeface="Calibri (MS) Bold"/>
                <a:ea typeface="Calibri (MS) Bold"/>
                <a:cs typeface="Calibri (MS) Bold"/>
                <a:sym typeface="Calibri (MS) Bold"/>
              </a:rPr>
              <a:t>TUJUAN 1</a:t>
            </a:r>
          </a:p>
        </p:txBody>
      </p:sp>
      <p:sp>
        <p:nvSpPr>
          <p:cNvPr name="TextBox 24" id="24"/>
          <p:cNvSpPr txBox="true"/>
          <p:nvPr/>
        </p:nvSpPr>
        <p:spPr>
          <a:xfrm rot="0">
            <a:off x="10287000" y="4323588"/>
            <a:ext cx="692658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Mengidentifikasi dan merumuskan variabel-variabel utama penyusun CLD.</a:t>
            </a:r>
          </a:p>
        </p:txBody>
      </p:sp>
      <p:grpSp>
        <p:nvGrpSpPr>
          <p:cNvPr name="Group 25" id="25"/>
          <p:cNvGrpSpPr/>
          <p:nvPr/>
        </p:nvGrpSpPr>
        <p:grpSpPr>
          <a:xfrm rot="0">
            <a:off x="891540" y="5634228"/>
            <a:ext cx="685800" cy="685800"/>
            <a:chOff x="0" y="0"/>
            <a:chExt cx="914400" cy="914400"/>
          </a:xfrm>
        </p:grpSpPr>
        <p:sp>
          <p:nvSpPr>
            <p:cNvPr name="Freeform 26" id="2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27" id="27"/>
          <p:cNvGrpSpPr/>
          <p:nvPr/>
        </p:nvGrpSpPr>
        <p:grpSpPr>
          <a:xfrm rot="0">
            <a:off x="891540" y="5634228"/>
            <a:ext cx="685800" cy="685800"/>
            <a:chOff x="0" y="0"/>
            <a:chExt cx="914400" cy="914400"/>
          </a:xfrm>
        </p:grpSpPr>
        <p:sp>
          <p:nvSpPr>
            <p:cNvPr name="Freeform 28" id="2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03" t="0" r="-78303" b="0"/>
              </a:stretch>
            </a:blipFill>
          </p:spPr>
          <p:txBody>
            <a:bodyPr/>
            <a:p/>
          </p:txBody>
        </p:sp>
        <p:sp>
          <p:nvSpPr>
            <p:cNvPr name="TextBox 29" id="29"/>
            <p:cNvSpPr txBox="true"/>
            <p:nvPr/>
          </p:nvSpPr>
          <p:spPr>
            <a:xfrm>
              <a:off x="0" y="-38100"/>
              <a:ext cx="914400" cy="95250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2</a:t>
              </a:r>
            </a:p>
          </p:txBody>
        </p:sp>
      </p:grpSp>
      <p:grpSp>
        <p:nvGrpSpPr>
          <p:cNvPr name="Group 30" id="30"/>
          <p:cNvGrpSpPr/>
          <p:nvPr/>
        </p:nvGrpSpPr>
        <p:grpSpPr>
          <a:xfrm rot="0">
            <a:off x="1851660" y="5295900"/>
            <a:ext cx="7269480" cy="1449705"/>
            <a:chOff x="0" y="0"/>
            <a:chExt cx="9692640" cy="1932940"/>
          </a:xfrm>
        </p:grpSpPr>
        <p:sp>
          <p:nvSpPr>
            <p:cNvPr name="Freeform 31" id="31"/>
            <p:cNvSpPr/>
            <p:nvPr/>
          </p:nvSpPr>
          <p:spPr>
            <a:xfrm flipH="false" flipV="false" rot="0">
              <a:off x="0" y="0"/>
              <a:ext cx="9692640" cy="1932940"/>
            </a:xfrm>
            <a:custGeom>
              <a:avLst/>
              <a:gdLst/>
              <a:ahLst/>
              <a:cxnLst/>
              <a:rect r="r" b="b" t="t" l="l"/>
              <a:pathLst>
                <a:path h="1932940" w="9692640">
                  <a:moveTo>
                    <a:pt x="0" y="168082"/>
                  </a:moveTo>
                  <a:cubicBezTo>
                    <a:pt x="0" y="75287"/>
                    <a:pt x="81915" y="0"/>
                    <a:pt x="182880" y="0"/>
                  </a:cubicBezTo>
                  <a:lnTo>
                    <a:pt x="9509760" y="0"/>
                  </a:lnTo>
                  <a:cubicBezTo>
                    <a:pt x="9610725" y="0"/>
                    <a:pt x="9692640" y="75287"/>
                    <a:pt x="9692640" y="168082"/>
                  </a:cubicBezTo>
                  <a:lnTo>
                    <a:pt x="9692640" y="1764858"/>
                  </a:lnTo>
                  <a:cubicBezTo>
                    <a:pt x="9692640" y="1857653"/>
                    <a:pt x="9610725" y="1932940"/>
                    <a:pt x="9509760" y="1932940"/>
                  </a:cubicBezTo>
                  <a:lnTo>
                    <a:pt x="182880" y="1932940"/>
                  </a:lnTo>
                  <a:cubicBezTo>
                    <a:pt x="81915" y="1932940"/>
                    <a:pt x="0" y="1857653"/>
                    <a:pt x="0" y="1764858"/>
                  </a:cubicBezTo>
                  <a:close/>
                </a:path>
              </a:pathLst>
            </a:custGeom>
            <a:solidFill>
              <a:srgbClr val="F4D3CF"/>
            </a:solidFill>
          </p:spPr>
          <p:txBody>
            <a:bodyPr/>
            <a:p/>
          </p:txBody>
        </p:sp>
      </p:grpSp>
      <p:sp>
        <p:nvSpPr>
          <p:cNvPr name="TextBox 32" id="32"/>
          <p:cNvSpPr txBox="true"/>
          <p:nvPr/>
        </p:nvSpPr>
        <p:spPr>
          <a:xfrm rot="0">
            <a:off x="2125980" y="5394960"/>
            <a:ext cx="4114800" cy="3398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MASALAH 2</a:t>
            </a:r>
          </a:p>
        </p:txBody>
      </p:sp>
      <p:sp>
        <p:nvSpPr>
          <p:cNvPr name="TextBox 33" id="33"/>
          <p:cNvSpPr txBox="true"/>
          <p:nvPr/>
        </p:nvSpPr>
        <p:spPr>
          <a:xfrm rot="0">
            <a:off x="2125980" y="5710428"/>
            <a:ext cx="678942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Belum tersedia model simulasi sistem dinamis yang menggunakan citra satelit dan statistik resmi untuk perumusan kebijakan.</a:t>
            </a:r>
          </a:p>
        </p:txBody>
      </p:sp>
      <p:grpSp>
        <p:nvGrpSpPr>
          <p:cNvPr name="Group 34" id="34"/>
          <p:cNvGrpSpPr/>
          <p:nvPr/>
        </p:nvGrpSpPr>
        <p:grpSpPr>
          <a:xfrm rot="0">
            <a:off x="10012680" y="5295900"/>
            <a:ext cx="7447788" cy="1449705"/>
            <a:chOff x="0" y="0"/>
            <a:chExt cx="9930384" cy="1932940"/>
          </a:xfrm>
        </p:grpSpPr>
        <p:sp>
          <p:nvSpPr>
            <p:cNvPr name="Freeform 35" id="35"/>
            <p:cNvSpPr/>
            <p:nvPr/>
          </p:nvSpPr>
          <p:spPr>
            <a:xfrm flipH="false" flipV="false" rot="0">
              <a:off x="0" y="0"/>
              <a:ext cx="9930385" cy="1932940"/>
            </a:xfrm>
            <a:custGeom>
              <a:avLst/>
              <a:gdLst/>
              <a:ahLst/>
              <a:cxnLst/>
              <a:rect r="r" b="b" t="t" l="l"/>
              <a:pathLst>
                <a:path h="1932940" w="9930385">
                  <a:moveTo>
                    <a:pt x="0" y="168082"/>
                  </a:moveTo>
                  <a:cubicBezTo>
                    <a:pt x="0" y="75287"/>
                    <a:pt x="81915" y="0"/>
                    <a:pt x="182880" y="0"/>
                  </a:cubicBezTo>
                  <a:lnTo>
                    <a:pt x="9747504" y="0"/>
                  </a:lnTo>
                  <a:cubicBezTo>
                    <a:pt x="9848469" y="0"/>
                    <a:pt x="9930385" y="75287"/>
                    <a:pt x="9930385" y="168082"/>
                  </a:cubicBezTo>
                  <a:lnTo>
                    <a:pt x="9930385" y="1764858"/>
                  </a:lnTo>
                  <a:cubicBezTo>
                    <a:pt x="9930385" y="1857653"/>
                    <a:pt x="9848469" y="1932940"/>
                    <a:pt x="9747504" y="1932940"/>
                  </a:cubicBezTo>
                  <a:lnTo>
                    <a:pt x="182880" y="1932940"/>
                  </a:lnTo>
                  <a:cubicBezTo>
                    <a:pt x="81915" y="1932940"/>
                    <a:pt x="0" y="1857653"/>
                    <a:pt x="0" y="1764858"/>
                  </a:cubicBezTo>
                  <a:close/>
                </a:path>
              </a:pathLst>
            </a:custGeom>
            <a:solidFill>
              <a:srgbClr val="EAF8FA"/>
            </a:solidFill>
          </p:spPr>
          <p:txBody>
            <a:bodyPr/>
            <a:p/>
          </p:txBody>
        </p:sp>
      </p:grpSp>
      <p:sp>
        <p:nvSpPr>
          <p:cNvPr name="TextBox 36" id="36"/>
          <p:cNvSpPr txBox="true"/>
          <p:nvPr/>
        </p:nvSpPr>
        <p:spPr>
          <a:xfrm rot="0">
            <a:off x="10287000" y="5394960"/>
            <a:ext cx="4114800" cy="339852"/>
          </a:xfrm>
          <a:prstGeom prst="rect">
            <a:avLst/>
          </a:prstGeom>
        </p:spPr>
        <p:txBody>
          <a:bodyPr anchor="t" rtlCol="false" tIns="0" lIns="0" bIns="0" rIns="0">
            <a:spAutoFit/>
          </a:bodyPr>
          <a:lstStyle/>
          <a:p>
            <a:pPr algn="l">
              <a:lnSpc>
                <a:spcPts val="1800"/>
              </a:lnSpc>
            </a:pPr>
            <a:r>
              <a:rPr lang="en-US" sz="1500" b="true">
                <a:solidFill>
                  <a:srgbClr val="0B5E6E"/>
                </a:solidFill>
                <a:latin typeface="Calibri (MS) Bold"/>
                <a:ea typeface="Calibri (MS) Bold"/>
                <a:cs typeface="Calibri (MS) Bold"/>
                <a:sym typeface="Calibri (MS) Bold"/>
              </a:rPr>
              <a:t>TUJUAN 2</a:t>
            </a:r>
          </a:p>
        </p:txBody>
      </p:sp>
      <p:sp>
        <p:nvSpPr>
          <p:cNvPr name="TextBox 37" id="37"/>
          <p:cNvSpPr txBox="true"/>
          <p:nvPr/>
        </p:nvSpPr>
        <p:spPr>
          <a:xfrm rot="0">
            <a:off x="10287000" y="5710428"/>
            <a:ext cx="6926580" cy="89535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Mengembangkan model SD yang memanfaatkan citra satelit untuk memperbarui variabel yang datanya terlambat tersedia, lalu menguji validitas struktur dan kesesuaiannya dengan data historis.</a:t>
            </a:r>
          </a:p>
        </p:txBody>
      </p:sp>
      <p:grpSp>
        <p:nvGrpSpPr>
          <p:cNvPr name="Group 38" id="38"/>
          <p:cNvGrpSpPr/>
          <p:nvPr/>
        </p:nvGrpSpPr>
        <p:grpSpPr>
          <a:xfrm rot="0">
            <a:off x="891540" y="7138035"/>
            <a:ext cx="685800" cy="685800"/>
            <a:chOff x="0" y="0"/>
            <a:chExt cx="914400" cy="914400"/>
          </a:xfrm>
        </p:grpSpPr>
        <p:sp>
          <p:nvSpPr>
            <p:cNvPr name="Freeform 39" id="39"/>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40" id="40"/>
          <p:cNvGrpSpPr/>
          <p:nvPr/>
        </p:nvGrpSpPr>
        <p:grpSpPr>
          <a:xfrm rot="0">
            <a:off x="891540" y="7138035"/>
            <a:ext cx="685800" cy="685800"/>
            <a:chOff x="0" y="0"/>
            <a:chExt cx="914400" cy="914400"/>
          </a:xfrm>
        </p:grpSpPr>
        <p:sp>
          <p:nvSpPr>
            <p:cNvPr name="Freeform 41" id="41"/>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03" t="0" r="-78303" b="0"/>
              </a:stretch>
            </a:blipFill>
          </p:spPr>
          <p:txBody>
            <a:bodyPr/>
            <a:p/>
          </p:txBody>
        </p:sp>
        <p:sp>
          <p:nvSpPr>
            <p:cNvPr name="TextBox 42" id="42"/>
            <p:cNvSpPr txBox="true"/>
            <p:nvPr/>
          </p:nvSpPr>
          <p:spPr>
            <a:xfrm>
              <a:off x="0" y="-38100"/>
              <a:ext cx="914400" cy="95250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3</a:t>
              </a:r>
            </a:p>
          </p:txBody>
        </p:sp>
      </p:grpSp>
      <p:grpSp>
        <p:nvGrpSpPr>
          <p:cNvPr name="Group 43" id="43"/>
          <p:cNvGrpSpPr/>
          <p:nvPr/>
        </p:nvGrpSpPr>
        <p:grpSpPr>
          <a:xfrm rot="0">
            <a:off x="1851660" y="6898005"/>
            <a:ext cx="7269480" cy="1165860"/>
            <a:chOff x="0" y="0"/>
            <a:chExt cx="9692640" cy="1554480"/>
          </a:xfrm>
        </p:grpSpPr>
        <p:sp>
          <p:nvSpPr>
            <p:cNvPr name="Freeform 44" id="44"/>
            <p:cNvSpPr/>
            <p:nvPr/>
          </p:nvSpPr>
          <p:spPr>
            <a:xfrm flipH="false" flipV="false" rot="0">
              <a:off x="0" y="0"/>
              <a:ext cx="9692640" cy="1554480"/>
            </a:xfrm>
            <a:custGeom>
              <a:avLst/>
              <a:gdLst/>
              <a:ahLst/>
              <a:cxnLst/>
              <a:rect r="r" b="b" t="t" l="l"/>
              <a:pathLst>
                <a:path h="1554480" w="9692640">
                  <a:moveTo>
                    <a:pt x="0" y="135172"/>
                  </a:moveTo>
                  <a:cubicBezTo>
                    <a:pt x="0" y="60546"/>
                    <a:pt x="81915" y="0"/>
                    <a:pt x="182880" y="0"/>
                  </a:cubicBezTo>
                  <a:lnTo>
                    <a:pt x="9509760" y="0"/>
                  </a:lnTo>
                  <a:cubicBezTo>
                    <a:pt x="9610725" y="0"/>
                    <a:pt x="9692640" y="60546"/>
                    <a:pt x="9692640" y="135172"/>
                  </a:cubicBezTo>
                  <a:lnTo>
                    <a:pt x="9692640" y="1419308"/>
                  </a:lnTo>
                  <a:cubicBezTo>
                    <a:pt x="9692640" y="1493934"/>
                    <a:pt x="9610725" y="1554480"/>
                    <a:pt x="9509760" y="1554480"/>
                  </a:cubicBezTo>
                  <a:lnTo>
                    <a:pt x="182880" y="1554480"/>
                  </a:lnTo>
                  <a:cubicBezTo>
                    <a:pt x="81915" y="1554480"/>
                    <a:pt x="0" y="1493934"/>
                    <a:pt x="0" y="1419308"/>
                  </a:cubicBezTo>
                  <a:close/>
                </a:path>
              </a:pathLst>
            </a:custGeom>
            <a:solidFill>
              <a:srgbClr val="F4D3CF"/>
            </a:solidFill>
          </p:spPr>
          <p:txBody>
            <a:bodyPr/>
            <a:p/>
          </p:txBody>
        </p:sp>
      </p:grpSp>
      <p:sp>
        <p:nvSpPr>
          <p:cNvPr name="TextBox 45" id="45"/>
          <p:cNvSpPr txBox="true"/>
          <p:nvPr/>
        </p:nvSpPr>
        <p:spPr>
          <a:xfrm rot="0">
            <a:off x="2125980" y="6997065"/>
            <a:ext cx="4114800" cy="3398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MASALAH 3</a:t>
            </a:r>
          </a:p>
        </p:txBody>
      </p:sp>
      <p:sp>
        <p:nvSpPr>
          <p:cNvPr name="TextBox 46" id="46"/>
          <p:cNvSpPr txBox="true"/>
          <p:nvPr/>
        </p:nvSpPr>
        <p:spPr>
          <a:xfrm rot="0">
            <a:off x="2125980" y="7312533"/>
            <a:ext cx="678942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Belum ada aplikasi web yang mengimplementasikan hasil pemodelan dan simulasi skenario kebijakan di DIY.</a:t>
            </a:r>
          </a:p>
        </p:txBody>
      </p:sp>
      <p:grpSp>
        <p:nvGrpSpPr>
          <p:cNvPr name="Group 47" id="47"/>
          <p:cNvGrpSpPr/>
          <p:nvPr/>
        </p:nvGrpSpPr>
        <p:grpSpPr>
          <a:xfrm rot="0">
            <a:off x="10012680" y="6898005"/>
            <a:ext cx="7447788" cy="1165860"/>
            <a:chOff x="0" y="0"/>
            <a:chExt cx="9930384" cy="1554480"/>
          </a:xfrm>
        </p:grpSpPr>
        <p:sp>
          <p:nvSpPr>
            <p:cNvPr name="Freeform 48" id="48"/>
            <p:cNvSpPr/>
            <p:nvPr/>
          </p:nvSpPr>
          <p:spPr>
            <a:xfrm flipH="false" flipV="false" rot="0">
              <a:off x="0" y="0"/>
              <a:ext cx="9930385" cy="1554480"/>
            </a:xfrm>
            <a:custGeom>
              <a:avLst/>
              <a:gdLst/>
              <a:ahLst/>
              <a:cxnLst/>
              <a:rect r="r" b="b" t="t" l="l"/>
              <a:pathLst>
                <a:path h="1554480" w="9930385">
                  <a:moveTo>
                    <a:pt x="0" y="135172"/>
                  </a:moveTo>
                  <a:cubicBezTo>
                    <a:pt x="0" y="60546"/>
                    <a:pt x="81915" y="0"/>
                    <a:pt x="182880" y="0"/>
                  </a:cubicBezTo>
                  <a:lnTo>
                    <a:pt x="9747504" y="0"/>
                  </a:lnTo>
                  <a:cubicBezTo>
                    <a:pt x="9848469" y="0"/>
                    <a:pt x="9930385" y="60546"/>
                    <a:pt x="9930385" y="135172"/>
                  </a:cubicBezTo>
                  <a:lnTo>
                    <a:pt x="9930385" y="1419308"/>
                  </a:lnTo>
                  <a:cubicBezTo>
                    <a:pt x="9930385" y="1493934"/>
                    <a:pt x="9848469" y="1554480"/>
                    <a:pt x="9747504" y="1554480"/>
                  </a:cubicBezTo>
                  <a:lnTo>
                    <a:pt x="182880" y="1554480"/>
                  </a:lnTo>
                  <a:cubicBezTo>
                    <a:pt x="81915" y="1554480"/>
                    <a:pt x="0" y="1493934"/>
                    <a:pt x="0" y="1419308"/>
                  </a:cubicBezTo>
                  <a:close/>
                </a:path>
              </a:pathLst>
            </a:custGeom>
            <a:solidFill>
              <a:srgbClr val="EAF8FA"/>
            </a:solidFill>
          </p:spPr>
          <p:txBody>
            <a:bodyPr/>
            <a:p/>
          </p:txBody>
        </p:sp>
      </p:grpSp>
      <p:sp>
        <p:nvSpPr>
          <p:cNvPr name="TextBox 49" id="49"/>
          <p:cNvSpPr txBox="true"/>
          <p:nvPr/>
        </p:nvSpPr>
        <p:spPr>
          <a:xfrm rot="0">
            <a:off x="10287000" y="6997065"/>
            <a:ext cx="4114800" cy="339852"/>
          </a:xfrm>
          <a:prstGeom prst="rect">
            <a:avLst/>
          </a:prstGeom>
        </p:spPr>
        <p:txBody>
          <a:bodyPr anchor="t" rtlCol="false" tIns="0" lIns="0" bIns="0" rIns="0">
            <a:spAutoFit/>
          </a:bodyPr>
          <a:lstStyle/>
          <a:p>
            <a:pPr algn="l">
              <a:lnSpc>
                <a:spcPts val="1800"/>
              </a:lnSpc>
            </a:pPr>
            <a:r>
              <a:rPr lang="en-US" sz="1500" b="true">
                <a:solidFill>
                  <a:srgbClr val="0B5E6E"/>
                </a:solidFill>
                <a:latin typeface="Calibri (MS) Bold"/>
                <a:ea typeface="Calibri (MS) Bold"/>
                <a:cs typeface="Calibri (MS) Bold"/>
                <a:sym typeface="Calibri (MS) Bold"/>
              </a:rPr>
              <a:t>TUJUAN 3</a:t>
            </a:r>
          </a:p>
        </p:txBody>
      </p:sp>
      <p:sp>
        <p:nvSpPr>
          <p:cNvPr name="TextBox 50" id="50"/>
          <p:cNvSpPr txBox="true"/>
          <p:nvPr/>
        </p:nvSpPr>
        <p:spPr>
          <a:xfrm rot="0">
            <a:off x="10287000" y="7312533"/>
            <a:ext cx="692658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Membangun aplikasi berbasis web sebagai alat bantu analisis dan pengambilan keputusan.</a:t>
            </a:r>
          </a:p>
        </p:txBody>
      </p:sp>
      <p:sp>
        <p:nvSpPr>
          <p:cNvPr name="AutoShape 51" id="51"/>
          <p:cNvSpPr/>
          <p:nvPr/>
        </p:nvSpPr>
        <p:spPr>
          <a:xfrm>
            <a:off x="9121140" y="4526280"/>
            <a:ext cx="891540" cy="0"/>
          </a:xfrm>
          <a:prstGeom prst="line">
            <a:avLst/>
          </a:prstGeom>
          <a:ln cap="flat" w="38100">
            <a:solidFill>
              <a:srgbClr val="39C0D3"/>
            </a:solidFill>
            <a:prstDash val="solid"/>
            <a:headEnd type="none" len="sm" w="sm"/>
            <a:tailEnd type="triangle" len="med" w="lg"/>
          </a:ln>
        </p:spPr>
        <p:txBody>
          <a:bodyPr/>
          <a:p/>
        </p:txBody>
      </p:sp>
      <p:sp>
        <p:nvSpPr>
          <p:cNvPr name="AutoShape 52" id="52"/>
          <p:cNvSpPr/>
          <p:nvPr/>
        </p:nvSpPr>
        <p:spPr>
          <a:xfrm>
            <a:off x="9121140" y="6020752"/>
            <a:ext cx="891540" cy="0"/>
          </a:xfrm>
          <a:prstGeom prst="line">
            <a:avLst/>
          </a:prstGeom>
          <a:ln cap="flat" w="38100">
            <a:solidFill>
              <a:srgbClr val="39C0D3"/>
            </a:solidFill>
            <a:prstDash val="solid"/>
            <a:headEnd type="none" len="sm" w="sm"/>
            <a:tailEnd type="triangle" len="med" w="lg"/>
          </a:ln>
        </p:spPr>
        <p:txBody>
          <a:bodyPr/>
          <a:p/>
        </p:txBody>
      </p:sp>
      <p:sp>
        <p:nvSpPr>
          <p:cNvPr name="AutoShape 53" id="53"/>
          <p:cNvSpPr/>
          <p:nvPr/>
        </p:nvSpPr>
        <p:spPr>
          <a:xfrm>
            <a:off x="9121140" y="7480935"/>
            <a:ext cx="891540" cy="0"/>
          </a:xfrm>
          <a:prstGeom prst="line">
            <a:avLst/>
          </a:prstGeom>
          <a:ln cap="flat" w="38100">
            <a:solidFill>
              <a:srgbClr val="39C0D3"/>
            </a:solidFill>
            <a:prstDash val="solid"/>
            <a:headEnd type="none" len="sm" w="sm"/>
            <a:tailEnd type="triangle" len="med" w="lg"/>
          </a:ln>
        </p:spPr>
        <p:txBody>
          <a:bodyPr/>
          <a:p/>
        </p:txBody>
      </p:sp>
      <p:sp>
        <p:nvSpPr>
          <p:cNvPr name="TextBox 54" id="54"/>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Identifikasi Masalah dan Tujuan Penelitian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Tiga permasalahan dijawab oleh tiga tujuan penelitian</a:t>
            </a:r>
          </a:p>
        </p:txBody>
      </p:sp>
      <p:sp>
        <p:nvSpPr>
          <p:cNvPr name="TextBox 55" id="55"/>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a:t>
            </a:r>
          </a:p>
        </p:txBody>
      </p:sp>
      <p:grpSp>
        <p:nvGrpSpPr>
          <p:cNvPr name="Group 56" id="56"/>
          <p:cNvGrpSpPr/>
          <p:nvPr/>
        </p:nvGrpSpPr>
        <p:grpSpPr>
          <a:xfrm rot="0">
            <a:off x="16047720" y="9646920"/>
            <a:ext cx="420624" cy="420624"/>
            <a:chOff x="0" y="0"/>
            <a:chExt cx="560832" cy="560832"/>
          </a:xfrm>
        </p:grpSpPr>
        <p:sp>
          <p:nvSpPr>
            <p:cNvPr name="Freeform 57" id="57"/>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58" id="58"/>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grpSp>
        <p:nvGrpSpPr>
          <p:cNvPr name="Group 59" id="59"/>
          <p:cNvGrpSpPr/>
          <p:nvPr/>
        </p:nvGrpSpPr>
        <p:grpSpPr>
          <a:xfrm rot="0">
            <a:off x="822960" y="274320"/>
            <a:ext cx="2040922" cy="411480"/>
            <a:chOff x="0" y="0"/>
            <a:chExt cx="2721229" cy="548640"/>
          </a:xfrm>
        </p:grpSpPr>
        <p:sp>
          <p:nvSpPr>
            <p:cNvPr name="Freeform 60" id="60"/>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61" id="61"/>
          <p:cNvGrpSpPr/>
          <p:nvPr/>
        </p:nvGrpSpPr>
        <p:grpSpPr>
          <a:xfrm rot="0">
            <a:off x="822960" y="274320"/>
            <a:ext cx="2040941" cy="411480"/>
            <a:chOff x="0" y="0"/>
            <a:chExt cx="2721254" cy="548640"/>
          </a:xfrm>
        </p:grpSpPr>
        <p:sp>
          <p:nvSpPr>
            <p:cNvPr name="Freeform 62" id="62"/>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5">
                <a:alphaModFix amt="0"/>
              </a:blip>
              <a:stretch>
                <a:fillRect l="0" t="-46578" r="0" b="-46578"/>
              </a:stretch>
            </a:blipFill>
          </p:spPr>
          <p:txBody>
            <a:bodyPr/>
            <a:p/>
          </p:txBody>
        </p:sp>
      </p:grpSp>
      <p:grpSp>
        <p:nvGrpSpPr>
          <p:cNvPr name="Group 63" id="63"/>
          <p:cNvGrpSpPr/>
          <p:nvPr/>
        </p:nvGrpSpPr>
        <p:grpSpPr>
          <a:xfrm rot="0">
            <a:off x="822960" y="260033"/>
            <a:ext cx="2040941" cy="425768"/>
            <a:chOff x="0" y="0"/>
            <a:chExt cx="2721254" cy="567690"/>
          </a:xfrm>
        </p:grpSpPr>
        <p:sp>
          <p:nvSpPr>
            <p:cNvPr name="Freeform 64" id="64"/>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4">
                <a:alphaModFix amt="0"/>
              </a:blip>
              <a:stretch>
                <a:fillRect l="0" t="-43402" r="0" b="-43402"/>
              </a:stretch>
            </a:blipFill>
          </p:spPr>
          <p:txBody>
            <a:bodyPr/>
            <a:p/>
          </p:txBody>
        </p:sp>
        <p:sp>
          <p:nvSpPr>
            <p:cNvPr name="TextBox 65" id="65"/>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Pendahuluan</a:t>
              </a:r>
            </a:p>
          </p:txBody>
        </p:sp>
      </p:grpSp>
      <p:grpSp>
        <p:nvGrpSpPr>
          <p:cNvPr name="Group 66" id="66"/>
          <p:cNvGrpSpPr/>
          <p:nvPr/>
        </p:nvGrpSpPr>
        <p:grpSpPr>
          <a:xfrm rot="0">
            <a:off x="2973629" y="274320"/>
            <a:ext cx="2378392" cy="411480"/>
            <a:chOff x="0" y="0"/>
            <a:chExt cx="3171190" cy="548640"/>
          </a:xfrm>
        </p:grpSpPr>
        <p:sp>
          <p:nvSpPr>
            <p:cNvPr name="Freeform 67" id="67"/>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68" id="68"/>
          <p:cNvGrpSpPr/>
          <p:nvPr/>
        </p:nvGrpSpPr>
        <p:grpSpPr>
          <a:xfrm rot="0">
            <a:off x="2973629" y="274320"/>
            <a:ext cx="2378354" cy="411480"/>
            <a:chOff x="0" y="0"/>
            <a:chExt cx="3171139" cy="548640"/>
          </a:xfrm>
        </p:grpSpPr>
        <p:sp>
          <p:nvSpPr>
            <p:cNvPr name="Freeform 69" id="69"/>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5">
                <a:alphaModFix amt="0"/>
              </a:blip>
              <a:stretch>
                <a:fillRect l="0" t="-62546" r="1" b="-62543"/>
              </a:stretch>
            </a:blipFill>
          </p:spPr>
          <p:txBody>
            <a:bodyPr/>
            <a:p/>
          </p:txBody>
        </p:sp>
      </p:grpSp>
      <p:grpSp>
        <p:nvGrpSpPr>
          <p:cNvPr name="Group 70" id="70"/>
          <p:cNvGrpSpPr/>
          <p:nvPr/>
        </p:nvGrpSpPr>
        <p:grpSpPr>
          <a:xfrm rot="0">
            <a:off x="2973629" y="260033"/>
            <a:ext cx="2378354" cy="425768"/>
            <a:chOff x="0" y="0"/>
            <a:chExt cx="3171139" cy="567690"/>
          </a:xfrm>
        </p:grpSpPr>
        <p:sp>
          <p:nvSpPr>
            <p:cNvPr name="Freeform 71" id="71"/>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4">
                <a:alphaModFix amt="0"/>
              </a:blip>
              <a:stretch>
                <a:fillRect l="0" t="-58844" r="0" b="-58844"/>
              </a:stretch>
            </a:blipFill>
          </p:spPr>
          <p:txBody>
            <a:bodyPr/>
            <a:p/>
          </p:txBody>
        </p:sp>
        <p:sp>
          <p:nvSpPr>
            <p:cNvPr name="TextBox 72" id="72"/>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73" id="73"/>
          <p:cNvGrpSpPr/>
          <p:nvPr/>
        </p:nvGrpSpPr>
        <p:grpSpPr>
          <a:xfrm rot="0">
            <a:off x="5461711" y="274320"/>
            <a:ext cx="1591056" cy="411480"/>
            <a:chOff x="0" y="0"/>
            <a:chExt cx="2121408" cy="548640"/>
          </a:xfrm>
        </p:grpSpPr>
        <p:sp>
          <p:nvSpPr>
            <p:cNvPr name="Freeform 74" id="74"/>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75" id="75"/>
          <p:cNvGrpSpPr/>
          <p:nvPr/>
        </p:nvGrpSpPr>
        <p:grpSpPr>
          <a:xfrm rot="0">
            <a:off x="5461711" y="274320"/>
            <a:ext cx="1591056" cy="411480"/>
            <a:chOff x="0" y="0"/>
            <a:chExt cx="2121408" cy="548640"/>
          </a:xfrm>
        </p:grpSpPr>
        <p:sp>
          <p:nvSpPr>
            <p:cNvPr name="Freeform 76" id="76"/>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5">
                <a:alphaModFix amt="0"/>
              </a:blip>
              <a:stretch>
                <a:fillRect l="0" t="-25289" r="0" b="-25289"/>
              </a:stretch>
            </a:blipFill>
          </p:spPr>
          <p:txBody>
            <a:bodyPr/>
            <a:p/>
          </p:txBody>
        </p:sp>
      </p:grpSp>
      <p:grpSp>
        <p:nvGrpSpPr>
          <p:cNvPr name="Group 77" id="77"/>
          <p:cNvGrpSpPr/>
          <p:nvPr/>
        </p:nvGrpSpPr>
        <p:grpSpPr>
          <a:xfrm rot="0">
            <a:off x="5461711" y="260033"/>
            <a:ext cx="1591056" cy="425768"/>
            <a:chOff x="0" y="0"/>
            <a:chExt cx="2121408" cy="567690"/>
          </a:xfrm>
        </p:grpSpPr>
        <p:sp>
          <p:nvSpPr>
            <p:cNvPr name="Freeform 78" id="78"/>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4">
                <a:alphaModFix amt="0"/>
              </a:blip>
              <a:stretch>
                <a:fillRect l="0" t="-22813" r="0" b="-22813"/>
              </a:stretch>
            </a:blipFill>
          </p:spPr>
          <p:txBody>
            <a:bodyPr/>
            <a:p/>
          </p:txBody>
        </p:sp>
        <p:sp>
          <p:nvSpPr>
            <p:cNvPr name="TextBox 79" id="79"/>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80" id="80"/>
          <p:cNvGrpSpPr/>
          <p:nvPr/>
        </p:nvGrpSpPr>
        <p:grpSpPr>
          <a:xfrm rot="0">
            <a:off x="7162495" y="274320"/>
            <a:ext cx="2490788" cy="411480"/>
            <a:chOff x="0" y="0"/>
            <a:chExt cx="3321050" cy="548640"/>
          </a:xfrm>
        </p:grpSpPr>
        <p:sp>
          <p:nvSpPr>
            <p:cNvPr name="Freeform 81" id="81"/>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82" id="82"/>
          <p:cNvGrpSpPr/>
          <p:nvPr/>
        </p:nvGrpSpPr>
        <p:grpSpPr>
          <a:xfrm rot="0">
            <a:off x="7162495" y="274320"/>
            <a:ext cx="2490826" cy="411480"/>
            <a:chOff x="0" y="0"/>
            <a:chExt cx="3321101" cy="548640"/>
          </a:xfrm>
        </p:grpSpPr>
        <p:sp>
          <p:nvSpPr>
            <p:cNvPr name="Freeform 83" id="83"/>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5">
                <a:alphaModFix amt="0"/>
              </a:blip>
              <a:stretch>
                <a:fillRect l="0" t="-67868" r="-1" b="-67865"/>
              </a:stretch>
            </a:blipFill>
          </p:spPr>
          <p:txBody>
            <a:bodyPr/>
            <a:p/>
          </p:txBody>
        </p:sp>
      </p:grpSp>
      <p:grpSp>
        <p:nvGrpSpPr>
          <p:cNvPr name="Group 84" id="84"/>
          <p:cNvGrpSpPr/>
          <p:nvPr/>
        </p:nvGrpSpPr>
        <p:grpSpPr>
          <a:xfrm rot="0">
            <a:off x="7162495" y="260033"/>
            <a:ext cx="2490826" cy="425768"/>
            <a:chOff x="0" y="0"/>
            <a:chExt cx="3321101" cy="567690"/>
          </a:xfrm>
        </p:grpSpPr>
        <p:sp>
          <p:nvSpPr>
            <p:cNvPr name="Freeform 85" id="85"/>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4">
                <a:alphaModFix amt="0"/>
              </a:blip>
              <a:stretch>
                <a:fillRect l="0" t="-63991" r="0" b="-63991"/>
              </a:stretch>
            </a:blipFill>
          </p:spPr>
          <p:txBody>
            <a:bodyPr/>
            <a:p/>
          </p:txBody>
        </p:sp>
        <p:sp>
          <p:nvSpPr>
            <p:cNvPr name="TextBox 86" id="86"/>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87" id="87"/>
          <p:cNvGrpSpPr/>
          <p:nvPr/>
        </p:nvGrpSpPr>
        <p:grpSpPr>
          <a:xfrm rot="0">
            <a:off x="9763049" y="274320"/>
            <a:ext cx="1366076" cy="411480"/>
            <a:chOff x="0" y="0"/>
            <a:chExt cx="1821434" cy="548640"/>
          </a:xfrm>
        </p:grpSpPr>
        <p:sp>
          <p:nvSpPr>
            <p:cNvPr name="Freeform 88" id="88"/>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89" id="89"/>
          <p:cNvGrpSpPr/>
          <p:nvPr/>
        </p:nvGrpSpPr>
        <p:grpSpPr>
          <a:xfrm rot="0">
            <a:off x="9763049" y="274320"/>
            <a:ext cx="1366114" cy="411480"/>
            <a:chOff x="0" y="0"/>
            <a:chExt cx="1821485" cy="548640"/>
          </a:xfrm>
        </p:grpSpPr>
        <p:sp>
          <p:nvSpPr>
            <p:cNvPr name="Freeform 90" id="90"/>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5">
                <a:alphaModFix amt="0"/>
              </a:blip>
              <a:stretch>
                <a:fillRect l="0" t="-14645" r="-2" b="-14645"/>
              </a:stretch>
            </a:blipFill>
          </p:spPr>
          <p:txBody>
            <a:bodyPr/>
            <a:p/>
          </p:txBody>
        </p:sp>
      </p:grpSp>
      <p:grpSp>
        <p:nvGrpSpPr>
          <p:cNvPr name="Group 91" id="91"/>
          <p:cNvGrpSpPr/>
          <p:nvPr/>
        </p:nvGrpSpPr>
        <p:grpSpPr>
          <a:xfrm rot="0">
            <a:off x="9763049" y="260033"/>
            <a:ext cx="1366114" cy="425768"/>
            <a:chOff x="0" y="0"/>
            <a:chExt cx="1821485" cy="567690"/>
          </a:xfrm>
        </p:grpSpPr>
        <p:sp>
          <p:nvSpPr>
            <p:cNvPr name="Freeform 92" id="92"/>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4">
                <a:alphaModFix amt="0"/>
              </a:blip>
              <a:stretch>
                <a:fillRect l="0" t="-12519" r="0" b="-12519"/>
              </a:stretch>
            </a:blipFill>
          </p:spPr>
          <p:txBody>
            <a:bodyPr/>
            <a:p/>
          </p:txBody>
        </p:sp>
        <p:sp>
          <p:nvSpPr>
            <p:cNvPr name="TextBox 93" id="93"/>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94" id="94"/>
          <p:cNvGrpSpPr/>
          <p:nvPr/>
        </p:nvGrpSpPr>
        <p:grpSpPr>
          <a:xfrm rot="0">
            <a:off x="11238890" y="274320"/>
            <a:ext cx="1253680" cy="411480"/>
            <a:chOff x="0" y="0"/>
            <a:chExt cx="1671574" cy="548640"/>
          </a:xfrm>
        </p:grpSpPr>
        <p:sp>
          <p:nvSpPr>
            <p:cNvPr name="Freeform 95" id="95"/>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96" id="96"/>
          <p:cNvGrpSpPr/>
          <p:nvPr/>
        </p:nvGrpSpPr>
        <p:grpSpPr>
          <a:xfrm rot="0">
            <a:off x="11238890" y="274320"/>
            <a:ext cx="1253642" cy="411480"/>
            <a:chOff x="0" y="0"/>
            <a:chExt cx="1671523" cy="548640"/>
          </a:xfrm>
        </p:grpSpPr>
        <p:sp>
          <p:nvSpPr>
            <p:cNvPr name="Freeform 97" id="97"/>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5">
                <a:alphaModFix amt="0"/>
              </a:blip>
              <a:stretch>
                <a:fillRect l="0" t="-9324" r="3" b="-9321"/>
              </a:stretch>
            </a:blipFill>
          </p:spPr>
          <p:txBody>
            <a:bodyPr/>
            <a:p/>
          </p:txBody>
        </p:sp>
      </p:grpSp>
      <p:grpSp>
        <p:nvGrpSpPr>
          <p:cNvPr name="Group 98" id="98"/>
          <p:cNvGrpSpPr/>
          <p:nvPr/>
        </p:nvGrpSpPr>
        <p:grpSpPr>
          <a:xfrm rot="0">
            <a:off x="11238890" y="260033"/>
            <a:ext cx="1253642" cy="425768"/>
            <a:chOff x="0" y="0"/>
            <a:chExt cx="1671523" cy="567690"/>
          </a:xfrm>
        </p:grpSpPr>
        <p:sp>
          <p:nvSpPr>
            <p:cNvPr name="Freeform 99" id="99"/>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4">
                <a:alphaModFix amt="0"/>
              </a:blip>
              <a:stretch>
                <a:fillRect l="0" t="-7372" r="0" b="-7372"/>
              </a:stretch>
            </a:blipFill>
          </p:spPr>
          <p:txBody>
            <a:bodyPr/>
            <a:p/>
          </p:txBody>
        </p:sp>
        <p:sp>
          <p:nvSpPr>
            <p:cNvPr name="TextBox 100" id="100"/>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Batasan Masalah</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Model dipakai untuk membandingkan skenario, bukan untuk meramal angka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6" id="66"/>
          <p:cNvGrpSpPr/>
          <p:nvPr/>
        </p:nvGrpSpPr>
        <p:grpSpPr>
          <a:xfrm rot="0">
            <a:off x="822960" y="2331720"/>
            <a:ext cx="16637508" cy="1261872"/>
            <a:chOff x="0" y="0"/>
            <a:chExt cx="22183344" cy="1682496"/>
          </a:xfrm>
        </p:grpSpPr>
        <p:sp>
          <p:nvSpPr>
            <p:cNvPr name="Freeform 67" id="67"/>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txBody>
            <a:bodyPr/>
            <a:p/>
          </p:txBody>
        </p:sp>
      </p:grpSp>
      <p:grpSp>
        <p:nvGrpSpPr>
          <p:cNvPr name="Group 68" id="68"/>
          <p:cNvGrpSpPr/>
          <p:nvPr/>
        </p:nvGrpSpPr>
        <p:grpSpPr>
          <a:xfrm rot="0">
            <a:off x="1097280" y="2619756"/>
            <a:ext cx="685800" cy="685800"/>
            <a:chOff x="0" y="0"/>
            <a:chExt cx="914400" cy="914400"/>
          </a:xfrm>
        </p:grpSpPr>
        <p:sp>
          <p:nvSpPr>
            <p:cNvPr name="Freeform 69" id="69"/>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70" id="70"/>
          <p:cNvGrpSpPr/>
          <p:nvPr/>
        </p:nvGrpSpPr>
        <p:grpSpPr>
          <a:xfrm rot="0">
            <a:off x="1097280" y="2619756"/>
            <a:ext cx="685800" cy="685800"/>
            <a:chOff x="0" y="0"/>
            <a:chExt cx="914400" cy="914400"/>
          </a:xfrm>
        </p:grpSpPr>
        <p:sp>
          <p:nvSpPr>
            <p:cNvPr name="Freeform 71" id="71"/>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72" id="72"/>
          <p:cNvGrpSpPr/>
          <p:nvPr/>
        </p:nvGrpSpPr>
        <p:grpSpPr>
          <a:xfrm rot="0">
            <a:off x="1097280" y="2591181"/>
            <a:ext cx="685800" cy="714375"/>
            <a:chOff x="0" y="0"/>
            <a:chExt cx="914400" cy="952500"/>
          </a:xfrm>
        </p:grpSpPr>
        <p:sp>
          <p:nvSpPr>
            <p:cNvPr name="Freeform 73" id="73"/>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74" id="74"/>
          <p:cNvGrpSpPr/>
          <p:nvPr/>
        </p:nvGrpSpPr>
        <p:grpSpPr>
          <a:xfrm rot="0">
            <a:off x="1097280" y="2562606"/>
            <a:ext cx="685800" cy="742950"/>
            <a:chOff x="0" y="0"/>
            <a:chExt cx="914400" cy="990600"/>
          </a:xfrm>
        </p:grpSpPr>
        <p:sp>
          <p:nvSpPr>
            <p:cNvPr name="Freeform 75" id="75"/>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76" id="76"/>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77" id="77"/>
          <p:cNvGrpSpPr/>
          <p:nvPr/>
        </p:nvGrpSpPr>
        <p:grpSpPr>
          <a:xfrm rot="0">
            <a:off x="2125980" y="2331720"/>
            <a:ext cx="3566160" cy="1261872"/>
            <a:chOff x="0" y="0"/>
            <a:chExt cx="4754880" cy="1682496"/>
          </a:xfrm>
        </p:grpSpPr>
        <p:sp>
          <p:nvSpPr>
            <p:cNvPr name="Freeform 78" id="78"/>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txBody>
            <a:bodyPr/>
            <a:p/>
          </p:txBody>
        </p:sp>
      </p:grpSp>
      <p:grpSp>
        <p:nvGrpSpPr>
          <p:cNvPr name="Group 79" id="79"/>
          <p:cNvGrpSpPr/>
          <p:nvPr/>
        </p:nvGrpSpPr>
        <p:grpSpPr>
          <a:xfrm rot="0">
            <a:off x="2125980" y="2288858"/>
            <a:ext cx="3566160" cy="1304734"/>
            <a:chOff x="0" y="0"/>
            <a:chExt cx="4754880" cy="1739646"/>
          </a:xfrm>
        </p:grpSpPr>
        <p:sp>
          <p:nvSpPr>
            <p:cNvPr name="Freeform 80" id="80"/>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20" r="0" b="-3220"/>
              </a:stretch>
            </a:blipFill>
          </p:spPr>
          <p:txBody>
            <a:bodyPr/>
            <a:p/>
          </p:txBody>
        </p:sp>
      </p:grpSp>
      <p:grpSp>
        <p:nvGrpSpPr>
          <p:cNvPr name="Group 81" id="81"/>
          <p:cNvGrpSpPr/>
          <p:nvPr/>
        </p:nvGrpSpPr>
        <p:grpSpPr>
          <a:xfrm rot="0">
            <a:off x="2125980" y="2245995"/>
            <a:ext cx="3566160" cy="1347597"/>
            <a:chOff x="0" y="0"/>
            <a:chExt cx="4754880" cy="1796796"/>
          </a:xfrm>
        </p:grpSpPr>
        <p:sp>
          <p:nvSpPr>
            <p:cNvPr name="Freeform 82" id="82"/>
            <p:cNvSpPr/>
            <p:nvPr/>
          </p:nvSpPr>
          <p:spPr>
            <a:xfrm flipH="false" flipV="false" rot="0">
              <a:off x="0" y="0"/>
              <a:ext cx="4754880" cy="1796795"/>
            </a:xfrm>
            <a:custGeom>
              <a:avLst/>
              <a:gdLst/>
              <a:ahLst/>
              <a:cxnLst/>
              <a:rect r="r" b="b" t="t" l="l"/>
              <a:pathLst>
                <a:path h="1796795" w="4754880">
                  <a:moveTo>
                    <a:pt x="0" y="0"/>
                  </a:moveTo>
                  <a:lnTo>
                    <a:pt x="4754880" y="0"/>
                  </a:lnTo>
                  <a:lnTo>
                    <a:pt x="4754880" y="1796795"/>
                  </a:lnTo>
                  <a:lnTo>
                    <a:pt x="0" y="1796795"/>
                  </a:lnTo>
                  <a:close/>
                </a:path>
              </a:pathLst>
            </a:custGeom>
            <a:blipFill>
              <a:blip r:embed="rId6">
                <a:alphaModFix amt="0"/>
              </a:blip>
              <a:stretch>
                <a:fillRect l="0" t="-1563" r="0" b="-1563"/>
              </a:stretch>
            </a:blipFill>
          </p:spPr>
          <p:txBody>
            <a:bodyPr/>
            <a:p/>
          </p:txBody>
        </p:sp>
        <p:sp>
          <p:nvSpPr>
            <p:cNvPr name="TextBox 83" id="83"/>
            <p:cNvSpPr txBox="true"/>
            <p:nvPr/>
          </p:nvSpPr>
          <p:spPr>
            <a:xfrm>
              <a:off x="0" y="-57150"/>
              <a:ext cx="4754880" cy="185394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Wilayah &amp; periode</a:t>
              </a:r>
            </a:p>
          </p:txBody>
        </p:sp>
      </p:grpSp>
      <p:grpSp>
        <p:nvGrpSpPr>
          <p:cNvPr name="Group 84" id="84"/>
          <p:cNvGrpSpPr/>
          <p:nvPr/>
        </p:nvGrpSpPr>
        <p:grpSpPr>
          <a:xfrm rot="0">
            <a:off x="5760720" y="2331720"/>
            <a:ext cx="11452860" cy="1261872"/>
            <a:chOff x="0" y="0"/>
            <a:chExt cx="15270480" cy="1682496"/>
          </a:xfrm>
        </p:grpSpPr>
        <p:sp>
          <p:nvSpPr>
            <p:cNvPr name="Freeform 85" id="85"/>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txBody>
            <a:bodyPr/>
            <a:p/>
          </p:txBody>
        </p:sp>
      </p:grpSp>
      <p:grpSp>
        <p:nvGrpSpPr>
          <p:cNvPr name="Group 86" id="86"/>
          <p:cNvGrpSpPr/>
          <p:nvPr/>
        </p:nvGrpSpPr>
        <p:grpSpPr>
          <a:xfrm rot="0">
            <a:off x="5760720" y="2303145"/>
            <a:ext cx="11452860" cy="1290447"/>
            <a:chOff x="0" y="0"/>
            <a:chExt cx="15270480" cy="1720596"/>
          </a:xfrm>
        </p:grpSpPr>
        <p:sp>
          <p:nvSpPr>
            <p:cNvPr name="Freeform 87" id="87"/>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811" r="0" b="-122811"/>
              </a:stretch>
            </a:blipFill>
          </p:spPr>
          <p:txBody>
            <a:bodyPr/>
            <a:p/>
          </p:txBody>
        </p:sp>
      </p:grpSp>
      <p:grpSp>
        <p:nvGrpSpPr>
          <p:cNvPr name="Group 88" id="88"/>
          <p:cNvGrpSpPr/>
          <p:nvPr/>
        </p:nvGrpSpPr>
        <p:grpSpPr>
          <a:xfrm rot="0">
            <a:off x="5760720" y="2274570"/>
            <a:ext cx="11452860" cy="1319022"/>
            <a:chOff x="0" y="0"/>
            <a:chExt cx="15270480" cy="1758696"/>
          </a:xfrm>
        </p:grpSpPr>
        <p:sp>
          <p:nvSpPr>
            <p:cNvPr name="Freeform 89" id="89"/>
            <p:cNvSpPr/>
            <p:nvPr/>
          </p:nvSpPr>
          <p:spPr>
            <a:xfrm flipH="false" flipV="false" rot="0">
              <a:off x="0" y="0"/>
              <a:ext cx="15270480" cy="1758696"/>
            </a:xfrm>
            <a:custGeom>
              <a:avLst/>
              <a:gdLst/>
              <a:ahLst/>
              <a:cxnLst/>
              <a:rect r="r" b="b" t="t" l="l"/>
              <a:pathLst>
                <a:path h="1758696" w="15270480">
                  <a:moveTo>
                    <a:pt x="0" y="0"/>
                  </a:moveTo>
                  <a:lnTo>
                    <a:pt x="15270480" y="0"/>
                  </a:lnTo>
                  <a:lnTo>
                    <a:pt x="15270480" y="1758696"/>
                  </a:lnTo>
                  <a:lnTo>
                    <a:pt x="0" y="1758696"/>
                  </a:lnTo>
                  <a:close/>
                </a:path>
              </a:pathLst>
            </a:custGeom>
            <a:blipFill>
              <a:blip r:embed="rId6">
                <a:alphaModFix amt="0"/>
              </a:blip>
              <a:stretch>
                <a:fillRect l="0" t="-119185" r="0" b="-119185"/>
              </a:stretch>
            </a:blipFill>
          </p:spPr>
          <p:txBody>
            <a:bodyPr/>
            <a:p/>
          </p:txBody>
        </p:sp>
        <p:sp>
          <p:nvSpPr>
            <p:cNvPr name="TextBox 90" id="90"/>
            <p:cNvSpPr txBox="true"/>
            <p:nvPr/>
          </p:nvSpPr>
          <p:spPr>
            <a:xfrm>
              <a:off x="0" y="-38100"/>
              <a:ext cx="15270480" cy="17967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Provinsi DIY · kalibrasi data historis 2015–2025 · tahun dasar 2025, simulasi sampai 2050</a:t>
              </a:r>
            </a:p>
          </p:txBody>
        </p:sp>
      </p:grpSp>
      <p:grpSp>
        <p:nvGrpSpPr>
          <p:cNvPr name="Group 91" id="91"/>
          <p:cNvGrpSpPr/>
          <p:nvPr/>
        </p:nvGrpSpPr>
        <p:grpSpPr>
          <a:xfrm rot="0">
            <a:off x="822960" y="3730752"/>
            <a:ext cx="16637508" cy="1261872"/>
            <a:chOff x="0" y="0"/>
            <a:chExt cx="22183344" cy="1682496"/>
          </a:xfrm>
        </p:grpSpPr>
        <p:sp>
          <p:nvSpPr>
            <p:cNvPr name="Freeform 92" id="92"/>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txBody>
            <a:bodyPr/>
            <a:p/>
          </p:txBody>
        </p:sp>
      </p:grpSp>
      <p:grpSp>
        <p:nvGrpSpPr>
          <p:cNvPr name="Group 93" id="93"/>
          <p:cNvGrpSpPr/>
          <p:nvPr/>
        </p:nvGrpSpPr>
        <p:grpSpPr>
          <a:xfrm rot="0">
            <a:off x="1097280" y="4018788"/>
            <a:ext cx="685800" cy="685800"/>
            <a:chOff x="0" y="0"/>
            <a:chExt cx="914400" cy="914400"/>
          </a:xfrm>
        </p:grpSpPr>
        <p:sp>
          <p:nvSpPr>
            <p:cNvPr name="Freeform 94" id="9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95" id="95"/>
          <p:cNvGrpSpPr/>
          <p:nvPr/>
        </p:nvGrpSpPr>
        <p:grpSpPr>
          <a:xfrm rot="0">
            <a:off x="1097280" y="4018788"/>
            <a:ext cx="685800" cy="685800"/>
            <a:chOff x="0" y="0"/>
            <a:chExt cx="914400" cy="914400"/>
          </a:xfrm>
        </p:grpSpPr>
        <p:sp>
          <p:nvSpPr>
            <p:cNvPr name="Freeform 96" id="9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97" id="97"/>
          <p:cNvGrpSpPr/>
          <p:nvPr/>
        </p:nvGrpSpPr>
        <p:grpSpPr>
          <a:xfrm rot="0">
            <a:off x="1097280" y="3990213"/>
            <a:ext cx="685800" cy="714375"/>
            <a:chOff x="0" y="0"/>
            <a:chExt cx="914400" cy="952500"/>
          </a:xfrm>
        </p:grpSpPr>
        <p:sp>
          <p:nvSpPr>
            <p:cNvPr name="Freeform 98" id="9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99" id="99"/>
          <p:cNvGrpSpPr/>
          <p:nvPr/>
        </p:nvGrpSpPr>
        <p:grpSpPr>
          <a:xfrm rot="0">
            <a:off x="1097280" y="3961638"/>
            <a:ext cx="685800" cy="742950"/>
            <a:chOff x="0" y="0"/>
            <a:chExt cx="914400" cy="990600"/>
          </a:xfrm>
        </p:grpSpPr>
        <p:sp>
          <p:nvSpPr>
            <p:cNvPr name="Freeform 100" id="100"/>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101" id="101"/>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102" id="102"/>
          <p:cNvGrpSpPr/>
          <p:nvPr/>
        </p:nvGrpSpPr>
        <p:grpSpPr>
          <a:xfrm rot="0">
            <a:off x="2125980" y="3730752"/>
            <a:ext cx="3566160" cy="1261872"/>
            <a:chOff x="0" y="0"/>
            <a:chExt cx="4754880" cy="1682496"/>
          </a:xfrm>
        </p:grpSpPr>
        <p:sp>
          <p:nvSpPr>
            <p:cNvPr name="Freeform 103" id="103"/>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txBody>
            <a:bodyPr/>
            <a:p/>
          </p:txBody>
        </p:sp>
      </p:grpSp>
      <p:grpSp>
        <p:nvGrpSpPr>
          <p:cNvPr name="Group 104" id="104"/>
          <p:cNvGrpSpPr/>
          <p:nvPr/>
        </p:nvGrpSpPr>
        <p:grpSpPr>
          <a:xfrm rot="0">
            <a:off x="2125980" y="3687890"/>
            <a:ext cx="3566160" cy="1304734"/>
            <a:chOff x="0" y="0"/>
            <a:chExt cx="4754880" cy="1739646"/>
          </a:xfrm>
        </p:grpSpPr>
        <p:sp>
          <p:nvSpPr>
            <p:cNvPr name="Freeform 105" id="105"/>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20" r="0" b="-3220"/>
              </a:stretch>
            </a:blipFill>
          </p:spPr>
          <p:txBody>
            <a:bodyPr/>
            <a:p/>
          </p:txBody>
        </p:sp>
      </p:grpSp>
      <p:grpSp>
        <p:nvGrpSpPr>
          <p:cNvPr name="Group 106" id="106"/>
          <p:cNvGrpSpPr/>
          <p:nvPr/>
        </p:nvGrpSpPr>
        <p:grpSpPr>
          <a:xfrm rot="0">
            <a:off x="2125980" y="3645027"/>
            <a:ext cx="3566160" cy="1347597"/>
            <a:chOff x="0" y="0"/>
            <a:chExt cx="4754880" cy="1796796"/>
          </a:xfrm>
        </p:grpSpPr>
        <p:sp>
          <p:nvSpPr>
            <p:cNvPr name="Freeform 107" id="107"/>
            <p:cNvSpPr/>
            <p:nvPr/>
          </p:nvSpPr>
          <p:spPr>
            <a:xfrm flipH="false" flipV="false" rot="0">
              <a:off x="0" y="0"/>
              <a:ext cx="4754880" cy="1796795"/>
            </a:xfrm>
            <a:custGeom>
              <a:avLst/>
              <a:gdLst/>
              <a:ahLst/>
              <a:cxnLst/>
              <a:rect r="r" b="b" t="t" l="l"/>
              <a:pathLst>
                <a:path h="1796795" w="4754880">
                  <a:moveTo>
                    <a:pt x="0" y="0"/>
                  </a:moveTo>
                  <a:lnTo>
                    <a:pt x="4754880" y="0"/>
                  </a:lnTo>
                  <a:lnTo>
                    <a:pt x="4754880" y="1796795"/>
                  </a:lnTo>
                  <a:lnTo>
                    <a:pt x="0" y="1796795"/>
                  </a:lnTo>
                  <a:close/>
                </a:path>
              </a:pathLst>
            </a:custGeom>
            <a:blipFill>
              <a:blip r:embed="rId6">
                <a:alphaModFix amt="0"/>
              </a:blip>
              <a:stretch>
                <a:fillRect l="0" t="-1563" r="0" b="-1563"/>
              </a:stretch>
            </a:blipFill>
          </p:spPr>
          <p:txBody>
            <a:bodyPr/>
            <a:p/>
          </p:txBody>
        </p:sp>
        <p:sp>
          <p:nvSpPr>
            <p:cNvPr name="TextBox 108" id="108"/>
            <p:cNvSpPr txBox="true"/>
            <p:nvPr/>
          </p:nvSpPr>
          <p:spPr>
            <a:xfrm>
              <a:off x="0" y="-57150"/>
              <a:ext cx="4754880" cy="185394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Struktur model</a:t>
              </a:r>
            </a:p>
          </p:txBody>
        </p:sp>
      </p:grpSp>
      <p:grpSp>
        <p:nvGrpSpPr>
          <p:cNvPr name="Group 109" id="109"/>
          <p:cNvGrpSpPr/>
          <p:nvPr/>
        </p:nvGrpSpPr>
        <p:grpSpPr>
          <a:xfrm rot="0">
            <a:off x="5760720" y="3730752"/>
            <a:ext cx="11452860" cy="1261872"/>
            <a:chOff x="0" y="0"/>
            <a:chExt cx="15270480" cy="1682496"/>
          </a:xfrm>
        </p:grpSpPr>
        <p:sp>
          <p:nvSpPr>
            <p:cNvPr name="Freeform 110" id="110"/>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txBody>
            <a:bodyPr/>
            <a:p/>
          </p:txBody>
        </p:sp>
      </p:grpSp>
      <p:grpSp>
        <p:nvGrpSpPr>
          <p:cNvPr name="Group 111" id="111"/>
          <p:cNvGrpSpPr/>
          <p:nvPr/>
        </p:nvGrpSpPr>
        <p:grpSpPr>
          <a:xfrm rot="0">
            <a:off x="5760720" y="3702177"/>
            <a:ext cx="11452860" cy="1290447"/>
            <a:chOff x="0" y="0"/>
            <a:chExt cx="15270480" cy="1720596"/>
          </a:xfrm>
        </p:grpSpPr>
        <p:sp>
          <p:nvSpPr>
            <p:cNvPr name="Freeform 112" id="112"/>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811" r="0" b="-122811"/>
              </a:stretch>
            </a:blipFill>
          </p:spPr>
          <p:txBody>
            <a:bodyPr/>
            <a:p/>
          </p:txBody>
        </p:sp>
      </p:grpSp>
      <p:grpSp>
        <p:nvGrpSpPr>
          <p:cNvPr name="Group 113" id="113"/>
          <p:cNvGrpSpPr/>
          <p:nvPr/>
        </p:nvGrpSpPr>
        <p:grpSpPr>
          <a:xfrm rot="0">
            <a:off x="5760720" y="3673602"/>
            <a:ext cx="11452860" cy="1319022"/>
            <a:chOff x="0" y="0"/>
            <a:chExt cx="15270480" cy="1758696"/>
          </a:xfrm>
        </p:grpSpPr>
        <p:sp>
          <p:nvSpPr>
            <p:cNvPr name="Freeform 114" id="114"/>
            <p:cNvSpPr/>
            <p:nvPr/>
          </p:nvSpPr>
          <p:spPr>
            <a:xfrm flipH="false" flipV="false" rot="0">
              <a:off x="0" y="0"/>
              <a:ext cx="15270480" cy="1758696"/>
            </a:xfrm>
            <a:custGeom>
              <a:avLst/>
              <a:gdLst/>
              <a:ahLst/>
              <a:cxnLst/>
              <a:rect r="r" b="b" t="t" l="l"/>
              <a:pathLst>
                <a:path h="1758696" w="15270480">
                  <a:moveTo>
                    <a:pt x="0" y="0"/>
                  </a:moveTo>
                  <a:lnTo>
                    <a:pt x="15270480" y="0"/>
                  </a:lnTo>
                  <a:lnTo>
                    <a:pt x="15270480" y="1758696"/>
                  </a:lnTo>
                  <a:lnTo>
                    <a:pt x="0" y="1758696"/>
                  </a:lnTo>
                  <a:close/>
                </a:path>
              </a:pathLst>
            </a:custGeom>
            <a:blipFill>
              <a:blip r:embed="rId6">
                <a:alphaModFix amt="0"/>
              </a:blip>
              <a:stretch>
                <a:fillRect l="0" t="-119185" r="0" b="-119185"/>
              </a:stretch>
            </a:blipFill>
          </p:spPr>
          <p:txBody>
            <a:bodyPr/>
            <a:p/>
          </p:txBody>
        </p:sp>
        <p:sp>
          <p:nvSpPr>
            <p:cNvPr name="TextBox 115" id="115"/>
            <p:cNvSpPr txBox="true"/>
            <p:nvPr/>
          </p:nvSpPr>
          <p:spPr>
            <a:xfrm>
              <a:off x="0" y="-38100"/>
              <a:ext cx="15270480" cy="17967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Lima stok utama: wisatawan, hotel &amp; akomodasi, ODTW, tenaga kerja, lahan terbangun. Tidak memasukkan shock eksternal (pandemi, bencana, krisis), harga, promosi, dan musim.</a:t>
              </a:r>
            </a:p>
          </p:txBody>
        </p:sp>
      </p:grpSp>
      <p:grpSp>
        <p:nvGrpSpPr>
          <p:cNvPr name="Group 116" id="116"/>
          <p:cNvGrpSpPr/>
          <p:nvPr/>
        </p:nvGrpSpPr>
        <p:grpSpPr>
          <a:xfrm rot="0">
            <a:off x="822960" y="5129784"/>
            <a:ext cx="16637508" cy="1261872"/>
            <a:chOff x="0" y="0"/>
            <a:chExt cx="22183344" cy="1682496"/>
          </a:xfrm>
        </p:grpSpPr>
        <p:sp>
          <p:nvSpPr>
            <p:cNvPr name="Freeform 117" id="117"/>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txBody>
            <a:bodyPr/>
            <a:p/>
          </p:txBody>
        </p:sp>
      </p:grpSp>
      <p:grpSp>
        <p:nvGrpSpPr>
          <p:cNvPr name="Group 118" id="118"/>
          <p:cNvGrpSpPr/>
          <p:nvPr/>
        </p:nvGrpSpPr>
        <p:grpSpPr>
          <a:xfrm rot="0">
            <a:off x="1097280" y="5417820"/>
            <a:ext cx="685800" cy="685800"/>
            <a:chOff x="0" y="0"/>
            <a:chExt cx="914400" cy="914400"/>
          </a:xfrm>
        </p:grpSpPr>
        <p:sp>
          <p:nvSpPr>
            <p:cNvPr name="Freeform 119" id="119"/>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120" id="120"/>
          <p:cNvGrpSpPr/>
          <p:nvPr/>
        </p:nvGrpSpPr>
        <p:grpSpPr>
          <a:xfrm rot="0">
            <a:off x="1097280" y="5417820"/>
            <a:ext cx="685800" cy="685800"/>
            <a:chOff x="0" y="0"/>
            <a:chExt cx="914400" cy="914400"/>
          </a:xfrm>
        </p:grpSpPr>
        <p:sp>
          <p:nvSpPr>
            <p:cNvPr name="Freeform 121" id="121"/>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122" id="122"/>
          <p:cNvGrpSpPr/>
          <p:nvPr/>
        </p:nvGrpSpPr>
        <p:grpSpPr>
          <a:xfrm rot="0">
            <a:off x="1097280" y="5389245"/>
            <a:ext cx="685800" cy="714375"/>
            <a:chOff x="0" y="0"/>
            <a:chExt cx="914400" cy="952500"/>
          </a:xfrm>
        </p:grpSpPr>
        <p:sp>
          <p:nvSpPr>
            <p:cNvPr name="Freeform 123" id="123"/>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124" id="124"/>
          <p:cNvGrpSpPr/>
          <p:nvPr/>
        </p:nvGrpSpPr>
        <p:grpSpPr>
          <a:xfrm rot="0">
            <a:off x="1097280" y="5360670"/>
            <a:ext cx="685800" cy="742950"/>
            <a:chOff x="0" y="0"/>
            <a:chExt cx="914400" cy="990600"/>
          </a:xfrm>
        </p:grpSpPr>
        <p:sp>
          <p:nvSpPr>
            <p:cNvPr name="Freeform 125" id="125"/>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126" id="126"/>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127" id="127"/>
          <p:cNvGrpSpPr/>
          <p:nvPr/>
        </p:nvGrpSpPr>
        <p:grpSpPr>
          <a:xfrm rot="0">
            <a:off x="2125980" y="5129784"/>
            <a:ext cx="3566160" cy="1261872"/>
            <a:chOff x="0" y="0"/>
            <a:chExt cx="4754880" cy="1682496"/>
          </a:xfrm>
        </p:grpSpPr>
        <p:sp>
          <p:nvSpPr>
            <p:cNvPr name="Freeform 128" id="128"/>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txBody>
            <a:bodyPr/>
            <a:p/>
          </p:txBody>
        </p:sp>
      </p:grpSp>
      <p:grpSp>
        <p:nvGrpSpPr>
          <p:cNvPr name="Group 129" id="129"/>
          <p:cNvGrpSpPr/>
          <p:nvPr/>
        </p:nvGrpSpPr>
        <p:grpSpPr>
          <a:xfrm rot="0">
            <a:off x="2125980" y="5086921"/>
            <a:ext cx="3566160" cy="1304734"/>
            <a:chOff x="0" y="0"/>
            <a:chExt cx="4754880" cy="1739646"/>
          </a:xfrm>
        </p:grpSpPr>
        <p:sp>
          <p:nvSpPr>
            <p:cNvPr name="Freeform 130" id="130"/>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20" r="0" b="-3220"/>
              </a:stretch>
            </a:blipFill>
          </p:spPr>
          <p:txBody>
            <a:bodyPr/>
            <a:p/>
          </p:txBody>
        </p:sp>
      </p:grpSp>
      <p:grpSp>
        <p:nvGrpSpPr>
          <p:cNvPr name="Group 131" id="131"/>
          <p:cNvGrpSpPr/>
          <p:nvPr/>
        </p:nvGrpSpPr>
        <p:grpSpPr>
          <a:xfrm rot="0">
            <a:off x="2125980" y="5044059"/>
            <a:ext cx="3566160" cy="1347597"/>
            <a:chOff x="0" y="0"/>
            <a:chExt cx="4754880" cy="1796796"/>
          </a:xfrm>
        </p:grpSpPr>
        <p:sp>
          <p:nvSpPr>
            <p:cNvPr name="Freeform 132" id="132"/>
            <p:cNvSpPr/>
            <p:nvPr/>
          </p:nvSpPr>
          <p:spPr>
            <a:xfrm flipH="false" flipV="false" rot="0">
              <a:off x="0" y="0"/>
              <a:ext cx="4754880" cy="1796795"/>
            </a:xfrm>
            <a:custGeom>
              <a:avLst/>
              <a:gdLst/>
              <a:ahLst/>
              <a:cxnLst/>
              <a:rect r="r" b="b" t="t" l="l"/>
              <a:pathLst>
                <a:path h="1796795" w="4754880">
                  <a:moveTo>
                    <a:pt x="0" y="0"/>
                  </a:moveTo>
                  <a:lnTo>
                    <a:pt x="4754880" y="0"/>
                  </a:lnTo>
                  <a:lnTo>
                    <a:pt x="4754880" y="1796795"/>
                  </a:lnTo>
                  <a:lnTo>
                    <a:pt x="0" y="1796795"/>
                  </a:lnTo>
                  <a:close/>
                </a:path>
              </a:pathLst>
            </a:custGeom>
            <a:blipFill>
              <a:blip r:embed="rId6">
                <a:alphaModFix amt="0"/>
              </a:blip>
              <a:stretch>
                <a:fillRect l="0" t="-1563" r="0" b="-1563"/>
              </a:stretch>
            </a:blipFill>
          </p:spPr>
          <p:txBody>
            <a:bodyPr/>
            <a:p/>
          </p:txBody>
        </p:sp>
        <p:sp>
          <p:nvSpPr>
            <p:cNvPr name="TextBox 133" id="133"/>
            <p:cNvSpPr txBox="true"/>
            <p:nvPr/>
          </p:nvSpPr>
          <p:spPr>
            <a:xfrm>
              <a:off x="0" y="-57150"/>
              <a:ext cx="4754880" cy="185394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Peran citra satelit</a:t>
              </a:r>
            </a:p>
          </p:txBody>
        </p:sp>
      </p:grpSp>
      <p:grpSp>
        <p:nvGrpSpPr>
          <p:cNvPr name="Group 134" id="134"/>
          <p:cNvGrpSpPr/>
          <p:nvPr/>
        </p:nvGrpSpPr>
        <p:grpSpPr>
          <a:xfrm rot="0">
            <a:off x="5760720" y="5129784"/>
            <a:ext cx="11452860" cy="1261872"/>
            <a:chOff x="0" y="0"/>
            <a:chExt cx="15270480" cy="1682496"/>
          </a:xfrm>
        </p:grpSpPr>
        <p:sp>
          <p:nvSpPr>
            <p:cNvPr name="Freeform 135" id="135"/>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txBody>
            <a:bodyPr/>
            <a:p/>
          </p:txBody>
        </p:sp>
      </p:grpSp>
      <p:grpSp>
        <p:nvGrpSpPr>
          <p:cNvPr name="Group 136" id="136"/>
          <p:cNvGrpSpPr/>
          <p:nvPr/>
        </p:nvGrpSpPr>
        <p:grpSpPr>
          <a:xfrm rot="0">
            <a:off x="5760720" y="5101209"/>
            <a:ext cx="11452860" cy="1290447"/>
            <a:chOff x="0" y="0"/>
            <a:chExt cx="15270480" cy="1720596"/>
          </a:xfrm>
        </p:grpSpPr>
        <p:sp>
          <p:nvSpPr>
            <p:cNvPr name="Freeform 137" id="137"/>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811" r="0" b="-122811"/>
              </a:stretch>
            </a:blipFill>
          </p:spPr>
          <p:txBody>
            <a:bodyPr/>
            <a:p/>
          </p:txBody>
        </p:sp>
      </p:grpSp>
      <p:grpSp>
        <p:nvGrpSpPr>
          <p:cNvPr name="Group 138" id="138"/>
          <p:cNvGrpSpPr/>
          <p:nvPr/>
        </p:nvGrpSpPr>
        <p:grpSpPr>
          <a:xfrm rot="0">
            <a:off x="5760720" y="5072634"/>
            <a:ext cx="11452860" cy="1319022"/>
            <a:chOff x="0" y="0"/>
            <a:chExt cx="15270480" cy="1758696"/>
          </a:xfrm>
        </p:grpSpPr>
        <p:sp>
          <p:nvSpPr>
            <p:cNvPr name="Freeform 139" id="139"/>
            <p:cNvSpPr/>
            <p:nvPr/>
          </p:nvSpPr>
          <p:spPr>
            <a:xfrm flipH="false" flipV="false" rot="0">
              <a:off x="0" y="0"/>
              <a:ext cx="15270480" cy="1758696"/>
            </a:xfrm>
            <a:custGeom>
              <a:avLst/>
              <a:gdLst/>
              <a:ahLst/>
              <a:cxnLst/>
              <a:rect r="r" b="b" t="t" l="l"/>
              <a:pathLst>
                <a:path h="1758696" w="15270480">
                  <a:moveTo>
                    <a:pt x="0" y="0"/>
                  </a:moveTo>
                  <a:lnTo>
                    <a:pt x="15270480" y="0"/>
                  </a:lnTo>
                  <a:lnTo>
                    <a:pt x="15270480" y="1758696"/>
                  </a:lnTo>
                  <a:lnTo>
                    <a:pt x="0" y="1758696"/>
                  </a:lnTo>
                  <a:close/>
                </a:path>
              </a:pathLst>
            </a:custGeom>
            <a:blipFill>
              <a:blip r:embed="rId6">
                <a:alphaModFix amt="0"/>
              </a:blip>
              <a:stretch>
                <a:fillRect l="0" t="-119185" r="0" b="-119185"/>
              </a:stretch>
            </a:blipFill>
          </p:spPr>
          <p:txBody>
            <a:bodyPr/>
            <a:p/>
          </p:txBody>
        </p:sp>
        <p:sp>
          <p:nvSpPr>
            <p:cNvPr name="TextBox 140" id="140"/>
            <p:cNvSpPr txBox="true"/>
            <p:nvPr/>
          </p:nvSpPr>
          <p:spPr>
            <a:xfrm>
              <a:off x="0" y="-38100"/>
              <a:ext cx="15270480" cy="17967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Dipakai untuk memperbarui data lahan terbangun dan jumlah ODTW, bukan sebagai variabel di dalam model</a:t>
              </a:r>
            </a:p>
          </p:txBody>
        </p:sp>
      </p:grpSp>
      <p:grpSp>
        <p:nvGrpSpPr>
          <p:cNvPr name="Group 141" id="141"/>
          <p:cNvGrpSpPr/>
          <p:nvPr/>
        </p:nvGrpSpPr>
        <p:grpSpPr>
          <a:xfrm rot="0">
            <a:off x="822960" y="6528816"/>
            <a:ext cx="16637508" cy="1261872"/>
            <a:chOff x="0" y="0"/>
            <a:chExt cx="22183344" cy="1682496"/>
          </a:xfrm>
        </p:grpSpPr>
        <p:sp>
          <p:nvSpPr>
            <p:cNvPr name="Freeform 142" id="142"/>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txBody>
            <a:bodyPr/>
            <a:p/>
          </p:txBody>
        </p:sp>
      </p:grpSp>
      <p:grpSp>
        <p:nvGrpSpPr>
          <p:cNvPr name="Group 143" id="143"/>
          <p:cNvGrpSpPr/>
          <p:nvPr/>
        </p:nvGrpSpPr>
        <p:grpSpPr>
          <a:xfrm rot="0">
            <a:off x="1097280" y="6816852"/>
            <a:ext cx="685800" cy="685800"/>
            <a:chOff x="0" y="0"/>
            <a:chExt cx="914400" cy="914400"/>
          </a:xfrm>
        </p:grpSpPr>
        <p:sp>
          <p:nvSpPr>
            <p:cNvPr name="Freeform 144" id="14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145" id="145"/>
          <p:cNvGrpSpPr/>
          <p:nvPr/>
        </p:nvGrpSpPr>
        <p:grpSpPr>
          <a:xfrm rot="0">
            <a:off x="1097280" y="6816852"/>
            <a:ext cx="685800" cy="685800"/>
            <a:chOff x="0" y="0"/>
            <a:chExt cx="914400" cy="914400"/>
          </a:xfrm>
        </p:grpSpPr>
        <p:sp>
          <p:nvSpPr>
            <p:cNvPr name="Freeform 146" id="14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147" id="147"/>
          <p:cNvGrpSpPr/>
          <p:nvPr/>
        </p:nvGrpSpPr>
        <p:grpSpPr>
          <a:xfrm rot="0">
            <a:off x="1097280" y="6788277"/>
            <a:ext cx="685800" cy="714375"/>
            <a:chOff x="0" y="0"/>
            <a:chExt cx="914400" cy="952500"/>
          </a:xfrm>
        </p:grpSpPr>
        <p:sp>
          <p:nvSpPr>
            <p:cNvPr name="Freeform 148" id="14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149" id="149"/>
          <p:cNvGrpSpPr/>
          <p:nvPr/>
        </p:nvGrpSpPr>
        <p:grpSpPr>
          <a:xfrm rot="0">
            <a:off x="1097280" y="6759702"/>
            <a:ext cx="685800" cy="742950"/>
            <a:chOff x="0" y="0"/>
            <a:chExt cx="914400" cy="990600"/>
          </a:xfrm>
        </p:grpSpPr>
        <p:sp>
          <p:nvSpPr>
            <p:cNvPr name="Freeform 150" id="150"/>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151" id="151"/>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4</a:t>
              </a:r>
            </a:p>
          </p:txBody>
        </p:sp>
      </p:grpSp>
      <p:grpSp>
        <p:nvGrpSpPr>
          <p:cNvPr name="Group 152" id="152"/>
          <p:cNvGrpSpPr/>
          <p:nvPr/>
        </p:nvGrpSpPr>
        <p:grpSpPr>
          <a:xfrm rot="0">
            <a:off x="2125980" y="6528816"/>
            <a:ext cx="3566160" cy="1261872"/>
            <a:chOff x="0" y="0"/>
            <a:chExt cx="4754880" cy="1682496"/>
          </a:xfrm>
        </p:grpSpPr>
        <p:sp>
          <p:nvSpPr>
            <p:cNvPr name="Freeform 153" id="153"/>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txBody>
            <a:bodyPr/>
            <a:p/>
          </p:txBody>
        </p:sp>
      </p:grpSp>
      <p:grpSp>
        <p:nvGrpSpPr>
          <p:cNvPr name="Group 154" id="154"/>
          <p:cNvGrpSpPr/>
          <p:nvPr/>
        </p:nvGrpSpPr>
        <p:grpSpPr>
          <a:xfrm rot="0">
            <a:off x="2125980" y="6485954"/>
            <a:ext cx="3566160" cy="1304734"/>
            <a:chOff x="0" y="0"/>
            <a:chExt cx="4754880" cy="1739646"/>
          </a:xfrm>
        </p:grpSpPr>
        <p:sp>
          <p:nvSpPr>
            <p:cNvPr name="Freeform 155" id="155"/>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20" r="0" b="-3220"/>
              </a:stretch>
            </a:blipFill>
          </p:spPr>
          <p:txBody>
            <a:bodyPr/>
            <a:p/>
          </p:txBody>
        </p:sp>
      </p:grpSp>
      <p:grpSp>
        <p:nvGrpSpPr>
          <p:cNvPr name="Group 156" id="156"/>
          <p:cNvGrpSpPr/>
          <p:nvPr/>
        </p:nvGrpSpPr>
        <p:grpSpPr>
          <a:xfrm rot="0">
            <a:off x="2125980" y="6443091"/>
            <a:ext cx="3566160" cy="1347597"/>
            <a:chOff x="0" y="0"/>
            <a:chExt cx="4754880" cy="1796796"/>
          </a:xfrm>
        </p:grpSpPr>
        <p:sp>
          <p:nvSpPr>
            <p:cNvPr name="Freeform 157" id="157"/>
            <p:cNvSpPr/>
            <p:nvPr/>
          </p:nvSpPr>
          <p:spPr>
            <a:xfrm flipH="false" flipV="false" rot="0">
              <a:off x="0" y="0"/>
              <a:ext cx="4754880" cy="1796795"/>
            </a:xfrm>
            <a:custGeom>
              <a:avLst/>
              <a:gdLst/>
              <a:ahLst/>
              <a:cxnLst/>
              <a:rect r="r" b="b" t="t" l="l"/>
              <a:pathLst>
                <a:path h="1796795" w="4754880">
                  <a:moveTo>
                    <a:pt x="0" y="0"/>
                  </a:moveTo>
                  <a:lnTo>
                    <a:pt x="4754880" y="0"/>
                  </a:lnTo>
                  <a:lnTo>
                    <a:pt x="4754880" y="1796795"/>
                  </a:lnTo>
                  <a:lnTo>
                    <a:pt x="0" y="1796795"/>
                  </a:lnTo>
                  <a:close/>
                </a:path>
              </a:pathLst>
            </a:custGeom>
            <a:blipFill>
              <a:blip r:embed="rId6">
                <a:alphaModFix amt="0"/>
              </a:blip>
              <a:stretch>
                <a:fillRect l="0" t="-1563" r="0" b="-1563"/>
              </a:stretch>
            </a:blipFill>
          </p:spPr>
          <p:txBody>
            <a:bodyPr/>
            <a:p/>
          </p:txBody>
        </p:sp>
        <p:sp>
          <p:nvSpPr>
            <p:cNvPr name="TextBox 158" id="158"/>
            <p:cNvSpPr txBox="true"/>
            <p:nvPr/>
          </p:nvSpPr>
          <p:spPr>
            <a:xfrm>
              <a:off x="0" y="-57150"/>
              <a:ext cx="4754880" cy="185394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Skenario</a:t>
              </a:r>
            </a:p>
          </p:txBody>
        </p:sp>
      </p:grpSp>
      <p:grpSp>
        <p:nvGrpSpPr>
          <p:cNvPr name="Group 159" id="159"/>
          <p:cNvGrpSpPr/>
          <p:nvPr/>
        </p:nvGrpSpPr>
        <p:grpSpPr>
          <a:xfrm rot="0">
            <a:off x="5760720" y="6528816"/>
            <a:ext cx="11452860" cy="1261872"/>
            <a:chOff x="0" y="0"/>
            <a:chExt cx="15270480" cy="1682496"/>
          </a:xfrm>
        </p:grpSpPr>
        <p:sp>
          <p:nvSpPr>
            <p:cNvPr name="Freeform 160" id="160"/>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txBody>
            <a:bodyPr/>
            <a:p/>
          </p:txBody>
        </p:sp>
      </p:grpSp>
      <p:grpSp>
        <p:nvGrpSpPr>
          <p:cNvPr name="Group 161" id="161"/>
          <p:cNvGrpSpPr/>
          <p:nvPr/>
        </p:nvGrpSpPr>
        <p:grpSpPr>
          <a:xfrm rot="0">
            <a:off x="5760720" y="6500241"/>
            <a:ext cx="11452860" cy="1290447"/>
            <a:chOff x="0" y="0"/>
            <a:chExt cx="15270480" cy="1720596"/>
          </a:xfrm>
        </p:grpSpPr>
        <p:sp>
          <p:nvSpPr>
            <p:cNvPr name="Freeform 162" id="162"/>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811" r="0" b="-122811"/>
              </a:stretch>
            </a:blipFill>
          </p:spPr>
          <p:txBody>
            <a:bodyPr/>
            <a:p/>
          </p:txBody>
        </p:sp>
      </p:grpSp>
      <p:grpSp>
        <p:nvGrpSpPr>
          <p:cNvPr name="Group 163" id="163"/>
          <p:cNvGrpSpPr/>
          <p:nvPr/>
        </p:nvGrpSpPr>
        <p:grpSpPr>
          <a:xfrm rot="0">
            <a:off x="5760720" y="6471666"/>
            <a:ext cx="11452860" cy="1319022"/>
            <a:chOff x="0" y="0"/>
            <a:chExt cx="15270480" cy="1758696"/>
          </a:xfrm>
        </p:grpSpPr>
        <p:sp>
          <p:nvSpPr>
            <p:cNvPr name="Freeform 164" id="164"/>
            <p:cNvSpPr/>
            <p:nvPr/>
          </p:nvSpPr>
          <p:spPr>
            <a:xfrm flipH="false" flipV="false" rot="0">
              <a:off x="0" y="0"/>
              <a:ext cx="15270480" cy="1758696"/>
            </a:xfrm>
            <a:custGeom>
              <a:avLst/>
              <a:gdLst/>
              <a:ahLst/>
              <a:cxnLst/>
              <a:rect r="r" b="b" t="t" l="l"/>
              <a:pathLst>
                <a:path h="1758696" w="15270480">
                  <a:moveTo>
                    <a:pt x="0" y="0"/>
                  </a:moveTo>
                  <a:lnTo>
                    <a:pt x="15270480" y="0"/>
                  </a:lnTo>
                  <a:lnTo>
                    <a:pt x="15270480" y="1758696"/>
                  </a:lnTo>
                  <a:lnTo>
                    <a:pt x="0" y="1758696"/>
                  </a:lnTo>
                  <a:close/>
                </a:path>
              </a:pathLst>
            </a:custGeom>
            <a:blipFill>
              <a:blip r:embed="rId6">
                <a:alphaModFix amt="0"/>
              </a:blip>
              <a:stretch>
                <a:fillRect l="0" t="-119185" r="0" b="-119185"/>
              </a:stretch>
            </a:blipFill>
          </p:spPr>
          <p:txBody>
            <a:bodyPr/>
            <a:p/>
          </p:txBody>
        </p:sp>
        <p:sp>
          <p:nvSpPr>
            <p:cNvPr name="TextBox 165" id="165"/>
            <p:cNvSpPr txBox="true"/>
            <p:nvPr/>
          </p:nvSpPr>
          <p:spPr>
            <a:xfrm>
              <a:off x="0" y="-38100"/>
              <a:ext cx="15270480" cy="17967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Dua variabel kebijakan (insentif investasi, konservasi lahan) dan tiga skenario, disusun dari analisis sensitivitas dan dokumen kebijakan, tanpa lokakarya pemangku kepentingan</a:t>
              </a:r>
            </a:p>
          </p:txBody>
        </p:sp>
      </p:grpSp>
      <p:grpSp>
        <p:nvGrpSpPr>
          <p:cNvPr name="Group 166" id="166"/>
          <p:cNvGrpSpPr/>
          <p:nvPr/>
        </p:nvGrpSpPr>
        <p:grpSpPr>
          <a:xfrm rot="0">
            <a:off x="822960" y="7927848"/>
            <a:ext cx="16637508" cy="1261872"/>
            <a:chOff x="0" y="0"/>
            <a:chExt cx="22183344" cy="1682496"/>
          </a:xfrm>
        </p:grpSpPr>
        <p:sp>
          <p:nvSpPr>
            <p:cNvPr name="Freeform 167" id="167"/>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FFF1BF"/>
            </a:solidFill>
          </p:spPr>
          <p:txBody>
            <a:bodyPr/>
            <a:p/>
          </p:txBody>
        </p:sp>
      </p:grpSp>
      <p:grpSp>
        <p:nvGrpSpPr>
          <p:cNvPr name="Group 168" id="168"/>
          <p:cNvGrpSpPr/>
          <p:nvPr/>
        </p:nvGrpSpPr>
        <p:grpSpPr>
          <a:xfrm rot="0">
            <a:off x="1097280" y="8215884"/>
            <a:ext cx="685800" cy="685800"/>
            <a:chOff x="0" y="0"/>
            <a:chExt cx="914400" cy="914400"/>
          </a:xfrm>
        </p:grpSpPr>
        <p:sp>
          <p:nvSpPr>
            <p:cNvPr name="Freeform 169" id="169"/>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FFD23B"/>
            </a:solidFill>
          </p:spPr>
          <p:txBody>
            <a:bodyPr/>
            <a:p/>
          </p:txBody>
        </p:sp>
      </p:grpSp>
      <p:grpSp>
        <p:nvGrpSpPr>
          <p:cNvPr name="Group 170" id="170"/>
          <p:cNvGrpSpPr/>
          <p:nvPr/>
        </p:nvGrpSpPr>
        <p:grpSpPr>
          <a:xfrm rot="0">
            <a:off x="1097280" y="8215884"/>
            <a:ext cx="685800" cy="685800"/>
            <a:chOff x="0" y="0"/>
            <a:chExt cx="914400" cy="914400"/>
          </a:xfrm>
        </p:grpSpPr>
        <p:sp>
          <p:nvSpPr>
            <p:cNvPr name="Freeform 171" id="171"/>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172" id="172"/>
          <p:cNvGrpSpPr/>
          <p:nvPr/>
        </p:nvGrpSpPr>
        <p:grpSpPr>
          <a:xfrm rot="0">
            <a:off x="1097280" y="8187309"/>
            <a:ext cx="685800" cy="714375"/>
            <a:chOff x="0" y="0"/>
            <a:chExt cx="914400" cy="952500"/>
          </a:xfrm>
        </p:grpSpPr>
        <p:sp>
          <p:nvSpPr>
            <p:cNvPr name="Freeform 173" id="173"/>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174" id="174"/>
          <p:cNvGrpSpPr/>
          <p:nvPr/>
        </p:nvGrpSpPr>
        <p:grpSpPr>
          <a:xfrm rot="0">
            <a:off x="1097280" y="8158734"/>
            <a:ext cx="685800" cy="742950"/>
            <a:chOff x="0" y="0"/>
            <a:chExt cx="914400" cy="990600"/>
          </a:xfrm>
        </p:grpSpPr>
        <p:sp>
          <p:nvSpPr>
            <p:cNvPr name="Freeform 175" id="175"/>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176" id="176"/>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14313B"/>
                  </a:solidFill>
                  <a:latin typeface="Calibri (MS) Bold"/>
                  <a:ea typeface="Calibri (MS) Bold"/>
                  <a:cs typeface="Calibri (MS) Bold"/>
                  <a:sym typeface="Calibri (MS) Bold"/>
                </a:rPr>
                <a:t>5</a:t>
              </a:r>
            </a:p>
          </p:txBody>
        </p:sp>
      </p:grpSp>
      <p:grpSp>
        <p:nvGrpSpPr>
          <p:cNvPr name="Group 177" id="177"/>
          <p:cNvGrpSpPr/>
          <p:nvPr/>
        </p:nvGrpSpPr>
        <p:grpSpPr>
          <a:xfrm rot="0">
            <a:off x="2125980" y="7927848"/>
            <a:ext cx="3566160" cy="1261872"/>
            <a:chOff x="0" y="0"/>
            <a:chExt cx="4754880" cy="1682496"/>
          </a:xfrm>
        </p:grpSpPr>
        <p:sp>
          <p:nvSpPr>
            <p:cNvPr name="Freeform 178" id="178"/>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txBody>
            <a:bodyPr/>
            <a:p/>
          </p:txBody>
        </p:sp>
      </p:grpSp>
      <p:grpSp>
        <p:nvGrpSpPr>
          <p:cNvPr name="Group 179" id="179"/>
          <p:cNvGrpSpPr/>
          <p:nvPr/>
        </p:nvGrpSpPr>
        <p:grpSpPr>
          <a:xfrm rot="0">
            <a:off x="2125980" y="7884986"/>
            <a:ext cx="3566160" cy="1304734"/>
            <a:chOff x="0" y="0"/>
            <a:chExt cx="4754880" cy="1739646"/>
          </a:xfrm>
        </p:grpSpPr>
        <p:sp>
          <p:nvSpPr>
            <p:cNvPr name="Freeform 180" id="180"/>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20" r="0" b="-3220"/>
              </a:stretch>
            </a:blipFill>
          </p:spPr>
          <p:txBody>
            <a:bodyPr/>
            <a:p/>
          </p:txBody>
        </p:sp>
      </p:grpSp>
      <p:grpSp>
        <p:nvGrpSpPr>
          <p:cNvPr name="Group 181" id="181"/>
          <p:cNvGrpSpPr/>
          <p:nvPr/>
        </p:nvGrpSpPr>
        <p:grpSpPr>
          <a:xfrm rot="0">
            <a:off x="2125980" y="7842123"/>
            <a:ext cx="3566160" cy="1347597"/>
            <a:chOff x="0" y="0"/>
            <a:chExt cx="4754880" cy="1796796"/>
          </a:xfrm>
        </p:grpSpPr>
        <p:sp>
          <p:nvSpPr>
            <p:cNvPr name="Freeform 182" id="182"/>
            <p:cNvSpPr/>
            <p:nvPr/>
          </p:nvSpPr>
          <p:spPr>
            <a:xfrm flipH="false" flipV="false" rot="0">
              <a:off x="0" y="0"/>
              <a:ext cx="4754880" cy="1796795"/>
            </a:xfrm>
            <a:custGeom>
              <a:avLst/>
              <a:gdLst/>
              <a:ahLst/>
              <a:cxnLst/>
              <a:rect r="r" b="b" t="t" l="l"/>
              <a:pathLst>
                <a:path h="1796795" w="4754880">
                  <a:moveTo>
                    <a:pt x="0" y="0"/>
                  </a:moveTo>
                  <a:lnTo>
                    <a:pt x="4754880" y="0"/>
                  </a:lnTo>
                  <a:lnTo>
                    <a:pt x="4754880" y="1796795"/>
                  </a:lnTo>
                  <a:lnTo>
                    <a:pt x="0" y="1796795"/>
                  </a:lnTo>
                  <a:close/>
                </a:path>
              </a:pathLst>
            </a:custGeom>
            <a:blipFill>
              <a:blip r:embed="rId6">
                <a:alphaModFix amt="0"/>
              </a:blip>
              <a:stretch>
                <a:fillRect l="0" t="-1563" r="0" b="-1563"/>
              </a:stretch>
            </a:blipFill>
          </p:spPr>
          <p:txBody>
            <a:bodyPr/>
            <a:p/>
          </p:txBody>
        </p:sp>
        <p:sp>
          <p:nvSpPr>
            <p:cNvPr name="TextBox 183" id="183"/>
            <p:cNvSpPr txBox="true"/>
            <p:nvPr/>
          </p:nvSpPr>
          <p:spPr>
            <a:xfrm>
              <a:off x="0" y="-57150"/>
              <a:ext cx="4754880" cy="185394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Interpretasi</a:t>
              </a:r>
            </a:p>
          </p:txBody>
        </p:sp>
      </p:grpSp>
      <p:grpSp>
        <p:nvGrpSpPr>
          <p:cNvPr name="Group 184" id="184"/>
          <p:cNvGrpSpPr/>
          <p:nvPr/>
        </p:nvGrpSpPr>
        <p:grpSpPr>
          <a:xfrm rot="0">
            <a:off x="5760720" y="7927848"/>
            <a:ext cx="11452860" cy="1261872"/>
            <a:chOff x="0" y="0"/>
            <a:chExt cx="15270480" cy="1682496"/>
          </a:xfrm>
        </p:grpSpPr>
        <p:sp>
          <p:nvSpPr>
            <p:cNvPr name="Freeform 185" id="185"/>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txBody>
            <a:bodyPr/>
            <a:p/>
          </p:txBody>
        </p:sp>
      </p:grpSp>
      <p:grpSp>
        <p:nvGrpSpPr>
          <p:cNvPr name="Group 186" id="186"/>
          <p:cNvGrpSpPr/>
          <p:nvPr/>
        </p:nvGrpSpPr>
        <p:grpSpPr>
          <a:xfrm rot="0">
            <a:off x="5760720" y="7899273"/>
            <a:ext cx="11452860" cy="1290447"/>
            <a:chOff x="0" y="0"/>
            <a:chExt cx="15270480" cy="1720596"/>
          </a:xfrm>
        </p:grpSpPr>
        <p:sp>
          <p:nvSpPr>
            <p:cNvPr name="Freeform 187" id="187"/>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811" r="0" b="-122811"/>
              </a:stretch>
            </a:blipFill>
          </p:spPr>
          <p:txBody>
            <a:bodyPr/>
            <a:p/>
          </p:txBody>
        </p:sp>
      </p:grpSp>
      <p:grpSp>
        <p:nvGrpSpPr>
          <p:cNvPr name="Group 188" id="188"/>
          <p:cNvGrpSpPr/>
          <p:nvPr/>
        </p:nvGrpSpPr>
        <p:grpSpPr>
          <a:xfrm rot="0">
            <a:off x="5760720" y="7870698"/>
            <a:ext cx="11452860" cy="1319022"/>
            <a:chOff x="0" y="0"/>
            <a:chExt cx="15270480" cy="1758696"/>
          </a:xfrm>
        </p:grpSpPr>
        <p:sp>
          <p:nvSpPr>
            <p:cNvPr name="Freeform 189" id="189"/>
            <p:cNvSpPr/>
            <p:nvPr/>
          </p:nvSpPr>
          <p:spPr>
            <a:xfrm flipH="false" flipV="false" rot="0">
              <a:off x="0" y="0"/>
              <a:ext cx="15270480" cy="1758696"/>
            </a:xfrm>
            <a:custGeom>
              <a:avLst/>
              <a:gdLst/>
              <a:ahLst/>
              <a:cxnLst/>
              <a:rect r="r" b="b" t="t" l="l"/>
              <a:pathLst>
                <a:path h="1758696" w="15270480">
                  <a:moveTo>
                    <a:pt x="0" y="0"/>
                  </a:moveTo>
                  <a:lnTo>
                    <a:pt x="15270480" y="0"/>
                  </a:lnTo>
                  <a:lnTo>
                    <a:pt x="15270480" y="1758696"/>
                  </a:lnTo>
                  <a:lnTo>
                    <a:pt x="0" y="1758696"/>
                  </a:lnTo>
                  <a:close/>
                </a:path>
              </a:pathLst>
            </a:custGeom>
            <a:blipFill>
              <a:blip r:embed="rId6">
                <a:alphaModFix amt="0"/>
              </a:blip>
              <a:stretch>
                <a:fillRect l="0" t="-119185" r="0" b="-119185"/>
              </a:stretch>
            </a:blipFill>
          </p:spPr>
          <p:txBody>
            <a:bodyPr/>
            <a:p/>
          </p:txBody>
        </p:sp>
        <p:sp>
          <p:nvSpPr>
            <p:cNvPr name="TextBox 190" id="190"/>
            <p:cNvSpPr txBox="true"/>
            <p:nvPr/>
          </p:nvSpPr>
          <p:spPr>
            <a:xfrm>
              <a:off x="0" y="-38100"/>
              <a:ext cx="15270480" cy="17967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Membandingkan arah dan besaran relatif antarskenario, bukan menghasilkan ramalan angka absolut</a:t>
              </a:r>
            </a:p>
          </p:txBody>
        </p:sp>
      </p:grpSp>
      <p:sp>
        <p:nvSpPr>
          <p:cNvPr name="TextBox 191" id="191"/>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a:t>
            </a:r>
          </a:p>
        </p:txBody>
      </p:sp>
      <p:grpSp>
        <p:nvGrpSpPr>
          <p:cNvPr name="Group 192" id="192"/>
          <p:cNvGrpSpPr/>
          <p:nvPr/>
        </p:nvGrpSpPr>
        <p:grpSpPr>
          <a:xfrm rot="0">
            <a:off x="16047720" y="9646920"/>
            <a:ext cx="420624" cy="420624"/>
            <a:chOff x="0" y="0"/>
            <a:chExt cx="560832" cy="560832"/>
          </a:xfrm>
        </p:grpSpPr>
        <p:sp>
          <p:nvSpPr>
            <p:cNvPr name="Freeform 193" id="193"/>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94" id="194"/>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Kontribusi Penelitian Terkait</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Dibanding 9 studi sebelumnya, penelitian ini menggabungkan tiga unsur sekaligus</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aphicFrame>
        <p:nvGraphicFramePr>
          <p:cNvPr name="Table 66" id="66"/>
          <p:cNvGraphicFramePr>
            <a:graphicFrameLocks noGrp="true"/>
          </p:cNvGraphicFramePr>
          <p:nvPr/>
        </p:nvGraphicFramePr>
        <p:xfrm>
          <a:off x="822960" y="2331720"/>
          <a:ext cx="10756900" cy="6286500"/>
        </p:xfrm>
        <a:graphic>
          <a:graphicData uri="http://schemas.openxmlformats.org/drawingml/2006/table">
            <a:tbl>
              <a:tblPr/>
              <a:tblGrid>
                <a:gridCol w="3168191"/>
                <a:gridCol w="3300245"/>
                <a:gridCol w="1385470"/>
                <a:gridCol w="1385470"/>
                <a:gridCol w="1517524"/>
              </a:tblGrid>
              <a:tr h="571500">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Penelitian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Wilayah studi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Data statistik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Citra satelit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Aplikasi web</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Mai &amp; Smith (2018)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Cat Ba Island, Vietnam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Fatina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Labuan Bajo, Indonesia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Wang et al. (2020)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Kota besar Tiongkok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Luo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Provinsi Hunan, Tiongkok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Veldhuis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Belanda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Santoso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Cibodas, Bandung Barat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Hell et al. (2021)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Lima destinasi Eropa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Gazoni (2021)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Generik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Gu et al. (2021)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Maldives</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b="true">
                          <a:solidFill>
                            <a:srgbClr val="14313B"/>
                          </a:solidFill>
                          <a:latin typeface="Calibri (MS) Bold"/>
                          <a:ea typeface="Calibri (MS) Bold"/>
                          <a:cs typeface="Calibri (MS) Bold"/>
                          <a:sym typeface="Calibri (MS) Bold"/>
                        </a:rPr>
                        <a:t>Penelitian ini (2026)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l">
                        <a:lnSpc>
                          <a:spcPts val="2070"/>
                        </a:lnSpc>
                        <a:defRPr/>
                      </a:pPr>
                      <a:r>
                        <a:rPr lang="en-US" sz="1725" b="true">
                          <a:solidFill>
                            <a:srgbClr val="14313B"/>
                          </a:solidFill>
                          <a:latin typeface="Calibri (MS) Bold"/>
                          <a:ea typeface="Calibri (MS) Bold"/>
                          <a:cs typeface="Calibri (MS) Bold"/>
                          <a:sym typeface="Calibri (MS) Bold"/>
                        </a:rPr>
                        <a:t>Provinsi DIY</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r>
            </a:tbl>
          </a:graphicData>
        </a:graphic>
      </p:graphicFrame>
      <p:grpSp>
        <p:nvGrpSpPr>
          <p:cNvPr name="Group 67" id="67"/>
          <p:cNvGrpSpPr/>
          <p:nvPr/>
        </p:nvGrpSpPr>
        <p:grpSpPr>
          <a:xfrm rot="0">
            <a:off x="12070080" y="2331720"/>
            <a:ext cx="5390388" cy="2125980"/>
            <a:chOff x="0" y="0"/>
            <a:chExt cx="7187184" cy="2834640"/>
          </a:xfrm>
        </p:grpSpPr>
        <p:sp>
          <p:nvSpPr>
            <p:cNvPr name="Freeform 68" id="68"/>
            <p:cNvSpPr/>
            <p:nvPr/>
          </p:nvSpPr>
          <p:spPr>
            <a:xfrm flipH="false" flipV="false" rot="0">
              <a:off x="0" y="0"/>
              <a:ext cx="7187185" cy="2834640"/>
            </a:xfrm>
            <a:custGeom>
              <a:avLst/>
              <a:gdLst/>
              <a:ahLst/>
              <a:cxnLst/>
              <a:rect r="r" b="b" t="t" l="l"/>
              <a:pathLst>
                <a:path h="2834640" w="7187185">
                  <a:moveTo>
                    <a:pt x="0" y="182880"/>
                  </a:moveTo>
                  <a:cubicBezTo>
                    <a:pt x="0" y="81915"/>
                    <a:pt x="81915" y="0"/>
                    <a:pt x="182880" y="0"/>
                  </a:cubicBezTo>
                  <a:lnTo>
                    <a:pt x="7004304" y="0"/>
                  </a:lnTo>
                  <a:cubicBezTo>
                    <a:pt x="7105269" y="0"/>
                    <a:pt x="7187185" y="81915"/>
                    <a:pt x="7187185" y="182880"/>
                  </a:cubicBezTo>
                  <a:lnTo>
                    <a:pt x="7187185" y="2651760"/>
                  </a:lnTo>
                  <a:cubicBezTo>
                    <a:pt x="7187185" y="2752725"/>
                    <a:pt x="7105269" y="2834640"/>
                    <a:pt x="7004304" y="2834640"/>
                  </a:cubicBezTo>
                  <a:lnTo>
                    <a:pt x="182880" y="2834640"/>
                  </a:lnTo>
                  <a:cubicBezTo>
                    <a:pt x="81915" y="2834640"/>
                    <a:pt x="0" y="2752725"/>
                    <a:pt x="0" y="2651760"/>
                  </a:cubicBezTo>
                  <a:close/>
                </a:path>
              </a:pathLst>
            </a:custGeom>
            <a:solidFill>
              <a:srgbClr val="EAF8FA"/>
            </a:solidFill>
          </p:spPr>
          <p:txBody>
            <a:bodyPr/>
            <a:p/>
          </p:txBody>
        </p:sp>
      </p:grpSp>
      <p:grpSp>
        <p:nvGrpSpPr>
          <p:cNvPr name="Group 69" id="69"/>
          <p:cNvGrpSpPr/>
          <p:nvPr/>
        </p:nvGrpSpPr>
        <p:grpSpPr>
          <a:xfrm rot="0">
            <a:off x="12316968" y="2578608"/>
            <a:ext cx="576072" cy="576072"/>
            <a:chOff x="0" y="0"/>
            <a:chExt cx="768096" cy="768096"/>
          </a:xfrm>
        </p:grpSpPr>
        <p:sp>
          <p:nvSpPr>
            <p:cNvPr name="Freeform 70" id="70"/>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39C0D3"/>
            </a:solidFill>
          </p:spPr>
          <p:txBody>
            <a:bodyPr/>
            <a:p/>
          </p:txBody>
        </p:sp>
      </p:grpSp>
      <p:grpSp>
        <p:nvGrpSpPr>
          <p:cNvPr name="Group 71" id="71"/>
          <p:cNvGrpSpPr/>
          <p:nvPr/>
        </p:nvGrpSpPr>
        <p:grpSpPr>
          <a:xfrm rot="0">
            <a:off x="12316968" y="2578608"/>
            <a:ext cx="576072" cy="576072"/>
            <a:chOff x="0" y="0"/>
            <a:chExt cx="768096" cy="768096"/>
          </a:xfrm>
        </p:grpSpPr>
        <p:sp>
          <p:nvSpPr>
            <p:cNvPr name="Freeform 72" id="72"/>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4">
                <a:alphaModFix amt="0"/>
              </a:blip>
              <a:stretch>
                <a:fillRect l="-78392" t="0" r="-78392" b="0"/>
              </a:stretch>
            </a:blipFill>
          </p:spPr>
          <p:txBody>
            <a:bodyPr/>
            <a:p/>
          </p:txBody>
        </p:sp>
      </p:grpSp>
      <p:grpSp>
        <p:nvGrpSpPr>
          <p:cNvPr name="Group 73" id="73"/>
          <p:cNvGrpSpPr/>
          <p:nvPr/>
        </p:nvGrpSpPr>
        <p:grpSpPr>
          <a:xfrm rot="0">
            <a:off x="12316968" y="2542889"/>
            <a:ext cx="576072" cy="611791"/>
            <a:chOff x="0" y="0"/>
            <a:chExt cx="768096" cy="815721"/>
          </a:xfrm>
        </p:grpSpPr>
        <p:sp>
          <p:nvSpPr>
            <p:cNvPr name="Freeform 74" id="74"/>
            <p:cNvSpPr/>
            <p:nvPr/>
          </p:nvSpPr>
          <p:spPr>
            <a:xfrm flipH="false" flipV="false" rot="0">
              <a:off x="0" y="0"/>
              <a:ext cx="768096" cy="815721"/>
            </a:xfrm>
            <a:custGeom>
              <a:avLst/>
              <a:gdLst/>
              <a:ahLst/>
              <a:cxnLst/>
              <a:rect r="r" b="b" t="t" l="l"/>
              <a:pathLst>
                <a:path h="815721" w="768096">
                  <a:moveTo>
                    <a:pt x="0" y="0"/>
                  </a:moveTo>
                  <a:lnTo>
                    <a:pt x="768096" y="0"/>
                  </a:lnTo>
                  <a:lnTo>
                    <a:pt x="768096" y="815721"/>
                  </a:lnTo>
                  <a:lnTo>
                    <a:pt x="0" y="815721"/>
                  </a:lnTo>
                  <a:close/>
                </a:path>
              </a:pathLst>
            </a:custGeom>
            <a:blipFill>
              <a:blip r:embed="rId5">
                <a:alphaModFix amt="0"/>
              </a:blip>
              <a:stretch>
                <a:fillRect l="-86354" t="0" r="-86354" b="0"/>
              </a:stretch>
            </a:blipFill>
          </p:spPr>
          <p:txBody>
            <a:bodyPr/>
            <a:p/>
          </p:txBody>
        </p:sp>
      </p:grpSp>
      <p:grpSp>
        <p:nvGrpSpPr>
          <p:cNvPr name="Group 75" id="75"/>
          <p:cNvGrpSpPr/>
          <p:nvPr/>
        </p:nvGrpSpPr>
        <p:grpSpPr>
          <a:xfrm rot="0">
            <a:off x="12316968" y="2507171"/>
            <a:ext cx="576072" cy="647510"/>
            <a:chOff x="0" y="0"/>
            <a:chExt cx="768096" cy="863346"/>
          </a:xfrm>
        </p:grpSpPr>
        <p:sp>
          <p:nvSpPr>
            <p:cNvPr name="Freeform 76" id="76"/>
            <p:cNvSpPr/>
            <p:nvPr/>
          </p:nvSpPr>
          <p:spPr>
            <a:xfrm flipH="false" flipV="false" rot="0">
              <a:off x="0" y="0"/>
              <a:ext cx="768096" cy="863346"/>
            </a:xfrm>
            <a:custGeom>
              <a:avLst/>
              <a:gdLst/>
              <a:ahLst/>
              <a:cxnLst/>
              <a:rect r="r" b="b" t="t" l="l"/>
              <a:pathLst>
                <a:path h="863346" w="768096">
                  <a:moveTo>
                    <a:pt x="0" y="0"/>
                  </a:moveTo>
                  <a:lnTo>
                    <a:pt x="768096" y="0"/>
                  </a:lnTo>
                  <a:lnTo>
                    <a:pt x="768096" y="863346"/>
                  </a:lnTo>
                  <a:lnTo>
                    <a:pt x="0" y="863346"/>
                  </a:lnTo>
                  <a:close/>
                </a:path>
              </a:pathLst>
            </a:custGeom>
            <a:blipFill>
              <a:blip r:embed="rId6">
                <a:alphaModFix amt="0"/>
              </a:blip>
              <a:stretch>
                <a:fillRect l="-94214" t="0" r="-94214" b="0"/>
              </a:stretch>
            </a:blipFill>
          </p:spPr>
          <p:txBody>
            <a:bodyPr/>
            <a:p/>
          </p:txBody>
        </p:sp>
        <p:sp>
          <p:nvSpPr>
            <p:cNvPr name="TextBox 77" id="77"/>
            <p:cNvSpPr txBox="true"/>
            <p:nvPr/>
          </p:nvSpPr>
          <p:spPr>
            <a:xfrm>
              <a:off x="0" y="-47625"/>
              <a:ext cx="768096" cy="910971"/>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1</a:t>
              </a:r>
            </a:p>
          </p:txBody>
        </p:sp>
      </p:grpSp>
      <p:grpSp>
        <p:nvGrpSpPr>
          <p:cNvPr name="Group 78" id="78"/>
          <p:cNvGrpSpPr/>
          <p:nvPr/>
        </p:nvGrpSpPr>
        <p:grpSpPr>
          <a:xfrm rot="0">
            <a:off x="13098780" y="2537460"/>
            <a:ext cx="4114800" cy="1783080"/>
            <a:chOff x="0" y="0"/>
            <a:chExt cx="5486400" cy="2377440"/>
          </a:xfrm>
        </p:grpSpPr>
        <p:sp>
          <p:nvSpPr>
            <p:cNvPr name="Freeform 79" id="79"/>
            <p:cNvSpPr/>
            <p:nvPr/>
          </p:nvSpPr>
          <p:spPr>
            <a:xfrm flipH="false" flipV="false" rot="0">
              <a:off x="0" y="0"/>
              <a:ext cx="5486400" cy="2377440"/>
            </a:xfrm>
            <a:custGeom>
              <a:avLst/>
              <a:gdLst/>
              <a:ahLst/>
              <a:cxnLst/>
              <a:rect r="r" b="b" t="t" l="l"/>
              <a:pathLst>
                <a:path h="2377440" w="5486400">
                  <a:moveTo>
                    <a:pt x="0" y="0"/>
                  </a:moveTo>
                  <a:lnTo>
                    <a:pt x="5486400" y="0"/>
                  </a:lnTo>
                  <a:lnTo>
                    <a:pt x="5486400" y="2377440"/>
                  </a:lnTo>
                  <a:lnTo>
                    <a:pt x="0" y="2377440"/>
                  </a:lnTo>
                  <a:close/>
                </a:path>
              </a:pathLst>
            </a:custGeom>
            <a:blipFill>
              <a:blip r:embed="rId4">
                <a:alphaModFix amt="0"/>
              </a:blip>
              <a:stretch>
                <a:fillRect l="-5636" t="0" r="-5637" b="0"/>
              </a:stretch>
            </a:blipFill>
          </p:spPr>
          <p:txBody>
            <a:bodyPr/>
            <a:p/>
          </p:txBody>
        </p:sp>
      </p:grpSp>
      <p:grpSp>
        <p:nvGrpSpPr>
          <p:cNvPr name="Group 80" id="80"/>
          <p:cNvGrpSpPr/>
          <p:nvPr/>
        </p:nvGrpSpPr>
        <p:grpSpPr>
          <a:xfrm rot="0">
            <a:off x="13098780" y="2508885"/>
            <a:ext cx="4114800" cy="1811655"/>
            <a:chOff x="0" y="0"/>
            <a:chExt cx="5486400" cy="2415540"/>
          </a:xfrm>
        </p:grpSpPr>
        <p:sp>
          <p:nvSpPr>
            <p:cNvPr name="Freeform 81" id="81"/>
            <p:cNvSpPr/>
            <p:nvPr/>
          </p:nvSpPr>
          <p:spPr>
            <a:xfrm flipH="false" flipV="false" rot="0">
              <a:off x="0" y="0"/>
              <a:ext cx="5486400" cy="2415540"/>
            </a:xfrm>
            <a:custGeom>
              <a:avLst/>
              <a:gdLst/>
              <a:ahLst/>
              <a:cxnLst/>
              <a:rect r="r" b="b" t="t" l="l"/>
              <a:pathLst>
                <a:path h="2415540" w="5486400">
                  <a:moveTo>
                    <a:pt x="0" y="0"/>
                  </a:moveTo>
                  <a:lnTo>
                    <a:pt x="5486400" y="0"/>
                  </a:lnTo>
                  <a:lnTo>
                    <a:pt x="5486400" y="2415540"/>
                  </a:lnTo>
                  <a:lnTo>
                    <a:pt x="0" y="2415540"/>
                  </a:lnTo>
                  <a:close/>
                </a:path>
              </a:pathLst>
            </a:custGeom>
            <a:blipFill>
              <a:blip r:embed="rId5">
                <a:alphaModFix amt="0"/>
              </a:blip>
              <a:stretch>
                <a:fillRect l="-6528" t="0" r="-6528" b="0"/>
              </a:stretch>
            </a:blipFill>
          </p:spPr>
          <p:txBody>
            <a:bodyPr/>
            <a:p/>
          </p:txBody>
        </p:sp>
      </p:grpSp>
      <p:grpSp>
        <p:nvGrpSpPr>
          <p:cNvPr name="Group 82" id="82"/>
          <p:cNvGrpSpPr/>
          <p:nvPr/>
        </p:nvGrpSpPr>
        <p:grpSpPr>
          <a:xfrm rot="0">
            <a:off x="13098780" y="2480310"/>
            <a:ext cx="4114800" cy="1840230"/>
            <a:chOff x="0" y="0"/>
            <a:chExt cx="5486400" cy="2453640"/>
          </a:xfrm>
        </p:grpSpPr>
        <p:sp>
          <p:nvSpPr>
            <p:cNvPr name="Freeform 83" id="83"/>
            <p:cNvSpPr/>
            <p:nvPr/>
          </p:nvSpPr>
          <p:spPr>
            <a:xfrm flipH="false" flipV="false" rot="0">
              <a:off x="0" y="0"/>
              <a:ext cx="5486400" cy="2453640"/>
            </a:xfrm>
            <a:custGeom>
              <a:avLst/>
              <a:gdLst/>
              <a:ahLst/>
              <a:cxnLst/>
              <a:rect r="r" b="b" t="t" l="l"/>
              <a:pathLst>
                <a:path h="2453640" w="5486400">
                  <a:moveTo>
                    <a:pt x="0" y="0"/>
                  </a:moveTo>
                  <a:lnTo>
                    <a:pt x="5486400" y="0"/>
                  </a:lnTo>
                  <a:lnTo>
                    <a:pt x="5486400" y="2453640"/>
                  </a:lnTo>
                  <a:lnTo>
                    <a:pt x="0" y="2453640"/>
                  </a:lnTo>
                  <a:close/>
                </a:path>
              </a:pathLst>
            </a:custGeom>
            <a:blipFill>
              <a:blip r:embed="rId6">
                <a:alphaModFix amt="0"/>
              </a:blip>
              <a:stretch>
                <a:fillRect l="-7380" t="0" r="-7380" b="0"/>
              </a:stretch>
            </a:blipFill>
          </p:spPr>
          <p:txBody>
            <a:bodyPr/>
            <a:p/>
          </p:txBody>
        </p:sp>
        <p:sp>
          <p:nvSpPr>
            <p:cNvPr name="TextBox 84" id="84"/>
            <p:cNvSpPr txBox="true"/>
            <p:nvPr/>
          </p:nvSpPr>
          <p:spPr>
            <a:xfrm>
              <a:off x="0" y="-38100"/>
              <a:ext cx="5486400" cy="24917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Integrasi sistem dinamis dengan data spasial multi-temporal, sehingga model responsif terhadap kondisi lingkungan aktual</a:t>
              </a:r>
            </a:p>
          </p:txBody>
        </p:sp>
      </p:grpSp>
      <p:grpSp>
        <p:nvGrpSpPr>
          <p:cNvPr name="Group 85" id="85"/>
          <p:cNvGrpSpPr/>
          <p:nvPr/>
        </p:nvGrpSpPr>
        <p:grpSpPr>
          <a:xfrm rot="0">
            <a:off x="12070080" y="4663440"/>
            <a:ext cx="5390388" cy="2125980"/>
            <a:chOff x="0" y="0"/>
            <a:chExt cx="7187184" cy="2834640"/>
          </a:xfrm>
        </p:grpSpPr>
        <p:sp>
          <p:nvSpPr>
            <p:cNvPr name="Freeform 86" id="86"/>
            <p:cNvSpPr/>
            <p:nvPr/>
          </p:nvSpPr>
          <p:spPr>
            <a:xfrm flipH="false" flipV="false" rot="0">
              <a:off x="0" y="0"/>
              <a:ext cx="7187185" cy="2834640"/>
            </a:xfrm>
            <a:custGeom>
              <a:avLst/>
              <a:gdLst/>
              <a:ahLst/>
              <a:cxnLst/>
              <a:rect r="r" b="b" t="t" l="l"/>
              <a:pathLst>
                <a:path h="2834640" w="7187185">
                  <a:moveTo>
                    <a:pt x="0" y="182880"/>
                  </a:moveTo>
                  <a:cubicBezTo>
                    <a:pt x="0" y="81915"/>
                    <a:pt x="81915" y="0"/>
                    <a:pt x="182880" y="0"/>
                  </a:cubicBezTo>
                  <a:lnTo>
                    <a:pt x="7004304" y="0"/>
                  </a:lnTo>
                  <a:cubicBezTo>
                    <a:pt x="7105269" y="0"/>
                    <a:pt x="7187185" y="81915"/>
                    <a:pt x="7187185" y="182880"/>
                  </a:cubicBezTo>
                  <a:lnTo>
                    <a:pt x="7187185" y="2651760"/>
                  </a:lnTo>
                  <a:cubicBezTo>
                    <a:pt x="7187185" y="2752725"/>
                    <a:pt x="7105269" y="2834640"/>
                    <a:pt x="7004304" y="2834640"/>
                  </a:cubicBezTo>
                  <a:lnTo>
                    <a:pt x="182880" y="2834640"/>
                  </a:lnTo>
                  <a:cubicBezTo>
                    <a:pt x="81915" y="2834640"/>
                    <a:pt x="0" y="2752725"/>
                    <a:pt x="0" y="2651760"/>
                  </a:cubicBezTo>
                  <a:close/>
                </a:path>
              </a:pathLst>
            </a:custGeom>
            <a:solidFill>
              <a:srgbClr val="EAF8FA"/>
            </a:solidFill>
          </p:spPr>
          <p:txBody>
            <a:bodyPr/>
            <a:p/>
          </p:txBody>
        </p:sp>
      </p:grpSp>
      <p:grpSp>
        <p:nvGrpSpPr>
          <p:cNvPr name="Group 87" id="87"/>
          <p:cNvGrpSpPr/>
          <p:nvPr/>
        </p:nvGrpSpPr>
        <p:grpSpPr>
          <a:xfrm rot="0">
            <a:off x="12316968" y="4910328"/>
            <a:ext cx="576072" cy="576072"/>
            <a:chOff x="0" y="0"/>
            <a:chExt cx="768096" cy="768096"/>
          </a:xfrm>
        </p:grpSpPr>
        <p:sp>
          <p:nvSpPr>
            <p:cNvPr name="Freeform 88" id="88"/>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39C0D3"/>
            </a:solidFill>
          </p:spPr>
          <p:txBody>
            <a:bodyPr/>
            <a:p/>
          </p:txBody>
        </p:sp>
      </p:grpSp>
      <p:grpSp>
        <p:nvGrpSpPr>
          <p:cNvPr name="Group 89" id="89"/>
          <p:cNvGrpSpPr/>
          <p:nvPr/>
        </p:nvGrpSpPr>
        <p:grpSpPr>
          <a:xfrm rot="0">
            <a:off x="12316968" y="4910328"/>
            <a:ext cx="576072" cy="576072"/>
            <a:chOff x="0" y="0"/>
            <a:chExt cx="768096" cy="768096"/>
          </a:xfrm>
        </p:grpSpPr>
        <p:sp>
          <p:nvSpPr>
            <p:cNvPr name="Freeform 90" id="90"/>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4">
                <a:alphaModFix amt="0"/>
              </a:blip>
              <a:stretch>
                <a:fillRect l="-78392" t="0" r="-78392" b="0"/>
              </a:stretch>
            </a:blipFill>
          </p:spPr>
          <p:txBody>
            <a:bodyPr/>
            <a:p/>
          </p:txBody>
        </p:sp>
      </p:grpSp>
      <p:grpSp>
        <p:nvGrpSpPr>
          <p:cNvPr name="Group 91" id="91"/>
          <p:cNvGrpSpPr/>
          <p:nvPr/>
        </p:nvGrpSpPr>
        <p:grpSpPr>
          <a:xfrm rot="0">
            <a:off x="12316968" y="4874609"/>
            <a:ext cx="576072" cy="611791"/>
            <a:chOff x="0" y="0"/>
            <a:chExt cx="768096" cy="815721"/>
          </a:xfrm>
        </p:grpSpPr>
        <p:sp>
          <p:nvSpPr>
            <p:cNvPr name="Freeform 92" id="92"/>
            <p:cNvSpPr/>
            <p:nvPr/>
          </p:nvSpPr>
          <p:spPr>
            <a:xfrm flipH="false" flipV="false" rot="0">
              <a:off x="0" y="0"/>
              <a:ext cx="768096" cy="815721"/>
            </a:xfrm>
            <a:custGeom>
              <a:avLst/>
              <a:gdLst/>
              <a:ahLst/>
              <a:cxnLst/>
              <a:rect r="r" b="b" t="t" l="l"/>
              <a:pathLst>
                <a:path h="815721" w="768096">
                  <a:moveTo>
                    <a:pt x="0" y="0"/>
                  </a:moveTo>
                  <a:lnTo>
                    <a:pt x="768096" y="0"/>
                  </a:lnTo>
                  <a:lnTo>
                    <a:pt x="768096" y="815721"/>
                  </a:lnTo>
                  <a:lnTo>
                    <a:pt x="0" y="815721"/>
                  </a:lnTo>
                  <a:close/>
                </a:path>
              </a:pathLst>
            </a:custGeom>
            <a:blipFill>
              <a:blip r:embed="rId5">
                <a:alphaModFix amt="0"/>
              </a:blip>
              <a:stretch>
                <a:fillRect l="-86354" t="0" r="-86354" b="0"/>
              </a:stretch>
            </a:blipFill>
          </p:spPr>
          <p:txBody>
            <a:bodyPr/>
            <a:p/>
          </p:txBody>
        </p:sp>
      </p:grpSp>
      <p:grpSp>
        <p:nvGrpSpPr>
          <p:cNvPr name="Group 93" id="93"/>
          <p:cNvGrpSpPr/>
          <p:nvPr/>
        </p:nvGrpSpPr>
        <p:grpSpPr>
          <a:xfrm rot="0">
            <a:off x="12316968" y="4838890"/>
            <a:ext cx="576072" cy="647510"/>
            <a:chOff x="0" y="0"/>
            <a:chExt cx="768096" cy="863346"/>
          </a:xfrm>
        </p:grpSpPr>
        <p:sp>
          <p:nvSpPr>
            <p:cNvPr name="Freeform 94" id="94"/>
            <p:cNvSpPr/>
            <p:nvPr/>
          </p:nvSpPr>
          <p:spPr>
            <a:xfrm flipH="false" flipV="false" rot="0">
              <a:off x="0" y="0"/>
              <a:ext cx="768096" cy="863346"/>
            </a:xfrm>
            <a:custGeom>
              <a:avLst/>
              <a:gdLst/>
              <a:ahLst/>
              <a:cxnLst/>
              <a:rect r="r" b="b" t="t" l="l"/>
              <a:pathLst>
                <a:path h="863346" w="768096">
                  <a:moveTo>
                    <a:pt x="0" y="0"/>
                  </a:moveTo>
                  <a:lnTo>
                    <a:pt x="768096" y="0"/>
                  </a:lnTo>
                  <a:lnTo>
                    <a:pt x="768096" y="863346"/>
                  </a:lnTo>
                  <a:lnTo>
                    <a:pt x="0" y="863346"/>
                  </a:lnTo>
                  <a:close/>
                </a:path>
              </a:pathLst>
            </a:custGeom>
            <a:blipFill>
              <a:blip r:embed="rId6">
                <a:alphaModFix amt="0"/>
              </a:blip>
              <a:stretch>
                <a:fillRect l="-94214" t="0" r="-94214" b="0"/>
              </a:stretch>
            </a:blipFill>
          </p:spPr>
          <p:txBody>
            <a:bodyPr/>
            <a:p/>
          </p:txBody>
        </p:sp>
        <p:sp>
          <p:nvSpPr>
            <p:cNvPr name="TextBox 95" id="95"/>
            <p:cNvSpPr txBox="true"/>
            <p:nvPr/>
          </p:nvSpPr>
          <p:spPr>
            <a:xfrm>
              <a:off x="0" y="-47625"/>
              <a:ext cx="768096" cy="910971"/>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2</a:t>
              </a:r>
            </a:p>
          </p:txBody>
        </p:sp>
      </p:grpSp>
      <p:grpSp>
        <p:nvGrpSpPr>
          <p:cNvPr name="Group 96" id="96"/>
          <p:cNvGrpSpPr/>
          <p:nvPr/>
        </p:nvGrpSpPr>
        <p:grpSpPr>
          <a:xfrm rot="0">
            <a:off x="13098780" y="4869180"/>
            <a:ext cx="4114800" cy="1783080"/>
            <a:chOff x="0" y="0"/>
            <a:chExt cx="5486400" cy="2377440"/>
          </a:xfrm>
        </p:grpSpPr>
        <p:sp>
          <p:nvSpPr>
            <p:cNvPr name="Freeform 97" id="97"/>
            <p:cNvSpPr/>
            <p:nvPr/>
          </p:nvSpPr>
          <p:spPr>
            <a:xfrm flipH="false" flipV="false" rot="0">
              <a:off x="0" y="0"/>
              <a:ext cx="5486400" cy="2377440"/>
            </a:xfrm>
            <a:custGeom>
              <a:avLst/>
              <a:gdLst/>
              <a:ahLst/>
              <a:cxnLst/>
              <a:rect r="r" b="b" t="t" l="l"/>
              <a:pathLst>
                <a:path h="2377440" w="5486400">
                  <a:moveTo>
                    <a:pt x="0" y="0"/>
                  </a:moveTo>
                  <a:lnTo>
                    <a:pt x="5486400" y="0"/>
                  </a:lnTo>
                  <a:lnTo>
                    <a:pt x="5486400" y="2377440"/>
                  </a:lnTo>
                  <a:lnTo>
                    <a:pt x="0" y="2377440"/>
                  </a:lnTo>
                  <a:close/>
                </a:path>
              </a:pathLst>
            </a:custGeom>
            <a:blipFill>
              <a:blip r:embed="rId4">
                <a:alphaModFix amt="0"/>
              </a:blip>
              <a:stretch>
                <a:fillRect l="-5636" t="0" r="-5637" b="0"/>
              </a:stretch>
            </a:blipFill>
          </p:spPr>
          <p:txBody>
            <a:bodyPr/>
            <a:p/>
          </p:txBody>
        </p:sp>
      </p:grpSp>
      <p:grpSp>
        <p:nvGrpSpPr>
          <p:cNvPr name="Group 98" id="98"/>
          <p:cNvGrpSpPr/>
          <p:nvPr/>
        </p:nvGrpSpPr>
        <p:grpSpPr>
          <a:xfrm rot="0">
            <a:off x="13098780" y="4840605"/>
            <a:ext cx="4114800" cy="1811655"/>
            <a:chOff x="0" y="0"/>
            <a:chExt cx="5486400" cy="2415540"/>
          </a:xfrm>
        </p:grpSpPr>
        <p:sp>
          <p:nvSpPr>
            <p:cNvPr name="Freeform 99" id="99"/>
            <p:cNvSpPr/>
            <p:nvPr/>
          </p:nvSpPr>
          <p:spPr>
            <a:xfrm flipH="false" flipV="false" rot="0">
              <a:off x="0" y="0"/>
              <a:ext cx="5486400" cy="2415540"/>
            </a:xfrm>
            <a:custGeom>
              <a:avLst/>
              <a:gdLst/>
              <a:ahLst/>
              <a:cxnLst/>
              <a:rect r="r" b="b" t="t" l="l"/>
              <a:pathLst>
                <a:path h="2415540" w="5486400">
                  <a:moveTo>
                    <a:pt x="0" y="0"/>
                  </a:moveTo>
                  <a:lnTo>
                    <a:pt x="5486400" y="0"/>
                  </a:lnTo>
                  <a:lnTo>
                    <a:pt x="5486400" y="2415540"/>
                  </a:lnTo>
                  <a:lnTo>
                    <a:pt x="0" y="2415540"/>
                  </a:lnTo>
                  <a:close/>
                </a:path>
              </a:pathLst>
            </a:custGeom>
            <a:blipFill>
              <a:blip r:embed="rId5">
                <a:alphaModFix amt="0"/>
              </a:blip>
              <a:stretch>
                <a:fillRect l="-6528" t="0" r="-6528" b="0"/>
              </a:stretch>
            </a:blipFill>
          </p:spPr>
          <p:txBody>
            <a:bodyPr/>
            <a:p/>
          </p:txBody>
        </p:sp>
      </p:grpSp>
      <p:grpSp>
        <p:nvGrpSpPr>
          <p:cNvPr name="Group 100" id="100"/>
          <p:cNvGrpSpPr/>
          <p:nvPr/>
        </p:nvGrpSpPr>
        <p:grpSpPr>
          <a:xfrm rot="0">
            <a:off x="13098780" y="4812030"/>
            <a:ext cx="4114800" cy="1840230"/>
            <a:chOff x="0" y="0"/>
            <a:chExt cx="5486400" cy="2453640"/>
          </a:xfrm>
        </p:grpSpPr>
        <p:sp>
          <p:nvSpPr>
            <p:cNvPr name="Freeform 101" id="101"/>
            <p:cNvSpPr/>
            <p:nvPr/>
          </p:nvSpPr>
          <p:spPr>
            <a:xfrm flipH="false" flipV="false" rot="0">
              <a:off x="0" y="0"/>
              <a:ext cx="5486400" cy="2453640"/>
            </a:xfrm>
            <a:custGeom>
              <a:avLst/>
              <a:gdLst/>
              <a:ahLst/>
              <a:cxnLst/>
              <a:rect r="r" b="b" t="t" l="l"/>
              <a:pathLst>
                <a:path h="2453640" w="5486400">
                  <a:moveTo>
                    <a:pt x="0" y="0"/>
                  </a:moveTo>
                  <a:lnTo>
                    <a:pt x="5486400" y="0"/>
                  </a:lnTo>
                  <a:lnTo>
                    <a:pt x="5486400" y="2453640"/>
                  </a:lnTo>
                  <a:lnTo>
                    <a:pt x="0" y="2453640"/>
                  </a:lnTo>
                  <a:close/>
                </a:path>
              </a:pathLst>
            </a:custGeom>
            <a:blipFill>
              <a:blip r:embed="rId6">
                <a:alphaModFix amt="0"/>
              </a:blip>
              <a:stretch>
                <a:fillRect l="-7380" t="0" r="-7380" b="0"/>
              </a:stretch>
            </a:blipFill>
          </p:spPr>
          <p:txBody>
            <a:bodyPr/>
            <a:p/>
          </p:txBody>
        </p:sp>
        <p:sp>
          <p:nvSpPr>
            <p:cNvPr name="TextBox 102" id="102"/>
            <p:cNvSpPr txBox="true"/>
            <p:nvPr/>
          </p:nvSpPr>
          <p:spPr>
            <a:xfrm>
              <a:off x="0" y="-38100"/>
              <a:ext cx="5486400" cy="24917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DIY: destinasi utama dengan sistem kompleks yang belum pernah dimodelkan dengan pendekatan terpadu ini</a:t>
              </a:r>
            </a:p>
          </p:txBody>
        </p:sp>
      </p:grpSp>
      <p:grpSp>
        <p:nvGrpSpPr>
          <p:cNvPr name="Group 103" id="103"/>
          <p:cNvGrpSpPr/>
          <p:nvPr/>
        </p:nvGrpSpPr>
        <p:grpSpPr>
          <a:xfrm rot="0">
            <a:off x="12070080" y="6995160"/>
            <a:ext cx="5390388" cy="2125980"/>
            <a:chOff x="0" y="0"/>
            <a:chExt cx="7187184" cy="2834640"/>
          </a:xfrm>
        </p:grpSpPr>
        <p:sp>
          <p:nvSpPr>
            <p:cNvPr name="Freeform 104" id="104"/>
            <p:cNvSpPr/>
            <p:nvPr/>
          </p:nvSpPr>
          <p:spPr>
            <a:xfrm flipH="false" flipV="false" rot="0">
              <a:off x="0" y="0"/>
              <a:ext cx="7187185" cy="2834640"/>
            </a:xfrm>
            <a:custGeom>
              <a:avLst/>
              <a:gdLst/>
              <a:ahLst/>
              <a:cxnLst/>
              <a:rect r="r" b="b" t="t" l="l"/>
              <a:pathLst>
                <a:path h="2834640" w="7187185">
                  <a:moveTo>
                    <a:pt x="0" y="182880"/>
                  </a:moveTo>
                  <a:cubicBezTo>
                    <a:pt x="0" y="81915"/>
                    <a:pt x="81915" y="0"/>
                    <a:pt x="182880" y="0"/>
                  </a:cubicBezTo>
                  <a:lnTo>
                    <a:pt x="7004304" y="0"/>
                  </a:lnTo>
                  <a:cubicBezTo>
                    <a:pt x="7105269" y="0"/>
                    <a:pt x="7187185" y="81915"/>
                    <a:pt x="7187185" y="182880"/>
                  </a:cubicBezTo>
                  <a:lnTo>
                    <a:pt x="7187185" y="2651760"/>
                  </a:lnTo>
                  <a:cubicBezTo>
                    <a:pt x="7187185" y="2752725"/>
                    <a:pt x="7105269" y="2834640"/>
                    <a:pt x="7004304" y="2834640"/>
                  </a:cubicBezTo>
                  <a:lnTo>
                    <a:pt x="182880" y="2834640"/>
                  </a:lnTo>
                  <a:cubicBezTo>
                    <a:pt x="81915" y="2834640"/>
                    <a:pt x="0" y="2752725"/>
                    <a:pt x="0" y="2651760"/>
                  </a:cubicBezTo>
                  <a:close/>
                </a:path>
              </a:pathLst>
            </a:custGeom>
            <a:solidFill>
              <a:srgbClr val="EAF8FA"/>
            </a:solidFill>
          </p:spPr>
          <p:txBody>
            <a:bodyPr/>
            <a:p/>
          </p:txBody>
        </p:sp>
      </p:grpSp>
      <p:grpSp>
        <p:nvGrpSpPr>
          <p:cNvPr name="Group 105" id="105"/>
          <p:cNvGrpSpPr/>
          <p:nvPr/>
        </p:nvGrpSpPr>
        <p:grpSpPr>
          <a:xfrm rot="0">
            <a:off x="12316968" y="7242048"/>
            <a:ext cx="576072" cy="576072"/>
            <a:chOff x="0" y="0"/>
            <a:chExt cx="768096" cy="768096"/>
          </a:xfrm>
        </p:grpSpPr>
        <p:sp>
          <p:nvSpPr>
            <p:cNvPr name="Freeform 106" id="106"/>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39C0D3"/>
            </a:solidFill>
          </p:spPr>
          <p:txBody>
            <a:bodyPr/>
            <a:p/>
          </p:txBody>
        </p:sp>
      </p:grpSp>
      <p:grpSp>
        <p:nvGrpSpPr>
          <p:cNvPr name="Group 107" id="107"/>
          <p:cNvGrpSpPr/>
          <p:nvPr/>
        </p:nvGrpSpPr>
        <p:grpSpPr>
          <a:xfrm rot="0">
            <a:off x="12316968" y="7242048"/>
            <a:ext cx="576072" cy="576072"/>
            <a:chOff x="0" y="0"/>
            <a:chExt cx="768096" cy="768096"/>
          </a:xfrm>
        </p:grpSpPr>
        <p:sp>
          <p:nvSpPr>
            <p:cNvPr name="Freeform 108" id="108"/>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4">
                <a:alphaModFix amt="0"/>
              </a:blip>
              <a:stretch>
                <a:fillRect l="-78392" t="0" r="-78392" b="0"/>
              </a:stretch>
            </a:blipFill>
          </p:spPr>
          <p:txBody>
            <a:bodyPr/>
            <a:p/>
          </p:txBody>
        </p:sp>
      </p:grpSp>
      <p:grpSp>
        <p:nvGrpSpPr>
          <p:cNvPr name="Group 109" id="109"/>
          <p:cNvGrpSpPr/>
          <p:nvPr/>
        </p:nvGrpSpPr>
        <p:grpSpPr>
          <a:xfrm rot="0">
            <a:off x="12316968" y="7206329"/>
            <a:ext cx="576072" cy="611791"/>
            <a:chOff x="0" y="0"/>
            <a:chExt cx="768096" cy="815721"/>
          </a:xfrm>
        </p:grpSpPr>
        <p:sp>
          <p:nvSpPr>
            <p:cNvPr name="Freeform 110" id="110"/>
            <p:cNvSpPr/>
            <p:nvPr/>
          </p:nvSpPr>
          <p:spPr>
            <a:xfrm flipH="false" flipV="false" rot="0">
              <a:off x="0" y="0"/>
              <a:ext cx="768096" cy="815721"/>
            </a:xfrm>
            <a:custGeom>
              <a:avLst/>
              <a:gdLst/>
              <a:ahLst/>
              <a:cxnLst/>
              <a:rect r="r" b="b" t="t" l="l"/>
              <a:pathLst>
                <a:path h="815721" w="768096">
                  <a:moveTo>
                    <a:pt x="0" y="0"/>
                  </a:moveTo>
                  <a:lnTo>
                    <a:pt x="768096" y="0"/>
                  </a:lnTo>
                  <a:lnTo>
                    <a:pt x="768096" y="815721"/>
                  </a:lnTo>
                  <a:lnTo>
                    <a:pt x="0" y="815721"/>
                  </a:lnTo>
                  <a:close/>
                </a:path>
              </a:pathLst>
            </a:custGeom>
            <a:blipFill>
              <a:blip r:embed="rId5">
                <a:alphaModFix amt="0"/>
              </a:blip>
              <a:stretch>
                <a:fillRect l="-86354" t="0" r="-86354" b="0"/>
              </a:stretch>
            </a:blipFill>
          </p:spPr>
          <p:txBody>
            <a:bodyPr/>
            <a:p/>
          </p:txBody>
        </p:sp>
      </p:grpSp>
      <p:grpSp>
        <p:nvGrpSpPr>
          <p:cNvPr name="Group 111" id="111"/>
          <p:cNvGrpSpPr/>
          <p:nvPr/>
        </p:nvGrpSpPr>
        <p:grpSpPr>
          <a:xfrm rot="0">
            <a:off x="12316968" y="7170610"/>
            <a:ext cx="576072" cy="647510"/>
            <a:chOff x="0" y="0"/>
            <a:chExt cx="768096" cy="863346"/>
          </a:xfrm>
        </p:grpSpPr>
        <p:sp>
          <p:nvSpPr>
            <p:cNvPr name="Freeform 112" id="112"/>
            <p:cNvSpPr/>
            <p:nvPr/>
          </p:nvSpPr>
          <p:spPr>
            <a:xfrm flipH="false" flipV="false" rot="0">
              <a:off x="0" y="0"/>
              <a:ext cx="768096" cy="863346"/>
            </a:xfrm>
            <a:custGeom>
              <a:avLst/>
              <a:gdLst/>
              <a:ahLst/>
              <a:cxnLst/>
              <a:rect r="r" b="b" t="t" l="l"/>
              <a:pathLst>
                <a:path h="863346" w="768096">
                  <a:moveTo>
                    <a:pt x="0" y="0"/>
                  </a:moveTo>
                  <a:lnTo>
                    <a:pt x="768096" y="0"/>
                  </a:lnTo>
                  <a:lnTo>
                    <a:pt x="768096" y="863346"/>
                  </a:lnTo>
                  <a:lnTo>
                    <a:pt x="0" y="863346"/>
                  </a:lnTo>
                  <a:close/>
                </a:path>
              </a:pathLst>
            </a:custGeom>
            <a:blipFill>
              <a:blip r:embed="rId6">
                <a:alphaModFix amt="0"/>
              </a:blip>
              <a:stretch>
                <a:fillRect l="-94214" t="0" r="-94214" b="0"/>
              </a:stretch>
            </a:blipFill>
          </p:spPr>
          <p:txBody>
            <a:bodyPr/>
            <a:p/>
          </p:txBody>
        </p:sp>
        <p:sp>
          <p:nvSpPr>
            <p:cNvPr name="TextBox 113" id="113"/>
            <p:cNvSpPr txBox="true"/>
            <p:nvPr/>
          </p:nvSpPr>
          <p:spPr>
            <a:xfrm>
              <a:off x="0" y="-47625"/>
              <a:ext cx="768096" cy="910971"/>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3</a:t>
              </a:r>
            </a:p>
          </p:txBody>
        </p:sp>
      </p:grpSp>
      <p:grpSp>
        <p:nvGrpSpPr>
          <p:cNvPr name="Group 114" id="114"/>
          <p:cNvGrpSpPr/>
          <p:nvPr/>
        </p:nvGrpSpPr>
        <p:grpSpPr>
          <a:xfrm rot="0">
            <a:off x="13098780" y="7200900"/>
            <a:ext cx="4114800" cy="1783080"/>
            <a:chOff x="0" y="0"/>
            <a:chExt cx="5486400" cy="2377440"/>
          </a:xfrm>
        </p:grpSpPr>
        <p:sp>
          <p:nvSpPr>
            <p:cNvPr name="Freeform 115" id="115"/>
            <p:cNvSpPr/>
            <p:nvPr/>
          </p:nvSpPr>
          <p:spPr>
            <a:xfrm flipH="false" flipV="false" rot="0">
              <a:off x="0" y="0"/>
              <a:ext cx="5486400" cy="2377440"/>
            </a:xfrm>
            <a:custGeom>
              <a:avLst/>
              <a:gdLst/>
              <a:ahLst/>
              <a:cxnLst/>
              <a:rect r="r" b="b" t="t" l="l"/>
              <a:pathLst>
                <a:path h="2377440" w="5486400">
                  <a:moveTo>
                    <a:pt x="0" y="0"/>
                  </a:moveTo>
                  <a:lnTo>
                    <a:pt x="5486400" y="0"/>
                  </a:lnTo>
                  <a:lnTo>
                    <a:pt x="5486400" y="2377440"/>
                  </a:lnTo>
                  <a:lnTo>
                    <a:pt x="0" y="2377440"/>
                  </a:lnTo>
                  <a:close/>
                </a:path>
              </a:pathLst>
            </a:custGeom>
            <a:blipFill>
              <a:blip r:embed="rId4">
                <a:alphaModFix amt="0"/>
              </a:blip>
              <a:stretch>
                <a:fillRect l="-5636" t="0" r="-5637" b="0"/>
              </a:stretch>
            </a:blipFill>
          </p:spPr>
          <p:txBody>
            <a:bodyPr/>
            <a:p/>
          </p:txBody>
        </p:sp>
      </p:grpSp>
      <p:grpSp>
        <p:nvGrpSpPr>
          <p:cNvPr name="Group 116" id="116"/>
          <p:cNvGrpSpPr/>
          <p:nvPr/>
        </p:nvGrpSpPr>
        <p:grpSpPr>
          <a:xfrm rot="0">
            <a:off x="13098780" y="7172325"/>
            <a:ext cx="4114800" cy="1811655"/>
            <a:chOff x="0" y="0"/>
            <a:chExt cx="5486400" cy="2415540"/>
          </a:xfrm>
        </p:grpSpPr>
        <p:sp>
          <p:nvSpPr>
            <p:cNvPr name="Freeform 117" id="117"/>
            <p:cNvSpPr/>
            <p:nvPr/>
          </p:nvSpPr>
          <p:spPr>
            <a:xfrm flipH="false" flipV="false" rot="0">
              <a:off x="0" y="0"/>
              <a:ext cx="5486400" cy="2415540"/>
            </a:xfrm>
            <a:custGeom>
              <a:avLst/>
              <a:gdLst/>
              <a:ahLst/>
              <a:cxnLst/>
              <a:rect r="r" b="b" t="t" l="l"/>
              <a:pathLst>
                <a:path h="2415540" w="5486400">
                  <a:moveTo>
                    <a:pt x="0" y="0"/>
                  </a:moveTo>
                  <a:lnTo>
                    <a:pt x="5486400" y="0"/>
                  </a:lnTo>
                  <a:lnTo>
                    <a:pt x="5486400" y="2415540"/>
                  </a:lnTo>
                  <a:lnTo>
                    <a:pt x="0" y="2415540"/>
                  </a:lnTo>
                  <a:close/>
                </a:path>
              </a:pathLst>
            </a:custGeom>
            <a:blipFill>
              <a:blip r:embed="rId5">
                <a:alphaModFix amt="0"/>
              </a:blip>
              <a:stretch>
                <a:fillRect l="-6528" t="0" r="-6528" b="0"/>
              </a:stretch>
            </a:blipFill>
          </p:spPr>
          <p:txBody>
            <a:bodyPr/>
            <a:p/>
          </p:txBody>
        </p:sp>
      </p:grpSp>
      <p:grpSp>
        <p:nvGrpSpPr>
          <p:cNvPr name="Group 118" id="118"/>
          <p:cNvGrpSpPr/>
          <p:nvPr/>
        </p:nvGrpSpPr>
        <p:grpSpPr>
          <a:xfrm rot="0">
            <a:off x="13098780" y="7143750"/>
            <a:ext cx="4114800" cy="1840230"/>
            <a:chOff x="0" y="0"/>
            <a:chExt cx="5486400" cy="2453640"/>
          </a:xfrm>
        </p:grpSpPr>
        <p:sp>
          <p:nvSpPr>
            <p:cNvPr name="Freeform 119" id="119"/>
            <p:cNvSpPr/>
            <p:nvPr/>
          </p:nvSpPr>
          <p:spPr>
            <a:xfrm flipH="false" flipV="false" rot="0">
              <a:off x="0" y="0"/>
              <a:ext cx="5486400" cy="2453640"/>
            </a:xfrm>
            <a:custGeom>
              <a:avLst/>
              <a:gdLst/>
              <a:ahLst/>
              <a:cxnLst/>
              <a:rect r="r" b="b" t="t" l="l"/>
              <a:pathLst>
                <a:path h="2453640" w="5486400">
                  <a:moveTo>
                    <a:pt x="0" y="0"/>
                  </a:moveTo>
                  <a:lnTo>
                    <a:pt x="5486400" y="0"/>
                  </a:lnTo>
                  <a:lnTo>
                    <a:pt x="5486400" y="2453640"/>
                  </a:lnTo>
                  <a:lnTo>
                    <a:pt x="0" y="2453640"/>
                  </a:lnTo>
                  <a:close/>
                </a:path>
              </a:pathLst>
            </a:custGeom>
            <a:blipFill>
              <a:blip r:embed="rId6">
                <a:alphaModFix amt="0"/>
              </a:blip>
              <a:stretch>
                <a:fillRect l="-7380" t="0" r="-7380" b="0"/>
              </a:stretch>
            </a:blipFill>
          </p:spPr>
          <p:txBody>
            <a:bodyPr/>
            <a:p/>
          </p:txBody>
        </p:sp>
        <p:sp>
          <p:nvSpPr>
            <p:cNvPr name="TextBox 120" id="120"/>
            <p:cNvSpPr txBox="true"/>
            <p:nvPr/>
          </p:nvSpPr>
          <p:spPr>
            <a:xfrm>
              <a:off x="0" y="-38100"/>
              <a:ext cx="5486400" cy="24917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Hasil simulasi tiga skenario diimplementasikan sebagai aplikasi web decision support tool</a:t>
              </a:r>
            </a:p>
          </p:txBody>
        </p:sp>
      </p:grpSp>
      <p:sp>
        <p:nvSpPr>
          <p:cNvPr name="TextBox 121" id="121"/>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10</a:t>
            </a:r>
          </a:p>
        </p:txBody>
      </p:sp>
      <p:grpSp>
        <p:nvGrpSpPr>
          <p:cNvPr name="Group 122" id="122"/>
          <p:cNvGrpSpPr/>
          <p:nvPr/>
        </p:nvGrpSpPr>
        <p:grpSpPr>
          <a:xfrm rot="0">
            <a:off x="16047720" y="9646920"/>
            <a:ext cx="420624" cy="420624"/>
            <a:chOff x="0" y="0"/>
            <a:chExt cx="560832" cy="560832"/>
          </a:xfrm>
        </p:grpSpPr>
        <p:sp>
          <p:nvSpPr>
            <p:cNvPr name="Freeform 123" id="123"/>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24" id="124"/>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grpSp>
        <p:nvGrpSpPr>
          <p:cNvPr name="Group 11" id="11"/>
          <p:cNvGrpSpPr/>
          <p:nvPr/>
        </p:nvGrpSpPr>
        <p:grpSpPr>
          <a:xfrm rot="0">
            <a:off x="822960" y="274320"/>
            <a:ext cx="2040922" cy="411480"/>
            <a:chOff x="0" y="0"/>
            <a:chExt cx="2721229" cy="548640"/>
          </a:xfrm>
        </p:grpSpPr>
        <p:sp>
          <p:nvSpPr>
            <p:cNvPr name="Freeform 12" id="12"/>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3" id="13"/>
          <p:cNvGrpSpPr/>
          <p:nvPr/>
        </p:nvGrpSpPr>
        <p:grpSpPr>
          <a:xfrm rot="0">
            <a:off x="822960" y="274320"/>
            <a:ext cx="2040922" cy="411480"/>
            <a:chOff x="0" y="0"/>
            <a:chExt cx="2721229" cy="548640"/>
          </a:xfrm>
        </p:grpSpPr>
        <p:sp>
          <p:nvSpPr>
            <p:cNvPr name="Freeform 14" id="14"/>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5" id="15"/>
          <p:cNvGrpSpPr/>
          <p:nvPr/>
        </p:nvGrpSpPr>
        <p:grpSpPr>
          <a:xfrm rot="0">
            <a:off x="822960" y="260033"/>
            <a:ext cx="2040941" cy="425768"/>
            <a:chOff x="0" y="0"/>
            <a:chExt cx="2721254" cy="567690"/>
          </a:xfrm>
        </p:grpSpPr>
        <p:sp>
          <p:nvSpPr>
            <p:cNvPr name="Freeform 16" id="16"/>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7" id="17"/>
          <p:cNvGrpSpPr/>
          <p:nvPr/>
        </p:nvGrpSpPr>
        <p:grpSpPr>
          <a:xfrm rot="0">
            <a:off x="822960" y="245745"/>
            <a:ext cx="2040941" cy="440055"/>
            <a:chOff x="0" y="0"/>
            <a:chExt cx="2721254" cy="586740"/>
          </a:xfrm>
        </p:grpSpPr>
        <p:sp>
          <p:nvSpPr>
            <p:cNvPr name="Freeform 18" id="18"/>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19" id="19"/>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Pendahuluan</a:t>
              </a:r>
            </a:p>
          </p:txBody>
        </p:sp>
      </p:grpSp>
      <p:grpSp>
        <p:nvGrpSpPr>
          <p:cNvPr name="Group 20" id="20"/>
          <p:cNvGrpSpPr/>
          <p:nvPr/>
        </p:nvGrpSpPr>
        <p:grpSpPr>
          <a:xfrm rot="0">
            <a:off x="2973629" y="274320"/>
            <a:ext cx="2378392" cy="411480"/>
            <a:chOff x="0" y="0"/>
            <a:chExt cx="3171190" cy="548640"/>
          </a:xfrm>
        </p:grpSpPr>
        <p:sp>
          <p:nvSpPr>
            <p:cNvPr name="Freeform 21" id="21"/>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2" id="22"/>
          <p:cNvGrpSpPr/>
          <p:nvPr/>
        </p:nvGrpSpPr>
        <p:grpSpPr>
          <a:xfrm rot="0">
            <a:off x="2973629" y="274320"/>
            <a:ext cx="2378392" cy="411480"/>
            <a:chOff x="0" y="0"/>
            <a:chExt cx="3171190" cy="548640"/>
          </a:xfrm>
        </p:grpSpPr>
        <p:sp>
          <p:nvSpPr>
            <p:cNvPr name="Freeform 23" id="23"/>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4" id="24"/>
          <p:cNvGrpSpPr/>
          <p:nvPr/>
        </p:nvGrpSpPr>
        <p:grpSpPr>
          <a:xfrm rot="0">
            <a:off x="2973629" y="260033"/>
            <a:ext cx="2378354" cy="425768"/>
            <a:chOff x="0" y="0"/>
            <a:chExt cx="3171139" cy="567690"/>
          </a:xfrm>
        </p:grpSpPr>
        <p:sp>
          <p:nvSpPr>
            <p:cNvPr name="Freeform 25" id="25"/>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6" id="26"/>
          <p:cNvGrpSpPr/>
          <p:nvPr/>
        </p:nvGrpSpPr>
        <p:grpSpPr>
          <a:xfrm rot="0">
            <a:off x="2973629" y="245745"/>
            <a:ext cx="2378354" cy="440055"/>
            <a:chOff x="0" y="0"/>
            <a:chExt cx="3171139" cy="586740"/>
          </a:xfrm>
        </p:grpSpPr>
        <p:sp>
          <p:nvSpPr>
            <p:cNvPr name="Freeform 27" id="27"/>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8" id="28"/>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29" id="29"/>
          <p:cNvGrpSpPr/>
          <p:nvPr/>
        </p:nvGrpSpPr>
        <p:grpSpPr>
          <a:xfrm rot="0">
            <a:off x="5461711" y="274320"/>
            <a:ext cx="1591056" cy="411480"/>
            <a:chOff x="0" y="0"/>
            <a:chExt cx="2121408" cy="548640"/>
          </a:xfrm>
        </p:grpSpPr>
        <p:sp>
          <p:nvSpPr>
            <p:cNvPr name="Freeform 30" id="30"/>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1" id="31"/>
          <p:cNvGrpSpPr/>
          <p:nvPr/>
        </p:nvGrpSpPr>
        <p:grpSpPr>
          <a:xfrm rot="0">
            <a:off x="5461711" y="274320"/>
            <a:ext cx="1591056" cy="411480"/>
            <a:chOff x="0" y="0"/>
            <a:chExt cx="2121408" cy="548640"/>
          </a:xfrm>
        </p:grpSpPr>
        <p:sp>
          <p:nvSpPr>
            <p:cNvPr name="Freeform 32" id="32"/>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3" id="33"/>
          <p:cNvGrpSpPr/>
          <p:nvPr/>
        </p:nvGrpSpPr>
        <p:grpSpPr>
          <a:xfrm rot="0">
            <a:off x="5461711" y="260033"/>
            <a:ext cx="1591056" cy="425768"/>
            <a:chOff x="0" y="0"/>
            <a:chExt cx="2121408" cy="567690"/>
          </a:xfrm>
        </p:grpSpPr>
        <p:sp>
          <p:nvSpPr>
            <p:cNvPr name="Freeform 34" id="34"/>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5" id="35"/>
          <p:cNvGrpSpPr/>
          <p:nvPr/>
        </p:nvGrpSpPr>
        <p:grpSpPr>
          <a:xfrm rot="0">
            <a:off x="5461711" y="245745"/>
            <a:ext cx="1591056" cy="440055"/>
            <a:chOff x="0" y="0"/>
            <a:chExt cx="2121408" cy="586740"/>
          </a:xfrm>
        </p:grpSpPr>
        <p:sp>
          <p:nvSpPr>
            <p:cNvPr name="Freeform 36" id="36"/>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7" id="37"/>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8" id="38"/>
          <p:cNvGrpSpPr/>
          <p:nvPr/>
        </p:nvGrpSpPr>
        <p:grpSpPr>
          <a:xfrm rot="0">
            <a:off x="7162495" y="274320"/>
            <a:ext cx="2490788" cy="411480"/>
            <a:chOff x="0" y="0"/>
            <a:chExt cx="3321050" cy="548640"/>
          </a:xfrm>
        </p:grpSpPr>
        <p:sp>
          <p:nvSpPr>
            <p:cNvPr name="Freeform 39" id="39"/>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7162495" y="274320"/>
            <a:ext cx="2490788" cy="411480"/>
            <a:chOff x="0" y="0"/>
            <a:chExt cx="3321050" cy="548640"/>
          </a:xfrm>
        </p:grpSpPr>
        <p:sp>
          <p:nvSpPr>
            <p:cNvPr name="Freeform 41" id="41"/>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2" id="42"/>
          <p:cNvGrpSpPr/>
          <p:nvPr/>
        </p:nvGrpSpPr>
        <p:grpSpPr>
          <a:xfrm rot="0">
            <a:off x="7162495" y="260033"/>
            <a:ext cx="2490826" cy="425768"/>
            <a:chOff x="0" y="0"/>
            <a:chExt cx="3321101" cy="567690"/>
          </a:xfrm>
        </p:grpSpPr>
        <p:sp>
          <p:nvSpPr>
            <p:cNvPr name="Freeform 43" id="43"/>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4" id="44"/>
          <p:cNvGrpSpPr/>
          <p:nvPr/>
        </p:nvGrpSpPr>
        <p:grpSpPr>
          <a:xfrm rot="0">
            <a:off x="7162495" y="245745"/>
            <a:ext cx="2490826" cy="440055"/>
            <a:chOff x="0" y="0"/>
            <a:chExt cx="3321101" cy="586740"/>
          </a:xfrm>
        </p:grpSpPr>
        <p:sp>
          <p:nvSpPr>
            <p:cNvPr name="Freeform 45" id="45"/>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6" id="46"/>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7" id="47"/>
          <p:cNvGrpSpPr/>
          <p:nvPr/>
        </p:nvGrpSpPr>
        <p:grpSpPr>
          <a:xfrm rot="0">
            <a:off x="9763049" y="274320"/>
            <a:ext cx="1366076" cy="411480"/>
            <a:chOff x="0" y="0"/>
            <a:chExt cx="1821434" cy="548640"/>
          </a:xfrm>
        </p:grpSpPr>
        <p:sp>
          <p:nvSpPr>
            <p:cNvPr name="Freeform 48" id="48"/>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9" id="49"/>
          <p:cNvGrpSpPr/>
          <p:nvPr/>
        </p:nvGrpSpPr>
        <p:grpSpPr>
          <a:xfrm rot="0">
            <a:off x="9763049" y="274320"/>
            <a:ext cx="1366076" cy="411480"/>
            <a:chOff x="0" y="0"/>
            <a:chExt cx="1821434" cy="548640"/>
          </a:xfrm>
        </p:grpSpPr>
        <p:sp>
          <p:nvSpPr>
            <p:cNvPr name="Freeform 50" id="50"/>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1" id="51"/>
          <p:cNvGrpSpPr/>
          <p:nvPr/>
        </p:nvGrpSpPr>
        <p:grpSpPr>
          <a:xfrm rot="0">
            <a:off x="9763049" y="260033"/>
            <a:ext cx="1366114" cy="425768"/>
            <a:chOff x="0" y="0"/>
            <a:chExt cx="1821485" cy="567690"/>
          </a:xfrm>
        </p:grpSpPr>
        <p:sp>
          <p:nvSpPr>
            <p:cNvPr name="Freeform 52" id="52"/>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3" id="53"/>
          <p:cNvGrpSpPr/>
          <p:nvPr/>
        </p:nvGrpSpPr>
        <p:grpSpPr>
          <a:xfrm rot="0">
            <a:off x="9763049" y="245745"/>
            <a:ext cx="1366114" cy="440055"/>
            <a:chOff x="0" y="0"/>
            <a:chExt cx="1821485" cy="586740"/>
          </a:xfrm>
        </p:grpSpPr>
        <p:sp>
          <p:nvSpPr>
            <p:cNvPr name="Freeform 54" id="54"/>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5" id="55"/>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6" id="56"/>
          <p:cNvGrpSpPr/>
          <p:nvPr/>
        </p:nvGrpSpPr>
        <p:grpSpPr>
          <a:xfrm rot="0">
            <a:off x="11238890" y="274320"/>
            <a:ext cx="1253680" cy="411480"/>
            <a:chOff x="0" y="0"/>
            <a:chExt cx="1671574" cy="548640"/>
          </a:xfrm>
        </p:grpSpPr>
        <p:sp>
          <p:nvSpPr>
            <p:cNvPr name="Freeform 57" id="57"/>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8" id="58"/>
          <p:cNvGrpSpPr/>
          <p:nvPr/>
        </p:nvGrpSpPr>
        <p:grpSpPr>
          <a:xfrm rot="0">
            <a:off x="11238890" y="274320"/>
            <a:ext cx="1253680" cy="411480"/>
            <a:chOff x="0" y="0"/>
            <a:chExt cx="1671574" cy="548640"/>
          </a:xfrm>
        </p:grpSpPr>
        <p:sp>
          <p:nvSpPr>
            <p:cNvPr name="Freeform 59" id="59"/>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0" id="60"/>
          <p:cNvGrpSpPr/>
          <p:nvPr/>
        </p:nvGrpSpPr>
        <p:grpSpPr>
          <a:xfrm rot="0">
            <a:off x="11238890" y="260033"/>
            <a:ext cx="1253642" cy="425768"/>
            <a:chOff x="0" y="0"/>
            <a:chExt cx="1671523" cy="567690"/>
          </a:xfrm>
        </p:grpSpPr>
        <p:sp>
          <p:nvSpPr>
            <p:cNvPr name="Freeform 61" id="61"/>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2" id="62"/>
          <p:cNvGrpSpPr/>
          <p:nvPr/>
        </p:nvGrpSpPr>
        <p:grpSpPr>
          <a:xfrm rot="0">
            <a:off x="11238890" y="245745"/>
            <a:ext cx="1253642" cy="440055"/>
            <a:chOff x="0" y="0"/>
            <a:chExt cx="1671523" cy="586740"/>
          </a:xfrm>
        </p:grpSpPr>
        <p:sp>
          <p:nvSpPr>
            <p:cNvPr name="Freeform 63" id="63"/>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4" id="64"/>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5" id="65"/>
          <p:cNvGrpSpPr/>
          <p:nvPr/>
        </p:nvGrpSpPr>
        <p:grpSpPr>
          <a:xfrm rot="0">
            <a:off x="2694203" y="1536192"/>
            <a:ext cx="12899612" cy="8019860"/>
            <a:chOff x="0" y="0"/>
            <a:chExt cx="17199483" cy="10693146"/>
          </a:xfrm>
        </p:grpSpPr>
        <p:sp>
          <p:nvSpPr>
            <p:cNvPr name="Freeform 66" id="66"/>
            <p:cNvSpPr/>
            <p:nvPr/>
          </p:nvSpPr>
          <p:spPr>
            <a:xfrm flipH="false" flipV="false" rot="0">
              <a:off x="0" y="0"/>
              <a:ext cx="17199483" cy="10693146"/>
            </a:xfrm>
            <a:custGeom>
              <a:avLst/>
              <a:gdLst/>
              <a:ahLst/>
              <a:cxnLst/>
              <a:rect r="r" b="b" t="t" l="l"/>
              <a:pathLst>
                <a:path h="10693146" w="17199483">
                  <a:moveTo>
                    <a:pt x="0" y="0"/>
                  </a:moveTo>
                  <a:lnTo>
                    <a:pt x="17199483" y="0"/>
                  </a:lnTo>
                  <a:lnTo>
                    <a:pt x="17199483" y="10693146"/>
                  </a:lnTo>
                  <a:lnTo>
                    <a:pt x="0" y="10693146"/>
                  </a:lnTo>
                  <a:lnTo>
                    <a:pt x="0" y="0"/>
                  </a:lnTo>
                  <a:close/>
                </a:path>
              </a:pathLst>
            </a:custGeom>
            <a:blipFill>
              <a:blip r:embed="rId7"/>
              <a:stretch>
                <a:fillRect l="0" t="-11326" r="0" b="-11326"/>
              </a:stretch>
            </a:blipFill>
          </p:spPr>
          <p:txBody>
            <a:bodyPr/>
            <a:p/>
          </p:txBody>
        </p:sp>
      </p:grpSp>
      <p:sp>
        <p:nvSpPr>
          <p:cNvPr name="TextBox 67" id="67"/>
          <p:cNvSpPr txBox="true"/>
          <p:nvPr/>
        </p:nvSpPr>
        <p:spPr>
          <a:xfrm rot="0">
            <a:off x="825246"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Kerangka Pikir Penelitian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Alur dari permasalahan sampai keluaran penelitian</a:t>
            </a:r>
          </a:p>
        </p:txBody>
      </p:sp>
      <p:sp>
        <p:nvSpPr>
          <p:cNvPr name="TextBox 68" id="68"/>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11</a:t>
            </a:r>
          </a:p>
        </p:txBody>
      </p:sp>
      <p:grpSp>
        <p:nvGrpSpPr>
          <p:cNvPr name="Group 69" id="69"/>
          <p:cNvGrpSpPr/>
          <p:nvPr/>
        </p:nvGrpSpPr>
        <p:grpSpPr>
          <a:xfrm rot="0">
            <a:off x="16047720" y="9646920"/>
            <a:ext cx="420624" cy="420624"/>
            <a:chOff x="0" y="0"/>
            <a:chExt cx="560832" cy="560832"/>
          </a:xfrm>
        </p:grpSpPr>
        <p:sp>
          <p:nvSpPr>
            <p:cNvPr name="Freeform 70" id="70"/>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71" id="71"/>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Lokasi Penelitian, Data, dan Sumber Data</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Data resmi 2015–2025 menjadi dasar model</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Freeform 66" id="66"/>
          <p:cNvSpPr/>
          <p:nvPr/>
        </p:nvSpPr>
        <p:spPr>
          <a:xfrm flipH="false" flipV="false" rot="0">
            <a:off x="806291" y="2315051"/>
            <a:ext cx="3983546" cy="2022158"/>
          </a:xfrm>
          <a:custGeom>
            <a:avLst/>
            <a:gdLst/>
            <a:ahLst/>
            <a:cxnLst/>
            <a:rect r="r" b="b" t="t" l="l"/>
            <a:pathLst>
              <a:path h="2022158" w="3983546">
                <a:moveTo>
                  <a:pt x="0" y="0"/>
                </a:moveTo>
                <a:lnTo>
                  <a:pt x="3983546" y="0"/>
                </a:lnTo>
                <a:lnTo>
                  <a:pt x="3983546" y="2022158"/>
                </a:lnTo>
                <a:lnTo>
                  <a:pt x="0" y="2022158"/>
                </a:lnTo>
                <a:lnTo>
                  <a:pt x="0" y="0"/>
                </a:lnTo>
                <a:close/>
              </a:path>
            </a:pathLst>
          </a:custGeom>
          <a:blipFill>
            <a:blip r:embed="rId7">
              <a:extLst>
                <a:ext uri="{96DAC541-7B7A-43D3-8B79-37D633B846F1}">
                  <asvg:svgBlip xmlns:asvg="http://schemas.microsoft.com/office/drawing/2016/SVG/main" r:embed="rId8"/>
                </a:ext>
              </a:extLst>
            </a:blip>
            <a:stretch>
              <a:fillRect l="0" t="-71" r="0" b="-71"/>
            </a:stretch>
          </a:blipFill>
        </p:spPr>
        <p:txBody>
          <a:bodyPr/>
          <a:p/>
        </p:txBody>
      </p:sp>
      <p:grpSp>
        <p:nvGrpSpPr>
          <p:cNvPr name="Group 67" id="67"/>
          <p:cNvGrpSpPr/>
          <p:nvPr/>
        </p:nvGrpSpPr>
        <p:grpSpPr>
          <a:xfrm rot="0">
            <a:off x="1097280" y="2523744"/>
            <a:ext cx="3401568" cy="822960"/>
            <a:chOff x="0" y="0"/>
            <a:chExt cx="4535424" cy="1097280"/>
          </a:xfrm>
        </p:grpSpPr>
        <p:sp>
          <p:nvSpPr>
            <p:cNvPr name="Freeform 68" id="68"/>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txBody>
            <a:bodyPr/>
            <a:p/>
          </p:txBody>
        </p:sp>
      </p:grpSp>
      <p:grpSp>
        <p:nvGrpSpPr>
          <p:cNvPr name="Group 69" id="69"/>
          <p:cNvGrpSpPr/>
          <p:nvPr/>
        </p:nvGrpSpPr>
        <p:grpSpPr>
          <a:xfrm rot="0">
            <a:off x="1097280" y="2452306"/>
            <a:ext cx="3401568" cy="894398"/>
            <a:chOff x="0" y="0"/>
            <a:chExt cx="4535424" cy="1192530"/>
          </a:xfrm>
        </p:grpSpPr>
        <p:sp>
          <p:nvSpPr>
            <p:cNvPr name="Freeform 70" id="70"/>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054" r="0" b="-24053"/>
              </a:stretch>
            </a:blipFill>
          </p:spPr>
          <p:txBody>
            <a:bodyPr/>
            <a:p/>
          </p:txBody>
        </p:sp>
      </p:grpSp>
      <p:grpSp>
        <p:nvGrpSpPr>
          <p:cNvPr name="Group 71" id="71"/>
          <p:cNvGrpSpPr/>
          <p:nvPr/>
        </p:nvGrpSpPr>
        <p:grpSpPr>
          <a:xfrm rot="0">
            <a:off x="1097280" y="2380869"/>
            <a:ext cx="3401568" cy="965835"/>
            <a:chOff x="0" y="0"/>
            <a:chExt cx="4535424" cy="1287780"/>
          </a:xfrm>
        </p:grpSpPr>
        <p:sp>
          <p:nvSpPr>
            <p:cNvPr name="Freeform 72" id="72"/>
            <p:cNvSpPr/>
            <p:nvPr/>
          </p:nvSpPr>
          <p:spPr>
            <a:xfrm flipH="false" flipV="false" rot="0">
              <a:off x="0" y="0"/>
              <a:ext cx="4535424" cy="1287781"/>
            </a:xfrm>
            <a:custGeom>
              <a:avLst/>
              <a:gdLst/>
              <a:ahLst/>
              <a:cxnLst/>
              <a:rect r="r" b="b" t="t" l="l"/>
              <a:pathLst>
                <a:path h="1287781" w="4535424">
                  <a:moveTo>
                    <a:pt x="0" y="0"/>
                  </a:moveTo>
                  <a:lnTo>
                    <a:pt x="4535424" y="0"/>
                  </a:lnTo>
                  <a:lnTo>
                    <a:pt x="4535424" y="1287781"/>
                  </a:lnTo>
                  <a:lnTo>
                    <a:pt x="0" y="1287781"/>
                  </a:lnTo>
                  <a:close/>
                </a:path>
              </a:pathLst>
            </a:custGeom>
            <a:blipFill>
              <a:blip r:embed="rId6">
                <a:alphaModFix amt="0"/>
              </a:blip>
              <a:stretch>
                <a:fillRect l="0" t="-18624" r="0" b="-18624"/>
              </a:stretch>
            </a:blipFill>
          </p:spPr>
          <p:txBody>
            <a:bodyPr/>
            <a:p/>
          </p:txBody>
        </p:sp>
        <p:sp>
          <p:nvSpPr>
            <p:cNvPr name="TextBox 73" id="73"/>
            <p:cNvSpPr txBox="true"/>
            <p:nvPr/>
          </p:nvSpPr>
          <p:spPr>
            <a:xfrm>
              <a:off x="0" y="-95250"/>
              <a:ext cx="4535424" cy="138303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2015–2025</a:t>
              </a:r>
            </a:p>
          </p:txBody>
        </p:sp>
      </p:grpSp>
      <p:sp>
        <p:nvSpPr>
          <p:cNvPr name="TextBox 74" id="74"/>
          <p:cNvSpPr txBox="true"/>
          <p:nvPr/>
        </p:nvSpPr>
        <p:spPr>
          <a:xfrm rot="0">
            <a:off x="1097280" y="3287268"/>
            <a:ext cx="3401568" cy="3810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periode data historis tahunan</a:t>
            </a:r>
          </a:p>
        </p:txBody>
      </p:sp>
      <p:sp>
        <p:nvSpPr>
          <p:cNvPr name="Freeform 75" id="75"/>
          <p:cNvSpPr/>
          <p:nvPr/>
        </p:nvSpPr>
        <p:spPr>
          <a:xfrm flipH="false" flipV="false" rot="0">
            <a:off x="5030819" y="2315051"/>
            <a:ext cx="3983546" cy="2022158"/>
          </a:xfrm>
          <a:custGeom>
            <a:avLst/>
            <a:gdLst/>
            <a:ahLst/>
            <a:cxnLst/>
            <a:rect r="r" b="b" t="t" l="l"/>
            <a:pathLst>
              <a:path h="2022158" w="3983546">
                <a:moveTo>
                  <a:pt x="0" y="0"/>
                </a:moveTo>
                <a:lnTo>
                  <a:pt x="3983546" y="0"/>
                </a:lnTo>
                <a:lnTo>
                  <a:pt x="3983546" y="2022158"/>
                </a:lnTo>
                <a:lnTo>
                  <a:pt x="0" y="2022158"/>
                </a:lnTo>
                <a:lnTo>
                  <a:pt x="0" y="0"/>
                </a:lnTo>
                <a:close/>
              </a:path>
            </a:pathLst>
          </a:custGeom>
          <a:blipFill>
            <a:blip r:embed="rId7">
              <a:extLst>
                <a:ext uri="{96DAC541-7B7A-43D3-8B79-37D633B846F1}">
                  <asvg:svgBlip xmlns:asvg="http://schemas.microsoft.com/office/drawing/2016/SVG/main" r:embed="rId8"/>
                </a:ext>
              </a:extLst>
            </a:blip>
            <a:stretch>
              <a:fillRect l="0" t="-71" r="0" b="-71"/>
            </a:stretch>
          </a:blipFill>
        </p:spPr>
        <p:txBody>
          <a:bodyPr/>
          <a:p/>
        </p:txBody>
      </p:sp>
      <p:grpSp>
        <p:nvGrpSpPr>
          <p:cNvPr name="Group 76" id="76"/>
          <p:cNvGrpSpPr/>
          <p:nvPr/>
        </p:nvGrpSpPr>
        <p:grpSpPr>
          <a:xfrm rot="0">
            <a:off x="5321808" y="2523744"/>
            <a:ext cx="3401568" cy="822960"/>
            <a:chOff x="0" y="0"/>
            <a:chExt cx="4535424" cy="1097280"/>
          </a:xfrm>
        </p:grpSpPr>
        <p:sp>
          <p:nvSpPr>
            <p:cNvPr name="Freeform 77" id="77"/>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txBody>
            <a:bodyPr/>
            <a:p/>
          </p:txBody>
        </p:sp>
      </p:grpSp>
      <p:grpSp>
        <p:nvGrpSpPr>
          <p:cNvPr name="Group 78" id="78"/>
          <p:cNvGrpSpPr/>
          <p:nvPr/>
        </p:nvGrpSpPr>
        <p:grpSpPr>
          <a:xfrm rot="0">
            <a:off x="5321808" y="2452306"/>
            <a:ext cx="3401568" cy="894398"/>
            <a:chOff x="0" y="0"/>
            <a:chExt cx="4535424" cy="1192530"/>
          </a:xfrm>
        </p:grpSpPr>
        <p:sp>
          <p:nvSpPr>
            <p:cNvPr name="Freeform 79" id="79"/>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054" r="0" b="-24053"/>
              </a:stretch>
            </a:blipFill>
          </p:spPr>
          <p:txBody>
            <a:bodyPr/>
            <a:p/>
          </p:txBody>
        </p:sp>
      </p:grpSp>
      <p:grpSp>
        <p:nvGrpSpPr>
          <p:cNvPr name="Group 80" id="80"/>
          <p:cNvGrpSpPr/>
          <p:nvPr/>
        </p:nvGrpSpPr>
        <p:grpSpPr>
          <a:xfrm rot="0">
            <a:off x="5321808" y="2380869"/>
            <a:ext cx="3401568" cy="965835"/>
            <a:chOff x="0" y="0"/>
            <a:chExt cx="4535424" cy="1287780"/>
          </a:xfrm>
        </p:grpSpPr>
        <p:sp>
          <p:nvSpPr>
            <p:cNvPr name="Freeform 81" id="81"/>
            <p:cNvSpPr/>
            <p:nvPr/>
          </p:nvSpPr>
          <p:spPr>
            <a:xfrm flipH="false" flipV="false" rot="0">
              <a:off x="0" y="0"/>
              <a:ext cx="4535424" cy="1287781"/>
            </a:xfrm>
            <a:custGeom>
              <a:avLst/>
              <a:gdLst/>
              <a:ahLst/>
              <a:cxnLst/>
              <a:rect r="r" b="b" t="t" l="l"/>
              <a:pathLst>
                <a:path h="1287781" w="4535424">
                  <a:moveTo>
                    <a:pt x="0" y="0"/>
                  </a:moveTo>
                  <a:lnTo>
                    <a:pt x="4535424" y="0"/>
                  </a:lnTo>
                  <a:lnTo>
                    <a:pt x="4535424" y="1287781"/>
                  </a:lnTo>
                  <a:lnTo>
                    <a:pt x="0" y="1287781"/>
                  </a:lnTo>
                  <a:close/>
                </a:path>
              </a:pathLst>
            </a:custGeom>
            <a:blipFill>
              <a:blip r:embed="rId6">
                <a:alphaModFix amt="0"/>
              </a:blip>
              <a:stretch>
                <a:fillRect l="0" t="-18624" r="0" b="-18624"/>
              </a:stretch>
            </a:blipFill>
          </p:spPr>
          <p:txBody>
            <a:bodyPr/>
            <a:p/>
          </p:txBody>
        </p:sp>
        <p:sp>
          <p:nvSpPr>
            <p:cNvPr name="TextBox 82" id="82"/>
            <p:cNvSpPr txBox="true"/>
            <p:nvPr/>
          </p:nvSpPr>
          <p:spPr>
            <a:xfrm>
              <a:off x="0" y="-95250"/>
              <a:ext cx="4535424" cy="138303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2025</a:t>
              </a:r>
            </a:p>
          </p:txBody>
        </p:sp>
      </p:grpSp>
      <p:sp>
        <p:nvSpPr>
          <p:cNvPr name="TextBox 83" id="83"/>
          <p:cNvSpPr txBox="true"/>
          <p:nvPr/>
        </p:nvSpPr>
        <p:spPr>
          <a:xfrm rot="0">
            <a:off x="5321808" y="3287268"/>
            <a:ext cx="3401568" cy="3810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tahun dasar model</a:t>
            </a:r>
          </a:p>
        </p:txBody>
      </p:sp>
      <p:sp>
        <p:nvSpPr>
          <p:cNvPr name="Freeform 84" id="84"/>
          <p:cNvSpPr/>
          <p:nvPr/>
        </p:nvSpPr>
        <p:spPr>
          <a:xfrm flipH="false" flipV="false" rot="0">
            <a:off x="9255347" y="2315051"/>
            <a:ext cx="3983546" cy="2022158"/>
          </a:xfrm>
          <a:custGeom>
            <a:avLst/>
            <a:gdLst/>
            <a:ahLst/>
            <a:cxnLst/>
            <a:rect r="r" b="b" t="t" l="l"/>
            <a:pathLst>
              <a:path h="2022158" w="3983546">
                <a:moveTo>
                  <a:pt x="0" y="0"/>
                </a:moveTo>
                <a:lnTo>
                  <a:pt x="3983546" y="0"/>
                </a:lnTo>
                <a:lnTo>
                  <a:pt x="3983546" y="2022158"/>
                </a:lnTo>
                <a:lnTo>
                  <a:pt x="0" y="2022158"/>
                </a:lnTo>
                <a:lnTo>
                  <a:pt x="0" y="0"/>
                </a:lnTo>
                <a:close/>
              </a:path>
            </a:pathLst>
          </a:custGeom>
          <a:blipFill>
            <a:blip r:embed="rId7">
              <a:extLst>
                <a:ext uri="{96DAC541-7B7A-43D3-8B79-37D633B846F1}">
                  <asvg:svgBlip xmlns:asvg="http://schemas.microsoft.com/office/drawing/2016/SVG/main" r:embed="rId8"/>
                </a:ext>
              </a:extLst>
            </a:blip>
            <a:stretch>
              <a:fillRect l="0" t="-71" r="0" b="-71"/>
            </a:stretch>
          </a:blipFill>
        </p:spPr>
        <p:txBody>
          <a:bodyPr/>
          <a:p/>
        </p:txBody>
      </p:sp>
      <p:grpSp>
        <p:nvGrpSpPr>
          <p:cNvPr name="Group 85" id="85"/>
          <p:cNvGrpSpPr/>
          <p:nvPr/>
        </p:nvGrpSpPr>
        <p:grpSpPr>
          <a:xfrm rot="0">
            <a:off x="9546336" y="2523744"/>
            <a:ext cx="3401568" cy="822960"/>
            <a:chOff x="0" y="0"/>
            <a:chExt cx="4535424" cy="1097280"/>
          </a:xfrm>
        </p:grpSpPr>
        <p:sp>
          <p:nvSpPr>
            <p:cNvPr name="Freeform 86" id="86"/>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txBody>
            <a:bodyPr/>
            <a:p/>
          </p:txBody>
        </p:sp>
      </p:grpSp>
      <p:grpSp>
        <p:nvGrpSpPr>
          <p:cNvPr name="Group 87" id="87"/>
          <p:cNvGrpSpPr/>
          <p:nvPr/>
        </p:nvGrpSpPr>
        <p:grpSpPr>
          <a:xfrm rot="0">
            <a:off x="9546336" y="2452306"/>
            <a:ext cx="3401568" cy="894398"/>
            <a:chOff x="0" y="0"/>
            <a:chExt cx="4535424" cy="1192530"/>
          </a:xfrm>
        </p:grpSpPr>
        <p:sp>
          <p:nvSpPr>
            <p:cNvPr name="Freeform 88" id="88"/>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054" r="0" b="-24053"/>
              </a:stretch>
            </a:blipFill>
          </p:spPr>
          <p:txBody>
            <a:bodyPr/>
            <a:p/>
          </p:txBody>
        </p:sp>
      </p:grpSp>
      <p:grpSp>
        <p:nvGrpSpPr>
          <p:cNvPr name="Group 89" id="89"/>
          <p:cNvGrpSpPr/>
          <p:nvPr/>
        </p:nvGrpSpPr>
        <p:grpSpPr>
          <a:xfrm rot="0">
            <a:off x="9546336" y="2380869"/>
            <a:ext cx="3401568" cy="965835"/>
            <a:chOff x="0" y="0"/>
            <a:chExt cx="4535424" cy="1287780"/>
          </a:xfrm>
        </p:grpSpPr>
        <p:sp>
          <p:nvSpPr>
            <p:cNvPr name="Freeform 90" id="90"/>
            <p:cNvSpPr/>
            <p:nvPr/>
          </p:nvSpPr>
          <p:spPr>
            <a:xfrm flipH="false" flipV="false" rot="0">
              <a:off x="0" y="0"/>
              <a:ext cx="4535424" cy="1287781"/>
            </a:xfrm>
            <a:custGeom>
              <a:avLst/>
              <a:gdLst/>
              <a:ahLst/>
              <a:cxnLst/>
              <a:rect r="r" b="b" t="t" l="l"/>
              <a:pathLst>
                <a:path h="1287781" w="4535424">
                  <a:moveTo>
                    <a:pt x="0" y="0"/>
                  </a:moveTo>
                  <a:lnTo>
                    <a:pt x="4535424" y="0"/>
                  </a:lnTo>
                  <a:lnTo>
                    <a:pt x="4535424" y="1287781"/>
                  </a:lnTo>
                  <a:lnTo>
                    <a:pt x="0" y="1287781"/>
                  </a:lnTo>
                  <a:close/>
                </a:path>
              </a:pathLst>
            </a:custGeom>
            <a:blipFill>
              <a:blip r:embed="rId6">
                <a:alphaModFix amt="0"/>
              </a:blip>
              <a:stretch>
                <a:fillRect l="0" t="-18624" r="0" b="-18624"/>
              </a:stretch>
            </a:blipFill>
          </p:spPr>
          <p:txBody>
            <a:bodyPr/>
            <a:p/>
          </p:txBody>
        </p:sp>
        <p:sp>
          <p:nvSpPr>
            <p:cNvPr name="TextBox 91" id="91"/>
            <p:cNvSpPr txBox="true"/>
            <p:nvPr/>
          </p:nvSpPr>
          <p:spPr>
            <a:xfrm>
              <a:off x="0" y="-95250"/>
              <a:ext cx="4535424" cy="138303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2050</a:t>
              </a:r>
            </a:p>
          </p:txBody>
        </p:sp>
      </p:grpSp>
      <p:sp>
        <p:nvSpPr>
          <p:cNvPr name="TextBox 92" id="92"/>
          <p:cNvSpPr txBox="true"/>
          <p:nvPr/>
        </p:nvSpPr>
        <p:spPr>
          <a:xfrm rot="0">
            <a:off x="9546336" y="3287268"/>
            <a:ext cx="3401568" cy="3810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horizon simulasi, time step 1 tahun</a:t>
            </a:r>
          </a:p>
        </p:txBody>
      </p:sp>
      <p:sp>
        <p:nvSpPr>
          <p:cNvPr name="Freeform 93" id="93"/>
          <p:cNvSpPr/>
          <p:nvPr/>
        </p:nvSpPr>
        <p:spPr>
          <a:xfrm flipH="false" flipV="false" rot="0">
            <a:off x="13479875" y="2315051"/>
            <a:ext cx="3983545" cy="2022158"/>
          </a:xfrm>
          <a:custGeom>
            <a:avLst/>
            <a:gdLst/>
            <a:ahLst/>
            <a:cxnLst/>
            <a:rect r="r" b="b" t="t" l="l"/>
            <a:pathLst>
              <a:path h="2022158" w="3983545">
                <a:moveTo>
                  <a:pt x="0" y="0"/>
                </a:moveTo>
                <a:lnTo>
                  <a:pt x="3983546" y="0"/>
                </a:lnTo>
                <a:lnTo>
                  <a:pt x="3983546" y="2022158"/>
                </a:lnTo>
                <a:lnTo>
                  <a:pt x="0" y="2022158"/>
                </a:lnTo>
                <a:lnTo>
                  <a:pt x="0" y="0"/>
                </a:lnTo>
                <a:close/>
              </a:path>
            </a:pathLst>
          </a:custGeom>
          <a:blipFill>
            <a:blip r:embed="rId7">
              <a:extLst>
                <a:ext uri="{96DAC541-7B7A-43D3-8B79-37D633B846F1}">
                  <asvg:svgBlip xmlns:asvg="http://schemas.microsoft.com/office/drawing/2016/SVG/main" r:embed="rId8"/>
                </a:ext>
              </a:extLst>
            </a:blip>
            <a:stretch>
              <a:fillRect l="0" t="-71" r="0" b="-71"/>
            </a:stretch>
          </a:blipFill>
        </p:spPr>
        <p:txBody>
          <a:bodyPr/>
          <a:p/>
        </p:txBody>
      </p:sp>
      <p:grpSp>
        <p:nvGrpSpPr>
          <p:cNvPr name="Group 94" id="94"/>
          <p:cNvGrpSpPr/>
          <p:nvPr/>
        </p:nvGrpSpPr>
        <p:grpSpPr>
          <a:xfrm rot="0">
            <a:off x="13770864" y="2523744"/>
            <a:ext cx="3401568" cy="822960"/>
            <a:chOff x="0" y="0"/>
            <a:chExt cx="4535424" cy="1097280"/>
          </a:xfrm>
        </p:grpSpPr>
        <p:sp>
          <p:nvSpPr>
            <p:cNvPr name="Freeform 95" id="95"/>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txBody>
            <a:bodyPr/>
            <a:p/>
          </p:txBody>
        </p:sp>
      </p:grpSp>
      <p:grpSp>
        <p:nvGrpSpPr>
          <p:cNvPr name="Group 96" id="96"/>
          <p:cNvGrpSpPr/>
          <p:nvPr/>
        </p:nvGrpSpPr>
        <p:grpSpPr>
          <a:xfrm rot="0">
            <a:off x="13770864" y="2452306"/>
            <a:ext cx="3401568" cy="894398"/>
            <a:chOff x="0" y="0"/>
            <a:chExt cx="4535424" cy="1192530"/>
          </a:xfrm>
        </p:grpSpPr>
        <p:sp>
          <p:nvSpPr>
            <p:cNvPr name="Freeform 97" id="97"/>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054" r="0" b="-24053"/>
              </a:stretch>
            </a:blipFill>
          </p:spPr>
          <p:txBody>
            <a:bodyPr/>
            <a:p/>
          </p:txBody>
        </p:sp>
      </p:grpSp>
      <p:grpSp>
        <p:nvGrpSpPr>
          <p:cNvPr name="Group 98" id="98"/>
          <p:cNvGrpSpPr/>
          <p:nvPr/>
        </p:nvGrpSpPr>
        <p:grpSpPr>
          <a:xfrm rot="0">
            <a:off x="13770864" y="2380869"/>
            <a:ext cx="3401568" cy="965835"/>
            <a:chOff x="0" y="0"/>
            <a:chExt cx="4535424" cy="1287780"/>
          </a:xfrm>
        </p:grpSpPr>
        <p:sp>
          <p:nvSpPr>
            <p:cNvPr name="Freeform 99" id="99"/>
            <p:cNvSpPr/>
            <p:nvPr/>
          </p:nvSpPr>
          <p:spPr>
            <a:xfrm flipH="false" flipV="false" rot="0">
              <a:off x="0" y="0"/>
              <a:ext cx="4535424" cy="1287781"/>
            </a:xfrm>
            <a:custGeom>
              <a:avLst/>
              <a:gdLst/>
              <a:ahLst/>
              <a:cxnLst/>
              <a:rect r="r" b="b" t="t" l="l"/>
              <a:pathLst>
                <a:path h="1287781" w="4535424">
                  <a:moveTo>
                    <a:pt x="0" y="0"/>
                  </a:moveTo>
                  <a:lnTo>
                    <a:pt x="4535424" y="0"/>
                  </a:lnTo>
                  <a:lnTo>
                    <a:pt x="4535424" y="1287781"/>
                  </a:lnTo>
                  <a:lnTo>
                    <a:pt x="0" y="1287781"/>
                  </a:lnTo>
                  <a:close/>
                </a:path>
              </a:pathLst>
            </a:custGeom>
            <a:blipFill>
              <a:blip r:embed="rId6">
                <a:alphaModFix amt="0"/>
              </a:blip>
              <a:stretch>
                <a:fillRect l="0" t="-18624" r="0" b="-18624"/>
              </a:stretch>
            </a:blipFill>
          </p:spPr>
          <p:txBody>
            <a:bodyPr/>
            <a:p/>
          </p:txBody>
        </p:sp>
        <p:sp>
          <p:nvSpPr>
            <p:cNvPr name="TextBox 100" id="100"/>
            <p:cNvSpPr txBox="true"/>
            <p:nvPr/>
          </p:nvSpPr>
          <p:spPr>
            <a:xfrm>
              <a:off x="0" y="-95250"/>
              <a:ext cx="4535424" cy="138303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317.036 ha</a:t>
              </a:r>
            </a:p>
          </p:txBody>
        </p:sp>
      </p:grpSp>
      <p:sp>
        <p:nvSpPr>
          <p:cNvPr name="TextBox 101" id="101"/>
          <p:cNvSpPr txBox="true"/>
          <p:nvPr/>
        </p:nvSpPr>
        <p:spPr>
          <a:xfrm rot="0">
            <a:off x="13770864" y="3287268"/>
            <a:ext cx="3401568" cy="3810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luas DIY: 5 kabupaten/kota</a:t>
            </a:r>
          </a:p>
        </p:txBody>
      </p:sp>
      <p:grpSp>
        <p:nvGrpSpPr>
          <p:cNvPr name="Group 102" id="102"/>
          <p:cNvGrpSpPr/>
          <p:nvPr/>
        </p:nvGrpSpPr>
        <p:grpSpPr>
          <a:xfrm rot="0">
            <a:off x="822960" y="4663440"/>
            <a:ext cx="5349240" cy="1714500"/>
            <a:chOff x="0" y="0"/>
            <a:chExt cx="7132320" cy="2286000"/>
          </a:xfrm>
        </p:grpSpPr>
        <p:sp>
          <p:nvSpPr>
            <p:cNvPr name="Freeform 103" id="103"/>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txBody>
            <a:bodyPr/>
            <a:p/>
          </p:txBody>
        </p:sp>
      </p:grpSp>
      <p:sp>
        <p:nvSpPr>
          <p:cNvPr name="TextBox 104" id="104"/>
          <p:cNvSpPr txBox="true"/>
          <p:nvPr/>
        </p:nvSpPr>
        <p:spPr>
          <a:xfrm rot="0">
            <a:off x="1097280" y="4685157"/>
            <a:ext cx="4800600" cy="581787"/>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Permintaan wisatawan</a:t>
            </a:r>
          </a:p>
        </p:txBody>
      </p:sp>
      <p:sp>
        <p:nvSpPr>
          <p:cNvPr name="TextBox 105" id="105"/>
          <p:cNvSpPr txBox="true"/>
          <p:nvPr/>
        </p:nvSpPr>
        <p:spPr>
          <a:xfrm rot="0">
            <a:off x="1097280" y="5234940"/>
            <a:ext cx="4800600" cy="9144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jumlah wisatawan, total malam menginap, proporsi wisatawan menginap, rata-rata lama menginap, pengeluaran per kunjungan </a:t>
            </a:r>
          </a:p>
        </p:txBody>
      </p:sp>
      <p:grpSp>
        <p:nvGrpSpPr>
          <p:cNvPr name="Group 106" id="106"/>
          <p:cNvGrpSpPr/>
          <p:nvPr/>
        </p:nvGrpSpPr>
        <p:grpSpPr>
          <a:xfrm rot="0">
            <a:off x="6467094" y="4663440"/>
            <a:ext cx="5349240" cy="1714500"/>
            <a:chOff x="0" y="0"/>
            <a:chExt cx="7132320" cy="2286000"/>
          </a:xfrm>
        </p:grpSpPr>
        <p:sp>
          <p:nvSpPr>
            <p:cNvPr name="Freeform 107" id="107"/>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txBody>
            <a:bodyPr/>
            <a:p/>
          </p:txBody>
        </p:sp>
      </p:grpSp>
      <p:sp>
        <p:nvSpPr>
          <p:cNvPr name="TextBox 108" id="108"/>
          <p:cNvSpPr txBox="true"/>
          <p:nvPr/>
        </p:nvSpPr>
        <p:spPr>
          <a:xfrm rot="0">
            <a:off x="6741414" y="4685157"/>
            <a:ext cx="4800600" cy="581787"/>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Akomodasi</a:t>
            </a:r>
          </a:p>
        </p:txBody>
      </p:sp>
      <p:sp>
        <p:nvSpPr>
          <p:cNvPr name="TextBox 109" id="109"/>
          <p:cNvSpPr txBox="true"/>
          <p:nvPr/>
        </p:nvSpPr>
        <p:spPr>
          <a:xfrm rot="0">
            <a:off x="6741414" y="5234940"/>
            <a:ext cx="4800600" cy="6477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jumlah hotel dan akomodasi lainnya, jumlah kamar tersedia, TPK, rata-rata tamu perkamar (TPG)</a:t>
            </a:r>
          </a:p>
        </p:txBody>
      </p:sp>
      <p:grpSp>
        <p:nvGrpSpPr>
          <p:cNvPr name="Group 110" id="110"/>
          <p:cNvGrpSpPr/>
          <p:nvPr/>
        </p:nvGrpSpPr>
        <p:grpSpPr>
          <a:xfrm rot="0">
            <a:off x="12111228" y="4663440"/>
            <a:ext cx="5349240" cy="1714500"/>
            <a:chOff x="0" y="0"/>
            <a:chExt cx="7132320" cy="2286000"/>
          </a:xfrm>
        </p:grpSpPr>
        <p:sp>
          <p:nvSpPr>
            <p:cNvPr name="Freeform 111" id="111"/>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FFF1BF"/>
            </a:solidFill>
          </p:spPr>
          <p:txBody>
            <a:bodyPr/>
            <a:p/>
          </p:txBody>
        </p:sp>
      </p:grpSp>
      <p:sp>
        <p:nvSpPr>
          <p:cNvPr name="TextBox 112" id="112"/>
          <p:cNvSpPr txBox="true"/>
          <p:nvPr/>
        </p:nvSpPr>
        <p:spPr>
          <a:xfrm rot="0">
            <a:off x="12385548" y="4685157"/>
            <a:ext cx="4800600" cy="581787"/>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Objek daya tarik wisata</a:t>
            </a:r>
          </a:p>
        </p:txBody>
      </p:sp>
      <p:sp>
        <p:nvSpPr>
          <p:cNvPr name="TextBox 113" id="113"/>
          <p:cNvSpPr txBox="true"/>
          <p:nvPr/>
        </p:nvSpPr>
        <p:spPr>
          <a:xfrm rot="0">
            <a:off x="12385548" y="5234940"/>
            <a:ext cx="4800600" cy="9144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jumlah objek daya tarik wisata (2018-2024 data statistik resmi negara dan 2015-2017 dan 2025 dengan estimasi menggunakan NTL) </a:t>
            </a:r>
          </a:p>
        </p:txBody>
      </p:sp>
      <p:grpSp>
        <p:nvGrpSpPr>
          <p:cNvPr name="Group 114" id="114"/>
          <p:cNvGrpSpPr/>
          <p:nvPr/>
        </p:nvGrpSpPr>
        <p:grpSpPr>
          <a:xfrm rot="0">
            <a:off x="822960" y="6583680"/>
            <a:ext cx="5349240" cy="1714500"/>
            <a:chOff x="0" y="0"/>
            <a:chExt cx="7132320" cy="2286000"/>
          </a:xfrm>
        </p:grpSpPr>
        <p:sp>
          <p:nvSpPr>
            <p:cNvPr name="Freeform 115" id="115"/>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txBody>
            <a:bodyPr/>
            <a:p/>
          </p:txBody>
        </p:sp>
      </p:grpSp>
      <p:sp>
        <p:nvSpPr>
          <p:cNvPr name="TextBox 116" id="116"/>
          <p:cNvSpPr txBox="true"/>
          <p:nvPr/>
        </p:nvSpPr>
        <p:spPr>
          <a:xfrm rot="0">
            <a:off x="1097280" y="6605397"/>
            <a:ext cx="4800600" cy="581787"/>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Ketenagakerjaan</a:t>
            </a:r>
          </a:p>
        </p:txBody>
      </p:sp>
      <p:sp>
        <p:nvSpPr>
          <p:cNvPr name="TextBox 117" id="117"/>
          <p:cNvSpPr txBox="true"/>
          <p:nvPr/>
        </p:nvSpPr>
        <p:spPr>
          <a:xfrm rot="0">
            <a:off x="1097280" y="7155180"/>
            <a:ext cx="4800600" cy="3810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tenaga kerja pada KBLI pariwisata (I, dan R,S,T,U) </a:t>
            </a:r>
          </a:p>
        </p:txBody>
      </p:sp>
      <p:grpSp>
        <p:nvGrpSpPr>
          <p:cNvPr name="Group 118" id="118"/>
          <p:cNvGrpSpPr/>
          <p:nvPr/>
        </p:nvGrpSpPr>
        <p:grpSpPr>
          <a:xfrm rot="0">
            <a:off x="6467094" y="6583680"/>
            <a:ext cx="5349240" cy="1714500"/>
            <a:chOff x="0" y="0"/>
            <a:chExt cx="7132320" cy="2286000"/>
          </a:xfrm>
        </p:grpSpPr>
        <p:sp>
          <p:nvSpPr>
            <p:cNvPr name="Freeform 119" id="119"/>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txBody>
            <a:bodyPr/>
            <a:p/>
          </p:txBody>
        </p:sp>
      </p:grpSp>
      <p:sp>
        <p:nvSpPr>
          <p:cNvPr name="TextBox 120" id="120"/>
          <p:cNvSpPr txBox="true"/>
          <p:nvPr/>
        </p:nvSpPr>
        <p:spPr>
          <a:xfrm rot="0">
            <a:off x="6741414" y="6605397"/>
            <a:ext cx="4800600" cy="581787"/>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Ekonomi sektor pariwisata</a:t>
            </a:r>
          </a:p>
        </p:txBody>
      </p:sp>
      <p:sp>
        <p:nvSpPr>
          <p:cNvPr name="TextBox 121" id="121"/>
          <p:cNvSpPr txBox="true"/>
          <p:nvPr/>
        </p:nvSpPr>
        <p:spPr>
          <a:xfrm rot="0">
            <a:off x="6741414" y="7155180"/>
            <a:ext cx="4800600" cy="6477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PDRB sektor pariwisata pada KBLI pariwisata (I, dan R,S,T,U), investasi (realisasi PMA dan PMDN)</a:t>
            </a:r>
          </a:p>
        </p:txBody>
      </p:sp>
      <p:grpSp>
        <p:nvGrpSpPr>
          <p:cNvPr name="Group 122" id="122"/>
          <p:cNvGrpSpPr/>
          <p:nvPr/>
        </p:nvGrpSpPr>
        <p:grpSpPr>
          <a:xfrm rot="0">
            <a:off x="12111228" y="6583680"/>
            <a:ext cx="5349240" cy="1714500"/>
            <a:chOff x="0" y="0"/>
            <a:chExt cx="7132320" cy="2286000"/>
          </a:xfrm>
        </p:grpSpPr>
        <p:sp>
          <p:nvSpPr>
            <p:cNvPr name="Freeform 123" id="123"/>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FFF1BF"/>
            </a:solidFill>
          </p:spPr>
          <p:txBody>
            <a:bodyPr/>
            <a:p/>
          </p:txBody>
        </p:sp>
      </p:grpSp>
      <p:sp>
        <p:nvSpPr>
          <p:cNvPr name="TextBox 124" id="124"/>
          <p:cNvSpPr txBox="true"/>
          <p:nvPr/>
        </p:nvSpPr>
        <p:spPr>
          <a:xfrm rot="0">
            <a:off x="12385548" y="6605397"/>
            <a:ext cx="4800600" cy="581787"/>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Lahan terbangun</a:t>
            </a:r>
          </a:p>
        </p:txBody>
      </p:sp>
      <p:sp>
        <p:nvSpPr>
          <p:cNvPr name="TextBox 125" id="125"/>
          <p:cNvSpPr txBox="true"/>
          <p:nvPr/>
        </p:nvSpPr>
        <p:spPr>
          <a:xfrm rot="0">
            <a:off x="12385548" y="7155180"/>
            <a:ext cx="4800600" cy="6477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luas lahan terbangun dari citra satelit (Dynamic World)</a:t>
            </a:r>
          </a:p>
        </p:txBody>
      </p:sp>
      <p:sp>
        <p:nvSpPr>
          <p:cNvPr name="TextBox 126" id="126"/>
          <p:cNvSpPr txBox="true"/>
          <p:nvPr/>
        </p:nvSpPr>
        <p:spPr>
          <a:xfrm rot="0">
            <a:off x="822960" y="8526780"/>
            <a:ext cx="16637508" cy="91440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Sumber: BPS (nasional dan DIY); Kementerian Investasi/BKPM; pengolahan citra melalui Google Earth Engine.</a:t>
            </a:r>
          </a:p>
          <a:p>
            <a:pPr algn="l">
              <a:lnSpc>
                <a:spcPts val="2160"/>
              </a:lnSpc>
            </a:pPr>
            <a:r>
              <a:rPr lang="en-US" sz="1800">
                <a:solidFill>
                  <a:srgbClr val="5E6E78"/>
                </a:solidFill>
                <a:latin typeface="Calibri (MS)"/>
                <a:ea typeface="Calibri (MS)"/>
                <a:cs typeface="Calibri (MS)"/>
                <a:sym typeface="Calibri (MS)"/>
              </a:rPr>
              <a:t>Note: </a:t>
            </a:r>
          </a:p>
          <a:p>
            <a:pPr algn="l">
              <a:lnSpc>
                <a:spcPts val="2160"/>
              </a:lnSpc>
            </a:pPr>
            <a:r>
              <a:rPr lang="en-US" sz="1800">
                <a:solidFill>
                  <a:srgbClr val="5E6E78"/>
                </a:solidFill>
                <a:latin typeface="Calibri (MS)"/>
                <a:ea typeface="Calibri (MS)"/>
                <a:cs typeface="Calibri (MS)"/>
                <a:sym typeface="Calibri (MS)"/>
              </a:rPr>
              <a:t>           Kuning = dilengkapi estimasi citra satelit.</a:t>
            </a:r>
          </a:p>
        </p:txBody>
      </p:sp>
      <p:sp>
        <p:nvSpPr>
          <p:cNvPr name="TextBox 127" id="127"/>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12</a:t>
            </a:r>
          </a:p>
        </p:txBody>
      </p:sp>
      <p:grpSp>
        <p:nvGrpSpPr>
          <p:cNvPr name="Group 128" id="128"/>
          <p:cNvGrpSpPr/>
          <p:nvPr/>
        </p:nvGrpSpPr>
        <p:grpSpPr>
          <a:xfrm rot="0">
            <a:off x="16047720" y="9646920"/>
            <a:ext cx="420624" cy="420624"/>
            <a:chOff x="0" y="0"/>
            <a:chExt cx="560832" cy="560832"/>
          </a:xfrm>
        </p:grpSpPr>
        <p:sp>
          <p:nvSpPr>
            <p:cNvPr name="Freeform 129" id="129"/>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30" id="130"/>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txBody>
            <a:bodyPr/>
            <a:p/>
          </p:txBody>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grpSp>
        <p:nvGrpSpPr>
          <p:cNvPr name="Group 9" id="9"/>
          <p:cNvGrpSpPr/>
          <p:nvPr/>
        </p:nvGrpSpPr>
        <p:grpSpPr>
          <a:xfrm rot="0">
            <a:off x="822960" y="274320"/>
            <a:ext cx="2040922" cy="411480"/>
            <a:chOff x="0" y="0"/>
            <a:chExt cx="2721229" cy="548640"/>
          </a:xfrm>
        </p:grpSpPr>
        <p:sp>
          <p:nvSpPr>
            <p:cNvPr name="Freeform 10" id="10"/>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1" id="11"/>
          <p:cNvGrpSpPr/>
          <p:nvPr/>
        </p:nvGrpSpPr>
        <p:grpSpPr>
          <a:xfrm rot="0">
            <a:off x="822960" y="274320"/>
            <a:ext cx="2040941" cy="411480"/>
            <a:chOff x="0" y="0"/>
            <a:chExt cx="2721254" cy="548640"/>
          </a:xfrm>
        </p:grpSpPr>
        <p:sp>
          <p:nvSpPr>
            <p:cNvPr name="Freeform 12" id="12"/>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3" id="13"/>
          <p:cNvGrpSpPr/>
          <p:nvPr/>
        </p:nvGrpSpPr>
        <p:grpSpPr>
          <a:xfrm rot="0">
            <a:off x="822960" y="260033"/>
            <a:ext cx="2040941" cy="425768"/>
            <a:chOff x="0" y="0"/>
            <a:chExt cx="2721254" cy="567690"/>
          </a:xfrm>
        </p:grpSpPr>
        <p:sp>
          <p:nvSpPr>
            <p:cNvPr name="Freeform 14" id="14"/>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5" id="15"/>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16" id="16"/>
          <p:cNvGrpSpPr/>
          <p:nvPr/>
        </p:nvGrpSpPr>
        <p:grpSpPr>
          <a:xfrm rot="0">
            <a:off x="2973629" y="274320"/>
            <a:ext cx="2378392" cy="411480"/>
            <a:chOff x="0" y="0"/>
            <a:chExt cx="3171190" cy="548640"/>
          </a:xfrm>
        </p:grpSpPr>
        <p:sp>
          <p:nvSpPr>
            <p:cNvPr name="Freeform 17" id="17"/>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8" id="18"/>
          <p:cNvGrpSpPr/>
          <p:nvPr/>
        </p:nvGrpSpPr>
        <p:grpSpPr>
          <a:xfrm rot="0">
            <a:off x="2973629" y="274320"/>
            <a:ext cx="2378354" cy="411480"/>
            <a:chOff x="0" y="0"/>
            <a:chExt cx="3171139" cy="548640"/>
          </a:xfrm>
        </p:grpSpPr>
        <p:sp>
          <p:nvSpPr>
            <p:cNvPr name="Freeform 19" id="19"/>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0" id="20"/>
          <p:cNvGrpSpPr/>
          <p:nvPr/>
        </p:nvGrpSpPr>
        <p:grpSpPr>
          <a:xfrm rot="0">
            <a:off x="2973629" y="260033"/>
            <a:ext cx="2378354" cy="425768"/>
            <a:chOff x="0" y="0"/>
            <a:chExt cx="3171139" cy="567690"/>
          </a:xfrm>
        </p:grpSpPr>
        <p:sp>
          <p:nvSpPr>
            <p:cNvPr name="Freeform 21" id="21"/>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2" id="22"/>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Metodologi</a:t>
              </a:r>
            </a:p>
          </p:txBody>
        </p:sp>
      </p:grpSp>
      <p:grpSp>
        <p:nvGrpSpPr>
          <p:cNvPr name="Group 23" id="23"/>
          <p:cNvGrpSpPr/>
          <p:nvPr/>
        </p:nvGrpSpPr>
        <p:grpSpPr>
          <a:xfrm rot="0">
            <a:off x="5461711" y="274320"/>
            <a:ext cx="1591056" cy="411480"/>
            <a:chOff x="0" y="0"/>
            <a:chExt cx="2121408" cy="548640"/>
          </a:xfrm>
        </p:grpSpPr>
        <p:sp>
          <p:nvSpPr>
            <p:cNvPr name="Freeform 24" id="24"/>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5" id="25"/>
          <p:cNvGrpSpPr/>
          <p:nvPr/>
        </p:nvGrpSpPr>
        <p:grpSpPr>
          <a:xfrm rot="0">
            <a:off x="5461711" y="274320"/>
            <a:ext cx="1591056" cy="411480"/>
            <a:chOff x="0" y="0"/>
            <a:chExt cx="2121408" cy="548640"/>
          </a:xfrm>
        </p:grpSpPr>
        <p:sp>
          <p:nvSpPr>
            <p:cNvPr name="Freeform 26" id="26"/>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7" id="27"/>
          <p:cNvGrpSpPr/>
          <p:nvPr/>
        </p:nvGrpSpPr>
        <p:grpSpPr>
          <a:xfrm rot="0">
            <a:off x="5461711" y="260033"/>
            <a:ext cx="1591056" cy="425768"/>
            <a:chOff x="0" y="0"/>
            <a:chExt cx="2121408" cy="567690"/>
          </a:xfrm>
        </p:grpSpPr>
        <p:sp>
          <p:nvSpPr>
            <p:cNvPr name="Freeform 28" id="28"/>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29" id="29"/>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0" id="30"/>
          <p:cNvGrpSpPr/>
          <p:nvPr/>
        </p:nvGrpSpPr>
        <p:grpSpPr>
          <a:xfrm rot="0">
            <a:off x="7162495" y="274320"/>
            <a:ext cx="2490788" cy="411480"/>
            <a:chOff x="0" y="0"/>
            <a:chExt cx="3321050" cy="548640"/>
          </a:xfrm>
        </p:grpSpPr>
        <p:sp>
          <p:nvSpPr>
            <p:cNvPr name="Freeform 31" id="31"/>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7162495" y="274320"/>
            <a:ext cx="2490826" cy="411480"/>
            <a:chOff x="0" y="0"/>
            <a:chExt cx="3321101" cy="548640"/>
          </a:xfrm>
        </p:grpSpPr>
        <p:sp>
          <p:nvSpPr>
            <p:cNvPr name="Freeform 33" id="33"/>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4" id="34"/>
          <p:cNvGrpSpPr/>
          <p:nvPr/>
        </p:nvGrpSpPr>
        <p:grpSpPr>
          <a:xfrm rot="0">
            <a:off x="7162495" y="260033"/>
            <a:ext cx="2490826" cy="425768"/>
            <a:chOff x="0" y="0"/>
            <a:chExt cx="3321101" cy="567690"/>
          </a:xfrm>
        </p:grpSpPr>
        <p:sp>
          <p:nvSpPr>
            <p:cNvPr name="Freeform 35" id="35"/>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6" id="36"/>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37" id="37"/>
          <p:cNvGrpSpPr/>
          <p:nvPr/>
        </p:nvGrpSpPr>
        <p:grpSpPr>
          <a:xfrm rot="0">
            <a:off x="9763049" y="274320"/>
            <a:ext cx="1366076" cy="411480"/>
            <a:chOff x="0" y="0"/>
            <a:chExt cx="1821434" cy="548640"/>
          </a:xfrm>
        </p:grpSpPr>
        <p:sp>
          <p:nvSpPr>
            <p:cNvPr name="Freeform 38" id="38"/>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9" id="39"/>
          <p:cNvGrpSpPr/>
          <p:nvPr/>
        </p:nvGrpSpPr>
        <p:grpSpPr>
          <a:xfrm rot="0">
            <a:off x="9763049" y="274320"/>
            <a:ext cx="1366114" cy="411480"/>
            <a:chOff x="0" y="0"/>
            <a:chExt cx="1821485" cy="548640"/>
          </a:xfrm>
        </p:grpSpPr>
        <p:sp>
          <p:nvSpPr>
            <p:cNvPr name="Freeform 40" id="40"/>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1" id="41"/>
          <p:cNvGrpSpPr/>
          <p:nvPr/>
        </p:nvGrpSpPr>
        <p:grpSpPr>
          <a:xfrm rot="0">
            <a:off x="9763049" y="260033"/>
            <a:ext cx="1366114" cy="425768"/>
            <a:chOff x="0" y="0"/>
            <a:chExt cx="1821485" cy="567690"/>
          </a:xfrm>
        </p:grpSpPr>
        <p:sp>
          <p:nvSpPr>
            <p:cNvPr name="Freeform 42" id="42"/>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3" id="43"/>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44" id="44"/>
          <p:cNvGrpSpPr/>
          <p:nvPr/>
        </p:nvGrpSpPr>
        <p:grpSpPr>
          <a:xfrm rot="0">
            <a:off x="11238890" y="274320"/>
            <a:ext cx="1253680" cy="411480"/>
            <a:chOff x="0" y="0"/>
            <a:chExt cx="1671574" cy="548640"/>
          </a:xfrm>
        </p:grpSpPr>
        <p:sp>
          <p:nvSpPr>
            <p:cNvPr name="Freeform 45" id="45"/>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6" id="46"/>
          <p:cNvGrpSpPr/>
          <p:nvPr/>
        </p:nvGrpSpPr>
        <p:grpSpPr>
          <a:xfrm rot="0">
            <a:off x="11238890" y="274320"/>
            <a:ext cx="1253642" cy="411480"/>
            <a:chOff x="0" y="0"/>
            <a:chExt cx="1671523" cy="548640"/>
          </a:xfrm>
        </p:grpSpPr>
        <p:sp>
          <p:nvSpPr>
            <p:cNvPr name="Freeform 47" id="47"/>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8" id="48"/>
          <p:cNvGrpSpPr/>
          <p:nvPr/>
        </p:nvGrpSpPr>
        <p:grpSpPr>
          <a:xfrm rot="0">
            <a:off x="11238890" y="260033"/>
            <a:ext cx="1253642" cy="425768"/>
            <a:chOff x="0" y="0"/>
            <a:chExt cx="1671523" cy="567690"/>
          </a:xfrm>
        </p:grpSpPr>
        <p:sp>
          <p:nvSpPr>
            <p:cNvPr name="Freeform 49" id="49"/>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0" id="50"/>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51" id="51"/>
          <p:cNvGrpSpPr/>
          <p:nvPr/>
        </p:nvGrpSpPr>
        <p:grpSpPr>
          <a:xfrm rot="0">
            <a:off x="822960" y="2400300"/>
            <a:ext cx="2537460" cy="3360420"/>
            <a:chOff x="0" y="0"/>
            <a:chExt cx="3383280" cy="4480560"/>
          </a:xfrm>
        </p:grpSpPr>
        <p:sp>
          <p:nvSpPr>
            <p:cNvPr name="Freeform 52" id="52"/>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FFF1BF"/>
            </a:solidFill>
          </p:spPr>
          <p:txBody>
            <a:bodyPr/>
            <a:p/>
          </p:txBody>
        </p:sp>
      </p:grpSp>
      <p:grpSp>
        <p:nvGrpSpPr>
          <p:cNvPr name="Group 53" id="53"/>
          <p:cNvGrpSpPr/>
          <p:nvPr/>
        </p:nvGrpSpPr>
        <p:grpSpPr>
          <a:xfrm rot="0">
            <a:off x="1776222" y="2647188"/>
            <a:ext cx="630936" cy="630936"/>
            <a:chOff x="0" y="0"/>
            <a:chExt cx="841248" cy="841248"/>
          </a:xfrm>
        </p:grpSpPr>
        <p:sp>
          <p:nvSpPr>
            <p:cNvPr name="Freeform 54" id="54"/>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FFD23B"/>
            </a:solidFill>
          </p:spPr>
          <p:txBody>
            <a:bodyPr/>
            <a:p/>
          </p:txBody>
        </p:sp>
      </p:grpSp>
      <p:grpSp>
        <p:nvGrpSpPr>
          <p:cNvPr name="Group 55" id="55"/>
          <p:cNvGrpSpPr/>
          <p:nvPr/>
        </p:nvGrpSpPr>
        <p:grpSpPr>
          <a:xfrm rot="0">
            <a:off x="1776222" y="2647188"/>
            <a:ext cx="630936" cy="630936"/>
            <a:chOff x="0" y="0"/>
            <a:chExt cx="841248" cy="841248"/>
          </a:xfrm>
        </p:grpSpPr>
        <p:sp>
          <p:nvSpPr>
            <p:cNvPr name="Freeform 56" id="56"/>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92" t="0" r="-78393" b="0"/>
              </a:stretch>
            </a:blipFill>
          </p:spPr>
          <p:txBody>
            <a:bodyPr/>
            <a:p/>
          </p:txBody>
        </p:sp>
      </p:grpSp>
      <p:grpSp>
        <p:nvGrpSpPr>
          <p:cNvPr name="Group 57" id="57"/>
          <p:cNvGrpSpPr/>
          <p:nvPr/>
        </p:nvGrpSpPr>
        <p:grpSpPr>
          <a:xfrm rot="0">
            <a:off x="1776222" y="2604326"/>
            <a:ext cx="630936" cy="673798"/>
            <a:chOff x="0" y="0"/>
            <a:chExt cx="841248" cy="898398"/>
          </a:xfrm>
        </p:grpSpPr>
        <p:sp>
          <p:nvSpPr>
            <p:cNvPr name="Freeform 58" id="58"/>
            <p:cNvSpPr/>
            <p:nvPr/>
          </p:nvSpPr>
          <p:spPr>
            <a:xfrm flipH="false" flipV="false" rot="0">
              <a:off x="0" y="0"/>
              <a:ext cx="841248" cy="898398"/>
            </a:xfrm>
            <a:custGeom>
              <a:avLst/>
              <a:gdLst/>
              <a:ahLst/>
              <a:cxnLst/>
              <a:rect r="r" b="b" t="t" l="l"/>
              <a:pathLst>
                <a:path h="898398" w="841248">
                  <a:moveTo>
                    <a:pt x="0" y="0"/>
                  </a:moveTo>
                  <a:lnTo>
                    <a:pt x="841248" y="0"/>
                  </a:lnTo>
                  <a:lnTo>
                    <a:pt x="841248" y="898398"/>
                  </a:lnTo>
                  <a:lnTo>
                    <a:pt x="0" y="898398"/>
                  </a:lnTo>
                  <a:close/>
                </a:path>
              </a:pathLst>
            </a:custGeom>
            <a:blipFill>
              <a:blip r:embed="rId5">
                <a:alphaModFix amt="0"/>
              </a:blip>
              <a:stretch>
                <a:fillRect l="-87019" t="0" r="-87019" b="0"/>
              </a:stretch>
            </a:blipFill>
          </p:spPr>
          <p:txBody>
            <a:bodyPr/>
            <a:p/>
          </p:txBody>
        </p:sp>
        <p:sp>
          <p:nvSpPr>
            <p:cNvPr name="TextBox 59" id="59"/>
            <p:cNvSpPr txBox="true"/>
            <p:nvPr/>
          </p:nvSpPr>
          <p:spPr>
            <a:xfrm>
              <a:off x="0" y="-57150"/>
              <a:ext cx="841248" cy="955548"/>
            </a:xfrm>
            <a:prstGeom prst="rect">
              <a:avLst/>
            </a:prstGeom>
          </p:spPr>
          <p:txBody>
            <a:bodyPr anchor="ctr" rtlCol="false" tIns="0" lIns="0" bIns="0" rIns="0"/>
            <a:lstStyle/>
            <a:p>
              <a:pPr algn="ctr">
                <a:lnSpc>
                  <a:spcPts val="2700"/>
                </a:lnSpc>
              </a:pPr>
              <a:r>
                <a:rPr lang="en-US" sz="2250" b="true">
                  <a:solidFill>
                    <a:srgbClr val="14313B"/>
                  </a:solidFill>
                  <a:latin typeface="Calibri (MS) Bold"/>
                  <a:ea typeface="Calibri (MS) Bold"/>
                  <a:cs typeface="Calibri (MS) Bold"/>
                  <a:sym typeface="Calibri (MS) Bold"/>
                </a:rPr>
                <a:t>1</a:t>
              </a:r>
            </a:p>
          </p:txBody>
        </p:sp>
      </p:grpSp>
      <p:sp>
        <p:nvSpPr>
          <p:cNvPr name="TextBox 60" id="60"/>
          <p:cNvSpPr txBox="true"/>
          <p:nvPr/>
        </p:nvSpPr>
        <p:spPr>
          <a:xfrm rot="0">
            <a:off x="1069848" y="3352800"/>
            <a:ext cx="2057400" cy="6477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Pengumpulan &amp; preprocessing data</a:t>
            </a:r>
          </a:p>
        </p:txBody>
      </p:sp>
      <p:sp>
        <p:nvSpPr>
          <p:cNvPr name="TextBox 61" id="61"/>
          <p:cNvSpPr txBox="true"/>
          <p:nvPr/>
        </p:nvSpPr>
        <p:spPr>
          <a:xfrm rot="0">
            <a:off x="1069848" y="4655820"/>
            <a:ext cx="2057400" cy="266700"/>
          </a:xfrm>
          <a:prstGeom prst="rect">
            <a:avLst/>
          </a:prstGeom>
        </p:spPr>
        <p:txBody>
          <a:bodyPr anchor="t" rtlCol="false" tIns="0" lIns="0" bIns="0" rIns="0">
            <a:spAutoFit/>
          </a:bodyPr>
          <a:lstStyle/>
          <a:p>
            <a:pPr algn="ctr">
              <a:lnSpc>
                <a:spcPts val="1800"/>
              </a:lnSpc>
            </a:pPr>
            <a:r>
              <a:rPr lang="en-US" sz="1500">
                <a:solidFill>
                  <a:srgbClr val="14313B"/>
                </a:solidFill>
                <a:latin typeface="Calibri (MS)"/>
                <a:ea typeface="Calibri (MS)"/>
                <a:cs typeface="Calibri (MS)"/>
                <a:sym typeface="Calibri (MS)"/>
              </a:rPr>
              <a:t> Master Data 2015–2025</a:t>
            </a:r>
          </a:p>
        </p:txBody>
      </p:sp>
      <p:grpSp>
        <p:nvGrpSpPr>
          <p:cNvPr name="Group 62" id="62"/>
          <p:cNvGrpSpPr/>
          <p:nvPr/>
        </p:nvGrpSpPr>
        <p:grpSpPr>
          <a:xfrm rot="0">
            <a:off x="3642970" y="2400300"/>
            <a:ext cx="2537460" cy="3360420"/>
            <a:chOff x="0" y="0"/>
            <a:chExt cx="3383280" cy="4480560"/>
          </a:xfrm>
        </p:grpSpPr>
        <p:sp>
          <p:nvSpPr>
            <p:cNvPr name="Freeform 63" id="63"/>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txBody>
            <a:bodyPr/>
            <a:p/>
          </p:txBody>
        </p:sp>
      </p:grpSp>
      <p:grpSp>
        <p:nvGrpSpPr>
          <p:cNvPr name="Group 64" id="64"/>
          <p:cNvGrpSpPr/>
          <p:nvPr/>
        </p:nvGrpSpPr>
        <p:grpSpPr>
          <a:xfrm rot="0">
            <a:off x="4596232" y="2647188"/>
            <a:ext cx="630936" cy="630936"/>
            <a:chOff x="0" y="0"/>
            <a:chExt cx="841248" cy="841248"/>
          </a:xfrm>
        </p:grpSpPr>
        <p:sp>
          <p:nvSpPr>
            <p:cNvPr name="Freeform 65" id="65"/>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txBody>
            <a:bodyPr/>
            <a:p/>
          </p:txBody>
        </p:sp>
      </p:grpSp>
      <p:grpSp>
        <p:nvGrpSpPr>
          <p:cNvPr name="Group 66" id="66"/>
          <p:cNvGrpSpPr/>
          <p:nvPr/>
        </p:nvGrpSpPr>
        <p:grpSpPr>
          <a:xfrm rot="0">
            <a:off x="4596232" y="2647188"/>
            <a:ext cx="630936" cy="630936"/>
            <a:chOff x="0" y="0"/>
            <a:chExt cx="841248" cy="841248"/>
          </a:xfrm>
        </p:grpSpPr>
        <p:sp>
          <p:nvSpPr>
            <p:cNvPr name="Freeform 67" id="67"/>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92" t="0" r="-78393" b="0"/>
              </a:stretch>
            </a:blipFill>
          </p:spPr>
          <p:txBody>
            <a:bodyPr/>
            <a:p/>
          </p:txBody>
        </p:sp>
      </p:grpSp>
      <p:grpSp>
        <p:nvGrpSpPr>
          <p:cNvPr name="Group 68" id="68"/>
          <p:cNvGrpSpPr/>
          <p:nvPr/>
        </p:nvGrpSpPr>
        <p:grpSpPr>
          <a:xfrm rot="0">
            <a:off x="4596232" y="2604326"/>
            <a:ext cx="630936" cy="673798"/>
            <a:chOff x="0" y="0"/>
            <a:chExt cx="841248" cy="898398"/>
          </a:xfrm>
        </p:grpSpPr>
        <p:sp>
          <p:nvSpPr>
            <p:cNvPr name="Freeform 69" id="69"/>
            <p:cNvSpPr/>
            <p:nvPr/>
          </p:nvSpPr>
          <p:spPr>
            <a:xfrm flipH="false" flipV="false" rot="0">
              <a:off x="0" y="0"/>
              <a:ext cx="841248" cy="898398"/>
            </a:xfrm>
            <a:custGeom>
              <a:avLst/>
              <a:gdLst/>
              <a:ahLst/>
              <a:cxnLst/>
              <a:rect r="r" b="b" t="t" l="l"/>
              <a:pathLst>
                <a:path h="898398" w="841248">
                  <a:moveTo>
                    <a:pt x="0" y="0"/>
                  </a:moveTo>
                  <a:lnTo>
                    <a:pt x="841248" y="0"/>
                  </a:lnTo>
                  <a:lnTo>
                    <a:pt x="841248" y="898398"/>
                  </a:lnTo>
                  <a:lnTo>
                    <a:pt x="0" y="898398"/>
                  </a:lnTo>
                  <a:close/>
                </a:path>
              </a:pathLst>
            </a:custGeom>
            <a:blipFill>
              <a:blip r:embed="rId5">
                <a:alphaModFix amt="0"/>
              </a:blip>
              <a:stretch>
                <a:fillRect l="-87019" t="0" r="-87019" b="0"/>
              </a:stretch>
            </a:blipFill>
          </p:spPr>
          <p:txBody>
            <a:bodyPr/>
            <a:p/>
          </p:txBody>
        </p:sp>
        <p:sp>
          <p:nvSpPr>
            <p:cNvPr name="TextBox 70" id="70"/>
            <p:cNvSpPr txBox="true"/>
            <p:nvPr/>
          </p:nvSpPr>
          <p:spPr>
            <a:xfrm>
              <a:off x="0" y="-57150"/>
              <a:ext cx="841248" cy="95554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2</a:t>
              </a:r>
            </a:p>
          </p:txBody>
        </p:sp>
      </p:grpSp>
      <p:sp>
        <p:nvSpPr>
          <p:cNvPr name="TextBox 71" id="71"/>
          <p:cNvSpPr txBox="true"/>
          <p:nvPr/>
        </p:nvSpPr>
        <p:spPr>
          <a:xfrm rot="0">
            <a:off x="3889858" y="3352800"/>
            <a:ext cx="2057400" cy="9906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Artikulasi masalah &amp; hipotesis dinamis</a:t>
            </a:r>
          </a:p>
        </p:txBody>
      </p:sp>
      <p:sp>
        <p:nvSpPr>
          <p:cNvPr name="TextBox 72" id="72"/>
          <p:cNvSpPr txBox="true"/>
          <p:nvPr/>
        </p:nvSpPr>
        <p:spPr>
          <a:xfrm rot="0">
            <a:off x="3889858" y="4655820"/>
            <a:ext cx="2057400" cy="333375"/>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CLD dengan 6 loop</a:t>
            </a:r>
          </a:p>
        </p:txBody>
      </p:sp>
      <p:grpSp>
        <p:nvGrpSpPr>
          <p:cNvPr name="Group 73" id="73"/>
          <p:cNvGrpSpPr/>
          <p:nvPr/>
        </p:nvGrpSpPr>
        <p:grpSpPr>
          <a:xfrm rot="0">
            <a:off x="6462979" y="2400300"/>
            <a:ext cx="2537460" cy="3360420"/>
            <a:chOff x="0" y="0"/>
            <a:chExt cx="3383280" cy="4480560"/>
          </a:xfrm>
        </p:grpSpPr>
        <p:sp>
          <p:nvSpPr>
            <p:cNvPr name="Freeform 74" id="74"/>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txBody>
            <a:bodyPr/>
            <a:p/>
          </p:txBody>
        </p:sp>
      </p:grpSp>
      <p:grpSp>
        <p:nvGrpSpPr>
          <p:cNvPr name="Group 75" id="75"/>
          <p:cNvGrpSpPr/>
          <p:nvPr/>
        </p:nvGrpSpPr>
        <p:grpSpPr>
          <a:xfrm rot="0">
            <a:off x="7416241" y="2647188"/>
            <a:ext cx="630936" cy="630936"/>
            <a:chOff x="0" y="0"/>
            <a:chExt cx="841248" cy="841248"/>
          </a:xfrm>
        </p:grpSpPr>
        <p:sp>
          <p:nvSpPr>
            <p:cNvPr name="Freeform 76" id="76"/>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txBody>
            <a:bodyPr/>
            <a:p/>
          </p:txBody>
        </p:sp>
      </p:grpSp>
      <p:grpSp>
        <p:nvGrpSpPr>
          <p:cNvPr name="Group 77" id="77"/>
          <p:cNvGrpSpPr/>
          <p:nvPr/>
        </p:nvGrpSpPr>
        <p:grpSpPr>
          <a:xfrm rot="0">
            <a:off x="7416241" y="2647188"/>
            <a:ext cx="630936" cy="630936"/>
            <a:chOff x="0" y="0"/>
            <a:chExt cx="841248" cy="841248"/>
          </a:xfrm>
        </p:grpSpPr>
        <p:sp>
          <p:nvSpPr>
            <p:cNvPr name="Freeform 78" id="78"/>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92" t="0" r="-78393" b="0"/>
              </a:stretch>
            </a:blipFill>
          </p:spPr>
          <p:txBody>
            <a:bodyPr/>
            <a:p/>
          </p:txBody>
        </p:sp>
      </p:grpSp>
      <p:grpSp>
        <p:nvGrpSpPr>
          <p:cNvPr name="Group 79" id="79"/>
          <p:cNvGrpSpPr/>
          <p:nvPr/>
        </p:nvGrpSpPr>
        <p:grpSpPr>
          <a:xfrm rot="0">
            <a:off x="7416241" y="2604326"/>
            <a:ext cx="630936" cy="673798"/>
            <a:chOff x="0" y="0"/>
            <a:chExt cx="841248" cy="898398"/>
          </a:xfrm>
        </p:grpSpPr>
        <p:sp>
          <p:nvSpPr>
            <p:cNvPr name="Freeform 80" id="80"/>
            <p:cNvSpPr/>
            <p:nvPr/>
          </p:nvSpPr>
          <p:spPr>
            <a:xfrm flipH="false" flipV="false" rot="0">
              <a:off x="0" y="0"/>
              <a:ext cx="841248" cy="898398"/>
            </a:xfrm>
            <a:custGeom>
              <a:avLst/>
              <a:gdLst/>
              <a:ahLst/>
              <a:cxnLst/>
              <a:rect r="r" b="b" t="t" l="l"/>
              <a:pathLst>
                <a:path h="898398" w="841248">
                  <a:moveTo>
                    <a:pt x="0" y="0"/>
                  </a:moveTo>
                  <a:lnTo>
                    <a:pt x="841248" y="0"/>
                  </a:lnTo>
                  <a:lnTo>
                    <a:pt x="841248" y="898398"/>
                  </a:lnTo>
                  <a:lnTo>
                    <a:pt x="0" y="898398"/>
                  </a:lnTo>
                  <a:close/>
                </a:path>
              </a:pathLst>
            </a:custGeom>
            <a:blipFill>
              <a:blip r:embed="rId5">
                <a:alphaModFix amt="0"/>
              </a:blip>
              <a:stretch>
                <a:fillRect l="-87019" t="0" r="-87019" b="0"/>
              </a:stretch>
            </a:blipFill>
          </p:spPr>
          <p:txBody>
            <a:bodyPr/>
            <a:p/>
          </p:txBody>
        </p:sp>
        <p:sp>
          <p:nvSpPr>
            <p:cNvPr name="TextBox 81" id="81"/>
            <p:cNvSpPr txBox="true"/>
            <p:nvPr/>
          </p:nvSpPr>
          <p:spPr>
            <a:xfrm>
              <a:off x="0" y="-57150"/>
              <a:ext cx="841248" cy="95554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3</a:t>
              </a:r>
            </a:p>
          </p:txBody>
        </p:sp>
      </p:grpSp>
      <p:sp>
        <p:nvSpPr>
          <p:cNvPr name="TextBox 82" id="82"/>
          <p:cNvSpPr txBox="true"/>
          <p:nvPr/>
        </p:nvSpPr>
        <p:spPr>
          <a:xfrm rot="0">
            <a:off x="6709867" y="3352800"/>
            <a:ext cx="2057400" cy="6858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Formulasi model simulasi</a:t>
            </a:r>
          </a:p>
        </p:txBody>
      </p:sp>
      <p:sp>
        <p:nvSpPr>
          <p:cNvPr name="TextBox 83" id="83"/>
          <p:cNvSpPr txBox="true"/>
          <p:nvPr/>
        </p:nvSpPr>
        <p:spPr>
          <a:xfrm rot="0">
            <a:off x="6709867" y="4655820"/>
            <a:ext cx="2057400" cy="552450"/>
          </a:xfrm>
          <a:prstGeom prst="rect">
            <a:avLst/>
          </a:prstGeom>
        </p:spPr>
        <p:txBody>
          <a:bodyPr anchor="t" rtlCol="false" tIns="0" lIns="0" bIns="0" rIns="0">
            <a:spAutoFit/>
          </a:bodyPr>
          <a:lstStyle/>
          <a:p>
            <a:pPr algn="ctr">
              <a:lnSpc>
                <a:spcPts val="2070"/>
              </a:lnSpc>
            </a:pPr>
            <a:r>
              <a:rPr lang="en-US" sz="1725" i="true">
                <a:solidFill>
                  <a:srgbClr val="14313B"/>
                </a:solidFill>
                <a:latin typeface="Calibri (MS) Italics"/>
                <a:ea typeface="Calibri (MS) Italics"/>
                <a:cs typeface="Calibri (MS) Italics"/>
                <a:sym typeface="Calibri (MS) Italics"/>
              </a:rPr>
              <a:t>Stock and Flow Diagram</a:t>
            </a:r>
          </a:p>
        </p:txBody>
      </p:sp>
      <p:grpSp>
        <p:nvGrpSpPr>
          <p:cNvPr name="Group 84" id="84"/>
          <p:cNvGrpSpPr/>
          <p:nvPr/>
        </p:nvGrpSpPr>
        <p:grpSpPr>
          <a:xfrm rot="0">
            <a:off x="9282989" y="2400300"/>
            <a:ext cx="2537460" cy="3360420"/>
            <a:chOff x="0" y="0"/>
            <a:chExt cx="3383280" cy="4480560"/>
          </a:xfrm>
        </p:grpSpPr>
        <p:sp>
          <p:nvSpPr>
            <p:cNvPr name="Freeform 85" id="85"/>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txBody>
            <a:bodyPr/>
            <a:p/>
          </p:txBody>
        </p:sp>
      </p:grpSp>
      <p:grpSp>
        <p:nvGrpSpPr>
          <p:cNvPr name="Group 86" id="86"/>
          <p:cNvGrpSpPr/>
          <p:nvPr/>
        </p:nvGrpSpPr>
        <p:grpSpPr>
          <a:xfrm rot="0">
            <a:off x="10122408" y="2647188"/>
            <a:ext cx="630936" cy="630936"/>
            <a:chOff x="0" y="0"/>
            <a:chExt cx="841248" cy="841248"/>
          </a:xfrm>
        </p:grpSpPr>
        <p:sp>
          <p:nvSpPr>
            <p:cNvPr name="Freeform 87" id="87"/>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txBody>
            <a:bodyPr/>
            <a:p/>
          </p:txBody>
        </p:sp>
      </p:grpSp>
      <p:grpSp>
        <p:nvGrpSpPr>
          <p:cNvPr name="Group 88" id="88"/>
          <p:cNvGrpSpPr/>
          <p:nvPr/>
        </p:nvGrpSpPr>
        <p:grpSpPr>
          <a:xfrm rot="0">
            <a:off x="10122408" y="2647188"/>
            <a:ext cx="630936" cy="630936"/>
            <a:chOff x="0" y="0"/>
            <a:chExt cx="841248" cy="841248"/>
          </a:xfrm>
        </p:grpSpPr>
        <p:sp>
          <p:nvSpPr>
            <p:cNvPr name="Freeform 89" id="89"/>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92" t="0" r="-78393" b="0"/>
              </a:stretch>
            </a:blipFill>
          </p:spPr>
          <p:txBody>
            <a:bodyPr/>
            <a:p/>
          </p:txBody>
        </p:sp>
      </p:grpSp>
      <p:grpSp>
        <p:nvGrpSpPr>
          <p:cNvPr name="Group 90" id="90"/>
          <p:cNvGrpSpPr/>
          <p:nvPr/>
        </p:nvGrpSpPr>
        <p:grpSpPr>
          <a:xfrm rot="0">
            <a:off x="10122408" y="2604326"/>
            <a:ext cx="630936" cy="673798"/>
            <a:chOff x="0" y="0"/>
            <a:chExt cx="841248" cy="898398"/>
          </a:xfrm>
        </p:grpSpPr>
        <p:sp>
          <p:nvSpPr>
            <p:cNvPr name="Freeform 91" id="91"/>
            <p:cNvSpPr/>
            <p:nvPr/>
          </p:nvSpPr>
          <p:spPr>
            <a:xfrm flipH="false" flipV="false" rot="0">
              <a:off x="0" y="0"/>
              <a:ext cx="841248" cy="898398"/>
            </a:xfrm>
            <a:custGeom>
              <a:avLst/>
              <a:gdLst/>
              <a:ahLst/>
              <a:cxnLst/>
              <a:rect r="r" b="b" t="t" l="l"/>
              <a:pathLst>
                <a:path h="898398" w="841248">
                  <a:moveTo>
                    <a:pt x="0" y="0"/>
                  </a:moveTo>
                  <a:lnTo>
                    <a:pt x="841248" y="0"/>
                  </a:lnTo>
                  <a:lnTo>
                    <a:pt x="841248" y="898398"/>
                  </a:lnTo>
                  <a:lnTo>
                    <a:pt x="0" y="898398"/>
                  </a:lnTo>
                  <a:close/>
                </a:path>
              </a:pathLst>
            </a:custGeom>
            <a:blipFill>
              <a:blip r:embed="rId5">
                <a:alphaModFix amt="0"/>
              </a:blip>
              <a:stretch>
                <a:fillRect l="-87019" t="0" r="-87019" b="0"/>
              </a:stretch>
            </a:blipFill>
          </p:spPr>
          <p:txBody>
            <a:bodyPr/>
            <a:p/>
          </p:txBody>
        </p:sp>
        <p:sp>
          <p:nvSpPr>
            <p:cNvPr name="TextBox 92" id="92"/>
            <p:cNvSpPr txBox="true"/>
            <p:nvPr/>
          </p:nvSpPr>
          <p:spPr>
            <a:xfrm>
              <a:off x="0" y="-57150"/>
              <a:ext cx="841248" cy="95554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4</a:t>
              </a:r>
            </a:p>
          </p:txBody>
        </p:sp>
      </p:grpSp>
      <p:sp>
        <p:nvSpPr>
          <p:cNvPr name="TextBox 93" id="93"/>
          <p:cNvSpPr txBox="true"/>
          <p:nvPr/>
        </p:nvSpPr>
        <p:spPr>
          <a:xfrm rot="0">
            <a:off x="9529877" y="3352800"/>
            <a:ext cx="2057400" cy="3810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Pengujian model</a:t>
            </a:r>
          </a:p>
        </p:txBody>
      </p:sp>
      <p:sp>
        <p:nvSpPr>
          <p:cNvPr name="TextBox 94" id="94"/>
          <p:cNvSpPr txBox="true"/>
          <p:nvPr/>
        </p:nvSpPr>
        <p:spPr>
          <a:xfrm rot="0">
            <a:off x="9529877" y="4655820"/>
            <a:ext cx="2057400" cy="55245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4 Tahap Pengujian Model</a:t>
            </a:r>
          </a:p>
        </p:txBody>
      </p:sp>
      <p:grpSp>
        <p:nvGrpSpPr>
          <p:cNvPr name="Group 95" id="95"/>
          <p:cNvGrpSpPr/>
          <p:nvPr/>
        </p:nvGrpSpPr>
        <p:grpSpPr>
          <a:xfrm rot="0">
            <a:off x="12102998" y="2400300"/>
            <a:ext cx="2537460" cy="3360420"/>
            <a:chOff x="0" y="0"/>
            <a:chExt cx="3383280" cy="4480560"/>
          </a:xfrm>
        </p:grpSpPr>
        <p:sp>
          <p:nvSpPr>
            <p:cNvPr name="Freeform 96" id="96"/>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txBody>
            <a:bodyPr/>
            <a:p/>
          </p:txBody>
        </p:sp>
      </p:grpSp>
      <p:grpSp>
        <p:nvGrpSpPr>
          <p:cNvPr name="Group 97" id="97"/>
          <p:cNvGrpSpPr/>
          <p:nvPr/>
        </p:nvGrpSpPr>
        <p:grpSpPr>
          <a:xfrm rot="0">
            <a:off x="13056260" y="2647188"/>
            <a:ext cx="630936" cy="630936"/>
            <a:chOff x="0" y="0"/>
            <a:chExt cx="841248" cy="841248"/>
          </a:xfrm>
        </p:grpSpPr>
        <p:sp>
          <p:nvSpPr>
            <p:cNvPr name="Freeform 98" id="9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txBody>
            <a:bodyPr/>
            <a:p/>
          </p:txBody>
        </p:sp>
      </p:grpSp>
      <p:grpSp>
        <p:nvGrpSpPr>
          <p:cNvPr name="Group 99" id="99"/>
          <p:cNvGrpSpPr/>
          <p:nvPr/>
        </p:nvGrpSpPr>
        <p:grpSpPr>
          <a:xfrm rot="0">
            <a:off x="13056260" y="2647188"/>
            <a:ext cx="630936" cy="630936"/>
            <a:chOff x="0" y="0"/>
            <a:chExt cx="841248" cy="841248"/>
          </a:xfrm>
        </p:grpSpPr>
        <p:sp>
          <p:nvSpPr>
            <p:cNvPr name="Freeform 100" id="10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92" t="0" r="-78393" b="0"/>
              </a:stretch>
            </a:blipFill>
          </p:spPr>
          <p:txBody>
            <a:bodyPr/>
            <a:p/>
          </p:txBody>
        </p:sp>
      </p:grpSp>
      <p:grpSp>
        <p:nvGrpSpPr>
          <p:cNvPr name="Group 101" id="101"/>
          <p:cNvGrpSpPr/>
          <p:nvPr/>
        </p:nvGrpSpPr>
        <p:grpSpPr>
          <a:xfrm rot="0">
            <a:off x="13056260" y="2604326"/>
            <a:ext cx="630936" cy="673798"/>
            <a:chOff x="0" y="0"/>
            <a:chExt cx="841248" cy="898398"/>
          </a:xfrm>
        </p:grpSpPr>
        <p:sp>
          <p:nvSpPr>
            <p:cNvPr name="Freeform 102" id="102"/>
            <p:cNvSpPr/>
            <p:nvPr/>
          </p:nvSpPr>
          <p:spPr>
            <a:xfrm flipH="false" flipV="false" rot="0">
              <a:off x="0" y="0"/>
              <a:ext cx="841248" cy="898398"/>
            </a:xfrm>
            <a:custGeom>
              <a:avLst/>
              <a:gdLst/>
              <a:ahLst/>
              <a:cxnLst/>
              <a:rect r="r" b="b" t="t" l="l"/>
              <a:pathLst>
                <a:path h="898398" w="841248">
                  <a:moveTo>
                    <a:pt x="0" y="0"/>
                  </a:moveTo>
                  <a:lnTo>
                    <a:pt x="841248" y="0"/>
                  </a:lnTo>
                  <a:lnTo>
                    <a:pt x="841248" y="898398"/>
                  </a:lnTo>
                  <a:lnTo>
                    <a:pt x="0" y="898398"/>
                  </a:lnTo>
                  <a:close/>
                </a:path>
              </a:pathLst>
            </a:custGeom>
            <a:blipFill>
              <a:blip r:embed="rId5">
                <a:alphaModFix amt="0"/>
              </a:blip>
              <a:stretch>
                <a:fillRect l="-87019" t="0" r="-87019" b="0"/>
              </a:stretch>
            </a:blipFill>
          </p:spPr>
          <p:txBody>
            <a:bodyPr/>
            <a:p/>
          </p:txBody>
        </p:sp>
        <p:sp>
          <p:nvSpPr>
            <p:cNvPr name="TextBox 103" id="103"/>
            <p:cNvSpPr txBox="true"/>
            <p:nvPr/>
          </p:nvSpPr>
          <p:spPr>
            <a:xfrm>
              <a:off x="0" y="-57150"/>
              <a:ext cx="841248" cy="95554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5</a:t>
              </a:r>
            </a:p>
          </p:txBody>
        </p:sp>
      </p:grpSp>
      <p:sp>
        <p:nvSpPr>
          <p:cNvPr name="TextBox 104" id="104"/>
          <p:cNvSpPr txBox="true"/>
          <p:nvPr/>
        </p:nvSpPr>
        <p:spPr>
          <a:xfrm rot="0">
            <a:off x="12349886" y="3352800"/>
            <a:ext cx="2057400" cy="6858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Perancangan &amp; evaluasi skenario</a:t>
            </a:r>
          </a:p>
        </p:txBody>
      </p:sp>
      <p:sp>
        <p:nvSpPr>
          <p:cNvPr name="TextBox 105" id="105"/>
          <p:cNvSpPr txBox="true"/>
          <p:nvPr/>
        </p:nvSpPr>
        <p:spPr>
          <a:xfrm rot="0">
            <a:off x="12349886" y="4655820"/>
            <a:ext cx="2057400" cy="55245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3 skenario, 10 indikator</a:t>
            </a:r>
          </a:p>
        </p:txBody>
      </p:sp>
      <p:grpSp>
        <p:nvGrpSpPr>
          <p:cNvPr name="Group 106" id="106"/>
          <p:cNvGrpSpPr/>
          <p:nvPr/>
        </p:nvGrpSpPr>
        <p:grpSpPr>
          <a:xfrm rot="0">
            <a:off x="14923008" y="2400300"/>
            <a:ext cx="2537460" cy="3360420"/>
            <a:chOff x="0" y="0"/>
            <a:chExt cx="3383280" cy="4480560"/>
          </a:xfrm>
        </p:grpSpPr>
        <p:sp>
          <p:nvSpPr>
            <p:cNvPr name="Freeform 107" id="107"/>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FFF1BF"/>
            </a:solidFill>
          </p:spPr>
          <p:txBody>
            <a:bodyPr/>
            <a:p/>
          </p:txBody>
        </p:sp>
      </p:grpSp>
      <p:grpSp>
        <p:nvGrpSpPr>
          <p:cNvPr name="Group 108" id="108"/>
          <p:cNvGrpSpPr/>
          <p:nvPr/>
        </p:nvGrpSpPr>
        <p:grpSpPr>
          <a:xfrm rot="0">
            <a:off x="15876270" y="2647188"/>
            <a:ext cx="630936" cy="630936"/>
            <a:chOff x="0" y="0"/>
            <a:chExt cx="841248" cy="841248"/>
          </a:xfrm>
        </p:grpSpPr>
        <p:sp>
          <p:nvSpPr>
            <p:cNvPr name="Freeform 109" id="109"/>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FFD23B"/>
            </a:solidFill>
          </p:spPr>
          <p:txBody>
            <a:bodyPr/>
            <a:p/>
          </p:txBody>
        </p:sp>
      </p:grpSp>
      <p:grpSp>
        <p:nvGrpSpPr>
          <p:cNvPr name="Group 110" id="110"/>
          <p:cNvGrpSpPr/>
          <p:nvPr/>
        </p:nvGrpSpPr>
        <p:grpSpPr>
          <a:xfrm rot="0">
            <a:off x="15876270" y="2647188"/>
            <a:ext cx="630936" cy="630936"/>
            <a:chOff x="0" y="0"/>
            <a:chExt cx="841248" cy="841248"/>
          </a:xfrm>
        </p:grpSpPr>
        <p:sp>
          <p:nvSpPr>
            <p:cNvPr name="Freeform 111" id="111"/>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92" t="0" r="-78393" b="0"/>
              </a:stretch>
            </a:blipFill>
          </p:spPr>
          <p:txBody>
            <a:bodyPr/>
            <a:p/>
          </p:txBody>
        </p:sp>
      </p:grpSp>
      <p:grpSp>
        <p:nvGrpSpPr>
          <p:cNvPr name="Group 112" id="112"/>
          <p:cNvGrpSpPr/>
          <p:nvPr/>
        </p:nvGrpSpPr>
        <p:grpSpPr>
          <a:xfrm rot="0">
            <a:off x="15876270" y="2604326"/>
            <a:ext cx="630936" cy="673798"/>
            <a:chOff x="0" y="0"/>
            <a:chExt cx="841248" cy="898398"/>
          </a:xfrm>
        </p:grpSpPr>
        <p:sp>
          <p:nvSpPr>
            <p:cNvPr name="Freeform 113" id="113"/>
            <p:cNvSpPr/>
            <p:nvPr/>
          </p:nvSpPr>
          <p:spPr>
            <a:xfrm flipH="false" flipV="false" rot="0">
              <a:off x="0" y="0"/>
              <a:ext cx="841248" cy="898398"/>
            </a:xfrm>
            <a:custGeom>
              <a:avLst/>
              <a:gdLst/>
              <a:ahLst/>
              <a:cxnLst/>
              <a:rect r="r" b="b" t="t" l="l"/>
              <a:pathLst>
                <a:path h="898398" w="841248">
                  <a:moveTo>
                    <a:pt x="0" y="0"/>
                  </a:moveTo>
                  <a:lnTo>
                    <a:pt x="841248" y="0"/>
                  </a:lnTo>
                  <a:lnTo>
                    <a:pt x="841248" y="898398"/>
                  </a:lnTo>
                  <a:lnTo>
                    <a:pt x="0" y="898398"/>
                  </a:lnTo>
                  <a:close/>
                </a:path>
              </a:pathLst>
            </a:custGeom>
            <a:blipFill>
              <a:blip r:embed="rId5">
                <a:alphaModFix amt="0"/>
              </a:blip>
              <a:stretch>
                <a:fillRect l="-87019" t="0" r="-87019" b="0"/>
              </a:stretch>
            </a:blipFill>
          </p:spPr>
          <p:txBody>
            <a:bodyPr/>
            <a:p/>
          </p:txBody>
        </p:sp>
        <p:sp>
          <p:nvSpPr>
            <p:cNvPr name="TextBox 114" id="114"/>
            <p:cNvSpPr txBox="true"/>
            <p:nvPr/>
          </p:nvSpPr>
          <p:spPr>
            <a:xfrm>
              <a:off x="0" y="-57150"/>
              <a:ext cx="841248" cy="955548"/>
            </a:xfrm>
            <a:prstGeom prst="rect">
              <a:avLst/>
            </a:prstGeom>
          </p:spPr>
          <p:txBody>
            <a:bodyPr anchor="ctr" rtlCol="false" tIns="0" lIns="0" bIns="0" rIns="0"/>
            <a:lstStyle/>
            <a:p>
              <a:pPr algn="ctr">
                <a:lnSpc>
                  <a:spcPts val="2700"/>
                </a:lnSpc>
              </a:pPr>
              <a:r>
                <a:rPr lang="en-US" sz="2250" b="true">
                  <a:solidFill>
                    <a:srgbClr val="14313B"/>
                  </a:solidFill>
                  <a:latin typeface="Calibri (MS) Bold"/>
                  <a:ea typeface="Calibri (MS) Bold"/>
                  <a:cs typeface="Calibri (MS) Bold"/>
                  <a:sym typeface="Calibri (MS) Bold"/>
                </a:rPr>
                <a:t>6</a:t>
              </a:r>
            </a:p>
          </p:txBody>
        </p:sp>
      </p:grpSp>
      <p:sp>
        <p:nvSpPr>
          <p:cNvPr name="TextBox 115" id="115"/>
          <p:cNvSpPr txBox="true"/>
          <p:nvPr/>
        </p:nvSpPr>
        <p:spPr>
          <a:xfrm rot="0">
            <a:off x="15169896" y="3352800"/>
            <a:ext cx="2057400" cy="137922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Implementasi aplikasi web</a:t>
            </a:r>
          </a:p>
        </p:txBody>
      </p:sp>
      <p:sp>
        <p:nvSpPr>
          <p:cNvPr name="TextBox 116" id="116"/>
          <p:cNvSpPr txBox="true"/>
          <p:nvPr/>
        </p:nvSpPr>
        <p:spPr>
          <a:xfrm rot="0">
            <a:off x="15169896" y="4655820"/>
            <a:ext cx="2057400" cy="333375"/>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Decision support tool</a:t>
            </a:r>
          </a:p>
        </p:txBody>
      </p:sp>
      <p:sp>
        <p:nvSpPr>
          <p:cNvPr name="TextBox 117" id="117"/>
          <p:cNvSpPr txBox="true"/>
          <p:nvPr/>
        </p:nvSpPr>
        <p:spPr>
          <a:xfrm rot="0">
            <a:off x="822960" y="6076950"/>
            <a:ext cx="8229600" cy="40957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Isi 4 tahap pengujian</a:t>
            </a:r>
          </a:p>
        </p:txBody>
      </p:sp>
      <p:grpSp>
        <p:nvGrpSpPr>
          <p:cNvPr name="Group 118" id="118"/>
          <p:cNvGrpSpPr/>
          <p:nvPr/>
        </p:nvGrpSpPr>
        <p:grpSpPr>
          <a:xfrm rot="0">
            <a:off x="822960" y="6720840"/>
            <a:ext cx="3703320" cy="1097280"/>
            <a:chOff x="0" y="0"/>
            <a:chExt cx="4937760" cy="1463040"/>
          </a:xfrm>
        </p:grpSpPr>
        <p:sp>
          <p:nvSpPr>
            <p:cNvPr name="Freeform 119" id="119"/>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0B5E6E"/>
            </a:solidFill>
          </p:spPr>
          <p:txBody>
            <a:bodyPr/>
            <a:p/>
          </p:txBody>
        </p:sp>
      </p:grpSp>
      <p:grpSp>
        <p:nvGrpSpPr>
          <p:cNvPr name="Group 120" id="120"/>
          <p:cNvGrpSpPr/>
          <p:nvPr/>
        </p:nvGrpSpPr>
        <p:grpSpPr>
          <a:xfrm rot="0">
            <a:off x="822960" y="6720840"/>
            <a:ext cx="3703320" cy="1097280"/>
            <a:chOff x="0" y="0"/>
            <a:chExt cx="4937760" cy="1463040"/>
          </a:xfrm>
        </p:grpSpPr>
        <p:sp>
          <p:nvSpPr>
            <p:cNvPr name="Freeform 121" id="121"/>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16" r="0" b="-15716"/>
              </a:stretch>
            </a:blipFill>
          </p:spPr>
          <p:txBody>
            <a:bodyPr/>
            <a:p/>
          </p:txBody>
        </p:sp>
      </p:grpSp>
      <p:grpSp>
        <p:nvGrpSpPr>
          <p:cNvPr name="Group 122" id="122"/>
          <p:cNvGrpSpPr/>
          <p:nvPr/>
        </p:nvGrpSpPr>
        <p:grpSpPr>
          <a:xfrm rot="0">
            <a:off x="822960" y="6677978"/>
            <a:ext cx="3703320" cy="1140142"/>
            <a:chOff x="0" y="0"/>
            <a:chExt cx="4937760" cy="1520190"/>
          </a:xfrm>
        </p:grpSpPr>
        <p:sp>
          <p:nvSpPr>
            <p:cNvPr name="Freeform 123" id="123"/>
            <p:cNvSpPr/>
            <p:nvPr/>
          </p:nvSpPr>
          <p:spPr>
            <a:xfrm flipH="false" flipV="false" rot="0">
              <a:off x="0" y="0"/>
              <a:ext cx="4937760" cy="1520190"/>
            </a:xfrm>
            <a:custGeom>
              <a:avLst/>
              <a:gdLst/>
              <a:ahLst/>
              <a:cxnLst/>
              <a:rect r="r" b="b" t="t" l="l"/>
              <a:pathLst>
                <a:path h="1520190" w="4937760">
                  <a:moveTo>
                    <a:pt x="0" y="0"/>
                  </a:moveTo>
                  <a:lnTo>
                    <a:pt x="4937760" y="0"/>
                  </a:lnTo>
                  <a:lnTo>
                    <a:pt x="4937760" y="1520190"/>
                  </a:lnTo>
                  <a:lnTo>
                    <a:pt x="0" y="1520190"/>
                  </a:lnTo>
                  <a:close/>
                </a:path>
              </a:pathLst>
            </a:custGeom>
            <a:blipFill>
              <a:blip r:embed="rId5">
                <a:alphaModFix amt="0"/>
              </a:blip>
              <a:stretch>
                <a:fillRect l="0" t="-13289" r="0" b="-13289"/>
              </a:stretch>
            </a:blipFill>
          </p:spPr>
          <p:txBody>
            <a:bodyPr/>
            <a:p/>
          </p:txBody>
        </p:sp>
        <p:sp>
          <p:nvSpPr>
            <p:cNvPr name="TextBox 124" id="124"/>
            <p:cNvSpPr txBox="true"/>
            <p:nvPr/>
          </p:nvSpPr>
          <p:spPr>
            <a:xfrm>
              <a:off x="0" y="-57150"/>
              <a:ext cx="4937760" cy="157734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Uji struktur</a:t>
              </a:r>
            </a:p>
          </p:txBody>
        </p:sp>
      </p:grpSp>
      <p:grpSp>
        <p:nvGrpSpPr>
          <p:cNvPr name="Group 125" id="125"/>
          <p:cNvGrpSpPr/>
          <p:nvPr/>
        </p:nvGrpSpPr>
        <p:grpSpPr>
          <a:xfrm rot="0">
            <a:off x="5047488" y="6720840"/>
            <a:ext cx="3703320" cy="1097280"/>
            <a:chOff x="0" y="0"/>
            <a:chExt cx="4937760" cy="1463040"/>
          </a:xfrm>
        </p:grpSpPr>
        <p:sp>
          <p:nvSpPr>
            <p:cNvPr name="Freeform 126" id="126"/>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0B5E6E"/>
            </a:solidFill>
          </p:spPr>
          <p:txBody>
            <a:bodyPr/>
            <a:p/>
          </p:txBody>
        </p:sp>
      </p:grpSp>
      <p:grpSp>
        <p:nvGrpSpPr>
          <p:cNvPr name="Group 127" id="127"/>
          <p:cNvGrpSpPr/>
          <p:nvPr/>
        </p:nvGrpSpPr>
        <p:grpSpPr>
          <a:xfrm rot="0">
            <a:off x="5047488" y="6720840"/>
            <a:ext cx="3703320" cy="1097280"/>
            <a:chOff x="0" y="0"/>
            <a:chExt cx="4937760" cy="1463040"/>
          </a:xfrm>
        </p:grpSpPr>
        <p:sp>
          <p:nvSpPr>
            <p:cNvPr name="Freeform 128" id="128"/>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16" r="0" b="-15716"/>
              </a:stretch>
            </a:blipFill>
          </p:spPr>
          <p:txBody>
            <a:bodyPr/>
            <a:p/>
          </p:txBody>
        </p:sp>
      </p:grpSp>
      <p:grpSp>
        <p:nvGrpSpPr>
          <p:cNvPr name="Group 129" id="129"/>
          <p:cNvGrpSpPr/>
          <p:nvPr/>
        </p:nvGrpSpPr>
        <p:grpSpPr>
          <a:xfrm rot="0">
            <a:off x="5047488" y="6677978"/>
            <a:ext cx="3703320" cy="1140142"/>
            <a:chOff x="0" y="0"/>
            <a:chExt cx="4937760" cy="1520190"/>
          </a:xfrm>
        </p:grpSpPr>
        <p:sp>
          <p:nvSpPr>
            <p:cNvPr name="Freeform 130" id="130"/>
            <p:cNvSpPr/>
            <p:nvPr/>
          </p:nvSpPr>
          <p:spPr>
            <a:xfrm flipH="false" flipV="false" rot="0">
              <a:off x="0" y="0"/>
              <a:ext cx="4937760" cy="1520190"/>
            </a:xfrm>
            <a:custGeom>
              <a:avLst/>
              <a:gdLst/>
              <a:ahLst/>
              <a:cxnLst/>
              <a:rect r="r" b="b" t="t" l="l"/>
              <a:pathLst>
                <a:path h="1520190" w="4937760">
                  <a:moveTo>
                    <a:pt x="0" y="0"/>
                  </a:moveTo>
                  <a:lnTo>
                    <a:pt x="4937760" y="0"/>
                  </a:lnTo>
                  <a:lnTo>
                    <a:pt x="4937760" y="1520190"/>
                  </a:lnTo>
                  <a:lnTo>
                    <a:pt x="0" y="1520190"/>
                  </a:lnTo>
                  <a:close/>
                </a:path>
              </a:pathLst>
            </a:custGeom>
            <a:blipFill>
              <a:blip r:embed="rId5">
                <a:alphaModFix amt="0"/>
              </a:blip>
              <a:stretch>
                <a:fillRect l="0" t="-13289" r="0" b="-13289"/>
              </a:stretch>
            </a:blipFill>
          </p:spPr>
          <p:txBody>
            <a:bodyPr/>
            <a:p/>
          </p:txBody>
        </p:sp>
        <p:sp>
          <p:nvSpPr>
            <p:cNvPr name="TextBox 131" id="131"/>
            <p:cNvSpPr txBox="true"/>
            <p:nvPr/>
          </p:nvSpPr>
          <p:spPr>
            <a:xfrm>
              <a:off x="0" y="-57150"/>
              <a:ext cx="4937760" cy="157734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Uji perilaku</a:t>
              </a:r>
            </a:p>
          </p:txBody>
        </p:sp>
      </p:grpSp>
      <p:grpSp>
        <p:nvGrpSpPr>
          <p:cNvPr name="Group 132" id="132"/>
          <p:cNvGrpSpPr/>
          <p:nvPr/>
        </p:nvGrpSpPr>
        <p:grpSpPr>
          <a:xfrm rot="0">
            <a:off x="9272016" y="6720840"/>
            <a:ext cx="3703320" cy="1097280"/>
            <a:chOff x="0" y="0"/>
            <a:chExt cx="4937760" cy="1463040"/>
          </a:xfrm>
        </p:grpSpPr>
        <p:sp>
          <p:nvSpPr>
            <p:cNvPr name="Freeform 133" id="133"/>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FFF1BF"/>
            </a:solidFill>
          </p:spPr>
          <p:txBody>
            <a:bodyPr/>
            <a:p/>
          </p:txBody>
        </p:sp>
      </p:grpSp>
      <p:grpSp>
        <p:nvGrpSpPr>
          <p:cNvPr name="Group 134" id="134"/>
          <p:cNvGrpSpPr/>
          <p:nvPr/>
        </p:nvGrpSpPr>
        <p:grpSpPr>
          <a:xfrm rot="0">
            <a:off x="9272016" y="6720840"/>
            <a:ext cx="3703320" cy="1097280"/>
            <a:chOff x="0" y="0"/>
            <a:chExt cx="4937760" cy="1463040"/>
          </a:xfrm>
        </p:grpSpPr>
        <p:sp>
          <p:nvSpPr>
            <p:cNvPr name="Freeform 135" id="135"/>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16" r="0" b="-15716"/>
              </a:stretch>
            </a:blipFill>
          </p:spPr>
          <p:txBody>
            <a:bodyPr/>
            <a:p/>
          </p:txBody>
        </p:sp>
      </p:grpSp>
      <p:grpSp>
        <p:nvGrpSpPr>
          <p:cNvPr name="Group 136" id="136"/>
          <p:cNvGrpSpPr/>
          <p:nvPr/>
        </p:nvGrpSpPr>
        <p:grpSpPr>
          <a:xfrm rot="0">
            <a:off x="9272016" y="6677978"/>
            <a:ext cx="3703320" cy="1140142"/>
            <a:chOff x="0" y="0"/>
            <a:chExt cx="4937760" cy="1520190"/>
          </a:xfrm>
        </p:grpSpPr>
        <p:sp>
          <p:nvSpPr>
            <p:cNvPr name="Freeform 137" id="137"/>
            <p:cNvSpPr/>
            <p:nvPr/>
          </p:nvSpPr>
          <p:spPr>
            <a:xfrm flipH="false" flipV="false" rot="0">
              <a:off x="0" y="0"/>
              <a:ext cx="4937760" cy="1520190"/>
            </a:xfrm>
            <a:custGeom>
              <a:avLst/>
              <a:gdLst/>
              <a:ahLst/>
              <a:cxnLst/>
              <a:rect r="r" b="b" t="t" l="l"/>
              <a:pathLst>
                <a:path h="1520190" w="4937760">
                  <a:moveTo>
                    <a:pt x="0" y="0"/>
                  </a:moveTo>
                  <a:lnTo>
                    <a:pt x="4937760" y="0"/>
                  </a:lnTo>
                  <a:lnTo>
                    <a:pt x="4937760" y="1520190"/>
                  </a:lnTo>
                  <a:lnTo>
                    <a:pt x="0" y="1520190"/>
                  </a:lnTo>
                  <a:close/>
                </a:path>
              </a:pathLst>
            </a:custGeom>
            <a:blipFill>
              <a:blip r:embed="rId5">
                <a:alphaModFix amt="0"/>
              </a:blip>
              <a:stretch>
                <a:fillRect l="0" t="-13289" r="0" b="-13289"/>
              </a:stretch>
            </a:blipFill>
          </p:spPr>
          <p:txBody>
            <a:bodyPr/>
            <a:p/>
          </p:txBody>
        </p:sp>
        <p:sp>
          <p:nvSpPr>
            <p:cNvPr name="TextBox 138" id="138"/>
            <p:cNvSpPr txBox="true"/>
            <p:nvPr/>
          </p:nvSpPr>
          <p:spPr>
            <a:xfrm>
              <a:off x="0" y="-57150"/>
              <a:ext cx="4937760" cy="1577340"/>
            </a:xfrm>
            <a:prstGeom prst="rect">
              <a:avLst/>
            </a:prstGeom>
          </p:spPr>
          <p:txBody>
            <a:bodyPr anchor="ctr" rtlCol="false" tIns="0" lIns="0" bIns="0" rIns="0"/>
            <a:lstStyle/>
            <a:p>
              <a:pPr algn="ctr">
                <a:lnSpc>
                  <a:spcPts val="2700"/>
                </a:lnSpc>
              </a:pPr>
              <a:r>
                <a:rPr lang="en-US" sz="2250" b="true">
                  <a:solidFill>
                    <a:srgbClr val="14313B"/>
                  </a:solidFill>
                  <a:latin typeface="Calibri (MS) Bold"/>
                  <a:ea typeface="Calibri (MS) Bold"/>
                  <a:cs typeface="Calibri (MS) Bold"/>
                  <a:sym typeface="Calibri (MS) Bold"/>
                </a:rPr>
                <a:t>Kalibrasi</a:t>
              </a:r>
            </a:p>
          </p:txBody>
        </p:sp>
      </p:grpSp>
      <p:grpSp>
        <p:nvGrpSpPr>
          <p:cNvPr name="Group 139" id="139"/>
          <p:cNvGrpSpPr/>
          <p:nvPr/>
        </p:nvGrpSpPr>
        <p:grpSpPr>
          <a:xfrm rot="0">
            <a:off x="13496544" y="6720840"/>
            <a:ext cx="3703320" cy="1097280"/>
            <a:chOff x="0" y="0"/>
            <a:chExt cx="4937760" cy="1463040"/>
          </a:xfrm>
        </p:grpSpPr>
        <p:sp>
          <p:nvSpPr>
            <p:cNvPr name="Freeform 140" id="140"/>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0B5E6E"/>
            </a:solidFill>
          </p:spPr>
          <p:txBody>
            <a:bodyPr/>
            <a:p/>
          </p:txBody>
        </p:sp>
      </p:grpSp>
      <p:grpSp>
        <p:nvGrpSpPr>
          <p:cNvPr name="Group 141" id="141"/>
          <p:cNvGrpSpPr/>
          <p:nvPr/>
        </p:nvGrpSpPr>
        <p:grpSpPr>
          <a:xfrm rot="0">
            <a:off x="13496544" y="6720840"/>
            <a:ext cx="3703320" cy="1097280"/>
            <a:chOff x="0" y="0"/>
            <a:chExt cx="4937760" cy="1463040"/>
          </a:xfrm>
        </p:grpSpPr>
        <p:sp>
          <p:nvSpPr>
            <p:cNvPr name="Freeform 142" id="142"/>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16" r="0" b="-15716"/>
              </a:stretch>
            </a:blipFill>
          </p:spPr>
          <p:txBody>
            <a:bodyPr/>
            <a:p/>
          </p:txBody>
        </p:sp>
      </p:grpSp>
      <p:grpSp>
        <p:nvGrpSpPr>
          <p:cNvPr name="Group 143" id="143"/>
          <p:cNvGrpSpPr/>
          <p:nvPr/>
        </p:nvGrpSpPr>
        <p:grpSpPr>
          <a:xfrm rot="0">
            <a:off x="13496544" y="6677978"/>
            <a:ext cx="3703320" cy="1140142"/>
            <a:chOff x="0" y="0"/>
            <a:chExt cx="4937760" cy="1520190"/>
          </a:xfrm>
        </p:grpSpPr>
        <p:sp>
          <p:nvSpPr>
            <p:cNvPr name="Freeform 144" id="144"/>
            <p:cNvSpPr/>
            <p:nvPr/>
          </p:nvSpPr>
          <p:spPr>
            <a:xfrm flipH="false" flipV="false" rot="0">
              <a:off x="0" y="0"/>
              <a:ext cx="4937760" cy="1520190"/>
            </a:xfrm>
            <a:custGeom>
              <a:avLst/>
              <a:gdLst/>
              <a:ahLst/>
              <a:cxnLst/>
              <a:rect r="r" b="b" t="t" l="l"/>
              <a:pathLst>
                <a:path h="1520190" w="4937760">
                  <a:moveTo>
                    <a:pt x="0" y="0"/>
                  </a:moveTo>
                  <a:lnTo>
                    <a:pt x="4937760" y="0"/>
                  </a:lnTo>
                  <a:lnTo>
                    <a:pt x="4937760" y="1520190"/>
                  </a:lnTo>
                  <a:lnTo>
                    <a:pt x="0" y="1520190"/>
                  </a:lnTo>
                  <a:close/>
                </a:path>
              </a:pathLst>
            </a:custGeom>
            <a:blipFill>
              <a:blip r:embed="rId5">
                <a:alphaModFix amt="0"/>
              </a:blip>
              <a:stretch>
                <a:fillRect l="0" t="-13289" r="0" b="-13289"/>
              </a:stretch>
            </a:blipFill>
          </p:spPr>
          <p:txBody>
            <a:bodyPr/>
            <a:p/>
          </p:txBody>
        </p:sp>
        <p:sp>
          <p:nvSpPr>
            <p:cNvPr name="TextBox 145" id="145"/>
            <p:cNvSpPr txBox="true"/>
            <p:nvPr/>
          </p:nvSpPr>
          <p:spPr>
            <a:xfrm>
              <a:off x="0" y="-57150"/>
              <a:ext cx="4937760" cy="157734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Analisis sensitivitas</a:t>
              </a:r>
            </a:p>
          </p:txBody>
        </p:sp>
      </p:grpSp>
      <p:sp>
        <p:nvSpPr>
          <p:cNvPr name="TextBox 146" id="146"/>
          <p:cNvSpPr txBox="true"/>
          <p:nvPr/>
        </p:nvSpPr>
        <p:spPr>
          <a:xfrm rot="0">
            <a:off x="822960" y="8564880"/>
            <a:ext cx="16637508" cy="34290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Tahap 2 → Tujuan 1  ·  Tahap 1, 3, 4, 5 → Tujuan 2 (termasuk simulasi skenario)  ·  Tahap 6 → Tujuan 3.  Alat: GEE, Vensim PLE, Python (PySD), Excel/Sheets, SDEverywhere, Next.js</a:t>
            </a:r>
          </a:p>
        </p:txBody>
      </p:sp>
      <p:grpSp>
        <p:nvGrpSpPr>
          <p:cNvPr name="Group 147" id="147"/>
          <p:cNvGrpSpPr/>
          <p:nvPr/>
        </p:nvGrpSpPr>
        <p:grpSpPr>
          <a:xfrm rot="0">
            <a:off x="15690304" y="2247814"/>
            <a:ext cx="1016594" cy="304981"/>
            <a:chOff x="0" y="0"/>
            <a:chExt cx="1355458" cy="406641"/>
          </a:xfrm>
        </p:grpSpPr>
        <p:sp>
          <p:nvSpPr>
            <p:cNvPr name="Freeform 148" id="148"/>
            <p:cNvSpPr/>
            <p:nvPr/>
          </p:nvSpPr>
          <p:spPr>
            <a:xfrm flipH="false" flipV="false" rot="0">
              <a:off x="0" y="0"/>
              <a:ext cx="1355471" cy="406654"/>
            </a:xfrm>
            <a:custGeom>
              <a:avLst/>
              <a:gdLst/>
              <a:ahLst/>
              <a:cxnLst/>
              <a:rect r="r" b="b" t="t" l="l"/>
              <a:pathLst>
                <a:path h="406654" w="1355471">
                  <a:moveTo>
                    <a:pt x="0" y="0"/>
                  </a:moveTo>
                  <a:lnTo>
                    <a:pt x="1355471" y="0"/>
                  </a:lnTo>
                  <a:lnTo>
                    <a:pt x="1355471" y="406654"/>
                  </a:lnTo>
                  <a:lnTo>
                    <a:pt x="0" y="406654"/>
                  </a:lnTo>
                  <a:close/>
                </a:path>
              </a:pathLst>
            </a:custGeom>
            <a:blipFill>
              <a:blip r:embed="rId5">
                <a:alphaModFix amt="0"/>
              </a:blip>
              <a:stretch>
                <a:fillRect l="0" t="-14949" r="0" b="-14945"/>
              </a:stretch>
            </a:blipFill>
          </p:spPr>
          <p:txBody>
            <a:bodyPr/>
            <a:p/>
          </p:txBody>
        </p:sp>
      </p:grpSp>
      <p:grpSp>
        <p:nvGrpSpPr>
          <p:cNvPr name="Group 149" id="149"/>
          <p:cNvGrpSpPr/>
          <p:nvPr/>
        </p:nvGrpSpPr>
        <p:grpSpPr>
          <a:xfrm rot="0">
            <a:off x="1234440" y="5285232"/>
            <a:ext cx="1709928" cy="365760"/>
            <a:chOff x="0" y="0"/>
            <a:chExt cx="2279904" cy="487680"/>
          </a:xfrm>
        </p:grpSpPr>
        <p:sp>
          <p:nvSpPr>
            <p:cNvPr name="Freeform 150" id="150"/>
            <p:cNvSpPr/>
            <p:nvPr/>
          </p:nvSpPr>
          <p:spPr>
            <a:xfrm flipH="false" flipV="false" rot="0">
              <a:off x="0" y="0"/>
              <a:ext cx="2279904" cy="487680"/>
            </a:xfrm>
            <a:custGeom>
              <a:avLst/>
              <a:gdLst/>
              <a:ahLst/>
              <a:cxnLst/>
              <a:rect r="r" b="b" t="t" l="l"/>
              <a:pathLst>
                <a:path h="487680" w="2279904">
                  <a:moveTo>
                    <a:pt x="0" y="243840"/>
                  </a:moveTo>
                  <a:cubicBezTo>
                    <a:pt x="0" y="109220"/>
                    <a:pt x="109220" y="0"/>
                    <a:pt x="243840" y="0"/>
                  </a:cubicBezTo>
                  <a:lnTo>
                    <a:pt x="2036064" y="0"/>
                  </a:lnTo>
                  <a:cubicBezTo>
                    <a:pt x="2170684" y="0"/>
                    <a:pt x="2279904" y="109220"/>
                    <a:pt x="2279904" y="243840"/>
                  </a:cubicBezTo>
                  <a:cubicBezTo>
                    <a:pt x="2279904" y="378460"/>
                    <a:pt x="2170684" y="487680"/>
                    <a:pt x="2036064" y="487680"/>
                  </a:cubicBezTo>
                  <a:lnTo>
                    <a:pt x="243840" y="487680"/>
                  </a:lnTo>
                  <a:cubicBezTo>
                    <a:pt x="109220" y="487680"/>
                    <a:pt x="0" y="378460"/>
                    <a:pt x="0" y="243840"/>
                  </a:cubicBezTo>
                  <a:close/>
                </a:path>
              </a:pathLst>
            </a:custGeom>
            <a:solidFill>
              <a:srgbClr val="39C0D3"/>
            </a:solidFill>
          </p:spPr>
          <p:txBody>
            <a:bodyPr/>
            <a:p/>
          </p:txBody>
        </p:sp>
        <p:sp>
          <p:nvSpPr>
            <p:cNvPr name="TextBox 151" id="151"/>
            <p:cNvSpPr txBox="true"/>
            <p:nvPr/>
          </p:nvSpPr>
          <p:spPr>
            <a:xfrm>
              <a:off x="0" y="-28575"/>
              <a:ext cx="2279904" cy="516255"/>
            </a:xfrm>
            <a:prstGeom prst="rect">
              <a:avLst/>
            </a:prstGeom>
          </p:spPr>
          <p:txBody>
            <a:bodyPr anchor="ctr" rtlCol="false" tIns="50800" lIns="50800" bIns="50800" rIns="50800"/>
            <a:lstStyle/>
            <a:p>
              <a:pPr algn="ctr">
                <a:lnSpc>
                  <a:spcPts val="1788"/>
                </a:lnSpc>
              </a:pPr>
              <a:r>
                <a:rPr lang="en-US" sz="1490" b="true">
                  <a:solidFill>
                    <a:srgbClr val="FFFFFF"/>
                  </a:solidFill>
                  <a:latin typeface="Calibri (MS) Bold"/>
                  <a:ea typeface="Calibri (MS) Bold"/>
                  <a:cs typeface="Calibri (MS) Bold"/>
                  <a:sym typeface="Calibri (MS) Bold"/>
                </a:rPr>
                <a:t>→ Tujuan 2</a:t>
              </a:r>
            </a:p>
          </p:txBody>
        </p:sp>
      </p:grpSp>
      <p:grpSp>
        <p:nvGrpSpPr>
          <p:cNvPr name="Group 152" id="152"/>
          <p:cNvGrpSpPr/>
          <p:nvPr/>
        </p:nvGrpSpPr>
        <p:grpSpPr>
          <a:xfrm rot="0">
            <a:off x="4050792" y="5285232"/>
            <a:ext cx="1709928" cy="365760"/>
            <a:chOff x="0" y="0"/>
            <a:chExt cx="2279904" cy="487680"/>
          </a:xfrm>
        </p:grpSpPr>
        <p:sp>
          <p:nvSpPr>
            <p:cNvPr name="Freeform 153" id="153"/>
            <p:cNvSpPr/>
            <p:nvPr/>
          </p:nvSpPr>
          <p:spPr>
            <a:xfrm flipH="false" flipV="false" rot="0">
              <a:off x="0" y="0"/>
              <a:ext cx="2279904" cy="487680"/>
            </a:xfrm>
            <a:custGeom>
              <a:avLst/>
              <a:gdLst/>
              <a:ahLst/>
              <a:cxnLst/>
              <a:rect r="r" b="b" t="t" l="l"/>
              <a:pathLst>
                <a:path h="487680" w="2279904">
                  <a:moveTo>
                    <a:pt x="0" y="243840"/>
                  </a:moveTo>
                  <a:cubicBezTo>
                    <a:pt x="0" y="109220"/>
                    <a:pt x="109220" y="0"/>
                    <a:pt x="243840" y="0"/>
                  </a:cubicBezTo>
                  <a:lnTo>
                    <a:pt x="2036064" y="0"/>
                  </a:lnTo>
                  <a:cubicBezTo>
                    <a:pt x="2170684" y="0"/>
                    <a:pt x="2279904" y="109220"/>
                    <a:pt x="2279904" y="243840"/>
                  </a:cubicBezTo>
                  <a:cubicBezTo>
                    <a:pt x="2279904" y="378460"/>
                    <a:pt x="2170684" y="487680"/>
                    <a:pt x="2036064" y="487680"/>
                  </a:cubicBezTo>
                  <a:lnTo>
                    <a:pt x="243840" y="487680"/>
                  </a:lnTo>
                  <a:cubicBezTo>
                    <a:pt x="109220" y="487680"/>
                    <a:pt x="0" y="378460"/>
                    <a:pt x="0" y="243840"/>
                  </a:cubicBezTo>
                  <a:close/>
                </a:path>
              </a:pathLst>
            </a:custGeom>
            <a:solidFill>
              <a:srgbClr val="0B5E6E"/>
            </a:solidFill>
          </p:spPr>
          <p:txBody>
            <a:bodyPr/>
            <a:p/>
          </p:txBody>
        </p:sp>
        <p:sp>
          <p:nvSpPr>
            <p:cNvPr name="TextBox 154" id="154"/>
            <p:cNvSpPr txBox="true"/>
            <p:nvPr/>
          </p:nvSpPr>
          <p:spPr>
            <a:xfrm>
              <a:off x="0" y="-28575"/>
              <a:ext cx="2279904" cy="516255"/>
            </a:xfrm>
            <a:prstGeom prst="rect">
              <a:avLst/>
            </a:prstGeom>
          </p:spPr>
          <p:txBody>
            <a:bodyPr anchor="ctr" rtlCol="false" tIns="50800" lIns="50800" bIns="50800" rIns="50800"/>
            <a:lstStyle/>
            <a:p>
              <a:pPr algn="ctr">
                <a:lnSpc>
                  <a:spcPts val="1788"/>
                </a:lnSpc>
              </a:pPr>
              <a:r>
                <a:rPr lang="en-US" sz="1490" b="true">
                  <a:solidFill>
                    <a:srgbClr val="FFFFFF"/>
                  </a:solidFill>
                  <a:latin typeface="Calibri (MS) Bold"/>
                  <a:ea typeface="Calibri (MS) Bold"/>
                  <a:cs typeface="Calibri (MS) Bold"/>
                  <a:sym typeface="Calibri (MS) Bold"/>
                </a:rPr>
                <a:t>→ Tujuan 1</a:t>
              </a:r>
            </a:p>
          </p:txBody>
        </p:sp>
      </p:grpSp>
      <p:grpSp>
        <p:nvGrpSpPr>
          <p:cNvPr name="Group 155" id="155"/>
          <p:cNvGrpSpPr/>
          <p:nvPr/>
        </p:nvGrpSpPr>
        <p:grpSpPr>
          <a:xfrm rot="0">
            <a:off x="6876288" y="5285232"/>
            <a:ext cx="1709928" cy="365760"/>
            <a:chOff x="0" y="0"/>
            <a:chExt cx="2279904" cy="487680"/>
          </a:xfrm>
        </p:grpSpPr>
        <p:sp>
          <p:nvSpPr>
            <p:cNvPr name="Freeform 156" id="156"/>
            <p:cNvSpPr/>
            <p:nvPr/>
          </p:nvSpPr>
          <p:spPr>
            <a:xfrm flipH="false" flipV="false" rot="0">
              <a:off x="0" y="0"/>
              <a:ext cx="2279904" cy="487680"/>
            </a:xfrm>
            <a:custGeom>
              <a:avLst/>
              <a:gdLst/>
              <a:ahLst/>
              <a:cxnLst/>
              <a:rect r="r" b="b" t="t" l="l"/>
              <a:pathLst>
                <a:path h="487680" w="2279904">
                  <a:moveTo>
                    <a:pt x="0" y="243840"/>
                  </a:moveTo>
                  <a:cubicBezTo>
                    <a:pt x="0" y="109220"/>
                    <a:pt x="109220" y="0"/>
                    <a:pt x="243840" y="0"/>
                  </a:cubicBezTo>
                  <a:lnTo>
                    <a:pt x="2036064" y="0"/>
                  </a:lnTo>
                  <a:cubicBezTo>
                    <a:pt x="2170684" y="0"/>
                    <a:pt x="2279904" y="109220"/>
                    <a:pt x="2279904" y="243840"/>
                  </a:cubicBezTo>
                  <a:cubicBezTo>
                    <a:pt x="2279904" y="378460"/>
                    <a:pt x="2170684" y="487680"/>
                    <a:pt x="2036064" y="487680"/>
                  </a:cubicBezTo>
                  <a:lnTo>
                    <a:pt x="243840" y="487680"/>
                  </a:lnTo>
                  <a:cubicBezTo>
                    <a:pt x="109220" y="487680"/>
                    <a:pt x="0" y="378460"/>
                    <a:pt x="0" y="243840"/>
                  </a:cubicBezTo>
                  <a:close/>
                </a:path>
              </a:pathLst>
            </a:custGeom>
            <a:solidFill>
              <a:srgbClr val="39C0D3"/>
            </a:solidFill>
          </p:spPr>
          <p:txBody>
            <a:bodyPr/>
            <a:p/>
          </p:txBody>
        </p:sp>
        <p:sp>
          <p:nvSpPr>
            <p:cNvPr name="TextBox 157" id="157"/>
            <p:cNvSpPr txBox="true"/>
            <p:nvPr/>
          </p:nvSpPr>
          <p:spPr>
            <a:xfrm>
              <a:off x="0" y="-28575"/>
              <a:ext cx="2279904" cy="516255"/>
            </a:xfrm>
            <a:prstGeom prst="rect">
              <a:avLst/>
            </a:prstGeom>
          </p:spPr>
          <p:txBody>
            <a:bodyPr anchor="ctr" rtlCol="false" tIns="50800" lIns="50800" bIns="50800" rIns="50800"/>
            <a:lstStyle/>
            <a:p>
              <a:pPr algn="ctr">
                <a:lnSpc>
                  <a:spcPts val="1788"/>
                </a:lnSpc>
              </a:pPr>
              <a:r>
                <a:rPr lang="en-US" sz="1490" b="true">
                  <a:solidFill>
                    <a:srgbClr val="FFFFFF"/>
                  </a:solidFill>
                  <a:latin typeface="Calibri (MS) Bold"/>
                  <a:ea typeface="Calibri (MS) Bold"/>
                  <a:cs typeface="Calibri (MS) Bold"/>
                  <a:sym typeface="Calibri (MS) Bold"/>
                </a:rPr>
                <a:t>→ Tujuan 2</a:t>
              </a:r>
            </a:p>
          </p:txBody>
        </p:sp>
      </p:grpSp>
      <p:grpSp>
        <p:nvGrpSpPr>
          <p:cNvPr name="Group 158" id="158"/>
          <p:cNvGrpSpPr/>
          <p:nvPr/>
        </p:nvGrpSpPr>
        <p:grpSpPr>
          <a:xfrm rot="0">
            <a:off x="9692640" y="5285232"/>
            <a:ext cx="1709928" cy="365760"/>
            <a:chOff x="0" y="0"/>
            <a:chExt cx="2279904" cy="487680"/>
          </a:xfrm>
        </p:grpSpPr>
        <p:sp>
          <p:nvSpPr>
            <p:cNvPr name="Freeform 159" id="159"/>
            <p:cNvSpPr/>
            <p:nvPr/>
          </p:nvSpPr>
          <p:spPr>
            <a:xfrm flipH="false" flipV="false" rot="0">
              <a:off x="0" y="0"/>
              <a:ext cx="2279904" cy="487680"/>
            </a:xfrm>
            <a:custGeom>
              <a:avLst/>
              <a:gdLst/>
              <a:ahLst/>
              <a:cxnLst/>
              <a:rect r="r" b="b" t="t" l="l"/>
              <a:pathLst>
                <a:path h="487680" w="2279904">
                  <a:moveTo>
                    <a:pt x="0" y="243840"/>
                  </a:moveTo>
                  <a:cubicBezTo>
                    <a:pt x="0" y="109220"/>
                    <a:pt x="109220" y="0"/>
                    <a:pt x="243840" y="0"/>
                  </a:cubicBezTo>
                  <a:lnTo>
                    <a:pt x="2036064" y="0"/>
                  </a:lnTo>
                  <a:cubicBezTo>
                    <a:pt x="2170684" y="0"/>
                    <a:pt x="2279904" y="109220"/>
                    <a:pt x="2279904" y="243840"/>
                  </a:cubicBezTo>
                  <a:cubicBezTo>
                    <a:pt x="2279904" y="378460"/>
                    <a:pt x="2170684" y="487680"/>
                    <a:pt x="2036064" y="487680"/>
                  </a:cubicBezTo>
                  <a:lnTo>
                    <a:pt x="243840" y="487680"/>
                  </a:lnTo>
                  <a:cubicBezTo>
                    <a:pt x="109220" y="487680"/>
                    <a:pt x="0" y="378460"/>
                    <a:pt x="0" y="243840"/>
                  </a:cubicBezTo>
                  <a:close/>
                </a:path>
              </a:pathLst>
            </a:custGeom>
            <a:solidFill>
              <a:srgbClr val="39C0D3"/>
            </a:solidFill>
          </p:spPr>
          <p:txBody>
            <a:bodyPr/>
            <a:p/>
          </p:txBody>
        </p:sp>
        <p:sp>
          <p:nvSpPr>
            <p:cNvPr name="TextBox 160" id="160"/>
            <p:cNvSpPr txBox="true"/>
            <p:nvPr/>
          </p:nvSpPr>
          <p:spPr>
            <a:xfrm>
              <a:off x="0" y="-28575"/>
              <a:ext cx="2279904" cy="516255"/>
            </a:xfrm>
            <a:prstGeom prst="rect">
              <a:avLst/>
            </a:prstGeom>
          </p:spPr>
          <p:txBody>
            <a:bodyPr anchor="ctr" rtlCol="false" tIns="50800" lIns="50800" bIns="50800" rIns="50800"/>
            <a:lstStyle/>
            <a:p>
              <a:pPr algn="ctr">
                <a:lnSpc>
                  <a:spcPts val="1788"/>
                </a:lnSpc>
              </a:pPr>
              <a:r>
                <a:rPr lang="en-US" sz="1490" b="true">
                  <a:solidFill>
                    <a:srgbClr val="FFFFFF"/>
                  </a:solidFill>
                  <a:latin typeface="Calibri (MS) Bold"/>
                  <a:ea typeface="Calibri (MS) Bold"/>
                  <a:cs typeface="Calibri (MS) Bold"/>
                  <a:sym typeface="Calibri (MS) Bold"/>
                </a:rPr>
                <a:t>→ Tujuan 2</a:t>
              </a:r>
            </a:p>
          </p:txBody>
        </p:sp>
      </p:grpSp>
      <p:grpSp>
        <p:nvGrpSpPr>
          <p:cNvPr name="Group 161" id="161"/>
          <p:cNvGrpSpPr/>
          <p:nvPr/>
        </p:nvGrpSpPr>
        <p:grpSpPr>
          <a:xfrm rot="0">
            <a:off x="12518136" y="5285232"/>
            <a:ext cx="1709928" cy="365760"/>
            <a:chOff x="0" y="0"/>
            <a:chExt cx="2279904" cy="487680"/>
          </a:xfrm>
        </p:grpSpPr>
        <p:sp>
          <p:nvSpPr>
            <p:cNvPr name="Freeform 162" id="162"/>
            <p:cNvSpPr/>
            <p:nvPr/>
          </p:nvSpPr>
          <p:spPr>
            <a:xfrm flipH="false" flipV="false" rot="0">
              <a:off x="0" y="0"/>
              <a:ext cx="2279904" cy="487680"/>
            </a:xfrm>
            <a:custGeom>
              <a:avLst/>
              <a:gdLst/>
              <a:ahLst/>
              <a:cxnLst/>
              <a:rect r="r" b="b" t="t" l="l"/>
              <a:pathLst>
                <a:path h="487680" w="2279904">
                  <a:moveTo>
                    <a:pt x="0" y="243840"/>
                  </a:moveTo>
                  <a:cubicBezTo>
                    <a:pt x="0" y="109220"/>
                    <a:pt x="109220" y="0"/>
                    <a:pt x="243840" y="0"/>
                  </a:cubicBezTo>
                  <a:lnTo>
                    <a:pt x="2036064" y="0"/>
                  </a:lnTo>
                  <a:cubicBezTo>
                    <a:pt x="2170684" y="0"/>
                    <a:pt x="2279904" y="109220"/>
                    <a:pt x="2279904" y="243840"/>
                  </a:cubicBezTo>
                  <a:cubicBezTo>
                    <a:pt x="2279904" y="378460"/>
                    <a:pt x="2170684" y="487680"/>
                    <a:pt x="2036064" y="487680"/>
                  </a:cubicBezTo>
                  <a:lnTo>
                    <a:pt x="243840" y="487680"/>
                  </a:lnTo>
                  <a:cubicBezTo>
                    <a:pt x="109220" y="487680"/>
                    <a:pt x="0" y="378460"/>
                    <a:pt x="0" y="243840"/>
                  </a:cubicBezTo>
                  <a:close/>
                </a:path>
              </a:pathLst>
            </a:custGeom>
            <a:solidFill>
              <a:srgbClr val="39C0D3"/>
            </a:solidFill>
          </p:spPr>
          <p:txBody>
            <a:bodyPr/>
            <a:p/>
          </p:txBody>
        </p:sp>
        <p:sp>
          <p:nvSpPr>
            <p:cNvPr name="TextBox 163" id="163"/>
            <p:cNvSpPr txBox="true"/>
            <p:nvPr/>
          </p:nvSpPr>
          <p:spPr>
            <a:xfrm>
              <a:off x="0" y="-28575"/>
              <a:ext cx="2279904" cy="516255"/>
            </a:xfrm>
            <a:prstGeom prst="rect">
              <a:avLst/>
            </a:prstGeom>
          </p:spPr>
          <p:txBody>
            <a:bodyPr anchor="ctr" rtlCol="false" tIns="50800" lIns="50800" bIns="50800" rIns="50800"/>
            <a:lstStyle/>
            <a:p>
              <a:pPr algn="ctr">
                <a:lnSpc>
                  <a:spcPts val="1788"/>
                </a:lnSpc>
              </a:pPr>
              <a:r>
                <a:rPr lang="en-US" sz="1490" b="true">
                  <a:solidFill>
                    <a:srgbClr val="FFFFFF"/>
                  </a:solidFill>
                  <a:latin typeface="Calibri (MS) Bold"/>
                  <a:ea typeface="Calibri (MS) Bold"/>
                  <a:cs typeface="Calibri (MS) Bold"/>
                  <a:sym typeface="Calibri (MS) Bold"/>
                </a:rPr>
                <a:t>→ Tujuan 2</a:t>
              </a:r>
            </a:p>
          </p:txBody>
        </p:sp>
      </p:grpSp>
      <p:grpSp>
        <p:nvGrpSpPr>
          <p:cNvPr name="Group 164" id="164"/>
          <p:cNvGrpSpPr/>
          <p:nvPr/>
        </p:nvGrpSpPr>
        <p:grpSpPr>
          <a:xfrm rot="0">
            <a:off x="15334488" y="5285232"/>
            <a:ext cx="1709928" cy="365760"/>
            <a:chOff x="0" y="0"/>
            <a:chExt cx="2279904" cy="487680"/>
          </a:xfrm>
        </p:grpSpPr>
        <p:sp>
          <p:nvSpPr>
            <p:cNvPr name="Freeform 165" id="165"/>
            <p:cNvSpPr/>
            <p:nvPr/>
          </p:nvSpPr>
          <p:spPr>
            <a:xfrm flipH="false" flipV="false" rot="0">
              <a:off x="0" y="0"/>
              <a:ext cx="2279904" cy="487680"/>
            </a:xfrm>
            <a:custGeom>
              <a:avLst/>
              <a:gdLst/>
              <a:ahLst/>
              <a:cxnLst/>
              <a:rect r="r" b="b" t="t" l="l"/>
              <a:pathLst>
                <a:path h="487680" w="2279904">
                  <a:moveTo>
                    <a:pt x="0" y="243840"/>
                  </a:moveTo>
                  <a:cubicBezTo>
                    <a:pt x="0" y="109220"/>
                    <a:pt x="109220" y="0"/>
                    <a:pt x="243840" y="0"/>
                  </a:cubicBezTo>
                  <a:lnTo>
                    <a:pt x="2036064" y="0"/>
                  </a:lnTo>
                  <a:cubicBezTo>
                    <a:pt x="2170684" y="0"/>
                    <a:pt x="2279904" y="109220"/>
                    <a:pt x="2279904" y="243840"/>
                  </a:cubicBezTo>
                  <a:cubicBezTo>
                    <a:pt x="2279904" y="378460"/>
                    <a:pt x="2170684" y="487680"/>
                    <a:pt x="2036064" y="487680"/>
                  </a:cubicBezTo>
                  <a:lnTo>
                    <a:pt x="243840" y="487680"/>
                  </a:lnTo>
                  <a:cubicBezTo>
                    <a:pt x="109220" y="487680"/>
                    <a:pt x="0" y="378460"/>
                    <a:pt x="0" y="243840"/>
                  </a:cubicBezTo>
                  <a:close/>
                </a:path>
              </a:pathLst>
            </a:custGeom>
            <a:solidFill>
              <a:srgbClr val="FFD23B"/>
            </a:solidFill>
          </p:spPr>
          <p:txBody>
            <a:bodyPr/>
            <a:p/>
          </p:txBody>
        </p:sp>
        <p:sp>
          <p:nvSpPr>
            <p:cNvPr name="TextBox 166" id="166"/>
            <p:cNvSpPr txBox="true"/>
            <p:nvPr/>
          </p:nvSpPr>
          <p:spPr>
            <a:xfrm>
              <a:off x="0" y="-28575"/>
              <a:ext cx="2279904" cy="516255"/>
            </a:xfrm>
            <a:prstGeom prst="rect">
              <a:avLst/>
            </a:prstGeom>
          </p:spPr>
          <p:txBody>
            <a:bodyPr anchor="ctr" rtlCol="false" tIns="50800" lIns="50800" bIns="50800" rIns="50800"/>
            <a:lstStyle/>
            <a:p>
              <a:pPr algn="ctr">
                <a:lnSpc>
                  <a:spcPts val="1788"/>
                </a:lnSpc>
              </a:pPr>
              <a:r>
                <a:rPr lang="en-US" sz="1490" b="true">
                  <a:solidFill>
                    <a:srgbClr val="14313B"/>
                  </a:solidFill>
                  <a:latin typeface="Calibri (MS) Bold"/>
                  <a:ea typeface="Calibri (MS) Bold"/>
                  <a:cs typeface="Calibri (MS) Bold"/>
                  <a:sym typeface="Calibri (MS) Bold"/>
                </a:rPr>
                <a:t>→ Tujuan 3</a:t>
              </a:r>
            </a:p>
          </p:txBody>
        </p:sp>
      </p:grpSp>
      <p:sp>
        <p:nvSpPr>
          <p:cNvPr name="Freeform 167" id="167"/>
          <p:cNvSpPr/>
          <p:nvPr/>
        </p:nvSpPr>
        <p:spPr>
          <a:xfrm>
            <a:off x="3457286" y="3920391"/>
            <a:ext cx="185683" cy="354634"/>
          </a:xfrm>
          <a:custGeom>
            <a:avLst/>
            <a:gdLst/>
            <a:ahLst/>
            <a:cxnLst/>
            <a:rect r="r" b="b" t="t" l="l"/>
            <a:pathLst>
              <a:path h="354634" w="185683">
                <a:moveTo>
                  <a:pt x="0" y="354633"/>
                </a:moveTo>
                <a:lnTo>
                  <a:pt x="0" y="265975"/>
                </a:lnTo>
                <a:cubicBezTo>
                  <a:pt x="0" y="217010"/>
                  <a:pt x="39694" y="177317"/>
                  <a:pt x="88659" y="177317"/>
                </a:cubicBezTo>
                <a:lnTo>
                  <a:pt x="97025" y="177317"/>
                </a:lnTo>
                <a:cubicBezTo>
                  <a:pt x="145990" y="177317"/>
                  <a:pt x="185683" y="137623"/>
                  <a:pt x="185683" y="88658"/>
                </a:cubicBezTo>
                <a:lnTo>
                  <a:pt x="185683" y="0"/>
                </a:lnTo>
              </a:path>
            </a:pathLst>
          </a:custGeom>
          <a:ln cap="flat" w="38100">
            <a:solidFill>
              <a:srgbClr val="39C0D3"/>
            </a:solidFill>
            <a:prstDash val="solid"/>
            <a:headEnd type="none" len="sm" w="sm"/>
            <a:tailEnd type="triangle" len="med" w="lg"/>
          </a:ln>
        </p:spPr>
        <p:txBody>
          <a:bodyPr/>
          <a:p/>
        </p:txBody>
      </p:sp>
      <p:sp>
        <p:nvSpPr>
          <p:cNvPr name="Freeform 168" id="168"/>
          <p:cNvSpPr/>
          <p:nvPr/>
        </p:nvSpPr>
        <p:spPr>
          <a:xfrm>
            <a:off x="6120983" y="4184404"/>
            <a:ext cx="315899" cy="65704"/>
          </a:xfrm>
          <a:custGeom>
            <a:avLst/>
            <a:gdLst/>
            <a:ahLst/>
            <a:cxnLst/>
            <a:rect r="r" b="b" t="t" l="l"/>
            <a:pathLst>
              <a:path h="65704" w="315899">
                <a:moveTo>
                  <a:pt x="0" y="65704"/>
                </a:moveTo>
                <a:lnTo>
                  <a:pt x="125098" y="65704"/>
                </a:lnTo>
                <a:cubicBezTo>
                  <a:pt x="133811" y="65704"/>
                  <a:pt x="142167" y="62243"/>
                  <a:pt x="148328" y="56082"/>
                </a:cubicBezTo>
                <a:cubicBezTo>
                  <a:pt x="154489" y="49920"/>
                  <a:pt x="157950" y="41565"/>
                  <a:pt x="157950" y="32852"/>
                </a:cubicBezTo>
                <a:lnTo>
                  <a:pt x="157950" y="32852"/>
                </a:lnTo>
                <a:cubicBezTo>
                  <a:pt x="157950" y="24139"/>
                  <a:pt x="161411" y="15783"/>
                  <a:pt x="167572" y="9622"/>
                </a:cubicBezTo>
                <a:cubicBezTo>
                  <a:pt x="173733" y="3461"/>
                  <a:pt x="182089" y="0"/>
                  <a:pt x="190802" y="0"/>
                </a:cubicBezTo>
                <a:lnTo>
                  <a:pt x="315899" y="0"/>
                </a:lnTo>
              </a:path>
            </a:pathLst>
          </a:custGeom>
          <a:ln cap="flat" w="38100">
            <a:solidFill>
              <a:srgbClr val="39C0D3"/>
            </a:solidFill>
            <a:prstDash val="solid"/>
            <a:headEnd type="none" len="sm" w="sm"/>
            <a:tailEnd type="triangle" len="med" w="lg"/>
          </a:ln>
        </p:spPr>
        <p:txBody>
          <a:bodyPr/>
          <a:p/>
        </p:txBody>
      </p:sp>
      <p:sp>
        <p:nvSpPr>
          <p:cNvPr name="Freeform 169" id="169"/>
          <p:cNvSpPr/>
          <p:nvPr/>
        </p:nvSpPr>
        <p:spPr>
          <a:xfrm>
            <a:off x="9054243" y="4080510"/>
            <a:ext cx="217773" cy="51670"/>
          </a:xfrm>
          <a:custGeom>
            <a:avLst/>
            <a:gdLst/>
            <a:ahLst/>
            <a:cxnLst/>
            <a:rect r="r" b="b" t="t" l="l"/>
            <a:pathLst>
              <a:path h="51670" w="217773">
                <a:moveTo>
                  <a:pt x="0" y="0"/>
                </a:moveTo>
                <a:lnTo>
                  <a:pt x="83052" y="0"/>
                </a:lnTo>
                <a:cubicBezTo>
                  <a:pt x="89904" y="0"/>
                  <a:pt x="96475" y="2722"/>
                  <a:pt x="101320" y="7567"/>
                </a:cubicBezTo>
                <a:cubicBezTo>
                  <a:pt x="106165" y="12412"/>
                  <a:pt x="108887" y="18983"/>
                  <a:pt x="108887" y="25835"/>
                </a:cubicBezTo>
                <a:lnTo>
                  <a:pt x="108887" y="25835"/>
                </a:lnTo>
                <a:cubicBezTo>
                  <a:pt x="108887" y="32687"/>
                  <a:pt x="111608" y="39258"/>
                  <a:pt x="116454" y="44103"/>
                </a:cubicBezTo>
                <a:cubicBezTo>
                  <a:pt x="121298" y="48948"/>
                  <a:pt x="127870" y="51670"/>
                  <a:pt x="134722" y="51670"/>
                </a:cubicBezTo>
                <a:lnTo>
                  <a:pt x="217773" y="51670"/>
                </a:lnTo>
              </a:path>
            </a:pathLst>
          </a:custGeom>
          <a:ln cap="flat" w="38100">
            <a:solidFill>
              <a:srgbClr val="39C0D3"/>
            </a:solidFill>
            <a:prstDash val="solid"/>
            <a:headEnd type="none" len="sm" w="sm"/>
            <a:tailEnd type="triangle" len="med" w="lg"/>
          </a:ln>
        </p:spPr>
        <p:txBody>
          <a:bodyPr/>
          <a:p/>
        </p:txBody>
      </p:sp>
      <p:sp>
        <p:nvSpPr>
          <p:cNvPr name="Freeform 170" id="170"/>
          <p:cNvSpPr/>
          <p:nvPr/>
        </p:nvSpPr>
        <p:spPr>
          <a:xfrm>
            <a:off x="11809476" y="4080510"/>
            <a:ext cx="235605" cy="48505"/>
          </a:xfrm>
          <a:custGeom>
            <a:avLst/>
            <a:gdLst/>
            <a:ahLst/>
            <a:cxnLst/>
            <a:rect r="r" b="b" t="t" l="l"/>
            <a:pathLst>
              <a:path h="48505" w="235605">
                <a:moveTo>
                  <a:pt x="0" y="0"/>
                </a:moveTo>
                <a:lnTo>
                  <a:pt x="93549" y="0"/>
                </a:lnTo>
                <a:cubicBezTo>
                  <a:pt x="106944" y="0"/>
                  <a:pt x="117802" y="10858"/>
                  <a:pt x="117802" y="24253"/>
                </a:cubicBezTo>
                <a:lnTo>
                  <a:pt x="117802" y="24253"/>
                </a:lnTo>
                <a:cubicBezTo>
                  <a:pt x="117802" y="37647"/>
                  <a:pt x="128660" y="48505"/>
                  <a:pt x="142055" y="48505"/>
                </a:cubicBezTo>
                <a:lnTo>
                  <a:pt x="235605" y="48505"/>
                </a:lnTo>
              </a:path>
            </a:pathLst>
          </a:custGeom>
          <a:ln cap="flat" w="38100">
            <a:solidFill>
              <a:srgbClr val="39C0D3"/>
            </a:solidFill>
            <a:prstDash val="solid"/>
            <a:headEnd type="none" len="sm" w="sm"/>
            <a:tailEnd type="triangle" len="med" w="lg"/>
          </a:ln>
        </p:spPr>
        <p:txBody>
          <a:bodyPr/>
          <a:p/>
        </p:txBody>
      </p:sp>
      <p:sp>
        <p:nvSpPr>
          <p:cNvPr name="Freeform 171" id="171"/>
          <p:cNvSpPr/>
          <p:nvPr/>
        </p:nvSpPr>
        <p:spPr>
          <a:xfrm>
            <a:off x="14594455" y="3992127"/>
            <a:ext cx="379203" cy="88383"/>
          </a:xfrm>
          <a:custGeom>
            <a:avLst/>
            <a:gdLst/>
            <a:ahLst/>
            <a:cxnLst/>
            <a:rect r="r" b="b" t="t" l="l"/>
            <a:pathLst>
              <a:path h="88383" w="379203">
                <a:moveTo>
                  <a:pt x="0" y="88383"/>
                </a:moveTo>
                <a:lnTo>
                  <a:pt x="145411" y="88383"/>
                </a:lnTo>
                <a:cubicBezTo>
                  <a:pt x="169817" y="88383"/>
                  <a:pt x="189602" y="68598"/>
                  <a:pt x="189602" y="44192"/>
                </a:cubicBezTo>
                <a:lnTo>
                  <a:pt x="189602" y="44192"/>
                </a:lnTo>
                <a:cubicBezTo>
                  <a:pt x="189602" y="19785"/>
                  <a:pt x="209387" y="0"/>
                  <a:pt x="233793" y="0"/>
                </a:cubicBezTo>
                <a:lnTo>
                  <a:pt x="379203" y="0"/>
                </a:lnTo>
              </a:path>
            </a:pathLst>
          </a:custGeom>
          <a:ln cap="flat" w="38100">
            <a:solidFill>
              <a:srgbClr val="39C0D3"/>
            </a:solidFill>
            <a:prstDash val="solid"/>
            <a:headEnd type="none" len="sm" w="sm"/>
            <a:tailEnd type="triangle" len="med" w="lg"/>
          </a:ln>
        </p:spPr>
        <p:txBody>
          <a:bodyPr/>
          <a:p/>
        </p:txBody>
      </p:sp>
      <p:grpSp>
        <p:nvGrpSpPr>
          <p:cNvPr name="Group 172" id="172"/>
          <p:cNvGrpSpPr/>
          <p:nvPr/>
        </p:nvGrpSpPr>
        <p:grpSpPr>
          <a:xfrm rot="0">
            <a:off x="1405890" y="2194560"/>
            <a:ext cx="1371600" cy="411480"/>
            <a:chOff x="0" y="0"/>
            <a:chExt cx="1828800" cy="548640"/>
          </a:xfrm>
        </p:grpSpPr>
        <p:grpSp>
          <p:nvGrpSpPr>
            <p:cNvPr name="Group 173" id="173"/>
            <p:cNvGrpSpPr/>
            <p:nvPr/>
          </p:nvGrpSpPr>
          <p:grpSpPr>
            <a:xfrm rot="0">
              <a:off x="0" y="0"/>
              <a:ext cx="1828800" cy="548640"/>
              <a:chOff x="0" y="0"/>
              <a:chExt cx="1828800" cy="548640"/>
            </a:xfrm>
          </p:grpSpPr>
          <p:sp>
            <p:nvSpPr>
              <p:cNvPr name="Freeform 174" id="174"/>
              <p:cNvSpPr/>
              <p:nvPr/>
            </p:nvSpPr>
            <p:spPr>
              <a:xfrm flipH="false" flipV="false" rot="0">
                <a:off x="0" y="0"/>
                <a:ext cx="1828800" cy="548640"/>
              </a:xfrm>
              <a:custGeom>
                <a:avLst/>
                <a:gdLst/>
                <a:ahLst/>
                <a:cxnLst/>
                <a:rect r="r" b="b" t="t" l="l"/>
                <a:pathLst>
                  <a:path h="548640" w="1828800">
                    <a:moveTo>
                      <a:pt x="0" y="274320"/>
                    </a:moveTo>
                    <a:cubicBezTo>
                      <a:pt x="0" y="122809"/>
                      <a:pt x="122809" y="0"/>
                      <a:pt x="274320" y="0"/>
                    </a:cubicBezTo>
                    <a:lnTo>
                      <a:pt x="1554480" y="0"/>
                    </a:lnTo>
                    <a:cubicBezTo>
                      <a:pt x="1705991" y="0"/>
                      <a:pt x="1828800" y="122809"/>
                      <a:pt x="1828800" y="274320"/>
                    </a:cubicBezTo>
                    <a:cubicBezTo>
                      <a:pt x="1828800" y="425831"/>
                      <a:pt x="1705991" y="548640"/>
                      <a:pt x="1554480"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75" id="175"/>
            <p:cNvGrpSpPr/>
            <p:nvPr/>
          </p:nvGrpSpPr>
          <p:grpSpPr>
            <a:xfrm rot="0">
              <a:off x="236673" y="71002"/>
              <a:ext cx="1355454" cy="406636"/>
              <a:chOff x="0" y="0"/>
              <a:chExt cx="1828800" cy="548640"/>
            </a:xfrm>
          </p:grpSpPr>
          <p:sp>
            <p:nvSpPr>
              <p:cNvPr name="Freeform 176" id="176"/>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5">
                  <a:alphaModFix amt="0"/>
                </a:blip>
                <a:stretch>
                  <a:fillRect l="0" t="-14950" r="0" b="-14950"/>
                </a:stretch>
              </a:blipFill>
            </p:spPr>
            <p:txBody>
              <a:bodyPr/>
              <a:p/>
            </p:txBody>
          </p:sp>
          <p:sp>
            <p:nvSpPr>
              <p:cNvPr name="TextBox 177" id="177"/>
              <p:cNvSpPr txBox="true"/>
              <p:nvPr/>
            </p:nvSpPr>
            <p:spPr>
              <a:xfrm>
                <a:off x="0" y="-38100"/>
                <a:ext cx="1828800" cy="586740"/>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Perluasan</a:t>
                </a:r>
              </a:p>
            </p:txBody>
          </p:sp>
        </p:grpSp>
      </p:grpSp>
      <p:grpSp>
        <p:nvGrpSpPr>
          <p:cNvPr name="Group 178" id="178"/>
          <p:cNvGrpSpPr/>
          <p:nvPr/>
        </p:nvGrpSpPr>
        <p:grpSpPr>
          <a:xfrm rot="0">
            <a:off x="15512796" y="2194560"/>
            <a:ext cx="1371600" cy="411480"/>
            <a:chOff x="0" y="0"/>
            <a:chExt cx="1828800" cy="548640"/>
          </a:xfrm>
        </p:grpSpPr>
        <p:grpSp>
          <p:nvGrpSpPr>
            <p:cNvPr name="Group 179" id="179"/>
            <p:cNvGrpSpPr/>
            <p:nvPr/>
          </p:nvGrpSpPr>
          <p:grpSpPr>
            <a:xfrm rot="0">
              <a:off x="0" y="0"/>
              <a:ext cx="1828800" cy="548640"/>
              <a:chOff x="0" y="0"/>
              <a:chExt cx="1828800" cy="548640"/>
            </a:xfrm>
          </p:grpSpPr>
          <p:sp>
            <p:nvSpPr>
              <p:cNvPr name="Freeform 180" id="180"/>
              <p:cNvSpPr/>
              <p:nvPr/>
            </p:nvSpPr>
            <p:spPr>
              <a:xfrm flipH="false" flipV="false" rot="0">
                <a:off x="0" y="0"/>
                <a:ext cx="1828800" cy="548640"/>
              </a:xfrm>
              <a:custGeom>
                <a:avLst/>
                <a:gdLst/>
                <a:ahLst/>
                <a:cxnLst/>
                <a:rect r="r" b="b" t="t" l="l"/>
                <a:pathLst>
                  <a:path h="548640" w="1828800">
                    <a:moveTo>
                      <a:pt x="0" y="274320"/>
                    </a:moveTo>
                    <a:cubicBezTo>
                      <a:pt x="0" y="122809"/>
                      <a:pt x="122809" y="0"/>
                      <a:pt x="274320" y="0"/>
                    </a:cubicBezTo>
                    <a:lnTo>
                      <a:pt x="1554480" y="0"/>
                    </a:lnTo>
                    <a:cubicBezTo>
                      <a:pt x="1705991" y="0"/>
                      <a:pt x="1828800" y="122809"/>
                      <a:pt x="1828800" y="274320"/>
                    </a:cubicBezTo>
                    <a:cubicBezTo>
                      <a:pt x="1828800" y="425831"/>
                      <a:pt x="1705991" y="548640"/>
                      <a:pt x="1554480"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81" id="181"/>
            <p:cNvGrpSpPr/>
            <p:nvPr/>
          </p:nvGrpSpPr>
          <p:grpSpPr>
            <a:xfrm rot="0">
              <a:off x="236673" y="71002"/>
              <a:ext cx="1355454" cy="406636"/>
              <a:chOff x="0" y="0"/>
              <a:chExt cx="1828800" cy="548640"/>
            </a:xfrm>
          </p:grpSpPr>
          <p:sp>
            <p:nvSpPr>
              <p:cNvPr name="Freeform 182" id="182"/>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5">
                  <a:alphaModFix amt="0"/>
                </a:blip>
                <a:stretch>
                  <a:fillRect l="0" t="-14950" r="0" b="-14950"/>
                </a:stretch>
              </a:blipFill>
            </p:spPr>
            <p:txBody>
              <a:bodyPr/>
              <a:p/>
            </p:txBody>
          </p:sp>
          <p:sp>
            <p:nvSpPr>
              <p:cNvPr name="TextBox 183" id="183"/>
              <p:cNvSpPr txBox="true"/>
              <p:nvPr/>
            </p:nvSpPr>
            <p:spPr>
              <a:xfrm>
                <a:off x="0" y="-38100"/>
                <a:ext cx="1828800" cy="586740"/>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Perluasan</a:t>
                </a:r>
              </a:p>
            </p:txBody>
          </p:sp>
        </p:grpSp>
      </p:grpSp>
      <p:grpSp>
        <p:nvGrpSpPr>
          <p:cNvPr name="Group 184" id="184"/>
          <p:cNvGrpSpPr/>
          <p:nvPr/>
        </p:nvGrpSpPr>
        <p:grpSpPr>
          <a:xfrm rot="0">
            <a:off x="10437876" y="6560820"/>
            <a:ext cx="1371600" cy="384048"/>
            <a:chOff x="0" y="0"/>
            <a:chExt cx="1828800" cy="512064"/>
          </a:xfrm>
        </p:grpSpPr>
        <p:grpSp>
          <p:nvGrpSpPr>
            <p:cNvPr name="Group 185" id="185"/>
            <p:cNvGrpSpPr/>
            <p:nvPr/>
          </p:nvGrpSpPr>
          <p:grpSpPr>
            <a:xfrm rot="0">
              <a:off x="0" y="0"/>
              <a:ext cx="1828800" cy="512064"/>
              <a:chOff x="0" y="0"/>
              <a:chExt cx="1828800" cy="512064"/>
            </a:xfrm>
          </p:grpSpPr>
          <p:sp>
            <p:nvSpPr>
              <p:cNvPr name="Freeform 186" id="186"/>
              <p:cNvSpPr/>
              <p:nvPr/>
            </p:nvSpPr>
            <p:spPr>
              <a:xfrm flipH="false" flipV="false" rot="0">
                <a:off x="0" y="0"/>
                <a:ext cx="1828800" cy="512064"/>
              </a:xfrm>
              <a:custGeom>
                <a:avLst/>
                <a:gdLst/>
                <a:ahLst/>
                <a:cxnLst/>
                <a:rect r="r" b="b" t="t" l="l"/>
                <a:pathLst>
                  <a:path h="512064" w="1828800">
                    <a:moveTo>
                      <a:pt x="0" y="256032"/>
                    </a:moveTo>
                    <a:cubicBezTo>
                      <a:pt x="0" y="114681"/>
                      <a:pt x="114681" y="0"/>
                      <a:pt x="256032" y="0"/>
                    </a:cubicBezTo>
                    <a:lnTo>
                      <a:pt x="1572768" y="0"/>
                    </a:lnTo>
                    <a:cubicBezTo>
                      <a:pt x="1714119" y="0"/>
                      <a:pt x="1828800" y="114681"/>
                      <a:pt x="1828800" y="256032"/>
                    </a:cubicBezTo>
                    <a:cubicBezTo>
                      <a:pt x="1828800" y="397383"/>
                      <a:pt x="1714119" y="512064"/>
                      <a:pt x="1572768" y="512064"/>
                    </a:cubicBezTo>
                    <a:lnTo>
                      <a:pt x="256032" y="512064"/>
                    </a:lnTo>
                    <a:cubicBezTo>
                      <a:pt x="114681" y="512064"/>
                      <a:pt x="0" y="397383"/>
                      <a:pt x="0" y="256032"/>
                    </a:cubicBezTo>
                    <a:close/>
                  </a:path>
                </a:pathLst>
              </a:custGeom>
              <a:solidFill>
                <a:srgbClr val="FFD23B"/>
              </a:solidFill>
            </p:spPr>
            <p:txBody>
              <a:bodyPr/>
              <a:p/>
            </p:txBody>
          </p:sp>
        </p:grpSp>
        <p:grpSp>
          <p:nvGrpSpPr>
            <p:cNvPr name="Group 187" id="187"/>
            <p:cNvGrpSpPr/>
            <p:nvPr/>
          </p:nvGrpSpPr>
          <p:grpSpPr>
            <a:xfrm rot="0">
              <a:off x="0" y="0"/>
              <a:ext cx="1828800" cy="512064"/>
              <a:chOff x="0" y="0"/>
              <a:chExt cx="1828800" cy="512064"/>
            </a:xfrm>
          </p:grpSpPr>
          <p:sp>
            <p:nvSpPr>
              <p:cNvPr name="Freeform 188" id="188"/>
              <p:cNvSpPr/>
              <p:nvPr/>
            </p:nvSpPr>
            <p:spPr>
              <a:xfrm flipH="false" flipV="false" rot="0">
                <a:off x="0" y="0"/>
                <a:ext cx="1828800" cy="512064"/>
              </a:xfrm>
              <a:custGeom>
                <a:avLst/>
                <a:gdLst/>
                <a:ahLst/>
                <a:cxnLst/>
                <a:rect r="r" b="b" t="t" l="l"/>
                <a:pathLst>
                  <a:path h="512064" w="1828800">
                    <a:moveTo>
                      <a:pt x="0" y="0"/>
                    </a:moveTo>
                    <a:lnTo>
                      <a:pt x="1828800" y="0"/>
                    </a:lnTo>
                    <a:lnTo>
                      <a:pt x="1828800" y="512064"/>
                    </a:lnTo>
                    <a:lnTo>
                      <a:pt x="0" y="512064"/>
                    </a:lnTo>
                    <a:close/>
                  </a:path>
                </a:pathLst>
              </a:custGeom>
              <a:blipFill>
                <a:blip r:embed="rId5">
                  <a:alphaModFix amt="0"/>
                </a:blip>
                <a:stretch>
                  <a:fillRect l="0" t="-19589" r="0" b="-19589"/>
                </a:stretch>
              </a:blipFill>
            </p:spPr>
            <p:txBody>
              <a:bodyPr/>
              <a:p/>
            </p:txBody>
          </p:sp>
          <p:sp>
            <p:nvSpPr>
              <p:cNvPr name="TextBox 189" id="189"/>
              <p:cNvSpPr txBox="true"/>
              <p:nvPr/>
            </p:nvSpPr>
            <p:spPr>
              <a:xfrm>
                <a:off x="0" y="-38100"/>
                <a:ext cx="1828800" cy="550164"/>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Perluasan</a:t>
                </a:r>
              </a:p>
            </p:txBody>
          </p:sp>
        </p:grpSp>
      </p:grpSp>
      <p:sp>
        <p:nvSpPr>
          <p:cNvPr name="Freeform 190" id="190"/>
          <p:cNvSpPr/>
          <p:nvPr/>
        </p:nvSpPr>
        <p:spPr>
          <a:xfrm>
            <a:off x="4434109" y="7269480"/>
            <a:ext cx="549371" cy="48657"/>
          </a:xfrm>
          <a:custGeom>
            <a:avLst/>
            <a:gdLst/>
            <a:ahLst/>
            <a:cxnLst/>
            <a:rect r="r" b="b" t="t" l="l"/>
            <a:pathLst>
              <a:path h="48657" w="549371">
                <a:moveTo>
                  <a:pt x="0" y="0"/>
                </a:moveTo>
                <a:lnTo>
                  <a:pt x="250357" y="0"/>
                </a:lnTo>
                <a:cubicBezTo>
                  <a:pt x="256809" y="0"/>
                  <a:pt x="262997" y="2564"/>
                  <a:pt x="267560" y="7126"/>
                </a:cubicBezTo>
                <a:cubicBezTo>
                  <a:pt x="272122" y="11689"/>
                  <a:pt x="274685" y="17877"/>
                  <a:pt x="274685" y="24329"/>
                </a:cubicBezTo>
                <a:lnTo>
                  <a:pt x="274685" y="24329"/>
                </a:lnTo>
                <a:cubicBezTo>
                  <a:pt x="274685" y="30781"/>
                  <a:pt x="277248" y="36969"/>
                  <a:pt x="281811" y="41532"/>
                </a:cubicBezTo>
                <a:cubicBezTo>
                  <a:pt x="286374" y="46094"/>
                  <a:pt x="292562" y="48658"/>
                  <a:pt x="299014" y="48658"/>
                </a:cubicBezTo>
                <a:lnTo>
                  <a:pt x="549371" y="48658"/>
                </a:lnTo>
              </a:path>
            </a:pathLst>
          </a:custGeom>
          <a:ln cap="flat" w="38100">
            <a:solidFill>
              <a:srgbClr val="39C0D3"/>
            </a:solidFill>
            <a:prstDash val="solid"/>
            <a:headEnd type="none" len="sm" w="sm"/>
            <a:tailEnd type="triangle" len="med" w="lg"/>
          </a:ln>
        </p:spPr>
        <p:txBody>
          <a:bodyPr/>
          <a:p/>
        </p:txBody>
      </p:sp>
      <p:sp>
        <p:nvSpPr>
          <p:cNvPr name="Freeform 191" id="191"/>
          <p:cNvSpPr/>
          <p:nvPr/>
        </p:nvSpPr>
        <p:spPr>
          <a:xfrm>
            <a:off x="8787140" y="7304105"/>
            <a:ext cx="588629" cy="22486"/>
          </a:xfrm>
          <a:custGeom>
            <a:avLst/>
            <a:gdLst/>
            <a:ahLst/>
            <a:cxnLst/>
            <a:rect r="r" b="b" t="t" l="l"/>
            <a:pathLst>
              <a:path h="22486" w="588629">
                <a:moveTo>
                  <a:pt x="0" y="0"/>
                </a:moveTo>
                <a:lnTo>
                  <a:pt x="283072" y="0"/>
                </a:lnTo>
                <a:cubicBezTo>
                  <a:pt x="286053" y="0"/>
                  <a:pt x="288914" y="1185"/>
                  <a:pt x="291022" y="3293"/>
                </a:cubicBezTo>
                <a:cubicBezTo>
                  <a:pt x="293131" y="5402"/>
                  <a:pt x="294315" y="8262"/>
                  <a:pt x="294315" y="11244"/>
                </a:cubicBezTo>
                <a:lnTo>
                  <a:pt x="294315" y="11244"/>
                </a:lnTo>
                <a:cubicBezTo>
                  <a:pt x="294315" y="14225"/>
                  <a:pt x="295499" y="17085"/>
                  <a:pt x="297608" y="19194"/>
                </a:cubicBezTo>
                <a:cubicBezTo>
                  <a:pt x="299716" y="21302"/>
                  <a:pt x="302576" y="22487"/>
                  <a:pt x="305558" y="22487"/>
                </a:cubicBezTo>
                <a:lnTo>
                  <a:pt x="588630" y="22487"/>
                </a:lnTo>
              </a:path>
            </a:pathLst>
          </a:custGeom>
          <a:ln cap="flat" w="38100">
            <a:solidFill>
              <a:srgbClr val="39C0D3"/>
            </a:solidFill>
            <a:prstDash val="solid"/>
            <a:headEnd type="none" len="sm" w="sm"/>
            <a:tailEnd type="triangle" len="med" w="lg"/>
          </a:ln>
        </p:spPr>
        <p:txBody>
          <a:bodyPr/>
          <a:p/>
        </p:txBody>
      </p:sp>
      <p:sp>
        <p:nvSpPr>
          <p:cNvPr name="Freeform 192" id="192"/>
          <p:cNvSpPr/>
          <p:nvPr/>
        </p:nvSpPr>
        <p:spPr>
          <a:xfrm>
            <a:off x="13009311" y="7269480"/>
            <a:ext cx="487232" cy="29992"/>
          </a:xfrm>
          <a:custGeom>
            <a:avLst/>
            <a:gdLst/>
            <a:ahLst/>
            <a:cxnLst/>
            <a:rect r="r" b="b" t="t" l="l"/>
            <a:pathLst>
              <a:path h="29992" w="487232">
                <a:moveTo>
                  <a:pt x="0" y="29992"/>
                </a:moveTo>
                <a:lnTo>
                  <a:pt x="228621" y="29992"/>
                </a:lnTo>
                <a:cubicBezTo>
                  <a:pt x="232597" y="29992"/>
                  <a:pt x="236412" y="28413"/>
                  <a:pt x="239225" y="25600"/>
                </a:cubicBezTo>
                <a:cubicBezTo>
                  <a:pt x="242037" y="22788"/>
                  <a:pt x="243616" y="18974"/>
                  <a:pt x="243616" y="14996"/>
                </a:cubicBezTo>
                <a:lnTo>
                  <a:pt x="243616" y="14996"/>
                </a:lnTo>
                <a:cubicBezTo>
                  <a:pt x="243616" y="11019"/>
                  <a:pt x="245196" y="7205"/>
                  <a:pt x="248008" y="4392"/>
                </a:cubicBezTo>
                <a:cubicBezTo>
                  <a:pt x="250821" y="1580"/>
                  <a:pt x="254636" y="0"/>
                  <a:pt x="258612" y="0"/>
                </a:cubicBezTo>
                <a:lnTo>
                  <a:pt x="487233" y="0"/>
                </a:lnTo>
              </a:path>
            </a:pathLst>
          </a:custGeom>
          <a:ln cap="flat" w="38100">
            <a:solidFill>
              <a:srgbClr val="39C0D3"/>
            </a:solidFill>
            <a:prstDash val="solid"/>
            <a:headEnd type="none" len="sm" w="sm"/>
            <a:tailEnd type="triangle" len="med" w="lg"/>
          </a:ln>
        </p:spPr>
        <p:txBody>
          <a:bodyPr/>
          <a:p/>
        </p:txBody>
      </p:sp>
      <p:sp>
        <p:nvSpPr>
          <p:cNvPr name="TextBox 193" id="193"/>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Tahapan Penelitian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Enam tahap penelitian untuk menjawab tiga tujuan</a:t>
            </a:r>
          </a:p>
        </p:txBody>
      </p:sp>
      <p:sp>
        <p:nvSpPr>
          <p:cNvPr name="TextBox 194" id="194"/>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13</a:t>
            </a:r>
          </a:p>
        </p:txBody>
      </p:sp>
      <p:grpSp>
        <p:nvGrpSpPr>
          <p:cNvPr name="Group 195" id="195"/>
          <p:cNvGrpSpPr/>
          <p:nvPr/>
        </p:nvGrpSpPr>
        <p:grpSpPr>
          <a:xfrm rot="0">
            <a:off x="16047720" y="9646920"/>
            <a:ext cx="420624" cy="420624"/>
            <a:chOff x="0" y="0"/>
            <a:chExt cx="560832" cy="560832"/>
          </a:xfrm>
        </p:grpSpPr>
        <p:sp>
          <p:nvSpPr>
            <p:cNvPr name="Freeform 196" id="196"/>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97" id="197"/>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txBody>
            <a:bodyPr/>
            <a:p/>
          </p:txBody>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grpSp>
        <p:nvGrpSpPr>
          <p:cNvPr name="Group 7" id="7"/>
          <p:cNvGrpSpPr/>
          <p:nvPr/>
        </p:nvGrpSpPr>
        <p:grpSpPr>
          <a:xfrm rot="0">
            <a:off x="5223322" y="2016371"/>
            <a:ext cx="3920678" cy="3527596"/>
            <a:chOff x="0" y="0"/>
            <a:chExt cx="5227570" cy="4703461"/>
          </a:xfrm>
        </p:grpSpPr>
        <p:grpSp>
          <p:nvGrpSpPr>
            <p:cNvPr name="Group 8" id="8"/>
            <p:cNvGrpSpPr/>
            <p:nvPr/>
          </p:nvGrpSpPr>
          <p:grpSpPr>
            <a:xfrm rot="0">
              <a:off x="0" y="0"/>
              <a:ext cx="5227570" cy="4703461"/>
              <a:chOff x="0" y="0"/>
              <a:chExt cx="1032607" cy="929079"/>
            </a:xfrm>
          </p:grpSpPr>
          <p:sp>
            <p:nvSpPr>
              <p:cNvPr name="Freeform 9" id="9"/>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txBody>
              <a:bodyPr/>
              <a:p/>
            </p:txBody>
          </p:sp>
          <p:sp>
            <p:nvSpPr>
              <p:cNvPr name="TextBox 10" id="10"/>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sp>
          <p:nvSpPr>
            <p:cNvPr name="Freeform 11" id="11"/>
            <p:cNvSpPr/>
            <p:nvPr/>
          </p:nvSpPr>
          <p:spPr>
            <a:xfrm flipH="false" flipV="false" rot="0">
              <a:off x="798205" y="354729"/>
              <a:ext cx="3574718" cy="1370309"/>
            </a:xfrm>
            <a:custGeom>
              <a:avLst/>
              <a:gdLst/>
              <a:ahLst/>
              <a:cxnLst/>
              <a:rect r="r" b="b" t="t" l="l"/>
              <a:pathLst>
                <a:path h="1370309" w="3574718">
                  <a:moveTo>
                    <a:pt x="0" y="0"/>
                  </a:moveTo>
                  <a:lnTo>
                    <a:pt x="3574718" y="0"/>
                  </a:lnTo>
                  <a:lnTo>
                    <a:pt x="3574718" y="1370309"/>
                  </a:lnTo>
                  <a:lnTo>
                    <a:pt x="0" y="1370309"/>
                  </a:lnTo>
                  <a:lnTo>
                    <a:pt x="0" y="0"/>
                  </a:lnTo>
                  <a:close/>
                </a:path>
              </a:pathLst>
            </a:custGeom>
            <a:blipFill>
              <a:blip r:embed="rId5"/>
              <a:stretch>
                <a:fillRect l="0" t="0" r="0" b="0"/>
              </a:stretch>
            </a:blipFill>
          </p:spPr>
          <p:txBody>
            <a:bodyPr/>
            <a:p/>
          </p:txBody>
        </p:sp>
        <p:sp>
          <p:nvSpPr>
            <p:cNvPr name="TextBox 12" id="12"/>
            <p:cNvSpPr txBox="true"/>
            <p:nvPr/>
          </p:nvSpPr>
          <p:spPr>
            <a:xfrm rot="0">
              <a:off x="346073" y="3014435"/>
              <a:ext cx="4535424" cy="14605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Pembangunan model meliputi: </a:t>
              </a:r>
              <a:r>
                <a:rPr lang="en-US" sz="1800" i="true">
                  <a:solidFill>
                    <a:srgbClr val="14313B"/>
                  </a:solidFill>
                  <a:latin typeface="Calibri (MS) Italics"/>
                  <a:ea typeface="Calibri (MS) Italics"/>
                  <a:cs typeface="Calibri (MS) Italics"/>
                  <a:sym typeface="Calibri (MS) Italics"/>
                </a:rPr>
                <a:t>Causal Loop Diagram</a:t>
              </a:r>
              <a:r>
                <a:rPr lang="en-US" sz="1800">
                  <a:solidFill>
                    <a:srgbClr val="14313B"/>
                  </a:solidFill>
                  <a:latin typeface="Calibri (MS)"/>
                  <a:ea typeface="Calibri (MS)"/>
                  <a:cs typeface="Calibri (MS)"/>
                  <a:sym typeface="Calibri (MS)"/>
                </a:rPr>
                <a:t>, </a:t>
              </a:r>
              <a:r>
                <a:rPr lang="en-US" sz="1800" i="true">
                  <a:solidFill>
                    <a:srgbClr val="14313B"/>
                  </a:solidFill>
                  <a:latin typeface="Calibri (MS) Italics"/>
                  <a:ea typeface="Calibri (MS) Italics"/>
                  <a:cs typeface="Calibri (MS) Italics"/>
                  <a:sym typeface="Calibri (MS) Italics"/>
                </a:rPr>
                <a:t>Stock and flow diagram, </a:t>
              </a:r>
              <a:r>
                <a:rPr lang="en-US" sz="1800">
                  <a:solidFill>
                    <a:srgbClr val="14313B"/>
                  </a:solidFill>
                  <a:latin typeface="Calibri (MS)"/>
                  <a:ea typeface="Calibri (MS)"/>
                  <a:cs typeface="Calibri (MS)"/>
                  <a:sym typeface="Calibri (MS)"/>
                </a:rPr>
                <a:t> Simulasi model, serta pengujian model</a:t>
              </a:r>
            </a:p>
          </p:txBody>
        </p:sp>
        <p:grpSp>
          <p:nvGrpSpPr>
            <p:cNvPr name="Group 13" id="13"/>
            <p:cNvGrpSpPr/>
            <p:nvPr/>
          </p:nvGrpSpPr>
          <p:grpSpPr>
            <a:xfrm rot="0">
              <a:off x="317852" y="1955255"/>
              <a:ext cx="4535424" cy="1097280"/>
              <a:chOff x="0" y="0"/>
              <a:chExt cx="4535424" cy="1097280"/>
            </a:xfrm>
          </p:grpSpPr>
          <p:sp>
            <p:nvSpPr>
              <p:cNvPr name="Freeform 14" id="14"/>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txBody>
              <a:bodyPr/>
              <a:p/>
            </p:txBody>
          </p:sp>
          <p:sp>
            <p:nvSpPr>
              <p:cNvPr name="TextBox 15" id="15"/>
              <p:cNvSpPr txBox="true"/>
              <p:nvPr/>
            </p:nvSpPr>
            <p:spPr>
              <a:xfrm>
                <a:off x="0" y="-66675"/>
                <a:ext cx="4535424" cy="1163955"/>
              </a:xfrm>
              <a:prstGeom prst="rect">
                <a:avLst/>
              </a:prstGeom>
            </p:spPr>
            <p:txBody>
              <a:bodyPr anchor="ctr" rtlCol="false" tIns="0" lIns="0" bIns="0" rIns="0"/>
              <a:lstStyle/>
              <a:p>
                <a:pPr algn="ctr">
                  <a:lnSpc>
                    <a:spcPts val="3720"/>
                  </a:lnSpc>
                </a:pPr>
                <a:r>
                  <a:rPr lang="en-US" sz="3100" b="true">
                    <a:solidFill>
                      <a:srgbClr val="0B5E6E"/>
                    </a:solidFill>
                    <a:latin typeface="Calibri (MS) Bold"/>
                    <a:ea typeface="Calibri (MS) Bold"/>
                    <a:cs typeface="Calibri (MS) Bold"/>
                    <a:sym typeface="Calibri (MS) Bold"/>
                  </a:rPr>
                  <a:t>Vensim PLE</a:t>
                </a:r>
              </a:p>
            </p:txBody>
          </p:sp>
        </p:grpSp>
      </p:grpSp>
      <p:grpSp>
        <p:nvGrpSpPr>
          <p:cNvPr name="Group 16" id="16"/>
          <p:cNvGrpSpPr/>
          <p:nvPr/>
        </p:nvGrpSpPr>
        <p:grpSpPr>
          <a:xfrm rot="0">
            <a:off x="14017178" y="2016371"/>
            <a:ext cx="3920678" cy="3527596"/>
            <a:chOff x="0" y="0"/>
            <a:chExt cx="5227570" cy="4703461"/>
          </a:xfrm>
        </p:grpSpPr>
        <p:grpSp>
          <p:nvGrpSpPr>
            <p:cNvPr name="Group 17" id="17"/>
            <p:cNvGrpSpPr/>
            <p:nvPr/>
          </p:nvGrpSpPr>
          <p:grpSpPr>
            <a:xfrm rot="0">
              <a:off x="0" y="0"/>
              <a:ext cx="5227570" cy="4703461"/>
              <a:chOff x="0" y="0"/>
              <a:chExt cx="1032607" cy="929079"/>
            </a:xfrm>
          </p:grpSpPr>
          <p:sp>
            <p:nvSpPr>
              <p:cNvPr name="Freeform 18" id="18"/>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txBody>
              <a:bodyPr/>
              <a:p/>
            </p:txBody>
          </p:sp>
          <p:sp>
            <p:nvSpPr>
              <p:cNvPr name="TextBox 19" id="19"/>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sp>
          <p:nvSpPr>
            <p:cNvPr name="TextBox 20" id="20"/>
            <p:cNvSpPr txBox="true"/>
            <p:nvPr/>
          </p:nvSpPr>
          <p:spPr>
            <a:xfrm rot="0">
              <a:off x="346073" y="3014435"/>
              <a:ext cx="4535424" cy="14605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Dengan library PySD menjalankan model untuk pengujian berulang seperti kalibrasi, analisis sensitivitas, dan simulasi skenario</a:t>
              </a:r>
            </a:p>
          </p:txBody>
        </p:sp>
        <p:grpSp>
          <p:nvGrpSpPr>
            <p:cNvPr name="Group 21" id="21"/>
            <p:cNvGrpSpPr/>
            <p:nvPr/>
          </p:nvGrpSpPr>
          <p:grpSpPr>
            <a:xfrm rot="0">
              <a:off x="317852" y="1955255"/>
              <a:ext cx="4535424" cy="1097280"/>
              <a:chOff x="0" y="0"/>
              <a:chExt cx="4535424" cy="1097280"/>
            </a:xfrm>
          </p:grpSpPr>
          <p:sp>
            <p:nvSpPr>
              <p:cNvPr name="Freeform 22" id="22"/>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txBody>
              <a:bodyPr/>
              <a:p/>
            </p:txBody>
          </p:sp>
          <p:sp>
            <p:nvSpPr>
              <p:cNvPr name="TextBox 23" id="23"/>
              <p:cNvSpPr txBox="true"/>
              <p:nvPr/>
            </p:nvSpPr>
            <p:spPr>
              <a:xfrm>
                <a:off x="0" y="-66675"/>
                <a:ext cx="4535424" cy="1163955"/>
              </a:xfrm>
              <a:prstGeom prst="rect">
                <a:avLst/>
              </a:prstGeom>
            </p:spPr>
            <p:txBody>
              <a:bodyPr anchor="ctr" rtlCol="false" tIns="0" lIns="0" bIns="0" rIns="0"/>
              <a:lstStyle/>
              <a:p>
                <a:pPr algn="ctr">
                  <a:lnSpc>
                    <a:spcPts val="3720"/>
                  </a:lnSpc>
                </a:pPr>
                <a:r>
                  <a:rPr lang="en-US" sz="3100" b="true">
                    <a:solidFill>
                      <a:srgbClr val="0B5E6E"/>
                    </a:solidFill>
                    <a:latin typeface="Calibri (MS) Bold"/>
                    <a:ea typeface="Calibri (MS) Bold"/>
                    <a:cs typeface="Calibri (MS) Bold"/>
                    <a:sym typeface="Calibri (MS) Bold"/>
                  </a:rPr>
                  <a:t>Python</a:t>
                </a:r>
              </a:p>
            </p:txBody>
          </p:sp>
        </p:grpSp>
        <p:sp>
          <p:nvSpPr>
            <p:cNvPr name="Freeform 24" id="24"/>
            <p:cNvSpPr/>
            <p:nvPr/>
          </p:nvSpPr>
          <p:spPr>
            <a:xfrm flipH="false" flipV="false" rot="0">
              <a:off x="1825488" y="378662"/>
              <a:ext cx="1576594" cy="1576594"/>
            </a:xfrm>
            <a:custGeom>
              <a:avLst/>
              <a:gdLst/>
              <a:ahLst/>
              <a:cxnLst/>
              <a:rect r="r" b="b" t="t" l="l"/>
              <a:pathLst>
                <a:path h="1576594" w="1576594">
                  <a:moveTo>
                    <a:pt x="0" y="0"/>
                  </a:moveTo>
                  <a:lnTo>
                    <a:pt x="1576594" y="0"/>
                  </a:lnTo>
                  <a:lnTo>
                    <a:pt x="1576594" y="1576593"/>
                  </a:lnTo>
                  <a:lnTo>
                    <a:pt x="0" y="1576593"/>
                  </a:lnTo>
                  <a:lnTo>
                    <a:pt x="0" y="0"/>
                  </a:lnTo>
                  <a:close/>
                </a:path>
              </a:pathLst>
            </a:custGeom>
            <a:blipFill>
              <a:blip r:embed="rId6"/>
              <a:stretch>
                <a:fillRect l="0" t="0" r="0" b="0"/>
              </a:stretch>
            </a:blipFill>
          </p:spPr>
          <p:txBody>
            <a:bodyPr/>
            <a:p/>
          </p:txBody>
        </p:sp>
      </p:grpSp>
      <p:grpSp>
        <p:nvGrpSpPr>
          <p:cNvPr name="Group 25" id="25"/>
          <p:cNvGrpSpPr/>
          <p:nvPr/>
        </p:nvGrpSpPr>
        <p:grpSpPr>
          <a:xfrm rot="0">
            <a:off x="9620250" y="2016371"/>
            <a:ext cx="3920678" cy="3527596"/>
            <a:chOff x="0" y="0"/>
            <a:chExt cx="5227570" cy="4703461"/>
          </a:xfrm>
        </p:grpSpPr>
        <p:grpSp>
          <p:nvGrpSpPr>
            <p:cNvPr name="Group 26" id="26"/>
            <p:cNvGrpSpPr/>
            <p:nvPr/>
          </p:nvGrpSpPr>
          <p:grpSpPr>
            <a:xfrm rot="0">
              <a:off x="0" y="0"/>
              <a:ext cx="5227570" cy="4703461"/>
              <a:chOff x="0" y="0"/>
              <a:chExt cx="1032607" cy="929079"/>
            </a:xfrm>
          </p:grpSpPr>
          <p:sp>
            <p:nvSpPr>
              <p:cNvPr name="Freeform 27" id="27"/>
              <p:cNvSpPr/>
              <p:nvPr/>
            </p:nvSpPr>
            <p:spPr>
              <a:xfrm flipH="false" flipV="false" rot="0">
                <a:off x="0" y="0"/>
                <a:ext cx="1032607" cy="929079"/>
              </a:xfrm>
              <a:custGeom>
                <a:avLst/>
                <a:gdLst/>
                <a:ahLst/>
                <a:cxnLst/>
                <a:rect r="r" b="b" t="t" l="l"/>
                <a:pathLst>
                  <a:path h="929079" w="1032607">
                    <a:moveTo>
                      <a:pt x="31084" y="0"/>
                    </a:moveTo>
                    <a:lnTo>
                      <a:pt x="1001523" y="0"/>
                    </a:lnTo>
                    <a:cubicBezTo>
                      <a:pt x="1018690" y="0"/>
                      <a:pt x="1032607" y="13917"/>
                      <a:pt x="1032607" y="31084"/>
                    </a:cubicBezTo>
                    <a:lnTo>
                      <a:pt x="1032607" y="897995"/>
                    </a:lnTo>
                    <a:cubicBezTo>
                      <a:pt x="1032607" y="906239"/>
                      <a:pt x="1029332" y="914145"/>
                      <a:pt x="1023502" y="919975"/>
                    </a:cubicBezTo>
                    <a:cubicBezTo>
                      <a:pt x="1017673" y="925804"/>
                      <a:pt x="1009767" y="929079"/>
                      <a:pt x="1001523" y="929079"/>
                    </a:cubicBezTo>
                    <a:lnTo>
                      <a:pt x="31084" y="929079"/>
                    </a:lnTo>
                    <a:cubicBezTo>
                      <a:pt x="13917" y="929079"/>
                      <a:pt x="0" y="915162"/>
                      <a:pt x="0" y="897995"/>
                    </a:cubicBezTo>
                    <a:lnTo>
                      <a:pt x="0" y="31084"/>
                    </a:lnTo>
                    <a:cubicBezTo>
                      <a:pt x="0" y="13917"/>
                      <a:pt x="13917" y="0"/>
                      <a:pt x="31084" y="0"/>
                    </a:cubicBezTo>
                    <a:close/>
                  </a:path>
                </a:pathLst>
              </a:custGeom>
              <a:solidFill>
                <a:srgbClr val="FFFFFF"/>
              </a:solidFill>
              <a:ln w="19050" cap="sq">
                <a:solidFill>
                  <a:srgbClr val="CFE5E9"/>
                </a:solidFill>
                <a:prstDash val="solid"/>
                <a:miter/>
              </a:ln>
            </p:spPr>
            <p:txBody>
              <a:bodyPr/>
              <a:p/>
            </p:txBody>
          </p:sp>
          <p:sp>
            <p:nvSpPr>
              <p:cNvPr name="TextBox 28" id="28"/>
              <p:cNvSpPr txBox="true"/>
              <p:nvPr/>
            </p:nvSpPr>
            <p:spPr>
              <a:xfrm>
                <a:off x="0" y="-19050"/>
                <a:ext cx="1032607" cy="948129"/>
              </a:xfrm>
              <a:prstGeom prst="rect">
                <a:avLst/>
              </a:prstGeom>
            </p:spPr>
            <p:txBody>
              <a:bodyPr anchor="ctr" rtlCol="false" tIns="64543" lIns="64543" bIns="64543" rIns="64543"/>
              <a:lstStyle/>
              <a:p>
                <a:pPr algn="ctr">
                  <a:lnSpc>
                    <a:spcPts val="1889"/>
                  </a:lnSpc>
                </a:pPr>
              </a:p>
            </p:txBody>
          </p:sp>
        </p:grpSp>
        <p:sp>
          <p:nvSpPr>
            <p:cNvPr name="TextBox 29" id="29"/>
            <p:cNvSpPr txBox="true"/>
            <p:nvPr/>
          </p:nvSpPr>
          <p:spPr>
            <a:xfrm rot="0">
              <a:off x="346073" y="3014435"/>
              <a:ext cx="4535424" cy="11049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Penyusunan basis data, penurunan oarameter, dan perhitungan statistik.</a:t>
              </a:r>
            </a:p>
          </p:txBody>
        </p:sp>
        <p:grpSp>
          <p:nvGrpSpPr>
            <p:cNvPr name="Group 30" id="30"/>
            <p:cNvGrpSpPr/>
            <p:nvPr/>
          </p:nvGrpSpPr>
          <p:grpSpPr>
            <a:xfrm rot="0">
              <a:off x="317852" y="1904162"/>
              <a:ext cx="4563645" cy="1199467"/>
              <a:chOff x="0" y="0"/>
              <a:chExt cx="4563645" cy="1199467"/>
            </a:xfrm>
          </p:grpSpPr>
          <p:sp>
            <p:nvSpPr>
              <p:cNvPr name="Freeform 31" id="31"/>
              <p:cNvSpPr/>
              <p:nvPr/>
            </p:nvSpPr>
            <p:spPr>
              <a:xfrm flipH="false" flipV="false" rot="0">
                <a:off x="0" y="0"/>
                <a:ext cx="4563645" cy="1199467"/>
              </a:xfrm>
              <a:custGeom>
                <a:avLst/>
                <a:gdLst/>
                <a:ahLst/>
                <a:cxnLst/>
                <a:rect r="r" b="b" t="t" l="l"/>
                <a:pathLst>
                  <a:path h="1199467" w="4563645">
                    <a:moveTo>
                      <a:pt x="0" y="0"/>
                    </a:moveTo>
                    <a:lnTo>
                      <a:pt x="4563645" y="0"/>
                    </a:lnTo>
                    <a:lnTo>
                      <a:pt x="4563645" y="1199467"/>
                    </a:lnTo>
                    <a:lnTo>
                      <a:pt x="0" y="1199467"/>
                    </a:lnTo>
                    <a:close/>
                  </a:path>
                </a:pathLst>
              </a:custGeom>
              <a:blipFill>
                <a:blip r:embed="rId4">
                  <a:alphaModFix amt="0"/>
                </a:blip>
                <a:stretch>
                  <a:fillRect l="0" t="-27936" r="618" b="-19417"/>
                </a:stretch>
              </a:blipFill>
            </p:spPr>
            <p:txBody>
              <a:bodyPr/>
              <a:p/>
            </p:txBody>
          </p:sp>
          <p:sp>
            <p:nvSpPr>
              <p:cNvPr name="TextBox 32" id="32"/>
              <p:cNvSpPr txBox="true"/>
              <p:nvPr/>
            </p:nvSpPr>
            <p:spPr>
              <a:xfrm>
                <a:off x="0" y="-57150"/>
                <a:ext cx="4563645" cy="1256617"/>
              </a:xfrm>
              <a:prstGeom prst="rect">
                <a:avLst/>
              </a:prstGeom>
            </p:spPr>
            <p:txBody>
              <a:bodyPr anchor="ctr" rtlCol="false" tIns="0" lIns="0" bIns="0" rIns="0"/>
              <a:lstStyle/>
              <a:p>
                <a:pPr algn="ctr">
                  <a:lnSpc>
                    <a:spcPts val="3120"/>
                  </a:lnSpc>
                </a:pPr>
                <a:r>
                  <a:rPr lang="en-US" sz="2600" b="true">
                    <a:solidFill>
                      <a:srgbClr val="0B5E6E"/>
                    </a:solidFill>
                    <a:latin typeface="Calibri (MS) Bold"/>
                    <a:ea typeface="Calibri (MS) Bold"/>
                    <a:cs typeface="Calibri (MS) Bold"/>
                    <a:sym typeface="Calibri (MS) Bold"/>
                  </a:rPr>
                  <a:t>Microsoft Excel, Gsheet</a:t>
                </a:r>
              </a:p>
            </p:txBody>
          </p:sp>
        </p:grpSp>
        <p:sp>
          <p:nvSpPr>
            <p:cNvPr name="Freeform 33" id="33"/>
            <p:cNvSpPr/>
            <p:nvPr/>
          </p:nvSpPr>
          <p:spPr>
            <a:xfrm flipH="false" flipV="false" rot="0">
              <a:off x="1467177" y="467562"/>
              <a:ext cx="1180406" cy="1284216"/>
            </a:xfrm>
            <a:custGeom>
              <a:avLst/>
              <a:gdLst/>
              <a:ahLst/>
              <a:cxnLst/>
              <a:rect r="r" b="b" t="t" l="l"/>
              <a:pathLst>
                <a:path h="1284216" w="1180406">
                  <a:moveTo>
                    <a:pt x="0" y="0"/>
                  </a:moveTo>
                  <a:lnTo>
                    <a:pt x="1180406" y="0"/>
                  </a:lnTo>
                  <a:lnTo>
                    <a:pt x="1180406" y="1284216"/>
                  </a:lnTo>
                  <a:lnTo>
                    <a:pt x="0" y="1284216"/>
                  </a:lnTo>
                  <a:lnTo>
                    <a:pt x="0" y="0"/>
                  </a:lnTo>
                  <a:close/>
                </a:path>
              </a:pathLst>
            </a:custGeom>
            <a:blipFill>
              <a:blip r:embed="rId7"/>
              <a:stretch>
                <a:fillRect l="-2719" t="0" r="-2719" b="0"/>
              </a:stretch>
            </a:blipFill>
          </p:spPr>
          <p:txBody>
            <a:bodyPr/>
            <a:p/>
          </p:txBody>
        </p:sp>
        <p:sp>
          <p:nvSpPr>
            <p:cNvPr name="Freeform 34" id="34"/>
            <p:cNvSpPr/>
            <p:nvPr/>
          </p:nvSpPr>
          <p:spPr>
            <a:xfrm flipH="false" flipV="false" rot="0">
              <a:off x="2724972" y="467562"/>
              <a:ext cx="978979" cy="1284216"/>
            </a:xfrm>
            <a:custGeom>
              <a:avLst/>
              <a:gdLst/>
              <a:ahLst/>
              <a:cxnLst/>
              <a:rect r="r" b="b" t="t" l="l"/>
              <a:pathLst>
                <a:path h="1284216" w="978979">
                  <a:moveTo>
                    <a:pt x="0" y="0"/>
                  </a:moveTo>
                  <a:lnTo>
                    <a:pt x="978979" y="0"/>
                  </a:lnTo>
                  <a:lnTo>
                    <a:pt x="978979" y="1284216"/>
                  </a:lnTo>
                  <a:lnTo>
                    <a:pt x="0" y="1284216"/>
                  </a:lnTo>
                  <a:lnTo>
                    <a:pt x="0" y="0"/>
                  </a:lnTo>
                  <a:close/>
                </a:path>
              </a:pathLst>
            </a:custGeom>
            <a:blipFill>
              <a:blip r:embed="rId8"/>
              <a:stretch>
                <a:fillRect l="-61433" t="0" r="-61341" b="0"/>
              </a:stretch>
            </a:blipFill>
          </p:spPr>
          <p:txBody>
            <a:bodyPr/>
            <a:p/>
          </p:txBody>
        </p:sp>
      </p:grpSp>
      <p:grpSp>
        <p:nvGrpSpPr>
          <p:cNvPr name="Group 35" id="35"/>
          <p:cNvGrpSpPr/>
          <p:nvPr/>
        </p:nvGrpSpPr>
        <p:grpSpPr>
          <a:xfrm rot="0">
            <a:off x="5223322" y="5886510"/>
            <a:ext cx="3920678" cy="3527596"/>
            <a:chOff x="0" y="0"/>
            <a:chExt cx="5227570" cy="4703461"/>
          </a:xfrm>
        </p:grpSpPr>
        <p:grpSp>
          <p:nvGrpSpPr>
            <p:cNvPr name="Group 36" id="36"/>
            <p:cNvGrpSpPr/>
            <p:nvPr/>
          </p:nvGrpSpPr>
          <p:grpSpPr>
            <a:xfrm rot="0">
              <a:off x="0" y="0"/>
              <a:ext cx="5227570" cy="4703461"/>
              <a:chOff x="0" y="0"/>
              <a:chExt cx="1032607" cy="929079"/>
            </a:xfrm>
          </p:grpSpPr>
          <p:sp>
            <p:nvSpPr>
              <p:cNvPr name="Freeform 37" id="37"/>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txBody>
              <a:bodyPr/>
              <a:p/>
            </p:txBody>
          </p:sp>
          <p:sp>
            <p:nvSpPr>
              <p:cNvPr name="TextBox 38" id="38"/>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grpSp>
          <p:nvGrpSpPr>
            <p:cNvPr name="Group 39" id="39"/>
            <p:cNvGrpSpPr/>
            <p:nvPr/>
          </p:nvGrpSpPr>
          <p:grpSpPr>
            <a:xfrm rot="0">
              <a:off x="317852" y="1955255"/>
              <a:ext cx="4535424" cy="1097280"/>
              <a:chOff x="0" y="0"/>
              <a:chExt cx="4535424" cy="1097280"/>
            </a:xfrm>
          </p:grpSpPr>
          <p:sp>
            <p:nvSpPr>
              <p:cNvPr name="Freeform 40" id="40"/>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txBody>
              <a:bodyPr/>
              <a:p/>
            </p:txBody>
          </p:sp>
          <p:sp>
            <p:nvSpPr>
              <p:cNvPr name="TextBox 41" id="41"/>
              <p:cNvSpPr txBox="true"/>
              <p:nvPr/>
            </p:nvSpPr>
            <p:spPr>
              <a:xfrm>
                <a:off x="0" y="-66675"/>
                <a:ext cx="4535424" cy="1163955"/>
              </a:xfrm>
              <a:prstGeom prst="rect">
                <a:avLst/>
              </a:prstGeom>
            </p:spPr>
            <p:txBody>
              <a:bodyPr anchor="ctr" rtlCol="false" tIns="0" lIns="0" bIns="0" rIns="0"/>
              <a:lstStyle/>
              <a:p>
                <a:pPr algn="ctr">
                  <a:lnSpc>
                    <a:spcPts val="3720"/>
                  </a:lnSpc>
                </a:pPr>
                <a:r>
                  <a:rPr lang="en-US" sz="3100" b="true">
                    <a:solidFill>
                      <a:srgbClr val="0B5E6E"/>
                    </a:solidFill>
                    <a:latin typeface="Calibri (MS) Bold"/>
                    <a:ea typeface="Calibri (MS) Bold"/>
                    <a:cs typeface="Calibri (MS) Bold"/>
                    <a:sym typeface="Calibri (MS) Bold"/>
                  </a:rPr>
                  <a:t>SDEverywhere</a:t>
                </a:r>
              </a:p>
            </p:txBody>
          </p:sp>
        </p:grpSp>
        <p:sp>
          <p:nvSpPr>
            <p:cNvPr name="Freeform 42" id="42"/>
            <p:cNvSpPr/>
            <p:nvPr/>
          </p:nvSpPr>
          <p:spPr>
            <a:xfrm flipH="false" flipV="false" rot="0">
              <a:off x="1738170" y="204025"/>
              <a:ext cx="1751231" cy="1751231"/>
            </a:xfrm>
            <a:custGeom>
              <a:avLst/>
              <a:gdLst/>
              <a:ahLst/>
              <a:cxnLst/>
              <a:rect r="r" b="b" t="t" l="l"/>
              <a:pathLst>
                <a:path h="1751231" w="1751231">
                  <a:moveTo>
                    <a:pt x="0" y="0"/>
                  </a:moveTo>
                  <a:lnTo>
                    <a:pt x="1751231" y="0"/>
                  </a:lnTo>
                  <a:lnTo>
                    <a:pt x="1751231" y="1751230"/>
                  </a:lnTo>
                  <a:lnTo>
                    <a:pt x="0" y="1751230"/>
                  </a:lnTo>
                  <a:lnTo>
                    <a:pt x="0" y="0"/>
                  </a:lnTo>
                  <a:close/>
                </a:path>
              </a:pathLst>
            </a:custGeom>
            <a:blipFill>
              <a:blip r:embed="rId9"/>
              <a:stretch>
                <a:fillRect l="0" t="0" r="0" b="0"/>
              </a:stretch>
            </a:blipFill>
          </p:spPr>
          <p:txBody>
            <a:bodyPr/>
            <a:p/>
          </p:txBody>
        </p:sp>
        <p:sp>
          <p:nvSpPr>
            <p:cNvPr name="TextBox 43" id="43"/>
            <p:cNvSpPr txBox="true"/>
            <p:nvPr/>
          </p:nvSpPr>
          <p:spPr>
            <a:xfrm rot="0">
              <a:off x="346073" y="3014435"/>
              <a:ext cx="4535424" cy="14605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konversi model yang sudah dibuat di Vensim menjadi kode yang dapat dijalankan pada aplikasi berbasis web </a:t>
              </a:r>
            </a:p>
          </p:txBody>
        </p:sp>
      </p:grpSp>
      <p:grpSp>
        <p:nvGrpSpPr>
          <p:cNvPr name="Group 44" id="44"/>
          <p:cNvGrpSpPr/>
          <p:nvPr/>
        </p:nvGrpSpPr>
        <p:grpSpPr>
          <a:xfrm rot="0">
            <a:off x="822960" y="2016371"/>
            <a:ext cx="3920678" cy="3527596"/>
            <a:chOff x="0" y="0"/>
            <a:chExt cx="5227570" cy="4703461"/>
          </a:xfrm>
        </p:grpSpPr>
        <p:grpSp>
          <p:nvGrpSpPr>
            <p:cNvPr name="Group 45" id="45"/>
            <p:cNvGrpSpPr/>
            <p:nvPr/>
          </p:nvGrpSpPr>
          <p:grpSpPr>
            <a:xfrm rot="0">
              <a:off x="0" y="0"/>
              <a:ext cx="5227570" cy="4703461"/>
              <a:chOff x="0" y="0"/>
              <a:chExt cx="1032607" cy="929079"/>
            </a:xfrm>
          </p:grpSpPr>
          <p:sp>
            <p:nvSpPr>
              <p:cNvPr name="Freeform 46" id="46"/>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txBody>
              <a:bodyPr/>
              <a:p/>
            </p:txBody>
          </p:sp>
          <p:sp>
            <p:nvSpPr>
              <p:cNvPr name="TextBox 47" id="47"/>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sp>
          <p:nvSpPr>
            <p:cNvPr name="Freeform 48" id="48"/>
            <p:cNvSpPr/>
            <p:nvPr/>
          </p:nvSpPr>
          <p:spPr>
            <a:xfrm flipH="false" flipV="false" rot="0">
              <a:off x="1860320" y="325559"/>
              <a:ext cx="1506931" cy="1428649"/>
            </a:xfrm>
            <a:custGeom>
              <a:avLst/>
              <a:gdLst/>
              <a:ahLst/>
              <a:cxnLst/>
              <a:rect r="r" b="b" t="t" l="l"/>
              <a:pathLst>
                <a:path h="1428649" w="1506931">
                  <a:moveTo>
                    <a:pt x="0" y="0"/>
                  </a:moveTo>
                  <a:lnTo>
                    <a:pt x="1506931" y="0"/>
                  </a:lnTo>
                  <a:lnTo>
                    <a:pt x="1506931" y="1428649"/>
                  </a:lnTo>
                  <a:lnTo>
                    <a:pt x="0" y="1428649"/>
                  </a:lnTo>
                  <a:lnTo>
                    <a:pt x="0" y="0"/>
                  </a:lnTo>
                  <a:close/>
                </a:path>
              </a:pathLst>
            </a:custGeom>
            <a:blipFill>
              <a:blip r:embed="rId10"/>
              <a:stretch>
                <a:fillRect l="0" t="0" r="0" b="0"/>
              </a:stretch>
            </a:blipFill>
          </p:spPr>
          <p:txBody>
            <a:bodyPr/>
            <a:p/>
          </p:txBody>
        </p:sp>
        <p:grpSp>
          <p:nvGrpSpPr>
            <p:cNvPr name="Group 49" id="49"/>
            <p:cNvGrpSpPr/>
            <p:nvPr/>
          </p:nvGrpSpPr>
          <p:grpSpPr>
            <a:xfrm rot="0">
              <a:off x="346073" y="1955255"/>
              <a:ext cx="4535424" cy="1097280"/>
              <a:chOff x="0" y="0"/>
              <a:chExt cx="4535424" cy="1097280"/>
            </a:xfrm>
          </p:grpSpPr>
          <p:sp>
            <p:nvSpPr>
              <p:cNvPr name="Freeform 50" id="50"/>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txBody>
              <a:bodyPr/>
              <a:p/>
            </p:txBody>
          </p:sp>
          <p:sp>
            <p:nvSpPr>
              <p:cNvPr name="TextBox 51" id="51"/>
              <p:cNvSpPr txBox="true"/>
              <p:nvPr/>
            </p:nvSpPr>
            <p:spPr>
              <a:xfrm>
                <a:off x="0" y="-66675"/>
                <a:ext cx="4535424" cy="1163955"/>
              </a:xfrm>
              <a:prstGeom prst="rect">
                <a:avLst/>
              </a:prstGeom>
            </p:spPr>
            <p:txBody>
              <a:bodyPr anchor="ctr" rtlCol="false" tIns="0" lIns="0" bIns="0" rIns="0"/>
              <a:lstStyle/>
              <a:p>
                <a:pPr algn="l">
                  <a:lnSpc>
                    <a:spcPts val="3720"/>
                  </a:lnSpc>
                </a:pPr>
                <a:r>
                  <a:rPr lang="en-US" sz="3100" b="true">
                    <a:solidFill>
                      <a:srgbClr val="0B5E6E"/>
                    </a:solidFill>
                    <a:latin typeface="Calibri (MS) Bold"/>
                    <a:ea typeface="Calibri (MS) Bold"/>
                    <a:cs typeface="Calibri (MS) Bold"/>
                    <a:sym typeface="Calibri (MS) Bold"/>
                  </a:rPr>
                  <a:t>Google Earth Engine</a:t>
                </a:r>
              </a:p>
            </p:txBody>
          </p:sp>
        </p:grpSp>
        <p:sp>
          <p:nvSpPr>
            <p:cNvPr name="TextBox 52" id="52"/>
            <p:cNvSpPr txBox="true"/>
            <p:nvPr/>
          </p:nvSpPr>
          <p:spPr>
            <a:xfrm rot="0">
              <a:off x="274320" y="3014435"/>
              <a:ext cx="4535424" cy="7493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Ekstraksi dan pengolahan data citra satelit (Dynamic world dan NTL)</a:t>
              </a:r>
            </a:p>
          </p:txBody>
        </p:sp>
      </p:grpSp>
      <p:grpSp>
        <p:nvGrpSpPr>
          <p:cNvPr name="Group 53" id="53"/>
          <p:cNvGrpSpPr/>
          <p:nvPr/>
        </p:nvGrpSpPr>
        <p:grpSpPr>
          <a:xfrm rot="0">
            <a:off x="9653321" y="5886510"/>
            <a:ext cx="3920678" cy="3527596"/>
            <a:chOff x="0" y="0"/>
            <a:chExt cx="5227570" cy="4703461"/>
          </a:xfrm>
        </p:grpSpPr>
        <p:grpSp>
          <p:nvGrpSpPr>
            <p:cNvPr name="Group 54" id="54"/>
            <p:cNvGrpSpPr/>
            <p:nvPr/>
          </p:nvGrpSpPr>
          <p:grpSpPr>
            <a:xfrm rot="0">
              <a:off x="0" y="0"/>
              <a:ext cx="5227570" cy="4703461"/>
              <a:chOff x="0" y="0"/>
              <a:chExt cx="1032607" cy="929079"/>
            </a:xfrm>
          </p:grpSpPr>
          <p:sp>
            <p:nvSpPr>
              <p:cNvPr name="Freeform 55" id="55"/>
              <p:cNvSpPr/>
              <p:nvPr/>
            </p:nvSpPr>
            <p:spPr>
              <a:xfrm flipH="false" flipV="false" rot="0">
                <a:off x="0" y="0"/>
                <a:ext cx="1032607" cy="929079"/>
              </a:xfrm>
              <a:custGeom>
                <a:avLst/>
                <a:gdLst/>
                <a:ahLst/>
                <a:cxnLst/>
                <a:rect r="r" b="b" t="t" l="l"/>
                <a:pathLst>
                  <a:path h="929079" w="1032607">
                    <a:moveTo>
                      <a:pt x="32109" y="0"/>
                    </a:moveTo>
                    <a:lnTo>
                      <a:pt x="1000498" y="0"/>
                    </a:lnTo>
                    <a:cubicBezTo>
                      <a:pt x="1009013" y="0"/>
                      <a:pt x="1017180" y="3383"/>
                      <a:pt x="1023202" y="9405"/>
                    </a:cubicBezTo>
                    <a:cubicBezTo>
                      <a:pt x="1029224" y="15426"/>
                      <a:pt x="1032607" y="23593"/>
                      <a:pt x="1032607" y="32109"/>
                    </a:cubicBezTo>
                    <a:lnTo>
                      <a:pt x="1032607" y="896970"/>
                    </a:lnTo>
                    <a:cubicBezTo>
                      <a:pt x="1032607" y="905486"/>
                      <a:pt x="1029224" y="913653"/>
                      <a:pt x="1023202" y="919674"/>
                    </a:cubicBezTo>
                    <a:cubicBezTo>
                      <a:pt x="1017180" y="925696"/>
                      <a:pt x="1009013" y="929079"/>
                      <a:pt x="1000498" y="929079"/>
                    </a:cubicBezTo>
                    <a:lnTo>
                      <a:pt x="32109" y="929079"/>
                    </a:lnTo>
                    <a:cubicBezTo>
                      <a:pt x="23593" y="929079"/>
                      <a:pt x="15426" y="925696"/>
                      <a:pt x="9405" y="919674"/>
                    </a:cubicBezTo>
                    <a:cubicBezTo>
                      <a:pt x="3383" y="913653"/>
                      <a:pt x="0" y="905486"/>
                      <a:pt x="0" y="896970"/>
                    </a:cubicBezTo>
                    <a:lnTo>
                      <a:pt x="0" y="32109"/>
                    </a:lnTo>
                    <a:cubicBezTo>
                      <a:pt x="0" y="23593"/>
                      <a:pt x="3383" y="15426"/>
                      <a:pt x="9405" y="9405"/>
                    </a:cubicBezTo>
                    <a:cubicBezTo>
                      <a:pt x="15426" y="3383"/>
                      <a:pt x="23593" y="0"/>
                      <a:pt x="32109" y="0"/>
                    </a:cubicBezTo>
                    <a:close/>
                  </a:path>
                </a:pathLst>
              </a:custGeom>
              <a:solidFill>
                <a:srgbClr val="FFFFFF"/>
              </a:solidFill>
              <a:ln w="19050" cap="sq">
                <a:solidFill>
                  <a:srgbClr val="CFE5E9"/>
                </a:solidFill>
                <a:prstDash val="solid"/>
                <a:miter/>
              </a:ln>
            </p:spPr>
            <p:txBody>
              <a:bodyPr/>
              <a:p/>
            </p:txBody>
          </p:sp>
          <p:sp>
            <p:nvSpPr>
              <p:cNvPr name="TextBox 56" id="56"/>
              <p:cNvSpPr txBox="true"/>
              <p:nvPr/>
            </p:nvSpPr>
            <p:spPr>
              <a:xfrm>
                <a:off x="0" y="-19050"/>
                <a:ext cx="1032607" cy="948129"/>
              </a:xfrm>
              <a:prstGeom prst="rect">
                <a:avLst/>
              </a:prstGeom>
            </p:spPr>
            <p:txBody>
              <a:bodyPr anchor="ctr" rtlCol="false" tIns="62482" lIns="62482" bIns="62482" rIns="62482"/>
              <a:lstStyle/>
              <a:p>
                <a:pPr algn="ctr">
                  <a:lnSpc>
                    <a:spcPts val="1889"/>
                  </a:lnSpc>
                </a:pPr>
              </a:p>
            </p:txBody>
          </p:sp>
        </p:grpSp>
        <p:grpSp>
          <p:nvGrpSpPr>
            <p:cNvPr name="Group 57" id="57"/>
            <p:cNvGrpSpPr/>
            <p:nvPr/>
          </p:nvGrpSpPr>
          <p:grpSpPr>
            <a:xfrm rot="0">
              <a:off x="346073" y="1701455"/>
              <a:ext cx="4535424" cy="1269680"/>
              <a:chOff x="0" y="0"/>
              <a:chExt cx="4535424" cy="1269680"/>
            </a:xfrm>
          </p:grpSpPr>
          <p:sp>
            <p:nvSpPr>
              <p:cNvPr name="Freeform 58" id="58"/>
              <p:cNvSpPr/>
              <p:nvPr/>
            </p:nvSpPr>
            <p:spPr>
              <a:xfrm flipH="false" flipV="false" rot="0">
                <a:off x="0" y="0"/>
                <a:ext cx="4535424" cy="1269681"/>
              </a:xfrm>
              <a:custGeom>
                <a:avLst/>
                <a:gdLst/>
                <a:ahLst/>
                <a:cxnLst/>
                <a:rect r="r" b="b" t="t" l="l"/>
                <a:pathLst>
                  <a:path h="1269681" w="4535424">
                    <a:moveTo>
                      <a:pt x="0" y="0"/>
                    </a:moveTo>
                    <a:lnTo>
                      <a:pt x="4535424" y="0"/>
                    </a:lnTo>
                    <a:lnTo>
                      <a:pt x="4535424" y="1269681"/>
                    </a:lnTo>
                    <a:lnTo>
                      <a:pt x="0" y="1269681"/>
                    </a:lnTo>
                    <a:close/>
                  </a:path>
                </a:pathLst>
              </a:custGeom>
              <a:blipFill>
                <a:blip r:embed="rId4">
                  <a:alphaModFix amt="0"/>
                </a:blip>
                <a:stretch>
                  <a:fillRect l="0" t="-26391" r="0" b="-12813"/>
                </a:stretch>
              </a:blipFill>
            </p:spPr>
            <p:txBody>
              <a:bodyPr/>
              <a:p/>
            </p:txBody>
          </p:sp>
          <p:sp>
            <p:nvSpPr>
              <p:cNvPr name="TextBox 59" id="59"/>
              <p:cNvSpPr txBox="true"/>
              <p:nvPr/>
            </p:nvSpPr>
            <p:spPr>
              <a:xfrm>
                <a:off x="0" y="-57150"/>
                <a:ext cx="4535424" cy="1326830"/>
              </a:xfrm>
              <a:prstGeom prst="rect">
                <a:avLst/>
              </a:prstGeom>
            </p:spPr>
            <p:txBody>
              <a:bodyPr anchor="ctr" rtlCol="false" tIns="0" lIns="0" bIns="0" rIns="0"/>
              <a:lstStyle/>
              <a:p>
                <a:pPr algn="ctr">
                  <a:lnSpc>
                    <a:spcPts val="3240"/>
                  </a:lnSpc>
                </a:pPr>
                <a:r>
                  <a:rPr lang="en-US" sz="2700" b="true">
                    <a:solidFill>
                      <a:srgbClr val="0B5E6E"/>
                    </a:solidFill>
                    <a:latin typeface="Calibri (MS) Bold"/>
                    <a:ea typeface="Calibri (MS) Bold"/>
                    <a:cs typeface="Calibri (MS) Bold"/>
                    <a:sym typeface="Calibri (MS) Bold"/>
                  </a:rPr>
                  <a:t>Next js, TypeScript, Tailwind CSS</a:t>
                </a:r>
              </a:p>
            </p:txBody>
          </p:sp>
        </p:grpSp>
        <p:sp>
          <p:nvSpPr>
            <p:cNvPr name="TextBox 60" id="60"/>
            <p:cNvSpPr txBox="true"/>
            <p:nvPr/>
          </p:nvSpPr>
          <p:spPr>
            <a:xfrm rot="0">
              <a:off x="346073" y="3014435"/>
              <a:ext cx="4535424" cy="7493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Pengembangan antarmuka aplikasi web interaktif</a:t>
              </a:r>
            </a:p>
          </p:txBody>
        </p:sp>
        <p:sp>
          <p:nvSpPr>
            <p:cNvPr name="Freeform 61" id="61"/>
            <p:cNvSpPr/>
            <p:nvPr/>
          </p:nvSpPr>
          <p:spPr>
            <a:xfrm flipH="false" flipV="false" rot="0">
              <a:off x="2821433" y="726246"/>
              <a:ext cx="940764" cy="975209"/>
            </a:xfrm>
            <a:custGeom>
              <a:avLst/>
              <a:gdLst/>
              <a:ahLst/>
              <a:cxnLst/>
              <a:rect r="r" b="b" t="t" l="l"/>
              <a:pathLst>
                <a:path h="975209" w="940764">
                  <a:moveTo>
                    <a:pt x="0" y="0"/>
                  </a:moveTo>
                  <a:lnTo>
                    <a:pt x="940764" y="0"/>
                  </a:lnTo>
                  <a:lnTo>
                    <a:pt x="940764" y="975209"/>
                  </a:lnTo>
                  <a:lnTo>
                    <a:pt x="0" y="975209"/>
                  </a:lnTo>
                  <a:lnTo>
                    <a:pt x="0" y="0"/>
                  </a:lnTo>
                  <a:close/>
                </a:path>
              </a:pathLst>
            </a:custGeom>
            <a:blipFill>
              <a:blip r:embed="rId11"/>
              <a:stretch>
                <a:fillRect l="-296464" t="-106623" r="-59521" b="-40210"/>
              </a:stretch>
            </a:blipFill>
          </p:spPr>
          <p:txBody>
            <a:bodyPr/>
            <a:p/>
          </p:txBody>
        </p:sp>
        <p:sp>
          <p:nvSpPr>
            <p:cNvPr name="Freeform 62" id="62"/>
            <p:cNvSpPr/>
            <p:nvPr/>
          </p:nvSpPr>
          <p:spPr>
            <a:xfrm flipH="false" flipV="false" rot="0">
              <a:off x="1615812" y="322118"/>
              <a:ext cx="1799097" cy="404128"/>
            </a:xfrm>
            <a:custGeom>
              <a:avLst/>
              <a:gdLst/>
              <a:ahLst/>
              <a:cxnLst/>
              <a:rect r="r" b="b" t="t" l="l"/>
              <a:pathLst>
                <a:path h="404128" w="1799097">
                  <a:moveTo>
                    <a:pt x="0" y="0"/>
                  </a:moveTo>
                  <a:lnTo>
                    <a:pt x="1799097" y="0"/>
                  </a:lnTo>
                  <a:lnTo>
                    <a:pt x="1799097" y="404128"/>
                  </a:lnTo>
                  <a:lnTo>
                    <a:pt x="0" y="404128"/>
                  </a:lnTo>
                  <a:lnTo>
                    <a:pt x="0" y="0"/>
                  </a:lnTo>
                  <a:close/>
                </a:path>
              </a:pathLst>
            </a:custGeom>
            <a:blipFill>
              <a:blip r:embed="rId11"/>
              <a:stretch>
                <a:fillRect l="-127665" t="-125258" r="-10773" b="-370381"/>
              </a:stretch>
            </a:blipFill>
          </p:spPr>
          <p:txBody>
            <a:bodyPr/>
            <a:p/>
          </p:txBody>
        </p:sp>
        <p:sp>
          <p:nvSpPr>
            <p:cNvPr name="Freeform 63" id="63"/>
            <p:cNvSpPr/>
            <p:nvPr/>
          </p:nvSpPr>
          <p:spPr>
            <a:xfrm flipH="false" flipV="false" rot="0">
              <a:off x="1465374" y="881059"/>
              <a:ext cx="1317416" cy="665583"/>
            </a:xfrm>
            <a:custGeom>
              <a:avLst/>
              <a:gdLst/>
              <a:ahLst/>
              <a:cxnLst/>
              <a:rect r="r" b="b" t="t" l="l"/>
              <a:pathLst>
                <a:path h="665583" w="1317416">
                  <a:moveTo>
                    <a:pt x="0" y="0"/>
                  </a:moveTo>
                  <a:lnTo>
                    <a:pt x="1317416" y="0"/>
                  </a:lnTo>
                  <a:lnTo>
                    <a:pt x="1317416" y="665583"/>
                  </a:lnTo>
                  <a:lnTo>
                    <a:pt x="0" y="665583"/>
                  </a:lnTo>
                  <a:lnTo>
                    <a:pt x="0" y="0"/>
                  </a:lnTo>
                  <a:close/>
                </a:path>
              </a:pathLst>
            </a:custGeom>
            <a:blipFill>
              <a:blip r:embed="rId11"/>
              <a:stretch>
                <a:fillRect l="-11106" t="-72899" r="-113616" b="-76697"/>
              </a:stretch>
            </a:blipFill>
          </p:spPr>
          <p:txBody>
            <a:bodyPr/>
            <a:p/>
          </p:txBody>
        </p:sp>
      </p:grpSp>
      <p:grpSp>
        <p:nvGrpSpPr>
          <p:cNvPr name="Group 64" id="64"/>
          <p:cNvGrpSpPr/>
          <p:nvPr/>
        </p:nvGrpSpPr>
        <p:grpSpPr>
          <a:xfrm rot="0">
            <a:off x="822960" y="274320"/>
            <a:ext cx="2040922" cy="411480"/>
            <a:chOff x="0" y="0"/>
            <a:chExt cx="2721229" cy="548640"/>
          </a:xfrm>
        </p:grpSpPr>
        <p:sp>
          <p:nvSpPr>
            <p:cNvPr name="Freeform 65" id="65"/>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66" id="66"/>
          <p:cNvGrpSpPr/>
          <p:nvPr/>
        </p:nvGrpSpPr>
        <p:grpSpPr>
          <a:xfrm rot="0">
            <a:off x="822960" y="274320"/>
            <a:ext cx="2040941" cy="411480"/>
            <a:chOff x="0" y="0"/>
            <a:chExt cx="2721254" cy="548640"/>
          </a:xfrm>
        </p:grpSpPr>
        <p:sp>
          <p:nvSpPr>
            <p:cNvPr name="Freeform 67" id="67"/>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12">
                <a:alphaModFix amt="0"/>
              </a:blip>
              <a:stretch>
                <a:fillRect l="0" t="-46578" r="0" b="-46578"/>
              </a:stretch>
            </a:blipFill>
          </p:spPr>
          <p:txBody>
            <a:bodyPr/>
            <a:p/>
          </p:txBody>
        </p:sp>
      </p:grpSp>
      <p:grpSp>
        <p:nvGrpSpPr>
          <p:cNvPr name="Group 68" id="68"/>
          <p:cNvGrpSpPr/>
          <p:nvPr/>
        </p:nvGrpSpPr>
        <p:grpSpPr>
          <a:xfrm rot="0">
            <a:off x="822960" y="260033"/>
            <a:ext cx="2040941" cy="425768"/>
            <a:chOff x="0" y="0"/>
            <a:chExt cx="2721254" cy="567690"/>
          </a:xfrm>
        </p:grpSpPr>
        <p:sp>
          <p:nvSpPr>
            <p:cNvPr name="Freeform 69" id="69"/>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4">
                <a:alphaModFix amt="0"/>
              </a:blip>
              <a:stretch>
                <a:fillRect l="0" t="-43402" r="0" b="-43402"/>
              </a:stretch>
            </a:blipFill>
          </p:spPr>
          <p:txBody>
            <a:bodyPr/>
            <a:p/>
          </p:txBody>
        </p:sp>
        <p:sp>
          <p:nvSpPr>
            <p:cNvPr name="TextBox 70" id="70"/>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71" id="71"/>
          <p:cNvGrpSpPr/>
          <p:nvPr/>
        </p:nvGrpSpPr>
        <p:grpSpPr>
          <a:xfrm rot="0">
            <a:off x="2973629" y="274320"/>
            <a:ext cx="2378392" cy="411480"/>
            <a:chOff x="0" y="0"/>
            <a:chExt cx="3171190" cy="548640"/>
          </a:xfrm>
        </p:grpSpPr>
        <p:sp>
          <p:nvSpPr>
            <p:cNvPr name="Freeform 72" id="7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73" id="73"/>
          <p:cNvGrpSpPr/>
          <p:nvPr/>
        </p:nvGrpSpPr>
        <p:grpSpPr>
          <a:xfrm rot="0">
            <a:off x="2973629" y="274320"/>
            <a:ext cx="2378354" cy="411480"/>
            <a:chOff x="0" y="0"/>
            <a:chExt cx="3171139" cy="548640"/>
          </a:xfrm>
        </p:grpSpPr>
        <p:sp>
          <p:nvSpPr>
            <p:cNvPr name="Freeform 74" id="7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12">
                <a:alphaModFix amt="0"/>
              </a:blip>
              <a:stretch>
                <a:fillRect l="0" t="-62546" r="1" b="-62543"/>
              </a:stretch>
            </a:blipFill>
          </p:spPr>
          <p:txBody>
            <a:bodyPr/>
            <a:p/>
          </p:txBody>
        </p:sp>
      </p:grpSp>
      <p:grpSp>
        <p:nvGrpSpPr>
          <p:cNvPr name="Group 75" id="75"/>
          <p:cNvGrpSpPr/>
          <p:nvPr/>
        </p:nvGrpSpPr>
        <p:grpSpPr>
          <a:xfrm rot="0">
            <a:off x="2973629" y="260033"/>
            <a:ext cx="2378354" cy="425768"/>
            <a:chOff x="0" y="0"/>
            <a:chExt cx="3171139" cy="567690"/>
          </a:xfrm>
        </p:grpSpPr>
        <p:sp>
          <p:nvSpPr>
            <p:cNvPr name="Freeform 76" id="76"/>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4">
                <a:alphaModFix amt="0"/>
              </a:blip>
              <a:stretch>
                <a:fillRect l="0" t="-58844" r="0" b="-58844"/>
              </a:stretch>
            </a:blipFill>
          </p:spPr>
          <p:txBody>
            <a:bodyPr/>
            <a:p/>
          </p:txBody>
        </p:sp>
        <p:sp>
          <p:nvSpPr>
            <p:cNvPr name="TextBox 77" id="77"/>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Metodologi</a:t>
              </a:r>
            </a:p>
          </p:txBody>
        </p:sp>
      </p:grpSp>
      <p:grpSp>
        <p:nvGrpSpPr>
          <p:cNvPr name="Group 78" id="78"/>
          <p:cNvGrpSpPr/>
          <p:nvPr/>
        </p:nvGrpSpPr>
        <p:grpSpPr>
          <a:xfrm rot="0">
            <a:off x="5461711" y="274320"/>
            <a:ext cx="1591056" cy="411480"/>
            <a:chOff x="0" y="0"/>
            <a:chExt cx="2121408" cy="548640"/>
          </a:xfrm>
        </p:grpSpPr>
        <p:sp>
          <p:nvSpPr>
            <p:cNvPr name="Freeform 79" id="79"/>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80" id="80"/>
          <p:cNvGrpSpPr/>
          <p:nvPr/>
        </p:nvGrpSpPr>
        <p:grpSpPr>
          <a:xfrm rot="0">
            <a:off x="5461711" y="274320"/>
            <a:ext cx="1591056" cy="411480"/>
            <a:chOff x="0" y="0"/>
            <a:chExt cx="2121408" cy="548640"/>
          </a:xfrm>
        </p:grpSpPr>
        <p:sp>
          <p:nvSpPr>
            <p:cNvPr name="Freeform 81" id="81"/>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12">
                <a:alphaModFix amt="0"/>
              </a:blip>
              <a:stretch>
                <a:fillRect l="0" t="-25289" r="0" b="-25289"/>
              </a:stretch>
            </a:blipFill>
          </p:spPr>
          <p:txBody>
            <a:bodyPr/>
            <a:p/>
          </p:txBody>
        </p:sp>
      </p:grpSp>
      <p:grpSp>
        <p:nvGrpSpPr>
          <p:cNvPr name="Group 82" id="82"/>
          <p:cNvGrpSpPr/>
          <p:nvPr/>
        </p:nvGrpSpPr>
        <p:grpSpPr>
          <a:xfrm rot="0">
            <a:off x="5461711" y="260033"/>
            <a:ext cx="1591056" cy="425768"/>
            <a:chOff x="0" y="0"/>
            <a:chExt cx="2121408" cy="567690"/>
          </a:xfrm>
        </p:grpSpPr>
        <p:sp>
          <p:nvSpPr>
            <p:cNvPr name="Freeform 83" id="83"/>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4">
                <a:alphaModFix amt="0"/>
              </a:blip>
              <a:stretch>
                <a:fillRect l="0" t="-22813" r="0" b="-22813"/>
              </a:stretch>
            </a:blipFill>
          </p:spPr>
          <p:txBody>
            <a:bodyPr/>
            <a:p/>
          </p:txBody>
        </p:sp>
        <p:sp>
          <p:nvSpPr>
            <p:cNvPr name="TextBox 84" id="84"/>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85" id="85"/>
          <p:cNvGrpSpPr/>
          <p:nvPr/>
        </p:nvGrpSpPr>
        <p:grpSpPr>
          <a:xfrm rot="0">
            <a:off x="7162495" y="274320"/>
            <a:ext cx="2490788" cy="411480"/>
            <a:chOff x="0" y="0"/>
            <a:chExt cx="3321050" cy="548640"/>
          </a:xfrm>
        </p:grpSpPr>
        <p:sp>
          <p:nvSpPr>
            <p:cNvPr name="Freeform 86" id="86"/>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87" id="87"/>
          <p:cNvGrpSpPr/>
          <p:nvPr/>
        </p:nvGrpSpPr>
        <p:grpSpPr>
          <a:xfrm rot="0">
            <a:off x="7162495" y="274320"/>
            <a:ext cx="2490826" cy="411480"/>
            <a:chOff x="0" y="0"/>
            <a:chExt cx="3321101" cy="548640"/>
          </a:xfrm>
        </p:grpSpPr>
        <p:sp>
          <p:nvSpPr>
            <p:cNvPr name="Freeform 88" id="88"/>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12">
                <a:alphaModFix amt="0"/>
              </a:blip>
              <a:stretch>
                <a:fillRect l="0" t="-67868" r="-1" b="-67865"/>
              </a:stretch>
            </a:blipFill>
          </p:spPr>
          <p:txBody>
            <a:bodyPr/>
            <a:p/>
          </p:txBody>
        </p:sp>
      </p:grpSp>
      <p:grpSp>
        <p:nvGrpSpPr>
          <p:cNvPr name="Group 89" id="89"/>
          <p:cNvGrpSpPr/>
          <p:nvPr/>
        </p:nvGrpSpPr>
        <p:grpSpPr>
          <a:xfrm rot="0">
            <a:off x="7162495" y="260033"/>
            <a:ext cx="2490826" cy="425768"/>
            <a:chOff x="0" y="0"/>
            <a:chExt cx="3321101" cy="567690"/>
          </a:xfrm>
        </p:grpSpPr>
        <p:sp>
          <p:nvSpPr>
            <p:cNvPr name="Freeform 90" id="90"/>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4">
                <a:alphaModFix amt="0"/>
              </a:blip>
              <a:stretch>
                <a:fillRect l="0" t="-63991" r="0" b="-63991"/>
              </a:stretch>
            </a:blipFill>
          </p:spPr>
          <p:txBody>
            <a:bodyPr/>
            <a:p/>
          </p:txBody>
        </p:sp>
        <p:sp>
          <p:nvSpPr>
            <p:cNvPr name="TextBox 91" id="91"/>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92" id="92"/>
          <p:cNvGrpSpPr/>
          <p:nvPr/>
        </p:nvGrpSpPr>
        <p:grpSpPr>
          <a:xfrm rot="0">
            <a:off x="9763049" y="274320"/>
            <a:ext cx="1366076" cy="411480"/>
            <a:chOff x="0" y="0"/>
            <a:chExt cx="1821434" cy="548640"/>
          </a:xfrm>
        </p:grpSpPr>
        <p:sp>
          <p:nvSpPr>
            <p:cNvPr name="Freeform 93" id="9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94" id="94"/>
          <p:cNvGrpSpPr/>
          <p:nvPr/>
        </p:nvGrpSpPr>
        <p:grpSpPr>
          <a:xfrm rot="0">
            <a:off x="9763049" y="274320"/>
            <a:ext cx="1366114" cy="411480"/>
            <a:chOff x="0" y="0"/>
            <a:chExt cx="1821485" cy="548640"/>
          </a:xfrm>
        </p:grpSpPr>
        <p:sp>
          <p:nvSpPr>
            <p:cNvPr name="Freeform 95" id="9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12">
                <a:alphaModFix amt="0"/>
              </a:blip>
              <a:stretch>
                <a:fillRect l="0" t="-14645" r="-2" b="-14645"/>
              </a:stretch>
            </a:blipFill>
          </p:spPr>
          <p:txBody>
            <a:bodyPr/>
            <a:p/>
          </p:txBody>
        </p:sp>
      </p:grpSp>
      <p:grpSp>
        <p:nvGrpSpPr>
          <p:cNvPr name="Group 96" id="96"/>
          <p:cNvGrpSpPr/>
          <p:nvPr/>
        </p:nvGrpSpPr>
        <p:grpSpPr>
          <a:xfrm rot="0">
            <a:off x="9763049" y="260033"/>
            <a:ext cx="1366114" cy="425768"/>
            <a:chOff x="0" y="0"/>
            <a:chExt cx="1821485" cy="567690"/>
          </a:xfrm>
        </p:grpSpPr>
        <p:sp>
          <p:nvSpPr>
            <p:cNvPr name="Freeform 97" id="97"/>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4">
                <a:alphaModFix amt="0"/>
              </a:blip>
              <a:stretch>
                <a:fillRect l="0" t="-12519" r="0" b="-12519"/>
              </a:stretch>
            </a:blipFill>
          </p:spPr>
          <p:txBody>
            <a:bodyPr/>
            <a:p/>
          </p:txBody>
        </p:sp>
        <p:sp>
          <p:nvSpPr>
            <p:cNvPr name="TextBox 98" id="98"/>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99" id="99"/>
          <p:cNvGrpSpPr/>
          <p:nvPr/>
        </p:nvGrpSpPr>
        <p:grpSpPr>
          <a:xfrm rot="0">
            <a:off x="11238890" y="274320"/>
            <a:ext cx="1253680" cy="411480"/>
            <a:chOff x="0" y="0"/>
            <a:chExt cx="1671574" cy="548640"/>
          </a:xfrm>
        </p:grpSpPr>
        <p:sp>
          <p:nvSpPr>
            <p:cNvPr name="Freeform 100" id="100"/>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01" id="101"/>
          <p:cNvGrpSpPr/>
          <p:nvPr/>
        </p:nvGrpSpPr>
        <p:grpSpPr>
          <a:xfrm rot="0">
            <a:off x="11238890" y="274320"/>
            <a:ext cx="1253642" cy="411480"/>
            <a:chOff x="0" y="0"/>
            <a:chExt cx="1671523" cy="548640"/>
          </a:xfrm>
        </p:grpSpPr>
        <p:sp>
          <p:nvSpPr>
            <p:cNvPr name="Freeform 102" id="102"/>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12">
                <a:alphaModFix amt="0"/>
              </a:blip>
              <a:stretch>
                <a:fillRect l="0" t="-9324" r="3" b="-9321"/>
              </a:stretch>
            </a:blipFill>
          </p:spPr>
          <p:txBody>
            <a:bodyPr/>
            <a:p/>
          </p:txBody>
        </p:sp>
      </p:grpSp>
      <p:grpSp>
        <p:nvGrpSpPr>
          <p:cNvPr name="Group 103" id="103"/>
          <p:cNvGrpSpPr/>
          <p:nvPr/>
        </p:nvGrpSpPr>
        <p:grpSpPr>
          <a:xfrm rot="0">
            <a:off x="11238890" y="260033"/>
            <a:ext cx="1253642" cy="425768"/>
            <a:chOff x="0" y="0"/>
            <a:chExt cx="1671523" cy="567690"/>
          </a:xfrm>
        </p:grpSpPr>
        <p:sp>
          <p:nvSpPr>
            <p:cNvPr name="Freeform 104" id="104"/>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4">
                <a:alphaModFix amt="0"/>
              </a:blip>
              <a:stretch>
                <a:fillRect l="0" t="-7372" r="0" b="-7372"/>
              </a:stretch>
            </a:blipFill>
          </p:spPr>
          <p:txBody>
            <a:bodyPr/>
            <a:p/>
          </p:txBody>
        </p:sp>
        <p:sp>
          <p:nvSpPr>
            <p:cNvPr name="TextBox 105" id="105"/>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106" id="106"/>
          <p:cNvSpPr txBox="true"/>
          <p:nvPr/>
        </p:nvSpPr>
        <p:spPr>
          <a:xfrm rot="0">
            <a:off x="822960" y="713232"/>
            <a:ext cx="16637508" cy="72390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Alat dan Perangkat Lunak</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Perangkat yang digunakan pada setiap tahap</a:t>
            </a:r>
          </a:p>
        </p:txBody>
      </p:sp>
      <p:sp>
        <p:nvSpPr>
          <p:cNvPr name="TextBox 107" id="10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14</a:t>
            </a:r>
          </a:p>
        </p:txBody>
      </p:sp>
      <p:grpSp>
        <p:nvGrpSpPr>
          <p:cNvPr name="Group 108" id="108"/>
          <p:cNvGrpSpPr/>
          <p:nvPr/>
        </p:nvGrpSpPr>
        <p:grpSpPr>
          <a:xfrm rot="0">
            <a:off x="16047720" y="9646920"/>
            <a:ext cx="420624" cy="420624"/>
            <a:chOff x="0" y="0"/>
            <a:chExt cx="560832" cy="560832"/>
          </a:xfrm>
        </p:grpSpPr>
        <p:sp>
          <p:nvSpPr>
            <p:cNvPr name="Freeform 109" id="109"/>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10" id="110"/>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Pengumpulan dan Preprocessing Data</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Empat masalah data ditangani sebelum pemodelan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15</a:t>
            </a:r>
          </a:p>
        </p:txBody>
      </p:sp>
      <p:grpSp>
        <p:nvGrpSpPr>
          <p:cNvPr name="Group 67" id="67"/>
          <p:cNvGrpSpPr/>
          <p:nvPr/>
        </p:nvGrpSpPr>
        <p:grpSpPr>
          <a:xfrm rot="0">
            <a:off x="816607" y="2325367"/>
            <a:ext cx="4017769" cy="5773417"/>
            <a:chOff x="0" y="0"/>
            <a:chExt cx="5357025" cy="7697889"/>
          </a:xfrm>
        </p:grpSpPr>
        <p:sp>
          <p:nvSpPr>
            <p:cNvPr name="Freeform 68" id="68"/>
            <p:cNvSpPr/>
            <p:nvPr/>
          </p:nvSpPr>
          <p:spPr>
            <a:xfrm flipH="false" flipV="false" rot="0">
              <a:off x="0" y="0"/>
              <a:ext cx="5357114" cy="7697978"/>
            </a:xfrm>
            <a:custGeom>
              <a:avLst/>
              <a:gdLst/>
              <a:ahLst/>
              <a:cxnLst/>
              <a:rect r="r" b="b" t="t" l="l"/>
              <a:pathLst>
                <a:path h="7697978" w="5357114">
                  <a:moveTo>
                    <a:pt x="0" y="428625"/>
                  </a:moveTo>
                  <a:cubicBezTo>
                    <a:pt x="0" y="191897"/>
                    <a:pt x="191897" y="0"/>
                    <a:pt x="428625" y="0"/>
                  </a:cubicBezTo>
                  <a:lnTo>
                    <a:pt x="4928489" y="0"/>
                  </a:lnTo>
                  <a:cubicBezTo>
                    <a:pt x="5165217" y="0"/>
                    <a:pt x="5357114" y="191897"/>
                    <a:pt x="5357114" y="428625"/>
                  </a:cubicBezTo>
                  <a:lnTo>
                    <a:pt x="5357114" y="7269353"/>
                  </a:lnTo>
                  <a:cubicBezTo>
                    <a:pt x="5357114" y="7506081"/>
                    <a:pt x="5165217" y="7697978"/>
                    <a:pt x="4928489" y="7697978"/>
                  </a:cubicBezTo>
                  <a:lnTo>
                    <a:pt x="428625" y="7697978"/>
                  </a:lnTo>
                  <a:cubicBezTo>
                    <a:pt x="191897" y="7697851"/>
                    <a:pt x="0" y="7506081"/>
                    <a:pt x="0" y="7269353"/>
                  </a:cubicBezTo>
                  <a:close/>
                </a:path>
              </a:pathLst>
            </a:custGeom>
            <a:solidFill>
              <a:srgbClr val="EAF8FA"/>
            </a:solidFill>
            <a:ln w="12700" cap="sq">
              <a:solidFill>
                <a:srgbClr val="CFE5E9"/>
              </a:solidFill>
              <a:prstDash val="solid"/>
              <a:miter/>
            </a:ln>
          </p:spPr>
          <p:txBody>
            <a:bodyPr/>
            <a:p/>
          </p:txBody>
        </p:sp>
      </p:grpSp>
      <p:grpSp>
        <p:nvGrpSpPr>
          <p:cNvPr name="Group 69" id="69"/>
          <p:cNvGrpSpPr/>
          <p:nvPr/>
        </p:nvGrpSpPr>
        <p:grpSpPr>
          <a:xfrm rot="0">
            <a:off x="1051560" y="2560320"/>
            <a:ext cx="548640" cy="548640"/>
            <a:chOff x="0" y="0"/>
            <a:chExt cx="731520" cy="731520"/>
          </a:xfrm>
        </p:grpSpPr>
        <p:sp>
          <p:nvSpPr>
            <p:cNvPr name="Freeform 70" id="70"/>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71" id="71"/>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1</a:t>
              </a:r>
            </a:p>
          </p:txBody>
        </p:sp>
      </p:grpSp>
      <p:sp>
        <p:nvSpPr>
          <p:cNvPr name="TextBox 72" id="72"/>
          <p:cNvSpPr txBox="true"/>
          <p:nvPr/>
        </p:nvSpPr>
        <p:spPr>
          <a:xfrm rot="0">
            <a:off x="1737360" y="2512695"/>
            <a:ext cx="2926080" cy="870585"/>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Perubahan metode pencatatan wisnus 2018→2019</a:t>
            </a:r>
          </a:p>
        </p:txBody>
      </p:sp>
      <p:sp>
        <p:nvSpPr>
          <p:cNvPr name="TextBox 73" id="73"/>
          <p:cNvSpPr txBox="true"/>
          <p:nvPr/>
        </p:nvSpPr>
        <p:spPr>
          <a:xfrm rot="0">
            <a:off x="1097280" y="3629025"/>
            <a:ext cx="3474720" cy="394335"/>
          </a:xfrm>
          <a:prstGeom prst="rect">
            <a:avLst/>
          </a:prstGeom>
        </p:spPr>
        <p:txBody>
          <a:bodyPr anchor="t" rtlCol="false" tIns="0" lIns="0" bIns="0" rIns="0">
            <a:spAutoFit/>
          </a:bodyPr>
          <a:lstStyle/>
          <a:p>
            <a:pPr algn="l">
              <a:lnSpc>
                <a:spcPts val="1788"/>
              </a:lnSpc>
            </a:pPr>
            <a:r>
              <a:rPr lang="en-US" sz="1490" b="true">
                <a:solidFill>
                  <a:srgbClr val="E4604F"/>
                </a:solidFill>
                <a:latin typeface="Calibri (MS) Bold"/>
                <a:ea typeface="Calibri (MS) Bold"/>
                <a:cs typeface="Calibri (MS) Bold"/>
                <a:sym typeface="Calibri (MS) Bold"/>
              </a:rPr>
              <a:t>Masalah</a:t>
            </a:r>
          </a:p>
        </p:txBody>
      </p:sp>
      <p:sp>
        <p:nvSpPr>
          <p:cNvPr name="TextBox 74" id="74"/>
          <p:cNvSpPr txBox="true"/>
          <p:nvPr/>
        </p:nvSpPr>
        <p:spPr>
          <a:xfrm rot="0">
            <a:off x="1097280" y="3985260"/>
            <a:ext cx="3474720" cy="1501140"/>
          </a:xfrm>
          <a:prstGeom prst="rect">
            <a:avLst/>
          </a:prstGeom>
        </p:spPr>
        <p:txBody>
          <a:bodyPr anchor="t" rtlCol="false" tIns="0" lIns="0" bIns="0" rIns="0">
            <a:spAutoFit/>
          </a:bodyPr>
          <a:lstStyle/>
          <a:p>
            <a:pPr algn="l">
              <a:lnSpc>
                <a:spcPts val="2063"/>
              </a:lnSpc>
            </a:pPr>
            <a:r>
              <a:rPr lang="en-US" sz="1719">
                <a:solidFill>
                  <a:srgbClr val="14313B"/>
                </a:solidFill>
                <a:latin typeface="Calibri (MS)"/>
                <a:ea typeface="Calibri (MS)"/>
                <a:cs typeface="Calibri (MS)"/>
                <a:sym typeface="Calibri (MS)"/>
              </a:rPr>
              <a:t>Lonjakan 8,0 → 20,5 juta (×2,57) tanpa perubahan lapangan sepadan.</a:t>
            </a:r>
          </a:p>
        </p:txBody>
      </p:sp>
      <p:grpSp>
        <p:nvGrpSpPr>
          <p:cNvPr name="Group 75" id="75"/>
          <p:cNvGrpSpPr/>
          <p:nvPr/>
        </p:nvGrpSpPr>
        <p:grpSpPr>
          <a:xfrm rot="0">
            <a:off x="1045207" y="5708647"/>
            <a:ext cx="3560569" cy="2207257"/>
            <a:chOff x="0" y="0"/>
            <a:chExt cx="4747425" cy="2943009"/>
          </a:xfrm>
        </p:grpSpPr>
        <p:sp>
          <p:nvSpPr>
            <p:cNvPr name="Freeform 76" id="76"/>
            <p:cNvSpPr/>
            <p:nvPr/>
          </p:nvSpPr>
          <p:spPr>
            <a:xfrm flipH="false" flipV="false" rot="0">
              <a:off x="0" y="0"/>
              <a:ext cx="4747387" cy="2942971"/>
            </a:xfrm>
            <a:custGeom>
              <a:avLst/>
              <a:gdLst/>
              <a:ahLst/>
              <a:cxnLst/>
              <a:rect r="r" b="b" t="t" l="l"/>
              <a:pathLst>
                <a:path h="2942971" w="4747387">
                  <a:moveTo>
                    <a:pt x="0" y="235458"/>
                  </a:moveTo>
                  <a:cubicBezTo>
                    <a:pt x="0" y="105410"/>
                    <a:pt x="105410" y="0"/>
                    <a:pt x="235458" y="0"/>
                  </a:cubicBezTo>
                  <a:lnTo>
                    <a:pt x="4511929" y="0"/>
                  </a:lnTo>
                  <a:cubicBezTo>
                    <a:pt x="4641977" y="0"/>
                    <a:pt x="4747387" y="105410"/>
                    <a:pt x="4747387" y="235458"/>
                  </a:cubicBezTo>
                  <a:lnTo>
                    <a:pt x="4747387" y="2707513"/>
                  </a:lnTo>
                  <a:cubicBezTo>
                    <a:pt x="4747387" y="2837561"/>
                    <a:pt x="4641977" y="2942971"/>
                    <a:pt x="4511929" y="2942971"/>
                  </a:cubicBezTo>
                  <a:lnTo>
                    <a:pt x="235458" y="2942971"/>
                  </a:lnTo>
                  <a:cubicBezTo>
                    <a:pt x="105410" y="2942971"/>
                    <a:pt x="0" y="2837561"/>
                    <a:pt x="0" y="2707513"/>
                  </a:cubicBezTo>
                  <a:close/>
                </a:path>
              </a:pathLst>
            </a:custGeom>
            <a:solidFill>
              <a:srgbClr val="FFFFFF"/>
            </a:solidFill>
            <a:ln w="12700" cap="sq">
              <a:solidFill>
                <a:srgbClr val="CFE5E9"/>
              </a:solidFill>
              <a:prstDash val="solid"/>
              <a:miter/>
            </a:ln>
          </p:spPr>
          <p:txBody>
            <a:bodyPr/>
            <a:p/>
          </p:txBody>
        </p:sp>
        <p:sp>
          <p:nvSpPr>
            <p:cNvPr name="TextBox 77" id="77"/>
            <p:cNvSpPr txBox="true"/>
            <p:nvPr/>
          </p:nvSpPr>
          <p:spPr>
            <a:xfrm>
              <a:off x="0" y="-28575"/>
              <a:ext cx="4747425" cy="2971584"/>
            </a:xfrm>
            <a:prstGeom prst="rect">
              <a:avLst/>
            </a:prstGeom>
          </p:spPr>
          <p:txBody>
            <a:bodyPr anchor="t" rtlCol="false" tIns="50800" lIns="50800" bIns="50800" rIns="50800"/>
            <a:lstStyle/>
            <a:p>
              <a:pPr algn="l">
                <a:lnSpc>
                  <a:spcPts val="1788"/>
                </a:lnSpc>
              </a:pPr>
              <a:r>
                <a:rPr lang="en-US" sz="1490" b="true">
                  <a:solidFill>
                    <a:srgbClr val="0B5E6E"/>
                  </a:solidFill>
                  <a:latin typeface="Calibri (MS) Bold"/>
                  <a:ea typeface="Calibri (MS) Bold"/>
                  <a:cs typeface="Calibri (MS) Bold"/>
                  <a:sym typeface="Calibri (MS) Bold"/>
                </a:rPr>
                <a:t>Perlakuan</a:t>
              </a:r>
            </a:p>
            <a:p>
              <a:pPr algn="l">
                <a:lnSpc>
                  <a:spcPts val="2063"/>
                </a:lnSpc>
              </a:pPr>
              <a:r>
                <a:rPr lang="en-US" sz="1719">
                  <a:solidFill>
                    <a:srgbClr val="14313B"/>
                  </a:solidFill>
                  <a:latin typeface="Calibri (MS)"/>
                  <a:ea typeface="Calibri (MS)"/>
                  <a:cs typeface="Calibri (MS)"/>
                  <a:sym typeface="Calibri (MS)"/>
                </a:rPr>
                <a:t>Seri 2015–2018 disambung (faktor 2,2997) hanya untuk uji P5; tidak dipakai menurunkan parameter.</a:t>
              </a:r>
            </a:p>
          </p:txBody>
        </p:sp>
      </p:grpSp>
      <p:grpSp>
        <p:nvGrpSpPr>
          <p:cNvPr name="Group 78" id="78"/>
          <p:cNvGrpSpPr/>
          <p:nvPr/>
        </p:nvGrpSpPr>
        <p:grpSpPr>
          <a:xfrm rot="0">
            <a:off x="5041135" y="2325367"/>
            <a:ext cx="4017769" cy="5773417"/>
            <a:chOff x="0" y="0"/>
            <a:chExt cx="5357025" cy="7697889"/>
          </a:xfrm>
        </p:grpSpPr>
        <p:sp>
          <p:nvSpPr>
            <p:cNvPr name="Freeform 79" id="79"/>
            <p:cNvSpPr/>
            <p:nvPr/>
          </p:nvSpPr>
          <p:spPr>
            <a:xfrm flipH="false" flipV="false" rot="0">
              <a:off x="0" y="0"/>
              <a:ext cx="5357114" cy="7697978"/>
            </a:xfrm>
            <a:custGeom>
              <a:avLst/>
              <a:gdLst/>
              <a:ahLst/>
              <a:cxnLst/>
              <a:rect r="r" b="b" t="t" l="l"/>
              <a:pathLst>
                <a:path h="7697978" w="5357114">
                  <a:moveTo>
                    <a:pt x="0" y="428625"/>
                  </a:moveTo>
                  <a:cubicBezTo>
                    <a:pt x="0" y="191897"/>
                    <a:pt x="191897" y="0"/>
                    <a:pt x="428625" y="0"/>
                  </a:cubicBezTo>
                  <a:lnTo>
                    <a:pt x="4928489" y="0"/>
                  </a:lnTo>
                  <a:cubicBezTo>
                    <a:pt x="5165217" y="0"/>
                    <a:pt x="5357114" y="191897"/>
                    <a:pt x="5357114" y="428625"/>
                  </a:cubicBezTo>
                  <a:lnTo>
                    <a:pt x="5357114" y="7269353"/>
                  </a:lnTo>
                  <a:cubicBezTo>
                    <a:pt x="5357114" y="7506081"/>
                    <a:pt x="5165217" y="7697978"/>
                    <a:pt x="4928489" y="7697978"/>
                  </a:cubicBezTo>
                  <a:lnTo>
                    <a:pt x="428625" y="7697978"/>
                  </a:lnTo>
                  <a:cubicBezTo>
                    <a:pt x="191897" y="7697851"/>
                    <a:pt x="0" y="7506081"/>
                    <a:pt x="0" y="7269353"/>
                  </a:cubicBezTo>
                  <a:close/>
                </a:path>
              </a:pathLst>
            </a:custGeom>
            <a:solidFill>
              <a:srgbClr val="EAF8FA"/>
            </a:solidFill>
            <a:ln w="12700" cap="sq">
              <a:solidFill>
                <a:srgbClr val="CFE5E9"/>
              </a:solidFill>
              <a:prstDash val="solid"/>
              <a:miter/>
            </a:ln>
          </p:spPr>
          <p:txBody>
            <a:bodyPr/>
            <a:p/>
          </p:txBody>
        </p:sp>
      </p:grpSp>
      <p:grpSp>
        <p:nvGrpSpPr>
          <p:cNvPr name="Group 80" id="80"/>
          <p:cNvGrpSpPr/>
          <p:nvPr/>
        </p:nvGrpSpPr>
        <p:grpSpPr>
          <a:xfrm rot="0">
            <a:off x="5276088" y="2560320"/>
            <a:ext cx="548640" cy="548640"/>
            <a:chOff x="0" y="0"/>
            <a:chExt cx="731520" cy="731520"/>
          </a:xfrm>
        </p:grpSpPr>
        <p:sp>
          <p:nvSpPr>
            <p:cNvPr name="Freeform 81" id="81"/>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82" id="82"/>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2</a:t>
              </a:r>
            </a:p>
          </p:txBody>
        </p:sp>
      </p:grpSp>
      <p:sp>
        <p:nvSpPr>
          <p:cNvPr name="TextBox 83" id="83"/>
          <p:cNvSpPr txBox="true"/>
          <p:nvPr/>
        </p:nvSpPr>
        <p:spPr>
          <a:xfrm rot="0">
            <a:off x="5961888" y="2512695"/>
            <a:ext cx="2926080" cy="870585"/>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Lahan terbangun 2015 kosong</a:t>
            </a:r>
          </a:p>
        </p:txBody>
      </p:sp>
      <p:sp>
        <p:nvSpPr>
          <p:cNvPr name="TextBox 84" id="84"/>
          <p:cNvSpPr txBox="true"/>
          <p:nvPr/>
        </p:nvSpPr>
        <p:spPr>
          <a:xfrm rot="0">
            <a:off x="5321808" y="3629025"/>
            <a:ext cx="3474720" cy="394335"/>
          </a:xfrm>
          <a:prstGeom prst="rect">
            <a:avLst/>
          </a:prstGeom>
        </p:spPr>
        <p:txBody>
          <a:bodyPr anchor="t" rtlCol="false" tIns="0" lIns="0" bIns="0" rIns="0">
            <a:spAutoFit/>
          </a:bodyPr>
          <a:lstStyle/>
          <a:p>
            <a:pPr algn="l">
              <a:lnSpc>
                <a:spcPts val="1788"/>
              </a:lnSpc>
            </a:pPr>
            <a:r>
              <a:rPr lang="en-US" sz="1490" b="true">
                <a:solidFill>
                  <a:srgbClr val="E4604F"/>
                </a:solidFill>
                <a:latin typeface="Calibri (MS) Bold"/>
                <a:ea typeface="Calibri (MS) Bold"/>
                <a:cs typeface="Calibri (MS) Bold"/>
                <a:sym typeface="Calibri (MS) Bold"/>
              </a:rPr>
              <a:t>Masalah</a:t>
            </a:r>
          </a:p>
        </p:txBody>
      </p:sp>
      <p:sp>
        <p:nvSpPr>
          <p:cNvPr name="TextBox 85" id="85"/>
          <p:cNvSpPr txBox="true"/>
          <p:nvPr/>
        </p:nvSpPr>
        <p:spPr>
          <a:xfrm rot="0">
            <a:off x="5321808" y="3985260"/>
            <a:ext cx="3474720" cy="1501140"/>
          </a:xfrm>
          <a:prstGeom prst="rect">
            <a:avLst/>
          </a:prstGeom>
        </p:spPr>
        <p:txBody>
          <a:bodyPr anchor="t" rtlCol="false" tIns="0" lIns="0" bIns="0" rIns="0">
            <a:spAutoFit/>
          </a:bodyPr>
          <a:lstStyle/>
          <a:p>
            <a:pPr algn="l">
              <a:lnSpc>
                <a:spcPts val="2063"/>
              </a:lnSpc>
            </a:pPr>
            <a:r>
              <a:rPr lang="en-US" sz="1719">
                <a:solidFill>
                  <a:srgbClr val="14313B"/>
                </a:solidFill>
                <a:latin typeface="Calibri (MS)"/>
                <a:ea typeface="Calibri (MS)"/>
                <a:cs typeface="Calibri (MS)"/>
                <a:sym typeface="Calibri (MS)"/>
              </a:rPr>
              <a:t>Dynamic World baru tersedia sejak 2016.</a:t>
            </a:r>
          </a:p>
        </p:txBody>
      </p:sp>
      <p:grpSp>
        <p:nvGrpSpPr>
          <p:cNvPr name="Group 86" id="86"/>
          <p:cNvGrpSpPr/>
          <p:nvPr/>
        </p:nvGrpSpPr>
        <p:grpSpPr>
          <a:xfrm rot="0">
            <a:off x="5269735" y="5708647"/>
            <a:ext cx="3560569" cy="2207260"/>
            <a:chOff x="0" y="0"/>
            <a:chExt cx="4747425" cy="2943013"/>
          </a:xfrm>
        </p:grpSpPr>
        <p:sp>
          <p:nvSpPr>
            <p:cNvPr name="Freeform 87" id="87"/>
            <p:cNvSpPr/>
            <p:nvPr/>
          </p:nvSpPr>
          <p:spPr>
            <a:xfrm flipH="false" flipV="false" rot="0">
              <a:off x="0" y="0"/>
              <a:ext cx="4747387" cy="2942975"/>
            </a:xfrm>
            <a:custGeom>
              <a:avLst/>
              <a:gdLst/>
              <a:ahLst/>
              <a:cxnLst/>
              <a:rect r="r" b="b" t="t" l="l"/>
              <a:pathLst>
                <a:path h="2942975" w="4747387">
                  <a:moveTo>
                    <a:pt x="0" y="235458"/>
                  </a:moveTo>
                  <a:cubicBezTo>
                    <a:pt x="0" y="105410"/>
                    <a:pt x="105410" y="0"/>
                    <a:pt x="235458" y="0"/>
                  </a:cubicBezTo>
                  <a:lnTo>
                    <a:pt x="4511929" y="0"/>
                  </a:lnTo>
                  <a:cubicBezTo>
                    <a:pt x="4641977" y="0"/>
                    <a:pt x="4747387" y="105410"/>
                    <a:pt x="4747387" y="235458"/>
                  </a:cubicBezTo>
                  <a:lnTo>
                    <a:pt x="4747387" y="2707517"/>
                  </a:lnTo>
                  <a:cubicBezTo>
                    <a:pt x="4747387" y="2837565"/>
                    <a:pt x="4641977" y="2942975"/>
                    <a:pt x="4511929" y="2942975"/>
                  </a:cubicBezTo>
                  <a:lnTo>
                    <a:pt x="235458" y="2942975"/>
                  </a:lnTo>
                  <a:cubicBezTo>
                    <a:pt x="105410" y="2942975"/>
                    <a:pt x="0" y="2837565"/>
                    <a:pt x="0" y="2707517"/>
                  </a:cubicBezTo>
                  <a:close/>
                </a:path>
              </a:pathLst>
            </a:custGeom>
            <a:solidFill>
              <a:srgbClr val="FFFFFF"/>
            </a:solidFill>
            <a:ln w="12700" cap="sq">
              <a:solidFill>
                <a:srgbClr val="CFE5E9"/>
              </a:solidFill>
              <a:prstDash val="solid"/>
              <a:miter/>
            </a:ln>
          </p:spPr>
          <p:txBody>
            <a:bodyPr/>
            <a:p/>
          </p:txBody>
        </p:sp>
        <p:sp>
          <p:nvSpPr>
            <p:cNvPr name="TextBox 88" id="88"/>
            <p:cNvSpPr txBox="true"/>
            <p:nvPr/>
          </p:nvSpPr>
          <p:spPr>
            <a:xfrm>
              <a:off x="0" y="-28575"/>
              <a:ext cx="4747425" cy="2971588"/>
            </a:xfrm>
            <a:prstGeom prst="rect">
              <a:avLst/>
            </a:prstGeom>
          </p:spPr>
          <p:txBody>
            <a:bodyPr anchor="t" rtlCol="false" tIns="50800" lIns="50800" bIns="50800" rIns="50800"/>
            <a:lstStyle/>
            <a:p>
              <a:pPr algn="l">
                <a:lnSpc>
                  <a:spcPts val="1788"/>
                </a:lnSpc>
              </a:pPr>
              <a:r>
                <a:rPr lang="en-US" sz="1490" b="true">
                  <a:solidFill>
                    <a:srgbClr val="0B5E6E"/>
                  </a:solidFill>
                  <a:latin typeface="Calibri (MS) Bold"/>
                  <a:ea typeface="Calibri (MS) Bold"/>
                  <a:cs typeface="Calibri (MS) Bold"/>
                  <a:sym typeface="Calibri (MS) Bold"/>
                </a:rPr>
                <a:t>Perlakuan</a:t>
              </a:r>
            </a:p>
            <a:p>
              <a:pPr algn="l">
                <a:lnSpc>
                  <a:spcPts val="2063"/>
                </a:lnSpc>
              </a:pPr>
              <a:r>
                <a:rPr lang="en-US" sz="1719">
                  <a:solidFill>
                    <a:srgbClr val="14313B"/>
                  </a:solidFill>
                  <a:latin typeface="Calibri (MS)"/>
                  <a:ea typeface="Calibri (MS)"/>
                  <a:cs typeface="Calibri (MS)"/>
                  <a:sym typeface="Calibri (MS)"/>
                </a:rPr>
                <a:t>Ekstrapolasi mundur tren log-linear 2016–2025; ditandai dan tidak dipakai menurunkan parameter.</a:t>
              </a:r>
            </a:p>
          </p:txBody>
        </p:sp>
      </p:grpSp>
      <p:grpSp>
        <p:nvGrpSpPr>
          <p:cNvPr name="Group 89" id="89"/>
          <p:cNvGrpSpPr/>
          <p:nvPr/>
        </p:nvGrpSpPr>
        <p:grpSpPr>
          <a:xfrm rot="0">
            <a:off x="9265663" y="2325367"/>
            <a:ext cx="4017769" cy="5773417"/>
            <a:chOff x="0" y="0"/>
            <a:chExt cx="5357025" cy="7697889"/>
          </a:xfrm>
        </p:grpSpPr>
        <p:sp>
          <p:nvSpPr>
            <p:cNvPr name="Freeform 90" id="90"/>
            <p:cNvSpPr/>
            <p:nvPr/>
          </p:nvSpPr>
          <p:spPr>
            <a:xfrm flipH="false" flipV="false" rot="0">
              <a:off x="0" y="0"/>
              <a:ext cx="5357114" cy="7697978"/>
            </a:xfrm>
            <a:custGeom>
              <a:avLst/>
              <a:gdLst/>
              <a:ahLst/>
              <a:cxnLst/>
              <a:rect r="r" b="b" t="t" l="l"/>
              <a:pathLst>
                <a:path h="7697978" w="5357114">
                  <a:moveTo>
                    <a:pt x="0" y="428625"/>
                  </a:moveTo>
                  <a:cubicBezTo>
                    <a:pt x="0" y="191897"/>
                    <a:pt x="191897" y="0"/>
                    <a:pt x="428625" y="0"/>
                  </a:cubicBezTo>
                  <a:lnTo>
                    <a:pt x="4928489" y="0"/>
                  </a:lnTo>
                  <a:cubicBezTo>
                    <a:pt x="5165217" y="0"/>
                    <a:pt x="5357114" y="191897"/>
                    <a:pt x="5357114" y="428625"/>
                  </a:cubicBezTo>
                  <a:lnTo>
                    <a:pt x="5357114" y="7269353"/>
                  </a:lnTo>
                  <a:cubicBezTo>
                    <a:pt x="5357114" y="7506081"/>
                    <a:pt x="5165217" y="7697978"/>
                    <a:pt x="4928489" y="7697978"/>
                  </a:cubicBezTo>
                  <a:lnTo>
                    <a:pt x="428625" y="7697978"/>
                  </a:lnTo>
                  <a:cubicBezTo>
                    <a:pt x="191897" y="7697851"/>
                    <a:pt x="0" y="7506081"/>
                    <a:pt x="0" y="7269353"/>
                  </a:cubicBezTo>
                  <a:close/>
                </a:path>
              </a:pathLst>
            </a:custGeom>
            <a:solidFill>
              <a:srgbClr val="EAF8FA"/>
            </a:solidFill>
            <a:ln w="12700" cap="sq">
              <a:solidFill>
                <a:srgbClr val="CFE5E9"/>
              </a:solidFill>
              <a:prstDash val="solid"/>
              <a:miter/>
            </a:ln>
          </p:spPr>
          <p:txBody>
            <a:bodyPr/>
            <a:p/>
          </p:txBody>
        </p:sp>
      </p:grpSp>
      <p:grpSp>
        <p:nvGrpSpPr>
          <p:cNvPr name="Group 91" id="91"/>
          <p:cNvGrpSpPr/>
          <p:nvPr/>
        </p:nvGrpSpPr>
        <p:grpSpPr>
          <a:xfrm rot="0">
            <a:off x="9500616" y="2560320"/>
            <a:ext cx="548640" cy="548640"/>
            <a:chOff x="0" y="0"/>
            <a:chExt cx="731520" cy="731520"/>
          </a:xfrm>
        </p:grpSpPr>
        <p:sp>
          <p:nvSpPr>
            <p:cNvPr name="Freeform 92" id="92"/>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93" id="93"/>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3</a:t>
              </a:r>
            </a:p>
          </p:txBody>
        </p:sp>
      </p:grpSp>
      <p:sp>
        <p:nvSpPr>
          <p:cNvPr name="TextBox 94" id="94"/>
          <p:cNvSpPr txBox="true"/>
          <p:nvPr/>
        </p:nvSpPr>
        <p:spPr>
          <a:xfrm rot="0">
            <a:off x="10186416" y="2512695"/>
            <a:ext cx="2926080" cy="870585"/>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Lonjakan akomodasi 2018</a:t>
            </a:r>
          </a:p>
        </p:txBody>
      </p:sp>
      <p:sp>
        <p:nvSpPr>
          <p:cNvPr name="TextBox 95" id="95"/>
          <p:cNvSpPr txBox="true"/>
          <p:nvPr/>
        </p:nvSpPr>
        <p:spPr>
          <a:xfrm rot="0">
            <a:off x="9546336" y="3629025"/>
            <a:ext cx="3474720" cy="394335"/>
          </a:xfrm>
          <a:prstGeom prst="rect">
            <a:avLst/>
          </a:prstGeom>
        </p:spPr>
        <p:txBody>
          <a:bodyPr anchor="t" rtlCol="false" tIns="0" lIns="0" bIns="0" rIns="0">
            <a:spAutoFit/>
          </a:bodyPr>
          <a:lstStyle/>
          <a:p>
            <a:pPr algn="l">
              <a:lnSpc>
                <a:spcPts val="1788"/>
              </a:lnSpc>
            </a:pPr>
            <a:r>
              <a:rPr lang="en-US" sz="1490" b="true">
                <a:solidFill>
                  <a:srgbClr val="E4604F"/>
                </a:solidFill>
                <a:latin typeface="Calibri (MS) Bold"/>
                <a:ea typeface="Calibri (MS) Bold"/>
                <a:cs typeface="Calibri (MS) Bold"/>
                <a:sym typeface="Calibri (MS) Bold"/>
              </a:rPr>
              <a:t>Masalah</a:t>
            </a:r>
          </a:p>
        </p:txBody>
      </p:sp>
      <p:sp>
        <p:nvSpPr>
          <p:cNvPr name="TextBox 96" id="96"/>
          <p:cNvSpPr txBox="true"/>
          <p:nvPr/>
        </p:nvSpPr>
        <p:spPr>
          <a:xfrm rot="0">
            <a:off x="9546336" y="3985260"/>
            <a:ext cx="3474720" cy="1501140"/>
          </a:xfrm>
          <a:prstGeom prst="rect">
            <a:avLst/>
          </a:prstGeom>
        </p:spPr>
        <p:txBody>
          <a:bodyPr anchor="t" rtlCol="false" tIns="0" lIns="0" bIns="0" rIns="0">
            <a:spAutoFit/>
          </a:bodyPr>
          <a:lstStyle/>
          <a:p>
            <a:pPr algn="l">
              <a:lnSpc>
                <a:spcPts val="2063"/>
              </a:lnSpc>
            </a:pPr>
            <a:r>
              <a:rPr lang="en-US" sz="1719">
                <a:solidFill>
                  <a:srgbClr val="14313B"/>
                </a:solidFill>
                <a:latin typeface="Calibri (MS)"/>
                <a:ea typeface="Calibri (MS)"/>
                <a:cs typeface="Calibri (MS)"/>
                <a:sym typeface="Calibri (MS)"/>
              </a:rPr>
              <a:t>+438 unit, hampir seluruhnya non-bintang; diduga perluasan cakupan pendataan.</a:t>
            </a:r>
          </a:p>
        </p:txBody>
      </p:sp>
      <p:grpSp>
        <p:nvGrpSpPr>
          <p:cNvPr name="Group 97" id="97"/>
          <p:cNvGrpSpPr/>
          <p:nvPr/>
        </p:nvGrpSpPr>
        <p:grpSpPr>
          <a:xfrm rot="0">
            <a:off x="9494263" y="5708647"/>
            <a:ext cx="3560569" cy="2207257"/>
            <a:chOff x="0" y="0"/>
            <a:chExt cx="4747425" cy="2943009"/>
          </a:xfrm>
        </p:grpSpPr>
        <p:sp>
          <p:nvSpPr>
            <p:cNvPr name="Freeform 98" id="98"/>
            <p:cNvSpPr/>
            <p:nvPr/>
          </p:nvSpPr>
          <p:spPr>
            <a:xfrm flipH="false" flipV="false" rot="0">
              <a:off x="0" y="0"/>
              <a:ext cx="4747387" cy="2942971"/>
            </a:xfrm>
            <a:custGeom>
              <a:avLst/>
              <a:gdLst/>
              <a:ahLst/>
              <a:cxnLst/>
              <a:rect r="r" b="b" t="t" l="l"/>
              <a:pathLst>
                <a:path h="2942971" w="4747387">
                  <a:moveTo>
                    <a:pt x="0" y="235458"/>
                  </a:moveTo>
                  <a:cubicBezTo>
                    <a:pt x="0" y="105410"/>
                    <a:pt x="105410" y="0"/>
                    <a:pt x="235458" y="0"/>
                  </a:cubicBezTo>
                  <a:lnTo>
                    <a:pt x="4511929" y="0"/>
                  </a:lnTo>
                  <a:cubicBezTo>
                    <a:pt x="4641977" y="0"/>
                    <a:pt x="4747387" y="105410"/>
                    <a:pt x="4747387" y="235458"/>
                  </a:cubicBezTo>
                  <a:lnTo>
                    <a:pt x="4747387" y="2707513"/>
                  </a:lnTo>
                  <a:cubicBezTo>
                    <a:pt x="4747387" y="2837561"/>
                    <a:pt x="4641977" y="2942971"/>
                    <a:pt x="4511929" y="2942971"/>
                  </a:cubicBezTo>
                  <a:lnTo>
                    <a:pt x="235458" y="2942971"/>
                  </a:lnTo>
                  <a:cubicBezTo>
                    <a:pt x="105410" y="2942971"/>
                    <a:pt x="0" y="2837561"/>
                    <a:pt x="0" y="2707513"/>
                  </a:cubicBezTo>
                  <a:close/>
                </a:path>
              </a:pathLst>
            </a:custGeom>
            <a:solidFill>
              <a:srgbClr val="FFFFFF"/>
            </a:solidFill>
            <a:ln w="12700" cap="sq">
              <a:solidFill>
                <a:srgbClr val="CFE5E9"/>
              </a:solidFill>
              <a:prstDash val="solid"/>
              <a:miter/>
            </a:ln>
          </p:spPr>
          <p:txBody>
            <a:bodyPr/>
            <a:p/>
          </p:txBody>
        </p:sp>
        <p:sp>
          <p:nvSpPr>
            <p:cNvPr name="TextBox 99" id="99"/>
            <p:cNvSpPr txBox="true"/>
            <p:nvPr/>
          </p:nvSpPr>
          <p:spPr>
            <a:xfrm>
              <a:off x="0" y="-28575"/>
              <a:ext cx="4747425" cy="2971584"/>
            </a:xfrm>
            <a:prstGeom prst="rect">
              <a:avLst/>
            </a:prstGeom>
          </p:spPr>
          <p:txBody>
            <a:bodyPr anchor="t" rtlCol="false" tIns="50800" lIns="50800" bIns="50800" rIns="50800"/>
            <a:lstStyle/>
            <a:p>
              <a:pPr algn="l">
                <a:lnSpc>
                  <a:spcPts val="1788"/>
                </a:lnSpc>
              </a:pPr>
              <a:r>
                <a:rPr lang="en-US" sz="1490" b="true">
                  <a:solidFill>
                    <a:srgbClr val="0B5E6E"/>
                  </a:solidFill>
                  <a:latin typeface="Calibri (MS) Bold"/>
                  <a:ea typeface="Calibri (MS) Bold"/>
                  <a:cs typeface="Calibri (MS) Bold"/>
                  <a:sym typeface="Calibri (MS) Bold"/>
                </a:rPr>
                <a:t>Perlakuan</a:t>
              </a:r>
            </a:p>
            <a:p>
              <a:pPr algn="l">
                <a:lnSpc>
                  <a:spcPts val="2063"/>
                </a:lnSpc>
              </a:pPr>
              <a:r>
                <a:rPr lang="en-US" sz="1719">
                  <a:solidFill>
                    <a:srgbClr val="14313B"/>
                  </a:solidFill>
                  <a:latin typeface="Calibri (MS)"/>
                  <a:ea typeface="Calibri (MS)"/>
                  <a:cs typeface="Calibri (MS)"/>
                  <a:sym typeface="Calibri (MS)"/>
                </a:rPr>
                <a:t>Dipertahankan apa adanya (tidak ada dasar koreksi); dicatat dan diperiksa pada kalibrasi Tahap 1.</a:t>
              </a:r>
            </a:p>
          </p:txBody>
        </p:sp>
      </p:grpSp>
      <p:grpSp>
        <p:nvGrpSpPr>
          <p:cNvPr name="Group 100" id="100"/>
          <p:cNvGrpSpPr/>
          <p:nvPr/>
        </p:nvGrpSpPr>
        <p:grpSpPr>
          <a:xfrm rot="0">
            <a:off x="13490191" y="2325367"/>
            <a:ext cx="4017769" cy="5773417"/>
            <a:chOff x="0" y="0"/>
            <a:chExt cx="5357025" cy="7697889"/>
          </a:xfrm>
        </p:grpSpPr>
        <p:sp>
          <p:nvSpPr>
            <p:cNvPr name="Freeform 101" id="101"/>
            <p:cNvSpPr/>
            <p:nvPr/>
          </p:nvSpPr>
          <p:spPr>
            <a:xfrm flipH="false" flipV="false" rot="0">
              <a:off x="0" y="0"/>
              <a:ext cx="5357114" cy="7697978"/>
            </a:xfrm>
            <a:custGeom>
              <a:avLst/>
              <a:gdLst/>
              <a:ahLst/>
              <a:cxnLst/>
              <a:rect r="r" b="b" t="t" l="l"/>
              <a:pathLst>
                <a:path h="7697978" w="5357114">
                  <a:moveTo>
                    <a:pt x="0" y="428625"/>
                  </a:moveTo>
                  <a:cubicBezTo>
                    <a:pt x="0" y="191897"/>
                    <a:pt x="191897" y="0"/>
                    <a:pt x="428625" y="0"/>
                  </a:cubicBezTo>
                  <a:lnTo>
                    <a:pt x="4928489" y="0"/>
                  </a:lnTo>
                  <a:cubicBezTo>
                    <a:pt x="5165217" y="0"/>
                    <a:pt x="5357114" y="191897"/>
                    <a:pt x="5357114" y="428625"/>
                  </a:cubicBezTo>
                  <a:lnTo>
                    <a:pt x="5357114" y="7269353"/>
                  </a:lnTo>
                  <a:cubicBezTo>
                    <a:pt x="5357114" y="7506081"/>
                    <a:pt x="5165217" y="7697978"/>
                    <a:pt x="4928489" y="7697978"/>
                  </a:cubicBezTo>
                  <a:lnTo>
                    <a:pt x="428625" y="7697978"/>
                  </a:lnTo>
                  <a:cubicBezTo>
                    <a:pt x="191897" y="7697851"/>
                    <a:pt x="0" y="7506081"/>
                    <a:pt x="0" y="7269353"/>
                  </a:cubicBezTo>
                  <a:close/>
                </a:path>
              </a:pathLst>
            </a:custGeom>
            <a:solidFill>
              <a:srgbClr val="EAF8FA"/>
            </a:solidFill>
            <a:ln w="12700" cap="sq">
              <a:solidFill>
                <a:srgbClr val="CFE5E9"/>
              </a:solidFill>
              <a:prstDash val="solid"/>
              <a:miter/>
            </a:ln>
          </p:spPr>
          <p:txBody>
            <a:bodyPr/>
            <a:p/>
          </p:txBody>
        </p:sp>
      </p:grpSp>
      <p:grpSp>
        <p:nvGrpSpPr>
          <p:cNvPr name="Group 102" id="102"/>
          <p:cNvGrpSpPr/>
          <p:nvPr/>
        </p:nvGrpSpPr>
        <p:grpSpPr>
          <a:xfrm rot="0">
            <a:off x="13725144" y="2560320"/>
            <a:ext cx="548640" cy="548640"/>
            <a:chOff x="0" y="0"/>
            <a:chExt cx="731520" cy="731520"/>
          </a:xfrm>
        </p:grpSpPr>
        <p:sp>
          <p:nvSpPr>
            <p:cNvPr name="Freeform 103" id="103"/>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104" id="104"/>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4</a:t>
              </a:r>
            </a:p>
          </p:txBody>
        </p:sp>
      </p:grpSp>
      <p:sp>
        <p:nvSpPr>
          <p:cNvPr name="TextBox 105" id="105"/>
          <p:cNvSpPr txBox="true"/>
          <p:nvPr/>
        </p:nvSpPr>
        <p:spPr>
          <a:xfrm rot="0">
            <a:off x="14410944" y="2512695"/>
            <a:ext cx="2926080" cy="870585"/>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Pandemi 2020–2021</a:t>
            </a:r>
          </a:p>
        </p:txBody>
      </p:sp>
      <p:sp>
        <p:nvSpPr>
          <p:cNvPr name="TextBox 106" id="106"/>
          <p:cNvSpPr txBox="true"/>
          <p:nvPr/>
        </p:nvSpPr>
        <p:spPr>
          <a:xfrm rot="0">
            <a:off x="13770864" y="3629025"/>
            <a:ext cx="3474720" cy="394335"/>
          </a:xfrm>
          <a:prstGeom prst="rect">
            <a:avLst/>
          </a:prstGeom>
        </p:spPr>
        <p:txBody>
          <a:bodyPr anchor="t" rtlCol="false" tIns="0" lIns="0" bIns="0" rIns="0">
            <a:spAutoFit/>
          </a:bodyPr>
          <a:lstStyle/>
          <a:p>
            <a:pPr algn="l">
              <a:lnSpc>
                <a:spcPts val="1788"/>
              </a:lnSpc>
            </a:pPr>
            <a:r>
              <a:rPr lang="en-US" sz="1490" b="true">
                <a:solidFill>
                  <a:srgbClr val="E4604F"/>
                </a:solidFill>
                <a:latin typeface="Calibri (MS) Bold"/>
                <a:ea typeface="Calibri (MS) Bold"/>
                <a:cs typeface="Calibri (MS) Bold"/>
                <a:sym typeface="Calibri (MS) Bold"/>
              </a:rPr>
              <a:t>Masalah</a:t>
            </a:r>
          </a:p>
        </p:txBody>
      </p:sp>
      <p:sp>
        <p:nvSpPr>
          <p:cNvPr name="TextBox 107" id="107"/>
          <p:cNvSpPr txBox="true"/>
          <p:nvPr/>
        </p:nvSpPr>
        <p:spPr>
          <a:xfrm rot="0">
            <a:off x="13770864" y="3985260"/>
            <a:ext cx="3474720" cy="1501140"/>
          </a:xfrm>
          <a:prstGeom prst="rect">
            <a:avLst/>
          </a:prstGeom>
        </p:spPr>
        <p:txBody>
          <a:bodyPr anchor="t" rtlCol="false" tIns="0" lIns="0" bIns="0" rIns="0">
            <a:spAutoFit/>
          </a:bodyPr>
          <a:lstStyle/>
          <a:p>
            <a:pPr algn="l">
              <a:lnSpc>
                <a:spcPts val="2063"/>
              </a:lnSpc>
            </a:pPr>
            <a:r>
              <a:rPr lang="en-US" sz="1719">
                <a:solidFill>
                  <a:srgbClr val="14313B"/>
                </a:solidFill>
                <a:latin typeface="Calibri (MS)"/>
                <a:ea typeface="Calibri (MS)"/>
                <a:cs typeface="Calibri (MS)"/>
                <a:sym typeface="Calibri (MS)"/>
              </a:rPr>
              <a:t>Shock dari luar yang tidak dimodelkan.</a:t>
            </a:r>
          </a:p>
        </p:txBody>
      </p:sp>
      <p:grpSp>
        <p:nvGrpSpPr>
          <p:cNvPr name="Group 108" id="108"/>
          <p:cNvGrpSpPr/>
          <p:nvPr/>
        </p:nvGrpSpPr>
        <p:grpSpPr>
          <a:xfrm rot="0">
            <a:off x="13718791" y="5708647"/>
            <a:ext cx="3560569" cy="2207257"/>
            <a:chOff x="0" y="0"/>
            <a:chExt cx="4747425" cy="2943009"/>
          </a:xfrm>
        </p:grpSpPr>
        <p:sp>
          <p:nvSpPr>
            <p:cNvPr name="Freeform 109" id="109"/>
            <p:cNvSpPr/>
            <p:nvPr/>
          </p:nvSpPr>
          <p:spPr>
            <a:xfrm flipH="false" flipV="false" rot="0">
              <a:off x="0" y="0"/>
              <a:ext cx="4747387" cy="2942971"/>
            </a:xfrm>
            <a:custGeom>
              <a:avLst/>
              <a:gdLst/>
              <a:ahLst/>
              <a:cxnLst/>
              <a:rect r="r" b="b" t="t" l="l"/>
              <a:pathLst>
                <a:path h="2942971" w="4747387">
                  <a:moveTo>
                    <a:pt x="0" y="235458"/>
                  </a:moveTo>
                  <a:cubicBezTo>
                    <a:pt x="0" y="105410"/>
                    <a:pt x="105410" y="0"/>
                    <a:pt x="235458" y="0"/>
                  </a:cubicBezTo>
                  <a:lnTo>
                    <a:pt x="4511929" y="0"/>
                  </a:lnTo>
                  <a:cubicBezTo>
                    <a:pt x="4641977" y="0"/>
                    <a:pt x="4747387" y="105410"/>
                    <a:pt x="4747387" y="235458"/>
                  </a:cubicBezTo>
                  <a:lnTo>
                    <a:pt x="4747387" y="2707513"/>
                  </a:lnTo>
                  <a:cubicBezTo>
                    <a:pt x="4747387" y="2837561"/>
                    <a:pt x="4641977" y="2942971"/>
                    <a:pt x="4511929" y="2942971"/>
                  </a:cubicBezTo>
                  <a:lnTo>
                    <a:pt x="235458" y="2942971"/>
                  </a:lnTo>
                  <a:cubicBezTo>
                    <a:pt x="105410" y="2942971"/>
                    <a:pt x="0" y="2837561"/>
                    <a:pt x="0" y="2707513"/>
                  </a:cubicBezTo>
                  <a:close/>
                </a:path>
              </a:pathLst>
            </a:custGeom>
            <a:solidFill>
              <a:srgbClr val="FFFFFF"/>
            </a:solidFill>
            <a:ln w="12700" cap="sq">
              <a:solidFill>
                <a:srgbClr val="CFE5E9"/>
              </a:solidFill>
              <a:prstDash val="solid"/>
              <a:miter/>
            </a:ln>
          </p:spPr>
          <p:txBody>
            <a:bodyPr/>
            <a:p/>
          </p:txBody>
        </p:sp>
        <p:sp>
          <p:nvSpPr>
            <p:cNvPr name="TextBox 110" id="110"/>
            <p:cNvSpPr txBox="true"/>
            <p:nvPr/>
          </p:nvSpPr>
          <p:spPr>
            <a:xfrm>
              <a:off x="0" y="-28575"/>
              <a:ext cx="4747425" cy="2971584"/>
            </a:xfrm>
            <a:prstGeom prst="rect">
              <a:avLst/>
            </a:prstGeom>
          </p:spPr>
          <p:txBody>
            <a:bodyPr anchor="t" rtlCol="false" tIns="50800" lIns="50800" bIns="50800" rIns="50800"/>
            <a:lstStyle/>
            <a:p>
              <a:pPr algn="l">
                <a:lnSpc>
                  <a:spcPts val="1788"/>
                </a:lnSpc>
              </a:pPr>
              <a:r>
                <a:rPr lang="en-US" sz="1490" b="true">
                  <a:solidFill>
                    <a:srgbClr val="0B5E6E"/>
                  </a:solidFill>
                  <a:latin typeface="Calibri (MS) Bold"/>
                  <a:ea typeface="Calibri (MS) Bold"/>
                  <a:cs typeface="Calibri (MS) Bold"/>
                  <a:sym typeface="Calibri (MS) Bold"/>
                </a:rPr>
                <a:t>Perlakuan</a:t>
              </a:r>
            </a:p>
            <a:p>
              <a:pPr algn="l">
                <a:lnSpc>
                  <a:spcPts val="2063"/>
                </a:lnSpc>
              </a:pPr>
              <a:r>
                <a:rPr lang="en-US" sz="1719">
                  <a:solidFill>
                    <a:srgbClr val="14313B"/>
                  </a:solidFill>
                  <a:latin typeface="Calibri (MS)"/>
                  <a:ea typeface="Calibri (MS)"/>
                  <a:cs typeface="Calibri (MS)"/>
                  <a:sym typeface="Calibri (MS)"/>
                </a:rPr>
                <a:t>Tetap disimulasikan; statistik uji dilaporkan dua versi (dengan dan tanpa 2020–2021).</a:t>
              </a:r>
            </a:p>
          </p:txBody>
        </p:sp>
      </p:grpSp>
      <p:grpSp>
        <p:nvGrpSpPr>
          <p:cNvPr name="Group 111" id="111"/>
          <p:cNvGrpSpPr/>
          <p:nvPr/>
        </p:nvGrpSpPr>
        <p:grpSpPr>
          <a:xfrm rot="0">
            <a:off x="816607" y="8451847"/>
            <a:ext cx="16654777" cy="881377"/>
            <a:chOff x="0" y="0"/>
            <a:chExt cx="22206369" cy="1175169"/>
          </a:xfrm>
        </p:grpSpPr>
        <p:sp>
          <p:nvSpPr>
            <p:cNvPr name="Freeform 112" id="112"/>
            <p:cNvSpPr/>
            <p:nvPr/>
          </p:nvSpPr>
          <p:spPr>
            <a:xfrm flipH="false" flipV="false" rot="0">
              <a:off x="0" y="0"/>
              <a:ext cx="22206331" cy="1175131"/>
            </a:xfrm>
            <a:custGeom>
              <a:avLst/>
              <a:gdLst/>
              <a:ahLst/>
              <a:cxnLst/>
              <a:rect r="r" b="b" t="t" l="l"/>
              <a:pathLst>
                <a:path h="1175131" w="22206331">
                  <a:moveTo>
                    <a:pt x="0" y="93980"/>
                  </a:moveTo>
                  <a:cubicBezTo>
                    <a:pt x="0" y="42037"/>
                    <a:pt x="42037" y="0"/>
                    <a:pt x="93980" y="0"/>
                  </a:cubicBezTo>
                  <a:lnTo>
                    <a:pt x="22112351" y="0"/>
                  </a:lnTo>
                  <a:cubicBezTo>
                    <a:pt x="22164294" y="0"/>
                    <a:pt x="22206331" y="42037"/>
                    <a:pt x="22206331" y="93980"/>
                  </a:cubicBezTo>
                  <a:lnTo>
                    <a:pt x="22206331" y="1081151"/>
                  </a:lnTo>
                  <a:cubicBezTo>
                    <a:pt x="22206331" y="1133094"/>
                    <a:pt x="22164294" y="1175131"/>
                    <a:pt x="22112351" y="1175131"/>
                  </a:cubicBezTo>
                  <a:lnTo>
                    <a:pt x="93980" y="1175131"/>
                  </a:lnTo>
                  <a:cubicBezTo>
                    <a:pt x="42037" y="1175131"/>
                    <a:pt x="0" y="1133094"/>
                    <a:pt x="0" y="1081151"/>
                  </a:cubicBezTo>
                  <a:close/>
                </a:path>
              </a:pathLst>
            </a:custGeom>
            <a:solidFill>
              <a:srgbClr val="FFF1BF"/>
            </a:solidFill>
            <a:ln w="12700" cap="sq">
              <a:solidFill>
                <a:srgbClr val="FFD23B"/>
              </a:solidFill>
              <a:prstDash val="solid"/>
              <a:miter/>
            </a:ln>
          </p:spPr>
          <p:txBody>
            <a:bodyPr/>
            <a:p/>
          </p:txBody>
        </p:sp>
        <p:sp>
          <p:nvSpPr>
            <p:cNvPr name="TextBox 113" id="113"/>
            <p:cNvSpPr txBox="true"/>
            <p:nvPr/>
          </p:nvSpPr>
          <p:spPr>
            <a:xfrm>
              <a:off x="0" y="-38100"/>
              <a:ext cx="22206369" cy="121326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Perlakuan ditetapkan sebelum model dijalankan, sehingga tidak disesuaikan dengan hasil simulasi.</a:t>
              </a:r>
            </a:p>
          </p:txBody>
        </p:sp>
      </p:grpSp>
      <p:grpSp>
        <p:nvGrpSpPr>
          <p:cNvPr name="Group 114" id="114"/>
          <p:cNvGrpSpPr/>
          <p:nvPr/>
        </p:nvGrpSpPr>
        <p:grpSpPr>
          <a:xfrm rot="0">
            <a:off x="16047720" y="9646920"/>
            <a:ext cx="420624" cy="420624"/>
            <a:chOff x="0" y="0"/>
            <a:chExt cx="560832" cy="560832"/>
          </a:xfrm>
        </p:grpSpPr>
        <p:sp>
          <p:nvSpPr>
            <p:cNvPr name="Freeform 115" id="115"/>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16" id="116"/>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B5E6E"/>
        </a:solidFill>
      </p:bgPr>
    </p:bg>
    <p:spTree>
      <p:nvGrpSpPr>
        <p:cNvPr id="1" name=""/>
        <p:cNvGrpSpPr/>
        <p:nvPr/>
      </p:nvGrpSpPr>
      <p:grpSpPr>
        <a:xfrm>
          <a:off x="0" y="0"/>
          <a:ext cx="0" cy="0"/>
          <a:chOff x="0" y="0"/>
          <a:chExt cx="0" cy="0"/>
        </a:xfrm>
      </p:grpSpPr>
      <p:grpSp>
        <p:nvGrpSpPr>
          <p:cNvPr name="Group 2" id="2"/>
          <p:cNvGrpSpPr/>
          <p:nvPr/>
        </p:nvGrpSpPr>
        <p:grpSpPr>
          <a:xfrm rot="0">
            <a:off x="8462772" y="1645920"/>
            <a:ext cx="1371600" cy="1371600"/>
            <a:chOff x="0" y="0"/>
            <a:chExt cx="1828800" cy="1828800"/>
          </a:xfrm>
        </p:grpSpPr>
        <p:sp>
          <p:nvSpPr>
            <p:cNvPr name="Freeform 3" id="3"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3497580"/>
            <a:ext cx="16637508" cy="1371600"/>
            <a:chOff x="0" y="0"/>
            <a:chExt cx="22183344" cy="1828800"/>
          </a:xfrm>
        </p:grpSpPr>
        <p:sp>
          <p:nvSpPr>
            <p:cNvPr name="Freeform 5" id="5"/>
            <p:cNvSpPr/>
            <p:nvPr/>
          </p:nvSpPr>
          <p:spPr>
            <a:xfrm flipH="false" flipV="false" rot="0">
              <a:off x="0" y="0"/>
              <a:ext cx="22183344" cy="1828800"/>
            </a:xfrm>
            <a:custGeom>
              <a:avLst/>
              <a:gdLst/>
              <a:ahLst/>
              <a:cxnLst/>
              <a:rect r="r" b="b" t="t" l="l"/>
              <a:pathLst>
                <a:path h="1828800" w="22183344">
                  <a:moveTo>
                    <a:pt x="0" y="0"/>
                  </a:moveTo>
                  <a:lnTo>
                    <a:pt x="22183344" y="0"/>
                  </a:lnTo>
                  <a:lnTo>
                    <a:pt x="22183344" y="1828800"/>
                  </a:lnTo>
                  <a:lnTo>
                    <a:pt x="0" y="1828800"/>
                  </a:lnTo>
                  <a:close/>
                </a:path>
              </a:pathLst>
            </a:custGeom>
            <a:blipFill>
              <a:blip r:embed="rId4">
                <a:alphaModFix amt="0"/>
              </a:blip>
              <a:stretch>
                <a:fillRect l="0" t="-186188" r="0" b="-186189"/>
              </a:stretch>
            </a:blipFill>
          </p:spPr>
          <p:txBody>
            <a:bodyPr/>
            <a:p/>
          </p:txBody>
        </p:sp>
      </p:grpSp>
      <p:grpSp>
        <p:nvGrpSpPr>
          <p:cNvPr name="Group 6" id="6"/>
          <p:cNvGrpSpPr/>
          <p:nvPr/>
        </p:nvGrpSpPr>
        <p:grpSpPr>
          <a:xfrm rot="0">
            <a:off x="822960" y="3376136"/>
            <a:ext cx="16637508" cy="1493044"/>
            <a:chOff x="0" y="0"/>
            <a:chExt cx="22183344" cy="1990725"/>
          </a:xfrm>
        </p:grpSpPr>
        <p:sp>
          <p:nvSpPr>
            <p:cNvPr name="Freeform 7" id="7"/>
            <p:cNvSpPr/>
            <p:nvPr/>
          </p:nvSpPr>
          <p:spPr>
            <a:xfrm flipH="false" flipV="false" rot="0">
              <a:off x="0" y="0"/>
              <a:ext cx="22183344" cy="1990725"/>
            </a:xfrm>
            <a:custGeom>
              <a:avLst/>
              <a:gdLst/>
              <a:ahLst/>
              <a:cxnLst/>
              <a:rect r="r" b="b" t="t" l="l"/>
              <a:pathLst>
                <a:path h="1990725" w="22183344">
                  <a:moveTo>
                    <a:pt x="0" y="0"/>
                  </a:moveTo>
                  <a:lnTo>
                    <a:pt x="22183344" y="0"/>
                  </a:lnTo>
                  <a:lnTo>
                    <a:pt x="22183344" y="1990725"/>
                  </a:lnTo>
                  <a:lnTo>
                    <a:pt x="0" y="1990725"/>
                  </a:lnTo>
                  <a:close/>
                </a:path>
              </a:pathLst>
            </a:custGeom>
            <a:blipFill>
              <a:blip r:embed="rId5">
                <a:alphaModFix amt="0"/>
              </a:blip>
              <a:stretch>
                <a:fillRect l="0" t="-166977" r="0" b="-166977"/>
              </a:stretch>
            </a:blipFill>
          </p:spPr>
          <p:txBody>
            <a:bodyPr/>
            <a:p/>
          </p:txBody>
        </p:sp>
      </p:grpSp>
      <p:grpSp>
        <p:nvGrpSpPr>
          <p:cNvPr name="Group 8" id="8"/>
          <p:cNvGrpSpPr/>
          <p:nvPr/>
        </p:nvGrpSpPr>
        <p:grpSpPr>
          <a:xfrm rot="0">
            <a:off x="822960" y="3254692"/>
            <a:ext cx="16637508" cy="1614488"/>
            <a:chOff x="0" y="0"/>
            <a:chExt cx="22183344" cy="2152650"/>
          </a:xfrm>
        </p:grpSpPr>
        <p:sp>
          <p:nvSpPr>
            <p:cNvPr name="Freeform 9" id="9"/>
            <p:cNvSpPr/>
            <p:nvPr/>
          </p:nvSpPr>
          <p:spPr>
            <a:xfrm flipH="false" flipV="false" rot="0">
              <a:off x="0" y="0"/>
              <a:ext cx="22183344" cy="2152650"/>
            </a:xfrm>
            <a:custGeom>
              <a:avLst/>
              <a:gdLst/>
              <a:ahLst/>
              <a:cxnLst/>
              <a:rect r="r" b="b" t="t" l="l"/>
              <a:pathLst>
                <a:path h="2152650" w="22183344">
                  <a:moveTo>
                    <a:pt x="0" y="0"/>
                  </a:moveTo>
                  <a:lnTo>
                    <a:pt x="22183344" y="0"/>
                  </a:lnTo>
                  <a:lnTo>
                    <a:pt x="22183344" y="2152650"/>
                  </a:lnTo>
                  <a:lnTo>
                    <a:pt x="0" y="2152650"/>
                  </a:lnTo>
                  <a:close/>
                </a:path>
              </a:pathLst>
            </a:custGeom>
            <a:blipFill>
              <a:blip r:embed="rId6">
                <a:alphaModFix amt="0"/>
              </a:blip>
              <a:stretch>
                <a:fillRect l="0" t="-150795" r="0" b="-150795"/>
              </a:stretch>
            </a:blipFill>
          </p:spPr>
          <p:txBody>
            <a:bodyPr/>
            <a:p/>
          </p:txBody>
        </p:sp>
        <p:sp>
          <p:nvSpPr>
            <p:cNvPr name="TextBox 10" id="10"/>
            <p:cNvSpPr txBox="true"/>
            <p:nvPr/>
          </p:nvSpPr>
          <p:spPr>
            <a:xfrm>
              <a:off x="0" y="-161925"/>
              <a:ext cx="22183344" cy="2314575"/>
            </a:xfrm>
            <a:prstGeom prst="rect">
              <a:avLst/>
            </a:prstGeom>
          </p:spPr>
          <p:txBody>
            <a:bodyPr anchor="ctr" rtlCol="false" tIns="0" lIns="0" bIns="0" rIns="0"/>
            <a:lstStyle/>
            <a:p>
              <a:pPr algn="ctr">
                <a:lnSpc>
                  <a:spcPts val="9360"/>
                </a:lnSpc>
              </a:pPr>
              <a:r>
                <a:rPr lang="en-US" sz="7800" b="true">
                  <a:solidFill>
                    <a:srgbClr val="FFD23B"/>
                  </a:solidFill>
                  <a:latin typeface="Calibri (MS) Bold"/>
                  <a:ea typeface="Calibri (MS) Bold"/>
                  <a:cs typeface="Calibri (MS) Bold"/>
                  <a:sym typeface="Calibri (MS) Bold"/>
                </a:rPr>
                <a:t>Tujuan 1</a:t>
              </a:r>
            </a:p>
          </p:txBody>
        </p:sp>
      </p:grpSp>
      <p:sp>
        <p:nvSpPr>
          <p:cNvPr name="TextBox 11" id="11"/>
          <p:cNvSpPr txBox="true"/>
          <p:nvPr/>
        </p:nvSpPr>
        <p:spPr>
          <a:xfrm rot="0">
            <a:off x="2057400" y="4922520"/>
            <a:ext cx="14168628" cy="1249680"/>
          </a:xfrm>
          <a:prstGeom prst="rect">
            <a:avLst/>
          </a:prstGeom>
        </p:spPr>
        <p:txBody>
          <a:bodyPr anchor="t" rtlCol="false" tIns="0" lIns="0" bIns="0" rIns="0">
            <a:spAutoFit/>
          </a:bodyPr>
          <a:lstStyle/>
          <a:p>
            <a:pPr algn="ctr">
              <a:lnSpc>
                <a:spcPts val="3060"/>
              </a:lnSpc>
            </a:pPr>
            <a:r>
              <a:rPr lang="en-US" sz="2400">
                <a:solidFill>
                  <a:srgbClr val="FFFFFF"/>
                </a:solidFill>
                <a:latin typeface="Calibri (MS)"/>
                <a:ea typeface="Calibri (MS)"/>
                <a:cs typeface="Calibri (MS)"/>
                <a:sym typeface="Calibri (MS)"/>
              </a:rPr>
              <a:t>Mengidentifikasi dan merumuskan variabel-variabel utama penyusun CLD dalam model sistem dinamis kebijakan pariwisata di Provinsi DIY.</a:t>
            </a:r>
          </a:p>
        </p:txBody>
      </p:sp>
      <p:sp>
        <p:nvSpPr>
          <p:cNvPr name="TextBox 12" id="12"/>
          <p:cNvSpPr txBox="true"/>
          <p:nvPr/>
        </p:nvSpPr>
        <p:spPr>
          <a:xfrm rot="0">
            <a:off x="822960" y="6236970"/>
            <a:ext cx="16637508" cy="758190"/>
          </a:xfrm>
          <a:prstGeom prst="rect">
            <a:avLst/>
          </a:prstGeom>
        </p:spPr>
        <p:txBody>
          <a:bodyPr anchor="t" rtlCol="false" tIns="0" lIns="0" bIns="0" rIns="0">
            <a:spAutoFit/>
          </a:bodyPr>
          <a:lstStyle/>
          <a:p>
            <a:pPr algn="ctr">
              <a:lnSpc>
                <a:spcPts val="2700"/>
              </a:lnSpc>
            </a:pPr>
            <a:r>
              <a:rPr lang="en-US" sz="1800" b="true">
                <a:solidFill>
                  <a:srgbClr val="FFFFFF"/>
                </a:solidFill>
                <a:latin typeface="Calibri (MS) Bold"/>
                <a:ea typeface="Calibri (MS) Bold"/>
                <a:cs typeface="Calibri (MS) Bold"/>
                <a:sym typeface="Calibri (MS) Bold"/>
              </a:rPr>
              <a:t>Metode identifikasi  →  Evaluasi kandidat  →  Hubungan kausal  →  CLD  →  Batas model</a:t>
            </a:r>
          </a:p>
        </p:txBody>
      </p:sp>
      <p:grpSp>
        <p:nvGrpSpPr>
          <p:cNvPr name="Group 13" id="13"/>
          <p:cNvGrpSpPr/>
          <p:nvPr/>
        </p:nvGrpSpPr>
        <p:grpSpPr>
          <a:xfrm rot="0">
            <a:off x="16962120" y="9555480"/>
            <a:ext cx="420624" cy="420624"/>
            <a:chOff x="0" y="0"/>
            <a:chExt cx="560832" cy="560832"/>
          </a:xfrm>
        </p:grpSpPr>
        <p:sp>
          <p:nvSpPr>
            <p:cNvPr name="Freeform 14" id="14"/>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5" id="15"/>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Identifikasi dan Perumusan Variabel CLD</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Variabel disusun dari model rujukan, disesuaikan dengan kondisi DIY, lalu dievaluasi</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17</a:t>
            </a:r>
          </a:p>
        </p:txBody>
      </p:sp>
      <p:grpSp>
        <p:nvGrpSpPr>
          <p:cNvPr name="Group 67" id="67"/>
          <p:cNvGrpSpPr/>
          <p:nvPr/>
        </p:nvGrpSpPr>
        <p:grpSpPr>
          <a:xfrm rot="0">
            <a:off x="816607" y="2325367"/>
            <a:ext cx="3761737" cy="2801617"/>
            <a:chOff x="0" y="0"/>
            <a:chExt cx="5015649" cy="3735489"/>
          </a:xfrm>
        </p:grpSpPr>
        <p:sp>
          <p:nvSpPr>
            <p:cNvPr name="Freeform 68" id="68"/>
            <p:cNvSpPr/>
            <p:nvPr/>
          </p:nvSpPr>
          <p:spPr>
            <a:xfrm flipH="false" flipV="false" rot="0">
              <a:off x="0" y="0"/>
              <a:ext cx="5015611" cy="3735451"/>
            </a:xfrm>
            <a:custGeom>
              <a:avLst/>
              <a:gdLst/>
              <a:ahLst/>
              <a:cxnLst/>
              <a:rect r="r" b="b" t="t" l="l"/>
              <a:pathLst>
                <a:path h="3735451" w="5015611">
                  <a:moveTo>
                    <a:pt x="0" y="298831"/>
                  </a:moveTo>
                  <a:cubicBezTo>
                    <a:pt x="0" y="133858"/>
                    <a:pt x="133858" y="0"/>
                    <a:pt x="298831" y="0"/>
                  </a:cubicBezTo>
                  <a:lnTo>
                    <a:pt x="4716780" y="0"/>
                  </a:lnTo>
                  <a:cubicBezTo>
                    <a:pt x="4881880" y="0"/>
                    <a:pt x="5015611" y="133858"/>
                    <a:pt x="5015611" y="298831"/>
                  </a:cubicBezTo>
                  <a:lnTo>
                    <a:pt x="5015611" y="3436620"/>
                  </a:lnTo>
                  <a:cubicBezTo>
                    <a:pt x="5015611" y="3601720"/>
                    <a:pt x="4881753" y="3735451"/>
                    <a:pt x="4716780" y="3735451"/>
                  </a:cubicBezTo>
                  <a:lnTo>
                    <a:pt x="298831" y="3735451"/>
                  </a:lnTo>
                  <a:cubicBezTo>
                    <a:pt x="133858" y="3735451"/>
                    <a:pt x="0" y="3601720"/>
                    <a:pt x="0" y="3436620"/>
                  </a:cubicBezTo>
                  <a:close/>
                </a:path>
              </a:pathLst>
            </a:custGeom>
            <a:solidFill>
              <a:srgbClr val="EAF8FA"/>
            </a:solidFill>
            <a:ln w="12700" cap="sq">
              <a:solidFill>
                <a:srgbClr val="CFE5E9"/>
              </a:solidFill>
              <a:prstDash val="solid"/>
              <a:miter/>
            </a:ln>
          </p:spPr>
          <p:txBody>
            <a:bodyPr/>
            <a:p/>
          </p:txBody>
        </p:sp>
      </p:grpSp>
      <p:grpSp>
        <p:nvGrpSpPr>
          <p:cNvPr name="Group 69" id="69"/>
          <p:cNvGrpSpPr/>
          <p:nvPr/>
        </p:nvGrpSpPr>
        <p:grpSpPr>
          <a:xfrm rot="0">
            <a:off x="1051560" y="2514600"/>
            <a:ext cx="548640" cy="548640"/>
            <a:chOff x="0" y="0"/>
            <a:chExt cx="731520" cy="731520"/>
          </a:xfrm>
        </p:grpSpPr>
        <p:sp>
          <p:nvSpPr>
            <p:cNvPr name="Freeform 70" id="70"/>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71" id="71"/>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1</a:t>
              </a:r>
            </a:p>
          </p:txBody>
        </p:sp>
      </p:grpSp>
      <p:sp>
        <p:nvSpPr>
          <p:cNvPr name="TextBox 72" id="72"/>
          <p:cNvSpPr txBox="true"/>
          <p:nvPr/>
        </p:nvSpPr>
        <p:spPr>
          <a:xfrm rot="0">
            <a:off x="1737360" y="2512695"/>
            <a:ext cx="2697480" cy="596265"/>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Model rujukan</a:t>
            </a:r>
          </a:p>
        </p:txBody>
      </p:sp>
      <p:sp>
        <p:nvSpPr>
          <p:cNvPr name="TextBox 73" id="73"/>
          <p:cNvSpPr txBox="true"/>
          <p:nvPr/>
        </p:nvSpPr>
        <p:spPr>
          <a:xfrm rot="0">
            <a:off x="1097280" y="3253740"/>
            <a:ext cx="3291840" cy="1775460"/>
          </a:xfrm>
          <a:prstGeom prst="rect">
            <a:avLst/>
          </a:prstGeom>
        </p:spPr>
        <p:txBody>
          <a:bodyPr anchor="t" rtlCol="false" tIns="0" lIns="0" bIns="0" rIns="0">
            <a:spAutoFit/>
          </a:bodyPr>
          <a:lstStyle/>
          <a:p>
            <a:pPr algn="l">
              <a:lnSpc>
                <a:spcPts val="2004"/>
              </a:lnSpc>
            </a:pPr>
            <a:r>
              <a:rPr lang="en-US" sz="1670">
                <a:solidFill>
                  <a:srgbClr val="14313B"/>
                </a:solidFill>
                <a:latin typeface="Calibri (MS)"/>
                <a:ea typeface="Calibri (MS)"/>
                <a:cs typeface="Calibri (MS)"/>
                <a:sym typeface="Calibri (MS)"/>
              </a:rPr>
              <a:t>Mai &amp; Smith (2018), Cat Ba Island: titik awal mengenali komponen dan feedback loop.</a:t>
            </a:r>
          </a:p>
        </p:txBody>
      </p:sp>
      <p:grpSp>
        <p:nvGrpSpPr>
          <p:cNvPr name="Group 74" id="74"/>
          <p:cNvGrpSpPr/>
          <p:nvPr/>
        </p:nvGrpSpPr>
        <p:grpSpPr>
          <a:xfrm rot="0">
            <a:off x="4617720" y="3566160"/>
            <a:ext cx="365760" cy="320040"/>
            <a:chOff x="0" y="0"/>
            <a:chExt cx="487680" cy="426720"/>
          </a:xfrm>
        </p:grpSpPr>
        <p:sp>
          <p:nvSpPr>
            <p:cNvPr name="Freeform 75" id="75"/>
            <p:cNvSpPr/>
            <p:nvPr/>
          </p:nvSpPr>
          <p:spPr>
            <a:xfrm flipH="false" flipV="false" rot="0">
              <a:off x="0" y="0"/>
              <a:ext cx="487680" cy="426720"/>
            </a:xfrm>
            <a:custGeom>
              <a:avLst/>
              <a:gdLst/>
              <a:ahLst/>
              <a:cxnLst/>
              <a:rect r="r" b="b" t="t" l="l"/>
              <a:pathLst>
                <a:path h="426720" w="487680">
                  <a:moveTo>
                    <a:pt x="0" y="106680"/>
                  </a:moveTo>
                  <a:lnTo>
                    <a:pt x="274320" y="106680"/>
                  </a:lnTo>
                  <a:lnTo>
                    <a:pt x="274320" y="0"/>
                  </a:lnTo>
                  <a:lnTo>
                    <a:pt x="487680" y="213360"/>
                  </a:lnTo>
                  <a:lnTo>
                    <a:pt x="274320" y="426720"/>
                  </a:lnTo>
                  <a:lnTo>
                    <a:pt x="274320" y="320040"/>
                  </a:lnTo>
                  <a:lnTo>
                    <a:pt x="0" y="320040"/>
                  </a:lnTo>
                  <a:close/>
                </a:path>
              </a:pathLst>
            </a:custGeom>
            <a:solidFill>
              <a:srgbClr val="39C0D3"/>
            </a:solidFill>
          </p:spPr>
          <p:txBody>
            <a:bodyPr/>
            <a:p/>
          </p:txBody>
        </p:sp>
      </p:grpSp>
      <p:grpSp>
        <p:nvGrpSpPr>
          <p:cNvPr name="Group 76" id="76"/>
          <p:cNvGrpSpPr/>
          <p:nvPr/>
        </p:nvGrpSpPr>
        <p:grpSpPr>
          <a:xfrm rot="0">
            <a:off x="5041135" y="2325367"/>
            <a:ext cx="3761737" cy="2801617"/>
            <a:chOff x="0" y="0"/>
            <a:chExt cx="5015649" cy="3735489"/>
          </a:xfrm>
        </p:grpSpPr>
        <p:sp>
          <p:nvSpPr>
            <p:cNvPr name="Freeform 77" id="77"/>
            <p:cNvSpPr/>
            <p:nvPr/>
          </p:nvSpPr>
          <p:spPr>
            <a:xfrm flipH="false" flipV="false" rot="0">
              <a:off x="0" y="0"/>
              <a:ext cx="5015611" cy="3735451"/>
            </a:xfrm>
            <a:custGeom>
              <a:avLst/>
              <a:gdLst/>
              <a:ahLst/>
              <a:cxnLst/>
              <a:rect r="r" b="b" t="t" l="l"/>
              <a:pathLst>
                <a:path h="3735451" w="5015611">
                  <a:moveTo>
                    <a:pt x="0" y="298831"/>
                  </a:moveTo>
                  <a:cubicBezTo>
                    <a:pt x="0" y="133858"/>
                    <a:pt x="133858" y="0"/>
                    <a:pt x="298831" y="0"/>
                  </a:cubicBezTo>
                  <a:lnTo>
                    <a:pt x="4716780" y="0"/>
                  </a:lnTo>
                  <a:cubicBezTo>
                    <a:pt x="4881880" y="0"/>
                    <a:pt x="5015611" y="133858"/>
                    <a:pt x="5015611" y="298831"/>
                  </a:cubicBezTo>
                  <a:lnTo>
                    <a:pt x="5015611" y="3436620"/>
                  </a:lnTo>
                  <a:cubicBezTo>
                    <a:pt x="5015611" y="3601720"/>
                    <a:pt x="4881753" y="3735451"/>
                    <a:pt x="4716780" y="3735451"/>
                  </a:cubicBezTo>
                  <a:lnTo>
                    <a:pt x="298831" y="3735451"/>
                  </a:lnTo>
                  <a:cubicBezTo>
                    <a:pt x="133858" y="3735451"/>
                    <a:pt x="0" y="3601720"/>
                    <a:pt x="0" y="3436620"/>
                  </a:cubicBezTo>
                  <a:close/>
                </a:path>
              </a:pathLst>
            </a:custGeom>
            <a:solidFill>
              <a:srgbClr val="EAF8FA"/>
            </a:solidFill>
            <a:ln w="12700" cap="sq">
              <a:solidFill>
                <a:srgbClr val="CFE5E9"/>
              </a:solidFill>
              <a:prstDash val="solid"/>
              <a:miter/>
            </a:ln>
          </p:spPr>
          <p:txBody>
            <a:bodyPr/>
            <a:p/>
          </p:txBody>
        </p:sp>
      </p:grpSp>
      <p:grpSp>
        <p:nvGrpSpPr>
          <p:cNvPr name="Group 78" id="78"/>
          <p:cNvGrpSpPr/>
          <p:nvPr/>
        </p:nvGrpSpPr>
        <p:grpSpPr>
          <a:xfrm rot="0">
            <a:off x="5276088" y="2514600"/>
            <a:ext cx="548640" cy="548640"/>
            <a:chOff x="0" y="0"/>
            <a:chExt cx="731520" cy="731520"/>
          </a:xfrm>
        </p:grpSpPr>
        <p:sp>
          <p:nvSpPr>
            <p:cNvPr name="Freeform 79" id="79"/>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80" id="80"/>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2</a:t>
              </a:r>
            </a:p>
          </p:txBody>
        </p:sp>
      </p:grpSp>
      <p:sp>
        <p:nvSpPr>
          <p:cNvPr name="TextBox 81" id="81"/>
          <p:cNvSpPr txBox="true"/>
          <p:nvPr/>
        </p:nvSpPr>
        <p:spPr>
          <a:xfrm rot="0">
            <a:off x="5961888" y="2512695"/>
            <a:ext cx="2697480" cy="596265"/>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Penyesuaian dengan kondisi DIY</a:t>
            </a:r>
          </a:p>
        </p:txBody>
      </p:sp>
      <p:sp>
        <p:nvSpPr>
          <p:cNvPr name="TextBox 82" id="82"/>
          <p:cNvSpPr txBox="true"/>
          <p:nvPr/>
        </p:nvSpPr>
        <p:spPr>
          <a:xfrm rot="0">
            <a:off x="5321808" y="3253740"/>
            <a:ext cx="3291840" cy="1775460"/>
          </a:xfrm>
          <a:prstGeom prst="rect">
            <a:avLst/>
          </a:prstGeom>
        </p:spPr>
        <p:txBody>
          <a:bodyPr anchor="t" rtlCol="false" tIns="0" lIns="0" bIns="0" rIns="0">
            <a:spAutoFit/>
          </a:bodyPr>
          <a:lstStyle/>
          <a:p>
            <a:pPr algn="l">
              <a:lnSpc>
                <a:spcPts val="2004"/>
              </a:lnSpc>
            </a:pPr>
            <a:r>
              <a:rPr lang="en-US" sz="1670">
                <a:solidFill>
                  <a:srgbClr val="14313B"/>
                </a:solidFill>
                <a:latin typeface="Calibri (MS)"/>
                <a:ea typeface="Calibri (MS)"/>
                <a:cs typeface="Calibri (MS)"/>
                <a:sym typeface="Calibri (MS)"/>
              </a:rPr>
              <a:t>UU 10/2009, RIPPARDA DIY, Renja Dispar DIY 2025, Renstra Kemenpar 2025–2029, IPKN 2024.</a:t>
            </a:r>
          </a:p>
        </p:txBody>
      </p:sp>
      <p:grpSp>
        <p:nvGrpSpPr>
          <p:cNvPr name="Group 83" id="83"/>
          <p:cNvGrpSpPr/>
          <p:nvPr/>
        </p:nvGrpSpPr>
        <p:grpSpPr>
          <a:xfrm rot="0">
            <a:off x="8842248" y="3566160"/>
            <a:ext cx="365760" cy="320040"/>
            <a:chOff x="0" y="0"/>
            <a:chExt cx="487680" cy="426720"/>
          </a:xfrm>
        </p:grpSpPr>
        <p:sp>
          <p:nvSpPr>
            <p:cNvPr name="Freeform 84" id="84"/>
            <p:cNvSpPr/>
            <p:nvPr/>
          </p:nvSpPr>
          <p:spPr>
            <a:xfrm flipH="false" flipV="false" rot="0">
              <a:off x="0" y="0"/>
              <a:ext cx="487680" cy="426720"/>
            </a:xfrm>
            <a:custGeom>
              <a:avLst/>
              <a:gdLst/>
              <a:ahLst/>
              <a:cxnLst/>
              <a:rect r="r" b="b" t="t" l="l"/>
              <a:pathLst>
                <a:path h="426720" w="487680">
                  <a:moveTo>
                    <a:pt x="0" y="106680"/>
                  </a:moveTo>
                  <a:lnTo>
                    <a:pt x="274320" y="106680"/>
                  </a:lnTo>
                  <a:lnTo>
                    <a:pt x="274320" y="0"/>
                  </a:lnTo>
                  <a:lnTo>
                    <a:pt x="487680" y="213360"/>
                  </a:lnTo>
                  <a:lnTo>
                    <a:pt x="274320" y="426720"/>
                  </a:lnTo>
                  <a:lnTo>
                    <a:pt x="274320" y="320040"/>
                  </a:lnTo>
                  <a:lnTo>
                    <a:pt x="0" y="320040"/>
                  </a:lnTo>
                  <a:close/>
                </a:path>
              </a:pathLst>
            </a:custGeom>
            <a:solidFill>
              <a:srgbClr val="39C0D3"/>
            </a:solidFill>
          </p:spPr>
          <p:txBody>
            <a:bodyPr/>
            <a:p/>
          </p:txBody>
        </p:sp>
      </p:grpSp>
      <p:grpSp>
        <p:nvGrpSpPr>
          <p:cNvPr name="Group 85" id="85"/>
          <p:cNvGrpSpPr/>
          <p:nvPr/>
        </p:nvGrpSpPr>
        <p:grpSpPr>
          <a:xfrm rot="0">
            <a:off x="9265663" y="2325367"/>
            <a:ext cx="3761737" cy="2801617"/>
            <a:chOff x="0" y="0"/>
            <a:chExt cx="5015649" cy="3735489"/>
          </a:xfrm>
        </p:grpSpPr>
        <p:sp>
          <p:nvSpPr>
            <p:cNvPr name="Freeform 86" id="86"/>
            <p:cNvSpPr/>
            <p:nvPr/>
          </p:nvSpPr>
          <p:spPr>
            <a:xfrm flipH="false" flipV="false" rot="0">
              <a:off x="0" y="0"/>
              <a:ext cx="5015611" cy="3735451"/>
            </a:xfrm>
            <a:custGeom>
              <a:avLst/>
              <a:gdLst/>
              <a:ahLst/>
              <a:cxnLst/>
              <a:rect r="r" b="b" t="t" l="l"/>
              <a:pathLst>
                <a:path h="3735451" w="5015611">
                  <a:moveTo>
                    <a:pt x="0" y="298831"/>
                  </a:moveTo>
                  <a:cubicBezTo>
                    <a:pt x="0" y="133858"/>
                    <a:pt x="133858" y="0"/>
                    <a:pt x="298831" y="0"/>
                  </a:cubicBezTo>
                  <a:lnTo>
                    <a:pt x="4716780" y="0"/>
                  </a:lnTo>
                  <a:cubicBezTo>
                    <a:pt x="4881880" y="0"/>
                    <a:pt x="5015611" y="133858"/>
                    <a:pt x="5015611" y="298831"/>
                  </a:cubicBezTo>
                  <a:lnTo>
                    <a:pt x="5015611" y="3436620"/>
                  </a:lnTo>
                  <a:cubicBezTo>
                    <a:pt x="5015611" y="3601720"/>
                    <a:pt x="4881753" y="3735451"/>
                    <a:pt x="4716780" y="3735451"/>
                  </a:cubicBezTo>
                  <a:lnTo>
                    <a:pt x="298831" y="3735451"/>
                  </a:lnTo>
                  <a:cubicBezTo>
                    <a:pt x="133858" y="3735451"/>
                    <a:pt x="0" y="3601720"/>
                    <a:pt x="0" y="3436620"/>
                  </a:cubicBezTo>
                  <a:close/>
                </a:path>
              </a:pathLst>
            </a:custGeom>
            <a:solidFill>
              <a:srgbClr val="EAF8FA"/>
            </a:solidFill>
            <a:ln w="12700" cap="sq">
              <a:solidFill>
                <a:srgbClr val="CFE5E9"/>
              </a:solidFill>
              <a:prstDash val="solid"/>
              <a:miter/>
            </a:ln>
          </p:spPr>
          <p:txBody>
            <a:bodyPr/>
            <a:p/>
          </p:txBody>
        </p:sp>
      </p:grpSp>
      <p:grpSp>
        <p:nvGrpSpPr>
          <p:cNvPr name="Group 87" id="87"/>
          <p:cNvGrpSpPr/>
          <p:nvPr/>
        </p:nvGrpSpPr>
        <p:grpSpPr>
          <a:xfrm rot="0">
            <a:off x="9500616" y="2514600"/>
            <a:ext cx="548640" cy="548640"/>
            <a:chOff x="0" y="0"/>
            <a:chExt cx="731520" cy="731520"/>
          </a:xfrm>
        </p:grpSpPr>
        <p:sp>
          <p:nvSpPr>
            <p:cNvPr name="Freeform 88" id="88"/>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89" id="89"/>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3</a:t>
              </a:r>
            </a:p>
          </p:txBody>
        </p:sp>
      </p:grpSp>
      <p:sp>
        <p:nvSpPr>
          <p:cNvPr name="TextBox 90" id="90"/>
          <p:cNvSpPr txBox="true"/>
          <p:nvPr/>
        </p:nvSpPr>
        <p:spPr>
          <a:xfrm rot="0">
            <a:off x="10186416" y="2512695"/>
            <a:ext cx="2697480" cy="596265"/>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Literatur pendukung</a:t>
            </a:r>
          </a:p>
        </p:txBody>
      </p:sp>
      <p:sp>
        <p:nvSpPr>
          <p:cNvPr name="TextBox 91" id="91"/>
          <p:cNvSpPr txBox="true"/>
          <p:nvPr/>
        </p:nvSpPr>
        <p:spPr>
          <a:xfrm rot="0">
            <a:off x="9546336" y="3253740"/>
            <a:ext cx="3291840" cy="1775460"/>
          </a:xfrm>
          <a:prstGeom prst="rect">
            <a:avLst/>
          </a:prstGeom>
        </p:spPr>
        <p:txBody>
          <a:bodyPr anchor="t" rtlCol="false" tIns="0" lIns="0" bIns="0" rIns="0">
            <a:spAutoFit/>
          </a:bodyPr>
          <a:lstStyle/>
          <a:p>
            <a:pPr algn="l">
              <a:lnSpc>
                <a:spcPts val="2004"/>
              </a:lnSpc>
            </a:pPr>
            <a:r>
              <a:rPr lang="en-US" sz="1670">
                <a:solidFill>
                  <a:srgbClr val="14313B"/>
                </a:solidFill>
                <a:latin typeface="Calibri (MS)"/>
                <a:ea typeface="Calibri (MS)"/>
                <a:cs typeface="Calibri (MS)"/>
                <a:sym typeface="Calibri (MS)"/>
              </a:rPr>
              <a:t>Dukungan mekanisme per hubungan: daya tarik, ekonomi, akomodasi, TK, kepadatan, daya dukung.</a:t>
            </a:r>
          </a:p>
        </p:txBody>
      </p:sp>
      <p:grpSp>
        <p:nvGrpSpPr>
          <p:cNvPr name="Group 92" id="92"/>
          <p:cNvGrpSpPr/>
          <p:nvPr/>
        </p:nvGrpSpPr>
        <p:grpSpPr>
          <a:xfrm rot="0">
            <a:off x="13066776" y="3566160"/>
            <a:ext cx="365760" cy="320040"/>
            <a:chOff x="0" y="0"/>
            <a:chExt cx="487680" cy="426720"/>
          </a:xfrm>
        </p:grpSpPr>
        <p:sp>
          <p:nvSpPr>
            <p:cNvPr name="Freeform 93" id="93"/>
            <p:cNvSpPr/>
            <p:nvPr/>
          </p:nvSpPr>
          <p:spPr>
            <a:xfrm flipH="false" flipV="false" rot="0">
              <a:off x="0" y="0"/>
              <a:ext cx="487680" cy="426720"/>
            </a:xfrm>
            <a:custGeom>
              <a:avLst/>
              <a:gdLst/>
              <a:ahLst/>
              <a:cxnLst/>
              <a:rect r="r" b="b" t="t" l="l"/>
              <a:pathLst>
                <a:path h="426720" w="487680">
                  <a:moveTo>
                    <a:pt x="0" y="106680"/>
                  </a:moveTo>
                  <a:lnTo>
                    <a:pt x="274320" y="106680"/>
                  </a:lnTo>
                  <a:lnTo>
                    <a:pt x="274320" y="0"/>
                  </a:lnTo>
                  <a:lnTo>
                    <a:pt x="487680" y="213360"/>
                  </a:lnTo>
                  <a:lnTo>
                    <a:pt x="274320" y="426720"/>
                  </a:lnTo>
                  <a:lnTo>
                    <a:pt x="274320" y="320040"/>
                  </a:lnTo>
                  <a:lnTo>
                    <a:pt x="0" y="320040"/>
                  </a:lnTo>
                  <a:close/>
                </a:path>
              </a:pathLst>
            </a:custGeom>
            <a:solidFill>
              <a:srgbClr val="39C0D3"/>
            </a:solidFill>
          </p:spPr>
          <p:txBody>
            <a:bodyPr/>
            <a:p/>
          </p:txBody>
        </p:sp>
      </p:grpSp>
      <p:grpSp>
        <p:nvGrpSpPr>
          <p:cNvPr name="Group 94" id="94"/>
          <p:cNvGrpSpPr/>
          <p:nvPr/>
        </p:nvGrpSpPr>
        <p:grpSpPr>
          <a:xfrm rot="0">
            <a:off x="13490191" y="2325367"/>
            <a:ext cx="3761737" cy="2801617"/>
            <a:chOff x="0" y="0"/>
            <a:chExt cx="5015649" cy="3735489"/>
          </a:xfrm>
        </p:grpSpPr>
        <p:sp>
          <p:nvSpPr>
            <p:cNvPr name="Freeform 95" id="95"/>
            <p:cNvSpPr/>
            <p:nvPr/>
          </p:nvSpPr>
          <p:spPr>
            <a:xfrm flipH="false" flipV="false" rot="0">
              <a:off x="0" y="0"/>
              <a:ext cx="5015611" cy="3735451"/>
            </a:xfrm>
            <a:custGeom>
              <a:avLst/>
              <a:gdLst/>
              <a:ahLst/>
              <a:cxnLst/>
              <a:rect r="r" b="b" t="t" l="l"/>
              <a:pathLst>
                <a:path h="3735451" w="5015611">
                  <a:moveTo>
                    <a:pt x="0" y="298831"/>
                  </a:moveTo>
                  <a:cubicBezTo>
                    <a:pt x="0" y="133858"/>
                    <a:pt x="133858" y="0"/>
                    <a:pt x="298831" y="0"/>
                  </a:cubicBezTo>
                  <a:lnTo>
                    <a:pt x="4716780" y="0"/>
                  </a:lnTo>
                  <a:cubicBezTo>
                    <a:pt x="4881880" y="0"/>
                    <a:pt x="5015611" y="133858"/>
                    <a:pt x="5015611" y="298831"/>
                  </a:cubicBezTo>
                  <a:lnTo>
                    <a:pt x="5015611" y="3436620"/>
                  </a:lnTo>
                  <a:cubicBezTo>
                    <a:pt x="5015611" y="3601720"/>
                    <a:pt x="4881753" y="3735451"/>
                    <a:pt x="4716780" y="3735451"/>
                  </a:cubicBezTo>
                  <a:lnTo>
                    <a:pt x="298831" y="3735451"/>
                  </a:lnTo>
                  <a:cubicBezTo>
                    <a:pt x="133858" y="3735451"/>
                    <a:pt x="0" y="3601720"/>
                    <a:pt x="0" y="3436620"/>
                  </a:cubicBezTo>
                  <a:close/>
                </a:path>
              </a:pathLst>
            </a:custGeom>
            <a:solidFill>
              <a:srgbClr val="EAF8FA"/>
            </a:solidFill>
            <a:ln w="12700" cap="sq">
              <a:solidFill>
                <a:srgbClr val="CFE5E9"/>
              </a:solidFill>
              <a:prstDash val="solid"/>
              <a:miter/>
            </a:ln>
          </p:spPr>
          <p:txBody>
            <a:bodyPr/>
            <a:p/>
          </p:txBody>
        </p:sp>
      </p:grpSp>
      <p:grpSp>
        <p:nvGrpSpPr>
          <p:cNvPr name="Group 96" id="96"/>
          <p:cNvGrpSpPr/>
          <p:nvPr/>
        </p:nvGrpSpPr>
        <p:grpSpPr>
          <a:xfrm rot="0">
            <a:off x="13725144" y="2514600"/>
            <a:ext cx="548640" cy="548640"/>
            <a:chOff x="0" y="0"/>
            <a:chExt cx="731520" cy="731520"/>
          </a:xfrm>
        </p:grpSpPr>
        <p:sp>
          <p:nvSpPr>
            <p:cNvPr name="Freeform 97" id="97"/>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98" id="98"/>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4</a:t>
              </a:r>
            </a:p>
          </p:txBody>
        </p:sp>
      </p:grpSp>
      <p:sp>
        <p:nvSpPr>
          <p:cNvPr name="TextBox 99" id="99"/>
          <p:cNvSpPr txBox="true"/>
          <p:nvPr/>
        </p:nvSpPr>
        <p:spPr>
          <a:xfrm rot="0">
            <a:off x="14410944" y="2512695"/>
            <a:ext cx="2697480" cy="596265"/>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Evaluasi struktur</a:t>
            </a:r>
          </a:p>
        </p:txBody>
      </p:sp>
      <p:sp>
        <p:nvSpPr>
          <p:cNvPr name="TextBox 100" id="100"/>
          <p:cNvSpPr txBox="true"/>
          <p:nvPr/>
        </p:nvSpPr>
        <p:spPr>
          <a:xfrm rot="0">
            <a:off x="13770864" y="3253740"/>
            <a:ext cx="3291840" cy="1775460"/>
          </a:xfrm>
          <a:prstGeom prst="rect">
            <a:avLst/>
          </a:prstGeom>
        </p:spPr>
        <p:txBody>
          <a:bodyPr anchor="t" rtlCol="false" tIns="0" lIns="0" bIns="0" rIns="0">
            <a:spAutoFit/>
          </a:bodyPr>
          <a:lstStyle/>
          <a:p>
            <a:pPr algn="l">
              <a:lnSpc>
                <a:spcPts val="2004"/>
              </a:lnSpc>
            </a:pPr>
            <a:r>
              <a:rPr lang="en-US" sz="1670">
                <a:solidFill>
                  <a:srgbClr val="14313B"/>
                </a:solidFill>
                <a:latin typeface="Calibri (MS)"/>
                <a:ea typeface="Calibri (MS)"/>
                <a:cs typeface="Calibri (MS)"/>
                <a:sym typeface="Calibri (MS)"/>
              </a:rPr>
              <a:t>Diperiksa pada empat tingkat: variabel, hubungan kausal, feedback loop, dan batas model.</a:t>
            </a:r>
          </a:p>
        </p:txBody>
      </p:sp>
      <p:graphicFrame>
        <p:nvGraphicFramePr>
          <p:cNvPr name="Table 101" id="101"/>
          <p:cNvGraphicFramePr>
            <a:graphicFrameLocks noGrp="true"/>
          </p:cNvGraphicFramePr>
          <p:nvPr/>
        </p:nvGraphicFramePr>
        <p:xfrm>
          <a:off x="822960" y="5349240"/>
          <a:ext cx="16611600" cy="2755900"/>
        </p:xfrm>
        <a:graphic>
          <a:graphicData uri="http://schemas.openxmlformats.org/drawingml/2006/table">
            <a:tbl>
              <a:tblPr/>
              <a:tblGrid>
                <a:gridCol w="2329676"/>
                <a:gridCol w="2329676"/>
                <a:gridCol w="8710961"/>
                <a:gridCol w="3241288"/>
              </a:tblGrid>
              <a:tr h="393700">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Tingkat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Aspek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Pertanyaan evaluasi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Dasar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393700">
                <a:tc>
                  <a:txBody>
                    <a:bodyPr anchor="t" rtlCol="false"/>
                    <a:lstStyle/>
                    <a:p>
                      <a:pPr algn="l">
                        <a:lnSpc>
                          <a:spcPts val="1788"/>
                        </a:lnSpc>
                        <a:defRPr/>
                      </a:pPr>
                      <a:r>
                        <a:rPr lang="en-US" sz="1490">
                          <a:solidFill>
                            <a:srgbClr val="14313B"/>
                          </a:solidFill>
                          <a:latin typeface="Calibri (MS)"/>
                          <a:ea typeface="Calibri (MS)"/>
                          <a:cs typeface="Calibri (MS)"/>
                          <a:sym typeface="Calibri (MS)"/>
                        </a:rPr>
                        <a:t>Variabel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Relevan &amp; terdefinisi jelas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Relevan terhadap masalah dan punya definisi operasional jelas?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Sterman (2000)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393700">
                <a:tc>
                  <a:txBody>
                    <a:bodyPr anchor="t" rtlCol="false"/>
                    <a:lstStyle/>
                    <a:p>
                      <a:pPr algn="l">
                        <a:lnSpc>
                          <a:spcPts val="1788"/>
                        </a:lnSpc>
                        <a:defRPr/>
                      </a:pPr>
                      <a:r>
                        <a:rPr lang="en-US" sz="1490">
                          <a:solidFill>
                            <a:srgbClr val="14313B"/>
                          </a:solidFill>
                          <a:latin typeface="Calibri (MS)"/>
                          <a:ea typeface="Calibri (MS)"/>
                          <a:cs typeface="Calibri (MS)"/>
                          <a:sym typeface="Calibri (MS)"/>
                        </a:rPr>
                        <a:t>Hubungan kausal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Mekanisme</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Ada mekanisme yang menjelaskan perubahan variabel akibat?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Sterman (2000); Barlas (1996)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393700">
                <a:tc>
                  <a:txBody>
                    <a:bodyPr anchor="t" rtlCol="false"/>
                    <a:lstStyle/>
                    <a:p>
                      <a:pPr algn="l">
                        <a:lnSpc>
                          <a:spcPts val="1788"/>
                        </a:lnSpc>
                        <a:defRPr/>
                      </a:pPr>
                      <a:r>
                        <a:rPr lang="en-US" sz="1490">
                          <a:solidFill>
                            <a:srgbClr val="14313B"/>
                          </a:solidFill>
                          <a:latin typeface="Calibri (MS)"/>
                          <a:ea typeface="Calibri (MS)"/>
                          <a:cs typeface="Calibri (MS)"/>
                          <a:sym typeface="Calibri (MS)"/>
                        </a:rPr>
                        <a:t>Hubungan kausal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Arah hubungan (+/−)</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Tanda (+/−) konsisten dengan arah pengaruh ceteris paribus?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Richardson (1997)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393700">
                <a:tc>
                  <a:txBody>
                    <a:bodyPr anchor="t" rtlCol="false"/>
                    <a:lstStyle/>
                    <a:p>
                      <a:pPr algn="l">
                        <a:lnSpc>
                          <a:spcPts val="1788"/>
                        </a:lnSpc>
                        <a:defRPr/>
                      </a:pPr>
                      <a:r>
                        <a:rPr lang="en-US" sz="1490">
                          <a:solidFill>
                            <a:srgbClr val="14313B"/>
                          </a:solidFill>
                          <a:latin typeface="Calibri (MS)"/>
                          <a:ea typeface="Calibri (MS)"/>
                          <a:cs typeface="Calibri (MS)"/>
                          <a:sym typeface="Calibri (MS)"/>
                        </a:rPr>
                        <a:t>Hubungan kausal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Dukungan sumber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Didukung teori, bukti empiris, atau definisi model yang jelas?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Barlas (1996)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393700">
                <a:tc>
                  <a:txBody>
                    <a:bodyPr anchor="t" rtlCol="false"/>
                    <a:lstStyle/>
                    <a:p>
                      <a:pPr algn="l">
                        <a:lnSpc>
                          <a:spcPts val="1788"/>
                        </a:lnSpc>
                        <a:defRPr/>
                      </a:pPr>
                      <a:r>
                        <a:rPr lang="en-US" sz="1490">
                          <a:solidFill>
                            <a:srgbClr val="14313B"/>
                          </a:solidFill>
                          <a:latin typeface="Calibri (MS)"/>
                          <a:ea typeface="Calibri (MS)"/>
                          <a:cs typeface="Calibri (MS)"/>
                          <a:sym typeface="Calibri (MS)"/>
                        </a:rPr>
                        <a:t>Feedback loop</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Konsistensi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Rangkaian menghasilkan mekanisme reinforcing/balancing yang logis?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Sterman (2000)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393700">
                <a:tc>
                  <a:txBody>
                    <a:bodyPr anchor="t" rtlCol="false"/>
                    <a:lstStyle/>
                    <a:p>
                      <a:pPr algn="l">
                        <a:lnSpc>
                          <a:spcPts val="1788"/>
                        </a:lnSpc>
                        <a:defRPr/>
                      </a:pPr>
                      <a:r>
                        <a:rPr lang="en-US" sz="1490">
                          <a:solidFill>
                            <a:srgbClr val="14313B"/>
                          </a:solidFill>
                          <a:latin typeface="Calibri (MS)"/>
                          <a:ea typeface="Calibri (MS)"/>
                          <a:cs typeface="Calibri (MS)"/>
                          <a:sym typeface="Calibri (MS)"/>
                        </a:rPr>
                        <a:t>Batas model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Kecukupan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Cukup menjelaskan masalah tanpa aspek yang tidak diperlukan?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Mai &amp; Smith (2018)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bl>
          </a:graphicData>
        </a:graphic>
      </p:graphicFrame>
      <p:grpSp>
        <p:nvGrpSpPr>
          <p:cNvPr name="Group 102" id="102"/>
          <p:cNvGrpSpPr/>
          <p:nvPr/>
        </p:nvGrpSpPr>
        <p:grpSpPr>
          <a:xfrm rot="0">
            <a:off x="816607" y="8360407"/>
            <a:ext cx="16654777" cy="789937"/>
            <a:chOff x="0" y="0"/>
            <a:chExt cx="22206369" cy="1053249"/>
          </a:xfrm>
        </p:grpSpPr>
        <p:sp>
          <p:nvSpPr>
            <p:cNvPr name="Freeform 103" id="103"/>
            <p:cNvSpPr/>
            <p:nvPr/>
          </p:nvSpPr>
          <p:spPr>
            <a:xfrm flipH="false" flipV="false" rot="0">
              <a:off x="0" y="0"/>
              <a:ext cx="22206331" cy="1053211"/>
            </a:xfrm>
            <a:custGeom>
              <a:avLst/>
              <a:gdLst/>
              <a:ahLst/>
              <a:cxnLst/>
              <a:rect r="r" b="b" t="t" l="l"/>
              <a:pathLst>
                <a:path h="1053211" w="22206331">
                  <a:moveTo>
                    <a:pt x="0" y="84201"/>
                  </a:moveTo>
                  <a:cubicBezTo>
                    <a:pt x="0" y="37719"/>
                    <a:pt x="37719" y="0"/>
                    <a:pt x="84201" y="0"/>
                  </a:cubicBezTo>
                  <a:lnTo>
                    <a:pt x="22122130" y="0"/>
                  </a:lnTo>
                  <a:cubicBezTo>
                    <a:pt x="22168613" y="0"/>
                    <a:pt x="22206331" y="37719"/>
                    <a:pt x="22206331" y="84201"/>
                  </a:cubicBezTo>
                  <a:lnTo>
                    <a:pt x="22206331" y="969010"/>
                  </a:lnTo>
                  <a:cubicBezTo>
                    <a:pt x="22206331" y="1015492"/>
                    <a:pt x="22168613" y="1053211"/>
                    <a:pt x="22122130" y="1053211"/>
                  </a:cubicBezTo>
                  <a:lnTo>
                    <a:pt x="84201" y="1053211"/>
                  </a:lnTo>
                  <a:cubicBezTo>
                    <a:pt x="37719" y="1053211"/>
                    <a:pt x="0" y="1015492"/>
                    <a:pt x="0" y="969010"/>
                  </a:cubicBezTo>
                  <a:close/>
                </a:path>
              </a:pathLst>
            </a:custGeom>
            <a:solidFill>
              <a:srgbClr val="FFF1BF"/>
            </a:solidFill>
            <a:ln w="12700" cap="sq">
              <a:solidFill>
                <a:srgbClr val="FFD23B"/>
              </a:solidFill>
              <a:prstDash val="solid"/>
              <a:miter/>
            </a:ln>
          </p:spPr>
          <p:txBody>
            <a:bodyPr/>
            <a:p/>
          </p:txBody>
        </p:sp>
        <p:sp>
          <p:nvSpPr>
            <p:cNvPr name="TextBox 104" id="104"/>
            <p:cNvSpPr txBox="true"/>
            <p:nvPr/>
          </p:nvSpPr>
          <p:spPr>
            <a:xfrm>
              <a:off x="0" y="-38100"/>
              <a:ext cx="22206369" cy="109134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CLD adalah hasil adaptasi, penyesuaian dengan kondisi DIY, dan evaluasi, bukan salinan model rujukan. Ketersediaan data dipertimbangkan saat model dikuantifikasi.</a:t>
              </a:r>
            </a:p>
          </p:txBody>
        </p:sp>
      </p:grpSp>
      <p:sp>
        <p:nvSpPr>
          <p:cNvPr name="TextBox 105" id="105"/>
          <p:cNvSpPr txBox="true"/>
          <p:nvPr/>
        </p:nvSpPr>
        <p:spPr>
          <a:xfrm rot="0">
            <a:off x="822960" y="9198102"/>
            <a:ext cx="15544800" cy="293370"/>
          </a:xfrm>
          <a:prstGeom prst="rect">
            <a:avLst/>
          </a:prstGeom>
        </p:spPr>
        <p:txBody>
          <a:bodyPr anchor="t" rtlCol="false" tIns="0" lIns="0" bIns="0" rIns="0">
            <a:spAutoFit/>
          </a:bodyPr>
          <a:lstStyle/>
          <a:p>
            <a:pPr algn="l">
              <a:lnSpc>
                <a:spcPts val="1451"/>
              </a:lnSpc>
            </a:pPr>
            <a:r>
              <a:rPr lang="en-US" sz="1209" i="true">
                <a:solidFill>
                  <a:srgbClr val="5E6E78"/>
                </a:solidFill>
                <a:latin typeface="Calibri (MS) Italics"/>
                <a:ea typeface="Calibri (MS) Italics"/>
                <a:cs typeface="Calibri (MS) Italics"/>
                <a:sym typeface="Calibri (MS) Italics"/>
              </a:rPr>
              <a:t>Sumber: Buku Subbab 3.7.2.1–3.7.2.2, Tabel 10–11.</a:t>
            </a:r>
          </a:p>
        </p:txBody>
      </p:sp>
      <p:grpSp>
        <p:nvGrpSpPr>
          <p:cNvPr name="Group 106" id="106"/>
          <p:cNvGrpSpPr/>
          <p:nvPr/>
        </p:nvGrpSpPr>
        <p:grpSpPr>
          <a:xfrm rot="0">
            <a:off x="16047720" y="9646920"/>
            <a:ext cx="420624" cy="420624"/>
            <a:chOff x="0" y="0"/>
            <a:chExt cx="560832" cy="560832"/>
          </a:xfrm>
        </p:grpSpPr>
        <p:sp>
          <p:nvSpPr>
            <p:cNvPr name="Freeform 107" id="107"/>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08" id="108"/>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Kandidat Variabel Struktur Konseptual Pariwisata</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Kandidat variabel dari enam subsistem beserta dasar konteks, peran, dan literatur pendukungnya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18</a:t>
            </a:r>
          </a:p>
        </p:txBody>
      </p:sp>
      <p:grpSp>
        <p:nvGrpSpPr>
          <p:cNvPr name="Group 89" id="89"/>
          <p:cNvGrpSpPr/>
          <p:nvPr/>
        </p:nvGrpSpPr>
        <p:grpSpPr>
          <a:xfrm rot="0">
            <a:off x="16047720" y="9646920"/>
            <a:ext cx="420624" cy="420624"/>
            <a:chOff x="0" y="0"/>
            <a:chExt cx="560832" cy="560832"/>
          </a:xfrm>
        </p:grpSpPr>
        <p:sp>
          <p:nvSpPr>
            <p:cNvPr name="Freeform 90" id="90"/>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91" id="91"/>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graphicFrame>
        <p:nvGraphicFramePr>
          <p:cNvPr id="92" name="Table 91"/>
          <p:cNvGraphicFramePr>
            <a:graphicFrameLocks noGrp="1"/>
          </p:cNvGraphicFramePr>
          <p:nvPr/>
        </p:nvGraphicFramePr>
        <p:xfrm>
          <a:off x="822960" y="1874519"/>
          <a:ext cx="16642080" cy="6272784"/>
        </p:xfrm>
        <a:graphic>
          <a:graphicData uri="http://schemas.openxmlformats.org/drawingml/2006/table">
            <a:tbl>
              <a:tblPr firstRow="1" bandRow="1">
                <a:tableStyleId>{5C22544A-7EE6-4342-B048-85BDC9FD1C3A}</a:tableStyleId>
              </a:tblPr>
              <a:tblGrid>
                <a:gridCol w="2377440"/>
                <a:gridCol w="3657600"/>
                <a:gridCol w="3200400"/>
                <a:gridCol w="4206240"/>
                <a:gridCol w="3200400"/>
              </a:tblGrid>
              <a:tr h="896112">
                <a:tc>
                  <a:txBody>
                    <a:bodyPr wrap="square"/>
                    <a:lstStyle/>
                    <a:p>
                      <a:r>
                        <a:rPr sz="1320" b="1" i="0">
                          <a:solidFill>
                            <a:srgbClr val="FFFFFF"/>
                          </a:solidFill>
                          <a:latin typeface="Calibri (MS) Bold"/>
                        </a:rPr>
                        <a:t>Subsistem</a:t>
                      </a:r>
                    </a:p>
                  </a:txBody>
                  <a:tcPr marL="73152" marR="73152" marT="36576" marB="36576" anchor="ctr">
                    <a:solidFill>
                      <a:srgbClr val="0B5E6E"/>
                    </a:solidFill>
                  </a:tcPr>
                </a:tc>
                <a:tc>
                  <a:txBody>
                    <a:bodyPr wrap="square"/>
                    <a:lstStyle/>
                    <a:p>
                      <a:r>
                        <a:rPr sz="1320" b="1" i="0">
                          <a:solidFill>
                            <a:srgbClr val="FFFFFF"/>
                          </a:solidFill>
                          <a:latin typeface="Calibri (MS) Bold"/>
                        </a:rPr>
                        <a:t>Kandidat variabel</a:t>
                      </a:r>
                    </a:p>
                  </a:txBody>
                  <a:tcPr marL="73152" marR="73152" marT="36576" marB="36576" anchor="ctr">
                    <a:solidFill>
                      <a:srgbClr val="0B5E6E"/>
                    </a:solidFill>
                  </a:tcPr>
                </a:tc>
                <a:tc>
                  <a:txBody>
                    <a:bodyPr wrap="square"/>
                    <a:lstStyle/>
                    <a:p>
                      <a:r>
                        <a:rPr sz="1320" b="1" i="0">
                          <a:solidFill>
                            <a:srgbClr val="FFFFFF"/>
                          </a:solidFill>
                          <a:latin typeface="Calibri (MS) Bold"/>
                        </a:rPr>
                        <a:t>Dasar konteks DIY</a:t>
                      </a:r>
                    </a:p>
                  </a:txBody>
                  <a:tcPr marL="73152" marR="73152" marT="36576" marB="36576" anchor="ctr">
                    <a:solidFill>
                      <a:srgbClr val="0B5E6E"/>
                    </a:solidFill>
                  </a:tcPr>
                </a:tc>
                <a:tc>
                  <a:txBody>
                    <a:bodyPr wrap="square"/>
                    <a:lstStyle/>
                    <a:p>
                      <a:r>
                        <a:rPr sz="1320" b="1" i="0">
                          <a:solidFill>
                            <a:srgbClr val="FFFFFF"/>
                          </a:solidFill>
                          <a:latin typeface="Calibri (MS) Bold"/>
                        </a:rPr>
                        <a:t>Peran dalam sistem</a:t>
                      </a:r>
                    </a:p>
                  </a:txBody>
                  <a:tcPr marL="73152" marR="73152" marT="36576" marB="36576" anchor="ctr">
                    <a:solidFill>
                      <a:srgbClr val="0B5E6E"/>
                    </a:solidFill>
                  </a:tcPr>
                </a:tc>
                <a:tc>
                  <a:txBody>
                    <a:bodyPr wrap="square"/>
                    <a:lstStyle/>
                    <a:p>
                      <a:r>
                        <a:rPr sz="1320" b="1" i="0">
                          <a:solidFill>
                            <a:srgbClr val="FFFFFF"/>
                          </a:solidFill>
                          <a:latin typeface="Calibri (MS) Bold"/>
                        </a:rPr>
                        <a:t>Literatur pendukung</a:t>
                      </a:r>
                    </a:p>
                  </a:txBody>
                  <a:tcPr marL="73152" marR="73152" marT="36576" marB="36576" anchor="ctr">
                    <a:solidFill>
                      <a:srgbClr val="0B5E6E"/>
                    </a:solidFill>
                  </a:tcPr>
                </a:tc>
              </a:tr>
              <a:tr h="896112">
                <a:tc>
                  <a:txBody>
                    <a:bodyPr wrap="square"/>
                    <a:lstStyle/>
                    <a:p>
                      <a:r>
                        <a:rPr sz="1320" b="1" i="0">
                          <a:solidFill>
                            <a:srgbClr val="14313B"/>
                          </a:solidFill>
                          <a:latin typeface="Calibri (MS) Bold"/>
                        </a:rPr>
                        <a:t>Permintaan dan daya tarik destinasi</a:t>
                      </a:r>
                    </a:p>
                  </a:txBody>
                  <a:tcPr marL="73152" marR="73152" marT="36576" marB="36576" anchor="ctr">
                    <a:solidFill>
                      <a:srgbClr val="FFFFFF"/>
                    </a:solidFill>
                  </a:tcPr>
                </a:tc>
                <a:tc>
                  <a:txBody>
                    <a:bodyPr wrap="square"/>
                    <a:lstStyle/>
                    <a:p>
                      <a:r>
                        <a:rPr sz="1320" b="0" i="0">
                          <a:solidFill>
                            <a:srgbClr val="14313B"/>
                          </a:solidFill>
                          <a:latin typeface="Calibri (MS)"/>
                        </a:rPr>
                        <a:t>Jumlah Wisatawan; Laju Kedatangan Wisatawan; Daya Tarik Destinasi Wisata; Kepadatan Wisatawan</a:t>
                      </a:r>
                    </a:p>
                  </a:txBody>
                  <a:tcPr marL="73152" marR="73152" marT="36576" marB="36576" anchor="ctr">
                    <a:solidFill>
                      <a:srgbClr val="FFFFFF"/>
                    </a:solidFill>
                  </a:tcPr>
                </a:tc>
                <a:tc>
                  <a:txBody>
                    <a:bodyPr wrap="square"/>
                    <a:lstStyle/>
                    <a:p>
                      <a:r>
                        <a:rPr sz="1320" b="0" i="0">
                          <a:solidFill>
                            <a:srgbClr val="14313B"/>
                          </a:solidFill>
                          <a:latin typeface="Calibri (MS)"/>
                        </a:rPr>
                        <a:t>RIPPARDA DIY; Renja Dispar DIY; UU 10/2009; IPKN 2024</a:t>
                      </a:r>
                    </a:p>
                  </a:txBody>
                  <a:tcPr marL="73152" marR="73152" marT="36576" marB="36576" anchor="ctr">
                    <a:solidFill>
                      <a:srgbClr val="FFFFFF"/>
                    </a:solidFill>
                  </a:tcPr>
                </a:tc>
                <a:tc>
                  <a:txBody>
                    <a:bodyPr wrap="square"/>
                    <a:lstStyle/>
                    <a:p>
                      <a:r>
                        <a:rPr sz="1320" b="0" i="0">
                          <a:solidFill>
                            <a:srgbClr val="14313B"/>
                          </a:solidFill>
                          <a:latin typeface="Calibri (MS)"/>
                        </a:rPr>
                        <a:t>Menggambarkan permintaan, kemampuan destinasi menarik kunjungan, dan kepadatan sebagai pembatas perkembangan destinasi</a:t>
                      </a:r>
                    </a:p>
                  </a:txBody>
                  <a:tcPr marL="73152" marR="73152" marT="36576" marB="36576" anchor="ctr">
                    <a:solidFill>
                      <a:srgbClr val="FFFFFF"/>
                    </a:solidFill>
                  </a:tcPr>
                </a:tc>
                <a:tc>
                  <a:txBody>
                    <a:bodyPr wrap="square"/>
                    <a:lstStyle/>
                    <a:p>
                      <a:r>
                        <a:rPr sz="1320" b="0" i="0">
                          <a:solidFill>
                            <a:srgbClr val="14313B"/>
                          </a:solidFill>
                          <a:latin typeface="Calibri (MS)"/>
                        </a:rPr>
                        <a:t>Mai &amp; Smith (2015, 2018); Gazoni &amp; da Silva (2022); Hu &amp; Ritchie (1993); Saveriades (2000)</a:t>
                      </a:r>
                    </a:p>
                  </a:txBody>
                  <a:tcPr marL="73152" marR="73152" marT="36576" marB="36576" anchor="ctr">
                    <a:solidFill>
                      <a:srgbClr val="FFFFFF"/>
                    </a:solidFill>
                  </a:tcPr>
                </a:tc>
              </a:tr>
              <a:tr h="896112">
                <a:tc>
                  <a:txBody>
                    <a:bodyPr wrap="square"/>
                    <a:lstStyle/>
                    <a:p>
                      <a:r>
                        <a:rPr sz="1320" b="1" i="0">
                          <a:solidFill>
                            <a:srgbClr val="14313B"/>
                          </a:solidFill>
                          <a:latin typeface="Calibri (MS) Bold"/>
                        </a:rPr>
                        <a:t>Atraksi/ODTW</a:t>
                      </a:r>
                    </a:p>
                  </a:txBody>
                  <a:tcPr marL="73152" marR="73152" marT="36576" marB="36576" anchor="ctr">
                    <a:solidFill>
                      <a:srgbClr val="EAF8FA"/>
                    </a:solidFill>
                  </a:tcPr>
                </a:tc>
                <a:tc>
                  <a:txBody>
                    <a:bodyPr wrap="square"/>
                    <a:lstStyle/>
                    <a:p>
                      <a:r>
                        <a:rPr sz="1320" b="0" i="0">
                          <a:solidFill>
                            <a:srgbClr val="14313B"/>
                          </a:solidFill>
                          <a:latin typeface="Calibri (MS)"/>
                        </a:rPr>
                        <a:t>Jumlah Objek Daya Tarik Wisata</a:t>
                      </a:r>
                    </a:p>
                  </a:txBody>
                  <a:tcPr marL="73152" marR="73152" marT="36576" marB="36576" anchor="ctr">
                    <a:solidFill>
                      <a:srgbClr val="EAF8FA"/>
                    </a:solidFill>
                  </a:tcPr>
                </a:tc>
                <a:tc>
                  <a:txBody>
                    <a:bodyPr wrap="square"/>
                    <a:lstStyle/>
                    <a:p>
                      <a:r>
                        <a:rPr sz="1320" b="0" i="0">
                          <a:solidFill>
                            <a:srgbClr val="14313B"/>
                          </a:solidFill>
                          <a:latin typeface="Calibri (MS)"/>
                        </a:rPr>
                        <a:t>UU 10/2009; RIPPARDA DIY; Renja Dispar DIY</a:t>
                      </a:r>
                    </a:p>
                  </a:txBody>
                  <a:tcPr marL="73152" marR="73152" marT="36576" marB="36576" anchor="ctr">
                    <a:solidFill>
                      <a:srgbClr val="EAF8FA"/>
                    </a:solidFill>
                  </a:tcPr>
                </a:tc>
                <a:tc>
                  <a:txBody>
                    <a:bodyPr wrap="square"/>
                    <a:lstStyle/>
                    <a:p>
                      <a:r>
                        <a:rPr sz="1320" b="0" i="0">
                          <a:solidFill>
                            <a:srgbClr val="14313B"/>
                          </a:solidFill>
                          <a:latin typeface="Calibri (MS)"/>
                        </a:rPr>
                        <a:t>Ketersediaan atraksi sebagai pembentuk daya tarik dan pendorong kunjungan</a:t>
                      </a:r>
                    </a:p>
                  </a:txBody>
                  <a:tcPr marL="73152" marR="73152" marT="36576" marB="36576" anchor="ctr">
                    <a:solidFill>
                      <a:srgbClr val="EAF8FA"/>
                    </a:solidFill>
                  </a:tcPr>
                </a:tc>
                <a:tc>
                  <a:txBody>
                    <a:bodyPr wrap="square"/>
                    <a:lstStyle/>
                    <a:p>
                      <a:r>
                        <a:rPr sz="1320" b="0" i="0">
                          <a:solidFill>
                            <a:srgbClr val="14313B"/>
                          </a:solidFill>
                          <a:latin typeface="Calibri (MS)"/>
                        </a:rPr>
                        <a:t>Leiper (1990); Hu &amp; Ritchie (1993); Gazoni &amp; da Silva (2022); Fatina dkk. (2023)</a:t>
                      </a:r>
                    </a:p>
                  </a:txBody>
                  <a:tcPr marL="73152" marR="73152" marT="36576" marB="36576" anchor="ctr">
                    <a:solidFill>
                      <a:srgbClr val="EAF8FA"/>
                    </a:solidFill>
                  </a:tcPr>
                </a:tc>
              </a:tr>
              <a:tr h="896112">
                <a:tc>
                  <a:txBody>
                    <a:bodyPr wrap="square"/>
                    <a:lstStyle/>
                    <a:p>
                      <a:r>
                        <a:rPr sz="1320" b="1" i="0">
                          <a:solidFill>
                            <a:srgbClr val="14313B"/>
                          </a:solidFill>
                          <a:latin typeface="Calibri (MS) Bold"/>
                        </a:rPr>
                        <a:t>Ekonomi dan investasi</a:t>
                      </a:r>
                    </a:p>
                  </a:txBody>
                  <a:tcPr marL="73152" marR="73152" marT="36576" marB="36576" anchor="ctr">
                    <a:solidFill>
                      <a:srgbClr val="FFFFFF"/>
                    </a:solidFill>
                  </a:tcPr>
                </a:tc>
                <a:tc>
                  <a:txBody>
                    <a:bodyPr wrap="square"/>
                    <a:lstStyle/>
                    <a:p>
                      <a:r>
                        <a:rPr sz="1320" b="0" i="0">
                          <a:solidFill>
                            <a:srgbClr val="14313B"/>
                          </a:solidFill>
                          <a:latin typeface="Calibri (MS)"/>
                        </a:rPr>
                        <a:t>Pengeluaran Wisatawan; PDRB Sektor Pariwisata; Investasi Sektor Pariwisata</a:t>
                      </a:r>
                    </a:p>
                  </a:txBody>
                  <a:tcPr marL="73152" marR="73152" marT="36576" marB="36576" anchor="ctr">
                    <a:solidFill>
                      <a:srgbClr val="FFFFFF"/>
                    </a:solidFill>
                  </a:tcPr>
                </a:tc>
                <a:tc>
                  <a:txBody>
                    <a:bodyPr wrap="square"/>
                    <a:lstStyle/>
                    <a:p>
                      <a:r>
                        <a:rPr sz="1320" b="0" i="0">
                          <a:solidFill>
                            <a:srgbClr val="14313B"/>
                          </a:solidFill>
                          <a:latin typeface="Calibri (MS)"/>
                        </a:rPr>
                        <a:t>RIPPARDA DIY; Renja Dispar DIY; Renstra Kemenpar 2025–2029; IPKN 2024</a:t>
                      </a:r>
                    </a:p>
                  </a:txBody>
                  <a:tcPr marL="73152" marR="73152" marT="36576" marB="36576" anchor="ctr">
                    <a:solidFill>
                      <a:srgbClr val="FFFFFF"/>
                    </a:solidFill>
                  </a:tcPr>
                </a:tc>
                <a:tc>
                  <a:txBody>
                    <a:bodyPr wrap="square"/>
                    <a:lstStyle/>
                    <a:p>
                      <a:r>
                        <a:rPr sz="1320" b="0" i="0">
                          <a:solidFill>
                            <a:srgbClr val="14313B"/>
                          </a:solidFill>
                          <a:latin typeface="Calibri (MS)"/>
                        </a:rPr>
                        <a:t>Jalur dari kunjungan ke konsumsi wisatawan, nilai tambah ekonomi, dan pengembangan kapasitas lewat investasi</a:t>
                      </a:r>
                    </a:p>
                  </a:txBody>
                  <a:tcPr marL="73152" marR="73152" marT="36576" marB="36576" anchor="ctr">
                    <a:solidFill>
                      <a:srgbClr val="FFFFFF"/>
                    </a:solidFill>
                  </a:tcPr>
                </a:tc>
                <a:tc>
                  <a:txBody>
                    <a:bodyPr wrap="square"/>
                    <a:lstStyle/>
                    <a:p>
                      <a:r>
                        <a:rPr sz="1320" b="0" i="0">
                          <a:solidFill>
                            <a:srgbClr val="14313B"/>
                          </a:solidFill>
                          <a:latin typeface="Calibri (MS)"/>
                        </a:rPr>
                        <a:t>Frechtling (2010); Munjal (2013); Mai &amp; Smith (2018); Fatina dkk. (2023)</a:t>
                      </a:r>
                    </a:p>
                  </a:txBody>
                  <a:tcPr marL="73152" marR="73152" marT="36576" marB="36576" anchor="ctr">
                    <a:solidFill>
                      <a:srgbClr val="FFFFFF"/>
                    </a:solidFill>
                  </a:tcPr>
                </a:tc>
              </a:tr>
              <a:tr h="896112">
                <a:tc>
                  <a:txBody>
                    <a:bodyPr wrap="square"/>
                    <a:lstStyle/>
                    <a:p>
                      <a:r>
                        <a:rPr sz="1320" b="1" i="0">
                          <a:solidFill>
                            <a:srgbClr val="14313B"/>
                          </a:solidFill>
                          <a:latin typeface="Calibri (MS) Bold"/>
                        </a:rPr>
                        <a:t>Akomodasi</a:t>
                      </a:r>
                    </a:p>
                  </a:txBody>
                  <a:tcPr marL="73152" marR="73152" marT="36576" marB="36576" anchor="ctr">
                    <a:solidFill>
                      <a:srgbClr val="EAF8FA"/>
                    </a:solidFill>
                  </a:tcPr>
                </a:tc>
                <a:tc>
                  <a:txBody>
                    <a:bodyPr wrap="square"/>
                    <a:lstStyle/>
                    <a:p>
                      <a:r>
                        <a:rPr sz="1320" b="0" i="0">
                          <a:solidFill>
                            <a:srgbClr val="14313B"/>
                          </a:solidFill>
                          <a:latin typeface="Calibri (MS)"/>
                        </a:rPr>
                        <a:t>Jumlah Hotel dan Akomodasi; Rasio Permintaan terhadap Kapasitas Kamar; Laju Konstruksi Hotel dan Akomodasi</a:t>
                      </a:r>
                    </a:p>
                  </a:txBody>
                  <a:tcPr marL="73152" marR="73152" marT="36576" marB="36576" anchor="ctr">
                    <a:solidFill>
                      <a:srgbClr val="EAF8FA"/>
                    </a:solidFill>
                  </a:tcPr>
                </a:tc>
                <a:tc>
                  <a:txBody>
                    <a:bodyPr wrap="square"/>
                    <a:lstStyle/>
                    <a:p>
                      <a:r>
                        <a:rPr sz="1320" b="0" i="0">
                          <a:solidFill>
                            <a:srgbClr val="14313B"/>
                          </a:solidFill>
                          <a:latin typeface="Calibri (MS)"/>
                        </a:rPr>
                        <a:t>UU 10/2009; RIPPARDA DIY; IPKN 2024</a:t>
                      </a:r>
                    </a:p>
                  </a:txBody>
                  <a:tcPr marL="73152" marR="73152" marT="36576" marB="36576" anchor="ctr">
                    <a:solidFill>
                      <a:srgbClr val="EAF8FA"/>
                    </a:solidFill>
                  </a:tcPr>
                </a:tc>
                <a:tc>
                  <a:txBody>
                    <a:bodyPr wrap="square"/>
                    <a:lstStyle/>
                    <a:p>
                      <a:r>
                        <a:rPr sz="1320" b="0" i="0">
                          <a:solidFill>
                            <a:srgbClr val="14313B"/>
                          </a:solidFill>
                          <a:latin typeface="Calibri (MS)"/>
                        </a:rPr>
                        <a:t>Kapasitas akomodasi dan penyesuaian pasokan terhadap permintaan kamar</a:t>
                      </a:r>
                    </a:p>
                  </a:txBody>
                  <a:tcPr marL="73152" marR="73152" marT="36576" marB="36576" anchor="ctr">
                    <a:solidFill>
                      <a:srgbClr val="EAF8FA"/>
                    </a:solidFill>
                  </a:tcPr>
                </a:tc>
                <a:tc>
                  <a:txBody>
                    <a:bodyPr wrap="square"/>
                    <a:lstStyle/>
                    <a:p>
                      <a:r>
                        <a:rPr sz="1320" b="0" i="0">
                          <a:solidFill>
                            <a:srgbClr val="14313B"/>
                          </a:solidFill>
                          <a:latin typeface="Calibri (MS)"/>
                        </a:rPr>
                        <a:t>Wheaton &amp; Rossoff (1998); Fatina dkk. (2023)</a:t>
                      </a:r>
                    </a:p>
                  </a:txBody>
                  <a:tcPr marL="73152" marR="73152" marT="36576" marB="36576" anchor="ctr">
                    <a:solidFill>
                      <a:srgbClr val="EAF8FA"/>
                    </a:solidFill>
                  </a:tcPr>
                </a:tc>
              </a:tr>
              <a:tr h="896112">
                <a:tc>
                  <a:txBody>
                    <a:bodyPr wrap="square"/>
                    <a:lstStyle/>
                    <a:p>
                      <a:r>
                        <a:rPr sz="1320" b="1" i="0">
                          <a:solidFill>
                            <a:srgbClr val="14313B"/>
                          </a:solidFill>
                          <a:latin typeface="Calibri (MS) Bold"/>
                        </a:rPr>
                        <a:t>Lahan dan daya dukung</a:t>
                      </a:r>
                    </a:p>
                  </a:txBody>
                  <a:tcPr marL="73152" marR="73152" marT="36576" marB="36576" anchor="ctr">
                    <a:solidFill>
                      <a:srgbClr val="FFFFFF"/>
                    </a:solidFill>
                  </a:tcPr>
                </a:tc>
                <a:tc>
                  <a:txBody>
                    <a:bodyPr wrap="square"/>
                    <a:lstStyle/>
                    <a:p>
                      <a:r>
                        <a:rPr sz="1320" b="0" i="0">
                          <a:solidFill>
                            <a:srgbClr val="14313B"/>
                          </a:solidFill>
                          <a:latin typeface="Calibri (MS)"/>
                        </a:rPr>
                        <a:t>Rasio Daya Dukung Lahan</a:t>
                      </a:r>
                    </a:p>
                  </a:txBody>
                  <a:tcPr marL="73152" marR="73152" marT="36576" marB="36576" anchor="ctr">
                    <a:solidFill>
                      <a:srgbClr val="FFFFFF"/>
                    </a:solidFill>
                  </a:tcPr>
                </a:tc>
                <a:tc>
                  <a:txBody>
                    <a:bodyPr wrap="square"/>
                    <a:lstStyle/>
                    <a:p>
                      <a:r>
                        <a:rPr sz="1320" b="0" i="0">
                          <a:solidFill>
                            <a:srgbClr val="14313B"/>
                          </a:solidFill>
                          <a:latin typeface="Calibri (MS)"/>
                        </a:rPr>
                        <a:t>RIPPARDA DIY; IPKN; dokumen Sustainable Tourism Development</a:t>
                      </a:r>
                    </a:p>
                  </a:txBody>
                  <a:tcPr marL="73152" marR="73152" marT="36576" marB="36576" anchor="ctr">
                    <a:solidFill>
                      <a:srgbClr val="FFFFFF"/>
                    </a:solidFill>
                  </a:tcPr>
                </a:tc>
                <a:tc>
                  <a:txBody>
                    <a:bodyPr wrap="square"/>
                    <a:lstStyle/>
                    <a:p>
                      <a:r>
                        <a:rPr sz="1320" b="0" i="0">
                          <a:solidFill>
                            <a:srgbClr val="14313B"/>
                          </a:solidFill>
                          <a:latin typeface="Calibri (MS)"/>
                        </a:rPr>
                        <a:t>Keterbatasan fisik destinasi dan tekanan pembangunan terhadap lahan sebagai pembatas pertumbuhan</a:t>
                      </a:r>
                    </a:p>
                  </a:txBody>
                  <a:tcPr marL="73152" marR="73152" marT="36576" marB="36576" anchor="ctr">
                    <a:solidFill>
                      <a:srgbClr val="FFFFFF"/>
                    </a:solidFill>
                  </a:tcPr>
                </a:tc>
                <a:tc>
                  <a:txBody>
                    <a:bodyPr wrap="square"/>
                    <a:lstStyle/>
                    <a:p>
                      <a:r>
                        <a:rPr sz="1320" b="0" i="0">
                          <a:solidFill>
                            <a:srgbClr val="14313B"/>
                          </a:solidFill>
                          <a:latin typeface="Calibri (MS)"/>
                        </a:rPr>
                        <a:t>Saveriades (2000); Mai &amp; Smith (2015, 2018); Fatina dkk. (2023)</a:t>
                      </a:r>
                    </a:p>
                  </a:txBody>
                  <a:tcPr marL="73152" marR="73152" marT="36576" marB="36576" anchor="ctr">
                    <a:solidFill>
                      <a:srgbClr val="FFFFFF"/>
                    </a:solidFill>
                  </a:tcPr>
                </a:tc>
              </a:tr>
              <a:tr h="896112">
                <a:tc>
                  <a:txBody>
                    <a:bodyPr wrap="square"/>
                    <a:lstStyle/>
                    <a:p>
                      <a:r>
                        <a:rPr sz="1320" b="1" i="0">
                          <a:solidFill>
                            <a:srgbClr val="14313B"/>
                          </a:solidFill>
                          <a:latin typeface="Calibri (MS) Bold"/>
                        </a:rPr>
                        <a:t>Tenaga kerja pariwisata</a:t>
                      </a:r>
                    </a:p>
                  </a:txBody>
                  <a:tcPr marL="73152" marR="73152" marT="36576" marB="36576" anchor="ctr">
                    <a:solidFill>
                      <a:srgbClr val="EAF8FA"/>
                    </a:solidFill>
                  </a:tcPr>
                </a:tc>
                <a:tc>
                  <a:txBody>
                    <a:bodyPr wrap="square"/>
                    <a:lstStyle/>
                    <a:p>
                      <a:r>
                        <a:rPr sz="1320" b="0" i="0">
                          <a:solidFill>
                            <a:srgbClr val="14313B"/>
                          </a:solidFill>
                          <a:latin typeface="Calibri (MS)"/>
                        </a:rPr>
                        <a:t>Tenaga Kerja Pariwisata; Selisih Tenaga Kerja Dibutuhkan; Laju Penyerapan Tenaga Kerja</a:t>
                      </a:r>
                    </a:p>
                  </a:txBody>
                  <a:tcPr marL="73152" marR="73152" marT="36576" marB="36576" anchor="ctr">
                    <a:solidFill>
                      <a:srgbClr val="EAF8FA"/>
                    </a:solidFill>
                  </a:tcPr>
                </a:tc>
                <a:tc>
                  <a:txBody>
                    <a:bodyPr wrap="square"/>
                    <a:lstStyle/>
                    <a:p>
                      <a:r>
                        <a:rPr sz="1320" b="0" i="0">
                          <a:solidFill>
                            <a:srgbClr val="14313B"/>
                          </a:solidFill>
                          <a:latin typeface="Calibri (MS)"/>
                        </a:rPr>
                        <a:t>RIPPARDA DIY; Renja Dispar DIY; Renstra Kemenpar 2025–2029</a:t>
                      </a:r>
                    </a:p>
                  </a:txBody>
                  <a:tcPr marL="73152" marR="73152" marT="36576" marB="36576" anchor="ctr">
                    <a:solidFill>
                      <a:srgbClr val="EAF8FA"/>
                    </a:solidFill>
                  </a:tcPr>
                </a:tc>
                <a:tc>
                  <a:txBody>
                    <a:bodyPr wrap="square"/>
                    <a:lstStyle/>
                    <a:p>
                      <a:r>
                        <a:rPr sz="1320" b="0" i="0">
                          <a:solidFill>
                            <a:srgbClr val="14313B"/>
                          </a:solidFill>
                          <a:latin typeface="Calibri (MS)"/>
                        </a:rPr>
                        <a:t>Dampak aktivitas ekonomi pariwisata terhadap kebutuhan dan penyesuaian tenaga kerja</a:t>
                      </a:r>
                    </a:p>
                  </a:txBody>
                  <a:tcPr marL="73152" marR="73152" marT="36576" marB="36576" anchor="ctr">
                    <a:solidFill>
                      <a:srgbClr val="EAF8FA"/>
                    </a:solidFill>
                  </a:tcPr>
                </a:tc>
                <a:tc>
                  <a:txBody>
                    <a:bodyPr wrap="square"/>
                    <a:lstStyle/>
                    <a:p>
                      <a:r>
                        <a:rPr sz="1320" b="0" i="0">
                          <a:solidFill>
                            <a:srgbClr val="14313B"/>
                          </a:solidFill>
                          <a:latin typeface="Calibri (MS)"/>
                        </a:rPr>
                        <a:t>Munjal (2013); Fatina dkk. (2023); Sánchez López (2023)</a:t>
                      </a:r>
                    </a:p>
                  </a:txBody>
                  <a:tcPr marL="73152" marR="73152" marT="36576" marB="36576" anchor="ctr">
                    <a:solidFill>
                      <a:srgbClr val="EAF8FA"/>
                    </a:solidFill>
                  </a:tcPr>
                </a:tc>
              </a:tr>
            </a:tbl>
          </a:graphicData>
        </a:graphic>
      </p:graphicFrame>
      <p:sp>
        <p:nvSpPr>
          <p:cNvPr id="93" name="Rounded Rectangle 92"/>
          <p:cNvSpPr/>
          <p:nvPr/>
        </p:nvSpPr>
        <p:spPr>
          <a:xfrm>
            <a:off x="822960" y="8229600"/>
            <a:ext cx="16642080" cy="8686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490" b="1" i="0">
                <a:solidFill>
                  <a:srgbClr val="0B5E6E"/>
                </a:solidFill>
                <a:latin typeface="Calibri (MS) Bold"/>
              </a:rPr>
              <a:t>Catatan  </a:t>
            </a:r>
            <a:r>
              <a:rPr sz="1440" b="0" i="0">
                <a:solidFill>
                  <a:srgbClr val="14313B"/>
                </a:solidFill>
                <a:latin typeface="Calibri (MS)"/>
              </a:rPr>
              <a:t>15 kandidat ini belum otomatis masuk CLD; semuanya dievaluasi dulu (relevansi, definisi, mekanisme sebab-akibat, peran dalam feedback loop, dukungan teori). Rujukan menjadi dasar keberadaan variabel, bukan dasar nilai parameter.</a:t>
            </a:r>
          </a:p>
        </p:txBody>
      </p:sp>
      <p:sp>
        <p:nvSpPr>
          <p:cNvPr id="94" name="TextBox 93"/>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3.7.2.1, Tabel 10.</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Identifikasi dan Evaluasi Variabel CLD</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CLD disusun melalui adaptasi dan evaluasi, bukan menyalin model rujukan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19</a:t>
            </a:r>
          </a:p>
        </p:txBody>
      </p:sp>
      <p:sp>
        <p:nvSpPr>
          <p:cNvPr name="TextBox 67" id="67"/>
          <p:cNvSpPr txBox="true"/>
          <p:nvPr/>
        </p:nvSpPr>
        <p:spPr>
          <a:xfrm rot="0">
            <a:off x="822960" y="2171700"/>
            <a:ext cx="10149840" cy="571500"/>
          </a:xfrm>
          <a:prstGeom prst="rect">
            <a:avLst/>
          </a:prstGeom>
        </p:spPr>
        <p:txBody>
          <a:bodyPr anchor="t" rtlCol="false" tIns="0" lIns="0" bIns="0" rIns="0">
            <a:spAutoFit/>
          </a:bodyPr>
          <a:lstStyle/>
          <a:p>
            <a:pPr algn="l">
              <a:lnSpc>
                <a:spcPts val="2688"/>
              </a:lnSpc>
            </a:pPr>
            <a:r>
              <a:rPr lang="en-US" sz="2000" b="true">
                <a:solidFill>
                  <a:srgbClr val="0B5E6E"/>
                </a:solidFill>
                <a:latin typeface="Calibri (MS) Bold"/>
                <a:ea typeface="Calibri (MS) Bold"/>
                <a:cs typeface="Calibri (MS) Bold"/>
                <a:sym typeface="Calibri (MS) Bold"/>
              </a:rPr>
              <a:t>Hasil evaluasi kandidat variabel penyusun CLD</a:t>
            </a:r>
          </a:p>
        </p:txBody>
      </p:sp>
      <p:graphicFrame>
        <p:nvGraphicFramePr>
          <p:cNvPr name="Table 68" id="68"/>
          <p:cNvGraphicFramePr>
            <a:graphicFrameLocks noGrp="true"/>
          </p:cNvGraphicFramePr>
          <p:nvPr/>
        </p:nvGraphicFramePr>
        <p:xfrm>
          <a:off x="822960" y="2880360"/>
          <a:ext cx="10121900" cy="4826000"/>
        </p:xfrm>
        <a:graphic>
          <a:graphicData uri="http://schemas.openxmlformats.org/drawingml/2006/table">
            <a:tbl>
              <a:tblPr/>
              <a:tblGrid>
                <a:gridCol w="2462084"/>
                <a:gridCol w="5562486"/>
                <a:gridCol w="2097330"/>
              </a:tblGrid>
              <a:tr h="480948">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Subsistem</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Kandidat variabel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680"/>
                        </a:lnSpc>
                        <a:defRPr/>
                      </a:pPr>
                      <a:r>
                        <a:rPr lang="en-US" sz="1400" b="true">
                          <a:solidFill>
                            <a:srgbClr val="FFFFFF"/>
                          </a:solidFill>
                          <a:latin typeface="Calibri (MS) Bold"/>
                          <a:ea typeface="Calibri (MS) Bold"/>
                          <a:cs typeface="Calibri (MS) Bold"/>
                          <a:sym typeface="Calibri (MS) Bold"/>
                        </a:rPr>
                        <a:t>Status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72417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Permintaan &amp; daya tarik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Jumlah Wisatawan, Laju Kedatangan, Daya Tarik Destinasi, Kepadatan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17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Atraksi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Jumlah 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17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Ekonomi &amp; investasi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Pengeluaran Wisatawan, PDRB Sektor Pariwisata, Investasi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17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Akomodasi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Jumlah Hotel &amp; Akomodasi, Rasio Permintaan thd Kapasitas Kamar, Laju Konstruksi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17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Lahan &amp; daya dukung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Rasio Daya Dukung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17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Tenaga kerja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Tenaga Kerja Pariwisata, Selisih TK Dibutuhkan, Laju Penyerapan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 peran direvisi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r>
            </a:tbl>
          </a:graphicData>
        </a:graphic>
      </p:graphicFrame>
      <p:sp>
        <p:nvSpPr>
          <p:cNvPr name="TextBox 69" id="69"/>
          <p:cNvSpPr txBox="true"/>
          <p:nvPr/>
        </p:nvSpPr>
        <p:spPr>
          <a:xfrm rot="0">
            <a:off x="822960" y="7905750"/>
            <a:ext cx="10149840" cy="918210"/>
          </a:xfrm>
          <a:prstGeom prst="rect">
            <a:avLst/>
          </a:prstGeom>
        </p:spPr>
        <p:txBody>
          <a:bodyPr anchor="t" rtlCol="false" tIns="0" lIns="0" bIns="0" rIns="0">
            <a:spAutoFit/>
          </a:bodyPr>
          <a:lstStyle/>
          <a:p>
            <a:pPr algn="l">
              <a:lnSpc>
                <a:spcPts val="1881"/>
              </a:lnSpc>
            </a:pPr>
            <a:r>
              <a:rPr lang="en-US" sz="1400">
                <a:solidFill>
                  <a:srgbClr val="5E6E78"/>
                </a:solidFill>
                <a:latin typeface="Calibri (MS)"/>
                <a:ea typeface="Calibri (MS)"/>
                <a:cs typeface="Calibri (MS)"/>
                <a:sym typeface="Calibri (MS)"/>
              </a:rPr>
              <a:t>Dasar evaluasi: regulasi dan dokumen perencanaan (RIPPARDA DIY 2012; Renja Dinas Pariwisata DIY 2025), indikator resmi, karakteristik empiris DIY, dan literatur.</a:t>
            </a:r>
          </a:p>
        </p:txBody>
      </p:sp>
      <p:grpSp>
        <p:nvGrpSpPr>
          <p:cNvPr name="Group 70" id="70"/>
          <p:cNvGrpSpPr/>
          <p:nvPr/>
        </p:nvGrpSpPr>
        <p:grpSpPr>
          <a:xfrm rot="0">
            <a:off x="11384280" y="2395728"/>
            <a:ext cx="6071616" cy="1828800"/>
            <a:chOff x="0" y="0"/>
            <a:chExt cx="8095488" cy="2438400"/>
          </a:xfrm>
        </p:grpSpPr>
        <p:sp>
          <p:nvSpPr>
            <p:cNvPr name="Freeform 71" id="71"/>
            <p:cNvSpPr/>
            <p:nvPr/>
          </p:nvSpPr>
          <p:spPr>
            <a:xfrm flipH="false" flipV="false" rot="0">
              <a:off x="0" y="0"/>
              <a:ext cx="8095488" cy="2438400"/>
            </a:xfrm>
            <a:custGeom>
              <a:avLst/>
              <a:gdLst/>
              <a:ahLst/>
              <a:cxnLst/>
              <a:rect r="r" b="b" t="t" l="l"/>
              <a:pathLst>
                <a:path h="2438400" w="8095488">
                  <a:moveTo>
                    <a:pt x="0" y="170688"/>
                  </a:moveTo>
                  <a:cubicBezTo>
                    <a:pt x="0" y="76454"/>
                    <a:pt x="76454" y="0"/>
                    <a:pt x="170688" y="0"/>
                  </a:cubicBezTo>
                  <a:lnTo>
                    <a:pt x="7924800" y="0"/>
                  </a:lnTo>
                  <a:cubicBezTo>
                    <a:pt x="8019034" y="0"/>
                    <a:pt x="8095488" y="76454"/>
                    <a:pt x="8095488" y="170688"/>
                  </a:cubicBezTo>
                  <a:lnTo>
                    <a:pt x="8095488" y="2267712"/>
                  </a:lnTo>
                  <a:cubicBezTo>
                    <a:pt x="8095488" y="2361946"/>
                    <a:pt x="8019034" y="2438400"/>
                    <a:pt x="7924800" y="2438400"/>
                  </a:cubicBezTo>
                  <a:lnTo>
                    <a:pt x="170688" y="2438400"/>
                  </a:lnTo>
                  <a:cubicBezTo>
                    <a:pt x="76454" y="2438400"/>
                    <a:pt x="0" y="2361946"/>
                    <a:pt x="0" y="2267712"/>
                  </a:cubicBezTo>
                  <a:close/>
                </a:path>
              </a:pathLst>
            </a:custGeom>
            <a:solidFill>
              <a:srgbClr val="EAF8FA"/>
            </a:solidFill>
          </p:spPr>
          <p:txBody>
            <a:bodyPr/>
            <a:p/>
          </p:txBody>
        </p:sp>
      </p:grpSp>
      <p:sp>
        <p:nvSpPr>
          <p:cNvPr name="TextBox 72" id="72"/>
          <p:cNvSpPr txBox="true"/>
          <p:nvPr/>
        </p:nvSpPr>
        <p:spPr>
          <a:xfrm rot="0">
            <a:off x="11658600" y="2274570"/>
            <a:ext cx="5522976" cy="1017270"/>
          </a:xfrm>
          <a:prstGeom prst="rect">
            <a:avLst/>
          </a:prstGeom>
        </p:spPr>
        <p:txBody>
          <a:bodyPr anchor="t" rtlCol="false" tIns="0" lIns="0" bIns="0" rIns="0">
            <a:spAutoFit/>
          </a:bodyPr>
          <a:lstStyle/>
          <a:p>
            <a:pPr algn="l">
              <a:lnSpc>
                <a:spcPts val="5375"/>
              </a:lnSpc>
            </a:pPr>
            <a:r>
              <a:rPr lang="en-US" sz="3999" b="true">
                <a:solidFill>
                  <a:srgbClr val="0B5E6E"/>
                </a:solidFill>
                <a:latin typeface="Calibri (MS) Bold"/>
                <a:ea typeface="Calibri (MS) Bold"/>
                <a:cs typeface="Calibri (MS) Bold"/>
                <a:sym typeface="Calibri (MS) Bold"/>
              </a:rPr>
              <a:t>15</a:t>
            </a:r>
          </a:p>
        </p:txBody>
      </p:sp>
      <p:sp>
        <p:nvSpPr>
          <p:cNvPr name="TextBox 73" id="73"/>
          <p:cNvSpPr txBox="true"/>
          <p:nvPr/>
        </p:nvSpPr>
        <p:spPr>
          <a:xfrm rot="0">
            <a:off x="11658600" y="3100073"/>
            <a:ext cx="5522976" cy="1009650"/>
          </a:xfrm>
          <a:prstGeom prst="rect">
            <a:avLst/>
          </a:prstGeom>
        </p:spPr>
        <p:txBody>
          <a:bodyPr anchor="t" rtlCol="false" tIns="0" lIns="0" bIns="0" rIns="0">
            <a:spAutoFit/>
          </a:bodyPr>
          <a:lstStyle/>
          <a:p>
            <a:pPr algn="l">
              <a:lnSpc>
                <a:spcPts val="2149"/>
              </a:lnSpc>
            </a:pPr>
            <a:r>
              <a:rPr lang="en-US" sz="1599">
                <a:solidFill>
                  <a:srgbClr val="5E6E78"/>
                </a:solidFill>
                <a:latin typeface="Calibri (MS)"/>
                <a:ea typeface="Calibri (MS)"/>
                <a:cs typeface="Calibri (MS)"/>
                <a:sym typeface="Calibri (MS)"/>
              </a:rPr>
              <a:t>kandidat variabel dari 6 subsistem dievaluasi — seluruhnya dipertahankan</a:t>
            </a:r>
          </a:p>
        </p:txBody>
      </p:sp>
      <p:grpSp>
        <p:nvGrpSpPr>
          <p:cNvPr name="Group 74" id="74"/>
          <p:cNvGrpSpPr/>
          <p:nvPr/>
        </p:nvGrpSpPr>
        <p:grpSpPr>
          <a:xfrm rot="0">
            <a:off x="11384280" y="4379976"/>
            <a:ext cx="6071616" cy="1828800"/>
            <a:chOff x="0" y="0"/>
            <a:chExt cx="8095488" cy="2438400"/>
          </a:xfrm>
        </p:grpSpPr>
        <p:sp>
          <p:nvSpPr>
            <p:cNvPr name="Freeform 75" id="75"/>
            <p:cNvSpPr/>
            <p:nvPr/>
          </p:nvSpPr>
          <p:spPr>
            <a:xfrm flipH="false" flipV="false" rot="0">
              <a:off x="0" y="0"/>
              <a:ext cx="8095488" cy="2438400"/>
            </a:xfrm>
            <a:custGeom>
              <a:avLst/>
              <a:gdLst/>
              <a:ahLst/>
              <a:cxnLst/>
              <a:rect r="r" b="b" t="t" l="l"/>
              <a:pathLst>
                <a:path h="2438400" w="8095488">
                  <a:moveTo>
                    <a:pt x="0" y="170688"/>
                  </a:moveTo>
                  <a:cubicBezTo>
                    <a:pt x="0" y="76454"/>
                    <a:pt x="76454" y="0"/>
                    <a:pt x="170688" y="0"/>
                  </a:cubicBezTo>
                  <a:lnTo>
                    <a:pt x="7924800" y="0"/>
                  </a:lnTo>
                  <a:cubicBezTo>
                    <a:pt x="8019034" y="0"/>
                    <a:pt x="8095488" y="76454"/>
                    <a:pt x="8095488" y="170688"/>
                  </a:cubicBezTo>
                  <a:lnTo>
                    <a:pt x="8095488" y="2267712"/>
                  </a:lnTo>
                  <a:cubicBezTo>
                    <a:pt x="8095488" y="2361946"/>
                    <a:pt x="8019034" y="2438400"/>
                    <a:pt x="7924800" y="2438400"/>
                  </a:cubicBezTo>
                  <a:lnTo>
                    <a:pt x="170688" y="2438400"/>
                  </a:lnTo>
                  <a:cubicBezTo>
                    <a:pt x="76454" y="2438400"/>
                    <a:pt x="0" y="2361946"/>
                    <a:pt x="0" y="2267712"/>
                  </a:cubicBezTo>
                  <a:close/>
                </a:path>
              </a:pathLst>
            </a:custGeom>
            <a:solidFill>
              <a:srgbClr val="EAF8FA"/>
            </a:solidFill>
          </p:spPr>
          <p:txBody>
            <a:bodyPr/>
            <a:p/>
          </p:txBody>
        </p:sp>
      </p:grpSp>
      <p:sp>
        <p:nvSpPr>
          <p:cNvPr name="TextBox 76" id="76"/>
          <p:cNvSpPr txBox="true"/>
          <p:nvPr/>
        </p:nvSpPr>
        <p:spPr>
          <a:xfrm rot="0">
            <a:off x="11658600" y="4258818"/>
            <a:ext cx="5522976" cy="1017270"/>
          </a:xfrm>
          <a:prstGeom prst="rect">
            <a:avLst/>
          </a:prstGeom>
        </p:spPr>
        <p:txBody>
          <a:bodyPr anchor="t" rtlCol="false" tIns="0" lIns="0" bIns="0" rIns="0">
            <a:spAutoFit/>
          </a:bodyPr>
          <a:lstStyle/>
          <a:p>
            <a:pPr algn="l">
              <a:lnSpc>
                <a:spcPts val="5375"/>
              </a:lnSpc>
            </a:pPr>
            <a:r>
              <a:rPr lang="en-US" sz="3999" b="true">
                <a:solidFill>
                  <a:srgbClr val="0B5E6E"/>
                </a:solidFill>
                <a:latin typeface="Calibri (MS) Bold"/>
                <a:ea typeface="Calibri (MS) Bold"/>
                <a:cs typeface="Calibri (MS) Bold"/>
                <a:sym typeface="Calibri (MS) Bold"/>
              </a:rPr>
              <a:t>18</a:t>
            </a:r>
          </a:p>
        </p:txBody>
      </p:sp>
      <p:sp>
        <p:nvSpPr>
          <p:cNvPr name="TextBox 77" id="77"/>
          <p:cNvSpPr txBox="true"/>
          <p:nvPr/>
        </p:nvSpPr>
        <p:spPr>
          <a:xfrm rot="0">
            <a:off x="11658600" y="5084321"/>
            <a:ext cx="5522976" cy="1009650"/>
          </a:xfrm>
          <a:prstGeom prst="rect">
            <a:avLst/>
          </a:prstGeom>
        </p:spPr>
        <p:txBody>
          <a:bodyPr anchor="t" rtlCol="false" tIns="0" lIns="0" bIns="0" rIns="0">
            <a:spAutoFit/>
          </a:bodyPr>
          <a:lstStyle/>
          <a:p>
            <a:pPr algn="l">
              <a:lnSpc>
                <a:spcPts val="2149"/>
              </a:lnSpc>
            </a:pPr>
            <a:r>
              <a:rPr lang="en-US" sz="1599">
                <a:solidFill>
                  <a:srgbClr val="5E6E78"/>
                </a:solidFill>
                <a:latin typeface="Calibri (MS)"/>
                <a:ea typeface="Calibri (MS)"/>
                <a:cs typeface="Calibri (MS)"/>
                <a:sym typeface="Calibri (MS)"/>
              </a:rPr>
              <a:t>hubungan kausal dievaluasi: arah, mekanisme, dan dasarnya (literatur pendukung atau definisi dalam model)</a:t>
            </a:r>
          </a:p>
        </p:txBody>
      </p:sp>
      <p:grpSp>
        <p:nvGrpSpPr>
          <p:cNvPr name="Group 78" id="78"/>
          <p:cNvGrpSpPr/>
          <p:nvPr/>
        </p:nvGrpSpPr>
        <p:grpSpPr>
          <a:xfrm rot="0">
            <a:off x="11384280" y="6364224"/>
            <a:ext cx="6071616" cy="1828800"/>
            <a:chOff x="0" y="0"/>
            <a:chExt cx="8095488" cy="2438400"/>
          </a:xfrm>
        </p:grpSpPr>
        <p:sp>
          <p:nvSpPr>
            <p:cNvPr name="Freeform 79" id="79"/>
            <p:cNvSpPr/>
            <p:nvPr/>
          </p:nvSpPr>
          <p:spPr>
            <a:xfrm flipH="false" flipV="false" rot="0">
              <a:off x="0" y="0"/>
              <a:ext cx="8095488" cy="2438400"/>
            </a:xfrm>
            <a:custGeom>
              <a:avLst/>
              <a:gdLst/>
              <a:ahLst/>
              <a:cxnLst/>
              <a:rect r="r" b="b" t="t" l="l"/>
              <a:pathLst>
                <a:path h="2438400" w="8095488">
                  <a:moveTo>
                    <a:pt x="0" y="170688"/>
                  </a:moveTo>
                  <a:cubicBezTo>
                    <a:pt x="0" y="76454"/>
                    <a:pt x="76454" y="0"/>
                    <a:pt x="170688" y="0"/>
                  </a:cubicBezTo>
                  <a:lnTo>
                    <a:pt x="7924800" y="0"/>
                  </a:lnTo>
                  <a:cubicBezTo>
                    <a:pt x="8019034" y="0"/>
                    <a:pt x="8095488" y="76454"/>
                    <a:pt x="8095488" y="170688"/>
                  </a:cubicBezTo>
                  <a:lnTo>
                    <a:pt x="8095488" y="2267712"/>
                  </a:lnTo>
                  <a:cubicBezTo>
                    <a:pt x="8095488" y="2361946"/>
                    <a:pt x="8019034" y="2438400"/>
                    <a:pt x="7924800" y="2438400"/>
                  </a:cubicBezTo>
                  <a:lnTo>
                    <a:pt x="170688" y="2438400"/>
                  </a:lnTo>
                  <a:cubicBezTo>
                    <a:pt x="76454" y="2438400"/>
                    <a:pt x="0" y="2361946"/>
                    <a:pt x="0" y="2267712"/>
                  </a:cubicBezTo>
                  <a:close/>
                </a:path>
              </a:pathLst>
            </a:custGeom>
            <a:solidFill>
              <a:srgbClr val="FFF1BF"/>
            </a:solidFill>
          </p:spPr>
          <p:txBody>
            <a:bodyPr/>
            <a:p/>
          </p:txBody>
        </p:sp>
      </p:grpSp>
      <p:sp>
        <p:nvSpPr>
          <p:cNvPr name="TextBox 80" id="80"/>
          <p:cNvSpPr txBox="true"/>
          <p:nvPr/>
        </p:nvSpPr>
        <p:spPr>
          <a:xfrm rot="0">
            <a:off x="11658600" y="6243066"/>
            <a:ext cx="5522976" cy="1017270"/>
          </a:xfrm>
          <a:prstGeom prst="rect">
            <a:avLst/>
          </a:prstGeom>
        </p:spPr>
        <p:txBody>
          <a:bodyPr anchor="t" rtlCol="false" tIns="0" lIns="0" bIns="0" rIns="0">
            <a:spAutoFit/>
          </a:bodyPr>
          <a:lstStyle/>
          <a:p>
            <a:pPr algn="l">
              <a:lnSpc>
                <a:spcPts val="5375"/>
              </a:lnSpc>
            </a:pPr>
            <a:r>
              <a:rPr lang="en-US" sz="3999" b="true">
                <a:solidFill>
                  <a:srgbClr val="0B5E6E"/>
                </a:solidFill>
                <a:latin typeface="Calibri (MS) Bold"/>
                <a:ea typeface="Calibri (MS) Bold"/>
                <a:cs typeface="Calibri (MS) Bold"/>
                <a:sym typeface="Calibri (MS) Bold"/>
              </a:rPr>
              <a:t>1</a:t>
            </a:r>
          </a:p>
        </p:txBody>
      </p:sp>
      <p:sp>
        <p:nvSpPr>
          <p:cNvPr name="TextBox 81" id="81"/>
          <p:cNvSpPr txBox="true"/>
          <p:nvPr/>
        </p:nvSpPr>
        <p:spPr>
          <a:xfrm rot="0">
            <a:off x="11658600" y="7068569"/>
            <a:ext cx="5522976" cy="1009650"/>
          </a:xfrm>
          <a:prstGeom prst="rect">
            <a:avLst/>
          </a:prstGeom>
        </p:spPr>
        <p:txBody>
          <a:bodyPr anchor="t" rtlCol="false" tIns="0" lIns="0" bIns="0" rIns="0">
            <a:spAutoFit/>
          </a:bodyPr>
          <a:lstStyle/>
          <a:p>
            <a:pPr algn="l">
              <a:lnSpc>
                <a:spcPts val="2149"/>
              </a:lnSpc>
            </a:pPr>
            <a:r>
              <a:rPr lang="en-US" sz="1599">
                <a:solidFill>
                  <a:srgbClr val="5E6E78"/>
                </a:solidFill>
                <a:latin typeface="Calibri (MS)"/>
                <a:ea typeface="Calibri (MS)"/>
                <a:cs typeface="Calibri (MS)"/>
                <a:sym typeface="Calibri (MS)"/>
              </a:rPr>
              <a:t>hubungan dibuang: Tenaga Kerja Pariwisata → pembangunan ODTW (dasar sebab-akibatnya tidak cukup)</a:t>
            </a:r>
          </a:p>
        </p:txBody>
      </p:sp>
      <p:grpSp>
        <p:nvGrpSpPr>
          <p:cNvPr name="Group 82" id="82"/>
          <p:cNvGrpSpPr/>
          <p:nvPr/>
        </p:nvGrpSpPr>
        <p:grpSpPr>
          <a:xfrm rot="0">
            <a:off x="11384280" y="8348472"/>
            <a:ext cx="6071616" cy="886968"/>
            <a:chOff x="0" y="0"/>
            <a:chExt cx="8095488" cy="1182624"/>
          </a:xfrm>
        </p:grpSpPr>
        <p:sp>
          <p:nvSpPr>
            <p:cNvPr name="Freeform 83" id="83"/>
            <p:cNvSpPr/>
            <p:nvPr/>
          </p:nvSpPr>
          <p:spPr>
            <a:xfrm flipH="false" flipV="false" rot="0">
              <a:off x="0" y="0"/>
              <a:ext cx="8095488" cy="1182624"/>
            </a:xfrm>
            <a:custGeom>
              <a:avLst/>
              <a:gdLst/>
              <a:ahLst/>
              <a:cxnLst/>
              <a:rect r="r" b="b" t="t" l="l"/>
              <a:pathLst>
                <a:path h="1182624" w="8095488">
                  <a:moveTo>
                    <a:pt x="0" y="170688"/>
                  </a:moveTo>
                  <a:cubicBezTo>
                    <a:pt x="0" y="76454"/>
                    <a:pt x="76454" y="0"/>
                    <a:pt x="170688" y="0"/>
                  </a:cubicBezTo>
                  <a:lnTo>
                    <a:pt x="7924800" y="0"/>
                  </a:lnTo>
                  <a:cubicBezTo>
                    <a:pt x="8019034" y="0"/>
                    <a:pt x="8095488" y="76454"/>
                    <a:pt x="8095488" y="170688"/>
                  </a:cubicBezTo>
                  <a:lnTo>
                    <a:pt x="8095488" y="1011936"/>
                  </a:lnTo>
                  <a:cubicBezTo>
                    <a:pt x="8095488" y="1106170"/>
                    <a:pt x="8019034" y="1182624"/>
                    <a:pt x="7924800" y="1182624"/>
                  </a:cubicBezTo>
                  <a:lnTo>
                    <a:pt x="170688" y="1182624"/>
                  </a:lnTo>
                  <a:cubicBezTo>
                    <a:pt x="76454" y="1182624"/>
                    <a:pt x="0" y="1106170"/>
                    <a:pt x="0" y="1011936"/>
                  </a:cubicBezTo>
                  <a:close/>
                </a:path>
              </a:pathLst>
            </a:custGeom>
            <a:solidFill>
              <a:srgbClr val="0B5E6E"/>
            </a:solidFill>
          </p:spPr>
          <p:txBody>
            <a:bodyPr/>
            <a:p/>
          </p:txBody>
        </p:sp>
      </p:grpSp>
      <p:grpSp>
        <p:nvGrpSpPr>
          <p:cNvPr name="Group 84" id="84"/>
          <p:cNvGrpSpPr/>
          <p:nvPr/>
        </p:nvGrpSpPr>
        <p:grpSpPr>
          <a:xfrm rot="0">
            <a:off x="11658600" y="8348472"/>
            <a:ext cx="5577840" cy="886968"/>
            <a:chOff x="0" y="0"/>
            <a:chExt cx="7437120" cy="1182624"/>
          </a:xfrm>
        </p:grpSpPr>
        <p:sp>
          <p:nvSpPr>
            <p:cNvPr name="Freeform 85" id="85"/>
            <p:cNvSpPr/>
            <p:nvPr/>
          </p:nvSpPr>
          <p:spPr>
            <a:xfrm flipH="false" flipV="false" rot="0">
              <a:off x="0" y="0"/>
              <a:ext cx="7437120" cy="1182624"/>
            </a:xfrm>
            <a:custGeom>
              <a:avLst/>
              <a:gdLst/>
              <a:ahLst/>
              <a:cxnLst/>
              <a:rect r="r" b="b" t="t" l="l"/>
              <a:pathLst>
                <a:path h="1182624" w="7437120">
                  <a:moveTo>
                    <a:pt x="0" y="0"/>
                  </a:moveTo>
                  <a:lnTo>
                    <a:pt x="7437120" y="0"/>
                  </a:lnTo>
                  <a:lnTo>
                    <a:pt x="7437120" y="1182624"/>
                  </a:lnTo>
                  <a:lnTo>
                    <a:pt x="0" y="1182624"/>
                  </a:lnTo>
                  <a:close/>
                </a:path>
              </a:pathLst>
            </a:custGeom>
            <a:blipFill>
              <a:blip r:embed="rId5">
                <a:alphaModFix amt="0"/>
              </a:blip>
              <a:stretch>
                <a:fillRect l="0" t="-72449" r="0" b="-72449"/>
              </a:stretch>
            </a:blipFill>
          </p:spPr>
          <p:txBody>
            <a:bodyPr/>
            <a:p/>
          </p:txBody>
        </p:sp>
      </p:grpSp>
      <p:grpSp>
        <p:nvGrpSpPr>
          <p:cNvPr name="Group 86" id="86"/>
          <p:cNvGrpSpPr/>
          <p:nvPr/>
        </p:nvGrpSpPr>
        <p:grpSpPr>
          <a:xfrm rot="0">
            <a:off x="11658600" y="8312753"/>
            <a:ext cx="5577840" cy="922687"/>
            <a:chOff x="0" y="0"/>
            <a:chExt cx="7437120" cy="1230249"/>
          </a:xfrm>
        </p:grpSpPr>
        <p:sp>
          <p:nvSpPr>
            <p:cNvPr name="Freeform 87" id="87"/>
            <p:cNvSpPr/>
            <p:nvPr/>
          </p:nvSpPr>
          <p:spPr>
            <a:xfrm flipH="false" flipV="false" rot="0">
              <a:off x="0" y="0"/>
              <a:ext cx="7437120" cy="1230249"/>
            </a:xfrm>
            <a:custGeom>
              <a:avLst/>
              <a:gdLst/>
              <a:ahLst/>
              <a:cxnLst/>
              <a:rect r="r" b="b" t="t" l="l"/>
              <a:pathLst>
                <a:path h="1230249" w="7437120">
                  <a:moveTo>
                    <a:pt x="0" y="0"/>
                  </a:moveTo>
                  <a:lnTo>
                    <a:pt x="7437120" y="0"/>
                  </a:lnTo>
                  <a:lnTo>
                    <a:pt x="7437120" y="1230249"/>
                  </a:lnTo>
                  <a:lnTo>
                    <a:pt x="0" y="1230249"/>
                  </a:lnTo>
                  <a:close/>
                </a:path>
              </a:pathLst>
            </a:custGeom>
            <a:blipFill>
              <a:blip r:embed="rId6">
                <a:alphaModFix amt="0"/>
              </a:blip>
              <a:stretch>
                <a:fillRect l="0" t="-67791" r="0" b="-67791"/>
              </a:stretch>
            </a:blipFill>
          </p:spPr>
          <p:txBody>
            <a:bodyPr/>
            <a:p/>
          </p:txBody>
        </p:sp>
        <p:sp>
          <p:nvSpPr>
            <p:cNvPr name="TextBox 88" id="88"/>
            <p:cNvSpPr txBox="true"/>
            <p:nvPr/>
          </p:nvSpPr>
          <p:spPr>
            <a:xfrm>
              <a:off x="0" y="-47625"/>
              <a:ext cx="7437120" cy="1277874"/>
            </a:xfrm>
            <a:prstGeom prst="rect">
              <a:avLst/>
            </a:prstGeom>
          </p:spPr>
          <p:txBody>
            <a:bodyPr anchor="ctr" rtlCol="false" tIns="0" lIns="0" bIns="0" rIns="0"/>
            <a:lstStyle/>
            <a:p>
              <a:pPr algn="l">
                <a:lnSpc>
                  <a:spcPts val="1881"/>
                </a:lnSpc>
              </a:pPr>
              <a:r>
                <a:rPr lang="en-US" sz="1400">
                  <a:solidFill>
                    <a:srgbClr val="FFFFFF"/>
                  </a:solidFill>
                  <a:latin typeface="Calibri (MS)"/>
                  <a:ea typeface="Calibri (MS)"/>
                  <a:cs typeface="Calibri (MS)"/>
                  <a:sym typeface="Calibri (MS)"/>
                </a:rPr>
                <a:t>Populasi, limbah, dan air (model rujukan) sejak awal di luar batas — bukan kandidat yang ditolak</a:t>
              </a:r>
            </a:p>
          </p:txBody>
        </p:sp>
      </p:grpSp>
      <p:grpSp>
        <p:nvGrpSpPr>
          <p:cNvPr name="Group 89" id="89"/>
          <p:cNvGrpSpPr/>
          <p:nvPr/>
        </p:nvGrpSpPr>
        <p:grpSpPr>
          <a:xfrm rot="0">
            <a:off x="16047720" y="9646920"/>
            <a:ext cx="420624" cy="420624"/>
            <a:chOff x="0" y="0"/>
            <a:chExt cx="560832" cy="560832"/>
          </a:xfrm>
        </p:grpSpPr>
        <p:sp>
          <p:nvSpPr>
            <p:cNvPr name="Freeform 90" id="90"/>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91" id="91"/>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Perumusan dan Evaluasi Hubungan Kausal</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18 hubungan sebab-akibat beserta dasar masing-masing</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20</a:t>
            </a:r>
          </a:p>
        </p:txBody>
      </p:sp>
      <p:graphicFrame>
        <p:nvGraphicFramePr>
          <p:cNvPr name="Table 67" id="67"/>
          <p:cNvGraphicFramePr>
            <a:graphicFrameLocks noGrp="true"/>
          </p:cNvGraphicFramePr>
          <p:nvPr/>
        </p:nvGraphicFramePr>
        <p:xfrm>
          <a:off x="822960" y="2286000"/>
          <a:ext cx="8204200" cy="5588000"/>
        </p:xfrm>
        <a:graphic>
          <a:graphicData uri="http://schemas.openxmlformats.org/drawingml/2006/table">
            <a:tbl>
              <a:tblPr/>
              <a:tblGrid>
                <a:gridCol w="1134624"/>
                <a:gridCol w="3752986"/>
                <a:gridCol w="523672"/>
                <a:gridCol w="2792919"/>
              </a:tblGrid>
              <a:tr h="558800">
                <a:tc>
                  <a:txBody>
                    <a:bodyPr anchor="t" rtlCol="false"/>
                    <a:lstStyle/>
                    <a:p>
                      <a:pPr algn="l">
                        <a:lnSpc>
                          <a:spcPts val="1655"/>
                        </a:lnSpc>
                        <a:defRPr/>
                      </a:pPr>
                      <a:r>
                        <a:rPr lang="en-US" sz="1380" b="true">
                          <a:solidFill>
                            <a:srgbClr val="FFFFFF"/>
                          </a:solidFill>
                          <a:latin typeface="Calibri (MS) Bold"/>
                          <a:ea typeface="Calibri (MS) Bold"/>
                          <a:cs typeface="Calibri (MS) Bold"/>
                          <a:sym typeface="Calibri (MS) Bold"/>
                        </a:rPr>
                        <a:t>Loop</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655"/>
                        </a:lnSpc>
                        <a:defRPr/>
                      </a:pPr>
                      <a:r>
                        <a:rPr lang="en-US" sz="1380" b="true">
                          <a:solidFill>
                            <a:srgbClr val="FFFFFF"/>
                          </a:solidFill>
                          <a:latin typeface="Calibri (MS) Bold"/>
                          <a:ea typeface="Calibri (MS) Bold"/>
                          <a:cs typeface="Calibri (MS) Bold"/>
                          <a:sym typeface="Calibri (MS) Bold"/>
                        </a:rPr>
                        <a:t>Hubungan kausal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655"/>
                        </a:lnSpc>
                        <a:defRPr/>
                      </a:pPr>
                      <a:r>
                        <a:rPr lang="en-US" sz="1380" b="true">
                          <a:solidFill>
                            <a:srgbClr val="FFFFFF"/>
                          </a:solidFill>
                          <a:latin typeface="Calibri (MS) Bold"/>
                          <a:ea typeface="Calibri (MS) Bold"/>
                          <a:cs typeface="Calibri (MS) Bold"/>
                          <a:sym typeface="Calibri (MS) Bold"/>
                        </a:rPr>
                        <a:t>Pol.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655"/>
                        </a:lnSpc>
                        <a:defRPr/>
                      </a:pPr>
                      <a:r>
                        <a:rPr lang="en-US" sz="1380" b="true">
                          <a:solidFill>
                            <a:srgbClr val="FFFFFF"/>
                          </a:solidFill>
                          <a:latin typeface="Calibri (MS) Bold"/>
                          <a:ea typeface="Calibri (MS) Bold"/>
                          <a:cs typeface="Calibri (MS) Bold"/>
                          <a:sym typeface="Calibri (MS) Bold"/>
                        </a:rPr>
                        <a:t>Jenis dasar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R1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Jumlah Wisatawan → Laju Kedatangan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Struktur pertumbuhan (Sterman; Mai &amp; Smith)</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R1,R2,B1,B2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Daya Tarik Destinasi → Laju Kedatangan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Literatur (Hu &amp; Ritchie; Leiper)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R2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Jumlah Wisatawan → Pengeluaran Wisatawan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Definisi penjumlahan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R2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Pengeluaran → PDRB Sektor Pariwisata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Literatur TSA (Frechtling; Munjal)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R2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PDRB → Investasi Sektor Pariwisata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Formulasi berbasis data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R2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Investasi → Laju Pembangunan ODTW</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Persamaan stok-aliran; Fatina dkk.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R2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Jumlah ODTW → Daya Tarik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Literatur (Leiper; Hu &amp; Ritchie)</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B1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Jumlah Wisatawan → Kepadatan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Definisi dalam model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B1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Kepadatan → Daya Tarik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Literatur (Saveriades; Mai &amp; Smith)</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graphicFrame>
        <p:nvGraphicFramePr>
          <p:cNvPr name="Table 68" id="68"/>
          <p:cNvGraphicFramePr>
            <a:graphicFrameLocks noGrp="true"/>
          </p:cNvGraphicFramePr>
          <p:nvPr/>
        </p:nvGraphicFramePr>
        <p:xfrm>
          <a:off x="9235440" y="2286000"/>
          <a:ext cx="8204200" cy="5588000"/>
        </p:xfrm>
        <a:graphic>
          <a:graphicData uri="http://schemas.openxmlformats.org/drawingml/2006/table">
            <a:tbl>
              <a:tblPr/>
              <a:tblGrid>
                <a:gridCol w="698230"/>
                <a:gridCol w="4189379"/>
                <a:gridCol w="523672"/>
                <a:gridCol w="2792919"/>
              </a:tblGrid>
              <a:tr h="558800">
                <a:tc>
                  <a:txBody>
                    <a:bodyPr anchor="t" rtlCol="false"/>
                    <a:lstStyle/>
                    <a:p>
                      <a:pPr algn="l">
                        <a:lnSpc>
                          <a:spcPts val="1655"/>
                        </a:lnSpc>
                        <a:defRPr/>
                      </a:pPr>
                      <a:r>
                        <a:rPr lang="en-US" sz="1380" b="true">
                          <a:solidFill>
                            <a:srgbClr val="FFFFFF"/>
                          </a:solidFill>
                          <a:latin typeface="Calibri (MS) Bold"/>
                          <a:ea typeface="Calibri (MS) Bold"/>
                          <a:cs typeface="Calibri (MS) Bold"/>
                          <a:sym typeface="Calibri (MS) Bold"/>
                        </a:rPr>
                        <a:t>Loop</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655"/>
                        </a:lnSpc>
                        <a:defRPr/>
                      </a:pPr>
                      <a:r>
                        <a:rPr lang="en-US" sz="1380" b="true">
                          <a:solidFill>
                            <a:srgbClr val="FFFFFF"/>
                          </a:solidFill>
                          <a:latin typeface="Calibri (MS) Bold"/>
                          <a:ea typeface="Calibri (MS) Bold"/>
                          <a:cs typeface="Calibri (MS) Bold"/>
                          <a:sym typeface="Calibri (MS) Bold"/>
                        </a:rPr>
                        <a:t>Hubungan kausal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655"/>
                        </a:lnSpc>
                        <a:defRPr/>
                      </a:pPr>
                      <a:r>
                        <a:rPr lang="en-US" sz="1380" b="true">
                          <a:solidFill>
                            <a:srgbClr val="FFFFFF"/>
                          </a:solidFill>
                          <a:latin typeface="Calibri (MS) Bold"/>
                          <a:ea typeface="Calibri (MS) Bold"/>
                          <a:cs typeface="Calibri (MS) Bold"/>
                          <a:sym typeface="Calibri (MS) Bold"/>
                        </a:rPr>
                        <a:t>Pol.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655"/>
                        </a:lnSpc>
                        <a:defRPr/>
                      </a:pPr>
                      <a:r>
                        <a:rPr lang="en-US" sz="1380" b="true">
                          <a:solidFill>
                            <a:srgbClr val="FFFFFF"/>
                          </a:solidFill>
                          <a:latin typeface="Calibri (MS) Bold"/>
                          <a:ea typeface="Calibri (MS) Bold"/>
                          <a:cs typeface="Calibri (MS) Bold"/>
                          <a:sym typeface="Calibri (MS) Bold"/>
                        </a:rPr>
                        <a:t>Jenis dasar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B2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Konstruksi hotel &amp; pembangunan ODTW → Konversi lahan pariwisata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Formulasi model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B2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Konversi lahan pariwisata → Lahan Terbangun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Persamaan stok-aliran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B2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Lahan Terbangun → Rasio Daya Dukung Lahan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Definisi dalam model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B2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Rasio Daya Dukung Lahan → Daya Tarik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Literatur + definisi model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B3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Jumlah Hotel → Rasio Permintaan thd Kapasitas Kamar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Definisi kapasitas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B3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Rasio Permintaan → Laju Konstruksi Hotel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Literatur (Wheaton &amp; Rossoff)</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B4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PDRB → Tenaga Kerja Dibutuhkan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Literatur (Munjal; Sánchez López)</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B4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Tenaga Kerja Pariwisata → Selisih TK Dibutuhkan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Definisi penyesuaian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B4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Selisih TK Dibutuhkan → Laju Penyerapan TK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Struktur goal-seeking</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grpSp>
        <p:nvGrpSpPr>
          <p:cNvPr name="Group 69" id="69"/>
          <p:cNvGrpSpPr/>
          <p:nvPr/>
        </p:nvGrpSpPr>
        <p:grpSpPr>
          <a:xfrm rot="0">
            <a:off x="816607" y="8177527"/>
            <a:ext cx="16654777" cy="927097"/>
            <a:chOff x="0" y="0"/>
            <a:chExt cx="22206369" cy="1236129"/>
          </a:xfrm>
        </p:grpSpPr>
        <p:sp>
          <p:nvSpPr>
            <p:cNvPr name="Freeform 70" id="70"/>
            <p:cNvSpPr/>
            <p:nvPr/>
          </p:nvSpPr>
          <p:spPr>
            <a:xfrm flipH="false" flipV="false" rot="0">
              <a:off x="0" y="0"/>
              <a:ext cx="22206458" cy="1236218"/>
            </a:xfrm>
            <a:custGeom>
              <a:avLst/>
              <a:gdLst/>
              <a:ahLst/>
              <a:cxnLst/>
              <a:rect r="r" b="b" t="t" l="l"/>
              <a:pathLst>
                <a:path h="1236218" w="22206458">
                  <a:moveTo>
                    <a:pt x="0" y="98933"/>
                  </a:moveTo>
                  <a:cubicBezTo>
                    <a:pt x="0" y="44323"/>
                    <a:pt x="44323" y="0"/>
                    <a:pt x="98933" y="0"/>
                  </a:cubicBezTo>
                  <a:lnTo>
                    <a:pt x="22107525" y="0"/>
                  </a:lnTo>
                  <a:cubicBezTo>
                    <a:pt x="22162136" y="0"/>
                    <a:pt x="22206458" y="44323"/>
                    <a:pt x="22206458" y="98933"/>
                  </a:cubicBezTo>
                  <a:lnTo>
                    <a:pt x="22206458" y="1137285"/>
                  </a:lnTo>
                  <a:cubicBezTo>
                    <a:pt x="22206458" y="1191895"/>
                    <a:pt x="22162136" y="1236218"/>
                    <a:pt x="22107525" y="1236218"/>
                  </a:cubicBezTo>
                  <a:lnTo>
                    <a:pt x="98933" y="1236218"/>
                  </a:lnTo>
                  <a:cubicBezTo>
                    <a:pt x="44323" y="1236091"/>
                    <a:pt x="0" y="1191895"/>
                    <a:pt x="0" y="1137285"/>
                  </a:cubicBezTo>
                  <a:close/>
                </a:path>
              </a:pathLst>
            </a:custGeom>
            <a:solidFill>
              <a:srgbClr val="FFF1BF"/>
            </a:solidFill>
            <a:ln w="12700" cap="sq">
              <a:solidFill>
                <a:srgbClr val="FFD23B"/>
              </a:solidFill>
              <a:prstDash val="solid"/>
              <a:miter/>
            </a:ln>
          </p:spPr>
          <p:txBody>
            <a:bodyPr/>
            <a:p/>
          </p:txBody>
        </p:sp>
        <p:sp>
          <p:nvSpPr>
            <p:cNvPr name="TextBox 71" id="71"/>
            <p:cNvSpPr txBox="true"/>
            <p:nvPr/>
          </p:nvSpPr>
          <p:spPr>
            <a:xfrm>
              <a:off x="0" y="-38100"/>
              <a:ext cx="22206369" cy="127422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Setiap panah terlacak ke mekanisme dan sumber; dukungan konseptual tidak dipakai sebagai dasar nilai parameter. Hubungan TK → pembangunan ODTW tidak dipertahankan.</a:t>
              </a:r>
            </a:p>
          </p:txBody>
        </p:sp>
      </p:grpSp>
      <p:sp>
        <p:nvSpPr>
          <p:cNvPr name="TextBox 72" id="72"/>
          <p:cNvSpPr txBox="true"/>
          <p:nvPr/>
        </p:nvSpPr>
        <p:spPr>
          <a:xfrm rot="0">
            <a:off x="822960" y="9198102"/>
            <a:ext cx="15544800" cy="293370"/>
          </a:xfrm>
          <a:prstGeom prst="rect">
            <a:avLst/>
          </a:prstGeom>
        </p:spPr>
        <p:txBody>
          <a:bodyPr anchor="t" rtlCol="false" tIns="0" lIns="0" bIns="0" rIns="0">
            <a:spAutoFit/>
          </a:bodyPr>
          <a:lstStyle/>
          <a:p>
            <a:pPr algn="l">
              <a:lnSpc>
                <a:spcPts val="1451"/>
              </a:lnSpc>
            </a:pPr>
            <a:r>
              <a:rPr lang="en-US" sz="1209" i="true">
                <a:solidFill>
                  <a:srgbClr val="5E6E78"/>
                </a:solidFill>
                <a:latin typeface="Calibri (MS) Italics"/>
                <a:ea typeface="Calibri (MS) Italics"/>
                <a:cs typeface="Calibri (MS) Italics"/>
                <a:sym typeface="Calibri (MS) Italics"/>
              </a:rPr>
              <a:t>Sumber: Buku Subbab 4.1.3, Tabel 25 (versi lengkap dengan mekanisme di buku).</a:t>
            </a:r>
          </a:p>
        </p:txBody>
      </p:sp>
      <p:grpSp>
        <p:nvGrpSpPr>
          <p:cNvPr name="Group 73" id="73"/>
          <p:cNvGrpSpPr/>
          <p:nvPr/>
        </p:nvGrpSpPr>
        <p:grpSpPr>
          <a:xfrm rot="0">
            <a:off x="16047720" y="9646920"/>
            <a:ext cx="420624" cy="420624"/>
            <a:chOff x="0" y="0"/>
            <a:chExt cx="560832" cy="560832"/>
          </a:xfrm>
        </p:grpSpPr>
        <p:sp>
          <p:nvSpPr>
            <p:cNvPr name="Freeform 74" id="74"/>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75" id="75"/>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Causal Loop Diagram dan Feedback Loop</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CLD akhir memiliki dua reinforcing loop dan empat balancing loop</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21</a:t>
            </a:r>
          </a:p>
        </p:txBody>
      </p:sp>
      <p:grpSp>
        <p:nvGrpSpPr>
          <p:cNvPr name="Group 67" id="67"/>
          <p:cNvGrpSpPr/>
          <p:nvPr/>
        </p:nvGrpSpPr>
        <p:grpSpPr>
          <a:xfrm rot="0">
            <a:off x="822960" y="2663466"/>
            <a:ext cx="6949440" cy="5142957"/>
            <a:chOff x="0" y="0"/>
            <a:chExt cx="9265920" cy="6857276"/>
          </a:xfrm>
        </p:grpSpPr>
        <p:sp>
          <p:nvSpPr>
            <p:cNvPr name="Freeform 68" id="68" descr="image11.png"/>
            <p:cNvSpPr/>
            <p:nvPr/>
          </p:nvSpPr>
          <p:spPr>
            <a:xfrm flipH="false" flipV="false" rot="0">
              <a:off x="0" y="0"/>
              <a:ext cx="9265920" cy="6857238"/>
            </a:xfrm>
            <a:custGeom>
              <a:avLst/>
              <a:gdLst/>
              <a:ahLst/>
              <a:cxnLst/>
              <a:rect r="r" b="b" t="t" l="l"/>
              <a:pathLst>
                <a:path h="6857238" w="9265920">
                  <a:moveTo>
                    <a:pt x="0" y="0"/>
                  </a:moveTo>
                  <a:lnTo>
                    <a:pt x="9265920" y="0"/>
                  </a:lnTo>
                  <a:lnTo>
                    <a:pt x="9265920" y="6857238"/>
                  </a:lnTo>
                  <a:lnTo>
                    <a:pt x="0" y="6857238"/>
                  </a:lnTo>
                  <a:lnTo>
                    <a:pt x="0" y="0"/>
                  </a:lnTo>
                  <a:close/>
                </a:path>
              </a:pathLst>
            </a:custGeom>
            <a:blipFill>
              <a:blip r:embed="rId7"/>
              <a:stretch>
                <a:fillRect l="0" t="0" r="0" b="0"/>
              </a:stretch>
            </a:blipFill>
          </p:spPr>
          <p:txBody>
            <a:bodyPr/>
            <a:p/>
          </p:txBody>
        </p:sp>
      </p:grpSp>
      <p:graphicFrame>
        <p:nvGraphicFramePr>
          <p:cNvPr name="Table 69" id="69"/>
          <p:cNvGraphicFramePr>
            <a:graphicFrameLocks noGrp="true"/>
          </p:cNvGraphicFramePr>
          <p:nvPr/>
        </p:nvGraphicFramePr>
        <p:xfrm>
          <a:off x="8046720" y="2240280"/>
          <a:ext cx="9398000" cy="5867400"/>
        </p:xfrm>
        <a:graphic>
          <a:graphicData uri="http://schemas.openxmlformats.org/drawingml/2006/table">
            <a:tbl>
              <a:tblPr/>
              <a:tblGrid>
                <a:gridCol w="821184"/>
                <a:gridCol w="1551126"/>
                <a:gridCol w="4197165"/>
                <a:gridCol w="2828524"/>
              </a:tblGrid>
              <a:tr h="838200">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Loop</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Jenis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Rantai kausal ringkas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Peran dalam model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838200">
                <a:tc>
                  <a:txBody>
                    <a:bodyPr anchor="t" rtlCol="false"/>
                    <a:lstStyle/>
                    <a:p>
                      <a:pPr algn="l">
                        <a:lnSpc>
                          <a:spcPts val="1788"/>
                        </a:lnSpc>
                        <a:defRPr/>
                      </a:pPr>
                      <a:r>
                        <a:rPr lang="en-US" sz="1490" b="true">
                          <a:solidFill>
                            <a:srgbClr val="14313B"/>
                          </a:solidFill>
                          <a:latin typeface="Calibri (MS) Bold"/>
                          <a:ea typeface="Calibri (MS) Bold"/>
                          <a:cs typeface="Calibri (MS) Bold"/>
                          <a:sym typeface="Calibri (MS) Bold"/>
                        </a:rPr>
                        <a:t>R1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Reinforcing</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Wisatawan (+) → Laju Kedatangan (+) → Wisatawan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Pertumbuhan kunjungan bersifat akumulatif</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838200">
                <a:tc>
                  <a:txBody>
                    <a:bodyPr anchor="t" rtlCol="false"/>
                    <a:lstStyle/>
                    <a:p>
                      <a:pPr algn="l">
                        <a:lnSpc>
                          <a:spcPts val="1788"/>
                        </a:lnSpc>
                        <a:defRPr/>
                      </a:pPr>
                      <a:r>
                        <a:rPr lang="en-US" sz="1490" b="true">
                          <a:solidFill>
                            <a:srgbClr val="14313B"/>
                          </a:solidFill>
                          <a:latin typeface="Calibri (MS) Bold"/>
                          <a:ea typeface="Calibri (MS) Bold"/>
                          <a:cs typeface="Calibri (MS) Bold"/>
                          <a:sym typeface="Calibri (MS) Bold"/>
                        </a:rPr>
                        <a:t>R2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Reinforcing</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Wisatawan → Pengeluaran → PDRB → Investasi → Pembangunan ODTW → ODTW → Daya Tarik → Kedatangan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Jalur ekonomi–atraksi; tempat Insentif Kebijakan bekerja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838200">
                <a:tc>
                  <a:txBody>
                    <a:bodyPr anchor="t" rtlCol="false"/>
                    <a:lstStyle/>
                    <a:p>
                      <a:pPr algn="l">
                        <a:lnSpc>
                          <a:spcPts val="1788"/>
                        </a:lnSpc>
                        <a:defRPr/>
                      </a:pPr>
                      <a:r>
                        <a:rPr lang="en-US" sz="1490" b="true">
                          <a:solidFill>
                            <a:srgbClr val="14313B"/>
                          </a:solidFill>
                          <a:latin typeface="Calibri (MS) Bold"/>
                          <a:ea typeface="Calibri (MS) Bold"/>
                          <a:cs typeface="Calibri (MS) Bold"/>
                          <a:sym typeface="Calibri (MS) Bold"/>
                        </a:rPr>
                        <a:t>B1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Balancing</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Wisatawan (+) → Kepadatan (−) → Daya Tarik → Kedatangan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Pembatas kepadatan (crowding)</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838200">
                <a:tc>
                  <a:txBody>
                    <a:bodyPr anchor="t" rtlCol="false"/>
                    <a:lstStyle/>
                    <a:p>
                      <a:pPr algn="l">
                        <a:lnSpc>
                          <a:spcPts val="1788"/>
                        </a:lnSpc>
                        <a:defRPr/>
                      </a:pPr>
                      <a:r>
                        <a:rPr lang="en-US" sz="1490" b="true">
                          <a:solidFill>
                            <a:srgbClr val="14313B"/>
                          </a:solidFill>
                          <a:latin typeface="Calibri (MS) Bold"/>
                          <a:ea typeface="Calibri (MS) Bold"/>
                          <a:cs typeface="Calibri (MS) Bold"/>
                          <a:sym typeface="Calibri (MS) Bold"/>
                        </a:rPr>
                        <a:t>B2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Balancing</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Konstruksi hotel &amp; ODTW (+) → Konversi lahan → Lahan Terbangun (−) → RDDL (+) → Daya Tarik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Pembatas daya dukung lahan; tempat Konservasi Lahan bekerja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838200">
                <a:tc>
                  <a:txBody>
                    <a:bodyPr anchor="t" rtlCol="false"/>
                    <a:lstStyle/>
                    <a:p>
                      <a:pPr algn="l">
                        <a:lnSpc>
                          <a:spcPts val="1788"/>
                        </a:lnSpc>
                        <a:defRPr/>
                      </a:pPr>
                      <a:r>
                        <a:rPr lang="en-US" sz="1490" b="true">
                          <a:solidFill>
                            <a:srgbClr val="14313B"/>
                          </a:solidFill>
                          <a:latin typeface="Calibri (MS) Bold"/>
                          <a:ea typeface="Calibri (MS) Bold"/>
                          <a:cs typeface="Calibri (MS) Bold"/>
                          <a:sym typeface="Calibri (MS) Bold"/>
                        </a:rPr>
                        <a:t>B3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Balancing</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Hotel (−) → Rasio Permintaan thd Kapasitas Kamar (+) → Laju Konstruksi → Hotel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Penyesuaian kapasitas akomodasi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838200">
                <a:tc>
                  <a:txBody>
                    <a:bodyPr anchor="t" rtlCol="false"/>
                    <a:lstStyle/>
                    <a:p>
                      <a:pPr algn="l">
                        <a:lnSpc>
                          <a:spcPts val="1788"/>
                        </a:lnSpc>
                        <a:defRPr/>
                      </a:pPr>
                      <a:r>
                        <a:rPr lang="en-US" sz="1490" b="true">
                          <a:solidFill>
                            <a:srgbClr val="14313B"/>
                          </a:solidFill>
                          <a:latin typeface="Calibri (MS) Bold"/>
                          <a:ea typeface="Calibri (MS) Bold"/>
                          <a:cs typeface="Calibri (MS) Bold"/>
                          <a:sym typeface="Calibri (MS) Bold"/>
                        </a:rPr>
                        <a:t>B4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Balancing</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TK Pariwisata (−) → Selisih TK Dibutuhkan (+) → Laju Penyerapan → TK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Goal-seeking tenaga kerja; loop lokal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bl>
          </a:graphicData>
        </a:graphic>
      </p:graphicFrame>
      <p:grpSp>
        <p:nvGrpSpPr>
          <p:cNvPr name="Group 70" id="70"/>
          <p:cNvGrpSpPr/>
          <p:nvPr/>
        </p:nvGrpSpPr>
        <p:grpSpPr>
          <a:xfrm rot="0">
            <a:off x="816607" y="8360407"/>
            <a:ext cx="16654777" cy="835657"/>
            <a:chOff x="0" y="0"/>
            <a:chExt cx="22206369" cy="1114209"/>
          </a:xfrm>
        </p:grpSpPr>
        <p:sp>
          <p:nvSpPr>
            <p:cNvPr name="Freeform 71" id="71"/>
            <p:cNvSpPr/>
            <p:nvPr/>
          </p:nvSpPr>
          <p:spPr>
            <a:xfrm flipH="false" flipV="false" rot="0">
              <a:off x="0" y="0"/>
              <a:ext cx="22206458" cy="1114298"/>
            </a:xfrm>
            <a:custGeom>
              <a:avLst/>
              <a:gdLst/>
              <a:ahLst/>
              <a:cxnLst/>
              <a:rect r="r" b="b" t="t" l="l"/>
              <a:pathLst>
                <a:path h="1114298" w="22206458">
                  <a:moveTo>
                    <a:pt x="0" y="89154"/>
                  </a:moveTo>
                  <a:cubicBezTo>
                    <a:pt x="0" y="39878"/>
                    <a:pt x="39878" y="0"/>
                    <a:pt x="89154" y="0"/>
                  </a:cubicBezTo>
                  <a:lnTo>
                    <a:pt x="22117304" y="0"/>
                  </a:lnTo>
                  <a:cubicBezTo>
                    <a:pt x="22166580" y="0"/>
                    <a:pt x="22206458" y="39878"/>
                    <a:pt x="22206458" y="89154"/>
                  </a:cubicBezTo>
                  <a:lnTo>
                    <a:pt x="22206458" y="1025144"/>
                  </a:lnTo>
                  <a:cubicBezTo>
                    <a:pt x="22206458" y="1074420"/>
                    <a:pt x="22166580" y="1114298"/>
                    <a:pt x="22117304" y="1114298"/>
                  </a:cubicBezTo>
                  <a:lnTo>
                    <a:pt x="89154" y="1114298"/>
                  </a:lnTo>
                  <a:cubicBezTo>
                    <a:pt x="39878" y="1114171"/>
                    <a:pt x="0" y="1074293"/>
                    <a:pt x="0" y="1025017"/>
                  </a:cubicBezTo>
                  <a:close/>
                </a:path>
              </a:pathLst>
            </a:custGeom>
            <a:solidFill>
              <a:srgbClr val="FFF1BF"/>
            </a:solidFill>
            <a:ln w="12700" cap="sq">
              <a:solidFill>
                <a:srgbClr val="FFD23B"/>
              </a:solidFill>
              <a:prstDash val="solid"/>
              <a:miter/>
            </a:ln>
          </p:spPr>
          <p:txBody>
            <a:bodyPr/>
            <a:p/>
          </p:txBody>
        </p:sp>
        <p:sp>
          <p:nvSpPr>
            <p:cNvPr name="TextBox 72" id="72"/>
            <p:cNvSpPr txBox="true"/>
            <p:nvPr/>
          </p:nvSpPr>
          <p:spPr>
            <a:xfrm>
              <a:off x="0" y="-38100"/>
              <a:ext cx="22206369" cy="115230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Pertumbuhan didorong R1–R2 dan ditahan B1–B2. Dua variabel kebijakan bekerja di R2 (insentif) dan B2 (konservasi). Hubungan TK → pembangunan ODTW tidak dipakai.</a:t>
              </a:r>
            </a:p>
          </p:txBody>
        </p:sp>
      </p:grpSp>
      <p:sp>
        <p:nvSpPr>
          <p:cNvPr name="TextBox 73" id="73"/>
          <p:cNvSpPr txBox="true"/>
          <p:nvPr/>
        </p:nvSpPr>
        <p:spPr>
          <a:xfrm rot="0">
            <a:off x="822960" y="9234678"/>
            <a:ext cx="15544800" cy="293370"/>
          </a:xfrm>
          <a:prstGeom prst="rect">
            <a:avLst/>
          </a:prstGeom>
        </p:spPr>
        <p:txBody>
          <a:bodyPr anchor="t" rtlCol="false" tIns="0" lIns="0" bIns="0" rIns="0">
            <a:spAutoFit/>
          </a:bodyPr>
          <a:lstStyle/>
          <a:p>
            <a:pPr algn="l">
              <a:lnSpc>
                <a:spcPts val="1451"/>
              </a:lnSpc>
            </a:pPr>
            <a:r>
              <a:rPr lang="en-US" sz="1209" i="true">
                <a:solidFill>
                  <a:srgbClr val="5E6E78"/>
                </a:solidFill>
                <a:latin typeface="Calibri (MS) Italics"/>
                <a:ea typeface="Calibri (MS) Italics"/>
                <a:cs typeface="Calibri (MS) Italics"/>
                <a:sym typeface="Calibri (MS) Italics"/>
              </a:rPr>
              <a:t>Sumber: Buku Subbab 4.1.3, Tabel 26, Gambar CLD.</a:t>
            </a:r>
          </a:p>
        </p:txBody>
      </p:sp>
      <p:grpSp>
        <p:nvGrpSpPr>
          <p:cNvPr name="Group 74" id="74"/>
          <p:cNvGrpSpPr/>
          <p:nvPr/>
        </p:nvGrpSpPr>
        <p:grpSpPr>
          <a:xfrm rot="0">
            <a:off x="16047720" y="9646920"/>
            <a:ext cx="420624" cy="420624"/>
            <a:chOff x="0" y="0"/>
            <a:chExt cx="560832" cy="560832"/>
          </a:xfrm>
        </p:grpSpPr>
        <p:sp>
          <p:nvSpPr>
            <p:cNvPr name="Freeform 75" id="75"/>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76" id="76"/>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Penetapan Batas Model</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Batas model menentukan sejauh mana hasil boleh ditafsirkan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22</a:t>
            </a:r>
          </a:p>
        </p:txBody>
      </p:sp>
      <p:grpSp>
        <p:nvGrpSpPr>
          <p:cNvPr name="Group 67" id="67"/>
          <p:cNvGrpSpPr/>
          <p:nvPr/>
        </p:nvGrpSpPr>
        <p:grpSpPr>
          <a:xfrm rot="0">
            <a:off x="822960" y="2286000"/>
            <a:ext cx="5394960" cy="640080"/>
            <a:chOff x="0" y="0"/>
            <a:chExt cx="7193280" cy="853440"/>
          </a:xfrm>
        </p:grpSpPr>
        <p:sp>
          <p:nvSpPr>
            <p:cNvPr name="Freeform 68" id="68"/>
            <p:cNvSpPr/>
            <p:nvPr/>
          </p:nvSpPr>
          <p:spPr>
            <a:xfrm flipH="false" flipV="false" rot="0">
              <a:off x="0" y="0"/>
              <a:ext cx="7193280" cy="853440"/>
            </a:xfrm>
            <a:custGeom>
              <a:avLst/>
              <a:gdLst/>
              <a:ahLst/>
              <a:cxnLst/>
              <a:rect r="r" b="b" t="t" l="l"/>
              <a:pathLst>
                <a:path h="853440" w="7193280">
                  <a:moveTo>
                    <a:pt x="0" y="68326"/>
                  </a:moveTo>
                  <a:cubicBezTo>
                    <a:pt x="0" y="30607"/>
                    <a:pt x="30607" y="0"/>
                    <a:pt x="68326" y="0"/>
                  </a:cubicBezTo>
                  <a:lnTo>
                    <a:pt x="7124954" y="0"/>
                  </a:lnTo>
                  <a:cubicBezTo>
                    <a:pt x="7162673" y="0"/>
                    <a:pt x="7193280" y="30607"/>
                    <a:pt x="7193280" y="68326"/>
                  </a:cubicBezTo>
                  <a:lnTo>
                    <a:pt x="7193280" y="785114"/>
                  </a:lnTo>
                  <a:cubicBezTo>
                    <a:pt x="7193280" y="822833"/>
                    <a:pt x="7162673" y="853440"/>
                    <a:pt x="7124954" y="853440"/>
                  </a:cubicBezTo>
                  <a:lnTo>
                    <a:pt x="68326" y="853440"/>
                  </a:lnTo>
                  <a:cubicBezTo>
                    <a:pt x="30607" y="853440"/>
                    <a:pt x="0" y="822833"/>
                    <a:pt x="0" y="785114"/>
                  </a:cubicBezTo>
                  <a:close/>
                </a:path>
              </a:pathLst>
            </a:custGeom>
            <a:solidFill>
              <a:srgbClr val="0B5E6E"/>
            </a:solidFill>
          </p:spPr>
          <p:txBody>
            <a:bodyPr/>
            <a:p/>
          </p:txBody>
        </p:sp>
        <p:sp>
          <p:nvSpPr>
            <p:cNvPr name="TextBox 69" id="69"/>
            <p:cNvSpPr txBox="true"/>
            <p:nvPr/>
          </p:nvSpPr>
          <p:spPr>
            <a:xfrm>
              <a:off x="0" y="-38100"/>
              <a:ext cx="7193280" cy="891540"/>
            </a:xfrm>
            <a:prstGeom prst="rect">
              <a:avLst/>
            </a:prstGeom>
          </p:spPr>
          <p:txBody>
            <a:bodyPr anchor="ctr" rtlCol="false" tIns="50800" lIns="50800" bIns="50800" rIns="50800"/>
            <a:lstStyle/>
            <a:p>
              <a:pPr algn="l">
                <a:lnSpc>
                  <a:spcPts val="2484"/>
                </a:lnSpc>
              </a:pPr>
              <a:r>
                <a:rPr lang="en-US" sz="2070" b="true">
                  <a:solidFill>
                    <a:srgbClr val="FFFFFF"/>
                  </a:solidFill>
                  <a:latin typeface="Calibri (MS) Bold"/>
                  <a:ea typeface="Calibri (MS) Bold"/>
                  <a:cs typeface="Calibri (MS) Bold"/>
                  <a:sym typeface="Calibri (MS) Bold"/>
                </a:rPr>
                <a:t>Dihitung di dalam model · 26 variabel</a:t>
              </a:r>
            </a:p>
          </p:txBody>
        </p:sp>
      </p:grpSp>
      <p:grpSp>
        <p:nvGrpSpPr>
          <p:cNvPr name="Group 70" id="70"/>
          <p:cNvGrpSpPr/>
          <p:nvPr/>
        </p:nvGrpSpPr>
        <p:grpSpPr>
          <a:xfrm rot="0">
            <a:off x="816607" y="3011167"/>
            <a:ext cx="5407657" cy="4493257"/>
            <a:chOff x="0" y="0"/>
            <a:chExt cx="7210209" cy="5991009"/>
          </a:xfrm>
        </p:grpSpPr>
        <p:sp>
          <p:nvSpPr>
            <p:cNvPr name="Freeform 71" id="71"/>
            <p:cNvSpPr/>
            <p:nvPr/>
          </p:nvSpPr>
          <p:spPr>
            <a:xfrm flipH="false" flipV="false" rot="0">
              <a:off x="0" y="0"/>
              <a:ext cx="7210171" cy="5990971"/>
            </a:xfrm>
            <a:custGeom>
              <a:avLst/>
              <a:gdLst/>
              <a:ahLst/>
              <a:cxnLst/>
              <a:rect r="r" b="b" t="t" l="l"/>
              <a:pathLst>
                <a:path h="5990971" w="7210171">
                  <a:moveTo>
                    <a:pt x="0" y="479298"/>
                  </a:moveTo>
                  <a:cubicBezTo>
                    <a:pt x="0" y="214630"/>
                    <a:pt x="214630" y="0"/>
                    <a:pt x="479298" y="0"/>
                  </a:cubicBezTo>
                  <a:lnTo>
                    <a:pt x="6730873" y="0"/>
                  </a:lnTo>
                  <a:cubicBezTo>
                    <a:pt x="6995541" y="0"/>
                    <a:pt x="7210171" y="214630"/>
                    <a:pt x="7210171" y="479298"/>
                  </a:cubicBezTo>
                  <a:lnTo>
                    <a:pt x="7210171" y="5511673"/>
                  </a:lnTo>
                  <a:cubicBezTo>
                    <a:pt x="7210171" y="5776341"/>
                    <a:pt x="6995541" y="5990971"/>
                    <a:pt x="6730873" y="5990971"/>
                  </a:cubicBezTo>
                  <a:lnTo>
                    <a:pt x="479298" y="5990971"/>
                  </a:lnTo>
                  <a:cubicBezTo>
                    <a:pt x="214630" y="5990971"/>
                    <a:pt x="0" y="5776468"/>
                    <a:pt x="0" y="5511673"/>
                  </a:cubicBezTo>
                  <a:close/>
                </a:path>
              </a:pathLst>
            </a:custGeom>
            <a:solidFill>
              <a:srgbClr val="EAF8FA"/>
            </a:solidFill>
            <a:ln w="12700" cap="sq">
              <a:solidFill>
                <a:srgbClr val="CFE5E9"/>
              </a:solidFill>
              <a:prstDash val="solid"/>
              <a:miter/>
            </a:ln>
          </p:spPr>
          <p:txBody>
            <a:bodyPr/>
            <a:p/>
          </p:txBody>
        </p:sp>
        <p:sp>
          <p:nvSpPr>
            <p:cNvPr name="TextBox 72" id="72"/>
            <p:cNvSpPr txBox="true"/>
            <p:nvPr/>
          </p:nvSpPr>
          <p:spPr>
            <a:xfrm>
              <a:off x="0" y="-38100"/>
              <a:ext cx="7210209" cy="6029109"/>
            </a:xfrm>
            <a:prstGeom prst="rect">
              <a:avLst/>
            </a:prstGeom>
          </p:spPr>
          <p:txBody>
            <a:bodyPr anchor="t" rtlCol="false" tIns="50800" lIns="50800" bIns="50800" rIns="50800"/>
            <a:lstStyle/>
            <a:p>
              <a:pPr algn="l">
                <a:lnSpc>
                  <a:spcPts val="2004"/>
                </a:lnSpc>
              </a:pPr>
              <a:r>
                <a:rPr lang="en-US" sz="1670">
                  <a:solidFill>
                    <a:srgbClr val="14313B"/>
                  </a:solidFill>
                  <a:latin typeface="Calibri (MS)"/>
                  <a:ea typeface="Calibri (MS)"/>
                  <a:cs typeface="Calibri (MS)"/>
                  <a:sym typeface="Calibri (MS)"/>
                </a:rPr>
                <a:t>• Wisatawan, kedatangan, penurunan</a:t>
              </a:r>
            </a:p>
            <a:p>
              <a:pPr algn="l">
                <a:lnSpc>
                  <a:spcPts val="2004"/>
                </a:lnSpc>
              </a:pPr>
              <a:r>
                <a:rPr lang="en-US" sz="1670">
                  <a:solidFill>
                    <a:srgbClr val="14313B"/>
                  </a:solidFill>
                  <a:latin typeface="Calibri (MS)"/>
                  <a:ea typeface="Calibri (MS)"/>
                  <a:cs typeface="Calibri (MS)"/>
                  <a:sym typeface="Calibri (MS)"/>
                </a:rPr>
                <a:t>• Akomodasi, konstruksi, demolisi</a:t>
              </a:r>
            </a:p>
            <a:p>
              <a:pPr algn="l">
                <a:lnSpc>
                  <a:spcPts val="2004"/>
                </a:lnSpc>
              </a:pPr>
              <a:r>
                <a:rPr lang="en-US" sz="1670">
                  <a:solidFill>
                    <a:srgbClr val="14313B"/>
                  </a:solidFill>
                  <a:latin typeface="Calibri (MS)"/>
                  <a:ea typeface="Calibri (MS)"/>
                  <a:cs typeface="Calibri (MS)"/>
                  <a:sym typeface="Calibri (MS)"/>
                </a:rPr>
                <a:t>• ODTW, pembangunan, penutupan</a:t>
              </a:r>
            </a:p>
            <a:p>
              <a:pPr algn="l">
                <a:lnSpc>
                  <a:spcPts val="2004"/>
                </a:lnSpc>
              </a:pPr>
              <a:r>
                <a:rPr lang="en-US" sz="1670">
                  <a:solidFill>
                    <a:srgbClr val="14313B"/>
                  </a:solidFill>
                  <a:latin typeface="Calibri (MS)"/>
                  <a:ea typeface="Calibri (MS)"/>
                  <a:cs typeface="Calibri (MS)"/>
                  <a:sym typeface="Calibri (MS)"/>
                </a:rPr>
                <a:t>• PDRB, pengeluaran, investasi</a:t>
              </a:r>
            </a:p>
            <a:p>
              <a:pPr algn="l">
                <a:lnSpc>
                  <a:spcPts val="2004"/>
                </a:lnSpc>
              </a:pPr>
              <a:r>
                <a:rPr lang="en-US" sz="1670">
                  <a:solidFill>
                    <a:srgbClr val="14313B"/>
                  </a:solidFill>
                  <a:latin typeface="Calibri (MS)"/>
                  <a:ea typeface="Calibri (MS)"/>
                  <a:cs typeface="Calibri (MS)"/>
                  <a:sym typeface="Calibri (MS)"/>
                </a:rPr>
                <a:t>• TK, penyerapan, keluar</a:t>
              </a:r>
            </a:p>
            <a:p>
              <a:pPr algn="l">
                <a:lnSpc>
                  <a:spcPts val="2004"/>
                </a:lnSpc>
              </a:pPr>
              <a:r>
                <a:rPr lang="en-US" sz="1670">
                  <a:solidFill>
                    <a:srgbClr val="14313B"/>
                  </a:solidFill>
                  <a:latin typeface="Calibri (MS)"/>
                  <a:ea typeface="Calibri (MS)"/>
                  <a:cs typeface="Calibri (MS)"/>
                  <a:sym typeface="Calibri (MS)"/>
                </a:rPr>
                <a:t>• Lahan terbangun &amp; konversinya</a:t>
              </a:r>
            </a:p>
            <a:p>
              <a:pPr algn="l">
                <a:lnSpc>
                  <a:spcPts val="2004"/>
                </a:lnSpc>
              </a:pPr>
              <a:r>
                <a:rPr lang="en-US" sz="1670">
                  <a:solidFill>
                    <a:srgbClr val="14313B"/>
                  </a:solidFill>
                  <a:latin typeface="Calibri (MS)"/>
                  <a:ea typeface="Calibri (MS)"/>
                  <a:cs typeface="Calibri (MS)"/>
                  <a:sym typeface="Calibri (MS)"/>
                </a:rPr>
                <a:t>• Daya tarik, kepadatan, daya dukung</a:t>
              </a:r>
            </a:p>
            <a:p>
              <a:pPr algn="l">
                <a:lnSpc>
                  <a:spcPts val="2004"/>
                </a:lnSpc>
              </a:pPr>
              <a:r>
                <a:rPr lang="en-US" sz="1670">
                  <a:solidFill>
                    <a:srgbClr val="14313B"/>
                  </a:solidFill>
                  <a:latin typeface="Calibri (MS)"/>
                  <a:ea typeface="Calibri (MS)"/>
                  <a:cs typeface="Calibri (MS)"/>
                  <a:sym typeface="Calibri (MS)"/>
                </a:rPr>
                <a:t>• Okupansi &amp; tekanan permintaan kamar</a:t>
              </a:r>
            </a:p>
          </p:txBody>
        </p:sp>
      </p:grpSp>
      <p:grpSp>
        <p:nvGrpSpPr>
          <p:cNvPr name="Group 73" id="73"/>
          <p:cNvGrpSpPr/>
          <p:nvPr/>
        </p:nvGrpSpPr>
        <p:grpSpPr>
          <a:xfrm rot="0">
            <a:off x="6446520" y="2286000"/>
            <a:ext cx="5394960" cy="640080"/>
            <a:chOff x="0" y="0"/>
            <a:chExt cx="7193280" cy="853440"/>
          </a:xfrm>
        </p:grpSpPr>
        <p:sp>
          <p:nvSpPr>
            <p:cNvPr name="Freeform 74" id="74"/>
            <p:cNvSpPr/>
            <p:nvPr/>
          </p:nvSpPr>
          <p:spPr>
            <a:xfrm flipH="false" flipV="false" rot="0">
              <a:off x="0" y="0"/>
              <a:ext cx="7193280" cy="853440"/>
            </a:xfrm>
            <a:custGeom>
              <a:avLst/>
              <a:gdLst/>
              <a:ahLst/>
              <a:cxnLst/>
              <a:rect r="r" b="b" t="t" l="l"/>
              <a:pathLst>
                <a:path h="853440" w="7193280">
                  <a:moveTo>
                    <a:pt x="0" y="68326"/>
                  </a:moveTo>
                  <a:cubicBezTo>
                    <a:pt x="0" y="30607"/>
                    <a:pt x="30607" y="0"/>
                    <a:pt x="68326" y="0"/>
                  </a:cubicBezTo>
                  <a:lnTo>
                    <a:pt x="7124954" y="0"/>
                  </a:lnTo>
                  <a:cubicBezTo>
                    <a:pt x="7162673" y="0"/>
                    <a:pt x="7193280" y="30607"/>
                    <a:pt x="7193280" y="68326"/>
                  </a:cubicBezTo>
                  <a:lnTo>
                    <a:pt x="7193280" y="785114"/>
                  </a:lnTo>
                  <a:cubicBezTo>
                    <a:pt x="7193280" y="822833"/>
                    <a:pt x="7162673" y="853440"/>
                    <a:pt x="7124954" y="853440"/>
                  </a:cubicBezTo>
                  <a:lnTo>
                    <a:pt x="68326" y="853440"/>
                  </a:lnTo>
                  <a:cubicBezTo>
                    <a:pt x="30607" y="853440"/>
                    <a:pt x="0" y="822833"/>
                    <a:pt x="0" y="785114"/>
                  </a:cubicBezTo>
                  <a:close/>
                </a:path>
              </a:pathLst>
            </a:custGeom>
            <a:solidFill>
              <a:srgbClr val="39C0D3"/>
            </a:solidFill>
          </p:spPr>
          <p:txBody>
            <a:bodyPr/>
            <a:p/>
          </p:txBody>
        </p:sp>
        <p:sp>
          <p:nvSpPr>
            <p:cNvPr name="TextBox 75" id="75"/>
            <p:cNvSpPr txBox="true"/>
            <p:nvPr/>
          </p:nvSpPr>
          <p:spPr>
            <a:xfrm>
              <a:off x="0" y="-38100"/>
              <a:ext cx="7193280" cy="891540"/>
            </a:xfrm>
            <a:prstGeom prst="rect">
              <a:avLst/>
            </a:prstGeom>
          </p:spPr>
          <p:txBody>
            <a:bodyPr anchor="ctr" rtlCol="false" tIns="50800" lIns="50800" bIns="50800" rIns="50800"/>
            <a:lstStyle/>
            <a:p>
              <a:pPr algn="l">
                <a:lnSpc>
                  <a:spcPts val="2484"/>
                </a:lnSpc>
              </a:pPr>
              <a:r>
                <a:rPr lang="en-US" sz="2070" b="true">
                  <a:solidFill>
                    <a:srgbClr val="FFFFFF"/>
                  </a:solidFill>
                  <a:latin typeface="Calibri (MS) Bold"/>
                  <a:ea typeface="Calibri (MS) Bold"/>
                  <a:cs typeface="Calibri (MS) Bold"/>
                  <a:sym typeface="Calibri (MS) Bold"/>
                </a:rPr>
                <a:t>Input dari luar model · 35 parameter</a:t>
              </a:r>
            </a:p>
          </p:txBody>
        </p:sp>
      </p:grpSp>
      <p:grpSp>
        <p:nvGrpSpPr>
          <p:cNvPr name="Group 76" id="76"/>
          <p:cNvGrpSpPr/>
          <p:nvPr/>
        </p:nvGrpSpPr>
        <p:grpSpPr>
          <a:xfrm rot="0">
            <a:off x="6440167" y="3011167"/>
            <a:ext cx="5407657" cy="4493257"/>
            <a:chOff x="0" y="0"/>
            <a:chExt cx="7210209" cy="5991009"/>
          </a:xfrm>
        </p:grpSpPr>
        <p:sp>
          <p:nvSpPr>
            <p:cNvPr name="Freeform 77" id="77"/>
            <p:cNvSpPr/>
            <p:nvPr/>
          </p:nvSpPr>
          <p:spPr>
            <a:xfrm flipH="false" flipV="false" rot="0">
              <a:off x="0" y="0"/>
              <a:ext cx="7210171" cy="5990971"/>
            </a:xfrm>
            <a:custGeom>
              <a:avLst/>
              <a:gdLst/>
              <a:ahLst/>
              <a:cxnLst/>
              <a:rect r="r" b="b" t="t" l="l"/>
              <a:pathLst>
                <a:path h="5990971" w="7210171">
                  <a:moveTo>
                    <a:pt x="0" y="479298"/>
                  </a:moveTo>
                  <a:cubicBezTo>
                    <a:pt x="0" y="214630"/>
                    <a:pt x="214630" y="0"/>
                    <a:pt x="479298" y="0"/>
                  </a:cubicBezTo>
                  <a:lnTo>
                    <a:pt x="6730873" y="0"/>
                  </a:lnTo>
                  <a:cubicBezTo>
                    <a:pt x="6995541" y="0"/>
                    <a:pt x="7210171" y="214630"/>
                    <a:pt x="7210171" y="479298"/>
                  </a:cubicBezTo>
                  <a:lnTo>
                    <a:pt x="7210171" y="5511673"/>
                  </a:lnTo>
                  <a:cubicBezTo>
                    <a:pt x="7210171" y="5776341"/>
                    <a:pt x="6995541" y="5990971"/>
                    <a:pt x="6730873" y="5990971"/>
                  </a:cubicBezTo>
                  <a:lnTo>
                    <a:pt x="479298" y="5990971"/>
                  </a:lnTo>
                  <a:cubicBezTo>
                    <a:pt x="214630" y="5990971"/>
                    <a:pt x="0" y="5776468"/>
                    <a:pt x="0" y="5511673"/>
                  </a:cubicBezTo>
                  <a:close/>
                </a:path>
              </a:pathLst>
            </a:custGeom>
            <a:solidFill>
              <a:srgbClr val="EAF8FA"/>
            </a:solidFill>
            <a:ln w="12700" cap="sq">
              <a:solidFill>
                <a:srgbClr val="CFE5E9"/>
              </a:solidFill>
              <a:prstDash val="solid"/>
              <a:miter/>
            </a:ln>
          </p:spPr>
          <p:txBody>
            <a:bodyPr/>
            <a:p/>
          </p:txBody>
        </p:sp>
        <p:sp>
          <p:nvSpPr>
            <p:cNvPr name="TextBox 78" id="78"/>
            <p:cNvSpPr txBox="true"/>
            <p:nvPr/>
          </p:nvSpPr>
          <p:spPr>
            <a:xfrm>
              <a:off x="0" y="-38100"/>
              <a:ext cx="7210209" cy="6029109"/>
            </a:xfrm>
            <a:prstGeom prst="rect">
              <a:avLst/>
            </a:prstGeom>
          </p:spPr>
          <p:txBody>
            <a:bodyPr anchor="t" rtlCol="false" tIns="50800" lIns="50800" bIns="50800" rIns="50800"/>
            <a:lstStyle/>
            <a:p>
              <a:pPr algn="l">
                <a:lnSpc>
                  <a:spcPts val="2004"/>
                </a:lnSpc>
              </a:pPr>
              <a:r>
                <a:rPr lang="en-US" sz="1670">
                  <a:solidFill>
                    <a:srgbClr val="14313B"/>
                  </a:solidFill>
                  <a:latin typeface="Calibri (MS)"/>
                  <a:ea typeface="Calibri (MS)"/>
                  <a:cs typeface="Calibri (MS)"/>
                  <a:sym typeface="Calibri (MS)"/>
                </a:rPr>
                <a:t>• Pendorong permintaan eksternal (LPE, LPD)</a:t>
              </a:r>
            </a:p>
            <a:p>
              <a:pPr algn="l">
                <a:lnSpc>
                  <a:spcPts val="2004"/>
                </a:lnSpc>
              </a:pPr>
              <a:r>
                <a:rPr lang="en-US" sz="1670">
                  <a:solidFill>
                    <a:srgbClr val="14313B"/>
                  </a:solidFill>
                  <a:latin typeface="Calibri (MS)"/>
                  <a:ea typeface="Calibri (MS)"/>
                  <a:cs typeface="Calibri (MS)"/>
                  <a:sym typeface="Calibri (MS)"/>
                </a:rPr>
                <a:t>• Perilaku &amp; karakteristik wisatawan</a:t>
              </a:r>
            </a:p>
            <a:p>
              <a:pPr algn="l">
                <a:lnSpc>
                  <a:spcPts val="2004"/>
                </a:lnSpc>
              </a:pPr>
              <a:r>
                <a:rPr lang="en-US" sz="1670">
                  <a:solidFill>
                    <a:srgbClr val="14313B"/>
                  </a:solidFill>
                  <a:latin typeface="Calibri (MS)"/>
                  <a:ea typeface="Calibri (MS)"/>
                  <a:cs typeface="Calibri (MS)"/>
                  <a:sym typeface="Calibri (MS)"/>
                </a:rPr>
                <a:t>• Karakteristik akomodasi</a:t>
              </a:r>
            </a:p>
            <a:p>
              <a:pPr algn="l">
                <a:lnSpc>
                  <a:spcPts val="2004"/>
                </a:lnSpc>
              </a:pPr>
              <a:r>
                <a:rPr lang="en-US" sz="1670">
                  <a:solidFill>
                    <a:srgbClr val="14313B"/>
                  </a:solidFill>
                  <a:latin typeface="Calibri (MS)"/>
                  <a:ea typeface="Calibri (MS)"/>
                  <a:cs typeface="Calibri (MS)"/>
                  <a:sym typeface="Calibri (MS)"/>
                </a:rPr>
                <a:t>• Koefisien hasil derivasi data historis</a:t>
              </a:r>
            </a:p>
            <a:p>
              <a:pPr algn="l">
                <a:lnSpc>
                  <a:spcPts val="2004"/>
                </a:lnSpc>
              </a:pPr>
              <a:r>
                <a:rPr lang="en-US" sz="1670">
                  <a:solidFill>
                    <a:srgbClr val="14313B"/>
                  </a:solidFill>
                  <a:latin typeface="Calibri (MS)"/>
                  <a:ea typeface="Calibri (MS)"/>
                  <a:cs typeface="Calibri (MS)"/>
                  <a:sym typeface="Calibri (MS)"/>
                </a:rPr>
                <a:t>• Koefisien &amp; batas kebutuhan lahan</a:t>
              </a:r>
            </a:p>
            <a:p>
              <a:pPr algn="l">
                <a:lnSpc>
                  <a:spcPts val="2004"/>
                </a:lnSpc>
              </a:pPr>
              <a:r>
                <a:rPr lang="en-US" sz="1670">
                  <a:solidFill>
                    <a:srgbClr val="14313B"/>
                  </a:solidFill>
                  <a:latin typeface="Calibri (MS)"/>
                  <a:ea typeface="Calibri (MS)"/>
                  <a:cs typeface="Calibri (MS)"/>
                  <a:sym typeface="Calibri (MS)"/>
                </a:rPr>
                <a:t>• Parameter &amp; nilai referensi daya tarik</a:t>
              </a:r>
            </a:p>
            <a:p>
              <a:pPr algn="l">
                <a:lnSpc>
                  <a:spcPts val="2004"/>
                </a:lnSpc>
              </a:pPr>
              <a:r>
                <a:rPr lang="en-US" sz="1670">
                  <a:solidFill>
                    <a:srgbClr val="14313B"/>
                  </a:solidFill>
                  <a:latin typeface="Calibri (MS)"/>
                  <a:ea typeface="Calibri (MS)"/>
                  <a:cs typeface="Calibri (MS)"/>
                  <a:sym typeface="Calibri (MS)"/>
                </a:rPr>
                <a:t>• Pembangunan ODTW non-investasi</a:t>
              </a:r>
            </a:p>
            <a:p>
              <a:pPr algn="l">
                <a:lnSpc>
                  <a:spcPts val="2004"/>
                </a:lnSpc>
              </a:pPr>
              <a:r>
                <a:rPr lang="en-US" sz="1670">
                  <a:solidFill>
                    <a:srgbClr val="14313B"/>
                  </a:solidFill>
                  <a:latin typeface="Calibri (MS)"/>
                  <a:ea typeface="Calibri (MS)"/>
                  <a:cs typeface="Calibri (MS)"/>
                  <a:sym typeface="Calibri (MS)"/>
                </a:rPr>
                <a:t>• Dua variabel kebijakan</a:t>
              </a:r>
            </a:p>
          </p:txBody>
        </p:sp>
      </p:grpSp>
      <p:grpSp>
        <p:nvGrpSpPr>
          <p:cNvPr name="Group 79" id="79"/>
          <p:cNvGrpSpPr/>
          <p:nvPr/>
        </p:nvGrpSpPr>
        <p:grpSpPr>
          <a:xfrm rot="0">
            <a:off x="12070080" y="2286000"/>
            <a:ext cx="5394960" cy="640080"/>
            <a:chOff x="0" y="0"/>
            <a:chExt cx="7193280" cy="853440"/>
          </a:xfrm>
        </p:grpSpPr>
        <p:sp>
          <p:nvSpPr>
            <p:cNvPr name="Freeform 80" id="80"/>
            <p:cNvSpPr/>
            <p:nvPr/>
          </p:nvSpPr>
          <p:spPr>
            <a:xfrm flipH="false" flipV="false" rot="0">
              <a:off x="0" y="0"/>
              <a:ext cx="7193280" cy="853440"/>
            </a:xfrm>
            <a:custGeom>
              <a:avLst/>
              <a:gdLst/>
              <a:ahLst/>
              <a:cxnLst/>
              <a:rect r="r" b="b" t="t" l="l"/>
              <a:pathLst>
                <a:path h="853440" w="7193280">
                  <a:moveTo>
                    <a:pt x="0" y="68326"/>
                  </a:moveTo>
                  <a:cubicBezTo>
                    <a:pt x="0" y="30607"/>
                    <a:pt x="30607" y="0"/>
                    <a:pt x="68326" y="0"/>
                  </a:cubicBezTo>
                  <a:lnTo>
                    <a:pt x="7124954" y="0"/>
                  </a:lnTo>
                  <a:cubicBezTo>
                    <a:pt x="7162673" y="0"/>
                    <a:pt x="7193280" y="30607"/>
                    <a:pt x="7193280" y="68326"/>
                  </a:cubicBezTo>
                  <a:lnTo>
                    <a:pt x="7193280" y="785114"/>
                  </a:lnTo>
                  <a:cubicBezTo>
                    <a:pt x="7193280" y="822833"/>
                    <a:pt x="7162673" y="853440"/>
                    <a:pt x="7124954" y="853440"/>
                  </a:cubicBezTo>
                  <a:lnTo>
                    <a:pt x="68326" y="853440"/>
                  </a:lnTo>
                  <a:cubicBezTo>
                    <a:pt x="30607" y="853440"/>
                    <a:pt x="0" y="822833"/>
                    <a:pt x="0" y="785114"/>
                  </a:cubicBezTo>
                  <a:close/>
                </a:path>
              </a:pathLst>
            </a:custGeom>
            <a:solidFill>
              <a:srgbClr val="FFD23B"/>
            </a:solidFill>
          </p:spPr>
          <p:txBody>
            <a:bodyPr/>
            <a:p/>
          </p:txBody>
        </p:sp>
        <p:sp>
          <p:nvSpPr>
            <p:cNvPr name="TextBox 81" id="81"/>
            <p:cNvSpPr txBox="true"/>
            <p:nvPr/>
          </p:nvSpPr>
          <p:spPr>
            <a:xfrm>
              <a:off x="0" y="-38100"/>
              <a:ext cx="7193280" cy="891540"/>
            </a:xfrm>
            <a:prstGeom prst="rect">
              <a:avLst/>
            </a:prstGeom>
          </p:spPr>
          <p:txBody>
            <a:bodyPr anchor="ctr" rtlCol="false" tIns="50800" lIns="50800" bIns="50800" rIns="50800"/>
            <a:lstStyle/>
            <a:p>
              <a:pPr algn="l">
                <a:lnSpc>
                  <a:spcPts val="2484"/>
                </a:lnSpc>
              </a:pPr>
              <a:r>
                <a:rPr lang="en-US" sz="2070" b="true">
                  <a:solidFill>
                    <a:srgbClr val="14313B"/>
                  </a:solidFill>
                  <a:latin typeface="Calibri (MS) Bold"/>
                  <a:ea typeface="Calibri (MS) Bold"/>
                  <a:cs typeface="Calibri (MS) Bold"/>
                  <a:sym typeface="Calibri (MS) Bold"/>
                </a:rPr>
                <a:t>Dikeluarkan · 15 aspek</a:t>
              </a:r>
            </a:p>
          </p:txBody>
        </p:sp>
      </p:grpSp>
      <p:grpSp>
        <p:nvGrpSpPr>
          <p:cNvPr name="Group 82" id="82"/>
          <p:cNvGrpSpPr/>
          <p:nvPr/>
        </p:nvGrpSpPr>
        <p:grpSpPr>
          <a:xfrm rot="0">
            <a:off x="12063727" y="3011167"/>
            <a:ext cx="5407657" cy="4493257"/>
            <a:chOff x="0" y="0"/>
            <a:chExt cx="7210209" cy="5991009"/>
          </a:xfrm>
        </p:grpSpPr>
        <p:sp>
          <p:nvSpPr>
            <p:cNvPr name="Freeform 83" id="83"/>
            <p:cNvSpPr/>
            <p:nvPr/>
          </p:nvSpPr>
          <p:spPr>
            <a:xfrm flipH="false" flipV="false" rot="0">
              <a:off x="0" y="0"/>
              <a:ext cx="7210171" cy="5990971"/>
            </a:xfrm>
            <a:custGeom>
              <a:avLst/>
              <a:gdLst/>
              <a:ahLst/>
              <a:cxnLst/>
              <a:rect r="r" b="b" t="t" l="l"/>
              <a:pathLst>
                <a:path h="5990971" w="7210171">
                  <a:moveTo>
                    <a:pt x="0" y="479298"/>
                  </a:moveTo>
                  <a:cubicBezTo>
                    <a:pt x="0" y="214630"/>
                    <a:pt x="214630" y="0"/>
                    <a:pt x="479298" y="0"/>
                  </a:cubicBezTo>
                  <a:lnTo>
                    <a:pt x="6730873" y="0"/>
                  </a:lnTo>
                  <a:cubicBezTo>
                    <a:pt x="6995541" y="0"/>
                    <a:pt x="7210171" y="214630"/>
                    <a:pt x="7210171" y="479298"/>
                  </a:cubicBezTo>
                  <a:lnTo>
                    <a:pt x="7210171" y="5511673"/>
                  </a:lnTo>
                  <a:cubicBezTo>
                    <a:pt x="7210171" y="5776341"/>
                    <a:pt x="6995541" y="5990971"/>
                    <a:pt x="6730873" y="5990971"/>
                  </a:cubicBezTo>
                  <a:lnTo>
                    <a:pt x="479298" y="5990971"/>
                  </a:lnTo>
                  <a:cubicBezTo>
                    <a:pt x="214630" y="5990971"/>
                    <a:pt x="0" y="5776468"/>
                    <a:pt x="0" y="5511673"/>
                  </a:cubicBezTo>
                  <a:close/>
                </a:path>
              </a:pathLst>
            </a:custGeom>
            <a:solidFill>
              <a:srgbClr val="EAF8FA"/>
            </a:solidFill>
            <a:ln w="12700" cap="sq">
              <a:solidFill>
                <a:srgbClr val="CFE5E9"/>
              </a:solidFill>
              <a:prstDash val="solid"/>
              <a:miter/>
            </a:ln>
          </p:spPr>
          <p:txBody>
            <a:bodyPr/>
            <a:p/>
          </p:txBody>
        </p:sp>
        <p:sp>
          <p:nvSpPr>
            <p:cNvPr name="TextBox 84" id="84"/>
            <p:cNvSpPr txBox="true"/>
            <p:nvPr/>
          </p:nvSpPr>
          <p:spPr>
            <a:xfrm>
              <a:off x="0" y="-38100"/>
              <a:ext cx="7210209" cy="6029109"/>
            </a:xfrm>
            <a:prstGeom prst="rect">
              <a:avLst/>
            </a:prstGeom>
          </p:spPr>
          <p:txBody>
            <a:bodyPr anchor="t" rtlCol="false" tIns="50800" lIns="50800" bIns="50800" rIns="50800"/>
            <a:lstStyle/>
            <a:p>
              <a:pPr algn="l">
                <a:lnSpc>
                  <a:spcPts val="2004"/>
                </a:lnSpc>
              </a:pPr>
              <a:r>
                <a:rPr lang="en-US" sz="1670">
                  <a:solidFill>
                    <a:srgbClr val="14313B"/>
                  </a:solidFill>
                  <a:latin typeface="Calibri (MS)"/>
                  <a:ea typeface="Calibri (MS)"/>
                  <a:cs typeface="Calibri (MS)"/>
                  <a:sym typeface="Calibri (MS)"/>
                </a:rPr>
                <a:t>• Pemisahan wisman–wisnus; harga</a:t>
              </a:r>
            </a:p>
            <a:p>
              <a:pPr algn="l">
                <a:lnSpc>
                  <a:spcPts val="2004"/>
                </a:lnSpc>
              </a:pPr>
              <a:r>
                <a:rPr lang="en-US" sz="1670">
                  <a:solidFill>
                    <a:srgbClr val="14313B"/>
                  </a:solidFill>
                  <a:latin typeface="Calibri (MS)"/>
                  <a:ea typeface="Calibri (MS)"/>
                  <a:cs typeface="Calibri (MS)"/>
                  <a:sym typeface="Calibri (MS)"/>
                </a:rPr>
                <a:t>• Aksesibilitas; promosi &amp; citra</a:t>
              </a:r>
            </a:p>
            <a:p>
              <a:pPr algn="l">
                <a:lnSpc>
                  <a:spcPts val="2004"/>
                </a:lnSpc>
              </a:pPr>
              <a:r>
                <a:rPr lang="en-US" sz="1670">
                  <a:solidFill>
                    <a:srgbClr val="14313B"/>
                  </a:solidFill>
                  <a:latin typeface="Calibri (MS)"/>
                  <a:ea typeface="Calibri (MS)"/>
                  <a:cs typeface="Calibri (MS)"/>
                  <a:sym typeface="Calibri (MS)"/>
                </a:rPr>
                <a:t>• Kualitas SDM; musim/bulanan</a:t>
              </a:r>
            </a:p>
            <a:p>
              <a:pPr algn="l">
                <a:lnSpc>
                  <a:spcPts val="2004"/>
                </a:lnSpc>
              </a:pPr>
              <a:r>
                <a:rPr lang="en-US" sz="1670">
                  <a:solidFill>
                    <a:srgbClr val="14313B"/>
                  </a:solidFill>
                  <a:latin typeface="Calibri (MS)"/>
                  <a:ea typeface="Calibri (MS)"/>
                  <a:cs typeface="Calibri (MS)"/>
                  <a:sym typeface="Calibri (MS)"/>
                </a:rPr>
                <a:t>• Shock (pandemi, erupsi, gempa)</a:t>
              </a:r>
            </a:p>
            <a:p>
              <a:pPr algn="l">
                <a:lnSpc>
                  <a:spcPts val="2004"/>
                </a:lnSpc>
              </a:pPr>
              <a:r>
                <a:rPr lang="en-US" sz="1670">
                  <a:solidFill>
                    <a:srgbClr val="14313B"/>
                  </a:solidFill>
                  <a:latin typeface="Calibri (MS)"/>
                  <a:ea typeface="Calibri (MS)"/>
                  <a:cs typeface="Calibri (MS)"/>
                  <a:sym typeface="Calibri (MS)"/>
                </a:rPr>
                <a:t>• Persaingan antardestinasi; zonasi RTRW</a:t>
              </a:r>
            </a:p>
            <a:p>
              <a:pPr algn="l">
                <a:lnSpc>
                  <a:spcPts val="2004"/>
                </a:lnSpc>
              </a:pPr>
              <a:r>
                <a:rPr lang="en-US" sz="1670">
                  <a:solidFill>
                    <a:srgbClr val="14313B"/>
                  </a:solidFill>
                  <a:latin typeface="Calibri (MS)"/>
                  <a:ea typeface="Calibri (MS)"/>
                  <a:cs typeface="Calibri (MS)"/>
                  <a:sym typeface="Calibri (MS)"/>
                </a:rPr>
                <a:t>• Dampak lingkungan non-lahan; sosial budaya</a:t>
              </a:r>
            </a:p>
            <a:p>
              <a:pPr algn="l">
                <a:lnSpc>
                  <a:spcPts val="2004"/>
                </a:lnSpc>
              </a:pPr>
              <a:r>
                <a:rPr lang="en-US" sz="1670">
                  <a:solidFill>
                    <a:srgbClr val="14313B"/>
                  </a:solidFill>
                  <a:latin typeface="Calibri (MS)"/>
                  <a:ea typeface="Calibri (MS)"/>
                  <a:cs typeface="Calibri (MS)"/>
                  <a:sym typeface="Calibri (MS)"/>
                </a:rPr>
                <a:t>• Distribusi manfaat; investasi APBN/APBD</a:t>
              </a:r>
            </a:p>
            <a:p>
              <a:pPr algn="l">
                <a:lnSpc>
                  <a:spcPts val="2004"/>
                </a:lnSpc>
              </a:pPr>
              <a:r>
                <a:rPr lang="en-US" sz="1670">
                  <a:solidFill>
                    <a:srgbClr val="14313B"/>
                  </a:solidFill>
                  <a:latin typeface="Calibri (MS)"/>
                  <a:ea typeface="Calibri (MS)"/>
                  <a:cs typeface="Calibri (MS)"/>
                  <a:sym typeface="Calibri (MS)"/>
                </a:rPr>
                <a:t>• Perpindahan TK antarsektor; harga lahan</a:t>
              </a:r>
            </a:p>
          </p:txBody>
        </p:sp>
      </p:grpSp>
      <p:grpSp>
        <p:nvGrpSpPr>
          <p:cNvPr name="Group 85" id="85"/>
          <p:cNvGrpSpPr/>
          <p:nvPr/>
        </p:nvGrpSpPr>
        <p:grpSpPr>
          <a:xfrm rot="0">
            <a:off x="816607" y="7628887"/>
            <a:ext cx="16654777" cy="698497"/>
            <a:chOff x="0" y="0"/>
            <a:chExt cx="22206369" cy="931329"/>
          </a:xfrm>
        </p:grpSpPr>
        <p:sp>
          <p:nvSpPr>
            <p:cNvPr name="Freeform 86" id="86"/>
            <p:cNvSpPr/>
            <p:nvPr/>
          </p:nvSpPr>
          <p:spPr>
            <a:xfrm flipH="false" flipV="false" rot="0">
              <a:off x="0" y="0"/>
              <a:ext cx="22206458" cy="931418"/>
            </a:xfrm>
            <a:custGeom>
              <a:avLst/>
              <a:gdLst/>
              <a:ahLst/>
              <a:cxnLst/>
              <a:rect r="r" b="b" t="t" l="l"/>
              <a:pathLst>
                <a:path h="931418" w="22206458">
                  <a:moveTo>
                    <a:pt x="0" y="74549"/>
                  </a:moveTo>
                  <a:cubicBezTo>
                    <a:pt x="0" y="33401"/>
                    <a:pt x="33401" y="0"/>
                    <a:pt x="74549" y="0"/>
                  </a:cubicBezTo>
                  <a:lnTo>
                    <a:pt x="22131910" y="0"/>
                  </a:lnTo>
                  <a:cubicBezTo>
                    <a:pt x="22173057" y="0"/>
                    <a:pt x="22206458" y="33401"/>
                    <a:pt x="22206458" y="74549"/>
                  </a:cubicBezTo>
                  <a:lnTo>
                    <a:pt x="22206458" y="856869"/>
                  </a:lnTo>
                  <a:cubicBezTo>
                    <a:pt x="22206458" y="898017"/>
                    <a:pt x="22173057" y="931418"/>
                    <a:pt x="22131910" y="931418"/>
                  </a:cubicBezTo>
                  <a:lnTo>
                    <a:pt x="74549" y="931418"/>
                  </a:lnTo>
                  <a:cubicBezTo>
                    <a:pt x="33401" y="931291"/>
                    <a:pt x="0" y="898017"/>
                    <a:pt x="0" y="856869"/>
                  </a:cubicBezTo>
                  <a:close/>
                </a:path>
              </a:pathLst>
            </a:custGeom>
            <a:solidFill>
              <a:srgbClr val="FFFFFF"/>
            </a:solidFill>
            <a:ln w="12700" cap="sq">
              <a:solidFill>
                <a:srgbClr val="CFE5E9"/>
              </a:solidFill>
              <a:prstDash val="solid"/>
              <a:miter/>
            </a:ln>
          </p:spPr>
          <p:txBody>
            <a:bodyPr/>
            <a:p/>
          </p:txBody>
        </p:sp>
        <p:sp>
          <p:nvSpPr>
            <p:cNvPr name="TextBox 87" id="87"/>
            <p:cNvSpPr txBox="true"/>
            <p:nvPr/>
          </p:nvSpPr>
          <p:spPr>
            <a:xfrm>
              <a:off x="0" y="-28575"/>
              <a:ext cx="22206369" cy="959904"/>
            </a:xfrm>
            <a:prstGeom prst="rect">
              <a:avLst/>
            </a:prstGeom>
          </p:spPr>
          <p:txBody>
            <a:bodyPr anchor="ctr" rtlCol="false" tIns="50800" lIns="50800" bIns="50800" rIns="50800"/>
            <a:lstStyle/>
            <a:p>
              <a:pPr algn="l">
                <a:lnSpc>
                  <a:spcPts val="1932"/>
                </a:lnSpc>
              </a:pPr>
              <a:r>
                <a:rPr lang="en-US" sz="1610" b="true">
                  <a:solidFill>
                    <a:srgbClr val="E4604F"/>
                  </a:solidFill>
                  <a:latin typeface="Calibri (MS) Bold"/>
                  <a:ea typeface="Calibri (MS) Bold"/>
                  <a:cs typeface="Calibri (MS) Bold"/>
                  <a:sym typeface="Calibri (MS) Bold"/>
                </a:rPr>
                <a:t>Konsekuensi utama:  </a:t>
              </a:r>
              <a:r>
                <a:rPr lang="en-US" sz="1610">
                  <a:solidFill>
                    <a:srgbClr val="14313B"/>
                  </a:solidFill>
                  <a:latin typeface="Calibri (MS)"/>
                  <a:ea typeface="Calibri (MS)"/>
                  <a:cs typeface="Calibri (MS)"/>
                  <a:sym typeface="Calibri (MS)"/>
                </a:rPr>
                <a:t>pengaruh harga tidak tercakup; promosi &amp; aksesibilitas sudah termasuk dalam LPE; proyeksi tanpa shock; daya dukung lahan cenderung longgar (memakai luas wilayah).</a:t>
              </a:r>
            </a:p>
          </p:txBody>
        </p:sp>
      </p:grpSp>
      <p:grpSp>
        <p:nvGrpSpPr>
          <p:cNvPr name="Group 88" id="88"/>
          <p:cNvGrpSpPr/>
          <p:nvPr/>
        </p:nvGrpSpPr>
        <p:grpSpPr>
          <a:xfrm rot="0">
            <a:off x="816607" y="8424415"/>
            <a:ext cx="16654777" cy="744217"/>
            <a:chOff x="0" y="0"/>
            <a:chExt cx="22206369" cy="992289"/>
          </a:xfrm>
        </p:grpSpPr>
        <p:sp>
          <p:nvSpPr>
            <p:cNvPr name="Freeform 89" id="89"/>
            <p:cNvSpPr/>
            <p:nvPr/>
          </p:nvSpPr>
          <p:spPr>
            <a:xfrm flipH="false" flipV="false" rot="0">
              <a:off x="0" y="0"/>
              <a:ext cx="22206331" cy="992251"/>
            </a:xfrm>
            <a:custGeom>
              <a:avLst/>
              <a:gdLst/>
              <a:ahLst/>
              <a:cxnLst/>
              <a:rect r="r" b="b" t="t" l="l"/>
              <a:pathLst>
                <a:path h="992251" w="22206331">
                  <a:moveTo>
                    <a:pt x="0" y="79375"/>
                  </a:moveTo>
                  <a:cubicBezTo>
                    <a:pt x="0" y="35560"/>
                    <a:pt x="35560" y="0"/>
                    <a:pt x="79375" y="0"/>
                  </a:cubicBezTo>
                  <a:lnTo>
                    <a:pt x="22126956" y="0"/>
                  </a:lnTo>
                  <a:cubicBezTo>
                    <a:pt x="22170771" y="0"/>
                    <a:pt x="22206331" y="35560"/>
                    <a:pt x="22206331" y="79375"/>
                  </a:cubicBezTo>
                  <a:lnTo>
                    <a:pt x="22206331" y="912876"/>
                  </a:lnTo>
                  <a:cubicBezTo>
                    <a:pt x="22206331" y="956691"/>
                    <a:pt x="22170771" y="992251"/>
                    <a:pt x="22126956" y="992251"/>
                  </a:cubicBezTo>
                  <a:lnTo>
                    <a:pt x="79375" y="992251"/>
                  </a:lnTo>
                  <a:cubicBezTo>
                    <a:pt x="35560" y="992251"/>
                    <a:pt x="0" y="956691"/>
                    <a:pt x="0" y="912876"/>
                  </a:cubicBezTo>
                  <a:close/>
                </a:path>
              </a:pathLst>
            </a:custGeom>
            <a:solidFill>
              <a:srgbClr val="FFF1BF"/>
            </a:solidFill>
            <a:ln w="12700" cap="sq">
              <a:solidFill>
                <a:srgbClr val="FFD23B"/>
              </a:solidFill>
              <a:prstDash val="solid"/>
              <a:miter/>
            </a:ln>
          </p:spPr>
          <p:txBody>
            <a:bodyPr/>
            <a:p/>
          </p:txBody>
        </p:sp>
        <p:sp>
          <p:nvSpPr>
            <p:cNvPr name="TextBox 90" id="90"/>
            <p:cNvSpPr txBox="true"/>
            <p:nvPr/>
          </p:nvSpPr>
          <p:spPr>
            <a:xfrm>
              <a:off x="0" y="-38100"/>
              <a:ext cx="22206369" cy="103038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Hasil model tidak dapat dipakai untuk menjawab pertanyaan tentang harga, promosi, musim, maupun shock eksternal.</a:t>
              </a:r>
            </a:p>
          </p:txBody>
        </p:sp>
      </p:grpSp>
      <p:sp>
        <p:nvSpPr>
          <p:cNvPr name="TextBox 91" id="91"/>
          <p:cNvSpPr txBox="true"/>
          <p:nvPr/>
        </p:nvSpPr>
        <p:spPr>
          <a:xfrm rot="0">
            <a:off x="822960" y="9198102"/>
            <a:ext cx="15544800" cy="293370"/>
          </a:xfrm>
          <a:prstGeom prst="rect">
            <a:avLst/>
          </a:prstGeom>
        </p:spPr>
        <p:txBody>
          <a:bodyPr anchor="t" rtlCol="false" tIns="0" lIns="0" bIns="0" rIns="0">
            <a:spAutoFit/>
          </a:bodyPr>
          <a:lstStyle/>
          <a:p>
            <a:pPr algn="l">
              <a:lnSpc>
                <a:spcPts val="1451"/>
              </a:lnSpc>
            </a:pPr>
            <a:r>
              <a:rPr lang="en-US" sz="1209" i="true">
                <a:solidFill>
                  <a:srgbClr val="5E6E78"/>
                </a:solidFill>
                <a:latin typeface="Calibri (MS) Italics"/>
                <a:ea typeface="Calibri (MS) Italics"/>
                <a:cs typeface="Calibri (MS) Italics"/>
                <a:sym typeface="Calibri (MS) Italics"/>
              </a:rPr>
              <a:t>Sumber: Buku Subbab 3.7.4 (uji kecukupan batas), 4.1.2, Tabel 13–15; rincian di Lampiran 9.</a:t>
            </a:r>
          </a:p>
        </p:txBody>
      </p:sp>
      <p:grpSp>
        <p:nvGrpSpPr>
          <p:cNvPr name="Group 92" id="92"/>
          <p:cNvGrpSpPr/>
          <p:nvPr/>
        </p:nvGrpSpPr>
        <p:grpSpPr>
          <a:xfrm rot="0">
            <a:off x="16047720" y="9646920"/>
            <a:ext cx="420624" cy="420624"/>
            <a:chOff x="0" y="0"/>
            <a:chExt cx="560832" cy="560832"/>
          </a:xfrm>
        </p:grpSpPr>
        <p:sp>
          <p:nvSpPr>
            <p:cNvPr name="Freeform 93" id="93"/>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94" id="94"/>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Ringkasan Hasil Tujuan 1</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23</a:t>
            </a:r>
          </a:p>
        </p:txBody>
      </p:sp>
      <p:grpSp>
        <p:nvGrpSpPr>
          <p:cNvPr name="Group 67" id="67"/>
          <p:cNvGrpSpPr/>
          <p:nvPr/>
        </p:nvGrpSpPr>
        <p:grpSpPr>
          <a:xfrm rot="0">
            <a:off x="822960" y="2286000"/>
            <a:ext cx="16642080" cy="777240"/>
            <a:chOff x="0" y="0"/>
            <a:chExt cx="22189440" cy="1036320"/>
          </a:xfrm>
        </p:grpSpPr>
        <p:sp>
          <p:nvSpPr>
            <p:cNvPr name="Freeform 68" id="68"/>
            <p:cNvSpPr/>
            <p:nvPr/>
          </p:nvSpPr>
          <p:spPr>
            <a:xfrm flipH="false" flipV="false" rot="0">
              <a:off x="0" y="0"/>
              <a:ext cx="22189441" cy="1036320"/>
            </a:xfrm>
            <a:custGeom>
              <a:avLst/>
              <a:gdLst/>
              <a:ahLst/>
              <a:cxnLst/>
              <a:rect r="r" b="b" t="t" l="l"/>
              <a:pathLst>
                <a:path h="1036320" w="22189441">
                  <a:moveTo>
                    <a:pt x="0" y="82931"/>
                  </a:moveTo>
                  <a:cubicBezTo>
                    <a:pt x="0" y="37084"/>
                    <a:pt x="37084" y="0"/>
                    <a:pt x="82931" y="0"/>
                  </a:cubicBezTo>
                  <a:lnTo>
                    <a:pt x="22106510" y="0"/>
                  </a:lnTo>
                  <a:cubicBezTo>
                    <a:pt x="22152356" y="0"/>
                    <a:pt x="22189441" y="37084"/>
                    <a:pt x="22189441" y="82931"/>
                  </a:cubicBezTo>
                  <a:lnTo>
                    <a:pt x="22189441" y="953389"/>
                  </a:lnTo>
                  <a:cubicBezTo>
                    <a:pt x="22189441" y="999236"/>
                    <a:pt x="22152356" y="1036320"/>
                    <a:pt x="22106510" y="1036320"/>
                  </a:cubicBezTo>
                  <a:lnTo>
                    <a:pt x="82931" y="1036320"/>
                  </a:lnTo>
                  <a:cubicBezTo>
                    <a:pt x="37084" y="1036320"/>
                    <a:pt x="0" y="999236"/>
                    <a:pt x="0" y="953389"/>
                  </a:cubicBezTo>
                  <a:close/>
                </a:path>
              </a:pathLst>
            </a:custGeom>
            <a:solidFill>
              <a:srgbClr val="0B5E6E"/>
            </a:solidFill>
          </p:spPr>
          <p:txBody>
            <a:bodyPr/>
            <a:p/>
          </p:txBody>
        </p:sp>
        <p:sp>
          <p:nvSpPr>
            <p:cNvPr name="TextBox 69" id="69"/>
            <p:cNvSpPr txBox="true"/>
            <p:nvPr/>
          </p:nvSpPr>
          <p:spPr>
            <a:xfrm>
              <a:off x="0" y="-38100"/>
              <a:ext cx="22189440" cy="1074420"/>
            </a:xfrm>
            <a:prstGeom prst="rect">
              <a:avLst/>
            </a:prstGeom>
          </p:spPr>
          <p:txBody>
            <a:bodyPr anchor="ctr" rtlCol="false" tIns="50800" lIns="50800" bIns="50800" rIns="50800"/>
            <a:lstStyle/>
            <a:p>
              <a:pPr algn="l">
                <a:lnSpc>
                  <a:spcPts val="2484"/>
                </a:lnSpc>
              </a:pPr>
              <a:r>
                <a:rPr lang="en-US" sz="2070" b="true">
                  <a:solidFill>
                    <a:srgbClr val="FFFFFF"/>
                  </a:solidFill>
                  <a:latin typeface="Calibri (MS) Bold"/>
                  <a:ea typeface="Calibri (MS) Bold"/>
                  <a:cs typeface="Calibri (MS) Bold"/>
                  <a:sym typeface="Calibri (MS) Bold"/>
                </a:rPr>
                <a:t>Apa hasil yang diperoleh untuk Tujuan 1?</a:t>
              </a:r>
            </a:p>
          </p:txBody>
        </p:sp>
      </p:grpSp>
      <p:grpSp>
        <p:nvGrpSpPr>
          <p:cNvPr name="Group 70" id="70"/>
          <p:cNvGrpSpPr/>
          <p:nvPr/>
        </p:nvGrpSpPr>
        <p:grpSpPr>
          <a:xfrm rot="0">
            <a:off x="816607" y="3285487"/>
            <a:ext cx="16654777" cy="1132837"/>
            <a:chOff x="0" y="0"/>
            <a:chExt cx="22206369" cy="1510449"/>
          </a:xfrm>
        </p:grpSpPr>
        <p:sp>
          <p:nvSpPr>
            <p:cNvPr name="Freeform 71" id="71"/>
            <p:cNvSpPr/>
            <p:nvPr/>
          </p:nvSpPr>
          <p:spPr>
            <a:xfrm flipH="false" flipV="false" rot="0">
              <a:off x="0" y="0"/>
              <a:ext cx="22206204" cy="1510284"/>
            </a:xfrm>
            <a:custGeom>
              <a:avLst/>
              <a:gdLst/>
              <a:ahLst/>
              <a:cxnLst/>
              <a:rect r="r" b="b" t="t" l="l"/>
              <a:pathLst>
                <a:path h="1510284" w="22206204">
                  <a:moveTo>
                    <a:pt x="0" y="120777"/>
                  </a:moveTo>
                  <a:cubicBezTo>
                    <a:pt x="0" y="54102"/>
                    <a:pt x="54102" y="0"/>
                    <a:pt x="120777" y="0"/>
                  </a:cubicBezTo>
                  <a:lnTo>
                    <a:pt x="22085427" y="0"/>
                  </a:lnTo>
                  <a:cubicBezTo>
                    <a:pt x="22152102" y="0"/>
                    <a:pt x="22206204" y="54102"/>
                    <a:pt x="22206204" y="120777"/>
                  </a:cubicBezTo>
                  <a:lnTo>
                    <a:pt x="22206204" y="1389507"/>
                  </a:lnTo>
                  <a:cubicBezTo>
                    <a:pt x="22206204" y="1456182"/>
                    <a:pt x="22152102" y="1510284"/>
                    <a:pt x="22085427" y="1510284"/>
                  </a:cubicBezTo>
                  <a:lnTo>
                    <a:pt x="120777" y="1510284"/>
                  </a:lnTo>
                  <a:cubicBezTo>
                    <a:pt x="54102" y="1510284"/>
                    <a:pt x="0" y="1456182"/>
                    <a:pt x="0" y="1389507"/>
                  </a:cubicBezTo>
                  <a:close/>
                </a:path>
              </a:pathLst>
            </a:custGeom>
            <a:solidFill>
              <a:srgbClr val="EAF8FA"/>
            </a:solidFill>
            <a:ln w="12700" cap="sq">
              <a:solidFill>
                <a:srgbClr val="CFE5E9"/>
              </a:solidFill>
              <a:prstDash val="solid"/>
              <a:miter/>
            </a:ln>
          </p:spPr>
          <p:txBody>
            <a:bodyPr/>
            <a:p/>
          </p:txBody>
        </p:sp>
      </p:grpSp>
      <p:grpSp>
        <p:nvGrpSpPr>
          <p:cNvPr name="Group 72" id="72"/>
          <p:cNvGrpSpPr/>
          <p:nvPr/>
        </p:nvGrpSpPr>
        <p:grpSpPr>
          <a:xfrm rot="0">
            <a:off x="1051560" y="3577590"/>
            <a:ext cx="548640" cy="548640"/>
            <a:chOff x="0" y="0"/>
            <a:chExt cx="731520" cy="731520"/>
          </a:xfrm>
        </p:grpSpPr>
        <p:sp>
          <p:nvSpPr>
            <p:cNvPr name="Freeform 73" id="73"/>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74" id="74"/>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1</a:t>
              </a:r>
            </a:p>
          </p:txBody>
        </p:sp>
      </p:grpSp>
      <p:grpSp>
        <p:nvGrpSpPr>
          <p:cNvPr name="Group 75" id="75"/>
          <p:cNvGrpSpPr/>
          <p:nvPr/>
        </p:nvGrpSpPr>
        <p:grpSpPr>
          <a:xfrm rot="0">
            <a:off x="1828800" y="3383280"/>
            <a:ext cx="4206240" cy="937260"/>
            <a:chOff x="0" y="0"/>
            <a:chExt cx="5608320" cy="1249680"/>
          </a:xfrm>
        </p:grpSpPr>
        <p:sp>
          <p:nvSpPr>
            <p:cNvPr name="Freeform 76" id="76"/>
            <p:cNvSpPr/>
            <p:nvPr/>
          </p:nvSpPr>
          <p:spPr>
            <a:xfrm flipH="false" flipV="false" rot="0">
              <a:off x="0" y="0"/>
              <a:ext cx="5608320" cy="1249680"/>
            </a:xfrm>
            <a:custGeom>
              <a:avLst/>
              <a:gdLst/>
              <a:ahLst/>
              <a:cxnLst/>
              <a:rect r="r" b="b" t="t" l="l"/>
              <a:pathLst>
                <a:path h="1249680" w="5608320">
                  <a:moveTo>
                    <a:pt x="0" y="0"/>
                  </a:moveTo>
                  <a:lnTo>
                    <a:pt x="5608320" y="0"/>
                  </a:lnTo>
                  <a:lnTo>
                    <a:pt x="5608320" y="1249680"/>
                  </a:lnTo>
                  <a:lnTo>
                    <a:pt x="0" y="1249680"/>
                  </a:lnTo>
                  <a:close/>
                </a:path>
              </a:pathLst>
            </a:custGeom>
            <a:blipFill>
              <a:blip r:embed="rId6">
                <a:alphaModFix amt="0"/>
              </a:blip>
              <a:stretch>
                <a:fillRect l="0" t="-37445" r="0" b="-37445"/>
              </a:stretch>
            </a:blipFill>
          </p:spPr>
          <p:txBody>
            <a:bodyPr/>
            <a:p/>
          </p:txBody>
        </p:sp>
        <p:sp>
          <p:nvSpPr>
            <p:cNvPr name="TextBox 77" id="77"/>
            <p:cNvSpPr txBox="true"/>
            <p:nvPr/>
          </p:nvSpPr>
          <p:spPr>
            <a:xfrm>
              <a:off x="0" y="-38100"/>
              <a:ext cx="5608320" cy="1287780"/>
            </a:xfrm>
            <a:prstGeom prst="rect">
              <a:avLst/>
            </a:prstGeom>
          </p:spPr>
          <p:txBody>
            <a:bodyPr anchor="ctr" rtlCol="false" tIns="0" lIns="0" bIns="0" rIns="0"/>
            <a:lstStyle/>
            <a:p>
              <a:pPr algn="l">
                <a:lnSpc>
                  <a:spcPts val="2279"/>
                </a:lnSpc>
              </a:pPr>
              <a:r>
                <a:rPr lang="en-US" sz="1899" b="true">
                  <a:solidFill>
                    <a:srgbClr val="0B5E6E"/>
                  </a:solidFill>
                  <a:latin typeface="Calibri (MS) Bold"/>
                  <a:ea typeface="Calibri (MS) Bold"/>
                  <a:cs typeface="Calibri (MS) Bold"/>
                  <a:sym typeface="Calibri (MS) Bold"/>
                </a:rPr>
                <a:t>15 variabel kunci</a:t>
              </a:r>
            </a:p>
          </p:txBody>
        </p:sp>
      </p:grpSp>
      <p:grpSp>
        <p:nvGrpSpPr>
          <p:cNvPr name="Group 78" id="78"/>
          <p:cNvGrpSpPr/>
          <p:nvPr/>
        </p:nvGrpSpPr>
        <p:grpSpPr>
          <a:xfrm rot="0">
            <a:off x="6126480" y="3383280"/>
            <a:ext cx="11155680" cy="937260"/>
            <a:chOff x="0" y="0"/>
            <a:chExt cx="14874240" cy="1249680"/>
          </a:xfrm>
        </p:grpSpPr>
        <p:sp>
          <p:nvSpPr>
            <p:cNvPr name="Freeform 79" id="79"/>
            <p:cNvSpPr/>
            <p:nvPr/>
          </p:nvSpPr>
          <p:spPr>
            <a:xfrm flipH="false" flipV="false" rot="0">
              <a:off x="0" y="0"/>
              <a:ext cx="14874239" cy="1249680"/>
            </a:xfrm>
            <a:custGeom>
              <a:avLst/>
              <a:gdLst/>
              <a:ahLst/>
              <a:cxnLst/>
              <a:rect r="r" b="b" t="t" l="l"/>
              <a:pathLst>
                <a:path h="1249680" w="14874239">
                  <a:moveTo>
                    <a:pt x="0" y="0"/>
                  </a:moveTo>
                  <a:lnTo>
                    <a:pt x="14874239" y="0"/>
                  </a:lnTo>
                  <a:lnTo>
                    <a:pt x="14874239" y="1249680"/>
                  </a:lnTo>
                  <a:lnTo>
                    <a:pt x="0" y="1249680"/>
                  </a:lnTo>
                  <a:close/>
                </a:path>
              </a:pathLst>
            </a:custGeom>
            <a:blipFill>
              <a:blip r:embed="rId6">
                <a:alphaModFix amt="0"/>
              </a:blip>
              <a:stretch>
                <a:fillRect l="0" t="-181919" r="0" b="-181919"/>
              </a:stretch>
            </a:blipFill>
          </p:spPr>
          <p:txBody>
            <a:bodyPr/>
            <a:p/>
          </p:txBody>
        </p:sp>
        <p:sp>
          <p:nvSpPr>
            <p:cNvPr name="TextBox 80" id="80"/>
            <p:cNvSpPr txBox="true"/>
            <p:nvPr/>
          </p:nvSpPr>
          <p:spPr>
            <a:xfrm>
              <a:off x="0" y="-38100"/>
              <a:ext cx="14874240" cy="1287780"/>
            </a:xfrm>
            <a:prstGeom prst="rect">
              <a:avLst/>
            </a:prstGeom>
          </p:spPr>
          <p:txBody>
            <a:bodyPr anchor="ctr" rtlCol="false" tIns="0" lIns="0" bIns="0" rIns="0"/>
            <a:lstStyle/>
            <a:p>
              <a:pPr algn="l">
                <a:lnSpc>
                  <a:spcPts val="2063"/>
                </a:lnSpc>
              </a:pPr>
              <a:r>
                <a:rPr lang="en-US" sz="1719">
                  <a:solidFill>
                    <a:srgbClr val="14313B"/>
                  </a:solidFill>
                  <a:latin typeface="Calibri (MS)"/>
                  <a:ea typeface="Calibri (MS)"/>
                  <a:cs typeface="Calibri (MS)"/>
                  <a:sym typeface="Calibri (MS)"/>
                </a:rPr>
                <a:t>Berasal dari 6 subsistem (permintaan &amp; daya tarik, atraksi, ekonomi &amp; investasi, akomodasi, lahan, tenaga kerja); semuanya punya padanan statistik resmi.</a:t>
              </a:r>
            </a:p>
          </p:txBody>
        </p:sp>
      </p:grpSp>
      <p:grpSp>
        <p:nvGrpSpPr>
          <p:cNvPr name="Group 81" id="81"/>
          <p:cNvGrpSpPr/>
          <p:nvPr/>
        </p:nvGrpSpPr>
        <p:grpSpPr>
          <a:xfrm rot="0">
            <a:off x="816607" y="4588507"/>
            <a:ext cx="16654777" cy="1132837"/>
            <a:chOff x="0" y="0"/>
            <a:chExt cx="22206369" cy="1510449"/>
          </a:xfrm>
        </p:grpSpPr>
        <p:sp>
          <p:nvSpPr>
            <p:cNvPr name="Freeform 82" id="82"/>
            <p:cNvSpPr/>
            <p:nvPr/>
          </p:nvSpPr>
          <p:spPr>
            <a:xfrm flipH="false" flipV="false" rot="0">
              <a:off x="0" y="0"/>
              <a:ext cx="22206204" cy="1510284"/>
            </a:xfrm>
            <a:custGeom>
              <a:avLst/>
              <a:gdLst/>
              <a:ahLst/>
              <a:cxnLst/>
              <a:rect r="r" b="b" t="t" l="l"/>
              <a:pathLst>
                <a:path h="1510284" w="22206204">
                  <a:moveTo>
                    <a:pt x="0" y="120777"/>
                  </a:moveTo>
                  <a:cubicBezTo>
                    <a:pt x="0" y="54102"/>
                    <a:pt x="54102" y="0"/>
                    <a:pt x="120777" y="0"/>
                  </a:cubicBezTo>
                  <a:lnTo>
                    <a:pt x="22085427" y="0"/>
                  </a:lnTo>
                  <a:cubicBezTo>
                    <a:pt x="22152102" y="0"/>
                    <a:pt x="22206204" y="54102"/>
                    <a:pt x="22206204" y="120777"/>
                  </a:cubicBezTo>
                  <a:lnTo>
                    <a:pt x="22206204" y="1389507"/>
                  </a:lnTo>
                  <a:cubicBezTo>
                    <a:pt x="22206204" y="1456182"/>
                    <a:pt x="22152102" y="1510284"/>
                    <a:pt x="22085427" y="1510284"/>
                  </a:cubicBezTo>
                  <a:lnTo>
                    <a:pt x="120777" y="1510284"/>
                  </a:lnTo>
                  <a:cubicBezTo>
                    <a:pt x="54102" y="1510284"/>
                    <a:pt x="0" y="1456182"/>
                    <a:pt x="0" y="1389507"/>
                  </a:cubicBezTo>
                  <a:close/>
                </a:path>
              </a:pathLst>
            </a:custGeom>
            <a:solidFill>
              <a:srgbClr val="EAF8FA"/>
            </a:solidFill>
            <a:ln w="12700" cap="sq">
              <a:solidFill>
                <a:srgbClr val="CFE5E9"/>
              </a:solidFill>
              <a:prstDash val="solid"/>
              <a:miter/>
            </a:ln>
          </p:spPr>
          <p:txBody>
            <a:bodyPr/>
            <a:p/>
          </p:txBody>
        </p:sp>
      </p:grpSp>
      <p:grpSp>
        <p:nvGrpSpPr>
          <p:cNvPr name="Group 83" id="83"/>
          <p:cNvGrpSpPr/>
          <p:nvPr/>
        </p:nvGrpSpPr>
        <p:grpSpPr>
          <a:xfrm rot="0">
            <a:off x="1051560" y="4880610"/>
            <a:ext cx="548640" cy="548640"/>
            <a:chOff x="0" y="0"/>
            <a:chExt cx="731520" cy="731520"/>
          </a:xfrm>
        </p:grpSpPr>
        <p:sp>
          <p:nvSpPr>
            <p:cNvPr name="Freeform 84" id="84"/>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85" id="85"/>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2</a:t>
              </a:r>
            </a:p>
          </p:txBody>
        </p:sp>
      </p:grpSp>
      <p:grpSp>
        <p:nvGrpSpPr>
          <p:cNvPr name="Group 86" id="86"/>
          <p:cNvGrpSpPr/>
          <p:nvPr/>
        </p:nvGrpSpPr>
        <p:grpSpPr>
          <a:xfrm rot="0">
            <a:off x="1828800" y="4686300"/>
            <a:ext cx="4206240" cy="937260"/>
            <a:chOff x="0" y="0"/>
            <a:chExt cx="5608320" cy="1249680"/>
          </a:xfrm>
        </p:grpSpPr>
        <p:sp>
          <p:nvSpPr>
            <p:cNvPr name="Freeform 87" id="87"/>
            <p:cNvSpPr/>
            <p:nvPr/>
          </p:nvSpPr>
          <p:spPr>
            <a:xfrm flipH="false" flipV="false" rot="0">
              <a:off x="0" y="0"/>
              <a:ext cx="5608320" cy="1249680"/>
            </a:xfrm>
            <a:custGeom>
              <a:avLst/>
              <a:gdLst/>
              <a:ahLst/>
              <a:cxnLst/>
              <a:rect r="r" b="b" t="t" l="l"/>
              <a:pathLst>
                <a:path h="1249680" w="5608320">
                  <a:moveTo>
                    <a:pt x="0" y="0"/>
                  </a:moveTo>
                  <a:lnTo>
                    <a:pt x="5608320" y="0"/>
                  </a:lnTo>
                  <a:lnTo>
                    <a:pt x="5608320" y="1249680"/>
                  </a:lnTo>
                  <a:lnTo>
                    <a:pt x="0" y="1249680"/>
                  </a:lnTo>
                  <a:close/>
                </a:path>
              </a:pathLst>
            </a:custGeom>
            <a:blipFill>
              <a:blip r:embed="rId6">
                <a:alphaModFix amt="0"/>
              </a:blip>
              <a:stretch>
                <a:fillRect l="0" t="-37445" r="0" b="-37445"/>
              </a:stretch>
            </a:blipFill>
          </p:spPr>
          <p:txBody>
            <a:bodyPr/>
            <a:p/>
          </p:txBody>
        </p:sp>
        <p:sp>
          <p:nvSpPr>
            <p:cNvPr name="TextBox 88" id="88"/>
            <p:cNvSpPr txBox="true"/>
            <p:nvPr/>
          </p:nvSpPr>
          <p:spPr>
            <a:xfrm>
              <a:off x="0" y="-38100"/>
              <a:ext cx="5608320" cy="1287780"/>
            </a:xfrm>
            <a:prstGeom prst="rect">
              <a:avLst/>
            </a:prstGeom>
          </p:spPr>
          <p:txBody>
            <a:bodyPr anchor="ctr" rtlCol="false" tIns="0" lIns="0" bIns="0" rIns="0"/>
            <a:lstStyle/>
            <a:p>
              <a:pPr algn="l">
                <a:lnSpc>
                  <a:spcPts val="2279"/>
                </a:lnSpc>
              </a:pPr>
              <a:r>
                <a:rPr lang="en-US" sz="1899" b="true">
                  <a:solidFill>
                    <a:srgbClr val="0B5E6E"/>
                  </a:solidFill>
                  <a:latin typeface="Calibri (MS) Bold"/>
                  <a:ea typeface="Calibri (MS) Bold"/>
                  <a:cs typeface="Calibri (MS) Bold"/>
                  <a:sym typeface="Calibri (MS) Bold"/>
                </a:rPr>
                <a:t>18 hubungan kausal</a:t>
              </a:r>
            </a:p>
          </p:txBody>
        </p:sp>
      </p:grpSp>
      <p:grpSp>
        <p:nvGrpSpPr>
          <p:cNvPr name="Group 89" id="89"/>
          <p:cNvGrpSpPr/>
          <p:nvPr/>
        </p:nvGrpSpPr>
        <p:grpSpPr>
          <a:xfrm rot="0">
            <a:off x="6126480" y="4686300"/>
            <a:ext cx="11155680" cy="937260"/>
            <a:chOff x="0" y="0"/>
            <a:chExt cx="14874240" cy="1249680"/>
          </a:xfrm>
        </p:grpSpPr>
        <p:sp>
          <p:nvSpPr>
            <p:cNvPr name="Freeform 90" id="90"/>
            <p:cNvSpPr/>
            <p:nvPr/>
          </p:nvSpPr>
          <p:spPr>
            <a:xfrm flipH="false" flipV="false" rot="0">
              <a:off x="0" y="0"/>
              <a:ext cx="14874239" cy="1249680"/>
            </a:xfrm>
            <a:custGeom>
              <a:avLst/>
              <a:gdLst/>
              <a:ahLst/>
              <a:cxnLst/>
              <a:rect r="r" b="b" t="t" l="l"/>
              <a:pathLst>
                <a:path h="1249680" w="14874239">
                  <a:moveTo>
                    <a:pt x="0" y="0"/>
                  </a:moveTo>
                  <a:lnTo>
                    <a:pt x="14874239" y="0"/>
                  </a:lnTo>
                  <a:lnTo>
                    <a:pt x="14874239" y="1249680"/>
                  </a:lnTo>
                  <a:lnTo>
                    <a:pt x="0" y="1249680"/>
                  </a:lnTo>
                  <a:close/>
                </a:path>
              </a:pathLst>
            </a:custGeom>
            <a:blipFill>
              <a:blip r:embed="rId6">
                <a:alphaModFix amt="0"/>
              </a:blip>
              <a:stretch>
                <a:fillRect l="0" t="-181919" r="0" b="-181919"/>
              </a:stretch>
            </a:blipFill>
          </p:spPr>
          <p:txBody>
            <a:bodyPr/>
            <a:p/>
          </p:txBody>
        </p:sp>
        <p:sp>
          <p:nvSpPr>
            <p:cNvPr name="TextBox 91" id="91"/>
            <p:cNvSpPr txBox="true"/>
            <p:nvPr/>
          </p:nvSpPr>
          <p:spPr>
            <a:xfrm>
              <a:off x="0" y="-38100"/>
              <a:ext cx="14874240" cy="1287780"/>
            </a:xfrm>
            <a:prstGeom prst="rect">
              <a:avLst/>
            </a:prstGeom>
          </p:spPr>
          <p:txBody>
            <a:bodyPr anchor="ctr" rtlCol="false" tIns="0" lIns="0" bIns="0" rIns="0"/>
            <a:lstStyle/>
            <a:p>
              <a:pPr algn="l">
                <a:lnSpc>
                  <a:spcPts val="2063"/>
                </a:lnSpc>
              </a:pPr>
              <a:r>
                <a:rPr lang="en-US" sz="1719">
                  <a:solidFill>
                    <a:srgbClr val="14313B"/>
                  </a:solidFill>
                  <a:latin typeface="Calibri (MS)"/>
                  <a:ea typeface="Calibri (MS)"/>
                  <a:cs typeface="Calibri (MS)"/>
                  <a:sym typeface="Calibri (MS)"/>
                </a:rPr>
                <a:t>Dievaluasi arah, mekanisme, dan jenis dukungannya; 1 hubungan (TK → pembangunan ODTW) tidak dipertahankan.</a:t>
              </a:r>
            </a:p>
          </p:txBody>
        </p:sp>
      </p:grpSp>
      <p:grpSp>
        <p:nvGrpSpPr>
          <p:cNvPr name="Group 92" id="92"/>
          <p:cNvGrpSpPr/>
          <p:nvPr/>
        </p:nvGrpSpPr>
        <p:grpSpPr>
          <a:xfrm rot="0">
            <a:off x="816607" y="5891527"/>
            <a:ext cx="16654777" cy="1132837"/>
            <a:chOff x="0" y="0"/>
            <a:chExt cx="22206369" cy="1510449"/>
          </a:xfrm>
        </p:grpSpPr>
        <p:sp>
          <p:nvSpPr>
            <p:cNvPr name="Freeform 93" id="93"/>
            <p:cNvSpPr/>
            <p:nvPr/>
          </p:nvSpPr>
          <p:spPr>
            <a:xfrm flipH="false" flipV="false" rot="0">
              <a:off x="0" y="0"/>
              <a:ext cx="22206204" cy="1510284"/>
            </a:xfrm>
            <a:custGeom>
              <a:avLst/>
              <a:gdLst/>
              <a:ahLst/>
              <a:cxnLst/>
              <a:rect r="r" b="b" t="t" l="l"/>
              <a:pathLst>
                <a:path h="1510284" w="22206204">
                  <a:moveTo>
                    <a:pt x="0" y="120777"/>
                  </a:moveTo>
                  <a:cubicBezTo>
                    <a:pt x="0" y="54102"/>
                    <a:pt x="54102" y="0"/>
                    <a:pt x="120777" y="0"/>
                  </a:cubicBezTo>
                  <a:lnTo>
                    <a:pt x="22085427" y="0"/>
                  </a:lnTo>
                  <a:cubicBezTo>
                    <a:pt x="22152102" y="0"/>
                    <a:pt x="22206204" y="54102"/>
                    <a:pt x="22206204" y="120777"/>
                  </a:cubicBezTo>
                  <a:lnTo>
                    <a:pt x="22206204" y="1389507"/>
                  </a:lnTo>
                  <a:cubicBezTo>
                    <a:pt x="22206204" y="1456182"/>
                    <a:pt x="22152102" y="1510284"/>
                    <a:pt x="22085427" y="1510284"/>
                  </a:cubicBezTo>
                  <a:lnTo>
                    <a:pt x="120777" y="1510284"/>
                  </a:lnTo>
                  <a:cubicBezTo>
                    <a:pt x="54102" y="1510284"/>
                    <a:pt x="0" y="1456182"/>
                    <a:pt x="0" y="1389507"/>
                  </a:cubicBezTo>
                  <a:close/>
                </a:path>
              </a:pathLst>
            </a:custGeom>
            <a:solidFill>
              <a:srgbClr val="EAF8FA"/>
            </a:solidFill>
            <a:ln w="12700" cap="sq">
              <a:solidFill>
                <a:srgbClr val="CFE5E9"/>
              </a:solidFill>
              <a:prstDash val="solid"/>
              <a:miter/>
            </a:ln>
          </p:spPr>
          <p:txBody>
            <a:bodyPr/>
            <a:p/>
          </p:txBody>
        </p:sp>
      </p:grpSp>
      <p:grpSp>
        <p:nvGrpSpPr>
          <p:cNvPr name="Group 94" id="94"/>
          <p:cNvGrpSpPr/>
          <p:nvPr/>
        </p:nvGrpSpPr>
        <p:grpSpPr>
          <a:xfrm rot="0">
            <a:off x="1051560" y="6183630"/>
            <a:ext cx="548640" cy="548640"/>
            <a:chOff x="0" y="0"/>
            <a:chExt cx="731520" cy="731520"/>
          </a:xfrm>
        </p:grpSpPr>
        <p:sp>
          <p:nvSpPr>
            <p:cNvPr name="Freeform 95" id="95"/>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96" id="96"/>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3</a:t>
              </a:r>
            </a:p>
          </p:txBody>
        </p:sp>
      </p:grpSp>
      <p:grpSp>
        <p:nvGrpSpPr>
          <p:cNvPr name="Group 97" id="97"/>
          <p:cNvGrpSpPr/>
          <p:nvPr/>
        </p:nvGrpSpPr>
        <p:grpSpPr>
          <a:xfrm rot="0">
            <a:off x="1828800" y="5989320"/>
            <a:ext cx="4206240" cy="937260"/>
            <a:chOff x="0" y="0"/>
            <a:chExt cx="5608320" cy="1249680"/>
          </a:xfrm>
        </p:grpSpPr>
        <p:sp>
          <p:nvSpPr>
            <p:cNvPr name="Freeform 98" id="98"/>
            <p:cNvSpPr/>
            <p:nvPr/>
          </p:nvSpPr>
          <p:spPr>
            <a:xfrm flipH="false" flipV="false" rot="0">
              <a:off x="0" y="0"/>
              <a:ext cx="5608320" cy="1249680"/>
            </a:xfrm>
            <a:custGeom>
              <a:avLst/>
              <a:gdLst/>
              <a:ahLst/>
              <a:cxnLst/>
              <a:rect r="r" b="b" t="t" l="l"/>
              <a:pathLst>
                <a:path h="1249680" w="5608320">
                  <a:moveTo>
                    <a:pt x="0" y="0"/>
                  </a:moveTo>
                  <a:lnTo>
                    <a:pt x="5608320" y="0"/>
                  </a:lnTo>
                  <a:lnTo>
                    <a:pt x="5608320" y="1249680"/>
                  </a:lnTo>
                  <a:lnTo>
                    <a:pt x="0" y="1249680"/>
                  </a:lnTo>
                  <a:close/>
                </a:path>
              </a:pathLst>
            </a:custGeom>
            <a:blipFill>
              <a:blip r:embed="rId6">
                <a:alphaModFix amt="0"/>
              </a:blip>
              <a:stretch>
                <a:fillRect l="0" t="-37445" r="0" b="-37445"/>
              </a:stretch>
            </a:blipFill>
          </p:spPr>
          <p:txBody>
            <a:bodyPr/>
            <a:p/>
          </p:txBody>
        </p:sp>
        <p:sp>
          <p:nvSpPr>
            <p:cNvPr name="TextBox 99" id="99"/>
            <p:cNvSpPr txBox="true"/>
            <p:nvPr/>
          </p:nvSpPr>
          <p:spPr>
            <a:xfrm>
              <a:off x="0" y="-38100"/>
              <a:ext cx="5608320" cy="1287780"/>
            </a:xfrm>
            <a:prstGeom prst="rect">
              <a:avLst/>
            </a:prstGeom>
          </p:spPr>
          <p:txBody>
            <a:bodyPr anchor="ctr" rtlCol="false" tIns="0" lIns="0" bIns="0" rIns="0"/>
            <a:lstStyle/>
            <a:p>
              <a:pPr algn="l">
                <a:lnSpc>
                  <a:spcPts val="2279"/>
                </a:lnSpc>
              </a:pPr>
              <a:r>
                <a:rPr lang="en-US" sz="1899" b="true">
                  <a:solidFill>
                    <a:srgbClr val="0B5E6E"/>
                  </a:solidFill>
                  <a:latin typeface="Calibri (MS) Bold"/>
                  <a:ea typeface="Calibri (MS) Bold"/>
                  <a:cs typeface="Calibri (MS) Bold"/>
                  <a:sym typeface="Calibri (MS) Bold"/>
                </a:rPr>
                <a:t>6 feedback loop</a:t>
              </a:r>
            </a:p>
          </p:txBody>
        </p:sp>
      </p:grpSp>
      <p:grpSp>
        <p:nvGrpSpPr>
          <p:cNvPr name="Group 100" id="100"/>
          <p:cNvGrpSpPr/>
          <p:nvPr/>
        </p:nvGrpSpPr>
        <p:grpSpPr>
          <a:xfrm rot="0">
            <a:off x="6126480" y="5989320"/>
            <a:ext cx="11155680" cy="937260"/>
            <a:chOff x="0" y="0"/>
            <a:chExt cx="14874240" cy="1249680"/>
          </a:xfrm>
        </p:grpSpPr>
        <p:sp>
          <p:nvSpPr>
            <p:cNvPr name="Freeform 101" id="101"/>
            <p:cNvSpPr/>
            <p:nvPr/>
          </p:nvSpPr>
          <p:spPr>
            <a:xfrm flipH="false" flipV="false" rot="0">
              <a:off x="0" y="0"/>
              <a:ext cx="14874239" cy="1249680"/>
            </a:xfrm>
            <a:custGeom>
              <a:avLst/>
              <a:gdLst/>
              <a:ahLst/>
              <a:cxnLst/>
              <a:rect r="r" b="b" t="t" l="l"/>
              <a:pathLst>
                <a:path h="1249680" w="14874239">
                  <a:moveTo>
                    <a:pt x="0" y="0"/>
                  </a:moveTo>
                  <a:lnTo>
                    <a:pt x="14874239" y="0"/>
                  </a:lnTo>
                  <a:lnTo>
                    <a:pt x="14874239" y="1249680"/>
                  </a:lnTo>
                  <a:lnTo>
                    <a:pt x="0" y="1249680"/>
                  </a:lnTo>
                  <a:close/>
                </a:path>
              </a:pathLst>
            </a:custGeom>
            <a:blipFill>
              <a:blip r:embed="rId6">
                <a:alphaModFix amt="0"/>
              </a:blip>
              <a:stretch>
                <a:fillRect l="0" t="-181919" r="0" b="-181919"/>
              </a:stretch>
            </a:blipFill>
          </p:spPr>
          <p:txBody>
            <a:bodyPr/>
            <a:p/>
          </p:txBody>
        </p:sp>
        <p:sp>
          <p:nvSpPr>
            <p:cNvPr name="TextBox 102" id="102"/>
            <p:cNvSpPr txBox="true"/>
            <p:nvPr/>
          </p:nvSpPr>
          <p:spPr>
            <a:xfrm>
              <a:off x="0" y="-38100"/>
              <a:ext cx="14874240" cy="1287780"/>
            </a:xfrm>
            <a:prstGeom prst="rect">
              <a:avLst/>
            </a:prstGeom>
          </p:spPr>
          <p:txBody>
            <a:bodyPr anchor="ctr" rtlCol="false" tIns="0" lIns="0" bIns="0" rIns="0"/>
            <a:lstStyle/>
            <a:p>
              <a:pPr algn="l">
                <a:lnSpc>
                  <a:spcPts val="2063"/>
                </a:lnSpc>
              </a:pPr>
              <a:r>
                <a:rPr lang="en-US" sz="1719">
                  <a:solidFill>
                    <a:srgbClr val="14313B"/>
                  </a:solidFill>
                  <a:latin typeface="Calibri (MS)"/>
                  <a:ea typeface="Calibri (MS)"/>
                  <a:cs typeface="Calibri (MS)"/>
                  <a:sym typeface="Calibri (MS)"/>
                </a:rPr>
                <a:t>R1 pertumbuhan, R2 ekonomi–atraksi, B1 kepadatan, B2 daya dukung lahan, B3 okupansi, B4 penyesuaian TK — hipotesis dinamis penelitian.</a:t>
              </a:r>
            </a:p>
          </p:txBody>
        </p:sp>
      </p:grpSp>
      <p:grpSp>
        <p:nvGrpSpPr>
          <p:cNvPr name="Group 103" id="103"/>
          <p:cNvGrpSpPr/>
          <p:nvPr/>
        </p:nvGrpSpPr>
        <p:grpSpPr>
          <a:xfrm rot="0">
            <a:off x="816607" y="7194547"/>
            <a:ext cx="16654777" cy="1132837"/>
            <a:chOff x="0" y="0"/>
            <a:chExt cx="22206369" cy="1510449"/>
          </a:xfrm>
        </p:grpSpPr>
        <p:sp>
          <p:nvSpPr>
            <p:cNvPr name="Freeform 104" id="104"/>
            <p:cNvSpPr/>
            <p:nvPr/>
          </p:nvSpPr>
          <p:spPr>
            <a:xfrm flipH="false" flipV="false" rot="0">
              <a:off x="0" y="0"/>
              <a:ext cx="22206204" cy="1510284"/>
            </a:xfrm>
            <a:custGeom>
              <a:avLst/>
              <a:gdLst/>
              <a:ahLst/>
              <a:cxnLst/>
              <a:rect r="r" b="b" t="t" l="l"/>
              <a:pathLst>
                <a:path h="1510284" w="22206204">
                  <a:moveTo>
                    <a:pt x="0" y="120777"/>
                  </a:moveTo>
                  <a:cubicBezTo>
                    <a:pt x="0" y="54102"/>
                    <a:pt x="54102" y="0"/>
                    <a:pt x="120777" y="0"/>
                  </a:cubicBezTo>
                  <a:lnTo>
                    <a:pt x="22085427" y="0"/>
                  </a:lnTo>
                  <a:cubicBezTo>
                    <a:pt x="22152102" y="0"/>
                    <a:pt x="22206204" y="54102"/>
                    <a:pt x="22206204" y="120777"/>
                  </a:cubicBezTo>
                  <a:lnTo>
                    <a:pt x="22206204" y="1389507"/>
                  </a:lnTo>
                  <a:cubicBezTo>
                    <a:pt x="22206204" y="1456182"/>
                    <a:pt x="22152102" y="1510284"/>
                    <a:pt x="22085427" y="1510284"/>
                  </a:cubicBezTo>
                  <a:lnTo>
                    <a:pt x="120777" y="1510284"/>
                  </a:lnTo>
                  <a:cubicBezTo>
                    <a:pt x="54102" y="1510284"/>
                    <a:pt x="0" y="1456182"/>
                    <a:pt x="0" y="1389507"/>
                  </a:cubicBezTo>
                  <a:close/>
                </a:path>
              </a:pathLst>
            </a:custGeom>
            <a:solidFill>
              <a:srgbClr val="EAF8FA"/>
            </a:solidFill>
            <a:ln w="12700" cap="sq">
              <a:solidFill>
                <a:srgbClr val="CFE5E9"/>
              </a:solidFill>
              <a:prstDash val="solid"/>
              <a:miter/>
            </a:ln>
          </p:spPr>
          <p:txBody>
            <a:bodyPr/>
            <a:p/>
          </p:txBody>
        </p:sp>
      </p:grpSp>
      <p:grpSp>
        <p:nvGrpSpPr>
          <p:cNvPr name="Group 105" id="105"/>
          <p:cNvGrpSpPr/>
          <p:nvPr/>
        </p:nvGrpSpPr>
        <p:grpSpPr>
          <a:xfrm rot="0">
            <a:off x="1051560" y="7486650"/>
            <a:ext cx="548640" cy="548640"/>
            <a:chOff x="0" y="0"/>
            <a:chExt cx="731520" cy="731520"/>
          </a:xfrm>
        </p:grpSpPr>
        <p:sp>
          <p:nvSpPr>
            <p:cNvPr name="Freeform 106" id="106"/>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107" id="107"/>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4</a:t>
              </a:r>
            </a:p>
          </p:txBody>
        </p:sp>
      </p:grpSp>
      <p:grpSp>
        <p:nvGrpSpPr>
          <p:cNvPr name="Group 108" id="108"/>
          <p:cNvGrpSpPr/>
          <p:nvPr/>
        </p:nvGrpSpPr>
        <p:grpSpPr>
          <a:xfrm rot="0">
            <a:off x="1828800" y="7292340"/>
            <a:ext cx="4206240" cy="937260"/>
            <a:chOff x="0" y="0"/>
            <a:chExt cx="5608320" cy="1249680"/>
          </a:xfrm>
        </p:grpSpPr>
        <p:sp>
          <p:nvSpPr>
            <p:cNvPr name="Freeform 109" id="109"/>
            <p:cNvSpPr/>
            <p:nvPr/>
          </p:nvSpPr>
          <p:spPr>
            <a:xfrm flipH="false" flipV="false" rot="0">
              <a:off x="0" y="0"/>
              <a:ext cx="5608320" cy="1249680"/>
            </a:xfrm>
            <a:custGeom>
              <a:avLst/>
              <a:gdLst/>
              <a:ahLst/>
              <a:cxnLst/>
              <a:rect r="r" b="b" t="t" l="l"/>
              <a:pathLst>
                <a:path h="1249680" w="5608320">
                  <a:moveTo>
                    <a:pt x="0" y="0"/>
                  </a:moveTo>
                  <a:lnTo>
                    <a:pt x="5608320" y="0"/>
                  </a:lnTo>
                  <a:lnTo>
                    <a:pt x="5608320" y="1249680"/>
                  </a:lnTo>
                  <a:lnTo>
                    <a:pt x="0" y="1249680"/>
                  </a:lnTo>
                  <a:close/>
                </a:path>
              </a:pathLst>
            </a:custGeom>
            <a:blipFill>
              <a:blip r:embed="rId6">
                <a:alphaModFix amt="0"/>
              </a:blip>
              <a:stretch>
                <a:fillRect l="0" t="-37445" r="0" b="-37445"/>
              </a:stretch>
            </a:blipFill>
          </p:spPr>
          <p:txBody>
            <a:bodyPr/>
            <a:p/>
          </p:txBody>
        </p:sp>
        <p:sp>
          <p:nvSpPr>
            <p:cNvPr name="TextBox 110" id="110"/>
            <p:cNvSpPr txBox="true"/>
            <p:nvPr/>
          </p:nvSpPr>
          <p:spPr>
            <a:xfrm>
              <a:off x="0" y="-38100"/>
              <a:ext cx="5608320" cy="1287780"/>
            </a:xfrm>
            <a:prstGeom prst="rect">
              <a:avLst/>
            </a:prstGeom>
          </p:spPr>
          <p:txBody>
            <a:bodyPr anchor="ctr" rtlCol="false" tIns="0" lIns="0" bIns="0" rIns="0"/>
            <a:lstStyle/>
            <a:p>
              <a:pPr algn="l">
                <a:lnSpc>
                  <a:spcPts val="2279"/>
                </a:lnSpc>
              </a:pPr>
              <a:r>
                <a:rPr lang="en-US" sz="1899" b="true">
                  <a:solidFill>
                    <a:srgbClr val="0B5E6E"/>
                  </a:solidFill>
                  <a:latin typeface="Calibri (MS) Bold"/>
                  <a:ea typeface="Calibri (MS) Bold"/>
                  <a:cs typeface="Calibri (MS) Bold"/>
                  <a:sym typeface="Calibri (MS) Bold"/>
                </a:rPr>
                <a:t>Batas model eksplisit</a:t>
              </a:r>
            </a:p>
          </p:txBody>
        </p:sp>
      </p:grpSp>
      <p:grpSp>
        <p:nvGrpSpPr>
          <p:cNvPr name="Group 111" id="111"/>
          <p:cNvGrpSpPr/>
          <p:nvPr/>
        </p:nvGrpSpPr>
        <p:grpSpPr>
          <a:xfrm rot="0">
            <a:off x="6126480" y="7292340"/>
            <a:ext cx="11155680" cy="937260"/>
            <a:chOff x="0" y="0"/>
            <a:chExt cx="14874240" cy="1249680"/>
          </a:xfrm>
        </p:grpSpPr>
        <p:sp>
          <p:nvSpPr>
            <p:cNvPr name="Freeform 112" id="112"/>
            <p:cNvSpPr/>
            <p:nvPr/>
          </p:nvSpPr>
          <p:spPr>
            <a:xfrm flipH="false" flipV="false" rot="0">
              <a:off x="0" y="0"/>
              <a:ext cx="14874239" cy="1249680"/>
            </a:xfrm>
            <a:custGeom>
              <a:avLst/>
              <a:gdLst/>
              <a:ahLst/>
              <a:cxnLst/>
              <a:rect r="r" b="b" t="t" l="l"/>
              <a:pathLst>
                <a:path h="1249680" w="14874239">
                  <a:moveTo>
                    <a:pt x="0" y="0"/>
                  </a:moveTo>
                  <a:lnTo>
                    <a:pt x="14874239" y="0"/>
                  </a:lnTo>
                  <a:lnTo>
                    <a:pt x="14874239" y="1249680"/>
                  </a:lnTo>
                  <a:lnTo>
                    <a:pt x="0" y="1249680"/>
                  </a:lnTo>
                  <a:close/>
                </a:path>
              </a:pathLst>
            </a:custGeom>
            <a:blipFill>
              <a:blip r:embed="rId6">
                <a:alphaModFix amt="0"/>
              </a:blip>
              <a:stretch>
                <a:fillRect l="0" t="-181919" r="0" b="-181919"/>
              </a:stretch>
            </a:blipFill>
          </p:spPr>
          <p:txBody>
            <a:bodyPr/>
            <a:p/>
          </p:txBody>
        </p:sp>
        <p:sp>
          <p:nvSpPr>
            <p:cNvPr name="TextBox 113" id="113"/>
            <p:cNvSpPr txBox="true"/>
            <p:nvPr/>
          </p:nvSpPr>
          <p:spPr>
            <a:xfrm>
              <a:off x="0" y="-38100"/>
              <a:ext cx="14874240" cy="1287780"/>
            </a:xfrm>
            <a:prstGeom prst="rect">
              <a:avLst/>
            </a:prstGeom>
          </p:spPr>
          <p:txBody>
            <a:bodyPr anchor="ctr" rtlCol="false" tIns="0" lIns="0" bIns="0" rIns="0"/>
            <a:lstStyle/>
            <a:p>
              <a:pPr algn="l">
                <a:lnSpc>
                  <a:spcPts val="2063"/>
                </a:lnSpc>
              </a:pPr>
              <a:r>
                <a:rPr lang="en-US" sz="1719">
                  <a:solidFill>
                    <a:srgbClr val="14313B"/>
                  </a:solidFill>
                  <a:latin typeface="Calibri (MS)"/>
                  <a:ea typeface="Calibri (MS)"/>
                  <a:cs typeface="Calibri (MS)"/>
                  <a:sym typeface="Calibri (MS)"/>
                </a:rPr>
                <a:t>26 variabel dihitung model, 35 input dari luar model, 15 aspek dikeluarkan beserta dampaknya pada penafsiran hasil.</a:t>
              </a:r>
            </a:p>
          </p:txBody>
        </p:sp>
      </p:grpSp>
      <p:grpSp>
        <p:nvGrpSpPr>
          <p:cNvPr name="Group 114" id="114"/>
          <p:cNvGrpSpPr/>
          <p:nvPr/>
        </p:nvGrpSpPr>
        <p:grpSpPr>
          <a:xfrm rot="0">
            <a:off x="816607" y="8497567"/>
            <a:ext cx="16654777" cy="744217"/>
            <a:chOff x="0" y="0"/>
            <a:chExt cx="22206369" cy="992289"/>
          </a:xfrm>
        </p:grpSpPr>
        <p:sp>
          <p:nvSpPr>
            <p:cNvPr name="Freeform 115" id="115"/>
            <p:cNvSpPr/>
            <p:nvPr/>
          </p:nvSpPr>
          <p:spPr>
            <a:xfrm flipH="false" flipV="false" rot="0">
              <a:off x="0" y="0"/>
              <a:ext cx="22206331" cy="992251"/>
            </a:xfrm>
            <a:custGeom>
              <a:avLst/>
              <a:gdLst/>
              <a:ahLst/>
              <a:cxnLst/>
              <a:rect r="r" b="b" t="t" l="l"/>
              <a:pathLst>
                <a:path h="992251" w="22206331">
                  <a:moveTo>
                    <a:pt x="0" y="79375"/>
                  </a:moveTo>
                  <a:cubicBezTo>
                    <a:pt x="0" y="35560"/>
                    <a:pt x="35560" y="0"/>
                    <a:pt x="79375" y="0"/>
                  </a:cubicBezTo>
                  <a:lnTo>
                    <a:pt x="22126956" y="0"/>
                  </a:lnTo>
                  <a:cubicBezTo>
                    <a:pt x="22170771" y="0"/>
                    <a:pt x="22206331" y="35560"/>
                    <a:pt x="22206331" y="79375"/>
                  </a:cubicBezTo>
                  <a:lnTo>
                    <a:pt x="22206331" y="912876"/>
                  </a:lnTo>
                  <a:cubicBezTo>
                    <a:pt x="22206331" y="956691"/>
                    <a:pt x="22170771" y="992251"/>
                    <a:pt x="22126956" y="992251"/>
                  </a:cubicBezTo>
                  <a:lnTo>
                    <a:pt x="79375" y="992251"/>
                  </a:lnTo>
                  <a:cubicBezTo>
                    <a:pt x="35560" y="992251"/>
                    <a:pt x="0" y="956691"/>
                    <a:pt x="0" y="912876"/>
                  </a:cubicBezTo>
                  <a:close/>
                </a:path>
              </a:pathLst>
            </a:custGeom>
            <a:solidFill>
              <a:srgbClr val="FFF1BF"/>
            </a:solidFill>
            <a:ln w="12700" cap="sq">
              <a:solidFill>
                <a:srgbClr val="FFD23B"/>
              </a:solidFill>
              <a:prstDash val="solid"/>
              <a:miter/>
            </a:ln>
          </p:spPr>
          <p:txBody>
            <a:bodyPr/>
            <a:p/>
          </p:txBody>
        </p:sp>
        <p:sp>
          <p:nvSpPr>
            <p:cNvPr name="TextBox 116" id="116"/>
            <p:cNvSpPr txBox="true"/>
            <p:nvPr/>
          </p:nvSpPr>
          <p:spPr>
            <a:xfrm>
              <a:off x="0" y="-38100"/>
              <a:ext cx="22206369" cy="103038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CLD final menjadi masukan langsung Tujuan 2: dioperasionalkan menjadi SFD 61 variabel (5 stock, 10 flow, 11 auxiliary, 35 parameter).</a:t>
              </a:r>
            </a:p>
          </p:txBody>
        </p:sp>
      </p:grpSp>
      <p:grpSp>
        <p:nvGrpSpPr>
          <p:cNvPr name="Group 117" id="117"/>
          <p:cNvGrpSpPr/>
          <p:nvPr/>
        </p:nvGrpSpPr>
        <p:grpSpPr>
          <a:xfrm rot="0">
            <a:off x="16047720" y="9646920"/>
            <a:ext cx="420624" cy="420624"/>
            <a:chOff x="0" y="0"/>
            <a:chExt cx="560832" cy="560832"/>
          </a:xfrm>
        </p:grpSpPr>
        <p:sp>
          <p:nvSpPr>
            <p:cNvPr name="Freeform 118" id="118"/>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19" id="119"/>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B5E6E"/>
        </a:solidFill>
      </p:bgPr>
    </p:bg>
    <p:spTree>
      <p:nvGrpSpPr>
        <p:cNvPr id="1" name=""/>
        <p:cNvGrpSpPr/>
        <p:nvPr/>
      </p:nvGrpSpPr>
      <p:grpSpPr>
        <a:xfrm>
          <a:off x="0" y="0"/>
          <a:ext cx="0" cy="0"/>
          <a:chOff x="0" y="0"/>
          <a:chExt cx="0" cy="0"/>
        </a:xfrm>
      </p:grpSpPr>
      <p:grpSp>
        <p:nvGrpSpPr>
          <p:cNvPr name="Group 2" id="2"/>
          <p:cNvGrpSpPr/>
          <p:nvPr/>
        </p:nvGrpSpPr>
        <p:grpSpPr>
          <a:xfrm rot="0">
            <a:off x="8462772" y="1645920"/>
            <a:ext cx="1371600" cy="1371600"/>
            <a:chOff x="0" y="0"/>
            <a:chExt cx="1828800" cy="1828800"/>
          </a:xfrm>
        </p:grpSpPr>
        <p:sp>
          <p:nvSpPr>
            <p:cNvPr name="Freeform 3" id="3"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3497580"/>
            <a:ext cx="16637508" cy="1371600"/>
            <a:chOff x="0" y="0"/>
            <a:chExt cx="22183344" cy="1828800"/>
          </a:xfrm>
        </p:grpSpPr>
        <p:sp>
          <p:nvSpPr>
            <p:cNvPr name="Freeform 5" id="5"/>
            <p:cNvSpPr/>
            <p:nvPr/>
          </p:nvSpPr>
          <p:spPr>
            <a:xfrm flipH="false" flipV="false" rot="0">
              <a:off x="0" y="0"/>
              <a:ext cx="22183344" cy="1828800"/>
            </a:xfrm>
            <a:custGeom>
              <a:avLst/>
              <a:gdLst/>
              <a:ahLst/>
              <a:cxnLst/>
              <a:rect r="r" b="b" t="t" l="l"/>
              <a:pathLst>
                <a:path h="1828800" w="22183344">
                  <a:moveTo>
                    <a:pt x="0" y="0"/>
                  </a:moveTo>
                  <a:lnTo>
                    <a:pt x="22183344" y="0"/>
                  </a:lnTo>
                  <a:lnTo>
                    <a:pt x="22183344" y="1828800"/>
                  </a:lnTo>
                  <a:lnTo>
                    <a:pt x="0" y="1828800"/>
                  </a:lnTo>
                  <a:close/>
                </a:path>
              </a:pathLst>
            </a:custGeom>
            <a:blipFill>
              <a:blip r:embed="rId4">
                <a:alphaModFix amt="0"/>
              </a:blip>
              <a:stretch>
                <a:fillRect l="0" t="-186188" r="0" b="-186189"/>
              </a:stretch>
            </a:blipFill>
          </p:spPr>
          <p:txBody>
            <a:bodyPr/>
            <a:p/>
          </p:txBody>
        </p:sp>
      </p:grpSp>
      <p:grpSp>
        <p:nvGrpSpPr>
          <p:cNvPr name="Group 6" id="6"/>
          <p:cNvGrpSpPr/>
          <p:nvPr/>
        </p:nvGrpSpPr>
        <p:grpSpPr>
          <a:xfrm rot="0">
            <a:off x="822960" y="3376136"/>
            <a:ext cx="16637508" cy="1493044"/>
            <a:chOff x="0" y="0"/>
            <a:chExt cx="22183344" cy="1990725"/>
          </a:xfrm>
        </p:grpSpPr>
        <p:sp>
          <p:nvSpPr>
            <p:cNvPr name="Freeform 7" id="7"/>
            <p:cNvSpPr/>
            <p:nvPr/>
          </p:nvSpPr>
          <p:spPr>
            <a:xfrm flipH="false" flipV="false" rot="0">
              <a:off x="0" y="0"/>
              <a:ext cx="22183344" cy="1990725"/>
            </a:xfrm>
            <a:custGeom>
              <a:avLst/>
              <a:gdLst/>
              <a:ahLst/>
              <a:cxnLst/>
              <a:rect r="r" b="b" t="t" l="l"/>
              <a:pathLst>
                <a:path h="1990725" w="22183344">
                  <a:moveTo>
                    <a:pt x="0" y="0"/>
                  </a:moveTo>
                  <a:lnTo>
                    <a:pt x="22183344" y="0"/>
                  </a:lnTo>
                  <a:lnTo>
                    <a:pt x="22183344" y="1990725"/>
                  </a:lnTo>
                  <a:lnTo>
                    <a:pt x="0" y="1990725"/>
                  </a:lnTo>
                  <a:close/>
                </a:path>
              </a:pathLst>
            </a:custGeom>
            <a:blipFill>
              <a:blip r:embed="rId5">
                <a:alphaModFix amt="0"/>
              </a:blip>
              <a:stretch>
                <a:fillRect l="0" t="-166977" r="0" b="-166977"/>
              </a:stretch>
            </a:blipFill>
          </p:spPr>
          <p:txBody>
            <a:bodyPr/>
            <a:p/>
          </p:txBody>
        </p:sp>
      </p:grpSp>
      <p:grpSp>
        <p:nvGrpSpPr>
          <p:cNvPr name="Group 8" id="8"/>
          <p:cNvGrpSpPr/>
          <p:nvPr/>
        </p:nvGrpSpPr>
        <p:grpSpPr>
          <a:xfrm rot="0">
            <a:off x="822960" y="3254692"/>
            <a:ext cx="16637508" cy="1614488"/>
            <a:chOff x="0" y="0"/>
            <a:chExt cx="22183344" cy="2152650"/>
          </a:xfrm>
        </p:grpSpPr>
        <p:sp>
          <p:nvSpPr>
            <p:cNvPr name="Freeform 9" id="9"/>
            <p:cNvSpPr/>
            <p:nvPr/>
          </p:nvSpPr>
          <p:spPr>
            <a:xfrm flipH="false" flipV="false" rot="0">
              <a:off x="0" y="0"/>
              <a:ext cx="22183344" cy="2152650"/>
            </a:xfrm>
            <a:custGeom>
              <a:avLst/>
              <a:gdLst/>
              <a:ahLst/>
              <a:cxnLst/>
              <a:rect r="r" b="b" t="t" l="l"/>
              <a:pathLst>
                <a:path h="2152650" w="22183344">
                  <a:moveTo>
                    <a:pt x="0" y="0"/>
                  </a:moveTo>
                  <a:lnTo>
                    <a:pt x="22183344" y="0"/>
                  </a:lnTo>
                  <a:lnTo>
                    <a:pt x="22183344" y="2152650"/>
                  </a:lnTo>
                  <a:lnTo>
                    <a:pt x="0" y="2152650"/>
                  </a:lnTo>
                  <a:close/>
                </a:path>
              </a:pathLst>
            </a:custGeom>
            <a:blipFill>
              <a:blip r:embed="rId6">
                <a:alphaModFix amt="0"/>
              </a:blip>
              <a:stretch>
                <a:fillRect l="0" t="-150795" r="0" b="-150795"/>
              </a:stretch>
            </a:blipFill>
          </p:spPr>
          <p:txBody>
            <a:bodyPr/>
            <a:p/>
          </p:txBody>
        </p:sp>
        <p:sp>
          <p:nvSpPr>
            <p:cNvPr name="TextBox 10" id="10"/>
            <p:cNvSpPr txBox="true"/>
            <p:nvPr/>
          </p:nvSpPr>
          <p:spPr>
            <a:xfrm>
              <a:off x="0" y="-161925"/>
              <a:ext cx="22183344" cy="2314575"/>
            </a:xfrm>
            <a:prstGeom prst="rect">
              <a:avLst/>
            </a:prstGeom>
          </p:spPr>
          <p:txBody>
            <a:bodyPr anchor="ctr" rtlCol="false" tIns="0" lIns="0" bIns="0" rIns="0"/>
            <a:lstStyle/>
            <a:p>
              <a:pPr algn="ctr">
                <a:lnSpc>
                  <a:spcPts val="9360"/>
                </a:lnSpc>
              </a:pPr>
              <a:r>
                <a:rPr lang="en-US" sz="7800" b="true">
                  <a:solidFill>
                    <a:srgbClr val="FFD23B"/>
                  </a:solidFill>
                  <a:latin typeface="Calibri (MS) Bold"/>
                  <a:ea typeface="Calibri (MS) Bold"/>
                  <a:cs typeface="Calibri (MS) Bold"/>
                  <a:sym typeface="Calibri (MS) Bold"/>
                </a:rPr>
                <a:t>Tujuan 2</a:t>
              </a:r>
            </a:p>
          </p:txBody>
        </p:sp>
      </p:grpSp>
      <p:sp>
        <p:nvSpPr>
          <p:cNvPr name="TextBox 11" id="11"/>
          <p:cNvSpPr txBox="true"/>
          <p:nvPr/>
        </p:nvSpPr>
        <p:spPr>
          <a:xfrm rot="0">
            <a:off x="2057400" y="4884420"/>
            <a:ext cx="14168628" cy="1287780"/>
          </a:xfrm>
          <a:prstGeom prst="rect">
            <a:avLst/>
          </a:prstGeom>
        </p:spPr>
        <p:txBody>
          <a:bodyPr anchor="t" rtlCol="false" tIns="0" lIns="0" bIns="0" rIns="0">
            <a:spAutoFit/>
          </a:bodyPr>
          <a:lstStyle/>
          <a:p>
            <a:pPr algn="ctr">
              <a:lnSpc>
                <a:spcPts val="3059"/>
              </a:lnSpc>
            </a:pPr>
            <a:r>
              <a:rPr lang="en-US" sz="2100">
                <a:solidFill>
                  <a:srgbClr val="FFFFFF"/>
                </a:solidFill>
                <a:latin typeface="Calibri (MS)"/>
                <a:ea typeface="Calibri (MS)"/>
                <a:cs typeface="Calibri (MS)"/>
                <a:sym typeface="Calibri (MS)"/>
              </a:rPr>
              <a:t>Mengembangkan model sistem dinamis yang komprehensif dan memanfaatkan data citra satelit untuk memutakhirkan variabel yang mengalami jeda data, serta menguji validitas strukturnya dan kesesuaiannya terhadap data historis sebagai dasar simulasi kebijakan pariwisata.</a:t>
            </a:r>
          </a:p>
        </p:txBody>
      </p:sp>
      <p:sp>
        <p:nvSpPr>
          <p:cNvPr name="TextBox 12" id="12"/>
          <p:cNvSpPr txBox="true"/>
          <p:nvPr/>
        </p:nvSpPr>
        <p:spPr>
          <a:xfrm rot="0">
            <a:off x="822960" y="6717030"/>
            <a:ext cx="16637508" cy="758190"/>
          </a:xfrm>
          <a:prstGeom prst="rect">
            <a:avLst/>
          </a:prstGeom>
        </p:spPr>
        <p:txBody>
          <a:bodyPr anchor="t" rtlCol="false" tIns="0" lIns="0" bIns="0" rIns="0">
            <a:spAutoFit/>
          </a:bodyPr>
          <a:lstStyle/>
          <a:p>
            <a:pPr algn="ctr">
              <a:lnSpc>
                <a:spcPts val="2700"/>
              </a:lnSpc>
            </a:pPr>
            <a:r>
              <a:rPr lang="en-US" sz="1800" b="true">
                <a:solidFill>
                  <a:srgbClr val="FFFFFF"/>
                </a:solidFill>
                <a:latin typeface="Calibri (MS) Bold"/>
                <a:ea typeface="Calibri (MS) Bold"/>
                <a:cs typeface="Calibri (MS) Bold"/>
                <a:sym typeface="Calibri (MS) Bold"/>
              </a:rPr>
              <a:t>2A Citra satelit  →  2B Formulasi  →  2C Parameter  →  2D Uji struktur  →  2E Uji perilaku &amp; kalibrasi  →  2F Sensitivitas  →  2G Skenario</a:t>
            </a:r>
          </a:p>
        </p:txBody>
      </p:sp>
      <p:grpSp>
        <p:nvGrpSpPr>
          <p:cNvPr name="Group 13" id="13"/>
          <p:cNvGrpSpPr/>
          <p:nvPr/>
        </p:nvGrpSpPr>
        <p:grpSpPr>
          <a:xfrm rot="0">
            <a:off x="16962120" y="9555480"/>
            <a:ext cx="420624" cy="420624"/>
            <a:chOff x="0" y="0"/>
            <a:chExt cx="560832" cy="560832"/>
          </a:xfrm>
        </p:grpSpPr>
        <p:sp>
          <p:nvSpPr>
            <p:cNvPr name="Freeform 14" id="14"/>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5" id="15"/>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0010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Integrasi Data Citra Satelit</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Citra satelit dipakai untuk memperbarui data, bukan menggantikan statistik resmi</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6" id="66"/>
          <p:cNvGrpSpPr/>
          <p:nvPr/>
        </p:nvGrpSpPr>
        <p:grpSpPr>
          <a:xfrm rot="0">
            <a:off x="822960" y="2400300"/>
            <a:ext cx="5074920" cy="2400300"/>
            <a:chOff x="0" y="0"/>
            <a:chExt cx="6766560" cy="3200400"/>
          </a:xfrm>
        </p:grpSpPr>
        <p:sp>
          <p:nvSpPr>
            <p:cNvPr name="Freeform 67" id="67"/>
            <p:cNvSpPr/>
            <p:nvPr/>
          </p:nvSpPr>
          <p:spPr>
            <a:xfrm flipH="false" flipV="false" rot="0">
              <a:off x="0" y="0"/>
              <a:ext cx="6766560" cy="3200400"/>
            </a:xfrm>
            <a:custGeom>
              <a:avLst/>
              <a:gdLst/>
              <a:ahLst/>
              <a:cxnLst/>
              <a:rect r="r" b="b" t="t" l="l"/>
              <a:pathLst>
                <a:path h="3200400" w="6766560">
                  <a:moveTo>
                    <a:pt x="0" y="182880"/>
                  </a:moveTo>
                  <a:cubicBezTo>
                    <a:pt x="0" y="81915"/>
                    <a:pt x="81915" y="0"/>
                    <a:pt x="182880" y="0"/>
                  </a:cubicBezTo>
                  <a:lnTo>
                    <a:pt x="6583680" y="0"/>
                  </a:lnTo>
                  <a:cubicBezTo>
                    <a:pt x="6684645" y="0"/>
                    <a:pt x="6766560" y="81915"/>
                    <a:pt x="6766560" y="182880"/>
                  </a:cubicBezTo>
                  <a:lnTo>
                    <a:pt x="6766560" y="3017520"/>
                  </a:lnTo>
                  <a:cubicBezTo>
                    <a:pt x="6766560" y="3118485"/>
                    <a:pt x="6684645" y="3200400"/>
                    <a:pt x="6583680" y="3200400"/>
                  </a:cubicBezTo>
                  <a:lnTo>
                    <a:pt x="182880" y="3200400"/>
                  </a:lnTo>
                  <a:cubicBezTo>
                    <a:pt x="81915" y="3200400"/>
                    <a:pt x="0" y="3118485"/>
                    <a:pt x="0" y="3017520"/>
                  </a:cubicBezTo>
                  <a:close/>
                </a:path>
              </a:pathLst>
            </a:custGeom>
            <a:solidFill>
              <a:srgbClr val="EAF8FA"/>
            </a:solidFill>
          </p:spPr>
          <p:txBody>
            <a:bodyPr/>
            <a:p/>
          </p:txBody>
        </p:sp>
      </p:grpSp>
      <p:sp>
        <p:nvSpPr>
          <p:cNvPr name="TextBox 68" id="68"/>
          <p:cNvSpPr txBox="true"/>
          <p:nvPr/>
        </p:nvSpPr>
        <p:spPr>
          <a:xfrm rot="0">
            <a:off x="1097280" y="2450592"/>
            <a:ext cx="4114800" cy="4160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DATA CITRA</a:t>
            </a:r>
          </a:p>
        </p:txBody>
      </p:sp>
      <p:sp>
        <p:nvSpPr>
          <p:cNvPr name="TextBox 69" id="69"/>
          <p:cNvSpPr txBox="true"/>
          <p:nvPr/>
        </p:nvSpPr>
        <p:spPr>
          <a:xfrm rot="0">
            <a:off x="1097280" y="2807208"/>
            <a:ext cx="4526280" cy="5943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VIIRS Day/Night Band</a:t>
            </a:r>
          </a:p>
        </p:txBody>
      </p:sp>
      <p:sp>
        <p:nvSpPr>
          <p:cNvPr name="TextBox 70" id="70"/>
          <p:cNvSpPr txBox="true"/>
          <p:nvPr/>
        </p:nvSpPr>
        <p:spPr>
          <a:xfrm rot="0">
            <a:off x="1097280" y="3383280"/>
            <a:ext cx="4526280" cy="685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intensitas cahaya malam (NTL), diolah di Google Earth Engine</a:t>
            </a:r>
          </a:p>
        </p:txBody>
      </p:sp>
      <p:sp>
        <p:nvSpPr>
          <p:cNvPr name="AutoShape 71" id="71"/>
          <p:cNvSpPr/>
          <p:nvPr/>
        </p:nvSpPr>
        <p:spPr>
          <a:xfrm rot="113220">
            <a:off x="5917244" y="3560254"/>
            <a:ext cx="578501" cy="0"/>
          </a:xfrm>
          <a:prstGeom prst="line">
            <a:avLst/>
          </a:prstGeom>
          <a:ln cap="rnd" w="19050">
            <a:solidFill>
              <a:srgbClr val="39C0D3"/>
            </a:solidFill>
            <a:prstDash val="solid"/>
            <a:headEnd type="none" len="sm" w="sm"/>
            <a:tailEnd type="triangle" len="med" w="lg"/>
          </a:ln>
        </p:spPr>
        <p:txBody>
          <a:bodyPr/>
          <a:p/>
        </p:txBody>
      </p:sp>
      <p:grpSp>
        <p:nvGrpSpPr>
          <p:cNvPr name="Group 72" id="72"/>
          <p:cNvGrpSpPr/>
          <p:nvPr/>
        </p:nvGrpSpPr>
        <p:grpSpPr>
          <a:xfrm rot="0">
            <a:off x="6515100" y="2400300"/>
            <a:ext cx="5623560" cy="2400300"/>
            <a:chOff x="0" y="0"/>
            <a:chExt cx="7498080" cy="3200400"/>
          </a:xfrm>
        </p:grpSpPr>
        <p:sp>
          <p:nvSpPr>
            <p:cNvPr name="Freeform 73" id="73"/>
            <p:cNvSpPr/>
            <p:nvPr/>
          </p:nvSpPr>
          <p:spPr>
            <a:xfrm flipH="false" flipV="false" rot="0">
              <a:off x="0" y="0"/>
              <a:ext cx="7498080" cy="3200400"/>
            </a:xfrm>
            <a:custGeom>
              <a:avLst/>
              <a:gdLst/>
              <a:ahLst/>
              <a:cxnLst/>
              <a:rect r="r" b="b" t="t" l="l"/>
              <a:pathLst>
                <a:path h="3200400" w="7498080">
                  <a:moveTo>
                    <a:pt x="0" y="182880"/>
                  </a:moveTo>
                  <a:cubicBezTo>
                    <a:pt x="0" y="81915"/>
                    <a:pt x="81915" y="0"/>
                    <a:pt x="182880" y="0"/>
                  </a:cubicBezTo>
                  <a:lnTo>
                    <a:pt x="7315200" y="0"/>
                  </a:lnTo>
                  <a:cubicBezTo>
                    <a:pt x="7416165" y="0"/>
                    <a:pt x="7498080" y="81915"/>
                    <a:pt x="7498080" y="182880"/>
                  </a:cubicBezTo>
                  <a:lnTo>
                    <a:pt x="7498080" y="3017520"/>
                  </a:lnTo>
                  <a:cubicBezTo>
                    <a:pt x="7498080" y="3118485"/>
                    <a:pt x="7416165" y="3200400"/>
                    <a:pt x="7315200" y="3200400"/>
                  </a:cubicBezTo>
                  <a:lnTo>
                    <a:pt x="182880" y="3200400"/>
                  </a:lnTo>
                  <a:cubicBezTo>
                    <a:pt x="81915" y="3200400"/>
                    <a:pt x="0" y="3118485"/>
                    <a:pt x="0" y="3017520"/>
                  </a:cubicBezTo>
                  <a:close/>
                </a:path>
              </a:pathLst>
            </a:custGeom>
            <a:solidFill>
              <a:srgbClr val="EAF8FA"/>
            </a:solidFill>
          </p:spPr>
          <p:txBody>
            <a:bodyPr/>
            <a:p/>
          </p:txBody>
        </p:sp>
      </p:grpSp>
      <p:sp>
        <p:nvSpPr>
          <p:cNvPr name="TextBox 74" id="74"/>
          <p:cNvSpPr txBox="true"/>
          <p:nvPr/>
        </p:nvSpPr>
        <p:spPr>
          <a:xfrm rot="0">
            <a:off x="6789420" y="2450592"/>
            <a:ext cx="4114800" cy="4160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METODE</a:t>
            </a:r>
          </a:p>
        </p:txBody>
      </p:sp>
      <p:sp>
        <p:nvSpPr>
          <p:cNvPr name="TextBox 75" id="75"/>
          <p:cNvSpPr txBox="true"/>
          <p:nvPr/>
        </p:nvSpPr>
        <p:spPr>
          <a:xfrm rot="0">
            <a:off x="6789420" y="2807208"/>
            <a:ext cx="5074920" cy="5943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Regresi linear sederhana</a:t>
            </a:r>
          </a:p>
        </p:txBody>
      </p:sp>
      <p:sp>
        <p:nvSpPr>
          <p:cNvPr name="TextBox 76" id="76"/>
          <p:cNvSpPr txBox="true"/>
          <p:nvPr/>
        </p:nvSpPr>
        <p:spPr>
          <a:xfrm rot="0">
            <a:off x="6789420" y="3383280"/>
            <a:ext cx="5074920" cy="685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ODTW = 121,61 + 34,59 × NTL, dilatih pada data BPS 2018–2024</a:t>
            </a:r>
          </a:p>
        </p:txBody>
      </p:sp>
      <p:sp>
        <p:nvSpPr>
          <p:cNvPr name="AutoShape 77" id="77"/>
          <p:cNvSpPr/>
          <p:nvPr/>
        </p:nvSpPr>
        <p:spPr>
          <a:xfrm rot="113220">
            <a:off x="12158024" y="3560254"/>
            <a:ext cx="578501" cy="0"/>
          </a:xfrm>
          <a:prstGeom prst="line">
            <a:avLst/>
          </a:prstGeom>
          <a:ln cap="rnd" w="19050">
            <a:solidFill>
              <a:srgbClr val="39C0D3"/>
            </a:solidFill>
            <a:prstDash val="solid"/>
            <a:headEnd type="none" len="sm" w="sm"/>
            <a:tailEnd type="triangle" len="med" w="lg"/>
          </a:ln>
        </p:spPr>
        <p:txBody>
          <a:bodyPr/>
          <a:p/>
        </p:txBody>
      </p:sp>
      <p:grpSp>
        <p:nvGrpSpPr>
          <p:cNvPr name="Group 78" id="78"/>
          <p:cNvGrpSpPr/>
          <p:nvPr/>
        </p:nvGrpSpPr>
        <p:grpSpPr>
          <a:xfrm rot="0">
            <a:off x="12755880" y="2400300"/>
            <a:ext cx="4704588" cy="2400300"/>
            <a:chOff x="0" y="0"/>
            <a:chExt cx="6272784" cy="3200400"/>
          </a:xfrm>
        </p:grpSpPr>
        <p:sp>
          <p:nvSpPr>
            <p:cNvPr name="Freeform 79" id="79"/>
            <p:cNvSpPr/>
            <p:nvPr/>
          </p:nvSpPr>
          <p:spPr>
            <a:xfrm flipH="false" flipV="false" rot="0">
              <a:off x="0" y="0"/>
              <a:ext cx="6272784" cy="3200400"/>
            </a:xfrm>
            <a:custGeom>
              <a:avLst/>
              <a:gdLst/>
              <a:ahLst/>
              <a:cxnLst/>
              <a:rect r="r" b="b" t="t" l="l"/>
              <a:pathLst>
                <a:path h="3200400" w="6272784">
                  <a:moveTo>
                    <a:pt x="0" y="182880"/>
                  </a:moveTo>
                  <a:cubicBezTo>
                    <a:pt x="0" y="81915"/>
                    <a:pt x="81915" y="0"/>
                    <a:pt x="182880" y="0"/>
                  </a:cubicBezTo>
                  <a:lnTo>
                    <a:pt x="6089904" y="0"/>
                  </a:lnTo>
                  <a:cubicBezTo>
                    <a:pt x="6190869" y="0"/>
                    <a:pt x="6272784" y="81915"/>
                    <a:pt x="6272784" y="182880"/>
                  </a:cubicBezTo>
                  <a:lnTo>
                    <a:pt x="6272784" y="3017520"/>
                  </a:lnTo>
                  <a:cubicBezTo>
                    <a:pt x="6272784" y="3118485"/>
                    <a:pt x="6190869" y="3200400"/>
                    <a:pt x="6089904" y="3200400"/>
                  </a:cubicBezTo>
                  <a:lnTo>
                    <a:pt x="182880" y="3200400"/>
                  </a:lnTo>
                  <a:cubicBezTo>
                    <a:pt x="81915" y="3200400"/>
                    <a:pt x="0" y="3118485"/>
                    <a:pt x="0" y="3017520"/>
                  </a:cubicBezTo>
                  <a:close/>
                </a:path>
              </a:pathLst>
            </a:custGeom>
            <a:solidFill>
              <a:srgbClr val="FFF1BF"/>
            </a:solidFill>
          </p:spPr>
          <p:txBody>
            <a:bodyPr/>
            <a:p/>
          </p:txBody>
        </p:sp>
      </p:grpSp>
      <p:sp>
        <p:nvSpPr>
          <p:cNvPr name="TextBox 80" id="80"/>
          <p:cNvSpPr txBox="true"/>
          <p:nvPr/>
        </p:nvSpPr>
        <p:spPr>
          <a:xfrm rot="0">
            <a:off x="13030200" y="2450592"/>
            <a:ext cx="4114800" cy="4160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MENGISI VARIABEL MODEL</a:t>
            </a:r>
          </a:p>
        </p:txBody>
      </p:sp>
      <p:sp>
        <p:nvSpPr>
          <p:cNvPr name="TextBox 81" id="81"/>
          <p:cNvSpPr txBox="true"/>
          <p:nvPr/>
        </p:nvSpPr>
        <p:spPr>
          <a:xfrm rot="0">
            <a:off x="13030200" y="2807208"/>
            <a:ext cx="4183380" cy="1005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Jumlah ODTW 2015–2017 dan 2025</a:t>
            </a:r>
          </a:p>
        </p:txBody>
      </p:sp>
      <p:sp>
        <p:nvSpPr>
          <p:cNvPr name="TextBox 82" id="82"/>
          <p:cNvSpPr txBox="true"/>
          <p:nvPr/>
        </p:nvSpPr>
        <p:spPr>
          <a:xfrm rot="0">
            <a:off x="13030200" y="3726180"/>
            <a:ext cx="4183380" cy="10058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stok awal ODTW 2025 = 201 unit</a:t>
            </a:r>
          </a:p>
        </p:txBody>
      </p:sp>
      <p:grpSp>
        <p:nvGrpSpPr>
          <p:cNvPr name="Group 83" id="83"/>
          <p:cNvGrpSpPr/>
          <p:nvPr/>
        </p:nvGrpSpPr>
        <p:grpSpPr>
          <a:xfrm rot="0">
            <a:off x="822960" y="5074920"/>
            <a:ext cx="5074920" cy="2400300"/>
            <a:chOff x="0" y="0"/>
            <a:chExt cx="6766560" cy="3200400"/>
          </a:xfrm>
        </p:grpSpPr>
        <p:sp>
          <p:nvSpPr>
            <p:cNvPr name="Freeform 84" id="84"/>
            <p:cNvSpPr/>
            <p:nvPr/>
          </p:nvSpPr>
          <p:spPr>
            <a:xfrm flipH="false" flipV="false" rot="0">
              <a:off x="0" y="0"/>
              <a:ext cx="6766560" cy="3200400"/>
            </a:xfrm>
            <a:custGeom>
              <a:avLst/>
              <a:gdLst/>
              <a:ahLst/>
              <a:cxnLst/>
              <a:rect r="r" b="b" t="t" l="l"/>
              <a:pathLst>
                <a:path h="3200400" w="6766560">
                  <a:moveTo>
                    <a:pt x="0" y="182880"/>
                  </a:moveTo>
                  <a:cubicBezTo>
                    <a:pt x="0" y="81915"/>
                    <a:pt x="81915" y="0"/>
                    <a:pt x="182880" y="0"/>
                  </a:cubicBezTo>
                  <a:lnTo>
                    <a:pt x="6583680" y="0"/>
                  </a:lnTo>
                  <a:cubicBezTo>
                    <a:pt x="6684645" y="0"/>
                    <a:pt x="6766560" y="81915"/>
                    <a:pt x="6766560" y="182880"/>
                  </a:cubicBezTo>
                  <a:lnTo>
                    <a:pt x="6766560" y="3017520"/>
                  </a:lnTo>
                  <a:cubicBezTo>
                    <a:pt x="6766560" y="3118485"/>
                    <a:pt x="6684645" y="3200400"/>
                    <a:pt x="6583680" y="3200400"/>
                  </a:cubicBezTo>
                  <a:lnTo>
                    <a:pt x="182880" y="3200400"/>
                  </a:lnTo>
                  <a:cubicBezTo>
                    <a:pt x="81915" y="3200400"/>
                    <a:pt x="0" y="3118485"/>
                    <a:pt x="0" y="3017520"/>
                  </a:cubicBezTo>
                  <a:close/>
                </a:path>
              </a:pathLst>
            </a:custGeom>
            <a:solidFill>
              <a:srgbClr val="EAF8FA"/>
            </a:solidFill>
          </p:spPr>
          <p:txBody>
            <a:bodyPr/>
            <a:p/>
          </p:txBody>
        </p:sp>
      </p:grpSp>
      <p:sp>
        <p:nvSpPr>
          <p:cNvPr name="TextBox 85" id="85"/>
          <p:cNvSpPr txBox="true"/>
          <p:nvPr/>
        </p:nvSpPr>
        <p:spPr>
          <a:xfrm rot="0">
            <a:off x="1097280" y="5125212"/>
            <a:ext cx="4114800" cy="4160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DATA CITRA</a:t>
            </a:r>
          </a:p>
        </p:txBody>
      </p:sp>
      <p:sp>
        <p:nvSpPr>
          <p:cNvPr name="TextBox 86" id="86"/>
          <p:cNvSpPr txBox="true"/>
          <p:nvPr/>
        </p:nvSpPr>
        <p:spPr>
          <a:xfrm rot="0">
            <a:off x="1097280" y="5481828"/>
            <a:ext cx="4526280" cy="5943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Dynamic World (Sentinel-2)</a:t>
            </a:r>
          </a:p>
        </p:txBody>
      </p:sp>
      <p:sp>
        <p:nvSpPr>
          <p:cNvPr name="TextBox 87" id="87"/>
          <p:cNvSpPr txBox="true"/>
          <p:nvPr/>
        </p:nvSpPr>
        <p:spPr>
          <a:xfrm rot="0">
            <a:off x="1097280" y="6057900"/>
            <a:ext cx="4526280" cy="13487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kelas “built” pada batas administratif DIY</a:t>
            </a:r>
          </a:p>
        </p:txBody>
      </p:sp>
      <p:sp>
        <p:nvSpPr>
          <p:cNvPr name="AutoShape 88" id="88"/>
          <p:cNvSpPr/>
          <p:nvPr/>
        </p:nvSpPr>
        <p:spPr>
          <a:xfrm rot="113220">
            <a:off x="5917244" y="6234875"/>
            <a:ext cx="578501" cy="0"/>
          </a:xfrm>
          <a:prstGeom prst="line">
            <a:avLst/>
          </a:prstGeom>
          <a:ln cap="rnd" w="19050">
            <a:solidFill>
              <a:srgbClr val="39C0D3"/>
            </a:solidFill>
            <a:prstDash val="solid"/>
            <a:headEnd type="none" len="sm" w="sm"/>
            <a:tailEnd type="triangle" len="med" w="lg"/>
          </a:ln>
        </p:spPr>
        <p:txBody>
          <a:bodyPr/>
          <a:p/>
        </p:txBody>
      </p:sp>
      <p:grpSp>
        <p:nvGrpSpPr>
          <p:cNvPr name="Group 89" id="89"/>
          <p:cNvGrpSpPr/>
          <p:nvPr/>
        </p:nvGrpSpPr>
        <p:grpSpPr>
          <a:xfrm rot="0">
            <a:off x="6515100" y="5074920"/>
            <a:ext cx="5623560" cy="2400300"/>
            <a:chOff x="0" y="0"/>
            <a:chExt cx="7498080" cy="3200400"/>
          </a:xfrm>
        </p:grpSpPr>
        <p:sp>
          <p:nvSpPr>
            <p:cNvPr name="Freeform 90" id="90"/>
            <p:cNvSpPr/>
            <p:nvPr/>
          </p:nvSpPr>
          <p:spPr>
            <a:xfrm flipH="false" flipV="false" rot="0">
              <a:off x="0" y="0"/>
              <a:ext cx="7498080" cy="3200400"/>
            </a:xfrm>
            <a:custGeom>
              <a:avLst/>
              <a:gdLst/>
              <a:ahLst/>
              <a:cxnLst/>
              <a:rect r="r" b="b" t="t" l="l"/>
              <a:pathLst>
                <a:path h="3200400" w="7498080">
                  <a:moveTo>
                    <a:pt x="0" y="182880"/>
                  </a:moveTo>
                  <a:cubicBezTo>
                    <a:pt x="0" y="81915"/>
                    <a:pt x="81915" y="0"/>
                    <a:pt x="182880" y="0"/>
                  </a:cubicBezTo>
                  <a:lnTo>
                    <a:pt x="7315200" y="0"/>
                  </a:lnTo>
                  <a:cubicBezTo>
                    <a:pt x="7416165" y="0"/>
                    <a:pt x="7498080" y="81915"/>
                    <a:pt x="7498080" y="182880"/>
                  </a:cubicBezTo>
                  <a:lnTo>
                    <a:pt x="7498080" y="3017520"/>
                  </a:lnTo>
                  <a:cubicBezTo>
                    <a:pt x="7498080" y="3118485"/>
                    <a:pt x="7416165" y="3200400"/>
                    <a:pt x="7315200" y="3200400"/>
                  </a:cubicBezTo>
                  <a:lnTo>
                    <a:pt x="182880" y="3200400"/>
                  </a:lnTo>
                  <a:cubicBezTo>
                    <a:pt x="81915" y="3200400"/>
                    <a:pt x="0" y="3118485"/>
                    <a:pt x="0" y="3017520"/>
                  </a:cubicBezTo>
                  <a:close/>
                </a:path>
              </a:pathLst>
            </a:custGeom>
            <a:solidFill>
              <a:srgbClr val="EAF8FA"/>
            </a:solidFill>
          </p:spPr>
          <p:txBody>
            <a:bodyPr/>
            <a:p/>
          </p:txBody>
        </p:sp>
      </p:grpSp>
      <p:sp>
        <p:nvSpPr>
          <p:cNvPr name="TextBox 91" id="91"/>
          <p:cNvSpPr txBox="true"/>
          <p:nvPr/>
        </p:nvSpPr>
        <p:spPr>
          <a:xfrm rot="0">
            <a:off x="6789420" y="5125212"/>
            <a:ext cx="4114800" cy="4160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METODE</a:t>
            </a:r>
          </a:p>
        </p:txBody>
      </p:sp>
      <p:sp>
        <p:nvSpPr>
          <p:cNvPr name="TextBox 92" id="92"/>
          <p:cNvSpPr txBox="true"/>
          <p:nvPr/>
        </p:nvSpPr>
        <p:spPr>
          <a:xfrm rot="0">
            <a:off x="6798945" y="5481828"/>
            <a:ext cx="5074920" cy="5943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Klasifikasi langsung</a:t>
            </a:r>
          </a:p>
        </p:txBody>
      </p:sp>
      <p:sp>
        <p:nvSpPr>
          <p:cNvPr name="TextBox 93" id="93"/>
          <p:cNvSpPr txBox="true"/>
          <p:nvPr/>
        </p:nvSpPr>
        <p:spPr>
          <a:xfrm rot="0">
            <a:off x="6789420" y="6057900"/>
            <a:ext cx="5074920" cy="13487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luas lahan terbangun 2016–2025; 2015 ekstrapolasi log-linear (tidak dipakai menurunkan parameter)</a:t>
            </a:r>
          </a:p>
        </p:txBody>
      </p:sp>
      <p:sp>
        <p:nvSpPr>
          <p:cNvPr name="AutoShape 94" id="94"/>
          <p:cNvSpPr/>
          <p:nvPr/>
        </p:nvSpPr>
        <p:spPr>
          <a:xfrm rot="113220">
            <a:off x="12158024" y="6234875"/>
            <a:ext cx="578501" cy="0"/>
          </a:xfrm>
          <a:prstGeom prst="line">
            <a:avLst/>
          </a:prstGeom>
          <a:ln cap="rnd" w="19050">
            <a:solidFill>
              <a:srgbClr val="39C0D3"/>
            </a:solidFill>
            <a:prstDash val="solid"/>
            <a:headEnd type="none" len="sm" w="sm"/>
            <a:tailEnd type="triangle" len="med" w="lg"/>
          </a:ln>
        </p:spPr>
        <p:txBody>
          <a:bodyPr/>
          <a:p/>
        </p:txBody>
      </p:sp>
      <p:grpSp>
        <p:nvGrpSpPr>
          <p:cNvPr name="Group 95" id="95"/>
          <p:cNvGrpSpPr/>
          <p:nvPr/>
        </p:nvGrpSpPr>
        <p:grpSpPr>
          <a:xfrm rot="0">
            <a:off x="12755880" y="5074920"/>
            <a:ext cx="4704588" cy="2400300"/>
            <a:chOff x="0" y="0"/>
            <a:chExt cx="6272784" cy="3200400"/>
          </a:xfrm>
        </p:grpSpPr>
        <p:sp>
          <p:nvSpPr>
            <p:cNvPr name="Freeform 96" id="96"/>
            <p:cNvSpPr/>
            <p:nvPr/>
          </p:nvSpPr>
          <p:spPr>
            <a:xfrm flipH="false" flipV="false" rot="0">
              <a:off x="0" y="0"/>
              <a:ext cx="6272784" cy="3200400"/>
            </a:xfrm>
            <a:custGeom>
              <a:avLst/>
              <a:gdLst/>
              <a:ahLst/>
              <a:cxnLst/>
              <a:rect r="r" b="b" t="t" l="l"/>
              <a:pathLst>
                <a:path h="3200400" w="6272784">
                  <a:moveTo>
                    <a:pt x="0" y="182880"/>
                  </a:moveTo>
                  <a:cubicBezTo>
                    <a:pt x="0" y="81915"/>
                    <a:pt x="81915" y="0"/>
                    <a:pt x="182880" y="0"/>
                  </a:cubicBezTo>
                  <a:lnTo>
                    <a:pt x="6089904" y="0"/>
                  </a:lnTo>
                  <a:cubicBezTo>
                    <a:pt x="6190869" y="0"/>
                    <a:pt x="6272784" y="81915"/>
                    <a:pt x="6272784" y="182880"/>
                  </a:cubicBezTo>
                  <a:lnTo>
                    <a:pt x="6272784" y="3017520"/>
                  </a:lnTo>
                  <a:cubicBezTo>
                    <a:pt x="6272784" y="3118485"/>
                    <a:pt x="6190869" y="3200400"/>
                    <a:pt x="6089904" y="3200400"/>
                  </a:cubicBezTo>
                  <a:lnTo>
                    <a:pt x="182880" y="3200400"/>
                  </a:lnTo>
                  <a:cubicBezTo>
                    <a:pt x="81915" y="3200400"/>
                    <a:pt x="0" y="3118485"/>
                    <a:pt x="0" y="3017520"/>
                  </a:cubicBezTo>
                  <a:close/>
                </a:path>
              </a:pathLst>
            </a:custGeom>
            <a:solidFill>
              <a:srgbClr val="FFF1BF"/>
            </a:solidFill>
          </p:spPr>
          <p:txBody>
            <a:bodyPr/>
            <a:p/>
          </p:txBody>
        </p:sp>
      </p:grpSp>
      <p:sp>
        <p:nvSpPr>
          <p:cNvPr name="TextBox 97" id="97"/>
          <p:cNvSpPr txBox="true"/>
          <p:nvPr/>
        </p:nvSpPr>
        <p:spPr>
          <a:xfrm rot="0">
            <a:off x="13030200" y="5125212"/>
            <a:ext cx="4114800" cy="4160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MENGISI VARIABEL MODEL</a:t>
            </a:r>
          </a:p>
        </p:txBody>
      </p:sp>
      <p:sp>
        <p:nvSpPr>
          <p:cNvPr name="TextBox 98" id="98"/>
          <p:cNvSpPr txBox="true"/>
          <p:nvPr/>
        </p:nvSpPr>
        <p:spPr>
          <a:xfrm rot="0">
            <a:off x="13030200" y="5481828"/>
            <a:ext cx="4183380" cy="1005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Luas lahan terbangun</a:t>
            </a:r>
          </a:p>
        </p:txBody>
      </p:sp>
      <p:sp>
        <p:nvSpPr>
          <p:cNvPr name="TextBox 99" id="99"/>
          <p:cNvSpPr txBox="true"/>
          <p:nvPr/>
        </p:nvSpPr>
        <p:spPr>
          <a:xfrm rot="0">
            <a:off x="13030200" y="6400800"/>
            <a:ext cx="4183380" cy="10058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stok awal lahan terbangun 2025 = 55.029,54 ha</a:t>
            </a:r>
          </a:p>
        </p:txBody>
      </p:sp>
      <p:grpSp>
        <p:nvGrpSpPr>
          <p:cNvPr name="Group 100" id="100"/>
          <p:cNvGrpSpPr/>
          <p:nvPr/>
        </p:nvGrpSpPr>
        <p:grpSpPr>
          <a:xfrm rot="0">
            <a:off x="822960" y="7886700"/>
            <a:ext cx="16637508" cy="1303020"/>
            <a:chOff x="0" y="0"/>
            <a:chExt cx="22183344" cy="1737360"/>
          </a:xfrm>
        </p:grpSpPr>
        <p:sp>
          <p:nvSpPr>
            <p:cNvPr name="Freeform 101" id="101"/>
            <p:cNvSpPr/>
            <p:nvPr/>
          </p:nvSpPr>
          <p:spPr>
            <a:xfrm flipH="false" flipV="false" rot="0">
              <a:off x="0" y="0"/>
              <a:ext cx="22183344" cy="1737360"/>
            </a:xfrm>
            <a:custGeom>
              <a:avLst/>
              <a:gdLst/>
              <a:ahLst/>
              <a:cxnLst/>
              <a:rect r="r" b="b" t="t" l="l"/>
              <a:pathLst>
                <a:path h="1737360" w="22183344">
                  <a:moveTo>
                    <a:pt x="0" y="182880"/>
                  </a:moveTo>
                  <a:cubicBezTo>
                    <a:pt x="0" y="81915"/>
                    <a:pt x="81915" y="0"/>
                    <a:pt x="182880" y="0"/>
                  </a:cubicBezTo>
                  <a:lnTo>
                    <a:pt x="22000463" y="0"/>
                  </a:lnTo>
                  <a:cubicBezTo>
                    <a:pt x="22101428" y="0"/>
                    <a:pt x="22183344" y="81915"/>
                    <a:pt x="22183344" y="182880"/>
                  </a:cubicBezTo>
                  <a:lnTo>
                    <a:pt x="22183344" y="1554480"/>
                  </a:lnTo>
                  <a:cubicBezTo>
                    <a:pt x="22183344" y="1655445"/>
                    <a:pt x="22101428" y="1737360"/>
                    <a:pt x="22000463" y="1737360"/>
                  </a:cubicBezTo>
                  <a:lnTo>
                    <a:pt x="182880" y="1737360"/>
                  </a:lnTo>
                  <a:cubicBezTo>
                    <a:pt x="81915" y="1737360"/>
                    <a:pt x="0" y="1655445"/>
                    <a:pt x="0" y="1554480"/>
                  </a:cubicBezTo>
                  <a:close/>
                </a:path>
              </a:pathLst>
            </a:custGeom>
            <a:solidFill>
              <a:srgbClr val="0B5E6E"/>
            </a:solidFill>
          </p:spPr>
          <p:txBody>
            <a:bodyPr/>
            <a:p/>
          </p:txBody>
        </p:sp>
      </p:grpSp>
      <p:grpSp>
        <p:nvGrpSpPr>
          <p:cNvPr name="Group 102" id="102"/>
          <p:cNvGrpSpPr/>
          <p:nvPr/>
        </p:nvGrpSpPr>
        <p:grpSpPr>
          <a:xfrm rot="0">
            <a:off x="1234440" y="7886700"/>
            <a:ext cx="10149840" cy="1303020"/>
            <a:chOff x="0" y="0"/>
            <a:chExt cx="13533120" cy="1737360"/>
          </a:xfrm>
        </p:grpSpPr>
        <p:sp>
          <p:nvSpPr>
            <p:cNvPr name="Freeform 103" id="103"/>
            <p:cNvSpPr/>
            <p:nvPr/>
          </p:nvSpPr>
          <p:spPr>
            <a:xfrm flipH="false" flipV="false" rot="0">
              <a:off x="0" y="0"/>
              <a:ext cx="13533120" cy="1737360"/>
            </a:xfrm>
            <a:custGeom>
              <a:avLst/>
              <a:gdLst/>
              <a:ahLst/>
              <a:cxnLst/>
              <a:rect r="r" b="b" t="t" l="l"/>
              <a:pathLst>
                <a:path h="1737360" w="13533120">
                  <a:moveTo>
                    <a:pt x="0" y="0"/>
                  </a:moveTo>
                  <a:lnTo>
                    <a:pt x="13533120" y="0"/>
                  </a:lnTo>
                  <a:lnTo>
                    <a:pt x="13533120" y="1737360"/>
                  </a:lnTo>
                  <a:lnTo>
                    <a:pt x="0" y="1737360"/>
                  </a:lnTo>
                  <a:close/>
                </a:path>
              </a:pathLst>
            </a:custGeom>
            <a:blipFill>
              <a:blip r:embed="rId4">
                <a:alphaModFix amt="0"/>
              </a:blip>
              <a:stretch>
                <a:fillRect l="0" t="-101672" r="0" b="-101672"/>
              </a:stretch>
            </a:blipFill>
          </p:spPr>
          <p:txBody>
            <a:bodyPr/>
            <a:p/>
          </p:txBody>
        </p:sp>
      </p:grpSp>
      <p:grpSp>
        <p:nvGrpSpPr>
          <p:cNvPr name="Group 104" id="104"/>
          <p:cNvGrpSpPr/>
          <p:nvPr/>
        </p:nvGrpSpPr>
        <p:grpSpPr>
          <a:xfrm rot="0">
            <a:off x="1234440" y="7850981"/>
            <a:ext cx="10149840" cy="1338739"/>
            <a:chOff x="0" y="0"/>
            <a:chExt cx="13533120" cy="1784985"/>
          </a:xfrm>
        </p:grpSpPr>
        <p:sp>
          <p:nvSpPr>
            <p:cNvPr name="Freeform 105" id="105"/>
            <p:cNvSpPr/>
            <p:nvPr/>
          </p:nvSpPr>
          <p:spPr>
            <a:xfrm flipH="false" flipV="false" rot="0">
              <a:off x="0" y="0"/>
              <a:ext cx="13533120" cy="1784985"/>
            </a:xfrm>
            <a:custGeom>
              <a:avLst/>
              <a:gdLst/>
              <a:ahLst/>
              <a:cxnLst/>
              <a:rect r="r" b="b" t="t" l="l"/>
              <a:pathLst>
                <a:path h="1784985" w="13533120">
                  <a:moveTo>
                    <a:pt x="0" y="0"/>
                  </a:moveTo>
                  <a:lnTo>
                    <a:pt x="13533120" y="0"/>
                  </a:lnTo>
                  <a:lnTo>
                    <a:pt x="13533120" y="1784985"/>
                  </a:lnTo>
                  <a:lnTo>
                    <a:pt x="0" y="1784985"/>
                  </a:lnTo>
                  <a:close/>
                </a:path>
              </a:pathLst>
            </a:custGeom>
            <a:blipFill>
              <a:blip r:embed="rId5">
                <a:alphaModFix amt="0"/>
              </a:blip>
              <a:stretch>
                <a:fillRect l="0" t="-97625" r="0" b="-97625"/>
              </a:stretch>
            </a:blipFill>
          </p:spPr>
          <p:txBody>
            <a:bodyPr/>
            <a:p/>
          </p:txBody>
        </p:sp>
      </p:grpSp>
      <p:grpSp>
        <p:nvGrpSpPr>
          <p:cNvPr name="Group 106" id="106"/>
          <p:cNvGrpSpPr/>
          <p:nvPr/>
        </p:nvGrpSpPr>
        <p:grpSpPr>
          <a:xfrm rot="0">
            <a:off x="1234440" y="7815262"/>
            <a:ext cx="10149840" cy="1374458"/>
            <a:chOff x="0" y="0"/>
            <a:chExt cx="13533120" cy="1832610"/>
          </a:xfrm>
        </p:grpSpPr>
        <p:sp>
          <p:nvSpPr>
            <p:cNvPr name="Freeform 107" id="107"/>
            <p:cNvSpPr/>
            <p:nvPr/>
          </p:nvSpPr>
          <p:spPr>
            <a:xfrm flipH="false" flipV="false" rot="0">
              <a:off x="0" y="0"/>
              <a:ext cx="13533120" cy="1832610"/>
            </a:xfrm>
            <a:custGeom>
              <a:avLst/>
              <a:gdLst/>
              <a:ahLst/>
              <a:cxnLst/>
              <a:rect r="r" b="b" t="t" l="l"/>
              <a:pathLst>
                <a:path h="1832610" w="13533120">
                  <a:moveTo>
                    <a:pt x="0" y="0"/>
                  </a:moveTo>
                  <a:lnTo>
                    <a:pt x="13533120" y="0"/>
                  </a:lnTo>
                  <a:lnTo>
                    <a:pt x="13533120" y="1832610"/>
                  </a:lnTo>
                  <a:lnTo>
                    <a:pt x="0" y="1832610"/>
                  </a:lnTo>
                  <a:close/>
                </a:path>
              </a:pathLst>
            </a:custGeom>
            <a:blipFill>
              <a:blip r:embed="rId6">
                <a:alphaModFix amt="0"/>
              </a:blip>
              <a:stretch>
                <a:fillRect l="0" t="-93889" r="0" b="-93889"/>
              </a:stretch>
            </a:blipFill>
          </p:spPr>
          <p:txBody>
            <a:bodyPr/>
            <a:p/>
          </p:txBody>
        </p:sp>
        <p:sp>
          <p:nvSpPr>
            <p:cNvPr name="TextBox 108" id="108"/>
            <p:cNvSpPr txBox="true"/>
            <p:nvPr/>
          </p:nvSpPr>
          <p:spPr>
            <a:xfrm>
              <a:off x="0" y="-47625"/>
              <a:ext cx="13533120" cy="1880235"/>
            </a:xfrm>
            <a:prstGeom prst="rect">
              <a:avLst/>
            </a:prstGeom>
          </p:spPr>
          <p:txBody>
            <a:bodyPr anchor="ctr" rtlCol="false" tIns="0" lIns="0" bIns="0" rIns="0"/>
            <a:lstStyle/>
            <a:p>
              <a:pPr algn="l">
                <a:lnSpc>
                  <a:spcPts val="2610"/>
                </a:lnSpc>
              </a:pPr>
              <a:r>
                <a:rPr lang="en-US" sz="2175" b="true">
                  <a:solidFill>
                    <a:srgbClr val="FFFFFF"/>
                  </a:solidFill>
                  <a:latin typeface="Calibri (MS) Bold"/>
                  <a:ea typeface="Calibri (MS) Bold"/>
                  <a:cs typeface="Calibri (MS) Bold"/>
                  <a:sym typeface="Calibri (MS) Bold"/>
                </a:rPr>
                <a:t>Prinsip: citra memperbarui variabel yang sudah punya data resmi — tidak membentuk struktur model dan tidak menggantikan statistik resmi.</a:t>
              </a:r>
            </a:p>
          </p:txBody>
        </p:sp>
      </p:grpSp>
      <p:grpSp>
        <p:nvGrpSpPr>
          <p:cNvPr name="Group 109" id="109"/>
          <p:cNvGrpSpPr/>
          <p:nvPr/>
        </p:nvGrpSpPr>
        <p:grpSpPr>
          <a:xfrm rot="0">
            <a:off x="11795760" y="7886700"/>
            <a:ext cx="5623560" cy="1303020"/>
            <a:chOff x="0" y="0"/>
            <a:chExt cx="7498080" cy="1737360"/>
          </a:xfrm>
        </p:grpSpPr>
        <p:sp>
          <p:nvSpPr>
            <p:cNvPr name="Freeform 110" id="110"/>
            <p:cNvSpPr/>
            <p:nvPr/>
          </p:nvSpPr>
          <p:spPr>
            <a:xfrm flipH="false" flipV="false" rot="0">
              <a:off x="0" y="0"/>
              <a:ext cx="7498080" cy="1737360"/>
            </a:xfrm>
            <a:custGeom>
              <a:avLst/>
              <a:gdLst/>
              <a:ahLst/>
              <a:cxnLst/>
              <a:rect r="r" b="b" t="t" l="l"/>
              <a:pathLst>
                <a:path h="1737360" w="7498080">
                  <a:moveTo>
                    <a:pt x="0" y="0"/>
                  </a:moveTo>
                  <a:lnTo>
                    <a:pt x="7498080" y="0"/>
                  </a:lnTo>
                  <a:lnTo>
                    <a:pt x="7498080" y="1737360"/>
                  </a:lnTo>
                  <a:lnTo>
                    <a:pt x="0" y="1737360"/>
                  </a:lnTo>
                  <a:close/>
                </a:path>
              </a:pathLst>
            </a:custGeom>
            <a:blipFill>
              <a:blip r:embed="rId4">
                <a:alphaModFix amt="0"/>
              </a:blip>
              <a:stretch>
                <a:fillRect l="0" t="-34035" r="0" b="-34034"/>
              </a:stretch>
            </a:blipFill>
          </p:spPr>
          <p:txBody>
            <a:bodyPr/>
            <a:p/>
          </p:txBody>
        </p:sp>
      </p:grpSp>
      <p:grpSp>
        <p:nvGrpSpPr>
          <p:cNvPr name="Group 111" id="111"/>
          <p:cNvGrpSpPr/>
          <p:nvPr/>
        </p:nvGrpSpPr>
        <p:grpSpPr>
          <a:xfrm rot="0">
            <a:off x="11795760" y="7858125"/>
            <a:ext cx="5623560" cy="1331595"/>
            <a:chOff x="0" y="0"/>
            <a:chExt cx="7498080" cy="1775460"/>
          </a:xfrm>
        </p:grpSpPr>
        <p:sp>
          <p:nvSpPr>
            <p:cNvPr name="Freeform 112" id="112"/>
            <p:cNvSpPr/>
            <p:nvPr/>
          </p:nvSpPr>
          <p:spPr>
            <a:xfrm flipH="false" flipV="false" rot="0">
              <a:off x="0" y="0"/>
              <a:ext cx="7498080" cy="1775460"/>
            </a:xfrm>
            <a:custGeom>
              <a:avLst/>
              <a:gdLst/>
              <a:ahLst/>
              <a:cxnLst/>
              <a:rect r="r" b="b" t="t" l="l"/>
              <a:pathLst>
                <a:path h="1775460" w="7498080">
                  <a:moveTo>
                    <a:pt x="0" y="0"/>
                  </a:moveTo>
                  <a:lnTo>
                    <a:pt x="7498080" y="0"/>
                  </a:lnTo>
                  <a:lnTo>
                    <a:pt x="7498080" y="1775460"/>
                  </a:lnTo>
                  <a:lnTo>
                    <a:pt x="0" y="1775460"/>
                  </a:lnTo>
                  <a:close/>
                </a:path>
              </a:pathLst>
            </a:custGeom>
            <a:blipFill>
              <a:blip r:embed="rId5">
                <a:alphaModFix amt="0"/>
              </a:blip>
              <a:stretch>
                <a:fillRect l="0" t="-32231" r="0" b="-32231"/>
              </a:stretch>
            </a:blipFill>
          </p:spPr>
          <p:txBody>
            <a:bodyPr/>
            <a:p/>
          </p:txBody>
        </p:sp>
      </p:grpSp>
      <p:grpSp>
        <p:nvGrpSpPr>
          <p:cNvPr name="Group 113" id="113"/>
          <p:cNvGrpSpPr/>
          <p:nvPr/>
        </p:nvGrpSpPr>
        <p:grpSpPr>
          <a:xfrm rot="0">
            <a:off x="11795760" y="7829550"/>
            <a:ext cx="5623560" cy="1360170"/>
            <a:chOff x="0" y="0"/>
            <a:chExt cx="7498080" cy="1813560"/>
          </a:xfrm>
        </p:grpSpPr>
        <p:sp>
          <p:nvSpPr>
            <p:cNvPr name="Freeform 114" id="114"/>
            <p:cNvSpPr/>
            <p:nvPr/>
          </p:nvSpPr>
          <p:spPr>
            <a:xfrm flipH="false" flipV="false" rot="0">
              <a:off x="0" y="0"/>
              <a:ext cx="7498080" cy="1813560"/>
            </a:xfrm>
            <a:custGeom>
              <a:avLst/>
              <a:gdLst/>
              <a:ahLst/>
              <a:cxnLst/>
              <a:rect r="r" b="b" t="t" l="l"/>
              <a:pathLst>
                <a:path h="1813560" w="7498080">
                  <a:moveTo>
                    <a:pt x="0" y="0"/>
                  </a:moveTo>
                  <a:lnTo>
                    <a:pt x="7498080" y="0"/>
                  </a:lnTo>
                  <a:lnTo>
                    <a:pt x="7498080" y="1813560"/>
                  </a:lnTo>
                  <a:lnTo>
                    <a:pt x="0" y="1813560"/>
                  </a:lnTo>
                  <a:close/>
                </a:path>
              </a:pathLst>
            </a:custGeom>
            <a:blipFill>
              <a:blip r:embed="rId6">
                <a:alphaModFix amt="0"/>
              </a:blip>
              <a:stretch>
                <a:fillRect l="0" t="-30559" r="0" b="-30559"/>
              </a:stretch>
            </a:blipFill>
          </p:spPr>
          <p:txBody>
            <a:bodyPr/>
            <a:p/>
          </p:txBody>
        </p:sp>
        <p:sp>
          <p:nvSpPr>
            <p:cNvPr name="TextBox 115" id="115"/>
            <p:cNvSpPr txBox="true"/>
            <p:nvPr/>
          </p:nvSpPr>
          <p:spPr>
            <a:xfrm>
              <a:off x="0" y="-38100"/>
              <a:ext cx="7498080" cy="1851660"/>
            </a:xfrm>
            <a:prstGeom prst="rect">
              <a:avLst/>
            </a:prstGeom>
          </p:spPr>
          <p:txBody>
            <a:bodyPr anchor="ctr" rtlCol="false" tIns="0" lIns="0" bIns="0" rIns="0"/>
            <a:lstStyle/>
            <a:p>
              <a:pPr algn="l">
                <a:lnSpc>
                  <a:spcPts val="2160"/>
                </a:lnSpc>
              </a:pPr>
              <a:r>
                <a:rPr lang="en-US" sz="1800">
                  <a:solidFill>
                    <a:srgbClr val="6BE5EA"/>
                  </a:solidFill>
                  <a:latin typeface="Calibri (MS)"/>
                  <a:ea typeface="Calibri (MS)"/>
                  <a:cs typeface="Calibri (MS)"/>
                  <a:sym typeface="Calibri (MS)"/>
                </a:rPr>
                <a:t>Kelayakan NTL: R² selisih tahunan ≥ 0,30 dan RMSE relatif LOOCV ≤ 10%.  Dynamic World: uji akurasi pada 200 titik sampel.</a:t>
              </a:r>
            </a:p>
          </p:txBody>
        </p:sp>
      </p:grpSp>
      <p:sp>
        <p:nvSpPr>
          <p:cNvPr name="TextBox 116" id="116"/>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25</a:t>
            </a:r>
          </a:p>
        </p:txBody>
      </p:sp>
      <p:grpSp>
        <p:nvGrpSpPr>
          <p:cNvPr name="Group 117" id="117"/>
          <p:cNvGrpSpPr/>
          <p:nvPr/>
        </p:nvGrpSpPr>
        <p:grpSpPr>
          <a:xfrm rot="0">
            <a:off x="12755880" y="274320"/>
            <a:ext cx="3931920" cy="411480"/>
            <a:chOff x="0" y="0"/>
            <a:chExt cx="5242560" cy="548640"/>
          </a:xfrm>
        </p:grpSpPr>
        <p:sp>
          <p:nvSpPr>
            <p:cNvPr name="Freeform 118" id="11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19" id="11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grpSp>
        <p:nvGrpSpPr>
          <p:cNvPr name="Group 120" id="120"/>
          <p:cNvGrpSpPr/>
          <p:nvPr/>
        </p:nvGrpSpPr>
        <p:grpSpPr>
          <a:xfrm rot="0">
            <a:off x="16047720" y="9646920"/>
            <a:ext cx="420624" cy="420624"/>
            <a:chOff x="0" y="0"/>
            <a:chExt cx="560832" cy="560832"/>
          </a:xfrm>
        </p:grpSpPr>
        <p:sp>
          <p:nvSpPr>
            <p:cNvPr name="Freeform 121" id="121"/>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22" id="122"/>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0010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Estimasi Jumlah ODTW dengan Night-Time Light</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Tahapan estimasi ODTW: dari citra VIIRS sampai regresi dan selang prediksi</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26</a:t>
            </a:r>
          </a:p>
        </p:txBody>
      </p:sp>
      <p:sp>
        <p:nvSpPr>
          <p:cNvPr name="Freeform 67" id="67"/>
          <p:cNvSpPr/>
          <p:nvPr/>
        </p:nvSpPr>
        <p:spPr>
          <a:xfrm flipH="false" flipV="false" rot="0">
            <a:off x="806291" y="2223611"/>
            <a:ext cx="4056697" cy="3448622"/>
          </a:xfrm>
          <a:custGeom>
            <a:avLst/>
            <a:gdLst/>
            <a:ahLst/>
            <a:cxnLst/>
            <a:rect r="r" b="b" t="t" l="l"/>
            <a:pathLst>
              <a:path h="3448622" w="4056697">
                <a:moveTo>
                  <a:pt x="0" y="0"/>
                </a:moveTo>
                <a:lnTo>
                  <a:pt x="4056698" y="0"/>
                </a:lnTo>
                <a:lnTo>
                  <a:pt x="405669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68" id="68"/>
          <p:cNvGrpSpPr/>
          <p:nvPr/>
        </p:nvGrpSpPr>
        <p:grpSpPr>
          <a:xfrm rot="0">
            <a:off x="1051560" y="2468880"/>
            <a:ext cx="530352" cy="530352"/>
            <a:chOff x="0" y="0"/>
            <a:chExt cx="707136" cy="707136"/>
          </a:xfrm>
        </p:grpSpPr>
        <p:sp>
          <p:nvSpPr>
            <p:cNvPr name="Freeform 69" id="69"/>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70" id="70"/>
          <p:cNvGrpSpPr/>
          <p:nvPr/>
        </p:nvGrpSpPr>
        <p:grpSpPr>
          <a:xfrm rot="0">
            <a:off x="1051560" y="2447449"/>
            <a:ext cx="530352" cy="551783"/>
            <a:chOff x="0" y="0"/>
            <a:chExt cx="707136" cy="735711"/>
          </a:xfrm>
        </p:grpSpPr>
        <p:sp>
          <p:nvSpPr>
            <p:cNvPr name="Freeform 71" id="71"/>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72" id="72"/>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1</a:t>
              </a:r>
            </a:p>
          </p:txBody>
        </p:sp>
      </p:grpSp>
      <p:sp>
        <p:nvSpPr>
          <p:cNvPr name="TextBox 73" id="73"/>
          <p:cNvSpPr txBox="true"/>
          <p:nvPr/>
        </p:nvSpPr>
        <p:spPr>
          <a:xfrm rot="0">
            <a:off x="1719072" y="2372868"/>
            <a:ext cx="2971800" cy="484937"/>
          </a:xfrm>
          <a:prstGeom prst="rect">
            <a:avLst/>
          </a:prstGeom>
        </p:spPr>
        <p:txBody>
          <a:bodyPr anchor="t" rtlCol="false" tIns="0" lIns="0" bIns="0" rIns="0">
            <a:spAutoFit/>
          </a:bodyPr>
          <a:lstStyle/>
          <a:p>
            <a:pPr algn="l">
              <a:lnSpc>
                <a:spcPts val="2485"/>
              </a:lnSpc>
            </a:pPr>
            <a:r>
              <a:rPr lang="en-US" sz="1850" b="true">
                <a:solidFill>
                  <a:srgbClr val="0B5E6E"/>
                </a:solidFill>
                <a:latin typeface="Calibri (MS) Bold"/>
                <a:ea typeface="Calibri (MS) Bold"/>
                <a:cs typeface="Calibri (MS) Bold"/>
                <a:sym typeface="Calibri (MS) Bold"/>
              </a:rPr>
              <a:t>Definisi wilayah kajian</a:t>
            </a:r>
          </a:p>
        </p:txBody>
      </p:sp>
      <p:sp>
        <p:nvSpPr>
          <p:cNvPr name="TextBox 74" id="74"/>
          <p:cNvSpPr txBox="true"/>
          <p:nvPr/>
        </p:nvSpPr>
        <p:spPr>
          <a:xfrm rot="0">
            <a:off x="1051560" y="3041142"/>
            <a:ext cx="3566160" cy="969416"/>
          </a:xfrm>
          <a:prstGeom prst="rect">
            <a:avLst/>
          </a:prstGeom>
        </p:spPr>
        <p:txBody>
          <a:bodyPr anchor="t" rtlCol="false" tIns="0" lIns="0" bIns="0" rIns="0">
            <a:spAutoFit/>
          </a:bodyPr>
          <a:lstStyle/>
          <a:p>
            <a:pPr algn="l">
              <a:lnSpc>
                <a:spcPts val="2149"/>
              </a:lnSpc>
            </a:pPr>
            <a:r>
              <a:rPr lang="en-US" sz="1599">
                <a:solidFill>
                  <a:srgbClr val="14313B"/>
                </a:solidFill>
                <a:latin typeface="Calibri (MS)"/>
                <a:ea typeface="Calibri (MS)"/>
                <a:cs typeface="Calibri (MS)"/>
                <a:sym typeface="Calibri (MS)"/>
              </a:rPr>
              <a:t>Batas administratif Provinsi DIY (5 kabupaten/kota, 317.036 ha) didefinisikan di Google Earth Engine.</a:t>
            </a:r>
          </a:p>
        </p:txBody>
      </p:sp>
      <p:sp>
        <p:nvSpPr>
          <p:cNvPr name="Freeform 75" id="75"/>
          <p:cNvSpPr/>
          <p:nvPr/>
        </p:nvSpPr>
        <p:spPr>
          <a:xfrm flipH="false" flipV="false" rot="0">
            <a:off x="5012531" y="2223611"/>
            <a:ext cx="4056697" cy="3448622"/>
          </a:xfrm>
          <a:custGeom>
            <a:avLst/>
            <a:gdLst/>
            <a:ahLst/>
            <a:cxnLst/>
            <a:rect r="r" b="b" t="t" l="l"/>
            <a:pathLst>
              <a:path h="3448622" w="4056697">
                <a:moveTo>
                  <a:pt x="0" y="0"/>
                </a:moveTo>
                <a:lnTo>
                  <a:pt x="4056698" y="0"/>
                </a:lnTo>
                <a:lnTo>
                  <a:pt x="405669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76" id="76"/>
          <p:cNvGrpSpPr/>
          <p:nvPr/>
        </p:nvGrpSpPr>
        <p:grpSpPr>
          <a:xfrm rot="0">
            <a:off x="5257800" y="2468880"/>
            <a:ext cx="530352" cy="530352"/>
            <a:chOff x="0" y="0"/>
            <a:chExt cx="707136" cy="707136"/>
          </a:xfrm>
        </p:grpSpPr>
        <p:sp>
          <p:nvSpPr>
            <p:cNvPr name="Freeform 77" id="77"/>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78" id="78"/>
          <p:cNvGrpSpPr/>
          <p:nvPr/>
        </p:nvGrpSpPr>
        <p:grpSpPr>
          <a:xfrm rot="0">
            <a:off x="5257800" y="2447449"/>
            <a:ext cx="530352" cy="551783"/>
            <a:chOff x="0" y="0"/>
            <a:chExt cx="707136" cy="735711"/>
          </a:xfrm>
        </p:grpSpPr>
        <p:sp>
          <p:nvSpPr>
            <p:cNvPr name="Freeform 79" id="79"/>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80" id="80"/>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2</a:t>
              </a:r>
            </a:p>
          </p:txBody>
        </p:sp>
      </p:grpSp>
      <p:sp>
        <p:nvSpPr>
          <p:cNvPr name="TextBox 81" id="81"/>
          <p:cNvSpPr txBox="true"/>
          <p:nvPr/>
        </p:nvSpPr>
        <p:spPr>
          <a:xfrm rot="0">
            <a:off x="5925312" y="2372868"/>
            <a:ext cx="2971800" cy="484937"/>
          </a:xfrm>
          <a:prstGeom prst="rect">
            <a:avLst/>
          </a:prstGeom>
        </p:spPr>
        <p:txBody>
          <a:bodyPr anchor="t" rtlCol="false" tIns="0" lIns="0" bIns="0" rIns="0">
            <a:spAutoFit/>
          </a:bodyPr>
          <a:lstStyle/>
          <a:p>
            <a:pPr algn="l">
              <a:lnSpc>
                <a:spcPts val="2485"/>
              </a:lnSpc>
            </a:pPr>
            <a:r>
              <a:rPr lang="en-US" sz="1850" b="true">
                <a:solidFill>
                  <a:srgbClr val="0B5E6E"/>
                </a:solidFill>
                <a:latin typeface="Calibri (MS) Bold"/>
                <a:ea typeface="Calibri (MS) Bold"/>
                <a:cs typeface="Calibri (MS) Bold"/>
                <a:sym typeface="Calibri (MS) Bold"/>
              </a:rPr>
              <a:t>Pemanggilan koleksi citra</a:t>
            </a:r>
          </a:p>
        </p:txBody>
      </p:sp>
      <p:sp>
        <p:nvSpPr>
          <p:cNvPr name="TextBox 82" id="82"/>
          <p:cNvSpPr txBox="true"/>
          <p:nvPr/>
        </p:nvSpPr>
        <p:spPr>
          <a:xfrm rot="0">
            <a:off x="5257800" y="3041142"/>
            <a:ext cx="3566160" cy="969416"/>
          </a:xfrm>
          <a:prstGeom prst="rect">
            <a:avLst/>
          </a:prstGeom>
        </p:spPr>
        <p:txBody>
          <a:bodyPr anchor="t" rtlCol="false" tIns="0" lIns="0" bIns="0" rIns="0">
            <a:spAutoFit/>
          </a:bodyPr>
          <a:lstStyle/>
          <a:p>
            <a:pPr algn="l">
              <a:lnSpc>
                <a:spcPts val="2149"/>
              </a:lnSpc>
            </a:pPr>
            <a:r>
              <a:rPr lang="en-US" sz="1599">
                <a:solidFill>
                  <a:srgbClr val="14313B"/>
                </a:solidFill>
                <a:latin typeface="Calibri (MS)"/>
                <a:ea typeface="Calibri (MS)"/>
                <a:cs typeface="Calibri (MS)"/>
                <a:sym typeface="Calibri (MS)"/>
              </a:rPr>
              <a:t>VIIRS Day/Night Band (NOAA): komposit radiansi bulanan 2015–2025, satuan nW/cm²/sr.</a:t>
            </a:r>
          </a:p>
        </p:txBody>
      </p:sp>
      <p:sp>
        <p:nvSpPr>
          <p:cNvPr name="Freeform 83" id="83"/>
          <p:cNvSpPr/>
          <p:nvPr/>
        </p:nvSpPr>
        <p:spPr>
          <a:xfrm flipH="false" flipV="false" rot="0">
            <a:off x="9218771" y="2223611"/>
            <a:ext cx="4056697" cy="3448622"/>
          </a:xfrm>
          <a:custGeom>
            <a:avLst/>
            <a:gdLst/>
            <a:ahLst/>
            <a:cxnLst/>
            <a:rect r="r" b="b" t="t" l="l"/>
            <a:pathLst>
              <a:path h="3448622" w="4056697">
                <a:moveTo>
                  <a:pt x="0" y="0"/>
                </a:moveTo>
                <a:lnTo>
                  <a:pt x="4056698" y="0"/>
                </a:lnTo>
                <a:lnTo>
                  <a:pt x="405669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84" id="84"/>
          <p:cNvGrpSpPr/>
          <p:nvPr/>
        </p:nvGrpSpPr>
        <p:grpSpPr>
          <a:xfrm rot="0">
            <a:off x="9464040" y="2468880"/>
            <a:ext cx="530352" cy="530352"/>
            <a:chOff x="0" y="0"/>
            <a:chExt cx="707136" cy="707136"/>
          </a:xfrm>
        </p:grpSpPr>
        <p:sp>
          <p:nvSpPr>
            <p:cNvPr name="Freeform 85" id="85"/>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86" id="86"/>
          <p:cNvGrpSpPr/>
          <p:nvPr/>
        </p:nvGrpSpPr>
        <p:grpSpPr>
          <a:xfrm rot="0">
            <a:off x="9464040" y="2447449"/>
            <a:ext cx="530352" cy="551783"/>
            <a:chOff x="0" y="0"/>
            <a:chExt cx="707136" cy="735711"/>
          </a:xfrm>
        </p:grpSpPr>
        <p:sp>
          <p:nvSpPr>
            <p:cNvPr name="Freeform 87" id="87"/>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88" id="88"/>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3</a:t>
              </a:r>
            </a:p>
          </p:txBody>
        </p:sp>
      </p:grpSp>
      <p:sp>
        <p:nvSpPr>
          <p:cNvPr name="TextBox 89" id="89"/>
          <p:cNvSpPr txBox="true"/>
          <p:nvPr/>
        </p:nvSpPr>
        <p:spPr>
          <a:xfrm rot="0">
            <a:off x="10131552" y="2372868"/>
            <a:ext cx="2971800" cy="484937"/>
          </a:xfrm>
          <a:prstGeom prst="rect">
            <a:avLst/>
          </a:prstGeom>
        </p:spPr>
        <p:txBody>
          <a:bodyPr anchor="t" rtlCol="false" tIns="0" lIns="0" bIns="0" rIns="0">
            <a:spAutoFit/>
          </a:bodyPr>
          <a:lstStyle/>
          <a:p>
            <a:pPr algn="l">
              <a:lnSpc>
                <a:spcPts val="2485"/>
              </a:lnSpc>
            </a:pPr>
            <a:r>
              <a:rPr lang="en-US" sz="1850" b="true">
                <a:solidFill>
                  <a:srgbClr val="0B5E6E"/>
                </a:solidFill>
                <a:latin typeface="Calibri (MS) Bold"/>
                <a:ea typeface="Calibri (MS) Bold"/>
                <a:cs typeface="Calibri (MS) Bold"/>
                <a:sym typeface="Calibri (MS) Bold"/>
              </a:rPr>
              <a:t>Rata-rata per tahun</a:t>
            </a:r>
          </a:p>
        </p:txBody>
      </p:sp>
      <p:sp>
        <p:nvSpPr>
          <p:cNvPr name="TextBox 90" id="90"/>
          <p:cNvSpPr txBox="true"/>
          <p:nvPr/>
        </p:nvSpPr>
        <p:spPr>
          <a:xfrm rot="0">
            <a:off x="9464040" y="3041142"/>
            <a:ext cx="3566160" cy="696316"/>
          </a:xfrm>
          <a:prstGeom prst="rect">
            <a:avLst/>
          </a:prstGeom>
        </p:spPr>
        <p:txBody>
          <a:bodyPr anchor="t" rtlCol="false" tIns="0" lIns="0" bIns="0" rIns="0">
            <a:spAutoFit/>
          </a:bodyPr>
          <a:lstStyle/>
          <a:p>
            <a:pPr algn="l">
              <a:lnSpc>
                <a:spcPts val="2149"/>
              </a:lnSpc>
            </a:pPr>
            <a:r>
              <a:rPr lang="en-US" sz="1599">
                <a:solidFill>
                  <a:srgbClr val="14313B"/>
                </a:solidFill>
                <a:latin typeface="Calibri (MS)"/>
                <a:ea typeface="Calibri (MS)"/>
                <a:cs typeface="Calibri (MS)"/>
                <a:sym typeface="Calibri (MS)"/>
              </a:rPr>
              <a:t>Radiansi bulanan dirata-ratakan menjadi komposit tahunan.</a:t>
            </a:r>
          </a:p>
        </p:txBody>
      </p:sp>
      <p:grpSp>
        <p:nvGrpSpPr>
          <p:cNvPr name="Group 91" id="91"/>
          <p:cNvGrpSpPr/>
          <p:nvPr/>
        </p:nvGrpSpPr>
        <p:grpSpPr>
          <a:xfrm rot="0">
            <a:off x="9400032" y="3810610"/>
            <a:ext cx="3694176" cy="571786"/>
            <a:chOff x="0" y="0"/>
            <a:chExt cx="4925568" cy="762381"/>
          </a:xfrm>
        </p:grpSpPr>
        <p:sp>
          <p:nvSpPr>
            <p:cNvPr name="Freeform 92" id="92"/>
            <p:cNvSpPr/>
            <p:nvPr/>
          </p:nvSpPr>
          <p:spPr>
            <a:xfrm flipH="false" flipV="false" rot="0">
              <a:off x="0" y="0"/>
              <a:ext cx="4925568" cy="762381"/>
            </a:xfrm>
            <a:custGeom>
              <a:avLst/>
              <a:gdLst/>
              <a:ahLst/>
              <a:cxnLst/>
              <a:rect r="r" b="b" t="t" l="l"/>
              <a:pathLst>
                <a:path h="762381" w="4925568">
                  <a:moveTo>
                    <a:pt x="0" y="97536"/>
                  </a:moveTo>
                  <a:cubicBezTo>
                    <a:pt x="0" y="43688"/>
                    <a:pt x="43688" y="0"/>
                    <a:pt x="97536" y="0"/>
                  </a:cubicBezTo>
                  <a:lnTo>
                    <a:pt x="4828032" y="0"/>
                  </a:lnTo>
                  <a:cubicBezTo>
                    <a:pt x="4881880" y="0"/>
                    <a:pt x="4925568" y="43688"/>
                    <a:pt x="4925568" y="97536"/>
                  </a:cubicBezTo>
                  <a:lnTo>
                    <a:pt x="4925568" y="664845"/>
                  </a:lnTo>
                  <a:cubicBezTo>
                    <a:pt x="4925568" y="718693"/>
                    <a:pt x="4881880" y="762381"/>
                    <a:pt x="4828032" y="762381"/>
                  </a:cubicBezTo>
                  <a:lnTo>
                    <a:pt x="97536" y="762381"/>
                  </a:lnTo>
                  <a:cubicBezTo>
                    <a:pt x="43688" y="762381"/>
                    <a:pt x="0" y="718693"/>
                    <a:pt x="0" y="664845"/>
                  </a:cubicBezTo>
                  <a:close/>
                </a:path>
              </a:pathLst>
            </a:custGeom>
            <a:solidFill>
              <a:srgbClr val="FFF1BF"/>
            </a:solidFill>
          </p:spPr>
          <p:txBody>
            <a:bodyPr/>
            <a:p/>
          </p:txBody>
        </p:sp>
      </p:grpSp>
      <p:sp>
        <p:nvSpPr>
          <p:cNvPr name="TextBox 93" id="93"/>
          <p:cNvSpPr txBox="true"/>
          <p:nvPr/>
        </p:nvSpPr>
        <p:spPr>
          <a:xfrm rot="0">
            <a:off x="9537192" y="3854044"/>
            <a:ext cx="3291840" cy="446075"/>
          </a:xfrm>
          <a:prstGeom prst="rect">
            <a:avLst/>
          </a:prstGeom>
        </p:spPr>
        <p:txBody>
          <a:bodyPr anchor="t" rtlCol="false" tIns="0" lIns="0" bIns="0" rIns="0">
            <a:spAutoFit/>
          </a:bodyPr>
          <a:lstStyle/>
          <a:p>
            <a:pPr algn="l">
              <a:lnSpc>
                <a:spcPts val="2485"/>
              </a:lnSpc>
            </a:pPr>
            <a:r>
              <a:rPr lang="en-US" sz="1850" i="true">
                <a:solidFill>
                  <a:srgbClr val="14313B"/>
                </a:solidFill>
                <a:latin typeface="Cambria Italics"/>
                <a:ea typeface="Cambria Italics"/>
                <a:cs typeface="Cambria Italics"/>
                <a:sym typeface="Cambria Italics"/>
              </a:rPr>
              <a:t>NTLₜ = (1/n) · Σᵢ₌₁ⁿ Rᵢ,ₜ</a:t>
            </a:r>
          </a:p>
        </p:txBody>
      </p:sp>
      <p:sp>
        <p:nvSpPr>
          <p:cNvPr name="TextBox 94" id="94"/>
          <p:cNvSpPr txBox="true"/>
          <p:nvPr/>
        </p:nvSpPr>
        <p:spPr>
          <a:xfrm rot="0">
            <a:off x="9464040" y="4359554"/>
            <a:ext cx="3566160" cy="664159"/>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Rᵢ,ₜ radiansi bulan ke-i tahun t; n bulan tersedia</a:t>
            </a:r>
          </a:p>
        </p:txBody>
      </p:sp>
      <p:sp>
        <p:nvSpPr>
          <p:cNvPr name="Freeform 95" id="95"/>
          <p:cNvSpPr/>
          <p:nvPr/>
        </p:nvSpPr>
        <p:spPr>
          <a:xfrm flipH="false" flipV="false" rot="0">
            <a:off x="13425011" y="2223611"/>
            <a:ext cx="4056697" cy="3448622"/>
          </a:xfrm>
          <a:custGeom>
            <a:avLst/>
            <a:gdLst/>
            <a:ahLst/>
            <a:cxnLst/>
            <a:rect r="r" b="b" t="t" l="l"/>
            <a:pathLst>
              <a:path h="3448622" w="4056697">
                <a:moveTo>
                  <a:pt x="0" y="0"/>
                </a:moveTo>
                <a:lnTo>
                  <a:pt x="4056698" y="0"/>
                </a:lnTo>
                <a:lnTo>
                  <a:pt x="405669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96" id="96"/>
          <p:cNvGrpSpPr/>
          <p:nvPr/>
        </p:nvGrpSpPr>
        <p:grpSpPr>
          <a:xfrm rot="0">
            <a:off x="13670280" y="2468880"/>
            <a:ext cx="530352" cy="530352"/>
            <a:chOff x="0" y="0"/>
            <a:chExt cx="707136" cy="707136"/>
          </a:xfrm>
        </p:grpSpPr>
        <p:sp>
          <p:nvSpPr>
            <p:cNvPr name="Freeform 97" id="97"/>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98" id="98"/>
          <p:cNvGrpSpPr/>
          <p:nvPr/>
        </p:nvGrpSpPr>
        <p:grpSpPr>
          <a:xfrm rot="0">
            <a:off x="13670280" y="2447449"/>
            <a:ext cx="530352" cy="551783"/>
            <a:chOff x="0" y="0"/>
            <a:chExt cx="707136" cy="735711"/>
          </a:xfrm>
        </p:grpSpPr>
        <p:sp>
          <p:nvSpPr>
            <p:cNvPr name="Freeform 99" id="99"/>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100" id="100"/>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4</a:t>
              </a:r>
            </a:p>
          </p:txBody>
        </p:sp>
      </p:grpSp>
      <p:sp>
        <p:nvSpPr>
          <p:cNvPr name="TextBox 101" id="101"/>
          <p:cNvSpPr txBox="true"/>
          <p:nvPr/>
        </p:nvSpPr>
        <p:spPr>
          <a:xfrm rot="0">
            <a:off x="14337792" y="2372868"/>
            <a:ext cx="2971800" cy="484937"/>
          </a:xfrm>
          <a:prstGeom prst="rect">
            <a:avLst/>
          </a:prstGeom>
        </p:spPr>
        <p:txBody>
          <a:bodyPr anchor="t" rtlCol="false" tIns="0" lIns="0" bIns="0" rIns="0">
            <a:spAutoFit/>
          </a:bodyPr>
          <a:lstStyle/>
          <a:p>
            <a:pPr algn="l">
              <a:lnSpc>
                <a:spcPts val="2485"/>
              </a:lnSpc>
            </a:pPr>
            <a:r>
              <a:rPr lang="en-US" sz="1850" b="true">
                <a:solidFill>
                  <a:srgbClr val="0B5E6E"/>
                </a:solidFill>
                <a:latin typeface="Calibri (MS) Bold"/>
                <a:ea typeface="Calibri (MS) Bold"/>
                <a:cs typeface="Calibri (MS) Bold"/>
                <a:sym typeface="Calibri (MS) Bold"/>
              </a:rPr>
              <a:t>Rata-rata per wilayah</a:t>
            </a:r>
          </a:p>
        </p:txBody>
      </p:sp>
      <p:sp>
        <p:nvSpPr>
          <p:cNvPr name="TextBox 102" id="102"/>
          <p:cNvSpPr txBox="true"/>
          <p:nvPr/>
        </p:nvSpPr>
        <p:spPr>
          <a:xfrm rot="0">
            <a:off x="13670280" y="3041142"/>
            <a:ext cx="3566160" cy="969416"/>
          </a:xfrm>
          <a:prstGeom prst="rect">
            <a:avLst/>
          </a:prstGeom>
        </p:spPr>
        <p:txBody>
          <a:bodyPr anchor="t" rtlCol="false" tIns="0" lIns="0" bIns="0" rIns="0">
            <a:spAutoFit/>
          </a:bodyPr>
          <a:lstStyle/>
          <a:p>
            <a:pPr algn="l">
              <a:lnSpc>
                <a:spcPts val="2149"/>
              </a:lnSpc>
            </a:pPr>
            <a:r>
              <a:rPr lang="en-US" sz="1599">
                <a:solidFill>
                  <a:srgbClr val="14313B"/>
                </a:solidFill>
                <a:latin typeface="Calibri (MS)"/>
                <a:ea typeface="Calibri (MS)"/>
                <a:cs typeface="Calibri (MS)"/>
                <a:sym typeface="Calibri (MS)"/>
              </a:rPr>
              <a:t>Rata-rata seluruh piksel di wilayah DIY → satu nilai NTL per tahun.</a:t>
            </a:r>
          </a:p>
        </p:txBody>
      </p:sp>
      <p:grpSp>
        <p:nvGrpSpPr>
          <p:cNvPr name="Group 103" id="103"/>
          <p:cNvGrpSpPr/>
          <p:nvPr/>
        </p:nvGrpSpPr>
        <p:grpSpPr>
          <a:xfrm rot="0">
            <a:off x="13606272" y="4083710"/>
            <a:ext cx="3694176" cy="571786"/>
            <a:chOff x="0" y="0"/>
            <a:chExt cx="4925568" cy="762381"/>
          </a:xfrm>
        </p:grpSpPr>
        <p:sp>
          <p:nvSpPr>
            <p:cNvPr name="Freeform 104" id="104"/>
            <p:cNvSpPr/>
            <p:nvPr/>
          </p:nvSpPr>
          <p:spPr>
            <a:xfrm flipH="false" flipV="false" rot="0">
              <a:off x="0" y="0"/>
              <a:ext cx="4925568" cy="762381"/>
            </a:xfrm>
            <a:custGeom>
              <a:avLst/>
              <a:gdLst/>
              <a:ahLst/>
              <a:cxnLst/>
              <a:rect r="r" b="b" t="t" l="l"/>
              <a:pathLst>
                <a:path h="762381" w="4925568">
                  <a:moveTo>
                    <a:pt x="0" y="97536"/>
                  </a:moveTo>
                  <a:cubicBezTo>
                    <a:pt x="0" y="43688"/>
                    <a:pt x="43688" y="0"/>
                    <a:pt x="97536" y="0"/>
                  </a:cubicBezTo>
                  <a:lnTo>
                    <a:pt x="4828032" y="0"/>
                  </a:lnTo>
                  <a:cubicBezTo>
                    <a:pt x="4881880" y="0"/>
                    <a:pt x="4925568" y="43688"/>
                    <a:pt x="4925568" y="97536"/>
                  </a:cubicBezTo>
                  <a:lnTo>
                    <a:pt x="4925568" y="664845"/>
                  </a:lnTo>
                  <a:cubicBezTo>
                    <a:pt x="4925568" y="718693"/>
                    <a:pt x="4881880" y="762381"/>
                    <a:pt x="4828032" y="762381"/>
                  </a:cubicBezTo>
                  <a:lnTo>
                    <a:pt x="97536" y="762381"/>
                  </a:lnTo>
                  <a:cubicBezTo>
                    <a:pt x="43688" y="762381"/>
                    <a:pt x="0" y="718693"/>
                    <a:pt x="0" y="664845"/>
                  </a:cubicBezTo>
                  <a:close/>
                </a:path>
              </a:pathLst>
            </a:custGeom>
            <a:solidFill>
              <a:srgbClr val="FFF1BF"/>
            </a:solidFill>
          </p:spPr>
          <p:txBody>
            <a:bodyPr/>
            <a:p/>
          </p:txBody>
        </p:sp>
      </p:grpSp>
      <p:sp>
        <p:nvSpPr>
          <p:cNvPr name="TextBox 105" id="105"/>
          <p:cNvSpPr txBox="true"/>
          <p:nvPr/>
        </p:nvSpPr>
        <p:spPr>
          <a:xfrm rot="0">
            <a:off x="13743432" y="4127144"/>
            <a:ext cx="3291840" cy="446075"/>
          </a:xfrm>
          <a:prstGeom prst="rect">
            <a:avLst/>
          </a:prstGeom>
        </p:spPr>
        <p:txBody>
          <a:bodyPr anchor="t" rtlCol="false" tIns="0" lIns="0" bIns="0" rIns="0">
            <a:spAutoFit/>
          </a:bodyPr>
          <a:lstStyle/>
          <a:p>
            <a:pPr algn="l">
              <a:lnSpc>
                <a:spcPts val="2485"/>
              </a:lnSpc>
            </a:pPr>
            <a:r>
              <a:rPr lang="en-US" sz="1850" i="true">
                <a:solidFill>
                  <a:srgbClr val="14313B"/>
                </a:solidFill>
                <a:latin typeface="Cambria Italics"/>
                <a:ea typeface="Cambria Italics"/>
                <a:cs typeface="Cambria Italics"/>
                <a:sym typeface="Cambria Italics"/>
              </a:rPr>
              <a:t>NTL̄ₜ = (1/N) · Σₚ Rₚ,ₜ</a:t>
            </a:r>
          </a:p>
        </p:txBody>
      </p:sp>
      <p:sp>
        <p:nvSpPr>
          <p:cNvPr name="TextBox 106" id="106"/>
          <p:cNvSpPr txBox="true"/>
          <p:nvPr/>
        </p:nvSpPr>
        <p:spPr>
          <a:xfrm rot="0">
            <a:off x="13670280" y="4632655"/>
            <a:ext cx="3566160" cy="41666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N = jumlah piksel dalam batas DIY</a:t>
            </a:r>
          </a:p>
        </p:txBody>
      </p:sp>
      <p:sp>
        <p:nvSpPr>
          <p:cNvPr name="Freeform 107" id="107"/>
          <p:cNvSpPr/>
          <p:nvPr/>
        </p:nvSpPr>
        <p:spPr>
          <a:xfrm flipH="false" flipV="false" rot="0">
            <a:off x="806291" y="5821775"/>
            <a:ext cx="5458778" cy="3448622"/>
          </a:xfrm>
          <a:custGeom>
            <a:avLst/>
            <a:gdLst/>
            <a:ahLst/>
            <a:cxnLst/>
            <a:rect r="r" b="b" t="t" l="l"/>
            <a:pathLst>
              <a:path h="3448622" w="5458778">
                <a:moveTo>
                  <a:pt x="0" y="0"/>
                </a:moveTo>
                <a:lnTo>
                  <a:pt x="5458778" y="0"/>
                </a:lnTo>
                <a:lnTo>
                  <a:pt x="5458778" y="3448622"/>
                </a:lnTo>
                <a:lnTo>
                  <a:pt x="0" y="34486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grpSp>
        <p:nvGrpSpPr>
          <p:cNvPr name="Group 108" id="108"/>
          <p:cNvGrpSpPr/>
          <p:nvPr/>
        </p:nvGrpSpPr>
        <p:grpSpPr>
          <a:xfrm rot="0">
            <a:off x="1051560" y="6067044"/>
            <a:ext cx="530352" cy="530352"/>
            <a:chOff x="0" y="0"/>
            <a:chExt cx="707136" cy="707136"/>
          </a:xfrm>
        </p:grpSpPr>
        <p:sp>
          <p:nvSpPr>
            <p:cNvPr name="Freeform 109" id="109"/>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110" id="110"/>
          <p:cNvGrpSpPr/>
          <p:nvPr/>
        </p:nvGrpSpPr>
        <p:grpSpPr>
          <a:xfrm rot="0">
            <a:off x="1051560" y="6045613"/>
            <a:ext cx="530352" cy="551783"/>
            <a:chOff x="0" y="0"/>
            <a:chExt cx="707136" cy="735711"/>
          </a:xfrm>
        </p:grpSpPr>
        <p:sp>
          <p:nvSpPr>
            <p:cNvPr name="Freeform 111" id="111"/>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112" id="112"/>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5</a:t>
              </a:r>
            </a:p>
          </p:txBody>
        </p:sp>
      </p:grpSp>
      <p:sp>
        <p:nvSpPr>
          <p:cNvPr name="TextBox 113" id="113"/>
          <p:cNvSpPr txBox="true"/>
          <p:nvPr/>
        </p:nvSpPr>
        <p:spPr>
          <a:xfrm rot="0">
            <a:off x="1719072" y="5971032"/>
            <a:ext cx="4373880" cy="484937"/>
          </a:xfrm>
          <a:prstGeom prst="rect">
            <a:avLst/>
          </a:prstGeom>
        </p:spPr>
        <p:txBody>
          <a:bodyPr anchor="t" rtlCol="false" tIns="0" lIns="0" bIns="0" rIns="0">
            <a:spAutoFit/>
          </a:bodyPr>
          <a:lstStyle/>
          <a:p>
            <a:pPr algn="l">
              <a:lnSpc>
                <a:spcPts val="2485"/>
              </a:lnSpc>
            </a:pPr>
            <a:r>
              <a:rPr lang="en-US" sz="1850" b="true">
                <a:solidFill>
                  <a:srgbClr val="0B5E6E"/>
                </a:solidFill>
                <a:latin typeface="Calibri (MS) Bold"/>
                <a:ea typeface="Calibri (MS) Bold"/>
                <a:cs typeface="Calibri (MS) Bold"/>
                <a:sym typeface="Calibri (MS) Bold"/>
              </a:rPr>
              <a:t>Regresi linear sederhana (OLS)</a:t>
            </a:r>
          </a:p>
        </p:txBody>
      </p:sp>
      <p:sp>
        <p:nvSpPr>
          <p:cNvPr name="TextBox 114" id="114"/>
          <p:cNvSpPr txBox="true"/>
          <p:nvPr/>
        </p:nvSpPr>
        <p:spPr>
          <a:xfrm rot="0">
            <a:off x="1051560" y="6639306"/>
            <a:ext cx="4968240" cy="696316"/>
          </a:xfrm>
          <a:prstGeom prst="rect">
            <a:avLst/>
          </a:prstGeom>
        </p:spPr>
        <p:txBody>
          <a:bodyPr anchor="t" rtlCol="false" tIns="0" lIns="0" bIns="0" rIns="0">
            <a:spAutoFit/>
          </a:bodyPr>
          <a:lstStyle/>
          <a:p>
            <a:pPr algn="l">
              <a:lnSpc>
                <a:spcPts val="2149"/>
              </a:lnSpc>
            </a:pPr>
            <a:r>
              <a:rPr lang="en-US" sz="1599">
                <a:solidFill>
                  <a:srgbClr val="14313B"/>
                </a:solidFill>
                <a:latin typeface="Calibri (MS)"/>
                <a:ea typeface="Calibri (MS)"/>
                <a:cs typeface="Calibri (MS)"/>
                <a:sym typeface="Calibri (MS)"/>
              </a:rPr>
              <a:t>NTL tahunan dipasangkan dengan ODTW BPS pada tahun yang datanya tersedia (2018–2024, n = 7).</a:t>
            </a:r>
          </a:p>
        </p:txBody>
      </p:sp>
      <p:grpSp>
        <p:nvGrpSpPr>
          <p:cNvPr name="Group 115" id="115"/>
          <p:cNvGrpSpPr/>
          <p:nvPr/>
        </p:nvGrpSpPr>
        <p:grpSpPr>
          <a:xfrm rot="0">
            <a:off x="987552" y="7408774"/>
            <a:ext cx="5096256" cy="942404"/>
            <a:chOff x="0" y="0"/>
            <a:chExt cx="6795008" cy="1256538"/>
          </a:xfrm>
        </p:grpSpPr>
        <p:sp>
          <p:nvSpPr>
            <p:cNvPr name="Freeform 116" id="116"/>
            <p:cNvSpPr/>
            <p:nvPr/>
          </p:nvSpPr>
          <p:spPr>
            <a:xfrm flipH="false" flipV="false" rot="0">
              <a:off x="0" y="0"/>
              <a:ext cx="6795008" cy="1256538"/>
            </a:xfrm>
            <a:custGeom>
              <a:avLst/>
              <a:gdLst/>
              <a:ahLst/>
              <a:cxnLst/>
              <a:rect r="r" b="b" t="t" l="l"/>
              <a:pathLst>
                <a:path h="1256538" w="6795008">
                  <a:moveTo>
                    <a:pt x="0" y="97536"/>
                  </a:moveTo>
                  <a:cubicBezTo>
                    <a:pt x="0" y="43688"/>
                    <a:pt x="43688" y="0"/>
                    <a:pt x="97536" y="0"/>
                  </a:cubicBezTo>
                  <a:lnTo>
                    <a:pt x="6697472" y="0"/>
                  </a:lnTo>
                  <a:cubicBezTo>
                    <a:pt x="6751320" y="0"/>
                    <a:pt x="6795008" y="43688"/>
                    <a:pt x="6795008" y="97536"/>
                  </a:cubicBezTo>
                  <a:lnTo>
                    <a:pt x="6795008" y="1159002"/>
                  </a:lnTo>
                  <a:cubicBezTo>
                    <a:pt x="6795008" y="1212850"/>
                    <a:pt x="6751320" y="1256538"/>
                    <a:pt x="6697472" y="1256538"/>
                  </a:cubicBezTo>
                  <a:lnTo>
                    <a:pt x="97536" y="1256538"/>
                  </a:lnTo>
                  <a:cubicBezTo>
                    <a:pt x="43688" y="1256538"/>
                    <a:pt x="0" y="1212977"/>
                    <a:pt x="0" y="1159002"/>
                  </a:cubicBezTo>
                  <a:close/>
                </a:path>
              </a:pathLst>
            </a:custGeom>
            <a:solidFill>
              <a:srgbClr val="FFF1BF"/>
            </a:solidFill>
          </p:spPr>
          <p:txBody>
            <a:bodyPr/>
            <a:p/>
          </p:txBody>
        </p:sp>
      </p:grpSp>
      <p:sp>
        <p:nvSpPr>
          <p:cNvPr name="TextBox 117" id="117"/>
          <p:cNvSpPr txBox="true"/>
          <p:nvPr/>
        </p:nvSpPr>
        <p:spPr>
          <a:xfrm rot="0">
            <a:off x="1124712" y="7452208"/>
            <a:ext cx="4693920" cy="816712"/>
          </a:xfrm>
          <a:prstGeom prst="rect">
            <a:avLst/>
          </a:prstGeom>
        </p:spPr>
        <p:txBody>
          <a:bodyPr anchor="t" rtlCol="false" tIns="0" lIns="0" bIns="0" rIns="0">
            <a:spAutoFit/>
          </a:bodyPr>
          <a:lstStyle/>
          <a:p>
            <a:pPr algn="l">
              <a:lnSpc>
                <a:spcPts val="2485"/>
              </a:lnSpc>
            </a:pPr>
            <a:r>
              <a:rPr lang="en-US" sz="1850" i="true">
                <a:solidFill>
                  <a:srgbClr val="14313B"/>
                </a:solidFill>
                <a:latin typeface="Cambria Italics"/>
                <a:ea typeface="Cambria Italics"/>
                <a:cs typeface="Cambria Italics"/>
                <a:sym typeface="Cambria Italics"/>
              </a:rPr>
              <a:t>ODTWₜ = a + b · NTLₜ</a:t>
            </a:r>
          </a:p>
          <a:p>
            <a:pPr algn="l">
              <a:lnSpc>
                <a:spcPts val="2485"/>
              </a:lnSpc>
            </a:pPr>
            <a:r>
              <a:rPr lang="en-US" sz="1850" i="true">
                <a:solidFill>
                  <a:srgbClr val="14313B"/>
                </a:solidFill>
                <a:latin typeface="Cambria Italics"/>
                <a:ea typeface="Cambria Italics"/>
                <a:cs typeface="Cambria Italics"/>
                <a:sym typeface="Cambria Italics"/>
              </a:rPr>
              <a:t>ODTW = 121,61 + 34,59 · NTL</a:t>
            </a:r>
          </a:p>
        </p:txBody>
      </p:sp>
      <p:sp>
        <p:nvSpPr>
          <p:cNvPr name="TextBox 118" id="118"/>
          <p:cNvSpPr txBox="true"/>
          <p:nvPr/>
        </p:nvSpPr>
        <p:spPr>
          <a:xfrm rot="0">
            <a:off x="1051560" y="8328355"/>
            <a:ext cx="4968240" cy="41666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a intersep, b kemiringan</a:t>
            </a:r>
          </a:p>
        </p:txBody>
      </p:sp>
      <p:sp>
        <p:nvSpPr>
          <p:cNvPr name="Freeform 119" id="119"/>
          <p:cNvSpPr/>
          <p:nvPr/>
        </p:nvSpPr>
        <p:spPr>
          <a:xfrm flipH="false" flipV="false" rot="0">
            <a:off x="6414611" y="5821775"/>
            <a:ext cx="5458778" cy="3448622"/>
          </a:xfrm>
          <a:custGeom>
            <a:avLst/>
            <a:gdLst/>
            <a:ahLst/>
            <a:cxnLst/>
            <a:rect r="r" b="b" t="t" l="l"/>
            <a:pathLst>
              <a:path h="3448622" w="5458778">
                <a:moveTo>
                  <a:pt x="0" y="0"/>
                </a:moveTo>
                <a:lnTo>
                  <a:pt x="5458778" y="0"/>
                </a:lnTo>
                <a:lnTo>
                  <a:pt x="5458778" y="3448622"/>
                </a:lnTo>
                <a:lnTo>
                  <a:pt x="0" y="34486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grpSp>
        <p:nvGrpSpPr>
          <p:cNvPr name="Group 120" id="120"/>
          <p:cNvGrpSpPr/>
          <p:nvPr/>
        </p:nvGrpSpPr>
        <p:grpSpPr>
          <a:xfrm rot="0">
            <a:off x="6659880" y="6067044"/>
            <a:ext cx="530352" cy="530352"/>
            <a:chOff x="0" y="0"/>
            <a:chExt cx="707136" cy="707136"/>
          </a:xfrm>
        </p:grpSpPr>
        <p:sp>
          <p:nvSpPr>
            <p:cNvPr name="Freeform 121" id="121"/>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122" id="122"/>
          <p:cNvGrpSpPr/>
          <p:nvPr/>
        </p:nvGrpSpPr>
        <p:grpSpPr>
          <a:xfrm rot="0">
            <a:off x="6659880" y="6045613"/>
            <a:ext cx="530352" cy="551783"/>
            <a:chOff x="0" y="0"/>
            <a:chExt cx="707136" cy="735711"/>
          </a:xfrm>
        </p:grpSpPr>
        <p:sp>
          <p:nvSpPr>
            <p:cNvPr name="Freeform 123" id="123"/>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124" id="124"/>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6</a:t>
              </a:r>
            </a:p>
          </p:txBody>
        </p:sp>
      </p:grpSp>
      <p:sp>
        <p:nvSpPr>
          <p:cNvPr name="TextBox 125" id="125"/>
          <p:cNvSpPr txBox="true"/>
          <p:nvPr/>
        </p:nvSpPr>
        <p:spPr>
          <a:xfrm rot="0">
            <a:off x="7327392" y="5971032"/>
            <a:ext cx="4373880" cy="484937"/>
          </a:xfrm>
          <a:prstGeom prst="rect">
            <a:avLst/>
          </a:prstGeom>
        </p:spPr>
        <p:txBody>
          <a:bodyPr anchor="t" rtlCol="false" tIns="0" lIns="0" bIns="0" rIns="0">
            <a:spAutoFit/>
          </a:bodyPr>
          <a:lstStyle/>
          <a:p>
            <a:pPr algn="l">
              <a:lnSpc>
                <a:spcPts val="2485"/>
              </a:lnSpc>
            </a:pPr>
            <a:r>
              <a:rPr lang="en-US" sz="1850" b="true">
                <a:solidFill>
                  <a:srgbClr val="0B5E6E"/>
                </a:solidFill>
                <a:latin typeface="Calibri (MS) Bold"/>
                <a:ea typeface="Calibri (MS) Bold"/>
                <a:cs typeface="Calibri (MS) Bold"/>
                <a:sym typeface="Calibri (MS) Bold"/>
              </a:rPr>
              <a:t>Uji kelayakan hasil estimasi</a:t>
            </a:r>
          </a:p>
        </p:txBody>
      </p:sp>
      <p:sp>
        <p:nvSpPr>
          <p:cNvPr name="TextBox 126" id="126"/>
          <p:cNvSpPr txBox="true"/>
          <p:nvPr/>
        </p:nvSpPr>
        <p:spPr>
          <a:xfrm rot="0">
            <a:off x="6659880" y="6639306"/>
            <a:ext cx="4968240" cy="969416"/>
          </a:xfrm>
          <a:prstGeom prst="rect">
            <a:avLst/>
          </a:prstGeom>
        </p:spPr>
        <p:txBody>
          <a:bodyPr anchor="t" rtlCol="false" tIns="0" lIns="0" bIns="0" rIns="0">
            <a:spAutoFit/>
          </a:bodyPr>
          <a:lstStyle/>
          <a:p>
            <a:pPr algn="l">
              <a:lnSpc>
                <a:spcPts val="2149"/>
              </a:lnSpc>
            </a:pPr>
            <a:r>
              <a:rPr lang="en-US" sz="1599">
                <a:solidFill>
                  <a:srgbClr val="14313B"/>
                </a:solidFill>
                <a:latin typeface="Calibri (MS)"/>
                <a:ea typeface="Calibri (MS)"/>
                <a:cs typeface="Calibri (MS)"/>
                <a:sym typeface="Calibri (MS)"/>
              </a:rPr>
              <a:t>Korelasi pada nilai level dan selisih tahunan (menghindari spurious regression karena tren yang sama), lalu LOOCV.</a:t>
            </a:r>
          </a:p>
        </p:txBody>
      </p:sp>
      <p:grpSp>
        <p:nvGrpSpPr>
          <p:cNvPr name="Group 127" id="127"/>
          <p:cNvGrpSpPr/>
          <p:nvPr/>
        </p:nvGrpSpPr>
        <p:grpSpPr>
          <a:xfrm rot="0">
            <a:off x="6595872" y="7681874"/>
            <a:ext cx="5096256" cy="942404"/>
            <a:chOff x="0" y="0"/>
            <a:chExt cx="6795008" cy="1256538"/>
          </a:xfrm>
        </p:grpSpPr>
        <p:sp>
          <p:nvSpPr>
            <p:cNvPr name="Freeform 128" id="128"/>
            <p:cNvSpPr/>
            <p:nvPr/>
          </p:nvSpPr>
          <p:spPr>
            <a:xfrm flipH="false" flipV="false" rot="0">
              <a:off x="0" y="0"/>
              <a:ext cx="6795008" cy="1256538"/>
            </a:xfrm>
            <a:custGeom>
              <a:avLst/>
              <a:gdLst/>
              <a:ahLst/>
              <a:cxnLst/>
              <a:rect r="r" b="b" t="t" l="l"/>
              <a:pathLst>
                <a:path h="1256538" w="6795008">
                  <a:moveTo>
                    <a:pt x="0" y="97536"/>
                  </a:moveTo>
                  <a:cubicBezTo>
                    <a:pt x="0" y="43688"/>
                    <a:pt x="43688" y="0"/>
                    <a:pt x="97536" y="0"/>
                  </a:cubicBezTo>
                  <a:lnTo>
                    <a:pt x="6697472" y="0"/>
                  </a:lnTo>
                  <a:cubicBezTo>
                    <a:pt x="6751320" y="0"/>
                    <a:pt x="6795008" y="43688"/>
                    <a:pt x="6795008" y="97536"/>
                  </a:cubicBezTo>
                  <a:lnTo>
                    <a:pt x="6795008" y="1159002"/>
                  </a:lnTo>
                  <a:cubicBezTo>
                    <a:pt x="6795008" y="1212850"/>
                    <a:pt x="6751320" y="1256538"/>
                    <a:pt x="6697472" y="1256538"/>
                  </a:cubicBezTo>
                  <a:lnTo>
                    <a:pt x="97536" y="1256538"/>
                  </a:lnTo>
                  <a:cubicBezTo>
                    <a:pt x="43688" y="1256538"/>
                    <a:pt x="0" y="1212977"/>
                    <a:pt x="0" y="1159002"/>
                  </a:cubicBezTo>
                  <a:close/>
                </a:path>
              </a:pathLst>
            </a:custGeom>
            <a:solidFill>
              <a:srgbClr val="FFF1BF"/>
            </a:solidFill>
          </p:spPr>
          <p:txBody>
            <a:bodyPr/>
            <a:p/>
          </p:txBody>
        </p:sp>
      </p:grpSp>
      <p:sp>
        <p:nvSpPr>
          <p:cNvPr name="TextBox 129" id="129"/>
          <p:cNvSpPr txBox="true"/>
          <p:nvPr/>
        </p:nvSpPr>
        <p:spPr>
          <a:xfrm rot="0">
            <a:off x="6733032" y="7725308"/>
            <a:ext cx="4693920" cy="816712"/>
          </a:xfrm>
          <a:prstGeom prst="rect">
            <a:avLst/>
          </a:prstGeom>
        </p:spPr>
        <p:txBody>
          <a:bodyPr anchor="t" rtlCol="false" tIns="0" lIns="0" bIns="0" rIns="0">
            <a:spAutoFit/>
          </a:bodyPr>
          <a:lstStyle/>
          <a:p>
            <a:pPr algn="l">
              <a:lnSpc>
                <a:spcPts val="2485"/>
              </a:lnSpc>
            </a:pPr>
            <a:r>
              <a:rPr lang="en-US" sz="1850" i="true">
                <a:solidFill>
                  <a:srgbClr val="14313B"/>
                </a:solidFill>
                <a:latin typeface="Cambria Italics"/>
                <a:ea typeface="Cambria Italics"/>
                <a:cs typeface="Cambria Italics"/>
                <a:sym typeface="Cambria Italics"/>
              </a:rPr>
              <a:t>R²(ΔNTL, ΔODTW) ≥ 0,30</a:t>
            </a:r>
          </a:p>
          <a:p>
            <a:pPr algn="l">
              <a:lnSpc>
                <a:spcPts val="2485"/>
              </a:lnSpc>
            </a:pPr>
            <a:r>
              <a:rPr lang="en-US" sz="1850" i="true">
                <a:solidFill>
                  <a:srgbClr val="14313B"/>
                </a:solidFill>
                <a:latin typeface="Cambria Italics"/>
                <a:ea typeface="Cambria Italics"/>
                <a:cs typeface="Cambria Italics"/>
                <a:sym typeface="Cambria Italics"/>
              </a:rPr>
              <a:t>RMSE relatif LOOCV ≤ 10%</a:t>
            </a:r>
          </a:p>
        </p:txBody>
      </p:sp>
      <p:sp>
        <p:nvSpPr>
          <p:cNvPr name="TextBox 130" id="130"/>
          <p:cNvSpPr txBox="true"/>
          <p:nvPr/>
        </p:nvSpPr>
        <p:spPr>
          <a:xfrm rot="0">
            <a:off x="6659880" y="8601456"/>
            <a:ext cx="4968240" cy="41666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Hasil: R² selisih 0,405 · RMSE relatif 5,99% → layak</a:t>
            </a:r>
          </a:p>
        </p:txBody>
      </p:sp>
      <p:sp>
        <p:nvSpPr>
          <p:cNvPr name="Freeform 131" id="131"/>
          <p:cNvSpPr/>
          <p:nvPr/>
        </p:nvSpPr>
        <p:spPr>
          <a:xfrm flipH="false" flipV="false" rot="0">
            <a:off x="12022931" y="5821775"/>
            <a:ext cx="5458778" cy="3448622"/>
          </a:xfrm>
          <a:custGeom>
            <a:avLst/>
            <a:gdLst/>
            <a:ahLst/>
            <a:cxnLst/>
            <a:rect r="r" b="b" t="t" l="l"/>
            <a:pathLst>
              <a:path h="3448622" w="5458778">
                <a:moveTo>
                  <a:pt x="0" y="0"/>
                </a:moveTo>
                <a:lnTo>
                  <a:pt x="5458778" y="0"/>
                </a:lnTo>
                <a:lnTo>
                  <a:pt x="5458778" y="3448622"/>
                </a:lnTo>
                <a:lnTo>
                  <a:pt x="0" y="34486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grpSp>
        <p:nvGrpSpPr>
          <p:cNvPr name="Group 132" id="132"/>
          <p:cNvGrpSpPr/>
          <p:nvPr/>
        </p:nvGrpSpPr>
        <p:grpSpPr>
          <a:xfrm rot="0">
            <a:off x="12268200" y="6067044"/>
            <a:ext cx="530352" cy="530352"/>
            <a:chOff x="0" y="0"/>
            <a:chExt cx="707136" cy="707136"/>
          </a:xfrm>
        </p:grpSpPr>
        <p:sp>
          <p:nvSpPr>
            <p:cNvPr name="Freeform 133" id="13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134" id="134"/>
          <p:cNvGrpSpPr/>
          <p:nvPr/>
        </p:nvGrpSpPr>
        <p:grpSpPr>
          <a:xfrm rot="0">
            <a:off x="12268200" y="6045613"/>
            <a:ext cx="530352" cy="551783"/>
            <a:chOff x="0" y="0"/>
            <a:chExt cx="707136" cy="735711"/>
          </a:xfrm>
        </p:grpSpPr>
        <p:sp>
          <p:nvSpPr>
            <p:cNvPr name="Freeform 135" id="135"/>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136" id="136"/>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7</a:t>
              </a:r>
            </a:p>
          </p:txBody>
        </p:sp>
      </p:grpSp>
      <p:sp>
        <p:nvSpPr>
          <p:cNvPr name="TextBox 137" id="137"/>
          <p:cNvSpPr txBox="true"/>
          <p:nvPr/>
        </p:nvSpPr>
        <p:spPr>
          <a:xfrm rot="0">
            <a:off x="12935712" y="5971032"/>
            <a:ext cx="4373880" cy="800710"/>
          </a:xfrm>
          <a:prstGeom prst="rect">
            <a:avLst/>
          </a:prstGeom>
        </p:spPr>
        <p:txBody>
          <a:bodyPr anchor="t" rtlCol="false" tIns="0" lIns="0" bIns="0" rIns="0">
            <a:spAutoFit/>
          </a:bodyPr>
          <a:lstStyle/>
          <a:p>
            <a:pPr algn="l">
              <a:lnSpc>
                <a:spcPts val="2485"/>
              </a:lnSpc>
            </a:pPr>
            <a:r>
              <a:rPr lang="en-US" sz="1850" b="true">
                <a:solidFill>
                  <a:srgbClr val="0B5E6E"/>
                </a:solidFill>
                <a:latin typeface="Calibri (MS) Bold"/>
                <a:ea typeface="Calibri (MS) Bold"/>
                <a:cs typeface="Calibri (MS) Bold"/>
                <a:sym typeface="Calibri (MS) Bold"/>
              </a:rPr>
              <a:t>Estimasi tahun kosong + selang prediksi</a:t>
            </a:r>
          </a:p>
        </p:txBody>
      </p:sp>
      <p:sp>
        <p:nvSpPr>
          <p:cNvPr name="TextBox 138" id="138"/>
          <p:cNvSpPr txBox="true"/>
          <p:nvPr/>
        </p:nvSpPr>
        <p:spPr>
          <a:xfrm rot="0">
            <a:off x="12268200" y="6777076"/>
            <a:ext cx="4968240" cy="696316"/>
          </a:xfrm>
          <a:prstGeom prst="rect">
            <a:avLst/>
          </a:prstGeom>
        </p:spPr>
        <p:txBody>
          <a:bodyPr anchor="t" rtlCol="false" tIns="0" lIns="0" bIns="0" rIns="0">
            <a:spAutoFit/>
          </a:bodyPr>
          <a:lstStyle/>
          <a:p>
            <a:pPr algn="l">
              <a:lnSpc>
                <a:spcPts val="2149"/>
              </a:lnSpc>
            </a:pPr>
            <a:r>
              <a:rPr lang="en-US" sz="1599">
                <a:solidFill>
                  <a:srgbClr val="14313B"/>
                </a:solidFill>
                <a:latin typeface="Calibri (MS)"/>
                <a:ea typeface="Calibri (MS)"/>
                <a:cs typeface="Calibri (MS)"/>
                <a:sym typeface="Calibri (MS)"/>
              </a:rPr>
              <a:t>Model final dilatih ulang pada ketujuh titik, lalu mengisi 2015–2017 dan 2025.</a:t>
            </a:r>
          </a:p>
        </p:txBody>
      </p:sp>
      <p:grpSp>
        <p:nvGrpSpPr>
          <p:cNvPr name="Group 139" id="139"/>
          <p:cNvGrpSpPr/>
          <p:nvPr/>
        </p:nvGrpSpPr>
        <p:grpSpPr>
          <a:xfrm rot="0">
            <a:off x="12204192" y="7546543"/>
            <a:ext cx="5096256" cy="887540"/>
            <a:chOff x="0" y="0"/>
            <a:chExt cx="6795008" cy="1183386"/>
          </a:xfrm>
        </p:grpSpPr>
        <p:sp>
          <p:nvSpPr>
            <p:cNvPr name="Freeform 140" id="140"/>
            <p:cNvSpPr/>
            <p:nvPr/>
          </p:nvSpPr>
          <p:spPr>
            <a:xfrm flipH="false" flipV="false" rot="0">
              <a:off x="0" y="0"/>
              <a:ext cx="6795008" cy="1183386"/>
            </a:xfrm>
            <a:custGeom>
              <a:avLst/>
              <a:gdLst/>
              <a:ahLst/>
              <a:cxnLst/>
              <a:rect r="r" b="b" t="t" l="l"/>
              <a:pathLst>
                <a:path h="1183386" w="6795008">
                  <a:moveTo>
                    <a:pt x="0" y="97536"/>
                  </a:moveTo>
                  <a:cubicBezTo>
                    <a:pt x="0" y="43688"/>
                    <a:pt x="43688" y="0"/>
                    <a:pt x="97536" y="0"/>
                  </a:cubicBezTo>
                  <a:lnTo>
                    <a:pt x="6697472" y="0"/>
                  </a:lnTo>
                  <a:cubicBezTo>
                    <a:pt x="6751320" y="0"/>
                    <a:pt x="6795008" y="43688"/>
                    <a:pt x="6795008" y="97536"/>
                  </a:cubicBezTo>
                  <a:lnTo>
                    <a:pt x="6795008" y="1085850"/>
                  </a:lnTo>
                  <a:cubicBezTo>
                    <a:pt x="6795008" y="1139698"/>
                    <a:pt x="6751320" y="1183386"/>
                    <a:pt x="6697472" y="1183386"/>
                  </a:cubicBezTo>
                  <a:lnTo>
                    <a:pt x="97536" y="1183386"/>
                  </a:lnTo>
                  <a:cubicBezTo>
                    <a:pt x="43688" y="1183386"/>
                    <a:pt x="0" y="1139825"/>
                    <a:pt x="0" y="1085850"/>
                  </a:cubicBezTo>
                  <a:close/>
                </a:path>
              </a:pathLst>
            </a:custGeom>
            <a:solidFill>
              <a:srgbClr val="FFF1BF"/>
            </a:solidFill>
          </p:spPr>
          <p:txBody>
            <a:bodyPr/>
            <a:p/>
          </p:txBody>
        </p:sp>
      </p:grpSp>
      <p:sp>
        <p:nvSpPr>
          <p:cNvPr name="TextBox 141" id="141"/>
          <p:cNvSpPr txBox="true"/>
          <p:nvPr/>
        </p:nvSpPr>
        <p:spPr>
          <a:xfrm rot="0">
            <a:off x="12341352" y="7589977"/>
            <a:ext cx="4693920" cy="761848"/>
          </a:xfrm>
          <a:prstGeom prst="rect">
            <a:avLst/>
          </a:prstGeom>
        </p:spPr>
        <p:txBody>
          <a:bodyPr anchor="t" rtlCol="false" tIns="0" lIns="0" bIns="0" rIns="0">
            <a:spAutoFit/>
          </a:bodyPr>
          <a:lstStyle/>
          <a:p>
            <a:pPr algn="l">
              <a:lnSpc>
                <a:spcPts val="2485"/>
              </a:lnSpc>
            </a:pPr>
            <a:r>
              <a:rPr lang="en-US" sz="1850" i="true">
                <a:solidFill>
                  <a:srgbClr val="14313B"/>
                </a:solidFill>
                <a:latin typeface="Cambria Italics"/>
                <a:ea typeface="Cambria Italics"/>
                <a:cs typeface="Cambria Italics"/>
                <a:sym typeface="Cambria Italics"/>
              </a:rPr>
              <a:t>ŷ₀ ± t₀,₉₇₅; ₙ₋₂ · s · √[1 + 1/n + (x₀ − x̄)² / Sₓₓ]</a:t>
            </a:r>
          </a:p>
        </p:txBody>
      </p:sp>
      <p:sp>
        <p:nvSpPr>
          <p:cNvPr name="TextBox 142" id="142"/>
          <p:cNvSpPr txBox="true"/>
          <p:nvPr/>
        </p:nvSpPr>
        <p:spPr>
          <a:xfrm rot="0">
            <a:off x="12268200" y="8411261"/>
            <a:ext cx="4968240" cy="41666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2025: 200,7 (176,7–224,8) → stok awal ODTW 201 unit</a:t>
            </a:r>
          </a:p>
        </p:txBody>
      </p:sp>
      <p:grpSp>
        <p:nvGrpSpPr>
          <p:cNvPr name="Group 143" id="143"/>
          <p:cNvGrpSpPr/>
          <p:nvPr/>
        </p:nvGrpSpPr>
        <p:grpSpPr>
          <a:xfrm rot="0">
            <a:off x="12755880" y="274320"/>
            <a:ext cx="3931920" cy="411480"/>
            <a:chOff x="0" y="0"/>
            <a:chExt cx="5242560" cy="548640"/>
          </a:xfrm>
        </p:grpSpPr>
        <p:sp>
          <p:nvSpPr>
            <p:cNvPr name="Freeform 144" id="144"/>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45" id="145"/>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grpSp>
        <p:nvGrpSpPr>
          <p:cNvPr name="Group 146" id="146"/>
          <p:cNvGrpSpPr/>
          <p:nvPr/>
        </p:nvGrpSpPr>
        <p:grpSpPr>
          <a:xfrm rot="0">
            <a:off x="16047720" y="9646920"/>
            <a:ext cx="420624" cy="420624"/>
            <a:chOff x="0" y="0"/>
            <a:chExt cx="560832" cy="560832"/>
          </a:xfrm>
        </p:grpSpPr>
        <p:sp>
          <p:nvSpPr>
            <p:cNvPr name="Freeform 147" id="147"/>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48" id="148"/>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0010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Validasi dan Evaluasi Kelayakan Data Citra</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Ukuran yang dipakai untuk menilai kelayakan NTL dan Dynamic World</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27</a:t>
            </a:r>
          </a:p>
        </p:txBody>
      </p:sp>
      <p:grpSp>
        <p:nvGrpSpPr>
          <p:cNvPr name="Group 67" id="67"/>
          <p:cNvGrpSpPr/>
          <p:nvPr/>
        </p:nvGrpSpPr>
        <p:grpSpPr>
          <a:xfrm rot="0">
            <a:off x="822960" y="2240280"/>
            <a:ext cx="8183880" cy="566928"/>
            <a:chOff x="0" y="0"/>
            <a:chExt cx="10911840" cy="755904"/>
          </a:xfrm>
        </p:grpSpPr>
        <p:sp>
          <p:nvSpPr>
            <p:cNvPr name="Freeform 68" id="68"/>
            <p:cNvSpPr/>
            <p:nvPr/>
          </p:nvSpPr>
          <p:spPr>
            <a:xfrm flipH="false" flipV="false" rot="0">
              <a:off x="0" y="0"/>
              <a:ext cx="10911840" cy="755904"/>
            </a:xfrm>
            <a:custGeom>
              <a:avLst/>
              <a:gdLst/>
              <a:ahLst/>
              <a:cxnLst/>
              <a:rect r="r" b="b" t="t" l="l"/>
              <a:pathLst>
                <a:path h="755904" w="10911840">
                  <a:moveTo>
                    <a:pt x="0" y="121920"/>
                  </a:moveTo>
                  <a:cubicBezTo>
                    <a:pt x="0" y="54610"/>
                    <a:pt x="54610" y="0"/>
                    <a:pt x="121920" y="0"/>
                  </a:cubicBezTo>
                  <a:lnTo>
                    <a:pt x="10789920" y="0"/>
                  </a:lnTo>
                  <a:cubicBezTo>
                    <a:pt x="10857230" y="0"/>
                    <a:pt x="10911840" y="54610"/>
                    <a:pt x="10911840" y="121920"/>
                  </a:cubicBezTo>
                  <a:lnTo>
                    <a:pt x="10911840" y="633984"/>
                  </a:lnTo>
                  <a:cubicBezTo>
                    <a:pt x="10911840" y="701294"/>
                    <a:pt x="10857230" y="755904"/>
                    <a:pt x="10789920" y="755904"/>
                  </a:cubicBezTo>
                  <a:lnTo>
                    <a:pt x="121920" y="755904"/>
                  </a:lnTo>
                  <a:cubicBezTo>
                    <a:pt x="54610" y="755904"/>
                    <a:pt x="0" y="701294"/>
                    <a:pt x="0" y="633984"/>
                  </a:cubicBezTo>
                  <a:close/>
                </a:path>
              </a:pathLst>
            </a:custGeom>
            <a:solidFill>
              <a:srgbClr val="0B5E6E"/>
            </a:solidFill>
          </p:spPr>
          <p:txBody>
            <a:bodyPr/>
            <a:p/>
          </p:txBody>
        </p:sp>
      </p:grpSp>
      <p:grpSp>
        <p:nvGrpSpPr>
          <p:cNvPr name="Group 69" id="69"/>
          <p:cNvGrpSpPr/>
          <p:nvPr/>
        </p:nvGrpSpPr>
        <p:grpSpPr>
          <a:xfrm rot="0">
            <a:off x="822960" y="2240280"/>
            <a:ext cx="8183880" cy="566928"/>
            <a:chOff x="0" y="0"/>
            <a:chExt cx="10911840" cy="755904"/>
          </a:xfrm>
        </p:grpSpPr>
        <p:sp>
          <p:nvSpPr>
            <p:cNvPr name="Freeform 70" id="70"/>
            <p:cNvSpPr/>
            <p:nvPr/>
          </p:nvSpPr>
          <p:spPr>
            <a:xfrm flipH="false" flipV="false" rot="0">
              <a:off x="0" y="0"/>
              <a:ext cx="10911840" cy="755904"/>
            </a:xfrm>
            <a:custGeom>
              <a:avLst/>
              <a:gdLst/>
              <a:ahLst/>
              <a:cxnLst/>
              <a:rect r="r" b="b" t="t" l="l"/>
              <a:pathLst>
                <a:path h="755904" w="10911840">
                  <a:moveTo>
                    <a:pt x="0" y="0"/>
                  </a:moveTo>
                  <a:lnTo>
                    <a:pt x="10911840" y="0"/>
                  </a:lnTo>
                  <a:lnTo>
                    <a:pt x="10911840" y="755904"/>
                  </a:lnTo>
                  <a:lnTo>
                    <a:pt x="0" y="755904"/>
                  </a:lnTo>
                  <a:close/>
                </a:path>
              </a:pathLst>
            </a:custGeom>
            <a:blipFill>
              <a:blip r:embed="rId5">
                <a:alphaModFix amt="0"/>
              </a:blip>
              <a:stretch>
                <a:fillRect l="0" t="-231080" r="0" b="-231080"/>
              </a:stretch>
            </a:blipFill>
          </p:spPr>
          <p:txBody>
            <a:bodyPr/>
            <a:p/>
          </p:txBody>
        </p:sp>
      </p:grpSp>
      <p:grpSp>
        <p:nvGrpSpPr>
          <p:cNvPr name="Group 71" id="71"/>
          <p:cNvGrpSpPr/>
          <p:nvPr/>
        </p:nvGrpSpPr>
        <p:grpSpPr>
          <a:xfrm rot="0">
            <a:off x="822960" y="2190274"/>
            <a:ext cx="8183880" cy="616934"/>
            <a:chOff x="0" y="0"/>
            <a:chExt cx="10911840" cy="822579"/>
          </a:xfrm>
        </p:grpSpPr>
        <p:sp>
          <p:nvSpPr>
            <p:cNvPr name="Freeform 72" id="72"/>
            <p:cNvSpPr/>
            <p:nvPr/>
          </p:nvSpPr>
          <p:spPr>
            <a:xfrm flipH="false" flipV="false" rot="0">
              <a:off x="0" y="0"/>
              <a:ext cx="10911840" cy="822579"/>
            </a:xfrm>
            <a:custGeom>
              <a:avLst/>
              <a:gdLst/>
              <a:ahLst/>
              <a:cxnLst/>
              <a:rect r="r" b="b" t="t" l="l"/>
              <a:pathLst>
                <a:path h="822579" w="10911840">
                  <a:moveTo>
                    <a:pt x="0" y="0"/>
                  </a:moveTo>
                  <a:lnTo>
                    <a:pt x="10911840" y="0"/>
                  </a:lnTo>
                  <a:lnTo>
                    <a:pt x="10911840" y="822579"/>
                  </a:lnTo>
                  <a:lnTo>
                    <a:pt x="0" y="822579"/>
                  </a:lnTo>
                  <a:close/>
                </a:path>
              </a:pathLst>
            </a:custGeom>
            <a:blipFill>
              <a:blip r:embed="rId6">
                <a:alphaModFix amt="0"/>
              </a:blip>
              <a:stretch>
                <a:fillRect l="0" t="-208476" r="0" b="-208476"/>
              </a:stretch>
            </a:blipFill>
          </p:spPr>
          <p:txBody>
            <a:bodyPr/>
            <a:p/>
          </p:txBody>
        </p:sp>
        <p:sp>
          <p:nvSpPr>
            <p:cNvPr name="TextBox 73" id="73"/>
            <p:cNvSpPr txBox="true"/>
            <p:nvPr/>
          </p:nvSpPr>
          <p:spPr>
            <a:xfrm>
              <a:off x="0" y="-66675"/>
              <a:ext cx="10911840" cy="889254"/>
            </a:xfrm>
            <a:prstGeom prst="rect">
              <a:avLst/>
            </a:prstGeom>
          </p:spPr>
          <p:txBody>
            <a:bodyPr anchor="ctr" rtlCol="false" tIns="0" lIns="0" bIns="0" rIns="0"/>
            <a:lstStyle/>
            <a:p>
              <a:pPr algn="ctr">
                <a:lnSpc>
                  <a:spcPts val="2419"/>
                </a:lnSpc>
              </a:pPr>
              <a:r>
                <a:rPr lang="en-US" sz="1800" b="true">
                  <a:solidFill>
                    <a:srgbClr val="FFFFFF"/>
                  </a:solidFill>
                  <a:latin typeface="Calibri (MS) Bold"/>
                  <a:ea typeface="Calibri (MS) Bold"/>
                  <a:cs typeface="Calibri (MS) Bold"/>
                  <a:sym typeface="Calibri (MS) Bold"/>
                </a:rPr>
                <a:t>NTL VIIRS → estimasi jumlah ODTW</a:t>
              </a:r>
            </a:p>
          </p:txBody>
        </p:sp>
      </p:grpSp>
      <p:grpSp>
        <p:nvGrpSpPr>
          <p:cNvPr name="Group 74" id="74"/>
          <p:cNvGrpSpPr/>
          <p:nvPr/>
        </p:nvGrpSpPr>
        <p:grpSpPr>
          <a:xfrm rot="0">
            <a:off x="822960" y="2926080"/>
            <a:ext cx="8183880" cy="1485900"/>
            <a:chOff x="0" y="0"/>
            <a:chExt cx="10911840" cy="1981200"/>
          </a:xfrm>
        </p:grpSpPr>
        <p:sp>
          <p:nvSpPr>
            <p:cNvPr name="Freeform 75" id="75"/>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txBody>
            <a:bodyPr/>
            <a:p/>
          </p:txBody>
        </p:sp>
      </p:grpSp>
      <p:sp>
        <p:nvSpPr>
          <p:cNvPr name="TextBox 76" id="76"/>
          <p:cNvSpPr txBox="true"/>
          <p:nvPr/>
        </p:nvSpPr>
        <p:spPr>
          <a:xfrm rot="0">
            <a:off x="1051560" y="2959608"/>
            <a:ext cx="7726680" cy="4419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Korelasi Pearson (level dan selisih tahunan)</a:t>
            </a:r>
          </a:p>
        </p:txBody>
      </p:sp>
      <p:sp>
        <p:nvSpPr>
          <p:cNvPr name="TextBox 77" id="77"/>
          <p:cNvSpPr txBox="true"/>
          <p:nvPr/>
        </p:nvSpPr>
        <p:spPr>
          <a:xfrm rot="0">
            <a:off x="1051560" y="3352800"/>
            <a:ext cx="7726680" cy="4236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r = Σ(xᵢ − x̄)(yᵢ − ȳ) / √[Σ(xᵢ − x̄)² · Σ(yᵢ − ȳ)²]</a:t>
            </a:r>
          </a:p>
        </p:txBody>
      </p:sp>
      <p:sp>
        <p:nvSpPr>
          <p:cNvPr name="TextBox 78" id="78"/>
          <p:cNvSpPr txBox="true"/>
          <p:nvPr/>
        </p:nvSpPr>
        <p:spPr>
          <a:xfrm rot="0">
            <a:off x="1051560" y="3691128"/>
            <a:ext cx="7726680" cy="4236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Δxₜ = xₜ − xₜ₋₁ ;  layak bila R²(selisih) ≥ 0,30</a:t>
            </a:r>
          </a:p>
        </p:txBody>
      </p:sp>
      <p:sp>
        <p:nvSpPr>
          <p:cNvPr name="TextBox 79" id="79"/>
          <p:cNvSpPr txBox="true"/>
          <p:nvPr/>
        </p:nvSpPr>
        <p:spPr>
          <a:xfrm rot="0">
            <a:off x="1051560" y="4028694"/>
            <a:ext cx="7726680" cy="372008"/>
          </a:xfrm>
          <a:prstGeom prst="rect">
            <a:avLst/>
          </a:prstGeom>
        </p:spPr>
        <p:txBody>
          <a:bodyPr anchor="t" rtlCol="false" tIns="0" lIns="0" bIns="0" rIns="0">
            <a:spAutoFit/>
          </a:bodyPr>
          <a:lstStyle/>
          <a:p>
            <a:pPr algn="l">
              <a:lnSpc>
                <a:spcPts val="1746"/>
              </a:lnSpc>
            </a:pPr>
            <a:r>
              <a:rPr lang="en-US" sz="1299">
                <a:solidFill>
                  <a:srgbClr val="5E6E78"/>
                </a:solidFill>
                <a:latin typeface="Calibri (MS)"/>
                <a:ea typeface="Calibri (MS)"/>
                <a:cs typeface="Calibri (MS)"/>
                <a:sym typeface="Calibri (MS)"/>
              </a:rPr>
              <a:t>Hasil: R² selisih 0,405 (level 0,785 — sebagian dibentuk tren waktu bersama)</a:t>
            </a:r>
          </a:p>
        </p:txBody>
      </p:sp>
      <p:grpSp>
        <p:nvGrpSpPr>
          <p:cNvPr name="Group 80" id="80"/>
          <p:cNvGrpSpPr/>
          <p:nvPr/>
        </p:nvGrpSpPr>
        <p:grpSpPr>
          <a:xfrm rot="0">
            <a:off x="822960" y="4539996"/>
            <a:ext cx="8183880" cy="1485900"/>
            <a:chOff x="0" y="0"/>
            <a:chExt cx="10911840" cy="1981200"/>
          </a:xfrm>
        </p:grpSpPr>
        <p:sp>
          <p:nvSpPr>
            <p:cNvPr name="Freeform 81" id="81"/>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txBody>
            <a:bodyPr/>
            <a:p/>
          </p:txBody>
        </p:sp>
      </p:grpSp>
      <p:sp>
        <p:nvSpPr>
          <p:cNvPr name="TextBox 82" id="82"/>
          <p:cNvSpPr txBox="true"/>
          <p:nvPr/>
        </p:nvSpPr>
        <p:spPr>
          <a:xfrm rot="0">
            <a:off x="1051560" y="4573524"/>
            <a:ext cx="7726680" cy="4419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Leave-one-out cross-validation (k = 7 iterasi)</a:t>
            </a:r>
          </a:p>
        </p:txBody>
      </p:sp>
      <p:sp>
        <p:nvSpPr>
          <p:cNvPr name="TextBox 83" id="83"/>
          <p:cNvSpPr txBox="true"/>
          <p:nvPr/>
        </p:nvSpPr>
        <p:spPr>
          <a:xfrm rot="0">
            <a:off x="1051560" y="4966716"/>
            <a:ext cx="7726680" cy="4236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RMSE = √[(1/k) · Σᵢ (ŷ₋ᵢ − yᵢ)²]</a:t>
            </a:r>
          </a:p>
        </p:txBody>
      </p:sp>
      <p:sp>
        <p:nvSpPr>
          <p:cNvPr name="TextBox 84" id="84"/>
          <p:cNvSpPr txBox="true"/>
          <p:nvPr/>
        </p:nvSpPr>
        <p:spPr>
          <a:xfrm rot="0">
            <a:off x="1051560" y="5305044"/>
            <a:ext cx="7726680" cy="4236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RMSE relatif = RMSE / ȳ × 100% ≤ 10%</a:t>
            </a:r>
          </a:p>
        </p:txBody>
      </p:sp>
      <p:sp>
        <p:nvSpPr>
          <p:cNvPr name="TextBox 85" id="85"/>
          <p:cNvSpPr txBox="true"/>
          <p:nvPr/>
        </p:nvSpPr>
        <p:spPr>
          <a:xfrm rot="0">
            <a:off x="1051560" y="5642610"/>
            <a:ext cx="7726680" cy="372008"/>
          </a:xfrm>
          <a:prstGeom prst="rect">
            <a:avLst/>
          </a:prstGeom>
        </p:spPr>
        <p:txBody>
          <a:bodyPr anchor="t" rtlCol="false" tIns="0" lIns="0" bIns="0" rIns="0">
            <a:spAutoFit/>
          </a:bodyPr>
          <a:lstStyle/>
          <a:p>
            <a:pPr algn="l">
              <a:lnSpc>
                <a:spcPts val="1746"/>
              </a:lnSpc>
            </a:pPr>
            <a:r>
              <a:rPr lang="en-US" sz="1299">
                <a:solidFill>
                  <a:srgbClr val="5E6E78"/>
                </a:solidFill>
                <a:latin typeface="Calibri (MS)"/>
                <a:ea typeface="Calibri (MS)"/>
                <a:cs typeface="Calibri (MS)"/>
                <a:sym typeface="Calibri (MS)"/>
              </a:rPr>
              <a:t>ŷ₋ᵢ prediksi tahun i dari model tanpa tahun i. Hasil: 5,99% → layak</a:t>
            </a:r>
          </a:p>
        </p:txBody>
      </p:sp>
      <p:grpSp>
        <p:nvGrpSpPr>
          <p:cNvPr name="Group 86" id="86"/>
          <p:cNvGrpSpPr/>
          <p:nvPr/>
        </p:nvGrpSpPr>
        <p:grpSpPr>
          <a:xfrm rot="0">
            <a:off x="822960" y="6153912"/>
            <a:ext cx="8183880" cy="1485900"/>
            <a:chOff x="0" y="0"/>
            <a:chExt cx="10911840" cy="1981200"/>
          </a:xfrm>
        </p:grpSpPr>
        <p:sp>
          <p:nvSpPr>
            <p:cNvPr name="Freeform 87" id="87"/>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txBody>
            <a:bodyPr/>
            <a:p/>
          </p:txBody>
        </p:sp>
      </p:grpSp>
      <p:sp>
        <p:nvSpPr>
          <p:cNvPr name="TextBox 88" id="88"/>
          <p:cNvSpPr txBox="true"/>
          <p:nvPr/>
        </p:nvSpPr>
        <p:spPr>
          <a:xfrm rot="0">
            <a:off x="1051560" y="6187440"/>
            <a:ext cx="7726680" cy="4419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Selang prediksi 95% pada tahun estimasi</a:t>
            </a:r>
          </a:p>
        </p:txBody>
      </p:sp>
      <p:sp>
        <p:nvSpPr>
          <p:cNvPr name="TextBox 89" id="89"/>
          <p:cNvSpPr txBox="true"/>
          <p:nvPr/>
        </p:nvSpPr>
        <p:spPr>
          <a:xfrm rot="0">
            <a:off x="1051560" y="6580632"/>
            <a:ext cx="7726680" cy="4236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ŷ₀ ± t₀,₉₇₅; ₙ₋₂ · s · √[1 + 1/n + (x₀ − x̄)² / Sₓₓ]</a:t>
            </a:r>
          </a:p>
        </p:txBody>
      </p:sp>
      <p:sp>
        <p:nvSpPr>
          <p:cNvPr name="TextBox 90" id="90"/>
          <p:cNvSpPr txBox="true"/>
          <p:nvPr/>
        </p:nvSpPr>
        <p:spPr>
          <a:xfrm rot="0">
            <a:off x="1051560" y="6918198"/>
            <a:ext cx="7726680" cy="593903"/>
          </a:xfrm>
          <a:prstGeom prst="rect">
            <a:avLst/>
          </a:prstGeom>
        </p:spPr>
        <p:txBody>
          <a:bodyPr anchor="t" rtlCol="false" tIns="0" lIns="0" bIns="0" rIns="0">
            <a:spAutoFit/>
          </a:bodyPr>
          <a:lstStyle/>
          <a:p>
            <a:pPr algn="l">
              <a:lnSpc>
                <a:spcPts val="1746"/>
              </a:lnSpc>
            </a:pPr>
            <a:r>
              <a:rPr lang="en-US" sz="1299">
                <a:solidFill>
                  <a:srgbClr val="5E6E78"/>
                </a:solidFill>
                <a:latin typeface="Calibri (MS)"/>
                <a:ea typeface="Calibri (MS)"/>
                <a:cs typeface="Calibri (MS)"/>
                <a:sym typeface="Calibri (MS)"/>
              </a:rPr>
              <a:t>s standard error residual; Sₓₓ jumlah kuadrat simpangan NTL. 2016 paling lebar (≈ 58 unit) karena di luar rentang data latih</a:t>
            </a:r>
          </a:p>
        </p:txBody>
      </p:sp>
      <p:grpSp>
        <p:nvGrpSpPr>
          <p:cNvPr name="Group 91" id="91"/>
          <p:cNvGrpSpPr/>
          <p:nvPr/>
        </p:nvGrpSpPr>
        <p:grpSpPr>
          <a:xfrm rot="0">
            <a:off x="822960" y="7767828"/>
            <a:ext cx="8183880" cy="1485900"/>
            <a:chOff x="0" y="0"/>
            <a:chExt cx="10911840" cy="1981200"/>
          </a:xfrm>
        </p:grpSpPr>
        <p:sp>
          <p:nvSpPr>
            <p:cNvPr name="Freeform 92" id="92"/>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txBody>
            <a:bodyPr/>
            <a:p/>
          </p:txBody>
        </p:sp>
      </p:grpSp>
      <p:sp>
        <p:nvSpPr>
          <p:cNvPr name="TextBox 93" id="93"/>
          <p:cNvSpPr txBox="true"/>
          <p:nvPr/>
        </p:nvSpPr>
        <p:spPr>
          <a:xfrm rot="0">
            <a:off x="1051560" y="7801356"/>
            <a:ext cx="7726680" cy="4419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Validasi temporal dan spasial</a:t>
            </a:r>
          </a:p>
        </p:txBody>
      </p:sp>
      <p:sp>
        <p:nvSpPr>
          <p:cNvPr name="TextBox 94" id="94"/>
          <p:cNvSpPr txBox="true"/>
          <p:nvPr/>
        </p:nvSpPr>
        <p:spPr>
          <a:xfrm rot="0">
            <a:off x="1051560" y="8193786"/>
            <a:ext cx="7726680" cy="593903"/>
          </a:xfrm>
          <a:prstGeom prst="rect">
            <a:avLst/>
          </a:prstGeom>
        </p:spPr>
        <p:txBody>
          <a:bodyPr anchor="t" rtlCol="false" tIns="0" lIns="0" bIns="0" rIns="0">
            <a:spAutoFit/>
          </a:bodyPr>
          <a:lstStyle/>
          <a:p>
            <a:pPr algn="l">
              <a:lnSpc>
                <a:spcPts val="1746"/>
              </a:lnSpc>
            </a:pPr>
            <a:r>
              <a:rPr lang="en-US" sz="1299">
                <a:solidFill>
                  <a:srgbClr val="5E6E78"/>
                </a:solidFill>
                <a:latin typeface="Calibri (MS)"/>
                <a:ea typeface="Calibri (MS)"/>
                <a:cs typeface="Calibri (MS)"/>
                <a:sym typeface="Calibri (MS)"/>
              </a:rPr>
              <a:t>Seri NTL vs ODTW BPS disandingkan (searah 2018–2024); NTL titik sampel dibandingkan basemap: Malioboro–Keraton 37,376 · Kotagede 12,631 · TN Merapi 0,959</a:t>
            </a:r>
          </a:p>
        </p:txBody>
      </p:sp>
      <p:grpSp>
        <p:nvGrpSpPr>
          <p:cNvPr name="Group 95" id="95"/>
          <p:cNvGrpSpPr/>
          <p:nvPr/>
        </p:nvGrpSpPr>
        <p:grpSpPr>
          <a:xfrm rot="0">
            <a:off x="9281160" y="2240280"/>
            <a:ext cx="8183880" cy="566928"/>
            <a:chOff x="0" y="0"/>
            <a:chExt cx="10911840" cy="755904"/>
          </a:xfrm>
        </p:grpSpPr>
        <p:sp>
          <p:nvSpPr>
            <p:cNvPr name="Freeform 96" id="96"/>
            <p:cNvSpPr/>
            <p:nvPr/>
          </p:nvSpPr>
          <p:spPr>
            <a:xfrm flipH="false" flipV="false" rot="0">
              <a:off x="0" y="0"/>
              <a:ext cx="10911840" cy="755904"/>
            </a:xfrm>
            <a:custGeom>
              <a:avLst/>
              <a:gdLst/>
              <a:ahLst/>
              <a:cxnLst/>
              <a:rect r="r" b="b" t="t" l="l"/>
              <a:pathLst>
                <a:path h="755904" w="10911840">
                  <a:moveTo>
                    <a:pt x="0" y="121920"/>
                  </a:moveTo>
                  <a:cubicBezTo>
                    <a:pt x="0" y="54610"/>
                    <a:pt x="54610" y="0"/>
                    <a:pt x="121920" y="0"/>
                  </a:cubicBezTo>
                  <a:lnTo>
                    <a:pt x="10789920" y="0"/>
                  </a:lnTo>
                  <a:cubicBezTo>
                    <a:pt x="10857230" y="0"/>
                    <a:pt x="10911840" y="54610"/>
                    <a:pt x="10911840" y="121920"/>
                  </a:cubicBezTo>
                  <a:lnTo>
                    <a:pt x="10911840" y="633984"/>
                  </a:lnTo>
                  <a:cubicBezTo>
                    <a:pt x="10911840" y="701294"/>
                    <a:pt x="10857230" y="755904"/>
                    <a:pt x="10789920" y="755904"/>
                  </a:cubicBezTo>
                  <a:lnTo>
                    <a:pt x="121920" y="755904"/>
                  </a:lnTo>
                  <a:cubicBezTo>
                    <a:pt x="54610" y="755904"/>
                    <a:pt x="0" y="701294"/>
                    <a:pt x="0" y="633984"/>
                  </a:cubicBezTo>
                  <a:close/>
                </a:path>
              </a:pathLst>
            </a:custGeom>
            <a:solidFill>
              <a:srgbClr val="39C0D3"/>
            </a:solidFill>
          </p:spPr>
          <p:txBody>
            <a:bodyPr/>
            <a:p/>
          </p:txBody>
        </p:sp>
      </p:grpSp>
      <p:grpSp>
        <p:nvGrpSpPr>
          <p:cNvPr name="Group 97" id="97"/>
          <p:cNvGrpSpPr/>
          <p:nvPr/>
        </p:nvGrpSpPr>
        <p:grpSpPr>
          <a:xfrm rot="0">
            <a:off x="9281160" y="2240280"/>
            <a:ext cx="8183880" cy="566928"/>
            <a:chOff x="0" y="0"/>
            <a:chExt cx="10911840" cy="755904"/>
          </a:xfrm>
        </p:grpSpPr>
        <p:sp>
          <p:nvSpPr>
            <p:cNvPr name="Freeform 98" id="98"/>
            <p:cNvSpPr/>
            <p:nvPr/>
          </p:nvSpPr>
          <p:spPr>
            <a:xfrm flipH="false" flipV="false" rot="0">
              <a:off x="0" y="0"/>
              <a:ext cx="10911840" cy="755904"/>
            </a:xfrm>
            <a:custGeom>
              <a:avLst/>
              <a:gdLst/>
              <a:ahLst/>
              <a:cxnLst/>
              <a:rect r="r" b="b" t="t" l="l"/>
              <a:pathLst>
                <a:path h="755904" w="10911840">
                  <a:moveTo>
                    <a:pt x="0" y="0"/>
                  </a:moveTo>
                  <a:lnTo>
                    <a:pt x="10911840" y="0"/>
                  </a:lnTo>
                  <a:lnTo>
                    <a:pt x="10911840" y="755904"/>
                  </a:lnTo>
                  <a:lnTo>
                    <a:pt x="0" y="755904"/>
                  </a:lnTo>
                  <a:close/>
                </a:path>
              </a:pathLst>
            </a:custGeom>
            <a:blipFill>
              <a:blip r:embed="rId5">
                <a:alphaModFix amt="0"/>
              </a:blip>
              <a:stretch>
                <a:fillRect l="0" t="-231080" r="0" b="-231080"/>
              </a:stretch>
            </a:blipFill>
          </p:spPr>
          <p:txBody>
            <a:bodyPr/>
            <a:p/>
          </p:txBody>
        </p:sp>
      </p:grpSp>
      <p:grpSp>
        <p:nvGrpSpPr>
          <p:cNvPr name="Group 99" id="99"/>
          <p:cNvGrpSpPr/>
          <p:nvPr/>
        </p:nvGrpSpPr>
        <p:grpSpPr>
          <a:xfrm rot="0">
            <a:off x="9281160" y="2190274"/>
            <a:ext cx="8183880" cy="616934"/>
            <a:chOff x="0" y="0"/>
            <a:chExt cx="10911840" cy="822579"/>
          </a:xfrm>
        </p:grpSpPr>
        <p:sp>
          <p:nvSpPr>
            <p:cNvPr name="Freeform 100" id="100"/>
            <p:cNvSpPr/>
            <p:nvPr/>
          </p:nvSpPr>
          <p:spPr>
            <a:xfrm flipH="false" flipV="false" rot="0">
              <a:off x="0" y="0"/>
              <a:ext cx="10911840" cy="822579"/>
            </a:xfrm>
            <a:custGeom>
              <a:avLst/>
              <a:gdLst/>
              <a:ahLst/>
              <a:cxnLst/>
              <a:rect r="r" b="b" t="t" l="l"/>
              <a:pathLst>
                <a:path h="822579" w="10911840">
                  <a:moveTo>
                    <a:pt x="0" y="0"/>
                  </a:moveTo>
                  <a:lnTo>
                    <a:pt x="10911840" y="0"/>
                  </a:lnTo>
                  <a:lnTo>
                    <a:pt x="10911840" y="822579"/>
                  </a:lnTo>
                  <a:lnTo>
                    <a:pt x="0" y="822579"/>
                  </a:lnTo>
                  <a:close/>
                </a:path>
              </a:pathLst>
            </a:custGeom>
            <a:blipFill>
              <a:blip r:embed="rId6">
                <a:alphaModFix amt="0"/>
              </a:blip>
              <a:stretch>
                <a:fillRect l="0" t="-208476" r="0" b="-208476"/>
              </a:stretch>
            </a:blipFill>
          </p:spPr>
          <p:txBody>
            <a:bodyPr/>
            <a:p/>
          </p:txBody>
        </p:sp>
        <p:sp>
          <p:nvSpPr>
            <p:cNvPr name="TextBox 101" id="101"/>
            <p:cNvSpPr txBox="true"/>
            <p:nvPr/>
          </p:nvSpPr>
          <p:spPr>
            <a:xfrm>
              <a:off x="0" y="-66675"/>
              <a:ext cx="10911840" cy="889254"/>
            </a:xfrm>
            <a:prstGeom prst="rect">
              <a:avLst/>
            </a:prstGeom>
          </p:spPr>
          <p:txBody>
            <a:bodyPr anchor="ctr" rtlCol="false" tIns="0" lIns="0" bIns="0" rIns="0"/>
            <a:lstStyle/>
            <a:p>
              <a:pPr algn="ctr">
                <a:lnSpc>
                  <a:spcPts val="2419"/>
                </a:lnSpc>
              </a:pPr>
              <a:r>
                <a:rPr lang="en-US" sz="1800" b="true">
                  <a:solidFill>
                    <a:srgbClr val="FFFFFF"/>
                  </a:solidFill>
                  <a:latin typeface="Calibri (MS) Bold"/>
                  <a:ea typeface="Calibri (MS) Bold"/>
                  <a:cs typeface="Calibri (MS) Bold"/>
                  <a:sym typeface="Calibri (MS) Bold"/>
                </a:rPr>
                <a:t>Dynamic World → luas lahan terbangun</a:t>
              </a:r>
            </a:p>
          </p:txBody>
        </p:sp>
      </p:grpSp>
      <p:grpSp>
        <p:nvGrpSpPr>
          <p:cNvPr name="Group 102" id="102"/>
          <p:cNvGrpSpPr/>
          <p:nvPr/>
        </p:nvGrpSpPr>
        <p:grpSpPr>
          <a:xfrm rot="0">
            <a:off x="9281160" y="2926080"/>
            <a:ext cx="8183880" cy="1485900"/>
            <a:chOff x="0" y="0"/>
            <a:chExt cx="10911840" cy="1981200"/>
          </a:xfrm>
        </p:grpSpPr>
        <p:sp>
          <p:nvSpPr>
            <p:cNvPr name="Freeform 103" id="103"/>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txBody>
            <a:bodyPr/>
            <a:p/>
          </p:txBody>
        </p:sp>
      </p:grpSp>
      <p:sp>
        <p:nvSpPr>
          <p:cNvPr name="TextBox 104" id="104"/>
          <p:cNvSpPr txBox="true"/>
          <p:nvPr/>
        </p:nvSpPr>
        <p:spPr>
          <a:xfrm rot="0">
            <a:off x="9509760" y="2959608"/>
            <a:ext cx="7726680" cy="4419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Akurasi keseluruhan dan per kelas (n = 200 titik)</a:t>
            </a:r>
          </a:p>
        </p:txBody>
      </p:sp>
      <p:sp>
        <p:nvSpPr>
          <p:cNvPr name="TextBox 105" id="105"/>
          <p:cNvSpPr txBox="true"/>
          <p:nvPr/>
        </p:nvSpPr>
        <p:spPr>
          <a:xfrm rot="0">
            <a:off x="9509760" y="3352800"/>
            <a:ext cx="7726680" cy="4236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OA = (n₁₁ + n₀₀) / n</a:t>
            </a:r>
          </a:p>
        </p:txBody>
      </p:sp>
      <p:sp>
        <p:nvSpPr>
          <p:cNvPr name="TextBox 106" id="106"/>
          <p:cNvSpPr txBox="true"/>
          <p:nvPr/>
        </p:nvSpPr>
        <p:spPr>
          <a:xfrm rot="0">
            <a:off x="9509760" y="3691128"/>
            <a:ext cx="7726680" cy="4236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UA = n₁₁ / (n₁₁ + n₁₀) ;  PA = n₁₁ / (n₁₁ + n₀₁)</a:t>
            </a:r>
          </a:p>
        </p:txBody>
      </p:sp>
      <p:sp>
        <p:nvSpPr>
          <p:cNvPr name="TextBox 107" id="107"/>
          <p:cNvSpPr txBox="true"/>
          <p:nvPr/>
        </p:nvSpPr>
        <p:spPr>
          <a:xfrm rot="0">
            <a:off x="9509760" y="4028694"/>
            <a:ext cx="7726680" cy="372008"/>
          </a:xfrm>
          <a:prstGeom prst="rect">
            <a:avLst/>
          </a:prstGeom>
        </p:spPr>
        <p:txBody>
          <a:bodyPr anchor="t" rtlCol="false" tIns="0" lIns="0" bIns="0" rIns="0">
            <a:spAutoFit/>
          </a:bodyPr>
          <a:lstStyle/>
          <a:p>
            <a:pPr algn="l">
              <a:lnSpc>
                <a:spcPts val="1746"/>
              </a:lnSpc>
            </a:pPr>
            <a:r>
              <a:rPr lang="en-US" sz="1299">
                <a:solidFill>
                  <a:srgbClr val="5E6E78"/>
                </a:solidFill>
                <a:latin typeface="Calibri (MS)"/>
                <a:ea typeface="Calibri (MS)"/>
                <a:cs typeface="Calibri (MS)"/>
                <a:sym typeface="Calibri (MS)"/>
              </a:rPr>
              <a:t>n₁₁, n₀₀ benar; n₁₀ commission error; n₀₁ omission error. Hasil: OA 80,50% · UA 66,00% · PA 73,58%</a:t>
            </a:r>
          </a:p>
        </p:txBody>
      </p:sp>
      <p:grpSp>
        <p:nvGrpSpPr>
          <p:cNvPr name="Group 108" id="108"/>
          <p:cNvGrpSpPr/>
          <p:nvPr/>
        </p:nvGrpSpPr>
        <p:grpSpPr>
          <a:xfrm rot="0">
            <a:off x="9281160" y="4539996"/>
            <a:ext cx="8183880" cy="1485900"/>
            <a:chOff x="0" y="0"/>
            <a:chExt cx="10911840" cy="1981200"/>
          </a:xfrm>
        </p:grpSpPr>
        <p:sp>
          <p:nvSpPr>
            <p:cNvPr name="Freeform 109" id="109"/>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txBody>
            <a:bodyPr/>
            <a:p/>
          </p:txBody>
        </p:sp>
      </p:grpSp>
      <p:sp>
        <p:nvSpPr>
          <p:cNvPr name="TextBox 110" id="110"/>
          <p:cNvSpPr txBox="true"/>
          <p:nvPr/>
        </p:nvSpPr>
        <p:spPr>
          <a:xfrm rot="0">
            <a:off x="9509760" y="4573524"/>
            <a:ext cx="7726680" cy="4419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F1-score dan koefisien Kappa</a:t>
            </a:r>
          </a:p>
        </p:txBody>
      </p:sp>
      <p:sp>
        <p:nvSpPr>
          <p:cNvPr name="TextBox 111" id="111"/>
          <p:cNvSpPr txBox="true"/>
          <p:nvPr/>
        </p:nvSpPr>
        <p:spPr>
          <a:xfrm rot="0">
            <a:off x="9509760" y="4966716"/>
            <a:ext cx="7726680" cy="4236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F1 = 2 · UA · PA / (UA + PA)</a:t>
            </a:r>
          </a:p>
        </p:txBody>
      </p:sp>
      <p:sp>
        <p:nvSpPr>
          <p:cNvPr name="TextBox 112" id="112"/>
          <p:cNvSpPr txBox="true"/>
          <p:nvPr/>
        </p:nvSpPr>
        <p:spPr>
          <a:xfrm rot="0">
            <a:off x="9509760" y="5305044"/>
            <a:ext cx="7726680" cy="4236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κ = (pₒ − pₑ) / (1 − pₑ)</a:t>
            </a:r>
          </a:p>
        </p:txBody>
      </p:sp>
      <p:sp>
        <p:nvSpPr>
          <p:cNvPr name="TextBox 113" id="113"/>
          <p:cNvSpPr txBox="true"/>
          <p:nvPr/>
        </p:nvSpPr>
        <p:spPr>
          <a:xfrm rot="0">
            <a:off x="9509760" y="5642610"/>
            <a:ext cx="7726680" cy="372008"/>
          </a:xfrm>
          <a:prstGeom prst="rect">
            <a:avLst/>
          </a:prstGeom>
        </p:spPr>
        <p:txBody>
          <a:bodyPr anchor="t" rtlCol="false" tIns="0" lIns="0" bIns="0" rIns="0">
            <a:spAutoFit/>
          </a:bodyPr>
          <a:lstStyle/>
          <a:p>
            <a:pPr algn="l">
              <a:lnSpc>
                <a:spcPts val="1746"/>
              </a:lnSpc>
            </a:pPr>
            <a:r>
              <a:rPr lang="en-US" sz="1299">
                <a:solidFill>
                  <a:srgbClr val="5E6E78"/>
                </a:solidFill>
                <a:latin typeface="Calibri (MS)"/>
                <a:ea typeface="Calibri (MS)"/>
                <a:cs typeface="Calibri (MS)"/>
                <a:sym typeface="Calibri (MS)"/>
              </a:rPr>
              <a:t>pₒ kesepakatan teramati, pₑ kesepakatan karena kebetulan. Hasil: F1 77,19% · κ 0,61</a:t>
            </a:r>
          </a:p>
        </p:txBody>
      </p:sp>
      <p:grpSp>
        <p:nvGrpSpPr>
          <p:cNvPr name="Group 114" id="114"/>
          <p:cNvGrpSpPr/>
          <p:nvPr/>
        </p:nvGrpSpPr>
        <p:grpSpPr>
          <a:xfrm rot="0">
            <a:off x="9281160" y="6153912"/>
            <a:ext cx="8183880" cy="1485900"/>
            <a:chOff x="0" y="0"/>
            <a:chExt cx="10911840" cy="1981200"/>
          </a:xfrm>
        </p:grpSpPr>
        <p:sp>
          <p:nvSpPr>
            <p:cNvPr name="Freeform 115" id="115"/>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txBody>
            <a:bodyPr/>
            <a:p/>
          </p:txBody>
        </p:sp>
      </p:grpSp>
      <p:sp>
        <p:nvSpPr>
          <p:cNvPr name="TextBox 116" id="116"/>
          <p:cNvSpPr txBox="true"/>
          <p:nvPr/>
        </p:nvSpPr>
        <p:spPr>
          <a:xfrm rot="0">
            <a:off x="9509760" y="6187440"/>
            <a:ext cx="7726680" cy="4419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Akurasi terbobot luas (Olofsson dkk., 2014)</a:t>
            </a:r>
          </a:p>
        </p:txBody>
      </p:sp>
      <p:sp>
        <p:nvSpPr>
          <p:cNvPr name="TextBox 117" id="117"/>
          <p:cNvSpPr txBox="true"/>
          <p:nvPr/>
        </p:nvSpPr>
        <p:spPr>
          <a:xfrm rot="0">
            <a:off x="9509760" y="6580632"/>
            <a:ext cx="7726680" cy="4236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ÔA = Σᵢ Wᵢ · (nᵢᵢ / nᵢ.) ;  Wᵢ = Aᵢ / A_total</a:t>
            </a:r>
          </a:p>
        </p:txBody>
      </p:sp>
      <p:sp>
        <p:nvSpPr>
          <p:cNvPr name="TextBox 118" id="118"/>
          <p:cNvSpPr txBox="true"/>
          <p:nvPr/>
        </p:nvSpPr>
        <p:spPr>
          <a:xfrm rot="0">
            <a:off x="9509760" y="6918198"/>
            <a:ext cx="7726680" cy="372008"/>
          </a:xfrm>
          <a:prstGeom prst="rect">
            <a:avLst/>
          </a:prstGeom>
        </p:spPr>
        <p:txBody>
          <a:bodyPr anchor="t" rtlCol="false" tIns="0" lIns="0" bIns="0" rIns="0">
            <a:spAutoFit/>
          </a:bodyPr>
          <a:lstStyle/>
          <a:p>
            <a:pPr algn="l">
              <a:lnSpc>
                <a:spcPts val="1746"/>
              </a:lnSpc>
            </a:pPr>
            <a:r>
              <a:rPr lang="en-US" sz="1299">
                <a:solidFill>
                  <a:srgbClr val="5E6E78"/>
                </a:solidFill>
                <a:latin typeface="Calibri (MS)"/>
                <a:ea typeface="Calibri (MS)"/>
                <a:cs typeface="Calibri (MS)"/>
                <a:sym typeface="Calibri (MS)"/>
              </a:rPr>
              <a:t>Sampel 100/100 tidak proporsional luas kelas → versi tak bias. Hasil: 89,95%</a:t>
            </a:r>
          </a:p>
        </p:txBody>
      </p:sp>
      <p:grpSp>
        <p:nvGrpSpPr>
          <p:cNvPr name="Group 119" id="119"/>
          <p:cNvGrpSpPr/>
          <p:nvPr/>
        </p:nvGrpSpPr>
        <p:grpSpPr>
          <a:xfrm rot="0">
            <a:off x="9281160" y="7767828"/>
            <a:ext cx="8183880" cy="1485900"/>
            <a:chOff x="0" y="0"/>
            <a:chExt cx="10911840" cy="1981200"/>
          </a:xfrm>
        </p:grpSpPr>
        <p:sp>
          <p:nvSpPr>
            <p:cNvPr name="Freeform 120" id="120"/>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txBody>
            <a:bodyPr/>
            <a:p/>
          </p:txBody>
        </p:sp>
      </p:grpSp>
      <p:sp>
        <p:nvSpPr>
          <p:cNvPr name="TextBox 121" id="121"/>
          <p:cNvSpPr txBox="true"/>
          <p:nvPr/>
        </p:nvSpPr>
        <p:spPr>
          <a:xfrm rot="0">
            <a:off x="9509760" y="7801356"/>
            <a:ext cx="7726680" cy="4419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Diagnosis ketidakstabilan temporal (gaya ANCOVA)</a:t>
            </a:r>
          </a:p>
        </p:txBody>
      </p:sp>
      <p:sp>
        <p:nvSpPr>
          <p:cNvPr name="TextBox 122" id="122"/>
          <p:cNvSpPr txBox="true"/>
          <p:nvPr/>
        </p:nvSpPr>
        <p:spPr>
          <a:xfrm rot="0">
            <a:off x="9509760" y="8194548"/>
            <a:ext cx="7726680" cy="4236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Luasₜ = a + b · Obsₜ</a:t>
            </a:r>
          </a:p>
        </p:txBody>
      </p:sp>
      <p:sp>
        <p:nvSpPr>
          <p:cNvPr name="TextBox 123" id="123"/>
          <p:cNvSpPr txBox="true"/>
          <p:nvPr/>
        </p:nvSpPr>
        <p:spPr>
          <a:xfrm rot="0">
            <a:off x="9509760" y="8532876"/>
            <a:ext cx="7726680" cy="4236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Luas_terkoreksi,ₜ = Luasₜ − b · (Obsₜ − Obs_acuan)</a:t>
            </a:r>
          </a:p>
        </p:txBody>
      </p:sp>
      <p:sp>
        <p:nvSpPr>
          <p:cNvPr name="TextBox 124" id="124"/>
          <p:cNvSpPr txBox="true"/>
          <p:nvPr/>
        </p:nvSpPr>
        <p:spPr>
          <a:xfrm rot="0">
            <a:off x="9509760" y="8870442"/>
            <a:ext cx="7726680" cy="372008"/>
          </a:xfrm>
          <a:prstGeom prst="rect">
            <a:avLst/>
          </a:prstGeom>
        </p:spPr>
        <p:txBody>
          <a:bodyPr anchor="t" rtlCol="false" tIns="0" lIns="0" bIns="0" rIns="0">
            <a:spAutoFit/>
          </a:bodyPr>
          <a:lstStyle/>
          <a:p>
            <a:pPr algn="l">
              <a:lnSpc>
                <a:spcPts val="1746"/>
              </a:lnSpc>
            </a:pPr>
            <a:r>
              <a:rPr lang="en-US" sz="1299">
                <a:solidFill>
                  <a:srgbClr val="5E6E78"/>
                </a:solidFill>
                <a:latin typeface="Calibri (MS)"/>
                <a:ea typeface="Calibri (MS)"/>
                <a:cs typeface="Calibri (MS)"/>
                <a:sym typeface="Calibri (MS)"/>
              </a:rPr>
              <a:t>Sah bila Obs tidak berkorelasi dengan tahun; hanya diagnostik, nilai mentah tetap dipakai</a:t>
            </a:r>
          </a:p>
        </p:txBody>
      </p:sp>
      <p:grpSp>
        <p:nvGrpSpPr>
          <p:cNvPr name="Group 125" id="125"/>
          <p:cNvGrpSpPr/>
          <p:nvPr/>
        </p:nvGrpSpPr>
        <p:grpSpPr>
          <a:xfrm rot="0">
            <a:off x="12755880" y="274320"/>
            <a:ext cx="3931920" cy="411480"/>
            <a:chOff x="0" y="0"/>
            <a:chExt cx="5242560" cy="548640"/>
          </a:xfrm>
        </p:grpSpPr>
        <p:sp>
          <p:nvSpPr>
            <p:cNvPr name="Freeform 126" id="126"/>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27" id="127"/>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grpSp>
        <p:nvGrpSpPr>
          <p:cNvPr name="Group 128" id="128"/>
          <p:cNvGrpSpPr/>
          <p:nvPr/>
        </p:nvGrpSpPr>
        <p:grpSpPr>
          <a:xfrm rot="0">
            <a:off x="16047720" y="9646920"/>
            <a:ext cx="420624" cy="420624"/>
            <a:chOff x="0" y="0"/>
            <a:chExt cx="560832" cy="560832"/>
          </a:xfrm>
        </p:grpSpPr>
        <p:sp>
          <p:nvSpPr>
            <p:cNvPr name="Freeform 129" id="129"/>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30" id="130"/>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Estimasi Jumlah ODTW</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Cahaya malam (NTL) layak dipakai untuk mengestimasi jumlah ODTW</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6" id="66"/>
          <p:cNvGrpSpPr/>
          <p:nvPr/>
        </p:nvGrpSpPr>
        <p:grpSpPr>
          <a:xfrm rot="0">
            <a:off x="839353" y="2331720"/>
            <a:ext cx="9431274" cy="5897880"/>
            <a:chOff x="0" y="0"/>
            <a:chExt cx="12575032" cy="7863840"/>
          </a:xfrm>
        </p:grpSpPr>
        <p:sp>
          <p:nvSpPr>
            <p:cNvPr name="Freeform 67" id="67" descr="Perbandingan tren NTL dan jumlah ODTW DIY 2015-2025"/>
            <p:cNvSpPr/>
            <p:nvPr/>
          </p:nvSpPr>
          <p:spPr>
            <a:xfrm flipH="false" flipV="false" rot="0">
              <a:off x="0" y="0"/>
              <a:ext cx="12575032" cy="7863840"/>
            </a:xfrm>
            <a:custGeom>
              <a:avLst/>
              <a:gdLst/>
              <a:ahLst/>
              <a:cxnLst/>
              <a:rect r="r" b="b" t="t" l="l"/>
              <a:pathLst>
                <a:path h="7863840" w="12575032">
                  <a:moveTo>
                    <a:pt x="0" y="0"/>
                  </a:moveTo>
                  <a:lnTo>
                    <a:pt x="12575032" y="0"/>
                  </a:lnTo>
                  <a:lnTo>
                    <a:pt x="12575032" y="7863840"/>
                  </a:lnTo>
                  <a:lnTo>
                    <a:pt x="0" y="7863840"/>
                  </a:lnTo>
                  <a:lnTo>
                    <a:pt x="0" y="0"/>
                  </a:lnTo>
                  <a:close/>
                </a:path>
              </a:pathLst>
            </a:custGeom>
            <a:blipFill>
              <a:blip r:embed="rId7"/>
              <a:stretch>
                <a:fillRect l="0" t="0" r="0" b="0"/>
              </a:stretch>
            </a:blipFill>
          </p:spPr>
          <p:txBody>
            <a:bodyPr/>
            <a:p/>
          </p:txBody>
        </p:sp>
      </p:grpSp>
      <p:sp>
        <p:nvSpPr>
          <p:cNvPr name="TextBox 68" id="68"/>
          <p:cNvSpPr txBox="true"/>
          <p:nvPr/>
        </p:nvSpPr>
        <p:spPr>
          <a:xfrm rot="0">
            <a:off x="822960" y="8183880"/>
            <a:ext cx="9464040" cy="5257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Tren NTL dan jumlah ODTW DIY, 2015–2025 (segitiga = estimasi dari NTL)</a:t>
            </a:r>
          </a:p>
        </p:txBody>
      </p:sp>
      <p:grpSp>
        <p:nvGrpSpPr>
          <p:cNvPr name="Group 69" id="69"/>
          <p:cNvGrpSpPr/>
          <p:nvPr/>
        </p:nvGrpSpPr>
        <p:grpSpPr>
          <a:xfrm rot="0">
            <a:off x="10698480" y="2331720"/>
            <a:ext cx="3291840" cy="2057400"/>
            <a:chOff x="0" y="0"/>
            <a:chExt cx="4389120" cy="2743200"/>
          </a:xfrm>
        </p:grpSpPr>
        <p:sp>
          <p:nvSpPr>
            <p:cNvPr name="Freeform 70" id="70"/>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71" id="71"/>
          <p:cNvGrpSpPr/>
          <p:nvPr/>
        </p:nvGrpSpPr>
        <p:grpSpPr>
          <a:xfrm rot="0">
            <a:off x="10904220" y="2468880"/>
            <a:ext cx="2880360" cy="685800"/>
            <a:chOff x="0" y="0"/>
            <a:chExt cx="3840480" cy="914400"/>
          </a:xfrm>
        </p:grpSpPr>
        <p:sp>
          <p:nvSpPr>
            <p:cNvPr name="Freeform 72" id="72"/>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txBody>
            <a:bodyPr/>
            <a:p/>
          </p:txBody>
        </p:sp>
      </p:grpSp>
      <p:grpSp>
        <p:nvGrpSpPr>
          <p:cNvPr name="Group 73" id="73"/>
          <p:cNvGrpSpPr/>
          <p:nvPr/>
        </p:nvGrpSpPr>
        <p:grpSpPr>
          <a:xfrm rot="0">
            <a:off x="10904220" y="2418874"/>
            <a:ext cx="2880360" cy="735806"/>
            <a:chOff x="0" y="0"/>
            <a:chExt cx="3840480" cy="981075"/>
          </a:xfrm>
        </p:grpSpPr>
        <p:sp>
          <p:nvSpPr>
            <p:cNvPr name="Freeform 74" id="74"/>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22" r="0" b="-26222"/>
              </a:stretch>
            </a:blipFill>
          </p:spPr>
          <p:txBody>
            <a:bodyPr/>
            <a:p/>
          </p:txBody>
        </p:sp>
      </p:grpSp>
      <p:grpSp>
        <p:nvGrpSpPr>
          <p:cNvPr name="Group 75" id="75"/>
          <p:cNvGrpSpPr/>
          <p:nvPr/>
        </p:nvGrpSpPr>
        <p:grpSpPr>
          <a:xfrm rot="0">
            <a:off x="10904220" y="2368867"/>
            <a:ext cx="2880360" cy="785812"/>
            <a:chOff x="0" y="0"/>
            <a:chExt cx="3840480" cy="1047750"/>
          </a:xfrm>
        </p:grpSpPr>
        <p:sp>
          <p:nvSpPr>
            <p:cNvPr name="Freeform 76" id="76"/>
            <p:cNvSpPr/>
            <p:nvPr/>
          </p:nvSpPr>
          <p:spPr>
            <a:xfrm flipH="false" flipV="false" rot="0">
              <a:off x="0" y="0"/>
              <a:ext cx="3840480" cy="1047750"/>
            </a:xfrm>
            <a:custGeom>
              <a:avLst/>
              <a:gdLst/>
              <a:ahLst/>
              <a:cxnLst/>
              <a:rect r="r" b="b" t="t" l="l"/>
              <a:pathLst>
                <a:path h="1047750" w="3840480">
                  <a:moveTo>
                    <a:pt x="0" y="0"/>
                  </a:moveTo>
                  <a:lnTo>
                    <a:pt x="3840480" y="0"/>
                  </a:lnTo>
                  <a:lnTo>
                    <a:pt x="3840480" y="1047750"/>
                  </a:lnTo>
                  <a:lnTo>
                    <a:pt x="0" y="1047750"/>
                  </a:lnTo>
                  <a:close/>
                </a:path>
              </a:pathLst>
            </a:custGeom>
            <a:blipFill>
              <a:blip r:embed="rId6">
                <a:alphaModFix amt="0"/>
              </a:blip>
              <a:stretch>
                <a:fillRect l="0" t="-21421" r="0" b="-21421"/>
              </a:stretch>
            </a:blipFill>
          </p:spPr>
          <p:txBody>
            <a:bodyPr/>
            <a:p/>
          </p:txBody>
        </p:sp>
        <p:sp>
          <p:nvSpPr>
            <p:cNvPr name="TextBox 77" id="77"/>
            <p:cNvSpPr txBox="true"/>
            <p:nvPr/>
          </p:nvSpPr>
          <p:spPr>
            <a:xfrm>
              <a:off x="0" y="-66675"/>
              <a:ext cx="3840480" cy="1114425"/>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0,405</a:t>
              </a:r>
            </a:p>
          </p:txBody>
        </p:sp>
      </p:grpSp>
      <p:sp>
        <p:nvSpPr>
          <p:cNvPr name="TextBox 78" id="78"/>
          <p:cNvSpPr txBox="true"/>
          <p:nvPr/>
        </p:nvSpPr>
        <p:spPr>
          <a:xfrm rot="0">
            <a:off x="10904220" y="3096387"/>
            <a:ext cx="2880360" cy="1251585"/>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R² selisih tahunan (≥ 0,30 → layak). R² level 0,785 dipengaruhi tren bersama</a:t>
            </a:r>
          </a:p>
        </p:txBody>
      </p:sp>
      <p:grpSp>
        <p:nvGrpSpPr>
          <p:cNvPr name="Group 79" id="79"/>
          <p:cNvGrpSpPr/>
          <p:nvPr/>
        </p:nvGrpSpPr>
        <p:grpSpPr>
          <a:xfrm rot="0">
            <a:off x="14127480" y="2331720"/>
            <a:ext cx="3291840" cy="2057400"/>
            <a:chOff x="0" y="0"/>
            <a:chExt cx="4389120" cy="2743200"/>
          </a:xfrm>
        </p:grpSpPr>
        <p:sp>
          <p:nvSpPr>
            <p:cNvPr name="Freeform 80" id="80"/>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81" id="81"/>
          <p:cNvGrpSpPr/>
          <p:nvPr/>
        </p:nvGrpSpPr>
        <p:grpSpPr>
          <a:xfrm rot="0">
            <a:off x="14333220" y="2468880"/>
            <a:ext cx="2880360" cy="685800"/>
            <a:chOff x="0" y="0"/>
            <a:chExt cx="3840480" cy="914400"/>
          </a:xfrm>
        </p:grpSpPr>
        <p:sp>
          <p:nvSpPr>
            <p:cNvPr name="Freeform 82" id="82"/>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txBody>
            <a:bodyPr/>
            <a:p/>
          </p:txBody>
        </p:sp>
      </p:grpSp>
      <p:grpSp>
        <p:nvGrpSpPr>
          <p:cNvPr name="Group 83" id="83"/>
          <p:cNvGrpSpPr/>
          <p:nvPr/>
        </p:nvGrpSpPr>
        <p:grpSpPr>
          <a:xfrm rot="0">
            <a:off x="14333220" y="2418874"/>
            <a:ext cx="2880360" cy="735806"/>
            <a:chOff x="0" y="0"/>
            <a:chExt cx="3840480" cy="981075"/>
          </a:xfrm>
        </p:grpSpPr>
        <p:sp>
          <p:nvSpPr>
            <p:cNvPr name="Freeform 84" id="84"/>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22" r="0" b="-26222"/>
              </a:stretch>
            </a:blipFill>
          </p:spPr>
          <p:txBody>
            <a:bodyPr/>
            <a:p/>
          </p:txBody>
        </p:sp>
      </p:grpSp>
      <p:grpSp>
        <p:nvGrpSpPr>
          <p:cNvPr name="Group 85" id="85"/>
          <p:cNvGrpSpPr/>
          <p:nvPr/>
        </p:nvGrpSpPr>
        <p:grpSpPr>
          <a:xfrm rot="0">
            <a:off x="14333220" y="2368867"/>
            <a:ext cx="2880360" cy="785812"/>
            <a:chOff x="0" y="0"/>
            <a:chExt cx="3840480" cy="1047750"/>
          </a:xfrm>
        </p:grpSpPr>
        <p:sp>
          <p:nvSpPr>
            <p:cNvPr name="Freeform 86" id="86"/>
            <p:cNvSpPr/>
            <p:nvPr/>
          </p:nvSpPr>
          <p:spPr>
            <a:xfrm flipH="false" flipV="false" rot="0">
              <a:off x="0" y="0"/>
              <a:ext cx="3840480" cy="1047750"/>
            </a:xfrm>
            <a:custGeom>
              <a:avLst/>
              <a:gdLst/>
              <a:ahLst/>
              <a:cxnLst/>
              <a:rect r="r" b="b" t="t" l="l"/>
              <a:pathLst>
                <a:path h="1047750" w="3840480">
                  <a:moveTo>
                    <a:pt x="0" y="0"/>
                  </a:moveTo>
                  <a:lnTo>
                    <a:pt x="3840480" y="0"/>
                  </a:lnTo>
                  <a:lnTo>
                    <a:pt x="3840480" y="1047750"/>
                  </a:lnTo>
                  <a:lnTo>
                    <a:pt x="0" y="1047750"/>
                  </a:lnTo>
                  <a:close/>
                </a:path>
              </a:pathLst>
            </a:custGeom>
            <a:blipFill>
              <a:blip r:embed="rId6">
                <a:alphaModFix amt="0"/>
              </a:blip>
              <a:stretch>
                <a:fillRect l="0" t="-21421" r="0" b="-21421"/>
              </a:stretch>
            </a:blipFill>
          </p:spPr>
          <p:txBody>
            <a:bodyPr/>
            <a:p/>
          </p:txBody>
        </p:sp>
        <p:sp>
          <p:nvSpPr>
            <p:cNvPr name="TextBox 87" id="87"/>
            <p:cNvSpPr txBox="true"/>
            <p:nvPr/>
          </p:nvSpPr>
          <p:spPr>
            <a:xfrm>
              <a:off x="0" y="-66675"/>
              <a:ext cx="3840480" cy="1114425"/>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5,99%</a:t>
              </a:r>
            </a:p>
          </p:txBody>
        </p:sp>
      </p:grpSp>
      <p:sp>
        <p:nvSpPr>
          <p:cNvPr name="TextBox 88" id="88"/>
          <p:cNvSpPr txBox="true"/>
          <p:nvPr/>
        </p:nvSpPr>
        <p:spPr>
          <a:xfrm rot="0">
            <a:off x="14333220" y="3096387"/>
            <a:ext cx="2880360" cy="1251585"/>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RMSE relatif LOOCV (≤ 10% → layak)</a:t>
            </a:r>
          </a:p>
        </p:txBody>
      </p:sp>
      <p:grpSp>
        <p:nvGrpSpPr>
          <p:cNvPr name="Group 89" id="89"/>
          <p:cNvGrpSpPr/>
          <p:nvPr/>
        </p:nvGrpSpPr>
        <p:grpSpPr>
          <a:xfrm rot="0">
            <a:off x="10698480" y="4553712"/>
            <a:ext cx="3291840" cy="2057400"/>
            <a:chOff x="0" y="0"/>
            <a:chExt cx="4389120" cy="2743200"/>
          </a:xfrm>
        </p:grpSpPr>
        <p:sp>
          <p:nvSpPr>
            <p:cNvPr name="Freeform 90" id="90"/>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91" id="91"/>
          <p:cNvGrpSpPr/>
          <p:nvPr/>
        </p:nvGrpSpPr>
        <p:grpSpPr>
          <a:xfrm rot="0">
            <a:off x="10904220" y="4690872"/>
            <a:ext cx="2880360" cy="685800"/>
            <a:chOff x="0" y="0"/>
            <a:chExt cx="3840480" cy="914400"/>
          </a:xfrm>
        </p:grpSpPr>
        <p:sp>
          <p:nvSpPr>
            <p:cNvPr name="Freeform 92" id="92"/>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txBody>
            <a:bodyPr/>
            <a:p/>
          </p:txBody>
        </p:sp>
      </p:grpSp>
      <p:grpSp>
        <p:nvGrpSpPr>
          <p:cNvPr name="Group 93" id="93"/>
          <p:cNvGrpSpPr/>
          <p:nvPr/>
        </p:nvGrpSpPr>
        <p:grpSpPr>
          <a:xfrm rot="0">
            <a:off x="10904220" y="4640866"/>
            <a:ext cx="2880360" cy="735806"/>
            <a:chOff x="0" y="0"/>
            <a:chExt cx="3840480" cy="981075"/>
          </a:xfrm>
        </p:grpSpPr>
        <p:sp>
          <p:nvSpPr>
            <p:cNvPr name="Freeform 94" id="94"/>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22" r="0" b="-26222"/>
              </a:stretch>
            </a:blipFill>
          </p:spPr>
          <p:txBody>
            <a:bodyPr/>
            <a:p/>
          </p:txBody>
        </p:sp>
      </p:grpSp>
      <p:grpSp>
        <p:nvGrpSpPr>
          <p:cNvPr name="Group 95" id="95"/>
          <p:cNvGrpSpPr/>
          <p:nvPr/>
        </p:nvGrpSpPr>
        <p:grpSpPr>
          <a:xfrm rot="0">
            <a:off x="10904220" y="4590860"/>
            <a:ext cx="2880360" cy="785812"/>
            <a:chOff x="0" y="0"/>
            <a:chExt cx="3840480" cy="1047750"/>
          </a:xfrm>
        </p:grpSpPr>
        <p:sp>
          <p:nvSpPr>
            <p:cNvPr name="Freeform 96" id="96"/>
            <p:cNvSpPr/>
            <p:nvPr/>
          </p:nvSpPr>
          <p:spPr>
            <a:xfrm flipH="false" flipV="false" rot="0">
              <a:off x="0" y="0"/>
              <a:ext cx="3840480" cy="1047750"/>
            </a:xfrm>
            <a:custGeom>
              <a:avLst/>
              <a:gdLst/>
              <a:ahLst/>
              <a:cxnLst/>
              <a:rect r="r" b="b" t="t" l="l"/>
              <a:pathLst>
                <a:path h="1047750" w="3840480">
                  <a:moveTo>
                    <a:pt x="0" y="0"/>
                  </a:moveTo>
                  <a:lnTo>
                    <a:pt x="3840480" y="0"/>
                  </a:lnTo>
                  <a:lnTo>
                    <a:pt x="3840480" y="1047750"/>
                  </a:lnTo>
                  <a:lnTo>
                    <a:pt x="0" y="1047750"/>
                  </a:lnTo>
                  <a:close/>
                </a:path>
              </a:pathLst>
            </a:custGeom>
            <a:blipFill>
              <a:blip r:embed="rId6">
                <a:alphaModFix amt="0"/>
              </a:blip>
              <a:stretch>
                <a:fillRect l="0" t="-21421" r="0" b="-21421"/>
              </a:stretch>
            </a:blipFill>
          </p:spPr>
          <p:txBody>
            <a:bodyPr/>
            <a:p/>
          </p:txBody>
        </p:sp>
        <p:sp>
          <p:nvSpPr>
            <p:cNvPr name="TextBox 97" id="97"/>
            <p:cNvSpPr txBox="true"/>
            <p:nvPr/>
          </p:nvSpPr>
          <p:spPr>
            <a:xfrm>
              <a:off x="0" y="-66675"/>
              <a:ext cx="3840480" cy="1114425"/>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201 unit</a:t>
              </a:r>
            </a:p>
          </p:txBody>
        </p:sp>
      </p:grpSp>
      <p:sp>
        <p:nvSpPr>
          <p:cNvPr name="TextBox 98" id="98"/>
          <p:cNvSpPr txBox="true"/>
          <p:nvPr/>
        </p:nvSpPr>
        <p:spPr>
          <a:xfrm rot="0">
            <a:off x="10904220" y="5318379"/>
            <a:ext cx="2880360" cy="1251585"/>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estimasi ODTW 2025; selang prediksi 95%: 176,7–224,8</a:t>
            </a:r>
          </a:p>
        </p:txBody>
      </p:sp>
      <p:grpSp>
        <p:nvGrpSpPr>
          <p:cNvPr name="Group 99" id="99"/>
          <p:cNvGrpSpPr/>
          <p:nvPr/>
        </p:nvGrpSpPr>
        <p:grpSpPr>
          <a:xfrm rot="0">
            <a:off x="14127480" y="4553712"/>
            <a:ext cx="3291840" cy="2057400"/>
            <a:chOff x="0" y="0"/>
            <a:chExt cx="4389120" cy="2743200"/>
          </a:xfrm>
        </p:grpSpPr>
        <p:sp>
          <p:nvSpPr>
            <p:cNvPr name="Freeform 100" id="100"/>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101" id="101"/>
          <p:cNvGrpSpPr/>
          <p:nvPr/>
        </p:nvGrpSpPr>
        <p:grpSpPr>
          <a:xfrm rot="0">
            <a:off x="14333220" y="4690872"/>
            <a:ext cx="2880360" cy="685800"/>
            <a:chOff x="0" y="0"/>
            <a:chExt cx="3840480" cy="914400"/>
          </a:xfrm>
        </p:grpSpPr>
        <p:sp>
          <p:nvSpPr>
            <p:cNvPr name="Freeform 102" id="102"/>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txBody>
            <a:bodyPr/>
            <a:p/>
          </p:txBody>
        </p:sp>
      </p:grpSp>
      <p:grpSp>
        <p:nvGrpSpPr>
          <p:cNvPr name="Group 103" id="103"/>
          <p:cNvGrpSpPr/>
          <p:nvPr/>
        </p:nvGrpSpPr>
        <p:grpSpPr>
          <a:xfrm rot="0">
            <a:off x="14333220" y="4640866"/>
            <a:ext cx="2880360" cy="735806"/>
            <a:chOff x="0" y="0"/>
            <a:chExt cx="3840480" cy="981075"/>
          </a:xfrm>
        </p:grpSpPr>
        <p:sp>
          <p:nvSpPr>
            <p:cNvPr name="Freeform 104" id="104"/>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22" r="0" b="-26222"/>
              </a:stretch>
            </a:blipFill>
          </p:spPr>
          <p:txBody>
            <a:bodyPr/>
            <a:p/>
          </p:txBody>
        </p:sp>
      </p:grpSp>
      <p:grpSp>
        <p:nvGrpSpPr>
          <p:cNvPr name="Group 105" id="105"/>
          <p:cNvGrpSpPr/>
          <p:nvPr/>
        </p:nvGrpSpPr>
        <p:grpSpPr>
          <a:xfrm rot="0">
            <a:off x="14333220" y="4590860"/>
            <a:ext cx="2880360" cy="785812"/>
            <a:chOff x="0" y="0"/>
            <a:chExt cx="3840480" cy="1047750"/>
          </a:xfrm>
        </p:grpSpPr>
        <p:sp>
          <p:nvSpPr>
            <p:cNvPr name="Freeform 106" id="106"/>
            <p:cNvSpPr/>
            <p:nvPr/>
          </p:nvSpPr>
          <p:spPr>
            <a:xfrm flipH="false" flipV="false" rot="0">
              <a:off x="0" y="0"/>
              <a:ext cx="3840480" cy="1047750"/>
            </a:xfrm>
            <a:custGeom>
              <a:avLst/>
              <a:gdLst/>
              <a:ahLst/>
              <a:cxnLst/>
              <a:rect r="r" b="b" t="t" l="l"/>
              <a:pathLst>
                <a:path h="1047750" w="3840480">
                  <a:moveTo>
                    <a:pt x="0" y="0"/>
                  </a:moveTo>
                  <a:lnTo>
                    <a:pt x="3840480" y="0"/>
                  </a:lnTo>
                  <a:lnTo>
                    <a:pt x="3840480" y="1047750"/>
                  </a:lnTo>
                  <a:lnTo>
                    <a:pt x="0" y="1047750"/>
                  </a:lnTo>
                  <a:close/>
                </a:path>
              </a:pathLst>
            </a:custGeom>
            <a:blipFill>
              <a:blip r:embed="rId6">
                <a:alphaModFix amt="0"/>
              </a:blip>
              <a:stretch>
                <a:fillRect l="0" t="-21421" r="0" b="-21421"/>
              </a:stretch>
            </a:blipFill>
          </p:spPr>
          <p:txBody>
            <a:bodyPr/>
            <a:p/>
          </p:txBody>
        </p:sp>
        <p:sp>
          <p:nvSpPr>
            <p:cNvPr name="TextBox 107" id="107"/>
            <p:cNvSpPr txBox="true"/>
            <p:nvPr/>
          </p:nvSpPr>
          <p:spPr>
            <a:xfrm>
              <a:off x="0" y="-66675"/>
              <a:ext cx="3840480" cy="1114425"/>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37,4 vs 0,96</a:t>
              </a:r>
            </a:p>
          </p:txBody>
        </p:sp>
      </p:grpSp>
      <p:sp>
        <p:nvSpPr>
          <p:cNvPr name="TextBox 108" id="108"/>
          <p:cNvSpPr txBox="true"/>
          <p:nvPr/>
        </p:nvSpPr>
        <p:spPr>
          <a:xfrm rot="0">
            <a:off x="14333220" y="5318379"/>
            <a:ext cx="2880360" cy="1251585"/>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NTL Malioboro–Keraton vs TN Gunung Merapi (validasi spasial)</a:t>
            </a:r>
          </a:p>
        </p:txBody>
      </p:sp>
      <p:sp>
        <p:nvSpPr>
          <p:cNvPr name="TextBox 109" id="109"/>
          <p:cNvSpPr txBox="true"/>
          <p:nvPr/>
        </p:nvSpPr>
        <p:spPr>
          <a:xfrm rot="0">
            <a:off x="10698480" y="6812280"/>
            <a:ext cx="6761988" cy="2446020"/>
          </a:xfrm>
          <a:prstGeom prst="rect">
            <a:avLst/>
          </a:prstGeom>
        </p:spPr>
        <p:txBody>
          <a:bodyPr anchor="t" rtlCol="false" tIns="0" lIns="0" bIns="0" rIns="0">
            <a:spAutoFit/>
          </a:bodyPr>
          <a:lstStyle/>
          <a:p>
            <a:pPr algn="l" marL="470537" indent="-117634" lvl="3">
              <a:lnSpc>
                <a:spcPts val="2160"/>
              </a:lnSpc>
              <a:buFont typeface="Arial"/>
              <a:buChar char="￭"/>
            </a:pPr>
            <a:r>
              <a:rPr lang="en-US" sz="1800">
                <a:solidFill>
                  <a:srgbClr val="14313B"/>
                </a:solidFill>
                <a:latin typeface="Calibri (MS)"/>
                <a:ea typeface="Calibri (MS)"/>
                <a:cs typeface="Calibri (MS)"/>
                <a:sym typeface="Calibri (MS)"/>
              </a:rPr>
              <a:t>Perbedaan arah NTL–ODTW terbesar pada 2021–2022 dan 2023–2024, sama dengan tahun error LOOCV terbesar</a:t>
            </a:r>
          </a:p>
          <a:p>
            <a:pPr algn="l" marL="470537" indent="-117634" lvl="3">
              <a:lnSpc>
                <a:spcPts val="2160"/>
              </a:lnSpc>
              <a:buFont typeface="Arial"/>
              <a:buChar char="￭"/>
            </a:pPr>
            <a:r>
              <a:rPr lang="en-US" sz="1800">
                <a:solidFill>
                  <a:srgbClr val="14313B"/>
                </a:solidFill>
                <a:latin typeface="Calibri (MS)"/>
                <a:ea typeface="Calibri (MS)"/>
                <a:cs typeface="Calibri (MS)"/>
                <a:sym typeface="Calibri (MS)"/>
              </a:rPr>
              <a:t>Estimasi 2025 turun dari 218 (2024) → sensitivitas diuji pada 189–218 unit</a:t>
            </a:r>
          </a:p>
          <a:p>
            <a:pPr algn="l" marL="470537" indent="-117634" lvl="3">
              <a:lnSpc>
                <a:spcPts val="2160"/>
              </a:lnSpc>
              <a:buFont typeface="Arial"/>
              <a:buChar char="￭"/>
            </a:pPr>
            <a:r>
              <a:rPr lang="en-US" sz="1800">
                <a:solidFill>
                  <a:srgbClr val="14313B"/>
                </a:solidFill>
                <a:latin typeface="Calibri (MS)"/>
                <a:ea typeface="Calibri (MS)"/>
                <a:cs typeface="Calibri (MS)"/>
                <a:sym typeface="Calibri (MS)"/>
              </a:rPr>
              <a:t>Kurang tajam membedakan industri tahap awal dan wisata skala kecil (Sentolo 1,16 vs Pantai Baron 1,69)</a:t>
            </a:r>
          </a:p>
        </p:txBody>
      </p:sp>
      <p:sp>
        <p:nvSpPr>
          <p:cNvPr name="TextBox 110" id="110"/>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28</a:t>
            </a:r>
          </a:p>
        </p:txBody>
      </p:sp>
      <p:grpSp>
        <p:nvGrpSpPr>
          <p:cNvPr name="Group 111" id="111"/>
          <p:cNvGrpSpPr/>
          <p:nvPr/>
        </p:nvGrpSpPr>
        <p:grpSpPr>
          <a:xfrm rot="0">
            <a:off x="12755880" y="274320"/>
            <a:ext cx="3931920" cy="411480"/>
            <a:chOff x="0" y="0"/>
            <a:chExt cx="5242560" cy="548640"/>
          </a:xfrm>
        </p:grpSpPr>
        <p:sp>
          <p:nvSpPr>
            <p:cNvPr name="Freeform 112" id="112"/>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13" id="113"/>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grpSp>
        <p:nvGrpSpPr>
          <p:cNvPr name="Group 114" id="114"/>
          <p:cNvGrpSpPr/>
          <p:nvPr/>
        </p:nvGrpSpPr>
        <p:grpSpPr>
          <a:xfrm rot="0">
            <a:off x="16047720" y="9646920"/>
            <a:ext cx="420624" cy="420624"/>
            <a:chOff x="0" y="0"/>
            <a:chExt cx="560832" cy="560832"/>
          </a:xfrm>
        </p:grpSpPr>
        <p:sp>
          <p:nvSpPr>
            <p:cNvPr name="Freeform 115" id="115"/>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16" id="116"/>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Estimasi ODTW — Validasi Temporal dan Spasial</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NTL mengisi data ODTW 2015–2017 dan 2025, dan konsisten secara spasial</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29</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sp>
        <p:nvSpPr>
          <p:cNvPr name="TextBox 70" id="70"/>
          <p:cNvSpPr txBox="true"/>
          <p:nvPr/>
        </p:nvSpPr>
        <p:spPr>
          <a:xfrm rot="0">
            <a:off x="822960" y="2192655"/>
            <a:ext cx="7315200" cy="504825"/>
          </a:xfrm>
          <a:prstGeom prst="rect">
            <a:avLst/>
          </a:prstGeom>
        </p:spPr>
        <p:txBody>
          <a:bodyPr anchor="t" rtlCol="false" tIns="0" lIns="0" bIns="0" rIns="0">
            <a:spAutoFit/>
          </a:bodyPr>
          <a:lstStyle/>
          <a:p>
            <a:pPr algn="l">
              <a:lnSpc>
                <a:spcPts val="2206"/>
              </a:lnSpc>
            </a:pPr>
            <a:r>
              <a:rPr lang="en-US" sz="1839" b="true">
                <a:solidFill>
                  <a:srgbClr val="0B5E6E"/>
                </a:solidFill>
                <a:latin typeface="Calibri (MS) Bold"/>
                <a:ea typeface="Calibri (MS) Bold"/>
                <a:cs typeface="Calibri (MS) Bold"/>
                <a:sym typeface="Calibri (MS) Bold"/>
              </a:rPr>
              <a:t>Estimasi pada tahun tanpa data BPS</a:t>
            </a:r>
          </a:p>
        </p:txBody>
      </p:sp>
      <p:graphicFrame>
        <p:nvGraphicFramePr>
          <p:cNvPr name="Table 71" id="71"/>
          <p:cNvGraphicFramePr>
            <a:graphicFrameLocks noGrp="true"/>
          </p:cNvGraphicFramePr>
          <p:nvPr/>
        </p:nvGraphicFramePr>
        <p:xfrm>
          <a:off x="822960" y="2743200"/>
          <a:ext cx="7302500" cy="2286000"/>
        </p:xfrm>
        <a:graphic>
          <a:graphicData uri="http://schemas.openxmlformats.org/drawingml/2006/table">
            <a:tbl>
              <a:tblPr/>
              <a:tblGrid>
                <a:gridCol w="1318507"/>
                <a:gridCol w="1318507"/>
                <a:gridCol w="1622778"/>
                <a:gridCol w="3042708"/>
              </a:tblGrid>
              <a:tr h="457200">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Tahun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NTL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Estimasi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Selang prediksi 95%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457200">
                <a:tc>
                  <a:txBody>
                    <a:bodyPr anchor="t" rtlCol="false"/>
                    <a:lstStyle/>
                    <a:p>
                      <a:pPr algn="l">
                        <a:lnSpc>
                          <a:spcPts val="1932"/>
                        </a:lnSpc>
                        <a:defRPr/>
                      </a:pPr>
                      <a:r>
                        <a:rPr lang="en-US" sz="1610">
                          <a:solidFill>
                            <a:srgbClr val="14313B"/>
                          </a:solidFill>
                          <a:latin typeface="Calibri (MS)"/>
                          <a:ea typeface="Calibri (MS)"/>
                          <a:cs typeface="Calibri (MS)"/>
                          <a:sym typeface="Calibri (MS)"/>
                        </a:rPr>
                        <a:t>2015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1,262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165,2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138,5 – 191,9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57200">
                <a:tc>
                  <a:txBody>
                    <a:bodyPr anchor="t" rtlCol="false"/>
                    <a:lstStyle/>
                    <a:p>
                      <a:pPr algn="l">
                        <a:lnSpc>
                          <a:spcPts val="1932"/>
                        </a:lnSpc>
                        <a:defRPr/>
                      </a:pPr>
                      <a:r>
                        <a:rPr lang="en-US" sz="1610">
                          <a:solidFill>
                            <a:srgbClr val="14313B"/>
                          </a:solidFill>
                          <a:latin typeface="Calibri (MS)"/>
                          <a:ea typeface="Calibri (MS)"/>
                          <a:cs typeface="Calibri (MS)"/>
                          <a:sym typeface="Calibri (MS)"/>
                        </a:rPr>
                        <a:t>2016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1,054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158,1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128,9 – 187,3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457200">
                <a:tc>
                  <a:txBody>
                    <a:bodyPr anchor="t" rtlCol="false"/>
                    <a:lstStyle/>
                    <a:p>
                      <a:pPr algn="l">
                        <a:lnSpc>
                          <a:spcPts val="1932"/>
                        </a:lnSpc>
                        <a:defRPr/>
                      </a:pPr>
                      <a:r>
                        <a:rPr lang="en-US" sz="1610">
                          <a:solidFill>
                            <a:srgbClr val="14313B"/>
                          </a:solidFill>
                          <a:latin typeface="Calibri (MS)"/>
                          <a:ea typeface="Calibri (MS)"/>
                          <a:cs typeface="Calibri (MS)"/>
                          <a:sym typeface="Calibri (MS)"/>
                        </a:rPr>
                        <a:t>2017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1,438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171,4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146,4 – 196,3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57200">
                <a:tc>
                  <a:txBody>
                    <a:bodyPr anchor="t" rtlCol="false"/>
                    <a:lstStyle/>
                    <a:p>
                      <a:pPr algn="l">
                        <a:lnSpc>
                          <a:spcPts val="1932"/>
                        </a:lnSpc>
                        <a:defRPr/>
                      </a:pPr>
                      <a:r>
                        <a:rPr lang="en-US" sz="1610">
                          <a:solidFill>
                            <a:srgbClr val="14313B"/>
                          </a:solidFill>
                          <a:latin typeface="Calibri (MS)"/>
                          <a:ea typeface="Calibri (MS)"/>
                          <a:cs typeface="Calibri (MS)"/>
                          <a:sym typeface="Calibri (MS)"/>
                        </a:rPr>
                        <a:t>2025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2,288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200,7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176,7 – 224,8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bl>
          </a:graphicData>
        </a:graphic>
      </p:graphicFrame>
      <p:grpSp>
        <p:nvGrpSpPr>
          <p:cNvPr name="Group 72" id="72"/>
          <p:cNvGrpSpPr/>
          <p:nvPr/>
        </p:nvGrpSpPr>
        <p:grpSpPr>
          <a:xfrm rot="0">
            <a:off x="816607" y="5205727"/>
            <a:ext cx="7327897" cy="3075937"/>
            <a:chOff x="0" y="0"/>
            <a:chExt cx="9770529" cy="4101249"/>
          </a:xfrm>
        </p:grpSpPr>
        <p:sp>
          <p:nvSpPr>
            <p:cNvPr name="Freeform 73" id="73"/>
            <p:cNvSpPr/>
            <p:nvPr/>
          </p:nvSpPr>
          <p:spPr>
            <a:xfrm flipH="false" flipV="false" rot="0">
              <a:off x="0" y="0"/>
              <a:ext cx="9770491" cy="4101211"/>
            </a:xfrm>
            <a:custGeom>
              <a:avLst/>
              <a:gdLst/>
              <a:ahLst/>
              <a:cxnLst/>
              <a:rect r="r" b="b" t="t" l="l"/>
              <a:pathLst>
                <a:path h="4101211" w="9770491">
                  <a:moveTo>
                    <a:pt x="0" y="328041"/>
                  </a:moveTo>
                  <a:cubicBezTo>
                    <a:pt x="0" y="146939"/>
                    <a:pt x="146939" y="0"/>
                    <a:pt x="328041" y="0"/>
                  </a:cubicBezTo>
                  <a:lnTo>
                    <a:pt x="9442450" y="0"/>
                  </a:lnTo>
                  <a:cubicBezTo>
                    <a:pt x="9623679" y="0"/>
                    <a:pt x="9770491" y="146939"/>
                    <a:pt x="9770491" y="328041"/>
                  </a:cubicBezTo>
                  <a:lnTo>
                    <a:pt x="9770491" y="3773170"/>
                  </a:lnTo>
                  <a:cubicBezTo>
                    <a:pt x="9770491" y="3954399"/>
                    <a:pt x="9623552" y="4101211"/>
                    <a:pt x="9442450" y="4101211"/>
                  </a:cubicBezTo>
                  <a:lnTo>
                    <a:pt x="328041" y="4101211"/>
                  </a:lnTo>
                  <a:cubicBezTo>
                    <a:pt x="146939" y="4101211"/>
                    <a:pt x="0" y="3954399"/>
                    <a:pt x="0" y="3773170"/>
                  </a:cubicBezTo>
                  <a:close/>
                </a:path>
              </a:pathLst>
            </a:custGeom>
            <a:solidFill>
              <a:srgbClr val="EAF8FA"/>
            </a:solidFill>
            <a:ln w="12700" cap="sq">
              <a:solidFill>
                <a:srgbClr val="CFE5E9"/>
              </a:solidFill>
              <a:prstDash val="solid"/>
              <a:miter/>
            </a:ln>
          </p:spPr>
          <p:txBody>
            <a:bodyPr/>
            <a:p/>
          </p:txBody>
        </p:sp>
        <p:sp>
          <p:nvSpPr>
            <p:cNvPr name="TextBox 74" id="74"/>
            <p:cNvSpPr txBox="true"/>
            <p:nvPr/>
          </p:nvSpPr>
          <p:spPr>
            <a:xfrm>
              <a:off x="0" y="-38100"/>
              <a:ext cx="9770529" cy="4139349"/>
            </a:xfrm>
            <a:prstGeom prst="rect">
              <a:avLst/>
            </a:prstGeom>
          </p:spPr>
          <p:txBody>
            <a:bodyPr anchor="t" rtlCol="false" tIns="50800" lIns="50800" bIns="50800" rIns="50800"/>
            <a:lstStyle/>
            <a:p>
              <a:pPr algn="l">
                <a:lnSpc>
                  <a:spcPts val="2004"/>
                </a:lnSpc>
              </a:pPr>
              <a:r>
                <a:rPr lang="en-US" sz="1670" b="true">
                  <a:solidFill>
                    <a:srgbClr val="0B5E6E"/>
                  </a:solidFill>
                  <a:latin typeface="Calibri (MS) Bold"/>
                  <a:ea typeface="Calibri (MS) Bold"/>
                  <a:cs typeface="Calibri (MS) Bold"/>
                  <a:sym typeface="Calibri (MS) Bold"/>
                </a:rPr>
                <a:t>• 2025 = 201 unit </a:t>
              </a:r>
              <a:r>
                <a:rPr lang="en-US" sz="1670">
                  <a:solidFill>
                    <a:srgbClr val="14313B"/>
                  </a:solidFill>
                  <a:latin typeface="Calibri (MS)"/>
                  <a:ea typeface="Calibri (MS)"/>
                  <a:cs typeface="Calibri (MS)"/>
                  <a:sym typeface="Calibri (MS)"/>
                </a:rPr>
                <a:t>→ stok awal &amp; ODTW Referensi; turun dari 218 (2024) sehingga diuji sensitivitas 189–218.</a:t>
              </a:r>
            </a:p>
            <a:p>
              <a:pPr algn="l">
                <a:lnSpc>
                  <a:spcPts val="2004"/>
                </a:lnSpc>
              </a:pPr>
              <a:r>
                <a:rPr lang="en-US" sz="1670" b="true">
                  <a:solidFill>
                    <a:srgbClr val="0B5E6E"/>
                  </a:solidFill>
                  <a:latin typeface="Calibri (MS) Bold"/>
                  <a:ea typeface="Calibri (MS) Bold"/>
                  <a:cs typeface="Calibri (MS) Bold"/>
                  <a:sym typeface="Calibri (MS) Bold"/>
                </a:rPr>
                <a:t>• 2016 selang terlebar (≈58 unit) </a:t>
              </a:r>
              <a:r>
                <a:rPr lang="en-US" sz="1670">
                  <a:solidFill>
                    <a:srgbClr val="14313B"/>
                  </a:solidFill>
                  <a:latin typeface="Calibri (MS)"/>
                  <a:ea typeface="Calibri (MS)"/>
                  <a:cs typeface="Calibri (MS)"/>
                  <a:sym typeface="Calibri (MS)"/>
                </a:rPr>
                <a:t>karena NTL 1,054 di luar rentang data latih 1,483–2,512.</a:t>
              </a:r>
            </a:p>
            <a:p>
              <a:pPr algn="l">
                <a:lnSpc>
                  <a:spcPts val="2004"/>
                </a:lnSpc>
              </a:pPr>
              <a:r>
                <a:rPr lang="en-US" sz="1670" b="true">
                  <a:solidFill>
                    <a:srgbClr val="0B5E6E"/>
                  </a:solidFill>
                  <a:latin typeface="Calibri (MS) Bold"/>
                  <a:ea typeface="Calibri (MS) Bold"/>
                  <a:cs typeface="Calibri (MS) Bold"/>
                  <a:sym typeface="Calibri (MS) Bold"/>
                </a:rPr>
                <a:t>• Validasi spasial (NTL 2025, buffer 300 m): </a:t>
              </a:r>
              <a:r>
                <a:rPr lang="en-US" sz="1670">
                  <a:solidFill>
                    <a:srgbClr val="14313B"/>
                  </a:solidFill>
                  <a:latin typeface="Calibri (MS)"/>
                  <a:ea typeface="Calibri (MS)"/>
                  <a:cs typeface="Calibri (MS)"/>
                  <a:sym typeface="Calibri (MS)"/>
                </a:rPr>
                <a:t>Malioboro–Keraton 37,376 · Kotagede 12,631 · Pantai Baron 1,692 · Sentolo 1,161 · TN Merapi 0,959.</a:t>
              </a:r>
            </a:p>
          </p:txBody>
        </p:sp>
      </p:grpSp>
      <p:grpSp>
        <p:nvGrpSpPr>
          <p:cNvPr name="Group 75" id="75"/>
          <p:cNvGrpSpPr/>
          <p:nvPr/>
        </p:nvGrpSpPr>
        <p:grpSpPr>
          <a:xfrm rot="0">
            <a:off x="9029700" y="2240280"/>
            <a:ext cx="7909560" cy="6035040"/>
            <a:chOff x="0" y="0"/>
            <a:chExt cx="10546080" cy="8046720"/>
          </a:xfrm>
        </p:grpSpPr>
        <p:sp>
          <p:nvSpPr>
            <p:cNvPr name="Freeform 76" id="76" descr="image14.png"/>
            <p:cNvSpPr/>
            <p:nvPr/>
          </p:nvSpPr>
          <p:spPr>
            <a:xfrm flipH="false" flipV="false" rot="0">
              <a:off x="0" y="0"/>
              <a:ext cx="10546080" cy="8046720"/>
            </a:xfrm>
            <a:custGeom>
              <a:avLst/>
              <a:gdLst/>
              <a:ahLst/>
              <a:cxnLst/>
              <a:rect r="r" b="b" t="t" l="l"/>
              <a:pathLst>
                <a:path h="8046720" w="10546080">
                  <a:moveTo>
                    <a:pt x="0" y="0"/>
                  </a:moveTo>
                  <a:lnTo>
                    <a:pt x="10546080" y="0"/>
                  </a:lnTo>
                  <a:lnTo>
                    <a:pt x="10546080" y="8046720"/>
                  </a:lnTo>
                  <a:lnTo>
                    <a:pt x="0" y="8046720"/>
                  </a:lnTo>
                  <a:lnTo>
                    <a:pt x="0" y="0"/>
                  </a:lnTo>
                  <a:close/>
                </a:path>
              </a:pathLst>
            </a:custGeom>
            <a:blipFill>
              <a:blip r:embed="rId7"/>
              <a:stretch>
                <a:fillRect l="0" t="0" r="0" b="0"/>
              </a:stretch>
            </a:blipFill>
          </p:spPr>
          <p:txBody>
            <a:bodyPr/>
            <a:p/>
          </p:txBody>
        </p:sp>
      </p:grpSp>
      <p:grpSp>
        <p:nvGrpSpPr>
          <p:cNvPr name="Group 77" id="77"/>
          <p:cNvGrpSpPr/>
          <p:nvPr/>
        </p:nvGrpSpPr>
        <p:grpSpPr>
          <a:xfrm rot="0">
            <a:off x="816607" y="8406127"/>
            <a:ext cx="16654777" cy="789937"/>
            <a:chOff x="0" y="0"/>
            <a:chExt cx="22206369" cy="1053249"/>
          </a:xfrm>
        </p:grpSpPr>
        <p:sp>
          <p:nvSpPr>
            <p:cNvPr name="Freeform 78" id="78"/>
            <p:cNvSpPr/>
            <p:nvPr/>
          </p:nvSpPr>
          <p:spPr>
            <a:xfrm flipH="false" flipV="false" rot="0">
              <a:off x="0" y="0"/>
              <a:ext cx="22206331" cy="1053211"/>
            </a:xfrm>
            <a:custGeom>
              <a:avLst/>
              <a:gdLst/>
              <a:ahLst/>
              <a:cxnLst/>
              <a:rect r="r" b="b" t="t" l="l"/>
              <a:pathLst>
                <a:path h="1053211" w="22206331">
                  <a:moveTo>
                    <a:pt x="0" y="84201"/>
                  </a:moveTo>
                  <a:cubicBezTo>
                    <a:pt x="0" y="37719"/>
                    <a:pt x="37719" y="0"/>
                    <a:pt x="84201" y="0"/>
                  </a:cubicBezTo>
                  <a:lnTo>
                    <a:pt x="22122130" y="0"/>
                  </a:lnTo>
                  <a:cubicBezTo>
                    <a:pt x="22168613" y="0"/>
                    <a:pt x="22206331" y="37719"/>
                    <a:pt x="22206331" y="84201"/>
                  </a:cubicBezTo>
                  <a:lnTo>
                    <a:pt x="22206331" y="969010"/>
                  </a:lnTo>
                  <a:cubicBezTo>
                    <a:pt x="22206331" y="1015492"/>
                    <a:pt x="22168613" y="1053211"/>
                    <a:pt x="22122130" y="1053211"/>
                  </a:cubicBezTo>
                  <a:lnTo>
                    <a:pt x="84201" y="1053211"/>
                  </a:lnTo>
                  <a:cubicBezTo>
                    <a:pt x="37719" y="1053211"/>
                    <a:pt x="0" y="1015492"/>
                    <a:pt x="0" y="969010"/>
                  </a:cubicBezTo>
                  <a:close/>
                </a:path>
              </a:pathLst>
            </a:custGeom>
            <a:solidFill>
              <a:srgbClr val="FFF1BF"/>
            </a:solidFill>
            <a:ln w="12700" cap="sq">
              <a:solidFill>
                <a:srgbClr val="FFD23B"/>
              </a:solidFill>
              <a:prstDash val="solid"/>
              <a:miter/>
            </a:ln>
          </p:spPr>
          <p:txBody>
            <a:bodyPr/>
            <a:p/>
          </p:txBody>
        </p:sp>
        <p:sp>
          <p:nvSpPr>
            <p:cNvPr name="TextBox 79" id="79"/>
            <p:cNvSpPr txBox="true"/>
            <p:nvPr/>
          </p:nvSpPr>
          <p:spPr>
            <a:xfrm>
              <a:off x="0" y="-38100"/>
              <a:ext cx="22206369" cy="109134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NTL peka membedakan kawasan padat/aktif dari kawasan minim aktivitas, tetapi kurang tajam untuk aktivitas skala kecil (Sentolo vs Pantai Baron).</a:t>
              </a:r>
            </a:p>
          </p:txBody>
        </p:sp>
      </p:grpSp>
      <p:grpSp>
        <p:nvGrpSpPr>
          <p:cNvPr name="Group 80" id="80"/>
          <p:cNvGrpSpPr/>
          <p:nvPr/>
        </p:nvGrpSpPr>
        <p:grpSpPr>
          <a:xfrm rot="0">
            <a:off x="16047720" y="9646920"/>
            <a:ext cx="420624" cy="420624"/>
            <a:chOff x="0" y="0"/>
            <a:chExt cx="560832" cy="560832"/>
          </a:xfrm>
        </p:grpSpPr>
        <p:sp>
          <p:nvSpPr>
            <p:cNvPr name="Freeform 81" id="81"/>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82" id="82"/>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Estimasi Lahan Terbangun — Uji Akurasi</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Dynamic World akurat, tetapi data tahunannya mengandung noise</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6" id="66"/>
          <p:cNvGrpSpPr/>
          <p:nvPr/>
        </p:nvGrpSpPr>
        <p:grpSpPr>
          <a:xfrm rot="0">
            <a:off x="839353" y="2331720"/>
            <a:ext cx="9431274" cy="5897880"/>
            <a:chOff x="0" y="0"/>
            <a:chExt cx="12575032" cy="7863840"/>
          </a:xfrm>
        </p:grpSpPr>
        <p:sp>
          <p:nvSpPr>
            <p:cNvPr name="Freeform 67" id="67" descr="Perbandingan lahan terbangun Dynamic World dengan data BPS dan DLHK"/>
            <p:cNvSpPr/>
            <p:nvPr/>
          </p:nvSpPr>
          <p:spPr>
            <a:xfrm flipH="false" flipV="false" rot="0">
              <a:off x="0" y="0"/>
              <a:ext cx="12575032" cy="7863840"/>
            </a:xfrm>
            <a:custGeom>
              <a:avLst/>
              <a:gdLst/>
              <a:ahLst/>
              <a:cxnLst/>
              <a:rect r="r" b="b" t="t" l="l"/>
              <a:pathLst>
                <a:path h="7863840" w="12575032">
                  <a:moveTo>
                    <a:pt x="0" y="0"/>
                  </a:moveTo>
                  <a:lnTo>
                    <a:pt x="12575032" y="0"/>
                  </a:lnTo>
                  <a:lnTo>
                    <a:pt x="12575032" y="7863840"/>
                  </a:lnTo>
                  <a:lnTo>
                    <a:pt x="0" y="7863840"/>
                  </a:lnTo>
                  <a:lnTo>
                    <a:pt x="0" y="0"/>
                  </a:lnTo>
                  <a:close/>
                </a:path>
              </a:pathLst>
            </a:custGeom>
            <a:blipFill>
              <a:blip r:embed="rId7"/>
              <a:stretch>
                <a:fillRect l="0" t="0" r="0" b="0"/>
              </a:stretch>
            </a:blipFill>
          </p:spPr>
          <p:txBody>
            <a:bodyPr/>
            <a:p/>
          </p:txBody>
        </p:sp>
      </p:grpSp>
      <p:sp>
        <p:nvSpPr>
          <p:cNvPr name="TextBox 68" id="68"/>
          <p:cNvSpPr txBox="true"/>
          <p:nvPr/>
        </p:nvSpPr>
        <p:spPr>
          <a:xfrm rot="0">
            <a:off x="822960" y="8183880"/>
            <a:ext cx="9464040" cy="5257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Lahan terbangun: Dynamic World vs data resmi BPS dan DLHK DIY, 2015–2019</a:t>
            </a:r>
          </a:p>
        </p:txBody>
      </p:sp>
      <p:grpSp>
        <p:nvGrpSpPr>
          <p:cNvPr name="Group 69" id="69"/>
          <p:cNvGrpSpPr/>
          <p:nvPr/>
        </p:nvGrpSpPr>
        <p:grpSpPr>
          <a:xfrm rot="0">
            <a:off x="10698480" y="2331720"/>
            <a:ext cx="3291840" cy="2057400"/>
            <a:chOff x="0" y="0"/>
            <a:chExt cx="4389120" cy="2743200"/>
          </a:xfrm>
        </p:grpSpPr>
        <p:sp>
          <p:nvSpPr>
            <p:cNvPr name="Freeform 70" id="70"/>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71" id="71"/>
          <p:cNvGrpSpPr/>
          <p:nvPr/>
        </p:nvGrpSpPr>
        <p:grpSpPr>
          <a:xfrm rot="0">
            <a:off x="10904220" y="2468880"/>
            <a:ext cx="2880360" cy="685800"/>
            <a:chOff x="0" y="0"/>
            <a:chExt cx="3840480" cy="914400"/>
          </a:xfrm>
        </p:grpSpPr>
        <p:sp>
          <p:nvSpPr>
            <p:cNvPr name="Freeform 72" id="72"/>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txBody>
            <a:bodyPr/>
            <a:p/>
          </p:txBody>
        </p:sp>
      </p:grpSp>
      <p:grpSp>
        <p:nvGrpSpPr>
          <p:cNvPr name="Group 73" id="73"/>
          <p:cNvGrpSpPr/>
          <p:nvPr/>
        </p:nvGrpSpPr>
        <p:grpSpPr>
          <a:xfrm rot="0">
            <a:off x="10904220" y="2418874"/>
            <a:ext cx="2880360" cy="735806"/>
            <a:chOff x="0" y="0"/>
            <a:chExt cx="3840480" cy="981075"/>
          </a:xfrm>
        </p:grpSpPr>
        <p:sp>
          <p:nvSpPr>
            <p:cNvPr name="Freeform 74" id="74"/>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22" r="0" b="-26222"/>
              </a:stretch>
            </a:blipFill>
          </p:spPr>
          <p:txBody>
            <a:bodyPr/>
            <a:p/>
          </p:txBody>
        </p:sp>
      </p:grpSp>
      <p:grpSp>
        <p:nvGrpSpPr>
          <p:cNvPr name="Group 75" id="75"/>
          <p:cNvGrpSpPr/>
          <p:nvPr/>
        </p:nvGrpSpPr>
        <p:grpSpPr>
          <a:xfrm rot="0">
            <a:off x="10904220" y="2368867"/>
            <a:ext cx="2880360" cy="785812"/>
            <a:chOff x="0" y="0"/>
            <a:chExt cx="3840480" cy="1047750"/>
          </a:xfrm>
        </p:grpSpPr>
        <p:sp>
          <p:nvSpPr>
            <p:cNvPr name="Freeform 76" id="76"/>
            <p:cNvSpPr/>
            <p:nvPr/>
          </p:nvSpPr>
          <p:spPr>
            <a:xfrm flipH="false" flipV="false" rot="0">
              <a:off x="0" y="0"/>
              <a:ext cx="3840480" cy="1047750"/>
            </a:xfrm>
            <a:custGeom>
              <a:avLst/>
              <a:gdLst/>
              <a:ahLst/>
              <a:cxnLst/>
              <a:rect r="r" b="b" t="t" l="l"/>
              <a:pathLst>
                <a:path h="1047750" w="3840480">
                  <a:moveTo>
                    <a:pt x="0" y="0"/>
                  </a:moveTo>
                  <a:lnTo>
                    <a:pt x="3840480" y="0"/>
                  </a:lnTo>
                  <a:lnTo>
                    <a:pt x="3840480" y="1047750"/>
                  </a:lnTo>
                  <a:lnTo>
                    <a:pt x="0" y="1047750"/>
                  </a:lnTo>
                  <a:close/>
                </a:path>
              </a:pathLst>
            </a:custGeom>
            <a:blipFill>
              <a:blip r:embed="rId6">
                <a:alphaModFix amt="0"/>
              </a:blip>
              <a:stretch>
                <a:fillRect l="0" t="-21421" r="0" b="-21421"/>
              </a:stretch>
            </a:blipFill>
          </p:spPr>
          <p:txBody>
            <a:bodyPr/>
            <a:p/>
          </p:txBody>
        </p:sp>
        <p:sp>
          <p:nvSpPr>
            <p:cNvPr name="TextBox 77" id="77"/>
            <p:cNvSpPr txBox="true"/>
            <p:nvPr/>
          </p:nvSpPr>
          <p:spPr>
            <a:xfrm>
              <a:off x="0" y="-66675"/>
              <a:ext cx="3840480" cy="1114425"/>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89,95%</a:t>
              </a:r>
            </a:p>
          </p:txBody>
        </p:sp>
      </p:grpSp>
      <p:sp>
        <p:nvSpPr>
          <p:cNvPr name="TextBox 78" id="78"/>
          <p:cNvSpPr txBox="true"/>
          <p:nvPr/>
        </p:nvSpPr>
        <p:spPr>
          <a:xfrm rot="0">
            <a:off x="10904220" y="3096387"/>
            <a:ext cx="2880360" cy="1251585"/>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akurasi keseluruhan terbobot luas (tak terbobot 80,50%)</a:t>
            </a:r>
          </a:p>
        </p:txBody>
      </p:sp>
      <p:grpSp>
        <p:nvGrpSpPr>
          <p:cNvPr name="Group 79" id="79"/>
          <p:cNvGrpSpPr/>
          <p:nvPr/>
        </p:nvGrpSpPr>
        <p:grpSpPr>
          <a:xfrm rot="0">
            <a:off x="14127480" y="2331720"/>
            <a:ext cx="3291840" cy="2057400"/>
            <a:chOff x="0" y="0"/>
            <a:chExt cx="4389120" cy="2743200"/>
          </a:xfrm>
        </p:grpSpPr>
        <p:sp>
          <p:nvSpPr>
            <p:cNvPr name="Freeform 80" id="80"/>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81" id="81"/>
          <p:cNvGrpSpPr/>
          <p:nvPr/>
        </p:nvGrpSpPr>
        <p:grpSpPr>
          <a:xfrm rot="0">
            <a:off x="14333220" y="2468880"/>
            <a:ext cx="2880360" cy="685800"/>
            <a:chOff x="0" y="0"/>
            <a:chExt cx="3840480" cy="914400"/>
          </a:xfrm>
        </p:grpSpPr>
        <p:sp>
          <p:nvSpPr>
            <p:cNvPr name="Freeform 82" id="82"/>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txBody>
            <a:bodyPr/>
            <a:p/>
          </p:txBody>
        </p:sp>
      </p:grpSp>
      <p:grpSp>
        <p:nvGrpSpPr>
          <p:cNvPr name="Group 83" id="83"/>
          <p:cNvGrpSpPr/>
          <p:nvPr/>
        </p:nvGrpSpPr>
        <p:grpSpPr>
          <a:xfrm rot="0">
            <a:off x="14333220" y="2418874"/>
            <a:ext cx="2880360" cy="735806"/>
            <a:chOff x="0" y="0"/>
            <a:chExt cx="3840480" cy="981075"/>
          </a:xfrm>
        </p:grpSpPr>
        <p:sp>
          <p:nvSpPr>
            <p:cNvPr name="Freeform 84" id="84"/>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22" r="0" b="-26222"/>
              </a:stretch>
            </a:blipFill>
          </p:spPr>
          <p:txBody>
            <a:bodyPr/>
            <a:p/>
          </p:txBody>
        </p:sp>
      </p:grpSp>
      <p:grpSp>
        <p:nvGrpSpPr>
          <p:cNvPr name="Group 85" id="85"/>
          <p:cNvGrpSpPr/>
          <p:nvPr/>
        </p:nvGrpSpPr>
        <p:grpSpPr>
          <a:xfrm rot="0">
            <a:off x="14333220" y="2368867"/>
            <a:ext cx="2880360" cy="785812"/>
            <a:chOff x="0" y="0"/>
            <a:chExt cx="3840480" cy="1047750"/>
          </a:xfrm>
        </p:grpSpPr>
        <p:sp>
          <p:nvSpPr>
            <p:cNvPr name="Freeform 86" id="86"/>
            <p:cNvSpPr/>
            <p:nvPr/>
          </p:nvSpPr>
          <p:spPr>
            <a:xfrm flipH="false" flipV="false" rot="0">
              <a:off x="0" y="0"/>
              <a:ext cx="3840480" cy="1047750"/>
            </a:xfrm>
            <a:custGeom>
              <a:avLst/>
              <a:gdLst/>
              <a:ahLst/>
              <a:cxnLst/>
              <a:rect r="r" b="b" t="t" l="l"/>
              <a:pathLst>
                <a:path h="1047750" w="3840480">
                  <a:moveTo>
                    <a:pt x="0" y="0"/>
                  </a:moveTo>
                  <a:lnTo>
                    <a:pt x="3840480" y="0"/>
                  </a:lnTo>
                  <a:lnTo>
                    <a:pt x="3840480" y="1047750"/>
                  </a:lnTo>
                  <a:lnTo>
                    <a:pt x="0" y="1047750"/>
                  </a:lnTo>
                  <a:close/>
                </a:path>
              </a:pathLst>
            </a:custGeom>
            <a:blipFill>
              <a:blip r:embed="rId6">
                <a:alphaModFix amt="0"/>
              </a:blip>
              <a:stretch>
                <a:fillRect l="0" t="-21421" r="0" b="-21421"/>
              </a:stretch>
            </a:blipFill>
          </p:spPr>
          <p:txBody>
            <a:bodyPr/>
            <a:p/>
          </p:txBody>
        </p:sp>
        <p:sp>
          <p:nvSpPr>
            <p:cNvPr name="TextBox 87" id="87"/>
            <p:cNvSpPr txBox="true"/>
            <p:nvPr/>
          </p:nvSpPr>
          <p:spPr>
            <a:xfrm>
              <a:off x="0" y="-66675"/>
              <a:ext cx="3840480" cy="1114425"/>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0,61</a:t>
              </a:r>
            </a:p>
          </p:txBody>
        </p:sp>
      </p:grpSp>
      <p:sp>
        <p:nvSpPr>
          <p:cNvPr name="TextBox 88" id="88"/>
          <p:cNvSpPr txBox="true"/>
          <p:nvPr/>
        </p:nvSpPr>
        <p:spPr>
          <a:xfrm rot="0">
            <a:off x="14333220" y="3096387"/>
            <a:ext cx="2880360" cy="1251585"/>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koefisien Kappa — kesepakatan kuat (Landis &amp; Koch)</a:t>
            </a:r>
          </a:p>
        </p:txBody>
      </p:sp>
      <p:grpSp>
        <p:nvGrpSpPr>
          <p:cNvPr name="Group 89" id="89"/>
          <p:cNvGrpSpPr/>
          <p:nvPr/>
        </p:nvGrpSpPr>
        <p:grpSpPr>
          <a:xfrm rot="0">
            <a:off x="10698480" y="4553712"/>
            <a:ext cx="3291840" cy="2057400"/>
            <a:chOff x="0" y="0"/>
            <a:chExt cx="4389120" cy="2743200"/>
          </a:xfrm>
        </p:grpSpPr>
        <p:sp>
          <p:nvSpPr>
            <p:cNvPr name="Freeform 90" id="90"/>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91" id="91"/>
          <p:cNvGrpSpPr/>
          <p:nvPr/>
        </p:nvGrpSpPr>
        <p:grpSpPr>
          <a:xfrm rot="0">
            <a:off x="10904220" y="4690872"/>
            <a:ext cx="2880360" cy="685800"/>
            <a:chOff x="0" y="0"/>
            <a:chExt cx="3840480" cy="914400"/>
          </a:xfrm>
        </p:grpSpPr>
        <p:sp>
          <p:nvSpPr>
            <p:cNvPr name="Freeform 92" id="92"/>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txBody>
            <a:bodyPr/>
            <a:p/>
          </p:txBody>
        </p:sp>
      </p:grpSp>
      <p:grpSp>
        <p:nvGrpSpPr>
          <p:cNvPr name="Group 93" id="93"/>
          <p:cNvGrpSpPr/>
          <p:nvPr/>
        </p:nvGrpSpPr>
        <p:grpSpPr>
          <a:xfrm rot="0">
            <a:off x="10904220" y="4640866"/>
            <a:ext cx="2880360" cy="735806"/>
            <a:chOff x="0" y="0"/>
            <a:chExt cx="3840480" cy="981075"/>
          </a:xfrm>
        </p:grpSpPr>
        <p:sp>
          <p:nvSpPr>
            <p:cNvPr name="Freeform 94" id="94"/>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22" r="0" b="-26222"/>
              </a:stretch>
            </a:blipFill>
          </p:spPr>
          <p:txBody>
            <a:bodyPr/>
            <a:p/>
          </p:txBody>
        </p:sp>
      </p:grpSp>
      <p:grpSp>
        <p:nvGrpSpPr>
          <p:cNvPr name="Group 95" id="95"/>
          <p:cNvGrpSpPr/>
          <p:nvPr/>
        </p:nvGrpSpPr>
        <p:grpSpPr>
          <a:xfrm rot="0">
            <a:off x="10904220" y="4590860"/>
            <a:ext cx="2880360" cy="785812"/>
            <a:chOff x="0" y="0"/>
            <a:chExt cx="3840480" cy="1047750"/>
          </a:xfrm>
        </p:grpSpPr>
        <p:sp>
          <p:nvSpPr>
            <p:cNvPr name="Freeform 96" id="96"/>
            <p:cNvSpPr/>
            <p:nvPr/>
          </p:nvSpPr>
          <p:spPr>
            <a:xfrm flipH="false" flipV="false" rot="0">
              <a:off x="0" y="0"/>
              <a:ext cx="3840480" cy="1047750"/>
            </a:xfrm>
            <a:custGeom>
              <a:avLst/>
              <a:gdLst/>
              <a:ahLst/>
              <a:cxnLst/>
              <a:rect r="r" b="b" t="t" l="l"/>
              <a:pathLst>
                <a:path h="1047750" w="3840480">
                  <a:moveTo>
                    <a:pt x="0" y="0"/>
                  </a:moveTo>
                  <a:lnTo>
                    <a:pt x="3840480" y="0"/>
                  </a:lnTo>
                  <a:lnTo>
                    <a:pt x="3840480" y="1047750"/>
                  </a:lnTo>
                  <a:lnTo>
                    <a:pt x="0" y="1047750"/>
                  </a:lnTo>
                  <a:close/>
                </a:path>
              </a:pathLst>
            </a:custGeom>
            <a:blipFill>
              <a:blip r:embed="rId6">
                <a:alphaModFix amt="0"/>
              </a:blip>
              <a:stretch>
                <a:fillRect l="0" t="-21421" r="0" b="-21421"/>
              </a:stretch>
            </a:blipFill>
          </p:spPr>
          <p:txBody>
            <a:bodyPr/>
            <a:p/>
          </p:txBody>
        </p:sp>
        <p:sp>
          <p:nvSpPr>
            <p:cNvPr name="TextBox 97" id="97"/>
            <p:cNvSpPr txBox="true"/>
            <p:nvPr/>
          </p:nvSpPr>
          <p:spPr>
            <a:xfrm>
              <a:off x="0" y="-66675"/>
              <a:ext cx="3840480" cy="1114425"/>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66,00%</a:t>
              </a:r>
            </a:p>
          </p:txBody>
        </p:sp>
      </p:grpSp>
      <p:sp>
        <p:nvSpPr>
          <p:cNvPr name="TextBox 98" id="98"/>
          <p:cNvSpPr txBox="true"/>
          <p:nvPr/>
        </p:nvSpPr>
        <p:spPr>
          <a:xfrm rot="0">
            <a:off x="10904220" y="5318379"/>
            <a:ext cx="2880360" cy="1251585"/>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user's accuracy kelas terbangun: commission error dominan (34 dari 100 titik)</a:t>
            </a:r>
          </a:p>
        </p:txBody>
      </p:sp>
      <p:grpSp>
        <p:nvGrpSpPr>
          <p:cNvPr name="Group 99" id="99"/>
          <p:cNvGrpSpPr/>
          <p:nvPr/>
        </p:nvGrpSpPr>
        <p:grpSpPr>
          <a:xfrm rot="0">
            <a:off x="14127480" y="4553712"/>
            <a:ext cx="3291840" cy="2057400"/>
            <a:chOff x="0" y="0"/>
            <a:chExt cx="4389120" cy="2743200"/>
          </a:xfrm>
        </p:grpSpPr>
        <p:sp>
          <p:nvSpPr>
            <p:cNvPr name="Freeform 100" id="100"/>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FFF1BF"/>
            </a:solidFill>
          </p:spPr>
          <p:txBody>
            <a:bodyPr/>
            <a:p/>
          </p:txBody>
        </p:sp>
      </p:grpSp>
      <p:grpSp>
        <p:nvGrpSpPr>
          <p:cNvPr name="Group 101" id="101"/>
          <p:cNvGrpSpPr/>
          <p:nvPr/>
        </p:nvGrpSpPr>
        <p:grpSpPr>
          <a:xfrm rot="0">
            <a:off x="14333220" y="4690872"/>
            <a:ext cx="2880360" cy="685800"/>
            <a:chOff x="0" y="0"/>
            <a:chExt cx="3840480" cy="914400"/>
          </a:xfrm>
        </p:grpSpPr>
        <p:sp>
          <p:nvSpPr>
            <p:cNvPr name="Freeform 102" id="102"/>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txBody>
            <a:bodyPr/>
            <a:p/>
          </p:txBody>
        </p:sp>
      </p:grpSp>
      <p:grpSp>
        <p:nvGrpSpPr>
          <p:cNvPr name="Group 103" id="103"/>
          <p:cNvGrpSpPr/>
          <p:nvPr/>
        </p:nvGrpSpPr>
        <p:grpSpPr>
          <a:xfrm rot="0">
            <a:off x="14333220" y="4640866"/>
            <a:ext cx="2880360" cy="735806"/>
            <a:chOff x="0" y="0"/>
            <a:chExt cx="3840480" cy="981075"/>
          </a:xfrm>
        </p:grpSpPr>
        <p:sp>
          <p:nvSpPr>
            <p:cNvPr name="Freeform 104" id="104"/>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22" r="0" b="-26222"/>
              </a:stretch>
            </a:blipFill>
          </p:spPr>
          <p:txBody>
            <a:bodyPr/>
            <a:p/>
          </p:txBody>
        </p:sp>
      </p:grpSp>
      <p:grpSp>
        <p:nvGrpSpPr>
          <p:cNvPr name="Group 105" id="105"/>
          <p:cNvGrpSpPr/>
          <p:nvPr/>
        </p:nvGrpSpPr>
        <p:grpSpPr>
          <a:xfrm rot="0">
            <a:off x="14333220" y="4590860"/>
            <a:ext cx="2880360" cy="785812"/>
            <a:chOff x="0" y="0"/>
            <a:chExt cx="3840480" cy="1047750"/>
          </a:xfrm>
        </p:grpSpPr>
        <p:sp>
          <p:nvSpPr>
            <p:cNvPr name="Freeform 106" id="106"/>
            <p:cNvSpPr/>
            <p:nvPr/>
          </p:nvSpPr>
          <p:spPr>
            <a:xfrm flipH="false" flipV="false" rot="0">
              <a:off x="0" y="0"/>
              <a:ext cx="3840480" cy="1047750"/>
            </a:xfrm>
            <a:custGeom>
              <a:avLst/>
              <a:gdLst/>
              <a:ahLst/>
              <a:cxnLst/>
              <a:rect r="r" b="b" t="t" l="l"/>
              <a:pathLst>
                <a:path h="1047750" w="3840480">
                  <a:moveTo>
                    <a:pt x="0" y="0"/>
                  </a:moveTo>
                  <a:lnTo>
                    <a:pt x="3840480" y="0"/>
                  </a:lnTo>
                  <a:lnTo>
                    <a:pt x="3840480" y="1047750"/>
                  </a:lnTo>
                  <a:lnTo>
                    <a:pt x="0" y="1047750"/>
                  </a:lnTo>
                  <a:close/>
                </a:path>
              </a:pathLst>
            </a:custGeom>
            <a:blipFill>
              <a:blip r:embed="rId6">
                <a:alphaModFix amt="0"/>
              </a:blip>
              <a:stretch>
                <a:fillRect l="0" t="-21421" r="0" b="-21421"/>
              </a:stretch>
            </a:blipFill>
          </p:spPr>
          <p:txBody>
            <a:bodyPr/>
            <a:p/>
          </p:txBody>
        </p:sp>
        <p:sp>
          <p:nvSpPr>
            <p:cNvPr name="TextBox 107" id="107"/>
            <p:cNvSpPr txBox="true"/>
            <p:nvPr/>
          </p:nvSpPr>
          <p:spPr>
            <a:xfrm>
              <a:off x="0" y="-66675"/>
              <a:ext cx="3840480" cy="1114425"/>
            </a:xfrm>
            <a:prstGeom prst="rect">
              <a:avLst/>
            </a:prstGeom>
          </p:spPr>
          <p:txBody>
            <a:bodyPr anchor="ctr" rtlCol="false" tIns="0" lIns="0" bIns="0" rIns="0"/>
            <a:lstStyle/>
            <a:p>
              <a:pPr algn="l">
                <a:lnSpc>
                  <a:spcPts val="4320"/>
                </a:lnSpc>
              </a:pPr>
              <a:r>
                <a:rPr lang="en-US" sz="3600" b="true">
                  <a:solidFill>
                    <a:srgbClr val="E4604F"/>
                  </a:solidFill>
                  <a:latin typeface="Calibri (MS) Bold"/>
                  <a:ea typeface="Calibri (MS) Bold"/>
                  <a:cs typeface="Calibri (MS) Bold"/>
                  <a:sym typeface="Calibri (MS) Bold"/>
                </a:rPr>
                <a:t>−27%</a:t>
              </a:r>
            </a:p>
          </p:txBody>
        </p:sp>
      </p:grpSp>
      <p:sp>
        <p:nvSpPr>
          <p:cNvPr name="TextBox 108" id="108"/>
          <p:cNvSpPr txBox="true"/>
          <p:nvPr/>
        </p:nvSpPr>
        <p:spPr>
          <a:xfrm rot="0">
            <a:off x="14333220" y="5318379"/>
            <a:ext cx="2880360" cy="1251585"/>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lahan terbangun 2023→2025 (75.624 → 55.030 ha): kesalahan data, bukan perubahan fisik</a:t>
            </a:r>
          </a:p>
        </p:txBody>
      </p:sp>
      <p:sp>
        <p:nvSpPr>
          <p:cNvPr name="TextBox 109" id="109"/>
          <p:cNvSpPr txBox="true"/>
          <p:nvPr/>
        </p:nvSpPr>
        <p:spPr>
          <a:xfrm rot="0">
            <a:off x="10698480" y="6812280"/>
            <a:ext cx="6761988" cy="2446020"/>
          </a:xfrm>
          <a:prstGeom prst="rect">
            <a:avLst/>
          </a:prstGeom>
        </p:spPr>
        <p:txBody>
          <a:bodyPr anchor="t" rtlCol="false" tIns="0" lIns="0" bIns="0" rIns="0">
            <a:spAutoFit/>
          </a:bodyPr>
          <a:lstStyle/>
          <a:p>
            <a:pPr algn="l" marL="470537" indent="-117634" lvl="3">
              <a:lnSpc>
                <a:spcPts val="2160"/>
              </a:lnSpc>
              <a:buFont typeface="Arial"/>
              <a:buChar char="￭"/>
            </a:pPr>
            <a:r>
              <a:rPr lang="en-US" sz="1800">
                <a:solidFill>
                  <a:srgbClr val="14313B"/>
                </a:solidFill>
                <a:latin typeface="Calibri (MS)"/>
                <a:ea typeface="Calibri (MS)"/>
                <a:cs typeface="Calibri (MS)"/>
                <a:sym typeface="Calibri (MS)"/>
              </a:rPr>
              <a:t>Kesalahan terkonsentrasi pada piksel campuran di tepi objek (probabilitas ≈ 0,5)</a:t>
            </a:r>
          </a:p>
          <a:p>
            <a:pPr algn="l" marL="470537" indent="-117634" lvl="3">
              <a:lnSpc>
                <a:spcPts val="2160"/>
              </a:lnSpc>
              <a:buFont typeface="Arial"/>
              <a:buChar char="￭"/>
            </a:pPr>
            <a:r>
              <a:rPr lang="en-US" sz="1800">
                <a:solidFill>
                  <a:srgbClr val="14313B"/>
                </a:solidFill>
                <a:latin typeface="Calibri (MS)"/>
                <a:ea typeface="Calibri (MS)"/>
                <a:cs typeface="Calibri (MS)"/>
                <a:sym typeface="Calibri (MS)"/>
              </a:rPr>
              <a:t>BPS dan DLHK lebih inkonsisten dan tidak sejalan → Dynamic World tetap dipilih</a:t>
            </a:r>
          </a:p>
          <a:p>
            <a:pPr algn="l" marL="470537" indent="-117634" lvl="3">
              <a:lnSpc>
                <a:spcPts val="2160"/>
              </a:lnSpc>
              <a:buFont typeface="Arial"/>
              <a:buChar char="￭"/>
            </a:pPr>
            <a:r>
              <a:rPr lang="en-US" sz="1800">
                <a:solidFill>
                  <a:srgbClr val="14313B"/>
                </a:solidFill>
                <a:latin typeface="Calibri (MS)"/>
                <a:ea typeface="Calibri (MS)"/>
                <a:cs typeface="Calibri (MS)"/>
                <a:sym typeface="Calibri (MS)"/>
              </a:rPr>
              <a:t>Nilai mentah tetap dipakai (tahun dasar 2025 jadi acuan seluruh parameter dan kalibrasi); koreksi hanya diagnostik</a:t>
            </a:r>
          </a:p>
        </p:txBody>
      </p:sp>
      <p:sp>
        <p:nvSpPr>
          <p:cNvPr name="TextBox 110" id="110"/>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30</a:t>
            </a:r>
          </a:p>
        </p:txBody>
      </p:sp>
      <p:grpSp>
        <p:nvGrpSpPr>
          <p:cNvPr name="Group 111" id="111"/>
          <p:cNvGrpSpPr/>
          <p:nvPr/>
        </p:nvGrpSpPr>
        <p:grpSpPr>
          <a:xfrm rot="0">
            <a:off x="12755880" y="274320"/>
            <a:ext cx="3931920" cy="411480"/>
            <a:chOff x="0" y="0"/>
            <a:chExt cx="5242560" cy="548640"/>
          </a:xfrm>
        </p:grpSpPr>
        <p:sp>
          <p:nvSpPr>
            <p:cNvPr name="Freeform 112" id="112"/>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13" id="113"/>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grpSp>
        <p:nvGrpSpPr>
          <p:cNvPr name="Group 114" id="114"/>
          <p:cNvGrpSpPr/>
          <p:nvPr/>
        </p:nvGrpSpPr>
        <p:grpSpPr>
          <a:xfrm rot="0">
            <a:off x="16047720" y="9646920"/>
            <a:ext cx="420624" cy="420624"/>
            <a:chOff x="0" y="0"/>
            <a:chExt cx="560832" cy="560832"/>
          </a:xfrm>
        </p:grpSpPr>
        <p:sp>
          <p:nvSpPr>
            <p:cNvPr name="Freeform 115" id="115"/>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16" id="116"/>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Diagnosis Ketidakstabilan Temporal</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Naik-turunnya data Dynamic World disebabkan jumlah observasi, bukan perubahan lahan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31</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pic>
        <p:nvPicPr>
          <p:cNvPr name="Picture 70" id="70"/>
          <p:cNvPicPr>
            <a:picLocks noChangeAspect="true"/>
          </p:cNvPicPr>
          <p:nvPr/>
        </p:nvPicPr>
        <p:blipFill>
          <a:blip r:embed="rId7"/>
          <a:stretch>
            <a:fillRect/>
          </a:stretch>
        </p:blipFill>
        <p:spPr>
          <a:xfrm rot="0">
            <a:off x="-54864" y="1819656"/>
            <a:ext cx="10533888" cy="6876288"/>
          </a:xfrm>
          <a:prstGeom prst="rect">
            <a:avLst/>
          </a:prstGeom>
        </p:spPr>
      </p:pic>
      <p:sp>
        <p:nvSpPr>
          <p:cNvPr name="TextBox 71" id="71"/>
          <p:cNvSpPr txBox="true"/>
          <p:nvPr/>
        </p:nvSpPr>
        <p:spPr>
          <a:xfrm rot="0">
            <a:off x="822960" y="2202180"/>
            <a:ext cx="8778240" cy="495300"/>
          </a:xfrm>
          <a:prstGeom prst="rect">
            <a:avLst/>
          </a:prstGeom>
        </p:spPr>
        <p:txBody>
          <a:bodyPr anchor="t" rtlCol="false" tIns="0" lIns="0" bIns="0" rIns="0">
            <a:spAutoFit/>
          </a:bodyPr>
          <a:lstStyle/>
          <a:p>
            <a:pPr algn="l">
              <a:lnSpc>
                <a:spcPts val="2063"/>
              </a:lnSpc>
            </a:pPr>
            <a:r>
              <a:rPr lang="en-US" sz="1719" b="true">
                <a:solidFill>
                  <a:srgbClr val="0B5E6E"/>
                </a:solidFill>
                <a:latin typeface="Calibri (MS) Bold"/>
                <a:ea typeface="Calibri (MS) Bold"/>
                <a:cs typeface="Calibri (MS) Bold"/>
                <a:sym typeface="Calibri (MS) Bold"/>
              </a:rPr>
              <a:t>Luas lahan terbangun (ha) · label sumbu: tahun dan observasi per piksel</a:t>
            </a:r>
          </a:p>
        </p:txBody>
      </p:sp>
      <p:grpSp>
        <p:nvGrpSpPr>
          <p:cNvPr name="Group 72" id="72"/>
          <p:cNvGrpSpPr/>
          <p:nvPr/>
        </p:nvGrpSpPr>
        <p:grpSpPr>
          <a:xfrm rot="0">
            <a:off x="9869167" y="2233927"/>
            <a:ext cx="7602217" cy="1841497"/>
            <a:chOff x="0" y="0"/>
            <a:chExt cx="10136289" cy="2455329"/>
          </a:xfrm>
        </p:grpSpPr>
        <p:sp>
          <p:nvSpPr>
            <p:cNvPr name="Freeform 73" id="73"/>
            <p:cNvSpPr/>
            <p:nvPr/>
          </p:nvSpPr>
          <p:spPr>
            <a:xfrm flipH="false" flipV="false" rot="0">
              <a:off x="0" y="0"/>
              <a:ext cx="10136378" cy="2455418"/>
            </a:xfrm>
            <a:custGeom>
              <a:avLst/>
              <a:gdLst/>
              <a:ahLst/>
              <a:cxnLst/>
              <a:rect r="r" b="b" t="t" l="l"/>
              <a:pathLst>
                <a:path h="2455418" w="10136378">
                  <a:moveTo>
                    <a:pt x="0" y="196469"/>
                  </a:moveTo>
                  <a:cubicBezTo>
                    <a:pt x="0" y="87884"/>
                    <a:pt x="87884" y="0"/>
                    <a:pt x="196469" y="0"/>
                  </a:cubicBezTo>
                  <a:lnTo>
                    <a:pt x="9939909" y="0"/>
                  </a:lnTo>
                  <a:cubicBezTo>
                    <a:pt x="10048367" y="0"/>
                    <a:pt x="10136378" y="87884"/>
                    <a:pt x="10136378" y="196469"/>
                  </a:cubicBezTo>
                  <a:lnTo>
                    <a:pt x="10136378" y="2258949"/>
                  </a:lnTo>
                  <a:cubicBezTo>
                    <a:pt x="10136378" y="2367407"/>
                    <a:pt x="10048494" y="2455418"/>
                    <a:pt x="9939909" y="2455418"/>
                  </a:cubicBezTo>
                  <a:lnTo>
                    <a:pt x="196469" y="2455418"/>
                  </a:lnTo>
                  <a:cubicBezTo>
                    <a:pt x="87884" y="2455291"/>
                    <a:pt x="0" y="2367407"/>
                    <a:pt x="0" y="2258949"/>
                  </a:cubicBezTo>
                  <a:close/>
                </a:path>
              </a:pathLst>
            </a:custGeom>
            <a:solidFill>
              <a:srgbClr val="FFF1BF"/>
            </a:solidFill>
            <a:ln w="12700" cap="sq">
              <a:solidFill>
                <a:srgbClr val="FFD23B"/>
              </a:solidFill>
              <a:prstDash val="solid"/>
              <a:miter/>
            </a:ln>
          </p:spPr>
          <p:txBody>
            <a:bodyPr/>
            <a:p/>
          </p:txBody>
        </p:sp>
        <p:sp>
          <p:nvSpPr>
            <p:cNvPr name="TextBox 74" id="74"/>
            <p:cNvSpPr txBox="true"/>
            <p:nvPr/>
          </p:nvSpPr>
          <p:spPr>
            <a:xfrm>
              <a:off x="0" y="-47625"/>
              <a:ext cx="10136289" cy="2502954"/>
            </a:xfrm>
            <a:prstGeom prst="rect">
              <a:avLst/>
            </a:prstGeom>
          </p:spPr>
          <p:txBody>
            <a:bodyPr anchor="t" rtlCol="false" tIns="50800" lIns="50800" bIns="50800" rIns="50800"/>
            <a:lstStyle/>
            <a:p>
              <a:pPr algn="l">
                <a:lnSpc>
                  <a:spcPts val="2760"/>
                </a:lnSpc>
              </a:pPr>
              <a:r>
                <a:rPr lang="en-US" sz="2300" b="true">
                  <a:solidFill>
                    <a:srgbClr val="E4604F"/>
                  </a:solidFill>
                  <a:latin typeface="Calibri (MS) Bold"/>
                  <a:ea typeface="Calibri (MS) Bold"/>
                  <a:cs typeface="Calibri (MS) Bold"/>
                  <a:sym typeface="Calibri (MS) Bold"/>
                </a:rPr>
                <a:t>−27% dalam dua tahun</a:t>
              </a:r>
            </a:p>
            <a:p>
              <a:pPr algn="l">
                <a:lnSpc>
                  <a:spcPts val="1932"/>
                </a:lnSpc>
              </a:pPr>
              <a:r>
                <a:rPr lang="en-US" sz="1610">
                  <a:solidFill>
                    <a:srgbClr val="14313B"/>
                  </a:solidFill>
                  <a:latin typeface="Calibri (MS)"/>
                  <a:ea typeface="Calibri (MS)"/>
                  <a:cs typeface="Calibri (MS)"/>
                  <a:sym typeface="Calibri (MS)"/>
                </a:rPr>
                <a:t>75.624 ha (2023) → 55.030 ha (2025): tidak mungkin terjadi di lapangan → kesalahan klasifikasi. Tahun dengan observasi banyak (2019, 2023) juga tahun dengan luas besar.</a:t>
              </a:r>
            </a:p>
          </p:txBody>
        </p:sp>
      </p:grpSp>
      <p:grpSp>
        <p:nvGrpSpPr>
          <p:cNvPr name="Group 75" id="75"/>
          <p:cNvGrpSpPr/>
          <p:nvPr/>
        </p:nvGrpSpPr>
        <p:grpSpPr>
          <a:xfrm rot="0">
            <a:off x="9869167" y="4199887"/>
            <a:ext cx="7602217" cy="2070097"/>
            <a:chOff x="0" y="0"/>
            <a:chExt cx="10136289" cy="2760129"/>
          </a:xfrm>
        </p:grpSpPr>
        <p:sp>
          <p:nvSpPr>
            <p:cNvPr name="Freeform 76" id="76"/>
            <p:cNvSpPr/>
            <p:nvPr/>
          </p:nvSpPr>
          <p:spPr>
            <a:xfrm flipH="false" flipV="false" rot="0">
              <a:off x="0" y="0"/>
              <a:ext cx="10136378" cy="2760218"/>
            </a:xfrm>
            <a:custGeom>
              <a:avLst/>
              <a:gdLst/>
              <a:ahLst/>
              <a:cxnLst/>
              <a:rect r="r" b="b" t="t" l="l"/>
              <a:pathLst>
                <a:path h="2760218" w="10136378">
                  <a:moveTo>
                    <a:pt x="0" y="220853"/>
                  </a:moveTo>
                  <a:cubicBezTo>
                    <a:pt x="0" y="98806"/>
                    <a:pt x="98806" y="0"/>
                    <a:pt x="220853" y="0"/>
                  </a:cubicBezTo>
                  <a:lnTo>
                    <a:pt x="9915525" y="0"/>
                  </a:lnTo>
                  <a:cubicBezTo>
                    <a:pt x="10037445" y="0"/>
                    <a:pt x="10136378" y="98806"/>
                    <a:pt x="10136378" y="220853"/>
                  </a:cubicBezTo>
                  <a:lnTo>
                    <a:pt x="10136378" y="2539365"/>
                  </a:lnTo>
                  <a:cubicBezTo>
                    <a:pt x="10136378" y="2661285"/>
                    <a:pt x="10037572" y="2760218"/>
                    <a:pt x="9915525" y="2760218"/>
                  </a:cubicBezTo>
                  <a:lnTo>
                    <a:pt x="220853" y="2760218"/>
                  </a:lnTo>
                  <a:cubicBezTo>
                    <a:pt x="98806" y="2760091"/>
                    <a:pt x="0" y="2661285"/>
                    <a:pt x="0" y="2539365"/>
                  </a:cubicBezTo>
                  <a:close/>
                </a:path>
              </a:pathLst>
            </a:custGeom>
            <a:solidFill>
              <a:srgbClr val="EAF8FA"/>
            </a:solidFill>
            <a:ln w="12700" cap="sq">
              <a:solidFill>
                <a:srgbClr val="CFE5E9"/>
              </a:solidFill>
              <a:prstDash val="solid"/>
              <a:miter/>
            </a:ln>
          </p:spPr>
          <p:txBody>
            <a:bodyPr/>
            <a:p/>
          </p:txBody>
        </p:sp>
        <p:sp>
          <p:nvSpPr>
            <p:cNvPr name="TextBox 77" id="77"/>
            <p:cNvSpPr txBox="true"/>
            <p:nvPr/>
          </p:nvSpPr>
          <p:spPr>
            <a:xfrm>
              <a:off x="0" y="-47625"/>
              <a:ext cx="10136289" cy="2807754"/>
            </a:xfrm>
            <a:prstGeom prst="rect">
              <a:avLst/>
            </a:prstGeom>
          </p:spPr>
          <p:txBody>
            <a:bodyPr anchor="t" rtlCol="false" tIns="50800" lIns="50800" bIns="50800" rIns="50800"/>
            <a:lstStyle/>
            <a:p>
              <a:pPr algn="l">
                <a:lnSpc>
                  <a:spcPts val="2206"/>
                </a:lnSpc>
              </a:pPr>
              <a:r>
                <a:rPr lang="en-US" sz="1839" b="true">
                  <a:solidFill>
                    <a:srgbClr val="0B5E6E"/>
                  </a:solidFill>
                  <a:latin typeface="Calibri (MS) Bold"/>
                  <a:ea typeface="Calibri (MS) Bold"/>
                  <a:cs typeface="Calibri (MS) Bold"/>
                  <a:sym typeface="Calibri (MS) Bold"/>
                </a:rPr>
                <a:t>Diagnosis gaya ANCOVA</a:t>
              </a:r>
            </a:p>
            <a:p>
              <a:pPr algn="l">
                <a:lnSpc>
                  <a:spcPts val="1932"/>
                </a:lnSpc>
              </a:pPr>
              <a:r>
                <a:rPr lang="en-US" sz="1610" i="true">
                  <a:solidFill>
                    <a:srgbClr val="14313B"/>
                  </a:solidFill>
                  <a:latin typeface="Calibri (MS) Italics"/>
                  <a:ea typeface="Calibri (MS) Italics"/>
                  <a:cs typeface="Calibri (MS) Italics"/>
                  <a:sym typeface="Calibri (MS) Italics"/>
                </a:rPr>
                <a:t>Luasₜ = a + b·Obsₜ;  Luas_terkoreksi = Luasₜ − b(Obsₜ − Obs_acuan)</a:t>
              </a:r>
            </a:p>
            <a:p>
              <a:pPr algn="l">
                <a:lnSpc>
                  <a:spcPts val="1860"/>
                </a:lnSpc>
              </a:pPr>
              <a:r>
                <a:rPr lang="en-US" sz="1550">
                  <a:solidFill>
                    <a:srgbClr val="14313B"/>
                  </a:solidFill>
                  <a:latin typeface="Calibri (MS)"/>
                  <a:ea typeface="Calibri (MS)"/>
                  <a:cs typeface="Calibri (MS)"/>
                  <a:sym typeface="Calibri (MS)"/>
                </a:rPr>
                <a:t>Syarat: Obs tidak berkorelasi dengan tahun (r = 0,174; p = 0,631) → terpenuhi. Luas vs Obs: r = 0,788 (p = 0,0067). Sesudah koreksi r ≈ 0; SD perubahan tahunan 12,3% → 6,6%.</a:t>
              </a:r>
            </a:p>
          </p:txBody>
        </p:sp>
      </p:grpSp>
      <p:grpSp>
        <p:nvGrpSpPr>
          <p:cNvPr name="Group 78" id="78"/>
          <p:cNvGrpSpPr/>
          <p:nvPr/>
        </p:nvGrpSpPr>
        <p:grpSpPr>
          <a:xfrm rot="0">
            <a:off x="9869167" y="6394447"/>
            <a:ext cx="7602217" cy="1430017"/>
            <a:chOff x="0" y="0"/>
            <a:chExt cx="10136289" cy="1906689"/>
          </a:xfrm>
        </p:grpSpPr>
        <p:sp>
          <p:nvSpPr>
            <p:cNvPr name="Freeform 79" id="79"/>
            <p:cNvSpPr/>
            <p:nvPr/>
          </p:nvSpPr>
          <p:spPr>
            <a:xfrm flipH="false" flipV="false" rot="0">
              <a:off x="0" y="0"/>
              <a:ext cx="10136251" cy="1906651"/>
            </a:xfrm>
            <a:custGeom>
              <a:avLst/>
              <a:gdLst/>
              <a:ahLst/>
              <a:cxnLst/>
              <a:rect r="r" b="b" t="t" l="l"/>
              <a:pathLst>
                <a:path h="1906651" w="10136251">
                  <a:moveTo>
                    <a:pt x="0" y="152527"/>
                  </a:moveTo>
                  <a:cubicBezTo>
                    <a:pt x="0" y="68326"/>
                    <a:pt x="68326" y="0"/>
                    <a:pt x="152527" y="0"/>
                  </a:cubicBezTo>
                  <a:lnTo>
                    <a:pt x="9983724" y="0"/>
                  </a:lnTo>
                  <a:cubicBezTo>
                    <a:pt x="10067925" y="0"/>
                    <a:pt x="10136251" y="68326"/>
                    <a:pt x="10136251" y="152527"/>
                  </a:cubicBezTo>
                  <a:lnTo>
                    <a:pt x="10136251" y="1754124"/>
                  </a:lnTo>
                  <a:cubicBezTo>
                    <a:pt x="10136251" y="1838325"/>
                    <a:pt x="10067925" y="1906651"/>
                    <a:pt x="9983724" y="1906651"/>
                  </a:cubicBezTo>
                  <a:lnTo>
                    <a:pt x="152527" y="1906651"/>
                  </a:lnTo>
                  <a:cubicBezTo>
                    <a:pt x="68326" y="1906651"/>
                    <a:pt x="0" y="1838452"/>
                    <a:pt x="0" y="1754124"/>
                  </a:cubicBezTo>
                  <a:close/>
                </a:path>
              </a:pathLst>
            </a:custGeom>
            <a:solidFill>
              <a:srgbClr val="EAF8FA"/>
            </a:solidFill>
            <a:ln w="12700" cap="sq">
              <a:solidFill>
                <a:srgbClr val="CFE5E9"/>
              </a:solidFill>
              <a:prstDash val="solid"/>
              <a:miter/>
            </a:ln>
          </p:spPr>
          <p:txBody>
            <a:bodyPr/>
            <a:p/>
          </p:txBody>
        </p:sp>
        <p:sp>
          <p:nvSpPr>
            <p:cNvPr name="TextBox 80" id="80"/>
            <p:cNvSpPr txBox="true"/>
            <p:nvPr/>
          </p:nvSpPr>
          <p:spPr>
            <a:xfrm>
              <a:off x="0" y="-47625"/>
              <a:ext cx="10136289" cy="1954314"/>
            </a:xfrm>
            <a:prstGeom prst="rect">
              <a:avLst/>
            </a:prstGeom>
          </p:spPr>
          <p:txBody>
            <a:bodyPr anchor="t" rtlCol="false" tIns="50800" lIns="50800" bIns="50800" rIns="50800"/>
            <a:lstStyle/>
            <a:p>
              <a:pPr algn="l">
                <a:lnSpc>
                  <a:spcPts val="2206"/>
                </a:lnSpc>
              </a:pPr>
              <a:r>
                <a:rPr lang="en-US" sz="1839" b="true">
                  <a:solidFill>
                    <a:srgbClr val="0B5E6E"/>
                  </a:solidFill>
                  <a:latin typeface="Calibri (MS) Bold"/>
                  <a:ea typeface="Calibri (MS) Bold"/>
                  <a:cs typeface="Calibri (MS) Bold"/>
                  <a:sym typeface="Calibri (MS) Bold"/>
                </a:rPr>
                <a:t>Validasi temporal (2015–2019)</a:t>
              </a:r>
            </a:p>
            <a:p>
              <a:pPr algn="l">
                <a:lnSpc>
                  <a:spcPts val="1860"/>
                </a:lnSpc>
              </a:pPr>
              <a:r>
                <a:rPr lang="en-US" sz="1550">
                  <a:solidFill>
                    <a:srgbClr val="14313B"/>
                  </a:solidFill>
                  <a:latin typeface="Calibri (MS)"/>
                  <a:ea typeface="Calibri (MS)"/>
                  <a:cs typeface="Calibri (MS)"/>
                  <a:sym typeface="Calibri (MS)"/>
                </a:rPr>
                <a:t>BPS naik 40,2% lalu turun 38,8%; DLHK turun 12,9%; DW naik konsisten ±12–13%/tahun → DW tetap dipilih.</a:t>
              </a:r>
            </a:p>
          </p:txBody>
        </p:sp>
      </p:grpSp>
      <p:grpSp>
        <p:nvGrpSpPr>
          <p:cNvPr name="Group 81" id="81"/>
          <p:cNvGrpSpPr/>
          <p:nvPr/>
        </p:nvGrpSpPr>
        <p:grpSpPr>
          <a:xfrm rot="0">
            <a:off x="816607" y="7994647"/>
            <a:ext cx="16654777" cy="927097"/>
            <a:chOff x="0" y="0"/>
            <a:chExt cx="22206369" cy="1236129"/>
          </a:xfrm>
        </p:grpSpPr>
        <p:sp>
          <p:nvSpPr>
            <p:cNvPr name="Freeform 82" id="82"/>
            <p:cNvSpPr/>
            <p:nvPr/>
          </p:nvSpPr>
          <p:spPr>
            <a:xfrm flipH="false" flipV="false" rot="0">
              <a:off x="0" y="0"/>
              <a:ext cx="22206458" cy="1236218"/>
            </a:xfrm>
            <a:custGeom>
              <a:avLst/>
              <a:gdLst/>
              <a:ahLst/>
              <a:cxnLst/>
              <a:rect r="r" b="b" t="t" l="l"/>
              <a:pathLst>
                <a:path h="1236218" w="22206458">
                  <a:moveTo>
                    <a:pt x="0" y="98933"/>
                  </a:moveTo>
                  <a:cubicBezTo>
                    <a:pt x="0" y="44323"/>
                    <a:pt x="44323" y="0"/>
                    <a:pt x="98933" y="0"/>
                  </a:cubicBezTo>
                  <a:lnTo>
                    <a:pt x="22107525" y="0"/>
                  </a:lnTo>
                  <a:cubicBezTo>
                    <a:pt x="22162136" y="0"/>
                    <a:pt x="22206458" y="44323"/>
                    <a:pt x="22206458" y="98933"/>
                  </a:cubicBezTo>
                  <a:lnTo>
                    <a:pt x="22206458" y="1137285"/>
                  </a:lnTo>
                  <a:cubicBezTo>
                    <a:pt x="22206458" y="1191895"/>
                    <a:pt x="22162136" y="1236218"/>
                    <a:pt x="22107525" y="1236218"/>
                  </a:cubicBezTo>
                  <a:lnTo>
                    <a:pt x="98933" y="1236218"/>
                  </a:lnTo>
                  <a:cubicBezTo>
                    <a:pt x="44323" y="1236091"/>
                    <a:pt x="0" y="1191895"/>
                    <a:pt x="0" y="1137285"/>
                  </a:cubicBezTo>
                  <a:close/>
                </a:path>
              </a:pathLst>
            </a:custGeom>
            <a:solidFill>
              <a:srgbClr val="FFF1BF"/>
            </a:solidFill>
            <a:ln w="12700" cap="sq">
              <a:solidFill>
                <a:srgbClr val="FFD23B"/>
              </a:solidFill>
              <a:prstDash val="solid"/>
              <a:miter/>
            </a:ln>
          </p:spPr>
          <p:txBody>
            <a:bodyPr/>
            <a:p/>
          </p:txBody>
        </p:sp>
        <p:sp>
          <p:nvSpPr>
            <p:cNvPr name="TextBox 83" id="83"/>
            <p:cNvSpPr txBox="true"/>
            <p:nvPr/>
          </p:nvSpPr>
          <p:spPr>
            <a:xfrm>
              <a:off x="0" y="-38100"/>
              <a:ext cx="22206369" cy="127422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Nilai asli tetap dipakai (tahun dasar 2025 menjadi acuan seluruh parameter dan kalibrasi); koreksi hanya untuk pemeriksaan. Noise ini dicatat sebagai keterbatasan pada kalibrasi lahan.</a:t>
              </a:r>
            </a:p>
          </p:txBody>
        </p:sp>
      </p:grpSp>
      <p:grpSp>
        <p:nvGrpSpPr>
          <p:cNvPr name="Group 84" id="84"/>
          <p:cNvGrpSpPr/>
          <p:nvPr/>
        </p:nvGrpSpPr>
        <p:grpSpPr>
          <a:xfrm rot="0">
            <a:off x="16047720" y="9646920"/>
            <a:ext cx="420624" cy="420624"/>
            <a:chOff x="0" y="0"/>
            <a:chExt cx="560832" cy="560832"/>
          </a:xfrm>
        </p:grpSpPr>
        <p:sp>
          <p:nvSpPr>
            <p:cNvPr name="Freeform 85" id="85"/>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86" id="86"/>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Estimasi Lahan Terbangun — Validasi Spasial</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Kesalahan Dynamic World terkumpul di tepi objek, bukan tersebar acak</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32</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grpSp>
        <p:nvGrpSpPr>
          <p:cNvPr name="Group 84" id="84"/>
          <p:cNvGrpSpPr/>
          <p:nvPr/>
        </p:nvGrpSpPr>
        <p:grpSpPr>
          <a:xfrm rot="0">
            <a:off x="16047720" y="9646920"/>
            <a:ext cx="420624" cy="420624"/>
            <a:chOff x="0" y="0"/>
            <a:chExt cx="560832" cy="560832"/>
          </a:xfrm>
        </p:grpSpPr>
        <p:sp>
          <p:nvSpPr>
            <p:cNvPr name="Freeform 85" id="85"/>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86" id="86"/>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pic>
        <p:nvPicPr>
          <p:cNvPr id="87" name="Picture 86" descr="dw_nonbuilt.png"/>
          <p:cNvPicPr>
            <a:picLocks noChangeAspect="1"/>
          </p:cNvPicPr>
          <p:nvPr/>
        </p:nvPicPr>
        <p:blipFill>
          <a:blip r:embed="rId2"/>
          <a:stretch>
            <a:fillRect/>
          </a:stretch>
        </p:blipFill>
        <p:spPr>
          <a:xfrm>
            <a:off x="1173589" y="1965960"/>
            <a:ext cx="7436900" cy="4343400"/>
          </a:xfrm>
          <a:prstGeom prst="rect">
            <a:avLst/>
          </a:prstGeom>
        </p:spPr>
      </p:pic>
      <p:pic>
        <p:nvPicPr>
          <p:cNvPr id="88" name="Picture 87" descr="dw_built.png"/>
          <p:cNvPicPr>
            <a:picLocks noChangeAspect="1"/>
          </p:cNvPicPr>
          <p:nvPr/>
        </p:nvPicPr>
        <p:blipFill>
          <a:blip r:embed="rId8"/>
          <a:stretch>
            <a:fillRect/>
          </a:stretch>
        </p:blipFill>
        <p:spPr>
          <a:xfrm>
            <a:off x="10042516" y="1965960"/>
            <a:ext cx="6706886" cy="4343400"/>
          </a:xfrm>
          <a:prstGeom prst="rect">
            <a:avLst/>
          </a:prstGeom>
        </p:spPr>
      </p:pic>
      <p:sp>
        <p:nvSpPr>
          <p:cNvPr id="89" name="TextBox 88"/>
          <p:cNvSpPr txBox="1"/>
          <p:nvPr/>
        </p:nvSpPr>
        <p:spPr>
          <a:xfrm>
            <a:off x="822960" y="6355080"/>
            <a:ext cx="8138160" cy="320040"/>
          </a:xfrm>
          <a:prstGeom prst="rect">
            <a:avLst/>
          </a:prstGeom>
          <a:noFill/>
        </p:spPr>
        <p:txBody>
          <a:bodyPr wrap="square" anchor="t" lIns="0" rIns="0" tIns="0" bIns="0">
            <a:spAutoFit/>
          </a:bodyPr>
          <a:lstStyle/>
          <a:p>
            <a:pPr algn="ctr">
              <a:spcAft>
                <a:spcPts val="400"/>
              </a:spcAft>
            </a:pPr>
            <a:r>
              <a:rPr sz="1440" b="1" i="0">
                <a:solidFill>
                  <a:srgbClr val="0B5E6E"/>
                </a:solidFill>
                <a:latin typeface="Calibri (MS) Bold"/>
              </a:rPr>
              <a:t>Contoh titik yang diklasifikasi bukan terbangun (titik 8, kawasan bervegetasi)</a:t>
            </a:r>
          </a:p>
        </p:txBody>
      </p:sp>
      <p:sp>
        <p:nvSpPr>
          <p:cNvPr id="90" name="TextBox 89"/>
          <p:cNvSpPr txBox="1"/>
          <p:nvPr/>
        </p:nvSpPr>
        <p:spPr>
          <a:xfrm>
            <a:off x="9326880" y="6355080"/>
            <a:ext cx="8138160" cy="320040"/>
          </a:xfrm>
          <a:prstGeom prst="rect">
            <a:avLst/>
          </a:prstGeom>
          <a:noFill/>
        </p:spPr>
        <p:txBody>
          <a:bodyPr wrap="square" anchor="t" lIns="0" rIns="0" tIns="0" bIns="0">
            <a:spAutoFit/>
          </a:bodyPr>
          <a:lstStyle/>
          <a:p>
            <a:pPr algn="ctr">
              <a:spcAft>
                <a:spcPts val="400"/>
              </a:spcAft>
            </a:pPr>
            <a:r>
              <a:rPr sz="1440" b="1" i="0">
                <a:solidFill>
                  <a:srgbClr val="0B5E6E"/>
                </a:solidFill>
                <a:latin typeface="Calibri (MS) Bold"/>
              </a:rPr>
              <a:t>Contoh titik yang diklasifikasi terbangun (titik 69, atap bangunan)</a:t>
            </a:r>
          </a:p>
        </p:txBody>
      </p:sp>
      <p:sp>
        <p:nvSpPr>
          <p:cNvPr id="91" name="Rounded Rectangle 90"/>
          <p:cNvSpPr/>
          <p:nvPr/>
        </p:nvSpPr>
        <p:spPr>
          <a:xfrm>
            <a:off x="822960" y="6858000"/>
            <a:ext cx="5440680" cy="14630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610" b="1" i="0">
                <a:solidFill>
                  <a:srgbClr val="0B5E6E"/>
                </a:solidFill>
                <a:latin typeface="Calibri (MS) Bold"/>
              </a:rPr>
              <a:t>Cara</a:t>
            </a:r>
          </a:p>
          <a:p>
            <a:pPr algn="l">
              <a:spcAft>
                <a:spcPts val="300"/>
              </a:spcAft>
            </a:pPr>
            <a:r>
              <a:rPr sz="1440" b="0" i="0">
                <a:solidFill>
                  <a:srgbClr val="14313B"/>
                </a:solidFill>
                <a:latin typeface="Calibri (MS)"/>
              </a:rPr>
              <a:t>Titik sampel uji akurasi dicek ulang pada citra resolusi tinggi (Google Earth): kelas Dynamic World dibandingkan dengan kondisi lapangan.</a:t>
            </a:r>
          </a:p>
        </p:txBody>
      </p:sp>
      <p:sp>
        <p:nvSpPr>
          <p:cNvPr id="92" name="Rounded Rectangle 91"/>
          <p:cNvSpPr/>
          <p:nvPr/>
        </p:nvSpPr>
        <p:spPr>
          <a:xfrm>
            <a:off x="6428232" y="6858000"/>
            <a:ext cx="5440680" cy="14630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610" b="1" i="0">
                <a:solidFill>
                  <a:srgbClr val="0B5E6E"/>
                </a:solidFill>
                <a:latin typeface="Calibri (MS) Bold"/>
              </a:rPr>
              <a:t>Titik yang tepat</a:t>
            </a:r>
          </a:p>
          <a:p>
            <a:pPr algn="l">
              <a:spcAft>
                <a:spcPts val="300"/>
              </a:spcAft>
            </a:pPr>
            <a:r>
              <a:rPr sz="1440" b="0" i="0">
                <a:solidFill>
                  <a:srgbClr val="14313B"/>
                </a:solidFill>
                <a:latin typeface="Calibri (MS)"/>
              </a:rPr>
              <a:t>Kawasan yang jelas terbangun atau jelas bervegetasi: kelas prediksi sesuai dengan kondisi lapangan.</a:t>
            </a:r>
          </a:p>
        </p:txBody>
      </p:sp>
      <p:sp>
        <p:nvSpPr>
          <p:cNvPr id="93" name="Rounded Rectangle 92"/>
          <p:cNvSpPr/>
          <p:nvPr/>
        </p:nvSpPr>
        <p:spPr>
          <a:xfrm>
            <a:off x="12033504" y="6858000"/>
            <a:ext cx="5440680" cy="14630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610" b="1" i="0">
                <a:solidFill>
                  <a:srgbClr val="0B5E6E"/>
                </a:solidFill>
                <a:latin typeface="Calibri (MS) Bold"/>
              </a:rPr>
              <a:t>Titik yang salah</a:t>
            </a:r>
          </a:p>
          <a:p>
            <a:pPr algn="l">
              <a:spcAft>
                <a:spcPts val="300"/>
              </a:spcAft>
            </a:pPr>
            <a:r>
              <a:rPr sz="1440" b="0" i="0">
                <a:solidFill>
                  <a:srgbClr val="14313B"/>
                </a:solidFill>
                <a:latin typeface="Calibri (MS)"/>
              </a:rPr>
              <a:t>Berada di tepi objek, misalnya tepi jalan yang perkerasannya hanya menutupi ±7 dari 10 m piksel (piksel campuran).</a:t>
            </a:r>
          </a:p>
        </p:txBody>
      </p:sp>
      <p:sp>
        <p:nvSpPr>
          <p:cNvPr id="94" name="Rounded Rectangle 93"/>
          <p:cNvSpPr/>
          <p:nvPr/>
        </p:nvSpPr>
        <p:spPr>
          <a:xfrm>
            <a:off x="822960" y="845820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Kesalahan bersifat sistematis di tepi objek (sejalan dengan commission error 34 dari 100 titik), bukan acak di seluruh wilayah; data tetap layak dipakai.</a:t>
            </a:r>
          </a:p>
        </p:txBody>
      </p:sp>
      <p:sp>
        <p:nvSpPr>
          <p:cNvPr id="95" name="TextBox 94"/>
          <p:cNvSpPr txBox="1"/>
          <p:nvPr/>
        </p:nvSpPr>
        <p:spPr>
          <a:xfrm>
            <a:off x="822960" y="928116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3.5.2 dan 4.2.2, Gambar 14–15 (sampel uji akurasi, citra Google Earth).</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Simpulan Integrasi Data Citra Satelit</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Dua variabel berhasil diperbarui; kekuatannya bergantung pada jenis variabel</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33</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graphicFrame>
        <p:nvGraphicFramePr>
          <p:cNvPr name="Table 70" id="70"/>
          <p:cNvGraphicFramePr>
            <a:graphicFrameLocks noGrp="true"/>
          </p:cNvGraphicFramePr>
          <p:nvPr/>
        </p:nvGraphicFramePr>
        <p:xfrm>
          <a:off x="822960" y="2331720"/>
          <a:ext cx="16611600" cy="3124200"/>
        </p:xfrm>
        <a:graphic>
          <a:graphicData uri="http://schemas.openxmlformats.org/drawingml/2006/table">
            <a:tbl>
              <a:tblPr/>
              <a:tblGrid>
                <a:gridCol w="1825451"/>
                <a:gridCol w="2555631"/>
                <a:gridCol w="2738176"/>
                <a:gridCol w="3103266"/>
                <a:gridCol w="3285811"/>
                <a:gridCol w="3103266"/>
              </a:tblGrid>
              <a:tr h="1041400">
                <a:tc>
                  <a:txBody>
                    <a:bodyPr anchor="t" rtlCol="false"/>
                    <a:lstStyle/>
                    <a:p>
                      <a:pPr algn="l">
                        <a:lnSpc>
                          <a:spcPts val="1860"/>
                        </a:lnSpc>
                        <a:defRPr/>
                      </a:pPr>
                      <a:r>
                        <a:rPr lang="en-US" sz="1550" b="true">
                          <a:solidFill>
                            <a:srgbClr val="FFFFFF"/>
                          </a:solidFill>
                          <a:latin typeface="Calibri (MS) Bold"/>
                          <a:ea typeface="Calibri (MS) Bold"/>
                          <a:cs typeface="Calibri (MS) Bold"/>
                          <a:sym typeface="Calibri (MS) Bold"/>
                        </a:rPr>
                        <a:t>Variabel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860"/>
                        </a:lnSpc>
                        <a:defRPr/>
                      </a:pPr>
                      <a:r>
                        <a:rPr lang="en-US" sz="1550" b="true">
                          <a:solidFill>
                            <a:srgbClr val="FFFFFF"/>
                          </a:solidFill>
                          <a:latin typeface="Calibri (MS) Bold"/>
                          <a:ea typeface="Calibri (MS) Bold"/>
                          <a:cs typeface="Calibri (MS) Bold"/>
                          <a:sym typeface="Calibri (MS) Bold"/>
                        </a:rPr>
                        <a:t>Citra &amp; platform</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860"/>
                        </a:lnSpc>
                        <a:defRPr/>
                      </a:pPr>
                      <a:r>
                        <a:rPr lang="en-US" sz="1550" b="true">
                          <a:solidFill>
                            <a:srgbClr val="FFFFFF"/>
                          </a:solidFill>
                          <a:latin typeface="Calibri (MS) Bold"/>
                          <a:ea typeface="Calibri (MS) Bold"/>
                          <a:cs typeface="Calibri (MS) Bold"/>
                          <a:sym typeface="Calibri (MS) Bold"/>
                        </a:rPr>
                        <a:t>Metode</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860"/>
                        </a:lnSpc>
                        <a:defRPr/>
                      </a:pPr>
                      <a:r>
                        <a:rPr lang="en-US" sz="1550" b="true">
                          <a:solidFill>
                            <a:srgbClr val="FFFFFF"/>
                          </a:solidFill>
                          <a:latin typeface="Calibri (MS) Bold"/>
                          <a:ea typeface="Calibri (MS) Bold"/>
                          <a:cs typeface="Calibri (MS) Bold"/>
                          <a:sym typeface="Calibri (MS) Bold"/>
                        </a:rPr>
                        <a:t>Bukti kelayakan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860"/>
                        </a:lnSpc>
                        <a:defRPr/>
                      </a:pPr>
                      <a:r>
                        <a:rPr lang="en-US" sz="1550" b="true">
                          <a:solidFill>
                            <a:srgbClr val="FFFFFF"/>
                          </a:solidFill>
                          <a:latin typeface="Calibri (MS) Bold"/>
                          <a:ea typeface="Calibri (MS) Bold"/>
                          <a:cs typeface="Calibri (MS) Bold"/>
                          <a:sym typeface="Calibri (MS) Bold"/>
                        </a:rPr>
                        <a:t>Masuk ke model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860"/>
                        </a:lnSpc>
                        <a:defRPr/>
                      </a:pPr>
                      <a:r>
                        <a:rPr lang="en-US" sz="1550" b="true">
                          <a:solidFill>
                            <a:srgbClr val="FFFFFF"/>
                          </a:solidFill>
                          <a:latin typeface="Calibri (MS) Bold"/>
                          <a:ea typeface="Calibri (MS) Bold"/>
                          <a:cs typeface="Calibri (MS) Bold"/>
                          <a:sym typeface="Calibri (MS) Bold"/>
                        </a:rPr>
                        <a:t>Keterbatasan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1041400">
                <a:tc>
                  <a:txBody>
                    <a:bodyPr anchor="t" rtlCol="false"/>
                    <a:lstStyle/>
                    <a:p>
                      <a:pPr algn="l">
                        <a:lnSpc>
                          <a:spcPts val="1860"/>
                        </a:lnSpc>
                        <a:defRPr/>
                      </a:pPr>
                      <a:r>
                        <a:rPr lang="en-US" sz="1550">
                          <a:solidFill>
                            <a:srgbClr val="14313B"/>
                          </a:solidFill>
                          <a:latin typeface="Calibri (MS)"/>
                          <a:ea typeface="Calibri (MS)"/>
                          <a:cs typeface="Calibri (MS)"/>
                          <a:sym typeface="Calibri (MS)"/>
                        </a:rPr>
                        <a:t>Jumlah ODTW</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VIIRS DNB (NOAA), GEE, 500 m</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Regresi ODTW = 121,61 + 34,59·NTL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R² selisih 0,405 (≥ 0,30); RMSE LOOCV 5,99% (≤ 10%)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2015–2017: 165/158/171; 2025: 201 (stok awal &amp; referensi)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Ukuran tidak langsung (proxy); n = 7; selang prediksi lebar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1041400">
                <a:tc>
                  <a:txBody>
                    <a:bodyPr anchor="t" rtlCol="false"/>
                    <a:lstStyle/>
                    <a:p>
                      <a:pPr algn="l">
                        <a:lnSpc>
                          <a:spcPts val="1860"/>
                        </a:lnSpc>
                        <a:defRPr/>
                      </a:pPr>
                      <a:r>
                        <a:rPr lang="en-US" sz="1550">
                          <a:solidFill>
                            <a:srgbClr val="14313B"/>
                          </a:solidFill>
                          <a:latin typeface="Calibri (MS)"/>
                          <a:ea typeface="Calibri (MS)"/>
                          <a:cs typeface="Calibri (MS)"/>
                          <a:sym typeface="Calibri (MS)"/>
                        </a:rPr>
                        <a:t>Lahan terbangun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Dynamic World (Sentinel-2), GEE, 10 m</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Klasifikasi langsung kelas built (prob ≥ 0,5)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OA terbobot 89,95%; Kappa 0,61; 200 titik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2016–2025; stok awal 55.029,54 ha; laju konversi dasar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Noise antartahun (−27% 2023→2025); commission error dominan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bl>
          </a:graphicData>
        </a:graphic>
      </p:graphicFrame>
      <p:grpSp>
        <p:nvGrpSpPr>
          <p:cNvPr name="Group 71" id="71"/>
          <p:cNvGrpSpPr/>
          <p:nvPr/>
        </p:nvGrpSpPr>
        <p:grpSpPr>
          <a:xfrm rot="0">
            <a:off x="816607" y="5662927"/>
            <a:ext cx="8150857" cy="2573017"/>
            <a:chOff x="0" y="0"/>
            <a:chExt cx="10867809" cy="3430689"/>
          </a:xfrm>
        </p:grpSpPr>
        <p:sp>
          <p:nvSpPr>
            <p:cNvPr name="Freeform 72" id="72"/>
            <p:cNvSpPr/>
            <p:nvPr/>
          </p:nvSpPr>
          <p:spPr>
            <a:xfrm flipH="false" flipV="false" rot="0">
              <a:off x="0" y="0"/>
              <a:ext cx="10867771" cy="3430651"/>
            </a:xfrm>
            <a:custGeom>
              <a:avLst/>
              <a:gdLst/>
              <a:ahLst/>
              <a:cxnLst/>
              <a:rect r="r" b="b" t="t" l="l"/>
              <a:pathLst>
                <a:path h="3430651" w="10867771">
                  <a:moveTo>
                    <a:pt x="0" y="274447"/>
                  </a:moveTo>
                  <a:cubicBezTo>
                    <a:pt x="0" y="122936"/>
                    <a:pt x="122936" y="0"/>
                    <a:pt x="274447" y="0"/>
                  </a:cubicBezTo>
                  <a:lnTo>
                    <a:pt x="10593324" y="0"/>
                  </a:lnTo>
                  <a:cubicBezTo>
                    <a:pt x="10744962" y="0"/>
                    <a:pt x="10867771" y="122936"/>
                    <a:pt x="10867771" y="274447"/>
                  </a:cubicBezTo>
                  <a:lnTo>
                    <a:pt x="10867771" y="3156204"/>
                  </a:lnTo>
                  <a:cubicBezTo>
                    <a:pt x="10867771" y="3307842"/>
                    <a:pt x="10744835" y="3430651"/>
                    <a:pt x="10593324" y="3430651"/>
                  </a:cubicBezTo>
                  <a:lnTo>
                    <a:pt x="274447" y="3430651"/>
                  </a:lnTo>
                  <a:cubicBezTo>
                    <a:pt x="122936" y="3430651"/>
                    <a:pt x="0" y="3307842"/>
                    <a:pt x="0" y="3156204"/>
                  </a:cubicBezTo>
                  <a:close/>
                </a:path>
              </a:pathLst>
            </a:custGeom>
            <a:solidFill>
              <a:srgbClr val="EAF8FA"/>
            </a:solidFill>
            <a:ln w="12700" cap="sq">
              <a:solidFill>
                <a:srgbClr val="CFE5E9"/>
              </a:solidFill>
              <a:prstDash val="solid"/>
              <a:miter/>
            </a:ln>
          </p:spPr>
          <p:txBody>
            <a:bodyPr/>
            <a:p/>
          </p:txBody>
        </p:sp>
        <p:sp>
          <p:nvSpPr>
            <p:cNvPr name="TextBox 73" id="73"/>
            <p:cNvSpPr txBox="true"/>
            <p:nvPr/>
          </p:nvSpPr>
          <p:spPr>
            <a:xfrm>
              <a:off x="0" y="-47625"/>
              <a:ext cx="10867809" cy="3478314"/>
            </a:xfrm>
            <a:prstGeom prst="rect">
              <a:avLst/>
            </a:prstGeom>
          </p:spPr>
          <p:txBody>
            <a:bodyPr anchor="t" rtlCol="false" tIns="50800" lIns="50800" bIns="50800" rIns="50800"/>
            <a:lstStyle/>
            <a:p>
              <a:pPr algn="l">
                <a:lnSpc>
                  <a:spcPts val="2340"/>
                </a:lnSpc>
              </a:pPr>
              <a:r>
                <a:rPr lang="en-US" sz="1950" b="true">
                  <a:solidFill>
                    <a:srgbClr val="0B5E6E"/>
                  </a:solidFill>
                  <a:latin typeface="Calibri (MS) Bold"/>
                  <a:ea typeface="Calibri (MS) Bold"/>
                  <a:cs typeface="Calibri (MS) Bold"/>
                  <a:sym typeface="Calibri (MS) Bold"/>
                </a:rPr>
                <a:t>Prinsip yang dipegang</a:t>
              </a:r>
            </a:p>
            <a:p>
              <a:pPr algn="l">
                <a:lnSpc>
                  <a:spcPts val="2340"/>
                </a:lnSpc>
              </a:pPr>
              <a:r>
                <a:rPr lang="en-US" sz="1950">
                  <a:solidFill>
                    <a:srgbClr val="14313B"/>
                  </a:solidFill>
                  <a:latin typeface="Calibri (MS)"/>
                  <a:ea typeface="Calibri (MS)"/>
                  <a:cs typeface="Calibri (MS)"/>
                  <a:sym typeface="Calibri (MS)"/>
                </a:rPr>
                <a:t>Citra hanya memperbarui variabel yang sudah punya data resmi; tidak dimasukkan sebagai variabel model dan tidak menggantikan statistik resmi. Statistik resmi tetap acuan utama.</a:t>
              </a:r>
            </a:p>
          </p:txBody>
        </p:sp>
      </p:grpSp>
      <p:grpSp>
        <p:nvGrpSpPr>
          <p:cNvPr name="Group 74" id="74"/>
          <p:cNvGrpSpPr/>
          <p:nvPr/>
        </p:nvGrpSpPr>
        <p:grpSpPr>
          <a:xfrm rot="0">
            <a:off x="9320527" y="5662927"/>
            <a:ext cx="8150857" cy="2573017"/>
            <a:chOff x="0" y="0"/>
            <a:chExt cx="10867809" cy="3430689"/>
          </a:xfrm>
        </p:grpSpPr>
        <p:sp>
          <p:nvSpPr>
            <p:cNvPr name="Freeform 75" id="75"/>
            <p:cNvSpPr/>
            <p:nvPr/>
          </p:nvSpPr>
          <p:spPr>
            <a:xfrm flipH="false" flipV="false" rot="0">
              <a:off x="0" y="0"/>
              <a:ext cx="10867771" cy="3430651"/>
            </a:xfrm>
            <a:custGeom>
              <a:avLst/>
              <a:gdLst/>
              <a:ahLst/>
              <a:cxnLst/>
              <a:rect r="r" b="b" t="t" l="l"/>
              <a:pathLst>
                <a:path h="3430651" w="10867771">
                  <a:moveTo>
                    <a:pt x="0" y="274447"/>
                  </a:moveTo>
                  <a:cubicBezTo>
                    <a:pt x="0" y="122936"/>
                    <a:pt x="122936" y="0"/>
                    <a:pt x="274447" y="0"/>
                  </a:cubicBezTo>
                  <a:lnTo>
                    <a:pt x="10593324" y="0"/>
                  </a:lnTo>
                  <a:cubicBezTo>
                    <a:pt x="10744962" y="0"/>
                    <a:pt x="10867771" y="122936"/>
                    <a:pt x="10867771" y="274447"/>
                  </a:cubicBezTo>
                  <a:lnTo>
                    <a:pt x="10867771" y="3156204"/>
                  </a:lnTo>
                  <a:cubicBezTo>
                    <a:pt x="10867771" y="3307842"/>
                    <a:pt x="10744835" y="3430651"/>
                    <a:pt x="10593324" y="3430651"/>
                  </a:cubicBezTo>
                  <a:lnTo>
                    <a:pt x="274447" y="3430651"/>
                  </a:lnTo>
                  <a:cubicBezTo>
                    <a:pt x="122936" y="3430651"/>
                    <a:pt x="0" y="3307842"/>
                    <a:pt x="0" y="3156204"/>
                  </a:cubicBezTo>
                  <a:close/>
                </a:path>
              </a:pathLst>
            </a:custGeom>
            <a:solidFill>
              <a:srgbClr val="EAF8FA"/>
            </a:solidFill>
            <a:ln w="12700" cap="sq">
              <a:solidFill>
                <a:srgbClr val="CFE5E9"/>
              </a:solidFill>
              <a:prstDash val="solid"/>
              <a:miter/>
            </a:ln>
          </p:spPr>
          <p:txBody>
            <a:bodyPr/>
            <a:p/>
          </p:txBody>
        </p:sp>
        <p:sp>
          <p:nvSpPr>
            <p:cNvPr name="TextBox 76" id="76"/>
            <p:cNvSpPr txBox="true"/>
            <p:nvPr/>
          </p:nvSpPr>
          <p:spPr>
            <a:xfrm>
              <a:off x="0" y="-47625"/>
              <a:ext cx="10867809" cy="3478314"/>
            </a:xfrm>
            <a:prstGeom prst="rect">
              <a:avLst/>
            </a:prstGeom>
          </p:spPr>
          <p:txBody>
            <a:bodyPr anchor="t" rtlCol="false" tIns="50800" lIns="50800" bIns="50800" rIns="50800"/>
            <a:lstStyle/>
            <a:p>
              <a:pPr algn="l">
                <a:lnSpc>
                  <a:spcPts val="2340"/>
                </a:lnSpc>
              </a:pPr>
              <a:r>
                <a:rPr lang="en-US" sz="1950" b="true">
                  <a:solidFill>
                    <a:srgbClr val="0B5E6E"/>
                  </a:solidFill>
                  <a:latin typeface="Calibri (MS) Bold"/>
                  <a:ea typeface="Calibri (MS) Bold"/>
                  <a:cs typeface="Calibri (MS) Bold"/>
                  <a:sym typeface="Calibri (MS) Bold"/>
                </a:rPr>
                <a:t>Pelajaran metodologis</a:t>
              </a:r>
            </a:p>
            <a:p>
              <a:pPr algn="l">
                <a:lnSpc>
                  <a:spcPts val="2340"/>
                </a:lnSpc>
              </a:pPr>
              <a:r>
                <a:rPr lang="en-US" sz="1950">
                  <a:solidFill>
                    <a:srgbClr val="14313B"/>
                  </a:solidFill>
                  <a:latin typeface="Calibri (MS)"/>
                  <a:ea typeface="Calibri (MS)"/>
                  <a:cs typeface="Calibri (MS)"/>
                  <a:sym typeface="Calibri (MS)"/>
                </a:rPr>
                <a:t>Manfaat citra bergantung pada jenis variabel: yang bisa diklasifikasi langsung (lahan) lebih kuat daripada yang perlu regresi proxy (ODTW).</a:t>
              </a:r>
            </a:p>
          </p:txBody>
        </p:sp>
      </p:grpSp>
      <p:grpSp>
        <p:nvGrpSpPr>
          <p:cNvPr name="Group 77" id="77"/>
          <p:cNvGrpSpPr/>
          <p:nvPr/>
        </p:nvGrpSpPr>
        <p:grpSpPr>
          <a:xfrm rot="0">
            <a:off x="816607" y="8406127"/>
            <a:ext cx="16654777" cy="789937"/>
            <a:chOff x="0" y="0"/>
            <a:chExt cx="22206369" cy="1053249"/>
          </a:xfrm>
        </p:grpSpPr>
        <p:sp>
          <p:nvSpPr>
            <p:cNvPr name="Freeform 78" id="78"/>
            <p:cNvSpPr/>
            <p:nvPr/>
          </p:nvSpPr>
          <p:spPr>
            <a:xfrm flipH="false" flipV="false" rot="0">
              <a:off x="0" y="0"/>
              <a:ext cx="22206331" cy="1053211"/>
            </a:xfrm>
            <a:custGeom>
              <a:avLst/>
              <a:gdLst/>
              <a:ahLst/>
              <a:cxnLst/>
              <a:rect r="r" b="b" t="t" l="l"/>
              <a:pathLst>
                <a:path h="1053211" w="22206331">
                  <a:moveTo>
                    <a:pt x="0" y="84201"/>
                  </a:moveTo>
                  <a:cubicBezTo>
                    <a:pt x="0" y="37719"/>
                    <a:pt x="37719" y="0"/>
                    <a:pt x="84201" y="0"/>
                  </a:cubicBezTo>
                  <a:lnTo>
                    <a:pt x="22122130" y="0"/>
                  </a:lnTo>
                  <a:cubicBezTo>
                    <a:pt x="22168613" y="0"/>
                    <a:pt x="22206331" y="37719"/>
                    <a:pt x="22206331" y="84201"/>
                  </a:cubicBezTo>
                  <a:lnTo>
                    <a:pt x="22206331" y="969010"/>
                  </a:lnTo>
                  <a:cubicBezTo>
                    <a:pt x="22206331" y="1015492"/>
                    <a:pt x="22168613" y="1053211"/>
                    <a:pt x="22122130" y="1053211"/>
                  </a:cubicBezTo>
                  <a:lnTo>
                    <a:pt x="84201" y="1053211"/>
                  </a:lnTo>
                  <a:cubicBezTo>
                    <a:pt x="37719" y="1053211"/>
                    <a:pt x="0" y="1015492"/>
                    <a:pt x="0" y="969010"/>
                  </a:cubicBezTo>
                  <a:close/>
                </a:path>
              </a:pathLst>
            </a:custGeom>
            <a:solidFill>
              <a:srgbClr val="FFF1BF"/>
            </a:solidFill>
            <a:ln w="12700" cap="sq">
              <a:solidFill>
                <a:srgbClr val="FFD23B"/>
              </a:solidFill>
              <a:prstDash val="solid"/>
              <a:miter/>
            </a:ln>
          </p:spPr>
          <p:txBody>
            <a:bodyPr/>
            <a:p/>
          </p:txBody>
        </p:sp>
        <p:sp>
          <p:nvSpPr>
            <p:cNvPr name="TextBox 79" id="79"/>
            <p:cNvSpPr txBox="true"/>
            <p:nvPr/>
          </p:nvSpPr>
          <p:spPr>
            <a:xfrm>
              <a:off x="0" y="-38100"/>
              <a:ext cx="22206369" cy="109134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Bagian Tujuan 2 "memanfaatkan citra satelit untuk memperbarui data yang terlambat tersedia" terpenuhi, dengan kelayakan yang terukur.</a:t>
              </a:r>
            </a:p>
          </p:txBody>
        </p:sp>
      </p:grpSp>
      <p:grpSp>
        <p:nvGrpSpPr>
          <p:cNvPr name="Group 80" id="80"/>
          <p:cNvGrpSpPr/>
          <p:nvPr/>
        </p:nvGrpSpPr>
        <p:grpSpPr>
          <a:xfrm rot="0">
            <a:off x="16047720" y="9646920"/>
            <a:ext cx="420624" cy="420624"/>
            <a:chOff x="0" y="0"/>
            <a:chExt cx="560832" cy="560832"/>
          </a:xfrm>
        </p:grpSpPr>
        <p:sp>
          <p:nvSpPr>
            <p:cNvPr name="Freeform 81" id="81"/>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82" id="82"/>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Konversi ke Stock-Flow Diagram</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Model akhir memuat 61 variabel dengan lima stok utama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6" id="66"/>
          <p:cNvGrpSpPr/>
          <p:nvPr/>
        </p:nvGrpSpPr>
        <p:grpSpPr>
          <a:xfrm rot="0">
            <a:off x="822960" y="2633358"/>
            <a:ext cx="11109960" cy="5568886"/>
            <a:chOff x="0" y="0"/>
            <a:chExt cx="14813280" cy="7425182"/>
          </a:xfrm>
        </p:grpSpPr>
        <p:sp>
          <p:nvSpPr>
            <p:cNvPr name="Freeform 67" id="67" descr="Stock-flow diagram pariwisata DIY"/>
            <p:cNvSpPr/>
            <p:nvPr/>
          </p:nvSpPr>
          <p:spPr>
            <a:xfrm flipH="false" flipV="false" rot="0">
              <a:off x="0" y="0"/>
              <a:ext cx="14813280" cy="7425182"/>
            </a:xfrm>
            <a:custGeom>
              <a:avLst/>
              <a:gdLst/>
              <a:ahLst/>
              <a:cxnLst/>
              <a:rect r="r" b="b" t="t" l="l"/>
              <a:pathLst>
                <a:path h="7425182" w="14813280">
                  <a:moveTo>
                    <a:pt x="0" y="0"/>
                  </a:moveTo>
                  <a:lnTo>
                    <a:pt x="14813280" y="0"/>
                  </a:lnTo>
                  <a:lnTo>
                    <a:pt x="14813280" y="7425182"/>
                  </a:lnTo>
                  <a:lnTo>
                    <a:pt x="0" y="7425182"/>
                  </a:lnTo>
                  <a:lnTo>
                    <a:pt x="0" y="0"/>
                  </a:lnTo>
                  <a:close/>
                </a:path>
              </a:pathLst>
            </a:custGeom>
            <a:blipFill>
              <a:blip r:embed="rId7"/>
              <a:stretch>
                <a:fillRect l="-73" t="0" r="-73" b="0"/>
              </a:stretch>
            </a:blipFill>
          </p:spPr>
          <p:txBody>
            <a:bodyPr/>
            <a:p/>
          </p:txBody>
        </p:sp>
      </p:grpSp>
      <p:sp>
        <p:nvSpPr>
          <p:cNvPr name="TextBox 68" id="68"/>
          <p:cNvSpPr txBox="true"/>
          <p:nvPr/>
        </p:nvSpPr>
        <p:spPr>
          <a:xfrm rot="0">
            <a:off x="822960" y="8252460"/>
            <a:ext cx="11109960" cy="5257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Stock-flow diagram (SFD) pariwisata DIY · 26 variabel dihitung model, 35 input dari luar model</a:t>
            </a:r>
          </a:p>
        </p:txBody>
      </p:sp>
      <p:grpSp>
        <p:nvGrpSpPr>
          <p:cNvPr name="Group 69" id="69"/>
          <p:cNvGrpSpPr/>
          <p:nvPr/>
        </p:nvGrpSpPr>
        <p:grpSpPr>
          <a:xfrm rot="0">
            <a:off x="12344400" y="2331720"/>
            <a:ext cx="2468880" cy="1440180"/>
            <a:chOff x="0" y="0"/>
            <a:chExt cx="3291840" cy="1920240"/>
          </a:xfrm>
        </p:grpSpPr>
        <p:sp>
          <p:nvSpPr>
            <p:cNvPr name="Freeform 70" id="70"/>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txBody>
            <a:bodyPr/>
            <a:p/>
          </p:txBody>
        </p:sp>
      </p:grpSp>
      <p:grpSp>
        <p:nvGrpSpPr>
          <p:cNvPr name="Group 71" id="71"/>
          <p:cNvGrpSpPr/>
          <p:nvPr/>
        </p:nvGrpSpPr>
        <p:grpSpPr>
          <a:xfrm rot="0">
            <a:off x="12344400" y="2441448"/>
            <a:ext cx="2468880" cy="754380"/>
            <a:chOff x="0" y="0"/>
            <a:chExt cx="3291840" cy="1005840"/>
          </a:xfrm>
        </p:grpSpPr>
        <p:sp>
          <p:nvSpPr>
            <p:cNvPr name="Freeform 72" id="72"/>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txBody>
            <a:bodyPr/>
            <a:p/>
          </p:txBody>
        </p:sp>
      </p:grpSp>
      <p:grpSp>
        <p:nvGrpSpPr>
          <p:cNvPr name="Group 73" id="73"/>
          <p:cNvGrpSpPr/>
          <p:nvPr/>
        </p:nvGrpSpPr>
        <p:grpSpPr>
          <a:xfrm rot="0">
            <a:off x="12344400" y="2370010"/>
            <a:ext cx="2468880" cy="825818"/>
            <a:chOff x="0" y="0"/>
            <a:chExt cx="3291840" cy="1101090"/>
          </a:xfrm>
        </p:grpSpPr>
        <p:sp>
          <p:nvSpPr>
            <p:cNvPr name="Freeform 74" id="74"/>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12" r="0" b="-8212"/>
              </a:stretch>
            </a:blipFill>
          </p:spPr>
          <p:txBody>
            <a:bodyPr/>
            <a:p/>
          </p:txBody>
        </p:sp>
      </p:grpSp>
      <p:grpSp>
        <p:nvGrpSpPr>
          <p:cNvPr name="Group 75" id="75"/>
          <p:cNvGrpSpPr/>
          <p:nvPr/>
        </p:nvGrpSpPr>
        <p:grpSpPr>
          <a:xfrm rot="0">
            <a:off x="12344400" y="2298573"/>
            <a:ext cx="2468880" cy="897255"/>
            <a:chOff x="0" y="0"/>
            <a:chExt cx="3291840" cy="1196340"/>
          </a:xfrm>
        </p:grpSpPr>
        <p:sp>
          <p:nvSpPr>
            <p:cNvPr name="Freeform 76" id="76"/>
            <p:cNvSpPr/>
            <p:nvPr/>
          </p:nvSpPr>
          <p:spPr>
            <a:xfrm flipH="false" flipV="false" rot="0">
              <a:off x="0" y="0"/>
              <a:ext cx="3291840" cy="1196341"/>
            </a:xfrm>
            <a:custGeom>
              <a:avLst/>
              <a:gdLst/>
              <a:ahLst/>
              <a:cxnLst/>
              <a:rect r="r" b="b" t="t" l="l"/>
              <a:pathLst>
                <a:path h="1196341" w="3291840">
                  <a:moveTo>
                    <a:pt x="0" y="0"/>
                  </a:moveTo>
                  <a:lnTo>
                    <a:pt x="3291840" y="0"/>
                  </a:lnTo>
                  <a:lnTo>
                    <a:pt x="3291840" y="1196341"/>
                  </a:lnTo>
                  <a:lnTo>
                    <a:pt x="0" y="1196341"/>
                  </a:lnTo>
                  <a:close/>
                </a:path>
              </a:pathLst>
            </a:custGeom>
            <a:blipFill>
              <a:blip r:embed="rId6">
                <a:alphaModFix amt="0"/>
              </a:blip>
              <a:stretch>
                <a:fillRect l="0" t="-3614" r="0" b="-3614"/>
              </a:stretch>
            </a:blipFill>
          </p:spPr>
          <p:txBody>
            <a:bodyPr/>
            <a:p/>
          </p:txBody>
        </p:sp>
        <p:sp>
          <p:nvSpPr>
            <p:cNvPr name="TextBox 77" id="77"/>
            <p:cNvSpPr txBox="true"/>
            <p:nvPr/>
          </p:nvSpPr>
          <p:spPr>
            <a:xfrm>
              <a:off x="0" y="-95250"/>
              <a:ext cx="3291840" cy="129159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5</a:t>
              </a:r>
            </a:p>
          </p:txBody>
        </p:sp>
      </p:grpSp>
      <p:sp>
        <p:nvSpPr>
          <p:cNvPr name="TextBox 78" id="78"/>
          <p:cNvSpPr txBox="true"/>
          <p:nvPr/>
        </p:nvSpPr>
        <p:spPr>
          <a:xfrm rot="0">
            <a:off x="12344400" y="3067812"/>
            <a:ext cx="2468880" cy="5257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stock</a:t>
            </a:r>
          </a:p>
        </p:txBody>
      </p:sp>
      <p:grpSp>
        <p:nvGrpSpPr>
          <p:cNvPr name="Group 79" id="79"/>
          <p:cNvGrpSpPr/>
          <p:nvPr/>
        </p:nvGrpSpPr>
        <p:grpSpPr>
          <a:xfrm rot="0">
            <a:off x="14977872" y="2331720"/>
            <a:ext cx="2468880" cy="1440180"/>
            <a:chOff x="0" y="0"/>
            <a:chExt cx="3291840" cy="1920240"/>
          </a:xfrm>
        </p:grpSpPr>
        <p:sp>
          <p:nvSpPr>
            <p:cNvPr name="Freeform 80" id="80"/>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txBody>
            <a:bodyPr/>
            <a:p/>
          </p:txBody>
        </p:sp>
      </p:grpSp>
      <p:grpSp>
        <p:nvGrpSpPr>
          <p:cNvPr name="Group 81" id="81"/>
          <p:cNvGrpSpPr/>
          <p:nvPr/>
        </p:nvGrpSpPr>
        <p:grpSpPr>
          <a:xfrm rot="0">
            <a:off x="14977872" y="2441448"/>
            <a:ext cx="2468880" cy="754380"/>
            <a:chOff x="0" y="0"/>
            <a:chExt cx="3291840" cy="1005840"/>
          </a:xfrm>
        </p:grpSpPr>
        <p:sp>
          <p:nvSpPr>
            <p:cNvPr name="Freeform 82" id="82"/>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txBody>
            <a:bodyPr/>
            <a:p/>
          </p:txBody>
        </p:sp>
      </p:grpSp>
      <p:grpSp>
        <p:nvGrpSpPr>
          <p:cNvPr name="Group 83" id="83"/>
          <p:cNvGrpSpPr/>
          <p:nvPr/>
        </p:nvGrpSpPr>
        <p:grpSpPr>
          <a:xfrm rot="0">
            <a:off x="14977872" y="2370010"/>
            <a:ext cx="2468880" cy="825818"/>
            <a:chOff x="0" y="0"/>
            <a:chExt cx="3291840" cy="1101090"/>
          </a:xfrm>
        </p:grpSpPr>
        <p:sp>
          <p:nvSpPr>
            <p:cNvPr name="Freeform 84" id="84"/>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12" r="0" b="-8212"/>
              </a:stretch>
            </a:blipFill>
          </p:spPr>
          <p:txBody>
            <a:bodyPr/>
            <a:p/>
          </p:txBody>
        </p:sp>
      </p:grpSp>
      <p:grpSp>
        <p:nvGrpSpPr>
          <p:cNvPr name="Group 85" id="85"/>
          <p:cNvGrpSpPr/>
          <p:nvPr/>
        </p:nvGrpSpPr>
        <p:grpSpPr>
          <a:xfrm rot="0">
            <a:off x="14977872" y="2298573"/>
            <a:ext cx="2468880" cy="897255"/>
            <a:chOff x="0" y="0"/>
            <a:chExt cx="3291840" cy="1196340"/>
          </a:xfrm>
        </p:grpSpPr>
        <p:sp>
          <p:nvSpPr>
            <p:cNvPr name="Freeform 86" id="86"/>
            <p:cNvSpPr/>
            <p:nvPr/>
          </p:nvSpPr>
          <p:spPr>
            <a:xfrm flipH="false" flipV="false" rot="0">
              <a:off x="0" y="0"/>
              <a:ext cx="3291840" cy="1196341"/>
            </a:xfrm>
            <a:custGeom>
              <a:avLst/>
              <a:gdLst/>
              <a:ahLst/>
              <a:cxnLst/>
              <a:rect r="r" b="b" t="t" l="l"/>
              <a:pathLst>
                <a:path h="1196341" w="3291840">
                  <a:moveTo>
                    <a:pt x="0" y="0"/>
                  </a:moveTo>
                  <a:lnTo>
                    <a:pt x="3291840" y="0"/>
                  </a:lnTo>
                  <a:lnTo>
                    <a:pt x="3291840" y="1196341"/>
                  </a:lnTo>
                  <a:lnTo>
                    <a:pt x="0" y="1196341"/>
                  </a:lnTo>
                  <a:close/>
                </a:path>
              </a:pathLst>
            </a:custGeom>
            <a:blipFill>
              <a:blip r:embed="rId6">
                <a:alphaModFix amt="0"/>
              </a:blip>
              <a:stretch>
                <a:fillRect l="0" t="-3614" r="0" b="-3614"/>
              </a:stretch>
            </a:blipFill>
          </p:spPr>
          <p:txBody>
            <a:bodyPr/>
            <a:p/>
          </p:txBody>
        </p:sp>
        <p:sp>
          <p:nvSpPr>
            <p:cNvPr name="TextBox 87" id="87"/>
            <p:cNvSpPr txBox="true"/>
            <p:nvPr/>
          </p:nvSpPr>
          <p:spPr>
            <a:xfrm>
              <a:off x="0" y="-95250"/>
              <a:ext cx="3291840" cy="129159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10</a:t>
              </a:r>
            </a:p>
          </p:txBody>
        </p:sp>
      </p:grpSp>
      <p:sp>
        <p:nvSpPr>
          <p:cNvPr name="TextBox 88" id="88"/>
          <p:cNvSpPr txBox="true"/>
          <p:nvPr/>
        </p:nvSpPr>
        <p:spPr>
          <a:xfrm rot="0">
            <a:off x="14977872" y="3067812"/>
            <a:ext cx="2468880" cy="5257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flow</a:t>
            </a:r>
          </a:p>
        </p:txBody>
      </p:sp>
      <p:grpSp>
        <p:nvGrpSpPr>
          <p:cNvPr name="Group 89" id="89"/>
          <p:cNvGrpSpPr/>
          <p:nvPr/>
        </p:nvGrpSpPr>
        <p:grpSpPr>
          <a:xfrm rot="0">
            <a:off x="12344400" y="3977640"/>
            <a:ext cx="2468880" cy="1440180"/>
            <a:chOff x="0" y="0"/>
            <a:chExt cx="3291840" cy="1920240"/>
          </a:xfrm>
        </p:grpSpPr>
        <p:sp>
          <p:nvSpPr>
            <p:cNvPr name="Freeform 90" id="90"/>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txBody>
            <a:bodyPr/>
            <a:p/>
          </p:txBody>
        </p:sp>
      </p:grpSp>
      <p:grpSp>
        <p:nvGrpSpPr>
          <p:cNvPr name="Group 91" id="91"/>
          <p:cNvGrpSpPr/>
          <p:nvPr/>
        </p:nvGrpSpPr>
        <p:grpSpPr>
          <a:xfrm rot="0">
            <a:off x="12344400" y="4087368"/>
            <a:ext cx="2468880" cy="754380"/>
            <a:chOff x="0" y="0"/>
            <a:chExt cx="3291840" cy="1005840"/>
          </a:xfrm>
        </p:grpSpPr>
        <p:sp>
          <p:nvSpPr>
            <p:cNvPr name="Freeform 92" id="92"/>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txBody>
            <a:bodyPr/>
            <a:p/>
          </p:txBody>
        </p:sp>
      </p:grpSp>
      <p:grpSp>
        <p:nvGrpSpPr>
          <p:cNvPr name="Group 93" id="93"/>
          <p:cNvGrpSpPr/>
          <p:nvPr/>
        </p:nvGrpSpPr>
        <p:grpSpPr>
          <a:xfrm rot="0">
            <a:off x="12344400" y="4015931"/>
            <a:ext cx="2468880" cy="825818"/>
            <a:chOff x="0" y="0"/>
            <a:chExt cx="3291840" cy="1101090"/>
          </a:xfrm>
        </p:grpSpPr>
        <p:sp>
          <p:nvSpPr>
            <p:cNvPr name="Freeform 94" id="94"/>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12" r="0" b="-8212"/>
              </a:stretch>
            </a:blipFill>
          </p:spPr>
          <p:txBody>
            <a:bodyPr/>
            <a:p/>
          </p:txBody>
        </p:sp>
      </p:grpSp>
      <p:grpSp>
        <p:nvGrpSpPr>
          <p:cNvPr name="Group 95" id="95"/>
          <p:cNvGrpSpPr/>
          <p:nvPr/>
        </p:nvGrpSpPr>
        <p:grpSpPr>
          <a:xfrm rot="0">
            <a:off x="12344400" y="3944493"/>
            <a:ext cx="2468880" cy="897255"/>
            <a:chOff x="0" y="0"/>
            <a:chExt cx="3291840" cy="1196340"/>
          </a:xfrm>
        </p:grpSpPr>
        <p:sp>
          <p:nvSpPr>
            <p:cNvPr name="Freeform 96" id="96"/>
            <p:cNvSpPr/>
            <p:nvPr/>
          </p:nvSpPr>
          <p:spPr>
            <a:xfrm flipH="false" flipV="false" rot="0">
              <a:off x="0" y="0"/>
              <a:ext cx="3291840" cy="1196341"/>
            </a:xfrm>
            <a:custGeom>
              <a:avLst/>
              <a:gdLst/>
              <a:ahLst/>
              <a:cxnLst/>
              <a:rect r="r" b="b" t="t" l="l"/>
              <a:pathLst>
                <a:path h="1196341" w="3291840">
                  <a:moveTo>
                    <a:pt x="0" y="0"/>
                  </a:moveTo>
                  <a:lnTo>
                    <a:pt x="3291840" y="0"/>
                  </a:lnTo>
                  <a:lnTo>
                    <a:pt x="3291840" y="1196341"/>
                  </a:lnTo>
                  <a:lnTo>
                    <a:pt x="0" y="1196341"/>
                  </a:lnTo>
                  <a:close/>
                </a:path>
              </a:pathLst>
            </a:custGeom>
            <a:blipFill>
              <a:blip r:embed="rId6">
                <a:alphaModFix amt="0"/>
              </a:blip>
              <a:stretch>
                <a:fillRect l="0" t="-3614" r="0" b="-3614"/>
              </a:stretch>
            </a:blipFill>
          </p:spPr>
          <p:txBody>
            <a:bodyPr/>
            <a:p/>
          </p:txBody>
        </p:sp>
        <p:sp>
          <p:nvSpPr>
            <p:cNvPr name="TextBox 97" id="97"/>
            <p:cNvSpPr txBox="true"/>
            <p:nvPr/>
          </p:nvSpPr>
          <p:spPr>
            <a:xfrm>
              <a:off x="0" y="-95250"/>
              <a:ext cx="3291840" cy="129159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11</a:t>
              </a:r>
            </a:p>
          </p:txBody>
        </p:sp>
      </p:grpSp>
      <p:sp>
        <p:nvSpPr>
          <p:cNvPr name="TextBox 98" id="98"/>
          <p:cNvSpPr txBox="true"/>
          <p:nvPr/>
        </p:nvSpPr>
        <p:spPr>
          <a:xfrm rot="0">
            <a:off x="12344400" y="4713732"/>
            <a:ext cx="2468880" cy="5257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auxiliary</a:t>
            </a:r>
          </a:p>
        </p:txBody>
      </p:sp>
      <p:grpSp>
        <p:nvGrpSpPr>
          <p:cNvPr name="Group 99" id="99"/>
          <p:cNvGrpSpPr/>
          <p:nvPr/>
        </p:nvGrpSpPr>
        <p:grpSpPr>
          <a:xfrm rot="0">
            <a:off x="14977872" y="3977640"/>
            <a:ext cx="2468880" cy="1440180"/>
            <a:chOff x="0" y="0"/>
            <a:chExt cx="3291840" cy="1920240"/>
          </a:xfrm>
        </p:grpSpPr>
        <p:sp>
          <p:nvSpPr>
            <p:cNvPr name="Freeform 100" id="100"/>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txBody>
            <a:bodyPr/>
            <a:p/>
          </p:txBody>
        </p:sp>
      </p:grpSp>
      <p:grpSp>
        <p:nvGrpSpPr>
          <p:cNvPr name="Group 101" id="101"/>
          <p:cNvGrpSpPr/>
          <p:nvPr/>
        </p:nvGrpSpPr>
        <p:grpSpPr>
          <a:xfrm rot="0">
            <a:off x="14977872" y="4087368"/>
            <a:ext cx="2468880" cy="754380"/>
            <a:chOff x="0" y="0"/>
            <a:chExt cx="3291840" cy="1005840"/>
          </a:xfrm>
        </p:grpSpPr>
        <p:sp>
          <p:nvSpPr>
            <p:cNvPr name="Freeform 102" id="102"/>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txBody>
            <a:bodyPr/>
            <a:p/>
          </p:txBody>
        </p:sp>
      </p:grpSp>
      <p:grpSp>
        <p:nvGrpSpPr>
          <p:cNvPr name="Group 103" id="103"/>
          <p:cNvGrpSpPr/>
          <p:nvPr/>
        </p:nvGrpSpPr>
        <p:grpSpPr>
          <a:xfrm rot="0">
            <a:off x="14977872" y="4015931"/>
            <a:ext cx="2468880" cy="825818"/>
            <a:chOff x="0" y="0"/>
            <a:chExt cx="3291840" cy="1101090"/>
          </a:xfrm>
        </p:grpSpPr>
        <p:sp>
          <p:nvSpPr>
            <p:cNvPr name="Freeform 104" id="104"/>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12" r="0" b="-8212"/>
              </a:stretch>
            </a:blipFill>
          </p:spPr>
          <p:txBody>
            <a:bodyPr/>
            <a:p/>
          </p:txBody>
        </p:sp>
      </p:grpSp>
      <p:grpSp>
        <p:nvGrpSpPr>
          <p:cNvPr name="Group 105" id="105"/>
          <p:cNvGrpSpPr/>
          <p:nvPr/>
        </p:nvGrpSpPr>
        <p:grpSpPr>
          <a:xfrm rot="0">
            <a:off x="14977872" y="3944493"/>
            <a:ext cx="2468880" cy="897255"/>
            <a:chOff x="0" y="0"/>
            <a:chExt cx="3291840" cy="1196340"/>
          </a:xfrm>
        </p:grpSpPr>
        <p:sp>
          <p:nvSpPr>
            <p:cNvPr name="Freeform 106" id="106"/>
            <p:cNvSpPr/>
            <p:nvPr/>
          </p:nvSpPr>
          <p:spPr>
            <a:xfrm flipH="false" flipV="false" rot="0">
              <a:off x="0" y="0"/>
              <a:ext cx="3291840" cy="1196341"/>
            </a:xfrm>
            <a:custGeom>
              <a:avLst/>
              <a:gdLst/>
              <a:ahLst/>
              <a:cxnLst/>
              <a:rect r="r" b="b" t="t" l="l"/>
              <a:pathLst>
                <a:path h="1196341" w="3291840">
                  <a:moveTo>
                    <a:pt x="0" y="0"/>
                  </a:moveTo>
                  <a:lnTo>
                    <a:pt x="3291840" y="0"/>
                  </a:lnTo>
                  <a:lnTo>
                    <a:pt x="3291840" y="1196341"/>
                  </a:lnTo>
                  <a:lnTo>
                    <a:pt x="0" y="1196341"/>
                  </a:lnTo>
                  <a:close/>
                </a:path>
              </a:pathLst>
            </a:custGeom>
            <a:blipFill>
              <a:blip r:embed="rId6">
                <a:alphaModFix amt="0"/>
              </a:blip>
              <a:stretch>
                <a:fillRect l="0" t="-3614" r="0" b="-3614"/>
              </a:stretch>
            </a:blipFill>
          </p:spPr>
          <p:txBody>
            <a:bodyPr/>
            <a:p/>
          </p:txBody>
        </p:sp>
        <p:sp>
          <p:nvSpPr>
            <p:cNvPr name="TextBox 107" id="107"/>
            <p:cNvSpPr txBox="true"/>
            <p:nvPr/>
          </p:nvSpPr>
          <p:spPr>
            <a:xfrm>
              <a:off x="0" y="-95250"/>
              <a:ext cx="3291840" cy="129159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35</a:t>
              </a:r>
            </a:p>
          </p:txBody>
        </p:sp>
      </p:grpSp>
      <p:sp>
        <p:nvSpPr>
          <p:cNvPr name="TextBox 108" id="108"/>
          <p:cNvSpPr txBox="true"/>
          <p:nvPr/>
        </p:nvSpPr>
        <p:spPr>
          <a:xfrm rot="0">
            <a:off x="14977872" y="4713732"/>
            <a:ext cx="2468880" cy="5257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parameter</a:t>
            </a:r>
          </a:p>
        </p:txBody>
      </p:sp>
      <p:graphicFrame>
        <p:nvGraphicFramePr>
          <p:cNvPr name="Table 109" id="109"/>
          <p:cNvGraphicFramePr>
            <a:graphicFrameLocks noGrp="true"/>
          </p:cNvGraphicFramePr>
          <p:nvPr/>
        </p:nvGraphicFramePr>
        <p:xfrm>
          <a:off x="12344400" y="5760720"/>
          <a:ext cx="5080000" cy="3200400"/>
        </p:xfrm>
        <a:graphic>
          <a:graphicData uri="http://schemas.openxmlformats.org/drawingml/2006/table">
            <a:tbl>
              <a:tblPr/>
              <a:tblGrid>
                <a:gridCol w="2652794"/>
                <a:gridCol w="2427206"/>
              </a:tblGrid>
              <a:tr h="533400">
                <a:tc>
                  <a:txBody>
                    <a:bodyPr anchor="t" rtlCol="false"/>
                    <a:lstStyle/>
                    <a:p>
                      <a:pPr algn="l">
                        <a:lnSpc>
                          <a:spcPts val="2070"/>
                        </a:lnSpc>
                        <a:defRPr/>
                      </a:pPr>
                      <a:r>
                        <a:rPr lang="en-US" sz="1725" b="true">
                          <a:solidFill>
                            <a:srgbClr val="FFFFFF"/>
                          </a:solidFill>
                          <a:latin typeface="Calibri (MS) Bold"/>
                          <a:ea typeface="Calibri (MS) Bold"/>
                          <a:cs typeface="Calibri (MS) Bold"/>
                          <a:sym typeface="Calibri (MS) Bold"/>
                        </a:rPr>
                        <a:t>Stok (nilai awal 2025)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1679"/>
                        </a:lnSpc>
                        <a:defRPr/>
                      </a:pP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40.695.654 kunjungan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Hotel dan akomodasi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2.291 unit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Objek daya tarik 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201 unit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Tenaga kerja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364.994 jiwa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55.029,54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110" id="110"/>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34</a:t>
            </a:r>
          </a:p>
        </p:txBody>
      </p:sp>
      <p:grpSp>
        <p:nvGrpSpPr>
          <p:cNvPr name="Group 111" id="111"/>
          <p:cNvGrpSpPr/>
          <p:nvPr/>
        </p:nvGrpSpPr>
        <p:grpSpPr>
          <a:xfrm rot="0">
            <a:off x="12755880" y="274320"/>
            <a:ext cx="3931920" cy="411480"/>
            <a:chOff x="0" y="0"/>
            <a:chExt cx="5242560" cy="548640"/>
          </a:xfrm>
        </p:grpSpPr>
        <p:sp>
          <p:nvSpPr>
            <p:cNvPr name="Freeform 112" id="112"/>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13" id="113"/>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2B · Formulasi model</a:t>
              </a:r>
            </a:p>
          </p:txBody>
        </p:sp>
      </p:grpSp>
      <p:grpSp>
        <p:nvGrpSpPr>
          <p:cNvPr name="Group 114" id="114"/>
          <p:cNvGrpSpPr/>
          <p:nvPr/>
        </p:nvGrpSpPr>
        <p:grpSpPr>
          <a:xfrm rot="0">
            <a:off x="16047720" y="9646920"/>
            <a:ext cx="420624" cy="420624"/>
            <a:chOff x="0" y="0"/>
            <a:chExt cx="560832" cy="560832"/>
          </a:xfrm>
        </p:grpSpPr>
        <p:sp>
          <p:nvSpPr>
            <p:cNvPr name="Freeform 115" id="115"/>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16" id="116"/>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Stock-Flow Diagram</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Stock-flow diagram pariwisata DIY</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35</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2B · Formulasi model</a:t>
              </a:r>
            </a:p>
          </p:txBody>
        </p:sp>
      </p:grpSp>
      <p:grpSp>
        <p:nvGrpSpPr>
          <p:cNvPr name="Group 70" id="70"/>
          <p:cNvGrpSpPr/>
          <p:nvPr/>
        </p:nvGrpSpPr>
        <p:grpSpPr>
          <a:xfrm rot="0">
            <a:off x="964521" y="2194560"/>
            <a:ext cx="12152719" cy="6080760"/>
            <a:chOff x="0" y="0"/>
            <a:chExt cx="16203625" cy="8107680"/>
          </a:xfrm>
        </p:grpSpPr>
        <p:sp>
          <p:nvSpPr>
            <p:cNvPr name="Freeform 71" id="71" descr="image12.png"/>
            <p:cNvSpPr/>
            <p:nvPr/>
          </p:nvSpPr>
          <p:spPr>
            <a:xfrm flipH="false" flipV="false" rot="0">
              <a:off x="0" y="0"/>
              <a:ext cx="16203676" cy="8107680"/>
            </a:xfrm>
            <a:custGeom>
              <a:avLst/>
              <a:gdLst/>
              <a:ahLst/>
              <a:cxnLst/>
              <a:rect r="r" b="b" t="t" l="l"/>
              <a:pathLst>
                <a:path h="8107680" w="16203676">
                  <a:moveTo>
                    <a:pt x="0" y="0"/>
                  </a:moveTo>
                  <a:lnTo>
                    <a:pt x="16203676" y="0"/>
                  </a:lnTo>
                  <a:lnTo>
                    <a:pt x="16203676" y="8107680"/>
                  </a:lnTo>
                  <a:lnTo>
                    <a:pt x="0" y="8107680"/>
                  </a:lnTo>
                  <a:lnTo>
                    <a:pt x="0" y="0"/>
                  </a:lnTo>
                  <a:close/>
                </a:path>
              </a:pathLst>
            </a:custGeom>
            <a:blipFill>
              <a:blip r:embed="rId7"/>
              <a:stretch>
                <a:fillRect l="0" t="0" r="0" b="0"/>
              </a:stretch>
            </a:blipFill>
          </p:spPr>
          <p:txBody>
            <a:bodyPr/>
            <a:p/>
          </p:txBody>
        </p:sp>
      </p:grpSp>
      <p:grpSp>
        <p:nvGrpSpPr>
          <p:cNvPr name="Group 72" id="72"/>
          <p:cNvGrpSpPr/>
          <p:nvPr/>
        </p:nvGrpSpPr>
        <p:grpSpPr>
          <a:xfrm rot="0">
            <a:off x="13481047" y="2188207"/>
            <a:ext cx="3990337" cy="2755897"/>
            <a:chOff x="0" y="0"/>
            <a:chExt cx="5320449" cy="3674529"/>
          </a:xfrm>
        </p:grpSpPr>
        <p:sp>
          <p:nvSpPr>
            <p:cNvPr name="Freeform 73" id="73"/>
            <p:cNvSpPr/>
            <p:nvPr/>
          </p:nvSpPr>
          <p:spPr>
            <a:xfrm flipH="false" flipV="false" rot="0">
              <a:off x="0" y="0"/>
              <a:ext cx="5320538" cy="3674618"/>
            </a:xfrm>
            <a:custGeom>
              <a:avLst/>
              <a:gdLst/>
              <a:ahLst/>
              <a:cxnLst/>
              <a:rect r="r" b="b" t="t" l="l"/>
              <a:pathLst>
                <a:path h="3674618" w="5320538">
                  <a:moveTo>
                    <a:pt x="0" y="294005"/>
                  </a:moveTo>
                  <a:cubicBezTo>
                    <a:pt x="0" y="131572"/>
                    <a:pt x="131572" y="0"/>
                    <a:pt x="294005" y="0"/>
                  </a:cubicBezTo>
                  <a:lnTo>
                    <a:pt x="5026533" y="0"/>
                  </a:lnTo>
                  <a:cubicBezTo>
                    <a:pt x="5188839" y="0"/>
                    <a:pt x="5320538" y="131572"/>
                    <a:pt x="5320538" y="294005"/>
                  </a:cubicBezTo>
                  <a:lnTo>
                    <a:pt x="5320538" y="3380613"/>
                  </a:lnTo>
                  <a:cubicBezTo>
                    <a:pt x="5320538" y="3542919"/>
                    <a:pt x="5188966" y="3674618"/>
                    <a:pt x="5026533" y="3674618"/>
                  </a:cubicBezTo>
                  <a:lnTo>
                    <a:pt x="294005" y="3674618"/>
                  </a:lnTo>
                  <a:cubicBezTo>
                    <a:pt x="131572" y="3674491"/>
                    <a:pt x="0" y="3542919"/>
                    <a:pt x="0" y="3380613"/>
                  </a:cubicBezTo>
                  <a:close/>
                </a:path>
              </a:pathLst>
            </a:custGeom>
            <a:solidFill>
              <a:srgbClr val="EAF8FA"/>
            </a:solidFill>
            <a:ln w="12700" cap="sq">
              <a:solidFill>
                <a:srgbClr val="CFE5E9"/>
              </a:solidFill>
              <a:prstDash val="solid"/>
              <a:miter/>
            </a:ln>
          </p:spPr>
          <p:txBody>
            <a:bodyPr/>
            <a:p/>
          </p:txBody>
        </p:sp>
        <p:sp>
          <p:nvSpPr>
            <p:cNvPr name="TextBox 74" id="74"/>
            <p:cNvSpPr txBox="true"/>
            <p:nvPr/>
          </p:nvSpPr>
          <p:spPr>
            <a:xfrm>
              <a:off x="0" y="-47625"/>
              <a:ext cx="5320449" cy="3722154"/>
            </a:xfrm>
            <a:prstGeom prst="rect">
              <a:avLst/>
            </a:prstGeom>
          </p:spPr>
          <p:txBody>
            <a:bodyPr anchor="t" rtlCol="false" tIns="50800" lIns="50800" bIns="50800" rIns="50800"/>
            <a:lstStyle/>
            <a:p>
              <a:pPr algn="l">
                <a:lnSpc>
                  <a:spcPts val="2206"/>
                </a:lnSpc>
              </a:pPr>
              <a:r>
                <a:rPr lang="en-US" sz="1839" b="true">
                  <a:solidFill>
                    <a:srgbClr val="0B5E6E"/>
                  </a:solidFill>
                  <a:latin typeface="Calibri (MS) Bold"/>
                  <a:ea typeface="Calibri (MS) Bold"/>
                  <a:cs typeface="Calibri (MS) Bold"/>
                  <a:sym typeface="Calibri (MS) Bold"/>
                </a:rPr>
                <a:t>5 stock (kotak)</a:t>
              </a:r>
            </a:p>
            <a:p>
              <a:pPr algn="l">
                <a:lnSpc>
                  <a:spcPts val="1860"/>
                </a:lnSpc>
              </a:pPr>
              <a:r>
                <a:rPr lang="en-US" sz="1550">
                  <a:solidFill>
                    <a:srgbClr val="14313B"/>
                  </a:solidFill>
                  <a:latin typeface="Calibri (MS)"/>
                  <a:ea typeface="Calibri (MS)"/>
                  <a:cs typeface="Calibri (MS)"/>
                  <a:sym typeface="Calibri (MS)"/>
                </a:rPr>
                <a:t>Jumlah Wisatawan · Hotel &amp; Akomodasi · ODTW · Tenaga Kerja · Lahan Terbangun</a:t>
              </a:r>
            </a:p>
          </p:txBody>
        </p:sp>
      </p:grpSp>
      <p:grpSp>
        <p:nvGrpSpPr>
          <p:cNvPr name="Group 75" id="75"/>
          <p:cNvGrpSpPr/>
          <p:nvPr/>
        </p:nvGrpSpPr>
        <p:grpSpPr>
          <a:xfrm rot="0">
            <a:off x="13481047" y="5068567"/>
            <a:ext cx="3990337" cy="1612897"/>
            <a:chOff x="0" y="0"/>
            <a:chExt cx="5320449" cy="2150529"/>
          </a:xfrm>
        </p:grpSpPr>
        <p:sp>
          <p:nvSpPr>
            <p:cNvPr name="Freeform 76" id="76"/>
            <p:cNvSpPr/>
            <p:nvPr/>
          </p:nvSpPr>
          <p:spPr>
            <a:xfrm flipH="false" flipV="false" rot="0">
              <a:off x="0" y="0"/>
              <a:ext cx="5320538" cy="2150618"/>
            </a:xfrm>
            <a:custGeom>
              <a:avLst/>
              <a:gdLst/>
              <a:ahLst/>
              <a:cxnLst/>
              <a:rect r="r" b="b" t="t" l="l"/>
              <a:pathLst>
                <a:path h="2150618" w="5320538">
                  <a:moveTo>
                    <a:pt x="0" y="172085"/>
                  </a:moveTo>
                  <a:cubicBezTo>
                    <a:pt x="0" y="77089"/>
                    <a:pt x="77089" y="0"/>
                    <a:pt x="172085" y="0"/>
                  </a:cubicBezTo>
                  <a:lnTo>
                    <a:pt x="5148453" y="0"/>
                  </a:lnTo>
                  <a:cubicBezTo>
                    <a:pt x="5243449" y="0"/>
                    <a:pt x="5320538" y="77089"/>
                    <a:pt x="5320538" y="172085"/>
                  </a:cubicBezTo>
                  <a:lnTo>
                    <a:pt x="5320538" y="1978533"/>
                  </a:lnTo>
                  <a:cubicBezTo>
                    <a:pt x="5320538" y="2073529"/>
                    <a:pt x="5243449" y="2150618"/>
                    <a:pt x="5148453" y="2150618"/>
                  </a:cubicBezTo>
                  <a:lnTo>
                    <a:pt x="172085" y="2150618"/>
                  </a:lnTo>
                  <a:cubicBezTo>
                    <a:pt x="77089" y="2150491"/>
                    <a:pt x="0" y="2073529"/>
                    <a:pt x="0" y="1978533"/>
                  </a:cubicBezTo>
                  <a:close/>
                </a:path>
              </a:pathLst>
            </a:custGeom>
            <a:solidFill>
              <a:srgbClr val="EAF8FA"/>
            </a:solidFill>
            <a:ln w="12700" cap="sq">
              <a:solidFill>
                <a:srgbClr val="CFE5E9"/>
              </a:solidFill>
              <a:prstDash val="solid"/>
              <a:miter/>
            </a:ln>
          </p:spPr>
          <p:txBody>
            <a:bodyPr/>
            <a:p/>
          </p:txBody>
        </p:sp>
        <p:sp>
          <p:nvSpPr>
            <p:cNvPr name="TextBox 77" id="77"/>
            <p:cNvSpPr txBox="true"/>
            <p:nvPr/>
          </p:nvSpPr>
          <p:spPr>
            <a:xfrm>
              <a:off x="0" y="-38100"/>
              <a:ext cx="5320449" cy="2188629"/>
            </a:xfrm>
            <a:prstGeom prst="rect">
              <a:avLst/>
            </a:prstGeom>
          </p:spPr>
          <p:txBody>
            <a:bodyPr anchor="t"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10 flow · 11 auxiliary · 35 parameter</a:t>
              </a:r>
            </a:p>
            <a:p>
              <a:pPr algn="l">
                <a:lnSpc>
                  <a:spcPts val="1860"/>
                </a:lnSpc>
              </a:pPr>
              <a:r>
                <a:rPr lang="en-US" sz="1550">
                  <a:solidFill>
                    <a:srgbClr val="14313B"/>
                  </a:solidFill>
                  <a:latin typeface="Calibri (MS)"/>
                  <a:ea typeface="Calibri (MS)"/>
                  <a:cs typeface="Calibri (MS)"/>
                  <a:sym typeface="Calibri (MS)"/>
                </a:rPr>
                <a:t>26 dihitung model + 35 input = 61 variabel</a:t>
              </a:r>
            </a:p>
          </p:txBody>
        </p:sp>
      </p:grpSp>
      <p:grpSp>
        <p:nvGrpSpPr>
          <p:cNvPr name="Group 78" id="78"/>
          <p:cNvGrpSpPr/>
          <p:nvPr/>
        </p:nvGrpSpPr>
        <p:grpSpPr>
          <a:xfrm rot="0">
            <a:off x="13481047" y="6805927"/>
            <a:ext cx="3990337" cy="1475737"/>
            <a:chOff x="0" y="0"/>
            <a:chExt cx="5320449" cy="1967649"/>
          </a:xfrm>
        </p:grpSpPr>
        <p:sp>
          <p:nvSpPr>
            <p:cNvPr name="Freeform 79" id="79"/>
            <p:cNvSpPr/>
            <p:nvPr/>
          </p:nvSpPr>
          <p:spPr>
            <a:xfrm flipH="false" flipV="false" rot="0">
              <a:off x="0" y="0"/>
              <a:ext cx="5320411" cy="1967611"/>
            </a:xfrm>
            <a:custGeom>
              <a:avLst/>
              <a:gdLst/>
              <a:ahLst/>
              <a:cxnLst/>
              <a:rect r="r" b="b" t="t" l="l"/>
              <a:pathLst>
                <a:path h="1967611" w="5320411">
                  <a:moveTo>
                    <a:pt x="0" y="157353"/>
                  </a:moveTo>
                  <a:cubicBezTo>
                    <a:pt x="0" y="70485"/>
                    <a:pt x="70485" y="0"/>
                    <a:pt x="157353" y="0"/>
                  </a:cubicBezTo>
                  <a:lnTo>
                    <a:pt x="5163058" y="0"/>
                  </a:lnTo>
                  <a:cubicBezTo>
                    <a:pt x="5250053" y="0"/>
                    <a:pt x="5320411" y="70485"/>
                    <a:pt x="5320411" y="157353"/>
                  </a:cubicBezTo>
                  <a:lnTo>
                    <a:pt x="5320411" y="1810258"/>
                  </a:lnTo>
                  <a:cubicBezTo>
                    <a:pt x="5320411" y="1897253"/>
                    <a:pt x="5249926" y="1967611"/>
                    <a:pt x="5163058" y="1967611"/>
                  </a:cubicBezTo>
                  <a:lnTo>
                    <a:pt x="157353" y="1967611"/>
                  </a:lnTo>
                  <a:cubicBezTo>
                    <a:pt x="70485" y="1967611"/>
                    <a:pt x="0" y="1897126"/>
                    <a:pt x="0" y="1810258"/>
                  </a:cubicBezTo>
                  <a:close/>
                </a:path>
              </a:pathLst>
            </a:custGeom>
            <a:solidFill>
              <a:srgbClr val="FFF1BF"/>
            </a:solidFill>
            <a:ln w="12700" cap="sq">
              <a:solidFill>
                <a:srgbClr val="FFD23B"/>
              </a:solidFill>
              <a:prstDash val="solid"/>
              <a:miter/>
            </a:ln>
          </p:spPr>
          <p:txBody>
            <a:bodyPr/>
            <a:p/>
          </p:txBody>
        </p:sp>
        <p:sp>
          <p:nvSpPr>
            <p:cNvPr name="TextBox 80" id="80"/>
            <p:cNvSpPr txBox="true"/>
            <p:nvPr/>
          </p:nvSpPr>
          <p:spPr>
            <a:xfrm>
              <a:off x="0" y="-38100"/>
              <a:ext cx="5320449" cy="2005749"/>
            </a:xfrm>
            <a:prstGeom prst="rect">
              <a:avLst/>
            </a:prstGeom>
          </p:spPr>
          <p:txBody>
            <a:bodyPr anchor="t"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Dua variabel kebijakan</a:t>
              </a:r>
            </a:p>
            <a:p>
              <a:pPr algn="l">
                <a:lnSpc>
                  <a:spcPts val="1860"/>
                </a:lnSpc>
              </a:pPr>
              <a:r>
                <a:rPr lang="en-US" sz="1550">
                  <a:solidFill>
                    <a:srgbClr val="14313B"/>
                  </a:solidFill>
                  <a:latin typeface="Calibri (MS)"/>
                  <a:ea typeface="Calibri (MS)"/>
                  <a:cs typeface="Calibri (MS)"/>
                  <a:sym typeface="Calibri (MS)"/>
                </a:rPr>
                <a:t>Insentif → investasi (R2); Konservasi → konversi lahan pariwisata (B2)</a:t>
              </a:r>
            </a:p>
          </p:txBody>
        </p:sp>
      </p:grpSp>
      <p:grpSp>
        <p:nvGrpSpPr>
          <p:cNvPr name="Group 81" id="81"/>
          <p:cNvGrpSpPr/>
          <p:nvPr/>
        </p:nvGrpSpPr>
        <p:grpSpPr>
          <a:xfrm rot="0">
            <a:off x="816607" y="8406127"/>
            <a:ext cx="16654777" cy="789937"/>
            <a:chOff x="0" y="0"/>
            <a:chExt cx="22206369" cy="1053249"/>
          </a:xfrm>
        </p:grpSpPr>
        <p:sp>
          <p:nvSpPr>
            <p:cNvPr name="Freeform 82" id="82"/>
            <p:cNvSpPr/>
            <p:nvPr/>
          </p:nvSpPr>
          <p:spPr>
            <a:xfrm flipH="false" flipV="false" rot="0">
              <a:off x="0" y="0"/>
              <a:ext cx="22206331" cy="1053211"/>
            </a:xfrm>
            <a:custGeom>
              <a:avLst/>
              <a:gdLst/>
              <a:ahLst/>
              <a:cxnLst/>
              <a:rect r="r" b="b" t="t" l="l"/>
              <a:pathLst>
                <a:path h="1053211" w="22206331">
                  <a:moveTo>
                    <a:pt x="0" y="84201"/>
                  </a:moveTo>
                  <a:cubicBezTo>
                    <a:pt x="0" y="37719"/>
                    <a:pt x="37719" y="0"/>
                    <a:pt x="84201" y="0"/>
                  </a:cubicBezTo>
                  <a:lnTo>
                    <a:pt x="22122130" y="0"/>
                  </a:lnTo>
                  <a:cubicBezTo>
                    <a:pt x="22168613" y="0"/>
                    <a:pt x="22206331" y="37719"/>
                    <a:pt x="22206331" y="84201"/>
                  </a:cubicBezTo>
                  <a:lnTo>
                    <a:pt x="22206331" y="969010"/>
                  </a:lnTo>
                  <a:cubicBezTo>
                    <a:pt x="22206331" y="1015492"/>
                    <a:pt x="22168613" y="1053211"/>
                    <a:pt x="22122130" y="1053211"/>
                  </a:cubicBezTo>
                  <a:lnTo>
                    <a:pt x="84201" y="1053211"/>
                  </a:lnTo>
                  <a:cubicBezTo>
                    <a:pt x="37719" y="1053211"/>
                    <a:pt x="0" y="1015492"/>
                    <a:pt x="0" y="969010"/>
                  </a:cubicBezTo>
                  <a:close/>
                </a:path>
              </a:pathLst>
            </a:custGeom>
            <a:solidFill>
              <a:srgbClr val="FFF1BF"/>
            </a:solidFill>
            <a:ln w="12700" cap="sq">
              <a:solidFill>
                <a:srgbClr val="FFD23B"/>
              </a:solidFill>
              <a:prstDash val="solid"/>
              <a:miter/>
            </a:ln>
          </p:spPr>
          <p:txBody>
            <a:bodyPr/>
            <a:p/>
          </p:txBody>
        </p:sp>
        <p:sp>
          <p:nvSpPr>
            <p:cNvPr name="TextBox 83" id="83"/>
            <p:cNvSpPr txBox="true"/>
            <p:nvPr/>
          </p:nvSpPr>
          <p:spPr>
            <a:xfrm>
              <a:off x="0" y="-38100"/>
              <a:ext cx="22206369" cy="109134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SFD adalah bentuk kuantitatif dari CLD dan disimulasikan 2025–2050 (Δt 1 tahun, metode Euler). Persamaan lengkap di Lampiran 15.</a:t>
              </a:r>
            </a:p>
          </p:txBody>
        </p:sp>
      </p:grpSp>
      <p:grpSp>
        <p:nvGrpSpPr>
          <p:cNvPr name="Group 84" id="84"/>
          <p:cNvGrpSpPr/>
          <p:nvPr/>
        </p:nvGrpSpPr>
        <p:grpSpPr>
          <a:xfrm rot="0">
            <a:off x="16047720" y="9646920"/>
            <a:ext cx="420624" cy="420624"/>
            <a:chOff x="0" y="0"/>
            <a:chExt cx="560832" cy="560832"/>
          </a:xfrm>
        </p:grpSpPr>
        <p:sp>
          <p:nvSpPr>
            <p:cNvPr name="Freeform 85" id="85"/>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86" id="86"/>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Persamaan Stok — Subsistem Wisatawan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Daya Tarik Destinasi menghubungkan seluruh loop utama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Freeform 66" id="66"/>
          <p:cNvSpPr/>
          <p:nvPr/>
        </p:nvSpPr>
        <p:spPr>
          <a:xfrm flipH="false" flipV="false" rot="0">
            <a:off x="806291" y="2383631"/>
            <a:ext cx="10320338" cy="2022158"/>
          </a:xfrm>
          <a:custGeom>
            <a:avLst/>
            <a:gdLst/>
            <a:ahLst/>
            <a:cxnLst/>
            <a:rect r="r" b="b" t="t" l="l"/>
            <a:pathLst>
              <a:path h="2022158" w="10320338">
                <a:moveTo>
                  <a:pt x="0" y="0"/>
                </a:moveTo>
                <a:lnTo>
                  <a:pt x="10320338" y="0"/>
                </a:lnTo>
                <a:lnTo>
                  <a:pt x="10320338" y="2022158"/>
                </a:lnTo>
                <a:lnTo>
                  <a:pt x="0" y="2022158"/>
                </a:lnTo>
                <a:lnTo>
                  <a:pt x="0" y="0"/>
                </a:lnTo>
                <a:close/>
              </a:path>
            </a:pathLst>
          </a:custGeom>
          <a:blipFill>
            <a:blip r:embed="rId7">
              <a:extLst>
                <a:ext uri="{96DAC541-7B7A-43D3-8B79-37D633B846F1}">
                  <asvg:svgBlip xmlns:asvg="http://schemas.microsoft.com/office/drawing/2016/SVG/main" r:embed="rId8"/>
                </a:ext>
              </a:extLst>
            </a:blip>
            <a:stretch>
              <a:fillRect l="0" t="-141" r="0" b="-141"/>
            </a:stretch>
          </a:blipFill>
        </p:spPr>
        <p:txBody>
          <a:bodyPr/>
          <a:p/>
        </p:txBody>
      </p:sp>
      <p:sp>
        <p:nvSpPr>
          <p:cNvPr name="TextBox 67" id="67"/>
          <p:cNvSpPr txBox="true"/>
          <p:nvPr/>
        </p:nvSpPr>
        <p:spPr>
          <a:xfrm rot="0">
            <a:off x="1234440" y="2547747"/>
            <a:ext cx="9464040" cy="428625"/>
          </a:xfrm>
          <a:prstGeom prst="rect">
            <a:avLst/>
          </a:prstGeom>
        </p:spPr>
        <p:txBody>
          <a:bodyPr anchor="t" rtlCol="false" tIns="0" lIns="0" bIns="0" rIns="0">
            <a:spAutoFit/>
          </a:bodyPr>
          <a:lstStyle/>
          <a:p>
            <a:pPr algn="l">
              <a:lnSpc>
                <a:spcPts val="1980"/>
              </a:lnSpc>
            </a:pPr>
            <a:r>
              <a:rPr lang="en-US" sz="1650" b="true">
                <a:solidFill>
                  <a:srgbClr val="5E6E78"/>
                </a:solidFill>
                <a:latin typeface="Calibri (MS) Bold"/>
                <a:ea typeface="Calibri (MS) Bold"/>
                <a:cs typeface="Calibri (MS) Bold"/>
                <a:sym typeface="Calibri (MS) Bold"/>
              </a:rPr>
              <a:t>LAJU KEDATANGAN WISATAWAN</a:t>
            </a:r>
          </a:p>
        </p:txBody>
      </p:sp>
      <p:grpSp>
        <p:nvGrpSpPr>
          <p:cNvPr name="Group 68" id="68"/>
          <p:cNvGrpSpPr/>
          <p:nvPr/>
        </p:nvGrpSpPr>
        <p:grpSpPr>
          <a:xfrm rot="0">
            <a:off x="1234440" y="3086100"/>
            <a:ext cx="9464040" cy="1165860"/>
            <a:chOff x="0" y="0"/>
            <a:chExt cx="12618720" cy="1554480"/>
          </a:xfrm>
        </p:grpSpPr>
        <p:sp>
          <p:nvSpPr>
            <p:cNvPr name="Freeform 69" id="69"/>
            <p:cNvSpPr/>
            <p:nvPr/>
          </p:nvSpPr>
          <p:spPr>
            <a:xfrm flipH="false" flipV="false" rot="0">
              <a:off x="0" y="0"/>
              <a:ext cx="12618720" cy="1554480"/>
            </a:xfrm>
            <a:custGeom>
              <a:avLst/>
              <a:gdLst/>
              <a:ahLst/>
              <a:cxnLst/>
              <a:rect r="r" b="b" t="t" l="l"/>
              <a:pathLst>
                <a:path h="1554480" w="12618720">
                  <a:moveTo>
                    <a:pt x="0" y="0"/>
                  </a:moveTo>
                  <a:lnTo>
                    <a:pt x="12618720" y="0"/>
                  </a:lnTo>
                  <a:lnTo>
                    <a:pt x="12618720" y="1554480"/>
                  </a:lnTo>
                  <a:lnTo>
                    <a:pt x="0" y="1554480"/>
                  </a:lnTo>
                  <a:close/>
                </a:path>
              </a:pathLst>
            </a:custGeom>
            <a:blipFill>
              <a:blip r:embed="rId4">
                <a:alphaModFix amt="0"/>
              </a:blip>
              <a:stretch>
                <a:fillRect l="0" t="-108062" r="0" b="-108062"/>
              </a:stretch>
            </a:blipFill>
          </p:spPr>
          <p:txBody>
            <a:bodyPr/>
            <a:p/>
          </p:txBody>
        </p:sp>
      </p:grpSp>
      <p:grpSp>
        <p:nvGrpSpPr>
          <p:cNvPr name="Group 70" id="70"/>
          <p:cNvGrpSpPr/>
          <p:nvPr/>
        </p:nvGrpSpPr>
        <p:grpSpPr>
          <a:xfrm rot="0">
            <a:off x="1234440" y="3043238"/>
            <a:ext cx="9464040" cy="1208723"/>
            <a:chOff x="0" y="0"/>
            <a:chExt cx="12618720" cy="1611630"/>
          </a:xfrm>
        </p:grpSpPr>
        <p:sp>
          <p:nvSpPr>
            <p:cNvPr name="Freeform 71" id="71"/>
            <p:cNvSpPr/>
            <p:nvPr/>
          </p:nvSpPr>
          <p:spPr>
            <a:xfrm flipH="false" flipV="false" rot="0">
              <a:off x="0" y="0"/>
              <a:ext cx="12618720" cy="1611630"/>
            </a:xfrm>
            <a:custGeom>
              <a:avLst/>
              <a:gdLst/>
              <a:ahLst/>
              <a:cxnLst/>
              <a:rect r="r" b="b" t="t" l="l"/>
              <a:pathLst>
                <a:path h="1611630" w="12618720">
                  <a:moveTo>
                    <a:pt x="0" y="0"/>
                  </a:moveTo>
                  <a:lnTo>
                    <a:pt x="12618720" y="0"/>
                  </a:lnTo>
                  <a:lnTo>
                    <a:pt x="12618720" y="1611630"/>
                  </a:lnTo>
                  <a:lnTo>
                    <a:pt x="0" y="1611630"/>
                  </a:lnTo>
                  <a:close/>
                </a:path>
              </a:pathLst>
            </a:custGeom>
            <a:blipFill>
              <a:blip r:embed="rId5">
                <a:alphaModFix amt="0"/>
              </a:blip>
              <a:stretch>
                <a:fillRect l="0" t="-102457" r="0" b="-102457"/>
              </a:stretch>
            </a:blipFill>
          </p:spPr>
          <p:txBody>
            <a:bodyPr/>
            <a:p/>
          </p:txBody>
        </p:sp>
      </p:grpSp>
      <p:grpSp>
        <p:nvGrpSpPr>
          <p:cNvPr name="Group 72" id="72"/>
          <p:cNvGrpSpPr/>
          <p:nvPr/>
        </p:nvGrpSpPr>
        <p:grpSpPr>
          <a:xfrm rot="0">
            <a:off x="1234440" y="3000375"/>
            <a:ext cx="9464040" cy="1251585"/>
            <a:chOff x="0" y="0"/>
            <a:chExt cx="12618720" cy="1668780"/>
          </a:xfrm>
        </p:grpSpPr>
        <p:sp>
          <p:nvSpPr>
            <p:cNvPr name="Freeform 73" id="73"/>
            <p:cNvSpPr/>
            <p:nvPr/>
          </p:nvSpPr>
          <p:spPr>
            <a:xfrm flipH="false" flipV="false" rot="0">
              <a:off x="0" y="0"/>
              <a:ext cx="12618720" cy="1668781"/>
            </a:xfrm>
            <a:custGeom>
              <a:avLst/>
              <a:gdLst/>
              <a:ahLst/>
              <a:cxnLst/>
              <a:rect r="r" b="b" t="t" l="l"/>
              <a:pathLst>
                <a:path h="1668781" w="12618720">
                  <a:moveTo>
                    <a:pt x="0" y="0"/>
                  </a:moveTo>
                  <a:lnTo>
                    <a:pt x="12618720" y="0"/>
                  </a:lnTo>
                  <a:lnTo>
                    <a:pt x="12618720" y="1668781"/>
                  </a:lnTo>
                  <a:lnTo>
                    <a:pt x="0" y="1668781"/>
                  </a:lnTo>
                  <a:close/>
                </a:path>
              </a:pathLst>
            </a:custGeom>
            <a:blipFill>
              <a:blip r:embed="rId6">
                <a:alphaModFix amt="0"/>
              </a:blip>
              <a:stretch>
                <a:fillRect l="0" t="-97338" r="0" b="-97338"/>
              </a:stretch>
            </a:blipFill>
          </p:spPr>
          <p:txBody>
            <a:bodyPr/>
            <a:p/>
          </p:txBody>
        </p:sp>
        <p:sp>
          <p:nvSpPr>
            <p:cNvPr name="TextBox 74" id="74"/>
            <p:cNvSpPr txBox="true"/>
            <p:nvPr/>
          </p:nvSpPr>
          <p:spPr>
            <a:xfrm>
              <a:off x="0" y="-57150"/>
              <a:ext cx="12618720" cy="1725930"/>
            </a:xfrm>
            <a:prstGeom prst="rect">
              <a:avLst/>
            </a:prstGeom>
          </p:spPr>
          <p:txBody>
            <a:bodyPr anchor="ctr" rtlCol="false" tIns="0" lIns="0" bIns="0" rIns="0"/>
            <a:lstStyle/>
            <a:p>
              <a:pPr algn="l">
                <a:lnSpc>
                  <a:spcPts val="3419"/>
                </a:lnSpc>
              </a:pPr>
              <a:r>
                <a:rPr lang="en-US" sz="2850" b="true">
                  <a:solidFill>
                    <a:srgbClr val="0B5E6E"/>
                  </a:solidFill>
                  <a:latin typeface="Calibri (MS) Bold"/>
                  <a:ea typeface="Calibri (MS) Bold"/>
                  <a:cs typeface="Calibri (MS) Bold"/>
                  <a:sym typeface="Calibri (MS) Bold"/>
                </a:rPr>
                <a:t>Jumlah Wisatawan × Laju Pertumbuhan Eksternal × Daya Tarik</a:t>
              </a:r>
            </a:p>
          </p:txBody>
        </p:sp>
      </p:grpSp>
      <p:sp>
        <p:nvSpPr>
          <p:cNvPr name="Freeform 75" id="75"/>
          <p:cNvSpPr/>
          <p:nvPr/>
        </p:nvSpPr>
        <p:spPr>
          <a:xfrm flipH="false" flipV="false" rot="0">
            <a:off x="806291" y="4578191"/>
            <a:ext cx="10320338" cy="2022158"/>
          </a:xfrm>
          <a:custGeom>
            <a:avLst/>
            <a:gdLst/>
            <a:ahLst/>
            <a:cxnLst/>
            <a:rect r="r" b="b" t="t" l="l"/>
            <a:pathLst>
              <a:path h="2022158" w="10320338">
                <a:moveTo>
                  <a:pt x="0" y="0"/>
                </a:moveTo>
                <a:lnTo>
                  <a:pt x="10320338" y="0"/>
                </a:lnTo>
                <a:lnTo>
                  <a:pt x="10320338" y="2022158"/>
                </a:lnTo>
                <a:lnTo>
                  <a:pt x="0" y="2022158"/>
                </a:lnTo>
                <a:lnTo>
                  <a:pt x="0" y="0"/>
                </a:lnTo>
                <a:close/>
              </a:path>
            </a:pathLst>
          </a:custGeom>
          <a:blipFill>
            <a:blip r:embed="rId7">
              <a:extLst>
                <a:ext uri="{96DAC541-7B7A-43D3-8B79-37D633B846F1}">
                  <asvg:svgBlip xmlns:asvg="http://schemas.microsoft.com/office/drawing/2016/SVG/main" r:embed="rId8"/>
                </a:ext>
              </a:extLst>
            </a:blip>
            <a:stretch>
              <a:fillRect l="0" t="-141" r="0" b="-141"/>
            </a:stretch>
          </a:blipFill>
        </p:spPr>
        <p:txBody>
          <a:bodyPr/>
          <a:p/>
        </p:txBody>
      </p:sp>
      <p:sp>
        <p:nvSpPr>
          <p:cNvPr name="TextBox 76" id="76"/>
          <p:cNvSpPr txBox="true"/>
          <p:nvPr/>
        </p:nvSpPr>
        <p:spPr>
          <a:xfrm rot="0">
            <a:off x="1234440" y="4742307"/>
            <a:ext cx="9464040" cy="428625"/>
          </a:xfrm>
          <a:prstGeom prst="rect">
            <a:avLst/>
          </a:prstGeom>
        </p:spPr>
        <p:txBody>
          <a:bodyPr anchor="t" rtlCol="false" tIns="0" lIns="0" bIns="0" rIns="0">
            <a:spAutoFit/>
          </a:bodyPr>
          <a:lstStyle/>
          <a:p>
            <a:pPr algn="l">
              <a:lnSpc>
                <a:spcPts val="1980"/>
              </a:lnSpc>
            </a:pPr>
            <a:r>
              <a:rPr lang="en-US" sz="1650" b="true">
                <a:solidFill>
                  <a:srgbClr val="5E6E78"/>
                </a:solidFill>
                <a:latin typeface="Calibri (MS) Bold"/>
                <a:ea typeface="Calibri (MS) Bold"/>
                <a:cs typeface="Calibri (MS) Bold"/>
                <a:sym typeface="Calibri (MS) Bold"/>
              </a:rPr>
              <a:t>LAJU PENURUNAN WISATAWAN</a:t>
            </a:r>
          </a:p>
        </p:txBody>
      </p:sp>
      <p:grpSp>
        <p:nvGrpSpPr>
          <p:cNvPr name="Group 77" id="77"/>
          <p:cNvGrpSpPr/>
          <p:nvPr/>
        </p:nvGrpSpPr>
        <p:grpSpPr>
          <a:xfrm rot="0">
            <a:off x="1234440" y="5280660"/>
            <a:ext cx="9464040" cy="1165860"/>
            <a:chOff x="0" y="0"/>
            <a:chExt cx="12618720" cy="1554480"/>
          </a:xfrm>
        </p:grpSpPr>
        <p:sp>
          <p:nvSpPr>
            <p:cNvPr name="Freeform 78" id="78"/>
            <p:cNvSpPr/>
            <p:nvPr/>
          </p:nvSpPr>
          <p:spPr>
            <a:xfrm flipH="false" flipV="false" rot="0">
              <a:off x="0" y="0"/>
              <a:ext cx="12618720" cy="1554480"/>
            </a:xfrm>
            <a:custGeom>
              <a:avLst/>
              <a:gdLst/>
              <a:ahLst/>
              <a:cxnLst/>
              <a:rect r="r" b="b" t="t" l="l"/>
              <a:pathLst>
                <a:path h="1554480" w="12618720">
                  <a:moveTo>
                    <a:pt x="0" y="0"/>
                  </a:moveTo>
                  <a:lnTo>
                    <a:pt x="12618720" y="0"/>
                  </a:lnTo>
                  <a:lnTo>
                    <a:pt x="12618720" y="1554480"/>
                  </a:lnTo>
                  <a:lnTo>
                    <a:pt x="0" y="1554480"/>
                  </a:lnTo>
                  <a:close/>
                </a:path>
              </a:pathLst>
            </a:custGeom>
            <a:blipFill>
              <a:blip r:embed="rId4">
                <a:alphaModFix amt="0"/>
              </a:blip>
              <a:stretch>
                <a:fillRect l="0" t="-108062" r="0" b="-108062"/>
              </a:stretch>
            </a:blipFill>
          </p:spPr>
          <p:txBody>
            <a:bodyPr/>
            <a:p/>
          </p:txBody>
        </p:sp>
      </p:grpSp>
      <p:grpSp>
        <p:nvGrpSpPr>
          <p:cNvPr name="Group 79" id="79"/>
          <p:cNvGrpSpPr/>
          <p:nvPr/>
        </p:nvGrpSpPr>
        <p:grpSpPr>
          <a:xfrm rot="0">
            <a:off x="1234440" y="5237797"/>
            <a:ext cx="9464040" cy="1208723"/>
            <a:chOff x="0" y="0"/>
            <a:chExt cx="12618720" cy="1611630"/>
          </a:xfrm>
        </p:grpSpPr>
        <p:sp>
          <p:nvSpPr>
            <p:cNvPr name="Freeform 80" id="80"/>
            <p:cNvSpPr/>
            <p:nvPr/>
          </p:nvSpPr>
          <p:spPr>
            <a:xfrm flipH="false" flipV="false" rot="0">
              <a:off x="0" y="0"/>
              <a:ext cx="12618720" cy="1611630"/>
            </a:xfrm>
            <a:custGeom>
              <a:avLst/>
              <a:gdLst/>
              <a:ahLst/>
              <a:cxnLst/>
              <a:rect r="r" b="b" t="t" l="l"/>
              <a:pathLst>
                <a:path h="1611630" w="12618720">
                  <a:moveTo>
                    <a:pt x="0" y="0"/>
                  </a:moveTo>
                  <a:lnTo>
                    <a:pt x="12618720" y="0"/>
                  </a:lnTo>
                  <a:lnTo>
                    <a:pt x="12618720" y="1611630"/>
                  </a:lnTo>
                  <a:lnTo>
                    <a:pt x="0" y="1611630"/>
                  </a:lnTo>
                  <a:close/>
                </a:path>
              </a:pathLst>
            </a:custGeom>
            <a:blipFill>
              <a:blip r:embed="rId5">
                <a:alphaModFix amt="0"/>
              </a:blip>
              <a:stretch>
                <a:fillRect l="0" t="-102457" r="0" b="-102457"/>
              </a:stretch>
            </a:blipFill>
          </p:spPr>
          <p:txBody>
            <a:bodyPr/>
            <a:p/>
          </p:txBody>
        </p:sp>
      </p:grpSp>
      <p:grpSp>
        <p:nvGrpSpPr>
          <p:cNvPr name="Group 81" id="81"/>
          <p:cNvGrpSpPr/>
          <p:nvPr/>
        </p:nvGrpSpPr>
        <p:grpSpPr>
          <a:xfrm rot="0">
            <a:off x="1234440" y="5194935"/>
            <a:ext cx="9464040" cy="1251585"/>
            <a:chOff x="0" y="0"/>
            <a:chExt cx="12618720" cy="1668780"/>
          </a:xfrm>
        </p:grpSpPr>
        <p:sp>
          <p:nvSpPr>
            <p:cNvPr name="Freeform 82" id="82"/>
            <p:cNvSpPr/>
            <p:nvPr/>
          </p:nvSpPr>
          <p:spPr>
            <a:xfrm flipH="false" flipV="false" rot="0">
              <a:off x="0" y="0"/>
              <a:ext cx="12618720" cy="1668781"/>
            </a:xfrm>
            <a:custGeom>
              <a:avLst/>
              <a:gdLst/>
              <a:ahLst/>
              <a:cxnLst/>
              <a:rect r="r" b="b" t="t" l="l"/>
              <a:pathLst>
                <a:path h="1668781" w="12618720">
                  <a:moveTo>
                    <a:pt x="0" y="0"/>
                  </a:moveTo>
                  <a:lnTo>
                    <a:pt x="12618720" y="0"/>
                  </a:lnTo>
                  <a:lnTo>
                    <a:pt x="12618720" y="1668781"/>
                  </a:lnTo>
                  <a:lnTo>
                    <a:pt x="0" y="1668781"/>
                  </a:lnTo>
                  <a:close/>
                </a:path>
              </a:pathLst>
            </a:custGeom>
            <a:blipFill>
              <a:blip r:embed="rId6">
                <a:alphaModFix amt="0"/>
              </a:blip>
              <a:stretch>
                <a:fillRect l="0" t="-97338" r="0" b="-97338"/>
              </a:stretch>
            </a:blipFill>
          </p:spPr>
          <p:txBody>
            <a:bodyPr/>
            <a:p/>
          </p:txBody>
        </p:sp>
        <p:sp>
          <p:nvSpPr>
            <p:cNvPr name="TextBox 83" id="83"/>
            <p:cNvSpPr txBox="true"/>
            <p:nvPr/>
          </p:nvSpPr>
          <p:spPr>
            <a:xfrm>
              <a:off x="0" y="-57150"/>
              <a:ext cx="12618720" cy="1725930"/>
            </a:xfrm>
            <a:prstGeom prst="rect">
              <a:avLst/>
            </a:prstGeom>
          </p:spPr>
          <p:txBody>
            <a:bodyPr anchor="ctr" rtlCol="false" tIns="0" lIns="0" bIns="0" rIns="0"/>
            <a:lstStyle/>
            <a:p>
              <a:pPr algn="l">
                <a:lnSpc>
                  <a:spcPts val="3419"/>
                </a:lnSpc>
              </a:pPr>
              <a:r>
                <a:rPr lang="en-US" sz="2850" b="true">
                  <a:solidFill>
                    <a:srgbClr val="0B5E6E"/>
                  </a:solidFill>
                  <a:latin typeface="Calibri (MS) Bold"/>
                  <a:ea typeface="Calibri (MS) Bold"/>
                  <a:cs typeface="Calibri (MS) Bold"/>
                  <a:sym typeface="Calibri (MS) Bold"/>
                </a:rPr>
                <a:t>Jumlah Wisatawan × Laju Penurunan Dasar</a:t>
              </a:r>
            </a:p>
          </p:txBody>
        </p:sp>
      </p:grpSp>
      <p:sp>
        <p:nvSpPr>
          <p:cNvPr name="Freeform 84" id="84"/>
          <p:cNvSpPr/>
          <p:nvPr/>
        </p:nvSpPr>
        <p:spPr>
          <a:xfrm flipH="false" flipV="false" rot="0">
            <a:off x="806291" y="6772751"/>
            <a:ext cx="10320338" cy="2022158"/>
          </a:xfrm>
          <a:custGeom>
            <a:avLst/>
            <a:gdLst/>
            <a:ahLst/>
            <a:cxnLst/>
            <a:rect r="r" b="b" t="t" l="l"/>
            <a:pathLst>
              <a:path h="2022158" w="10320338">
                <a:moveTo>
                  <a:pt x="0" y="0"/>
                </a:moveTo>
                <a:lnTo>
                  <a:pt x="10320338" y="0"/>
                </a:lnTo>
                <a:lnTo>
                  <a:pt x="10320338" y="2022158"/>
                </a:lnTo>
                <a:lnTo>
                  <a:pt x="0" y="2022158"/>
                </a:lnTo>
                <a:lnTo>
                  <a:pt x="0" y="0"/>
                </a:lnTo>
                <a:close/>
              </a:path>
            </a:pathLst>
          </a:custGeom>
          <a:blipFill>
            <a:blip r:embed="rId7">
              <a:extLst>
                <a:ext uri="{96DAC541-7B7A-43D3-8B79-37D633B846F1}">
                  <asvg:svgBlip xmlns:asvg="http://schemas.microsoft.com/office/drawing/2016/SVG/main" r:embed="rId8"/>
                </a:ext>
              </a:extLst>
            </a:blip>
            <a:stretch>
              <a:fillRect l="0" t="-141" r="0" b="-141"/>
            </a:stretch>
          </a:blipFill>
        </p:spPr>
        <p:txBody>
          <a:bodyPr/>
          <a:p/>
        </p:txBody>
      </p:sp>
      <p:sp>
        <p:nvSpPr>
          <p:cNvPr name="TextBox 85" id="85"/>
          <p:cNvSpPr txBox="true"/>
          <p:nvPr/>
        </p:nvSpPr>
        <p:spPr>
          <a:xfrm rot="0">
            <a:off x="1234440" y="6936867"/>
            <a:ext cx="9464040" cy="428625"/>
          </a:xfrm>
          <a:prstGeom prst="rect">
            <a:avLst/>
          </a:prstGeom>
        </p:spPr>
        <p:txBody>
          <a:bodyPr anchor="t" rtlCol="false" tIns="0" lIns="0" bIns="0" rIns="0">
            <a:spAutoFit/>
          </a:bodyPr>
          <a:lstStyle/>
          <a:p>
            <a:pPr algn="l">
              <a:lnSpc>
                <a:spcPts val="1980"/>
              </a:lnSpc>
            </a:pPr>
            <a:r>
              <a:rPr lang="en-US" sz="1650" b="true">
                <a:solidFill>
                  <a:srgbClr val="5E6E78"/>
                </a:solidFill>
                <a:latin typeface="Calibri (MS) Bold"/>
                <a:ea typeface="Calibri (MS) Bold"/>
                <a:cs typeface="Calibri (MS) Bold"/>
                <a:sym typeface="Calibri (MS) Bold"/>
              </a:rPr>
              <a:t>DAYA TARIK DESTINASI (indeks, 2025 = 1)</a:t>
            </a:r>
          </a:p>
        </p:txBody>
      </p:sp>
      <p:grpSp>
        <p:nvGrpSpPr>
          <p:cNvPr name="Group 86" id="86"/>
          <p:cNvGrpSpPr/>
          <p:nvPr/>
        </p:nvGrpSpPr>
        <p:grpSpPr>
          <a:xfrm rot="0">
            <a:off x="1234440" y="7475220"/>
            <a:ext cx="9464040" cy="1165860"/>
            <a:chOff x="0" y="0"/>
            <a:chExt cx="12618720" cy="1554480"/>
          </a:xfrm>
        </p:grpSpPr>
        <p:sp>
          <p:nvSpPr>
            <p:cNvPr name="Freeform 87" id="87"/>
            <p:cNvSpPr/>
            <p:nvPr/>
          </p:nvSpPr>
          <p:spPr>
            <a:xfrm flipH="false" flipV="false" rot="0">
              <a:off x="0" y="0"/>
              <a:ext cx="12618720" cy="1554480"/>
            </a:xfrm>
            <a:custGeom>
              <a:avLst/>
              <a:gdLst/>
              <a:ahLst/>
              <a:cxnLst/>
              <a:rect r="r" b="b" t="t" l="l"/>
              <a:pathLst>
                <a:path h="1554480" w="12618720">
                  <a:moveTo>
                    <a:pt x="0" y="0"/>
                  </a:moveTo>
                  <a:lnTo>
                    <a:pt x="12618720" y="0"/>
                  </a:lnTo>
                  <a:lnTo>
                    <a:pt x="12618720" y="1554480"/>
                  </a:lnTo>
                  <a:lnTo>
                    <a:pt x="0" y="1554480"/>
                  </a:lnTo>
                  <a:close/>
                </a:path>
              </a:pathLst>
            </a:custGeom>
            <a:blipFill>
              <a:blip r:embed="rId4">
                <a:alphaModFix amt="0"/>
              </a:blip>
              <a:stretch>
                <a:fillRect l="0" t="-108062" r="0" b="-108062"/>
              </a:stretch>
            </a:blipFill>
          </p:spPr>
          <p:txBody>
            <a:bodyPr/>
            <a:p/>
          </p:txBody>
        </p:sp>
      </p:grpSp>
      <p:grpSp>
        <p:nvGrpSpPr>
          <p:cNvPr name="Group 88" id="88"/>
          <p:cNvGrpSpPr/>
          <p:nvPr/>
        </p:nvGrpSpPr>
        <p:grpSpPr>
          <a:xfrm rot="0">
            <a:off x="1234440" y="7446645"/>
            <a:ext cx="9464040" cy="1194435"/>
            <a:chOff x="0" y="0"/>
            <a:chExt cx="12618720" cy="1592580"/>
          </a:xfrm>
        </p:grpSpPr>
        <p:sp>
          <p:nvSpPr>
            <p:cNvPr name="Freeform 89" id="89"/>
            <p:cNvSpPr/>
            <p:nvPr/>
          </p:nvSpPr>
          <p:spPr>
            <a:xfrm flipH="false" flipV="false" rot="0">
              <a:off x="0" y="0"/>
              <a:ext cx="12618720" cy="1592580"/>
            </a:xfrm>
            <a:custGeom>
              <a:avLst/>
              <a:gdLst/>
              <a:ahLst/>
              <a:cxnLst/>
              <a:rect r="r" b="b" t="t" l="l"/>
              <a:pathLst>
                <a:path h="1592580" w="12618720">
                  <a:moveTo>
                    <a:pt x="0" y="0"/>
                  </a:moveTo>
                  <a:lnTo>
                    <a:pt x="12618720" y="0"/>
                  </a:lnTo>
                  <a:lnTo>
                    <a:pt x="12618720" y="1592580"/>
                  </a:lnTo>
                  <a:lnTo>
                    <a:pt x="0" y="1592580"/>
                  </a:lnTo>
                  <a:close/>
                </a:path>
              </a:pathLst>
            </a:custGeom>
            <a:blipFill>
              <a:blip r:embed="rId5">
                <a:alphaModFix amt="0"/>
              </a:blip>
              <a:stretch>
                <a:fillRect l="0" t="-104281" r="0" b="-104280"/>
              </a:stretch>
            </a:blipFill>
          </p:spPr>
          <p:txBody>
            <a:bodyPr/>
            <a:p/>
          </p:txBody>
        </p:sp>
      </p:grpSp>
      <p:grpSp>
        <p:nvGrpSpPr>
          <p:cNvPr name="Group 90" id="90"/>
          <p:cNvGrpSpPr/>
          <p:nvPr/>
        </p:nvGrpSpPr>
        <p:grpSpPr>
          <a:xfrm rot="0">
            <a:off x="1234440" y="7418070"/>
            <a:ext cx="9464040" cy="1223010"/>
            <a:chOff x="0" y="0"/>
            <a:chExt cx="12618720" cy="1630680"/>
          </a:xfrm>
        </p:grpSpPr>
        <p:sp>
          <p:nvSpPr>
            <p:cNvPr name="Freeform 91" id="91"/>
            <p:cNvSpPr/>
            <p:nvPr/>
          </p:nvSpPr>
          <p:spPr>
            <a:xfrm flipH="false" flipV="false" rot="0">
              <a:off x="0" y="0"/>
              <a:ext cx="12618720" cy="1630680"/>
            </a:xfrm>
            <a:custGeom>
              <a:avLst/>
              <a:gdLst/>
              <a:ahLst/>
              <a:cxnLst/>
              <a:rect r="r" b="b" t="t" l="l"/>
              <a:pathLst>
                <a:path h="1630680" w="12618720">
                  <a:moveTo>
                    <a:pt x="0" y="0"/>
                  </a:moveTo>
                  <a:lnTo>
                    <a:pt x="12618720" y="0"/>
                  </a:lnTo>
                  <a:lnTo>
                    <a:pt x="12618720" y="1630680"/>
                  </a:lnTo>
                  <a:lnTo>
                    <a:pt x="0" y="1630680"/>
                  </a:lnTo>
                  <a:close/>
                </a:path>
              </a:pathLst>
            </a:custGeom>
            <a:blipFill>
              <a:blip r:embed="rId6">
                <a:alphaModFix amt="0"/>
              </a:blip>
              <a:stretch>
                <a:fillRect l="0" t="-100781" r="0" b="-100781"/>
              </a:stretch>
            </a:blipFill>
          </p:spPr>
          <p:txBody>
            <a:bodyPr/>
            <a:p/>
          </p:txBody>
        </p:sp>
        <p:sp>
          <p:nvSpPr>
            <p:cNvPr name="TextBox 92" id="92"/>
            <p:cNvSpPr txBox="true"/>
            <p:nvPr/>
          </p:nvSpPr>
          <p:spPr>
            <a:xfrm>
              <a:off x="0" y="-38100"/>
              <a:ext cx="12618720" cy="166878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0,40 × komponen ODTW + 0,35 × komponen kepadatan + 0,25 × komponen daya dukung lahan</a:t>
              </a:r>
            </a:p>
          </p:txBody>
        </p:sp>
      </p:grpSp>
      <p:grpSp>
        <p:nvGrpSpPr>
          <p:cNvPr name="Group 93" id="93"/>
          <p:cNvGrpSpPr/>
          <p:nvPr/>
        </p:nvGrpSpPr>
        <p:grpSpPr>
          <a:xfrm rot="0">
            <a:off x="11521440" y="2400300"/>
            <a:ext cx="5939028" cy="6377940"/>
            <a:chOff x="0" y="0"/>
            <a:chExt cx="7918704" cy="8503920"/>
          </a:xfrm>
        </p:grpSpPr>
        <p:sp>
          <p:nvSpPr>
            <p:cNvPr name="Freeform 94" id="94"/>
            <p:cNvSpPr/>
            <p:nvPr/>
          </p:nvSpPr>
          <p:spPr>
            <a:xfrm flipH="false" flipV="false" rot="0">
              <a:off x="0" y="0"/>
              <a:ext cx="7918704" cy="8503920"/>
            </a:xfrm>
            <a:custGeom>
              <a:avLst/>
              <a:gdLst/>
              <a:ahLst/>
              <a:cxnLst/>
              <a:rect r="r" b="b" t="t" l="l"/>
              <a:pathLst>
                <a:path h="8503920" w="7918704">
                  <a:moveTo>
                    <a:pt x="0" y="182880"/>
                  </a:moveTo>
                  <a:cubicBezTo>
                    <a:pt x="0" y="81915"/>
                    <a:pt x="81915" y="0"/>
                    <a:pt x="182880" y="0"/>
                  </a:cubicBezTo>
                  <a:lnTo>
                    <a:pt x="7735824" y="0"/>
                  </a:lnTo>
                  <a:cubicBezTo>
                    <a:pt x="7836789" y="0"/>
                    <a:pt x="7918704" y="81915"/>
                    <a:pt x="7918704" y="182880"/>
                  </a:cubicBezTo>
                  <a:lnTo>
                    <a:pt x="7918704" y="8321040"/>
                  </a:lnTo>
                  <a:cubicBezTo>
                    <a:pt x="7918704" y="8422005"/>
                    <a:pt x="7836789" y="8503920"/>
                    <a:pt x="7735824" y="8503920"/>
                  </a:cubicBezTo>
                  <a:lnTo>
                    <a:pt x="182880" y="8503920"/>
                  </a:lnTo>
                  <a:cubicBezTo>
                    <a:pt x="81915" y="8503920"/>
                    <a:pt x="0" y="8422005"/>
                    <a:pt x="0" y="8321040"/>
                  </a:cubicBezTo>
                  <a:close/>
                </a:path>
              </a:pathLst>
            </a:custGeom>
            <a:solidFill>
              <a:srgbClr val="EAF8FA"/>
            </a:solidFill>
          </p:spPr>
          <p:txBody>
            <a:bodyPr/>
            <a:p/>
          </p:txBody>
        </p:sp>
      </p:grpSp>
      <p:sp>
        <p:nvSpPr>
          <p:cNvPr name="TextBox 95" id="95"/>
          <p:cNvSpPr txBox="true"/>
          <p:nvPr/>
        </p:nvSpPr>
        <p:spPr>
          <a:xfrm rot="0">
            <a:off x="11932920" y="2503170"/>
            <a:ext cx="5212080" cy="65151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Nilai parameter kunci</a:t>
            </a:r>
          </a:p>
        </p:txBody>
      </p:sp>
      <p:grpSp>
        <p:nvGrpSpPr>
          <p:cNvPr name="Group 96" id="96"/>
          <p:cNvGrpSpPr/>
          <p:nvPr/>
        </p:nvGrpSpPr>
        <p:grpSpPr>
          <a:xfrm rot="0">
            <a:off x="11932920" y="3429000"/>
            <a:ext cx="5212080" cy="617220"/>
            <a:chOff x="0" y="0"/>
            <a:chExt cx="6949440" cy="822960"/>
          </a:xfrm>
        </p:grpSpPr>
        <p:sp>
          <p:nvSpPr>
            <p:cNvPr name="Freeform 97" id="97"/>
            <p:cNvSpPr/>
            <p:nvPr/>
          </p:nvSpPr>
          <p:spPr>
            <a:xfrm flipH="false" flipV="false" rot="0">
              <a:off x="0" y="0"/>
              <a:ext cx="6949440" cy="822960"/>
            </a:xfrm>
            <a:custGeom>
              <a:avLst/>
              <a:gdLst/>
              <a:ahLst/>
              <a:cxnLst/>
              <a:rect r="r" b="b" t="t" l="l"/>
              <a:pathLst>
                <a:path h="822960" w="6949440">
                  <a:moveTo>
                    <a:pt x="0" y="0"/>
                  </a:moveTo>
                  <a:lnTo>
                    <a:pt x="6949440" y="0"/>
                  </a:lnTo>
                  <a:lnTo>
                    <a:pt x="6949440" y="822960"/>
                  </a:lnTo>
                  <a:lnTo>
                    <a:pt x="0" y="822960"/>
                  </a:lnTo>
                  <a:close/>
                </a:path>
              </a:pathLst>
            </a:custGeom>
            <a:blipFill>
              <a:blip r:embed="rId4">
                <a:alphaModFix amt="0"/>
              </a:blip>
              <a:stretch>
                <a:fillRect l="0" t="-114425" r="0" b="-114425"/>
              </a:stretch>
            </a:blipFill>
          </p:spPr>
          <p:txBody>
            <a:bodyPr/>
            <a:p/>
          </p:txBody>
        </p:sp>
      </p:grpSp>
      <p:grpSp>
        <p:nvGrpSpPr>
          <p:cNvPr name="Group 98" id="98"/>
          <p:cNvGrpSpPr/>
          <p:nvPr/>
        </p:nvGrpSpPr>
        <p:grpSpPr>
          <a:xfrm rot="0">
            <a:off x="11932920" y="3378994"/>
            <a:ext cx="5212080" cy="667226"/>
            <a:chOff x="0" y="0"/>
            <a:chExt cx="6949440" cy="889635"/>
          </a:xfrm>
        </p:grpSpPr>
        <p:sp>
          <p:nvSpPr>
            <p:cNvPr name="Freeform 99" id="99"/>
            <p:cNvSpPr/>
            <p:nvPr/>
          </p:nvSpPr>
          <p:spPr>
            <a:xfrm flipH="false" flipV="false" rot="0">
              <a:off x="0" y="0"/>
              <a:ext cx="6949440" cy="889635"/>
            </a:xfrm>
            <a:custGeom>
              <a:avLst/>
              <a:gdLst/>
              <a:ahLst/>
              <a:cxnLst/>
              <a:rect r="r" b="b" t="t" l="l"/>
              <a:pathLst>
                <a:path h="889635" w="6949440">
                  <a:moveTo>
                    <a:pt x="0" y="0"/>
                  </a:moveTo>
                  <a:lnTo>
                    <a:pt x="6949440" y="0"/>
                  </a:lnTo>
                  <a:lnTo>
                    <a:pt x="6949440" y="889635"/>
                  </a:lnTo>
                  <a:lnTo>
                    <a:pt x="0" y="889635"/>
                  </a:lnTo>
                  <a:close/>
                </a:path>
              </a:pathLst>
            </a:custGeom>
            <a:blipFill>
              <a:blip r:embed="rId5">
                <a:alphaModFix amt="0"/>
              </a:blip>
              <a:stretch>
                <a:fillRect l="0" t="-102102" r="0" b="-102102"/>
              </a:stretch>
            </a:blipFill>
          </p:spPr>
          <p:txBody>
            <a:bodyPr/>
            <a:p/>
          </p:txBody>
        </p:sp>
      </p:grpSp>
      <p:grpSp>
        <p:nvGrpSpPr>
          <p:cNvPr name="Group 100" id="100"/>
          <p:cNvGrpSpPr/>
          <p:nvPr/>
        </p:nvGrpSpPr>
        <p:grpSpPr>
          <a:xfrm rot="0">
            <a:off x="11932920" y="3328988"/>
            <a:ext cx="5212080" cy="717232"/>
            <a:chOff x="0" y="0"/>
            <a:chExt cx="6949440" cy="956310"/>
          </a:xfrm>
        </p:grpSpPr>
        <p:sp>
          <p:nvSpPr>
            <p:cNvPr name="Freeform 101" id="101"/>
            <p:cNvSpPr/>
            <p:nvPr/>
          </p:nvSpPr>
          <p:spPr>
            <a:xfrm flipH="false" flipV="false" rot="0">
              <a:off x="0" y="0"/>
              <a:ext cx="6949440" cy="956310"/>
            </a:xfrm>
            <a:custGeom>
              <a:avLst/>
              <a:gdLst/>
              <a:ahLst/>
              <a:cxnLst/>
              <a:rect r="r" b="b" t="t" l="l"/>
              <a:pathLst>
                <a:path h="956310" w="6949440">
                  <a:moveTo>
                    <a:pt x="0" y="0"/>
                  </a:moveTo>
                  <a:lnTo>
                    <a:pt x="6949440" y="0"/>
                  </a:lnTo>
                  <a:lnTo>
                    <a:pt x="6949440" y="956310"/>
                  </a:lnTo>
                  <a:lnTo>
                    <a:pt x="0" y="956310"/>
                  </a:lnTo>
                  <a:close/>
                </a:path>
              </a:pathLst>
            </a:custGeom>
            <a:blipFill>
              <a:blip r:embed="rId6">
                <a:alphaModFix amt="0"/>
              </a:blip>
              <a:stretch>
                <a:fillRect l="0" t="-91596" r="0" b="-91596"/>
              </a:stretch>
            </a:blipFill>
          </p:spPr>
          <p:txBody>
            <a:bodyPr/>
            <a:p/>
          </p:txBody>
        </p:sp>
        <p:sp>
          <p:nvSpPr>
            <p:cNvPr name="TextBox 102" id="102"/>
            <p:cNvSpPr txBox="true"/>
            <p:nvPr/>
          </p:nvSpPr>
          <p:spPr>
            <a:xfrm>
              <a:off x="0" y="-66675"/>
              <a:ext cx="6949440" cy="1022985"/>
            </a:xfrm>
            <a:prstGeom prst="rect">
              <a:avLst/>
            </a:prstGeom>
          </p:spPr>
          <p:txBody>
            <a:bodyPr anchor="ctr" rtlCol="false" tIns="0" lIns="0" bIns="0" rIns="0"/>
            <a:lstStyle/>
            <a:p>
              <a:pPr algn="l">
                <a:lnSpc>
                  <a:spcPts val="3778"/>
                </a:lnSpc>
              </a:pPr>
              <a:r>
                <a:rPr lang="en-US" sz="3150" b="true">
                  <a:solidFill>
                    <a:srgbClr val="0B5E6E"/>
                  </a:solidFill>
                  <a:latin typeface="Calibri (MS) Bold"/>
                  <a:ea typeface="Calibri (MS) Bold"/>
                  <a:cs typeface="Calibri (MS) Bold"/>
                  <a:sym typeface="Calibri (MS) Bold"/>
                </a:rPr>
                <a:t>0,27726 /th</a:t>
              </a:r>
            </a:p>
          </p:txBody>
        </p:sp>
      </p:grpSp>
      <p:sp>
        <p:nvSpPr>
          <p:cNvPr name="TextBox 103" id="103"/>
          <p:cNvSpPr txBox="true"/>
          <p:nvPr/>
        </p:nvSpPr>
        <p:spPr>
          <a:xfrm rot="0">
            <a:off x="11932920" y="4000500"/>
            <a:ext cx="5212080" cy="10744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Laju Pertumbuhan Eksternal (dihitung dari data)</a:t>
            </a:r>
          </a:p>
        </p:txBody>
      </p:sp>
      <p:grpSp>
        <p:nvGrpSpPr>
          <p:cNvPr name="Group 104" id="104"/>
          <p:cNvGrpSpPr/>
          <p:nvPr/>
        </p:nvGrpSpPr>
        <p:grpSpPr>
          <a:xfrm rot="0">
            <a:off x="11932920" y="5212080"/>
            <a:ext cx="5212080" cy="617220"/>
            <a:chOff x="0" y="0"/>
            <a:chExt cx="6949440" cy="822960"/>
          </a:xfrm>
        </p:grpSpPr>
        <p:sp>
          <p:nvSpPr>
            <p:cNvPr name="Freeform 105" id="105"/>
            <p:cNvSpPr/>
            <p:nvPr/>
          </p:nvSpPr>
          <p:spPr>
            <a:xfrm flipH="false" flipV="false" rot="0">
              <a:off x="0" y="0"/>
              <a:ext cx="6949440" cy="822960"/>
            </a:xfrm>
            <a:custGeom>
              <a:avLst/>
              <a:gdLst/>
              <a:ahLst/>
              <a:cxnLst/>
              <a:rect r="r" b="b" t="t" l="l"/>
              <a:pathLst>
                <a:path h="822960" w="6949440">
                  <a:moveTo>
                    <a:pt x="0" y="0"/>
                  </a:moveTo>
                  <a:lnTo>
                    <a:pt x="6949440" y="0"/>
                  </a:lnTo>
                  <a:lnTo>
                    <a:pt x="6949440" y="822960"/>
                  </a:lnTo>
                  <a:lnTo>
                    <a:pt x="0" y="822960"/>
                  </a:lnTo>
                  <a:close/>
                </a:path>
              </a:pathLst>
            </a:custGeom>
            <a:blipFill>
              <a:blip r:embed="rId4">
                <a:alphaModFix amt="0"/>
              </a:blip>
              <a:stretch>
                <a:fillRect l="0" t="-114425" r="0" b="-114425"/>
              </a:stretch>
            </a:blipFill>
          </p:spPr>
          <p:txBody>
            <a:bodyPr/>
            <a:p/>
          </p:txBody>
        </p:sp>
      </p:grpSp>
      <p:grpSp>
        <p:nvGrpSpPr>
          <p:cNvPr name="Group 106" id="106"/>
          <p:cNvGrpSpPr/>
          <p:nvPr/>
        </p:nvGrpSpPr>
        <p:grpSpPr>
          <a:xfrm rot="0">
            <a:off x="11932920" y="5162074"/>
            <a:ext cx="5212080" cy="667226"/>
            <a:chOff x="0" y="0"/>
            <a:chExt cx="6949440" cy="889635"/>
          </a:xfrm>
        </p:grpSpPr>
        <p:sp>
          <p:nvSpPr>
            <p:cNvPr name="Freeform 107" id="107"/>
            <p:cNvSpPr/>
            <p:nvPr/>
          </p:nvSpPr>
          <p:spPr>
            <a:xfrm flipH="false" flipV="false" rot="0">
              <a:off x="0" y="0"/>
              <a:ext cx="6949440" cy="889635"/>
            </a:xfrm>
            <a:custGeom>
              <a:avLst/>
              <a:gdLst/>
              <a:ahLst/>
              <a:cxnLst/>
              <a:rect r="r" b="b" t="t" l="l"/>
              <a:pathLst>
                <a:path h="889635" w="6949440">
                  <a:moveTo>
                    <a:pt x="0" y="0"/>
                  </a:moveTo>
                  <a:lnTo>
                    <a:pt x="6949440" y="0"/>
                  </a:lnTo>
                  <a:lnTo>
                    <a:pt x="6949440" y="889635"/>
                  </a:lnTo>
                  <a:lnTo>
                    <a:pt x="0" y="889635"/>
                  </a:lnTo>
                  <a:close/>
                </a:path>
              </a:pathLst>
            </a:custGeom>
            <a:blipFill>
              <a:blip r:embed="rId5">
                <a:alphaModFix amt="0"/>
              </a:blip>
              <a:stretch>
                <a:fillRect l="0" t="-102102" r="0" b="-102102"/>
              </a:stretch>
            </a:blipFill>
          </p:spPr>
          <p:txBody>
            <a:bodyPr/>
            <a:p/>
          </p:txBody>
        </p:sp>
      </p:grpSp>
      <p:grpSp>
        <p:nvGrpSpPr>
          <p:cNvPr name="Group 108" id="108"/>
          <p:cNvGrpSpPr/>
          <p:nvPr/>
        </p:nvGrpSpPr>
        <p:grpSpPr>
          <a:xfrm rot="0">
            <a:off x="11932920" y="5112068"/>
            <a:ext cx="5212080" cy="717232"/>
            <a:chOff x="0" y="0"/>
            <a:chExt cx="6949440" cy="956310"/>
          </a:xfrm>
        </p:grpSpPr>
        <p:sp>
          <p:nvSpPr>
            <p:cNvPr name="Freeform 109" id="109"/>
            <p:cNvSpPr/>
            <p:nvPr/>
          </p:nvSpPr>
          <p:spPr>
            <a:xfrm flipH="false" flipV="false" rot="0">
              <a:off x="0" y="0"/>
              <a:ext cx="6949440" cy="956310"/>
            </a:xfrm>
            <a:custGeom>
              <a:avLst/>
              <a:gdLst/>
              <a:ahLst/>
              <a:cxnLst/>
              <a:rect r="r" b="b" t="t" l="l"/>
              <a:pathLst>
                <a:path h="956310" w="6949440">
                  <a:moveTo>
                    <a:pt x="0" y="0"/>
                  </a:moveTo>
                  <a:lnTo>
                    <a:pt x="6949440" y="0"/>
                  </a:lnTo>
                  <a:lnTo>
                    <a:pt x="6949440" y="956310"/>
                  </a:lnTo>
                  <a:lnTo>
                    <a:pt x="0" y="956310"/>
                  </a:lnTo>
                  <a:close/>
                </a:path>
              </a:pathLst>
            </a:custGeom>
            <a:blipFill>
              <a:blip r:embed="rId6">
                <a:alphaModFix amt="0"/>
              </a:blip>
              <a:stretch>
                <a:fillRect l="0" t="-91596" r="0" b="-91596"/>
              </a:stretch>
            </a:blipFill>
          </p:spPr>
          <p:txBody>
            <a:bodyPr/>
            <a:p/>
          </p:txBody>
        </p:sp>
        <p:sp>
          <p:nvSpPr>
            <p:cNvPr name="TextBox 110" id="110"/>
            <p:cNvSpPr txBox="true"/>
            <p:nvPr/>
          </p:nvSpPr>
          <p:spPr>
            <a:xfrm>
              <a:off x="0" y="-66675"/>
              <a:ext cx="6949440" cy="1022985"/>
            </a:xfrm>
            <a:prstGeom prst="rect">
              <a:avLst/>
            </a:prstGeom>
          </p:spPr>
          <p:txBody>
            <a:bodyPr anchor="ctr" rtlCol="false" tIns="0" lIns="0" bIns="0" rIns="0"/>
            <a:lstStyle/>
            <a:p>
              <a:pPr algn="l">
                <a:lnSpc>
                  <a:spcPts val="3778"/>
                </a:lnSpc>
              </a:pPr>
              <a:r>
                <a:rPr lang="en-US" sz="3150" b="true">
                  <a:solidFill>
                    <a:srgbClr val="0B5E6E"/>
                  </a:solidFill>
                  <a:latin typeface="Calibri (MS) Bold"/>
                  <a:ea typeface="Calibri (MS) Bold"/>
                  <a:cs typeface="Calibri (MS) Bold"/>
                  <a:sym typeface="Calibri (MS) Bold"/>
                </a:rPr>
                <a:t>0,207945 /th</a:t>
              </a:r>
            </a:p>
          </p:txBody>
        </p:sp>
      </p:grpSp>
      <p:sp>
        <p:nvSpPr>
          <p:cNvPr name="TextBox 111" id="111"/>
          <p:cNvSpPr txBox="true"/>
          <p:nvPr/>
        </p:nvSpPr>
        <p:spPr>
          <a:xfrm rot="0">
            <a:off x="11932920" y="5783580"/>
            <a:ext cx="5212080" cy="10744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Laju Penurunan Dasar = 0,75 × LPE (rasio 0,75: asumsi model)</a:t>
            </a:r>
          </a:p>
        </p:txBody>
      </p:sp>
      <p:grpSp>
        <p:nvGrpSpPr>
          <p:cNvPr name="Group 112" id="112"/>
          <p:cNvGrpSpPr/>
          <p:nvPr/>
        </p:nvGrpSpPr>
        <p:grpSpPr>
          <a:xfrm rot="0">
            <a:off x="11932920" y="6995160"/>
            <a:ext cx="5212080" cy="617220"/>
            <a:chOff x="0" y="0"/>
            <a:chExt cx="6949440" cy="822960"/>
          </a:xfrm>
        </p:grpSpPr>
        <p:sp>
          <p:nvSpPr>
            <p:cNvPr name="Freeform 113" id="113"/>
            <p:cNvSpPr/>
            <p:nvPr/>
          </p:nvSpPr>
          <p:spPr>
            <a:xfrm flipH="false" flipV="false" rot="0">
              <a:off x="0" y="0"/>
              <a:ext cx="6949440" cy="822960"/>
            </a:xfrm>
            <a:custGeom>
              <a:avLst/>
              <a:gdLst/>
              <a:ahLst/>
              <a:cxnLst/>
              <a:rect r="r" b="b" t="t" l="l"/>
              <a:pathLst>
                <a:path h="822960" w="6949440">
                  <a:moveTo>
                    <a:pt x="0" y="0"/>
                  </a:moveTo>
                  <a:lnTo>
                    <a:pt x="6949440" y="0"/>
                  </a:lnTo>
                  <a:lnTo>
                    <a:pt x="6949440" y="822960"/>
                  </a:lnTo>
                  <a:lnTo>
                    <a:pt x="0" y="822960"/>
                  </a:lnTo>
                  <a:close/>
                </a:path>
              </a:pathLst>
            </a:custGeom>
            <a:blipFill>
              <a:blip r:embed="rId4">
                <a:alphaModFix amt="0"/>
              </a:blip>
              <a:stretch>
                <a:fillRect l="0" t="-114425" r="0" b="-114425"/>
              </a:stretch>
            </a:blipFill>
          </p:spPr>
          <p:txBody>
            <a:bodyPr/>
            <a:p/>
          </p:txBody>
        </p:sp>
      </p:grpSp>
      <p:grpSp>
        <p:nvGrpSpPr>
          <p:cNvPr name="Group 114" id="114"/>
          <p:cNvGrpSpPr/>
          <p:nvPr/>
        </p:nvGrpSpPr>
        <p:grpSpPr>
          <a:xfrm rot="0">
            <a:off x="11932920" y="6945154"/>
            <a:ext cx="5212080" cy="667226"/>
            <a:chOff x="0" y="0"/>
            <a:chExt cx="6949440" cy="889635"/>
          </a:xfrm>
        </p:grpSpPr>
        <p:sp>
          <p:nvSpPr>
            <p:cNvPr name="Freeform 115" id="115"/>
            <p:cNvSpPr/>
            <p:nvPr/>
          </p:nvSpPr>
          <p:spPr>
            <a:xfrm flipH="false" flipV="false" rot="0">
              <a:off x="0" y="0"/>
              <a:ext cx="6949440" cy="889635"/>
            </a:xfrm>
            <a:custGeom>
              <a:avLst/>
              <a:gdLst/>
              <a:ahLst/>
              <a:cxnLst/>
              <a:rect r="r" b="b" t="t" l="l"/>
              <a:pathLst>
                <a:path h="889635" w="6949440">
                  <a:moveTo>
                    <a:pt x="0" y="0"/>
                  </a:moveTo>
                  <a:lnTo>
                    <a:pt x="6949440" y="0"/>
                  </a:lnTo>
                  <a:lnTo>
                    <a:pt x="6949440" y="889635"/>
                  </a:lnTo>
                  <a:lnTo>
                    <a:pt x="0" y="889635"/>
                  </a:lnTo>
                  <a:close/>
                </a:path>
              </a:pathLst>
            </a:custGeom>
            <a:blipFill>
              <a:blip r:embed="rId5">
                <a:alphaModFix amt="0"/>
              </a:blip>
              <a:stretch>
                <a:fillRect l="0" t="-102102" r="0" b="-102102"/>
              </a:stretch>
            </a:blipFill>
          </p:spPr>
          <p:txBody>
            <a:bodyPr/>
            <a:p/>
          </p:txBody>
        </p:sp>
      </p:grpSp>
      <p:grpSp>
        <p:nvGrpSpPr>
          <p:cNvPr name="Group 116" id="116"/>
          <p:cNvGrpSpPr/>
          <p:nvPr/>
        </p:nvGrpSpPr>
        <p:grpSpPr>
          <a:xfrm rot="0">
            <a:off x="11932920" y="6895147"/>
            <a:ext cx="5212080" cy="717232"/>
            <a:chOff x="0" y="0"/>
            <a:chExt cx="6949440" cy="956310"/>
          </a:xfrm>
        </p:grpSpPr>
        <p:sp>
          <p:nvSpPr>
            <p:cNvPr name="Freeform 117" id="117"/>
            <p:cNvSpPr/>
            <p:nvPr/>
          </p:nvSpPr>
          <p:spPr>
            <a:xfrm flipH="false" flipV="false" rot="0">
              <a:off x="0" y="0"/>
              <a:ext cx="6949440" cy="956310"/>
            </a:xfrm>
            <a:custGeom>
              <a:avLst/>
              <a:gdLst/>
              <a:ahLst/>
              <a:cxnLst/>
              <a:rect r="r" b="b" t="t" l="l"/>
              <a:pathLst>
                <a:path h="956310" w="6949440">
                  <a:moveTo>
                    <a:pt x="0" y="0"/>
                  </a:moveTo>
                  <a:lnTo>
                    <a:pt x="6949440" y="0"/>
                  </a:lnTo>
                  <a:lnTo>
                    <a:pt x="6949440" y="956310"/>
                  </a:lnTo>
                  <a:lnTo>
                    <a:pt x="0" y="956310"/>
                  </a:lnTo>
                  <a:close/>
                </a:path>
              </a:pathLst>
            </a:custGeom>
            <a:blipFill>
              <a:blip r:embed="rId6">
                <a:alphaModFix amt="0"/>
              </a:blip>
              <a:stretch>
                <a:fillRect l="0" t="-91596" r="0" b="-91596"/>
              </a:stretch>
            </a:blipFill>
          </p:spPr>
          <p:txBody>
            <a:bodyPr/>
            <a:p/>
          </p:txBody>
        </p:sp>
        <p:sp>
          <p:nvSpPr>
            <p:cNvPr name="TextBox 118" id="118"/>
            <p:cNvSpPr txBox="true"/>
            <p:nvPr/>
          </p:nvSpPr>
          <p:spPr>
            <a:xfrm>
              <a:off x="0" y="-66675"/>
              <a:ext cx="6949440" cy="1022985"/>
            </a:xfrm>
            <a:prstGeom prst="rect">
              <a:avLst/>
            </a:prstGeom>
          </p:spPr>
          <p:txBody>
            <a:bodyPr anchor="ctr" rtlCol="false" tIns="0" lIns="0" bIns="0" rIns="0"/>
            <a:lstStyle/>
            <a:p>
              <a:pPr algn="l">
                <a:lnSpc>
                  <a:spcPts val="3778"/>
                </a:lnSpc>
              </a:pPr>
              <a:r>
                <a:rPr lang="en-US" sz="3150" b="true">
                  <a:solidFill>
                    <a:srgbClr val="0B5E6E"/>
                  </a:solidFill>
                  <a:latin typeface="Calibri (MS) Bold"/>
                  <a:ea typeface="Calibri (MS) Bold"/>
                  <a:cs typeface="Calibri (MS) Bold"/>
                  <a:sym typeface="Calibri (MS) Bold"/>
                </a:rPr>
                <a:t>0,40 · 0,35 · 0,25</a:t>
              </a:r>
            </a:p>
          </p:txBody>
        </p:sp>
      </p:grpSp>
      <p:sp>
        <p:nvSpPr>
          <p:cNvPr name="TextBox 119" id="119"/>
          <p:cNvSpPr txBox="true"/>
          <p:nvPr/>
        </p:nvSpPr>
        <p:spPr>
          <a:xfrm rot="0">
            <a:off x="11932920" y="7566660"/>
            <a:ext cx="5212080" cy="10744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Bobot ODTW · kepadatan · daya dukung lahan (asumsi peneliti)</a:t>
            </a:r>
          </a:p>
        </p:txBody>
      </p:sp>
      <p:sp>
        <p:nvSpPr>
          <p:cNvPr name="TextBox 120" id="120"/>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36</a:t>
            </a:r>
          </a:p>
        </p:txBody>
      </p:sp>
      <p:grpSp>
        <p:nvGrpSpPr>
          <p:cNvPr name="Group 121" id="121"/>
          <p:cNvGrpSpPr/>
          <p:nvPr/>
        </p:nvGrpSpPr>
        <p:grpSpPr>
          <a:xfrm rot="0">
            <a:off x="12755880" y="274320"/>
            <a:ext cx="3931920" cy="411480"/>
            <a:chOff x="0" y="0"/>
            <a:chExt cx="5242560" cy="548640"/>
          </a:xfrm>
        </p:grpSpPr>
        <p:sp>
          <p:nvSpPr>
            <p:cNvPr name="Freeform 122" id="122"/>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23" id="123"/>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2B · Formulasi model</a:t>
              </a:r>
            </a:p>
          </p:txBody>
        </p:sp>
      </p:grpSp>
      <p:grpSp>
        <p:nvGrpSpPr>
          <p:cNvPr name="Group 124" id="124"/>
          <p:cNvGrpSpPr/>
          <p:nvPr/>
        </p:nvGrpSpPr>
        <p:grpSpPr>
          <a:xfrm rot="0">
            <a:off x="16047720" y="9646920"/>
            <a:ext cx="420624" cy="420624"/>
            <a:chOff x="0" y="0"/>
            <a:chExt cx="560832" cy="560832"/>
          </a:xfrm>
        </p:grpSpPr>
        <p:sp>
          <p:nvSpPr>
            <p:cNvPr name="Freeform 125" id="125"/>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26" id="126"/>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Persamaan Stok — Subsistem Lainnya</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Persamaan akomodasi, ODTW, tenaga kerja, lahan, dan letak variabel kebijakan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37</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2B · Formulasi model</a:t>
              </a:r>
            </a:p>
          </p:txBody>
        </p:sp>
      </p:grpSp>
      <p:grpSp>
        <p:nvGrpSpPr>
          <p:cNvPr name="Group 70" id="70"/>
          <p:cNvGrpSpPr/>
          <p:nvPr/>
        </p:nvGrpSpPr>
        <p:grpSpPr>
          <a:xfrm rot="0">
            <a:off x="816607" y="2279647"/>
            <a:ext cx="8242297" cy="2801620"/>
            <a:chOff x="0" y="0"/>
            <a:chExt cx="10989729" cy="3735493"/>
          </a:xfrm>
        </p:grpSpPr>
        <p:sp>
          <p:nvSpPr>
            <p:cNvPr name="Freeform 71" id="71"/>
            <p:cNvSpPr/>
            <p:nvPr/>
          </p:nvSpPr>
          <p:spPr>
            <a:xfrm flipH="false" flipV="false" rot="0">
              <a:off x="0" y="0"/>
              <a:ext cx="10989691" cy="3735455"/>
            </a:xfrm>
            <a:custGeom>
              <a:avLst/>
              <a:gdLst/>
              <a:ahLst/>
              <a:cxnLst/>
              <a:rect r="r" b="b" t="t" l="l"/>
              <a:pathLst>
                <a:path h="3735455" w="10989691">
                  <a:moveTo>
                    <a:pt x="0" y="298831"/>
                  </a:moveTo>
                  <a:cubicBezTo>
                    <a:pt x="0" y="133858"/>
                    <a:pt x="133858" y="0"/>
                    <a:pt x="298831" y="0"/>
                  </a:cubicBezTo>
                  <a:lnTo>
                    <a:pt x="10690860" y="0"/>
                  </a:lnTo>
                  <a:cubicBezTo>
                    <a:pt x="10855960" y="0"/>
                    <a:pt x="10989691" y="133858"/>
                    <a:pt x="10989691" y="298831"/>
                  </a:cubicBezTo>
                  <a:lnTo>
                    <a:pt x="10989691" y="3436624"/>
                  </a:lnTo>
                  <a:cubicBezTo>
                    <a:pt x="10989691" y="3601724"/>
                    <a:pt x="10855833" y="3735455"/>
                    <a:pt x="10690860" y="3735455"/>
                  </a:cubicBezTo>
                  <a:lnTo>
                    <a:pt x="298831" y="3735455"/>
                  </a:lnTo>
                  <a:cubicBezTo>
                    <a:pt x="133858" y="3735455"/>
                    <a:pt x="0" y="3601724"/>
                    <a:pt x="0" y="3436624"/>
                  </a:cubicBezTo>
                  <a:close/>
                </a:path>
              </a:pathLst>
            </a:custGeom>
            <a:solidFill>
              <a:srgbClr val="EAF8FA"/>
            </a:solidFill>
            <a:ln w="12700" cap="sq">
              <a:solidFill>
                <a:srgbClr val="CFE5E9"/>
              </a:solidFill>
              <a:prstDash val="solid"/>
              <a:miter/>
            </a:ln>
          </p:spPr>
          <p:txBody>
            <a:bodyPr/>
            <a:p/>
          </p:txBody>
        </p:sp>
        <p:sp>
          <p:nvSpPr>
            <p:cNvPr name="TextBox 72" id="72"/>
            <p:cNvSpPr txBox="true"/>
            <p:nvPr/>
          </p:nvSpPr>
          <p:spPr>
            <a:xfrm>
              <a:off x="0" y="-38100"/>
              <a:ext cx="10989729" cy="3773593"/>
            </a:xfrm>
            <a:prstGeom prst="rect">
              <a:avLst/>
            </a:prstGeom>
          </p:spPr>
          <p:txBody>
            <a:bodyPr anchor="t" rtlCol="false" tIns="50800" lIns="50800" bIns="50800" rIns="50800"/>
            <a:lstStyle/>
            <a:p>
              <a:pPr algn="l">
                <a:lnSpc>
                  <a:spcPts val="2484"/>
                </a:lnSpc>
              </a:pPr>
              <a:r>
                <a:rPr lang="en-US" sz="2070" b="true">
                  <a:solidFill>
                    <a:srgbClr val="0B5E6E"/>
                  </a:solidFill>
                  <a:latin typeface="Calibri (MS) Bold"/>
                  <a:ea typeface="Calibri (MS) Bold"/>
                  <a:cs typeface="Calibri (MS) Bold"/>
                  <a:sym typeface="Calibri (MS) Bold"/>
                </a:rPr>
                <a:t>Akomodasi (B3)</a:t>
              </a:r>
            </a:p>
            <a:p>
              <a:pPr algn="l">
                <a:lnSpc>
                  <a:spcPts val="2206"/>
                </a:lnSpc>
              </a:pPr>
              <a:r>
                <a:rPr lang="en-US" sz="1839">
                  <a:solidFill>
                    <a:srgbClr val="14313B"/>
                  </a:solidFill>
                  <a:latin typeface="Calibri (MS)"/>
                  <a:ea typeface="Calibri (MS)"/>
                  <a:cs typeface="Calibri (MS)"/>
                  <a:sym typeface="Calibri (MS)"/>
                </a:rPr>
                <a:t>• Konstruksi = Investasi × 2,31385 × MAX(0; Rasio Permintaan − 0,275)</a:t>
              </a:r>
            </a:p>
            <a:p>
              <a:pPr algn="l">
                <a:lnSpc>
                  <a:spcPts val="2206"/>
                </a:lnSpc>
              </a:pPr>
              <a:r>
                <a:rPr lang="en-US" sz="1839">
                  <a:solidFill>
                    <a:srgbClr val="14313B"/>
                  </a:solidFill>
                  <a:latin typeface="Calibri (MS)"/>
                  <a:ea typeface="Calibri (MS)"/>
                  <a:cs typeface="Calibri (MS)"/>
                  <a:sym typeface="Calibri (MS)"/>
                </a:rPr>
                <a:t>• Rasio Permintaan = (Total Malam ÷ TPG) ÷ (Hotel × 21,4168 × 329,03)</a:t>
              </a:r>
            </a:p>
            <a:p>
              <a:pPr algn="l">
                <a:lnSpc>
                  <a:spcPts val="2206"/>
                </a:lnSpc>
              </a:pPr>
              <a:r>
                <a:rPr lang="en-US" sz="1839">
                  <a:solidFill>
                    <a:srgbClr val="14313B"/>
                  </a:solidFill>
                  <a:latin typeface="Calibri (MS)"/>
                  <a:ea typeface="Calibri (MS)"/>
                  <a:cs typeface="Calibri (MS)"/>
                  <a:sym typeface="Calibri (MS)"/>
                </a:rPr>
                <a:t>• TPK = MIN(1; Rasio Permintaan) · Demolisi = Hotel × 0,05</a:t>
              </a:r>
            </a:p>
          </p:txBody>
        </p:sp>
      </p:grpSp>
      <p:grpSp>
        <p:nvGrpSpPr>
          <p:cNvPr name="Group 73" id="73"/>
          <p:cNvGrpSpPr/>
          <p:nvPr/>
        </p:nvGrpSpPr>
        <p:grpSpPr>
          <a:xfrm rot="0">
            <a:off x="9229087" y="2279647"/>
            <a:ext cx="8242297" cy="2801617"/>
            <a:chOff x="0" y="0"/>
            <a:chExt cx="10989729" cy="3735489"/>
          </a:xfrm>
        </p:grpSpPr>
        <p:sp>
          <p:nvSpPr>
            <p:cNvPr name="Freeform 74" id="74"/>
            <p:cNvSpPr/>
            <p:nvPr/>
          </p:nvSpPr>
          <p:spPr>
            <a:xfrm flipH="false" flipV="false" rot="0">
              <a:off x="0" y="0"/>
              <a:ext cx="10989691" cy="3735451"/>
            </a:xfrm>
            <a:custGeom>
              <a:avLst/>
              <a:gdLst/>
              <a:ahLst/>
              <a:cxnLst/>
              <a:rect r="r" b="b" t="t" l="l"/>
              <a:pathLst>
                <a:path h="3735451" w="10989691">
                  <a:moveTo>
                    <a:pt x="0" y="298831"/>
                  </a:moveTo>
                  <a:cubicBezTo>
                    <a:pt x="0" y="133858"/>
                    <a:pt x="133858" y="0"/>
                    <a:pt x="298831" y="0"/>
                  </a:cubicBezTo>
                  <a:lnTo>
                    <a:pt x="10690860" y="0"/>
                  </a:lnTo>
                  <a:cubicBezTo>
                    <a:pt x="10855960" y="0"/>
                    <a:pt x="10989691" y="133858"/>
                    <a:pt x="10989691" y="298831"/>
                  </a:cubicBezTo>
                  <a:lnTo>
                    <a:pt x="10989691" y="3436620"/>
                  </a:lnTo>
                  <a:cubicBezTo>
                    <a:pt x="10989691" y="3601720"/>
                    <a:pt x="10855833" y="3735451"/>
                    <a:pt x="10690860" y="3735451"/>
                  </a:cubicBezTo>
                  <a:lnTo>
                    <a:pt x="298831" y="3735451"/>
                  </a:lnTo>
                  <a:cubicBezTo>
                    <a:pt x="133858" y="3735451"/>
                    <a:pt x="0" y="3601720"/>
                    <a:pt x="0" y="3436620"/>
                  </a:cubicBezTo>
                  <a:close/>
                </a:path>
              </a:pathLst>
            </a:custGeom>
            <a:solidFill>
              <a:srgbClr val="EAF8FA"/>
            </a:solidFill>
            <a:ln w="12700" cap="sq">
              <a:solidFill>
                <a:srgbClr val="CFE5E9"/>
              </a:solidFill>
              <a:prstDash val="solid"/>
              <a:miter/>
            </a:ln>
          </p:spPr>
          <p:txBody>
            <a:bodyPr/>
            <a:p/>
          </p:txBody>
        </p:sp>
        <p:sp>
          <p:nvSpPr>
            <p:cNvPr name="TextBox 75" id="75"/>
            <p:cNvSpPr txBox="true"/>
            <p:nvPr/>
          </p:nvSpPr>
          <p:spPr>
            <a:xfrm>
              <a:off x="0" y="-38100"/>
              <a:ext cx="10989729" cy="3773589"/>
            </a:xfrm>
            <a:prstGeom prst="rect">
              <a:avLst/>
            </a:prstGeom>
          </p:spPr>
          <p:txBody>
            <a:bodyPr anchor="t" rtlCol="false" tIns="50800" lIns="50800" bIns="50800" rIns="50800"/>
            <a:lstStyle/>
            <a:p>
              <a:pPr algn="l">
                <a:lnSpc>
                  <a:spcPts val="2484"/>
                </a:lnSpc>
              </a:pPr>
              <a:r>
                <a:rPr lang="en-US" sz="2070" b="true">
                  <a:solidFill>
                    <a:srgbClr val="0B5E6E"/>
                  </a:solidFill>
                  <a:latin typeface="Calibri (MS) Bold"/>
                  <a:ea typeface="Calibri (MS) Bold"/>
                  <a:cs typeface="Calibri (MS) Bold"/>
                  <a:sym typeface="Calibri (MS) Bold"/>
                </a:rPr>
                <a:t>ODTW (R2)</a:t>
              </a:r>
            </a:p>
            <a:p>
              <a:pPr algn="l">
                <a:lnSpc>
                  <a:spcPts val="2206"/>
                </a:lnSpc>
              </a:pPr>
              <a:r>
                <a:rPr lang="en-US" sz="1839">
                  <a:solidFill>
                    <a:srgbClr val="14313B"/>
                  </a:solidFill>
                  <a:latin typeface="Calibri (MS)"/>
                  <a:ea typeface="Calibri (MS)"/>
                  <a:cs typeface="Calibri (MS)"/>
                  <a:sym typeface="Calibri (MS)"/>
                </a:rPr>
                <a:t>• Pembangunan ODTW = Investasi × 0,01052 + 5,427</a:t>
              </a:r>
            </a:p>
            <a:p>
              <a:pPr algn="l">
                <a:lnSpc>
                  <a:spcPts val="2206"/>
                </a:lnSpc>
              </a:pPr>
              <a:r>
                <a:rPr lang="en-US" sz="1839">
                  <a:solidFill>
                    <a:srgbClr val="14313B"/>
                  </a:solidFill>
                  <a:latin typeface="Calibri (MS)"/>
                  <a:ea typeface="Calibri (MS)"/>
                  <a:cs typeface="Calibri (MS)"/>
                  <a:sym typeface="Calibri (MS)"/>
                </a:rPr>
                <a:t>• Penutupan ODTW = ODTW × 0,04993</a:t>
              </a:r>
            </a:p>
            <a:p>
              <a:pPr algn="l">
                <a:lnSpc>
                  <a:spcPts val="2206"/>
                </a:lnSpc>
              </a:pPr>
              <a:r>
                <a:rPr lang="en-US" sz="1839">
                  <a:solidFill>
                    <a:srgbClr val="14313B"/>
                  </a:solidFill>
                  <a:latin typeface="Calibri (MS)"/>
                  <a:ea typeface="Calibri (MS)"/>
                  <a:cs typeface="Calibri (MS)"/>
                  <a:sym typeface="Calibri (MS)"/>
                </a:rPr>
                <a:t>• Investasi = PDRB × 0,0488 × (1 + Insentif Kebijakan)</a:t>
              </a:r>
            </a:p>
          </p:txBody>
        </p:sp>
      </p:grpSp>
      <p:grpSp>
        <p:nvGrpSpPr>
          <p:cNvPr name="Group 76" id="76"/>
          <p:cNvGrpSpPr/>
          <p:nvPr/>
        </p:nvGrpSpPr>
        <p:grpSpPr>
          <a:xfrm rot="0">
            <a:off x="816607" y="5251447"/>
            <a:ext cx="8242297" cy="2801617"/>
            <a:chOff x="0" y="0"/>
            <a:chExt cx="10989729" cy="3735489"/>
          </a:xfrm>
        </p:grpSpPr>
        <p:sp>
          <p:nvSpPr>
            <p:cNvPr name="Freeform 77" id="77"/>
            <p:cNvSpPr/>
            <p:nvPr/>
          </p:nvSpPr>
          <p:spPr>
            <a:xfrm flipH="false" flipV="false" rot="0">
              <a:off x="0" y="0"/>
              <a:ext cx="10989691" cy="3735451"/>
            </a:xfrm>
            <a:custGeom>
              <a:avLst/>
              <a:gdLst/>
              <a:ahLst/>
              <a:cxnLst/>
              <a:rect r="r" b="b" t="t" l="l"/>
              <a:pathLst>
                <a:path h="3735451" w="10989691">
                  <a:moveTo>
                    <a:pt x="0" y="298831"/>
                  </a:moveTo>
                  <a:cubicBezTo>
                    <a:pt x="0" y="133858"/>
                    <a:pt x="133858" y="0"/>
                    <a:pt x="298831" y="0"/>
                  </a:cubicBezTo>
                  <a:lnTo>
                    <a:pt x="10690860" y="0"/>
                  </a:lnTo>
                  <a:cubicBezTo>
                    <a:pt x="10855960" y="0"/>
                    <a:pt x="10989691" y="133858"/>
                    <a:pt x="10989691" y="298831"/>
                  </a:cubicBezTo>
                  <a:lnTo>
                    <a:pt x="10989691" y="3436620"/>
                  </a:lnTo>
                  <a:cubicBezTo>
                    <a:pt x="10989691" y="3601720"/>
                    <a:pt x="10855833" y="3735451"/>
                    <a:pt x="10690860" y="3735451"/>
                  </a:cubicBezTo>
                  <a:lnTo>
                    <a:pt x="298831" y="3735451"/>
                  </a:lnTo>
                  <a:cubicBezTo>
                    <a:pt x="133858" y="3735451"/>
                    <a:pt x="0" y="3601720"/>
                    <a:pt x="0" y="3436620"/>
                  </a:cubicBezTo>
                  <a:close/>
                </a:path>
              </a:pathLst>
            </a:custGeom>
            <a:solidFill>
              <a:srgbClr val="EAF8FA"/>
            </a:solidFill>
            <a:ln w="12700" cap="sq">
              <a:solidFill>
                <a:srgbClr val="CFE5E9"/>
              </a:solidFill>
              <a:prstDash val="solid"/>
              <a:miter/>
            </a:ln>
          </p:spPr>
          <p:txBody>
            <a:bodyPr/>
            <a:p/>
          </p:txBody>
        </p:sp>
        <p:sp>
          <p:nvSpPr>
            <p:cNvPr name="TextBox 78" id="78"/>
            <p:cNvSpPr txBox="true"/>
            <p:nvPr/>
          </p:nvSpPr>
          <p:spPr>
            <a:xfrm>
              <a:off x="0" y="-38100"/>
              <a:ext cx="10989729" cy="3773589"/>
            </a:xfrm>
            <a:prstGeom prst="rect">
              <a:avLst/>
            </a:prstGeom>
          </p:spPr>
          <p:txBody>
            <a:bodyPr anchor="t" rtlCol="false" tIns="50800" lIns="50800" bIns="50800" rIns="50800"/>
            <a:lstStyle/>
            <a:p>
              <a:pPr algn="l">
                <a:lnSpc>
                  <a:spcPts val="2484"/>
                </a:lnSpc>
              </a:pPr>
              <a:r>
                <a:rPr lang="en-US" sz="2070" b="true">
                  <a:solidFill>
                    <a:srgbClr val="0B5E6E"/>
                  </a:solidFill>
                  <a:latin typeface="Calibri (MS) Bold"/>
                  <a:ea typeface="Calibri (MS) Bold"/>
                  <a:cs typeface="Calibri (MS) Bold"/>
                  <a:sym typeface="Calibri (MS) Bold"/>
                </a:rPr>
                <a:t>Tenaga kerja (B4)</a:t>
              </a:r>
            </a:p>
            <a:p>
              <a:pPr algn="l">
                <a:lnSpc>
                  <a:spcPts val="2206"/>
                </a:lnSpc>
              </a:pPr>
              <a:r>
                <a:rPr lang="en-US" sz="1839">
                  <a:solidFill>
                    <a:srgbClr val="14313B"/>
                  </a:solidFill>
                  <a:latin typeface="Calibri (MS)"/>
                  <a:ea typeface="Calibri (MS)"/>
                  <a:cs typeface="Calibri (MS)"/>
                  <a:sym typeface="Calibri (MS)"/>
                </a:rPr>
                <a:t>• TK Dibutuhkan = PDRB × Intensitas TK</a:t>
              </a:r>
            </a:p>
            <a:p>
              <a:pPr algn="l">
                <a:lnSpc>
                  <a:spcPts val="2206"/>
                </a:lnSpc>
              </a:pPr>
              <a:r>
                <a:rPr lang="en-US" sz="1839">
                  <a:solidFill>
                    <a:srgbClr val="14313B"/>
                  </a:solidFill>
                  <a:latin typeface="Calibri (MS)"/>
                  <a:ea typeface="Calibri (MS)"/>
                  <a:cs typeface="Calibri (MS)"/>
                  <a:sym typeface="Calibri (MS)"/>
                </a:rPr>
                <a:t>• Intensitas TK = 21,5366 × e^(−0,0110(t − 2025))</a:t>
              </a:r>
            </a:p>
            <a:p>
              <a:pPr algn="l">
                <a:lnSpc>
                  <a:spcPts val="2206"/>
                </a:lnSpc>
              </a:pPr>
              <a:r>
                <a:rPr lang="en-US" sz="1839">
                  <a:solidFill>
                    <a:srgbClr val="14313B"/>
                  </a:solidFill>
                  <a:latin typeface="Calibri (MS)"/>
                  <a:ea typeface="Calibri (MS)"/>
                  <a:cs typeface="Calibri (MS)"/>
                  <a:sym typeface="Calibri (MS)"/>
                </a:rPr>
                <a:t>• Penyerapan = MAX(0; Keluar + (TK Dibutuhkan − TK) ÷ 1)</a:t>
              </a:r>
            </a:p>
          </p:txBody>
        </p:sp>
      </p:grpSp>
      <p:grpSp>
        <p:nvGrpSpPr>
          <p:cNvPr name="Group 79" id="79"/>
          <p:cNvGrpSpPr/>
          <p:nvPr/>
        </p:nvGrpSpPr>
        <p:grpSpPr>
          <a:xfrm rot="0">
            <a:off x="9229087" y="5251447"/>
            <a:ext cx="8242297" cy="2801617"/>
            <a:chOff x="0" y="0"/>
            <a:chExt cx="10989729" cy="3735489"/>
          </a:xfrm>
        </p:grpSpPr>
        <p:sp>
          <p:nvSpPr>
            <p:cNvPr name="Freeform 80" id="80"/>
            <p:cNvSpPr/>
            <p:nvPr/>
          </p:nvSpPr>
          <p:spPr>
            <a:xfrm flipH="false" flipV="false" rot="0">
              <a:off x="0" y="0"/>
              <a:ext cx="10989691" cy="3735451"/>
            </a:xfrm>
            <a:custGeom>
              <a:avLst/>
              <a:gdLst/>
              <a:ahLst/>
              <a:cxnLst/>
              <a:rect r="r" b="b" t="t" l="l"/>
              <a:pathLst>
                <a:path h="3735451" w="10989691">
                  <a:moveTo>
                    <a:pt x="0" y="298831"/>
                  </a:moveTo>
                  <a:cubicBezTo>
                    <a:pt x="0" y="133858"/>
                    <a:pt x="133858" y="0"/>
                    <a:pt x="298831" y="0"/>
                  </a:cubicBezTo>
                  <a:lnTo>
                    <a:pt x="10690860" y="0"/>
                  </a:lnTo>
                  <a:cubicBezTo>
                    <a:pt x="10855960" y="0"/>
                    <a:pt x="10989691" y="133858"/>
                    <a:pt x="10989691" y="298831"/>
                  </a:cubicBezTo>
                  <a:lnTo>
                    <a:pt x="10989691" y="3436620"/>
                  </a:lnTo>
                  <a:cubicBezTo>
                    <a:pt x="10989691" y="3601720"/>
                    <a:pt x="10855833" y="3735451"/>
                    <a:pt x="10690860" y="3735451"/>
                  </a:cubicBezTo>
                  <a:lnTo>
                    <a:pt x="298831" y="3735451"/>
                  </a:lnTo>
                  <a:cubicBezTo>
                    <a:pt x="133858" y="3735451"/>
                    <a:pt x="0" y="3601720"/>
                    <a:pt x="0" y="3436620"/>
                  </a:cubicBezTo>
                  <a:close/>
                </a:path>
              </a:pathLst>
            </a:custGeom>
            <a:solidFill>
              <a:srgbClr val="EAF8FA"/>
            </a:solidFill>
            <a:ln w="12700" cap="sq">
              <a:solidFill>
                <a:srgbClr val="CFE5E9"/>
              </a:solidFill>
              <a:prstDash val="solid"/>
              <a:miter/>
            </a:ln>
          </p:spPr>
          <p:txBody>
            <a:bodyPr/>
            <a:p/>
          </p:txBody>
        </p:sp>
        <p:sp>
          <p:nvSpPr>
            <p:cNvPr name="TextBox 81" id="81"/>
            <p:cNvSpPr txBox="true"/>
            <p:nvPr/>
          </p:nvSpPr>
          <p:spPr>
            <a:xfrm>
              <a:off x="0" y="-38100"/>
              <a:ext cx="10989729" cy="3773589"/>
            </a:xfrm>
            <a:prstGeom prst="rect">
              <a:avLst/>
            </a:prstGeom>
          </p:spPr>
          <p:txBody>
            <a:bodyPr anchor="t" rtlCol="false" tIns="50800" lIns="50800" bIns="50800" rIns="50800"/>
            <a:lstStyle/>
            <a:p>
              <a:pPr algn="l">
                <a:lnSpc>
                  <a:spcPts val="2484"/>
                </a:lnSpc>
              </a:pPr>
              <a:r>
                <a:rPr lang="en-US" sz="2070" b="true">
                  <a:solidFill>
                    <a:srgbClr val="0B5E6E"/>
                  </a:solidFill>
                  <a:latin typeface="Calibri (MS) Bold"/>
                  <a:ea typeface="Calibri (MS) Bold"/>
                  <a:cs typeface="Calibri (MS) Bold"/>
                  <a:sym typeface="Calibri (MS) Bold"/>
                </a:rPr>
                <a:t>Lahan (B2)</a:t>
              </a:r>
            </a:p>
            <a:p>
              <a:pPr algn="l">
                <a:lnSpc>
                  <a:spcPts val="2206"/>
                </a:lnSpc>
              </a:pPr>
              <a:r>
                <a:rPr lang="en-US" sz="1839">
                  <a:solidFill>
                    <a:srgbClr val="14313B"/>
                  </a:solidFill>
                  <a:latin typeface="Calibri (MS)"/>
                  <a:ea typeface="Calibri (MS)"/>
                  <a:cs typeface="Calibri (MS)"/>
                  <a:sym typeface="Calibri (MS)"/>
                </a:rPr>
                <a:t>• Konversi non-pariwisata = 0,0436052 × Lahan × RDDL</a:t>
              </a:r>
            </a:p>
            <a:p>
              <a:pPr algn="l">
                <a:lnSpc>
                  <a:spcPts val="2206"/>
                </a:lnSpc>
              </a:pPr>
              <a:r>
                <a:rPr lang="en-US" sz="1839">
                  <a:solidFill>
                    <a:srgbClr val="14313B"/>
                  </a:solidFill>
                  <a:latin typeface="Calibri (MS)"/>
                  <a:ea typeface="Calibri (MS)"/>
                  <a:cs typeface="Calibri (MS)"/>
                  <a:sym typeface="Calibri (MS)"/>
                </a:rPr>
                <a:t>• Konversi pariwisata = (Konstruksi × 0,1 + Pemb. ODTW × 0,5) × (1 − Konservasi Lahan) × RDDL ÷ 0,826425</a:t>
              </a:r>
            </a:p>
            <a:p>
              <a:pPr algn="l">
                <a:lnSpc>
                  <a:spcPts val="2206"/>
                </a:lnSpc>
              </a:pPr>
              <a:r>
                <a:rPr lang="en-US" sz="1839">
                  <a:solidFill>
                    <a:srgbClr val="14313B"/>
                  </a:solidFill>
                  <a:latin typeface="Calibri (MS)"/>
                  <a:ea typeface="Calibri (MS)"/>
                  <a:cs typeface="Calibri (MS)"/>
                  <a:sym typeface="Calibri (MS)"/>
                </a:rPr>
                <a:t>• RDDL = MAX(0; 1 − Lahan ÷ 317.036)</a:t>
              </a:r>
            </a:p>
          </p:txBody>
        </p:sp>
      </p:grpSp>
      <p:grpSp>
        <p:nvGrpSpPr>
          <p:cNvPr name="Group 82" id="82"/>
          <p:cNvGrpSpPr/>
          <p:nvPr/>
        </p:nvGrpSpPr>
        <p:grpSpPr>
          <a:xfrm rot="0">
            <a:off x="816607" y="8360407"/>
            <a:ext cx="16654777" cy="881377"/>
            <a:chOff x="0" y="0"/>
            <a:chExt cx="22206369" cy="1175169"/>
          </a:xfrm>
        </p:grpSpPr>
        <p:sp>
          <p:nvSpPr>
            <p:cNvPr name="Freeform 83" id="83"/>
            <p:cNvSpPr/>
            <p:nvPr/>
          </p:nvSpPr>
          <p:spPr>
            <a:xfrm flipH="false" flipV="false" rot="0">
              <a:off x="0" y="0"/>
              <a:ext cx="22206331" cy="1175131"/>
            </a:xfrm>
            <a:custGeom>
              <a:avLst/>
              <a:gdLst/>
              <a:ahLst/>
              <a:cxnLst/>
              <a:rect r="r" b="b" t="t" l="l"/>
              <a:pathLst>
                <a:path h="1175131" w="22206331">
                  <a:moveTo>
                    <a:pt x="0" y="93980"/>
                  </a:moveTo>
                  <a:cubicBezTo>
                    <a:pt x="0" y="42037"/>
                    <a:pt x="42037" y="0"/>
                    <a:pt x="93980" y="0"/>
                  </a:cubicBezTo>
                  <a:lnTo>
                    <a:pt x="22112351" y="0"/>
                  </a:lnTo>
                  <a:cubicBezTo>
                    <a:pt x="22164294" y="0"/>
                    <a:pt x="22206331" y="42037"/>
                    <a:pt x="22206331" y="93980"/>
                  </a:cubicBezTo>
                  <a:lnTo>
                    <a:pt x="22206331" y="1081151"/>
                  </a:lnTo>
                  <a:cubicBezTo>
                    <a:pt x="22206331" y="1133094"/>
                    <a:pt x="22164294" y="1175131"/>
                    <a:pt x="22112351" y="1175131"/>
                  </a:cubicBezTo>
                  <a:lnTo>
                    <a:pt x="93980" y="1175131"/>
                  </a:lnTo>
                  <a:cubicBezTo>
                    <a:pt x="42037" y="1175131"/>
                    <a:pt x="0" y="1133094"/>
                    <a:pt x="0" y="1081151"/>
                  </a:cubicBezTo>
                  <a:close/>
                </a:path>
              </a:pathLst>
            </a:custGeom>
            <a:solidFill>
              <a:srgbClr val="FFF1BF"/>
            </a:solidFill>
            <a:ln w="12700" cap="sq">
              <a:solidFill>
                <a:srgbClr val="FFD23B"/>
              </a:solidFill>
              <a:prstDash val="solid"/>
              <a:miter/>
            </a:ln>
          </p:spPr>
          <p:txBody>
            <a:bodyPr/>
            <a:p/>
          </p:txBody>
        </p:sp>
        <p:sp>
          <p:nvSpPr>
            <p:cNvPr name="TextBox 84" id="84"/>
            <p:cNvSpPr txBox="true"/>
            <p:nvPr/>
          </p:nvSpPr>
          <p:spPr>
            <a:xfrm>
              <a:off x="0" y="-38100"/>
              <a:ext cx="22206369" cy="121326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Dua variabel kebijakan bekerja di dua jalur: Insentif Kebijakan pada investasi (R2), Konservasi Lahan pada konversi lahan pariwisata (B2). Fungsi MIN/MAX ditambahkan setelah uji kondisi ekstrem.</a:t>
              </a:r>
            </a:p>
          </p:txBody>
        </p:sp>
      </p:grpSp>
      <p:grpSp>
        <p:nvGrpSpPr>
          <p:cNvPr name="Group 85" id="85"/>
          <p:cNvGrpSpPr/>
          <p:nvPr/>
        </p:nvGrpSpPr>
        <p:grpSpPr>
          <a:xfrm rot="0">
            <a:off x="16047720" y="9646920"/>
            <a:ext cx="420624" cy="420624"/>
            <a:chOff x="0" y="0"/>
            <a:chExt cx="560832" cy="560832"/>
          </a:xfrm>
        </p:grpSpPr>
        <p:sp>
          <p:nvSpPr>
            <p:cNvPr name="Freeform 86" id="86"/>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87" id="87"/>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Penetapan Parameter</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35 parameter dari lima jenis sumber; hanya yang belum pasti boleh dikalibrasi</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38</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2C · Parameterisasi</a:t>
              </a:r>
            </a:p>
          </p:txBody>
        </p:sp>
      </p:grpSp>
      <p:grpSp>
        <p:nvGrpSpPr>
          <p:cNvPr name="Group 70" id="70"/>
          <p:cNvGrpSpPr/>
          <p:nvPr/>
        </p:nvGrpSpPr>
        <p:grpSpPr>
          <a:xfrm rot="0">
            <a:off x="822960" y="2286000"/>
            <a:ext cx="3154680" cy="1325880"/>
            <a:chOff x="0" y="0"/>
            <a:chExt cx="4206240" cy="1767840"/>
          </a:xfrm>
        </p:grpSpPr>
        <p:sp>
          <p:nvSpPr>
            <p:cNvPr name="Freeform 71" id="71"/>
            <p:cNvSpPr/>
            <p:nvPr/>
          </p:nvSpPr>
          <p:spPr>
            <a:xfrm flipH="false" flipV="false" rot="0">
              <a:off x="0" y="0"/>
              <a:ext cx="4206240" cy="1767840"/>
            </a:xfrm>
            <a:custGeom>
              <a:avLst/>
              <a:gdLst/>
              <a:ahLst/>
              <a:cxnLst/>
              <a:rect r="r" b="b" t="t" l="l"/>
              <a:pathLst>
                <a:path h="1767840" w="4206240">
                  <a:moveTo>
                    <a:pt x="0" y="141478"/>
                  </a:moveTo>
                  <a:cubicBezTo>
                    <a:pt x="0" y="63373"/>
                    <a:pt x="63373" y="0"/>
                    <a:pt x="141478" y="0"/>
                  </a:cubicBezTo>
                  <a:lnTo>
                    <a:pt x="4064762" y="0"/>
                  </a:lnTo>
                  <a:cubicBezTo>
                    <a:pt x="4142867" y="0"/>
                    <a:pt x="4206240" y="63373"/>
                    <a:pt x="4206240" y="141478"/>
                  </a:cubicBezTo>
                  <a:lnTo>
                    <a:pt x="4206240" y="1626362"/>
                  </a:lnTo>
                  <a:cubicBezTo>
                    <a:pt x="4206240" y="1704467"/>
                    <a:pt x="4142867" y="1767840"/>
                    <a:pt x="4064762" y="1767840"/>
                  </a:cubicBezTo>
                  <a:lnTo>
                    <a:pt x="141478" y="1767840"/>
                  </a:lnTo>
                  <a:cubicBezTo>
                    <a:pt x="63373" y="1767840"/>
                    <a:pt x="0" y="1704467"/>
                    <a:pt x="0" y="1626362"/>
                  </a:cubicBezTo>
                  <a:close/>
                </a:path>
              </a:pathLst>
            </a:custGeom>
            <a:solidFill>
              <a:srgbClr val="0B5E6E"/>
            </a:solidFill>
          </p:spPr>
          <p:txBody>
            <a:bodyPr/>
            <a:p/>
          </p:txBody>
        </p:sp>
        <p:sp>
          <p:nvSpPr>
            <p:cNvPr name="TextBox 72" id="72"/>
            <p:cNvSpPr txBox="true"/>
            <p:nvPr/>
          </p:nvSpPr>
          <p:spPr>
            <a:xfrm>
              <a:off x="0" y="-76200"/>
              <a:ext cx="4206240" cy="1844040"/>
            </a:xfrm>
            <a:prstGeom prst="rect">
              <a:avLst/>
            </a:prstGeom>
          </p:spPr>
          <p:txBody>
            <a:bodyPr anchor="ctr" rtlCol="false" tIns="50800" lIns="50800" bIns="50800" rIns="50800"/>
            <a:lstStyle/>
            <a:p>
              <a:pPr algn="ctr">
                <a:lnSpc>
                  <a:spcPts val="4691"/>
                </a:lnSpc>
              </a:pPr>
              <a:r>
                <a:rPr lang="en-US" sz="3909" b="true">
                  <a:solidFill>
                    <a:srgbClr val="FFFFFF"/>
                  </a:solidFill>
                  <a:latin typeface="Calibri (MS) Bold"/>
                  <a:ea typeface="Calibri (MS) Bold"/>
                  <a:cs typeface="Calibri (MS) Bold"/>
                  <a:sym typeface="Calibri (MS) Bold"/>
                </a:rPr>
                <a:t>11</a:t>
              </a:r>
            </a:p>
            <a:p>
              <a:pPr algn="ctr">
                <a:lnSpc>
                  <a:spcPts val="2063"/>
                </a:lnSpc>
              </a:pPr>
              <a:r>
                <a:rPr lang="en-US" sz="1719" b="true">
                  <a:solidFill>
                    <a:srgbClr val="FFFFFF"/>
                  </a:solidFill>
                  <a:latin typeface="Calibri (MS) Bold"/>
                  <a:ea typeface="Calibri (MS) Bold"/>
                  <a:cs typeface="Calibri (MS) Bold"/>
                  <a:sym typeface="Calibri (MS) Bold"/>
                </a:rPr>
                <a:t>Data statistik resmi</a:t>
              </a:r>
            </a:p>
          </p:txBody>
        </p:sp>
      </p:grpSp>
      <p:grpSp>
        <p:nvGrpSpPr>
          <p:cNvPr name="Group 73" id="73"/>
          <p:cNvGrpSpPr/>
          <p:nvPr/>
        </p:nvGrpSpPr>
        <p:grpSpPr>
          <a:xfrm rot="0">
            <a:off x="816607" y="3696967"/>
            <a:ext cx="3167377" cy="3030217"/>
            <a:chOff x="0" y="0"/>
            <a:chExt cx="4223169" cy="4040289"/>
          </a:xfrm>
        </p:grpSpPr>
        <p:sp>
          <p:nvSpPr>
            <p:cNvPr name="Freeform 74" id="74"/>
            <p:cNvSpPr/>
            <p:nvPr/>
          </p:nvSpPr>
          <p:spPr>
            <a:xfrm flipH="false" flipV="false" rot="0">
              <a:off x="0" y="0"/>
              <a:ext cx="4223131" cy="4040251"/>
            </a:xfrm>
            <a:custGeom>
              <a:avLst/>
              <a:gdLst/>
              <a:ahLst/>
              <a:cxnLst/>
              <a:rect r="r" b="b" t="t" l="l"/>
              <a:pathLst>
                <a:path h="4040251" w="4223131">
                  <a:moveTo>
                    <a:pt x="0" y="323215"/>
                  </a:moveTo>
                  <a:cubicBezTo>
                    <a:pt x="0" y="144653"/>
                    <a:pt x="144653" y="0"/>
                    <a:pt x="323215" y="0"/>
                  </a:cubicBezTo>
                  <a:lnTo>
                    <a:pt x="3899916" y="0"/>
                  </a:lnTo>
                  <a:cubicBezTo>
                    <a:pt x="4078478" y="0"/>
                    <a:pt x="4223131" y="144653"/>
                    <a:pt x="4223131" y="323215"/>
                  </a:cubicBezTo>
                  <a:lnTo>
                    <a:pt x="4223131" y="3717036"/>
                  </a:lnTo>
                  <a:cubicBezTo>
                    <a:pt x="4223131" y="3895598"/>
                    <a:pt x="4078478" y="4040251"/>
                    <a:pt x="3899916" y="4040251"/>
                  </a:cubicBezTo>
                  <a:lnTo>
                    <a:pt x="323215" y="4040251"/>
                  </a:lnTo>
                  <a:cubicBezTo>
                    <a:pt x="144653" y="4040251"/>
                    <a:pt x="0" y="3895598"/>
                    <a:pt x="0" y="3717036"/>
                  </a:cubicBezTo>
                  <a:close/>
                </a:path>
              </a:pathLst>
            </a:custGeom>
            <a:solidFill>
              <a:srgbClr val="EAF8FA"/>
            </a:solidFill>
            <a:ln w="12700" cap="sq">
              <a:solidFill>
                <a:srgbClr val="CFE5E9"/>
              </a:solidFill>
              <a:prstDash val="solid"/>
              <a:miter/>
            </a:ln>
          </p:spPr>
          <p:txBody>
            <a:bodyPr/>
            <a:p/>
          </p:txBody>
        </p:sp>
        <p:sp>
          <p:nvSpPr>
            <p:cNvPr name="TextBox 75" id="75"/>
            <p:cNvSpPr txBox="true"/>
            <p:nvPr/>
          </p:nvSpPr>
          <p:spPr>
            <a:xfrm>
              <a:off x="0" y="-19050"/>
              <a:ext cx="4223169" cy="4059339"/>
            </a:xfrm>
            <a:prstGeom prst="rect">
              <a:avLst/>
            </a:prstGeom>
          </p:spPr>
          <p:txBody>
            <a:bodyPr anchor="t" rtlCol="false" tIns="50800" lIns="50800" bIns="50800" rIns="50800"/>
            <a:lstStyle/>
            <a:p>
              <a:pPr algn="l">
                <a:lnSpc>
                  <a:spcPts val="1860"/>
                </a:lnSpc>
              </a:pPr>
              <a:r>
                <a:rPr lang="en-US" sz="1550">
                  <a:solidFill>
                    <a:srgbClr val="14313B"/>
                  </a:solidFill>
                  <a:latin typeface="Calibri (MS)"/>
                  <a:ea typeface="Calibri (MS)"/>
                  <a:cs typeface="Calibri (MS)"/>
                  <a:sym typeface="Calibri (MS)"/>
                </a:rPr>
                <a:t>• Pengeluaran/kunjungan 0,00272</a:t>
              </a:r>
            </a:p>
            <a:p>
              <a:pPr algn="l">
                <a:lnSpc>
                  <a:spcPts val="1860"/>
                </a:lnSpc>
              </a:pPr>
              <a:r>
                <a:rPr lang="en-US" sz="1550">
                  <a:solidFill>
                    <a:srgbClr val="14313B"/>
                  </a:solidFill>
                  <a:latin typeface="Calibri (MS)"/>
                  <a:ea typeface="Calibri (MS)"/>
                  <a:cs typeface="Calibri (MS)"/>
                  <a:sym typeface="Calibri (MS)"/>
                </a:rPr>
                <a:t>• Rasio nilai tambah 0,1531</a:t>
              </a:r>
            </a:p>
            <a:p>
              <a:pPr algn="l">
                <a:lnSpc>
                  <a:spcPts val="1860"/>
                </a:lnSpc>
              </a:pPr>
              <a:r>
                <a:rPr lang="en-US" sz="1550">
                  <a:solidFill>
                    <a:srgbClr val="14313B"/>
                  </a:solidFill>
                  <a:latin typeface="Calibri (MS)"/>
                  <a:ea typeface="Calibri (MS)"/>
                  <a:cs typeface="Calibri (MS)"/>
                  <a:sym typeface="Calibri (MS)"/>
                </a:rPr>
                <a:t>• Rasio investasi/PDRB 0,0488</a:t>
              </a:r>
            </a:p>
            <a:p>
              <a:pPr algn="l">
                <a:lnSpc>
                  <a:spcPts val="1860"/>
                </a:lnSpc>
              </a:pPr>
              <a:r>
                <a:rPr lang="en-US" sz="1550">
                  <a:solidFill>
                    <a:srgbClr val="14313B"/>
                  </a:solidFill>
                  <a:latin typeface="Calibri (MS)"/>
                  <a:ea typeface="Calibri (MS)"/>
                  <a:cs typeface="Calibri (MS)"/>
                  <a:sym typeface="Calibri (MS)"/>
                </a:rPr>
                <a:t>• Malam tersedia/kamar 329,03</a:t>
              </a:r>
            </a:p>
          </p:txBody>
        </p:sp>
      </p:grpSp>
      <p:grpSp>
        <p:nvGrpSpPr>
          <p:cNvPr name="Group 76" id="76"/>
          <p:cNvGrpSpPr/>
          <p:nvPr/>
        </p:nvGrpSpPr>
        <p:grpSpPr>
          <a:xfrm rot="0">
            <a:off x="816607" y="6805927"/>
            <a:ext cx="3167377" cy="1109977"/>
            <a:chOff x="0" y="0"/>
            <a:chExt cx="4223169" cy="1479969"/>
          </a:xfrm>
        </p:grpSpPr>
        <p:sp>
          <p:nvSpPr>
            <p:cNvPr name="Freeform 77" id="77"/>
            <p:cNvSpPr/>
            <p:nvPr/>
          </p:nvSpPr>
          <p:spPr>
            <a:xfrm flipH="false" flipV="false" rot="0">
              <a:off x="0" y="0"/>
              <a:ext cx="4223131" cy="1479931"/>
            </a:xfrm>
            <a:custGeom>
              <a:avLst/>
              <a:gdLst/>
              <a:ahLst/>
              <a:cxnLst/>
              <a:rect r="r" b="b" t="t" l="l"/>
              <a:pathLst>
                <a:path h="1479931" w="4223131">
                  <a:moveTo>
                    <a:pt x="0" y="118364"/>
                  </a:moveTo>
                  <a:cubicBezTo>
                    <a:pt x="0" y="52959"/>
                    <a:pt x="52959" y="0"/>
                    <a:pt x="118364" y="0"/>
                  </a:cubicBezTo>
                  <a:lnTo>
                    <a:pt x="4104767" y="0"/>
                  </a:lnTo>
                  <a:cubicBezTo>
                    <a:pt x="4170172" y="0"/>
                    <a:pt x="4223131" y="52959"/>
                    <a:pt x="4223131" y="118364"/>
                  </a:cubicBezTo>
                  <a:lnTo>
                    <a:pt x="4223131" y="1361567"/>
                  </a:lnTo>
                  <a:cubicBezTo>
                    <a:pt x="4223131" y="1426972"/>
                    <a:pt x="4170172" y="1479931"/>
                    <a:pt x="4104767" y="1479931"/>
                  </a:cubicBezTo>
                  <a:lnTo>
                    <a:pt x="118364" y="1479931"/>
                  </a:lnTo>
                  <a:cubicBezTo>
                    <a:pt x="52959" y="1479931"/>
                    <a:pt x="0" y="1426972"/>
                    <a:pt x="0" y="1361567"/>
                  </a:cubicBezTo>
                  <a:close/>
                </a:path>
              </a:pathLst>
            </a:custGeom>
            <a:solidFill>
              <a:srgbClr val="FFFFFF"/>
            </a:solidFill>
            <a:ln w="12700" cap="sq">
              <a:solidFill>
                <a:srgbClr val="CFE5E9"/>
              </a:solidFill>
              <a:prstDash val="solid"/>
              <a:miter/>
            </a:ln>
          </p:spPr>
          <p:txBody>
            <a:bodyPr/>
            <a:p/>
          </p:txBody>
        </p:sp>
        <p:sp>
          <p:nvSpPr>
            <p:cNvPr name="TextBox 78" id="78"/>
            <p:cNvSpPr txBox="true"/>
            <p:nvPr/>
          </p:nvSpPr>
          <p:spPr>
            <a:xfrm>
              <a:off x="0" y="-38100"/>
              <a:ext cx="4223169" cy="1518069"/>
            </a:xfrm>
            <a:prstGeom prst="rect">
              <a:avLst/>
            </a:prstGeom>
          </p:spPr>
          <p:txBody>
            <a:bodyPr anchor="t" rtlCol="false" tIns="50800" lIns="50800" bIns="50800" rIns="50800"/>
            <a:lstStyle/>
            <a:p>
              <a:pPr algn="l">
                <a:lnSpc>
                  <a:spcPts val="1727"/>
                </a:lnSpc>
              </a:pPr>
              <a:r>
                <a:rPr lang="en-US" sz="1439" b="true">
                  <a:solidFill>
                    <a:srgbClr val="0B5E6E"/>
                  </a:solidFill>
                  <a:latin typeface="Calibri (MS) Bold"/>
                  <a:ea typeface="Calibri (MS) Bold"/>
                  <a:cs typeface="Calibri (MS) Bold"/>
                  <a:sym typeface="Calibri (MS) Bold"/>
                </a:rPr>
                <a:t>Kalibrasi?</a:t>
              </a:r>
            </a:p>
            <a:p>
              <a:pPr algn="l">
                <a:lnSpc>
                  <a:spcPts val="1788"/>
                </a:lnSpc>
              </a:pPr>
              <a:r>
                <a:rPr lang="en-US" sz="1490">
                  <a:solidFill>
                    <a:srgbClr val="14313B"/>
                  </a:solidFill>
                  <a:latin typeface="Calibri (MS)"/>
                  <a:ea typeface="Calibri (MS)"/>
                  <a:cs typeface="Calibri (MS)"/>
                  <a:sym typeface="Calibri (MS)"/>
                </a:rPr>
                <a:t>Tidak dikalibrasi</a:t>
              </a:r>
            </a:p>
          </p:txBody>
        </p:sp>
      </p:grpSp>
      <p:grpSp>
        <p:nvGrpSpPr>
          <p:cNvPr name="Group 79" id="79"/>
          <p:cNvGrpSpPr/>
          <p:nvPr/>
        </p:nvGrpSpPr>
        <p:grpSpPr>
          <a:xfrm rot="0">
            <a:off x="4187952" y="2286000"/>
            <a:ext cx="3154680" cy="1325880"/>
            <a:chOff x="0" y="0"/>
            <a:chExt cx="4206240" cy="1767840"/>
          </a:xfrm>
        </p:grpSpPr>
        <p:sp>
          <p:nvSpPr>
            <p:cNvPr name="Freeform 80" id="80"/>
            <p:cNvSpPr/>
            <p:nvPr/>
          </p:nvSpPr>
          <p:spPr>
            <a:xfrm flipH="false" flipV="false" rot="0">
              <a:off x="0" y="0"/>
              <a:ext cx="4206240" cy="1767840"/>
            </a:xfrm>
            <a:custGeom>
              <a:avLst/>
              <a:gdLst/>
              <a:ahLst/>
              <a:cxnLst/>
              <a:rect r="r" b="b" t="t" l="l"/>
              <a:pathLst>
                <a:path h="1767840" w="4206240">
                  <a:moveTo>
                    <a:pt x="0" y="141478"/>
                  </a:moveTo>
                  <a:cubicBezTo>
                    <a:pt x="0" y="63373"/>
                    <a:pt x="63373" y="0"/>
                    <a:pt x="141478" y="0"/>
                  </a:cubicBezTo>
                  <a:lnTo>
                    <a:pt x="4064762" y="0"/>
                  </a:lnTo>
                  <a:cubicBezTo>
                    <a:pt x="4142867" y="0"/>
                    <a:pt x="4206240" y="63373"/>
                    <a:pt x="4206240" y="141478"/>
                  </a:cubicBezTo>
                  <a:lnTo>
                    <a:pt x="4206240" y="1626362"/>
                  </a:lnTo>
                  <a:cubicBezTo>
                    <a:pt x="4206240" y="1704467"/>
                    <a:pt x="4142867" y="1767840"/>
                    <a:pt x="4064762" y="1767840"/>
                  </a:cubicBezTo>
                  <a:lnTo>
                    <a:pt x="141478" y="1767840"/>
                  </a:lnTo>
                  <a:cubicBezTo>
                    <a:pt x="63373" y="1767840"/>
                    <a:pt x="0" y="1704467"/>
                    <a:pt x="0" y="1626362"/>
                  </a:cubicBezTo>
                  <a:close/>
                </a:path>
              </a:pathLst>
            </a:custGeom>
            <a:solidFill>
              <a:srgbClr val="39C0D3"/>
            </a:solidFill>
          </p:spPr>
          <p:txBody>
            <a:bodyPr/>
            <a:p/>
          </p:txBody>
        </p:sp>
        <p:sp>
          <p:nvSpPr>
            <p:cNvPr name="TextBox 81" id="81"/>
            <p:cNvSpPr txBox="true"/>
            <p:nvPr/>
          </p:nvSpPr>
          <p:spPr>
            <a:xfrm>
              <a:off x="0" y="-76200"/>
              <a:ext cx="4206240" cy="1844040"/>
            </a:xfrm>
            <a:prstGeom prst="rect">
              <a:avLst/>
            </a:prstGeom>
          </p:spPr>
          <p:txBody>
            <a:bodyPr anchor="ctr" rtlCol="false" tIns="50800" lIns="50800" bIns="50800" rIns="50800"/>
            <a:lstStyle/>
            <a:p>
              <a:pPr algn="ctr">
                <a:lnSpc>
                  <a:spcPts val="4691"/>
                </a:lnSpc>
              </a:pPr>
              <a:r>
                <a:rPr lang="en-US" sz="3909" b="true">
                  <a:solidFill>
                    <a:srgbClr val="FFFFFF"/>
                  </a:solidFill>
                  <a:latin typeface="Calibri (MS) Bold"/>
                  <a:ea typeface="Calibri (MS) Bold"/>
                  <a:cs typeface="Calibri (MS) Bold"/>
                  <a:sym typeface="Calibri (MS) Bold"/>
                </a:rPr>
                <a:t>8</a:t>
              </a:r>
            </a:p>
            <a:p>
              <a:pPr algn="ctr">
                <a:lnSpc>
                  <a:spcPts val="2063"/>
                </a:lnSpc>
              </a:pPr>
              <a:r>
                <a:rPr lang="en-US" sz="1719" b="true">
                  <a:solidFill>
                    <a:srgbClr val="FFFFFF"/>
                  </a:solidFill>
                  <a:latin typeface="Calibri (MS) Bold"/>
                  <a:ea typeface="Calibri (MS) Bold"/>
                  <a:cs typeface="Calibri (MS) Bold"/>
                  <a:sym typeface="Calibri (MS) Bold"/>
                </a:rPr>
                <a:t>Persamaan stok-aliran</a:t>
              </a:r>
            </a:p>
          </p:txBody>
        </p:sp>
      </p:grpSp>
      <p:grpSp>
        <p:nvGrpSpPr>
          <p:cNvPr name="Group 82" id="82"/>
          <p:cNvGrpSpPr/>
          <p:nvPr/>
        </p:nvGrpSpPr>
        <p:grpSpPr>
          <a:xfrm rot="0">
            <a:off x="4181599" y="3696967"/>
            <a:ext cx="3167377" cy="3030217"/>
            <a:chOff x="0" y="0"/>
            <a:chExt cx="4223169" cy="4040289"/>
          </a:xfrm>
        </p:grpSpPr>
        <p:sp>
          <p:nvSpPr>
            <p:cNvPr name="Freeform 83" id="83"/>
            <p:cNvSpPr/>
            <p:nvPr/>
          </p:nvSpPr>
          <p:spPr>
            <a:xfrm flipH="false" flipV="false" rot="0">
              <a:off x="0" y="0"/>
              <a:ext cx="4223131" cy="4040251"/>
            </a:xfrm>
            <a:custGeom>
              <a:avLst/>
              <a:gdLst/>
              <a:ahLst/>
              <a:cxnLst/>
              <a:rect r="r" b="b" t="t" l="l"/>
              <a:pathLst>
                <a:path h="4040251" w="4223131">
                  <a:moveTo>
                    <a:pt x="0" y="323215"/>
                  </a:moveTo>
                  <a:cubicBezTo>
                    <a:pt x="0" y="144653"/>
                    <a:pt x="144653" y="0"/>
                    <a:pt x="323215" y="0"/>
                  </a:cubicBezTo>
                  <a:lnTo>
                    <a:pt x="3899916" y="0"/>
                  </a:lnTo>
                  <a:cubicBezTo>
                    <a:pt x="4078478" y="0"/>
                    <a:pt x="4223131" y="144653"/>
                    <a:pt x="4223131" y="323215"/>
                  </a:cubicBezTo>
                  <a:lnTo>
                    <a:pt x="4223131" y="3717036"/>
                  </a:lnTo>
                  <a:cubicBezTo>
                    <a:pt x="4223131" y="3895598"/>
                    <a:pt x="4078478" y="4040251"/>
                    <a:pt x="3899916" y="4040251"/>
                  </a:cubicBezTo>
                  <a:lnTo>
                    <a:pt x="323215" y="4040251"/>
                  </a:lnTo>
                  <a:cubicBezTo>
                    <a:pt x="144653" y="4040251"/>
                    <a:pt x="0" y="3895598"/>
                    <a:pt x="0" y="3717036"/>
                  </a:cubicBezTo>
                  <a:close/>
                </a:path>
              </a:pathLst>
            </a:custGeom>
            <a:solidFill>
              <a:srgbClr val="EAF8FA"/>
            </a:solidFill>
            <a:ln w="12700" cap="sq">
              <a:solidFill>
                <a:srgbClr val="CFE5E9"/>
              </a:solidFill>
              <a:prstDash val="solid"/>
              <a:miter/>
            </a:ln>
          </p:spPr>
          <p:txBody>
            <a:bodyPr/>
            <a:p/>
          </p:txBody>
        </p:sp>
        <p:sp>
          <p:nvSpPr>
            <p:cNvPr name="TextBox 84" id="84"/>
            <p:cNvSpPr txBox="true"/>
            <p:nvPr/>
          </p:nvSpPr>
          <p:spPr>
            <a:xfrm>
              <a:off x="0" y="-19050"/>
              <a:ext cx="4223169" cy="4059339"/>
            </a:xfrm>
            <a:prstGeom prst="rect">
              <a:avLst/>
            </a:prstGeom>
          </p:spPr>
          <p:txBody>
            <a:bodyPr anchor="t" rtlCol="false" tIns="50800" lIns="50800" bIns="50800" rIns="50800"/>
            <a:lstStyle/>
            <a:p>
              <a:pPr algn="l">
                <a:lnSpc>
                  <a:spcPts val="1860"/>
                </a:lnSpc>
              </a:pPr>
              <a:r>
                <a:rPr lang="en-US" sz="1550">
                  <a:solidFill>
                    <a:srgbClr val="14313B"/>
                  </a:solidFill>
                  <a:latin typeface="Calibri (MS)"/>
                  <a:ea typeface="Calibri (MS)"/>
                  <a:cs typeface="Calibri (MS)"/>
                  <a:sym typeface="Calibri (MS)"/>
                </a:rPr>
                <a:t>• LPE 0,27726 · LPD 0,207945</a:t>
              </a:r>
            </a:p>
            <a:p>
              <a:pPr algn="l">
                <a:lnSpc>
                  <a:spcPts val="1860"/>
                </a:lnSpc>
              </a:pPr>
              <a:r>
                <a:rPr lang="en-US" sz="1550">
                  <a:solidFill>
                    <a:srgbClr val="14313B"/>
                  </a:solidFill>
                  <a:latin typeface="Calibri (MS)"/>
                  <a:ea typeface="Calibri (MS)"/>
                  <a:cs typeface="Calibri (MS)"/>
                  <a:sym typeface="Calibri (MS)"/>
                </a:rPr>
                <a:t>• Batas TPK pemicu konstruksi 0,275</a:t>
              </a:r>
            </a:p>
            <a:p>
              <a:pPr algn="l">
                <a:lnSpc>
                  <a:spcPts val="1860"/>
                </a:lnSpc>
              </a:pPr>
              <a:r>
                <a:rPr lang="en-US" sz="1550">
                  <a:solidFill>
                    <a:srgbClr val="14313B"/>
                  </a:solidFill>
                  <a:latin typeface="Calibri (MS)"/>
                  <a:ea typeface="Calibri (MS)"/>
                  <a:cs typeface="Calibri (MS)"/>
                  <a:sym typeface="Calibri (MS)"/>
                </a:rPr>
                <a:t>• Sens. konstruksi 2,31385</a:t>
              </a:r>
            </a:p>
            <a:p>
              <a:pPr algn="l">
                <a:lnSpc>
                  <a:spcPts val="1860"/>
                </a:lnSpc>
              </a:pPr>
              <a:r>
                <a:rPr lang="en-US" sz="1550">
                  <a:solidFill>
                    <a:srgbClr val="14313B"/>
                  </a:solidFill>
                  <a:latin typeface="Calibri (MS)"/>
                  <a:ea typeface="Calibri (MS)"/>
                  <a:cs typeface="Calibri (MS)"/>
                  <a:sym typeface="Calibri (MS)"/>
                </a:rPr>
                <a:t>• Laju konversi dasar 0,0436</a:t>
              </a:r>
            </a:p>
          </p:txBody>
        </p:sp>
      </p:grpSp>
      <p:grpSp>
        <p:nvGrpSpPr>
          <p:cNvPr name="Group 85" id="85"/>
          <p:cNvGrpSpPr/>
          <p:nvPr/>
        </p:nvGrpSpPr>
        <p:grpSpPr>
          <a:xfrm rot="0">
            <a:off x="4181599" y="6805927"/>
            <a:ext cx="3167377" cy="1109977"/>
            <a:chOff x="0" y="0"/>
            <a:chExt cx="4223169" cy="1479969"/>
          </a:xfrm>
        </p:grpSpPr>
        <p:sp>
          <p:nvSpPr>
            <p:cNvPr name="Freeform 86" id="86"/>
            <p:cNvSpPr/>
            <p:nvPr/>
          </p:nvSpPr>
          <p:spPr>
            <a:xfrm flipH="false" flipV="false" rot="0">
              <a:off x="0" y="0"/>
              <a:ext cx="4223131" cy="1479931"/>
            </a:xfrm>
            <a:custGeom>
              <a:avLst/>
              <a:gdLst/>
              <a:ahLst/>
              <a:cxnLst/>
              <a:rect r="r" b="b" t="t" l="l"/>
              <a:pathLst>
                <a:path h="1479931" w="4223131">
                  <a:moveTo>
                    <a:pt x="0" y="118364"/>
                  </a:moveTo>
                  <a:cubicBezTo>
                    <a:pt x="0" y="52959"/>
                    <a:pt x="52959" y="0"/>
                    <a:pt x="118364" y="0"/>
                  </a:cubicBezTo>
                  <a:lnTo>
                    <a:pt x="4104767" y="0"/>
                  </a:lnTo>
                  <a:cubicBezTo>
                    <a:pt x="4170172" y="0"/>
                    <a:pt x="4223131" y="52959"/>
                    <a:pt x="4223131" y="118364"/>
                  </a:cubicBezTo>
                  <a:lnTo>
                    <a:pt x="4223131" y="1361567"/>
                  </a:lnTo>
                  <a:cubicBezTo>
                    <a:pt x="4223131" y="1426972"/>
                    <a:pt x="4170172" y="1479931"/>
                    <a:pt x="4104767" y="1479931"/>
                  </a:cubicBezTo>
                  <a:lnTo>
                    <a:pt x="118364" y="1479931"/>
                  </a:lnTo>
                  <a:cubicBezTo>
                    <a:pt x="52959" y="1479931"/>
                    <a:pt x="0" y="1426972"/>
                    <a:pt x="0" y="1361567"/>
                  </a:cubicBezTo>
                  <a:close/>
                </a:path>
              </a:pathLst>
            </a:custGeom>
            <a:solidFill>
              <a:srgbClr val="FFFFFF"/>
            </a:solidFill>
            <a:ln w="12700" cap="sq">
              <a:solidFill>
                <a:srgbClr val="CFE5E9"/>
              </a:solidFill>
              <a:prstDash val="solid"/>
              <a:miter/>
            </a:ln>
          </p:spPr>
          <p:txBody>
            <a:bodyPr/>
            <a:p/>
          </p:txBody>
        </p:sp>
        <p:sp>
          <p:nvSpPr>
            <p:cNvPr name="TextBox 87" id="87"/>
            <p:cNvSpPr txBox="true"/>
            <p:nvPr/>
          </p:nvSpPr>
          <p:spPr>
            <a:xfrm>
              <a:off x="0" y="-38100"/>
              <a:ext cx="4223169" cy="1518069"/>
            </a:xfrm>
            <a:prstGeom prst="rect">
              <a:avLst/>
            </a:prstGeom>
          </p:spPr>
          <p:txBody>
            <a:bodyPr anchor="t" rtlCol="false" tIns="50800" lIns="50800" bIns="50800" rIns="50800"/>
            <a:lstStyle/>
            <a:p>
              <a:pPr algn="l">
                <a:lnSpc>
                  <a:spcPts val="1727"/>
                </a:lnSpc>
              </a:pPr>
              <a:r>
                <a:rPr lang="en-US" sz="1439" b="true">
                  <a:solidFill>
                    <a:srgbClr val="0B5E6E"/>
                  </a:solidFill>
                  <a:latin typeface="Calibri (MS) Bold"/>
                  <a:ea typeface="Calibri (MS) Bold"/>
                  <a:cs typeface="Calibri (MS) Bold"/>
                  <a:sym typeface="Calibri (MS) Bold"/>
                </a:rPr>
                <a:t>Kalibrasi?</a:t>
              </a:r>
            </a:p>
            <a:p>
              <a:pPr algn="l">
                <a:lnSpc>
                  <a:spcPts val="1788"/>
                </a:lnSpc>
              </a:pPr>
              <a:r>
                <a:rPr lang="en-US" sz="1490">
                  <a:solidFill>
                    <a:srgbClr val="14313B"/>
                  </a:solidFill>
                  <a:latin typeface="Calibri (MS)"/>
                  <a:ea typeface="Calibri (MS)"/>
                  <a:cs typeface="Calibri (MS)"/>
                  <a:sym typeface="Calibri (MS)"/>
                </a:rPr>
                <a:t>Tidak (kecuali yang belum pasti: batas TPK, laju konversi)</a:t>
              </a:r>
            </a:p>
          </p:txBody>
        </p:sp>
      </p:grpSp>
      <p:grpSp>
        <p:nvGrpSpPr>
          <p:cNvPr name="Group 88" id="88"/>
          <p:cNvGrpSpPr/>
          <p:nvPr/>
        </p:nvGrpSpPr>
        <p:grpSpPr>
          <a:xfrm rot="0">
            <a:off x="7552944" y="2286000"/>
            <a:ext cx="3154680" cy="1325880"/>
            <a:chOff x="0" y="0"/>
            <a:chExt cx="4206240" cy="1767840"/>
          </a:xfrm>
        </p:grpSpPr>
        <p:sp>
          <p:nvSpPr>
            <p:cNvPr name="Freeform 89" id="89"/>
            <p:cNvSpPr/>
            <p:nvPr/>
          </p:nvSpPr>
          <p:spPr>
            <a:xfrm flipH="false" flipV="false" rot="0">
              <a:off x="0" y="0"/>
              <a:ext cx="4206240" cy="1767840"/>
            </a:xfrm>
            <a:custGeom>
              <a:avLst/>
              <a:gdLst/>
              <a:ahLst/>
              <a:cxnLst/>
              <a:rect r="r" b="b" t="t" l="l"/>
              <a:pathLst>
                <a:path h="1767840" w="4206240">
                  <a:moveTo>
                    <a:pt x="0" y="141478"/>
                  </a:moveTo>
                  <a:cubicBezTo>
                    <a:pt x="0" y="63373"/>
                    <a:pt x="63373" y="0"/>
                    <a:pt x="141478" y="0"/>
                  </a:cubicBezTo>
                  <a:lnTo>
                    <a:pt x="4064762" y="0"/>
                  </a:lnTo>
                  <a:cubicBezTo>
                    <a:pt x="4142867" y="0"/>
                    <a:pt x="4206240" y="63373"/>
                    <a:pt x="4206240" y="141478"/>
                  </a:cubicBezTo>
                  <a:lnTo>
                    <a:pt x="4206240" y="1626362"/>
                  </a:lnTo>
                  <a:cubicBezTo>
                    <a:pt x="4206240" y="1704467"/>
                    <a:pt x="4142867" y="1767840"/>
                    <a:pt x="4064762" y="1767840"/>
                  </a:cubicBezTo>
                  <a:lnTo>
                    <a:pt x="141478" y="1767840"/>
                  </a:lnTo>
                  <a:cubicBezTo>
                    <a:pt x="63373" y="1767840"/>
                    <a:pt x="0" y="1704467"/>
                    <a:pt x="0" y="1626362"/>
                  </a:cubicBezTo>
                  <a:close/>
                </a:path>
              </a:pathLst>
            </a:custGeom>
            <a:solidFill>
              <a:srgbClr val="3AC1D1"/>
            </a:solidFill>
          </p:spPr>
          <p:txBody>
            <a:bodyPr/>
            <a:p/>
          </p:txBody>
        </p:sp>
        <p:sp>
          <p:nvSpPr>
            <p:cNvPr name="TextBox 90" id="90"/>
            <p:cNvSpPr txBox="true"/>
            <p:nvPr/>
          </p:nvSpPr>
          <p:spPr>
            <a:xfrm>
              <a:off x="0" y="-76200"/>
              <a:ext cx="4206240" cy="1844040"/>
            </a:xfrm>
            <a:prstGeom prst="rect">
              <a:avLst/>
            </a:prstGeom>
          </p:spPr>
          <p:txBody>
            <a:bodyPr anchor="ctr" rtlCol="false" tIns="50800" lIns="50800" bIns="50800" rIns="50800"/>
            <a:lstStyle/>
            <a:p>
              <a:pPr algn="ctr">
                <a:lnSpc>
                  <a:spcPts val="4691"/>
                </a:lnSpc>
              </a:pPr>
              <a:r>
                <a:rPr lang="en-US" sz="3909" b="true">
                  <a:solidFill>
                    <a:srgbClr val="FFFFFF"/>
                  </a:solidFill>
                  <a:latin typeface="Calibri (MS) Bold"/>
                  <a:ea typeface="Calibri (MS) Bold"/>
                  <a:cs typeface="Calibri (MS) Bold"/>
                  <a:sym typeface="Calibri (MS) Bold"/>
                </a:rPr>
                <a:t>2</a:t>
              </a:r>
            </a:p>
            <a:p>
              <a:pPr algn="ctr">
                <a:lnSpc>
                  <a:spcPts val="2063"/>
                </a:lnSpc>
              </a:pPr>
              <a:r>
                <a:rPr lang="en-US" sz="1719" b="true">
                  <a:solidFill>
                    <a:srgbClr val="FFFFFF"/>
                  </a:solidFill>
                  <a:latin typeface="Calibri (MS) Bold"/>
                  <a:ea typeface="Calibri (MS) Bold"/>
                  <a:cs typeface="Calibri (MS) Bold"/>
                  <a:sym typeface="Calibri (MS) Bold"/>
                </a:rPr>
                <a:t>Ketentuan regulasi</a:t>
              </a:r>
            </a:p>
          </p:txBody>
        </p:sp>
      </p:grpSp>
      <p:grpSp>
        <p:nvGrpSpPr>
          <p:cNvPr name="Group 91" id="91"/>
          <p:cNvGrpSpPr/>
          <p:nvPr/>
        </p:nvGrpSpPr>
        <p:grpSpPr>
          <a:xfrm rot="0">
            <a:off x="7546591" y="3696967"/>
            <a:ext cx="3167377" cy="3030217"/>
            <a:chOff x="0" y="0"/>
            <a:chExt cx="4223169" cy="4040289"/>
          </a:xfrm>
        </p:grpSpPr>
        <p:sp>
          <p:nvSpPr>
            <p:cNvPr name="Freeform 92" id="92"/>
            <p:cNvSpPr/>
            <p:nvPr/>
          </p:nvSpPr>
          <p:spPr>
            <a:xfrm flipH="false" flipV="false" rot="0">
              <a:off x="0" y="0"/>
              <a:ext cx="4223131" cy="4040251"/>
            </a:xfrm>
            <a:custGeom>
              <a:avLst/>
              <a:gdLst/>
              <a:ahLst/>
              <a:cxnLst/>
              <a:rect r="r" b="b" t="t" l="l"/>
              <a:pathLst>
                <a:path h="4040251" w="4223131">
                  <a:moveTo>
                    <a:pt x="0" y="323215"/>
                  </a:moveTo>
                  <a:cubicBezTo>
                    <a:pt x="0" y="144653"/>
                    <a:pt x="144653" y="0"/>
                    <a:pt x="323215" y="0"/>
                  </a:cubicBezTo>
                  <a:lnTo>
                    <a:pt x="3899916" y="0"/>
                  </a:lnTo>
                  <a:cubicBezTo>
                    <a:pt x="4078478" y="0"/>
                    <a:pt x="4223131" y="144653"/>
                    <a:pt x="4223131" y="323215"/>
                  </a:cubicBezTo>
                  <a:lnTo>
                    <a:pt x="4223131" y="3717036"/>
                  </a:lnTo>
                  <a:cubicBezTo>
                    <a:pt x="4223131" y="3895598"/>
                    <a:pt x="4078478" y="4040251"/>
                    <a:pt x="3899916" y="4040251"/>
                  </a:cubicBezTo>
                  <a:lnTo>
                    <a:pt x="323215" y="4040251"/>
                  </a:lnTo>
                  <a:cubicBezTo>
                    <a:pt x="144653" y="4040251"/>
                    <a:pt x="0" y="3895598"/>
                    <a:pt x="0" y="3717036"/>
                  </a:cubicBezTo>
                  <a:close/>
                </a:path>
              </a:pathLst>
            </a:custGeom>
            <a:solidFill>
              <a:srgbClr val="EAF8FA"/>
            </a:solidFill>
            <a:ln w="12700" cap="sq">
              <a:solidFill>
                <a:srgbClr val="CFE5E9"/>
              </a:solidFill>
              <a:prstDash val="solid"/>
              <a:miter/>
            </a:ln>
          </p:spPr>
          <p:txBody>
            <a:bodyPr/>
            <a:p/>
          </p:txBody>
        </p:sp>
        <p:sp>
          <p:nvSpPr>
            <p:cNvPr name="TextBox 93" id="93"/>
            <p:cNvSpPr txBox="true"/>
            <p:nvPr/>
          </p:nvSpPr>
          <p:spPr>
            <a:xfrm>
              <a:off x="0" y="-19050"/>
              <a:ext cx="4223169" cy="4059339"/>
            </a:xfrm>
            <a:prstGeom prst="rect">
              <a:avLst/>
            </a:prstGeom>
          </p:spPr>
          <p:txBody>
            <a:bodyPr anchor="t" rtlCol="false" tIns="50800" lIns="50800" bIns="50800" rIns="50800"/>
            <a:lstStyle/>
            <a:p>
              <a:pPr algn="l">
                <a:lnSpc>
                  <a:spcPts val="1860"/>
                </a:lnSpc>
              </a:pPr>
              <a:r>
                <a:rPr lang="en-US" sz="1550">
                  <a:solidFill>
                    <a:srgbClr val="14313B"/>
                  </a:solidFill>
                  <a:latin typeface="Calibri (MS)"/>
                  <a:ea typeface="Calibri (MS)"/>
                  <a:cs typeface="Calibri (MS)"/>
                  <a:sym typeface="Calibri (MS)"/>
                </a:rPr>
                <a:t>• Laju demolisi 0,05 (UU PPh)</a:t>
              </a:r>
            </a:p>
            <a:p>
              <a:pPr algn="l">
                <a:lnSpc>
                  <a:spcPts val="1860"/>
                </a:lnSpc>
              </a:pPr>
              <a:r>
                <a:rPr lang="en-US" sz="1550">
                  <a:solidFill>
                    <a:srgbClr val="14313B"/>
                  </a:solidFill>
                  <a:latin typeface="Calibri (MS)"/>
                  <a:ea typeface="Calibri (MS)"/>
                  <a:cs typeface="Calibri (MS)"/>
                  <a:sym typeface="Calibri (MS)"/>
                </a:rPr>
                <a:t>• Laju keluar TK 0,03 (PP 45/2015)</a:t>
              </a:r>
            </a:p>
          </p:txBody>
        </p:sp>
      </p:grpSp>
      <p:grpSp>
        <p:nvGrpSpPr>
          <p:cNvPr name="Group 94" id="94"/>
          <p:cNvGrpSpPr/>
          <p:nvPr/>
        </p:nvGrpSpPr>
        <p:grpSpPr>
          <a:xfrm rot="0">
            <a:off x="7546591" y="6805927"/>
            <a:ext cx="3167377" cy="1109977"/>
            <a:chOff x="0" y="0"/>
            <a:chExt cx="4223169" cy="1479969"/>
          </a:xfrm>
        </p:grpSpPr>
        <p:sp>
          <p:nvSpPr>
            <p:cNvPr name="Freeform 95" id="95"/>
            <p:cNvSpPr/>
            <p:nvPr/>
          </p:nvSpPr>
          <p:spPr>
            <a:xfrm flipH="false" flipV="false" rot="0">
              <a:off x="0" y="0"/>
              <a:ext cx="4223131" cy="1479931"/>
            </a:xfrm>
            <a:custGeom>
              <a:avLst/>
              <a:gdLst/>
              <a:ahLst/>
              <a:cxnLst/>
              <a:rect r="r" b="b" t="t" l="l"/>
              <a:pathLst>
                <a:path h="1479931" w="4223131">
                  <a:moveTo>
                    <a:pt x="0" y="118364"/>
                  </a:moveTo>
                  <a:cubicBezTo>
                    <a:pt x="0" y="52959"/>
                    <a:pt x="52959" y="0"/>
                    <a:pt x="118364" y="0"/>
                  </a:cubicBezTo>
                  <a:lnTo>
                    <a:pt x="4104767" y="0"/>
                  </a:lnTo>
                  <a:cubicBezTo>
                    <a:pt x="4170172" y="0"/>
                    <a:pt x="4223131" y="52959"/>
                    <a:pt x="4223131" y="118364"/>
                  </a:cubicBezTo>
                  <a:lnTo>
                    <a:pt x="4223131" y="1361567"/>
                  </a:lnTo>
                  <a:cubicBezTo>
                    <a:pt x="4223131" y="1426972"/>
                    <a:pt x="4170172" y="1479931"/>
                    <a:pt x="4104767" y="1479931"/>
                  </a:cubicBezTo>
                  <a:lnTo>
                    <a:pt x="118364" y="1479931"/>
                  </a:lnTo>
                  <a:cubicBezTo>
                    <a:pt x="52959" y="1479931"/>
                    <a:pt x="0" y="1426972"/>
                    <a:pt x="0" y="1361567"/>
                  </a:cubicBezTo>
                  <a:close/>
                </a:path>
              </a:pathLst>
            </a:custGeom>
            <a:solidFill>
              <a:srgbClr val="FFFFFF"/>
            </a:solidFill>
            <a:ln w="12700" cap="sq">
              <a:solidFill>
                <a:srgbClr val="CFE5E9"/>
              </a:solidFill>
              <a:prstDash val="solid"/>
              <a:miter/>
            </a:ln>
          </p:spPr>
          <p:txBody>
            <a:bodyPr/>
            <a:p/>
          </p:txBody>
        </p:sp>
        <p:sp>
          <p:nvSpPr>
            <p:cNvPr name="TextBox 96" id="96"/>
            <p:cNvSpPr txBox="true"/>
            <p:nvPr/>
          </p:nvSpPr>
          <p:spPr>
            <a:xfrm>
              <a:off x="0" y="-38100"/>
              <a:ext cx="4223169" cy="1518069"/>
            </a:xfrm>
            <a:prstGeom prst="rect">
              <a:avLst/>
            </a:prstGeom>
          </p:spPr>
          <p:txBody>
            <a:bodyPr anchor="t" rtlCol="false" tIns="50800" lIns="50800" bIns="50800" rIns="50800"/>
            <a:lstStyle/>
            <a:p>
              <a:pPr algn="l">
                <a:lnSpc>
                  <a:spcPts val="1727"/>
                </a:lnSpc>
              </a:pPr>
              <a:r>
                <a:rPr lang="en-US" sz="1439" b="true">
                  <a:solidFill>
                    <a:srgbClr val="0B5E6E"/>
                  </a:solidFill>
                  <a:latin typeface="Calibri (MS) Bold"/>
                  <a:ea typeface="Calibri (MS) Bold"/>
                  <a:cs typeface="Calibri (MS) Bold"/>
                  <a:sym typeface="Calibri (MS) Bold"/>
                </a:rPr>
                <a:t>Kalibrasi?</a:t>
              </a:r>
            </a:p>
            <a:p>
              <a:pPr algn="l">
                <a:lnSpc>
                  <a:spcPts val="1788"/>
                </a:lnSpc>
              </a:pPr>
              <a:r>
                <a:rPr lang="en-US" sz="1490">
                  <a:solidFill>
                    <a:srgbClr val="14313B"/>
                  </a:solidFill>
                  <a:latin typeface="Calibri (MS)"/>
                  <a:ea typeface="Calibri (MS)"/>
                  <a:cs typeface="Calibri (MS)"/>
                  <a:sym typeface="Calibri (MS)"/>
                </a:rPr>
                <a:t>Boleh (nilai pendekatan)</a:t>
              </a:r>
            </a:p>
          </p:txBody>
        </p:sp>
      </p:grpSp>
      <p:grpSp>
        <p:nvGrpSpPr>
          <p:cNvPr name="Group 97" id="97"/>
          <p:cNvGrpSpPr/>
          <p:nvPr/>
        </p:nvGrpSpPr>
        <p:grpSpPr>
          <a:xfrm rot="0">
            <a:off x="10917936" y="2286000"/>
            <a:ext cx="3154680" cy="1325880"/>
            <a:chOff x="0" y="0"/>
            <a:chExt cx="4206240" cy="1767840"/>
          </a:xfrm>
        </p:grpSpPr>
        <p:sp>
          <p:nvSpPr>
            <p:cNvPr name="Freeform 98" id="98"/>
            <p:cNvSpPr/>
            <p:nvPr/>
          </p:nvSpPr>
          <p:spPr>
            <a:xfrm flipH="false" flipV="false" rot="0">
              <a:off x="0" y="0"/>
              <a:ext cx="4206240" cy="1767840"/>
            </a:xfrm>
            <a:custGeom>
              <a:avLst/>
              <a:gdLst/>
              <a:ahLst/>
              <a:cxnLst/>
              <a:rect r="r" b="b" t="t" l="l"/>
              <a:pathLst>
                <a:path h="1767840" w="4206240">
                  <a:moveTo>
                    <a:pt x="0" y="141478"/>
                  </a:moveTo>
                  <a:cubicBezTo>
                    <a:pt x="0" y="63373"/>
                    <a:pt x="63373" y="0"/>
                    <a:pt x="141478" y="0"/>
                  </a:cubicBezTo>
                  <a:lnTo>
                    <a:pt x="4064762" y="0"/>
                  </a:lnTo>
                  <a:cubicBezTo>
                    <a:pt x="4142867" y="0"/>
                    <a:pt x="4206240" y="63373"/>
                    <a:pt x="4206240" y="141478"/>
                  </a:cubicBezTo>
                  <a:lnTo>
                    <a:pt x="4206240" y="1626362"/>
                  </a:lnTo>
                  <a:cubicBezTo>
                    <a:pt x="4206240" y="1704467"/>
                    <a:pt x="4142867" y="1767840"/>
                    <a:pt x="4064762" y="1767840"/>
                  </a:cubicBezTo>
                  <a:lnTo>
                    <a:pt x="141478" y="1767840"/>
                  </a:lnTo>
                  <a:cubicBezTo>
                    <a:pt x="63373" y="1767840"/>
                    <a:pt x="0" y="1704467"/>
                    <a:pt x="0" y="1626362"/>
                  </a:cubicBezTo>
                  <a:close/>
                </a:path>
              </a:pathLst>
            </a:custGeom>
            <a:solidFill>
              <a:srgbClr val="FFD23B"/>
            </a:solidFill>
          </p:spPr>
          <p:txBody>
            <a:bodyPr/>
            <a:p/>
          </p:txBody>
        </p:sp>
        <p:sp>
          <p:nvSpPr>
            <p:cNvPr name="TextBox 99" id="99"/>
            <p:cNvSpPr txBox="true"/>
            <p:nvPr/>
          </p:nvSpPr>
          <p:spPr>
            <a:xfrm>
              <a:off x="0" y="-76200"/>
              <a:ext cx="4206240" cy="1844040"/>
            </a:xfrm>
            <a:prstGeom prst="rect">
              <a:avLst/>
            </a:prstGeom>
          </p:spPr>
          <p:txBody>
            <a:bodyPr anchor="ctr" rtlCol="false" tIns="50800" lIns="50800" bIns="50800" rIns="50800"/>
            <a:lstStyle/>
            <a:p>
              <a:pPr algn="ctr">
                <a:lnSpc>
                  <a:spcPts val="4691"/>
                </a:lnSpc>
              </a:pPr>
              <a:r>
                <a:rPr lang="en-US" sz="3909" b="true">
                  <a:solidFill>
                    <a:srgbClr val="14313B"/>
                  </a:solidFill>
                  <a:latin typeface="Calibri (MS) Bold"/>
                  <a:ea typeface="Calibri (MS) Bold"/>
                  <a:cs typeface="Calibri (MS) Bold"/>
                  <a:sym typeface="Calibri (MS) Bold"/>
                </a:rPr>
                <a:t>8</a:t>
              </a:r>
            </a:p>
            <a:p>
              <a:pPr algn="ctr">
                <a:lnSpc>
                  <a:spcPts val="2063"/>
                </a:lnSpc>
              </a:pPr>
              <a:r>
                <a:rPr lang="en-US" sz="1719" b="true">
                  <a:solidFill>
                    <a:srgbClr val="14313B"/>
                  </a:solidFill>
                  <a:latin typeface="Calibri (MS) Bold"/>
                  <a:ea typeface="Calibri (MS) Bold"/>
                  <a:cs typeface="Calibri (MS) Bold"/>
                  <a:sym typeface="Calibri (MS) Bold"/>
                </a:rPr>
                <a:t>Asumsi pemodelan</a:t>
              </a:r>
            </a:p>
          </p:txBody>
        </p:sp>
      </p:grpSp>
      <p:grpSp>
        <p:nvGrpSpPr>
          <p:cNvPr name="Group 100" id="100"/>
          <p:cNvGrpSpPr/>
          <p:nvPr/>
        </p:nvGrpSpPr>
        <p:grpSpPr>
          <a:xfrm rot="0">
            <a:off x="10911583" y="3696967"/>
            <a:ext cx="3167377" cy="3030217"/>
            <a:chOff x="0" y="0"/>
            <a:chExt cx="4223169" cy="4040289"/>
          </a:xfrm>
        </p:grpSpPr>
        <p:sp>
          <p:nvSpPr>
            <p:cNvPr name="Freeform 101" id="101"/>
            <p:cNvSpPr/>
            <p:nvPr/>
          </p:nvSpPr>
          <p:spPr>
            <a:xfrm flipH="false" flipV="false" rot="0">
              <a:off x="0" y="0"/>
              <a:ext cx="4223131" cy="4040251"/>
            </a:xfrm>
            <a:custGeom>
              <a:avLst/>
              <a:gdLst/>
              <a:ahLst/>
              <a:cxnLst/>
              <a:rect r="r" b="b" t="t" l="l"/>
              <a:pathLst>
                <a:path h="4040251" w="4223131">
                  <a:moveTo>
                    <a:pt x="0" y="323215"/>
                  </a:moveTo>
                  <a:cubicBezTo>
                    <a:pt x="0" y="144653"/>
                    <a:pt x="144653" y="0"/>
                    <a:pt x="323215" y="0"/>
                  </a:cubicBezTo>
                  <a:lnTo>
                    <a:pt x="3899916" y="0"/>
                  </a:lnTo>
                  <a:cubicBezTo>
                    <a:pt x="4078478" y="0"/>
                    <a:pt x="4223131" y="144653"/>
                    <a:pt x="4223131" y="323215"/>
                  </a:cubicBezTo>
                  <a:lnTo>
                    <a:pt x="4223131" y="3717036"/>
                  </a:lnTo>
                  <a:cubicBezTo>
                    <a:pt x="4223131" y="3895598"/>
                    <a:pt x="4078478" y="4040251"/>
                    <a:pt x="3899916" y="4040251"/>
                  </a:cubicBezTo>
                  <a:lnTo>
                    <a:pt x="323215" y="4040251"/>
                  </a:lnTo>
                  <a:cubicBezTo>
                    <a:pt x="144653" y="4040251"/>
                    <a:pt x="0" y="3895598"/>
                    <a:pt x="0" y="3717036"/>
                  </a:cubicBezTo>
                  <a:close/>
                </a:path>
              </a:pathLst>
            </a:custGeom>
            <a:solidFill>
              <a:srgbClr val="EAF8FA"/>
            </a:solidFill>
            <a:ln w="12700" cap="sq">
              <a:solidFill>
                <a:srgbClr val="CFE5E9"/>
              </a:solidFill>
              <a:prstDash val="solid"/>
              <a:miter/>
            </a:ln>
          </p:spPr>
          <p:txBody>
            <a:bodyPr/>
            <a:p/>
          </p:txBody>
        </p:sp>
        <p:sp>
          <p:nvSpPr>
            <p:cNvPr name="TextBox 102" id="102"/>
            <p:cNvSpPr txBox="true"/>
            <p:nvPr/>
          </p:nvSpPr>
          <p:spPr>
            <a:xfrm>
              <a:off x="0" y="-19050"/>
              <a:ext cx="4223169" cy="4059339"/>
            </a:xfrm>
            <a:prstGeom prst="rect">
              <a:avLst/>
            </a:prstGeom>
          </p:spPr>
          <p:txBody>
            <a:bodyPr anchor="t" rtlCol="false" tIns="50800" lIns="50800" bIns="50800" rIns="50800"/>
            <a:lstStyle/>
            <a:p>
              <a:pPr algn="l">
                <a:lnSpc>
                  <a:spcPts val="1860"/>
                </a:lnSpc>
              </a:pPr>
              <a:r>
                <a:rPr lang="en-US" sz="1550">
                  <a:solidFill>
                    <a:srgbClr val="14313B"/>
                  </a:solidFill>
                  <a:latin typeface="Calibri (MS)"/>
                  <a:ea typeface="Calibri (MS)"/>
                  <a:cs typeface="Calibri (MS)"/>
                  <a:sym typeface="Calibri (MS)"/>
                </a:rPr>
                <a:t>• Bobot 0,40 / 0,35 / 0,25</a:t>
              </a:r>
            </a:p>
            <a:p>
              <a:pPr algn="l">
                <a:lnSpc>
                  <a:spcPts val="1860"/>
                </a:lnSpc>
              </a:pPr>
              <a:r>
                <a:rPr lang="en-US" sz="1550">
                  <a:solidFill>
                    <a:srgbClr val="14313B"/>
                  </a:solidFill>
                  <a:latin typeface="Calibri (MS)"/>
                  <a:ea typeface="Calibri (MS)"/>
                  <a:cs typeface="Calibri (MS)"/>
                  <a:sym typeface="Calibri (MS)"/>
                </a:rPr>
                <a:t>• Elastisitas 0,3 · batas 1,5</a:t>
              </a:r>
            </a:p>
            <a:p>
              <a:pPr algn="l">
                <a:lnSpc>
                  <a:spcPts val="1860"/>
                </a:lnSpc>
              </a:pPr>
              <a:r>
                <a:rPr lang="en-US" sz="1550">
                  <a:solidFill>
                    <a:srgbClr val="14313B"/>
                  </a:solidFill>
                  <a:latin typeface="Calibri (MS)"/>
                  <a:ea typeface="Calibri (MS)"/>
                  <a:cs typeface="Calibri (MS)"/>
                  <a:sym typeface="Calibri (MS)"/>
                </a:rPr>
                <a:t>• Lahan/hotel 0,1 · /ODTW 0,5</a:t>
              </a:r>
            </a:p>
            <a:p>
              <a:pPr algn="l">
                <a:lnSpc>
                  <a:spcPts val="1860"/>
                </a:lnSpc>
              </a:pPr>
              <a:r>
                <a:rPr lang="en-US" sz="1550">
                  <a:solidFill>
                    <a:srgbClr val="14313B"/>
                  </a:solidFill>
                  <a:latin typeface="Calibri (MS)"/>
                  <a:ea typeface="Calibri (MS)"/>
                  <a:cs typeface="Calibri (MS)"/>
                  <a:sym typeface="Calibri (MS)"/>
                </a:rPr>
                <a:t>• Waktu penyesuaian TK 1</a:t>
              </a:r>
            </a:p>
          </p:txBody>
        </p:sp>
      </p:grpSp>
      <p:grpSp>
        <p:nvGrpSpPr>
          <p:cNvPr name="Group 103" id="103"/>
          <p:cNvGrpSpPr/>
          <p:nvPr/>
        </p:nvGrpSpPr>
        <p:grpSpPr>
          <a:xfrm rot="0">
            <a:off x="10911583" y="6805927"/>
            <a:ext cx="3167377" cy="1109977"/>
            <a:chOff x="0" y="0"/>
            <a:chExt cx="4223169" cy="1479969"/>
          </a:xfrm>
        </p:grpSpPr>
        <p:sp>
          <p:nvSpPr>
            <p:cNvPr name="Freeform 104" id="104"/>
            <p:cNvSpPr/>
            <p:nvPr/>
          </p:nvSpPr>
          <p:spPr>
            <a:xfrm flipH="false" flipV="false" rot="0">
              <a:off x="0" y="0"/>
              <a:ext cx="4223131" cy="1479931"/>
            </a:xfrm>
            <a:custGeom>
              <a:avLst/>
              <a:gdLst/>
              <a:ahLst/>
              <a:cxnLst/>
              <a:rect r="r" b="b" t="t" l="l"/>
              <a:pathLst>
                <a:path h="1479931" w="4223131">
                  <a:moveTo>
                    <a:pt x="0" y="118364"/>
                  </a:moveTo>
                  <a:cubicBezTo>
                    <a:pt x="0" y="52959"/>
                    <a:pt x="52959" y="0"/>
                    <a:pt x="118364" y="0"/>
                  </a:cubicBezTo>
                  <a:lnTo>
                    <a:pt x="4104767" y="0"/>
                  </a:lnTo>
                  <a:cubicBezTo>
                    <a:pt x="4170172" y="0"/>
                    <a:pt x="4223131" y="52959"/>
                    <a:pt x="4223131" y="118364"/>
                  </a:cubicBezTo>
                  <a:lnTo>
                    <a:pt x="4223131" y="1361567"/>
                  </a:lnTo>
                  <a:cubicBezTo>
                    <a:pt x="4223131" y="1426972"/>
                    <a:pt x="4170172" y="1479931"/>
                    <a:pt x="4104767" y="1479931"/>
                  </a:cubicBezTo>
                  <a:lnTo>
                    <a:pt x="118364" y="1479931"/>
                  </a:lnTo>
                  <a:cubicBezTo>
                    <a:pt x="52959" y="1479931"/>
                    <a:pt x="0" y="1426972"/>
                    <a:pt x="0" y="1361567"/>
                  </a:cubicBezTo>
                  <a:close/>
                </a:path>
              </a:pathLst>
            </a:custGeom>
            <a:solidFill>
              <a:srgbClr val="FFFFFF"/>
            </a:solidFill>
            <a:ln w="12700" cap="sq">
              <a:solidFill>
                <a:srgbClr val="CFE5E9"/>
              </a:solidFill>
              <a:prstDash val="solid"/>
              <a:miter/>
            </a:ln>
          </p:spPr>
          <p:txBody>
            <a:bodyPr/>
            <a:p/>
          </p:txBody>
        </p:sp>
        <p:sp>
          <p:nvSpPr>
            <p:cNvPr name="TextBox 105" id="105"/>
            <p:cNvSpPr txBox="true"/>
            <p:nvPr/>
          </p:nvSpPr>
          <p:spPr>
            <a:xfrm>
              <a:off x="0" y="-38100"/>
              <a:ext cx="4223169" cy="1518069"/>
            </a:xfrm>
            <a:prstGeom prst="rect">
              <a:avLst/>
            </a:prstGeom>
          </p:spPr>
          <p:txBody>
            <a:bodyPr anchor="t" rtlCol="false" tIns="50800" lIns="50800" bIns="50800" rIns="50800"/>
            <a:lstStyle/>
            <a:p>
              <a:pPr algn="l">
                <a:lnSpc>
                  <a:spcPts val="1727"/>
                </a:lnSpc>
              </a:pPr>
              <a:r>
                <a:rPr lang="en-US" sz="1439" b="true">
                  <a:solidFill>
                    <a:srgbClr val="0B5E6E"/>
                  </a:solidFill>
                  <a:latin typeface="Calibri (MS) Bold"/>
                  <a:ea typeface="Calibri (MS) Bold"/>
                  <a:cs typeface="Calibri (MS) Bold"/>
                  <a:sym typeface="Calibri (MS) Bold"/>
                </a:rPr>
                <a:t>Kalibrasi?</a:t>
              </a:r>
            </a:p>
            <a:p>
              <a:pPr algn="l">
                <a:lnSpc>
                  <a:spcPts val="1788"/>
                </a:lnSpc>
              </a:pPr>
              <a:r>
                <a:rPr lang="en-US" sz="1490">
                  <a:solidFill>
                    <a:srgbClr val="14313B"/>
                  </a:solidFill>
                  <a:latin typeface="Calibri (MS)"/>
                  <a:ea typeface="Calibri (MS)"/>
                  <a:cs typeface="Calibri (MS)"/>
                  <a:sym typeface="Calibri (MS)"/>
                </a:rPr>
                <a:t>Diuji sensitivitas</a:t>
              </a:r>
            </a:p>
          </p:txBody>
        </p:sp>
      </p:grpSp>
      <p:grpSp>
        <p:nvGrpSpPr>
          <p:cNvPr name="Group 106" id="106"/>
          <p:cNvGrpSpPr/>
          <p:nvPr/>
        </p:nvGrpSpPr>
        <p:grpSpPr>
          <a:xfrm rot="0">
            <a:off x="14282928" y="2286000"/>
            <a:ext cx="3154680" cy="1325880"/>
            <a:chOff x="0" y="0"/>
            <a:chExt cx="4206240" cy="1767840"/>
          </a:xfrm>
        </p:grpSpPr>
        <p:sp>
          <p:nvSpPr>
            <p:cNvPr name="Freeform 107" id="107"/>
            <p:cNvSpPr/>
            <p:nvPr/>
          </p:nvSpPr>
          <p:spPr>
            <a:xfrm flipH="false" flipV="false" rot="0">
              <a:off x="0" y="0"/>
              <a:ext cx="4206240" cy="1767840"/>
            </a:xfrm>
            <a:custGeom>
              <a:avLst/>
              <a:gdLst/>
              <a:ahLst/>
              <a:cxnLst/>
              <a:rect r="r" b="b" t="t" l="l"/>
              <a:pathLst>
                <a:path h="1767840" w="4206240">
                  <a:moveTo>
                    <a:pt x="0" y="141478"/>
                  </a:moveTo>
                  <a:cubicBezTo>
                    <a:pt x="0" y="63373"/>
                    <a:pt x="63373" y="0"/>
                    <a:pt x="141478" y="0"/>
                  </a:cubicBezTo>
                  <a:lnTo>
                    <a:pt x="4064762" y="0"/>
                  </a:lnTo>
                  <a:cubicBezTo>
                    <a:pt x="4142867" y="0"/>
                    <a:pt x="4206240" y="63373"/>
                    <a:pt x="4206240" y="141478"/>
                  </a:cubicBezTo>
                  <a:lnTo>
                    <a:pt x="4206240" y="1626362"/>
                  </a:lnTo>
                  <a:cubicBezTo>
                    <a:pt x="4206240" y="1704467"/>
                    <a:pt x="4142867" y="1767840"/>
                    <a:pt x="4064762" y="1767840"/>
                  </a:cubicBezTo>
                  <a:lnTo>
                    <a:pt x="141478" y="1767840"/>
                  </a:lnTo>
                  <a:cubicBezTo>
                    <a:pt x="63373" y="1767840"/>
                    <a:pt x="0" y="1704467"/>
                    <a:pt x="0" y="1626362"/>
                  </a:cubicBezTo>
                  <a:close/>
                </a:path>
              </a:pathLst>
            </a:custGeom>
            <a:solidFill>
              <a:srgbClr val="8A99A1"/>
            </a:solidFill>
          </p:spPr>
          <p:txBody>
            <a:bodyPr/>
            <a:p/>
          </p:txBody>
        </p:sp>
        <p:sp>
          <p:nvSpPr>
            <p:cNvPr name="TextBox 108" id="108"/>
            <p:cNvSpPr txBox="true"/>
            <p:nvPr/>
          </p:nvSpPr>
          <p:spPr>
            <a:xfrm>
              <a:off x="0" y="-76200"/>
              <a:ext cx="4206240" cy="1844040"/>
            </a:xfrm>
            <a:prstGeom prst="rect">
              <a:avLst/>
            </a:prstGeom>
          </p:spPr>
          <p:txBody>
            <a:bodyPr anchor="ctr" rtlCol="false" tIns="50800" lIns="50800" bIns="50800" rIns="50800"/>
            <a:lstStyle/>
            <a:p>
              <a:pPr algn="ctr">
                <a:lnSpc>
                  <a:spcPts val="4691"/>
                </a:lnSpc>
              </a:pPr>
              <a:r>
                <a:rPr lang="en-US" sz="3909" b="true">
                  <a:solidFill>
                    <a:srgbClr val="FFFFFF"/>
                  </a:solidFill>
                  <a:latin typeface="Calibri (MS) Bold"/>
                  <a:ea typeface="Calibri (MS) Bold"/>
                  <a:cs typeface="Calibri (MS) Bold"/>
                  <a:sym typeface="Calibri (MS) Bold"/>
                </a:rPr>
                <a:t>6</a:t>
              </a:r>
            </a:p>
            <a:p>
              <a:pPr algn="ctr">
                <a:lnSpc>
                  <a:spcPts val="2063"/>
                </a:lnSpc>
              </a:pPr>
              <a:r>
                <a:rPr lang="en-US" sz="1719" b="true">
                  <a:solidFill>
                    <a:srgbClr val="FFFFFF"/>
                  </a:solidFill>
                  <a:latin typeface="Calibri (MS) Bold"/>
                  <a:ea typeface="Calibri (MS) Bold"/>
                  <a:cs typeface="Calibri (MS) Bold"/>
                  <a:sym typeface="Calibri (MS) Bold"/>
                </a:rPr>
                <a:t>Normalisasi &amp; kebijakan</a:t>
              </a:r>
            </a:p>
          </p:txBody>
        </p:sp>
      </p:grpSp>
      <p:grpSp>
        <p:nvGrpSpPr>
          <p:cNvPr name="Group 109" id="109"/>
          <p:cNvGrpSpPr/>
          <p:nvPr/>
        </p:nvGrpSpPr>
        <p:grpSpPr>
          <a:xfrm rot="0">
            <a:off x="14276575" y="3696967"/>
            <a:ext cx="3167377" cy="3030217"/>
            <a:chOff x="0" y="0"/>
            <a:chExt cx="4223169" cy="4040289"/>
          </a:xfrm>
        </p:grpSpPr>
        <p:sp>
          <p:nvSpPr>
            <p:cNvPr name="Freeform 110" id="110"/>
            <p:cNvSpPr/>
            <p:nvPr/>
          </p:nvSpPr>
          <p:spPr>
            <a:xfrm flipH="false" flipV="false" rot="0">
              <a:off x="0" y="0"/>
              <a:ext cx="4223131" cy="4040251"/>
            </a:xfrm>
            <a:custGeom>
              <a:avLst/>
              <a:gdLst/>
              <a:ahLst/>
              <a:cxnLst/>
              <a:rect r="r" b="b" t="t" l="l"/>
              <a:pathLst>
                <a:path h="4040251" w="4223131">
                  <a:moveTo>
                    <a:pt x="0" y="323215"/>
                  </a:moveTo>
                  <a:cubicBezTo>
                    <a:pt x="0" y="144653"/>
                    <a:pt x="144653" y="0"/>
                    <a:pt x="323215" y="0"/>
                  </a:cubicBezTo>
                  <a:lnTo>
                    <a:pt x="3899916" y="0"/>
                  </a:lnTo>
                  <a:cubicBezTo>
                    <a:pt x="4078478" y="0"/>
                    <a:pt x="4223131" y="144653"/>
                    <a:pt x="4223131" y="323215"/>
                  </a:cubicBezTo>
                  <a:lnTo>
                    <a:pt x="4223131" y="3717036"/>
                  </a:lnTo>
                  <a:cubicBezTo>
                    <a:pt x="4223131" y="3895598"/>
                    <a:pt x="4078478" y="4040251"/>
                    <a:pt x="3899916" y="4040251"/>
                  </a:cubicBezTo>
                  <a:lnTo>
                    <a:pt x="323215" y="4040251"/>
                  </a:lnTo>
                  <a:cubicBezTo>
                    <a:pt x="144653" y="4040251"/>
                    <a:pt x="0" y="3895598"/>
                    <a:pt x="0" y="3717036"/>
                  </a:cubicBezTo>
                  <a:close/>
                </a:path>
              </a:pathLst>
            </a:custGeom>
            <a:solidFill>
              <a:srgbClr val="EAF8FA"/>
            </a:solidFill>
            <a:ln w="12700" cap="sq">
              <a:solidFill>
                <a:srgbClr val="CFE5E9"/>
              </a:solidFill>
              <a:prstDash val="solid"/>
              <a:miter/>
            </a:ln>
          </p:spPr>
          <p:txBody>
            <a:bodyPr/>
            <a:p/>
          </p:txBody>
        </p:sp>
        <p:sp>
          <p:nvSpPr>
            <p:cNvPr name="TextBox 111" id="111"/>
            <p:cNvSpPr txBox="true"/>
            <p:nvPr/>
          </p:nvSpPr>
          <p:spPr>
            <a:xfrm>
              <a:off x="0" y="-19050"/>
              <a:ext cx="4223169" cy="4059339"/>
            </a:xfrm>
            <a:prstGeom prst="rect">
              <a:avLst/>
            </a:prstGeom>
          </p:spPr>
          <p:txBody>
            <a:bodyPr anchor="t" rtlCol="false" tIns="50800" lIns="50800" bIns="50800" rIns="50800"/>
            <a:lstStyle/>
            <a:p>
              <a:pPr algn="l">
                <a:lnSpc>
                  <a:spcPts val="1860"/>
                </a:lnSpc>
              </a:pPr>
              <a:r>
                <a:rPr lang="en-US" sz="1550">
                  <a:solidFill>
                    <a:srgbClr val="14313B"/>
                  </a:solidFill>
                  <a:latin typeface="Calibri (MS)"/>
                  <a:ea typeface="Calibri (MS)"/>
                  <a:cs typeface="Calibri (MS)"/>
                  <a:sym typeface="Calibri (MS)"/>
                </a:rPr>
                <a:t>• ODTW ref 201</a:t>
              </a:r>
            </a:p>
            <a:p>
              <a:pPr algn="l">
                <a:lnSpc>
                  <a:spcPts val="1860"/>
                </a:lnSpc>
              </a:pPr>
              <a:r>
                <a:rPr lang="en-US" sz="1550">
                  <a:solidFill>
                    <a:srgbClr val="14313B"/>
                  </a:solidFill>
                  <a:latin typeface="Calibri (MS)"/>
                  <a:ea typeface="Calibri (MS)"/>
                  <a:cs typeface="Calibri (MS)"/>
                  <a:sym typeface="Calibri (MS)"/>
                </a:rPr>
                <a:t>• Kepadatan ref 128,363</a:t>
              </a:r>
            </a:p>
            <a:p>
              <a:pPr algn="l">
                <a:lnSpc>
                  <a:spcPts val="1860"/>
                </a:lnSpc>
              </a:pPr>
              <a:r>
                <a:rPr lang="en-US" sz="1550">
                  <a:solidFill>
                    <a:srgbClr val="14313B"/>
                  </a:solidFill>
                  <a:latin typeface="Calibri (MS)"/>
                  <a:ea typeface="Calibri (MS)"/>
                  <a:cs typeface="Calibri (MS)"/>
                  <a:sym typeface="Calibri (MS)"/>
                </a:rPr>
                <a:t>• RDDL ref 0,826425</a:t>
              </a:r>
            </a:p>
            <a:p>
              <a:pPr algn="l">
                <a:lnSpc>
                  <a:spcPts val="1860"/>
                </a:lnSpc>
              </a:pPr>
              <a:r>
                <a:rPr lang="en-US" sz="1550">
                  <a:solidFill>
                    <a:srgbClr val="14313B"/>
                  </a:solidFill>
                  <a:latin typeface="Calibri (MS)"/>
                  <a:ea typeface="Calibri (MS)"/>
                  <a:cs typeface="Calibri (MS)"/>
                  <a:sym typeface="Calibri (MS)"/>
                </a:rPr>
                <a:t>• Insentif &amp; Konservasi = 0</a:t>
              </a:r>
            </a:p>
          </p:txBody>
        </p:sp>
      </p:grpSp>
      <p:grpSp>
        <p:nvGrpSpPr>
          <p:cNvPr name="Group 112" id="112"/>
          <p:cNvGrpSpPr/>
          <p:nvPr/>
        </p:nvGrpSpPr>
        <p:grpSpPr>
          <a:xfrm rot="0">
            <a:off x="14276575" y="6805927"/>
            <a:ext cx="3167377" cy="1109977"/>
            <a:chOff x="0" y="0"/>
            <a:chExt cx="4223169" cy="1479969"/>
          </a:xfrm>
        </p:grpSpPr>
        <p:sp>
          <p:nvSpPr>
            <p:cNvPr name="Freeform 113" id="113"/>
            <p:cNvSpPr/>
            <p:nvPr/>
          </p:nvSpPr>
          <p:spPr>
            <a:xfrm flipH="false" flipV="false" rot="0">
              <a:off x="0" y="0"/>
              <a:ext cx="4223131" cy="1479931"/>
            </a:xfrm>
            <a:custGeom>
              <a:avLst/>
              <a:gdLst/>
              <a:ahLst/>
              <a:cxnLst/>
              <a:rect r="r" b="b" t="t" l="l"/>
              <a:pathLst>
                <a:path h="1479931" w="4223131">
                  <a:moveTo>
                    <a:pt x="0" y="118364"/>
                  </a:moveTo>
                  <a:cubicBezTo>
                    <a:pt x="0" y="52959"/>
                    <a:pt x="52959" y="0"/>
                    <a:pt x="118364" y="0"/>
                  </a:cubicBezTo>
                  <a:lnTo>
                    <a:pt x="4104767" y="0"/>
                  </a:lnTo>
                  <a:cubicBezTo>
                    <a:pt x="4170172" y="0"/>
                    <a:pt x="4223131" y="52959"/>
                    <a:pt x="4223131" y="118364"/>
                  </a:cubicBezTo>
                  <a:lnTo>
                    <a:pt x="4223131" y="1361567"/>
                  </a:lnTo>
                  <a:cubicBezTo>
                    <a:pt x="4223131" y="1426972"/>
                    <a:pt x="4170172" y="1479931"/>
                    <a:pt x="4104767" y="1479931"/>
                  </a:cubicBezTo>
                  <a:lnTo>
                    <a:pt x="118364" y="1479931"/>
                  </a:lnTo>
                  <a:cubicBezTo>
                    <a:pt x="52959" y="1479931"/>
                    <a:pt x="0" y="1426972"/>
                    <a:pt x="0" y="1361567"/>
                  </a:cubicBezTo>
                  <a:close/>
                </a:path>
              </a:pathLst>
            </a:custGeom>
            <a:solidFill>
              <a:srgbClr val="FFFFFF"/>
            </a:solidFill>
            <a:ln w="12700" cap="sq">
              <a:solidFill>
                <a:srgbClr val="CFE5E9"/>
              </a:solidFill>
              <a:prstDash val="solid"/>
              <a:miter/>
            </a:ln>
          </p:spPr>
          <p:txBody>
            <a:bodyPr/>
            <a:p/>
          </p:txBody>
        </p:sp>
        <p:sp>
          <p:nvSpPr>
            <p:cNvPr name="TextBox 114" id="114"/>
            <p:cNvSpPr txBox="true"/>
            <p:nvPr/>
          </p:nvSpPr>
          <p:spPr>
            <a:xfrm>
              <a:off x="0" y="-38100"/>
              <a:ext cx="4223169" cy="1518069"/>
            </a:xfrm>
            <a:prstGeom prst="rect">
              <a:avLst/>
            </a:prstGeom>
          </p:spPr>
          <p:txBody>
            <a:bodyPr anchor="t" rtlCol="false" tIns="50800" lIns="50800" bIns="50800" rIns="50800"/>
            <a:lstStyle/>
            <a:p>
              <a:pPr algn="l">
                <a:lnSpc>
                  <a:spcPts val="1727"/>
                </a:lnSpc>
              </a:pPr>
              <a:r>
                <a:rPr lang="en-US" sz="1439" b="true">
                  <a:solidFill>
                    <a:srgbClr val="0B5E6E"/>
                  </a:solidFill>
                  <a:latin typeface="Calibri (MS) Bold"/>
                  <a:ea typeface="Calibri (MS) Bold"/>
                  <a:cs typeface="Calibri (MS) Bold"/>
                  <a:sym typeface="Calibri (MS) Bold"/>
                </a:rPr>
                <a:t>Kalibrasi?</a:t>
              </a:r>
            </a:p>
            <a:p>
              <a:pPr algn="l">
                <a:lnSpc>
                  <a:spcPts val="1788"/>
                </a:lnSpc>
              </a:pPr>
              <a:r>
                <a:rPr lang="en-US" sz="1490">
                  <a:solidFill>
                    <a:srgbClr val="14313B"/>
                  </a:solidFill>
                  <a:latin typeface="Calibri (MS)"/>
                  <a:ea typeface="Calibri (MS)"/>
                  <a:cs typeface="Calibri (MS)"/>
                  <a:sym typeface="Calibri (MS)"/>
                </a:rPr>
                <a:t>Tidak dikalibrasi</a:t>
              </a:r>
            </a:p>
          </p:txBody>
        </p:sp>
      </p:grpSp>
      <p:grpSp>
        <p:nvGrpSpPr>
          <p:cNvPr name="Group 115" id="115"/>
          <p:cNvGrpSpPr/>
          <p:nvPr/>
        </p:nvGrpSpPr>
        <p:grpSpPr>
          <a:xfrm rot="0">
            <a:off x="816607" y="8086087"/>
            <a:ext cx="16654777" cy="927097"/>
            <a:chOff x="0" y="0"/>
            <a:chExt cx="22206369" cy="1236129"/>
          </a:xfrm>
        </p:grpSpPr>
        <p:sp>
          <p:nvSpPr>
            <p:cNvPr name="Freeform 116" id="116"/>
            <p:cNvSpPr/>
            <p:nvPr/>
          </p:nvSpPr>
          <p:spPr>
            <a:xfrm flipH="false" flipV="false" rot="0">
              <a:off x="0" y="0"/>
              <a:ext cx="22206458" cy="1236218"/>
            </a:xfrm>
            <a:custGeom>
              <a:avLst/>
              <a:gdLst/>
              <a:ahLst/>
              <a:cxnLst/>
              <a:rect r="r" b="b" t="t" l="l"/>
              <a:pathLst>
                <a:path h="1236218" w="22206458">
                  <a:moveTo>
                    <a:pt x="0" y="98933"/>
                  </a:moveTo>
                  <a:cubicBezTo>
                    <a:pt x="0" y="44323"/>
                    <a:pt x="44323" y="0"/>
                    <a:pt x="98933" y="0"/>
                  </a:cubicBezTo>
                  <a:lnTo>
                    <a:pt x="22107525" y="0"/>
                  </a:lnTo>
                  <a:cubicBezTo>
                    <a:pt x="22162136" y="0"/>
                    <a:pt x="22206458" y="44323"/>
                    <a:pt x="22206458" y="98933"/>
                  </a:cubicBezTo>
                  <a:lnTo>
                    <a:pt x="22206458" y="1137285"/>
                  </a:lnTo>
                  <a:cubicBezTo>
                    <a:pt x="22206458" y="1191895"/>
                    <a:pt x="22162136" y="1236218"/>
                    <a:pt x="22107525" y="1236218"/>
                  </a:cubicBezTo>
                  <a:lnTo>
                    <a:pt x="98933" y="1236218"/>
                  </a:lnTo>
                  <a:cubicBezTo>
                    <a:pt x="44323" y="1236091"/>
                    <a:pt x="0" y="1191895"/>
                    <a:pt x="0" y="1137285"/>
                  </a:cubicBezTo>
                  <a:close/>
                </a:path>
              </a:pathLst>
            </a:custGeom>
            <a:solidFill>
              <a:srgbClr val="FFF1BF"/>
            </a:solidFill>
            <a:ln w="12700" cap="sq">
              <a:solidFill>
                <a:srgbClr val="FFD23B"/>
              </a:solidFill>
              <a:prstDash val="solid"/>
              <a:miter/>
            </a:ln>
          </p:spPr>
          <p:txBody>
            <a:bodyPr/>
            <a:p/>
          </p:txBody>
        </p:sp>
        <p:sp>
          <p:nvSpPr>
            <p:cNvPr name="TextBox 117" id="117"/>
            <p:cNvSpPr txBox="true"/>
            <p:nvPr/>
          </p:nvSpPr>
          <p:spPr>
            <a:xfrm>
              <a:off x="0" y="-38100"/>
              <a:ext cx="22206369" cy="127422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Status sumber ditetapkan sejak awal dan menentukan parameter mana yang boleh diubah; ketidakpastian dibawa sebagai rentang ke kalibrasi dan sensitivitas.</a:t>
              </a:r>
            </a:p>
          </p:txBody>
        </p:sp>
      </p:grpSp>
      <p:grpSp>
        <p:nvGrpSpPr>
          <p:cNvPr name="Group 118" id="118"/>
          <p:cNvGrpSpPr/>
          <p:nvPr/>
        </p:nvGrpSpPr>
        <p:grpSpPr>
          <a:xfrm rot="0">
            <a:off x="16047720" y="9646920"/>
            <a:ext cx="420624" cy="420624"/>
            <a:chOff x="0" y="0"/>
            <a:chExt cx="560832" cy="560832"/>
          </a:xfrm>
        </p:grpSpPr>
        <p:sp>
          <p:nvSpPr>
            <p:cNvPr name="Freeform 119" id="119"/>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20" id="120"/>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Penurunan Nilai Parameter</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Contoh perhitungan parameter: berasal dari data, bukan ditebak</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39</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2C · Parameterisasi</a:t>
              </a:r>
            </a:p>
          </p:txBody>
        </p:sp>
      </p:grpSp>
      <p:grpSp>
        <p:nvGrpSpPr>
          <p:cNvPr name="Group 70" id="70"/>
          <p:cNvGrpSpPr/>
          <p:nvPr/>
        </p:nvGrpSpPr>
        <p:grpSpPr>
          <a:xfrm rot="0">
            <a:off x="816607" y="2279647"/>
            <a:ext cx="8242297" cy="2801617"/>
            <a:chOff x="0" y="0"/>
            <a:chExt cx="10989729" cy="3735489"/>
          </a:xfrm>
        </p:grpSpPr>
        <p:sp>
          <p:nvSpPr>
            <p:cNvPr name="Freeform 71" id="71"/>
            <p:cNvSpPr/>
            <p:nvPr/>
          </p:nvSpPr>
          <p:spPr>
            <a:xfrm flipH="false" flipV="false" rot="0">
              <a:off x="0" y="0"/>
              <a:ext cx="10989691" cy="3735451"/>
            </a:xfrm>
            <a:custGeom>
              <a:avLst/>
              <a:gdLst/>
              <a:ahLst/>
              <a:cxnLst/>
              <a:rect r="r" b="b" t="t" l="l"/>
              <a:pathLst>
                <a:path h="3735451" w="10989691">
                  <a:moveTo>
                    <a:pt x="0" y="298831"/>
                  </a:moveTo>
                  <a:cubicBezTo>
                    <a:pt x="0" y="133858"/>
                    <a:pt x="133858" y="0"/>
                    <a:pt x="298831" y="0"/>
                  </a:cubicBezTo>
                  <a:lnTo>
                    <a:pt x="10690860" y="0"/>
                  </a:lnTo>
                  <a:cubicBezTo>
                    <a:pt x="10855960" y="0"/>
                    <a:pt x="10989691" y="133858"/>
                    <a:pt x="10989691" y="298831"/>
                  </a:cubicBezTo>
                  <a:lnTo>
                    <a:pt x="10989691" y="3436620"/>
                  </a:lnTo>
                  <a:cubicBezTo>
                    <a:pt x="10989691" y="3601720"/>
                    <a:pt x="10855833" y="3735451"/>
                    <a:pt x="10690860" y="3735451"/>
                  </a:cubicBezTo>
                  <a:lnTo>
                    <a:pt x="298831" y="3735451"/>
                  </a:lnTo>
                  <a:cubicBezTo>
                    <a:pt x="133858" y="3735451"/>
                    <a:pt x="0" y="3601720"/>
                    <a:pt x="0" y="3436620"/>
                  </a:cubicBezTo>
                  <a:close/>
                </a:path>
              </a:pathLst>
            </a:custGeom>
            <a:solidFill>
              <a:srgbClr val="EAF8FA"/>
            </a:solidFill>
            <a:ln w="12700" cap="sq">
              <a:solidFill>
                <a:srgbClr val="CFE5E9"/>
              </a:solidFill>
              <a:prstDash val="solid"/>
              <a:miter/>
            </a:ln>
          </p:spPr>
          <p:txBody>
            <a:bodyPr/>
            <a:p/>
          </p:txBody>
        </p:sp>
        <p:sp>
          <p:nvSpPr>
            <p:cNvPr name="TextBox 72" id="72"/>
            <p:cNvSpPr txBox="true"/>
            <p:nvPr/>
          </p:nvSpPr>
          <p:spPr>
            <a:xfrm>
              <a:off x="0" y="-38100"/>
              <a:ext cx="10989729" cy="3773589"/>
            </a:xfrm>
            <a:prstGeom prst="rect">
              <a:avLst/>
            </a:prstGeom>
          </p:spPr>
          <p:txBody>
            <a:bodyPr anchor="t" rtlCol="false" tIns="50800" lIns="50800" bIns="50800" rIns="50800"/>
            <a:lstStyle/>
            <a:p>
              <a:pPr algn="l">
                <a:lnSpc>
                  <a:spcPts val="2484"/>
                </a:lnSpc>
              </a:pPr>
              <a:r>
                <a:rPr lang="en-US" sz="2070" b="true">
                  <a:solidFill>
                    <a:srgbClr val="0B5E6E"/>
                  </a:solidFill>
                  <a:latin typeface="Calibri (MS) Bold"/>
                  <a:ea typeface="Calibri (MS) Bold"/>
                  <a:cs typeface="Calibri (MS) Bold"/>
                  <a:sym typeface="Calibri (MS) Bold"/>
                </a:rPr>
                <a:t>Laju Pertumbuhan Eksternal &amp; Penurunan Dasar</a:t>
              </a:r>
            </a:p>
            <a:p>
              <a:pPr algn="l">
                <a:lnSpc>
                  <a:spcPts val="2206"/>
                </a:lnSpc>
              </a:pPr>
              <a:r>
                <a:rPr lang="en-US" sz="1839">
                  <a:solidFill>
                    <a:srgbClr val="14313B"/>
                  </a:solidFill>
                  <a:latin typeface="Calibri (MS)"/>
                  <a:ea typeface="Calibri (MS)"/>
                  <a:cs typeface="Calibri (MS)"/>
                  <a:sym typeface="Calibri (MS)"/>
                </a:rPr>
                <a:t>LPE = g(2024→2025) ÷ (Daya Tarik 2024 − 0,75)</a:t>
              </a:r>
            </a:p>
            <a:p>
              <a:pPr algn="l">
                <a:lnSpc>
                  <a:spcPts val="2206"/>
                </a:lnSpc>
              </a:pPr>
              <a:r>
                <a:rPr lang="en-US" sz="1839">
                  <a:solidFill>
                    <a:srgbClr val="14313B"/>
                  </a:solidFill>
                  <a:latin typeface="Calibri (MS)"/>
                  <a:ea typeface="Calibri (MS)"/>
                  <a:cs typeface="Calibri (MS)"/>
                  <a:sym typeface="Calibri (MS)"/>
                </a:rPr>
                <a:t>= 0,06716 ÷ (0,99223 − 0,75) = 0,27726</a:t>
              </a:r>
            </a:p>
            <a:p>
              <a:pPr algn="l">
                <a:lnSpc>
                  <a:spcPts val="2206"/>
                </a:lnSpc>
              </a:pPr>
              <a:r>
                <a:rPr lang="en-US" sz="1839">
                  <a:solidFill>
                    <a:srgbClr val="14313B"/>
                  </a:solidFill>
                  <a:latin typeface="Calibri (MS)"/>
                  <a:ea typeface="Calibri (MS)"/>
                  <a:cs typeface="Calibri (MS)"/>
                  <a:sym typeface="Calibri (MS)"/>
                </a:rPr>
                <a:t>LPD = 0,75 × LPE = 0,207945</a:t>
              </a:r>
            </a:p>
            <a:p>
              <a:pPr algn="l">
                <a:lnSpc>
                  <a:spcPts val="2206"/>
                </a:lnSpc>
              </a:pPr>
              <a:r>
                <a:rPr lang="en-US" sz="1839">
                  <a:solidFill>
                    <a:srgbClr val="14313B"/>
                  </a:solidFill>
                  <a:latin typeface="Calibri (MS)"/>
                  <a:ea typeface="Calibri (MS)"/>
                  <a:cs typeface="Calibri (MS)"/>
                  <a:sym typeface="Calibri (MS)"/>
                </a:rPr>
                <a:t>Euler: perubahan 2024→2025 ditentukan Daya Tarik 2024</a:t>
              </a:r>
            </a:p>
          </p:txBody>
        </p:sp>
      </p:grpSp>
      <p:grpSp>
        <p:nvGrpSpPr>
          <p:cNvPr name="Group 73" id="73"/>
          <p:cNvGrpSpPr/>
          <p:nvPr/>
        </p:nvGrpSpPr>
        <p:grpSpPr>
          <a:xfrm rot="0">
            <a:off x="9229087" y="2279647"/>
            <a:ext cx="8242297" cy="2801617"/>
            <a:chOff x="0" y="0"/>
            <a:chExt cx="10989729" cy="3735489"/>
          </a:xfrm>
        </p:grpSpPr>
        <p:sp>
          <p:nvSpPr>
            <p:cNvPr name="Freeform 74" id="74"/>
            <p:cNvSpPr/>
            <p:nvPr/>
          </p:nvSpPr>
          <p:spPr>
            <a:xfrm flipH="false" flipV="false" rot="0">
              <a:off x="0" y="0"/>
              <a:ext cx="10989691" cy="3735451"/>
            </a:xfrm>
            <a:custGeom>
              <a:avLst/>
              <a:gdLst/>
              <a:ahLst/>
              <a:cxnLst/>
              <a:rect r="r" b="b" t="t" l="l"/>
              <a:pathLst>
                <a:path h="3735451" w="10989691">
                  <a:moveTo>
                    <a:pt x="0" y="298831"/>
                  </a:moveTo>
                  <a:cubicBezTo>
                    <a:pt x="0" y="133858"/>
                    <a:pt x="133858" y="0"/>
                    <a:pt x="298831" y="0"/>
                  </a:cubicBezTo>
                  <a:lnTo>
                    <a:pt x="10690860" y="0"/>
                  </a:lnTo>
                  <a:cubicBezTo>
                    <a:pt x="10855960" y="0"/>
                    <a:pt x="10989691" y="133858"/>
                    <a:pt x="10989691" y="298831"/>
                  </a:cubicBezTo>
                  <a:lnTo>
                    <a:pt x="10989691" y="3436620"/>
                  </a:lnTo>
                  <a:cubicBezTo>
                    <a:pt x="10989691" y="3601720"/>
                    <a:pt x="10855833" y="3735451"/>
                    <a:pt x="10690860" y="3735451"/>
                  </a:cubicBezTo>
                  <a:lnTo>
                    <a:pt x="298831" y="3735451"/>
                  </a:lnTo>
                  <a:cubicBezTo>
                    <a:pt x="133858" y="3735451"/>
                    <a:pt x="0" y="3601720"/>
                    <a:pt x="0" y="3436620"/>
                  </a:cubicBezTo>
                  <a:close/>
                </a:path>
              </a:pathLst>
            </a:custGeom>
            <a:solidFill>
              <a:srgbClr val="EAF8FA"/>
            </a:solidFill>
            <a:ln w="12700" cap="sq">
              <a:solidFill>
                <a:srgbClr val="CFE5E9"/>
              </a:solidFill>
              <a:prstDash val="solid"/>
              <a:miter/>
            </a:ln>
          </p:spPr>
          <p:txBody>
            <a:bodyPr/>
            <a:p/>
          </p:txBody>
        </p:sp>
        <p:sp>
          <p:nvSpPr>
            <p:cNvPr name="TextBox 75" id="75"/>
            <p:cNvSpPr txBox="true"/>
            <p:nvPr/>
          </p:nvSpPr>
          <p:spPr>
            <a:xfrm>
              <a:off x="0" y="-38100"/>
              <a:ext cx="10989729" cy="3773589"/>
            </a:xfrm>
            <a:prstGeom prst="rect">
              <a:avLst/>
            </a:prstGeom>
          </p:spPr>
          <p:txBody>
            <a:bodyPr anchor="t" rtlCol="false" tIns="50800" lIns="50800" bIns="50800" rIns="50800"/>
            <a:lstStyle/>
            <a:p>
              <a:pPr algn="l">
                <a:lnSpc>
                  <a:spcPts val="2484"/>
                </a:lnSpc>
              </a:pPr>
              <a:r>
                <a:rPr lang="en-US" sz="2070" b="true">
                  <a:solidFill>
                    <a:srgbClr val="0B5E6E"/>
                  </a:solidFill>
                  <a:latin typeface="Calibri (MS) Bold"/>
                  <a:ea typeface="Calibri (MS) Bold"/>
                  <a:cs typeface="Calibri (MS) Bold"/>
                  <a:sym typeface="Calibri (MS) Bold"/>
                </a:rPr>
                <a:t>Sensitivitas konstruksi terhadap TPK</a:t>
              </a:r>
            </a:p>
            <a:p>
              <a:pPr algn="l">
                <a:lnSpc>
                  <a:spcPts val="2206"/>
                </a:lnSpc>
              </a:pPr>
              <a:r>
                <a:rPr lang="en-US" sz="1839">
                  <a:solidFill>
                    <a:srgbClr val="14313B"/>
                  </a:solidFill>
                  <a:latin typeface="Calibri (MS)"/>
                  <a:ea typeface="Calibri (MS)"/>
                  <a:cs typeface="Calibri (MS)"/>
                  <a:sym typeface="Calibri (MS)"/>
                </a:rPr>
                <a:t>Konstruksi (dihitung balik) = ΔHotel + 0,05 × Hotel(t−1)</a:t>
              </a:r>
            </a:p>
            <a:p>
              <a:pPr algn="l">
                <a:lnSpc>
                  <a:spcPts val="2206"/>
                </a:lnSpc>
              </a:pPr>
              <a:r>
                <a:rPr lang="en-US" sz="1839">
                  <a:solidFill>
                    <a:srgbClr val="14313B"/>
                  </a:solidFill>
                  <a:latin typeface="Calibri (MS)"/>
                  <a:ea typeface="Calibri (MS)"/>
                  <a:cs typeface="Calibri (MS)"/>
                  <a:sym typeface="Calibri (MS)"/>
                </a:rPr>
                <a:t>Σ 2016–2025 = 1.126 + 806,5 = 1.932,5 unit</a:t>
              </a:r>
            </a:p>
            <a:p>
              <a:pPr algn="l">
                <a:lnSpc>
                  <a:spcPts val="2206"/>
                </a:lnSpc>
              </a:pPr>
              <a:r>
                <a:rPr lang="en-US" sz="1839">
                  <a:solidFill>
                    <a:srgbClr val="14313B"/>
                  </a:solidFill>
                  <a:latin typeface="Calibri (MS)"/>
                  <a:ea typeface="Calibri (MS)"/>
                  <a:cs typeface="Calibri (MS)"/>
                  <a:sym typeface="Calibri (MS)"/>
                </a:rPr>
                <a:t>Σ Investasi × MAX(0; TPK − 0,275) = 835,19</a:t>
              </a:r>
            </a:p>
            <a:p>
              <a:pPr algn="l">
                <a:lnSpc>
                  <a:spcPts val="2206"/>
                </a:lnSpc>
              </a:pPr>
              <a:r>
                <a:rPr lang="en-US" sz="1839">
                  <a:solidFill>
                    <a:srgbClr val="14313B"/>
                  </a:solidFill>
                  <a:latin typeface="Calibri (MS)"/>
                  <a:ea typeface="Calibri (MS)"/>
                  <a:cs typeface="Calibri (MS)"/>
                  <a:sym typeface="Calibri (MS)"/>
                </a:rPr>
                <a:t>S = 1.932,5 ÷ 835,19 = 2,31385</a:t>
              </a:r>
            </a:p>
          </p:txBody>
        </p:sp>
      </p:grpSp>
      <p:grpSp>
        <p:nvGrpSpPr>
          <p:cNvPr name="Group 76" id="76"/>
          <p:cNvGrpSpPr/>
          <p:nvPr/>
        </p:nvGrpSpPr>
        <p:grpSpPr>
          <a:xfrm rot="0">
            <a:off x="816607" y="5251447"/>
            <a:ext cx="8242297" cy="2801617"/>
            <a:chOff x="0" y="0"/>
            <a:chExt cx="10989729" cy="3735489"/>
          </a:xfrm>
        </p:grpSpPr>
        <p:sp>
          <p:nvSpPr>
            <p:cNvPr name="Freeform 77" id="77"/>
            <p:cNvSpPr/>
            <p:nvPr/>
          </p:nvSpPr>
          <p:spPr>
            <a:xfrm flipH="false" flipV="false" rot="0">
              <a:off x="0" y="0"/>
              <a:ext cx="10989691" cy="3735451"/>
            </a:xfrm>
            <a:custGeom>
              <a:avLst/>
              <a:gdLst/>
              <a:ahLst/>
              <a:cxnLst/>
              <a:rect r="r" b="b" t="t" l="l"/>
              <a:pathLst>
                <a:path h="3735451" w="10989691">
                  <a:moveTo>
                    <a:pt x="0" y="298831"/>
                  </a:moveTo>
                  <a:cubicBezTo>
                    <a:pt x="0" y="133858"/>
                    <a:pt x="133858" y="0"/>
                    <a:pt x="298831" y="0"/>
                  </a:cubicBezTo>
                  <a:lnTo>
                    <a:pt x="10690860" y="0"/>
                  </a:lnTo>
                  <a:cubicBezTo>
                    <a:pt x="10855960" y="0"/>
                    <a:pt x="10989691" y="133858"/>
                    <a:pt x="10989691" y="298831"/>
                  </a:cubicBezTo>
                  <a:lnTo>
                    <a:pt x="10989691" y="3436620"/>
                  </a:lnTo>
                  <a:cubicBezTo>
                    <a:pt x="10989691" y="3601720"/>
                    <a:pt x="10855833" y="3735451"/>
                    <a:pt x="10690860" y="3735451"/>
                  </a:cubicBezTo>
                  <a:lnTo>
                    <a:pt x="298831" y="3735451"/>
                  </a:lnTo>
                  <a:cubicBezTo>
                    <a:pt x="133858" y="3735451"/>
                    <a:pt x="0" y="3601720"/>
                    <a:pt x="0" y="3436620"/>
                  </a:cubicBezTo>
                  <a:close/>
                </a:path>
              </a:pathLst>
            </a:custGeom>
            <a:solidFill>
              <a:srgbClr val="EAF8FA"/>
            </a:solidFill>
            <a:ln w="12700" cap="sq">
              <a:solidFill>
                <a:srgbClr val="CFE5E9"/>
              </a:solidFill>
              <a:prstDash val="solid"/>
              <a:miter/>
            </a:ln>
          </p:spPr>
          <p:txBody>
            <a:bodyPr/>
            <a:p/>
          </p:txBody>
        </p:sp>
        <p:sp>
          <p:nvSpPr>
            <p:cNvPr name="TextBox 78" id="78"/>
            <p:cNvSpPr txBox="true"/>
            <p:nvPr/>
          </p:nvSpPr>
          <p:spPr>
            <a:xfrm>
              <a:off x="0" y="-38100"/>
              <a:ext cx="10989729" cy="3773589"/>
            </a:xfrm>
            <a:prstGeom prst="rect">
              <a:avLst/>
            </a:prstGeom>
          </p:spPr>
          <p:txBody>
            <a:bodyPr anchor="t" rtlCol="false" tIns="50800" lIns="50800" bIns="50800" rIns="50800"/>
            <a:lstStyle/>
            <a:p>
              <a:pPr algn="l">
                <a:lnSpc>
                  <a:spcPts val="2484"/>
                </a:lnSpc>
              </a:pPr>
              <a:r>
                <a:rPr lang="en-US" sz="2070" b="true">
                  <a:solidFill>
                    <a:srgbClr val="0B5E6E"/>
                  </a:solidFill>
                  <a:latin typeface="Calibri (MS) Bold"/>
                  <a:ea typeface="Calibri (MS) Bold"/>
                  <a:cs typeface="Calibri (MS) Bold"/>
                  <a:sym typeface="Calibri (MS) Bold"/>
                </a:rPr>
                <a:t>Laju penutupan ODTW (populasi stabil)</a:t>
              </a:r>
            </a:p>
            <a:p>
              <a:pPr algn="l">
                <a:lnSpc>
                  <a:spcPts val="2206"/>
                </a:lnSpc>
              </a:pPr>
              <a:r>
                <a:rPr lang="en-US" sz="1839">
                  <a:solidFill>
                    <a:srgbClr val="14313B"/>
                  </a:solidFill>
                  <a:latin typeface="Calibri (MS)"/>
                  <a:ea typeface="Calibri (MS)"/>
                  <a:cs typeface="Calibri (MS)"/>
                  <a:sym typeface="Calibri (MS)"/>
                </a:rPr>
                <a:t>Porsi umur &gt; T = e^(−(d+g)T); T = 5, 10, 20 tahun</a:t>
              </a:r>
            </a:p>
            <a:p>
              <a:pPr algn="l">
                <a:lnSpc>
                  <a:spcPts val="2206"/>
                </a:lnSpc>
              </a:pPr>
              <a:r>
                <a:rPr lang="en-US" sz="1839">
                  <a:solidFill>
                    <a:srgbClr val="14313B"/>
                  </a:solidFill>
                  <a:latin typeface="Calibri (MS)"/>
                  <a:ea typeface="Calibri (MS)"/>
                  <a:cs typeface="Calibri (MS)"/>
                  <a:sym typeface="Calibri (MS)"/>
                </a:rPr>
                <a:t>(d+g) = 0,0617; 0,0785; 0,0694 → rata-rata 0,0699</a:t>
              </a:r>
            </a:p>
            <a:p>
              <a:pPr algn="l">
                <a:lnSpc>
                  <a:spcPts val="2206"/>
                </a:lnSpc>
              </a:pPr>
              <a:r>
                <a:rPr lang="en-US" sz="1839">
                  <a:solidFill>
                    <a:srgbClr val="14313B"/>
                  </a:solidFill>
                  <a:latin typeface="Calibri (MS)"/>
                  <a:ea typeface="Calibri (MS)"/>
                  <a:cs typeface="Calibri (MS)"/>
                  <a:sym typeface="Calibri (MS)"/>
                </a:rPr>
                <a:t>g ODTW 2015–2025 = 0,0199</a:t>
              </a:r>
            </a:p>
            <a:p>
              <a:pPr algn="l">
                <a:lnSpc>
                  <a:spcPts val="2206"/>
                </a:lnSpc>
              </a:pPr>
              <a:r>
                <a:rPr lang="en-US" sz="1839">
                  <a:solidFill>
                    <a:srgbClr val="14313B"/>
                  </a:solidFill>
                  <a:latin typeface="Calibri (MS)"/>
                  <a:ea typeface="Calibri (MS)"/>
                  <a:cs typeface="Calibri (MS)"/>
                  <a:sym typeface="Calibri (MS)"/>
                </a:rPr>
                <a:t>d = 0,0699 − 0,0199 = 0,04993</a:t>
              </a:r>
            </a:p>
          </p:txBody>
        </p:sp>
      </p:grpSp>
      <p:grpSp>
        <p:nvGrpSpPr>
          <p:cNvPr name="Group 79" id="79"/>
          <p:cNvGrpSpPr/>
          <p:nvPr/>
        </p:nvGrpSpPr>
        <p:grpSpPr>
          <a:xfrm rot="0">
            <a:off x="9229087" y="5251447"/>
            <a:ext cx="8242297" cy="2801617"/>
            <a:chOff x="0" y="0"/>
            <a:chExt cx="10989729" cy="3735489"/>
          </a:xfrm>
        </p:grpSpPr>
        <p:sp>
          <p:nvSpPr>
            <p:cNvPr name="Freeform 80" id="80"/>
            <p:cNvSpPr/>
            <p:nvPr/>
          </p:nvSpPr>
          <p:spPr>
            <a:xfrm flipH="false" flipV="false" rot="0">
              <a:off x="0" y="0"/>
              <a:ext cx="10989691" cy="3735451"/>
            </a:xfrm>
            <a:custGeom>
              <a:avLst/>
              <a:gdLst/>
              <a:ahLst/>
              <a:cxnLst/>
              <a:rect r="r" b="b" t="t" l="l"/>
              <a:pathLst>
                <a:path h="3735451" w="10989691">
                  <a:moveTo>
                    <a:pt x="0" y="298831"/>
                  </a:moveTo>
                  <a:cubicBezTo>
                    <a:pt x="0" y="133858"/>
                    <a:pt x="133858" y="0"/>
                    <a:pt x="298831" y="0"/>
                  </a:cubicBezTo>
                  <a:lnTo>
                    <a:pt x="10690860" y="0"/>
                  </a:lnTo>
                  <a:cubicBezTo>
                    <a:pt x="10855960" y="0"/>
                    <a:pt x="10989691" y="133858"/>
                    <a:pt x="10989691" y="298831"/>
                  </a:cubicBezTo>
                  <a:lnTo>
                    <a:pt x="10989691" y="3436620"/>
                  </a:lnTo>
                  <a:cubicBezTo>
                    <a:pt x="10989691" y="3601720"/>
                    <a:pt x="10855833" y="3735451"/>
                    <a:pt x="10690860" y="3735451"/>
                  </a:cubicBezTo>
                  <a:lnTo>
                    <a:pt x="298831" y="3735451"/>
                  </a:lnTo>
                  <a:cubicBezTo>
                    <a:pt x="133858" y="3735451"/>
                    <a:pt x="0" y="3601720"/>
                    <a:pt x="0" y="3436620"/>
                  </a:cubicBezTo>
                  <a:close/>
                </a:path>
              </a:pathLst>
            </a:custGeom>
            <a:solidFill>
              <a:srgbClr val="EAF8FA"/>
            </a:solidFill>
            <a:ln w="12700" cap="sq">
              <a:solidFill>
                <a:srgbClr val="CFE5E9"/>
              </a:solidFill>
              <a:prstDash val="solid"/>
              <a:miter/>
            </a:ln>
          </p:spPr>
          <p:txBody>
            <a:bodyPr/>
            <a:p/>
          </p:txBody>
        </p:sp>
        <p:sp>
          <p:nvSpPr>
            <p:cNvPr name="TextBox 81" id="81"/>
            <p:cNvSpPr txBox="true"/>
            <p:nvPr/>
          </p:nvSpPr>
          <p:spPr>
            <a:xfrm>
              <a:off x="0" y="-38100"/>
              <a:ext cx="10989729" cy="3773589"/>
            </a:xfrm>
            <a:prstGeom prst="rect">
              <a:avLst/>
            </a:prstGeom>
          </p:spPr>
          <p:txBody>
            <a:bodyPr anchor="t" rtlCol="false" tIns="50800" lIns="50800" bIns="50800" rIns="50800"/>
            <a:lstStyle/>
            <a:p>
              <a:pPr algn="l">
                <a:lnSpc>
                  <a:spcPts val="2484"/>
                </a:lnSpc>
              </a:pPr>
              <a:r>
                <a:rPr lang="en-US" sz="2070" b="true">
                  <a:solidFill>
                    <a:srgbClr val="0B5E6E"/>
                  </a:solidFill>
                  <a:latin typeface="Calibri (MS) Bold"/>
                  <a:ea typeface="Calibri (MS) Bold"/>
                  <a:cs typeface="Calibri (MS) Bold"/>
                  <a:sym typeface="Calibri (MS) Bold"/>
                </a:rPr>
                <a:t>Laju konversi dasar (logistik)</a:t>
              </a:r>
            </a:p>
            <a:p>
              <a:pPr algn="l">
                <a:lnSpc>
                  <a:spcPts val="2206"/>
                </a:lnSpc>
              </a:pPr>
              <a:r>
                <a:rPr lang="en-US" sz="1839">
                  <a:solidFill>
                    <a:srgbClr val="14313B"/>
                  </a:solidFill>
                  <a:latin typeface="Calibri (MS)"/>
                  <a:ea typeface="Calibri (MS)"/>
                  <a:cs typeface="Calibri (MS)"/>
                  <a:sym typeface="Calibri (MS)"/>
                </a:rPr>
                <a:t>ln Lahanₜ = a + βt (DW 2016–2025): β = 0,0348</a:t>
              </a:r>
            </a:p>
            <a:p>
              <a:pPr algn="l">
                <a:lnSpc>
                  <a:spcPts val="2206"/>
                </a:lnSpc>
              </a:pPr>
              <a:r>
                <a:rPr lang="en-US" sz="1839">
                  <a:solidFill>
                    <a:srgbClr val="14313B"/>
                  </a:solidFill>
                  <a:latin typeface="Calibri (MS)"/>
                  <a:ea typeface="Calibri (MS)"/>
                  <a:cs typeface="Calibri (MS)"/>
                  <a:sym typeface="Calibri (MS)"/>
                </a:rPr>
                <a:t>k = (e^β − 1) ÷ rata-rata RDDL = (e^0,0348 − 1) ÷ 0,8121</a:t>
              </a:r>
            </a:p>
            <a:p>
              <a:pPr algn="l">
                <a:lnSpc>
                  <a:spcPts val="2206"/>
                </a:lnSpc>
              </a:pPr>
              <a:r>
                <a:rPr lang="en-US" sz="1839">
                  <a:solidFill>
                    <a:srgbClr val="14313B"/>
                  </a:solidFill>
                  <a:latin typeface="Calibri (MS)"/>
                  <a:ea typeface="Calibri (MS)"/>
                  <a:cs typeface="Calibri (MS)"/>
                  <a:sym typeface="Calibri (MS)"/>
                </a:rPr>
                <a:t>k = 0,0436052</a:t>
              </a:r>
            </a:p>
            <a:p>
              <a:pPr algn="l">
                <a:lnSpc>
                  <a:spcPts val="2206"/>
                </a:lnSpc>
              </a:pPr>
              <a:r>
                <a:rPr lang="en-US" sz="1839">
                  <a:solidFill>
                    <a:srgbClr val="14313B"/>
                  </a:solidFill>
                  <a:latin typeface="Calibri (MS)"/>
                  <a:ea typeface="Calibri (MS)"/>
                  <a:cs typeface="Calibri (MS)"/>
                  <a:sym typeface="Calibri (MS)"/>
                </a:rPr>
                <a:t>CI 95%: 0,0034118 – 0,0851069 (rentang kalibrasi)</a:t>
              </a:r>
            </a:p>
          </p:txBody>
        </p:sp>
      </p:grpSp>
      <p:grpSp>
        <p:nvGrpSpPr>
          <p:cNvPr name="Group 82" id="82"/>
          <p:cNvGrpSpPr/>
          <p:nvPr/>
        </p:nvGrpSpPr>
        <p:grpSpPr>
          <a:xfrm rot="0">
            <a:off x="816607" y="8360407"/>
            <a:ext cx="16654777" cy="881377"/>
            <a:chOff x="0" y="0"/>
            <a:chExt cx="22206369" cy="1175169"/>
          </a:xfrm>
        </p:grpSpPr>
        <p:sp>
          <p:nvSpPr>
            <p:cNvPr name="Freeform 83" id="83"/>
            <p:cNvSpPr/>
            <p:nvPr/>
          </p:nvSpPr>
          <p:spPr>
            <a:xfrm flipH="false" flipV="false" rot="0">
              <a:off x="0" y="0"/>
              <a:ext cx="22206331" cy="1175131"/>
            </a:xfrm>
            <a:custGeom>
              <a:avLst/>
              <a:gdLst/>
              <a:ahLst/>
              <a:cxnLst/>
              <a:rect r="r" b="b" t="t" l="l"/>
              <a:pathLst>
                <a:path h="1175131" w="22206331">
                  <a:moveTo>
                    <a:pt x="0" y="93980"/>
                  </a:moveTo>
                  <a:cubicBezTo>
                    <a:pt x="0" y="42037"/>
                    <a:pt x="42037" y="0"/>
                    <a:pt x="93980" y="0"/>
                  </a:cubicBezTo>
                  <a:lnTo>
                    <a:pt x="22112351" y="0"/>
                  </a:lnTo>
                  <a:cubicBezTo>
                    <a:pt x="22164294" y="0"/>
                    <a:pt x="22206331" y="42037"/>
                    <a:pt x="22206331" y="93980"/>
                  </a:cubicBezTo>
                  <a:lnTo>
                    <a:pt x="22206331" y="1081151"/>
                  </a:lnTo>
                  <a:cubicBezTo>
                    <a:pt x="22206331" y="1133094"/>
                    <a:pt x="22164294" y="1175131"/>
                    <a:pt x="22112351" y="1175131"/>
                  </a:cubicBezTo>
                  <a:lnTo>
                    <a:pt x="93980" y="1175131"/>
                  </a:lnTo>
                  <a:cubicBezTo>
                    <a:pt x="42037" y="1175131"/>
                    <a:pt x="0" y="1133094"/>
                    <a:pt x="0" y="1081151"/>
                  </a:cubicBezTo>
                  <a:close/>
                </a:path>
              </a:pathLst>
            </a:custGeom>
            <a:solidFill>
              <a:srgbClr val="FFF1BF"/>
            </a:solidFill>
            <a:ln w="12700" cap="sq">
              <a:solidFill>
                <a:srgbClr val="FFD23B"/>
              </a:solidFill>
              <a:prstDash val="solid"/>
              <a:miter/>
            </a:ln>
          </p:spPr>
          <p:txBody>
            <a:bodyPr/>
            <a:p/>
          </p:txBody>
        </p:sp>
        <p:sp>
          <p:nvSpPr>
            <p:cNvPr name="TextBox 84" id="84"/>
            <p:cNvSpPr txBox="true"/>
            <p:nvPr/>
          </p:nvSpPr>
          <p:spPr>
            <a:xfrm>
              <a:off x="0" y="-38100"/>
              <a:ext cx="22206369" cy="121326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LPE diperoleh dari koreksi Tahap 0 (sebelumnya 0,26864 karena menganggap Daya Tarik 2024 = 1); rasio 0,75 adalah asumsi model yang diuji pada analisis sensitivitas.</a:t>
              </a:r>
            </a:p>
          </p:txBody>
        </p:sp>
      </p:grpSp>
      <p:grpSp>
        <p:nvGrpSpPr>
          <p:cNvPr name="Group 85" id="85"/>
          <p:cNvGrpSpPr/>
          <p:nvPr/>
        </p:nvGrpSpPr>
        <p:grpSpPr>
          <a:xfrm rot="0">
            <a:off x="16047720" y="9646920"/>
            <a:ext cx="420624" cy="420624"/>
            <a:chOff x="0" y="0"/>
            <a:chExt cx="560832" cy="560832"/>
          </a:xfrm>
        </p:grpSpPr>
        <p:sp>
          <p:nvSpPr>
            <p:cNvPr name="Freeform 86" id="86"/>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87" id="87"/>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Parameter Asumsi Pemodelan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Asumsi peneliti disampaikan terbuka beserta dasar dan cara mengujinya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aphicFrame>
        <p:nvGraphicFramePr>
          <p:cNvPr name="Table 66" id="66"/>
          <p:cNvGraphicFramePr>
            <a:graphicFrameLocks noGrp="true"/>
          </p:cNvGraphicFramePr>
          <p:nvPr/>
        </p:nvGraphicFramePr>
        <p:xfrm>
          <a:off x="822960" y="2331720"/>
          <a:ext cx="16560800" cy="6781800"/>
        </p:xfrm>
        <a:graphic>
          <a:graphicData uri="http://schemas.openxmlformats.org/drawingml/2006/table">
            <a:tbl>
              <a:tblPr/>
              <a:tblGrid>
                <a:gridCol w="3962173"/>
                <a:gridCol w="2752937"/>
                <a:gridCol w="5238590"/>
                <a:gridCol w="4607100"/>
              </a:tblGrid>
              <a:tr h="633722">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Asumsi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Nilai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Dasar penetapan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Diuji melalui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1178901">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Rasio laju penurunan / laju pertumbuhan (LPD/LPE)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0,75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Asumsi model; data hanya bisa menentukan selisih bersih LPE dan LPD</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Sensitivitas (rentang 0,60–0,90) dan kalibrasi diagnostik Tahap 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305687">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Bobot daya tarik (ODTW / kepadatan / daya dukung lahan)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0,40 / 0,35 / 0,25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Asumsi peneliti, tanpa panel ahli, survei, atau AHP; syarat kestabilan terpenuhi (0,35 &gt; 0,25)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Sensitivitas ±10% (jumlah bobot dijaga = 1) dan 2 kombinasi alternatif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305687">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Laju demolisi dasar</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0,05 (umur ± 20 tahun)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Dibandingkan dari Permen PU 45/PRT/M/2007, UU 36/2008 Pasal 11(6), dan laju penutupan ODTW</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Kalibrasi Tahap 1 (0,02–0,08): tidak ada perbaikan yang bertahan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305687">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Nilai variabel kebijakan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Insentif 0,1 dan 0,3; konservasi 1,0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Ditentukan peneliti (tidak ada dokumen yang memuat angkanya); dasar peraturan Perda 1/2012 dan 6/2021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Robustness peringkat skenario pada 7 kondisi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052115">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Batas indeks kepadatan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Dua kali kepadatan tahun dasar; tidak ada dasar empiris baku untuk DIY</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Dibaca sebagai tanda peringatan, bukan standar resmi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67" id="67"/>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40</a:t>
            </a:r>
          </a:p>
        </p:txBody>
      </p:sp>
      <p:grpSp>
        <p:nvGrpSpPr>
          <p:cNvPr name="Group 68" id="68"/>
          <p:cNvGrpSpPr/>
          <p:nvPr/>
        </p:nvGrpSpPr>
        <p:grpSpPr>
          <a:xfrm rot="0">
            <a:off x="12755880" y="274320"/>
            <a:ext cx="3931920" cy="411480"/>
            <a:chOff x="0" y="0"/>
            <a:chExt cx="5242560" cy="548640"/>
          </a:xfrm>
        </p:grpSpPr>
        <p:sp>
          <p:nvSpPr>
            <p:cNvPr name="Freeform 69" id="69"/>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70" id="70"/>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2C · Parameterisasi</a:t>
              </a:r>
            </a:p>
          </p:txBody>
        </p:sp>
      </p:grpSp>
      <p:grpSp>
        <p:nvGrpSpPr>
          <p:cNvPr name="Group 71" id="71"/>
          <p:cNvGrpSpPr/>
          <p:nvPr/>
        </p:nvGrpSpPr>
        <p:grpSpPr>
          <a:xfrm rot="0">
            <a:off x="16047720" y="9646920"/>
            <a:ext cx="420624" cy="420624"/>
            <a:chOff x="0" y="0"/>
            <a:chExt cx="560832" cy="560832"/>
          </a:xfrm>
        </p:grpSpPr>
        <p:sp>
          <p:nvSpPr>
            <p:cNvPr name="Freeform 72" id="72"/>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73" id="73"/>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0010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Rancangan Uji Struktur</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Struktur model diperiksa dulu sebelum dibandingkan dengan data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41</a:t>
            </a:r>
          </a:p>
        </p:txBody>
      </p:sp>
      <p:sp>
        <p:nvSpPr>
          <p:cNvPr name="Freeform 67" id="67"/>
          <p:cNvSpPr/>
          <p:nvPr/>
        </p:nvSpPr>
        <p:spPr>
          <a:xfrm flipH="false" flipV="false" rot="0">
            <a:off x="806291" y="2223611"/>
            <a:ext cx="4056697" cy="3448622"/>
          </a:xfrm>
          <a:custGeom>
            <a:avLst/>
            <a:gdLst/>
            <a:ahLst/>
            <a:cxnLst/>
            <a:rect r="r" b="b" t="t" l="l"/>
            <a:pathLst>
              <a:path h="3448622" w="4056697">
                <a:moveTo>
                  <a:pt x="0" y="0"/>
                </a:moveTo>
                <a:lnTo>
                  <a:pt x="4056698" y="0"/>
                </a:lnTo>
                <a:lnTo>
                  <a:pt x="405669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68" id="68"/>
          <p:cNvGrpSpPr/>
          <p:nvPr/>
        </p:nvGrpSpPr>
        <p:grpSpPr>
          <a:xfrm rot="0">
            <a:off x="1051560" y="2468880"/>
            <a:ext cx="530352" cy="530352"/>
            <a:chOff x="0" y="0"/>
            <a:chExt cx="707136" cy="707136"/>
          </a:xfrm>
        </p:grpSpPr>
        <p:sp>
          <p:nvSpPr>
            <p:cNvPr name="Freeform 69" id="69"/>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70" id="70"/>
          <p:cNvGrpSpPr/>
          <p:nvPr/>
        </p:nvGrpSpPr>
        <p:grpSpPr>
          <a:xfrm rot="0">
            <a:off x="1051560" y="2447449"/>
            <a:ext cx="530352" cy="551783"/>
            <a:chOff x="0" y="0"/>
            <a:chExt cx="707136" cy="735711"/>
          </a:xfrm>
        </p:grpSpPr>
        <p:sp>
          <p:nvSpPr>
            <p:cNvPr name="Freeform 71" id="71"/>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72" id="72"/>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1</a:t>
              </a:r>
            </a:p>
          </p:txBody>
        </p:sp>
      </p:grpSp>
      <p:sp>
        <p:nvSpPr>
          <p:cNvPr name="TextBox 73" id="73"/>
          <p:cNvSpPr txBox="true"/>
          <p:nvPr/>
        </p:nvSpPr>
        <p:spPr>
          <a:xfrm rot="0">
            <a:off x="1719072" y="2353818"/>
            <a:ext cx="2971800" cy="802691"/>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Kesesuaian struktur dan parameter</a:t>
            </a:r>
          </a:p>
        </p:txBody>
      </p:sp>
      <p:sp>
        <p:nvSpPr>
          <p:cNvPr name="TextBox 74" id="74"/>
          <p:cNvSpPr txBox="true"/>
          <p:nvPr/>
        </p:nvSpPr>
        <p:spPr>
          <a:xfrm rot="0">
            <a:off x="1051560" y="3180893"/>
            <a:ext cx="3566160" cy="1718462"/>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Setiap hubungan kausal dicek dengan kriteria evaluasi CLD; setiap parameter harus jelas sumbernya (data resmi, persamaan stok-aliran, regulasi, asumsi, normalisasi/kebijakan).</a:t>
            </a:r>
          </a:p>
        </p:txBody>
      </p:sp>
      <p:sp>
        <p:nvSpPr>
          <p:cNvPr name="Freeform 75" id="75"/>
          <p:cNvSpPr/>
          <p:nvPr/>
        </p:nvSpPr>
        <p:spPr>
          <a:xfrm flipH="false" flipV="false" rot="0">
            <a:off x="5012531" y="2223611"/>
            <a:ext cx="4056697" cy="3448622"/>
          </a:xfrm>
          <a:custGeom>
            <a:avLst/>
            <a:gdLst/>
            <a:ahLst/>
            <a:cxnLst/>
            <a:rect r="r" b="b" t="t" l="l"/>
            <a:pathLst>
              <a:path h="3448622" w="4056697">
                <a:moveTo>
                  <a:pt x="0" y="0"/>
                </a:moveTo>
                <a:lnTo>
                  <a:pt x="4056698" y="0"/>
                </a:lnTo>
                <a:lnTo>
                  <a:pt x="405669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76" id="76"/>
          <p:cNvGrpSpPr/>
          <p:nvPr/>
        </p:nvGrpSpPr>
        <p:grpSpPr>
          <a:xfrm rot="0">
            <a:off x="5257800" y="2468880"/>
            <a:ext cx="530352" cy="530352"/>
            <a:chOff x="0" y="0"/>
            <a:chExt cx="707136" cy="707136"/>
          </a:xfrm>
        </p:grpSpPr>
        <p:sp>
          <p:nvSpPr>
            <p:cNvPr name="Freeform 77" id="77"/>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78" id="78"/>
          <p:cNvGrpSpPr/>
          <p:nvPr/>
        </p:nvGrpSpPr>
        <p:grpSpPr>
          <a:xfrm rot="0">
            <a:off x="5257800" y="2447449"/>
            <a:ext cx="530352" cy="551783"/>
            <a:chOff x="0" y="0"/>
            <a:chExt cx="707136" cy="735711"/>
          </a:xfrm>
        </p:grpSpPr>
        <p:sp>
          <p:nvSpPr>
            <p:cNvPr name="Freeform 79" id="79"/>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80" id="80"/>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2</a:t>
              </a:r>
            </a:p>
          </p:txBody>
        </p:sp>
      </p:grpSp>
      <p:sp>
        <p:nvSpPr>
          <p:cNvPr name="TextBox 81" id="81"/>
          <p:cNvSpPr txBox="true"/>
          <p:nvPr/>
        </p:nvSpPr>
        <p:spPr>
          <a:xfrm rot="0">
            <a:off x="5925312" y="2353818"/>
            <a:ext cx="2971800" cy="495452"/>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Konsistensi satuan</a:t>
            </a:r>
          </a:p>
        </p:txBody>
      </p:sp>
      <p:sp>
        <p:nvSpPr>
          <p:cNvPr name="TextBox 82" id="82"/>
          <p:cNvSpPr txBox="true"/>
          <p:nvPr/>
        </p:nvSpPr>
        <p:spPr>
          <a:xfrm rot="0">
            <a:off x="5257800" y="3060192"/>
            <a:ext cx="3566160" cy="660197"/>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Units Check dan Check Model pada Vensim untuk setiap persamaan.</a:t>
            </a:r>
          </a:p>
        </p:txBody>
      </p:sp>
      <p:sp>
        <p:nvSpPr>
          <p:cNvPr name="TextBox 83" id="83"/>
          <p:cNvSpPr txBox="true"/>
          <p:nvPr/>
        </p:nvSpPr>
        <p:spPr>
          <a:xfrm rot="0">
            <a:off x="5257800" y="3698291"/>
            <a:ext cx="3566160" cy="628040"/>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Kriteria: tidak ada ketidaksesuaian satuan</a:t>
            </a:r>
          </a:p>
        </p:txBody>
      </p:sp>
      <p:sp>
        <p:nvSpPr>
          <p:cNvPr name="Freeform 84" id="84"/>
          <p:cNvSpPr/>
          <p:nvPr/>
        </p:nvSpPr>
        <p:spPr>
          <a:xfrm flipH="false" flipV="false" rot="0">
            <a:off x="9218771" y="2223611"/>
            <a:ext cx="4056697" cy="3448622"/>
          </a:xfrm>
          <a:custGeom>
            <a:avLst/>
            <a:gdLst/>
            <a:ahLst/>
            <a:cxnLst/>
            <a:rect r="r" b="b" t="t" l="l"/>
            <a:pathLst>
              <a:path h="3448622" w="4056697">
                <a:moveTo>
                  <a:pt x="0" y="0"/>
                </a:moveTo>
                <a:lnTo>
                  <a:pt x="4056698" y="0"/>
                </a:lnTo>
                <a:lnTo>
                  <a:pt x="405669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85" id="85"/>
          <p:cNvGrpSpPr/>
          <p:nvPr/>
        </p:nvGrpSpPr>
        <p:grpSpPr>
          <a:xfrm rot="0">
            <a:off x="9464040" y="2468880"/>
            <a:ext cx="530352" cy="530352"/>
            <a:chOff x="0" y="0"/>
            <a:chExt cx="707136" cy="707136"/>
          </a:xfrm>
        </p:grpSpPr>
        <p:sp>
          <p:nvSpPr>
            <p:cNvPr name="Freeform 86" id="8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87" id="87"/>
          <p:cNvGrpSpPr/>
          <p:nvPr/>
        </p:nvGrpSpPr>
        <p:grpSpPr>
          <a:xfrm rot="0">
            <a:off x="9464040" y="2447449"/>
            <a:ext cx="530352" cy="551783"/>
            <a:chOff x="0" y="0"/>
            <a:chExt cx="707136" cy="735711"/>
          </a:xfrm>
        </p:grpSpPr>
        <p:sp>
          <p:nvSpPr>
            <p:cNvPr name="Freeform 88" id="88"/>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89" id="89"/>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3</a:t>
              </a:r>
            </a:p>
          </p:txBody>
        </p:sp>
      </p:grpSp>
      <p:sp>
        <p:nvSpPr>
          <p:cNvPr name="TextBox 90" id="90"/>
          <p:cNvSpPr txBox="true"/>
          <p:nvPr/>
        </p:nvSpPr>
        <p:spPr>
          <a:xfrm rot="0">
            <a:off x="10131552" y="2353818"/>
            <a:ext cx="2971800" cy="495452"/>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Kecukupan batas model</a:t>
            </a:r>
          </a:p>
        </p:txBody>
      </p:sp>
      <p:sp>
        <p:nvSpPr>
          <p:cNvPr name="TextBox 91" id="91"/>
          <p:cNvSpPr txBox="true"/>
          <p:nvPr/>
        </p:nvSpPr>
        <p:spPr>
          <a:xfrm rot="0">
            <a:off x="9464040" y="3060192"/>
            <a:ext cx="3566160" cy="1453896"/>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Model boundary chart (Sterman, 2000): 26 variabel dihitung model, 35 input, dan aspek yang dikeluarkan beserta dampaknya → menentukan batas penafsiran hasil.</a:t>
            </a:r>
          </a:p>
        </p:txBody>
      </p:sp>
      <p:sp>
        <p:nvSpPr>
          <p:cNvPr name="Freeform 92" id="92"/>
          <p:cNvSpPr/>
          <p:nvPr/>
        </p:nvSpPr>
        <p:spPr>
          <a:xfrm flipH="false" flipV="false" rot="0">
            <a:off x="13425011" y="2223611"/>
            <a:ext cx="4056697" cy="3448622"/>
          </a:xfrm>
          <a:custGeom>
            <a:avLst/>
            <a:gdLst/>
            <a:ahLst/>
            <a:cxnLst/>
            <a:rect r="r" b="b" t="t" l="l"/>
            <a:pathLst>
              <a:path h="3448622" w="4056697">
                <a:moveTo>
                  <a:pt x="0" y="0"/>
                </a:moveTo>
                <a:lnTo>
                  <a:pt x="4056698" y="0"/>
                </a:lnTo>
                <a:lnTo>
                  <a:pt x="405669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93" id="93"/>
          <p:cNvGrpSpPr/>
          <p:nvPr/>
        </p:nvGrpSpPr>
        <p:grpSpPr>
          <a:xfrm rot="0">
            <a:off x="13670280" y="2468880"/>
            <a:ext cx="530352" cy="530352"/>
            <a:chOff x="0" y="0"/>
            <a:chExt cx="707136" cy="707136"/>
          </a:xfrm>
        </p:grpSpPr>
        <p:sp>
          <p:nvSpPr>
            <p:cNvPr name="Freeform 94" id="94"/>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95" id="95"/>
          <p:cNvGrpSpPr/>
          <p:nvPr/>
        </p:nvGrpSpPr>
        <p:grpSpPr>
          <a:xfrm rot="0">
            <a:off x="13670280" y="2447449"/>
            <a:ext cx="530352" cy="551783"/>
            <a:chOff x="0" y="0"/>
            <a:chExt cx="707136" cy="735711"/>
          </a:xfrm>
        </p:grpSpPr>
        <p:sp>
          <p:nvSpPr>
            <p:cNvPr name="Freeform 96" id="96"/>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97" id="97"/>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4</a:t>
              </a:r>
            </a:p>
          </p:txBody>
        </p:sp>
      </p:grpSp>
      <p:sp>
        <p:nvSpPr>
          <p:cNvPr name="TextBox 98" id="98"/>
          <p:cNvSpPr txBox="true"/>
          <p:nvPr/>
        </p:nvSpPr>
        <p:spPr>
          <a:xfrm rot="0">
            <a:off x="14337792" y="2353818"/>
            <a:ext cx="2971800" cy="495452"/>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Keseimbangan stok</a:t>
            </a:r>
          </a:p>
        </p:txBody>
      </p:sp>
      <p:sp>
        <p:nvSpPr>
          <p:cNvPr name="TextBox 99" id="99"/>
          <p:cNvSpPr txBox="true"/>
          <p:nvPr/>
        </p:nvSpPr>
        <p:spPr>
          <a:xfrm rot="0">
            <a:off x="13670280" y="3060192"/>
            <a:ext cx="3566160" cy="924763"/>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Stok tahun berikutnya dicek dengan rumus stok + masuk − keluar pada 5 stok, 2025–2049.</a:t>
            </a:r>
          </a:p>
        </p:txBody>
      </p:sp>
      <p:grpSp>
        <p:nvGrpSpPr>
          <p:cNvPr name="Group 100" id="100"/>
          <p:cNvGrpSpPr/>
          <p:nvPr/>
        </p:nvGrpSpPr>
        <p:grpSpPr>
          <a:xfrm rot="0">
            <a:off x="13606272" y="4058107"/>
            <a:ext cx="3694176" cy="819340"/>
            <a:chOff x="0" y="0"/>
            <a:chExt cx="4925568" cy="1092454"/>
          </a:xfrm>
        </p:grpSpPr>
        <p:sp>
          <p:nvSpPr>
            <p:cNvPr name="Freeform 101" id="101"/>
            <p:cNvSpPr/>
            <p:nvPr/>
          </p:nvSpPr>
          <p:spPr>
            <a:xfrm flipH="false" flipV="false" rot="0">
              <a:off x="0" y="0"/>
              <a:ext cx="4925568" cy="1092454"/>
            </a:xfrm>
            <a:custGeom>
              <a:avLst/>
              <a:gdLst/>
              <a:ahLst/>
              <a:cxnLst/>
              <a:rect r="r" b="b" t="t" l="l"/>
              <a:pathLst>
                <a:path h="1092454" w="4925568">
                  <a:moveTo>
                    <a:pt x="0" y="97536"/>
                  </a:moveTo>
                  <a:cubicBezTo>
                    <a:pt x="0" y="43688"/>
                    <a:pt x="43688" y="0"/>
                    <a:pt x="97536" y="0"/>
                  </a:cubicBezTo>
                  <a:lnTo>
                    <a:pt x="4828032" y="0"/>
                  </a:lnTo>
                  <a:cubicBezTo>
                    <a:pt x="4881880" y="0"/>
                    <a:pt x="4925568" y="43688"/>
                    <a:pt x="4925568" y="97536"/>
                  </a:cubicBezTo>
                  <a:lnTo>
                    <a:pt x="4925568" y="994918"/>
                  </a:lnTo>
                  <a:cubicBezTo>
                    <a:pt x="4925568" y="1048766"/>
                    <a:pt x="4881880" y="1092454"/>
                    <a:pt x="4828032" y="1092454"/>
                  </a:cubicBezTo>
                  <a:lnTo>
                    <a:pt x="97536" y="1092454"/>
                  </a:lnTo>
                  <a:cubicBezTo>
                    <a:pt x="43688" y="1092454"/>
                    <a:pt x="0" y="1048766"/>
                    <a:pt x="0" y="994918"/>
                  </a:cubicBezTo>
                  <a:close/>
                </a:path>
              </a:pathLst>
            </a:custGeom>
            <a:solidFill>
              <a:srgbClr val="FFF1BF"/>
            </a:solidFill>
          </p:spPr>
          <p:txBody>
            <a:bodyPr/>
            <a:p/>
          </p:txBody>
        </p:sp>
      </p:grpSp>
      <p:sp>
        <p:nvSpPr>
          <p:cNvPr name="TextBox 102" id="102"/>
          <p:cNvSpPr txBox="true"/>
          <p:nvPr/>
        </p:nvSpPr>
        <p:spPr>
          <a:xfrm rot="0">
            <a:off x="13743432" y="4082491"/>
            <a:ext cx="3291840" cy="71262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Sₖ(t+1) = Sₖ(t) + ΣInflowₖ(t) − ΣOutflowₖ(t)</a:t>
            </a:r>
          </a:p>
        </p:txBody>
      </p:sp>
      <p:sp>
        <p:nvSpPr>
          <p:cNvPr name="TextBox 103" id="103"/>
          <p:cNvSpPr txBox="true"/>
          <p:nvPr/>
        </p:nvSpPr>
        <p:spPr>
          <a:xfrm rot="0">
            <a:off x="13670280" y="4873600"/>
            <a:ext cx="3566160" cy="628040"/>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Kekal bila maks|selisih| / rata-rata stok &lt; 10⁻⁹</a:t>
            </a:r>
          </a:p>
        </p:txBody>
      </p:sp>
      <p:sp>
        <p:nvSpPr>
          <p:cNvPr name="Freeform 104" id="104"/>
          <p:cNvSpPr/>
          <p:nvPr/>
        </p:nvSpPr>
        <p:spPr>
          <a:xfrm flipH="false" flipV="false" rot="0">
            <a:off x="806291" y="5821775"/>
            <a:ext cx="5458778" cy="3448622"/>
          </a:xfrm>
          <a:custGeom>
            <a:avLst/>
            <a:gdLst/>
            <a:ahLst/>
            <a:cxnLst/>
            <a:rect r="r" b="b" t="t" l="l"/>
            <a:pathLst>
              <a:path h="3448622" w="5458778">
                <a:moveTo>
                  <a:pt x="0" y="0"/>
                </a:moveTo>
                <a:lnTo>
                  <a:pt x="5458778" y="0"/>
                </a:lnTo>
                <a:lnTo>
                  <a:pt x="5458778" y="3448622"/>
                </a:lnTo>
                <a:lnTo>
                  <a:pt x="0" y="34486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grpSp>
        <p:nvGrpSpPr>
          <p:cNvPr name="Group 105" id="105"/>
          <p:cNvGrpSpPr/>
          <p:nvPr/>
        </p:nvGrpSpPr>
        <p:grpSpPr>
          <a:xfrm rot="0">
            <a:off x="1051560" y="6067044"/>
            <a:ext cx="530352" cy="530352"/>
            <a:chOff x="0" y="0"/>
            <a:chExt cx="707136" cy="707136"/>
          </a:xfrm>
        </p:grpSpPr>
        <p:sp>
          <p:nvSpPr>
            <p:cNvPr name="Freeform 106" id="10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107" id="107"/>
          <p:cNvGrpSpPr/>
          <p:nvPr/>
        </p:nvGrpSpPr>
        <p:grpSpPr>
          <a:xfrm rot="0">
            <a:off x="1051560" y="6045613"/>
            <a:ext cx="530352" cy="551783"/>
            <a:chOff x="0" y="0"/>
            <a:chExt cx="707136" cy="735711"/>
          </a:xfrm>
        </p:grpSpPr>
        <p:sp>
          <p:nvSpPr>
            <p:cNvPr name="Freeform 108" id="108"/>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109" id="109"/>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5</a:t>
              </a:r>
            </a:p>
          </p:txBody>
        </p:sp>
      </p:grpSp>
      <p:sp>
        <p:nvSpPr>
          <p:cNvPr name="TextBox 110" id="110"/>
          <p:cNvSpPr txBox="true"/>
          <p:nvPr/>
        </p:nvSpPr>
        <p:spPr>
          <a:xfrm rot="0">
            <a:off x="1719072" y="5951982"/>
            <a:ext cx="4373880" cy="495452"/>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Feedback loop (loop knockout)</a:t>
            </a:r>
          </a:p>
        </p:txBody>
      </p:sp>
      <p:sp>
        <p:nvSpPr>
          <p:cNvPr name="TextBox 111" id="111"/>
          <p:cNvSpPr txBox="true"/>
          <p:nvPr/>
        </p:nvSpPr>
        <p:spPr>
          <a:xfrm rot="0">
            <a:off x="1051560" y="6658356"/>
            <a:ext cx="4968240" cy="924763"/>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Satu loop dinonaktifkan setiap kali dengan menahan salah satu variabelnya pada nilai tahun dasar (6 kasus: B1, B2, R2, okupansi, goal-seeking TK, semua balancing loop).</a:t>
            </a:r>
          </a:p>
        </p:txBody>
      </p:sp>
      <p:grpSp>
        <p:nvGrpSpPr>
          <p:cNvPr name="Group 112" id="112"/>
          <p:cNvGrpSpPr/>
          <p:nvPr/>
        </p:nvGrpSpPr>
        <p:grpSpPr>
          <a:xfrm rot="0">
            <a:off x="987552" y="7656271"/>
            <a:ext cx="5096256" cy="819340"/>
            <a:chOff x="0" y="0"/>
            <a:chExt cx="6795008" cy="1092454"/>
          </a:xfrm>
        </p:grpSpPr>
        <p:sp>
          <p:nvSpPr>
            <p:cNvPr name="Freeform 113" id="113"/>
            <p:cNvSpPr/>
            <p:nvPr/>
          </p:nvSpPr>
          <p:spPr>
            <a:xfrm flipH="false" flipV="false" rot="0">
              <a:off x="0" y="0"/>
              <a:ext cx="6795008" cy="1092454"/>
            </a:xfrm>
            <a:custGeom>
              <a:avLst/>
              <a:gdLst/>
              <a:ahLst/>
              <a:cxnLst/>
              <a:rect r="r" b="b" t="t" l="l"/>
              <a:pathLst>
                <a:path h="1092454" w="6795008">
                  <a:moveTo>
                    <a:pt x="0" y="97536"/>
                  </a:moveTo>
                  <a:cubicBezTo>
                    <a:pt x="0" y="43688"/>
                    <a:pt x="43688" y="0"/>
                    <a:pt x="97536" y="0"/>
                  </a:cubicBezTo>
                  <a:lnTo>
                    <a:pt x="6697472" y="0"/>
                  </a:lnTo>
                  <a:cubicBezTo>
                    <a:pt x="6751320" y="0"/>
                    <a:pt x="6795008" y="43688"/>
                    <a:pt x="6795008" y="97536"/>
                  </a:cubicBezTo>
                  <a:lnTo>
                    <a:pt x="6795008" y="994918"/>
                  </a:lnTo>
                  <a:cubicBezTo>
                    <a:pt x="6795008" y="1048766"/>
                    <a:pt x="6751320" y="1092454"/>
                    <a:pt x="6697472" y="1092454"/>
                  </a:cubicBezTo>
                  <a:lnTo>
                    <a:pt x="97536" y="1092454"/>
                  </a:lnTo>
                  <a:cubicBezTo>
                    <a:pt x="43688" y="1092454"/>
                    <a:pt x="0" y="1048766"/>
                    <a:pt x="0" y="994918"/>
                  </a:cubicBezTo>
                  <a:close/>
                </a:path>
              </a:pathLst>
            </a:custGeom>
            <a:solidFill>
              <a:srgbClr val="FFF1BF"/>
            </a:solidFill>
          </p:spPr>
          <p:txBody>
            <a:bodyPr/>
            <a:p/>
          </p:txBody>
        </p:sp>
      </p:grpSp>
      <p:sp>
        <p:nvSpPr>
          <p:cNvPr name="TextBox 114" id="114"/>
          <p:cNvSpPr txBox="true"/>
          <p:nvPr/>
        </p:nvSpPr>
        <p:spPr>
          <a:xfrm rot="0">
            <a:off x="1124712" y="7680655"/>
            <a:ext cx="4693920" cy="71262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Selisih % = (X_lumpuh,2050 − X_BASE,2050) / X_BASE,2050 × 100%</a:t>
            </a:r>
          </a:p>
        </p:txBody>
      </p:sp>
      <p:sp>
        <p:nvSpPr>
          <p:cNvPr name="TextBox 115" id="115"/>
          <p:cNvSpPr txBox="true"/>
          <p:nvPr/>
        </p:nvSpPr>
        <p:spPr>
          <a:xfrm rot="0">
            <a:off x="1051560" y="8471764"/>
            <a:ext cx="4968240" cy="389077"/>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Kriteria: arah perubahan sesuai jenis loop</a:t>
            </a:r>
          </a:p>
        </p:txBody>
      </p:sp>
      <p:sp>
        <p:nvSpPr>
          <p:cNvPr name="Freeform 116" id="116"/>
          <p:cNvSpPr/>
          <p:nvPr/>
        </p:nvSpPr>
        <p:spPr>
          <a:xfrm flipH="false" flipV="false" rot="0">
            <a:off x="6414611" y="5821775"/>
            <a:ext cx="5458778" cy="3448622"/>
          </a:xfrm>
          <a:custGeom>
            <a:avLst/>
            <a:gdLst/>
            <a:ahLst/>
            <a:cxnLst/>
            <a:rect r="r" b="b" t="t" l="l"/>
            <a:pathLst>
              <a:path h="3448622" w="5458778">
                <a:moveTo>
                  <a:pt x="0" y="0"/>
                </a:moveTo>
                <a:lnTo>
                  <a:pt x="5458778" y="0"/>
                </a:lnTo>
                <a:lnTo>
                  <a:pt x="5458778" y="3448622"/>
                </a:lnTo>
                <a:lnTo>
                  <a:pt x="0" y="34486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grpSp>
        <p:nvGrpSpPr>
          <p:cNvPr name="Group 117" id="117"/>
          <p:cNvGrpSpPr/>
          <p:nvPr/>
        </p:nvGrpSpPr>
        <p:grpSpPr>
          <a:xfrm rot="0">
            <a:off x="6659880" y="6067044"/>
            <a:ext cx="530352" cy="530352"/>
            <a:chOff x="0" y="0"/>
            <a:chExt cx="707136" cy="707136"/>
          </a:xfrm>
        </p:grpSpPr>
        <p:sp>
          <p:nvSpPr>
            <p:cNvPr name="Freeform 118" id="118"/>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119" id="119"/>
          <p:cNvGrpSpPr/>
          <p:nvPr/>
        </p:nvGrpSpPr>
        <p:grpSpPr>
          <a:xfrm rot="0">
            <a:off x="6659880" y="6045613"/>
            <a:ext cx="530352" cy="551783"/>
            <a:chOff x="0" y="0"/>
            <a:chExt cx="707136" cy="735711"/>
          </a:xfrm>
        </p:grpSpPr>
        <p:sp>
          <p:nvSpPr>
            <p:cNvPr name="Freeform 120" id="120"/>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121" id="121"/>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6</a:t>
              </a:r>
            </a:p>
          </p:txBody>
        </p:sp>
      </p:grpSp>
      <p:sp>
        <p:nvSpPr>
          <p:cNvPr name="TextBox 122" id="122"/>
          <p:cNvSpPr txBox="true"/>
          <p:nvPr/>
        </p:nvSpPr>
        <p:spPr>
          <a:xfrm rot="0">
            <a:off x="7327392" y="5951982"/>
            <a:ext cx="4373880" cy="495452"/>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Kondisi ekstrem (17 uji)</a:t>
            </a:r>
          </a:p>
        </p:txBody>
      </p:sp>
      <p:sp>
        <p:nvSpPr>
          <p:cNvPr name="TextBox 123" id="123"/>
          <p:cNvSpPr txBox="true"/>
          <p:nvPr/>
        </p:nvSpPr>
        <p:spPr>
          <a:xfrm rot="0">
            <a:off x="6659880" y="6658356"/>
            <a:ext cx="4968240" cy="1453896"/>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Parameter diset nol atau beberapa kali lipat; hipotesis perilaku ditulis sebelum simulasi. Enam aturan fisik: stok ≥ 0 · TPK ≤ 1 · RDDL ≥ 0 · lahan ≤ luas wilayah · 0 ≤ daya tarik ≤ 3 · wisatawan akhir ≤ 5× simulasi dasar.</a:t>
            </a:r>
          </a:p>
        </p:txBody>
      </p:sp>
      <p:sp>
        <p:nvSpPr>
          <p:cNvPr name="TextBox 124" id="124"/>
          <p:cNvSpPr txBox="true"/>
          <p:nvPr/>
        </p:nvSpPr>
        <p:spPr>
          <a:xfrm rot="0">
            <a:off x="6659880" y="8090154"/>
            <a:ext cx="4968240" cy="389077"/>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Status: lolos · lolos dengan catatan · gagal</a:t>
            </a:r>
          </a:p>
        </p:txBody>
      </p:sp>
      <p:sp>
        <p:nvSpPr>
          <p:cNvPr name="Freeform 125" id="125"/>
          <p:cNvSpPr/>
          <p:nvPr/>
        </p:nvSpPr>
        <p:spPr>
          <a:xfrm flipH="false" flipV="false" rot="0">
            <a:off x="12022931" y="5821775"/>
            <a:ext cx="5458778" cy="3448622"/>
          </a:xfrm>
          <a:custGeom>
            <a:avLst/>
            <a:gdLst/>
            <a:ahLst/>
            <a:cxnLst/>
            <a:rect r="r" b="b" t="t" l="l"/>
            <a:pathLst>
              <a:path h="3448622" w="5458778">
                <a:moveTo>
                  <a:pt x="0" y="0"/>
                </a:moveTo>
                <a:lnTo>
                  <a:pt x="5458778" y="0"/>
                </a:lnTo>
                <a:lnTo>
                  <a:pt x="5458778" y="3448622"/>
                </a:lnTo>
                <a:lnTo>
                  <a:pt x="0" y="34486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grpSp>
        <p:nvGrpSpPr>
          <p:cNvPr name="Group 126" id="126"/>
          <p:cNvGrpSpPr/>
          <p:nvPr/>
        </p:nvGrpSpPr>
        <p:grpSpPr>
          <a:xfrm rot="0">
            <a:off x="12268200" y="6067044"/>
            <a:ext cx="530352" cy="530352"/>
            <a:chOff x="0" y="0"/>
            <a:chExt cx="707136" cy="707136"/>
          </a:xfrm>
        </p:grpSpPr>
        <p:sp>
          <p:nvSpPr>
            <p:cNvPr name="Freeform 127" id="127"/>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128" id="128"/>
          <p:cNvGrpSpPr/>
          <p:nvPr/>
        </p:nvGrpSpPr>
        <p:grpSpPr>
          <a:xfrm rot="0">
            <a:off x="12268200" y="6045613"/>
            <a:ext cx="530352" cy="551783"/>
            <a:chOff x="0" y="0"/>
            <a:chExt cx="707136" cy="735711"/>
          </a:xfrm>
        </p:grpSpPr>
        <p:sp>
          <p:nvSpPr>
            <p:cNvPr name="Freeform 129" id="129"/>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130" id="130"/>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7</a:t>
              </a:r>
            </a:p>
          </p:txBody>
        </p:sp>
      </p:grpSp>
      <p:sp>
        <p:nvSpPr>
          <p:cNvPr name="TextBox 131" id="131"/>
          <p:cNvSpPr txBox="true"/>
          <p:nvPr/>
        </p:nvSpPr>
        <p:spPr>
          <a:xfrm rot="0">
            <a:off x="12935712" y="5951982"/>
            <a:ext cx="4373880" cy="495452"/>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Error integrasi numerik</a:t>
            </a:r>
          </a:p>
        </p:txBody>
      </p:sp>
      <p:sp>
        <p:nvSpPr>
          <p:cNvPr name="TextBox 132" id="132"/>
          <p:cNvSpPr txBox="true"/>
          <p:nvPr/>
        </p:nvSpPr>
        <p:spPr>
          <a:xfrm rot="0">
            <a:off x="12268200" y="6658356"/>
            <a:ext cx="4968240" cy="924763"/>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Simulasi diulang pada langkah waktu lebih kecil (Δt = 1; 0,5; 0,25; 0,125) untuk memastikan perilaku berasal dari struktur, bukan langkah waktu.</a:t>
            </a:r>
          </a:p>
        </p:txBody>
      </p:sp>
      <p:grpSp>
        <p:nvGrpSpPr>
          <p:cNvPr name="Group 133" id="133"/>
          <p:cNvGrpSpPr/>
          <p:nvPr/>
        </p:nvGrpSpPr>
        <p:grpSpPr>
          <a:xfrm rot="0">
            <a:off x="12204192" y="7656271"/>
            <a:ext cx="5096256" cy="1155764"/>
            <a:chOff x="0" y="0"/>
            <a:chExt cx="6795008" cy="1541018"/>
          </a:xfrm>
        </p:grpSpPr>
        <p:sp>
          <p:nvSpPr>
            <p:cNvPr name="Freeform 134" id="134"/>
            <p:cNvSpPr/>
            <p:nvPr/>
          </p:nvSpPr>
          <p:spPr>
            <a:xfrm flipH="false" flipV="false" rot="0">
              <a:off x="0" y="0"/>
              <a:ext cx="6795008" cy="1541018"/>
            </a:xfrm>
            <a:custGeom>
              <a:avLst/>
              <a:gdLst/>
              <a:ahLst/>
              <a:cxnLst/>
              <a:rect r="r" b="b" t="t" l="l"/>
              <a:pathLst>
                <a:path h="1541018" w="6795008">
                  <a:moveTo>
                    <a:pt x="0" y="97536"/>
                  </a:moveTo>
                  <a:cubicBezTo>
                    <a:pt x="0" y="43688"/>
                    <a:pt x="43688" y="0"/>
                    <a:pt x="97536" y="0"/>
                  </a:cubicBezTo>
                  <a:lnTo>
                    <a:pt x="6697472" y="0"/>
                  </a:lnTo>
                  <a:cubicBezTo>
                    <a:pt x="6751320" y="0"/>
                    <a:pt x="6795008" y="43688"/>
                    <a:pt x="6795008" y="97536"/>
                  </a:cubicBezTo>
                  <a:lnTo>
                    <a:pt x="6795008" y="1443482"/>
                  </a:lnTo>
                  <a:cubicBezTo>
                    <a:pt x="6795008" y="1497330"/>
                    <a:pt x="6751320" y="1541018"/>
                    <a:pt x="6697472" y="1541018"/>
                  </a:cubicBezTo>
                  <a:lnTo>
                    <a:pt x="97536" y="1541018"/>
                  </a:lnTo>
                  <a:cubicBezTo>
                    <a:pt x="43688" y="1541018"/>
                    <a:pt x="0" y="1497330"/>
                    <a:pt x="0" y="1443482"/>
                  </a:cubicBezTo>
                  <a:close/>
                </a:path>
              </a:pathLst>
            </a:custGeom>
            <a:solidFill>
              <a:srgbClr val="FFF1BF"/>
            </a:solidFill>
          </p:spPr>
          <p:txBody>
            <a:bodyPr/>
            <a:p/>
          </p:txBody>
        </p:sp>
      </p:grpSp>
      <p:sp>
        <p:nvSpPr>
          <p:cNvPr name="TextBox 135" id="135"/>
          <p:cNvSpPr txBox="true"/>
          <p:nvPr/>
        </p:nvSpPr>
        <p:spPr>
          <a:xfrm rot="0">
            <a:off x="12341352" y="7680655"/>
            <a:ext cx="4693920" cy="104912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Sₖ(t+Δt) = Sₖ(t) + Δt · [ΣInflowₖ − ΣOutflowₖ]</a:t>
            </a:r>
          </a:p>
          <a:p>
            <a:pPr algn="l">
              <a:lnSpc>
                <a:spcPts val="2217"/>
              </a:lnSpc>
            </a:pPr>
            <a:r>
              <a:rPr lang="en-US" sz="1650" i="true">
                <a:solidFill>
                  <a:srgbClr val="14313B"/>
                </a:solidFill>
                <a:latin typeface="Cambria Italics"/>
                <a:ea typeface="Cambria Italics"/>
                <a:cs typeface="Cambria Italics"/>
                <a:sym typeface="Cambria Italics"/>
              </a:rPr>
              <a:t>Selisih % = (X_Δt − X_Δt=1) / X_Δt=1 × 100%</a:t>
            </a:r>
          </a:p>
        </p:txBody>
      </p:sp>
      <p:grpSp>
        <p:nvGrpSpPr>
          <p:cNvPr name="Group 136" id="136"/>
          <p:cNvGrpSpPr/>
          <p:nvPr/>
        </p:nvGrpSpPr>
        <p:grpSpPr>
          <a:xfrm rot="0">
            <a:off x="12755880" y="274320"/>
            <a:ext cx="3931920" cy="411480"/>
            <a:chOff x="0" y="0"/>
            <a:chExt cx="5242560" cy="548640"/>
          </a:xfrm>
        </p:grpSpPr>
        <p:sp>
          <p:nvSpPr>
            <p:cNvPr name="Freeform 137" id="137"/>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38" id="138"/>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2D · Uji struktur</a:t>
              </a:r>
            </a:p>
          </p:txBody>
        </p:sp>
      </p:grpSp>
      <p:grpSp>
        <p:nvGrpSpPr>
          <p:cNvPr name="Group 139" id="139"/>
          <p:cNvGrpSpPr/>
          <p:nvPr/>
        </p:nvGrpSpPr>
        <p:grpSpPr>
          <a:xfrm rot="0">
            <a:off x="16047720" y="9646920"/>
            <a:ext cx="420624" cy="420624"/>
            <a:chOff x="0" y="0"/>
            <a:chExt cx="560832" cy="560832"/>
          </a:xfrm>
        </p:grpSpPr>
        <p:sp>
          <p:nvSpPr>
            <p:cNvPr name="Freeform 140" id="140"/>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41" id="141"/>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Konsistensi Satuan, Batas Model, dan Keseimbangan Stok</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Struktur model lolos seluruh uji verifikasi</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Freeform 66" id="66"/>
          <p:cNvSpPr/>
          <p:nvPr/>
        </p:nvSpPr>
        <p:spPr>
          <a:xfrm flipH="false" flipV="false" rot="0">
            <a:off x="806291" y="231505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7">
              <a:extLst>
                <a:ext uri="{96DAC541-7B7A-43D3-8B79-37D633B846F1}">
                  <asvg:svgBlip xmlns:asvg="http://schemas.microsoft.com/office/drawing/2016/SVG/main" r:embed="rId8"/>
                </a:ext>
              </a:extLst>
            </a:blip>
            <a:stretch>
              <a:fillRect l="0" t="-9" r="0" b="-9"/>
            </a:stretch>
          </a:blipFill>
        </p:spPr>
        <p:txBody>
          <a:bodyPr/>
          <a:p/>
        </p:txBody>
      </p:sp>
      <p:grpSp>
        <p:nvGrpSpPr>
          <p:cNvPr name="Group 67" id="67"/>
          <p:cNvGrpSpPr/>
          <p:nvPr/>
        </p:nvGrpSpPr>
        <p:grpSpPr>
          <a:xfrm rot="0">
            <a:off x="1165860" y="2743200"/>
            <a:ext cx="2674620" cy="1097280"/>
            <a:chOff x="0" y="0"/>
            <a:chExt cx="3566160" cy="1463040"/>
          </a:xfrm>
        </p:grpSpPr>
        <p:sp>
          <p:nvSpPr>
            <p:cNvPr name="Freeform 68" id="68"/>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txBody>
            <a:bodyPr/>
            <a:p/>
          </p:txBody>
        </p:sp>
      </p:grpSp>
      <p:grpSp>
        <p:nvGrpSpPr>
          <p:cNvPr name="Group 69" id="69"/>
          <p:cNvGrpSpPr/>
          <p:nvPr/>
        </p:nvGrpSpPr>
        <p:grpSpPr>
          <a:xfrm rot="0">
            <a:off x="1165860" y="2678906"/>
            <a:ext cx="2674620" cy="1161574"/>
            <a:chOff x="0" y="0"/>
            <a:chExt cx="3566160" cy="1548765"/>
          </a:xfrm>
        </p:grpSpPr>
        <p:sp>
          <p:nvSpPr>
            <p:cNvPr name="Freeform 70" id="70"/>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60" t="0" r="-5760" b="0"/>
              </a:stretch>
            </a:blipFill>
          </p:spPr>
          <p:txBody>
            <a:bodyPr/>
            <a:p/>
          </p:txBody>
        </p:sp>
      </p:grpSp>
      <p:grpSp>
        <p:nvGrpSpPr>
          <p:cNvPr name="Group 71" id="71"/>
          <p:cNvGrpSpPr/>
          <p:nvPr/>
        </p:nvGrpSpPr>
        <p:grpSpPr>
          <a:xfrm rot="0">
            <a:off x="1165860" y="2614612"/>
            <a:ext cx="2674620" cy="1225868"/>
            <a:chOff x="0" y="0"/>
            <a:chExt cx="3566160" cy="1634490"/>
          </a:xfrm>
        </p:grpSpPr>
        <p:sp>
          <p:nvSpPr>
            <p:cNvPr name="Freeform 72" id="72"/>
            <p:cNvSpPr/>
            <p:nvPr/>
          </p:nvSpPr>
          <p:spPr>
            <a:xfrm flipH="false" flipV="false" rot="0">
              <a:off x="0" y="0"/>
              <a:ext cx="3566160" cy="1634490"/>
            </a:xfrm>
            <a:custGeom>
              <a:avLst/>
              <a:gdLst/>
              <a:ahLst/>
              <a:cxnLst/>
              <a:rect r="r" b="b" t="t" l="l"/>
              <a:pathLst>
                <a:path h="1634490" w="3566160">
                  <a:moveTo>
                    <a:pt x="0" y="0"/>
                  </a:moveTo>
                  <a:lnTo>
                    <a:pt x="3566160" y="0"/>
                  </a:lnTo>
                  <a:lnTo>
                    <a:pt x="3566160" y="1634490"/>
                  </a:lnTo>
                  <a:lnTo>
                    <a:pt x="0" y="1634490"/>
                  </a:lnTo>
                  <a:close/>
                </a:path>
              </a:pathLst>
            </a:custGeom>
            <a:blipFill>
              <a:blip r:embed="rId6">
                <a:alphaModFix amt="0"/>
              </a:blip>
              <a:stretch>
                <a:fillRect l="-8805" t="0" r="-8805" b="0"/>
              </a:stretch>
            </a:blipFill>
          </p:spPr>
          <p:txBody>
            <a:bodyPr/>
            <a:p/>
          </p:txBody>
        </p:sp>
        <p:sp>
          <p:nvSpPr>
            <p:cNvPr name="TextBox 73" id="73"/>
            <p:cNvSpPr txBox="true"/>
            <p:nvPr/>
          </p:nvSpPr>
          <p:spPr>
            <a:xfrm>
              <a:off x="0" y="-85725"/>
              <a:ext cx="3566160" cy="1720215"/>
            </a:xfrm>
            <a:prstGeom prst="rect">
              <a:avLst/>
            </a:prstGeom>
          </p:spPr>
          <p:txBody>
            <a:bodyPr anchor="ctr" rtlCol="false" tIns="0" lIns="0" bIns="0" rIns="0"/>
            <a:lstStyle/>
            <a:p>
              <a:pPr algn="l">
                <a:lnSpc>
                  <a:spcPts val="5757"/>
                </a:lnSpc>
              </a:pPr>
              <a:r>
                <a:rPr lang="en-US" sz="4800" b="true">
                  <a:solidFill>
                    <a:srgbClr val="0B5E6E"/>
                  </a:solidFill>
                  <a:latin typeface="Calibri (MS) Bold"/>
                  <a:ea typeface="Calibri (MS) Bold"/>
                  <a:cs typeface="Calibri (MS) Bold"/>
                  <a:sym typeface="Calibri (MS) Bold"/>
                </a:rPr>
                <a:t>0</a:t>
              </a:r>
            </a:p>
          </p:txBody>
        </p:sp>
      </p:grpSp>
      <p:sp>
        <p:nvSpPr>
          <p:cNvPr name="TextBox 74" id="74"/>
          <p:cNvSpPr txBox="true"/>
          <p:nvPr/>
        </p:nvSpPr>
        <p:spPr>
          <a:xfrm rot="0">
            <a:off x="1165860" y="3726180"/>
            <a:ext cx="2674620" cy="9372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ketidaksesuaian satuan</a:t>
            </a:r>
          </a:p>
        </p:txBody>
      </p:sp>
      <p:sp>
        <p:nvSpPr>
          <p:cNvPr name="TextBox 75" id="75"/>
          <p:cNvSpPr txBox="true"/>
          <p:nvPr/>
        </p:nvSpPr>
        <p:spPr>
          <a:xfrm rot="0">
            <a:off x="4046220" y="2519172"/>
            <a:ext cx="4663440" cy="6629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Konsistensi satuan</a:t>
            </a:r>
          </a:p>
        </p:txBody>
      </p:sp>
      <p:sp>
        <p:nvSpPr>
          <p:cNvPr name="TextBox 76" id="76"/>
          <p:cNvSpPr txBox="true"/>
          <p:nvPr/>
        </p:nvSpPr>
        <p:spPr>
          <a:xfrm rot="0">
            <a:off x="4046220" y="3177540"/>
            <a:ext cx="4663440" cy="18973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Vensim Units Check dan Check Model pada seluruh persamaan</a:t>
            </a:r>
          </a:p>
        </p:txBody>
      </p:sp>
      <p:sp>
        <p:nvSpPr>
          <p:cNvPr name="Freeform 77" id="77"/>
          <p:cNvSpPr/>
          <p:nvPr/>
        </p:nvSpPr>
        <p:spPr>
          <a:xfrm flipH="false" flipV="false" rot="0">
            <a:off x="9282779" y="231505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7">
              <a:extLst>
                <a:ext uri="{96DAC541-7B7A-43D3-8B79-37D633B846F1}">
                  <asvg:svgBlip xmlns:asvg="http://schemas.microsoft.com/office/drawing/2016/SVG/main" r:embed="rId8"/>
                </a:ext>
              </a:extLst>
            </a:blip>
            <a:stretch>
              <a:fillRect l="0" t="-9" r="0" b="-9"/>
            </a:stretch>
          </a:blipFill>
        </p:spPr>
        <p:txBody>
          <a:bodyPr/>
          <a:p/>
        </p:txBody>
      </p:sp>
      <p:grpSp>
        <p:nvGrpSpPr>
          <p:cNvPr name="Group 78" id="78"/>
          <p:cNvGrpSpPr/>
          <p:nvPr/>
        </p:nvGrpSpPr>
        <p:grpSpPr>
          <a:xfrm rot="0">
            <a:off x="9642348" y="2743200"/>
            <a:ext cx="2674620" cy="1097280"/>
            <a:chOff x="0" y="0"/>
            <a:chExt cx="3566160" cy="1463040"/>
          </a:xfrm>
        </p:grpSpPr>
        <p:sp>
          <p:nvSpPr>
            <p:cNvPr name="Freeform 79" id="79"/>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txBody>
            <a:bodyPr/>
            <a:p/>
          </p:txBody>
        </p:sp>
      </p:grpSp>
      <p:grpSp>
        <p:nvGrpSpPr>
          <p:cNvPr name="Group 80" id="80"/>
          <p:cNvGrpSpPr/>
          <p:nvPr/>
        </p:nvGrpSpPr>
        <p:grpSpPr>
          <a:xfrm rot="0">
            <a:off x="9642348" y="2678906"/>
            <a:ext cx="2674620" cy="1161574"/>
            <a:chOff x="0" y="0"/>
            <a:chExt cx="3566160" cy="1548765"/>
          </a:xfrm>
        </p:grpSpPr>
        <p:sp>
          <p:nvSpPr>
            <p:cNvPr name="Freeform 81" id="81"/>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60" t="0" r="-5760" b="0"/>
              </a:stretch>
            </a:blipFill>
          </p:spPr>
          <p:txBody>
            <a:bodyPr/>
            <a:p/>
          </p:txBody>
        </p:sp>
      </p:grpSp>
      <p:grpSp>
        <p:nvGrpSpPr>
          <p:cNvPr name="Group 82" id="82"/>
          <p:cNvGrpSpPr/>
          <p:nvPr/>
        </p:nvGrpSpPr>
        <p:grpSpPr>
          <a:xfrm rot="0">
            <a:off x="9642348" y="2614612"/>
            <a:ext cx="2674620" cy="1225868"/>
            <a:chOff x="0" y="0"/>
            <a:chExt cx="3566160" cy="1634490"/>
          </a:xfrm>
        </p:grpSpPr>
        <p:sp>
          <p:nvSpPr>
            <p:cNvPr name="Freeform 83" id="83"/>
            <p:cNvSpPr/>
            <p:nvPr/>
          </p:nvSpPr>
          <p:spPr>
            <a:xfrm flipH="false" flipV="false" rot="0">
              <a:off x="0" y="0"/>
              <a:ext cx="3566160" cy="1634490"/>
            </a:xfrm>
            <a:custGeom>
              <a:avLst/>
              <a:gdLst/>
              <a:ahLst/>
              <a:cxnLst/>
              <a:rect r="r" b="b" t="t" l="l"/>
              <a:pathLst>
                <a:path h="1634490" w="3566160">
                  <a:moveTo>
                    <a:pt x="0" y="0"/>
                  </a:moveTo>
                  <a:lnTo>
                    <a:pt x="3566160" y="0"/>
                  </a:lnTo>
                  <a:lnTo>
                    <a:pt x="3566160" y="1634490"/>
                  </a:lnTo>
                  <a:lnTo>
                    <a:pt x="0" y="1634490"/>
                  </a:lnTo>
                  <a:close/>
                </a:path>
              </a:pathLst>
            </a:custGeom>
            <a:blipFill>
              <a:blip r:embed="rId6">
                <a:alphaModFix amt="0"/>
              </a:blip>
              <a:stretch>
                <a:fillRect l="-8805" t="0" r="-8805" b="0"/>
              </a:stretch>
            </a:blipFill>
          </p:spPr>
          <p:txBody>
            <a:bodyPr/>
            <a:p/>
          </p:txBody>
        </p:sp>
        <p:sp>
          <p:nvSpPr>
            <p:cNvPr name="TextBox 84" id="84"/>
            <p:cNvSpPr txBox="true"/>
            <p:nvPr/>
          </p:nvSpPr>
          <p:spPr>
            <a:xfrm>
              <a:off x="0" y="-85725"/>
              <a:ext cx="3566160" cy="1720215"/>
            </a:xfrm>
            <a:prstGeom prst="rect">
              <a:avLst/>
            </a:prstGeom>
          </p:spPr>
          <p:txBody>
            <a:bodyPr anchor="ctr" rtlCol="false" tIns="0" lIns="0" bIns="0" rIns="0"/>
            <a:lstStyle/>
            <a:p>
              <a:pPr algn="l">
                <a:lnSpc>
                  <a:spcPts val="5757"/>
                </a:lnSpc>
              </a:pPr>
              <a:r>
                <a:rPr lang="en-US" sz="4800" b="true">
                  <a:solidFill>
                    <a:srgbClr val="0B5E6E"/>
                  </a:solidFill>
                  <a:latin typeface="Calibri (MS) Bold"/>
                  <a:ea typeface="Calibri (MS) Bold"/>
                  <a:cs typeface="Calibri (MS) Bold"/>
                  <a:sym typeface="Calibri (MS) Bold"/>
                </a:rPr>
                <a:t>0</a:t>
              </a:r>
            </a:p>
          </p:txBody>
        </p:sp>
      </p:grpSp>
      <p:sp>
        <p:nvSpPr>
          <p:cNvPr name="TextBox 85" id="85"/>
          <p:cNvSpPr txBox="true"/>
          <p:nvPr/>
        </p:nvSpPr>
        <p:spPr>
          <a:xfrm rot="0">
            <a:off x="9642348" y="3726180"/>
            <a:ext cx="2674620" cy="9372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selisih stok</a:t>
            </a:r>
          </a:p>
        </p:txBody>
      </p:sp>
      <p:sp>
        <p:nvSpPr>
          <p:cNvPr name="TextBox 86" id="86"/>
          <p:cNvSpPr txBox="true"/>
          <p:nvPr/>
        </p:nvSpPr>
        <p:spPr>
          <a:xfrm rot="0">
            <a:off x="12522708" y="2519172"/>
            <a:ext cx="4663440" cy="6629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Keseimbangan stok</a:t>
            </a:r>
          </a:p>
        </p:txBody>
      </p:sp>
      <p:sp>
        <p:nvSpPr>
          <p:cNvPr name="TextBox 87" id="87"/>
          <p:cNvSpPr txBox="true"/>
          <p:nvPr/>
        </p:nvSpPr>
        <p:spPr>
          <a:xfrm rot="0">
            <a:off x="12522708" y="3177540"/>
            <a:ext cx="4663440" cy="18973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Stok berikutnya = stok + inflow − outflow, pada 5 stok, 2025–2049</a:t>
            </a:r>
          </a:p>
        </p:txBody>
      </p:sp>
      <p:sp>
        <p:nvSpPr>
          <p:cNvPr name="Freeform 88" id="88"/>
          <p:cNvSpPr/>
          <p:nvPr/>
        </p:nvSpPr>
        <p:spPr>
          <a:xfrm flipH="false" flipV="false" rot="0">
            <a:off x="806291" y="533257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7">
              <a:extLst>
                <a:ext uri="{96DAC541-7B7A-43D3-8B79-37D633B846F1}">
                  <asvg:svgBlip xmlns:asvg="http://schemas.microsoft.com/office/drawing/2016/SVG/main" r:embed="rId8"/>
                </a:ext>
              </a:extLst>
            </a:blip>
            <a:stretch>
              <a:fillRect l="0" t="-9" r="0" b="-9"/>
            </a:stretch>
          </a:blipFill>
        </p:spPr>
        <p:txBody>
          <a:bodyPr/>
          <a:p/>
        </p:txBody>
      </p:sp>
      <p:grpSp>
        <p:nvGrpSpPr>
          <p:cNvPr name="Group 89" id="89"/>
          <p:cNvGrpSpPr/>
          <p:nvPr/>
        </p:nvGrpSpPr>
        <p:grpSpPr>
          <a:xfrm rot="0">
            <a:off x="1165860" y="5760720"/>
            <a:ext cx="2674620" cy="1097280"/>
            <a:chOff x="0" y="0"/>
            <a:chExt cx="3566160" cy="1463040"/>
          </a:xfrm>
        </p:grpSpPr>
        <p:sp>
          <p:nvSpPr>
            <p:cNvPr name="Freeform 90" id="90"/>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txBody>
            <a:bodyPr/>
            <a:p/>
          </p:txBody>
        </p:sp>
      </p:grpSp>
      <p:grpSp>
        <p:nvGrpSpPr>
          <p:cNvPr name="Group 91" id="91"/>
          <p:cNvGrpSpPr/>
          <p:nvPr/>
        </p:nvGrpSpPr>
        <p:grpSpPr>
          <a:xfrm rot="0">
            <a:off x="1165860" y="5696426"/>
            <a:ext cx="2674620" cy="1161574"/>
            <a:chOff x="0" y="0"/>
            <a:chExt cx="3566160" cy="1548765"/>
          </a:xfrm>
        </p:grpSpPr>
        <p:sp>
          <p:nvSpPr>
            <p:cNvPr name="Freeform 92" id="92"/>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60" t="0" r="-5760" b="0"/>
              </a:stretch>
            </a:blipFill>
          </p:spPr>
          <p:txBody>
            <a:bodyPr/>
            <a:p/>
          </p:txBody>
        </p:sp>
      </p:grpSp>
      <p:grpSp>
        <p:nvGrpSpPr>
          <p:cNvPr name="Group 93" id="93"/>
          <p:cNvGrpSpPr/>
          <p:nvPr/>
        </p:nvGrpSpPr>
        <p:grpSpPr>
          <a:xfrm rot="0">
            <a:off x="1165860" y="5632132"/>
            <a:ext cx="2674620" cy="1225868"/>
            <a:chOff x="0" y="0"/>
            <a:chExt cx="3566160" cy="1634490"/>
          </a:xfrm>
        </p:grpSpPr>
        <p:sp>
          <p:nvSpPr>
            <p:cNvPr name="Freeform 94" id="94"/>
            <p:cNvSpPr/>
            <p:nvPr/>
          </p:nvSpPr>
          <p:spPr>
            <a:xfrm flipH="false" flipV="false" rot="0">
              <a:off x="0" y="0"/>
              <a:ext cx="3566160" cy="1634490"/>
            </a:xfrm>
            <a:custGeom>
              <a:avLst/>
              <a:gdLst/>
              <a:ahLst/>
              <a:cxnLst/>
              <a:rect r="r" b="b" t="t" l="l"/>
              <a:pathLst>
                <a:path h="1634490" w="3566160">
                  <a:moveTo>
                    <a:pt x="0" y="0"/>
                  </a:moveTo>
                  <a:lnTo>
                    <a:pt x="3566160" y="0"/>
                  </a:lnTo>
                  <a:lnTo>
                    <a:pt x="3566160" y="1634490"/>
                  </a:lnTo>
                  <a:lnTo>
                    <a:pt x="0" y="1634490"/>
                  </a:lnTo>
                  <a:close/>
                </a:path>
              </a:pathLst>
            </a:custGeom>
            <a:blipFill>
              <a:blip r:embed="rId6">
                <a:alphaModFix amt="0"/>
              </a:blip>
              <a:stretch>
                <a:fillRect l="-8805" t="0" r="-8805" b="0"/>
              </a:stretch>
            </a:blipFill>
          </p:spPr>
          <p:txBody>
            <a:bodyPr/>
            <a:p/>
          </p:txBody>
        </p:sp>
        <p:sp>
          <p:nvSpPr>
            <p:cNvPr name="TextBox 95" id="95"/>
            <p:cNvSpPr txBox="true"/>
            <p:nvPr/>
          </p:nvSpPr>
          <p:spPr>
            <a:xfrm>
              <a:off x="0" y="-85725"/>
              <a:ext cx="3566160" cy="1720215"/>
            </a:xfrm>
            <a:prstGeom prst="rect">
              <a:avLst/>
            </a:prstGeom>
          </p:spPr>
          <p:txBody>
            <a:bodyPr anchor="ctr" rtlCol="false" tIns="0" lIns="0" bIns="0" rIns="0"/>
            <a:lstStyle/>
            <a:p>
              <a:pPr algn="l">
                <a:lnSpc>
                  <a:spcPts val="5757"/>
                </a:lnSpc>
              </a:pPr>
              <a:r>
                <a:rPr lang="en-US" sz="4800" b="true">
                  <a:solidFill>
                    <a:srgbClr val="0B5E6E"/>
                  </a:solidFill>
                  <a:latin typeface="Calibri (MS) Bold"/>
                  <a:ea typeface="Calibri (MS) Bold"/>
                  <a:cs typeface="Calibri (MS) Bold"/>
                  <a:sym typeface="Calibri (MS) Bold"/>
                </a:rPr>
                <a:t>6 / 6</a:t>
              </a:r>
            </a:p>
          </p:txBody>
        </p:sp>
      </p:grpSp>
      <p:sp>
        <p:nvSpPr>
          <p:cNvPr name="TextBox 96" id="96"/>
          <p:cNvSpPr txBox="true"/>
          <p:nvPr/>
        </p:nvSpPr>
        <p:spPr>
          <a:xfrm rot="0">
            <a:off x="1165860" y="6743700"/>
            <a:ext cx="2674620" cy="9372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loop berfungsi</a:t>
            </a:r>
          </a:p>
        </p:txBody>
      </p:sp>
      <p:sp>
        <p:nvSpPr>
          <p:cNvPr name="TextBox 97" id="97"/>
          <p:cNvSpPr txBox="true"/>
          <p:nvPr/>
        </p:nvSpPr>
        <p:spPr>
          <a:xfrm rot="0">
            <a:off x="4046220" y="5536692"/>
            <a:ext cx="4663440" cy="6629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Uji feedback loop</a:t>
            </a:r>
          </a:p>
        </p:txBody>
      </p:sp>
      <p:sp>
        <p:nvSpPr>
          <p:cNvPr name="TextBox 98" id="98"/>
          <p:cNvSpPr txBox="true"/>
          <p:nvPr/>
        </p:nvSpPr>
        <p:spPr>
          <a:xfrm rot="0">
            <a:off x="4046220" y="6195060"/>
            <a:ext cx="4663440" cy="18973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Setiap balancing loop yang dinonaktifkan membuat pertumbuhan lebih cepat</a:t>
            </a:r>
          </a:p>
        </p:txBody>
      </p:sp>
      <p:sp>
        <p:nvSpPr>
          <p:cNvPr name="Freeform 99" id="99"/>
          <p:cNvSpPr/>
          <p:nvPr/>
        </p:nvSpPr>
        <p:spPr>
          <a:xfrm flipH="false" flipV="false" rot="0">
            <a:off x="9282779" y="533257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7">
              <a:extLst>
                <a:ext uri="{96DAC541-7B7A-43D3-8B79-37D633B846F1}">
                  <asvg:svgBlip xmlns:asvg="http://schemas.microsoft.com/office/drawing/2016/SVG/main" r:embed="rId8"/>
                </a:ext>
              </a:extLst>
            </a:blip>
            <a:stretch>
              <a:fillRect l="0" t="-9" r="0" b="-9"/>
            </a:stretch>
          </a:blipFill>
        </p:spPr>
        <p:txBody>
          <a:bodyPr/>
          <a:p/>
        </p:txBody>
      </p:sp>
      <p:grpSp>
        <p:nvGrpSpPr>
          <p:cNvPr name="Group 100" id="100"/>
          <p:cNvGrpSpPr/>
          <p:nvPr/>
        </p:nvGrpSpPr>
        <p:grpSpPr>
          <a:xfrm rot="0">
            <a:off x="9642348" y="5760720"/>
            <a:ext cx="2674620" cy="1097280"/>
            <a:chOff x="0" y="0"/>
            <a:chExt cx="3566160" cy="1463040"/>
          </a:xfrm>
        </p:grpSpPr>
        <p:sp>
          <p:nvSpPr>
            <p:cNvPr name="Freeform 101" id="101"/>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txBody>
            <a:bodyPr/>
            <a:p/>
          </p:txBody>
        </p:sp>
      </p:grpSp>
      <p:grpSp>
        <p:nvGrpSpPr>
          <p:cNvPr name="Group 102" id="102"/>
          <p:cNvGrpSpPr/>
          <p:nvPr/>
        </p:nvGrpSpPr>
        <p:grpSpPr>
          <a:xfrm rot="0">
            <a:off x="9642348" y="5696426"/>
            <a:ext cx="2674620" cy="1161574"/>
            <a:chOff x="0" y="0"/>
            <a:chExt cx="3566160" cy="1548765"/>
          </a:xfrm>
        </p:grpSpPr>
        <p:sp>
          <p:nvSpPr>
            <p:cNvPr name="Freeform 103" id="103"/>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60" t="0" r="-5760" b="0"/>
              </a:stretch>
            </a:blipFill>
          </p:spPr>
          <p:txBody>
            <a:bodyPr/>
            <a:p/>
          </p:txBody>
        </p:sp>
      </p:grpSp>
      <p:grpSp>
        <p:nvGrpSpPr>
          <p:cNvPr name="Group 104" id="104"/>
          <p:cNvGrpSpPr/>
          <p:nvPr/>
        </p:nvGrpSpPr>
        <p:grpSpPr>
          <a:xfrm rot="0">
            <a:off x="9642348" y="5632132"/>
            <a:ext cx="2674620" cy="1225868"/>
            <a:chOff x="0" y="0"/>
            <a:chExt cx="3566160" cy="1634490"/>
          </a:xfrm>
        </p:grpSpPr>
        <p:sp>
          <p:nvSpPr>
            <p:cNvPr name="Freeform 105" id="105"/>
            <p:cNvSpPr/>
            <p:nvPr/>
          </p:nvSpPr>
          <p:spPr>
            <a:xfrm flipH="false" flipV="false" rot="0">
              <a:off x="0" y="0"/>
              <a:ext cx="3566160" cy="1634490"/>
            </a:xfrm>
            <a:custGeom>
              <a:avLst/>
              <a:gdLst/>
              <a:ahLst/>
              <a:cxnLst/>
              <a:rect r="r" b="b" t="t" l="l"/>
              <a:pathLst>
                <a:path h="1634490" w="3566160">
                  <a:moveTo>
                    <a:pt x="0" y="0"/>
                  </a:moveTo>
                  <a:lnTo>
                    <a:pt x="3566160" y="0"/>
                  </a:lnTo>
                  <a:lnTo>
                    <a:pt x="3566160" y="1634490"/>
                  </a:lnTo>
                  <a:lnTo>
                    <a:pt x="0" y="1634490"/>
                  </a:lnTo>
                  <a:close/>
                </a:path>
              </a:pathLst>
            </a:custGeom>
            <a:blipFill>
              <a:blip r:embed="rId6">
                <a:alphaModFix amt="0"/>
              </a:blip>
              <a:stretch>
                <a:fillRect l="-8805" t="0" r="-8805" b="0"/>
              </a:stretch>
            </a:blipFill>
          </p:spPr>
          <p:txBody>
            <a:bodyPr/>
            <a:p/>
          </p:txBody>
        </p:sp>
        <p:sp>
          <p:nvSpPr>
            <p:cNvPr name="TextBox 106" id="106"/>
            <p:cNvSpPr txBox="true"/>
            <p:nvPr/>
          </p:nvSpPr>
          <p:spPr>
            <a:xfrm>
              <a:off x="0" y="-85725"/>
              <a:ext cx="3566160" cy="1720215"/>
            </a:xfrm>
            <a:prstGeom prst="rect">
              <a:avLst/>
            </a:prstGeom>
          </p:spPr>
          <p:txBody>
            <a:bodyPr anchor="ctr" rtlCol="false" tIns="0" lIns="0" bIns="0" rIns="0"/>
            <a:lstStyle/>
            <a:p>
              <a:pPr algn="l">
                <a:lnSpc>
                  <a:spcPts val="5757"/>
                </a:lnSpc>
              </a:pPr>
              <a:r>
                <a:rPr lang="en-US" sz="4800" b="true">
                  <a:solidFill>
                    <a:srgbClr val="0B5E6E"/>
                  </a:solidFill>
                  <a:latin typeface="Calibri (MS) Bold"/>
                  <a:ea typeface="Calibri (MS) Bold"/>
                  <a:cs typeface="Calibri (MS) Bold"/>
                  <a:sym typeface="Calibri (MS) Bold"/>
                </a:rPr>
                <a:t>0 gagal</a:t>
              </a:r>
            </a:p>
          </p:txBody>
        </p:sp>
      </p:grpSp>
      <p:sp>
        <p:nvSpPr>
          <p:cNvPr name="TextBox 107" id="107"/>
          <p:cNvSpPr txBox="true"/>
          <p:nvPr/>
        </p:nvSpPr>
        <p:spPr>
          <a:xfrm rot="0">
            <a:off x="9642348" y="6743700"/>
            <a:ext cx="2674620" cy="9372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dari 17 uji</a:t>
            </a:r>
          </a:p>
        </p:txBody>
      </p:sp>
      <p:sp>
        <p:nvSpPr>
          <p:cNvPr name="TextBox 108" id="108"/>
          <p:cNvSpPr txBox="true"/>
          <p:nvPr/>
        </p:nvSpPr>
        <p:spPr>
          <a:xfrm rot="0">
            <a:off x="12522708" y="5536692"/>
            <a:ext cx="4663440" cy="6629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Uji kondisi ekstrem</a:t>
            </a:r>
          </a:p>
        </p:txBody>
      </p:sp>
      <p:sp>
        <p:nvSpPr>
          <p:cNvPr name="TextBox 109" id="109"/>
          <p:cNvSpPr txBox="true"/>
          <p:nvPr/>
        </p:nvSpPr>
        <p:spPr>
          <a:xfrm rot="0">
            <a:off x="12522708" y="6195060"/>
            <a:ext cx="4663440" cy="18973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15 lolos, 2 lolos dengan catatan; 4 titik struktur diperbaiki (TPK &gt; 1, RDDL negatif, 2 komponen daya tarik tanpa batas)</a:t>
            </a:r>
          </a:p>
        </p:txBody>
      </p:sp>
      <p:grpSp>
        <p:nvGrpSpPr>
          <p:cNvPr name="Group 110" id="110"/>
          <p:cNvGrpSpPr/>
          <p:nvPr/>
        </p:nvGrpSpPr>
        <p:grpSpPr>
          <a:xfrm rot="0">
            <a:off x="822960" y="8435340"/>
            <a:ext cx="16637508" cy="822960"/>
            <a:chOff x="0" y="0"/>
            <a:chExt cx="22183344" cy="1097280"/>
          </a:xfrm>
        </p:grpSpPr>
        <p:sp>
          <p:nvSpPr>
            <p:cNvPr name="Freeform 111" id="111"/>
            <p:cNvSpPr/>
            <p:nvPr/>
          </p:nvSpPr>
          <p:spPr>
            <a:xfrm flipH="false" flipV="false" rot="0">
              <a:off x="0" y="0"/>
              <a:ext cx="22183344" cy="1097280"/>
            </a:xfrm>
            <a:custGeom>
              <a:avLst/>
              <a:gdLst/>
              <a:ahLst/>
              <a:cxnLst/>
              <a:rect r="r" b="b" t="t" l="l"/>
              <a:pathLst>
                <a:path h="1097280" w="22183344">
                  <a:moveTo>
                    <a:pt x="0" y="182880"/>
                  </a:moveTo>
                  <a:cubicBezTo>
                    <a:pt x="0" y="81915"/>
                    <a:pt x="81915" y="0"/>
                    <a:pt x="182880" y="0"/>
                  </a:cubicBezTo>
                  <a:lnTo>
                    <a:pt x="22000463" y="0"/>
                  </a:lnTo>
                  <a:cubicBezTo>
                    <a:pt x="22101428" y="0"/>
                    <a:pt x="22183344" y="81915"/>
                    <a:pt x="22183344" y="182880"/>
                  </a:cubicBezTo>
                  <a:lnTo>
                    <a:pt x="22183344" y="914400"/>
                  </a:lnTo>
                  <a:cubicBezTo>
                    <a:pt x="22183344" y="1015365"/>
                    <a:pt x="22101428" y="1097280"/>
                    <a:pt x="22000463" y="1097280"/>
                  </a:cubicBezTo>
                  <a:lnTo>
                    <a:pt x="182880" y="1097280"/>
                  </a:lnTo>
                  <a:cubicBezTo>
                    <a:pt x="81915" y="1097280"/>
                    <a:pt x="0" y="1015365"/>
                    <a:pt x="0" y="914400"/>
                  </a:cubicBezTo>
                  <a:close/>
                </a:path>
              </a:pathLst>
            </a:custGeom>
            <a:solidFill>
              <a:srgbClr val="FFF1BF"/>
            </a:solidFill>
          </p:spPr>
          <p:txBody>
            <a:bodyPr/>
            <a:p/>
          </p:txBody>
        </p:sp>
      </p:grpSp>
      <p:grpSp>
        <p:nvGrpSpPr>
          <p:cNvPr name="Group 112" id="112"/>
          <p:cNvGrpSpPr/>
          <p:nvPr/>
        </p:nvGrpSpPr>
        <p:grpSpPr>
          <a:xfrm rot="0">
            <a:off x="1234440" y="8435340"/>
            <a:ext cx="15814548" cy="822960"/>
            <a:chOff x="0" y="0"/>
            <a:chExt cx="21086064" cy="1097280"/>
          </a:xfrm>
        </p:grpSpPr>
        <p:sp>
          <p:nvSpPr>
            <p:cNvPr name="Freeform 113" id="113"/>
            <p:cNvSpPr/>
            <p:nvPr/>
          </p:nvSpPr>
          <p:spPr>
            <a:xfrm flipH="false" flipV="false" rot="0">
              <a:off x="0" y="0"/>
              <a:ext cx="21086063" cy="1097280"/>
            </a:xfrm>
            <a:custGeom>
              <a:avLst/>
              <a:gdLst/>
              <a:ahLst/>
              <a:cxnLst/>
              <a:rect r="r" b="b" t="t" l="l"/>
              <a:pathLst>
                <a:path h="1097280" w="21086063">
                  <a:moveTo>
                    <a:pt x="0" y="0"/>
                  </a:moveTo>
                  <a:lnTo>
                    <a:pt x="21086063" y="0"/>
                  </a:lnTo>
                  <a:lnTo>
                    <a:pt x="21086063" y="1097280"/>
                  </a:lnTo>
                  <a:lnTo>
                    <a:pt x="0" y="1097280"/>
                  </a:lnTo>
                  <a:close/>
                </a:path>
              </a:pathLst>
            </a:custGeom>
            <a:blipFill>
              <a:blip r:embed="rId4">
                <a:alphaModFix amt="0"/>
              </a:blip>
              <a:stretch>
                <a:fillRect l="0" t="-324177" r="0" b="-324177"/>
              </a:stretch>
            </a:blipFill>
          </p:spPr>
          <p:txBody>
            <a:bodyPr/>
            <a:p/>
          </p:txBody>
        </p:sp>
      </p:grpSp>
      <p:grpSp>
        <p:nvGrpSpPr>
          <p:cNvPr name="Group 114" id="114"/>
          <p:cNvGrpSpPr/>
          <p:nvPr/>
        </p:nvGrpSpPr>
        <p:grpSpPr>
          <a:xfrm rot="0">
            <a:off x="1234440" y="8406765"/>
            <a:ext cx="15814548" cy="851535"/>
            <a:chOff x="0" y="0"/>
            <a:chExt cx="21086064" cy="1135380"/>
          </a:xfrm>
        </p:grpSpPr>
        <p:sp>
          <p:nvSpPr>
            <p:cNvPr name="Freeform 115" id="115"/>
            <p:cNvSpPr/>
            <p:nvPr/>
          </p:nvSpPr>
          <p:spPr>
            <a:xfrm flipH="false" flipV="false" rot="0">
              <a:off x="0" y="0"/>
              <a:ext cx="21086063" cy="1135380"/>
            </a:xfrm>
            <a:custGeom>
              <a:avLst/>
              <a:gdLst/>
              <a:ahLst/>
              <a:cxnLst/>
              <a:rect r="r" b="b" t="t" l="l"/>
              <a:pathLst>
                <a:path h="1135380" w="21086063">
                  <a:moveTo>
                    <a:pt x="0" y="0"/>
                  </a:moveTo>
                  <a:lnTo>
                    <a:pt x="21086063" y="0"/>
                  </a:lnTo>
                  <a:lnTo>
                    <a:pt x="21086063" y="1135380"/>
                  </a:lnTo>
                  <a:lnTo>
                    <a:pt x="0" y="1135380"/>
                  </a:lnTo>
                  <a:close/>
                </a:path>
              </a:pathLst>
            </a:custGeom>
            <a:blipFill>
              <a:blip r:embed="rId5">
                <a:alphaModFix amt="0"/>
              </a:blip>
              <a:stretch>
                <a:fillRect l="0" t="-311620" r="0" b="-311620"/>
              </a:stretch>
            </a:blipFill>
          </p:spPr>
          <p:txBody>
            <a:bodyPr/>
            <a:p/>
          </p:txBody>
        </p:sp>
      </p:grpSp>
      <p:grpSp>
        <p:nvGrpSpPr>
          <p:cNvPr name="Group 116" id="116"/>
          <p:cNvGrpSpPr/>
          <p:nvPr/>
        </p:nvGrpSpPr>
        <p:grpSpPr>
          <a:xfrm rot="0">
            <a:off x="1234440" y="8378190"/>
            <a:ext cx="15814548" cy="880110"/>
            <a:chOff x="0" y="0"/>
            <a:chExt cx="21086064" cy="1173480"/>
          </a:xfrm>
        </p:grpSpPr>
        <p:sp>
          <p:nvSpPr>
            <p:cNvPr name="Freeform 117" id="117"/>
            <p:cNvSpPr/>
            <p:nvPr/>
          </p:nvSpPr>
          <p:spPr>
            <a:xfrm flipH="false" flipV="false" rot="0">
              <a:off x="0" y="0"/>
              <a:ext cx="21086065" cy="1173480"/>
            </a:xfrm>
            <a:custGeom>
              <a:avLst/>
              <a:gdLst/>
              <a:ahLst/>
              <a:cxnLst/>
              <a:rect r="r" b="b" t="t" l="l"/>
              <a:pathLst>
                <a:path h="1173480" w="21086065">
                  <a:moveTo>
                    <a:pt x="0" y="0"/>
                  </a:moveTo>
                  <a:lnTo>
                    <a:pt x="21086065" y="0"/>
                  </a:lnTo>
                  <a:lnTo>
                    <a:pt x="21086065" y="1173480"/>
                  </a:lnTo>
                  <a:lnTo>
                    <a:pt x="0" y="1173480"/>
                  </a:lnTo>
                  <a:close/>
                </a:path>
              </a:pathLst>
            </a:custGeom>
            <a:blipFill>
              <a:blip r:embed="rId6">
                <a:alphaModFix amt="0"/>
              </a:blip>
              <a:stretch>
                <a:fillRect l="0" t="-300123" r="0" b="-300123"/>
              </a:stretch>
            </a:blipFill>
          </p:spPr>
          <p:txBody>
            <a:bodyPr/>
            <a:p/>
          </p:txBody>
        </p:sp>
        <p:sp>
          <p:nvSpPr>
            <p:cNvPr name="TextBox 118" id="118"/>
            <p:cNvSpPr txBox="true"/>
            <p:nvPr/>
          </p:nvSpPr>
          <p:spPr>
            <a:xfrm>
              <a:off x="0" y="-38100"/>
              <a:ext cx="21086064" cy="121158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Batas model: 61 variabel = 26 dihitung model + 35 input. Shock eksternal, harga, promosi, musim, dan dampak lingkungan tidak dimasukkan.</a:t>
              </a:r>
            </a:p>
          </p:txBody>
        </p:sp>
      </p:grpSp>
      <p:sp>
        <p:nvSpPr>
          <p:cNvPr name="TextBox 119" id="119"/>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42</a:t>
            </a:r>
          </a:p>
        </p:txBody>
      </p:sp>
      <p:grpSp>
        <p:nvGrpSpPr>
          <p:cNvPr name="Group 120" id="120"/>
          <p:cNvGrpSpPr/>
          <p:nvPr/>
        </p:nvGrpSpPr>
        <p:grpSpPr>
          <a:xfrm rot="0">
            <a:off x="12755880" y="274320"/>
            <a:ext cx="3931920" cy="411480"/>
            <a:chOff x="0" y="0"/>
            <a:chExt cx="5242560" cy="548640"/>
          </a:xfrm>
        </p:grpSpPr>
        <p:sp>
          <p:nvSpPr>
            <p:cNvPr name="Freeform 121" id="121"/>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22" id="122"/>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2D · Uji struktur</a:t>
              </a:r>
            </a:p>
          </p:txBody>
        </p:sp>
      </p:grpSp>
      <p:grpSp>
        <p:nvGrpSpPr>
          <p:cNvPr name="Group 123" id="123"/>
          <p:cNvGrpSpPr/>
          <p:nvPr/>
        </p:nvGrpSpPr>
        <p:grpSpPr>
          <a:xfrm rot="0">
            <a:off x="16047720" y="9646920"/>
            <a:ext cx="420624" cy="420624"/>
            <a:chOff x="0" y="0"/>
            <a:chExt cx="560832" cy="560832"/>
          </a:xfrm>
        </p:grpSpPr>
        <p:sp>
          <p:nvSpPr>
            <p:cNvPr name="Freeform 124" id="124"/>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25" id="125"/>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Uji Feedback Loop</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Loop kepadatan (B1) adalah balancing loop yang paling kuat</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822960" y="2188845"/>
            <a:ext cx="10149840" cy="62293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Jumlah wisatawan 2050 (juta kunjungan) saat satu loop dinonaktifkan</a:t>
            </a:r>
          </a:p>
        </p:txBody>
      </p:sp>
      <p:grpSp>
        <p:nvGrpSpPr>
          <p:cNvPr name="Group 67" id="67"/>
          <p:cNvGrpSpPr/>
          <p:nvPr/>
        </p:nvGrpSpPr>
        <p:grpSpPr>
          <a:xfrm rot="0">
            <a:off x="11384280" y="2400300"/>
            <a:ext cx="6076188" cy="2125980"/>
            <a:chOff x="0" y="0"/>
            <a:chExt cx="8101584" cy="2834640"/>
          </a:xfrm>
        </p:grpSpPr>
        <p:sp>
          <p:nvSpPr>
            <p:cNvPr name="Freeform 68" id="68"/>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txBody>
            <a:bodyPr/>
            <a:p/>
          </p:txBody>
        </p:sp>
      </p:grpSp>
      <p:grpSp>
        <p:nvGrpSpPr>
          <p:cNvPr name="Group 69" id="69"/>
          <p:cNvGrpSpPr/>
          <p:nvPr/>
        </p:nvGrpSpPr>
        <p:grpSpPr>
          <a:xfrm rot="0">
            <a:off x="11727180" y="2564892"/>
            <a:ext cx="5486400" cy="685800"/>
            <a:chOff x="0" y="0"/>
            <a:chExt cx="7315200" cy="914400"/>
          </a:xfrm>
        </p:grpSpPr>
        <p:sp>
          <p:nvSpPr>
            <p:cNvPr name="Freeform 70" id="70"/>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txBody>
            <a:bodyPr/>
            <a:p/>
          </p:txBody>
        </p:sp>
      </p:grpSp>
      <p:grpSp>
        <p:nvGrpSpPr>
          <p:cNvPr name="Group 71" id="71"/>
          <p:cNvGrpSpPr/>
          <p:nvPr/>
        </p:nvGrpSpPr>
        <p:grpSpPr>
          <a:xfrm rot="0">
            <a:off x="11727180" y="2514886"/>
            <a:ext cx="5486400" cy="735806"/>
            <a:chOff x="0" y="0"/>
            <a:chExt cx="7315200" cy="981075"/>
          </a:xfrm>
        </p:grpSpPr>
        <p:sp>
          <p:nvSpPr>
            <p:cNvPr name="Freeform 72" id="72"/>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185" r="0" b="-95185"/>
              </a:stretch>
            </a:blipFill>
          </p:spPr>
          <p:txBody>
            <a:bodyPr/>
            <a:p/>
          </p:txBody>
        </p:sp>
      </p:grpSp>
      <p:grpSp>
        <p:nvGrpSpPr>
          <p:cNvPr name="Group 73" id="73"/>
          <p:cNvGrpSpPr/>
          <p:nvPr/>
        </p:nvGrpSpPr>
        <p:grpSpPr>
          <a:xfrm rot="0">
            <a:off x="11727180" y="2464879"/>
            <a:ext cx="5486400" cy="785812"/>
            <a:chOff x="0" y="0"/>
            <a:chExt cx="7315200" cy="1047750"/>
          </a:xfrm>
        </p:grpSpPr>
        <p:sp>
          <p:nvSpPr>
            <p:cNvPr name="Freeform 74" id="74"/>
            <p:cNvSpPr/>
            <p:nvPr/>
          </p:nvSpPr>
          <p:spPr>
            <a:xfrm flipH="false" flipV="false" rot="0">
              <a:off x="0" y="0"/>
              <a:ext cx="7315200" cy="1047750"/>
            </a:xfrm>
            <a:custGeom>
              <a:avLst/>
              <a:gdLst/>
              <a:ahLst/>
              <a:cxnLst/>
              <a:rect r="r" b="b" t="t" l="l"/>
              <a:pathLst>
                <a:path h="1047750" w="7315200">
                  <a:moveTo>
                    <a:pt x="0" y="0"/>
                  </a:moveTo>
                  <a:lnTo>
                    <a:pt x="7315200" y="0"/>
                  </a:lnTo>
                  <a:lnTo>
                    <a:pt x="7315200" y="1047750"/>
                  </a:lnTo>
                  <a:lnTo>
                    <a:pt x="0" y="1047750"/>
                  </a:lnTo>
                  <a:close/>
                </a:path>
              </a:pathLst>
            </a:custGeom>
            <a:blipFill>
              <a:blip r:embed="rId6">
                <a:alphaModFix amt="0"/>
              </a:blip>
              <a:stretch>
                <a:fillRect l="0" t="-86041" r="0" b="-86041"/>
              </a:stretch>
            </a:blipFill>
          </p:spPr>
          <p:txBody>
            <a:bodyPr/>
            <a:p/>
          </p:txBody>
        </p:sp>
        <p:sp>
          <p:nvSpPr>
            <p:cNvPr name="TextBox 75" id="75"/>
            <p:cNvSpPr txBox="true"/>
            <p:nvPr/>
          </p:nvSpPr>
          <p:spPr>
            <a:xfrm>
              <a:off x="0" y="-66675"/>
              <a:ext cx="7315200" cy="1114425"/>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+160,2%</a:t>
              </a:r>
            </a:p>
          </p:txBody>
        </p:sp>
      </p:grpSp>
      <p:sp>
        <p:nvSpPr>
          <p:cNvPr name="TextBox 76" id="76"/>
          <p:cNvSpPr txBox="true"/>
          <p:nvPr/>
        </p:nvSpPr>
        <p:spPr>
          <a:xfrm rot="0">
            <a:off x="11727180" y="3177540"/>
            <a:ext cx="5486400" cy="1280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wisatawan 2050 saat B1 dimatikan; 5 dari 6 variabel berubah &gt; 1%</a:t>
            </a:r>
          </a:p>
        </p:txBody>
      </p:sp>
      <p:grpSp>
        <p:nvGrpSpPr>
          <p:cNvPr name="Group 77" id="77"/>
          <p:cNvGrpSpPr/>
          <p:nvPr/>
        </p:nvGrpSpPr>
        <p:grpSpPr>
          <a:xfrm rot="0">
            <a:off x="11384280" y="4732020"/>
            <a:ext cx="6076188" cy="2125980"/>
            <a:chOff x="0" y="0"/>
            <a:chExt cx="8101584" cy="2834640"/>
          </a:xfrm>
        </p:grpSpPr>
        <p:sp>
          <p:nvSpPr>
            <p:cNvPr name="Freeform 78" id="78"/>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txBody>
            <a:bodyPr/>
            <a:p/>
          </p:txBody>
        </p:sp>
      </p:grpSp>
      <p:grpSp>
        <p:nvGrpSpPr>
          <p:cNvPr name="Group 79" id="79"/>
          <p:cNvGrpSpPr/>
          <p:nvPr/>
        </p:nvGrpSpPr>
        <p:grpSpPr>
          <a:xfrm rot="0">
            <a:off x="11727180" y="4896612"/>
            <a:ext cx="5486400" cy="685800"/>
            <a:chOff x="0" y="0"/>
            <a:chExt cx="7315200" cy="914400"/>
          </a:xfrm>
        </p:grpSpPr>
        <p:sp>
          <p:nvSpPr>
            <p:cNvPr name="Freeform 80" id="80"/>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txBody>
            <a:bodyPr/>
            <a:p/>
          </p:txBody>
        </p:sp>
      </p:grpSp>
      <p:grpSp>
        <p:nvGrpSpPr>
          <p:cNvPr name="Group 81" id="81"/>
          <p:cNvGrpSpPr/>
          <p:nvPr/>
        </p:nvGrpSpPr>
        <p:grpSpPr>
          <a:xfrm rot="0">
            <a:off x="11727180" y="4846606"/>
            <a:ext cx="5486400" cy="735806"/>
            <a:chOff x="0" y="0"/>
            <a:chExt cx="7315200" cy="981075"/>
          </a:xfrm>
        </p:grpSpPr>
        <p:sp>
          <p:nvSpPr>
            <p:cNvPr name="Freeform 82" id="82"/>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185" r="0" b="-95185"/>
              </a:stretch>
            </a:blipFill>
          </p:spPr>
          <p:txBody>
            <a:bodyPr/>
            <a:p/>
          </p:txBody>
        </p:sp>
      </p:grpSp>
      <p:grpSp>
        <p:nvGrpSpPr>
          <p:cNvPr name="Group 83" id="83"/>
          <p:cNvGrpSpPr/>
          <p:nvPr/>
        </p:nvGrpSpPr>
        <p:grpSpPr>
          <a:xfrm rot="0">
            <a:off x="11727180" y="4796600"/>
            <a:ext cx="5486400" cy="785812"/>
            <a:chOff x="0" y="0"/>
            <a:chExt cx="7315200" cy="1047750"/>
          </a:xfrm>
        </p:grpSpPr>
        <p:sp>
          <p:nvSpPr>
            <p:cNvPr name="Freeform 84" id="84"/>
            <p:cNvSpPr/>
            <p:nvPr/>
          </p:nvSpPr>
          <p:spPr>
            <a:xfrm flipH="false" flipV="false" rot="0">
              <a:off x="0" y="0"/>
              <a:ext cx="7315200" cy="1047750"/>
            </a:xfrm>
            <a:custGeom>
              <a:avLst/>
              <a:gdLst/>
              <a:ahLst/>
              <a:cxnLst/>
              <a:rect r="r" b="b" t="t" l="l"/>
              <a:pathLst>
                <a:path h="1047750" w="7315200">
                  <a:moveTo>
                    <a:pt x="0" y="0"/>
                  </a:moveTo>
                  <a:lnTo>
                    <a:pt x="7315200" y="0"/>
                  </a:lnTo>
                  <a:lnTo>
                    <a:pt x="7315200" y="1047750"/>
                  </a:lnTo>
                  <a:lnTo>
                    <a:pt x="0" y="1047750"/>
                  </a:lnTo>
                  <a:close/>
                </a:path>
              </a:pathLst>
            </a:custGeom>
            <a:blipFill>
              <a:blip r:embed="rId6">
                <a:alphaModFix amt="0"/>
              </a:blip>
              <a:stretch>
                <a:fillRect l="0" t="-86041" r="0" b="-86041"/>
              </a:stretch>
            </a:blipFill>
          </p:spPr>
          <p:txBody>
            <a:bodyPr/>
            <a:p/>
          </p:txBody>
        </p:sp>
        <p:sp>
          <p:nvSpPr>
            <p:cNvPr name="TextBox 85" id="85"/>
            <p:cNvSpPr txBox="true"/>
            <p:nvPr/>
          </p:nvSpPr>
          <p:spPr>
            <a:xfrm>
              <a:off x="0" y="-66675"/>
              <a:ext cx="7315200" cy="1114425"/>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Saling terkait</a:t>
              </a:r>
            </a:p>
          </p:txBody>
        </p:sp>
      </p:grpSp>
      <p:sp>
        <p:nvSpPr>
          <p:cNvPr name="TextBox 86" id="86"/>
          <p:cNvSpPr txBox="true"/>
          <p:nvPr/>
        </p:nvSpPr>
        <p:spPr>
          <a:xfrm rot="0">
            <a:off x="11727180" y="5509260"/>
            <a:ext cx="5486400" cy="1280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B1 saja dimatikan (250,3 juta) &gt; semua balancing loop dimatikan (217,4 juta), karena R2 tetap menaikkan daya tarik (1,0696)</a:t>
            </a:r>
          </a:p>
        </p:txBody>
      </p:sp>
      <p:grpSp>
        <p:nvGrpSpPr>
          <p:cNvPr name="Group 87" id="87"/>
          <p:cNvGrpSpPr/>
          <p:nvPr/>
        </p:nvGrpSpPr>
        <p:grpSpPr>
          <a:xfrm rot="0">
            <a:off x="11384280" y="7063740"/>
            <a:ext cx="6076188" cy="2125980"/>
            <a:chOff x="0" y="0"/>
            <a:chExt cx="8101584" cy="2834640"/>
          </a:xfrm>
        </p:grpSpPr>
        <p:sp>
          <p:nvSpPr>
            <p:cNvPr name="Freeform 88" id="88"/>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txBody>
            <a:bodyPr/>
            <a:p/>
          </p:txBody>
        </p:sp>
      </p:grpSp>
      <p:grpSp>
        <p:nvGrpSpPr>
          <p:cNvPr name="Group 89" id="89"/>
          <p:cNvGrpSpPr/>
          <p:nvPr/>
        </p:nvGrpSpPr>
        <p:grpSpPr>
          <a:xfrm rot="0">
            <a:off x="11727180" y="7228332"/>
            <a:ext cx="5486400" cy="685800"/>
            <a:chOff x="0" y="0"/>
            <a:chExt cx="7315200" cy="914400"/>
          </a:xfrm>
        </p:grpSpPr>
        <p:sp>
          <p:nvSpPr>
            <p:cNvPr name="Freeform 90" id="90"/>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txBody>
            <a:bodyPr/>
            <a:p/>
          </p:txBody>
        </p:sp>
      </p:grpSp>
      <p:grpSp>
        <p:nvGrpSpPr>
          <p:cNvPr name="Group 91" id="91"/>
          <p:cNvGrpSpPr/>
          <p:nvPr/>
        </p:nvGrpSpPr>
        <p:grpSpPr>
          <a:xfrm rot="0">
            <a:off x="11727180" y="7178326"/>
            <a:ext cx="5486400" cy="735806"/>
            <a:chOff x="0" y="0"/>
            <a:chExt cx="7315200" cy="981075"/>
          </a:xfrm>
        </p:grpSpPr>
        <p:sp>
          <p:nvSpPr>
            <p:cNvPr name="Freeform 92" id="92"/>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185" r="0" b="-95185"/>
              </a:stretch>
            </a:blipFill>
          </p:spPr>
          <p:txBody>
            <a:bodyPr/>
            <a:p/>
          </p:txBody>
        </p:sp>
      </p:grpSp>
      <p:grpSp>
        <p:nvGrpSpPr>
          <p:cNvPr name="Group 93" id="93"/>
          <p:cNvGrpSpPr/>
          <p:nvPr/>
        </p:nvGrpSpPr>
        <p:grpSpPr>
          <a:xfrm rot="0">
            <a:off x="11727180" y="7128320"/>
            <a:ext cx="5486400" cy="785812"/>
            <a:chOff x="0" y="0"/>
            <a:chExt cx="7315200" cy="1047750"/>
          </a:xfrm>
        </p:grpSpPr>
        <p:sp>
          <p:nvSpPr>
            <p:cNvPr name="Freeform 94" id="94"/>
            <p:cNvSpPr/>
            <p:nvPr/>
          </p:nvSpPr>
          <p:spPr>
            <a:xfrm flipH="false" flipV="false" rot="0">
              <a:off x="0" y="0"/>
              <a:ext cx="7315200" cy="1047750"/>
            </a:xfrm>
            <a:custGeom>
              <a:avLst/>
              <a:gdLst/>
              <a:ahLst/>
              <a:cxnLst/>
              <a:rect r="r" b="b" t="t" l="l"/>
              <a:pathLst>
                <a:path h="1047750" w="7315200">
                  <a:moveTo>
                    <a:pt x="0" y="0"/>
                  </a:moveTo>
                  <a:lnTo>
                    <a:pt x="7315200" y="0"/>
                  </a:lnTo>
                  <a:lnTo>
                    <a:pt x="7315200" y="1047750"/>
                  </a:lnTo>
                  <a:lnTo>
                    <a:pt x="0" y="1047750"/>
                  </a:lnTo>
                  <a:close/>
                </a:path>
              </a:pathLst>
            </a:custGeom>
            <a:blipFill>
              <a:blip r:embed="rId6">
                <a:alphaModFix amt="0"/>
              </a:blip>
              <a:stretch>
                <a:fillRect l="0" t="-86041" r="0" b="-86041"/>
              </a:stretch>
            </a:blipFill>
          </p:spPr>
          <p:txBody>
            <a:bodyPr/>
            <a:p/>
          </p:txBody>
        </p:sp>
        <p:sp>
          <p:nvSpPr>
            <p:cNvPr name="TextBox 95" id="95"/>
            <p:cNvSpPr txBox="true"/>
            <p:nvPr/>
          </p:nvSpPr>
          <p:spPr>
            <a:xfrm>
              <a:off x="0" y="-66675"/>
              <a:ext cx="7315200" cy="1114425"/>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Loop lokal</a:t>
              </a:r>
            </a:p>
          </p:txBody>
        </p:sp>
      </p:grpSp>
      <p:sp>
        <p:nvSpPr>
          <p:cNvPr name="TextBox 96" id="96"/>
          <p:cNvSpPr txBox="true"/>
          <p:nvPr/>
        </p:nvSpPr>
        <p:spPr>
          <a:xfrm rot="0">
            <a:off x="11727180" y="7840980"/>
            <a:ext cx="5486400" cy="1280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Okupansi hanya memengaruhi hotel (5.404 → 4.867); goal-seeking hanya tenaga kerja</a:t>
            </a:r>
          </a:p>
        </p:txBody>
      </p:sp>
      <p:sp>
        <p:nvSpPr>
          <p:cNvPr name="TextBox 97" id="97"/>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43</a:t>
            </a:r>
          </a:p>
        </p:txBody>
      </p:sp>
      <p:grpSp>
        <p:nvGrpSpPr>
          <p:cNvPr name="Group 100" id="100"/>
          <p:cNvGrpSpPr/>
          <p:nvPr/>
        </p:nvGrpSpPr>
        <p:grpSpPr>
          <a:xfrm rot="0">
            <a:off x="12755880" y="274320"/>
            <a:ext cx="3931920" cy="411480"/>
            <a:chOff x="0" y="0"/>
            <a:chExt cx="5242560" cy="548640"/>
          </a:xfrm>
        </p:grpSpPr>
        <p:sp>
          <p:nvSpPr>
            <p:cNvPr name="Freeform 101" id="101"/>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02" id="102"/>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2D · Uji struktur</a:t>
              </a:r>
            </a:p>
          </p:txBody>
        </p:sp>
      </p:grpSp>
      <p:grpSp>
        <p:nvGrpSpPr>
          <p:cNvPr name="Group 103" id="103"/>
          <p:cNvGrpSpPr/>
          <p:nvPr/>
        </p:nvGrpSpPr>
        <p:grpSpPr>
          <a:xfrm rot="0">
            <a:off x="16047720" y="9646920"/>
            <a:ext cx="420624" cy="420624"/>
            <a:chOff x="0" y="0"/>
            <a:chExt cx="560832" cy="560832"/>
          </a:xfrm>
        </p:grpSpPr>
        <p:sp>
          <p:nvSpPr>
            <p:cNvPr name="Freeform 104" id="104"/>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05" id="105"/>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graphicFrame>
        <p:nvGraphicFramePr>
          <p:cNvPr id="106" name="Chart 105"/>
          <p:cNvGraphicFramePr>
            <a:graphicFrameLocks noGrp="1"/>
          </p:cNvGraphicFramePr>
          <p:nvPr/>
        </p:nvGraphicFramePr>
        <p:xfrm>
          <a:off x="822960" y="2834640"/>
          <a:ext cx="10424160" cy="6400800"/>
        </p:xfrm>
        <a:graphic>
          <a:graphicData uri="http://schemas.openxmlformats.org/drawingml/2006/chart">
            <c:chart xmlns:c="http://schemas.openxmlformats.org/drawingml/2006/chart" r:id="rId8"/>
          </a:graphicData>
        </a:graphic>
      </p:graphicFrame>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Uji Kondisi Ekstrem dan Error Integrasi</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Pada kondisi ekstrem, fungsi pembatas dalam model bekerja dengan benar</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44</a:t>
            </a:r>
          </a:p>
        </p:txBody>
      </p:sp>
      <p:grpSp>
        <p:nvGrpSpPr>
          <p:cNvPr name="Group 67" id="67"/>
          <p:cNvGrpSpPr/>
          <p:nvPr/>
        </p:nvGrpSpPr>
        <p:grpSpPr>
          <a:xfrm rot="0">
            <a:off x="822960" y="2289743"/>
            <a:ext cx="8183880" cy="2827115"/>
            <a:chOff x="0" y="0"/>
            <a:chExt cx="10911840" cy="3769487"/>
          </a:xfrm>
        </p:grpSpPr>
        <p:sp>
          <p:nvSpPr>
            <p:cNvPr name="Freeform 68" id="68" descr="E04.png"/>
            <p:cNvSpPr/>
            <p:nvPr/>
          </p:nvSpPr>
          <p:spPr>
            <a:xfrm flipH="false" flipV="false" rot="0">
              <a:off x="0" y="0"/>
              <a:ext cx="10911840" cy="3769487"/>
            </a:xfrm>
            <a:custGeom>
              <a:avLst/>
              <a:gdLst/>
              <a:ahLst/>
              <a:cxnLst/>
              <a:rect r="r" b="b" t="t" l="l"/>
              <a:pathLst>
                <a:path h="3769487" w="10911840">
                  <a:moveTo>
                    <a:pt x="0" y="0"/>
                  </a:moveTo>
                  <a:lnTo>
                    <a:pt x="10911840" y="0"/>
                  </a:lnTo>
                  <a:lnTo>
                    <a:pt x="10911840" y="3769487"/>
                  </a:lnTo>
                  <a:lnTo>
                    <a:pt x="0" y="3769487"/>
                  </a:lnTo>
                  <a:lnTo>
                    <a:pt x="0" y="0"/>
                  </a:lnTo>
                  <a:close/>
                </a:path>
              </a:pathLst>
            </a:custGeom>
            <a:blipFill>
              <a:blip r:embed="rId7"/>
              <a:stretch>
                <a:fillRect l="0" t="0" r="0" b="-1"/>
              </a:stretch>
            </a:blipFill>
          </p:spPr>
          <p:txBody>
            <a:bodyPr/>
            <a:p/>
          </p:txBody>
        </p:sp>
      </p:grpSp>
      <p:grpSp>
        <p:nvGrpSpPr>
          <p:cNvPr name="Group 69" id="69"/>
          <p:cNvGrpSpPr/>
          <p:nvPr/>
        </p:nvGrpSpPr>
        <p:grpSpPr>
          <a:xfrm rot="0">
            <a:off x="9281160" y="2289743"/>
            <a:ext cx="8183880" cy="2827115"/>
            <a:chOff x="0" y="0"/>
            <a:chExt cx="10911840" cy="3769487"/>
          </a:xfrm>
        </p:grpSpPr>
        <p:sp>
          <p:nvSpPr>
            <p:cNvPr name="Freeform 70" id="70" descr="E09.png"/>
            <p:cNvSpPr/>
            <p:nvPr/>
          </p:nvSpPr>
          <p:spPr>
            <a:xfrm flipH="false" flipV="false" rot="0">
              <a:off x="0" y="0"/>
              <a:ext cx="10911840" cy="3769487"/>
            </a:xfrm>
            <a:custGeom>
              <a:avLst/>
              <a:gdLst/>
              <a:ahLst/>
              <a:cxnLst/>
              <a:rect r="r" b="b" t="t" l="l"/>
              <a:pathLst>
                <a:path h="3769487" w="10911840">
                  <a:moveTo>
                    <a:pt x="0" y="0"/>
                  </a:moveTo>
                  <a:lnTo>
                    <a:pt x="10911840" y="0"/>
                  </a:lnTo>
                  <a:lnTo>
                    <a:pt x="10911840" y="3769487"/>
                  </a:lnTo>
                  <a:lnTo>
                    <a:pt x="0" y="3769487"/>
                  </a:lnTo>
                  <a:lnTo>
                    <a:pt x="0" y="0"/>
                  </a:lnTo>
                  <a:close/>
                </a:path>
              </a:pathLst>
            </a:custGeom>
            <a:blipFill>
              <a:blip r:embed="rId8"/>
              <a:stretch>
                <a:fillRect l="0" t="0" r="0" b="-1"/>
              </a:stretch>
            </a:blipFill>
          </p:spPr>
          <p:txBody>
            <a:bodyPr/>
            <a:p/>
          </p:txBody>
        </p:sp>
      </p:grpSp>
      <p:sp>
        <p:nvSpPr>
          <p:cNvPr name="TextBox 71" id="71"/>
          <p:cNvSpPr txBox="true"/>
          <p:nvPr/>
        </p:nvSpPr>
        <p:spPr>
          <a:xfrm rot="0">
            <a:off x="822960" y="5079492"/>
            <a:ext cx="8183880" cy="66294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E04 </a:t>
            </a:r>
            <a:r>
              <a:rPr lang="en-US" sz="1500">
                <a:solidFill>
                  <a:srgbClr val="14313B"/>
                </a:solidFill>
                <a:latin typeface="Calibri (MS)"/>
                <a:ea typeface="Calibri (MS)"/>
                <a:cs typeface="Calibri (MS)"/>
                <a:sym typeface="Calibri (MS)"/>
              </a:rPr>
              <a:t>· rasio investasi/PDRB = 0 → konstruksi berhenti; TPK naik lalu mendatar tepat di 1,000</a:t>
            </a:r>
          </a:p>
        </p:txBody>
      </p:sp>
      <p:sp>
        <p:nvSpPr>
          <p:cNvPr name="TextBox 72" id="72"/>
          <p:cNvSpPr txBox="true"/>
          <p:nvPr/>
        </p:nvSpPr>
        <p:spPr>
          <a:xfrm rot="0">
            <a:off x="9281160" y="5079492"/>
            <a:ext cx="8183880" cy="66294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E09 </a:t>
            </a:r>
            <a:r>
              <a:rPr lang="en-US" sz="1500">
                <a:solidFill>
                  <a:srgbClr val="14313B"/>
                </a:solidFill>
                <a:latin typeface="Calibri (MS)"/>
                <a:ea typeface="Calibri (MS)"/>
                <a:cs typeface="Calibri (MS)"/>
                <a:sym typeface="Calibri (MS)"/>
              </a:rPr>
              <a:t>· laju konversi dasar ×10 → RDDL turun tepat ke 0; lahan berhenti di luas wilayah</a:t>
            </a:r>
          </a:p>
        </p:txBody>
      </p:sp>
      <p:grpSp>
        <p:nvGrpSpPr>
          <p:cNvPr name="Group 73" id="73"/>
          <p:cNvGrpSpPr/>
          <p:nvPr/>
        </p:nvGrpSpPr>
        <p:grpSpPr>
          <a:xfrm rot="0">
            <a:off x="822960" y="5979262"/>
            <a:ext cx="5669280" cy="3174778"/>
            <a:chOff x="0" y="0"/>
            <a:chExt cx="7559040" cy="4233037"/>
          </a:xfrm>
        </p:grpSpPr>
        <p:sp>
          <p:nvSpPr>
            <p:cNvPr name="Freeform 74" id="74" descr="E15_diagnostik_TIME_STEP.png"/>
            <p:cNvSpPr/>
            <p:nvPr/>
          </p:nvSpPr>
          <p:spPr>
            <a:xfrm flipH="false" flipV="false" rot="0">
              <a:off x="0" y="0"/>
              <a:ext cx="7559040" cy="4233037"/>
            </a:xfrm>
            <a:custGeom>
              <a:avLst/>
              <a:gdLst/>
              <a:ahLst/>
              <a:cxnLst/>
              <a:rect r="r" b="b" t="t" l="l"/>
              <a:pathLst>
                <a:path h="4233037" w="7559040">
                  <a:moveTo>
                    <a:pt x="0" y="0"/>
                  </a:moveTo>
                  <a:lnTo>
                    <a:pt x="7559040" y="0"/>
                  </a:lnTo>
                  <a:lnTo>
                    <a:pt x="7559040" y="4233037"/>
                  </a:lnTo>
                  <a:lnTo>
                    <a:pt x="0" y="4233037"/>
                  </a:lnTo>
                  <a:lnTo>
                    <a:pt x="0" y="0"/>
                  </a:lnTo>
                  <a:close/>
                </a:path>
              </a:pathLst>
            </a:custGeom>
            <a:blipFill>
              <a:blip r:embed="rId9"/>
              <a:stretch>
                <a:fillRect l="-31" t="0" r="-31" b="0"/>
              </a:stretch>
            </a:blipFill>
          </p:spPr>
          <p:txBody>
            <a:bodyPr/>
            <a:p/>
          </p:txBody>
        </p:sp>
      </p:grpSp>
      <p:grpSp>
        <p:nvGrpSpPr>
          <p:cNvPr name="Group 75" id="75"/>
          <p:cNvGrpSpPr/>
          <p:nvPr/>
        </p:nvGrpSpPr>
        <p:grpSpPr>
          <a:xfrm rot="0">
            <a:off x="6812280" y="5943600"/>
            <a:ext cx="5166360" cy="2103120"/>
            <a:chOff x="0" y="0"/>
            <a:chExt cx="6888480" cy="2804160"/>
          </a:xfrm>
        </p:grpSpPr>
        <p:sp>
          <p:nvSpPr>
            <p:cNvPr name="Freeform 76" id="76"/>
            <p:cNvSpPr/>
            <p:nvPr/>
          </p:nvSpPr>
          <p:spPr>
            <a:xfrm flipH="false" flipV="false" rot="0">
              <a:off x="0" y="0"/>
              <a:ext cx="6888480" cy="2804160"/>
            </a:xfrm>
            <a:custGeom>
              <a:avLst/>
              <a:gdLst/>
              <a:ahLst/>
              <a:cxnLst/>
              <a:rect r="r" b="b" t="t" l="l"/>
              <a:pathLst>
                <a:path h="2804160" w="6888480">
                  <a:moveTo>
                    <a:pt x="0" y="170688"/>
                  </a:moveTo>
                  <a:cubicBezTo>
                    <a:pt x="0" y="76454"/>
                    <a:pt x="76454" y="0"/>
                    <a:pt x="170688" y="0"/>
                  </a:cubicBezTo>
                  <a:lnTo>
                    <a:pt x="6717792" y="0"/>
                  </a:lnTo>
                  <a:cubicBezTo>
                    <a:pt x="6812026" y="0"/>
                    <a:pt x="6888480" y="76454"/>
                    <a:pt x="6888480" y="170688"/>
                  </a:cubicBezTo>
                  <a:lnTo>
                    <a:pt x="6888480" y="2633472"/>
                  </a:lnTo>
                  <a:cubicBezTo>
                    <a:pt x="6888480" y="2727706"/>
                    <a:pt x="6812026" y="2804160"/>
                    <a:pt x="6717792" y="2804160"/>
                  </a:cubicBezTo>
                  <a:lnTo>
                    <a:pt x="170688" y="2804160"/>
                  </a:lnTo>
                  <a:cubicBezTo>
                    <a:pt x="76454" y="2804160"/>
                    <a:pt x="0" y="2727706"/>
                    <a:pt x="0" y="2633472"/>
                  </a:cubicBezTo>
                  <a:close/>
                </a:path>
              </a:pathLst>
            </a:custGeom>
            <a:solidFill>
              <a:srgbClr val="EAF8FA"/>
            </a:solidFill>
          </p:spPr>
          <p:txBody>
            <a:bodyPr/>
            <a:p/>
          </p:txBody>
        </p:sp>
      </p:grpSp>
      <p:sp>
        <p:nvSpPr>
          <p:cNvPr name="TextBox 77" id="77"/>
          <p:cNvSpPr txBox="true"/>
          <p:nvPr/>
        </p:nvSpPr>
        <p:spPr>
          <a:xfrm rot="0">
            <a:off x="7086600" y="5879592"/>
            <a:ext cx="4617720" cy="960120"/>
          </a:xfrm>
          <a:prstGeom prst="rect">
            <a:avLst/>
          </a:prstGeom>
        </p:spPr>
        <p:txBody>
          <a:bodyPr anchor="t" rtlCol="false" tIns="0" lIns="0" bIns="0" rIns="0">
            <a:spAutoFit/>
          </a:bodyPr>
          <a:lstStyle/>
          <a:p>
            <a:pPr algn="l">
              <a:lnSpc>
                <a:spcPts val="4569"/>
              </a:lnSpc>
            </a:pPr>
            <a:r>
              <a:rPr lang="en-US" sz="3399" b="true">
                <a:solidFill>
                  <a:srgbClr val="0B5E6E"/>
                </a:solidFill>
                <a:latin typeface="Calibri (MS) Bold"/>
                <a:ea typeface="Calibri (MS) Bold"/>
                <a:cs typeface="Calibri (MS) Bold"/>
                <a:sym typeface="Calibri (MS) Bold"/>
              </a:rPr>
              <a:t>0 gagal</a:t>
            </a:r>
          </a:p>
        </p:txBody>
      </p:sp>
      <p:sp>
        <p:nvSpPr>
          <p:cNvPr name="TextBox 78" id="78"/>
          <p:cNvSpPr txBox="true"/>
          <p:nvPr/>
        </p:nvSpPr>
        <p:spPr>
          <a:xfrm rot="0">
            <a:off x="7086600" y="6533645"/>
            <a:ext cx="4617720" cy="1303020"/>
          </a:xfrm>
          <a:prstGeom prst="rect">
            <a:avLst/>
          </a:prstGeom>
        </p:spPr>
        <p:txBody>
          <a:bodyPr anchor="t" rtlCol="false" tIns="0" lIns="0" bIns="0" rIns="0">
            <a:spAutoFit/>
          </a:bodyPr>
          <a:lstStyle/>
          <a:p>
            <a:pPr algn="l">
              <a:lnSpc>
                <a:spcPts val="2016"/>
              </a:lnSpc>
            </a:pPr>
            <a:r>
              <a:rPr lang="en-US" sz="1500">
                <a:solidFill>
                  <a:srgbClr val="5E6E78"/>
                </a:solidFill>
                <a:latin typeface="Calibri (MS)"/>
                <a:ea typeface="Calibri (MS)"/>
                <a:cs typeface="Calibri (MS)"/>
                <a:sym typeface="Calibri (MS)"/>
              </a:rPr>
              <a:t>dari 17 uji: 15 lolos, 2 lolos dengan catatan (E02, E15); semua perilaku sesuai dugaan awal</a:t>
            </a:r>
          </a:p>
        </p:txBody>
      </p:sp>
      <p:grpSp>
        <p:nvGrpSpPr>
          <p:cNvPr name="Group 79" id="79"/>
          <p:cNvGrpSpPr/>
          <p:nvPr/>
        </p:nvGrpSpPr>
        <p:grpSpPr>
          <a:xfrm rot="0">
            <a:off x="12298680" y="5943600"/>
            <a:ext cx="5166360" cy="2103120"/>
            <a:chOff x="0" y="0"/>
            <a:chExt cx="6888480" cy="2804160"/>
          </a:xfrm>
        </p:grpSpPr>
        <p:sp>
          <p:nvSpPr>
            <p:cNvPr name="Freeform 80" id="80"/>
            <p:cNvSpPr/>
            <p:nvPr/>
          </p:nvSpPr>
          <p:spPr>
            <a:xfrm flipH="false" flipV="false" rot="0">
              <a:off x="0" y="0"/>
              <a:ext cx="6888480" cy="2804160"/>
            </a:xfrm>
            <a:custGeom>
              <a:avLst/>
              <a:gdLst/>
              <a:ahLst/>
              <a:cxnLst/>
              <a:rect r="r" b="b" t="t" l="l"/>
              <a:pathLst>
                <a:path h="2804160" w="6888480">
                  <a:moveTo>
                    <a:pt x="0" y="170688"/>
                  </a:moveTo>
                  <a:cubicBezTo>
                    <a:pt x="0" y="76454"/>
                    <a:pt x="76454" y="0"/>
                    <a:pt x="170688" y="0"/>
                  </a:cubicBezTo>
                  <a:lnTo>
                    <a:pt x="6717792" y="0"/>
                  </a:lnTo>
                  <a:cubicBezTo>
                    <a:pt x="6812026" y="0"/>
                    <a:pt x="6888480" y="76454"/>
                    <a:pt x="6888480" y="170688"/>
                  </a:cubicBezTo>
                  <a:lnTo>
                    <a:pt x="6888480" y="2633472"/>
                  </a:lnTo>
                  <a:cubicBezTo>
                    <a:pt x="6888480" y="2727706"/>
                    <a:pt x="6812026" y="2804160"/>
                    <a:pt x="6717792" y="2804160"/>
                  </a:cubicBezTo>
                  <a:lnTo>
                    <a:pt x="170688" y="2804160"/>
                  </a:lnTo>
                  <a:cubicBezTo>
                    <a:pt x="76454" y="2804160"/>
                    <a:pt x="0" y="2727706"/>
                    <a:pt x="0" y="2633472"/>
                  </a:cubicBezTo>
                  <a:close/>
                </a:path>
              </a:pathLst>
            </a:custGeom>
            <a:solidFill>
              <a:srgbClr val="EAF8FA"/>
            </a:solidFill>
          </p:spPr>
          <p:txBody>
            <a:bodyPr/>
            <a:p/>
          </p:txBody>
        </p:sp>
      </p:grpSp>
      <p:sp>
        <p:nvSpPr>
          <p:cNvPr name="TextBox 81" id="81"/>
          <p:cNvSpPr txBox="true"/>
          <p:nvPr/>
        </p:nvSpPr>
        <p:spPr>
          <a:xfrm rot="0">
            <a:off x="12554712" y="6027877"/>
            <a:ext cx="4654296" cy="681990"/>
          </a:xfrm>
          <a:prstGeom prst="rect">
            <a:avLst/>
          </a:prstGeom>
        </p:spPr>
        <p:txBody>
          <a:bodyPr anchor="t" rtlCol="false" tIns="0" lIns="0" bIns="0" rIns="0">
            <a:spAutoFit/>
          </a:bodyPr>
          <a:lstStyle/>
          <a:p>
            <a:pPr algn="l">
              <a:lnSpc>
                <a:spcPts val="2552"/>
              </a:lnSpc>
            </a:pPr>
            <a:r>
              <a:rPr lang="en-US" sz="1899" b="true">
                <a:solidFill>
                  <a:srgbClr val="0B5E6E"/>
                </a:solidFill>
                <a:latin typeface="Calibri (MS) Bold"/>
                <a:ea typeface="Calibri (MS) Bold"/>
                <a:cs typeface="Calibri (MS) Bold"/>
                <a:sym typeface="Calibri (MS) Bold"/>
              </a:rPr>
              <a:t>Uji error integrasi (E15)</a:t>
            </a:r>
          </a:p>
        </p:txBody>
      </p:sp>
      <p:sp>
        <p:nvSpPr>
          <p:cNvPr name="TextBox 82" id="82"/>
          <p:cNvSpPr txBox="true"/>
          <p:nvPr/>
        </p:nvSpPr>
        <p:spPr>
          <a:xfrm rot="0">
            <a:off x="12554712" y="6632905"/>
            <a:ext cx="4654296" cy="1260196"/>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Lahan melewati luas wilayah 57,70 ha (0,018%) pada dt = 1; 0,01 ha pada dt 0,5; tidak melewati pada dt 0,25 → error perhitungan numerik, bukan kesalahan struktur.</a:t>
            </a:r>
          </a:p>
        </p:txBody>
      </p:sp>
      <p:grpSp>
        <p:nvGrpSpPr>
          <p:cNvPr name="Group 83" id="83"/>
          <p:cNvGrpSpPr/>
          <p:nvPr/>
        </p:nvGrpSpPr>
        <p:grpSpPr>
          <a:xfrm rot="0">
            <a:off x="6812280" y="8247888"/>
            <a:ext cx="10652760" cy="960120"/>
            <a:chOff x="0" y="0"/>
            <a:chExt cx="14203680" cy="1280160"/>
          </a:xfrm>
        </p:grpSpPr>
        <p:sp>
          <p:nvSpPr>
            <p:cNvPr name="Freeform 84" id="84"/>
            <p:cNvSpPr/>
            <p:nvPr/>
          </p:nvSpPr>
          <p:spPr>
            <a:xfrm flipH="false" flipV="false" rot="0">
              <a:off x="0" y="0"/>
              <a:ext cx="14203680" cy="1280160"/>
            </a:xfrm>
            <a:custGeom>
              <a:avLst/>
              <a:gdLst/>
              <a:ahLst/>
              <a:cxnLst/>
              <a:rect r="r" b="b" t="t" l="l"/>
              <a:pathLst>
                <a:path h="1280160" w="14203680">
                  <a:moveTo>
                    <a:pt x="0" y="170688"/>
                  </a:moveTo>
                  <a:cubicBezTo>
                    <a:pt x="0" y="76454"/>
                    <a:pt x="76454" y="0"/>
                    <a:pt x="170688" y="0"/>
                  </a:cubicBezTo>
                  <a:lnTo>
                    <a:pt x="14032992" y="0"/>
                  </a:lnTo>
                  <a:cubicBezTo>
                    <a:pt x="14127226" y="0"/>
                    <a:pt x="14203680" y="76454"/>
                    <a:pt x="14203680" y="170688"/>
                  </a:cubicBezTo>
                  <a:lnTo>
                    <a:pt x="14203680" y="1109472"/>
                  </a:lnTo>
                  <a:cubicBezTo>
                    <a:pt x="14203680" y="1203706"/>
                    <a:pt x="14127226" y="1280160"/>
                    <a:pt x="14032992" y="1280160"/>
                  </a:cubicBezTo>
                  <a:lnTo>
                    <a:pt x="170688" y="1280160"/>
                  </a:lnTo>
                  <a:cubicBezTo>
                    <a:pt x="76454" y="1280160"/>
                    <a:pt x="0" y="1203706"/>
                    <a:pt x="0" y="1109472"/>
                  </a:cubicBezTo>
                  <a:close/>
                </a:path>
              </a:pathLst>
            </a:custGeom>
            <a:solidFill>
              <a:srgbClr val="FFF1BF"/>
            </a:solidFill>
          </p:spPr>
          <p:txBody>
            <a:bodyPr/>
            <a:p/>
          </p:txBody>
        </p:sp>
      </p:grpSp>
      <p:grpSp>
        <p:nvGrpSpPr>
          <p:cNvPr name="Group 85" id="85"/>
          <p:cNvGrpSpPr/>
          <p:nvPr/>
        </p:nvGrpSpPr>
        <p:grpSpPr>
          <a:xfrm rot="0">
            <a:off x="7086600" y="8247888"/>
            <a:ext cx="10149840" cy="960120"/>
            <a:chOff x="0" y="0"/>
            <a:chExt cx="13533120" cy="1280160"/>
          </a:xfrm>
        </p:grpSpPr>
        <p:sp>
          <p:nvSpPr>
            <p:cNvPr name="Freeform 86" id="86"/>
            <p:cNvSpPr/>
            <p:nvPr/>
          </p:nvSpPr>
          <p:spPr>
            <a:xfrm flipH="false" flipV="false" rot="0">
              <a:off x="0" y="0"/>
              <a:ext cx="13533120" cy="1280160"/>
            </a:xfrm>
            <a:custGeom>
              <a:avLst/>
              <a:gdLst/>
              <a:ahLst/>
              <a:cxnLst/>
              <a:rect r="r" b="b" t="t" l="l"/>
              <a:pathLst>
                <a:path h="1280160" w="13533120">
                  <a:moveTo>
                    <a:pt x="0" y="0"/>
                  </a:moveTo>
                  <a:lnTo>
                    <a:pt x="13533120" y="0"/>
                  </a:lnTo>
                  <a:lnTo>
                    <a:pt x="13533120" y="1280160"/>
                  </a:lnTo>
                  <a:lnTo>
                    <a:pt x="0" y="1280160"/>
                  </a:lnTo>
                  <a:close/>
                </a:path>
              </a:pathLst>
            </a:custGeom>
            <a:blipFill>
              <a:blip r:embed="rId5">
                <a:alphaModFix amt="0"/>
              </a:blip>
              <a:stretch>
                <a:fillRect l="0" t="-155841" r="0" b="-155841"/>
              </a:stretch>
            </a:blipFill>
          </p:spPr>
          <p:txBody>
            <a:bodyPr/>
            <a:p/>
          </p:txBody>
        </p:sp>
      </p:grpSp>
      <p:grpSp>
        <p:nvGrpSpPr>
          <p:cNvPr name="Group 87" id="87"/>
          <p:cNvGrpSpPr/>
          <p:nvPr/>
        </p:nvGrpSpPr>
        <p:grpSpPr>
          <a:xfrm rot="0">
            <a:off x="7086600" y="8205025"/>
            <a:ext cx="10149840" cy="1002982"/>
            <a:chOff x="0" y="0"/>
            <a:chExt cx="13533120" cy="1337310"/>
          </a:xfrm>
        </p:grpSpPr>
        <p:sp>
          <p:nvSpPr>
            <p:cNvPr name="Freeform 88" id="88"/>
            <p:cNvSpPr/>
            <p:nvPr/>
          </p:nvSpPr>
          <p:spPr>
            <a:xfrm flipH="false" flipV="false" rot="0">
              <a:off x="0" y="0"/>
              <a:ext cx="13533120" cy="1337310"/>
            </a:xfrm>
            <a:custGeom>
              <a:avLst/>
              <a:gdLst/>
              <a:ahLst/>
              <a:cxnLst/>
              <a:rect r="r" b="b" t="t" l="l"/>
              <a:pathLst>
                <a:path h="1337310" w="13533120">
                  <a:moveTo>
                    <a:pt x="0" y="0"/>
                  </a:moveTo>
                  <a:lnTo>
                    <a:pt x="13533120" y="0"/>
                  </a:lnTo>
                  <a:lnTo>
                    <a:pt x="13533120" y="1337310"/>
                  </a:lnTo>
                  <a:lnTo>
                    <a:pt x="0" y="1337310"/>
                  </a:lnTo>
                  <a:close/>
                </a:path>
              </a:pathLst>
            </a:custGeom>
            <a:blipFill>
              <a:blip r:embed="rId6">
                <a:alphaModFix amt="0"/>
              </a:blip>
              <a:stretch>
                <a:fillRect l="0" t="-147181" r="0" b="-147181"/>
              </a:stretch>
            </a:blipFill>
          </p:spPr>
          <p:txBody>
            <a:bodyPr/>
            <a:p/>
          </p:txBody>
        </p:sp>
        <p:sp>
          <p:nvSpPr>
            <p:cNvPr name="TextBox 89" id="89"/>
            <p:cNvSpPr txBox="true"/>
            <p:nvPr/>
          </p:nvSpPr>
          <p:spPr>
            <a:xfrm>
              <a:off x="0" y="-57150"/>
              <a:ext cx="13533120" cy="1394460"/>
            </a:xfrm>
            <a:prstGeom prst="rect">
              <a:avLst/>
            </a:prstGeom>
          </p:spPr>
          <p:txBody>
            <a:bodyPr anchor="ctr" rtlCol="false" tIns="0" lIns="0" bIns="0" rIns="0"/>
            <a:lstStyle/>
            <a:p>
              <a:pPr algn="l">
                <a:lnSpc>
                  <a:spcPts val="1948"/>
                </a:lnSpc>
              </a:pPr>
              <a:r>
                <a:rPr lang="en-US" sz="1449">
                  <a:solidFill>
                    <a:srgbClr val="14313B"/>
                  </a:solidFill>
                  <a:latin typeface="Calibri (MS)"/>
                  <a:ea typeface="Calibri (MS)"/>
                  <a:cs typeface="Calibri (MS)"/>
                  <a:sym typeface="Calibri (MS)"/>
                </a:rPr>
                <a:t>Batas berlakunya model: LPE ≤ ±0,336 (≈1,25× nilai dasar). Simulasi dasar dt 1 vs 0,5 hanya berbeda −0,27% s.d. +0,34% → langkah waktu tahunan sudah cukup.</a:t>
              </a:r>
            </a:p>
          </p:txBody>
        </p:sp>
      </p:grpSp>
      <p:grpSp>
        <p:nvGrpSpPr>
          <p:cNvPr name="Group 90" id="90"/>
          <p:cNvGrpSpPr/>
          <p:nvPr/>
        </p:nvGrpSpPr>
        <p:grpSpPr>
          <a:xfrm rot="0">
            <a:off x="12755880" y="274320"/>
            <a:ext cx="3931920" cy="411480"/>
            <a:chOff x="0" y="0"/>
            <a:chExt cx="5242560" cy="548640"/>
          </a:xfrm>
        </p:grpSpPr>
        <p:sp>
          <p:nvSpPr>
            <p:cNvPr name="Freeform 91" id="91"/>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92" id="92"/>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2D · Uji struktur</a:t>
              </a:r>
            </a:p>
          </p:txBody>
        </p:sp>
      </p:grpSp>
      <p:grpSp>
        <p:nvGrpSpPr>
          <p:cNvPr name="Group 93" id="93"/>
          <p:cNvGrpSpPr/>
          <p:nvPr/>
        </p:nvGrpSpPr>
        <p:grpSpPr>
          <a:xfrm rot="0">
            <a:off x="16047720" y="9646920"/>
            <a:ext cx="420624" cy="420624"/>
            <a:chOff x="0" y="0"/>
            <a:chExt cx="560832" cy="560832"/>
          </a:xfrm>
        </p:grpSpPr>
        <p:sp>
          <p:nvSpPr>
            <p:cNvPr name="Freeform 94" id="94"/>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95" id="95"/>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0010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Rancangan Uji Perilaku</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Pola hasil simulasi dibandingkan dengan data, mengikuti urutan Barlas</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45</a:t>
            </a:r>
          </a:p>
        </p:txBody>
      </p:sp>
      <p:sp>
        <p:nvSpPr>
          <p:cNvPr name="Freeform 67" id="67"/>
          <p:cNvSpPr/>
          <p:nvPr/>
        </p:nvSpPr>
        <p:spPr>
          <a:xfrm flipH="false" flipV="false" rot="0">
            <a:off x="806291" y="2223611"/>
            <a:ext cx="5794058" cy="2365058"/>
          </a:xfrm>
          <a:custGeom>
            <a:avLst/>
            <a:gdLst/>
            <a:ahLst/>
            <a:cxnLst/>
            <a:rect r="r" b="b" t="t" l="l"/>
            <a:pathLst>
              <a:path h="2365058" w="5794058">
                <a:moveTo>
                  <a:pt x="0" y="0"/>
                </a:moveTo>
                <a:lnTo>
                  <a:pt x="5794058" y="0"/>
                </a:lnTo>
                <a:lnTo>
                  <a:pt x="5794058" y="2365058"/>
                </a:lnTo>
                <a:lnTo>
                  <a:pt x="0" y="23650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68" id="68"/>
          <p:cNvGrpSpPr/>
          <p:nvPr/>
        </p:nvGrpSpPr>
        <p:grpSpPr>
          <a:xfrm rot="0">
            <a:off x="1051560" y="2468880"/>
            <a:ext cx="530352" cy="530352"/>
            <a:chOff x="0" y="0"/>
            <a:chExt cx="707136" cy="707136"/>
          </a:xfrm>
        </p:grpSpPr>
        <p:sp>
          <p:nvSpPr>
            <p:cNvPr name="Freeform 69" id="69"/>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70" id="70"/>
          <p:cNvGrpSpPr/>
          <p:nvPr/>
        </p:nvGrpSpPr>
        <p:grpSpPr>
          <a:xfrm rot="0">
            <a:off x="1051560" y="2447449"/>
            <a:ext cx="530352" cy="551783"/>
            <a:chOff x="0" y="0"/>
            <a:chExt cx="707136" cy="735711"/>
          </a:xfrm>
        </p:grpSpPr>
        <p:sp>
          <p:nvSpPr>
            <p:cNvPr name="Freeform 71" id="71"/>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72" id="72"/>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P</a:t>
              </a:r>
            </a:p>
          </p:txBody>
        </p:sp>
      </p:grpSp>
      <p:sp>
        <p:nvSpPr>
          <p:cNvPr name="TextBox 73" id="73"/>
          <p:cNvSpPr txBox="true"/>
          <p:nvPr/>
        </p:nvSpPr>
        <p:spPr>
          <a:xfrm rot="0">
            <a:off x="1719072" y="2372868"/>
            <a:ext cx="4709160" cy="459334"/>
          </a:xfrm>
          <a:prstGeom prst="rect">
            <a:avLst/>
          </a:prstGeom>
        </p:spPr>
        <p:txBody>
          <a:bodyPr anchor="t" rtlCol="false" tIns="0" lIns="0" bIns="0" rIns="0">
            <a:spAutoFit/>
          </a:bodyPr>
          <a:lstStyle/>
          <a:p>
            <a:pPr algn="l">
              <a:lnSpc>
                <a:spcPts val="2284"/>
              </a:lnSpc>
            </a:pPr>
            <a:r>
              <a:rPr lang="en-US" sz="1700" b="true">
                <a:solidFill>
                  <a:srgbClr val="0B5E6E"/>
                </a:solidFill>
                <a:latin typeface="Calibri (MS) Bold"/>
                <a:ea typeface="Calibri (MS) Bold"/>
                <a:cs typeface="Calibri (MS) Bold"/>
                <a:sym typeface="Calibri (MS) Bold"/>
              </a:rPr>
              <a:t>Uji parsial (P1–P5) · 2016–2025</a:t>
            </a:r>
          </a:p>
        </p:txBody>
      </p:sp>
      <p:sp>
        <p:nvSpPr>
          <p:cNvPr name="TextBox 74" id="74"/>
          <p:cNvSpPr txBox="true"/>
          <p:nvPr/>
        </p:nvSpPr>
        <p:spPr>
          <a:xfrm rot="0">
            <a:off x="1051560" y="3022092"/>
            <a:ext cx="5303520" cy="1159154"/>
          </a:xfrm>
          <a:prstGeom prst="rect">
            <a:avLst/>
          </a:prstGeom>
        </p:spPr>
        <p:txBody>
          <a:bodyPr anchor="t" rtlCol="false" tIns="0" lIns="0" bIns="0" rIns="0">
            <a:spAutoFit/>
          </a:bodyPr>
          <a:lstStyle/>
          <a:p>
            <a:pPr algn="l">
              <a:lnSpc>
                <a:spcPts val="1948"/>
              </a:lnSpc>
            </a:pPr>
            <a:r>
              <a:rPr lang="en-US" sz="1449">
                <a:solidFill>
                  <a:srgbClr val="14313B"/>
                </a:solidFill>
                <a:latin typeface="Calibri (MS)"/>
                <a:ea typeface="Calibri (MS)"/>
                <a:cs typeface="Calibri (MS)"/>
                <a:sym typeface="Calibri (MS)"/>
              </a:rPr>
              <a:t>P1 akomodasi &amp; TPK · P2 ODTW · P3 tenaga kerja · P4 lahan · P5 wisatawan. Variabel dari luar subsistem diganti data aktual (partial-model testing; Homer, 2012). Angka utama: tanpa 2020–2021.</a:t>
            </a:r>
          </a:p>
        </p:txBody>
      </p:sp>
      <p:sp>
        <p:nvSpPr>
          <p:cNvPr name="Freeform 75" id="75"/>
          <p:cNvSpPr/>
          <p:nvPr/>
        </p:nvSpPr>
        <p:spPr>
          <a:xfrm flipH="false" flipV="false" rot="0">
            <a:off x="806291" y="4692491"/>
            <a:ext cx="5794058" cy="1862138"/>
          </a:xfrm>
          <a:custGeom>
            <a:avLst/>
            <a:gdLst/>
            <a:ahLst/>
            <a:cxnLst/>
            <a:rect r="r" b="b" t="t" l="l"/>
            <a:pathLst>
              <a:path h="1862138" w="5794058">
                <a:moveTo>
                  <a:pt x="0" y="0"/>
                </a:moveTo>
                <a:lnTo>
                  <a:pt x="5794058" y="0"/>
                </a:lnTo>
                <a:lnTo>
                  <a:pt x="5794058" y="1862138"/>
                </a:lnTo>
                <a:lnTo>
                  <a:pt x="0" y="186213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grpSp>
        <p:nvGrpSpPr>
          <p:cNvPr name="Group 76" id="76"/>
          <p:cNvGrpSpPr/>
          <p:nvPr/>
        </p:nvGrpSpPr>
        <p:grpSpPr>
          <a:xfrm rot="0">
            <a:off x="1051560" y="4937760"/>
            <a:ext cx="530352" cy="530352"/>
            <a:chOff x="0" y="0"/>
            <a:chExt cx="707136" cy="707136"/>
          </a:xfrm>
        </p:grpSpPr>
        <p:sp>
          <p:nvSpPr>
            <p:cNvPr name="Freeform 77" id="77"/>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78" id="78"/>
          <p:cNvGrpSpPr/>
          <p:nvPr/>
        </p:nvGrpSpPr>
        <p:grpSpPr>
          <a:xfrm rot="0">
            <a:off x="1051560" y="4916329"/>
            <a:ext cx="530352" cy="551783"/>
            <a:chOff x="0" y="0"/>
            <a:chExt cx="707136" cy="735711"/>
          </a:xfrm>
        </p:grpSpPr>
        <p:sp>
          <p:nvSpPr>
            <p:cNvPr name="Freeform 79" id="79"/>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80" id="80"/>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B</a:t>
              </a:r>
            </a:p>
          </p:txBody>
        </p:sp>
      </p:grpSp>
      <p:sp>
        <p:nvSpPr>
          <p:cNvPr name="TextBox 81" id="81"/>
          <p:cNvSpPr txBox="true"/>
          <p:nvPr/>
        </p:nvSpPr>
        <p:spPr>
          <a:xfrm rot="0">
            <a:off x="1719072" y="4841748"/>
            <a:ext cx="4709160" cy="459334"/>
          </a:xfrm>
          <a:prstGeom prst="rect">
            <a:avLst/>
          </a:prstGeom>
        </p:spPr>
        <p:txBody>
          <a:bodyPr anchor="t" rtlCol="false" tIns="0" lIns="0" bIns="0" rIns="0">
            <a:spAutoFit/>
          </a:bodyPr>
          <a:lstStyle/>
          <a:p>
            <a:pPr algn="l">
              <a:lnSpc>
                <a:spcPts val="2284"/>
              </a:lnSpc>
            </a:pPr>
            <a:r>
              <a:rPr lang="en-US" sz="1700" b="true">
                <a:solidFill>
                  <a:srgbClr val="0B5E6E"/>
                </a:solidFill>
                <a:latin typeface="Calibri (MS) Bold"/>
                <a:ea typeface="Calibri (MS) Bold"/>
                <a:cs typeface="Calibri (MS) Bold"/>
                <a:sym typeface="Calibri (MS) Bold"/>
              </a:rPr>
              <a:t>Uji penuh · 2019–2025</a:t>
            </a:r>
          </a:p>
        </p:txBody>
      </p:sp>
      <p:sp>
        <p:nvSpPr>
          <p:cNvPr name="TextBox 82" id="82"/>
          <p:cNvSpPr txBox="true"/>
          <p:nvPr/>
        </p:nvSpPr>
        <p:spPr>
          <a:xfrm rot="0">
            <a:off x="1051560" y="5490972"/>
            <a:ext cx="5303520" cy="911657"/>
          </a:xfrm>
          <a:prstGeom prst="rect">
            <a:avLst/>
          </a:prstGeom>
        </p:spPr>
        <p:txBody>
          <a:bodyPr anchor="t" rtlCol="false" tIns="0" lIns="0" bIns="0" rIns="0">
            <a:spAutoFit/>
          </a:bodyPr>
          <a:lstStyle/>
          <a:p>
            <a:pPr algn="l">
              <a:lnSpc>
                <a:spcPts val="1948"/>
              </a:lnSpc>
            </a:pPr>
            <a:r>
              <a:rPr lang="en-US" sz="1449">
                <a:solidFill>
                  <a:srgbClr val="14313B"/>
                </a:solidFill>
                <a:latin typeface="Calibri (MS)"/>
                <a:ea typeface="Calibri (MS)"/>
                <a:cs typeface="Calibri (MS)"/>
                <a:sym typeface="Calibri (MS)"/>
              </a:rPr>
              <a:t>Tanpa penggantian data; semua feedback aktif; 9 variabel dinilai. Angka utama: termasuk 2020–2021 (hanya 7 tahun data).</a:t>
            </a:r>
          </a:p>
        </p:txBody>
      </p:sp>
      <p:sp>
        <p:nvSpPr>
          <p:cNvPr name="Freeform 83" id="83"/>
          <p:cNvSpPr/>
          <p:nvPr/>
        </p:nvSpPr>
        <p:spPr>
          <a:xfrm flipH="false" flipV="false" rot="0">
            <a:off x="806291" y="6658451"/>
            <a:ext cx="5794058" cy="2611945"/>
          </a:xfrm>
          <a:custGeom>
            <a:avLst/>
            <a:gdLst/>
            <a:ahLst/>
            <a:cxnLst/>
            <a:rect r="r" b="b" t="t" l="l"/>
            <a:pathLst>
              <a:path h="2611945" w="5794058">
                <a:moveTo>
                  <a:pt x="0" y="0"/>
                </a:moveTo>
                <a:lnTo>
                  <a:pt x="5794058" y="0"/>
                </a:lnTo>
                <a:lnTo>
                  <a:pt x="5794058" y="2611946"/>
                </a:lnTo>
                <a:lnTo>
                  <a:pt x="0" y="261194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txBody>
          <a:bodyPr/>
          <a:p/>
        </p:txBody>
      </p:sp>
      <p:grpSp>
        <p:nvGrpSpPr>
          <p:cNvPr name="Group 84" id="84"/>
          <p:cNvGrpSpPr/>
          <p:nvPr/>
        </p:nvGrpSpPr>
        <p:grpSpPr>
          <a:xfrm rot="0">
            <a:off x="1051560" y="6903720"/>
            <a:ext cx="530352" cy="530352"/>
            <a:chOff x="0" y="0"/>
            <a:chExt cx="707136" cy="707136"/>
          </a:xfrm>
        </p:grpSpPr>
        <p:sp>
          <p:nvSpPr>
            <p:cNvPr name="Freeform 85" id="85"/>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86" id="86"/>
          <p:cNvGrpSpPr/>
          <p:nvPr/>
        </p:nvGrpSpPr>
        <p:grpSpPr>
          <a:xfrm rot="0">
            <a:off x="1051560" y="6882289"/>
            <a:ext cx="530352" cy="551783"/>
            <a:chOff x="0" y="0"/>
            <a:chExt cx="707136" cy="735711"/>
          </a:xfrm>
        </p:grpSpPr>
        <p:sp>
          <p:nvSpPr>
            <p:cNvPr name="Freeform 87" id="87"/>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88" id="88"/>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S</a:t>
              </a:r>
            </a:p>
          </p:txBody>
        </p:sp>
      </p:grpSp>
      <p:sp>
        <p:nvSpPr>
          <p:cNvPr name="TextBox 89" id="89"/>
          <p:cNvSpPr txBox="true"/>
          <p:nvPr/>
        </p:nvSpPr>
        <p:spPr>
          <a:xfrm rot="0">
            <a:off x="1719072" y="6807708"/>
            <a:ext cx="4709160" cy="459334"/>
          </a:xfrm>
          <a:prstGeom prst="rect">
            <a:avLst/>
          </a:prstGeom>
        </p:spPr>
        <p:txBody>
          <a:bodyPr anchor="t" rtlCol="false" tIns="0" lIns="0" bIns="0" rIns="0">
            <a:spAutoFit/>
          </a:bodyPr>
          <a:lstStyle/>
          <a:p>
            <a:pPr algn="l">
              <a:lnSpc>
                <a:spcPts val="2284"/>
              </a:lnSpc>
            </a:pPr>
            <a:r>
              <a:rPr lang="en-US" sz="1700" b="true">
                <a:solidFill>
                  <a:srgbClr val="0B5E6E"/>
                </a:solidFill>
                <a:latin typeface="Calibri (MS) Bold"/>
                <a:ea typeface="Calibri (MS) Bold"/>
                <a:cs typeface="Calibri (MS) Bold"/>
                <a:sym typeface="Calibri (MS) Bold"/>
              </a:rPr>
              <a:t>Penyesuaian data wisnus (untuk P5)</a:t>
            </a:r>
          </a:p>
        </p:txBody>
      </p:sp>
      <p:grpSp>
        <p:nvGrpSpPr>
          <p:cNvPr name="Group 90" id="90"/>
          <p:cNvGrpSpPr/>
          <p:nvPr/>
        </p:nvGrpSpPr>
        <p:grpSpPr>
          <a:xfrm rot="0">
            <a:off x="987552" y="7571232"/>
            <a:ext cx="5431536" cy="1159478"/>
            <a:chOff x="0" y="0"/>
            <a:chExt cx="7242048" cy="1545971"/>
          </a:xfrm>
        </p:grpSpPr>
        <p:sp>
          <p:nvSpPr>
            <p:cNvPr name="Freeform 91" id="91"/>
            <p:cNvSpPr/>
            <p:nvPr/>
          </p:nvSpPr>
          <p:spPr>
            <a:xfrm flipH="false" flipV="false" rot="0">
              <a:off x="0" y="0"/>
              <a:ext cx="7242048" cy="1545971"/>
            </a:xfrm>
            <a:custGeom>
              <a:avLst/>
              <a:gdLst/>
              <a:ahLst/>
              <a:cxnLst/>
              <a:rect r="r" b="b" t="t" l="l"/>
              <a:pathLst>
                <a:path h="1545971" w="7242048">
                  <a:moveTo>
                    <a:pt x="0" y="97536"/>
                  </a:moveTo>
                  <a:cubicBezTo>
                    <a:pt x="0" y="43688"/>
                    <a:pt x="43688" y="0"/>
                    <a:pt x="97536" y="0"/>
                  </a:cubicBezTo>
                  <a:lnTo>
                    <a:pt x="7144512" y="0"/>
                  </a:lnTo>
                  <a:cubicBezTo>
                    <a:pt x="7198360" y="0"/>
                    <a:pt x="7242048" y="43688"/>
                    <a:pt x="7242048" y="97536"/>
                  </a:cubicBezTo>
                  <a:lnTo>
                    <a:pt x="7242048" y="1448435"/>
                  </a:lnTo>
                  <a:cubicBezTo>
                    <a:pt x="7242048" y="1502283"/>
                    <a:pt x="7198360" y="1545971"/>
                    <a:pt x="7144512" y="1545971"/>
                  </a:cubicBezTo>
                  <a:lnTo>
                    <a:pt x="97536" y="1545971"/>
                  </a:lnTo>
                  <a:cubicBezTo>
                    <a:pt x="43688" y="1545971"/>
                    <a:pt x="0" y="1502283"/>
                    <a:pt x="0" y="1448435"/>
                  </a:cubicBezTo>
                  <a:close/>
                </a:path>
              </a:pathLst>
            </a:custGeom>
            <a:solidFill>
              <a:srgbClr val="FFF1BF"/>
            </a:solidFill>
          </p:spPr>
          <p:txBody>
            <a:bodyPr/>
            <a:p/>
          </p:txBody>
        </p:sp>
      </p:grpSp>
      <p:sp>
        <p:nvSpPr>
          <p:cNvPr name="TextBox 92" id="92"/>
          <p:cNvSpPr txBox="true"/>
          <p:nvPr/>
        </p:nvSpPr>
        <p:spPr>
          <a:xfrm rot="0">
            <a:off x="1124712" y="7614666"/>
            <a:ext cx="5029200" cy="1033729"/>
          </a:xfrm>
          <a:prstGeom prst="rect">
            <a:avLst/>
          </a:prstGeom>
        </p:spPr>
        <p:txBody>
          <a:bodyPr anchor="t" rtlCol="false" tIns="0" lIns="0" bIns="0" rIns="0">
            <a:spAutoFit/>
          </a:bodyPr>
          <a:lstStyle/>
          <a:p>
            <a:pPr algn="l">
              <a:lnSpc>
                <a:spcPts val="2083"/>
              </a:lnSpc>
            </a:pPr>
            <a:r>
              <a:rPr lang="en-US" sz="1550" i="true">
                <a:solidFill>
                  <a:srgbClr val="14313B"/>
                </a:solidFill>
                <a:latin typeface="Cambria Italics"/>
                <a:ea typeface="Cambria Italics"/>
                <a:cs typeface="Cambria Italics"/>
                <a:sym typeface="Cambria Italics"/>
              </a:rPr>
              <a:t>g_pra = (W₂₀₁₈ / W₂₀₁₅)^(1/3) − 1</a:t>
            </a:r>
          </a:p>
          <a:p>
            <a:pPr algn="l">
              <a:lnSpc>
                <a:spcPts val="2083"/>
              </a:lnSpc>
            </a:pPr>
            <a:r>
              <a:rPr lang="en-US" sz="1550" i="true">
                <a:solidFill>
                  <a:srgbClr val="14313B"/>
                </a:solidFill>
                <a:latin typeface="Cambria Italics"/>
                <a:ea typeface="Cambria Italics"/>
                <a:cs typeface="Cambria Italics"/>
                <a:sym typeface="Cambria Italics"/>
              </a:rPr>
              <a:t>g_pasca = (W₂₀₂₅ / W₂₀₂₁)^(1/4) − 1</a:t>
            </a:r>
          </a:p>
          <a:p>
            <a:pPr algn="l">
              <a:lnSpc>
                <a:spcPts val="2083"/>
              </a:lnSpc>
            </a:pPr>
            <a:r>
              <a:rPr lang="en-US" sz="1550" i="true">
                <a:solidFill>
                  <a:srgbClr val="14313B"/>
                </a:solidFill>
                <a:latin typeface="Cambria Italics"/>
                <a:ea typeface="Cambria Italics"/>
                <a:cs typeface="Cambria Italics"/>
                <a:sym typeface="Cambria Italics"/>
              </a:rPr>
              <a:t>Faktor = (W₂₀₁₉ / W₂₀₁₈) / (1 + ḡ)</a:t>
            </a:r>
          </a:p>
        </p:txBody>
      </p:sp>
      <p:sp>
        <p:nvSpPr>
          <p:cNvPr name="TextBox 93" id="93"/>
          <p:cNvSpPr txBox="true"/>
          <p:nvPr/>
        </p:nvSpPr>
        <p:spPr>
          <a:xfrm rot="0">
            <a:off x="1051560" y="8726881"/>
            <a:ext cx="5303520" cy="389077"/>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ḡ = rata-rata g_pra dan g_pasca → faktor 2,2997</a:t>
            </a:r>
          </a:p>
        </p:txBody>
      </p:sp>
      <p:graphicFrame>
        <p:nvGraphicFramePr>
          <p:cNvPr name="Table 94" id="94"/>
          <p:cNvGraphicFramePr>
            <a:graphicFrameLocks noGrp="true"/>
          </p:cNvGraphicFramePr>
          <p:nvPr/>
        </p:nvGraphicFramePr>
        <p:xfrm>
          <a:off x="6812280" y="2240280"/>
          <a:ext cx="10604500" cy="6400800"/>
        </p:xfrm>
        <a:graphic>
          <a:graphicData uri="http://schemas.openxmlformats.org/drawingml/2006/table">
            <a:tbl>
              <a:tblPr/>
              <a:tblGrid>
                <a:gridCol w="2184618"/>
                <a:gridCol w="4733339"/>
                <a:gridCol w="3686543"/>
              </a:tblGrid>
              <a:tr h="529835">
                <a:tc>
                  <a:txBody>
                    <a:bodyPr anchor="t" rtlCol="false"/>
                    <a:lstStyle/>
                    <a:p>
                      <a:pPr algn="l">
                        <a:lnSpc>
                          <a:spcPts val="1739"/>
                        </a:lnSpc>
                        <a:defRPr/>
                      </a:pPr>
                      <a:r>
                        <a:rPr lang="en-US" sz="1449" b="true">
                          <a:solidFill>
                            <a:srgbClr val="FFFFFF"/>
                          </a:solidFill>
                          <a:latin typeface="Calibri (MS) Bold"/>
                          <a:ea typeface="Calibri (MS) Bold"/>
                          <a:cs typeface="Calibri (MS) Bold"/>
                          <a:sym typeface="Calibri (MS) Bold"/>
                        </a:rPr>
                        <a:t>Metrik (urutan penilaian)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739"/>
                        </a:lnSpc>
                        <a:defRPr/>
                      </a:pPr>
                      <a:r>
                        <a:rPr lang="en-US" sz="1449" b="true">
                          <a:solidFill>
                            <a:srgbClr val="FFFFFF"/>
                          </a:solidFill>
                          <a:latin typeface="Calibri (MS) Bold"/>
                          <a:ea typeface="Calibri (MS) Bold"/>
                          <a:cs typeface="Calibri (MS) Bold"/>
                          <a:sym typeface="Calibri (MS) Bold"/>
                        </a:rPr>
                        <a:t>Rumus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739"/>
                        </a:lnSpc>
                        <a:defRPr/>
                      </a:pPr>
                      <a:r>
                        <a:rPr lang="en-US" sz="1449" b="true">
                          <a:solidFill>
                            <a:srgbClr val="FFFFFF"/>
                          </a:solidFill>
                          <a:latin typeface="Calibri (MS) Bold"/>
                          <a:ea typeface="Calibri (MS) Bold"/>
                          <a:cs typeface="Calibri (MS) Bold"/>
                          <a:sym typeface="Calibri (MS) Bold"/>
                        </a:rPr>
                        <a:t>Kriteria / pedoman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97849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1 · Uji tren (saringan awal)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t = |bₛ − bₐ| / √(Var(bₛ) + Var(bₐ)) ;  db = 2n − 4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α = 0,05 → sama · berbeda nyata · berlawanan arah. Bila berbeda, E1–E2 tidak dibaca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849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2 · E1 error rata-rata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E1 = |S̄ − Ā| / Ā</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Pedoman empiris &lt; 0,05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849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3 · E2 error variasi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E2 = |σₛ − σₐ| / σₐ</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Pedoman empiris &lt; 0,30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849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4 · Discrepancy coefficient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DC = SD(e) / (SD(A) + SD(S)) ;  eᵢ = Aᵢ − Sᵢ</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0,4–0,7 = rata-rata sampai baik (ringkasan, bukan uji)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849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MAPE (pelengkap)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MAPE = (100% / n) · Σ |Sᵢ − Aᵢ| / Aᵢ</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&lt; 10% sangat baik · 10–20% baik · 20–50% layak · &gt; 50% buruk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849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Dekomposisi error (Sterman, 1984)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MSE = (1/n) Σ(Sᵢ − Aᵢ)²</a:t>
                      </a:r>
                      <a:endParaRPr lang="en-US" sz="1100"/>
                    </a:p>
                    <a:p>
                      <a:pPr algn="l">
                        <a:lnSpc>
                          <a:spcPts val="1680"/>
                        </a:lnSpc>
                      </a:pPr>
                      <a:r>
                        <a:rPr lang="en-US" sz="1400" i="true">
                          <a:solidFill>
                            <a:srgbClr val="14313B"/>
                          </a:solidFill>
                          <a:latin typeface="Cambria Italics"/>
                          <a:ea typeface="Cambria Italics"/>
                          <a:cs typeface="Cambria Italics"/>
                          <a:sym typeface="Cambria Italics"/>
                        </a:rPr>
                        <a:t>U1 = (S̄ − Ā)²/MSE ;  U2 = (σₛ − σₐ)²/MSE</a:t>
                      </a:r>
                    </a:p>
                    <a:p>
                      <a:pPr algn="l">
                        <a:lnSpc>
                          <a:spcPts val="1680"/>
                        </a:lnSpc>
                      </a:pPr>
                      <a:r>
                        <a:rPr lang="en-US" sz="1400" i="true">
                          <a:solidFill>
                            <a:srgbClr val="14313B"/>
                          </a:solidFill>
                          <a:latin typeface="Cambria Italics"/>
                          <a:ea typeface="Cambria Italics"/>
                          <a:cs typeface="Cambria Italics"/>
                          <a:sym typeface="Cambria Italics"/>
                        </a:rPr>
                        <a:t>U3 = 2(1 − r)σₛσₐ/MSE ;  U1 + U2 + U3 = 1</a:t>
                      </a:r>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Tanpa batas nilai: U1/U2 dominan → error sistematis (perlu kalibrasi); U3 dominan → error acak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grpSp>
        <p:nvGrpSpPr>
          <p:cNvPr name="Group 95" id="95"/>
          <p:cNvGrpSpPr/>
          <p:nvPr/>
        </p:nvGrpSpPr>
        <p:grpSpPr>
          <a:xfrm rot="0">
            <a:off x="12755880" y="274320"/>
            <a:ext cx="3931920" cy="411480"/>
            <a:chOff x="0" y="0"/>
            <a:chExt cx="5242560" cy="548640"/>
          </a:xfrm>
        </p:grpSpPr>
        <p:sp>
          <p:nvSpPr>
            <p:cNvPr name="Freeform 96" id="96"/>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97" id="97"/>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grpSp>
        <p:nvGrpSpPr>
          <p:cNvPr name="Group 98" id="98"/>
          <p:cNvGrpSpPr/>
          <p:nvPr/>
        </p:nvGrpSpPr>
        <p:grpSpPr>
          <a:xfrm rot="0">
            <a:off x="16047720" y="9646920"/>
            <a:ext cx="420624" cy="420624"/>
            <a:chOff x="0" y="0"/>
            <a:chExt cx="560832" cy="560832"/>
          </a:xfrm>
        </p:grpSpPr>
        <p:sp>
          <p:nvSpPr>
            <p:cNvPr name="Freeform 99" id="99"/>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00" id="100"/>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Rancangan Uji Perilaku — Penyesuaian Data Wisnus</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Perubahan metode pencatatan wisnus 2018→2019 disesuaikan dengan faktor 2,2997</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822960" y="2188845"/>
            <a:ext cx="9601200" cy="62293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Jumlah wisatawan DIY: data mentah vs tersambung (juta kunjungan)</a:t>
            </a:r>
          </a:p>
        </p:txBody>
      </p:sp>
      <p:grpSp>
        <p:nvGrpSpPr>
          <p:cNvPr name="Group 67" id="67"/>
          <p:cNvGrpSpPr/>
          <p:nvPr/>
        </p:nvGrpSpPr>
        <p:grpSpPr>
          <a:xfrm rot="0">
            <a:off x="11109960" y="2400300"/>
            <a:ext cx="6350508" cy="2125980"/>
            <a:chOff x="0" y="0"/>
            <a:chExt cx="8467344" cy="2834640"/>
          </a:xfrm>
        </p:grpSpPr>
        <p:sp>
          <p:nvSpPr>
            <p:cNvPr name="Freeform 68" id="68"/>
            <p:cNvSpPr/>
            <p:nvPr/>
          </p:nvSpPr>
          <p:spPr>
            <a:xfrm flipH="false" flipV="false" rot="0">
              <a:off x="0" y="0"/>
              <a:ext cx="8467344" cy="2834640"/>
            </a:xfrm>
            <a:custGeom>
              <a:avLst/>
              <a:gdLst/>
              <a:ahLst/>
              <a:cxnLst/>
              <a:rect r="r" b="b" t="t" l="l"/>
              <a:pathLst>
                <a:path h="2834640" w="8467344">
                  <a:moveTo>
                    <a:pt x="0" y="182880"/>
                  </a:moveTo>
                  <a:cubicBezTo>
                    <a:pt x="0" y="81915"/>
                    <a:pt x="81915" y="0"/>
                    <a:pt x="182880" y="0"/>
                  </a:cubicBezTo>
                  <a:lnTo>
                    <a:pt x="8284464" y="0"/>
                  </a:lnTo>
                  <a:cubicBezTo>
                    <a:pt x="8385429" y="0"/>
                    <a:pt x="8467344" y="81915"/>
                    <a:pt x="8467344" y="182880"/>
                  </a:cubicBezTo>
                  <a:lnTo>
                    <a:pt x="8467344" y="2651760"/>
                  </a:lnTo>
                  <a:cubicBezTo>
                    <a:pt x="8467344" y="2752725"/>
                    <a:pt x="8385429" y="2834640"/>
                    <a:pt x="8284464" y="2834640"/>
                  </a:cubicBezTo>
                  <a:lnTo>
                    <a:pt x="182880" y="2834640"/>
                  </a:lnTo>
                  <a:cubicBezTo>
                    <a:pt x="81915" y="2834640"/>
                    <a:pt x="0" y="2752725"/>
                    <a:pt x="0" y="2651760"/>
                  </a:cubicBezTo>
                  <a:close/>
                </a:path>
              </a:pathLst>
            </a:custGeom>
            <a:solidFill>
              <a:srgbClr val="EAF8FA"/>
            </a:solidFill>
          </p:spPr>
          <p:txBody>
            <a:bodyPr/>
            <a:p/>
          </p:txBody>
        </p:sp>
      </p:grpSp>
      <p:grpSp>
        <p:nvGrpSpPr>
          <p:cNvPr name="Group 69" id="69"/>
          <p:cNvGrpSpPr/>
          <p:nvPr/>
        </p:nvGrpSpPr>
        <p:grpSpPr>
          <a:xfrm rot="0">
            <a:off x="11452860" y="2564892"/>
            <a:ext cx="5623560" cy="754380"/>
            <a:chOff x="0" y="0"/>
            <a:chExt cx="7498080" cy="1005840"/>
          </a:xfrm>
        </p:grpSpPr>
        <p:sp>
          <p:nvSpPr>
            <p:cNvPr name="Freeform 70" id="70"/>
            <p:cNvSpPr/>
            <p:nvPr/>
          </p:nvSpPr>
          <p:spPr>
            <a:xfrm flipH="false" flipV="false" rot="0">
              <a:off x="0" y="0"/>
              <a:ext cx="7498080" cy="1005840"/>
            </a:xfrm>
            <a:custGeom>
              <a:avLst/>
              <a:gdLst/>
              <a:ahLst/>
              <a:cxnLst/>
              <a:rect r="r" b="b" t="t" l="l"/>
              <a:pathLst>
                <a:path h="1005840" w="7498080">
                  <a:moveTo>
                    <a:pt x="0" y="0"/>
                  </a:moveTo>
                  <a:lnTo>
                    <a:pt x="7498080" y="0"/>
                  </a:lnTo>
                  <a:lnTo>
                    <a:pt x="7498080" y="1005840"/>
                  </a:lnTo>
                  <a:lnTo>
                    <a:pt x="0" y="1005840"/>
                  </a:lnTo>
                  <a:close/>
                </a:path>
              </a:pathLst>
            </a:custGeom>
            <a:blipFill>
              <a:blip r:embed="rId4">
                <a:alphaModFix amt="0"/>
              </a:blip>
              <a:stretch>
                <a:fillRect l="0" t="-95151" r="0" b="-95150"/>
              </a:stretch>
            </a:blipFill>
          </p:spPr>
          <p:txBody>
            <a:bodyPr/>
            <a:p/>
          </p:txBody>
        </p:sp>
      </p:grpSp>
      <p:grpSp>
        <p:nvGrpSpPr>
          <p:cNvPr name="Group 71" id="71"/>
          <p:cNvGrpSpPr/>
          <p:nvPr/>
        </p:nvGrpSpPr>
        <p:grpSpPr>
          <a:xfrm rot="0">
            <a:off x="11452860" y="2507742"/>
            <a:ext cx="5623560" cy="811530"/>
            <a:chOff x="0" y="0"/>
            <a:chExt cx="7498080" cy="1082040"/>
          </a:xfrm>
        </p:grpSpPr>
        <p:sp>
          <p:nvSpPr>
            <p:cNvPr name="Freeform 72" id="72"/>
            <p:cNvSpPr/>
            <p:nvPr/>
          </p:nvSpPr>
          <p:spPr>
            <a:xfrm flipH="false" flipV="false" rot="0">
              <a:off x="0" y="0"/>
              <a:ext cx="7498080" cy="1082040"/>
            </a:xfrm>
            <a:custGeom>
              <a:avLst/>
              <a:gdLst/>
              <a:ahLst/>
              <a:cxnLst/>
              <a:rect r="r" b="b" t="t" l="l"/>
              <a:pathLst>
                <a:path h="1082040" w="7498080">
                  <a:moveTo>
                    <a:pt x="0" y="0"/>
                  </a:moveTo>
                  <a:lnTo>
                    <a:pt x="7498080" y="0"/>
                  </a:lnTo>
                  <a:lnTo>
                    <a:pt x="7498080" y="1082040"/>
                  </a:lnTo>
                  <a:lnTo>
                    <a:pt x="0" y="1082040"/>
                  </a:lnTo>
                  <a:close/>
                </a:path>
              </a:pathLst>
            </a:custGeom>
            <a:blipFill>
              <a:blip r:embed="rId5">
                <a:alphaModFix amt="0"/>
              </a:blip>
              <a:stretch>
                <a:fillRect l="0" t="-84929" r="0" b="-84928"/>
              </a:stretch>
            </a:blipFill>
          </p:spPr>
          <p:txBody>
            <a:bodyPr/>
            <a:p/>
          </p:txBody>
        </p:sp>
      </p:grpSp>
      <p:grpSp>
        <p:nvGrpSpPr>
          <p:cNvPr name="Group 73" id="73"/>
          <p:cNvGrpSpPr/>
          <p:nvPr/>
        </p:nvGrpSpPr>
        <p:grpSpPr>
          <a:xfrm rot="0">
            <a:off x="11452860" y="2450592"/>
            <a:ext cx="5623560" cy="868680"/>
            <a:chOff x="0" y="0"/>
            <a:chExt cx="7498080" cy="1158240"/>
          </a:xfrm>
        </p:grpSpPr>
        <p:sp>
          <p:nvSpPr>
            <p:cNvPr name="Freeform 74" id="74"/>
            <p:cNvSpPr/>
            <p:nvPr/>
          </p:nvSpPr>
          <p:spPr>
            <a:xfrm flipH="false" flipV="false" rot="0">
              <a:off x="0" y="0"/>
              <a:ext cx="7498080" cy="1158240"/>
            </a:xfrm>
            <a:custGeom>
              <a:avLst/>
              <a:gdLst/>
              <a:ahLst/>
              <a:cxnLst/>
              <a:rect r="r" b="b" t="t" l="l"/>
              <a:pathLst>
                <a:path h="1158240" w="7498080">
                  <a:moveTo>
                    <a:pt x="0" y="0"/>
                  </a:moveTo>
                  <a:lnTo>
                    <a:pt x="7498080" y="0"/>
                  </a:lnTo>
                  <a:lnTo>
                    <a:pt x="7498080" y="1158240"/>
                  </a:lnTo>
                  <a:lnTo>
                    <a:pt x="0" y="1158240"/>
                  </a:lnTo>
                  <a:close/>
                </a:path>
              </a:pathLst>
            </a:custGeom>
            <a:blipFill>
              <a:blip r:embed="rId6">
                <a:alphaModFix amt="0"/>
              </a:blip>
              <a:stretch>
                <a:fillRect l="0" t="-76139" r="0" b="-76139"/>
              </a:stretch>
            </a:blipFill>
          </p:spPr>
          <p:txBody>
            <a:bodyPr/>
            <a:p/>
          </p:txBody>
        </p:sp>
        <p:sp>
          <p:nvSpPr>
            <p:cNvPr name="TextBox 75" id="75"/>
            <p:cNvSpPr txBox="true"/>
            <p:nvPr/>
          </p:nvSpPr>
          <p:spPr>
            <a:xfrm>
              <a:off x="0" y="-76200"/>
              <a:ext cx="7498080" cy="1234440"/>
            </a:xfrm>
            <a:prstGeom prst="rect">
              <a:avLst/>
            </a:prstGeom>
          </p:spPr>
          <p:txBody>
            <a:bodyPr anchor="ctr" rtlCol="false" tIns="0" lIns="0" bIns="0" rIns="0"/>
            <a:lstStyle/>
            <a:p>
              <a:pPr algn="l">
                <a:lnSpc>
                  <a:spcPts val="4680"/>
                </a:lnSpc>
              </a:pPr>
              <a:r>
                <a:rPr lang="en-US" sz="3900" b="true">
                  <a:solidFill>
                    <a:srgbClr val="0B5E6E"/>
                  </a:solidFill>
                  <a:latin typeface="Calibri (MS) Bold"/>
                  <a:ea typeface="Calibri (MS) Bold"/>
                  <a:cs typeface="Calibri (MS) Bold"/>
                  <a:sym typeface="Calibri (MS) Bold"/>
                </a:rPr>
                <a:t>2,57×</a:t>
              </a:r>
            </a:p>
          </p:txBody>
        </p:sp>
      </p:grpSp>
      <p:sp>
        <p:nvSpPr>
          <p:cNvPr name="TextBox 76" id="76"/>
          <p:cNvSpPr txBox="true"/>
          <p:nvPr/>
        </p:nvSpPr>
        <p:spPr>
          <a:xfrm rot="0">
            <a:off x="11452860" y="3273552"/>
            <a:ext cx="5623560" cy="12115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lonjakan 2018→2019 (8,0 → 20,5 juta) karena perubahan metode pencatatan</a:t>
            </a:r>
          </a:p>
        </p:txBody>
      </p:sp>
      <p:grpSp>
        <p:nvGrpSpPr>
          <p:cNvPr name="Group 77" id="77"/>
          <p:cNvGrpSpPr/>
          <p:nvPr/>
        </p:nvGrpSpPr>
        <p:grpSpPr>
          <a:xfrm rot="0">
            <a:off x="11109960" y="4732020"/>
            <a:ext cx="6350508" cy="2125980"/>
            <a:chOff x="0" y="0"/>
            <a:chExt cx="8467344" cy="2834640"/>
          </a:xfrm>
        </p:grpSpPr>
        <p:sp>
          <p:nvSpPr>
            <p:cNvPr name="Freeform 78" id="78"/>
            <p:cNvSpPr/>
            <p:nvPr/>
          </p:nvSpPr>
          <p:spPr>
            <a:xfrm flipH="false" flipV="false" rot="0">
              <a:off x="0" y="0"/>
              <a:ext cx="8467344" cy="2834640"/>
            </a:xfrm>
            <a:custGeom>
              <a:avLst/>
              <a:gdLst/>
              <a:ahLst/>
              <a:cxnLst/>
              <a:rect r="r" b="b" t="t" l="l"/>
              <a:pathLst>
                <a:path h="2834640" w="8467344">
                  <a:moveTo>
                    <a:pt x="0" y="182880"/>
                  </a:moveTo>
                  <a:cubicBezTo>
                    <a:pt x="0" y="81915"/>
                    <a:pt x="81915" y="0"/>
                    <a:pt x="182880" y="0"/>
                  </a:cubicBezTo>
                  <a:lnTo>
                    <a:pt x="8284464" y="0"/>
                  </a:lnTo>
                  <a:cubicBezTo>
                    <a:pt x="8385429" y="0"/>
                    <a:pt x="8467344" y="81915"/>
                    <a:pt x="8467344" y="182880"/>
                  </a:cubicBezTo>
                  <a:lnTo>
                    <a:pt x="8467344" y="2651760"/>
                  </a:lnTo>
                  <a:cubicBezTo>
                    <a:pt x="8467344" y="2752725"/>
                    <a:pt x="8385429" y="2834640"/>
                    <a:pt x="8284464" y="2834640"/>
                  </a:cubicBezTo>
                  <a:lnTo>
                    <a:pt x="182880" y="2834640"/>
                  </a:lnTo>
                  <a:cubicBezTo>
                    <a:pt x="81915" y="2834640"/>
                    <a:pt x="0" y="2752725"/>
                    <a:pt x="0" y="2651760"/>
                  </a:cubicBezTo>
                  <a:close/>
                </a:path>
              </a:pathLst>
            </a:custGeom>
            <a:solidFill>
              <a:srgbClr val="FFF1BF"/>
            </a:solidFill>
          </p:spPr>
          <p:txBody>
            <a:bodyPr/>
            <a:p/>
          </p:txBody>
        </p:sp>
      </p:grpSp>
      <p:grpSp>
        <p:nvGrpSpPr>
          <p:cNvPr name="Group 79" id="79"/>
          <p:cNvGrpSpPr/>
          <p:nvPr/>
        </p:nvGrpSpPr>
        <p:grpSpPr>
          <a:xfrm rot="0">
            <a:off x="11452860" y="4896612"/>
            <a:ext cx="5623560" cy="754380"/>
            <a:chOff x="0" y="0"/>
            <a:chExt cx="7498080" cy="1005840"/>
          </a:xfrm>
        </p:grpSpPr>
        <p:sp>
          <p:nvSpPr>
            <p:cNvPr name="Freeform 80" id="80"/>
            <p:cNvSpPr/>
            <p:nvPr/>
          </p:nvSpPr>
          <p:spPr>
            <a:xfrm flipH="false" flipV="false" rot="0">
              <a:off x="0" y="0"/>
              <a:ext cx="7498080" cy="1005840"/>
            </a:xfrm>
            <a:custGeom>
              <a:avLst/>
              <a:gdLst/>
              <a:ahLst/>
              <a:cxnLst/>
              <a:rect r="r" b="b" t="t" l="l"/>
              <a:pathLst>
                <a:path h="1005840" w="7498080">
                  <a:moveTo>
                    <a:pt x="0" y="0"/>
                  </a:moveTo>
                  <a:lnTo>
                    <a:pt x="7498080" y="0"/>
                  </a:lnTo>
                  <a:lnTo>
                    <a:pt x="7498080" y="1005840"/>
                  </a:lnTo>
                  <a:lnTo>
                    <a:pt x="0" y="1005840"/>
                  </a:lnTo>
                  <a:close/>
                </a:path>
              </a:pathLst>
            </a:custGeom>
            <a:blipFill>
              <a:blip r:embed="rId4">
                <a:alphaModFix amt="0"/>
              </a:blip>
              <a:stretch>
                <a:fillRect l="0" t="-95151" r="0" b="-95150"/>
              </a:stretch>
            </a:blipFill>
          </p:spPr>
          <p:txBody>
            <a:bodyPr/>
            <a:p/>
          </p:txBody>
        </p:sp>
      </p:grpSp>
      <p:grpSp>
        <p:nvGrpSpPr>
          <p:cNvPr name="Group 81" id="81"/>
          <p:cNvGrpSpPr/>
          <p:nvPr/>
        </p:nvGrpSpPr>
        <p:grpSpPr>
          <a:xfrm rot="0">
            <a:off x="11452860" y="4839462"/>
            <a:ext cx="5623560" cy="811530"/>
            <a:chOff x="0" y="0"/>
            <a:chExt cx="7498080" cy="1082040"/>
          </a:xfrm>
        </p:grpSpPr>
        <p:sp>
          <p:nvSpPr>
            <p:cNvPr name="Freeform 82" id="82"/>
            <p:cNvSpPr/>
            <p:nvPr/>
          </p:nvSpPr>
          <p:spPr>
            <a:xfrm flipH="false" flipV="false" rot="0">
              <a:off x="0" y="0"/>
              <a:ext cx="7498080" cy="1082040"/>
            </a:xfrm>
            <a:custGeom>
              <a:avLst/>
              <a:gdLst/>
              <a:ahLst/>
              <a:cxnLst/>
              <a:rect r="r" b="b" t="t" l="l"/>
              <a:pathLst>
                <a:path h="1082040" w="7498080">
                  <a:moveTo>
                    <a:pt x="0" y="0"/>
                  </a:moveTo>
                  <a:lnTo>
                    <a:pt x="7498080" y="0"/>
                  </a:lnTo>
                  <a:lnTo>
                    <a:pt x="7498080" y="1082040"/>
                  </a:lnTo>
                  <a:lnTo>
                    <a:pt x="0" y="1082040"/>
                  </a:lnTo>
                  <a:close/>
                </a:path>
              </a:pathLst>
            </a:custGeom>
            <a:blipFill>
              <a:blip r:embed="rId5">
                <a:alphaModFix amt="0"/>
              </a:blip>
              <a:stretch>
                <a:fillRect l="0" t="-84929" r="0" b="-84928"/>
              </a:stretch>
            </a:blipFill>
          </p:spPr>
          <p:txBody>
            <a:bodyPr/>
            <a:p/>
          </p:txBody>
        </p:sp>
      </p:grpSp>
      <p:grpSp>
        <p:nvGrpSpPr>
          <p:cNvPr name="Group 83" id="83"/>
          <p:cNvGrpSpPr/>
          <p:nvPr/>
        </p:nvGrpSpPr>
        <p:grpSpPr>
          <a:xfrm rot="0">
            <a:off x="11452860" y="4782312"/>
            <a:ext cx="5623560" cy="868680"/>
            <a:chOff x="0" y="0"/>
            <a:chExt cx="7498080" cy="1158240"/>
          </a:xfrm>
        </p:grpSpPr>
        <p:sp>
          <p:nvSpPr>
            <p:cNvPr name="Freeform 84" id="84"/>
            <p:cNvSpPr/>
            <p:nvPr/>
          </p:nvSpPr>
          <p:spPr>
            <a:xfrm flipH="false" flipV="false" rot="0">
              <a:off x="0" y="0"/>
              <a:ext cx="7498080" cy="1158240"/>
            </a:xfrm>
            <a:custGeom>
              <a:avLst/>
              <a:gdLst/>
              <a:ahLst/>
              <a:cxnLst/>
              <a:rect r="r" b="b" t="t" l="l"/>
              <a:pathLst>
                <a:path h="1158240" w="7498080">
                  <a:moveTo>
                    <a:pt x="0" y="0"/>
                  </a:moveTo>
                  <a:lnTo>
                    <a:pt x="7498080" y="0"/>
                  </a:lnTo>
                  <a:lnTo>
                    <a:pt x="7498080" y="1158240"/>
                  </a:lnTo>
                  <a:lnTo>
                    <a:pt x="0" y="1158240"/>
                  </a:lnTo>
                  <a:close/>
                </a:path>
              </a:pathLst>
            </a:custGeom>
            <a:blipFill>
              <a:blip r:embed="rId6">
                <a:alphaModFix amt="0"/>
              </a:blip>
              <a:stretch>
                <a:fillRect l="0" t="-76139" r="0" b="-76139"/>
              </a:stretch>
            </a:blipFill>
          </p:spPr>
          <p:txBody>
            <a:bodyPr/>
            <a:p/>
          </p:txBody>
        </p:sp>
        <p:sp>
          <p:nvSpPr>
            <p:cNvPr name="TextBox 85" id="85"/>
            <p:cNvSpPr txBox="true"/>
            <p:nvPr/>
          </p:nvSpPr>
          <p:spPr>
            <a:xfrm>
              <a:off x="0" y="-76200"/>
              <a:ext cx="7498080" cy="1234440"/>
            </a:xfrm>
            <a:prstGeom prst="rect">
              <a:avLst/>
            </a:prstGeom>
          </p:spPr>
          <p:txBody>
            <a:bodyPr anchor="ctr" rtlCol="false" tIns="0" lIns="0" bIns="0" rIns="0"/>
            <a:lstStyle/>
            <a:p>
              <a:pPr algn="l">
                <a:lnSpc>
                  <a:spcPts val="4680"/>
                </a:lnSpc>
              </a:pPr>
              <a:r>
                <a:rPr lang="en-US" sz="3900" b="true">
                  <a:solidFill>
                    <a:srgbClr val="0B5E6E"/>
                  </a:solidFill>
                  <a:latin typeface="Calibri (MS) Bold"/>
                  <a:ea typeface="Calibri (MS) Bold"/>
                  <a:cs typeface="Calibri (MS) Bold"/>
                  <a:sym typeface="Calibri (MS) Bold"/>
                </a:rPr>
                <a:t>2,2997</a:t>
              </a:r>
            </a:p>
          </p:txBody>
        </p:sp>
      </p:grpSp>
      <p:sp>
        <p:nvSpPr>
          <p:cNvPr name="TextBox 86" id="86"/>
          <p:cNvSpPr txBox="true"/>
          <p:nvPr/>
        </p:nvSpPr>
        <p:spPr>
          <a:xfrm rot="0">
            <a:off x="11452860" y="5605272"/>
            <a:ext cx="5623560" cy="12115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faktor penyesuaian (rentang 2,22–2,38), diuji ulang pada kalibrasi Tahap 3</a:t>
            </a:r>
          </a:p>
        </p:txBody>
      </p:sp>
      <p:grpSp>
        <p:nvGrpSpPr>
          <p:cNvPr name="Group 87" id="87"/>
          <p:cNvGrpSpPr/>
          <p:nvPr/>
        </p:nvGrpSpPr>
        <p:grpSpPr>
          <a:xfrm rot="0">
            <a:off x="11109960" y="7063740"/>
            <a:ext cx="6350508" cy="2125980"/>
            <a:chOff x="0" y="0"/>
            <a:chExt cx="8467344" cy="2834640"/>
          </a:xfrm>
        </p:grpSpPr>
        <p:sp>
          <p:nvSpPr>
            <p:cNvPr name="Freeform 88" id="88"/>
            <p:cNvSpPr/>
            <p:nvPr/>
          </p:nvSpPr>
          <p:spPr>
            <a:xfrm flipH="false" flipV="false" rot="0">
              <a:off x="0" y="0"/>
              <a:ext cx="8467344" cy="2834640"/>
            </a:xfrm>
            <a:custGeom>
              <a:avLst/>
              <a:gdLst/>
              <a:ahLst/>
              <a:cxnLst/>
              <a:rect r="r" b="b" t="t" l="l"/>
              <a:pathLst>
                <a:path h="2834640" w="8467344">
                  <a:moveTo>
                    <a:pt x="0" y="182880"/>
                  </a:moveTo>
                  <a:cubicBezTo>
                    <a:pt x="0" y="81915"/>
                    <a:pt x="81915" y="0"/>
                    <a:pt x="182880" y="0"/>
                  </a:cubicBezTo>
                  <a:lnTo>
                    <a:pt x="8284464" y="0"/>
                  </a:lnTo>
                  <a:cubicBezTo>
                    <a:pt x="8385429" y="0"/>
                    <a:pt x="8467344" y="81915"/>
                    <a:pt x="8467344" y="182880"/>
                  </a:cubicBezTo>
                  <a:lnTo>
                    <a:pt x="8467344" y="2651760"/>
                  </a:lnTo>
                  <a:cubicBezTo>
                    <a:pt x="8467344" y="2752725"/>
                    <a:pt x="8385429" y="2834640"/>
                    <a:pt x="8284464" y="2834640"/>
                  </a:cubicBezTo>
                  <a:lnTo>
                    <a:pt x="182880" y="2834640"/>
                  </a:lnTo>
                  <a:cubicBezTo>
                    <a:pt x="81915" y="2834640"/>
                    <a:pt x="0" y="2752725"/>
                    <a:pt x="0" y="2651760"/>
                  </a:cubicBezTo>
                  <a:close/>
                </a:path>
              </a:pathLst>
            </a:custGeom>
            <a:solidFill>
              <a:srgbClr val="EAF8FA"/>
            </a:solidFill>
          </p:spPr>
          <p:txBody>
            <a:bodyPr/>
            <a:p/>
          </p:txBody>
        </p:sp>
      </p:grpSp>
      <p:grpSp>
        <p:nvGrpSpPr>
          <p:cNvPr name="Group 89" id="89"/>
          <p:cNvGrpSpPr/>
          <p:nvPr/>
        </p:nvGrpSpPr>
        <p:grpSpPr>
          <a:xfrm rot="0">
            <a:off x="11452860" y="7228332"/>
            <a:ext cx="5623560" cy="754380"/>
            <a:chOff x="0" y="0"/>
            <a:chExt cx="7498080" cy="1005840"/>
          </a:xfrm>
        </p:grpSpPr>
        <p:sp>
          <p:nvSpPr>
            <p:cNvPr name="Freeform 90" id="90"/>
            <p:cNvSpPr/>
            <p:nvPr/>
          </p:nvSpPr>
          <p:spPr>
            <a:xfrm flipH="false" flipV="false" rot="0">
              <a:off x="0" y="0"/>
              <a:ext cx="7498080" cy="1005840"/>
            </a:xfrm>
            <a:custGeom>
              <a:avLst/>
              <a:gdLst/>
              <a:ahLst/>
              <a:cxnLst/>
              <a:rect r="r" b="b" t="t" l="l"/>
              <a:pathLst>
                <a:path h="1005840" w="7498080">
                  <a:moveTo>
                    <a:pt x="0" y="0"/>
                  </a:moveTo>
                  <a:lnTo>
                    <a:pt x="7498080" y="0"/>
                  </a:lnTo>
                  <a:lnTo>
                    <a:pt x="7498080" y="1005840"/>
                  </a:lnTo>
                  <a:lnTo>
                    <a:pt x="0" y="1005840"/>
                  </a:lnTo>
                  <a:close/>
                </a:path>
              </a:pathLst>
            </a:custGeom>
            <a:blipFill>
              <a:blip r:embed="rId4">
                <a:alphaModFix amt="0"/>
              </a:blip>
              <a:stretch>
                <a:fillRect l="0" t="-95151" r="0" b="-95150"/>
              </a:stretch>
            </a:blipFill>
          </p:spPr>
          <p:txBody>
            <a:bodyPr/>
            <a:p/>
          </p:txBody>
        </p:sp>
      </p:grpSp>
      <p:grpSp>
        <p:nvGrpSpPr>
          <p:cNvPr name="Group 91" id="91"/>
          <p:cNvGrpSpPr/>
          <p:nvPr/>
        </p:nvGrpSpPr>
        <p:grpSpPr>
          <a:xfrm rot="0">
            <a:off x="11452860" y="7171182"/>
            <a:ext cx="5623560" cy="811530"/>
            <a:chOff x="0" y="0"/>
            <a:chExt cx="7498080" cy="1082040"/>
          </a:xfrm>
        </p:grpSpPr>
        <p:sp>
          <p:nvSpPr>
            <p:cNvPr name="Freeform 92" id="92"/>
            <p:cNvSpPr/>
            <p:nvPr/>
          </p:nvSpPr>
          <p:spPr>
            <a:xfrm flipH="false" flipV="false" rot="0">
              <a:off x="0" y="0"/>
              <a:ext cx="7498080" cy="1082040"/>
            </a:xfrm>
            <a:custGeom>
              <a:avLst/>
              <a:gdLst/>
              <a:ahLst/>
              <a:cxnLst/>
              <a:rect r="r" b="b" t="t" l="l"/>
              <a:pathLst>
                <a:path h="1082040" w="7498080">
                  <a:moveTo>
                    <a:pt x="0" y="0"/>
                  </a:moveTo>
                  <a:lnTo>
                    <a:pt x="7498080" y="0"/>
                  </a:lnTo>
                  <a:lnTo>
                    <a:pt x="7498080" y="1082040"/>
                  </a:lnTo>
                  <a:lnTo>
                    <a:pt x="0" y="1082040"/>
                  </a:lnTo>
                  <a:close/>
                </a:path>
              </a:pathLst>
            </a:custGeom>
            <a:blipFill>
              <a:blip r:embed="rId5">
                <a:alphaModFix amt="0"/>
              </a:blip>
              <a:stretch>
                <a:fillRect l="0" t="-84929" r="0" b="-84928"/>
              </a:stretch>
            </a:blipFill>
          </p:spPr>
          <p:txBody>
            <a:bodyPr/>
            <a:p/>
          </p:txBody>
        </p:sp>
      </p:grpSp>
      <p:grpSp>
        <p:nvGrpSpPr>
          <p:cNvPr name="Group 93" id="93"/>
          <p:cNvGrpSpPr/>
          <p:nvPr/>
        </p:nvGrpSpPr>
        <p:grpSpPr>
          <a:xfrm rot="0">
            <a:off x="11452860" y="7114032"/>
            <a:ext cx="5623560" cy="868680"/>
            <a:chOff x="0" y="0"/>
            <a:chExt cx="7498080" cy="1158240"/>
          </a:xfrm>
        </p:grpSpPr>
        <p:sp>
          <p:nvSpPr>
            <p:cNvPr name="Freeform 94" id="94"/>
            <p:cNvSpPr/>
            <p:nvPr/>
          </p:nvSpPr>
          <p:spPr>
            <a:xfrm flipH="false" flipV="false" rot="0">
              <a:off x="0" y="0"/>
              <a:ext cx="7498080" cy="1158240"/>
            </a:xfrm>
            <a:custGeom>
              <a:avLst/>
              <a:gdLst/>
              <a:ahLst/>
              <a:cxnLst/>
              <a:rect r="r" b="b" t="t" l="l"/>
              <a:pathLst>
                <a:path h="1158240" w="7498080">
                  <a:moveTo>
                    <a:pt x="0" y="0"/>
                  </a:moveTo>
                  <a:lnTo>
                    <a:pt x="7498080" y="0"/>
                  </a:lnTo>
                  <a:lnTo>
                    <a:pt x="7498080" y="1158240"/>
                  </a:lnTo>
                  <a:lnTo>
                    <a:pt x="0" y="1158240"/>
                  </a:lnTo>
                  <a:close/>
                </a:path>
              </a:pathLst>
            </a:custGeom>
            <a:blipFill>
              <a:blip r:embed="rId6">
                <a:alphaModFix amt="0"/>
              </a:blip>
              <a:stretch>
                <a:fillRect l="0" t="-76139" r="0" b="-76139"/>
              </a:stretch>
            </a:blipFill>
          </p:spPr>
          <p:txBody>
            <a:bodyPr/>
            <a:p/>
          </p:txBody>
        </p:sp>
        <p:sp>
          <p:nvSpPr>
            <p:cNvPr name="TextBox 95" id="95"/>
            <p:cNvSpPr txBox="true"/>
            <p:nvPr/>
          </p:nvSpPr>
          <p:spPr>
            <a:xfrm>
              <a:off x="0" y="-76200"/>
              <a:ext cx="7498080" cy="1234440"/>
            </a:xfrm>
            <a:prstGeom prst="rect">
              <a:avLst/>
            </a:prstGeom>
          </p:spPr>
          <p:txBody>
            <a:bodyPr anchor="ctr" rtlCol="false" tIns="0" lIns="0" bIns="0" rIns="0"/>
            <a:lstStyle/>
            <a:p>
              <a:pPr algn="l">
                <a:lnSpc>
                  <a:spcPts val="4680"/>
                </a:lnSpc>
              </a:pPr>
              <a:r>
                <a:rPr lang="en-US" sz="3900" b="true">
                  <a:solidFill>
                    <a:srgbClr val="0B5E6E"/>
                  </a:solidFill>
                  <a:latin typeface="Calibri (MS) Bold"/>
                  <a:ea typeface="Calibri (MS) Bold"/>
                  <a:cs typeface="Calibri (MS) Bold"/>
                  <a:sym typeface="Calibri (MS) Bold"/>
                </a:rPr>
                <a:t>2019–2025</a:t>
              </a:r>
            </a:p>
          </p:txBody>
        </p:sp>
      </p:grpSp>
      <p:sp>
        <p:nvSpPr>
          <p:cNvPr name="TextBox 96" id="96"/>
          <p:cNvSpPr txBox="true"/>
          <p:nvPr/>
        </p:nvSpPr>
        <p:spPr>
          <a:xfrm rot="0">
            <a:off x="11452860" y="7936992"/>
            <a:ext cx="5623560" cy="12115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periode uji penuh (tanpa sambungan); uji P5 memakai seri tersambung sejak 2016</a:t>
            </a:r>
          </a:p>
        </p:txBody>
      </p:sp>
      <p:sp>
        <p:nvSpPr>
          <p:cNvPr name="TextBox 97" id="97"/>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46</a:t>
            </a:r>
          </a:p>
        </p:txBody>
      </p:sp>
      <p:grpSp>
        <p:nvGrpSpPr>
          <p:cNvPr name="Group 100" id="100"/>
          <p:cNvGrpSpPr/>
          <p:nvPr/>
        </p:nvGrpSpPr>
        <p:grpSpPr>
          <a:xfrm rot="0">
            <a:off x="12755880" y="274320"/>
            <a:ext cx="3931920" cy="411480"/>
            <a:chOff x="0" y="0"/>
            <a:chExt cx="5242560" cy="548640"/>
          </a:xfrm>
        </p:grpSpPr>
        <p:sp>
          <p:nvSpPr>
            <p:cNvPr name="Freeform 101" id="101"/>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02" id="102"/>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grpSp>
        <p:nvGrpSpPr>
          <p:cNvPr name="Group 103" id="103"/>
          <p:cNvGrpSpPr/>
          <p:nvPr/>
        </p:nvGrpSpPr>
        <p:grpSpPr>
          <a:xfrm rot="0">
            <a:off x="16047720" y="9646920"/>
            <a:ext cx="420624" cy="420624"/>
            <a:chOff x="0" y="0"/>
            <a:chExt cx="560832" cy="560832"/>
          </a:xfrm>
        </p:grpSpPr>
        <p:sp>
          <p:nvSpPr>
            <p:cNvPr name="Freeform 104" id="104"/>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05" id="105"/>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graphicFrame>
        <p:nvGraphicFramePr>
          <p:cNvPr id="106" name="Chart 105"/>
          <p:cNvGraphicFramePr>
            <a:graphicFrameLocks noGrp="1"/>
          </p:cNvGraphicFramePr>
          <p:nvPr/>
        </p:nvGraphicFramePr>
        <p:xfrm>
          <a:off x="822960" y="2834640"/>
          <a:ext cx="10058400" cy="6309360"/>
        </p:xfrm>
        <a:graphic>
          <a:graphicData uri="http://schemas.openxmlformats.org/drawingml/2006/chart">
            <c:chart xmlns:c="http://schemas.openxmlformats.org/drawingml/2006/chart" r:id="rId8"/>
          </a:graphicData>
        </a:graphic>
      </p:graphicFrame>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Uji Parsial</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Tiap subsistem cukup baik; hanya subsistem wisatawan yang gagal uji tren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47</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graphicFrame>
        <p:nvGraphicFramePr>
          <p:cNvPr name="Table 70" id="70"/>
          <p:cNvGraphicFramePr>
            <a:graphicFrameLocks noGrp="true"/>
          </p:cNvGraphicFramePr>
          <p:nvPr/>
        </p:nvGraphicFramePr>
        <p:xfrm>
          <a:off x="822960" y="2286000"/>
          <a:ext cx="8712200" cy="4457700"/>
        </p:xfrm>
        <a:graphic>
          <a:graphicData uri="http://schemas.openxmlformats.org/drawingml/2006/table">
            <a:tbl>
              <a:tblPr/>
              <a:tblGrid>
                <a:gridCol w="2541059"/>
                <a:gridCol w="1452033"/>
                <a:gridCol w="816768"/>
                <a:gridCol w="816768"/>
                <a:gridCol w="907521"/>
                <a:gridCol w="907521"/>
                <a:gridCol w="1270529"/>
              </a:tblGrid>
              <a:tr h="495300">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Uji · variabel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Tren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E1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E2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DC</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MAPE</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Dominan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495300">
                <a:tc>
                  <a:txBody>
                    <a:bodyPr anchor="t" rtlCol="false"/>
                    <a:lstStyle/>
                    <a:p>
                      <a:pPr algn="l">
                        <a:lnSpc>
                          <a:spcPts val="1727"/>
                        </a:lnSpc>
                        <a:defRPr/>
                      </a:pPr>
                      <a:r>
                        <a:rPr lang="en-US" sz="1439">
                          <a:solidFill>
                            <a:srgbClr val="14313B"/>
                          </a:solidFill>
                          <a:latin typeface="Calibri (MS)"/>
                          <a:ea typeface="Calibri (MS)"/>
                          <a:cs typeface="Calibri (MS)"/>
                          <a:sym typeface="Calibri (MS)"/>
                        </a:rPr>
                        <a:t>P1 · Jumlah hotel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0,0402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0,0773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0,2011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6,05%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U3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95300">
                <a:tc>
                  <a:txBody>
                    <a:bodyPr anchor="t" rtlCol="false"/>
                    <a:lstStyle/>
                    <a:p>
                      <a:pPr algn="l">
                        <a:lnSpc>
                          <a:spcPts val="1727"/>
                        </a:lnSpc>
                        <a:defRPr/>
                      </a:pPr>
                      <a:r>
                        <a:rPr lang="en-US" sz="1439">
                          <a:solidFill>
                            <a:srgbClr val="14313B"/>
                          </a:solidFill>
                          <a:latin typeface="Calibri (MS)"/>
                          <a:ea typeface="Calibri (MS)"/>
                          <a:cs typeface="Calibri (MS)"/>
                          <a:sym typeface="Calibri (MS)"/>
                        </a:rPr>
                        <a:t>P1b · Jumlah hotel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0,0182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0,1223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0,2319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7,86%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U3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495300">
                <a:tc>
                  <a:txBody>
                    <a:bodyPr anchor="t" rtlCol="false"/>
                    <a:lstStyle/>
                    <a:p>
                      <a:pPr algn="l">
                        <a:lnSpc>
                          <a:spcPts val="1727"/>
                        </a:lnSpc>
                        <a:defRPr/>
                      </a:pPr>
                      <a:r>
                        <a:rPr lang="en-US" sz="1439">
                          <a:solidFill>
                            <a:srgbClr val="14313B"/>
                          </a:solidFill>
                          <a:latin typeface="Calibri (MS)"/>
                          <a:ea typeface="Calibri (MS)"/>
                          <a:cs typeface="Calibri (MS)"/>
                          <a:sym typeface="Calibri (MS)"/>
                        </a:rPr>
                        <a:t>P1 · TPK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0,0643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2,5684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0,6692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17,37%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U2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95300">
                <a:tc>
                  <a:txBody>
                    <a:bodyPr anchor="t" rtlCol="false"/>
                    <a:lstStyle/>
                    <a:p>
                      <a:pPr algn="l">
                        <a:lnSpc>
                          <a:spcPts val="1727"/>
                        </a:lnSpc>
                        <a:defRPr/>
                      </a:pPr>
                      <a:r>
                        <a:rPr lang="en-US" sz="1439">
                          <a:solidFill>
                            <a:srgbClr val="14313B"/>
                          </a:solidFill>
                          <a:latin typeface="Calibri (MS)"/>
                          <a:ea typeface="Calibri (MS)"/>
                          <a:cs typeface="Calibri (MS)"/>
                          <a:sym typeface="Calibri (MS)"/>
                        </a:rPr>
                        <a:t>P1b · TPK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0,0610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2,9435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0,7053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19,56%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U2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495300">
                <a:tc>
                  <a:txBody>
                    <a:bodyPr anchor="t" rtlCol="false"/>
                    <a:lstStyle/>
                    <a:p>
                      <a:pPr algn="l">
                        <a:lnSpc>
                          <a:spcPts val="1727"/>
                        </a:lnSpc>
                        <a:defRPr/>
                      </a:pPr>
                      <a:r>
                        <a:rPr lang="en-US" sz="1439">
                          <a:solidFill>
                            <a:srgbClr val="14313B"/>
                          </a:solidFill>
                          <a:latin typeface="Calibri (MS)"/>
                          <a:ea typeface="Calibri (MS)"/>
                          <a:cs typeface="Calibri (MS)"/>
                          <a:sym typeface="Calibri (MS)"/>
                        </a:rPr>
                        <a:t>P2 · Jumlah ODTW</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0,0880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0,3303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0,3367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8,48%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U1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95300">
                <a:tc>
                  <a:txBody>
                    <a:bodyPr anchor="t" rtlCol="false"/>
                    <a:lstStyle/>
                    <a:p>
                      <a:pPr algn="l">
                        <a:lnSpc>
                          <a:spcPts val="1727"/>
                        </a:lnSpc>
                        <a:defRPr/>
                      </a:pPr>
                      <a:r>
                        <a:rPr lang="en-US" sz="1439">
                          <a:solidFill>
                            <a:srgbClr val="14313B"/>
                          </a:solidFill>
                          <a:latin typeface="Calibri (MS)"/>
                          <a:ea typeface="Calibri (MS)"/>
                          <a:cs typeface="Calibri (MS)"/>
                          <a:sym typeface="Calibri (MS)"/>
                        </a:rPr>
                        <a:t>P3 · Tenaga kerja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0,1370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0,3027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0,4945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12,88%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U1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495300">
                <a:tc>
                  <a:txBody>
                    <a:bodyPr anchor="t" rtlCol="false"/>
                    <a:lstStyle/>
                    <a:p>
                      <a:pPr algn="l">
                        <a:lnSpc>
                          <a:spcPts val="1727"/>
                        </a:lnSpc>
                        <a:defRPr/>
                      </a:pPr>
                      <a:r>
                        <a:rPr lang="en-US" sz="1439">
                          <a:solidFill>
                            <a:srgbClr val="14313B"/>
                          </a:solidFill>
                          <a:latin typeface="Calibri (MS)"/>
                          <a:ea typeface="Calibri (MS)"/>
                          <a:cs typeface="Calibri (MS)"/>
                          <a:sym typeface="Calibri (MS)"/>
                        </a:rPr>
                        <a:t>P4 · Lahan terbangun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0,1125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0,3918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0,4813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12,94%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U1, U3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95300">
                <a:tc>
                  <a:txBody>
                    <a:bodyPr anchor="t" rtlCol="false"/>
                    <a:lstStyle/>
                    <a:p>
                      <a:pPr algn="l">
                        <a:lnSpc>
                          <a:spcPts val="1727"/>
                        </a:lnSpc>
                        <a:defRPr/>
                      </a:pPr>
                      <a:r>
                        <a:rPr lang="en-US" sz="1439">
                          <a:solidFill>
                            <a:srgbClr val="14313B"/>
                          </a:solidFill>
                          <a:latin typeface="Calibri (MS)"/>
                          <a:ea typeface="Calibri (MS)"/>
                          <a:cs typeface="Calibri (MS)"/>
                          <a:sym typeface="Calibri (MS)"/>
                        </a:rPr>
                        <a:t>P5 · Jumlah wisatawan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Berbeda nyata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4D3C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0,4057*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U1+U2 ≈ 0,96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bl>
          </a:graphicData>
        </a:graphic>
      </p:graphicFrame>
      <p:sp>
        <p:nvSpPr>
          <p:cNvPr name="TextBox 71" id="71"/>
          <p:cNvSpPr txBox="true"/>
          <p:nvPr/>
        </p:nvSpPr>
        <p:spPr>
          <a:xfrm rot="0">
            <a:off x="822960" y="6875145"/>
            <a:ext cx="8778240" cy="1034415"/>
          </a:xfrm>
          <a:prstGeom prst="rect">
            <a:avLst/>
          </a:prstGeom>
        </p:spPr>
        <p:txBody>
          <a:bodyPr anchor="t" rtlCol="false" tIns="0" lIns="0" bIns="0" rIns="0">
            <a:spAutoFit/>
          </a:bodyPr>
          <a:lstStyle/>
          <a:p>
            <a:pPr algn="l">
              <a:lnSpc>
                <a:spcPts val="1584"/>
              </a:lnSpc>
            </a:pPr>
            <a:r>
              <a:rPr lang="en-US" sz="1320" i="true">
                <a:solidFill>
                  <a:srgbClr val="5E6E78"/>
                </a:solidFill>
                <a:latin typeface="Calibri (MS) Italics"/>
                <a:ea typeface="Calibri (MS) Italics"/>
                <a:cs typeface="Calibri (MS) Italics"/>
                <a:sym typeface="Calibri (MS) Italics"/>
              </a:rPr>
              <a:t>Versi tanpa 2020–2021 (2016–2025). "Sama" = tren tidak berbeda nyata. E1/E2 P5 tidak dibaca karena trennya berbeda (Barlas, 1989). *DC P5 dari notebook repository (tidak ada di tabel buku).</a:t>
            </a:r>
          </a:p>
        </p:txBody>
      </p:sp>
      <p:grpSp>
        <p:nvGrpSpPr>
          <p:cNvPr name="Group 72" id="72"/>
          <p:cNvGrpSpPr/>
          <p:nvPr/>
        </p:nvGrpSpPr>
        <p:grpSpPr>
          <a:xfrm rot="0">
            <a:off x="9875520" y="2264550"/>
            <a:ext cx="3749040" cy="2191750"/>
            <a:chOff x="0" y="0"/>
            <a:chExt cx="4998720" cy="2922334"/>
          </a:xfrm>
        </p:grpSpPr>
        <p:sp>
          <p:nvSpPr>
            <p:cNvPr name="Freeform 73" id="73" descr="image28.png"/>
            <p:cNvSpPr/>
            <p:nvPr/>
          </p:nvSpPr>
          <p:spPr>
            <a:xfrm flipH="false" flipV="false" rot="0">
              <a:off x="0" y="0"/>
              <a:ext cx="4998720" cy="2922270"/>
            </a:xfrm>
            <a:custGeom>
              <a:avLst/>
              <a:gdLst/>
              <a:ahLst/>
              <a:cxnLst/>
              <a:rect r="r" b="b" t="t" l="l"/>
              <a:pathLst>
                <a:path h="2922270" w="4998720">
                  <a:moveTo>
                    <a:pt x="0" y="0"/>
                  </a:moveTo>
                  <a:lnTo>
                    <a:pt x="4998720" y="0"/>
                  </a:lnTo>
                  <a:lnTo>
                    <a:pt x="4998720" y="2922270"/>
                  </a:lnTo>
                  <a:lnTo>
                    <a:pt x="0" y="2922270"/>
                  </a:lnTo>
                  <a:lnTo>
                    <a:pt x="0" y="0"/>
                  </a:lnTo>
                  <a:close/>
                </a:path>
              </a:pathLst>
            </a:custGeom>
            <a:blipFill>
              <a:blip r:embed="rId7"/>
              <a:stretch>
                <a:fillRect l="0" t="0" r="0" b="-2"/>
              </a:stretch>
            </a:blipFill>
          </p:spPr>
          <p:txBody>
            <a:bodyPr/>
            <a:p/>
          </p:txBody>
        </p:sp>
      </p:grpSp>
      <p:grpSp>
        <p:nvGrpSpPr>
          <p:cNvPr name="Group 74" id="74"/>
          <p:cNvGrpSpPr/>
          <p:nvPr/>
        </p:nvGrpSpPr>
        <p:grpSpPr>
          <a:xfrm rot="0">
            <a:off x="13716000" y="2264550"/>
            <a:ext cx="3749040" cy="2191750"/>
            <a:chOff x="0" y="0"/>
            <a:chExt cx="4998720" cy="2922334"/>
          </a:xfrm>
        </p:grpSpPr>
        <p:sp>
          <p:nvSpPr>
            <p:cNvPr name="Freeform 75" id="75" descr="image34.png"/>
            <p:cNvSpPr/>
            <p:nvPr/>
          </p:nvSpPr>
          <p:spPr>
            <a:xfrm flipH="false" flipV="false" rot="0">
              <a:off x="0" y="0"/>
              <a:ext cx="4998720" cy="2922270"/>
            </a:xfrm>
            <a:custGeom>
              <a:avLst/>
              <a:gdLst/>
              <a:ahLst/>
              <a:cxnLst/>
              <a:rect r="r" b="b" t="t" l="l"/>
              <a:pathLst>
                <a:path h="2922270" w="4998720">
                  <a:moveTo>
                    <a:pt x="0" y="0"/>
                  </a:moveTo>
                  <a:lnTo>
                    <a:pt x="4998720" y="0"/>
                  </a:lnTo>
                  <a:lnTo>
                    <a:pt x="4998720" y="2922270"/>
                  </a:lnTo>
                  <a:lnTo>
                    <a:pt x="0" y="2922270"/>
                  </a:lnTo>
                  <a:lnTo>
                    <a:pt x="0" y="0"/>
                  </a:lnTo>
                  <a:close/>
                </a:path>
              </a:pathLst>
            </a:custGeom>
            <a:blipFill>
              <a:blip r:embed="rId8"/>
              <a:stretch>
                <a:fillRect l="0" t="0" r="0" b="-2"/>
              </a:stretch>
            </a:blipFill>
          </p:spPr>
          <p:txBody>
            <a:bodyPr/>
            <a:p/>
          </p:txBody>
        </p:sp>
      </p:grpSp>
      <p:grpSp>
        <p:nvGrpSpPr>
          <p:cNvPr name="Group 76" id="76"/>
          <p:cNvGrpSpPr/>
          <p:nvPr/>
        </p:nvGrpSpPr>
        <p:grpSpPr>
          <a:xfrm rot="0">
            <a:off x="9875520" y="4641990"/>
            <a:ext cx="3749040" cy="2191750"/>
            <a:chOff x="0" y="0"/>
            <a:chExt cx="4998720" cy="2922334"/>
          </a:xfrm>
        </p:grpSpPr>
        <p:sp>
          <p:nvSpPr>
            <p:cNvPr name="Freeform 77" id="77" descr="image35.png"/>
            <p:cNvSpPr/>
            <p:nvPr/>
          </p:nvSpPr>
          <p:spPr>
            <a:xfrm flipH="false" flipV="false" rot="0">
              <a:off x="0" y="0"/>
              <a:ext cx="4998720" cy="2922270"/>
            </a:xfrm>
            <a:custGeom>
              <a:avLst/>
              <a:gdLst/>
              <a:ahLst/>
              <a:cxnLst/>
              <a:rect r="r" b="b" t="t" l="l"/>
              <a:pathLst>
                <a:path h="2922270" w="4998720">
                  <a:moveTo>
                    <a:pt x="0" y="0"/>
                  </a:moveTo>
                  <a:lnTo>
                    <a:pt x="4998720" y="0"/>
                  </a:lnTo>
                  <a:lnTo>
                    <a:pt x="4998720" y="2922270"/>
                  </a:lnTo>
                  <a:lnTo>
                    <a:pt x="0" y="2922270"/>
                  </a:lnTo>
                  <a:lnTo>
                    <a:pt x="0" y="0"/>
                  </a:lnTo>
                  <a:close/>
                </a:path>
              </a:pathLst>
            </a:custGeom>
            <a:blipFill>
              <a:blip r:embed="rId9"/>
              <a:stretch>
                <a:fillRect l="0" t="0" r="0" b="-2"/>
              </a:stretch>
            </a:blipFill>
          </p:spPr>
          <p:txBody>
            <a:bodyPr/>
            <a:p/>
          </p:txBody>
        </p:sp>
      </p:grpSp>
      <p:grpSp>
        <p:nvGrpSpPr>
          <p:cNvPr name="Group 78" id="78"/>
          <p:cNvGrpSpPr/>
          <p:nvPr/>
        </p:nvGrpSpPr>
        <p:grpSpPr>
          <a:xfrm rot="0">
            <a:off x="13709647" y="4611367"/>
            <a:ext cx="3761737" cy="2252977"/>
            <a:chOff x="0" y="0"/>
            <a:chExt cx="5015649" cy="3003969"/>
          </a:xfrm>
        </p:grpSpPr>
        <p:sp>
          <p:nvSpPr>
            <p:cNvPr name="Freeform 79" id="79"/>
            <p:cNvSpPr/>
            <p:nvPr/>
          </p:nvSpPr>
          <p:spPr>
            <a:xfrm flipH="false" flipV="false" rot="0">
              <a:off x="0" y="0"/>
              <a:ext cx="5015611" cy="3003931"/>
            </a:xfrm>
            <a:custGeom>
              <a:avLst/>
              <a:gdLst/>
              <a:ahLst/>
              <a:cxnLst/>
              <a:rect r="r" b="b" t="t" l="l"/>
              <a:pathLst>
                <a:path h="3003931" w="5015611">
                  <a:moveTo>
                    <a:pt x="0" y="240284"/>
                  </a:moveTo>
                  <a:cubicBezTo>
                    <a:pt x="0" y="107569"/>
                    <a:pt x="107569" y="0"/>
                    <a:pt x="240284" y="0"/>
                  </a:cubicBezTo>
                  <a:lnTo>
                    <a:pt x="4775327" y="0"/>
                  </a:lnTo>
                  <a:cubicBezTo>
                    <a:pt x="4908042" y="0"/>
                    <a:pt x="5015611" y="107569"/>
                    <a:pt x="5015611" y="240284"/>
                  </a:cubicBezTo>
                  <a:lnTo>
                    <a:pt x="5015611" y="2763647"/>
                  </a:lnTo>
                  <a:cubicBezTo>
                    <a:pt x="5015611" y="2896362"/>
                    <a:pt x="4908042" y="3003931"/>
                    <a:pt x="4775327" y="3003931"/>
                  </a:cubicBezTo>
                  <a:lnTo>
                    <a:pt x="240284" y="3003931"/>
                  </a:lnTo>
                  <a:cubicBezTo>
                    <a:pt x="107569" y="3003931"/>
                    <a:pt x="0" y="2896362"/>
                    <a:pt x="0" y="2763647"/>
                  </a:cubicBezTo>
                  <a:close/>
                </a:path>
              </a:pathLst>
            </a:custGeom>
            <a:solidFill>
              <a:srgbClr val="EAF8FA"/>
            </a:solidFill>
            <a:ln w="12700" cap="sq">
              <a:solidFill>
                <a:srgbClr val="CFE5E9"/>
              </a:solidFill>
              <a:prstDash val="solid"/>
              <a:miter/>
            </a:ln>
          </p:spPr>
          <p:txBody>
            <a:bodyPr/>
            <a:p/>
          </p:txBody>
        </p:sp>
        <p:sp>
          <p:nvSpPr>
            <p:cNvPr name="TextBox 80" id="80"/>
            <p:cNvSpPr txBox="true"/>
            <p:nvPr/>
          </p:nvSpPr>
          <p:spPr>
            <a:xfrm>
              <a:off x="0" y="-38100"/>
              <a:ext cx="5015649" cy="3042069"/>
            </a:xfrm>
            <a:prstGeom prst="rect">
              <a:avLst/>
            </a:prstGeom>
          </p:spPr>
          <p:txBody>
            <a:bodyPr anchor="t" rtlCol="false" tIns="50800" lIns="50800" bIns="50800" rIns="50800"/>
            <a:lstStyle/>
            <a:p>
              <a:pPr algn="l">
                <a:lnSpc>
                  <a:spcPts val="2063"/>
                </a:lnSpc>
              </a:pPr>
              <a:r>
                <a:rPr lang="en-US" sz="1719" b="true">
                  <a:solidFill>
                    <a:srgbClr val="E4604F"/>
                  </a:solidFill>
                  <a:latin typeface="Calibri (MS) Bold"/>
                  <a:ea typeface="Calibri (MS) Bold"/>
                  <a:cs typeface="Calibri (MS) Bold"/>
                  <a:sym typeface="Calibri (MS) Bold"/>
                </a:rPr>
                <a:t>Wisatawan (P5)</a:t>
              </a:r>
            </a:p>
            <a:p>
              <a:pPr algn="l">
                <a:lnSpc>
                  <a:spcPts val="1860"/>
                </a:lnSpc>
              </a:pPr>
              <a:r>
                <a:rPr lang="en-US" sz="1550">
                  <a:solidFill>
                    <a:srgbClr val="14313B"/>
                  </a:solidFill>
                  <a:latin typeface="Calibri (MS)"/>
                  <a:ea typeface="Calibri (MS)"/>
                  <a:cs typeface="Calibri (MS)"/>
                  <a:sym typeface="Calibri (MS)"/>
                </a:rPr>
                <a:t>Simulasi ±6,4%/th vs data ±11,7%/th; error sistematis.</a:t>
              </a:r>
            </a:p>
          </p:txBody>
        </p:sp>
      </p:grpSp>
      <p:sp>
        <p:nvSpPr>
          <p:cNvPr name="TextBox 81" id="81"/>
          <p:cNvSpPr txBox="true"/>
          <p:nvPr/>
        </p:nvSpPr>
        <p:spPr>
          <a:xfrm rot="0">
            <a:off x="9875520" y="6875145"/>
            <a:ext cx="7589520" cy="394335"/>
          </a:xfrm>
          <a:prstGeom prst="rect">
            <a:avLst/>
          </a:prstGeom>
        </p:spPr>
        <p:txBody>
          <a:bodyPr anchor="t" rtlCol="false" tIns="0" lIns="0" bIns="0" rIns="0">
            <a:spAutoFit/>
          </a:bodyPr>
          <a:lstStyle/>
          <a:p>
            <a:pPr algn="l">
              <a:lnSpc>
                <a:spcPts val="1584"/>
              </a:lnSpc>
            </a:pPr>
            <a:r>
              <a:rPr lang="en-US" sz="1320" i="true">
                <a:solidFill>
                  <a:srgbClr val="5E6E78"/>
                </a:solidFill>
                <a:latin typeface="Calibri (MS) Italics"/>
                <a:ea typeface="Calibri (MS) Italics"/>
                <a:cs typeface="Calibri (MS) Italics"/>
                <a:sym typeface="Calibri (MS) Italics"/>
              </a:rPr>
              <a:t>Kiri atas: P1 hotel · kanan atas: P4 lahan · kiri bawah: P5 wisatawan</a:t>
            </a:r>
          </a:p>
        </p:txBody>
      </p:sp>
      <p:grpSp>
        <p:nvGrpSpPr>
          <p:cNvPr name="Group 82" id="82"/>
          <p:cNvGrpSpPr/>
          <p:nvPr/>
        </p:nvGrpSpPr>
        <p:grpSpPr>
          <a:xfrm rot="0">
            <a:off x="816607" y="7994647"/>
            <a:ext cx="16654777" cy="927097"/>
            <a:chOff x="0" y="0"/>
            <a:chExt cx="22206369" cy="1236129"/>
          </a:xfrm>
        </p:grpSpPr>
        <p:sp>
          <p:nvSpPr>
            <p:cNvPr name="Freeform 83" id="83"/>
            <p:cNvSpPr/>
            <p:nvPr/>
          </p:nvSpPr>
          <p:spPr>
            <a:xfrm flipH="false" flipV="false" rot="0">
              <a:off x="0" y="0"/>
              <a:ext cx="22206458" cy="1236218"/>
            </a:xfrm>
            <a:custGeom>
              <a:avLst/>
              <a:gdLst/>
              <a:ahLst/>
              <a:cxnLst/>
              <a:rect r="r" b="b" t="t" l="l"/>
              <a:pathLst>
                <a:path h="1236218" w="22206458">
                  <a:moveTo>
                    <a:pt x="0" y="98933"/>
                  </a:moveTo>
                  <a:cubicBezTo>
                    <a:pt x="0" y="44323"/>
                    <a:pt x="44323" y="0"/>
                    <a:pt x="98933" y="0"/>
                  </a:cubicBezTo>
                  <a:lnTo>
                    <a:pt x="22107525" y="0"/>
                  </a:lnTo>
                  <a:cubicBezTo>
                    <a:pt x="22162136" y="0"/>
                    <a:pt x="22206458" y="44323"/>
                    <a:pt x="22206458" y="98933"/>
                  </a:cubicBezTo>
                  <a:lnTo>
                    <a:pt x="22206458" y="1137285"/>
                  </a:lnTo>
                  <a:cubicBezTo>
                    <a:pt x="22206458" y="1191895"/>
                    <a:pt x="22162136" y="1236218"/>
                    <a:pt x="22107525" y="1236218"/>
                  </a:cubicBezTo>
                  <a:lnTo>
                    <a:pt x="98933" y="1236218"/>
                  </a:lnTo>
                  <a:cubicBezTo>
                    <a:pt x="44323" y="1236091"/>
                    <a:pt x="0" y="1191895"/>
                    <a:pt x="0" y="1137285"/>
                  </a:cubicBezTo>
                  <a:close/>
                </a:path>
              </a:pathLst>
            </a:custGeom>
            <a:solidFill>
              <a:srgbClr val="FFF1BF"/>
            </a:solidFill>
            <a:ln w="12700" cap="sq">
              <a:solidFill>
                <a:srgbClr val="FFD23B"/>
              </a:solidFill>
              <a:prstDash val="solid"/>
              <a:miter/>
            </a:ln>
          </p:spPr>
          <p:txBody>
            <a:bodyPr/>
            <a:p/>
          </p:txBody>
        </p:sp>
        <p:sp>
          <p:nvSpPr>
            <p:cNvPr name="TextBox 84" id="84"/>
            <p:cNvSpPr txBox="true"/>
            <p:nvPr/>
          </p:nvSpPr>
          <p:spPr>
            <a:xfrm>
              <a:off x="0" y="-38100"/>
              <a:ext cx="22206369" cy="127422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Ketika input dari subsistem lain diganti data aktual, tiap subsistem bisa mengikuti pola datanya (MAPE seluruhnya &lt; 20%); masalah hanya ada di subsistem wisatawan.</a:t>
              </a:r>
            </a:p>
          </p:txBody>
        </p:sp>
      </p:grpSp>
      <p:grpSp>
        <p:nvGrpSpPr>
          <p:cNvPr name="Group 85" id="85"/>
          <p:cNvGrpSpPr/>
          <p:nvPr/>
        </p:nvGrpSpPr>
        <p:grpSpPr>
          <a:xfrm rot="0">
            <a:off x="16047720" y="9646920"/>
            <a:ext cx="420624" cy="420624"/>
            <a:chOff x="0" y="0"/>
            <a:chExt cx="560832" cy="560832"/>
          </a:xfrm>
        </p:grpSpPr>
        <p:sp>
          <p:nvSpPr>
            <p:cNvPr name="Freeform 86" id="86"/>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87" id="87"/>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Uji Penuh</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Hasil per subsistem baik, tetapi melemah saat seluruh subsistem dijalankan bersama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822960" y="2188845"/>
            <a:ext cx="10149840" cy="62293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Discrepancy Coefficient (DC): uji parsial vs uji penuh (0 = sempurna)</a:t>
            </a:r>
          </a:p>
        </p:txBody>
      </p:sp>
      <p:sp>
        <p:nvSpPr>
          <p:cNvPr name="TextBox 67" id="67"/>
          <p:cNvSpPr txBox="true"/>
          <p:nvPr/>
        </p:nvSpPr>
        <p:spPr>
          <a:xfrm rot="0">
            <a:off x="822960" y="8595360"/>
            <a:ext cx="10149840" cy="66294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DC 0,4–0,7 = rata-rata sampai baik (Barlas, 1989). Wisatawan gagal uji tren (uji P5 dan uji penuh).</a:t>
            </a:r>
          </a:p>
        </p:txBody>
      </p:sp>
      <p:graphicFrame>
        <p:nvGraphicFramePr>
          <p:cNvPr name="Table 68" id="68"/>
          <p:cNvGraphicFramePr>
            <a:graphicFrameLocks noGrp="true"/>
          </p:cNvGraphicFramePr>
          <p:nvPr/>
        </p:nvGraphicFramePr>
        <p:xfrm>
          <a:off x="11384280" y="2400300"/>
          <a:ext cx="6032500" cy="4711700"/>
        </p:xfrm>
        <a:graphic>
          <a:graphicData uri="http://schemas.openxmlformats.org/drawingml/2006/table">
            <a:tbl>
              <a:tblPr/>
              <a:tblGrid>
                <a:gridCol w="2196934"/>
                <a:gridCol w="3835566"/>
              </a:tblGrid>
              <a:tr h="565421">
                <a:tc>
                  <a:txBody>
                    <a:bodyPr anchor="t" rtlCol="false"/>
                    <a:lstStyle/>
                    <a:p>
                      <a:pPr algn="l">
                        <a:lnSpc>
                          <a:spcPts val="2070"/>
                        </a:lnSpc>
                        <a:defRPr/>
                      </a:pPr>
                      <a:r>
                        <a:rPr lang="en-US" sz="1725" b="true">
                          <a:solidFill>
                            <a:srgbClr val="FFFFFF"/>
                          </a:solidFill>
                          <a:latin typeface="Calibri (MS) Bold"/>
                          <a:ea typeface="Calibri (MS) Bold"/>
                          <a:cs typeface="Calibri (MS) Bold"/>
                          <a:sym typeface="Calibri (MS) Bold"/>
                        </a:rPr>
                        <a:t>Kategori MAPE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070"/>
                        </a:lnSpc>
                        <a:defRPr/>
                      </a:pPr>
                      <a:r>
                        <a:rPr lang="en-US" sz="1725" b="true">
                          <a:solidFill>
                            <a:srgbClr val="FFFFFF"/>
                          </a:solidFill>
                          <a:latin typeface="Calibri (MS) Bold"/>
                          <a:ea typeface="Calibri (MS) Bold"/>
                          <a:cs typeface="Calibri (MS) Bold"/>
                          <a:sym typeface="Calibri (MS) Bold"/>
                        </a:rPr>
                        <a:t>Variabel (uji penuh)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691061">
                <a:tc>
                  <a:txBody>
                    <a:bodyPr anchor="t" rtlCol="false"/>
                    <a:lstStyle/>
                    <a:p>
                      <a:pPr algn="l">
                        <a:lnSpc>
                          <a:spcPts val="2070"/>
                        </a:lnSpc>
                        <a:defRPr/>
                      </a:pPr>
                      <a:r>
                        <a:rPr lang="en-US" sz="1725" b="true">
                          <a:solidFill>
                            <a:srgbClr val="0B5E6E"/>
                          </a:solidFill>
                          <a:latin typeface="Calibri (MS) Bold"/>
                          <a:ea typeface="Calibri (MS) Bold"/>
                          <a:cs typeface="Calibri (MS) Bold"/>
                          <a:sym typeface="Calibri (MS) Bold"/>
                        </a:rPr>
                        <a:t>Sangat baik (&lt; 10%)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ODTW 5,68%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507717">
                <a:tc>
                  <a:txBody>
                    <a:bodyPr anchor="t" rtlCol="false"/>
                    <a:lstStyle/>
                    <a:p>
                      <a:pPr algn="l">
                        <a:lnSpc>
                          <a:spcPts val="2070"/>
                        </a:lnSpc>
                        <a:defRPr/>
                      </a:pPr>
                      <a:r>
                        <a:rPr lang="en-US" sz="1725" b="true">
                          <a:solidFill>
                            <a:srgbClr val="0B5E6E"/>
                          </a:solidFill>
                          <a:latin typeface="Calibri (MS) Bold"/>
                          <a:ea typeface="Calibri (MS) Bold"/>
                          <a:cs typeface="Calibri (MS) Bold"/>
                          <a:sym typeface="Calibri (MS) Bold"/>
                        </a:rPr>
                        <a:t>Baik (10–20%)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Wisatawan 12,06% · Hotel 13,16% · Tenaga kerja 12,39% · Lahan 13,43% · TPK 18,98%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256439">
                <a:tc>
                  <a:txBody>
                    <a:bodyPr anchor="t" rtlCol="false"/>
                    <a:lstStyle/>
                    <a:p>
                      <a:pPr algn="l">
                        <a:lnSpc>
                          <a:spcPts val="2070"/>
                        </a:lnSpc>
                        <a:defRPr/>
                      </a:pPr>
                      <a:r>
                        <a:rPr lang="en-US" sz="1725" b="true">
                          <a:solidFill>
                            <a:srgbClr val="0B5E6E"/>
                          </a:solidFill>
                          <a:latin typeface="Calibri (MS) Bold"/>
                          <a:ea typeface="Calibri (MS) Bold"/>
                          <a:cs typeface="Calibri (MS) Bold"/>
                          <a:sym typeface="Calibri (MS) Bold"/>
                        </a:rPr>
                        <a:t>Layak (20–50%)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PDRB 25,06% · Total malam menginap 29,52% · Investasi 33,54%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91061">
                <a:tc>
                  <a:txBody>
                    <a:bodyPr anchor="t" rtlCol="false"/>
                    <a:lstStyle/>
                    <a:p>
                      <a:pPr algn="l">
                        <a:lnSpc>
                          <a:spcPts val="2070"/>
                        </a:lnSpc>
                        <a:defRPr/>
                      </a:pPr>
                      <a:r>
                        <a:rPr lang="en-US" sz="1725" b="true">
                          <a:solidFill>
                            <a:srgbClr val="E4604F"/>
                          </a:solidFill>
                          <a:latin typeface="Calibri (MS) Bold"/>
                          <a:ea typeface="Calibri (MS) Bold"/>
                          <a:cs typeface="Calibri (MS) Bold"/>
                          <a:sym typeface="Calibri (MS) Bold"/>
                        </a:rPr>
                        <a:t>Buruk (&gt; 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Tidak ada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69" id="69"/>
          <p:cNvGrpSpPr/>
          <p:nvPr/>
        </p:nvGrpSpPr>
        <p:grpSpPr>
          <a:xfrm rot="0">
            <a:off x="11384280" y="7406640"/>
            <a:ext cx="6076188" cy="1851660"/>
            <a:chOff x="0" y="0"/>
            <a:chExt cx="8101584" cy="2468880"/>
          </a:xfrm>
        </p:grpSpPr>
        <p:sp>
          <p:nvSpPr>
            <p:cNvPr name="Freeform 70" id="70"/>
            <p:cNvSpPr/>
            <p:nvPr/>
          </p:nvSpPr>
          <p:spPr>
            <a:xfrm flipH="false" flipV="false" rot="0">
              <a:off x="0" y="0"/>
              <a:ext cx="8101585" cy="2468880"/>
            </a:xfrm>
            <a:custGeom>
              <a:avLst/>
              <a:gdLst/>
              <a:ahLst/>
              <a:cxnLst/>
              <a:rect r="r" b="b" t="t" l="l"/>
              <a:pathLst>
                <a:path h="2468880" w="8101585">
                  <a:moveTo>
                    <a:pt x="0" y="182880"/>
                  </a:moveTo>
                  <a:cubicBezTo>
                    <a:pt x="0" y="81915"/>
                    <a:pt x="81915" y="0"/>
                    <a:pt x="182880" y="0"/>
                  </a:cubicBezTo>
                  <a:lnTo>
                    <a:pt x="7918704" y="0"/>
                  </a:lnTo>
                  <a:cubicBezTo>
                    <a:pt x="8019669" y="0"/>
                    <a:pt x="8101585" y="81915"/>
                    <a:pt x="8101585" y="182880"/>
                  </a:cubicBezTo>
                  <a:lnTo>
                    <a:pt x="8101585" y="2286000"/>
                  </a:lnTo>
                  <a:cubicBezTo>
                    <a:pt x="8101585" y="2386965"/>
                    <a:pt x="8019669" y="2468880"/>
                    <a:pt x="7918704" y="2468880"/>
                  </a:cubicBezTo>
                  <a:lnTo>
                    <a:pt x="182880" y="2468880"/>
                  </a:lnTo>
                  <a:cubicBezTo>
                    <a:pt x="81915" y="2468880"/>
                    <a:pt x="0" y="2386965"/>
                    <a:pt x="0" y="2286000"/>
                  </a:cubicBezTo>
                  <a:close/>
                </a:path>
              </a:pathLst>
            </a:custGeom>
            <a:solidFill>
              <a:srgbClr val="FFF1BF"/>
            </a:solidFill>
          </p:spPr>
          <p:txBody>
            <a:bodyPr/>
            <a:p/>
          </p:txBody>
        </p:sp>
      </p:grpSp>
      <p:grpSp>
        <p:nvGrpSpPr>
          <p:cNvPr name="Group 71" id="71"/>
          <p:cNvGrpSpPr/>
          <p:nvPr/>
        </p:nvGrpSpPr>
        <p:grpSpPr>
          <a:xfrm rot="0">
            <a:off x="11658600" y="7406640"/>
            <a:ext cx="5554980" cy="1851660"/>
            <a:chOff x="0" y="0"/>
            <a:chExt cx="7406640" cy="2468880"/>
          </a:xfrm>
        </p:grpSpPr>
        <p:sp>
          <p:nvSpPr>
            <p:cNvPr name="Freeform 72" id="72"/>
            <p:cNvSpPr/>
            <p:nvPr/>
          </p:nvSpPr>
          <p:spPr>
            <a:xfrm flipH="false" flipV="false" rot="0">
              <a:off x="0" y="0"/>
              <a:ext cx="7406640" cy="2468880"/>
            </a:xfrm>
            <a:custGeom>
              <a:avLst/>
              <a:gdLst/>
              <a:ahLst/>
              <a:cxnLst/>
              <a:rect r="r" b="b" t="t" l="l"/>
              <a:pathLst>
                <a:path h="2468880" w="7406640">
                  <a:moveTo>
                    <a:pt x="0" y="0"/>
                  </a:moveTo>
                  <a:lnTo>
                    <a:pt x="7406640" y="0"/>
                  </a:lnTo>
                  <a:lnTo>
                    <a:pt x="7406640" y="2468880"/>
                  </a:lnTo>
                  <a:lnTo>
                    <a:pt x="0" y="2468880"/>
                  </a:lnTo>
                  <a:close/>
                </a:path>
              </a:pathLst>
            </a:custGeom>
            <a:blipFill>
              <a:blip r:embed="rId4">
                <a:alphaModFix amt="0"/>
              </a:blip>
              <a:stretch>
                <a:fillRect l="0" t="-8414" r="0" b="-8414"/>
              </a:stretch>
            </a:blipFill>
          </p:spPr>
          <p:txBody>
            <a:bodyPr/>
            <a:p/>
          </p:txBody>
        </p:sp>
      </p:grpSp>
      <p:grpSp>
        <p:nvGrpSpPr>
          <p:cNvPr name="Group 73" id="73"/>
          <p:cNvGrpSpPr/>
          <p:nvPr/>
        </p:nvGrpSpPr>
        <p:grpSpPr>
          <a:xfrm rot="0">
            <a:off x="11658600" y="7378065"/>
            <a:ext cx="5554980" cy="1880235"/>
            <a:chOff x="0" y="0"/>
            <a:chExt cx="7406640" cy="2506980"/>
          </a:xfrm>
        </p:grpSpPr>
        <p:sp>
          <p:nvSpPr>
            <p:cNvPr name="Freeform 74" id="74"/>
            <p:cNvSpPr/>
            <p:nvPr/>
          </p:nvSpPr>
          <p:spPr>
            <a:xfrm flipH="false" flipV="false" rot="0">
              <a:off x="0" y="0"/>
              <a:ext cx="7406640" cy="2506980"/>
            </a:xfrm>
            <a:custGeom>
              <a:avLst/>
              <a:gdLst/>
              <a:ahLst/>
              <a:cxnLst/>
              <a:rect r="r" b="b" t="t" l="l"/>
              <a:pathLst>
                <a:path h="2506980" w="7406640">
                  <a:moveTo>
                    <a:pt x="0" y="0"/>
                  </a:moveTo>
                  <a:lnTo>
                    <a:pt x="7406640" y="0"/>
                  </a:lnTo>
                  <a:lnTo>
                    <a:pt x="7406640" y="2506980"/>
                  </a:lnTo>
                  <a:lnTo>
                    <a:pt x="0" y="2506980"/>
                  </a:lnTo>
                  <a:close/>
                </a:path>
              </a:pathLst>
            </a:custGeom>
            <a:blipFill>
              <a:blip r:embed="rId5">
                <a:alphaModFix amt="0"/>
              </a:blip>
              <a:stretch>
                <a:fillRect l="0" t="-7526" r="0" b="-7526"/>
              </a:stretch>
            </a:blipFill>
          </p:spPr>
          <p:txBody>
            <a:bodyPr/>
            <a:p/>
          </p:txBody>
        </p:sp>
      </p:grpSp>
      <p:grpSp>
        <p:nvGrpSpPr>
          <p:cNvPr name="Group 75" id="75"/>
          <p:cNvGrpSpPr/>
          <p:nvPr/>
        </p:nvGrpSpPr>
        <p:grpSpPr>
          <a:xfrm rot="0">
            <a:off x="11658600" y="7349490"/>
            <a:ext cx="5554980" cy="1908810"/>
            <a:chOff x="0" y="0"/>
            <a:chExt cx="7406640" cy="2545080"/>
          </a:xfrm>
        </p:grpSpPr>
        <p:sp>
          <p:nvSpPr>
            <p:cNvPr name="Freeform 76" id="76"/>
            <p:cNvSpPr/>
            <p:nvPr/>
          </p:nvSpPr>
          <p:spPr>
            <a:xfrm flipH="false" flipV="false" rot="0">
              <a:off x="0" y="0"/>
              <a:ext cx="7406640" cy="2545080"/>
            </a:xfrm>
            <a:custGeom>
              <a:avLst/>
              <a:gdLst/>
              <a:ahLst/>
              <a:cxnLst/>
              <a:rect r="r" b="b" t="t" l="l"/>
              <a:pathLst>
                <a:path h="2545080" w="7406640">
                  <a:moveTo>
                    <a:pt x="0" y="0"/>
                  </a:moveTo>
                  <a:lnTo>
                    <a:pt x="7406640" y="0"/>
                  </a:lnTo>
                  <a:lnTo>
                    <a:pt x="7406640" y="2545080"/>
                  </a:lnTo>
                  <a:lnTo>
                    <a:pt x="0" y="2545080"/>
                  </a:lnTo>
                  <a:close/>
                </a:path>
              </a:pathLst>
            </a:custGeom>
            <a:blipFill>
              <a:blip r:embed="rId6">
                <a:alphaModFix amt="0"/>
              </a:blip>
              <a:stretch>
                <a:fillRect l="0" t="-6704" r="0" b="-6704"/>
              </a:stretch>
            </a:blipFill>
          </p:spPr>
          <p:txBody>
            <a:bodyPr/>
            <a:p/>
          </p:txBody>
        </p:sp>
        <p:sp>
          <p:nvSpPr>
            <p:cNvPr name="TextBox 77" id="77"/>
            <p:cNvSpPr txBox="true"/>
            <p:nvPr/>
          </p:nvSpPr>
          <p:spPr>
            <a:xfrm>
              <a:off x="0" y="-38100"/>
              <a:ext cx="7406640" cy="2583180"/>
            </a:xfrm>
            <a:prstGeom prst="rect">
              <a:avLst/>
            </a:prstGeom>
          </p:spPr>
          <p:txBody>
            <a:bodyPr anchor="ctr" rtlCol="false" tIns="0" lIns="0" bIns="0" rIns="0"/>
            <a:lstStyle/>
            <a:p>
              <a:pPr algn="l">
                <a:lnSpc>
                  <a:spcPts val="2160"/>
                </a:lnSpc>
              </a:pPr>
              <a:r>
                <a:rPr lang="en-US" sz="1800">
                  <a:solidFill>
                    <a:srgbClr val="14313B"/>
                  </a:solidFill>
                  <a:latin typeface="Calibri (MS)"/>
                  <a:ea typeface="Calibri (MS)"/>
                  <a:cs typeface="Calibri (MS)"/>
                  <a:sym typeface="Calibri (MS)"/>
                </a:rPr>
                <a:t>Kesesuaian pola (DC) lebih lemah daripada besaran error (MAPE): error berasal dari satu sumber yang sama, bukan tersebar di banyak subsistem.</a:t>
              </a:r>
            </a:p>
          </p:txBody>
        </p:sp>
      </p:grpSp>
      <p:sp>
        <p:nvSpPr>
          <p:cNvPr name="TextBox 78" id="78"/>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48</a:t>
            </a:r>
          </a:p>
        </p:txBody>
      </p:sp>
      <p:grpSp>
        <p:nvGrpSpPr>
          <p:cNvPr name="Group 81" id="81"/>
          <p:cNvGrpSpPr/>
          <p:nvPr/>
        </p:nvGrpSpPr>
        <p:grpSpPr>
          <a:xfrm rot="0">
            <a:off x="12755880" y="274320"/>
            <a:ext cx="3931920" cy="411480"/>
            <a:chOff x="0" y="0"/>
            <a:chExt cx="5242560" cy="548640"/>
          </a:xfrm>
        </p:grpSpPr>
        <p:sp>
          <p:nvSpPr>
            <p:cNvPr name="Freeform 82" id="82"/>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83" id="83"/>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grpSp>
        <p:nvGrpSpPr>
          <p:cNvPr name="Group 84" id="84"/>
          <p:cNvGrpSpPr/>
          <p:nvPr/>
        </p:nvGrpSpPr>
        <p:grpSpPr>
          <a:xfrm rot="0">
            <a:off x="16047720" y="9646920"/>
            <a:ext cx="420624" cy="420624"/>
            <a:chOff x="0" y="0"/>
            <a:chExt cx="560832" cy="560832"/>
          </a:xfrm>
        </p:grpSpPr>
        <p:sp>
          <p:nvSpPr>
            <p:cNvPr name="Freeform 85" id="85"/>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86" id="86"/>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graphicFrame>
        <p:nvGraphicFramePr>
          <p:cNvPr id="87" name="Chart 86"/>
          <p:cNvGraphicFramePr>
            <a:graphicFrameLocks noGrp="1"/>
          </p:cNvGraphicFramePr>
          <p:nvPr/>
        </p:nvGraphicFramePr>
        <p:xfrm>
          <a:off x="822960" y="2788920"/>
          <a:ext cx="10149840" cy="5760720"/>
        </p:xfrm>
        <a:graphic>
          <a:graphicData uri="http://schemas.openxmlformats.org/drawingml/2006/chart">
            <c:chart xmlns:c="http://schemas.openxmlformats.org/drawingml/2006/chart" r:id="rId8"/>
          </a:graphicData>
        </a:graphic>
      </p:graphicFrame>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Uji Penuh — Sumber Error</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Error berasal dari satu sumber: pertumbuhan wisatawan, lalu terbawa ke variabel lain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6" id="66"/>
          <p:cNvGrpSpPr/>
          <p:nvPr/>
        </p:nvGrpSpPr>
        <p:grpSpPr>
          <a:xfrm rot="0">
            <a:off x="822960" y="2537460"/>
            <a:ext cx="2468880" cy="2057400"/>
            <a:chOff x="0" y="0"/>
            <a:chExt cx="3291840" cy="2743200"/>
          </a:xfrm>
        </p:grpSpPr>
        <p:sp>
          <p:nvSpPr>
            <p:cNvPr name="Freeform 67" id="67"/>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4604F"/>
            </a:solidFill>
          </p:spPr>
          <p:txBody>
            <a:bodyPr/>
            <a:p/>
          </p:txBody>
        </p:sp>
      </p:grpSp>
      <p:grpSp>
        <p:nvGrpSpPr>
          <p:cNvPr name="Group 68" id="68"/>
          <p:cNvGrpSpPr/>
          <p:nvPr/>
        </p:nvGrpSpPr>
        <p:grpSpPr>
          <a:xfrm rot="0">
            <a:off x="960120" y="2537460"/>
            <a:ext cx="2194560" cy="2057400"/>
            <a:chOff x="0" y="0"/>
            <a:chExt cx="2926080" cy="2743200"/>
          </a:xfrm>
        </p:grpSpPr>
        <p:sp>
          <p:nvSpPr>
            <p:cNvPr name="Freeform 69" id="69"/>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txBody>
            <a:bodyPr/>
            <a:p/>
          </p:txBody>
        </p:sp>
      </p:grpSp>
      <p:grpSp>
        <p:nvGrpSpPr>
          <p:cNvPr name="Group 70" id="70"/>
          <p:cNvGrpSpPr/>
          <p:nvPr/>
        </p:nvGrpSpPr>
        <p:grpSpPr>
          <a:xfrm rot="0">
            <a:off x="960120" y="2501741"/>
            <a:ext cx="2194560" cy="2093119"/>
            <a:chOff x="0" y="0"/>
            <a:chExt cx="2926080" cy="2790825"/>
          </a:xfrm>
        </p:grpSpPr>
        <p:sp>
          <p:nvSpPr>
            <p:cNvPr name="Freeform 71" id="71"/>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457" t="0" r="-72458" b="0"/>
              </a:stretch>
            </a:blipFill>
          </p:spPr>
          <p:txBody>
            <a:bodyPr/>
            <a:p/>
          </p:txBody>
        </p:sp>
      </p:grpSp>
      <p:grpSp>
        <p:nvGrpSpPr>
          <p:cNvPr name="Group 72" id="72"/>
          <p:cNvGrpSpPr/>
          <p:nvPr/>
        </p:nvGrpSpPr>
        <p:grpSpPr>
          <a:xfrm rot="0">
            <a:off x="960120" y="2466022"/>
            <a:ext cx="2194560" cy="2128838"/>
            <a:chOff x="0" y="0"/>
            <a:chExt cx="2926080" cy="2838450"/>
          </a:xfrm>
        </p:grpSpPr>
        <p:sp>
          <p:nvSpPr>
            <p:cNvPr name="Freeform 73" id="73"/>
            <p:cNvSpPr/>
            <p:nvPr/>
          </p:nvSpPr>
          <p:spPr>
            <a:xfrm flipH="false" flipV="false" rot="0">
              <a:off x="0" y="0"/>
              <a:ext cx="2926080" cy="2838450"/>
            </a:xfrm>
            <a:custGeom>
              <a:avLst/>
              <a:gdLst/>
              <a:ahLst/>
              <a:cxnLst/>
              <a:rect r="r" b="b" t="t" l="l"/>
              <a:pathLst>
                <a:path h="2838450" w="2926080">
                  <a:moveTo>
                    <a:pt x="0" y="0"/>
                  </a:moveTo>
                  <a:lnTo>
                    <a:pt x="2926080" y="0"/>
                  </a:lnTo>
                  <a:lnTo>
                    <a:pt x="2926080" y="2838450"/>
                  </a:lnTo>
                  <a:lnTo>
                    <a:pt x="0" y="2838450"/>
                  </a:lnTo>
                  <a:close/>
                </a:path>
              </a:pathLst>
            </a:custGeom>
            <a:blipFill>
              <a:blip r:embed="rId6">
                <a:alphaModFix amt="0"/>
              </a:blip>
              <a:stretch>
                <a:fillRect l="-74461" t="0" r="-74461" b="0"/>
              </a:stretch>
            </a:blipFill>
          </p:spPr>
          <p:txBody>
            <a:bodyPr/>
            <a:p/>
          </p:txBody>
        </p:sp>
        <p:sp>
          <p:nvSpPr>
            <p:cNvPr name="TextBox 74" id="74"/>
            <p:cNvSpPr txBox="true"/>
            <p:nvPr/>
          </p:nvSpPr>
          <p:spPr>
            <a:xfrm>
              <a:off x="0" y="-47625"/>
              <a:ext cx="2926080" cy="2886075"/>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Jumlah wisatawan</a:t>
              </a:r>
            </a:p>
            <a:p>
              <a:pPr algn="ctr">
                <a:lnSpc>
                  <a:spcPts val="2340"/>
                </a:lnSpc>
              </a:pPr>
              <a:r>
                <a:rPr lang="en-US" sz="1950" b="true">
                  <a:solidFill>
                    <a:srgbClr val="FFFFFF"/>
                  </a:solidFill>
                  <a:latin typeface="Calibri (MS) Bold"/>
                  <a:ea typeface="Calibri (MS) Bold"/>
                  <a:cs typeface="Calibri (MS) Bold"/>
                  <a:sym typeface="Calibri (MS) Bold"/>
                </a:rPr>
                <a:t>(tren berbeda nyata)</a:t>
              </a:r>
            </a:p>
          </p:txBody>
        </p:sp>
      </p:grpSp>
      <p:sp>
        <p:nvSpPr>
          <p:cNvPr name="AutoShape 75" id="75"/>
          <p:cNvSpPr/>
          <p:nvPr/>
        </p:nvSpPr>
        <p:spPr>
          <a:xfrm rot="157740">
            <a:off x="3269361" y="3532822"/>
            <a:ext cx="415300" cy="0"/>
          </a:xfrm>
          <a:prstGeom prst="line">
            <a:avLst/>
          </a:prstGeom>
          <a:ln cap="rnd" w="19050">
            <a:solidFill>
              <a:srgbClr val="39C0D3"/>
            </a:solidFill>
            <a:prstDash val="solid"/>
            <a:headEnd type="none" len="sm" w="sm"/>
            <a:tailEnd type="triangle" len="med" w="lg"/>
          </a:ln>
        </p:spPr>
        <p:txBody>
          <a:bodyPr/>
          <a:p/>
        </p:txBody>
      </p:sp>
      <p:grpSp>
        <p:nvGrpSpPr>
          <p:cNvPr name="Group 76" id="76"/>
          <p:cNvGrpSpPr/>
          <p:nvPr/>
        </p:nvGrpSpPr>
        <p:grpSpPr>
          <a:xfrm rot="0">
            <a:off x="3656686" y="2537460"/>
            <a:ext cx="2468880" cy="2057400"/>
            <a:chOff x="0" y="0"/>
            <a:chExt cx="3291840" cy="2743200"/>
          </a:xfrm>
        </p:grpSpPr>
        <p:sp>
          <p:nvSpPr>
            <p:cNvPr name="Freeform 77" id="77"/>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78" id="78"/>
          <p:cNvGrpSpPr/>
          <p:nvPr/>
        </p:nvGrpSpPr>
        <p:grpSpPr>
          <a:xfrm rot="0">
            <a:off x="3793846" y="2537460"/>
            <a:ext cx="2194560" cy="2057400"/>
            <a:chOff x="0" y="0"/>
            <a:chExt cx="2926080" cy="2743200"/>
          </a:xfrm>
        </p:grpSpPr>
        <p:sp>
          <p:nvSpPr>
            <p:cNvPr name="Freeform 79" id="79"/>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txBody>
            <a:bodyPr/>
            <a:p/>
          </p:txBody>
        </p:sp>
      </p:grpSp>
      <p:grpSp>
        <p:nvGrpSpPr>
          <p:cNvPr name="Group 80" id="80"/>
          <p:cNvGrpSpPr/>
          <p:nvPr/>
        </p:nvGrpSpPr>
        <p:grpSpPr>
          <a:xfrm rot="0">
            <a:off x="3793846" y="2501741"/>
            <a:ext cx="2194560" cy="2093119"/>
            <a:chOff x="0" y="0"/>
            <a:chExt cx="2926080" cy="2790825"/>
          </a:xfrm>
        </p:grpSpPr>
        <p:sp>
          <p:nvSpPr>
            <p:cNvPr name="Freeform 81" id="81"/>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457" t="0" r="-72458" b="0"/>
              </a:stretch>
            </a:blipFill>
          </p:spPr>
          <p:txBody>
            <a:bodyPr/>
            <a:p/>
          </p:txBody>
        </p:sp>
      </p:grpSp>
      <p:grpSp>
        <p:nvGrpSpPr>
          <p:cNvPr name="Group 82" id="82"/>
          <p:cNvGrpSpPr/>
          <p:nvPr/>
        </p:nvGrpSpPr>
        <p:grpSpPr>
          <a:xfrm rot="0">
            <a:off x="3793846" y="2466022"/>
            <a:ext cx="2194560" cy="2128838"/>
            <a:chOff x="0" y="0"/>
            <a:chExt cx="2926080" cy="2838450"/>
          </a:xfrm>
        </p:grpSpPr>
        <p:sp>
          <p:nvSpPr>
            <p:cNvPr name="Freeform 83" id="83"/>
            <p:cNvSpPr/>
            <p:nvPr/>
          </p:nvSpPr>
          <p:spPr>
            <a:xfrm flipH="false" flipV="false" rot="0">
              <a:off x="0" y="0"/>
              <a:ext cx="2926080" cy="2838450"/>
            </a:xfrm>
            <a:custGeom>
              <a:avLst/>
              <a:gdLst/>
              <a:ahLst/>
              <a:cxnLst/>
              <a:rect r="r" b="b" t="t" l="l"/>
              <a:pathLst>
                <a:path h="2838450" w="2926080">
                  <a:moveTo>
                    <a:pt x="0" y="0"/>
                  </a:moveTo>
                  <a:lnTo>
                    <a:pt x="2926080" y="0"/>
                  </a:lnTo>
                  <a:lnTo>
                    <a:pt x="2926080" y="2838450"/>
                  </a:lnTo>
                  <a:lnTo>
                    <a:pt x="0" y="2838450"/>
                  </a:lnTo>
                  <a:close/>
                </a:path>
              </a:pathLst>
            </a:custGeom>
            <a:blipFill>
              <a:blip r:embed="rId6">
                <a:alphaModFix amt="0"/>
              </a:blip>
              <a:stretch>
                <a:fillRect l="-74461" t="0" r="-74461" b="0"/>
              </a:stretch>
            </a:blipFill>
          </p:spPr>
          <p:txBody>
            <a:bodyPr/>
            <a:p/>
          </p:txBody>
        </p:sp>
        <p:sp>
          <p:nvSpPr>
            <p:cNvPr name="TextBox 84" id="84"/>
            <p:cNvSpPr txBox="true"/>
            <p:nvPr/>
          </p:nvSpPr>
          <p:spPr>
            <a:xfrm>
              <a:off x="0" y="-47625"/>
              <a:ext cx="2926080" cy="2886075"/>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Pengeluaran wisatawan</a:t>
              </a:r>
            </a:p>
          </p:txBody>
        </p:sp>
      </p:grpSp>
      <p:sp>
        <p:nvSpPr>
          <p:cNvPr name="AutoShape 85" id="85"/>
          <p:cNvSpPr/>
          <p:nvPr/>
        </p:nvSpPr>
        <p:spPr>
          <a:xfrm rot="157740">
            <a:off x="6103087" y="3532822"/>
            <a:ext cx="415300" cy="0"/>
          </a:xfrm>
          <a:prstGeom prst="line">
            <a:avLst/>
          </a:prstGeom>
          <a:ln cap="rnd" w="19050">
            <a:solidFill>
              <a:srgbClr val="39C0D3"/>
            </a:solidFill>
            <a:prstDash val="solid"/>
            <a:headEnd type="none" len="sm" w="sm"/>
            <a:tailEnd type="triangle" len="med" w="lg"/>
          </a:ln>
        </p:spPr>
        <p:txBody>
          <a:bodyPr/>
          <a:p/>
        </p:txBody>
      </p:sp>
      <p:grpSp>
        <p:nvGrpSpPr>
          <p:cNvPr name="Group 86" id="86"/>
          <p:cNvGrpSpPr/>
          <p:nvPr/>
        </p:nvGrpSpPr>
        <p:grpSpPr>
          <a:xfrm rot="0">
            <a:off x="6490411" y="2537460"/>
            <a:ext cx="2468880" cy="2057400"/>
            <a:chOff x="0" y="0"/>
            <a:chExt cx="3291840" cy="2743200"/>
          </a:xfrm>
        </p:grpSpPr>
        <p:sp>
          <p:nvSpPr>
            <p:cNvPr name="Freeform 87" id="87"/>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88" id="88"/>
          <p:cNvGrpSpPr/>
          <p:nvPr/>
        </p:nvGrpSpPr>
        <p:grpSpPr>
          <a:xfrm rot="0">
            <a:off x="6627571" y="2537460"/>
            <a:ext cx="2194560" cy="2057400"/>
            <a:chOff x="0" y="0"/>
            <a:chExt cx="2926080" cy="2743200"/>
          </a:xfrm>
        </p:grpSpPr>
        <p:sp>
          <p:nvSpPr>
            <p:cNvPr name="Freeform 89" id="89"/>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txBody>
            <a:bodyPr/>
            <a:p/>
          </p:txBody>
        </p:sp>
      </p:grpSp>
      <p:grpSp>
        <p:nvGrpSpPr>
          <p:cNvPr name="Group 90" id="90"/>
          <p:cNvGrpSpPr/>
          <p:nvPr/>
        </p:nvGrpSpPr>
        <p:grpSpPr>
          <a:xfrm rot="0">
            <a:off x="6627571" y="2501741"/>
            <a:ext cx="2194560" cy="2093119"/>
            <a:chOff x="0" y="0"/>
            <a:chExt cx="2926080" cy="2790825"/>
          </a:xfrm>
        </p:grpSpPr>
        <p:sp>
          <p:nvSpPr>
            <p:cNvPr name="Freeform 91" id="91"/>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457" t="0" r="-72458" b="0"/>
              </a:stretch>
            </a:blipFill>
          </p:spPr>
          <p:txBody>
            <a:bodyPr/>
            <a:p/>
          </p:txBody>
        </p:sp>
      </p:grpSp>
      <p:grpSp>
        <p:nvGrpSpPr>
          <p:cNvPr name="Group 92" id="92"/>
          <p:cNvGrpSpPr/>
          <p:nvPr/>
        </p:nvGrpSpPr>
        <p:grpSpPr>
          <a:xfrm rot="0">
            <a:off x="6627571" y="2466022"/>
            <a:ext cx="2194560" cy="2128838"/>
            <a:chOff x="0" y="0"/>
            <a:chExt cx="2926080" cy="2838450"/>
          </a:xfrm>
        </p:grpSpPr>
        <p:sp>
          <p:nvSpPr>
            <p:cNvPr name="Freeform 93" id="93"/>
            <p:cNvSpPr/>
            <p:nvPr/>
          </p:nvSpPr>
          <p:spPr>
            <a:xfrm flipH="false" flipV="false" rot="0">
              <a:off x="0" y="0"/>
              <a:ext cx="2926080" cy="2838450"/>
            </a:xfrm>
            <a:custGeom>
              <a:avLst/>
              <a:gdLst/>
              <a:ahLst/>
              <a:cxnLst/>
              <a:rect r="r" b="b" t="t" l="l"/>
              <a:pathLst>
                <a:path h="2838450" w="2926080">
                  <a:moveTo>
                    <a:pt x="0" y="0"/>
                  </a:moveTo>
                  <a:lnTo>
                    <a:pt x="2926080" y="0"/>
                  </a:lnTo>
                  <a:lnTo>
                    <a:pt x="2926080" y="2838450"/>
                  </a:lnTo>
                  <a:lnTo>
                    <a:pt x="0" y="2838450"/>
                  </a:lnTo>
                  <a:close/>
                </a:path>
              </a:pathLst>
            </a:custGeom>
            <a:blipFill>
              <a:blip r:embed="rId6">
                <a:alphaModFix amt="0"/>
              </a:blip>
              <a:stretch>
                <a:fillRect l="-74461" t="0" r="-74461" b="0"/>
              </a:stretch>
            </a:blipFill>
          </p:spPr>
          <p:txBody>
            <a:bodyPr/>
            <a:p/>
          </p:txBody>
        </p:sp>
        <p:sp>
          <p:nvSpPr>
            <p:cNvPr name="TextBox 94" id="94"/>
            <p:cNvSpPr txBox="true"/>
            <p:nvPr/>
          </p:nvSpPr>
          <p:spPr>
            <a:xfrm>
              <a:off x="0" y="-47625"/>
              <a:ext cx="2926080" cy="2886075"/>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PDRB sektor pariwisata</a:t>
              </a:r>
            </a:p>
          </p:txBody>
        </p:sp>
      </p:grpSp>
      <p:sp>
        <p:nvSpPr>
          <p:cNvPr name="AutoShape 95" id="95"/>
          <p:cNvSpPr/>
          <p:nvPr/>
        </p:nvSpPr>
        <p:spPr>
          <a:xfrm rot="157740">
            <a:off x="8936812" y="3532822"/>
            <a:ext cx="415300" cy="0"/>
          </a:xfrm>
          <a:prstGeom prst="line">
            <a:avLst/>
          </a:prstGeom>
          <a:ln cap="rnd" w="19050">
            <a:solidFill>
              <a:srgbClr val="39C0D3"/>
            </a:solidFill>
            <a:prstDash val="solid"/>
            <a:headEnd type="none" len="sm" w="sm"/>
            <a:tailEnd type="triangle" len="med" w="lg"/>
          </a:ln>
        </p:spPr>
        <p:txBody>
          <a:bodyPr/>
          <a:p/>
        </p:txBody>
      </p:sp>
      <p:grpSp>
        <p:nvGrpSpPr>
          <p:cNvPr name="Group 96" id="96"/>
          <p:cNvGrpSpPr/>
          <p:nvPr/>
        </p:nvGrpSpPr>
        <p:grpSpPr>
          <a:xfrm rot="0">
            <a:off x="9324137" y="2537460"/>
            <a:ext cx="2468880" cy="2057400"/>
            <a:chOff x="0" y="0"/>
            <a:chExt cx="3291840" cy="2743200"/>
          </a:xfrm>
        </p:grpSpPr>
        <p:sp>
          <p:nvSpPr>
            <p:cNvPr name="Freeform 97" id="97"/>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98" id="98"/>
          <p:cNvGrpSpPr/>
          <p:nvPr/>
        </p:nvGrpSpPr>
        <p:grpSpPr>
          <a:xfrm rot="0">
            <a:off x="9461297" y="2537460"/>
            <a:ext cx="2194560" cy="2057400"/>
            <a:chOff x="0" y="0"/>
            <a:chExt cx="2926080" cy="2743200"/>
          </a:xfrm>
        </p:grpSpPr>
        <p:sp>
          <p:nvSpPr>
            <p:cNvPr name="Freeform 99" id="99"/>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txBody>
            <a:bodyPr/>
            <a:p/>
          </p:txBody>
        </p:sp>
      </p:grpSp>
      <p:grpSp>
        <p:nvGrpSpPr>
          <p:cNvPr name="Group 100" id="100"/>
          <p:cNvGrpSpPr/>
          <p:nvPr/>
        </p:nvGrpSpPr>
        <p:grpSpPr>
          <a:xfrm rot="0">
            <a:off x="9461297" y="2501741"/>
            <a:ext cx="2194560" cy="2093119"/>
            <a:chOff x="0" y="0"/>
            <a:chExt cx="2926080" cy="2790825"/>
          </a:xfrm>
        </p:grpSpPr>
        <p:sp>
          <p:nvSpPr>
            <p:cNvPr name="Freeform 101" id="101"/>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457" t="0" r="-72458" b="0"/>
              </a:stretch>
            </a:blipFill>
          </p:spPr>
          <p:txBody>
            <a:bodyPr/>
            <a:p/>
          </p:txBody>
        </p:sp>
      </p:grpSp>
      <p:grpSp>
        <p:nvGrpSpPr>
          <p:cNvPr name="Group 102" id="102"/>
          <p:cNvGrpSpPr/>
          <p:nvPr/>
        </p:nvGrpSpPr>
        <p:grpSpPr>
          <a:xfrm rot="0">
            <a:off x="9461297" y="2466022"/>
            <a:ext cx="2194560" cy="2128838"/>
            <a:chOff x="0" y="0"/>
            <a:chExt cx="2926080" cy="2838450"/>
          </a:xfrm>
        </p:grpSpPr>
        <p:sp>
          <p:nvSpPr>
            <p:cNvPr name="Freeform 103" id="103"/>
            <p:cNvSpPr/>
            <p:nvPr/>
          </p:nvSpPr>
          <p:spPr>
            <a:xfrm flipH="false" flipV="false" rot="0">
              <a:off x="0" y="0"/>
              <a:ext cx="2926080" cy="2838450"/>
            </a:xfrm>
            <a:custGeom>
              <a:avLst/>
              <a:gdLst/>
              <a:ahLst/>
              <a:cxnLst/>
              <a:rect r="r" b="b" t="t" l="l"/>
              <a:pathLst>
                <a:path h="2838450" w="2926080">
                  <a:moveTo>
                    <a:pt x="0" y="0"/>
                  </a:moveTo>
                  <a:lnTo>
                    <a:pt x="2926080" y="0"/>
                  </a:lnTo>
                  <a:lnTo>
                    <a:pt x="2926080" y="2838450"/>
                  </a:lnTo>
                  <a:lnTo>
                    <a:pt x="0" y="2838450"/>
                  </a:lnTo>
                  <a:close/>
                </a:path>
              </a:pathLst>
            </a:custGeom>
            <a:blipFill>
              <a:blip r:embed="rId6">
                <a:alphaModFix amt="0"/>
              </a:blip>
              <a:stretch>
                <a:fillRect l="-74461" t="0" r="-74461" b="0"/>
              </a:stretch>
            </a:blipFill>
          </p:spPr>
          <p:txBody>
            <a:bodyPr/>
            <a:p/>
          </p:txBody>
        </p:sp>
        <p:sp>
          <p:nvSpPr>
            <p:cNvPr name="TextBox 104" id="104"/>
            <p:cNvSpPr txBox="true"/>
            <p:nvPr/>
          </p:nvSpPr>
          <p:spPr>
            <a:xfrm>
              <a:off x="0" y="-47625"/>
              <a:ext cx="2926080" cy="2886075"/>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Investasi sektor pariwisata</a:t>
              </a:r>
            </a:p>
          </p:txBody>
        </p:sp>
      </p:grpSp>
      <p:sp>
        <p:nvSpPr>
          <p:cNvPr name="AutoShape 105" id="105"/>
          <p:cNvSpPr/>
          <p:nvPr/>
        </p:nvSpPr>
        <p:spPr>
          <a:xfrm rot="157740">
            <a:off x="11770538" y="3532822"/>
            <a:ext cx="415300" cy="0"/>
          </a:xfrm>
          <a:prstGeom prst="line">
            <a:avLst/>
          </a:prstGeom>
          <a:ln cap="rnd" w="19050">
            <a:solidFill>
              <a:srgbClr val="39C0D3"/>
            </a:solidFill>
            <a:prstDash val="solid"/>
            <a:headEnd type="none" len="sm" w="sm"/>
            <a:tailEnd type="triangle" len="med" w="lg"/>
          </a:ln>
        </p:spPr>
        <p:txBody>
          <a:bodyPr/>
          <a:p/>
        </p:txBody>
      </p:sp>
      <p:grpSp>
        <p:nvGrpSpPr>
          <p:cNvPr name="Group 106" id="106"/>
          <p:cNvGrpSpPr/>
          <p:nvPr/>
        </p:nvGrpSpPr>
        <p:grpSpPr>
          <a:xfrm rot="0">
            <a:off x="12157862" y="2537460"/>
            <a:ext cx="2468880" cy="2057400"/>
            <a:chOff x="0" y="0"/>
            <a:chExt cx="3291840" cy="2743200"/>
          </a:xfrm>
        </p:grpSpPr>
        <p:sp>
          <p:nvSpPr>
            <p:cNvPr name="Freeform 107" id="107"/>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108" id="108"/>
          <p:cNvGrpSpPr/>
          <p:nvPr/>
        </p:nvGrpSpPr>
        <p:grpSpPr>
          <a:xfrm rot="0">
            <a:off x="12295022" y="2537460"/>
            <a:ext cx="2194560" cy="2057400"/>
            <a:chOff x="0" y="0"/>
            <a:chExt cx="2926080" cy="2743200"/>
          </a:xfrm>
        </p:grpSpPr>
        <p:sp>
          <p:nvSpPr>
            <p:cNvPr name="Freeform 109" id="109"/>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txBody>
            <a:bodyPr/>
            <a:p/>
          </p:txBody>
        </p:sp>
      </p:grpSp>
      <p:grpSp>
        <p:nvGrpSpPr>
          <p:cNvPr name="Group 110" id="110"/>
          <p:cNvGrpSpPr/>
          <p:nvPr/>
        </p:nvGrpSpPr>
        <p:grpSpPr>
          <a:xfrm rot="0">
            <a:off x="12295022" y="2501741"/>
            <a:ext cx="2194560" cy="2093119"/>
            <a:chOff x="0" y="0"/>
            <a:chExt cx="2926080" cy="2790825"/>
          </a:xfrm>
        </p:grpSpPr>
        <p:sp>
          <p:nvSpPr>
            <p:cNvPr name="Freeform 111" id="111"/>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457" t="0" r="-72458" b="0"/>
              </a:stretch>
            </a:blipFill>
          </p:spPr>
          <p:txBody>
            <a:bodyPr/>
            <a:p/>
          </p:txBody>
        </p:sp>
      </p:grpSp>
      <p:grpSp>
        <p:nvGrpSpPr>
          <p:cNvPr name="Group 112" id="112"/>
          <p:cNvGrpSpPr/>
          <p:nvPr/>
        </p:nvGrpSpPr>
        <p:grpSpPr>
          <a:xfrm rot="0">
            <a:off x="12295022" y="2466022"/>
            <a:ext cx="2194560" cy="2128838"/>
            <a:chOff x="0" y="0"/>
            <a:chExt cx="2926080" cy="2838450"/>
          </a:xfrm>
        </p:grpSpPr>
        <p:sp>
          <p:nvSpPr>
            <p:cNvPr name="Freeform 113" id="113"/>
            <p:cNvSpPr/>
            <p:nvPr/>
          </p:nvSpPr>
          <p:spPr>
            <a:xfrm flipH="false" flipV="false" rot="0">
              <a:off x="0" y="0"/>
              <a:ext cx="2926080" cy="2838450"/>
            </a:xfrm>
            <a:custGeom>
              <a:avLst/>
              <a:gdLst/>
              <a:ahLst/>
              <a:cxnLst/>
              <a:rect r="r" b="b" t="t" l="l"/>
              <a:pathLst>
                <a:path h="2838450" w="2926080">
                  <a:moveTo>
                    <a:pt x="0" y="0"/>
                  </a:moveTo>
                  <a:lnTo>
                    <a:pt x="2926080" y="0"/>
                  </a:lnTo>
                  <a:lnTo>
                    <a:pt x="2926080" y="2838450"/>
                  </a:lnTo>
                  <a:lnTo>
                    <a:pt x="0" y="2838450"/>
                  </a:lnTo>
                  <a:close/>
                </a:path>
              </a:pathLst>
            </a:custGeom>
            <a:blipFill>
              <a:blip r:embed="rId6">
                <a:alphaModFix amt="0"/>
              </a:blip>
              <a:stretch>
                <a:fillRect l="-74461" t="0" r="-74461" b="0"/>
              </a:stretch>
            </a:blipFill>
          </p:spPr>
          <p:txBody>
            <a:bodyPr/>
            <a:p/>
          </p:txBody>
        </p:sp>
        <p:sp>
          <p:nvSpPr>
            <p:cNvPr name="TextBox 114" id="114"/>
            <p:cNvSpPr txBox="true"/>
            <p:nvPr/>
          </p:nvSpPr>
          <p:spPr>
            <a:xfrm>
              <a:off x="0" y="-47625"/>
              <a:ext cx="2926080" cy="2886075"/>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Konstruksi hotel dan pembangunan ODTW</a:t>
              </a:r>
            </a:p>
          </p:txBody>
        </p:sp>
      </p:grpSp>
      <p:sp>
        <p:nvSpPr>
          <p:cNvPr name="AutoShape 115" id="115"/>
          <p:cNvSpPr/>
          <p:nvPr/>
        </p:nvSpPr>
        <p:spPr>
          <a:xfrm rot="157740">
            <a:off x="14604263" y="3532822"/>
            <a:ext cx="415300" cy="0"/>
          </a:xfrm>
          <a:prstGeom prst="line">
            <a:avLst/>
          </a:prstGeom>
          <a:ln cap="rnd" w="19050">
            <a:solidFill>
              <a:srgbClr val="39C0D3"/>
            </a:solidFill>
            <a:prstDash val="solid"/>
            <a:headEnd type="none" len="sm" w="sm"/>
            <a:tailEnd type="triangle" len="med" w="lg"/>
          </a:ln>
        </p:spPr>
        <p:txBody>
          <a:bodyPr/>
          <a:p/>
        </p:txBody>
      </p:sp>
      <p:grpSp>
        <p:nvGrpSpPr>
          <p:cNvPr name="Group 116" id="116"/>
          <p:cNvGrpSpPr/>
          <p:nvPr/>
        </p:nvGrpSpPr>
        <p:grpSpPr>
          <a:xfrm rot="0">
            <a:off x="14991588" y="2537460"/>
            <a:ext cx="2468880" cy="2057400"/>
            <a:chOff x="0" y="0"/>
            <a:chExt cx="3291840" cy="2743200"/>
          </a:xfrm>
        </p:grpSpPr>
        <p:sp>
          <p:nvSpPr>
            <p:cNvPr name="Freeform 117" id="117"/>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118" id="118"/>
          <p:cNvGrpSpPr/>
          <p:nvPr/>
        </p:nvGrpSpPr>
        <p:grpSpPr>
          <a:xfrm rot="0">
            <a:off x="15128748" y="2537460"/>
            <a:ext cx="2194560" cy="2057400"/>
            <a:chOff x="0" y="0"/>
            <a:chExt cx="2926080" cy="2743200"/>
          </a:xfrm>
        </p:grpSpPr>
        <p:sp>
          <p:nvSpPr>
            <p:cNvPr name="Freeform 119" id="119"/>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txBody>
            <a:bodyPr/>
            <a:p/>
          </p:txBody>
        </p:sp>
      </p:grpSp>
      <p:grpSp>
        <p:nvGrpSpPr>
          <p:cNvPr name="Group 120" id="120"/>
          <p:cNvGrpSpPr/>
          <p:nvPr/>
        </p:nvGrpSpPr>
        <p:grpSpPr>
          <a:xfrm rot="0">
            <a:off x="15128748" y="2501741"/>
            <a:ext cx="2194560" cy="2093119"/>
            <a:chOff x="0" y="0"/>
            <a:chExt cx="2926080" cy="2790825"/>
          </a:xfrm>
        </p:grpSpPr>
        <p:sp>
          <p:nvSpPr>
            <p:cNvPr name="Freeform 121" id="121"/>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457" t="0" r="-72458" b="0"/>
              </a:stretch>
            </a:blipFill>
          </p:spPr>
          <p:txBody>
            <a:bodyPr/>
            <a:p/>
          </p:txBody>
        </p:sp>
      </p:grpSp>
      <p:grpSp>
        <p:nvGrpSpPr>
          <p:cNvPr name="Group 122" id="122"/>
          <p:cNvGrpSpPr/>
          <p:nvPr/>
        </p:nvGrpSpPr>
        <p:grpSpPr>
          <a:xfrm rot="0">
            <a:off x="15128748" y="2466022"/>
            <a:ext cx="2194560" cy="2128838"/>
            <a:chOff x="0" y="0"/>
            <a:chExt cx="2926080" cy="2838450"/>
          </a:xfrm>
        </p:grpSpPr>
        <p:sp>
          <p:nvSpPr>
            <p:cNvPr name="Freeform 123" id="123"/>
            <p:cNvSpPr/>
            <p:nvPr/>
          </p:nvSpPr>
          <p:spPr>
            <a:xfrm flipH="false" flipV="false" rot="0">
              <a:off x="0" y="0"/>
              <a:ext cx="2926080" cy="2838450"/>
            </a:xfrm>
            <a:custGeom>
              <a:avLst/>
              <a:gdLst/>
              <a:ahLst/>
              <a:cxnLst/>
              <a:rect r="r" b="b" t="t" l="l"/>
              <a:pathLst>
                <a:path h="2838450" w="2926080">
                  <a:moveTo>
                    <a:pt x="0" y="0"/>
                  </a:moveTo>
                  <a:lnTo>
                    <a:pt x="2926080" y="0"/>
                  </a:lnTo>
                  <a:lnTo>
                    <a:pt x="2926080" y="2838450"/>
                  </a:lnTo>
                  <a:lnTo>
                    <a:pt x="0" y="2838450"/>
                  </a:lnTo>
                  <a:close/>
                </a:path>
              </a:pathLst>
            </a:custGeom>
            <a:blipFill>
              <a:blip r:embed="rId6">
                <a:alphaModFix amt="0"/>
              </a:blip>
              <a:stretch>
                <a:fillRect l="-74461" t="0" r="-74461" b="0"/>
              </a:stretch>
            </a:blipFill>
          </p:spPr>
          <p:txBody>
            <a:bodyPr/>
            <a:p/>
          </p:txBody>
        </p:sp>
        <p:sp>
          <p:nvSpPr>
            <p:cNvPr name="TextBox 124" id="124"/>
            <p:cNvSpPr txBox="true"/>
            <p:nvPr/>
          </p:nvSpPr>
          <p:spPr>
            <a:xfrm>
              <a:off x="0" y="-47625"/>
              <a:ext cx="2926080" cy="2886075"/>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Tenaga kerja dan lahan terbangun</a:t>
              </a:r>
            </a:p>
          </p:txBody>
        </p:sp>
      </p:grpSp>
      <p:sp>
        <p:nvSpPr>
          <p:cNvPr name="TextBox 125" id="125"/>
          <p:cNvSpPr txBox="true"/>
          <p:nvPr/>
        </p:nvSpPr>
        <p:spPr>
          <a:xfrm rot="0">
            <a:off x="822960" y="4686300"/>
            <a:ext cx="16637508" cy="304800"/>
          </a:xfrm>
          <a:prstGeom prst="rect">
            <a:avLst/>
          </a:prstGeom>
        </p:spPr>
        <p:txBody>
          <a:bodyPr anchor="t" rtlCol="false" tIns="0" lIns="0" bIns="0" rIns="0">
            <a:spAutoFit/>
          </a:bodyPr>
          <a:lstStyle/>
          <a:p>
            <a:pPr algn="ctr">
              <a:lnSpc>
                <a:spcPts val="2160"/>
              </a:lnSpc>
            </a:pPr>
            <a:r>
              <a:rPr lang="en-US" sz="1800" i="true">
                <a:solidFill>
                  <a:srgbClr val="5E6E78"/>
                </a:solidFill>
                <a:latin typeface="Calibri (MS) Italics"/>
                <a:ea typeface="Calibri (MS) Italics"/>
                <a:cs typeface="Calibri (MS) Italics"/>
                <a:sym typeface="Calibri (MS) Italics"/>
              </a:rPr>
              <a:t>Error terbawa dari subsistem wisatawan melalui jalur ekonomi</a:t>
            </a:r>
          </a:p>
        </p:txBody>
      </p:sp>
      <p:grpSp>
        <p:nvGrpSpPr>
          <p:cNvPr name="Group 126" id="126"/>
          <p:cNvGrpSpPr/>
          <p:nvPr/>
        </p:nvGrpSpPr>
        <p:grpSpPr>
          <a:xfrm rot="0">
            <a:off x="822960" y="5486400"/>
            <a:ext cx="8161020" cy="3566160"/>
            <a:chOff x="0" y="0"/>
            <a:chExt cx="10881360" cy="4754880"/>
          </a:xfrm>
        </p:grpSpPr>
        <p:sp>
          <p:nvSpPr>
            <p:cNvPr name="Freeform 127" id="127"/>
            <p:cNvSpPr/>
            <p:nvPr/>
          </p:nvSpPr>
          <p:spPr>
            <a:xfrm flipH="false" flipV="false" rot="0">
              <a:off x="0" y="0"/>
              <a:ext cx="10881360" cy="4754880"/>
            </a:xfrm>
            <a:custGeom>
              <a:avLst/>
              <a:gdLst/>
              <a:ahLst/>
              <a:cxnLst/>
              <a:rect r="r" b="b" t="t" l="l"/>
              <a:pathLst>
                <a:path h="4754880" w="10881360">
                  <a:moveTo>
                    <a:pt x="0" y="182880"/>
                  </a:moveTo>
                  <a:cubicBezTo>
                    <a:pt x="0" y="81915"/>
                    <a:pt x="81915" y="0"/>
                    <a:pt x="182880" y="0"/>
                  </a:cubicBezTo>
                  <a:lnTo>
                    <a:pt x="10698480" y="0"/>
                  </a:lnTo>
                  <a:cubicBezTo>
                    <a:pt x="10799445" y="0"/>
                    <a:pt x="10881360" y="81915"/>
                    <a:pt x="10881360" y="182880"/>
                  </a:cubicBezTo>
                  <a:lnTo>
                    <a:pt x="10881360" y="4572000"/>
                  </a:lnTo>
                  <a:cubicBezTo>
                    <a:pt x="10881360" y="4672965"/>
                    <a:pt x="10799445" y="4754880"/>
                    <a:pt x="10698480" y="4754880"/>
                  </a:cubicBezTo>
                  <a:lnTo>
                    <a:pt x="182880" y="4754880"/>
                  </a:lnTo>
                  <a:cubicBezTo>
                    <a:pt x="81915" y="4754880"/>
                    <a:pt x="0" y="4672965"/>
                    <a:pt x="0" y="4572000"/>
                  </a:cubicBezTo>
                  <a:close/>
                </a:path>
              </a:pathLst>
            </a:custGeom>
            <a:solidFill>
              <a:srgbClr val="EAF8FA"/>
            </a:solidFill>
          </p:spPr>
          <p:txBody>
            <a:bodyPr/>
            <a:p/>
          </p:txBody>
        </p:sp>
      </p:grpSp>
      <p:sp>
        <p:nvSpPr>
          <p:cNvPr name="TextBox 128" id="128"/>
          <p:cNvSpPr txBox="true"/>
          <p:nvPr/>
        </p:nvSpPr>
        <p:spPr>
          <a:xfrm rot="0">
            <a:off x="1234440" y="5646420"/>
            <a:ext cx="7406640" cy="6629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Bukti satu sumber bersama</a:t>
            </a:r>
          </a:p>
        </p:txBody>
      </p:sp>
      <p:sp>
        <p:nvSpPr>
          <p:cNvPr name="TextBox 129" id="129"/>
          <p:cNvSpPr txBox="true"/>
          <p:nvPr/>
        </p:nvSpPr>
        <p:spPr>
          <a:xfrm rot="0">
            <a:off x="1234440" y="6332220"/>
            <a:ext cx="7406640" cy="2583180"/>
          </a:xfrm>
          <a:prstGeom prst="rect">
            <a:avLst/>
          </a:prstGeom>
        </p:spPr>
        <p:txBody>
          <a:bodyPr anchor="t" rtlCol="false" tIns="0" lIns="0" bIns="0" rIns="0">
            <a:spAutoFit/>
          </a:bodyPr>
          <a:lstStyle/>
          <a:p>
            <a:pPr algn="l" marL="529351" indent="-132338" lvl="3">
              <a:lnSpc>
                <a:spcPts val="2430"/>
              </a:lnSpc>
              <a:buFont typeface="Arial"/>
              <a:buChar char="￭"/>
            </a:pPr>
            <a:r>
              <a:rPr lang="en-US" sz="2025">
                <a:solidFill>
                  <a:srgbClr val="14313B"/>
                </a:solidFill>
                <a:latin typeface="Calibri (MS)"/>
                <a:ea typeface="Calibri (MS)"/>
                <a:cs typeface="Calibri (MS)"/>
                <a:sym typeface="Calibri (MS)"/>
              </a:rPr>
              <a:t>Komponen error U1 (bias rata-rata) dominan pada 6 dari 9 variabel</a:t>
            </a:r>
          </a:p>
          <a:p>
            <a:pPr algn="l" marL="529351" indent="-132338" lvl="3">
              <a:lnSpc>
                <a:spcPts val="2430"/>
              </a:lnSpc>
              <a:buFont typeface="Arial"/>
              <a:buChar char="￭"/>
            </a:pPr>
            <a:r>
              <a:rPr lang="en-US" sz="2025">
                <a:solidFill>
                  <a:srgbClr val="14313B"/>
                </a:solidFill>
                <a:latin typeface="Calibri (MS)"/>
                <a:ea typeface="Calibri (MS)"/>
                <a:cs typeface="Calibri (MS)"/>
                <a:sym typeface="Calibri (MS)"/>
              </a:rPr>
              <a:t>Hotel dan ODTW baik pada uji parsial (DC 0,20 dan 0,34) tetapi tinggi pada uji penuh</a:t>
            </a:r>
          </a:p>
          <a:p>
            <a:pPr algn="l" marL="529351" indent="-132338" lvl="3">
              <a:lnSpc>
                <a:spcPts val="2430"/>
              </a:lnSpc>
              <a:buFont typeface="Arial"/>
              <a:buChar char="￭"/>
            </a:pPr>
            <a:r>
              <a:rPr lang="en-US" sz="2025">
                <a:solidFill>
                  <a:srgbClr val="14313B"/>
                </a:solidFill>
                <a:latin typeface="Calibri (MS)"/>
                <a:ea typeface="Calibri (MS)"/>
                <a:cs typeface="Calibri (MS)"/>
                <a:sym typeface="Calibri (MS)"/>
              </a:rPr>
              <a:t>Uji P5 dan uji penuh saling menguatkan: akar masalah pada satu titik</a:t>
            </a:r>
          </a:p>
        </p:txBody>
      </p:sp>
      <p:grpSp>
        <p:nvGrpSpPr>
          <p:cNvPr name="Group 130" id="130"/>
          <p:cNvGrpSpPr/>
          <p:nvPr/>
        </p:nvGrpSpPr>
        <p:grpSpPr>
          <a:xfrm rot="0">
            <a:off x="9299448" y="5486400"/>
            <a:ext cx="8161020" cy="3566160"/>
            <a:chOff x="0" y="0"/>
            <a:chExt cx="10881360" cy="4754880"/>
          </a:xfrm>
        </p:grpSpPr>
        <p:sp>
          <p:nvSpPr>
            <p:cNvPr name="Freeform 131" id="131"/>
            <p:cNvSpPr/>
            <p:nvPr/>
          </p:nvSpPr>
          <p:spPr>
            <a:xfrm flipH="false" flipV="false" rot="0">
              <a:off x="0" y="0"/>
              <a:ext cx="10881360" cy="4754880"/>
            </a:xfrm>
            <a:custGeom>
              <a:avLst/>
              <a:gdLst/>
              <a:ahLst/>
              <a:cxnLst/>
              <a:rect r="r" b="b" t="t" l="l"/>
              <a:pathLst>
                <a:path h="4754880" w="10881360">
                  <a:moveTo>
                    <a:pt x="0" y="182880"/>
                  </a:moveTo>
                  <a:cubicBezTo>
                    <a:pt x="0" y="81915"/>
                    <a:pt x="81915" y="0"/>
                    <a:pt x="182880" y="0"/>
                  </a:cubicBezTo>
                  <a:lnTo>
                    <a:pt x="10698480" y="0"/>
                  </a:lnTo>
                  <a:cubicBezTo>
                    <a:pt x="10799445" y="0"/>
                    <a:pt x="10881360" y="81915"/>
                    <a:pt x="10881360" y="182880"/>
                  </a:cubicBezTo>
                  <a:lnTo>
                    <a:pt x="10881360" y="4572000"/>
                  </a:lnTo>
                  <a:cubicBezTo>
                    <a:pt x="10881360" y="4672965"/>
                    <a:pt x="10799445" y="4754880"/>
                    <a:pt x="10698480" y="4754880"/>
                  </a:cubicBezTo>
                  <a:lnTo>
                    <a:pt x="182880" y="4754880"/>
                  </a:lnTo>
                  <a:cubicBezTo>
                    <a:pt x="81915" y="4754880"/>
                    <a:pt x="0" y="4672965"/>
                    <a:pt x="0" y="4572000"/>
                  </a:cubicBezTo>
                  <a:close/>
                </a:path>
              </a:pathLst>
            </a:custGeom>
            <a:solidFill>
              <a:srgbClr val="FFF1BF"/>
            </a:solidFill>
          </p:spPr>
          <p:txBody>
            <a:bodyPr/>
            <a:p/>
          </p:txBody>
        </p:sp>
      </p:grpSp>
      <p:sp>
        <p:nvSpPr>
          <p:cNvPr name="TextBox 132" id="132"/>
          <p:cNvSpPr txBox="true"/>
          <p:nvPr/>
        </p:nvSpPr>
        <p:spPr>
          <a:xfrm rot="0">
            <a:off x="9710928" y="5646420"/>
            <a:ext cx="7406640" cy="6629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Penyebab di luar nilai parameter</a:t>
            </a:r>
          </a:p>
        </p:txBody>
      </p:sp>
      <p:sp>
        <p:nvSpPr>
          <p:cNvPr name="TextBox 133" id="133"/>
          <p:cNvSpPr txBox="true"/>
          <p:nvPr/>
        </p:nvSpPr>
        <p:spPr>
          <a:xfrm rot="0">
            <a:off x="9710928" y="6332220"/>
            <a:ext cx="7406640" cy="2583180"/>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Perbedaan tren berasal dari lonjakan pemulihan pascapandemi 2022–2024 yang tidak dicakup model (wisnus nasional 2024 naik 21,61%) — bukan dari nilai parameter subsistem wisatawan yang keliru.</a:t>
            </a:r>
          </a:p>
        </p:txBody>
      </p:sp>
      <p:sp>
        <p:nvSpPr>
          <p:cNvPr name="TextBox 134" id="134"/>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49</a:t>
            </a:r>
          </a:p>
        </p:txBody>
      </p:sp>
      <p:grpSp>
        <p:nvGrpSpPr>
          <p:cNvPr name="Group 135" id="135"/>
          <p:cNvGrpSpPr/>
          <p:nvPr/>
        </p:nvGrpSpPr>
        <p:grpSpPr>
          <a:xfrm rot="0">
            <a:off x="12755880" y="274320"/>
            <a:ext cx="3931920" cy="411480"/>
            <a:chOff x="0" y="0"/>
            <a:chExt cx="5242560" cy="548640"/>
          </a:xfrm>
        </p:grpSpPr>
        <p:sp>
          <p:nvSpPr>
            <p:cNvPr name="Freeform 136" id="136"/>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37" id="137"/>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grpSp>
        <p:nvGrpSpPr>
          <p:cNvPr name="Group 138" id="138"/>
          <p:cNvGrpSpPr/>
          <p:nvPr/>
        </p:nvGrpSpPr>
        <p:grpSpPr>
          <a:xfrm rot="0">
            <a:off x="16047720" y="9646920"/>
            <a:ext cx="420624" cy="420624"/>
            <a:chOff x="0" y="0"/>
            <a:chExt cx="560832" cy="560832"/>
          </a:xfrm>
        </p:grpSpPr>
        <p:sp>
          <p:nvSpPr>
            <p:cNvPr name="Freeform 139" id="139"/>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40" id="140"/>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0010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Protokol Kalibrasi</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Aturan kalibrasi ditetapkan sebelum pencarian nilai dilakukan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50</a:t>
            </a:r>
          </a:p>
        </p:txBody>
      </p:sp>
      <p:grpSp>
        <p:nvGrpSpPr>
          <p:cNvPr name="Group 67" id="67"/>
          <p:cNvGrpSpPr/>
          <p:nvPr/>
        </p:nvGrpSpPr>
        <p:grpSpPr>
          <a:xfrm rot="0">
            <a:off x="822960" y="2240280"/>
            <a:ext cx="8229600" cy="1024128"/>
            <a:chOff x="0" y="0"/>
            <a:chExt cx="10972800" cy="1365504"/>
          </a:xfrm>
        </p:grpSpPr>
        <p:sp>
          <p:nvSpPr>
            <p:cNvPr name="Freeform 68" id="68"/>
            <p:cNvSpPr/>
            <p:nvPr/>
          </p:nvSpPr>
          <p:spPr>
            <a:xfrm flipH="false" flipV="false" rot="0">
              <a:off x="0" y="0"/>
              <a:ext cx="10972800" cy="1365504"/>
            </a:xfrm>
            <a:custGeom>
              <a:avLst/>
              <a:gdLst/>
              <a:ahLst/>
              <a:cxnLst/>
              <a:rect r="r" b="b" t="t" l="l"/>
              <a:pathLst>
                <a:path h="1365504" w="10972800">
                  <a:moveTo>
                    <a:pt x="0" y="121920"/>
                  </a:moveTo>
                  <a:cubicBezTo>
                    <a:pt x="0" y="54610"/>
                    <a:pt x="54610" y="0"/>
                    <a:pt x="121920" y="0"/>
                  </a:cubicBezTo>
                  <a:lnTo>
                    <a:pt x="10850880" y="0"/>
                  </a:lnTo>
                  <a:cubicBezTo>
                    <a:pt x="10918190" y="0"/>
                    <a:pt x="10972800" y="54610"/>
                    <a:pt x="10972800" y="121920"/>
                  </a:cubicBezTo>
                  <a:lnTo>
                    <a:pt x="10972800" y="1243584"/>
                  </a:lnTo>
                  <a:cubicBezTo>
                    <a:pt x="10972800" y="1310894"/>
                    <a:pt x="10918190" y="1365504"/>
                    <a:pt x="10850880" y="1365504"/>
                  </a:cubicBezTo>
                  <a:lnTo>
                    <a:pt x="121920" y="1365504"/>
                  </a:lnTo>
                  <a:cubicBezTo>
                    <a:pt x="54610" y="1365504"/>
                    <a:pt x="0" y="1310894"/>
                    <a:pt x="0" y="1243584"/>
                  </a:cubicBezTo>
                  <a:close/>
                </a:path>
              </a:pathLst>
            </a:custGeom>
            <a:solidFill>
              <a:srgbClr val="EAF8FA"/>
            </a:solidFill>
          </p:spPr>
          <p:txBody>
            <a:bodyPr/>
            <a:p/>
          </p:txBody>
        </p:sp>
      </p:grpSp>
      <p:grpSp>
        <p:nvGrpSpPr>
          <p:cNvPr name="Group 69" id="69"/>
          <p:cNvGrpSpPr/>
          <p:nvPr/>
        </p:nvGrpSpPr>
        <p:grpSpPr>
          <a:xfrm rot="0">
            <a:off x="1005840" y="2404872"/>
            <a:ext cx="457200" cy="457200"/>
            <a:chOff x="0" y="0"/>
            <a:chExt cx="609600" cy="609600"/>
          </a:xfrm>
        </p:grpSpPr>
        <p:sp>
          <p:nvSpPr>
            <p:cNvPr name="Freeform 70" id="70"/>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txBody>
            <a:bodyPr/>
            <a:p/>
          </p:txBody>
        </p:sp>
      </p:grpSp>
      <p:grpSp>
        <p:nvGrpSpPr>
          <p:cNvPr name="Group 71" id="71"/>
          <p:cNvGrpSpPr/>
          <p:nvPr/>
        </p:nvGrpSpPr>
        <p:grpSpPr>
          <a:xfrm rot="0">
            <a:off x="1005840" y="2383441"/>
            <a:ext cx="457200" cy="478631"/>
            <a:chOff x="0" y="0"/>
            <a:chExt cx="609600" cy="638175"/>
          </a:xfrm>
        </p:grpSpPr>
        <p:sp>
          <p:nvSpPr>
            <p:cNvPr name="Freeform 72" id="72"/>
            <p:cNvSpPr/>
            <p:nvPr/>
          </p:nvSpPr>
          <p:spPr>
            <a:xfrm flipH="false" flipV="false" rot="0">
              <a:off x="0" y="0"/>
              <a:ext cx="609600" cy="638175"/>
            </a:xfrm>
            <a:custGeom>
              <a:avLst/>
              <a:gdLst/>
              <a:ahLst/>
              <a:cxnLst/>
              <a:rect r="r" b="b" t="t" l="l"/>
              <a:pathLst>
                <a:path h="638175" w="609600">
                  <a:moveTo>
                    <a:pt x="0" y="0"/>
                  </a:moveTo>
                  <a:lnTo>
                    <a:pt x="609600" y="0"/>
                  </a:lnTo>
                  <a:lnTo>
                    <a:pt x="609600" y="638175"/>
                  </a:lnTo>
                  <a:lnTo>
                    <a:pt x="0" y="638175"/>
                  </a:lnTo>
                  <a:close/>
                </a:path>
              </a:pathLst>
            </a:custGeom>
            <a:blipFill>
              <a:blip r:embed="rId6">
                <a:alphaModFix amt="0"/>
              </a:blip>
              <a:stretch>
                <a:fillRect l="-84317" t="0" r="-84317" b="0"/>
              </a:stretch>
            </a:blipFill>
          </p:spPr>
          <p:txBody>
            <a:bodyPr/>
            <a:p/>
          </p:txBody>
        </p:sp>
        <p:sp>
          <p:nvSpPr>
            <p:cNvPr name="TextBox 73" id="73"/>
            <p:cNvSpPr txBox="true"/>
            <p:nvPr/>
          </p:nvSpPr>
          <p:spPr>
            <a:xfrm>
              <a:off x="0" y="-28575"/>
              <a:ext cx="609600" cy="666750"/>
            </a:xfrm>
            <a:prstGeom prst="rect">
              <a:avLst/>
            </a:prstGeom>
          </p:spPr>
          <p:txBody>
            <a:bodyPr anchor="ctr" rtlCol="false" tIns="0" lIns="0" bIns="0" rIns="0"/>
            <a:lstStyle/>
            <a:p>
              <a:pPr algn="ctr">
                <a:lnSpc>
                  <a:spcPts val="1680"/>
                </a:lnSpc>
              </a:pPr>
              <a:r>
                <a:rPr lang="en-US" sz="1400" b="true">
                  <a:solidFill>
                    <a:srgbClr val="FFFFFF"/>
                  </a:solidFill>
                  <a:latin typeface="Calibri (MS) Bold"/>
                  <a:ea typeface="Calibri (MS) Bold"/>
                  <a:cs typeface="Calibri (MS) Bold"/>
                  <a:sym typeface="Calibri (MS) Bold"/>
                </a:rPr>
                <a:t>1</a:t>
              </a:r>
            </a:p>
          </p:txBody>
        </p:sp>
      </p:grpSp>
      <p:sp>
        <p:nvSpPr>
          <p:cNvPr name="TextBox 74" id="74"/>
          <p:cNvSpPr txBox="true"/>
          <p:nvPr/>
        </p:nvSpPr>
        <p:spPr>
          <a:xfrm rot="0">
            <a:off x="1600200" y="2253996"/>
            <a:ext cx="7269480" cy="48006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Parameter dibatasi</a:t>
            </a:r>
          </a:p>
        </p:txBody>
      </p:sp>
      <p:sp>
        <p:nvSpPr>
          <p:cNvPr name="TextBox 75" id="75"/>
          <p:cNvSpPr txBox="true"/>
          <p:nvPr/>
        </p:nvSpPr>
        <p:spPr>
          <a:xfrm rot="0">
            <a:off x="1600200" y="2602230"/>
            <a:ext cx="7269480" cy="552450"/>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Hanya parameter yang belum pasti (asumsi/estimasi). Data resmi, persamaan stok-aliran, dan nilai referensi tidak dikalibrasi.</a:t>
            </a:r>
          </a:p>
        </p:txBody>
      </p:sp>
      <p:grpSp>
        <p:nvGrpSpPr>
          <p:cNvPr name="Group 76" id="76"/>
          <p:cNvGrpSpPr/>
          <p:nvPr/>
        </p:nvGrpSpPr>
        <p:grpSpPr>
          <a:xfrm rot="0">
            <a:off x="822960" y="3374136"/>
            <a:ext cx="8229600" cy="1298448"/>
            <a:chOff x="0" y="0"/>
            <a:chExt cx="10972800" cy="1731264"/>
          </a:xfrm>
        </p:grpSpPr>
        <p:sp>
          <p:nvSpPr>
            <p:cNvPr name="Freeform 77" id="77"/>
            <p:cNvSpPr/>
            <p:nvPr/>
          </p:nvSpPr>
          <p:spPr>
            <a:xfrm flipH="false" flipV="false" rot="0">
              <a:off x="0" y="0"/>
              <a:ext cx="10972800" cy="1731264"/>
            </a:xfrm>
            <a:custGeom>
              <a:avLst/>
              <a:gdLst/>
              <a:ahLst/>
              <a:cxnLst/>
              <a:rect r="r" b="b" t="t" l="l"/>
              <a:pathLst>
                <a:path h="1731264" w="10972800">
                  <a:moveTo>
                    <a:pt x="0" y="121920"/>
                  </a:moveTo>
                  <a:cubicBezTo>
                    <a:pt x="0" y="54610"/>
                    <a:pt x="54610" y="0"/>
                    <a:pt x="121920" y="0"/>
                  </a:cubicBezTo>
                  <a:lnTo>
                    <a:pt x="10850880" y="0"/>
                  </a:lnTo>
                  <a:cubicBezTo>
                    <a:pt x="10918190" y="0"/>
                    <a:pt x="10972800" y="54610"/>
                    <a:pt x="10972800" y="121920"/>
                  </a:cubicBezTo>
                  <a:lnTo>
                    <a:pt x="10972800" y="1609344"/>
                  </a:lnTo>
                  <a:cubicBezTo>
                    <a:pt x="10972800" y="1676654"/>
                    <a:pt x="10918190" y="1731264"/>
                    <a:pt x="10850880" y="1731264"/>
                  </a:cubicBezTo>
                  <a:lnTo>
                    <a:pt x="121920" y="1731264"/>
                  </a:lnTo>
                  <a:cubicBezTo>
                    <a:pt x="54610" y="1731264"/>
                    <a:pt x="0" y="1676654"/>
                    <a:pt x="0" y="1609344"/>
                  </a:cubicBezTo>
                  <a:close/>
                </a:path>
              </a:pathLst>
            </a:custGeom>
            <a:solidFill>
              <a:srgbClr val="EAF8FA"/>
            </a:solidFill>
          </p:spPr>
          <p:txBody>
            <a:bodyPr/>
            <a:p/>
          </p:txBody>
        </p:sp>
      </p:grpSp>
      <p:grpSp>
        <p:nvGrpSpPr>
          <p:cNvPr name="Group 78" id="78"/>
          <p:cNvGrpSpPr/>
          <p:nvPr/>
        </p:nvGrpSpPr>
        <p:grpSpPr>
          <a:xfrm rot="0">
            <a:off x="1005840" y="3538728"/>
            <a:ext cx="457200" cy="457200"/>
            <a:chOff x="0" y="0"/>
            <a:chExt cx="609600" cy="609600"/>
          </a:xfrm>
        </p:grpSpPr>
        <p:sp>
          <p:nvSpPr>
            <p:cNvPr name="Freeform 79" id="79"/>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txBody>
            <a:bodyPr/>
            <a:p/>
          </p:txBody>
        </p:sp>
      </p:grpSp>
      <p:grpSp>
        <p:nvGrpSpPr>
          <p:cNvPr name="Group 80" id="80"/>
          <p:cNvGrpSpPr/>
          <p:nvPr/>
        </p:nvGrpSpPr>
        <p:grpSpPr>
          <a:xfrm rot="0">
            <a:off x="1005840" y="3517297"/>
            <a:ext cx="457200" cy="478631"/>
            <a:chOff x="0" y="0"/>
            <a:chExt cx="609600" cy="638175"/>
          </a:xfrm>
        </p:grpSpPr>
        <p:sp>
          <p:nvSpPr>
            <p:cNvPr name="Freeform 81" id="81"/>
            <p:cNvSpPr/>
            <p:nvPr/>
          </p:nvSpPr>
          <p:spPr>
            <a:xfrm flipH="false" flipV="false" rot="0">
              <a:off x="0" y="0"/>
              <a:ext cx="609600" cy="638175"/>
            </a:xfrm>
            <a:custGeom>
              <a:avLst/>
              <a:gdLst/>
              <a:ahLst/>
              <a:cxnLst/>
              <a:rect r="r" b="b" t="t" l="l"/>
              <a:pathLst>
                <a:path h="638175" w="609600">
                  <a:moveTo>
                    <a:pt x="0" y="0"/>
                  </a:moveTo>
                  <a:lnTo>
                    <a:pt x="609600" y="0"/>
                  </a:lnTo>
                  <a:lnTo>
                    <a:pt x="609600" y="638175"/>
                  </a:lnTo>
                  <a:lnTo>
                    <a:pt x="0" y="638175"/>
                  </a:lnTo>
                  <a:close/>
                </a:path>
              </a:pathLst>
            </a:custGeom>
            <a:blipFill>
              <a:blip r:embed="rId6">
                <a:alphaModFix amt="0"/>
              </a:blip>
              <a:stretch>
                <a:fillRect l="-84317" t="0" r="-84317" b="0"/>
              </a:stretch>
            </a:blipFill>
          </p:spPr>
          <p:txBody>
            <a:bodyPr/>
            <a:p/>
          </p:txBody>
        </p:sp>
        <p:sp>
          <p:nvSpPr>
            <p:cNvPr name="TextBox 82" id="82"/>
            <p:cNvSpPr txBox="true"/>
            <p:nvPr/>
          </p:nvSpPr>
          <p:spPr>
            <a:xfrm>
              <a:off x="0" y="-28575"/>
              <a:ext cx="609600" cy="666750"/>
            </a:xfrm>
            <a:prstGeom prst="rect">
              <a:avLst/>
            </a:prstGeom>
          </p:spPr>
          <p:txBody>
            <a:bodyPr anchor="ctr" rtlCol="false" tIns="0" lIns="0" bIns="0" rIns="0"/>
            <a:lstStyle/>
            <a:p>
              <a:pPr algn="ctr">
                <a:lnSpc>
                  <a:spcPts val="1680"/>
                </a:lnSpc>
              </a:pPr>
              <a:r>
                <a:rPr lang="en-US" sz="1400" b="true">
                  <a:solidFill>
                    <a:srgbClr val="FFFFFF"/>
                  </a:solidFill>
                  <a:latin typeface="Calibri (MS) Bold"/>
                  <a:ea typeface="Calibri (MS) Bold"/>
                  <a:cs typeface="Calibri (MS) Bold"/>
                  <a:sym typeface="Calibri (MS) Bold"/>
                </a:rPr>
                <a:t>2</a:t>
              </a:r>
            </a:p>
          </p:txBody>
        </p:sp>
      </p:grpSp>
      <p:sp>
        <p:nvSpPr>
          <p:cNvPr name="TextBox 83" id="83"/>
          <p:cNvSpPr txBox="true"/>
          <p:nvPr/>
        </p:nvSpPr>
        <p:spPr>
          <a:xfrm rot="0">
            <a:off x="1600200" y="3387852"/>
            <a:ext cx="7269480" cy="48006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Rentang berdasar</a:t>
            </a:r>
          </a:p>
        </p:txBody>
      </p:sp>
      <p:sp>
        <p:nvSpPr>
          <p:cNvPr name="TextBox 84" id="84"/>
          <p:cNvSpPr txBox="true"/>
          <p:nvPr/>
        </p:nvSpPr>
        <p:spPr>
          <a:xfrm rot="0">
            <a:off x="1600200" y="3736086"/>
            <a:ext cx="7269480" cy="552450"/>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Dari beberapa rujukan, atau selang kepercayaan 95% tren log-linear:</a:t>
            </a:r>
          </a:p>
        </p:txBody>
      </p:sp>
      <p:sp>
        <p:nvSpPr>
          <p:cNvPr name="TextBox 85" id="85"/>
          <p:cNvSpPr txBox="true"/>
          <p:nvPr/>
        </p:nvSpPr>
        <p:spPr>
          <a:xfrm rot="0">
            <a:off x="1600200" y="4231386"/>
            <a:ext cx="7269480" cy="404622"/>
          </a:xfrm>
          <a:prstGeom prst="rect">
            <a:avLst/>
          </a:prstGeom>
        </p:spPr>
        <p:txBody>
          <a:bodyPr anchor="t" rtlCol="false" tIns="0" lIns="0" bIns="0" rIns="0">
            <a:spAutoFit/>
          </a:bodyPr>
          <a:lstStyle/>
          <a:p>
            <a:pPr algn="l">
              <a:lnSpc>
                <a:spcPts val="2149"/>
              </a:lnSpc>
            </a:pPr>
            <a:r>
              <a:rPr lang="en-US" sz="1599" i="true">
                <a:solidFill>
                  <a:srgbClr val="14313B"/>
                </a:solidFill>
                <a:latin typeface="Cambria Italics"/>
                <a:ea typeface="Cambria Italics"/>
                <a:cs typeface="Cambria Italics"/>
                <a:sym typeface="Cambria Italics"/>
              </a:rPr>
              <a:t>k = (e^β₁ − 1) / R̄ ;  [k_L, k_U] = (e^(β₁ ∓ t*·se(β₁)) − 1) / R̄</a:t>
            </a:r>
          </a:p>
        </p:txBody>
      </p:sp>
      <p:grpSp>
        <p:nvGrpSpPr>
          <p:cNvPr name="Group 86" id="86"/>
          <p:cNvGrpSpPr/>
          <p:nvPr/>
        </p:nvGrpSpPr>
        <p:grpSpPr>
          <a:xfrm rot="0">
            <a:off x="822960" y="4782312"/>
            <a:ext cx="8229600" cy="1024128"/>
            <a:chOff x="0" y="0"/>
            <a:chExt cx="10972800" cy="1365504"/>
          </a:xfrm>
        </p:grpSpPr>
        <p:sp>
          <p:nvSpPr>
            <p:cNvPr name="Freeform 87" id="87"/>
            <p:cNvSpPr/>
            <p:nvPr/>
          </p:nvSpPr>
          <p:spPr>
            <a:xfrm flipH="false" flipV="false" rot="0">
              <a:off x="0" y="0"/>
              <a:ext cx="10972800" cy="1365504"/>
            </a:xfrm>
            <a:custGeom>
              <a:avLst/>
              <a:gdLst/>
              <a:ahLst/>
              <a:cxnLst/>
              <a:rect r="r" b="b" t="t" l="l"/>
              <a:pathLst>
                <a:path h="1365504" w="10972800">
                  <a:moveTo>
                    <a:pt x="0" y="121920"/>
                  </a:moveTo>
                  <a:cubicBezTo>
                    <a:pt x="0" y="54610"/>
                    <a:pt x="54610" y="0"/>
                    <a:pt x="121920" y="0"/>
                  </a:cubicBezTo>
                  <a:lnTo>
                    <a:pt x="10850880" y="0"/>
                  </a:lnTo>
                  <a:cubicBezTo>
                    <a:pt x="10918190" y="0"/>
                    <a:pt x="10972800" y="54610"/>
                    <a:pt x="10972800" y="121920"/>
                  </a:cubicBezTo>
                  <a:lnTo>
                    <a:pt x="10972800" y="1243584"/>
                  </a:lnTo>
                  <a:cubicBezTo>
                    <a:pt x="10972800" y="1310894"/>
                    <a:pt x="10918190" y="1365504"/>
                    <a:pt x="10850880" y="1365504"/>
                  </a:cubicBezTo>
                  <a:lnTo>
                    <a:pt x="121920" y="1365504"/>
                  </a:lnTo>
                  <a:cubicBezTo>
                    <a:pt x="54610" y="1365504"/>
                    <a:pt x="0" y="1310894"/>
                    <a:pt x="0" y="1243584"/>
                  </a:cubicBezTo>
                  <a:close/>
                </a:path>
              </a:pathLst>
            </a:custGeom>
            <a:solidFill>
              <a:srgbClr val="EAF8FA"/>
            </a:solidFill>
          </p:spPr>
          <p:txBody>
            <a:bodyPr/>
            <a:p/>
          </p:txBody>
        </p:sp>
      </p:grpSp>
      <p:grpSp>
        <p:nvGrpSpPr>
          <p:cNvPr name="Group 88" id="88"/>
          <p:cNvGrpSpPr/>
          <p:nvPr/>
        </p:nvGrpSpPr>
        <p:grpSpPr>
          <a:xfrm rot="0">
            <a:off x="1005840" y="4946904"/>
            <a:ext cx="457200" cy="457200"/>
            <a:chOff x="0" y="0"/>
            <a:chExt cx="609600" cy="609600"/>
          </a:xfrm>
        </p:grpSpPr>
        <p:sp>
          <p:nvSpPr>
            <p:cNvPr name="Freeform 89" id="89"/>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txBody>
            <a:bodyPr/>
            <a:p/>
          </p:txBody>
        </p:sp>
      </p:grpSp>
      <p:grpSp>
        <p:nvGrpSpPr>
          <p:cNvPr name="Group 90" id="90"/>
          <p:cNvGrpSpPr/>
          <p:nvPr/>
        </p:nvGrpSpPr>
        <p:grpSpPr>
          <a:xfrm rot="0">
            <a:off x="1005840" y="4925473"/>
            <a:ext cx="457200" cy="478631"/>
            <a:chOff x="0" y="0"/>
            <a:chExt cx="609600" cy="638175"/>
          </a:xfrm>
        </p:grpSpPr>
        <p:sp>
          <p:nvSpPr>
            <p:cNvPr name="Freeform 91" id="91"/>
            <p:cNvSpPr/>
            <p:nvPr/>
          </p:nvSpPr>
          <p:spPr>
            <a:xfrm flipH="false" flipV="false" rot="0">
              <a:off x="0" y="0"/>
              <a:ext cx="609600" cy="638175"/>
            </a:xfrm>
            <a:custGeom>
              <a:avLst/>
              <a:gdLst/>
              <a:ahLst/>
              <a:cxnLst/>
              <a:rect r="r" b="b" t="t" l="l"/>
              <a:pathLst>
                <a:path h="638175" w="609600">
                  <a:moveTo>
                    <a:pt x="0" y="0"/>
                  </a:moveTo>
                  <a:lnTo>
                    <a:pt x="609600" y="0"/>
                  </a:lnTo>
                  <a:lnTo>
                    <a:pt x="609600" y="638175"/>
                  </a:lnTo>
                  <a:lnTo>
                    <a:pt x="0" y="638175"/>
                  </a:lnTo>
                  <a:close/>
                </a:path>
              </a:pathLst>
            </a:custGeom>
            <a:blipFill>
              <a:blip r:embed="rId6">
                <a:alphaModFix amt="0"/>
              </a:blip>
              <a:stretch>
                <a:fillRect l="-84317" t="0" r="-84317" b="0"/>
              </a:stretch>
            </a:blipFill>
          </p:spPr>
          <p:txBody>
            <a:bodyPr/>
            <a:p/>
          </p:txBody>
        </p:sp>
        <p:sp>
          <p:nvSpPr>
            <p:cNvPr name="TextBox 92" id="92"/>
            <p:cNvSpPr txBox="true"/>
            <p:nvPr/>
          </p:nvSpPr>
          <p:spPr>
            <a:xfrm>
              <a:off x="0" y="-28575"/>
              <a:ext cx="609600" cy="666750"/>
            </a:xfrm>
            <a:prstGeom prst="rect">
              <a:avLst/>
            </a:prstGeom>
          </p:spPr>
          <p:txBody>
            <a:bodyPr anchor="ctr" rtlCol="false" tIns="0" lIns="0" bIns="0" rIns="0"/>
            <a:lstStyle/>
            <a:p>
              <a:pPr algn="ctr">
                <a:lnSpc>
                  <a:spcPts val="1680"/>
                </a:lnSpc>
              </a:pPr>
              <a:r>
                <a:rPr lang="en-US" sz="1400" b="true">
                  <a:solidFill>
                    <a:srgbClr val="FFFFFF"/>
                  </a:solidFill>
                  <a:latin typeface="Calibri (MS) Bold"/>
                  <a:ea typeface="Calibri (MS) Bold"/>
                  <a:cs typeface="Calibri (MS) Bold"/>
                  <a:sym typeface="Calibri (MS) Bold"/>
                </a:rPr>
                <a:t>3</a:t>
              </a:r>
            </a:p>
          </p:txBody>
        </p:sp>
      </p:grpSp>
      <p:sp>
        <p:nvSpPr>
          <p:cNvPr name="TextBox 93" id="93"/>
          <p:cNvSpPr txBox="true"/>
          <p:nvPr/>
        </p:nvSpPr>
        <p:spPr>
          <a:xfrm rot="0">
            <a:off x="1600200" y="4796028"/>
            <a:ext cx="7269480" cy="48006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Parameter yang saling terkait dihitung ulang</a:t>
            </a:r>
          </a:p>
        </p:txBody>
      </p:sp>
      <p:sp>
        <p:nvSpPr>
          <p:cNvPr name="TextBox 94" id="94"/>
          <p:cNvSpPr txBox="true"/>
          <p:nvPr/>
        </p:nvSpPr>
        <p:spPr>
          <a:xfrm rot="0">
            <a:off x="1600200" y="5144262"/>
            <a:ext cx="7269480" cy="552450"/>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Pada setiap nilai yang dicoba, dihitung ulang dengan persamaan stok-aliran agar tetap sesuai data historis.</a:t>
            </a:r>
          </a:p>
        </p:txBody>
      </p:sp>
      <p:grpSp>
        <p:nvGrpSpPr>
          <p:cNvPr name="Group 95" id="95"/>
          <p:cNvGrpSpPr/>
          <p:nvPr/>
        </p:nvGrpSpPr>
        <p:grpSpPr>
          <a:xfrm rot="0">
            <a:off x="822960" y="5916168"/>
            <a:ext cx="8229600" cy="1298448"/>
            <a:chOff x="0" y="0"/>
            <a:chExt cx="10972800" cy="1731264"/>
          </a:xfrm>
        </p:grpSpPr>
        <p:sp>
          <p:nvSpPr>
            <p:cNvPr name="Freeform 96" id="96"/>
            <p:cNvSpPr/>
            <p:nvPr/>
          </p:nvSpPr>
          <p:spPr>
            <a:xfrm flipH="false" flipV="false" rot="0">
              <a:off x="0" y="0"/>
              <a:ext cx="10972800" cy="1731264"/>
            </a:xfrm>
            <a:custGeom>
              <a:avLst/>
              <a:gdLst/>
              <a:ahLst/>
              <a:cxnLst/>
              <a:rect r="r" b="b" t="t" l="l"/>
              <a:pathLst>
                <a:path h="1731264" w="10972800">
                  <a:moveTo>
                    <a:pt x="0" y="121920"/>
                  </a:moveTo>
                  <a:cubicBezTo>
                    <a:pt x="0" y="54610"/>
                    <a:pt x="54610" y="0"/>
                    <a:pt x="121920" y="0"/>
                  </a:cubicBezTo>
                  <a:lnTo>
                    <a:pt x="10850880" y="0"/>
                  </a:lnTo>
                  <a:cubicBezTo>
                    <a:pt x="10918190" y="0"/>
                    <a:pt x="10972800" y="54610"/>
                    <a:pt x="10972800" y="121920"/>
                  </a:cubicBezTo>
                  <a:lnTo>
                    <a:pt x="10972800" y="1609344"/>
                  </a:lnTo>
                  <a:cubicBezTo>
                    <a:pt x="10972800" y="1676654"/>
                    <a:pt x="10918190" y="1731264"/>
                    <a:pt x="10850880" y="1731264"/>
                  </a:cubicBezTo>
                  <a:lnTo>
                    <a:pt x="121920" y="1731264"/>
                  </a:lnTo>
                  <a:cubicBezTo>
                    <a:pt x="54610" y="1731264"/>
                    <a:pt x="0" y="1676654"/>
                    <a:pt x="0" y="1609344"/>
                  </a:cubicBezTo>
                  <a:close/>
                </a:path>
              </a:pathLst>
            </a:custGeom>
            <a:solidFill>
              <a:srgbClr val="EAF8FA"/>
            </a:solidFill>
          </p:spPr>
          <p:txBody>
            <a:bodyPr/>
            <a:p/>
          </p:txBody>
        </p:sp>
      </p:grpSp>
      <p:grpSp>
        <p:nvGrpSpPr>
          <p:cNvPr name="Group 97" id="97"/>
          <p:cNvGrpSpPr/>
          <p:nvPr/>
        </p:nvGrpSpPr>
        <p:grpSpPr>
          <a:xfrm rot="0">
            <a:off x="1005840" y="6080760"/>
            <a:ext cx="457200" cy="457200"/>
            <a:chOff x="0" y="0"/>
            <a:chExt cx="609600" cy="609600"/>
          </a:xfrm>
        </p:grpSpPr>
        <p:sp>
          <p:nvSpPr>
            <p:cNvPr name="Freeform 98" id="98"/>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txBody>
            <a:bodyPr/>
            <a:p/>
          </p:txBody>
        </p:sp>
      </p:grpSp>
      <p:grpSp>
        <p:nvGrpSpPr>
          <p:cNvPr name="Group 99" id="99"/>
          <p:cNvGrpSpPr/>
          <p:nvPr/>
        </p:nvGrpSpPr>
        <p:grpSpPr>
          <a:xfrm rot="0">
            <a:off x="1005840" y="6059329"/>
            <a:ext cx="457200" cy="478631"/>
            <a:chOff x="0" y="0"/>
            <a:chExt cx="609600" cy="638175"/>
          </a:xfrm>
        </p:grpSpPr>
        <p:sp>
          <p:nvSpPr>
            <p:cNvPr name="Freeform 100" id="100"/>
            <p:cNvSpPr/>
            <p:nvPr/>
          </p:nvSpPr>
          <p:spPr>
            <a:xfrm flipH="false" flipV="false" rot="0">
              <a:off x="0" y="0"/>
              <a:ext cx="609600" cy="638175"/>
            </a:xfrm>
            <a:custGeom>
              <a:avLst/>
              <a:gdLst/>
              <a:ahLst/>
              <a:cxnLst/>
              <a:rect r="r" b="b" t="t" l="l"/>
              <a:pathLst>
                <a:path h="638175" w="609600">
                  <a:moveTo>
                    <a:pt x="0" y="0"/>
                  </a:moveTo>
                  <a:lnTo>
                    <a:pt x="609600" y="0"/>
                  </a:lnTo>
                  <a:lnTo>
                    <a:pt x="609600" y="638175"/>
                  </a:lnTo>
                  <a:lnTo>
                    <a:pt x="0" y="638175"/>
                  </a:lnTo>
                  <a:close/>
                </a:path>
              </a:pathLst>
            </a:custGeom>
            <a:blipFill>
              <a:blip r:embed="rId6">
                <a:alphaModFix amt="0"/>
              </a:blip>
              <a:stretch>
                <a:fillRect l="-84317" t="0" r="-84317" b="0"/>
              </a:stretch>
            </a:blipFill>
          </p:spPr>
          <p:txBody>
            <a:bodyPr/>
            <a:p/>
          </p:txBody>
        </p:sp>
        <p:sp>
          <p:nvSpPr>
            <p:cNvPr name="TextBox 101" id="101"/>
            <p:cNvSpPr txBox="true"/>
            <p:nvPr/>
          </p:nvSpPr>
          <p:spPr>
            <a:xfrm>
              <a:off x="0" y="-28575"/>
              <a:ext cx="609600" cy="666750"/>
            </a:xfrm>
            <a:prstGeom prst="rect">
              <a:avLst/>
            </a:prstGeom>
          </p:spPr>
          <p:txBody>
            <a:bodyPr anchor="ctr" rtlCol="false" tIns="0" lIns="0" bIns="0" rIns="0"/>
            <a:lstStyle/>
            <a:p>
              <a:pPr algn="ctr">
                <a:lnSpc>
                  <a:spcPts val="1680"/>
                </a:lnSpc>
              </a:pPr>
              <a:r>
                <a:rPr lang="en-US" sz="1400" b="true">
                  <a:solidFill>
                    <a:srgbClr val="FFFFFF"/>
                  </a:solidFill>
                  <a:latin typeface="Calibri (MS) Bold"/>
                  <a:ea typeface="Calibri (MS) Bold"/>
                  <a:cs typeface="Calibri (MS) Bold"/>
                  <a:sym typeface="Calibri (MS) Bold"/>
                </a:rPr>
                <a:t>4</a:t>
              </a:r>
            </a:p>
          </p:txBody>
        </p:sp>
      </p:grpSp>
      <p:sp>
        <p:nvSpPr>
          <p:cNvPr name="TextBox 102" id="102"/>
          <p:cNvSpPr txBox="true"/>
          <p:nvPr/>
        </p:nvSpPr>
        <p:spPr>
          <a:xfrm rot="0">
            <a:off x="1600200" y="5929884"/>
            <a:ext cx="7269480" cy="48006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Fungsi tujuan</a:t>
            </a:r>
          </a:p>
        </p:txBody>
      </p:sp>
      <p:sp>
        <p:nvSpPr>
          <p:cNvPr name="TextBox 103" id="103"/>
          <p:cNvSpPr txBox="true"/>
          <p:nvPr/>
        </p:nvSpPr>
        <p:spPr>
          <a:xfrm rot="0">
            <a:off x="1600200" y="6278118"/>
            <a:ext cx="7269480" cy="552450"/>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NRMSE (sejalan dengan dekomposisi U1–U3); MAPE sebagai pelengkap.</a:t>
            </a:r>
          </a:p>
        </p:txBody>
      </p:sp>
      <p:sp>
        <p:nvSpPr>
          <p:cNvPr name="TextBox 104" id="104"/>
          <p:cNvSpPr txBox="true"/>
          <p:nvPr/>
        </p:nvSpPr>
        <p:spPr>
          <a:xfrm rot="0">
            <a:off x="1600200" y="6773418"/>
            <a:ext cx="7269480" cy="404622"/>
          </a:xfrm>
          <a:prstGeom prst="rect">
            <a:avLst/>
          </a:prstGeom>
        </p:spPr>
        <p:txBody>
          <a:bodyPr anchor="t" rtlCol="false" tIns="0" lIns="0" bIns="0" rIns="0">
            <a:spAutoFit/>
          </a:bodyPr>
          <a:lstStyle/>
          <a:p>
            <a:pPr algn="l">
              <a:lnSpc>
                <a:spcPts val="2149"/>
              </a:lnSpc>
            </a:pPr>
            <a:r>
              <a:rPr lang="en-US" sz="1599" i="true">
                <a:solidFill>
                  <a:srgbClr val="14313B"/>
                </a:solidFill>
                <a:latin typeface="Cambria Italics"/>
                <a:ea typeface="Cambria Italics"/>
                <a:cs typeface="Cambria Italics"/>
                <a:sym typeface="Cambria Italics"/>
              </a:rPr>
              <a:t>J = NRMSE = √[(1/n) Σₜ (Sₜ − Aₜ)²] / Ā</a:t>
            </a:r>
          </a:p>
        </p:txBody>
      </p:sp>
      <p:grpSp>
        <p:nvGrpSpPr>
          <p:cNvPr name="Group 105" id="105"/>
          <p:cNvGrpSpPr/>
          <p:nvPr/>
        </p:nvGrpSpPr>
        <p:grpSpPr>
          <a:xfrm rot="0">
            <a:off x="822960" y="7324344"/>
            <a:ext cx="8229600" cy="1298448"/>
            <a:chOff x="0" y="0"/>
            <a:chExt cx="10972800" cy="1731264"/>
          </a:xfrm>
        </p:grpSpPr>
        <p:sp>
          <p:nvSpPr>
            <p:cNvPr name="Freeform 106" id="106"/>
            <p:cNvSpPr/>
            <p:nvPr/>
          </p:nvSpPr>
          <p:spPr>
            <a:xfrm flipH="false" flipV="false" rot="0">
              <a:off x="0" y="0"/>
              <a:ext cx="10972800" cy="1731264"/>
            </a:xfrm>
            <a:custGeom>
              <a:avLst/>
              <a:gdLst/>
              <a:ahLst/>
              <a:cxnLst/>
              <a:rect r="r" b="b" t="t" l="l"/>
              <a:pathLst>
                <a:path h="1731264" w="10972800">
                  <a:moveTo>
                    <a:pt x="0" y="121920"/>
                  </a:moveTo>
                  <a:cubicBezTo>
                    <a:pt x="0" y="54610"/>
                    <a:pt x="54610" y="0"/>
                    <a:pt x="121920" y="0"/>
                  </a:cubicBezTo>
                  <a:lnTo>
                    <a:pt x="10850880" y="0"/>
                  </a:lnTo>
                  <a:cubicBezTo>
                    <a:pt x="10918190" y="0"/>
                    <a:pt x="10972800" y="54610"/>
                    <a:pt x="10972800" y="121920"/>
                  </a:cubicBezTo>
                  <a:lnTo>
                    <a:pt x="10972800" y="1609344"/>
                  </a:lnTo>
                  <a:cubicBezTo>
                    <a:pt x="10972800" y="1676654"/>
                    <a:pt x="10918190" y="1731264"/>
                    <a:pt x="10850880" y="1731264"/>
                  </a:cubicBezTo>
                  <a:lnTo>
                    <a:pt x="121920" y="1731264"/>
                  </a:lnTo>
                  <a:cubicBezTo>
                    <a:pt x="54610" y="1731264"/>
                    <a:pt x="0" y="1676654"/>
                    <a:pt x="0" y="1609344"/>
                  </a:cubicBezTo>
                  <a:close/>
                </a:path>
              </a:pathLst>
            </a:custGeom>
            <a:solidFill>
              <a:srgbClr val="EAF8FA"/>
            </a:solidFill>
          </p:spPr>
          <p:txBody>
            <a:bodyPr/>
            <a:p/>
          </p:txBody>
        </p:sp>
      </p:grpSp>
      <p:grpSp>
        <p:nvGrpSpPr>
          <p:cNvPr name="Group 107" id="107"/>
          <p:cNvGrpSpPr/>
          <p:nvPr/>
        </p:nvGrpSpPr>
        <p:grpSpPr>
          <a:xfrm rot="0">
            <a:off x="1005840" y="7488936"/>
            <a:ext cx="457200" cy="457200"/>
            <a:chOff x="0" y="0"/>
            <a:chExt cx="609600" cy="609600"/>
          </a:xfrm>
        </p:grpSpPr>
        <p:sp>
          <p:nvSpPr>
            <p:cNvPr name="Freeform 108" id="108"/>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txBody>
            <a:bodyPr/>
            <a:p/>
          </p:txBody>
        </p:sp>
      </p:grpSp>
      <p:grpSp>
        <p:nvGrpSpPr>
          <p:cNvPr name="Group 109" id="109"/>
          <p:cNvGrpSpPr/>
          <p:nvPr/>
        </p:nvGrpSpPr>
        <p:grpSpPr>
          <a:xfrm rot="0">
            <a:off x="1005840" y="7467505"/>
            <a:ext cx="457200" cy="478631"/>
            <a:chOff x="0" y="0"/>
            <a:chExt cx="609600" cy="638175"/>
          </a:xfrm>
        </p:grpSpPr>
        <p:sp>
          <p:nvSpPr>
            <p:cNvPr name="Freeform 110" id="110"/>
            <p:cNvSpPr/>
            <p:nvPr/>
          </p:nvSpPr>
          <p:spPr>
            <a:xfrm flipH="false" flipV="false" rot="0">
              <a:off x="0" y="0"/>
              <a:ext cx="609600" cy="638175"/>
            </a:xfrm>
            <a:custGeom>
              <a:avLst/>
              <a:gdLst/>
              <a:ahLst/>
              <a:cxnLst/>
              <a:rect r="r" b="b" t="t" l="l"/>
              <a:pathLst>
                <a:path h="638175" w="609600">
                  <a:moveTo>
                    <a:pt x="0" y="0"/>
                  </a:moveTo>
                  <a:lnTo>
                    <a:pt x="609600" y="0"/>
                  </a:lnTo>
                  <a:lnTo>
                    <a:pt x="609600" y="638175"/>
                  </a:lnTo>
                  <a:lnTo>
                    <a:pt x="0" y="638175"/>
                  </a:lnTo>
                  <a:close/>
                </a:path>
              </a:pathLst>
            </a:custGeom>
            <a:blipFill>
              <a:blip r:embed="rId6">
                <a:alphaModFix amt="0"/>
              </a:blip>
              <a:stretch>
                <a:fillRect l="-84317" t="0" r="-84317" b="0"/>
              </a:stretch>
            </a:blipFill>
          </p:spPr>
          <p:txBody>
            <a:bodyPr/>
            <a:p/>
          </p:txBody>
        </p:sp>
        <p:sp>
          <p:nvSpPr>
            <p:cNvPr name="TextBox 111" id="111"/>
            <p:cNvSpPr txBox="true"/>
            <p:nvPr/>
          </p:nvSpPr>
          <p:spPr>
            <a:xfrm>
              <a:off x="0" y="-28575"/>
              <a:ext cx="609600" cy="666750"/>
            </a:xfrm>
            <a:prstGeom prst="rect">
              <a:avLst/>
            </a:prstGeom>
          </p:spPr>
          <p:txBody>
            <a:bodyPr anchor="ctr" rtlCol="false" tIns="0" lIns="0" bIns="0" rIns="0"/>
            <a:lstStyle/>
            <a:p>
              <a:pPr algn="ctr">
                <a:lnSpc>
                  <a:spcPts val="1680"/>
                </a:lnSpc>
              </a:pPr>
              <a:r>
                <a:rPr lang="en-US" sz="1400" b="true">
                  <a:solidFill>
                    <a:srgbClr val="FFFFFF"/>
                  </a:solidFill>
                  <a:latin typeface="Calibri (MS) Bold"/>
                  <a:ea typeface="Calibri (MS) Bold"/>
                  <a:cs typeface="Calibri (MS) Bold"/>
                  <a:sym typeface="Calibri (MS) Bold"/>
                </a:rPr>
                <a:t>5</a:t>
              </a:r>
            </a:p>
          </p:txBody>
        </p:sp>
      </p:grpSp>
      <p:sp>
        <p:nvSpPr>
          <p:cNvPr name="TextBox 112" id="112"/>
          <p:cNvSpPr txBox="true"/>
          <p:nvPr/>
        </p:nvSpPr>
        <p:spPr>
          <a:xfrm rot="0">
            <a:off x="1600200" y="7338060"/>
            <a:ext cx="7269480" cy="48006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Kumpulan nilai setara</a:t>
            </a:r>
          </a:p>
        </p:txBody>
      </p:sp>
      <p:sp>
        <p:nvSpPr>
          <p:cNvPr name="TextBox 113" id="113"/>
          <p:cNvSpPr txBox="true"/>
          <p:nvPr/>
        </p:nvSpPr>
        <p:spPr>
          <a:xfrm rot="0">
            <a:off x="1600200" y="7686294"/>
            <a:ext cx="7269480" cy="552450"/>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Titik yang tidak lebih buruk 5% dari minimum dianggap setara:</a:t>
            </a:r>
          </a:p>
        </p:txBody>
      </p:sp>
      <p:sp>
        <p:nvSpPr>
          <p:cNvPr name="TextBox 114" id="114"/>
          <p:cNvSpPr txBox="true"/>
          <p:nvPr/>
        </p:nvSpPr>
        <p:spPr>
          <a:xfrm rot="0">
            <a:off x="1600200" y="8181594"/>
            <a:ext cx="7269480" cy="404622"/>
          </a:xfrm>
          <a:prstGeom prst="rect">
            <a:avLst/>
          </a:prstGeom>
        </p:spPr>
        <p:txBody>
          <a:bodyPr anchor="t" rtlCol="false" tIns="0" lIns="0" bIns="0" rIns="0">
            <a:spAutoFit/>
          </a:bodyPr>
          <a:lstStyle/>
          <a:p>
            <a:pPr algn="l">
              <a:lnSpc>
                <a:spcPts val="2149"/>
              </a:lnSpc>
            </a:pPr>
            <a:r>
              <a:rPr lang="en-US" sz="1599" i="true">
                <a:solidFill>
                  <a:srgbClr val="14313B"/>
                </a:solidFill>
                <a:latin typeface="Cambria Italics"/>
                <a:ea typeface="Cambria Italics"/>
                <a:cs typeface="Cambria Italics"/>
                <a:sym typeface="Cambria Italics"/>
              </a:rPr>
              <a:t>I = { θ : J(θ) ≤ 1,05 × J_min }</a:t>
            </a:r>
          </a:p>
        </p:txBody>
      </p:sp>
      <p:graphicFrame>
        <p:nvGraphicFramePr>
          <p:cNvPr name="Table 115" id="115"/>
          <p:cNvGraphicFramePr>
            <a:graphicFrameLocks noGrp="true"/>
          </p:cNvGraphicFramePr>
          <p:nvPr/>
        </p:nvGraphicFramePr>
        <p:xfrm>
          <a:off x="9281160" y="2240280"/>
          <a:ext cx="8153400" cy="2514600"/>
        </p:xfrm>
        <a:graphic>
          <a:graphicData uri="http://schemas.openxmlformats.org/drawingml/2006/table">
            <a:tbl>
              <a:tblPr/>
              <a:tblGrid>
                <a:gridCol w="728795"/>
                <a:gridCol w="3006281"/>
                <a:gridCol w="4418324"/>
              </a:tblGrid>
              <a:tr h="428664">
                <a:tc>
                  <a:txBody>
                    <a:bodyPr anchor="t" rtlCol="false"/>
                    <a:lstStyle/>
                    <a:p>
                      <a:pPr algn="ctr">
                        <a:lnSpc>
                          <a:spcPts val="1680"/>
                        </a:lnSpc>
                        <a:defRPr/>
                      </a:pPr>
                      <a:r>
                        <a:rPr lang="en-US" sz="1400" b="true">
                          <a:solidFill>
                            <a:srgbClr val="FFFFFF"/>
                          </a:solidFill>
                          <a:latin typeface="Calibri (MS) Bold"/>
                          <a:ea typeface="Calibri (MS) Bold"/>
                          <a:cs typeface="Calibri (MS) Bold"/>
                          <a:sym typeface="Calibri (MS) Bold"/>
                        </a:rPr>
                        <a:t>Aturan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Kondisi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Keputusan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521484">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Nilai dari data ∈ 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Perbaikan tidak material → nilai turunan 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521484">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I menyentuh kedua ujung rentang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Tidak bisa ditentukan → nilai dari data 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521484">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Optimum tepat di batas rentang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Diagnostik leave-one-year-out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521484">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Selain ketiganya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Optimum diadopsi bila lolos uji kompatibilitas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
        <p:nvSpPr>
          <p:cNvPr name="Freeform 116" id="116"/>
          <p:cNvSpPr/>
          <p:nvPr/>
        </p:nvSpPr>
        <p:spPr>
          <a:xfrm flipH="false" flipV="false" rot="0">
            <a:off x="9264491" y="4875371"/>
            <a:ext cx="8217218" cy="4395026"/>
          </a:xfrm>
          <a:custGeom>
            <a:avLst/>
            <a:gdLst/>
            <a:ahLst/>
            <a:cxnLst/>
            <a:rect r="r" b="b" t="t" l="l"/>
            <a:pathLst>
              <a:path h="4395026" w="8217218">
                <a:moveTo>
                  <a:pt x="0" y="0"/>
                </a:moveTo>
                <a:lnTo>
                  <a:pt x="8217218" y="0"/>
                </a:lnTo>
                <a:lnTo>
                  <a:pt x="8217218" y="4395026"/>
                </a:lnTo>
                <a:lnTo>
                  <a:pt x="0" y="43950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TextBox 117" id="117"/>
          <p:cNvSpPr txBox="true"/>
          <p:nvPr/>
        </p:nvSpPr>
        <p:spPr>
          <a:xfrm rot="0">
            <a:off x="9555480" y="4914900"/>
            <a:ext cx="7680960" cy="48006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Tahapan kalibrasi</a:t>
            </a:r>
          </a:p>
        </p:txBody>
      </p:sp>
      <p:sp>
        <p:nvSpPr>
          <p:cNvPr name="TextBox 118" id="118"/>
          <p:cNvSpPr txBox="true"/>
          <p:nvPr/>
        </p:nvSpPr>
        <p:spPr>
          <a:xfrm rot="0">
            <a:off x="9555480" y="5298948"/>
            <a:ext cx="7680960" cy="2034540"/>
          </a:xfrm>
          <a:prstGeom prst="rect">
            <a:avLst/>
          </a:prstGeom>
        </p:spPr>
        <p:txBody>
          <a:bodyPr anchor="t" rtlCol="false" tIns="0" lIns="0" bIns="0" rIns="0">
            <a:spAutoFit/>
          </a:bodyPr>
          <a:lstStyle/>
          <a:p>
            <a:pPr algn="l">
              <a:lnSpc>
                <a:spcPts val="1948"/>
              </a:lnSpc>
            </a:pPr>
            <a:r>
              <a:rPr lang="en-US" sz="1449" b="true">
                <a:solidFill>
                  <a:srgbClr val="14313B"/>
                </a:solidFill>
                <a:latin typeface="Calibri (MS) Bold"/>
                <a:ea typeface="Calibri (MS) Bold"/>
                <a:cs typeface="Calibri (MS) Bold"/>
                <a:sym typeface="Calibri (MS) Bold"/>
              </a:rPr>
              <a:t>Tahap 0 </a:t>
            </a:r>
            <a:r>
              <a:rPr lang="en-US" sz="1449">
                <a:solidFill>
                  <a:srgbClr val="14313B"/>
                </a:solidFill>
                <a:latin typeface="Calibri (MS)"/>
                <a:ea typeface="Calibri (MS)"/>
                <a:cs typeface="Calibri (MS)"/>
                <a:sym typeface="Calibri (MS)"/>
              </a:rPr>
              <a:t>koreksi penurunan LPE dan LPD (bukan kalibrasi)</a:t>
            </a:r>
          </a:p>
          <a:p>
            <a:pPr algn="l">
              <a:lnSpc>
                <a:spcPts val="1948"/>
              </a:lnSpc>
            </a:pPr>
            <a:r>
              <a:rPr lang="en-US" sz="1449" b="true">
                <a:solidFill>
                  <a:srgbClr val="14313B"/>
                </a:solidFill>
                <a:latin typeface="Calibri (MS) Bold"/>
                <a:ea typeface="Calibri (MS) Bold"/>
                <a:cs typeface="Calibri (MS) Bold"/>
                <a:sym typeface="Calibri (MS) Bold"/>
              </a:rPr>
              <a:t>Tahap 1 </a:t>
            </a:r>
            <a:r>
              <a:rPr lang="en-US" sz="1449">
                <a:solidFill>
                  <a:srgbClr val="14313B"/>
                </a:solidFill>
                <a:latin typeface="Calibri (MS)"/>
                <a:ea typeface="Calibri (MS)"/>
                <a:cs typeface="Calibri (MS)"/>
                <a:sym typeface="Calibri (MS)"/>
              </a:rPr>
              <a:t>akomodasi: batas TPK &amp; laju demolisi (uji P1)</a:t>
            </a:r>
          </a:p>
          <a:p>
            <a:pPr algn="l">
              <a:lnSpc>
                <a:spcPts val="1948"/>
              </a:lnSpc>
            </a:pPr>
            <a:r>
              <a:rPr lang="en-US" sz="1449" b="true">
                <a:solidFill>
                  <a:srgbClr val="14313B"/>
                </a:solidFill>
                <a:latin typeface="Calibri (MS) Bold"/>
                <a:ea typeface="Calibri (MS) Bold"/>
                <a:cs typeface="Calibri (MS) Bold"/>
                <a:sym typeface="Calibri (MS) Bold"/>
              </a:rPr>
              <a:t>Tahap 2 </a:t>
            </a:r>
            <a:r>
              <a:rPr lang="en-US" sz="1449">
                <a:solidFill>
                  <a:srgbClr val="14313B"/>
                </a:solidFill>
                <a:latin typeface="Calibri (MS)"/>
                <a:ea typeface="Calibri (MS)"/>
                <a:cs typeface="Calibri (MS)"/>
                <a:sym typeface="Calibri (MS)"/>
              </a:rPr>
              <a:t>lahan: laju konversi dasar (uji P4)</a:t>
            </a:r>
          </a:p>
          <a:p>
            <a:pPr algn="l">
              <a:lnSpc>
                <a:spcPts val="1948"/>
              </a:lnSpc>
            </a:pPr>
            <a:r>
              <a:rPr lang="en-US" sz="1449" b="true">
                <a:solidFill>
                  <a:srgbClr val="14313B"/>
                </a:solidFill>
                <a:latin typeface="Calibri (MS) Bold"/>
                <a:ea typeface="Calibri (MS) Bold"/>
                <a:cs typeface="Calibri (MS) Bold"/>
                <a:sym typeface="Calibri (MS) Bold"/>
              </a:rPr>
              <a:t>Tahap 3 </a:t>
            </a:r>
            <a:r>
              <a:rPr lang="en-US" sz="1449">
                <a:solidFill>
                  <a:srgbClr val="14313B"/>
                </a:solidFill>
                <a:latin typeface="Calibri (MS)"/>
                <a:ea typeface="Calibri (MS)"/>
                <a:cs typeface="Calibri (MS)"/>
                <a:sym typeface="Calibri (MS)"/>
              </a:rPr>
              <a:t>wisatawan: LPE dan rasio LPD/LPE (diagnostik)</a:t>
            </a:r>
          </a:p>
          <a:p>
            <a:pPr algn="l">
              <a:lnSpc>
                <a:spcPts val="1948"/>
              </a:lnSpc>
            </a:pPr>
            <a:r>
              <a:rPr lang="en-US" sz="1449" b="true">
                <a:solidFill>
                  <a:srgbClr val="14313B"/>
                </a:solidFill>
                <a:latin typeface="Calibri (MS) Bold"/>
                <a:ea typeface="Calibri (MS) Bold"/>
                <a:cs typeface="Calibri (MS) Bold"/>
                <a:sym typeface="Calibri (MS) Bold"/>
              </a:rPr>
              <a:t>Tahap 4 </a:t>
            </a:r>
            <a:r>
              <a:rPr lang="en-US" sz="1449">
                <a:solidFill>
                  <a:srgbClr val="14313B"/>
                </a:solidFill>
                <a:latin typeface="Calibri (MS)"/>
                <a:ea typeface="Calibri (MS)"/>
                <a:cs typeface="Calibri (MS)"/>
                <a:sym typeface="Calibri (MS)"/>
              </a:rPr>
              <a:t>uji kompatibilitas pada model penuh</a:t>
            </a:r>
          </a:p>
        </p:txBody>
      </p:sp>
      <p:sp>
        <p:nvSpPr>
          <p:cNvPr name="TextBox 119" id="119"/>
          <p:cNvSpPr txBox="true"/>
          <p:nvPr/>
        </p:nvSpPr>
        <p:spPr>
          <a:xfrm rot="0">
            <a:off x="9555480" y="7219950"/>
            <a:ext cx="7680960" cy="415290"/>
          </a:xfrm>
          <a:prstGeom prst="rect">
            <a:avLst/>
          </a:prstGeom>
        </p:spPr>
        <p:txBody>
          <a:bodyPr anchor="t" rtlCol="false" tIns="0" lIns="0" bIns="0" rIns="0">
            <a:spAutoFit/>
          </a:bodyPr>
          <a:lstStyle/>
          <a:p>
            <a:pPr algn="l">
              <a:lnSpc>
                <a:spcPts val="1813"/>
              </a:lnSpc>
            </a:pPr>
            <a:r>
              <a:rPr lang="en-US" sz="1350" b="true">
                <a:solidFill>
                  <a:srgbClr val="0B5E6E"/>
                </a:solidFill>
                <a:latin typeface="Calibri (MS) Bold"/>
                <a:ea typeface="Calibri (MS) Bold"/>
                <a:cs typeface="Calibri (MS) Bold"/>
                <a:sym typeface="Calibri (MS) Bold"/>
              </a:rPr>
              <a:t>Syarat penolakan pada Tahap 4 (batas 1,05)</a:t>
            </a:r>
          </a:p>
        </p:txBody>
      </p:sp>
      <p:sp>
        <p:nvSpPr>
          <p:cNvPr name="TextBox 120" id="120"/>
          <p:cNvSpPr txBox="true"/>
          <p:nvPr/>
        </p:nvSpPr>
        <p:spPr>
          <a:xfrm rot="0">
            <a:off x="9555480" y="7567422"/>
            <a:ext cx="7680960" cy="1649730"/>
          </a:xfrm>
          <a:prstGeom prst="rect">
            <a:avLst/>
          </a:prstGeom>
        </p:spPr>
        <p:txBody>
          <a:bodyPr anchor="t" rtlCol="false" tIns="0" lIns="0" bIns="0" rIns="0">
            <a:spAutoFit/>
          </a:bodyPr>
          <a:lstStyle/>
          <a:p>
            <a:pPr algn="l">
              <a:lnSpc>
                <a:spcPts val="1813"/>
              </a:lnSpc>
            </a:pPr>
            <a:r>
              <a:rPr lang="en-US" sz="1350" b="true">
                <a:solidFill>
                  <a:srgbClr val="14313B"/>
                </a:solidFill>
                <a:latin typeface="Calibri (MS) Bold"/>
                <a:ea typeface="Calibri (MS) Bold"/>
                <a:cs typeface="Calibri (MS) Bold"/>
                <a:sym typeface="Calibri (MS) Bold"/>
              </a:rPr>
              <a:t>M1 </a:t>
            </a:r>
            <a:r>
              <a:rPr lang="en-US" sz="1350">
                <a:solidFill>
                  <a:srgbClr val="14313B"/>
                </a:solidFill>
                <a:latin typeface="Calibri (MS)"/>
                <a:ea typeface="Calibri (MS)"/>
                <a:cs typeface="Calibri (MS)"/>
                <a:sym typeface="Calibri (MS)"/>
              </a:rPr>
              <a:t>NRMSE variabel target pada uji penuh &gt; 1,05 × nilai sebelum kalibrasi</a:t>
            </a:r>
          </a:p>
          <a:p>
            <a:pPr algn="l">
              <a:lnSpc>
                <a:spcPts val="1813"/>
              </a:lnSpc>
            </a:pPr>
            <a:r>
              <a:rPr lang="en-US" sz="1350" b="true">
                <a:solidFill>
                  <a:srgbClr val="14313B"/>
                </a:solidFill>
                <a:latin typeface="Calibri (MS) Bold"/>
                <a:ea typeface="Calibri (MS) Bold"/>
                <a:cs typeface="Calibri (MS) Bold"/>
                <a:sym typeface="Calibri (MS) Bold"/>
              </a:rPr>
              <a:t>M2 </a:t>
            </a:r>
            <a:r>
              <a:rPr lang="en-US" sz="1350">
                <a:solidFill>
                  <a:srgbClr val="14313B"/>
                </a:solidFill>
                <a:latin typeface="Calibri (MS)"/>
                <a:ea typeface="Calibri (MS)"/>
                <a:cs typeface="Calibri (MS)"/>
                <a:sym typeface="Calibri (MS)"/>
              </a:rPr>
              <a:t>rata-rata NRMSE 9 variabel uji penuh &gt; 1,05 × sebelumnya</a:t>
            </a:r>
          </a:p>
          <a:p>
            <a:pPr algn="l">
              <a:lnSpc>
                <a:spcPts val="1813"/>
              </a:lnSpc>
            </a:pPr>
            <a:r>
              <a:rPr lang="en-US" sz="1350" b="true">
                <a:solidFill>
                  <a:srgbClr val="14313B"/>
                </a:solidFill>
                <a:latin typeface="Calibri (MS) Bold"/>
                <a:ea typeface="Calibri (MS) Bold"/>
                <a:cs typeface="Calibri (MS) Bold"/>
                <a:sym typeface="Calibri (MS) Bold"/>
              </a:rPr>
              <a:t>S </a:t>
            </a:r>
            <a:r>
              <a:rPr lang="en-US" sz="1350">
                <a:solidFill>
                  <a:srgbClr val="14313B"/>
                </a:solidFill>
                <a:latin typeface="Calibri (MS)"/>
                <a:ea typeface="Calibri (MS)"/>
                <a:cs typeface="Calibri (MS)"/>
                <a:sym typeface="Calibri (MS)"/>
              </a:rPr>
              <a:t>uji kondisi ekstrem gagal / aturan fisik dilanggar</a:t>
            </a:r>
          </a:p>
          <a:p>
            <a:pPr algn="l">
              <a:lnSpc>
                <a:spcPts val="1813"/>
              </a:lnSpc>
            </a:pPr>
            <a:r>
              <a:rPr lang="en-US" sz="1350" b="true">
                <a:solidFill>
                  <a:srgbClr val="14313B"/>
                </a:solidFill>
                <a:latin typeface="Calibri (MS) Bold"/>
                <a:ea typeface="Calibri (MS) Bold"/>
                <a:cs typeface="Calibri (MS) Bold"/>
                <a:sym typeface="Calibri (MS) Bold"/>
              </a:rPr>
              <a:t>T </a:t>
            </a:r>
            <a:r>
              <a:rPr lang="en-US" sz="1350">
                <a:solidFill>
                  <a:srgbClr val="14313B"/>
                </a:solidFill>
                <a:latin typeface="Calibri (MS)"/>
                <a:ea typeface="Calibri (MS)"/>
                <a:cs typeface="Calibri (MS)"/>
                <a:sym typeface="Calibri (MS)"/>
              </a:rPr>
              <a:t>simulasi tidak stabil pada horizon yang diperpanjang</a:t>
            </a:r>
          </a:p>
        </p:txBody>
      </p:sp>
      <p:grpSp>
        <p:nvGrpSpPr>
          <p:cNvPr name="Group 121" id="121"/>
          <p:cNvGrpSpPr/>
          <p:nvPr/>
        </p:nvGrpSpPr>
        <p:grpSpPr>
          <a:xfrm rot="0">
            <a:off x="12755880" y="274320"/>
            <a:ext cx="3931920" cy="411480"/>
            <a:chOff x="0" y="0"/>
            <a:chExt cx="5242560" cy="548640"/>
          </a:xfrm>
        </p:grpSpPr>
        <p:sp>
          <p:nvSpPr>
            <p:cNvPr name="Freeform 122" id="122"/>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23" id="123"/>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grpSp>
        <p:nvGrpSpPr>
          <p:cNvPr name="Group 124" id="124"/>
          <p:cNvGrpSpPr/>
          <p:nvPr/>
        </p:nvGrpSpPr>
        <p:grpSpPr>
          <a:xfrm rot="0">
            <a:off x="16047720" y="9646920"/>
            <a:ext cx="420624" cy="420624"/>
            <a:chOff x="0" y="0"/>
            <a:chExt cx="560832" cy="560832"/>
          </a:xfrm>
        </p:grpSpPr>
        <p:sp>
          <p:nvSpPr>
            <p:cNvPr name="Freeform 125" id="125"/>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26" id="126"/>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Kalibrasi Tahap 0–4</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Kalibrasi menguatkan nilai parameter dari data — tidak ada yang diganti</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6" id="66"/>
          <p:cNvGrpSpPr/>
          <p:nvPr/>
        </p:nvGrpSpPr>
        <p:grpSpPr>
          <a:xfrm rot="0">
            <a:off x="822960" y="2400300"/>
            <a:ext cx="3154680" cy="5143500"/>
            <a:chOff x="0" y="0"/>
            <a:chExt cx="4206240" cy="6858000"/>
          </a:xfrm>
        </p:grpSpPr>
        <p:sp>
          <p:nvSpPr>
            <p:cNvPr name="Freeform 67" id="67"/>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txBody>
            <a:bodyPr/>
            <a:p/>
          </p:txBody>
        </p:sp>
      </p:grpSp>
      <p:sp>
        <p:nvSpPr>
          <p:cNvPr name="TextBox 68" id="68"/>
          <p:cNvSpPr txBox="true"/>
          <p:nvPr/>
        </p:nvSpPr>
        <p:spPr>
          <a:xfrm rot="0">
            <a:off x="1097280" y="2576322"/>
            <a:ext cx="2606040" cy="40005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0</a:t>
            </a:r>
          </a:p>
        </p:txBody>
      </p:sp>
      <p:sp>
        <p:nvSpPr>
          <p:cNvPr name="TextBox 69" id="69"/>
          <p:cNvSpPr txBox="true"/>
          <p:nvPr/>
        </p:nvSpPr>
        <p:spPr>
          <a:xfrm rot="0">
            <a:off x="1097280" y="2846070"/>
            <a:ext cx="2606040" cy="113157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Koreksi penurunan</a:t>
            </a:r>
          </a:p>
        </p:txBody>
      </p:sp>
      <p:sp>
        <p:nvSpPr>
          <p:cNvPr name="TextBox 70" id="70"/>
          <p:cNvSpPr txBox="true"/>
          <p:nvPr/>
        </p:nvSpPr>
        <p:spPr>
          <a:xfrm rot="0">
            <a:off x="1097280" y="3931920"/>
            <a:ext cx="2606040" cy="26517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LPE 0,26864 → 0,27726; LPD 0,20148 → 0,207945, memakai indeks daya tarik 2024 (0,99223) sesuai integrasi Euler</a:t>
            </a:r>
          </a:p>
        </p:txBody>
      </p:sp>
      <p:grpSp>
        <p:nvGrpSpPr>
          <p:cNvPr name="Group 71" id="71"/>
          <p:cNvGrpSpPr/>
          <p:nvPr/>
        </p:nvGrpSpPr>
        <p:grpSpPr>
          <a:xfrm rot="0">
            <a:off x="1028700" y="6720840"/>
            <a:ext cx="2743200" cy="548640"/>
            <a:chOff x="0" y="0"/>
            <a:chExt cx="3657600" cy="731520"/>
          </a:xfrm>
        </p:grpSpPr>
        <p:sp>
          <p:nvSpPr>
            <p:cNvPr name="Freeform 72" id="72"/>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FFD23B"/>
            </a:solidFill>
          </p:spPr>
          <p:txBody>
            <a:bodyPr/>
            <a:p/>
          </p:txBody>
        </p:sp>
      </p:grpSp>
      <p:grpSp>
        <p:nvGrpSpPr>
          <p:cNvPr name="Group 73" id="73"/>
          <p:cNvGrpSpPr/>
          <p:nvPr/>
        </p:nvGrpSpPr>
        <p:grpSpPr>
          <a:xfrm rot="0">
            <a:off x="1028700" y="6720840"/>
            <a:ext cx="2743200" cy="548640"/>
            <a:chOff x="0" y="0"/>
            <a:chExt cx="3657600" cy="731520"/>
          </a:xfrm>
        </p:grpSpPr>
        <p:sp>
          <p:nvSpPr>
            <p:cNvPr name="Freeform 74" id="74"/>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txBody>
            <a:bodyPr/>
            <a:p/>
          </p:txBody>
        </p:sp>
      </p:grpSp>
      <p:grpSp>
        <p:nvGrpSpPr>
          <p:cNvPr name="Group 75" id="75"/>
          <p:cNvGrpSpPr/>
          <p:nvPr/>
        </p:nvGrpSpPr>
        <p:grpSpPr>
          <a:xfrm rot="0">
            <a:off x="1028700" y="6699409"/>
            <a:ext cx="2743200" cy="570071"/>
            <a:chOff x="0" y="0"/>
            <a:chExt cx="3657600" cy="760095"/>
          </a:xfrm>
        </p:grpSpPr>
        <p:sp>
          <p:nvSpPr>
            <p:cNvPr name="Freeform 76" id="76"/>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697" r="0" b="-43697"/>
              </a:stretch>
            </a:blipFill>
          </p:spPr>
          <p:txBody>
            <a:bodyPr/>
            <a:p/>
          </p:txBody>
        </p:sp>
      </p:grpSp>
      <p:grpSp>
        <p:nvGrpSpPr>
          <p:cNvPr name="Group 77" id="77"/>
          <p:cNvGrpSpPr/>
          <p:nvPr/>
        </p:nvGrpSpPr>
        <p:grpSpPr>
          <a:xfrm rot="0">
            <a:off x="1028700" y="6677978"/>
            <a:ext cx="2743200" cy="591502"/>
            <a:chOff x="0" y="0"/>
            <a:chExt cx="3657600" cy="788670"/>
          </a:xfrm>
        </p:grpSpPr>
        <p:sp>
          <p:nvSpPr>
            <p:cNvPr name="Freeform 78" id="78"/>
            <p:cNvSpPr/>
            <p:nvPr/>
          </p:nvSpPr>
          <p:spPr>
            <a:xfrm flipH="false" flipV="false" rot="0">
              <a:off x="0" y="0"/>
              <a:ext cx="3657600" cy="788670"/>
            </a:xfrm>
            <a:custGeom>
              <a:avLst/>
              <a:gdLst/>
              <a:ahLst/>
              <a:cxnLst/>
              <a:rect r="r" b="b" t="t" l="l"/>
              <a:pathLst>
                <a:path h="788670" w="3657600">
                  <a:moveTo>
                    <a:pt x="0" y="0"/>
                  </a:moveTo>
                  <a:lnTo>
                    <a:pt x="3657600" y="0"/>
                  </a:lnTo>
                  <a:lnTo>
                    <a:pt x="3657600" y="788670"/>
                  </a:lnTo>
                  <a:lnTo>
                    <a:pt x="0" y="788670"/>
                  </a:lnTo>
                  <a:close/>
                </a:path>
              </a:pathLst>
            </a:custGeom>
            <a:blipFill>
              <a:blip r:embed="rId6">
                <a:alphaModFix amt="0"/>
              </a:blip>
              <a:stretch>
                <a:fillRect l="0" t="-40365" r="0" b="-40365"/>
              </a:stretch>
            </a:blipFill>
          </p:spPr>
          <p:txBody>
            <a:bodyPr/>
            <a:p/>
          </p:txBody>
        </p:sp>
        <p:sp>
          <p:nvSpPr>
            <p:cNvPr name="TextBox 79" id="79"/>
            <p:cNvSpPr txBox="true"/>
            <p:nvPr/>
          </p:nvSpPr>
          <p:spPr>
            <a:xfrm>
              <a:off x="0" y="-28575"/>
              <a:ext cx="3657600" cy="817245"/>
            </a:xfrm>
            <a:prstGeom prst="rect">
              <a:avLst/>
            </a:prstGeom>
          </p:spPr>
          <p:txBody>
            <a:bodyPr anchor="ctr" rtlCol="false" tIns="0" lIns="0" bIns="0" rIns="0"/>
            <a:lstStyle/>
            <a:p>
              <a:pPr algn="ctr">
                <a:lnSpc>
                  <a:spcPts val="1980"/>
                </a:lnSpc>
              </a:pPr>
              <a:r>
                <a:rPr lang="en-US" sz="1650" b="true">
                  <a:solidFill>
                    <a:srgbClr val="14313B"/>
                  </a:solidFill>
                  <a:latin typeface="Calibri (MS) Bold"/>
                  <a:ea typeface="Calibri (MS) Bold"/>
                  <a:cs typeface="Calibri (MS) Bold"/>
                  <a:sym typeface="Calibri (MS) Bold"/>
                </a:rPr>
                <a:t>Koreksi, bukan kalibrasi</a:t>
              </a:r>
            </a:p>
          </p:txBody>
        </p:sp>
      </p:grpSp>
      <p:grpSp>
        <p:nvGrpSpPr>
          <p:cNvPr name="Group 80" id="80"/>
          <p:cNvGrpSpPr/>
          <p:nvPr/>
        </p:nvGrpSpPr>
        <p:grpSpPr>
          <a:xfrm rot="0">
            <a:off x="4197096" y="2400300"/>
            <a:ext cx="3154680" cy="5143500"/>
            <a:chOff x="0" y="0"/>
            <a:chExt cx="4206240" cy="6858000"/>
          </a:xfrm>
        </p:grpSpPr>
        <p:sp>
          <p:nvSpPr>
            <p:cNvPr name="Freeform 81" id="81"/>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txBody>
            <a:bodyPr/>
            <a:p/>
          </p:txBody>
        </p:sp>
      </p:grpSp>
      <p:sp>
        <p:nvSpPr>
          <p:cNvPr name="TextBox 82" id="82"/>
          <p:cNvSpPr txBox="true"/>
          <p:nvPr/>
        </p:nvSpPr>
        <p:spPr>
          <a:xfrm rot="0">
            <a:off x="4471416" y="2576322"/>
            <a:ext cx="2606040" cy="40005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1</a:t>
            </a:r>
          </a:p>
        </p:txBody>
      </p:sp>
      <p:sp>
        <p:nvSpPr>
          <p:cNvPr name="TextBox 83" id="83"/>
          <p:cNvSpPr txBox="true"/>
          <p:nvPr/>
        </p:nvSpPr>
        <p:spPr>
          <a:xfrm rot="0">
            <a:off x="4471416" y="2846070"/>
            <a:ext cx="2606040" cy="113157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Subsistem akomodasi</a:t>
            </a:r>
          </a:p>
        </p:txBody>
      </p:sp>
      <p:sp>
        <p:nvSpPr>
          <p:cNvPr name="TextBox 84" id="84"/>
          <p:cNvSpPr txBox="true"/>
          <p:nvPr/>
        </p:nvSpPr>
        <p:spPr>
          <a:xfrm rot="0">
            <a:off x="4471416" y="3931920"/>
            <a:ext cx="2606040" cy="26517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Batas TPK dan laju demolisi dicari menyeluruh. Optimum TPK (0,35) ada di ujung rentang dan berubah bila periode data diganti</a:t>
            </a:r>
          </a:p>
        </p:txBody>
      </p:sp>
      <p:grpSp>
        <p:nvGrpSpPr>
          <p:cNvPr name="Group 85" id="85"/>
          <p:cNvGrpSpPr/>
          <p:nvPr/>
        </p:nvGrpSpPr>
        <p:grpSpPr>
          <a:xfrm rot="0">
            <a:off x="4402836" y="6720840"/>
            <a:ext cx="2743200" cy="548640"/>
            <a:chOff x="0" y="0"/>
            <a:chExt cx="3657600" cy="731520"/>
          </a:xfrm>
        </p:grpSpPr>
        <p:sp>
          <p:nvSpPr>
            <p:cNvPr name="Freeform 86" id="86"/>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EAF8FA"/>
            </a:solidFill>
          </p:spPr>
          <p:txBody>
            <a:bodyPr/>
            <a:p/>
          </p:txBody>
        </p:sp>
      </p:grpSp>
      <p:grpSp>
        <p:nvGrpSpPr>
          <p:cNvPr name="Group 87" id="87"/>
          <p:cNvGrpSpPr/>
          <p:nvPr/>
        </p:nvGrpSpPr>
        <p:grpSpPr>
          <a:xfrm rot="0">
            <a:off x="4402836" y="6720840"/>
            <a:ext cx="2743200" cy="548640"/>
            <a:chOff x="0" y="0"/>
            <a:chExt cx="3657600" cy="731520"/>
          </a:xfrm>
        </p:grpSpPr>
        <p:sp>
          <p:nvSpPr>
            <p:cNvPr name="Freeform 88" id="88"/>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txBody>
            <a:bodyPr/>
            <a:p/>
          </p:txBody>
        </p:sp>
      </p:grpSp>
      <p:grpSp>
        <p:nvGrpSpPr>
          <p:cNvPr name="Group 89" id="89"/>
          <p:cNvGrpSpPr/>
          <p:nvPr/>
        </p:nvGrpSpPr>
        <p:grpSpPr>
          <a:xfrm rot="0">
            <a:off x="4402836" y="6699409"/>
            <a:ext cx="2743200" cy="570071"/>
            <a:chOff x="0" y="0"/>
            <a:chExt cx="3657600" cy="760095"/>
          </a:xfrm>
        </p:grpSpPr>
        <p:sp>
          <p:nvSpPr>
            <p:cNvPr name="Freeform 90" id="90"/>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697" r="0" b="-43697"/>
              </a:stretch>
            </a:blipFill>
          </p:spPr>
          <p:txBody>
            <a:bodyPr/>
            <a:p/>
          </p:txBody>
        </p:sp>
      </p:grpSp>
      <p:grpSp>
        <p:nvGrpSpPr>
          <p:cNvPr name="Group 91" id="91"/>
          <p:cNvGrpSpPr/>
          <p:nvPr/>
        </p:nvGrpSpPr>
        <p:grpSpPr>
          <a:xfrm rot="0">
            <a:off x="4402836" y="6677978"/>
            <a:ext cx="2743200" cy="591502"/>
            <a:chOff x="0" y="0"/>
            <a:chExt cx="3657600" cy="788670"/>
          </a:xfrm>
        </p:grpSpPr>
        <p:sp>
          <p:nvSpPr>
            <p:cNvPr name="Freeform 92" id="92"/>
            <p:cNvSpPr/>
            <p:nvPr/>
          </p:nvSpPr>
          <p:spPr>
            <a:xfrm flipH="false" flipV="false" rot="0">
              <a:off x="0" y="0"/>
              <a:ext cx="3657600" cy="788670"/>
            </a:xfrm>
            <a:custGeom>
              <a:avLst/>
              <a:gdLst/>
              <a:ahLst/>
              <a:cxnLst/>
              <a:rect r="r" b="b" t="t" l="l"/>
              <a:pathLst>
                <a:path h="788670" w="3657600">
                  <a:moveTo>
                    <a:pt x="0" y="0"/>
                  </a:moveTo>
                  <a:lnTo>
                    <a:pt x="3657600" y="0"/>
                  </a:lnTo>
                  <a:lnTo>
                    <a:pt x="3657600" y="788670"/>
                  </a:lnTo>
                  <a:lnTo>
                    <a:pt x="0" y="788670"/>
                  </a:lnTo>
                  <a:close/>
                </a:path>
              </a:pathLst>
            </a:custGeom>
            <a:blipFill>
              <a:blip r:embed="rId6">
                <a:alphaModFix amt="0"/>
              </a:blip>
              <a:stretch>
                <a:fillRect l="0" t="-40365" r="0" b="-40365"/>
              </a:stretch>
            </a:blipFill>
          </p:spPr>
          <p:txBody>
            <a:bodyPr/>
            <a:p/>
          </p:txBody>
        </p:sp>
        <p:sp>
          <p:nvSpPr>
            <p:cNvPr name="TextBox 93" id="93"/>
            <p:cNvSpPr txBox="true"/>
            <p:nvPr/>
          </p:nvSpPr>
          <p:spPr>
            <a:xfrm>
              <a:off x="0" y="-28575"/>
              <a:ext cx="3657600" cy="817245"/>
            </a:xfrm>
            <a:prstGeom prst="rect">
              <a:avLst/>
            </a:prstGeom>
          </p:spPr>
          <p:txBody>
            <a:bodyPr anchor="ctr" rtlCol="false" tIns="0" lIns="0" bIns="0" rIns="0"/>
            <a:lstStyle/>
            <a:p>
              <a:pPr algn="ctr">
                <a:lnSpc>
                  <a:spcPts val="1980"/>
                </a:lnSpc>
              </a:pPr>
              <a:r>
                <a:rPr lang="en-US" sz="1650" b="true">
                  <a:solidFill>
                    <a:srgbClr val="0B5E6E"/>
                  </a:solidFill>
                  <a:latin typeface="Calibri (MS) Bold"/>
                  <a:ea typeface="Calibri (MS) Bold"/>
                  <a:cs typeface="Calibri (MS) Bold"/>
                  <a:sym typeface="Calibri (MS) Bold"/>
                </a:rPr>
                <a:t>Dipertahankan</a:t>
              </a:r>
            </a:p>
          </p:txBody>
        </p:sp>
      </p:grpSp>
      <p:grpSp>
        <p:nvGrpSpPr>
          <p:cNvPr name="Group 94" id="94"/>
          <p:cNvGrpSpPr/>
          <p:nvPr/>
        </p:nvGrpSpPr>
        <p:grpSpPr>
          <a:xfrm rot="0">
            <a:off x="7571232" y="2400300"/>
            <a:ext cx="3154680" cy="5143500"/>
            <a:chOff x="0" y="0"/>
            <a:chExt cx="4206240" cy="6858000"/>
          </a:xfrm>
        </p:grpSpPr>
        <p:sp>
          <p:nvSpPr>
            <p:cNvPr name="Freeform 95" id="95"/>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txBody>
            <a:bodyPr/>
            <a:p/>
          </p:txBody>
        </p:sp>
      </p:grpSp>
      <p:sp>
        <p:nvSpPr>
          <p:cNvPr name="TextBox 96" id="96"/>
          <p:cNvSpPr txBox="true"/>
          <p:nvPr/>
        </p:nvSpPr>
        <p:spPr>
          <a:xfrm rot="0">
            <a:off x="7845552" y="2576322"/>
            <a:ext cx="2606040" cy="40005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2</a:t>
            </a:r>
          </a:p>
        </p:txBody>
      </p:sp>
      <p:sp>
        <p:nvSpPr>
          <p:cNvPr name="TextBox 97" id="97"/>
          <p:cNvSpPr txBox="true"/>
          <p:nvPr/>
        </p:nvSpPr>
        <p:spPr>
          <a:xfrm rot="0">
            <a:off x="7845552" y="2846070"/>
            <a:ext cx="2606040" cy="113157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Subsistem lahan</a:t>
            </a:r>
          </a:p>
        </p:txBody>
      </p:sp>
      <p:sp>
        <p:nvSpPr>
          <p:cNvPr name="TextBox 98" id="98"/>
          <p:cNvSpPr txBox="true"/>
          <p:nvPr/>
        </p:nvSpPr>
        <p:spPr>
          <a:xfrm rot="0">
            <a:off x="7845552" y="3931920"/>
            <a:ext cx="2606040" cy="26517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Laju konversi dasar optimum 0,0638662 (selang 95% LOGEST 0,0034–0,0851); memenuhi kriteria adopsi</a:t>
            </a:r>
          </a:p>
        </p:txBody>
      </p:sp>
      <p:grpSp>
        <p:nvGrpSpPr>
          <p:cNvPr name="Group 99" id="99"/>
          <p:cNvGrpSpPr/>
          <p:nvPr/>
        </p:nvGrpSpPr>
        <p:grpSpPr>
          <a:xfrm rot="0">
            <a:off x="7776972" y="6720840"/>
            <a:ext cx="2743200" cy="548640"/>
            <a:chOff x="0" y="0"/>
            <a:chExt cx="3657600" cy="731520"/>
          </a:xfrm>
        </p:grpSpPr>
        <p:sp>
          <p:nvSpPr>
            <p:cNvPr name="Freeform 100" id="100"/>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FFD23B"/>
            </a:solidFill>
          </p:spPr>
          <p:txBody>
            <a:bodyPr/>
            <a:p/>
          </p:txBody>
        </p:sp>
      </p:grpSp>
      <p:grpSp>
        <p:nvGrpSpPr>
          <p:cNvPr name="Group 101" id="101"/>
          <p:cNvGrpSpPr/>
          <p:nvPr/>
        </p:nvGrpSpPr>
        <p:grpSpPr>
          <a:xfrm rot="0">
            <a:off x="7776972" y="6720840"/>
            <a:ext cx="2743200" cy="548640"/>
            <a:chOff x="0" y="0"/>
            <a:chExt cx="3657600" cy="731520"/>
          </a:xfrm>
        </p:grpSpPr>
        <p:sp>
          <p:nvSpPr>
            <p:cNvPr name="Freeform 102" id="102"/>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txBody>
            <a:bodyPr/>
            <a:p/>
          </p:txBody>
        </p:sp>
      </p:grpSp>
      <p:grpSp>
        <p:nvGrpSpPr>
          <p:cNvPr name="Group 103" id="103"/>
          <p:cNvGrpSpPr/>
          <p:nvPr/>
        </p:nvGrpSpPr>
        <p:grpSpPr>
          <a:xfrm rot="0">
            <a:off x="7776972" y="6699409"/>
            <a:ext cx="2743200" cy="570071"/>
            <a:chOff x="0" y="0"/>
            <a:chExt cx="3657600" cy="760095"/>
          </a:xfrm>
        </p:grpSpPr>
        <p:sp>
          <p:nvSpPr>
            <p:cNvPr name="Freeform 104" id="104"/>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697" r="0" b="-43697"/>
              </a:stretch>
            </a:blipFill>
          </p:spPr>
          <p:txBody>
            <a:bodyPr/>
            <a:p/>
          </p:txBody>
        </p:sp>
      </p:grpSp>
      <p:grpSp>
        <p:nvGrpSpPr>
          <p:cNvPr name="Group 105" id="105"/>
          <p:cNvGrpSpPr/>
          <p:nvPr/>
        </p:nvGrpSpPr>
        <p:grpSpPr>
          <a:xfrm rot="0">
            <a:off x="7776972" y="6677978"/>
            <a:ext cx="2743200" cy="591502"/>
            <a:chOff x="0" y="0"/>
            <a:chExt cx="3657600" cy="788670"/>
          </a:xfrm>
        </p:grpSpPr>
        <p:sp>
          <p:nvSpPr>
            <p:cNvPr name="Freeform 106" id="106"/>
            <p:cNvSpPr/>
            <p:nvPr/>
          </p:nvSpPr>
          <p:spPr>
            <a:xfrm flipH="false" flipV="false" rot="0">
              <a:off x="0" y="0"/>
              <a:ext cx="3657600" cy="788670"/>
            </a:xfrm>
            <a:custGeom>
              <a:avLst/>
              <a:gdLst/>
              <a:ahLst/>
              <a:cxnLst/>
              <a:rect r="r" b="b" t="t" l="l"/>
              <a:pathLst>
                <a:path h="788670" w="3657600">
                  <a:moveTo>
                    <a:pt x="0" y="0"/>
                  </a:moveTo>
                  <a:lnTo>
                    <a:pt x="3657600" y="0"/>
                  </a:lnTo>
                  <a:lnTo>
                    <a:pt x="3657600" y="788670"/>
                  </a:lnTo>
                  <a:lnTo>
                    <a:pt x="0" y="788670"/>
                  </a:lnTo>
                  <a:close/>
                </a:path>
              </a:pathLst>
            </a:custGeom>
            <a:blipFill>
              <a:blip r:embed="rId6">
                <a:alphaModFix amt="0"/>
              </a:blip>
              <a:stretch>
                <a:fillRect l="0" t="-40365" r="0" b="-40365"/>
              </a:stretch>
            </a:blipFill>
          </p:spPr>
          <p:txBody>
            <a:bodyPr/>
            <a:p/>
          </p:txBody>
        </p:sp>
        <p:sp>
          <p:nvSpPr>
            <p:cNvPr name="TextBox 107" id="107"/>
            <p:cNvSpPr txBox="true"/>
            <p:nvPr/>
          </p:nvSpPr>
          <p:spPr>
            <a:xfrm>
              <a:off x="0" y="-28575"/>
              <a:ext cx="3657600" cy="817245"/>
            </a:xfrm>
            <a:prstGeom prst="rect">
              <a:avLst/>
            </a:prstGeom>
          </p:spPr>
          <p:txBody>
            <a:bodyPr anchor="ctr" rtlCol="false" tIns="0" lIns="0" bIns="0" rIns="0"/>
            <a:lstStyle/>
            <a:p>
              <a:pPr algn="ctr">
                <a:lnSpc>
                  <a:spcPts val="1980"/>
                </a:lnSpc>
              </a:pPr>
              <a:r>
                <a:rPr lang="en-US" sz="1650" b="true">
                  <a:solidFill>
                    <a:srgbClr val="14313B"/>
                  </a:solidFill>
                  <a:latin typeface="Calibri (MS) Bold"/>
                  <a:ea typeface="Calibri (MS) Bold"/>
                  <a:cs typeface="Calibri (MS) Bold"/>
                  <a:sym typeface="Calibri (MS) Bold"/>
                </a:rPr>
                <a:t>Sementara diadopsi</a:t>
              </a:r>
            </a:p>
          </p:txBody>
        </p:sp>
      </p:grpSp>
      <p:grpSp>
        <p:nvGrpSpPr>
          <p:cNvPr name="Group 108" id="108"/>
          <p:cNvGrpSpPr/>
          <p:nvPr/>
        </p:nvGrpSpPr>
        <p:grpSpPr>
          <a:xfrm rot="0">
            <a:off x="10945368" y="2400300"/>
            <a:ext cx="3154680" cy="5143500"/>
            <a:chOff x="0" y="0"/>
            <a:chExt cx="4206240" cy="6858000"/>
          </a:xfrm>
        </p:grpSpPr>
        <p:sp>
          <p:nvSpPr>
            <p:cNvPr name="Freeform 109" id="109"/>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txBody>
            <a:bodyPr/>
            <a:p/>
          </p:txBody>
        </p:sp>
      </p:grpSp>
      <p:sp>
        <p:nvSpPr>
          <p:cNvPr name="TextBox 110" id="110"/>
          <p:cNvSpPr txBox="true"/>
          <p:nvPr/>
        </p:nvSpPr>
        <p:spPr>
          <a:xfrm rot="0">
            <a:off x="11219688" y="2576322"/>
            <a:ext cx="2606040" cy="40005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3</a:t>
            </a:r>
          </a:p>
        </p:txBody>
      </p:sp>
      <p:sp>
        <p:nvSpPr>
          <p:cNvPr name="TextBox 111" id="111"/>
          <p:cNvSpPr txBox="true"/>
          <p:nvPr/>
        </p:nvSpPr>
        <p:spPr>
          <a:xfrm rot="0">
            <a:off x="11219688" y="2846070"/>
            <a:ext cx="2606040" cy="113157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Subsistem wisatawan</a:t>
            </a:r>
          </a:p>
        </p:txBody>
      </p:sp>
      <p:sp>
        <p:nvSpPr>
          <p:cNvPr name="TextBox 112" id="112"/>
          <p:cNvSpPr txBox="true"/>
          <p:nvPr/>
        </p:nvSpPr>
        <p:spPr>
          <a:xfrm rot="0">
            <a:off x="11219688" y="3931920"/>
            <a:ext cx="2606040" cy="26517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LPE dan LPD tidak bisa ditentukan terpisah; data hanya menentukan selisih bersihnya → hanya untuk pemeriksaan</a:t>
            </a:r>
          </a:p>
        </p:txBody>
      </p:sp>
      <p:grpSp>
        <p:nvGrpSpPr>
          <p:cNvPr name="Group 113" id="113"/>
          <p:cNvGrpSpPr/>
          <p:nvPr/>
        </p:nvGrpSpPr>
        <p:grpSpPr>
          <a:xfrm rot="0">
            <a:off x="11151108" y="6720840"/>
            <a:ext cx="2743200" cy="548640"/>
            <a:chOff x="0" y="0"/>
            <a:chExt cx="3657600" cy="731520"/>
          </a:xfrm>
        </p:grpSpPr>
        <p:sp>
          <p:nvSpPr>
            <p:cNvPr name="Freeform 114" id="114"/>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EAF8FA"/>
            </a:solidFill>
          </p:spPr>
          <p:txBody>
            <a:bodyPr/>
            <a:p/>
          </p:txBody>
        </p:sp>
      </p:grpSp>
      <p:grpSp>
        <p:nvGrpSpPr>
          <p:cNvPr name="Group 115" id="115"/>
          <p:cNvGrpSpPr/>
          <p:nvPr/>
        </p:nvGrpSpPr>
        <p:grpSpPr>
          <a:xfrm rot="0">
            <a:off x="11151108" y="6720840"/>
            <a:ext cx="2743200" cy="548640"/>
            <a:chOff x="0" y="0"/>
            <a:chExt cx="3657600" cy="731520"/>
          </a:xfrm>
        </p:grpSpPr>
        <p:sp>
          <p:nvSpPr>
            <p:cNvPr name="Freeform 116" id="116"/>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txBody>
            <a:bodyPr/>
            <a:p/>
          </p:txBody>
        </p:sp>
      </p:grpSp>
      <p:grpSp>
        <p:nvGrpSpPr>
          <p:cNvPr name="Group 117" id="117"/>
          <p:cNvGrpSpPr/>
          <p:nvPr/>
        </p:nvGrpSpPr>
        <p:grpSpPr>
          <a:xfrm rot="0">
            <a:off x="11151108" y="6699409"/>
            <a:ext cx="2743200" cy="570071"/>
            <a:chOff x="0" y="0"/>
            <a:chExt cx="3657600" cy="760095"/>
          </a:xfrm>
        </p:grpSpPr>
        <p:sp>
          <p:nvSpPr>
            <p:cNvPr name="Freeform 118" id="118"/>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697" r="0" b="-43697"/>
              </a:stretch>
            </a:blipFill>
          </p:spPr>
          <p:txBody>
            <a:bodyPr/>
            <a:p/>
          </p:txBody>
        </p:sp>
      </p:grpSp>
      <p:grpSp>
        <p:nvGrpSpPr>
          <p:cNvPr name="Group 119" id="119"/>
          <p:cNvGrpSpPr/>
          <p:nvPr/>
        </p:nvGrpSpPr>
        <p:grpSpPr>
          <a:xfrm rot="0">
            <a:off x="11151108" y="6677978"/>
            <a:ext cx="2743200" cy="591502"/>
            <a:chOff x="0" y="0"/>
            <a:chExt cx="3657600" cy="788670"/>
          </a:xfrm>
        </p:grpSpPr>
        <p:sp>
          <p:nvSpPr>
            <p:cNvPr name="Freeform 120" id="120"/>
            <p:cNvSpPr/>
            <p:nvPr/>
          </p:nvSpPr>
          <p:spPr>
            <a:xfrm flipH="false" flipV="false" rot="0">
              <a:off x="0" y="0"/>
              <a:ext cx="3657600" cy="788670"/>
            </a:xfrm>
            <a:custGeom>
              <a:avLst/>
              <a:gdLst/>
              <a:ahLst/>
              <a:cxnLst/>
              <a:rect r="r" b="b" t="t" l="l"/>
              <a:pathLst>
                <a:path h="788670" w="3657600">
                  <a:moveTo>
                    <a:pt x="0" y="0"/>
                  </a:moveTo>
                  <a:lnTo>
                    <a:pt x="3657600" y="0"/>
                  </a:lnTo>
                  <a:lnTo>
                    <a:pt x="3657600" y="788670"/>
                  </a:lnTo>
                  <a:lnTo>
                    <a:pt x="0" y="788670"/>
                  </a:lnTo>
                  <a:close/>
                </a:path>
              </a:pathLst>
            </a:custGeom>
            <a:blipFill>
              <a:blip r:embed="rId6">
                <a:alphaModFix amt="0"/>
              </a:blip>
              <a:stretch>
                <a:fillRect l="0" t="-40365" r="0" b="-40365"/>
              </a:stretch>
            </a:blipFill>
          </p:spPr>
          <p:txBody>
            <a:bodyPr/>
            <a:p/>
          </p:txBody>
        </p:sp>
        <p:sp>
          <p:nvSpPr>
            <p:cNvPr name="TextBox 121" id="121"/>
            <p:cNvSpPr txBox="true"/>
            <p:nvPr/>
          </p:nvSpPr>
          <p:spPr>
            <a:xfrm>
              <a:off x="0" y="-28575"/>
              <a:ext cx="3657600" cy="817245"/>
            </a:xfrm>
            <a:prstGeom prst="rect">
              <a:avLst/>
            </a:prstGeom>
          </p:spPr>
          <p:txBody>
            <a:bodyPr anchor="ctr" rtlCol="false" tIns="0" lIns="0" bIns="0" rIns="0"/>
            <a:lstStyle/>
            <a:p>
              <a:pPr algn="ctr">
                <a:lnSpc>
                  <a:spcPts val="1980"/>
                </a:lnSpc>
              </a:pPr>
              <a:r>
                <a:rPr lang="en-US" sz="1650" b="true">
                  <a:solidFill>
                    <a:srgbClr val="0B5E6E"/>
                  </a:solidFill>
                  <a:latin typeface="Calibri (MS) Bold"/>
                  <a:ea typeface="Calibri (MS) Bold"/>
                  <a:cs typeface="Calibri (MS) Bold"/>
                  <a:sym typeface="Calibri (MS) Bold"/>
                </a:rPr>
                <a:t>Dipertahankan</a:t>
              </a:r>
            </a:p>
          </p:txBody>
        </p:sp>
      </p:grpSp>
      <p:grpSp>
        <p:nvGrpSpPr>
          <p:cNvPr name="Group 122" id="122"/>
          <p:cNvGrpSpPr/>
          <p:nvPr/>
        </p:nvGrpSpPr>
        <p:grpSpPr>
          <a:xfrm rot="0">
            <a:off x="14319504" y="2400300"/>
            <a:ext cx="3154680" cy="5143500"/>
            <a:chOff x="0" y="0"/>
            <a:chExt cx="4206240" cy="6858000"/>
          </a:xfrm>
        </p:grpSpPr>
        <p:sp>
          <p:nvSpPr>
            <p:cNvPr name="Freeform 123" id="123"/>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txBody>
            <a:bodyPr/>
            <a:p/>
          </p:txBody>
        </p:sp>
      </p:grpSp>
      <p:sp>
        <p:nvSpPr>
          <p:cNvPr name="TextBox 124" id="124"/>
          <p:cNvSpPr txBox="true"/>
          <p:nvPr/>
        </p:nvSpPr>
        <p:spPr>
          <a:xfrm rot="0">
            <a:off x="14593824" y="2576322"/>
            <a:ext cx="2606040" cy="40005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4</a:t>
            </a:r>
          </a:p>
        </p:txBody>
      </p:sp>
      <p:sp>
        <p:nvSpPr>
          <p:cNvPr name="TextBox 125" id="125"/>
          <p:cNvSpPr txBox="true"/>
          <p:nvPr/>
        </p:nvSpPr>
        <p:spPr>
          <a:xfrm rot="0">
            <a:off x="14593824" y="2846070"/>
            <a:ext cx="2606040" cy="113157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Uji kompatibilitas</a:t>
            </a:r>
          </a:p>
        </p:txBody>
      </p:sp>
      <p:sp>
        <p:nvSpPr>
          <p:cNvPr name="TextBox 126" id="126"/>
          <p:cNvSpPr txBox="true"/>
          <p:nvPr/>
        </p:nvSpPr>
        <p:spPr>
          <a:xfrm rot="0">
            <a:off x="14593824" y="3931920"/>
            <a:ext cx="2606040" cy="26517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Hasil Tahap 2 memburuk pada model penuh (rasio 1,32 &gt; 1,05) → kembali ke 0,0436052</a:t>
            </a:r>
          </a:p>
        </p:txBody>
      </p:sp>
      <p:grpSp>
        <p:nvGrpSpPr>
          <p:cNvPr name="Group 127" id="127"/>
          <p:cNvGrpSpPr/>
          <p:nvPr/>
        </p:nvGrpSpPr>
        <p:grpSpPr>
          <a:xfrm rot="0">
            <a:off x="14525244" y="6720840"/>
            <a:ext cx="2743200" cy="548640"/>
            <a:chOff x="0" y="0"/>
            <a:chExt cx="3657600" cy="731520"/>
          </a:xfrm>
        </p:grpSpPr>
        <p:sp>
          <p:nvSpPr>
            <p:cNvPr name="Freeform 128" id="128"/>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E4604F"/>
            </a:solidFill>
          </p:spPr>
          <p:txBody>
            <a:bodyPr/>
            <a:p/>
          </p:txBody>
        </p:sp>
      </p:grpSp>
      <p:grpSp>
        <p:nvGrpSpPr>
          <p:cNvPr name="Group 129" id="129"/>
          <p:cNvGrpSpPr/>
          <p:nvPr/>
        </p:nvGrpSpPr>
        <p:grpSpPr>
          <a:xfrm rot="0">
            <a:off x="14525244" y="6720840"/>
            <a:ext cx="2743200" cy="548640"/>
            <a:chOff x="0" y="0"/>
            <a:chExt cx="3657600" cy="731520"/>
          </a:xfrm>
        </p:grpSpPr>
        <p:sp>
          <p:nvSpPr>
            <p:cNvPr name="Freeform 130" id="130"/>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txBody>
            <a:bodyPr/>
            <a:p/>
          </p:txBody>
        </p:sp>
      </p:grpSp>
      <p:grpSp>
        <p:nvGrpSpPr>
          <p:cNvPr name="Group 131" id="131"/>
          <p:cNvGrpSpPr/>
          <p:nvPr/>
        </p:nvGrpSpPr>
        <p:grpSpPr>
          <a:xfrm rot="0">
            <a:off x="14525244" y="6699409"/>
            <a:ext cx="2743200" cy="570071"/>
            <a:chOff x="0" y="0"/>
            <a:chExt cx="3657600" cy="760095"/>
          </a:xfrm>
        </p:grpSpPr>
        <p:sp>
          <p:nvSpPr>
            <p:cNvPr name="Freeform 132" id="132"/>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697" r="0" b="-43697"/>
              </a:stretch>
            </a:blipFill>
          </p:spPr>
          <p:txBody>
            <a:bodyPr/>
            <a:p/>
          </p:txBody>
        </p:sp>
      </p:grpSp>
      <p:grpSp>
        <p:nvGrpSpPr>
          <p:cNvPr name="Group 133" id="133"/>
          <p:cNvGrpSpPr/>
          <p:nvPr/>
        </p:nvGrpSpPr>
        <p:grpSpPr>
          <a:xfrm rot="0">
            <a:off x="14525244" y="6677978"/>
            <a:ext cx="2743200" cy="591502"/>
            <a:chOff x="0" y="0"/>
            <a:chExt cx="3657600" cy="788670"/>
          </a:xfrm>
        </p:grpSpPr>
        <p:sp>
          <p:nvSpPr>
            <p:cNvPr name="Freeform 134" id="134"/>
            <p:cNvSpPr/>
            <p:nvPr/>
          </p:nvSpPr>
          <p:spPr>
            <a:xfrm flipH="false" flipV="false" rot="0">
              <a:off x="0" y="0"/>
              <a:ext cx="3657600" cy="788670"/>
            </a:xfrm>
            <a:custGeom>
              <a:avLst/>
              <a:gdLst/>
              <a:ahLst/>
              <a:cxnLst/>
              <a:rect r="r" b="b" t="t" l="l"/>
              <a:pathLst>
                <a:path h="788670" w="3657600">
                  <a:moveTo>
                    <a:pt x="0" y="0"/>
                  </a:moveTo>
                  <a:lnTo>
                    <a:pt x="3657600" y="0"/>
                  </a:lnTo>
                  <a:lnTo>
                    <a:pt x="3657600" y="788670"/>
                  </a:lnTo>
                  <a:lnTo>
                    <a:pt x="0" y="788670"/>
                  </a:lnTo>
                  <a:close/>
                </a:path>
              </a:pathLst>
            </a:custGeom>
            <a:blipFill>
              <a:blip r:embed="rId6">
                <a:alphaModFix amt="0"/>
              </a:blip>
              <a:stretch>
                <a:fillRect l="0" t="-40365" r="0" b="-40365"/>
              </a:stretch>
            </a:blipFill>
          </p:spPr>
          <p:txBody>
            <a:bodyPr/>
            <a:p/>
          </p:txBody>
        </p:sp>
        <p:sp>
          <p:nvSpPr>
            <p:cNvPr name="TextBox 135" id="135"/>
            <p:cNvSpPr txBox="true"/>
            <p:nvPr/>
          </p:nvSpPr>
          <p:spPr>
            <a:xfrm>
              <a:off x="0" y="-28575"/>
              <a:ext cx="3657600" cy="817245"/>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Ditolak</a:t>
              </a:r>
            </a:p>
          </p:txBody>
        </p:sp>
      </p:grpSp>
      <p:grpSp>
        <p:nvGrpSpPr>
          <p:cNvPr name="Group 136" id="136"/>
          <p:cNvGrpSpPr/>
          <p:nvPr/>
        </p:nvGrpSpPr>
        <p:grpSpPr>
          <a:xfrm rot="0">
            <a:off x="822960" y="7886700"/>
            <a:ext cx="16637508" cy="1371600"/>
            <a:chOff x="0" y="0"/>
            <a:chExt cx="22183344" cy="1828800"/>
          </a:xfrm>
        </p:grpSpPr>
        <p:sp>
          <p:nvSpPr>
            <p:cNvPr name="Freeform 137" id="137"/>
            <p:cNvSpPr/>
            <p:nvPr/>
          </p:nvSpPr>
          <p:spPr>
            <a:xfrm flipH="false" flipV="false" rot="0">
              <a:off x="0" y="0"/>
              <a:ext cx="22183344" cy="1828800"/>
            </a:xfrm>
            <a:custGeom>
              <a:avLst/>
              <a:gdLst/>
              <a:ahLst/>
              <a:cxnLst/>
              <a:rect r="r" b="b" t="t" l="l"/>
              <a:pathLst>
                <a:path h="1828800" w="22183344">
                  <a:moveTo>
                    <a:pt x="0" y="182880"/>
                  </a:moveTo>
                  <a:cubicBezTo>
                    <a:pt x="0" y="81915"/>
                    <a:pt x="81915" y="0"/>
                    <a:pt x="182880" y="0"/>
                  </a:cubicBezTo>
                  <a:lnTo>
                    <a:pt x="22000463" y="0"/>
                  </a:lnTo>
                  <a:cubicBezTo>
                    <a:pt x="22101428" y="0"/>
                    <a:pt x="22183344" y="81915"/>
                    <a:pt x="22183344" y="182880"/>
                  </a:cubicBezTo>
                  <a:lnTo>
                    <a:pt x="22183344" y="1645920"/>
                  </a:lnTo>
                  <a:cubicBezTo>
                    <a:pt x="22183344" y="1746885"/>
                    <a:pt x="22101428" y="1828800"/>
                    <a:pt x="22000463" y="1828800"/>
                  </a:cubicBezTo>
                  <a:lnTo>
                    <a:pt x="182880" y="1828800"/>
                  </a:lnTo>
                  <a:cubicBezTo>
                    <a:pt x="81915" y="1828800"/>
                    <a:pt x="0" y="1746885"/>
                    <a:pt x="0" y="1645920"/>
                  </a:cubicBezTo>
                  <a:close/>
                </a:path>
              </a:pathLst>
            </a:custGeom>
            <a:solidFill>
              <a:srgbClr val="0B5E6E"/>
            </a:solidFill>
          </p:spPr>
          <p:txBody>
            <a:bodyPr/>
            <a:p/>
          </p:txBody>
        </p:sp>
      </p:grpSp>
      <p:grpSp>
        <p:nvGrpSpPr>
          <p:cNvPr name="Group 138" id="138"/>
          <p:cNvGrpSpPr/>
          <p:nvPr/>
        </p:nvGrpSpPr>
        <p:grpSpPr>
          <a:xfrm rot="0">
            <a:off x="1234440" y="7886700"/>
            <a:ext cx="8503920" cy="1371600"/>
            <a:chOff x="0" y="0"/>
            <a:chExt cx="11338560" cy="1828800"/>
          </a:xfrm>
        </p:grpSpPr>
        <p:sp>
          <p:nvSpPr>
            <p:cNvPr name="Freeform 139" id="139"/>
            <p:cNvSpPr/>
            <p:nvPr/>
          </p:nvSpPr>
          <p:spPr>
            <a:xfrm flipH="false" flipV="false" rot="0">
              <a:off x="0" y="0"/>
              <a:ext cx="11338560" cy="1828800"/>
            </a:xfrm>
            <a:custGeom>
              <a:avLst/>
              <a:gdLst/>
              <a:ahLst/>
              <a:cxnLst/>
              <a:rect r="r" b="b" t="t" l="l"/>
              <a:pathLst>
                <a:path h="1828800" w="11338560">
                  <a:moveTo>
                    <a:pt x="0" y="0"/>
                  </a:moveTo>
                  <a:lnTo>
                    <a:pt x="11338560" y="0"/>
                  </a:lnTo>
                  <a:lnTo>
                    <a:pt x="11338560" y="1828800"/>
                  </a:lnTo>
                  <a:lnTo>
                    <a:pt x="0" y="1828800"/>
                  </a:lnTo>
                  <a:close/>
                </a:path>
              </a:pathLst>
            </a:custGeom>
            <a:blipFill>
              <a:blip r:embed="rId4">
                <a:alphaModFix amt="0"/>
              </a:blip>
              <a:stretch>
                <a:fillRect l="0" t="-70722" r="0" b="-70723"/>
              </a:stretch>
            </a:blipFill>
          </p:spPr>
          <p:txBody>
            <a:bodyPr/>
            <a:p/>
          </p:txBody>
        </p:sp>
      </p:grpSp>
      <p:grpSp>
        <p:nvGrpSpPr>
          <p:cNvPr name="Group 140" id="140"/>
          <p:cNvGrpSpPr/>
          <p:nvPr/>
        </p:nvGrpSpPr>
        <p:grpSpPr>
          <a:xfrm rot="0">
            <a:off x="1234440" y="7850981"/>
            <a:ext cx="8503920" cy="1407319"/>
            <a:chOff x="0" y="0"/>
            <a:chExt cx="11338560" cy="1876425"/>
          </a:xfrm>
        </p:grpSpPr>
        <p:sp>
          <p:nvSpPr>
            <p:cNvPr name="Freeform 141" id="141"/>
            <p:cNvSpPr/>
            <p:nvPr/>
          </p:nvSpPr>
          <p:spPr>
            <a:xfrm flipH="false" flipV="false" rot="0">
              <a:off x="0" y="0"/>
              <a:ext cx="11338560" cy="1876425"/>
            </a:xfrm>
            <a:custGeom>
              <a:avLst/>
              <a:gdLst/>
              <a:ahLst/>
              <a:cxnLst/>
              <a:rect r="r" b="b" t="t" l="l"/>
              <a:pathLst>
                <a:path h="1876425" w="11338560">
                  <a:moveTo>
                    <a:pt x="0" y="0"/>
                  </a:moveTo>
                  <a:lnTo>
                    <a:pt x="11338560" y="0"/>
                  </a:lnTo>
                  <a:lnTo>
                    <a:pt x="11338560" y="1876425"/>
                  </a:lnTo>
                  <a:lnTo>
                    <a:pt x="0" y="1876425"/>
                  </a:lnTo>
                  <a:close/>
                </a:path>
              </a:pathLst>
            </a:custGeom>
            <a:blipFill>
              <a:blip r:embed="rId5">
                <a:alphaModFix amt="0"/>
              </a:blip>
              <a:stretch>
                <a:fillRect l="0" t="-67658" r="0" b="-67659"/>
              </a:stretch>
            </a:blipFill>
          </p:spPr>
          <p:txBody>
            <a:bodyPr/>
            <a:p/>
          </p:txBody>
        </p:sp>
      </p:grpSp>
      <p:grpSp>
        <p:nvGrpSpPr>
          <p:cNvPr name="Group 142" id="142"/>
          <p:cNvGrpSpPr/>
          <p:nvPr/>
        </p:nvGrpSpPr>
        <p:grpSpPr>
          <a:xfrm rot="0">
            <a:off x="1234440" y="7815262"/>
            <a:ext cx="8503920" cy="1443038"/>
            <a:chOff x="0" y="0"/>
            <a:chExt cx="11338560" cy="1924050"/>
          </a:xfrm>
        </p:grpSpPr>
        <p:sp>
          <p:nvSpPr>
            <p:cNvPr name="Freeform 143" id="143"/>
            <p:cNvSpPr/>
            <p:nvPr/>
          </p:nvSpPr>
          <p:spPr>
            <a:xfrm flipH="false" flipV="false" rot="0">
              <a:off x="0" y="0"/>
              <a:ext cx="11338560" cy="1924050"/>
            </a:xfrm>
            <a:custGeom>
              <a:avLst/>
              <a:gdLst/>
              <a:ahLst/>
              <a:cxnLst/>
              <a:rect r="r" b="b" t="t" l="l"/>
              <a:pathLst>
                <a:path h="1924050" w="11338560">
                  <a:moveTo>
                    <a:pt x="0" y="0"/>
                  </a:moveTo>
                  <a:lnTo>
                    <a:pt x="11338560" y="0"/>
                  </a:lnTo>
                  <a:lnTo>
                    <a:pt x="11338560" y="1924050"/>
                  </a:lnTo>
                  <a:lnTo>
                    <a:pt x="0" y="1924050"/>
                  </a:lnTo>
                  <a:close/>
                </a:path>
              </a:pathLst>
            </a:custGeom>
            <a:blipFill>
              <a:blip r:embed="rId6">
                <a:alphaModFix amt="0"/>
              </a:blip>
              <a:stretch>
                <a:fillRect l="0" t="-64826" r="0" b="-64826"/>
              </a:stretch>
            </a:blipFill>
          </p:spPr>
          <p:txBody>
            <a:bodyPr/>
            <a:p/>
          </p:txBody>
        </p:sp>
        <p:sp>
          <p:nvSpPr>
            <p:cNvPr name="TextBox 144" id="144"/>
            <p:cNvSpPr txBox="true"/>
            <p:nvPr/>
          </p:nvSpPr>
          <p:spPr>
            <a:xfrm>
              <a:off x="0" y="-47625"/>
              <a:ext cx="11338560" cy="1971675"/>
            </a:xfrm>
            <a:prstGeom prst="rect">
              <a:avLst/>
            </a:prstGeom>
          </p:spPr>
          <p:txBody>
            <a:bodyPr anchor="ctr" rtlCol="false" tIns="0" lIns="0" bIns="0" rIns="0"/>
            <a:lstStyle/>
            <a:p>
              <a:pPr algn="l">
                <a:lnSpc>
                  <a:spcPts val="3060"/>
                </a:lnSpc>
              </a:pPr>
              <a:r>
                <a:rPr lang="en-US" sz="2550" b="true">
                  <a:solidFill>
                    <a:srgbClr val="FFD23B"/>
                  </a:solidFill>
                  <a:latin typeface="Calibri (MS) Bold"/>
                  <a:ea typeface="Calibri (MS) Bold"/>
                  <a:cs typeface="Calibri (MS) Bold"/>
                  <a:sym typeface="Calibri (MS) Bold"/>
                </a:rPr>
                <a:t>3 parameter diuji (batas TPK, laju demolisi, laju konversi) → 0 berubah</a:t>
              </a:r>
            </a:p>
          </p:txBody>
        </p:sp>
      </p:grpSp>
      <p:grpSp>
        <p:nvGrpSpPr>
          <p:cNvPr name="Group 145" id="145"/>
          <p:cNvGrpSpPr/>
          <p:nvPr/>
        </p:nvGrpSpPr>
        <p:grpSpPr>
          <a:xfrm rot="0">
            <a:off x="10012680" y="7886700"/>
            <a:ext cx="7132320" cy="1371600"/>
            <a:chOff x="0" y="0"/>
            <a:chExt cx="9509760" cy="1828800"/>
          </a:xfrm>
        </p:grpSpPr>
        <p:sp>
          <p:nvSpPr>
            <p:cNvPr name="Freeform 146" id="146"/>
            <p:cNvSpPr/>
            <p:nvPr/>
          </p:nvSpPr>
          <p:spPr>
            <a:xfrm flipH="false" flipV="false" rot="0">
              <a:off x="0" y="0"/>
              <a:ext cx="9509760" cy="1828800"/>
            </a:xfrm>
            <a:custGeom>
              <a:avLst/>
              <a:gdLst/>
              <a:ahLst/>
              <a:cxnLst/>
              <a:rect r="r" b="b" t="t" l="l"/>
              <a:pathLst>
                <a:path h="1828800" w="9509760">
                  <a:moveTo>
                    <a:pt x="0" y="0"/>
                  </a:moveTo>
                  <a:lnTo>
                    <a:pt x="9509760" y="0"/>
                  </a:lnTo>
                  <a:lnTo>
                    <a:pt x="9509760" y="1828800"/>
                  </a:lnTo>
                  <a:lnTo>
                    <a:pt x="0" y="1828800"/>
                  </a:lnTo>
                  <a:close/>
                </a:path>
              </a:pathLst>
            </a:custGeom>
            <a:blipFill>
              <a:blip r:embed="rId4">
                <a:alphaModFix amt="0"/>
              </a:blip>
              <a:stretch>
                <a:fillRect l="0" t="-51252" r="0" b="-51251"/>
              </a:stretch>
            </a:blipFill>
          </p:spPr>
          <p:txBody>
            <a:bodyPr/>
            <a:p/>
          </p:txBody>
        </p:sp>
      </p:grpSp>
      <p:grpSp>
        <p:nvGrpSpPr>
          <p:cNvPr name="Group 147" id="147"/>
          <p:cNvGrpSpPr/>
          <p:nvPr/>
        </p:nvGrpSpPr>
        <p:grpSpPr>
          <a:xfrm rot="0">
            <a:off x="10012680" y="7858125"/>
            <a:ext cx="7132320" cy="1400175"/>
            <a:chOff x="0" y="0"/>
            <a:chExt cx="9509760" cy="1866900"/>
          </a:xfrm>
        </p:grpSpPr>
        <p:sp>
          <p:nvSpPr>
            <p:cNvPr name="Freeform 148" id="148"/>
            <p:cNvSpPr/>
            <p:nvPr/>
          </p:nvSpPr>
          <p:spPr>
            <a:xfrm flipH="false" flipV="false" rot="0">
              <a:off x="0" y="0"/>
              <a:ext cx="9509760" cy="1866900"/>
            </a:xfrm>
            <a:custGeom>
              <a:avLst/>
              <a:gdLst/>
              <a:ahLst/>
              <a:cxnLst/>
              <a:rect r="r" b="b" t="t" l="l"/>
              <a:pathLst>
                <a:path h="1866900" w="9509760">
                  <a:moveTo>
                    <a:pt x="0" y="0"/>
                  </a:moveTo>
                  <a:lnTo>
                    <a:pt x="9509760" y="0"/>
                  </a:lnTo>
                  <a:lnTo>
                    <a:pt x="9509760" y="1866900"/>
                  </a:lnTo>
                  <a:lnTo>
                    <a:pt x="0" y="1866900"/>
                  </a:lnTo>
                  <a:close/>
                </a:path>
              </a:pathLst>
            </a:custGeom>
            <a:blipFill>
              <a:blip r:embed="rId5">
                <a:alphaModFix amt="0"/>
              </a:blip>
              <a:stretch>
                <a:fillRect l="0" t="-49185" r="0" b="-49185"/>
              </a:stretch>
            </a:blipFill>
          </p:spPr>
          <p:txBody>
            <a:bodyPr/>
            <a:p/>
          </p:txBody>
        </p:sp>
      </p:grpSp>
      <p:grpSp>
        <p:nvGrpSpPr>
          <p:cNvPr name="Group 149" id="149"/>
          <p:cNvGrpSpPr/>
          <p:nvPr/>
        </p:nvGrpSpPr>
        <p:grpSpPr>
          <a:xfrm rot="0">
            <a:off x="10012680" y="7829550"/>
            <a:ext cx="7132320" cy="1428750"/>
            <a:chOff x="0" y="0"/>
            <a:chExt cx="9509760" cy="1905000"/>
          </a:xfrm>
        </p:grpSpPr>
        <p:sp>
          <p:nvSpPr>
            <p:cNvPr name="Freeform 150" id="150"/>
            <p:cNvSpPr/>
            <p:nvPr/>
          </p:nvSpPr>
          <p:spPr>
            <a:xfrm flipH="false" flipV="false" rot="0">
              <a:off x="0" y="0"/>
              <a:ext cx="9509760" cy="1905000"/>
            </a:xfrm>
            <a:custGeom>
              <a:avLst/>
              <a:gdLst/>
              <a:ahLst/>
              <a:cxnLst/>
              <a:rect r="r" b="b" t="t" l="l"/>
              <a:pathLst>
                <a:path h="1905000" w="9509760">
                  <a:moveTo>
                    <a:pt x="0" y="0"/>
                  </a:moveTo>
                  <a:lnTo>
                    <a:pt x="9509760" y="0"/>
                  </a:lnTo>
                  <a:lnTo>
                    <a:pt x="9509760" y="1905000"/>
                  </a:lnTo>
                  <a:lnTo>
                    <a:pt x="0" y="1905000"/>
                  </a:lnTo>
                  <a:close/>
                </a:path>
              </a:pathLst>
            </a:custGeom>
            <a:blipFill>
              <a:blip r:embed="rId6">
                <a:alphaModFix amt="0"/>
              </a:blip>
              <a:stretch>
                <a:fillRect l="0" t="-47269" r="0" b="-47269"/>
              </a:stretch>
            </a:blipFill>
          </p:spPr>
          <p:txBody>
            <a:bodyPr/>
            <a:p/>
          </p:txBody>
        </p:sp>
        <p:sp>
          <p:nvSpPr>
            <p:cNvPr name="TextBox 151" id="151"/>
            <p:cNvSpPr txBox="true"/>
            <p:nvPr/>
          </p:nvSpPr>
          <p:spPr>
            <a:xfrm>
              <a:off x="0" y="-38100"/>
              <a:ext cx="9509760" cy="1943100"/>
            </a:xfrm>
            <a:prstGeom prst="rect">
              <a:avLst/>
            </a:prstGeom>
          </p:spPr>
          <p:txBody>
            <a:bodyPr anchor="ctr" rtlCol="false" tIns="0" lIns="0" bIns="0" rIns="0"/>
            <a:lstStyle/>
            <a:p>
              <a:pPr algn="l">
                <a:lnSpc>
                  <a:spcPts val="2250"/>
                </a:lnSpc>
              </a:pPr>
              <a:r>
                <a:rPr lang="en-US" sz="1875">
                  <a:solidFill>
                    <a:srgbClr val="FFFFFF"/>
                  </a:solidFill>
                  <a:latin typeface="Calibri (MS)"/>
                  <a:ea typeface="Calibri (MS)"/>
                  <a:cs typeface="Calibri (MS)"/>
                  <a:sym typeface="Calibri (MS)"/>
                </a:rPr>
                <a:t>Nilai yang dihitung dari data sudah dapat dipertanggungjawabkan: kalibrasi berfungsi sebagai alat validasi, bukan untuk mengubah nilai (Oliva, 2003).</a:t>
              </a:r>
            </a:p>
          </p:txBody>
        </p:sp>
      </p:grpSp>
      <p:sp>
        <p:nvSpPr>
          <p:cNvPr name="TextBox 152" id="152"/>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51</a:t>
            </a:r>
          </a:p>
        </p:txBody>
      </p:sp>
      <p:grpSp>
        <p:nvGrpSpPr>
          <p:cNvPr name="Group 153" id="153"/>
          <p:cNvGrpSpPr/>
          <p:nvPr/>
        </p:nvGrpSpPr>
        <p:grpSpPr>
          <a:xfrm rot="0">
            <a:off x="12755880" y="274320"/>
            <a:ext cx="3931920" cy="411480"/>
            <a:chOff x="0" y="0"/>
            <a:chExt cx="5242560" cy="548640"/>
          </a:xfrm>
        </p:grpSpPr>
        <p:sp>
          <p:nvSpPr>
            <p:cNvPr name="Freeform 154" id="154"/>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55" id="155"/>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grpSp>
        <p:nvGrpSpPr>
          <p:cNvPr name="Group 156" id="156"/>
          <p:cNvGrpSpPr/>
          <p:nvPr/>
        </p:nvGrpSpPr>
        <p:grpSpPr>
          <a:xfrm rot="0">
            <a:off x="16047720" y="9646920"/>
            <a:ext cx="420624" cy="420624"/>
            <a:chOff x="0" y="0"/>
            <a:chExt cx="560832" cy="560832"/>
          </a:xfrm>
        </p:grpSpPr>
        <p:sp>
          <p:nvSpPr>
            <p:cNvPr name="Freeform 157" id="157"/>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58" id="158"/>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Kalibrasi Diagnostik Subsistem Wisatawan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Selisih pertumbuhan wisatawan berasal dari lonjakan pemulihan pascapandemi</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52</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grpSp>
        <p:nvGrpSpPr>
          <p:cNvPr name="Group 70" id="70"/>
          <p:cNvGrpSpPr/>
          <p:nvPr/>
        </p:nvGrpSpPr>
        <p:grpSpPr>
          <a:xfrm rot="0">
            <a:off x="1435608" y="2240280"/>
            <a:ext cx="6912864" cy="3840480"/>
            <a:chOff x="0" y="0"/>
            <a:chExt cx="9217152" cy="5120640"/>
          </a:xfrm>
        </p:grpSpPr>
        <p:sp>
          <p:nvSpPr>
            <p:cNvPr name="Freeform 71" id="71" descr="image52.png"/>
            <p:cNvSpPr/>
            <p:nvPr/>
          </p:nvSpPr>
          <p:spPr>
            <a:xfrm flipH="false" flipV="false" rot="0">
              <a:off x="0" y="0"/>
              <a:ext cx="9217152" cy="5120640"/>
            </a:xfrm>
            <a:custGeom>
              <a:avLst/>
              <a:gdLst/>
              <a:ahLst/>
              <a:cxnLst/>
              <a:rect r="r" b="b" t="t" l="l"/>
              <a:pathLst>
                <a:path h="5120640" w="9217152">
                  <a:moveTo>
                    <a:pt x="0" y="0"/>
                  </a:moveTo>
                  <a:lnTo>
                    <a:pt x="9217152" y="0"/>
                  </a:lnTo>
                  <a:lnTo>
                    <a:pt x="9217152" y="5120640"/>
                  </a:lnTo>
                  <a:lnTo>
                    <a:pt x="0" y="5120640"/>
                  </a:lnTo>
                  <a:lnTo>
                    <a:pt x="0" y="0"/>
                  </a:lnTo>
                  <a:close/>
                </a:path>
              </a:pathLst>
            </a:custGeom>
            <a:blipFill>
              <a:blip r:embed="rId7"/>
              <a:stretch>
                <a:fillRect l="0" t="0" r="0" b="0"/>
              </a:stretch>
            </a:blipFill>
          </p:spPr>
          <p:txBody>
            <a:bodyPr/>
            <a:p/>
          </p:txBody>
        </p:sp>
      </p:grpSp>
      <p:grpSp>
        <p:nvGrpSpPr>
          <p:cNvPr name="Group 72" id="72"/>
          <p:cNvGrpSpPr/>
          <p:nvPr/>
        </p:nvGrpSpPr>
        <p:grpSpPr>
          <a:xfrm rot="0">
            <a:off x="10195560" y="2240280"/>
            <a:ext cx="6400800" cy="3840480"/>
            <a:chOff x="0" y="0"/>
            <a:chExt cx="8534400" cy="5120640"/>
          </a:xfrm>
        </p:grpSpPr>
        <p:sp>
          <p:nvSpPr>
            <p:cNvPr name="Freeform 73" id="73" descr="image53.png"/>
            <p:cNvSpPr/>
            <p:nvPr/>
          </p:nvSpPr>
          <p:spPr>
            <a:xfrm flipH="false" flipV="false" rot="0">
              <a:off x="0" y="0"/>
              <a:ext cx="8534400" cy="5120640"/>
            </a:xfrm>
            <a:custGeom>
              <a:avLst/>
              <a:gdLst/>
              <a:ahLst/>
              <a:cxnLst/>
              <a:rect r="r" b="b" t="t" l="l"/>
              <a:pathLst>
                <a:path h="5120640" w="8534400">
                  <a:moveTo>
                    <a:pt x="0" y="0"/>
                  </a:moveTo>
                  <a:lnTo>
                    <a:pt x="8534400" y="0"/>
                  </a:lnTo>
                  <a:lnTo>
                    <a:pt x="8534400" y="5120640"/>
                  </a:lnTo>
                  <a:lnTo>
                    <a:pt x="0" y="5120640"/>
                  </a:lnTo>
                  <a:lnTo>
                    <a:pt x="0" y="0"/>
                  </a:lnTo>
                  <a:close/>
                </a:path>
              </a:pathLst>
            </a:custGeom>
            <a:blipFill>
              <a:blip r:embed="rId8"/>
              <a:stretch>
                <a:fillRect l="0" t="0" r="0" b="0"/>
              </a:stretch>
            </a:blipFill>
          </p:spPr>
          <p:txBody>
            <a:bodyPr/>
            <a:p/>
          </p:txBody>
        </p:sp>
      </p:grpSp>
      <p:sp>
        <p:nvSpPr>
          <p:cNvPr name="TextBox 74" id="74"/>
          <p:cNvSpPr txBox="true"/>
          <p:nvPr/>
        </p:nvSpPr>
        <p:spPr>
          <a:xfrm rot="0">
            <a:off x="822960" y="6052185"/>
            <a:ext cx="8138160" cy="238125"/>
          </a:xfrm>
          <a:prstGeom prst="rect">
            <a:avLst/>
          </a:prstGeom>
        </p:spPr>
        <p:txBody>
          <a:bodyPr anchor="t" rtlCol="false" tIns="0" lIns="0" bIns="0" rIns="0">
            <a:spAutoFit/>
          </a:bodyPr>
          <a:lstStyle/>
          <a:p>
            <a:pPr algn="l">
              <a:lnSpc>
                <a:spcPts val="1655"/>
              </a:lnSpc>
            </a:pPr>
            <a:r>
              <a:rPr lang="en-US" sz="1380" i="true">
                <a:solidFill>
                  <a:srgbClr val="5E6E78"/>
                </a:solidFill>
                <a:latin typeface="Calibri (MS) Italics"/>
                <a:ea typeface="Calibri (MS) Italics"/>
                <a:cs typeface="Calibri (MS) Italics"/>
                <a:sym typeface="Calibri (MS) Italics"/>
              </a:rPr>
              <a:t>Banyak pasangan nilai sama baiknya: LPE 0,26–0,80 dengan rasio 0,60–0,86</a:t>
            </a:r>
          </a:p>
        </p:txBody>
      </p:sp>
      <p:sp>
        <p:nvSpPr>
          <p:cNvPr name="TextBox 75" id="75"/>
          <p:cNvSpPr txBox="true"/>
          <p:nvPr/>
        </p:nvSpPr>
        <p:spPr>
          <a:xfrm rot="0">
            <a:off x="9326880" y="6052185"/>
            <a:ext cx="8138160" cy="394335"/>
          </a:xfrm>
          <a:prstGeom prst="rect">
            <a:avLst/>
          </a:prstGeom>
        </p:spPr>
        <p:txBody>
          <a:bodyPr anchor="t" rtlCol="false" tIns="0" lIns="0" bIns="0" rIns="0">
            <a:spAutoFit/>
          </a:bodyPr>
          <a:lstStyle/>
          <a:p>
            <a:pPr algn="l">
              <a:lnSpc>
                <a:spcPts val="1655"/>
              </a:lnSpc>
            </a:pPr>
            <a:r>
              <a:rPr lang="en-US" sz="1380" i="true">
                <a:solidFill>
                  <a:srgbClr val="5E6E78"/>
                </a:solidFill>
                <a:latin typeface="Calibri (MS) Italics"/>
                <a:ea typeface="Calibri (MS) Italics"/>
                <a:cs typeface="Calibri (MS) Italics"/>
                <a:sym typeface="Calibri (MS) Italics"/>
              </a:rPr>
              <a:t>Data sambungan vs simulasi LPE 0,27726 dan LPE diagnostik 0,440 (D-A)</a:t>
            </a:r>
          </a:p>
        </p:txBody>
      </p:sp>
      <p:graphicFrame>
        <p:nvGraphicFramePr>
          <p:cNvPr name="Table 76" id="76"/>
          <p:cNvGraphicFramePr>
            <a:graphicFrameLocks noGrp="true"/>
          </p:cNvGraphicFramePr>
          <p:nvPr/>
        </p:nvGraphicFramePr>
        <p:xfrm>
          <a:off x="822960" y="6492240"/>
          <a:ext cx="10223500" cy="1219200"/>
        </p:xfrm>
        <a:graphic>
          <a:graphicData uri="http://schemas.openxmlformats.org/drawingml/2006/table">
            <a:tbl>
              <a:tblPr/>
              <a:tblGrid>
                <a:gridCol w="1543170"/>
                <a:gridCol w="964481"/>
                <a:gridCol w="964481"/>
                <a:gridCol w="964481"/>
                <a:gridCol w="964481"/>
                <a:gridCol w="964481"/>
                <a:gridCol w="964481"/>
                <a:gridCol w="964481"/>
                <a:gridCol w="964481"/>
                <a:gridCol w="964481"/>
              </a:tblGrid>
              <a:tr h="406400">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Tahun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2017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2018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2019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2020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2021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2022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2023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2024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2025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406400">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Data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1,42%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20,36%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11,58%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−4,43%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16,52%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12,72%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18,59%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24,86%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6,72%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06400">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Simulasi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6,44%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6,53%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6,47%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6,51%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6,47%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6,26%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6,55%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6,39%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6,72%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bl>
          </a:graphicData>
        </a:graphic>
      </p:graphicFrame>
      <p:grpSp>
        <p:nvGrpSpPr>
          <p:cNvPr name="Group 77" id="77"/>
          <p:cNvGrpSpPr/>
          <p:nvPr/>
        </p:nvGrpSpPr>
        <p:grpSpPr>
          <a:xfrm rot="0">
            <a:off x="11332207" y="6485887"/>
            <a:ext cx="6139177" cy="1247137"/>
            <a:chOff x="0" y="0"/>
            <a:chExt cx="8185569" cy="1662849"/>
          </a:xfrm>
        </p:grpSpPr>
        <p:sp>
          <p:nvSpPr>
            <p:cNvPr name="Freeform 78" id="78"/>
            <p:cNvSpPr/>
            <p:nvPr/>
          </p:nvSpPr>
          <p:spPr>
            <a:xfrm flipH="false" flipV="false" rot="0">
              <a:off x="0" y="0"/>
              <a:ext cx="8185531" cy="1662811"/>
            </a:xfrm>
            <a:custGeom>
              <a:avLst/>
              <a:gdLst/>
              <a:ahLst/>
              <a:cxnLst/>
              <a:rect r="r" b="b" t="t" l="l"/>
              <a:pathLst>
                <a:path h="1662811" w="8185531">
                  <a:moveTo>
                    <a:pt x="0" y="132969"/>
                  </a:moveTo>
                  <a:cubicBezTo>
                    <a:pt x="0" y="59563"/>
                    <a:pt x="59563" y="0"/>
                    <a:pt x="132969" y="0"/>
                  </a:cubicBezTo>
                  <a:lnTo>
                    <a:pt x="8052562" y="0"/>
                  </a:lnTo>
                  <a:cubicBezTo>
                    <a:pt x="8125968" y="0"/>
                    <a:pt x="8185531" y="59563"/>
                    <a:pt x="8185531" y="132969"/>
                  </a:cubicBezTo>
                  <a:lnTo>
                    <a:pt x="8185531" y="1529842"/>
                  </a:lnTo>
                  <a:cubicBezTo>
                    <a:pt x="8185531" y="1603248"/>
                    <a:pt x="8125968" y="1662811"/>
                    <a:pt x="8052562" y="1662811"/>
                  </a:cubicBezTo>
                  <a:lnTo>
                    <a:pt x="132969" y="1662811"/>
                  </a:lnTo>
                  <a:cubicBezTo>
                    <a:pt x="59563" y="1662811"/>
                    <a:pt x="0" y="1603248"/>
                    <a:pt x="0" y="1529842"/>
                  </a:cubicBezTo>
                  <a:close/>
                </a:path>
              </a:pathLst>
            </a:custGeom>
            <a:solidFill>
              <a:srgbClr val="EAF8FA"/>
            </a:solidFill>
            <a:ln w="12700" cap="sq">
              <a:solidFill>
                <a:srgbClr val="CFE5E9"/>
              </a:solidFill>
              <a:prstDash val="solid"/>
              <a:miter/>
            </a:ln>
          </p:spPr>
          <p:txBody>
            <a:bodyPr/>
            <a:p/>
          </p:txBody>
        </p:sp>
        <p:sp>
          <p:nvSpPr>
            <p:cNvPr name="TextBox 79" id="79"/>
            <p:cNvSpPr txBox="true"/>
            <p:nvPr/>
          </p:nvSpPr>
          <p:spPr>
            <a:xfrm>
              <a:off x="0" y="-38100"/>
              <a:ext cx="8185569" cy="1700949"/>
            </a:xfrm>
            <a:prstGeom prst="rect">
              <a:avLst/>
            </a:prstGeom>
          </p:spPr>
          <p:txBody>
            <a:bodyPr anchor="t" rtlCol="false" tIns="50800" lIns="50800" bIns="50800" rIns="50800"/>
            <a:lstStyle/>
            <a:p>
              <a:pPr algn="l">
                <a:lnSpc>
                  <a:spcPts val="2004"/>
                </a:lnSpc>
              </a:pPr>
              <a:r>
                <a:rPr lang="en-US" sz="1670" b="true">
                  <a:solidFill>
                    <a:srgbClr val="0B5E6E"/>
                  </a:solidFill>
                  <a:latin typeface="Calibri (MS) Bold"/>
                  <a:ea typeface="Calibri (MS) Bold"/>
                  <a:cs typeface="Calibri (MS) Bold"/>
                  <a:sym typeface="Calibri (MS) Bold"/>
                </a:rPr>
                <a:t>LPE yang dituntut data: 0,410–0,490</a:t>
              </a:r>
            </a:p>
            <a:p>
              <a:pPr algn="l">
                <a:lnSpc>
                  <a:spcPts val="1788"/>
                </a:lnSpc>
              </a:pPr>
              <a:r>
                <a:rPr lang="en-US" sz="1490">
                  <a:solidFill>
                    <a:srgbClr val="14313B"/>
                  </a:solidFill>
                  <a:latin typeface="Calibri (MS)"/>
                  <a:ea typeface="Calibri (MS)"/>
                  <a:cs typeface="Calibri (MS)"/>
                  <a:sym typeface="Calibri (MS)"/>
                </a:rPr>
                <a:t>Bergantung periode (D-A 0,440; D-B 0,490) dan faktor sambung (2,22–2,38).</a:t>
              </a:r>
            </a:p>
          </p:txBody>
        </p:sp>
      </p:grpSp>
      <p:grpSp>
        <p:nvGrpSpPr>
          <p:cNvPr name="Group 80" id="80"/>
          <p:cNvGrpSpPr/>
          <p:nvPr/>
        </p:nvGrpSpPr>
        <p:grpSpPr>
          <a:xfrm rot="0">
            <a:off x="816607" y="7994647"/>
            <a:ext cx="16654777" cy="927097"/>
            <a:chOff x="0" y="0"/>
            <a:chExt cx="22206369" cy="1236129"/>
          </a:xfrm>
        </p:grpSpPr>
        <p:sp>
          <p:nvSpPr>
            <p:cNvPr name="Freeform 81" id="81"/>
            <p:cNvSpPr/>
            <p:nvPr/>
          </p:nvSpPr>
          <p:spPr>
            <a:xfrm flipH="false" flipV="false" rot="0">
              <a:off x="0" y="0"/>
              <a:ext cx="22206458" cy="1236218"/>
            </a:xfrm>
            <a:custGeom>
              <a:avLst/>
              <a:gdLst/>
              <a:ahLst/>
              <a:cxnLst/>
              <a:rect r="r" b="b" t="t" l="l"/>
              <a:pathLst>
                <a:path h="1236218" w="22206458">
                  <a:moveTo>
                    <a:pt x="0" y="98933"/>
                  </a:moveTo>
                  <a:cubicBezTo>
                    <a:pt x="0" y="44323"/>
                    <a:pt x="44323" y="0"/>
                    <a:pt x="98933" y="0"/>
                  </a:cubicBezTo>
                  <a:lnTo>
                    <a:pt x="22107525" y="0"/>
                  </a:lnTo>
                  <a:cubicBezTo>
                    <a:pt x="22162136" y="0"/>
                    <a:pt x="22206458" y="44323"/>
                    <a:pt x="22206458" y="98933"/>
                  </a:cubicBezTo>
                  <a:lnTo>
                    <a:pt x="22206458" y="1137285"/>
                  </a:lnTo>
                  <a:cubicBezTo>
                    <a:pt x="22206458" y="1191895"/>
                    <a:pt x="22162136" y="1236218"/>
                    <a:pt x="22107525" y="1236218"/>
                  </a:cubicBezTo>
                  <a:lnTo>
                    <a:pt x="98933" y="1236218"/>
                  </a:lnTo>
                  <a:cubicBezTo>
                    <a:pt x="44323" y="1236091"/>
                    <a:pt x="0" y="1191895"/>
                    <a:pt x="0" y="1137285"/>
                  </a:cubicBezTo>
                  <a:close/>
                </a:path>
              </a:pathLst>
            </a:custGeom>
            <a:solidFill>
              <a:srgbClr val="FFF1BF"/>
            </a:solidFill>
            <a:ln w="12700" cap="sq">
              <a:solidFill>
                <a:srgbClr val="FFD23B"/>
              </a:solidFill>
              <a:prstDash val="solid"/>
              <a:miter/>
            </a:ln>
          </p:spPr>
          <p:txBody>
            <a:bodyPr/>
            <a:p/>
          </p:txBody>
        </p:sp>
        <p:sp>
          <p:nvSpPr>
            <p:cNvPr name="TextBox 82" id="82"/>
            <p:cNvSpPr txBox="true"/>
            <p:nvPr/>
          </p:nvSpPr>
          <p:spPr>
            <a:xfrm>
              <a:off x="0" y="-38100"/>
              <a:ext cx="22206369" cy="127422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Data hanya bisa menentukan selisih bersih LPE dan LPD; lonjakan 2022–2024 (puncak 24,86%) adalah pemulihan pascapandemi yang tidak dicakup model (wisnus nasional 2024 +21,61%). LPE/LPD dipertahankan.</a:t>
              </a:r>
            </a:p>
          </p:txBody>
        </p:sp>
      </p:grpSp>
      <p:grpSp>
        <p:nvGrpSpPr>
          <p:cNvPr name="Group 83" id="83"/>
          <p:cNvGrpSpPr/>
          <p:nvPr/>
        </p:nvGrpSpPr>
        <p:grpSpPr>
          <a:xfrm rot="0">
            <a:off x="16047720" y="9646920"/>
            <a:ext cx="420624" cy="420624"/>
            <a:chOff x="0" y="0"/>
            <a:chExt cx="560832" cy="560832"/>
          </a:xfrm>
        </p:grpSpPr>
        <p:sp>
          <p:nvSpPr>
            <p:cNvPr name="Freeform 84" id="84"/>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85" id="85"/>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Rangkuman Kelayakan Model</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Apakah model layak untuk simulasi skenario? Bukti dan batasnya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53</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grpSp>
        <p:nvGrpSpPr>
          <p:cNvPr name="Group 70" id="70"/>
          <p:cNvGrpSpPr/>
          <p:nvPr/>
        </p:nvGrpSpPr>
        <p:grpSpPr>
          <a:xfrm rot="0">
            <a:off x="816607" y="2279647"/>
            <a:ext cx="10985497" cy="881377"/>
            <a:chOff x="0" y="0"/>
            <a:chExt cx="14647329" cy="1175169"/>
          </a:xfrm>
        </p:grpSpPr>
        <p:sp>
          <p:nvSpPr>
            <p:cNvPr name="Freeform 71" id="71"/>
            <p:cNvSpPr/>
            <p:nvPr/>
          </p:nvSpPr>
          <p:spPr>
            <a:xfrm flipH="false" flipV="false" rot="0">
              <a:off x="0" y="0"/>
              <a:ext cx="14647292" cy="1175131"/>
            </a:xfrm>
            <a:custGeom>
              <a:avLst/>
              <a:gdLst/>
              <a:ahLst/>
              <a:cxnLst/>
              <a:rect r="r" b="b" t="t" l="l"/>
              <a:pathLst>
                <a:path h="1175131" w="14647292">
                  <a:moveTo>
                    <a:pt x="0" y="93980"/>
                  </a:moveTo>
                  <a:cubicBezTo>
                    <a:pt x="0" y="42037"/>
                    <a:pt x="42037" y="0"/>
                    <a:pt x="93980" y="0"/>
                  </a:cubicBezTo>
                  <a:lnTo>
                    <a:pt x="14553312" y="0"/>
                  </a:lnTo>
                  <a:cubicBezTo>
                    <a:pt x="14605254" y="0"/>
                    <a:pt x="14647292" y="42037"/>
                    <a:pt x="14647292" y="93980"/>
                  </a:cubicBezTo>
                  <a:lnTo>
                    <a:pt x="14647292" y="1081151"/>
                  </a:lnTo>
                  <a:cubicBezTo>
                    <a:pt x="14647292" y="1133094"/>
                    <a:pt x="14605254" y="1175131"/>
                    <a:pt x="14553312" y="1175131"/>
                  </a:cubicBezTo>
                  <a:lnTo>
                    <a:pt x="93980" y="1175131"/>
                  </a:lnTo>
                  <a:cubicBezTo>
                    <a:pt x="42037" y="1175131"/>
                    <a:pt x="0" y="1133094"/>
                    <a:pt x="0" y="1081151"/>
                  </a:cubicBezTo>
                  <a:close/>
                </a:path>
              </a:pathLst>
            </a:custGeom>
            <a:solidFill>
              <a:srgbClr val="EAF8FA"/>
            </a:solidFill>
            <a:ln w="12700" cap="sq">
              <a:solidFill>
                <a:srgbClr val="CFE5E9"/>
              </a:solidFill>
              <a:prstDash val="solid"/>
              <a:miter/>
            </a:ln>
          </p:spPr>
          <p:txBody>
            <a:bodyPr/>
            <a:p/>
          </p:txBody>
        </p:sp>
        <p:sp>
          <p:nvSpPr>
            <p:cNvPr name="TextBox 72" id="72"/>
            <p:cNvSpPr txBox="true"/>
            <p:nvPr/>
          </p:nvSpPr>
          <p:spPr>
            <a:xfrm>
              <a:off x="0" y="-19050"/>
              <a:ext cx="14647329" cy="1194219"/>
            </a:xfrm>
            <a:prstGeom prst="rect">
              <a:avLst/>
            </a:prstGeom>
          </p:spPr>
          <p:txBody>
            <a:bodyPr anchor="ctr" rtlCol="false" tIns="50800" lIns="50800" bIns="50800" rIns="50800"/>
            <a:lstStyle/>
            <a:p>
              <a:pPr algn="l">
                <a:lnSpc>
                  <a:spcPts val="1860"/>
                </a:lnSpc>
              </a:pPr>
              <a:r>
                <a:rPr lang="en-US" sz="1550" b="true">
                  <a:solidFill>
                    <a:srgbClr val="0B5E6E"/>
                  </a:solidFill>
                  <a:latin typeface="Calibri (MS) Bold"/>
                  <a:ea typeface="Calibri (MS) Bold"/>
                  <a:cs typeface="Calibri (MS) Bold"/>
                  <a:sym typeface="Calibri (MS) Bold"/>
                </a:rPr>
                <a:t>Struktur  </a:t>
              </a:r>
              <a:r>
                <a:rPr lang="en-US" sz="1550">
                  <a:solidFill>
                    <a:srgbClr val="14313B"/>
                  </a:solidFill>
                  <a:latin typeface="Calibri (MS)"/>
                  <a:ea typeface="Calibri (MS)"/>
                  <a:cs typeface="Calibri (MS)"/>
                  <a:sym typeface="Calibri (MS)"/>
                </a:rPr>
                <a:t>6 uji struktur lolos: satuan konsisten, stok seimbang, 6/6 loop berfungsi, 17 uji ekstrem 0 gagal, langkah waktu cukup.</a:t>
              </a:r>
            </a:p>
          </p:txBody>
        </p:sp>
      </p:grpSp>
      <p:grpSp>
        <p:nvGrpSpPr>
          <p:cNvPr name="Group 73" id="73"/>
          <p:cNvGrpSpPr/>
          <p:nvPr/>
        </p:nvGrpSpPr>
        <p:grpSpPr>
          <a:xfrm rot="0">
            <a:off x="11978640" y="2286000"/>
            <a:ext cx="2743200" cy="868680"/>
            <a:chOff x="0" y="0"/>
            <a:chExt cx="3657600" cy="1158240"/>
          </a:xfrm>
        </p:grpSpPr>
        <p:sp>
          <p:nvSpPr>
            <p:cNvPr name="Freeform 74" id="74"/>
            <p:cNvSpPr/>
            <p:nvPr/>
          </p:nvSpPr>
          <p:spPr>
            <a:xfrm flipH="false" flipV="false" rot="0">
              <a:off x="0" y="0"/>
              <a:ext cx="3657600" cy="1158240"/>
            </a:xfrm>
            <a:custGeom>
              <a:avLst/>
              <a:gdLst/>
              <a:ahLst/>
              <a:cxnLst/>
              <a:rect r="r" b="b" t="t" l="l"/>
              <a:pathLst>
                <a:path h="1158240" w="3657600">
                  <a:moveTo>
                    <a:pt x="0" y="92710"/>
                  </a:moveTo>
                  <a:cubicBezTo>
                    <a:pt x="0" y="41529"/>
                    <a:pt x="41529" y="0"/>
                    <a:pt x="92710" y="0"/>
                  </a:cubicBezTo>
                  <a:lnTo>
                    <a:pt x="3564890" y="0"/>
                  </a:lnTo>
                  <a:cubicBezTo>
                    <a:pt x="3616071" y="0"/>
                    <a:pt x="3657600" y="41529"/>
                    <a:pt x="3657600" y="92710"/>
                  </a:cubicBezTo>
                  <a:lnTo>
                    <a:pt x="3657600" y="1065530"/>
                  </a:lnTo>
                  <a:cubicBezTo>
                    <a:pt x="3657600" y="1116711"/>
                    <a:pt x="3616071" y="1158240"/>
                    <a:pt x="3564890" y="1158240"/>
                  </a:cubicBezTo>
                  <a:lnTo>
                    <a:pt x="92710" y="1158240"/>
                  </a:lnTo>
                  <a:cubicBezTo>
                    <a:pt x="41529" y="1158240"/>
                    <a:pt x="0" y="1116711"/>
                    <a:pt x="0" y="1065530"/>
                  </a:cubicBezTo>
                  <a:close/>
                </a:path>
              </a:pathLst>
            </a:custGeom>
            <a:solidFill>
              <a:srgbClr val="0B5E6E"/>
            </a:solidFill>
          </p:spPr>
          <p:txBody>
            <a:bodyPr/>
            <a:p/>
          </p:txBody>
        </p:sp>
        <p:sp>
          <p:nvSpPr>
            <p:cNvPr name="TextBox 75" id="75"/>
            <p:cNvSpPr txBox="true"/>
            <p:nvPr/>
          </p:nvSpPr>
          <p:spPr>
            <a:xfrm>
              <a:off x="0" y="-28575"/>
              <a:ext cx="3657600" cy="1186815"/>
            </a:xfrm>
            <a:prstGeom prst="rect">
              <a:avLst/>
            </a:prstGeom>
          </p:spPr>
          <p:txBody>
            <a:bodyPr anchor="ctr" rtlCol="false" tIns="50800" lIns="50800" bIns="50800" rIns="50800"/>
            <a:lstStyle/>
            <a:p>
              <a:pPr algn="ctr">
                <a:lnSpc>
                  <a:spcPts val="1788"/>
                </a:lnSpc>
              </a:pPr>
              <a:r>
                <a:rPr lang="en-US" sz="1490" b="true">
                  <a:solidFill>
                    <a:srgbClr val="FFFFFF"/>
                  </a:solidFill>
                  <a:latin typeface="Calibri (MS) Bold"/>
                  <a:ea typeface="Calibri (MS) Bold"/>
                  <a:cs typeface="Calibri (MS) Bold"/>
                  <a:sym typeface="Calibri (MS) Bold"/>
                </a:rPr>
                <a:t>LOLOS</a:t>
              </a:r>
            </a:p>
          </p:txBody>
        </p:sp>
      </p:grpSp>
      <p:grpSp>
        <p:nvGrpSpPr>
          <p:cNvPr name="Group 76" id="76"/>
          <p:cNvGrpSpPr/>
          <p:nvPr/>
        </p:nvGrpSpPr>
        <p:grpSpPr>
          <a:xfrm rot="0">
            <a:off x="816607" y="3285487"/>
            <a:ext cx="10985497" cy="881377"/>
            <a:chOff x="0" y="0"/>
            <a:chExt cx="14647329" cy="1175169"/>
          </a:xfrm>
        </p:grpSpPr>
        <p:sp>
          <p:nvSpPr>
            <p:cNvPr name="Freeform 77" id="77"/>
            <p:cNvSpPr/>
            <p:nvPr/>
          </p:nvSpPr>
          <p:spPr>
            <a:xfrm flipH="false" flipV="false" rot="0">
              <a:off x="0" y="0"/>
              <a:ext cx="14647292" cy="1175131"/>
            </a:xfrm>
            <a:custGeom>
              <a:avLst/>
              <a:gdLst/>
              <a:ahLst/>
              <a:cxnLst/>
              <a:rect r="r" b="b" t="t" l="l"/>
              <a:pathLst>
                <a:path h="1175131" w="14647292">
                  <a:moveTo>
                    <a:pt x="0" y="93980"/>
                  </a:moveTo>
                  <a:cubicBezTo>
                    <a:pt x="0" y="42037"/>
                    <a:pt x="42037" y="0"/>
                    <a:pt x="93980" y="0"/>
                  </a:cubicBezTo>
                  <a:lnTo>
                    <a:pt x="14553312" y="0"/>
                  </a:lnTo>
                  <a:cubicBezTo>
                    <a:pt x="14605254" y="0"/>
                    <a:pt x="14647292" y="42037"/>
                    <a:pt x="14647292" y="93980"/>
                  </a:cubicBezTo>
                  <a:lnTo>
                    <a:pt x="14647292" y="1081151"/>
                  </a:lnTo>
                  <a:cubicBezTo>
                    <a:pt x="14647292" y="1133094"/>
                    <a:pt x="14605254" y="1175131"/>
                    <a:pt x="14553312" y="1175131"/>
                  </a:cubicBezTo>
                  <a:lnTo>
                    <a:pt x="93980" y="1175131"/>
                  </a:lnTo>
                  <a:cubicBezTo>
                    <a:pt x="42037" y="1175131"/>
                    <a:pt x="0" y="1133094"/>
                    <a:pt x="0" y="1081151"/>
                  </a:cubicBezTo>
                  <a:close/>
                </a:path>
              </a:pathLst>
            </a:custGeom>
            <a:solidFill>
              <a:srgbClr val="EAF8FA"/>
            </a:solidFill>
            <a:ln w="12700" cap="sq">
              <a:solidFill>
                <a:srgbClr val="CFE5E9"/>
              </a:solidFill>
              <a:prstDash val="solid"/>
              <a:miter/>
            </a:ln>
          </p:spPr>
          <p:txBody>
            <a:bodyPr/>
            <a:p/>
          </p:txBody>
        </p:sp>
        <p:sp>
          <p:nvSpPr>
            <p:cNvPr name="TextBox 78" id="78"/>
            <p:cNvSpPr txBox="true"/>
            <p:nvPr/>
          </p:nvSpPr>
          <p:spPr>
            <a:xfrm>
              <a:off x="0" y="-19050"/>
              <a:ext cx="14647329" cy="1194219"/>
            </a:xfrm>
            <a:prstGeom prst="rect">
              <a:avLst/>
            </a:prstGeom>
          </p:spPr>
          <p:txBody>
            <a:bodyPr anchor="ctr" rtlCol="false" tIns="50800" lIns="50800" bIns="50800" rIns="50800"/>
            <a:lstStyle/>
            <a:p>
              <a:pPr algn="l">
                <a:lnSpc>
                  <a:spcPts val="1860"/>
                </a:lnSpc>
              </a:pPr>
              <a:r>
                <a:rPr lang="en-US" sz="1550" b="true">
                  <a:solidFill>
                    <a:srgbClr val="0B5E6E"/>
                  </a:solidFill>
                  <a:latin typeface="Calibri (MS) Bold"/>
                  <a:ea typeface="Calibri (MS) Bold"/>
                  <a:cs typeface="Calibri (MS) Bold"/>
                  <a:sym typeface="Calibri (MS) Bold"/>
                </a:rPr>
                <a:t>Perilaku subsistem  </a:t>
              </a:r>
              <a:r>
                <a:rPr lang="en-US" sz="1550">
                  <a:solidFill>
                    <a:srgbClr val="14313B"/>
                  </a:solidFill>
                  <a:latin typeface="Calibri (MS)"/>
                  <a:ea typeface="Calibri (MS)"/>
                  <a:cs typeface="Calibri (MS)"/>
                  <a:sym typeface="Calibri (MS)"/>
                </a:rPr>
                <a:t>Uji parsial: MAPE seluruh variabel &lt; 20%; akomodasi DC 0,20; tren sama kecuali wisatawan.</a:t>
              </a:r>
            </a:p>
          </p:txBody>
        </p:sp>
      </p:grpSp>
      <p:grpSp>
        <p:nvGrpSpPr>
          <p:cNvPr name="Group 79" id="79"/>
          <p:cNvGrpSpPr/>
          <p:nvPr/>
        </p:nvGrpSpPr>
        <p:grpSpPr>
          <a:xfrm rot="0">
            <a:off x="11978640" y="3291840"/>
            <a:ext cx="2743200" cy="868680"/>
            <a:chOff x="0" y="0"/>
            <a:chExt cx="3657600" cy="1158240"/>
          </a:xfrm>
        </p:grpSpPr>
        <p:sp>
          <p:nvSpPr>
            <p:cNvPr name="Freeform 80" id="80"/>
            <p:cNvSpPr/>
            <p:nvPr/>
          </p:nvSpPr>
          <p:spPr>
            <a:xfrm flipH="false" flipV="false" rot="0">
              <a:off x="0" y="0"/>
              <a:ext cx="3657600" cy="1158240"/>
            </a:xfrm>
            <a:custGeom>
              <a:avLst/>
              <a:gdLst/>
              <a:ahLst/>
              <a:cxnLst/>
              <a:rect r="r" b="b" t="t" l="l"/>
              <a:pathLst>
                <a:path h="1158240" w="3657600">
                  <a:moveTo>
                    <a:pt x="0" y="92710"/>
                  </a:moveTo>
                  <a:cubicBezTo>
                    <a:pt x="0" y="41529"/>
                    <a:pt x="41529" y="0"/>
                    <a:pt x="92710" y="0"/>
                  </a:cubicBezTo>
                  <a:lnTo>
                    <a:pt x="3564890" y="0"/>
                  </a:lnTo>
                  <a:cubicBezTo>
                    <a:pt x="3616071" y="0"/>
                    <a:pt x="3657600" y="41529"/>
                    <a:pt x="3657600" y="92710"/>
                  </a:cubicBezTo>
                  <a:lnTo>
                    <a:pt x="3657600" y="1065530"/>
                  </a:lnTo>
                  <a:cubicBezTo>
                    <a:pt x="3657600" y="1116711"/>
                    <a:pt x="3616071" y="1158240"/>
                    <a:pt x="3564890" y="1158240"/>
                  </a:cubicBezTo>
                  <a:lnTo>
                    <a:pt x="92710" y="1158240"/>
                  </a:lnTo>
                  <a:cubicBezTo>
                    <a:pt x="41529" y="1158240"/>
                    <a:pt x="0" y="1116711"/>
                    <a:pt x="0" y="1065530"/>
                  </a:cubicBezTo>
                  <a:close/>
                </a:path>
              </a:pathLst>
            </a:custGeom>
            <a:solidFill>
              <a:srgbClr val="0B5E6E"/>
            </a:solidFill>
          </p:spPr>
          <p:txBody>
            <a:bodyPr/>
            <a:p/>
          </p:txBody>
        </p:sp>
        <p:sp>
          <p:nvSpPr>
            <p:cNvPr name="TextBox 81" id="81"/>
            <p:cNvSpPr txBox="true"/>
            <p:nvPr/>
          </p:nvSpPr>
          <p:spPr>
            <a:xfrm>
              <a:off x="0" y="-28575"/>
              <a:ext cx="3657600" cy="1186815"/>
            </a:xfrm>
            <a:prstGeom prst="rect">
              <a:avLst/>
            </a:prstGeom>
          </p:spPr>
          <p:txBody>
            <a:bodyPr anchor="ctr" rtlCol="false" tIns="50800" lIns="50800" bIns="50800" rIns="50800"/>
            <a:lstStyle/>
            <a:p>
              <a:pPr algn="ctr">
                <a:lnSpc>
                  <a:spcPts val="1788"/>
                </a:lnSpc>
              </a:pPr>
              <a:r>
                <a:rPr lang="en-US" sz="1490" b="true">
                  <a:solidFill>
                    <a:srgbClr val="FFFFFF"/>
                  </a:solidFill>
                  <a:latin typeface="Calibri (MS) Bold"/>
                  <a:ea typeface="Calibri (MS) Bold"/>
                  <a:cs typeface="Calibri (MS) Bold"/>
                  <a:sym typeface="Calibri (MS) Bold"/>
                </a:rPr>
                <a:t>CUKUP BAIK</a:t>
              </a:r>
            </a:p>
          </p:txBody>
        </p:sp>
      </p:grpSp>
      <p:grpSp>
        <p:nvGrpSpPr>
          <p:cNvPr name="Group 82" id="82"/>
          <p:cNvGrpSpPr/>
          <p:nvPr/>
        </p:nvGrpSpPr>
        <p:grpSpPr>
          <a:xfrm rot="0">
            <a:off x="816607" y="4291327"/>
            <a:ext cx="10985497" cy="881377"/>
            <a:chOff x="0" y="0"/>
            <a:chExt cx="14647329" cy="1175169"/>
          </a:xfrm>
        </p:grpSpPr>
        <p:sp>
          <p:nvSpPr>
            <p:cNvPr name="Freeform 83" id="83"/>
            <p:cNvSpPr/>
            <p:nvPr/>
          </p:nvSpPr>
          <p:spPr>
            <a:xfrm flipH="false" flipV="false" rot="0">
              <a:off x="0" y="0"/>
              <a:ext cx="14647292" cy="1175131"/>
            </a:xfrm>
            <a:custGeom>
              <a:avLst/>
              <a:gdLst/>
              <a:ahLst/>
              <a:cxnLst/>
              <a:rect r="r" b="b" t="t" l="l"/>
              <a:pathLst>
                <a:path h="1175131" w="14647292">
                  <a:moveTo>
                    <a:pt x="0" y="93980"/>
                  </a:moveTo>
                  <a:cubicBezTo>
                    <a:pt x="0" y="42037"/>
                    <a:pt x="42037" y="0"/>
                    <a:pt x="93980" y="0"/>
                  </a:cubicBezTo>
                  <a:lnTo>
                    <a:pt x="14553312" y="0"/>
                  </a:lnTo>
                  <a:cubicBezTo>
                    <a:pt x="14605254" y="0"/>
                    <a:pt x="14647292" y="42037"/>
                    <a:pt x="14647292" y="93980"/>
                  </a:cubicBezTo>
                  <a:lnTo>
                    <a:pt x="14647292" y="1081151"/>
                  </a:lnTo>
                  <a:cubicBezTo>
                    <a:pt x="14647292" y="1133094"/>
                    <a:pt x="14605254" y="1175131"/>
                    <a:pt x="14553312" y="1175131"/>
                  </a:cubicBezTo>
                  <a:lnTo>
                    <a:pt x="93980" y="1175131"/>
                  </a:lnTo>
                  <a:cubicBezTo>
                    <a:pt x="42037" y="1175131"/>
                    <a:pt x="0" y="1133094"/>
                    <a:pt x="0" y="1081151"/>
                  </a:cubicBezTo>
                  <a:close/>
                </a:path>
              </a:pathLst>
            </a:custGeom>
            <a:solidFill>
              <a:srgbClr val="EAF8FA"/>
            </a:solidFill>
            <a:ln w="12700" cap="sq">
              <a:solidFill>
                <a:srgbClr val="CFE5E9"/>
              </a:solidFill>
              <a:prstDash val="solid"/>
              <a:miter/>
            </a:ln>
          </p:spPr>
          <p:txBody>
            <a:bodyPr/>
            <a:p/>
          </p:txBody>
        </p:sp>
        <p:sp>
          <p:nvSpPr>
            <p:cNvPr name="TextBox 84" id="84"/>
            <p:cNvSpPr txBox="true"/>
            <p:nvPr/>
          </p:nvSpPr>
          <p:spPr>
            <a:xfrm>
              <a:off x="0" y="-19050"/>
              <a:ext cx="14647329" cy="1194219"/>
            </a:xfrm>
            <a:prstGeom prst="rect">
              <a:avLst/>
            </a:prstGeom>
          </p:spPr>
          <p:txBody>
            <a:bodyPr anchor="ctr" rtlCol="false" tIns="50800" lIns="50800" bIns="50800" rIns="50800"/>
            <a:lstStyle/>
            <a:p>
              <a:pPr algn="l">
                <a:lnSpc>
                  <a:spcPts val="1860"/>
                </a:lnSpc>
              </a:pPr>
              <a:r>
                <a:rPr lang="en-US" sz="1550" b="true">
                  <a:solidFill>
                    <a:srgbClr val="0B5E6E"/>
                  </a:solidFill>
                  <a:latin typeface="Calibri (MS) Bold"/>
                  <a:ea typeface="Calibri (MS) Bold"/>
                  <a:cs typeface="Calibri (MS) Bold"/>
                  <a:sym typeface="Calibri (MS) Bold"/>
                </a:rPr>
                <a:t>Perilaku model penuh  </a:t>
              </a:r>
              <a:r>
                <a:rPr lang="en-US" sz="1550">
                  <a:solidFill>
                    <a:srgbClr val="14313B"/>
                  </a:solidFill>
                  <a:latin typeface="Calibri (MS)"/>
                  <a:ea typeface="Calibri (MS)"/>
                  <a:cs typeface="Calibri (MS)"/>
                  <a:sym typeface="Calibri (MS)"/>
                </a:rPr>
                <a:t>Tidak ada variabel dengan MAPE buruk; DC melemah karena error terbawa dari satu sumber.</a:t>
              </a:r>
            </a:p>
          </p:txBody>
        </p:sp>
      </p:grpSp>
      <p:grpSp>
        <p:nvGrpSpPr>
          <p:cNvPr name="Group 85" id="85"/>
          <p:cNvGrpSpPr/>
          <p:nvPr/>
        </p:nvGrpSpPr>
        <p:grpSpPr>
          <a:xfrm rot="0">
            <a:off x="11978640" y="4297680"/>
            <a:ext cx="2743200" cy="868680"/>
            <a:chOff x="0" y="0"/>
            <a:chExt cx="3657600" cy="1158240"/>
          </a:xfrm>
        </p:grpSpPr>
        <p:sp>
          <p:nvSpPr>
            <p:cNvPr name="Freeform 86" id="86"/>
            <p:cNvSpPr/>
            <p:nvPr/>
          </p:nvSpPr>
          <p:spPr>
            <a:xfrm flipH="false" flipV="false" rot="0">
              <a:off x="0" y="0"/>
              <a:ext cx="3657600" cy="1158240"/>
            </a:xfrm>
            <a:custGeom>
              <a:avLst/>
              <a:gdLst/>
              <a:ahLst/>
              <a:cxnLst/>
              <a:rect r="r" b="b" t="t" l="l"/>
              <a:pathLst>
                <a:path h="1158240" w="3657600">
                  <a:moveTo>
                    <a:pt x="0" y="92710"/>
                  </a:moveTo>
                  <a:cubicBezTo>
                    <a:pt x="0" y="41529"/>
                    <a:pt x="41529" y="0"/>
                    <a:pt x="92710" y="0"/>
                  </a:cubicBezTo>
                  <a:lnTo>
                    <a:pt x="3564890" y="0"/>
                  </a:lnTo>
                  <a:cubicBezTo>
                    <a:pt x="3616071" y="0"/>
                    <a:pt x="3657600" y="41529"/>
                    <a:pt x="3657600" y="92710"/>
                  </a:cubicBezTo>
                  <a:lnTo>
                    <a:pt x="3657600" y="1065530"/>
                  </a:lnTo>
                  <a:cubicBezTo>
                    <a:pt x="3657600" y="1116711"/>
                    <a:pt x="3616071" y="1158240"/>
                    <a:pt x="3564890" y="1158240"/>
                  </a:cubicBezTo>
                  <a:lnTo>
                    <a:pt x="92710" y="1158240"/>
                  </a:lnTo>
                  <a:cubicBezTo>
                    <a:pt x="41529" y="1158240"/>
                    <a:pt x="0" y="1116711"/>
                    <a:pt x="0" y="1065530"/>
                  </a:cubicBezTo>
                  <a:close/>
                </a:path>
              </a:pathLst>
            </a:custGeom>
            <a:solidFill>
              <a:srgbClr val="3AC1D1"/>
            </a:solidFill>
          </p:spPr>
          <p:txBody>
            <a:bodyPr/>
            <a:p/>
          </p:txBody>
        </p:sp>
        <p:sp>
          <p:nvSpPr>
            <p:cNvPr name="TextBox 87" id="87"/>
            <p:cNvSpPr txBox="true"/>
            <p:nvPr/>
          </p:nvSpPr>
          <p:spPr>
            <a:xfrm>
              <a:off x="0" y="-28575"/>
              <a:ext cx="3657600" cy="1186815"/>
            </a:xfrm>
            <a:prstGeom prst="rect">
              <a:avLst/>
            </a:prstGeom>
          </p:spPr>
          <p:txBody>
            <a:bodyPr anchor="ctr" rtlCol="false" tIns="50800" lIns="50800" bIns="50800" rIns="50800"/>
            <a:lstStyle/>
            <a:p>
              <a:pPr algn="ctr">
                <a:lnSpc>
                  <a:spcPts val="1788"/>
                </a:lnSpc>
              </a:pPr>
              <a:r>
                <a:rPr lang="en-US" sz="1490" b="true">
                  <a:solidFill>
                    <a:srgbClr val="FFFFFF"/>
                  </a:solidFill>
                  <a:latin typeface="Calibri (MS) Bold"/>
                  <a:ea typeface="Calibri (MS) Bold"/>
                  <a:cs typeface="Calibri (MS) Bold"/>
                  <a:sym typeface="Calibri (MS) Bold"/>
                </a:rPr>
                <a:t>CUKUP BAIK, DENGAN CATATAN</a:t>
              </a:r>
            </a:p>
          </p:txBody>
        </p:sp>
      </p:grpSp>
      <p:grpSp>
        <p:nvGrpSpPr>
          <p:cNvPr name="Group 88" id="88"/>
          <p:cNvGrpSpPr/>
          <p:nvPr/>
        </p:nvGrpSpPr>
        <p:grpSpPr>
          <a:xfrm rot="0">
            <a:off x="816607" y="5297167"/>
            <a:ext cx="10985497" cy="881377"/>
            <a:chOff x="0" y="0"/>
            <a:chExt cx="14647329" cy="1175169"/>
          </a:xfrm>
        </p:grpSpPr>
        <p:sp>
          <p:nvSpPr>
            <p:cNvPr name="Freeform 89" id="89"/>
            <p:cNvSpPr/>
            <p:nvPr/>
          </p:nvSpPr>
          <p:spPr>
            <a:xfrm flipH="false" flipV="false" rot="0">
              <a:off x="0" y="0"/>
              <a:ext cx="14647292" cy="1175131"/>
            </a:xfrm>
            <a:custGeom>
              <a:avLst/>
              <a:gdLst/>
              <a:ahLst/>
              <a:cxnLst/>
              <a:rect r="r" b="b" t="t" l="l"/>
              <a:pathLst>
                <a:path h="1175131" w="14647292">
                  <a:moveTo>
                    <a:pt x="0" y="93980"/>
                  </a:moveTo>
                  <a:cubicBezTo>
                    <a:pt x="0" y="42037"/>
                    <a:pt x="42037" y="0"/>
                    <a:pt x="93980" y="0"/>
                  </a:cubicBezTo>
                  <a:lnTo>
                    <a:pt x="14553312" y="0"/>
                  </a:lnTo>
                  <a:cubicBezTo>
                    <a:pt x="14605254" y="0"/>
                    <a:pt x="14647292" y="42037"/>
                    <a:pt x="14647292" y="93980"/>
                  </a:cubicBezTo>
                  <a:lnTo>
                    <a:pt x="14647292" y="1081151"/>
                  </a:lnTo>
                  <a:cubicBezTo>
                    <a:pt x="14647292" y="1133094"/>
                    <a:pt x="14605254" y="1175131"/>
                    <a:pt x="14553312" y="1175131"/>
                  </a:cubicBezTo>
                  <a:lnTo>
                    <a:pt x="93980" y="1175131"/>
                  </a:lnTo>
                  <a:cubicBezTo>
                    <a:pt x="42037" y="1175131"/>
                    <a:pt x="0" y="1133094"/>
                    <a:pt x="0" y="1081151"/>
                  </a:cubicBezTo>
                  <a:close/>
                </a:path>
              </a:pathLst>
            </a:custGeom>
            <a:solidFill>
              <a:srgbClr val="EAF8FA"/>
            </a:solidFill>
            <a:ln w="12700" cap="sq">
              <a:solidFill>
                <a:srgbClr val="CFE5E9"/>
              </a:solidFill>
              <a:prstDash val="solid"/>
              <a:miter/>
            </a:ln>
          </p:spPr>
          <p:txBody>
            <a:bodyPr/>
            <a:p/>
          </p:txBody>
        </p:sp>
        <p:sp>
          <p:nvSpPr>
            <p:cNvPr name="TextBox 90" id="90"/>
            <p:cNvSpPr txBox="true"/>
            <p:nvPr/>
          </p:nvSpPr>
          <p:spPr>
            <a:xfrm>
              <a:off x="0" y="-19050"/>
              <a:ext cx="14647329" cy="1194219"/>
            </a:xfrm>
            <a:prstGeom prst="rect">
              <a:avLst/>
            </a:prstGeom>
          </p:spPr>
          <p:txBody>
            <a:bodyPr anchor="ctr" rtlCol="false" tIns="50800" lIns="50800" bIns="50800" rIns="50800"/>
            <a:lstStyle/>
            <a:p>
              <a:pPr algn="l">
                <a:lnSpc>
                  <a:spcPts val="1860"/>
                </a:lnSpc>
              </a:pPr>
              <a:r>
                <a:rPr lang="en-US" sz="1550" b="true">
                  <a:solidFill>
                    <a:srgbClr val="0B5E6E"/>
                  </a:solidFill>
                  <a:latin typeface="Calibri (MS) Bold"/>
                  <a:ea typeface="Calibri (MS) Bold"/>
                  <a:cs typeface="Calibri (MS) Bold"/>
                  <a:sym typeface="Calibri (MS) Bold"/>
                </a:rPr>
                <a:t>Sumber error  Hanya pada pertumbuhan wisatawan → lonjakan pemulihan pascapandemi yang tidak dicakup model, bukan kesalahan parameter.</a:t>
              </a:r>
            </a:p>
          </p:txBody>
        </p:sp>
      </p:grpSp>
      <p:grpSp>
        <p:nvGrpSpPr>
          <p:cNvPr name="Group 91" id="91"/>
          <p:cNvGrpSpPr/>
          <p:nvPr/>
        </p:nvGrpSpPr>
        <p:grpSpPr>
          <a:xfrm rot="0">
            <a:off x="11978640" y="5303520"/>
            <a:ext cx="2743200" cy="868680"/>
            <a:chOff x="0" y="0"/>
            <a:chExt cx="3657600" cy="1158240"/>
          </a:xfrm>
        </p:grpSpPr>
        <p:sp>
          <p:nvSpPr>
            <p:cNvPr name="Freeform 92" id="92"/>
            <p:cNvSpPr/>
            <p:nvPr/>
          </p:nvSpPr>
          <p:spPr>
            <a:xfrm flipH="false" flipV="false" rot="0">
              <a:off x="0" y="0"/>
              <a:ext cx="3657600" cy="1158240"/>
            </a:xfrm>
            <a:custGeom>
              <a:avLst/>
              <a:gdLst/>
              <a:ahLst/>
              <a:cxnLst/>
              <a:rect r="r" b="b" t="t" l="l"/>
              <a:pathLst>
                <a:path h="1158240" w="3657600">
                  <a:moveTo>
                    <a:pt x="0" y="92710"/>
                  </a:moveTo>
                  <a:cubicBezTo>
                    <a:pt x="0" y="41529"/>
                    <a:pt x="41529" y="0"/>
                    <a:pt x="92710" y="0"/>
                  </a:cubicBezTo>
                  <a:lnTo>
                    <a:pt x="3564890" y="0"/>
                  </a:lnTo>
                  <a:cubicBezTo>
                    <a:pt x="3616071" y="0"/>
                    <a:pt x="3657600" y="41529"/>
                    <a:pt x="3657600" y="92710"/>
                  </a:cubicBezTo>
                  <a:lnTo>
                    <a:pt x="3657600" y="1065530"/>
                  </a:lnTo>
                  <a:cubicBezTo>
                    <a:pt x="3657600" y="1116711"/>
                    <a:pt x="3616071" y="1158240"/>
                    <a:pt x="3564890" y="1158240"/>
                  </a:cubicBezTo>
                  <a:lnTo>
                    <a:pt x="92710" y="1158240"/>
                  </a:lnTo>
                  <a:cubicBezTo>
                    <a:pt x="41529" y="1158240"/>
                    <a:pt x="0" y="1116711"/>
                    <a:pt x="0" y="1065530"/>
                  </a:cubicBezTo>
                  <a:close/>
                </a:path>
              </a:pathLst>
            </a:custGeom>
            <a:solidFill>
              <a:srgbClr val="3AC1D1"/>
            </a:solidFill>
          </p:spPr>
          <p:txBody>
            <a:bodyPr/>
            <a:p/>
          </p:txBody>
        </p:sp>
        <p:sp>
          <p:nvSpPr>
            <p:cNvPr name="TextBox 93" id="93"/>
            <p:cNvSpPr txBox="true"/>
            <p:nvPr/>
          </p:nvSpPr>
          <p:spPr>
            <a:xfrm>
              <a:off x="0" y="-28575"/>
              <a:ext cx="3657600" cy="1186815"/>
            </a:xfrm>
            <a:prstGeom prst="rect">
              <a:avLst/>
            </a:prstGeom>
          </p:spPr>
          <p:txBody>
            <a:bodyPr anchor="ctr" rtlCol="false" tIns="50800" lIns="50800" bIns="50800" rIns="50800"/>
            <a:lstStyle/>
            <a:p>
              <a:pPr algn="ctr">
                <a:lnSpc>
                  <a:spcPts val="1788"/>
                </a:lnSpc>
              </a:pPr>
              <a:r>
                <a:rPr lang="en-US" sz="1490" b="true">
                  <a:solidFill>
                    <a:srgbClr val="FFFFFF"/>
                  </a:solidFill>
                  <a:latin typeface="Calibri (MS) Bold"/>
                  <a:ea typeface="Calibri (MS) Bold"/>
                  <a:cs typeface="Calibri (MS) Bold"/>
                  <a:sym typeface="Calibri (MS) Bold"/>
                </a:rPr>
                <a:t>TERJELASKAN</a:t>
              </a:r>
            </a:p>
          </p:txBody>
        </p:sp>
      </p:grpSp>
      <p:grpSp>
        <p:nvGrpSpPr>
          <p:cNvPr name="Group 94" id="94"/>
          <p:cNvGrpSpPr/>
          <p:nvPr/>
        </p:nvGrpSpPr>
        <p:grpSpPr>
          <a:xfrm rot="0">
            <a:off x="816607" y="6303007"/>
            <a:ext cx="10985497" cy="881377"/>
            <a:chOff x="0" y="0"/>
            <a:chExt cx="14647329" cy="1175169"/>
          </a:xfrm>
        </p:grpSpPr>
        <p:sp>
          <p:nvSpPr>
            <p:cNvPr name="Freeform 95" id="95"/>
            <p:cNvSpPr/>
            <p:nvPr/>
          </p:nvSpPr>
          <p:spPr>
            <a:xfrm flipH="false" flipV="false" rot="0">
              <a:off x="0" y="0"/>
              <a:ext cx="14647292" cy="1175131"/>
            </a:xfrm>
            <a:custGeom>
              <a:avLst/>
              <a:gdLst/>
              <a:ahLst/>
              <a:cxnLst/>
              <a:rect r="r" b="b" t="t" l="l"/>
              <a:pathLst>
                <a:path h="1175131" w="14647292">
                  <a:moveTo>
                    <a:pt x="0" y="93980"/>
                  </a:moveTo>
                  <a:cubicBezTo>
                    <a:pt x="0" y="42037"/>
                    <a:pt x="42037" y="0"/>
                    <a:pt x="93980" y="0"/>
                  </a:cubicBezTo>
                  <a:lnTo>
                    <a:pt x="14553312" y="0"/>
                  </a:lnTo>
                  <a:cubicBezTo>
                    <a:pt x="14605254" y="0"/>
                    <a:pt x="14647292" y="42037"/>
                    <a:pt x="14647292" y="93980"/>
                  </a:cubicBezTo>
                  <a:lnTo>
                    <a:pt x="14647292" y="1081151"/>
                  </a:lnTo>
                  <a:cubicBezTo>
                    <a:pt x="14647292" y="1133094"/>
                    <a:pt x="14605254" y="1175131"/>
                    <a:pt x="14553312" y="1175131"/>
                  </a:cubicBezTo>
                  <a:lnTo>
                    <a:pt x="93980" y="1175131"/>
                  </a:lnTo>
                  <a:cubicBezTo>
                    <a:pt x="42037" y="1175131"/>
                    <a:pt x="0" y="1133094"/>
                    <a:pt x="0" y="1081151"/>
                  </a:cubicBezTo>
                  <a:close/>
                </a:path>
              </a:pathLst>
            </a:custGeom>
            <a:solidFill>
              <a:srgbClr val="EAF8FA"/>
            </a:solidFill>
            <a:ln w="12700" cap="sq">
              <a:solidFill>
                <a:srgbClr val="CFE5E9"/>
              </a:solidFill>
              <a:prstDash val="solid"/>
              <a:miter/>
            </a:ln>
          </p:spPr>
          <p:txBody>
            <a:bodyPr/>
            <a:p/>
          </p:txBody>
        </p:sp>
        <p:sp>
          <p:nvSpPr>
            <p:cNvPr name="TextBox 96" id="96"/>
            <p:cNvSpPr txBox="true"/>
            <p:nvPr/>
          </p:nvSpPr>
          <p:spPr>
            <a:xfrm>
              <a:off x="0" y="-19050"/>
              <a:ext cx="14647329" cy="1194219"/>
            </a:xfrm>
            <a:prstGeom prst="rect">
              <a:avLst/>
            </a:prstGeom>
          </p:spPr>
          <p:txBody>
            <a:bodyPr anchor="ctr" rtlCol="false" tIns="50800" lIns="50800" bIns="50800" rIns="50800"/>
            <a:lstStyle/>
            <a:p>
              <a:pPr algn="l">
                <a:lnSpc>
                  <a:spcPts val="1860"/>
                </a:lnSpc>
              </a:pPr>
              <a:r>
                <a:rPr lang="en-US" sz="1550" b="true">
                  <a:solidFill>
                    <a:srgbClr val="0B5E6E"/>
                  </a:solidFill>
                  <a:latin typeface="Calibri (MS) Bold"/>
                  <a:ea typeface="Calibri (MS) Bold"/>
                  <a:cs typeface="Calibri (MS) Bold"/>
                  <a:sym typeface="Calibri (MS) Bold"/>
                </a:rPr>
                <a:t>Nilai parameter  </a:t>
              </a:r>
              <a:r>
                <a:rPr lang="en-US" sz="1550">
                  <a:solidFill>
                    <a:srgbClr val="14313B"/>
                  </a:solidFill>
                  <a:latin typeface="Calibri (MS)"/>
                  <a:ea typeface="Calibri (MS)"/>
                  <a:cs typeface="Calibri (MS)"/>
                  <a:sym typeface="Calibri (MS)"/>
                </a:rPr>
                <a:t>Kalibrasi 3 parameter → 0 berubah; nilai dari data terkonfirmasi (Oliva, 2003).</a:t>
              </a:r>
            </a:p>
          </p:txBody>
        </p:sp>
      </p:grpSp>
      <p:grpSp>
        <p:nvGrpSpPr>
          <p:cNvPr name="Group 97" id="97"/>
          <p:cNvGrpSpPr/>
          <p:nvPr/>
        </p:nvGrpSpPr>
        <p:grpSpPr>
          <a:xfrm rot="0">
            <a:off x="11978640" y="6309360"/>
            <a:ext cx="2743200" cy="868680"/>
            <a:chOff x="0" y="0"/>
            <a:chExt cx="3657600" cy="1158240"/>
          </a:xfrm>
        </p:grpSpPr>
        <p:sp>
          <p:nvSpPr>
            <p:cNvPr name="Freeform 98" id="98"/>
            <p:cNvSpPr/>
            <p:nvPr/>
          </p:nvSpPr>
          <p:spPr>
            <a:xfrm flipH="false" flipV="false" rot="0">
              <a:off x="0" y="0"/>
              <a:ext cx="3657600" cy="1158240"/>
            </a:xfrm>
            <a:custGeom>
              <a:avLst/>
              <a:gdLst/>
              <a:ahLst/>
              <a:cxnLst/>
              <a:rect r="r" b="b" t="t" l="l"/>
              <a:pathLst>
                <a:path h="1158240" w="3657600">
                  <a:moveTo>
                    <a:pt x="0" y="92710"/>
                  </a:moveTo>
                  <a:cubicBezTo>
                    <a:pt x="0" y="41529"/>
                    <a:pt x="41529" y="0"/>
                    <a:pt x="92710" y="0"/>
                  </a:cubicBezTo>
                  <a:lnTo>
                    <a:pt x="3564890" y="0"/>
                  </a:lnTo>
                  <a:cubicBezTo>
                    <a:pt x="3616071" y="0"/>
                    <a:pt x="3657600" y="41529"/>
                    <a:pt x="3657600" y="92710"/>
                  </a:cubicBezTo>
                  <a:lnTo>
                    <a:pt x="3657600" y="1065530"/>
                  </a:lnTo>
                  <a:cubicBezTo>
                    <a:pt x="3657600" y="1116711"/>
                    <a:pt x="3616071" y="1158240"/>
                    <a:pt x="3564890" y="1158240"/>
                  </a:cubicBezTo>
                  <a:lnTo>
                    <a:pt x="92710" y="1158240"/>
                  </a:lnTo>
                  <a:cubicBezTo>
                    <a:pt x="41529" y="1158240"/>
                    <a:pt x="0" y="1116711"/>
                    <a:pt x="0" y="1065530"/>
                  </a:cubicBezTo>
                  <a:close/>
                </a:path>
              </a:pathLst>
            </a:custGeom>
            <a:solidFill>
              <a:srgbClr val="0B5E6E"/>
            </a:solidFill>
          </p:spPr>
          <p:txBody>
            <a:bodyPr/>
            <a:p/>
          </p:txBody>
        </p:sp>
        <p:sp>
          <p:nvSpPr>
            <p:cNvPr name="TextBox 99" id="99"/>
            <p:cNvSpPr txBox="true"/>
            <p:nvPr/>
          </p:nvSpPr>
          <p:spPr>
            <a:xfrm>
              <a:off x="0" y="-28575"/>
              <a:ext cx="3657600" cy="1186815"/>
            </a:xfrm>
            <a:prstGeom prst="rect">
              <a:avLst/>
            </a:prstGeom>
          </p:spPr>
          <p:txBody>
            <a:bodyPr anchor="ctr" rtlCol="false" tIns="50800" lIns="50800" bIns="50800" rIns="50800"/>
            <a:lstStyle/>
            <a:p>
              <a:pPr algn="ctr">
                <a:lnSpc>
                  <a:spcPts val="1788"/>
                </a:lnSpc>
              </a:pPr>
              <a:r>
                <a:rPr lang="en-US" sz="1490" b="true">
                  <a:solidFill>
                    <a:srgbClr val="FFFFFF"/>
                  </a:solidFill>
                  <a:latin typeface="Calibri (MS) Bold"/>
                  <a:ea typeface="Calibri (MS) Bold"/>
                  <a:cs typeface="Calibri (MS) Bold"/>
                  <a:sym typeface="Calibri (MS) Bold"/>
                </a:rPr>
                <a:t>TERKONFIRMASI</a:t>
              </a:r>
            </a:p>
          </p:txBody>
        </p:sp>
      </p:grpSp>
      <p:grpSp>
        <p:nvGrpSpPr>
          <p:cNvPr name="Group 100" id="100"/>
          <p:cNvGrpSpPr/>
          <p:nvPr/>
        </p:nvGrpSpPr>
        <p:grpSpPr>
          <a:xfrm rot="0">
            <a:off x="14944087" y="2279647"/>
            <a:ext cx="2527297" cy="4904737"/>
            <a:chOff x="0" y="0"/>
            <a:chExt cx="3369729" cy="6539649"/>
          </a:xfrm>
        </p:grpSpPr>
        <p:sp>
          <p:nvSpPr>
            <p:cNvPr name="Freeform 101" id="101"/>
            <p:cNvSpPr/>
            <p:nvPr/>
          </p:nvSpPr>
          <p:spPr>
            <a:xfrm flipH="false" flipV="false" rot="0">
              <a:off x="0" y="0"/>
              <a:ext cx="3369818" cy="6539738"/>
            </a:xfrm>
            <a:custGeom>
              <a:avLst/>
              <a:gdLst/>
              <a:ahLst/>
              <a:cxnLst/>
              <a:rect r="r" b="b" t="t" l="l"/>
              <a:pathLst>
                <a:path h="6539738" w="3369818">
                  <a:moveTo>
                    <a:pt x="0" y="269621"/>
                  </a:moveTo>
                  <a:cubicBezTo>
                    <a:pt x="0" y="120650"/>
                    <a:pt x="120650" y="0"/>
                    <a:pt x="269621" y="0"/>
                  </a:cubicBezTo>
                  <a:lnTo>
                    <a:pt x="3100197" y="0"/>
                  </a:lnTo>
                  <a:cubicBezTo>
                    <a:pt x="3249041" y="0"/>
                    <a:pt x="3369818" y="120650"/>
                    <a:pt x="3369818" y="269621"/>
                  </a:cubicBezTo>
                  <a:lnTo>
                    <a:pt x="3369818" y="6270117"/>
                  </a:lnTo>
                  <a:cubicBezTo>
                    <a:pt x="3369818" y="6418961"/>
                    <a:pt x="3249168" y="6539738"/>
                    <a:pt x="3100197" y="6539738"/>
                  </a:cubicBezTo>
                  <a:lnTo>
                    <a:pt x="269621" y="6539738"/>
                  </a:lnTo>
                  <a:cubicBezTo>
                    <a:pt x="120650" y="6539611"/>
                    <a:pt x="0" y="6418961"/>
                    <a:pt x="0" y="6270117"/>
                  </a:cubicBezTo>
                  <a:close/>
                </a:path>
              </a:pathLst>
            </a:custGeom>
            <a:solidFill>
              <a:srgbClr val="FFF1BF"/>
            </a:solidFill>
            <a:ln w="12700" cap="sq">
              <a:solidFill>
                <a:srgbClr val="FFD23B"/>
              </a:solidFill>
              <a:prstDash val="solid"/>
              <a:miter/>
            </a:ln>
          </p:spPr>
          <p:txBody>
            <a:bodyPr/>
            <a:p/>
          </p:txBody>
        </p:sp>
        <p:sp>
          <p:nvSpPr>
            <p:cNvPr name="TextBox 102" id="102"/>
            <p:cNvSpPr txBox="true"/>
            <p:nvPr/>
          </p:nvSpPr>
          <p:spPr>
            <a:xfrm>
              <a:off x="0" y="-38100"/>
              <a:ext cx="3369729" cy="6577749"/>
            </a:xfrm>
            <a:prstGeom prst="rect">
              <a:avLst/>
            </a:prstGeom>
          </p:spPr>
          <p:txBody>
            <a:bodyPr anchor="t" rtlCol="false" tIns="50800" lIns="50800" bIns="50800" rIns="50800"/>
            <a:lstStyle/>
            <a:p>
              <a:pPr algn="l">
                <a:lnSpc>
                  <a:spcPts val="2063"/>
                </a:lnSpc>
              </a:pPr>
              <a:r>
                <a:rPr lang="en-US" sz="1719" b="true">
                  <a:solidFill>
                    <a:srgbClr val="E4604F"/>
                  </a:solidFill>
                  <a:latin typeface="Calibri (MS) Bold"/>
                  <a:ea typeface="Calibri (MS) Bold"/>
                  <a:cs typeface="Calibri (MS) Bold"/>
                  <a:sym typeface="Calibri (MS) Bold"/>
                </a:rPr>
                <a:t>Batas pemakaian</a:t>
              </a:r>
            </a:p>
            <a:p>
              <a:pPr algn="l">
                <a:lnSpc>
                  <a:spcPts val="1788"/>
                </a:lnSpc>
              </a:pPr>
              <a:r>
                <a:rPr lang="en-US" sz="1490">
                  <a:solidFill>
                    <a:srgbClr val="14313B"/>
                  </a:solidFill>
                  <a:latin typeface="Calibri (MS)"/>
                  <a:ea typeface="Calibri (MS)"/>
                  <a:cs typeface="Calibri (MS)"/>
                  <a:sym typeface="Calibri (MS)"/>
                </a:rPr>
                <a:t>Bukan alat ramal angka absolut</a:t>
              </a:r>
            </a:p>
            <a:p>
              <a:pPr algn="l">
                <a:lnSpc>
                  <a:spcPts val="1788"/>
                </a:lnSpc>
              </a:pPr>
              <a:r>
                <a:rPr lang="en-US" sz="1490">
                  <a:solidFill>
                    <a:srgbClr val="14313B"/>
                  </a:solidFill>
                  <a:latin typeface="Calibri (MS)"/>
                  <a:ea typeface="Calibri (MS)"/>
                  <a:cs typeface="Calibri (MS)"/>
                  <a:sym typeface="Calibri (MS)"/>
                </a:rPr>
                <a:t>Evaluasi pascakalibrasi ≠ validasi independen</a:t>
              </a:r>
            </a:p>
            <a:p>
              <a:pPr algn="l">
                <a:lnSpc>
                  <a:spcPts val="1788"/>
                </a:lnSpc>
              </a:pPr>
              <a:r>
                <a:rPr lang="en-US" sz="1490">
                  <a:solidFill>
                    <a:srgbClr val="14313B"/>
                  </a:solidFill>
                  <a:latin typeface="Calibri (MS)"/>
                  <a:ea typeface="Calibri (MS)"/>
                  <a:cs typeface="Calibri (MS)"/>
                  <a:sym typeface="Calibri (MS)"/>
                </a:rPr>
                <a:t>Tanpa shock eksternal</a:t>
              </a:r>
            </a:p>
            <a:p>
              <a:pPr algn="l">
                <a:lnSpc>
                  <a:spcPts val="1788"/>
                </a:lnSpc>
              </a:pPr>
              <a:r>
                <a:rPr lang="en-US" sz="1490">
                  <a:solidFill>
                    <a:srgbClr val="14313B"/>
                  </a:solidFill>
                  <a:latin typeface="Calibri (MS)"/>
                  <a:ea typeface="Calibri (MS)"/>
                  <a:cs typeface="Calibri (MS)"/>
                  <a:sym typeface="Calibri (MS)"/>
                </a:rPr>
                <a:t>Rasio LPD/LPE tidak bisa ditentukan dari data</a:t>
              </a:r>
            </a:p>
          </p:txBody>
        </p:sp>
      </p:grpSp>
      <p:grpSp>
        <p:nvGrpSpPr>
          <p:cNvPr name="Group 103" id="103"/>
          <p:cNvGrpSpPr/>
          <p:nvPr/>
        </p:nvGrpSpPr>
        <p:grpSpPr>
          <a:xfrm rot="0">
            <a:off x="822960" y="7452360"/>
            <a:ext cx="16642080" cy="868680"/>
            <a:chOff x="0" y="0"/>
            <a:chExt cx="22189440" cy="1158240"/>
          </a:xfrm>
        </p:grpSpPr>
        <p:sp>
          <p:nvSpPr>
            <p:cNvPr name="Freeform 104" id="104"/>
            <p:cNvSpPr/>
            <p:nvPr/>
          </p:nvSpPr>
          <p:spPr>
            <a:xfrm flipH="false" flipV="false" rot="0">
              <a:off x="0" y="0"/>
              <a:ext cx="22189441" cy="1158240"/>
            </a:xfrm>
            <a:custGeom>
              <a:avLst/>
              <a:gdLst/>
              <a:ahLst/>
              <a:cxnLst/>
              <a:rect r="r" b="b" t="t" l="l"/>
              <a:pathLst>
                <a:path h="1158240" w="22189441">
                  <a:moveTo>
                    <a:pt x="0" y="92710"/>
                  </a:moveTo>
                  <a:cubicBezTo>
                    <a:pt x="0" y="41529"/>
                    <a:pt x="41529" y="0"/>
                    <a:pt x="92710" y="0"/>
                  </a:cubicBezTo>
                  <a:lnTo>
                    <a:pt x="22096730" y="0"/>
                  </a:lnTo>
                  <a:cubicBezTo>
                    <a:pt x="22147912" y="0"/>
                    <a:pt x="22189441" y="41529"/>
                    <a:pt x="22189441" y="92710"/>
                  </a:cubicBezTo>
                  <a:lnTo>
                    <a:pt x="22189441" y="1065530"/>
                  </a:lnTo>
                  <a:cubicBezTo>
                    <a:pt x="22189441" y="1116711"/>
                    <a:pt x="22147912" y="1158240"/>
                    <a:pt x="22096730" y="1158240"/>
                  </a:cubicBezTo>
                  <a:lnTo>
                    <a:pt x="92710" y="1158240"/>
                  </a:lnTo>
                  <a:cubicBezTo>
                    <a:pt x="41529" y="1158240"/>
                    <a:pt x="0" y="1116711"/>
                    <a:pt x="0" y="1065530"/>
                  </a:cubicBezTo>
                  <a:close/>
                </a:path>
              </a:pathLst>
            </a:custGeom>
            <a:solidFill>
              <a:srgbClr val="0B5E6E"/>
            </a:solidFill>
          </p:spPr>
          <p:txBody>
            <a:bodyPr/>
            <a:p/>
          </p:txBody>
        </p:sp>
        <p:sp>
          <p:nvSpPr>
            <p:cNvPr name="TextBox 105" id="105"/>
            <p:cNvSpPr txBox="true"/>
            <p:nvPr/>
          </p:nvSpPr>
          <p:spPr>
            <a:xfrm>
              <a:off x="0" y="-47625"/>
              <a:ext cx="22189440" cy="1205865"/>
            </a:xfrm>
            <a:prstGeom prst="rect">
              <a:avLst/>
            </a:prstGeom>
          </p:spPr>
          <p:txBody>
            <a:bodyPr anchor="ctr" rtlCol="false" tIns="50800" lIns="50800" bIns="50800" rIns="50800"/>
            <a:lstStyle/>
            <a:p>
              <a:pPr algn="l">
                <a:lnSpc>
                  <a:spcPts val="2340"/>
                </a:lnSpc>
              </a:pPr>
              <a:r>
                <a:rPr lang="en-US" sz="1950" b="true">
                  <a:solidFill>
                    <a:srgbClr val="FFFFFF"/>
                  </a:solidFill>
                  <a:latin typeface="Calibri (MS) Bold"/>
                  <a:ea typeface="Calibri (MS) Bold"/>
                  <a:cs typeface="Calibri (MS) Bold"/>
                  <a:sym typeface="Calibri (MS) Bold"/>
                </a:rPr>
                <a:t>Keputusan: model layak dipakai untuk membandingkan arah dan besaran relatif antarskenario kebijakan 2025–2050.</a:t>
              </a:r>
            </a:p>
          </p:txBody>
        </p:sp>
      </p:grpSp>
      <p:grpSp>
        <p:nvGrpSpPr>
          <p:cNvPr name="Group 106" id="106"/>
          <p:cNvGrpSpPr/>
          <p:nvPr/>
        </p:nvGrpSpPr>
        <p:grpSpPr>
          <a:xfrm rot="0">
            <a:off x="16047720" y="9646920"/>
            <a:ext cx="420624" cy="420624"/>
            <a:chOff x="0" y="0"/>
            <a:chExt cx="560832" cy="560832"/>
          </a:xfrm>
        </p:grpSpPr>
        <p:sp>
          <p:nvSpPr>
            <p:cNvPr name="Freeform 107" id="107"/>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08" id="108"/>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0010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Rancangan Analisis Sensitivitas</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Sensitivitas diuji dari perubahan ±10% sampai seluruh rentang nilai</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54</a:t>
            </a:r>
          </a:p>
        </p:txBody>
      </p:sp>
      <p:sp>
        <p:nvSpPr>
          <p:cNvPr name="Freeform 67" id="67"/>
          <p:cNvSpPr/>
          <p:nvPr/>
        </p:nvSpPr>
        <p:spPr>
          <a:xfrm flipH="false" flipV="false" rot="0">
            <a:off x="806291" y="2223611"/>
            <a:ext cx="5458778" cy="3448622"/>
          </a:xfrm>
          <a:custGeom>
            <a:avLst/>
            <a:gdLst/>
            <a:ahLst/>
            <a:cxnLst/>
            <a:rect r="r" b="b" t="t" l="l"/>
            <a:pathLst>
              <a:path h="3448622" w="5458778">
                <a:moveTo>
                  <a:pt x="0" y="0"/>
                </a:moveTo>
                <a:lnTo>
                  <a:pt x="5458778" y="0"/>
                </a:lnTo>
                <a:lnTo>
                  <a:pt x="545877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68" id="68"/>
          <p:cNvGrpSpPr/>
          <p:nvPr/>
        </p:nvGrpSpPr>
        <p:grpSpPr>
          <a:xfrm rot="0">
            <a:off x="1051560" y="2468880"/>
            <a:ext cx="530352" cy="530352"/>
            <a:chOff x="0" y="0"/>
            <a:chExt cx="707136" cy="707136"/>
          </a:xfrm>
        </p:grpSpPr>
        <p:sp>
          <p:nvSpPr>
            <p:cNvPr name="Freeform 69" id="69"/>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70" id="70"/>
          <p:cNvGrpSpPr/>
          <p:nvPr/>
        </p:nvGrpSpPr>
        <p:grpSpPr>
          <a:xfrm rot="0">
            <a:off x="1051560" y="2447449"/>
            <a:ext cx="530352" cy="551783"/>
            <a:chOff x="0" y="0"/>
            <a:chExt cx="707136" cy="735711"/>
          </a:xfrm>
        </p:grpSpPr>
        <p:sp>
          <p:nvSpPr>
            <p:cNvPr name="Freeform 71" id="71"/>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72" id="72"/>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1</a:t>
              </a:r>
            </a:p>
          </p:txBody>
        </p:sp>
      </p:grpSp>
      <p:sp>
        <p:nvSpPr>
          <p:cNvPr name="TextBox 73" id="73"/>
          <p:cNvSpPr txBox="true"/>
          <p:nvPr/>
        </p:nvSpPr>
        <p:spPr>
          <a:xfrm rot="0">
            <a:off x="1719072" y="2372868"/>
            <a:ext cx="4373880" cy="800710"/>
          </a:xfrm>
          <a:prstGeom prst="rect">
            <a:avLst/>
          </a:prstGeom>
        </p:spPr>
        <p:txBody>
          <a:bodyPr anchor="t" rtlCol="false" tIns="0" lIns="0" bIns="0" rIns="0">
            <a:spAutoFit/>
          </a:bodyPr>
          <a:lstStyle/>
          <a:p>
            <a:pPr algn="l">
              <a:lnSpc>
                <a:spcPts val="2485"/>
              </a:lnSpc>
            </a:pPr>
            <a:r>
              <a:rPr lang="en-US" sz="1850" b="true">
                <a:solidFill>
                  <a:srgbClr val="0B5E6E"/>
                </a:solidFill>
                <a:latin typeface="Calibri (MS) Bold"/>
                <a:ea typeface="Calibri (MS) Bold"/>
                <a:cs typeface="Calibri (MS) Bold"/>
                <a:sym typeface="Calibri (MS) Bold"/>
              </a:rPr>
              <a:t>Bagian 1 · Perubahan ±10% (satu per satu)</a:t>
            </a:r>
          </a:p>
        </p:txBody>
      </p:sp>
      <p:sp>
        <p:nvSpPr>
          <p:cNvPr name="TextBox 74" id="74"/>
          <p:cNvSpPr txBox="true"/>
          <p:nvPr/>
        </p:nvSpPr>
        <p:spPr>
          <a:xfrm rot="0">
            <a:off x="1051560" y="3178912"/>
            <a:ext cx="4968240" cy="1242517"/>
          </a:xfrm>
          <a:prstGeom prst="rect">
            <a:avLst/>
          </a:prstGeom>
        </p:spPr>
        <p:txBody>
          <a:bodyPr anchor="t" rtlCol="false" tIns="0" lIns="0" bIns="0" rIns="0">
            <a:spAutoFit/>
          </a:bodyPr>
          <a:lstStyle/>
          <a:p>
            <a:pPr algn="l">
              <a:lnSpc>
                <a:spcPts val="2149"/>
              </a:lnSpc>
            </a:pPr>
            <a:r>
              <a:rPr lang="en-US" sz="1599">
                <a:solidFill>
                  <a:srgbClr val="14313B"/>
                </a:solidFill>
                <a:latin typeface="Calibri (MS)"/>
                <a:ea typeface="Calibri (MS)"/>
                <a:cs typeface="Calibri (MS)"/>
                <a:sym typeface="Calibri (MS)"/>
              </a:rPr>
              <a:t>Prosedur Mai dan Smith (2018): 32 parameter dinaikkan dan diturunkan 10%, satu parameter per simulasi. Kedua variabel kebijakan tidak diuji di sini (nilainya nol pada kondisi dasar).</a:t>
            </a:r>
          </a:p>
        </p:txBody>
      </p:sp>
      <p:grpSp>
        <p:nvGrpSpPr>
          <p:cNvPr name="Group 75" id="75"/>
          <p:cNvGrpSpPr/>
          <p:nvPr/>
        </p:nvGrpSpPr>
        <p:grpSpPr>
          <a:xfrm rot="0">
            <a:off x="987552" y="4494581"/>
            <a:ext cx="5096256" cy="546164"/>
            <a:chOff x="0" y="0"/>
            <a:chExt cx="6795008" cy="728218"/>
          </a:xfrm>
        </p:grpSpPr>
        <p:sp>
          <p:nvSpPr>
            <p:cNvPr name="Freeform 76" id="76"/>
            <p:cNvSpPr/>
            <p:nvPr/>
          </p:nvSpPr>
          <p:spPr>
            <a:xfrm flipH="false" flipV="false" rot="0">
              <a:off x="0" y="0"/>
              <a:ext cx="6795008" cy="728218"/>
            </a:xfrm>
            <a:custGeom>
              <a:avLst/>
              <a:gdLst/>
              <a:ahLst/>
              <a:cxnLst/>
              <a:rect r="r" b="b" t="t" l="l"/>
              <a:pathLst>
                <a:path h="728218" w="6795008">
                  <a:moveTo>
                    <a:pt x="0" y="97536"/>
                  </a:moveTo>
                  <a:cubicBezTo>
                    <a:pt x="0" y="43688"/>
                    <a:pt x="43688" y="0"/>
                    <a:pt x="97536" y="0"/>
                  </a:cubicBezTo>
                  <a:lnTo>
                    <a:pt x="6697472" y="0"/>
                  </a:lnTo>
                  <a:cubicBezTo>
                    <a:pt x="6751320" y="0"/>
                    <a:pt x="6795008" y="43688"/>
                    <a:pt x="6795008" y="97536"/>
                  </a:cubicBezTo>
                  <a:lnTo>
                    <a:pt x="6795008" y="630682"/>
                  </a:lnTo>
                  <a:cubicBezTo>
                    <a:pt x="6795008" y="684530"/>
                    <a:pt x="6751320" y="728218"/>
                    <a:pt x="6697472" y="728218"/>
                  </a:cubicBezTo>
                  <a:lnTo>
                    <a:pt x="97536" y="728218"/>
                  </a:lnTo>
                  <a:cubicBezTo>
                    <a:pt x="43688" y="728218"/>
                    <a:pt x="0" y="684657"/>
                    <a:pt x="0" y="630682"/>
                  </a:cubicBezTo>
                  <a:close/>
                </a:path>
              </a:pathLst>
            </a:custGeom>
            <a:solidFill>
              <a:srgbClr val="FFF1BF"/>
            </a:solidFill>
          </p:spPr>
          <p:txBody>
            <a:bodyPr/>
            <a:p/>
          </p:txBody>
        </p:sp>
      </p:grpSp>
      <p:sp>
        <p:nvSpPr>
          <p:cNvPr name="TextBox 77" id="77"/>
          <p:cNvSpPr txBox="true"/>
          <p:nvPr/>
        </p:nvSpPr>
        <p:spPr>
          <a:xfrm rot="0">
            <a:off x="1124712" y="4538015"/>
            <a:ext cx="4693920" cy="420472"/>
          </a:xfrm>
          <a:prstGeom prst="rect">
            <a:avLst/>
          </a:prstGeom>
        </p:spPr>
        <p:txBody>
          <a:bodyPr anchor="t" rtlCol="false" tIns="0" lIns="0" bIns="0" rIns="0">
            <a:spAutoFit/>
          </a:bodyPr>
          <a:lstStyle/>
          <a:p>
            <a:pPr algn="l">
              <a:lnSpc>
                <a:spcPts val="2284"/>
              </a:lnSpc>
            </a:pPr>
            <a:r>
              <a:rPr lang="en-US" sz="1700" i="true">
                <a:solidFill>
                  <a:srgbClr val="14313B"/>
                </a:solidFill>
                <a:latin typeface="Cambria Italics"/>
                <a:ea typeface="Cambria Italics"/>
                <a:cs typeface="Cambria Italics"/>
                <a:sym typeface="Cambria Italics"/>
              </a:rPr>
              <a:t>Δ% = (Kₚ − K_BASE) / K_BASE × 100%</a:t>
            </a:r>
          </a:p>
        </p:txBody>
      </p:sp>
      <p:sp>
        <p:nvSpPr>
          <p:cNvPr name="TextBox 78" id="78"/>
          <p:cNvSpPr txBox="true"/>
          <p:nvPr/>
        </p:nvSpPr>
        <p:spPr>
          <a:xfrm rot="0">
            <a:off x="1051560" y="5017922"/>
            <a:ext cx="4968240" cy="41666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K = keluaran 2050; pengaruh maksimum = |Δ%| terbesar</a:t>
            </a:r>
          </a:p>
        </p:txBody>
      </p:sp>
      <p:sp>
        <p:nvSpPr>
          <p:cNvPr name="Freeform 79" id="79"/>
          <p:cNvSpPr/>
          <p:nvPr/>
        </p:nvSpPr>
        <p:spPr>
          <a:xfrm flipH="false" flipV="false" rot="0">
            <a:off x="6414611" y="2223611"/>
            <a:ext cx="5458778" cy="3448622"/>
          </a:xfrm>
          <a:custGeom>
            <a:avLst/>
            <a:gdLst/>
            <a:ahLst/>
            <a:cxnLst/>
            <a:rect r="r" b="b" t="t" l="l"/>
            <a:pathLst>
              <a:path h="3448622" w="5458778">
                <a:moveTo>
                  <a:pt x="0" y="0"/>
                </a:moveTo>
                <a:lnTo>
                  <a:pt x="5458778" y="0"/>
                </a:lnTo>
                <a:lnTo>
                  <a:pt x="545877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80" id="80"/>
          <p:cNvGrpSpPr/>
          <p:nvPr/>
        </p:nvGrpSpPr>
        <p:grpSpPr>
          <a:xfrm rot="0">
            <a:off x="6659880" y="2468880"/>
            <a:ext cx="530352" cy="530352"/>
            <a:chOff x="0" y="0"/>
            <a:chExt cx="707136" cy="707136"/>
          </a:xfrm>
        </p:grpSpPr>
        <p:sp>
          <p:nvSpPr>
            <p:cNvPr name="Freeform 81" id="81"/>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82" id="82"/>
          <p:cNvGrpSpPr/>
          <p:nvPr/>
        </p:nvGrpSpPr>
        <p:grpSpPr>
          <a:xfrm rot="0">
            <a:off x="6659880" y="2447449"/>
            <a:ext cx="530352" cy="551783"/>
            <a:chOff x="0" y="0"/>
            <a:chExt cx="707136" cy="735711"/>
          </a:xfrm>
        </p:grpSpPr>
        <p:sp>
          <p:nvSpPr>
            <p:cNvPr name="Freeform 83" id="83"/>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84" id="84"/>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2</a:t>
              </a:r>
            </a:p>
          </p:txBody>
        </p:sp>
      </p:grpSp>
      <p:sp>
        <p:nvSpPr>
          <p:cNvPr name="TextBox 85" id="85"/>
          <p:cNvSpPr txBox="true"/>
          <p:nvPr/>
        </p:nvSpPr>
        <p:spPr>
          <a:xfrm rot="0">
            <a:off x="7327392" y="2372868"/>
            <a:ext cx="4373880" cy="484937"/>
          </a:xfrm>
          <a:prstGeom prst="rect">
            <a:avLst/>
          </a:prstGeom>
        </p:spPr>
        <p:txBody>
          <a:bodyPr anchor="t" rtlCol="false" tIns="0" lIns="0" bIns="0" rIns="0">
            <a:spAutoFit/>
          </a:bodyPr>
          <a:lstStyle/>
          <a:p>
            <a:pPr algn="l">
              <a:lnSpc>
                <a:spcPts val="2485"/>
              </a:lnSpc>
            </a:pPr>
            <a:r>
              <a:rPr lang="en-US" sz="1850" b="true">
                <a:solidFill>
                  <a:srgbClr val="0B5E6E"/>
                </a:solidFill>
                <a:latin typeface="Calibri (MS) Bold"/>
                <a:ea typeface="Calibri (MS) Bold"/>
                <a:cs typeface="Calibri (MS) Bold"/>
                <a:sym typeface="Calibri (MS) Bold"/>
              </a:rPr>
              <a:t>Bagian 2 · Seluruh rentang nilai</a:t>
            </a:r>
          </a:p>
        </p:txBody>
      </p:sp>
      <p:sp>
        <p:nvSpPr>
          <p:cNvPr name="TextBox 86" id="86"/>
          <p:cNvSpPr txBox="true"/>
          <p:nvPr/>
        </p:nvSpPr>
        <p:spPr>
          <a:xfrm rot="0">
            <a:off x="6659880" y="3041142"/>
            <a:ext cx="4968240" cy="1242517"/>
          </a:xfrm>
          <a:prstGeom prst="rect">
            <a:avLst/>
          </a:prstGeom>
        </p:spPr>
        <p:txBody>
          <a:bodyPr anchor="t" rtlCol="false" tIns="0" lIns="0" bIns="0" rIns="0">
            <a:spAutoFit/>
          </a:bodyPr>
          <a:lstStyle/>
          <a:p>
            <a:pPr algn="l">
              <a:lnSpc>
                <a:spcPts val="2149"/>
              </a:lnSpc>
            </a:pPr>
            <a:r>
              <a:rPr lang="en-US" sz="1599">
                <a:solidFill>
                  <a:srgbClr val="14313B"/>
                </a:solidFill>
                <a:latin typeface="Calibri (MS)"/>
                <a:ea typeface="Calibri (MS)"/>
                <a:cs typeface="Calibri (MS)"/>
                <a:sym typeface="Calibri (MS)"/>
              </a:rPr>
              <a:t>17 kelompok parameter asumsi dan kedua variabel kebijakan diuji pada seluruh rentang nilainya (dari beberapa rujukan atau selang kepercayaan 95%, sama dengan rentang kalibrasi).</a:t>
            </a:r>
          </a:p>
        </p:txBody>
      </p:sp>
      <p:grpSp>
        <p:nvGrpSpPr>
          <p:cNvPr name="Group 87" id="87"/>
          <p:cNvGrpSpPr/>
          <p:nvPr/>
        </p:nvGrpSpPr>
        <p:grpSpPr>
          <a:xfrm rot="0">
            <a:off x="6595872" y="4356811"/>
            <a:ext cx="5096256" cy="836390"/>
            <a:chOff x="0" y="0"/>
            <a:chExt cx="6795008" cy="1115187"/>
          </a:xfrm>
        </p:grpSpPr>
        <p:sp>
          <p:nvSpPr>
            <p:cNvPr name="Freeform 88" id="88"/>
            <p:cNvSpPr/>
            <p:nvPr/>
          </p:nvSpPr>
          <p:spPr>
            <a:xfrm flipH="false" flipV="false" rot="0">
              <a:off x="0" y="0"/>
              <a:ext cx="6795008" cy="1115187"/>
            </a:xfrm>
            <a:custGeom>
              <a:avLst/>
              <a:gdLst/>
              <a:ahLst/>
              <a:cxnLst/>
              <a:rect r="r" b="b" t="t" l="l"/>
              <a:pathLst>
                <a:path h="1115187" w="6795008">
                  <a:moveTo>
                    <a:pt x="0" y="97536"/>
                  </a:moveTo>
                  <a:cubicBezTo>
                    <a:pt x="0" y="43688"/>
                    <a:pt x="43688" y="0"/>
                    <a:pt x="97536" y="0"/>
                  </a:cubicBezTo>
                  <a:lnTo>
                    <a:pt x="6697472" y="0"/>
                  </a:lnTo>
                  <a:cubicBezTo>
                    <a:pt x="6751320" y="0"/>
                    <a:pt x="6795008" y="43688"/>
                    <a:pt x="6795008" y="97536"/>
                  </a:cubicBezTo>
                  <a:lnTo>
                    <a:pt x="6795008" y="1017651"/>
                  </a:lnTo>
                  <a:cubicBezTo>
                    <a:pt x="6795008" y="1071499"/>
                    <a:pt x="6751320" y="1115187"/>
                    <a:pt x="6697472" y="1115187"/>
                  </a:cubicBezTo>
                  <a:lnTo>
                    <a:pt x="97536" y="1115187"/>
                  </a:lnTo>
                  <a:cubicBezTo>
                    <a:pt x="43688" y="1115187"/>
                    <a:pt x="0" y="1071499"/>
                    <a:pt x="0" y="1017651"/>
                  </a:cubicBezTo>
                  <a:close/>
                </a:path>
              </a:pathLst>
            </a:custGeom>
            <a:solidFill>
              <a:srgbClr val="FFF1BF"/>
            </a:solidFill>
          </p:spPr>
          <p:txBody>
            <a:bodyPr/>
            <a:p/>
          </p:txBody>
        </p:sp>
      </p:grpSp>
      <p:sp>
        <p:nvSpPr>
          <p:cNvPr name="TextBox 89" id="89"/>
          <p:cNvSpPr txBox="true"/>
          <p:nvPr/>
        </p:nvSpPr>
        <p:spPr>
          <a:xfrm rot="0">
            <a:off x="6733032" y="4400245"/>
            <a:ext cx="4693920" cy="710641"/>
          </a:xfrm>
          <a:prstGeom prst="rect">
            <a:avLst/>
          </a:prstGeom>
        </p:spPr>
        <p:txBody>
          <a:bodyPr anchor="t" rtlCol="false" tIns="0" lIns="0" bIns="0" rIns="0">
            <a:spAutoFit/>
          </a:bodyPr>
          <a:lstStyle/>
          <a:p>
            <a:pPr algn="l">
              <a:lnSpc>
                <a:spcPts val="2284"/>
              </a:lnSpc>
            </a:pPr>
            <a:r>
              <a:rPr lang="en-US" sz="1700" i="true">
                <a:solidFill>
                  <a:srgbClr val="14313B"/>
                </a:solidFill>
                <a:latin typeface="Cambria Italics"/>
                <a:ea typeface="Cambria Italics"/>
                <a:cs typeface="Cambria Italics"/>
                <a:sym typeface="Cambria Italics"/>
              </a:rPr>
              <a:t>Selisih hasil = Keluaran_maks − Keluaran_min</a:t>
            </a:r>
          </a:p>
        </p:txBody>
      </p:sp>
      <p:sp>
        <p:nvSpPr>
          <p:cNvPr name="TextBox 90" id="90"/>
          <p:cNvSpPr txBox="true"/>
          <p:nvPr/>
        </p:nvSpPr>
        <p:spPr>
          <a:xfrm rot="0">
            <a:off x="6659880" y="5170322"/>
            <a:ext cx="4968240" cy="41666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Dinyatakan dalam poin persen terhadap simulasi dasar</a:t>
            </a:r>
          </a:p>
        </p:txBody>
      </p:sp>
      <p:sp>
        <p:nvSpPr>
          <p:cNvPr name="Freeform 91" id="91"/>
          <p:cNvSpPr/>
          <p:nvPr/>
        </p:nvSpPr>
        <p:spPr>
          <a:xfrm flipH="false" flipV="false" rot="0">
            <a:off x="12022931" y="2223611"/>
            <a:ext cx="5458778" cy="3448622"/>
          </a:xfrm>
          <a:custGeom>
            <a:avLst/>
            <a:gdLst/>
            <a:ahLst/>
            <a:cxnLst/>
            <a:rect r="r" b="b" t="t" l="l"/>
            <a:pathLst>
              <a:path h="3448622" w="5458778">
                <a:moveTo>
                  <a:pt x="0" y="0"/>
                </a:moveTo>
                <a:lnTo>
                  <a:pt x="5458778" y="0"/>
                </a:lnTo>
                <a:lnTo>
                  <a:pt x="545877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92" id="92"/>
          <p:cNvGrpSpPr/>
          <p:nvPr/>
        </p:nvGrpSpPr>
        <p:grpSpPr>
          <a:xfrm rot="0">
            <a:off x="12268200" y="2468880"/>
            <a:ext cx="530352" cy="530352"/>
            <a:chOff x="0" y="0"/>
            <a:chExt cx="707136" cy="707136"/>
          </a:xfrm>
        </p:grpSpPr>
        <p:sp>
          <p:nvSpPr>
            <p:cNvPr name="Freeform 93" id="9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94" id="94"/>
          <p:cNvGrpSpPr/>
          <p:nvPr/>
        </p:nvGrpSpPr>
        <p:grpSpPr>
          <a:xfrm rot="0">
            <a:off x="12268200" y="2447449"/>
            <a:ext cx="530352" cy="551783"/>
            <a:chOff x="0" y="0"/>
            <a:chExt cx="707136" cy="735711"/>
          </a:xfrm>
        </p:grpSpPr>
        <p:sp>
          <p:nvSpPr>
            <p:cNvPr name="Freeform 95" id="95"/>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96" id="96"/>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3</a:t>
              </a:r>
            </a:p>
          </p:txBody>
        </p:sp>
      </p:grpSp>
      <p:sp>
        <p:nvSpPr>
          <p:cNvPr name="TextBox 97" id="97"/>
          <p:cNvSpPr txBox="true"/>
          <p:nvPr/>
        </p:nvSpPr>
        <p:spPr>
          <a:xfrm rot="0">
            <a:off x="12935712" y="2372868"/>
            <a:ext cx="4373880" cy="484937"/>
          </a:xfrm>
          <a:prstGeom prst="rect">
            <a:avLst/>
          </a:prstGeom>
        </p:spPr>
        <p:txBody>
          <a:bodyPr anchor="t" rtlCol="false" tIns="0" lIns="0" bIns="0" rIns="0">
            <a:spAutoFit/>
          </a:bodyPr>
          <a:lstStyle/>
          <a:p>
            <a:pPr algn="l">
              <a:lnSpc>
                <a:spcPts val="2485"/>
              </a:lnSpc>
            </a:pPr>
            <a:r>
              <a:rPr lang="en-US" sz="1850" b="true">
                <a:solidFill>
                  <a:srgbClr val="0B5E6E"/>
                </a:solidFill>
                <a:latin typeface="Calibri (MS) Bold"/>
                <a:ea typeface="Calibri (MS) Bold"/>
                <a:cs typeface="Calibri (MS) Bold"/>
                <a:sym typeface="Calibri (MS) Bold"/>
              </a:rPr>
              <a:t>Robustness peringkat skenario</a:t>
            </a:r>
          </a:p>
        </p:txBody>
      </p:sp>
      <p:sp>
        <p:nvSpPr>
          <p:cNvPr name="TextBox 98" id="98"/>
          <p:cNvSpPr txBox="true"/>
          <p:nvPr/>
        </p:nvSpPr>
        <p:spPr>
          <a:xfrm rot="0">
            <a:off x="12268200" y="3041142"/>
            <a:ext cx="4968240" cy="1242517"/>
          </a:xfrm>
          <a:prstGeom prst="rect">
            <a:avLst/>
          </a:prstGeom>
        </p:spPr>
        <p:txBody>
          <a:bodyPr anchor="t" rtlCol="false" tIns="0" lIns="0" bIns="0" rIns="0">
            <a:spAutoFit/>
          </a:bodyPr>
          <a:lstStyle/>
          <a:p>
            <a:pPr algn="l">
              <a:lnSpc>
                <a:spcPts val="2149"/>
              </a:lnSpc>
            </a:pPr>
            <a:r>
              <a:rPr lang="en-US" sz="1599">
                <a:solidFill>
                  <a:srgbClr val="14313B"/>
                </a:solidFill>
                <a:latin typeface="Calibri (MS)"/>
                <a:ea typeface="Calibri (MS)"/>
                <a:cs typeface="Calibri (MS)"/>
                <a:sym typeface="Calibri (MS)"/>
              </a:rPr>
              <a:t>3 skenario × 7 kondisi: C0 acuan + C1–C6 yang menggeser rasio LPD/LPE (0,65; 0,90), bobot daya tarik (2 kombinasi alternatif), dan laju konversi dasar (batas selang kepercayaan 95%).</a:t>
            </a:r>
          </a:p>
        </p:txBody>
      </p:sp>
      <p:sp>
        <p:nvSpPr>
          <p:cNvPr name="TextBox 99" id="99"/>
          <p:cNvSpPr txBox="true"/>
          <p:nvPr/>
        </p:nvSpPr>
        <p:spPr>
          <a:xfrm rot="0">
            <a:off x="12268200" y="4242511"/>
            <a:ext cx="4968240" cy="664159"/>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Robust bila urutan skenario pada 7 indikator sama di C0–C6</a:t>
            </a:r>
          </a:p>
        </p:txBody>
      </p:sp>
      <p:sp>
        <p:nvSpPr>
          <p:cNvPr name="Freeform 100" id="100"/>
          <p:cNvSpPr/>
          <p:nvPr/>
        </p:nvSpPr>
        <p:spPr>
          <a:xfrm flipH="false" flipV="false" rot="0">
            <a:off x="806291" y="5821775"/>
            <a:ext cx="5458778" cy="3448622"/>
          </a:xfrm>
          <a:custGeom>
            <a:avLst/>
            <a:gdLst/>
            <a:ahLst/>
            <a:cxnLst/>
            <a:rect r="r" b="b" t="t" l="l"/>
            <a:pathLst>
              <a:path h="3448622" w="5458778">
                <a:moveTo>
                  <a:pt x="0" y="0"/>
                </a:moveTo>
                <a:lnTo>
                  <a:pt x="5458778" y="0"/>
                </a:lnTo>
                <a:lnTo>
                  <a:pt x="545877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101" id="101"/>
          <p:cNvGrpSpPr/>
          <p:nvPr/>
        </p:nvGrpSpPr>
        <p:grpSpPr>
          <a:xfrm rot="0">
            <a:off x="1051560" y="6067044"/>
            <a:ext cx="530352" cy="530352"/>
            <a:chOff x="0" y="0"/>
            <a:chExt cx="707136" cy="707136"/>
          </a:xfrm>
        </p:grpSpPr>
        <p:sp>
          <p:nvSpPr>
            <p:cNvPr name="Freeform 102" id="102"/>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103" id="103"/>
          <p:cNvGrpSpPr/>
          <p:nvPr/>
        </p:nvGrpSpPr>
        <p:grpSpPr>
          <a:xfrm rot="0">
            <a:off x="1051560" y="6045613"/>
            <a:ext cx="530352" cy="551783"/>
            <a:chOff x="0" y="0"/>
            <a:chExt cx="707136" cy="735711"/>
          </a:xfrm>
        </p:grpSpPr>
        <p:sp>
          <p:nvSpPr>
            <p:cNvPr name="Freeform 104" id="104"/>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105" id="105"/>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4</a:t>
              </a:r>
            </a:p>
          </p:txBody>
        </p:sp>
      </p:grpSp>
      <p:sp>
        <p:nvSpPr>
          <p:cNvPr name="TextBox 106" id="106"/>
          <p:cNvSpPr txBox="true"/>
          <p:nvPr/>
        </p:nvSpPr>
        <p:spPr>
          <a:xfrm rot="0">
            <a:off x="1719072" y="5971032"/>
            <a:ext cx="4373880" cy="484937"/>
          </a:xfrm>
          <a:prstGeom prst="rect">
            <a:avLst/>
          </a:prstGeom>
        </p:spPr>
        <p:txBody>
          <a:bodyPr anchor="t" rtlCol="false" tIns="0" lIns="0" bIns="0" rIns="0">
            <a:spAutoFit/>
          </a:bodyPr>
          <a:lstStyle/>
          <a:p>
            <a:pPr algn="l">
              <a:lnSpc>
                <a:spcPts val="2485"/>
              </a:lnSpc>
            </a:pPr>
            <a:r>
              <a:rPr lang="en-US" sz="1850" b="true">
                <a:solidFill>
                  <a:srgbClr val="0B5E6E"/>
                </a:solidFill>
                <a:latin typeface="Calibri (MS) Bold"/>
                <a:ea typeface="Calibri (MS) Bold"/>
                <a:cs typeface="Calibri (MS) Bold"/>
                <a:sym typeface="Calibri (MS) Bold"/>
              </a:rPr>
              <a:t>Enam variabel keluaran</a:t>
            </a:r>
          </a:p>
        </p:txBody>
      </p:sp>
      <p:sp>
        <p:nvSpPr>
          <p:cNvPr name="TextBox 107" id="107"/>
          <p:cNvSpPr txBox="true"/>
          <p:nvPr/>
        </p:nvSpPr>
        <p:spPr>
          <a:xfrm rot="0">
            <a:off x="1051560" y="6639306"/>
            <a:ext cx="4968240" cy="1515618"/>
          </a:xfrm>
          <a:prstGeom prst="rect">
            <a:avLst/>
          </a:prstGeom>
        </p:spPr>
        <p:txBody>
          <a:bodyPr anchor="t" rtlCol="false" tIns="0" lIns="0" bIns="0" rIns="0">
            <a:spAutoFit/>
          </a:bodyPr>
          <a:lstStyle/>
          <a:p>
            <a:pPr algn="l">
              <a:lnSpc>
                <a:spcPts val="2149"/>
              </a:lnSpc>
            </a:pPr>
            <a:r>
              <a:rPr lang="en-US" sz="1599">
                <a:solidFill>
                  <a:srgbClr val="14313B"/>
                </a:solidFill>
                <a:latin typeface="Calibri (MS)"/>
                <a:ea typeface="Calibri (MS)"/>
                <a:cs typeface="Calibri (MS)"/>
                <a:sym typeface="Calibri (MS)"/>
              </a:rPr>
              <a:t>Jumlah wisatawan (acuan utama), PDRB sektor pariwisata (ekonomi), lahan terbangun (lingkungan), serta hotel &amp; akomodasi, tenaga kerja, dan ODTW sebagai pendamping — agar parameter penting bagi dimensi lain tidak terlewat.</a:t>
            </a:r>
          </a:p>
        </p:txBody>
      </p:sp>
      <p:sp>
        <p:nvSpPr>
          <p:cNvPr name="Freeform 108" id="108"/>
          <p:cNvSpPr/>
          <p:nvPr/>
        </p:nvSpPr>
        <p:spPr>
          <a:xfrm flipH="false" flipV="false" rot="0">
            <a:off x="6414611" y="5821775"/>
            <a:ext cx="5458778" cy="3448622"/>
          </a:xfrm>
          <a:custGeom>
            <a:avLst/>
            <a:gdLst/>
            <a:ahLst/>
            <a:cxnLst/>
            <a:rect r="r" b="b" t="t" l="l"/>
            <a:pathLst>
              <a:path h="3448622" w="5458778">
                <a:moveTo>
                  <a:pt x="0" y="0"/>
                </a:moveTo>
                <a:lnTo>
                  <a:pt x="5458778" y="0"/>
                </a:lnTo>
                <a:lnTo>
                  <a:pt x="545877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109" id="109"/>
          <p:cNvGrpSpPr/>
          <p:nvPr/>
        </p:nvGrpSpPr>
        <p:grpSpPr>
          <a:xfrm rot="0">
            <a:off x="6659880" y="6067044"/>
            <a:ext cx="530352" cy="530352"/>
            <a:chOff x="0" y="0"/>
            <a:chExt cx="707136" cy="707136"/>
          </a:xfrm>
        </p:grpSpPr>
        <p:sp>
          <p:nvSpPr>
            <p:cNvPr name="Freeform 110" id="110"/>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111" id="111"/>
          <p:cNvGrpSpPr/>
          <p:nvPr/>
        </p:nvGrpSpPr>
        <p:grpSpPr>
          <a:xfrm rot="0">
            <a:off x="6659880" y="6045613"/>
            <a:ext cx="530352" cy="551783"/>
            <a:chOff x="0" y="0"/>
            <a:chExt cx="707136" cy="735711"/>
          </a:xfrm>
        </p:grpSpPr>
        <p:sp>
          <p:nvSpPr>
            <p:cNvPr name="Freeform 112" id="112"/>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113" id="113"/>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5</a:t>
              </a:r>
            </a:p>
          </p:txBody>
        </p:sp>
      </p:grpSp>
      <p:sp>
        <p:nvSpPr>
          <p:cNvPr name="TextBox 114" id="114"/>
          <p:cNvSpPr txBox="true"/>
          <p:nvPr/>
        </p:nvSpPr>
        <p:spPr>
          <a:xfrm rot="0">
            <a:off x="7327392" y="5971032"/>
            <a:ext cx="4373880" cy="484937"/>
          </a:xfrm>
          <a:prstGeom prst="rect">
            <a:avLst/>
          </a:prstGeom>
        </p:spPr>
        <p:txBody>
          <a:bodyPr anchor="t" rtlCol="false" tIns="0" lIns="0" bIns="0" rIns="0">
            <a:spAutoFit/>
          </a:bodyPr>
          <a:lstStyle/>
          <a:p>
            <a:pPr algn="l">
              <a:lnSpc>
                <a:spcPts val="2485"/>
              </a:lnSpc>
            </a:pPr>
            <a:r>
              <a:rPr lang="en-US" sz="1850" b="true">
                <a:solidFill>
                  <a:srgbClr val="0B5E6E"/>
                </a:solidFill>
                <a:latin typeface="Calibri (MS) Bold"/>
                <a:ea typeface="Calibri (MS) Bold"/>
                <a:cs typeface="Calibri (MS) Bold"/>
                <a:sym typeface="Calibri (MS) Bold"/>
              </a:rPr>
              <a:t>Ketentuan pengujian</a:t>
            </a:r>
          </a:p>
        </p:txBody>
      </p:sp>
      <p:sp>
        <p:nvSpPr>
          <p:cNvPr name="TextBox 115" id="115"/>
          <p:cNvSpPr txBox="true"/>
          <p:nvPr/>
        </p:nvSpPr>
        <p:spPr>
          <a:xfrm rot="0">
            <a:off x="6659880" y="6639306"/>
            <a:ext cx="4968240" cy="1788719"/>
          </a:xfrm>
          <a:prstGeom prst="rect">
            <a:avLst/>
          </a:prstGeom>
        </p:spPr>
        <p:txBody>
          <a:bodyPr anchor="t" rtlCol="false" tIns="0" lIns="0" bIns="0" rIns="0">
            <a:spAutoFit/>
          </a:bodyPr>
          <a:lstStyle/>
          <a:p>
            <a:pPr algn="l">
              <a:lnSpc>
                <a:spcPts val="2149"/>
              </a:lnSpc>
            </a:pPr>
            <a:r>
              <a:rPr lang="en-US" sz="1599">
                <a:solidFill>
                  <a:srgbClr val="14313B"/>
                </a:solidFill>
                <a:latin typeface="Calibri (MS)"/>
                <a:ea typeface="Calibri (MS)"/>
                <a:cs typeface="Calibri (MS)"/>
                <a:sym typeface="Calibri (MS)"/>
              </a:rPr>
              <a:t>Parameter yang saling terkait dihitung ulang (LPE–LPD rasio 0,75; batas TPK/demolisi–sensitivitas konstruksi; penutupan ODTW–sensitivitas ODTW; luas lahan–nilai referensi); ketiga bobot daya tarik dijaga berjumlah 1; nilai awal stok diubah melalui kondisi awal simulasi.</a:t>
            </a:r>
          </a:p>
        </p:txBody>
      </p:sp>
      <p:sp>
        <p:nvSpPr>
          <p:cNvPr name="Freeform 116" id="116"/>
          <p:cNvSpPr/>
          <p:nvPr/>
        </p:nvSpPr>
        <p:spPr>
          <a:xfrm flipH="false" flipV="false" rot="0">
            <a:off x="12022931" y="5821775"/>
            <a:ext cx="5458778" cy="3448622"/>
          </a:xfrm>
          <a:custGeom>
            <a:avLst/>
            <a:gdLst/>
            <a:ahLst/>
            <a:cxnLst/>
            <a:rect r="r" b="b" t="t" l="l"/>
            <a:pathLst>
              <a:path h="3448622" w="5458778">
                <a:moveTo>
                  <a:pt x="0" y="0"/>
                </a:moveTo>
                <a:lnTo>
                  <a:pt x="5458778" y="0"/>
                </a:lnTo>
                <a:lnTo>
                  <a:pt x="545877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117" id="117"/>
          <p:cNvGrpSpPr/>
          <p:nvPr/>
        </p:nvGrpSpPr>
        <p:grpSpPr>
          <a:xfrm rot="0">
            <a:off x="12268200" y="6067044"/>
            <a:ext cx="530352" cy="530352"/>
            <a:chOff x="0" y="0"/>
            <a:chExt cx="707136" cy="707136"/>
          </a:xfrm>
        </p:grpSpPr>
        <p:sp>
          <p:nvSpPr>
            <p:cNvPr name="Freeform 118" id="118"/>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119" id="119"/>
          <p:cNvGrpSpPr/>
          <p:nvPr/>
        </p:nvGrpSpPr>
        <p:grpSpPr>
          <a:xfrm rot="0">
            <a:off x="12268200" y="6045613"/>
            <a:ext cx="530352" cy="551783"/>
            <a:chOff x="0" y="0"/>
            <a:chExt cx="707136" cy="735711"/>
          </a:xfrm>
        </p:grpSpPr>
        <p:sp>
          <p:nvSpPr>
            <p:cNvPr name="Freeform 120" id="120"/>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121" id="121"/>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6</a:t>
              </a:r>
            </a:p>
          </p:txBody>
        </p:sp>
      </p:grpSp>
      <p:sp>
        <p:nvSpPr>
          <p:cNvPr name="TextBox 122" id="122"/>
          <p:cNvSpPr txBox="true"/>
          <p:nvPr/>
        </p:nvSpPr>
        <p:spPr>
          <a:xfrm rot="0">
            <a:off x="12935712" y="5971032"/>
            <a:ext cx="4373880" cy="484937"/>
          </a:xfrm>
          <a:prstGeom prst="rect">
            <a:avLst/>
          </a:prstGeom>
        </p:spPr>
        <p:txBody>
          <a:bodyPr anchor="t" rtlCol="false" tIns="0" lIns="0" bIns="0" rIns="0">
            <a:spAutoFit/>
          </a:bodyPr>
          <a:lstStyle/>
          <a:p>
            <a:pPr algn="l">
              <a:lnSpc>
                <a:spcPts val="2485"/>
              </a:lnSpc>
            </a:pPr>
            <a:r>
              <a:rPr lang="en-US" sz="1850" b="true">
                <a:solidFill>
                  <a:srgbClr val="0B5E6E"/>
                </a:solidFill>
                <a:latin typeface="Calibri (MS) Bold"/>
                <a:ea typeface="Calibri (MS) Bold"/>
                <a:cs typeface="Calibri (MS) Bold"/>
                <a:sym typeface="Calibri (MS) Bold"/>
              </a:rPr>
              <a:t>Penetapan variabel kebijakan</a:t>
            </a:r>
          </a:p>
        </p:txBody>
      </p:sp>
      <p:sp>
        <p:nvSpPr>
          <p:cNvPr name="TextBox 123" id="123"/>
          <p:cNvSpPr txBox="true"/>
          <p:nvPr/>
        </p:nvSpPr>
        <p:spPr>
          <a:xfrm rot="0">
            <a:off x="12268200" y="6639306"/>
            <a:ext cx="4968240" cy="1242517"/>
          </a:xfrm>
          <a:prstGeom prst="rect">
            <a:avLst/>
          </a:prstGeom>
        </p:spPr>
        <p:txBody>
          <a:bodyPr anchor="t" rtlCol="false" tIns="0" lIns="0" bIns="0" rIns="0">
            <a:spAutoFit/>
          </a:bodyPr>
          <a:lstStyle/>
          <a:p>
            <a:pPr algn="l">
              <a:lnSpc>
                <a:spcPts val="2149"/>
              </a:lnSpc>
            </a:pPr>
            <a:r>
              <a:rPr lang="en-US" sz="1599">
                <a:solidFill>
                  <a:srgbClr val="14313B"/>
                </a:solidFill>
                <a:latin typeface="Calibri (MS)"/>
                <a:ea typeface="Calibri (MS)"/>
                <a:cs typeface="Calibri (MS)"/>
                <a:sym typeface="Calibri (MS)"/>
              </a:rPr>
              <a:t>Hasil sensitivitas menjadi kriteria pertama (berpengaruh pada model), lalu disaring dengan dasar kebijakan dan kewenangan pemerintah → Insentif Kebijakan dan Kebijakan Konservasi Lahan.</a:t>
            </a:r>
          </a:p>
        </p:txBody>
      </p:sp>
      <p:grpSp>
        <p:nvGrpSpPr>
          <p:cNvPr name="Group 124" id="124"/>
          <p:cNvGrpSpPr/>
          <p:nvPr/>
        </p:nvGrpSpPr>
        <p:grpSpPr>
          <a:xfrm rot="0">
            <a:off x="12755880" y="274320"/>
            <a:ext cx="3931920" cy="411480"/>
            <a:chOff x="0" y="0"/>
            <a:chExt cx="5242560" cy="548640"/>
          </a:xfrm>
        </p:grpSpPr>
        <p:sp>
          <p:nvSpPr>
            <p:cNvPr name="Freeform 125" id="125"/>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26" id="126"/>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2F · Analisis sensitivitas</a:t>
              </a:r>
            </a:p>
          </p:txBody>
        </p:sp>
      </p:grpSp>
      <p:grpSp>
        <p:nvGrpSpPr>
          <p:cNvPr name="Group 127" id="127"/>
          <p:cNvGrpSpPr/>
          <p:nvPr/>
        </p:nvGrpSpPr>
        <p:grpSpPr>
          <a:xfrm rot="0">
            <a:off x="16047720" y="9646920"/>
            <a:ext cx="420624" cy="420624"/>
            <a:chOff x="0" y="0"/>
            <a:chExt cx="560832" cy="560832"/>
          </a:xfrm>
        </p:grpSpPr>
        <p:sp>
          <p:nvSpPr>
            <p:cNvPr name="Freeform 128" id="128"/>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29" id="129"/>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Analisis Sensitivitas</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Ketidakpastian terbesar ada pada asumsi, bukan pada data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822960" y="2188845"/>
            <a:ext cx="10149840" cy="62293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Pengaruh maksimum terhadap jumlah wisatawan 2050 (uji ±10%, %)</a:t>
            </a:r>
          </a:p>
        </p:txBody>
      </p:sp>
      <p:grpSp>
        <p:nvGrpSpPr>
          <p:cNvPr name="Group 105" id="105"/>
          <p:cNvGrpSpPr/>
          <p:nvPr/>
        </p:nvGrpSpPr>
        <p:grpSpPr>
          <a:xfrm rot="0">
            <a:off x="11727180" y="2564892"/>
            <a:ext cx="5486400" cy="685800"/>
            <a:chOff x="0" y="0"/>
            <a:chExt cx="7315200" cy="914400"/>
          </a:xfrm>
        </p:grpSpPr>
        <p:sp>
          <p:nvSpPr>
            <p:cNvPr name="Freeform 106" id="106"/>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txBody>
            <a:bodyPr/>
            <a:p/>
          </p:txBody>
        </p:sp>
      </p:grpSp>
      <p:grpSp>
        <p:nvGrpSpPr>
          <p:cNvPr name="Group 107" id="107"/>
          <p:cNvGrpSpPr/>
          <p:nvPr/>
        </p:nvGrpSpPr>
        <p:grpSpPr>
          <a:xfrm rot="0">
            <a:off x="11727180" y="2514886"/>
            <a:ext cx="5486400" cy="735806"/>
            <a:chOff x="0" y="0"/>
            <a:chExt cx="7315200" cy="981075"/>
          </a:xfrm>
        </p:grpSpPr>
        <p:sp>
          <p:nvSpPr>
            <p:cNvPr name="Freeform 108" id="108"/>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185" r="0" b="-95185"/>
              </a:stretch>
            </a:blipFill>
          </p:spPr>
          <p:txBody>
            <a:bodyPr/>
            <a:p/>
          </p:txBody>
        </p:sp>
      </p:grpSp>
      <p:grpSp>
        <p:nvGrpSpPr>
          <p:cNvPr name="Group 109" id="109"/>
          <p:cNvGrpSpPr/>
          <p:nvPr/>
        </p:nvGrpSpPr>
        <p:grpSpPr>
          <a:xfrm rot="0">
            <a:off x="11727180" y="2464879"/>
            <a:ext cx="5486400" cy="785812"/>
            <a:chOff x="0" y="0"/>
            <a:chExt cx="7315200" cy="1047750"/>
          </a:xfrm>
        </p:grpSpPr>
        <p:sp>
          <p:nvSpPr>
            <p:cNvPr name="Freeform 110" id="110"/>
            <p:cNvSpPr/>
            <p:nvPr/>
          </p:nvSpPr>
          <p:spPr>
            <a:xfrm flipH="false" flipV="false" rot="0">
              <a:off x="0" y="0"/>
              <a:ext cx="7315200" cy="1047750"/>
            </a:xfrm>
            <a:custGeom>
              <a:avLst/>
              <a:gdLst/>
              <a:ahLst/>
              <a:cxnLst/>
              <a:rect r="r" b="b" t="t" l="l"/>
              <a:pathLst>
                <a:path h="1047750" w="7315200">
                  <a:moveTo>
                    <a:pt x="0" y="0"/>
                  </a:moveTo>
                  <a:lnTo>
                    <a:pt x="7315200" y="0"/>
                  </a:lnTo>
                  <a:lnTo>
                    <a:pt x="7315200" y="1047750"/>
                  </a:lnTo>
                  <a:lnTo>
                    <a:pt x="0" y="1047750"/>
                  </a:lnTo>
                  <a:close/>
                </a:path>
              </a:pathLst>
            </a:custGeom>
            <a:blipFill>
              <a:blip r:embed="rId6">
                <a:alphaModFix amt="0"/>
              </a:blip>
              <a:stretch>
                <a:fillRect l="0" t="-86041" r="0" b="-86041"/>
              </a:stretch>
            </a:blipFill>
          </p:spPr>
          <p:txBody>
            <a:bodyPr/>
            <a:p/>
          </p:txBody>
        </p:sp>
        <p:sp>
          <p:nvSpPr>
            <p:cNvPr name="TextBox 111" id="111"/>
            <p:cNvSpPr txBox="true"/>
            <p:nvPr/>
          </p:nvSpPr>
          <p:spPr>
            <a:xfrm>
              <a:off x="0" y="-66675"/>
              <a:ext cx="7315200" cy="1114425"/>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3 dari 4</a:t>
              </a:r>
            </a:p>
          </p:txBody>
        </p:sp>
      </p:grpSp>
      <p:sp>
        <p:nvSpPr>
          <p:cNvPr name="TextBox 112" id="112"/>
          <p:cNvSpPr txBox="true"/>
          <p:nvPr/>
        </p:nvSpPr>
        <p:spPr>
          <a:xfrm rot="0">
            <a:off x="11727180" y="3177540"/>
            <a:ext cx="5486400" cy="1280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peringkat teratas adalah asumsi (laju penurunan dasar, bobot kepadatan, bobot ODTW)</a:t>
            </a:r>
          </a:p>
        </p:txBody>
      </p:sp>
      <p:grpSp>
        <p:nvGrpSpPr>
          <p:cNvPr name="Group 113" id="113"/>
          <p:cNvGrpSpPr/>
          <p:nvPr/>
        </p:nvGrpSpPr>
        <p:grpSpPr>
          <a:xfrm rot="0">
            <a:off x="11384280" y="4732020"/>
            <a:ext cx="6076188" cy="2125980"/>
            <a:chOff x="0" y="0"/>
            <a:chExt cx="8101584" cy="2834640"/>
          </a:xfrm>
        </p:grpSpPr>
        <p:sp>
          <p:nvSpPr>
            <p:cNvPr name="Freeform 114" id="114"/>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txBody>
            <a:bodyPr/>
            <a:p/>
          </p:txBody>
        </p:sp>
      </p:grpSp>
      <p:grpSp>
        <p:nvGrpSpPr>
          <p:cNvPr name="Group 115" id="115"/>
          <p:cNvGrpSpPr/>
          <p:nvPr/>
        </p:nvGrpSpPr>
        <p:grpSpPr>
          <a:xfrm rot="0">
            <a:off x="11727180" y="4896612"/>
            <a:ext cx="5486400" cy="685800"/>
            <a:chOff x="0" y="0"/>
            <a:chExt cx="7315200" cy="914400"/>
          </a:xfrm>
        </p:grpSpPr>
        <p:sp>
          <p:nvSpPr>
            <p:cNvPr name="Freeform 116" id="116"/>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txBody>
            <a:bodyPr/>
            <a:p/>
          </p:txBody>
        </p:sp>
      </p:grpSp>
      <p:grpSp>
        <p:nvGrpSpPr>
          <p:cNvPr name="Group 117" id="117"/>
          <p:cNvGrpSpPr/>
          <p:nvPr/>
        </p:nvGrpSpPr>
        <p:grpSpPr>
          <a:xfrm rot="0">
            <a:off x="11727180" y="4846606"/>
            <a:ext cx="5486400" cy="735806"/>
            <a:chOff x="0" y="0"/>
            <a:chExt cx="7315200" cy="981075"/>
          </a:xfrm>
        </p:grpSpPr>
        <p:sp>
          <p:nvSpPr>
            <p:cNvPr name="Freeform 118" id="118"/>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185" r="0" b="-95185"/>
              </a:stretch>
            </a:blipFill>
          </p:spPr>
          <p:txBody>
            <a:bodyPr/>
            <a:p/>
          </p:txBody>
        </p:sp>
      </p:grpSp>
      <p:grpSp>
        <p:nvGrpSpPr>
          <p:cNvPr name="Group 119" id="119"/>
          <p:cNvGrpSpPr/>
          <p:nvPr/>
        </p:nvGrpSpPr>
        <p:grpSpPr>
          <a:xfrm rot="0">
            <a:off x="11727180" y="4796600"/>
            <a:ext cx="5486400" cy="785812"/>
            <a:chOff x="0" y="0"/>
            <a:chExt cx="7315200" cy="1047750"/>
          </a:xfrm>
        </p:grpSpPr>
        <p:sp>
          <p:nvSpPr>
            <p:cNvPr name="Freeform 120" id="120"/>
            <p:cNvSpPr/>
            <p:nvPr/>
          </p:nvSpPr>
          <p:spPr>
            <a:xfrm flipH="false" flipV="false" rot="0">
              <a:off x="0" y="0"/>
              <a:ext cx="7315200" cy="1047750"/>
            </a:xfrm>
            <a:custGeom>
              <a:avLst/>
              <a:gdLst/>
              <a:ahLst/>
              <a:cxnLst/>
              <a:rect r="r" b="b" t="t" l="l"/>
              <a:pathLst>
                <a:path h="1047750" w="7315200">
                  <a:moveTo>
                    <a:pt x="0" y="0"/>
                  </a:moveTo>
                  <a:lnTo>
                    <a:pt x="7315200" y="0"/>
                  </a:lnTo>
                  <a:lnTo>
                    <a:pt x="7315200" y="1047750"/>
                  </a:lnTo>
                  <a:lnTo>
                    <a:pt x="0" y="1047750"/>
                  </a:lnTo>
                  <a:close/>
                </a:path>
              </a:pathLst>
            </a:custGeom>
            <a:blipFill>
              <a:blip r:embed="rId6">
                <a:alphaModFix amt="0"/>
              </a:blip>
              <a:stretch>
                <a:fillRect l="0" t="-86041" r="0" b="-86041"/>
              </a:stretch>
            </a:blipFill>
          </p:spPr>
          <p:txBody>
            <a:bodyPr/>
            <a:p/>
          </p:txBody>
        </p:sp>
        <p:sp>
          <p:nvSpPr>
            <p:cNvPr name="TextBox 121" id="121"/>
            <p:cNvSpPr txBox="true"/>
            <p:nvPr/>
          </p:nvSpPr>
          <p:spPr>
            <a:xfrm>
              <a:off x="0" y="-66675"/>
              <a:ext cx="7315200" cy="1114425"/>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42,07%</a:t>
              </a:r>
            </a:p>
          </p:txBody>
        </p:sp>
      </p:grpSp>
      <p:sp>
        <p:nvSpPr>
          <p:cNvPr name="TextBox 122" id="122"/>
          <p:cNvSpPr txBox="true"/>
          <p:nvPr/>
        </p:nvSpPr>
        <p:spPr>
          <a:xfrm rot="0">
            <a:off x="11727180" y="5509260"/>
            <a:ext cx="5486400" cy="1280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pengaruh laju penurunan dasar: pertumbuhan dan penurunan hampir seimbang sehingga selisihnya sensitif</a:t>
            </a:r>
          </a:p>
        </p:txBody>
      </p:sp>
      <p:grpSp>
        <p:nvGrpSpPr>
          <p:cNvPr name="Group 123" id="123"/>
          <p:cNvGrpSpPr/>
          <p:nvPr/>
        </p:nvGrpSpPr>
        <p:grpSpPr>
          <a:xfrm rot="0">
            <a:off x="11384280" y="7063740"/>
            <a:ext cx="6076188" cy="2125980"/>
            <a:chOff x="0" y="0"/>
            <a:chExt cx="8101584" cy="2834640"/>
          </a:xfrm>
        </p:grpSpPr>
        <p:sp>
          <p:nvSpPr>
            <p:cNvPr name="Freeform 124" id="124"/>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txBody>
            <a:bodyPr/>
            <a:p/>
          </p:txBody>
        </p:sp>
      </p:grpSp>
      <p:grpSp>
        <p:nvGrpSpPr>
          <p:cNvPr name="Group 125" id="125"/>
          <p:cNvGrpSpPr/>
          <p:nvPr/>
        </p:nvGrpSpPr>
        <p:grpSpPr>
          <a:xfrm rot="0">
            <a:off x="11727180" y="7228332"/>
            <a:ext cx="5486400" cy="685800"/>
            <a:chOff x="0" y="0"/>
            <a:chExt cx="7315200" cy="914400"/>
          </a:xfrm>
        </p:grpSpPr>
        <p:sp>
          <p:nvSpPr>
            <p:cNvPr name="Freeform 126" id="126"/>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txBody>
            <a:bodyPr/>
            <a:p/>
          </p:txBody>
        </p:sp>
      </p:grpSp>
      <p:grpSp>
        <p:nvGrpSpPr>
          <p:cNvPr name="Group 127" id="127"/>
          <p:cNvGrpSpPr/>
          <p:nvPr/>
        </p:nvGrpSpPr>
        <p:grpSpPr>
          <a:xfrm rot="0">
            <a:off x="11727180" y="7178326"/>
            <a:ext cx="5486400" cy="735806"/>
            <a:chOff x="0" y="0"/>
            <a:chExt cx="7315200" cy="981075"/>
          </a:xfrm>
        </p:grpSpPr>
        <p:sp>
          <p:nvSpPr>
            <p:cNvPr name="Freeform 128" id="128"/>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185" r="0" b="-95185"/>
              </a:stretch>
            </a:blipFill>
          </p:spPr>
          <p:txBody>
            <a:bodyPr/>
            <a:p/>
          </p:txBody>
        </p:sp>
      </p:grpSp>
      <p:grpSp>
        <p:nvGrpSpPr>
          <p:cNvPr name="Group 129" id="129"/>
          <p:cNvGrpSpPr/>
          <p:nvPr/>
        </p:nvGrpSpPr>
        <p:grpSpPr>
          <a:xfrm rot="0">
            <a:off x="11727180" y="7128320"/>
            <a:ext cx="5486400" cy="785812"/>
            <a:chOff x="0" y="0"/>
            <a:chExt cx="7315200" cy="1047750"/>
          </a:xfrm>
        </p:grpSpPr>
        <p:sp>
          <p:nvSpPr>
            <p:cNvPr name="Freeform 130" id="130"/>
            <p:cNvSpPr/>
            <p:nvPr/>
          </p:nvSpPr>
          <p:spPr>
            <a:xfrm flipH="false" flipV="false" rot="0">
              <a:off x="0" y="0"/>
              <a:ext cx="7315200" cy="1047750"/>
            </a:xfrm>
            <a:custGeom>
              <a:avLst/>
              <a:gdLst/>
              <a:ahLst/>
              <a:cxnLst/>
              <a:rect r="r" b="b" t="t" l="l"/>
              <a:pathLst>
                <a:path h="1047750" w="7315200">
                  <a:moveTo>
                    <a:pt x="0" y="0"/>
                  </a:moveTo>
                  <a:lnTo>
                    <a:pt x="7315200" y="0"/>
                  </a:lnTo>
                  <a:lnTo>
                    <a:pt x="7315200" y="1047750"/>
                  </a:lnTo>
                  <a:lnTo>
                    <a:pt x="0" y="1047750"/>
                  </a:lnTo>
                  <a:close/>
                </a:path>
              </a:pathLst>
            </a:custGeom>
            <a:blipFill>
              <a:blip r:embed="rId6">
                <a:alphaModFix amt="0"/>
              </a:blip>
              <a:stretch>
                <a:fillRect l="0" t="-86041" r="0" b="-86041"/>
              </a:stretch>
            </a:blipFill>
          </p:spPr>
          <p:txBody>
            <a:bodyPr/>
            <a:p/>
          </p:txBody>
        </p:sp>
        <p:sp>
          <p:nvSpPr>
            <p:cNvPr name="TextBox 131" id="131"/>
            <p:cNvSpPr txBox="true"/>
            <p:nvPr/>
          </p:nvSpPr>
          <p:spPr>
            <a:xfrm>
              <a:off x="0" y="-66675"/>
              <a:ext cx="7315200" cy="1114425"/>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153,57 poin</a:t>
              </a:r>
            </a:p>
          </p:txBody>
        </p:sp>
      </p:grpSp>
      <p:sp>
        <p:nvSpPr>
          <p:cNvPr name="TextBox 132" id="132"/>
          <p:cNvSpPr txBox="true"/>
          <p:nvPr/>
        </p:nvSpPr>
        <p:spPr>
          <a:xfrm rot="0">
            <a:off x="11727180" y="7840980"/>
            <a:ext cx="5486400" cy="1280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selisih hasil wisatawan akibat rasio LPD/LPE 0,60–0,90 (LPE tetap); 69,65 bila LPE dihitung ulang</a:t>
            </a:r>
          </a:p>
        </p:txBody>
      </p:sp>
      <p:sp>
        <p:nvSpPr>
          <p:cNvPr name="TextBox 133" id="133"/>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55</a:t>
            </a:r>
          </a:p>
        </p:txBody>
      </p:sp>
      <p:grpSp>
        <p:nvGrpSpPr>
          <p:cNvPr name="Group 136" id="136"/>
          <p:cNvGrpSpPr/>
          <p:nvPr/>
        </p:nvGrpSpPr>
        <p:grpSpPr>
          <a:xfrm rot="0">
            <a:off x="12755880" y="274320"/>
            <a:ext cx="3931920" cy="411480"/>
            <a:chOff x="0" y="0"/>
            <a:chExt cx="5242560" cy="548640"/>
          </a:xfrm>
        </p:grpSpPr>
        <p:sp>
          <p:nvSpPr>
            <p:cNvPr name="Freeform 137" id="137"/>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38" id="138"/>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2F · Analisis sensitivitas</a:t>
              </a:r>
            </a:p>
          </p:txBody>
        </p:sp>
      </p:grpSp>
      <p:grpSp>
        <p:nvGrpSpPr>
          <p:cNvPr name="Group 139" id="139"/>
          <p:cNvGrpSpPr/>
          <p:nvPr/>
        </p:nvGrpSpPr>
        <p:grpSpPr>
          <a:xfrm rot="0">
            <a:off x="16047720" y="9646920"/>
            <a:ext cx="420624" cy="420624"/>
            <a:chOff x="0" y="0"/>
            <a:chExt cx="560832" cy="560832"/>
          </a:xfrm>
        </p:grpSpPr>
        <p:sp>
          <p:nvSpPr>
            <p:cNvPr name="Freeform 140" id="140"/>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41" id="141"/>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graphicFrame>
        <p:nvGraphicFramePr>
          <p:cNvPr id="142" name="Chart 141"/>
          <p:cNvGraphicFramePr>
            <a:graphicFrameLocks noGrp="1"/>
          </p:cNvGraphicFramePr>
          <p:nvPr/>
        </p:nvGraphicFramePr>
        <p:xfrm>
          <a:off x="822960" y="2788920"/>
          <a:ext cx="10332720" cy="5532120"/>
        </p:xfrm>
        <a:graphic>
          <a:graphicData uri="http://schemas.openxmlformats.org/drawingml/2006/chart">
            <c:chart xmlns:c="http://schemas.openxmlformats.org/drawingml/2006/chart" r:id="rId8"/>
          </a:graphicData>
        </a:graphic>
      </p:graphicFrame>
      <p:sp>
        <p:nvSpPr>
          <p:cNvPr id="143" name="Rounded Rectangle 142"/>
          <p:cNvSpPr/>
          <p:nvPr/>
        </p:nvSpPr>
        <p:spPr>
          <a:xfrm>
            <a:off x="1097280" y="8503920"/>
            <a:ext cx="274320" cy="274320"/>
          </a:xfrm>
          <a:prstGeom prst="roundRect">
            <a:avLst>
              <a:gd name="adj" fmla="val 10000"/>
            </a:avLst>
          </a:prstGeom>
          <a:solidFill>
            <a:srgbClr val="FFD2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44" name="TextBox 143"/>
          <p:cNvSpPr txBox="1"/>
          <p:nvPr/>
        </p:nvSpPr>
        <p:spPr>
          <a:xfrm>
            <a:off x="1463040" y="8476488"/>
            <a:ext cx="2194560" cy="329184"/>
          </a:xfrm>
          <a:prstGeom prst="rect">
            <a:avLst/>
          </a:prstGeom>
          <a:noFill/>
        </p:spPr>
        <p:txBody>
          <a:bodyPr wrap="square" anchor="ctr" lIns="0" rIns="0" tIns="0" bIns="0">
            <a:spAutoFit/>
          </a:bodyPr>
          <a:lstStyle/>
          <a:p>
            <a:pPr algn="l">
              <a:spcAft>
                <a:spcPts val="400"/>
              </a:spcAft>
            </a:pPr>
            <a:r>
              <a:rPr sz="1320" b="0" i="0">
                <a:solidFill>
                  <a:srgbClr val="14313B"/>
                </a:solidFill>
                <a:latin typeface="Calibri (MS)"/>
              </a:rPr>
              <a:t>Asumsi peneliti</a:t>
            </a:r>
          </a:p>
        </p:txBody>
      </p:sp>
      <p:sp>
        <p:nvSpPr>
          <p:cNvPr id="145" name="Rounded Rectangle 144"/>
          <p:cNvSpPr/>
          <p:nvPr/>
        </p:nvSpPr>
        <p:spPr>
          <a:xfrm>
            <a:off x="3657600" y="8503920"/>
            <a:ext cx="274320" cy="274320"/>
          </a:xfrm>
          <a:prstGeom prst="roundRect">
            <a:avLst>
              <a:gd name="adj" fmla="val 10000"/>
            </a:avLst>
          </a:prstGeom>
          <a:solidFill>
            <a:srgbClr val="9EDCE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46" name="TextBox 145"/>
          <p:cNvSpPr txBox="1"/>
          <p:nvPr/>
        </p:nvSpPr>
        <p:spPr>
          <a:xfrm>
            <a:off x="4023360" y="8476488"/>
            <a:ext cx="2194560" cy="329184"/>
          </a:xfrm>
          <a:prstGeom prst="rect">
            <a:avLst/>
          </a:prstGeom>
          <a:noFill/>
        </p:spPr>
        <p:txBody>
          <a:bodyPr wrap="square" anchor="ctr" lIns="0" rIns="0" tIns="0" bIns="0">
            <a:spAutoFit/>
          </a:bodyPr>
          <a:lstStyle/>
          <a:p>
            <a:pPr algn="l">
              <a:spcAft>
                <a:spcPts val="400"/>
              </a:spcAft>
            </a:pPr>
            <a:r>
              <a:rPr sz="1320" b="0" i="0">
                <a:solidFill>
                  <a:srgbClr val="14313B"/>
                </a:solidFill>
                <a:latin typeface="Calibri (MS)"/>
              </a:rPr>
              <a:t>Nilai acuan (normalisasi)</a:t>
            </a:r>
          </a:p>
        </p:txBody>
      </p:sp>
      <p:sp>
        <p:nvSpPr>
          <p:cNvPr id="147" name="Rounded Rectangle 146"/>
          <p:cNvSpPr/>
          <p:nvPr/>
        </p:nvSpPr>
        <p:spPr>
          <a:xfrm>
            <a:off x="6217920" y="8503920"/>
            <a:ext cx="274320" cy="274320"/>
          </a:xfrm>
          <a:prstGeom prst="roundRect">
            <a:avLst>
              <a:gd name="adj" fmla="val 10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48" name="TextBox 147"/>
          <p:cNvSpPr txBox="1"/>
          <p:nvPr/>
        </p:nvSpPr>
        <p:spPr>
          <a:xfrm>
            <a:off x="6583679" y="8476488"/>
            <a:ext cx="2194560" cy="329184"/>
          </a:xfrm>
          <a:prstGeom prst="rect">
            <a:avLst/>
          </a:prstGeom>
          <a:noFill/>
        </p:spPr>
        <p:txBody>
          <a:bodyPr wrap="square" anchor="ctr" lIns="0" rIns="0" tIns="0" bIns="0">
            <a:spAutoFit/>
          </a:bodyPr>
          <a:lstStyle/>
          <a:p>
            <a:pPr algn="l">
              <a:spcAft>
                <a:spcPts val="400"/>
              </a:spcAft>
            </a:pPr>
            <a:r>
              <a:rPr sz="1320" b="0" i="0">
                <a:solidFill>
                  <a:srgbClr val="14313B"/>
                </a:solidFill>
                <a:latin typeface="Calibri (MS)"/>
              </a:rPr>
              <a:t>Dihitung dari data</a:t>
            </a:r>
          </a:p>
        </p:txBody>
      </p:sp>
      <p:sp>
        <p:nvSpPr>
          <p:cNvPr id="149" name="Rounded Rectangle 148"/>
          <p:cNvSpPr/>
          <p:nvPr/>
        </p:nvSpPr>
        <p:spPr>
          <a:xfrm>
            <a:off x="8778239" y="8503920"/>
            <a:ext cx="274320" cy="274320"/>
          </a:xfrm>
          <a:prstGeom prst="roundRect">
            <a:avLst>
              <a:gd name="adj" fmla="val 10000"/>
            </a:avLst>
          </a:prstGeom>
          <a:solidFill>
            <a:srgbClr val="8A9BA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0" name="TextBox 149"/>
          <p:cNvSpPr txBox="1"/>
          <p:nvPr/>
        </p:nvSpPr>
        <p:spPr>
          <a:xfrm>
            <a:off x="9143999" y="8476488"/>
            <a:ext cx="2194560" cy="329184"/>
          </a:xfrm>
          <a:prstGeom prst="rect">
            <a:avLst/>
          </a:prstGeom>
          <a:noFill/>
        </p:spPr>
        <p:txBody>
          <a:bodyPr wrap="square" anchor="ctr" lIns="0" rIns="0" tIns="0" bIns="0">
            <a:spAutoFit/>
          </a:bodyPr>
          <a:lstStyle/>
          <a:p>
            <a:pPr algn="l">
              <a:spcAft>
                <a:spcPts val="400"/>
              </a:spcAft>
            </a:pPr>
            <a:r>
              <a:rPr sz="1320" b="0" i="0">
                <a:solidFill>
                  <a:srgbClr val="14313B"/>
                </a:solidFill>
                <a:latin typeface="Calibri (MS)"/>
              </a:rPr>
              <a:t>Persamaan stok-aliran</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Kriteria Penetapan Variabel Kebijakan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Variabel kebijakan dipilih dengan tiga kriteria sekaligus</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Freeform 66" id="66"/>
          <p:cNvSpPr/>
          <p:nvPr/>
        </p:nvSpPr>
        <p:spPr>
          <a:xfrm flipH="false" flipV="false" rot="0">
            <a:off x="806291" y="2383631"/>
            <a:ext cx="5382578" cy="3942397"/>
          </a:xfrm>
          <a:custGeom>
            <a:avLst/>
            <a:gdLst/>
            <a:ahLst/>
            <a:cxnLst/>
            <a:rect r="r" b="b" t="t" l="l"/>
            <a:pathLst>
              <a:path h="3942397" w="5382578">
                <a:moveTo>
                  <a:pt x="0" y="0"/>
                </a:moveTo>
                <a:lnTo>
                  <a:pt x="5382578" y="0"/>
                </a:lnTo>
                <a:lnTo>
                  <a:pt x="5382578" y="3942398"/>
                </a:lnTo>
                <a:lnTo>
                  <a:pt x="0" y="3942398"/>
                </a:lnTo>
                <a:lnTo>
                  <a:pt x="0" y="0"/>
                </a:lnTo>
                <a:close/>
              </a:path>
            </a:pathLst>
          </a:custGeom>
          <a:blipFill>
            <a:blip r:embed="rId7">
              <a:extLst>
                <a:ext uri="{96DAC541-7B7A-43D3-8B79-37D633B846F1}">
                  <asvg:svgBlip xmlns:asvg="http://schemas.microsoft.com/office/drawing/2016/SVG/main" r:embed="rId8"/>
                </a:ext>
              </a:extLst>
            </a:blip>
            <a:stretch>
              <a:fillRect l="-67" t="0" r="-67" b="0"/>
            </a:stretch>
          </a:blipFill>
        </p:spPr>
        <p:txBody>
          <a:bodyPr/>
          <a:p/>
        </p:txBody>
      </p:sp>
      <p:grpSp>
        <p:nvGrpSpPr>
          <p:cNvPr name="Group 67" id="67"/>
          <p:cNvGrpSpPr/>
          <p:nvPr/>
        </p:nvGrpSpPr>
        <p:grpSpPr>
          <a:xfrm rot="0">
            <a:off x="1165860" y="2715768"/>
            <a:ext cx="685800" cy="685800"/>
            <a:chOff x="0" y="0"/>
            <a:chExt cx="914400" cy="914400"/>
          </a:xfrm>
        </p:grpSpPr>
        <p:sp>
          <p:nvSpPr>
            <p:cNvPr name="Freeform 68" id="6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69" id="69"/>
          <p:cNvGrpSpPr/>
          <p:nvPr/>
        </p:nvGrpSpPr>
        <p:grpSpPr>
          <a:xfrm rot="0">
            <a:off x="1165860" y="2715768"/>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71" id="71"/>
          <p:cNvGrpSpPr/>
          <p:nvPr/>
        </p:nvGrpSpPr>
        <p:grpSpPr>
          <a:xfrm rot="0">
            <a:off x="1165860" y="2687193"/>
            <a:ext cx="685800" cy="714375"/>
            <a:chOff x="0" y="0"/>
            <a:chExt cx="914400" cy="952500"/>
          </a:xfrm>
        </p:grpSpPr>
        <p:sp>
          <p:nvSpPr>
            <p:cNvPr name="Freeform 72" id="72"/>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73" id="73"/>
          <p:cNvGrpSpPr/>
          <p:nvPr/>
        </p:nvGrpSpPr>
        <p:grpSpPr>
          <a:xfrm rot="0">
            <a:off x="1165860" y="2658618"/>
            <a:ext cx="685800" cy="742950"/>
            <a:chOff x="0" y="0"/>
            <a:chExt cx="914400" cy="990600"/>
          </a:xfrm>
        </p:grpSpPr>
        <p:sp>
          <p:nvSpPr>
            <p:cNvPr name="Freeform 74" id="74"/>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75" id="75"/>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76" id="76"/>
          <p:cNvGrpSpPr/>
          <p:nvPr/>
        </p:nvGrpSpPr>
        <p:grpSpPr>
          <a:xfrm rot="0">
            <a:off x="2125980" y="2715768"/>
            <a:ext cx="3840480" cy="685800"/>
            <a:chOff x="0" y="0"/>
            <a:chExt cx="5120640" cy="914400"/>
          </a:xfrm>
        </p:grpSpPr>
        <p:sp>
          <p:nvSpPr>
            <p:cNvPr name="Freeform 77" id="77"/>
            <p:cNvSpPr/>
            <p:nvPr/>
          </p:nvSpPr>
          <p:spPr>
            <a:xfrm flipH="false" flipV="false" rot="0">
              <a:off x="0" y="0"/>
              <a:ext cx="5120640" cy="914400"/>
            </a:xfrm>
            <a:custGeom>
              <a:avLst/>
              <a:gdLst/>
              <a:ahLst/>
              <a:cxnLst/>
              <a:rect r="r" b="b" t="t" l="l"/>
              <a:pathLst>
                <a:path h="914400" w="5120640">
                  <a:moveTo>
                    <a:pt x="0" y="0"/>
                  </a:moveTo>
                  <a:lnTo>
                    <a:pt x="5120640" y="0"/>
                  </a:lnTo>
                  <a:lnTo>
                    <a:pt x="5120640" y="914400"/>
                  </a:lnTo>
                  <a:lnTo>
                    <a:pt x="0" y="914400"/>
                  </a:lnTo>
                  <a:close/>
                </a:path>
              </a:pathLst>
            </a:custGeom>
            <a:blipFill>
              <a:blip r:embed="rId4">
                <a:alphaModFix amt="0"/>
              </a:blip>
              <a:stretch>
                <a:fillRect l="0" t="-59040" r="0" b="-59040"/>
              </a:stretch>
            </a:blipFill>
          </p:spPr>
          <p:txBody>
            <a:bodyPr/>
            <a:p/>
          </p:txBody>
        </p:sp>
      </p:grpSp>
      <p:grpSp>
        <p:nvGrpSpPr>
          <p:cNvPr name="Group 78" id="78"/>
          <p:cNvGrpSpPr/>
          <p:nvPr/>
        </p:nvGrpSpPr>
        <p:grpSpPr>
          <a:xfrm rot="0">
            <a:off x="2125980" y="2680049"/>
            <a:ext cx="3840480" cy="721519"/>
            <a:chOff x="0" y="0"/>
            <a:chExt cx="5120640" cy="962025"/>
          </a:xfrm>
        </p:grpSpPr>
        <p:sp>
          <p:nvSpPr>
            <p:cNvPr name="Freeform 79" id="79"/>
            <p:cNvSpPr/>
            <p:nvPr/>
          </p:nvSpPr>
          <p:spPr>
            <a:xfrm flipH="false" flipV="false" rot="0">
              <a:off x="0" y="0"/>
              <a:ext cx="5120640" cy="962025"/>
            </a:xfrm>
            <a:custGeom>
              <a:avLst/>
              <a:gdLst/>
              <a:ahLst/>
              <a:cxnLst/>
              <a:rect r="r" b="b" t="t" l="l"/>
              <a:pathLst>
                <a:path h="962025" w="5120640">
                  <a:moveTo>
                    <a:pt x="0" y="0"/>
                  </a:moveTo>
                  <a:lnTo>
                    <a:pt x="5120640" y="0"/>
                  </a:lnTo>
                  <a:lnTo>
                    <a:pt x="5120640" y="962025"/>
                  </a:lnTo>
                  <a:lnTo>
                    <a:pt x="0" y="962025"/>
                  </a:lnTo>
                  <a:close/>
                </a:path>
              </a:pathLst>
            </a:custGeom>
            <a:blipFill>
              <a:blip r:embed="rId5">
                <a:alphaModFix amt="0"/>
              </a:blip>
              <a:stretch>
                <a:fillRect l="0" t="-53642" r="0" b="-53642"/>
              </a:stretch>
            </a:blipFill>
          </p:spPr>
          <p:txBody>
            <a:bodyPr/>
            <a:p/>
          </p:txBody>
        </p:sp>
      </p:grpSp>
      <p:grpSp>
        <p:nvGrpSpPr>
          <p:cNvPr name="Group 80" id="80"/>
          <p:cNvGrpSpPr/>
          <p:nvPr/>
        </p:nvGrpSpPr>
        <p:grpSpPr>
          <a:xfrm rot="0">
            <a:off x="2125980" y="2644330"/>
            <a:ext cx="3840480" cy="757238"/>
            <a:chOff x="0" y="0"/>
            <a:chExt cx="5120640" cy="1009650"/>
          </a:xfrm>
        </p:grpSpPr>
        <p:sp>
          <p:nvSpPr>
            <p:cNvPr name="Freeform 81" id="81"/>
            <p:cNvSpPr/>
            <p:nvPr/>
          </p:nvSpPr>
          <p:spPr>
            <a:xfrm flipH="false" flipV="false" rot="0">
              <a:off x="0" y="0"/>
              <a:ext cx="5120640" cy="1009650"/>
            </a:xfrm>
            <a:custGeom>
              <a:avLst/>
              <a:gdLst/>
              <a:ahLst/>
              <a:cxnLst/>
              <a:rect r="r" b="b" t="t" l="l"/>
              <a:pathLst>
                <a:path h="1009650" w="5120640">
                  <a:moveTo>
                    <a:pt x="0" y="0"/>
                  </a:moveTo>
                  <a:lnTo>
                    <a:pt x="5120640" y="0"/>
                  </a:lnTo>
                  <a:lnTo>
                    <a:pt x="5120640" y="1009650"/>
                  </a:lnTo>
                  <a:lnTo>
                    <a:pt x="0" y="1009650"/>
                  </a:lnTo>
                  <a:close/>
                </a:path>
              </a:pathLst>
            </a:custGeom>
            <a:blipFill>
              <a:blip r:embed="rId6">
                <a:alphaModFix amt="0"/>
              </a:blip>
              <a:stretch>
                <a:fillRect l="0" t="-48822" r="0" b="-48822"/>
              </a:stretch>
            </a:blipFill>
          </p:spPr>
          <p:txBody>
            <a:bodyPr/>
            <a:p/>
          </p:txBody>
        </p:sp>
        <p:sp>
          <p:nvSpPr>
            <p:cNvPr name="TextBox 82" id="82"/>
            <p:cNvSpPr txBox="true"/>
            <p:nvPr/>
          </p:nvSpPr>
          <p:spPr>
            <a:xfrm>
              <a:off x="0" y="-47625"/>
              <a:ext cx="5120640" cy="1057275"/>
            </a:xfrm>
            <a:prstGeom prst="rect">
              <a:avLst/>
            </a:prstGeom>
          </p:spPr>
          <p:txBody>
            <a:bodyPr anchor="ctr" rtlCol="false" tIns="0" lIns="0" bIns="0" rIns="0"/>
            <a:lstStyle/>
            <a:p>
              <a:pPr algn="l">
                <a:lnSpc>
                  <a:spcPts val="3060"/>
                </a:lnSpc>
              </a:pPr>
              <a:r>
                <a:rPr lang="en-US" sz="2550" b="true">
                  <a:solidFill>
                    <a:srgbClr val="0B5E6E"/>
                  </a:solidFill>
                  <a:latin typeface="Calibri (MS) Bold"/>
                  <a:ea typeface="Calibri (MS) Bold"/>
                  <a:cs typeface="Calibri (MS) Bold"/>
                  <a:sym typeface="Calibri (MS) Bold"/>
                </a:rPr>
                <a:t>Berpengaruh pada model</a:t>
              </a:r>
            </a:p>
          </p:txBody>
        </p:sp>
      </p:grpSp>
      <p:sp>
        <p:nvSpPr>
          <p:cNvPr name="TextBox 83" id="83"/>
          <p:cNvSpPr txBox="true"/>
          <p:nvPr/>
        </p:nvSpPr>
        <p:spPr>
          <a:xfrm rot="0">
            <a:off x="1165860" y="3560445"/>
            <a:ext cx="4732020" cy="2680335"/>
          </a:xfrm>
          <a:prstGeom prst="rect">
            <a:avLst/>
          </a:prstGeom>
        </p:spPr>
        <p:txBody>
          <a:bodyPr anchor="t" rtlCol="false" tIns="0" lIns="0" bIns="0" rIns="0">
            <a:spAutoFit/>
          </a:bodyPr>
          <a:lstStyle/>
          <a:p>
            <a:pPr algn="l">
              <a:lnSpc>
                <a:spcPts val="2610"/>
              </a:lnSpc>
            </a:pPr>
            <a:r>
              <a:rPr lang="en-US" sz="2175">
                <a:solidFill>
                  <a:srgbClr val="14313B"/>
                </a:solidFill>
                <a:latin typeface="Calibri (MS)"/>
                <a:ea typeface="Calibri (MS)"/>
                <a:cs typeface="Calibri (MS)"/>
                <a:sym typeface="Calibri (MS)"/>
              </a:rPr>
              <a:t>Parameter terbukti memengaruhi perilaku model berdasarkan analisis sensitivitas.</a:t>
            </a:r>
          </a:p>
        </p:txBody>
      </p:sp>
      <p:sp>
        <p:nvSpPr>
          <p:cNvPr name="Freeform 84" id="84"/>
          <p:cNvSpPr/>
          <p:nvPr/>
        </p:nvSpPr>
        <p:spPr>
          <a:xfrm flipH="false" flipV="false" rot="0">
            <a:off x="6450425" y="2383631"/>
            <a:ext cx="5382578" cy="3942397"/>
          </a:xfrm>
          <a:custGeom>
            <a:avLst/>
            <a:gdLst/>
            <a:ahLst/>
            <a:cxnLst/>
            <a:rect r="r" b="b" t="t" l="l"/>
            <a:pathLst>
              <a:path h="3942397" w="5382578">
                <a:moveTo>
                  <a:pt x="0" y="0"/>
                </a:moveTo>
                <a:lnTo>
                  <a:pt x="5382578" y="0"/>
                </a:lnTo>
                <a:lnTo>
                  <a:pt x="5382578" y="3942398"/>
                </a:lnTo>
                <a:lnTo>
                  <a:pt x="0" y="3942398"/>
                </a:lnTo>
                <a:lnTo>
                  <a:pt x="0" y="0"/>
                </a:lnTo>
                <a:close/>
              </a:path>
            </a:pathLst>
          </a:custGeom>
          <a:blipFill>
            <a:blip r:embed="rId7">
              <a:extLst>
                <a:ext uri="{96DAC541-7B7A-43D3-8B79-37D633B846F1}">
                  <asvg:svgBlip xmlns:asvg="http://schemas.microsoft.com/office/drawing/2016/SVG/main" r:embed="rId8"/>
                </a:ext>
              </a:extLst>
            </a:blip>
            <a:stretch>
              <a:fillRect l="-67" t="0" r="-67" b="0"/>
            </a:stretch>
          </a:blipFill>
        </p:spPr>
        <p:txBody>
          <a:bodyPr/>
          <a:p/>
        </p:txBody>
      </p:sp>
      <p:grpSp>
        <p:nvGrpSpPr>
          <p:cNvPr name="Group 85" id="85"/>
          <p:cNvGrpSpPr/>
          <p:nvPr/>
        </p:nvGrpSpPr>
        <p:grpSpPr>
          <a:xfrm rot="0">
            <a:off x="6809994" y="2715768"/>
            <a:ext cx="685800" cy="685800"/>
            <a:chOff x="0" y="0"/>
            <a:chExt cx="914400" cy="914400"/>
          </a:xfrm>
        </p:grpSpPr>
        <p:sp>
          <p:nvSpPr>
            <p:cNvPr name="Freeform 86" id="8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87" id="87"/>
          <p:cNvGrpSpPr/>
          <p:nvPr/>
        </p:nvGrpSpPr>
        <p:grpSpPr>
          <a:xfrm rot="0">
            <a:off x="6809994" y="2715768"/>
            <a:ext cx="685800" cy="685800"/>
            <a:chOff x="0" y="0"/>
            <a:chExt cx="914400" cy="914400"/>
          </a:xfrm>
        </p:grpSpPr>
        <p:sp>
          <p:nvSpPr>
            <p:cNvPr name="Freeform 88" id="8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89" id="89"/>
          <p:cNvGrpSpPr/>
          <p:nvPr/>
        </p:nvGrpSpPr>
        <p:grpSpPr>
          <a:xfrm rot="0">
            <a:off x="6809994" y="2687193"/>
            <a:ext cx="685800" cy="714375"/>
            <a:chOff x="0" y="0"/>
            <a:chExt cx="914400" cy="952500"/>
          </a:xfrm>
        </p:grpSpPr>
        <p:sp>
          <p:nvSpPr>
            <p:cNvPr name="Freeform 90" id="90"/>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91" id="91"/>
          <p:cNvGrpSpPr/>
          <p:nvPr/>
        </p:nvGrpSpPr>
        <p:grpSpPr>
          <a:xfrm rot="0">
            <a:off x="6809994" y="2658618"/>
            <a:ext cx="685800" cy="742950"/>
            <a:chOff x="0" y="0"/>
            <a:chExt cx="914400" cy="990600"/>
          </a:xfrm>
        </p:grpSpPr>
        <p:sp>
          <p:nvSpPr>
            <p:cNvPr name="Freeform 92" id="92"/>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93" id="93"/>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94" id="94"/>
          <p:cNvGrpSpPr/>
          <p:nvPr/>
        </p:nvGrpSpPr>
        <p:grpSpPr>
          <a:xfrm rot="0">
            <a:off x="7770114" y="2715768"/>
            <a:ext cx="3840480" cy="685800"/>
            <a:chOff x="0" y="0"/>
            <a:chExt cx="5120640" cy="914400"/>
          </a:xfrm>
        </p:grpSpPr>
        <p:sp>
          <p:nvSpPr>
            <p:cNvPr name="Freeform 95" id="95"/>
            <p:cNvSpPr/>
            <p:nvPr/>
          </p:nvSpPr>
          <p:spPr>
            <a:xfrm flipH="false" flipV="false" rot="0">
              <a:off x="0" y="0"/>
              <a:ext cx="5120640" cy="914400"/>
            </a:xfrm>
            <a:custGeom>
              <a:avLst/>
              <a:gdLst/>
              <a:ahLst/>
              <a:cxnLst/>
              <a:rect r="r" b="b" t="t" l="l"/>
              <a:pathLst>
                <a:path h="914400" w="5120640">
                  <a:moveTo>
                    <a:pt x="0" y="0"/>
                  </a:moveTo>
                  <a:lnTo>
                    <a:pt x="5120640" y="0"/>
                  </a:lnTo>
                  <a:lnTo>
                    <a:pt x="5120640" y="914400"/>
                  </a:lnTo>
                  <a:lnTo>
                    <a:pt x="0" y="914400"/>
                  </a:lnTo>
                  <a:close/>
                </a:path>
              </a:pathLst>
            </a:custGeom>
            <a:blipFill>
              <a:blip r:embed="rId4">
                <a:alphaModFix amt="0"/>
              </a:blip>
              <a:stretch>
                <a:fillRect l="0" t="-59040" r="0" b="-59040"/>
              </a:stretch>
            </a:blipFill>
          </p:spPr>
          <p:txBody>
            <a:bodyPr/>
            <a:p/>
          </p:txBody>
        </p:sp>
      </p:grpSp>
      <p:grpSp>
        <p:nvGrpSpPr>
          <p:cNvPr name="Group 96" id="96"/>
          <p:cNvGrpSpPr/>
          <p:nvPr/>
        </p:nvGrpSpPr>
        <p:grpSpPr>
          <a:xfrm rot="0">
            <a:off x="7770114" y="2680049"/>
            <a:ext cx="3840480" cy="721519"/>
            <a:chOff x="0" y="0"/>
            <a:chExt cx="5120640" cy="962025"/>
          </a:xfrm>
        </p:grpSpPr>
        <p:sp>
          <p:nvSpPr>
            <p:cNvPr name="Freeform 97" id="97"/>
            <p:cNvSpPr/>
            <p:nvPr/>
          </p:nvSpPr>
          <p:spPr>
            <a:xfrm flipH="false" flipV="false" rot="0">
              <a:off x="0" y="0"/>
              <a:ext cx="5120640" cy="962025"/>
            </a:xfrm>
            <a:custGeom>
              <a:avLst/>
              <a:gdLst/>
              <a:ahLst/>
              <a:cxnLst/>
              <a:rect r="r" b="b" t="t" l="l"/>
              <a:pathLst>
                <a:path h="962025" w="5120640">
                  <a:moveTo>
                    <a:pt x="0" y="0"/>
                  </a:moveTo>
                  <a:lnTo>
                    <a:pt x="5120640" y="0"/>
                  </a:lnTo>
                  <a:lnTo>
                    <a:pt x="5120640" y="962025"/>
                  </a:lnTo>
                  <a:lnTo>
                    <a:pt x="0" y="962025"/>
                  </a:lnTo>
                  <a:close/>
                </a:path>
              </a:pathLst>
            </a:custGeom>
            <a:blipFill>
              <a:blip r:embed="rId5">
                <a:alphaModFix amt="0"/>
              </a:blip>
              <a:stretch>
                <a:fillRect l="0" t="-53642" r="0" b="-53642"/>
              </a:stretch>
            </a:blipFill>
          </p:spPr>
          <p:txBody>
            <a:bodyPr/>
            <a:p/>
          </p:txBody>
        </p:sp>
      </p:grpSp>
      <p:grpSp>
        <p:nvGrpSpPr>
          <p:cNvPr name="Group 98" id="98"/>
          <p:cNvGrpSpPr/>
          <p:nvPr/>
        </p:nvGrpSpPr>
        <p:grpSpPr>
          <a:xfrm rot="0">
            <a:off x="7770114" y="2644330"/>
            <a:ext cx="3840480" cy="757238"/>
            <a:chOff x="0" y="0"/>
            <a:chExt cx="5120640" cy="1009650"/>
          </a:xfrm>
        </p:grpSpPr>
        <p:sp>
          <p:nvSpPr>
            <p:cNvPr name="Freeform 99" id="99"/>
            <p:cNvSpPr/>
            <p:nvPr/>
          </p:nvSpPr>
          <p:spPr>
            <a:xfrm flipH="false" flipV="false" rot="0">
              <a:off x="0" y="0"/>
              <a:ext cx="5120640" cy="1009650"/>
            </a:xfrm>
            <a:custGeom>
              <a:avLst/>
              <a:gdLst/>
              <a:ahLst/>
              <a:cxnLst/>
              <a:rect r="r" b="b" t="t" l="l"/>
              <a:pathLst>
                <a:path h="1009650" w="5120640">
                  <a:moveTo>
                    <a:pt x="0" y="0"/>
                  </a:moveTo>
                  <a:lnTo>
                    <a:pt x="5120640" y="0"/>
                  </a:lnTo>
                  <a:lnTo>
                    <a:pt x="5120640" y="1009650"/>
                  </a:lnTo>
                  <a:lnTo>
                    <a:pt x="0" y="1009650"/>
                  </a:lnTo>
                  <a:close/>
                </a:path>
              </a:pathLst>
            </a:custGeom>
            <a:blipFill>
              <a:blip r:embed="rId6">
                <a:alphaModFix amt="0"/>
              </a:blip>
              <a:stretch>
                <a:fillRect l="0" t="-48822" r="0" b="-48822"/>
              </a:stretch>
            </a:blipFill>
          </p:spPr>
          <p:txBody>
            <a:bodyPr/>
            <a:p/>
          </p:txBody>
        </p:sp>
        <p:sp>
          <p:nvSpPr>
            <p:cNvPr name="TextBox 100" id="100"/>
            <p:cNvSpPr txBox="true"/>
            <p:nvPr/>
          </p:nvSpPr>
          <p:spPr>
            <a:xfrm>
              <a:off x="0" y="-47625"/>
              <a:ext cx="5120640" cy="1057275"/>
            </a:xfrm>
            <a:prstGeom prst="rect">
              <a:avLst/>
            </a:prstGeom>
          </p:spPr>
          <p:txBody>
            <a:bodyPr anchor="ctr" rtlCol="false" tIns="0" lIns="0" bIns="0" rIns="0"/>
            <a:lstStyle/>
            <a:p>
              <a:pPr algn="l">
                <a:lnSpc>
                  <a:spcPts val="3060"/>
                </a:lnSpc>
              </a:pPr>
              <a:r>
                <a:rPr lang="en-US" sz="2550" b="true">
                  <a:solidFill>
                    <a:srgbClr val="0B5E6E"/>
                  </a:solidFill>
                  <a:latin typeface="Calibri (MS) Bold"/>
                  <a:ea typeface="Calibri (MS) Bold"/>
                  <a:cs typeface="Calibri (MS) Bold"/>
                  <a:sym typeface="Calibri (MS) Bold"/>
                </a:rPr>
                <a:t>Dasar kebijakan</a:t>
              </a:r>
            </a:p>
          </p:txBody>
        </p:sp>
      </p:grpSp>
      <p:sp>
        <p:nvSpPr>
          <p:cNvPr name="TextBox 101" id="101"/>
          <p:cNvSpPr txBox="true"/>
          <p:nvPr/>
        </p:nvSpPr>
        <p:spPr>
          <a:xfrm rot="0">
            <a:off x="6809994" y="3560445"/>
            <a:ext cx="4732020" cy="2680335"/>
          </a:xfrm>
          <a:prstGeom prst="rect">
            <a:avLst/>
          </a:prstGeom>
        </p:spPr>
        <p:txBody>
          <a:bodyPr anchor="t" rtlCol="false" tIns="0" lIns="0" bIns="0" rIns="0">
            <a:spAutoFit/>
          </a:bodyPr>
          <a:lstStyle/>
          <a:p>
            <a:pPr algn="l">
              <a:lnSpc>
                <a:spcPts val="2610"/>
              </a:lnSpc>
            </a:pPr>
            <a:r>
              <a:rPr lang="en-US" sz="2175">
                <a:solidFill>
                  <a:srgbClr val="14313B"/>
                </a:solidFill>
                <a:latin typeface="Calibri (MS)"/>
                <a:ea typeface="Calibri (MS)"/>
                <a:cs typeface="Calibri (MS)"/>
                <a:sym typeface="Calibri (MS)"/>
              </a:rPr>
              <a:t>Ada peraturan atau dokumen perencanaan yang menjadikannya sasaran: Perda DIY 1/2012 (pembukaan lahan baru bagi investor) dan Perda DIY 6/2021 (larangan alih fungsi lahan pangan).</a:t>
            </a:r>
          </a:p>
        </p:txBody>
      </p:sp>
      <p:sp>
        <p:nvSpPr>
          <p:cNvPr name="Freeform 102" id="102"/>
          <p:cNvSpPr/>
          <p:nvPr/>
        </p:nvSpPr>
        <p:spPr>
          <a:xfrm flipH="false" flipV="false" rot="0">
            <a:off x="12094559" y="2383631"/>
            <a:ext cx="5382578" cy="3942397"/>
          </a:xfrm>
          <a:custGeom>
            <a:avLst/>
            <a:gdLst/>
            <a:ahLst/>
            <a:cxnLst/>
            <a:rect r="r" b="b" t="t" l="l"/>
            <a:pathLst>
              <a:path h="3942397" w="5382578">
                <a:moveTo>
                  <a:pt x="0" y="0"/>
                </a:moveTo>
                <a:lnTo>
                  <a:pt x="5382578" y="0"/>
                </a:lnTo>
                <a:lnTo>
                  <a:pt x="5382578" y="3942398"/>
                </a:lnTo>
                <a:lnTo>
                  <a:pt x="0" y="3942398"/>
                </a:lnTo>
                <a:lnTo>
                  <a:pt x="0" y="0"/>
                </a:lnTo>
                <a:close/>
              </a:path>
            </a:pathLst>
          </a:custGeom>
          <a:blipFill>
            <a:blip r:embed="rId7">
              <a:extLst>
                <a:ext uri="{96DAC541-7B7A-43D3-8B79-37D633B846F1}">
                  <asvg:svgBlip xmlns:asvg="http://schemas.microsoft.com/office/drawing/2016/SVG/main" r:embed="rId8"/>
                </a:ext>
              </a:extLst>
            </a:blip>
            <a:stretch>
              <a:fillRect l="-67" t="0" r="-67" b="0"/>
            </a:stretch>
          </a:blipFill>
        </p:spPr>
        <p:txBody>
          <a:bodyPr/>
          <a:p/>
        </p:txBody>
      </p:sp>
      <p:grpSp>
        <p:nvGrpSpPr>
          <p:cNvPr name="Group 103" id="103"/>
          <p:cNvGrpSpPr/>
          <p:nvPr/>
        </p:nvGrpSpPr>
        <p:grpSpPr>
          <a:xfrm rot="0">
            <a:off x="12454128" y="2715768"/>
            <a:ext cx="685800" cy="685800"/>
            <a:chOff x="0" y="0"/>
            <a:chExt cx="914400" cy="914400"/>
          </a:xfrm>
        </p:grpSpPr>
        <p:sp>
          <p:nvSpPr>
            <p:cNvPr name="Freeform 104" id="10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105" id="105"/>
          <p:cNvGrpSpPr/>
          <p:nvPr/>
        </p:nvGrpSpPr>
        <p:grpSpPr>
          <a:xfrm rot="0">
            <a:off x="12454128" y="2715768"/>
            <a:ext cx="685800" cy="685800"/>
            <a:chOff x="0" y="0"/>
            <a:chExt cx="914400" cy="914400"/>
          </a:xfrm>
        </p:grpSpPr>
        <p:sp>
          <p:nvSpPr>
            <p:cNvPr name="Freeform 106" id="10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107" id="107"/>
          <p:cNvGrpSpPr/>
          <p:nvPr/>
        </p:nvGrpSpPr>
        <p:grpSpPr>
          <a:xfrm rot="0">
            <a:off x="12454128" y="2687193"/>
            <a:ext cx="685800" cy="714375"/>
            <a:chOff x="0" y="0"/>
            <a:chExt cx="914400" cy="952500"/>
          </a:xfrm>
        </p:grpSpPr>
        <p:sp>
          <p:nvSpPr>
            <p:cNvPr name="Freeform 108" id="10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109" id="109"/>
          <p:cNvGrpSpPr/>
          <p:nvPr/>
        </p:nvGrpSpPr>
        <p:grpSpPr>
          <a:xfrm rot="0">
            <a:off x="12454128" y="2658618"/>
            <a:ext cx="685800" cy="742950"/>
            <a:chOff x="0" y="0"/>
            <a:chExt cx="914400" cy="990600"/>
          </a:xfrm>
        </p:grpSpPr>
        <p:sp>
          <p:nvSpPr>
            <p:cNvPr name="Freeform 110" id="110"/>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111" id="111"/>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112" id="112"/>
          <p:cNvGrpSpPr/>
          <p:nvPr/>
        </p:nvGrpSpPr>
        <p:grpSpPr>
          <a:xfrm rot="0">
            <a:off x="13414248" y="2715768"/>
            <a:ext cx="3840480" cy="685800"/>
            <a:chOff x="0" y="0"/>
            <a:chExt cx="5120640" cy="914400"/>
          </a:xfrm>
        </p:grpSpPr>
        <p:sp>
          <p:nvSpPr>
            <p:cNvPr name="Freeform 113" id="113"/>
            <p:cNvSpPr/>
            <p:nvPr/>
          </p:nvSpPr>
          <p:spPr>
            <a:xfrm flipH="false" flipV="false" rot="0">
              <a:off x="0" y="0"/>
              <a:ext cx="5120640" cy="914400"/>
            </a:xfrm>
            <a:custGeom>
              <a:avLst/>
              <a:gdLst/>
              <a:ahLst/>
              <a:cxnLst/>
              <a:rect r="r" b="b" t="t" l="l"/>
              <a:pathLst>
                <a:path h="914400" w="5120640">
                  <a:moveTo>
                    <a:pt x="0" y="0"/>
                  </a:moveTo>
                  <a:lnTo>
                    <a:pt x="5120640" y="0"/>
                  </a:lnTo>
                  <a:lnTo>
                    <a:pt x="5120640" y="914400"/>
                  </a:lnTo>
                  <a:lnTo>
                    <a:pt x="0" y="914400"/>
                  </a:lnTo>
                  <a:close/>
                </a:path>
              </a:pathLst>
            </a:custGeom>
            <a:blipFill>
              <a:blip r:embed="rId4">
                <a:alphaModFix amt="0"/>
              </a:blip>
              <a:stretch>
                <a:fillRect l="0" t="-59040" r="0" b="-59040"/>
              </a:stretch>
            </a:blipFill>
          </p:spPr>
          <p:txBody>
            <a:bodyPr/>
            <a:p/>
          </p:txBody>
        </p:sp>
      </p:grpSp>
      <p:grpSp>
        <p:nvGrpSpPr>
          <p:cNvPr name="Group 114" id="114"/>
          <p:cNvGrpSpPr/>
          <p:nvPr/>
        </p:nvGrpSpPr>
        <p:grpSpPr>
          <a:xfrm rot="0">
            <a:off x="13414248" y="2680049"/>
            <a:ext cx="3840480" cy="721519"/>
            <a:chOff x="0" y="0"/>
            <a:chExt cx="5120640" cy="962025"/>
          </a:xfrm>
        </p:grpSpPr>
        <p:sp>
          <p:nvSpPr>
            <p:cNvPr name="Freeform 115" id="115"/>
            <p:cNvSpPr/>
            <p:nvPr/>
          </p:nvSpPr>
          <p:spPr>
            <a:xfrm flipH="false" flipV="false" rot="0">
              <a:off x="0" y="0"/>
              <a:ext cx="5120640" cy="962025"/>
            </a:xfrm>
            <a:custGeom>
              <a:avLst/>
              <a:gdLst/>
              <a:ahLst/>
              <a:cxnLst/>
              <a:rect r="r" b="b" t="t" l="l"/>
              <a:pathLst>
                <a:path h="962025" w="5120640">
                  <a:moveTo>
                    <a:pt x="0" y="0"/>
                  </a:moveTo>
                  <a:lnTo>
                    <a:pt x="5120640" y="0"/>
                  </a:lnTo>
                  <a:lnTo>
                    <a:pt x="5120640" y="962025"/>
                  </a:lnTo>
                  <a:lnTo>
                    <a:pt x="0" y="962025"/>
                  </a:lnTo>
                  <a:close/>
                </a:path>
              </a:pathLst>
            </a:custGeom>
            <a:blipFill>
              <a:blip r:embed="rId5">
                <a:alphaModFix amt="0"/>
              </a:blip>
              <a:stretch>
                <a:fillRect l="0" t="-53642" r="0" b="-53642"/>
              </a:stretch>
            </a:blipFill>
          </p:spPr>
          <p:txBody>
            <a:bodyPr/>
            <a:p/>
          </p:txBody>
        </p:sp>
      </p:grpSp>
      <p:grpSp>
        <p:nvGrpSpPr>
          <p:cNvPr name="Group 116" id="116"/>
          <p:cNvGrpSpPr/>
          <p:nvPr/>
        </p:nvGrpSpPr>
        <p:grpSpPr>
          <a:xfrm rot="0">
            <a:off x="13414248" y="2644330"/>
            <a:ext cx="3840480" cy="757238"/>
            <a:chOff x="0" y="0"/>
            <a:chExt cx="5120640" cy="1009650"/>
          </a:xfrm>
        </p:grpSpPr>
        <p:sp>
          <p:nvSpPr>
            <p:cNvPr name="Freeform 117" id="117"/>
            <p:cNvSpPr/>
            <p:nvPr/>
          </p:nvSpPr>
          <p:spPr>
            <a:xfrm flipH="false" flipV="false" rot="0">
              <a:off x="0" y="0"/>
              <a:ext cx="5120640" cy="1009650"/>
            </a:xfrm>
            <a:custGeom>
              <a:avLst/>
              <a:gdLst/>
              <a:ahLst/>
              <a:cxnLst/>
              <a:rect r="r" b="b" t="t" l="l"/>
              <a:pathLst>
                <a:path h="1009650" w="5120640">
                  <a:moveTo>
                    <a:pt x="0" y="0"/>
                  </a:moveTo>
                  <a:lnTo>
                    <a:pt x="5120640" y="0"/>
                  </a:lnTo>
                  <a:lnTo>
                    <a:pt x="5120640" y="1009650"/>
                  </a:lnTo>
                  <a:lnTo>
                    <a:pt x="0" y="1009650"/>
                  </a:lnTo>
                  <a:close/>
                </a:path>
              </a:pathLst>
            </a:custGeom>
            <a:blipFill>
              <a:blip r:embed="rId6">
                <a:alphaModFix amt="0"/>
              </a:blip>
              <a:stretch>
                <a:fillRect l="0" t="-48822" r="0" b="-48822"/>
              </a:stretch>
            </a:blipFill>
          </p:spPr>
          <p:txBody>
            <a:bodyPr/>
            <a:p/>
          </p:txBody>
        </p:sp>
        <p:sp>
          <p:nvSpPr>
            <p:cNvPr name="TextBox 118" id="118"/>
            <p:cNvSpPr txBox="true"/>
            <p:nvPr/>
          </p:nvSpPr>
          <p:spPr>
            <a:xfrm>
              <a:off x="0" y="-47625"/>
              <a:ext cx="5120640" cy="1057275"/>
            </a:xfrm>
            <a:prstGeom prst="rect">
              <a:avLst/>
            </a:prstGeom>
          </p:spPr>
          <p:txBody>
            <a:bodyPr anchor="ctr" rtlCol="false" tIns="0" lIns="0" bIns="0" rIns="0"/>
            <a:lstStyle/>
            <a:p>
              <a:pPr algn="l">
                <a:lnSpc>
                  <a:spcPts val="3060"/>
                </a:lnSpc>
              </a:pPr>
              <a:r>
                <a:rPr lang="en-US" sz="2550" b="true">
                  <a:solidFill>
                    <a:srgbClr val="0B5E6E"/>
                  </a:solidFill>
                  <a:latin typeface="Calibri (MS) Bold"/>
                  <a:ea typeface="Calibri (MS) Bold"/>
                  <a:cs typeface="Calibri (MS) Bold"/>
                  <a:sym typeface="Calibri (MS) Bold"/>
                </a:rPr>
                <a:t>Dapat dikendalikan pemerintah</a:t>
              </a:r>
            </a:p>
          </p:txBody>
        </p:sp>
      </p:grpSp>
      <p:sp>
        <p:nvSpPr>
          <p:cNvPr name="TextBox 119" id="119"/>
          <p:cNvSpPr txBox="true"/>
          <p:nvPr/>
        </p:nvSpPr>
        <p:spPr>
          <a:xfrm rot="0">
            <a:off x="12454128" y="3560445"/>
            <a:ext cx="4732020" cy="2680335"/>
          </a:xfrm>
          <a:prstGeom prst="rect">
            <a:avLst/>
          </a:prstGeom>
        </p:spPr>
        <p:txBody>
          <a:bodyPr anchor="t" rtlCol="false" tIns="0" lIns="0" bIns="0" rIns="0">
            <a:spAutoFit/>
          </a:bodyPr>
          <a:lstStyle/>
          <a:p>
            <a:pPr algn="l">
              <a:lnSpc>
                <a:spcPts val="2610"/>
              </a:lnSpc>
            </a:pPr>
            <a:r>
              <a:rPr lang="en-US" sz="2175">
                <a:solidFill>
                  <a:srgbClr val="14313B"/>
                </a:solidFill>
                <a:latin typeface="Calibri (MS)"/>
                <a:ea typeface="Calibri (MS)"/>
                <a:cs typeface="Calibri (MS)"/>
                <a:sym typeface="Calibri (MS)"/>
              </a:rPr>
              <a:t>Pemerintah memiliki instrumen: kemudahan perizinan dan insentif fiskal; zonasi dan moratorium izin.</a:t>
            </a:r>
          </a:p>
        </p:txBody>
      </p:sp>
      <p:grpSp>
        <p:nvGrpSpPr>
          <p:cNvPr name="Group 120" id="120"/>
          <p:cNvGrpSpPr/>
          <p:nvPr/>
        </p:nvGrpSpPr>
        <p:grpSpPr>
          <a:xfrm rot="0">
            <a:off x="822960" y="6789420"/>
            <a:ext cx="9875520" cy="2331720"/>
            <a:chOff x="0" y="0"/>
            <a:chExt cx="13167360" cy="3108960"/>
          </a:xfrm>
        </p:grpSpPr>
        <p:sp>
          <p:nvSpPr>
            <p:cNvPr name="Freeform 121" id="121"/>
            <p:cNvSpPr/>
            <p:nvPr/>
          </p:nvSpPr>
          <p:spPr>
            <a:xfrm flipH="false" flipV="false" rot="0">
              <a:off x="0" y="0"/>
              <a:ext cx="13167361" cy="3108960"/>
            </a:xfrm>
            <a:custGeom>
              <a:avLst/>
              <a:gdLst/>
              <a:ahLst/>
              <a:cxnLst/>
              <a:rect r="r" b="b" t="t" l="l"/>
              <a:pathLst>
                <a:path h="3108960" w="13167361">
                  <a:moveTo>
                    <a:pt x="0" y="182880"/>
                  </a:moveTo>
                  <a:cubicBezTo>
                    <a:pt x="0" y="81915"/>
                    <a:pt x="81915" y="0"/>
                    <a:pt x="182880" y="0"/>
                  </a:cubicBezTo>
                  <a:lnTo>
                    <a:pt x="12984480" y="0"/>
                  </a:lnTo>
                  <a:cubicBezTo>
                    <a:pt x="13085445" y="0"/>
                    <a:pt x="13167361" y="81915"/>
                    <a:pt x="13167361" y="182880"/>
                  </a:cubicBezTo>
                  <a:lnTo>
                    <a:pt x="13167361" y="2926080"/>
                  </a:lnTo>
                  <a:cubicBezTo>
                    <a:pt x="13167361" y="3027045"/>
                    <a:pt x="13085445" y="3108960"/>
                    <a:pt x="12984480" y="3108960"/>
                  </a:cubicBezTo>
                  <a:lnTo>
                    <a:pt x="182880" y="3108960"/>
                  </a:lnTo>
                  <a:cubicBezTo>
                    <a:pt x="81915" y="3108960"/>
                    <a:pt x="0" y="3027045"/>
                    <a:pt x="0" y="2926080"/>
                  </a:cubicBezTo>
                  <a:close/>
                </a:path>
              </a:pathLst>
            </a:custGeom>
            <a:solidFill>
              <a:srgbClr val="0B5E6E"/>
            </a:solidFill>
          </p:spPr>
          <p:txBody>
            <a:bodyPr/>
            <a:p/>
          </p:txBody>
        </p:sp>
      </p:grpSp>
      <p:sp>
        <p:nvSpPr>
          <p:cNvPr name="TextBox 122" id="122"/>
          <p:cNvSpPr txBox="true"/>
          <p:nvPr/>
        </p:nvSpPr>
        <p:spPr>
          <a:xfrm rot="0">
            <a:off x="1234440" y="6823710"/>
            <a:ext cx="9052560" cy="720090"/>
          </a:xfrm>
          <a:prstGeom prst="rect">
            <a:avLst/>
          </a:prstGeom>
        </p:spPr>
        <p:txBody>
          <a:bodyPr anchor="t" rtlCol="false" tIns="0" lIns="0" bIns="0" rIns="0">
            <a:spAutoFit/>
          </a:bodyPr>
          <a:lstStyle/>
          <a:p>
            <a:pPr algn="l">
              <a:lnSpc>
                <a:spcPts val="2700"/>
              </a:lnSpc>
            </a:pPr>
            <a:r>
              <a:rPr lang="en-US" sz="2250" b="true">
                <a:solidFill>
                  <a:srgbClr val="FFD23B"/>
                </a:solidFill>
                <a:latin typeface="Calibri (MS) Bold"/>
                <a:ea typeface="Calibri (MS) Bold"/>
                <a:cs typeface="Calibri (MS) Bold"/>
                <a:sym typeface="Calibri (MS) Bold"/>
              </a:rPr>
              <a:t>Memenuhi ketiganya → dua variabel kebijakan</a:t>
            </a:r>
          </a:p>
        </p:txBody>
      </p:sp>
      <p:sp>
        <p:nvSpPr>
          <p:cNvPr name="TextBox 123" id="123"/>
          <p:cNvSpPr txBox="true"/>
          <p:nvPr/>
        </p:nvSpPr>
        <p:spPr>
          <a:xfrm rot="0">
            <a:off x="1234440" y="7469505"/>
            <a:ext cx="9052560" cy="1377315"/>
          </a:xfrm>
          <a:prstGeom prst="rect">
            <a:avLst/>
          </a:prstGeom>
        </p:spPr>
        <p:txBody>
          <a:bodyPr anchor="t" rtlCol="false" tIns="0" lIns="0" bIns="0" rIns="0">
            <a:spAutoFit/>
          </a:bodyPr>
          <a:lstStyle/>
          <a:p>
            <a:pPr algn="l">
              <a:lnSpc>
                <a:spcPts val="2790"/>
              </a:lnSpc>
            </a:pPr>
            <a:r>
              <a:rPr lang="en-US" sz="2325" b="true">
                <a:solidFill>
                  <a:srgbClr val="FFFFFF"/>
                </a:solidFill>
                <a:latin typeface="Calibri (MS) Bold"/>
                <a:ea typeface="Calibri (MS) Bold"/>
                <a:cs typeface="Calibri (MS) Bold"/>
                <a:sym typeface="Calibri (MS) Bold"/>
              </a:rPr>
              <a:t>Insentif Kebijakan (dasar: Perda 1/2012) · Kebijakan Konservasi Lahan (dasar: Perda 6/2021)</a:t>
            </a:r>
          </a:p>
        </p:txBody>
      </p:sp>
      <p:grpSp>
        <p:nvGrpSpPr>
          <p:cNvPr name="Group 124" id="124"/>
          <p:cNvGrpSpPr/>
          <p:nvPr/>
        </p:nvGrpSpPr>
        <p:grpSpPr>
          <a:xfrm rot="0">
            <a:off x="10972800" y="6789420"/>
            <a:ext cx="6487668" cy="2331720"/>
            <a:chOff x="0" y="0"/>
            <a:chExt cx="8650224" cy="3108960"/>
          </a:xfrm>
        </p:grpSpPr>
        <p:sp>
          <p:nvSpPr>
            <p:cNvPr name="Freeform 125" id="125"/>
            <p:cNvSpPr/>
            <p:nvPr/>
          </p:nvSpPr>
          <p:spPr>
            <a:xfrm flipH="false" flipV="false" rot="0">
              <a:off x="0" y="0"/>
              <a:ext cx="8650224" cy="3108960"/>
            </a:xfrm>
            <a:custGeom>
              <a:avLst/>
              <a:gdLst/>
              <a:ahLst/>
              <a:cxnLst/>
              <a:rect r="r" b="b" t="t" l="l"/>
              <a:pathLst>
                <a:path h="3108960" w="8650224">
                  <a:moveTo>
                    <a:pt x="0" y="182880"/>
                  </a:moveTo>
                  <a:cubicBezTo>
                    <a:pt x="0" y="81915"/>
                    <a:pt x="81915" y="0"/>
                    <a:pt x="182880" y="0"/>
                  </a:cubicBezTo>
                  <a:lnTo>
                    <a:pt x="8467344" y="0"/>
                  </a:lnTo>
                  <a:cubicBezTo>
                    <a:pt x="8568309" y="0"/>
                    <a:pt x="8650224" y="81915"/>
                    <a:pt x="8650224" y="182880"/>
                  </a:cubicBezTo>
                  <a:lnTo>
                    <a:pt x="8650224" y="2926080"/>
                  </a:lnTo>
                  <a:cubicBezTo>
                    <a:pt x="8650224" y="3027045"/>
                    <a:pt x="8568309" y="3108960"/>
                    <a:pt x="8467344" y="3108960"/>
                  </a:cubicBezTo>
                  <a:lnTo>
                    <a:pt x="182880" y="3108960"/>
                  </a:lnTo>
                  <a:cubicBezTo>
                    <a:pt x="81915" y="3108960"/>
                    <a:pt x="0" y="3027045"/>
                    <a:pt x="0" y="2926080"/>
                  </a:cubicBezTo>
                  <a:close/>
                </a:path>
              </a:pathLst>
            </a:custGeom>
            <a:solidFill>
              <a:srgbClr val="FFF1BF"/>
            </a:solidFill>
          </p:spPr>
          <p:txBody>
            <a:bodyPr/>
            <a:p/>
          </p:txBody>
        </p:sp>
      </p:grpSp>
      <p:sp>
        <p:nvSpPr>
          <p:cNvPr name="TextBox 126" id="126"/>
          <p:cNvSpPr txBox="true"/>
          <p:nvPr/>
        </p:nvSpPr>
        <p:spPr>
          <a:xfrm rot="0">
            <a:off x="11315700" y="6824853"/>
            <a:ext cx="5897880" cy="554355"/>
          </a:xfrm>
          <a:prstGeom prst="rect">
            <a:avLst/>
          </a:prstGeom>
        </p:spPr>
        <p:txBody>
          <a:bodyPr anchor="t" rtlCol="false" tIns="0" lIns="0" bIns="0" rIns="0">
            <a:spAutoFit/>
          </a:bodyPr>
          <a:lstStyle/>
          <a:p>
            <a:pPr algn="l">
              <a:lnSpc>
                <a:spcPts val="2340"/>
              </a:lnSpc>
            </a:pPr>
            <a:r>
              <a:rPr lang="en-US" sz="1950" b="true">
                <a:solidFill>
                  <a:srgbClr val="5E6E78"/>
                </a:solidFill>
                <a:latin typeface="Calibri (MS) Bold"/>
                <a:ea typeface="Calibri (MS) Bold"/>
                <a:cs typeface="Calibri (MS) Bold"/>
                <a:sym typeface="Calibri (MS) Bold"/>
              </a:rPr>
              <a:t>Tidak dijadikan variabel kebijakan</a:t>
            </a:r>
          </a:p>
        </p:txBody>
      </p:sp>
      <p:sp>
        <p:nvSpPr>
          <p:cNvPr name="TextBox 127" id="127"/>
          <p:cNvSpPr txBox="true"/>
          <p:nvPr/>
        </p:nvSpPr>
        <p:spPr>
          <a:xfrm rot="0">
            <a:off x="11315700" y="7292340"/>
            <a:ext cx="5897880" cy="17602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Parameter yang berpengaruh tetapi tidak bisa dikendalikan pemerintah (perilaku wisatawan, bobot indeks) diuji sebagai ketidakpastian. Pembangunan ODTW oleh pemerintah: data sumber pembiayaannya tidak tersedia.</a:t>
            </a:r>
          </a:p>
        </p:txBody>
      </p:sp>
      <p:sp>
        <p:nvSpPr>
          <p:cNvPr name="TextBox 128" id="128"/>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56</a:t>
            </a:r>
          </a:p>
        </p:txBody>
      </p:sp>
      <p:grpSp>
        <p:nvGrpSpPr>
          <p:cNvPr name="Group 129" id="129"/>
          <p:cNvGrpSpPr/>
          <p:nvPr/>
        </p:nvGrpSpPr>
        <p:grpSpPr>
          <a:xfrm rot="0">
            <a:off x="12755880" y="274320"/>
            <a:ext cx="3931920" cy="411480"/>
            <a:chOff x="0" y="0"/>
            <a:chExt cx="5242560" cy="548640"/>
          </a:xfrm>
        </p:grpSpPr>
        <p:sp>
          <p:nvSpPr>
            <p:cNvPr name="Freeform 130" id="130"/>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31" id="131"/>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2G · Skenario kebijakan</a:t>
              </a:r>
            </a:p>
          </p:txBody>
        </p:sp>
      </p:grpSp>
      <p:grpSp>
        <p:nvGrpSpPr>
          <p:cNvPr name="Group 132" id="132"/>
          <p:cNvGrpSpPr/>
          <p:nvPr/>
        </p:nvGrpSpPr>
        <p:grpSpPr>
          <a:xfrm rot="0">
            <a:off x="16047720" y="9646920"/>
            <a:ext cx="420624" cy="420624"/>
            <a:chOff x="0" y="0"/>
            <a:chExt cx="560832" cy="560832"/>
          </a:xfrm>
        </p:grpSpPr>
        <p:sp>
          <p:nvSpPr>
            <p:cNvPr name="Freeform 133" id="133"/>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34" id="134"/>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Rancangan Skenario dan Indikator Kinerja</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Tiga skenario dari kombinasi dua variabel kebijakan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6" id="66"/>
          <p:cNvGrpSpPr/>
          <p:nvPr/>
        </p:nvGrpSpPr>
        <p:grpSpPr>
          <a:xfrm rot="0">
            <a:off x="822960" y="2331720"/>
            <a:ext cx="16637508" cy="1028700"/>
            <a:chOff x="0" y="0"/>
            <a:chExt cx="22183344" cy="1371600"/>
          </a:xfrm>
        </p:grpSpPr>
        <p:sp>
          <p:nvSpPr>
            <p:cNvPr name="Freeform 67" id="67"/>
            <p:cNvSpPr/>
            <p:nvPr/>
          </p:nvSpPr>
          <p:spPr>
            <a:xfrm flipH="false" flipV="false" rot="0">
              <a:off x="0" y="0"/>
              <a:ext cx="22183344" cy="1371600"/>
            </a:xfrm>
            <a:custGeom>
              <a:avLst/>
              <a:gdLst/>
              <a:ahLst/>
              <a:cxnLst/>
              <a:rect r="r" b="b" t="t" l="l"/>
              <a:pathLst>
                <a:path h="1371600" w="22183344">
                  <a:moveTo>
                    <a:pt x="0" y="182880"/>
                  </a:moveTo>
                  <a:cubicBezTo>
                    <a:pt x="0" y="81915"/>
                    <a:pt x="81915" y="0"/>
                    <a:pt x="182880" y="0"/>
                  </a:cubicBezTo>
                  <a:lnTo>
                    <a:pt x="22000463" y="0"/>
                  </a:lnTo>
                  <a:cubicBezTo>
                    <a:pt x="22101428" y="0"/>
                    <a:pt x="22183344" y="81915"/>
                    <a:pt x="22183344" y="182880"/>
                  </a:cubicBezTo>
                  <a:lnTo>
                    <a:pt x="22183344" y="1188720"/>
                  </a:lnTo>
                  <a:cubicBezTo>
                    <a:pt x="22183344" y="1289685"/>
                    <a:pt x="22101428" y="1371600"/>
                    <a:pt x="22000463" y="1371600"/>
                  </a:cubicBezTo>
                  <a:lnTo>
                    <a:pt x="182880" y="1371600"/>
                  </a:lnTo>
                  <a:cubicBezTo>
                    <a:pt x="81915" y="1371600"/>
                    <a:pt x="0" y="1289685"/>
                    <a:pt x="0" y="1188720"/>
                  </a:cubicBezTo>
                  <a:close/>
                </a:path>
              </a:pathLst>
            </a:custGeom>
            <a:solidFill>
              <a:srgbClr val="FFF1BF"/>
            </a:solidFill>
          </p:spPr>
          <p:txBody>
            <a:bodyPr/>
            <a:p/>
          </p:txBody>
        </p:sp>
      </p:grpSp>
      <p:grpSp>
        <p:nvGrpSpPr>
          <p:cNvPr name="Group 68" id="68"/>
          <p:cNvGrpSpPr/>
          <p:nvPr/>
        </p:nvGrpSpPr>
        <p:grpSpPr>
          <a:xfrm rot="0">
            <a:off x="1234440" y="2331720"/>
            <a:ext cx="15814548" cy="1028700"/>
            <a:chOff x="0" y="0"/>
            <a:chExt cx="21086064" cy="1371600"/>
          </a:xfrm>
        </p:grpSpPr>
        <p:sp>
          <p:nvSpPr>
            <p:cNvPr name="Freeform 69" id="69"/>
            <p:cNvSpPr/>
            <p:nvPr/>
          </p:nvSpPr>
          <p:spPr>
            <a:xfrm flipH="false" flipV="false" rot="0">
              <a:off x="0" y="0"/>
              <a:ext cx="21086063" cy="1371600"/>
            </a:xfrm>
            <a:custGeom>
              <a:avLst/>
              <a:gdLst/>
              <a:ahLst/>
              <a:cxnLst/>
              <a:rect r="r" b="b" t="t" l="l"/>
              <a:pathLst>
                <a:path h="1371600" w="21086063">
                  <a:moveTo>
                    <a:pt x="0" y="0"/>
                  </a:moveTo>
                  <a:lnTo>
                    <a:pt x="21086063" y="0"/>
                  </a:lnTo>
                  <a:lnTo>
                    <a:pt x="21086063" y="1371600"/>
                  </a:lnTo>
                  <a:lnTo>
                    <a:pt x="0" y="1371600"/>
                  </a:lnTo>
                  <a:close/>
                </a:path>
              </a:pathLst>
            </a:custGeom>
            <a:blipFill>
              <a:blip r:embed="rId4">
                <a:alphaModFix amt="0"/>
              </a:blip>
              <a:stretch>
                <a:fillRect l="0" t="-249341" r="0" b="-249341"/>
              </a:stretch>
            </a:blipFill>
          </p:spPr>
          <p:txBody>
            <a:bodyPr/>
            <a:p/>
          </p:txBody>
        </p:sp>
      </p:grpSp>
      <p:grpSp>
        <p:nvGrpSpPr>
          <p:cNvPr name="Group 70" id="70"/>
          <p:cNvGrpSpPr/>
          <p:nvPr/>
        </p:nvGrpSpPr>
        <p:grpSpPr>
          <a:xfrm rot="0">
            <a:off x="1234440" y="2296001"/>
            <a:ext cx="15814548" cy="1064419"/>
            <a:chOff x="0" y="0"/>
            <a:chExt cx="21086064" cy="1419225"/>
          </a:xfrm>
        </p:grpSpPr>
        <p:sp>
          <p:nvSpPr>
            <p:cNvPr name="Freeform 71" id="71"/>
            <p:cNvSpPr/>
            <p:nvPr/>
          </p:nvSpPr>
          <p:spPr>
            <a:xfrm flipH="false" flipV="false" rot="0">
              <a:off x="0" y="0"/>
              <a:ext cx="21086063" cy="1419225"/>
            </a:xfrm>
            <a:custGeom>
              <a:avLst/>
              <a:gdLst/>
              <a:ahLst/>
              <a:cxnLst/>
              <a:rect r="r" b="b" t="t" l="l"/>
              <a:pathLst>
                <a:path h="1419225" w="21086063">
                  <a:moveTo>
                    <a:pt x="0" y="0"/>
                  </a:moveTo>
                  <a:lnTo>
                    <a:pt x="21086063" y="0"/>
                  </a:lnTo>
                  <a:lnTo>
                    <a:pt x="21086063" y="1419225"/>
                  </a:lnTo>
                  <a:lnTo>
                    <a:pt x="0" y="1419225"/>
                  </a:lnTo>
                  <a:close/>
                </a:path>
              </a:pathLst>
            </a:custGeom>
            <a:blipFill>
              <a:blip r:embed="rId5">
                <a:alphaModFix amt="0"/>
              </a:blip>
              <a:stretch>
                <a:fillRect l="0" t="-239296" r="0" b="-239296"/>
              </a:stretch>
            </a:blipFill>
          </p:spPr>
          <p:txBody>
            <a:bodyPr/>
            <a:p/>
          </p:txBody>
        </p:sp>
      </p:grpSp>
      <p:grpSp>
        <p:nvGrpSpPr>
          <p:cNvPr name="Group 72" id="72"/>
          <p:cNvGrpSpPr/>
          <p:nvPr/>
        </p:nvGrpSpPr>
        <p:grpSpPr>
          <a:xfrm rot="0">
            <a:off x="1234440" y="2260283"/>
            <a:ext cx="15814548" cy="1100138"/>
            <a:chOff x="0" y="0"/>
            <a:chExt cx="21086064" cy="1466850"/>
          </a:xfrm>
        </p:grpSpPr>
        <p:sp>
          <p:nvSpPr>
            <p:cNvPr name="Freeform 73" id="73"/>
            <p:cNvSpPr/>
            <p:nvPr/>
          </p:nvSpPr>
          <p:spPr>
            <a:xfrm flipH="false" flipV="false" rot="0">
              <a:off x="0" y="0"/>
              <a:ext cx="21086065" cy="1466850"/>
            </a:xfrm>
            <a:custGeom>
              <a:avLst/>
              <a:gdLst/>
              <a:ahLst/>
              <a:cxnLst/>
              <a:rect r="r" b="b" t="t" l="l"/>
              <a:pathLst>
                <a:path h="1466850" w="21086065">
                  <a:moveTo>
                    <a:pt x="0" y="0"/>
                  </a:moveTo>
                  <a:lnTo>
                    <a:pt x="21086065" y="0"/>
                  </a:lnTo>
                  <a:lnTo>
                    <a:pt x="21086065" y="1466850"/>
                  </a:lnTo>
                  <a:lnTo>
                    <a:pt x="0" y="1466850"/>
                  </a:lnTo>
                  <a:close/>
                </a:path>
              </a:pathLst>
            </a:custGeom>
            <a:blipFill>
              <a:blip r:embed="rId6">
                <a:alphaModFix amt="0"/>
              </a:blip>
              <a:stretch>
                <a:fillRect l="0" t="-230098" r="0" b="-230098"/>
              </a:stretch>
            </a:blipFill>
          </p:spPr>
          <p:txBody>
            <a:bodyPr/>
            <a:p/>
          </p:txBody>
        </p:sp>
        <p:sp>
          <p:nvSpPr>
            <p:cNvPr name="TextBox 74" id="74"/>
            <p:cNvSpPr txBox="true"/>
            <p:nvPr/>
          </p:nvSpPr>
          <p:spPr>
            <a:xfrm>
              <a:off x="0" y="-47625"/>
              <a:ext cx="21086064" cy="1514475"/>
            </a:xfrm>
            <a:prstGeom prst="rect">
              <a:avLst/>
            </a:prstGeom>
          </p:spPr>
          <p:txBody>
            <a:bodyPr anchor="ctr" rtlCol="false" tIns="0" lIns="0" bIns="0" rIns="0"/>
            <a:lstStyle/>
            <a:p>
              <a:pPr algn="l">
                <a:lnSpc>
                  <a:spcPts val="2340"/>
                </a:lnSpc>
              </a:pPr>
              <a:r>
                <a:rPr lang="en-US" sz="1950">
                  <a:solidFill>
                    <a:srgbClr val="14313B"/>
                  </a:solidFill>
                  <a:latin typeface="Calibri (MS)"/>
                  <a:ea typeface="Calibri (MS)"/>
                  <a:cs typeface="Calibri (MS)"/>
                  <a:sym typeface="Calibri (MS)"/>
                </a:rPr>
                <a:t>Dua dokumen kebijakan yang bertegangan:  Perda DIY 1/2012 (indikasi pembukaan lahan baru bagi investor)  ↔  Perda DIY 6/2021 (larangan alih fungsi lahan pangan)</a:t>
              </a:r>
            </a:p>
          </p:txBody>
        </p:sp>
      </p:grpSp>
      <p:grpSp>
        <p:nvGrpSpPr>
          <p:cNvPr name="Group 75" id="75"/>
          <p:cNvGrpSpPr/>
          <p:nvPr/>
        </p:nvGrpSpPr>
        <p:grpSpPr>
          <a:xfrm rot="0">
            <a:off x="822960" y="3634740"/>
            <a:ext cx="5349240" cy="4594860"/>
            <a:chOff x="0" y="0"/>
            <a:chExt cx="7132320" cy="6126480"/>
          </a:xfrm>
        </p:grpSpPr>
        <p:sp>
          <p:nvSpPr>
            <p:cNvPr name="Freeform 76" id="76"/>
            <p:cNvSpPr/>
            <p:nvPr/>
          </p:nvSpPr>
          <p:spPr>
            <a:xfrm flipH="false" flipV="false" rot="0">
              <a:off x="0" y="0"/>
              <a:ext cx="7132320" cy="6126480"/>
            </a:xfrm>
            <a:custGeom>
              <a:avLst/>
              <a:gdLst/>
              <a:ahLst/>
              <a:cxnLst/>
              <a:rect r="r" b="b" t="t" l="l"/>
              <a:pathLst>
                <a:path h="6126480" w="7132320">
                  <a:moveTo>
                    <a:pt x="0" y="182880"/>
                  </a:moveTo>
                  <a:cubicBezTo>
                    <a:pt x="0" y="81915"/>
                    <a:pt x="81915" y="0"/>
                    <a:pt x="182880" y="0"/>
                  </a:cubicBezTo>
                  <a:lnTo>
                    <a:pt x="6949440" y="0"/>
                  </a:lnTo>
                  <a:cubicBezTo>
                    <a:pt x="7050405" y="0"/>
                    <a:pt x="7132320" y="81915"/>
                    <a:pt x="7132320" y="182880"/>
                  </a:cubicBezTo>
                  <a:lnTo>
                    <a:pt x="7132320" y="5943600"/>
                  </a:lnTo>
                  <a:cubicBezTo>
                    <a:pt x="7132320" y="6044565"/>
                    <a:pt x="7050405" y="6126480"/>
                    <a:pt x="6949440" y="6126480"/>
                  </a:cubicBezTo>
                  <a:lnTo>
                    <a:pt x="182880" y="6126480"/>
                  </a:lnTo>
                  <a:cubicBezTo>
                    <a:pt x="81915" y="6126480"/>
                    <a:pt x="0" y="6044565"/>
                    <a:pt x="0" y="5943600"/>
                  </a:cubicBezTo>
                  <a:close/>
                </a:path>
              </a:pathLst>
            </a:custGeom>
            <a:solidFill>
              <a:srgbClr val="EAF8FA"/>
            </a:solidFill>
          </p:spPr>
          <p:txBody>
            <a:bodyPr/>
            <a:p/>
          </p:txBody>
        </p:sp>
      </p:grpSp>
      <p:grpSp>
        <p:nvGrpSpPr>
          <p:cNvPr name="Group 77" id="77"/>
          <p:cNvGrpSpPr/>
          <p:nvPr/>
        </p:nvGrpSpPr>
        <p:grpSpPr>
          <a:xfrm rot="0">
            <a:off x="822960" y="3634740"/>
            <a:ext cx="5349240" cy="822960"/>
            <a:chOff x="0" y="0"/>
            <a:chExt cx="7132320" cy="1097280"/>
          </a:xfrm>
        </p:grpSpPr>
        <p:sp>
          <p:nvSpPr>
            <p:cNvPr name="Freeform 78" id="78"/>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8A99A1"/>
            </a:solidFill>
          </p:spPr>
          <p:txBody>
            <a:bodyPr/>
            <a:p/>
          </p:txBody>
        </p:sp>
      </p:grpSp>
      <p:grpSp>
        <p:nvGrpSpPr>
          <p:cNvPr name="Group 79" id="79"/>
          <p:cNvGrpSpPr/>
          <p:nvPr/>
        </p:nvGrpSpPr>
        <p:grpSpPr>
          <a:xfrm rot="0">
            <a:off x="822960" y="3634740"/>
            <a:ext cx="5349240" cy="822960"/>
            <a:chOff x="0" y="0"/>
            <a:chExt cx="7132320" cy="1097280"/>
          </a:xfrm>
        </p:grpSpPr>
        <p:sp>
          <p:nvSpPr>
            <p:cNvPr name="Freeform 80" id="80"/>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txBody>
            <a:bodyPr/>
            <a:p/>
          </p:txBody>
        </p:sp>
      </p:grpSp>
      <p:grpSp>
        <p:nvGrpSpPr>
          <p:cNvPr name="Group 81" id="81"/>
          <p:cNvGrpSpPr/>
          <p:nvPr/>
        </p:nvGrpSpPr>
        <p:grpSpPr>
          <a:xfrm rot="0">
            <a:off x="822960" y="3599021"/>
            <a:ext cx="5349240" cy="858679"/>
            <a:chOff x="0" y="0"/>
            <a:chExt cx="7132320" cy="1144905"/>
          </a:xfrm>
        </p:grpSpPr>
        <p:sp>
          <p:nvSpPr>
            <p:cNvPr name="Freeform 82" id="82"/>
            <p:cNvSpPr/>
            <p:nvPr/>
          </p:nvSpPr>
          <p:spPr>
            <a:xfrm flipH="false" flipV="false" rot="0">
              <a:off x="0" y="0"/>
              <a:ext cx="7132320" cy="1144905"/>
            </a:xfrm>
            <a:custGeom>
              <a:avLst/>
              <a:gdLst/>
              <a:ahLst/>
              <a:cxnLst/>
              <a:rect r="r" b="b" t="t" l="l"/>
              <a:pathLst>
                <a:path h="1144905" w="7132320">
                  <a:moveTo>
                    <a:pt x="0" y="0"/>
                  </a:moveTo>
                  <a:lnTo>
                    <a:pt x="7132320" y="0"/>
                  </a:lnTo>
                  <a:lnTo>
                    <a:pt x="7132320" y="1144905"/>
                  </a:lnTo>
                  <a:lnTo>
                    <a:pt x="0" y="1144905"/>
                  </a:lnTo>
                  <a:close/>
                </a:path>
              </a:pathLst>
            </a:custGeom>
            <a:blipFill>
              <a:blip r:embed="rId5">
                <a:alphaModFix amt="0"/>
              </a:blip>
              <a:stretch>
                <a:fillRect l="0" t="-71300" r="0" b="-71300"/>
              </a:stretch>
            </a:blipFill>
          </p:spPr>
          <p:txBody>
            <a:bodyPr/>
            <a:p/>
          </p:txBody>
        </p:sp>
      </p:grpSp>
      <p:grpSp>
        <p:nvGrpSpPr>
          <p:cNvPr name="Group 83" id="83"/>
          <p:cNvGrpSpPr/>
          <p:nvPr/>
        </p:nvGrpSpPr>
        <p:grpSpPr>
          <a:xfrm rot="0">
            <a:off x="822960" y="3563303"/>
            <a:ext cx="5349240" cy="894398"/>
            <a:chOff x="0" y="0"/>
            <a:chExt cx="7132320" cy="1192530"/>
          </a:xfrm>
        </p:grpSpPr>
        <p:sp>
          <p:nvSpPr>
            <p:cNvPr name="Freeform 84" id="84"/>
            <p:cNvSpPr/>
            <p:nvPr/>
          </p:nvSpPr>
          <p:spPr>
            <a:xfrm flipH="false" flipV="false" rot="0">
              <a:off x="0" y="0"/>
              <a:ext cx="7132320" cy="1192530"/>
            </a:xfrm>
            <a:custGeom>
              <a:avLst/>
              <a:gdLst/>
              <a:ahLst/>
              <a:cxnLst/>
              <a:rect r="r" b="b" t="t" l="l"/>
              <a:pathLst>
                <a:path h="1192530" w="7132320">
                  <a:moveTo>
                    <a:pt x="0" y="0"/>
                  </a:moveTo>
                  <a:lnTo>
                    <a:pt x="7132320" y="0"/>
                  </a:lnTo>
                  <a:lnTo>
                    <a:pt x="7132320" y="1192530"/>
                  </a:lnTo>
                  <a:lnTo>
                    <a:pt x="0" y="1192530"/>
                  </a:lnTo>
                  <a:close/>
                </a:path>
              </a:pathLst>
            </a:custGeom>
            <a:blipFill>
              <a:blip r:embed="rId6">
                <a:alphaModFix amt="0"/>
              </a:blip>
              <a:stretch>
                <a:fillRect l="0" t="-66536" r="0" b="-66536"/>
              </a:stretch>
            </a:blipFill>
          </p:spPr>
          <p:txBody>
            <a:bodyPr/>
            <a:p/>
          </p:txBody>
        </p:sp>
        <p:sp>
          <p:nvSpPr>
            <p:cNvPr name="TextBox 85" id="85"/>
            <p:cNvSpPr txBox="true"/>
            <p:nvPr/>
          </p:nvSpPr>
          <p:spPr>
            <a:xfrm>
              <a:off x="0" y="-47625"/>
              <a:ext cx="7132320" cy="1240155"/>
            </a:xfrm>
            <a:prstGeom prst="rect">
              <a:avLst/>
            </a:prstGeom>
          </p:spPr>
          <p:txBody>
            <a:bodyPr anchor="ctr" rtlCol="false" tIns="0" lIns="0" bIns="0" rIns="0"/>
            <a:lstStyle/>
            <a:p>
              <a:pPr algn="ctr">
                <a:lnSpc>
                  <a:spcPts val="3060"/>
                </a:lnSpc>
              </a:pPr>
              <a:r>
                <a:rPr lang="en-US" sz="2550" b="true">
                  <a:solidFill>
                    <a:srgbClr val="FFFFFF"/>
                  </a:solidFill>
                  <a:latin typeface="Calibri (MS) Bold"/>
                  <a:ea typeface="Calibri (MS) Bold"/>
                  <a:cs typeface="Calibri (MS) Bold"/>
                  <a:sym typeface="Calibri (MS) Bold"/>
                </a:rPr>
                <a:t>Business-as-Usual</a:t>
              </a:r>
            </a:p>
          </p:txBody>
        </p:sp>
      </p:grpSp>
      <p:grpSp>
        <p:nvGrpSpPr>
          <p:cNvPr name="Group 86" id="86"/>
          <p:cNvGrpSpPr/>
          <p:nvPr/>
        </p:nvGrpSpPr>
        <p:grpSpPr>
          <a:xfrm rot="0">
            <a:off x="1097280" y="4663440"/>
            <a:ext cx="2331720" cy="822960"/>
            <a:chOff x="0" y="0"/>
            <a:chExt cx="3108960" cy="1097280"/>
          </a:xfrm>
        </p:grpSpPr>
        <p:sp>
          <p:nvSpPr>
            <p:cNvPr name="Freeform 87" id="87"/>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txBody>
            <a:bodyPr/>
            <a:p/>
          </p:txBody>
        </p:sp>
      </p:grpSp>
      <p:grpSp>
        <p:nvGrpSpPr>
          <p:cNvPr name="Group 88" id="88"/>
          <p:cNvGrpSpPr/>
          <p:nvPr/>
        </p:nvGrpSpPr>
        <p:grpSpPr>
          <a:xfrm rot="0">
            <a:off x="1097280" y="4592003"/>
            <a:ext cx="2331720" cy="894398"/>
            <a:chOff x="0" y="0"/>
            <a:chExt cx="3108960" cy="1192530"/>
          </a:xfrm>
        </p:grpSpPr>
        <p:sp>
          <p:nvSpPr>
            <p:cNvPr name="Freeform 89" id="89"/>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62" r="0" b="-762"/>
              </a:stretch>
            </a:blipFill>
          </p:spPr>
          <p:txBody>
            <a:bodyPr/>
            <a:p/>
          </p:txBody>
        </p:sp>
      </p:grpSp>
      <p:grpSp>
        <p:nvGrpSpPr>
          <p:cNvPr name="Group 90" id="90"/>
          <p:cNvGrpSpPr/>
          <p:nvPr/>
        </p:nvGrpSpPr>
        <p:grpSpPr>
          <a:xfrm rot="0">
            <a:off x="1097280" y="4520565"/>
            <a:ext cx="2331720" cy="965835"/>
            <a:chOff x="0" y="0"/>
            <a:chExt cx="3108960" cy="1287780"/>
          </a:xfrm>
        </p:grpSpPr>
        <p:sp>
          <p:nvSpPr>
            <p:cNvPr name="Freeform 91" id="91"/>
            <p:cNvSpPr/>
            <p:nvPr/>
          </p:nvSpPr>
          <p:spPr>
            <a:xfrm flipH="false" flipV="false" rot="0">
              <a:off x="0" y="0"/>
              <a:ext cx="3108960" cy="1287781"/>
            </a:xfrm>
            <a:custGeom>
              <a:avLst/>
              <a:gdLst/>
              <a:ahLst/>
              <a:cxnLst/>
              <a:rect r="r" b="b" t="t" l="l"/>
              <a:pathLst>
                <a:path h="1287781" w="3108960">
                  <a:moveTo>
                    <a:pt x="0" y="0"/>
                  </a:moveTo>
                  <a:lnTo>
                    <a:pt x="3108960" y="0"/>
                  </a:lnTo>
                  <a:lnTo>
                    <a:pt x="3108960" y="1287781"/>
                  </a:lnTo>
                  <a:lnTo>
                    <a:pt x="0" y="1287781"/>
                  </a:lnTo>
                  <a:close/>
                </a:path>
              </a:pathLst>
            </a:custGeom>
            <a:blipFill>
              <a:blip r:embed="rId6">
                <a:alphaModFix amt="0"/>
              </a:blip>
              <a:stretch>
                <a:fillRect l="-3145" t="0" r="-3145" b="0"/>
              </a:stretch>
            </a:blipFill>
          </p:spPr>
          <p:txBody>
            <a:bodyPr/>
            <a:p/>
          </p:txBody>
        </p:sp>
        <p:sp>
          <p:nvSpPr>
            <p:cNvPr name="TextBox 92" id="92"/>
            <p:cNvSpPr txBox="true"/>
            <p:nvPr/>
          </p:nvSpPr>
          <p:spPr>
            <a:xfrm>
              <a:off x="0" y="-95250"/>
              <a:ext cx="3108960" cy="138303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a:t>
              </a:r>
            </a:p>
          </p:txBody>
        </p:sp>
      </p:grpSp>
      <p:sp>
        <p:nvSpPr>
          <p:cNvPr name="TextBox 93" id="93"/>
          <p:cNvSpPr txBox="true"/>
          <p:nvPr/>
        </p:nvSpPr>
        <p:spPr>
          <a:xfrm rot="0">
            <a:off x="1097280" y="5400675"/>
            <a:ext cx="2331720" cy="497205"/>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Insentif Kebijakan</a:t>
            </a:r>
          </a:p>
        </p:txBody>
      </p:sp>
      <p:grpSp>
        <p:nvGrpSpPr>
          <p:cNvPr name="Group 94" id="94"/>
          <p:cNvGrpSpPr/>
          <p:nvPr/>
        </p:nvGrpSpPr>
        <p:grpSpPr>
          <a:xfrm rot="0">
            <a:off x="3566160" y="4663440"/>
            <a:ext cx="2331720" cy="822960"/>
            <a:chOff x="0" y="0"/>
            <a:chExt cx="3108960" cy="1097280"/>
          </a:xfrm>
        </p:grpSpPr>
        <p:sp>
          <p:nvSpPr>
            <p:cNvPr name="Freeform 95" id="95"/>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txBody>
            <a:bodyPr/>
            <a:p/>
          </p:txBody>
        </p:sp>
      </p:grpSp>
      <p:grpSp>
        <p:nvGrpSpPr>
          <p:cNvPr name="Group 96" id="96"/>
          <p:cNvGrpSpPr/>
          <p:nvPr/>
        </p:nvGrpSpPr>
        <p:grpSpPr>
          <a:xfrm rot="0">
            <a:off x="3566160" y="4592003"/>
            <a:ext cx="2331720" cy="894398"/>
            <a:chOff x="0" y="0"/>
            <a:chExt cx="3108960" cy="1192530"/>
          </a:xfrm>
        </p:grpSpPr>
        <p:sp>
          <p:nvSpPr>
            <p:cNvPr name="Freeform 97" id="97"/>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62" r="0" b="-762"/>
              </a:stretch>
            </a:blipFill>
          </p:spPr>
          <p:txBody>
            <a:bodyPr/>
            <a:p/>
          </p:txBody>
        </p:sp>
      </p:grpSp>
      <p:grpSp>
        <p:nvGrpSpPr>
          <p:cNvPr name="Group 98" id="98"/>
          <p:cNvGrpSpPr/>
          <p:nvPr/>
        </p:nvGrpSpPr>
        <p:grpSpPr>
          <a:xfrm rot="0">
            <a:off x="3566160" y="4520565"/>
            <a:ext cx="2331720" cy="965835"/>
            <a:chOff x="0" y="0"/>
            <a:chExt cx="3108960" cy="1287780"/>
          </a:xfrm>
        </p:grpSpPr>
        <p:sp>
          <p:nvSpPr>
            <p:cNvPr name="Freeform 99" id="99"/>
            <p:cNvSpPr/>
            <p:nvPr/>
          </p:nvSpPr>
          <p:spPr>
            <a:xfrm flipH="false" flipV="false" rot="0">
              <a:off x="0" y="0"/>
              <a:ext cx="3108960" cy="1287781"/>
            </a:xfrm>
            <a:custGeom>
              <a:avLst/>
              <a:gdLst/>
              <a:ahLst/>
              <a:cxnLst/>
              <a:rect r="r" b="b" t="t" l="l"/>
              <a:pathLst>
                <a:path h="1287781" w="3108960">
                  <a:moveTo>
                    <a:pt x="0" y="0"/>
                  </a:moveTo>
                  <a:lnTo>
                    <a:pt x="3108960" y="0"/>
                  </a:lnTo>
                  <a:lnTo>
                    <a:pt x="3108960" y="1287781"/>
                  </a:lnTo>
                  <a:lnTo>
                    <a:pt x="0" y="1287781"/>
                  </a:lnTo>
                  <a:close/>
                </a:path>
              </a:pathLst>
            </a:custGeom>
            <a:blipFill>
              <a:blip r:embed="rId6">
                <a:alphaModFix amt="0"/>
              </a:blip>
              <a:stretch>
                <a:fillRect l="-3145" t="0" r="-3145" b="0"/>
              </a:stretch>
            </a:blipFill>
          </p:spPr>
          <p:txBody>
            <a:bodyPr/>
            <a:p/>
          </p:txBody>
        </p:sp>
        <p:sp>
          <p:nvSpPr>
            <p:cNvPr name="TextBox 100" id="100"/>
            <p:cNvSpPr txBox="true"/>
            <p:nvPr/>
          </p:nvSpPr>
          <p:spPr>
            <a:xfrm>
              <a:off x="0" y="-95250"/>
              <a:ext cx="3108960" cy="138303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a:t>
              </a:r>
            </a:p>
          </p:txBody>
        </p:sp>
      </p:grpSp>
      <p:sp>
        <p:nvSpPr>
          <p:cNvPr name="TextBox 101" id="101"/>
          <p:cNvSpPr txBox="true"/>
          <p:nvPr/>
        </p:nvSpPr>
        <p:spPr>
          <a:xfrm rot="0">
            <a:off x="3566160" y="5400675"/>
            <a:ext cx="2331720" cy="497205"/>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Konservasi Lahan</a:t>
            </a:r>
          </a:p>
        </p:txBody>
      </p:sp>
      <p:sp>
        <p:nvSpPr>
          <p:cNvPr name="TextBox 102" id="102"/>
          <p:cNvSpPr txBox="true"/>
          <p:nvPr/>
        </p:nvSpPr>
        <p:spPr>
          <a:xfrm rot="0">
            <a:off x="1165860" y="6057900"/>
            <a:ext cx="4663440" cy="20345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Tanpa insentif investasi tambahan; kebutuhan lahan fasilitas pariwisata dipenuhi lewat konversi seperti pola historis.</a:t>
            </a:r>
          </a:p>
        </p:txBody>
      </p:sp>
      <p:grpSp>
        <p:nvGrpSpPr>
          <p:cNvPr name="Group 103" id="103"/>
          <p:cNvGrpSpPr/>
          <p:nvPr/>
        </p:nvGrpSpPr>
        <p:grpSpPr>
          <a:xfrm rot="0">
            <a:off x="6467094" y="3634740"/>
            <a:ext cx="5349240" cy="4594860"/>
            <a:chOff x="0" y="0"/>
            <a:chExt cx="7132320" cy="6126480"/>
          </a:xfrm>
        </p:grpSpPr>
        <p:sp>
          <p:nvSpPr>
            <p:cNvPr name="Freeform 104" id="104"/>
            <p:cNvSpPr/>
            <p:nvPr/>
          </p:nvSpPr>
          <p:spPr>
            <a:xfrm flipH="false" flipV="false" rot="0">
              <a:off x="0" y="0"/>
              <a:ext cx="7132320" cy="6126480"/>
            </a:xfrm>
            <a:custGeom>
              <a:avLst/>
              <a:gdLst/>
              <a:ahLst/>
              <a:cxnLst/>
              <a:rect r="r" b="b" t="t" l="l"/>
              <a:pathLst>
                <a:path h="6126480" w="7132320">
                  <a:moveTo>
                    <a:pt x="0" y="182880"/>
                  </a:moveTo>
                  <a:cubicBezTo>
                    <a:pt x="0" y="81915"/>
                    <a:pt x="81915" y="0"/>
                    <a:pt x="182880" y="0"/>
                  </a:cubicBezTo>
                  <a:lnTo>
                    <a:pt x="6949440" y="0"/>
                  </a:lnTo>
                  <a:cubicBezTo>
                    <a:pt x="7050405" y="0"/>
                    <a:pt x="7132320" y="81915"/>
                    <a:pt x="7132320" y="182880"/>
                  </a:cubicBezTo>
                  <a:lnTo>
                    <a:pt x="7132320" y="5943600"/>
                  </a:lnTo>
                  <a:cubicBezTo>
                    <a:pt x="7132320" y="6044565"/>
                    <a:pt x="7050405" y="6126480"/>
                    <a:pt x="6949440" y="6126480"/>
                  </a:cubicBezTo>
                  <a:lnTo>
                    <a:pt x="182880" y="6126480"/>
                  </a:lnTo>
                  <a:cubicBezTo>
                    <a:pt x="81915" y="6126480"/>
                    <a:pt x="0" y="6044565"/>
                    <a:pt x="0" y="5943600"/>
                  </a:cubicBezTo>
                  <a:close/>
                </a:path>
              </a:pathLst>
            </a:custGeom>
            <a:solidFill>
              <a:srgbClr val="EAF8FA"/>
            </a:solidFill>
          </p:spPr>
          <p:txBody>
            <a:bodyPr/>
            <a:p/>
          </p:txBody>
        </p:sp>
      </p:grpSp>
      <p:grpSp>
        <p:nvGrpSpPr>
          <p:cNvPr name="Group 105" id="105"/>
          <p:cNvGrpSpPr/>
          <p:nvPr/>
        </p:nvGrpSpPr>
        <p:grpSpPr>
          <a:xfrm rot="0">
            <a:off x="6467094" y="3634740"/>
            <a:ext cx="5349240" cy="822960"/>
            <a:chOff x="0" y="0"/>
            <a:chExt cx="7132320" cy="1097280"/>
          </a:xfrm>
        </p:grpSpPr>
        <p:sp>
          <p:nvSpPr>
            <p:cNvPr name="Freeform 106" id="106"/>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39C0D3"/>
            </a:solidFill>
          </p:spPr>
          <p:txBody>
            <a:bodyPr/>
            <a:p/>
          </p:txBody>
        </p:sp>
      </p:grpSp>
      <p:grpSp>
        <p:nvGrpSpPr>
          <p:cNvPr name="Group 107" id="107"/>
          <p:cNvGrpSpPr/>
          <p:nvPr/>
        </p:nvGrpSpPr>
        <p:grpSpPr>
          <a:xfrm rot="0">
            <a:off x="6467094" y="3634740"/>
            <a:ext cx="5349240" cy="822960"/>
            <a:chOff x="0" y="0"/>
            <a:chExt cx="7132320" cy="1097280"/>
          </a:xfrm>
        </p:grpSpPr>
        <p:sp>
          <p:nvSpPr>
            <p:cNvPr name="Freeform 108" id="108"/>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txBody>
            <a:bodyPr/>
            <a:p/>
          </p:txBody>
        </p:sp>
      </p:grpSp>
      <p:grpSp>
        <p:nvGrpSpPr>
          <p:cNvPr name="Group 109" id="109"/>
          <p:cNvGrpSpPr/>
          <p:nvPr/>
        </p:nvGrpSpPr>
        <p:grpSpPr>
          <a:xfrm rot="0">
            <a:off x="6467094" y="3599021"/>
            <a:ext cx="5349240" cy="858679"/>
            <a:chOff x="0" y="0"/>
            <a:chExt cx="7132320" cy="1144905"/>
          </a:xfrm>
        </p:grpSpPr>
        <p:sp>
          <p:nvSpPr>
            <p:cNvPr name="Freeform 110" id="110"/>
            <p:cNvSpPr/>
            <p:nvPr/>
          </p:nvSpPr>
          <p:spPr>
            <a:xfrm flipH="false" flipV="false" rot="0">
              <a:off x="0" y="0"/>
              <a:ext cx="7132320" cy="1144905"/>
            </a:xfrm>
            <a:custGeom>
              <a:avLst/>
              <a:gdLst/>
              <a:ahLst/>
              <a:cxnLst/>
              <a:rect r="r" b="b" t="t" l="l"/>
              <a:pathLst>
                <a:path h="1144905" w="7132320">
                  <a:moveTo>
                    <a:pt x="0" y="0"/>
                  </a:moveTo>
                  <a:lnTo>
                    <a:pt x="7132320" y="0"/>
                  </a:lnTo>
                  <a:lnTo>
                    <a:pt x="7132320" y="1144905"/>
                  </a:lnTo>
                  <a:lnTo>
                    <a:pt x="0" y="1144905"/>
                  </a:lnTo>
                  <a:close/>
                </a:path>
              </a:pathLst>
            </a:custGeom>
            <a:blipFill>
              <a:blip r:embed="rId5">
                <a:alphaModFix amt="0"/>
              </a:blip>
              <a:stretch>
                <a:fillRect l="0" t="-71300" r="0" b="-71300"/>
              </a:stretch>
            </a:blipFill>
          </p:spPr>
          <p:txBody>
            <a:bodyPr/>
            <a:p/>
          </p:txBody>
        </p:sp>
      </p:grpSp>
      <p:grpSp>
        <p:nvGrpSpPr>
          <p:cNvPr name="Group 111" id="111"/>
          <p:cNvGrpSpPr/>
          <p:nvPr/>
        </p:nvGrpSpPr>
        <p:grpSpPr>
          <a:xfrm rot="0">
            <a:off x="6467094" y="3563303"/>
            <a:ext cx="5349240" cy="894398"/>
            <a:chOff x="0" y="0"/>
            <a:chExt cx="7132320" cy="1192530"/>
          </a:xfrm>
        </p:grpSpPr>
        <p:sp>
          <p:nvSpPr>
            <p:cNvPr name="Freeform 112" id="112"/>
            <p:cNvSpPr/>
            <p:nvPr/>
          </p:nvSpPr>
          <p:spPr>
            <a:xfrm flipH="false" flipV="false" rot="0">
              <a:off x="0" y="0"/>
              <a:ext cx="7132320" cy="1192530"/>
            </a:xfrm>
            <a:custGeom>
              <a:avLst/>
              <a:gdLst/>
              <a:ahLst/>
              <a:cxnLst/>
              <a:rect r="r" b="b" t="t" l="l"/>
              <a:pathLst>
                <a:path h="1192530" w="7132320">
                  <a:moveTo>
                    <a:pt x="0" y="0"/>
                  </a:moveTo>
                  <a:lnTo>
                    <a:pt x="7132320" y="0"/>
                  </a:lnTo>
                  <a:lnTo>
                    <a:pt x="7132320" y="1192530"/>
                  </a:lnTo>
                  <a:lnTo>
                    <a:pt x="0" y="1192530"/>
                  </a:lnTo>
                  <a:close/>
                </a:path>
              </a:pathLst>
            </a:custGeom>
            <a:blipFill>
              <a:blip r:embed="rId6">
                <a:alphaModFix amt="0"/>
              </a:blip>
              <a:stretch>
                <a:fillRect l="0" t="-66536" r="0" b="-66536"/>
              </a:stretch>
            </a:blipFill>
          </p:spPr>
          <p:txBody>
            <a:bodyPr/>
            <a:p/>
          </p:txBody>
        </p:sp>
        <p:sp>
          <p:nvSpPr>
            <p:cNvPr name="TextBox 113" id="113"/>
            <p:cNvSpPr txBox="true"/>
            <p:nvPr/>
          </p:nvSpPr>
          <p:spPr>
            <a:xfrm>
              <a:off x="0" y="-47625"/>
              <a:ext cx="7132320" cy="1240155"/>
            </a:xfrm>
            <a:prstGeom prst="rect">
              <a:avLst/>
            </a:prstGeom>
          </p:spPr>
          <p:txBody>
            <a:bodyPr anchor="ctr" rtlCol="false" tIns="0" lIns="0" bIns="0" rIns="0"/>
            <a:lstStyle/>
            <a:p>
              <a:pPr algn="ctr">
                <a:lnSpc>
                  <a:spcPts val="3060"/>
                </a:lnSpc>
              </a:pPr>
              <a:r>
                <a:rPr lang="en-US" sz="2550" b="true">
                  <a:solidFill>
                    <a:srgbClr val="FFFFFF"/>
                  </a:solidFill>
                  <a:latin typeface="Calibri (MS) Bold"/>
                  <a:ea typeface="Calibri (MS) Bold"/>
                  <a:cs typeface="Calibri (MS) Bold"/>
                  <a:sym typeface="Calibri (MS) Bold"/>
                </a:rPr>
                <a:t>Sustainable</a:t>
              </a:r>
            </a:p>
          </p:txBody>
        </p:sp>
      </p:grpSp>
      <p:grpSp>
        <p:nvGrpSpPr>
          <p:cNvPr name="Group 114" id="114"/>
          <p:cNvGrpSpPr/>
          <p:nvPr/>
        </p:nvGrpSpPr>
        <p:grpSpPr>
          <a:xfrm rot="0">
            <a:off x="6741414" y="4663440"/>
            <a:ext cx="2331720" cy="822960"/>
            <a:chOff x="0" y="0"/>
            <a:chExt cx="3108960" cy="1097280"/>
          </a:xfrm>
        </p:grpSpPr>
        <p:sp>
          <p:nvSpPr>
            <p:cNvPr name="Freeform 115" id="115"/>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txBody>
            <a:bodyPr/>
            <a:p/>
          </p:txBody>
        </p:sp>
      </p:grpSp>
      <p:grpSp>
        <p:nvGrpSpPr>
          <p:cNvPr name="Group 116" id="116"/>
          <p:cNvGrpSpPr/>
          <p:nvPr/>
        </p:nvGrpSpPr>
        <p:grpSpPr>
          <a:xfrm rot="0">
            <a:off x="6741414" y="4592003"/>
            <a:ext cx="2331720" cy="894398"/>
            <a:chOff x="0" y="0"/>
            <a:chExt cx="3108960" cy="1192530"/>
          </a:xfrm>
        </p:grpSpPr>
        <p:sp>
          <p:nvSpPr>
            <p:cNvPr name="Freeform 117" id="117"/>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62" r="0" b="-762"/>
              </a:stretch>
            </a:blipFill>
          </p:spPr>
          <p:txBody>
            <a:bodyPr/>
            <a:p/>
          </p:txBody>
        </p:sp>
      </p:grpSp>
      <p:grpSp>
        <p:nvGrpSpPr>
          <p:cNvPr name="Group 118" id="118"/>
          <p:cNvGrpSpPr/>
          <p:nvPr/>
        </p:nvGrpSpPr>
        <p:grpSpPr>
          <a:xfrm rot="0">
            <a:off x="6741414" y="4520565"/>
            <a:ext cx="2331720" cy="965835"/>
            <a:chOff x="0" y="0"/>
            <a:chExt cx="3108960" cy="1287780"/>
          </a:xfrm>
        </p:grpSpPr>
        <p:sp>
          <p:nvSpPr>
            <p:cNvPr name="Freeform 119" id="119"/>
            <p:cNvSpPr/>
            <p:nvPr/>
          </p:nvSpPr>
          <p:spPr>
            <a:xfrm flipH="false" flipV="false" rot="0">
              <a:off x="0" y="0"/>
              <a:ext cx="3108960" cy="1287781"/>
            </a:xfrm>
            <a:custGeom>
              <a:avLst/>
              <a:gdLst/>
              <a:ahLst/>
              <a:cxnLst/>
              <a:rect r="r" b="b" t="t" l="l"/>
              <a:pathLst>
                <a:path h="1287781" w="3108960">
                  <a:moveTo>
                    <a:pt x="0" y="0"/>
                  </a:moveTo>
                  <a:lnTo>
                    <a:pt x="3108960" y="0"/>
                  </a:lnTo>
                  <a:lnTo>
                    <a:pt x="3108960" y="1287781"/>
                  </a:lnTo>
                  <a:lnTo>
                    <a:pt x="0" y="1287781"/>
                  </a:lnTo>
                  <a:close/>
                </a:path>
              </a:pathLst>
            </a:custGeom>
            <a:blipFill>
              <a:blip r:embed="rId6">
                <a:alphaModFix amt="0"/>
              </a:blip>
              <a:stretch>
                <a:fillRect l="-3145" t="0" r="-3145" b="0"/>
              </a:stretch>
            </a:blipFill>
          </p:spPr>
          <p:txBody>
            <a:bodyPr/>
            <a:p/>
          </p:txBody>
        </p:sp>
        <p:sp>
          <p:nvSpPr>
            <p:cNvPr name="TextBox 120" id="120"/>
            <p:cNvSpPr txBox="true"/>
            <p:nvPr/>
          </p:nvSpPr>
          <p:spPr>
            <a:xfrm>
              <a:off x="0" y="-95250"/>
              <a:ext cx="3108960" cy="138303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0,1</a:t>
              </a:r>
            </a:p>
          </p:txBody>
        </p:sp>
      </p:grpSp>
      <p:sp>
        <p:nvSpPr>
          <p:cNvPr name="TextBox 121" id="121"/>
          <p:cNvSpPr txBox="true"/>
          <p:nvPr/>
        </p:nvSpPr>
        <p:spPr>
          <a:xfrm rot="0">
            <a:off x="6741414" y="5400675"/>
            <a:ext cx="2331720" cy="497205"/>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Insentif Kebijakan</a:t>
            </a:r>
          </a:p>
        </p:txBody>
      </p:sp>
      <p:grpSp>
        <p:nvGrpSpPr>
          <p:cNvPr name="Group 122" id="122"/>
          <p:cNvGrpSpPr/>
          <p:nvPr/>
        </p:nvGrpSpPr>
        <p:grpSpPr>
          <a:xfrm rot="0">
            <a:off x="9210294" y="4663440"/>
            <a:ext cx="2331720" cy="822960"/>
            <a:chOff x="0" y="0"/>
            <a:chExt cx="3108960" cy="1097280"/>
          </a:xfrm>
        </p:grpSpPr>
        <p:sp>
          <p:nvSpPr>
            <p:cNvPr name="Freeform 123" id="123"/>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txBody>
            <a:bodyPr/>
            <a:p/>
          </p:txBody>
        </p:sp>
      </p:grpSp>
      <p:grpSp>
        <p:nvGrpSpPr>
          <p:cNvPr name="Group 124" id="124"/>
          <p:cNvGrpSpPr/>
          <p:nvPr/>
        </p:nvGrpSpPr>
        <p:grpSpPr>
          <a:xfrm rot="0">
            <a:off x="9210294" y="4592003"/>
            <a:ext cx="2331720" cy="894398"/>
            <a:chOff x="0" y="0"/>
            <a:chExt cx="3108960" cy="1192530"/>
          </a:xfrm>
        </p:grpSpPr>
        <p:sp>
          <p:nvSpPr>
            <p:cNvPr name="Freeform 125" id="125"/>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62" r="0" b="-762"/>
              </a:stretch>
            </a:blipFill>
          </p:spPr>
          <p:txBody>
            <a:bodyPr/>
            <a:p/>
          </p:txBody>
        </p:sp>
      </p:grpSp>
      <p:grpSp>
        <p:nvGrpSpPr>
          <p:cNvPr name="Group 126" id="126"/>
          <p:cNvGrpSpPr/>
          <p:nvPr/>
        </p:nvGrpSpPr>
        <p:grpSpPr>
          <a:xfrm rot="0">
            <a:off x="9210294" y="4520565"/>
            <a:ext cx="2331720" cy="965835"/>
            <a:chOff x="0" y="0"/>
            <a:chExt cx="3108960" cy="1287780"/>
          </a:xfrm>
        </p:grpSpPr>
        <p:sp>
          <p:nvSpPr>
            <p:cNvPr name="Freeform 127" id="127"/>
            <p:cNvSpPr/>
            <p:nvPr/>
          </p:nvSpPr>
          <p:spPr>
            <a:xfrm flipH="false" flipV="false" rot="0">
              <a:off x="0" y="0"/>
              <a:ext cx="3108960" cy="1287781"/>
            </a:xfrm>
            <a:custGeom>
              <a:avLst/>
              <a:gdLst/>
              <a:ahLst/>
              <a:cxnLst/>
              <a:rect r="r" b="b" t="t" l="l"/>
              <a:pathLst>
                <a:path h="1287781" w="3108960">
                  <a:moveTo>
                    <a:pt x="0" y="0"/>
                  </a:moveTo>
                  <a:lnTo>
                    <a:pt x="3108960" y="0"/>
                  </a:lnTo>
                  <a:lnTo>
                    <a:pt x="3108960" y="1287781"/>
                  </a:lnTo>
                  <a:lnTo>
                    <a:pt x="0" y="1287781"/>
                  </a:lnTo>
                  <a:close/>
                </a:path>
              </a:pathLst>
            </a:custGeom>
            <a:blipFill>
              <a:blip r:embed="rId6">
                <a:alphaModFix amt="0"/>
              </a:blip>
              <a:stretch>
                <a:fillRect l="-3145" t="0" r="-3145" b="0"/>
              </a:stretch>
            </a:blipFill>
          </p:spPr>
          <p:txBody>
            <a:bodyPr/>
            <a:p/>
          </p:txBody>
        </p:sp>
        <p:sp>
          <p:nvSpPr>
            <p:cNvPr name="TextBox 128" id="128"/>
            <p:cNvSpPr txBox="true"/>
            <p:nvPr/>
          </p:nvSpPr>
          <p:spPr>
            <a:xfrm>
              <a:off x="0" y="-95250"/>
              <a:ext cx="3108960" cy="138303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1,0</a:t>
              </a:r>
            </a:p>
          </p:txBody>
        </p:sp>
      </p:grpSp>
      <p:sp>
        <p:nvSpPr>
          <p:cNvPr name="TextBox 129" id="129"/>
          <p:cNvSpPr txBox="true"/>
          <p:nvPr/>
        </p:nvSpPr>
        <p:spPr>
          <a:xfrm rot="0">
            <a:off x="9210294" y="5400675"/>
            <a:ext cx="2331720" cy="497205"/>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Konservasi Lahan</a:t>
            </a:r>
          </a:p>
        </p:txBody>
      </p:sp>
      <p:sp>
        <p:nvSpPr>
          <p:cNvPr name="TextBox 130" id="130"/>
          <p:cNvSpPr txBox="true"/>
          <p:nvPr/>
        </p:nvSpPr>
        <p:spPr>
          <a:xfrm rot="0">
            <a:off x="6809994" y="6057900"/>
            <a:ext cx="4663440" cy="20345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Dorongan investasi terbatas disertai pemenuhan kebutuhan lahan fasilitas pariwisata tanpa konversi lahan tambahan.</a:t>
            </a:r>
          </a:p>
        </p:txBody>
      </p:sp>
      <p:grpSp>
        <p:nvGrpSpPr>
          <p:cNvPr name="Group 131" id="131"/>
          <p:cNvGrpSpPr/>
          <p:nvPr/>
        </p:nvGrpSpPr>
        <p:grpSpPr>
          <a:xfrm rot="0">
            <a:off x="12111228" y="3634740"/>
            <a:ext cx="5349240" cy="4594860"/>
            <a:chOff x="0" y="0"/>
            <a:chExt cx="7132320" cy="6126480"/>
          </a:xfrm>
        </p:grpSpPr>
        <p:sp>
          <p:nvSpPr>
            <p:cNvPr name="Freeform 132" id="132"/>
            <p:cNvSpPr/>
            <p:nvPr/>
          </p:nvSpPr>
          <p:spPr>
            <a:xfrm flipH="false" flipV="false" rot="0">
              <a:off x="0" y="0"/>
              <a:ext cx="7132320" cy="6126480"/>
            </a:xfrm>
            <a:custGeom>
              <a:avLst/>
              <a:gdLst/>
              <a:ahLst/>
              <a:cxnLst/>
              <a:rect r="r" b="b" t="t" l="l"/>
              <a:pathLst>
                <a:path h="6126480" w="7132320">
                  <a:moveTo>
                    <a:pt x="0" y="182880"/>
                  </a:moveTo>
                  <a:cubicBezTo>
                    <a:pt x="0" y="81915"/>
                    <a:pt x="81915" y="0"/>
                    <a:pt x="182880" y="0"/>
                  </a:cubicBezTo>
                  <a:lnTo>
                    <a:pt x="6949440" y="0"/>
                  </a:lnTo>
                  <a:cubicBezTo>
                    <a:pt x="7050405" y="0"/>
                    <a:pt x="7132320" y="81915"/>
                    <a:pt x="7132320" y="182880"/>
                  </a:cubicBezTo>
                  <a:lnTo>
                    <a:pt x="7132320" y="5943600"/>
                  </a:lnTo>
                  <a:cubicBezTo>
                    <a:pt x="7132320" y="6044565"/>
                    <a:pt x="7050405" y="6126480"/>
                    <a:pt x="6949440" y="6126480"/>
                  </a:cubicBezTo>
                  <a:lnTo>
                    <a:pt x="182880" y="6126480"/>
                  </a:lnTo>
                  <a:cubicBezTo>
                    <a:pt x="81915" y="6126480"/>
                    <a:pt x="0" y="6044565"/>
                    <a:pt x="0" y="5943600"/>
                  </a:cubicBezTo>
                  <a:close/>
                </a:path>
              </a:pathLst>
            </a:custGeom>
            <a:solidFill>
              <a:srgbClr val="EAF8FA"/>
            </a:solidFill>
          </p:spPr>
          <p:txBody>
            <a:bodyPr/>
            <a:p/>
          </p:txBody>
        </p:sp>
      </p:grpSp>
      <p:grpSp>
        <p:nvGrpSpPr>
          <p:cNvPr name="Group 133" id="133"/>
          <p:cNvGrpSpPr/>
          <p:nvPr/>
        </p:nvGrpSpPr>
        <p:grpSpPr>
          <a:xfrm rot="0">
            <a:off x="12111228" y="3634740"/>
            <a:ext cx="5349240" cy="822960"/>
            <a:chOff x="0" y="0"/>
            <a:chExt cx="7132320" cy="1097280"/>
          </a:xfrm>
        </p:grpSpPr>
        <p:sp>
          <p:nvSpPr>
            <p:cNvPr name="Freeform 134" id="134"/>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FFD23B"/>
            </a:solidFill>
          </p:spPr>
          <p:txBody>
            <a:bodyPr/>
            <a:p/>
          </p:txBody>
        </p:sp>
      </p:grpSp>
      <p:grpSp>
        <p:nvGrpSpPr>
          <p:cNvPr name="Group 135" id="135"/>
          <p:cNvGrpSpPr/>
          <p:nvPr/>
        </p:nvGrpSpPr>
        <p:grpSpPr>
          <a:xfrm rot="0">
            <a:off x="12111228" y="3634740"/>
            <a:ext cx="5349240" cy="822960"/>
            <a:chOff x="0" y="0"/>
            <a:chExt cx="7132320" cy="1097280"/>
          </a:xfrm>
        </p:grpSpPr>
        <p:sp>
          <p:nvSpPr>
            <p:cNvPr name="Freeform 136" id="136"/>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txBody>
            <a:bodyPr/>
            <a:p/>
          </p:txBody>
        </p:sp>
      </p:grpSp>
      <p:grpSp>
        <p:nvGrpSpPr>
          <p:cNvPr name="Group 137" id="137"/>
          <p:cNvGrpSpPr/>
          <p:nvPr/>
        </p:nvGrpSpPr>
        <p:grpSpPr>
          <a:xfrm rot="0">
            <a:off x="12111228" y="3599021"/>
            <a:ext cx="5349240" cy="858679"/>
            <a:chOff x="0" y="0"/>
            <a:chExt cx="7132320" cy="1144905"/>
          </a:xfrm>
        </p:grpSpPr>
        <p:sp>
          <p:nvSpPr>
            <p:cNvPr name="Freeform 138" id="138"/>
            <p:cNvSpPr/>
            <p:nvPr/>
          </p:nvSpPr>
          <p:spPr>
            <a:xfrm flipH="false" flipV="false" rot="0">
              <a:off x="0" y="0"/>
              <a:ext cx="7132320" cy="1144905"/>
            </a:xfrm>
            <a:custGeom>
              <a:avLst/>
              <a:gdLst/>
              <a:ahLst/>
              <a:cxnLst/>
              <a:rect r="r" b="b" t="t" l="l"/>
              <a:pathLst>
                <a:path h="1144905" w="7132320">
                  <a:moveTo>
                    <a:pt x="0" y="0"/>
                  </a:moveTo>
                  <a:lnTo>
                    <a:pt x="7132320" y="0"/>
                  </a:lnTo>
                  <a:lnTo>
                    <a:pt x="7132320" y="1144905"/>
                  </a:lnTo>
                  <a:lnTo>
                    <a:pt x="0" y="1144905"/>
                  </a:lnTo>
                  <a:close/>
                </a:path>
              </a:pathLst>
            </a:custGeom>
            <a:blipFill>
              <a:blip r:embed="rId5">
                <a:alphaModFix amt="0"/>
              </a:blip>
              <a:stretch>
                <a:fillRect l="0" t="-71300" r="0" b="-71300"/>
              </a:stretch>
            </a:blipFill>
          </p:spPr>
          <p:txBody>
            <a:bodyPr/>
            <a:p/>
          </p:txBody>
        </p:sp>
      </p:grpSp>
      <p:grpSp>
        <p:nvGrpSpPr>
          <p:cNvPr name="Group 139" id="139"/>
          <p:cNvGrpSpPr/>
          <p:nvPr/>
        </p:nvGrpSpPr>
        <p:grpSpPr>
          <a:xfrm rot="0">
            <a:off x="12111228" y="3563303"/>
            <a:ext cx="5349240" cy="894398"/>
            <a:chOff x="0" y="0"/>
            <a:chExt cx="7132320" cy="1192530"/>
          </a:xfrm>
        </p:grpSpPr>
        <p:sp>
          <p:nvSpPr>
            <p:cNvPr name="Freeform 140" id="140"/>
            <p:cNvSpPr/>
            <p:nvPr/>
          </p:nvSpPr>
          <p:spPr>
            <a:xfrm flipH="false" flipV="false" rot="0">
              <a:off x="0" y="0"/>
              <a:ext cx="7132320" cy="1192530"/>
            </a:xfrm>
            <a:custGeom>
              <a:avLst/>
              <a:gdLst/>
              <a:ahLst/>
              <a:cxnLst/>
              <a:rect r="r" b="b" t="t" l="l"/>
              <a:pathLst>
                <a:path h="1192530" w="7132320">
                  <a:moveTo>
                    <a:pt x="0" y="0"/>
                  </a:moveTo>
                  <a:lnTo>
                    <a:pt x="7132320" y="0"/>
                  </a:lnTo>
                  <a:lnTo>
                    <a:pt x="7132320" y="1192530"/>
                  </a:lnTo>
                  <a:lnTo>
                    <a:pt x="0" y="1192530"/>
                  </a:lnTo>
                  <a:close/>
                </a:path>
              </a:pathLst>
            </a:custGeom>
            <a:blipFill>
              <a:blip r:embed="rId6">
                <a:alphaModFix amt="0"/>
              </a:blip>
              <a:stretch>
                <a:fillRect l="0" t="-66536" r="0" b="-66536"/>
              </a:stretch>
            </a:blipFill>
          </p:spPr>
          <p:txBody>
            <a:bodyPr/>
            <a:p/>
          </p:txBody>
        </p:sp>
        <p:sp>
          <p:nvSpPr>
            <p:cNvPr name="TextBox 141" id="141"/>
            <p:cNvSpPr txBox="true"/>
            <p:nvPr/>
          </p:nvSpPr>
          <p:spPr>
            <a:xfrm>
              <a:off x="0" y="-47625"/>
              <a:ext cx="7132320" cy="1240155"/>
            </a:xfrm>
            <a:prstGeom prst="rect">
              <a:avLst/>
            </a:prstGeom>
          </p:spPr>
          <p:txBody>
            <a:bodyPr anchor="ctr" rtlCol="false" tIns="0" lIns="0" bIns="0" rIns="0"/>
            <a:lstStyle/>
            <a:p>
              <a:pPr algn="ctr">
                <a:lnSpc>
                  <a:spcPts val="3060"/>
                </a:lnSpc>
              </a:pPr>
              <a:r>
                <a:rPr lang="en-US" sz="2550" b="true">
                  <a:solidFill>
                    <a:srgbClr val="14313B"/>
                  </a:solidFill>
                  <a:latin typeface="Calibri (MS) Bold"/>
                  <a:ea typeface="Calibri (MS) Bold"/>
                  <a:cs typeface="Calibri (MS) Bold"/>
                  <a:sym typeface="Calibri (MS) Bold"/>
                </a:rPr>
                <a:t>Development Priority</a:t>
              </a:r>
            </a:p>
          </p:txBody>
        </p:sp>
      </p:grpSp>
      <p:grpSp>
        <p:nvGrpSpPr>
          <p:cNvPr name="Group 142" id="142"/>
          <p:cNvGrpSpPr/>
          <p:nvPr/>
        </p:nvGrpSpPr>
        <p:grpSpPr>
          <a:xfrm rot="0">
            <a:off x="12385548" y="4663440"/>
            <a:ext cx="2331720" cy="822960"/>
            <a:chOff x="0" y="0"/>
            <a:chExt cx="3108960" cy="1097280"/>
          </a:xfrm>
        </p:grpSpPr>
        <p:sp>
          <p:nvSpPr>
            <p:cNvPr name="Freeform 143" id="143"/>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txBody>
            <a:bodyPr/>
            <a:p/>
          </p:txBody>
        </p:sp>
      </p:grpSp>
      <p:grpSp>
        <p:nvGrpSpPr>
          <p:cNvPr name="Group 144" id="144"/>
          <p:cNvGrpSpPr/>
          <p:nvPr/>
        </p:nvGrpSpPr>
        <p:grpSpPr>
          <a:xfrm rot="0">
            <a:off x="12385548" y="4592003"/>
            <a:ext cx="2331720" cy="894398"/>
            <a:chOff x="0" y="0"/>
            <a:chExt cx="3108960" cy="1192530"/>
          </a:xfrm>
        </p:grpSpPr>
        <p:sp>
          <p:nvSpPr>
            <p:cNvPr name="Freeform 145" id="145"/>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62" r="0" b="-762"/>
              </a:stretch>
            </a:blipFill>
          </p:spPr>
          <p:txBody>
            <a:bodyPr/>
            <a:p/>
          </p:txBody>
        </p:sp>
      </p:grpSp>
      <p:grpSp>
        <p:nvGrpSpPr>
          <p:cNvPr name="Group 146" id="146"/>
          <p:cNvGrpSpPr/>
          <p:nvPr/>
        </p:nvGrpSpPr>
        <p:grpSpPr>
          <a:xfrm rot="0">
            <a:off x="12385548" y="4520565"/>
            <a:ext cx="2331720" cy="965835"/>
            <a:chOff x="0" y="0"/>
            <a:chExt cx="3108960" cy="1287780"/>
          </a:xfrm>
        </p:grpSpPr>
        <p:sp>
          <p:nvSpPr>
            <p:cNvPr name="Freeform 147" id="147"/>
            <p:cNvSpPr/>
            <p:nvPr/>
          </p:nvSpPr>
          <p:spPr>
            <a:xfrm flipH="false" flipV="false" rot="0">
              <a:off x="0" y="0"/>
              <a:ext cx="3108960" cy="1287781"/>
            </a:xfrm>
            <a:custGeom>
              <a:avLst/>
              <a:gdLst/>
              <a:ahLst/>
              <a:cxnLst/>
              <a:rect r="r" b="b" t="t" l="l"/>
              <a:pathLst>
                <a:path h="1287781" w="3108960">
                  <a:moveTo>
                    <a:pt x="0" y="0"/>
                  </a:moveTo>
                  <a:lnTo>
                    <a:pt x="3108960" y="0"/>
                  </a:lnTo>
                  <a:lnTo>
                    <a:pt x="3108960" y="1287781"/>
                  </a:lnTo>
                  <a:lnTo>
                    <a:pt x="0" y="1287781"/>
                  </a:lnTo>
                  <a:close/>
                </a:path>
              </a:pathLst>
            </a:custGeom>
            <a:blipFill>
              <a:blip r:embed="rId6">
                <a:alphaModFix amt="0"/>
              </a:blip>
              <a:stretch>
                <a:fillRect l="-3145" t="0" r="-3145" b="0"/>
              </a:stretch>
            </a:blipFill>
          </p:spPr>
          <p:txBody>
            <a:bodyPr/>
            <a:p/>
          </p:txBody>
        </p:sp>
        <p:sp>
          <p:nvSpPr>
            <p:cNvPr name="TextBox 148" id="148"/>
            <p:cNvSpPr txBox="true"/>
            <p:nvPr/>
          </p:nvSpPr>
          <p:spPr>
            <a:xfrm>
              <a:off x="0" y="-95250"/>
              <a:ext cx="3108960" cy="138303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0,3</a:t>
              </a:r>
            </a:p>
          </p:txBody>
        </p:sp>
      </p:grpSp>
      <p:sp>
        <p:nvSpPr>
          <p:cNvPr name="TextBox 149" id="149"/>
          <p:cNvSpPr txBox="true"/>
          <p:nvPr/>
        </p:nvSpPr>
        <p:spPr>
          <a:xfrm rot="0">
            <a:off x="12385548" y="5400675"/>
            <a:ext cx="2331720" cy="497205"/>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Insentif Kebijakan</a:t>
            </a:r>
          </a:p>
        </p:txBody>
      </p:sp>
      <p:grpSp>
        <p:nvGrpSpPr>
          <p:cNvPr name="Group 150" id="150"/>
          <p:cNvGrpSpPr/>
          <p:nvPr/>
        </p:nvGrpSpPr>
        <p:grpSpPr>
          <a:xfrm rot="0">
            <a:off x="14854428" y="4663440"/>
            <a:ext cx="2331720" cy="822960"/>
            <a:chOff x="0" y="0"/>
            <a:chExt cx="3108960" cy="1097280"/>
          </a:xfrm>
        </p:grpSpPr>
        <p:sp>
          <p:nvSpPr>
            <p:cNvPr name="Freeform 151" id="151"/>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txBody>
            <a:bodyPr/>
            <a:p/>
          </p:txBody>
        </p:sp>
      </p:grpSp>
      <p:grpSp>
        <p:nvGrpSpPr>
          <p:cNvPr name="Group 152" id="152"/>
          <p:cNvGrpSpPr/>
          <p:nvPr/>
        </p:nvGrpSpPr>
        <p:grpSpPr>
          <a:xfrm rot="0">
            <a:off x="14854428" y="4592003"/>
            <a:ext cx="2331720" cy="894398"/>
            <a:chOff x="0" y="0"/>
            <a:chExt cx="3108960" cy="1192530"/>
          </a:xfrm>
        </p:grpSpPr>
        <p:sp>
          <p:nvSpPr>
            <p:cNvPr name="Freeform 153" id="153"/>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62" r="0" b="-762"/>
              </a:stretch>
            </a:blipFill>
          </p:spPr>
          <p:txBody>
            <a:bodyPr/>
            <a:p/>
          </p:txBody>
        </p:sp>
      </p:grpSp>
      <p:grpSp>
        <p:nvGrpSpPr>
          <p:cNvPr name="Group 154" id="154"/>
          <p:cNvGrpSpPr/>
          <p:nvPr/>
        </p:nvGrpSpPr>
        <p:grpSpPr>
          <a:xfrm rot="0">
            <a:off x="14854428" y="4520565"/>
            <a:ext cx="2331720" cy="965835"/>
            <a:chOff x="0" y="0"/>
            <a:chExt cx="3108960" cy="1287780"/>
          </a:xfrm>
        </p:grpSpPr>
        <p:sp>
          <p:nvSpPr>
            <p:cNvPr name="Freeform 155" id="155"/>
            <p:cNvSpPr/>
            <p:nvPr/>
          </p:nvSpPr>
          <p:spPr>
            <a:xfrm flipH="false" flipV="false" rot="0">
              <a:off x="0" y="0"/>
              <a:ext cx="3108960" cy="1287781"/>
            </a:xfrm>
            <a:custGeom>
              <a:avLst/>
              <a:gdLst/>
              <a:ahLst/>
              <a:cxnLst/>
              <a:rect r="r" b="b" t="t" l="l"/>
              <a:pathLst>
                <a:path h="1287781" w="3108960">
                  <a:moveTo>
                    <a:pt x="0" y="0"/>
                  </a:moveTo>
                  <a:lnTo>
                    <a:pt x="3108960" y="0"/>
                  </a:lnTo>
                  <a:lnTo>
                    <a:pt x="3108960" y="1287781"/>
                  </a:lnTo>
                  <a:lnTo>
                    <a:pt x="0" y="1287781"/>
                  </a:lnTo>
                  <a:close/>
                </a:path>
              </a:pathLst>
            </a:custGeom>
            <a:blipFill>
              <a:blip r:embed="rId6">
                <a:alphaModFix amt="0"/>
              </a:blip>
              <a:stretch>
                <a:fillRect l="-3145" t="0" r="-3145" b="0"/>
              </a:stretch>
            </a:blipFill>
          </p:spPr>
          <p:txBody>
            <a:bodyPr/>
            <a:p/>
          </p:txBody>
        </p:sp>
        <p:sp>
          <p:nvSpPr>
            <p:cNvPr name="TextBox 156" id="156"/>
            <p:cNvSpPr txBox="true"/>
            <p:nvPr/>
          </p:nvSpPr>
          <p:spPr>
            <a:xfrm>
              <a:off x="0" y="-95250"/>
              <a:ext cx="3108960" cy="138303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a:t>
              </a:r>
            </a:p>
          </p:txBody>
        </p:sp>
      </p:grpSp>
      <p:sp>
        <p:nvSpPr>
          <p:cNvPr name="TextBox 157" id="157"/>
          <p:cNvSpPr txBox="true"/>
          <p:nvPr/>
        </p:nvSpPr>
        <p:spPr>
          <a:xfrm rot="0">
            <a:off x="14854428" y="5400675"/>
            <a:ext cx="2331720" cy="497205"/>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Konservasi Lahan</a:t>
            </a:r>
          </a:p>
        </p:txBody>
      </p:sp>
      <p:sp>
        <p:nvSpPr>
          <p:cNvPr name="TextBox 158" id="158"/>
          <p:cNvSpPr txBox="true"/>
          <p:nvPr/>
        </p:nvSpPr>
        <p:spPr>
          <a:xfrm rot="0">
            <a:off x="12454128" y="6057900"/>
            <a:ext cx="4663440" cy="20345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Ekspansi investasi agresif tanpa pengendalian kebutuhan lahan pariwisata.</a:t>
            </a:r>
          </a:p>
        </p:txBody>
      </p:sp>
      <p:grpSp>
        <p:nvGrpSpPr>
          <p:cNvPr name="Group 159" id="159"/>
          <p:cNvGrpSpPr/>
          <p:nvPr/>
        </p:nvGrpSpPr>
        <p:grpSpPr>
          <a:xfrm rot="0">
            <a:off x="822960" y="8503920"/>
            <a:ext cx="16637508" cy="754380"/>
            <a:chOff x="0" y="0"/>
            <a:chExt cx="22183344" cy="1005840"/>
          </a:xfrm>
        </p:grpSpPr>
        <p:sp>
          <p:nvSpPr>
            <p:cNvPr name="Freeform 160" id="160"/>
            <p:cNvSpPr/>
            <p:nvPr/>
          </p:nvSpPr>
          <p:spPr>
            <a:xfrm flipH="false" flipV="false" rot="0">
              <a:off x="0" y="0"/>
              <a:ext cx="22183344" cy="1005840"/>
            </a:xfrm>
            <a:custGeom>
              <a:avLst/>
              <a:gdLst/>
              <a:ahLst/>
              <a:cxnLst/>
              <a:rect r="r" b="b" t="t" l="l"/>
              <a:pathLst>
                <a:path h="1005840" w="22183344">
                  <a:moveTo>
                    <a:pt x="0" y="182880"/>
                  </a:moveTo>
                  <a:cubicBezTo>
                    <a:pt x="0" y="81915"/>
                    <a:pt x="81915" y="0"/>
                    <a:pt x="182880" y="0"/>
                  </a:cubicBezTo>
                  <a:lnTo>
                    <a:pt x="22000463" y="0"/>
                  </a:lnTo>
                  <a:cubicBezTo>
                    <a:pt x="22101428" y="0"/>
                    <a:pt x="22183344" y="81915"/>
                    <a:pt x="22183344" y="182880"/>
                  </a:cubicBezTo>
                  <a:lnTo>
                    <a:pt x="22183344" y="822960"/>
                  </a:lnTo>
                  <a:cubicBezTo>
                    <a:pt x="22183344" y="923925"/>
                    <a:pt x="22101428" y="1005840"/>
                    <a:pt x="22000463" y="1005840"/>
                  </a:cubicBezTo>
                  <a:lnTo>
                    <a:pt x="182880" y="1005840"/>
                  </a:lnTo>
                  <a:cubicBezTo>
                    <a:pt x="81915" y="1005840"/>
                    <a:pt x="0" y="923925"/>
                    <a:pt x="0" y="822960"/>
                  </a:cubicBezTo>
                  <a:close/>
                </a:path>
              </a:pathLst>
            </a:custGeom>
            <a:solidFill>
              <a:srgbClr val="0B5E6E"/>
            </a:solidFill>
          </p:spPr>
          <p:txBody>
            <a:bodyPr/>
            <a:p/>
          </p:txBody>
        </p:sp>
      </p:grpSp>
      <p:grpSp>
        <p:nvGrpSpPr>
          <p:cNvPr name="Group 161" id="161"/>
          <p:cNvGrpSpPr/>
          <p:nvPr/>
        </p:nvGrpSpPr>
        <p:grpSpPr>
          <a:xfrm rot="0">
            <a:off x="1234440" y="8503920"/>
            <a:ext cx="15814548" cy="754380"/>
            <a:chOff x="0" y="0"/>
            <a:chExt cx="21086064" cy="1005840"/>
          </a:xfrm>
        </p:grpSpPr>
        <p:sp>
          <p:nvSpPr>
            <p:cNvPr name="Freeform 162" id="162"/>
            <p:cNvSpPr/>
            <p:nvPr/>
          </p:nvSpPr>
          <p:spPr>
            <a:xfrm flipH="false" flipV="false" rot="0">
              <a:off x="0" y="0"/>
              <a:ext cx="21086063" cy="1005840"/>
            </a:xfrm>
            <a:custGeom>
              <a:avLst/>
              <a:gdLst/>
              <a:ahLst/>
              <a:cxnLst/>
              <a:rect r="r" b="b" t="t" l="l"/>
              <a:pathLst>
                <a:path h="1005840" w="21086063">
                  <a:moveTo>
                    <a:pt x="0" y="0"/>
                  </a:moveTo>
                  <a:lnTo>
                    <a:pt x="21086063" y="0"/>
                  </a:lnTo>
                  <a:lnTo>
                    <a:pt x="21086063" y="1005840"/>
                  </a:lnTo>
                  <a:lnTo>
                    <a:pt x="0" y="1005840"/>
                  </a:lnTo>
                  <a:close/>
                </a:path>
              </a:pathLst>
            </a:custGeom>
            <a:blipFill>
              <a:blip r:embed="rId4">
                <a:alphaModFix amt="0"/>
              </a:blip>
              <a:stretch>
                <a:fillRect l="0" t="-358193" r="0" b="-358193"/>
              </a:stretch>
            </a:blipFill>
          </p:spPr>
          <p:txBody>
            <a:bodyPr/>
            <a:p/>
          </p:txBody>
        </p:sp>
      </p:grpSp>
      <p:grpSp>
        <p:nvGrpSpPr>
          <p:cNvPr name="Group 163" id="163"/>
          <p:cNvGrpSpPr/>
          <p:nvPr/>
        </p:nvGrpSpPr>
        <p:grpSpPr>
          <a:xfrm rot="0">
            <a:off x="1234440" y="8475345"/>
            <a:ext cx="15814548" cy="782955"/>
            <a:chOff x="0" y="0"/>
            <a:chExt cx="21086064" cy="1043940"/>
          </a:xfrm>
        </p:grpSpPr>
        <p:sp>
          <p:nvSpPr>
            <p:cNvPr name="Freeform 164" id="164"/>
            <p:cNvSpPr/>
            <p:nvPr/>
          </p:nvSpPr>
          <p:spPr>
            <a:xfrm flipH="false" flipV="false" rot="0">
              <a:off x="0" y="0"/>
              <a:ext cx="21086063" cy="1043940"/>
            </a:xfrm>
            <a:custGeom>
              <a:avLst/>
              <a:gdLst/>
              <a:ahLst/>
              <a:cxnLst/>
              <a:rect r="r" b="b" t="t" l="l"/>
              <a:pathLst>
                <a:path h="1043940" w="21086063">
                  <a:moveTo>
                    <a:pt x="0" y="0"/>
                  </a:moveTo>
                  <a:lnTo>
                    <a:pt x="21086063" y="0"/>
                  </a:lnTo>
                  <a:lnTo>
                    <a:pt x="21086063" y="1043940"/>
                  </a:lnTo>
                  <a:lnTo>
                    <a:pt x="0" y="1043940"/>
                  </a:lnTo>
                  <a:close/>
                </a:path>
              </a:pathLst>
            </a:custGeom>
            <a:blipFill>
              <a:blip r:embed="rId5">
                <a:alphaModFix amt="0"/>
              </a:blip>
              <a:stretch>
                <a:fillRect l="0" t="-343295" r="0" b="-343295"/>
              </a:stretch>
            </a:blipFill>
          </p:spPr>
          <p:txBody>
            <a:bodyPr/>
            <a:p/>
          </p:txBody>
        </p:sp>
      </p:grpSp>
      <p:grpSp>
        <p:nvGrpSpPr>
          <p:cNvPr name="Group 165" id="165"/>
          <p:cNvGrpSpPr/>
          <p:nvPr/>
        </p:nvGrpSpPr>
        <p:grpSpPr>
          <a:xfrm rot="0">
            <a:off x="1234440" y="8446770"/>
            <a:ext cx="15814548" cy="811530"/>
            <a:chOff x="0" y="0"/>
            <a:chExt cx="21086064" cy="1082040"/>
          </a:xfrm>
        </p:grpSpPr>
        <p:sp>
          <p:nvSpPr>
            <p:cNvPr name="Freeform 166" id="166"/>
            <p:cNvSpPr/>
            <p:nvPr/>
          </p:nvSpPr>
          <p:spPr>
            <a:xfrm flipH="false" flipV="false" rot="0">
              <a:off x="0" y="0"/>
              <a:ext cx="21086065" cy="1082040"/>
            </a:xfrm>
            <a:custGeom>
              <a:avLst/>
              <a:gdLst/>
              <a:ahLst/>
              <a:cxnLst/>
              <a:rect r="r" b="b" t="t" l="l"/>
              <a:pathLst>
                <a:path h="1082040" w="21086065">
                  <a:moveTo>
                    <a:pt x="0" y="0"/>
                  </a:moveTo>
                  <a:lnTo>
                    <a:pt x="21086065" y="0"/>
                  </a:lnTo>
                  <a:lnTo>
                    <a:pt x="21086065" y="1082040"/>
                  </a:lnTo>
                  <a:lnTo>
                    <a:pt x="0" y="1082040"/>
                  </a:lnTo>
                  <a:close/>
                </a:path>
              </a:pathLst>
            </a:custGeom>
            <a:blipFill>
              <a:blip r:embed="rId6">
                <a:alphaModFix amt="0"/>
              </a:blip>
              <a:stretch>
                <a:fillRect l="0" t="-329711" r="0" b="-329711"/>
              </a:stretch>
            </a:blipFill>
          </p:spPr>
          <p:txBody>
            <a:bodyPr/>
            <a:p/>
          </p:txBody>
        </p:sp>
        <p:sp>
          <p:nvSpPr>
            <p:cNvPr name="TextBox 167" id="167"/>
            <p:cNvSpPr txBox="true"/>
            <p:nvPr/>
          </p:nvSpPr>
          <p:spPr>
            <a:xfrm>
              <a:off x="0" y="-38100"/>
              <a:ext cx="21086064" cy="1120140"/>
            </a:xfrm>
            <a:prstGeom prst="rect">
              <a:avLst/>
            </a:prstGeom>
          </p:spPr>
          <p:txBody>
            <a:bodyPr anchor="ctr" rtlCol="false" tIns="0" lIns="0" bIns="0" rIns="0"/>
            <a:lstStyle/>
            <a:p>
              <a:pPr algn="l">
                <a:lnSpc>
                  <a:spcPts val="2250"/>
                </a:lnSpc>
              </a:pPr>
              <a:r>
                <a:rPr lang="en-US" sz="1875">
                  <a:solidFill>
                    <a:srgbClr val="FFFFFF"/>
                  </a:solidFill>
                  <a:latin typeface="Calibri (MS)"/>
                  <a:ea typeface="Calibri (MS)"/>
                  <a:cs typeface="Calibri (MS)"/>
                  <a:sym typeface="Calibri (MS)"/>
                </a:rPr>
                <a:t>Skenario adalah paket dua variabel kebijakan → kontribusi masing-masing dipisahkan lewat simulasi tambahan (bukan skenario baru).</a:t>
              </a:r>
            </a:p>
          </p:txBody>
        </p:sp>
      </p:grpSp>
      <p:sp>
        <p:nvSpPr>
          <p:cNvPr name="TextBox 168" id="168"/>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57</a:t>
            </a:r>
          </a:p>
        </p:txBody>
      </p:sp>
      <p:grpSp>
        <p:nvGrpSpPr>
          <p:cNvPr name="Group 169" id="169"/>
          <p:cNvGrpSpPr/>
          <p:nvPr/>
        </p:nvGrpSpPr>
        <p:grpSpPr>
          <a:xfrm rot="0">
            <a:off x="12755880" y="274320"/>
            <a:ext cx="3931920" cy="411480"/>
            <a:chOff x="0" y="0"/>
            <a:chExt cx="5242560" cy="548640"/>
          </a:xfrm>
        </p:grpSpPr>
        <p:sp>
          <p:nvSpPr>
            <p:cNvPr name="Freeform 170" id="170"/>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71" id="171"/>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2G · Skenario kebijakan</a:t>
              </a:r>
            </a:p>
          </p:txBody>
        </p:sp>
      </p:grpSp>
      <p:grpSp>
        <p:nvGrpSpPr>
          <p:cNvPr name="Group 172" id="172"/>
          <p:cNvGrpSpPr/>
          <p:nvPr/>
        </p:nvGrpSpPr>
        <p:grpSpPr>
          <a:xfrm rot="0">
            <a:off x="16047720" y="9646920"/>
            <a:ext cx="420624" cy="420624"/>
            <a:chOff x="0" y="0"/>
            <a:chExt cx="560832" cy="560832"/>
          </a:xfrm>
        </p:grpSpPr>
        <p:sp>
          <p:nvSpPr>
            <p:cNvPr name="Freeform 173" id="173"/>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74" id="174"/>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Perbandingan Skenario</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Tidak ada skenario yang unggul di ketiga dimensi sekaligus</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aphicFrame>
        <p:nvGraphicFramePr>
          <p:cNvPr name="Table 66" id="66"/>
          <p:cNvGraphicFramePr>
            <a:graphicFrameLocks noGrp="true"/>
          </p:cNvGraphicFramePr>
          <p:nvPr/>
        </p:nvGraphicFramePr>
        <p:xfrm>
          <a:off x="822960" y="2331720"/>
          <a:ext cx="16535400" cy="5346700"/>
        </p:xfrm>
        <a:graphic>
          <a:graphicData uri="http://schemas.openxmlformats.org/drawingml/2006/table">
            <a:tbl>
              <a:tblPr/>
              <a:tblGrid>
                <a:gridCol w="2069763"/>
                <a:gridCol w="6211970"/>
                <a:gridCol w="2604241"/>
                <a:gridCol w="2737861"/>
                <a:gridCol w="2911565"/>
              </a:tblGrid>
              <a:tr h="555897">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Dimensi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Indikator tahun 2050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BAU</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Sustainable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Development Priority</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32311">
                <a:tc rowSpan="3">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Lapangan kerja pariwisata (jiwa)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650.355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667.458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697.021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r>
              <a:tr h="532311">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PDRB pariwisata (miliar Rp)</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40.061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41.194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43.152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r>
              <a:tr h="532311">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Investasi kumulatif (miliar Rp) · gambaran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37.318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41.550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50.133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2311">
                <a:tc rowSpan="3">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Rasio daya dukung lahan (batas &gt; 0,331)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0,6145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0,6180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0,6140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2311">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Lahan terbangun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122.208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121.094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122.377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2311">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Konversi lahan pariwisata kumulatif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947,0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0,0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1.095,1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2311">
                <a:tc rowSpan="2">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Indeks kepadatan (batas &lt; 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2,3638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2,4307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2,5462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2311">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Daya tarik destinasi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0,8132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0,8205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0,8322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r>
              <a:tr h="532311">
                <a:tc>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Skala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Jumlah wisatawan (juta kunjungan) · dilaporkan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96,20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98,92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103,62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67" id="67"/>
          <p:cNvGrpSpPr/>
          <p:nvPr/>
        </p:nvGrpSpPr>
        <p:grpSpPr>
          <a:xfrm rot="0">
            <a:off x="822960" y="8092440"/>
            <a:ext cx="5349240" cy="1165860"/>
            <a:chOff x="0" y="0"/>
            <a:chExt cx="7132320" cy="1554480"/>
          </a:xfrm>
        </p:grpSpPr>
        <p:sp>
          <p:nvSpPr>
            <p:cNvPr name="Freeform 68" id="68"/>
            <p:cNvSpPr/>
            <p:nvPr/>
          </p:nvSpPr>
          <p:spPr>
            <a:xfrm flipH="false" flipV="false" rot="0">
              <a:off x="0" y="0"/>
              <a:ext cx="7132320" cy="1554480"/>
            </a:xfrm>
            <a:custGeom>
              <a:avLst/>
              <a:gdLst/>
              <a:ahLst/>
              <a:cxnLst/>
              <a:rect r="r" b="b" t="t" l="l"/>
              <a:pathLst>
                <a:path h="1554480" w="7132320">
                  <a:moveTo>
                    <a:pt x="0" y="182880"/>
                  </a:moveTo>
                  <a:cubicBezTo>
                    <a:pt x="0" y="81915"/>
                    <a:pt x="81915" y="0"/>
                    <a:pt x="182880" y="0"/>
                  </a:cubicBezTo>
                  <a:lnTo>
                    <a:pt x="6949440" y="0"/>
                  </a:lnTo>
                  <a:cubicBezTo>
                    <a:pt x="7050405" y="0"/>
                    <a:pt x="7132320" y="81915"/>
                    <a:pt x="7132320" y="182880"/>
                  </a:cubicBezTo>
                  <a:lnTo>
                    <a:pt x="7132320" y="1371600"/>
                  </a:lnTo>
                  <a:cubicBezTo>
                    <a:pt x="7132320" y="1472565"/>
                    <a:pt x="7050405" y="1554480"/>
                    <a:pt x="6949440" y="1554480"/>
                  </a:cubicBezTo>
                  <a:lnTo>
                    <a:pt x="182880" y="1554480"/>
                  </a:lnTo>
                  <a:cubicBezTo>
                    <a:pt x="81915" y="1554480"/>
                    <a:pt x="0" y="1472565"/>
                    <a:pt x="0" y="1371600"/>
                  </a:cubicBezTo>
                  <a:close/>
                </a:path>
              </a:pathLst>
            </a:custGeom>
            <a:solidFill>
              <a:srgbClr val="FFF1BF"/>
            </a:solidFill>
          </p:spPr>
          <p:txBody>
            <a:bodyPr/>
            <a:p/>
          </p:txBody>
        </p:sp>
      </p:grpSp>
      <p:sp>
        <p:nvSpPr>
          <p:cNvPr name="TextBox 69" id="69"/>
          <p:cNvSpPr txBox="true"/>
          <p:nvPr/>
        </p:nvSpPr>
        <p:spPr>
          <a:xfrm rot="0">
            <a:off x="1097280" y="8045577"/>
            <a:ext cx="4800600" cy="622935"/>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Development Priority unggul di ekonomi</a:t>
            </a:r>
          </a:p>
        </p:txBody>
      </p:sp>
      <p:sp>
        <p:nvSpPr>
          <p:cNvPr name="TextBox 70" id="70"/>
          <p:cNvSpPr txBox="true"/>
          <p:nvPr/>
        </p:nvSpPr>
        <p:spPr>
          <a:xfrm rot="0">
            <a:off x="1097280" y="8567928"/>
            <a:ext cx="4800600" cy="5943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+7,18% lapangan kerja dan +7,71% PDRB vs BAU</a:t>
            </a:r>
          </a:p>
        </p:txBody>
      </p:sp>
      <p:grpSp>
        <p:nvGrpSpPr>
          <p:cNvPr name="Group 71" id="71"/>
          <p:cNvGrpSpPr/>
          <p:nvPr/>
        </p:nvGrpSpPr>
        <p:grpSpPr>
          <a:xfrm rot="0">
            <a:off x="6467094" y="8092440"/>
            <a:ext cx="5349240" cy="1165860"/>
            <a:chOff x="0" y="0"/>
            <a:chExt cx="7132320" cy="1554480"/>
          </a:xfrm>
        </p:grpSpPr>
        <p:sp>
          <p:nvSpPr>
            <p:cNvPr name="Freeform 72" id="72"/>
            <p:cNvSpPr/>
            <p:nvPr/>
          </p:nvSpPr>
          <p:spPr>
            <a:xfrm flipH="false" flipV="false" rot="0">
              <a:off x="0" y="0"/>
              <a:ext cx="7132320" cy="1554480"/>
            </a:xfrm>
            <a:custGeom>
              <a:avLst/>
              <a:gdLst/>
              <a:ahLst/>
              <a:cxnLst/>
              <a:rect r="r" b="b" t="t" l="l"/>
              <a:pathLst>
                <a:path h="1554480" w="7132320">
                  <a:moveTo>
                    <a:pt x="0" y="182880"/>
                  </a:moveTo>
                  <a:cubicBezTo>
                    <a:pt x="0" y="81915"/>
                    <a:pt x="81915" y="0"/>
                    <a:pt x="182880" y="0"/>
                  </a:cubicBezTo>
                  <a:lnTo>
                    <a:pt x="6949440" y="0"/>
                  </a:lnTo>
                  <a:cubicBezTo>
                    <a:pt x="7050405" y="0"/>
                    <a:pt x="7132320" y="81915"/>
                    <a:pt x="7132320" y="182880"/>
                  </a:cubicBezTo>
                  <a:lnTo>
                    <a:pt x="7132320" y="1371600"/>
                  </a:lnTo>
                  <a:cubicBezTo>
                    <a:pt x="7132320" y="1472565"/>
                    <a:pt x="7050405" y="1554480"/>
                    <a:pt x="6949440" y="1554480"/>
                  </a:cubicBezTo>
                  <a:lnTo>
                    <a:pt x="182880" y="1554480"/>
                  </a:lnTo>
                  <a:cubicBezTo>
                    <a:pt x="81915" y="1554480"/>
                    <a:pt x="0" y="1472565"/>
                    <a:pt x="0" y="1371600"/>
                  </a:cubicBezTo>
                  <a:close/>
                </a:path>
              </a:pathLst>
            </a:custGeom>
            <a:solidFill>
              <a:srgbClr val="FFF1BF"/>
            </a:solidFill>
          </p:spPr>
          <p:txBody>
            <a:bodyPr/>
            <a:p/>
          </p:txBody>
        </p:sp>
      </p:grpSp>
      <p:sp>
        <p:nvSpPr>
          <p:cNvPr name="TextBox 73" id="73"/>
          <p:cNvSpPr txBox="true"/>
          <p:nvPr/>
        </p:nvSpPr>
        <p:spPr>
          <a:xfrm rot="0">
            <a:off x="6741414" y="8045577"/>
            <a:ext cx="4800600" cy="622935"/>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Sustainable unggul di lingkungan</a:t>
            </a:r>
          </a:p>
        </p:txBody>
      </p:sp>
      <p:sp>
        <p:nvSpPr>
          <p:cNvPr name="TextBox 74" id="74"/>
          <p:cNvSpPr txBox="true"/>
          <p:nvPr/>
        </p:nvSpPr>
        <p:spPr>
          <a:xfrm rot="0">
            <a:off x="6741414" y="8567928"/>
            <a:ext cx="4800600" cy="5943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konversi lahan pariwisata −100% vs BAU</a:t>
            </a:r>
          </a:p>
        </p:txBody>
      </p:sp>
      <p:grpSp>
        <p:nvGrpSpPr>
          <p:cNvPr name="Group 75" id="75"/>
          <p:cNvGrpSpPr/>
          <p:nvPr/>
        </p:nvGrpSpPr>
        <p:grpSpPr>
          <a:xfrm rot="0">
            <a:off x="12111228" y="8092440"/>
            <a:ext cx="5349240" cy="1165860"/>
            <a:chOff x="0" y="0"/>
            <a:chExt cx="7132320" cy="1554480"/>
          </a:xfrm>
        </p:grpSpPr>
        <p:sp>
          <p:nvSpPr>
            <p:cNvPr name="Freeform 76" id="76"/>
            <p:cNvSpPr/>
            <p:nvPr/>
          </p:nvSpPr>
          <p:spPr>
            <a:xfrm flipH="false" flipV="false" rot="0">
              <a:off x="0" y="0"/>
              <a:ext cx="7132320" cy="1554480"/>
            </a:xfrm>
            <a:custGeom>
              <a:avLst/>
              <a:gdLst/>
              <a:ahLst/>
              <a:cxnLst/>
              <a:rect r="r" b="b" t="t" l="l"/>
              <a:pathLst>
                <a:path h="1554480" w="7132320">
                  <a:moveTo>
                    <a:pt x="0" y="182880"/>
                  </a:moveTo>
                  <a:cubicBezTo>
                    <a:pt x="0" y="81915"/>
                    <a:pt x="81915" y="0"/>
                    <a:pt x="182880" y="0"/>
                  </a:cubicBezTo>
                  <a:lnTo>
                    <a:pt x="6949440" y="0"/>
                  </a:lnTo>
                  <a:cubicBezTo>
                    <a:pt x="7050405" y="0"/>
                    <a:pt x="7132320" y="81915"/>
                    <a:pt x="7132320" y="182880"/>
                  </a:cubicBezTo>
                  <a:lnTo>
                    <a:pt x="7132320" y="1371600"/>
                  </a:lnTo>
                  <a:cubicBezTo>
                    <a:pt x="7132320" y="1472565"/>
                    <a:pt x="7050405" y="1554480"/>
                    <a:pt x="6949440" y="1554480"/>
                  </a:cubicBezTo>
                  <a:lnTo>
                    <a:pt x="182880" y="1554480"/>
                  </a:lnTo>
                  <a:cubicBezTo>
                    <a:pt x="81915" y="1554480"/>
                    <a:pt x="0" y="1472565"/>
                    <a:pt x="0" y="1371600"/>
                  </a:cubicBezTo>
                  <a:close/>
                </a:path>
              </a:pathLst>
            </a:custGeom>
            <a:solidFill>
              <a:srgbClr val="FFF1BF"/>
            </a:solidFill>
          </p:spPr>
          <p:txBody>
            <a:bodyPr/>
            <a:p/>
          </p:txBody>
        </p:sp>
      </p:grpSp>
      <p:sp>
        <p:nvSpPr>
          <p:cNvPr name="TextBox 77" id="77"/>
          <p:cNvSpPr txBox="true"/>
          <p:nvPr/>
        </p:nvSpPr>
        <p:spPr>
          <a:xfrm rot="0">
            <a:off x="12385548" y="8045577"/>
            <a:ext cx="4800600" cy="622935"/>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BAU unggul di kepadatan</a:t>
            </a:r>
          </a:p>
        </p:txBody>
      </p:sp>
      <p:sp>
        <p:nvSpPr>
          <p:cNvPr name="TextBox 78" id="78"/>
          <p:cNvSpPr txBox="true"/>
          <p:nvPr/>
        </p:nvSpPr>
        <p:spPr>
          <a:xfrm rot="0">
            <a:off x="12385548" y="8567928"/>
            <a:ext cx="4800600" cy="5943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indeks 2,36 vs 2,43 (S) dan 2,55 (DP)</a:t>
            </a:r>
          </a:p>
        </p:txBody>
      </p:sp>
      <p:sp>
        <p:nvSpPr>
          <p:cNvPr name="TextBox 79" id="79"/>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58</a:t>
            </a:r>
          </a:p>
        </p:txBody>
      </p:sp>
      <p:grpSp>
        <p:nvGrpSpPr>
          <p:cNvPr name="Group 80" id="80"/>
          <p:cNvGrpSpPr/>
          <p:nvPr/>
        </p:nvGrpSpPr>
        <p:grpSpPr>
          <a:xfrm rot="0">
            <a:off x="12755880" y="274320"/>
            <a:ext cx="3931920" cy="411480"/>
            <a:chOff x="0" y="0"/>
            <a:chExt cx="5242560" cy="548640"/>
          </a:xfrm>
        </p:grpSpPr>
        <p:sp>
          <p:nvSpPr>
            <p:cNvPr name="Freeform 81" id="81"/>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82" id="82"/>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2G · Skenario kebijakan</a:t>
              </a:r>
            </a:p>
          </p:txBody>
        </p:sp>
      </p:grpSp>
      <p:grpSp>
        <p:nvGrpSpPr>
          <p:cNvPr name="Group 83" id="83"/>
          <p:cNvGrpSpPr/>
          <p:nvPr/>
        </p:nvGrpSpPr>
        <p:grpSpPr>
          <a:xfrm rot="0">
            <a:off x="16047720" y="9646920"/>
            <a:ext cx="420624" cy="420624"/>
            <a:chOff x="0" y="0"/>
            <a:chExt cx="560832" cy="560832"/>
          </a:xfrm>
        </p:grpSpPr>
        <p:sp>
          <p:nvSpPr>
            <p:cNvPr name="Freeform 84" id="84"/>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85" id="85"/>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Perbandingan Skenario — Komposisi Daya Tarik</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Pertambahan ODTW lebih berpengaruh daripada tekanan kepadatan dan lahan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59</a:t>
            </a:r>
          </a:p>
        </p:txBody>
      </p:sp>
      <p:grpSp>
        <p:nvGrpSpPr>
          <p:cNvPr name="Group 67" id="67"/>
          <p:cNvGrpSpPr/>
          <p:nvPr/>
        </p:nvGrpSpPr>
        <p:grpSpPr>
          <a:xfrm rot="0">
            <a:off x="822960" y="2307946"/>
            <a:ext cx="4983480" cy="2790730"/>
            <a:chOff x="0" y="0"/>
            <a:chExt cx="6644640" cy="3720973"/>
          </a:xfrm>
        </p:grpSpPr>
        <p:sp>
          <p:nvSpPr>
            <p:cNvPr name="Freeform 68" id="68" descr="skenario_Jumlah_Wisatawan.png"/>
            <p:cNvSpPr/>
            <p:nvPr/>
          </p:nvSpPr>
          <p:spPr>
            <a:xfrm flipH="false" flipV="false" rot="0">
              <a:off x="0" y="0"/>
              <a:ext cx="6644640" cy="3720973"/>
            </a:xfrm>
            <a:custGeom>
              <a:avLst/>
              <a:gdLst/>
              <a:ahLst/>
              <a:cxnLst/>
              <a:rect r="r" b="b" t="t" l="l"/>
              <a:pathLst>
                <a:path h="3720973" w="6644640">
                  <a:moveTo>
                    <a:pt x="0" y="0"/>
                  </a:moveTo>
                  <a:lnTo>
                    <a:pt x="6644640" y="0"/>
                  </a:lnTo>
                  <a:lnTo>
                    <a:pt x="6644640" y="3720973"/>
                  </a:lnTo>
                  <a:lnTo>
                    <a:pt x="0" y="3720973"/>
                  </a:lnTo>
                  <a:lnTo>
                    <a:pt x="0" y="0"/>
                  </a:lnTo>
                  <a:close/>
                </a:path>
              </a:pathLst>
            </a:custGeom>
            <a:blipFill>
              <a:blip r:embed="rId7"/>
              <a:stretch>
                <a:fillRect l="0" t="0" r="0" b="0"/>
              </a:stretch>
            </a:blipFill>
          </p:spPr>
          <p:txBody>
            <a:bodyPr/>
            <a:p/>
          </p:txBody>
        </p:sp>
      </p:grpSp>
      <p:grpSp>
        <p:nvGrpSpPr>
          <p:cNvPr name="Group 69" id="69"/>
          <p:cNvGrpSpPr/>
          <p:nvPr/>
        </p:nvGrpSpPr>
        <p:grpSpPr>
          <a:xfrm rot="0">
            <a:off x="5989320" y="2307946"/>
            <a:ext cx="4983480" cy="2790730"/>
            <a:chOff x="0" y="0"/>
            <a:chExt cx="6644640" cy="3720973"/>
          </a:xfrm>
        </p:grpSpPr>
        <p:sp>
          <p:nvSpPr>
            <p:cNvPr name="Freeform 70" id="70" descr="skenario_PDRB_Sektor_Pariwisata.png"/>
            <p:cNvSpPr/>
            <p:nvPr/>
          </p:nvSpPr>
          <p:spPr>
            <a:xfrm flipH="false" flipV="false" rot="0">
              <a:off x="0" y="0"/>
              <a:ext cx="6644640" cy="3720973"/>
            </a:xfrm>
            <a:custGeom>
              <a:avLst/>
              <a:gdLst/>
              <a:ahLst/>
              <a:cxnLst/>
              <a:rect r="r" b="b" t="t" l="l"/>
              <a:pathLst>
                <a:path h="3720973" w="6644640">
                  <a:moveTo>
                    <a:pt x="0" y="0"/>
                  </a:moveTo>
                  <a:lnTo>
                    <a:pt x="6644640" y="0"/>
                  </a:lnTo>
                  <a:lnTo>
                    <a:pt x="6644640" y="3720973"/>
                  </a:lnTo>
                  <a:lnTo>
                    <a:pt x="0" y="3720973"/>
                  </a:lnTo>
                  <a:lnTo>
                    <a:pt x="0" y="0"/>
                  </a:lnTo>
                  <a:close/>
                </a:path>
              </a:pathLst>
            </a:custGeom>
            <a:blipFill>
              <a:blip r:embed="rId8"/>
              <a:stretch>
                <a:fillRect l="0" t="0" r="0" b="0"/>
              </a:stretch>
            </a:blipFill>
          </p:spPr>
          <p:txBody>
            <a:bodyPr/>
            <a:p/>
          </p:txBody>
        </p:sp>
      </p:grpSp>
      <p:sp>
        <p:nvSpPr>
          <p:cNvPr name="TextBox 71" id="71"/>
          <p:cNvSpPr txBox="true"/>
          <p:nvPr/>
        </p:nvSpPr>
        <p:spPr>
          <a:xfrm rot="0">
            <a:off x="822960" y="5043678"/>
            <a:ext cx="10149840" cy="506730"/>
          </a:xfrm>
          <a:prstGeom prst="rect">
            <a:avLst/>
          </a:prstGeom>
        </p:spPr>
        <p:txBody>
          <a:bodyPr anchor="t" rtlCol="false" tIns="0" lIns="0" bIns="0" rIns="0">
            <a:spAutoFit/>
          </a:bodyPr>
          <a:lstStyle/>
          <a:p>
            <a:pPr algn="l">
              <a:lnSpc>
                <a:spcPts val="1746"/>
              </a:lnSpc>
            </a:pPr>
            <a:r>
              <a:rPr lang="en-US" sz="1299">
                <a:solidFill>
                  <a:srgbClr val="5E6E78"/>
                </a:solidFill>
                <a:latin typeface="Calibri (MS)"/>
                <a:ea typeface="Calibri (MS)"/>
                <a:cs typeface="Calibri (MS)"/>
                <a:sym typeface="Calibri (MS)"/>
              </a:rPr>
              <a:t>Perkembangan 2025–2050: jumlah wisatawan (kiri) dan PDRB sektor pariwisata (kanan) menurut skenario</a:t>
            </a:r>
          </a:p>
        </p:txBody>
      </p:sp>
      <p:graphicFrame>
        <p:nvGraphicFramePr>
          <p:cNvPr name="Table 72" id="72"/>
          <p:cNvGraphicFramePr>
            <a:graphicFrameLocks noGrp="true"/>
          </p:cNvGraphicFramePr>
          <p:nvPr/>
        </p:nvGraphicFramePr>
        <p:xfrm>
          <a:off x="822960" y="5623560"/>
          <a:ext cx="10096500" cy="2311400"/>
        </p:xfrm>
        <a:graphic>
          <a:graphicData uri="http://schemas.openxmlformats.org/drawingml/2006/table">
            <a:tbl>
              <a:tblPr/>
              <a:tblGrid>
                <a:gridCol w="3547419"/>
                <a:gridCol w="2183027"/>
                <a:gridCol w="2183027"/>
                <a:gridCol w="2183027"/>
              </a:tblGrid>
              <a:tr h="477471">
                <a:tc>
                  <a:txBody>
                    <a:bodyPr anchor="t" rtlCol="false"/>
                    <a:lstStyle/>
                    <a:p>
                      <a:pPr algn="l">
                        <a:lnSpc>
                          <a:spcPts val="1800"/>
                        </a:lnSpc>
                        <a:defRPr/>
                      </a:pPr>
                      <a:r>
                        <a:rPr lang="en-US" sz="1500" b="true">
                          <a:solidFill>
                            <a:srgbClr val="FFFFFF"/>
                          </a:solidFill>
                          <a:latin typeface="Calibri (MS) Bold"/>
                          <a:ea typeface="Calibri (MS) Bold"/>
                          <a:cs typeface="Calibri (MS) Bold"/>
                          <a:sym typeface="Calibri (MS) Bold"/>
                        </a:rPr>
                        <a:t>Komponen indeks daya tarik 2050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800"/>
                        </a:lnSpc>
                        <a:defRPr/>
                      </a:pPr>
                      <a:r>
                        <a:rPr lang="en-US" sz="1500" b="true">
                          <a:solidFill>
                            <a:srgbClr val="FFFFFF"/>
                          </a:solidFill>
                          <a:latin typeface="Calibri (MS) Bold"/>
                          <a:ea typeface="Calibri (MS) Bold"/>
                          <a:cs typeface="Calibri (MS) Bold"/>
                          <a:sym typeface="Calibri (MS) Bold"/>
                        </a:rPr>
                        <a:t>BAU</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800"/>
                        </a:lnSpc>
                        <a:defRPr/>
                      </a:pPr>
                      <a:r>
                        <a:rPr lang="en-US" sz="1500" b="true">
                          <a:solidFill>
                            <a:srgbClr val="FFFFFF"/>
                          </a:solidFill>
                          <a:latin typeface="Calibri (MS) Bold"/>
                          <a:ea typeface="Calibri (MS) Bold"/>
                          <a:cs typeface="Calibri (MS) Bold"/>
                          <a:sym typeface="Calibri (MS) Bold"/>
                        </a:rPr>
                        <a:t>Sustainable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800"/>
                        </a:lnSpc>
                        <a:defRPr/>
                      </a:pPr>
                      <a:r>
                        <a:rPr lang="en-US" sz="1500" b="true">
                          <a:solidFill>
                            <a:srgbClr val="FFFFFF"/>
                          </a:solidFill>
                          <a:latin typeface="Calibri (MS) Bold"/>
                          <a:ea typeface="Calibri (MS) Bold"/>
                          <a:cs typeface="Calibri (MS) Bold"/>
                          <a:sym typeface="Calibri (MS) Bold"/>
                        </a:rPr>
                        <a:t>Development Priority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58482">
                <a:tc>
                  <a:txBody>
                    <a:bodyPr anchor="t" rtlCol="false"/>
                    <a:lstStyle/>
                    <a:p>
                      <a:pPr algn="l">
                        <a:lnSpc>
                          <a:spcPts val="1800"/>
                        </a:lnSpc>
                        <a:defRPr/>
                      </a:pPr>
                      <a:r>
                        <a:rPr lang="en-US" sz="1500">
                          <a:solidFill>
                            <a:srgbClr val="14313B"/>
                          </a:solidFill>
                          <a:latin typeface="Calibri (MS)"/>
                          <a:ea typeface="Calibri (MS)"/>
                          <a:cs typeface="Calibri (MS)"/>
                          <a:sym typeface="Calibri (MS)"/>
                        </a:rPr>
                        <a:t>Objek daya tarik 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0,4793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0,4896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0B5E6E"/>
                          </a:solidFill>
                          <a:latin typeface="Calibri (MS)"/>
                          <a:ea typeface="Calibri (MS)"/>
                          <a:cs typeface="Calibri (MS)"/>
                          <a:sym typeface="Calibri (MS)"/>
                        </a:rPr>
                        <a:t>0,5090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r>
              <a:tr h="458482">
                <a:tc>
                  <a:txBody>
                    <a:bodyPr anchor="t" rtlCol="false"/>
                    <a:lstStyle/>
                    <a:p>
                      <a:pPr algn="l">
                        <a:lnSpc>
                          <a:spcPts val="1800"/>
                        </a:lnSpc>
                        <a:defRPr/>
                      </a:pPr>
                      <a:r>
                        <a:rPr lang="en-US" sz="1500">
                          <a:solidFill>
                            <a:srgbClr val="14313B"/>
                          </a:solidFill>
                          <a:latin typeface="Calibri (MS)"/>
                          <a:ea typeface="Calibri (MS)"/>
                          <a:cs typeface="Calibri (MS)"/>
                          <a:sym typeface="Calibri (MS)"/>
                        </a:rPr>
                        <a:t>Kepadatan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0,1481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0,1440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0,1375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482">
                <a:tc>
                  <a:txBody>
                    <a:bodyPr anchor="t" rtlCol="false"/>
                    <a:lstStyle/>
                    <a:p>
                      <a:pPr algn="l">
                        <a:lnSpc>
                          <a:spcPts val="1800"/>
                        </a:lnSpc>
                        <a:defRPr/>
                      </a:pPr>
                      <a:r>
                        <a:rPr lang="en-US" sz="1500">
                          <a:solidFill>
                            <a:srgbClr val="14313B"/>
                          </a:solidFill>
                          <a:latin typeface="Calibri (MS)"/>
                          <a:ea typeface="Calibri (MS)"/>
                          <a:cs typeface="Calibri (MS)"/>
                          <a:sym typeface="Calibri (MS)"/>
                        </a:rPr>
                        <a:t>Daya dukung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0,1859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0,1869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0,1857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482">
                <a:tc>
                  <a:txBody>
                    <a:bodyPr anchor="t" rtlCol="false"/>
                    <a:lstStyle/>
                    <a:p>
                      <a:pPr algn="l">
                        <a:lnSpc>
                          <a:spcPts val="1800"/>
                        </a:lnSpc>
                        <a:defRPr/>
                      </a:pPr>
                      <a:r>
                        <a:rPr lang="en-US" sz="1500" b="true">
                          <a:solidFill>
                            <a:srgbClr val="14313B"/>
                          </a:solidFill>
                          <a:latin typeface="Calibri (MS) Bold"/>
                          <a:ea typeface="Calibri (MS) Bold"/>
                          <a:cs typeface="Calibri (MS) Bold"/>
                          <a:sym typeface="Calibri (MS) Bold"/>
                        </a:rPr>
                        <a:t>Total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b="true">
                          <a:solidFill>
                            <a:srgbClr val="14313B"/>
                          </a:solidFill>
                          <a:latin typeface="Calibri (MS) Bold"/>
                          <a:ea typeface="Calibri (MS) Bold"/>
                          <a:cs typeface="Calibri (MS) Bold"/>
                          <a:sym typeface="Calibri (MS) Bold"/>
                        </a:rPr>
                        <a:t>0,8132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b="true">
                          <a:solidFill>
                            <a:srgbClr val="14313B"/>
                          </a:solidFill>
                          <a:latin typeface="Calibri (MS) Bold"/>
                          <a:ea typeface="Calibri (MS) Bold"/>
                          <a:cs typeface="Calibri (MS) Bold"/>
                          <a:sym typeface="Calibri (MS) Bold"/>
                        </a:rPr>
                        <a:t>0,8205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b="true">
                          <a:solidFill>
                            <a:srgbClr val="0B5E6E"/>
                          </a:solidFill>
                          <a:latin typeface="Calibri (MS) Bold"/>
                          <a:ea typeface="Calibri (MS) Bold"/>
                          <a:cs typeface="Calibri (MS) Bold"/>
                          <a:sym typeface="Calibri (MS) Bold"/>
                        </a:rPr>
                        <a:t>0,8322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r>
            </a:tbl>
          </a:graphicData>
        </a:graphic>
      </p:graphicFrame>
      <p:grpSp>
        <p:nvGrpSpPr>
          <p:cNvPr name="Group 73" id="73"/>
          <p:cNvGrpSpPr/>
          <p:nvPr/>
        </p:nvGrpSpPr>
        <p:grpSpPr>
          <a:xfrm rot="0">
            <a:off x="11384280" y="2395728"/>
            <a:ext cx="6071616" cy="1783080"/>
            <a:chOff x="0" y="0"/>
            <a:chExt cx="8095488" cy="2377440"/>
          </a:xfrm>
        </p:grpSpPr>
        <p:sp>
          <p:nvSpPr>
            <p:cNvPr name="Freeform 74" id="74"/>
            <p:cNvSpPr/>
            <p:nvPr/>
          </p:nvSpPr>
          <p:spPr>
            <a:xfrm flipH="false" flipV="false" rot="0">
              <a:off x="0" y="0"/>
              <a:ext cx="8095488" cy="2377440"/>
            </a:xfrm>
            <a:custGeom>
              <a:avLst/>
              <a:gdLst/>
              <a:ahLst/>
              <a:cxnLst/>
              <a:rect r="r" b="b" t="t" l="l"/>
              <a:pathLst>
                <a:path h="2377440" w="8095488">
                  <a:moveTo>
                    <a:pt x="0" y="170688"/>
                  </a:moveTo>
                  <a:cubicBezTo>
                    <a:pt x="0" y="76454"/>
                    <a:pt x="76454" y="0"/>
                    <a:pt x="170688" y="0"/>
                  </a:cubicBezTo>
                  <a:lnTo>
                    <a:pt x="7924800" y="0"/>
                  </a:lnTo>
                  <a:cubicBezTo>
                    <a:pt x="8019034" y="0"/>
                    <a:pt x="8095488" y="76454"/>
                    <a:pt x="8095488" y="170688"/>
                  </a:cubicBezTo>
                  <a:lnTo>
                    <a:pt x="8095488" y="2206752"/>
                  </a:lnTo>
                  <a:cubicBezTo>
                    <a:pt x="8095488" y="2300986"/>
                    <a:pt x="8019034" y="2377440"/>
                    <a:pt x="7924800" y="2377440"/>
                  </a:cubicBezTo>
                  <a:lnTo>
                    <a:pt x="170688" y="2377440"/>
                  </a:lnTo>
                  <a:cubicBezTo>
                    <a:pt x="76454" y="2377440"/>
                    <a:pt x="0" y="2300986"/>
                    <a:pt x="0" y="2206752"/>
                  </a:cubicBezTo>
                  <a:close/>
                </a:path>
              </a:pathLst>
            </a:custGeom>
            <a:solidFill>
              <a:srgbClr val="EAF8FA"/>
            </a:solidFill>
          </p:spPr>
          <p:txBody>
            <a:bodyPr/>
            <a:p/>
          </p:txBody>
        </p:sp>
      </p:grpSp>
      <p:sp>
        <p:nvSpPr>
          <p:cNvPr name="TextBox 75" id="75"/>
          <p:cNvSpPr txBox="true"/>
          <p:nvPr/>
        </p:nvSpPr>
        <p:spPr>
          <a:xfrm rot="0">
            <a:off x="11658600" y="2331720"/>
            <a:ext cx="5522976" cy="960120"/>
          </a:xfrm>
          <a:prstGeom prst="rect">
            <a:avLst/>
          </a:prstGeom>
        </p:spPr>
        <p:txBody>
          <a:bodyPr anchor="t" rtlCol="false" tIns="0" lIns="0" bIns="0" rIns="0">
            <a:spAutoFit/>
          </a:bodyPr>
          <a:lstStyle/>
          <a:p>
            <a:pPr algn="l">
              <a:lnSpc>
                <a:spcPts val="4838"/>
              </a:lnSpc>
            </a:pPr>
            <a:r>
              <a:rPr lang="en-US" sz="3600" b="true">
                <a:solidFill>
                  <a:srgbClr val="0B5E6E"/>
                </a:solidFill>
                <a:latin typeface="Calibri (MS) Bold"/>
                <a:ea typeface="Calibri (MS) Bold"/>
                <a:cs typeface="Calibri (MS) Bold"/>
                <a:sym typeface="Calibri (MS) Bold"/>
              </a:rPr>
              <a:t>+0,0297</a:t>
            </a:r>
          </a:p>
        </p:txBody>
      </p:sp>
      <p:sp>
        <p:nvSpPr>
          <p:cNvPr name="TextBox 76" id="76"/>
          <p:cNvSpPr txBox="true"/>
          <p:nvPr/>
        </p:nvSpPr>
        <p:spPr>
          <a:xfrm rot="0">
            <a:off x="11658600" y="3036570"/>
            <a:ext cx="5522976" cy="963930"/>
          </a:xfrm>
          <a:prstGeom prst="rect">
            <a:avLst/>
          </a:prstGeom>
        </p:spPr>
        <p:txBody>
          <a:bodyPr anchor="t" rtlCol="false" tIns="0" lIns="0" bIns="0" rIns="0">
            <a:spAutoFit/>
          </a:bodyPr>
          <a:lstStyle/>
          <a:p>
            <a:pPr algn="l">
              <a:lnSpc>
                <a:spcPts val="2149"/>
              </a:lnSpc>
            </a:pPr>
            <a:r>
              <a:rPr lang="en-US" sz="1599">
                <a:solidFill>
                  <a:srgbClr val="5E6E78"/>
                </a:solidFill>
                <a:latin typeface="Calibri (MS)"/>
                <a:ea typeface="Calibri (MS)"/>
                <a:cs typeface="Calibri (MS)"/>
                <a:sym typeface="Calibri (MS)"/>
              </a:rPr>
              <a:t>komponen ODTW: Development Priority dibanding BAU</a:t>
            </a:r>
          </a:p>
        </p:txBody>
      </p:sp>
      <p:grpSp>
        <p:nvGrpSpPr>
          <p:cNvPr name="Group 77" id="77"/>
          <p:cNvGrpSpPr/>
          <p:nvPr/>
        </p:nvGrpSpPr>
        <p:grpSpPr>
          <a:xfrm rot="0">
            <a:off x="11384280" y="4315968"/>
            <a:ext cx="6071616" cy="1783080"/>
            <a:chOff x="0" y="0"/>
            <a:chExt cx="8095488" cy="2377440"/>
          </a:xfrm>
        </p:grpSpPr>
        <p:sp>
          <p:nvSpPr>
            <p:cNvPr name="Freeform 78" id="78"/>
            <p:cNvSpPr/>
            <p:nvPr/>
          </p:nvSpPr>
          <p:spPr>
            <a:xfrm flipH="false" flipV="false" rot="0">
              <a:off x="0" y="0"/>
              <a:ext cx="8095488" cy="2377440"/>
            </a:xfrm>
            <a:custGeom>
              <a:avLst/>
              <a:gdLst/>
              <a:ahLst/>
              <a:cxnLst/>
              <a:rect r="r" b="b" t="t" l="l"/>
              <a:pathLst>
                <a:path h="2377440" w="8095488">
                  <a:moveTo>
                    <a:pt x="0" y="170688"/>
                  </a:moveTo>
                  <a:cubicBezTo>
                    <a:pt x="0" y="76454"/>
                    <a:pt x="76454" y="0"/>
                    <a:pt x="170688" y="0"/>
                  </a:cubicBezTo>
                  <a:lnTo>
                    <a:pt x="7924800" y="0"/>
                  </a:lnTo>
                  <a:cubicBezTo>
                    <a:pt x="8019034" y="0"/>
                    <a:pt x="8095488" y="76454"/>
                    <a:pt x="8095488" y="170688"/>
                  </a:cubicBezTo>
                  <a:lnTo>
                    <a:pt x="8095488" y="2206752"/>
                  </a:lnTo>
                  <a:cubicBezTo>
                    <a:pt x="8095488" y="2300986"/>
                    <a:pt x="8019034" y="2377440"/>
                    <a:pt x="7924800" y="2377440"/>
                  </a:cubicBezTo>
                  <a:lnTo>
                    <a:pt x="170688" y="2377440"/>
                  </a:lnTo>
                  <a:cubicBezTo>
                    <a:pt x="76454" y="2377440"/>
                    <a:pt x="0" y="2300986"/>
                    <a:pt x="0" y="2206752"/>
                  </a:cubicBezTo>
                  <a:close/>
                </a:path>
              </a:pathLst>
            </a:custGeom>
            <a:solidFill>
              <a:srgbClr val="EAF8FA"/>
            </a:solidFill>
          </p:spPr>
          <p:txBody>
            <a:bodyPr/>
            <a:p/>
          </p:txBody>
        </p:sp>
      </p:grpSp>
      <p:sp>
        <p:nvSpPr>
          <p:cNvPr name="TextBox 79" id="79"/>
          <p:cNvSpPr txBox="true"/>
          <p:nvPr/>
        </p:nvSpPr>
        <p:spPr>
          <a:xfrm rot="0">
            <a:off x="11658600" y="4251960"/>
            <a:ext cx="5522976" cy="960120"/>
          </a:xfrm>
          <a:prstGeom prst="rect">
            <a:avLst/>
          </a:prstGeom>
        </p:spPr>
        <p:txBody>
          <a:bodyPr anchor="t" rtlCol="false" tIns="0" lIns="0" bIns="0" rIns="0">
            <a:spAutoFit/>
          </a:bodyPr>
          <a:lstStyle/>
          <a:p>
            <a:pPr algn="l">
              <a:lnSpc>
                <a:spcPts val="4838"/>
              </a:lnSpc>
            </a:pPr>
            <a:r>
              <a:rPr lang="en-US" sz="3600" b="true">
                <a:solidFill>
                  <a:srgbClr val="0B5E6E"/>
                </a:solidFill>
                <a:latin typeface="Calibri (MS) Bold"/>
                <a:ea typeface="Calibri (MS) Bold"/>
                <a:cs typeface="Calibri (MS) Bold"/>
                <a:sym typeface="Calibri (MS) Bold"/>
              </a:rPr>
              <a:t>−0,0106</a:t>
            </a:r>
          </a:p>
        </p:txBody>
      </p:sp>
      <p:sp>
        <p:nvSpPr>
          <p:cNvPr name="TextBox 80" id="80"/>
          <p:cNvSpPr txBox="true"/>
          <p:nvPr/>
        </p:nvSpPr>
        <p:spPr>
          <a:xfrm rot="0">
            <a:off x="11658600" y="4956810"/>
            <a:ext cx="5522976" cy="963930"/>
          </a:xfrm>
          <a:prstGeom prst="rect">
            <a:avLst/>
          </a:prstGeom>
        </p:spPr>
        <p:txBody>
          <a:bodyPr anchor="t" rtlCol="false" tIns="0" lIns="0" bIns="0" rIns="0">
            <a:spAutoFit/>
          </a:bodyPr>
          <a:lstStyle/>
          <a:p>
            <a:pPr algn="l">
              <a:lnSpc>
                <a:spcPts val="2149"/>
              </a:lnSpc>
            </a:pPr>
            <a:r>
              <a:rPr lang="en-US" sz="1599">
                <a:solidFill>
                  <a:srgbClr val="5E6E78"/>
                </a:solidFill>
                <a:latin typeface="Calibri (MS)"/>
                <a:ea typeface="Calibri (MS)"/>
                <a:cs typeface="Calibri (MS)"/>
                <a:sym typeface="Calibri (MS)"/>
              </a:rPr>
              <a:t>komponen kepadatan: Development Priority dibanding BAU</a:t>
            </a:r>
          </a:p>
        </p:txBody>
      </p:sp>
      <p:grpSp>
        <p:nvGrpSpPr>
          <p:cNvPr name="Group 81" id="81"/>
          <p:cNvGrpSpPr/>
          <p:nvPr/>
        </p:nvGrpSpPr>
        <p:grpSpPr>
          <a:xfrm rot="0">
            <a:off x="11384280" y="6236208"/>
            <a:ext cx="6071616" cy="1783080"/>
            <a:chOff x="0" y="0"/>
            <a:chExt cx="8095488" cy="2377440"/>
          </a:xfrm>
        </p:grpSpPr>
        <p:sp>
          <p:nvSpPr>
            <p:cNvPr name="Freeform 82" id="82"/>
            <p:cNvSpPr/>
            <p:nvPr/>
          </p:nvSpPr>
          <p:spPr>
            <a:xfrm flipH="false" flipV="false" rot="0">
              <a:off x="0" y="0"/>
              <a:ext cx="8095488" cy="2377440"/>
            </a:xfrm>
            <a:custGeom>
              <a:avLst/>
              <a:gdLst/>
              <a:ahLst/>
              <a:cxnLst/>
              <a:rect r="r" b="b" t="t" l="l"/>
              <a:pathLst>
                <a:path h="2377440" w="8095488">
                  <a:moveTo>
                    <a:pt x="0" y="170688"/>
                  </a:moveTo>
                  <a:cubicBezTo>
                    <a:pt x="0" y="76454"/>
                    <a:pt x="76454" y="0"/>
                    <a:pt x="170688" y="0"/>
                  </a:cubicBezTo>
                  <a:lnTo>
                    <a:pt x="7924800" y="0"/>
                  </a:lnTo>
                  <a:cubicBezTo>
                    <a:pt x="8019034" y="0"/>
                    <a:pt x="8095488" y="76454"/>
                    <a:pt x="8095488" y="170688"/>
                  </a:cubicBezTo>
                  <a:lnTo>
                    <a:pt x="8095488" y="2206752"/>
                  </a:lnTo>
                  <a:cubicBezTo>
                    <a:pt x="8095488" y="2300986"/>
                    <a:pt x="8019034" y="2377440"/>
                    <a:pt x="7924800" y="2377440"/>
                  </a:cubicBezTo>
                  <a:lnTo>
                    <a:pt x="170688" y="2377440"/>
                  </a:lnTo>
                  <a:cubicBezTo>
                    <a:pt x="76454" y="2377440"/>
                    <a:pt x="0" y="2300986"/>
                    <a:pt x="0" y="2206752"/>
                  </a:cubicBezTo>
                  <a:close/>
                </a:path>
              </a:pathLst>
            </a:custGeom>
            <a:solidFill>
              <a:srgbClr val="EAF8FA"/>
            </a:solidFill>
          </p:spPr>
          <p:txBody>
            <a:bodyPr/>
            <a:p/>
          </p:txBody>
        </p:sp>
      </p:grpSp>
      <p:sp>
        <p:nvSpPr>
          <p:cNvPr name="TextBox 83" id="83"/>
          <p:cNvSpPr txBox="true"/>
          <p:nvPr/>
        </p:nvSpPr>
        <p:spPr>
          <a:xfrm rot="0">
            <a:off x="11658600" y="6172200"/>
            <a:ext cx="5522976" cy="960120"/>
          </a:xfrm>
          <a:prstGeom prst="rect">
            <a:avLst/>
          </a:prstGeom>
        </p:spPr>
        <p:txBody>
          <a:bodyPr anchor="t" rtlCol="false" tIns="0" lIns="0" bIns="0" rIns="0">
            <a:spAutoFit/>
          </a:bodyPr>
          <a:lstStyle/>
          <a:p>
            <a:pPr algn="l">
              <a:lnSpc>
                <a:spcPts val="4838"/>
              </a:lnSpc>
            </a:pPr>
            <a:r>
              <a:rPr lang="en-US" sz="3600" b="true">
                <a:solidFill>
                  <a:srgbClr val="0B5E6E"/>
                </a:solidFill>
                <a:latin typeface="Calibri (MS) Bold"/>
                <a:ea typeface="Calibri (MS) Bold"/>
                <a:cs typeface="Calibri (MS) Bold"/>
                <a:sym typeface="Calibri (MS) Bold"/>
              </a:rPr>
              <a:t>−0,0002</a:t>
            </a:r>
          </a:p>
        </p:txBody>
      </p:sp>
      <p:sp>
        <p:nvSpPr>
          <p:cNvPr name="TextBox 84" id="84"/>
          <p:cNvSpPr txBox="true"/>
          <p:nvPr/>
        </p:nvSpPr>
        <p:spPr>
          <a:xfrm rot="0">
            <a:off x="11658600" y="6877050"/>
            <a:ext cx="5522976" cy="963930"/>
          </a:xfrm>
          <a:prstGeom prst="rect">
            <a:avLst/>
          </a:prstGeom>
        </p:spPr>
        <p:txBody>
          <a:bodyPr anchor="t" rtlCol="false" tIns="0" lIns="0" bIns="0" rIns="0">
            <a:spAutoFit/>
          </a:bodyPr>
          <a:lstStyle/>
          <a:p>
            <a:pPr algn="l">
              <a:lnSpc>
                <a:spcPts val="2149"/>
              </a:lnSpc>
            </a:pPr>
            <a:r>
              <a:rPr lang="en-US" sz="1599">
                <a:solidFill>
                  <a:srgbClr val="5E6E78"/>
                </a:solidFill>
                <a:latin typeface="Calibri (MS)"/>
                <a:ea typeface="Calibri (MS)"/>
                <a:cs typeface="Calibri (MS)"/>
                <a:sym typeface="Calibri (MS)"/>
              </a:rPr>
              <a:t>komponen daya dukung lahan: Development Priority dibanding BAU</a:t>
            </a:r>
          </a:p>
        </p:txBody>
      </p:sp>
      <p:grpSp>
        <p:nvGrpSpPr>
          <p:cNvPr name="Group 85" id="85"/>
          <p:cNvGrpSpPr/>
          <p:nvPr/>
        </p:nvGrpSpPr>
        <p:grpSpPr>
          <a:xfrm rot="0">
            <a:off x="822960" y="8229600"/>
            <a:ext cx="16642080" cy="987552"/>
            <a:chOff x="0" y="0"/>
            <a:chExt cx="22189440" cy="1316736"/>
          </a:xfrm>
        </p:grpSpPr>
        <p:sp>
          <p:nvSpPr>
            <p:cNvPr name="Freeform 86" id="86"/>
            <p:cNvSpPr/>
            <p:nvPr/>
          </p:nvSpPr>
          <p:spPr>
            <a:xfrm flipH="false" flipV="false" rot="0">
              <a:off x="0" y="0"/>
              <a:ext cx="22189439" cy="1316736"/>
            </a:xfrm>
            <a:custGeom>
              <a:avLst/>
              <a:gdLst/>
              <a:ahLst/>
              <a:cxnLst/>
              <a:rect r="r" b="b" t="t" l="l"/>
              <a:pathLst>
                <a:path h="1316736" w="22189439">
                  <a:moveTo>
                    <a:pt x="0" y="170688"/>
                  </a:moveTo>
                  <a:cubicBezTo>
                    <a:pt x="0" y="76454"/>
                    <a:pt x="76454" y="0"/>
                    <a:pt x="170688" y="0"/>
                  </a:cubicBezTo>
                  <a:lnTo>
                    <a:pt x="22018752" y="0"/>
                  </a:lnTo>
                  <a:cubicBezTo>
                    <a:pt x="22112987" y="0"/>
                    <a:pt x="22189439" y="76454"/>
                    <a:pt x="22189439" y="170688"/>
                  </a:cubicBezTo>
                  <a:lnTo>
                    <a:pt x="22189439" y="1146048"/>
                  </a:lnTo>
                  <a:cubicBezTo>
                    <a:pt x="22189439" y="1240282"/>
                    <a:pt x="22112987" y="1316736"/>
                    <a:pt x="22018752" y="1316736"/>
                  </a:cubicBezTo>
                  <a:lnTo>
                    <a:pt x="170688" y="1316736"/>
                  </a:lnTo>
                  <a:cubicBezTo>
                    <a:pt x="76454" y="1316736"/>
                    <a:pt x="0" y="1240282"/>
                    <a:pt x="0" y="1146048"/>
                  </a:cubicBezTo>
                  <a:close/>
                </a:path>
              </a:pathLst>
            </a:custGeom>
            <a:solidFill>
              <a:srgbClr val="FFF1BF"/>
            </a:solidFill>
          </p:spPr>
          <p:txBody>
            <a:bodyPr/>
            <a:p/>
          </p:txBody>
        </p:sp>
      </p:grpSp>
      <p:grpSp>
        <p:nvGrpSpPr>
          <p:cNvPr name="Group 87" id="87"/>
          <p:cNvGrpSpPr/>
          <p:nvPr/>
        </p:nvGrpSpPr>
        <p:grpSpPr>
          <a:xfrm rot="0">
            <a:off x="1143000" y="8229600"/>
            <a:ext cx="16002000" cy="987552"/>
            <a:chOff x="0" y="0"/>
            <a:chExt cx="21336000" cy="1316736"/>
          </a:xfrm>
        </p:grpSpPr>
        <p:sp>
          <p:nvSpPr>
            <p:cNvPr name="Freeform 88" id="88"/>
            <p:cNvSpPr/>
            <p:nvPr/>
          </p:nvSpPr>
          <p:spPr>
            <a:xfrm flipH="false" flipV="false" rot="0">
              <a:off x="0" y="0"/>
              <a:ext cx="21336000" cy="1316736"/>
            </a:xfrm>
            <a:custGeom>
              <a:avLst/>
              <a:gdLst/>
              <a:ahLst/>
              <a:cxnLst/>
              <a:rect r="r" b="b" t="t" l="l"/>
              <a:pathLst>
                <a:path h="1316736" w="21336000">
                  <a:moveTo>
                    <a:pt x="0" y="0"/>
                  </a:moveTo>
                  <a:lnTo>
                    <a:pt x="21336000" y="0"/>
                  </a:lnTo>
                  <a:lnTo>
                    <a:pt x="21336000" y="1316736"/>
                  </a:lnTo>
                  <a:lnTo>
                    <a:pt x="0" y="1316736"/>
                  </a:lnTo>
                  <a:close/>
                </a:path>
              </a:pathLst>
            </a:custGeom>
            <a:blipFill>
              <a:blip r:embed="rId5">
                <a:alphaModFix amt="0"/>
              </a:blip>
              <a:stretch>
                <a:fillRect l="0" t="-265510" r="0" b="-265510"/>
              </a:stretch>
            </a:blipFill>
          </p:spPr>
          <p:txBody>
            <a:bodyPr/>
            <a:p/>
          </p:txBody>
        </p:sp>
      </p:grpSp>
      <p:grpSp>
        <p:nvGrpSpPr>
          <p:cNvPr name="Group 89" id="89"/>
          <p:cNvGrpSpPr/>
          <p:nvPr/>
        </p:nvGrpSpPr>
        <p:grpSpPr>
          <a:xfrm rot="0">
            <a:off x="1143000" y="8193881"/>
            <a:ext cx="16002000" cy="1023271"/>
            <a:chOff x="0" y="0"/>
            <a:chExt cx="21336000" cy="1364361"/>
          </a:xfrm>
        </p:grpSpPr>
        <p:sp>
          <p:nvSpPr>
            <p:cNvPr name="Freeform 90" id="90"/>
            <p:cNvSpPr/>
            <p:nvPr/>
          </p:nvSpPr>
          <p:spPr>
            <a:xfrm flipH="false" flipV="false" rot="0">
              <a:off x="0" y="0"/>
              <a:ext cx="21336000" cy="1364361"/>
            </a:xfrm>
            <a:custGeom>
              <a:avLst/>
              <a:gdLst/>
              <a:ahLst/>
              <a:cxnLst/>
              <a:rect r="r" b="b" t="t" l="l"/>
              <a:pathLst>
                <a:path h="1364361" w="21336000">
                  <a:moveTo>
                    <a:pt x="0" y="0"/>
                  </a:moveTo>
                  <a:lnTo>
                    <a:pt x="21336000" y="0"/>
                  </a:lnTo>
                  <a:lnTo>
                    <a:pt x="21336000" y="1364361"/>
                  </a:lnTo>
                  <a:lnTo>
                    <a:pt x="0" y="1364361"/>
                  </a:lnTo>
                  <a:close/>
                </a:path>
              </a:pathLst>
            </a:custGeom>
            <a:blipFill>
              <a:blip r:embed="rId6">
                <a:alphaModFix amt="0"/>
              </a:blip>
              <a:stretch>
                <a:fillRect l="0" t="-254708" r="0" b="-254708"/>
              </a:stretch>
            </a:blipFill>
          </p:spPr>
          <p:txBody>
            <a:bodyPr/>
            <a:p/>
          </p:txBody>
        </p:sp>
        <p:sp>
          <p:nvSpPr>
            <p:cNvPr name="TextBox 91" id="91"/>
            <p:cNvSpPr txBox="true"/>
            <p:nvPr/>
          </p:nvSpPr>
          <p:spPr>
            <a:xfrm>
              <a:off x="0" y="-47625"/>
              <a:ext cx="21336000" cy="1411986"/>
            </a:xfrm>
            <a:prstGeom prst="rect">
              <a:avLst/>
            </a:prstGeom>
          </p:spPr>
          <p:txBody>
            <a:bodyPr anchor="ctr" rtlCol="false" tIns="0" lIns="0" bIns="0" rIns="0"/>
            <a:lstStyle/>
            <a:p>
              <a:pPr algn="l">
                <a:lnSpc>
                  <a:spcPts val="2149"/>
                </a:lnSpc>
              </a:pPr>
              <a:r>
                <a:rPr lang="en-US" sz="1599">
                  <a:solidFill>
                    <a:srgbClr val="14313B"/>
                  </a:solidFill>
                  <a:latin typeface="Calibri (MS)"/>
                  <a:ea typeface="Calibri (MS)"/>
                  <a:cs typeface="Calibri (MS)"/>
                  <a:sym typeface="Calibri (MS)"/>
                </a:rPr>
                <a:t>RDDL ≈ 0,614, jauh di atas batas 0,331 → sampai 2050 daya dukung lahan belum menahan pertumbuhan; pertambahan atraksi lebih menentukan daya tarik daripada tekanan lahan.</a:t>
              </a:r>
            </a:p>
          </p:txBody>
        </p:sp>
      </p:grpSp>
      <p:grpSp>
        <p:nvGrpSpPr>
          <p:cNvPr name="Group 92" id="92"/>
          <p:cNvGrpSpPr/>
          <p:nvPr/>
        </p:nvGrpSpPr>
        <p:grpSpPr>
          <a:xfrm rot="0">
            <a:off x="12755880" y="274320"/>
            <a:ext cx="3931920" cy="411480"/>
            <a:chOff x="0" y="0"/>
            <a:chExt cx="5242560" cy="548640"/>
          </a:xfrm>
        </p:grpSpPr>
        <p:sp>
          <p:nvSpPr>
            <p:cNvPr name="Freeform 93" id="93"/>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94" id="94"/>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2G · Skenario kebijakan</a:t>
              </a:r>
            </a:p>
          </p:txBody>
        </p:sp>
      </p:grpSp>
      <p:grpSp>
        <p:nvGrpSpPr>
          <p:cNvPr name="Group 95" id="95"/>
          <p:cNvGrpSpPr/>
          <p:nvPr/>
        </p:nvGrpSpPr>
        <p:grpSpPr>
          <a:xfrm rot="0">
            <a:off x="16047720" y="9646920"/>
            <a:ext cx="420624" cy="420624"/>
            <a:chOff x="0" y="0"/>
            <a:chExt cx="560832" cy="560832"/>
          </a:xfrm>
        </p:grpSpPr>
        <p:sp>
          <p:nvSpPr>
            <p:cNvPr name="Freeform 96" id="96"/>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97" id="97"/>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Perbandingan Skenario — Batas Kepadatan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Kedua variabel kebijakan hanya menunda waktu terlewatinya batas kepadatan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6" id="66"/>
          <p:cNvGrpSpPr/>
          <p:nvPr/>
        </p:nvGrpSpPr>
        <p:grpSpPr>
          <a:xfrm rot="0">
            <a:off x="822960" y="2545994"/>
            <a:ext cx="10149840" cy="5675090"/>
            <a:chOff x="0" y="0"/>
            <a:chExt cx="13533120" cy="7566787"/>
          </a:xfrm>
        </p:grpSpPr>
        <p:sp>
          <p:nvSpPr>
            <p:cNvPr name="Freeform 67" id="67" descr="Indeks kepadatan wisatawan menurut skenario 2025-2050"/>
            <p:cNvSpPr/>
            <p:nvPr/>
          </p:nvSpPr>
          <p:spPr>
            <a:xfrm flipH="false" flipV="false" rot="0">
              <a:off x="0" y="0"/>
              <a:ext cx="13533120" cy="7566787"/>
            </a:xfrm>
            <a:custGeom>
              <a:avLst/>
              <a:gdLst/>
              <a:ahLst/>
              <a:cxnLst/>
              <a:rect r="r" b="b" t="t" l="l"/>
              <a:pathLst>
                <a:path h="7566787" w="13533120">
                  <a:moveTo>
                    <a:pt x="0" y="0"/>
                  </a:moveTo>
                  <a:lnTo>
                    <a:pt x="13533120" y="0"/>
                  </a:lnTo>
                  <a:lnTo>
                    <a:pt x="13533120" y="7566787"/>
                  </a:lnTo>
                  <a:lnTo>
                    <a:pt x="0" y="7566787"/>
                  </a:lnTo>
                  <a:lnTo>
                    <a:pt x="0" y="0"/>
                  </a:lnTo>
                  <a:close/>
                </a:path>
              </a:pathLst>
            </a:custGeom>
            <a:blipFill>
              <a:blip r:embed="rId7"/>
              <a:stretch>
                <a:fillRect l="0" t="0" r="0" b="0"/>
              </a:stretch>
            </a:blipFill>
          </p:spPr>
          <p:txBody>
            <a:bodyPr/>
            <a:p/>
          </p:txBody>
        </p:sp>
      </p:grpSp>
      <p:sp>
        <p:nvSpPr>
          <p:cNvPr name="TextBox 68" id="68"/>
          <p:cNvSpPr txBox="true"/>
          <p:nvPr/>
        </p:nvSpPr>
        <p:spPr>
          <a:xfrm rot="0">
            <a:off x="822960" y="8389620"/>
            <a:ext cx="10149840" cy="295275"/>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Indeks kepadatan menurut skenario, 2025–2050, dengan garis batas 2,0</a:t>
            </a:r>
          </a:p>
        </p:txBody>
      </p:sp>
      <p:grpSp>
        <p:nvGrpSpPr>
          <p:cNvPr name="Group 69" id="69"/>
          <p:cNvGrpSpPr/>
          <p:nvPr/>
        </p:nvGrpSpPr>
        <p:grpSpPr>
          <a:xfrm rot="0">
            <a:off x="11384280" y="2400300"/>
            <a:ext cx="1892808" cy="2057400"/>
            <a:chOff x="0" y="0"/>
            <a:chExt cx="2523744" cy="2743200"/>
          </a:xfrm>
        </p:grpSpPr>
        <p:sp>
          <p:nvSpPr>
            <p:cNvPr name="Freeform 70" id="70"/>
            <p:cNvSpPr/>
            <p:nvPr/>
          </p:nvSpPr>
          <p:spPr>
            <a:xfrm flipH="false" flipV="false" rot="0">
              <a:off x="0" y="0"/>
              <a:ext cx="2523744" cy="2743200"/>
            </a:xfrm>
            <a:custGeom>
              <a:avLst/>
              <a:gdLst/>
              <a:ahLst/>
              <a:cxnLst/>
              <a:rect r="r" b="b" t="t" l="l"/>
              <a:pathLst>
                <a:path h="2743200" w="2523744">
                  <a:moveTo>
                    <a:pt x="0" y="182880"/>
                  </a:moveTo>
                  <a:cubicBezTo>
                    <a:pt x="0" y="81915"/>
                    <a:pt x="81915" y="0"/>
                    <a:pt x="182880" y="0"/>
                  </a:cubicBezTo>
                  <a:lnTo>
                    <a:pt x="2340864" y="0"/>
                  </a:lnTo>
                  <a:cubicBezTo>
                    <a:pt x="2441829" y="0"/>
                    <a:pt x="2523744" y="81915"/>
                    <a:pt x="2523744" y="182880"/>
                  </a:cubicBezTo>
                  <a:lnTo>
                    <a:pt x="2523744" y="2560320"/>
                  </a:lnTo>
                  <a:cubicBezTo>
                    <a:pt x="2523744" y="2661285"/>
                    <a:pt x="2441829" y="2743200"/>
                    <a:pt x="2340864"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71" id="71"/>
          <p:cNvGrpSpPr/>
          <p:nvPr/>
        </p:nvGrpSpPr>
        <p:grpSpPr>
          <a:xfrm rot="0">
            <a:off x="11384280" y="2537460"/>
            <a:ext cx="1892808" cy="822960"/>
            <a:chOff x="0" y="0"/>
            <a:chExt cx="2523744" cy="1097280"/>
          </a:xfrm>
        </p:grpSpPr>
        <p:sp>
          <p:nvSpPr>
            <p:cNvPr name="Freeform 72" id="72"/>
            <p:cNvSpPr/>
            <p:nvPr/>
          </p:nvSpPr>
          <p:spPr>
            <a:xfrm flipH="false" flipV="false" rot="0">
              <a:off x="0" y="0"/>
              <a:ext cx="2523744" cy="1097280"/>
            </a:xfrm>
            <a:custGeom>
              <a:avLst/>
              <a:gdLst/>
              <a:ahLst/>
              <a:cxnLst/>
              <a:rect r="r" b="b" t="t" l="l"/>
              <a:pathLst>
                <a:path h="1097280" w="2523744">
                  <a:moveTo>
                    <a:pt x="0" y="0"/>
                  </a:moveTo>
                  <a:lnTo>
                    <a:pt x="2523744" y="0"/>
                  </a:lnTo>
                  <a:lnTo>
                    <a:pt x="2523744" y="1097280"/>
                  </a:lnTo>
                  <a:lnTo>
                    <a:pt x="0" y="1097280"/>
                  </a:lnTo>
                  <a:close/>
                </a:path>
              </a:pathLst>
            </a:custGeom>
            <a:blipFill>
              <a:blip r:embed="rId4">
                <a:alphaModFix amt="0"/>
              </a:blip>
              <a:stretch>
                <a:fillRect l="-5822" t="0" r="-5823" b="0"/>
              </a:stretch>
            </a:blipFill>
          </p:spPr>
          <p:txBody>
            <a:bodyPr/>
            <a:p/>
          </p:txBody>
        </p:sp>
      </p:grpSp>
      <p:grpSp>
        <p:nvGrpSpPr>
          <p:cNvPr name="Group 73" id="73"/>
          <p:cNvGrpSpPr/>
          <p:nvPr/>
        </p:nvGrpSpPr>
        <p:grpSpPr>
          <a:xfrm rot="0">
            <a:off x="11384280" y="2473166"/>
            <a:ext cx="1892808" cy="887254"/>
            <a:chOff x="0" y="0"/>
            <a:chExt cx="2523744" cy="1183005"/>
          </a:xfrm>
        </p:grpSpPr>
        <p:sp>
          <p:nvSpPr>
            <p:cNvPr name="Freeform 74" id="74"/>
            <p:cNvSpPr/>
            <p:nvPr/>
          </p:nvSpPr>
          <p:spPr>
            <a:xfrm flipH="false" flipV="false" rot="0">
              <a:off x="0" y="0"/>
              <a:ext cx="2523744" cy="1183005"/>
            </a:xfrm>
            <a:custGeom>
              <a:avLst/>
              <a:gdLst/>
              <a:ahLst/>
              <a:cxnLst/>
              <a:rect r="r" b="b" t="t" l="l"/>
              <a:pathLst>
                <a:path h="1183005" w="2523744">
                  <a:moveTo>
                    <a:pt x="0" y="0"/>
                  </a:moveTo>
                  <a:lnTo>
                    <a:pt x="2523744" y="0"/>
                  </a:lnTo>
                  <a:lnTo>
                    <a:pt x="2523744" y="1183005"/>
                  </a:lnTo>
                  <a:lnTo>
                    <a:pt x="0" y="1183005"/>
                  </a:lnTo>
                  <a:close/>
                </a:path>
              </a:pathLst>
            </a:custGeom>
            <a:blipFill>
              <a:blip r:embed="rId5">
                <a:alphaModFix amt="0"/>
              </a:blip>
              <a:stretch>
                <a:fillRect l="-10184" t="0" r="-10184" b="0"/>
              </a:stretch>
            </a:blipFill>
          </p:spPr>
          <p:txBody>
            <a:bodyPr/>
            <a:p/>
          </p:txBody>
        </p:sp>
      </p:grpSp>
      <p:grpSp>
        <p:nvGrpSpPr>
          <p:cNvPr name="Group 75" id="75"/>
          <p:cNvGrpSpPr/>
          <p:nvPr/>
        </p:nvGrpSpPr>
        <p:grpSpPr>
          <a:xfrm rot="0">
            <a:off x="11384280" y="2408872"/>
            <a:ext cx="1892808" cy="951548"/>
            <a:chOff x="0" y="0"/>
            <a:chExt cx="2523744" cy="1268730"/>
          </a:xfrm>
        </p:grpSpPr>
        <p:sp>
          <p:nvSpPr>
            <p:cNvPr name="Freeform 76" id="76"/>
            <p:cNvSpPr/>
            <p:nvPr/>
          </p:nvSpPr>
          <p:spPr>
            <a:xfrm flipH="false" flipV="false" rot="0">
              <a:off x="0" y="0"/>
              <a:ext cx="2523744" cy="1268730"/>
            </a:xfrm>
            <a:custGeom>
              <a:avLst/>
              <a:gdLst/>
              <a:ahLst/>
              <a:cxnLst/>
              <a:rect r="r" b="b" t="t" l="l"/>
              <a:pathLst>
                <a:path h="1268730" w="2523744">
                  <a:moveTo>
                    <a:pt x="0" y="0"/>
                  </a:moveTo>
                  <a:lnTo>
                    <a:pt x="2523744" y="0"/>
                  </a:lnTo>
                  <a:lnTo>
                    <a:pt x="2523744" y="1268730"/>
                  </a:lnTo>
                  <a:lnTo>
                    <a:pt x="0" y="1268730"/>
                  </a:lnTo>
                  <a:close/>
                </a:path>
              </a:pathLst>
            </a:custGeom>
            <a:blipFill>
              <a:blip r:embed="rId6">
                <a:alphaModFix amt="0"/>
              </a:blip>
              <a:stretch>
                <a:fillRect l="-14500" t="0" r="-14500" b="0"/>
              </a:stretch>
            </a:blipFill>
          </p:spPr>
          <p:txBody>
            <a:bodyPr/>
            <a:p/>
          </p:txBody>
        </p:sp>
        <p:sp>
          <p:nvSpPr>
            <p:cNvPr name="TextBox 77" id="77"/>
            <p:cNvSpPr txBox="true"/>
            <p:nvPr/>
          </p:nvSpPr>
          <p:spPr>
            <a:xfrm>
              <a:off x="0" y="-85725"/>
              <a:ext cx="2523744" cy="1354455"/>
            </a:xfrm>
            <a:prstGeom prst="rect">
              <a:avLst/>
            </a:prstGeom>
          </p:spPr>
          <p:txBody>
            <a:bodyPr anchor="ctr" rtlCol="false" tIns="0" lIns="0" bIns="0" rIns="0"/>
            <a:lstStyle/>
            <a:p>
              <a:pPr algn="ctr">
                <a:lnSpc>
                  <a:spcPts val="5040"/>
                </a:lnSpc>
              </a:pPr>
              <a:r>
                <a:rPr lang="en-US" sz="4200" b="true">
                  <a:solidFill>
                    <a:srgbClr val="0B5E6E"/>
                  </a:solidFill>
                  <a:latin typeface="Calibri (MS) Bold"/>
                  <a:ea typeface="Calibri (MS) Bold"/>
                  <a:cs typeface="Calibri (MS) Bold"/>
                  <a:sym typeface="Calibri (MS) Bold"/>
                </a:rPr>
                <a:t>2041</a:t>
              </a:r>
            </a:p>
          </p:txBody>
        </p:sp>
      </p:grpSp>
      <p:sp>
        <p:nvSpPr>
          <p:cNvPr name="TextBox 78" id="78"/>
          <p:cNvSpPr txBox="true"/>
          <p:nvPr/>
        </p:nvSpPr>
        <p:spPr>
          <a:xfrm rot="0">
            <a:off x="11494008" y="3343275"/>
            <a:ext cx="1673352" cy="1045845"/>
          </a:xfrm>
          <a:prstGeom prst="rect">
            <a:avLst/>
          </a:prstGeom>
        </p:spPr>
        <p:txBody>
          <a:bodyPr anchor="t" rtlCol="false" tIns="0" lIns="0" bIns="0" rIns="0">
            <a:spAutoFit/>
          </a:bodyPr>
          <a:lstStyle/>
          <a:p>
            <a:pPr algn="ctr">
              <a:lnSpc>
                <a:spcPts val="1980"/>
              </a:lnSpc>
            </a:pPr>
            <a:r>
              <a:rPr lang="en-US" sz="1650">
                <a:solidFill>
                  <a:srgbClr val="14313B"/>
                </a:solidFill>
                <a:latin typeface="Calibri (MS)"/>
                <a:ea typeface="Calibri (MS)"/>
                <a:cs typeface="Calibri (MS)"/>
                <a:sym typeface="Calibri (MS)"/>
              </a:rPr>
              <a:t>Development Priority</a:t>
            </a:r>
          </a:p>
        </p:txBody>
      </p:sp>
      <p:grpSp>
        <p:nvGrpSpPr>
          <p:cNvPr name="Group 79" id="79"/>
          <p:cNvGrpSpPr/>
          <p:nvPr/>
        </p:nvGrpSpPr>
        <p:grpSpPr>
          <a:xfrm rot="0">
            <a:off x="13441680" y="2400300"/>
            <a:ext cx="1892808" cy="2057400"/>
            <a:chOff x="0" y="0"/>
            <a:chExt cx="2523744" cy="2743200"/>
          </a:xfrm>
        </p:grpSpPr>
        <p:sp>
          <p:nvSpPr>
            <p:cNvPr name="Freeform 80" id="80"/>
            <p:cNvSpPr/>
            <p:nvPr/>
          </p:nvSpPr>
          <p:spPr>
            <a:xfrm flipH="false" flipV="false" rot="0">
              <a:off x="0" y="0"/>
              <a:ext cx="2523744" cy="2743200"/>
            </a:xfrm>
            <a:custGeom>
              <a:avLst/>
              <a:gdLst/>
              <a:ahLst/>
              <a:cxnLst/>
              <a:rect r="r" b="b" t="t" l="l"/>
              <a:pathLst>
                <a:path h="2743200" w="2523744">
                  <a:moveTo>
                    <a:pt x="0" y="182880"/>
                  </a:moveTo>
                  <a:cubicBezTo>
                    <a:pt x="0" y="81915"/>
                    <a:pt x="81915" y="0"/>
                    <a:pt x="182880" y="0"/>
                  </a:cubicBezTo>
                  <a:lnTo>
                    <a:pt x="2340864" y="0"/>
                  </a:lnTo>
                  <a:cubicBezTo>
                    <a:pt x="2441829" y="0"/>
                    <a:pt x="2523744" y="81915"/>
                    <a:pt x="2523744" y="182880"/>
                  </a:cubicBezTo>
                  <a:lnTo>
                    <a:pt x="2523744" y="2560320"/>
                  </a:lnTo>
                  <a:cubicBezTo>
                    <a:pt x="2523744" y="2661285"/>
                    <a:pt x="2441829" y="2743200"/>
                    <a:pt x="2340864"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81" id="81"/>
          <p:cNvGrpSpPr/>
          <p:nvPr/>
        </p:nvGrpSpPr>
        <p:grpSpPr>
          <a:xfrm rot="0">
            <a:off x="13441680" y="2537460"/>
            <a:ext cx="1892808" cy="822960"/>
            <a:chOff x="0" y="0"/>
            <a:chExt cx="2523744" cy="1097280"/>
          </a:xfrm>
        </p:grpSpPr>
        <p:sp>
          <p:nvSpPr>
            <p:cNvPr name="Freeform 82" id="82"/>
            <p:cNvSpPr/>
            <p:nvPr/>
          </p:nvSpPr>
          <p:spPr>
            <a:xfrm flipH="false" flipV="false" rot="0">
              <a:off x="0" y="0"/>
              <a:ext cx="2523744" cy="1097280"/>
            </a:xfrm>
            <a:custGeom>
              <a:avLst/>
              <a:gdLst/>
              <a:ahLst/>
              <a:cxnLst/>
              <a:rect r="r" b="b" t="t" l="l"/>
              <a:pathLst>
                <a:path h="1097280" w="2523744">
                  <a:moveTo>
                    <a:pt x="0" y="0"/>
                  </a:moveTo>
                  <a:lnTo>
                    <a:pt x="2523744" y="0"/>
                  </a:lnTo>
                  <a:lnTo>
                    <a:pt x="2523744" y="1097280"/>
                  </a:lnTo>
                  <a:lnTo>
                    <a:pt x="0" y="1097280"/>
                  </a:lnTo>
                  <a:close/>
                </a:path>
              </a:pathLst>
            </a:custGeom>
            <a:blipFill>
              <a:blip r:embed="rId4">
                <a:alphaModFix amt="0"/>
              </a:blip>
              <a:stretch>
                <a:fillRect l="-5822" t="0" r="-5823" b="0"/>
              </a:stretch>
            </a:blipFill>
          </p:spPr>
          <p:txBody>
            <a:bodyPr/>
            <a:p/>
          </p:txBody>
        </p:sp>
      </p:grpSp>
      <p:grpSp>
        <p:nvGrpSpPr>
          <p:cNvPr name="Group 83" id="83"/>
          <p:cNvGrpSpPr/>
          <p:nvPr/>
        </p:nvGrpSpPr>
        <p:grpSpPr>
          <a:xfrm rot="0">
            <a:off x="13441680" y="2473166"/>
            <a:ext cx="1892808" cy="887254"/>
            <a:chOff x="0" y="0"/>
            <a:chExt cx="2523744" cy="1183005"/>
          </a:xfrm>
        </p:grpSpPr>
        <p:sp>
          <p:nvSpPr>
            <p:cNvPr name="Freeform 84" id="84"/>
            <p:cNvSpPr/>
            <p:nvPr/>
          </p:nvSpPr>
          <p:spPr>
            <a:xfrm flipH="false" flipV="false" rot="0">
              <a:off x="0" y="0"/>
              <a:ext cx="2523744" cy="1183005"/>
            </a:xfrm>
            <a:custGeom>
              <a:avLst/>
              <a:gdLst/>
              <a:ahLst/>
              <a:cxnLst/>
              <a:rect r="r" b="b" t="t" l="l"/>
              <a:pathLst>
                <a:path h="1183005" w="2523744">
                  <a:moveTo>
                    <a:pt x="0" y="0"/>
                  </a:moveTo>
                  <a:lnTo>
                    <a:pt x="2523744" y="0"/>
                  </a:lnTo>
                  <a:lnTo>
                    <a:pt x="2523744" y="1183005"/>
                  </a:lnTo>
                  <a:lnTo>
                    <a:pt x="0" y="1183005"/>
                  </a:lnTo>
                  <a:close/>
                </a:path>
              </a:pathLst>
            </a:custGeom>
            <a:blipFill>
              <a:blip r:embed="rId5">
                <a:alphaModFix amt="0"/>
              </a:blip>
              <a:stretch>
                <a:fillRect l="-10184" t="0" r="-10184" b="0"/>
              </a:stretch>
            </a:blipFill>
          </p:spPr>
          <p:txBody>
            <a:bodyPr/>
            <a:p/>
          </p:txBody>
        </p:sp>
      </p:grpSp>
      <p:grpSp>
        <p:nvGrpSpPr>
          <p:cNvPr name="Group 85" id="85"/>
          <p:cNvGrpSpPr/>
          <p:nvPr/>
        </p:nvGrpSpPr>
        <p:grpSpPr>
          <a:xfrm rot="0">
            <a:off x="13441680" y="2408872"/>
            <a:ext cx="1892808" cy="951548"/>
            <a:chOff x="0" y="0"/>
            <a:chExt cx="2523744" cy="1268730"/>
          </a:xfrm>
        </p:grpSpPr>
        <p:sp>
          <p:nvSpPr>
            <p:cNvPr name="Freeform 86" id="86"/>
            <p:cNvSpPr/>
            <p:nvPr/>
          </p:nvSpPr>
          <p:spPr>
            <a:xfrm flipH="false" flipV="false" rot="0">
              <a:off x="0" y="0"/>
              <a:ext cx="2523744" cy="1268730"/>
            </a:xfrm>
            <a:custGeom>
              <a:avLst/>
              <a:gdLst/>
              <a:ahLst/>
              <a:cxnLst/>
              <a:rect r="r" b="b" t="t" l="l"/>
              <a:pathLst>
                <a:path h="1268730" w="2523744">
                  <a:moveTo>
                    <a:pt x="0" y="0"/>
                  </a:moveTo>
                  <a:lnTo>
                    <a:pt x="2523744" y="0"/>
                  </a:lnTo>
                  <a:lnTo>
                    <a:pt x="2523744" y="1268730"/>
                  </a:lnTo>
                  <a:lnTo>
                    <a:pt x="0" y="1268730"/>
                  </a:lnTo>
                  <a:close/>
                </a:path>
              </a:pathLst>
            </a:custGeom>
            <a:blipFill>
              <a:blip r:embed="rId6">
                <a:alphaModFix amt="0"/>
              </a:blip>
              <a:stretch>
                <a:fillRect l="-14500" t="0" r="-14500" b="0"/>
              </a:stretch>
            </a:blipFill>
          </p:spPr>
          <p:txBody>
            <a:bodyPr/>
            <a:p/>
          </p:txBody>
        </p:sp>
        <p:sp>
          <p:nvSpPr>
            <p:cNvPr name="TextBox 87" id="87"/>
            <p:cNvSpPr txBox="true"/>
            <p:nvPr/>
          </p:nvSpPr>
          <p:spPr>
            <a:xfrm>
              <a:off x="0" y="-85725"/>
              <a:ext cx="2523744" cy="1354455"/>
            </a:xfrm>
            <a:prstGeom prst="rect">
              <a:avLst/>
            </a:prstGeom>
          </p:spPr>
          <p:txBody>
            <a:bodyPr anchor="ctr" rtlCol="false" tIns="0" lIns="0" bIns="0" rIns="0"/>
            <a:lstStyle/>
            <a:p>
              <a:pPr algn="ctr">
                <a:lnSpc>
                  <a:spcPts val="5040"/>
                </a:lnSpc>
              </a:pPr>
              <a:r>
                <a:rPr lang="en-US" sz="4200" b="true">
                  <a:solidFill>
                    <a:srgbClr val="0B5E6E"/>
                  </a:solidFill>
                  <a:latin typeface="Calibri (MS) Bold"/>
                  <a:ea typeface="Calibri (MS) Bold"/>
                  <a:cs typeface="Calibri (MS) Bold"/>
                  <a:sym typeface="Calibri (MS) Bold"/>
                </a:rPr>
                <a:t>2042</a:t>
              </a:r>
            </a:p>
          </p:txBody>
        </p:sp>
      </p:grpSp>
      <p:sp>
        <p:nvSpPr>
          <p:cNvPr name="TextBox 88" id="88"/>
          <p:cNvSpPr txBox="true"/>
          <p:nvPr/>
        </p:nvSpPr>
        <p:spPr>
          <a:xfrm rot="0">
            <a:off x="13551408" y="3343275"/>
            <a:ext cx="1673352" cy="1045845"/>
          </a:xfrm>
          <a:prstGeom prst="rect">
            <a:avLst/>
          </a:prstGeom>
        </p:spPr>
        <p:txBody>
          <a:bodyPr anchor="t" rtlCol="false" tIns="0" lIns="0" bIns="0" rIns="0">
            <a:spAutoFit/>
          </a:bodyPr>
          <a:lstStyle/>
          <a:p>
            <a:pPr algn="ctr">
              <a:lnSpc>
                <a:spcPts val="1980"/>
              </a:lnSpc>
            </a:pPr>
            <a:r>
              <a:rPr lang="en-US" sz="1650">
                <a:solidFill>
                  <a:srgbClr val="14313B"/>
                </a:solidFill>
                <a:latin typeface="Calibri (MS)"/>
                <a:ea typeface="Calibri (MS)"/>
                <a:cs typeface="Calibri (MS)"/>
                <a:sym typeface="Calibri (MS)"/>
              </a:rPr>
              <a:t>Sustainable</a:t>
            </a:r>
          </a:p>
        </p:txBody>
      </p:sp>
      <p:grpSp>
        <p:nvGrpSpPr>
          <p:cNvPr name="Group 89" id="89"/>
          <p:cNvGrpSpPr/>
          <p:nvPr/>
        </p:nvGrpSpPr>
        <p:grpSpPr>
          <a:xfrm rot="0">
            <a:off x="15499080" y="2400300"/>
            <a:ext cx="1892808" cy="2057400"/>
            <a:chOff x="0" y="0"/>
            <a:chExt cx="2523744" cy="2743200"/>
          </a:xfrm>
        </p:grpSpPr>
        <p:sp>
          <p:nvSpPr>
            <p:cNvPr name="Freeform 90" id="90"/>
            <p:cNvSpPr/>
            <p:nvPr/>
          </p:nvSpPr>
          <p:spPr>
            <a:xfrm flipH="false" flipV="false" rot="0">
              <a:off x="0" y="0"/>
              <a:ext cx="2523744" cy="2743200"/>
            </a:xfrm>
            <a:custGeom>
              <a:avLst/>
              <a:gdLst/>
              <a:ahLst/>
              <a:cxnLst/>
              <a:rect r="r" b="b" t="t" l="l"/>
              <a:pathLst>
                <a:path h="2743200" w="2523744">
                  <a:moveTo>
                    <a:pt x="0" y="182880"/>
                  </a:moveTo>
                  <a:cubicBezTo>
                    <a:pt x="0" y="81915"/>
                    <a:pt x="81915" y="0"/>
                    <a:pt x="182880" y="0"/>
                  </a:cubicBezTo>
                  <a:lnTo>
                    <a:pt x="2340864" y="0"/>
                  </a:lnTo>
                  <a:cubicBezTo>
                    <a:pt x="2441829" y="0"/>
                    <a:pt x="2523744" y="81915"/>
                    <a:pt x="2523744" y="182880"/>
                  </a:cubicBezTo>
                  <a:lnTo>
                    <a:pt x="2523744" y="2560320"/>
                  </a:lnTo>
                  <a:cubicBezTo>
                    <a:pt x="2523744" y="2661285"/>
                    <a:pt x="2441829" y="2743200"/>
                    <a:pt x="2340864"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91" id="91"/>
          <p:cNvGrpSpPr/>
          <p:nvPr/>
        </p:nvGrpSpPr>
        <p:grpSpPr>
          <a:xfrm rot="0">
            <a:off x="15499080" y="2537460"/>
            <a:ext cx="1892808" cy="822960"/>
            <a:chOff x="0" y="0"/>
            <a:chExt cx="2523744" cy="1097280"/>
          </a:xfrm>
        </p:grpSpPr>
        <p:sp>
          <p:nvSpPr>
            <p:cNvPr name="Freeform 92" id="92"/>
            <p:cNvSpPr/>
            <p:nvPr/>
          </p:nvSpPr>
          <p:spPr>
            <a:xfrm flipH="false" flipV="false" rot="0">
              <a:off x="0" y="0"/>
              <a:ext cx="2523744" cy="1097280"/>
            </a:xfrm>
            <a:custGeom>
              <a:avLst/>
              <a:gdLst/>
              <a:ahLst/>
              <a:cxnLst/>
              <a:rect r="r" b="b" t="t" l="l"/>
              <a:pathLst>
                <a:path h="1097280" w="2523744">
                  <a:moveTo>
                    <a:pt x="0" y="0"/>
                  </a:moveTo>
                  <a:lnTo>
                    <a:pt x="2523744" y="0"/>
                  </a:lnTo>
                  <a:lnTo>
                    <a:pt x="2523744" y="1097280"/>
                  </a:lnTo>
                  <a:lnTo>
                    <a:pt x="0" y="1097280"/>
                  </a:lnTo>
                  <a:close/>
                </a:path>
              </a:pathLst>
            </a:custGeom>
            <a:blipFill>
              <a:blip r:embed="rId4">
                <a:alphaModFix amt="0"/>
              </a:blip>
              <a:stretch>
                <a:fillRect l="-5822" t="0" r="-5823" b="0"/>
              </a:stretch>
            </a:blipFill>
          </p:spPr>
          <p:txBody>
            <a:bodyPr/>
            <a:p/>
          </p:txBody>
        </p:sp>
      </p:grpSp>
      <p:grpSp>
        <p:nvGrpSpPr>
          <p:cNvPr name="Group 93" id="93"/>
          <p:cNvGrpSpPr/>
          <p:nvPr/>
        </p:nvGrpSpPr>
        <p:grpSpPr>
          <a:xfrm rot="0">
            <a:off x="15499080" y="2473166"/>
            <a:ext cx="1892808" cy="887254"/>
            <a:chOff x="0" y="0"/>
            <a:chExt cx="2523744" cy="1183005"/>
          </a:xfrm>
        </p:grpSpPr>
        <p:sp>
          <p:nvSpPr>
            <p:cNvPr name="Freeform 94" id="94"/>
            <p:cNvSpPr/>
            <p:nvPr/>
          </p:nvSpPr>
          <p:spPr>
            <a:xfrm flipH="false" flipV="false" rot="0">
              <a:off x="0" y="0"/>
              <a:ext cx="2523744" cy="1183005"/>
            </a:xfrm>
            <a:custGeom>
              <a:avLst/>
              <a:gdLst/>
              <a:ahLst/>
              <a:cxnLst/>
              <a:rect r="r" b="b" t="t" l="l"/>
              <a:pathLst>
                <a:path h="1183005" w="2523744">
                  <a:moveTo>
                    <a:pt x="0" y="0"/>
                  </a:moveTo>
                  <a:lnTo>
                    <a:pt x="2523744" y="0"/>
                  </a:lnTo>
                  <a:lnTo>
                    <a:pt x="2523744" y="1183005"/>
                  </a:lnTo>
                  <a:lnTo>
                    <a:pt x="0" y="1183005"/>
                  </a:lnTo>
                  <a:close/>
                </a:path>
              </a:pathLst>
            </a:custGeom>
            <a:blipFill>
              <a:blip r:embed="rId5">
                <a:alphaModFix amt="0"/>
              </a:blip>
              <a:stretch>
                <a:fillRect l="-10184" t="0" r="-10184" b="0"/>
              </a:stretch>
            </a:blipFill>
          </p:spPr>
          <p:txBody>
            <a:bodyPr/>
            <a:p/>
          </p:txBody>
        </p:sp>
      </p:grpSp>
      <p:grpSp>
        <p:nvGrpSpPr>
          <p:cNvPr name="Group 95" id="95"/>
          <p:cNvGrpSpPr/>
          <p:nvPr/>
        </p:nvGrpSpPr>
        <p:grpSpPr>
          <a:xfrm rot="0">
            <a:off x="15499080" y="2408872"/>
            <a:ext cx="1892808" cy="951548"/>
            <a:chOff x="0" y="0"/>
            <a:chExt cx="2523744" cy="1268730"/>
          </a:xfrm>
        </p:grpSpPr>
        <p:sp>
          <p:nvSpPr>
            <p:cNvPr name="Freeform 96" id="96"/>
            <p:cNvSpPr/>
            <p:nvPr/>
          </p:nvSpPr>
          <p:spPr>
            <a:xfrm flipH="false" flipV="false" rot="0">
              <a:off x="0" y="0"/>
              <a:ext cx="2523744" cy="1268730"/>
            </a:xfrm>
            <a:custGeom>
              <a:avLst/>
              <a:gdLst/>
              <a:ahLst/>
              <a:cxnLst/>
              <a:rect r="r" b="b" t="t" l="l"/>
              <a:pathLst>
                <a:path h="1268730" w="2523744">
                  <a:moveTo>
                    <a:pt x="0" y="0"/>
                  </a:moveTo>
                  <a:lnTo>
                    <a:pt x="2523744" y="0"/>
                  </a:lnTo>
                  <a:lnTo>
                    <a:pt x="2523744" y="1268730"/>
                  </a:lnTo>
                  <a:lnTo>
                    <a:pt x="0" y="1268730"/>
                  </a:lnTo>
                  <a:close/>
                </a:path>
              </a:pathLst>
            </a:custGeom>
            <a:blipFill>
              <a:blip r:embed="rId6">
                <a:alphaModFix amt="0"/>
              </a:blip>
              <a:stretch>
                <a:fillRect l="-14500" t="0" r="-14500" b="0"/>
              </a:stretch>
            </a:blipFill>
          </p:spPr>
          <p:txBody>
            <a:bodyPr/>
            <a:p/>
          </p:txBody>
        </p:sp>
        <p:sp>
          <p:nvSpPr>
            <p:cNvPr name="TextBox 97" id="97"/>
            <p:cNvSpPr txBox="true"/>
            <p:nvPr/>
          </p:nvSpPr>
          <p:spPr>
            <a:xfrm>
              <a:off x="0" y="-85725"/>
              <a:ext cx="2523744" cy="1354455"/>
            </a:xfrm>
            <a:prstGeom prst="rect">
              <a:avLst/>
            </a:prstGeom>
          </p:spPr>
          <p:txBody>
            <a:bodyPr anchor="ctr" rtlCol="false" tIns="0" lIns="0" bIns="0" rIns="0"/>
            <a:lstStyle/>
            <a:p>
              <a:pPr algn="ctr">
                <a:lnSpc>
                  <a:spcPts val="5040"/>
                </a:lnSpc>
              </a:pPr>
              <a:r>
                <a:rPr lang="en-US" sz="4200" b="true">
                  <a:solidFill>
                    <a:srgbClr val="0B5E6E"/>
                  </a:solidFill>
                  <a:latin typeface="Calibri (MS) Bold"/>
                  <a:ea typeface="Calibri (MS) Bold"/>
                  <a:cs typeface="Calibri (MS) Bold"/>
                  <a:sym typeface="Calibri (MS) Bold"/>
                </a:rPr>
                <a:t>2043</a:t>
              </a:r>
            </a:p>
          </p:txBody>
        </p:sp>
      </p:grpSp>
      <p:sp>
        <p:nvSpPr>
          <p:cNvPr name="TextBox 98" id="98"/>
          <p:cNvSpPr txBox="true"/>
          <p:nvPr/>
        </p:nvSpPr>
        <p:spPr>
          <a:xfrm rot="0">
            <a:off x="15608808" y="3343275"/>
            <a:ext cx="1673352" cy="1045845"/>
          </a:xfrm>
          <a:prstGeom prst="rect">
            <a:avLst/>
          </a:prstGeom>
        </p:spPr>
        <p:txBody>
          <a:bodyPr anchor="t" rtlCol="false" tIns="0" lIns="0" bIns="0" rIns="0">
            <a:spAutoFit/>
          </a:bodyPr>
          <a:lstStyle/>
          <a:p>
            <a:pPr algn="ctr">
              <a:lnSpc>
                <a:spcPts val="1980"/>
              </a:lnSpc>
            </a:pPr>
            <a:r>
              <a:rPr lang="en-US" sz="1650">
                <a:solidFill>
                  <a:srgbClr val="14313B"/>
                </a:solidFill>
                <a:latin typeface="Calibri (MS)"/>
                <a:ea typeface="Calibri (MS)"/>
                <a:cs typeface="Calibri (MS)"/>
                <a:sym typeface="Calibri (MS)"/>
              </a:rPr>
              <a:t>Business-as-Usual</a:t>
            </a:r>
          </a:p>
        </p:txBody>
      </p:sp>
      <p:sp>
        <p:nvSpPr>
          <p:cNvPr name="TextBox 99" id="99"/>
          <p:cNvSpPr txBox="true"/>
          <p:nvPr/>
        </p:nvSpPr>
        <p:spPr>
          <a:xfrm rot="0">
            <a:off x="11384280" y="4411980"/>
            <a:ext cx="6076188" cy="594360"/>
          </a:xfrm>
          <a:prstGeom prst="rect">
            <a:avLst/>
          </a:prstGeom>
        </p:spPr>
        <p:txBody>
          <a:bodyPr anchor="t" rtlCol="false" tIns="0" lIns="0" bIns="0" rIns="0">
            <a:spAutoFit/>
          </a:bodyPr>
          <a:lstStyle/>
          <a:p>
            <a:pPr algn="l">
              <a:lnSpc>
                <a:spcPts val="2160"/>
              </a:lnSpc>
            </a:pPr>
            <a:r>
              <a:rPr lang="en-US" sz="1800" i="true">
                <a:solidFill>
                  <a:srgbClr val="5E6E78"/>
                </a:solidFill>
                <a:latin typeface="Calibri (MS) Italics"/>
                <a:ea typeface="Calibri (MS) Italics"/>
                <a:cs typeface="Calibri (MS) Italics"/>
                <a:sym typeface="Calibri (MS) Italics"/>
              </a:rPr>
              <a:t>tahun batas 2,0 terlewati — selisih antarskenario hanya 2 tahun</a:t>
            </a:r>
          </a:p>
        </p:txBody>
      </p:sp>
      <p:grpSp>
        <p:nvGrpSpPr>
          <p:cNvPr name="Group 100" id="100"/>
          <p:cNvGrpSpPr/>
          <p:nvPr/>
        </p:nvGrpSpPr>
        <p:grpSpPr>
          <a:xfrm rot="0">
            <a:off x="11384280" y="5212080"/>
            <a:ext cx="6076188" cy="1714500"/>
            <a:chOff x="0" y="0"/>
            <a:chExt cx="8101584" cy="2286000"/>
          </a:xfrm>
        </p:grpSpPr>
        <p:sp>
          <p:nvSpPr>
            <p:cNvPr name="Freeform 101" id="101"/>
            <p:cNvSpPr/>
            <p:nvPr/>
          </p:nvSpPr>
          <p:spPr>
            <a:xfrm flipH="false" flipV="false" rot="0">
              <a:off x="0" y="0"/>
              <a:ext cx="8101585" cy="2286000"/>
            </a:xfrm>
            <a:custGeom>
              <a:avLst/>
              <a:gdLst/>
              <a:ahLst/>
              <a:cxnLst/>
              <a:rect r="r" b="b" t="t" l="l"/>
              <a:pathLst>
                <a:path h="2286000" w="8101585">
                  <a:moveTo>
                    <a:pt x="0" y="182880"/>
                  </a:moveTo>
                  <a:cubicBezTo>
                    <a:pt x="0" y="81915"/>
                    <a:pt x="81915" y="0"/>
                    <a:pt x="182880" y="0"/>
                  </a:cubicBezTo>
                  <a:lnTo>
                    <a:pt x="7918704" y="0"/>
                  </a:lnTo>
                  <a:cubicBezTo>
                    <a:pt x="8019669" y="0"/>
                    <a:pt x="8101585" y="81915"/>
                    <a:pt x="8101585" y="182880"/>
                  </a:cubicBezTo>
                  <a:lnTo>
                    <a:pt x="8101585" y="2103120"/>
                  </a:lnTo>
                  <a:cubicBezTo>
                    <a:pt x="8101585" y="2204085"/>
                    <a:pt x="8019669" y="2286000"/>
                    <a:pt x="7918704" y="2286000"/>
                  </a:cubicBezTo>
                  <a:lnTo>
                    <a:pt x="182880" y="2286000"/>
                  </a:lnTo>
                  <a:cubicBezTo>
                    <a:pt x="81915" y="2286000"/>
                    <a:pt x="0" y="2204085"/>
                    <a:pt x="0" y="2103120"/>
                  </a:cubicBezTo>
                  <a:close/>
                </a:path>
              </a:pathLst>
            </a:custGeom>
            <a:solidFill>
              <a:srgbClr val="0B5E6E"/>
            </a:solidFill>
          </p:spPr>
          <p:txBody>
            <a:bodyPr/>
            <a:p/>
          </p:txBody>
        </p:sp>
      </p:grpSp>
      <p:grpSp>
        <p:nvGrpSpPr>
          <p:cNvPr name="Group 102" id="102"/>
          <p:cNvGrpSpPr/>
          <p:nvPr/>
        </p:nvGrpSpPr>
        <p:grpSpPr>
          <a:xfrm rot="0">
            <a:off x="11727180" y="5212080"/>
            <a:ext cx="5417820" cy="1714500"/>
            <a:chOff x="0" y="0"/>
            <a:chExt cx="7223760" cy="2286000"/>
          </a:xfrm>
        </p:grpSpPr>
        <p:sp>
          <p:nvSpPr>
            <p:cNvPr name="Freeform 103" id="103"/>
            <p:cNvSpPr/>
            <p:nvPr/>
          </p:nvSpPr>
          <p:spPr>
            <a:xfrm flipH="false" flipV="false" rot="0">
              <a:off x="0" y="0"/>
              <a:ext cx="7223760" cy="2286000"/>
            </a:xfrm>
            <a:custGeom>
              <a:avLst/>
              <a:gdLst/>
              <a:ahLst/>
              <a:cxnLst/>
              <a:rect r="r" b="b" t="t" l="l"/>
              <a:pathLst>
                <a:path h="2286000" w="7223760">
                  <a:moveTo>
                    <a:pt x="0" y="0"/>
                  </a:moveTo>
                  <a:lnTo>
                    <a:pt x="7223760" y="0"/>
                  </a:lnTo>
                  <a:lnTo>
                    <a:pt x="7223760" y="2286000"/>
                  </a:lnTo>
                  <a:lnTo>
                    <a:pt x="0" y="2286000"/>
                  </a:lnTo>
                  <a:close/>
                </a:path>
              </a:pathLst>
            </a:custGeom>
            <a:blipFill>
              <a:blip r:embed="rId4">
                <a:alphaModFix amt="0"/>
              </a:blip>
              <a:stretch>
                <a:fillRect l="0" t="-11530" r="0" b="-11530"/>
              </a:stretch>
            </a:blipFill>
          </p:spPr>
          <p:txBody>
            <a:bodyPr/>
            <a:p/>
          </p:txBody>
        </p:sp>
      </p:grpSp>
      <p:grpSp>
        <p:nvGrpSpPr>
          <p:cNvPr name="Group 104" id="104"/>
          <p:cNvGrpSpPr/>
          <p:nvPr/>
        </p:nvGrpSpPr>
        <p:grpSpPr>
          <a:xfrm rot="0">
            <a:off x="11727180" y="5176361"/>
            <a:ext cx="5417820" cy="1750219"/>
            <a:chOff x="0" y="0"/>
            <a:chExt cx="7223760" cy="2333625"/>
          </a:xfrm>
        </p:grpSpPr>
        <p:sp>
          <p:nvSpPr>
            <p:cNvPr name="Freeform 105" id="105"/>
            <p:cNvSpPr/>
            <p:nvPr/>
          </p:nvSpPr>
          <p:spPr>
            <a:xfrm flipH="false" flipV="false" rot="0">
              <a:off x="0" y="0"/>
              <a:ext cx="7223760" cy="2333625"/>
            </a:xfrm>
            <a:custGeom>
              <a:avLst/>
              <a:gdLst/>
              <a:ahLst/>
              <a:cxnLst/>
              <a:rect r="r" b="b" t="t" l="l"/>
              <a:pathLst>
                <a:path h="2333625" w="7223760">
                  <a:moveTo>
                    <a:pt x="0" y="0"/>
                  </a:moveTo>
                  <a:lnTo>
                    <a:pt x="7223760" y="0"/>
                  </a:lnTo>
                  <a:lnTo>
                    <a:pt x="7223760" y="2333625"/>
                  </a:lnTo>
                  <a:lnTo>
                    <a:pt x="0" y="2333625"/>
                  </a:lnTo>
                  <a:close/>
                </a:path>
              </a:pathLst>
            </a:custGeom>
            <a:blipFill>
              <a:blip r:embed="rId5">
                <a:alphaModFix amt="0"/>
              </a:blip>
              <a:stretch>
                <a:fillRect l="0" t="-10274" r="0" b="-10274"/>
              </a:stretch>
            </a:blipFill>
          </p:spPr>
          <p:txBody>
            <a:bodyPr/>
            <a:p/>
          </p:txBody>
        </p:sp>
      </p:grpSp>
      <p:grpSp>
        <p:nvGrpSpPr>
          <p:cNvPr name="Group 106" id="106"/>
          <p:cNvGrpSpPr/>
          <p:nvPr/>
        </p:nvGrpSpPr>
        <p:grpSpPr>
          <a:xfrm rot="0">
            <a:off x="11727180" y="5140642"/>
            <a:ext cx="5417820" cy="1785938"/>
            <a:chOff x="0" y="0"/>
            <a:chExt cx="7223760" cy="2381250"/>
          </a:xfrm>
        </p:grpSpPr>
        <p:sp>
          <p:nvSpPr>
            <p:cNvPr name="Freeform 107" id="107"/>
            <p:cNvSpPr/>
            <p:nvPr/>
          </p:nvSpPr>
          <p:spPr>
            <a:xfrm flipH="false" flipV="false" rot="0">
              <a:off x="0" y="0"/>
              <a:ext cx="7223760" cy="2381250"/>
            </a:xfrm>
            <a:custGeom>
              <a:avLst/>
              <a:gdLst/>
              <a:ahLst/>
              <a:cxnLst/>
              <a:rect r="r" b="b" t="t" l="l"/>
              <a:pathLst>
                <a:path h="2381250" w="7223760">
                  <a:moveTo>
                    <a:pt x="0" y="0"/>
                  </a:moveTo>
                  <a:lnTo>
                    <a:pt x="7223760" y="0"/>
                  </a:lnTo>
                  <a:lnTo>
                    <a:pt x="7223760" y="2381250"/>
                  </a:lnTo>
                  <a:lnTo>
                    <a:pt x="0" y="2381250"/>
                  </a:lnTo>
                  <a:close/>
                </a:path>
              </a:pathLst>
            </a:custGeom>
            <a:blipFill>
              <a:blip r:embed="rId6">
                <a:alphaModFix amt="0"/>
              </a:blip>
              <a:stretch>
                <a:fillRect l="0" t="-9109" r="0" b="-9109"/>
              </a:stretch>
            </a:blipFill>
          </p:spPr>
          <p:txBody>
            <a:bodyPr/>
            <a:p/>
          </p:txBody>
        </p:sp>
        <p:sp>
          <p:nvSpPr>
            <p:cNvPr name="TextBox 108" id="108"/>
            <p:cNvSpPr txBox="true"/>
            <p:nvPr/>
          </p:nvSpPr>
          <p:spPr>
            <a:xfrm>
              <a:off x="0" y="-47625"/>
              <a:ext cx="7223760" cy="2428875"/>
            </a:xfrm>
            <a:prstGeom prst="rect">
              <a:avLst/>
            </a:prstGeom>
          </p:spPr>
          <p:txBody>
            <a:bodyPr anchor="ctr" rtlCol="false" tIns="0" lIns="0" bIns="0" rIns="0"/>
            <a:lstStyle/>
            <a:p>
              <a:pPr algn="l">
                <a:lnSpc>
                  <a:spcPts val="2340"/>
                </a:lnSpc>
              </a:pPr>
              <a:r>
                <a:rPr lang="en-US" sz="1950">
                  <a:solidFill>
                    <a:srgbClr val="FFFFFF"/>
                  </a:solidFill>
                  <a:latin typeface="Calibri (MS)"/>
                  <a:ea typeface="Calibri (MS)"/>
                  <a:cs typeface="Calibri (MS)"/>
                  <a:sym typeface="Calibri (MS)"/>
                </a:rPr>
                <a:t>Kedua variabel kebijakan bekerja di sisi penyediaan (investasi, lahan), sedangkan kepadatan ditentukan pertumbuhan jumlah wisatawan.</a:t>
              </a:r>
            </a:p>
          </p:txBody>
        </p:sp>
      </p:grpSp>
      <p:grpSp>
        <p:nvGrpSpPr>
          <p:cNvPr name="Group 109" id="109"/>
          <p:cNvGrpSpPr/>
          <p:nvPr/>
        </p:nvGrpSpPr>
        <p:grpSpPr>
          <a:xfrm rot="0">
            <a:off x="11384280" y="7132320"/>
            <a:ext cx="6076188" cy="960120"/>
            <a:chOff x="0" y="0"/>
            <a:chExt cx="8101584" cy="1280160"/>
          </a:xfrm>
        </p:grpSpPr>
        <p:sp>
          <p:nvSpPr>
            <p:cNvPr name="Freeform 110" id="110"/>
            <p:cNvSpPr/>
            <p:nvPr/>
          </p:nvSpPr>
          <p:spPr>
            <a:xfrm flipH="false" flipV="false" rot="0">
              <a:off x="0" y="0"/>
              <a:ext cx="8101585" cy="1280160"/>
            </a:xfrm>
            <a:custGeom>
              <a:avLst/>
              <a:gdLst/>
              <a:ahLst/>
              <a:cxnLst/>
              <a:rect r="r" b="b" t="t" l="l"/>
              <a:pathLst>
                <a:path h="1280160" w="8101585">
                  <a:moveTo>
                    <a:pt x="0" y="182880"/>
                  </a:moveTo>
                  <a:cubicBezTo>
                    <a:pt x="0" y="81915"/>
                    <a:pt x="81915" y="0"/>
                    <a:pt x="182880" y="0"/>
                  </a:cubicBezTo>
                  <a:lnTo>
                    <a:pt x="7918704" y="0"/>
                  </a:lnTo>
                  <a:cubicBezTo>
                    <a:pt x="8019669" y="0"/>
                    <a:pt x="8101585" y="81915"/>
                    <a:pt x="8101585" y="182880"/>
                  </a:cubicBezTo>
                  <a:lnTo>
                    <a:pt x="8101585" y="1097280"/>
                  </a:lnTo>
                  <a:cubicBezTo>
                    <a:pt x="8101585" y="1198245"/>
                    <a:pt x="8019669" y="1280160"/>
                    <a:pt x="7918704" y="1280160"/>
                  </a:cubicBezTo>
                  <a:lnTo>
                    <a:pt x="182880" y="1280160"/>
                  </a:lnTo>
                  <a:cubicBezTo>
                    <a:pt x="81915" y="1280160"/>
                    <a:pt x="0" y="1198245"/>
                    <a:pt x="0" y="1097280"/>
                  </a:cubicBezTo>
                  <a:close/>
                </a:path>
              </a:pathLst>
            </a:custGeom>
            <a:solidFill>
              <a:srgbClr val="EAF8FA"/>
            </a:solidFill>
          </p:spPr>
          <p:txBody>
            <a:bodyPr/>
            <a:p/>
          </p:txBody>
        </p:sp>
      </p:grpSp>
      <p:grpSp>
        <p:nvGrpSpPr>
          <p:cNvPr name="Group 111" id="111"/>
          <p:cNvGrpSpPr/>
          <p:nvPr/>
        </p:nvGrpSpPr>
        <p:grpSpPr>
          <a:xfrm rot="0">
            <a:off x="11658600" y="7132320"/>
            <a:ext cx="5554980" cy="960120"/>
            <a:chOff x="0" y="0"/>
            <a:chExt cx="7406640" cy="1280160"/>
          </a:xfrm>
        </p:grpSpPr>
        <p:sp>
          <p:nvSpPr>
            <p:cNvPr name="Freeform 112" id="112"/>
            <p:cNvSpPr/>
            <p:nvPr/>
          </p:nvSpPr>
          <p:spPr>
            <a:xfrm flipH="false" flipV="false" rot="0">
              <a:off x="0" y="0"/>
              <a:ext cx="7406640" cy="1280160"/>
            </a:xfrm>
            <a:custGeom>
              <a:avLst/>
              <a:gdLst/>
              <a:ahLst/>
              <a:cxnLst/>
              <a:rect r="r" b="b" t="t" l="l"/>
              <a:pathLst>
                <a:path h="1280160" w="7406640">
                  <a:moveTo>
                    <a:pt x="0" y="0"/>
                  </a:moveTo>
                  <a:lnTo>
                    <a:pt x="7406640" y="0"/>
                  </a:lnTo>
                  <a:lnTo>
                    <a:pt x="7406640" y="1280160"/>
                  </a:lnTo>
                  <a:lnTo>
                    <a:pt x="0" y="1280160"/>
                  </a:lnTo>
                  <a:close/>
                </a:path>
              </a:pathLst>
            </a:custGeom>
            <a:blipFill>
              <a:blip r:embed="rId4">
                <a:alphaModFix amt="0"/>
              </a:blip>
              <a:stretch>
                <a:fillRect l="0" t="-62656" r="0" b="-62655"/>
              </a:stretch>
            </a:blipFill>
          </p:spPr>
          <p:txBody>
            <a:bodyPr/>
            <a:p/>
          </p:txBody>
        </p:sp>
      </p:grpSp>
      <p:grpSp>
        <p:nvGrpSpPr>
          <p:cNvPr name="Group 113" id="113"/>
          <p:cNvGrpSpPr/>
          <p:nvPr/>
        </p:nvGrpSpPr>
        <p:grpSpPr>
          <a:xfrm rot="0">
            <a:off x="11658600" y="7103745"/>
            <a:ext cx="5554980" cy="988695"/>
            <a:chOff x="0" y="0"/>
            <a:chExt cx="7406640" cy="1318260"/>
          </a:xfrm>
        </p:grpSpPr>
        <p:sp>
          <p:nvSpPr>
            <p:cNvPr name="Freeform 114" id="114"/>
            <p:cNvSpPr/>
            <p:nvPr/>
          </p:nvSpPr>
          <p:spPr>
            <a:xfrm flipH="false" flipV="false" rot="0">
              <a:off x="0" y="0"/>
              <a:ext cx="7406640" cy="1318260"/>
            </a:xfrm>
            <a:custGeom>
              <a:avLst/>
              <a:gdLst/>
              <a:ahLst/>
              <a:cxnLst/>
              <a:rect r="r" b="b" t="t" l="l"/>
              <a:pathLst>
                <a:path h="1318260" w="7406640">
                  <a:moveTo>
                    <a:pt x="0" y="0"/>
                  </a:moveTo>
                  <a:lnTo>
                    <a:pt x="7406640" y="0"/>
                  </a:lnTo>
                  <a:lnTo>
                    <a:pt x="7406640" y="1318260"/>
                  </a:lnTo>
                  <a:lnTo>
                    <a:pt x="0" y="1318260"/>
                  </a:lnTo>
                  <a:close/>
                </a:path>
              </a:pathLst>
            </a:custGeom>
            <a:blipFill>
              <a:blip r:embed="rId5">
                <a:alphaModFix amt="0"/>
              </a:blip>
              <a:stretch>
                <a:fillRect l="0" t="-59400" r="0" b="-59399"/>
              </a:stretch>
            </a:blipFill>
          </p:spPr>
          <p:txBody>
            <a:bodyPr/>
            <a:p/>
          </p:txBody>
        </p:sp>
      </p:grpSp>
      <p:grpSp>
        <p:nvGrpSpPr>
          <p:cNvPr name="Group 115" id="115"/>
          <p:cNvGrpSpPr/>
          <p:nvPr/>
        </p:nvGrpSpPr>
        <p:grpSpPr>
          <a:xfrm rot="0">
            <a:off x="11658600" y="7075170"/>
            <a:ext cx="5554980" cy="1017270"/>
            <a:chOff x="0" y="0"/>
            <a:chExt cx="7406640" cy="1356360"/>
          </a:xfrm>
        </p:grpSpPr>
        <p:sp>
          <p:nvSpPr>
            <p:cNvPr name="Freeform 116" id="116"/>
            <p:cNvSpPr/>
            <p:nvPr/>
          </p:nvSpPr>
          <p:spPr>
            <a:xfrm flipH="false" flipV="false" rot="0">
              <a:off x="0" y="0"/>
              <a:ext cx="7406640" cy="1356360"/>
            </a:xfrm>
            <a:custGeom>
              <a:avLst/>
              <a:gdLst/>
              <a:ahLst/>
              <a:cxnLst/>
              <a:rect r="r" b="b" t="t" l="l"/>
              <a:pathLst>
                <a:path h="1356360" w="7406640">
                  <a:moveTo>
                    <a:pt x="0" y="0"/>
                  </a:moveTo>
                  <a:lnTo>
                    <a:pt x="7406640" y="0"/>
                  </a:lnTo>
                  <a:lnTo>
                    <a:pt x="7406640" y="1356360"/>
                  </a:lnTo>
                  <a:lnTo>
                    <a:pt x="0" y="1356360"/>
                  </a:lnTo>
                  <a:close/>
                </a:path>
              </a:pathLst>
            </a:custGeom>
            <a:blipFill>
              <a:blip r:embed="rId6">
                <a:alphaModFix amt="0"/>
              </a:blip>
              <a:stretch>
                <a:fillRect l="0" t="-56401" r="0" b="-56401"/>
              </a:stretch>
            </a:blipFill>
          </p:spPr>
          <p:txBody>
            <a:bodyPr/>
            <a:p/>
          </p:txBody>
        </p:sp>
        <p:sp>
          <p:nvSpPr>
            <p:cNvPr name="TextBox 117" id="117"/>
            <p:cNvSpPr txBox="true"/>
            <p:nvPr/>
          </p:nvSpPr>
          <p:spPr>
            <a:xfrm>
              <a:off x="0" y="-38100"/>
              <a:ext cx="7406640" cy="1394460"/>
            </a:xfrm>
            <a:prstGeom prst="rect">
              <a:avLst/>
            </a:prstGeom>
          </p:spPr>
          <p:txBody>
            <a:bodyPr anchor="ctr" rtlCol="false" tIns="0" lIns="0" bIns="0" rIns="0"/>
            <a:lstStyle/>
            <a:p>
              <a:pPr algn="l">
                <a:lnSpc>
                  <a:spcPts val="2160"/>
                </a:lnSpc>
              </a:pPr>
              <a:r>
                <a:rPr lang="en-US" sz="1800">
                  <a:solidFill>
                    <a:srgbClr val="14313B"/>
                  </a:solidFill>
                  <a:latin typeface="Calibri (MS)"/>
                  <a:ea typeface="Calibri (MS)"/>
                  <a:cs typeface="Calibri (MS)"/>
                  <a:sym typeface="Calibri (MS)"/>
                </a:rPr>
                <a:t>Rasio daya dukung lahan ≈ 0,614 — batas 0,331 tidak terlewati</a:t>
              </a:r>
            </a:p>
          </p:txBody>
        </p:sp>
      </p:grpSp>
      <p:grpSp>
        <p:nvGrpSpPr>
          <p:cNvPr name="Group 118" id="118"/>
          <p:cNvGrpSpPr/>
          <p:nvPr/>
        </p:nvGrpSpPr>
        <p:grpSpPr>
          <a:xfrm rot="0">
            <a:off x="11384280" y="8298180"/>
            <a:ext cx="6076188" cy="960120"/>
            <a:chOff x="0" y="0"/>
            <a:chExt cx="8101584" cy="1280160"/>
          </a:xfrm>
        </p:grpSpPr>
        <p:sp>
          <p:nvSpPr>
            <p:cNvPr name="Freeform 119" id="119"/>
            <p:cNvSpPr/>
            <p:nvPr/>
          </p:nvSpPr>
          <p:spPr>
            <a:xfrm flipH="false" flipV="false" rot="0">
              <a:off x="0" y="0"/>
              <a:ext cx="8101585" cy="1280160"/>
            </a:xfrm>
            <a:custGeom>
              <a:avLst/>
              <a:gdLst/>
              <a:ahLst/>
              <a:cxnLst/>
              <a:rect r="r" b="b" t="t" l="l"/>
              <a:pathLst>
                <a:path h="1280160" w="8101585">
                  <a:moveTo>
                    <a:pt x="0" y="182880"/>
                  </a:moveTo>
                  <a:cubicBezTo>
                    <a:pt x="0" y="81915"/>
                    <a:pt x="81915" y="0"/>
                    <a:pt x="182880" y="0"/>
                  </a:cubicBezTo>
                  <a:lnTo>
                    <a:pt x="7918704" y="0"/>
                  </a:lnTo>
                  <a:cubicBezTo>
                    <a:pt x="8019669" y="0"/>
                    <a:pt x="8101585" y="81915"/>
                    <a:pt x="8101585" y="182880"/>
                  </a:cubicBezTo>
                  <a:lnTo>
                    <a:pt x="8101585" y="1097280"/>
                  </a:lnTo>
                  <a:cubicBezTo>
                    <a:pt x="8101585" y="1198245"/>
                    <a:pt x="8019669" y="1280160"/>
                    <a:pt x="7918704" y="1280160"/>
                  </a:cubicBezTo>
                  <a:lnTo>
                    <a:pt x="182880" y="1280160"/>
                  </a:lnTo>
                  <a:cubicBezTo>
                    <a:pt x="81915" y="1280160"/>
                    <a:pt x="0" y="1198245"/>
                    <a:pt x="0" y="1097280"/>
                  </a:cubicBezTo>
                  <a:close/>
                </a:path>
              </a:pathLst>
            </a:custGeom>
            <a:solidFill>
              <a:srgbClr val="FFF1BF"/>
            </a:solidFill>
          </p:spPr>
          <p:txBody>
            <a:bodyPr/>
            <a:p/>
          </p:txBody>
        </p:sp>
      </p:grpSp>
      <p:grpSp>
        <p:nvGrpSpPr>
          <p:cNvPr name="Group 120" id="120"/>
          <p:cNvGrpSpPr/>
          <p:nvPr/>
        </p:nvGrpSpPr>
        <p:grpSpPr>
          <a:xfrm rot="0">
            <a:off x="11658600" y="8298180"/>
            <a:ext cx="5554980" cy="960120"/>
            <a:chOff x="0" y="0"/>
            <a:chExt cx="7406640" cy="1280160"/>
          </a:xfrm>
        </p:grpSpPr>
        <p:sp>
          <p:nvSpPr>
            <p:cNvPr name="Freeform 121" id="121"/>
            <p:cNvSpPr/>
            <p:nvPr/>
          </p:nvSpPr>
          <p:spPr>
            <a:xfrm flipH="false" flipV="false" rot="0">
              <a:off x="0" y="0"/>
              <a:ext cx="7406640" cy="1280160"/>
            </a:xfrm>
            <a:custGeom>
              <a:avLst/>
              <a:gdLst/>
              <a:ahLst/>
              <a:cxnLst/>
              <a:rect r="r" b="b" t="t" l="l"/>
              <a:pathLst>
                <a:path h="1280160" w="7406640">
                  <a:moveTo>
                    <a:pt x="0" y="0"/>
                  </a:moveTo>
                  <a:lnTo>
                    <a:pt x="7406640" y="0"/>
                  </a:lnTo>
                  <a:lnTo>
                    <a:pt x="7406640" y="1280160"/>
                  </a:lnTo>
                  <a:lnTo>
                    <a:pt x="0" y="1280160"/>
                  </a:lnTo>
                  <a:close/>
                </a:path>
              </a:pathLst>
            </a:custGeom>
            <a:blipFill>
              <a:blip r:embed="rId4">
                <a:alphaModFix amt="0"/>
              </a:blip>
              <a:stretch>
                <a:fillRect l="0" t="-62656" r="0" b="-62655"/>
              </a:stretch>
            </a:blipFill>
          </p:spPr>
          <p:txBody>
            <a:bodyPr/>
            <a:p/>
          </p:txBody>
        </p:sp>
      </p:grpSp>
      <p:grpSp>
        <p:nvGrpSpPr>
          <p:cNvPr name="Group 122" id="122"/>
          <p:cNvGrpSpPr/>
          <p:nvPr/>
        </p:nvGrpSpPr>
        <p:grpSpPr>
          <a:xfrm rot="0">
            <a:off x="11658600" y="8269605"/>
            <a:ext cx="5554980" cy="988695"/>
            <a:chOff x="0" y="0"/>
            <a:chExt cx="7406640" cy="1318260"/>
          </a:xfrm>
        </p:grpSpPr>
        <p:sp>
          <p:nvSpPr>
            <p:cNvPr name="Freeform 123" id="123"/>
            <p:cNvSpPr/>
            <p:nvPr/>
          </p:nvSpPr>
          <p:spPr>
            <a:xfrm flipH="false" flipV="false" rot="0">
              <a:off x="0" y="0"/>
              <a:ext cx="7406640" cy="1318260"/>
            </a:xfrm>
            <a:custGeom>
              <a:avLst/>
              <a:gdLst/>
              <a:ahLst/>
              <a:cxnLst/>
              <a:rect r="r" b="b" t="t" l="l"/>
              <a:pathLst>
                <a:path h="1318260" w="7406640">
                  <a:moveTo>
                    <a:pt x="0" y="0"/>
                  </a:moveTo>
                  <a:lnTo>
                    <a:pt x="7406640" y="0"/>
                  </a:lnTo>
                  <a:lnTo>
                    <a:pt x="7406640" y="1318260"/>
                  </a:lnTo>
                  <a:lnTo>
                    <a:pt x="0" y="1318260"/>
                  </a:lnTo>
                  <a:close/>
                </a:path>
              </a:pathLst>
            </a:custGeom>
            <a:blipFill>
              <a:blip r:embed="rId5">
                <a:alphaModFix amt="0"/>
              </a:blip>
              <a:stretch>
                <a:fillRect l="0" t="-59400" r="0" b="-59399"/>
              </a:stretch>
            </a:blipFill>
          </p:spPr>
          <p:txBody>
            <a:bodyPr/>
            <a:p/>
          </p:txBody>
        </p:sp>
      </p:grpSp>
      <p:grpSp>
        <p:nvGrpSpPr>
          <p:cNvPr name="Group 124" id="124"/>
          <p:cNvGrpSpPr/>
          <p:nvPr/>
        </p:nvGrpSpPr>
        <p:grpSpPr>
          <a:xfrm rot="0">
            <a:off x="11658600" y="8241030"/>
            <a:ext cx="5554980" cy="1017270"/>
            <a:chOff x="0" y="0"/>
            <a:chExt cx="7406640" cy="1356360"/>
          </a:xfrm>
        </p:grpSpPr>
        <p:sp>
          <p:nvSpPr>
            <p:cNvPr name="Freeform 125" id="125"/>
            <p:cNvSpPr/>
            <p:nvPr/>
          </p:nvSpPr>
          <p:spPr>
            <a:xfrm flipH="false" flipV="false" rot="0">
              <a:off x="0" y="0"/>
              <a:ext cx="7406640" cy="1356360"/>
            </a:xfrm>
            <a:custGeom>
              <a:avLst/>
              <a:gdLst/>
              <a:ahLst/>
              <a:cxnLst/>
              <a:rect r="r" b="b" t="t" l="l"/>
              <a:pathLst>
                <a:path h="1356360" w="7406640">
                  <a:moveTo>
                    <a:pt x="0" y="0"/>
                  </a:moveTo>
                  <a:lnTo>
                    <a:pt x="7406640" y="0"/>
                  </a:lnTo>
                  <a:lnTo>
                    <a:pt x="7406640" y="1356360"/>
                  </a:lnTo>
                  <a:lnTo>
                    <a:pt x="0" y="1356360"/>
                  </a:lnTo>
                  <a:close/>
                </a:path>
              </a:pathLst>
            </a:custGeom>
            <a:blipFill>
              <a:blip r:embed="rId6">
                <a:alphaModFix amt="0"/>
              </a:blip>
              <a:stretch>
                <a:fillRect l="0" t="-56401" r="0" b="-56401"/>
              </a:stretch>
            </a:blipFill>
          </p:spPr>
          <p:txBody>
            <a:bodyPr/>
            <a:p/>
          </p:txBody>
        </p:sp>
        <p:sp>
          <p:nvSpPr>
            <p:cNvPr name="TextBox 126" id="126"/>
            <p:cNvSpPr txBox="true"/>
            <p:nvPr/>
          </p:nvSpPr>
          <p:spPr>
            <a:xfrm>
              <a:off x="0" y="-38100"/>
              <a:ext cx="7406640" cy="1394460"/>
            </a:xfrm>
            <a:prstGeom prst="rect">
              <a:avLst/>
            </a:prstGeom>
          </p:spPr>
          <p:txBody>
            <a:bodyPr anchor="ctr" rtlCol="false" tIns="0" lIns="0" bIns="0" rIns="0"/>
            <a:lstStyle/>
            <a:p>
              <a:pPr algn="l">
                <a:lnSpc>
                  <a:spcPts val="2160"/>
                </a:lnSpc>
              </a:pPr>
              <a:r>
                <a:rPr lang="en-US" sz="1800">
                  <a:solidFill>
                    <a:srgbClr val="14313B"/>
                  </a:solidFill>
                  <a:latin typeface="Calibri (MS)"/>
                  <a:ea typeface="Calibri (MS)"/>
                  <a:cs typeface="Calibri (MS)"/>
                  <a:sym typeface="Calibri (MS)"/>
                </a:rPr>
                <a:t>Batas 2,0 ditentukan peneliti (2× kepadatan tahun dasar): tanda peringatan, bukan standar resmi</a:t>
              </a:r>
            </a:p>
          </p:txBody>
        </p:sp>
      </p:grpSp>
      <p:sp>
        <p:nvSpPr>
          <p:cNvPr name="TextBox 127" id="127"/>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60</a:t>
            </a:r>
          </a:p>
        </p:txBody>
      </p:sp>
      <p:grpSp>
        <p:nvGrpSpPr>
          <p:cNvPr name="Group 128" id="128"/>
          <p:cNvGrpSpPr/>
          <p:nvPr/>
        </p:nvGrpSpPr>
        <p:grpSpPr>
          <a:xfrm rot="0">
            <a:off x="12755880" y="274320"/>
            <a:ext cx="3931920" cy="411480"/>
            <a:chOff x="0" y="0"/>
            <a:chExt cx="5242560" cy="548640"/>
          </a:xfrm>
        </p:grpSpPr>
        <p:sp>
          <p:nvSpPr>
            <p:cNvPr name="Freeform 129" id="129"/>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30" id="130"/>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2G · Skenario kebijakan</a:t>
              </a:r>
            </a:p>
          </p:txBody>
        </p:sp>
      </p:grpSp>
      <p:grpSp>
        <p:nvGrpSpPr>
          <p:cNvPr name="Group 131" id="131"/>
          <p:cNvGrpSpPr/>
          <p:nvPr/>
        </p:nvGrpSpPr>
        <p:grpSpPr>
          <a:xfrm rot="0">
            <a:off x="16047720" y="9646920"/>
            <a:ext cx="420624" cy="420624"/>
            <a:chOff x="0" y="0"/>
            <a:chExt cx="560832" cy="560832"/>
          </a:xfrm>
        </p:grpSpPr>
        <p:sp>
          <p:nvSpPr>
            <p:cNvPr name="Freeform 132" id="132"/>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33" id="133"/>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Kontribusi Masing-masing Variabel Kebijakan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Kedua variabel kebijakan bekerja di jalur berbeda, sehingga efeknya hampir tidak saling memengaruhi</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aphicFrame>
        <p:nvGraphicFramePr>
          <p:cNvPr name="Table 66" id="66"/>
          <p:cNvGraphicFramePr>
            <a:graphicFrameLocks noGrp="true"/>
          </p:cNvGraphicFramePr>
          <p:nvPr/>
        </p:nvGraphicFramePr>
        <p:xfrm>
          <a:off x="822960" y="2331720"/>
          <a:ext cx="16522700" cy="3429000"/>
        </p:xfrm>
        <a:graphic>
          <a:graphicData uri="http://schemas.openxmlformats.org/drawingml/2006/table">
            <a:tbl>
              <a:tblPr/>
              <a:tblGrid>
                <a:gridCol w="5673096"/>
                <a:gridCol w="2735766"/>
                <a:gridCol w="3002796"/>
                <a:gridCol w="2468736"/>
                <a:gridCol w="2642306"/>
              </a:tblGrid>
              <a:tr h="685800">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Indikator (Sustainable − BAU)</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Kontribusi insentif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Kontribusi konservasi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Efek interaksi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Selisih paket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Jumlah wisatawan (juta kunjungan)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+2,46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+0,24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+2,72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Konversi lahan pariwisata kumulatif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+50,1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−947,0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−50,1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−947,0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Lahan terbangun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+57,6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−1.114,0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−57,6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−1.114,0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Rasio daya dukung lahan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−0,00018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+0,00351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+0,00018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+0,00351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67" id="67"/>
          <p:cNvSpPr txBox="true"/>
          <p:nvPr/>
        </p:nvSpPr>
        <p:spPr>
          <a:xfrm rot="0">
            <a:off x="822960" y="5783580"/>
            <a:ext cx="16637508" cy="5257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Kontribusi = hasil satu kebijakan saja − tanpa kebijakan · Efek interaksi = selisih paket − (kontribusi insentif + konservasi)</a:t>
            </a:r>
          </a:p>
        </p:txBody>
      </p:sp>
      <p:grpSp>
        <p:nvGrpSpPr>
          <p:cNvPr name="Group 68" id="68"/>
          <p:cNvGrpSpPr/>
          <p:nvPr/>
        </p:nvGrpSpPr>
        <p:grpSpPr>
          <a:xfrm rot="0">
            <a:off x="822960" y="6515100"/>
            <a:ext cx="8161020" cy="2743200"/>
            <a:chOff x="0" y="0"/>
            <a:chExt cx="10881360" cy="3657600"/>
          </a:xfrm>
        </p:grpSpPr>
        <p:sp>
          <p:nvSpPr>
            <p:cNvPr name="Freeform 69" id="69"/>
            <p:cNvSpPr/>
            <p:nvPr/>
          </p:nvSpPr>
          <p:spPr>
            <a:xfrm flipH="false" flipV="false" rot="0">
              <a:off x="0" y="0"/>
              <a:ext cx="10881360" cy="3657600"/>
            </a:xfrm>
            <a:custGeom>
              <a:avLst/>
              <a:gdLst/>
              <a:ahLst/>
              <a:cxnLst/>
              <a:rect r="r" b="b" t="t" l="l"/>
              <a:pathLst>
                <a:path h="3657600" w="10881360">
                  <a:moveTo>
                    <a:pt x="0" y="182880"/>
                  </a:moveTo>
                  <a:cubicBezTo>
                    <a:pt x="0" y="81915"/>
                    <a:pt x="81915" y="0"/>
                    <a:pt x="182880" y="0"/>
                  </a:cubicBezTo>
                  <a:lnTo>
                    <a:pt x="10698480" y="0"/>
                  </a:lnTo>
                  <a:cubicBezTo>
                    <a:pt x="10799445" y="0"/>
                    <a:pt x="10881360" y="81915"/>
                    <a:pt x="10881360" y="182880"/>
                  </a:cubicBezTo>
                  <a:lnTo>
                    <a:pt x="10881360" y="3474720"/>
                  </a:lnTo>
                  <a:cubicBezTo>
                    <a:pt x="10881360" y="3575685"/>
                    <a:pt x="10799445" y="3657600"/>
                    <a:pt x="10698480" y="3657600"/>
                  </a:cubicBezTo>
                  <a:lnTo>
                    <a:pt x="182880" y="3657600"/>
                  </a:lnTo>
                  <a:cubicBezTo>
                    <a:pt x="81915" y="3657600"/>
                    <a:pt x="0" y="3575685"/>
                    <a:pt x="0" y="3474720"/>
                  </a:cubicBezTo>
                  <a:close/>
                </a:path>
              </a:pathLst>
            </a:custGeom>
            <a:solidFill>
              <a:srgbClr val="EAF8FA"/>
            </a:solidFill>
          </p:spPr>
          <p:txBody>
            <a:bodyPr/>
            <a:p/>
          </p:txBody>
        </p:sp>
      </p:grpSp>
      <p:sp>
        <p:nvSpPr>
          <p:cNvPr name="TextBox 70" id="70"/>
          <p:cNvSpPr txBox="true"/>
          <p:nvPr/>
        </p:nvSpPr>
        <p:spPr>
          <a:xfrm rot="0">
            <a:off x="1234440" y="6606540"/>
            <a:ext cx="7406640" cy="6629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Insentif → ekonomi · Konservasi → lahan</a:t>
            </a:r>
          </a:p>
        </p:txBody>
      </p:sp>
      <p:sp>
        <p:nvSpPr>
          <p:cNvPr name="TextBox 71" id="71"/>
          <p:cNvSpPr txBox="true"/>
          <p:nvPr/>
        </p:nvSpPr>
        <p:spPr>
          <a:xfrm rot="0">
            <a:off x="1234440" y="7292340"/>
            <a:ext cx="7406640" cy="1760220"/>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Interaksi hanya ≈ 0,7% dari selisih paket pada jumlah wisatawan: efek kedua kebijakan hampir bisa langsung dijumlahkan.</a:t>
            </a:r>
          </a:p>
        </p:txBody>
      </p:sp>
      <p:grpSp>
        <p:nvGrpSpPr>
          <p:cNvPr name="Group 72" id="72"/>
          <p:cNvGrpSpPr/>
          <p:nvPr/>
        </p:nvGrpSpPr>
        <p:grpSpPr>
          <a:xfrm rot="0">
            <a:off x="9299448" y="6515100"/>
            <a:ext cx="8161020" cy="2743200"/>
            <a:chOff x="0" y="0"/>
            <a:chExt cx="10881360" cy="3657600"/>
          </a:xfrm>
        </p:grpSpPr>
        <p:sp>
          <p:nvSpPr>
            <p:cNvPr name="Freeform 73" id="73"/>
            <p:cNvSpPr/>
            <p:nvPr/>
          </p:nvSpPr>
          <p:spPr>
            <a:xfrm flipH="false" flipV="false" rot="0">
              <a:off x="0" y="0"/>
              <a:ext cx="10881360" cy="3657600"/>
            </a:xfrm>
            <a:custGeom>
              <a:avLst/>
              <a:gdLst/>
              <a:ahLst/>
              <a:cxnLst/>
              <a:rect r="r" b="b" t="t" l="l"/>
              <a:pathLst>
                <a:path h="3657600" w="10881360">
                  <a:moveTo>
                    <a:pt x="0" y="182880"/>
                  </a:moveTo>
                  <a:cubicBezTo>
                    <a:pt x="0" y="81915"/>
                    <a:pt x="81915" y="0"/>
                    <a:pt x="182880" y="0"/>
                  </a:cubicBezTo>
                  <a:lnTo>
                    <a:pt x="10698480" y="0"/>
                  </a:lnTo>
                  <a:cubicBezTo>
                    <a:pt x="10799445" y="0"/>
                    <a:pt x="10881360" y="81915"/>
                    <a:pt x="10881360" y="182880"/>
                  </a:cubicBezTo>
                  <a:lnTo>
                    <a:pt x="10881360" y="3474720"/>
                  </a:lnTo>
                  <a:cubicBezTo>
                    <a:pt x="10881360" y="3575685"/>
                    <a:pt x="10799445" y="3657600"/>
                    <a:pt x="10698480" y="3657600"/>
                  </a:cubicBezTo>
                  <a:lnTo>
                    <a:pt x="182880" y="3657600"/>
                  </a:lnTo>
                  <a:cubicBezTo>
                    <a:pt x="81915" y="3657600"/>
                    <a:pt x="0" y="3575685"/>
                    <a:pt x="0" y="3474720"/>
                  </a:cubicBezTo>
                  <a:close/>
                </a:path>
              </a:pathLst>
            </a:custGeom>
            <a:solidFill>
              <a:srgbClr val="FFF1BF"/>
            </a:solidFill>
          </p:spPr>
          <p:txBody>
            <a:bodyPr/>
            <a:p/>
          </p:txBody>
        </p:sp>
      </p:grpSp>
      <p:sp>
        <p:nvSpPr>
          <p:cNvPr name="TextBox 74" id="74"/>
          <p:cNvSpPr txBox="true"/>
          <p:nvPr/>
        </p:nvSpPr>
        <p:spPr>
          <a:xfrm rot="0">
            <a:off x="9710928" y="6606540"/>
            <a:ext cx="7406640" cy="6629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Kebutuhan lahan dari insentif diserap konservasi</a:t>
            </a:r>
          </a:p>
        </p:txBody>
      </p:sp>
      <p:sp>
        <p:nvSpPr>
          <p:cNvPr name="TextBox 75" id="75"/>
          <p:cNvSpPr txBox="true"/>
          <p:nvPr/>
        </p:nvSpPr>
        <p:spPr>
          <a:xfrm rot="0">
            <a:off x="9710928" y="7292340"/>
            <a:ext cx="7406640" cy="1897380"/>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Interaksi −57,6 ha menghapus tambahan +57,6 ha dari insentif: Sustainable membuat konversi lahan pariwisata menjadi nol tanpa mengurangi pertumbuhan ekonomi → kedua kebijakan dapat dirancang terpisah.</a:t>
            </a:r>
          </a:p>
        </p:txBody>
      </p:sp>
      <p:sp>
        <p:nvSpPr>
          <p:cNvPr name="TextBox 76" id="76"/>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61</a:t>
            </a:r>
          </a:p>
        </p:txBody>
      </p:sp>
      <p:grpSp>
        <p:nvGrpSpPr>
          <p:cNvPr name="Group 77" id="77"/>
          <p:cNvGrpSpPr/>
          <p:nvPr/>
        </p:nvGrpSpPr>
        <p:grpSpPr>
          <a:xfrm rot="0">
            <a:off x="12755880" y="274320"/>
            <a:ext cx="3931920" cy="411480"/>
            <a:chOff x="0" y="0"/>
            <a:chExt cx="5242560" cy="548640"/>
          </a:xfrm>
        </p:grpSpPr>
        <p:sp>
          <p:nvSpPr>
            <p:cNvPr name="Freeform 78" id="7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79" id="7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2G · Skenario kebijakan</a:t>
              </a:r>
            </a:p>
          </p:txBody>
        </p:sp>
      </p:grpSp>
      <p:grpSp>
        <p:nvGrpSpPr>
          <p:cNvPr name="Group 80" id="80"/>
          <p:cNvGrpSpPr/>
          <p:nvPr/>
        </p:nvGrpSpPr>
        <p:grpSpPr>
          <a:xfrm rot="0">
            <a:off x="16047720" y="9646920"/>
            <a:ext cx="420624" cy="420624"/>
            <a:chOff x="0" y="0"/>
            <a:chExt cx="560832" cy="560832"/>
          </a:xfrm>
        </p:grpSpPr>
        <p:sp>
          <p:nvSpPr>
            <p:cNvPr name="Freeform 81" id="81"/>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82" id="82"/>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Robustness Peringkat Skenario</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Urutan skenario tetap sama pada tujuh kondisi parameter</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6" id="66"/>
          <p:cNvGrpSpPr/>
          <p:nvPr/>
        </p:nvGrpSpPr>
        <p:grpSpPr>
          <a:xfrm rot="0">
            <a:off x="822960" y="2304288"/>
            <a:ext cx="16637508" cy="1069848"/>
            <a:chOff x="0" y="0"/>
            <a:chExt cx="22183344" cy="1426464"/>
          </a:xfrm>
        </p:grpSpPr>
        <p:sp>
          <p:nvSpPr>
            <p:cNvPr name="Freeform 67" id="67"/>
            <p:cNvSpPr/>
            <p:nvPr/>
          </p:nvSpPr>
          <p:spPr>
            <a:xfrm flipH="false" flipV="false" rot="0">
              <a:off x="0" y="0"/>
              <a:ext cx="22183344" cy="1426464"/>
            </a:xfrm>
            <a:custGeom>
              <a:avLst/>
              <a:gdLst/>
              <a:ahLst/>
              <a:cxnLst/>
              <a:rect r="r" b="b" t="t" l="l"/>
              <a:pathLst>
                <a:path h="1426464" w="22183344">
                  <a:moveTo>
                    <a:pt x="0" y="182880"/>
                  </a:moveTo>
                  <a:cubicBezTo>
                    <a:pt x="0" y="81915"/>
                    <a:pt x="81915" y="0"/>
                    <a:pt x="182880" y="0"/>
                  </a:cubicBezTo>
                  <a:lnTo>
                    <a:pt x="22000463" y="0"/>
                  </a:lnTo>
                  <a:cubicBezTo>
                    <a:pt x="22101428" y="0"/>
                    <a:pt x="22183344" y="81915"/>
                    <a:pt x="22183344" y="182880"/>
                  </a:cubicBezTo>
                  <a:lnTo>
                    <a:pt x="22183344" y="1243584"/>
                  </a:lnTo>
                  <a:cubicBezTo>
                    <a:pt x="22183344" y="1344549"/>
                    <a:pt x="22101428" y="1426464"/>
                    <a:pt x="22000463" y="1426464"/>
                  </a:cubicBezTo>
                  <a:lnTo>
                    <a:pt x="182880" y="1426464"/>
                  </a:lnTo>
                  <a:cubicBezTo>
                    <a:pt x="81915" y="1426464"/>
                    <a:pt x="0" y="1344549"/>
                    <a:pt x="0" y="1243584"/>
                  </a:cubicBezTo>
                  <a:close/>
                </a:path>
              </a:pathLst>
            </a:custGeom>
            <a:solidFill>
              <a:srgbClr val="EAF8FA"/>
            </a:solidFill>
          </p:spPr>
          <p:txBody>
            <a:bodyPr/>
            <a:p/>
          </p:txBody>
        </p:sp>
      </p:grpSp>
      <p:grpSp>
        <p:nvGrpSpPr>
          <p:cNvPr name="Group 68" id="68"/>
          <p:cNvGrpSpPr/>
          <p:nvPr/>
        </p:nvGrpSpPr>
        <p:grpSpPr>
          <a:xfrm rot="0">
            <a:off x="1165860" y="2304288"/>
            <a:ext cx="15951708" cy="1069848"/>
            <a:chOff x="0" y="0"/>
            <a:chExt cx="21268944" cy="1426464"/>
          </a:xfrm>
        </p:grpSpPr>
        <p:sp>
          <p:nvSpPr>
            <p:cNvPr name="Freeform 69" id="69"/>
            <p:cNvSpPr/>
            <p:nvPr/>
          </p:nvSpPr>
          <p:spPr>
            <a:xfrm flipH="false" flipV="false" rot="0">
              <a:off x="0" y="0"/>
              <a:ext cx="21268944" cy="1426464"/>
            </a:xfrm>
            <a:custGeom>
              <a:avLst/>
              <a:gdLst/>
              <a:ahLst/>
              <a:cxnLst/>
              <a:rect r="r" b="b" t="t" l="l"/>
              <a:pathLst>
                <a:path h="1426464" w="21268944">
                  <a:moveTo>
                    <a:pt x="0" y="0"/>
                  </a:moveTo>
                  <a:lnTo>
                    <a:pt x="21268944" y="0"/>
                  </a:lnTo>
                  <a:lnTo>
                    <a:pt x="21268944" y="1426464"/>
                  </a:lnTo>
                  <a:lnTo>
                    <a:pt x="0" y="1426464"/>
                  </a:lnTo>
                  <a:close/>
                </a:path>
              </a:pathLst>
            </a:custGeom>
            <a:blipFill>
              <a:blip r:embed="rId4">
                <a:alphaModFix amt="0"/>
              </a:blip>
              <a:stretch>
                <a:fillRect l="0" t="-240324" r="0" b="-240324"/>
              </a:stretch>
            </a:blipFill>
          </p:spPr>
          <p:txBody>
            <a:bodyPr/>
            <a:p/>
          </p:txBody>
        </p:sp>
      </p:grpSp>
      <p:grpSp>
        <p:nvGrpSpPr>
          <p:cNvPr name="Group 70" id="70"/>
          <p:cNvGrpSpPr/>
          <p:nvPr/>
        </p:nvGrpSpPr>
        <p:grpSpPr>
          <a:xfrm rot="0">
            <a:off x="1165860" y="2275713"/>
            <a:ext cx="15951708" cy="1098423"/>
            <a:chOff x="0" y="0"/>
            <a:chExt cx="21268944" cy="1464564"/>
          </a:xfrm>
        </p:grpSpPr>
        <p:sp>
          <p:nvSpPr>
            <p:cNvPr name="Freeform 71" id="71"/>
            <p:cNvSpPr/>
            <p:nvPr/>
          </p:nvSpPr>
          <p:spPr>
            <a:xfrm flipH="false" flipV="false" rot="0">
              <a:off x="0" y="0"/>
              <a:ext cx="21268944" cy="1464564"/>
            </a:xfrm>
            <a:custGeom>
              <a:avLst/>
              <a:gdLst/>
              <a:ahLst/>
              <a:cxnLst/>
              <a:rect r="r" b="b" t="t" l="l"/>
              <a:pathLst>
                <a:path h="1464564" w="21268944">
                  <a:moveTo>
                    <a:pt x="0" y="0"/>
                  </a:moveTo>
                  <a:lnTo>
                    <a:pt x="21268944" y="0"/>
                  </a:lnTo>
                  <a:lnTo>
                    <a:pt x="21268944" y="1464564"/>
                  </a:lnTo>
                  <a:lnTo>
                    <a:pt x="0" y="1464564"/>
                  </a:lnTo>
                  <a:close/>
                </a:path>
              </a:pathLst>
            </a:custGeom>
            <a:blipFill>
              <a:blip r:embed="rId5">
                <a:alphaModFix amt="0"/>
              </a:blip>
              <a:stretch>
                <a:fillRect l="0" t="-232772" r="0" b="-232772"/>
              </a:stretch>
            </a:blipFill>
          </p:spPr>
          <p:txBody>
            <a:bodyPr/>
            <a:p/>
          </p:txBody>
        </p:sp>
      </p:grpSp>
      <p:grpSp>
        <p:nvGrpSpPr>
          <p:cNvPr name="Group 72" id="72"/>
          <p:cNvGrpSpPr/>
          <p:nvPr/>
        </p:nvGrpSpPr>
        <p:grpSpPr>
          <a:xfrm rot="0">
            <a:off x="1165860" y="2247138"/>
            <a:ext cx="15951708" cy="1126998"/>
            <a:chOff x="0" y="0"/>
            <a:chExt cx="21268944" cy="1502664"/>
          </a:xfrm>
        </p:grpSpPr>
        <p:sp>
          <p:nvSpPr>
            <p:cNvPr name="Freeform 73" id="73"/>
            <p:cNvSpPr/>
            <p:nvPr/>
          </p:nvSpPr>
          <p:spPr>
            <a:xfrm flipH="false" flipV="false" rot="0">
              <a:off x="0" y="0"/>
              <a:ext cx="21268944" cy="1502664"/>
            </a:xfrm>
            <a:custGeom>
              <a:avLst/>
              <a:gdLst/>
              <a:ahLst/>
              <a:cxnLst/>
              <a:rect r="r" b="b" t="t" l="l"/>
              <a:pathLst>
                <a:path h="1502664" w="21268944">
                  <a:moveTo>
                    <a:pt x="0" y="0"/>
                  </a:moveTo>
                  <a:lnTo>
                    <a:pt x="21268944" y="0"/>
                  </a:lnTo>
                  <a:lnTo>
                    <a:pt x="21268944" y="1502664"/>
                  </a:lnTo>
                  <a:lnTo>
                    <a:pt x="0" y="1502664"/>
                  </a:lnTo>
                  <a:close/>
                </a:path>
              </a:pathLst>
            </a:custGeom>
            <a:blipFill>
              <a:blip r:embed="rId6">
                <a:alphaModFix amt="0"/>
              </a:blip>
              <a:stretch>
                <a:fillRect l="0" t="-225794" r="0" b="-225794"/>
              </a:stretch>
            </a:blipFill>
          </p:spPr>
          <p:txBody>
            <a:bodyPr/>
            <a:p/>
          </p:txBody>
        </p:sp>
        <p:sp>
          <p:nvSpPr>
            <p:cNvPr name="TextBox 74" id="74"/>
            <p:cNvSpPr txBox="true"/>
            <p:nvPr/>
          </p:nvSpPr>
          <p:spPr>
            <a:xfrm>
              <a:off x="0" y="-38100"/>
              <a:ext cx="21268944" cy="1540764"/>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Uji: 3 skenario × 7 kondisi — C0 (acuan) + C1–C6 yang menggeser rasio LPD/LPE (0,65; 0,90), bobot daya tarik (2 kombinasi alternatif), dan laju konversi dasar (batas selang kepercayaan 95%).</a:t>
              </a:r>
            </a:p>
          </p:txBody>
        </p:sp>
      </p:grpSp>
      <p:sp>
        <p:nvSpPr>
          <p:cNvPr name="TextBox 75" id="75"/>
          <p:cNvSpPr txBox="true"/>
          <p:nvPr/>
        </p:nvSpPr>
        <p:spPr>
          <a:xfrm rot="0">
            <a:off x="960120" y="3424428"/>
            <a:ext cx="5486400" cy="525780"/>
          </a:xfrm>
          <a:prstGeom prst="rect">
            <a:avLst/>
          </a:prstGeom>
        </p:spPr>
        <p:txBody>
          <a:bodyPr anchor="t" rtlCol="false" tIns="0" lIns="0" bIns="0" rIns="0">
            <a:spAutoFit/>
          </a:bodyPr>
          <a:lstStyle/>
          <a:p>
            <a:pPr algn="l">
              <a:lnSpc>
                <a:spcPts val="2070"/>
              </a:lnSpc>
            </a:pPr>
            <a:r>
              <a:rPr lang="en-US" sz="1725" b="true">
                <a:solidFill>
                  <a:srgbClr val="5E6E78"/>
                </a:solidFill>
                <a:latin typeface="Calibri (MS) Bold"/>
                <a:ea typeface="Calibri (MS) Bold"/>
                <a:cs typeface="Calibri (MS) Bold"/>
                <a:sym typeface="Calibri (MS) Bold"/>
              </a:rPr>
              <a:t>Indikator</a:t>
            </a:r>
          </a:p>
        </p:txBody>
      </p:sp>
      <p:sp>
        <p:nvSpPr>
          <p:cNvPr name="TextBox 76" id="76"/>
          <p:cNvSpPr txBox="true"/>
          <p:nvPr/>
        </p:nvSpPr>
        <p:spPr>
          <a:xfrm rot="0">
            <a:off x="6858000" y="3424428"/>
            <a:ext cx="8229600" cy="525780"/>
          </a:xfrm>
          <a:prstGeom prst="rect">
            <a:avLst/>
          </a:prstGeom>
        </p:spPr>
        <p:txBody>
          <a:bodyPr anchor="t" rtlCol="false" tIns="0" lIns="0" bIns="0" rIns="0">
            <a:spAutoFit/>
          </a:bodyPr>
          <a:lstStyle/>
          <a:p>
            <a:pPr algn="l">
              <a:lnSpc>
                <a:spcPts val="2070"/>
              </a:lnSpc>
            </a:pPr>
            <a:r>
              <a:rPr lang="en-US" sz="1725" b="true">
                <a:solidFill>
                  <a:srgbClr val="5E6E78"/>
                </a:solidFill>
                <a:latin typeface="Calibri (MS) Bold"/>
                <a:ea typeface="Calibri (MS) Bold"/>
                <a:cs typeface="Calibri (MS) Bold"/>
                <a:sym typeface="Calibri (MS) Bold"/>
              </a:rPr>
              <a:t>Urutan dari terbaik ke terburuk — identik pada C0–C6</a:t>
            </a:r>
          </a:p>
        </p:txBody>
      </p:sp>
      <p:grpSp>
        <p:nvGrpSpPr>
          <p:cNvPr name="Group 77" id="77"/>
          <p:cNvGrpSpPr/>
          <p:nvPr/>
        </p:nvGrpSpPr>
        <p:grpSpPr>
          <a:xfrm rot="0">
            <a:off x="822960" y="4005072"/>
            <a:ext cx="16637508" cy="576072"/>
            <a:chOff x="0" y="0"/>
            <a:chExt cx="22183344" cy="768096"/>
          </a:xfrm>
        </p:grpSpPr>
        <p:sp>
          <p:nvSpPr>
            <p:cNvPr name="Freeform 78" id="78"/>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txBody>
            <a:bodyPr/>
            <a:p/>
          </p:txBody>
        </p:sp>
      </p:grpSp>
      <p:grpSp>
        <p:nvGrpSpPr>
          <p:cNvPr name="Group 79" id="79"/>
          <p:cNvGrpSpPr/>
          <p:nvPr/>
        </p:nvGrpSpPr>
        <p:grpSpPr>
          <a:xfrm rot="0">
            <a:off x="1097280" y="4005072"/>
            <a:ext cx="5486400" cy="576072"/>
            <a:chOff x="0" y="0"/>
            <a:chExt cx="7315200" cy="768096"/>
          </a:xfrm>
        </p:grpSpPr>
        <p:sp>
          <p:nvSpPr>
            <p:cNvPr name="Freeform 80" id="80"/>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txBody>
            <a:bodyPr/>
            <a:p/>
          </p:txBody>
        </p:sp>
      </p:grpSp>
      <p:grpSp>
        <p:nvGrpSpPr>
          <p:cNvPr name="Group 81" id="81"/>
          <p:cNvGrpSpPr/>
          <p:nvPr/>
        </p:nvGrpSpPr>
        <p:grpSpPr>
          <a:xfrm rot="0">
            <a:off x="1097280" y="3969353"/>
            <a:ext cx="5486400" cy="611791"/>
            <a:chOff x="0" y="0"/>
            <a:chExt cx="7315200" cy="815721"/>
          </a:xfrm>
        </p:grpSpPr>
        <p:sp>
          <p:nvSpPr>
            <p:cNvPr name="Freeform 82" id="82"/>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616" r="0" b="-124616"/>
              </a:stretch>
            </a:blipFill>
          </p:spPr>
          <p:txBody>
            <a:bodyPr/>
            <a:p/>
          </p:txBody>
        </p:sp>
      </p:grpSp>
      <p:grpSp>
        <p:nvGrpSpPr>
          <p:cNvPr name="Group 83" id="83"/>
          <p:cNvGrpSpPr/>
          <p:nvPr/>
        </p:nvGrpSpPr>
        <p:grpSpPr>
          <a:xfrm rot="0">
            <a:off x="1097280" y="3933634"/>
            <a:ext cx="5486400" cy="647510"/>
            <a:chOff x="0" y="0"/>
            <a:chExt cx="7315200" cy="863346"/>
          </a:xfrm>
        </p:grpSpPr>
        <p:sp>
          <p:nvSpPr>
            <p:cNvPr name="Freeform 84" id="84"/>
            <p:cNvSpPr/>
            <p:nvPr/>
          </p:nvSpPr>
          <p:spPr>
            <a:xfrm flipH="false" flipV="false" rot="0">
              <a:off x="0" y="0"/>
              <a:ext cx="7315200" cy="863346"/>
            </a:xfrm>
            <a:custGeom>
              <a:avLst/>
              <a:gdLst/>
              <a:ahLst/>
              <a:cxnLst/>
              <a:rect r="r" b="b" t="t" l="l"/>
              <a:pathLst>
                <a:path h="863346" w="7315200">
                  <a:moveTo>
                    <a:pt x="0" y="0"/>
                  </a:moveTo>
                  <a:lnTo>
                    <a:pt x="7315200" y="0"/>
                  </a:lnTo>
                  <a:lnTo>
                    <a:pt x="7315200" y="863346"/>
                  </a:lnTo>
                  <a:lnTo>
                    <a:pt x="0" y="863346"/>
                  </a:lnTo>
                  <a:close/>
                </a:path>
              </a:pathLst>
            </a:custGeom>
            <a:blipFill>
              <a:blip r:embed="rId6">
                <a:alphaModFix amt="0"/>
              </a:blip>
              <a:stretch>
                <a:fillRect l="0" t="-115098" r="0" b="-115098"/>
              </a:stretch>
            </a:blipFill>
          </p:spPr>
          <p:txBody>
            <a:bodyPr/>
            <a:p/>
          </p:txBody>
        </p:sp>
        <p:sp>
          <p:nvSpPr>
            <p:cNvPr name="TextBox 85" id="85"/>
            <p:cNvSpPr txBox="true"/>
            <p:nvPr/>
          </p:nvSpPr>
          <p:spPr>
            <a:xfrm>
              <a:off x="0" y="-47625"/>
              <a:ext cx="7315200" cy="910971"/>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Lapangan kerja pariwisata</a:t>
              </a:r>
            </a:p>
          </p:txBody>
        </p:sp>
      </p:grpSp>
      <p:grpSp>
        <p:nvGrpSpPr>
          <p:cNvPr name="Group 86" id="86"/>
          <p:cNvGrpSpPr/>
          <p:nvPr/>
        </p:nvGrpSpPr>
        <p:grpSpPr>
          <a:xfrm rot="0">
            <a:off x="6858000" y="4073652"/>
            <a:ext cx="2880360" cy="438912"/>
            <a:chOff x="0" y="0"/>
            <a:chExt cx="3840480" cy="585216"/>
          </a:xfrm>
        </p:grpSpPr>
        <p:sp>
          <p:nvSpPr>
            <p:cNvPr name="Freeform 87" id="87"/>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txBody>
            <a:bodyPr/>
            <a:p/>
          </p:txBody>
        </p:sp>
      </p:grpSp>
      <p:grpSp>
        <p:nvGrpSpPr>
          <p:cNvPr name="Group 88" id="88"/>
          <p:cNvGrpSpPr/>
          <p:nvPr/>
        </p:nvGrpSpPr>
        <p:grpSpPr>
          <a:xfrm rot="0">
            <a:off x="6858000" y="4073652"/>
            <a:ext cx="2880360" cy="438912"/>
            <a:chOff x="0" y="0"/>
            <a:chExt cx="3840480" cy="585216"/>
          </a:xfrm>
        </p:grpSpPr>
        <p:sp>
          <p:nvSpPr>
            <p:cNvPr name="Freeform 89" id="89"/>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90" id="90"/>
          <p:cNvGrpSpPr/>
          <p:nvPr/>
        </p:nvGrpSpPr>
        <p:grpSpPr>
          <a:xfrm rot="0">
            <a:off x="6858000" y="4045077"/>
            <a:ext cx="2880360" cy="467487"/>
            <a:chOff x="0" y="0"/>
            <a:chExt cx="3840480" cy="623316"/>
          </a:xfrm>
        </p:grpSpPr>
        <p:sp>
          <p:nvSpPr>
            <p:cNvPr name="Freeform 91" id="91"/>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92" id="92"/>
          <p:cNvGrpSpPr/>
          <p:nvPr/>
        </p:nvGrpSpPr>
        <p:grpSpPr>
          <a:xfrm rot="0">
            <a:off x="6858000" y="4016502"/>
            <a:ext cx="2880360" cy="496062"/>
            <a:chOff x="0" y="0"/>
            <a:chExt cx="3840480" cy="661416"/>
          </a:xfrm>
        </p:grpSpPr>
        <p:sp>
          <p:nvSpPr>
            <p:cNvPr name="Freeform 93" id="93"/>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94" id="94"/>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95" id="95"/>
          <p:cNvGrpSpPr/>
          <p:nvPr/>
        </p:nvGrpSpPr>
        <p:grpSpPr>
          <a:xfrm rot="0">
            <a:off x="9738360" y="4005072"/>
            <a:ext cx="342900" cy="576072"/>
            <a:chOff x="0" y="0"/>
            <a:chExt cx="457200" cy="768096"/>
          </a:xfrm>
        </p:grpSpPr>
        <p:sp>
          <p:nvSpPr>
            <p:cNvPr name="Freeform 96" id="96"/>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97" id="97"/>
          <p:cNvGrpSpPr/>
          <p:nvPr/>
        </p:nvGrpSpPr>
        <p:grpSpPr>
          <a:xfrm rot="0">
            <a:off x="9738360" y="3969353"/>
            <a:ext cx="342900" cy="611791"/>
            <a:chOff x="0" y="0"/>
            <a:chExt cx="457200" cy="815721"/>
          </a:xfrm>
        </p:grpSpPr>
        <p:sp>
          <p:nvSpPr>
            <p:cNvPr name="Freeform 98" id="98"/>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99" id="99"/>
          <p:cNvGrpSpPr/>
          <p:nvPr/>
        </p:nvGrpSpPr>
        <p:grpSpPr>
          <a:xfrm rot="0">
            <a:off x="9738360" y="3933634"/>
            <a:ext cx="342900" cy="647510"/>
            <a:chOff x="0" y="0"/>
            <a:chExt cx="457200" cy="863346"/>
          </a:xfrm>
        </p:grpSpPr>
        <p:sp>
          <p:nvSpPr>
            <p:cNvPr name="Freeform 100" id="100"/>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101" id="101"/>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02" id="102"/>
          <p:cNvGrpSpPr/>
          <p:nvPr/>
        </p:nvGrpSpPr>
        <p:grpSpPr>
          <a:xfrm rot="0">
            <a:off x="10081260" y="4073652"/>
            <a:ext cx="2880360" cy="438912"/>
            <a:chOff x="0" y="0"/>
            <a:chExt cx="3840480" cy="585216"/>
          </a:xfrm>
        </p:grpSpPr>
        <p:sp>
          <p:nvSpPr>
            <p:cNvPr name="Freeform 103" id="103"/>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txBody>
            <a:bodyPr/>
            <a:p/>
          </p:txBody>
        </p:sp>
      </p:grpSp>
      <p:grpSp>
        <p:nvGrpSpPr>
          <p:cNvPr name="Group 104" id="104"/>
          <p:cNvGrpSpPr/>
          <p:nvPr/>
        </p:nvGrpSpPr>
        <p:grpSpPr>
          <a:xfrm rot="0">
            <a:off x="10081260" y="4073652"/>
            <a:ext cx="2880360" cy="438912"/>
            <a:chOff x="0" y="0"/>
            <a:chExt cx="3840480" cy="585216"/>
          </a:xfrm>
        </p:grpSpPr>
        <p:sp>
          <p:nvSpPr>
            <p:cNvPr name="Freeform 105" id="105"/>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106" id="106"/>
          <p:cNvGrpSpPr/>
          <p:nvPr/>
        </p:nvGrpSpPr>
        <p:grpSpPr>
          <a:xfrm rot="0">
            <a:off x="10081260" y="4045077"/>
            <a:ext cx="2880360" cy="467487"/>
            <a:chOff x="0" y="0"/>
            <a:chExt cx="3840480" cy="623316"/>
          </a:xfrm>
        </p:grpSpPr>
        <p:sp>
          <p:nvSpPr>
            <p:cNvPr name="Freeform 107" id="107"/>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108" id="108"/>
          <p:cNvGrpSpPr/>
          <p:nvPr/>
        </p:nvGrpSpPr>
        <p:grpSpPr>
          <a:xfrm rot="0">
            <a:off x="10081260" y="4016502"/>
            <a:ext cx="2880360" cy="496062"/>
            <a:chOff x="0" y="0"/>
            <a:chExt cx="3840480" cy="661416"/>
          </a:xfrm>
        </p:grpSpPr>
        <p:sp>
          <p:nvSpPr>
            <p:cNvPr name="Freeform 109" id="109"/>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110" id="110"/>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111" id="111"/>
          <p:cNvGrpSpPr/>
          <p:nvPr/>
        </p:nvGrpSpPr>
        <p:grpSpPr>
          <a:xfrm rot="0">
            <a:off x="12961620" y="4005072"/>
            <a:ext cx="342900" cy="576072"/>
            <a:chOff x="0" y="0"/>
            <a:chExt cx="457200" cy="768096"/>
          </a:xfrm>
        </p:grpSpPr>
        <p:sp>
          <p:nvSpPr>
            <p:cNvPr name="Freeform 112" id="112"/>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113" id="113"/>
          <p:cNvGrpSpPr/>
          <p:nvPr/>
        </p:nvGrpSpPr>
        <p:grpSpPr>
          <a:xfrm rot="0">
            <a:off x="12961620" y="3969353"/>
            <a:ext cx="342900" cy="611791"/>
            <a:chOff x="0" y="0"/>
            <a:chExt cx="457200" cy="815721"/>
          </a:xfrm>
        </p:grpSpPr>
        <p:sp>
          <p:nvSpPr>
            <p:cNvPr name="Freeform 114" id="114"/>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115" id="115"/>
          <p:cNvGrpSpPr/>
          <p:nvPr/>
        </p:nvGrpSpPr>
        <p:grpSpPr>
          <a:xfrm rot="0">
            <a:off x="12961620" y="3933634"/>
            <a:ext cx="342900" cy="647510"/>
            <a:chOff x="0" y="0"/>
            <a:chExt cx="457200" cy="863346"/>
          </a:xfrm>
        </p:grpSpPr>
        <p:sp>
          <p:nvSpPr>
            <p:cNvPr name="Freeform 116" id="116"/>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117" id="117"/>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18" id="118"/>
          <p:cNvGrpSpPr/>
          <p:nvPr/>
        </p:nvGrpSpPr>
        <p:grpSpPr>
          <a:xfrm rot="0">
            <a:off x="13304520" y="4073652"/>
            <a:ext cx="2880360" cy="438912"/>
            <a:chOff x="0" y="0"/>
            <a:chExt cx="3840480" cy="585216"/>
          </a:xfrm>
        </p:grpSpPr>
        <p:sp>
          <p:nvSpPr>
            <p:cNvPr name="Freeform 119" id="119"/>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txBody>
            <a:bodyPr/>
            <a:p/>
          </p:txBody>
        </p:sp>
      </p:grpSp>
      <p:grpSp>
        <p:nvGrpSpPr>
          <p:cNvPr name="Group 120" id="120"/>
          <p:cNvGrpSpPr/>
          <p:nvPr/>
        </p:nvGrpSpPr>
        <p:grpSpPr>
          <a:xfrm rot="0">
            <a:off x="13304520" y="4073652"/>
            <a:ext cx="2880360" cy="438912"/>
            <a:chOff x="0" y="0"/>
            <a:chExt cx="3840480" cy="585216"/>
          </a:xfrm>
        </p:grpSpPr>
        <p:sp>
          <p:nvSpPr>
            <p:cNvPr name="Freeform 121" id="121"/>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122" id="122"/>
          <p:cNvGrpSpPr/>
          <p:nvPr/>
        </p:nvGrpSpPr>
        <p:grpSpPr>
          <a:xfrm rot="0">
            <a:off x="13304520" y="4045077"/>
            <a:ext cx="2880360" cy="467487"/>
            <a:chOff x="0" y="0"/>
            <a:chExt cx="3840480" cy="623316"/>
          </a:xfrm>
        </p:grpSpPr>
        <p:sp>
          <p:nvSpPr>
            <p:cNvPr name="Freeform 123" id="123"/>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124" id="124"/>
          <p:cNvGrpSpPr/>
          <p:nvPr/>
        </p:nvGrpSpPr>
        <p:grpSpPr>
          <a:xfrm rot="0">
            <a:off x="13304520" y="4016502"/>
            <a:ext cx="2880360" cy="496062"/>
            <a:chOff x="0" y="0"/>
            <a:chExt cx="3840480" cy="661416"/>
          </a:xfrm>
        </p:grpSpPr>
        <p:sp>
          <p:nvSpPr>
            <p:cNvPr name="Freeform 125" id="125"/>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126" id="126"/>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127" id="127"/>
          <p:cNvGrpSpPr/>
          <p:nvPr/>
        </p:nvGrpSpPr>
        <p:grpSpPr>
          <a:xfrm rot="0">
            <a:off x="16390620" y="4087368"/>
            <a:ext cx="891540" cy="411480"/>
            <a:chOff x="0" y="0"/>
            <a:chExt cx="1188720" cy="548640"/>
          </a:xfrm>
        </p:grpSpPr>
        <p:sp>
          <p:nvSpPr>
            <p:cNvPr name="Freeform 128" id="128"/>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29" id="129"/>
          <p:cNvGrpSpPr/>
          <p:nvPr/>
        </p:nvGrpSpPr>
        <p:grpSpPr>
          <a:xfrm rot="0">
            <a:off x="16390620" y="4087368"/>
            <a:ext cx="891540" cy="411480"/>
            <a:chOff x="0" y="0"/>
            <a:chExt cx="1188720" cy="548640"/>
          </a:xfrm>
        </p:grpSpPr>
        <p:sp>
          <p:nvSpPr>
            <p:cNvPr name="Freeform 130" id="130"/>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txBody>
            <a:bodyPr/>
            <a:p/>
          </p:txBody>
        </p:sp>
      </p:grpSp>
      <p:grpSp>
        <p:nvGrpSpPr>
          <p:cNvPr name="Group 131" id="131"/>
          <p:cNvGrpSpPr/>
          <p:nvPr/>
        </p:nvGrpSpPr>
        <p:grpSpPr>
          <a:xfrm rot="0">
            <a:off x="16390620" y="4058793"/>
            <a:ext cx="891540" cy="440055"/>
            <a:chOff x="0" y="0"/>
            <a:chExt cx="1188720" cy="586740"/>
          </a:xfrm>
        </p:grpSpPr>
        <p:sp>
          <p:nvSpPr>
            <p:cNvPr name="Freeform 132" id="132"/>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73" t="0" r="-13372" b="0"/>
              </a:stretch>
            </a:blipFill>
          </p:spPr>
          <p:txBody>
            <a:bodyPr/>
            <a:p/>
          </p:txBody>
        </p:sp>
      </p:grpSp>
      <p:grpSp>
        <p:nvGrpSpPr>
          <p:cNvPr name="Group 133" id="133"/>
          <p:cNvGrpSpPr/>
          <p:nvPr/>
        </p:nvGrpSpPr>
        <p:grpSpPr>
          <a:xfrm rot="0">
            <a:off x="16390620" y="4030218"/>
            <a:ext cx="891540" cy="468630"/>
            <a:chOff x="0" y="0"/>
            <a:chExt cx="1188720" cy="624840"/>
          </a:xfrm>
        </p:grpSpPr>
        <p:sp>
          <p:nvSpPr>
            <p:cNvPr name="Freeform 134" id="134"/>
            <p:cNvSpPr/>
            <p:nvPr/>
          </p:nvSpPr>
          <p:spPr>
            <a:xfrm flipH="false" flipV="false" rot="0">
              <a:off x="0" y="0"/>
              <a:ext cx="1188720" cy="624840"/>
            </a:xfrm>
            <a:custGeom>
              <a:avLst/>
              <a:gdLst/>
              <a:ahLst/>
              <a:cxnLst/>
              <a:rect r="r" b="b" t="t" l="l"/>
              <a:pathLst>
                <a:path h="624840" w="1188720">
                  <a:moveTo>
                    <a:pt x="0" y="0"/>
                  </a:moveTo>
                  <a:lnTo>
                    <a:pt x="1188720" y="0"/>
                  </a:lnTo>
                  <a:lnTo>
                    <a:pt x="1188720" y="624840"/>
                  </a:lnTo>
                  <a:lnTo>
                    <a:pt x="0" y="624840"/>
                  </a:lnTo>
                  <a:close/>
                </a:path>
              </a:pathLst>
            </a:custGeom>
            <a:blipFill>
              <a:blip r:embed="rId6">
                <a:alphaModFix amt="0"/>
              </a:blip>
              <a:stretch>
                <a:fillRect l="-17441" t="0" r="-17441" b="0"/>
              </a:stretch>
            </a:blipFill>
          </p:spPr>
          <p:txBody>
            <a:bodyPr/>
            <a:p/>
          </p:txBody>
        </p:sp>
        <p:sp>
          <p:nvSpPr>
            <p:cNvPr name="TextBox 135" id="135"/>
            <p:cNvSpPr txBox="true"/>
            <p:nvPr/>
          </p:nvSpPr>
          <p:spPr>
            <a:xfrm>
              <a:off x="0" y="-38100"/>
              <a:ext cx="1188720" cy="6629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ROBUST</a:t>
              </a:r>
            </a:p>
          </p:txBody>
        </p:sp>
      </p:grpSp>
      <p:grpSp>
        <p:nvGrpSpPr>
          <p:cNvPr name="Group 136" id="136"/>
          <p:cNvGrpSpPr/>
          <p:nvPr/>
        </p:nvGrpSpPr>
        <p:grpSpPr>
          <a:xfrm rot="0">
            <a:off x="822960" y="4649724"/>
            <a:ext cx="16637508" cy="576072"/>
            <a:chOff x="0" y="0"/>
            <a:chExt cx="22183344" cy="768096"/>
          </a:xfrm>
        </p:grpSpPr>
        <p:sp>
          <p:nvSpPr>
            <p:cNvPr name="Freeform 137" id="137"/>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FFFFFF"/>
            </a:solidFill>
          </p:spPr>
          <p:txBody>
            <a:bodyPr/>
            <a:p/>
          </p:txBody>
        </p:sp>
      </p:grpSp>
      <p:grpSp>
        <p:nvGrpSpPr>
          <p:cNvPr name="Group 138" id="138"/>
          <p:cNvGrpSpPr/>
          <p:nvPr/>
        </p:nvGrpSpPr>
        <p:grpSpPr>
          <a:xfrm rot="0">
            <a:off x="1097280" y="4649724"/>
            <a:ext cx="5486400" cy="576072"/>
            <a:chOff x="0" y="0"/>
            <a:chExt cx="7315200" cy="768096"/>
          </a:xfrm>
        </p:grpSpPr>
        <p:sp>
          <p:nvSpPr>
            <p:cNvPr name="Freeform 139" id="139"/>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txBody>
            <a:bodyPr/>
            <a:p/>
          </p:txBody>
        </p:sp>
      </p:grpSp>
      <p:grpSp>
        <p:nvGrpSpPr>
          <p:cNvPr name="Group 140" id="140"/>
          <p:cNvGrpSpPr/>
          <p:nvPr/>
        </p:nvGrpSpPr>
        <p:grpSpPr>
          <a:xfrm rot="0">
            <a:off x="1097280" y="4614005"/>
            <a:ext cx="5486400" cy="611791"/>
            <a:chOff x="0" y="0"/>
            <a:chExt cx="7315200" cy="815721"/>
          </a:xfrm>
        </p:grpSpPr>
        <p:sp>
          <p:nvSpPr>
            <p:cNvPr name="Freeform 141" id="141"/>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616" r="0" b="-124616"/>
              </a:stretch>
            </a:blipFill>
          </p:spPr>
          <p:txBody>
            <a:bodyPr/>
            <a:p/>
          </p:txBody>
        </p:sp>
      </p:grpSp>
      <p:grpSp>
        <p:nvGrpSpPr>
          <p:cNvPr name="Group 142" id="142"/>
          <p:cNvGrpSpPr/>
          <p:nvPr/>
        </p:nvGrpSpPr>
        <p:grpSpPr>
          <a:xfrm rot="0">
            <a:off x="1097280" y="4578286"/>
            <a:ext cx="5486400" cy="647510"/>
            <a:chOff x="0" y="0"/>
            <a:chExt cx="7315200" cy="863346"/>
          </a:xfrm>
        </p:grpSpPr>
        <p:sp>
          <p:nvSpPr>
            <p:cNvPr name="Freeform 143" id="143"/>
            <p:cNvSpPr/>
            <p:nvPr/>
          </p:nvSpPr>
          <p:spPr>
            <a:xfrm flipH="false" flipV="false" rot="0">
              <a:off x="0" y="0"/>
              <a:ext cx="7315200" cy="863346"/>
            </a:xfrm>
            <a:custGeom>
              <a:avLst/>
              <a:gdLst/>
              <a:ahLst/>
              <a:cxnLst/>
              <a:rect r="r" b="b" t="t" l="l"/>
              <a:pathLst>
                <a:path h="863346" w="7315200">
                  <a:moveTo>
                    <a:pt x="0" y="0"/>
                  </a:moveTo>
                  <a:lnTo>
                    <a:pt x="7315200" y="0"/>
                  </a:lnTo>
                  <a:lnTo>
                    <a:pt x="7315200" y="863346"/>
                  </a:lnTo>
                  <a:lnTo>
                    <a:pt x="0" y="863346"/>
                  </a:lnTo>
                  <a:close/>
                </a:path>
              </a:pathLst>
            </a:custGeom>
            <a:blipFill>
              <a:blip r:embed="rId6">
                <a:alphaModFix amt="0"/>
              </a:blip>
              <a:stretch>
                <a:fillRect l="0" t="-115098" r="0" b="-115098"/>
              </a:stretch>
            </a:blipFill>
          </p:spPr>
          <p:txBody>
            <a:bodyPr/>
            <a:p/>
          </p:txBody>
        </p:sp>
        <p:sp>
          <p:nvSpPr>
            <p:cNvPr name="TextBox 144" id="144"/>
            <p:cNvSpPr txBox="true"/>
            <p:nvPr/>
          </p:nvSpPr>
          <p:spPr>
            <a:xfrm>
              <a:off x="0" y="-47625"/>
              <a:ext cx="7315200" cy="910971"/>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PDRB pariwisata</a:t>
              </a:r>
            </a:p>
          </p:txBody>
        </p:sp>
      </p:grpSp>
      <p:grpSp>
        <p:nvGrpSpPr>
          <p:cNvPr name="Group 145" id="145"/>
          <p:cNvGrpSpPr/>
          <p:nvPr/>
        </p:nvGrpSpPr>
        <p:grpSpPr>
          <a:xfrm rot="0">
            <a:off x="6858000" y="4718304"/>
            <a:ext cx="2880360" cy="438912"/>
            <a:chOff x="0" y="0"/>
            <a:chExt cx="3840480" cy="585216"/>
          </a:xfrm>
        </p:grpSpPr>
        <p:sp>
          <p:nvSpPr>
            <p:cNvPr name="Freeform 146" id="146"/>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txBody>
            <a:bodyPr/>
            <a:p/>
          </p:txBody>
        </p:sp>
      </p:grpSp>
      <p:grpSp>
        <p:nvGrpSpPr>
          <p:cNvPr name="Group 147" id="147"/>
          <p:cNvGrpSpPr/>
          <p:nvPr/>
        </p:nvGrpSpPr>
        <p:grpSpPr>
          <a:xfrm rot="0">
            <a:off x="6858000" y="4718304"/>
            <a:ext cx="2880360" cy="438912"/>
            <a:chOff x="0" y="0"/>
            <a:chExt cx="3840480" cy="585216"/>
          </a:xfrm>
        </p:grpSpPr>
        <p:sp>
          <p:nvSpPr>
            <p:cNvPr name="Freeform 148" id="148"/>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149" id="149"/>
          <p:cNvGrpSpPr/>
          <p:nvPr/>
        </p:nvGrpSpPr>
        <p:grpSpPr>
          <a:xfrm rot="0">
            <a:off x="6858000" y="4689729"/>
            <a:ext cx="2880360" cy="467487"/>
            <a:chOff x="0" y="0"/>
            <a:chExt cx="3840480" cy="623316"/>
          </a:xfrm>
        </p:grpSpPr>
        <p:sp>
          <p:nvSpPr>
            <p:cNvPr name="Freeform 150" id="150"/>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151" id="151"/>
          <p:cNvGrpSpPr/>
          <p:nvPr/>
        </p:nvGrpSpPr>
        <p:grpSpPr>
          <a:xfrm rot="0">
            <a:off x="6858000" y="4661154"/>
            <a:ext cx="2880360" cy="496062"/>
            <a:chOff x="0" y="0"/>
            <a:chExt cx="3840480" cy="661416"/>
          </a:xfrm>
        </p:grpSpPr>
        <p:sp>
          <p:nvSpPr>
            <p:cNvPr name="Freeform 152" id="152"/>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153" id="153"/>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154" id="154"/>
          <p:cNvGrpSpPr/>
          <p:nvPr/>
        </p:nvGrpSpPr>
        <p:grpSpPr>
          <a:xfrm rot="0">
            <a:off x="9738360" y="4649724"/>
            <a:ext cx="342900" cy="576072"/>
            <a:chOff x="0" y="0"/>
            <a:chExt cx="457200" cy="768096"/>
          </a:xfrm>
        </p:grpSpPr>
        <p:sp>
          <p:nvSpPr>
            <p:cNvPr name="Freeform 155" id="155"/>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156" id="156"/>
          <p:cNvGrpSpPr/>
          <p:nvPr/>
        </p:nvGrpSpPr>
        <p:grpSpPr>
          <a:xfrm rot="0">
            <a:off x="9738360" y="4614005"/>
            <a:ext cx="342900" cy="611791"/>
            <a:chOff x="0" y="0"/>
            <a:chExt cx="457200" cy="815721"/>
          </a:xfrm>
        </p:grpSpPr>
        <p:sp>
          <p:nvSpPr>
            <p:cNvPr name="Freeform 157" id="157"/>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158" id="158"/>
          <p:cNvGrpSpPr/>
          <p:nvPr/>
        </p:nvGrpSpPr>
        <p:grpSpPr>
          <a:xfrm rot="0">
            <a:off x="9738360" y="4578286"/>
            <a:ext cx="342900" cy="647510"/>
            <a:chOff x="0" y="0"/>
            <a:chExt cx="457200" cy="863346"/>
          </a:xfrm>
        </p:grpSpPr>
        <p:sp>
          <p:nvSpPr>
            <p:cNvPr name="Freeform 159" id="159"/>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160" id="160"/>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61" id="161"/>
          <p:cNvGrpSpPr/>
          <p:nvPr/>
        </p:nvGrpSpPr>
        <p:grpSpPr>
          <a:xfrm rot="0">
            <a:off x="10081260" y="4718304"/>
            <a:ext cx="2880360" cy="438912"/>
            <a:chOff x="0" y="0"/>
            <a:chExt cx="3840480" cy="585216"/>
          </a:xfrm>
        </p:grpSpPr>
        <p:sp>
          <p:nvSpPr>
            <p:cNvPr name="Freeform 162" id="162"/>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txBody>
            <a:bodyPr/>
            <a:p/>
          </p:txBody>
        </p:sp>
      </p:grpSp>
      <p:grpSp>
        <p:nvGrpSpPr>
          <p:cNvPr name="Group 163" id="163"/>
          <p:cNvGrpSpPr/>
          <p:nvPr/>
        </p:nvGrpSpPr>
        <p:grpSpPr>
          <a:xfrm rot="0">
            <a:off x="10081260" y="4718304"/>
            <a:ext cx="2880360" cy="438912"/>
            <a:chOff x="0" y="0"/>
            <a:chExt cx="3840480" cy="585216"/>
          </a:xfrm>
        </p:grpSpPr>
        <p:sp>
          <p:nvSpPr>
            <p:cNvPr name="Freeform 164" id="164"/>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165" id="165"/>
          <p:cNvGrpSpPr/>
          <p:nvPr/>
        </p:nvGrpSpPr>
        <p:grpSpPr>
          <a:xfrm rot="0">
            <a:off x="10081260" y="4689729"/>
            <a:ext cx="2880360" cy="467487"/>
            <a:chOff x="0" y="0"/>
            <a:chExt cx="3840480" cy="623316"/>
          </a:xfrm>
        </p:grpSpPr>
        <p:sp>
          <p:nvSpPr>
            <p:cNvPr name="Freeform 166" id="166"/>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167" id="167"/>
          <p:cNvGrpSpPr/>
          <p:nvPr/>
        </p:nvGrpSpPr>
        <p:grpSpPr>
          <a:xfrm rot="0">
            <a:off x="10081260" y="4661154"/>
            <a:ext cx="2880360" cy="496062"/>
            <a:chOff x="0" y="0"/>
            <a:chExt cx="3840480" cy="661416"/>
          </a:xfrm>
        </p:grpSpPr>
        <p:sp>
          <p:nvSpPr>
            <p:cNvPr name="Freeform 168" id="168"/>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169" id="169"/>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170" id="170"/>
          <p:cNvGrpSpPr/>
          <p:nvPr/>
        </p:nvGrpSpPr>
        <p:grpSpPr>
          <a:xfrm rot="0">
            <a:off x="12961620" y="4649724"/>
            <a:ext cx="342900" cy="576072"/>
            <a:chOff x="0" y="0"/>
            <a:chExt cx="457200" cy="768096"/>
          </a:xfrm>
        </p:grpSpPr>
        <p:sp>
          <p:nvSpPr>
            <p:cNvPr name="Freeform 171" id="171"/>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172" id="172"/>
          <p:cNvGrpSpPr/>
          <p:nvPr/>
        </p:nvGrpSpPr>
        <p:grpSpPr>
          <a:xfrm rot="0">
            <a:off x="12961620" y="4614005"/>
            <a:ext cx="342900" cy="611791"/>
            <a:chOff x="0" y="0"/>
            <a:chExt cx="457200" cy="815721"/>
          </a:xfrm>
        </p:grpSpPr>
        <p:sp>
          <p:nvSpPr>
            <p:cNvPr name="Freeform 173" id="173"/>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174" id="174"/>
          <p:cNvGrpSpPr/>
          <p:nvPr/>
        </p:nvGrpSpPr>
        <p:grpSpPr>
          <a:xfrm rot="0">
            <a:off x="12961620" y="4578286"/>
            <a:ext cx="342900" cy="647510"/>
            <a:chOff x="0" y="0"/>
            <a:chExt cx="457200" cy="863346"/>
          </a:xfrm>
        </p:grpSpPr>
        <p:sp>
          <p:nvSpPr>
            <p:cNvPr name="Freeform 175" id="175"/>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176" id="176"/>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77" id="177"/>
          <p:cNvGrpSpPr/>
          <p:nvPr/>
        </p:nvGrpSpPr>
        <p:grpSpPr>
          <a:xfrm rot="0">
            <a:off x="13304520" y="4718304"/>
            <a:ext cx="2880360" cy="438912"/>
            <a:chOff x="0" y="0"/>
            <a:chExt cx="3840480" cy="585216"/>
          </a:xfrm>
        </p:grpSpPr>
        <p:sp>
          <p:nvSpPr>
            <p:cNvPr name="Freeform 178" id="178"/>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txBody>
            <a:bodyPr/>
            <a:p/>
          </p:txBody>
        </p:sp>
      </p:grpSp>
      <p:grpSp>
        <p:nvGrpSpPr>
          <p:cNvPr name="Group 179" id="179"/>
          <p:cNvGrpSpPr/>
          <p:nvPr/>
        </p:nvGrpSpPr>
        <p:grpSpPr>
          <a:xfrm rot="0">
            <a:off x="13304520" y="4718304"/>
            <a:ext cx="2880360" cy="438912"/>
            <a:chOff x="0" y="0"/>
            <a:chExt cx="3840480" cy="585216"/>
          </a:xfrm>
        </p:grpSpPr>
        <p:sp>
          <p:nvSpPr>
            <p:cNvPr name="Freeform 180" id="180"/>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181" id="181"/>
          <p:cNvGrpSpPr/>
          <p:nvPr/>
        </p:nvGrpSpPr>
        <p:grpSpPr>
          <a:xfrm rot="0">
            <a:off x="13304520" y="4689729"/>
            <a:ext cx="2880360" cy="467487"/>
            <a:chOff x="0" y="0"/>
            <a:chExt cx="3840480" cy="623316"/>
          </a:xfrm>
        </p:grpSpPr>
        <p:sp>
          <p:nvSpPr>
            <p:cNvPr name="Freeform 182" id="182"/>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183" id="183"/>
          <p:cNvGrpSpPr/>
          <p:nvPr/>
        </p:nvGrpSpPr>
        <p:grpSpPr>
          <a:xfrm rot="0">
            <a:off x="13304520" y="4661154"/>
            <a:ext cx="2880360" cy="496062"/>
            <a:chOff x="0" y="0"/>
            <a:chExt cx="3840480" cy="661416"/>
          </a:xfrm>
        </p:grpSpPr>
        <p:sp>
          <p:nvSpPr>
            <p:cNvPr name="Freeform 184" id="184"/>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185" id="185"/>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186" id="186"/>
          <p:cNvGrpSpPr/>
          <p:nvPr/>
        </p:nvGrpSpPr>
        <p:grpSpPr>
          <a:xfrm rot="0">
            <a:off x="16390620" y="4732020"/>
            <a:ext cx="891540" cy="411480"/>
            <a:chOff x="0" y="0"/>
            <a:chExt cx="1188720" cy="548640"/>
          </a:xfrm>
        </p:grpSpPr>
        <p:sp>
          <p:nvSpPr>
            <p:cNvPr name="Freeform 187" id="187"/>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88" id="188"/>
          <p:cNvGrpSpPr/>
          <p:nvPr/>
        </p:nvGrpSpPr>
        <p:grpSpPr>
          <a:xfrm rot="0">
            <a:off x="16390620" y="4732020"/>
            <a:ext cx="891540" cy="411480"/>
            <a:chOff x="0" y="0"/>
            <a:chExt cx="1188720" cy="548640"/>
          </a:xfrm>
        </p:grpSpPr>
        <p:sp>
          <p:nvSpPr>
            <p:cNvPr name="Freeform 189" id="189"/>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txBody>
            <a:bodyPr/>
            <a:p/>
          </p:txBody>
        </p:sp>
      </p:grpSp>
      <p:grpSp>
        <p:nvGrpSpPr>
          <p:cNvPr name="Group 190" id="190"/>
          <p:cNvGrpSpPr/>
          <p:nvPr/>
        </p:nvGrpSpPr>
        <p:grpSpPr>
          <a:xfrm rot="0">
            <a:off x="16390620" y="4703445"/>
            <a:ext cx="891540" cy="440055"/>
            <a:chOff x="0" y="0"/>
            <a:chExt cx="1188720" cy="586740"/>
          </a:xfrm>
        </p:grpSpPr>
        <p:sp>
          <p:nvSpPr>
            <p:cNvPr name="Freeform 191" id="191"/>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73" t="0" r="-13372" b="0"/>
              </a:stretch>
            </a:blipFill>
          </p:spPr>
          <p:txBody>
            <a:bodyPr/>
            <a:p/>
          </p:txBody>
        </p:sp>
      </p:grpSp>
      <p:grpSp>
        <p:nvGrpSpPr>
          <p:cNvPr name="Group 192" id="192"/>
          <p:cNvGrpSpPr/>
          <p:nvPr/>
        </p:nvGrpSpPr>
        <p:grpSpPr>
          <a:xfrm rot="0">
            <a:off x="16390620" y="4674870"/>
            <a:ext cx="891540" cy="468630"/>
            <a:chOff x="0" y="0"/>
            <a:chExt cx="1188720" cy="624840"/>
          </a:xfrm>
        </p:grpSpPr>
        <p:sp>
          <p:nvSpPr>
            <p:cNvPr name="Freeform 193" id="193"/>
            <p:cNvSpPr/>
            <p:nvPr/>
          </p:nvSpPr>
          <p:spPr>
            <a:xfrm flipH="false" flipV="false" rot="0">
              <a:off x="0" y="0"/>
              <a:ext cx="1188720" cy="624840"/>
            </a:xfrm>
            <a:custGeom>
              <a:avLst/>
              <a:gdLst/>
              <a:ahLst/>
              <a:cxnLst/>
              <a:rect r="r" b="b" t="t" l="l"/>
              <a:pathLst>
                <a:path h="624840" w="1188720">
                  <a:moveTo>
                    <a:pt x="0" y="0"/>
                  </a:moveTo>
                  <a:lnTo>
                    <a:pt x="1188720" y="0"/>
                  </a:lnTo>
                  <a:lnTo>
                    <a:pt x="1188720" y="624840"/>
                  </a:lnTo>
                  <a:lnTo>
                    <a:pt x="0" y="624840"/>
                  </a:lnTo>
                  <a:close/>
                </a:path>
              </a:pathLst>
            </a:custGeom>
            <a:blipFill>
              <a:blip r:embed="rId6">
                <a:alphaModFix amt="0"/>
              </a:blip>
              <a:stretch>
                <a:fillRect l="-17441" t="0" r="-17441" b="0"/>
              </a:stretch>
            </a:blipFill>
          </p:spPr>
          <p:txBody>
            <a:bodyPr/>
            <a:p/>
          </p:txBody>
        </p:sp>
        <p:sp>
          <p:nvSpPr>
            <p:cNvPr name="TextBox 194" id="194"/>
            <p:cNvSpPr txBox="true"/>
            <p:nvPr/>
          </p:nvSpPr>
          <p:spPr>
            <a:xfrm>
              <a:off x="0" y="-38100"/>
              <a:ext cx="1188720" cy="6629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ROBUST</a:t>
              </a:r>
            </a:p>
          </p:txBody>
        </p:sp>
      </p:grpSp>
      <p:grpSp>
        <p:nvGrpSpPr>
          <p:cNvPr name="Group 195" id="195"/>
          <p:cNvGrpSpPr/>
          <p:nvPr/>
        </p:nvGrpSpPr>
        <p:grpSpPr>
          <a:xfrm rot="0">
            <a:off x="822960" y="5294376"/>
            <a:ext cx="16637508" cy="576072"/>
            <a:chOff x="0" y="0"/>
            <a:chExt cx="22183344" cy="768096"/>
          </a:xfrm>
        </p:grpSpPr>
        <p:sp>
          <p:nvSpPr>
            <p:cNvPr name="Freeform 196" id="196"/>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txBody>
            <a:bodyPr/>
            <a:p/>
          </p:txBody>
        </p:sp>
      </p:grpSp>
      <p:grpSp>
        <p:nvGrpSpPr>
          <p:cNvPr name="Group 197" id="197"/>
          <p:cNvGrpSpPr/>
          <p:nvPr/>
        </p:nvGrpSpPr>
        <p:grpSpPr>
          <a:xfrm rot="0">
            <a:off x="1097280" y="5294376"/>
            <a:ext cx="5486400" cy="576072"/>
            <a:chOff x="0" y="0"/>
            <a:chExt cx="7315200" cy="768096"/>
          </a:xfrm>
        </p:grpSpPr>
        <p:sp>
          <p:nvSpPr>
            <p:cNvPr name="Freeform 198" id="198"/>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txBody>
            <a:bodyPr/>
            <a:p/>
          </p:txBody>
        </p:sp>
      </p:grpSp>
      <p:grpSp>
        <p:nvGrpSpPr>
          <p:cNvPr name="Group 199" id="199"/>
          <p:cNvGrpSpPr/>
          <p:nvPr/>
        </p:nvGrpSpPr>
        <p:grpSpPr>
          <a:xfrm rot="0">
            <a:off x="1097280" y="5258657"/>
            <a:ext cx="5486400" cy="611791"/>
            <a:chOff x="0" y="0"/>
            <a:chExt cx="7315200" cy="815721"/>
          </a:xfrm>
        </p:grpSpPr>
        <p:sp>
          <p:nvSpPr>
            <p:cNvPr name="Freeform 200" id="200"/>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616" r="0" b="-124616"/>
              </a:stretch>
            </a:blipFill>
          </p:spPr>
          <p:txBody>
            <a:bodyPr/>
            <a:p/>
          </p:txBody>
        </p:sp>
      </p:grpSp>
      <p:grpSp>
        <p:nvGrpSpPr>
          <p:cNvPr name="Group 201" id="201"/>
          <p:cNvGrpSpPr/>
          <p:nvPr/>
        </p:nvGrpSpPr>
        <p:grpSpPr>
          <a:xfrm rot="0">
            <a:off x="1097280" y="5222938"/>
            <a:ext cx="5486400" cy="647510"/>
            <a:chOff x="0" y="0"/>
            <a:chExt cx="7315200" cy="863346"/>
          </a:xfrm>
        </p:grpSpPr>
        <p:sp>
          <p:nvSpPr>
            <p:cNvPr name="Freeform 202" id="202"/>
            <p:cNvSpPr/>
            <p:nvPr/>
          </p:nvSpPr>
          <p:spPr>
            <a:xfrm flipH="false" flipV="false" rot="0">
              <a:off x="0" y="0"/>
              <a:ext cx="7315200" cy="863346"/>
            </a:xfrm>
            <a:custGeom>
              <a:avLst/>
              <a:gdLst/>
              <a:ahLst/>
              <a:cxnLst/>
              <a:rect r="r" b="b" t="t" l="l"/>
              <a:pathLst>
                <a:path h="863346" w="7315200">
                  <a:moveTo>
                    <a:pt x="0" y="0"/>
                  </a:moveTo>
                  <a:lnTo>
                    <a:pt x="7315200" y="0"/>
                  </a:lnTo>
                  <a:lnTo>
                    <a:pt x="7315200" y="863346"/>
                  </a:lnTo>
                  <a:lnTo>
                    <a:pt x="0" y="863346"/>
                  </a:lnTo>
                  <a:close/>
                </a:path>
              </a:pathLst>
            </a:custGeom>
            <a:blipFill>
              <a:blip r:embed="rId6">
                <a:alphaModFix amt="0"/>
              </a:blip>
              <a:stretch>
                <a:fillRect l="0" t="-115098" r="0" b="-115098"/>
              </a:stretch>
            </a:blipFill>
          </p:spPr>
          <p:txBody>
            <a:bodyPr/>
            <a:p/>
          </p:txBody>
        </p:sp>
        <p:sp>
          <p:nvSpPr>
            <p:cNvPr name="TextBox 203" id="203"/>
            <p:cNvSpPr txBox="true"/>
            <p:nvPr/>
          </p:nvSpPr>
          <p:spPr>
            <a:xfrm>
              <a:off x="0" y="-47625"/>
              <a:ext cx="7315200" cy="910971"/>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Daya tarik destinasi</a:t>
              </a:r>
            </a:p>
          </p:txBody>
        </p:sp>
      </p:grpSp>
      <p:grpSp>
        <p:nvGrpSpPr>
          <p:cNvPr name="Group 204" id="204"/>
          <p:cNvGrpSpPr/>
          <p:nvPr/>
        </p:nvGrpSpPr>
        <p:grpSpPr>
          <a:xfrm rot="0">
            <a:off x="6858000" y="5362956"/>
            <a:ext cx="2880360" cy="438912"/>
            <a:chOff x="0" y="0"/>
            <a:chExt cx="3840480" cy="585216"/>
          </a:xfrm>
        </p:grpSpPr>
        <p:sp>
          <p:nvSpPr>
            <p:cNvPr name="Freeform 205" id="205"/>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txBody>
            <a:bodyPr/>
            <a:p/>
          </p:txBody>
        </p:sp>
      </p:grpSp>
      <p:grpSp>
        <p:nvGrpSpPr>
          <p:cNvPr name="Group 206" id="206"/>
          <p:cNvGrpSpPr/>
          <p:nvPr/>
        </p:nvGrpSpPr>
        <p:grpSpPr>
          <a:xfrm rot="0">
            <a:off x="6858000" y="5362956"/>
            <a:ext cx="2880360" cy="438912"/>
            <a:chOff x="0" y="0"/>
            <a:chExt cx="3840480" cy="585216"/>
          </a:xfrm>
        </p:grpSpPr>
        <p:sp>
          <p:nvSpPr>
            <p:cNvPr name="Freeform 207" id="207"/>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208" id="208"/>
          <p:cNvGrpSpPr/>
          <p:nvPr/>
        </p:nvGrpSpPr>
        <p:grpSpPr>
          <a:xfrm rot="0">
            <a:off x="6858000" y="5334381"/>
            <a:ext cx="2880360" cy="467487"/>
            <a:chOff x="0" y="0"/>
            <a:chExt cx="3840480" cy="623316"/>
          </a:xfrm>
        </p:grpSpPr>
        <p:sp>
          <p:nvSpPr>
            <p:cNvPr name="Freeform 209" id="209"/>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210" id="210"/>
          <p:cNvGrpSpPr/>
          <p:nvPr/>
        </p:nvGrpSpPr>
        <p:grpSpPr>
          <a:xfrm rot="0">
            <a:off x="6858000" y="5305806"/>
            <a:ext cx="2880360" cy="496062"/>
            <a:chOff x="0" y="0"/>
            <a:chExt cx="3840480" cy="661416"/>
          </a:xfrm>
        </p:grpSpPr>
        <p:sp>
          <p:nvSpPr>
            <p:cNvPr name="Freeform 211" id="211"/>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212" id="212"/>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213" id="213"/>
          <p:cNvGrpSpPr/>
          <p:nvPr/>
        </p:nvGrpSpPr>
        <p:grpSpPr>
          <a:xfrm rot="0">
            <a:off x="9738360" y="5294376"/>
            <a:ext cx="342900" cy="576072"/>
            <a:chOff x="0" y="0"/>
            <a:chExt cx="457200" cy="768096"/>
          </a:xfrm>
        </p:grpSpPr>
        <p:sp>
          <p:nvSpPr>
            <p:cNvPr name="Freeform 214" id="214"/>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215" id="215"/>
          <p:cNvGrpSpPr/>
          <p:nvPr/>
        </p:nvGrpSpPr>
        <p:grpSpPr>
          <a:xfrm rot="0">
            <a:off x="9738360" y="5258657"/>
            <a:ext cx="342900" cy="611791"/>
            <a:chOff x="0" y="0"/>
            <a:chExt cx="457200" cy="815721"/>
          </a:xfrm>
        </p:grpSpPr>
        <p:sp>
          <p:nvSpPr>
            <p:cNvPr name="Freeform 216" id="216"/>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217" id="217"/>
          <p:cNvGrpSpPr/>
          <p:nvPr/>
        </p:nvGrpSpPr>
        <p:grpSpPr>
          <a:xfrm rot="0">
            <a:off x="9738360" y="5222938"/>
            <a:ext cx="342900" cy="647510"/>
            <a:chOff x="0" y="0"/>
            <a:chExt cx="457200" cy="863346"/>
          </a:xfrm>
        </p:grpSpPr>
        <p:sp>
          <p:nvSpPr>
            <p:cNvPr name="Freeform 218" id="218"/>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219" id="219"/>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20" id="220"/>
          <p:cNvGrpSpPr/>
          <p:nvPr/>
        </p:nvGrpSpPr>
        <p:grpSpPr>
          <a:xfrm rot="0">
            <a:off x="10081260" y="5362956"/>
            <a:ext cx="2880360" cy="438912"/>
            <a:chOff x="0" y="0"/>
            <a:chExt cx="3840480" cy="585216"/>
          </a:xfrm>
        </p:grpSpPr>
        <p:sp>
          <p:nvSpPr>
            <p:cNvPr name="Freeform 221" id="221"/>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txBody>
            <a:bodyPr/>
            <a:p/>
          </p:txBody>
        </p:sp>
      </p:grpSp>
      <p:grpSp>
        <p:nvGrpSpPr>
          <p:cNvPr name="Group 222" id="222"/>
          <p:cNvGrpSpPr/>
          <p:nvPr/>
        </p:nvGrpSpPr>
        <p:grpSpPr>
          <a:xfrm rot="0">
            <a:off x="10081260" y="5362956"/>
            <a:ext cx="2880360" cy="438912"/>
            <a:chOff x="0" y="0"/>
            <a:chExt cx="3840480" cy="585216"/>
          </a:xfrm>
        </p:grpSpPr>
        <p:sp>
          <p:nvSpPr>
            <p:cNvPr name="Freeform 223" id="223"/>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224" id="224"/>
          <p:cNvGrpSpPr/>
          <p:nvPr/>
        </p:nvGrpSpPr>
        <p:grpSpPr>
          <a:xfrm rot="0">
            <a:off x="10081260" y="5334381"/>
            <a:ext cx="2880360" cy="467487"/>
            <a:chOff x="0" y="0"/>
            <a:chExt cx="3840480" cy="623316"/>
          </a:xfrm>
        </p:grpSpPr>
        <p:sp>
          <p:nvSpPr>
            <p:cNvPr name="Freeform 225" id="225"/>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226" id="226"/>
          <p:cNvGrpSpPr/>
          <p:nvPr/>
        </p:nvGrpSpPr>
        <p:grpSpPr>
          <a:xfrm rot="0">
            <a:off x="10081260" y="5305806"/>
            <a:ext cx="2880360" cy="496062"/>
            <a:chOff x="0" y="0"/>
            <a:chExt cx="3840480" cy="661416"/>
          </a:xfrm>
        </p:grpSpPr>
        <p:sp>
          <p:nvSpPr>
            <p:cNvPr name="Freeform 227" id="227"/>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228" id="228"/>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229" id="229"/>
          <p:cNvGrpSpPr/>
          <p:nvPr/>
        </p:nvGrpSpPr>
        <p:grpSpPr>
          <a:xfrm rot="0">
            <a:off x="12961620" y="5294376"/>
            <a:ext cx="342900" cy="576072"/>
            <a:chOff x="0" y="0"/>
            <a:chExt cx="457200" cy="768096"/>
          </a:xfrm>
        </p:grpSpPr>
        <p:sp>
          <p:nvSpPr>
            <p:cNvPr name="Freeform 230" id="230"/>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231" id="231"/>
          <p:cNvGrpSpPr/>
          <p:nvPr/>
        </p:nvGrpSpPr>
        <p:grpSpPr>
          <a:xfrm rot="0">
            <a:off x="12961620" y="5258657"/>
            <a:ext cx="342900" cy="611791"/>
            <a:chOff x="0" y="0"/>
            <a:chExt cx="457200" cy="815721"/>
          </a:xfrm>
        </p:grpSpPr>
        <p:sp>
          <p:nvSpPr>
            <p:cNvPr name="Freeform 232" id="232"/>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233" id="233"/>
          <p:cNvGrpSpPr/>
          <p:nvPr/>
        </p:nvGrpSpPr>
        <p:grpSpPr>
          <a:xfrm rot="0">
            <a:off x="12961620" y="5222938"/>
            <a:ext cx="342900" cy="647510"/>
            <a:chOff x="0" y="0"/>
            <a:chExt cx="457200" cy="863346"/>
          </a:xfrm>
        </p:grpSpPr>
        <p:sp>
          <p:nvSpPr>
            <p:cNvPr name="Freeform 234" id="234"/>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235" id="235"/>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36" id="236"/>
          <p:cNvGrpSpPr/>
          <p:nvPr/>
        </p:nvGrpSpPr>
        <p:grpSpPr>
          <a:xfrm rot="0">
            <a:off x="13304520" y="5362956"/>
            <a:ext cx="2880360" cy="438912"/>
            <a:chOff x="0" y="0"/>
            <a:chExt cx="3840480" cy="585216"/>
          </a:xfrm>
        </p:grpSpPr>
        <p:sp>
          <p:nvSpPr>
            <p:cNvPr name="Freeform 237" id="237"/>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txBody>
            <a:bodyPr/>
            <a:p/>
          </p:txBody>
        </p:sp>
      </p:grpSp>
      <p:grpSp>
        <p:nvGrpSpPr>
          <p:cNvPr name="Group 238" id="238"/>
          <p:cNvGrpSpPr/>
          <p:nvPr/>
        </p:nvGrpSpPr>
        <p:grpSpPr>
          <a:xfrm rot="0">
            <a:off x="13304520" y="5362956"/>
            <a:ext cx="2880360" cy="438912"/>
            <a:chOff x="0" y="0"/>
            <a:chExt cx="3840480" cy="585216"/>
          </a:xfrm>
        </p:grpSpPr>
        <p:sp>
          <p:nvSpPr>
            <p:cNvPr name="Freeform 239" id="239"/>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240" id="240"/>
          <p:cNvGrpSpPr/>
          <p:nvPr/>
        </p:nvGrpSpPr>
        <p:grpSpPr>
          <a:xfrm rot="0">
            <a:off x="13304520" y="5334381"/>
            <a:ext cx="2880360" cy="467487"/>
            <a:chOff x="0" y="0"/>
            <a:chExt cx="3840480" cy="623316"/>
          </a:xfrm>
        </p:grpSpPr>
        <p:sp>
          <p:nvSpPr>
            <p:cNvPr name="Freeform 241" id="241"/>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242" id="242"/>
          <p:cNvGrpSpPr/>
          <p:nvPr/>
        </p:nvGrpSpPr>
        <p:grpSpPr>
          <a:xfrm rot="0">
            <a:off x="13304520" y="5305806"/>
            <a:ext cx="2880360" cy="496062"/>
            <a:chOff x="0" y="0"/>
            <a:chExt cx="3840480" cy="661416"/>
          </a:xfrm>
        </p:grpSpPr>
        <p:sp>
          <p:nvSpPr>
            <p:cNvPr name="Freeform 243" id="243"/>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244" id="244"/>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245" id="245"/>
          <p:cNvGrpSpPr/>
          <p:nvPr/>
        </p:nvGrpSpPr>
        <p:grpSpPr>
          <a:xfrm rot="0">
            <a:off x="16390620" y="5376672"/>
            <a:ext cx="891540" cy="411480"/>
            <a:chOff x="0" y="0"/>
            <a:chExt cx="1188720" cy="548640"/>
          </a:xfrm>
        </p:grpSpPr>
        <p:sp>
          <p:nvSpPr>
            <p:cNvPr name="Freeform 246" id="246"/>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47" id="247"/>
          <p:cNvGrpSpPr/>
          <p:nvPr/>
        </p:nvGrpSpPr>
        <p:grpSpPr>
          <a:xfrm rot="0">
            <a:off x="16390620" y="5376672"/>
            <a:ext cx="891540" cy="411480"/>
            <a:chOff x="0" y="0"/>
            <a:chExt cx="1188720" cy="548640"/>
          </a:xfrm>
        </p:grpSpPr>
        <p:sp>
          <p:nvSpPr>
            <p:cNvPr name="Freeform 248" id="248"/>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txBody>
            <a:bodyPr/>
            <a:p/>
          </p:txBody>
        </p:sp>
      </p:grpSp>
      <p:grpSp>
        <p:nvGrpSpPr>
          <p:cNvPr name="Group 249" id="249"/>
          <p:cNvGrpSpPr/>
          <p:nvPr/>
        </p:nvGrpSpPr>
        <p:grpSpPr>
          <a:xfrm rot="0">
            <a:off x="16390620" y="5348097"/>
            <a:ext cx="891540" cy="440055"/>
            <a:chOff x="0" y="0"/>
            <a:chExt cx="1188720" cy="586740"/>
          </a:xfrm>
        </p:grpSpPr>
        <p:sp>
          <p:nvSpPr>
            <p:cNvPr name="Freeform 250" id="250"/>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73" t="0" r="-13372" b="0"/>
              </a:stretch>
            </a:blipFill>
          </p:spPr>
          <p:txBody>
            <a:bodyPr/>
            <a:p/>
          </p:txBody>
        </p:sp>
      </p:grpSp>
      <p:grpSp>
        <p:nvGrpSpPr>
          <p:cNvPr name="Group 251" id="251"/>
          <p:cNvGrpSpPr/>
          <p:nvPr/>
        </p:nvGrpSpPr>
        <p:grpSpPr>
          <a:xfrm rot="0">
            <a:off x="16390620" y="5319522"/>
            <a:ext cx="891540" cy="468630"/>
            <a:chOff x="0" y="0"/>
            <a:chExt cx="1188720" cy="624840"/>
          </a:xfrm>
        </p:grpSpPr>
        <p:sp>
          <p:nvSpPr>
            <p:cNvPr name="Freeform 252" id="252"/>
            <p:cNvSpPr/>
            <p:nvPr/>
          </p:nvSpPr>
          <p:spPr>
            <a:xfrm flipH="false" flipV="false" rot="0">
              <a:off x="0" y="0"/>
              <a:ext cx="1188720" cy="624840"/>
            </a:xfrm>
            <a:custGeom>
              <a:avLst/>
              <a:gdLst/>
              <a:ahLst/>
              <a:cxnLst/>
              <a:rect r="r" b="b" t="t" l="l"/>
              <a:pathLst>
                <a:path h="624840" w="1188720">
                  <a:moveTo>
                    <a:pt x="0" y="0"/>
                  </a:moveTo>
                  <a:lnTo>
                    <a:pt x="1188720" y="0"/>
                  </a:lnTo>
                  <a:lnTo>
                    <a:pt x="1188720" y="624840"/>
                  </a:lnTo>
                  <a:lnTo>
                    <a:pt x="0" y="624840"/>
                  </a:lnTo>
                  <a:close/>
                </a:path>
              </a:pathLst>
            </a:custGeom>
            <a:blipFill>
              <a:blip r:embed="rId6">
                <a:alphaModFix amt="0"/>
              </a:blip>
              <a:stretch>
                <a:fillRect l="-17441" t="0" r="-17441" b="0"/>
              </a:stretch>
            </a:blipFill>
          </p:spPr>
          <p:txBody>
            <a:bodyPr/>
            <a:p/>
          </p:txBody>
        </p:sp>
        <p:sp>
          <p:nvSpPr>
            <p:cNvPr name="TextBox 253" id="253"/>
            <p:cNvSpPr txBox="true"/>
            <p:nvPr/>
          </p:nvSpPr>
          <p:spPr>
            <a:xfrm>
              <a:off x="0" y="-38100"/>
              <a:ext cx="1188720" cy="6629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ROBUST</a:t>
              </a:r>
            </a:p>
          </p:txBody>
        </p:sp>
      </p:grpSp>
      <p:grpSp>
        <p:nvGrpSpPr>
          <p:cNvPr name="Group 254" id="254"/>
          <p:cNvGrpSpPr/>
          <p:nvPr/>
        </p:nvGrpSpPr>
        <p:grpSpPr>
          <a:xfrm rot="0">
            <a:off x="822960" y="5939028"/>
            <a:ext cx="16637508" cy="576072"/>
            <a:chOff x="0" y="0"/>
            <a:chExt cx="22183344" cy="768096"/>
          </a:xfrm>
        </p:grpSpPr>
        <p:sp>
          <p:nvSpPr>
            <p:cNvPr name="Freeform 255" id="255"/>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FFFFFF"/>
            </a:solidFill>
          </p:spPr>
          <p:txBody>
            <a:bodyPr/>
            <a:p/>
          </p:txBody>
        </p:sp>
      </p:grpSp>
      <p:grpSp>
        <p:nvGrpSpPr>
          <p:cNvPr name="Group 256" id="256"/>
          <p:cNvGrpSpPr/>
          <p:nvPr/>
        </p:nvGrpSpPr>
        <p:grpSpPr>
          <a:xfrm rot="0">
            <a:off x="1097280" y="5939028"/>
            <a:ext cx="5486400" cy="576072"/>
            <a:chOff x="0" y="0"/>
            <a:chExt cx="7315200" cy="768096"/>
          </a:xfrm>
        </p:grpSpPr>
        <p:sp>
          <p:nvSpPr>
            <p:cNvPr name="Freeform 257" id="257"/>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txBody>
            <a:bodyPr/>
            <a:p/>
          </p:txBody>
        </p:sp>
      </p:grpSp>
      <p:grpSp>
        <p:nvGrpSpPr>
          <p:cNvPr name="Group 258" id="258"/>
          <p:cNvGrpSpPr/>
          <p:nvPr/>
        </p:nvGrpSpPr>
        <p:grpSpPr>
          <a:xfrm rot="0">
            <a:off x="1097280" y="5903309"/>
            <a:ext cx="5486400" cy="611791"/>
            <a:chOff x="0" y="0"/>
            <a:chExt cx="7315200" cy="815721"/>
          </a:xfrm>
        </p:grpSpPr>
        <p:sp>
          <p:nvSpPr>
            <p:cNvPr name="Freeform 259" id="259"/>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616" r="0" b="-124616"/>
              </a:stretch>
            </a:blipFill>
          </p:spPr>
          <p:txBody>
            <a:bodyPr/>
            <a:p/>
          </p:txBody>
        </p:sp>
      </p:grpSp>
      <p:grpSp>
        <p:nvGrpSpPr>
          <p:cNvPr name="Group 260" id="260"/>
          <p:cNvGrpSpPr/>
          <p:nvPr/>
        </p:nvGrpSpPr>
        <p:grpSpPr>
          <a:xfrm rot="0">
            <a:off x="1097280" y="5867590"/>
            <a:ext cx="5486400" cy="647510"/>
            <a:chOff x="0" y="0"/>
            <a:chExt cx="7315200" cy="863346"/>
          </a:xfrm>
        </p:grpSpPr>
        <p:sp>
          <p:nvSpPr>
            <p:cNvPr name="Freeform 261" id="261"/>
            <p:cNvSpPr/>
            <p:nvPr/>
          </p:nvSpPr>
          <p:spPr>
            <a:xfrm flipH="false" flipV="false" rot="0">
              <a:off x="0" y="0"/>
              <a:ext cx="7315200" cy="863346"/>
            </a:xfrm>
            <a:custGeom>
              <a:avLst/>
              <a:gdLst/>
              <a:ahLst/>
              <a:cxnLst/>
              <a:rect r="r" b="b" t="t" l="l"/>
              <a:pathLst>
                <a:path h="863346" w="7315200">
                  <a:moveTo>
                    <a:pt x="0" y="0"/>
                  </a:moveTo>
                  <a:lnTo>
                    <a:pt x="7315200" y="0"/>
                  </a:lnTo>
                  <a:lnTo>
                    <a:pt x="7315200" y="863346"/>
                  </a:lnTo>
                  <a:lnTo>
                    <a:pt x="0" y="863346"/>
                  </a:lnTo>
                  <a:close/>
                </a:path>
              </a:pathLst>
            </a:custGeom>
            <a:blipFill>
              <a:blip r:embed="rId6">
                <a:alphaModFix amt="0"/>
              </a:blip>
              <a:stretch>
                <a:fillRect l="0" t="-115098" r="0" b="-115098"/>
              </a:stretch>
            </a:blipFill>
          </p:spPr>
          <p:txBody>
            <a:bodyPr/>
            <a:p/>
          </p:txBody>
        </p:sp>
        <p:sp>
          <p:nvSpPr>
            <p:cNvPr name="TextBox 262" id="262"/>
            <p:cNvSpPr txBox="true"/>
            <p:nvPr/>
          </p:nvSpPr>
          <p:spPr>
            <a:xfrm>
              <a:off x="0" y="-47625"/>
              <a:ext cx="7315200" cy="910971"/>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Rasio daya dukung lahan</a:t>
              </a:r>
            </a:p>
          </p:txBody>
        </p:sp>
      </p:grpSp>
      <p:grpSp>
        <p:nvGrpSpPr>
          <p:cNvPr name="Group 263" id="263"/>
          <p:cNvGrpSpPr/>
          <p:nvPr/>
        </p:nvGrpSpPr>
        <p:grpSpPr>
          <a:xfrm rot="0">
            <a:off x="6858000" y="6007608"/>
            <a:ext cx="2880360" cy="438912"/>
            <a:chOff x="0" y="0"/>
            <a:chExt cx="3840480" cy="585216"/>
          </a:xfrm>
        </p:grpSpPr>
        <p:sp>
          <p:nvSpPr>
            <p:cNvPr name="Freeform 264" id="264"/>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txBody>
            <a:bodyPr/>
            <a:p/>
          </p:txBody>
        </p:sp>
      </p:grpSp>
      <p:grpSp>
        <p:nvGrpSpPr>
          <p:cNvPr name="Group 265" id="265"/>
          <p:cNvGrpSpPr/>
          <p:nvPr/>
        </p:nvGrpSpPr>
        <p:grpSpPr>
          <a:xfrm rot="0">
            <a:off x="6858000" y="6007608"/>
            <a:ext cx="2880360" cy="438912"/>
            <a:chOff x="0" y="0"/>
            <a:chExt cx="3840480" cy="585216"/>
          </a:xfrm>
        </p:grpSpPr>
        <p:sp>
          <p:nvSpPr>
            <p:cNvPr name="Freeform 266" id="266"/>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267" id="267"/>
          <p:cNvGrpSpPr/>
          <p:nvPr/>
        </p:nvGrpSpPr>
        <p:grpSpPr>
          <a:xfrm rot="0">
            <a:off x="6858000" y="5979033"/>
            <a:ext cx="2880360" cy="467487"/>
            <a:chOff x="0" y="0"/>
            <a:chExt cx="3840480" cy="623316"/>
          </a:xfrm>
        </p:grpSpPr>
        <p:sp>
          <p:nvSpPr>
            <p:cNvPr name="Freeform 268" id="268"/>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269" id="269"/>
          <p:cNvGrpSpPr/>
          <p:nvPr/>
        </p:nvGrpSpPr>
        <p:grpSpPr>
          <a:xfrm rot="0">
            <a:off x="6858000" y="5950458"/>
            <a:ext cx="2880360" cy="496062"/>
            <a:chOff x="0" y="0"/>
            <a:chExt cx="3840480" cy="661416"/>
          </a:xfrm>
        </p:grpSpPr>
        <p:sp>
          <p:nvSpPr>
            <p:cNvPr name="Freeform 270" id="270"/>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271" id="271"/>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272" id="272"/>
          <p:cNvGrpSpPr/>
          <p:nvPr/>
        </p:nvGrpSpPr>
        <p:grpSpPr>
          <a:xfrm rot="0">
            <a:off x="9738360" y="5939028"/>
            <a:ext cx="342900" cy="576072"/>
            <a:chOff x="0" y="0"/>
            <a:chExt cx="457200" cy="768096"/>
          </a:xfrm>
        </p:grpSpPr>
        <p:sp>
          <p:nvSpPr>
            <p:cNvPr name="Freeform 273" id="273"/>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274" id="274"/>
          <p:cNvGrpSpPr/>
          <p:nvPr/>
        </p:nvGrpSpPr>
        <p:grpSpPr>
          <a:xfrm rot="0">
            <a:off x="9738360" y="5903309"/>
            <a:ext cx="342900" cy="611791"/>
            <a:chOff x="0" y="0"/>
            <a:chExt cx="457200" cy="815721"/>
          </a:xfrm>
        </p:grpSpPr>
        <p:sp>
          <p:nvSpPr>
            <p:cNvPr name="Freeform 275" id="275"/>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276" id="276"/>
          <p:cNvGrpSpPr/>
          <p:nvPr/>
        </p:nvGrpSpPr>
        <p:grpSpPr>
          <a:xfrm rot="0">
            <a:off x="9738360" y="5867590"/>
            <a:ext cx="342900" cy="647510"/>
            <a:chOff x="0" y="0"/>
            <a:chExt cx="457200" cy="863346"/>
          </a:xfrm>
        </p:grpSpPr>
        <p:sp>
          <p:nvSpPr>
            <p:cNvPr name="Freeform 277" id="277"/>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278" id="278"/>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79" id="279"/>
          <p:cNvGrpSpPr/>
          <p:nvPr/>
        </p:nvGrpSpPr>
        <p:grpSpPr>
          <a:xfrm rot="0">
            <a:off x="10081260" y="6007608"/>
            <a:ext cx="2880360" cy="438912"/>
            <a:chOff x="0" y="0"/>
            <a:chExt cx="3840480" cy="585216"/>
          </a:xfrm>
        </p:grpSpPr>
        <p:sp>
          <p:nvSpPr>
            <p:cNvPr name="Freeform 280" id="280"/>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txBody>
            <a:bodyPr/>
            <a:p/>
          </p:txBody>
        </p:sp>
      </p:grpSp>
      <p:grpSp>
        <p:nvGrpSpPr>
          <p:cNvPr name="Group 281" id="281"/>
          <p:cNvGrpSpPr/>
          <p:nvPr/>
        </p:nvGrpSpPr>
        <p:grpSpPr>
          <a:xfrm rot="0">
            <a:off x="10081260" y="6007608"/>
            <a:ext cx="2880360" cy="438912"/>
            <a:chOff x="0" y="0"/>
            <a:chExt cx="3840480" cy="585216"/>
          </a:xfrm>
        </p:grpSpPr>
        <p:sp>
          <p:nvSpPr>
            <p:cNvPr name="Freeform 282" id="282"/>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283" id="283"/>
          <p:cNvGrpSpPr/>
          <p:nvPr/>
        </p:nvGrpSpPr>
        <p:grpSpPr>
          <a:xfrm rot="0">
            <a:off x="10081260" y="5979033"/>
            <a:ext cx="2880360" cy="467487"/>
            <a:chOff x="0" y="0"/>
            <a:chExt cx="3840480" cy="623316"/>
          </a:xfrm>
        </p:grpSpPr>
        <p:sp>
          <p:nvSpPr>
            <p:cNvPr name="Freeform 284" id="284"/>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285" id="285"/>
          <p:cNvGrpSpPr/>
          <p:nvPr/>
        </p:nvGrpSpPr>
        <p:grpSpPr>
          <a:xfrm rot="0">
            <a:off x="10081260" y="5950458"/>
            <a:ext cx="2880360" cy="496062"/>
            <a:chOff x="0" y="0"/>
            <a:chExt cx="3840480" cy="661416"/>
          </a:xfrm>
        </p:grpSpPr>
        <p:sp>
          <p:nvSpPr>
            <p:cNvPr name="Freeform 286" id="286"/>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287" id="287"/>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288" id="288"/>
          <p:cNvGrpSpPr/>
          <p:nvPr/>
        </p:nvGrpSpPr>
        <p:grpSpPr>
          <a:xfrm rot="0">
            <a:off x="12961620" y="5939028"/>
            <a:ext cx="342900" cy="576072"/>
            <a:chOff x="0" y="0"/>
            <a:chExt cx="457200" cy="768096"/>
          </a:xfrm>
        </p:grpSpPr>
        <p:sp>
          <p:nvSpPr>
            <p:cNvPr name="Freeform 289" id="289"/>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290" id="290"/>
          <p:cNvGrpSpPr/>
          <p:nvPr/>
        </p:nvGrpSpPr>
        <p:grpSpPr>
          <a:xfrm rot="0">
            <a:off x="12961620" y="5903309"/>
            <a:ext cx="342900" cy="611791"/>
            <a:chOff x="0" y="0"/>
            <a:chExt cx="457200" cy="815721"/>
          </a:xfrm>
        </p:grpSpPr>
        <p:sp>
          <p:nvSpPr>
            <p:cNvPr name="Freeform 291" id="291"/>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292" id="292"/>
          <p:cNvGrpSpPr/>
          <p:nvPr/>
        </p:nvGrpSpPr>
        <p:grpSpPr>
          <a:xfrm rot="0">
            <a:off x="12961620" y="5867590"/>
            <a:ext cx="342900" cy="647510"/>
            <a:chOff x="0" y="0"/>
            <a:chExt cx="457200" cy="863346"/>
          </a:xfrm>
        </p:grpSpPr>
        <p:sp>
          <p:nvSpPr>
            <p:cNvPr name="Freeform 293" id="293"/>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294" id="294"/>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95" id="295"/>
          <p:cNvGrpSpPr/>
          <p:nvPr/>
        </p:nvGrpSpPr>
        <p:grpSpPr>
          <a:xfrm rot="0">
            <a:off x="13304520" y="6007608"/>
            <a:ext cx="2880360" cy="438912"/>
            <a:chOff x="0" y="0"/>
            <a:chExt cx="3840480" cy="585216"/>
          </a:xfrm>
        </p:grpSpPr>
        <p:sp>
          <p:nvSpPr>
            <p:cNvPr name="Freeform 296" id="296"/>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txBody>
            <a:bodyPr/>
            <a:p/>
          </p:txBody>
        </p:sp>
      </p:grpSp>
      <p:grpSp>
        <p:nvGrpSpPr>
          <p:cNvPr name="Group 297" id="297"/>
          <p:cNvGrpSpPr/>
          <p:nvPr/>
        </p:nvGrpSpPr>
        <p:grpSpPr>
          <a:xfrm rot="0">
            <a:off x="13304520" y="6007608"/>
            <a:ext cx="2880360" cy="438912"/>
            <a:chOff x="0" y="0"/>
            <a:chExt cx="3840480" cy="585216"/>
          </a:xfrm>
        </p:grpSpPr>
        <p:sp>
          <p:nvSpPr>
            <p:cNvPr name="Freeform 298" id="298"/>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299" id="299"/>
          <p:cNvGrpSpPr/>
          <p:nvPr/>
        </p:nvGrpSpPr>
        <p:grpSpPr>
          <a:xfrm rot="0">
            <a:off x="13304520" y="5979033"/>
            <a:ext cx="2880360" cy="467487"/>
            <a:chOff x="0" y="0"/>
            <a:chExt cx="3840480" cy="623316"/>
          </a:xfrm>
        </p:grpSpPr>
        <p:sp>
          <p:nvSpPr>
            <p:cNvPr name="Freeform 300" id="300"/>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301" id="301"/>
          <p:cNvGrpSpPr/>
          <p:nvPr/>
        </p:nvGrpSpPr>
        <p:grpSpPr>
          <a:xfrm rot="0">
            <a:off x="13304520" y="5950458"/>
            <a:ext cx="2880360" cy="496062"/>
            <a:chOff x="0" y="0"/>
            <a:chExt cx="3840480" cy="661416"/>
          </a:xfrm>
        </p:grpSpPr>
        <p:sp>
          <p:nvSpPr>
            <p:cNvPr name="Freeform 302" id="302"/>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303" id="303"/>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304" id="304"/>
          <p:cNvGrpSpPr/>
          <p:nvPr/>
        </p:nvGrpSpPr>
        <p:grpSpPr>
          <a:xfrm rot="0">
            <a:off x="16390620" y="6021324"/>
            <a:ext cx="891540" cy="411480"/>
            <a:chOff x="0" y="0"/>
            <a:chExt cx="1188720" cy="548640"/>
          </a:xfrm>
        </p:grpSpPr>
        <p:sp>
          <p:nvSpPr>
            <p:cNvPr name="Freeform 305" id="305"/>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06" id="306"/>
          <p:cNvGrpSpPr/>
          <p:nvPr/>
        </p:nvGrpSpPr>
        <p:grpSpPr>
          <a:xfrm rot="0">
            <a:off x="16390620" y="6021324"/>
            <a:ext cx="891540" cy="411480"/>
            <a:chOff x="0" y="0"/>
            <a:chExt cx="1188720" cy="548640"/>
          </a:xfrm>
        </p:grpSpPr>
        <p:sp>
          <p:nvSpPr>
            <p:cNvPr name="Freeform 307" id="307"/>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txBody>
            <a:bodyPr/>
            <a:p/>
          </p:txBody>
        </p:sp>
      </p:grpSp>
      <p:grpSp>
        <p:nvGrpSpPr>
          <p:cNvPr name="Group 308" id="308"/>
          <p:cNvGrpSpPr/>
          <p:nvPr/>
        </p:nvGrpSpPr>
        <p:grpSpPr>
          <a:xfrm rot="0">
            <a:off x="16390620" y="5992749"/>
            <a:ext cx="891540" cy="440055"/>
            <a:chOff x="0" y="0"/>
            <a:chExt cx="1188720" cy="586740"/>
          </a:xfrm>
        </p:grpSpPr>
        <p:sp>
          <p:nvSpPr>
            <p:cNvPr name="Freeform 309" id="309"/>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73" t="0" r="-13372" b="0"/>
              </a:stretch>
            </a:blipFill>
          </p:spPr>
          <p:txBody>
            <a:bodyPr/>
            <a:p/>
          </p:txBody>
        </p:sp>
      </p:grpSp>
      <p:grpSp>
        <p:nvGrpSpPr>
          <p:cNvPr name="Group 310" id="310"/>
          <p:cNvGrpSpPr/>
          <p:nvPr/>
        </p:nvGrpSpPr>
        <p:grpSpPr>
          <a:xfrm rot="0">
            <a:off x="16390620" y="5964174"/>
            <a:ext cx="891540" cy="468630"/>
            <a:chOff x="0" y="0"/>
            <a:chExt cx="1188720" cy="624840"/>
          </a:xfrm>
        </p:grpSpPr>
        <p:sp>
          <p:nvSpPr>
            <p:cNvPr name="Freeform 311" id="311"/>
            <p:cNvSpPr/>
            <p:nvPr/>
          </p:nvSpPr>
          <p:spPr>
            <a:xfrm flipH="false" flipV="false" rot="0">
              <a:off x="0" y="0"/>
              <a:ext cx="1188720" cy="624840"/>
            </a:xfrm>
            <a:custGeom>
              <a:avLst/>
              <a:gdLst/>
              <a:ahLst/>
              <a:cxnLst/>
              <a:rect r="r" b="b" t="t" l="l"/>
              <a:pathLst>
                <a:path h="624840" w="1188720">
                  <a:moveTo>
                    <a:pt x="0" y="0"/>
                  </a:moveTo>
                  <a:lnTo>
                    <a:pt x="1188720" y="0"/>
                  </a:lnTo>
                  <a:lnTo>
                    <a:pt x="1188720" y="624840"/>
                  </a:lnTo>
                  <a:lnTo>
                    <a:pt x="0" y="624840"/>
                  </a:lnTo>
                  <a:close/>
                </a:path>
              </a:pathLst>
            </a:custGeom>
            <a:blipFill>
              <a:blip r:embed="rId6">
                <a:alphaModFix amt="0"/>
              </a:blip>
              <a:stretch>
                <a:fillRect l="-17441" t="0" r="-17441" b="0"/>
              </a:stretch>
            </a:blipFill>
          </p:spPr>
          <p:txBody>
            <a:bodyPr/>
            <a:p/>
          </p:txBody>
        </p:sp>
        <p:sp>
          <p:nvSpPr>
            <p:cNvPr name="TextBox 312" id="312"/>
            <p:cNvSpPr txBox="true"/>
            <p:nvPr/>
          </p:nvSpPr>
          <p:spPr>
            <a:xfrm>
              <a:off x="0" y="-38100"/>
              <a:ext cx="1188720" cy="6629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ROBUST</a:t>
              </a:r>
            </a:p>
          </p:txBody>
        </p:sp>
      </p:grpSp>
      <p:grpSp>
        <p:nvGrpSpPr>
          <p:cNvPr name="Group 313" id="313"/>
          <p:cNvGrpSpPr/>
          <p:nvPr/>
        </p:nvGrpSpPr>
        <p:grpSpPr>
          <a:xfrm rot="0">
            <a:off x="822960" y="6583680"/>
            <a:ext cx="16637508" cy="576072"/>
            <a:chOff x="0" y="0"/>
            <a:chExt cx="22183344" cy="768096"/>
          </a:xfrm>
        </p:grpSpPr>
        <p:sp>
          <p:nvSpPr>
            <p:cNvPr name="Freeform 314" id="314"/>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txBody>
            <a:bodyPr/>
            <a:p/>
          </p:txBody>
        </p:sp>
      </p:grpSp>
      <p:grpSp>
        <p:nvGrpSpPr>
          <p:cNvPr name="Group 315" id="315"/>
          <p:cNvGrpSpPr/>
          <p:nvPr/>
        </p:nvGrpSpPr>
        <p:grpSpPr>
          <a:xfrm rot="0">
            <a:off x="1097280" y="6583680"/>
            <a:ext cx="5486400" cy="576072"/>
            <a:chOff x="0" y="0"/>
            <a:chExt cx="7315200" cy="768096"/>
          </a:xfrm>
        </p:grpSpPr>
        <p:sp>
          <p:nvSpPr>
            <p:cNvPr name="Freeform 316" id="316"/>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txBody>
            <a:bodyPr/>
            <a:p/>
          </p:txBody>
        </p:sp>
      </p:grpSp>
      <p:grpSp>
        <p:nvGrpSpPr>
          <p:cNvPr name="Group 317" id="317"/>
          <p:cNvGrpSpPr/>
          <p:nvPr/>
        </p:nvGrpSpPr>
        <p:grpSpPr>
          <a:xfrm rot="0">
            <a:off x="1097280" y="6547961"/>
            <a:ext cx="5486400" cy="611791"/>
            <a:chOff x="0" y="0"/>
            <a:chExt cx="7315200" cy="815721"/>
          </a:xfrm>
        </p:grpSpPr>
        <p:sp>
          <p:nvSpPr>
            <p:cNvPr name="Freeform 318" id="318"/>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616" r="0" b="-124616"/>
              </a:stretch>
            </a:blipFill>
          </p:spPr>
          <p:txBody>
            <a:bodyPr/>
            <a:p/>
          </p:txBody>
        </p:sp>
      </p:grpSp>
      <p:grpSp>
        <p:nvGrpSpPr>
          <p:cNvPr name="Group 319" id="319"/>
          <p:cNvGrpSpPr/>
          <p:nvPr/>
        </p:nvGrpSpPr>
        <p:grpSpPr>
          <a:xfrm rot="0">
            <a:off x="1097280" y="6512243"/>
            <a:ext cx="5486400" cy="647510"/>
            <a:chOff x="0" y="0"/>
            <a:chExt cx="7315200" cy="863346"/>
          </a:xfrm>
        </p:grpSpPr>
        <p:sp>
          <p:nvSpPr>
            <p:cNvPr name="Freeform 320" id="320"/>
            <p:cNvSpPr/>
            <p:nvPr/>
          </p:nvSpPr>
          <p:spPr>
            <a:xfrm flipH="false" flipV="false" rot="0">
              <a:off x="0" y="0"/>
              <a:ext cx="7315200" cy="863346"/>
            </a:xfrm>
            <a:custGeom>
              <a:avLst/>
              <a:gdLst/>
              <a:ahLst/>
              <a:cxnLst/>
              <a:rect r="r" b="b" t="t" l="l"/>
              <a:pathLst>
                <a:path h="863346" w="7315200">
                  <a:moveTo>
                    <a:pt x="0" y="0"/>
                  </a:moveTo>
                  <a:lnTo>
                    <a:pt x="7315200" y="0"/>
                  </a:lnTo>
                  <a:lnTo>
                    <a:pt x="7315200" y="863346"/>
                  </a:lnTo>
                  <a:lnTo>
                    <a:pt x="0" y="863346"/>
                  </a:lnTo>
                  <a:close/>
                </a:path>
              </a:pathLst>
            </a:custGeom>
            <a:blipFill>
              <a:blip r:embed="rId6">
                <a:alphaModFix amt="0"/>
              </a:blip>
              <a:stretch>
                <a:fillRect l="0" t="-115098" r="0" b="-115098"/>
              </a:stretch>
            </a:blipFill>
          </p:spPr>
          <p:txBody>
            <a:bodyPr/>
            <a:p/>
          </p:txBody>
        </p:sp>
        <p:sp>
          <p:nvSpPr>
            <p:cNvPr name="TextBox 321" id="321"/>
            <p:cNvSpPr txBox="true"/>
            <p:nvPr/>
          </p:nvSpPr>
          <p:spPr>
            <a:xfrm>
              <a:off x="0" y="-47625"/>
              <a:ext cx="7315200" cy="910971"/>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Lahan terbangun</a:t>
              </a:r>
            </a:p>
          </p:txBody>
        </p:sp>
      </p:grpSp>
      <p:grpSp>
        <p:nvGrpSpPr>
          <p:cNvPr name="Group 322" id="322"/>
          <p:cNvGrpSpPr/>
          <p:nvPr/>
        </p:nvGrpSpPr>
        <p:grpSpPr>
          <a:xfrm rot="0">
            <a:off x="6858000" y="6652260"/>
            <a:ext cx="2880360" cy="438912"/>
            <a:chOff x="0" y="0"/>
            <a:chExt cx="3840480" cy="585216"/>
          </a:xfrm>
        </p:grpSpPr>
        <p:sp>
          <p:nvSpPr>
            <p:cNvPr name="Freeform 323" id="323"/>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txBody>
            <a:bodyPr/>
            <a:p/>
          </p:txBody>
        </p:sp>
      </p:grpSp>
      <p:grpSp>
        <p:nvGrpSpPr>
          <p:cNvPr name="Group 324" id="324"/>
          <p:cNvGrpSpPr/>
          <p:nvPr/>
        </p:nvGrpSpPr>
        <p:grpSpPr>
          <a:xfrm rot="0">
            <a:off x="6858000" y="6652260"/>
            <a:ext cx="2880360" cy="438912"/>
            <a:chOff x="0" y="0"/>
            <a:chExt cx="3840480" cy="585216"/>
          </a:xfrm>
        </p:grpSpPr>
        <p:sp>
          <p:nvSpPr>
            <p:cNvPr name="Freeform 325" id="325"/>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326" id="326"/>
          <p:cNvGrpSpPr/>
          <p:nvPr/>
        </p:nvGrpSpPr>
        <p:grpSpPr>
          <a:xfrm rot="0">
            <a:off x="6858000" y="6623685"/>
            <a:ext cx="2880360" cy="467487"/>
            <a:chOff x="0" y="0"/>
            <a:chExt cx="3840480" cy="623316"/>
          </a:xfrm>
        </p:grpSpPr>
        <p:sp>
          <p:nvSpPr>
            <p:cNvPr name="Freeform 327" id="327"/>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328" id="328"/>
          <p:cNvGrpSpPr/>
          <p:nvPr/>
        </p:nvGrpSpPr>
        <p:grpSpPr>
          <a:xfrm rot="0">
            <a:off x="6858000" y="6595110"/>
            <a:ext cx="2880360" cy="496062"/>
            <a:chOff x="0" y="0"/>
            <a:chExt cx="3840480" cy="661416"/>
          </a:xfrm>
        </p:grpSpPr>
        <p:sp>
          <p:nvSpPr>
            <p:cNvPr name="Freeform 329" id="329"/>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330" id="330"/>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331" id="331"/>
          <p:cNvGrpSpPr/>
          <p:nvPr/>
        </p:nvGrpSpPr>
        <p:grpSpPr>
          <a:xfrm rot="0">
            <a:off x="9738360" y="6583680"/>
            <a:ext cx="342900" cy="576072"/>
            <a:chOff x="0" y="0"/>
            <a:chExt cx="457200" cy="768096"/>
          </a:xfrm>
        </p:grpSpPr>
        <p:sp>
          <p:nvSpPr>
            <p:cNvPr name="Freeform 332" id="332"/>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333" id="333"/>
          <p:cNvGrpSpPr/>
          <p:nvPr/>
        </p:nvGrpSpPr>
        <p:grpSpPr>
          <a:xfrm rot="0">
            <a:off x="9738360" y="6547961"/>
            <a:ext cx="342900" cy="611791"/>
            <a:chOff x="0" y="0"/>
            <a:chExt cx="457200" cy="815721"/>
          </a:xfrm>
        </p:grpSpPr>
        <p:sp>
          <p:nvSpPr>
            <p:cNvPr name="Freeform 334" id="334"/>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335" id="335"/>
          <p:cNvGrpSpPr/>
          <p:nvPr/>
        </p:nvGrpSpPr>
        <p:grpSpPr>
          <a:xfrm rot="0">
            <a:off x="9738360" y="6512243"/>
            <a:ext cx="342900" cy="647510"/>
            <a:chOff x="0" y="0"/>
            <a:chExt cx="457200" cy="863346"/>
          </a:xfrm>
        </p:grpSpPr>
        <p:sp>
          <p:nvSpPr>
            <p:cNvPr name="Freeform 336" id="336"/>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337" id="337"/>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338" id="338"/>
          <p:cNvGrpSpPr/>
          <p:nvPr/>
        </p:nvGrpSpPr>
        <p:grpSpPr>
          <a:xfrm rot="0">
            <a:off x="10081260" y="6652260"/>
            <a:ext cx="2880360" cy="438912"/>
            <a:chOff x="0" y="0"/>
            <a:chExt cx="3840480" cy="585216"/>
          </a:xfrm>
        </p:grpSpPr>
        <p:sp>
          <p:nvSpPr>
            <p:cNvPr name="Freeform 339" id="339"/>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txBody>
            <a:bodyPr/>
            <a:p/>
          </p:txBody>
        </p:sp>
      </p:grpSp>
      <p:grpSp>
        <p:nvGrpSpPr>
          <p:cNvPr name="Group 340" id="340"/>
          <p:cNvGrpSpPr/>
          <p:nvPr/>
        </p:nvGrpSpPr>
        <p:grpSpPr>
          <a:xfrm rot="0">
            <a:off x="10081260" y="6652260"/>
            <a:ext cx="2880360" cy="438912"/>
            <a:chOff x="0" y="0"/>
            <a:chExt cx="3840480" cy="585216"/>
          </a:xfrm>
        </p:grpSpPr>
        <p:sp>
          <p:nvSpPr>
            <p:cNvPr name="Freeform 341" id="341"/>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342" id="342"/>
          <p:cNvGrpSpPr/>
          <p:nvPr/>
        </p:nvGrpSpPr>
        <p:grpSpPr>
          <a:xfrm rot="0">
            <a:off x="10081260" y="6623685"/>
            <a:ext cx="2880360" cy="467487"/>
            <a:chOff x="0" y="0"/>
            <a:chExt cx="3840480" cy="623316"/>
          </a:xfrm>
        </p:grpSpPr>
        <p:sp>
          <p:nvSpPr>
            <p:cNvPr name="Freeform 343" id="343"/>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344" id="344"/>
          <p:cNvGrpSpPr/>
          <p:nvPr/>
        </p:nvGrpSpPr>
        <p:grpSpPr>
          <a:xfrm rot="0">
            <a:off x="10081260" y="6595110"/>
            <a:ext cx="2880360" cy="496062"/>
            <a:chOff x="0" y="0"/>
            <a:chExt cx="3840480" cy="661416"/>
          </a:xfrm>
        </p:grpSpPr>
        <p:sp>
          <p:nvSpPr>
            <p:cNvPr name="Freeform 345" id="345"/>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346" id="346"/>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347" id="347"/>
          <p:cNvGrpSpPr/>
          <p:nvPr/>
        </p:nvGrpSpPr>
        <p:grpSpPr>
          <a:xfrm rot="0">
            <a:off x="12961620" y="6583680"/>
            <a:ext cx="342900" cy="576072"/>
            <a:chOff x="0" y="0"/>
            <a:chExt cx="457200" cy="768096"/>
          </a:xfrm>
        </p:grpSpPr>
        <p:sp>
          <p:nvSpPr>
            <p:cNvPr name="Freeform 348" id="348"/>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349" id="349"/>
          <p:cNvGrpSpPr/>
          <p:nvPr/>
        </p:nvGrpSpPr>
        <p:grpSpPr>
          <a:xfrm rot="0">
            <a:off x="12961620" y="6547961"/>
            <a:ext cx="342900" cy="611791"/>
            <a:chOff x="0" y="0"/>
            <a:chExt cx="457200" cy="815721"/>
          </a:xfrm>
        </p:grpSpPr>
        <p:sp>
          <p:nvSpPr>
            <p:cNvPr name="Freeform 350" id="350"/>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351" id="351"/>
          <p:cNvGrpSpPr/>
          <p:nvPr/>
        </p:nvGrpSpPr>
        <p:grpSpPr>
          <a:xfrm rot="0">
            <a:off x="12961620" y="6512243"/>
            <a:ext cx="342900" cy="647510"/>
            <a:chOff x="0" y="0"/>
            <a:chExt cx="457200" cy="863346"/>
          </a:xfrm>
        </p:grpSpPr>
        <p:sp>
          <p:nvSpPr>
            <p:cNvPr name="Freeform 352" id="352"/>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353" id="353"/>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354" id="354"/>
          <p:cNvGrpSpPr/>
          <p:nvPr/>
        </p:nvGrpSpPr>
        <p:grpSpPr>
          <a:xfrm rot="0">
            <a:off x="13304520" y="6652260"/>
            <a:ext cx="2880360" cy="438912"/>
            <a:chOff x="0" y="0"/>
            <a:chExt cx="3840480" cy="585216"/>
          </a:xfrm>
        </p:grpSpPr>
        <p:sp>
          <p:nvSpPr>
            <p:cNvPr name="Freeform 355" id="355"/>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txBody>
            <a:bodyPr/>
            <a:p/>
          </p:txBody>
        </p:sp>
      </p:grpSp>
      <p:grpSp>
        <p:nvGrpSpPr>
          <p:cNvPr name="Group 356" id="356"/>
          <p:cNvGrpSpPr/>
          <p:nvPr/>
        </p:nvGrpSpPr>
        <p:grpSpPr>
          <a:xfrm rot="0">
            <a:off x="13304520" y="6652260"/>
            <a:ext cx="2880360" cy="438912"/>
            <a:chOff x="0" y="0"/>
            <a:chExt cx="3840480" cy="585216"/>
          </a:xfrm>
        </p:grpSpPr>
        <p:sp>
          <p:nvSpPr>
            <p:cNvPr name="Freeform 357" id="357"/>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358" id="358"/>
          <p:cNvGrpSpPr/>
          <p:nvPr/>
        </p:nvGrpSpPr>
        <p:grpSpPr>
          <a:xfrm rot="0">
            <a:off x="13304520" y="6623685"/>
            <a:ext cx="2880360" cy="467487"/>
            <a:chOff x="0" y="0"/>
            <a:chExt cx="3840480" cy="623316"/>
          </a:xfrm>
        </p:grpSpPr>
        <p:sp>
          <p:nvSpPr>
            <p:cNvPr name="Freeform 359" id="359"/>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360" id="360"/>
          <p:cNvGrpSpPr/>
          <p:nvPr/>
        </p:nvGrpSpPr>
        <p:grpSpPr>
          <a:xfrm rot="0">
            <a:off x="13304520" y="6595110"/>
            <a:ext cx="2880360" cy="496062"/>
            <a:chOff x="0" y="0"/>
            <a:chExt cx="3840480" cy="661416"/>
          </a:xfrm>
        </p:grpSpPr>
        <p:sp>
          <p:nvSpPr>
            <p:cNvPr name="Freeform 361" id="361"/>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362" id="362"/>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363" id="363"/>
          <p:cNvGrpSpPr/>
          <p:nvPr/>
        </p:nvGrpSpPr>
        <p:grpSpPr>
          <a:xfrm rot="0">
            <a:off x="16390620" y="6665976"/>
            <a:ext cx="891540" cy="411480"/>
            <a:chOff x="0" y="0"/>
            <a:chExt cx="1188720" cy="548640"/>
          </a:xfrm>
        </p:grpSpPr>
        <p:sp>
          <p:nvSpPr>
            <p:cNvPr name="Freeform 364" id="364"/>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65" id="365"/>
          <p:cNvGrpSpPr/>
          <p:nvPr/>
        </p:nvGrpSpPr>
        <p:grpSpPr>
          <a:xfrm rot="0">
            <a:off x="16390620" y="6665976"/>
            <a:ext cx="891540" cy="411480"/>
            <a:chOff x="0" y="0"/>
            <a:chExt cx="1188720" cy="548640"/>
          </a:xfrm>
        </p:grpSpPr>
        <p:sp>
          <p:nvSpPr>
            <p:cNvPr name="Freeform 366" id="366"/>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txBody>
            <a:bodyPr/>
            <a:p/>
          </p:txBody>
        </p:sp>
      </p:grpSp>
      <p:grpSp>
        <p:nvGrpSpPr>
          <p:cNvPr name="Group 367" id="367"/>
          <p:cNvGrpSpPr/>
          <p:nvPr/>
        </p:nvGrpSpPr>
        <p:grpSpPr>
          <a:xfrm rot="0">
            <a:off x="16390620" y="6637401"/>
            <a:ext cx="891540" cy="440055"/>
            <a:chOff x="0" y="0"/>
            <a:chExt cx="1188720" cy="586740"/>
          </a:xfrm>
        </p:grpSpPr>
        <p:sp>
          <p:nvSpPr>
            <p:cNvPr name="Freeform 368" id="368"/>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73" t="0" r="-13372" b="0"/>
              </a:stretch>
            </a:blipFill>
          </p:spPr>
          <p:txBody>
            <a:bodyPr/>
            <a:p/>
          </p:txBody>
        </p:sp>
      </p:grpSp>
      <p:grpSp>
        <p:nvGrpSpPr>
          <p:cNvPr name="Group 369" id="369"/>
          <p:cNvGrpSpPr/>
          <p:nvPr/>
        </p:nvGrpSpPr>
        <p:grpSpPr>
          <a:xfrm rot="0">
            <a:off x="16390620" y="6608826"/>
            <a:ext cx="891540" cy="468630"/>
            <a:chOff x="0" y="0"/>
            <a:chExt cx="1188720" cy="624840"/>
          </a:xfrm>
        </p:grpSpPr>
        <p:sp>
          <p:nvSpPr>
            <p:cNvPr name="Freeform 370" id="370"/>
            <p:cNvSpPr/>
            <p:nvPr/>
          </p:nvSpPr>
          <p:spPr>
            <a:xfrm flipH="false" flipV="false" rot="0">
              <a:off x="0" y="0"/>
              <a:ext cx="1188720" cy="624840"/>
            </a:xfrm>
            <a:custGeom>
              <a:avLst/>
              <a:gdLst/>
              <a:ahLst/>
              <a:cxnLst/>
              <a:rect r="r" b="b" t="t" l="l"/>
              <a:pathLst>
                <a:path h="624840" w="1188720">
                  <a:moveTo>
                    <a:pt x="0" y="0"/>
                  </a:moveTo>
                  <a:lnTo>
                    <a:pt x="1188720" y="0"/>
                  </a:lnTo>
                  <a:lnTo>
                    <a:pt x="1188720" y="624840"/>
                  </a:lnTo>
                  <a:lnTo>
                    <a:pt x="0" y="624840"/>
                  </a:lnTo>
                  <a:close/>
                </a:path>
              </a:pathLst>
            </a:custGeom>
            <a:blipFill>
              <a:blip r:embed="rId6">
                <a:alphaModFix amt="0"/>
              </a:blip>
              <a:stretch>
                <a:fillRect l="-17441" t="0" r="-17441" b="0"/>
              </a:stretch>
            </a:blipFill>
          </p:spPr>
          <p:txBody>
            <a:bodyPr/>
            <a:p/>
          </p:txBody>
        </p:sp>
        <p:sp>
          <p:nvSpPr>
            <p:cNvPr name="TextBox 371" id="371"/>
            <p:cNvSpPr txBox="true"/>
            <p:nvPr/>
          </p:nvSpPr>
          <p:spPr>
            <a:xfrm>
              <a:off x="0" y="-38100"/>
              <a:ext cx="1188720" cy="6629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ROBUST</a:t>
              </a:r>
            </a:p>
          </p:txBody>
        </p:sp>
      </p:grpSp>
      <p:grpSp>
        <p:nvGrpSpPr>
          <p:cNvPr name="Group 372" id="372"/>
          <p:cNvGrpSpPr/>
          <p:nvPr/>
        </p:nvGrpSpPr>
        <p:grpSpPr>
          <a:xfrm rot="0">
            <a:off x="822960" y="7228332"/>
            <a:ext cx="16637508" cy="576072"/>
            <a:chOff x="0" y="0"/>
            <a:chExt cx="22183344" cy="768096"/>
          </a:xfrm>
        </p:grpSpPr>
        <p:sp>
          <p:nvSpPr>
            <p:cNvPr name="Freeform 373" id="373"/>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FFFFFF"/>
            </a:solidFill>
          </p:spPr>
          <p:txBody>
            <a:bodyPr/>
            <a:p/>
          </p:txBody>
        </p:sp>
      </p:grpSp>
      <p:grpSp>
        <p:nvGrpSpPr>
          <p:cNvPr name="Group 374" id="374"/>
          <p:cNvGrpSpPr/>
          <p:nvPr/>
        </p:nvGrpSpPr>
        <p:grpSpPr>
          <a:xfrm rot="0">
            <a:off x="1097280" y="7228332"/>
            <a:ext cx="5486400" cy="576072"/>
            <a:chOff x="0" y="0"/>
            <a:chExt cx="7315200" cy="768096"/>
          </a:xfrm>
        </p:grpSpPr>
        <p:sp>
          <p:nvSpPr>
            <p:cNvPr name="Freeform 375" id="375"/>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txBody>
            <a:bodyPr/>
            <a:p/>
          </p:txBody>
        </p:sp>
      </p:grpSp>
      <p:grpSp>
        <p:nvGrpSpPr>
          <p:cNvPr name="Group 376" id="376"/>
          <p:cNvGrpSpPr/>
          <p:nvPr/>
        </p:nvGrpSpPr>
        <p:grpSpPr>
          <a:xfrm rot="0">
            <a:off x="1097280" y="7192613"/>
            <a:ext cx="5486400" cy="611791"/>
            <a:chOff x="0" y="0"/>
            <a:chExt cx="7315200" cy="815721"/>
          </a:xfrm>
        </p:grpSpPr>
        <p:sp>
          <p:nvSpPr>
            <p:cNvPr name="Freeform 377" id="377"/>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616" r="0" b="-124616"/>
              </a:stretch>
            </a:blipFill>
          </p:spPr>
          <p:txBody>
            <a:bodyPr/>
            <a:p/>
          </p:txBody>
        </p:sp>
      </p:grpSp>
      <p:grpSp>
        <p:nvGrpSpPr>
          <p:cNvPr name="Group 378" id="378"/>
          <p:cNvGrpSpPr/>
          <p:nvPr/>
        </p:nvGrpSpPr>
        <p:grpSpPr>
          <a:xfrm rot="0">
            <a:off x="1097280" y="7156894"/>
            <a:ext cx="5486400" cy="647510"/>
            <a:chOff x="0" y="0"/>
            <a:chExt cx="7315200" cy="863346"/>
          </a:xfrm>
        </p:grpSpPr>
        <p:sp>
          <p:nvSpPr>
            <p:cNvPr name="Freeform 379" id="379"/>
            <p:cNvSpPr/>
            <p:nvPr/>
          </p:nvSpPr>
          <p:spPr>
            <a:xfrm flipH="false" flipV="false" rot="0">
              <a:off x="0" y="0"/>
              <a:ext cx="7315200" cy="863346"/>
            </a:xfrm>
            <a:custGeom>
              <a:avLst/>
              <a:gdLst/>
              <a:ahLst/>
              <a:cxnLst/>
              <a:rect r="r" b="b" t="t" l="l"/>
              <a:pathLst>
                <a:path h="863346" w="7315200">
                  <a:moveTo>
                    <a:pt x="0" y="0"/>
                  </a:moveTo>
                  <a:lnTo>
                    <a:pt x="7315200" y="0"/>
                  </a:lnTo>
                  <a:lnTo>
                    <a:pt x="7315200" y="863346"/>
                  </a:lnTo>
                  <a:lnTo>
                    <a:pt x="0" y="863346"/>
                  </a:lnTo>
                  <a:close/>
                </a:path>
              </a:pathLst>
            </a:custGeom>
            <a:blipFill>
              <a:blip r:embed="rId6">
                <a:alphaModFix amt="0"/>
              </a:blip>
              <a:stretch>
                <a:fillRect l="0" t="-115098" r="0" b="-115098"/>
              </a:stretch>
            </a:blipFill>
          </p:spPr>
          <p:txBody>
            <a:bodyPr/>
            <a:p/>
          </p:txBody>
        </p:sp>
        <p:sp>
          <p:nvSpPr>
            <p:cNvPr name="TextBox 380" id="380"/>
            <p:cNvSpPr txBox="true"/>
            <p:nvPr/>
          </p:nvSpPr>
          <p:spPr>
            <a:xfrm>
              <a:off x="0" y="-47625"/>
              <a:ext cx="7315200" cy="910971"/>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Konversi lahan pariwisata kumulatif</a:t>
              </a:r>
            </a:p>
          </p:txBody>
        </p:sp>
      </p:grpSp>
      <p:grpSp>
        <p:nvGrpSpPr>
          <p:cNvPr name="Group 381" id="381"/>
          <p:cNvGrpSpPr/>
          <p:nvPr/>
        </p:nvGrpSpPr>
        <p:grpSpPr>
          <a:xfrm rot="0">
            <a:off x="6858000" y="7296912"/>
            <a:ext cx="2880360" cy="438912"/>
            <a:chOff x="0" y="0"/>
            <a:chExt cx="3840480" cy="585216"/>
          </a:xfrm>
        </p:grpSpPr>
        <p:sp>
          <p:nvSpPr>
            <p:cNvPr name="Freeform 382" id="382"/>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txBody>
            <a:bodyPr/>
            <a:p/>
          </p:txBody>
        </p:sp>
      </p:grpSp>
      <p:grpSp>
        <p:nvGrpSpPr>
          <p:cNvPr name="Group 383" id="383"/>
          <p:cNvGrpSpPr/>
          <p:nvPr/>
        </p:nvGrpSpPr>
        <p:grpSpPr>
          <a:xfrm rot="0">
            <a:off x="6858000" y="7296912"/>
            <a:ext cx="2880360" cy="438912"/>
            <a:chOff x="0" y="0"/>
            <a:chExt cx="3840480" cy="585216"/>
          </a:xfrm>
        </p:grpSpPr>
        <p:sp>
          <p:nvSpPr>
            <p:cNvPr name="Freeform 384" id="384"/>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385" id="385"/>
          <p:cNvGrpSpPr/>
          <p:nvPr/>
        </p:nvGrpSpPr>
        <p:grpSpPr>
          <a:xfrm rot="0">
            <a:off x="6858000" y="7268337"/>
            <a:ext cx="2880360" cy="467487"/>
            <a:chOff x="0" y="0"/>
            <a:chExt cx="3840480" cy="623316"/>
          </a:xfrm>
        </p:grpSpPr>
        <p:sp>
          <p:nvSpPr>
            <p:cNvPr name="Freeform 386" id="386"/>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387" id="387"/>
          <p:cNvGrpSpPr/>
          <p:nvPr/>
        </p:nvGrpSpPr>
        <p:grpSpPr>
          <a:xfrm rot="0">
            <a:off x="6858000" y="7239762"/>
            <a:ext cx="2880360" cy="496062"/>
            <a:chOff x="0" y="0"/>
            <a:chExt cx="3840480" cy="661416"/>
          </a:xfrm>
        </p:grpSpPr>
        <p:sp>
          <p:nvSpPr>
            <p:cNvPr name="Freeform 388" id="388"/>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389" id="389"/>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390" id="390"/>
          <p:cNvGrpSpPr/>
          <p:nvPr/>
        </p:nvGrpSpPr>
        <p:grpSpPr>
          <a:xfrm rot="0">
            <a:off x="9738360" y="7228332"/>
            <a:ext cx="342900" cy="576072"/>
            <a:chOff x="0" y="0"/>
            <a:chExt cx="457200" cy="768096"/>
          </a:xfrm>
        </p:grpSpPr>
        <p:sp>
          <p:nvSpPr>
            <p:cNvPr name="Freeform 391" id="391"/>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392" id="392"/>
          <p:cNvGrpSpPr/>
          <p:nvPr/>
        </p:nvGrpSpPr>
        <p:grpSpPr>
          <a:xfrm rot="0">
            <a:off x="9738360" y="7192613"/>
            <a:ext cx="342900" cy="611791"/>
            <a:chOff x="0" y="0"/>
            <a:chExt cx="457200" cy="815721"/>
          </a:xfrm>
        </p:grpSpPr>
        <p:sp>
          <p:nvSpPr>
            <p:cNvPr name="Freeform 393" id="393"/>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394" id="394"/>
          <p:cNvGrpSpPr/>
          <p:nvPr/>
        </p:nvGrpSpPr>
        <p:grpSpPr>
          <a:xfrm rot="0">
            <a:off x="9738360" y="7156894"/>
            <a:ext cx="342900" cy="647510"/>
            <a:chOff x="0" y="0"/>
            <a:chExt cx="457200" cy="863346"/>
          </a:xfrm>
        </p:grpSpPr>
        <p:sp>
          <p:nvSpPr>
            <p:cNvPr name="Freeform 395" id="395"/>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396" id="396"/>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397" id="397"/>
          <p:cNvGrpSpPr/>
          <p:nvPr/>
        </p:nvGrpSpPr>
        <p:grpSpPr>
          <a:xfrm rot="0">
            <a:off x="10081260" y="7296912"/>
            <a:ext cx="2880360" cy="438912"/>
            <a:chOff x="0" y="0"/>
            <a:chExt cx="3840480" cy="585216"/>
          </a:xfrm>
        </p:grpSpPr>
        <p:sp>
          <p:nvSpPr>
            <p:cNvPr name="Freeform 398" id="398"/>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txBody>
            <a:bodyPr/>
            <a:p/>
          </p:txBody>
        </p:sp>
      </p:grpSp>
      <p:grpSp>
        <p:nvGrpSpPr>
          <p:cNvPr name="Group 399" id="399"/>
          <p:cNvGrpSpPr/>
          <p:nvPr/>
        </p:nvGrpSpPr>
        <p:grpSpPr>
          <a:xfrm rot="0">
            <a:off x="10081260" y="7296912"/>
            <a:ext cx="2880360" cy="438912"/>
            <a:chOff x="0" y="0"/>
            <a:chExt cx="3840480" cy="585216"/>
          </a:xfrm>
        </p:grpSpPr>
        <p:sp>
          <p:nvSpPr>
            <p:cNvPr name="Freeform 400" id="400"/>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401" id="401"/>
          <p:cNvGrpSpPr/>
          <p:nvPr/>
        </p:nvGrpSpPr>
        <p:grpSpPr>
          <a:xfrm rot="0">
            <a:off x="10081260" y="7268337"/>
            <a:ext cx="2880360" cy="467487"/>
            <a:chOff x="0" y="0"/>
            <a:chExt cx="3840480" cy="623316"/>
          </a:xfrm>
        </p:grpSpPr>
        <p:sp>
          <p:nvSpPr>
            <p:cNvPr name="Freeform 402" id="402"/>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403" id="403"/>
          <p:cNvGrpSpPr/>
          <p:nvPr/>
        </p:nvGrpSpPr>
        <p:grpSpPr>
          <a:xfrm rot="0">
            <a:off x="10081260" y="7239762"/>
            <a:ext cx="2880360" cy="496062"/>
            <a:chOff x="0" y="0"/>
            <a:chExt cx="3840480" cy="661416"/>
          </a:xfrm>
        </p:grpSpPr>
        <p:sp>
          <p:nvSpPr>
            <p:cNvPr name="Freeform 404" id="404"/>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405" id="405"/>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406" id="406"/>
          <p:cNvGrpSpPr/>
          <p:nvPr/>
        </p:nvGrpSpPr>
        <p:grpSpPr>
          <a:xfrm rot="0">
            <a:off x="12961620" y="7228332"/>
            <a:ext cx="342900" cy="576072"/>
            <a:chOff x="0" y="0"/>
            <a:chExt cx="457200" cy="768096"/>
          </a:xfrm>
        </p:grpSpPr>
        <p:sp>
          <p:nvSpPr>
            <p:cNvPr name="Freeform 407" id="407"/>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408" id="408"/>
          <p:cNvGrpSpPr/>
          <p:nvPr/>
        </p:nvGrpSpPr>
        <p:grpSpPr>
          <a:xfrm rot="0">
            <a:off x="12961620" y="7192613"/>
            <a:ext cx="342900" cy="611791"/>
            <a:chOff x="0" y="0"/>
            <a:chExt cx="457200" cy="815721"/>
          </a:xfrm>
        </p:grpSpPr>
        <p:sp>
          <p:nvSpPr>
            <p:cNvPr name="Freeform 409" id="409"/>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410" id="410"/>
          <p:cNvGrpSpPr/>
          <p:nvPr/>
        </p:nvGrpSpPr>
        <p:grpSpPr>
          <a:xfrm rot="0">
            <a:off x="12961620" y="7156894"/>
            <a:ext cx="342900" cy="647510"/>
            <a:chOff x="0" y="0"/>
            <a:chExt cx="457200" cy="863346"/>
          </a:xfrm>
        </p:grpSpPr>
        <p:sp>
          <p:nvSpPr>
            <p:cNvPr name="Freeform 411" id="411"/>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412" id="412"/>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413" id="413"/>
          <p:cNvGrpSpPr/>
          <p:nvPr/>
        </p:nvGrpSpPr>
        <p:grpSpPr>
          <a:xfrm rot="0">
            <a:off x="13304520" y="7296912"/>
            <a:ext cx="2880360" cy="438912"/>
            <a:chOff x="0" y="0"/>
            <a:chExt cx="3840480" cy="585216"/>
          </a:xfrm>
        </p:grpSpPr>
        <p:sp>
          <p:nvSpPr>
            <p:cNvPr name="Freeform 414" id="414"/>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txBody>
            <a:bodyPr/>
            <a:p/>
          </p:txBody>
        </p:sp>
      </p:grpSp>
      <p:grpSp>
        <p:nvGrpSpPr>
          <p:cNvPr name="Group 415" id="415"/>
          <p:cNvGrpSpPr/>
          <p:nvPr/>
        </p:nvGrpSpPr>
        <p:grpSpPr>
          <a:xfrm rot="0">
            <a:off x="13304520" y="7296912"/>
            <a:ext cx="2880360" cy="438912"/>
            <a:chOff x="0" y="0"/>
            <a:chExt cx="3840480" cy="585216"/>
          </a:xfrm>
        </p:grpSpPr>
        <p:sp>
          <p:nvSpPr>
            <p:cNvPr name="Freeform 416" id="416"/>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417" id="417"/>
          <p:cNvGrpSpPr/>
          <p:nvPr/>
        </p:nvGrpSpPr>
        <p:grpSpPr>
          <a:xfrm rot="0">
            <a:off x="13304520" y="7268337"/>
            <a:ext cx="2880360" cy="467487"/>
            <a:chOff x="0" y="0"/>
            <a:chExt cx="3840480" cy="623316"/>
          </a:xfrm>
        </p:grpSpPr>
        <p:sp>
          <p:nvSpPr>
            <p:cNvPr name="Freeform 418" id="418"/>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419" id="419"/>
          <p:cNvGrpSpPr/>
          <p:nvPr/>
        </p:nvGrpSpPr>
        <p:grpSpPr>
          <a:xfrm rot="0">
            <a:off x="13304520" y="7239762"/>
            <a:ext cx="2880360" cy="496062"/>
            <a:chOff x="0" y="0"/>
            <a:chExt cx="3840480" cy="661416"/>
          </a:xfrm>
        </p:grpSpPr>
        <p:sp>
          <p:nvSpPr>
            <p:cNvPr name="Freeform 420" id="420"/>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421" id="421"/>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422" id="422"/>
          <p:cNvGrpSpPr/>
          <p:nvPr/>
        </p:nvGrpSpPr>
        <p:grpSpPr>
          <a:xfrm rot="0">
            <a:off x="16390620" y="7310628"/>
            <a:ext cx="891540" cy="411480"/>
            <a:chOff x="0" y="0"/>
            <a:chExt cx="1188720" cy="548640"/>
          </a:xfrm>
        </p:grpSpPr>
        <p:sp>
          <p:nvSpPr>
            <p:cNvPr name="Freeform 423" id="423"/>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24" id="424"/>
          <p:cNvGrpSpPr/>
          <p:nvPr/>
        </p:nvGrpSpPr>
        <p:grpSpPr>
          <a:xfrm rot="0">
            <a:off x="16390620" y="7310628"/>
            <a:ext cx="891540" cy="411480"/>
            <a:chOff x="0" y="0"/>
            <a:chExt cx="1188720" cy="548640"/>
          </a:xfrm>
        </p:grpSpPr>
        <p:sp>
          <p:nvSpPr>
            <p:cNvPr name="Freeform 425" id="425"/>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txBody>
            <a:bodyPr/>
            <a:p/>
          </p:txBody>
        </p:sp>
      </p:grpSp>
      <p:grpSp>
        <p:nvGrpSpPr>
          <p:cNvPr name="Group 426" id="426"/>
          <p:cNvGrpSpPr/>
          <p:nvPr/>
        </p:nvGrpSpPr>
        <p:grpSpPr>
          <a:xfrm rot="0">
            <a:off x="16390620" y="7282053"/>
            <a:ext cx="891540" cy="440055"/>
            <a:chOff x="0" y="0"/>
            <a:chExt cx="1188720" cy="586740"/>
          </a:xfrm>
        </p:grpSpPr>
        <p:sp>
          <p:nvSpPr>
            <p:cNvPr name="Freeform 427" id="427"/>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73" t="0" r="-13372" b="0"/>
              </a:stretch>
            </a:blipFill>
          </p:spPr>
          <p:txBody>
            <a:bodyPr/>
            <a:p/>
          </p:txBody>
        </p:sp>
      </p:grpSp>
      <p:grpSp>
        <p:nvGrpSpPr>
          <p:cNvPr name="Group 428" id="428"/>
          <p:cNvGrpSpPr/>
          <p:nvPr/>
        </p:nvGrpSpPr>
        <p:grpSpPr>
          <a:xfrm rot="0">
            <a:off x="16390620" y="7253478"/>
            <a:ext cx="891540" cy="468630"/>
            <a:chOff x="0" y="0"/>
            <a:chExt cx="1188720" cy="624840"/>
          </a:xfrm>
        </p:grpSpPr>
        <p:sp>
          <p:nvSpPr>
            <p:cNvPr name="Freeform 429" id="429"/>
            <p:cNvSpPr/>
            <p:nvPr/>
          </p:nvSpPr>
          <p:spPr>
            <a:xfrm flipH="false" flipV="false" rot="0">
              <a:off x="0" y="0"/>
              <a:ext cx="1188720" cy="624840"/>
            </a:xfrm>
            <a:custGeom>
              <a:avLst/>
              <a:gdLst/>
              <a:ahLst/>
              <a:cxnLst/>
              <a:rect r="r" b="b" t="t" l="l"/>
              <a:pathLst>
                <a:path h="624840" w="1188720">
                  <a:moveTo>
                    <a:pt x="0" y="0"/>
                  </a:moveTo>
                  <a:lnTo>
                    <a:pt x="1188720" y="0"/>
                  </a:lnTo>
                  <a:lnTo>
                    <a:pt x="1188720" y="624840"/>
                  </a:lnTo>
                  <a:lnTo>
                    <a:pt x="0" y="624840"/>
                  </a:lnTo>
                  <a:close/>
                </a:path>
              </a:pathLst>
            </a:custGeom>
            <a:blipFill>
              <a:blip r:embed="rId6">
                <a:alphaModFix amt="0"/>
              </a:blip>
              <a:stretch>
                <a:fillRect l="-17441" t="0" r="-17441" b="0"/>
              </a:stretch>
            </a:blipFill>
          </p:spPr>
          <p:txBody>
            <a:bodyPr/>
            <a:p/>
          </p:txBody>
        </p:sp>
        <p:sp>
          <p:nvSpPr>
            <p:cNvPr name="TextBox 430" id="430"/>
            <p:cNvSpPr txBox="true"/>
            <p:nvPr/>
          </p:nvSpPr>
          <p:spPr>
            <a:xfrm>
              <a:off x="0" y="-38100"/>
              <a:ext cx="1188720" cy="6629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ROBUST</a:t>
              </a:r>
            </a:p>
          </p:txBody>
        </p:sp>
      </p:grpSp>
      <p:grpSp>
        <p:nvGrpSpPr>
          <p:cNvPr name="Group 431" id="431"/>
          <p:cNvGrpSpPr/>
          <p:nvPr/>
        </p:nvGrpSpPr>
        <p:grpSpPr>
          <a:xfrm rot="0">
            <a:off x="822960" y="7872984"/>
            <a:ext cx="16637508" cy="576072"/>
            <a:chOff x="0" y="0"/>
            <a:chExt cx="22183344" cy="768096"/>
          </a:xfrm>
        </p:grpSpPr>
        <p:sp>
          <p:nvSpPr>
            <p:cNvPr name="Freeform 432" id="432"/>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txBody>
            <a:bodyPr/>
            <a:p/>
          </p:txBody>
        </p:sp>
      </p:grpSp>
      <p:grpSp>
        <p:nvGrpSpPr>
          <p:cNvPr name="Group 433" id="433"/>
          <p:cNvGrpSpPr/>
          <p:nvPr/>
        </p:nvGrpSpPr>
        <p:grpSpPr>
          <a:xfrm rot="0">
            <a:off x="1097280" y="7872984"/>
            <a:ext cx="5486400" cy="576072"/>
            <a:chOff x="0" y="0"/>
            <a:chExt cx="7315200" cy="768096"/>
          </a:xfrm>
        </p:grpSpPr>
        <p:sp>
          <p:nvSpPr>
            <p:cNvPr name="Freeform 434" id="434"/>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txBody>
            <a:bodyPr/>
            <a:p/>
          </p:txBody>
        </p:sp>
      </p:grpSp>
      <p:grpSp>
        <p:nvGrpSpPr>
          <p:cNvPr name="Group 435" id="435"/>
          <p:cNvGrpSpPr/>
          <p:nvPr/>
        </p:nvGrpSpPr>
        <p:grpSpPr>
          <a:xfrm rot="0">
            <a:off x="1097280" y="7837265"/>
            <a:ext cx="5486400" cy="611791"/>
            <a:chOff x="0" y="0"/>
            <a:chExt cx="7315200" cy="815721"/>
          </a:xfrm>
        </p:grpSpPr>
        <p:sp>
          <p:nvSpPr>
            <p:cNvPr name="Freeform 436" id="436"/>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616" r="0" b="-124616"/>
              </a:stretch>
            </a:blipFill>
          </p:spPr>
          <p:txBody>
            <a:bodyPr/>
            <a:p/>
          </p:txBody>
        </p:sp>
      </p:grpSp>
      <p:grpSp>
        <p:nvGrpSpPr>
          <p:cNvPr name="Group 437" id="437"/>
          <p:cNvGrpSpPr/>
          <p:nvPr/>
        </p:nvGrpSpPr>
        <p:grpSpPr>
          <a:xfrm rot="0">
            <a:off x="1097280" y="7801546"/>
            <a:ext cx="5486400" cy="647510"/>
            <a:chOff x="0" y="0"/>
            <a:chExt cx="7315200" cy="863346"/>
          </a:xfrm>
        </p:grpSpPr>
        <p:sp>
          <p:nvSpPr>
            <p:cNvPr name="Freeform 438" id="438"/>
            <p:cNvSpPr/>
            <p:nvPr/>
          </p:nvSpPr>
          <p:spPr>
            <a:xfrm flipH="false" flipV="false" rot="0">
              <a:off x="0" y="0"/>
              <a:ext cx="7315200" cy="863346"/>
            </a:xfrm>
            <a:custGeom>
              <a:avLst/>
              <a:gdLst/>
              <a:ahLst/>
              <a:cxnLst/>
              <a:rect r="r" b="b" t="t" l="l"/>
              <a:pathLst>
                <a:path h="863346" w="7315200">
                  <a:moveTo>
                    <a:pt x="0" y="0"/>
                  </a:moveTo>
                  <a:lnTo>
                    <a:pt x="7315200" y="0"/>
                  </a:lnTo>
                  <a:lnTo>
                    <a:pt x="7315200" y="863346"/>
                  </a:lnTo>
                  <a:lnTo>
                    <a:pt x="0" y="863346"/>
                  </a:lnTo>
                  <a:close/>
                </a:path>
              </a:pathLst>
            </a:custGeom>
            <a:blipFill>
              <a:blip r:embed="rId6">
                <a:alphaModFix amt="0"/>
              </a:blip>
              <a:stretch>
                <a:fillRect l="0" t="-115098" r="0" b="-115098"/>
              </a:stretch>
            </a:blipFill>
          </p:spPr>
          <p:txBody>
            <a:bodyPr/>
            <a:p/>
          </p:txBody>
        </p:sp>
        <p:sp>
          <p:nvSpPr>
            <p:cNvPr name="TextBox 439" id="439"/>
            <p:cNvSpPr txBox="true"/>
            <p:nvPr/>
          </p:nvSpPr>
          <p:spPr>
            <a:xfrm>
              <a:off x="0" y="-47625"/>
              <a:ext cx="7315200" cy="910971"/>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Indeks kepadatan</a:t>
              </a:r>
            </a:p>
          </p:txBody>
        </p:sp>
      </p:grpSp>
      <p:grpSp>
        <p:nvGrpSpPr>
          <p:cNvPr name="Group 440" id="440"/>
          <p:cNvGrpSpPr/>
          <p:nvPr/>
        </p:nvGrpSpPr>
        <p:grpSpPr>
          <a:xfrm rot="0">
            <a:off x="6858000" y="7941564"/>
            <a:ext cx="2880360" cy="438912"/>
            <a:chOff x="0" y="0"/>
            <a:chExt cx="3840480" cy="585216"/>
          </a:xfrm>
        </p:grpSpPr>
        <p:sp>
          <p:nvSpPr>
            <p:cNvPr name="Freeform 441" id="441"/>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txBody>
            <a:bodyPr/>
            <a:p/>
          </p:txBody>
        </p:sp>
      </p:grpSp>
      <p:grpSp>
        <p:nvGrpSpPr>
          <p:cNvPr name="Group 442" id="442"/>
          <p:cNvGrpSpPr/>
          <p:nvPr/>
        </p:nvGrpSpPr>
        <p:grpSpPr>
          <a:xfrm rot="0">
            <a:off x="6858000" y="7941564"/>
            <a:ext cx="2880360" cy="438912"/>
            <a:chOff x="0" y="0"/>
            <a:chExt cx="3840480" cy="585216"/>
          </a:xfrm>
        </p:grpSpPr>
        <p:sp>
          <p:nvSpPr>
            <p:cNvPr name="Freeform 443" id="443"/>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444" id="444"/>
          <p:cNvGrpSpPr/>
          <p:nvPr/>
        </p:nvGrpSpPr>
        <p:grpSpPr>
          <a:xfrm rot="0">
            <a:off x="6858000" y="7912989"/>
            <a:ext cx="2880360" cy="467487"/>
            <a:chOff x="0" y="0"/>
            <a:chExt cx="3840480" cy="623316"/>
          </a:xfrm>
        </p:grpSpPr>
        <p:sp>
          <p:nvSpPr>
            <p:cNvPr name="Freeform 445" id="445"/>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446" id="446"/>
          <p:cNvGrpSpPr/>
          <p:nvPr/>
        </p:nvGrpSpPr>
        <p:grpSpPr>
          <a:xfrm rot="0">
            <a:off x="6858000" y="7884414"/>
            <a:ext cx="2880360" cy="496062"/>
            <a:chOff x="0" y="0"/>
            <a:chExt cx="3840480" cy="661416"/>
          </a:xfrm>
        </p:grpSpPr>
        <p:sp>
          <p:nvSpPr>
            <p:cNvPr name="Freeform 447" id="447"/>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448" id="448"/>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449" id="449"/>
          <p:cNvGrpSpPr/>
          <p:nvPr/>
        </p:nvGrpSpPr>
        <p:grpSpPr>
          <a:xfrm rot="0">
            <a:off x="9738360" y="7872984"/>
            <a:ext cx="342900" cy="576072"/>
            <a:chOff x="0" y="0"/>
            <a:chExt cx="457200" cy="768096"/>
          </a:xfrm>
        </p:grpSpPr>
        <p:sp>
          <p:nvSpPr>
            <p:cNvPr name="Freeform 450" id="450"/>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451" id="451"/>
          <p:cNvGrpSpPr/>
          <p:nvPr/>
        </p:nvGrpSpPr>
        <p:grpSpPr>
          <a:xfrm rot="0">
            <a:off x="9738360" y="7837265"/>
            <a:ext cx="342900" cy="611791"/>
            <a:chOff x="0" y="0"/>
            <a:chExt cx="457200" cy="815721"/>
          </a:xfrm>
        </p:grpSpPr>
        <p:sp>
          <p:nvSpPr>
            <p:cNvPr name="Freeform 452" id="452"/>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453" id="453"/>
          <p:cNvGrpSpPr/>
          <p:nvPr/>
        </p:nvGrpSpPr>
        <p:grpSpPr>
          <a:xfrm rot="0">
            <a:off x="9738360" y="7801546"/>
            <a:ext cx="342900" cy="647510"/>
            <a:chOff x="0" y="0"/>
            <a:chExt cx="457200" cy="863346"/>
          </a:xfrm>
        </p:grpSpPr>
        <p:sp>
          <p:nvSpPr>
            <p:cNvPr name="Freeform 454" id="454"/>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455" id="455"/>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456" id="456"/>
          <p:cNvGrpSpPr/>
          <p:nvPr/>
        </p:nvGrpSpPr>
        <p:grpSpPr>
          <a:xfrm rot="0">
            <a:off x="10081260" y="7941564"/>
            <a:ext cx="2880360" cy="438912"/>
            <a:chOff x="0" y="0"/>
            <a:chExt cx="3840480" cy="585216"/>
          </a:xfrm>
        </p:grpSpPr>
        <p:sp>
          <p:nvSpPr>
            <p:cNvPr name="Freeform 457" id="457"/>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txBody>
            <a:bodyPr/>
            <a:p/>
          </p:txBody>
        </p:sp>
      </p:grpSp>
      <p:grpSp>
        <p:nvGrpSpPr>
          <p:cNvPr name="Group 458" id="458"/>
          <p:cNvGrpSpPr/>
          <p:nvPr/>
        </p:nvGrpSpPr>
        <p:grpSpPr>
          <a:xfrm rot="0">
            <a:off x="10081260" y="7941564"/>
            <a:ext cx="2880360" cy="438912"/>
            <a:chOff x="0" y="0"/>
            <a:chExt cx="3840480" cy="585216"/>
          </a:xfrm>
        </p:grpSpPr>
        <p:sp>
          <p:nvSpPr>
            <p:cNvPr name="Freeform 459" id="459"/>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460" id="460"/>
          <p:cNvGrpSpPr/>
          <p:nvPr/>
        </p:nvGrpSpPr>
        <p:grpSpPr>
          <a:xfrm rot="0">
            <a:off x="10081260" y="7912989"/>
            <a:ext cx="2880360" cy="467487"/>
            <a:chOff x="0" y="0"/>
            <a:chExt cx="3840480" cy="623316"/>
          </a:xfrm>
        </p:grpSpPr>
        <p:sp>
          <p:nvSpPr>
            <p:cNvPr name="Freeform 461" id="461"/>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462" id="462"/>
          <p:cNvGrpSpPr/>
          <p:nvPr/>
        </p:nvGrpSpPr>
        <p:grpSpPr>
          <a:xfrm rot="0">
            <a:off x="10081260" y="7884414"/>
            <a:ext cx="2880360" cy="496062"/>
            <a:chOff x="0" y="0"/>
            <a:chExt cx="3840480" cy="661416"/>
          </a:xfrm>
        </p:grpSpPr>
        <p:sp>
          <p:nvSpPr>
            <p:cNvPr name="Freeform 463" id="463"/>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464" id="464"/>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465" id="465"/>
          <p:cNvGrpSpPr/>
          <p:nvPr/>
        </p:nvGrpSpPr>
        <p:grpSpPr>
          <a:xfrm rot="0">
            <a:off x="12961620" y="7872984"/>
            <a:ext cx="342900" cy="576072"/>
            <a:chOff x="0" y="0"/>
            <a:chExt cx="457200" cy="768096"/>
          </a:xfrm>
        </p:grpSpPr>
        <p:sp>
          <p:nvSpPr>
            <p:cNvPr name="Freeform 466" id="466"/>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467" id="467"/>
          <p:cNvGrpSpPr/>
          <p:nvPr/>
        </p:nvGrpSpPr>
        <p:grpSpPr>
          <a:xfrm rot="0">
            <a:off x="12961620" y="7837265"/>
            <a:ext cx="342900" cy="611791"/>
            <a:chOff x="0" y="0"/>
            <a:chExt cx="457200" cy="815721"/>
          </a:xfrm>
        </p:grpSpPr>
        <p:sp>
          <p:nvSpPr>
            <p:cNvPr name="Freeform 468" id="468"/>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469" id="469"/>
          <p:cNvGrpSpPr/>
          <p:nvPr/>
        </p:nvGrpSpPr>
        <p:grpSpPr>
          <a:xfrm rot="0">
            <a:off x="12961620" y="7801546"/>
            <a:ext cx="342900" cy="647510"/>
            <a:chOff x="0" y="0"/>
            <a:chExt cx="457200" cy="863346"/>
          </a:xfrm>
        </p:grpSpPr>
        <p:sp>
          <p:nvSpPr>
            <p:cNvPr name="Freeform 470" id="470"/>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471" id="471"/>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472" id="472"/>
          <p:cNvGrpSpPr/>
          <p:nvPr/>
        </p:nvGrpSpPr>
        <p:grpSpPr>
          <a:xfrm rot="0">
            <a:off x="13304520" y="7941564"/>
            <a:ext cx="2880360" cy="438912"/>
            <a:chOff x="0" y="0"/>
            <a:chExt cx="3840480" cy="585216"/>
          </a:xfrm>
        </p:grpSpPr>
        <p:sp>
          <p:nvSpPr>
            <p:cNvPr name="Freeform 473" id="473"/>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txBody>
            <a:bodyPr/>
            <a:p/>
          </p:txBody>
        </p:sp>
      </p:grpSp>
      <p:grpSp>
        <p:nvGrpSpPr>
          <p:cNvPr name="Group 474" id="474"/>
          <p:cNvGrpSpPr/>
          <p:nvPr/>
        </p:nvGrpSpPr>
        <p:grpSpPr>
          <a:xfrm rot="0">
            <a:off x="13304520" y="7941564"/>
            <a:ext cx="2880360" cy="438912"/>
            <a:chOff x="0" y="0"/>
            <a:chExt cx="3840480" cy="585216"/>
          </a:xfrm>
        </p:grpSpPr>
        <p:sp>
          <p:nvSpPr>
            <p:cNvPr name="Freeform 475" id="475"/>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476" id="476"/>
          <p:cNvGrpSpPr/>
          <p:nvPr/>
        </p:nvGrpSpPr>
        <p:grpSpPr>
          <a:xfrm rot="0">
            <a:off x="13304520" y="7912989"/>
            <a:ext cx="2880360" cy="467487"/>
            <a:chOff x="0" y="0"/>
            <a:chExt cx="3840480" cy="623316"/>
          </a:xfrm>
        </p:grpSpPr>
        <p:sp>
          <p:nvSpPr>
            <p:cNvPr name="Freeform 477" id="477"/>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478" id="478"/>
          <p:cNvGrpSpPr/>
          <p:nvPr/>
        </p:nvGrpSpPr>
        <p:grpSpPr>
          <a:xfrm rot="0">
            <a:off x="13304520" y="7884414"/>
            <a:ext cx="2880360" cy="496062"/>
            <a:chOff x="0" y="0"/>
            <a:chExt cx="3840480" cy="661416"/>
          </a:xfrm>
        </p:grpSpPr>
        <p:sp>
          <p:nvSpPr>
            <p:cNvPr name="Freeform 479" id="479"/>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480" id="480"/>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481" id="481"/>
          <p:cNvGrpSpPr/>
          <p:nvPr/>
        </p:nvGrpSpPr>
        <p:grpSpPr>
          <a:xfrm rot="0">
            <a:off x="16390620" y="7955280"/>
            <a:ext cx="891540" cy="411480"/>
            <a:chOff x="0" y="0"/>
            <a:chExt cx="1188720" cy="548640"/>
          </a:xfrm>
        </p:grpSpPr>
        <p:sp>
          <p:nvSpPr>
            <p:cNvPr name="Freeform 482" id="482"/>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83" id="483"/>
          <p:cNvGrpSpPr/>
          <p:nvPr/>
        </p:nvGrpSpPr>
        <p:grpSpPr>
          <a:xfrm rot="0">
            <a:off x="16390620" y="7955280"/>
            <a:ext cx="891540" cy="411480"/>
            <a:chOff x="0" y="0"/>
            <a:chExt cx="1188720" cy="548640"/>
          </a:xfrm>
        </p:grpSpPr>
        <p:sp>
          <p:nvSpPr>
            <p:cNvPr name="Freeform 484" id="484"/>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txBody>
            <a:bodyPr/>
            <a:p/>
          </p:txBody>
        </p:sp>
      </p:grpSp>
      <p:grpSp>
        <p:nvGrpSpPr>
          <p:cNvPr name="Group 485" id="485"/>
          <p:cNvGrpSpPr/>
          <p:nvPr/>
        </p:nvGrpSpPr>
        <p:grpSpPr>
          <a:xfrm rot="0">
            <a:off x="16390620" y="7926705"/>
            <a:ext cx="891540" cy="440055"/>
            <a:chOff x="0" y="0"/>
            <a:chExt cx="1188720" cy="586740"/>
          </a:xfrm>
        </p:grpSpPr>
        <p:sp>
          <p:nvSpPr>
            <p:cNvPr name="Freeform 486" id="486"/>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73" t="0" r="-13372" b="0"/>
              </a:stretch>
            </a:blipFill>
          </p:spPr>
          <p:txBody>
            <a:bodyPr/>
            <a:p/>
          </p:txBody>
        </p:sp>
      </p:grpSp>
      <p:grpSp>
        <p:nvGrpSpPr>
          <p:cNvPr name="Group 487" id="487"/>
          <p:cNvGrpSpPr/>
          <p:nvPr/>
        </p:nvGrpSpPr>
        <p:grpSpPr>
          <a:xfrm rot="0">
            <a:off x="16390620" y="7898130"/>
            <a:ext cx="891540" cy="468630"/>
            <a:chOff x="0" y="0"/>
            <a:chExt cx="1188720" cy="624840"/>
          </a:xfrm>
        </p:grpSpPr>
        <p:sp>
          <p:nvSpPr>
            <p:cNvPr name="Freeform 488" id="488"/>
            <p:cNvSpPr/>
            <p:nvPr/>
          </p:nvSpPr>
          <p:spPr>
            <a:xfrm flipH="false" flipV="false" rot="0">
              <a:off x="0" y="0"/>
              <a:ext cx="1188720" cy="624840"/>
            </a:xfrm>
            <a:custGeom>
              <a:avLst/>
              <a:gdLst/>
              <a:ahLst/>
              <a:cxnLst/>
              <a:rect r="r" b="b" t="t" l="l"/>
              <a:pathLst>
                <a:path h="624840" w="1188720">
                  <a:moveTo>
                    <a:pt x="0" y="0"/>
                  </a:moveTo>
                  <a:lnTo>
                    <a:pt x="1188720" y="0"/>
                  </a:lnTo>
                  <a:lnTo>
                    <a:pt x="1188720" y="624840"/>
                  </a:lnTo>
                  <a:lnTo>
                    <a:pt x="0" y="624840"/>
                  </a:lnTo>
                  <a:close/>
                </a:path>
              </a:pathLst>
            </a:custGeom>
            <a:blipFill>
              <a:blip r:embed="rId6">
                <a:alphaModFix amt="0"/>
              </a:blip>
              <a:stretch>
                <a:fillRect l="-17441" t="0" r="-17441" b="0"/>
              </a:stretch>
            </a:blipFill>
          </p:spPr>
          <p:txBody>
            <a:bodyPr/>
            <a:p/>
          </p:txBody>
        </p:sp>
        <p:sp>
          <p:nvSpPr>
            <p:cNvPr name="TextBox 489" id="489"/>
            <p:cNvSpPr txBox="true"/>
            <p:nvPr/>
          </p:nvSpPr>
          <p:spPr>
            <a:xfrm>
              <a:off x="0" y="-38100"/>
              <a:ext cx="1188720" cy="6629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ROBUST</a:t>
              </a:r>
            </a:p>
          </p:txBody>
        </p:sp>
      </p:grpSp>
      <p:grpSp>
        <p:nvGrpSpPr>
          <p:cNvPr name="Group 490" id="490"/>
          <p:cNvGrpSpPr/>
          <p:nvPr/>
        </p:nvGrpSpPr>
        <p:grpSpPr>
          <a:xfrm rot="0">
            <a:off x="822960" y="8641080"/>
            <a:ext cx="16637508" cy="685800"/>
            <a:chOff x="0" y="0"/>
            <a:chExt cx="22183344" cy="914400"/>
          </a:xfrm>
        </p:grpSpPr>
        <p:sp>
          <p:nvSpPr>
            <p:cNvPr name="Freeform 491" id="491"/>
            <p:cNvSpPr/>
            <p:nvPr/>
          </p:nvSpPr>
          <p:spPr>
            <a:xfrm flipH="false" flipV="false" rot="0">
              <a:off x="0" y="0"/>
              <a:ext cx="22183344" cy="914400"/>
            </a:xfrm>
            <a:custGeom>
              <a:avLst/>
              <a:gdLst/>
              <a:ahLst/>
              <a:cxnLst/>
              <a:rect r="r" b="b" t="t" l="l"/>
              <a:pathLst>
                <a:path h="914400" w="22183344">
                  <a:moveTo>
                    <a:pt x="0" y="182880"/>
                  </a:moveTo>
                  <a:cubicBezTo>
                    <a:pt x="0" y="81915"/>
                    <a:pt x="81915" y="0"/>
                    <a:pt x="182880" y="0"/>
                  </a:cubicBezTo>
                  <a:lnTo>
                    <a:pt x="22000463" y="0"/>
                  </a:lnTo>
                  <a:cubicBezTo>
                    <a:pt x="22101428" y="0"/>
                    <a:pt x="22183344" y="81915"/>
                    <a:pt x="22183344" y="182880"/>
                  </a:cubicBezTo>
                  <a:lnTo>
                    <a:pt x="22183344" y="731520"/>
                  </a:lnTo>
                  <a:cubicBezTo>
                    <a:pt x="22183344" y="832485"/>
                    <a:pt x="22101428" y="914400"/>
                    <a:pt x="22000463" y="914400"/>
                  </a:cubicBezTo>
                  <a:lnTo>
                    <a:pt x="182880" y="914400"/>
                  </a:lnTo>
                  <a:cubicBezTo>
                    <a:pt x="81915" y="914400"/>
                    <a:pt x="0" y="832485"/>
                    <a:pt x="0" y="731520"/>
                  </a:cubicBezTo>
                  <a:close/>
                </a:path>
              </a:pathLst>
            </a:custGeom>
            <a:solidFill>
              <a:srgbClr val="FFF1BF"/>
            </a:solidFill>
          </p:spPr>
          <p:txBody>
            <a:bodyPr/>
            <a:p/>
          </p:txBody>
        </p:sp>
      </p:grpSp>
      <p:grpSp>
        <p:nvGrpSpPr>
          <p:cNvPr name="Group 492" id="492"/>
          <p:cNvGrpSpPr/>
          <p:nvPr/>
        </p:nvGrpSpPr>
        <p:grpSpPr>
          <a:xfrm rot="0">
            <a:off x="1165860" y="8641080"/>
            <a:ext cx="15951708" cy="685800"/>
            <a:chOff x="0" y="0"/>
            <a:chExt cx="21268944" cy="914400"/>
          </a:xfrm>
        </p:grpSpPr>
        <p:sp>
          <p:nvSpPr>
            <p:cNvPr name="Freeform 493" id="493"/>
            <p:cNvSpPr/>
            <p:nvPr/>
          </p:nvSpPr>
          <p:spPr>
            <a:xfrm flipH="false" flipV="false" rot="0">
              <a:off x="0" y="0"/>
              <a:ext cx="21268944" cy="914400"/>
            </a:xfrm>
            <a:custGeom>
              <a:avLst/>
              <a:gdLst/>
              <a:ahLst/>
              <a:cxnLst/>
              <a:rect r="r" b="b" t="t" l="l"/>
              <a:pathLst>
                <a:path h="914400" w="21268944">
                  <a:moveTo>
                    <a:pt x="0" y="0"/>
                  </a:moveTo>
                  <a:lnTo>
                    <a:pt x="21268944" y="0"/>
                  </a:lnTo>
                  <a:lnTo>
                    <a:pt x="21268944" y="914400"/>
                  </a:lnTo>
                  <a:lnTo>
                    <a:pt x="0" y="914400"/>
                  </a:lnTo>
                  <a:close/>
                </a:path>
              </a:pathLst>
            </a:custGeom>
            <a:blipFill>
              <a:blip r:embed="rId4">
                <a:alphaModFix amt="0"/>
              </a:blip>
              <a:stretch>
                <a:fillRect l="0" t="-402906" r="0" b="-402906"/>
              </a:stretch>
            </a:blipFill>
          </p:spPr>
          <p:txBody>
            <a:bodyPr/>
            <a:p/>
          </p:txBody>
        </p:sp>
      </p:grpSp>
      <p:grpSp>
        <p:nvGrpSpPr>
          <p:cNvPr name="Group 494" id="494"/>
          <p:cNvGrpSpPr/>
          <p:nvPr/>
        </p:nvGrpSpPr>
        <p:grpSpPr>
          <a:xfrm rot="0">
            <a:off x="1165860" y="8612505"/>
            <a:ext cx="15951708" cy="714375"/>
            <a:chOff x="0" y="0"/>
            <a:chExt cx="21268944" cy="952500"/>
          </a:xfrm>
        </p:grpSpPr>
        <p:sp>
          <p:nvSpPr>
            <p:cNvPr name="Freeform 495" id="495"/>
            <p:cNvSpPr/>
            <p:nvPr/>
          </p:nvSpPr>
          <p:spPr>
            <a:xfrm flipH="false" flipV="false" rot="0">
              <a:off x="0" y="0"/>
              <a:ext cx="21268944" cy="952500"/>
            </a:xfrm>
            <a:custGeom>
              <a:avLst/>
              <a:gdLst/>
              <a:ahLst/>
              <a:cxnLst/>
              <a:rect r="r" b="b" t="t" l="l"/>
              <a:pathLst>
                <a:path h="952500" w="21268944">
                  <a:moveTo>
                    <a:pt x="0" y="0"/>
                  </a:moveTo>
                  <a:lnTo>
                    <a:pt x="21268944" y="0"/>
                  </a:lnTo>
                  <a:lnTo>
                    <a:pt x="21268944" y="952500"/>
                  </a:lnTo>
                  <a:lnTo>
                    <a:pt x="0" y="952500"/>
                  </a:lnTo>
                  <a:close/>
                </a:path>
              </a:pathLst>
            </a:custGeom>
            <a:blipFill>
              <a:blip r:embed="rId5">
                <a:alphaModFix amt="0"/>
              </a:blip>
              <a:stretch>
                <a:fillRect l="0" t="-384790" r="0" b="-384790"/>
              </a:stretch>
            </a:blipFill>
          </p:spPr>
          <p:txBody>
            <a:bodyPr/>
            <a:p/>
          </p:txBody>
        </p:sp>
      </p:grpSp>
      <p:grpSp>
        <p:nvGrpSpPr>
          <p:cNvPr name="Group 496" id="496"/>
          <p:cNvGrpSpPr/>
          <p:nvPr/>
        </p:nvGrpSpPr>
        <p:grpSpPr>
          <a:xfrm rot="0">
            <a:off x="1165860" y="8583930"/>
            <a:ext cx="15951708" cy="742950"/>
            <a:chOff x="0" y="0"/>
            <a:chExt cx="21268944" cy="990600"/>
          </a:xfrm>
        </p:grpSpPr>
        <p:sp>
          <p:nvSpPr>
            <p:cNvPr name="Freeform 497" id="497"/>
            <p:cNvSpPr/>
            <p:nvPr/>
          </p:nvSpPr>
          <p:spPr>
            <a:xfrm flipH="false" flipV="false" rot="0">
              <a:off x="0" y="0"/>
              <a:ext cx="21268944" cy="990600"/>
            </a:xfrm>
            <a:custGeom>
              <a:avLst/>
              <a:gdLst/>
              <a:ahLst/>
              <a:cxnLst/>
              <a:rect r="r" b="b" t="t" l="l"/>
              <a:pathLst>
                <a:path h="990600" w="21268944">
                  <a:moveTo>
                    <a:pt x="0" y="0"/>
                  </a:moveTo>
                  <a:lnTo>
                    <a:pt x="21268944" y="0"/>
                  </a:lnTo>
                  <a:lnTo>
                    <a:pt x="21268944" y="990600"/>
                  </a:lnTo>
                  <a:lnTo>
                    <a:pt x="0" y="990600"/>
                  </a:lnTo>
                  <a:close/>
                </a:path>
              </a:pathLst>
            </a:custGeom>
            <a:blipFill>
              <a:blip r:embed="rId6">
                <a:alphaModFix amt="0"/>
              </a:blip>
              <a:stretch>
                <a:fillRect l="0" t="-368358" r="0" b="-368358"/>
              </a:stretch>
            </a:blipFill>
          </p:spPr>
          <p:txBody>
            <a:bodyPr/>
            <a:p/>
          </p:txBody>
        </p:sp>
        <p:sp>
          <p:nvSpPr>
            <p:cNvPr name="TextBox 498" id="498"/>
            <p:cNvSpPr txBox="true"/>
            <p:nvPr/>
          </p:nvSpPr>
          <p:spPr>
            <a:xfrm>
              <a:off x="0" y="-38100"/>
              <a:ext cx="21268944" cy="1028700"/>
            </a:xfrm>
            <a:prstGeom prst="rect">
              <a:avLst/>
            </a:prstGeom>
          </p:spPr>
          <p:txBody>
            <a:bodyPr anchor="ctr" rtlCol="false" tIns="0" lIns="0" bIns="0" rIns="0"/>
            <a:lstStyle/>
            <a:p>
              <a:pPr algn="l">
                <a:lnSpc>
                  <a:spcPts val="2250"/>
                </a:lnSpc>
              </a:pPr>
              <a:r>
                <a:rPr lang="en-US" sz="1875" b="true">
                  <a:solidFill>
                    <a:srgbClr val="14313B"/>
                  </a:solidFill>
                  <a:latin typeface="Calibri (MS) Bold"/>
                  <a:ea typeface="Calibri (MS) Bold"/>
                  <a:cs typeface="Calibri (MS) Bold"/>
                  <a:sym typeface="Calibri (MS) Bold"/>
                </a:rPr>
                <a:t>Yang robust adalah urutannya, bukan besarannya: angka 2050 berubah cukup besar antarkondisi → hasil bukan ramalan.</a:t>
              </a:r>
            </a:p>
          </p:txBody>
        </p:sp>
      </p:grpSp>
      <p:sp>
        <p:nvSpPr>
          <p:cNvPr name="TextBox 499" id="499"/>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62</a:t>
            </a:r>
          </a:p>
        </p:txBody>
      </p:sp>
      <p:grpSp>
        <p:nvGrpSpPr>
          <p:cNvPr name="Group 500" id="500"/>
          <p:cNvGrpSpPr/>
          <p:nvPr/>
        </p:nvGrpSpPr>
        <p:grpSpPr>
          <a:xfrm rot="0">
            <a:off x="12755880" y="274320"/>
            <a:ext cx="3931920" cy="411480"/>
            <a:chOff x="0" y="0"/>
            <a:chExt cx="5242560" cy="548640"/>
          </a:xfrm>
        </p:grpSpPr>
        <p:sp>
          <p:nvSpPr>
            <p:cNvPr name="Freeform 501" id="501"/>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502" id="502"/>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2G · Skenario kebijakan</a:t>
              </a:r>
            </a:p>
          </p:txBody>
        </p:sp>
      </p:grpSp>
      <p:grpSp>
        <p:nvGrpSpPr>
          <p:cNvPr name="Group 503" id="503"/>
          <p:cNvGrpSpPr/>
          <p:nvPr/>
        </p:nvGrpSpPr>
        <p:grpSpPr>
          <a:xfrm rot="0">
            <a:off x="16047720" y="9646920"/>
            <a:ext cx="420624" cy="420624"/>
            <a:chOff x="0" y="0"/>
            <a:chExt cx="560832" cy="560832"/>
          </a:xfrm>
        </p:grpSpPr>
        <p:sp>
          <p:nvSpPr>
            <p:cNvPr name="Freeform 504" id="504"/>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505" id="505"/>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Implikasi Kebijakan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Simulasi menunjukkan trade-off antarpilihan kebijakan, bukan satu jawaban tunggal</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Freeform 66" id="66"/>
          <p:cNvSpPr/>
          <p:nvPr/>
        </p:nvSpPr>
        <p:spPr>
          <a:xfrm flipH="false" flipV="false" rot="0">
            <a:off x="806291"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7">
              <a:extLst>
                <a:ext uri="{96DAC541-7B7A-43D3-8B79-37D633B846F1}">
                  <asvg:svgBlip xmlns:asvg="http://schemas.microsoft.com/office/drawing/2016/SVG/main" r:embed="rId8"/>
                </a:ext>
              </a:extLst>
            </a:blip>
            <a:stretch>
              <a:fillRect l="0" t="-57" r="0" b="-57"/>
            </a:stretch>
          </a:blipFill>
        </p:spPr>
        <p:txBody>
          <a:bodyPr/>
          <a:p/>
        </p:txBody>
      </p:sp>
      <p:grpSp>
        <p:nvGrpSpPr>
          <p:cNvPr name="Group 67" id="67"/>
          <p:cNvGrpSpPr/>
          <p:nvPr/>
        </p:nvGrpSpPr>
        <p:grpSpPr>
          <a:xfrm rot="0">
            <a:off x="1165860" y="2633472"/>
            <a:ext cx="685800" cy="685800"/>
            <a:chOff x="0" y="0"/>
            <a:chExt cx="914400" cy="914400"/>
          </a:xfrm>
        </p:grpSpPr>
        <p:sp>
          <p:nvSpPr>
            <p:cNvPr name="Freeform 68" id="6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69" id="69"/>
          <p:cNvGrpSpPr/>
          <p:nvPr/>
        </p:nvGrpSpPr>
        <p:grpSpPr>
          <a:xfrm rot="0">
            <a:off x="1165860" y="2633472"/>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71" id="71"/>
          <p:cNvGrpSpPr/>
          <p:nvPr/>
        </p:nvGrpSpPr>
        <p:grpSpPr>
          <a:xfrm rot="0">
            <a:off x="1165860" y="2604897"/>
            <a:ext cx="685800" cy="714375"/>
            <a:chOff x="0" y="0"/>
            <a:chExt cx="914400" cy="952500"/>
          </a:xfrm>
        </p:grpSpPr>
        <p:sp>
          <p:nvSpPr>
            <p:cNvPr name="Freeform 72" id="72"/>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73" id="73"/>
          <p:cNvGrpSpPr/>
          <p:nvPr/>
        </p:nvGrpSpPr>
        <p:grpSpPr>
          <a:xfrm rot="0">
            <a:off x="1165860" y="2576322"/>
            <a:ext cx="685800" cy="742950"/>
            <a:chOff x="0" y="0"/>
            <a:chExt cx="914400" cy="990600"/>
          </a:xfrm>
        </p:grpSpPr>
        <p:sp>
          <p:nvSpPr>
            <p:cNvPr name="Freeform 74" id="74"/>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75" id="75"/>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76" id="76"/>
          <p:cNvGrpSpPr/>
          <p:nvPr/>
        </p:nvGrpSpPr>
        <p:grpSpPr>
          <a:xfrm rot="0">
            <a:off x="2125980" y="2633472"/>
            <a:ext cx="6583680" cy="685800"/>
            <a:chOff x="0" y="0"/>
            <a:chExt cx="8778240" cy="914400"/>
          </a:xfrm>
        </p:grpSpPr>
        <p:sp>
          <p:nvSpPr>
            <p:cNvPr name="Freeform 77" id="77"/>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txBody>
            <a:bodyPr/>
            <a:p/>
          </p:txBody>
        </p:sp>
      </p:grpSp>
      <p:grpSp>
        <p:nvGrpSpPr>
          <p:cNvPr name="Group 78" id="78"/>
          <p:cNvGrpSpPr/>
          <p:nvPr/>
        </p:nvGrpSpPr>
        <p:grpSpPr>
          <a:xfrm rot="0">
            <a:off x="2125980" y="2604897"/>
            <a:ext cx="6583680" cy="714375"/>
            <a:chOff x="0" y="0"/>
            <a:chExt cx="8778240" cy="952500"/>
          </a:xfrm>
        </p:grpSpPr>
        <p:sp>
          <p:nvSpPr>
            <p:cNvPr name="Freeform 79" id="79"/>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449" r="0" b="-129449"/>
              </a:stretch>
            </a:blipFill>
          </p:spPr>
          <p:txBody>
            <a:bodyPr/>
            <a:p/>
          </p:txBody>
        </p:sp>
      </p:grpSp>
      <p:grpSp>
        <p:nvGrpSpPr>
          <p:cNvPr name="Group 80" id="80"/>
          <p:cNvGrpSpPr/>
          <p:nvPr/>
        </p:nvGrpSpPr>
        <p:grpSpPr>
          <a:xfrm rot="0">
            <a:off x="2125980" y="2576322"/>
            <a:ext cx="6583680" cy="742950"/>
            <a:chOff x="0" y="0"/>
            <a:chExt cx="8778240" cy="990600"/>
          </a:xfrm>
        </p:grpSpPr>
        <p:sp>
          <p:nvSpPr>
            <p:cNvPr name="Freeform 81" id="81"/>
            <p:cNvSpPr/>
            <p:nvPr/>
          </p:nvSpPr>
          <p:spPr>
            <a:xfrm flipH="false" flipV="false" rot="0">
              <a:off x="0" y="0"/>
              <a:ext cx="8778240" cy="990600"/>
            </a:xfrm>
            <a:custGeom>
              <a:avLst/>
              <a:gdLst/>
              <a:ahLst/>
              <a:cxnLst/>
              <a:rect r="r" b="b" t="t" l="l"/>
              <a:pathLst>
                <a:path h="990600" w="8778240">
                  <a:moveTo>
                    <a:pt x="0" y="0"/>
                  </a:moveTo>
                  <a:lnTo>
                    <a:pt x="8778240" y="0"/>
                  </a:lnTo>
                  <a:lnTo>
                    <a:pt x="8778240" y="990600"/>
                  </a:lnTo>
                  <a:lnTo>
                    <a:pt x="0" y="990600"/>
                  </a:lnTo>
                  <a:close/>
                </a:path>
              </a:pathLst>
            </a:custGeom>
            <a:blipFill>
              <a:blip r:embed="rId6">
                <a:alphaModFix amt="0"/>
              </a:blip>
              <a:stretch>
                <a:fillRect l="0" t="-122667" r="0" b="-122667"/>
              </a:stretch>
            </a:blipFill>
          </p:spPr>
          <p:txBody>
            <a:bodyPr/>
            <a:p/>
          </p:txBody>
        </p:sp>
        <p:sp>
          <p:nvSpPr>
            <p:cNvPr name="TextBox 82" id="82"/>
            <p:cNvSpPr txBox="true"/>
            <p:nvPr/>
          </p:nvSpPr>
          <p:spPr>
            <a:xfrm>
              <a:off x="0" y="-38100"/>
              <a:ext cx="8778240" cy="10287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Prioritas tak terelakkan</a:t>
              </a:r>
            </a:p>
          </p:txBody>
        </p:sp>
      </p:grpSp>
      <p:sp>
        <p:nvSpPr>
          <p:cNvPr name="TextBox 83" id="83"/>
          <p:cNvSpPr txBox="true"/>
          <p:nvPr/>
        </p:nvSpPr>
        <p:spPr>
          <a:xfrm rot="0">
            <a:off x="1234440" y="3423285"/>
            <a:ext cx="7406640" cy="2200275"/>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Development Priority tertinggi pada lapangan kerja dan nilai tambah, tetapi konversi lahan pariwisata +15,64% vs BAU dan kepadatan tertinggi. Sustainable membuat konversi lahan fasilitas pariwisata menjadi nol dan tetap tumbuh lebih tinggi dari BAU.</a:t>
            </a:r>
          </a:p>
        </p:txBody>
      </p:sp>
      <p:sp>
        <p:nvSpPr>
          <p:cNvPr name="Freeform 84" id="84"/>
          <p:cNvSpPr/>
          <p:nvPr/>
        </p:nvSpPr>
        <p:spPr>
          <a:xfrm flipH="false" flipV="false" rot="0">
            <a:off x="9282779"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7">
              <a:extLst>
                <a:ext uri="{96DAC541-7B7A-43D3-8B79-37D633B846F1}">
                  <asvg:svgBlip xmlns:asvg="http://schemas.microsoft.com/office/drawing/2016/SVG/main" r:embed="rId8"/>
                </a:ext>
              </a:extLst>
            </a:blip>
            <a:stretch>
              <a:fillRect l="0" t="-57" r="0" b="-57"/>
            </a:stretch>
          </a:blipFill>
        </p:spPr>
        <p:txBody>
          <a:bodyPr/>
          <a:p/>
        </p:txBody>
      </p:sp>
      <p:grpSp>
        <p:nvGrpSpPr>
          <p:cNvPr name="Group 85" id="85"/>
          <p:cNvGrpSpPr/>
          <p:nvPr/>
        </p:nvGrpSpPr>
        <p:grpSpPr>
          <a:xfrm rot="0">
            <a:off x="9642348" y="2633472"/>
            <a:ext cx="685800" cy="685800"/>
            <a:chOff x="0" y="0"/>
            <a:chExt cx="914400" cy="914400"/>
          </a:xfrm>
        </p:grpSpPr>
        <p:sp>
          <p:nvSpPr>
            <p:cNvPr name="Freeform 86" id="8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87" id="87"/>
          <p:cNvGrpSpPr/>
          <p:nvPr/>
        </p:nvGrpSpPr>
        <p:grpSpPr>
          <a:xfrm rot="0">
            <a:off x="9642348" y="2633472"/>
            <a:ext cx="685800" cy="685800"/>
            <a:chOff x="0" y="0"/>
            <a:chExt cx="914400" cy="914400"/>
          </a:xfrm>
        </p:grpSpPr>
        <p:sp>
          <p:nvSpPr>
            <p:cNvPr name="Freeform 88" id="8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89" id="89"/>
          <p:cNvGrpSpPr/>
          <p:nvPr/>
        </p:nvGrpSpPr>
        <p:grpSpPr>
          <a:xfrm rot="0">
            <a:off x="9642348" y="2604897"/>
            <a:ext cx="685800" cy="714375"/>
            <a:chOff x="0" y="0"/>
            <a:chExt cx="914400" cy="952500"/>
          </a:xfrm>
        </p:grpSpPr>
        <p:sp>
          <p:nvSpPr>
            <p:cNvPr name="Freeform 90" id="90"/>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91" id="91"/>
          <p:cNvGrpSpPr/>
          <p:nvPr/>
        </p:nvGrpSpPr>
        <p:grpSpPr>
          <a:xfrm rot="0">
            <a:off x="9642348" y="2576322"/>
            <a:ext cx="685800" cy="742950"/>
            <a:chOff x="0" y="0"/>
            <a:chExt cx="914400" cy="990600"/>
          </a:xfrm>
        </p:grpSpPr>
        <p:sp>
          <p:nvSpPr>
            <p:cNvPr name="Freeform 92" id="92"/>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93" id="93"/>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94" id="94"/>
          <p:cNvGrpSpPr/>
          <p:nvPr/>
        </p:nvGrpSpPr>
        <p:grpSpPr>
          <a:xfrm rot="0">
            <a:off x="10602468" y="2633472"/>
            <a:ext cx="6583680" cy="685800"/>
            <a:chOff x="0" y="0"/>
            <a:chExt cx="8778240" cy="914400"/>
          </a:xfrm>
        </p:grpSpPr>
        <p:sp>
          <p:nvSpPr>
            <p:cNvPr name="Freeform 95" id="95"/>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txBody>
            <a:bodyPr/>
            <a:p/>
          </p:txBody>
        </p:sp>
      </p:grpSp>
      <p:grpSp>
        <p:nvGrpSpPr>
          <p:cNvPr name="Group 96" id="96"/>
          <p:cNvGrpSpPr/>
          <p:nvPr/>
        </p:nvGrpSpPr>
        <p:grpSpPr>
          <a:xfrm rot="0">
            <a:off x="10602468" y="2604897"/>
            <a:ext cx="6583680" cy="714375"/>
            <a:chOff x="0" y="0"/>
            <a:chExt cx="8778240" cy="952500"/>
          </a:xfrm>
        </p:grpSpPr>
        <p:sp>
          <p:nvSpPr>
            <p:cNvPr name="Freeform 97" id="97"/>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449" r="0" b="-129449"/>
              </a:stretch>
            </a:blipFill>
          </p:spPr>
          <p:txBody>
            <a:bodyPr/>
            <a:p/>
          </p:txBody>
        </p:sp>
      </p:grpSp>
      <p:grpSp>
        <p:nvGrpSpPr>
          <p:cNvPr name="Group 98" id="98"/>
          <p:cNvGrpSpPr/>
          <p:nvPr/>
        </p:nvGrpSpPr>
        <p:grpSpPr>
          <a:xfrm rot="0">
            <a:off x="10602468" y="2576322"/>
            <a:ext cx="6583680" cy="742950"/>
            <a:chOff x="0" y="0"/>
            <a:chExt cx="8778240" cy="990600"/>
          </a:xfrm>
        </p:grpSpPr>
        <p:sp>
          <p:nvSpPr>
            <p:cNvPr name="Freeform 99" id="99"/>
            <p:cNvSpPr/>
            <p:nvPr/>
          </p:nvSpPr>
          <p:spPr>
            <a:xfrm flipH="false" flipV="false" rot="0">
              <a:off x="0" y="0"/>
              <a:ext cx="8778240" cy="990600"/>
            </a:xfrm>
            <a:custGeom>
              <a:avLst/>
              <a:gdLst/>
              <a:ahLst/>
              <a:cxnLst/>
              <a:rect r="r" b="b" t="t" l="l"/>
              <a:pathLst>
                <a:path h="990600" w="8778240">
                  <a:moveTo>
                    <a:pt x="0" y="0"/>
                  </a:moveTo>
                  <a:lnTo>
                    <a:pt x="8778240" y="0"/>
                  </a:lnTo>
                  <a:lnTo>
                    <a:pt x="8778240" y="990600"/>
                  </a:lnTo>
                  <a:lnTo>
                    <a:pt x="0" y="990600"/>
                  </a:lnTo>
                  <a:close/>
                </a:path>
              </a:pathLst>
            </a:custGeom>
            <a:blipFill>
              <a:blip r:embed="rId6">
                <a:alphaModFix amt="0"/>
              </a:blip>
              <a:stretch>
                <a:fillRect l="0" t="-122667" r="0" b="-122667"/>
              </a:stretch>
            </a:blipFill>
          </p:spPr>
          <p:txBody>
            <a:bodyPr/>
            <a:p/>
          </p:txBody>
        </p:sp>
        <p:sp>
          <p:nvSpPr>
            <p:cNvPr name="TextBox 100" id="100"/>
            <p:cNvSpPr txBox="true"/>
            <p:nvPr/>
          </p:nvSpPr>
          <p:spPr>
            <a:xfrm>
              <a:off x="0" y="-38100"/>
              <a:ext cx="8778240" cy="10287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Instrumen lahan sektor pariwisata terbatas</a:t>
              </a:r>
            </a:p>
          </p:txBody>
        </p:sp>
      </p:grpSp>
      <p:sp>
        <p:nvSpPr>
          <p:cNvPr name="TextBox 101" id="101"/>
          <p:cNvSpPr txBox="true"/>
          <p:nvPr/>
        </p:nvSpPr>
        <p:spPr>
          <a:xfrm rot="0">
            <a:off x="9710928" y="3423285"/>
            <a:ext cx="7406640" cy="2200275"/>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Lahan terbangun total hanya turun 0,91% karena konversi non-pariwisata tetap berjalan → pengendalian ruang perlu terpadu lintas sektor.</a:t>
            </a:r>
          </a:p>
        </p:txBody>
      </p:sp>
      <p:sp>
        <p:nvSpPr>
          <p:cNvPr name="Freeform 102" id="102"/>
          <p:cNvSpPr/>
          <p:nvPr/>
        </p:nvSpPr>
        <p:spPr>
          <a:xfrm flipH="false" flipV="false" rot="0">
            <a:off x="806291"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7">
              <a:extLst>
                <a:ext uri="{96DAC541-7B7A-43D3-8B79-37D633B846F1}">
                  <asvg:svgBlip xmlns:asvg="http://schemas.microsoft.com/office/drawing/2016/SVG/main" r:embed="rId8"/>
                </a:ext>
              </a:extLst>
            </a:blip>
            <a:stretch>
              <a:fillRect l="0" t="-57" r="0" b="-57"/>
            </a:stretch>
          </a:blipFill>
        </p:spPr>
        <p:txBody>
          <a:bodyPr/>
          <a:p/>
        </p:txBody>
      </p:sp>
      <p:grpSp>
        <p:nvGrpSpPr>
          <p:cNvPr name="Group 103" id="103"/>
          <p:cNvGrpSpPr/>
          <p:nvPr/>
        </p:nvGrpSpPr>
        <p:grpSpPr>
          <a:xfrm rot="0">
            <a:off x="1165860" y="6199632"/>
            <a:ext cx="685800" cy="685800"/>
            <a:chOff x="0" y="0"/>
            <a:chExt cx="914400" cy="914400"/>
          </a:xfrm>
        </p:grpSpPr>
        <p:sp>
          <p:nvSpPr>
            <p:cNvPr name="Freeform 104" id="10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105" id="105"/>
          <p:cNvGrpSpPr/>
          <p:nvPr/>
        </p:nvGrpSpPr>
        <p:grpSpPr>
          <a:xfrm rot="0">
            <a:off x="1165860" y="6199632"/>
            <a:ext cx="685800" cy="685800"/>
            <a:chOff x="0" y="0"/>
            <a:chExt cx="914400" cy="914400"/>
          </a:xfrm>
        </p:grpSpPr>
        <p:sp>
          <p:nvSpPr>
            <p:cNvPr name="Freeform 106" id="10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107" id="107"/>
          <p:cNvGrpSpPr/>
          <p:nvPr/>
        </p:nvGrpSpPr>
        <p:grpSpPr>
          <a:xfrm rot="0">
            <a:off x="1165860" y="6171057"/>
            <a:ext cx="685800" cy="714375"/>
            <a:chOff x="0" y="0"/>
            <a:chExt cx="914400" cy="952500"/>
          </a:xfrm>
        </p:grpSpPr>
        <p:sp>
          <p:nvSpPr>
            <p:cNvPr name="Freeform 108" id="10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109" id="109"/>
          <p:cNvGrpSpPr/>
          <p:nvPr/>
        </p:nvGrpSpPr>
        <p:grpSpPr>
          <a:xfrm rot="0">
            <a:off x="1165860" y="6142482"/>
            <a:ext cx="685800" cy="742950"/>
            <a:chOff x="0" y="0"/>
            <a:chExt cx="914400" cy="990600"/>
          </a:xfrm>
        </p:grpSpPr>
        <p:sp>
          <p:nvSpPr>
            <p:cNvPr name="Freeform 110" id="110"/>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111" id="111"/>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112" id="112"/>
          <p:cNvGrpSpPr/>
          <p:nvPr/>
        </p:nvGrpSpPr>
        <p:grpSpPr>
          <a:xfrm rot="0">
            <a:off x="2125980" y="6199632"/>
            <a:ext cx="6583680" cy="685800"/>
            <a:chOff x="0" y="0"/>
            <a:chExt cx="8778240" cy="914400"/>
          </a:xfrm>
        </p:grpSpPr>
        <p:sp>
          <p:nvSpPr>
            <p:cNvPr name="Freeform 113" id="113"/>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txBody>
            <a:bodyPr/>
            <a:p/>
          </p:txBody>
        </p:sp>
      </p:grpSp>
      <p:grpSp>
        <p:nvGrpSpPr>
          <p:cNvPr name="Group 114" id="114"/>
          <p:cNvGrpSpPr/>
          <p:nvPr/>
        </p:nvGrpSpPr>
        <p:grpSpPr>
          <a:xfrm rot="0">
            <a:off x="2125980" y="6171057"/>
            <a:ext cx="6583680" cy="714375"/>
            <a:chOff x="0" y="0"/>
            <a:chExt cx="8778240" cy="952500"/>
          </a:xfrm>
        </p:grpSpPr>
        <p:sp>
          <p:nvSpPr>
            <p:cNvPr name="Freeform 115" id="115"/>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449" r="0" b="-129449"/>
              </a:stretch>
            </a:blipFill>
          </p:spPr>
          <p:txBody>
            <a:bodyPr/>
            <a:p/>
          </p:txBody>
        </p:sp>
      </p:grpSp>
      <p:grpSp>
        <p:nvGrpSpPr>
          <p:cNvPr name="Group 116" id="116"/>
          <p:cNvGrpSpPr/>
          <p:nvPr/>
        </p:nvGrpSpPr>
        <p:grpSpPr>
          <a:xfrm rot="0">
            <a:off x="2125980" y="6142482"/>
            <a:ext cx="6583680" cy="742950"/>
            <a:chOff x="0" y="0"/>
            <a:chExt cx="8778240" cy="990600"/>
          </a:xfrm>
        </p:grpSpPr>
        <p:sp>
          <p:nvSpPr>
            <p:cNvPr name="Freeform 117" id="117"/>
            <p:cNvSpPr/>
            <p:nvPr/>
          </p:nvSpPr>
          <p:spPr>
            <a:xfrm flipH="false" flipV="false" rot="0">
              <a:off x="0" y="0"/>
              <a:ext cx="8778240" cy="990600"/>
            </a:xfrm>
            <a:custGeom>
              <a:avLst/>
              <a:gdLst/>
              <a:ahLst/>
              <a:cxnLst/>
              <a:rect r="r" b="b" t="t" l="l"/>
              <a:pathLst>
                <a:path h="990600" w="8778240">
                  <a:moveTo>
                    <a:pt x="0" y="0"/>
                  </a:moveTo>
                  <a:lnTo>
                    <a:pt x="8778240" y="0"/>
                  </a:lnTo>
                  <a:lnTo>
                    <a:pt x="8778240" y="990600"/>
                  </a:lnTo>
                  <a:lnTo>
                    <a:pt x="0" y="990600"/>
                  </a:lnTo>
                  <a:close/>
                </a:path>
              </a:pathLst>
            </a:custGeom>
            <a:blipFill>
              <a:blip r:embed="rId6">
                <a:alphaModFix amt="0"/>
              </a:blip>
              <a:stretch>
                <a:fillRect l="0" t="-122667" r="0" b="-122667"/>
              </a:stretch>
            </a:blipFill>
          </p:spPr>
          <p:txBody>
            <a:bodyPr/>
            <a:p/>
          </p:txBody>
        </p:sp>
        <p:sp>
          <p:nvSpPr>
            <p:cNvPr name="TextBox 118" id="118"/>
            <p:cNvSpPr txBox="true"/>
            <p:nvPr/>
          </p:nvSpPr>
          <p:spPr>
            <a:xfrm>
              <a:off x="0" y="-38100"/>
              <a:ext cx="8778240" cy="10287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Kepadatan butuh instrumen sisi permintaan</a:t>
              </a:r>
            </a:p>
          </p:txBody>
        </p:sp>
      </p:grpSp>
      <p:sp>
        <p:nvSpPr>
          <p:cNvPr name="TextBox 119" id="119"/>
          <p:cNvSpPr txBox="true"/>
          <p:nvPr/>
        </p:nvSpPr>
        <p:spPr>
          <a:xfrm rot="0">
            <a:off x="1234440" y="6989445"/>
            <a:ext cx="7406640" cy="2200275"/>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Batas kepadatan terlewati pada 2041–2043 di ketiga skenario; perlu pengaturan sebaran kunjungan antarwaktu dan antarlokasi, di luar cakupan model.</a:t>
            </a:r>
          </a:p>
        </p:txBody>
      </p:sp>
      <p:sp>
        <p:nvSpPr>
          <p:cNvPr name="Freeform 120" id="120"/>
          <p:cNvSpPr/>
          <p:nvPr/>
        </p:nvSpPr>
        <p:spPr>
          <a:xfrm flipH="false" flipV="false" rot="0">
            <a:off x="9282779"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7">
              <a:extLst>
                <a:ext uri="{96DAC541-7B7A-43D3-8B79-37D633B846F1}">
                  <asvg:svgBlip xmlns:asvg="http://schemas.microsoft.com/office/drawing/2016/SVG/main" r:embed="rId8"/>
                </a:ext>
              </a:extLst>
            </a:blip>
            <a:stretch>
              <a:fillRect l="0" t="-57" r="0" b="-57"/>
            </a:stretch>
          </a:blipFill>
        </p:spPr>
        <p:txBody>
          <a:bodyPr/>
          <a:p/>
        </p:txBody>
      </p:sp>
      <p:grpSp>
        <p:nvGrpSpPr>
          <p:cNvPr name="Group 121" id="121"/>
          <p:cNvGrpSpPr/>
          <p:nvPr/>
        </p:nvGrpSpPr>
        <p:grpSpPr>
          <a:xfrm rot="0">
            <a:off x="9642348" y="6199632"/>
            <a:ext cx="685800" cy="685800"/>
            <a:chOff x="0" y="0"/>
            <a:chExt cx="914400" cy="914400"/>
          </a:xfrm>
        </p:grpSpPr>
        <p:sp>
          <p:nvSpPr>
            <p:cNvPr name="Freeform 122" id="12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123" id="123"/>
          <p:cNvGrpSpPr/>
          <p:nvPr/>
        </p:nvGrpSpPr>
        <p:grpSpPr>
          <a:xfrm rot="0">
            <a:off x="9642348" y="6199632"/>
            <a:ext cx="685800" cy="685800"/>
            <a:chOff x="0" y="0"/>
            <a:chExt cx="914400" cy="914400"/>
          </a:xfrm>
        </p:grpSpPr>
        <p:sp>
          <p:nvSpPr>
            <p:cNvPr name="Freeform 124" id="12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125" id="125"/>
          <p:cNvGrpSpPr/>
          <p:nvPr/>
        </p:nvGrpSpPr>
        <p:grpSpPr>
          <a:xfrm rot="0">
            <a:off x="9642348" y="6171057"/>
            <a:ext cx="685800" cy="714375"/>
            <a:chOff x="0" y="0"/>
            <a:chExt cx="914400" cy="952500"/>
          </a:xfrm>
        </p:grpSpPr>
        <p:sp>
          <p:nvSpPr>
            <p:cNvPr name="Freeform 126" id="126"/>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127" id="127"/>
          <p:cNvGrpSpPr/>
          <p:nvPr/>
        </p:nvGrpSpPr>
        <p:grpSpPr>
          <a:xfrm rot="0">
            <a:off x="9642348" y="6142482"/>
            <a:ext cx="685800" cy="742950"/>
            <a:chOff x="0" y="0"/>
            <a:chExt cx="914400" cy="990600"/>
          </a:xfrm>
        </p:grpSpPr>
        <p:sp>
          <p:nvSpPr>
            <p:cNvPr name="Freeform 128" id="128"/>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129" id="129"/>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4</a:t>
              </a:r>
            </a:p>
          </p:txBody>
        </p:sp>
      </p:grpSp>
      <p:grpSp>
        <p:nvGrpSpPr>
          <p:cNvPr name="Group 130" id="130"/>
          <p:cNvGrpSpPr/>
          <p:nvPr/>
        </p:nvGrpSpPr>
        <p:grpSpPr>
          <a:xfrm rot="0">
            <a:off x="10602468" y="6199632"/>
            <a:ext cx="6583680" cy="685800"/>
            <a:chOff x="0" y="0"/>
            <a:chExt cx="8778240" cy="914400"/>
          </a:xfrm>
        </p:grpSpPr>
        <p:sp>
          <p:nvSpPr>
            <p:cNvPr name="Freeform 131" id="131"/>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txBody>
            <a:bodyPr/>
            <a:p/>
          </p:txBody>
        </p:sp>
      </p:grpSp>
      <p:grpSp>
        <p:nvGrpSpPr>
          <p:cNvPr name="Group 132" id="132"/>
          <p:cNvGrpSpPr/>
          <p:nvPr/>
        </p:nvGrpSpPr>
        <p:grpSpPr>
          <a:xfrm rot="0">
            <a:off x="10602468" y="6171057"/>
            <a:ext cx="6583680" cy="714375"/>
            <a:chOff x="0" y="0"/>
            <a:chExt cx="8778240" cy="952500"/>
          </a:xfrm>
        </p:grpSpPr>
        <p:sp>
          <p:nvSpPr>
            <p:cNvPr name="Freeform 133" id="133"/>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449" r="0" b="-129449"/>
              </a:stretch>
            </a:blipFill>
          </p:spPr>
          <p:txBody>
            <a:bodyPr/>
            <a:p/>
          </p:txBody>
        </p:sp>
      </p:grpSp>
      <p:grpSp>
        <p:nvGrpSpPr>
          <p:cNvPr name="Group 134" id="134"/>
          <p:cNvGrpSpPr/>
          <p:nvPr/>
        </p:nvGrpSpPr>
        <p:grpSpPr>
          <a:xfrm rot="0">
            <a:off x="10602468" y="6142482"/>
            <a:ext cx="6583680" cy="742950"/>
            <a:chOff x="0" y="0"/>
            <a:chExt cx="8778240" cy="990600"/>
          </a:xfrm>
        </p:grpSpPr>
        <p:sp>
          <p:nvSpPr>
            <p:cNvPr name="Freeform 135" id="135"/>
            <p:cNvSpPr/>
            <p:nvPr/>
          </p:nvSpPr>
          <p:spPr>
            <a:xfrm flipH="false" flipV="false" rot="0">
              <a:off x="0" y="0"/>
              <a:ext cx="8778240" cy="990600"/>
            </a:xfrm>
            <a:custGeom>
              <a:avLst/>
              <a:gdLst/>
              <a:ahLst/>
              <a:cxnLst/>
              <a:rect r="r" b="b" t="t" l="l"/>
              <a:pathLst>
                <a:path h="990600" w="8778240">
                  <a:moveTo>
                    <a:pt x="0" y="0"/>
                  </a:moveTo>
                  <a:lnTo>
                    <a:pt x="8778240" y="0"/>
                  </a:lnTo>
                  <a:lnTo>
                    <a:pt x="8778240" y="990600"/>
                  </a:lnTo>
                  <a:lnTo>
                    <a:pt x="0" y="990600"/>
                  </a:lnTo>
                  <a:close/>
                </a:path>
              </a:pathLst>
            </a:custGeom>
            <a:blipFill>
              <a:blip r:embed="rId6">
                <a:alphaModFix amt="0"/>
              </a:blip>
              <a:stretch>
                <a:fillRect l="0" t="-122667" r="0" b="-122667"/>
              </a:stretch>
            </a:blipFill>
          </p:spPr>
          <p:txBody>
            <a:bodyPr/>
            <a:p/>
          </p:txBody>
        </p:sp>
        <p:sp>
          <p:nvSpPr>
            <p:cNvPr name="TextBox 136" id="136"/>
            <p:cNvSpPr txBox="true"/>
            <p:nvPr/>
          </p:nvSpPr>
          <p:spPr>
            <a:xfrm>
              <a:off x="0" y="-38100"/>
              <a:ext cx="8778240" cy="10287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Ketegangan antardokumen kebijakan</a:t>
              </a:r>
            </a:p>
          </p:txBody>
        </p:sp>
      </p:grpSp>
      <p:sp>
        <p:nvSpPr>
          <p:cNvPr name="TextBox 137" id="137"/>
          <p:cNvSpPr txBox="true"/>
          <p:nvPr/>
        </p:nvSpPr>
        <p:spPr>
          <a:xfrm rot="0">
            <a:off x="9710928" y="6989445"/>
            <a:ext cx="7406640" cy="2200275"/>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Perbedaan arah Perda DIY 1/2012 (pembukaan lahan baru) dan Perda DIY 6/2021 (larangan alih fungsi lahan pangan) terlihat dalam angka Development Priority vs Sustainable.</a:t>
            </a:r>
          </a:p>
        </p:txBody>
      </p:sp>
      <p:sp>
        <p:nvSpPr>
          <p:cNvPr name="TextBox 138" id="138"/>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63</a:t>
            </a:r>
          </a:p>
        </p:txBody>
      </p:sp>
      <p:grpSp>
        <p:nvGrpSpPr>
          <p:cNvPr name="Group 139" id="139"/>
          <p:cNvGrpSpPr/>
          <p:nvPr/>
        </p:nvGrpSpPr>
        <p:grpSpPr>
          <a:xfrm rot="0">
            <a:off x="12755880" y="274320"/>
            <a:ext cx="3931920" cy="411480"/>
            <a:chOff x="0" y="0"/>
            <a:chExt cx="5242560" cy="548640"/>
          </a:xfrm>
        </p:grpSpPr>
        <p:sp>
          <p:nvSpPr>
            <p:cNvPr name="Freeform 140" id="140"/>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41" id="141"/>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2G · Skenario kebijakan</a:t>
              </a:r>
            </a:p>
          </p:txBody>
        </p:sp>
      </p:grpSp>
      <p:grpSp>
        <p:nvGrpSpPr>
          <p:cNvPr name="Group 142" id="142"/>
          <p:cNvGrpSpPr/>
          <p:nvPr/>
        </p:nvGrpSpPr>
        <p:grpSpPr>
          <a:xfrm rot="0">
            <a:off x="16047720" y="9646920"/>
            <a:ext cx="420624" cy="420624"/>
            <a:chOff x="0" y="0"/>
            <a:chExt cx="560832" cy="560832"/>
          </a:xfrm>
        </p:grpSpPr>
        <p:sp>
          <p:nvSpPr>
            <p:cNvPr name="Freeform 143" id="143"/>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44" id="144"/>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Ringkasan Hasil Tujuan 2</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64</a:t>
            </a:r>
          </a:p>
        </p:txBody>
      </p:sp>
      <p:grpSp>
        <p:nvGrpSpPr>
          <p:cNvPr name="Group 67" id="67"/>
          <p:cNvGrpSpPr/>
          <p:nvPr/>
        </p:nvGrpSpPr>
        <p:grpSpPr>
          <a:xfrm rot="0">
            <a:off x="822960" y="2286000"/>
            <a:ext cx="16642080" cy="777240"/>
            <a:chOff x="0" y="0"/>
            <a:chExt cx="22189440" cy="1036320"/>
          </a:xfrm>
        </p:grpSpPr>
        <p:sp>
          <p:nvSpPr>
            <p:cNvPr name="Freeform 68" id="68"/>
            <p:cNvSpPr/>
            <p:nvPr/>
          </p:nvSpPr>
          <p:spPr>
            <a:xfrm flipH="false" flipV="false" rot="0">
              <a:off x="0" y="0"/>
              <a:ext cx="22189441" cy="1036320"/>
            </a:xfrm>
            <a:custGeom>
              <a:avLst/>
              <a:gdLst/>
              <a:ahLst/>
              <a:cxnLst/>
              <a:rect r="r" b="b" t="t" l="l"/>
              <a:pathLst>
                <a:path h="1036320" w="22189441">
                  <a:moveTo>
                    <a:pt x="0" y="82931"/>
                  </a:moveTo>
                  <a:cubicBezTo>
                    <a:pt x="0" y="37084"/>
                    <a:pt x="37084" y="0"/>
                    <a:pt x="82931" y="0"/>
                  </a:cubicBezTo>
                  <a:lnTo>
                    <a:pt x="22106510" y="0"/>
                  </a:lnTo>
                  <a:cubicBezTo>
                    <a:pt x="22152356" y="0"/>
                    <a:pt x="22189441" y="37084"/>
                    <a:pt x="22189441" y="82931"/>
                  </a:cubicBezTo>
                  <a:lnTo>
                    <a:pt x="22189441" y="953389"/>
                  </a:lnTo>
                  <a:cubicBezTo>
                    <a:pt x="22189441" y="999236"/>
                    <a:pt x="22152356" y="1036320"/>
                    <a:pt x="22106510" y="1036320"/>
                  </a:cubicBezTo>
                  <a:lnTo>
                    <a:pt x="82931" y="1036320"/>
                  </a:lnTo>
                  <a:cubicBezTo>
                    <a:pt x="37084" y="1036320"/>
                    <a:pt x="0" y="999236"/>
                    <a:pt x="0" y="953389"/>
                  </a:cubicBezTo>
                  <a:close/>
                </a:path>
              </a:pathLst>
            </a:custGeom>
            <a:solidFill>
              <a:srgbClr val="0B5E6E"/>
            </a:solidFill>
          </p:spPr>
          <p:txBody>
            <a:bodyPr/>
            <a:p/>
          </p:txBody>
        </p:sp>
        <p:sp>
          <p:nvSpPr>
            <p:cNvPr name="TextBox 69" id="69"/>
            <p:cNvSpPr txBox="true"/>
            <p:nvPr/>
          </p:nvSpPr>
          <p:spPr>
            <a:xfrm>
              <a:off x="0" y="-38100"/>
              <a:ext cx="22189440" cy="1074420"/>
            </a:xfrm>
            <a:prstGeom prst="rect">
              <a:avLst/>
            </a:prstGeom>
          </p:spPr>
          <p:txBody>
            <a:bodyPr anchor="ctr" rtlCol="false" tIns="50800" lIns="50800" bIns="50800" rIns="50800"/>
            <a:lstStyle/>
            <a:p>
              <a:pPr algn="l">
                <a:lnSpc>
                  <a:spcPts val="2484"/>
                </a:lnSpc>
              </a:pPr>
              <a:r>
                <a:rPr lang="en-US" sz="2070" b="true">
                  <a:solidFill>
                    <a:srgbClr val="FFFFFF"/>
                  </a:solidFill>
                  <a:latin typeface="Calibri (MS) Bold"/>
                  <a:ea typeface="Calibri (MS) Bold"/>
                  <a:cs typeface="Calibri (MS) Bold"/>
                  <a:sym typeface="Calibri (MS) Bold"/>
                </a:rPr>
                <a:t>Apa hasil yang diperoleh untuk Tujuan 2?</a:t>
              </a:r>
            </a:p>
          </p:txBody>
        </p:sp>
      </p:grpSp>
      <p:grpSp>
        <p:nvGrpSpPr>
          <p:cNvPr name="Group 70" id="70"/>
          <p:cNvGrpSpPr/>
          <p:nvPr/>
        </p:nvGrpSpPr>
        <p:grpSpPr>
          <a:xfrm rot="0">
            <a:off x="816607" y="3285487"/>
            <a:ext cx="16654777" cy="1132837"/>
            <a:chOff x="0" y="0"/>
            <a:chExt cx="22206369" cy="1510449"/>
          </a:xfrm>
        </p:grpSpPr>
        <p:sp>
          <p:nvSpPr>
            <p:cNvPr name="Freeform 71" id="71"/>
            <p:cNvSpPr/>
            <p:nvPr/>
          </p:nvSpPr>
          <p:spPr>
            <a:xfrm flipH="false" flipV="false" rot="0">
              <a:off x="0" y="0"/>
              <a:ext cx="22206204" cy="1510284"/>
            </a:xfrm>
            <a:custGeom>
              <a:avLst/>
              <a:gdLst/>
              <a:ahLst/>
              <a:cxnLst/>
              <a:rect r="r" b="b" t="t" l="l"/>
              <a:pathLst>
                <a:path h="1510284" w="22206204">
                  <a:moveTo>
                    <a:pt x="0" y="120777"/>
                  </a:moveTo>
                  <a:cubicBezTo>
                    <a:pt x="0" y="54102"/>
                    <a:pt x="54102" y="0"/>
                    <a:pt x="120777" y="0"/>
                  </a:cubicBezTo>
                  <a:lnTo>
                    <a:pt x="22085427" y="0"/>
                  </a:lnTo>
                  <a:cubicBezTo>
                    <a:pt x="22152102" y="0"/>
                    <a:pt x="22206204" y="54102"/>
                    <a:pt x="22206204" y="120777"/>
                  </a:cubicBezTo>
                  <a:lnTo>
                    <a:pt x="22206204" y="1389507"/>
                  </a:lnTo>
                  <a:cubicBezTo>
                    <a:pt x="22206204" y="1456182"/>
                    <a:pt x="22152102" y="1510284"/>
                    <a:pt x="22085427" y="1510284"/>
                  </a:cubicBezTo>
                  <a:lnTo>
                    <a:pt x="120777" y="1510284"/>
                  </a:lnTo>
                  <a:cubicBezTo>
                    <a:pt x="54102" y="1510284"/>
                    <a:pt x="0" y="1456182"/>
                    <a:pt x="0" y="1389507"/>
                  </a:cubicBezTo>
                  <a:close/>
                </a:path>
              </a:pathLst>
            </a:custGeom>
            <a:solidFill>
              <a:srgbClr val="EAF8FA"/>
            </a:solidFill>
            <a:ln w="12700" cap="sq">
              <a:solidFill>
                <a:srgbClr val="CFE5E9"/>
              </a:solidFill>
              <a:prstDash val="solid"/>
              <a:miter/>
            </a:ln>
          </p:spPr>
          <p:txBody>
            <a:bodyPr/>
            <a:p/>
          </p:txBody>
        </p:sp>
      </p:grpSp>
      <p:grpSp>
        <p:nvGrpSpPr>
          <p:cNvPr name="Group 72" id="72"/>
          <p:cNvGrpSpPr/>
          <p:nvPr/>
        </p:nvGrpSpPr>
        <p:grpSpPr>
          <a:xfrm rot="0">
            <a:off x="1051560" y="3577590"/>
            <a:ext cx="548640" cy="548640"/>
            <a:chOff x="0" y="0"/>
            <a:chExt cx="731520" cy="731520"/>
          </a:xfrm>
        </p:grpSpPr>
        <p:sp>
          <p:nvSpPr>
            <p:cNvPr name="Freeform 73" id="73"/>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74" id="74"/>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1</a:t>
              </a:r>
            </a:p>
          </p:txBody>
        </p:sp>
      </p:grpSp>
      <p:grpSp>
        <p:nvGrpSpPr>
          <p:cNvPr name="Group 75" id="75"/>
          <p:cNvGrpSpPr/>
          <p:nvPr/>
        </p:nvGrpSpPr>
        <p:grpSpPr>
          <a:xfrm rot="0">
            <a:off x="1828800" y="3383280"/>
            <a:ext cx="4206240" cy="937260"/>
            <a:chOff x="0" y="0"/>
            <a:chExt cx="5608320" cy="1249680"/>
          </a:xfrm>
        </p:grpSpPr>
        <p:sp>
          <p:nvSpPr>
            <p:cNvPr name="Freeform 76" id="76"/>
            <p:cNvSpPr/>
            <p:nvPr/>
          </p:nvSpPr>
          <p:spPr>
            <a:xfrm flipH="false" flipV="false" rot="0">
              <a:off x="0" y="0"/>
              <a:ext cx="5608320" cy="1249680"/>
            </a:xfrm>
            <a:custGeom>
              <a:avLst/>
              <a:gdLst/>
              <a:ahLst/>
              <a:cxnLst/>
              <a:rect r="r" b="b" t="t" l="l"/>
              <a:pathLst>
                <a:path h="1249680" w="5608320">
                  <a:moveTo>
                    <a:pt x="0" y="0"/>
                  </a:moveTo>
                  <a:lnTo>
                    <a:pt x="5608320" y="0"/>
                  </a:lnTo>
                  <a:lnTo>
                    <a:pt x="5608320" y="1249680"/>
                  </a:lnTo>
                  <a:lnTo>
                    <a:pt x="0" y="1249680"/>
                  </a:lnTo>
                  <a:close/>
                </a:path>
              </a:pathLst>
            </a:custGeom>
            <a:blipFill>
              <a:blip r:embed="rId6">
                <a:alphaModFix amt="0"/>
              </a:blip>
              <a:stretch>
                <a:fillRect l="0" t="-37445" r="0" b="-37445"/>
              </a:stretch>
            </a:blipFill>
          </p:spPr>
          <p:txBody>
            <a:bodyPr/>
            <a:p/>
          </p:txBody>
        </p:sp>
        <p:sp>
          <p:nvSpPr>
            <p:cNvPr name="TextBox 77" id="77"/>
            <p:cNvSpPr txBox="true"/>
            <p:nvPr/>
          </p:nvSpPr>
          <p:spPr>
            <a:xfrm>
              <a:off x="0" y="-38100"/>
              <a:ext cx="5608320" cy="1287780"/>
            </a:xfrm>
            <a:prstGeom prst="rect">
              <a:avLst/>
            </a:prstGeom>
          </p:spPr>
          <p:txBody>
            <a:bodyPr anchor="ctr" rtlCol="false" tIns="0" lIns="0" bIns="0" rIns="0"/>
            <a:lstStyle/>
            <a:p>
              <a:pPr algn="l">
                <a:lnSpc>
                  <a:spcPts val="2279"/>
                </a:lnSpc>
              </a:pPr>
              <a:r>
                <a:rPr lang="en-US" sz="1899" b="true">
                  <a:solidFill>
                    <a:srgbClr val="0B5E6E"/>
                  </a:solidFill>
                  <a:latin typeface="Calibri (MS) Bold"/>
                  <a:ea typeface="Calibri (MS) Bold"/>
                  <a:cs typeface="Calibri (MS) Bold"/>
                  <a:sym typeface="Calibri (MS) Bold"/>
                </a:rPr>
                <a:t>Citra satelit terintegrasi</a:t>
              </a:r>
            </a:p>
          </p:txBody>
        </p:sp>
      </p:grpSp>
      <p:grpSp>
        <p:nvGrpSpPr>
          <p:cNvPr name="Group 78" id="78"/>
          <p:cNvGrpSpPr/>
          <p:nvPr/>
        </p:nvGrpSpPr>
        <p:grpSpPr>
          <a:xfrm rot="0">
            <a:off x="6126480" y="3383280"/>
            <a:ext cx="11155680" cy="937260"/>
            <a:chOff x="0" y="0"/>
            <a:chExt cx="14874240" cy="1249680"/>
          </a:xfrm>
        </p:grpSpPr>
        <p:sp>
          <p:nvSpPr>
            <p:cNvPr name="Freeform 79" id="79"/>
            <p:cNvSpPr/>
            <p:nvPr/>
          </p:nvSpPr>
          <p:spPr>
            <a:xfrm flipH="false" flipV="false" rot="0">
              <a:off x="0" y="0"/>
              <a:ext cx="14874239" cy="1249680"/>
            </a:xfrm>
            <a:custGeom>
              <a:avLst/>
              <a:gdLst/>
              <a:ahLst/>
              <a:cxnLst/>
              <a:rect r="r" b="b" t="t" l="l"/>
              <a:pathLst>
                <a:path h="1249680" w="14874239">
                  <a:moveTo>
                    <a:pt x="0" y="0"/>
                  </a:moveTo>
                  <a:lnTo>
                    <a:pt x="14874239" y="0"/>
                  </a:lnTo>
                  <a:lnTo>
                    <a:pt x="14874239" y="1249680"/>
                  </a:lnTo>
                  <a:lnTo>
                    <a:pt x="0" y="1249680"/>
                  </a:lnTo>
                  <a:close/>
                </a:path>
              </a:pathLst>
            </a:custGeom>
            <a:blipFill>
              <a:blip r:embed="rId6">
                <a:alphaModFix amt="0"/>
              </a:blip>
              <a:stretch>
                <a:fillRect l="0" t="-181919" r="0" b="-181919"/>
              </a:stretch>
            </a:blipFill>
          </p:spPr>
          <p:txBody>
            <a:bodyPr/>
            <a:p/>
          </p:txBody>
        </p:sp>
        <p:sp>
          <p:nvSpPr>
            <p:cNvPr name="TextBox 80" id="80"/>
            <p:cNvSpPr txBox="true"/>
            <p:nvPr/>
          </p:nvSpPr>
          <p:spPr>
            <a:xfrm>
              <a:off x="0" y="-38100"/>
              <a:ext cx="14874240" cy="1287780"/>
            </a:xfrm>
            <a:prstGeom prst="rect">
              <a:avLst/>
            </a:prstGeom>
          </p:spPr>
          <p:txBody>
            <a:bodyPr anchor="ctr" rtlCol="false" tIns="0" lIns="0" bIns="0" rIns="0"/>
            <a:lstStyle/>
            <a:p>
              <a:pPr algn="l">
                <a:lnSpc>
                  <a:spcPts val="2063"/>
                </a:lnSpc>
              </a:pPr>
              <a:r>
                <a:rPr lang="en-US" sz="1719">
                  <a:solidFill>
                    <a:srgbClr val="14313B"/>
                  </a:solidFill>
                  <a:latin typeface="Calibri (MS)"/>
                  <a:ea typeface="Calibri (MS)"/>
                  <a:cs typeface="Calibri (MS)"/>
                  <a:sym typeface="Calibri (MS)"/>
                </a:rPr>
                <a:t>VIIRS mengisi ODTW 2015–2017 &amp; 2025 (R² selisih 0,405; LOOCV 5,99%); Dynamic World menyediakan lahan terbangun 2016–2025 (OA 89,95%; κ 0,61).</a:t>
              </a:r>
            </a:p>
          </p:txBody>
        </p:sp>
      </p:grpSp>
      <p:grpSp>
        <p:nvGrpSpPr>
          <p:cNvPr name="Group 81" id="81"/>
          <p:cNvGrpSpPr/>
          <p:nvPr/>
        </p:nvGrpSpPr>
        <p:grpSpPr>
          <a:xfrm rot="0">
            <a:off x="816607" y="4588507"/>
            <a:ext cx="16654777" cy="1132837"/>
            <a:chOff x="0" y="0"/>
            <a:chExt cx="22206369" cy="1510449"/>
          </a:xfrm>
        </p:grpSpPr>
        <p:sp>
          <p:nvSpPr>
            <p:cNvPr name="Freeform 82" id="82"/>
            <p:cNvSpPr/>
            <p:nvPr/>
          </p:nvSpPr>
          <p:spPr>
            <a:xfrm flipH="false" flipV="false" rot="0">
              <a:off x="0" y="0"/>
              <a:ext cx="22206204" cy="1510284"/>
            </a:xfrm>
            <a:custGeom>
              <a:avLst/>
              <a:gdLst/>
              <a:ahLst/>
              <a:cxnLst/>
              <a:rect r="r" b="b" t="t" l="l"/>
              <a:pathLst>
                <a:path h="1510284" w="22206204">
                  <a:moveTo>
                    <a:pt x="0" y="120777"/>
                  </a:moveTo>
                  <a:cubicBezTo>
                    <a:pt x="0" y="54102"/>
                    <a:pt x="54102" y="0"/>
                    <a:pt x="120777" y="0"/>
                  </a:cubicBezTo>
                  <a:lnTo>
                    <a:pt x="22085427" y="0"/>
                  </a:lnTo>
                  <a:cubicBezTo>
                    <a:pt x="22152102" y="0"/>
                    <a:pt x="22206204" y="54102"/>
                    <a:pt x="22206204" y="120777"/>
                  </a:cubicBezTo>
                  <a:lnTo>
                    <a:pt x="22206204" y="1389507"/>
                  </a:lnTo>
                  <a:cubicBezTo>
                    <a:pt x="22206204" y="1456182"/>
                    <a:pt x="22152102" y="1510284"/>
                    <a:pt x="22085427" y="1510284"/>
                  </a:cubicBezTo>
                  <a:lnTo>
                    <a:pt x="120777" y="1510284"/>
                  </a:lnTo>
                  <a:cubicBezTo>
                    <a:pt x="54102" y="1510284"/>
                    <a:pt x="0" y="1456182"/>
                    <a:pt x="0" y="1389507"/>
                  </a:cubicBezTo>
                  <a:close/>
                </a:path>
              </a:pathLst>
            </a:custGeom>
            <a:solidFill>
              <a:srgbClr val="EAF8FA"/>
            </a:solidFill>
            <a:ln w="12700" cap="sq">
              <a:solidFill>
                <a:srgbClr val="CFE5E9"/>
              </a:solidFill>
              <a:prstDash val="solid"/>
              <a:miter/>
            </a:ln>
          </p:spPr>
          <p:txBody>
            <a:bodyPr/>
            <a:p/>
          </p:txBody>
        </p:sp>
      </p:grpSp>
      <p:grpSp>
        <p:nvGrpSpPr>
          <p:cNvPr name="Group 83" id="83"/>
          <p:cNvGrpSpPr/>
          <p:nvPr/>
        </p:nvGrpSpPr>
        <p:grpSpPr>
          <a:xfrm rot="0">
            <a:off x="1051560" y="4880610"/>
            <a:ext cx="548640" cy="548640"/>
            <a:chOff x="0" y="0"/>
            <a:chExt cx="731520" cy="731520"/>
          </a:xfrm>
        </p:grpSpPr>
        <p:sp>
          <p:nvSpPr>
            <p:cNvPr name="Freeform 84" id="84"/>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85" id="85"/>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2</a:t>
              </a:r>
            </a:p>
          </p:txBody>
        </p:sp>
      </p:grpSp>
      <p:grpSp>
        <p:nvGrpSpPr>
          <p:cNvPr name="Group 86" id="86"/>
          <p:cNvGrpSpPr/>
          <p:nvPr/>
        </p:nvGrpSpPr>
        <p:grpSpPr>
          <a:xfrm rot="0">
            <a:off x="1828800" y="4686300"/>
            <a:ext cx="4206240" cy="937260"/>
            <a:chOff x="0" y="0"/>
            <a:chExt cx="5608320" cy="1249680"/>
          </a:xfrm>
        </p:grpSpPr>
        <p:sp>
          <p:nvSpPr>
            <p:cNvPr name="Freeform 87" id="87"/>
            <p:cNvSpPr/>
            <p:nvPr/>
          </p:nvSpPr>
          <p:spPr>
            <a:xfrm flipH="false" flipV="false" rot="0">
              <a:off x="0" y="0"/>
              <a:ext cx="5608320" cy="1249680"/>
            </a:xfrm>
            <a:custGeom>
              <a:avLst/>
              <a:gdLst/>
              <a:ahLst/>
              <a:cxnLst/>
              <a:rect r="r" b="b" t="t" l="l"/>
              <a:pathLst>
                <a:path h="1249680" w="5608320">
                  <a:moveTo>
                    <a:pt x="0" y="0"/>
                  </a:moveTo>
                  <a:lnTo>
                    <a:pt x="5608320" y="0"/>
                  </a:lnTo>
                  <a:lnTo>
                    <a:pt x="5608320" y="1249680"/>
                  </a:lnTo>
                  <a:lnTo>
                    <a:pt x="0" y="1249680"/>
                  </a:lnTo>
                  <a:close/>
                </a:path>
              </a:pathLst>
            </a:custGeom>
            <a:blipFill>
              <a:blip r:embed="rId6">
                <a:alphaModFix amt="0"/>
              </a:blip>
              <a:stretch>
                <a:fillRect l="0" t="-37445" r="0" b="-37445"/>
              </a:stretch>
            </a:blipFill>
          </p:spPr>
          <p:txBody>
            <a:bodyPr/>
            <a:p/>
          </p:txBody>
        </p:sp>
        <p:sp>
          <p:nvSpPr>
            <p:cNvPr name="TextBox 88" id="88"/>
            <p:cNvSpPr txBox="true"/>
            <p:nvPr/>
          </p:nvSpPr>
          <p:spPr>
            <a:xfrm>
              <a:off x="0" y="-38100"/>
              <a:ext cx="5608320" cy="1287780"/>
            </a:xfrm>
            <a:prstGeom prst="rect">
              <a:avLst/>
            </a:prstGeom>
          </p:spPr>
          <p:txBody>
            <a:bodyPr anchor="ctr" rtlCol="false" tIns="0" lIns="0" bIns="0" rIns="0"/>
            <a:lstStyle/>
            <a:p>
              <a:pPr algn="l">
                <a:lnSpc>
                  <a:spcPts val="2279"/>
                </a:lnSpc>
              </a:pPr>
              <a:r>
                <a:rPr lang="en-US" sz="1899" b="true">
                  <a:solidFill>
                    <a:srgbClr val="0B5E6E"/>
                  </a:solidFill>
                  <a:latin typeface="Calibri (MS) Bold"/>
                  <a:ea typeface="Calibri (MS) Bold"/>
                  <a:cs typeface="Calibri (MS) Bold"/>
                  <a:sym typeface="Calibri (MS) Bold"/>
                </a:rPr>
                <a:t>Model SD 61 variabel</a:t>
              </a:r>
            </a:p>
          </p:txBody>
        </p:sp>
      </p:grpSp>
      <p:grpSp>
        <p:nvGrpSpPr>
          <p:cNvPr name="Group 89" id="89"/>
          <p:cNvGrpSpPr/>
          <p:nvPr/>
        </p:nvGrpSpPr>
        <p:grpSpPr>
          <a:xfrm rot="0">
            <a:off x="6126480" y="4686300"/>
            <a:ext cx="11155680" cy="937260"/>
            <a:chOff x="0" y="0"/>
            <a:chExt cx="14874240" cy="1249680"/>
          </a:xfrm>
        </p:grpSpPr>
        <p:sp>
          <p:nvSpPr>
            <p:cNvPr name="Freeform 90" id="90"/>
            <p:cNvSpPr/>
            <p:nvPr/>
          </p:nvSpPr>
          <p:spPr>
            <a:xfrm flipH="false" flipV="false" rot="0">
              <a:off x="0" y="0"/>
              <a:ext cx="14874239" cy="1249680"/>
            </a:xfrm>
            <a:custGeom>
              <a:avLst/>
              <a:gdLst/>
              <a:ahLst/>
              <a:cxnLst/>
              <a:rect r="r" b="b" t="t" l="l"/>
              <a:pathLst>
                <a:path h="1249680" w="14874239">
                  <a:moveTo>
                    <a:pt x="0" y="0"/>
                  </a:moveTo>
                  <a:lnTo>
                    <a:pt x="14874239" y="0"/>
                  </a:lnTo>
                  <a:lnTo>
                    <a:pt x="14874239" y="1249680"/>
                  </a:lnTo>
                  <a:lnTo>
                    <a:pt x="0" y="1249680"/>
                  </a:lnTo>
                  <a:close/>
                </a:path>
              </a:pathLst>
            </a:custGeom>
            <a:blipFill>
              <a:blip r:embed="rId6">
                <a:alphaModFix amt="0"/>
              </a:blip>
              <a:stretch>
                <a:fillRect l="0" t="-181919" r="0" b="-181919"/>
              </a:stretch>
            </a:blipFill>
          </p:spPr>
          <p:txBody>
            <a:bodyPr/>
            <a:p/>
          </p:txBody>
        </p:sp>
        <p:sp>
          <p:nvSpPr>
            <p:cNvPr name="TextBox 91" id="91"/>
            <p:cNvSpPr txBox="true"/>
            <p:nvPr/>
          </p:nvSpPr>
          <p:spPr>
            <a:xfrm>
              <a:off x="0" y="-38100"/>
              <a:ext cx="14874240" cy="1287780"/>
            </a:xfrm>
            <a:prstGeom prst="rect">
              <a:avLst/>
            </a:prstGeom>
          </p:spPr>
          <p:txBody>
            <a:bodyPr anchor="ctr" rtlCol="false" tIns="0" lIns="0" bIns="0" rIns="0"/>
            <a:lstStyle/>
            <a:p>
              <a:pPr algn="l">
                <a:lnSpc>
                  <a:spcPts val="2063"/>
                </a:lnSpc>
              </a:pPr>
              <a:r>
                <a:rPr lang="en-US" sz="1719">
                  <a:solidFill>
                    <a:srgbClr val="14313B"/>
                  </a:solidFill>
                  <a:latin typeface="Calibri (MS)"/>
                  <a:ea typeface="Calibri (MS)"/>
                  <a:cs typeface="Calibri (MS)"/>
                  <a:sym typeface="Calibri (MS)"/>
                </a:rPr>
                <a:t>5 stock, 10 flow, 11 auxiliary, 35 parameter dari 5 kategori sumber; nilai awal 2025 terlacak ke data resmi dan citra.</a:t>
              </a:r>
            </a:p>
          </p:txBody>
        </p:sp>
      </p:grpSp>
      <p:grpSp>
        <p:nvGrpSpPr>
          <p:cNvPr name="Group 92" id="92"/>
          <p:cNvGrpSpPr/>
          <p:nvPr/>
        </p:nvGrpSpPr>
        <p:grpSpPr>
          <a:xfrm rot="0">
            <a:off x="816607" y="5891527"/>
            <a:ext cx="16654777" cy="1132837"/>
            <a:chOff x="0" y="0"/>
            <a:chExt cx="22206369" cy="1510449"/>
          </a:xfrm>
        </p:grpSpPr>
        <p:sp>
          <p:nvSpPr>
            <p:cNvPr name="Freeform 93" id="93"/>
            <p:cNvSpPr/>
            <p:nvPr/>
          </p:nvSpPr>
          <p:spPr>
            <a:xfrm flipH="false" flipV="false" rot="0">
              <a:off x="0" y="0"/>
              <a:ext cx="22206204" cy="1510284"/>
            </a:xfrm>
            <a:custGeom>
              <a:avLst/>
              <a:gdLst/>
              <a:ahLst/>
              <a:cxnLst/>
              <a:rect r="r" b="b" t="t" l="l"/>
              <a:pathLst>
                <a:path h="1510284" w="22206204">
                  <a:moveTo>
                    <a:pt x="0" y="120777"/>
                  </a:moveTo>
                  <a:cubicBezTo>
                    <a:pt x="0" y="54102"/>
                    <a:pt x="54102" y="0"/>
                    <a:pt x="120777" y="0"/>
                  </a:cubicBezTo>
                  <a:lnTo>
                    <a:pt x="22085427" y="0"/>
                  </a:lnTo>
                  <a:cubicBezTo>
                    <a:pt x="22152102" y="0"/>
                    <a:pt x="22206204" y="54102"/>
                    <a:pt x="22206204" y="120777"/>
                  </a:cubicBezTo>
                  <a:lnTo>
                    <a:pt x="22206204" y="1389507"/>
                  </a:lnTo>
                  <a:cubicBezTo>
                    <a:pt x="22206204" y="1456182"/>
                    <a:pt x="22152102" y="1510284"/>
                    <a:pt x="22085427" y="1510284"/>
                  </a:cubicBezTo>
                  <a:lnTo>
                    <a:pt x="120777" y="1510284"/>
                  </a:lnTo>
                  <a:cubicBezTo>
                    <a:pt x="54102" y="1510284"/>
                    <a:pt x="0" y="1456182"/>
                    <a:pt x="0" y="1389507"/>
                  </a:cubicBezTo>
                  <a:close/>
                </a:path>
              </a:pathLst>
            </a:custGeom>
            <a:solidFill>
              <a:srgbClr val="EAF8FA"/>
            </a:solidFill>
            <a:ln w="12700" cap="sq">
              <a:solidFill>
                <a:srgbClr val="CFE5E9"/>
              </a:solidFill>
              <a:prstDash val="solid"/>
              <a:miter/>
            </a:ln>
          </p:spPr>
          <p:txBody>
            <a:bodyPr/>
            <a:p/>
          </p:txBody>
        </p:sp>
      </p:grpSp>
      <p:grpSp>
        <p:nvGrpSpPr>
          <p:cNvPr name="Group 94" id="94"/>
          <p:cNvGrpSpPr/>
          <p:nvPr/>
        </p:nvGrpSpPr>
        <p:grpSpPr>
          <a:xfrm rot="0">
            <a:off x="1051560" y="6183630"/>
            <a:ext cx="548640" cy="548640"/>
            <a:chOff x="0" y="0"/>
            <a:chExt cx="731520" cy="731520"/>
          </a:xfrm>
        </p:grpSpPr>
        <p:sp>
          <p:nvSpPr>
            <p:cNvPr name="Freeform 95" id="95"/>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96" id="96"/>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3</a:t>
              </a:r>
            </a:p>
          </p:txBody>
        </p:sp>
      </p:grpSp>
      <p:grpSp>
        <p:nvGrpSpPr>
          <p:cNvPr name="Group 97" id="97"/>
          <p:cNvGrpSpPr/>
          <p:nvPr/>
        </p:nvGrpSpPr>
        <p:grpSpPr>
          <a:xfrm rot="0">
            <a:off x="1828800" y="5989320"/>
            <a:ext cx="4206240" cy="937260"/>
            <a:chOff x="0" y="0"/>
            <a:chExt cx="5608320" cy="1249680"/>
          </a:xfrm>
        </p:grpSpPr>
        <p:sp>
          <p:nvSpPr>
            <p:cNvPr name="Freeform 98" id="98"/>
            <p:cNvSpPr/>
            <p:nvPr/>
          </p:nvSpPr>
          <p:spPr>
            <a:xfrm flipH="false" flipV="false" rot="0">
              <a:off x="0" y="0"/>
              <a:ext cx="5608320" cy="1249680"/>
            </a:xfrm>
            <a:custGeom>
              <a:avLst/>
              <a:gdLst/>
              <a:ahLst/>
              <a:cxnLst/>
              <a:rect r="r" b="b" t="t" l="l"/>
              <a:pathLst>
                <a:path h="1249680" w="5608320">
                  <a:moveTo>
                    <a:pt x="0" y="0"/>
                  </a:moveTo>
                  <a:lnTo>
                    <a:pt x="5608320" y="0"/>
                  </a:lnTo>
                  <a:lnTo>
                    <a:pt x="5608320" y="1249680"/>
                  </a:lnTo>
                  <a:lnTo>
                    <a:pt x="0" y="1249680"/>
                  </a:lnTo>
                  <a:close/>
                </a:path>
              </a:pathLst>
            </a:custGeom>
            <a:blipFill>
              <a:blip r:embed="rId6">
                <a:alphaModFix amt="0"/>
              </a:blip>
              <a:stretch>
                <a:fillRect l="0" t="-37445" r="0" b="-37445"/>
              </a:stretch>
            </a:blipFill>
          </p:spPr>
          <p:txBody>
            <a:bodyPr/>
            <a:p/>
          </p:txBody>
        </p:sp>
        <p:sp>
          <p:nvSpPr>
            <p:cNvPr name="TextBox 99" id="99"/>
            <p:cNvSpPr txBox="true"/>
            <p:nvPr/>
          </p:nvSpPr>
          <p:spPr>
            <a:xfrm>
              <a:off x="0" y="-38100"/>
              <a:ext cx="5608320" cy="1287780"/>
            </a:xfrm>
            <a:prstGeom prst="rect">
              <a:avLst/>
            </a:prstGeom>
          </p:spPr>
          <p:txBody>
            <a:bodyPr anchor="ctr" rtlCol="false" tIns="0" lIns="0" bIns="0" rIns="0"/>
            <a:lstStyle/>
            <a:p>
              <a:pPr algn="l">
                <a:lnSpc>
                  <a:spcPts val="2279"/>
                </a:lnSpc>
              </a:pPr>
              <a:r>
                <a:rPr lang="en-US" sz="1899" b="true">
                  <a:solidFill>
                    <a:srgbClr val="0B5E6E"/>
                  </a:solidFill>
                  <a:latin typeface="Calibri (MS) Bold"/>
                  <a:ea typeface="Calibri (MS) Bold"/>
                  <a:cs typeface="Calibri (MS) Bold"/>
                  <a:sym typeface="Calibri (MS) Bold"/>
                </a:rPr>
                <a:t>Valid secara struktur</a:t>
              </a:r>
            </a:p>
          </p:txBody>
        </p:sp>
      </p:grpSp>
      <p:grpSp>
        <p:nvGrpSpPr>
          <p:cNvPr name="Group 100" id="100"/>
          <p:cNvGrpSpPr/>
          <p:nvPr/>
        </p:nvGrpSpPr>
        <p:grpSpPr>
          <a:xfrm rot="0">
            <a:off x="6126480" y="5989320"/>
            <a:ext cx="11155680" cy="937260"/>
            <a:chOff x="0" y="0"/>
            <a:chExt cx="14874240" cy="1249680"/>
          </a:xfrm>
        </p:grpSpPr>
        <p:sp>
          <p:nvSpPr>
            <p:cNvPr name="Freeform 101" id="101"/>
            <p:cNvSpPr/>
            <p:nvPr/>
          </p:nvSpPr>
          <p:spPr>
            <a:xfrm flipH="false" flipV="false" rot="0">
              <a:off x="0" y="0"/>
              <a:ext cx="14874239" cy="1249680"/>
            </a:xfrm>
            <a:custGeom>
              <a:avLst/>
              <a:gdLst/>
              <a:ahLst/>
              <a:cxnLst/>
              <a:rect r="r" b="b" t="t" l="l"/>
              <a:pathLst>
                <a:path h="1249680" w="14874239">
                  <a:moveTo>
                    <a:pt x="0" y="0"/>
                  </a:moveTo>
                  <a:lnTo>
                    <a:pt x="14874239" y="0"/>
                  </a:lnTo>
                  <a:lnTo>
                    <a:pt x="14874239" y="1249680"/>
                  </a:lnTo>
                  <a:lnTo>
                    <a:pt x="0" y="1249680"/>
                  </a:lnTo>
                  <a:close/>
                </a:path>
              </a:pathLst>
            </a:custGeom>
            <a:blipFill>
              <a:blip r:embed="rId6">
                <a:alphaModFix amt="0"/>
              </a:blip>
              <a:stretch>
                <a:fillRect l="0" t="-181919" r="0" b="-181919"/>
              </a:stretch>
            </a:blipFill>
          </p:spPr>
          <p:txBody>
            <a:bodyPr/>
            <a:p/>
          </p:txBody>
        </p:sp>
        <p:sp>
          <p:nvSpPr>
            <p:cNvPr name="TextBox 102" id="102"/>
            <p:cNvSpPr txBox="true"/>
            <p:nvPr/>
          </p:nvSpPr>
          <p:spPr>
            <a:xfrm>
              <a:off x="0" y="-38100"/>
              <a:ext cx="14874240" cy="1287780"/>
            </a:xfrm>
            <a:prstGeom prst="rect">
              <a:avLst/>
            </a:prstGeom>
          </p:spPr>
          <p:txBody>
            <a:bodyPr anchor="ctr" rtlCol="false" tIns="0" lIns="0" bIns="0" rIns="0"/>
            <a:lstStyle/>
            <a:p>
              <a:pPr algn="l">
                <a:lnSpc>
                  <a:spcPts val="2063"/>
                </a:lnSpc>
              </a:pPr>
              <a:r>
                <a:rPr lang="en-US" sz="1719">
                  <a:solidFill>
                    <a:srgbClr val="14313B"/>
                  </a:solidFill>
                  <a:latin typeface="Calibri (MS)"/>
                  <a:ea typeface="Calibri (MS)"/>
                  <a:cs typeface="Calibri (MS)"/>
                  <a:sym typeface="Calibri (MS)"/>
                </a:rPr>
                <a:t>6 uji struktur lolos (17 uji ekstrem tanpa gagal); perilaku cukup baik per subsistem; kalibrasi tidak mengubah parameter.</a:t>
              </a:r>
            </a:p>
          </p:txBody>
        </p:sp>
      </p:grpSp>
      <p:grpSp>
        <p:nvGrpSpPr>
          <p:cNvPr name="Group 103" id="103"/>
          <p:cNvGrpSpPr/>
          <p:nvPr/>
        </p:nvGrpSpPr>
        <p:grpSpPr>
          <a:xfrm rot="0">
            <a:off x="816607" y="7194547"/>
            <a:ext cx="16654777" cy="1132837"/>
            <a:chOff x="0" y="0"/>
            <a:chExt cx="22206369" cy="1510449"/>
          </a:xfrm>
        </p:grpSpPr>
        <p:sp>
          <p:nvSpPr>
            <p:cNvPr name="Freeform 104" id="104"/>
            <p:cNvSpPr/>
            <p:nvPr/>
          </p:nvSpPr>
          <p:spPr>
            <a:xfrm flipH="false" flipV="false" rot="0">
              <a:off x="0" y="0"/>
              <a:ext cx="22206204" cy="1510284"/>
            </a:xfrm>
            <a:custGeom>
              <a:avLst/>
              <a:gdLst/>
              <a:ahLst/>
              <a:cxnLst/>
              <a:rect r="r" b="b" t="t" l="l"/>
              <a:pathLst>
                <a:path h="1510284" w="22206204">
                  <a:moveTo>
                    <a:pt x="0" y="120777"/>
                  </a:moveTo>
                  <a:cubicBezTo>
                    <a:pt x="0" y="54102"/>
                    <a:pt x="54102" y="0"/>
                    <a:pt x="120777" y="0"/>
                  </a:cubicBezTo>
                  <a:lnTo>
                    <a:pt x="22085427" y="0"/>
                  </a:lnTo>
                  <a:cubicBezTo>
                    <a:pt x="22152102" y="0"/>
                    <a:pt x="22206204" y="54102"/>
                    <a:pt x="22206204" y="120777"/>
                  </a:cubicBezTo>
                  <a:lnTo>
                    <a:pt x="22206204" y="1389507"/>
                  </a:lnTo>
                  <a:cubicBezTo>
                    <a:pt x="22206204" y="1456182"/>
                    <a:pt x="22152102" y="1510284"/>
                    <a:pt x="22085427" y="1510284"/>
                  </a:cubicBezTo>
                  <a:lnTo>
                    <a:pt x="120777" y="1510284"/>
                  </a:lnTo>
                  <a:cubicBezTo>
                    <a:pt x="54102" y="1510284"/>
                    <a:pt x="0" y="1456182"/>
                    <a:pt x="0" y="1389507"/>
                  </a:cubicBezTo>
                  <a:close/>
                </a:path>
              </a:pathLst>
            </a:custGeom>
            <a:solidFill>
              <a:srgbClr val="EAF8FA"/>
            </a:solidFill>
            <a:ln w="12700" cap="sq">
              <a:solidFill>
                <a:srgbClr val="CFE5E9"/>
              </a:solidFill>
              <a:prstDash val="solid"/>
              <a:miter/>
            </a:ln>
          </p:spPr>
          <p:txBody>
            <a:bodyPr/>
            <a:p/>
          </p:txBody>
        </p:sp>
      </p:grpSp>
      <p:grpSp>
        <p:nvGrpSpPr>
          <p:cNvPr name="Group 105" id="105"/>
          <p:cNvGrpSpPr/>
          <p:nvPr/>
        </p:nvGrpSpPr>
        <p:grpSpPr>
          <a:xfrm rot="0">
            <a:off x="1051560" y="7486650"/>
            <a:ext cx="548640" cy="548640"/>
            <a:chOff x="0" y="0"/>
            <a:chExt cx="731520" cy="731520"/>
          </a:xfrm>
        </p:grpSpPr>
        <p:sp>
          <p:nvSpPr>
            <p:cNvPr name="Freeform 106" id="106"/>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107" id="107"/>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4</a:t>
              </a:r>
            </a:p>
          </p:txBody>
        </p:sp>
      </p:grpSp>
      <p:grpSp>
        <p:nvGrpSpPr>
          <p:cNvPr name="Group 108" id="108"/>
          <p:cNvGrpSpPr/>
          <p:nvPr/>
        </p:nvGrpSpPr>
        <p:grpSpPr>
          <a:xfrm rot="0">
            <a:off x="1828800" y="7292340"/>
            <a:ext cx="4206240" cy="937260"/>
            <a:chOff x="0" y="0"/>
            <a:chExt cx="5608320" cy="1249680"/>
          </a:xfrm>
        </p:grpSpPr>
        <p:sp>
          <p:nvSpPr>
            <p:cNvPr name="Freeform 109" id="109"/>
            <p:cNvSpPr/>
            <p:nvPr/>
          </p:nvSpPr>
          <p:spPr>
            <a:xfrm flipH="false" flipV="false" rot="0">
              <a:off x="0" y="0"/>
              <a:ext cx="5608320" cy="1249680"/>
            </a:xfrm>
            <a:custGeom>
              <a:avLst/>
              <a:gdLst/>
              <a:ahLst/>
              <a:cxnLst/>
              <a:rect r="r" b="b" t="t" l="l"/>
              <a:pathLst>
                <a:path h="1249680" w="5608320">
                  <a:moveTo>
                    <a:pt x="0" y="0"/>
                  </a:moveTo>
                  <a:lnTo>
                    <a:pt x="5608320" y="0"/>
                  </a:lnTo>
                  <a:lnTo>
                    <a:pt x="5608320" y="1249680"/>
                  </a:lnTo>
                  <a:lnTo>
                    <a:pt x="0" y="1249680"/>
                  </a:lnTo>
                  <a:close/>
                </a:path>
              </a:pathLst>
            </a:custGeom>
            <a:blipFill>
              <a:blip r:embed="rId6">
                <a:alphaModFix amt="0"/>
              </a:blip>
              <a:stretch>
                <a:fillRect l="0" t="-37445" r="0" b="-37445"/>
              </a:stretch>
            </a:blipFill>
          </p:spPr>
          <p:txBody>
            <a:bodyPr/>
            <a:p/>
          </p:txBody>
        </p:sp>
        <p:sp>
          <p:nvSpPr>
            <p:cNvPr name="TextBox 110" id="110"/>
            <p:cNvSpPr txBox="true"/>
            <p:nvPr/>
          </p:nvSpPr>
          <p:spPr>
            <a:xfrm>
              <a:off x="0" y="-38100"/>
              <a:ext cx="5608320" cy="1287780"/>
            </a:xfrm>
            <a:prstGeom prst="rect">
              <a:avLst/>
            </a:prstGeom>
          </p:spPr>
          <p:txBody>
            <a:bodyPr anchor="ctr" rtlCol="false" tIns="0" lIns="0" bIns="0" rIns="0"/>
            <a:lstStyle/>
            <a:p>
              <a:pPr algn="l">
                <a:lnSpc>
                  <a:spcPts val="2279"/>
                </a:lnSpc>
              </a:pPr>
              <a:r>
                <a:rPr lang="en-US" sz="1899" b="true">
                  <a:solidFill>
                    <a:srgbClr val="0B5E6E"/>
                  </a:solidFill>
                  <a:latin typeface="Calibri (MS) Bold"/>
                  <a:ea typeface="Calibri (MS) Bold"/>
                  <a:cs typeface="Calibri (MS) Bold"/>
                  <a:sym typeface="Calibri (MS) Bold"/>
                </a:rPr>
                <a:t>Dasar simulasi kebijakan</a:t>
              </a:r>
            </a:p>
          </p:txBody>
        </p:sp>
      </p:grpSp>
      <p:grpSp>
        <p:nvGrpSpPr>
          <p:cNvPr name="Group 111" id="111"/>
          <p:cNvGrpSpPr/>
          <p:nvPr/>
        </p:nvGrpSpPr>
        <p:grpSpPr>
          <a:xfrm rot="0">
            <a:off x="6126480" y="7292340"/>
            <a:ext cx="11155680" cy="937260"/>
            <a:chOff x="0" y="0"/>
            <a:chExt cx="14874240" cy="1249680"/>
          </a:xfrm>
        </p:grpSpPr>
        <p:sp>
          <p:nvSpPr>
            <p:cNvPr name="Freeform 112" id="112"/>
            <p:cNvSpPr/>
            <p:nvPr/>
          </p:nvSpPr>
          <p:spPr>
            <a:xfrm flipH="false" flipV="false" rot="0">
              <a:off x="0" y="0"/>
              <a:ext cx="14874239" cy="1249680"/>
            </a:xfrm>
            <a:custGeom>
              <a:avLst/>
              <a:gdLst/>
              <a:ahLst/>
              <a:cxnLst/>
              <a:rect r="r" b="b" t="t" l="l"/>
              <a:pathLst>
                <a:path h="1249680" w="14874239">
                  <a:moveTo>
                    <a:pt x="0" y="0"/>
                  </a:moveTo>
                  <a:lnTo>
                    <a:pt x="14874239" y="0"/>
                  </a:lnTo>
                  <a:lnTo>
                    <a:pt x="14874239" y="1249680"/>
                  </a:lnTo>
                  <a:lnTo>
                    <a:pt x="0" y="1249680"/>
                  </a:lnTo>
                  <a:close/>
                </a:path>
              </a:pathLst>
            </a:custGeom>
            <a:blipFill>
              <a:blip r:embed="rId6">
                <a:alphaModFix amt="0"/>
              </a:blip>
              <a:stretch>
                <a:fillRect l="0" t="-181919" r="0" b="-181919"/>
              </a:stretch>
            </a:blipFill>
          </p:spPr>
          <p:txBody>
            <a:bodyPr/>
            <a:p/>
          </p:txBody>
        </p:sp>
        <p:sp>
          <p:nvSpPr>
            <p:cNvPr name="TextBox 113" id="113"/>
            <p:cNvSpPr txBox="true"/>
            <p:nvPr/>
          </p:nvSpPr>
          <p:spPr>
            <a:xfrm>
              <a:off x="0" y="-38100"/>
              <a:ext cx="14874240" cy="1287780"/>
            </a:xfrm>
            <a:prstGeom prst="rect">
              <a:avLst/>
            </a:prstGeom>
          </p:spPr>
          <p:txBody>
            <a:bodyPr anchor="ctr" rtlCol="false" tIns="0" lIns="0" bIns="0" rIns="0"/>
            <a:lstStyle/>
            <a:p>
              <a:pPr algn="l">
                <a:lnSpc>
                  <a:spcPts val="2063"/>
                </a:lnSpc>
              </a:pPr>
              <a:r>
                <a:rPr lang="en-US" sz="1719">
                  <a:solidFill>
                    <a:srgbClr val="14313B"/>
                  </a:solidFill>
                  <a:latin typeface="Calibri (MS)"/>
                  <a:ea typeface="Calibri (MS)"/>
                  <a:cs typeface="Calibri (MS)"/>
                  <a:sym typeface="Calibri (MS)"/>
                </a:rPr>
                <a:t>Tidak ada skenario unggul di ketiga dimensi; DP unggul ekonomi, Sustainable unggul lingkungan, BAU unggul kepadatan — urutannya robust pada 7 kondisi.</a:t>
              </a:r>
            </a:p>
          </p:txBody>
        </p:sp>
      </p:grpSp>
      <p:grpSp>
        <p:nvGrpSpPr>
          <p:cNvPr name="Group 114" id="114"/>
          <p:cNvGrpSpPr/>
          <p:nvPr/>
        </p:nvGrpSpPr>
        <p:grpSpPr>
          <a:xfrm rot="0">
            <a:off x="816607" y="8497567"/>
            <a:ext cx="16654777" cy="744217"/>
            <a:chOff x="0" y="0"/>
            <a:chExt cx="22206369" cy="992289"/>
          </a:xfrm>
        </p:grpSpPr>
        <p:sp>
          <p:nvSpPr>
            <p:cNvPr name="Freeform 115" id="115"/>
            <p:cNvSpPr/>
            <p:nvPr/>
          </p:nvSpPr>
          <p:spPr>
            <a:xfrm flipH="false" flipV="false" rot="0">
              <a:off x="0" y="0"/>
              <a:ext cx="22206331" cy="992251"/>
            </a:xfrm>
            <a:custGeom>
              <a:avLst/>
              <a:gdLst/>
              <a:ahLst/>
              <a:cxnLst/>
              <a:rect r="r" b="b" t="t" l="l"/>
              <a:pathLst>
                <a:path h="992251" w="22206331">
                  <a:moveTo>
                    <a:pt x="0" y="79375"/>
                  </a:moveTo>
                  <a:cubicBezTo>
                    <a:pt x="0" y="35560"/>
                    <a:pt x="35560" y="0"/>
                    <a:pt x="79375" y="0"/>
                  </a:cubicBezTo>
                  <a:lnTo>
                    <a:pt x="22126956" y="0"/>
                  </a:lnTo>
                  <a:cubicBezTo>
                    <a:pt x="22170771" y="0"/>
                    <a:pt x="22206331" y="35560"/>
                    <a:pt x="22206331" y="79375"/>
                  </a:cubicBezTo>
                  <a:lnTo>
                    <a:pt x="22206331" y="912876"/>
                  </a:lnTo>
                  <a:cubicBezTo>
                    <a:pt x="22206331" y="956691"/>
                    <a:pt x="22170771" y="992251"/>
                    <a:pt x="22126956" y="992251"/>
                  </a:cubicBezTo>
                  <a:lnTo>
                    <a:pt x="79375" y="992251"/>
                  </a:lnTo>
                  <a:cubicBezTo>
                    <a:pt x="35560" y="992251"/>
                    <a:pt x="0" y="956691"/>
                    <a:pt x="0" y="912876"/>
                  </a:cubicBezTo>
                  <a:close/>
                </a:path>
              </a:pathLst>
            </a:custGeom>
            <a:solidFill>
              <a:srgbClr val="FFF1BF"/>
            </a:solidFill>
            <a:ln w="12700" cap="sq">
              <a:solidFill>
                <a:srgbClr val="FFD23B"/>
              </a:solidFill>
              <a:prstDash val="solid"/>
              <a:miter/>
            </a:ln>
          </p:spPr>
          <p:txBody>
            <a:bodyPr/>
            <a:p/>
          </p:txBody>
        </p:sp>
        <p:sp>
          <p:nvSpPr>
            <p:cNvPr name="TextBox 116" id="116"/>
            <p:cNvSpPr txBox="true"/>
            <p:nvPr/>
          </p:nvSpPr>
          <p:spPr>
            <a:xfrm>
              <a:off x="0" y="-38100"/>
              <a:ext cx="22206369" cy="103038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Model memanfaatkan citra, sudah divalidasi, dan mampu membandingkan skenario kebijakan secara kuantitatif beserta tingkat robustness-nya.</a:t>
              </a:r>
            </a:p>
          </p:txBody>
        </p:sp>
      </p:grpSp>
      <p:grpSp>
        <p:nvGrpSpPr>
          <p:cNvPr name="Group 117" id="117"/>
          <p:cNvGrpSpPr/>
          <p:nvPr/>
        </p:nvGrpSpPr>
        <p:grpSpPr>
          <a:xfrm rot="0">
            <a:off x="16047720" y="9646920"/>
            <a:ext cx="420624" cy="420624"/>
            <a:chOff x="0" y="0"/>
            <a:chExt cx="560832" cy="560832"/>
          </a:xfrm>
        </p:grpSpPr>
        <p:sp>
          <p:nvSpPr>
            <p:cNvPr name="Freeform 118" id="118"/>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19" id="119"/>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bg>
      <p:bgPr>
        <a:solidFill>
          <a:srgbClr val="0B5E6E"/>
        </a:solidFill>
      </p:bgPr>
    </p:bg>
    <p:spTree>
      <p:nvGrpSpPr>
        <p:cNvPr id="1" name=""/>
        <p:cNvGrpSpPr/>
        <p:nvPr/>
      </p:nvGrpSpPr>
      <p:grpSpPr>
        <a:xfrm>
          <a:off x="0" y="0"/>
          <a:ext cx="0" cy="0"/>
          <a:chOff x="0" y="0"/>
          <a:chExt cx="0" cy="0"/>
        </a:xfrm>
      </p:grpSpPr>
      <p:grpSp>
        <p:nvGrpSpPr>
          <p:cNvPr name="Group 2" id="2"/>
          <p:cNvGrpSpPr/>
          <p:nvPr/>
        </p:nvGrpSpPr>
        <p:grpSpPr>
          <a:xfrm rot="0">
            <a:off x="8462772" y="1645920"/>
            <a:ext cx="1371600" cy="1371600"/>
            <a:chOff x="0" y="0"/>
            <a:chExt cx="1828800" cy="1828800"/>
          </a:xfrm>
        </p:grpSpPr>
        <p:sp>
          <p:nvSpPr>
            <p:cNvPr name="Freeform 3" id="3"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3497580"/>
            <a:ext cx="16637508" cy="1371600"/>
            <a:chOff x="0" y="0"/>
            <a:chExt cx="22183344" cy="1828800"/>
          </a:xfrm>
        </p:grpSpPr>
        <p:sp>
          <p:nvSpPr>
            <p:cNvPr name="Freeform 5" id="5"/>
            <p:cNvSpPr/>
            <p:nvPr/>
          </p:nvSpPr>
          <p:spPr>
            <a:xfrm flipH="false" flipV="false" rot="0">
              <a:off x="0" y="0"/>
              <a:ext cx="22183344" cy="1828800"/>
            </a:xfrm>
            <a:custGeom>
              <a:avLst/>
              <a:gdLst/>
              <a:ahLst/>
              <a:cxnLst/>
              <a:rect r="r" b="b" t="t" l="l"/>
              <a:pathLst>
                <a:path h="1828800" w="22183344">
                  <a:moveTo>
                    <a:pt x="0" y="0"/>
                  </a:moveTo>
                  <a:lnTo>
                    <a:pt x="22183344" y="0"/>
                  </a:lnTo>
                  <a:lnTo>
                    <a:pt x="22183344" y="1828800"/>
                  </a:lnTo>
                  <a:lnTo>
                    <a:pt x="0" y="1828800"/>
                  </a:lnTo>
                  <a:close/>
                </a:path>
              </a:pathLst>
            </a:custGeom>
            <a:blipFill>
              <a:blip r:embed="rId4">
                <a:alphaModFix amt="0"/>
              </a:blip>
              <a:stretch>
                <a:fillRect l="0" t="-186188" r="0" b="-186189"/>
              </a:stretch>
            </a:blipFill>
          </p:spPr>
          <p:txBody>
            <a:bodyPr/>
            <a:p/>
          </p:txBody>
        </p:sp>
      </p:grpSp>
      <p:grpSp>
        <p:nvGrpSpPr>
          <p:cNvPr name="Group 6" id="6"/>
          <p:cNvGrpSpPr/>
          <p:nvPr/>
        </p:nvGrpSpPr>
        <p:grpSpPr>
          <a:xfrm rot="0">
            <a:off x="822960" y="3376136"/>
            <a:ext cx="16637508" cy="1493044"/>
            <a:chOff x="0" y="0"/>
            <a:chExt cx="22183344" cy="1990725"/>
          </a:xfrm>
        </p:grpSpPr>
        <p:sp>
          <p:nvSpPr>
            <p:cNvPr name="Freeform 7" id="7"/>
            <p:cNvSpPr/>
            <p:nvPr/>
          </p:nvSpPr>
          <p:spPr>
            <a:xfrm flipH="false" flipV="false" rot="0">
              <a:off x="0" y="0"/>
              <a:ext cx="22183344" cy="1990725"/>
            </a:xfrm>
            <a:custGeom>
              <a:avLst/>
              <a:gdLst/>
              <a:ahLst/>
              <a:cxnLst/>
              <a:rect r="r" b="b" t="t" l="l"/>
              <a:pathLst>
                <a:path h="1990725" w="22183344">
                  <a:moveTo>
                    <a:pt x="0" y="0"/>
                  </a:moveTo>
                  <a:lnTo>
                    <a:pt x="22183344" y="0"/>
                  </a:lnTo>
                  <a:lnTo>
                    <a:pt x="22183344" y="1990725"/>
                  </a:lnTo>
                  <a:lnTo>
                    <a:pt x="0" y="1990725"/>
                  </a:lnTo>
                  <a:close/>
                </a:path>
              </a:pathLst>
            </a:custGeom>
            <a:blipFill>
              <a:blip r:embed="rId5">
                <a:alphaModFix amt="0"/>
              </a:blip>
              <a:stretch>
                <a:fillRect l="0" t="-166977" r="0" b="-166977"/>
              </a:stretch>
            </a:blipFill>
          </p:spPr>
          <p:txBody>
            <a:bodyPr/>
            <a:p/>
          </p:txBody>
        </p:sp>
      </p:grpSp>
      <p:grpSp>
        <p:nvGrpSpPr>
          <p:cNvPr name="Group 8" id="8"/>
          <p:cNvGrpSpPr/>
          <p:nvPr/>
        </p:nvGrpSpPr>
        <p:grpSpPr>
          <a:xfrm rot="0">
            <a:off x="822960" y="3254692"/>
            <a:ext cx="16637508" cy="1614488"/>
            <a:chOff x="0" y="0"/>
            <a:chExt cx="22183344" cy="2152650"/>
          </a:xfrm>
        </p:grpSpPr>
        <p:sp>
          <p:nvSpPr>
            <p:cNvPr name="Freeform 9" id="9"/>
            <p:cNvSpPr/>
            <p:nvPr/>
          </p:nvSpPr>
          <p:spPr>
            <a:xfrm flipH="false" flipV="false" rot="0">
              <a:off x="0" y="0"/>
              <a:ext cx="22183344" cy="2152650"/>
            </a:xfrm>
            <a:custGeom>
              <a:avLst/>
              <a:gdLst/>
              <a:ahLst/>
              <a:cxnLst/>
              <a:rect r="r" b="b" t="t" l="l"/>
              <a:pathLst>
                <a:path h="2152650" w="22183344">
                  <a:moveTo>
                    <a:pt x="0" y="0"/>
                  </a:moveTo>
                  <a:lnTo>
                    <a:pt x="22183344" y="0"/>
                  </a:lnTo>
                  <a:lnTo>
                    <a:pt x="22183344" y="2152650"/>
                  </a:lnTo>
                  <a:lnTo>
                    <a:pt x="0" y="2152650"/>
                  </a:lnTo>
                  <a:close/>
                </a:path>
              </a:pathLst>
            </a:custGeom>
            <a:blipFill>
              <a:blip r:embed="rId6">
                <a:alphaModFix amt="0"/>
              </a:blip>
              <a:stretch>
                <a:fillRect l="0" t="-150795" r="0" b="-150795"/>
              </a:stretch>
            </a:blipFill>
          </p:spPr>
          <p:txBody>
            <a:bodyPr/>
            <a:p/>
          </p:txBody>
        </p:sp>
        <p:sp>
          <p:nvSpPr>
            <p:cNvPr name="TextBox 10" id="10"/>
            <p:cNvSpPr txBox="true"/>
            <p:nvPr/>
          </p:nvSpPr>
          <p:spPr>
            <a:xfrm>
              <a:off x="0" y="-161925"/>
              <a:ext cx="22183344" cy="2314575"/>
            </a:xfrm>
            <a:prstGeom prst="rect">
              <a:avLst/>
            </a:prstGeom>
          </p:spPr>
          <p:txBody>
            <a:bodyPr anchor="ctr" rtlCol="false" tIns="0" lIns="0" bIns="0" rIns="0"/>
            <a:lstStyle/>
            <a:p>
              <a:pPr algn="ctr">
                <a:lnSpc>
                  <a:spcPts val="9360"/>
                </a:lnSpc>
              </a:pPr>
              <a:r>
                <a:rPr lang="en-US" sz="7800" b="true">
                  <a:solidFill>
                    <a:srgbClr val="FFD23B"/>
                  </a:solidFill>
                  <a:latin typeface="Calibri (MS) Bold"/>
                  <a:ea typeface="Calibri (MS) Bold"/>
                  <a:cs typeface="Calibri (MS) Bold"/>
                  <a:sym typeface="Calibri (MS) Bold"/>
                </a:rPr>
                <a:t>Tujuan 3</a:t>
              </a:r>
            </a:p>
          </p:txBody>
        </p:sp>
      </p:grpSp>
      <p:sp>
        <p:nvSpPr>
          <p:cNvPr name="TextBox 11" id="11"/>
          <p:cNvSpPr txBox="true"/>
          <p:nvPr/>
        </p:nvSpPr>
        <p:spPr>
          <a:xfrm rot="0">
            <a:off x="2057400" y="4922520"/>
            <a:ext cx="14168628" cy="1249680"/>
          </a:xfrm>
          <a:prstGeom prst="rect">
            <a:avLst/>
          </a:prstGeom>
        </p:spPr>
        <p:txBody>
          <a:bodyPr anchor="t" rtlCol="false" tIns="0" lIns="0" bIns="0" rIns="0">
            <a:spAutoFit/>
          </a:bodyPr>
          <a:lstStyle/>
          <a:p>
            <a:pPr algn="ctr">
              <a:lnSpc>
                <a:spcPts val="3060"/>
              </a:lnSpc>
            </a:pPr>
            <a:r>
              <a:rPr lang="en-US" sz="2400">
                <a:solidFill>
                  <a:srgbClr val="FFFFFF"/>
                </a:solidFill>
                <a:latin typeface="Calibri (MS)"/>
                <a:ea typeface="Calibri (MS)"/>
                <a:cs typeface="Calibri (MS)"/>
                <a:sym typeface="Calibri (MS)"/>
              </a:rPr>
              <a:t>Membangun aplikasi berbasis web yang mengimplementasikan hasil pemodelan dan simulasi skenario kebijakan sebagai alat bantu analisis dan pengambilan keputusan.</a:t>
            </a:r>
          </a:p>
        </p:txBody>
      </p:sp>
      <p:sp>
        <p:nvSpPr>
          <p:cNvPr name="TextBox 12" id="12"/>
          <p:cNvSpPr txBox="true"/>
          <p:nvPr/>
        </p:nvSpPr>
        <p:spPr>
          <a:xfrm rot="0">
            <a:off x="822960" y="6236970"/>
            <a:ext cx="16637508" cy="758190"/>
          </a:xfrm>
          <a:prstGeom prst="rect">
            <a:avLst/>
          </a:prstGeom>
        </p:spPr>
        <p:txBody>
          <a:bodyPr anchor="t" rtlCol="false" tIns="0" lIns="0" bIns="0" rIns="0">
            <a:spAutoFit/>
          </a:bodyPr>
          <a:lstStyle/>
          <a:p>
            <a:pPr algn="ctr">
              <a:lnSpc>
                <a:spcPts val="2700"/>
              </a:lnSpc>
            </a:pPr>
            <a:r>
              <a:rPr lang="en-US" sz="1800" b="true">
                <a:solidFill>
                  <a:srgbClr val="FFFFFF"/>
                </a:solidFill>
                <a:latin typeface="Calibri (MS) Bold"/>
                <a:ea typeface="Calibri (MS) Bold"/>
                <a:cs typeface="Calibri (MS) Bold"/>
                <a:sym typeface="Calibri (MS) Bold"/>
              </a:rPr>
              <a:t>Alasan &amp; kebutuhan  →  Arsitektur  →  Fitur  →  Uji fungsional  →  Usability (SUS)</a:t>
            </a:r>
          </a:p>
        </p:txBody>
      </p:sp>
      <p:grpSp>
        <p:nvGrpSpPr>
          <p:cNvPr name="Group 13" id="13"/>
          <p:cNvGrpSpPr/>
          <p:nvPr/>
        </p:nvGrpSpPr>
        <p:grpSpPr>
          <a:xfrm rot="0">
            <a:off x="16962120" y="9555480"/>
            <a:ext cx="420624" cy="420624"/>
            <a:chOff x="0" y="0"/>
            <a:chExt cx="560832" cy="560832"/>
          </a:xfrm>
        </p:grpSpPr>
        <p:sp>
          <p:nvSpPr>
            <p:cNvPr name="Freeform 14" id="14"/>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5" id="15"/>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Implementasi Aplikasi Berbasis Web</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Alasan pembuatan aplikasi dan kebutuhan pengguna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66</a:t>
            </a:r>
          </a:p>
        </p:txBody>
      </p:sp>
      <p:grpSp>
        <p:nvGrpSpPr>
          <p:cNvPr name="Group 67" id="67"/>
          <p:cNvGrpSpPr/>
          <p:nvPr/>
        </p:nvGrpSpPr>
        <p:grpSpPr>
          <a:xfrm rot="0">
            <a:off x="816607" y="2279647"/>
            <a:ext cx="7876537" cy="2390137"/>
            <a:chOff x="0" y="0"/>
            <a:chExt cx="10502049" cy="3186849"/>
          </a:xfrm>
        </p:grpSpPr>
        <p:sp>
          <p:nvSpPr>
            <p:cNvPr name="Freeform 68" id="68"/>
            <p:cNvSpPr/>
            <p:nvPr/>
          </p:nvSpPr>
          <p:spPr>
            <a:xfrm flipH="false" flipV="false" rot="0">
              <a:off x="0" y="0"/>
              <a:ext cx="10502011" cy="3186811"/>
            </a:xfrm>
            <a:custGeom>
              <a:avLst/>
              <a:gdLst/>
              <a:ahLst/>
              <a:cxnLst/>
              <a:rect r="r" b="b" t="t" l="l"/>
              <a:pathLst>
                <a:path h="3186811" w="10502011">
                  <a:moveTo>
                    <a:pt x="0" y="254889"/>
                  </a:moveTo>
                  <a:cubicBezTo>
                    <a:pt x="0" y="114173"/>
                    <a:pt x="114173" y="0"/>
                    <a:pt x="254889" y="0"/>
                  </a:cubicBezTo>
                  <a:lnTo>
                    <a:pt x="10247122" y="0"/>
                  </a:lnTo>
                  <a:cubicBezTo>
                    <a:pt x="10387965" y="0"/>
                    <a:pt x="10502011" y="114173"/>
                    <a:pt x="10502011" y="254889"/>
                  </a:cubicBezTo>
                  <a:lnTo>
                    <a:pt x="10502011" y="2931922"/>
                  </a:lnTo>
                  <a:cubicBezTo>
                    <a:pt x="10502011" y="3072765"/>
                    <a:pt x="10387838" y="3186811"/>
                    <a:pt x="10247122" y="3186811"/>
                  </a:cubicBezTo>
                  <a:lnTo>
                    <a:pt x="254889" y="3186811"/>
                  </a:lnTo>
                  <a:cubicBezTo>
                    <a:pt x="114173" y="3186811"/>
                    <a:pt x="0" y="3072765"/>
                    <a:pt x="0" y="2931922"/>
                  </a:cubicBezTo>
                  <a:close/>
                </a:path>
              </a:pathLst>
            </a:custGeom>
            <a:solidFill>
              <a:srgbClr val="EAF8FA"/>
            </a:solidFill>
            <a:ln w="12700" cap="sq">
              <a:solidFill>
                <a:srgbClr val="CFE5E9"/>
              </a:solidFill>
              <a:prstDash val="solid"/>
              <a:miter/>
            </a:ln>
          </p:spPr>
          <p:txBody>
            <a:bodyPr/>
            <a:p/>
          </p:txBody>
        </p:sp>
        <p:sp>
          <p:nvSpPr>
            <p:cNvPr name="TextBox 69" id="69"/>
            <p:cNvSpPr txBox="true"/>
            <p:nvPr/>
          </p:nvSpPr>
          <p:spPr>
            <a:xfrm>
              <a:off x="0" y="-47625"/>
              <a:ext cx="10502049" cy="3234474"/>
            </a:xfrm>
            <a:prstGeom prst="rect">
              <a:avLst/>
            </a:prstGeom>
          </p:spPr>
          <p:txBody>
            <a:bodyPr anchor="t" rtlCol="false" tIns="50800" lIns="50800" bIns="50800" rIns="50800"/>
            <a:lstStyle/>
            <a:p>
              <a:pPr algn="l">
                <a:lnSpc>
                  <a:spcPts val="2340"/>
                </a:lnSpc>
              </a:pPr>
              <a:r>
                <a:rPr lang="en-US" sz="1950" b="true">
                  <a:solidFill>
                    <a:srgbClr val="E4604F"/>
                  </a:solidFill>
                  <a:latin typeface="Calibri (MS) Bold"/>
                  <a:ea typeface="Calibri (MS) Bold"/>
                  <a:cs typeface="Calibri (MS) Bold"/>
                  <a:sym typeface="Calibri (MS) Bold"/>
                </a:rPr>
                <a:t>Masalah</a:t>
              </a:r>
            </a:p>
            <a:p>
              <a:pPr algn="l">
                <a:lnSpc>
                  <a:spcPts val="2063"/>
                </a:lnSpc>
              </a:pPr>
              <a:r>
                <a:rPr lang="en-US" sz="1719">
                  <a:solidFill>
                    <a:srgbClr val="14313B"/>
                  </a:solidFill>
                  <a:latin typeface="Calibri (MS)"/>
                  <a:ea typeface="Calibri (MS)"/>
                  <a:cs typeface="Calibri (MS)"/>
                  <a:sym typeface="Calibri (MS)"/>
                </a:rPr>
                <a:t>Hasil model biasanya berhenti di grafik statis dan laporan; menjalankan model butuh Vensim dan keahlian pemodelan, sehingga sulit dipakai pemangku kepentingan non-teknis.</a:t>
              </a:r>
            </a:p>
          </p:txBody>
        </p:sp>
      </p:grpSp>
      <p:grpSp>
        <p:nvGrpSpPr>
          <p:cNvPr name="Group 70" id="70"/>
          <p:cNvGrpSpPr/>
          <p:nvPr/>
        </p:nvGrpSpPr>
        <p:grpSpPr>
          <a:xfrm rot="0">
            <a:off x="816607" y="4839967"/>
            <a:ext cx="7876537" cy="2435857"/>
            <a:chOff x="0" y="0"/>
            <a:chExt cx="10502049" cy="3247809"/>
          </a:xfrm>
        </p:grpSpPr>
        <p:sp>
          <p:nvSpPr>
            <p:cNvPr name="Freeform 71" id="71"/>
            <p:cNvSpPr/>
            <p:nvPr/>
          </p:nvSpPr>
          <p:spPr>
            <a:xfrm flipH="false" flipV="false" rot="0">
              <a:off x="0" y="0"/>
              <a:ext cx="10502011" cy="3247771"/>
            </a:xfrm>
            <a:custGeom>
              <a:avLst/>
              <a:gdLst/>
              <a:ahLst/>
              <a:cxnLst/>
              <a:rect r="r" b="b" t="t" l="l"/>
              <a:pathLst>
                <a:path h="3247771" w="10502011">
                  <a:moveTo>
                    <a:pt x="0" y="259842"/>
                  </a:moveTo>
                  <a:cubicBezTo>
                    <a:pt x="0" y="116332"/>
                    <a:pt x="116332" y="0"/>
                    <a:pt x="259842" y="0"/>
                  </a:cubicBezTo>
                  <a:lnTo>
                    <a:pt x="10242169" y="0"/>
                  </a:lnTo>
                  <a:cubicBezTo>
                    <a:pt x="10385678" y="0"/>
                    <a:pt x="10502011" y="116332"/>
                    <a:pt x="10502011" y="259842"/>
                  </a:cubicBezTo>
                  <a:lnTo>
                    <a:pt x="10502011" y="2987929"/>
                  </a:lnTo>
                  <a:cubicBezTo>
                    <a:pt x="10502011" y="3131439"/>
                    <a:pt x="10385678" y="3247771"/>
                    <a:pt x="10242169" y="3247771"/>
                  </a:cubicBezTo>
                  <a:lnTo>
                    <a:pt x="259842" y="3247771"/>
                  </a:lnTo>
                  <a:cubicBezTo>
                    <a:pt x="116332" y="3247771"/>
                    <a:pt x="0" y="3131439"/>
                    <a:pt x="0" y="2987929"/>
                  </a:cubicBezTo>
                  <a:close/>
                </a:path>
              </a:pathLst>
            </a:custGeom>
            <a:solidFill>
              <a:srgbClr val="EAF8FA"/>
            </a:solidFill>
            <a:ln w="12700" cap="sq">
              <a:solidFill>
                <a:srgbClr val="CFE5E9"/>
              </a:solidFill>
              <a:prstDash val="solid"/>
              <a:miter/>
            </a:ln>
          </p:spPr>
          <p:txBody>
            <a:bodyPr/>
            <a:p/>
          </p:txBody>
        </p:sp>
        <p:sp>
          <p:nvSpPr>
            <p:cNvPr name="TextBox 72" id="72"/>
            <p:cNvSpPr txBox="true"/>
            <p:nvPr/>
          </p:nvSpPr>
          <p:spPr>
            <a:xfrm>
              <a:off x="0" y="-47625"/>
              <a:ext cx="10502049" cy="3295434"/>
            </a:xfrm>
            <a:prstGeom prst="rect">
              <a:avLst/>
            </a:prstGeom>
          </p:spPr>
          <p:txBody>
            <a:bodyPr anchor="t" rtlCol="false" tIns="50800" lIns="50800" bIns="50800" rIns="50800"/>
            <a:lstStyle/>
            <a:p>
              <a:pPr algn="l">
                <a:lnSpc>
                  <a:spcPts val="2340"/>
                </a:lnSpc>
              </a:pPr>
              <a:r>
                <a:rPr lang="en-US" sz="1950" b="true">
                  <a:solidFill>
                    <a:srgbClr val="0B5E6E"/>
                  </a:solidFill>
                  <a:latin typeface="Calibri (MS) Bold"/>
                  <a:ea typeface="Calibri (MS) Bold"/>
                  <a:cs typeface="Calibri (MS) Bold"/>
                  <a:sym typeface="Calibri (MS) Bold"/>
                </a:rPr>
                <a:t>Prinsip rancangan</a:t>
              </a:r>
            </a:p>
            <a:p>
              <a:pPr algn="l">
                <a:lnSpc>
                  <a:spcPts val="2063"/>
                </a:lnSpc>
              </a:pPr>
              <a:r>
                <a:rPr lang="en-US" sz="1719">
                  <a:solidFill>
                    <a:srgbClr val="14313B"/>
                  </a:solidFill>
                  <a:latin typeface="Calibri (MS)"/>
                  <a:ea typeface="Calibri (MS)"/>
                  <a:cs typeface="Calibri (MS)"/>
                  <a:sym typeface="Calibri (MS)"/>
                </a:rPr>
                <a:t>Model sistem dinamis tetap menjadi sumber logika perhitungan; antarmuka hanya lapisan interaksi (menerima masukan, meneruskan ke model, menampilkan keluaran). Konsep decision support system (Power, 2002).</a:t>
              </a:r>
            </a:p>
          </p:txBody>
        </p:sp>
      </p:grpSp>
      <p:graphicFrame>
        <p:nvGraphicFramePr>
          <p:cNvPr name="Table 73" id="73"/>
          <p:cNvGraphicFramePr>
            <a:graphicFrameLocks noGrp="true"/>
          </p:cNvGraphicFramePr>
          <p:nvPr/>
        </p:nvGraphicFramePr>
        <p:xfrm>
          <a:off x="9052560" y="2286000"/>
          <a:ext cx="8394700" cy="4876800"/>
        </p:xfrm>
        <a:graphic>
          <a:graphicData uri="http://schemas.openxmlformats.org/drawingml/2006/table">
            <a:tbl>
              <a:tblPr/>
              <a:tblGrid>
                <a:gridCol w="4014857"/>
                <a:gridCol w="4379843"/>
              </a:tblGrid>
              <a:tr h="812800">
                <a:tc>
                  <a:txBody>
                    <a:bodyPr anchor="t" rtlCol="false"/>
                    <a:lstStyle/>
                    <a:p>
                      <a:pPr algn="l">
                        <a:lnSpc>
                          <a:spcPts val="1860"/>
                        </a:lnSpc>
                        <a:defRPr/>
                      </a:pPr>
                      <a:r>
                        <a:rPr lang="en-US" sz="1550" b="true">
                          <a:solidFill>
                            <a:srgbClr val="FFFFFF"/>
                          </a:solidFill>
                          <a:latin typeface="Calibri (MS) Bold"/>
                          <a:ea typeface="Calibri (MS) Bold"/>
                          <a:cs typeface="Calibri (MS) Bold"/>
                          <a:sym typeface="Calibri (MS) Bold"/>
                        </a:rPr>
                        <a:t>Kebutuhan pengguna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860"/>
                        </a:lnSpc>
                        <a:defRPr/>
                      </a:pPr>
                      <a:r>
                        <a:rPr lang="en-US" sz="1550" b="true">
                          <a:solidFill>
                            <a:srgbClr val="FFFFFF"/>
                          </a:solidFill>
                          <a:latin typeface="Calibri (MS) Bold"/>
                          <a:ea typeface="Calibri (MS) Bold"/>
                          <a:cs typeface="Calibri (MS) Bold"/>
                          <a:sym typeface="Calibri (MS) Bold"/>
                        </a:rPr>
                        <a:t>Fitur yang menjawab</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812800">
                <a:tc>
                  <a:txBody>
                    <a:bodyPr anchor="t" rtlCol="false"/>
                    <a:lstStyle/>
                    <a:p>
                      <a:pPr algn="l">
                        <a:lnSpc>
                          <a:spcPts val="1860"/>
                        </a:lnSpc>
                        <a:defRPr/>
                      </a:pPr>
                      <a:r>
                        <a:rPr lang="en-US" sz="1550">
                          <a:solidFill>
                            <a:srgbClr val="14313B"/>
                          </a:solidFill>
                          <a:latin typeface="Calibri (MS)"/>
                          <a:ea typeface="Calibri (MS)"/>
                          <a:cs typeface="Calibri (MS)"/>
                          <a:sym typeface="Calibri (MS)"/>
                        </a:rPr>
                        <a:t>Memahami dasar model dan keabsahannya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Halaman Model: struktur &amp; evaluasi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812800">
                <a:tc>
                  <a:txBody>
                    <a:bodyPr anchor="t" rtlCol="false"/>
                    <a:lstStyle/>
                    <a:p>
                      <a:pPr algn="l">
                        <a:lnSpc>
                          <a:spcPts val="1860"/>
                        </a:lnSpc>
                        <a:defRPr/>
                      </a:pPr>
                      <a:r>
                        <a:rPr lang="en-US" sz="1550">
                          <a:solidFill>
                            <a:srgbClr val="14313B"/>
                          </a:solidFill>
                          <a:latin typeface="Calibri (MS)"/>
                          <a:ea typeface="Calibri (MS)"/>
                          <a:cs typeface="Calibri (MS)"/>
                          <a:sym typeface="Calibri (MS)"/>
                        </a:rPr>
                        <a:t>Membandingkan pilihan kebijakan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Halaman Skenario: BAU, Sustainable, DP + bandingkan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812800">
                <a:tc>
                  <a:txBody>
                    <a:bodyPr anchor="t" rtlCol="false"/>
                    <a:lstStyle/>
                    <a:p>
                      <a:pPr algn="l">
                        <a:lnSpc>
                          <a:spcPts val="1860"/>
                        </a:lnSpc>
                        <a:defRPr/>
                      </a:pPr>
                      <a:r>
                        <a:rPr lang="en-US" sz="1550">
                          <a:solidFill>
                            <a:srgbClr val="14313B"/>
                          </a:solidFill>
                          <a:latin typeface="Calibri (MS)"/>
                          <a:ea typeface="Calibri (MS)"/>
                          <a:cs typeface="Calibri (MS)"/>
                          <a:sym typeface="Calibri (MS)"/>
                        </a:rPr>
                        <a:t>Mencoba nilai kebijakan sendiri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Halaman Simulasi: atur 2 variabel kebijakan, pilih variabel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812800">
                <a:tc>
                  <a:txBody>
                    <a:bodyPr anchor="t" rtlCol="false"/>
                    <a:lstStyle/>
                    <a:p>
                      <a:pPr algn="l">
                        <a:lnSpc>
                          <a:spcPts val="1860"/>
                        </a:lnSpc>
                        <a:defRPr/>
                      </a:pPr>
                      <a:r>
                        <a:rPr lang="en-US" sz="1550">
                          <a:solidFill>
                            <a:srgbClr val="14313B"/>
                          </a:solidFill>
                          <a:latin typeface="Calibri (MS)"/>
                          <a:ea typeface="Calibri (MS)"/>
                          <a:cs typeface="Calibri (MS)"/>
                          <a:sym typeface="Calibri (MS)"/>
                        </a:rPr>
                        <a:t>Akses tanpa instalasi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Aplikasi web (Vercel), model berjalan di peramban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812800">
                <a:tc>
                  <a:txBody>
                    <a:bodyPr anchor="t" rtlCol="false"/>
                    <a:lstStyle/>
                    <a:p>
                      <a:pPr algn="l">
                        <a:lnSpc>
                          <a:spcPts val="1860"/>
                        </a:lnSpc>
                        <a:defRPr/>
                      </a:pPr>
                      <a:r>
                        <a:rPr lang="en-US" sz="1550">
                          <a:solidFill>
                            <a:srgbClr val="14313B"/>
                          </a:solidFill>
                          <a:latin typeface="Calibri (MS)"/>
                          <a:ea typeface="Calibri (MS)"/>
                          <a:cs typeface="Calibri (MS)"/>
                          <a:sym typeface="Calibri (MS)"/>
                        </a:rPr>
                        <a:t>Evaluasi kualitas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Black-box (ISO/IEC 25010) + SUS (ISO 9241-11)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grpSp>
        <p:nvGrpSpPr>
          <p:cNvPr name="Group 74" id="74"/>
          <p:cNvGrpSpPr/>
          <p:nvPr/>
        </p:nvGrpSpPr>
        <p:grpSpPr>
          <a:xfrm rot="0">
            <a:off x="816607" y="7491727"/>
            <a:ext cx="16654777" cy="835657"/>
            <a:chOff x="0" y="0"/>
            <a:chExt cx="22206369" cy="1114209"/>
          </a:xfrm>
        </p:grpSpPr>
        <p:sp>
          <p:nvSpPr>
            <p:cNvPr name="Freeform 75" id="75"/>
            <p:cNvSpPr/>
            <p:nvPr/>
          </p:nvSpPr>
          <p:spPr>
            <a:xfrm flipH="false" flipV="false" rot="0">
              <a:off x="0" y="0"/>
              <a:ext cx="22206458" cy="1114298"/>
            </a:xfrm>
            <a:custGeom>
              <a:avLst/>
              <a:gdLst/>
              <a:ahLst/>
              <a:cxnLst/>
              <a:rect r="r" b="b" t="t" l="l"/>
              <a:pathLst>
                <a:path h="1114298" w="22206458">
                  <a:moveTo>
                    <a:pt x="0" y="89154"/>
                  </a:moveTo>
                  <a:cubicBezTo>
                    <a:pt x="0" y="39878"/>
                    <a:pt x="39878" y="0"/>
                    <a:pt x="89154" y="0"/>
                  </a:cubicBezTo>
                  <a:lnTo>
                    <a:pt x="22117304" y="0"/>
                  </a:lnTo>
                  <a:cubicBezTo>
                    <a:pt x="22166580" y="0"/>
                    <a:pt x="22206458" y="39878"/>
                    <a:pt x="22206458" y="89154"/>
                  </a:cubicBezTo>
                  <a:lnTo>
                    <a:pt x="22206458" y="1025144"/>
                  </a:lnTo>
                  <a:cubicBezTo>
                    <a:pt x="22206458" y="1074420"/>
                    <a:pt x="22166580" y="1114298"/>
                    <a:pt x="22117304" y="1114298"/>
                  </a:cubicBezTo>
                  <a:lnTo>
                    <a:pt x="89154" y="1114298"/>
                  </a:lnTo>
                  <a:cubicBezTo>
                    <a:pt x="39878" y="1114171"/>
                    <a:pt x="0" y="1074293"/>
                    <a:pt x="0" y="1025017"/>
                  </a:cubicBezTo>
                  <a:close/>
                </a:path>
              </a:pathLst>
            </a:custGeom>
            <a:solidFill>
              <a:srgbClr val="FFF1BF"/>
            </a:solidFill>
            <a:ln w="12700" cap="sq">
              <a:solidFill>
                <a:srgbClr val="FFD23B"/>
              </a:solidFill>
              <a:prstDash val="solid"/>
              <a:miter/>
            </a:ln>
          </p:spPr>
          <p:txBody>
            <a:bodyPr/>
            <a:p/>
          </p:txBody>
        </p:sp>
        <p:sp>
          <p:nvSpPr>
            <p:cNvPr name="TextBox 76" id="76"/>
            <p:cNvSpPr txBox="true"/>
            <p:nvPr/>
          </p:nvSpPr>
          <p:spPr>
            <a:xfrm>
              <a:off x="0" y="-38100"/>
              <a:ext cx="22206369" cy="115230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Aplikasi menjembatani model ilmiah dengan kebutuhan Pemda DIY, Dinas Pariwisata, dan pemangku kepentingan tanpa keahlian pemodelan.</a:t>
              </a:r>
            </a:p>
          </p:txBody>
        </p:sp>
      </p:grpSp>
      <p:grpSp>
        <p:nvGrpSpPr>
          <p:cNvPr name="Group 77" id="77"/>
          <p:cNvGrpSpPr/>
          <p:nvPr/>
        </p:nvGrpSpPr>
        <p:grpSpPr>
          <a:xfrm rot="0">
            <a:off x="16047720" y="9646920"/>
            <a:ext cx="420624" cy="420624"/>
            <a:chOff x="0" y="0"/>
            <a:chExt cx="560832" cy="560832"/>
          </a:xfrm>
        </p:grpSpPr>
        <p:sp>
          <p:nvSpPr>
            <p:cNvPr name="Freeform 78" id="78"/>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79" id="79"/>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Arsitektur dan Implementasi Aplikasi</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Model dapat dicoba langsung tanpa software pemodelan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6" id="66"/>
          <p:cNvGrpSpPr/>
          <p:nvPr/>
        </p:nvGrpSpPr>
        <p:grpSpPr>
          <a:xfrm rot="0">
            <a:off x="822960" y="2400300"/>
            <a:ext cx="2674620" cy="1783080"/>
            <a:chOff x="0" y="0"/>
            <a:chExt cx="3566160" cy="2377440"/>
          </a:xfrm>
        </p:grpSpPr>
        <p:sp>
          <p:nvSpPr>
            <p:cNvPr name="Freeform 67" id="67"/>
            <p:cNvSpPr/>
            <p:nvPr/>
          </p:nvSpPr>
          <p:spPr>
            <a:xfrm flipH="false" flipV="false" rot="0">
              <a:off x="0" y="0"/>
              <a:ext cx="3566160" cy="2377440"/>
            </a:xfrm>
            <a:custGeom>
              <a:avLst/>
              <a:gdLst/>
              <a:ahLst/>
              <a:cxnLst/>
              <a:rect r="r" b="b" t="t" l="l"/>
              <a:pathLst>
                <a:path h="2377440" w="3566160">
                  <a:moveTo>
                    <a:pt x="0" y="182880"/>
                  </a:moveTo>
                  <a:cubicBezTo>
                    <a:pt x="0" y="81915"/>
                    <a:pt x="81915" y="0"/>
                    <a:pt x="182880" y="0"/>
                  </a:cubicBezTo>
                  <a:lnTo>
                    <a:pt x="3383280" y="0"/>
                  </a:lnTo>
                  <a:cubicBezTo>
                    <a:pt x="3484245" y="0"/>
                    <a:pt x="3566160" y="81915"/>
                    <a:pt x="3566160" y="182880"/>
                  </a:cubicBezTo>
                  <a:lnTo>
                    <a:pt x="3566160" y="2194560"/>
                  </a:lnTo>
                  <a:cubicBezTo>
                    <a:pt x="3566160" y="2295525"/>
                    <a:pt x="3484245" y="2377440"/>
                    <a:pt x="3383280" y="2377440"/>
                  </a:cubicBezTo>
                  <a:lnTo>
                    <a:pt x="182880" y="2377440"/>
                  </a:lnTo>
                  <a:cubicBezTo>
                    <a:pt x="81915" y="2377440"/>
                    <a:pt x="0" y="2295525"/>
                    <a:pt x="0" y="2194560"/>
                  </a:cubicBezTo>
                  <a:close/>
                </a:path>
              </a:pathLst>
            </a:custGeom>
            <a:solidFill>
              <a:srgbClr val="EAF8FA"/>
            </a:solidFill>
          </p:spPr>
          <p:txBody>
            <a:bodyPr/>
            <a:p/>
          </p:txBody>
        </p:sp>
      </p:grpSp>
      <p:grpSp>
        <p:nvGrpSpPr>
          <p:cNvPr name="Group 68" id="68"/>
          <p:cNvGrpSpPr/>
          <p:nvPr/>
        </p:nvGrpSpPr>
        <p:grpSpPr>
          <a:xfrm rot="0">
            <a:off x="960120" y="2537460"/>
            <a:ext cx="2400300" cy="685800"/>
            <a:chOff x="0" y="0"/>
            <a:chExt cx="3200400" cy="914400"/>
          </a:xfrm>
        </p:grpSpPr>
        <p:sp>
          <p:nvSpPr>
            <p:cNvPr name="Freeform 69" id="69"/>
            <p:cNvSpPr/>
            <p:nvPr/>
          </p:nvSpPr>
          <p:spPr>
            <a:xfrm flipH="false" flipV="false" rot="0">
              <a:off x="0" y="0"/>
              <a:ext cx="3200400" cy="914400"/>
            </a:xfrm>
            <a:custGeom>
              <a:avLst/>
              <a:gdLst/>
              <a:ahLst/>
              <a:cxnLst/>
              <a:rect r="r" b="b" t="t" l="l"/>
              <a:pathLst>
                <a:path h="914400" w="3200400">
                  <a:moveTo>
                    <a:pt x="0" y="0"/>
                  </a:moveTo>
                  <a:lnTo>
                    <a:pt x="3200400" y="0"/>
                  </a:lnTo>
                  <a:lnTo>
                    <a:pt x="3200400" y="914400"/>
                  </a:lnTo>
                  <a:lnTo>
                    <a:pt x="0" y="914400"/>
                  </a:lnTo>
                  <a:close/>
                </a:path>
              </a:pathLst>
            </a:custGeom>
            <a:blipFill>
              <a:blip r:embed="rId4">
                <a:alphaModFix amt="0"/>
              </a:blip>
              <a:stretch>
                <a:fillRect l="0" t="-18150" r="0" b="-18149"/>
              </a:stretch>
            </a:blipFill>
          </p:spPr>
          <p:txBody>
            <a:bodyPr/>
            <a:p/>
          </p:txBody>
        </p:sp>
      </p:grpSp>
      <p:grpSp>
        <p:nvGrpSpPr>
          <p:cNvPr name="Group 70" id="70"/>
          <p:cNvGrpSpPr/>
          <p:nvPr/>
        </p:nvGrpSpPr>
        <p:grpSpPr>
          <a:xfrm rot="0">
            <a:off x="960120" y="2494598"/>
            <a:ext cx="2400300" cy="728662"/>
            <a:chOff x="0" y="0"/>
            <a:chExt cx="3200400" cy="971550"/>
          </a:xfrm>
        </p:grpSpPr>
        <p:sp>
          <p:nvSpPr>
            <p:cNvPr name="Freeform 71" id="71"/>
            <p:cNvSpPr/>
            <p:nvPr/>
          </p:nvSpPr>
          <p:spPr>
            <a:xfrm flipH="false" flipV="false" rot="0">
              <a:off x="0" y="0"/>
              <a:ext cx="3200400" cy="971550"/>
            </a:xfrm>
            <a:custGeom>
              <a:avLst/>
              <a:gdLst/>
              <a:ahLst/>
              <a:cxnLst/>
              <a:rect r="r" b="b" t="t" l="l"/>
              <a:pathLst>
                <a:path h="971550" w="3200400">
                  <a:moveTo>
                    <a:pt x="0" y="0"/>
                  </a:moveTo>
                  <a:lnTo>
                    <a:pt x="3200400" y="0"/>
                  </a:lnTo>
                  <a:lnTo>
                    <a:pt x="3200400" y="971550"/>
                  </a:lnTo>
                  <a:lnTo>
                    <a:pt x="0" y="971550"/>
                  </a:lnTo>
                  <a:close/>
                </a:path>
              </a:pathLst>
            </a:custGeom>
            <a:blipFill>
              <a:blip r:embed="rId5">
                <a:alphaModFix amt="0"/>
              </a:blip>
              <a:stretch>
                <a:fillRect l="0" t="-14141" r="0" b="-14141"/>
              </a:stretch>
            </a:blipFill>
          </p:spPr>
          <p:txBody>
            <a:bodyPr/>
            <a:p/>
          </p:txBody>
        </p:sp>
      </p:grpSp>
      <p:grpSp>
        <p:nvGrpSpPr>
          <p:cNvPr name="Group 72" id="72"/>
          <p:cNvGrpSpPr/>
          <p:nvPr/>
        </p:nvGrpSpPr>
        <p:grpSpPr>
          <a:xfrm rot="0">
            <a:off x="960120" y="2451735"/>
            <a:ext cx="2400300" cy="771525"/>
            <a:chOff x="0" y="0"/>
            <a:chExt cx="3200400" cy="1028700"/>
          </a:xfrm>
        </p:grpSpPr>
        <p:sp>
          <p:nvSpPr>
            <p:cNvPr name="Freeform 73" id="73"/>
            <p:cNvSpPr/>
            <p:nvPr/>
          </p:nvSpPr>
          <p:spPr>
            <a:xfrm flipH="false" flipV="false" rot="0">
              <a:off x="0" y="0"/>
              <a:ext cx="3200400" cy="1028699"/>
            </a:xfrm>
            <a:custGeom>
              <a:avLst/>
              <a:gdLst/>
              <a:ahLst/>
              <a:cxnLst/>
              <a:rect r="r" b="b" t="t" l="l"/>
              <a:pathLst>
                <a:path h="1028699" w="3200400">
                  <a:moveTo>
                    <a:pt x="0" y="0"/>
                  </a:moveTo>
                  <a:lnTo>
                    <a:pt x="3200400" y="0"/>
                  </a:lnTo>
                  <a:lnTo>
                    <a:pt x="3200400" y="1028699"/>
                  </a:lnTo>
                  <a:lnTo>
                    <a:pt x="0" y="1028699"/>
                  </a:lnTo>
                  <a:close/>
                </a:path>
              </a:pathLst>
            </a:custGeom>
            <a:blipFill>
              <a:blip r:embed="rId6">
                <a:alphaModFix amt="0"/>
              </a:blip>
              <a:stretch>
                <a:fillRect l="0" t="-10620" r="0" b="-10620"/>
              </a:stretch>
            </a:blipFill>
          </p:spPr>
          <p:txBody>
            <a:bodyPr/>
            <a:p/>
          </p:txBody>
        </p:sp>
        <p:sp>
          <p:nvSpPr>
            <p:cNvPr name="TextBox 74" id="74"/>
            <p:cNvSpPr txBox="true"/>
            <p:nvPr/>
          </p:nvSpPr>
          <p:spPr>
            <a:xfrm>
              <a:off x="0" y="-57150"/>
              <a:ext cx="3200400" cy="1085850"/>
            </a:xfrm>
            <a:prstGeom prst="rect">
              <a:avLst/>
            </a:prstGeom>
          </p:spPr>
          <p:txBody>
            <a:bodyPr anchor="ctr" rtlCol="false" tIns="0" lIns="0" bIns="0" rIns="0"/>
            <a:lstStyle/>
            <a:p>
              <a:pPr algn="ctr">
                <a:lnSpc>
                  <a:spcPts val="2700"/>
                </a:lnSpc>
              </a:pPr>
              <a:r>
                <a:rPr lang="en-US" sz="2250" b="true">
                  <a:solidFill>
                    <a:srgbClr val="0B5E6E"/>
                  </a:solidFill>
                  <a:latin typeface="Calibri (MS) Bold"/>
                  <a:ea typeface="Calibri (MS) Bold"/>
                  <a:cs typeface="Calibri (MS) Bold"/>
                  <a:sym typeface="Calibri (MS) Bold"/>
                </a:rPr>
                <a:t>Model Vensim</a:t>
              </a:r>
            </a:p>
          </p:txBody>
        </p:sp>
      </p:grpSp>
      <p:sp>
        <p:nvSpPr>
          <p:cNvPr name="AutoShape 75" id="75"/>
          <p:cNvSpPr/>
          <p:nvPr/>
        </p:nvSpPr>
        <p:spPr>
          <a:xfrm rot="181380">
            <a:off x="3488426" y="3258503"/>
            <a:ext cx="361217" cy="0"/>
          </a:xfrm>
          <a:prstGeom prst="line">
            <a:avLst/>
          </a:prstGeom>
          <a:ln cap="rnd" w="19050">
            <a:solidFill>
              <a:srgbClr val="39C0D3"/>
            </a:solidFill>
            <a:prstDash val="solid"/>
            <a:headEnd type="none" len="sm" w="sm"/>
            <a:tailEnd type="triangle" len="med" w="lg"/>
          </a:ln>
        </p:spPr>
        <p:txBody>
          <a:bodyPr/>
          <a:p/>
        </p:txBody>
      </p:sp>
      <p:grpSp>
        <p:nvGrpSpPr>
          <p:cNvPr name="Group 76" id="76"/>
          <p:cNvGrpSpPr/>
          <p:nvPr/>
        </p:nvGrpSpPr>
        <p:grpSpPr>
          <a:xfrm rot="0">
            <a:off x="3840480" y="2400300"/>
            <a:ext cx="2674620" cy="1783080"/>
            <a:chOff x="0" y="0"/>
            <a:chExt cx="3566160" cy="2377440"/>
          </a:xfrm>
        </p:grpSpPr>
        <p:sp>
          <p:nvSpPr>
            <p:cNvPr name="Freeform 77" id="77"/>
            <p:cNvSpPr/>
            <p:nvPr/>
          </p:nvSpPr>
          <p:spPr>
            <a:xfrm flipH="false" flipV="false" rot="0">
              <a:off x="0" y="0"/>
              <a:ext cx="3566160" cy="2377440"/>
            </a:xfrm>
            <a:custGeom>
              <a:avLst/>
              <a:gdLst/>
              <a:ahLst/>
              <a:cxnLst/>
              <a:rect r="r" b="b" t="t" l="l"/>
              <a:pathLst>
                <a:path h="2377440" w="3566160">
                  <a:moveTo>
                    <a:pt x="0" y="182880"/>
                  </a:moveTo>
                  <a:cubicBezTo>
                    <a:pt x="0" y="81915"/>
                    <a:pt x="81915" y="0"/>
                    <a:pt x="182880" y="0"/>
                  </a:cubicBezTo>
                  <a:lnTo>
                    <a:pt x="3383280" y="0"/>
                  </a:lnTo>
                  <a:cubicBezTo>
                    <a:pt x="3484245" y="0"/>
                    <a:pt x="3566160" y="81915"/>
                    <a:pt x="3566160" y="182880"/>
                  </a:cubicBezTo>
                  <a:lnTo>
                    <a:pt x="3566160" y="2194560"/>
                  </a:lnTo>
                  <a:cubicBezTo>
                    <a:pt x="3566160" y="2295525"/>
                    <a:pt x="3484245" y="2377440"/>
                    <a:pt x="3383280" y="2377440"/>
                  </a:cubicBezTo>
                  <a:lnTo>
                    <a:pt x="182880" y="2377440"/>
                  </a:lnTo>
                  <a:cubicBezTo>
                    <a:pt x="81915" y="2377440"/>
                    <a:pt x="0" y="2295525"/>
                    <a:pt x="0" y="2194560"/>
                  </a:cubicBezTo>
                  <a:close/>
                </a:path>
              </a:pathLst>
            </a:custGeom>
            <a:solidFill>
              <a:srgbClr val="EAF8FA"/>
            </a:solidFill>
          </p:spPr>
          <p:txBody>
            <a:bodyPr/>
            <a:p/>
          </p:txBody>
        </p:sp>
      </p:grpSp>
      <p:grpSp>
        <p:nvGrpSpPr>
          <p:cNvPr name="Group 78" id="78"/>
          <p:cNvGrpSpPr/>
          <p:nvPr/>
        </p:nvGrpSpPr>
        <p:grpSpPr>
          <a:xfrm rot="0">
            <a:off x="3977640" y="2537460"/>
            <a:ext cx="2400300" cy="685800"/>
            <a:chOff x="0" y="0"/>
            <a:chExt cx="3200400" cy="914400"/>
          </a:xfrm>
        </p:grpSpPr>
        <p:sp>
          <p:nvSpPr>
            <p:cNvPr name="Freeform 79" id="79"/>
            <p:cNvSpPr/>
            <p:nvPr/>
          </p:nvSpPr>
          <p:spPr>
            <a:xfrm flipH="false" flipV="false" rot="0">
              <a:off x="0" y="0"/>
              <a:ext cx="3200400" cy="914400"/>
            </a:xfrm>
            <a:custGeom>
              <a:avLst/>
              <a:gdLst/>
              <a:ahLst/>
              <a:cxnLst/>
              <a:rect r="r" b="b" t="t" l="l"/>
              <a:pathLst>
                <a:path h="914400" w="3200400">
                  <a:moveTo>
                    <a:pt x="0" y="0"/>
                  </a:moveTo>
                  <a:lnTo>
                    <a:pt x="3200400" y="0"/>
                  </a:lnTo>
                  <a:lnTo>
                    <a:pt x="3200400" y="914400"/>
                  </a:lnTo>
                  <a:lnTo>
                    <a:pt x="0" y="914400"/>
                  </a:lnTo>
                  <a:close/>
                </a:path>
              </a:pathLst>
            </a:custGeom>
            <a:blipFill>
              <a:blip r:embed="rId4">
                <a:alphaModFix amt="0"/>
              </a:blip>
              <a:stretch>
                <a:fillRect l="0" t="-18150" r="0" b="-18149"/>
              </a:stretch>
            </a:blipFill>
          </p:spPr>
          <p:txBody>
            <a:bodyPr/>
            <a:p/>
          </p:txBody>
        </p:sp>
      </p:grpSp>
      <p:grpSp>
        <p:nvGrpSpPr>
          <p:cNvPr name="Group 80" id="80"/>
          <p:cNvGrpSpPr/>
          <p:nvPr/>
        </p:nvGrpSpPr>
        <p:grpSpPr>
          <a:xfrm rot="0">
            <a:off x="3977640" y="2494598"/>
            <a:ext cx="2400300" cy="728662"/>
            <a:chOff x="0" y="0"/>
            <a:chExt cx="3200400" cy="971550"/>
          </a:xfrm>
        </p:grpSpPr>
        <p:sp>
          <p:nvSpPr>
            <p:cNvPr name="Freeform 81" id="81"/>
            <p:cNvSpPr/>
            <p:nvPr/>
          </p:nvSpPr>
          <p:spPr>
            <a:xfrm flipH="false" flipV="false" rot="0">
              <a:off x="0" y="0"/>
              <a:ext cx="3200400" cy="971550"/>
            </a:xfrm>
            <a:custGeom>
              <a:avLst/>
              <a:gdLst/>
              <a:ahLst/>
              <a:cxnLst/>
              <a:rect r="r" b="b" t="t" l="l"/>
              <a:pathLst>
                <a:path h="971550" w="3200400">
                  <a:moveTo>
                    <a:pt x="0" y="0"/>
                  </a:moveTo>
                  <a:lnTo>
                    <a:pt x="3200400" y="0"/>
                  </a:lnTo>
                  <a:lnTo>
                    <a:pt x="3200400" y="971550"/>
                  </a:lnTo>
                  <a:lnTo>
                    <a:pt x="0" y="971550"/>
                  </a:lnTo>
                  <a:close/>
                </a:path>
              </a:pathLst>
            </a:custGeom>
            <a:blipFill>
              <a:blip r:embed="rId5">
                <a:alphaModFix amt="0"/>
              </a:blip>
              <a:stretch>
                <a:fillRect l="0" t="-14141" r="0" b="-14141"/>
              </a:stretch>
            </a:blipFill>
          </p:spPr>
          <p:txBody>
            <a:bodyPr/>
            <a:p/>
          </p:txBody>
        </p:sp>
      </p:grpSp>
      <p:grpSp>
        <p:nvGrpSpPr>
          <p:cNvPr name="Group 82" id="82"/>
          <p:cNvGrpSpPr/>
          <p:nvPr/>
        </p:nvGrpSpPr>
        <p:grpSpPr>
          <a:xfrm rot="0">
            <a:off x="3977640" y="2451735"/>
            <a:ext cx="2400300" cy="771525"/>
            <a:chOff x="0" y="0"/>
            <a:chExt cx="3200400" cy="1028700"/>
          </a:xfrm>
        </p:grpSpPr>
        <p:sp>
          <p:nvSpPr>
            <p:cNvPr name="Freeform 83" id="83"/>
            <p:cNvSpPr/>
            <p:nvPr/>
          </p:nvSpPr>
          <p:spPr>
            <a:xfrm flipH="false" flipV="false" rot="0">
              <a:off x="0" y="0"/>
              <a:ext cx="3200400" cy="1028699"/>
            </a:xfrm>
            <a:custGeom>
              <a:avLst/>
              <a:gdLst/>
              <a:ahLst/>
              <a:cxnLst/>
              <a:rect r="r" b="b" t="t" l="l"/>
              <a:pathLst>
                <a:path h="1028699" w="3200400">
                  <a:moveTo>
                    <a:pt x="0" y="0"/>
                  </a:moveTo>
                  <a:lnTo>
                    <a:pt x="3200400" y="0"/>
                  </a:lnTo>
                  <a:lnTo>
                    <a:pt x="3200400" y="1028699"/>
                  </a:lnTo>
                  <a:lnTo>
                    <a:pt x="0" y="1028699"/>
                  </a:lnTo>
                  <a:close/>
                </a:path>
              </a:pathLst>
            </a:custGeom>
            <a:blipFill>
              <a:blip r:embed="rId6">
                <a:alphaModFix amt="0"/>
              </a:blip>
              <a:stretch>
                <a:fillRect l="0" t="-10620" r="0" b="-10620"/>
              </a:stretch>
            </a:blipFill>
          </p:spPr>
          <p:txBody>
            <a:bodyPr/>
            <a:p/>
          </p:txBody>
        </p:sp>
        <p:sp>
          <p:nvSpPr>
            <p:cNvPr name="TextBox 84" id="84"/>
            <p:cNvSpPr txBox="true"/>
            <p:nvPr/>
          </p:nvSpPr>
          <p:spPr>
            <a:xfrm>
              <a:off x="0" y="-57150"/>
              <a:ext cx="3200400" cy="1085850"/>
            </a:xfrm>
            <a:prstGeom prst="rect">
              <a:avLst/>
            </a:prstGeom>
          </p:spPr>
          <p:txBody>
            <a:bodyPr anchor="ctr" rtlCol="false" tIns="0" lIns="0" bIns="0" rIns="0"/>
            <a:lstStyle/>
            <a:p>
              <a:pPr algn="ctr">
                <a:lnSpc>
                  <a:spcPts val="2700"/>
                </a:lnSpc>
              </a:pPr>
              <a:r>
                <a:rPr lang="en-US" sz="2250" b="true">
                  <a:solidFill>
                    <a:srgbClr val="0B5E6E"/>
                  </a:solidFill>
                  <a:latin typeface="Calibri (MS) Bold"/>
                  <a:ea typeface="Calibri (MS) Bold"/>
                  <a:cs typeface="Calibri (MS) Bold"/>
                  <a:sym typeface="Calibri (MS) Bold"/>
                </a:rPr>
                <a:t>SDEverywhere</a:t>
              </a:r>
            </a:p>
          </p:txBody>
        </p:sp>
      </p:grpSp>
      <p:sp>
        <p:nvSpPr>
          <p:cNvPr name="TextBox 85" id="85"/>
          <p:cNvSpPr txBox="true"/>
          <p:nvPr/>
        </p:nvSpPr>
        <p:spPr>
          <a:xfrm rot="0">
            <a:off x="3977640" y="3137535"/>
            <a:ext cx="2400300" cy="977265"/>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konversi ke kode web</a:t>
            </a:r>
          </a:p>
        </p:txBody>
      </p:sp>
      <p:sp>
        <p:nvSpPr>
          <p:cNvPr name="AutoShape 86" id="86"/>
          <p:cNvSpPr/>
          <p:nvPr/>
        </p:nvSpPr>
        <p:spPr>
          <a:xfrm rot="181380">
            <a:off x="6505946" y="3258503"/>
            <a:ext cx="361217" cy="0"/>
          </a:xfrm>
          <a:prstGeom prst="line">
            <a:avLst/>
          </a:prstGeom>
          <a:ln cap="rnd" w="19050">
            <a:solidFill>
              <a:srgbClr val="39C0D3"/>
            </a:solidFill>
            <a:prstDash val="solid"/>
            <a:headEnd type="none" len="sm" w="sm"/>
            <a:tailEnd type="triangle" len="med" w="lg"/>
          </a:ln>
        </p:spPr>
        <p:txBody>
          <a:bodyPr/>
          <a:p/>
        </p:txBody>
      </p:sp>
      <p:grpSp>
        <p:nvGrpSpPr>
          <p:cNvPr name="Group 87" id="87"/>
          <p:cNvGrpSpPr/>
          <p:nvPr/>
        </p:nvGrpSpPr>
        <p:grpSpPr>
          <a:xfrm rot="0">
            <a:off x="6858000" y="2400300"/>
            <a:ext cx="2674620" cy="1783080"/>
            <a:chOff x="0" y="0"/>
            <a:chExt cx="3566160" cy="2377440"/>
          </a:xfrm>
        </p:grpSpPr>
        <p:sp>
          <p:nvSpPr>
            <p:cNvPr name="Freeform 88" id="88"/>
            <p:cNvSpPr/>
            <p:nvPr/>
          </p:nvSpPr>
          <p:spPr>
            <a:xfrm flipH="false" flipV="false" rot="0">
              <a:off x="0" y="0"/>
              <a:ext cx="3566160" cy="2377440"/>
            </a:xfrm>
            <a:custGeom>
              <a:avLst/>
              <a:gdLst/>
              <a:ahLst/>
              <a:cxnLst/>
              <a:rect r="r" b="b" t="t" l="l"/>
              <a:pathLst>
                <a:path h="2377440" w="3566160">
                  <a:moveTo>
                    <a:pt x="0" y="182880"/>
                  </a:moveTo>
                  <a:cubicBezTo>
                    <a:pt x="0" y="81915"/>
                    <a:pt x="81915" y="0"/>
                    <a:pt x="182880" y="0"/>
                  </a:cubicBezTo>
                  <a:lnTo>
                    <a:pt x="3383280" y="0"/>
                  </a:lnTo>
                  <a:cubicBezTo>
                    <a:pt x="3484245" y="0"/>
                    <a:pt x="3566160" y="81915"/>
                    <a:pt x="3566160" y="182880"/>
                  </a:cubicBezTo>
                  <a:lnTo>
                    <a:pt x="3566160" y="2194560"/>
                  </a:lnTo>
                  <a:cubicBezTo>
                    <a:pt x="3566160" y="2295525"/>
                    <a:pt x="3484245" y="2377440"/>
                    <a:pt x="3383280" y="2377440"/>
                  </a:cubicBezTo>
                  <a:lnTo>
                    <a:pt x="182880" y="2377440"/>
                  </a:lnTo>
                  <a:cubicBezTo>
                    <a:pt x="81915" y="2377440"/>
                    <a:pt x="0" y="2295525"/>
                    <a:pt x="0" y="2194560"/>
                  </a:cubicBezTo>
                  <a:close/>
                </a:path>
              </a:pathLst>
            </a:custGeom>
            <a:solidFill>
              <a:srgbClr val="0B5E6E"/>
            </a:solidFill>
          </p:spPr>
          <p:txBody>
            <a:bodyPr/>
            <a:p/>
          </p:txBody>
        </p:sp>
      </p:grpSp>
      <p:grpSp>
        <p:nvGrpSpPr>
          <p:cNvPr name="Group 89" id="89"/>
          <p:cNvGrpSpPr/>
          <p:nvPr/>
        </p:nvGrpSpPr>
        <p:grpSpPr>
          <a:xfrm rot="0">
            <a:off x="6995160" y="2537460"/>
            <a:ext cx="2400300" cy="685800"/>
            <a:chOff x="0" y="0"/>
            <a:chExt cx="3200400" cy="914400"/>
          </a:xfrm>
        </p:grpSpPr>
        <p:sp>
          <p:nvSpPr>
            <p:cNvPr name="Freeform 90" id="90"/>
            <p:cNvSpPr/>
            <p:nvPr/>
          </p:nvSpPr>
          <p:spPr>
            <a:xfrm flipH="false" flipV="false" rot="0">
              <a:off x="0" y="0"/>
              <a:ext cx="3200400" cy="914400"/>
            </a:xfrm>
            <a:custGeom>
              <a:avLst/>
              <a:gdLst/>
              <a:ahLst/>
              <a:cxnLst/>
              <a:rect r="r" b="b" t="t" l="l"/>
              <a:pathLst>
                <a:path h="914400" w="3200400">
                  <a:moveTo>
                    <a:pt x="0" y="0"/>
                  </a:moveTo>
                  <a:lnTo>
                    <a:pt x="3200400" y="0"/>
                  </a:lnTo>
                  <a:lnTo>
                    <a:pt x="3200400" y="914400"/>
                  </a:lnTo>
                  <a:lnTo>
                    <a:pt x="0" y="914400"/>
                  </a:lnTo>
                  <a:close/>
                </a:path>
              </a:pathLst>
            </a:custGeom>
            <a:blipFill>
              <a:blip r:embed="rId4">
                <a:alphaModFix amt="0"/>
              </a:blip>
              <a:stretch>
                <a:fillRect l="0" t="-18150" r="0" b="-18149"/>
              </a:stretch>
            </a:blipFill>
          </p:spPr>
          <p:txBody>
            <a:bodyPr/>
            <a:p/>
          </p:txBody>
        </p:sp>
      </p:grpSp>
      <p:grpSp>
        <p:nvGrpSpPr>
          <p:cNvPr name="Group 91" id="91"/>
          <p:cNvGrpSpPr/>
          <p:nvPr/>
        </p:nvGrpSpPr>
        <p:grpSpPr>
          <a:xfrm rot="0">
            <a:off x="6995160" y="2494598"/>
            <a:ext cx="2400300" cy="728662"/>
            <a:chOff x="0" y="0"/>
            <a:chExt cx="3200400" cy="971550"/>
          </a:xfrm>
        </p:grpSpPr>
        <p:sp>
          <p:nvSpPr>
            <p:cNvPr name="Freeform 92" id="92"/>
            <p:cNvSpPr/>
            <p:nvPr/>
          </p:nvSpPr>
          <p:spPr>
            <a:xfrm flipH="false" flipV="false" rot="0">
              <a:off x="0" y="0"/>
              <a:ext cx="3200400" cy="971550"/>
            </a:xfrm>
            <a:custGeom>
              <a:avLst/>
              <a:gdLst/>
              <a:ahLst/>
              <a:cxnLst/>
              <a:rect r="r" b="b" t="t" l="l"/>
              <a:pathLst>
                <a:path h="971550" w="3200400">
                  <a:moveTo>
                    <a:pt x="0" y="0"/>
                  </a:moveTo>
                  <a:lnTo>
                    <a:pt x="3200400" y="0"/>
                  </a:lnTo>
                  <a:lnTo>
                    <a:pt x="3200400" y="971550"/>
                  </a:lnTo>
                  <a:lnTo>
                    <a:pt x="0" y="971550"/>
                  </a:lnTo>
                  <a:close/>
                </a:path>
              </a:pathLst>
            </a:custGeom>
            <a:blipFill>
              <a:blip r:embed="rId5">
                <a:alphaModFix amt="0"/>
              </a:blip>
              <a:stretch>
                <a:fillRect l="0" t="-14141" r="0" b="-14141"/>
              </a:stretch>
            </a:blipFill>
          </p:spPr>
          <p:txBody>
            <a:bodyPr/>
            <a:p/>
          </p:txBody>
        </p:sp>
      </p:grpSp>
      <p:grpSp>
        <p:nvGrpSpPr>
          <p:cNvPr name="Group 93" id="93"/>
          <p:cNvGrpSpPr/>
          <p:nvPr/>
        </p:nvGrpSpPr>
        <p:grpSpPr>
          <a:xfrm rot="0">
            <a:off x="6995160" y="2451735"/>
            <a:ext cx="2400300" cy="771525"/>
            <a:chOff x="0" y="0"/>
            <a:chExt cx="3200400" cy="1028700"/>
          </a:xfrm>
        </p:grpSpPr>
        <p:sp>
          <p:nvSpPr>
            <p:cNvPr name="Freeform 94" id="94"/>
            <p:cNvSpPr/>
            <p:nvPr/>
          </p:nvSpPr>
          <p:spPr>
            <a:xfrm flipH="false" flipV="false" rot="0">
              <a:off x="0" y="0"/>
              <a:ext cx="3200400" cy="1028699"/>
            </a:xfrm>
            <a:custGeom>
              <a:avLst/>
              <a:gdLst/>
              <a:ahLst/>
              <a:cxnLst/>
              <a:rect r="r" b="b" t="t" l="l"/>
              <a:pathLst>
                <a:path h="1028699" w="3200400">
                  <a:moveTo>
                    <a:pt x="0" y="0"/>
                  </a:moveTo>
                  <a:lnTo>
                    <a:pt x="3200400" y="0"/>
                  </a:lnTo>
                  <a:lnTo>
                    <a:pt x="3200400" y="1028699"/>
                  </a:lnTo>
                  <a:lnTo>
                    <a:pt x="0" y="1028699"/>
                  </a:lnTo>
                  <a:close/>
                </a:path>
              </a:pathLst>
            </a:custGeom>
            <a:blipFill>
              <a:blip r:embed="rId6">
                <a:alphaModFix amt="0"/>
              </a:blip>
              <a:stretch>
                <a:fillRect l="0" t="-10620" r="0" b="-10620"/>
              </a:stretch>
            </a:blipFill>
          </p:spPr>
          <p:txBody>
            <a:bodyPr/>
            <a:p/>
          </p:txBody>
        </p:sp>
        <p:sp>
          <p:nvSpPr>
            <p:cNvPr name="TextBox 95" id="95"/>
            <p:cNvSpPr txBox="true"/>
            <p:nvPr/>
          </p:nvSpPr>
          <p:spPr>
            <a:xfrm>
              <a:off x="0" y="-57150"/>
              <a:ext cx="3200400" cy="108585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Aplikasi web</a:t>
              </a:r>
            </a:p>
          </p:txBody>
        </p:sp>
      </p:grpSp>
      <p:sp>
        <p:nvSpPr>
          <p:cNvPr name="TextBox 96" id="96"/>
          <p:cNvSpPr txBox="true"/>
          <p:nvPr/>
        </p:nvSpPr>
        <p:spPr>
          <a:xfrm rot="0">
            <a:off x="6995160" y="3137535"/>
            <a:ext cx="2400300" cy="523875"/>
          </a:xfrm>
          <a:prstGeom prst="rect">
            <a:avLst/>
          </a:prstGeom>
        </p:spPr>
        <p:txBody>
          <a:bodyPr anchor="t" rtlCol="false" tIns="0" lIns="0" bIns="0" rIns="0">
            <a:spAutoFit/>
          </a:bodyPr>
          <a:lstStyle/>
          <a:p>
            <a:pPr algn="ctr">
              <a:lnSpc>
                <a:spcPts val="1980"/>
              </a:lnSpc>
            </a:pPr>
            <a:r>
              <a:rPr lang="en-US" sz="1650">
                <a:solidFill>
                  <a:srgbClr val="6BE5EA"/>
                </a:solidFill>
                <a:latin typeface="Calibri (MS)"/>
                <a:ea typeface="Calibri (MS)"/>
                <a:cs typeface="Calibri (MS)"/>
                <a:sym typeface="Calibri (MS)"/>
              </a:rPr>
              <a:t>Next.js · TypeScript · Tailwind CSS</a:t>
            </a:r>
          </a:p>
        </p:txBody>
      </p:sp>
      <p:grpSp>
        <p:nvGrpSpPr>
          <p:cNvPr name="Group 97" id="97"/>
          <p:cNvGrpSpPr/>
          <p:nvPr/>
        </p:nvGrpSpPr>
        <p:grpSpPr>
          <a:xfrm rot="0">
            <a:off x="822960" y="4594860"/>
            <a:ext cx="4183380" cy="1508760"/>
            <a:chOff x="0" y="0"/>
            <a:chExt cx="5577840" cy="2011680"/>
          </a:xfrm>
        </p:grpSpPr>
        <p:sp>
          <p:nvSpPr>
            <p:cNvPr name="Freeform 98" id="98"/>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txBody>
            <a:bodyPr/>
            <a:p/>
          </p:txBody>
        </p:sp>
      </p:grpSp>
      <p:sp>
        <p:nvSpPr>
          <p:cNvPr name="TextBox 99" id="99"/>
          <p:cNvSpPr txBox="true"/>
          <p:nvPr/>
        </p:nvSpPr>
        <p:spPr>
          <a:xfrm rot="0">
            <a:off x="1097280" y="4560570"/>
            <a:ext cx="3703320" cy="65151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Beranda</a:t>
            </a:r>
          </a:p>
        </p:txBody>
      </p:sp>
      <p:sp>
        <p:nvSpPr>
          <p:cNvPr name="TextBox 100" id="100"/>
          <p:cNvSpPr txBox="true"/>
          <p:nvPr/>
        </p:nvSpPr>
        <p:spPr>
          <a:xfrm rot="0">
            <a:off x="1097280" y="5138928"/>
            <a:ext cx="3703320" cy="9372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gambaran umum dan navigasi</a:t>
            </a:r>
          </a:p>
        </p:txBody>
      </p:sp>
      <p:grpSp>
        <p:nvGrpSpPr>
          <p:cNvPr name="Group 101" id="101"/>
          <p:cNvGrpSpPr/>
          <p:nvPr/>
        </p:nvGrpSpPr>
        <p:grpSpPr>
          <a:xfrm rot="0">
            <a:off x="5212080" y="4594860"/>
            <a:ext cx="4183380" cy="1508760"/>
            <a:chOff x="0" y="0"/>
            <a:chExt cx="5577840" cy="2011680"/>
          </a:xfrm>
        </p:grpSpPr>
        <p:sp>
          <p:nvSpPr>
            <p:cNvPr name="Freeform 102" id="102"/>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txBody>
            <a:bodyPr/>
            <a:p/>
          </p:txBody>
        </p:sp>
      </p:grpSp>
      <p:sp>
        <p:nvSpPr>
          <p:cNvPr name="TextBox 103" id="103"/>
          <p:cNvSpPr txBox="true"/>
          <p:nvPr/>
        </p:nvSpPr>
        <p:spPr>
          <a:xfrm rot="0">
            <a:off x="5486400" y="4560570"/>
            <a:ext cx="3703320" cy="65151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Model</a:t>
            </a:r>
          </a:p>
        </p:txBody>
      </p:sp>
      <p:sp>
        <p:nvSpPr>
          <p:cNvPr name="TextBox 104" id="104"/>
          <p:cNvSpPr txBox="true"/>
          <p:nvPr/>
        </p:nvSpPr>
        <p:spPr>
          <a:xfrm rot="0">
            <a:off x="5486400" y="5138928"/>
            <a:ext cx="3703320" cy="9372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struktur model dan evaluasi model</a:t>
            </a:r>
          </a:p>
        </p:txBody>
      </p:sp>
      <p:grpSp>
        <p:nvGrpSpPr>
          <p:cNvPr name="Group 105" id="105"/>
          <p:cNvGrpSpPr/>
          <p:nvPr/>
        </p:nvGrpSpPr>
        <p:grpSpPr>
          <a:xfrm rot="0">
            <a:off x="822960" y="6309360"/>
            <a:ext cx="4183380" cy="1508760"/>
            <a:chOff x="0" y="0"/>
            <a:chExt cx="5577840" cy="2011680"/>
          </a:xfrm>
        </p:grpSpPr>
        <p:sp>
          <p:nvSpPr>
            <p:cNvPr name="Freeform 106" id="106"/>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txBody>
            <a:bodyPr/>
            <a:p/>
          </p:txBody>
        </p:sp>
      </p:grpSp>
      <p:sp>
        <p:nvSpPr>
          <p:cNvPr name="TextBox 107" id="107"/>
          <p:cNvSpPr txBox="true"/>
          <p:nvPr/>
        </p:nvSpPr>
        <p:spPr>
          <a:xfrm rot="0">
            <a:off x="1097280" y="6275070"/>
            <a:ext cx="3703320" cy="65151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Skenario</a:t>
            </a:r>
          </a:p>
        </p:txBody>
      </p:sp>
      <p:sp>
        <p:nvSpPr>
          <p:cNvPr name="TextBox 108" id="108"/>
          <p:cNvSpPr txBox="true"/>
          <p:nvPr/>
        </p:nvSpPr>
        <p:spPr>
          <a:xfrm rot="0">
            <a:off x="1097280" y="6853428"/>
            <a:ext cx="3703320" cy="9372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tiga skenario dan perbandingannya</a:t>
            </a:r>
          </a:p>
        </p:txBody>
      </p:sp>
      <p:grpSp>
        <p:nvGrpSpPr>
          <p:cNvPr name="Group 109" id="109"/>
          <p:cNvGrpSpPr/>
          <p:nvPr/>
        </p:nvGrpSpPr>
        <p:grpSpPr>
          <a:xfrm rot="0">
            <a:off x="5212080" y="6309360"/>
            <a:ext cx="4183380" cy="1508760"/>
            <a:chOff x="0" y="0"/>
            <a:chExt cx="5577840" cy="2011680"/>
          </a:xfrm>
        </p:grpSpPr>
        <p:sp>
          <p:nvSpPr>
            <p:cNvPr name="Freeform 110" id="110"/>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txBody>
            <a:bodyPr/>
            <a:p/>
          </p:txBody>
        </p:sp>
      </p:grpSp>
      <p:sp>
        <p:nvSpPr>
          <p:cNvPr name="TextBox 111" id="111"/>
          <p:cNvSpPr txBox="true"/>
          <p:nvPr/>
        </p:nvSpPr>
        <p:spPr>
          <a:xfrm rot="0">
            <a:off x="5486400" y="6275070"/>
            <a:ext cx="3703320" cy="65151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Simulasi</a:t>
            </a:r>
          </a:p>
        </p:txBody>
      </p:sp>
      <p:sp>
        <p:nvSpPr>
          <p:cNvPr name="TextBox 112" id="112"/>
          <p:cNvSpPr txBox="true"/>
          <p:nvPr/>
        </p:nvSpPr>
        <p:spPr>
          <a:xfrm rot="0">
            <a:off x="5486400" y="6853428"/>
            <a:ext cx="3703320" cy="9372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atur dua variabel kebijakan, pilih variabel, jalankan 2025–2050</a:t>
            </a:r>
          </a:p>
        </p:txBody>
      </p:sp>
      <p:grpSp>
        <p:nvGrpSpPr>
          <p:cNvPr name="Group 113" id="113"/>
          <p:cNvGrpSpPr/>
          <p:nvPr/>
        </p:nvGrpSpPr>
        <p:grpSpPr>
          <a:xfrm rot="0">
            <a:off x="822960" y="8298180"/>
            <a:ext cx="8092440" cy="617220"/>
            <a:chOff x="0" y="0"/>
            <a:chExt cx="10789920" cy="822960"/>
          </a:xfrm>
        </p:grpSpPr>
        <p:sp>
          <p:nvSpPr>
            <p:cNvPr name="Freeform 114" id="114"/>
            <p:cNvSpPr/>
            <p:nvPr/>
          </p:nvSpPr>
          <p:spPr>
            <a:xfrm flipH="false" flipV="false" rot="0">
              <a:off x="0" y="0"/>
              <a:ext cx="10789920" cy="822960"/>
            </a:xfrm>
            <a:custGeom>
              <a:avLst/>
              <a:gdLst/>
              <a:ahLst/>
              <a:cxnLst/>
              <a:rect r="r" b="b" t="t" l="l"/>
              <a:pathLst>
                <a:path h="822960" w="10789920">
                  <a:moveTo>
                    <a:pt x="0" y="411480"/>
                  </a:moveTo>
                  <a:cubicBezTo>
                    <a:pt x="0" y="184277"/>
                    <a:pt x="184277" y="0"/>
                    <a:pt x="411480" y="0"/>
                  </a:cubicBezTo>
                  <a:lnTo>
                    <a:pt x="10378440" y="0"/>
                  </a:lnTo>
                  <a:cubicBezTo>
                    <a:pt x="10605643" y="0"/>
                    <a:pt x="10789920" y="184277"/>
                    <a:pt x="10789920" y="411480"/>
                  </a:cubicBezTo>
                  <a:cubicBezTo>
                    <a:pt x="10789920" y="638683"/>
                    <a:pt x="10605643" y="822960"/>
                    <a:pt x="10378440" y="822960"/>
                  </a:cubicBezTo>
                  <a:lnTo>
                    <a:pt x="411480" y="822960"/>
                  </a:lnTo>
                  <a:cubicBezTo>
                    <a:pt x="184277" y="822960"/>
                    <a:pt x="0" y="638683"/>
                    <a:pt x="0" y="411480"/>
                  </a:cubicBezTo>
                  <a:close/>
                </a:path>
              </a:pathLst>
            </a:custGeom>
            <a:solidFill>
              <a:srgbClr val="39C0D3"/>
            </a:solidFill>
          </p:spPr>
          <p:txBody>
            <a:bodyPr/>
            <a:p/>
          </p:txBody>
        </p:sp>
      </p:grpSp>
      <p:grpSp>
        <p:nvGrpSpPr>
          <p:cNvPr name="Group 115" id="115"/>
          <p:cNvGrpSpPr/>
          <p:nvPr/>
        </p:nvGrpSpPr>
        <p:grpSpPr>
          <a:xfrm rot="0">
            <a:off x="822960" y="8298180"/>
            <a:ext cx="8092440" cy="617220"/>
            <a:chOff x="0" y="0"/>
            <a:chExt cx="10789920" cy="822960"/>
          </a:xfrm>
        </p:grpSpPr>
        <p:sp>
          <p:nvSpPr>
            <p:cNvPr name="Freeform 116" id="116"/>
            <p:cNvSpPr/>
            <p:nvPr/>
          </p:nvSpPr>
          <p:spPr>
            <a:xfrm flipH="false" flipV="false" rot="0">
              <a:off x="0" y="0"/>
              <a:ext cx="10789920" cy="822960"/>
            </a:xfrm>
            <a:custGeom>
              <a:avLst/>
              <a:gdLst/>
              <a:ahLst/>
              <a:cxnLst/>
              <a:rect r="r" b="b" t="t" l="l"/>
              <a:pathLst>
                <a:path h="822960" w="10789920">
                  <a:moveTo>
                    <a:pt x="0" y="0"/>
                  </a:moveTo>
                  <a:lnTo>
                    <a:pt x="10789920" y="0"/>
                  </a:lnTo>
                  <a:lnTo>
                    <a:pt x="10789920" y="822960"/>
                  </a:lnTo>
                  <a:lnTo>
                    <a:pt x="0" y="822960"/>
                  </a:lnTo>
                  <a:close/>
                </a:path>
              </a:pathLst>
            </a:custGeom>
            <a:blipFill>
              <a:blip r:embed="rId4">
                <a:alphaModFix amt="0"/>
              </a:blip>
              <a:stretch>
                <a:fillRect l="0" t="-205293" r="0" b="-205293"/>
              </a:stretch>
            </a:blipFill>
          </p:spPr>
          <p:txBody>
            <a:bodyPr/>
            <a:p/>
          </p:txBody>
        </p:sp>
      </p:grpSp>
      <p:grpSp>
        <p:nvGrpSpPr>
          <p:cNvPr name="Group 117" id="117"/>
          <p:cNvGrpSpPr/>
          <p:nvPr/>
        </p:nvGrpSpPr>
        <p:grpSpPr>
          <a:xfrm rot="0">
            <a:off x="822960" y="8262461"/>
            <a:ext cx="8092440" cy="652939"/>
            <a:chOff x="0" y="0"/>
            <a:chExt cx="10789920" cy="870585"/>
          </a:xfrm>
        </p:grpSpPr>
        <p:sp>
          <p:nvSpPr>
            <p:cNvPr name="Freeform 118" id="118"/>
            <p:cNvSpPr/>
            <p:nvPr/>
          </p:nvSpPr>
          <p:spPr>
            <a:xfrm flipH="false" flipV="false" rot="0">
              <a:off x="0" y="0"/>
              <a:ext cx="10789920" cy="870585"/>
            </a:xfrm>
            <a:custGeom>
              <a:avLst/>
              <a:gdLst/>
              <a:ahLst/>
              <a:cxnLst/>
              <a:rect r="r" b="b" t="t" l="l"/>
              <a:pathLst>
                <a:path h="870585" w="10789920">
                  <a:moveTo>
                    <a:pt x="0" y="0"/>
                  </a:moveTo>
                  <a:lnTo>
                    <a:pt x="10789920" y="0"/>
                  </a:lnTo>
                  <a:lnTo>
                    <a:pt x="10789920" y="870585"/>
                  </a:lnTo>
                  <a:lnTo>
                    <a:pt x="0" y="870585"/>
                  </a:lnTo>
                  <a:close/>
                </a:path>
              </a:pathLst>
            </a:custGeom>
            <a:blipFill>
              <a:blip r:embed="rId5">
                <a:alphaModFix amt="0"/>
              </a:blip>
              <a:stretch>
                <a:fillRect l="0" t="-191327" r="0" b="-191327"/>
              </a:stretch>
            </a:blipFill>
          </p:spPr>
          <p:txBody>
            <a:bodyPr/>
            <a:p/>
          </p:txBody>
        </p:sp>
      </p:grpSp>
      <p:grpSp>
        <p:nvGrpSpPr>
          <p:cNvPr name="Group 119" id="119"/>
          <p:cNvGrpSpPr/>
          <p:nvPr/>
        </p:nvGrpSpPr>
        <p:grpSpPr>
          <a:xfrm rot="0">
            <a:off x="822960" y="8226743"/>
            <a:ext cx="8092440" cy="688657"/>
            <a:chOff x="0" y="0"/>
            <a:chExt cx="10789920" cy="918210"/>
          </a:xfrm>
        </p:grpSpPr>
        <p:sp>
          <p:nvSpPr>
            <p:cNvPr name="Freeform 120" id="120"/>
            <p:cNvSpPr/>
            <p:nvPr/>
          </p:nvSpPr>
          <p:spPr>
            <a:xfrm flipH="false" flipV="false" rot="0">
              <a:off x="0" y="0"/>
              <a:ext cx="10789920" cy="918210"/>
            </a:xfrm>
            <a:custGeom>
              <a:avLst/>
              <a:gdLst/>
              <a:ahLst/>
              <a:cxnLst/>
              <a:rect r="r" b="b" t="t" l="l"/>
              <a:pathLst>
                <a:path h="918210" w="10789920">
                  <a:moveTo>
                    <a:pt x="0" y="0"/>
                  </a:moveTo>
                  <a:lnTo>
                    <a:pt x="10789920" y="0"/>
                  </a:lnTo>
                  <a:lnTo>
                    <a:pt x="10789920" y="918210"/>
                  </a:lnTo>
                  <a:lnTo>
                    <a:pt x="0" y="918210"/>
                  </a:lnTo>
                  <a:close/>
                </a:path>
              </a:pathLst>
            </a:custGeom>
            <a:blipFill>
              <a:blip r:embed="rId6">
                <a:alphaModFix amt="0"/>
              </a:blip>
              <a:stretch>
                <a:fillRect l="0" t="-178969" r="0" b="-178969"/>
              </a:stretch>
            </a:blipFill>
          </p:spPr>
          <p:txBody>
            <a:bodyPr/>
            <a:p/>
          </p:txBody>
        </p:sp>
        <p:sp>
          <p:nvSpPr>
            <p:cNvPr name="TextBox 121" id="121"/>
            <p:cNvSpPr txBox="true"/>
            <p:nvPr/>
          </p:nvSpPr>
          <p:spPr>
            <a:xfrm>
              <a:off x="0" y="-47625"/>
              <a:ext cx="10789920" cy="96583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sistemdinamispariwisata.vercel.app</a:t>
              </a:r>
            </a:p>
          </p:txBody>
        </p:sp>
      </p:grpSp>
      <p:grpSp>
        <p:nvGrpSpPr>
          <p:cNvPr name="Group 122" id="122"/>
          <p:cNvGrpSpPr/>
          <p:nvPr/>
        </p:nvGrpSpPr>
        <p:grpSpPr>
          <a:xfrm rot="0">
            <a:off x="9738360" y="2817400"/>
            <a:ext cx="3771900" cy="4995100"/>
            <a:chOff x="0" y="0"/>
            <a:chExt cx="5029200" cy="6660134"/>
          </a:xfrm>
        </p:grpSpPr>
        <p:sp>
          <p:nvSpPr>
            <p:cNvPr name="Freeform 123" id="123" descr="Halaman Skenario aplikasi"/>
            <p:cNvSpPr/>
            <p:nvPr/>
          </p:nvSpPr>
          <p:spPr>
            <a:xfrm flipH="false" flipV="false" rot="0">
              <a:off x="0" y="0"/>
              <a:ext cx="5029200" cy="6660134"/>
            </a:xfrm>
            <a:custGeom>
              <a:avLst/>
              <a:gdLst/>
              <a:ahLst/>
              <a:cxnLst/>
              <a:rect r="r" b="b" t="t" l="l"/>
              <a:pathLst>
                <a:path h="6660134" w="5029200">
                  <a:moveTo>
                    <a:pt x="0" y="0"/>
                  </a:moveTo>
                  <a:lnTo>
                    <a:pt x="5029200" y="0"/>
                  </a:lnTo>
                  <a:lnTo>
                    <a:pt x="5029200" y="6660134"/>
                  </a:lnTo>
                  <a:lnTo>
                    <a:pt x="0" y="6660134"/>
                  </a:lnTo>
                  <a:lnTo>
                    <a:pt x="0" y="0"/>
                  </a:lnTo>
                  <a:close/>
                </a:path>
              </a:pathLst>
            </a:custGeom>
            <a:blipFill>
              <a:blip r:embed="rId7"/>
              <a:stretch>
                <a:fillRect l="0" t="-77" r="0" b="-77"/>
              </a:stretch>
            </a:blipFill>
          </p:spPr>
          <p:txBody>
            <a:bodyPr/>
            <a:p/>
          </p:txBody>
        </p:sp>
      </p:grpSp>
      <p:grpSp>
        <p:nvGrpSpPr>
          <p:cNvPr name="Group 124" id="124"/>
          <p:cNvGrpSpPr/>
          <p:nvPr/>
        </p:nvGrpSpPr>
        <p:grpSpPr>
          <a:xfrm rot="0">
            <a:off x="13716000" y="2861948"/>
            <a:ext cx="3744468" cy="4906042"/>
            <a:chOff x="0" y="0"/>
            <a:chExt cx="4992624" cy="6541389"/>
          </a:xfrm>
        </p:grpSpPr>
        <p:sp>
          <p:nvSpPr>
            <p:cNvPr name="Freeform 125" id="125" descr="Halaman Simulasi aplikasi"/>
            <p:cNvSpPr/>
            <p:nvPr/>
          </p:nvSpPr>
          <p:spPr>
            <a:xfrm flipH="false" flipV="false" rot="0">
              <a:off x="0" y="0"/>
              <a:ext cx="4992624" cy="6541389"/>
            </a:xfrm>
            <a:custGeom>
              <a:avLst/>
              <a:gdLst/>
              <a:ahLst/>
              <a:cxnLst/>
              <a:rect r="r" b="b" t="t" l="l"/>
              <a:pathLst>
                <a:path h="6541389" w="4992624">
                  <a:moveTo>
                    <a:pt x="0" y="0"/>
                  </a:moveTo>
                  <a:lnTo>
                    <a:pt x="4992624" y="0"/>
                  </a:lnTo>
                  <a:lnTo>
                    <a:pt x="4992624" y="6541389"/>
                  </a:lnTo>
                  <a:lnTo>
                    <a:pt x="0" y="6541389"/>
                  </a:lnTo>
                  <a:lnTo>
                    <a:pt x="0" y="0"/>
                  </a:lnTo>
                  <a:close/>
                </a:path>
              </a:pathLst>
            </a:custGeom>
            <a:blipFill>
              <a:blip r:embed="rId8"/>
              <a:stretch>
                <a:fillRect l="-42" t="0" r="-42" b="0"/>
              </a:stretch>
            </a:blipFill>
          </p:spPr>
          <p:txBody>
            <a:bodyPr/>
            <a:p/>
          </p:txBody>
        </p:sp>
      </p:grpSp>
      <p:sp>
        <p:nvSpPr>
          <p:cNvPr name="TextBox 126" id="126"/>
          <p:cNvSpPr txBox="true"/>
          <p:nvPr/>
        </p:nvSpPr>
        <p:spPr>
          <a:xfrm rot="0">
            <a:off x="9738360" y="8252460"/>
            <a:ext cx="3771900" cy="525780"/>
          </a:xfrm>
          <a:prstGeom prst="rect">
            <a:avLst/>
          </a:prstGeom>
        </p:spPr>
        <p:txBody>
          <a:bodyPr anchor="t" rtlCol="false" tIns="0" lIns="0" bIns="0" rIns="0">
            <a:spAutoFit/>
          </a:bodyPr>
          <a:lstStyle/>
          <a:p>
            <a:pPr algn="ctr">
              <a:lnSpc>
                <a:spcPts val="2160"/>
              </a:lnSpc>
            </a:pPr>
            <a:r>
              <a:rPr lang="en-US" sz="1800" b="true">
                <a:solidFill>
                  <a:srgbClr val="0B5E6E"/>
                </a:solidFill>
                <a:latin typeface="Calibri (MS) Bold"/>
                <a:ea typeface="Calibri (MS) Bold"/>
                <a:cs typeface="Calibri (MS) Bold"/>
                <a:sym typeface="Calibri (MS) Bold"/>
              </a:rPr>
              <a:t>Halaman Skenario</a:t>
            </a:r>
          </a:p>
        </p:txBody>
      </p:sp>
      <p:sp>
        <p:nvSpPr>
          <p:cNvPr name="TextBox 127" id="127"/>
          <p:cNvSpPr txBox="true"/>
          <p:nvPr/>
        </p:nvSpPr>
        <p:spPr>
          <a:xfrm rot="0">
            <a:off x="13716000" y="8252460"/>
            <a:ext cx="3744468" cy="525780"/>
          </a:xfrm>
          <a:prstGeom prst="rect">
            <a:avLst/>
          </a:prstGeom>
        </p:spPr>
        <p:txBody>
          <a:bodyPr anchor="t" rtlCol="false" tIns="0" lIns="0" bIns="0" rIns="0">
            <a:spAutoFit/>
          </a:bodyPr>
          <a:lstStyle/>
          <a:p>
            <a:pPr algn="ctr">
              <a:lnSpc>
                <a:spcPts val="2160"/>
              </a:lnSpc>
            </a:pPr>
            <a:r>
              <a:rPr lang="en-US" sz="1800" b="true">
                <a:solidFill>
                  <a:srgbClr val="0B5E6E"/>
                </a:solidFill>
                <a:latin typeface="Calibri (MS) Bold"/>
                <a:ea typeface="Calibri (MS) Bold"/>
                <a:cs typeface="Calibri (MS) Bold"/>
                <a:sym typeface="Calibri (MS) Bold"/>
              </a:rPr>
              <a:t>Halaman Simulasi</a:t>
            </a:r>
          </a:p>
        </p:txBody>
      </p:sp>
      <p:sp>
        <p:nvSpPr>
          <p:cNvPr name="TextBox 128" id="128"/>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67</a:t>
            </a:r>
          </a:p>
        </p:txBody>
      </p:sp>
      <p:grpSp>
        <p:nvGrpSpPr>
          <p:cNvPr name="Group 129" id="129"/>
          <p:cNvGrpSpPr/>
          <p:nvPr/>
        </p:nvGrpSpPr>
        <p:grpSpPr>
          <a:xfrm rot="0">
            <a:off x="16047720" y="9646920"/>
            <a:ext cx="420624" cy="420624"/>
            <a:chOff x="0" y="0"/>
            <a:chExt cx="560832" cy="560832"/>
          </a:xfrm>
        </p:grpSpPr>
        <p:sp>
          <p:nvSpPr>
            <p:cNvPr name="Freeform 130" id="130"/>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31" id="131"/>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Implementasi Aplikasi — Halaman Aplikasi</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Empat halaman aplikasi: dari input kebijakan sampai grafik hasil</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Tujuan 3</a:t>
              </a:r>
            </a:p>
          </p:txBody>
        </p:sp>
      </p:grpSp>
      <p:grpSp>
        <p:nvGrpSpPr>
          <p:cNvPr name="Group 21" id="21"/>
          <p:cNvGrpSpPr/>
          <p:nvPr/>
        </p:nvGrpSpPr>
        <p:grpSpPr>
          <a:xfrm rot="0">
            <a:off x="822960" y="2674620"/>
            <a:ext cx="4192714" cy="5143500"/>
            <a:chOff x="0" y="0"/>
            <a:chExt cx="5590286" cy="6858000"/>
          </a:xfrm>
        </p:grpSpPr>
        <p:sp>
          <p:nvSpPr>
            <p:cNvPr name="Freeform 22" id="22" descr="Halaman Beranda aplikasi"/>
            <p:cNvSpPr/>
            <p:nvPr/>
          </p:nvSpPr>
          <p:spPr>
            <a:xfrm flipH="false" flipV="false" rot="0">
              <a:off x="0" y="0"/>
              <a:ext cx="5590286" cy="6858000"/>
            </a:xfrm>
            <a:custGeom>
              <a:avLst/>
              <a:gdLst/>
              <a:ahLst/>
              <a:cxnLst/>
              <a:rect r="r" b="b" t="t" l="l"/>
              <a:pathLst>
                <a:path h="6858000" w="5590286">
                  <a:moveTo>
                    <a:pt x="0" y="0"/>
                  </a:moveTo>
                  <a:lnTo>
                    <a:pt x="5590286" y="0"/>
                  </a:lnTo>
                  <a:lnTo>
                    <a:pt x="5590286" y="6858000"/>
                  </a:lnTo>
                  <a:lnTo>
                    <a:pt x="0" y="6858000"/>
                  </a:lnTo>
                  <a:lnTo>
                    <a:pt x="0" y="0"/>
                  </a:lnTo>
                  <a:close/>
                </a:path>
              </a:pathLst>
            </a:custGeom>
            <a:blipFill>
              <a:blip r:embed="rId7"/>
              <a:stretch>
                <a:fillRect l="-14" t="0" r="-14" b="0"/>
              </a:stretch>
            </a:blipFill>
          </p:spPr>
          <p:txBody>
            <a:bodyPr/>
            <a:p/>
          </p:txBody>
        </p:sp>
      </p:grpSp>
      <p:sp>
        <p:nvSpPr>
          <p:cNvPr name="TextBox 23" id="23"/>
          <p:cNvSpPr txBox="true"/>
          <p:nvPr/>
        </p:nvSpPr>
        <p:spPr>
          <a:xfrm rot="0">
            <a:off x="822960" y="7840980"/>
            <a:ext cx="4192762" cy="5257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Beranda</a:t>
            </a:r>
          </a:p>
        </p:txBody>
      </p:sp>
      <p:grpSp>
        <p:nvGrpSpPr>
          <p:cNvPr name="Group 24" id="24"/>
          <p:cNvGrpSpPr/>
          <p:nvPr/>
        </p:nvGrpSpPr>
        <p:grpSpPr>
          <a:xfrm rot="0">
            <a:off x="5290042" y="2674620"/>
            <a:ext cx="3814572" cy="5143500"/>
            <a:chOff x="0" y="0"/>
            <a:chExt cx="5086096" cy="6858000"/>
          </a:xfrm>
        </p:grpSpPr>
        <p:sp>
          <p:nvSpPr>
            <p:cNvPr name="Freeform 25" id="25" descr="Halaman Model aplikasi"/>
            <p:cNvSpPr/>
            <p:nvPr/>
          </p:nvSpPr>
          <p:spPr>
            <a:xfrm flipH="false" flipV="false" rot="0">
              <a:off x="0" y="0"/>
              <a:ext cx="5086096" cy="6858000"/>
            </a:xfrm>
            <a:custGeom>
              <a:avLst/>
              <a:gdLst/>
              <a:ahLst/>
              <a:cxnLst/>
              <a:rect r="r" b="b" t="t" l="l"/>
              <a:pathLst>
                <a:path h="6858000" w="5086096">
                  <a:moveTo>
                    <a:pt x="0" y="0"/>
                  </a:moveTo>
                  <a:lnTo>
                    <a:pt x="5086096" y="0"/>
                  </a:lnTo>
                  <a:lnTo>
                    <a:pt x="5086096" y="6858000"/>
                  </a:lnTo>
                  <a:lnTo>
                    <a:pt x="0" y="6858000"/>
                  </a:lnTo>
                  <a:lnTo>
                    <a:pt x="0" y="0"/>
                  </a:lnTo>
                  <a:close/>
                </a:path>
              </a:pathLst>
            </a:custGeom>
            <a:blipFill>
              <a:blip r:embed="rId8"/>
              <a:stretch>
                <a:fillRect l="0" t="-7" r="0" b="-7"/>
              </a:stretch>
            </a:blipFill>
          </p:spPr>
          <p:txBody>
            <a:bodyPr/>
            <a:p/>
          </p:txBody>
        </p:sp>
      </p:grpSp>
      <p:sp>
        <p:nvSpPr>
          <p:cNvPr name="TextBox 26" id="26"/>
          <p:cNvSpPr txBox="true"/>
          <p:nvPr/>
        </p:nvSpPr>
        <p:spPr>
          <a:xfrm rot="0">
            <a:off x="5290042" y="7840980"/>
            <a:ext cx="3814572" cy="5257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Model</a:t>
            </a:r>
          </a:p>
        </p:txBody>
      </p:sp>
      <p:grpSp>
        <p:nvGrpSpPr>
          <p:cNvPr name="Group 27" id="27"/>
          <p:cNvGrpSpPr/>
          <p:nvPr/>
        </p:nvGrpSpPr>
        <p:grpSpPr>
          <a:xfrm rot="0">
            <a:off x="9378934" y="2674620"/>
            <a:ext cx="3883914" cy="5143500"/>
            <a:chOff x="0" y="0"/>
            <a:chExt cx="5178552" cy="6858000"/>
          </a:xfrm>
        </p:grpSpPr>
        <p:sp>
          <p:nvSpPr>
            <p:cNvPr name="Freeform 28" id="28" descr="Halaman Skenario aplikasi"/>
            <p:cNvSpPr/>
            <p:nvPr/>
          </p:nvSpPr>
          <p:spPr>
            <a:xfrm flipH="false" flipV="false" rot="0">
              <a:off x="0" y="0"/>
              <a:ext cx="5178552" cy="6858000"/>
            </a:xfrm>
            <a:custGeom>
              <a:avLst/>
              <a:gdLst/>
              <a:ahLst/>
              <a:cxnLst/>
              <a:rect r="r" b="b" t="t" l="l"/>
              <a:pathLst>
                <a:path h="6858000" w="5178552">
                  <a:moveTo>
                    <a:pt x="0" y="0"/>
                  </a:moveTo>
                  <a:lnTo>
                    <a:pt x="5178552" y="0"/>
                  </a:lnTo>
                  <a:lnTo>
                    <a:pt x="5178552" y="6858000"/>
                  </a:lnTo>
                  <a:lnTo>
                    <a:pt x="0" y="6858000"/>
                  </a:lnTo>
                  <a:lnTo>
                    <a:pt x="0" y="0"/>
                  </a:lnTo>
                  <a:close/>
                </a:path>
              </a:pathLst>
            </a:custGeom>
            <a:blipFill>
              <a:blip r:embed="rId9"/>
              <a:stretch>
                <a:fillRect l="0" t="-77" r="0" b="-77"/>
              </a:stretch>
            </a:blipFill>
          </p:spPr>
          <p:txBody>
            <a:bodyPr/>
            <a:p/>
          </p:txBody>
        </p:sp>
      </p:grpSp>
      <p:sp>
        <p:nvSpPr>
          <p:cNvPr name="TextBox 29" id="29"/>
          <p:cNvSpPr txBox="true"/>
          <p:nvPr/>
        </p:nvSpPr>
        <p:spPr>
          <a:xfrm rot="0">
            <a:off x="9378934" y="7840980"/>
            <a:ext cx="3883962" cy="5257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Skenario</a:t>
            </a:r>
          </a:p>
        </p:txBody>
      </p:sp>
      <p:grpSp>
        <p:nvGrpSpPr>
          <p:cNvPr name="Group 30" id="30"/>
          <p:cNvGrpSpPr/>
          <p:nvPr/>
        </p:nvGrpSpPr>
        <p:grpSpPr>
          <a:xfrm rot="0">
            <a:off x="13537216" y="2674620"/>
            <a:ext cx="3925729" cy="5143500"/>
            <a:chOff x="0" y="0"/>
            <a:chExt cx="5234305" cy="6858000"/>
          </a:xfrm>
        </p:grpSpPr>
        <p:sp>
          <p:nvSpPr>
            <p:cNvPr name="Freeform 31" id="31" descr="Halaman Simulasi aplikasi"/>
            <p:cNvSpPr/>
            <p:nvPr/>
          </p:nvSpPr>
          <p:spPr>
            <a:xfrm flipH="false" flipV="false" rot="0">
              <a:off x="0" y="0"/>
              <a:ext cx="5234305" cy="6858000"/>
            </a:xfrm>
            <a:custGeom>
              <a:avLst/>
              <a:gdLst/>
              <a:ahLst/>
              <a:cxnLst/>
              <a:rect r="r" b="b" t="t" l="l"/>
              <a:pathLst>
                <a:path h="6858000" w="5234305">
                  <a:moveTo>
                    <a:pt x="0" y="0"/>
                  </a:moveTo>
                  <a:lnTo>
                    <a:pt x="5234305" y="0"/>
                  </a:lnTo>
                  <a:lnTo>
                    <a:pt x="5234305" y="6858000"/>
                  </a:lnTo>
                  <a:lnTo>
                    <a:pt x="0" y="6858000"/>
                  </a:lnTo>
                  <a:lnTo>
                    <a:pt x="0" y="0"/>
                  </a:lnTo>
                  <a:close/>
                </a:path>
              </a:pathLst>
            </a:custGeom>
            <a:blipFill>
              <a:blip r:embed="rId10"/>
              <a:stretch>
                <a:fillRect l="-42" t="0" r="-42" b="0"/>
              </a:stretch>
            </a:blipFill>
          </p:spPr>
          <p:txBody>
            <a:bodyPr/>
            <a:p/>
          </p:txBody>
        </p:sp>
      </p:grpSp>
      <p:sp>
        <p:nvSpPr>
          <p:cNvPr name="TextBox 32" id="32"/>
          <p:cNvSpPr txBox="true"/>
          <p:nvPr/>
        </p:nvSpPr>
        <p:spPr>
          <a:xfrm rot="0">
            <a:off x="13537216" y="7840980"/>
            <a:ext cx="3925738" cy="5257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Simulasi</a:t>
            </a:r>
          </a:p>
        </p:txBody>
      </p:sp>
      <p:sp>
        <p:nvSpPr>
          <p:cNvPr name="TextBox 33" id="33"/>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68</a:t>
            </a:r>
          </a:p>
        </p:txBody>
      </p:sp>
      <p:sp>
        <p:nvSpPr>
          <p:cNvPr name="TextBox 34" id="34"/>
          <p:cNvSpPr txBox="true"/>
          <p:nvPr/>
        </p:nvSpPr>
        <p:spPr>
          <a:xfrm rot="0">
            <a:off x="822960" y="8475345"/>
            <a:ext cx="16642080" cy="760095"/>
          </a:xfrm>
          <a:prstGeom prst="rect">
            <a:avLst/>
          </a:prstGeom>
        </p:spPr>
        <p:txBody>
          <a:bodyPr anchor="t" rtlCol="false" tIns="0" lIns="0" bIns="0" rIns="0">
            <a:spAutoFit/>
          </a:bodyPr>
          <a:lstStyle/>
          <a:p>
            <a:pPr algn="l">
              <a:lnSpc>
                <a:spcPts val="1932"/>
              </a:lnSpc>
            </a:pPr>
            <a:r>
              <a:rPr lang="en-US" sz="1610" b="true">
                <a:solidFill>
                  <a:srgbClr val="0B5E6E"/>
                </a:solidFill>
                <a:latin typeface="Calibri (MS) Bold"/>
                <a:ea typeface="Calibri (MS) Bold"/>
                <a:cs typeface="Calibri (MS) Bold"/>
                <a:sym typeface="Calibri (MS) Bold"/>
              </a:rPr>
              <a:t>Input: </a:t>
            </a:r>
            <a:r>
              <a:rPr lang="en-US" sz="1610">
                <a:solidFill>
                  <a:srgbClr val="14313B"/>
                </a:solidFill>
                <a:latin typeface="Calibri (MS)"/>
                <a:ea typeface="Calibri (MS)"/>
                <a:cs typeface="Calibri (MS)"/>
                <a:sym typeface="Calibri (MS)"/>
              </a:rPr>
              <a:t>pilih skenario atau atur Insentif Kebijakan (0–0,5) dan Kebijakan Konservasi Lahan (0–1).  </a:t>
            </a:r>
            <a:r>
              <a:rPr lang="en-US" sz="1610" b="true">
                <a:solidFill>
                  <a:srgbClr val="0B5E6E"/>
                </a:solidFill>
                <a:latin typeface="Calibri (MS) Bold"/>
                <a:ea typeface="Calibri (MS) Bold"/>
                <a:cs typeface="Calibri (MS) Bold"/>
                <a:sym typeface="Calibri (MS) Bold"/>
              </a:rPr>
              <a:t>Proses: </a:t>
            </a:r>
            <a:r>
              <a:rPr lang="en-US" sz="1610">
                <a:solidFill>
                  <a:srgbClr val="14313B"/>
                </a:solidFill>
                <a:latin typeface="Calibri (MS)"/>
                <a:ea typeface="Calibri (MS)"/>
                <a:cs typeface="Calibri (MS)"/>
                <a:sym typeface="Calibri (MS)"/>
              </a:rPr>
              <a:t>model hasil konversi SDEverywhere menghitung 2025–2050 di peramban.  </a:t>
            </a:r>
            <a:r>
              <a:rPr lang="en-US" sz="1610" b="true">
                <a:solidFill>
                  <a:srgbClr val="0B5E6E"/>
                </a:solidFill>
                <a:latin typeface="Calibri (MS) Bold"/>
                <a:ea typeface="Calibri (MS) Bold"/>
                <a:cs typeface="Calibri (MS) Bold"/>
                <a:sym typeface="Calibri (MS) Bold"/>
              </a:rPr>
              <a:t>Output: </a:t>
            </a:r>
            <a:r>
              <a:rPr lang="en-US" sz="1610">
                <a:solidFill>
                  <a:srgbClr val="14313B"/>
                </a:solidFill>
                <a:latin typeface="Calibri (MS)"/>
                <a:ea typeface="Calibri (MS)"/>
                <a:cs typeface="Calibri (MS)"/>
                <a:sym typeface="Calibri (MS)"/>
              </a:rPr>
              <a:t>indikator numerik dan grafik deret waktu; perbandingan tiga skenario.</a:t>
            </a:r>
          </a:p>
        </p:txBody>
      </p:sp>
      <p:grpSp>
        <p:nvGrpSpPr>
          <p:cNvPr name="Group 35" id="35"/>
          <p:cNvGrpSpPr/>
          <p:nvPr/>
        </p:nvGrpSpPr>
        <p:grpSpPr>
          <a:xfrm rot="0">
            <a:off x="16047720" y="9646920"/>
            <a:ext cx="420624" cy="420624"/>
            <a:chOff x="0" y="0"/>
            <a:chExt cx="560832" cy="560832"/>
          </a:xfrm>
        </p:grpSpPr>
        <p:sp>
          <p:nvSpPr>
            <p:cNvPr name="Freeform 36" id="36"/>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37" id="37"/>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Pengujian Fungsional (Black-box)</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9 dari 9 kasus uji berhasil (Pass)</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69</a:t>
            </a:r>
          </a:p>
        </p:txBody>
      </p:sp>
      <p:graphicFrame>
        <p:nvGraphicFramePr>
          <p:cNvPr name="Table 67" id="67"/>
          <p:cNvGraphicFramePr>
            <a:graphicFrameLocks noGrp="true"/>
          </p:cNvGraphicFramePr>
          <p:nvPr/>
        </p:nvGraphicFramePr>
        <p:xfrm>
          <a:off x="822960" y="2286000"/>
          <a:ext cx="16611600" cy="5461000"/>
        </p:xfrm>
        <a:graphic>
          <a:graphicData uri="http://schemas.openxmlformats.org/drawingml/2006/table">
            <a:tbl>
              <a:tblPr/>
              <a:tblGrid>
                <a:gridCol w="638908"/>
                <a:gridCol w="3833446"/>
                <a:gridCol w="5537200"/>
                <a:gridCol w="5324231"/>
                <a:gridCol w="1277815"/>
              </a:tblGrid>
              <a:tr h="546100">
                <a:tc>
                  <a:txBody>
                    <a:bodyPr anchor="t" rtlCol="false"/>
                    <a:lstStyle/>
                    <a:p>
                      <a:pPr algn="l">
                        <a:lnSpc>
                          <a:spcPts val="1860"/>
                        </a:lnSpc>
                        <a:defRPr/>
                      </a:pPr>
                      <a:r>
                        <a:rPr lang="en-US" sz="1550" b="true">
                          <a:solidFill>
                            <a:srgbClr val="FFFFFF"/>
                          </a:solidFill>
                          <a:latin typeface="Calibri (MS) Bold"/>
                          <a:ea typeface="Calibri (MS) Bold"/>
                          <a:cs typeface="Calibri (MS) Bold"/>
                          <a:sym typeface="Calibri (MS) Bold"/>
                        </a:rPr>
                        <a:t>No</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860"/>
                        </a:lnSpc>
                        <a:defRPr/>
                      </a:pPr>
                      <a:r>
                        <a:rPr lang="en-US" sz="1550" b="true">
                          <a:solidFill>
                            <a:srgbClr val="FFFFFF"/>
                          </a:solidFill>
                          <a:latin typeface="Calibri (MS) Bold"/>
                          <a:ea typeface="Calibri (MS) Bold"/>
                          <a:cs typeface="Calibri (MS) Bold"/>
                          <a:sym typeface="Calibri (MS) Bold"/>
                        </a:rPr>
                        <a:t>Fungsi yang diuji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860"/>
                        </a:lnSpc>
                        <a:defRPr/>
                      </a:pPr>
                      <a:r>
                        <a:rPr lang="en-US" sz="1550" b="true">
                          <a:solidFill>
                            <a:srgbClr val="FFFFFF"/>
                          </a:solidFill>
                          <a:latin typeface="Calibri (MS) Bold"/>
                          <a:ea typeface="Calibri (MS) Bold"/>
                          <a:cs typeface="Calibri (MS) Bold"/>
                          <a:sym typeface="Calibri (MS) Bold"/>
                        </a:rPr>
                        <a:t>Tindakan / masukan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860"/>
                        </a:lnSpc>
                        <a:defRPr/>
                      </a:pPr>
                      <a:r>
                        <a:rPr lang="en-US" sz="1550" b="true">
                          <a:solidFill>
                            <a:srgbClr val="FFFFFF"/>
                          </a:solidFill>
                          <a:latin typeface="Calibri (MS) Bold"/>
                          <a:ea typeface="Calibri (MS) Bold"/>
                          <a:cs typeface="Calibri (MS) Bold"/>
                          <a:sym typeface="Calibri (MS) Bold"/>
                        </a:rPr>
                        <a:t>Hasil yang diharapkan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860"/>
                        </a:lnSpc>
                        <a:defRPr/>
                      </a:pPr>
                      <a:r>
                        <a:rPr lang="en-US" sz="1550" b="true">
                          <a:solidFill>
                            <a:srgbClr val="FFFFFF"/>
                          </a:solidFill>
                          <a:latin typeface="Calibri (MS) Bold"/>
                          <a:ea typeface="Calibri (MS) Bold"/>
                          <a:cs typeface="Calibri (MS) Bold"/>
                          <a:sym typeface="Calibri (MS) Bold"/>
                        </a:rPr>
                        <a:t>Status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546100">
                <a:tc>
                  <a:txBody>
                    <a:bodyPr anchor="t" rtlCol="false"/>
                    <a:lstStyle/>
                    <a:p>
                      <a:pPr algn="l">
                        <a:lnSpc>
                          <a:spcPts val="1860"/>
                        </a:lnSpc>
                        <a:defRPr/>
                      </a:pPr>
                      <a:r>
                        <a:rPr lang="en-US" sz="1550">
                          <a:solidFill>
                            <a:srgbClr val="14313B"/>
                          </a:solidFill>
                          <a:latin typeface="Calibri (MS)"/>
                          <a:ea typeface="Calibri (MS)"/>
                          <a:cs typeface="Calibri (MS)"/>
                          <a:sym typeface="Calibri (MS)"/>
                        </a:rPr>
                        <a:t>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Navigasi aplikasi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Pilih menu Beranda, Model, Skenario, Simulasi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Halaman sesuai menu tampil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Pass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r>
              <a:tr h="546100">
                <a:tc>
                  <a:txBody>
                    <a:bodyPr anchor="t" rtlCol="false"/>
                    <a:lstStyle/>
                    <a:p>
                      <a:pPr algn="l">
                        <a:lnSpc>
                          <a:spcPts val="1860"/>
                        </a:lnSpc>
                        <a:defRPr/>
                      </a:pPr>
                      <a:r>
                        <a:rPr lang="en-US" sz="1550">
                          <a:solidFill>
                            <a:srgbClr val="14313B"/>
                          </a:solidFill>
                          <a:latin typeface="Calibri (MS)"/>
                          <a:ea typeface="Calibri (MS)"/>
                          <a:cs typeface="Calibri (MS)"/>
                          <a:sym typeface="Calibri (MS)"/>
                        </a:rPr>
                        <a:t>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Pergantian tampilan Model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Pilih tab Struktur / Evaluasi Model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Konten sesuai tab</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Pass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r>
              <a:tr h="546100">
                <a:tc>
                  <a:txBody>
                    <a:bodyPr anchor="t" rtlCol="false"/>
                    <a:lstStyle/>
                    <a:p>
                      <a:pPr algn="l">
                        <a:lnSpc>
                          <a:spcPts val="1860"/>
                        </a:lnSpc>
                        <a:defRPr/>
                      </a:pPr>
                      <a:r>
                        <a:rPr lang="en-US" sz="1550">
                          <a:solidFill>
                            <a:srgbClr val="14313B"/>
                          </a:solidFill>
                          <a:latin typeface="Calibri (MS)"/>
                          <a:ea typeface="Calibri (MS)"/>
                          <a:cs typeface="Calibri (MS)"/>
                          <a:sym typeface="Calibri (MS)"/>
                        </a:rPr>
                        <a:t>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Pemilihan skenario</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Pilih BAU, Sustainable, atau DP</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Skenario menjadi aktif</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Pass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r>
              <a:tr h="546100">
                <a:tc>
                  <a:txBody>
                    <a:bodyPr anchor="t" rtlCol="false"/>
                    <a:lstStyle/>
                    <a:p>
                      <a:pPr algn="l">
                        <a:lnSpc>
                          <a:spcPts val="1860"/>
                        </a:lnSpc>
                        <a:defRPr/>
                      </a:pPr>
                      <a:r>
                        <a:rPr lang="en-US" sz="1550">
                          <a:solidFill>
                            <a:srgbClr val="14313B"/>
                          </a:solidFill>
                          <a:latin typeface="Calibri (MS)"/>
                          <a:ea typeface="Calibri (MS)"/>
                          <a:cs typeface="Calibri (MS)"/>
                          <a:sym typeface="Calibri (MS)"/>
                        </a:rPr>
                        <a:t>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Perbandingan skenario</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Aktifkan Bandingkan Semua Skenario</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Ketiga skenario tampil berdampingan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Pass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r>
              <a:tr h="546100">
                <a:tc>
                  <a:txBody>
                    <a:bodyPr anchor="t" rtlCol="false"/>
                    <a:lstStyle/>
                    <a:p>
                      <a:pPr algn="l">
                        <a:lnSpc>
                          <a:spcPts val="1860"/>
                        </a:lnSpc>
                        <a:defRPr/>
                      </a:pPr>
                      <a:r>
                        <a:rPr lang="en-US" sz="1550">
                          <a:solidFill>
                            <a:srgbClr val="14313B"/>
                          </a:solidFill>
                          <a:latin typeface="Calibri (MS)"/>
                          <a:ea typeface="Calibri (MS)"/>
                          <a:cs typeface="Calibri (MS)"/>
                          <a:sym typeface="Calibri (MS)"/>
                        </a:rPr>
                        <a:t>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Menjalankan simulasi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Tekan Jalankan Simulasi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Hasil 2025–2050 tampil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Pass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r>
              <a:tr h="546100">
                <a:tc>
                  <a:txBody>
                    <a:bodyPr anchor="t" rtlCol="false"/>
                    <a:lstStyle/>
                    <a:p>
                      <a:pPr algn="l">
                        <a:lnSpc>
                          <a:spcPts val="1860"/>
                        </a:lnSpc>
                        <a:defRPr/>
                      </a:pPr>
                      <a:r>
                        <a:rPr lang="en-US" sz="1550">
                          <a:solidFill>
                            <a:srgbClr val="14313B"/>
                          </a:solidFill>
                          <a:latin typeface="Calibri (MS)"/>
                          <a:ea typeface="Calibri (MS)"/>
                          <a:cs typeface="Calibri (MS)"/>
                          <a:sym typeface="Calibri (MS)"/>
                        </a:rPr>
                        <a:t>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Pemilihan variabel keluaran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Pilih / batalkan variabel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Grafik dan data menyesuaikan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Pass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r>
              <a:tr h="546100">
                <a:tc>
                  <a:txBody>
                    <a:bodyPr anchor="t" rtlCol="false"/>
                    <a:lstStyle/>
                    <a:p>
                      <a:pPr algn="l">
                        <a:lnSpc>
                          <a:spcPts val="1860"/>
                        </a:lnSpc>
                        <a:defRPr/>
                      </a:pPr>
                      <a:r>
                        <a:rPr lang="en-US" sz="1550">
                          <a:solidFill>
                            <a:srgbClr val="14313B"/>
                          </a:solidFill>
                          <a:latin typeface="Calibri (MS)"/>
                          <a:ea typeface="Calibri (MS)"/>
                          <a:cs typeface="Calibri (MS)"/>
                          <a:sym typeface="Calibri (MS)"/>
                        </a:rPr>
                        <a:t>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Perubahan Insentif Kebijakan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Ubah nilai lewat kontrol parameter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Nilai berubah dan dipakai simulasi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Pass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r>
              <a:tr h="546100">
                <a:tc>
                  <a:txBody>
                    <a:bodyPr anchor="t" rtlCol="false"/>
                    <a:lstStyle/>
                    <a:p>
                      <a:pPr algn="l">
                        <a:lnSpc>
                          <a:spcPts val="1860"/>
                        </a:lnSpc>
                        <a:defRPr/>
                      </a:pPr>
                      <a:r>
                        <a:rPr lang="en-US" sz="1550">
                          <a:solidFill>
                            <a:srgbClr val="14313B"/>
                          </a:solidFill>
                          <a:latin typeface="Calibri (MS)"/>
                          <a:ea typeface="Calibri (MS)"/>
                          <a:cs typeface="Calibri (MS)"/>
                          <a:sym typeface="Calibri (MS)"/>
                        </a:rPr>
                        <a:t>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Perubahan Konservasi Lahan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Ubah nilai lewat kontrol parameter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Nilai berubah dan dipakai simulasi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Pass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r>
              <a:tr h="546100">
                <a:tc>
                  <a:txBody>
                    <a:bodyPr anchor="t" rtlCol="false"/>
                    <a:lstStyle/>
                    <a:p>
                      <a:pPr algn="l">
                        <a:lnSpc>
                          <a:spcPts val="1860"/>
                        </a:lnSpc>
                        <a:defRPr/>
                      </a:pPr>
                      <a:r>
                        <a:rPr lang="en-US" sz="1550">
                          <a:solidFill>
                            <a:srgbClr val="14313B"/>
                          </a:solidFill>
                          <a:latin typeface="Calibri (MS)"/>
                          <a:ea typeface="Calibri (MS)"/>
                          <a:cs typeface="Calibri (MS)"/>
                          <a:sym typeface="Calibri (MS)"/>
                        </a:rPr>
                        <a:t>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Reset parameter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Tekan Reset ke BAU</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Parameter kembali ke BAU</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Pass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r>
            </a:tbl>
          </a:graphicData>
        </a:graphic>
      </p:graphicFrame>
      <p:grpSp>
        <p:nvGrpSpPr>
          <p:cNvPr name="Group 68" id="68"/>
          <p:cNvGrpSpPr/>
          <p:nvPr/>
        </p:nvGrpSpPr>
        <p:grpSpPr>
          <a:xfrm rot="0">
            <a:off x="816607" y="7994647"/>
            <a:ext cx="16654777" cy="927097"/>
            <a:chOff x="0" y="0"/>
            <a:chExt cx="22206369" cy="1236129"/>
          </a:xfrm>
        </p:grpSpPr>
        <p:sp>
          <p:nvSpPr>
            <p:cNvPr name="Freeform 69" id="69"/>
            <p:cNvSpPr/>
            <p:nvPr/>
          </p:nvSpPr>
          <p:spPr>
            <a:xfrm flipH="false" flipV="false" rot="0">
              <a:off x="0" y="0"/>
              <a:ext cx="22206458" cy="1236218"/>
            </a:xfrm>
            <a:custGeom>
              <a:avLst/>
              <a:gdLst/>
              <a:ahLst/>
              <a:cxnLst/>
              <a:rect r="r" b="b" t="t" l="l"/>
              <a:pathLst>
                <a:path h="1236218" w="22206458">
                  <a:moveTo>
                    <a:pt x="0" y="98933"/>
                  </a:moveTo>
                  <a:cubicBezTo>
                    <a:pt x="0" y="44323"/>
                    <a:pt x="44323" y="0"/>
                    <a:pt x="98933" y="0"/>
                  </a:cubicBezTo>
                  <a:lnTo>
                    <a:pt x="22107525" y="0"/>
                  </a:lnTo>
                  <a:cubicBezTo>
                    <a:pt x="22162136" y="0"/>
                    <a:pt x="22206458" y="44323"/>
                    <a:pt x="22206458" y="98933"/>
                  </a:cubicBezTo>
                  <a:lnTo>
                    <a:pt x="22206458" y="1137285"/>
                  </a:lnTo>
                  <a:cubicBezTo>
                    <a:pt x="22206458" y="1191895"/>
                    <a:pt x="22162136" y="1236218"/>
                    <a:pt x="22107525" y="1236218"/>
                  </a:cubicBezTo>
                  <a:lnTo>
                    <a:pt x="98933" y="1236218"/>
                  </a:lnTo>
                  <a:cubicBezTo>
                    <a:pt x="44323" y="1236091"/>
                    <a:pt x="0" y="1191895"/>
                    <a:pt x="0" y="1137285"/>
                  </a:cubicBezTo>
                  <a:close/>
                </a:path>
              </a:pathLst>
            </a:custGeom>
            <a:solidFill>
              <a:srgbClr val="FFF1BF"/>
            </a:solidFill>
            <a:ln w="12700" cap="sq">
              <a:solidFill>
                <a:srgbClr val="FFD23B"/>
              </a:solidFill>
              <a:prstDash val="solid"/>
              <a:miter/>
            </a:ln>
          </p:spPr>
          <p:txBody>
            <a:bodyPr/>
            <a:p/>
          </p:txBody>
        </p:sp>
        <p:sp>
          <p:nvSpPr>
            <p:cNvPr name="TextBox 70" id="70"/>
            <p:cNvSpPr txBox="true"/>
            <p:nvPr/>
          </p:nvSpPr>
          <p:spPr>
            <a:xfrm>
              <a:off x="0" y="-38100"/>
              <a:ext cx="22206369" cy="127422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Fungsi utama berjalan sesuai rancangan (100% kasus uji). Pengujian ini tidak menilai kemudahan penggunaan — itu dinilai lewat SUS.</a:t>
              </a:r>
            </a:p>
          </p:txBody>
        </p:sp>
      </p:grpSp>
      <p:grpSp>
        <p:nvGrpSpPr>
          <p:cNvPr name="Group 71" id="71"/>
          <p:cNvGrpSpPr/>
          <p:nvPr/>
        </p:nvGrpSpPr>
        <p:grpSpPr>
          <a:xfrm rot="0">
            <a:off x="16047720" y="9646920"/>
            <a:ext cx="420624" cy="420624"/>
            <a:chOff x="0" y="0"/>
            <a:chExt cx="560832" cy="560832"/>
          </a:xfrm>
        </p:grpSpPr>
        <p:sp>
          <p:nvSpPr>
            <p:cNvPr name="Freeform 72" id="72"/>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73" id="73"/>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Evaluasi Usability (SUS)</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Skor SUS rata-rata 88,50: aplikasi mudah digunakan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822960" y="2188845"/>
            <a:ext cx="9052560" cy="62293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Skor SUS per responden (n = 10)</a:t>
            </a:r>
          </a:p>
        </p:txBody>
      </p:sp>
      <p:sp>
        <p:nvSpPr>
          <p:cNvPr name="TextBox 67" id="67"/>
          <p:cNvSpPr txBox="true"/>
          <p:nvPr/>
        </p:nvSpPr>
        <p:spPr>
          <a:xfrm rot="0">
            <a:off x="822960" y="7448550"/>
            <a:ext cx="9464040" cy="506730"/>
          </a:xfrm>
          <a:prstGeom prst="rect">
            <a:avLst/>
          </a:prstGeom>
        </p:spPr>
        <p:txBody>
          <a:bodyPr anchor="t" rtlCol="false" tIns="0" lIns="0" bIns="0" rIns="0">
            <a:spAutoFit/>
          </a:bodyPr>
          <a:lstStyle/>
          <a:p>
            <a:pPr algn="l">
              <a:lnSpc>
                <a:spcPts val="1889"/>
              </a:lnSpc>
            </a:pPr>
            <a:r>
              <a:rPr lang="en-US" sz="1299" i="true">
                <a:solidFill>
                  <a:srgbClr val="5E6E78"/>
                </a:solidFill>
                <a:latin typeface="Calibri (MS) Italics"/>
                <a:ea typeface="Calibri (MS) Italics"/>
                <a:cs typeface="Calibri (MS) Italics"/>
                <a:sym typeface="Calibri (MS) Italics"/>
              </a:rPr>
              <a:t>Batang merah = skor di bawah rata-rata normatif SUS (±68; Brooke, 2013): hanya R8. Responden: 10 mahasiswa (data kuesioner) setelah mencoba lima tugas.</a:t>
            </a:r>
          </a:p>
        </p:txBody>
      </p:sp>
      <p:grpSp>
        <p:nvGrpSpPr>
          <p:cNvPr name="Group 68" id="68"/>
          <p:cNvGrpSpPr/>
          <p:nvPr/>
        </p:nvGrpSpPr>
        <p:grpSpPr>
          <a:xfrm rot="0">
            <a:off x="10698480" y="2400300"/>
            <a:ext cx="6761988" cy="1714500"/>
            <a:chOff x="0" y="0"/>
            <a:chExt cx="9015984" cy="2286000"/>
          </a:xfrm>
        </p:grpSpPr>
        <p:sp>
          <p:nvSpPr>
            <p:cNvPr name="Freeform 69" id="69"/>
            <p:cNvSpPr/>
            <p:nvPr/>
          </p:nvSpPr>
          <p:spPr>
            <a:xfrm flipH="false" flipV="false" rot="0">
              <a:off x="0" y="0"/>
              <a:ext cx="9015985" cy="2286000"/>
            </a:xfrm>
            <a:custGeom>
              <a:avLst/>
              <a:gdLst/>
              <a:ahLst/>
              <a:cxnLst/>
              <a:rect r="r" b="b" t="t" l="l"/>
              <a:pathLst>
                <a:path h="2286000" w="9015985">
                  <a:moveTo>
                    <a:pt x="0" y="182880"/>
                  </a:moveTo>
                  <a:cubicBezTo>
                    <a:pt x="0" y="81915"/>
                    <a:pt x="81915" y="0"/>
                    <a:pt x="182880" y="0"/>
                  </a:cubicBezTo>
                  <a:lnTo>
                    <a:pt x="8833104" y="0"/>
                  </a:lnTo>
                  <a:cubicBezTo>
                    <a:pt x="8934069" y="0"/>
                    <a:pt x="9015985" y="81915"/>
                    <a:pt x="9015985" y="182880"/>
                  </a:cubicBezTo>
                  <a:lnTo>
                    <a:pt x="9015985" y="2103120"/>
                  </a:lnTo>
                  <a:cubicBezTo>
                    <a:pt x="9015985" y="2204085"/>
                    <a:pt x="8934069" y="2286000"/>
                    <a:pt x="8833104" y="2286000"/>
                  </a:cubicBezTo>
                  <a:lnTo>
                    <a:pt x="182880" y="2286000"/>
                  </a:lnTo>
                  <a:cubicBezTo>
                    <a:pt x="81915" y="2286000"/>
                    <a:pt x="0" y="2204085"/>
                    <a:pt x="0" y="2103120"/>
                  </a:cubicBezTo>
                  <a:close/>
                </a:path>
              </a:pathLst>
            </a:custGeom>
            <a:solidFill>
              <a:srgbClr val="EAF8FA"/>
            </a:solidFill>
          </p:spPr>
          <p:txBody>
            <a:bodyPr/>
            <a:p/>
          </p:txBody>
        </p:sp>
      </p:grpSp>
      <p:grpSp>
        <p:nvGrpSpPr>
          <p:cNvPr name="Group 70" id="70"/>
          <p:cNvGrpSpPr/>
          <p:nvPr/>
        </p:nvGrpSpPr>
        <p:grpSpPr>
          <a:xfrm rot="0">
            <a:off x="11041380" y="2400300"/>
            <a:ext cx="2400300" cy="1714500"/>
            <a:chOff x="0" y="0"/>
            <a:chExt cx="3200400" cy="2286000"/>
          </a:xfrm>
        </p:grpSpPr>
        <p:sp>
          <p:nvSpPr>
            <p:cNvPr name="Freeform 71" id="71"/>
            <p:cNvSpPr/>
            <p:nvPr/>
          </p:nvSpPr>
          <p:spPr>
            <a:xfrm flipH="false" flipV="false" rot="0">
              <a:off x="0" y="0"/>
              <a:ext cx="3200400" cy="2286000"/>
            </a:xfrm>
            <a:custGeom>
              <a:avLst/>
              <a:gdLst/>
              <a:ahLst/>
              <a:cxnLst/>
              <a:rect r="r" b="b" t="t" l="l"/>
              <a:pathLst>
                <a:path h="2286000" w="3200400">
                  <a:moveTo>
                    <a:pt x="0" y="0"/>
                  </a:moveTo>
                  <a:lnTo>
                    <a:pt x="3200400" y="0"/>
                  </a:lnTo>
                  <a:lnTo>
                    <a:pt x="3200400" y="2286000"/>
                  </a:lnTo>
                  <a:lnTo>
                    <a:pt x="0" y="2286000"/>
                  </a:lnTo>
                  <a:close/>
                </a:path>
              </a:pathLst>
            </a:custGeom>
            <a:blipFill>
              <a:blip r:embed="rId4">
                <a:alphaModFix amt="0"/>
              </a:blip>
              <a:stretch>
                <a:fillRect l="-41709" t="0" r="-41709" b="0"/>
              </a:stretch>
            </a:blipFill>
          </p:spPr>
          <p:txBody>
            <a:bodyPr/>
            <a:p/>
          </p:txBody>
        </p:sp>
      </p:grpSp>
      <p:grpSp>
        <p:nvGrpSpPr>
          <p:cNvPr name="Group 72" id="72"/>
          <p:cNvGrpSpPr/>
          <p:nvPr/>
        </p:nvGrpSpPr>
        <p:grpSpPr>
          <a:xfrm rot="0">
            <a:off x="11041380" y="2336006"/>
            <a:ext cx="2400300" cy="1778794"/>
            <a:chOff x="0" y="0"/>
            <a:chExt cx="3200400" cy="2371725"/>
          </a:xfrm>
        </p:grpSpPr>
        <p:sp>
          <p:nvSpPr>
            <p:cNvPr name="Freeform 73" id="73"/>
            <p:cNvSpPr/>
            <p:nvPr/>
          </p:nvSpPr>
          <p:spPr>
            <a:xfrm flipH="false" flipV="false" rot="0">
              <a:off x="0" y="0"/>
              <a:ext cx="3200400" cy="2371725"/>
            </a:xfrm>
            <a:custGeom>
              <a:avLst/>
              <a:gdLst/>
              <a:ahLst/>
              <a:cxnLst/>
              <a:rect r="r" b="b" t="t" l="l"/>
              <a:pathLst>
                <a:path h="2371725" w="3200400">
                  <a:moveTo>
                    <a:pt x="0" y="0"/>
                  </a:moveTo>
                  <a:lnTo>
                    <a:pt x="3200400" y="0"/>
                  </a:lnTo>
                  <a:lnTo>
                    <a:pt x="3200400" y="2371725"/>
                  </a:lnTo>
                  <a:lnTo>
                    <a:pt x="0" y="2371725"/>
                  </a:lnTo>
                  <a:close/>
                </a:path>
              </a:pathLst>
            </a:custGeom>
            <a:blipFill>
              <a:blip r:embed="rId5">
                <a:alphaModFix amt="0"/>
              </a:blip>
              <a:stretch>
                <a:fillRect l="-45148" t="0" r="-45148" b="0"/>
              </a:stretch>
            </a:blipFill>
          </p:spPr>
          <p:txBody>
            <a:bodyPr/>
            <a:p/>
          </p:txBody>
        </p:sp>
      </p:grpSp>
      <p:grpSp>
        <p:nvGrpSpPr>
          <p:cNvPr name="Group 74" id="74"/>
          <p:cNvGrpSpPr/>
          <p:nvPr/>
        </p:nvGrpSpPr>
        <p:grpSpPr>
          <a:xfrm rot="0">
            <a:off x="11041380" y="2271712"/>
            <a:ext cx="2400300" cy="1843088"/>
            <a:chOff x="0" y="0"/>
            <a:chExt cx="3200400" cy="2457450"/>
          </a:xfrm>
        </p:grpSpPr>
        <p:sp>
          <p:nvSpPr>
            <p:cNvPr name="Freeform 75" id="75"/>
            <p:cNvSpPr/>
            <p:nvPr/>
          </p:nvSpPr>
          <p:spPr>
            <a:xfrm flipH="false" flipV="false" rot="0">
              <a:off x="0" y="0"/>
              <a:ext cx="3200400" cy="2457450"/>
            </a:xfrm>
            <a:custGeom>
              <a:avLst/>
              <a:gdLst/>
              <a:ahLst/>
              <a:cxnLst/>
              <a:rect r="r" b="b" t="t" l="l"/>
              <a:pathLst>
                <a:path h="2457450" w="3200400">
                  <a:moveTo>
                    <a:pt x="0" y="0"/>
                  </a:moveTo>
                  <a:lnTo>
                    <a:pt x="3200400" y="0"/>
                  </a:lnTo>
                  <a:lnTo>
                    <a:pt x="3200400" y="2457450"/>
                  </a:lnTo>
                  <a:lnTo>
                    <a:pt x="0" y="2457450"/>
                  </a:lnTo>
                  <a:close/>
                </a:path>
              </a:pathLst>
            </a:custGeom>
            <a:blipFill>
              <a:blip r:embed="rId6">
                <a:alphaModFix amt="0"/>
              </a:blip>
              <a:stretch>
                <a:fillRect l="-48518" t="0" r="-48518" b="0"/>
              </a:stretch>
            </a:blipFill>
          </p:spPr>
          <p:txBody>
            <a:bodyPr/>
            <a:p/>
          </p:txBody>
        </p:sp>
        <p:sp>
          <p:nvSpPr>
            <p:cNvPr name="TextBox 76" id="76"/>
            <p:cNvSpPr txBox="true"/>
            <p:nvPr/>
          </p:nvSpPr>
          <p:spPr>
            <a:xfrm>
              <a:off x="0" y="-85725"/>
              <a:ext cx="3200400" cy="2543175"/>
            </a:xfrm>
            <a:prstGeom prst="rect">
              <a:avLst/>
            </a:prstGeom>
          </p:spPr>
          <p:txBody>
            <a:bodyPr anchor="ctr" rtlCol="false" tIns="0" lIns="0" bIns="0" rIns="0"/>
            <a:lstStyle/>
            <a:p>
              <a:pPr algn="l">
                <a:lnSpc>
                  <a:spcPts val="5040"/>
                </a:lnSpc>
              </a:pPr>
              <a:r>
                <a:rPr lang="en-US" sz="4200" b="true">
                  <a:solidFill>
                    <a:srgbClr val="0B5E6E"/>
                  </a:solidFill>
                  <a:latin typeface="Calibri (MS) Bold"/>
                  <a:ea typeface="Calibri (MS) Bold"/>
                  <a:cs typeface="Calibri (MS) Bold"/>
                  <a:sym typeface="Calibri (MS) Bold"/>
                </a:rPr>
                <a:t>9 / 9</a:t>
              </a:r>
            </a:p>
          </p:txBody>
        </p:sp>
      </p:grpSp>
      <p:grpSp>
        <p:nvGrpSpPr>
          <p:cNvPr name="Group 77" id="77"/>
          <p:cNvGrpSpPr/>
          <p:nvPr/>
        </p:nvGrpSpPr>
        <p:grpSpPr>
          <a:xfrm rot="0">
            <a:off x="13510260" y="2400300"/>
            <a:ext cx="3771900" cy="1714500"/>
            <a:chOff x="0" y="0"/>
            <a:chExt cx="5029200" cy="2286000"/>
          </a:xfrm>
        </p:grpSpPr>
        <p:sp>
          <p:nvSpPr>
            <p:cNvPr name="Freeform 78" id="78"/>
            <p:cNvSpPr/>
            <p:nvPr/>
          </p:nvSpPr>
          <p:spPr>
            <a:xfrm flipH="false" flipV="false" rot="0">
              <a:off x="0" y="0"/>
              <a:ext cx="5029200" cy="2286000"/>
            </a:xfrm>
            <a:custGeom>
              <a:avLst/>
              <a:gdLst/>
              <a:ahLst/>
              <a:cxnLst/>
              <a:rect r="r" b="b" t="t" l="l"/>
              <a:pathLst>
                <a:path h="2286000" w="5029200">
                  <a:moveTo>
                    <a:pt x="0" y="0"/>
                  </a:moveTo>
                  <a:lnTo>
                    <a:pt x="5029200" y="0"/>
                  </a:lnTo>
                  <a:lnTo>
                    <a:pt x="5029200" y="2286000"/>
                  </a:lnTo>
                  <a:lnTo>
                    <a:pt x="0" y="2286000"/>
                  </a:lnTo>
                  <a:close/>
                </a:path>
              </a:pathLst>
            </a:custGeom>
            <a:blipFill>
              <a:blip r:embed="rId4">
                <a:alphaModFix amt="0"/>
              </a:blip>
              <a:stretch>
                <a:fillRect l="-8360" t="0" r="-8360" b="0"/>
              </a:stretch>
            </a:blipFill>
          </p:spPr>
          <p:txBody>
            <a:bodyPr/>
            <a:p/>
          </p:txBody>
        </p:sp>
      </p:grpSp>
      <p:grpSp>
        <p:nvGrpSpPr>
          <p:cNvPr name="Group 79" id="79"/>
          <p:cNvGrpSpPr/>
          <p:nvPr/>
        </p:nvGrpSpPr>
        <p:grpSpPr>
          <a:xfrm rot="0">
            <a:off x="13510260" y="2371725"/>
            <a:ext cx="3771900" cy="1743075"/>
            <a:chOff x="0" y="0"/>
            <a:chExt cx="5029200" cy="2324100"/>
          </a:xfrm>
        </p:grpSpPr>
        <p:sp>
          <p:nvSpPr>
            <p:cNvPr name="Freeform 80" id="80"/>
            <p:cNvSpPr/>
            <p:nvPr/>
          </p:nvSpPr>
          <p:spPr>
            <a:xfrm flipH="false" flipV="false" rot="0">
              <a:off x="0" y="0"/>
              <a:ext cx="5029200" cy="2324100"/>
            </a:xfrm>
            <a:custGeom>
              <a:avLst/>
              <a:gdLst/>
              <a:ahLst/>
              <a:cxnLst/>
              <a:rect r="r" b="b" t="t" l="l"/>
              <a:pathLst>
                <a:path h="2324100" w="5029200">
                  <a:moveTo>
                    <a:pt x="0" y="0"/>
                  </a:moveTo>
                  <a:lnTo>
                    <a:pt x="5029200" y="0"/>
                  </a:lnTo>
                  <a:lnTo>
                    <a:pt x="5029200" y="2324100"/>
                  </a:lnTo>
                  <a:lnTo>
                    <a:pt x="0" y="2324100"/>
                  </a:lnTo>
                  <a:close/>
                </a:path>
              </a:pathLst>
            </a:custGeom>
            <a:blipFill>
              <a:blip r:embed="rId5">
                <a:alphaModFix amt="0"/>
              </a:blip>
              <a:stretch>
                <a:fillRect l="-9333" t="0" r="-9333" b="0"/>
              </a:stretch>
            </a:blipFill>
          </p:spPr>
          <p:txBody>
            <a:bodyPr/>
            <a:p/>
          </p:txBody>
        </p:sp>
      </p:grpSp>
      <p:grpSp>
        <p:nvGrpSpPr>
          <p:cNvPr name="Group 81" id="81"/>
          <p:cNvGrpSpPr/>
          <p:nvPr/>
        </p:nvGrpSpPr>
        <p:grpSpPr>
          <a:xfrm rot="0">
            <a:off x="13510260" y="2343150"/>
            <a:ext cx="3771900" cy="1771650"/>
            <a:chOff x="0" y="0"/>
            <a:chExt cx="5029200" cy="2362200"/>
          </a:xfrm>
        </p:grpSpPr>
        <p:sp>
          <p:nvSpPr>
            <p:cNvPr name="Freeform 82" id="82"/>
            <p:cNvSpPr/>
            <p:nvPr/>
          </p:nvSpPr>
          <p:spPr>
            <a:xfrm flipH="false" flipV="false" rot="0">
              <a:off x="0" y="0"/>
              <a:ext cx="5029200" cy="2362200"/>
            </a:xfrm>
            <a:custGeom>
              <a:avLst/>
              <a:gdLst/>
              <a:ahLst/>
              <a:cxnLst/>
              <a:rect r="r" b="b" t="t" l="l"/>
              <a:pathLst>
                <a:path h="2362200" w="5029200">
                  <a:moveTo>
                    <a:pt x="0" y="0"/>
                  </a:moveTo>
                  <a:lnTo>
                    <a:pt x="5029200" y="0"/>
                  </a:lnTo>
                  <a:lnTo>
                    <a:pt x="5029200" y="2362200"/>
                  </a:lnTo>
                  <a:lnTo>
                    <a:pt x="0" y="2362200"/>
                  </a:lnTo>
                  <a:close/>
                </a:path>
              </a:pathLst>
            </a:custGeom>
            <a:blipFill>
              <a:blip r:embed="rId6">
                <a:alphaModFix amt="0"/>
              </a:blip>
              <a:stretch>
                <a:fillRect l="-10263" t="0" r="-10263" b="0"/>
              </a:stretch>
            </a:blipFill>
          </p:spPr>
          <p:txBody>
            <a:bodyPr/>
            <a:p/>
          </p:txBody>
        </p:sp>
        <p:sp>
          <p:nvSpPr>
            <p:cNvPr name="TextBox 83" id="83"/>
            <p:cNvSpPr txBox="true"/>
            <p:nvPr/>
          </p:nvSpPr>
          <p:spPr>
            <a:xfrm>
              <a:off x="0" y="-38100"/>
              <a:ext cx="5029200" cy="240030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kasus uji black-box berstatus Pass (100%)</a:t>
              </a:r>
            </a:p>
          </p:txBody>
        </p:sp>
      </p:grpSp>
      <p:grpSp>
        <p:nvGrpSpPr>
          <p:cNvPr name="Group 84" id="84"/>
          <p:cNvGrpSpPr/>
          <p:nvPr/>
        </p:nvGrpSpPr>
        <p:grpSpPr>
          <a:xfrm rot="0">
            <a:off x="10698480" y="4293108"/>
            <a:ext cx="6761988" cy="1714500"/>
            <a:chOff x="0" y="0"/>
            <a:chExt cx="9015984" cy="2286000"/>
          </a:xfrm>
        </p:grpSpPr>
        <p:sp>
          <p:nvSpPr>
            <p:cNvPr name="Freeform 85" id="85"/>
            <p:cNvSpPr/>
            <p:nvPr/>
          </p:nvSpPr>
          <p:spPr>
            <a:xfrm flipH="false" flipV="false" rot="0">
              <a:off x="0" y="0"/>
              <a:ext cx="9015985" cy="2286000"/>
            </a:xfrm>
            <a:custGeom>
              <a:avLst/>
              <a:gdLst/>
              <a:ahLst/>
              <a:cxnLst/>
              <a:rect r="r" b="b" t="t" l="l"/>
              <a:pathLst>
                <a:path h="2286000" w="9015985">
                  <a:moveTo>
                    <a:pt x="0" y="182880"/>
                  </a:moveTo>
                  <a:cubicBezTo>
                    <a:pt x="0" y="81915"/>
                    <a:pt x="81915" y="0"/>
                    <a:pt x="182880" y="0"/>
                  </a:cubicBezTo>
                  <a:lnTo>
                    <a:pt x="8833104" y="0"/>
                  </a:lnTo>
                  <a:cubicBezTo>
                    <a:pt x="8934069" y="0"/>
                    <a:pt x="9015985" y="81915"/>
                    <a:pt x="9015985" y="182880"/>
                  </a:cubicBezTo>
                  <a:lnTo>
                    <a:pt x="9015985" y="2103120"/>
                  </a:lnTo>
                  <a:cubicBezTo>
                    <a:pt x="9015985" y="2204085"/>
                    <a:pt x="8934069" y="2286000"/>
                    <a:pt x="8833104" y="2286000"/>
                  </a:cubicBezTo>
                  <a:lnTo>
                    <a:pt x="182880" y="2286000"/>
                  </a:lnTo>
                  <a:cubicBezTo>
                    <a:pt x="81915" y="2286000"/>
                    <a:pt x="0" y="2204085"/>
                    <a:pt x="0" y="2103120"/>
                  </a:cubicBezTo>
                  <a:close/>
                </a:path>
              </a:pathLst>
            </a:custGeom>
            <a:solidFill>
              <a:srgbClr val="EAF8FA"/>
            </a:solidFill>
          </p:spPr>
          <p:txBody>
            <a:bodyPr/>
            <a:p/>
          </p:txBody>
        </p:sp>
      </p:grpSp>
      <p:grpSp>
        <p:nvGrpSpPr>
          <p:cNvPr name="Group 86" id="86"/>
          <p:cNvGrpSpPr/>
          <p:nvPr/>
        </p:nvGrpSpPr>
        <p:grpSpPr>
          <a:xfrm rot="0">
            <a:off x="11041380" y="4293108"/>
            <a:ext cx="2400300" cy="1714500"/>
            <a:chOff x="0" y="0"/>
            <a:chExt cx="3200400" cy="2286000"/>
          </a:xfrm>
        </p:grpSpPr>
        <p:sp>
          <p:nvSpPr>
            <p:cNvPr name="Freeform 87" id="87"/>
            <p:cNvSpPr/>
            <p:nvPr/>
          </p:nvSpPr>
          <p:spPr>
            <a:xfrm flipH="false" flipV="false" rot="0">
              <a:off x="0" y="0"/>
              <a:ext cx="3200400" cy="2286000"/>
            </a:xfrm>
            <a:custGeom>
              <a:avLst/>
              <a:gdLst/>
              <a:ahLst/>
              <a:cxnLst/>
              <a:rect r="r" b="b" t="t" l="l"/>
              <a:pathLst>
                <a:path h="2286000" w="3200400">
                  <a:moveTo>
                    <a:pt x="0" y="0"/>
                  </a:moveTo>
                  <a:lnTo>
                    <a:pt x="3200400" y="0"/>
                  </a:lnTo>
                  <a:lnTo>
                    <a:pt x="3200400" y="2286000"/>
                  </a:lnTo>
                  <a:lnTo>
                    <a:pt x="0" y="2286000"/>
                  </a:lnTo>
                  <a:close/>
                </a:path>
              </a:pathLst>
            </a:custGeom>
            <a:blipFill>
              <a:blip r:embed="rId4">
                <a:alphaModFix amt="0"/>
              </a:blip>
              <a:stretch>
                <a:fillRect l="-41709" t="0" r="-41709" b="0"/>
              </a:stretch>
            </a:blipFill>
          </p:spPr>
          <p:txBody>
            <a:bodyPr/>
            <a:p/>
          </p:txBody>
        </p:sp>
      </p:grpSp>
      <p:grpSp>
        <p:nvGrpSpPr>
          <p:cNvPr name="Group 88" id="88"/>
          <p:cNvGrpSpPr/>
          <p:nvPr/>
        </p:nvGrpSpPr>
        <p:grpSpPr>
          <a:xfrm rot="0">
            <a:off x="11041380" y="4228814"/>
            <a:ext cx="2400300" cy="1778794"/>
            <a:chOff x="0" y="0"/>
            <a:chExt cx="3200400" cy="2371725"/>
          </a:xfrm>
        </p:grpSpPr>
        <p:sp>
          <p:nvSpPr>
            <p:cNvPr name="Freeform 89" id="89"/>
            <p:cNvSpPr/>
            <p:nvPr/>
          </p:nvSpPr>
          <p:spPr>
            <a:xfrm flipH="false" flipV="false" rot="0">
              <a:off x="0" y="0"/>
              <a:ext cx="3200400" cy="2371725"/>
            </a:xfrm>
            <a:custGeom>
              <a:avLst/>
              <a:gdLst/>
              <a:ahLst/>
              <a:cxnLst/>
              <a:rect r="r" b="b" t="t" l="l"/>
              <a:pathLst>
                <a:path h="2371725" w="3200400">
                  <a:moveTo>
                    <a:pt x="0" y="0"/>
                  </a:moveTo>
                  <a:lnTo>
                    <a:pt x="3200400" y="0"/>
                  </a:lnTo>
                  <a:lnTo>
                    <a:pt x="3200400" y="2371725"/>
                  </a:lnTo>
                  <a:lnTo>
                    <a:pt x="0" y="2371725"/>
                  </a:lnTo>
                  <a:close/>
                </a:path>
              </a:pathLst>
            </a:custGeom>
            <a:blipFill>
              <a:blip r:embed="rId5">
                <a:alphaModFix amt="0"/>
              </a:blip>
              <a:stretch>
                <a:fillRect l="-45148" t="0" r="-45148" b="0"/>
              </a:stretch>
            </a:blipFill>
          </p:spPr>
          <p:txBody>
            <a:bodyPr/>
            <a:p/>
          </p:txBody>
        </p:sp>
      </p:grpSp>
      <p:grpSp>
        <p:nvGrpSpPr>
          <p:cNvPr name="Group 90" id="90"/>
          <p:cNvGrpSpPr/>
          <p:nvPr/>
        </p:nvGrpSpPr>
        <p:grpSpPr>
          <a:xfrm rot="0">
            <a:off x="11041380" y="4164521"/>
            <a:ext cx="2400300" cy="1843088"/>
            <a:chOff x="0" y="0"/>
            <a:chExt cx="3200400" cy="2457450"/>
          </a:xfrm>
        </p:grpSpPr>
        <p:sp>
          <p:nvSpPr>
            <p:cNvPr name="Freeform 91" id="91"/>
            <p:cNvSpPr/>
            <p:nvPr/>
          </p:nvSpPr>
          <p:spPr>
            <a:xfrm flipH="false" flipV="false" rot="0">
              <a:off x="0" y="0"/>
              <a:ext cx="3200400" cy="2457450"/>
            </a:xfrm>
            <a:custGeom>
              <a:avLst/>
              <a:gdLst/>
              <a:ahLst/>
              <a:cxnLst/>
              <a:rect r="r" b="b" t="t" l="l"/>
              <a:pathLst>
                <a:path h="2457450" w="3200400">
                  <a:moveTo>
                    <a:pt x="0" y="0"/>
                  </a:moveTo>
                  <a:lnTo>
                    <a:pt x="3200400" y="0"/>
                  </a:lnTo>
                  <a:lnTo>
                    <a:pt x="3200400" y="2457450"/>
                  </a:lnTo>
                  <a:lnTo>
                    <a:pt x="0" y="2457450"/>
                  </a:lnTo>
                  <a:close/>
                </a:path>
              </a:pathLst>
            </a:custGeom>
            <a:blipFill>
              <a:blip r:embed="rId6">
                <a:alphaModFix amt="0"/>
              </a:blip>
              <a:stretch>
                <a:fillRect l="-48518" t="0" r="-48518" b="0"/>
              </a:stretch>
            </a:blipFill>
          </p:spPr>
          <p:txBody>
            <a:bodyPr/>
            <a:p/>
          </p:txBody>
        </p:sp>
        <p:sp>
          <p:nvSpPr>
            <p:cNvPr name="TextBox 92" id="92"/>
            <p:cNvSpPr txBox="true"/>
            <p:nvPr/>
          </p:nvSpPr>
          <p:spPr>
            <a:xfrm>
              <a:off x="0" y="-85725"/>
              <a:ext cx="3200400" cy="2543175"/>
            </a:xfrm>
            <a:prstGeom prst="rect">
              <a:avLst/>
            </a:prstGeom>
          </p:spPr>
          <p:txBody>
            <a:bodyPr anchor="ctr" rtlCol="false" tIns="0" lIns="0" bIns="0" rIns="0"/>
            <a:lstStyle/>
            <a:p>
              <a:pPr algn="l">
                <a:lnSpc>
                  <a:spcPts val="5040"/>
                </a:lnSpc>
              </a:pPr>
              <a:r>
                <a:rPr lang="en-US" sz="4200" b="true">
                  <a:solidFill>
                    <a:srgbClr val="0B5E6E"/>
                  </a:solidFill>
                  <a:latin typeface="Calibri (MS) Bold"/>
                  <a:ea typeface="Calibri (MS) Bold"/>
                  <a:cs typeface="Calibri (MS) Bold"/>
                  <a:sym typeface="Calibri (MS) Bold"/>
                </a:rPr>
                <a:t>88,50</a:t>
              </a:r>
            </a:p>
          </p:txBody>
        </p:sp>
      </p:grpSp>
      <p:grpSp>
        <p:nvGrpSpPr>
          <p:cNvPr name="Group 93" id="93"/>
          <p:cNvGrpSpPr/>
          <p:nvPr/>
        </p:nvGrpSpPr>
        <p:grpSpPr>
          <a:xfrm rot="0">
            <a:off x="13510260" y="4293108"/>
            <a:ext cx="3771900" cy="1714500"/>
            <a:chOff x="0" y="0"/>
            <a:chExt cx="5029200" cy="2286000"/>
          </a:xfrm>
        </p:grpSpPr>
        <p:sp>
          <p:nvSpPr>
            <p:cNvPr name="Freeform 94" id="94"/>
            <p:cNvSpPr/>
            <p:nvPr/>
          </p:nvSpPr>
          <p:spPr>
            <a:xfrm flipH="false" flipV="false" rot="0">
              <a:off x="0" y="0"/>
              <a:ext cx="5029200" cy="2286000"/>
            </a:xfrm>
            <a:custGeom>
              <a:avLst/>
              <a:gdLst/>
              <a:ahLst/>
              <a:cxnLst/>
              <a:rect r="r" b="b" t="t" l="l"/>
              <a:pathLst>
                <a:path h="2286000" w="5029200">
                  <a:moveTo>
                    <a:pt x="0" y="0"/>
                  </a:moveTo>
                  <a:lnTo>
                    <a:pt x="5029200" y="0"/>
                  </a:lnTo>
                  <a:lnTo>
                    <a:pt x="5029200" y="2286000"/>
                  </a:lnTo>
                  <a:lnTo>
                    <a:pt x="0" y="2286000"/>
                  </a:lnTo>
                  <a:close/>
                </a:path>
              </a:pathLst>
            </a:custGeom>
            <a:blipFill>
              <a:blip r:embed="rId4">
                <a:alphaModFix amt="0"/>
              </a:blip>
              <a:stretch>
                <a:fillRect l="-8360" t="0" r="-8360" b="0"/>
              </a:stretch>
            </a:blipFill>
          </p:spPr>
          <p:txBody>
            <a:bodyPr/>
            <a:p/>
          </p:txBody>
        </p:sp>
      </p:grpSp>
      <p:grpSp>
        <p:nvGrpSpPr>
          <p:cNvPr name="Group 95" id="95"/>
          <p:cNvGrpSpPr/>
          <p:nvPr/>
        </p:nvGrpSpPr>
        <p:grpSpPr>
          <a:xfrm rot="0">
            <a:off x="13510260" y="4264533"/>
            <a:ext cx="3771900" cy="1743075"/>
            <a:chOff x="0" y="0"/>
            <a:chExt cx="5029200" cy="2324100"/>
          </a:xfrm>
        </p:grpSpPr>
        <p:sp>
          <p:nvSpPr>
            <p:cNvPr name="Freeform 96" id="96"/>
            <p:cNvSpPr/>
            <p:nvPr/>
          </p:nvSpPr>
          <p:spPr>
            <a:xfrm flipH="false" flipV="false" rot="0">
              <a:off x="0" y="0"/>
              <a:ext cx="5029200" cy="2324100"/>
            </a:xfrm>
            <a:custGeom>
              <a:avLst/>
              <a:gdLst/>
              <a:ahLst/>
              <a:cxnLst/>
              <a:rect r="r" b="b" t="t" l="l"/>
              <a:pathLst>
                <a:path h="2324100" w="5029200">
                  <a:moveTo>
                    <a:pt x="0" y="0"/>
                  </a:moveTo>
                  <a:lnTo>
                    <a:pt x="5029200" y="0"/>
                  </a:lnTo>
                  <a:lnTo>
                    <a:pt x="5029200" y="2324100"/>
                  </a:lnTo>
                  <a:lnTo>
                    <a:pt x="0" y="2324100"/>
                  </a:lnTo>
                  <a:close/>
                </a:path>
              </a:pathLst>
            </a:custGeom>
            <a:blipFill>
              <a:blip r:embed="rId5">
                <a:alphaModFix amt="0"/>
              </a:blip>
              <a:stretch>
                <a:fillRect l="-9333" t="0" r="-9333" b="0"/>
              </a:stretch>
            </a:blipFill>
          </p:spPr>
          <p:txBody>
            <a:bodyPr/>
            <a:p/>
          </p:txBody>
        </p:sp>
      </p:grpSp>
      <p:grpSp>
        <p:nvGrpSpPr>
          <p:cNvPr name="Group 97" id="97"/>
          <p:cNvGrpSpPr/>
          <p:nvPr/>
        </p:nvGrpSpPr>
        <p:grpSpPr>
          <a:xfrm rot="0">
            <a:off x="13510260" y="4235958"/>
            <a:ext cx="3771900" cy="1771650"/>
            <a:chOff x="0" y="0"/>
            <a:chExt cx="5029200" cy="2362200"/>
          </a:xfrm>
        </p:grpSpPr>
        <p:sp>
          <p:nvSpPr>
            <p:cNvPr name="Freeform 98" id="98"/>
            <p:cNvSpPr/>
            <p:nvPr/>
          </p:nvSpPr>
          <p:spPr>
            <a:xfrm flipH="false" flipV="false" rot="0">
              <a:off x="0" y="0"/>
              <a:ext cx="5029200" cy="2362200"/>
            </a:xfrm>
            <a:custGeom>
              <a:avLst/>
              <a:gdLst/>
              <a:ahLst/>
              <a:cxnLst/>
              <a:rect r="r" b="b" t="t" l="l"/>
              <a:pathLst>
                <a:path h="2362200" w="5029200">
                  <a:moveTo>
                    <a:pt x="0" y="0"/>
                  </a:moveTo>
                  <a:lnTo>
                    <a:pt x="5029200" y="0"/>
                  </a:lnTo>
                  <a:lnTo>
                    <a:pt x="5029200" y="2362200"/>
                  </a:lnTo>
                  <a:lnTo>
                    <a:pt x="0" y="2362200"/>
                  </a:lnTo>
                  <a:close/>
                </a:path>
              </a:pathLst>
            </a:custGeom>
            <a:blipFill>
              <a:blip r:embed="rId6">
                <a:alphaModFix amt="0"/>
              </a:blip>
              <a:stretch>
                <a:fillRect l="-10263" t="0" r="-10263" b="0"/>
              </a:stretch>
            </a:blipFill>
          </p:spPr>
          <p:txBody>
            <a:bodyPr/>
            <a:p/>
          </p:txBody>
        </p:sp>
        <p:sp>
          <p:nvSpPr>
            <p:cNvPr name="TextBox 99" id="99"/>
            <p:cNvSpPr txBox="true"/>
            <p:nvPr/>
          </p:nvSpPr>
          <p:spPr>
            <a:xfrm>
              <a:off x="0" y="-38100"/>
              <a:ext cx="5029200" cy="240030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skor SUS rata-rata (median 92,50; SD 13,85)</a:t>
              </a:r>
            </a:p>
          </p:txBody>
        </p:sp>
      </p:grpSp>
      <p:grpSp>
        <p:nvGrpSpPr>
          <p:cNvPr name="Group 100" id="100"/>
          <p:cNvGrpSpPr/>
          <p:nvPr/>
        </p:nvGrpSpPr>
        <p:grpSpPr>
          <a:xfrm rot="0">
            <a:off x="10698480" y="6185916"/>
            <a:ext cx="6761988" cy="1714500"/>
            <a:chOff x="0" y="0"/>
            <a:chExt cx="9015984" cy="2286000"/>
          </a:xfrm>
        </p:grpSpPr>
        <p:sp>
          <p:nvSpPr>
            <p:cNvPr name="Freeform 101" id="101"/>
            <p:cNvSpPr/>
            <p:nvPr/>
          </p:nvSpPr>
          <p:spPr>
            <a:xfrm flipH="false" flipV="false" rot="0">
              <a:off x="0" y="0"/>
              <a:ext cx="9015985" cy="2286000"/>
            </a:xfrm>
            <a:custGeom>
              <a:avLst/>
              <a:gdLst/>
              <a:ahLst/>
              <a:cxnLst/>
              <a:rect r="r" b="b" t="t" l="l"/>
              <a:pathLst>
                <a:path h="2286000" w="9015985">
                  <a:moveTo>
                    <a:pt x="0" y="182880"/>
                  </a:moveTo>
                  <a:cubicBezTo>
                    <a:pt x="0" y="81915"/>
                    <a:pt x="81915" y="0"/>
                    <a:pt x="182880" y="0"/>
                  </a:cubicBezTo>
                  <a:lnTo>
                    <a:pt x="8833104" y="0"/>
                  </a:lnTo>
                  <a:cubicBezTo>
                    <a:pt x="8934069" y="0"/>
                    <a:pt x="9015985" y="81915"/>
                    <a:pt x="9015985" y="182880"/>
                  </a:cubicBezTo>
                  <a:lnTo>
                    <a:pt x="9015985" y="2103120"/>
                  </a:lnTo>
                  <a:cubicBezTo>
                    <a:pt x="9015985" y="2204085"/>
                    <a:pt x="8934069" y="2286000"/>
                    <a:pt x="8833104" y="2286000"/>
                  </a:cubicBezTo>
                  <a:lnTo>
                    <a:pt x="182880" y="2286000"/>
                  </a:lnTo>
                  <a:cubicBezTo>
                    <a:pt x="81915" y="2286000"/>
                    <a:pt x="0" y="2204085"/>
                    <a:pt x="0" y="2103120"/>
                  </a:cubicBezTo>
                  <a:close/>
                </a:path>
              </a:pathLst>
            </a:custGeom>
            <a:solidFill>
              <a:srgbClr val="EAF8FA"/>
            </a:solidFill>
          </p:spPr>
          <p:txBody>
            <a:bodyPr/>
            <a:p/>
          </p:txBody>
        </p:sp>
      </p:grpSp>
      <p:grpSp>
        <p:nvGrpSpPr>
          <p:cNvPr name="Group 102" id="102"/>
          <p:cNvGrpSpPr/>
          <p:nvPr/>
        </p:nvGrpSpPr>
        <p:grpSpPr>
          <a:xfrm rot="0">
            <a:off x="11041380" y="6185916"/>
            <a:ext cx="2400300" cy="1714500"/>
            <a:chOff x="0" y="0"/>
            <a:chExt cx="3200400" cy="2286000"/>
          </a:xfrm>
        </p:grpSpPr>
        <p:sp>
          <p:nvSpPr>
            <p:cNvPr name="Freeform 103" id="103"/>
            <p:cNvSpPr/>
            <p:nvPr/>
          </p:nvSpPr>
          <p:spPr>
            <a:xfrm flipH="false" flipV="false" rot="0">
              <a:off x="0" y="0"/>
              <a:ext cx="3200400" cy="2286000"/>
            </a:xfrm>
            <a:custGeom>
              <a:avLst/>
              <a:gdLst/>
              <a:ahLst/>
              <a:cxnLst/>
              <a:rect r="r" b="b" t="t" l="l"/>
              <a:pathLst>
                <a:path h="2286000" w="3200400">
                  <a:moveTo>
                    <a:pt x="0" y="0"/>
                  </a:moveTo>
                  <a:lnTo>
                    <a:pt x="3200400" y="0"/>
                  </a:lnTo>
                  <a:lnTo>
                    <a:pt x="3200400" y="2286000"/>
                  </a:lnTo>
                  <a:lnTo>
                    <a:pt x="0" y="2286000"/>
                  </a:lnTo>
                  <a:close/>
                </a:path>
              </a:pathLst>
            </a:custGeom>
            <a:blipFill>
              <a:blip r:embed="rId4">
                <a:alphaModFix amt="0"/>
              </a:blip>
              <a:stretch>
                <a:fillRect l="-41709" t="0" r="-41709" b="0"/>
              </a:stretch>
            </a:blipFill>
          </p:spPr>
          <p:txBody>
            <a:bodyPr/>
            <a:p/>
          </p:txBody>
        </p:sp>
      </p:grpSp>
      <p:grpSp>
        <p:nvGrpSpPr>
          <p:cNvPr name="Group 104" id="104"/>
          <p:cNvGrpSpPr/>
          <p:nvPr/>
        </p:nvGrpSpPr>
        <p:grpSpPr>
          <a:xfrm rot="0">
            <a:off x="11041380" y="6121622"/>
            <a:ext cx="2400300" cy="1778794"/>
            <a:chOff x="0" y="0"/>
            <a:chExt cx="3200400" cy="2371725"/>
          </a:xfrm>
        </p:grpSpPr>
        <p:sp>
          <p:nvSpPr>
            <p:cNvPr name="Freeform 105" id="105"/>
            <p:cNvSpPr/>
            <p:nvPr/>
          </p:nvSpPr>
          <p:spPr>
            <a:xfrm flipH="false" flipV="false" rot="0">
              <a:off x="0" y="0"/>
              <a:ext cx="3200400" cy="2371725"/>
            </a:xfrm>
            <a:custGeom>
              <a:avLst/>
              <a:gdLst/>
              <a:ahLst/>
              <a:cxnLst/>
              <a:rect r="r" b="b" t="t" l="l"/>
              <a:pathLst>
                <a:path h="2371725" w="3200400">
                  <a:moveTo>
                    <a:pt x="0" y="0"/>
                  </a:moveTo>
                  <a:lnTo>
                    <a:pt x="3200400" y="0"/>
                  </a:lnTo>
                  <a:lnTo>
                    <a:pt x="3200400" y="2371725"/>
                  </a:lnTo>
                  <a:lnTo>
                    <a:pt x="0" y="2371725"/>
                  </a:lnTo>
                  <a:close/>
                </a:path>
              </a:pathLst>
            </a:custGeom>
            <a:blipFill>
              <a:blip r:embed="rId5">
                <a:alphaModFix amt="0"/>
              </a:blip>
              <a:stretch>
                <a:fillRect l="-45148" t="0" r="-45148" b="0"/>
              </a:stretch>
            </a:blipFill>
          </p:spPr>
          <p:txBody>
            <a:bodyPr/>
            <a:p/>
          </p:txBody>
        </p:sp>
      </p:grpSp>
      <p:grpSp>
        <p:nvGrpSpPr>
          <p:cNvPr name="Group 106" id="106"/>
          <p:cNvGrpSpPr/>
          <p:nvPr/>
        </p:nvGrpSpPr>
        <p:grpSpPr>
          <a:xfrm rot="0">
            <a:off x="11041380" y="6057329"/>
            <a:ext cx="2400300" cy="1843088"/>
            <a:chOff x="0" y="0"/>
            <a:chExt cx="3200400" cy="2457450"/>
          </a:xfrm>
        </p:grpSpPr>
        <p:sp>
          <p:nvSpPr>
            <p:cNvPr name="Freeform 107" id="107"/>
            <p:cNvSpPr/>
            <p:nvPr/>
          </p:nvSpPr>
          <p:spPr>
            <a:xfrm flipH="false" flipV="false" rot="0">
              <a:off x="0" y="0"/>
              <a:ext cx="3200400" cy="2457450"/>
            </a:xfrm>
            <a:custGeom>
              <a:avLst/>
              <a:gdLst/>
              <a:ahLst/>
              <a:cxnLst/>
              <a:rect r="r" b="b" t="t" l="l"/>
              <a:pathLst>
                <a:path h="2457450" w="3200400">
                  <a:moveTo>
                    <a:pt x="0" y="0"/>
                  </a:moveTo>
                  <a:lnTo>
                    <a:pt x="3200400" y="0"/>
                  </a:lnTo>
                  <a:lnTo>
                    <a:pt x="3200400" y="2457450"/>
                  </a:lnTo>
                  <a:lnTo>
                    <a:pt x="0" y="2457450"/>
                  </a:lnTo>
                  <a:close/>
                </a:path>
              </a:pathLst>
            </a:custGeom>
            <a:blipFill>
              <a:blip r:embed="rId6">
                <a:alphaModFix amt="0"/>
              </a:blip>
              <a:stretch>
                <a:fillRect l="-48518" t="0" r="-48518" b="0"/>
              </a:stretch>
            </a:blipFill>
          </p:spPr>
          <p:txBody>
            <a:bodyPr/>
            <a:p/>
          </p:txBody>
        </p:sp>
        <p:sp>
          <p:nvSpPr>
            <p:cNvPr name="TextBox 108" id="108"/>
            <p:cNvSpPr txBox="true"/>
            <p:nvPr/>
          </p:nvSpPr>
          <p:spPr>
            <a:xfrm>
              <a:off x="0" y="-85725"/>
              <a:ext cx="3200400" cy="2543175"/>
            </a:xfrm>
            <a:prstGeom prst="rect">
              <a:avLst/>
            </a:prstGeom>
          </p:spPr>
          <p:txBody>
            <a:bodyPr anchor="ctr" rtlCol="false" tIns="0" lIns="0" bIns="0" rIns="0"/>
            <a:lstStyle/>
            <a:p>
              <a:pPr algn="l">
                <a:lnSpc>
                  <a:spcPts val="5040"/>
                </a:lnSpc>
              </a:pPr>
              <a:r>
                <a:rPr lang="en-US" sz="4200" b="true">
                  <a:solidFill>
                    <a:srgbClr val="0B5E6E"/>
                  </a:solidFill>
                  <a:latin typeface="Calibri (MS) Bold"/>
                  <a:ea typeface="Calibri (MS) Bold"/>
                  <a:cs typeface="Calibri (MS) Bold"/>
                  <a:sym typeface="Calibri (MS) Bold"/>
                </a:rPr>
                <a:t>8 / 10</a:t>
              </a:r>
            </a:p>
          </p:txBody>
        </p:sp>
      </p:grpSp>
      <p:grpSp>
        <p:nvGrpSpPr>
          <p:cNvPr name="Group 109" id="109"/>
          <p:cNvGrpSpPr/>
          <p:nvPr/>
        </p:nvGrpSpPr>
        <p:grpSpPr>
          <a:xfrm rot="0">
            <a:off x="13510260" y="6185916"/>
            <a:ext cx="3771900" cy="1714500"/>
            <a:chOff x="0" y="0"/>
            <a:chExt cx="5029200" cy="2286000"/>
          </a:xfrm>
        </p:grpSpPr>
        <p:sp>
          <p:nvSpPr>
            <p:cNvPr name="Freeform 110" id="110"/>
            <p:cNvSpPr/>
            <p:nvPr/>
          </p:nvSpPr>
          <p:spPr>
            <a:xfrm flipH="false" flipV="false" rot="0">
              <a:off x="0" y="0"/>
              <a:ext cx="5029200" cy="2286000"/>
            </a:xfrm>
            <a:custGeom>
              <a:avLst/>
              <a:gdLst/>
              <a:ahLst/>
              <a:cxnLst/>
              <a:rect r="r" b="b" t="t" l="l"/>
              <a:pathLst>
                <a:path h="2286000" w="5029200">
                  <a:moveTo>
                    <a:pt x="0" y="0"/>
                  </a:moveTo>
                  <a:lnTo>
                    <a:pt x="5029200" y="0"/>
                  </a:lnTo>
                  <a:lnTo>
                    <a:pt x="5029200" y="2286000"/>
                  </a:lnTo>
                  <a:lnTo>
                    <a:pt x="0" y="2286000"/>
                  </a:lnTo>
                  <a:close/>
                </a:path>
              </a:pathLst>
            </a:custGeom>
            <a:blipFill>
              <a:blip r:embed="rId4">
                <a:alphaModFix amt="0"/>
              </a:blip>
              <a:stretch>
                <a:fillRect l="-8360" t="0" r="-8360" b="0"/>
              </a:stretch>
            </a:blipFill>
          </p:spPr>
          <p:txBody>
            <a:bodyPr/>
            <a:p/>
          </p:txBody>
        </p:sp>
      </p:grpSp>
      <p:grpSp>
        <p:nvGrpSpPr>
          <p:cNvPr name="Group 111" id="111"/>
          <p:cNvGrpSpPr/>
          <p:nvPr/>
        </p:nvGrpSpPr>
        <p:grpSpPr>
          <a:xfrm rot="0">
            <a:off x="13510260" y="6157341"/>
            <a:ext cx="3771900" cy="1743075"/>
            <a:chOff x="0" y="0"/>
            <a:chExt cx="5029200" cy="2324100"/>
          </a:xfrm>
        </p:grpSpPr>
        <p:sp>
          <p:nvSpPr>
            <p:cNvPr name="Freeform 112" id="112"/>
            <p:cNvSpPr/>
            <p:nvPr/>
          </p:nvSpPr>
          <p:spPr>
            <a:xfrm flipH="false" flipV="false" rot="0">
              <a:off x="0" y="0"/>
              <a:ext cx="5029200" cy="2324100"/>
            </a:xfrm>
            <a:custGeom>
              <a:avLst/>
              <a:gdLst/>
              <a:ahLst/>
              <a:cxnLst/>
              <a:rect r="r" b="b" t="t" l="l"/>
              <a:pathLst>
                <a:path h="2324100" w="5029200">
                  <a:moveTo>
                    <a:pt x="0" y="0"/>
                  </a:moveTo>
                  <a:lnTo>
                    <a:pt x="5029200" y="0"/>
                  </a:lnTo>
                  <a:lnTo>
                    <a:pt x="5029200" y="2324100"/>
                  </a:lnTo>
                  <a:lnTo>
                    <a:pt x="0" y="2324100"/>
                  </a:lnTo>
                  <a:close/>
                </a:path>
              </a:pathLst>
            </a:custGeom>
            <a:blipFill>
              <a:blip r:embed="rId5">
                <a:alphaModFix amt="0"/>
              </a:blip>
              <a:stretch>
                <a:fillRect l="-9333" t="0" r="-9333" b="0"/>
              </a:stretch>
            </a:blipFill>
          </p:spPr>
          <p:txBody>
            <a:bodyPr/>
            <a:p/>
          </p:txBody>
        </p:sp>
      </p:grpSp>
      <p:grpSp>
        <p:nvGrpSpPr>
          <p:cNvPr name="Group 113" id="113"/>
          <p:cNvGrpSpPr/>
          <p:nvPr/>
        </p:nvGrpSpPr>
        <p:grpSpPr>
          <a:xfrm rot="0">
            <a:off x="13510260" y="6128766"/>
            <a:ext cx="3771900" cy="1771650"/>
            <a:chOff x="0" y="0"/>
            <a:chExt cx="5029200" cy="2362200"/>
          </a:xfrm>
        </p:grpSpPr>
        <p:sp>
          <p:nvSpPr>
            <p:cNvPr name="Freeform 114" id="114"/>
            <p:cNvSpPr/>
            <p:nvPr/>
          </p:nvSpPr>
          <p:spPr>
            <a:xfrm flipH="false" flipV="false" rot="0">
              <a:off x="0" y="0"/>
              <a:ext cx="5029200" cy="2362200"/>
            </a:xfrm>
            <a:custGeom>
              <a:avLst/>
              <a:gdLst/>
              <a:ahLst/>
              <a:cxnLst/>
              <a:rect r="r" b="b" t="t" l="l"/>
              <a:pathLst>
                <a:path h="2362200" w="5029200">
                  <a:moveTo>
                    <a:pt x="0" y="0"/>
                  </a:moveTo>
                  <a:lnTo>
                    <a:pt x="5029200" y="0"/>
                  </a:lnTo>
                  <a:lnTo>
                    <a:pt x="5029200" y="2362200"/>
                  </a:lnTo>
                  <a:lnTo>
                    <a:pt x="0" y="2362200"/>
                  </a:lnTo>
                  <a:close/>
                </a:path>
              </a:pathLst>
            </a:custGeom>
            <a:blipFill>
              <a:blip r:embed="rId6">
                <a:alphaModFix amt="0"/>
              </a:blip>
              <a:stretch>
                <a:fillRect l="-10263" t="0" r="-10263" b="0"/>
              </a:stretch>
            </a:blipFill>
          </p:spPr>
          <p:txBody>
            <a:bodyPr/>
            <a:p/>
          </p:txBody>
        </p:sp>
        <p:sp>
          <p:nvSpPr>
            <p:cNvPr name="TextBox 115" id="115"/>
            <p:cNvSpPr txBox="true"/>
            <p:nvPr/>
          </p:nvSpPr>
          <p:spPr>
            <a:xfrm>
              <a:off x="0" y="-38100"/>
              <a:ext cx="5029200" cy="240030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responden memberi skor ≥ 85; antara Excellent (85,5) dan Best Imaginable (90,9)</a:t>
              </a:r>
            </a:p>
          </p:txBody>
        </p:sp>
      </p:grpSp>
      <p:grpSp>
        <p:nvGrpSpPr>
          <p:cNvPr name="Group 116" id="116"/>
          <p:cNvGrpSpPr/>
          <p:nvPr/>
        </p:nvGrpSpPr>
        <p:grpSpPr>
          <a:xfrm rot="0">
            <a:off x="822960" y="8092440"/>
            <a:ext cx="16637508" cy="1165860"/>
            <a:chOff x="0" y="0"/>
            <a:chExt cx="22183344" cy="1554480"/>
          </a:xfrm>
        </p:grpSpPr>
        <p:sp>
          <p:nvSpPr>
            <p:cNvPr name="Freeform 117" id="117"/>
            <p:cNvSpPr/>
            <p:nvPr/>
          </p:nvSpPr>
          <p:spPr>
            <a:xfrm flipH="false" flipV="false" rot="0">
              <a:off x="0" y="0"/>
              <a:ext cx="22183344" cy="1554480"/>
            </a:xfrm>
            <a:custGeom>
              <a:avLst/>
              <a:gdLst/>
              <a:ahLst/>
              <a:cxnLst/>
              <a:rect r="r" b="b" t="t" l="l"/>
              <a:pathLst>
                <a:path h="1554480" w="22183344">
                  <a:moveTo>
                    <a:pt x="0" y="182880"/>
                  </a:moveTo>
                  <a:cubicBezTo>
                    <a:pt x="0" y="81915"/>
                    <a:pt x="81915" y="0"/>
                    <a:pt x="182880" y="0"/>
                  </a:cubicBezTo>
                  <a:lnTo>
                    <a:pt x="22000463" y="0"/>
                  </a:lnTo>
                  <a:cubicBezTo>
                    <a:pt x="22101428" y="0"/>
                    <a:pt x="22183344" y="81915"/>
                    <a:pt x="22183344" y="182880"/>
                  </a:cubicBezTo>
                  <a:lnTo>
                    <a:pt x="22183344" y="1371600"/>
                  </a:lnTo>
                  <a:cubicBezTo>
                    <a:pt x="22183344" y="1472565"/>
                    <a:pt x="22101428" y="1554480"/>
                    <a:pt x="22000463" y="1554480"/>
                  </a:cubicBezTo>
                  <a:lnTo>
                    <a:pt x="182880" y="1554480"/>
                  </a:lnTo>
                  <a:cubicBezTo>
                    <a:pt x="81915" y="1554480"/>
                    <a:pt x="0" y="1472565"/>
                    <a:pt x="0" y="1371600"/>
                  </a:cubicBezTo>
                  <a:close/>
                </a:path>
              </a:pathLst>
            </a:custGeom>
            <a:solidFill>
              <a:srgbClr val="FFF1BF"/>
            </a:solidFill>
          </p:spPr>
          <p:txBody>
            <a:bodyPr/>
            <a:p/>
          </p:txBody>
        </p:sp>
      </p:grpSp>
      <p:grpSp>
        <p:nvGrpSpPr>
          <p:cNvPr name="Group 118" id="118"/>
          <p:cNvGrpSpPr/>
          <p:nvPr/>
        </p:nvGrpSpPr>
        <p:grpSpPr>
          <a:xfrm rot="0">
            <a:off x="1165860" y="8092440"/>
            <a:ext cx="15951708" cy="1165860"/>
            <a:chOff x="0" y="0"/>
            <a:chExt cx="21268944" cy="1554480"/>
          </a:xfrm>
        </p:grpSpPr>
        <p:sp>
          <p:nvSpPr>
            <p:cNvPr name="Freeform 119" id="119"/>
            <p:cNvSpPr/>
            <p:nvPr/>
          </p:nvSpPr>
          <p:spPr>
            <a:xfrm flipH="false" flipV="false" rot="0">
              <a:off x="0" y="0"/>
              <a:ext cx="21268944" cy="1554480"/>
            </a:xfrm>
            <a:custGeom>
              <a:avLst/>
              <a:gdLst/>
              <a:ahLst/>
              <a:cxnLst/>
              <a:rect r="r" b="b" t="t" l="l"/>
              <a:pathLst>
                <a:path h="1554480" w="21268944">
                  <a:moveTo>
                    <a:pt x="0" y="0"/>
                  </a:moveTo>
                  <a:lnTo>
                    <a:pt x="21268944" y="0"/>
                  </a:lnTo>
                  <a:lnTo>
                    <a:pt x="21268944" y="1554480"/>
                  </a:lnTo>
                  <a:lnTo>
                    <a:pt x="0" y="1554480"/>
                  </a:lnTo>
                  <a:close/>
                </a:path>
              </a:pathLst>
            </a:custGeom>
            <a:blipFill>
              <a:blip r:embed="rId4">
                <a:alphaModFix amt="0"/>
              </a:blip>
              <a:stretch>
                <a:fillRect l="0" t="-216415" r="0" b="-216415"/>
              </a:stretch>
            </a:blipFill>
          </p:spPr>
          <p:txBody>
            <a:bodyPr/>
            <a:p/>
          </p:txBody>
        </p:sp>
      </p:grpSp>
      <p:grpSp>
        <p:nvGrpSpPr>
          <p:cNvPr name="Group 120" id="120"/>
          <p:cNvGrpSpPr/>
          <p:nvPr/>
        </p:nvGrpSpPr>
        <p:grpSpPr>
          <a:xfrm rot="0">
            <a:off x="1165860" y="8063865"/>
            <a:ext cx="15951708" cy="1194435"/>
            <a:chOff x="0" y="0"/>
            <a:chExt cx="21268944" cy="1592580"/>
          </a:xfrm>
        </p:grpSpPr>
        <p:sp>
          <p:nvSpPr>
            <p:cNvPr name="Freeform 121" id="121"/>
            <p:cNvSpPr/>
            <p:nvPr/>
          </p:nvSpPr>
          <p:spPr>
            <a:xfrm flipH="false" flipV="false" rot="0">
              <a:off x="0" y="0"/>
              <a:ext cx="21268944" cy="1592580"/>
            </a:xfrm>
            <a:custGeom>
              <a:avLst/>
              <a:gdLst/>
              <a:ahLst/>
              <a:cxnLst/>
              <a:rect r="r" b="b" t="t" l="l"/>
              <a:pathLst>
                <a:path h="1592580" w="21268944">
                  <a:moveTo>
                    <a:pt x="0" y="0"/>
                  </a:moveTo>
                  <a:lnTo>
                    <a:pt x="21268944" y="0"/>
                  </a:lnTo>
                  <a:lnTo>
                    <a:pt x="21268944" y="1592580"/>
                  </a:lnTo>
                  <a:lnTo>
                    <a:pt x="0" y="1592580"/>
                  </a:lnTo>
                  <a:close/>
                </a:path>
              </a:pathLst>
            </a:custGeom>
            <a:blipFill>
              <a:blip r:embed="rId5">
                <a:alphaModFix amt="0"/>
              </a:blip>
              <a:stretch>
                <a:fillRect l="0" t="-210042" r="0" b="-210042"/>
              </a:stretch>
            </a:blipFill>
          </p:spPr>
          <p:txBody>
            <a:bodyPr/>
            <a:p/>
          </p:txBody>
        </p:sp>
      </p:grpSp>
      <p:grpSp>
        <p:nvGrpSpPr>
          <p:cNvPr name="Group 122" id="122"/>
          <p:cNvGrpSpPr/>
          <p:nvPr/>
        </p:nvGrpSpPr>
        <p:grpSpPr>
          <a:xfrm rot="0">
            <a:off x="1165860" y="8035290"/>
            <a:ext cx="15951708" cy="1223010"/>
            <a:chOff x="0" y="0"/>
            <a:chExt cx="21268944" cy="1630680"/>
          </a:xfrm>
        </p:grpSpPr>
        <p:sp>
          <p:nvSpPr>
            <p:cNvPr name="Freeform 123" id="123"/>
            <p:cNvSpPr/>
            <p:nvPr/>
          </p:nvSpPr>
          <p:spPr>
            <a:xfrm flipH="false" flipV="false" rot="0">
              <a:off x="0" y="0"/>
              <a:ext cx="21268944" cy="1630680"/>
            </a:xfrm>
            <a:custGeom>
              <a:avLst/>
              <a:gdLst/>
              <a:ahLst/>
              <a:cxnLst/>
              <a:rect r="r" b="b" t="t" l="l"/>
              <a:pathLst>
                <a:path h="1630680" w="21268944">
                  <a:moveTo>
                    <a:pt x="0" y="0"/>
                  </a:moveTo>
                  <a:lnTo>
                    <a:pt x="21268944" y="0"/>
                  </a:lnTo>
                  <a:lnTo>
                    <a:pt x="21268944" y="1630680"/>
                  </a:lnTo>
                  <a:lnTo>
                    <a:pt x="0" y="1630680"/>
                  </a:lnTo>
                  <a:close/>
                </a:path>
              </a:pathLst>
            </a:custGeom>
            <a:blipFill>
              <a:blip r:embed="rId6">
                <a:alphaModFix amt="0"/>
              </a:blip>
              <a:stretch>
                <a:fillRect l="0" t="-204143" r="0" b="-204143"/>
              </a:stretch>
            </a:blipFill>
          </p:spPr>
          <p:txBody>
            <a:bodyPr/>
            <a:p/>
          </p:txBody>
        </p:sp>
        <p:sp>
          <p:nvSpPr>
            <p:cNvPr name="TextBox 124" id="124"/>
            <p:cNvSpPr txBox="true"/>
            <p:nvPr/>
          </p:nvSpPr>
          <p:spPr>
            <a:xfrm>
              <a:off x="0" y="-38100"/>
              <a:ext cx="21268944" cy="166878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Masukan: 2 responden sulit membaca grafik/hasil simulasi, 1 responden bingung pada tampilan dua garis pengatur kebijakan. Saran: penjelasan hasil otomatis, panduan penggunaan, chatbot.</a:t>
              </a:r>
            </a:p>
          </p:txBody>
        </p:sp>
      </p:grpSp>
      <p:sp>
        <p:nvSpPr>
          <p:cNvPr name="TextBox 125" id="125"/>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70</a:t>
            </a:r>
          </a:p>
        </p:txBody>
      </p:sp>
      <p:grpSp>
        <p:nvGrpSpPr>
          <p:cNvPr name="Group 128" id="128"/>
          <p:cNvGrpSpPr/>
          <p:nvPr/>
        </p:nvGrpSpPr>
        <p:grpSpPr>
          <a:xfrm rot="0">
            <a:off x="16047720" y="9646920"/>
            <a:ext cx="420624" cy="420624"/>
            <a:chOff x="0" y="0"/>
            <a:chExt cx="560832" cy="560832"/>
          </a:xfrm>
        </p:grpSpPr>
        <p:sp>
          <p:nvSpPr>
            <p:cNvPr name="Freeform 129" id="129"/>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30" id="130"/>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graphicFrame>
        <p:nvGraphicFramePr>
          <p:cNvPr id="131" name="Chart 130"/>
          <p:cNvGraphicFramePr>
            <a:graphicFrameLocks noGrp="1"/>
          </p:cNvGraphicFramePr>
          <p:nvPr/>
        </p:nvGraphicFramePr>
        <p:xfrm>
          <a:off x="822960" y="2788920"/>
          <a:ext cx="9509760" cy="4572000"/>
        </p:xfrm>
        <a:graphic>
          <a:graphicData uri="http://schemas.openxmlformats.org/drawingml/2006/chart">
            <c:chart xmlns:c="http://schemas.openxmlformats.org/drawingml/2006/chart" r:id="rId8"/>
          </a:graphicData>
        </a:graphic>
      </p:graphicFrame>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Ringkasan Hasil Tujuan 3</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71</a:t>
            </a:r>
          </a:p>
        </p:txBody>
      </p:sp>
      <p:grpSp>
        <p:nvGrpSpPr>
          <p:cNvPr name="Group 67" id="67"/>
          <p:cNvGrpSpPr/>
          <p:nvPr/>
        </p:nvGrpSpPr>
        <p:grpSpPr>
          <a:xfrm rot="0">
            <a:off x="822960" y="2286000"/>
            <a:ext cx="16642080" cy="777240"/>
            <a:chOff x="0" y="0"/>
            <a:chExt cx="22189440" cy="1036320"/>
          </a:xfrm>
        </p:grpSpPr>
        <p:sp>
          <p:nvSpPr>
            <p:cNvPr name="Freeform 68" id="68"/>
            <p:cNvSpPr/>
            <p:nvPr/>
          </p:nvSpPr>
          <p:spPr>
            <a:xfrm flipH="false" flipV="false" rot="0">
              <a:off x="0" y="0"/>
              <a:ext cx="22189441" cy="1036320"/>
            </a:xfrm>
            <a:custGeom>
              <a:avLst/>
              <a:gdLst/>
              <a:ahLst/>
              <a:cxnLst/>
              <a:rect r="r" b="b" t="t" l="l"/>
              <a:pathLst>
                <a:path h="1036320" w="22189441">
                  <a:moveTo>
                    <a:pt x="0" y="82931"/>
                  </a:moveTo>
                  <a:cubicBezTo>
                    <a:pt x="0" y="37084"/>
                    <a:pt x="37084" y="0"/>
                    <a:pt x="82931" y="0"/>
                  </a:cubicBezTo>
                  <a:lnTo>
                    <a:pt x="22106510" y="0"/>
                  </a:lnTo>
                  <a:cubicBezTo>
                    <a:pt x="22152356" y="0"/>
                    <a:pt x="22189441" y="37084"/>
                    <a:pt x="22189441" y="82931"/>
                  </a:cubicBezTo>
                  <a:lnTo>
                    <a:pt x="22189441" y="953389"/>
                  </a:lnTo>
                  <a:cubicBezTo>
                    <a:pt x="22189441" y="999236"/>
                    <a:pt x="22152356" y="1036320"/>
                    <a:pt x="22106510" y="1036320"/>
                  </a:cubicBezTo>
                  <a:lnTo>
                    <a:pt x="82931" y="1036320"/>
                  </a:lnTo>
                  <a:cubicBezTo>
                    <a:pt x="37084" y="1036320"/>
                    <a:pt x="0" y="999236"/>
                    <a:pt x="0" y="953389"/>
                  </a:cubicBezTo>
                  <a:close/>
                </a:path>
              </a:pathLst>
            </a:custGeom>
            <a:solidFill>
              <a:srgbClr val="0B5E6E"/>
            </a:solidFill>
          </p:spPr>
          <p:txBody>
            <a:bodyPr/>
            <a:p/>
          </p:txBody>
        </p:sp>
        <p:sp>
          <p:nvSpPr>
            <p:cNvPr name="TextBox 69" id="69"/>
            <p:cNvSpPr txBox="true"/>
            <p:nvPr/>
          </p:nvSpPr>
          <p:spPr>
            <a:xfrm>
              <a:off x="0" y="-38100"/>
              <a:ext cx="22189440" cy="1074420"/>
            </a:xfrm>
            <a:prstGeom prst="rect">
              <a:avLst/>
            </a:prstGeom>
          </p:spPr>
          <p:txBody>
            <a:bodyPr anchor="ctr" rtlCol="false" tIns="50800" lIns="50800" bIns="50800" rIns="50800"/>
            <a:lstStyle/>
            <a:p>
              <a:pPr algn="l">
                <a:lnSpc>
                  <a:spcPts val="2484"/>
                </a:lnSpc>
              </a:pPr>
              <a:r>
                <a:rPr lang="en-US" sz="2070" b="true">
                  <a:solidFill>
                    <a:srgbClr val="FFFFFF"/>
                  </a:solidFill>
                  <a:latin typeface="Calibri (MS) Bold"/>
                  <a:ea typeface="Calibri (MS) Bold"/>
                  <a:cs typeface="Calibri (MS) Bold"/>
                  <a:sym typeface="Calibri (MS) Bold"/>
                </a:rPr>
                <a:t>Apa hasil yang diperoleh untuk Tujuan 3?</a:t>
              </a:r>
            </a:p>
          </p:txBody>
        </p:sp>
      </p:grpSp>
      <p:grpSp>
        <p:nvGrpSpPr>
          <p:cNvPr name="Group 70" id="70"/>
          <p:cNvGrpSpPr/>
          <p:nvPr/>
        </p:nvGrpSpPr>
        <p:grpSpPr>
          <a:xfrm rot="0">
            <a:off x="816607" y="3285487"/>
            <a:ext cx="16654777" cy="1132837"/>
            <a:chOff x="0" y="0"/>
            <a:chExt cx="22206369" cy="1510449"/>
          </a:xfrm>
        </p:grpSpPr>
        <p:sp>
          <p:nvSpPr>
            <p:cNvPr name="Freeform 71" id="71"/>
            <p:cNvSpPr/>
            <p:nvPr/>
          </p:nvSpPr>
          <p:spPr>
            <a:xfrm flipH="false" flipV="false" rot="0">
              <a:off x="0" y="0"/>
              <a:ext cx="22206204" cy="1510284"/>
            </a:xfrm>
            <a:custGeom>
              <a:avLst/>
              <a:gdLst/>
              <a:ahLst/>
              <a:cxnLst/>
              <a:rect r="r" b="b" t="t" l="l"/>
              <a:pathLst>
                <a:path h="1510284" w="22206204">
                  <a:moveTo>
                    <a:pt x="0" y="120777"/>
                  </a:moveTo>
                  <a:cubicBezTo>
                    <a:pt x="0" y="54102"/>
                    <a:pt x="54102" y="0"/>
                    <a:pt x="120777" y="0"/>
                  </a:cubicBezTo>
                  <a:lnTo>
                    <a:pt x="22085427" y="0"/>
                  </a:lnTo>
                  <a:cubicBezTo>
                    <a:pt x="22152102" y="0"/>
                    <a:pt x="22206204" y="54102"/>
                    <a:pt x="22206204" y="120777"/>
                  </a:cubicBezTo>
                  <a:lnTo>
                    <a:pt x="22206204" y="1389507"/>
                  </a:lnTo>
                  <a:cubicBezTo>
                    <a:pt x="22206204" y="1456182"/>
                    <a:pt x="22152102" y="1510284"/>
                    <a:pt x="22085427" y="1510284"/>
                  </a:cubicBezTo>
                  <a:lnTo>
                    <a:pt x="120777" y="1510284"/>
                  </a:lnTo>
                  <a:cubicBezTo>
                    <a:pt x="54102" y="1510284"/>
                    <a:pt x="0" y="1456182"/>
                    <a:pt x="0" y="1389507"/>
                  </a:cubicBezTo>
                  <a:close/>
                </a:path>
              </a:pathLst>
            </a:custGeom>
            <a:solidFill>
              <a:srgbClr val="EAF8FA"/>
            </a:solidFill>
            <a:ln w="12700" cap="sq">
              <a:solidFill>
                <a:srgbClr val="CFE5E9"/>
              </a:solidFill>
              <a:prstDash val="solid"/>
              <a:miter/>
            </a:ln>
          </p:spPr>
          <p:txBody>
            <a:bodyPr/>
            <a:p/>
          </p:txBody>
        </p:sp>
      </p:grpSp>
      <p:grpSp>
        <p:nvGrpSpPr>
          <p:cNvPr name="Group 72" id="72"/>
          <p:cNvGrpSpPr/>
          <p:nvPr/>
        </p:nvGrpSpPr>
        <p:grpSpPr>
          <a:xfrm rot="0">
            <a:off x="1051560" y="3577590"/>
            <a:ext cx="548640" cy="548640"/>
            <a:chOff x="0" y="0"/>
            <a:chExt cx="731520" cy="731520"/>
          </a:xfrm>
        </p:grpSpPr>
        <p:sp>
          <p:nvSpPr>
            <p:cNvPr name="Freeform 73" id="73"/>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74" id="74"/>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1</a:t>
              </a:r>
            </a:p>
          </p:txBody>
        </p:sp>
      </p:grpSp>
      <p:grpSp>
        <p:nvGrpSpPr>
          <p:cNvPr name="Group 75" id="75"/>
          <p:cNvGrpSpPr/>
          <p:nvPr/>
        </p:nvGrpSpPr>
        <p:grpSpPr>
          <a:xfrm rot="0">
            <a:off x="1828800" y="3383280"/>
            <a:ext cx="4206240" cy="937260"/>
            <a:chOff x="0" y="0"/>
            <a:chExt cx="5608320" cy="1249680"/>
          </a:xfrm>
        </p:grpSpPr>
        <p:sp>
          <p:nvSpPr>
            <p:cNvPr name="Freeform 76" id="76"/>
            <p:cNvSpPr/>
            <p:nvPr/>
          </p:nvSpPr>
          <p:spPr>
            <a:xfrm flipH="false" flipV="false" rot="0">
              <a:off x="0" y="0"/>
              <a:ext cx="5608320" cy="1249680"/>
            </a:xfrm>
            <a:custGeom>
              <a:avLst/>
              <a:gdLst/>
              <a:ahLst/>
              <a:cxnLst/>
              <a:rect r="r" b="b" t="t" l="l"/>
              <a:pathLst>
                <a:path h="1249680" w="5608320">
                  <a:moveTo>
                    <a:pt x="0" y="0"/>
                  </a:moveTo>
                  <a:lnTo>
                    <a:pt x="5608320" y="0"/>
                  </a:lnTo>
                  <a:lnTo>
                    <a:pt x="5608320" y="1249680"/>
                  </a:lnTo>
                  <a:lnTo>
                    <a:pt x="0" y="1249680"/>
                  </a:lnTo>
                  <a:close/>
                </a:path>
              </a:pathLst>
            </a:custGeom>
            <a:blipFill>
              <a:blip r:embed="rId6">
                <a:alphaModFix amt="0"/>
              </a:blip>
              <a:stretch>
                <a:fillRect l="0" t="-37445" r="0" b="-37445"/>
              </a:stretch>
            </a:blipFill>
          </p:spPr>
          <p:txBody>
            <a:bodyPr/>
            <a:p/>
          </p:txBody>
        </p:sp>
        <p:sp>
          <p:nvSpPr>
            <p:cNvPr name="TextBox 77" id="77"/>
            <p:cNvSpPr txBox="true"/>
            <p:nvPr/>
          </p:nvSpPr>
          <p:spPr>
            <a:xfrm>
              <a:off x="0" y="-38100"/>
              <a:ext cx="5608320" cy="1287780"/>
            </a:xfrm>
            <a:prstGeom prst="rect">
              <a:avLst/>
            </a:prstGeom>
          </p:spPr>
          <p:txBody>
            <a:bodyPr anchor="ctr" rtlCol="false" tIns="0" lIns="0" bIns="0" rIns="0"/>
            <a:lstStyle/>
            <a:p>
              <a:pPr algn="l">
                <a:lnSpc>
                  <a:spcPts val="2279"/>
                </a:lnSpc>
              </a:pPr>
              <a:r>
                <a:rPr lang="en-US" sz="1899" b="true">
                  <a:solidFill>
                    <a:srgbClr val="0B5E6E"/>
                  </a:solidFill>
                  <a:latin typeface="Calibri (MS) Bold"/>
                  <a:ea typeface="Calibri (MS) Bold"/>
                  <a:cs typeface="Calibri (MS) Bold"/>
                  <a:sym typeface="Calibri (MS) Bold"/>
                </a:rPr>
                <a:t>Aplikasi web DST</a:t>
              </a:r>
            </a:p>
          </p:txBody>
        </p:sp>
      </p:grpSp>
      <p:grpSp>
        <p:nvGrpSpPr>
          <p:cNvPr name="Group 78" id="78"/>
          <p:cNvGrpSpPr/>
          <p:nvPr/>
        </p:nvGrpSpPr>
        <p:grpSpPr>
          <a:xfrm rot="0">
            <a:off x="6126480" y="3383280"/>
            <a:ext cx="11155680" cy="937260"/>
            <a:chOff x="0" y="0"/>
            <a:chExt cx="14874240" cy="1249680"/>
          </a:xfrm>
        </p:grpSpPr>
        <p:sp>
          <p:nvSpPr>
            <p:cNvPr name="Freeform 79" id="79"/>
            <p:cNvSpPr/>
            <p:nvPr/>
          </p:nvSpPr>
          <p:spPr>
            <a:xfrm flipH="false" flipV="false" rot="0">
              <a:off x="0" y="0"/>
              <a:ext cx="14874239" cy="1249680"/>
            </a:xfrm>
            <a:custGeom>
              <a:avLst/>
              <a:gdLst/>
              <a:ahLst/>
              <a:cxnLst/>
              <a:rect r="r" b="b" t="t" l="l"/>
              <a:pathLst>
                <a:path h="1249680" w="14874239">
                  <a:moveTo>
                    <a:pt x="0" y="0"/>
                  </a:moveTo>
                  <a:lnTo>
                    <a:pt x="14874239" y="0"/>
                  </a:lnTo>
                  <a:lnTo>
                    <a:pt x="14874239" y="1249680"/>
                  </a:lnTo>
                  <a:lnTo>
                    <a:pt x="0" y="1249680"/>
                  </a:lnTo>
                  <a:close/>
                </a:path>
              </a:pathLst>
            </a:custGeom>
            <a:blipFill>
              <a:blip r:embed="rId6">
                <a:alphaModFix amt="0"/>
              </a:blip>
              <a:stretch>
                <a:fillRect l="0" t="-181919" r="0" b="-181919"/>
              </a:stretch>
            </a:blipFill>
          </p:spPr>
          <p:txBody>
            <a:bodyPr/>
            <a:p/>
          </p:txBody>
        </p:sp>
        <p:sp>
          <p:nvSpPr>
            <p:cNvPr name="TextBox 80" id="80"/>
            <p:cNvSpPr txBox="true"/>
            <p:nvPr/>
          </p:nvSpPr>
          <p:spPr>
            <a:xfrm>
              <a:off x="0" y="-38100"/>
              <a:ext cx="14874240" cy="1287780"/>
            </a:xfrm>
            <a:prstGeom prst="rect">
              <a:avLst/>
            </a:prstGeom>
          </p:spPr>
          <p:txBody>
            <a:bodyPr anchor="ctr" rtlCol="false" tIns="0" lIns="0" bIns="0" rIns="0"/>
            <a:lstStyle/>
            <a:p>
              <a:pPr algn="l">
                <a:lnSpc>
                  <a:spcPts val="2063"/>
                </a:lnSpc>
              </a:pPr>
              <a:r>
                <a:rPr lang="en-US" sz="1719">
                  <a:solidFill>
                    <a:srgbClr val="14313B"/>
                  </a:solidFill>
                  <a:latin typeface="Calibri (MS)"/>
                  <a:ea typeface="Calibri (MS)"/>
                  <a:cs typeface="Calibri (MS)"/>
                  <a:sym typeface="Calibri (MS)"/>
                </a:rPr>
                <a:t>Model Vensim final dikonversi SDEverywhere dan dijalankan di peramban (Next.js, TypeScript, Tailwind): sistemdinamispariwisata.vercel.app.</a:t>
              </a:r>
            </a:p>
          </p:txBody>
        </p:sp>
      </p:grpSp>
      <p:grpSp>
        <p:nvGrpSpPr>
          <p:cNvPr name="Group 81" id="81"/>
          <p:cNvGrpSpPr/>
          <p:nvPr/>
        </p:nvGrpSpPr>
        <p:grpSpPr>
          <a:xfrm rot="0">
            <a:off x="816607" y="4588507"/>
            <a:ext cx="16654777" cy="1132837"/>
            <a:chOff x="0" y="0"/>
            <a:chExt cx="22206369" cy="1510449"/>
          </a:xfrm>
        </p:grpSpPr>
        <p:sp>
          <p:nvSpPr>
            <p:cNvPr name="Freeform 82" id="82"/>
            <p:cNvSpPr/>
            <p:nvPr/>
          </p:nvSpPr>
          <p:spPr>
            <a:xfrm flipH="false" flipV="false" rot="0">
              <a:off x="0" y="0"/>
              <a:ext cx="22206204" cy="1510284"/>
            </a:xfrm>
            <a:custGeom>
              <a:avLst/>
              <a:gdLst/>
              <a:ahLst/>
              <a:cxnLst/>
              <a:rect r="r" b="b" t="t" l="l"/>
              <a:pathLst>
                <a:path h="1510284" w="22206204">
                  <a:moveTo>
                    <a:pt x="0" y="120777"/>
                  </a:moveTo>
                  <a:cubicBezTo>
                    <a:pt x="0" y="54102"/>
                    <a:pt x="54102" y="0"/>
                    <a:pt x="120777" y="0"/>
                  </a:cubicBezTo>
                  <a:lnTo>
                    <a:pt x="22085427" y="0"/>
                  </a:lnTo>
                  <a:cubicBezTo>
                    <a:pt x="22152102" y="0"/>
                    <a:pt x="22206204" y="54102"/>
                    <a:pt x="22206204" y="120777"/>
                  </a:cubicBezTo>
                  <a:lnTo>
                    <a:pt x="22206204" y="1389507"/>
                  </a:lnTo>
                  <a:cubicBezTo>
                    <a:pt x="22206204" y="1456182"/>
                    <a:pt x="22152102" y="1510284"/>
                    <a:pt x="22085427" y="1510284"/>
                  </a:cubicBezTo>
                  <a:lnTo>
                    <a:pt x="120777" y="1510284"/>
                  </a:lnTo>
                  <a:cubicBezTo>
                    <a:pt x="54102" y="1510284"/>
                    <a:pt x="0" y="1456182"/>
                    <a:pt x="0" y="1389507"/>
                  </a:cubicBezTo>
                  <a:close/>
                </a:path>
              </a:pathLst>
            </a:custGeom>
            <a:solidFill>
              <a:srgbClr val="EAF8FA"/>
            </a:solidFill>
            <a:ln w="12700" cap="sq">
              <a:solidFill>
                <a:srgbClr val="CFE5E9"/>
              </a:solidFill>
              <a:prstDash val="solid"/>
              <a:miter/>
            </a:ln>
          </p:spPr>
          <p:txBody>
            <a:bodyPr/>
            <a:p/>
          </p:txBody>
        </p:sp>
      </p:grpSp>
      <p:grpSp>
        <p:nvGrpSpPr>
          <p:cNvPr name="Group 83" id="83"/>
          <p:cNvGrpSpPr/>
          <p:nvPr/>
        </p:nvGrpSpPr>
        <p:grpSpPr>
          <a:xfrm rot="0">
            <a:off x="1051560" y="4880610"/>
            <a:ext cx="548640" cy="548640"/>
            <a:chOff x="0" y="0"/>
            <a:chExt cx="731520" cy="731520"/>
          </a:xfrm>
        </p:grpSpPr>
        <p:sp>
          <p:nvSpPr>
            <p:cNvPr name="Freeform 84" id="84"/>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85" id="85"/>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2</a:t>
              </a:r>
            </a:p>
          </p:txBody>
        </p:sp>
      </p:grpSp>
      <p:grpSp>
        <p:nvGrpSpPr>
          <p:cNvPr name="Group 86" id="86"/>
          <p:cNvGrpSpPr/>
          <p:nvPr/>
        </p:nvGrpSpPr>
        <p:grpSpPr>
          <a:xfrm rot="0">
            <a:off x="1828800" y="4686300"/>
            <a:ext cx="4206240" cy="937260"/>
            <a:chOff x="0" y="0"/>
            <a:chExt cx="5608320" cy="1249680"/>
          </a:xfrm>
        </p:grpSpPr>
        <p:sp>
          <p:nvSpPr>
            <p:cNvPr name="Freeform 87" id="87"/>
            <p:cNvSpPr/>
            <p:nvPr/>
          </p:nvSpPr>
          <p:spPr>
            <a:xfrm flipH="false" flipV="false" rot="0">
              <a:off x="0" y="0"/>
              <a:ext cx="5608320" cy="1249680"/>
            </a:xfrm>
            <a:custGeom>
              <a:avLst/>
              <a:gdLst/>
              <a:ahLst/>
              <a:cxnLst/>
              <a:rect r="r" b="b" t="t" l="l"/>
              <a:pathLst>
                <a:path h="1249680" w="5608320">
                  <a:moveTo>
                    <a:pt x="0" y="0"/>
                  </a:moveTo>
                  <a:lnTo>
                    <a:pt x="5608320" y="0"/>
                  </a:lnTo>
                  <a:lnTo>
                    <a:pt x="5608320" y="1249680"/>
                  </a:lnTo>
                  <a:lnTo>
                    <a:pt x="0" y="1249680"/>
                  </a:lnTo>
                  <a:close/>
                </a:path>
              </a:pathLst>
            </a:custGeom>
            <a:blipFill>
              <a:blip r:embed="rId6">
                <a:alphaModFix amt="0"/>
              </a:blip>
              <a:stretch>
                <a:fillRect l="0" t="-37445" r="0" b="-37445"/>
              </a:stretch>
            </a:blipFill>
          </p:spPr>
          <p:txBody>
            <a:bodyPr/>
            <a:p/>
          </p:txBody>
        </p:sp>
        <p:sp>
          <p:nvSpPr>
            <p:cNvPr name="TextBox 88" id="88"/>
            <p:cNvSpPr txBox="true"/>
            <p:nvPr/>
          </p:nvSpPr>
          <p:spPr>
            <a:xfrm>
              <a:off x="0" y="-38100"/>
              <a:ext cx="5608320" cy="1287780"/>
            </a:xfrm>
            <a:prstGeom prst="rect">
              <a:avLst/>
            </a:prstGeom>
          </p:spPr>
          <p:txBody>
            <a:bodyPr anchor="ctr" rtlCol="false" tIns="0" lIns="0" bIns="0" rIns="0"/>
            <a:lstStyle/>
            <a:p>
              <a:pPr algn="l">
                <a:lnSpc>
                  <a:spcPts val="2279"/>
                </a:lnSpc>
              </a:pPr>
              <a:r>
                <a:rPr lang="en-US" sz="1899" b="true">
                  <a:solidFill>
                    <a:srgbClr val="0B5E6E"/>
                  </a:solidFill>
                  <a:latin typeface="Calibri (MS) Bold"/>
                  <a:ea typeface="Calibri (MS) Bold"/>
                  <a:cs typeface="Calibri (MS) Bold"/>
                  <a:sym typeface="Calibri (MS) Bold"/>
                </a:rPr>
                <a:t>Empat halaman</a:t>
              </a:r>
            </a:p>
          </p:txBody>
        </p:sp>
      </p:grpSp>
      <p:grpSp>
        <p:nvGrpSpPr>
          <p:cNvPr name="Group 89" id="89"/>
          <p:cNvGrpSpPr/>
          <p:nvPr/>
        </p:nvGrpSpPr>
        <p:grpSpPr>
          <a:xfrm rot="0">
            <a:off x="6126480" y="4686300"/>
            <a:ext cx="11155680" cy="937260"/>
            <a:chOff x="0" y="0"/>
            <a:chExt cx="14874240" cy="1249680"/>
          </a:xfrm>
        </p:grpSpPr>
        <p:sp>
          <p:nvSpPr>
            <p:cNvPr name="Freeform 90" id="90"/>
            <p:cNvSpPr/>
            <p:nvPr/>
          </p:nvSpPr>
          <p:spPr>
            <a:xfrm flipH="false" flipV="false" rot="0">
              <a:off x="0" y="0"/>
              <a:ext cx="14874239" cy="1249680"/>
            </a:xfrm>
            <a:custGeom>
              <a:avLst/>
              <a:gdLst/>
              <a:ahLst/>
              <a:cxnLst/>
              <a:rect r="r" b="b" t="t" l="l"/>
              <a:pathLst>
                <a:path h="1249680" w="14874239">
                  <a:moveTo>
                    <a:pt x="0" y="0"/>
                  </a:moveTo>
                  <a:lnTo>
                    <a:pt x="14874239" y="0"/>
                  </a:lnTo>
                  <a:lnTo>
                    <a:pt x="14874239" y="1249680"/>
                  </a:lnTo>
                  <a:lnTo>
                    <a:pt x="0" y="1249680"/>
                  </a:lnTo>
                  <a:close/>
                </a:path>
              </a:pathLst>
            </a:custGeom>
            <a:blipFill>
              <a:blip r:embed="rId6">
                <a:alphaModFix amt="0"/>
              </a:blip>
              <a:stretch>
                <a:fillRect l="0" t="-181919" r="0" b="-181919"/>
              </a:stretch>
            </a:blipFill>
          </p:spPr>
          <p:txBody>
            <a:bodyPr/>
            <a:p/>
          </p:txBody>
        </p:sp>
        <p:sp>
          <p:nvSpPr>
            <p:cNvPr name="TextBox 91" id="91"/>
            <p:cNvSpPr txBox="true"/>
            <p:nvPr/>
          </p:nvSpPr>
          <p:spPr>
            <a:xfrm>
              <a:off x="0" y="-38100"/>
              <a:ext cx="14874240" cy="1287780"/>
            </a:xfrm>
            <a:prstGeom prst="rect">
              <a:avLst/>
            </a:prstGeom>
          </p:spPr>
          <p:txBody>
            <a:bodyPr anchor="ctr" rtlCol="false" tIns="0" lIns="0" bIns="0" rIns="0"/>
            <a:lstStyle/>
            <a:p>
              <a:pPr algn="l">
                <a:lnSpc>
                  <a:spcPts val="2063"/>
                </a:lnSpc>
              </a:pPr>
              <a:r>
                <a:rPr lang="en-US" sz="1719">
                  <a:solidFill>
                    <a:srgbClr val="14313B"/>
                  </a:solidFill>
                  <a:latin typeface="Calibri (MS)"/>
                  <a:ea typeface="Calibri (MS)"/>
                  <a:cs typeface="Calibri (MS)"/>
                  <a:sym typeface="Calibri (MS)"/>
                </a:rPr>
                <a:t>Beranda, Model (struktur &amp; evaluasi), Skenario (tiga skenario + perbandingan), Simulasi (dua variabel kebijakan, pilihan variabel, 2025–2050).</a:t>
              </a:r>
            </a:p>
          </p:txBody>
        </p:sp>
      </p:grpSp>
      <p:grpSp>
        <p:nvGrpSpPr>
          <p:cNvPr name="Group 92" id="92"/>
          <p:cNvGrpSpPr/>
          <p:nvPr/>
        </p:nvGrpSpPr>
        <p:grpSpPr>
          <a:xfrm rot="0">
            <a:off x="816607" y="5891527"/>
            <a:ext cx="16654777" cy="1132837"/>
            <a:chOff x="0" y="0"/>
            <a:chExt cx="22206369" cy="1510449"/>
          </a:xfrm>
        </p:grpSpPr>
        <p:sp>
          <p:nvSpPr>
            <p:cNvPr name="Freeform 93" id="93"/>
            <p:cNvSpPr/>
            <p:nvPr/>
          </p:nvSpPr>
          <p:spPr>
            <a:xfrm flipH="false" flipV="false" rot="0">
              <a:off x="0" y="0"/>
              <a:ext cx="22206204" cy="1510284"/>
            </a:xfrm>
            <a:custGeom>
              <a:avLst/>
              <a:gdLst/>
              <a:ahLst/>
              <a:cxnLst/>
              <a:rect r="r" b="b" t="t" l="l"/>
              <a:pathLst>
                <a:path h="1510284" w="22206204">
                  <a:moveTo>
                    <a:pt x="0" y="120777"/>
                  </a:moveTo>
                  <a:cubicBezTo>
                    <a:pt x="0" y="54102"/>
                    <a:pt x="54102" y="0"/>
                    <a:pt x="120777" y="0"/>
                  </a:cubicBezTo>
                  <a:lnTo>
                    <a:pt x="22085427" y="0"/>
                  </a:lnTo>
                  <a:cubicBezTo>
                    <a:pt x="22152102" y="0"/>
                    <a:pt x="22206204" y="54102"/>
                    <a:pt x="22206204" y="120777"/>
                  </a:cubicBezTo>
                  <a:lnTo>
                    <a:pt x="22206204" y="1389507"/>
                  </a:lnTo>
                  <a:cubicBezTo>
                    <a:pt x="22206204" y="1456182"/>
                    <a:pt x="22152102" y="1510284"/>
                    <a:pt x="22085427" y="1510284"/>
                  </a:cubicBezTo>
                  <a:lnTo>
                    <a:pt x="120777" y="1510284"/>
                  </a:lnTo>
                  <a:cubicBezTo>
                    <a:pt x="54102" y="1510284"/>
                    <a:pt x="0" y="1456182"/>
                    <a:pt x="0" y="1389507"/>
                  </a:cubicBezTo>
                  <a:close/>
                </a:path>
              </a:pathLst>
            </a:custGeom>
            <a:solidFill>
              <a:srgbClr val="EAF8FA"/>
            </a:solidFill>
            <a:ln w="12700" cap="sq">
              <a:solidFill>
                <a:srgbClr val="CFE5E9"/>
              </a:solidFill>
              <a:prstDash val="solid"/>
              <a:miter/>
            </a:ln>
          </p:spPr>
          <p:txBody>
            <a:bodyPr/>
            <a:p/>
          </p:txBody>
        </p:sp>
      </p:grpSp>
      <p:grpSp>
        <p:nvGrpSpPr>
          <p:cNvPr name="Group 94" id="94"/>
          <p:cNvGrpSpPr/>
          <p:nvPr/>
        </p:nvGrpSpPr>
        <p:grpSpPr>
          <a:xfrm rot="0">
            <a:off x="1051560" y="6183630"/>
            <a:ext cx="548640" cy="548640"/>
            <a:chOff x="0" y="0"/>
            <a:chExt cx="731520" cy="731520"/>
          </a:xfrm>
        </p:grpSpPr>
        <p:sp>
          <p:nvSpPr>
            <p:cNvPr name="Freeform 95" id="95"/>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96" id="96"/>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3</a:t>
              </a:r>
            </a:p>
          </p:txBody>
        </p:sp>
      </p:grpSp>
      <p:grpSp>
        <p:nvGrpSpPr>
          <p:cNvPr name="Group 97" id="97"/>
          <p:cNvGrpSpPr/>
          <p:nvPr/>
        </p:nvGrpSpPr>
        <p:grpSpPr>
          <a:xfrm rot="0">
            <a:off x="1828800" y="5989320"/>
            <a:ext cx="4206240" cy="937260"/>
            <a:chOff x="0" y="0"/>
            <a:chExt cx="5608320" cy="1249680"/>
          </a:xfrm>
        </p:grpSpPr>
        <p:sp>
          <p:nvSpPr>
            <p:cNvPr name="Freeform 98" id="98"/>
            <p:cNvSpPr/>
            <p:nvPr/>
          </p:nvSpPr>
          <p:spPr>
            <a:xfrm flipH="false" flipV="false" rot="0">
              <a:off x="0" y="0"/>
              <a:ext cx="5608320" cy="1249680"/>
            </a:xfrm>
            <a:custGeom>
              <a:avLst/>
              <a:gdLst/>
              <a:ahLst/>
              <a:cxnLst/>
              <a:rect r="r" b="b" t="t" l="l"/>
              <a:pathLst>
                <a:path h="1249680" w="5608320">
                  <a:moveTo>
                    <a:pt x="0" y="0"/>
                  </a:moveTo>
                  <a:lnTo>
                    <a:pt x="5608320" y="0"/>
                  </a:lnTo>
                  <a:lnTo>
                    <a:pt x="5608320" y="1249680"/>
                  </a:lnTo>
                  <a:lnTo>
                    <a:pt x="0" y="1249680"/>
                  </a:lnTo>
                  <a:close/>
                </a:path>
              </a:pathLst>
            </a:custGeom>
            <a:blipFill>
              <a:blip r:embed="rId6">
                <a:alphaModFix amt="0"/>
              </a:blip>
              <a:stretch>
                <a:fillRect l="0" t="-37445" r="0" b="-37445"/>
              </a:stretch>
            </a:blipFill>
          </p:spPr>
          <p:txBody>
            <a:bodyPr/>
            <a:p/>
          </p:txBody>
        </p:sp>
        <p:sp>
          <p:nvSpPr>
            <p:cNvPr name="TextBox 99" id="99"/>
            <p:cNvSpPr txBox="true"/>
            <p:nvPr/>
          </p:nvSpPr>
          <p:spPr>
            <a:xfrm>
              <a:off x="0" y="-38100"/>
              <a:ext cx="5608320" cy="1287780"/>
            </a:xfrm>
            <a:prstGeom prst="rect">
              <a:avLst/>
            </a:prstGeom>
          </p:spPr>
          <p:txBody>
            <a:bodyPr anchor="ctr" rtlCol="false" tIns="0" lIns="0" bIns="0" rIns="0"/>
            <a:lstStyle/>
            <a:p>
              <a:pPr algn="l">
                <a:lnSpc>
                  <a:spcPts val="2279"/>
                </a:lnSpc>
              </a:pPr>
              <a:r>
                <a:rPr lang="en-US" sz="1899" b="true">
                  <a:solidFill>
                    <a:srgbClr val="0B5E6E"/>
                  </a:solidFill>
                  <a:latin typeface="Calibri (MS) Bold"/>
                  <a:ea typeface="Calibri (MS) Bold"/>
                  <a:cs typeface="Calibri (MS) Bold"/>
                  <a:sym typeface="Calibri (MS) Bold"/>
                </a:rPr>
                <a:t>Fungsional</a:t>
              </a:r>
            </a:p>
          </p:txBody>
        </p:sp>
      </p:grpSp>
      <p:grpSp>
        <p:nvGrpSpPr>
          <p:cNvPr name="Group 100" id="100"/>
          <p:cNvGrpSpPr/>
          <p:nvPr/>
        </p:nvGrpSpPr>
        <p:grpSpPr>
          <a:xfrm rot="0">
            <a:off x="6126480" y="5989320"/>
            <a:ext cx="11155680" cy="937260"/>
            <a:chOff x="0" y="0"/>
            <a:chExt cx="14874240" cy="1249680"/>
          </a:xfrm>
        </p:grpSpPr>
        <p:sp>
          <p:nvSpPr>
            <p:cNvPr name="Freeform 101" id="101"/>
            <p:cNvSpPr/>
            <p:nvPr/>
          </p:nvSpPr>
          <p:spPr>
            <a:xfrm flipH="false" flipV="false" rot="0">
              <a:off x="0" y="0"/>
              <a:ext cx="14874239" cy="1249680"/>
            </a:xfrm>
            <a:custGeom>
              <a:avLst/>
              <a:gdLst/>
              <a:ahLst/>
              <a:cxnLst/>
              <a:rect r="r" b="b" t="t" l="l"/>
              <a:pathLst>
                <a:path h="1249680" w="14874239">
                  <a:moveTo>
                    <a:pt x="0" y="0"/>
                  </a:moveTo>
                  <a:lnTo>
                    <a:pt x="14874239" y="0"/>
                  </a:lnTo>
                  <a:lnTo>
                    <a:pt x="14874239" y="1249680"/>
                  </a:lnTo>
                  <a:lnTo>
                    <a:pt x="0" y="1249680"/>
                  </a:lnTo>
                  <a:close/>
                </a:path>
              </a:pathLst>
            </a:custGeom>
            <a:blipFill>
              <a:blip r:embed="rId6">
                <a:alphaModFix amt="0"/>
              </a:blip>
              <a:stretch>
                <a:fillRect l="0" t="-181919" r="0" b="-181919"/>
              </a:stretch>
            </a:blipFill>
          </p:spPr>
          <p:txBody>
            <a:bodyPr/>
            <a:p/>
          </p:txBody>
        </p:sp>
        <p:sp>
          <p:nvSpPr>
            <p:cNvPr name="TextBox 102" id="102"/>
            <p:cNvSpPr txBox="true"/>
            <p:nvPr/>
          </p:nvSpPr>
          <p:spPr>
            <a:xfrm>
              <a:off x="0" y="-38100"/>
              <a:ext cx="14874240" cy="1287780"/>
            </a:xfrm>
            <a:prstGeom prst="rect">
              <a:avLst/>
            </a:prstGeom>
          </p:spPr>
          <p:txBody>
            <a:bodyPr anchor="ctr" rtlCol="false" tIns="0" lIns="0" bIns="0" rIns="0"/>
            <a:lstStyle/>
            <a:p>
              <a:pPr algn="l">
                <a:lnSpc>
                  <a:spcPts val="2063"/>
                </a:lnSpc>
              </a:pPr>
              <a:r>
                <a:rPr lang="en-US" sz="1719">
                  <a:solidFill>
                    <a:srgbClr val="14313B"/>
                  </a:solidFill>
                  <a:latin typeface="Calibri (MS)"/>
                  <a:ea typeface="Calibri (MS)"/>
                  <a:cs typeface="Calibri (MS)"/>
                  <a:sym typeface="Calibri (MS)"/>
                </a:rPr>
                <a:t>9 dari 9 kasus black-box Pass.</a:t>
              </a:r>
            </a:p>
          </p:txBody>
        </p:sp>
      </p:grpSp>
      <p:grpSp>
        <p:nvGrpSpPr>
          <p:cNvPr name="Group 103" id="103"/>
          <p:cNvGrpSpPr/>
          <p:nvPr/>
        </p:nvGrpSpPr>
        <p:grpSpPr>
          <a:xfrm rot="0">
            <a:off x="816607" y="7194547"/>
            <a:ext cx="16654777" cy="1132837"/>
            <a:chOff x="0" y="0"/>
            <a:chExt cx="22206369" cy="1510449"/>
          </a:xfrm>
        </p:grpSpPr>
        <p:sp>
          <p:nvSpPr>
            <p:cNvPr name="Freeform 104" id="104"/>
            <p:cNvSpPr/>
            <p:nvPr/>
          </p:nvSpPr>
          <p:spPr>
            <a:xfrm flipH="false" flipV="false" rot="0">
              <a:off x="0" y="0"/>
              <a:ext cx="22206204" cy="1510284"/>
            </a:xfrm>
            <a:custGeom>
              <a:avLst/>
              <a:gdLst/>
              <a:ahLst/>
              <a:cxnLst/>
              <a:rect r="r" b="b" t="t" l="l"/>
              <a:pathLst>
                <a:path h="1510284" w="22206204">
                  <a:moveTo>
                    <a:pt x="0" y="120777"/>
                  </a:moveTo>
                  <a:cubicBezTo>
                    <a:pt x="0" y="54102"/>
                    <a:pt x="54102" y="0"/>
                    <a:pt x="120777" y="0"/>
                  </a:cubicBezTo>
                  <a:lnTo>
                    <a:pt x="22085427" y="0"/>
                  </a:lnTo>
                  <a:cubicBezTo>
                    <a:pt x="22152102" y="0"/>
                    <a:pt x="22206204" y="54102"/>
                    <a:pt x="22206204" y="120777"/>
                  </a:cubicBezTo>
                  <a:lnTo>
                    <a:pt x="22206204" y="1389507"/>
                  </a:lnTo>
                  <a:cubicBezTo>
                    <a:pt x="22206204" y="1456182"/>
                    <a:pt x="22152102" y="1510284"/>
                    <a:pt x="22085427" y="1510284"/>
                  </a:cubicBezTo>
                  <a:lnTo>
                    <a:pt x="120777" y="1510284"/>
                  </a:lnTo>
                  <a:cubicBezTo>
                    <a:pt x="54102" y="1510284"/>
                    <a:pt x="0" y="1456182"/>
                    <a:pt x="0" y="1389507"/>
                  </a:cubicBezTo>
                  <a:close/>
                </a:path>
              </a:pathLst>
            </a:custGeom>
            <a:solidFill>
              <a:srgbClr val="EAF8FA"/>
            </a:solidFill>
            <a:ln w="12700" cap="sq">
              <a:solidFill>
                <a:srgbClr val="CFE5E9"/>
              </a:solidFill>
              <a:prstDash val="solid"/>
              <a:miter/>
            </a:ln>
          </p:spPr>
          <p:txBody>
            <a:bodyPr/>
            <a:p/>
          </p:txBody>
        </p:sp>
      </p:grpSp>
      <p:grpSp>
        <p:nvGrpSpPr>
          <p:cNvPr name="Group 105" id="105"/>
          <p:cNvGrpSpPr/>
          <p:nvPr/>
        </p:nvGrpSpPr>
        <p:grpSpPr>
          <a:xfrm rot="0">
            <a:off x="1051560" y="7486650"/>
            <a:ext cx="548640" cy="548640"/>
            <a:chOff x="0" y="0"/>
            <a:chExt cx="731520" cy="731520"/>
          </a:xfrm>
        </p:grpSpPr>
        <p:sp>
          <p:nvSpPr>
            <p:cNvPr name="Freeform 106" id="106"/>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107" id="107"/>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4</a:t>
              </a:r>
            </a:p>
          </p:txBody>
        </p:sp>
      </p:grpSp>
      <p:grpSp>
        <p:nvGrpSpPr>
          <p:cNvPr name="Group 108" id="108"/>
          <p:cNvGrpSpPr/>
          <p:nvPr/>
        </p:nvGrpSpPr>
        <p:grpSpPr>
          <a:xfrm rot="0">
            <a:off x="1828800" y="7292340"/>
            <a:ext cx="4206240" cy="937260"/>
            <a:chOff x="0" y="0"/>
            <a:chExt cx="5608320" cy="1249680"/>
          </a:xfrm>
        </p:grpSpPr>
        <p:sp>
          <p:nvSpPr>
            <p:cNvPr name="Freeform 109" id="109"/>
            <p:cNvSpPr/>
            <p:nvPr/>
          </p:nvSpPr>
          <p:spPr>
            <a:xfrm flipH="false" flipV="false" rot="0">
              <a:off x="0" y="0"/>
              <a:ext cx="5608320" cy="1249680"/>
            </a:xfrm>
            <a:custGeom>
              <a:avLst/>
              <a:gdLst/>
              <a:ahLst/>
              <a:cxnLst/>
              <a:rect r="r" b="b" t="t" l="l"/>
              <a:pathLst>
                <a:path h="1249680" w="5608320">
                  <a:moveTo>
                    <a:pt x="0" y="0"/>
                  </a:moveTo>
                  <a:lnTo>
                    <a:pt x="5608320" y="0"/>
                  </a:lnTo>
                  <a:lnTo>
                    <a:pt x="5608320" y="1249680"/>
                  </a:lnTo>
                  <a:lnTo>
                    <a:pt x="0" y="1249680"/>
                  </a:lnTo>
                  <a:close/>
                </a:path>
              </a:pathLst>
            </a:custGeom>
            <a:blipFill>
              <a:blip r:embed="rId6">
                <a:alphaModFix amt="0"/>
              </a:blip>
              <a:stretch>
                <a:fillRect l="0" t="-37445" r="0" b="-37445"/>
              </a:stretch>
            </a:blipFill>
          </p:spPr>
          <p:txBody>
            <a:bodyPr/>
            <a:p/>
          </p:txBody>
        </p:sp>
        <p:sp>
          <p:nvSpPr>
            <p:cNvPr name="TextBox 110" id="110"/>
            <p:cNvSpPr txBox="true"/>
            <p:nvPr/>
          </p:nvSpPr>
          <p:spPr>
            <a:xfrm>
              <a:off x="0" y="-38100"/>
              <a:ext cx="5608320" cy="1287780"/>
            </a:xfrm>
            <a:prstGeom prst="rect">
              <a:avLst/>
            </a:prstGeom>
          </p:spPr>
          <p:txBody>
            <a:bodyPr anchor="ctr" rtlCol="false" tIns="0" lIns="0" bIns="0" rIns="0"/>
            <a:lstStyle/>
            <a:p>
              <a:pPr algn="l">
                <a:lnSpc>
                  <a:spcPts val="2279"/>
                </a:lnSpc>
              </a:pPr>
              <a:r>
                <a:rPr lang="en-US" sz="1899" b="true">
                  <a:solidFill>
                    <a:srgbClr val="0B5E6E"/>
                  </a:solidFill>
                  <a:latin typeface="Calibri (MS) Bold"/>
                  <a:ea typeface="Calibri (MS) Bold"/>
                  <a:cs typeface="Calibri (MS) Bold"/>
                  <a:sym typeface="Calibri (MS) Bold"/>
                </a:rPr>
                <a:t>Usability</a:t>
              </a:r>
            </a:p>
          </p:txBody>
        </p:sp>
      </p:grpSp>
      <p:grpSp>
        <p:nvGrpSpPr>
          <p:cNvPr name="Group 111" id="111"/>
          <p:cNvGrpSpPr/>
          <p:nvPr/>
        </p:nvGrpSpPr>
        <p:grpSpPr>
          <a:xfrm rot="0">
            <a:off x="6126480" y="7292340"/>
            <a:ext cx="11155680" cy="937260"/>
            <a:chOff x="0" y="0"/>
            <a:chExt cx="14874240" cy="1249680"/>
          </a:xfrm>
        </p:grpSpPr>
        <p:sp>
          <p:nvSpPr>
            <p:cNvPr name="Freeform 112" id="112"/>
            <p:cNvSpPr/>
            <p:nvPr/>
          </p:nvSpPr>
          <p:spPr>
            <a:xfrm flipH="false" flipV="false" rot="0">
              <a:off x="0" y="0"/>
              <a:ext cx="14874239" cy="1249680"/>
            </a:xfrm>
            <a:custGeom>
              <a:avLst/>
              <a:gdLst/>
              <a:ahLst/>
              <a:cxnLst/>
              <a:rect r="r" b="b" t="t" l="l"/>
              <a:pathLst>
                <a:path h="1249680" w="14874239">
                  <a:moveTo>
                    <a:pt x="0" y="0"/>
                  </a:moveTo>
                  <a:lnTo>
                    <a:pt x="14874239" y="0"/>
                  </a:lnTo>
                  <a:lnTo>
                    <a:pt x="14874239" y="1249680"/>
                  </a:lnTo>
                  <a:lnTo>
                    <a:pt x="0" y="1249680"/>
                  </a:lnTo>
                  <a:close/>
                </a:path>
              </a:pathLst>
            </a:custGeom>
            <a:blipFill>
              <a:blip r:embed="rId6">
                <a:alphaModFix amt="0"/>
              </a:blip>
              <a:stretch>
                <a:fillRect l="0" t="-181919" r="0" b="-181919"/>
              </a:stretch>
            </a:blipFill>
          </p:spPr>
          <p:txBody>
            <a:bodyPr/>
            <a:p/>
          </p:txBody>
        </p:sp>
        <p:sp>
          <p:nvSpPr>
            <p:cNvPr name="TextBox 113" id="113"/>
            <p:cNvSpPr txBox="true"/>
            <p:nvPr/>
          </p:nvSpPr>
          <p:spPr>
            <a:xfrm>
              <a:off x="0" y="-38100"/>
              <a:ext cx="14874240" cy="1287780"/>
            </a:xfrm>
            <a:prstGeom prst="rect">
              <a:avLst/>
            </a:prstGeom>
          </p:spPr>
          <p:txBody>
            <a:bodyPr anchor="ctr" rtlCol="false" tIns="0" lIns="0" bIns="0" rIns="0"/>
            <a:lstStyle/>
            <a:p>
              <a:pPr algn="l">
                <a:lnSpc>
                  <a:spcPts val="2063"/>
                </a:lnSpc>
              </a:pPr>
              <a:r>
                <a:rPr lang="en-US" sz="1719">
                  <a:solidFill>
                    <a:srgbClr val="14313B"/>
                  </a:solidFill>
                  <a:latin typeface="Calibri (MS)"/>
                  <a:ea typeface="Calibri (MS)"/>
                  <a:cs typeface="Calibri (MS)"/>
                  <a:sym typeface="Calibri (MS)"/>
                </a:rPr>
                <a:t>SUS rata-rata 88,50 (median 92,50; n = 10) — antara Excellent dan Best Imaginable; masukan: perlu bantuan interpretasi hasil.</a:t>
              </a:r>
            </a:p>
          </p:txBody>
        </p:sp>
      </p:grpSp>
      <p:grpSp>
        <p:nvGrpSpPr>
          <p:cNvPr name="Group 114" id="114"/>
          <p:cNvGrpSpPr/>
          <p:nvPr/>
        </p:nvGrpSpPr>
        <p:grpSpPr>
          <a:xfrm rot="0">
            <a:off x="816607" y="8497567"/>
            <a:ext cx="16654777" cy="744217"/>
            <a:chOff x="0" y="0"/>
            <a:chExt cx="22206369" cy="992289"/>
          </a:xfrm>
        </p:grpSpPr>
        <p:sp>
          <p:nvSpPr>
            <p:cNvPr name="Freeform 115" id="115"/>
            <p:cNvSpPr/>
            <p:nvPr/>
          </p:nvSpPr>
          <p:spPr>
            <a:xfrm flipH="false" flipV="false" rot="0">
              <a:off x="0" y="0"/>
              <a:ext cx="22206331" cy="992251"/>
            </a:xfrm>
            <a:custGeom>
              <a:avLst/>
              <a:gdLst/>
              <a:ahLst/>
              <a:cxnLst/>
              <a:rect r="r" b="b" t="t" l="l"/>
              <a:pathLst>
                <a:path h="992251" w="22206331">
                  <a:moveTo>
                    <a:pt x="0" y="79375"/>
                  </a:moveTo>
                  <a:cubicBezTo>
                    <a:pt x="0" y="35560"/>
                    <a:pt x="35560" y="0"/>
                    <a:pt x="79375" y="0"/>
                  </a:cubicBezTo>
                  <a:lnTo>
                    <a:pt x="22126956" y="0"/>
                  </a:lnTo>
                  <a:cubicBezTo>
                    <a:pt x="22170771" y="0"/>
                    <a:pt x="22206331" y="35560"/>
                    <a:pt x="22206331" y="79375"/>
                  </a:cubicBezTo>
                  <a:lnTo>
                    <a:pt x="22206331" y="912876"/>
                  </a:lnTo>
                  <a:cubicBezTo>
                    <a:pt x="22206331" y="956691"/>
                    <a:pt x="22170771" y="992251"/>
                    <a:pt x="22126956" y="992251"/>
                  </a:cubicBezTo>
                  <a:lnTo>
                    <a:pt x="79375" y="992251"/>
                  </a:lnTo>
                  <a:cubicBezTo>
                    <a:pt x="35560" y="992251"/>
                    <a:pt x="0" y="956691"/>
                    <a:pt x="0" y="912876"/>
                  </a:cubicBezTo>
                  <a:close/>
                </a:path>
              </a:pathLst>
            </a:custGeom>
            <a:solidFill>
              <a:srgbClr val="FFF1BF"/>
            </a:solidFill>
            <a:ln w="12700" cap="sq">
              <a:solidFill>
                <a:srgbClr val="FFD23B"/>
              </a:solidFill>
              <a:prstDash val="solid"/>
              <a:miter/>
            </a:ln>
          </p:spPr>
          <p:txBody>
            <a:bodyPr/>
            <a:p/>
          </p:txBody>
        </p:sp>
        <p:sp>
          <p:nvSpPr>
            <p:cNvPr name="TextBox 116" id="116"/>
            <p:cNvSpPr txBox="true"/>
            <p:nvPr/>
          </p:nvSpPr>
          <p:spPr>
            <a:xfrm>
              <a:off x="0" y="-38100"/>
              <a:ext cx="22206369" cy="103038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Hasil pemodelan dan simulasi skenario kebijakan kini dapat dieksplorasi tanpa perangkat lunak pemodelan.</a:t>
              </a:r>
            </a:p>
          </p:txBody>
        </p:sp>
      </p:grpSp>
      <p:grpSp>
        <p:nvGrpSpPr>
          <p:cNvPr name="Group 117" id="117"/>
          <p:cNvGrpSpPr/>
          <p:nvPr/>
        </p:nvGrpSpPr>
        <p:grpSpPr>
          <a:xfrm rot="0">
            <a:off x="16047720" y="9646920"/>
            <a:ext cx="420624" cy="420624"/>
            <a:chOff x="0" y="0"/>
            <a:chExt cx="560832" cy="560832"/>
          </a:xfrm>
        </p:grpSpPr>
        <p:sp>
          <p:nvSpPr>
            <p:cNvPr name="Freeform 118" id="118"/>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19" id="119"/>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Diskusi</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Kekuatan penelitian ada pada cara pengujiannya, bukan sekadar kecocokan dengan data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Penutup</a:t>
              </a:r>
            </a:p>
          </p:txBody>
        </p:sp>
      </p:grpSp>
      <p:sp>
        <p:nvSpPr>
          <p:cNvPr name="TextBox 66" id="66"/>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72</a:t>
            </a:r>
          </a:p>
        </p:txBody>
      </p:sp>
      <p:sp>
        <p:nvSpPr>
          <p:cNvPr name="Freeform 67" id="67"/>
          <p:cNvSpPr/>
          <p:nvPr/>
        </p:nvSpPr>
        <p:spPr>
          <a:xfrm flipH="false" flipV="false" rot="0">
            <a:off x="806291" y="2379059"/>
            <a:ext cx="5428297" cy="5565458"/>
          </a:xfrm>
          <a:custGeom>
            <a:avLst/>
            <a:gdLst/>
            <a:ahLst/>
            <a:cxnLst/>
            <a:rect r="r" b="b" t="t" l="l"/>
            <a:pathLst>
              <a:path h="5565458" w="5428297">
                <a:moveTo>
                  <a:pt x="0" y="0"/>
                </a:moveTo>
                <a:lnTo>
                  <a:pt x="5428298" y="0"/>
                </a:lnTo>
                <a:lnTo>
                  <a:pt x="5428298" y="5565458"/>
                </a:lnTo>
                <a:lnTo>
                  <a:pt x="0" y="55654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68" id="68"/>
          <p:cNvGrpSpPr/>
          <p:nvPr/>
        </p:nvGrpSpPr>
        <p:grpSpPr>
          <a:xfrm rot="0">
            <a:off x="1115568" y="2697480"/>
            <a:ext cx="685800" cy="685800"/>
            <a:chOff x="0" y="0"/>
            <a:chExt cx="914400" cy="914400"/>
          </a:xfrm>
        </p:grpSpPr>
        <p:sp>
          <p:nvSpPr>
            <p:cNvPr name="Freeform 69" id="69"/>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70" id="70"/>
          <p:cNvGrpSpPr/>
          <p:nvPr/>
        </p:nvGrpSpPr>
        <p:grpSpPr>
          <a:xfrm rot="0">
            <a:off x="1115568" y="2661761"/>
            <a:ext cx="685800" cy="721519"/>
            <a:chOff x="0" y="0"/>
            <a:chExt cx="914400" cy="962025"/>
          </a:xfrm>
        </p:grpSpPr>
        <p:sp>
          <p:nvSpPr>
            <p:cNvPr name="Freeform 71" id="71"/>
            <p:cNvSpPr/>
            <p:nvPr/>
          </p:nvSpPr>
          <p:spPr>
            <a:xfrm flipH="false" flipV="false" rot="0">
              <a:off x="0" y="0"/>
              <a:ext cx="914400" cy="962025"/>
            </a:xfrm>
            <a:custGeom>
              <a:avLst/>
              <a:gdLst/>
              <a:ahLst/>
              <a:cxnLst/>
              <a:rect r="r" b="b" t="t" l="l"/>
              <a:pathLst>
                <a:path h="962025" w="914400">
                  <a:moveTo>
                    <a:pt x="0" y="0"/>
                  </a:moveTo>
                  <a:lnTo>
                    <a:pt x="914400" y="0"/>
                  </a:lnTo>
                  <a:lnTo>
                    <a:pt x="914400" y="962025"/>
                  </a:lnTo>
                  <a:lnTo>
                    <a:pt x="0" y="962025"/>
                  </a:lnTo>
                  <a:close/>
                </a:path>
              </a:pathLst>
            </a:custGeom>
            <a:blipFill>
              <a:blip r:embed="rId6">
                <a:alphaModFix amt="0"/>
              </a:blip>
              <a:stretch>
                <a:fillRect l="-84986" t="0" r="-84986" b="0"/>
              </a:stretch>
            </a:blipFill>
          </p:spPr>
          <p:txBody>
            <a:bodyPr/>
            <a:p/>
          </p:txBody>
        </p:sp>
        <p:sp>
          <p:nvSpPr>
            <p:cNvPr name="TextBox 72" id="72"/>
            <p:cNvSpPr txBox="true"/>
            <p:nvPr/>
          </p:nvSpPr>
          <p:spPr>
            <a:xfrm>
              <a:off x="0" y="-47625"/>
              <a:ext cx="914400" cy="1009650"/>
            </a:xfrm>
            <a:prstGeom prst="rect">
              <a:avLst/>
            </a:prstGeom>
          </p:spPr>
          <p:txBody>
            <a:bodyPr anchor="ctr" rtlCol="false" tIns="0" lIns="0" bIns="0" rIns="0"/>
            <a:lstStyle/>
            <a:p>
              <a:pPr algn="ctr">
                <a:lnSpc>
                  <a:spcPts val="2638"/>
                </a:lnSpc>
              </a:pPr>
              <a:r>
                <a:rPr lang="en-US" sz="2199" b="true">
                  <a:solidFill>
                    <a:srgbClr val="FFFFFF"/>
                  </a:solidFill>
                  <a:latin typeface="Calibri (MS) Bold"/>
                  <a:ea typeface="Calibri (MS) Bold"/>
                  <a:cs typeface="Calibri (MS) Bold"/>
                  <a:sym typeface="Calibri (MS) Bold"/>
                </a:rPr>
                <a:t>1</a:t>
              </a:r>
            </a:p>
          </p:txBody>
        </p:sp>
      </p:grpSp>
      <p:sp>
        <p:nvSpPr>
          <p:cNvPr name="TextBox 73" id="73"/>
          <p:cNvSpPr txBox="true"/>
          <p:nvPr/>
        </p:nvSpPr>
        <p:spPr>
          <a:xfrm rot="0">
            <a:off x="1965960" y="2572512"/>
            <a:ext cx="4023360" cy="1249680"/>
          </a:xfrm>
          <a:prstGeom prst="rect">
            <a:avLst/>
          </a:prstGeom>
        </p:spPr>
        <p:txBody>
          <a:bodyPr anchor="t" rtlCol="false" tIns="0" lIns="0" bIns="0" rIns="0">
            <a:spAutoFit/>
          </a:bodyPr>
          <a:lstStyle/>
          <a:p>
            <a:pPr algn="l">
              <a:lnSpc>
                <a:spcPts val="3090"/>
              </a:lnSpc>
            </a:pPr>
            <a:r>
              <a:rPr lang="en-US" sz="2300" b="true">
                <a:solidFill>
                  <a:srgbClr val="0B5E6E"/>
                </a:solidFill>
                <a:latin typeface="Calibri (MS) Bold"/>
                <a:ea typeface="Calibri (MS) Bold"/>
                <a:cs typeface="Calibri (MS) Bold"/>
                <a:sym typeface="Calibri (MS) Bold"/>
              </a:rPr>
              <a:t>Kalibrasi sebagai alat validasi</a:t>
            </a:r>
          </a:p>
        </p:txBody>
      </p:sp>
      <p:sp>
        <p:nvSpPr>
          <p:cNvPr name="TextBox 74" id="74"/>
          <p:cNvSpPr txBox="true"/>
          <p:nvPr/>
        </p:nvSpPr>
        <p:spPr>
          <a:xfrm rot="0">
            <a:off x="1115568" y="3760470"/>
            <a:ext cx="4809744" cy="4011930"/>
          </a:xfrm>
          <a:prstGeom prst="rect">
            <a:avLst/>
          </a:prstGeom>
        </p:spPr>
        <p:txBody>
          <a:bodyPr anchor="t" rtlCol="false" tIns="0" lIns="0" bIns="0" rIns="0">
            <a:spAutoFit/>
          </a:bodyPr>
          <a:lstStyle/>
          <a:p>
            <a:pPr algn="l">
              <a:lnSpc>
                <a:spcPts val="2761"/>
              </a:lnSpc>
            </a:pPr>
            <a:r>
              <a:rPr lang="en-US" sz="1950">
                <a:solidFill>
                  <a:srgbClr val="14313B"/>
                </a:solidFill>
                <a:latin typeface="Calibri (MS)"/>
                <a:ea typeface="Calibri (MS)"/>
                <a:cs typeface="Calibri (MS)"/>
                <a:sym typeface="Calibri (MS)"/>
              </a:rPr>
              <a:t>Tiga parameter diuji (batas TPK, laju demolisi, laju konversi) dan tidak satu pun berubah. Nilai yang dihitung dari data sudah dapat dipertanggungjawabkan — sejalan dengan Oliva (2003): kalibrasi dipakai untuk menguji struktur model.</a:t>
            </a:r>
          </a:p>
        </p:txBody>
      </p:sp>
      <p:sp>
        <p:nvSpPr>
          <p:cNvPr name="Freeform 75" id="75"/>
          <p:cNvSpPr/>
          <p:nvPr/>
        </p:nvSpPr>
        <p:spPr>
          <a:xfrm flipH="false" flipV="false" rot="0">
            <a:off x="6429851" y="2379059"/>
            <a:ext cx="5428297" cy="5565458"/>
          </a:xfrm>
          <a:custGeom>
            <a:avLst/>
            <a:gdLst/>
            <a:ahLst/>
            <a:cxnLst/>
            <a:rect r="r" b="b" t="t" l="l"/>
            <a:pathLst>
              <a:path h="5565458" w="5428297">
                <a:moveTo>
                  <a:pt x="0" y="0"/>
                </a:moveTo>
                <a:lnTo>
                  <a:pt x="5428298" y="0"/>
                </a:lnTo>
                <a:lnTo>
                  <a:pt x="5428298" y="5565458"/>
                </a:lnTo>
                <a:lnTo>
                  <a:pt x="0" y="55654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76" id="76"/>
          <p:cNvGrpSpPr/>
          <p:nvPr/>
        </p:nvGrpSpPr>
        <p:grpSpPr>
          <a:xfrm rot="0">
            <a:off x="6739128" y="2697480"/>
            <a:ext cx="685800" cy="685800"/>
            <a:chOff x="0" y="0"/>
            <a:chExt cx="914400" cy="914400"/>
          </a:xfrm>
        </p:grpSpPr>
        <p:sp>
          <p:nvSpPr>
            <p:cNvPr name="Freeform 77" id="77"/>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78" id="78"/>
          <p:cNvGrpSpPr/>
          <p:nvPr/>
        </p:nvGrpSpPr>
        <p:grpSpPr>
          <a:xfrm rot="0">
            <a:off x="6739128" y="2661761"/>
            <a:ext cx="685800" cy="721519"/>
            <a:chOff x="0" y="0"/>
            <a:chExt cx="914400" cy="962025"/>
          </a:xfrm>
        </p:grpSpPr>
        <p:sp>
          <p:nvSpPr>
            <p:cNvPr name="Freeform 79" id="79"/>
            <p:cNvSpPr/>
            <p:nvPr/>
          </p:nvSpPr>
          <p:spPr>
            <a:xfrm flipH="false" flipV="false" rot="0">
              <a:off x="0" y="0"/>
              <a:ext cx="914400" cy="962025"/>
            </a:xfrm>
            <a:custGeom>
              <a:avLst/>
              <a:gdLst/>
              <a:ahLst/>
              <a:cxnLst/>
              <a:rect r="r" b="b" t="t" l="l"/>
              <a:pathLst>
                <a:path h="962025" w="914400">
                  <a:moveTo>
                    <a:pt x="0" y="0"/>
                  </a:moveTo>
                  <a:lnTo>
                    <a:pt x="914400" y="0"/>
                  </a:lnTo>
                  <a:lnTo>
                    <a:pt x="914400" y="962025"/>
                  </a:lnTo>
                  <a:lnTo>
                    <a:pt x="0" y="962025"/>
                  </a:lnTo>
                  <a:close/>
                </a:path>
              </a:pathLst>
            </a:custGeom>
            <a:blipFill>
              <a:blip r:embed="rId6">
                <a:alphaModFix amt="0"/>
              </a:blip>
              <a:stretch>
                <a:fillRect l="-84986" t="0" r="-84986" b="0"/>
              </a:stretch>
            </a:blipFill>
          </p:spPr>
          <p:txBody>
            <a:bodyPr/>
            <a:p/>
          </p:txBody>
        </p:sp>
        <p:sp>
          <p:nvSpPr>
            <p:cNvPr name="TextBox 80" id="80"/>
            <p:cNvSpPr txBox="true"/>
            <p:nvPr/>
          </p:nvSpPr>
          <p:spPr>
            <a:xfrm>
              <a:off x="0" y="-47625"/>
              <a:ext cx="914400" cy="1009650"/>
            </a:xfrm>
            <a:prstGeom prst="rect">
              <a:avLst/>
            </a:prstGeom>
          </p:spPr>
          <p:txBody>
            <a:bodyPr anchor="ctr" rtlCol="false" tIns="0" lIns="0" bIns="0" rIns="0"/>
            <a:lstStyle/>
            <a:p>
              <a:pPr algn="ctr">
                <a:lnSpc>
                  <a:spcPts val="2638"/>
                </a:lnSpc>
              </a:pPr>
              <a:r>
                <a:rPr lang="en-US" sz="2199" b="true">
                  <a:solidFill>
                    <a:srgbClr val="FFFFFF"/>
                  </a:solidFill>
                  <a:latin typeface="Calibri (MS) Bold"/>
                  <a:ea typeface="Calibri (MS) Bold"/>
                  <a:cs typeface="Calibri (MS) Bold"/>
                  <a:sym typeface="Calibri (MS) Bold"/>
                </a:rPr>
                <a:t>2</a:t>
              </a:r>
            </a:p>
          </p:txBody>
        </p:sp>
      </p:grpSp>
      <p:sp>
        <p:nvSpPr>
          <p:cNvPr name="TextBox 81" id="81"/>
          <p:cNvSpPr txBox="true"/>
          <p:nvPr/>
        </p:nvSpPr>
        <p:spPr>
          <a:xfrm rot="0">
            <a:off x="7589520" y="2572512"/>
            <a:ext cx="4023360" cy="1249680"/>
          </a:xfrm>
          <a:prstGeom prst="rect">
            <a:avLst/>
          </a:prstGeom>
        </p:spPr>
        <p:txBody>
          <a:bodyPr anchor="t" rtlCol="false" tIns="0" lIns="0" bIns="0" rIns="0">
            <a:spAutoFit/>
          </a:bodyPr>
          <a:lstStyle/>
          <a:p>
            <a:pPr algn="l">
              <a:lnSpc>
                <a:spcPts val="3090"/>
              </a:lnSpc>
            </a:pPr>
            <a:r>
              <a:rPr lang="en-US" sz="2300" b="true">
                <a:solidFill>
                  <a:srgbClr val="0B5E6E"/>
                </a:solidFill>
                <a:latin typeface="Calibri (MS) Bold"/>
                <a:ea typeface="Calibri (MS) Bold"/>
                <a:cs typeface="Calibri (MS) Bold"/>
                <a:sym typeface="Calibri (MS) Bold"/>
              </a:rPr>
              <a:t>Manfaat citra satelit bergantung pada jenis variabel</a:t>
            </a:r>
          </a:p>
        </p:txBody>
      </p:sp>
      <p:sp>
        <p:nvSpPr>
          <p:cNvPr name="TextBox 82" id="82"/>
          <p:cNvSpPr txBox="true"/>
          <p:nvPr/>
        </p:nvSpPr>
        <p:spPr>
          <a:xfrm rot="0">
            <a:off x="6739128" y="3760470"/>
            <a:ext cx="4809744" cy="4011930"/>
          </a:xfrm>
          <a:prstGeom prst="rect">
            <a:avLst/>
          </a:prstGeom>
        </p:spPr>
        <p:txBody>
          <a:bodyPr anchor="t" rtlCol="false" tIns="0" lIns="0" bIns="0" rIns="0">
            <a:spAutoFit/>
          </a:bodyPr>
          <a:lstStyle/>
          <a:p>
            <a:pPr algn="l">
              <a:lnSpc>
                <a:spcPts val="2761"/>
              </a:lnSpc>
            </a:pPr>
            <a:r>
              <a:rPr lang="en-US" sz="1950">
                <a:solidFill>
                  <a:srgbClr val="14313B"/>
                </a:solidFill>
                <a:latin typeface="Calibri (MS)"/>
                <a:ea typeface="Calibri (MS)"/>
                <a:cs typeface="Calibri (MS)"/>
                <a:sym typeface="Calibri (MS)"/>
              </a:rPr>
              <a:t>Lahan terbangun: Dynamic World diklasifikasi langsung, tanpa regresi tambahan. ODTW: cahaya malam memerlukan regresi proxy dengan kekuatan sedang (R² selisih tahunan 0,405). Manfaat citra bergantung pada apakah variabel bisa diklasifikasi langsung atau butuh hubungan statistik.</a:t>
            </a:r>
          </a:p>
        </p:txBody>
      </p:sp>
      <p:sp>
        <p:nvSpPr>
          <p:cNvPr name="Freeform 83" id="83"/>
          <p:cNvSpPr/>
          <p:nvPr/>
        </p:nvSpPr>
        <p:spPr>
          <a:xfrm flipH="false" flipV="false" rot="0">
            <a:off x="12053411" y="2379059"/>
            <a:ext cx="5428297" cy="5565458"/>
          </a:xfrm>
          <a:custGeom>
            <a:avLst/>
            <a:gdLst/>
            <a:ahLst/>
            <a:cxnLst/>
            <a:rect r="r" b="b" t="t" l="l"/>
            <a:pathLst>
              <a:path h="5565458" w="5428297">
                <a:moveTo>
                  <a:pt x="0" y="0"/>
                </a:moveTo>
                <a:lnTo>
                  <a:pt x="5428298" y="0"/>
                </a:lnTo>
                <a:lnTo>
                  <a:pt x="5428298" y="5565458"/>
                </a:lnTo>
                <a:lnTo>
                  <a:pt x="0" y="55654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84" id="84"/>
          <p:cNvGrpSpPr/>
          <p:nvPr/>
        </p:nvGrpSpPr>
        <p:grpSpPr>
          <a:xfrm rot="0">
            <a:off x="12362688" y="2697480"/>
            <a:ext cx="685800" cy="685800"/>
            <a:chOff x="0" y="0"/>
            <a:chExt cx="914400" cy="914400"/>
          </a:xfrm>
        </p:grpSpPr>
        <p:sp>
          <p:nvSpPr>
            <p:cNvPr name="Freeform 85" id="85"/>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86" id="86"/>
          <p:cNvGrpSpPr/>
          <p:nvPr/>
        </p:nvGrpSpPr>
        <p:grpSpPr>
          <a:xfrm rot="0">
            <a:off x="12362688" y="2661761"/>
            <a:ext cx="685800" cy="721519"/>
            <a:chOff x="0" y="0"/>
            <a:chExt cx="914400" cy="962025"/>
          </a:xfrm>
        </p:grpSpPr>
        <p:sp>
          <p:nvSpPr>
            <p:cNvPr name="Freeform 87" id="87"/>
            <p:cNvSpPr/>
            <p:nvPr/>
          </p:nvSpPr>
          <p:spPr>
            <a:xfrm flipH="false" flipV="false" rot="0">
              <a:off x="0" y="0"/>
              <a:ext cx="914400" cy="962025"/>
            </a:xfrm>
            <a:custGeom>
              <a:avLst/>
              <a:gdLst/>
              <a:ahLst/>
              <a:cxnLst/>
              <a:rect r="r" b="b" t="t" l="l"/>
              <a:pathLst>
                <a:path h="962025" w="914400">
                  <a:moveTo>
                    <a:pt x="0" y="0"/>
                  </a:moveTo>
                  <a:lnTo>
                    <a:pt x="914400" y="0"/>
                  </a:lnTo>
                  <a:lnTo>
                    <a:pt x="914400" y="962025"/>
                  </a:lnTo>
                  <a:lnTo>
                    <a:pt x="0" y="962025"/>
                  </a:lnTo>
                  <a:close/>
                </a:path>
              </a:pathLst>
            </a:custGeom>
            <a:blipFill>
              <a:blip r:embed="rId6">
                <a:alphaModFix amt="0"/>
              </a:blip>
              <a:stretch>
                <a:fillRect l="-84986" t="0" r="-84986" b="0"/>
              </a:stretch>
            </a:blipFill>
          </p:spPr>
          <p:txBody>
            <a:bodyPr/>
            <a:p/>
          </p:txBody>
        </p:sp>
        <p:sp>
          <p:nvSpPr>
            <p:cNvPr name="TextBox 88" id="88"/>
            <p:cNvSpPr txBox="true"/>
            <p:nvPr/>
          </p:nvSpPr>
          <p:spPr>
            <a:xfrm>
              <a:off x="0" y="-47625"/>
              <a:ext cx="914400" cy="1009650"/>
            </a:xfrm>
            <a:prstGeom prst="rect">
              <a:avLst/>
            </a:prstGeom>
          </p:spPr>
          <p:txBody>
            <a:bodyPr anchor="ctr" rtlCol="false" tIns="0" lIns="0" bIns="0" rIns="0"/>
            <a:lstStyle/>
            <a:p>
              <a:pPr algn="ctr">
                <a:lnSpc>
                  <a:spcPts val="2638"/>
                </a:lnSpc>
              </a:pPr>
              <a:r>
                <a:rPr lang="en-US" sz="2199" b="true">
                  <a:solidFill>
                    <a:srgbClr val="FFFFFF"/>
                  </a:solidFill>
                  <a:latin typeface="Calibri (MS) Bold"/>
                  <a:ea typeface="Calibri (MS) Bold"/>
                  <a:cs typeface="Calibri (MS) Bold"/>
                  <a:sym typeface="Calibri (MS) Bold"/>
                </a:rPr>
                <a:t>3</a:t>
              </a:r>
            </a:p>
          </p:txBody>
        </p:sp>
      </p:grpSp>
      <p:sp>
        <p:nvSpPr>
          <p:cNvPr name="TextBox 89" id="89"/>
          <p:cNvSpPr txBox="true"/>
          <p:nvPr/>
        </p:nvSpPr>
        <p:spPr>
          <a:xfrm rot="0">
            <a:off x="13213080" y="2572512"/>
            <a:ext cx="4023360" cy="1249680"/>
          </a:xfrm>
          <a:prstGeom prst="rect">
            <a:avLst/>
          </a:prstGeom>
        </p:spPr>
        <p:txBody>
          <a:bodyPr anchor="t" rtlCol="false" tIns="0" lIns="0" bIns="0" rIns="0">
            <a:spAutoFit/>
          </a:bodyPr>
          <a:lstStyle/>
          <a:p>
            <a:pPr algn="l">
              <a:lnSpc>
                <a:spcPts val="3090"/>
              </a:lnSpc>
            </a:pPr>
            <a:r>
              <a:rPr lang="en-US" sz="2300" b="true">
                <a:solidFill>
                  <a:srgbClr val="0B5E6E"/>
                </a:solidFill>
                <a:latin typeface="Calibri (MS) Bold"/>
                <a:ea typeface="Calibri (MS) Bold"/>
                <a:cs typeface="Calibri (MS) Bold"/>
                <a:sym typeface="Calibri (MS) Bold"/>
              </a:rPr>
              <a:t>Dua kebijakan dapat dirancang terpisah</a:t>
            </a:r>
          </a:p>
        </p:txBody>
      </p:sp>
      <p:sp>
        <p:nvSpPr>
          <p:cNvPr name="TextBox 90" id="90"/>
          <p:cNvSpPr txBox="true"/>
          <p:nvPr/>
        </p:nvSpPr>
        <p:spPr>
          <a:xfrm rot="0">
            <a:off x="12362688" y="3760470"/>
            <a:ext cx="4809744" cy="4011930"/>
          </a:xfrm>
          <a:prstGeom prst="rect">
            <a:avLst/>
          </a:prstGeom>
        </p:spPr>
        <p:txBody>
          <a:bodyPr anchor="t" rtlCol="false" tIns="0" lIns="0" bIns="0" rIns="0">
            <a:spAutoFit/>
          </a:bodyPr>
          <a:lstStyle/>
          <a:p>
            <a:pPr algn="l">
              <a:lnSpc>
                <a:spcPts val="2761"/>
              </a:lnSpc>
            </a:pPr>
            <a:r>
              <a:rPr lang="en-US" sz="1950">
                <a:solidFill>
                  <a:srgbClr val="14313B"/>
                </a:solidFill>
                <a:latin typeface="Calibri (MS)"/>
                <a:ea typeface="Calibri (MS)"/>
                <a:cs typeface="Calibri (MS)"/>
                <a:sym typeface="Calibri (MS)"/>
              </a:rPr>
              <a:t>Efek interaksi hanya ≈ 0,7% dari selisih paket pada jumlah wisatawan: insentif menggerakkan ekonomi, konservasi menggerakkan lahan. Satu kebijakan dapat ditambah atau dikurangi tanpa mengulang seluruh simulasi untuk memperkirakan dampaknya.</a:t>
            </a:r>
          </a:p>
        </p:txBody>
      </p:sp>
      <p:grpSp>
        <p:nvGrpSpPr>
          <p:cNvPr name="Group 91" id="91"/>
          <p:cNvGrpSpPr/>
          <p:nvPr/>
        </p:nvGrpSpPr>
        <p:grpSpPr>
          <a:xfrm rot="0">
            <a:off x="822960" y="8156448"/>
            <a:ext cx="16642080" cy="1078992"/>
            <a:chOff x="0" y="0"/>
            <a:chExt cx="22189440" cy="1438656"/>
          </a:xfrm>
        </p:grpSpPr>
        <p:sp>
          <p:nvSpPr>
            <p:cNvPr name="Freeform 92" id="92"/>
            <p:cNvSpPr/>
            <p:nvPr/>
          </p:nvSpPr>
          <p:spPr>
            <a:xfrm flipH="false" flipV="false" rot="0">
              <a:off x="0" y="0"/>
              <a:ext cx="22189439" cy="1438656"/>
            </a:xfrm>
            <a:custGeom>
              <a:avLst/>
              <a:gdLst/>
              <a:ahLst/>
              <a:cxnLst/>
              <a:rect r="r" b="b" t="t" l="l"/>
              <a:pathLst>
                <a:path h="1438656" w="22189439">
                  <a:moveTo>
                    <a:pt x="0" y="170688"/>
                  </a:moveTo>
                  <a:cubicBezTo>
                    <a:pt x="0" y="76454"/>
                    <a:pt x="76454" y="0"/>
                    <a:pt x="170688" y="0"/>
                  </a:cubicBezTo>
                  <a:lnTo>
                    <a:pt x="22018752" y="0"/>
                  </a:lnTo>
                  <a:cubicBezTo>
                    <a:pt x="22112987" y="0"/>
                    <a:pt x="22189439" y="76454"/>
                    <a:pt x="22189439" y="170688"/>
                  </a:cubicBezTo>
                  <a:lnTo>
                    <a:pt x="22189439" y="1267968"/>
                  </a:lnTo>
                  <a:cubicBezTo>
                    <a:pt x="22189439" y="1362202"/>
                    <a:pt x="22112987" y="1438656"/>
                    <a:pt x="22018752" y="1438656"/>
                  </a:cubicBezTo>
                  <a:lnTo>
                    <a:pt x="170688" y="1438656"/>
                  </a:lnTo>
                  <a:cubicBezTo>
                    <a:pt x="76454" y="1438656"/>
                    <a:pt x="0" y="1362202"/>
                    <a:pt x="0" y="1267968"/>
                  </a:cubicBezTo>
                  <a:close/>
                </a:path>
              </a:pathLst>
            </a:custGeom>
            <a:solidFill>
              <a:srgbClr val="0B5E6E"/>
            </a:solidFill>
          </p:spPr>
          <p:txBody>
            <a:bodyPr/>
            <a:p/>
          </p:txBody>
        </p:sp>
      </p:grpSp>
      <p:grpSp>
        <p:nvGrpSpPr>
          <p:cNvPr name="Group 93" id="93"/>
          <p:cNvGrpSpPr/>
          <p:nvPr/>
        </p:nvGrpSpPr>
        <p:grpSpPr>
          <a:xfrm rot="0">
            <a:off x="1188720" y="8156448"/>
            <a:ext cx="15910560" cy="1078992"/>
            <a:chOff x="0" y="0"/>
            <a:chExt cx="21214080" cy="1438656"/>
          </a:xfrm>
        </p:grpSpPr>
        <p:sp>
          <p:nvSpPr>
            <p:cNvPr name="Freeform 94" id="94"/>
            <p:cNvSpPr/>
            <p:nvPr/>
          </p:nvSpPr>
          <p:spPr>
            <a:xfrm flipH="false" flipV="false" rot="0">
              <a:off x="0" y="0"/>
              <a:ext cx="21214080" cy="1438656"/>
            </a:xfrm>
            <a:custGeom>
              <a:avLst/>
              <a:gdLst/>
              <a:ahLst/>
              <a:cxnLst/>
              <a:rect r="r" b="b" t="t" l="l"/>
              <a:pathLst>
                <a:path h="1438656" w="21214080">
                  <a:moveTo>
                    <a:pt x="0" y="0"/>
                  </a:moveTo>
                  <a:lnTo>
                    <a:pt x="21214080" y="0"/>
                  </a:lnTo>
                  <a:lnTo>
                    <a:pt x="21214080" y="1438656"/>
                  </a:lnTo>
                  <a:lnTo>
                    <a:pt x="0" y="1438656"/>
                  </a:lnTo>
                  <a:close/>
                </a:path>
              </a:pathLst>
            </a:custGeom>
            <a:blipFill>
              <a:blip r:embed="rId5">
                <a:alphaModFix amt="0"/>
              </a:blip>
              <a:stretch>
                <a:fillRect l="0" t="-237122" r="0" b="-237121"/>
              </a:stretch>
            </a:blipFill>
          </p:spPr>
          <p:txBody>
            <a:bodyPr/>
            <a:p/>
          </p:txBody>
        </p:sp>
      </p:grpSp>
      <p:grpSp>
        <p:nvGrpSpPr>
          <p:cNvPr name="Group 95" id="95"/>
          <p:cNvGrpSpPr/>
          <p:nvPr/>
        </p:nvGrpSpPr>
        <p:grpSpPr>
          <a:xfrm rot="0">
            <a:off x="1188720" y="8113586"/>
            <a:ext cx="15910560" cy="1121854"/>
            <a:chOff x="0" y="0"/>
            <a:chExt cx="21214080" cy="1495806"/>
          </a:xfrm>
        </p:grpSpPr>
        <p:sp>
          <p:nvSpPr>
            <p:cNvPr name="Freeform 96" id="96"/>
            <p:cNvSpPr/>
            <p:nvPr/>
          </p:nvSpPr>
          <p:spPr>
            <a:xfrm flipH="false" flipV="false" rot="0">
              <a:off x="0" y="0"/>
              <a:ext cx="21214080" cy="1495806"/>
            </a:xfrm>
            <a:custGeom>
              <a:avLst/>
              <a:gdLst/>
              <a:ahLst/>
              <a:cxnLst/>
              <a:rect r="r" b="b" t="t" l="l"/>
              <a:pathLst>
                <a:path h="1495806" w="21214080">
                  <a:moveTo>
                    <a:pt x="0" y="0"/>
                  </a:moveTo>
                  <a:lnTo>
                    <a:pt x="21214080" y="0"/>
                  </a:lnTo>
                  <a:lnTo>
                    <a:pt x="21214080" y="1495806"/>
                  </a:lnTo>
                  <a:lnTo>
                    <a:pt x="0" y="1495806"/>
                  </a:lnTo>
                  <a:close/>
                </a:path>
              </a:pathLst>
            </a:custGeom>
            <a:blipFill>
              <a:blip r:embed="rId6">
                <a:alphaModFix amt="0"/>
              </a:blip>
              <a:stretch>
                <a:fillRect l="0" t="-226344" r="0" b="-226344"/>
              </a:stretch>
            </a:blipFill>
          </p:spPr>
          <p:txBody>
            <a:bodyPr/>
            <a:p/>
          </p:txBody>
        </p:sp>
        <p:sp>
          <p:nvSpPr>
            <p:cNvPr name="TextBox 97" id="97"/>
            <p:cNvSpPr txBox="true"/>
            <p:nvPr/>
          </p:nvSpPr>
          <p:spPr>
            <a:xfrm>
              <a:off x="0" y="-57150"/>
              <a:ext cx="21214080" cy="1552956"/>
            </a:xfrm>
            <a:prstGeom prst="rect">
              <a:avLst/>
            </a:prstGeom>
          </p:spPr>
          <p:txBody>
            <a:bodyPr anchor="ctr" rtlCol="false" tIns="0" lIns="0" bIns="0" rIns="0"/>
            <a:lstStyle/>
            <a:p>
              <a:pPr algn="l">
                <a:lnSpc>
                  <a:spcPts val="2284"/>
                </a:lnSpc>
              </a:pPr>
              <a:r>
                <a:rPr lang="en-US" sz="1700">
                  <a:solidFill>
                    <a:srgbClr val="FFFFFF"/>
                  </a:solidFill>
                  <a:latin typeface="Calibri (MS)"/>
                  <a:ea typeface="Calibri (MS)"/>
                  <a:cs typeface="Calibri (MS)"/>
                  <a:sym typeface="Calibri (MS)"/>
                </a:rPr>
                <a:t>Kontribusi penelitian: cara pengujian yang bisa memisahkan sumber ketidaksesuaian, serta gambaran trade-off kebijakan secara kuantitatif beserta robustness-nya terhadap ketidakpastian asumsi.</a:t>
              </a:r>
            </a:p>
          </p:txBody>
        </p:sp>
      </p:grpSp>
      <p:grpSp>
        <p:nvGrpSpPr>
          <p:cNvPr name="Group 98" id="98"/>
          <p:cNvGrpSpPr/>
          <p:nvPr/>
        </p:nvGrpSpPr>
        <p:grpSpPr>
          <a:xfrm rot="0">
            <a:off x="16047720" y="9646920"/>
            <a:ext cx="420624" cy="420624"/>
            <a:chOff x="0" y="0"/>
            <a:chExt cx="560832" cy="560832"/>
          </a:xfrm>
        </p:grpSpPr>
        <p:sp>
          <p:nvSpPr>
            <p:cNvPr name="Freeform 99" id="99"/>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00" id="100"/>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Keterbatasan Penelitian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Keterbatasan disampaikan terbuka; model dipakai untuk membandingkan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Penutup</a:t>
              </a:r>
            </a:p>
          </p:txBody>
        </p:sp>
      </p:grpSp>
      <p:grpSp>
        <p:nvGrpSpPr>
          <p:cNvPr name="Group 66" id="66"/>
          <p:cNvGrpSpPr/>
          <p:nvPr/>
        </p:nvGrpSpPr>
        <p:grpSpPr>
          <a:xfrm rot="0">
            <a:off x="822960" y="2400300"/>
            <a:ext cx="5349240" cy="5692140"/>
            <a:chOff x="0" y="0"/>
            <a:chExt cx="7132320" cy="7589520"/>
          </a:xfrm>
        </p:grpSpPr>
        <p:sp>
          <p:nvSpPr>
            <p:cNvPr name="Freeform 67" id="67"/>
            <p:cNvSpPr/>
            <p:nvPr/>
          </p:nvSpPr>
          <p:spPr>
            <a:xfrm flipH="false" flipV="false" rot="0">
              <a:off x="0" y="0"/>
              <a:ext cx="7132320" cy="7589520"/>
            </a:xfrm>
            <a:custGeom>
              <a:avLst/>
              <a:gdLst/>
              <a:ahLst/>
              <a:cxnLst/>
              <a:rect r="r" b="b" t="t" l="l"/>
              <a:pathLst>
                <a:path h="7589520" w="7132320">
                  <a:moveTo>
                    <a:pt x="0" y="182880"/>
                  </a:moveTo>
                  <a:cubicBezTo>
                    <a:pt x="0" y="81915"/>
                    <a:pt x="81915" y="0"/>
                    <a:pt x="182880" y="0"/>
                  </a:cubicBezTo>
                  <a:lnTo>
                    <a:pt x="6949440" y="0"/>
                  </a:lnTo>
                  <a:cubicBezTo>
                    <a:pt x="7050405" y="0"/>
                    <a:pt x="7132320" y="81915"/>
                    <a:pt x="7132320" y="182880"/>
                  </a:cubicBezTo>
                  <a:lnTo>
                    <a:pt x="7132320" y="7406640"/>
                  </a:lnTo>
                  <a:cubicBezTo>
                    <a:pt x="7132320" y="7507605"/>
                    <a:pt x="7050405" y="7589520"/>
                    <a:pt x="6949440" y="7589520"/>
                  </a:cubicBezTo>
                  <a:lnTo>
                    <a:pt x="182880" y="7589520"/>
                  </a:lnTo>
                  <a:cubicBezTo>
                    <a:pt x="81915" y="7589520"/>
                    <a:pt x="0" y="7507605"/>
                    <a:pt x="0" y="7406640"/>
                  </a:cubicBezTo>
                  <a:close/>
                </a:path>
              </a:pathLst>
            </a:custGeom>
            <a:solidFill>
              <a:srgbClr val="EAF8FA"/>
            </a:solidFill>
          </p:spPr>
          <p:txBody>
            <a:bodyPr/>
            <a:p/>
          </p:txBody>
        </p:sp>
      </p:grpSp>
      <p:grpSp>
        <p:nvGrpSpPr>
          <p:cNvPr name="Group 68" id="68"/>
          <p:cNvGrpSpPr/>
          <p:nvPr/>
        </p:nvGrpSpPr>
        <p:grpSpPr>
          <a:xfrm rot="0">
            <a:off x="822960" y="2400300"/>
            <a:ext cx="5349240" cy="822960"/>
            <a:chOff x="0" y="0"/>
            <a:chExt cx="7132320" cy="1097280"/>
          </a:xfrm>
        </p:grpSpPr>
        <p:sp>
          <p:nvSpPr>
            <p:cNvPr name="Freeform 69" id="69"/>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0B5E6E"/>
            </a:solidFill>
          </p:spPr>
          <p:txBody>
            <a:bodyPr/>
            <a:p/>
          </p:txBody>
        </p:sp>
      </p:grpSp>
      <p:grpSp>
        <p:nvGrpSpPr>
          <p:cNvPr name="Group 70" id="70"/>
          <p:cNvGrpSpPr/>
          <p:nvPr/>
        </p:nvGrpSpPr>
        <p:grpSpPr>
          <a:xfrm rot="0">
            <a:off x="822960" y="2400300"/>
            <a:ext cx="5349240" cy="822960"/>
            <a:chOff x="0" y="0"/>
            <a:chExt cx="7132320" cy="1097280"/>
          </a:xfrm>
        </p:grpSpPr>
        <p:sp>
          <p:nvSpPr>
            <p:cNvPr name="Freeform 71" id="71"/>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txBody>
            <a:bodyPr/>
            <a:p/>
          </p:txBody>
        </p:sp>
      </p:grpSp>
      <p:grpSp>
        <p:nvGrpSpPr>
          <p:cNvPr name="Group 72" id="72"/>
          <p:cNvGrpSpPr/>
          <p:nvPr/>
        </p:nvGrpSpPr>
        <p:grpSpPr>
          <a:xfrm rot="0">
            <a:off x="822960" y="2371725"/>
            <a:ext cx="5349240" cy="851535"/>
            <a:chOff x="0" y="0"/>
            <a:chExt cx="7132320" cy="1135380"/>
          </a:xfrm>
        </p:grpSpPr>
        <p:sp>
          <p:nvSpPr>
            <p:cNvPr name="Freeform 73" id="73"/>
            <p:cNvSpPr/>
            <p:nvPr/>
          </p:nvSpPr>
          <p:spPr>
            <a:xfrm flipH="false" flipV="false" rot="0">
              <a:off x="0" y="0"/>
              <a:ext cx="7132320" cy="1135380"/>
            </a:xfrm>
            <a:custGeom>
              <a:avLst/>
              <a:gdLst/>
              <a:ahLst/>
              <a:cxnLst/>
              <a:rect r="r" b="b" t="t" l="l"/>
              <a:pathLst>
                <a:path h="1135380" w="7132320">
                  <a:moveTo>
                    <a:pt x="0" y="0"/>
                  </a:moveTo>
                  <a:lnTo>
                    <a:pt x="7132320" y="0"/>
                  </a:lnTo>
                  <a:lnTo>
                    <a:pt x="7132320" y="1135380"/>
                  </a:lnTo>
                  <a:lnTo>
                    <a:pt x="0" y="1135380"/>
                  </a:lnTo>
                  <a:close/>
                </a:path>
              </a:pathLst>
            </a:custGeom>
            <a:blipFill>
              <a:blip r:embed="rId5">
                <a:alphaModFix amt="0"/>
              </a:blip>
              <a:stretch>
                <a:fillRect l="0" t="-72317" r="0" b="-72317"/>
              </a:stretch>
            </a:blipFill>
          </p:spPr>
          <p:txBody>
            <a:bodyPr/>
            <a:p/>
          </p:txBody>
        </p:sp>
      </p:grpSp>
      <p:grpSp>
        <p:nvGrpSpPr>
          <p:cNvPr name="Group 74" id="74"/>
          <p:cNvGrpSpPr/>
          <p:nvPr/>
        </p:nvGrpSpPr>
        <p:grpSpPr>
          <a:xfrm rot="0">
            <a:off x="822960" y="2343150"/>
            <a:ext cx="5349240" cy="880110"/>
            <a:chOff x="0" y="0"/>
            <a:chExt cx="7132320" cy="1173480"/>
          </a:xfrm>
        </p:grpSpPr>
        <p:sp>
          <p:nvSpPr>
            <p:cNvPr name="Freeform 75" id="75"/>
            <p:cNvSpPr/>
            <p:nvPr/>
          </p:nvSpPr>
          <p:spPr>
            <a:xfrm flipH="false" flipV="false" rot="0">
              <a:off x="0" y="0"/>
              <a:ext cx="7132320" cy="1173480"/>
            </a:xfrm>
            <a:custGeom>
              <a:avLst/>
              <a:gdLst/>
              <a:ahLst/>
              <a:cxnLst/>
              <a:rect r="r" b="b" t="t" l="l"/>
              <a:pathLst>
                <a:path h="1173480" w="7132320">
                  <a:moveTo>
                    <a:pt x="0" y="0"/>
                  </a:moveTo>
                  <a:lnTo>
                    <a:pt x="7132320" y="0"/>
                  </a:lnTo>
                  <a:lnTo>
                    <a:pt x="7132320" y="1173480"/>
                  </a:lnTo>
                  <a:lnTo>
                    <a:pt x="0" y="1173480"/>
                  </a:lnTo>
                  <a:close/>
                </a:path>
              </a:pathLst>
            </a:custGeom>
            <a:blipFill>
              <a:blip r:embed="rId6">
                <a:alphaModFix amt="0"/>
              </a:blip>
              <a:stretch>
                <a:fillRect l="0" t="-68428" r="0" b="-68428"/>
              </a:stretch>
            </a:blipFill>
          </p:spPr>
          <p:txBody>
            <a:bodyPr/>
            <a:p/>
          </p:txBody>
        </p:sp>
        <p:sp>
          <p:nvSpPr>
            <p:cNvPr name="TextBox 76" id="76"/>
            <p:cNvSpPr txBox="true"/>
            <p:nvPr/>
          </p:nvSpPr>
          <p:spPr>
            <a:xfrm>
              <a:off x="0" y="-38100"/>
              <a:ext cx="7132320" cy="12115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Data</a:t>
              </a:r>
            </a:p>
          </p:txBody>
        </p:sp>
      </p:grpSp>
      <p:sp>
        <p:nvSpPr>
          <p:cNvPr name="TextBox 77" id="77"/>
          <p:cNvSpPr txBox="true"/>
          <p:nvPr/>
        </p:nvSpPr>
        <p:spPr>
          <a:xfrm rot="0">
            <a:off x="1097280" y="3383280"/>
            <a:ext cx="4800600" cy="4640580"/>
          </a:xfrm>
          <a:prstGeom prst="rect">
            <a:avLst/>
          </a:prstGeom>
        </p:spPr>
        <p:txBody>
          <a:bodyPr anchor="t" rtlCol="false" tIns="0" lIns="0" bIns="0" rIns="0">
            <a:spAutoFit/>
          </a:bodyPr>
          <a:lstStyle/>
          <a:p>
            <a:pPr algn="l" marL="490140" indent="-122535" lvl="3">
              <a:lnSpc>
                <a:spcPts val="2250"/>
              </a:lnSpc>
              <a:buFont typeface="Arial"/>
              <a:buChar char="￭"/>
            </a:pPr>
            <a:r>
              <a:rPr lang="en-US" sz="1875">
                <a:solidFill>
                  <a:srgbClr val="14313B"/>
                </a:solidFill>
                <a:latin typeface="Calibri (MS)"/>
                <a:ea typeface="Calibri (MS)"/>
                <a:cs typeface="Calibri (MS)"/>
                <a:sym typeface="Calibri (MS)"/>
              </a:rPr>
              <a:t>Perubahan metode pencatatan wisnus 2018/2019 (faktor penyesuaian 2,22–2,38)</a:t>
            </a:r>
          </a:p>
          <a:p>
            <a:pPr algn="l" marL="490140" indent="-122535" lvl="3">
              <a:lnSpc>
                <a:spcPts val="2250"/>
              </a:lnSpc>
              <a:buFont typeface="Arial"/>
              <a:buChar char="￭"/>
            </a:pPr>
            <a:r>
              <a:rPr lang="en-US" sz="1875">
                <a:solidFill>
                  <a:srgbClr val="14313B"/>
                </a:solidFill>
                <a:latin typeface="Calibri (MS)"/>
                <a:ea typeface="Calibri (MS)"/>
                <a:cs typeface="Calibri (MS)"/>
                <a:sym typeface="Calibri (MS)"/>
              </a:rPr>
              <a:t>Data lahan terbangun mengandung noise (−27% dalam dua tahun)</a:t>
            </a:r>
          </a:p>
          <a:p>
            <a:pPr algn="l" marL="490140" indent="-122535" lvl="3">
              <a:lnSpc>
                <a:spcPts val="2250"/>
              </a:lnSpc>
              <a:buFont typeface="Arial"/>
              <a:buChar char="￭"/>
            </a:pPr>
            <a:r>
              <a:rPr lang="en-US" sz="1875">
                <a:solidFill>
                  <a:srgbClr val="14313B"/>
                </a:solidFill>
                <a:latin typeface="Calibri (MS)"/>
                <a:ea typeface="Calibri (MS)"/>
                <a:cs typeface="Calibri (MS)"/>
                <a:sym typeface="Calibri (MS)"/>
              </a:rPr>
              <a:t>ODTW 2015–2017 dan 2025 hasil regresi (R² ≈ 0,41)</a:t>
            </a:r>
          </a:p>
          <a:p>
            <a:pPr algn="l" marL="490140" indent="-122535" lvl="3">
              <a:lnSpc>
                <a:spcPts val="2250"/>
              </a:lnSpc>
              <a:buFont typeface="Arial"/>
              <a:buChar char="￭"/>
            </a:pPr>
            <a:r>
              <a:rPr lang="en-US" sz="1875">
                <a:solidFill>
                  <a:srgbClr val="14313B"/>
                </a:solidFill>
                <a:latin typeface="Calibri (MS)"/>
                <a:ea typeface="Calibri (MS)"/>
                <a:cs typeface="Calibri (MS)"/>
                <a:sym typeface="Calibri (MS)"/>
              </a:rPr>
              <a:t>Lonjakan akomodasi 2018 tak dapat direproduksi</a:t>
            </a:r>
          </a:p>
          <a:p>
            <a:pPr algn="l" marL="490140" indent="-122535" lvl="3">
              <a:lnSpc>
                <a:spcPts val="2250"/>
              </a:lnSpc>
              <a:buFont typeface="Arial"/>
              <a:buChar char="￭"/>
            </a:pPr>
            <a:r>
              <a:rPr lang="en-US" sz="1875">
                <a:solidFill>
                  <a:srgbClr val="14313B"/>
                </a:solidFill>
                <a:latin typeface="Calibri (MS)"/>
                <a:ea typeface="Calibri (MS)"/>
                <a:cs typeface="Calibri (MS)"/>
                <a:sym typeface="Calibri (MS)"/>
              </a:rPr>
              <a:t>Investasi hanya realisasi PMA dan PMDN</a:t>
            </a:r>
          </a:p>
        </p:txBody>
      </p:sp>
      <p:grpSp>
        <p:nvGrpSpPr>
          <p:cNvPr name="Group 78" id="78"/>
          <p:cNvGrpSpPr/>
          <p:nvPr/>
        </p:nvGrpSpPr>
        <p:grpSpPr>
          <a:xfrm rot="0">
            <a:off x="6467094" y="2400300"/>
            <a:ext cx="5349240" cy="5692140"/>
            <a:chOff x="0" y="0"/>
            <a:chExt cx="7132320" cy="7589520"/>
          </a:xfrm>
        </p:grpSpPr>
        <p:sp>
          <p:nvSpPr>
            <p:cNvPr name="Freeform 79" id="79"/>
            <p:cNvSpPr/>
            <p:nvPr/>
          </p:nvSpPr>
          <p:spPr>
            <a:xfrm flipH="false" flipV="false" rot="0">
              <a:off x="0" y="0"/>
              <a:ext cx="7132320" cy="7589520"/>
            </a:xfrm>
            <a:custGeom>
              <a:avLst/>
              <a:gdLst/>
              <a:ahLst/>
              <a:cxnLst/>
              <a:rect r="r" b="b" t="t" l="l"/>
              <a:pathLst>
                <a:path h="7589520" w="7132320">
                  <a:moveTo>
                    <a:pt x="0" y="182880"/>
                  </a:moveTo>
                  <a:cubicBezTo>
                    <a:pt x="0" y="81915"/>
                    <a:pt x="81915" y="0"/>
                    <a:pt x="182880" y="0"/>
                  </a:cubicBezTo>
                  <a:lnTo>
                    <a:pt x="6949440" y="0"/>
                  </a:lnTo>
                  <a:cubicBezTo>
                    <a:pt x="7050405" y="0"/>
                    <a:pt x="7132320" y="81915"/>
                    <a:pt x="7132320" y="182880"/>
                  </a:cubicBezTo>
                  <a:lnTo>
                    <a:pt x="7132320" y="7406640"/>
                  </a:lnTo>
                  <a:cubicBezTo>
                    <a:pt x="7132320" y="7507605"/>
                    <a:pt x="7050405" y="7589520"/>
                    <a:pt x="6949440" y="7589520"/>
                  </a:cubicBezTo>
                  <a:lnTo>
                    <a:pt x="182880" y="7589520"/>
                  </a:lnTo>
                  <a:cubicBezTo>
                    <a:pt x="81915" y="7589520"/>
                    <a:pt x="0" y="7507605"/>
                    <a:pt x="0" y="7406640"/>
                  </a:cubicBezTo>
                  <a:close/>
                </a:path>
              </a:pathLst>
            </a:custGeom>
            <a:solidFill>
              <a:srgbClr val="EAF8FA"/>
            </a:solidFill>
          </p:spPr>
          <p:txBody>
            <a:bodyPr/>
            <a:p/>
          </p:txBody>
        </p:sp>
      </p:grpSp>
      <p:grpSp>
        <p:nvGrpSpPr>
          <p:cNvPr name="Group 80" id="80"/>
          <p:cNvGrpSpPr/>
          <p:nvPr/>
        </p:nvGrpSpPr>
        <p:grpSpPr>
          <a:xfrm rot="0">
            <a:off x="6467094" y="2400300"/>
            <a:ext cx="5349240" cy="822960"/>
            <a:chOff x="0" y="0"/>
            <a:chExt cx="7132320" cy="1097280"/>
          </a:xfrm>
        </p:grpSpPr>
        <p:sp>
          <p:nvSpPr>
            <p:cNvPr name="Freeform 81" id="81"/>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0B5E6E"/>
            </a:solidFill>
          </p:spPr>
          <p:txBody>
            <a:bodyPr/>
            <a:p/>
          </p:txBody>
        </p:sp>
      </p:grpSp>
      <p:grpSp>
        <p:nvGrpSpPr>
          <p:cNvPr name="Group 82" id="82"/>
          <p:cNvGrpSpPr/>
          <p:nvPr/>
        </p:nvGrpSpPr>
        <p:grpSpPr>
          <a:xfrm rot="0">
            <a:off x="6467094" y="2400300"/>
            <a:ext cx="5349240" cy="822960"/>
            <a:chOff x="0" y="0"/>
            <a:chExt cx="7132320" cy="1097280"/>
          </a:xfrm>
        </p:grpSpPr>
        <p:sp>
          <p:nvSpPr>
            <p:cNvPr name="Freeform 83" id="83"/>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txBody>
            <a:bodyPr/>
            <a:p/>
          </p:txBody>
        </p:sp>
      </p:grpSp>
      <p:grpSp>
        <p:nvGrpSpPr>
          <p:cNvPr name="Group 84" id="84"/>
          <p:cNvGrpSpPr/>
          <p:nvPr/>
        </p:nvGrpSpPr>
        <p:grpSpPr>
          <a:xfrm rot="0">
            <a:off x="6467094" y="2371725"/>
            <a:ext cx="5349240" cy="851535"/>
            <a:chOff x="0" y="0"/>
            <a:chExt cx="7132320" cy="1135380"/>
          </a:xfrm>
        </p:grpSpPr>
        <p:sp>
          <p:nvSpPr>
            <p:cNvPr name="Freeform 85" id="85"/>
            <p:cNvSpPr/>
            <p:nvPr/>
          </p:nvSpPr>
          <p:spPr>
            <a:xfrm flipH="false" flipV="false" rot="0">
              <a:off x="0" y="0"/>
              <a:ext cx="7132320" cy="1135380"/>
            </a:xfrm>
            <a:custGeom>
              <a:avLst/>
              <a:gdLst/>
              <a:ahLst/>
              <a:cxnLst/>
              <a:rect r="r" b="b" t="t" l="l"/>
              <a:pathLst>
                <a:path h="1135380" w="7132320">
                  <a:moveTo>
                    <a:pt x="0" y="0"/>
                  </a:moveTo>
                  <a:lnTo>
                    <a:pt x="7132320" y="0"/>
                  </a:lnTo>
                  <a:lnTo>
                    <a:pt x="7132320" y="1135380"/>
                  </a:lnTo>
                  <a:lnTo>
                    <a:pt x="0" y="1135380"/>
                  </a:lnTo>
                  <a:close/>
                </a:path>
              </a:pathLst>
            </a:custGeom>
            <a:blipFill>
              <a:blip r:embed="rId5">
                <a:alphaModFix amt="0"/>
              </a:blip>
              <a:stretch>
                <a:fillRect l="0" t="-72317" r="0" b="-72317"/>
              </a:stretch>
            </a:blipFill>
          </p:spPr>
          <p:txBody>
            <a:bodyPr/>
            <a:p/>
          </p:txBody>
        </p:sp>
      </p:grpSp>
      <p:grpSp>
        <p:nvGrpSpPr>
          <p:cNvPr name="Group 86" id="86"/>
          <p:cNvGrpSpPr/>
          <p:nvPr/>
        </p:nvGrpSpPr>
        <p:grpSpPr>
          <a:xfrm rot="0">
            <a:off x="6467094" y="2343150"/>
            <a:ext cx="5349240" cy="880110"/>
            <a:chOff x="0" y="0"/>
            <a:chExt cx="7132320" cy="1173480"/>
          </a:xfrm>
        </p:grpSpPr>
        <p:sp>
          <p:nvSpPr>
            <p:cNvPr name="Freeform 87" id="87"/>
            <p:cNvSpPr/>
            <p:nvPr/>
          </p:nvSpPr>
          <p:spPr>
            <a:xfrm flipH="false" flipV="false" rot="0">
              <a:off x="0" y="0"/>
              <a:ext cx="7132320" cy="1173480"/>
            </a:xfrm>
            <a:custGeom>
              <a:avLst/>
              <a:gdLst/>
              <a:ahLst/>
              <a:cxnLst/>
              <a:rect r="r" b="b" t="t" l="l"/>
              <a:pathLst>
                <a:path h="1173480" w="7132320">
                  <a:moveTo>
                    <a:pt x="0" y="0"/>
                  </a:moveTo>
                  <a:lnTo>
                    <a:pt x="7132320" y="0"/>
                  </a:lnTo>
                  <a:lnTo>
                    <a:pt x="7132320" y="1173480"/>
                  </a:lnTo>
                  <a:lnTo>
                    <a:pt x="0" y="1173480"/>
                  </a:lnTo>
                  <a:close/>
                </a:path>
              </a:pathLst>
            </a:custGeom>
            <a:blipFill>
              <a:blip r:embed="rId6">
                <a:alphaModFix amt="0"/>
              </a:blip>
              <a:stretch>
                <a:fillRect l="0" t="-68428" r="0" b="-68428"/>
              </a:stretch>
            </a:blipFill>
          </p:spPr>
          <p:txBody>
            <a:bodyPr/>
            <a:p/>
          </p:txBody>
        </p:sp>
        <p:sp>
          <p:nvSpPr>
            <p:cNvPr name="TextBox 88" id="88"/>
            <p:cNvSpPr txBox="true"/>
            <p:nvPr/>
          </p:nvSpPr>
          <p:spPr>
            <a:xfrm>
              <a:off x="0" y="-38100"/>
              <a:ext cx="7132320" cy="12115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Struktur model</a:t>
              </a:r>
            </a:p>
          </p:txBody>
        </p:sp>
      </p:grpSp>
      <p:sp>
        <p:nvSpPr>
          <p:cNvPr name="TextBox 89" id="89"/>
          <p:cNvSpPr txBox="true"/>
          <p:nvPr/>
        </p:nvSpPr>
        <p:spPr>
          <a:xfrm rot="0">
            <a:off x="6741414" y="3383280"/>
            <a:ext cx="4800600" cy="4640580"/>
          </a:xfrm>
          <a:prstGeom prst="rect">
            <a:avLst/>
          </a:prstGeom>
        </p:spPr>
        <p:txBody>
          <a:bodyPr anchor="t" rtlCol="false" tIns="0" lIns="0" bIns="0" rIns="0">
            <a:spAutoFit/>
          </a:bodyPr>
          <a:lstStyle/>
          <a:p>
            <a:pPr algn="l" marL="490140" indent="-122535" lvl="3">
              <a:lnSpc>
                <a:spcPts val="2250"/>
              </a:lnSpc>
              <a:buFont typeface="Arial"/>
              <a:buChar char="￭"/>
            </a:pPr>
            <a:r>
              <a:rPr lang="en-US" sz="1875">
                <a:solidFill>
                  <a:srgbClr val="14313B"/>
                </a:solidFill>
                <a:latin typeface="Calibri (MS)"/>
                <a:ea typeface="Calibri (MS)"/>
                <a:cs typeface="Calibri (MS)"/>
                <a:sym typeface="Calibri (MS)"/>
              </a:rPr>
              <a:t>Tanpa shock, harga, promosi, musim, dan lingkungan</a:t>
            </a:r>
          </a:p>
          <a:p>
            <a:pPr algn="l" marL="490140" indent="-122535" lvl="3">
              <a:lnSpc>
                <a:spcPts val="2250"/>
              </a:lnSpc>
              <a:buFont typeface="Arial"/>
              <a:buChar char="￭"/>
            </a:pPr>
            <a:r>
              <a:rPr lang="en-US" sz="1875">
                <a:solidFill>
                  <a:srgbClr val="14313B"/>
                </a:solidFill>
                <a:latin typeface="Calibri (MS)"/>
                <a:ea typeface="Calibri (MS)"/>
                <a:cs typeface="Calibri (MS)"/>
                <a:sym typeface="Calibri (MS)"/>
              </a:rPr>
              <a:t>Daya dukung lahan = luas wilayah (longgar)</a:t>
            </a:r>
          </a:p>
          <a:p>
            <a:pPr algn="l" marL="490140" indent="-122535" lvl="3">
              <a:lnSpc>
                <a:spcPts val="2250"/>
              </a:lnSpc>
              <a:buFont typeface="Arial"/>
              <a:buChar char="￭"/>
            </a:pPr>
            <a:r>
              <a:rPr lang="en-US" sz="1875">
                <a:solidFill>
                  <a:srgbClr val="14313B"/>
                </a:solidFill>
                <a:latin typeface="Calibri (MS)"/>
                <a:ea typeface="Calibri (MS)"/>
                <a:cs typeface="Calibri (MS)"/>
                <a:sym typeface="Calibri (MS)"/>
              </a:rPr>
              <a:t>Permintaan kamar tak terlayani tidak menekan kunjungan</a:t>
            </a:r>
          </a:p>
          <a:p>
            <a:pPr algn="l" marL="490140" indent="-122535" lvl="3">
              <a:lnSpc>
                <a:spcPts val="2250"/>
              </a:lnSpc>
              <a:buFont typeface="Arial"/>
              <a:buChar char="￭"/>
            </a:pPr>
            <a:r>
              <a:rPr lang="en-US" sz="1875">
                <a:solidFill>
                  <a:srgbClr val="14313B"/>
                </a:solidFill>
                <a:latin typeface="Calibri (MS)"/>
                <a:ea typeface="Calibri (MS)"/>
                <a:cs typeface="Calibri (MS)"/>
                <a:sym typeface="Calibri (MS)"/>
              </a:rPr>
              <a:t>Tenaga kerja hanya indikator keluaran</a:t>
            </a:r>
          </a:p>
        </p:txBody>
      </p:sp>
      <p:grpSp>
        <p:nvGrpSpPr>
          <p:cNvPr name="Group 90" id="90"/>
          <p:cNvGrpSpPr/>
          <p:nvPr/>
        </p:nvGrpSpPr>
        <p:grpSpPr>
          <a:xfrm rot="0">
            <a:off x="12111228" y="2400300"/>
            <a:ext cx="5349240" cy="5692140"/>
            <a:chOff x="0" y="0"/>
            <a:chExt cx="7132320" cy="7589520"/>
          </a:xfrm>
        </p:grpSpPr>
        <p:sp>
          <p:nvSpPr>
            <p:cNvPr name="Freeform 91" id="91"/>
            <p:cNvSpPr/>
            <p:nvPr/>
          </p:nvSpPr>
          <p:spPr>
            <a:xfrm flipH="false" flipV="false" rot="0">
              <a:off x="0" y="0"/>
              <a:ext cx="7132320" cy="7589520"/>
            </a:xfrm>
            <a:custGeom>
              <a:avLst/>
              <a:gdLst/>
              <a:ahLst/>
              <a:cxnLst/>
              <a:rect r="r" b="b" t="t" l="l"/>
              <a:pathLst>
                <a:path h="7589520" w="7132320">
                  <a:moveTo>
                    <a:pt x="0" y="182880"/>
                  </a:moveTo>
                  <a:cubicBezTo>
                    <a:pt x="0" y="81915"/>
                    <a:pt x="81915" y="0"/>
                    <a:pt x="182880" y="0"/>
                  </a:cubicBezTo>
                  <a:lnTo>
                    <a:pt x="6949440" y="0"/>
                  </a:lnTo>
                  <a:cubicBezTo>
                    <a:pt x="7050405" y="0"/>
                    <a:pt x="7132320" y="81915"/>
                    <a:pt x="7132320" y="182880"/>
                  </a:cubicBezTo>
                  <a:lnTo>
                    <a:pt x="7132320" y="7406640"/>
                  </a:lnTo>
                  <a:cubicBezTo>
                    <a:pt x="7132320" y="7507605"/>
                    <a:pt x="7050405" y="7589520"/>
                    <a:pt x="6949440" y="7589520"/>
                  </a:cubicBezTo>
                  <a:lnTo>
                    <a:pt x="182880" y="7589520"/>
                  </a:lnTo>
                  <a:cubicBezTo>
                    <a:pt x="81915" y="7589520"/>
                    <a:pt x="0" y="7507605"/>
                    <a:pt x="0" y="7406640"/>
                  </a:cubicBezTo>
                  <a:close/>
                </a:path>
              </a:pathLst>
            </a:custGeom>
            <a:solidFill>
              <a:srgbClr val="EAF8FA"/>
            </a:solidFill>
          </p:spPr>
          <p:txBody>
            <a:bodyPr/>
            <a:p/>
          </p:txBody>
        </p:sp>
      </p:grpSp>
      <p:grpSp>
        <p:nvGrpSpPr>
          <p:cNvPr name="Group 92" id="92"/>
          <p:cNvGrpSpPr/>
          <p:nvPr/>
        </p:nvGrpSpPr>
        <p:grpSpPr>
          <a:xfrm rot="0">
            <a:off x="12111228" y="2400300"/>
            <a:ext cx="5349240" cy="822960"/>
            <a:chOff x="0" y="0"/>
            <a:chExt cx="7132320" cy="1097280"/>
          </a:xfrm>
        </p:grpSpPr>
        <p:sp>
          <p:nvSpPr>
            <p:cNvPr name="Freeform 93" id="93"/>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0B5E6E"/>
            </a:solidFill>
          </p:spPr>
          <p:txBody>
            <a:bodyPr/>
            <a:p/>
          </p:txBody>
        </p:sp>
      </p:grpSp>
      <p:grpSp>
        <p:nvGrpSpPr>
          <p:cNvPr name="Group 94" id="94"/>
          <p:cNvGrpSpPr/>
          <p:nvPr/>
        </p:nvGrpSpPr>
        <p:grpSpPr>
          <a:xfrm rot="0">
            <a:off x="12111228" y="2400300"/>
            <a:ext cx="5349240" cy="822960"/>
            <a:chOff x="0" y="0"/>
            <a:chExt cx="7132320" cy="1097280"/>
          </a:xfrm>
        </p:grpSpPr>
        <p:sp>
          <p:nvSpPr>
            <p:cNvPr name="Freeform 95" id="95"/>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txBody>
            <a:bodyPr/>
            <a:p/>
          </p:txBody>
        </p:sp>
      </p:grpSp>
      <p:grpSp>
        <p:nvGrpSpPr>
          <p:cNvPr name="Group 96" id="96"/>
          <p:cNvGrpSpPr/>
          <p:nvPr/>
        </p:nvGrpSpPr>
        <p:grpSpPr>
          <a:xfrm rot="0">
            <a:off x="12111228" y="2371725"/>
            <a:ext cx="5349240" cy="851535"/>
            <a:chOff x="0" y="0"/>
            <a:chExt cx="7132320" cy="1135380"/>
          </a:xfrm>
        </p:grpSpPr>
        <p:sp>
          <p:nvSpPr>
            <p:cNvPr name="Freeform 97" id="97"/>
            <p:cNvSpPr/>
            <p:nvPr/>
          </p:nvSpPr>
          <p:spPr>
            <a:xfrm flipH="false" flipV="false" rot="0">
              <a:off x="0" y="0"/>
              <a:ext cx="7132320" cy="1135380"/>
            </a:xfrm>
            <a:custGeom>
              <a:avLst/>
              <a:gdLst/>
              <a:ahLst/>
              <a:cxnLst/>
              <a:rect r="r" b="b" t="t" l="l"/>
              <a:pathLst>
                <a:path h="1135380" w="7132320">
                  <a:moveTo>
                    <a:pt x="0" y="0"/>
                  </a:moveTo>
                  <a:lnTo>
                    <a:pt x="7132320" y="0"/>
                  </a:lnTo>
                  <a:lnTo>
                    <a:pt x="7132320" y="1135380"/>
                  </a:lnTo>
                  <a:lnTo>
                    <a:pt x="0" y="1135380"/>
                  </a:lnTo>
                  <a:close/>
                </a:path>
              </a:pathLst>
            </a:custGeom>
            <a:blipFill>
              <a:blip r:embed="rId5">
                <a:alphaModFix amt="0"/>
              </a:blip>
              <a:stretch>
                <a:fillRect l="0" t="-72317" r="0" b="-72317"/>
              </a:stretch>
            </a:blipFill>
          </p:spPr>
          <p:txBody>
            <a:bodyPr/>
            <a:p/>
          </p:txBody>
        </p:sp>
      </p:grpSp>
      <p:grpSp>
        <p:nvGrpSpPr>
          <p:cNvPr name="Group 98" id="98"/>
          <p:cNvGrpSpPr/>
          <p:nvPr/>
        </p:nvGrpSpPr>
        <p:grpSpPr>
          <a:xfrm rot="0">
            <a:off x="12111228" y="2343150"/>
            <a:ext cx="5349240" cy="880110"/>
            <a:chOff x="0" y="0"/>
            <a:chExt cx="7132320" cy="1173480"/>
          </a:xfrm>
        </p:grpSpPr>
        <p:sp>
          <p:nvSpPr>
            <p:cNvPr name="Freeform 99" id="99"/>
            <p:cNvSpPr/>
            <p:nvPr/>
          </p:nvSpPr>
          <p:spPr>
            <a:xfrm flipH="false" flipV="false" rot="0">
              <a:off x="0" y="0"/>
              <a:ext cx="7132320" cy="1173480"/>
            </a:xfrm>
            <a:custGeom>
              <a:avLst/>
              <a:gdLst/>
              <a:ahLst/>
              <a:cxnLst/>
              <a:rect r="r" b="b" t="t" l="l"/>
              <a:pathLst>
                <a:path h="1173480" w="7132320">
                  <a:moveTo>
                    <a:pt x="0" y="0"/>
                  </a:moveTo>
                  <a:lnTo>
                    <a:pt x="7132320" y="0"/>
                  </a:lnTo>
                  <a:lnTo>
                    <a:pt x="7132320" y="1173480"/>
                  </a:lnTo>
                  <a:lnTo>
                    <a:pt x="0" y="1173480"/>
                  </a:lnTo>
                  <a:close/>
                </a:path>
              </a:pathLst>
            </a:custGeom>
            <a:blipFill>
              <a:blip r:embed="rId6">
                <a:alphaModFix amt="0"/>
              </a:blip>
              <a:stretch>
                <a:fillRect l="0" t="-68428" r="0" b="-68428"/>
              </a:stretch>
            </a:blipFill>
          </p:spPr>
          <p:txBody>
            <a:bodyPr/>
            <a:p/>
          </p:txBody>
        </p:sp>
        <p:sp>
          <p:nvSpPr>
            <p:cNvPr name="TextBox 100" id="100"/>
            <p:cNvSpPr txBox="true"/>
            <p:nvPr/>
          </p:nvSpPr>
          <p:spPr>
            <a:xfrm>
              <a:off x="0" y="-38100"/>
              <a:ext cx="7132320" cy="12115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Penafsiran</a:t>
              </a:r>
            </a:p>
          </p:txBody>
        </p:sp>
      </p:grpSp>
      <p:sp>
        <p:nvSpPr>
          <p:cNvPr name="TextBox 101" id="101"/>
          <p:cNvSpPr txBox="true"/>
          <p:nvPr/>
        </p:nvSpPr>
        <p:spPr>
          <a:xfrm rot="0">
            <a:off x="12385548" y="3383280"/>
            <a:ext cx="4800600" cy="4640580"/>
          </a:xfrm>
          <a:prstGeom prst="rect">
            <a:avLst/>
          </a:prstGeom>
        </p:spPr>
        <p:txBody>
          <a:bodyPr anchor="t" rtlCol="false" tIns="0" lIns="0" bIns="0" rIns="0">
            <a:spAutoFit/>
          </a:bodyPr>
          <a:lstStyle/>
          <a:p>
            <a:pPr algn="l" marL="490140" indent="-122535" lvl="3">
              <a:lnSpc>
                <a:spcPts val="2250"/>
              </a:lnSpc>
              <a:buFont typeface="Arial"/>
              <a:buChar char="￭"/>
            </a:pPr>
            <a:r>
              <a:rPr lang="en-US" sz="1875">
                <a:solidFill>
                  <a:srgbClr val="14313B"/>
                </a:solidFill>
                <a:latin typeface="Calibri (MS)"/>
                <a:ea typeface="Calibri (MS)"/>
                <a:cs typeface="Calibri (MS)"/>
                <a:sym typeface="Calibri (MS)"/>
              </a:rPr>
              <a:t>Rasio LPD/LPE: asumsi, tidak bisa ditentukan dari data</a:t>
            </a:r>
          </a:p>
          <a:p>
            <a:pPr algn="l" marL="490140" indent="-122535" lvl="3">
              <a:lnSpc>
                <a:spcPts val="2250"/>
              </a:lnSpc>
              <a:buFont typeface="Arial"/>
              <a:buChar char="￭"/>
            </a:pPr>
            <a:r>
              <a:rPr lang="en-US" sz="1875">
                <a:solidFill>
                  <a:srgbClr val="14313B"/>
                </a:solidFill>
                <a:latin typeface="Calibri (MS)"/>
                <a:ea typeface="Calibri (MS)"/>
                <a:cs typeface="Calibri (MS)"/>
                <a:sym typeface="Calibri (MS)"/>
              </a:rPr>
              <a:t>Nilai variabel kebijakan dan batas kepadatan 2,0: ditentukan peneliti</a:t>
            </a:r>
          </a:p>
          <a:p>
            <a:pPr algn="l" marL="490140" indent="-122535" lvl="3">
              <a:lnSpc>
                <a:spcPts val="2250"/>
              </a:lnSpc>
              <a:buFont typeface="Arial"/>
              <a:buChar char="￭"/>
            </a:pPr>
            <a:r>
              <a:rPr lang="en-US" sz="1875">
                <a:solidFill>
                  <a:srgbClr val="14313B"/>
                </a:solidFill>
                <a:latin typeface="Calibri (MS)"/>
                <a:ea typeface="Calibri (MS)"/>
                <a:cs typeface="Calibri (MS)"/>
                <a:sym typeface="Calibri (MS)"/>
              </a:rPr>
              <a:t>Evaluasi pascakalibrasi memakai data yang sama (bukan validasi independen)</a:t>
            </a:r>
          </a:p>
          <a:p>
            <a:pPr algn="l" marL="490140" indent="-122535" lvl="3">
              <a:lnSpc>
                <a:spcPts val="2250"/>
              </a:lnSpc>
              <a:buFont typeface="Arial"/>
              <a:buChar char="￭"/>
            </a:pPr>
            <a:r>
              <a:rPr lang="en-US" sz="1875">
                <a:solidFill>
                  <a:srgbClr val="14313B"/>
                </a:solidFill>
                <a:latin typeface="Calibri (MS)"/>
                <a:ea typeface="Calibri (MS)"/>
                <a:cs typeface="Calibri (MS)"/>
                <a:sym typeface="Calibri (MS)"/>
              </a:rPr>
              <a:t>Skenario tanpa lokakarya pemangku kepentingan</a:t>
            </a:r>
          </a:p>
        </p:txBody>
      </p:sp>
      <p:grpSp>
        <p:nvGrpSpPr>
          <p:cNvPr name="Group 102" id="102"/>
          <p:cNvGrpSpPr/>
          <p:nvPr/>
        </p:nvGrpSpPr>
        <p:grpSpPr>
          <a:xfrm rot="0">
            <a:off x="822960" y="8366760"/>
            <a:ext cx="16637508" cy="891540"/>
            <a:chOff x="0" y="0"/>
            <a:chExt cx="22183344" cy="1188720"/>
          </a:xfrm>
        </p:grpSpPr>
        <p:sp>
          <p:nvSpPr>
            <p:cNvPr name="Freeform 103" id="103"/>
            <p:cNvSpPr/>
            <p:nvPr/>
          </p:nvSpPr>
          <p:spPr>
            <a:xfrm flipH="false" flipV="false" rot="0">
              <a:off x="0" y="0"/>
              <a:ext cx="22183344" cy="1188720"/>
            </a:xfrm>
            <a:custGeom>
              <a:avLst/>
              <a:gdLst/>
              <a:ahLst/>
              <a:cxnLst/>
              <a:rect r="r" b="b" t="t" l="l"/>
              <a:pathLst>
                <a:path h="1188720" w="22183344">
                  <a:moveTo>
                    <a:pt x="0" y="182880"/>
                  </a:moveTo>
                  <a:cubicBezTo>
                    <a:pt x="0" y="81915"/>
                    <a:pt x="81915" y="0"/>
                    <a:pt x="182880" y="0"/>
                  </a:cubicBezTo>
                  <a:lnTo>
                    <a:pt x="22000463" y="0"/>
                  </a:lnTo>
                  <a:cubicBezTo>
                    <a:pt x="22101428" y="0"/>
                    <a:pt x="22183344" y="81915"/>
                    <a:pt x="22183344" y="182880"/>
                  </a:cubicBezTo>
                  <a:lnTo>
                    <a:pt x="22183344" y="1005840"/>
                  </a:lnTo>
                  <a:cubicBezTo>
                    <a:pt x="22183344" y="1106805"/>
                    <a:pt x="22101428" y="1188720"/>
                    <a:pt x="22000463" y="1188720"/>
                  </a:cubicBezTo>
                  <a:lnTo>
                    <a:pt x="182880" y="1188720"/>
                  </a:lnTo>
                  <a:cubicBezTo>
                    <a:pt x="81915" y="1188720"/>
                    <a:pt x="0" y="1106805"/>
                    <a:pt x="0" y="1005840"/>
                  </a:cubicBezTo>
                  <a:close/>
                </a:path>
              </a:pathLst>
            </a:custGeom>
            <a:solidFill>
              <a:srgbClr val="FFF1BF"/>
            </a:solidFill>
          </p:spPr>
          <p:txBody>
            <a:bodyPr/>
            <a:p/>
          </p:txBody>
        </p:sp>
      </p:grpSp>
      <p:grpSp>
        <p:nvGrpSpPr>
          <p:cNvPr name="Group 104" id="104"/>
          <p:cNvGrpSpPr/>
          <p:nvPr/>
        </p:nvGrpSpPr>
        <p:grpSpPr>
          <a:xfrm rot="0">
            <a:off x="1234440" y="8366760"/>
            <a:ext cx="15814548" cy="891540"/>
            <a:chOff x="0" y="0"/>
            <a:chExt cx="21086064" cy="1188720"/>
          </a:xfrm>
        </p:grpSpPr>
        <p:sp>
          <p:nvSpPr>
            <p:cNvPr name="Freeform 105" id="105"/>
            <p:cNvSpPr/>
            <p:nvPr/>
          </p:nvSpPr>
          <p:spPr>
            <a:xfrm flipH="false" flipV="false" rot="0">
              <a:off x="0" y="0"/>
              <a:ext cx="21086063" cy="1188720"/>
            </a:xfrm>
            <a:custGeom>
              <a:avLst/>
              <a:gdLst/>
              <a:ahLst/>
              <a:cxnLst/>
              <a:rect r="r" b="b" t="t" l="l"/>
              <a:pathLst>
                <a:path h="1188720" w="21086063">
                  <a:moveTo>
                    <a:pt x="0" y="0"/>
                  </a:moveTo>
                  <a:lnTo>
                    <a:pt x="21086063" y="0"/>
                  </a:lnTo>
                  <a:lnTo>
                    <a:pt x="21086063" y="1188720"/>
                  </a:lnTo>
                  <a:lnTo>
                    <a:pt x="0" y="1188720"/>
                  </a:lnTo>
                  <a:close/>
                </a:path>
              </a:pathLst>
            </a:custGeom>
            <a:blipFill>
              <a:blip r:embed="rId4">
                <a:alphaModFix amt="0"/>
              </a:blip>
              <a:stretch>
                <a:fillRect l="0" t="-295394" r="0" b="-295394"/>
              </a:stretch>
            </a:blipFill>
          </p:spPr>
          <p:txBody>
            <a:bodyPr/>
            <a:p/>
          </p:txBody>
        </p:sp>
      </p:grpSp>
      <p:grpSp>
        <p:nvGrpSpPr>
          <p:cNvPr name="Group 106" id="106"/>
          <p:cNvGrpSpPr/>
          <p:nvPr/>
        </p:nvGrpSpPr>
        <p:grpSpPr>
          <a:xfrm rot="0">
            <a:off x="1234440" y="8338185"/>
            <a:ext cx="15814548" cy="920115"/>
            <a:chOff x="0" y="0"/>
            <a:chExt cx="21086064" cy="1226820"/>
          </a:xfrm>
        </p:grpSpPr>
        <p:sp>
          <p:nvSpPr>
            <p:cNvPr name="Freeform 107" id="107"/>
            <p:cNvSpPr/>
            <p:nvPr/>
          </p:nvSpPr>
          <p:spPr>
            <a:xfrm flipH="false" flipV="false" rot="0">
              <a:off x="0" y="0"/>
              <a:ext cx="21086063" cy="1226820"/>
            </a:xfrm>
            <a:custGeom>
              <a:avLst/>
              <a:gdLst/>
              <a:ahLst/>
              <a:cxnLst/>
              <a:rect r="r" b="b" t="t" l="l"/>
              <a:pathLst>
                <a:path h="1226820" w="21086063">
                  <a:moveTo>
                    <a:pt x="0" y="0"/>
                  </a:moveTo>
                  <a:lnTo>
                    <a:pt x="21086063" y="0"/>
                  </a:lnTo>
                  <a:lnTo>
                    <a:pt x="21086063" y="1226820"/>
                  </a:lnTo>
                  <a:lnTo>
                    <a:pt x="0" y="1226820"/>
                  </a:lnTo>
                  <a:close/>
                </a:path>
              </a:pathLst>
            </a:custGeom>
            <a:blipFill>
              <a:blip r:embed="rId5">
                <a:alphaModFix amt="0"/>
              </a:blip>
              <a:stretch>
                <a:fillRect l="0" t="-284667" r="0" b="-284667"/>
              </a:stretch>
            </a:blipFill>
          </p:spPr>
          <p:txBody>
            <a:bodyPr/>
            <a:p/>
          </p:txBody>
        </p:sp>
      </p:grpSp>
      <p:grpSp>
        <p:nvGrpSpPr>
          <p:cNvPr name="Group 108" id="108"/>
          <p:cNvGrpSpPr/>
          <p:nvPr/>
        </p:nvGrpSpPr>
        <p:grpSpPr>
          <a:xfrm rot="0">
            <a:off x="1234440" y="8309610"/>
            <a:ext cx="15814548" cy="948690"/>
            <a:chOff x="0" y="0"/>
            <a:chExt cx="21086064" cy="1264920"/>
          </a:xfrm>
        </p:grpSpPr>
        <p:sp>
          <p:nvSpPr>
            <p:cNvPr name="Freeform 109" id="109"/>
            <p:cNvSpPr/>
            <p:nvPr/>
          </p:nvSpPr>
          <p:spPr>
            <a:xfrm flipH="false" flipV="false" rot="0">
              <a:off x="0" y="0"/>
              <a:ext cx="21086065" cy="1264920"/>
            </a:xfrm>
            <a:custGeom>
              <a:avLst/>
              <a:gdLst/>
              <a:ahLst/>
              <a:cxnLst/>
              <a:rect r="r" b="b" t="t" l="l"/>
              <a:pathLst>
                <a:path h="1264920" w="21086065">
                  <a:moveTo>
                    <a:pt x="0" y="0"/>
                  </a:moveTo>
                  <a:lnTo>
                    <a:pt x="21086065" y="0"/>
                  </a:lnTo>
                  <a:lnTo>
                    <a:pt x="21086065" y="1264920"/>
                  </a:lnTo>
                  <a:lnTo>
                    <a:pt x="0" y="1264920"/>
                  </a:lnTo>
                  <a:close/>
                </a:path>
              </a:pathLst>
            </a:custGeom>
            <a:blipFill>
              <a:blip r:embed="rId6">
                <a:alphaModFix amt="0"/>
              </a:blip>
              <a:stretch>
                <a:fillRect l="0" t="-274813" r="0" b="-274813"/>
              </a:stretch>
            </a:blipFill>
          </p:spPr>
          <p:txBody>
            <a:bodyPr/>
            <a:p/>
          </p:txBody>
        </p:sp>
        <p:sp>
          <p:nvSpPr>
            <p:cNvPr name="TextBox 110" id="110"/>
            <p:cNvSpPr txBox="true"/>
            <p:nvPr/>
          </p:nvSpPr>
          <p:spPr>
            <a:xfrm>
              <a:off x="0" y="-38100"/>
              <a:ext cx="21086064" cy="1303020"/>
            </a:xfrm>
            <a:prstGeom prst="rect">
              <a:avLst/>
            </a:prstGeom>
          </p:spPr>
          <p:txBody>
            <a:bodyPr anchor="ctr" rtlCol="false" tIns="0" lIns="0" bIns="0" rIns="0"/>
            <a:lstStyle/>
            <a:p>
              <a:pPr algn="l">
                <a:lnSpc>
                  <a:spcPts val="2430"/>
                </a:lnSpc>
              </a:pPr>
              <a:r>
                <a:rPr lang="en-US" sz="2025" b="true">
                  <a:solidFill>
                    <a:srgbClr val="0B5E6E"/>
                  </a:solidFill>
                  <a:latin typeface="Calibri (MS) Bold"/>
                  <a:ea typeface="Calibri (MS) Bold"/>
                  <a:cs typeface="Calibri (MS) Bold"/>
                  <a:sym typeface="Calibri (MS) Bold"/>
                </a:rPr>
                <a:t>Model dipakai untuk membandingkan arah dan besaran relatif antarskenario — bukan untuk meramalkan angka absolut pada tahun tertentu.</a:t>
              </a:r>
            </a:p>
          </p:txBody>
        </p:sp>
      </p:grpSp>
      <p:sp>
        <p:nvSpPr>
          <p:cNvPr name="TextBox 111" id="111"/>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73</a:t>
            </a:r>
          </a:p>
        </p:txBody>
      </p:sp>
      <p:grpSp>
        <p:nvGrpSpPr>
          <p:cNvPr name="Group 112" id="112"/>
          <p:cNvGrpSpPr/>
          <p:nvPr/>
        </p:nvGrpSpPr>
        <p:grpSpPr>
          <a:xfrm rot="0">
            <a:off x="16047720" y="9646920"/>
            <a:ext cx="420624" cy="420624"/>
            <a:chOff x="0" y="0"/>
            <a:chExt cx="560832" cy="560832"/>
          </a:xfrm>
        </p:grpSpPr>
        <p:sp>
          <p:nvSpPr>
            <p:cNvPr name="Freeform 113" id="113"/>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14" id="114"/>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7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Kesimpulan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Ketiga tujuan penelitian tercapai</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Penutup</a:t>
              </a:r>
            </a:p>
          </p:txBody>
        </p:sp>
      </p:grpSp>
      <p:grpSp>
        <p:nvGrpSpPr>
          <p:cNvPr name="Group 66" id="66"/>
          <p:cNvGrpSpPr/>
          <p:nvPr/>
        </p:nvGrpSpPr>
        <p:grpSpPr>
          <a:xfrm rot="0">
            <a:off x="822960" y="2400300"/>
            <a:ext cx="4800600" cy="1851660"/>
            <a:chOff x="0" y="0"/>
            <a:chExt cx="6400800" cy="2468880"/>
          </a:xfrm>
        </p:grpSpPr>
        <p:sp>
          <p:nvSpPr>
            <p:cNvPr name="Freeform 67" id="67"/>
            <p:cNvSpPr/>
            <p:nvPr/>
          </p:nvSpPr>
          <p:spPr>
            <a:xfrm flipH="false" flipV="false" rot="0">
              <a:off x="0" y="0"/>
              <a:ext cx="6400800" cy="2468880"/>
            </a:xfrm>
            <a:custGeom>
              <a:avLst/>
              <a:gdLst/>
              <a:ahLst/>
              <a:cxnLst/>
              <a:rect r="r" b="b" t="t" l="l"/>
              <a:pathLst>
                <a:path h="2468880" w="6400800">
                  <a:moveTo>
                    <a:pt x="0" y="182880"/>
                  </a:moveTo>
                  <a:cubicBezTo>
                    <a:pt x="0" y="81915"/>
                    <a:pt x="81915" y="0"/>
                    <a:pt x="182880" y="0"/>
                  </a:cubicBezTo>
                  <a:lnTo>
                    <a:pt x="6217920" y="0"/>
                  </a:lnTo>
                  <a:cubicBezTo>
                    <a:pt x="6318885" y="0"/>
                    <a:pt x="6400800" y="81915"/>
                    <a:pt x="6400800" y="182880"/>
                  </a:cubicBezTo>
                  <a:lnTo>
                    <a:pt x="6400800" y="2286000"/>
                  </a:lnTo>
                  <a:cubicBezTo>
                    <a:pt x="6400800" y="2386965"/>
                    <a:pt x="6318885" y="2468880"/>
                    <a:pt x="6217920" y="2468880"/>
                  </a:cubicBezTo>
                  <a:lnTo>
                    <a:pt x="182880" y="2468880"/>
                  </a:lnTo>
                  <a:cubicBezTo>
                    <a:pt x="81915" y="2468880"/>
                    <a:pt x="0" y="2386965"/>
                    <a:pt x="0" y="2286000"/>
                  </a:cubicBezTo>
                  <a:close/>
                </a:path>
              </a:pathLst>
            </a:custGeom>
            <a:solidFill>
              <a:srgbClr val="0B5E6E"/>
            </a:solidFill>
          </p:spPr>
          <p:txBody>
            <a:bodyPr/>
            <a:p/>
          </p:txBody>
        </p:sp>
      </p:grpSp>
      <p:sp>
        <p:nvSpPr>
          <p:cNvPr name="TextBox 68" id="68"/>
          <p:cNvSpPr txBox="true"/>
          <p:nvPr/>
        </p:nvSpPr>
        <p:spPr>
          <a:xfrm rot="0">
            <a:off x="1165860" y="2560320"/>
            <a:ext cx="4114800" cy="525780"/>
          </a:xfrm>
          <a:prstGeom prst="rect">
            <a:avLst/>
          </a:prstGeom>
        </p:spPr>
        <p:txBody>
          <a:bodyPr anchor="t" rtlCol="false" tIns="0" lIns="0" bIns="0" rIns="0">
            <a:spAutoFit/>
          </a:bodyPr>
          <a:lstStyle/>
          <a:p>
            <a:pPr algn="l">
              <a:lnSpc>
                <a:spcPts val="2160"/>
              </a:lnSpc>
            </a:pPr>
            <a:r>
              <a:rPr lang="en-US" sz="1800" b="true">
                <a:solidFill>
                  <a:srgbClr val="FFD23B"/>
                </a:solidFill>
                <a:latin typeface="Calibri (MS) Bold"/>
                <a:ea typeface="Calibri (MS) Bold"/>
                <a:cs typeface="Calibri (MS) Bold"/>
                <a:sym typeface="Calibri (MS) Bold"/>
              </a:rPr>
              <a:t>Tujuan 1</a:t>
            </a:r>
          </a:p>
        </p:txBody>
      </p:sp>
      <p:sp>
        <p:nvSpPr>
          <p:cNvPr name="TextBox 69" id="69"/>
          <p:cNvSpPr txBox="true"/>
          <p:nvPr/>
        </p:nvSpPr>
        <p:spPr>
          <a:xfrm rot="0">
            <a:off x="1165860" y="3040380"/>
            <a:ext cx="4114800" cy="1074420"/>
          </a:xfrm>
          <a:prstGeom prst="rect">
            <a:avLst/>
          </a:prstGeom>
        </p:spPr>
        <p:txBody>
          <a:bodyPr anchor="t" rtlCol="false" tIns="0" lIns="0" bIns="0" rIns="0">
            <a:spAutoFit/>
          </a:bodyPr>
          <a:lstStyle/>
          <a:p>
            <a:pPr algn="l">
              <a:lnSpc>
                <a:spcPts val="2878"/>
              </a:lnSpc>
            </a:pPr>
            <a:r>
              <a:rPr lang="en-US" sz="2400" b="true">
                <a:solidFill>
                  <a:srgbClr val="FFFFFF"/>
                </a:solidFill>
                <a:latin typeface="Calibri (MS) Bold"/>
                <a:ea typeface="Calibri (MS) Bold"/>
                <a:cs typeface="Calibri (MS) Bold"/>
                <a:sym typeface="Calibri (MS) Bold"/>
              </a:rPr>
              <a:t>Variabel penyusun CLD</a:t>
            </a:r>
          </a:p>
        </p:txBody>
      </p:sp>
      <p:sp>
        <p:nvSpPr>
          <p:cNvPr name="AutoShape 70" id="70"/>
          <p:cNvSpPr/>
          <p:nvPr/>
        </p:nvSpPr>
        <p:spPr>
          <a:xfrm rot="99720">
            <a:off x="5637952" y="3285934"/>
            <a:ext cx="657015" cy="0"/>
          </a:xfrm>
          <a:prstGeom prst="line">
            <a:avLst/>
          </a:prstGeom>
          <a:ln cap="rnd" w="19050">
            <a:solidFill>
              <a:srgbClr val="39C0D3"/>
            </a:solidFill>
            <a:prstDash val="solid"/>
            <a:headEnd type="none" len="sm" w="sm"/>
            <a:tailEnd type="triangle" len="med" w="lg"/>
          </a:ln>
        </p:spPr>
        <p:txBody>
          <a:bodyPr/>
          <a:p/>
        </p:txBody>
      </p:sp>
      <p:grpSp>
        <p:nvGrpSpPr>
          <p:cNvPr name="Group 71" id="71"/>
          <p:cNvGrpSpPr/>
          <p:nvPr/>
        </p:nvGrpSpPr>
        <p:grpSpPr>
          <a:xfrm rot="0">
            <a:off x="6309360" y="2400300"/>
            <a:ext cx="11151108" cy="1851660"/>
            <a:chOff x="0" y="0"/>
            <a:chExt cx="14868144" cy="2468880"/>
          </a:xfrm>
        </p:grpSpPr>
        <p:sp>
          <p:nvSpPr>
            <p:cNvPr name="Freeform 72" id="72"/>
            <p:cNvSpPr/>
            <p:nvPr/>
          </p:nvSpPr>
          <p:spPr>
            <a:xfrm flipH="false" flipV="false" rot="0">
              <a:off x="0" y="0"/>
              <a:ext cx="14868144" cy="2468880"/>
            </a:xfrm>
            <a:custGeom>
              <a:avLst/>
              <a:gdLst/>
              <a:ahLst/>
              <a:cxnLst/>
              <a:rect r="r" b="b" t="t" l="l"/>
              <a:pathLst>
                <a:path h="2468880" w="14868144">
                  <a:moveTo>
                    <a:pt x="0" y="182880"/>
                  </a:moveTo>
                  <a:cubicBezTo>
                    <a:pt x="0" y="81915"/>
                    <a:pt x="81915" y="0"/>
                    <a:pt x="182880" y="0"/>
                  </a:cubicBezTo>
                  <a:lnTo>
                    <a:pt x="14685263" y="0"/>
                  </a:lnTo>
                  <a:cubicBezTo>
                    <a:pt x="14786228" y="0"/>
                    <a:pt x="14868144" y="81915"/>
                    <a:pt x="14868144" y="182880"/>
                  </a:cubicBezTo>
                  <a:lnTo>
                    <a:pt x="14868144" y="2286000"/>
                  </a:lnTo>
                  <a:cubicBezTo>
                    <a:pt x="14868144" y="2386965"/>
                    <a:pt x="14786228" y="2468880"/>
                    <a:pt x="14685263" y="2468880"/>
                  </a:cubicBezTo>
                  <a:lnTo>
                    <a:pt x="182880" y="2468880"/>
                  </a:lnTo>
                  <a:cubicBezTo>
                    <a:pt x="81915" y="2468880"/>
                    <a:pt x="0" y="2386965"/>
                    <a:pt x="0" y="2286000"/>
                  </a:cubicBezTo>
                  <a:close/>
                </a:path>
              </a:pathLst>
            </a:custGeom>
            <a:solidFill>
              <a:srgbClr val="EAF8FA"/>
            </a:solidFill>
          </p:spPr>
          <p:txBody>
            <a:bodyPr/>
            <a:p/>
          </p:txBody>
        </p:sp>
      </p:grpSp>
      <p:grpSp>
        <p:nvGrpSpPr>
          <p:cNvPr name="Group 73" id="73"/>
          <p:cNvGrpSpPr/>
          <p:nvPr/>
        </p:nvGrpSpPr>
        <p:grpSpPr>
          <a:xfrm rot="0">
            <a:off x="6720840" y="2400300"/>
            <a:ext cx="10355580" cy="1851660"/>
            <a:chOff x="0" y="0"/>
            <a:chExt cx="13807440" cy="2468880"/>
          </a:xfrm>
        </p:grpSpPr>
        <p:sp>
          <p:nvSpPr>
            <p:cNvPr name="Freeform 74" id="74"/>
            <p:cNvSpPr/>
            <p:nvPr/>
          </p:nvSpPr>
          <p:spPr>
            <a:xfrm flipH="false" flipV="false" rot="0">
              <a:off x="0" y="0"/>
              <a:ext cx="13807439" cy="2468880"/>
            </a:xfrm>
            <a:custGeom>
              <a:avLst/>
              <a:gdLst/>
              <a:ahLst/>
              <a:cxnLst/>
              <a:rect r="r" b="b" t="t" l="l"/>
              <a:pathLst>
                <a:path h="2468880" w="13807439">
                  <a:moveTo>
                    <a:pt x="0" y="0"/>
                  </a:moveTo>
                  <a:lnTo>
                    <a:pt x="13807439" y="0"/>
                  </a:lnTo>
                  <a:lnTo>
                    <a:pt x="13807439" y="2468880"/>
                  </a:lnTo>
                  <a:lnTo>
                    <a:pt x="0" y="2468880"/>
                  </a:lnTo>
                  <a:close/>
                </a:path>
              </a:pathLst>
            </a:custGeom>
            <a:blipFill>
              <a:blip r:embed="rId4">
                <a:alphaModFix amt="0"/>
              </a:blip>
              <a:stretch>
                <a:fillRect l="0" t="-58896" r="0" b="-58896"/>
              </a:stretch>
            </a:blipFill>
          </p:spPr>
          <p:txBody>
            <a:bodyPr/>
            <a:p/>
          </p:txBody>
        </p:sp>
      </p:grpSp>
      <p:grpSp>
        <p:nvGrpSpPr>
          <p:cNvPr name="Group 75" id="75"/>
          <p:cNvGrpSpPr/>
          <p:nvPr/>
        </p:nvGrpSpPr>
        <p:grpSpPr>
          <a:xfrm rot="0">
            <a:off x="6720840" y="2371725"/>
            <a:ext cx="10355580" cy="1880235"/>
            <a:chOff x="0" y="0"/>
            <a:chExt cx="13807440" cy="2506980"/>
          </a:xfrm>
        </p:grpSpPr>
        <p:sp>
          <p:nvSpPr>
            <p:cNvPr name="Freeform 76" id="76"/>
            <p:cNvSpPr/>
            <p:nvPr/>
          </p:nvSpPr>
          <p:spPr>
            <a:xfrm flipH="false" flipV="false" rot="0">
              <a:off x="0" y="0"/>
              <a:ext cx="13807439" cy="2506980"/>
            </a:xfrm>
            <a:custGeom>
              <a:avLst/>
              <a:gdLst/>
              <a:ahLst/>
              <a:cxnLst/>
              <a:rect r="r" b="b" t="t" l="l"/>
              <a:pathLst>
                <a:path h="2506980" w="13807439">
                  <a:moveTo>
                    <a:pt x="0" y="0"/>
                  </a:moveTo>
                  <a:lnTo>
                    <a:pt x="13807439" y="0"/>
                  </a:lnTo>
                  <a:lnTo>
                    <a:pt x="13807439" y="2506980"/>
                  </a:lnTo>
                  <a:lnTo>
                    <a:pt x="0" y="2506980"/>
                  </a:lnTo>
                  <a:close/>
                </a:path>
              </a:pathLst>
            </a:custGeom>
            <a:blipFill>
              <a:blip r:embed="rId5">
                <a:alphaModFix amt="0"/>
              </a:blip>
              <a:stretch>
                <a:fillRect l="0" t="-57241" r="0" b="-57241"/>
              </a:stretch>
            </a:blipFill>
          </p:spPr>
          <p:txBody>
            <a:bodyPr/>
            <a:p/>
          </p:txBody>
        </p:sp>
      </p:grpSp>
      <p:grpSp>
        <p:nvGrpSpPr>
          <p:cNvPr name="Group 77" id="77"/>
          <p:cNvGrpSpPr/>
          <p:nvPr/>
        </p:nvGrpSpPr>
        <p:grpSpPr>
          <a:xfrm rot="0">
            <a:off x="6720840" y="2343150"/>
            <a:ext cx="10355580" cy="1908810"/>
            <a:chOff x="0" y="0"/>
            <a:chExt cx="13807440" cy="2545080"/>
          </a:xfrm>
        </p:grpSpPr>
        <p:sp>
          <p:nvSpPr>
            <p:cNvPr name="Freeform 78" id="78"/>
            <p:cNvSpPr/>
            <p:nvPr/>
          </p:nvSpPr>
          <p:spPr>
            <a:xfrm flipH="false" flipV="false" rot="0">
              <a:off x="0" y="0"/>
              <a:ext cx="13807439" cy="2545080"/>
            </a:xfrm>
            <a:custGeom>
              <a:avLst/>
              <a:gdLst/>
              <a:ahLst/>
              <a:cxnLst/>
              <a:rect r="r" b="b" t="t" l="l"/>
              <a:pathLst>
                <a:path h="2545080" w="13807439">
                  <a:moveTo>
                    <a:pt x="0" y="0"/>
                  </a:moveTo>
                  <a:lnTo>
                    <a:pt x="13807439" y="0"/>
                  </a:lnTo>
                  <a:lnTo>
                    <a:pt x="13807439" y="2545080"/>
                  </a:lnTo>
                  <a:lnTo>
                    <a:pt x="0" y="2545080"/>
                  </a:lnTo>
                  <a:close/>
                </a:path>
              </a:pathLst>
            </a:custGeom>
            <a:blipFill>
              <a:blip r:embed="rId6">
                <a:alphaModFix amt="0"/>
              </a:blip>
              <a:stretch>
                <a:fillRect l="0" t="-55709" r="0" b="-55709"/>
              </a:stretch>
            </a:blipFill>
          </p:spPr>
          <p:txBody>
            <a:bodyPr/>
            <a:p/>
          </p:txBody>
        </p:sp>
        <p:sp>
          <p:nvSpPr>
            <p:cNvPr name="TextBox 79" id="79"/>
            <p:cNvSpPr txBox="true"/>
            <p:nvPr/>
          </p:nvSpPr>
          <p:spPr>
            <a:xfrm>
              <a:off x="0" y="-38100"/>
              <a:ext cx="13807440" cy="2583180"/>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Teridentifikasi dan dirumuskan: 5 stock, 10 flow, 11 auxiliary, 35 parameter, dengan enam feedback loop — diadaptasi dari Mai &amp; Smith (2018) sesuai ketersediaan data resmi Indonesia.</a:t>
              </a:r>
            </a:p>
          </p:txBody>
        </p:sp>
      </p:grpSp>
      <p:grpSp>
        <p:nvGrpSpPr>
          <p:cNvPr name="Group 80" id="80"/>
          <p:cNvGrpSpPr/>
          <p:nvPr/>
        </p:nvGrpSpPr>
        <p:grpSpPr>
          <a:xfrm rot="0">
            <a:off x="822960" y="4457700"/>
            <a:ext cx="4800600" cy="1851660"/>
            <a:chOff x="0" y="0"/>
            <a:chExt cx="6400800" cy="2468880"/>
          </a:xfrm>
        </p:grpSpPr>
        <p:sp>
          <p:nvSpPr>
            <p:cNvPr name="Freeform 81" id="81"/>
            <p:cNvSpPr/>
            <p:nvPr/>
          </p:nvSpPr>
          <p:spPr>
            <a:xfrm flipH="false" flipV="false" rot="0">
              <a:off x="0" y="0"/>
              <a:ext cx="6400800" cy="2468880"/>
            </a:xfrm>
            <a:custGeom>
              <a:avLst/>
              <a:gdLst/>
              <a:ahLst/>
              <a:cxnLst/>
              <a:rect r="r" b="b" t="t" l="l"/>
              <a:pathLst>
                <a:path h="2468880" w="6400800">
                  <a:moveTo>
                    <a:pt x="0" y="182880"/>
                  </a:moveTo>
                  <a:cubicBezTo>
                    <a:pt x="0" y="81915"/>
                    <a:pt x="81915" y="0"/>
                    <a:pt x="182880" y="0"/>
                  </a:cubicBezTo>
                  <a:lnTo>
                    <a:pt x="6217920" y="0"/>
                  </a:lnTo>
                  <a:cubicBezTo>
                    <a:pt x="6318885" y="0"/>
                    <a:pt x="6400800" y="81915"/>
                    <a:pt x="6400800" y="182880"/>
                  </a:cubicBezTo>
                  <a:lnTo>
                    <a:pt x="6400800" y="2286000"/>
                  </a:lnTo>
                  <a:cubicBezTo>
                    <a:pt x="6400800" y="2386965"/>
                    <a:pt x="6318885" y="2468880"/>
                    <a:pt x="6217920" y="2468880"/>
                  </a:cubicBezTo>
                  <a:lnTo>
                    <a:pt x="182880" y="2468880"/>
                  </a:lnTo>
                  <a:cubicBezTo>
                    <a:pt x="81915" y="2468880"/>
                    <a:pt x="0" y="2386965"/>
                    <a:pt x="0" y="2286000"/>
                  </a:cubicBezTo>
                  <a:close/>
                </a:path>
              </a:pathLst>
            </a:custGeom>
            <a:solidFill>
              <a:srgbClr val="0B5E6E"/>
            </a:solidFill>
          </p:spPr>
          <p:txBody>
            <a:bodyPr/>
            <a:p/>
          </p:txBody>
        </p:sp>
      </p:grpSp>
      <p:sp>
        <p:nvSpPr>
          <p:cNvPr name="TextBox 82" id="82"/>
          <p:cNvSpPr txBox="true"/>
          <p:nvPr/>
        </p:nvSpPr>
        <p:spPr>
          <a:xfrm rot="0">
            <a:off x="1165860" y="4617720"/>
            <a:ext cx="4114800" cy="525780"/>
          </a:xfrm>
          <a:prstGeom prst="rect">
            <a:avLst/>
          </a:prstGeom>
        </p:spPr>
        <p:txBody>
          <a:bodyPr anchor="t" rtlCol="false" tIns="0" lIns="0" bIns="0" rIns="0">
            <a:spAutoFit/>
          </a:bodyPr>
          <a:lstStyle/>
          <a:p>
            <a:pPr algn="l">
              <a:lnSpc>
                <a:spcPts val="2160"/>
              </a:lnSpc>
            </a:pPr>
            <a:r>
              <a:rPr lang="en-US" sz="1800" b="true">
                <a:solidFill>
                  <a:srgbClr val="FFD23B"/>
                </a:solidFill>
                <a:latin typeface="Calibri (MS) Bold"/>
                <a:ea typeface="Calibri (MS) Bold"/>
                <a:cs typeface="Calibri (MS) Bold"/>
                <a:sym typeface="Calibri (MS) Bold"/>
              </a:rPr>
              <a:t>Tujuan 2</a:t>
            </a:r>
          </a:p>
        </p:txBody>
      </p:sp>
      <p:sp>
        <p:nvSpPr>
          <p:cNvPr name="TextBox 83" id="83"/>
          <p:cNvSpPr txBox="true"/>
          <p:nvPr/>
        </p:nvSpPr>
        <p:spPr>
          <a:xfrm rot="0">
            <a:off x="1165860" y="5097780"/>
            <a:ext cx="4114800" cy="1074420"/>
          </a:xfrm>
          <a:prstGeom prst="rect">
            <a:avLst/>
          </a:prstGeom>
        </p:spPr>
        <p:txBody>
          <a:bodyPr anchor="t" rtlCol="false" tIns="0" lIns="0" bIns="0" rIns="0">
            <a:spAutoFit/>
          </a:bodyPr>
          <a:lstStyle/>
          <a:p>
            <a:pPr algn="l">
              <a:lnSpc>
                <a:spcPts val="2878"/>
              </a:lnSpc>
            </a:pPr>
            <a:r>
              <a:rPr lang="en-US" sz="2400" b="true">
                <a:solidFill>
                  <a:srgbClr val="FFFFFF"/>
                </a:solidFill>
                <a:latin typeface="Calibri (MS) Bold"/>
                <a:ea typeface="Calibri (MS) Bold"/>
                <a:cs typeface="Calibri (MS) Bold"/>
                <a:sym typeface="Calibri (MS) Bold"/>
              </a:rPr>
              <a:t>Model tervalidasi dan simulasi skenario</a:t>
            </a:r>
          </a:p>
        </p:txBody>
      </p:sp>
      <p:sp>
        <p:nvSpPr>
          <p:cNvPr name="AutoShape 84" id="84"/>
          <p:cNvSpPr/>
          <p:nvPr/>
        </p:nvSpPr>
        <p:spPr>
          <a:xfrm rot="99720">
            <a:off x="5637952" y="5343334"/>
            <a:ext cx="657015" cy="0"/>
          </a:xfrm>
          <a:prstGeom prst="line">
            <a:avLst/>
          </a:prstGeom>
          <a:ln cap="rnd" w="19050">
            <a:solidFill>
              <a:srgbClr val="39C0D3"/>
            </a:solidFill>
            <a:prstDash val="solid"/>
            <a:headEnd type="none" len="sm" w="sm"/>
            <a:tailEnd type="triangle" len="med" w="lg"/>
          </a:ln>
        </p:spPr>
        <p:txBody>
          <a:bodyPr/>
          <a:p/>
        </p:txBody>
      </p:sp>
      <p:grpSp>
        <p:nvGrpSpPr>
          <p:cNvPr name="Group 85" id="85"/>
          <p:cNvGrpSpPr/>
          <p:nvPr/>
        </p:nvGrpSpPr>
        <p:grpSpPr>
          <a:xfrm rot="0">
            <a:off x="6309360" y="4457700"/>
            <a:ext cx="11151108" cy="1851660"/>
            <a:chOff x="0" y="0"/>
            <a:chExt cx="14868144" cy="2468880"/>
          </a:xfrm>
        </p:grpSpPr>
        <p:sp>
          <p:nvSpPr>
            <p:cNvPr name="Freeform 86" id="86"/>
            <p:cNvSpPr/>
            <p:nvPr/>
          </p:nvSpPr>
          <p:spPr>
            <a:xfrm flipH="false" flipV="false" rot="0">
              <a:off x="0" y="0"/>
              <a:ext cx="14868144" cy="2468880"/>
            </a:xfrm>
            <a:custGeom>
              <a:avLst/>
              <a:gdLst/>
              <a:ahLst/>
              <a:cxnLst/>
              <a:rect r="r" b="b" t="t" l="l"/>
              <a:pathLst>
                <a:path h="2468880" w="14868144">
                  <a:moveTo>
                    <a:pt x="0" y="182880"/>
                  </a:moveTo>
                  <a:cubicBezTo>
                    <a:pt x="0" y="81915"/>
                    <a:pt x="81915" y="0"/>
                    <a:pt x="182880" y="0"/>
                  </a:cubicBezTo>
                  <a:lnTo>
                    <a:pt x="14685263" y="0"/>
                  </a:lnTo>
                  <a:cubicBezTo>
                    <a:pt x="14786228" y="0"/>
                    <a:pt x="14868144" y="81915"/>
                    <a:pt x="14868144" y="182880"/>
                  </a:cubicBezTo>
                  <a:lnTo>
                    <a:pt x="14868144" y="2286000"/>
                  </a:lnTo>
                  <a:cubicBezTo>
                    <a:pt x="14868144" y="2386965"/>
                    <a:pt x="14786228" y="2468880"/>
                    <a:pt x="14685263" y="2468880"/>
                  </a:cubicBezTo>
                  <a:lnTo>
                    <a:pt x="182880" y="2468880"/>
                  </a:lnTo>
                  <a:cubicBezTo>
                    <a:pt x="81915" y="2468880"/>
                    <a:pt x="0" y="2386965"/>
                    <a:pt x="0" y="2286000"/>
                  </a:cubicBezTo>
                  <a:close/>
                </a:path>
              </a:pathLst>
            </a:custGeom>
            <a:solidFill>
              <a:srgbClr val="EAF8FA"/>
            </a:solidFill>
          </p:spPr>
          <p:txBody>
            <a:bodyPr/>
            <a:p/>
          </p:txBody>
        </p:sp>
      </p:grpSp>
      <p:grpSp>
        <p:nvGrpSpPr>
          <p:cNvPr name="Group 87" id="87"/>
          <p:cNvGrpSpPr/>
          <p:nvPr/>
        </p:nvGrpSpPr>
        <p:grpSpPr>
          <a:xfrm rot="0">
            <a:off x="6720840" y="4457700"/>
            <a:ext cx="10355580" cy="1851660"/>
            <a:chOff x="0" y="0"/>
            <a:chExt cx="13807440" cy="2468880"/>
          </a:xfrm>
        </p:grpSpPr>
        <p:sp>
          <p:nvSpPr>
            <p:cNvPr name="Freeform 88" id="88"/>
            <p:cNvSpPr/>
            <p:nvPr/>
          </p:nvSpPr>
          <p:spPr>
            <a:xfrm flipH="false" flipV="false" rot="0">
              <a:off x="0" y="0"/>
              <a:ext cx="13807439" cy="2468880"/>
            </a:xfrm>
            <a:custGeom>
              <a:avLst/>
              <a:gdLst/>
              <a:ahLst/>
              <a:cxnLst/>
              <a:rect r="r" b="b" t="t" l="l"/>
              <a:pathLst>
                <a:path h="2468880" w="13807439">
                  <a:moveTo>
                    <a:pt x="0" y="0"/>
                  </a:moveTo>
                  <a:lnTo>
                    <a:pt x="13807439" y="0"/>
                  </a:lnTo>
                  <a:lnTo>
                    <a:pt x="13807439" y="2468880"/>
                  </a:lnTo>
                  <a:lnTo>
                    <a:pt x="0" y="2468880"/>
                  </a:lnTo>
                  <a:close/>
                </a:path>
              </a:pathLst>
            </a:custGeom>
            <a:blipFill>
              <a:blip r:embed="rId4">
                <a:alphaModFix amt="0"/>
              </a:blip>
              <a:stretch>
                <a:fillRect l="0" t="-58896" r="0" b="-58896"/>
              </a:stretch>
            </a:blipFill>
          </p:spPr>
          <p:txBody>
            <a:bodyPr/>
            <a:p/>
          </p:txBody>
        </p:sp>
      </p:grpSp>
      <p:grpSp>
        <p:nvGrpSpPr>
          <p:cNvPr name="Group 89" id="89"/>
          <p:cNvGrpSpPr/>
          <p:nvPr/>
        </p:nvGrpSpPr>
        <p:grpSpPr>
          <a:xfrm rot="0">
            <a:off x="6720840" y="4429125"/>
            <a:ext cx="10355580" cy="1880235"/>
            <a:chOff x="0" y="0"/>
            <a:chExt cx="13807440" cy="2506980"/>
          </a:xfrm>
        </p:grpSpPr>
        <p:sp>
          <p:nvSpPr>
            <p:cNvPr name="Freeform 90" id="90"/>
            <p:cNvSpPr/>
            <p:nvPr/>
          </p:nvSpPr>
          <p:spPr>
            <a:xfrm flipH="false" flipV="false" rot="0">
              <a:off x="0" y="0"/>
              <a:ext cx="13807439" cy="2506980"/>
            </a:xfrm>
            <a:custGeom>
              <a:avLst/>
              <a:gdLst/>
              <a:ahLst/>
              <a:cxnLst/>
              <a:rect r="r" b="b" t="t" l="l"/>
              <a:pathLst>
                <a:path h="2506980" w="13807439">
                  <a:moveTo>
                    <a:pt x="0" y="0"/>
                  </a:moveTo>
                  <a:lnTo>
                    <a:pt x="13807439" y="0"/>
                  </a:lnTo>
                  <a:lnTo>
                    <a:pt x="13807439" y="2506980"/>
                  </a:lnTo>
                  <a:lnTo>
                    <a:pt x="0" y="2506980"/>
                  </a:lnTo>
                  <a:close/>
                </a:path>
              </a:pathLst>
            </a:custGeom>
            <a:blipFill>
              <a:blip r:embed="rId5">
                <a:alphaModFix amt="0"/>
              </a:blip>
              <a:stretch>
                <a:fillRect l="0" t="-57241" r="0" b="-57241"/>
              </a:stretch>
            </a:blipFill>
          </p:spPr>
          <p:txBody>
            <a:bodyPr/>
            <a:p/>
          </p:txBody>
        </p:sp>
      </p:grpSp>
      <p:grpSp>
        <p:nvGrpSpPr>
          <p:cNvPr name="Group 91" id="91"/>
          <p:cNvGrpSpPr/>
          <p:nvPr/>
        </p:nvGrpSpPr>
        <p:grpSpPr>
          <a:xfrm rot="0">
            <a:off x="6720840" y="4400550"/>
            <a:ext cx="10355580" cy="1908810"/>
            <a:chOff x="0" y="0"/>
            <a:chExt cx="13807440" cy="2545080"/>
          </a:xfrm>
        </p:grpSpPr>
        <p:sp>
          <p:nvSpPr>
            <p:cNvPr name="Freeform 92" id="92"/>
            <p:cNvSpPr/>
            <p:nvPr/>
          </p:nvSpPr>
          <p:spPr>
            <a:xfrm flipH="false" flipV="false" rot="0">
              <a:off x="0" y="0"/>
              <a:ext cx="13807439" cy="2545080"/>
            </a:xfrm>
            <a:custGeom>
              <a:avLst/>
              <a:gdLst/>
              <a:ahLst/>
              <a:cxnLst/>
              <a:rect r="r" b="b" t="t" l="l"/>
              <a:pathLst>
                <a:path h="2545080" w="13807439">
                  <a:moveTo>
                    <a:pt x="0" y="0"/>
                  </a:moveTo>
                  <a:lnTo>
                    <a:pt x="13807439" y="0"/>
                  </a:lnTo>
                  <a:lnTo>
                    <a:pt x="13807439" y="2545080"/>
                  </a:lnTo>
                  <a:lnTo>
                    <a:pt x="0" y="2545080"/>
                  </a:lnTo>
                  <a:close/>
                </a:path>
              </a:pathLst>
            </a:custGeom>
            <a:blipFill>
              <a:blip r:embed="rId6">
                <a:alphaModFix amt="0"/>
              </a:blip>
              <a:stretch>
                <a:fillRect l="0" t="-55709" r="0" b="-55709"/>
              </a:stretch>
            </a:blipFill>
          </p:spPr>
          <p:txBody>
            <a:bodyPr/>
            <a:p/>
          </p:txBody>
        </p:sp>
        <p:sp>
          <p:nvSpPr>
            <p:cNvPr name="TextBox 93" id="93"/>
            <p:cNvSpPr txBox="true"/>
            <p:nvPr/>
          </p:nvSpPr>
          <p:spPr>
            <a:xfrm>
              <a:off x="0" y="-38100"/>
              <a:ext cx="13807440" cy="2583180"/>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Struktur model valid dan perilakunya cukup baik per subsistem; kalibrasi tidak mengubah parameter apa pun. Tiga skenario: tidak ada yang unggul di semua dimensi, dan pola ini robust terhadap ketidakpastian parameter terbesar.</a:t>
              </a:r>
            </a:p>
          </p:txBody>
        </p:sp>
      </p:grpSp>
      <p:grpSp>
        <p:nvGrpSpPr>
          <p:cNvPr name="Group 94" id="94"/>
          <p:cNvGrpSpPr/>
          <p:nvPr/>
        </p:nvGrpSpPr>
        <p:grpSpPr>
          <a:xfrm rot="0">
            <a:off x="822960" y="6515100"/>
            <a:ext cx="4800600" cy="1851660"/>
            <a:chOff x="0" y="0"/>
            <a:chExt cx="6400800" cy="2468880"/>
          </a:xfrm>
        </p:grpSpPr>
        <p:sp>
          <p:nvSpPr>
            <p:cNvPr name="Freeform 95" id="95"/>
            <p:cNvSpPr/>
            <p:nvPr/>
          </p:nvSpPr>
          <p:spPr>
            <a:xfrm flipH="false" flipV="false" rot="0">
              <a:off x="0" y="0"/>
              <a:ext cx="6400800" cy="2468880"/>
            </a:xfrm>
            <a:custGeom>
              <a:avLst/>
              <a:gdLst/>
              <a:ahLst/>
              <a:cxnLst/>
              <a:rect r="r" b="b" t="t" l="l"/>
              <a:pathLst>
                <a:path h="2468880" w="6400800">
                  <a:moveTo>
                    <a:pt x="0" y="182880"/>
                  </a:moveTo>
                  <a:cubicBezTo>
                    <a:pt x="0" y="81915"/>
                    <a:pt x="81915" y="0"/>
                    <a:pt x="182880" y="0"/>
                  </a:cubicBezTo>
                  <a:lnTo>
                    <a:pt x="6217920" y="0"/>
                  </a:lnTo>
                  <a:cubicBezTo>
                    <a:pt x="6318885" y="0"/>
                    <a:pt x="6400800" y="81915"/>
                    <a:pt x="6400800" y="182880"/>
                  </a:cubicBezTo>
                  <a:lnTo>
                    <a:pt x="6400800" y="2286000"/>
                  </a:lnTo>
                  <a:cubicBezTo>
                    <a:pt x="6400800" y="2386965"/>
                    <a:pt x="6318885" y="2468880"/>
                    <a:pt x="6217920" y="2468880"/>
                  </a:cubicBezTo>
                  <a:lnTo>
                    <a:pt x="182880" y="2468880"/>
                  </a:lnTo>
                  <a:cubicBezTo>
                    <a:pt x="81915" y="2468880"/>
                    <a:pt x="0" y="2386965"/>
                    <a:pt x="0" y="2286000"/>
                  </a:cubicBezTo>
                  <a:close/>
                </a:path>
              </a:pathLst>
            </a:custGeom>
            <a:solidFill>
              <a:srgbClr val="0B5E6E"/>
            </a:solidFill>
          </p:spPr>
          <p:txBody>
            <a:bodyPr/>
            <a:p/>
          </p:txBody>
        </p:sp>
      </p:grpSp>
      <p:sp>
        <p:nvSpPr>
          <p:cNvPr name="TextBox 96" id="96"/>
          <p:cNvSpPr txBox="true"/>
          <p:nvPr/>
        </p:nvSpPr>
        <p:spPr>
          <a:xfrm rot="0">
            <a:off x="1165860" y="6675120"/>
            <a:ext cx="4114800" cy="525780"/>
          </a:xfrm>
          <a:prstGeom prst="rect">
            <a:avLst/>
          </a:prstGeom>
        </p:spPr>
        <p:txBody>
          <a:bodyPr anchor="t" rtlCol="false" tIns="0" lIns="0" bIns="0" rIns="0">
            <a:spAutoFit/>
          </a:bodyPr>
          <a:lstStyle/>
          <a:p>
            <a:pPr algn="l">
              <a:lnSpc>
                <a:spcPts val="2160"/>
              </a:lnSpc>
            </a:pPr>
            <a:r>
              <a:rPr lang="en-US" sz="1800" b="true">
                <a:solidFill>
                  <a:srgbClr val="FFD23B"/>
                </a:solidFill>
                <a:latin typeface="Calibri (MS) Bold"/>
                <a:ea typeface="Calibri (MS) Bold"/>
                <a:cs typeface="Calibri (MS) Bold"/>
                <a:sym typeface="Calibri (MS) Bold"/>
              </a:rPr>
              <a:t>Tujuan 3</a:t>
            </a:r>
          </a:p>
        </p:txBody>
      </p:sp>
      <p:sp>
        <p:nvSpPr>
          <p:cNvPr name="TextBox 97" id="97"/>
          <p:cNvSpPr txBox="true"/>
          <p:nvPr/>
        </p:nvSpPr>
        <p:spPr>
          <a:xfrm rot="0">
            <a:off x="1165860" y="7155180"/>
            <a:ext cx="4114800" cy="1074420"/>
          </a:xfrm>
          <a:prstGeom prst="rect">
            <a:avLst/>
          </a:prstGeom>
        </p:spPr>
        <p:txBody>
          <a:bodyPr anchor="t" rtlCol="false" tIns="0" lIns="0" bIns="0" rIns="0">
            <a:spAutoFit/>
          </a:bodyPr>
          <a:lstStyle/>
          <a:p>
            <a:pPr algn="l">
              <a:lnSpc>
                <a:spcPts val="2878"/>
              </a:lnSpc>
            </a:pPr>
            <a:r>
              <a:rPr lang="en-US" sz="2400" b="true">
                <a:solidFill>
                  <a:srgbClr val="FFFFFF"/>
                </a:solidFill>
                <a:latin typeface="Calibri (MS) Bold"/>
                <a:ea typeface="Calibri (MS) Bold"/>
                <a:cs typeface="Calibri (MS) Bold"/>
                <a:sym typeface="Calibri (MS) Bold"/>
              </a:rPr>
              <a:t>Aplikasi web</a:t>
            </a:r>
          </a:p>
        </p:txBody>
      </p:sp>
      <p:sp>
        <p:nvSpPr>
          <p:cNvPr name="AutoShape 98" id="98"/>
          <p:cNvSpPr/>
          <p:nvPr/>
        </p:nvSpPr>
        <p:spPr>
          <a:xfrm rot="99720">
            <a:off x="5637952" y="7400734"/>
            <a:ext cx="657015" cy="0"/>
          </a:xfrm>
          <a:prstGeom prst="line">
            <a:avLst/>
          </a:prstGeom>
          <a:ln cap="rnd" w="19050">
            <a:solidFill>
              <a:srgbClr val="39C0D3"/>
            </a:solidFill>
            <a:prstDash val="solid"/>
            <a:headEnd type="none" len="sm" w="sm"/>
            <a:tailEnd type="triangle" len="med" w="lg"/>
          </a:ln>
        </p:spPr>
        <p:txBody>
          <a:bodyPr/>
          <a:p/>
        </p:txBody>
      </p:sp>
      <p:grpSp>
        <p:nvGrpSpPr>
          <p:cNvPr name="Group 99" id="99"/>
          <p:cNvGrpSpPr/>
          <p:nvPr/>
        </p:nvGrpSpPr>
        <p:grpSpPr>
          <a:xfrm rot="0">
            <a:off x="6309360" y="6515100"/>
            <a:ext cx="11151108" cy="1851660"/>
            <a:chOff x="0" y="0"/>
            <a:chExt cx="14868144" cy="2468880"/>
          </a:xfrm>
        </p:grpSpPr>
        <p:sp>
          <p:nvSpPr>
            <p:cNvPr name="Freeform 100" id="100"/>
            <p:cNvSpPr/>
            <p:nvPr/>
          </p:nvSpPr>
          <p:spPr>
            <a:xfrm flipH="false" flipV="false" rot="0">
              <a:off x="0" y="0"/>
              <a:ext cx="14868144" cy="2468880"/>
            </a:xfrm>
            <a:custGeom>
              <a:avLst/>
              <a:gdLst/>
              <a:ahLst/>
              <a:cxnLst/>
              <a:rect r="r" b="b" t="t" l="l"/>
              <a:pathLst>
                <a:path h="2468880" w="14868144">
                  <a:moveTo>
                    <a:pt x="0" y="182880"/>
                  </a:moveTo>
                  <a:cubicBezTo>
                    <a:pt x="0" y="81915"/>
                    <a:pt x="81915" y="0"/>
                    <a:pt x="182880" y="0"/>
                  </a:cubicBezTo>
                  <a:lnTo>
                    <a:pt x="14685263" y="0"/>
                  </a:lnTo>
                  <a:cubicBezTo>
                    <a:pt x="14786228" y="0"/>
                    <a:pt x="14868144" y="81915"/>
                    <a:pt x="14868144" y="182880"/>
                  </a:cubicBezTo>
                  <a:lnTo>
                    <a:pt x="14868144" y="2286000"/>
                  </a:lnTo>
                  <a:cubicBezTo>
                    <a:pt x="14868144" y="2386965"/>
                    <a:pt x="14786228" y="2468880"/>
                    <a:pt x="14685263" y="2468880"/>
                  </a:cubicBezTo>
                  <a:lnTo>
                    <a:pt x="182880" y="2468880"/>
                  </a:lnTo>
                  <a:cubicBezTo>
                    <a:pt x="81915" y="2468880"/>
                    <a:pt x="0" y="2386965"/>
                    <a:pt x="0" y="2286000"/>
                  </a:cubicBezTo>
                  <a:close/>
                </a:path>
              </a:pathLst>
            </a:custGeom>
            <a:solidFill>
              <a:srgbClr val="EAF8FA"/>
            </a:solidFill>
          </p:spPr>
          <p:txBody>
            <a:bodyPr/>
            <a:p/>
          </p:txBody>
        </p:sp>
      </p:grpSp>
      <p:grpSp>
        <p:nvGrpSpPr>
          <p:cNvPr name="Group 101" id="101"/>
          <p:cNvGrpSpPr/>
          <p:nvPr/>
        </p:nvGrpSpPr>
        <p:grpSpPr>
          <a:xfrm rot="0">
            <a:off x="6720840" y="6515100"/>
            <a:ext cx="10355580" cy="1851660"/>
            <a:chOff x="0" y="0"/>
            <a:chExt cx="13807440" cy="2468880"/>
          </a:xfrm>
        </p:grpSpPr>
        <p:sp>
          <p:nvSpPr>
            <p:cNvPr name="Freeform 102" id="102"/>
            <p:cNvSpPr/>
            <p:nvPr/>
          </p:nvSpPr>
          <p:spPr>
            <a:xfrm flipH="false" flipV="false" rot="0">
              <a:off x="0" y="0"/>
              <a:ext cx="13807439" cy="2468880"/>
            </a:xfrm>
            <a:custGeom>
              <a:avLst/>
              <a:gdLst/>
              <a:ahLst/>
              <a:cxnLst/>
              <a:rect r="r" b="b" t="t" l="l"/>
              <a:pathLst>
                <a:path h="2468880" w="13807439">
                  <a:moveTo>
                    <a:pt x="0" y="0"/>
                  </a:moveTo>
                  <a:lnTo>
                    <a:pt x="13807439" y="0"/>
                  </a:lnTo>
                  <a:lnTo>
                    <a:pt x="13807439" y="2468880"/>
                  </a:lnTo>
                  <a:lnTo>
                    <a:pt x="0" y="2468880"/>
                  </a:lnTo>
                  <a:close/>
                </a:path>
              </a:pathLst>
            </a:custGeom>
            <a:blipFill>
              <a:blip r:embed="rId4">
                <a:alphaModFix amt="0"/>
              </a:blip>
              <a:stretch>
                <a:fillRect l="0" t="-58896" r="0" b="-58896"/>
              </a:stretch>
            </a:blipFill>
          </p:spPr>
          <p:txBody>
            <a:bodyPr/>
            <a:p/>
          </p:txBody>
        </p:sp>
      </p:grpSp>
      <p:grpSp>
        <p:nvGrpSpPr>
          <p:cNvPr name="Group 103" id="103"/>
          <p:cNvGrpSpPr/>
          <p:nvPr/>
        </p:nvGrpSpPr>
        <p:grpSpPr>
          <a:xfrm rot="0">
            <a:off x="6720840" y="6486525"/>
            <a:ext cx="10355580" cy="1880235"/>
            <a:chOff x="0" y="0"/>
            <a:chExt cx="13807440" cy="2506980"/>
          </a:xfrm>
        </p:grpSpPr>
        <p:sp>
          <p:nvSpPr>
            <p:cNvPr name="Freeform 104" id="104"/>
            <p:cNvSpPr/>
            <p:nvPr/>
          </p:nvSpPr>
          <p:spPr>
            <a:xfrm flipH="false" flipV="false" rot="0">
              <a:off x="0" y="0"/>
              <a:ext cx="13807439" cy="2506980"/>
            </a:xfrm>
            <a:custGeom>
              <a:avLst/>
              <a:gdLst/>
              <a:ahLst/>
              <a:cxnLst/>
              <a:rect r="r" b="b" t="t" l="l"/>
              <a:pathLst>
                <a:path h="2506980" w="13807439">
                  <a:moveTo>
                    <a:pt x="0" y="0"/>
                  </a:moveTo>
                  <a:lnTo>
                    <a:pt x="13807439" y="0"/>
                  </a:lnTo>
                  <a:lnTo>
                    <a:pt x="13807439" y="2506980"/>
                  </a:lnTo>
                  <a:lnTo>
                    <a:pt x="0" y="2506980"/>
                  </a:lnTo>
                  <a:close/>
                </a:path>
              </a:pathLst>
            </a:custGeom>
            <a:blipFill>
              <a:blip r:embed="rId5">
                <a:alphaModFix amt="0"/>
              </a:blip>
              <a:stretch>
                <a:fillRect l="0" t="-57241" r="0" b="-57241"/>
              </a:stretch>
            </a:blipFill>
          </p:spPr>
          <p:txBody>
            <a:bodyPr/>
            <a:p/>
          </p:txBody>
        </p:sp>
      </p:grpSp>
      <p:grpSp>
        <p:nvGrpSpPr>
          <p:cNvPr name="Group 105" id="105"/>
          <p:cNvGrpSpPr/>
          <p:nvPr/>
        </p:nvGrpSpPr>
        <p:grpSpPr>
          <a:xfrm rot="0">
            <a:off x="6720840" y="6457950"/>
            <a:ext cx="10355580" cy="1908810"/>
            <a:chOff x="0" y="0"/>
            <a:chExt cx="13807440" cy="2545080"/>
          </a:xfrm>
        </p:grpSpPr>
        <p:sp>
          <p:nvSpPr>
            <p:cNvPr name="Freeform 106" id="106"/>
            <p:cNvSpPr/>
            <p:nvPr/>
          </p:nvSpPr>
          <p:spPr>
            <a:xfrm flipH="false" flipV="false" rot="0">
              <a:off x="0" y="0"/>
              <a:ext cx="13807439" cy="2545080"/>
            </a:xfrm>
            <a:custGeom>
              <a:avLst/>
              <a:gdLst/>
              <a:ahLst/>
              <a:cxnLst/>
              <a:rect r="r" b="b" t="t" l="l"/>
              <a:pathLst>
                <a:path h="2545080" w="13807439">
                  <a:moveTo>
                    <a:pt x="0" y="0"/>
                  </a:moveTo>
                  <a:lnTo>
                    <a:pt x="13807439" y="0"/>
                  </a:lnTo>
                  <a:lnTo>
                    <a:pt x="13807439" y="2545080"/>
                  </a:lnTo>
                  <a:lnTo>
                    <a:pt x="0" y="2545080"/>
                  </a:lnTo>
                  <a:close/>
                </a:path>
              </a:pathLst>
            </a:custGeom>
            <a:blipFill>
              <a:blip r:embed="rId6">
                <a:alphaModFix amt="0"/>
              </a:blip>
              <a:stretch>
                <a:fillRect l="0" t="-55709" r="0" b="-55709"/>
              </a:stretch>
            </a:blipFill>
          </p:spPr>
          <p:txBody>
            <a:bodyPr/>
            <a:p/>
          </p:txBody>
        </p:sp>
        <p:sp>
          <p:nvSpPr>
            <p:cNvPr name="TextBox 107" id="107"/>
            <p:cNvSpPr txBox="true"/>
            <p:nvPr/>
          </p:nvSpPr>
          <p:spPr>
            <a:xfrm>
              <a:off x="0" y="-38100"/>
              <a:ext cx="13807440" cy="2583180"/>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Lulus pengujian fungsional pada seluruh fungsi utama (9/9) dengan skor SUS rata-rata 88,50.</a:t>
              </a:r>
            </a:p>
          </p:txBody>
        </p:sp>
      </p:grpSp>
      <p:grpSp>
        <p:nvGrpSpPr>
          <p:cNvPr name="Group 108" id="108"/>
          <p:cNvGrpSpPr/>
          <p:nvPr/>
        </p:nvGrpSpPr>
        <p:grpSpPr>
          <a:xfrm rot="0">
            <a:off x="822960" y="8641080"/>
            <a:ext cx="16637508" cy="685800"/>
            <a:chOff x="0" y="0"/>
            <a:chExt cx="22183344" cy="914400"/>
          </a:xfrm>
        </p:grpSpPr>
        <p:sp>
          <p:nvSpPr>
            <p:cNvPr name="Freeform 109" id="109"/>
            <p:cNvSpPr/>
            <p:nvPr/>
          </p:nvSpPr>
          <p:spPr>
            <a:xfrm flipH="false" flipV="false" rot="0">
              <a:off x="0" y="0"/>
              <a:ext cx="22183344" cy="914400"/>
            </a:xfrm>
            <a:custGeom>
              <a:avLst/>
              <a:gdLst/>
              <a:ahLst/>
              <a:cxnLst/>
              <a:rect r="r" b="b" t="t" l="l"/>
              <a:pathLst>
                <a:path h="914400" w="22183344">
                  <a:moveTo>
                    <a:pt x="0" y="182880"/>
                  </a:moveTo>
                  <a:cubicBezTo>
                    <a:pt x="0" y="81915"/>
                    <a:pt x="81915" y="0"/>
                    <a:pt x="182880" y="0"/>
                  </a:cubicBezTo>
                  <a:lnTo>
                    <a:pt x="22000463" y="0"/>
                  </a:lnTo>
                  <a:cubicBezTo>
                    <a:pt x="22101428" y="0"/>
                    <a:pt x="22183344" y="81915"/>
                    <a:pt x="22183344" y="182880"/>
                  </a:cubicBezTo>
                  <a:lnTo>
                    <a:pt x="22183344" y="731520"/>
                  </a:lnTo>
                  <a:cubicBezTo>
                    <a:pt x="22183344" y="832485"/>
                    <a:pt x="22101428" y="914400"/>
                    <a:pt x="22000463" y="914400"/>
                  </a:cubicBezTo>
                  <a:lnTo>
                    <a:pt x="182880" y="914400"/>
                  </a:lnTo>
                  <a:cubicBezTo>
                    <a:pt x="81915" y="914400"/>
                    <a:pt x="0" y="832485"/>
                    <a:pt x="0" y="731520"/>
                  </a:cubicBezTo>
                  <a:close/>
                </a:path>
              </a:pathLst>
            </a:custGeom>
            <a:solidFill>
              <a:srgbClr val="FFF1BF"/>
            </a:solidFill>
          </p:spPr>
          <p:txBody>
            <a:bodyPr/>
            <a:p/>
          </p:txBody>
        </p:sp>
      </p:grpSp>
      <p:grpSp>
        <p:nvGrpSpPr>
          <p:cNvPr name="Group 110" id="110"/>
          <p:cNvGrpSpPr/>
          <p:nvPr/>
        </p:nvGrpSpPr>
        <p:grpSpPr>
          <a:xfrm rot="0">
            <a:off x="1234440" y="8641080"/>
            <a:ext cx="15814548" cy="685800"/>
            <a:chOff x="0" y="0"/>
            <a:chExt cx="21086064" cy="914400"/>
          </a:xfrm>
        </p:grpSpPr>
        <p:sp>
          <p:nvSpPr>
            <p:cNvPr name="Freeform 111" id="111"/>
            <p:cNvSpPr/>
            <p:nvPr/>
          </p:nvSpPr>
          <p:spPr>
            <a:xfrm flipH="false" flipV="false" rot="0">
              <a:off x="0" y="0"/>
              <a:ext cx="21086063" cy="914400"/>
            </a:xfrm>
            <a:custGeom>
              <a:avLst/>
              <a:gdLst/>
              <a:ahLst/>
              <a:cxnLst/>
              <a:rect r="r" b="b" t="t" l="l"/>
              <a:pathLst>
                <a:path h="914400" w="21086063">
                  <a:moveTo>
                    <a:pt x="0" y="0"/>
                  </a:moveTo>
                  <a:lnTo>
                    <a:pt x="21086063" y="0"/>
                  </a:lnTo>
                  <a:lnTo>
                    <a:pt x="21086063" y="914400"/>
                  </a:lnTo>
                  <a:lnTo>
                    <a:pt x="0" y="914400"/>
                  </a:lnTo>
                  <a:close/>
                </a:path>
              </a:pathLst>
            </a:custGeom>
            <a:blipFill>
              <a:blip r:embed="rId4">
                <a:alphaModFix amt="0"/>
              </a:blip>
              <a:stretch>
                <a:fillRect l="0" t="-399012" r="0" b="-399012"/>
              </a:stretch>
            </a:blipFill>
          </p:spPr>
          <p:txBody>
            <a:bodyPr/>
            <a:p/>
          </p:txBody>
        </p:sp>
      </p:grpSp>
      <p:grpSp>
        <p:nvGrpSpPr>
          <p:cNvPr name="Group 112" id="112"/>
          <p:cNvGrpSpPr/>
          <p:nvPr/>
        </p:nvGrpSpPr>
        <p:grpSpPr>
          <a:xfrm rot="0">
            <a:off x="1234440" y="8612505"/>
            <a:ext cx="15814548" cy="714375"/>
            <a:chOff x="0" y="0"/>
            <a:chExt cx="21086064" cy="952500"/>
          </a:xfrm>
        </p:grpSpPr>
        <p:sp>
          <p:nvSpPr>
            <p:cNvPr name="Freeform 113" id="113"/>
            <p:cNvSpPr/>
            <p:nvPr/>
          </p:nvSpPr>
          <p:spPr>
            <a:xfrm flipH="false" flipV="false" rot="0">
              <a:off x="0" y="0"/>
              <a:ext cx="21086063" cy="952500"/>
            </a:xfrm>
            <a:custGeom>
              <a:avLst/>
              <a:gdLst/>
              <a:ahLst/>
              <a:cxnLst/>
              <a:rect r="r" b="b" t="t" l="l"/>
              <a:pathLst>
                <a:path h="952500" w="21086063">
                  <a:moveTo>
                    <a:pt x="0" y="0"/>
                  </a:moveTo>
                  <a:lnTo>
                    <a:pt x="21086063" y="0"/>
                  </a:lnTo>
                  <a:lnTo>
                    <a:pt x="21086063" y="952500"/>
                  </a:lnTo>
                  <a:lnTo>
                    <a:pt x="0" y="952500"/>
                  </a:lnTo>
                  <a:close/>
                </a:path>
              </a:pathLst>
            </a:custGeom>
            <a:blipFill>
              <a:blip r:embed="rId5">
                <a:alphaModFix amt="0"/>
              </a:blip>
              <a:stretch>
                <a:fillRect l="0" t="-381052" r="0" b="-381052"/>
              </a:stretch>
            </a:blipFill>
          </p:spPr>
          <p:txBody>
            <a:bodyPr/>
            <a:p/>
          </p:txBody>
        </p:sp>
      </p:grpSp>
      <p:grpSp>
        <p:nvGrpSpPr>
          <p:cNvPr name="Group 114" id="114"/>
          <p:cNvGrpSpPr/>
          <p:nvPr/>
        </p:nvGrpSpPr>
        <p:grpSpPr>
          <a:xfrm rot="0">
            <a:off x="1234440" y="8583930"/>
            <a:ext cx="15814548" cy="742950"/>
            <a:chOff x="0" y="0"/>
            <a:chExt cx="21086064" cy="990600"/>
          </a:xfrm>
        </p:grpSpPr>
        <p:sp>
          <p:nvSpPr>
            <p:cNvPr name="Freeform 115" id="115"/>
            <p:cNvSpPr/>
            <p:nvPr/>
          </p:nvSpPr>
          <p:spPr>
            <a:xfrm flipH="false" flipV="false" rot="0">
              <a:off x="0" y="0"/>
              <a:ext cx="21086065" cy="990600"/>
            </a:xfrm>
            <a:custGeom>
              <a:avLst/>
              <a:gdLst/>
              <a:ahLst/>
              <a:cxnLst/>
              <a:rect r="r" b="b" t="t" l="l"/>
              <a:pathLst>
                <a:path h="990600" w="21086065">
                  <a:moveTo>
                    <a:pt x="0" y="0"/>
                  </a:moveTo>
                  <a:lnTo>
                    <a:pt x="21086065" y="0"/>
                  </a:lnTo>
                  <a:lnTo>
                    <a:pt x="21086065" y="990600"/>
                  </a:lnTo>
                  <a:lnTo>
                    <a:pt x="0" y="990600"/>
                  </a:lnTo>
                  <a:close/>
                </a:path>
              </a:pathLst>
            </a:custGeom>
            <a:blipFill>
              <a:blip r:embed="rId6">
                <a:alphaModFix amt="0"/>
              </a:blip>
              <a:stretch>
                <a:fillRect l="0" t="-364761" r="0" b="-364761"/>
              </a:stretch>
            </a:blipFill>
          </p:spPr>
          <p:txBody>
            <a:bodyPr/>
            <a:p/>
          </p:txBody>
        </p:sp>
        <p:sp>
          <p:nvSpPr>
            <p:cNvPr name="TextBox 116" id="116"/>
            <p:cNvSpPr txBox="true"/>
            <p:nvPr/>
          </p:nvSpPr>
          <p:spPr>
            <a:xfrm>
              <a:off x="0" y="-38100"/>
              <a:ext cx="21086064" cy="1028700"/>
            </a:xfrm>
            <a:prstGeom prst="rect">
              <a:avLst/>
            </a:prstGeom>
          </p:spPr>
          <p:txBody>
            <a:bodyPr anchor="ctr" rtlCol="false" tIns="0" lIns="0" bIns="0" rIns="0"/>
            <a:lstStyle/>
            <a:p>
              <a:pPr algn="l">
                <a:lnSpc>
                  <a:spcPts val="2430"/>
                </a:lnSpc>
              </a:pPr>
              <a:r>
                <a:rPr lang="en-US" sz="2025" b="true">
                  <a:solidFill>
                    <a:srgbClr val="0B5E6E"/>
                  </a:solidFill>
                  <a:latin typeface="Calibri (MS) Bold"/>
                  <a:ea typeface="Calibri (MS) Bold"/>
                  <a:cs typeface="Calibri (MS) Bold"/>
                  <a:sym typeface="Calibri (MS) Bold"/>
                </a:rPr>
                <a:t>Model yang sudah divalidasi mampu membandingkan skenario kebijakan secara kuantitatif beserta tingkat robustness-nya.</a:t>
              </a:r>
            </a:p>
          </p:txBody>
        </p:sp>
      </p:grpSp>
      <p:sp>
        <p:nvSpPr>
          <p:cNvPr name="TextBox 117" id="117"/>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74</a:t>
            </a:r>
          </a:p>
        </p:txBody>
      </p:sp>
      <p:grpSp>
        <p:nvGrpSpPr>
          <p:cNvPr name="Group 118" id="118"/>
          <p:cNvGrpSpPr/>
          <p:nvPr/>
        </p:nvGrpSpPr>
        <p:grpSpPr>
          <a:xfrm rot="0">
            <a:off x="16047720" y="9646920"/>
            <a:ext cx="420624" cy="420624"/>
            <a:chOff x="0" y="0"/>
            <a:chExt cx="560832" cy="560832"/>
          </a:xfrm>
        </p:grpSpPr>
        <p:sp>
          <p:nvSpPr>
            <p:cNvPr name="Freeform 119" id="119"/>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20" id="120"/>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7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Saran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Saran untuk penelitian dan pengembangan selanjutnya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Penutup</a:t>
              </a:r>
            </a:p>
          </p:txBody>
        </p:sp>
      </p:grpSp>
      <p:sp>
        <p:nvSpPr>
          <p:cNvPr name="Freeform 66" id="66"/>
          <p:cNvSpPr/>
          <p:nvPr/>
        </p:nvSpPr>
        <p:spPr>
          <a:xfrm flipH="false" flipV="false" rot="0">
            <a:off x="806291"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7">
              <a:extLst>
                <a:ext uri="{96DAC541-7B7A-43D3-8B79-37D633B846F1}">
                  <asvg:svgBlip xmlns:asvg="http://schemas.microsoft.com/office/drawing/2016/SVG/main" r:embed="rId8"/>
                </a:ext>
              </a:extLst>
            </a:blip>
            <a:stretch>
              <a:fillRect l="0" t="-57" r="0" b="-57"/>
            </a:stretch>
          </a:blipFill>
        </p:spPr>
        <p:txBody>
          <a:bodyPr/>
          <a:p/>
        </p:txBody>
      </p:sp>
      <p:grpSp>
        <p:nvGrpSpPr>
          <p:cNvPr name="Group 67" id="67"/>
          <p:cNvGrpSpPr/>
          <p:nvPr/>
        </p:nvGrpSpPr>
        <p:grpSpPr>
          <a:xfrm rot="0">
            <a:off x="1165860" y="2633472"/>
            <a:ext cx="685800" cy="685800"/>
            <a:chOff x="0" y="0"/>
            <a:chExt cx="914400" cy="914400"/>
          </a:xfrm>
        </p:grpSpPr>
        <p:sp>
          <p:nvSpPr>
            <p:cNvPr name="Freeform 68" id="6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69" id="69"/>
          <p:cNvGrpSpPr/>
          <p:nvPr/>
        </p:nvGrpSpPr>
        <p:grpSpPr>
          <a:xfrm rot="0">
            <a:off x="1165860" y="2633472"/>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71" id="71"/>
          <p:cNvGrpSpPr/>
          <p:nvPr/>
        </p:nvGrpSpPr>
        <p:grpSpPr>
          <a:xfrm rot="0">
            <a:off x="1165860" y="2604897"/>
            <a:ext cx="685800" cy="714375"/>
            <a:chOff x="0" y="0"/>
            <a:chExt cx="914400" cy="952500"/>
          </a:xfrm>
        </p:grpSpPr>
        <p:sp>
          <p:nvSpPr>
            <p:cNvPr name="Freeform 72" id="72"/>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73" id="73"/>
          <p:cNvGrpSpPr/>
          <p:nvPr/>
        </p:nvGrpSpPr>
        <p:grpSpPr>
          <a:xfrm rot="0">
            <a:off x="1165860" y="2576322"/>
            <a:ext cx="685800" cy="742950"/>
            <a:chOff x="0" y="0"/>
            <a:chExt cx="914400" cy="990600"/>
          </a:xfrm>
        </p:grpSpPr>
        <p:sp>
          <p:nvSpPr>
            <p:cNvPr name="Freeform 74" id="74"/>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75" id="75"/>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76" id="76"/>
          <p:cNvGrpSpPr/>
          <p:nvPr/>
        </p:nvGrpSpPr>
        <p:grpSpPr>
          <a:xfrm rot="0">
            <a:off x="2125980" y="2633472"/>
            <a:ext cx="6583680" cy="685800"/>
            <a:chOff x="0" y="0"/>
            <a:chExt cx="8778240" cy="914400"/>
          </a:xfrm>
        </p:grpSpPr>
        <p:sp>
          <p:nvSpPr>
            <p:cNvPr name="Freeform 77" id="77"/>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txBody>
            <a:bodyPr/>
            <a:p/>
          </p:txBody>
        </p:sp>
      </p:grpSp>
      <p:grpSp>
        <p:nvGrpSpPr>
          <p:cNvPr name="Group 78" id="78"/>
          <p:cNvGrpSpPr/>
          <p:nvPr/>
        </p:nvGrpSpPr>
        <p:grpSpPr>
          <a:xfrm rot="0">
            <a:off x="2125980" y="2604897"/>
            <a:ext cx="6583680" cy="714375"/>
            <a:chOff x="0" y="0"/>
            <a:chExt cx="8778240" cy="952500"/>
          </a:xfrm>
        </p:grpSpPr>
        <p:sp>
          <p:nvSpPr>
            <p:cNvPr name="Freeform 79" id="79"/>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449" r="0" b="-129449"/>
              </a:stretch>
            </a:blipFill>
          </p:spPr>
          <p:txBody>
            <a:bodyPr/>
            <a:p/>
          </p:txBody>
        </p:sp>
      </p:grpSp>
      <p:grpSp>
        <p:nvGrpSpPr>
          <p:cNvPr name="Group 80" id="80"/>
          <p:cNvGrpSpPr/>
          <p:nvPr/>
        </p:nvGrpSpPr>
        <p:grpSpPr>
          <a:xfrm rot="0">
            <a:off x="2125980" y="2576322"/>
            <a:ext cx="6583680" cy="742950"/>
            <a:chOff x="0" y="0"/>
            <a:chExt cx="8778240" cy="990600"/>
          </a:xfrm>
        </p:grpSpPr>
        <p:sp>
          <p:nvSpPr>
            <p:cNvPr name="Freeform 81" id="81"/>
            <p:cNvSpPr/>
            <p:nvPr/>
          </p:nvSpPr>
          <p:spPr>
            <a:xfrm flipH="false" flipV="false" rot="0">
              <a:off x="0" y="0"/>
              <a:ext cx="8778240" cy="990600"/>
            </a:xfrm>
            <a:custGeom>
              <a:avLst/>
              <a:gdLst/>
              <a:ahLst/>
              <a:cxnLst/>
              <a:rect r="r" b="b" t="t" l="l"/>
              <a:pathLst>
                <a:path h="990600" w="8778240">
                  <a:moveTo>
                    <a:pt x="0" y="0"/>
                  </a:moveTo>
                  <a:lnTo>
                    <a:pt x="8778240" y="0"/>
                  </a:lnTo>
                  <a:lnTo>
                    <a:pt x="8778240" y="990600"/>
                  </a:lnTo>
                  <a:lnTo>
                    <a:pt x="0" y="990600"/>
                  </a:lnTo>
                  <a:close/>
                </a:path>
              </a:pathLst>
            </a:custGeom>
            <a:blipFill>
              <a:blip r:embed="rId6">
                <a:alphaModFix amt="0"/>
              </a:blip>
              <a:stretch>
                <a:fillRect l="0" t="-122667" r="0" b="-122667"/>
              </a:stretch>
            </a:blipFill>
          </p:spPr>
          <p:txBody>
            <a:bodyPr/>
            <a:p/>
          </p:txBody>
        </p:sp>
        <p:sp>
          <p:nvSpPr>
            <p:cNvPr name="TextBox 82" id="82"/>
            <p:cNvSpPr txBox="true"/>
            <p:nvPr/>
          </p:nvSpPr>
          <p:spPr>
            <a:xfrm>
              <a:off x="0" y="-38100"/>
              <a:ext cx="8778240" cy="10287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Penelitian lanjutan</a:t>
              </a:r>
            </a:p>
          </p:txBody>
        </p:sp>
      </p:grpSp>
      <p:sp>
        <p:nvSpPr>
          <p:cNvPr name="TextBox 83" id="83"/>
          <p:cNvSpPr txBox="true"/>
          <p:nvPr/>
        </p:nvSpPr>
        <p:spPr>
          <a:xfrm rot="0">
            <a:off x="1234440" y="3423285"/>
            <a:ext cx="7406640" cy="12763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Perkuat dasar data untuk parameter yang ditentukan peneliti, terutama rasio laju penurunan/pertumbuhan wisatawan dan batas kepadatan, melalui survei primer (niat berkunjung kembali, daya dukung sosial) di destinasi utama DIY.</a:t>
            </a:r>
          </a:p>
        </p:txBody>
      </p:sp>
      <p:sp>
        <p:nvSpPr>
          <p:cNvPr name="Freeform 84" id="84"/>
          <p:cNvSpPr/>
          <p:nvPr/>
        </p:nvSpPr>
        <p:spPr>
          <a:xfrm flipH="false" flipV="false" rot="0">
            <a:off x="9282779"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7">
              <a:extLst>
                <a:ext uri="{96DAC541-7B7A-43D3-8B79-37D633B846F1}">
                  <asvg:svgBlip xmlns:asvg="http://schemas.microsoft.com/office/drawing/2016/SVG/main" r:embed="rId8"/>
                </a:ext>
              </a:extLst>
            </a:blip>
            <a:stretch>
              <a:fillRect l="0" t="-57" r="0" b="-57"/>
            </a:stretch>
          </a:blipFill>
        </p:spPr>
        <p:txBody>
          <a:bodyPr/>
          <a:p/>
        </p:txBody>
      </p:sp>
      <p:grpSp>
        <p:nvGrpSpPr>
          <p:cNvPr name="Group 85" id="85"/>
          <p:cNvGrpSpPr/>
          <p:nvPr/>
        </p:nvGrpSpPr>
        <p:grpSpPr>
          <a:xfrm rot="0">
            <a:off x="9642348" y="2633472"/>
            <a:ext cx="685800" cy="685800"/>
            <a:chOff x="0" y="0"/>
            <a:chExt cx="914400" cy="914400"/>
          </a:xfrm>
        </p:grpSpPr>
        <p:sp>
          <p:nvSpPr>
            <p:cNvPr name="Freeform 86" id="8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87" id="87"/>
          <p:cNvGrpSpPr/>
          <p:nvPr/>
        </p:nvGrpSpPr>
        <p:grpSpPr>
          <a:xfrm rot="0">
            <a:off x="9642348" y="2633472"/>
            <a:ext cx="685800" cy="685800"/>
            <a:chOff x="0" y="0"/>
            <a:chExt cx="914400" cy="914400"/>
          </a:xfrm>
        </p:grpSpPr>
        <p:sp>
          <p:nvSpPr>
            <p:cNvPr name="Freeform 88" id="8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89" id="89"/>
          <p:cNvGrpSpPr/>
          <p:nvPr/>
        </p:nvGrpSpPr>
        <p:grpSpPr>
          <a:xfrm rot="0">
            <a:off x="9642348" y="2604897"/>
            <a:ext cx="685800" cy="714375"/>
            <a:chOff x="0" y="0"/>
            <a:chExt cx="914400" cy="952500"/>
          </a:xfrm>
        </p:grpSpPr>
        <p:sp>
          <p:nvSpPr>
            <p:cNvPr name="Freeform 90" id="90"/>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91" id="91"/>
          <p:cNvGrpSpPr/>
          <p:nvPr/>
        </p:nvGrpSpPr>
        <p:grpSpPr>
          <a:xfrm rot="0">
            <a:off x="9642348" y="2576322"/>
            <a:ext cx="685800" cy="742950"/>
            <a:chOff x="0" y="0"/>
            <a:chExt cx="914400" cy="990600"/>
          </a:xfrm>
        </p:grpSpPr>
        <p:sp>
          <p:nvSpPr>
            <p:cNvPr name="Freeform 92" id="92"/>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93" id="93"/>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94" id="94"/>
          <p:cNvGrpSpPr/>
          <p:nvPr/>
        </p:nvGrpSpPr>
        <p:grpSpPr>
          <a:xfrm rot="0">
            <a:off x="10602468" y="2633472"/>
            <a:ext cx="6583680" cy="685800"/>
            <a:chOff x="0" y="0"/>
            <a:chExt cx="8778240" cy="914400"/>
          </a:xfrm>
        </p:grpSpPr>
        <p:sp>
          <p:nvSpPr>
            <p:cNvPr name="Freeform 95" id="95"/>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txBody>
            <a:bodyPr/>
            <a:p/>
          </p:txBody>
        </p:sp>
      </p:grpSp>
      <p:grpSp>
        <p:nvGrpSpPr>
          <p:cNvPr name="Group 96" id="96"/>
          <p:cNvGrpSpPr/>
          <p:nvPr/>
        </p:nvGrpSpPr>
        <p:grpSpPr>
          <a:xfrm rot="0">
            <a:off x="10602468" y="2604897"/>
            <a:ext cx="6583680" cy="714375"/>
            <a:chOff x="0" y="0"/>
            <a:chExt cx="8778240" cy="952500"/>
          </a:xfrm>
        </p:grpSpPr>
        <p:sp>
          <p:nvSpPr>
            <p:cNvPr name="Freeform 97" id="97"/>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449" r="0" b="-129449"/>
              </a:stretch>
            </a:blipFill>
          </p:spPr>
          <p:txBody>
            <a:bodyPr/>
            <a:p/>
          </p:txBody>
        </p:sp>
      </p:grpSp>
      <p:grpSp>
        <p:nvGrpSpPr>
          <p:cNvPr name="Group 98" id="98"/>
          <p:cNvGrpSpPr/>
          <p:nvPr/>
        </p:nvGrpSpPr>
        <p:grpSpPr>
          <a:xfrm rot="0">
            <a:off x="10602468" y="2576322"/>
            <a:ext cx="6583680" cy="742950"/>
            <a:chOff x="0" y="0"/>
            <a:chExt cx="8778240" cy="990600"/>
          </a:xfrm>
        </p:grpSpPr>
        <p:sp>
          <p:nvSpPr>
            <p:cNvPr name="Freeform 99" id="99"/>
            <p:cNvSpPr/>
            <p:nvPr/>
          </p:nvSpPr>
          <p:spPr>
            <a:xfrm flipH="false" flipV="false" rot="0">
              <a:off x="0" y="0"/>
              <a:ext cx="8778240" cy="990600"/>
            </a:xfrm>
            <a:custGeom>
              <a:avLst/>
              <a:gdLst/>
              <a:ahLst/>
              <a:cxnLst/>
              <a:rect r="r" b="b" t="t" l="l"/>
              <a:pathLst>
                <a:path h="990600" w="8778240">
                  <a:moveTo>
                    <a:pt x="0" y="0"/>
                  </a:moveTo>
                  <a:lnTo>
                    <a:pt x="8778240" y="0"/>
                  </a:lnTo>
                  <a:lnTo>
                    <a:pt x="8778240" y="990600"/>
                  </a:lnTo>
                  <a:lnTo>
                    <a:pt x="0" y="990600"/>
                  </a:lnTo>
                  <a:close/>
                </a:path>
              </a:pathLst>
            </a:custGeom>
            <a:blipFill>
              <a:blip r:embed="rId6">
                <a:alphaModFix amt="0"/>
              </a:blip>
              <a:stretch>
                <a:fillRect l="0" t="-122667" r="0" b="-122667"/>
              </a:stretch>
            </a:blipFill>
          </p:spPr>
          <p:txBody>
            <a:bodyPr/>
            <a:p/>
          </p:txBody>
        </p:sp>
        <p:sp>
          <p:nvSpPr>
            <p:cNvPr name="TextBox 100" id="100"/>
            <p:cNvSpPr txBox="true"/>
            <p:nvPr/>
          </p:nvSpPr>
          <p:spPr>
            <a:xfrm>
              <a:off x="0" y="-38100"/>
              <a:ext cx="8778240" cy="10287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Pengembangan model</a:t>
              </a:r>
            </a:p>
          </p:txBody>
        </p:sp>
      </p:grpSp>
      <p:sp>
        <p:nvSpPr>
          <p:cNvPr name="TextBox 101" id="101"/>
          <p:cNvSpPr txBox="true"/>
          <p:nvPr/>
        </p:nvSpPr>
        <p:spPr>
          <a:xfrm rot="0">
            <a:off x="9710928" y="3423285"/>
            <a:ext cx="7406640" cy="2200275"/>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Tambahkan shock eksternal (mis. pandemi); pisahkan data pembangunan ODTW menurut sumber pembiayaan bersama Dinas Pariwisata dan Bappeda DIY; cek ulang Dynamic World pada tahun dengan noise tertinggi.</a:t>
            </a:r>
          </a:p>
        </p:txBody>
      </p:sp>
      <p:sp>
        <p:nvSpPr>
          <p:cNvPr name="Freeform 102" id="102"/>
          <p:cNvSpPr/>
          <p:nvPr/>
        </p:nvSpPr>
        <p:spPr>
          <a:xfrm flipH="false" flipV="false" rot="0">
            <a:off x="806291"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7">
              <a:extLst>
                <a:ext uri="{96DAC541-7B7A-43D3-8B79-37D633B846F1}">
                  <asvg:svgBlip xmlns:asvg="http://schemas.microsoft.com/office/drawing/2016/SVG/main" r:embed="rId8"/>
                </a:ext>
              </a:extLst>
            </a:blip>
            <a:stretch>
              <a:fillRect l="0" t="-57" r="0" b="-57"/>
            </a:stretch>
          </a:blipFill>
        </p:spPr>
        <p:txBody>
          <a:bodyPr/>
          <a:p/>
        </p:txBody>
      </p:sp>
      <p:grpSp>
        <p:nvGrpSpPr>
          <p:cNvPr name="Group 103" id="103"/>
          <p:cNvGrpSpPr/>
          <p:nvPr/>
        </p:nvGrpSpPr>
        <p:grpSpPr>
          <a:xfrm rot="0">
            <a:off x="1165860" y="6199632"/>
            <a:ext cx="685800" cy="685800"/>
            <a:chOff x="0" y="0"/>
            <a:chExt cx="914400" cy="914400"/>
          </a:xfrm>
        </p:grpSpPr>
        <p:sp>
          <p:nvSpPr>
            <p:cNvPr name="Freeform 104" id="10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105" id="105"/>
          <p:cNvGrpSpPr/>
          <p:nvPr/>
        </p:nvGrpSpPr>
        <p:grpSpPr>
          <a:xfrm rot="0">
            <a:off x="1165860" y="6199632"/>
            <a:ext cx="685800" cy="685800"/>
            <a:chOff x="0" y="0"/>
            <a:chExt cx="914400" cy="914400"/>
          </a:xfrm>
        </p:grpSpPr>
        <p:sp>
          <p:nvSpPr>
            <p:cNvPr name="Freeform 106" id="10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107" id="107"/>
          <p:cNvGrpSpPr/>
          <p:nvPr/>
        </p:nvGrpSpPr>
        <p:grpSpPr>
          <a:xfrm rot="0">
            <a:off x="1165860" y="6171057"/>
            <a:ext cx="685800" cy="714375"/>
            <a:chOff x="0" y="0"/>
            <a:chExt cx="914400" cy="952500"/>
          </a:xfrm>
        </p:grpSpPr>
        <p:sp>
          <p:nvSpPr>
            <p:cNvPr name="Freeform 108" id="10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109" id="109"/>
          <p:cNvGrpSpPr/>
          <p:nvPr/>
        </p:nvGrpSpPr>
        <p:grpSpPr>
          <a:xfrm rot="0">
            <a:off x="1165860" y="6142482"/>
            <a:ext cx="685800" cy="742950"/>
            <a:chOff x="0" y="0"/>
            <a:chExt cx="914400" cy="990600"/>
          </a:xfrm>
        </p:grpSpPr>
        <p:sp>
          <p:nvSpPr>
            <p:cNvPr name="Freeform 110" id="110"/>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111" id="111"/>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112" id="112"/>
          <p:cNvGrpSpPr/>
          <p:nvPr/>
        </p:nvGrpSpPr>
        <p:grpSpPr>
          <a:xfrm rot="0">
            <a:off x="2125980" y="6199632"/>
            <a:ext cx="6583680" cy="685800"/>
            <a:chOff x="0" y="0"/>
            <a:chExt cx="8778240" cy="914400"/>
          </a:xfrm>
        </p:grpSpPr>
        <p:sp>
          <p:nvSpPr>
            <p:cNvPr name="Freeform 113" id="113"/>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txBody>
            <a:bodyPr/>
            <a:p/>
          </p:txBody>
        </p:sp>
      </p:grpSp>
      <p:grpSp>
        <p:nvGrpSpPr>
          <p:cNvPr name="Group 114" id="114"/>
          <p:cNvGrpSpPr/>
          <p:nvPr/>
        </p:nvGrpSpPr>
        <p:grpSpPr>
          <a:xfrm rot="0">
            <a:off x="2125980" y="6171057"/>
            <a:ext cx="6583680" cy="714375"/>
            <a:chOff x="0" y="0"/>
            <a:chExt cx="8778240" cy="952500"/>
          </a:xfrm>
        </p:grpSpPr>
        <p:sp>
          <p:nvSpPr>
            <p:cNvPr name="Freeform 115" id="115"/>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449" r="0" b="-129449"/>
              </a:stretch>
            </a:blipFill>
          </p:spPr>
          <p:txBody>
            <a:bodyPr/>
            <a:p/>
          </p:txBody>
        </p:sp>
      </p:grpSp>
      <p:grpSp>
        <p:nvGrpSpPr>
          <p:cNvPr name="Group 116" id="116"/>
          <p:cNvGrpSpPr/>
          <p:nvPr/>
        </p:nvGrpSpPr>
        <p:grpSpPr>
          <a:xfrm rot="0">
            <a:off x="2125980" y="6142482"/>
            <a:ext cx="6583680" cy="742950"/>
            <a:chOff x="0" y="0"/>
            <a:chExt cx="8778240" cy="990600"/>
          </a:xfrm>
        </p:grpSpPr>
        <p:sp>
          <p:nvSpPr>
            <p:cNvPr name="Freeform 117" id="117"/>
            <p:cNvSpPr/>
            <p:nvPr/>
          </p:nvSpPr>
          <p:spPr>
            <a:xfrm flipH="false" flipV="false" rot="0">
              <a:off x="0" y="0"/>
              <a:ext cx="8778240" cy="990600"/>
            </a:xfrm>
            <a:custGeom>
              <a:avLst/>
              <a:gdLst/>
              <a:ahLst/>
              <a:cxnLst/>
              <a:rect r="r" b="b" t="t" l="l"/>
              <a:pathLst>
                <a:path h="990600" w="8778240">
                  <a:moveTo>
                    <a:pt x="0" y="0"/>
                  </a:moveTo>
                  <a:lnTo>
                    <a:pt x="8778240" y="0"/>
                  </a:lnTo>
                  <a:lnTo>
                    <a:pt x="8778240" y="990600"/>
                  </a:lnTo>
                  <a:lnTo>
                    <a:pt x="0" y="990600"/>
                  </a:lnTo>
                  <a:close/>
                </a:path>
              </a:pathLst>
            </a:custGeom>
            <a:blipFill>
              <a:blip r:embed="rId6">
                <a:alphaModFix amt="0"/>
              </a:blip>
              <a:stretch>
                <a:fillRect l="0" t="-122667" r="0" b="-122667"/>
              </a:stretch>
            </a:blipFill>
          </p:spPr>
          <p:txBody>
            <a:bodyPr/>
            <a:p/>
          </p:txBody>
        </p:sp>
        <p:sp>
          <p:nvSpPr>
            <p:cNvPr name="TextBox 118" id="118"/>
            <p:cNvSpPr txBox="true"/>
            <p:nvPr/>
          </p:nvSpPr>
          <p:spPr>
            <a:xfrm>
              <a:off x="0" y="-38100"/>
              <a:ext cx="8778240" cy="10287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Penyusunan skenario</a:t>
              </a:r>
            </a:p>
          </p:txBody>
        </p:sp>
      </p:grpSp>
      <p:sp>
        <p:nvSpPr>
          <p:cNvPr name="TextBox 119" id="119"/>
          <p:cNvSpPr txBox="true"/>
          <p:nvPr/>
        </p:nvSpPr>
        <p:spPr>
          <a:xfrm rot="0">
            <a:off x="1234440" y="6989445"/>
            <a:ext cx="7406640" cy="2200275"/>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Libatkan lokakarya pemangku kepentingan agar nilai variabel kebijakan sesuai kesepakatan pihak yang berwenang menerapkannya.</a:t>
            </a:r>
          </a:p>
        </p:txBody>
      </p:sp>
      <p:sp>
        <p:nvSpPr>
          <p:cNvPr name="Freeform 120" id="120"/>
          <p:cNvSpPr/>
          <p:nvPr/>
        </p:nvSpPr>
        <p:spPr>
          <a:xfrm flipH="false" flipV="false" rot="0">
            <a:off x="9282779"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7">
              <a:extLst>
                <a:ext uri="{96DAC541-7B7A-43D3-8B79-37D633B846F1}">
                  <asvg:svgBlip xmlns:asvg="http://schemas.microsoft.com/office/drawing/2016/SVG/main" r:embed="rId8"/>
                </a:ext>
              </a:extLst>
            </a:blip>
            <a:stretch>
              <a:fillRect l="0" t="-57" r="0" b="-57"/>
            </a:stretch>
          </a:blipFill>
        </p:spPr>
        <p:txBody>
          <a:bodyPr/>
          <a:p/>
        </p:txBody>
      </p:sp>
      <p:grpSp>
        <p:nvGrpSpPr>
          <p:cNvPr name="Group 121" id="121"/>
          <p:cNvGrpSpPr/>
          <p:nvPr/>
        </p:nvGrpSpPr>
        <p:grpSpPr>
          <a:xfrm rot="0">
            <a:off x="9642348" y="6199632"/>
            <a:ext cx="685800" cy="685800"/>
            <a:chOff x="0" y="0"/>
            <a:chExt cx="914400" cy="914400"/>
          </a:xfrm>
        </p:grpSpPr>
        <p:sp>
          <p:nvSpPr>
            <p:cNvPr name="Freeform 122" id="12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123" id="123"/>
          <p:cNvGrpSpPr/>
          <p:nvPr/>
        </p:nvGrpSpPr>
        <p:grpSpPr>
          <a:xfrm rot="0">
            <a:off x="9642348" y="6199632"/>
            <a:ext cx="685800" cy="685800"/>
            <a:chOff x="0" y="0"/>
            <a:chExt cx="914400" cy="914400"/>
          </a:xfrm>
        </p:grpSpPr>
        <p:sp>
          <p:nvSpPr>
            <p:cNvPr name="Freeform 124" id="12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125" id="125"/>
          <p:cNvGrpSpPr/>
          <p:nvPr/>
        </p:nvGrpSpPr>
        <p:grpSpPr>
          <a:xfrm rot="0">
            <a:off x="9642348" y="6171057"/>
            <a:ext cx="685800" cy="714375"/>
            <a:chOff x="0" y="0"/>
            <a:chExt cx="914400" cy="952500"/>
          </a:xfrm>
        </p:grpSpPr>
        <p:sp>
          <p:nvSpPr>
            <p:cNvPr name="Freeform 126" id="126"/>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127" id="127"/>
          <p:cNvGrpSpPr/>
          <p:nvPr/>
        </p:nvGrpSpPr>
        <p:grpSpPr>
          <a:xfrm rot="0">
            <a:off x="9642348" y="6142482"/>
            <a:ext cx="685800" cy="742950"/>
            <a:chOff x="0" y="0"/>
            <a:chExt cx="914400" cy="990600"/>
          </a:xfrm>
        </p:grpSpPr>
        <p:sp>
          <p:nvSpPr>
            <p:cNvPr name="Freeform 128" id="128"/>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129" id="129"/>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4</a:t>
              </a:r>
            </a:p>
          </p:txBody>
        </p:sp>
      </p:grpSp>
      <p:grpSp>
        <p:nvGrpSpPr>
          <p:cNvPr name="Group 130" id="130"/>
          <p:cNvGrpSpPr/>
          <p:nvPr/>
        </p:nvGrpSpPr>
        <p:grpSpPr>
          <a:xfrm rot="0">
            <a:off x="10602468" y="6199632"/>
            <a:ext cx="6583680" cy="685800"/>
            <a:chOff x="0" y="0"/>
            <a:chExt cx="8778240" cy="914400"/>
          </a:xfrm>
        </p:grpSpPr>
        <p:sp>
          <p:nvSpPr>
            <p:cNvPr name="Freeform 131" id="131"/>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txBody>
            <a:bodyPr/>
            <a:p/>
          </p:txBody>
        </p:sp>
      </p:grpSp>
      <p:grpSp>
        <p:nvGrpSpPr>
          <p:cNvPr name="Group 132" id="132"/>
          <p:cNvGrpSpPr/>
          <p:nvPr/>
        </p:nvGrpSpPr>
        <p:grpSpPr>
          <a:xfrm rot="0">
            <a:off x="10602468" y="6171057"/>
            <a:ext cx="6583680" cy="714375"/>
            <a:chOff x="0" y="0"/>
            <a:chExt cx="8778240" cy="952500"/>
          </a:xfrm>
        </p:grpSpPr>
        <p:sp>
          <p:nvSpPr>
            <p:cNvPr name="Freeform 133" id="133"/>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449" r="0" b="-129449"/>
              </a:stretch>
            </a:blipFill>
          </p:spPr>
          <p:txBody>
            <a:bodyPr/>
            <a:p/>
          </p:txBody>
        </p:sp>
      </p:grpSp>
      <p:grpSp>
        <p:nvGrpSpPr>
          <p:cNvPr name="Group 134" id="134"/>
          <p:cNvGrpSpPr/>
          <p:nvPr/>
        </p:nvGrpSpPr>
        <p:grpSpPr>
          <a:xfrm rot="0">
            <a:off x="10602468" y="6142482"/>
            <a:ext cx="6583680" cy="742950"/>
            <a:chOff x="0" y="0"/>
            <a:chExt cx="8778240" cy="990600"/>
          </a:xfrm>
        </p:grpSpPr>
        <p:sp>
          <p:nvSpPr>
            <p:cNvPr name="Freeform 135" id="135"/>
            <p:cNvSpPr/>
            <p:nvPr/>
          </p:nvSpPr>
          <p:spPr>
            <a:xfrm flipH="false" flipV="false" rot="0">
              <a:off x="0" y="0"/>
              <a:ext cx="8778240" cy="990600"/>
            </a:xfrm>
            <a:custGeom>
              <a:avLst/>
              <a:gdLst/>
              <a:ahLst/>
              <a:cxnLst/>
              <a:rect r="r" b="b" t="t" l="l"/>
              <a:pathLst>
                <a:path h="990600" w="8778240">
                  <a:moveTo>
                    <a:pt x="0" y="0"/>
                  </a:moveTo>
                  <a:lnTo>
                    <a:pt x="8778240" y="0"/>
                  </a:lnTo>
                  <a:lnTo>
                    <a:pt x="8778240" y="990600"/>
                  </a:lnTo>
                  <a:lnTo>
                    <a:pt x="0" y="990600"/>
                  </a:lnTo>
                  <a:close/>
                </a:path>
              </a:pathLst>
            </a:custGeom>
            <a:blipFill>
              <a:blip r:embed="rId6">
                <a:alphaModFix amt="0"/>
              </a:blip>
              <a:stretch>
                <a:fillRect l="0" t="-122667" r="0" b="-122667"/>
              </a:stretch>
            </a:blipFill>
          </p:spPr>
          <p:txBody>
            <a:bodyPr/>
            <a:p/>
          </p:txBody>
        </p:sp>
        <p:sp>
          <p:nvSpPr>
            <p:cNvPr name="TextBox 136" id="136"/>
            <p:cNvSpPr txBox="true"/>
            <p:nvPr/>
          </p:nvSpPr>
          <p:spPr>
            <a:xfrm>
              <a:off x="0" y="-38100"/>
              <a:ext cx="8778240" cy="10287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Pengembangan aplikasi</a:t>
              </a:r>
            </a:p>
          </p:txBody>
        </p:sp>
      </p:grpSp>
      <p:sp>
        <p:nvSpPr>
          <p:cNvPr name="TextBox 137" id="137"/>
          <p:cNvSpPr txBox="true"/>
          <p:nvPr/>
        </p:nvSpPr>
        <p:spPr>
          <a:xfrm rot="0">
            <a:off x="9710928" y="6989445"/>
            <a:ext cx="7406640" cy="2200275"/>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Tambahkan fitur pembaruan data tahunan dan ekspor laporan hasil simulasi agar tetap relevan bagi Pemerintah Daerah DIY.</a:t>
            </a:r>
          </a:p>
        </p:txBody>
      </p:sp>
      <p:sp>
        <p:nvSpPr>
          <p:cNvPr name="TextBox 138" id="138"/>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75</a:t>
            </a:r>
          </a:p>
        </p:txBody>
      </p:sp>
      <p:grpSp>
        <p:nvGrpSpPr>
          <p:cNvPr name="Group 139" id="139"/>
          <p:cNvGrpSpPr/>
          <p:nvPr/>
        </p:nvGrpSpPr>
        <p:grpSpPr>
          <a:xfrm rot="0">
            <a:off x="16047720" y="9646920"/>
            <a:ext cx="420624" cy="420624"/>
            <a:chOff x="0" y="0"/>
            <a:chExt cx="560832" cy="560832"/>
          </a:xfrm>
        </p:grpSpPr>
        <p:sp>
          <p:nvSpPr>
            <p:cNvPr name="Freeform 140" id="140"/>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41" id="141"/>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76.xml><?xml version="1.0" encoding="utf-8"?>
<p:sld xmlns:p="http://schemas.openxmlformats.org/presentationml/2006/main" xmlns:a="http://schemas.openxmlformats.org/drawingml/2006/main" xmlns:r="http://schemas.openxmlformats.org/officeDocument/2006/relationships">
  <p:cSld>
    <p:bg>
      <p:bgPr>
        <a:solidFill>
          <a:srgbClr val="0B5E6E"/>
        </a:solidFill>
      </p:bgPr>
    </p:bg>
    <p:spTree>
      <p:nvGrpSpPr>
        <p:cNvPr id="1" name=""/>
        <p:cNvGrpSpPr/>
        <p:nvPr/>
      </p:nvGrpSpPr>
      <p:grpSpPr>
        <a:xfrm>
          <a:off x="0" y="0"/>
          <a:ext cx="0" cy="0"/>
          <a:chOff x="0" y="0"/>
          <a:chExt cx="0" cy="0"/>
        </a:xfrm>
      </p:grpSpPr>
      <p:grpSp>
        <p:nvGrpSpPr>
          <p:cNvPr name="Group 2" id="2"/>
          <p:cNvGrpSpPr/>
          <p:nvPr/>
        </p:nvGrpSpPr>
        <p:grpSpPr>
          <a:xfrm rot="0">
            <a:off x="8462772" y="1645920"/>
            <a:ext cx="1371600" cy="1371600"/>
            <a:chOff x="0" y="0"/>
            <a:chExt cx="1828800" cy="1828800"/>
          </a:xfrm>
        </p:grpSpPr>
        <p:sp>
          <p:nvSpPr>
            <p:cNvPr name="Freeform 3" id="3"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3497580"/>
            <a:ext cx="16637508" cy="1371600"/>
            <a:chOff x="0" y="0"/>
            <a:chExt cx="22183344" cy="1828800"/>
          </a:xfrm>
        </p:grpSpPr>
        <p:sp>
          <p:nvSpPr>
            <p:cNvPr name="Freeform 5" id="5"/>
            <p:cNvSpPr/>
            <p:nvPr/>
          </p:nvSpPr>
          <p:spPr>
            <a:xfrm flipH="false" flipV="false" rot="0">
              <a:off x="0" y="0"/>
              <a:ext cx="22183344" cy="1828800"/>
            </a:xfrm>
            <a:custGeom>
              <a:avLst/>
              <a:gdLst/>
              <a:ahLst/>
              <a:cxnLst/>
              <a:rect r="r" b="b" t="t" l="l"/>
              <a:pathLst>
                <a:path h="1828800" w="22183344">
                  <a:moveTo>
                    <a:pt x="0" y="0"/>
                  </a:moveTo>
                  <a:lnTo>
                    <a:pt x="22183344" y="0"/>
                  </a:lnTo>
                  <a:lnTo>
                    <a:pt x="22183344" y="1828800"/>
                  </a:lnTo>
                  <a:lnTo>
                    <a:pt x="0" y="1828800"/>
                  </a:lnTo>
                  <a:close/>
                </a:path>
              </a:pathLst>
            </a:custGeom>
            <a:blipFill>
              <a:blip r:embed="rId4">
                <a:alphaModFix amt="0"/>
              </a:blip>
              <a:stretch>
                <a:fillRect l="0" t="-186188" r="0" b="-186189"/>
              </a:stretch>
            </a:blipFill>
          </p:spPr>
          <p:txBody>
            <a:bodyPr/>
            <a:p/>
          </p:txBody>
        </p:sp>
      </p:grpSp>
      <p:grpSp>
        <p:nvGrpSpPr>
          <p:cNvPr name="Group 6" id="6"/>
          <p:cNvGrpSpPr/>
          <p:nvPr/>
        </p:nvGrpSpPr>
        <p:grpSpPr>
          <a:xfrm rot="0">
            <a:off x="822960" y="3376136"/>
            <a:ext cx="16637508" cy="1493044"/>
            <a:chOff x="0" y="0"/>
            <a:chExt cx="22183344" cy="1990725"/>
          </a:xfrm>
        </p:grpSpPr>
        <p:sp>
          <p:nvSpPr>
            <p:cNvPr name="Freeform 7" id="7"/>
            <p:cNvSpPr/>
            <p:nvPr/>
          </p:nvSpPr>
          <p:spPr>
            <a:xfrm flipH="false" flipV="false" rot="0">
              <a:off x="0" y="0"/>
              <a:ext cx="22183344" cy="1990725"/>
            </a:xfrm>
            <a:custGeom>
              <a:avLst/>
              <a:gdLst/>
              <a:ahLst/>
              <a:cxnLst/>
              <a:rect r="r" b="b" t="t" l="l"/>
              <a:pathLst>
                <a:path h="1990725" w="22183344">
                  <a:moveTo>
                    <a:pt x="0" y="0"/>
                  </a:moveTo>
                  <a:lnTo>
                    <a:pt x="22183344" y="0"/>
                  </a:lnTo>
                  <a:lnTo>
                    <a:pt x="22183344" y="1990725"/>
                  </a:lnTo>
                  <a:lnTo>
                    <a:pt x="0" y="1990725"/>
                  </a:lnTo>
                  <a:close/>
                </a:path>
              </a:pathLst>
            </a:custGeom>
            <a:blipFill>
              <a:blip r:embed="rId5">
                <a:alphaModFix amt="0"/>
              </a:blip>
              <a:stretch>
                <a:fillRect l="0" t="-166977" r="0" b="-166977"/>
              </a:stretch>
            </a:blipFill>
          </p:spPr>
          <p:txBody>
            <a:bodyPr/>
            <a:p/>
          </p:txBody>
        </p:sp>
      </p:grpSp>
      <p:grpSp>
        <p:nvGrpSpPr>
          <p:cNvPr name="Group 8" id="8"/>
          <p:cNvGrpSpPr/>
          <p:nvPr/>
        </p:nvGrpSpPr>
        <p:grpSpPr>
          <a:xfrm rot="0">
            <a:off x="822960" y="3254692"/>
            <a:ext cx="16637508" cy="1614488"/>
            <a:chOff x="0" y="0"/>
            <a:chExt cx="22183344" cy="2152650"/>
          </a:xfrm>
        </p:grpSpPr>
        <p:sp>
          <p:nvSpPr>
            <p:cNvPr name="Freeform 9" id="9"/>
            <p:cNvSpPr/>
            <p:nvPr/>
          </p:nvSpPr>
          <p:spPr>
            <a:xfrm flipH="false" flipV="false" rot="0">
              <a:off x="0" y="0"/>
              <a:ext cx="22183344" cy="2152650"/>
            </a:xfrm>
            <a:custGeom>
              <a:avLst/>
              <a:gdLst/>
              <a:ahLst/>
              <a:cxnLst/>
              <a:rect r="r" b="b" t="t" l="l"/>
              <a:pathLst>
                <a:path h="2152650" w="22183344">
                  <a:moveTo>
                    <a:pt x="0" y="0"/>
                  </a:moveTo>
                  <a:lnTo>
                    <a:pt x="22183344" y="0"/>
                  </a:lnTo>
                  <a:lnTo>
                    <a:pt x="22183344" y="2152650"/>
                  </a:lnTo>
                  <a:lnTo>
                    <a:pt x="0" y="2152650"/>
                  </a:lnTo>
                  <a:close/>
                </a:path>
              </a:pathLst>
            </a:custGeom>
            <a:blipFill>
              <a:blip r:embed="rId6">
                <a:alphaModFix amt="0"/>
              </a:blip>
              <a:stretch>
                <a:fillRect l="0" t="-150795" r="0" b="-150795"/>
              </a:stretch>
            </a:blipFill>
          </p:spPr>
          <p:txBody>
            <a:bodyPr/>
            <a:p/>
          </p:txBody>
        </p:sp>
        <p:sp>
          <p:nvSpPr>
            <p:cNvPr name="TextBox 10" id="10"/>
            <p:cNvSpPr txBox="true"/>
            <p:nvPr/>
          </p:nvSpPr>
          <p:spPr>
            <a:xfrm>
              <a:off x="0" y="-161925"/>
              <a:ext cx="22183344" cy="2314575"/>
            </a:xfrm>
            <a:prstGeom prst="rect">
              <a:avLst/>
            </a:prstGeom>
          </p:spPr>
          <p:txBody>
            <a:bodyPr anchor="ctr" rtlCol="false" tIns="0" lIns="0" bIns="0" rIns="0"/>
            <a:lstStyle/>
            <a:p>
              <a:pPr algn="ctr">
                <a:lnSpc>
                  <a:spcPts val="9360"/>
                </a:lnSpc>
              </a:pPr>
              <a:r>
                <a:rPr lang="en-US" sz="7800" b="true">
                  <a:solidFill>
                    <a:srgbClr val="FFD23B"/>
                  </a:solidFill>
                  <a:latin typeface="Calibri (MS) Bold"/>
                  <a:ea typeface="Calibri (MS) Bold"/>
                  <a:cs typeface="Calibri (MS) Bold"/>
                  <a:sym typeface="Calibri (MS) Bold"/>
                </a:rPr>
                <a:t>Terima Kasih</a:t>
              </a:r>
            </a:p>
          </p:txBody>
        </p:sp>
      </p:grpSp>
      <p:sp>
        <p:nvSpPr>
          <p:cNvPr name="TextBox 11" id="11"/>
          <p:cNvSpPr txBox="true"/>
          <p:nvPr/>
        </p:nvSpPr>
        <p:spPr>
          <a:xfrm rot="0">
            <a:off x="2057400" y="4932045"/>
            <a:ext cx="14168628" cy="1240155"/>
          </a:xfrm>
          <a:prstGeom prst="rect">
            <a:avLst/>
          </a:prstGeom>
        </p:spPr>
        <p:txBody>
          <a:bodyPr anchor="t" rtlCol="false" tIns="0" lIns="0" bIns="0" rIns="0">
            <a:spAutoFit/>
          </a:bodyPr>
          <a:lstStyle/>
          <a:p>
            <a:pPr algn="ctr">
              <a:lnSpc>
                <a:spcPts val="3060"/>
              </a:lnSpc>
            </a:pPr>
            <a:r>
              <a:rPr lang="en-US" sz="2550">
                <a:solidFill>
                  <a:srgbClr val="FFFFFF"/>
                </a:solidFill>
                <a:latin typeface="Calibri (MS)"/>
                <a:ea typeface="Calibri (MS)"/>
                <a:cs typeface="Calibri (MS)"/>
                <a:sym typeface="Calibri (MS)"/>
              </a:rPr>
              <a:t>Perancangan Aplikasi Simulasi Kebijakan Pariwisata Menggunakan Sistem Dinamis dengan Integrasi Data Citra Satelit</a:t>
            </a:r>
          </a:p>
        </p:txBody>
      </p:sp>
      <p:sp>
        <p:nvSpPr>
          <p:cNvPr name="TextBox 12" id="12"/>
          <p:cNvSpPr txBox="true"/>
          <p:nvPr/>
        </p:nvSpPr>
        <p:spPr>
          <a:xfrm rot="0">
            <a:off x="822960" y="6275070"/>
            <a:ext cx="16637508" cy="720090"/>
          </a:xfrm>
          <a:prstGeom prst="rect">
            <a:avLst/>
          </a:prstGeom>
        </p:spPr>
        <p:txBody>
          <a:bodyPr anchor="t" rtlCol="false" tIns="0" lIns="0" bIns="0" rIns="0">
            <a:spAutoFit/>
          </a:bodyPr>
          <a:lstStyle/>
          <a:p>
            <a:pPr algn="ctr">
              <a:lnSpc>
                <a:spcPts val="2700"/>
              </a:lnSpc>
            </a:pPr>
            <a:r>
              <a:rPr lang="en-US" sz="2250" b="true">
                <a:solidFill>
                  <a:srgbClr val="FFFFFF"/>
                </a:solidFill>
                <a:latin typeface="Calibri (MS) Bold"/>
                <a:ea typeface="Calibri (MS) Bold"/>
                <a:cs typeface="Calibri (MS) Bold"/>
                <a:sym typeface="Calibri (MS) Bold"/>
              </a:rPr>
              <a:t>Kevin Atha Fathoni Ramadha · 222212691</a:t>
            </a:r>
          </a:p>
        </p:txBody>
      </p:sp>
      <p:grpSp>
        <p:nvGrpSpPr>
          <p:cNvPr name="Group 13" id="13"/>
          <p:cNvGrpSpPr/>
          <p:nvPr/>
        </p:nvGrpSpPr>
        <p:grpSpPr>
          <a:xfrm rot="0">
            <a:off x="6035040" y="7543800"/>
            <a:ext cx="6213348" cy="685800"/>
            <a:chOff x="0" y="0"/>
            <a:chExt cx="8284464" cy="914400"/>
          </a:xfrm>
        </p:grpSpPr>
        <p:sp>
          <p:nvSpPr>
            <p:cNvPr name="Freeform 14" id="14"/>
            <p:cNvSpPr/>
            <p:nvPr/>
          </p:nvSpPr>
          <p:spPr>
            <a:xfrm flipH="false" flipV="false" rot="0">
              <a:off x="0" y="0"/>
              <a:ext cx="8284464" cy="914400"/>
            </a:xfrm>
            <a:custGeom>
              <a:avLst/>
              <a:gdLst/>
              <a:ahLst/>
              <a:cxnLst/>
              <a:rect r="r" b="b" t="t" l="l"/>
              <a:pathLst>
                <a:path h="914400" w="8284464">
                  <a:moveTo>
                    <a:pt x="0" y="457200"/>
                  </a:moveTo>
                  <a:cubicBezTo>
                    <a:pt x="0" y="204724"/>
                    <a:pt x="204724" y="0"/>
                    <a:pt x="457200" y="0"/>
                  </a:cubicBezTo>
                  <a:lnTo>
                    <a:pt x="7827264" y="0"/>
                  </a:lnTo>
                  <a:cubicBezTo>
                    <a:pt x="8079740" y="0"/>
                    <a:pt x="8284464" y="204724"/>
                    <a:pt x="8284464" y="457200"/>
                  </a:cubicBezTo>
                  <a:cubicBezTo>
                    <a:pt x="8284464" y="709676"/>
                    <a:pt x="8079740" y="914400"/>
                    <a:pt x="7827264" y="914400"/>
                  </a:cubicBezTo>
                  <a:lnTo>
                    <a:pt x="457200" y="914400"/>
                  </a:lnTo>
                  <a:cubicBezTo>
                    <a:pt x="204724" y="914400"/>
                    <a:pt x="0" y="709676"/>
                    <a:pt x="0" y="457200"/>
                  </a:cubicBezTo>
                  <a:close/>
                </a:path>
              </a:pathLst>
            </a:custGeom>
            <a:solidFill>
              <a:srgbClr val="39C0D3"/>
            </a:solidFill>
          </p:spPr>
          <p:txBody>
            <a:bodyPr/>
            <a:p/>
          </p:txBody>
        </p:sp>
      </p:grpSp>
      <p:grpSp>
        <p:nvGrpSpPr>
          <p:cNvPr name="Group 15" id="15"/>
          <p:cNvGrpSpPr/>
          <p:nvPr/>
        </p:nvGrpSpPr>
        <p:grpSpPr>
          <a:xfrm rot="0">
            <a:off x="6035040" y="7543800"/>
            <a:ext cx="6213348" cy="685800"/>
            <a:chOff x="0" y="0"/>
            <a:chExt cx="8284464" cy="914400"/>
          </a:xfrm>
        </p:grpSpPr>
        <p:sp>
          <p:nvSpPr>
            <p:cNvPr name="Freeform 16" id="16"/>
            <p:cNvSpPr/>
            <p:nvPr/>
          </p:nvSpPr>
          <p:spPr>
            <a:xfrm flipH="false" flipV="false" rot="0">
              <a:off x="0" y="0"/>
              <a:ext cx="8284464" cy="914400"/>
            </a:xfrm>
            <a:custGeom>
              <a:avLst/>
              <a:gdLst/>
              <a:ahLst/>
              <a:cxnLst/>
              <a:rect r="r" b="b" t="t" l="l"/>
              <a:pathLst>
                <a:path h="914400" w="8284464">
                  <a:moveTo>
                    <a:pt x="0" y="0"/>
                  </a:moveTo>
                  <a:lnTo>
                    <a:pt x="8284464" y="0"/>
                  </a:lnTo>
                  <a:lnTo>
                    <a:pt x="8284464" y="914400"/>
                  </a:lnTo>
                  <a:lnTo>
                    <a:pt x="0" y="914400"/>
                  </a:lnTo>
                  <a:close/>
                </a:path>
              </a:pathLst>
            </a:custGeom>
            <a:blipFill>
              <a:blip r:embed="rId4">
                <a:alphaModFix amt="0"/>
              </a:blip>
              <a:stretch>
                <a:fillRect l="0" t="-126411" r="0" b="-126412"/>
              </a:stretch>
            </a:blipFill>
          </p:spPr>
          <p:txBody>
            <a:bodyPr/>
            <a:p/>
          </p:txBody>
        </p:sp>
      </p:grpSp>
      <p:grpSp>
        <p:nvGrpSpPr>
          <p:cNvPr name="Group 17" id="17"/>
          <p:cNvGrpSpPr/>
          <p:nvPr/>
        </p:nvGrpSpPr>
        <p:grpSpPr>
          <a:xfrm rot="0">
            <a:off x="6035040" y="7508081"/>
            <a:ext cx="6213348" cy="721519"/>
            <a:chOff x="0" y="0"/>
            <a:chExt cx="8284464" cy="962025"/>
          </a:xfrm>
        </p:grpSpPr>
        <p:sp>
          <p:nvSpPr>
            <p:cNvPr name="Freeform 18" id="18"/>
            <p:cNvSpPr/>
            <p:nvPr/>
          </p:nvSpPr>
          <p:spPr>
            <a:xfrm flipH="false" flipV="false" rot="0">
              <a:off x="0" y="0"/>
              <a:ext cx="8284464" cy="962025"/>
            </a:xfrm>
            <a:custGeom>
              <a:avLst/>
              <a:gdLst/>
              <a:ahLst/>
              <a:cxnLst/>
              <a:rect r="r" b="b" t="t" l="l"/>
              <a:pathLst>
                <a:path h="962025" w="8284464">
                  <a:moveTo>
                    <a:pt x="0" y="0"/>
                  </a:moveTo>
                  <a:lnTo>
                    <a:pt x="8284464" y="0"/>
                  </a:lnTo>
                  <a:lnTo>
                    <a:pt x="8284464" y="962025"/>
                  </a:lnTo>
                  <a:lnTo>
                    <a:pt x="0" y="962025"/>
                  </a:lnTo>
                  <a:close/>
                </a:path>
              </a:pathLst>
            </a:custGeom>
            <a:blipFill>
              <a:blip r:embed="rId5">
                <a:alphaModFix amt="0"/>
              </a:blip>
              <a:stretch>
                <a:fillRect l="0" t="-117677" r="0" b="-117679"/>
              </a:stretch>
            </a:blipFill>
          </p:spPr>
          <p:txBody>
            <a:bodyPr/>
            <a:p/>
          </p:txBody>
        </p:sp>
      </p:grpSp>
      <p:grpSp>
        <p:nvGrpSpPr>
          <p:cNvPr name="Group 19" id="19"/>
          <p:cNvGrpSpPr/>
          <p:nvPr/>
        </p:nvGrpSpPr>
        <p:grpSpPr>
          <a:xfrm rot="0">
            <a:off x="6035040" y="7472362"/>
            <a:ext cx="6213348" cy="757238"/>
            <a:chOff x="0" y="0"/>
            <a:chExt cx="8284464" cy="1009650"/>
          </a:xfrm>
        </p:grpSpPr>
        <p:sp>
          <p:nvSpPr>
            <p:cNvPr name="Freeform 20" id="20"/>
            <p:cNvSpPr/>
            <p:nvPr/>
          </p:nvSpPr>
          <p:spPr>
            <a:xfrm flipH="false" flipV="false" rot="0">
              <a:off x="0" y="0"/>
              <a:ext cx="8284464" cy="1009650"/>
            </a:xfrm>
            <a:custGeom>
              <a:avLst/>
              <a:gdLst/>
              <a:ahLst/>
              <a:cxnLst/>
              <a:rect r="r" b="b" t="t" l="l"/>
              <a:pathLst>
                <a:path h="1009650" w="8284464">
                  <a:moveTo>
                    <a:pt x="0" y="0"/>
                  </a:moveTo>
                  <a:lnTo>
                    <a:pt x="8284464" y="0"/>
                  </a:lnTo>
                  <a:lnTo>
                    <a:pt x="8284464" y="1009650"/>
                  </a:lnTo>
                  <a:lnTo>
                    <a:pt x="0" y="1009650"/>
                  </a:lnTo>
                  <a:close/>
                </a:path>
              </a:pathLst>
            </a:custGeom>
            <a:blipFill>
              <a:blip r:embed="rId6">
                <a:alphaModFix amt="0"/>
              </a:blip>
              <a:stretch>
                <a:fillRect l="0" t="-109880" r="0" b="-109880"/>
              </a:stretch>
            </a:blipFill>
          </p:spPr>
          <p:txBody>
            <a:bodyPr/>
            <a:p/>
          </p:txBody>
        </p:sp>
        <p:sp>
          <p:nvSpPr>
            <p:cNvPr name="TextBox 21" id="21"/>
            <p:cNvSpPr txBox="true"/>
            <p:nvPr/>
          </p:nvSpPr>
          <p:spPr>
            <a:xfrm>
              <a:off x="0" y="-47625"/>
              <a:ext cx="8284464" cy="105727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sistemdinamispariwisata.vercel.app</a:t>
              </a:r>
            </a:p>
          </p:txBody>
        </p:sp>
      </p:grpSp>
    </p:spTree>
  </p:cSld>
  <p:clrMapOvr>
    <a:masterClrMapping/>
  </p:clrMapOvr>
</p:sld>
</file>

<file path=ppt/slides/slide7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16666" r="0" b="-16666"/>
              </a:stretch>
            </a:blipFill>
          </p:spPr>
          <p:txBody>
            <a:bodyPr/>
            <a:p/>
          </p:txBody>
        </p:sp>
      </p:grpSp>
      <p:grpSp>
        <p:nvGrpSpPr>
          <p:cNvPr name="Group 4" id="4"/>
          <p:cNvGrpSpPr/>
          <p:nvPr/>
        </p:nvGrpSpPr>
        <p:grpSpPr>
          <a:xfrm rot="0">
            <a:off x="-192024" y="186404"/>
            <a:ext cx="2441448" cy="411480"/>
            <a:chOff x="0" y="0"/>
            <a:chExt cx="3255264" cy="548640"/>
          </a:xfrm>
        </p:grpSpPr>
        <p:sp>
          <p:nvSpPr>
            <p:cNvPr name="Freeform 5" id="5"/>
            <p:cNvSpPr/>
            <p:nvPr/>
          </p:nvSpPr>
          <p:spPr>
            <a:xfrm flipH="false" flipV="false" rot="0">
              <a:off x="0" y="0"/>
              <a:ext cx="3255264" cy="548640"/>
            </a:xfrm>
            <a:custGeom>
              <a:avLst/>
              <a:gdLst/>
              <a:ahLst/>
              <a:cxnLst/>
              <a:rect r="r" b="b" t="t" l="l"/>
              <a:pathLst>
                <a:path h="548640" w="3255264">
                  <a:moveTo>
                    <a:pt x="0" y="274320"/>
                  </a:moveTo>
                  <a:cubicBezTo>
                    <a:pt x="0" y="122809"/>
                    <a:pt x="122809" y="0"/>
                    <a:pt x="274320" y="0"/>
                  </a:cubicBezTo>
                  <a:lnTo>
                    <a:pt x="2980944" y="0"/>
                  </a:lnTo>
                  <a:cubicBezTo>
                    <a:pt x="3132455" y="0"/>
                    <a:pt x="3255264" y="122809"/>
                    <a:pt x="3255264" y="274320"/>
                  </a:cubicBezTo>
                  <a:cubicBezTo>
                    <a:pt x="3255264" y="425831"/>
                    <a:pt x="3132455" y="548640"/>
                    <a:pt x="2980944" y="548640"/>
                  </a:cubicBezTo>
                  <a:lnTo>
                    <a:pt x="274320" y="548640"/>
                  </a:lnTo>
                  <a:cubicBezTo>
                    <a:pt x="122809" y="548640"/>
                    <a:pt x="0" y="425831"/>
                    <a:pt x="0" y="274320"/>
                  </a:cubicBezTo>
                  <a:close/>
                </a:path>
              </a:pathLst>
            </a:custGeom>
            <a:solidFill>
              <a:srgbClr val="0B5563"/>
            </a:solidFill>
          </p:spPr>
          <p:txBody>
            <a:bodyPr/>
            <a:p/>
          </p:txBody>
        </p:sp>
      </p:grpSp>
      <p:grpSp>
        <p:nvGrpSpPr>
          <p:cNvPr name="Group 6" id="6"/>
          <p:cNvGrpSpPr/>
          <p:nvPr/>
        </p:nvGrpSpPr>
        <p:grpSpPr>
          <a:xfrm rot="0">
            <a:off x="-192024" y="186404"/>
            <a:ext cx="2441448" cy="411480"/>
            <a:chOff x="0" y="0"/>
            <a:chExt cx="3255264" cy="548640"/>
          </a:xfrm>
        </p:grpSpPr>
        <p:sp>
          <p:nvSpPr>
            <p:cNvPr name="Freeform 7" id="7"/>
            <p:cNvSpPr/>
            <p:nvPr/>
          </p:nvSpPr>
          <p:spPr>
            <a:xfrm flipH="false" flipV="false" rot="0">
              <a:off x="0" y="0"/>
              <a:ext cx="3255264" cy="548640"/>
            </a:xfrm>
            <a:custGeom>
              <a:avLst/>
              <a:gdLst/>
              <a:ahLst/>
              <a:cxnLst/>
              <a:rect r="r" b="b" t="t" l="l"/>
              <a:pathLst>
                <a:path h="548640" w="3255264">
                  <a:moveTo>
                    <a:pt x="0" y="0"/>
                  </a:moveTo>
                  <a:lnTo>
                    <a:pt x="3255264" y="0"/>
                  </a:lnTo>
                  <a:lnTo>
                    <a:pt x="3255264" y="548640"/>
                  </a:lnTo>
                  <a:lnTo>
                    <a:pt x="0" y="548640"/>
                  </a:lnTo>
                  <a:close/>
                </a:path>
              </a:pathLst>
            </a:custGeom>
            <a:blipFill>
              <a:blip r:embed="rId4">
                <a:alphaModFix amt="0"/>
              </a:blip>
              <a:stretch>
                <a:fillRect l="0" t="-65530" r="0" b="-65532"/>
              </a:stretch>
            </a:blipFill>
          </p:spPr>
          <p:txBody>
            <a:bodyPr/>
            <a:p/>
          </p:txBody>
        </p:sp>
      </p:grpSp>
      <p:grpSp>
        <p:nvGrpSpPr>
          <p:cNvPr name="Group 8" id="8"/>
          <p:cNvGrpSpPr/>
          <p:nvPr/>
        </p:nvGrpSpPr>
        <p:grpSpPr>
          <a:xfrm rot="0">
            <a:off x="-192024" y="164973"/>
            <a:ext cx="2441448" cy="432911"/>
            <a:chOff x="0" y="0"/>
            <a:chExt cx="3255264" cy="577215"/>
          </a:xfrm>
        </p:grpSpPr>
        <p:sp>
          <p:nvSpPr>
            <p:cNvPr name="Freeform 9" id="9"/>
            <p:cNvSpPr/>
            <p:nvPr/>
          </p:nvSpPr>
          <p:spPr>
            <a:xfrm flipH="false" flipV="false" rot="0">
              <a:off x="0" y="0"/>
              <a:ext cx="3255264" cy="577215"/>
            </a:xfrm>
            <a:custGeom>
              <a:avLst/>
              <a:gdLst/>
              <a:ahLst/>
              <a:cxnLst/>
              <a:rect r="r" b="b" t="t" l="l"/>
              <a:pathLst>
                <a:path h="577215" w="3255264">
                  <a:moveTo>
                    <a:pt x="0" y="0"/>
                  </a:moveTo>
                  <a:lnTo>
                    <a:pt x="3255264" y="0"/>
                  </a:lnTo>
                  <a:lnTo>
                    <a:pt x="3255264" y="577215"/>
                  </a:lnTo>
                  <a:lnTo>
                    <a:pt x="0" y="577215"/>
                  </a:lnTo>
                  <a:close/>
                </a:path>
              </a:pathLst>
            </a:custGeom>
            <a:blipFill>
              <a:blip r:embed="rId5">
                <a:alphaModFix amt="0"/>
              </a:blip>
              <a:stretch>
                <a:fillRect l="0" t="-59887" r="0" b="-59887"/>
              </a:stretch>
            </a:blipFill>
          </p:spPr>
          <p:txBody>
            <a:bodyPr/>
            <a:p/>
          </p:txBody>
        </p:sp>
        <p:sp>
          <p:nvSpPr>
            <p:cNvPr name="TextBox 10" id="10"/>
            <p:cNvSpPr txBox="true"/>
            <p:nvPr/>
          </p:nvSpPr>
          <p:spPr>
            <a:xfrm>
              <a:off x="0" y="-28575"/>
              <a:ext cx="3255264" cy="605790"/>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Lampiran 1</a:t>
              </a:r>
            </a:p>
          </p:txBody>
        </p:sp>
      </p:grpSp>
      <p:sp>
        <p:nvSpPr>
          <p:cNvPr name="Freeform 11" id="11"/>
          <p:cNvSpPr/>
          <p:nvPr/>
        </p:nvSpPr>
        <p:spPr>
          <a:xfrm flipH="false" flipV="false" rot="0">
            <a:off x="-516207" y="641252"/>
            <a:ext cx="11869760" cy="1116397"/>
          </a:xfrm>
          <a:custGeom>
            <a:avLst/>
            <a:gdLst/>
            <a:ahLst/>
            <a:cxnLst/>
            <a:rect r="r" b="b" t="t" l="l"/>
            <a:pathLst>
              <a:path h="1116397" w="11869760">
                <a:moveTo>
                  <a:pt x="0" y="0"/>
                </a:moveTo>
                <a:lnTo>
                  <a:pt x="11869759" y="0"/>
                </a:lnTo>
                <a:lnTo>
                  <a:pt x="11869759" y="1116396"/>
                </a:lnTo>
                <a:lnTo>
                  <a:pt x="0" y="11163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txBody>
          <a:bodyPr/>
          <a:p/>
        </p:txBody>
      </p:sp>
      <p:sp>
        <p:nvSpPr>
          <p:cNvPr name="TextBox 12" id="12"/>
          <p:cNvSpPr txBox="true"/>
          <p:nvPr/>
        </p:nvSpPr>
        <p:spPr>
          <a:xfrm rot="0">
            <a:off x="250708" y="1001582"/>
            <a:ext cx="10988421" cy="613410"/>
          </a:xfrm>
          <a:prstGeom prst="rect">
            <a:avLst/>
          </a:prstGeom>
        </p:spPr>
        <p:txBody>
          <a:bodyPr anchor="t" rtlCol="false" tIns="0" lIns="0" bIns="0" rIns="0">
            <a:spAutoFit/>
          </a:bodyPr>
          <a:lstStyle/>
          <a:p>
            <a:pPr algn="l">
              <a:lnSpc>
                <a:spcPts val="3900"/>
              </a:lnSpc>
            </a:pPr>
            <a:r>
              <a:rPr lang="en-US" sz="3900" b="true">
                <a:solidFill>
                  <a:srgbClr val="003147"/>
                </a:solidFill>
                <a:latin typeface="Calibri (MS) Bold"/>
                <a:ea typeface="Calibri (MS) Bold"/>
                <a:cs typeface="Calibri (MS) Bold"/>
                <a:sym typeface="Calibri (MS) Bold"/>
              </a:rPr>
              <a:t>Definisi Wisata, Pariwisata, dan Kebijakan Pariwisata</a:t>
            </a:r>
          </a:p>
        </p:txBody>
      </p:sp>
      <p:grpSp>
        <p:nvGrpSpPr>
          <p:cNvPr name="Group 13" id="13"/>
          <p:cNvGrpSpPr/>
          <p:nvPr/>
        </p:nvGrpSpPr>
        <p:grpSpPr>
          <a:xfrm rot="0">
            <a:off x="1028700" y="8270119"/>
            <a:ext cx="15990827" cy="819531"/>
            <a:chOff x="0" y="0"/>
            <a:chExt cx="21321103" cy="1092708"/>
          </a:xfrm>
        </p:grpSpPr>
        <p:sp>
          <p:nvSpPr>
            <p:cNvPr name="Freeform 14" id="14"/>
            <p:cNvSpPr/>
            <p:nvPr/>
          </p:nvSpPr>
          <p:spPr>
            <a:xfrm flipH="false" flipV="false" rot="0">
              <a:off x="0" y="0"/>
              <a:ext cx="21321140" cy="1092708"/>
            </a:xfrm>
            <a:custGeom>
              <a:avLst/>
              <a:gdLst/>
              <a:ahLst/>
              <a:cxnLst/>
              <a:rect r="r" b="b" t="t" l="l"/>
              <a:pathLst>
                <a:path h="1092708" w="21321140">
                  <a:moveTo>
                    <a:pt x="0" y="0"/>
                  </a:moveTo>
                  <a:lnTo>
                    <a:pt x="21321140" y="0"/>
                  </a:lnTo>
                  <a:lnTo>
                    <a:pt x="21321140" y="1092708"/>
                  </a:lnTo>
                  <a:lnTo>
                    <a:pt x="0" y="1092708"/>
                  </a:lnTo>
                  <a:lnTo>
                    <a:pt x="0" y="0"/>
                  </a:lnTo>
                  <a:close/>
                </a:path>
              </a:pathLst>
            </a:custGeom>
            <a:blipFill>
              <a:blip r:embed="rId8"/>
              <a:stretch>
                <a:fillRect l="0" t="-500" r="0" b="-500"/>
              </a:stretch>
            </a:blipFill>
          </p:spPr>
          <p:txBody>
            <a:bodyPr/>
            <a:p/>
          </p:txBody>
        </p:sp>
      </p:grpSp>
      <p:sp>
        <p:nvSpPr>
          <p:cNvPr name="Freeform 15" id="15"/>
          <p:cNvSpPr/>
          <p:nvPr/>
        </p:nvSpPr>
        <p:spPr>
          <a:xfrm flipH="false" flipV="false" rot="0">
            <a:off x="1028700" y="4400064"/>
            <a:ext cx="15990827" cy="4078929"/>
          </a:xfrm>
          <a:custGeom>
            <a:avLst/>
            <a:gdLst/>
            <a:ahLst/>
            <a:cxnLst/>
            <a:rect r="r" b="b" t="t" l="l"/>
            <a:pathLst>
              <a:path h="4078929" w="15990827">
                <a:moveTo>
                  <a:pt x="0" y="0"/>
                </a:moveTo>
                <a:lnTo>
                  <a:pt x="15990827" y="0"/>
                </a:lnTo>
                <a:lnTo>
                  <a:pt x="15990827" y="4078929"/>
                </a:lnTo>
                <a:lnTo>
                  <a:pt x="0" y="407892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sp>
        <p:nvSpPr>
          <p:cNvPr name="Freeform 16" id="16"/>
          <p:cNvSpPr/>
          <p:nvPr/>
        </p:nvSpPr>
        <p:spPr>
          <a:xfrm flipH="false" flipV="false" rot="0">
            <a:off x="2459260" y="2474224"/>
            <a:ext cx="2702557" cy="2797569"/>
          </a:xfrm>
          <a:custGeom>
            <a:avLst/>
            <a:gdLst/>
            <a:ahLst/>
            <a:cxnLst/>
            <a:rect r="r" b="b" t="t" l="l"/>
            <a:pathLst>
              <a:path h="2797569" w="2702557">
                <a:moveTo>
                  <a:pt x="0" y="0"/>
                </a:moveTo>
                <a:lnTo>
                  <a:pt x="2702557" y="0"/>
                </a:lnTo>
                <a:lnTo>
                  <a:pt x="2702557" y="2797568"/>
                </a:lnTo>
                <a:lnTo>
                  <a:pt x="0" y="279756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txBody>
          <a:bodyPr/>
          <a:p/>
        </p:txBody>
      </p:sp>
      <p:sp>
        <p:nvSpPr>
          <p:cNvPr name="Freeform 17" id="17"/>
          <p:cNvSpPr/>
          <p:nvPr/>
        </p:nvSpPr>
        <p:spPr>
          <a:xfrm flipH="false" flipV="false" rot="0">
            <a:off x="7792717" y="2474224"/>
            <a:ext cx="2702557" cy="2797569"/>
          </a:xfrm>
          <a:custGeom>
            <a:avLst/>
            <a:gdLst/>
            <a:ahLst/>
            <a:cxnLst/>
            <a:rect r="r" b="b" t="t" l="l"/>
            <a:pathLst>
              <a:path h="2797569" w="2702557">
                <a:moveTo>
                  <a:pt x="0" y="0"/>
                </a:moveTo>
                <a:lnTo>
                  <a:pt x="2702557" y="0"/>
                </a:lnTo>
                <a:lnTo>
                  <a:pt x="2702557" y="2797568"/>
                </a:lnTo>
                <a:lnTo>
                  <a:pt x="0" y="279756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txBody>
          <a:bodyPr/>
          <a:p/>
        </p:txBody>
      </p:sp>
      <p:sp>
        <p:nvSpPr>
          <p:cNvPr name="Freeform 18" id="18"/>
          <p:cNvSpPr/>
          <p:nvPr/>
        </p:nvSpPr>
        <p:spPr>
          <a:xfrm flipH="false" flipV="false" rot="0">
            <a:off x="13121364" y="2474224"/>
            <a:ext cx="2702557" cy="2797569"/>
          </a:xfrm>
          <a:custGeom>
            <a:avLst/>
            <a:gdLst/>
            <a:ahLst/>
            <a:cxnLst/>
            <a:rect r="r" b="b" t="t" l="l"/>
            <a:pathLst>
              <a:path h="2797569" w="2702557">
                <a:moveTo>
                  <a:pt x="0" y="0"/>
                </a:moveTo>
                <a:lnTo>
                  <a:pt x="2702557" y="0"/>
                </a:lnTo>
                <a:lnTo>
                  <a:pt x="2702557" y="2797568"/>
                </a:lnTo>
                <a:lnTo>
                  <a:pt x="0" y="279756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txBody>
          <a:bodyPr/>
          <a:p/>
        </p:txBody>
      </p:sp>
      <p:grpSp>
        <p:nvGrpSpPr>
          <p:cNvPr name="Group 19" id="19"/>
          <p:cNvGrpSpPr/>
          <p:nvPr/>
        </p:nvGrpSpPr>
        <p:grpSpPr>
          <a:xfrm rot="-5400000">
            <a:off x="4681795" y="6546409"/>
            <a:ext cx="3591239" cy="184052"/>
            <a:chOff x="0" y="0"/>
            <a:chExt cx="4788319" cy="245402"/>
          </a:xfrm>
        </p:grpSpPr>
        <p:sp>
          <p:nvSpPr>
            <p:cNvPr name="Freeform 20" id="20"/>
            <p:cNvSpPr/>
            <p:nvPr/>
          </p:nvSpPr>
          <p:spPr>
            <a:xfrm flipH="false" flipV="false" rot="0">
              <a:off x="0" y="0"/>
              <a:ext cx="4788281" cy="245364"/>
            </a:xfrm>
            <a:custGeom>
              <a:avLst/>
              <a:gdLst/>
              <a:ahLst/>
              <a:cxnLst/>
              <a:rect r="r" b="b" t="t" l="l"/>
              <a:pathLst>
                <a:path h="245364" w="4788281">
                  <a:moveTo>
                    <a:pt x="0" y="0"/>
                  </a:moveTo>
                  <a:lnTo>
                    <a:pt x="4788281" y="0"/>
                  </a:lnTo>
                  <a:lnTo>
                    <a:pt x="4788281" y="245364"/>
                  </a:lnTo>
                  <a:lnTo>
                    <a:pt x="0" y="245364"/>
                  </a:lnTo>
                  <a:lnTo>
                    <a:pt x="0" y="0"/>
                  </a:lnTo>
                  <a:close/>
                </a:path>
              </a:pathLst>
            </a:custGeom>
            <a:blipFill>
              <a:blip r:embed="rId8"/>
              <a:stretch>
                <a:fillRect l="0" t="-502" r="0" b="-517"/>
              </a:stretch>
            </a:blipFill>
          </p:spPr>
          <p:txBody>
            <a:bodyPr/>
            <a:p/>
          </p:txBody>
        </p:sp>
      </p:grpSp>
      <p:grpSp>
        <p:nvGrpSpPr>
          <p:cNvPr name="Group 21" id="21"/>
          <p:cNvGrpSpPr/>
          <p:nvPr/>
        </p:nvGrpSpPr>
        <p:grpSpPr>
          <a:xfrm rot="-5400000">
            <a:off x="10191521" y="6546409"/>
            <a:ext cx="3591239" cy="184052"/>
            <a:chOff x="0" y="0"/>
            <a:chExt cx="4788319" cy="245402"/>
          </a:xfrm>
        </p:grpSpPr>
        <p:sp>
          <p:nvSpPr>
            <p:cNvPr name="Freeform 22" id="22"/>
            <p:cNvSpPr/>
            <p:nvPr/>
          </p:nvSpPr>
          <p:spPr>
            <a:xfrm flipH="false" flipV="false" rot="0">
              <a:off x="0" y="0"/>
              <a:ext cx="4788281" cy="245364"/>
            </a:xfrm>
            <a:custGeom>
              <a:avLst/>
              <a:gdLst/>
              <a:ahLst/>
              <a:cxnLst/>
              <a:rect r="r" b="b" t="t" l="l"/>
              <a:pathLst>
                <a:path h="245364" w="4788281">
                  <a:moveTo>
                    <a:pt x="0" y="0"/>
                  </a:moveTo>
                  <a:lnTo>
                    <a:pt x="4788281" y="0"/>
                  </a:lnTo>
                  <a:lnTo>
                    <a:pt x="4788281" y="245364"/>
                  </a:lnTo>
                  <a:lnTo>
                    <a:pt x="0" y="245364"/>
                  </a:lnTo>
                  <a:lnTo>
                    <a:pt x="0" y="0"/>
                  </a:lnTo>
                  <a:close/>
                </a:path>
              </a:pathLst>
            </a:custGeom>
            <a:blipFill>
              <a:blip r:embed="rId8"/>
              <a:stretch>
                <a:fillRect l="0" t="-502" r="0" b="-517"/>
              </a:stretch>
            </a:blipFill>
          </p:spPr>
          <p:txBody>
            <a:bodyPr/>
            <a:p/>
          </p:txBody>
        </p:sp>
      </p:grpSp>
      <p:sp>
        <p:nvSpPr>
          <p:cNvPr name="Freeform 23" id="23"/>
          <p:cNvSpPr/>
          <p:nvPr/>
        </p:nvSpPr>
        <p:spPr>
          <a:xfrm flipH="false" flipV="false" rot="0">
            <a:off x="3007709" y="3097092"/>
            <a:ext cx="1605677" cy="1646844"/>
          </a:xfrm>
          <a:custGeom>
            <a:avLst/>
            <a:gdLst/>
            <a:ahLst/>
            <a:cxnLst/>
            <a:rect r="r" b="b" t="t" l="l"/>
            <a:pathLst>
              <a:path h="1646844" w="1605677">
                <a:moveTo>
                  <a:pt x="0" y="0"/>
                </a:moveTo>
                <a:lnTo>
                  <a:pt x="1605677" y="0"/>
                </a:lnTo>
                <a:lnTo>
                  <a:pt x="1605677" y="1646844"/>
                </a:lnTo>
                <a:lnTo>
                  <a:pt x="0" y="1646844"/>
                </a:lnTo>
                <a:lnTo>
                  <a:pt x="0" y="0"/>
                </a:lnTo>
                <a:close/>
              </a:path>
            </a:pathLst>
          </a:custGeom>
          <a:blipFill>
            <a:blip r:embed="rId13">
              <a:extLst>
                <a:ext uri="{96DAC541-7B7A-43D3-8B79-37D633B846F1}">
                  <asvg:svgBlip xmlns:asvg="http://schemas.microsoft.com/office/drawing/2016/SVG/main" r:embed="rId14"/>
                </a:ext>
              </a:extLst>
            </a:blip>
            <a:stretch>
              <a:fillRect l="-96" t="0" r="-96" b="0"/>
            </a:stretch>
          </a:blipFill>
        </p:spPr>
        <p:txBody>
          <a:bodyPr/>
          <a:p/>
        </p:txBody>
      </p:sp>
      <p:sp>
        <p:nvSpPr>
          <p:cNvPr name="Freeform 24" id="24"/>
          <p:cNvSpPr/>
          <p:nvPr/>
        </p:nvSpPr>
        <p:spPr>
          <a:xfrm flipH="false" flipV="false" rot="0">
            <a:off x="8284369" y="3218002"/>
            <a:ext cx="1853155" cy="1405023"/>
          </a:xfrm>
          <a:custGeom>
            <a:avLst/>
            <a:gdLst/>
            <a:ahLst/>
            <a:cxnLst/>
            <a:rect r="r" b="b" t="t" l="l"/>
            <a:pathLst>
              <a:path h="1405023" w="1853155">
                <a:moveTo>
                  <a:pt x="0" y="0"/>
                </a:moveTo>
                <a:lnTo>
                  <a:pt x="1853155" y="0"/>
                </a:lnTo>
                <a:lnTo>
                  <a:pt x="1853155" y="1405023"/>
                </a:lnTo>
                <a:lnTo>
                  <a:pt x="0" y="1405023"/>
                </a:lnTo>
                <a:lnTo>
                  <a:pt x="0" y="0"/>
                </a:lnTo>
                <a:close/>
              </a:path>
            </a:pathLst>
          </a:custGeom>
          <a:blipFill>
            <a:blip r:embed="rId15">
              <a:extLst>
                <a:ext uri="{96DAC541-7B7A-43D3-8B79-37D633B846F1}">
                  <asvg:svgBlip xmlns:asvg="http://schemas.microsoft.com/office/drawing/2016/SVG/main" r:embed="rId16"/>
                </a:ext>
              </a:extLst>
            </a:blip>
            <a:stretch>
              <a:fillRect l="0" t="-52" r="0" b="-52"/>
            </a:stretch>
          </a:blipFill>
        </p:spPr>
        <p:txBody>
          <a:bodyPr/>
          <a:p/>
        </p:txBody>
      </p:sp>
      <p:sp>
        <p:nvSpPr>
          <p:cNvPr name="Freeform 25" id="25"/>
          <p:cNvSpPr/>
          <p:nvPr/>
        </p:nvSpPr>
        <p:spPr>
          <a:xfrm flipH="false" flipV="false" rot="0">
            <a:off x="13614883" y="3062745"/>
            <a:ext cx="1715529" cy="1715529"/>
          </a:xfrm>
          <a:custGeom>
            <a:avLst/>
            <a:gdLst/>
            <a:ahLst/>
            <a:cxnLst/>
            <a:rect r="r" b="b" t="t" l="l"/>
            <a:pathLst>
              <a:path h="1715529" w="1715529">
                <a:moveTo>
                  <a:pt x="0" y="0"/>
                </a:moveTo>
                <a:lnTo>
                  <a:pt x="1715528" y="0"/>
                </a:lnTo>
                <a:lnTo>
                  <a:pt x="1715528" y="1715528"/>
                </a:lnTo>
                <a:lnTo>
                  <a:pt x="0" y="171552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txBody>
          <a:bodyPr/>
          <a:p/>
        </p:txBody>
      </p:sp>
      <p:sp>
        <p:nvSpPr>
          <p:cNvPr name="TextBox 26" id="26"/>
          <p:cNvSpPr txBox="true"/>
          <p:nvPr/>
        </p:nvSpPr>
        <p:spPr>
          <a:xfrm rot="0">
            <a:off x="2073050" y="5552284"/>
            <a:ext cx="3474977" cy="623097"/>
          </a:xfrm>
          <a:prstGeom prst="rect">
            <a:avLst/>
          </a:prstGeom>
        </p:spPr>
        <p:txBody>
          <a:bodyPr anchor="t" rtlCol="false" tIns="0" lIns="0" bIns="0" rIns="0">
            <a:spAutoFit/>
          </a:bodyPr>
          <a:lstStyle/>
          <a:p>
            <a:pPr algn="ctr">
              <a:lnSpc>
                <a:spcPts val="3999"/>
              </a:lnSpc>
            </a:pPr>
            <a:r>
              <a:rPr lang="en-US" sz="3999" b="true">
                <a:solidFill>
                  <a:srgbClr val="FFFFFF"/>
                </a:solidFill>
                <a:latin typeface="Calibri (MS) Bold"/>
                <a:ea typeface="Calibri (MS) Bold"/>
                <a:cs typeface="Calibri (MS) Bold"/>
                <a:sym typeface="Calibri (MS) Bold"/>
              </a:rPr>
              <a:t>Wisata</a:t>
            </a:r>
          </a:p>
        </p:txBody>
      </p:sp>
      <p:sp>
        <p:nvSpPr>
          <p:cNvPr name="TextBox 27" id="27"/>
          <p:cNvSpPr txBox="true"/>
          <p:nvPr/>
        </p:nvSpPr>
        <p:spPr>
          <a:xfrm rot="0">
            <a:off x="7049414" y="5552284"/>
            <a:ext cx="4180561" cy="623097"/>
          </a:xfrm>
          <a:prstGeom prst="rect">
            <a:avLst/>
          </a:prstGeom>
        </p:spPr>
        <p:txBody>
          <a:bodyPr anchor="t" rtlCol="false" tIns="0" lIns="0" bIns="0" rIns="0">
            <a:spAutoFit/>
          </a:bodyPr>
          <a:lstStyle/>
          <a:p>
            <a:pPr algn="ctr">
              <a:lnSpc>
                <a:spcPts val="3999"/>
              </a:lnSpc>
            </a:pPr>
            <a:r>
              <a:rPr lang="en-US" sz="3999" b="true">
                <a:solidFill>
                  <a:srgbClr val="FFFFFF"/>
                </a:solidFill>
                <a:latin typeface="Calibri (MS) Bold"/>
                <a:ea typeface="Calibri (MS) Bold"/>
                <a:cs typeface="Calibri (MS) Bold"/>
                <a:sym typeface="Calibri (MS) Bold"/>
              </a:rPr>
              <a:t>Pariwisata</a:t>
            </a:r>
          </a:p>
        </p:txBody>
      </p:sp>
      <p:sp>
        <p:nvSpPr>
          <p:cNvPr name="TextBox 28" id="28"/>
          <p:cNvSpPr txBox="true"/>
          <p:nvPr/>
        </p:nvSpPr>
        <p:spPr>
          <a:xfrm rot="0">
            <a:off x="12740507" y="5299872"/>
            <a:ext cx="3474977" cy="1127922"/>
          </a:xfrm>
          <a:prstGeom prst="rect">
            <a:avLst/>
          </a:prstGeom>
        </p:spPr>
        <p:txBody>
          <a:bodyPr anchor="t" rtlCol="false" tIns="0" lIns="0" bIns="0" rIns="0">
            <a:spAutoFit/>
          </a:bodyPr>
          <a:lstStyle/>
          <a:p>
            <a:pPr algn="ctr">
              <a:lnSpc>
                <a:spcPts val="3999"/>
              </a:lnSpc>
            </a:pPr>
            <a:r>
              <a:rPr lang="en-US" sz="3999" b="true">
                <a:solidFill>
                  <a:srgbClr val="FFFFFF"/>
                </a:solidFill>
                <a:latin typeface="Calibri (MS) Bold"/>
                <a:ea typeface="Calibri (MS) Bold"/>
                <a:cs typeface="Calibri (MS) Bold"/>
                <a:sym typeface="Calibri (MS) Bold"/>
              </a:rPr>
              <a:t>Kebijakan Pariwisata</a:t>
            </a:r>
          </a:p>
        </p:txBody>
      </p:sp>
      <p:sp>
        <p:nvSpPr>
          <p:cNvPr name="TextBox 29" id="29"/>
          <p:cNvSpPr txBox="true"/>
          <p:nvPr/>
        </p:nvSpPr>
        <p:spPr>
          <a:xfrm rot="0">
            <a:off x="1715691" y="6339192"/>
            <a:ext cx="4189705" cy="1139828"/>
          </a:xfrm>
          <a:prstGeom prst="rect">
            <a:avLst/>
          </a:prstGeom>
        </p:spPr>
        <p:txBody>
          <a:bodyPr anchor="t" rtlCol="false" tIns="0" lIns="0" bIns="0" rIns="0">
            <a:spAutoFit/>
          </a:bodyPr>
          <a:lstStyle/>
          <a:p>
            <a:pPr algn="just">
              <a:lnSpc>
                <a:spcPts val="2800"/>
              </a:lnSpc>
            </a:pPr>
            <a:r>
              <a:rPr lang="en-US" sz="2000">
                <a:solidFill>
                  <a:srgbClr val="FFFFFF"/>
                </a:solidFill>
                <a:latin typeface="Calibri (MS)"/>
                <a:ea typeface="Calibri (MS)"/>
                <a:cs typeface="Calibri (MS)"/>
                <a:sym typeface="Calibri (MS)"/>
              </a:rPr>
              <a:t>Perjalanan sementara untuk rekreasi, pengembangan pribadi, atau mempelajari daya tarik suatu tempat.</a:t>
            </a:r>
          </a:p>
        </p:txBody>
      </p:sp>
      <p:sp>
        <p:nvSpPr>
          <p:cNvPr name="TextBox 30" id="30"/>
          <p:cNvSpPr txBox="true"/>
          <p:nvPr/>
        </p:nvSpPr>
        <p:spPr>
          <a:xfrm rot="0">
            <a:off x="7049414" y="6339192"/>
            <a:ext cx="4189705" cy="1139828"/>
          </a:xfrm>
          <a:prstGeom prst="rect">
            <a:avLst/>
          </a:prstGeom>
        </p:spPr>
        <p:txBody>
          <a:bodyPr anchor="t" rtlCol="false" tIns="0" lIns="0" bIns="0" rIns="0">
            <a:spAutoFit/>
          </a:bodyPr>
          <a:lstStyle/>
          <a:p>
            <a:pPr algn="just">
              <a:lnSpc>
                <a:spcPts val="2800"/>
              </a:lnSpc>
            </a:pPr>
            <a:r>
              <a:rPr lang="en-US" sz="2000">
                <a:solidFill>
                  <a:srgbClr val="FFFFFF"/>
                </a:solidFill>
                <a:latin typeface="Calibri (MS)"/>
                <a:ea typeface="Calibri (MS)"/>
                <a:cs typeface="Calibri (MS)"/>
                <a:sym typeface="Calibri (MS)"/>
              </a:rPr>
              <a:t>Berbagai kegiatan wisata beserta fasilitas dan layanan yang mendukungnya.</a:t>
            </a:r>
          </a:p>
        </p:txBody>
      </p:sp>
      <p:sp>
        <p:nvSpPr>
          <p:cNvPr name="TextBox 31" id="31"/>
          <p:cNvSpPr txBox="true"/>
          <p:nvPr/>
        </p:nvSpPr>
        <p:spPr>
          <a:xfrm rot="0">
            <a:off x="12383148" y="6339192"/>
            <a:ext cx="4189705" cy="1492253"/>
          </a:xfrm>
          <a:prstGeom prst="rect">
            <a:avLst/>
          </a:prstGeom>
        </p:spPr>
        <p:txBody>
          <a:bodyPr anchor="t" rtlCol="false" tIns="0" lIns="0" bIns="0" rIns="0">
            <a:spAutoFit/>
          </a:bodyPr>
          <a:lstStyle/>
          <a:p>
            <a:pPr algn="just">
              <a:lnSpc>
                <a:spcPts val="2800"/>
              </a:lnSpc>
            </a:pPr>
            <a:r>
              <a:rPr lang="en-US" sz="2000">
                <a:solidFill>
                  <a:srgbClr val="FFFFFF"/>
                </a:solidFill>
                <a:latin typeface="Calibri (MS)"/>
                <a:ea typeface="Calibri (MS)"/>
                <a:cs typeface="Calibri (MS)"/>
                <a:sym typeface="Calibri (MS)"/>
              </a:rPr>
              <a:t>Arahan pengembangan dan pengelolaan pariwisata untuk mencapai tujuan ekonomi, kesejahteraan masyarakat, dan keberlanjutan lingkungan.</a:t>
            </a:r>
          </a:p>
        </p:txBody>
      </p:sp>
      <p:grpSp>
        <p:nvGrpSpPr>
          <p:cNvPr name="Group 32" id="32"/>
          <p:cNvGrpSpPr/>
          <p:nvPr/>
        </p:nvGrpSpPr>
        <p:grpSpPr>
          <a:xfrm rot="0">
            <a:off x="822960" y="9669780"/>
            <a:ext cx="8229600" cy="411480"/>
            <a:chOff x="0" y="0"/>
            <a:chExt cx="10972800" cy="548640"/>
          </a:xfrm>
        </p:grpSpPr>
        <p:sp>
          <p:nvSpPr>
            <p:cNvPr name="Freeform 33" id="3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4">
                <a:alphaModFix amt="0"/>
              </a:blip>
              <a:stretch>
                <a:fillRect l="0" t="-339430" r="0" b="-339428"/>
              </a:stretch>
            </a:blipFill>
          </p:spPr>
          <p:txBody>
            <a:bodyPr/>
            <a:p/>
          </p:txBody>
        </p:sp>
      </p:grpSp>
      <p:grpSp>
        <p:nvGrpSpPr>
          <p:cNvPr name="Group 34" id="34"/>
          <p:cNvGrpSpPr/>
          <p:nvPr/>
        </p:nvGrpSpPr>
        <p:grpSpPr>
          <a:xfrm rot="0">
            <a:off x="822960" y="9648349"/>
            <a:ext cx="8229600" cy="432911"/>
            <a:chOff x="0" y="0"/>
            <a:chExt cx="10972800" cy="577215"/>
          </a:xfrm>
        </p:grpSpPr>
        <p:sp>
          <p:nvSpPr>
            <p:cNvPr name="Freeform 35" id="35"/>
            <p:cNvSpPr/>
            <p:nvPr/>
          </p:nvSpPr>
          <p:spPr>
            <a:xfrm flipH="false" flipV="false" rot="0">
              <a:off x="0" y="0"/>
              <a:ext cx="10972800" cy="577215"/>
            </a:xfrm>
            <a:custGeom>
              <a:avLst/>
              <a:gdLst/>
              <a:ahLst/>
              <a:cxnLst/>
              <a:rect r="r" b="b" t="t" l="l"/>
              <a:pathLst>
                <a:path h="577215" w="10972800">
                  <a:moveTo>
                    <a:pt x="0" y="0"/>
                  </a:moveTo>
                  <a:lnTo>
                    <a:pt x="10972800" y="0"/>
                  </a:lnTo>
                  <a:lnTo>
                    <a:pt x="10972800" y="577215"/>
                  </a:lnTo>
                  <a:lnTo>
                    <a:pt x="0" y="577215"/>
                  </a:lnTo>
                  <a:close/>
                </a:path>
              </a:pathLst>
            </a:custGeom>
            <a:blipFill>
              <a:blip r:embed="rId5">
                <a:alphaModFix amt="0"/>
              </a:blip>
              <a:stretch>
                <a:fillRect l="0" t="-320408" r="0" b="-320408"/>
              </a:stretch>
            </a:blipFill>
          </p:spPr>
          <p:txBody>
            <a:bodyPr/>
            <a:p/>
          </p:txBody>
        </p:sp>
        <p:sp>
          <p:nvSpPr>
            <p:cNvPr name="TextBox 36" id="36"/>
            <p:cNvSpPr txBox="true"/>
            <p:nvPr/>
          </p:nvSpPr>
          <p:spPr>
            <a:xfrm>
              <a:off x="0" y="-28575"/>
              <a:ext cx="10972800" cy="605790"/>
            </a:xfrm>
            <a:prstGeom prst="rect">
              <a:avLst/>
            </a:prstGeom>
          </p:spPr>
          <p:txBody>
            <a:bodyPr anchor="ctr" rtlCol="false" tIns="0" lIns="0" bIns="0" rIns="0"/>
            <a:lstStyle/>
            <a:p>
              <a:pPr algn="l">
                <a:lnSpc>
                  <a:spcPts val="1620"/>
                </a:lnSpc>
              </a:pPr>
              <a:r>
                <a:rPr lang="en-US" sz="1350">
                  <a:solidFill>
                    <a:srgbClr val="000000"/>
                  </a:solidFill>
                  <a:latin typeface="Calibri (MS)"/>
                  <a:ea typeface="Calibri (MS)"/>
                  <a:cs typeface="Calibri (MS)"/>
                  <a:sym typeface="Calibri (MS)"/>
                </a:rPr>
                <a:t>Sidang Skripsi  ·  Politeknik Statistika STIS</a:t>
              </a:r>
            </a:p>
          </p:txBody>
        </p:sp>
      </p:grpSp>
      <p:sp>
        <p:nvSpPr>
          <p:cNvPr name="TextBox 37" id="37"/>
          <p:cNvSpPr txBox="true"/>
          <p:nvPr/>
        </p:nvSpPr>
        <p:spPr>
          <a:xfrm rot="0">
            <a:off x="1148582" y="8573510"/>
            <a:ext cx="15990827" cy="361950"/>
          </a:xfrm>
          <a:prstGeom prst="rect">
            <a:avLst/>
          </a:prstGeom>
        </p:spPr>
        <p:txBody>
          <a:bodyPr anchor="t" rtlCol="false" tIns="0" lIns="0" bIns="0" rIns="0">
            <a:spAutoFit/>
          </a:bodyPr>
          <a:lstStyle/>
          <a:p>
            <a:pPr algn="ctr">
              <a:lnSpc>
                <a:spcPts val="2250"/>
              </a:lnSpc>
            </a:pPr>
            <a:r>
              <a:rPr lang="en-US" sz="1875">
                <a:solidFill>
                  <a:srgbClr val="000000"/>
                </a:solidFill>
                <a:latin typeface="Calibri (MS)"/>
                <a:ea typeface="Calibri (MS)"/>
                <a:cs typeface="Calibri (MS)"/>
                <a:sym typeface="Calibri (MS)"/>
              </a:rPr>
              <a:t>Sumber: Undang - Undang Republik Indonesia Nomor 10 Tahun 2009 Tentang Kepariwisataan; Keller (2015); Saputra (2020)</a:t>
            </a:r>
          </a:p>
        </p:txBody>
      </p:sp>
      <p:sp>
        <p:nvSpPr>
          <p:cNvPr name="TextBox 38" id="38"/>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77</a:t>
            </a:r>
          </a:p>
        </p:txBody>
      </p:sp>
      <p:sp>
        <p:nvSpPr>
          <p:cNvPr name="TextBox 39" id="39"/>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77</a:t>
            </a:r>
          </a:p>
        </p:txBody>
      </p:sp>
    </p:spTree>
  </p:cSld>
  <p:clrMapOvr>
    <a:masterClrMapping/>
  </p:clrMapOvr>
</p:sld>
</file>

<file path=ppt/slides/slide7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2 · Nilai 35 parameter menurut jenis sumbernya</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grpSp>
        <p:nvGrpSpPr>
          <p:cNvPr name="Group 21" id="21"/>
          <p:cNvGrpSpPr/>
          <p:nvPr/>
        </p:nvGrpSpPr>
        <p:grpSpPr>
          <a:xfrm rot="0">
            <a:off x="822960" y="2331720"/>
            <a:ext cx="3154680" cy="6858000"/>
            <a:chOff x="0" y="0"/>
            <a:chExt cx="4206240" cy="9144000"/>
          </a:xfrm>
        </p:grpSpPr>
        <p:sp>
          <p:nvSpPr>
            <p:cNvPr name="Freeform 22" id="22"/>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txBody>
            <a:bodyPr/>
            <a:p/>
          </p:txBody>
        </p:sp>
      </p:grpSp>
      <p:sp>
        <p:nvSpPr>
          <p:cNvPr name="TextBox 23" id="23"/>
          <p:cNvSpPr txBox="true"/>
          <p:nvPr/>
        </p:nvSpPr>
        <p:spPr>
          <a:xfrm rot="0">
            <a:off x="1028700" y="2382012"/>
            <a:ext cx="2743200" cy="8001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Data statistik resmi</a:t>
            </a:r>
          </a:p>
        </p:txBody>
      </p:sp>
      <p:grpSp>
        <p:nvGrpSpPr>
          <p:cNvPr name="Group 24" id="24"/>
          <p:cNvGrpSpPr/>
          <p:nvPr/>
        </p:nvGrpSpPr>
        <p:grpSpPr>
          <a:xfrm rot="0">
            <a:off x="1028700" y="3236976"/>
            <a:ext cx="1783080" cy="384048"/>
            <a:chOff x="0" y="0"/>
            <a:chExt cx="2377440" cy="512064"/>
          </a:xfrm>
        </p:grpSpPr>
        <p:sp>
          <p:nvSpPr>
            <p:cNvPr name="Freeform 25" id="25"/>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39C0D3"/>
            </a:solidFill>
          </p:spPr>
          <p:txBody>
            <a:bodyPr/>
            <a:p/>
          </p:txBody>
        </p:sp>
      </p:grpSp>
      <p:grpSp>
        <p:nvGrpSpPr>
          <p:cNvPr name="Group 26" id="26"/>
          <p:cNvGrpSpPr/>
          <p:nvPr/>
        </p:nvGrpSpPr>
        <p:grpSpPr>
          <a:xfrm rot="0">
            <a:off x="1028700" y="3236976"/>
            <a:ext cx="1783080" cy="384048"/>
            <a:chOff x="0" y="0"/>
            <a:chExt cx="2377440" cy="512064"/>
          </a:xfrm>
        </p:grpSpPr>
        <p:sp>
          <p:nvSpPr>
            <p:cNvPr name="Freeform 27" id="27"/>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txBody>
            <a:bodyPr/>
            <a:p/>
          </p:txBody>
        </p:sp>
      </p:grpSp>
      <p:grpSp>
        <p:nvGrpSpPr>
          <p:cNvPr name="Group 28" id="28"/>
          <p:cNvGrpSpPr/>
          <p:nvPr/>
        </p:nvGrpSpPr>
        <p:grpSpPr>
          <a:xfrm rot="0">
            <a:off x="1028700" y="3208401"/>
            <a:ext cx="1783080" cy="412623"/>
            <a:chOff x="0" y="0"/>
            <a:chExt cx="2377440" cy="550164"/>
          </a:xfrm>
        </p:grpSpPr>
        <p:sp>
          <p:nvSpPr>
            <p:cNvPr name="Freeform 29" id="29"/>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143" r="0" b="-34141"/>
              </a:stretch>
            </a:blipFill>
          </p:spPr>
          <p:txBody>
            <a:bodyPr/>
            <a:p/>
          </p:txBody>
        </p:sp>
      </p:grpSp>
      <p:grpSp>
        <p:nvGrpSpPr>
          <p:cNvPr name="Group 30" id="30"/>
          <p:cNvGrpSpPr/>
          <p:nvPr/>
        </p:nvGrpSpPr>
        <p:grpSpPr>
          <a:xfrm rot="0">
            <a:off x="1028700" y="3179826"/>
            <a:ext cx="1783080" cy="441198"/>
            <a:chOff x="0" y="0"/>
            <a:chExt cx="2377440" cy="588264"/>
          </a:xfrm>
        </p:grpSpPr>
        <p:sp>
          <p:nvSpPr>
            <p:cNvPr name="Freeform 31" id="31"/>
            <p:cNvSpPr/>
            <p:nvPr/>
          </p:nvSpPr>
          <p:spPr>
            <a:xfrm flipH="false" flipV="false" rot="0">
              <a:off x="0" y="0"/>
              <a:ext cx="2377440" cy="588264"/>
            </a:xfrm>
            <a:custGeom>
              <a:avLst/>
              <a:gdLst/>
              <a:ahLst/>
              <a:cxnLst/>
              <a:rect r="r" b="b" t="t" l="l"/>
              <a:pathLst>
                <a:path h="588264" w="2377440">
                  <a:moveTo>
                    <a:pt x="0" y="0"/>
                  </a:moveTo>
                  <a:lnTo>
                    <a:pt x="2377440" y="0"/>
                  </a:lnTo>
                  <a:lnTo>
                    <a:pt x="2377440" y="588264"/>
                  </a:lnTo>
                  <a:lnTo>
                    <a:pt x="0" y="588264"/>
                  </a:lnTo>
                  <a:close/>
                </a:path>
              </a:pathLst>
            </a:custGeom>
            <a:blipFill>
              <a:blip r:embed="rId6">
                <a:alphaModFix amt="0"/>
              </a:blip>
              <a:stretch>
                <a:fillRect l="0" t="-28747" r="0" b="-28747"/>
              </a:stretch>
            </a:blipFill>
          </p:spPr>
          <p:txBody>
            <a:bodyPr/>
            <a:p/>
          </p:txBody>
        </p:sp>
        <p:sp>
          <p:nvSpPr>
            <p:cNvPr name="TextBox 32" id="32"/>
            <p:cNvSpPr txBox="true"/>
            <p:nvPr/>
          </p:nvSpPr>
          <p:spPr>
            <a:xfrm>
              <a:off x="0" y="-38100"/>
              <a:ext cx="2377440" cy="62636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11 parameter</a:t>
              </a:r>
            </a:p>
          </p:txBody>
        </p:sp>
      </p:grpSp>
      <p:sp>
        <p:nvSpPr>
          <p:cNvPr name="TextBox 33" id="33"/>
          <p:cNvSpPr txBox="true"/>
          <p:nvPr/>
        </p:nvSpPr>
        <p:spPr>
          <a:xfrm rot="0">
            <a:off x="1028700" y="3783330"/>
            <a:ext cx="2811780" cy="5337810"/>
          </a:xfrm>
          <a:prstGeom prst="rect">
            <a:avLst/>
          </a:prstGeom>
        </p:spPr>
        <p:txBody>
          <a:bodyPr anchor="t" rtlCol="false" tIns="0" lIns="0" bIns="0" rIns="0">
            <a:spAutoFit/>
          </a:bodyPr>
          <a:lstStyle/>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Pengeluaran/kunjungan: 0,00272 miliar Rp</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Rasio nilai tambah: 0,1531</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Rasio investasi/PDRB: 0,0488</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Proporsi menginap: 0,2058</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Lama menginap: 1,427 malam</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TPG: 2,07</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Kamar/unit: 21,4168</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Malam tersedia/kamar: 329,03</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Luas lahan: 317.036 ha</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Intensitas TK awal: 21,5366</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Kenaikan produktivitas: 0,0110</a:t>
            </a:r>
          </a:p>
        </p:txBody>
      </p:sp>
      <p:grpSp>
        <p:nvGrpSpPr>
          <p:cNvPr name="Group 34" id="34"/>
          <p:cNvGrpSpPr/>
          <p:nvPr/>
        </p:nvGrpSpPr>
        <p:grpSpPr>
          <a:xfrm rot="0">
            <a:off x="4197096" y="2331720"/>
            <a:ext cx="3154680" cy="6858000"/>
            <a:chOff x="0" y="0"/>
            <a:chExt cx="4206240" cy="9144000"/>
          </a:xfrm>
        </p:grpSpPr>
        <p:sp>
          <p:nvSpPr>
            <p:cNvPr name="Freeform 35" id="35"/>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txBody>
            <a:bodyPr/>
            <a:p/>
          </p:txBody>
        </p:sp>
      </p:grpSp>
      <p:sp>
        <p:nvSpPr>
          <p:cNvPr name="TextBox 36" id="36"/>
          <p:cNvSpPr txBox="true"/>
          <p:nvPr/>
        </p:nvSpPr>
        <p:spPr>
          <a:xfrm rot="0">
            <a:off x="4402836" y="2382012"/>
            <a:ext cx="2743200" cy="8001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Persamaan stok-aliran</a:t>
            </a:r>
          </a:p>
        </p:txBody>
      </p:sp>
      <p:grpSp>
        <p:nvGrpSpPr>
          <p:cNvPr name="Group 37" id="37"/>
          <p:cNvGrpSpPr/>
          <p:nvPr/>
        </p:nvGrpSpPr>
        <p:grpSpPr>
          <a:xfrm rot="0">
            <a:off x="4402836" y="3236976"/>
            <a:ext cx="1783080" cy="384048"/>
            <a:chOff x="0" y="0"/>
            <a:chExt cx="2377440" cy="512064"/>
          </a:xfrm>
        </p:grpSpPr>
        <p:sp>
          <p:nvSpPr>
            <p:cNvPr name="Freeform 38" id="38"/>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39C0D3"/>
            </a:solidFill>
          </p:spPr>
          <p:txBody>
            <a:bodyPr/>
            <a:p/>
          </p:txBody>
        </p:sp>
      </p:grpSp>
      <p:grpSp>
        <p:nvGrpSpPr>
          <p:cNvPr name="Group 39" id="39"/>
          <p:cNvGrpSpPr/>
          <p:nvPr/>
        </p:nvGrpSpPr>
        <p:grpSpPr>
          <a:xfrm rot="0">
            <a:off x="4402836" y="3236976"/>
            <a:ext cx="1783080" cy="384048"/>
            <a:chOff x="0" y="0"/>
            <a:chExt cx="2377440" cy="512064"/>
          </a:xfrm>
        </p:grpSpPr>
        <p:sp>
          <p:nvSpPr>
            <p:cNvPr name="Freeform 40" id="40"/>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txBody>
            <a:bodyPr/>
            <a:p/>
          </p:txBody>
        </p:sp>
      </p:grpSp>
      <p:grpSp>
        <p:nvGrpSpPr>
          <p:cNvPr name="Group 41" id="41"/>
          <p:cNvGrpSpPr/>
          <p:nvPr/>
        </p:nvGrpSpPr>
        <p:grpSpPr>
          <a:xfrm rot="0">
            <a:off x="4402836" y="3208401"/>
            <a:ext cx="1783080" cy="412623"/>
            <a:chOff x="0" y="0"/>
            <a:chExt cx="2377440" cy="550164"/>
          </a:xfrm>
        </p:grpSpPr>
        <p:sp>
          <p:nvSpPr>
            <p:cNvPr name="Freeform 42" id="42"/>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143" r="0" b="-34141"/>
              </a:stretch>
            </a:blipFill>
          </p:spPr>
          <p:txBody>
            <a:bodyPr/>
            <a:p/>
          </p:txBody>
        </p:sp>
      </p:grpSp>
      <p:grpSp>
        <p:nvGrpSpPr>
          <p:cNvPr name="Group 43" id="43"/>
          <p:cNvGrpSpPr/>
          <p:nvPr/>
        </p:nvGrpSpPr>
        <p:grpSpPr>
          <a:xfrm rot="0">
            <a:off x="4402836" y="3179826"/>
            <a:ext cx="1783080" cy="441198"/>
            <a:chOff x="0" y="0"/>
            <a:chExt cx="2377440" cy="588264"/>
          </a:xfrm>
        </p:grpSpPr>
        <p:sp>
          <p:nvSpPr>
            <p:cNvPr name="Freeform 44" id="44"/>
            <p:cNvSpPr/>
            <p:nvPr/>
          </p:nvSpPr>
          <p:spPr>
            <a:xfrm flipH="false" flipV="false" rot="0">
              <a:off x="0" y="0"/>
              <a:ext cx="2377440" cy="588264"/>
            </a:xfrm>
            <a:custGeom>
              <a:avLst/>
              <a:gdLst/>
              <a:ahLst/>
              <a:cxnLst/>
              <a:rect r="r" b="b" t="t" l="l"/>
              <a:pathLst>
                <a:path h="588264" w="2377440">
                  <a:moveTo>
                    <a:pt x="0" y="0"/>
                  </a:moveTo>
                  <a:lnTo>
                    <a:pt x="2377440" y="0"/>
                  </a:lnTo>
                  <a:lnTo>
                    <a:pt x="2377440" y="588264"/>
                  </a:lnTo>
                  <a:lnTo>
                    <a:pt x="0" y="588264"/>
                  </a:lnTo>
                  <a:close/>
                </a:path>
              </a:pathLst>
            </a:custGeom>
            <a:blipFill>
              <a:blip r:embed="rId6">
                <a:alphaModFix amt="0"/>
              </a:blip>
              <a:stretch>
                <a:fillRect l="0" t="-28747" r="0" b="-28747"/>
              </a:stretch>
            </a:blipFill>
          </p:spPr>
          <p:txBody>
            <a:bodyPr/>
            <a:p/>
          </p:txBody>
        </p:sp>
        <p:sp>
          <p:nvSpPr>
            <p:cNvPr name="TextBox 45" id="45"/>
            <p:cNvSpPr txBox="true"/>
            <p:nvPr/>
          </p:nvSpPr>
          <p:spPr>
            <a:xfrm>
              <a:off x="0" y="-38100"/>
              <a:ext cx="2377440" cy="62636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8 parameter</a:t>
              </a:r>
            </a:p>
          </p:txBody>
        </p:sp>
      </p:grpSp>
      <p:sp>
        <p:nvSpPr>
          <p:cNvPr name="TextBox 46" id="46"/>
          <p:cNvSpPr txBox="true"/>
          <p:nvPr/>
        </p:nvSpPr>
        <p:spPr>
          <a:xfrm rot="0">
            <a:off x="4402836" y="3783330"/>
            <a:ext cx="2811780" cy="5337810"/>
          </a:xfrm>
          <a:prstGeom prst="rect">
            <a:avLst/>
          </a:prstGeom>
        </p:spPr>
        <p:txBody>
          <a:bodyPr anchor="t" rtlCol="false" tIns="0" lIns="0" bIns="0" rIns="0">
            <a:spAutoFit/>
          </a:bodyPr>
          <a:lstStyle/>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LPE: 0,27726</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LPD: 0,207945</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Sens. konstruksi thd TPK: 2,31385</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Batas TPK: 0,275</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Sens. ODTW thd investasi: 0,010519</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Laju ODTW non-investasi: 5,4272</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Laju penutupan ODTW: 0,04993</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Laju konversi dasar: 0,0436052</a:t>
            </a:r>
          </a:p>
        </p:txBody>
      </p:sp>
      <p:grpSp>
        <p:nvGrpSpPr>
          <p:cNvPr name="Group 47" id="47"/>
          <p:cNvGrpSpPr/>
          <p:nvPr/>
        </p:nvGrpSpPr>
        <p:grpSpPr>
          <a:xfrm rot="0">
            <a:off x="7571232" y="2331720"/>
            <a:ext cx="3154680" cy="6858000"/>
            <a:chOff x="0" y="0"/>
            <a:chExt cx="4206240" cy="9144000"/>
          </a:xfrm>
        </p:grpSpPr>
        <p:sp>
          <p:nvSpPr>
            <p:cNvPr name="Freeform 48" id="48"/>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txBody>
            <a:bodyPr/>
            <a:p/>
          </p:txBody>
        </p:sp>
      </p:grpSp>
      <p:sp>
        <p:nvSpPr>
          <p:cNvPr name="TextBox 49" id="49"/>
          <p:cNvSpPr txBox="true"/>
          <p:nvPr/>
        </p:nvSpPr>
        <p:spPr>
          <a:xfrm rot="0">
            <a:off x="7776972" y="2382012"/>
            <a:ext cx="2743200" cy="8001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Ketentuan regulasi</a:t>
            </a:r>
          </a:p>
        </p:txBody>
      </p:sp>
      <p:grpSp>
        <p:nvGrpSpPr>
          <p:cNvPr name="Group 50" id="50"/>
          <p:cNvGrpSpPr/>
          <p:nvPr/>
        </p:nvGrpSpPr>
        <p:grpSpPr>
          <a:xfrm rot="0">
            <a:off x="7776972" y="3236976"/>
            <a:ext cx="1783080" cy="384048"/>
            <a:chOff x="0" y="0"/>
            <a:chExt cx="2377440" cy="512064"/>
          </a:xfrm>
        </p:grpSpPr>
        <p:sp>
          <p:nvSpPr>
            <p:cNvPr name="Freeform 51" id="51"/>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FFD23B"/>
            </a:solidFill>
          </p:spPr>
          <p:txBody>
            <a:bodyPr/>
            <a:p/>
          </p:txBody>
        </p:sp>
      </p:grpSp>
      <p:grpSp>
        <p:nvGrpSpPr>
          <p:cNvPr name="Group 52" id="52"/>
          <p:cNvGrpSpPr/>
          <p:nvPr/>
        </p:nvGrpSpPr>
        <p:grpSpPr>
          <a:xfrm rot="0">
            <a:off x="7776972" y="3236976"/>
            <a:ext cx="1783080" cy="384048"/>
            <a:chOff x="0" y="0"/>
            <a:chExt cx="2377440" cy="512064"/>
          </a:xfrm>
        </p:grpSpPr>
        <p:sp>
          <p:nvSpPr>
            <p:cNvPr name="Freeform 53" id="53"/>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txBody>
            <a:bodyPr/>
            <a:p/>
          </p:txBody>
        </p:sp>
      </p:grpSp>
      <p:grpSp>
        <p:nvGrpSpPr>
          <p:cNvPr name="Group 54" id="54"/>
          <p:cNvGrpSpPr/>
          <p:nvPr/>
        </p:nvGrpSpPr>
        <p:grpSpPr>
          <a:xfrm rot="0">
            <a:off x="7776972" y="3208401"/>
            <a:ext cx="1783080" cy="412623"/>
            <a:chOff x="0" y="0"/>
            <a:chExt cx="2377440" cy="550164"/>
          </a:xfrm>
        </p:grpSpPr>
        <p:sp>
          <p:nvSpPr>
            <p:cNvPr name="Freeform 55" id="55"/>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143" r="0" b="-34141"/>
              </a:stretch>
            </a:blipFill>
          </p:spPr>
          <p:txBody>
            <a:bodyPr/>
            <a:p/>
          </p:txBody>
        </p:sp>
      </p:grpSp>
      <p:grpSp>
        <p:nvGrpSpPr>
          <p:cNvPr name="Group 56" id="56"/>
          <p:cNvGrpSpPr/>
          <p:nvPr/>
        </p:nvGrpSpPr>
        <p:grpSpPr>
          <a:xfrm rot="0">
            <a:off x="7776972" y="3179826"/>
            <a:ext cx="1783080" cy="441198"/>
            <a:chOff x="0" y="0"/>
            <a:chExt cx="2377440" cy="588264"/>
          </a:xfrm>
        </p:grpSpPr>
        <p:sp>
          <p:nvSpPr>
            <p:cNvPr name="Freeform 57" id="57"/>
            <p:cNvSpPr/>
            <p:nvPr/>
          </p:nvSpPr>
          <p:spPr>
            <a:xfrm flipH="false" flipV="false" rot="0">
              <a:off x="0" y="0"/>
              <a:ext cx="2377440" cy="588264"/>
            </a:xfrm>
            <a:custGeom>
              <a:avLst/>
              <a:gdLst/>
              <a:ahLst/>
              <a:cxnLst/>
              <a:rect r="r" b="b" t="t" l="l"/>
              <a:pathLst>
                <a:path h="588264" w="2377440">
                  <a:moveTo>
                    <a:pt x="0" y="0"/>
                  </a:moveTo>
                  <a:lnTo>
                    <a:pt x="2377440" y="0"/>
                  </a:lnTo>
                  <a:lnTo>
                    <a:pt x="2377440" y="588264"/>
                  </a:lnTo>
                  <a:lnTo>
                    <a:pt x="0" y="588264"/>
                  </a:lnTo>
                  <a:close/>
                </a:path>
              </a:pathLst>
            </a:custGeom>
            <a:blipFill>
              <a:blip r:embed="rId6">
                <a:alphaModFix amt="0"/>
              </a:blip>
              <a:stretch>
                <a:fillRect l="0" t="-28747" r="0" b="-28747"/>
              </a:stretch>
            </a:blipFill>
          </p:spPr>
          <p:txBody>
            <a:bodyPr/>
            <a:p/>
          </p:txBody>
        </p:sp>
        <p:sp>
          <p:nvSpPr>
            <p:cNvPr name="TextBox 58" id="58"/>
            <p:cNvSpPr txBox="true"/>
            <p:nvPr/>
          </p:nvSpPr>
          <p:spPr>
            <a:xfrm>
              <a:off x="0" y="-38100"/>
              <a:ext cx="2377440" cy="626364"/>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2 parameter</a:t>
              </a:r>
            </a:p>
          </p:txBody>
        </p:sp>
      </p:grpSp>
      <p:sp>
        <p:nvSpPr>
          <p:cNvPr name="TextBox 59" id="59"/>
          <p:cNvSpPr txBox="true"/>
          <p:nvPr/>
        </p:nvSpPr>
        <p:spPr>
          <a:xfrm rot="0">
            <a:off x="7776972" y="3783330"/>
            <a:ext cx="2811780" cy="5337810"/>
          </a:xfrm>
          <a:prstGeom prst="rect">
            <a:avLst/>
          </a:prstGeom>
        </p:spPr>
        <p:txBody>
          <a:bodyPr anchor="t" rtlCol="false" tIns="0" lIns="0" bIns="0" rIns="0">
            <a:spAutoFit/>
          </a:bodyPr>
          <a:lstStyle/>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Laju demolisi dasar: 0,05</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Laju keluar dasar tenaga kerja: 0,03</a:t>
            </a:r>
          </a:p>
        </p:txBody>
      </p:sp>
      <p:grpSp>
        <p:nvGrpSpPr>
          <p:cNvPr name="Group 60" id="60"/>
          <p:cNvGrpSpPr/>
          <p:nvPr/>
        </p:nvGrpSpPr>
        <p:grpSpPr>
          <a:xfrm rot="0">
            <a:off x="10945368" y="2331720"/>
            <a:ext cx="3154680" cy="6858000"/>
            <a:chOff x="0" y="0"/>
            <a:chExt cx="4206240" cy="9144000"/>
          </a:xfrm>
        </p:grpSpPr>
        <p:sp>
          <p:nvSpPr>
            <p:cNvPr name="Freeform 61" id="61"/>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txBody>
            <a:bodyPr/>
            <a:p/>
          </p:txBody>
        </p:sp>
      </p:grpSp>
      <p:sp>
        <p:nvSpPr>
          <p:cNvPr name="TextBox 62" id="62"/>
          <p:cNvSpPr txBox="true"/>
          <p:nvPr/>
        </p:nvSpPr>
        <p:spPr>
          <a:xfrm rot="0">
            <a:off x="11151108" y="2382012"/>
            <a:ext cx="2743200" cy="8001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Asumsi pemodelan</a:t>
            </a:r>
          </a:p>
        </p:txBody>
      </p:sp>
      <p:grpSp>
        <p:nvGrpSpPr>
          <p:cNvPr name="Group 63" id="63"/>
          <p:cNvGrpSpPr/>
          <p:nvPr/>
        </p:nvGrpSpPr>
        <p:grpSpPr>
          <a:xfrm rot="0">
            <a:off x="11151108" y="3236976"/>
            <a:ext cx="1783080" cy="384048"/>
            <a:chOff x="0" y="0"/>
            <a:chExt cx="2377440" cy="512064"/>
          </a:xfrm>
        </p:grpSpPr>
        <p:sp>
          <p:nvSpPr>
            <p:cNvPr name="Freeform 64" id="64"/>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FFD23B"/>
            </a:solidFill>
          </p:spPr>
          <p:txBody>
            <a:bodyPr/>
            <a:p/>
          </p:txBody>
        </p:sp>
      </p:grpSp>
      <p:grpSp>
        <p:nvGrpSpPr>
          <p:cNvPr name="Group 65" id="65"/>
          <p:cNvGrpSpPr/>
          <p:nvPr/>
        </p:nvGrpSpPr>
        <p:grpSpPr>
          <a:xfrm rot="0">
            <a:off x="11151108" y="3236976"/>
            <a:ext cx="1783080" cy="384048"/>
            <a:chOff x="0" y="0"/>
            <a:chExt cx="2377440" cy="512064"/>
          </a:xfrm>
        </p:grpSpPr>
        <p:sp>
          <p:nvSpPr>
            <p:cNvPr name="Freeform 66" id="66"/>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txBody>
            <a:bodyPr/>
            <a:p/>
          </p:txBody>
        </p:sp>
      </p:grpSp>
      <p:grpSp>
        <p:nvGrpSpPr>
          <p:cNvPr name="Group 67" id="67"/>
          <p:cNvGrpSpPr/>
          <p:nvPr/>
        </p:nvGrpSpPr>
        <p:grpSpPr>
          <a:xfrm rot="0">
            <a:off x="11151108" y="3208401"/>
            <a:ext cx="1783080" cy="412623"/>
            <a:chOff x="0" y="0"/>
            <a:chExt cx="2377440" cy="550164"/>
          </a:xfrm>
        </p:grpSpPr>
        <p:sp>
          <p:nvSpPr>
            <p:cNvPr name="Freeform 68" id="68"/>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143" r="0" b="-34141"/>
              </a:stretch>
            </a:blipFill>
          </p:spPr>
          <p:txBody>
            <a:bodyPr/>
            <a:p/>
          </p:txBody>
        </p:sp>
      </p:grpSp>
      <p:grpSp>
        <p:nvGrpSpPr>
          <p:cNvPr name="Group 69" id="69"/>
          <p:cNvGrpSpPr/>
          <p:nvPr/>
        </p:nvGrpSpPr>
        <p:grpSpPr>
          <a:xfrm rot="0">
            <a:off x="11151108" y="3179826"/>
            <a:ext cx="1783080" cy="441198"/>
            <a:chOff x="0" y="0"/>
            <a:chExt cx="2377440" cy="588264"/>
          </a:xfrm>
        </p:grpSpPr>
        <p:sp>
          <p:nvSpPr>
            <p:cNvPr name="Freeform 70" id="70"/>
            <p:cNvSpPr/>
            <p:nvPr/>
          </p:nvSpPr>
          <p:spPr>
            <a:xfrm flipH="false" flipV="false" rot="0">
              <a:off x="0" y="0"/>
              <a:ext cx="2377440" cy="588264"/>
            </a:xfrm>
            <a:custGeom>
              <a:avLst/>
              <a:gdLst/>
              <a:ahLst/>
              <a:cxnLst/>
              <a:rect r="r" b="b" t="t" l="l"/>
              <a:pathLst>
                <a:path h="588264" w="2377440">
                  <a:moveTo>
                    <a:pt x="0" y="0"/>
                  </a:moveTo>
                  <a:lnTo>
                    <a:pt x="2377440" y="0"/>
                  </a:lnTo>
                  <a:lnTo>
                    <a:pt x="2377440" y="588264"/>
                  </a:lnTo>
                  <a:lnTo>
                    <a:pt x="0" y="588264"/>
                  </a:lnTo>
                  <a:close/>
                </a:path>
              </a:pathLst>
            </a:custGeom>
            <a:blipFill>
              <a:blip r:embed="rId6">
                <a:alphaModFix amt="0"/>
              </a:blip>
              <a:stretch>
                <a:fillRect l="0" t="-28747" r="0" b="-28747"/>
              </a:stretch>
            </a:blipFill>
          </p:spPr>
          <p:txBody>
            <a:bodyPr/>
            <a:p/>
          </p:txBody>
        </p:sp>
        <p:sp>
          <p:nvSpPr>
            <p:cNvPr name="TextBox 71" id="71"/>
            <p:cNvSpPr txBox="true"/>
            <p:nvPr/>
          </p:nvSpPr>
          <p:spPr>
            <a:xfrm>
              <a:off x="0" y="-38100"/>
              <a:ext cx="2377440" cy="626364"/>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8 parameter</a:t>
              </a:r>
            </a:p>
          </p:txBody>
        </p:sp>
      </p:grpSp>
      <p:sp>
        <p:nvSpPr>
          <p:cNvPr name="TextBox 72" id="72"/>
          <p:cNvSpPr txBox="true"/>
          <p:nvPr/>
        </p:nvSpPr>
        <p:spPr>
          <a:xfrm rot="0">
            <a:off x="11151108" y="3783330"/>
            <a:ext cx="2811780" cy="5337810"/>
          </a:xfrm>
          <a:prstGeom prst="rect">
            <a:avLst/>
          </a:prstGeom>
        </p:spPr>
        <p:txBody>
          <a:bodyPr anchor="t" rtlCol="false" tIns="0" lIns="0" bIns="0" rIns="0">
            <a:spAutoFit/>
          </a:bodyPr>
          <a:lstStyle/>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Bobot ODTW: 0,40</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Bobot kepadatan: 0,35</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Bobot daya dukung lahan: 0,25</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Elastisitas daya tarik ODTW: 0,3</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Batas maks. efek ODTW: 1,5</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Lahan per hotel: 0,1 ha</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Lahan per ODTW: 0,5 ha</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Waktu penyesuaian TK: 1 tahun</a:t>
            </a:r>
          </a:p>
        </p:txBody>
      </p:sp>
      <p:grpSp>
        <p:nvGrpSpPr>
          <p:cNvPr name="Group 73" id="73"/>
          <p:cNvGrpSpPr/>
          <p:nvPr/>
        </p:nvGrpSpPr>
        <p:grpSpPr>
          <a:xfrm rot="0">
            <a:off x="14319504" y="2331720"/>
            <a:ext cx="3154680" cy="6858000"/>
            <a:chOff x="0" y="0"/>
            <a:chExt cx="4206240" cy="9144000"/>
          </a:xfrm>
        </p:grpSpPr>
        <p:sp>
          <p:nvSpPr>
            <p:cNvPr name="Freeform 74" id="74"/>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txBody>
            <a:bodyPr/>
            <a:p/>
          </p:txBody>
        </p:sp>
      </p:grpSp>
      <p:sp>
        <p:nvSpPr>
          <p:cNvPr name="TextBox 75" id="75"/>
          <p:cNvSpPr txBox="true"/>
          <p:nvPr/>
        </p:nvSpPr>
        <p:spPr>
          <a:xfrm rot="0">
            <a:off x="14525244" y="2382012"/>
            <a:ext cx="2743200" cy="8001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Normalisasi &amp; kebijakan</a:t>
            </a:r>
          </a:p>
        </p:txBody>
      </p:sp>
      <p:grpSp>
        <p:nvGrpSpPr>
          <p:cNvPr name="Group 76" id="76"/>
          <p:cNvGrpSpPr/>
          <p:nvPr/>
        </p:nvGrpSpPr>
        <p:grpSpPr>
          <a:xfrm rot="0">
            <a:off x="14525244" y="3236976"/>
            <a:ext cx="1783080" cy="384048"/>
            <a:chOff x="0" y="0"/>
            <a:chExt cx="2377440" cy="512064"/>
          </a:xfrm>
        </p:grpSpPr>
        <p:sp>
          <p:nvSpPr>
            <p:cNvPr name="Freeform 77" id="77"/>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39C0D3"/>
            </a:solidFill>
          </p:spPr>
          <p:txBody>
            <a:bodyPr/>
            <a:p/>
          </p:txBody>
        </p:sp>
      </p:grpSp>
      <p:grpSp>
        <p:nvGrpSpPr>
          <p:cNvPr name="Group 78" id="78"/>
          <p:cNvGrpSpPr/>
          <p:nvPr/>
        </p:nvGrpSpPr>
        <p:grpSpPr>
          <a:xfrm rot="0">
            <a:off x="14525244" y="3236976"/>
            <a:ext cx="1783080" cy="384048"/>
            <a:chOff x="0" y="0"/>
            <a:chExt cx="2377440" cy="512064"/>
          </a:xfrm>
        </p:grpSpPr>
        <p:sp>
          <p:nvSpPr>
            <p:cNvPr name="Freeform 79" id="79"/>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txBody>
            <a:bodyPr/>
            <a:p/>
          </p:txBody>
        </p:sp>
      </p:grpSp>
      <p:grpSp>
        <p:nvGrpSpPr>
          <p:cNvPr name="Group 80" id="80"/>
          <p:cNvGrpSpPr/>
          <p:nvPr/>
        </p:nvGrpSpPr>
        <p:grpSpPr>
          <a:xfrm rot="0">
            <a:off x="14525244" y="3208401"/>
            <a:ext cx="1783080" cy="412623"/>
            <a:chOff x="0" y="0"/>
            <a:chExt cx="2377440" cy="550164"/>
          </a:xfrm>
        </p:grpSpPr>
        <p:sp>
          <p:nvSpPr>
            <p:cNvPr name="Freeform 81" id="81"/>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143" r="0" b="-34141"/>
              </a:stretch>
            </a:blipFill>
          </p:spPr>
          <p:txBody>
            <a:bodyPr/>
            <a:p/>
          </p:txBody>
        </p:sp>
      </p:grpSp>
      <p:grpSp>
        <p:nvGrpSpPr>
          <p:cNvPr name="Group 82" id="82"/>
          <p:cNvGrpSpPr/>
          <p:nvPr/>
        </p:nvGrpSpPr>
        <p:grpSpPr>
          <a:xfrm rot="0">
            <a:off x="14525244" y="3179826"/>
            <a:ext cx="1783080" cy="441198"/>
            <a:chOff x="0" y="0"/>
            <a:chExt cx="2377440" cy="588264"/>
          </a:xfrm>
        </p:grpSpPr>
        <p:sp>
          <p:nvSpPr>
            <p:cNvPr name="Freeform 83" id="83"/>
            <p:cNvSpPr/>
            <p:nvPr/>
          </p:nvSpPr>
          <p:spPr>
            <a:xfrm flipH="false" flipV="false" rot="0">
              <a:off x="0" y="0"/>
              <a:ext cx="2377440" cy="588264"/>
            </a:xfrm>
            <a:custGeom>
              <a:avLst/>
              <a:gdLst/>
              <a:ahLst/>
              <a:cxnLst/>
              <a:rect r="r" b="b" t="t" l="l"/>
              <a:pathLst>
                <a:path h="588264" w="2377440">
                  <a:moveTo>
                    <a:pt x="0" y="0"/>
                  </a:moveTo>
                  <a:lnTo>
                    <a:pt x="2377440" y="0"/>
                  </a:lnTo>
                  <a:lnTo>
                    <a:pt x="2377440" y="588264"/>
                  </a:lnTo>
                  <a:lnTo>
                    <a:pt x="0" y="588264"/>
                  </a:lnTo>
                  <a:close/>
                </a:path>
              </a:pathLst>
            </a:custGeom>
            <a:blipFill>
              <a:blip r:embed="rId6">
                <a:alphaModFix amt="0"/>
              </a:blip>
              <a:stretch>
                <a:fillRect l="0" t="-28747" r="0" b="-28747"/>
              </a:stretch>
            </a:blipFill>
          </p:spPr>
          <p:txBody>
            <a:bodyPr/>
            <a:p/>
          </p:txBody>
        </p:sp>
        <p:sp>
          <p:nvSpPr>
            <p:cNvPr name="TextBox 84" id="84"/>
            <p:cNvSpPr txBox="true"/>
            <p:nvPr/>
          </p:nvSpPr>
          <p:spPr>
            <a:xfrm>
              <a:off x="0" y="-38100"/>
              <a:ext cx="2377440" cy="62636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6 parameter</a:t>
              </a:r>
            </a:p>
          </p:txBody>
        </p:sp>
      </p:grpSp>
      <p:sp>
        <p:nvSpPr>
          <p:cNvPr name="TextBox 85" id="85"/>
          <p:cNvSpPr txBox="true"/>
          <p:nvPr/>
        </p:nvSpPr>
        <p:spPr>
          <a:xfrm rot="0">
            <a:off x="14525244" y="3783330"/>
            <a:ext cx="2811780" cy="5337810"/>
          </a:xfrm>
          <a:prstGeom prst="rect">
            <a:avLst/>
          </a:prstGeom>
        </p:spPr>
        <p:txBody>
          <a:bodyPr anchor="t" rtlCol="false" tIns="0" lIns="0" bIns="0" rIns="0">
            <a:spAutoFit/>
          </a:bodyPr>
          <a:lstStyle/>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ODTW referensi: 201</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Kepadatan referensi: 128,363</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RDDL referensi: 0,826425</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Tahun dasar intensitas TK: 2025</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Insentif kebijakan: 0 (BAU)</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Konservasi lahan: 0 (BAU)</a:t>
            </a:r>
          </a:p>
        </p:txBody>
      </p:sp>
      <p:sp>
        <p:nvSpPr>
          <p:cNvPr name="TextBox 86" id="86"/>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78</a:t>
            </a:r>
          </a:p>
        </p:txBody>
      </p:sp>
    </p:spTree>
  </p:cSld>
  <p:clrMapOvr>
    <a:masterClrMapping/>
  </p:clrMapOvr>
</p:sld>
</file>

<file path=ppt/slides/slide7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3 · Estimasi ODTW dengan NTL: validasi LOOCV dan selang prediksi</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822960" y="2188845"/>
            <a:ext cx="9326880" cy="62293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ODTW aktual vs prediksi LOOCV (unit)</a:t>
            </a:r>
          </a:p>
        </p:txBody>
      </p:sp>
      <p:sp>
        <p:nvSpPr>
          <p:cNvPr name="TextBox 22" id="22"/>
          <p:cNvSpPr txBox="true"/>
          <p:nvPr/>
        </p:nvSpPr>
        <p:spPr>
          <a:xfrm rot="0">
            <a:off x="10698480" y="2188845"/>
            <a:ext cx="6761988" cy="62293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Estimasi pada tahun tanpa data BPS (selang prediksi 95%)</a:t>
            </a:r>
          </a:p>
        </p:txBody>
      </p:sp>
      <p:graphicFrame>
        <p:nvGraphicFramePr>
          <p:cNvPr name="Table 23" id="23"/>
          <p:cNvGraphicFramePr>
            <a:graphicFrameLocks noGrp="true"/>
          </p:cNvGraphicFramePr>
          <p:nvPr/>
        </p:nvGraphicFramePr>
        <p:xfrm>
          <a:off x="10698480" y="2880360"/>
          <a:ext cx="6680200" cy="2857500"/>
        </p:xfrm>
        <a:graphic>
          <a:graphicData uri="http://schemas.openxmlformats.org/drawingml/2006/table">
            <a:tbl>
              <a:tblPr/>
              <a:tblGrid>
                <a:gridCol w="1096079"/>
                <a:gridCol w="1096079"/>
                <a:gridCol w="1354102"/>
                <a:gridCol w="1612125"/>
                <a:gridCol w="1521816"/>
              </a:tblGrid>
              <a:tr h="571500">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Tahun</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NTL</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Estimasi</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Batas bawah</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Batas atas</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2015</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1,262</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165,2</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138,5</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191,9</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2016</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1,054</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158,1</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128,9</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187,3</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2017</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1,438</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171,4</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146,4</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196,3</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2025</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2,288</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200,7</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176,7</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224,8</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24" id="24"/>
          <p:cNvGrpSpPr/>
          <p:nvPr/>
        </p:nvGrpSpPr>
        <p:grpSpPr>
          <a:xfrm rot="0">
            <a:off x="10698480" y="6103620"/>
            <a:ext cx="6761988" cy="3017520"/>
            <a:chOff x="0" y="0"/>
            <a:chExt cx="9015984" cy="4023360"/>
          </a:xfrm>
        </p:grpSpPr>
        <p:sp>
          <p:nvSpPr>
            <p:cNvPr name="Freeform 25" id="25"/>
            <p:cNvSpPr/>
            <p:nvPr/>
          </p:nvSpPr>
          <p:spPr>
            <a:xfrm flipH="false" flipV="false" rot="0">
              <a:off x="0" y="0"/>
              <a:ext cx="9015985" cy="4023360"/>
            </a:xfrm>
            <a:custGeom>
              <a:avLst/>
              <a:gdLst/>
              <a:ahLst/>
              <a:cxnLst/>
              <a:rect r="r" b="b" t="t" l="l"/>
              <a:pathLst>
                <a:path h="4023360" w="9015985">
                  <a:moveTo>
                    <a:pt x="0" y="182880"/>
                  </a:moveTo>
                  <a:cubicBezTo>
                    <a:pt x="0" y="81915"/>
                    <a:pt x="81915" y="0"/>
                    <a:pt x="182880" y="0"/>
                  </a:cubicBezTo>
                  <a:lnTo>
                    <a:pt x="8833104" y="0"/>
                  </a:lnTo>
                  <a:cubicBezTo>
                    <a:pt x="8934069" y="0"/>
                    <a:pt x="9015985" y="81915"/>
                    <a:pt x="9015985" y="182880"/>
                  </a:cubicBezTo>
                  <a:lnTo>
                    <a:pt x="9015985" y="3840480"/>
                  </a:lnTo>
                  <a:cubicBezTo>
                    <a:pt x="9015985" y="3941445"/>
                    <a:pt x="8934069" y="4023360"/>
                    <a:pt x="8833104" y="4023360"/>
                  </a:cubicBezTo>
                  <a:lnTo>
                    <a:pt x="182880" y="4023360"/>
                  </a:lnTo>
                  <a:cubicBezTo>
                    <a:pt x="81915" y="4023360"/>
                    <a:pt x="0" y="3941445"/>
                    <a:pt x="0" y="3840480"/>
                  </a:cubicBezTo>
                  <a:close/>
                </a:path>
              </a:pathLst>
            </a:custGeom>
            <a:solidFill>
              <a:srgbClr val="FFF1BF"/>
            </a:solidFill>
          </p:spPr>
          <p:txBody>
            <a:bodyPr/>
            <a:p/>
          </p:txBody>
        </p:sp>
      </p:grpSp>
      <p:sp>
        <p:nvSpPr>
          <p:cNvPr name="TextBox 26" id="26"/>
          <p:cNvSpPr txBox="true"/>
          <p:nvPr/>
        </p:nvSpPr>
        <p:spPr>
          <a:xfrm rot="0">
            <a:off x="10972800" y="6195060"/>
            <a:ext cx="6240780" cy="2857500"/>
          </a:xfrm>
          <a:prstGeom prst="rect">
            <a:avLst/>
          </a:prstGeom>
        </p:spPr>
        <p:txBody>
          <a:bodyPr anchor="t" rtlCol="false" tIns="0" lIns="0" bIns="0" rIns="0">
            <a:spAutoFit/>
          </a:bodyPr>
          <a:lstStyle/>
          <a:p>
            <a:pPr algn="l" marL="470537" indent="-117634" lvl="3">
              <a:lnSpc>
                <a:spcPts val="2160"/>
              </a:lnSpc>
              <a:buFont typeface="Arial"/>
              <a:buChar char="￭"/>
            </a:pPr>
            <a:r>
              <a:rPr lang="en-US" sz="1800">
                <a:solidFill>
                  <a:srgbClr val="14313B"/>
                </a:solidFill>
                <a:latin typeface="Calibri (MS)"/>
                <a:ea typeface="Calibri (MS)"/>
                <a:cs typeface="Calibri (MS)"/>
                <a:sym typeface="Calibri (MS)"/>
              </a:rPr>
              <a:t>RMSE relatif LOOCV 5,99% (error terbesar: 2022 −8,2%, 2023 +7,0%, 2024 −8,9%)</a:t>
            </a:r>
          </a:p>
          <a:p>
            <a:pPr algn="l" marL="470537" indent="-117634" lvl="3">
              <a:lnSpc>
                <a:spcPts val="2160"/>
              </a:lnSpc>
              <a:buFont typeface="Arial"/>
              <a:buChar char="￭"/>
            </a:pPr>
            <a:r>
              <a:rPr lang="en-US" sz="1800">
                <a:solidFill>
                  <a:srgbClr val="14313B"/>
                </a:solidFill>
                <a:latin typeface="Calibri (MS)"/>
                <a:ea typeface="Calibri (MS)"/>
                <a:cs typeface="Calibri (MS)"/>
                <a:sym typeface="Calibri (MS)"/>
              </a:rPr>
              <a:t>2016 memiliki selang terlebar (≈ 58 unit): NTL 1,054 di luar rentang data latih (1,483–2,512)</a:t>
            </a:r>
          </a:p>
          <a:p>
            <a:pPr algn="l" marL="470537" indent="-117634" lvl="3">
              <a:lnSpc>
                <a:spcPts val="2160"/>
              </a:lnSpc>
              <a:buFont typeface="Arial"/>
              <a:buChar char="￭"/>
            </a:pPr>
            <a:r>
              <a:rPr lang="en-US" sz="1800">
                <a:solidFill>
                  <a:srgbClr val="14313B"/>
                </a:solidFill>
                <a:latin typeface="Calibri (MS)"/>
                <a:ea typeface="Calibri (MS)"/>
                <a:cs typeface="Calibri (MS)"/>
                <a:sym typeface="Calibri (MS)"/>
              </a:rPr>
              <a:t>Estimasi tetap dipakai tanpa penyesuaian tambahan</a:t>
            </a:r>
          </a:p>
        </p:txBody>
      </p:sp>
      <p:sp>
        <p:nvSpPr>
          <p:cNvPr name="TextBox 27" id="27"/>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79</a:t>
            </a:r>
          </a:p>
        </p:txBody>
      </p:sp>
      <p:grpSp>
        <p:nvGrpSpPr>
          <p:cNvPr name="Group 28" id="28"/>
          <p:cNvGrpSpPr/>
          <p:nvPr/>
        </p:nvGrpSpPr>
        <p:grpSpPr>
          <a:xfrm rot="0">
            <a:off x="-128016" y="1929384"/>
            <a:ext cx="11411712" cy="8165592"/>
            <a:chOff x="0" y="0"/>
            <a:chExt cx="15215616" cy="10887456"/>
          </a:xfrm>
        </p:grpSpPr>
        <p:sp>
          <p:nvSpPr>
            <p:cNvPr name="Freeform 29" id="29"/>
            <p:cNvSpPr/>
            <p:nvPr/>
          </p:nvSpPr>
          <p:spPr>
            <a:xfrm flipH="false" flipV="false" rot="0">
              <a:off x="0" y="0"/>
              <a:ext cx="15215615" cy="10887456"/>
            </a:xfrm>
            <a:custGeom>
              <a:avLst/>
              <a:gdLst/>
              <a:ahLst/>
              <a:cxnLst/>
              <a:rect r="r" b="b" t="t" l="l"/>
              <a:pathLst>
                <a:path h="10887456" w="15215615">
                  <a:moveTo>
                    <a:pt x="0" y="0"/>
                  </a:moveTo>
                  <a:lnTo>
                    <a:pt x="15215615" y="0"/>
                  </a:lnTo>
                  <a:lnTo>
                    <a:pt x="15215615" y="10887456"/>
                  </a:lnTo>
                  <a:lnTo>
                    <a:pt x="0" y="10887456"/>
                  </a:lnTo>
                  <a:lnTo>
                    <a:pt x="0" y="0"/>
                  </a:lnTo>
                  <a:close/>
                </a:path>
              </a:pathLst>
            </a:custGeom>
            <a:blipFill>
              <a:blip r:embed="rId7"/>
              <a:stretch>
                <a:fillRect l="-13" t="0" r="-12" b="0"/>
              </a:stretch>
            </a:blipFill>
          </p:spPr>
          <p:txBody>
            <a:bodyPr/>
            <a:p/>
          </p:txBody>
        </p:sp>
      </p:grpSp>
    </p:spTree>
  </p:cSld>
  <p:clrMapOvr>
    <a:masterClrMapping/>
  </p:clrMapOvr>
</p:sld>
</file>

<file path=ppt/slides/slide8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4 · Uji akurasi klasifikasi lahan terbangun Dynamic World 2025</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822960" y="2188845"/>
            <a:ext cx="7543800" cy="62293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Matriks konfusi (jumlah titik)</a:t>
            </a:r>
          </a:p>
        </p:txBody>
      </p:sp>
      <p:sp>
        <p:nvSpPr>
          <p:cNvPr name="TextBox 22" id="22"/>
          <p:cNvSpPr txBox="true"/>
          <p:nvPr/>
        </p:nvSpPr>
        <p:spPr>
          <a:xfrm rot="0">
            <a:off x="3291840" y="2793492"/>
            <a:ext cx="4937760" cy="525780"/>
          </a:xfrm>
          <a:prstGeom prst="rect">
            <a:avLst/>
          </a:prstGeom>
        </p:spPr>
        <p:txBody>
          <a:bodyPr anchor="t" rtlCol="false" tIns="0" lIns="0" bIns="0" rIns="0">
            <a:spAutoFit/>
          </a:bodyPr>
          <a:lstStyle/>
          <a:p>
            <a:pPr algn="ctr">
              <a:lnSpc>
                <a:spcPts val="2070"/>
              </a:lnSpc>
            </a:pPr>
            <a:r>
              <a:rPr lang="en-US" sz="1725" b="true">
                <a:solidFill>
                  <a:srgbClr val="5E6E78"/>
                </a:solidFill>
                <a:latin typeface="Calibri (MS) Bold"/>
                <a:ea typeface="Calibri (MS) Bold"/>
                <a:cs typeface="Calibri (MS) Bold"/>
                <a:sym typeface="Calibri (MS) Bold"/>
              </a:rPr>
              <a:t>Rujukan</a:t>
            </a:r>
          </a:p>
        </p:txBody>
      </p:sp>
      <p:sp>
        <p:nvSpPr>
          <p:cNvPr name="TextBox 23" id="23"/>
          <p:cNvSpPr txBox="true"/>
          <p:nvPr/>
        </p:nvSpPr>
        <p:spPr>
          <a:xfrm rot="0">
            <a:off x="3154680" y="3204972"/>
            <a:ext cx="2468880" cy="52578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Terbangun</a:t>
            </a:r>
          </a:p>
        </p:txBody>
      </p:sp>
      <p:sp>
        <p:nvSpPr>
          <p:cNvPr name="TextBox 24" id="24"/>
          <p:cNvSpPr txBox="true"/>
          <p:nvPr/>
        </p:nvSpPr>
        <p:spPr>
          <a:xfrm rot="0">
            <a:off x="5760720" y="3204972"/>
            <a:ext cx="2468880" cy="52578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Bukan terbangun</a:t>
            </a:r>
          </a:p>
        </p:txBody>
      </p:sp>
      <p:grpSp>
        <p:nvGrpSpPr>
          <p:cNvPr name="Group 25" id="25"/>
          <p:cNvGrpSpPr/>
          <p:nvPr/>
        </p:nvGrpSpPr>
        <p:grpSpPr>
          <a:xfrm rot="0">
            <a:off x="822960" y="4594860"/>
            <a:ext cx="2263140" cy="685800"/>
            <a:chOff x="0" y="0"/>
            <a:chExt cx="3017520" cy="914400"/>
          </a:xfrm>
        </p:grpSpPr>
        <p:sp>
          <p:nvSpPr>
            <p:cNvPr name="Freeform 26" id="26"/>
            <p:cNvSpPr/>
            <p:nvPr/>
          </p:nvSpPr>
          <p:spPr>
            <a:xfrm flipH="false" flipV="false" rot="0">
              <a:off x="0" y="0"/>
              <a:ext cx="3017520" cy="914400"/>
            </a:xfrm>
            <a:custGeom>
              <a:avLst/>
              <a:gdLst/>
              <a:ahLst/>
              <a:cxnLst/>
              <a:rect r="r" b="b" t="t" l="l"/>
              <a:pathLst>
                <a:path h="914400" w="3017520">
                  <a:moveTo>
                    <a:pt x="0" y="0"/>
                  </a:moveTo>
                  <a:lnTo>
                    <a:pt x="3017520" y="0"/>
                  </a:lnTo>
                  <a:lnTo>
                    <a:pt x="3017520" y="914400"/>
                  </a:lnTo>
                  <a:lnTo>
                    <a:pt x="0" y="914400"/>
                  </a:lnTo>
                  <a:close/>
                </a:path>
              </a:pathLst>
            </a:custGeom>
            <a:blipFill>
              <a:blip r:embed="rId4">
                <a:alphaModFix amt="0"/>
              </a:blip>
              <a:stretch>
                <a:fillRect l="0" t="-14255" r="0" b="-14256"/>
              </a:stretch>
            </a:blipFill>
          </p:spPr>
          <p:txBody>
            <a:bodyPr/>
            <a:p/>
          </p:txBody>
        </p:sp>
      </p:grpSp>
      <p:grpSp>
        <p:nvGrpSpPr>
          <p:cNvPr name="Group 27" id="27"/>
          <p:cNvGrpSpPr/>
          <p:nvPr/>
        </p:nvGrpSpPr>
        <p:grpSpPr>
          <a:xfrm rot="0">
            <a:off x="822960" y="4566285"/>
            <a:ext cx="2263140" cy="714375"/>
            <a:chOff x="0" y="0"/>
            <a:chExt cx="3017520" cy="952500"/>
          </a:xfrm>
        </p:grpSpPr>
        <p:sp>
          <p:nvSpPr>
            <p:cNvPr name="Freeform 28" id="28"/>
            <p:cNvSpPr/>
            <p:nvPr/>
          </p:nvSpPr>
          <p:spPr>
            <a:xfrm flipH="false" flipV="false" rot="0">
              <a:off x="0" y="0"/>
              <a:ext cx="3017520" cy="952500"/>
            </a:xfrm>
            <a:custGeom>
              <a:avLst/>
              <a:gdLst/>
              <a:ahLst/>
              <a:cxnLst/>
              <a:rect r="r" b="b" t="t" l="l"/>
              <a:pathLst>
                <a:path h="952500" w="3017520">
                  <a:moveTo>
                    <a:pt x="0" y="0"/>
                  </a:moveTo>
                  <a:lnTo>
                    <a:pt x="3017520" y="0"/>
                  </a:lnTo>
                  <a:lnTo>
                    <a:pt x="3017520" y="952500"/>
                  </a:lnTo>
                  <a:lnTo>
                    <a:pt x="0" y="952500"/>
                  </a:lnTo>
                  <a:close/>
                </a:path>
              </a:pathLst>
            </a:custGeom>
            <a:blipFill>
              <a:blip r:embed="rId5">
                <a:alphaModFix amt="0"/>
              </a:blip>
              <a:stretch>
                <a:fillRect l="0" t="-11685" r="0" b="-11686"/>
              </a:stretch>
            </a:blipFill>
          </p:spPr>
          <p:txBody>
            <a:bodyPr/>
            <a:p/>
          </p:txBody>
        </p:sp>
      </p:grpSp>
      <p:grpSp>
        <p:nvGrpSpPr>
          <p:cNvPr name="Group 29" id="29"/>
          <p:cNvGrpSpPr/>
          <p:nvPr/>
        </p:nvGrpSpPr>
        <p:grpSpPr>
          <a:xfrm rot="0">
            <a:off x="822960" y="4537710"/>
            <a:ext cx="2263140" cy="742950"/>
            <a:chOff x="0" y="0"/>
            <a:chExt cx="3017520" cy="990600"/>
          </a:xfrm>
        </p:grpSpPr>
        <p:sp>
          <p:nvSpPr>
            <p:cNvPr name="Freeform 30" id="30"/>
            <p:cNvSpPr/>
            <p:nvPr/>
          </p:nvSpPr>
          <p:spPr>
            <a:xfrm flipH="false" flipV="false" rot="0">
              <a:off x="0" y="0"/>
              <a:ext cx="3017520" cy="990600"/>
            </a:xfrm>
            <a:custGeom>
              <a:avLst/>
              <a:gdLst/>
              <a:ahLst/>
              <a:cxnLst/>
              <a:rect r="r" b="b" t="t" l="l"/>
              <a:pathLst>
                <a:path h="990600" w="3017520">
                  <a:moveTo>
                    <a:pt x="0" y="0"/>
                  </a:moveTo>
                  <a:lnTo>
                    <a:pt x="3017520" y="0"/>
                  </a:lnTo>
                  <a:lnTo>
                    <a:pt x="3017520" y="990600"/>
                  </a:lnTo>
                  <a:lnTo>
                    <a:pt x="0" y="990600"/>
                  </a:lnTo>
                  <a:close/>
                </a:path>
              </a:pathLst>
            </a:custGeom>
            <a:blipFill>
              <a:blip r:embed="rId6">
                <a:alphaModFix amt="0"/>
              </a:blip>
              <a:stretch>
                <a:fillRect l="0" t="-9354" r="0" b="-9354"/>
              </a:stretch>
            </a:blipFill>
          </p:spPr>
          <p:txBody>
            <a:bodyPr/>
            <a:p/>
          </p:txBody>
        </p:sp>
        <p:sp>
          <p:nvSpPr>
            <p:cNvPr name="TextBox 31" id="31"/>
            <p:cNvSpPr txBox="true"/>
            <p:nvPr/>
          </p:nvSpPr>
          <p:spPr>
            <a:xfrm>
              <a:off x="0" y="-38100"/>
              <a:ext cx="3017520" cy="1028700"/>
            </a:xfrm>
            <a:prstGeom prst="rect">
              <a:avLst/>
            </a:prstGeom>
          </p:spPr>
          <p:txBody>
            <a:bodyPr anchor="ctr" rtlCol="false" tIns="0" lIns="0" bIns="0" rIns="0"/>
            <a:lstStyle/>
            <a:p>
              <a:pPr algn="r">
                <a:lnSpc>
                  <a:spcPts val="2070"/>
                </a:lnSpc>
              </a:pPr>
              <a:r>
                <a:rPr lang="en-US" sz="1725">
                  <a:solidFill>
                    <a:srgbClr val="14313B"/>
                  </a:solidFill>
                  <a:latin typeface="Calibri (MS)"/>
                  <a:ea typeface="Calibri (MS)"/>
                  <a:cs typeface="Calibri (MS)"/>
                  <a:sym typeface="Calibri (MS)"/>
                </a:rPr>
                <a:t>Peta: terbangun</a:t>
              </a:r>
            </a:p>
          </p:txBody>
        </p:sp>
      </p:grpSp>
      <p:grpSp>
        <p:nvGrpSpPr>
          <p:cNvPr name="Group 32" id="32"/>
          <p:cNvGrpSpPr/>
          <p:nvPr/>
        </p:nvGrpSpPr>
        <p:grpSpPr>
          <a:xfrm rot="0">
            <a:off x="822960" y="6309360"/>
            <a:ext cx="2263140" cy="685800"/>
            <a:chOff x="0" y="0"/>
            <a:chExt cx="3017520" cy="914400"/>
          </a:xfrm>
        </p:grpSpPr>
        <p:sp>
          <p:nvSpPr>
            <p:cNvPr name="Freeform 33" id="33"/>
            <p:cNvSpPr/>
            <p:nvPr/>
          </p:nvSpPr>
          <p:spPr>
            <a:xfrm flipH="false" flipV="false" rot="0">
              <a:off x="0" y="0"/>
              <a:ext cx="3017520" cy="914400"/>
            </a:xfrm>
            <a:custGeom>
              <a:avLst/>
              <a:gdLst/>
              <a:ahLst/>
              <a:cxnLst/>
              <a:rect r="r" b="b" t="t" l="l"/>
              <a:pathLst>
                <a:path h="914400" w="3017520">
                  <a:moveTo>
                    <a:pt x="0" y="0"/>
                  </a:moveTo>
                  <a:lnTo>
                    <a:pt x="3017520" y="0"/>
                  </a:lnTo>
                  <a:lnTo>
                    <a:pt x="3017520" y="914400"/>
                  </a:lnTo>
                  <a:lnTo>
                    <a:pt x="0" y="914400"/>
                  </a:lnTo>
                  <a:close/>
                </a:path>
              </a:pathLst>
            </a:custGeom>
            <a:blipFill>
              <a:blip r:embed="rId4">
                <a:alphaModFix amt="0"/>
              </a:blip>
              <a:stretch>
                <a:fillRect l="0" t="-14255" r="0" b="-14256"/>
              </a:stretch>
            </a:blipFill>
          </p:spPr>
          <p:txBody>
            <a:bodyPr/>
            <a:p/>
          </p:txBody>
        </p:sp>
      </p:grpSp>
      <p:grpSp>
        <p:nvGrpSpPr>
          <p:cNvPr name="Group 34" id="34"/>
          <p:cNvGrpSpPr/>
          <p:nvPr/>
        </p:nvGrpSpPr>
        <p:grpSpPr>
          <a:xfrm rot="0">
            <a:off x="822960" y="6280785"/>
            <a:ext cx="2263140" cy="714375"/>
            <a:chOff x="0" y="0"/>
            <a:chExt cx="3017520" cy="952500"/>
          </a:xfrm>
        </p:grpSpPr>
        <p:sp>
          <p:nvSpPr>
            <p:cNvPr name="Freeform 35" id="35"/>
            <p:cNvSpPr/>
            <p:nvPr/>
          </p:nvSpPr>
          <p:spPr>
            <a:xfrm flipH="false" flipV="false" rot="0">
              <a:off x="0" y="0"/>
              <a:ext cx="3017520" cy="952500"/>
            </a:xfrm>
            <a:custGeom>
              <a:avLst/>
              <a:gdLst/>
              <a:ahLst/>
              <a:cxnLst/>
              <a:rect r="r" b="b" t="t" l="l"/>
              <a:pathLst>
                <a:path h="952500" w="3017520">
                  <a:moveTo>
                    <a:pt x="0" y="0"/>
                  </a:moveTo>
                  <a:lnTo>
                    <a:pt x="3017520" y="0"/>
                  </a:lnTo>
                  <a:lnTo>
                    <a:pt x="3017520" y="952500"/>
                  </a:lnTo>
                  <a:lnTo>
                    <a:pt x="0" y="952500"/>
                  </a:lnTo>
                  <a:close/>
                </a:path>
              </a:pathLst>
            </a:custGeom>
            <a:blipFill>
              <a:blip r:embed="rId5">
                <a:alphaModFix amt="0"/>
              </a:blip>
              <a:stretch>
                <a:fillRect l="0" t="-11685" r="0" b="-11686"/>
              </a:stretch>
            </a:blipFill>
          </p:spPr>
          <p:txBody>
            <a:bodyPr/>
            <a:p/>
          </p:txBody>
        </p:sp>
      </p:grpSp>
      <p:grpSp>
        <p:nvGrpSpPr>
          <p:cNvPr name="Group 36" id="36"/>
          <p:cNvGrpSpPr/>
          <p:nvPr/>
        </p:nvGrpSpPr>
        <p:grpSpPr>
          <a:xfrm rot="0">
            <a:off x="822960" y="6252210"/>
            <a:ext cx="2263140" cy="742950"/>
            <a:chOff x="0" y="0"/>
            <a:chExt cx="3017520" cy="990600"/>
          </a:xfrm>
        </p:grpSpPr>
        <p:sp>
          <p:nvSpPr>
            <p:cNvPr name="Freeform 37" id="37"/>
            <p:cNvSpPr/>
            <p:nvPr/>
          </p:nvSpPr>
          <p:spPr>
            <a:xfrm flipH="false" flipV="false" rot="0">
              <a:off x="0" y="0"/>
              <a:ext cx="3017520" cy="990600"/>
            </a:xfrm>
            <a:custGeom>
              <a:avLst/>
              <a:gdLst/>
              <a:ahLst/>
              <a:cxnLst/>
              <a:rect r="r" b="b" t="t" l="l"/>
              <a:pathLst>
                <a:path h="990600" w="3017520">
                  <a:moveTo>
                    <a:pt x="0" y="0"/>
                  </a:moveTo>
                  <a:lnTo>
                    <a:pt x="3017520" y="0"/>
                  </a:lnTo>
                  <a:lnTo>
                    <a:pt x="3017520" y="990600"/>
                  </a:lnTo>
                  <a:lnTo>
                    <a:pt x="0" y="990600"/>
                  </a:lnTo>
                  <a:close/>
                </a:path>
              </a:pathLst>
            </a:custGeom>
            <a:blipFill>
              <a:blip r:embed="rId6">
                <a:alphaModFix amt="0"/>
              </a:blip>
              <a:stretch>
                <a:fillRect l="0" t="-9354" r="0" b="-9354"/>
              </a:stretch>
            </a:blipFill>
          </p:spPr>
          <p:txBody>
            <a:bodyPr/>
            <a:p/>
          </p:txBody>
        </p:sp>
        <p:sp>
          <p:nvSpPr>
            <p:cNvPr name="TextBox 38" id="38"/>
            <p:cNvSpPr txBox="true"/>
            <p:nvPr/>
          </p:nvSpPr>
          <p:spPr>
            <a:xfrm>
              <a:off x="0" y="-38100"/>
              <a:ext cx="3017520" cy="1028700"/>
            </a:xfrm>
            <a:prstGeom prst="rect">
              <a:avLst/>
            </a:prstGeom>
          </p:spPr>
          <p:txBody>
            <a:bodyPr anchor="ctr" rtlCol="false" tIns="0" lIns="0" bIns="0" rIns="0"/>
            <a:lstStyle/>
            <a:p>
              <a:pPr algn="r">
                <a:lnSpc>
                  <a:spcPts val="2070"/>
                </a:lnSpc>
              </a:pPr>
              <a:r>
                <a:rPr lang="en-US" sz="1725">
                  <a:solidFill>
                    <a:srgbClr val="14313B"/>
                  </a:solidFill>
                  <a:latin typeface="Calibri (MS)"/>
                  <a:ea typeface="Calibri (MS)"/>
                  <a:cs typeface="Calibri (MS)"/>
                  <a:sym typeface="Calibri (MS)"/>
                </a:rPr>
                <a:t>Peta: bukan terbangun</a:t>
              </a:r>
            </a:p>
          </p:txBody>
        </p:sp>
      </p:grpSp>
      <p:grpSp>
        <p:nvGrpSpPr>
          <p:cNvPr name="Group 39" id="39"/>
          <p:cNvGrpSpPr/>
          <p:nvPr/>
        </p:nvGrpSpPr>
        <p:grpSpPr>
          <a:xfrm rot="0">
            <a:off x="3154680" y="4251960"/>
            <a:ext cx="2468880" cy="1577340"/>
            <a:chOff x="0" y="0"/>
            <a:chExt cx="3291840" cy="2103120"/>
          </a:xfrm>
        </p:grpSpPr>
        <p:sp>
          <p:nvSpPr>
            <p:cNvPr name="Freeform 40" id="40"/>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39C0D3"/>
            </a:solidFill>
          </p:spPr>
          <p:txBody>
            <a:bodyPr/>
            <a:p/>
          </p:txBody>
        </p:sp>
      </p:grpSp>
      <p:grpSp>
        <p:nvGrpSpPr>
          <p:cNvPr name="Group 41" id="41"/>
          <p:cNvGrpSpPr/>
          <p:nvPr/>
        </p:nvGrpSpPr>
        <p:grpSpPr>
          <a:xfrm rot="0">
            <a:off x="3154680" y="4251960"/>
            <a:ext cx="2468880" cy="1577340"/>
            <a:chOff x="0" y="0"/>
            <a:chExt cx="3291840" cy="2103120"/>
          </a:xfrm>
        </p:grpSpPr>
        <p:sp>
          <p:nvSpPr>
            <p:cNvPr name="Freeform 42" id="42"/>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txBody>
            <a:bodyPr/>
            <a:p/>
          </p:txBody>
        </p:sp>
      </p:grpSp>
      <p:grpSp>
        <p:nvGrpSpPr>
          <p:cNvPr name="Group 43" id="43"/>
          <p:cNvGrpSpPr/>
          <p:nvPr/>
        </p:nvGrpSpPr>
        <p:grpSpPr>
          <a:xfrm rot="0">
            <a:off x="3154680" y="4180522"/>
            <a:ext cx="2468880" cy="1648777"/>
            <a:chOff x="0" y="0"/>
            <a:chExt cx="3291840" cy="2198370"/>
          </a:xfrm>
        </p:grpSpPr>
        <p:sp>
          <p:nvSpPr>
            <p:cNvPr name="Freeform 44" id="44"/>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743" t="0" r="-35743" b="0"/>
              </a:stretch>
            </a:blipFill>
          </p:spPr>
          <p:txBody>
            <a:bodyPr/>
            <a:p/>
          </p:txBody>
        </p:sp>
      </p:grpSp>
      <p:grpSp>
        <p:nvGrpSpPr>
          <p:cNvPr name="Group 45" id="45"/>
          <p:cNvGrpSpPr/>
          <p:nvPr/>
        </p:nvGrpSpPr>
        <p:grpSpPr>
          <a:xfrm rot="0">
            <a:off x="3154680" y="4109085"/>
            <a:ext cx="2468880" cy="1720215"/>
            <a:chOff x="0" y="0"/>
            <a:chExt cx="3291840" cy="2293620"/>
          </a:xfrm>
        </p:grpSpPr>
        <p:sp>
          <p:nvSpPr>
            <p:cNvPr name="Freeform 46" id="46"/>
            <p:cNvSpPr/>
            <p:nvPr/>
          </p:nvSpPr>
          <p:spPr>
            <a:xfrm flipH="false" flipV="false" rot="0">
              <a:off x="0" y="0"/>
              <a:ext cx="3291840" cy="2293619"/>
            </a:xfrm>
            <a:custGeom>
              <a:avLst/>
              <a:gdLst/>
              <a:ahLst/>
              <a:cxnLst/>
              <a:rect r="r" b="b" t="t" l="l"/>
              <a:pathLst>
                <a:path h="2293619" w="3291840">
                  <a:moveTo>
                    <a:pt x="0" y="0"/>
                  </a:moveTo>
                  <a:lnTo>
                    <a:pt x="3291840" y="0"/>
                  </a:lnTo>
                  <a:lnTo>
                    <a:pt x="3291840" y="2293619"/>
                  </a:lnTo>
                  <a:lnTo>
                    <a:pt x="0" y="2293619"/>
                  </a:lnTo>
                  <a:close/>
                </a:path>
              </a:pathLst>
            </a:custGeom>
            <a:blipFill>
              <a:blip r:embed="rId6">
                <a:alphaModFix amt="0"/>
              </a:blip>
              <a:stretch>
                <a:fillRect l="-39396" t="0" r="-39396" b="0"/>
              </a:stretch>
            </a:blipFill>
          </p:spPr>
          <p:txBody>
            <a:bodyPr/>
            <a:p/>
          </p:txBody>
        </p:sp>
        <p:sp>
          <p:nvSpPr>
            <p:cNvPr name="TextBox 47" id="47"/>
            <p:cNvSpPr txBox="true"/>
            <p:nvPr/>
          </p:nvSpPr>
          <p:spPr>
            <a:xfrm>
              <a:off x="0" y="-95250"/>
              <a:ext cx="3291840" cy="2388870"/>
            </a:xfrm>
            <a:prstGeom prst="rect">
              <a:avLst/>
            </a:prstGeom>
          </p:spPr>
          <p:txBody>
            <a:bodyPr anchor="ctr" rtlCol="false" tIns="0" lIns="0" bIns="0" rIns="0"/>
            <a:lstStyle/>
            <a:p>
              <a:pPr algn="ctr">
                <a:lnSpc>
                  <a:spcPts val="5400"/>
                </a:lnSpc>
              </a:pPr>
              <a:r>
                <a:rPr lang="en-US" sz="4500" b="true">
                  <a:solidFill>
                    <a:srgbClr val="FFFFFF"/>
                  </a:solidFill>
                  <a:latin typeface="Calibri (MS) Bold"/>
                  <a:ea typeface="Calibri (MS) Bold"/>
                  <a:cs typeface="Calibri (MS) Bold"/>
                  <a:sym typeface="Calibri (MS) Bold"/>
                </a:rPr>
                <a:t>66</a:t>
              </a:r>
            </a:p>
          </p:txBody>
        </p:sp>
      </p:grpSp>
      <p:grpSp>
        <p:nvGrpSpPr>
          <p:cNvPr name="Group 48" id="48"/>
          <p:cNvGrpSpPr/>
          <p:nvPr/>
        </p:nvGrpSpPr>
        <p:grpSpPr>
          <a:xfrm rot="0">
            <a:off x="5760720" y="4251960"/>
            <a:ext cx="2468880" cy="1577340"/>
            <a:chOff x="0" y="0"/>
            <a:chExt cx="3291840" cy="2103120"/>
          </a:xfrm>
        </p:grpSpPr>
        <p:sp>
          <p:nvSpPr>
            <p:cNvPr name="Freeform 49" id="49"/>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FFF1BF"/>
            </a:solidFill>
          </p:spPr>
          <p:txBody>
            <a:bodyPr/>
            <a:p/>
          </p:txBody>
        </p:sp>
      </p:grpSp>
      <p:grpSp>
        <p:nvGrpSpPr>
          <p:cNvPr name="Group 50" id="50"/>
          <p:cNvGrpSpPr/>
          <p:nvPr/>
        </p:nvGrpSpPr>
        <p:grpSpPr>
          <a:xfrm rot="0">
            <a:off x="5760720" y="4251960"/>
            <a:ext cx="2468880" cy="1577340"/>
            <a:chOff x="0" y="0"/>
            <a:chExt cx="3291840" cy="2103120"/>
          </a:xfrm>
        </p:grpSpPr>
        <p:sp>
          <p:nvSpPr>
            <p:cNvPr name="Freeform 51" id="51"/>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txBody>
            <a:bodyPr/>
            <a:p/>
          </p:txBody>
        </p:sp>
      </p:grpSp>
      <p:grpSp>
        <p:nvGrpSpPr>
          <p:cNvPr name="Group 52" id="52"/>
          <p:cNvGrpSpPr/>
          <p:nvPr/>
        </p:nvGrpSpPr>
        <p:grpSpPr>
          <a:xfrm rot="0">
            <a:off x="5760720" y="4180522"/>
            <a:ext cx="2468880" cy="1648777"/>
            <a:chOff x="0" y="0"/>
            <a:chExt cx="3291840" cy="2198370"/>
          </a:xfrm>
        </p:grpSpPr>
        <p:sp>
          <p:nvSpPr>
            <p:cNvPr name="Freeform 53" id="53"/>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743" t="0" r="-35743" b="0"/>
              </a:stretch>
            </a:blipFill>
          </p:spPr>
          <p:txBody>
            <a:bodyPr/>
            <a:p/>
          </p:txBody>
        </p:sp>
      </p:grpSp>
      <p:grpSp>
        <p:nvGrpSpPr>
          <p:cNvPr name="Group 54" id="54"/>
          <p:cNvGrpSpPr/>
          <p:nvPr/>
        </p:nvGrpSpPr>
        <p:grpSpPr>
          <a:xfrm rot="0">
            <a:off x="5760720" y="4109085"/>
            <a:ext cx="2468880" cy="1720215"/>
            <a:chOff x="0" y="0"/>
            <a:chExt cx="3291840" cy="2293620"/>
          </a:xfrm>
        </p:grpSpPr>
        <p:sp>
          <p:nvSpPr>
            <p:cNvPr name="Freeform 55" id="55"/>
            <p:cNvSpPr/>
            <p:nvPr/>
          </p:nvSpPr>
          <p:spPr>
            <a:xfrm flipH="false" flipV="false" rot="0">
              <a:off x="0" y="0"/>
              <a:ext cx="3291840" cy="2293619"/>
            </a:xfrm>
            <a:custGeom>
              <a:avLst/>
              <a:gdLst/>
              <a:ahLst/>
              <a:cxnLst/>
              <a:rect r="r" b="b" t="t" l="l"/>
              <a:pathLst>
                <a:path h="2293619" w="3291840">
                  <a:moveTo>
                    <a:pt x="0" y="0"/>
                  </a:moveTo>
                  <a:lnTo>
                    <a:pt x="3291840" y="0"/>
                  </a:lnTo>
                  <a:lnTo>
                    <a:pt x="3291840" y="2293619"/>
                  </a:lnTo>
                  <a:lnTo>
                    <a:pt x="0" y="2293619"/>
                  </a:lnTo>
                  <a:close/>
                </a:path>
              </a:pathLst>
            </a:custGeom>
            <a:blipFill>
              <a:blip r:embed="rId6">
                <a:alphaModFix amt="0"/>
              </a:blip>
              <a:stretch>
                <a:fillRect l="-39396" t="0" r="-39396" b="0"/>
              </a:stretch>
            </a:blipFill>
          </p:spPr>
          <p:txBody>
            <a:bodyPr/>
            <a:p/>
          </p:txBody>
        </p:sp>
        <p:sp>
          <p:nvSpPr>
            <p:cNvPr name="TextBox 56" id="56"/>
            <p:cNvSpPr txBox="true"/>
            <p:nvPr/>
          </p:nvSpPr>
          <p:spPr>
            <a:xfrm>
              <a:off x="0" y="-95250"/>
              <a:ext cx="3291840" cy="2388870"/>
            </a:xfrm>
            <a:prstGeom prst="rect">
              <a:avLst/>
            </a:prstGeom>
          </p:spPr>
          <p:txBody>
            <a:bodyPr anchor="ctr" rtlCol="false" tIns="0" lIns="0" bIns="0" rIns="0"/>
            <a:lstStyle/>
            <a:p>
              <a:pPr algn="ctr">
                <a:lnSpc>
                  <a:spcPts val="5400"/>
                </a:lnSpc>
              </a:pPr>
              <a:r>
                <a:rPr lang="en-US" sz="4500" b="true">
                  <a:solidFill>
                    <a:srgbClr val="14313B"/>
                  </a:solidFill>
                  <a:latin typeface="Calibri (MS) Bold"/>
                  <a:ea typeface="Calibri (MS) Bold"/>
                  <a:cs typeface="Calibri (MS) Bold"/>
                  <a:sym typeface="Calibri (MS) Bold"/>
                </a:rPr>
                <a:t>34</a:t>
              </a:r>
            </a:p>
          </p:txBody>
        </p:sp>
      </p:grpSp>
      <p:grpSp>
        <p:nvGrpSpPr>
          <p:cNvPr name="Group 57" id="57"/>
          <p:cNvGrpSpPr/>
          <p:nvPr/>
        </p:nvGrpSpPr>
        <p:grpSpPr>
          <a:xfrm rot="0">
            <a:off x="3154680" y="5966460"/>
            <a:ext cx="2468880" cy="1577340"/>
            <a:chOff x="0" y="0"/>
            <a:chExt cx="3291840" cy="2103120"/>
          </a:xfrm>
        </p:grpSpPr>
        <p:sp>
          <p:nvSpPr>
            <p:cNvPr name="Freeform 58" id="58"/>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FFF1BF"/>
            </a:solidFill>
          </p:spPr>
          <p:txBody>
            <a:bodyPr/>
            <a:p/>
          </p:txBody>
        </p:sp>
      </p:grpSp>
      <p:grpSp>
        <p:nvGrpSpPr>
          <p:cNvPr name="Group 59" id="59"/>
          <p:cNvGrpSpPr/>
          <p:nvPr/>
        </p:nvGrpSpPr>
        <p:grpSpPr>
          <a:xfrm rot="0">
            <a:off x="3154680" y="5966460"/>
            <a:ext cx="2468880" cy="1577340"/>
            <a:chOff x="0" y="0"/>
            <a:chExt cx="3291840" cy="2103120"/>
          </a:xfrm>
        </p:grpSpPr>
        <p:sp>
          <p:nvSpPr>
            <p:cNvPr name="Freeform 60" id="60"/>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txBody>
            <a:bodyPr/>
            <a:p/>
          </p:txBody>
        </p:sp>
      </p:grpSp>
      <p:grpSp>
        <p:nvGrpSpPr>
          <p:cNvPr name="Group 61" id="61"/>
          <p:cNvGrpSpPr/>
          <p:nvPr/>
        </p:nvGrpSpPr>
        <p:grpSpPr>
          <a:xfrm rot="0">
            <a:off x="3154680" y="5895022"/>
            <a:ext cx="2468880" cy="1648777"/>
            <a:chOff x="0" y="0"/>
            <a:chExt cx="3291840" cy="2198370"/>
          </a:xfrm>
        </p:grpSpPr>
        <p:sp>
          <p:nvSpPr>
            <p:cNvPr name="Freeform 62" id="62"/>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743" t="0" r="-35743" b="0"/>
              </a:stretch>
            </a:blipFill>
          </p:spPr>
          <p:txBody>
            <a:bodyPr/>
            <a:p/>
          </p:txBody>
        </p:sp>
      </p:grpSp>
      <p:grpSp>
        <p:nvGrpSpPr>
          <p:cNvPr name="Group 63" id="63"/>
          <p:cNvGrpSpPr/>
          <p:nvPr/>
        </p:nvGrpSpPr>
        <p:grpSpPr>
          <a:xfrm rot="0">
            <a:off x="3154680" y="5823585"/>
            <a:ext cx="2468880" cy="1720215"/>
            <a:chOff x="0" y="0"/>
            <a:chExt cx="3291840" cy="2293620"/>
          </a:xfrm>
        </p:grpSpPr>
        <p:sp>
          <p:nvSpPr>
            <p:cNvPr name="Freeform 64" id="64"/>
            <p:cNvSpPr/>
            <p:nvPr/>
          </p:nvSpPr>
          <p:spPr>
            <a:xfrm flipH="false" flipV="false" rot="0">
              <a:off x="0" y="0"/>
              <a:ext cx="3291840" cy="2293619"/>
            </a:xfrm>
            <a:custGeom>
              <a:avLst/>
              <a:gdLst/>
              <a:ahLst/>
              <a:cxnLst/>
              <a:rect r="r" b="b" t="t" l="l"/>
              <a:pathLst>
                <a:path h="2293619" w="3291840">
                  <a:moveTo>
                    <a:pt x="0" y="0"/>
                  </a:moveTo>
                  <a:lnTo>
                    <a:pt x="3291840" y="0"/>
                  </a:lnTo>
                  <a:lnTo>
                    <a:pt x="3291840" y="2293619"/>
                  </a:lnTo>
                  <a:lnTo>
                    <a:pt x="0" y="2293619"/>
                  </a:lnTo>
                  <a:close/>
                </a:path>
              </a:pathLst>
            </a:custGeom>
            <a:blipFill>
              <a:blip r:embed="rId6">
                <a:alphaModFix amt="0"/>
              </a:blip>
              <a:stretch>
                <a:fillRect l="-39396" t="0" r="-39396" b="0"/>
              </a:stretch>
            </a:blipFill>
          </p:spPr>
          <p:txBody>
            <a:bodyPr/>
            <a:p/>
          </p:txBody>
        </p:sp>
        <p:sp>
          <p:nvSpPr>
            <p:cNvPr name="TextBox 65" id="65"/>
            <p:cNvSpPr txBox="true"/>
            <p:nvPr/>
          </p:nvSpPr>
          <p:spPr>
            <a:xfrm>
              <a:off x="0" y="-95250"/>
              <a:ext cx="3291840" cy="2388870"/>
            </a:xfrm>
            <a:prstGeom prst="rect">
              <a:avLst/>
            </a:prstGeom>
          </p:spPr>
          <p:txBody>
            <a:bodyPr anchor="ctr" rtlCol="false" tIns="0" lIns="0" bIns="0" rIns="0"/>
            <a:lstStyle/>
            <a:p>
              <a:pPr algn="ctr">
                <a:lnSpc>
                  <a:spcPts val="5400"/>
                </a:lnSpc>
              </a:pPr>
              <a:r>
                <a:rPr lang="en-US" sz="4500" b="true">
                  <a:solidFill>
                    <a:srgbClr val="14313B"/>
                  </a:solidFill>
                  <a:latin typeface="Calibri (MS) Bold"/>
                  <a:ea typeface="Calibri (MS) Bold"/>
                  <a:cs typeface="Calibri (MS) Bold"/>
                  <a:sym typeface="Calibri (MS) Bold"/>
                </a:rPr>
                <a:t>5</a:t>
              </a:r>
            </a:p>
          </p:txBody>
        </p:sp>
      </p:grpSp>
      <p:grpSp>
        <p:nvGrpSpPr>
          <p:cNvPr name="Group 66" id="66"/>
          <p:cNvGrpSpPr/>
          <p:nvPr/>
        </p:nvGrpSpPr>
        <p:grpSpPr>
          <a:xfrm rot="0">
            <a:off x="5760720" y="5966460"/>
            <a:ext cx="2468880" cy="1577340"/>
            <a:chOff x="0" y="0"/>
            <a:chExt cx="3291840" cy="2103120"/>
          </a:xfrm>
        </p:grpSpPr>
        <p:sp>
          <p:nvSpPr>
            <p:cNvPr name="Freeform 67" id="67"/>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39C0D3"/>
            </a:solidFill>
          </p:spPr>
          <p:txBody>
            <a:bodyPr/>
            <a:p/>
          </p:txBody>
        </p:sp>
      </p:grpSp>
      <p:grpSp>
        <p:nvGrpSpPr>
          <p:cNvPr name="Group 68" id="68"/>
          <p:cNvGrpSpPr/>
          <p:nvPr/>
        </p:nvGrpSpPr>
        <p:grpSpPr>
          <a:xfrm rot="0">
            <a:off x="5760720" y="5966460"/>
            <a:ext cx="2468880" cy="1577340"/>
            <a:chOff x="0" y="0"/>
            <a:chExt cx="3291840" cy="2103120"/>
          </a:xfrm>
        </p:grpSpPr>
        <p:sp>
          <p:nvSpPr>
            <p:cNvPr name="Freeform 69" id="69"/>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txBody>
            <a:bodyPr/>
            <a:p/>
          </p:txBody>
        </p:sp>
      </p:grpSp>
      <p:grpSp>
        <p:nvGrpSpPr>
          <p:cNvPr name="Group 70" id="70"/>
          <p:cNvGrpSpPr/>
          <p:nvPr/>
        </p:nvGrpSpPr>
        <p:grpSpPr>
          <a:xfrm rot="0">
            <a:off x="5760720" y="5895022"/>
            <a:ext cx="2468880" cy="1648777"/>
            <a:chOff x="0" y="0"/>
            <a:chExt cx="3291840" cy="2198370"/>
          </a:xfrm>
        </p:grpSpPr>
        <p:sp>
          <p:nvSpPr>
            <p:cNvPr name="Freeform 71" id="71"/>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743" t="0" r="-35743" b="0"/>
              </a:stretch>
            </a:blipFill>
          </p:spPr>
          <p:txBody>
            <a:bodyPr/>
            <a:p/>
          </p:txBody>
        </p:sp>
      </p:grpSp>
      <p:grpSp>
        <p:nvGrpSpPr>
          <p:cNvPr name="Group 72" id="72"/>
          <p:cNvGrpSpPr/>
          <p:nvPr/>
        </p:nvGrpSpPr>
        <p:grpSpPr>
          <a:xfrm rot="0">
            <a:off x="5760720" y="5823585"/>
            <a:ext cx="2468880" cy="1720215"/>
            <a:chOff x="0" y="0"/>
            <a:chExt cx="3291840" cy="2293620"/>
          </a:xfrm>
        </p:grpSpPr>
        <p:sp>
          <p:nvSpPr>
            <p:cNvPr name="Freeform 73" id="73"/>
            <p:cNvSpPr/>
            <p:nvPr/>
          </p:nvSpPr>
          <p:spPr>
            <a:xfrm flipH="false" flipV="false" rot="0">
              <a:off x="0" y="0"/>
              <a:ext cx="3291840" cy="2293619"/>
            </a:xfrm>
            <a:custGeom>
              <a:avLst/>
              <a:gdLst/>
              <a:ahLst/>
              <a:cxnLst/>
              <a:rect r="r" b="b" t="t" l="l"/>
              <a:pathLst>
                <a:path h="2293619" w="3291840">
                  <a:moveTo>
                    <a:pt x="0" y="0"/>
                  </a:moveTo>
                  <a:lnTo>
                    <a:pt x="3291840" y="0"/>
                  </a:lnTo>
                  <a:lnTo>
                    <a:pt x="3291840" y="2293619"/>
                  </a:lnTo>
                  <a:lnTo>
                    <a:pt x="0" y="2293619"/>
                  </a:lnTo>
                  <a:close/>
                </a:path>
              </a:pathLst>
            </a:custGeom>
            <a:blipFill>
              <a:blip r:embed="rId6">
                <a:alphaModFix amt="0"/>
              </a:blip>
              <a:stretch>
                <a:fillRect l="-39396" t="0" r="-39396" b="0"/>
              </a:stretch>
            </a:blipFill>
          </p:spPr>
          <p:txBody>
            <a:bodyPr/>
            <a:p/>
          </p:txBody>
        </p:sp>
        <p:sp>
          <p:nvSpPr>
            <p:cNvPr name="TextBox 74" id="74"/>
            <p:cNvSpPr txBox="true"/>
            <p:nvPr/>
          </p:nvSpPr>
          <p:spPr>
            <a:xfrm>
              <a:off x="0" y="-95250"/>
              <a:ext cx="3291840" cy="2388870"/>
            </a:xfrm>
            <a:prstGeom prst="rect">
              <a:avLst/>
            </a:prstGeom>
          </p:spPr>
          <p:txBody>
            <a:bodyPr anchor="ctr" rtlCol="false" tIns="0" lIns="0" bIns="0" rIns="0"/>
            <a:lstStyle/>
            <a:p>
              <a:pPr algn="ctr">
                <a:lnSpc>
                  <a:spcPts val="5400"/>
                </a:lnSpc>
              </a:pPr>
              <a:r>
                <a:rPr lang="en-US" sz="4500" b="true">
                  <a:solidFill>
                    <a:srgbClr val="FFFFFF"/>
                  </a:solidFill>
                  <a:latin typeface="Calibri (MS) Bold"/>
                  <a:ea typeface="Calibri (MS) Bold"/>
                  <a:cs typeface="Calibri (MS) Bold"/>
                  <a:sym typeface="Calibri (MS) Bold"/>
                </a:rPr>
                <a:t>95</a:t>
              </a:r>
            </a:p>
          </p:txBody>
        </p:sp>
      </p:grpSp>
      <p:sp>
        <p:nvSpPr>
          <p:cNvPr name="TextBox 75" id="75"/>
          <p:cNvSpPr txBox="true"/>
          <p:nvPr/>
        </p:nvSpPr>
        <p:spPr>
          <a:xfrm rot="0">
            <a:off x="822960" y="7772400"/>
            <a:ext cx="7818120" cy="107442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Commission error dominan: 34 titik terpetakan terbangun padahal bukan, dibanding 5 omission error.</a:t>
            </a:r>
          </a:p>
        </p:txBody>
      </p:sp>
      <p:graphicFrame>
        <p:nvGraphicFramePr>
          <p:cNvPr name="Table 76" id="76"/>
          <p:cNvGraphicFramePr>
            <a:graphicFrameLocks noGrp="true"/>
          </p:cNvGraphicFramePr>
          <p:nvPr/>
        </p:nvGraphicFramePr>
        <p:xfrm>
          <a:off x="9189720" y="2400300"/>
          <a:ext cx="8216900" cy="4800600"/>
        </p:xfrm>
        <a:graphic>
          <a:graphicData uri="http://schemas.openxmlformats.org/drawingml/2006/table">
            <a:tbl>
              <a:tblPr/>
              <a:tblGrid>
                <a:gridCol w="4188856"/>
                <a:gridCol w="1728034"/>
                <a:gridCol w="2300009"/>
              </a:tblGrid>
              <a:tr h="685800">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Metrik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Nilai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IK 95%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Overall accuracy (tak terbobot)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80,50%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74,46–85,39%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Overall accuracy (terbobot luas)</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89,95%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86,05–93,85%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User's accuracy —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66,00%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56,67–75,33%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Producer's accuracy —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73,58%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56,66–90,50%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F1-score kelas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77,19%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Koefisien Kappa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0,6100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0,5002–0,7198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77" id="77"/>
          <p:cNvGrpSpPr/>
          <p:nvPr/>
        </p:nvGrpSpPr>
        <p:grpSpPr>
          <a:xfrm rot="0">
            <a:off x="9189720" y="7475220"/>
            <a:ext cx="8270748" cy="1783080"/>
            <a:chOff x="0" y="0"/>
            <a:chExt cx="11027664" cy="2377440"/>
          </a:xfrm>
        </p:grpSpPr>
        <p:sp>
          <p:nvSpPr>
            <p:cNvPr name="Freeform 78" id="78"/>
            <p:cNvSpPr/>
            <p:nvPr/>
          </p:nvSpPr>
          <p:spPr>
            <a:xfrm flipH="false" flipV="false" rot="0">
              <a:off x="0" y="0"/>
              <a:ext cx="11027664" cy="2377440"/>
            </a:xfrm>
            <a:custGeom>
              <a:avLst/>
              <a:gdLst/>
              <a:ahLst/>
              <a:cxnLst/>
              <a:rect r="r" b="b" t="t" l="l"/>
              <a:pathLst>
                <a:path h="2377440" w="11027664">
                  <a:moveTo>
                    <a:pt x="0" y="182880"/>
                  </a:moveTo>
                  <a:cubicBezTo>
                    <a:pt x="0" y="81915"/>
                    <a:pt x="81915" y="0"/>
                    <a:pt x="182880" y="0"/>
                  </a:cubicBezTo>
                  <a:lnTo>
                    <a:pt x="10844784" y="0"/>
                  </a:lnTo>
                  <a:cubicBezTo>
                    <a:pt x="10945749" y="0"/>
                    <a:pt x="11027664" y="81915"/>
                    <a:pt x="11027664" y="182880"/>
                  </a:cubicBezTo>
                  <a:lnTo>
                    <a:pt x="11027664" y="2194560"/>
                  </a:lnTo>
                  <a:cubicBezTo>
                    <a:pt x="11027664" y="2295525"/>
                    <a:pt x="10945749" y="2377440"/>
                    <a:pt x="10844784" y="2377440"/>
                  </a:cubicBezTo>
                  <a:lnTo>
                    <a:pt x="182880" y="2377440"/>
                  </a:lnTo>
                  <a:cubicBezTo>
                    <a:pt x="81915" y="2377440"/>
                    <a:pt x="0" y="2295525"/>
                    <a:pt x="0" y="2194560"/>
                  </a:cubicBezTo>
                  <a:close/>
                </a:path>
              </a:pathLst>
            </a:custGeom>
            <a:solidFill>
              <a:srgbClr val="FFF1BF"/>
            </a:solidFill>
          </p:spPr>
          <p:txBody>
            <a:bodyPr/>
            <a:p/>
          </p:txBody>
        </p:sp>
      </p:grpSp>
      <p:grpSp>
        <p:nvGrpSpPr>
          <p:cNvPr name="Group 79" id="79"/>
          <p:cNvGrpSpPr/>
          <p:nvPr/>
        </p:nvGrpSpPr>
        <p:grpSpPr>
          <a:xfrm rot="0">
            <a:off x="9532620" y="7475220"/>
            <a:ext cx="7612380" cy="1783080"/>
            <a:chOff x="0" y="0"/>
            <a:chExt cx="10149840" cy="2377440"/>
          </a:xfrm>
        </p:grpSpPr>
        <p:sp>
          <p:nvSpPr>
            <p:cNvPr name="Freeform 80" id="80"/>
            <p:cNvSpPr/>
            <p:nvPr/>
          </p:nvSpPr>
          <p:spPr>
            <a:xfrm flipH="false" flipV="false" rot="0">
              <a:off x="0" y="0"/>
              <a:ext cx="10149840" cy="2377440"/>
            </a:xfrm>
            <a:custGeom>
              <a:avLst/>
              <a:gdLst/>
              <a:ahLst/>
              <a:cxnLst/>
              <a:rect r="r" b="b" t="t" l="l"/>
              <a:pathLst>
                <a:path h="2377440" w="10149840">
                  <a:moveTo>
                    <a:pt x="0" y="0"/>
                  </a:moveTo>
                  <a:lnTo>
                    <a:pt x="10149840" y="0"/>
                  </a:lnTo>
                  <a:lnTo>
                    <a:pt x="10149840" y="2377440"/>
                  </a:lnTo>
                  <a:lnTo>
                    <a:pt x="0" y="2377440"/>
                  </a:lnTo>
                  <a:close/>
                </a:path>
              </a:pathLst>
            </a:custGeom>
            <a:blipFill>
              <a:blip r:embed="rId4">
                <a:alphaModFix amt="0"/>
              </a:blip>
              <a:stretch>
                <a:fillRect l="0" t="-33128" r="0" b="-33128"/>
              </a:stretch>
            </a:blipFill>
          </p:spPr>
          <p:txBody>
            <a:bodyPr/>
            <a:p/>
          </p:txBody>
        </p:sp>
      </p:grpSp>
      <p:grpSp>
        <p:nvGrpSpPr>
          <p:cNvPr name="Group 81" id="81"/>
          <p:cNvGrpSpPr/>
          <p:nvPr/>
        </p:nvGrpSpPr>
        <p:grpSpPr>
          <a:xfrm rot="0">
            <a:off x="9532620" y="7446645"/>
            <a:ext cx="7612380" cy="1811655"/>
            <a:chOff x="0" y="0"/>
            <a:chExt cx="10149840" cy="2415540"/>
          </a:xfrm>
        </p:grpSpPr>
        <p:sp>
          <p:nvSpPr>
            <p:cNvPr name="Freeform 82" id="82"/>
            <p:cNvSpPr/>
            <p:nvPr/>
          </p:nvSpPr>
          <p:spPr>
            <a:xfrm flipH="false" flipV="false" rot="0">
              <a:off x="0" y="0"/>
              <a:ext cx="10149840" cy="2415540"/>
            </a:xfrm>
            <a:custGeom>
              <a:avLst/>
              <a:gdLst/>
              <a:ahLst/>
              <a:cxnLst/>
              <a:rect r="r" b="b" t="t" l="l"/>
              <a:pathLst>
                <a:path h="2415540" w="10149840">
                  <a:moveTo>
                    <a:pt x="0" y="0"/>
                  </a:moveTo>
                  <a:lnTo>
                    <a:pt x="10149840" y="0"/>
                  </a:lnTo>
                  <a:lnTo>
                    <a:pt x="10149840" y="2415540"/>
                  </a:lnTo>
                  <a:lnTo>
                    <a:pt x="0" y="2415540"/>
                  </a:lnTo>
                  <a:close/>
                </a:path>
              </a:pathLst>
            </a:custGeom>
            <a:blipFill>
              <a:blip r:embed="rId5">
                <a:alphaModFix amt="0"/>
              </a:blip>
              <a:stretch>
                <a:fillRect l="0" t="-31817" r="0" b="-31817"/>
              </a:stretch>
            </a:blipFill>
          </p:spPr>
          <p:txBody>
            <a:bodyPr/>
            <a:p/>
          </p:txBody>
        </p:sp>
      </p:grpSp>
      <p:grpSp>
        <p:nvGrpSpPr>
          <p:cNvPr name="Group 83" id="83"/>
          <p:cNvGrpSpPr/>
          <p:nvPr/>
        </p:nvGrpSpPr>
        <p:grpSpPr>
          <a:xfrm rot="0">
            <a:off x="9532620" y="7418070"/>
            <a:ext cx="7612380" cy="1840230"/>
            <a:chOff x="0" y="0"/>
            <a:chExt cx="10149840" cy="2453640"/>
          </a:xfrm>
        </p:grpSpPr>
        <p:sp>
          <p:nvSpPr>
            <p:cNvPr name="Freeform 84" id="84"/>
            <p:cNvSpPr/>
            <p:nvPr/>
          </p:nvSpPr>
          <p:spPr>
            <a:xfrm flipH="false" flipV="false" rot="0">
              <a:off x="0" y="0"/>
              <a:ext cx="10149840" cy="2453640"/>
            </a:xfrm>
            <a:custGeom>
              <a:avLst/>
              <a:gdLst/>
              <a:ahLst/>
              <a:cxnLst/>
              <a:rect r="r" b="b" t="t" l="l"/>
              <a:pathLst>
                <a:path h="2453640" w="10149840">
                  <a:moveTo>
                    <a:pt x="0" y="0"/>
                  </a:moveTo>
                  <a:lnTo>
                    <a:pt x="10149840" y="0"/>
                  </a:lnTo>
                  <a:lnTo>
                    <a:pt x="10149840" y="2453640"/>
                  </a:lnTo>
                  <a:lnTo>
                    <a:pt x="0" y="2453640"/>
                  </a:lnTo>
                  <a:close/>
                </a:path>
              </a:pathLst>
            </a:custGeom>
            <a:blipFill>
              <a:blip r:embed="rId6">
                <a:alphaModFix amt="0"/>
              </a:blip>
              <a:stretch>
                <a:fillRect l="0" t="-30602" r="0" b="-30602"/>
              </a:stretch>
            </a:blipFill>
          </p:spPr>
          <p:txBody>
            <a:bodyPr/>
            <a:p/>
          </p:txBody>
        </p:sp>
        <p:sp>
          <p:nvSpPr>
            <p:cNvPr name="TextBox 85" id="85"/>
            <p:cNvSpPr txBox="true"/>
            <p:nvPr/>
          </p:nvSpPr>
          <p:spPr>
            <a:xfrm>
              <a:off x="0" y="-38100"/>
              <a:ext cx="10149840" cy="24917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Kesalahan terkumpul pada titik dengan probabilitas dekat 0,5 (akurasi 52,0% pada selang 0,5–0,6 vs 97,7% pada 0–0,25): piksel campuran di tepi objek, bukan kesalahan acak.</a:t>
              </a:r>
            </a:p>
          </p:txBody>
        </p:sp>
      </p:grpSp>
      <p:sp>
        <p:nvSpPr>
          <p:cNvPr name="TextBox 86" id="86"/>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80</a:t>
            </a:r>
          </a:p>
        </p:txBody>
      </p:sp>
    </p:spTree>
  </p:cSld>
  <p:clrMapOvr>
    <a:masterClrMapping/>
  </p:clrMapOvr>
</p:sld>
</file>

<file path=ppt/slides/slide8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6858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5 · Data pendukung</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81</a:t>
            </a:r>
          </a:p>
        </p:txBody>
      </p:sp>
      <p:graphicFrame>
        <p:nvGraphicFramePr>
          <p:cNvPr name="Table 22" id="22"/>
          <p:cNvGraphicFramePr>
            <a:graphicFrameLocks noGrp="true"/>
          </p:cNvGraphicFramePr>
          <p:nvPr/>
        </p:nvGraphicFramePr>
        <p:xfrm>
          <a:off x="822960" y="2286000"/>
          <a:ext cx="10020300" cy="2971800"/>
        </p:xfrm>
        <a:graphic>
          <a:graphicData uri="http://schemas.openxmlformats.org/drawingml/2006/table">
            <a:tbl>
              <a:tblPr/>
              <a:tblGrid>
                <a:gridCol w="888897"/>
                <a:gridCol w="1858604"/>
                <a:gridCol w="2424266"/>
                <a:gridCol w="2262648"/>
                <a:gridCol w="2585885"/>
              </a:tblGrid>
              <a:tr h="495300">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Tahun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TK pariwisata (jiwa)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Status TK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Pengeluaran/kunjungan (Rp)</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Status pengeluaran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495300">
                <a:tc>
                  <a:txBody>
                    <a:bodyPr anchor="t" rtlCol="false"/>
                    <a:lstStyle/>
                    <a:p>
                      <a:pPr algn="l">
                        <a:lnSpc>
                          <a:spcPts val="1788"/>
                        </a:lnSpc>
                        <a:defRPr/>
                      </a:pPr>
                      <a:r>
                        <a:rPr lang="en-US" sz="1490">
                          <a:solidFill>
                            <a:srgbClr val="14313B"/>
                          </a:solidFill>
                          <a:latin typeface="Calibri (MS)"/>
                          <a:ea typeface="Calibri (MS)"/>
                          <a:cs typeface="Calibri (MS)"/>
                          <a:sym typeface="Calibri (MS)"/>
                        </a:rPr>
                        <a:t>2015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254.537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Ekstrapolasi CAGR 3,67%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1.023.749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Ekstrapolasi CAGR 10,27%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95300">
                <a:tc>
                  <a:txBody>
                    <a:bodyPr anchor="t" rtlCol="false"/>
                    <a:lstStyle/>
                    <a:p>
                      <a:pPr algn="l">
                        <a:lnSpc>
                          <a:spcPts val="1788"/>
                        </a:lnSpc>
                        <a:defRPr/>
                      </a:pPr>
                      <a:r>
                        <a:rPr lang="en-US" sz="1490">
                          <a:solidFill>
                            <a:srgbClr val="14313B"/>
                          </a:solidFill>
                          <a:latin typeface="Calibri (MS)"/>
                          <a:ea typeface="Calibri (MS)"/>
                          <a:cs typeface="Calibri (MS)"/>
                          <a:sym typeface="Calibri (MS)"/>
                        </a:rPr>
                        <a:t>2016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263.878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Ekstrapolasi CAGR 3,67%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1.128.845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Ekstrapolasi CAGR 10,27%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495300">
                <a:tc>
                  <a:txBody>
                    <a:bodyPr anchor="t" rtlCol="false"/>
                    <a:lstStyle/>
                    <a:p>
                      <a:pPr algn="l">
                        <a:lnSpc>
                          <a:spcPts val="1788"/>
                        </a:lnSpc>
                        <a:defRPr/>
                      </a:pPr>
                      <a:r>
                        <a:rPr lang="en-US" sz="1490">
                          <a:solidFill>
                            <a:srgbClr val="14313B"/>
                          </a:solidFill>
                          <a:latin typeface="Calibri (MS)"/>
                          <a:ea typeface="Calibri (MS)"/>
                          <a:cs typeface="Calibri (MS)"/>
                          <a:sym typeface="Calibri (MS)"/>
                        </a:rPr>
                        <a:t>2017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273.563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Sakernas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1.244.730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Ekstrapolasi CAGR 10,27%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95300">
                <a:tc>
                  <a:txBody>
                    <a:bodyPr anchor="t" rtlCol="false"/>
                    <a:lstStyle/>
                    <a:p>
                      <a:pPr algn="l">
                        <a:lnSpc>
                          <a:spcPts val="1788"/>
                        </a:lnSpc>
                        <a:defRPr/>
                      </a:pPr>
                      <a:r>
                        <a:rPr lang="en-US" sz="1490">
                          <a:solidFill>
                            <a:srgbClr val="14313B"/>
                          </a:solidFill>
                          <a:latin typeface="Calibri (MS)"/>
                          <a:ea typeface="Calibri (MS)"/>
                          <a:cs typeface="Calibri (MS)"/>
                          <a:sym typeface="Calibri (MS)"/>
                        </a:rPr>
                        <a:t>2018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354.684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Sakernas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1.372.512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Observasi (tertimbang)</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495300">
                <a:tc>
                  <a:txBody>
                    <a:bodyPr anchor="t" rtlCol="false"/>
                    <a:lstStyle/>
                    <a:p>
                      <a:pPr algn="l">
                        <a:lnSpc>
                          <a:spcPts val="1788"/>
                        </a:lnSpc>
                        <a:defRPr/>
                      </a:pPr>
                      <a:r>
                        <a:rPr lang="en-US" sz="1490">
                          <a:solidFill>
                            <a:srgbClr val="14313B"/>
                          </a:solidFill>
                          <a:latin typeface="Calibri (MS)"/>
                          <a:ea typeface="Calibri (MS)"/>
                          <a:cs typeface="Calibri (MS)"/>
                          <a:sym typeface="Calibri (MS)"/>
                        </a:rPr>
                        <a:t>2025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364.994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Sakernas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2.720.209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Observasi (tertimbang)</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grpSp>
        <p:nvGrpSpPr>
          <p:cNvPr name="Group 23" id="23"/>
          <p:cNvGrpSpPr/>
          <p:nvPr/>
        </p:nvGrpSpPr>
        <p:grpSpPr>
          <a:xfrm rot="0">
            <a:off x="816607" y="5480047"/>
            <a:ext cx="10071097" cy="2755897"/>
            <a:chOff x="0" y="0"/>
            <a:chExt cx="13428129" cy="3674529"/>
          </a:xfrm>
        </p:grpSpPr>
        <p:sp>
          <p:nvSpPr>
            <p:cNvPr name="Freeform 24" id="24"/>
            <p:cNvSpPr/>
            <p:nvPr/>
          </p:nvSpPr>
          <p:spPr>
            <a:xfrm flipH="false" flipV="false" rot="0">
              <a:off x="0" y="0"/>
              <a:ext cx="13428218" cy="3674618"/>
            </a:xfrm>
            <a:custGeom>
              <a:avLst/>
              <a:gdLst/>
              <a:ahLst/>
              <a:cxnLst/>
              <a:rect r="r" b="b" t="t" l="l"/>
              <a:pathLst>
                <a:path h="3674618" w="13428218">
                  <a:moveTo>
                    <a:pt x="0" y="294005"/>
                  </a:moveTo>
                  <a:cubicBezTo>
                    <a:pt x="0" y="131572"/>
                    <a:pt x="131572" y="0"/>
                    <a:pt x="294005" y="0"/>
                  </a:cubicBezTo>
                  <a:lnTo>
                    <a:pt x="13134212" y="0"/>
                  </a:lnTo>
                  <a:cubicBezTo>
                    <a:pt x="13296519" y="0"/>
                    <a:pt x="13428218" y="131572"/>
                    <a:pt x="13428218" y="294005"/>
                  </a:cubicBezTo>
                  <a:lnTo>
                    <a:pt x="13428218" y="3380613"/>
                  </a:lnTo>
                  <a:cubicBezTo>
                    <a:pt x="13428218" y="3542919"/>
                    <a:pt x="13296646" y="3674618"/>
                    <a:pt x="13134212" y="3674618"/>
                  </a:cubicBezTo>
                  <a:lnTo>
                    <a:pt x="294005" y="3674618"/>
                  </a:lnTo>
                  <a:cubicBezTo>
                    <a:pt x="131572" y="3674491"/>
                    <a:pt x="0" y="3542919"/>
                    <a:pt x="0" y="3380613"/>
                  </a:cubicBezTo>
                  <a:close/>
                </a:path>
              </a:pathLst>
            </a:custGeom>
            <a:solidFill>
              <a:srgbClr val="EAF8FA"/>
            </a:solidFill>
            <a:ln w="12700" cap="sq">
              <a:solidFill>
                <a:srgbClr val="CFE5E9"/>
              </a:solidFill>
              <a:prstDash val="solid"/>
              <a:miter/>
            </a:ln>
          </p:spPr>
          <p:txBody>
            <a:bodyPr/>
            <a:p/>
          </p:txBody>
        </p:sp>
        <p:sp>
          <p:nvSpPr>
            <p:cNvPr name="TextBox 25" id="25"/>
            <p:cNvSpPr txBox="true"/>
            <p:nvPr/>
          </p:nvSpPr>
          <p:spPr>
            <a:xfrm>
              <a:off x="0" y="-38100"/>
              <a:ext cx="13428129" cy="3712629"/>
            </a:xfrm>
            <a:prstGeom prst="rect">
              <a:avLst/>
            </a:prstGeom>
          </p:spPr>
          <p:txBody>
            <a:bodyPr anchor="t"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Catatan</a:t>
              </a:r>
            </a:p>
            <a:p>
              <a:pPr algn="l">
                <a:lnSpc>
                  <a:spcPts val="1788"/>
                </a:lnSpc>
              </a:pPr>
              <a:r>
                <a:rPr lang="en-US" sz="1490">
                  <a:solidFill>
                    <a:srgbClr val="14313B"/>
                  </a:solidFill>
                  <a:latin typeface="Calibri (MS)"/>
                  <a:ea typeface="Calibri (MS)"/>
                  <a:cs typeface="Calibri (MS)"/>
                  <a:sym typeface="Calibri (MS)"/>
                </a:rPr>
                <a:t>• TK 2015–2016: NTL (R² selisih 0,070) dan PDRB (R² selisih 0,093) tidak layak sebagai penduga; dipakai CAGR 2017–2025.</a:t>
              </a:r>
            </a:p>
            <a:p>
              <a:pPr algn="l">
                <a:lnSpc>
                  <a:spcPts val="1788"/>
                </a:lnSpc>
              </a:pPr>
              <a:r>
                <a:rPr lang="en-US" sz="1490">
                  <a:solidFill>
                    <a:srgbClr val="14313B"/>
                  </a:solidFill>
                  <a:latin typeface="Calibri (MS)"/>
                  <a:ea typeface="Calibri (MS)"/>
                  <a:cs typeface="Calibri (MS)"/>
                  <a:sym typeface="Calibri (MS)"/>
                </a:rPr>
                <a:t>• Pengeluaran per kunjungan = rata-rata tertimbang wisnus (DIY, ribu Rp) dan wisman (nasional, US$ × kurs tengah BI).</a:t>
              </a:r>
            </a:p>
            <a:p>
              <a:pPr algn="l">
                <a:lnSpc>
                  <a:spcPts val="1788"/>
                </a:lnSpc>
              </a:pPr>
              <a:r>
                <a:rPr lang="en-US" sz="1490">
                  <a:solidFill>
                    <a:srgbClr val="14313B"/>
                  </a:solidFill>
                  <a:latin typeface="Calibri (MS)"/>
                  <a:ea typeface="Calibri (MS)"/>
                  <a:cs typeface="Calibri (MS)"/>
                  <a:sym typeface="Calibri (MS)"/>
                </a:rPr>
                <a:t>• Faktor sambung wisnus: g_pra 7,63%; g_pasca 15,52%; g_wajar 11,58%; lompatan 2,566 → 2,2997.</a:t>
              </a:r>
            </a:p>
          </p:txBody>
        </p:sp>
      </p:grpSp>
      <p:grpSp>
        <p:nvGrpSpPr>
          <p:cNvPr name="Group 26" id="26"/>
          <p:cNvGrpSpPr/>
          <p:nvPr/>
        </p:nvGrpSpPr>
        <p:grpSpPr>
          <a:xfrm rot="0">
            <a:off x="11149327" y="2279647"/>
            <a:ext cx="6322057" cy="5956297"/>
            <a:chOff x="0" y="0"/>
            <a:chExt cx="8429409" cy="7941729"/>
          </a:xfrm>
        </p:grpSpPr>
        <p:sp>
          <p:nvSpPr>
            <p:cNvPr name="Freeform 27" id="27"/>
            <p:cNvSpPr/>
            <p:nvPr/>
          </p:nvSpPr>
          <p:spPr>
            <a:xfrm flipH="false" flipV="false" rot="0">
              <a:off x="0" y="0"/>
              <a:ext cx="8429499" cy="7941818"/>
            </a:xfrm>
            <a:custGeom>
              <a:avLst/>
              <a:gdLst/>
              <a:ahLst/>
              <a:cxnLst/>
              <a:rect r="r" b="b" t="t" l="l"/>
              <a:pathLst>
                <a:path h="7941818" w="8429499">
                  <a:moveTo>
                    <a:pt x="0" y="635381"/>
                  </a:moveTo>
                  <a:cubicBezTo>
                    <a:pt x="0" y="284480"/>
                    <a:pt x="284480" y="0"/>
                    <a:pt x="635381" y="0"/>
                  </a:cubicBezTo>
                  <a:lnTo>
                    <a:pt x="7794117" y="0"/>
                  </a:lnTo>
                  <a:cubicBezTo>
                    <a:pt x="8145018" y="0"/>
                    <a:pt x="8429499" y="284480"/>
                    <a:pt x="8429499" y="635381"/>
                  </a:cubicBezTo>
                  <a:lnTo>
                    <a:pt x="8429499" y="7306437"/>
                  </a:lnTo>
                  <a:cubicBezTo>
                    <a:pt x="8429499" y="7657338"/>
                    <a:pt x="8145018" y="7941818"/>
                    <a:pt x="7794117" y="7941818"/>
                  </a:cubicBezTo>
                  <a:lnTo>
                    <a:pt x="635381" y="7941818"/>
                  </a:lnTo>
                  <a:cubicBezTo>
                    <a:pt x="284480" y="7941691"/>
                    <a:pt x="0" y="7657338"/>
                    <a:pt x="0" y="7306437"/>
                  </a:cubicBezTo>
                  <a:close/>
                </a:path>
              </a:pathLst>
            </a:custGeom>
            <a:solidFill>
              <a:srgbClr val="EAF8FA"/>
            </a:solidFill>
            <a:ln w="12700" cap="sq">
              <a:solidFill>
                <a:srgbClr val="CFE5E9"/>
              </a:solidFill>
              <a:prstDash val="solid"/>
              <a:miter/>
            </a:ln>
          </p:spPr>
          <p:txBody>
            <a:bodyPr/>
            <a:p/>
          </p:txBody>
        </p:sp>
        <p:sp>
          <p:nvSpPr>
            <p:cNvPr name="TextBox 28" id="28"/>
            <p:cNvSpPr txBox="true"/>
            <p:nvPr/>
          </p:nvSpPr>
          <p:spPr>
            <a:xfrm>
              <a:off x="0" y="-38100"/>
              <a:ext cx="8429409" cy="7979829"/>
            </a:xfrm>
            <a:prstGeom prst="rect">
              <a:avLst/>
            </a:prstGeom>
          </p:spPr>
          <p:txBody>
            <a:bodyPr anchor="t"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Spesifikasi Google Earth Engine</a:t>
              </a:r>
            </a:p>
            <a:p>
              <a:pPr algn="l">
                <a:lnSpc>
                  <a:spcPts val="1788"/>
                </a:lnSpc>
              </a:pPr>
              <a:r>
                <a:rPr lang="en-US" sz="1490">
                  <a:solidFill>
                    <a:srgbClr val="14313B"/>
                  </a:solidFill>
                  <a:latin typeface="Calibri (MS)"/>
                  <a:ea typeface="Calibri (MS)"/>
                  <a:cs typeface="Calibri (MS)"/>
                  <a:sym typeface="Calibri (MS)"/>
                </a:rPr>
                <a:t>NTL: NOAA/VIIRS/DNB/MONTHLY_V1/VCMSLCFG, band avg_rad, rata-rata bulanan → tahunan, reduceRegions mean, skala 500 m.</a:t>
              </a:r>
            </a:p>
            <a:p>
              <a:pPr algn="l">
                <a:lnSpc>
                  <a:spcPts val="1788"/>
                </a:lnSpc>
              </a:pPr>
              <a:r>
                <a:rPr lang="en-US" sz="1490">
                  <a:solidFill>
                    <a:srgbClr val="14313B"/>
                  </a:solidFill>
                  <a:latin typeface="Calibri (MS)"/>
                  <a:ea typeface="Calibri (MS)"/>
                  <a:cs typeface="Calibri (MS)"/>
                  <a:sym typeface="Calibri (MS)"/>
                </a:rPr>
                <a:t>Batas wilayah: FAO/GAUL/2015/level1 (DIY).</a:t>
              </a:r>
            </a:p>
            <a:p>
              <a:pPr algn="l">
                <a:lnSpc>
                  <a:spcPts val="1788"/>
                </a:lnSpc>
              </a:pPr>
              <a:r>
                <a:rPr lang="en-US" sz="1490">
                  <a:solidFill>
                    <a:srgbClr val="14313B"/>
                  </a:solidFill>
                  <a:latin typeface="Calibri (MS)"/>
                  <a:ea typeface="Calibri (MS)"/>
                  <a:cs typeface="Calibri (MS)"/>
                  <a:sym typeface="Calibri (MS)"/>
                </a:rPr>
                <a:t>Dynamic World: GOOGLE/DYNAMICWORLD/V1, band built dirata-ratakan per tahun, batas probabilitas ≥ 0,5, pixelArea, skala 10 m.</a:t>
              </a:r>
            </a:p>
            <a:p>
              <a:pPr algn="l">
                <a:lnSpc>
                  <a:spcPts val="1788"/>
                </a:lnSpc>
              </a:pPr>
              <a:r>
                <a:rPr lang="en-US" sz="1490">
                  <a:solidFill>
                    <a:srgbClr val="14313B"/>
                  </a:solidFill>
                  <a:latin typeface="Calibri (MS)"/>
                  <a:ea typeface="Calibri (MS)"/>
                  <a:cs typeface="Calibri (MS)"/>
                  <a:sym typeface="Calibri (MS)"/>
                </a:rPr>
                <a:t>Uji akurasi: stratifiedSample 100 titik/kelas, seed 2024, tahun 2025.</a:t>
              </a:r>
            </a:p>
            <a:p>
              <a:pPr algn="l">
                <a:lnSpc>
                  <a:spcPts val="1788"/>
                </a:lnSpc>
              </a:pPr>
              <a:r>
                <a:rPr lang="en-US" sz="1490">
                  <a:solidFill>
                    <a:srgbClr val="14313B"/>
                  </a:solidFill>
                  <a:latin typeface="Calibri (MS)"/>
                  <a:ea typeface="Calibri (MS)"/>
                  <a:cs typeface="Calibri (MS)"/>
                  <a:sym typeface="Calibri (MS)"/>
                </a:rPr>
                <a:t>Validasi spasial NTL: titik sampel dengan buffer 300 m.</a:t>
              </a:r>
            </a:p>
          </p:txBody>
        </p:sp>
      </p:grpSp>
      <p:sp>
        <p:nvSpPr>
          <p:cNvPr name="TextBox 29" id="29"/>
          <p:cNvSpPr txBox="true"/>
          <p:nvPr/>
        </p:nvSpPr>
        <p:spPr>
          <a:xfrm rot="0">
            <a:off x="822960" y="8576310"/>
            <a:ext cx="15544800" cy="293370"/>
          </a:xfrm>
          <a:prstGeom prst="rect">
            <a:avLst/>
          </a:prstGeom>
        </p:spPr>
        <p:txBody>
          <a:bodyPr anchor="t" rtlCol="false" tIns="0" lIns="0" bIns="0" rIns="0">
            <a:spAutoFit/>
          </a:bodyPr>
          <a:lstStyle/>
          <a:p>
            <a:pPr algn="l">
              <a:lnSpc>
                <a:spcPts val="1451"/>
              </a:lnSpc>
            </a:pPr>
            <a:r>
              <a:rPr lang="en-US" sz="1209" i="true">
                <a:solidFill>
                  <a:srgbClr val="5E6E78"/>
                </a:solidFill>
                <a:latin typeface="Calibri (MS) Italics"/>
                <a:ea typeface="Calibri (MS) Italics"/>
                <a:cs typeface="Calibri (MS) Italics"/>
                <a:sym typeface="Calibri (MS) Italics"/>
              </a:rPr>
              <a:t>Sumber: repository (Ekstrapolasi Tenaga Kerja Pariwisata, Perhitungan Pengeluaran wisatawan, Master Data, GEE.rtf). Tidak mengubah nilai final di buku.</a:t>
            </a:r>
          </a:p>
        </p:txBody>
      </p:sp>
    </p:spTree>
  </p:cSld>
  <p:clrMapOvr>
    <a:masterClrMapping/>
  </p:clrMapOvr>
</p:sld>
</file>

<file path=ppt/slides/slide8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6 · Sepuluh indikator kinerja evaluasi skenario</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graphicFrame>
        <p:nvGraphicFramePr>
          <p:cNvPr name="Table 21" id="21"/>
          <p:cNvGraphicFramePr>
            <a:graphicFrameLocks noGrp="true"/>
          </p:cNvGraphicFramePr>
          <p:nvPr/>
        </p:nvGraphicFramePr>
        <p:xfrm>
          <a:off x="822960" y="2331720"/>
          <a:ext cx="16535400" cy="6286500"/>
        </p:xfrm>
        <a:graphic>
          <a:graphicData uri="http://schemas.openxmlformats.org/drawingml/2006/table">
            <a:tbl>
              <a:tblPr/>
              <a:tblGrid>
                <a:gridCol w="2069781"/>
                <a:gridCol w="4608515"/>
                <a:gridCol w="5543839"/>
                <a:gridCol w="2337017"/>
                <a:gridCol w="1976248"/>
              </a:tblGrid>
              <a:tr h="571500">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Dimensi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Indikator</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Variabel model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Arah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Batas</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rowSpan="4">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Lapangan kerja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Tenaga Kerja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Nilai tambah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PDRB Sektor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Investasi kumulatif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Akumulasi Investasi Sektor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Gambaran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Okupansi akomodasi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Tingkat Penghunian Kamar</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Gambaran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rowSpan="3">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Lahan tersedia untuk konservasi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Rasio Daya Dukung Lahan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&gt; 0,331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Luas 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Minimum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Konversi lahan pariwisata kumulatif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Akumulasi Laju Konversi Lahan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Minimum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rowSpan="2">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Indeks kepadatan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Kepadatan Wisatawan ÷ Kepadatan Referensi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Minimum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&lt; 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Kualitas destinasi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Daya Tarik Destinasi 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Skala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Dilaporkan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22" id="22"/>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82</a:t>
            </a:r>
          </a:p>
        </p:txBody>
      </p:sp>
    </p:spTree>
  </p:cSld>
  <p:clrMapOvr>
    <a:masterClrMapping/>
  </p:clrMapOvr>
</p:sld>
</file>

<file path=ppt/slides/slide8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7 · KPI pelengkap per skenario tahun 2050</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83</a:t>
            </a:r>
          </a:p>
        </p:txBody>
      </p:sp>
      <p:graphicFrame>
        <p:nvGraphicFramePr>
          <p:cNvPr name="Table 22" id="22"/>
          <p:cNvGraphicFramePr>
            <a:graphicFrameLocks noGrp="true"/>
          </p:cNvGraphicFramePr>
          <p:nvPr/>
        </p:nvGraphicFramePr>
        <p:xfrm>
          <a:off x="822960" y="2286000"/>
          <a:ext cx="16598900" cy="3911600"/>
        </p:xfrm>
        <a:graphic>
          <a:graphicData uri="http://schemas.openxmlformats.org/drawingml/2006/table">
            <a:tbl>
              <a:tblPr/>
              <a:tblGrid>
                <a:gridCol w="5723759"/>
                <a:gridCol w="2289503"/>
                <a:gridCol w="2480295"/>
                <a:gridCol w="3243463"/>
                <a:gridCol w="2861880"/>
              </a:tblGrid>
              <a:tr h="558800">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Indikator 2050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BAU</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Sustainable</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Development Priority</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Sumber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558800">
                <a:tc>
                  <a:txBody>
                    <a:bodyPr anchor="t" rtlCol="false"/>
                    <a:lstStyle/>
                    <a:p>
                      <a:pPr algn="l">
                        <a:lnSpc>
                          <a:spcPts val="1932"/>
                        </a:lnSpc>
                        <a:defRPr/>
                      </a:pPr>
                      <a:r>
                        <a:rPr lang="en-US" sz="1610">
                          <a:solidFill>
                            <a:srgbClr val="14313B"/>
                          </a:solidFill>
                          <a:latin typeface="Calibri (MS)"/>
                          <a:ea typeface="Calibri (MS)"/>
                          <a:cs typeface="Calibri (MS)"/>
                          <a:sym typeface="Calibri (MS)"/>
                        </a:rPr>
                        <a:t>Tingkat penghunian kamar (gambaran)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0,3584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0,3537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0,3458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Repository</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932"/>
                        </a:lnSpc>
                        <a:defRPr/>
                      </a:pPr>
                      <a:r>
                        <a:rPr lang="en-US" sz="1610">
                          <a:solidFill>
                            <a:srgbClr val="14313B"/>
                          </a:solidFill>
                          <a:latin typeface="Calibri (MS)"/>
                          <a:ea typeface="Calibri (MS)"/>
                          <a:cs typeface="Calibri (MS)"/>
                          <a:sym typeface="Calibri (MS)"/>
                        </a:rPr>
                        <a:t>Jumlah hotel dan akomodasi (unit)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5.404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5.631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6.033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Repository</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58800">
                <a:tc>
                  <a:txBody>
                    <a:bodyPr anchor="t" rtlCol="false"/>
                    <a:lstStyle/>
                    <a:p>
                      <a:pPr algn="l">
                        <a:lnSpc>
                          <a:spcPts val="1932"/>
                        </a:lnSpc>
                        <a:defRPr/>
                      </a:pPr>
                      <a:r>
                        <a:rPr lang="en-US" sz="1610">
                          <a:solidFill>
                            <a:srgbClr val="14313B"/>
                          </a:solidFill>
                          <a:latin typeface="Calibri (MS)"/>
                          <a:ea typeface="Calibri (MS)"/>
                          <a:cs typeface="Calibri (MS)"/>
                          <a:sym typeface="Calibri (MS)"/>
                        </a:rPr>
                        <a:t>Jumlah ODTW (unit)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367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394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449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Repository</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932"/>
                        </a:lnSpc>
                        <a:defRPr/>
                      </a:pPr>
                      <a:r>
                        <a:rPr lang="en-US" sz="1610">
                          <a:solidFill>
                            <a:srgbClr val="14313B"/>
                          </a:solidFill>
                          <a:latin typeface="Calibri (MS)"/>
                          <a:ea typeface="Calibri (MS)"/>
                          <a:cs typeface="Calibri (MS)"/>
                          <a:sym typeface="Calibri (MS)"/>
                        </a:rPr>
                        <a:t>Investasi kumulatif 2025–2050 (miliar Rp)</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37.318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41.550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50.133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Buku Tabel 60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58800">
                <a:tc>
                  <a:txBody>
                    <a:bodyPr anchor="t" rtlCol="false"/>
                    <a:lstStyle/>
                    <a:p>
                      <a:pPr algn="l">
                        <a:lnSpc>
                          <a:spcPts val="1932"/>
                        </a:lnSpc>
                        <a:defRPr/>
                      </a:pPr>
                      <a:r>
                        <a:rPr lang="en-US" sz="1610">
                          <a:solidFill>
                            <a:srgbClr val="14313B"/>
                          </a:solidFill>
                          <a:latin typeface="Calibri (MS)"/>
                          <a:ea typeface="Calibri (MS)"/>
                          <a:cs typeface="Calibri (MS)"/>
                          <a:sym typeface="Calibri (MS)"/>
                        </a:rPr>
                        <a:t>Tahun batas kepadatan 2,0 terlewati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2043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2042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2041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Buku 4.8.3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932"/>
                        </a:lnSpc>
                        <a:defRPr/>
                      </a:pPr>
                      <a:r>
                        <a:rPr lang="en-US" sz="1610">
                          <a:solidFill>
                            <a:srgbClr val="14313B"/>
                          </a:solidFill>
                          <a:latin typeface="Calibri (MS)"/>
                          <a:ea typeface="Calibri (MS)"/>
                          <a:cs typeface="Calibri (MS)"/>
                          <a:sym typeface="Calibri (MS)"/>
                        </a:rPr>
                        <a:t>Rasio daya dukung lahan (batas &gt; 0,331)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0,6145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0,6180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0,6140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Buku Tabel 60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bl>
          </a:graphicData>
        </a:graphic>
      </p:graphicFrame>
      <p:sp>
        <p:nvSpPr>
          <p:cNvPr name="TextBox 23" id="23"/>
          <p:cNvSpPr txBox="true"/>
          <p:nvPr/>
        </p:nvSpPr>
        <p:spPr>
          <a:xfrm rot="0">
            <a:off x="822960" y="6555105"/>
            <a:ext cx="16642080" cy="942975"/>
          </a:xfrm>
          <a:prstGeom prst="rect">
            <a:avLst/>
          </a:prstGeom>
        </p:spPr>
        <p:txBody>
          <a:bodyPr anchor="t" rtlCol="false" tIns="0" lIns="0" bIns="0" rIns="0">
            <a:spAutoFit/>
          </a:bodyPr>
          <a:lstStyle/>
          <a:p>
            <a:pPr algn="l">
              <a:lnSpc>
                <a:spcPts val="1788"/>
              </a:lnSpc>
            </a:pPr>
            <a:r>
              <a:rPr lang="en-US" sz="1490" i="true">
                <a:solidFill>
                  <a:srgbClr val="5E6E78"/>
                </a:solidFill>
                <a:latin typeface="Calibri (MS) Italics"/>
                <a:ea typeface="Calibri (MS) Italics"/>
                <a:cs typeface="Calibri (MS) Italics"/>
                <a:sym typeface="Calibri (MS) Italics"/>
              </a:rPr>
              <a:t>TPK tercantum sebagai KPI gambaran pada Tabel 21 buku tetapi tidak ada di Tabel 60; nilainya diambil dari hasil_simulasi_skenario.xlsx (23 run: 3 skenario × 7 kondisi + 2 simulasi kontribusi).</a:t>
            </a:r>
          </a:p>
        </p:txBody>
      </p:sp>
    </p:spTree>
  </p:cSld>
  <p:clrMapOvr>
    <a:masterClrMapping/>
  </p:clrMapOvr>
</p:sld>
</file>

<file path=ppt/slides/slide8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8 · Hasil uji perilaku parsial dan uji penuh</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822960" y="2189988"/>
            <a:ext cx="8092440" cy="553212"/>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Uji parsial (tanpa COVID)</a:t>
            </a:r>
          </a:p>
        </p:txBody>
      </p:sp>
      <p:graphicFrame>
        <p:nvGraphicFramePr>
          <p:cNvPr name="Table 22" id="22"/>
          <p:cNvGraphicFramePr>
            <a:graphicFrameLocks noGrp="true"/>
          </p:cNvGraphicFramePr>
          <p:nvPr/>
        </p:nvGraphicFramePr>
        <p:xfrm>
          <a:off x="822960" y="2811780"/>
          <a:ext cx="8039100" cy="3429000"/>
        </p:xfrm>
        <a:graphic>
          <a:graphicData uri="http://schemas.openxmlformats.org/drawingml/2006/table">
            <a:tbl>
              <a:tblPr/>
              <a:tblGrid>
                <a:gridCol w="2572958"/>
                <a:gridCol w="964557"/>
                <a:gridCol w="1093228"/>
                <a:gridCol w="1157565"/>
                <a:gridCol w="1093228"/>
                <a:gridCol w="1157565"/>
              </a:tblGrid>
              <a:tr h="571500">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Uji · Variabel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Tren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DC</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MAPE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P1 · Jumlah hotel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0,0402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0,0773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0,2011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6,05%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P1 · TPK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0,0643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b="true">
                          <a:solidFill>
                            <a:srgbClr val="E4604F"/>
                          </a:solidFill>
                          <a:latin typeface="Calibri (MS) Bold"/>
                          <a:ea typeface="Calibri (MS) Bold"/>
                          <a:cs typeface="Calibri (MS) Bold"/>
                          <a:sym typeface="Calibri (MS) Bold"/>
                        </a:rPr>
                        <a:t>2,5684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0,6692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17,37%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P2 · Jumlah ODTW</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0,0880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0,3303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0,3367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8,48%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P3 · Tenaga kerja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0,1370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0,3027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0,4945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12,88%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P4 · 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0,1125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0,3918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0,4813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12,94%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23" id="23"/>
          <p:cNvSpPr txBox="true"/>
          <p:nvPr/>
        </p:nvSpPr>
        <p:spPr>
          <a:xfrm rot="0">
            <a:off x="822960" y="6320790"/>
            <a:ext cx="8161020" cy="468630"/>
          </a:xfrm>
          <a:prstGeom prst="rect">
            <a:avLst/>
          </a:prstGeom>
        </p:spPr>
        <p:txBody>
          <a:bodyPr anchor="t" rtlCol="false" tIns="0" lIns="0" bIns="0" rIns="0">
            <a:spAutoFit/>
          </a:bodyPr>
          <a:lstStyle/>
          <a:p>
            <a:pPr algn="l">
              <a:lnSpc>
                <a:spcPts val="1889"/>
              </a:lnSpc>
            </a:pPr>
            <a:r>
              <a:rPr lang="en-US" sz="1575" i="true">
                <a:solidFill>
                  <a:srgbClr val="5E6E78"/>
                </a:solidFill>
                <a:latin typeface="Calibri (MS) Italics"/>
                <a:ea typeface="Calibri (MS) Italics"/>
                <a:cs typeface="Calibri (MS) Italics"/>
                <a:sym typeface="Calibri (MS) Italics"/>
              </a:rPr>
              <a:t>sama = tren tidak berbeda nyata. P5 (wisatawan): tren berbeda nyata.</a:t>
            </a:r>
          </a:p>
        </p:txBody>
      </p:sp>
      <p:sp>
        <p:nvSpPr>
          <p:cNvPr name="TextBox 24" id="24"/>
          <p:cNvSpPr txBox="true"/>
          <p:nvPr/>
        </p:nvSpPr>
        <p:spPr>
          <a:xfrm rot="0">
            <a:off x="9299448" y="2189988"/>
            <a:ext cx="8092440" cy="553212"/>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Uji penuh (dengan COVID)</a:t>
            </a:r>
          </a:p>
        </p:txBody>
      </p:sp>
      <p:graphicFrame>
        <p:nvGraphicFramePr>
          <p:cNvPr name="Table 25" id="25"/>
          <p:cNvGraphicFramePr>
            <a:graphicFrameLocks noGrp="true"/>
          </p:cNvGraphicFramePr>
          <p:nvPr/>
        </p:nvGraphicFramePr>
        <p:xfrm>
          <a:off x="9299448" y="2811780"/>
          <a:ext cx="8026400" cy="5715000"/>
        </p:xfrm>
        <a:graphic>
          <a:graphicData uri="http://schemas.openxmlformats.org/drawingml/2006/table">
            <a:tbl>
              <a:tblPr/>
              <a:tblGrid>
                <a:gridCol w="2440399"/>
                <a:gridCol w="1348439"/>
                <a:gridCol w="963041"/>
                <a:gridCol w="963041"/>
                <a:gridCol w="1091507"/>
                <a:gridCol w="1219973"/>
              </a:tblGrid>
              <a:tr h="571500">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Variabel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Tren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DC</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MAPE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b="true">
                          <a:solidFill>
                            <a:srgbClr val="E4604F"/>
                          </a:solidFill>
                          <a:latin typeface="Calibri (MS) Bold"/>
                          <a:ea typeface="Calibri (MS) Bold"/>
                          <a:cs typeface="Calibri (MS) Bold"/>
                          <a:sym typeface="Calibri (MS) Bold"/>
                        </a:rPr>
                        <a:t>beda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0,4482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12,06%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hotel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E4604F"/>
                          </a:solidFill>
                          <a:latin typeface="Calibri (MS)"/>
                          <a:ea typeface="Calibri (MS)"/>
                          <a:cs typeface="Calibri (MS)"/>
                          <a:sym typeface="Calibri (MS)"/>
                        </a:rPr>
                        <a:t>lawan arah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0,1399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0,4685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0,8228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13,16%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ODTW</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0,0012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0,8550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0,7855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5,68%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Tenaga kerja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E4604F"/>
                          </a:solidFill>
                          <a:latin typeface="Calibri (MS)"/>
                          <a:ea typeface="Calibri (MS)"/>
                          <a:cs typeface="Calibri (MS)"/>
                          <a:sym typeface="Calibri (MS)"/>
                        </a:rPr>
                        <a:t>lawan arah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0,1182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0,3280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0,8860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12,39%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0,1099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0,3627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0,6619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13,43%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TPK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0,2013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0,2670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0,6224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18,98%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PDRB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0,2543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0,3450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0,3062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25,06%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Investasi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0,3839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0,7927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0,7356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33,54%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Total malam menginap</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0,2643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0,6757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0,7041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29,52%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26" id="26"/>
          <p:cNvGrpSpPr/>
          <p:nvPr/>
        </p:nvGrpSpPr>
        <p:grpSpPr>
          <a:xfrm rot="0">
            <a:off x="822960" y="7132320"/>
            <a:ext cx="8161020" cy="2057400"/>
            <a:chOff x="0" y="0"/>
            <a:chExt cx="10881360" cy="2743200"/>
          </a:xfrm>
        </p:grpSpPr>
        <p:sp>
          <p:nvSpPr>
            <p:cNvPr name="Freeform 27" id="27"/>
            <p:cNvSpPr/>
            <p:nvPr/>
          </p:nvSpPr>
          <p:spPr>
            <a:xfrm flipH="false" flipV="false" rot="0">
              <a:off x="0" y="0"/>
              <a:ext cx="10881360" cy="2743200"/>
            </a:xfrm>
            <a:custGeom>
              <a:avLst/>
              <a:gdLst/>
              <a:ahLst/>
              <a:cxnLst/>
              <a:rect r="r" b="b" t="t" l="l"/>
              <a:pathLst>
                <a:path h="2743200" w="10881360">
                  <a:moveTo>
                    <a:pt x="0" y="182880"/>
                  </a:moveTo>
                  <a:cubicBezTo>
                    <a:pt x="0" y="81915"/>
                    <a:pt x="81915" y="0"/>
                    <a:pt x="182880" y="0"/>
                  </a:cubicBezTo>
                  <a:lnTo>
                    <a:pt x="10698480" y="0"/>
                  </a:lnTo>
                  <a:cubicBezTo>
                    <a:pt x="10799445" y="0"/>
                    <a:pt x="10881360" y="81915"/>
                    <a:pt x="10881360" y="182880"/>
                  </a:cubicBezTo>
                  <a:lnTo>
                    <a:pt x="10881360" y="2560320"/>
                  </a:lnTo>
                  <a:cubicBezTo>
                    <a:pt x="10881360" y="2661285"/>
                    <a:pt x="10799445" y="2743200"/>
                    <a:pt x="10698480" y="2743200"/>
                  </a:cubicBezTo>
                  <a:lnTo>
                    <a:pt x="182880" y="2743200"/>
                  </a:lnTo>
                  <a:cubicBezTo>
                    <a:pt x="81915" y="2743200"/>
                    <a:pt x="0" y="2661285"/>
                    <a:pt x="0" y="2560320"/>
                  </a:cubicBezTo>
                  <a:close/>
                </a:path>
              </a:pathLst>
            </a:custGeom>
            <a:solidFill>
              <a:srgbClr val="FFF1BF"/>
            </a:solidFill>
          </p:spPr>
          <p:txBody>
            <a:bodyPr/>
            <a:p/>
          </p:txBody>
        </p:sp>
      </p:grpSp>
      <p:grpSp>
        <p:nvGrpSpPr>
          <p:cNvPr name="Group 28" id="28"/>
          <p:cNvGrpSpPr/>
          <p:nvPr/>
        </p:nvGrpSpPr>
        <p:grpSpPr>
          <a:xfrm rot="0">
            <a:off x="1165860" y="7132320"/>
            <a:ext cx="7475220" cy="2057400"/>
            <a:chOff x="0" y="0"/>
            <a:chExt cx="9966960" cy="2743200"/>
          </a:xfrm>
        </p:grpSpPr>
        <p:sp>
          <p:nvSpPr>
            <p:cNvPr name="Freeform 29" id="29"/>
            <p:cNvSpPr/>
            <p:nvPr/>
          </p:nvSpPr>
          <p:spPr>
            <a:xfrm flipH="false" flipV="false" rot="0">
              <a:off x="0" y="0"/>
              <a:ext cx="9966960" cy="2743200"/>
            </a:xfrm>
            <a:custGeom>
              <a:avLst/>
              <a:gdLst/>
              <a:ahLst/>
              <a:cxnLst/>
              <a:rect r="r" b="b" t="t" l="l"/>
              <a:pathLst>
                <a:path h="2743200" w="9966960">
                  <a:moveTo>
                    <a:pt x="0" y="0"/>
                  </a:moveTo>
                  <a:lnTo>
                    <a:pt x="9966960" y="0"/>
                  </a:lnTo>
                  <a:lnTo>
                    <a:pt x="9966960" y="2743200"/>
                  </a:lnTo>
                  <a:lnTo>
                    <a:pt x="0" y="2743200"/>
                  </a:lnTo>
                  <a:close/>
                </a:path>
              </a:pathLst>
            </a:custGeom>
            <a:blipFill>
              <a:blip r:embed="rId4">
                <a:alphaModFix amt="0"/>
              </a:blip>
              <a:stretch>
                <a:fillRect l="0" t="-20746" r="0" b="-20746"/>
              </a:stretch>
            </a:blipFill>
          </p:spPr>
          <p:txBody>
            <a:bodyPr/>
            <a:p/>
          </p:txBody>
        </p:sp>
      </p:grpSp>
      <p:grpSp>
        <p:nvGrpSpPr>
          <p:cNvPr name="Group 30" id="30"/>
          <p:cNvGrpSpPr/>
          <p:nvPr/>
        </p:nvGrpSpPr>
        <p:grpSpPr>
          <a:xfrm rot="0">
            <a:off x="1165860" y="7103745"/>
            <a:ext cx="7475220" cy="2085975"/>
            <a:chOff x="0" y="0"/>
            <a:chExt cx="9966960" cy="2781300"/>
          </a:xfrm>
        </p:grpSpPr>
        <p:sp>
          <p:nvSpPr>
            <p:cNvPr name="Freeform 31" id="31"/>
            <p:cNvSpPr/>
            <p:nvPr/>
          </p:nvSpPr>
          <p:spPr>
            <a:xfrm flipH="false" flipV="false" rot="0">
              <a:off x="0" y="0"/>
              <a:ext cx="9966960" cy="2781300"/>
            </a:xfrm>
            <a:custGeom>
              <a:avLst/>
              <a:gdLst/>
              <a:ahLst/>
              <a:cxnLst/>
              <a:rect r="r" b="b" t="t" l="l"/>
              <a:pathLst>
                <a:path h="2781300" w="9966960">
                  <a:moveTo>
                    <a:pt x="0" y="0"/>
                  </a:moveTo>
                  <a:lnTo>
                    <a:pt x="9966960" y="0"/>
                  </a:lnTo>
                  <a:lnTo>
                    <a:pt x="9966960" y="2781300"/>
                  </a:lnTo>
                  <a:lnTo>
                    <a:pt x="0" y="2781300"/>
                  </a:lnTo>
                  <a:close/>
                </a:path>
              </a:pathLst>
            </a:custGeom>
            <a:blipFill>
              <a:blip r:embed="rId5">
                <a:alphaModFix amt="0"/>
              </a:blip>
              <a:stretch>
                <a:fillRect l="0" t="-19777" r="0" b="-19777"/>
              </a:stretch>
            </a:blipFill>
          </p:spPr>
          <p:txBody>
            <a:bodyPr/>
            <a:p/>
          </p:txBody>
        </p:sp>
      </p:grpSp>
      <p:grpSp>
        <p:nvGrpSpPr>
          <p:cNvPr name="Group 32" id="32"/>
          <p:cNvGrpSpPr/>
          <p:nvPr/>
        </p:nvGrpSpPr>
        <p:grpSpPr>
          <a:xfrm rot="0">
            <a:off x="1165860" y="7075170"/>
            <a:ext cx="7475220" cy="2114550"/>
            <a:chOff x="0" y="0"/>
            <a:chExt cx="9966960" cy="2819400"/>
          </a:xfrm>
        </p:grpSpPr>
        <p:sp>
          <p:nvSpPr>
            <p:cNvPr name="Freeform 33" id="33"/>
            <p:cNvSpPr/>
            <p:nvPr/>
          </p:nvSpPr>
          <p:spPr>
            <a:xfrm flipH="false" flipV="false" rot="0">
              <a:off x="0" y="0"/>
              <a:ext cx="9966960" cy="2819400"/>
            </a:xfrm>
            <a:custGeom>
              <a:avLst/>
              <a:gdLst/>
              <a:ahLst/>
              <a:cxnLst/>
              <a:rect r="r" b="b" t="t" l="l"/>
              <a:pathLst>
                <a:path h="2819400" w="9966960">
                  <a:moveTo>
                    <a:pt x="0" y="0"/>
                  </a:moveTo>
                  <a:lnTo>
                    <a:pt x="9966960" y="0"/>
                  </a:lnTo>
                  <a:lnTo>
                    <a:pt x="9966960" y="2819400"/>
                  </a:lnTo>
                  <a:lnTo>
                    <a:pt x="0" y="2819400"/>
                  </a:lnTo>
                  <a:close/>
                </a:path>
              </a:pathLst>
            </a:custGeom>
            <a:blipFill>
              <a:blip r:embed="rId6">
                <a:alphaModFix amt="0"/>
              </a:blip>
              <a:stretch>
                <a:fillRect l="0" t="-18882" r="0" b="-18882"/>
              </a:stretch>
            </a:blipFill>
          </p:spPr>
          <p:txBody>
            <a:bodyPr/>
            <a:p/>
          </p:txBody>
        </p:sp>
        <p:sp>
          <p:nvSpPr>
            <p:cNvPr name="TextBox 34" id="34"/>
            <p:cNvSpPr txBox="true"/>
            <p:nvPr/>
          </p:nvSpPr>
          <p:spPr>
            <a:xfrm>
              <a:off x="0" y="-38100"/>
              <a:ext cx="9966960" cy="2857500"/>
            </a:xfrm>
            <a:prstGeom prst="rect">
              <a:avLst/>
            </a:prstGeom>
          </p:spPr>
          <p:txBody>
            <a:bodyPr anchor="ctr" rtlCol="false" tIns="0" lIns="0" bIns="0" rIns="0"/>
            <a:lstStyle/>
            <a:p>
              <a:pPr algn="l">
                <a:lnSpc>
                  <a:spcPts val="2070"/>
                </a:lnSpc>
              </a:pPr>
              <a:r>
                <a:rPr lang="en-US" sz="1725">
                  <a:solidFill>
                    <a:srgbClr val="14313B"/>
                  </a:solidFill>
                  <a:latin typeface="Calibri (MS)"/>
                  <a:ea typeface="Calibri (MS)"/>
                  <a:cs typeface="Calibri (MS)"/>
                  <a:sym typeface="Calibri (MS)"/>
                </a:rPr>
                <a:t>Pedoman: E1 &lt; 0,05 · E2 &lt; 0,30 · DC 0,4–0,7 = rata-rata sampai baik · MAPE &lt;10% sangat baik, 10–20% baik, 20–50% layak, &gt;50% buruk. E1/E2 wisatawan (uji penuh) tidak dibaca karena trennya berbeda nyata.</a:t>
              </a:r>
            </a:p>
          </p:txBody>
        </p:sp>
      </p:grpSp>
      <p:sp>
        <p:nvSpPr>
          <p:cNvPr name="TextBox 35" id="35"/>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84</a:t>
            </a:r>
          </a:p>
        </p:txBody>
      </p:sp>
    </p:spTree>
  </p:cSld>
  <p:clrMapOvr>
    <a:masterClrMapping/>
  </p:clrMapOvr>
</p:sld>
</file>

<file path=ppt/slides/slide8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9 · Aspek yang dikeluarkan dari batas model</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85</a:t>
            </a:r>
          </a:p>
        </p:txBody>
      </p:sp>
      <p:graphicFrame>
        <p:nvGraphicFramePr>
          <p:cNvPr name="Table 22" id="22"/>
          <p:cNvGraphicFramePr>
            <a:graphicFrameLocks noGrp="true"/>
          </p:cNvGraphicFramePr>
          <p:nvPr/>
        </p:nvGraphicFramePr>
        <p:xfrm>
          <a:off x="822960" y="2286000"/>
          <a:ext cx="16624300" cy="6718300"/>
        </p:xfrm>
        <a:graphic>
          <a:graphicData uri="http://schemas.openxmlformats.org/drawingml/2006/table">
            <a:tbl>
              <a:tblPr/>
              <a:tblGrid>
                <a:gridCol w="4567115"/>
                <a:gridCol w="6028593"/>
                <a:gridCol w="6028593"/>
              </a:tblGrid>
              <a:tr h="421078">
                <a:tc>
                  <a:txBody>
                    <a:bodyPr anchor="t" rtlCol="false"/>
                    <a:lstStyle/>
                    <a:p>
                      <a:pPr algn="l">
                        <a:lnSpc>
                          <a:spcPts val="1558"/>
                        </a:lnSpc>
                        <a:defRPr/>
                      </a:pPr>
                      <a:r>
                        <a:rPr lang="en-US" sz="1299" b="true">
                          <a:solidFill>
                            <a:srgbClr val="FFFFFF"/>
                          </a:solidFill>
                          <a:latin typeface="Calibri (MS) Bold"/>
                          <a:ea typeface="Calibri (MS) Bold"/>
                          <a:cs typeface="Calibri (MS) Bold"/>
                          <a:sym typeface="Calibri (MS) Bold"/>
                        </a:rPr>
                        <a:t>Aspek yang dikeluarkan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558"/>
                        </a:lnSpc>
                        <a:defRPr/>
                      </a:pPr>
                      <a:r>
                        <a:rPr lang="en-US" sz="1299" b="true">
                          <a:solidFill>
                            <a:srgbClr val="FFFFFF"/>
                          </a:solidFill>
                          <a:latin typeface="Calibri (MS) Bold"/>
                          <a:ea typeface="Calibri (MS) Bold"/>
                          <a:cs typeface="Calibri (MS) Bold"/>
                          <a:sym typeface="Calibri (MS) Bold"/>
                        </a:rPr>
                        <a:t>Alasan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558"/>
                        </a:lnSpc>
                        <a:defRPr/>
                      </a:pPr>
                      <a:r>
                        <a:rPr lang="en-US" sz="1299" b="true">
                          <a:solidFill>
                            <a:srgbClr val="FFFFFF"/>
                          </a:solidFill>
                          <a:latin typeface="Calibri (MS) Bold"/>
                          <a:ea typeface="Calibri (MS) Bold"/>
                          <a:cs typeface="Calibri (MS) Bold"/>
                          <a:sym typeface="Calibri (MS) Bold"/>
                        </a:rPr>
                        <a:t>Konsekuensi terhadap hasil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Pemisahan wisman dan wisnus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Wisnus mendominasi kunjungan DIY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Perbedaan pola belanja dan lama tinggal tidak terlihat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Harga dan daya saing harga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Tidak ada indeks harga pariwisata provinsi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Pengaruh harga tidak tercakup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Aksesibilitas dan transportasi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Ditentukan kebijakan nasional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Sudah termasuk dalam laju pertumbuhan eksternal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Promosi, pemasaran, citra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Data anggaran dan efektivitas tidak tersedia tahunan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Sudah termasuk dalam laju pertumbuhan eksternal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Kualitas SDM dan sertifikasi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Data tidak lengkap; fokus pada jumlah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Perbedaan mutu layanan tidak terlihat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Musim dan fluktuasi bulanan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Satuan waktu model tahunan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Okupansi puncak musim ramai tidak tergambar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Shock: pandemi, erupsi, gempa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Kejadian acak di luar struktur feedback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Proyeksi tanpa shock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Persaingan antardestinasi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Butuh model multi-destinasi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Perpindahan ke destinasi lain tidak dimodelkan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Zonasi RTRW dan kawasan lindung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Memakai luas wilayah administratif</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Daya dukung lahan cenderung terlalu longgar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Dampak lingkungan: sampah, air, emisi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Data provinsi tidak konsisten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Lingkungan hanya diwakili lahan terbangun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Daya dukung sosial budaya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Sulit diukur kuantitatif di tingkat provinsi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Aspek sosial tidak terwakili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Distribusi manfaat ekonomi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Model bekerja pada tingkat agregat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Tidak menjawab siapa penerima manfaat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Investasi pemerintah (APBN/APBD)</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Data investasi = realisasi PMA dan PMDN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Masuk sebagai input tetap (non-investasi)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Perpindahan TK antarsektor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Sakernas tidak menerbitkan data perpindahan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Laju keluar TK merupakan batas bawah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Harga dan kepemilikan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Tidak ada seri harga lahan provinsi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Hambatan ekonomi konversi tidak dimodelkan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10 · Hasil 17 uji kondisi ekstrem (nilai tahun 2050)</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86</a:t>
            </a:r>
          </a:p>
        </p:txBody>
      </p:sp>
      <p:graphicFrame>
        <p:nvGraphicFramePr>
          <p:cNvPr name="Table 22" id="22"/>
          <p:cNvGraphicFramePr>
            <a:graphicFrameLocks noGrp="true"/>
          </p:cNvGraphicFramePr>
          <p:nvPr/>
        </p:nvGraphicFramePr>
        <p:xfrm>
          <a:off x="822960" y="2286000"/>
          <a:ext cx="16510000" cy="6578600"/>
        </p:xfrm>
        <a:graphic>
          <a:graphicData uri="http://schemas.openxmlformats.org/drawingml/2006/table">
            <a:tbl>
              <a:tblPr/>
              <a:tblGrid>
                <a:gridCol w="693698"/>
                <a:gridCol w="3792214"/>
                <a:gridCol w="1618628"/>
                <a:gridCol w="1618628"/>
                <a:gridCol w="1063669"/>
                <a:gridCol w="1618628"/>
                <a:gridCol w="1341149"/>
                <a:gridCol w="924930"/>
                <a:gridCol w="924930"/>
                <a:gridCol w="1063669"/>
                <a:gridCol w="1849860"/>
              </a:tblGrid>
              <a:tr h="515877">
                <a:tc>
                  <a:txBody>
                    <a:bodyPr anchor="t" rtlCol="false"/>
                    <a:lstStyle/>
                    <a:p>
                      <a:pPr algn="ctr">
                        <a:lnSpc>
                          <a:spcPts val="1378"/>
                        </a:lnSpc>
                        <a:defRPr/>
                      </a:pPr>
                      <a:r>
                        <a:rPr lang="en-US" sz="1149" b="true">
                          <a:solidFill>
                            <a:srgbClr val="FFFFFF"/>
                          </a:solidFill>
                          <a:latin typeface="Calibri (MS) Bold"/>
                          <a:ea typeface="Calibri (MS) Bold"/>
                          <a:cs typeface="Calibri (MS) Bold"/>
                          <a:sym typeface="Calibri (MS) Bold"/>
                        </a:rPr>
                        <a:t>Kode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378"/>
                        </a:lnSpc>
                        <a:defRPr/>
                      </a:pPr>
                      <a:r>
                        <a:rPr lang="en-US" sz="1149" b="true">
                          <a:solidFill>
                            <a:srgbClr val="FFFFFF"/>
                          </a:solidFill>
                          <a:latin typeface="Calibri (MS) Bold"/>
                          <a:ea typeface="Calibri (MS) Bold"/>
                          <a:cs typeface="Calibri (MS) Bold"/>
                          <a:sym typeface="Calibri (MS) Bold"/>
                        </a:rPr>
                        <a:t>Parameter &amp; nilai ekstrem</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8"/>
                        </a:lnSpc>
                        <a:defRPr/>
                      </a:pPr>
                      <a:r>
                        <a:rPr lang="en-US" sz="1149" b="true">
                          <a:solidFill>
                            <a:srgbClr val="FFFFFF"/>
                          </a:solidFill>
                          <a:latin typeface="Calibri (MS) Bold"/>
                          <a:ea typeface="Calibri (MS) Bold"/>
                          <a:cs typeface="Calibri (MS) Bold"/>
                          <a:sym typeface="Calibri (MS) Bold"/>
                        </a:rPr>
                        <a:t>Daya tarik min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378"/>
                        </a:lnSpc>
                        <a:defRPr/>
                      </a:pPr>
                      <a:r>
                        <a:rPr lang="en-US" sz="1149" b="true">
                          <a:solidFill>
                            <a:srgbClr val="FFFFFF"/>
                          </a:solidFill>
                          <a:latin typeface="Calibri (MS) Bold"/>
                          <a:ea typeface="Calibri (MS) Bold"/>
                          <a:cs typeface="Calibri (MS) Bold"/>
                          <a:sym typeface="Calibri (MS) Bold"/>
                        </a:rPr>
                        <a:t>Status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8"/>
                        </a:lnSpc>
                        <a:defRPr/>
                      </a:pPr>
                      <a:r>
                        <a:rPr lang="en-US" sz="1149" b="true">
                          <a:solidFill>
                            <a:srgbClr val="FFFFFF"/>
                          </a:solidFill>
                          <a:latin typeface="Calibri (MS) Bold"/>
                          <a:ea typeface="Calibri (MS) Bold"/>
                          <a:cs typeface="Calibri (MS) Bold"/>
                          <a:sym typeface="Calibri (MS) Bold"/>
                        </a:rPr>
                        <a:t>Wisatawan (juta)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8"/>
                        </a:lnSpc>
                        <a:defRPr/>
                      </a:pPr>
                      <a:r>
                        <a:rPr lang="en-US" sz="1149" b="true">
                          <a:solidFill>
                            <a:srgbClr val="FFFFFF"/>
                          </a:solidFill>
                          <a:latin typeface="Calibri (MS) Bold"/>
                          <a:ea typeface="Calibri (MS) Bold"/>
                          <a:cs typeface="Calibri (MS) Bold"/>
                          <a:sym typeface="Calibri (MS) Bold"/>
                        </a:rPr>
                        <a:t>Hotel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8"/>
                        </a:lnSpc>
                        <a:defRPr/>
                      </a:pPr>
                      <a:r>
                        <a:rPr lang="en-US" sz="1149" b="true">
                          <a:solidFill>
                            <a:srgbClr val="FFFFFF"/>
                          </a:solidFill>
                          <a:latin typeface="Calibri (MS) Bold"/>
                          <a:ea typeface="Calibri (MS) Bold"/>
                          <a:cs typeface="Calibri (MS) Bold"/>
                          <a:sym typeface="Calibri (MS) Bold"/>
                        </a:rPr>
                        <a:t>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8"/>
                        </a:lnSpc>
                        <a:defRPr/>
                      </a:pPr>
                      <a:r>
                        <a:rPr lang="en-US" sz="1149" b="true">
                          <a:solidFill>
                            <a:srgbClr val="FFFFFF"/>
                          </a:solidFill>
                          <a:latin typeface="Calibri (MS) Bold"/>
                          <a:ea typeface="Calibri (MS) Bold"/>
                          <a:cs typeface="Calibri (MS) Bold"/>
                          <a:sym typeface="Calibri (MS) Bold"/>
                        </a:rPr>
                        <a:t>TK (ribu)</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8"/>
                        </a:lnSpc>
                        <a:defRPr/>
                      </a:pPr>
                      <a:r>
                        <a:rPr lang="en-US" sz="1149" b="true">
                          <a:solidFill>
                            <a:srgbClr val="FFFFFF"/>
                          </a:solidFill>
                          <a:latin typeface="Calibri (MS) Bold"/>
                          <a:ea typeface="Calibri (MS) Bold"/>
                          <a:cs typeface="Calibri (MS) Bold"/>
                          <a:sym typeface="Calibri (MS) Bold"/>
                        </a:rPr>
                        <a:t>Lahan (ha)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8"/>
                        </a:lnSpc>
                        <a:defRPr/>
                      </a:pPr>
                      <a:r>
                        <a:rPr lang="en-US" sz="1149" b="true">
                          <a:solidFill>
                            <a:srgbClr val="FFFFFF"/>
                          </a:solidFill>
                          <a:latin typeface="Calibri (MS) Bold"/>
                          <a:ea typeface="Calibri (MS) Bold"/>
                          <a:cs typeface="Calibri (MS) Bold"/>
                          <a:sym typeface="Calibri (MS) Bold"/>
                        </a:rPr>
                        <a:t>TPK maks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8"/>
                        </a:lnSpc>
                        <a:defRPr/>
                      </a:pPr>
                      <a:r>
                        <a:rPr lang="en-US" sz="1149" b="true">
                          <a:solidFill>
                            <a:srgbClr val="FFFFFF"/>
                          </a:solidFill>
                          <a:latin typeface="Calibri (MS) Bold"/>
                          <a:ea typeface="Calibri (MS) Bold"/>
                          <a:cs typeface="Calibri (MS) Bold"/>
                          <a:sym typeface="Calibri (MS) Bold"/>
                        </a:rPr>
                        <a:t>RDDL min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LPE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0,903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0,12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149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175,71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121.226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0,358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E02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LPD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0,758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 dg catatan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6.343,72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254.956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5.179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35.985,56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148.742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0,511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0,531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Pengeluaran per kunjungan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0,740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71,56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170,44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121.169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Rasio investasi/PDRB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0,740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71,56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493,42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121.169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Laju demolisi dasar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96,27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6.357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650,79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121.826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0,358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E06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Batas TPK = 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96,35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1.821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651,33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121.519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E07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Proporsi menginap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96,38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651,46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121.366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Pembangunan ODTW (investasi &amp; non)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0,698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59,62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3.667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416,04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121.719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0,386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Laju konversi dasar ×10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0,715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47,40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2.846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286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326,91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317.033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0,383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Konservasi lahan = 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96,43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5.415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651,81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121.094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E11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Lahan per hotel &amp; per ODTW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96,43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5.415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651,81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121.094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E12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Kenaikan produktivitas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0,813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847,26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E13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Laju keluar dasar TK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0,813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650,36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Insentif kebijakan = 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0,869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166,59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11.355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2.143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1.108,34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124.478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0,358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0,607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LPE ×3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 dg catatan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581.801,49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21.542.004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353.870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3.096.262,46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317.036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Laju penutupan ODTW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0,892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127,78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6.829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755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846,35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122.397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0,391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Laju konversi dasar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0,862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111,39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6.070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743,62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56.161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0,389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0,823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11 · Uji feedback loop: nilai 2050 saat satu loop dinonaktifkan</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87</a:t>
            </a:r>
          </a:p>
        </p:txBody>
      </p:sp>
      <p:graphicFrame>
        <p:nvGraphicFramePr>
          <p:cNvPr name="Table 22" id="22"/>
          <p:cNvGraphicFramePr>
            <a:graphicFrameLocks noGrp="true"/>
          </p:cNvGraphicFramePr>
          <p:nvPr/>
        </p:nvGraphicFramePr>
        <p:xfrm>
          <a:off x="822960" y="2286000"/>
          <a:ext cx="16535400" cy="3556000"/>
        </p:xfrm>
        <a:graphic>
          <a:graphicData uri="http://schemas.openxmlformats.org/drawingml/2006/table">
            <a:tbl>
              <a:tblPr/>
              <a:tblGrid>
                <a:gridCol w="4724400"/>
                <a:gridCol w="1544516"/>
                <a:gridCol w="1362807"/>
                <a:gridCol w="1181100"/>
                <a:gridCol w="1453662"/>
                <a:gridCol w="1453662"/>
                <a:gridCol w="1271953"/>
                <a:gridCol w="1544516"/>
                <a:gridCol w="1998784"/>
              </a:tblGrid>
              <a:tr h="527643">
                <a:tc>
                  <a:txBody>
                    <a:bodyPr anchor="t" rtlCol="false"/>
                    <a:lstStyle/>
                    <a:p>
                      <a:pPr algn="l">
                        <a:lnSpc>
                          <a:spcPts val="1558"/>
                        </a:lnSpc>
                        <a:defRPr/>
                      </a:pPr>
                      <a:r>
                        <a:rPr lang="en-US" sz="1299" b="true">
                          <a:solidFill>
                            <a:srgbClr val="FFFFFF"/>
                          </a:solidFill>
                          <a:latin typeface="Calibri (MS) Bold"/>
                          <a:ea typeface="Calibri (MS) Bold"/>
                          <a:cs typeface="Calibri (MS) Bold"/>
                          <a:sym typeface="Calibri (MS) Bold"/>
                        </a:rPr>
                        <a:t>Kondisi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8"/>
                        </a:lnSpc>
                        <a:defRPr/>
                      </a:pPr>
                      <a:r>
                        <a:rPr lang="en-US" sz="1299" b="true">
                          <a:solidFill>
                            <a:srgbClr val="FFFFFF"/>
                          </a:solidFill>
                          <a:latin typeface="Calibri (MS) Bold"/>
                          <a:ea typeface="Calibri (MS) Bold"/>
                          <a:cs typeface="Calibri (MS) Bold"/>
                          <a:sym typeface="Calibri (MS) Bold"/>
                        </a:rPr>
                        <a:t>Wisatawan (juta)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8"/>
                        </a:lnSpc>
                        <a:defRPr/>
                      </a:pPr>
                      <a:r>
                        <a:rPr lang="en-US" sz="1299" b="true">
                          <a:solidFill>
                            <a:srgbClr val="FFFFFF"/>
                          </a:solidFill>
                          <a:latin typeface="Calibri (MS) Bold"/>
                          <a:ea typeface="Calibri (MS) Bold"/>
                          <a:cs typeface="Calibri (MS) Bold"/>
                          <a:sym typeface="Calibri (MS) Bold"/>
                        </a:rPr>
                        <a:t>Hotel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8"/>
                        </a:lnSpc>
                        <a:defRPr/>
                      </a:pPr>
                      <a:r>
                        <a:rPr lang="en-US" sz="1299" b="true">
                          <a:solidFill>
                            <a:srgbClr val="FFFFFF"/>
                          </a:solidFill>
                          <a:latin typeface="Calibri (MS) Bold"/>
                          <a:ea typeface="Calibri (MS) Bold"/>
                          <a:cs typeface="Calibri (MS) Bold"/>
                          <a:sym typeface="Calibri (MS) Bold"/>
                        </a:rPr>
                        <a:t>ODTW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8"/>
                        </a:lnSpc>
                        <a:defRPr/>
                      </a:pPr>
                      <a:r>
                        <a:rPr lang="en-US" sz="1299" b="true">
                          <a:solidFill>
                            <a:srgbClr val="FFFFFF"/>
                          </a:solidFill>
                          <a:latin typeface="Calibri (MS) Bold"/>
                          <a:ea typeface="Calibri (MS) Bold"/>
                          <a:cs typeface="Calibri (MS) Bold"/>
                          <a:sym typeface="Calibri (MS) Bold"/>
                        </a:rPr>
                        <a:t>TK (ribu)</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8"/>
                        </a:lnSpc>
                        <a:defRPr/>
                      </a:pPr>
                      <a:r>
                        <a:rPr lang="en-US" sz="1299" b="true">
                          <a:solidFill>
                            <a:srgbClr val="FFFFFF"/>
                          </a:solidFill>
                          <a:latin typeface="Calibri (MS) Bold"/>
                          <a:ea typeface="Calibri (MS) Bold"/>
                          <a:cs typeface="Calibri (MS) Bold"/>
                          <a:sym typeface="Calibri (MS) Bold"/>
                        </a:rPr>
                        <a:t>Lahan (ha)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8"/>
                        </a:lnSpc>
                        <a:defRPr/>
                      </a:pPr>
                      <a:r>
                        <a:rPr lang="en-US" sz="1299" b="true">
                          <a:solidFill>
                            <a:srgbClr val="FFFFFF"/>
                          </a:solidFill>
                          <a:latin typeface="Calibri (MS) Bold"/>
                          <a:ea typeface="Calibri (MS) Bold"/>
                          <a:cs typeface="Calibri (MS) Bold"/>
                          <a:sym typeface="Calibri (MS) Bold"/>
                        </a:rPr>
                        <a:t>Daya tarik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558"/>
                        </a:lnSpc>
                        <a:defRPr/>
                      </a:pPr>
                      <a:r>
                        <a:rPr lang="en-US" sz="1299" b="true">
                          <a:solidFill>
                            <a:srgbClr val="FFFFFF"/>
                          </a:solidFill>
                          <a:latin typeface="Calibri (MS) Bold"/>
                          <a:ea typeface="Calibri (MS) Bold"/>
                          <a:cs typeface="Calibri (MS) Bold"/>
                          <a:sym typeface="Calibri (MS) Bold"/>
                        </a:rPr>
                        <a:t>Δ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558"/>
                        </a:lnSpc>
                        <a:defRPr/>
                      </a:pPr>
                      <a:r>
                        <a:rPr lang="en-US" sz="1299" b="true">
                          <a:solidFill>
                            <a:srgbClr val="FFFFFF"/>
                          </a:solidFill>
                          <a:latin typeface="Calibri (MS) Bold"/>
                          <a:ea typeface="Calibri (MS) Bold"/>
                          <a:cs typeface="Calibri (MS) Bold"/>
                          <a:sym typeface="Calibri (MS) Bold"/>
                        </a:rPr>
                        <a:t>Variabel berubah &gt;1%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32622">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Simulasi dasar (semua loop aktif)</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650,36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0,8132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8"/>
                        </a:lnSpc>
                        <a:defRPr/>
                      </a:pPr>
                      <a:r>
                        <a:rPr lang="en-US" sz="1299">
                          <a:solidFill>
                            <a:srgbClr val="14313B"/>
                          </a:solidFill>
                          <a:latin typeface="Calibri (MS)"/>
                          <a:ea typeface="Calibri (MS)"/>
                          <a:cs typeface="Calibri (MS)"/>
                          <a:sym typeface="Calibri (MS)"/>
                        </a:rPr>
                        <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8"/>
                        </a:lnSpc>
                        <a:defRPr/>
                      </a:pPr>
                      <a:r>
                        <a:rPr lang="en-US" sz="1299">
                          <a:solidFill>
                            <a:srgbClr val="14313B"/>
                          </a:solidFill>
                          <a:latin typeface="Calibri (MS)"/>
                          <a:ea typeface="Calibri (MS)"/>
                          <a:cs typeface="Calibri (MS)"/>
                          <a:sym typeface="Calibri (MS)"/>
                        </a:rPr>
                        <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2622">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B1 kepadatan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250,32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12.151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528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1.585,46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123.070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1,0696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8"/>
                        </a:lnSpc>
                        <a:defRPr/>
                      </a:pPr>
                      <a:r>
                        <a:rPr lang="en-US" sz="1299">
                          <a:solidFill>
                            <a:srgbClr val="0B5E6E"/>
                          </a:solidFill>
                          <a:latin typeface="Calibri (MS)"/>
                          <a:ea typeface="Calibri (MS)"/>
                          <a:cs typeface="Calibri (MS)"/>
                          <a:sym typeface="Calibri (MS)"/>
                        </a:rPr>
                        <a:t>+160,2%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c>
                  <a:txBody>
                    <a:bodyPr anchor="t" rtlCol="false"/>
                    <a:lstStyle/>
                    <a:p>
                      <a:pPr algn="ctr">
                        <a:lnSpc>
                          <a:spcPts val="1558"/>
                        </a:lnSpc>
                        <a:defRPr/>
                      </a:pPr>
                      <a:r>
                        <a:rPr lang="en-US" sz="1299">
                          <a:solidFill>
                            <a:srgbClr val="0B5E6E"/>
                          </a:solidFill>
                          <a:latin typeface="Calibri (MS)"/>
                          <a:ea typeface="Calibri (MS)"/>
                          <a:cs typeface="Calibri (MS)"/>
                          <a:sym typeface="Calibri (MS)"/>
                        </a:rPr>
                        <a:t>5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r>
              <a:tr h="432622">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Gugus daya dukung lahan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111,66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6.081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745,26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135.035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0,8632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8"/>
                        </a:lnSpc>
                        <a:defRPr/>
                      </a:pPr>
                      <a:r>
                        <a:rPr lang="en-US" sz="1299">
                          <a:solidFill>
                            <a:srgbClr val="14313B"/>
                          </a:solidFill>
                          <a:latin typeface="Calibri (MS)"/>
                          <a:ea typeface="Calibri (MS)"/>
                          <a:cs typeface="Calibri (MS)"/>
                          <a:sym typeface="Calibri (MS)"/>
                        </a:rPr>
                        <a:t>+16,1%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8"/>
                        </a:lnSpc>
                        <a:defRPr/>
                      </a:pPr>
                      <a:r>
                        <a:rPr lang="en-US" sz="1299">
                          <a:solidFill>
                            <a:srgbClr val="14313B"/>
                          </a:solidFill>
                          <a:latin typeface="Calibri (MS)"/>
                          <a:ea typeface="Calibri (MS)"/>
                          <a:cs typeface="Calibri (MS)"/>
                          <a:sym typeface="Calibri (MS)"/>
                        </a:rPr>
                        <a:t>6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2622">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R2 ekonomi–atraksi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80,24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4.671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549,73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122.109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0,7635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8"/>
                        </a:lnSpc>
                        <a:defRPr/>
                      </a:pPr>
                      <a:r>
                        <a:rPr lang="en-US" sz="1299">
                          <a:solidFill>
                            <a:srgbClr val="14313B"/>
                          </a:solidFill>
                          <a:latin typeface="Calibri (MS)"/>
                          <a:ea typeface="Calibri (MS)"/>
                          <a:cs typeface="Calibri (MS)"/>
                          <a:sym typeface="Calibri (MS)"/>
                        </a:rPr>
                        <a:t>−16,6%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8"/>
                        </a:lnSpc>
                        <a:defRPr/>
                      </a:pPr>
                      <a:r>
                        <a:rPr lang="en-US" sz="1299">
                          <a:solidFill>
                            <a:srgbClr val="14313B"/>
                          </a:solidFill>
                          <a:latin typeface="Calibri (MS)"/>
                          <a:ea typeface="Calibri (MS)"/>
                          <a:cs typeface="Calibri (MS)"/>
                          <a:sym typeface="Calibri (MS)"/>
                        </a:rPr>
                        <a:t>5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2622">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Okupansi akomodasi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96,23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4.867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650,56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122.080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0,8133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8"/>
                        </a:lnSpc>
                        <a:defRPr/>
                      </a:pPr>
                      <a:r>
                        <a:rPr lang="en-US" sz="1299">
                          <a:solidFill>
                            <a:srgbClr val="14313B"/>
                          </a:solidFill>
                          <a:latin typeface="Calibri (MS)"/>
                          <a:ea typeface="Calibri (MS)"/>
                          <a:cs typeface="Calibri (MS)"/>
                          <a:sym typeface="Calibri (MS)"/>
                        </a:rPr>
                        <a:t>+0,03%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8"/>
                        </a:lnSpc>
                        <a:defRPr/>
                      </a:pPr>
                      <a:r>
                        <a:rPr lang="en-US" sz="1299">
                          <a:solidFill>
                            <a:srgbClr val="14313B"/>
                          </a:solidFill>
                          <a:latin typeface="Calibri (MS)"/>
                          <a:ea typeface="Calibri (MS)"/>
                          <a:cs typeface="Calibri (MS)"/>
                          <a:sym typeface="Calibri (MS)"/>
                        </a:rPr>
                        <a:t>1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2622">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Goal-seeking tenaga kerja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364,99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0,8132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8"/>
                        </a:lnSpc>
                        <a:defRPr/>
                      </a:pPr>
                      <a:r>
                        <a:rPr lang="en-US" sz="1299">
                          <a:solidFill>
                            <a:srgbClr val="14313B"/>
                          </a:solidFill>
                          <a:latin typeface="Calibri (MS)"/>
                          <a:ea typeface="Calibri (MS)"/>
                          <a:cs typeface="Calibri (MS)"/>
                          <a:sym typeface="Calibri (MS)"/>
                        </a:rPr>
                        <a:t>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8"/>
                        </a:lnSpc>
                        <a:defRPr/>
                      </a:pPr>
                      <a:r>
                        <a:rPr lang="en-US" sz="1299">
                          <a:solidFill>
                            <a:srgbClr val="14313B"/>
                          </a:solidFill>
                          <a:latin typeface="Calibri (MS)"/>
                          <a:ea typeface="Calibri (MS)"/>
                          <a:cs typeface="Calibri (MS)"/>
                          <a:sym typeface="Calibri (MS)"/>
                        </a:rPr>
                        <a:t>1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2622">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Semua balancing loop dimatikan (hanya R1)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217,37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10.885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504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1.399,44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122.930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8"/>
                        </a:lnSpc>
                        <a:defRPr/>
                      </a:pPr>
                      <a:r>
                        <a:rPr lang="en-US" sz="1299">
                          <a:solidFill>
                            <a:srgbClr val="14313B"/>
                          </a:solidFill>
                          <a:latin typeface="Calibri (MS)"/>
                          <a:ea typeface="Calibri (MS)"/>
                          <a:cs typeface="Calibri (MS)"/>
                          <a:sym typeface="Calibri (MS)"/>
                        </a:rPr>
                        <a:t>+126,0%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8"/>
                        </a:lnSpc>
                        <a:defRPr/>
                      </a:pPr>
                      <a:r>
                        <a:rPr lang="en-US" sz="1299">
                          <a:solidFill>
                            <a:srgbClr val="14313B"/>
                          </a:solidFill>
                          <a:latin typeface="Calibri (MS)"/>
                          <a:ea typeface="Calibri (MS)"/>
                          <a:cs typeface="Calibri (MS)"/>
                          <a:sym typeface="Calibri (MS)"/>
                        </a:rPr>
                        <a:t>5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grpSp>
        <p:nvGrpSpPr>
          <p:cNvPr name="Group 23" id="23"/>
          <p:cNvGrpSpPr/>
          <p:nvPr/>
        </p:nvGrpSpPr>
        <p:grpSpPr>
          <a:xfrm rot="0">
            <a:off x="822960" y="6107049"/>
            <a:ext cx="5394960" cy="3102102"/>
            <a:chOff x="0" y="0"/>
            <a:chExt cx="7193280" cy="4136136"/>
          </a:xfrm>
        </p:grpSpPr>
        <p:sp>
          <p:nvSpPr>
            <p:cNvPr name="Freeform 24" id="24" descr="uji_loop_wisatawan.png"/>
            <p:cNvSpPr/>
            <p:nvPr/>
          </p:nvSpPr>
          <p:spPr>
            <a:xfrm flipH="false" flipV="false" rot="0">
              <a:off x="0" y="0"/>
              <a:ext cx="7193280" cy="4136136"/>
            </a:xfrm>
            <a:custGeom>
              <a:avLst/>
              <a:gdLst/>
              <a:ahLst/>
              <a:cxnLst/>
              <a:rect r="r" b="b" t="t" l="l"/>
              <a:pathLst>
                <a:path h="4136136" w="7193280">
                  <a:moveTo>
                    <a:pt x="0" y="0"/>
                  </a:moveTo>
                  <a:lnTo>
                    <a:pt x="7193280" y="0"/>
                  </a:lnTo>
                  <a:lnTo>
                    <a:pt x="7193280" y="4136136"/>
                  </a:lnTo>
                  <a:lnTo>
                    <a:pt x="0" y="4136136"/>
                  </a:lnTo>
                  <a:lnTo>
                    <a:pt x="0" y="0"/>
                  </a:lnTo>
                  <a:close/>
                </a:path>
              </a:pathLst>
            </a:custGeom>
            <a:blipFill>
              <a:blip r:embed="rId7"/>
              <a:stretch>
                <a:fillRect l="0" t="0" r="0" b="0"/>
              </a:stretch>
            </a:blipFill>
          </p:spPr>
          <p:txBody>
            <a:bodyPr/>
            <a:p/>
          </p:txBody>
        </p:sp>
      </p:grpSp>
      <p:grpSp>
        <p:nvGrpSpPr>
          <p:cNvPr name="Group 25" id="25"/>
          <p:cNvGrpSpPr/>
          <p:nvPr/>
        </p:nvGrpSpPr>
        <p:grpSpPr>
          <a:xfrm rot="0">
            <a:off x="6492240" y="6172200"/>
            <a:ext cx="10972800" cy="3017520"/>
            <a:chOff x="0" y="0"/>
            <a:chExt cx="14630400" cy="4023360"/>
          </a:xfrm>
        </p:grpSpPr>
        <p:sp>
          <p:nvSpPr>
            <p:cNvPr name="Freeform 26" id="26"/>
            <p:cNvSpPr/>
            <p:nvPr/>
          </p:nvSpPr>
          <p:spPr>
            <a:xfrm flipH="false" flipV="false" rot="0">
              <a:off x="0" y="0"/>
              <a:ext cx="14630400" cy="4023360"/>
            </a:xfrm>
            <a:custGeom>
              <a:avLst/>
              <a:gdLst/>
              <a:ahLst/>
              <a:cxnLst/>
              <a:rect r="r" b="b" t="t" l="l"/>
              <a:pathLst>
                <a:path h="4023360" w="14630400">
                  <a:moveTo>
                    <a:pt x="0" y="170688"/>
                  </a:moveTo>
                  <a:cubicBezTo>
                    <a:pt x="0" y="76454"/>
                    <a:pt x="76454" y="0"/>
                    <a:pt x="170688" y="0"/>
                  </a:cubicBezTo>
                  <a:lnTo>
                    <a:pt x="14459713" y="0"/>
                  </a:lnTo>
                  <a:cubicBezTo>
                    <a:pt x="14553947" y="0"/>
                    <a:pt x="14630400" y="76454"/>
                    <a:pt x="14630400" y="170688"/>
                  </a:cubicBezTo>
                  <a:lnTo>
                    <a:pt x="14630400" y="3852672"/>
                  </a:lnTo>
                  <a:cubicBezTo>
                    <a:pt x="14630400" y="3946906"/>
                    <a:pt x="14553947" y="4023360"/>
                    <a:pt x="14459713" y="4023360"/>
                  </a:cubicBezTo>
                  <a:lnTo>
                    <a:pt x="170688" y="4023360"/>
                  </a:lnTo>
                  <a:cubicBezTo>
                    <a:pt x="76454" y="4023360"/>
                    <a:pt x="0" y="3946906"/>
                    <a:pt x="0" y="3852672"/>
                  </a:cubicBezTo>
                  <a:close/>
                </a:path>
              </a:pathLst>
            </a:custGeom>
            <a:solidFill>
              <a:srgbClr val="EAF8FA"/>
            </a:solidFill>
          </p:spPr>
          <p:txBody>
            <a:bodyPr/>
            <a:p/>
          </p:txBody>
        </p:sp>
      </p:grpSp>
      <p:sp>
        <p:nvSpPr>
          <p:cNvPr name="TextBox 27" id="27"/>
          <p:cNvSpPr txBox="true"/>
          <p:nvPr/>
        </p:nvSpPr>
        <p:spPr>
          <a:xfrm rot="0">
            <a:off x="6766560" y="6291072"/>
            <a:ext cx="10424160" cy="662940"/>
          </a:xfrm>
          <a:prstGeom prst="rect">
            <a:avLst/>
          </a:prstGeom>
        </p:spPr>
        <p:txBody>
          <a:bodyPr anchor="t" rtlCol="false" tIns="0" lIns="0" bIns="0" rIns="0">
            <a:spAutoFit/>
          </a:bodyPr>
          <a:lstStyle/>
          <a:p>
            <a:pPr algn="l">
              <a:lnSpc>
                <a:spcPts val="2688"/>
              </a:lnSpc>
            </a:pPr>
            <a:r>
              <a:rPr lang="en-US" sz="2000" b="true">
                <a:solidFill>
                  <a:srgbClr val="0B5E6E"/>
                </a:solidFill>
                <a:latin typeface="Calibri (MS) Bold"/>
                <a:ea typeface="Calibri (MS) Bold"/>
                <a:cs typeface="Calibri (MS) Bold"/>
                <a:sym typeface="Calibri (MS) Bold"/>
              </a:rPr>
              <a:t>Pembacaan</a:t>
            </a:r>
          </a:p>
        </p:txBody>
      </p:sp>
      <p:sp>
        <p:nvSpPr>
          <p:cNvPr name="TextBox 28" id="28"/>
          <p:cNvSpPr txBox="true"/>
          <p:nvPr/>
        </p:nvSpPr>
        <p:spPr>
          <a:xfrm rot="0">
            <a:off x="6766560" y="6858000"/>
            <a:ext cx="10424160" cy="2167128"/>
          </a:xfrm>
          <a:prstGeom prst="rect">
            <a:avLst/>
          </a:prstGeom>
        </p:spPr>
        <p:txBody>
          <a:bodyPr anchor="t" rtlCol="false" tIns="0" lIns="0" bIns="0" rIns="0">
            <a:spAutoFit/>
          </a:bodyPr>
          <a:lstStyle/>
          <a:p>
            <a:pPr algn="l">
              <a:lnSpc>
                <a:spcPts val="2016"/>
              </a:lnSpc>
            </a:pPr>
            <a:r>
              <a:rPr lang="en-US" sz="1500">
                <a:solidFill>
                  <a:srgbClr val="14313B"/>
                </a:solidFill>
                <a:latin typeface="Calibri (MS)"/>
                <a:ea typeface="Calibri (MS)"/>
                <a:cs typeface="Calibri (MS)"/>
                <a:sym typeface="Calibri (MS)"/>
              </a:rPr>
              <a:t>• B1 paling kuat dan berpengaruh luas: wisatawan 2050 +160,2%, 5 dari 6 variabel berubah &gt;1%</a:t>
            </a:r>
          </a:p>
          <a:p>
            <a:pPr algn="l">
              <a:lnSpc>
                <a:spcPts val="2016"/>
              </a:lnSpc>
            </a:pPr>
            <a:r>
              <a:rPr lang="en-US" sz="1500">
                <a:solidFill>
                  <a:srgbClr val="14313B"/>
                </a:solidFill>
                <a:latin typeface="Calibri (MS)"/>
                <a:ea typeface="Calibri (MS)"/>
                <a:cs typeface="Calibri (MS)"/>
                <a:sym typeface="Calibri (MS)"/>
              </a:rPr>
              <a:t>• Gugus daya dukung lahan: satu-satunya yang memengaruhi 6 dari 6 variabel (wisatawan +16,1%)</a:t>
            </a:r>
          </a:p>
          <a:p>
            <a:pPr algn="l">
              <a:lnSpc>
                <a:spcPts val="2016"/>
              </a:lnSpc>
            </a:pPr>
            <a:r>
              <a:rPr lang="en-US" sz="1500">
                <a:solidFill>
                  <a:srgbClr val="14313B"/>
                </a:solidFill>
                <a:latin typeface="Calibri (MS)"/>
                <a:ea typeface="Calibri (MS)"/>
                <a:cs typeface="Calibri (MS)"/>
                <a:sym typeface="Calibri (MS)"/>
              </a:rPr>
              <a:t>• R2: dampak terbesar pada ODTW (−45,3%), melebihi dampak pada wisatawan (−16,6%)</a:t>
            </a:r>
          </a:p>
          <a:p>
            <a:pPr algn="l">
              <a:lnSpc>
                <a:spcPts val="2016"/>
              </a:lnSpc>
            </a:pPr>
            <a:r>
              <a:rPr lang="en-US" sz="1500">
                <a:solidFill>
                  <a:srgbClr val="14313B"/>
                </a:solidFill>
                <a:latin typeface="Calibri (MS)"/>
                <a:ea typeface="Calibri (MS)"/>
                <a:cs typeface="Calibri (MS)"/>
                <a:sym typeface="Calibri (MS)"/>
              </a:rPr>
              <a:t>• Efeknya tidak bisa dijumlahkan: B1 saja (250,32 juta) &gt; semua balancing loop dimatikan (217,37 juta) karena R2 tetap menaikkan daya tarik</a:t>
            </a:r>
          </a:p>
        </p:txBody>
      </p:sp>
    </p:spTree>
  </p:cSld>
  <p:clrMapOvr>
    <a:masterClrMapping/>
  </p:clrMapOvr>
</p:sld>
</file>

<file path=ppt/slides/slide8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12 · Horizon diperpanjang sampai 2150 (uji kestabilan, BAU)</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88</a:t>
            </a:r>
          </a:p>
        </p:txBody>
      </p:sp>
      <p:graphicFrame>
        <p:nvGraphicFramePr>
          <p:cNvPr name="Table 22" id="22"/>
          <p:cNvGraphicFramePr>
            <a:graphicFrameLocks noGrp="true"/>
          </p:cNvGraphicFramePr>
          <p:nvPr/>
        </p:nvGraphicFramePr>
        <p:xfrm>
          <a:off x="822960" y="2286000"/>
          <a:ext cx="16573500" cy="3276600"/>
        </p:xfrm>
        <a:graphic>
          <a:graphicData uri="http://schemas.openxmlformats.org/drawingml/2006/table">
            <a:tbl>
              <a:tblPr/>
              <a:tblGrid>
                <a:gridCol w="1572668"/>
                <a:gridCol w="2782412"/>
                <a:gridCol w="2056566"/>
                <a:gridCol w="1693642"/>
                <a:gridCol w="2419489"/>
                <a:gridCol w="2298515"/>
                <a:gridCol w="1693642"/>
                <a:gridCol w="2056566"/>
              </a:tblGrid>
              <a:tr h="546100">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Tahun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Wisatawan (juta)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Daya tarik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RDDL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Lahan (ha)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Hotel (unit)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ODTW</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TK (ribu)</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546100">
                <a:tc>
                  <a:txBody>
                    <a:bodyPr anchor="t" rtlCol="false"/>
                    <a:lstStyle/>
                    <a:p>
                      <a:pPr algn="l">
                        <a:lnSpc>
                          <a:spcPts val="1932"/>
                        </a:lnSpc>
                        <a:defRPr/>
                      </a:pPr>
                      <a:r>
                        <a:rPr lang="en-US" sz="1610">
                          <a:solidFill>
                            <a:srgbClr val="14313B"/>
                          </a:solidFill>
                          <a:latin typeface="Calibri (MS)"/>
                          <a:ea typeface="Calibri (MS)"/>
                          <a:cs typeface="Calibri (MS)"/>
                          <a:sym typeface="Calibri (MS)"/>
                        </a:rPr>
                        <a:t>2050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96,20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0,813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0,615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122.208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5.404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367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650,4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46100">
                <a:tc>
                  <a:txBody>
                    <a:bodyPr anchor="t" rtlCol="false"/>
                    <a:lstStyle/>
                    <a:p>
                      <a:pPr algn="l">
                        <a:lnSpc>
                          <a:spcPts val="1932"/>
                        </a:lnSpc>
                        <a:defRPr/>
                      </a:pPr>
                      <a:r>
                        <a:rPr lang="en-US" sz="1610">
                          <a:solidFill>
                            <a:srgbClr val="14313B"/>
                          </a:solidFill>
                          <a:latin typeface="Calibri (MS)"/>
                          <a:ea typeface="Calibri (MS)"/>
                          <a:cs typeface="Calibri (MS)"/>
                          <a:sym typeface="Calibri (MS)"/>
                        </a:rPr>
                        <a:t>2075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122,23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0,758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0,346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207.210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7.191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534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637,1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46100">
                <a:tc>
                  <a:txBody>
                    <a:bodyPr anchor="t" rtlCol="false"/>
                    <a:lstStyle/>
                    <a:p>
                      <a:pPr algn="l">
                        <a:lnSpc>
                          <a:spcPts val="1932"/>
                        </a:lnSpc>
                        <a:defRPr/>
                      </a:pPr>
                      <a:r>
                        <a:rPr lang="en-US" sz="1610">
                          <a:solidFill>
                            <a:srgbClr val="14313B"/>
                          </a:solidFill>
                          <a:latin typeface="Calibri (MS)"/>
                          <a:ea typeface="Calibri (MS)"/>
                          <a:cs typeface="Calibri (MS)"/>
                          <a:sym typeface="Calibri (MS)"/>
                        </a:rPr>
                        <a:t>2100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113,79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0,725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0,149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269.864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6.910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597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454,6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46100">
                <a:tc>
                  <a:txBody>
                    <a:bodyPr anchor="t" rtlCol="false"/>
                    <a:lstStyle/>
                    <a:p>
                      <a:pPr algn="l">
                        <a:lnSpc>
                          <a:spcPts val="1932"/>
                        </a:lnSpc>
                        <a:defRPr/>
                      </a:pPr>
                      <a:r>
                        <a:rPr lang="en-US" sz="1610">
                          <a:solidFill>
                            <a:srgbClr val="14313B"/>
                          </a:solidFill>
                          <a:latin typeface="Calibri (MS)"/>
                          <a:ea typeface="Calibri (MS)"/>
                          <a:cs typeface="Calibri (MS)"/>
                          <a:sym typeface="Calibri (MS)"/>
                        </a:rPr>
                        <a:t>2125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91,30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0,715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0,054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299.837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5.608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556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277,7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46100">
                <a:tc>
                  <a:txBody>
                    <a:bodyPr anchor="t" rtlCol="false"/>
                    <a:lstStyle/>
                    <a:p>
                      <a:pPr algn="l">
                        <a:lnSpc>
                          <a:spcPts val="1932"/>
                        </a:lnSpc>
                        <a:defRPr/>
                      </a:pPr>
                      <a:r>
                        <a:rPr lang="en-US" sz="1610">
                          <a:solidFill>
                            <a:srgbClr val="14313B"/>
                          </a:solidFill>
                          <a:latin typeface="Calibri (MS)"/>
                          <a:ea typeface="Calibri (MS)"/>
                          <a:cs typeface="Calibri (MS)"/>
                          <a:sym typeface="Calibri (MS)"/>
                        </a:rPr>
                        <a:t>2150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72,65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0,721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0,018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311.190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4.444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480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167,5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grpSp>
        <p:nvGrpSpPr>
          <p:cNvPr name="Group 23" id="23"/>
          <p:cNvGrpSpPr/>
          <p:nvPr/>
        </p:nvGrpSpPr>
        <p:grpSpPr>
          <a:xfrm rot="0">
            <a:off x="816607" y="5845807"/>
            <a:ext cx="16654777" cy="1750057"/>
            <a:chOff x="0" y="0"/>
            <a:chExt cx="22206369" cy="2333409"/>
          </a:xfrm>
        </p:grpSpPr>
        <p:sp>
          <p:nvSpPr>
            <p:cNvPr name="Freeform 24" id="24"/>
            <p:cNvSpPr/>
            <p:nvPr/>
          </p:nvSpPr>
          <p:spPr>
            <a:xfrm flipH="false" flipV="false" rot="0">
              <a:off x="0" y="0"/>
              <a:ext cx="22206330" cy="2333371"/>
            </a:xfrm>
            <a:custGeom>
              <a:avLst/>
              <a:gdLst/>
              <a:ahLst/>
              <a:cxnLst/>
              <a:rect r="r" b="b" t="t" l="l"/>
              <a:pathLst>
                <a:path h="2333371" w="22206330">
                  <a:moveTo>
                    <a:pt x="0" y="186690"/>
                  </a:moveTo>
                  <a:cubicBezTo>
                    <a:pt x="0" y="83566"/>
                    <a:pt x="83566" y="0"/>
                    <a:pt x="186690" y="0"/>
                  </a:cubicBezTo>
                  <a:lnTo>
                    <a:pt x="22019640" y="0"/>
                  </a:lnTo>
                  <a:cubicBezTo>
                    <a:pt x="22122764" y="0"/>
                    <a:pt x="22206330" y="83566"/>
                    <a:pt x="22206330" y="186690"/>
                  </a:cubicBezTo>
                  <a:lnTo>
                    <a:pt x="22206330" y="2146681"/>
                  </a:lnTo>
                  <a:cubicBezTo>
                    <a:pt x="22206330" y="2249805"/>
                    <a:pt x="22122764" y="2333371"/>
                    <a:pt x="22019640" y="2333371"/>
                  </a:cubicBezTo>
                  <a:lnTo>
                    <a:pt x="186690" y="2333371"/>
                  </a:lnTo>
                  <a:cubicBezTo>
                    <a:pt x="83566" y="2333371"/>
                    <a:pt x="0" y="2249805"/>
                    <a:pt x="0" y="2146681"/>
                  </a:cubicBezTo>
                  <a:close/>
                </a:path>
              </a:pathLst>
            </a:custGeom>
            <a:solidFill>
              <a:srgbClr val="EAF8FA"/>
            </a:solidFill>
            <a:ln w="12700" cap="sq">
              <a:solidFill>
                <a:srgbClr val="CFE5E9"/>
              </a:solidFill>
              <a:prstDash val="solid"/>
              <a:miter/>
            </a:ln>
          </p:spPr>
          <p:txBody>
            <a:bodyPr/>
            <a:p/>
          </p:txBody>
        </p:sp>
        <p:sp>
          <p:nvSpPr>
            <p:cNvPr name="TextBox 25" id="25"/>
            <p:cNvSpPr txBox="true"/>
            <p:nvPr/>
          </p:nvSpPr>
          <p:spPr>
            <a:xfrm>
              <a:off x="0" y="-38100"/>
              <a:ext cx="22206369" cy="2371509"/>
            </a:xfrm>
            <a:prstGeom prst="rect">
              <a:avLst/>
            </a:prstGeom>
          </p:spPr>
          <p:txBody>
            <a:bodyPr anchor="t"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Bacaan</a:t>
              </a:r>
            </a:p>
            <a:p>
              <a:pPr algn="l">
                <a:lnSpc>
                  <a:spcPts val="1860"/>
                </a:lnSpc>
              </a:pPr>
              <a:r>
                <a:rPr lang="en-US" sz="1550">
                  <a:solidFill>
                    <a:srgbClr val="14313B"/>
                  </a:solidFill>
                  <a:latin typeface="Calibri (MS)"/>
                  <a:ea typeface="Calibri (MS)"/>
                  <a:cs typeface="Calibri (MS)"/>
                  <a:sym typeface="Calibri (MS)"/>
                </a:rPr>
                <a:t>Wisatawan mencapai puncak ±122,9 juta pada 2080 lalu turun ketika RDDL mendekati nol: pola overshoot lalu turun, khas model daya dukung (limits to growth). Simulasi tetap stabil (TPK maks 0,388; daya tarik min 0,715). Uji ini dirujuk di Buku 4.3.2.4 sebagai dasar pemilihan bobot dan elastisitas; tabelnya hanya ada di repository.</a:t>
              </a:r>
            </a:p>
          </p:txBody>
        </p:sp>
      </p:grpSp>
    </p:spTree>
  </p:cSld>
  <p:clrMapOvr>
    <a:masterClrMapping/>
  </p:clrMapOvr>
</p:sld>
</file>

<file path=ppt/slides/slide8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13 · Kalibrasi per tahap: tidak ada parameter yang berubah</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89</a:t>
            </a:r>
          </a:p>
        </p:txBody>
      </p:sp>
      <p:sp>
        <p:nvSpPr>
          <p:cNvPr name="Freeform 22" id="22"/>
          <p:cNvSpPr/>
          <p:nvPr/>
        </p:nvSpPr>
        <p:spPr>
          <a:xfrm flipH="false" flipV="false" rot="0">
            <a:off x="806291" y="2269331"/>
            <a:ext cx="8217218" cy="3370897"/>
          </a:xfrm>
          <a:custGeom>
            <a:avLst/>
            <a:gdLst/>
            <a:ahLst/>
            <a:cxnLst/>
            <a:rect r="r" b="b" t="t" l="l"/>
            <a:pathLst>
              <a:path h="3370897" w="8217218">
                <a:moveTo>
                  <a:pt x="0" y="0"/>
                </a:moveTo>
                <a:lnTo>
                  <a:pt x="8217218" y="0"/>
                </a:lnTo>
                <a:lnTo>
                  <a:pt x="8217218" y="3370898"/>
                </a:lnTo>
                <a:lnTo>
                  <a:pt x="0" y="337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23" id="23"/>
          <p:cNvGrpSpPr/>
          <p:nvPr/>
        </p:nvGrpSpPr>
        <p:grpSpPr>
          <a:xfrm rot="0">
            <a:off x="914400" y="2390137"/>
            <a:ext cx="5120640" cy="3129248"/>
            <a:chOff x="0" y="0"/>
            <a:chExt cx="6827520" cy="4172331"/>
          </a:xfrm>
        </p:grpSpPr>
        <p:sp>
          <p:nvSpPr>
            <p:cNvPr name="Freeform 24" id="24" descr="tahap1_permukaan_J_P1.png"/>
            <p:cNvSpPr/>
            <p:nvPr/>
          </p:nvSpPr>
          <p:spPr>
            <a:xfrm flipH="false" flipV="false" rot="0">
              <a:off x="0" y="0"/>
              <a:ext cx="6827520" cy="4172331"/>
            </a:xfrm>
            <a:custGeom>
              <a:avLst/>
              <a:gdLst/>
              <a:ahLst/>
              <a:cxnLst/>
              <a:rect r="r" b="b" t="t" l="l"/>
              <a:pathLst>
                <a:path h="4172331" w="6827520">
                  <a:moveTo>
                    <a:pt x="0" y="0"/>
                  </a:moveTo>
                  <a:lnTo>
                    <a:pt x="6827520" y="0"/>
                  </a:lnTo>
                  <a:lnTo>
                    <a:pt x="6827520" y="4172331"/>
                  </a:lnTo>
                  <a:lnTo>
                    <a:pt x="0" y="4172331"/>
                  </a:lnTo>
                  <a:lnTo>
                    <a:pt x="0" y="0"/>
                  </a:lnTo>
                  <a:close/>
                </a:path>
              </a:pathLst>
            </a:custGeom>
            <a:blipFill>
              <a:blip r:embed="rId9"/>
              <a:stretch>
                <a:fillRect l="0" t="-61" r="0" b="-61"/>
              </a:stretch>
            </a:blipFill>
          </p:spPr>
          <p:txBody>
            <a:bodyPr/>
            <a:p/>
          </p:txBody>
        </p:sp>
      </p:grpSp>
      <p:sp>
        <p:nvSpPr>
          <p:cNvPr name="TextBox 25" id="25"/>
          <p:cNvSpPr txBox="true"/>
          <p:nvPr/>
        </p:nvSpPr>
        <p:spPr>
          <a:xfrm rot="0">
            <a:off x="6172200" y="2446020"/>
            <a:ext cx="2651760" cy="93726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1 · Akomodasi (P1)</a:t>
            </a:r>
          </a:p>
        </p:txBody>
      </p:sp>
      <p:sp>
        <p:nvSpPr>
          <p:cNvPr name="TextBox 26" id="26"/>
          <p:cNvSpPr txBox="true"/>
          <p:nvPr/>
        </p:nvSpPr>
        <p:spPr>
          <a:xfrm rot="0">
            <a:off x="6172200" y="3307080"/>
            <a:ext cx="2651760" cy="22250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Optimum batas TPK 0,35 tepat di ujung rentang; perbaikan 11,64% hanya karena tahun 2019 dan tidak konsisten pada versi dengan COVID maupun rancangan P1b. Dipertahankan: 0,275 dan 0,05.</a:t>
            </a:r>
          </a:p>
        </p:txBody>
      </p:sp>
      <p:sp>
        <p:nvSpPr>
          <p:cNvPr name="Freeform 27" id="27"/>
          <p:cNvSpPr/>
          <p:nvPr/>
        </p:nvSpPr>
        <p:spPr>
          <a:xfrm flipH="false" flipV="false" rot="0">
            <a:off x="9264491" y="2269331"/>
            <a:ext cx="8217218" cy="3370897"/>
          </a:xfrm>
          <a:custGeom>
            <a:avLst/>
            <a:gdLst/>
            <a:ahLst/>
            <a:cxnLst/>
            <a:rect r="r" b="b" t="t" l="l"/>
            <a:pathLst>
              <a:path h="3370897" w="8217218">
                <a:moveTo>
                  <a:pt x="0" y="0"/>
                </a:moveTo>
                <a:lnTo>
                  <a:pt x="8217218" y="0"/>
                </a:lnTo>
                <a:lnTo>
                  <a:pt x="8217218" y="3370898"/>
                </a:lnTo>
                <a:lnTo>
                  <a:pt x="0" y="337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28" id="28"/>
          <p:cNvGrpSpPr/>
          <p:nvPr/>
        </p:nvGrpSpPr>
        <p:grpSpPr>
          <a:xfrm rot="0">
            <a:off x="9372600" y="2521001"/>
            <a:ext cx="5120640" cy="2867596"/>
            <a:chOff x="0" y="0"/>
            <a:chExt cx="6827520" cy="3823462"/>
          </a:xfrm>
        </p:grpSpPr>
        <p:sp>
          <p:nvSpPr>
            <p:cNvPr name="Freeform 29" id="29" descr="tahap2_profil_J.png"/>
            <p:cNvSpPr/>
            <p:nvPr/>
          </p:nvSpPr>
          <p:spPr>
            <a:xfrm flipH="false" flipV="false" rot="0">
              <a:off x="0" y="0"/>
              <a:ext cx="6827520" cy="3823462"/>
            </a:xfrm>
            <a:custGeom>
              <a:avLst/>
              <a:gdLst/>
              <a:ahLst/>
              <a:cxnLst/>
              <a:rect r="r" b="b" t="t" l="l"/>
              <a:pathLst>
                <a:path h="3823462" w="6827520">
                  <a:moveTo>
                    <a:pt x="0" y="0"/>
                  </a:moveTo>
                  <a:lnTo>
                    <a:pt x="6827520" y="0"/>
                  </a:lnTo>
                  <a:lnTo>
                    <a:pt x="6827520" y="3823462"/>
                  </a:lnTo>
                  <a:lnTo>
                    <a:pt x="0" y="3823462"/>
                  </a:lnTo>
                  <a:lnTo>
                    <a:pt x="0" y="0"/>
                  </a:lnTo>
                  <a:close/>
                </a:path>
              </a:pathLst>
            </a:custGeom>
            <a:blipFill>
              <a:blip r:embed="rId10"/>
              <a:stretch>
                <a:fillRect l="0" t="0" r="0" b="0"/>
              </a:stretch>
            </a:blipFill>
          </p:spPr>
          <p:txBody>
            <a:bodyPr/>
            <a:p/>
          </p:txBody>
        </p:sp>
      </p:grpSp>
      <p:sp>
        <p:nvSpPr>
          <p:cNvPr name="TextBox 30" id="30"/>
          <p:cNvSpPr txBox="true"/>
          <p:nvPr/>
        </p:nvSpPr>
        <p:spPr>
          <a:xfrm rot="0">
            <a:off x="14630400" y="2446020"/>
            <a:ext cx="2651760" cy="93726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2 · Lahan (P4)</a:t>
            </a:r>
          </a:p>
        </p:txBody>
      </p:sp>
      <p:sp>
        <p:nvSpPr>
          <p:cNvPr name="TextBox 31" id="31"/>
          <p:cNvSpPr txBox="true"/>
          <p:nvPr/>
        </p:nvSpPr>
        <p:spPr>
          <a:xfrm rot="0">
            <a:off x="14630400" y="3307080"/>
            <a:ext cx="2651760" cy="22250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Optimum k = 0,0639 di dalam rentang; perbaikan 14,76%, komponen bias U1 0,4250 → 0,0755. Sementara diadopsi.</a:t>
            </a:r>
          </a:p>
        </p:txBody>
      </p:sp>
      <p:sp>
        <p:nvSpPr>
          <p:cNvPr name="Freeform 32" id="32"/>
          <p:cNvSpPr/>
          <p:nvPr/>
        </p:nvSpPr>
        <p:spPr>
          <a:xfrm flipH="false" flipV="false" rot="0">
            <a:off x="806291" y="5789771"/>
            <a:ext cx="8217218" cy="3370897"/>
          </a:xfrm>
          <a:custGeom>
            <a:avLst/>
            <a:gdLst/>
            <a:ahLst/>
            <a:cxnLst/>
            <a:rect r="r" b="b" t="t" l="l"/>
            <a:pathLst>
              <a:path h="3370897" w="8217218">
                <a:moveTo>
                  <a:pt x="0" y="0"/>
                </a:moveTo>
                <a:lnTo>
                  <a:pt x="8217218" y="0"/>
                </a:lnTo>
                <a:lnTo>
                  <a:pt x="8217218" y="3370898"/>
                </a:lnTo>
                <a:lnTo>
                  <a:pt x="0" y="337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33" id="33"/>
          <p:cNvGrpSpPr/>
          <p:nvPr/>
        </p:nvGrpSpPr>
        <p:grpSpPr>
          <a:xfrm rot="0">
            <a:off x="914400" y="6052823"/>
            <a:ext cx="5120640" cy="2844832"/>
            <a:chOff x="0" y="0"/>
            <a:chExt cx="6827520" cy="3793109"/>
          </a:xfrm>
        </p:grpSpPr>
        <p:sp>
          <p:nvSpPr>
            <p:cNvPr name="Freeform 34" id="34" descr="tahap3_punggung_identifikasi.png"/>
            <p:cNvSpPr/>
            <p:nvPr/>
          </p:nvSpPr>
          <p:spPr>
            <a:xfrm flipH="false" flipV="false" rot="0">
              <a:off x="0" y="0"/>
              <a:ext cx="6827520" cy="3793109"/>
            </a:xfrm>
            <a:custGeom>
              <a:avLst/>
              <a:gdLst/>
              <a:ahLst/>
              <a:cxnLst/>
              <a:rect r="r" b="b" t="t" l="l"/>
              <a:pathLst>
                <a:path h="3793109" w="6827520">
                  <a:moveTo>
                    <a:pt x="0" y="0"/>
                  </a:moveTo>
                  <a:lnTo>
                    <a:pt x="6827520" y="0"/>
                  </a:lnTo>
                  <a:lnTo>
                    <a:pt x="6827520" y="3793109"/>
                  </a:lnTo>
                  <a:lnTo>
                    <a:pt x="0" y="3793109"/>
                  </a:lnTo>
                  <a:lnTo>
                    <a:pt x="0" y="0"/>
                  </a:lnTo>
                  <a:close/>
                </a:path>
              </a:pathLst>
            </a:custGeom>
            <a:blipFill>
              <a:blip r:embed="rId11"/>
              <a:stretch>
                <a:fillRect l="0" t="0" r="0" b="0"/>
              </a:stretch>
            </a:blipFill>
          </p:spPr>
          <p:txBody>
            <a:bodyPr/>
            <a:p/>
          </p:txBody>
        </p:sp>
      </p:grpSp>
      <p:sp>
        <p:nvSpPr>
          <p:cNvPr name="TextBox 35" id="35"/>
          <p:cNvSpPr txBox="true"/>
          <p:nvPr/>
        </p:nvSpPr>
        <p:spPr>
          <a:xfrm rot="0">
            <a:off x="6172200" y="5966460"/>
            <a:ext cx="2651760" cy="93726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3 · Wisatawan (diagnostik)</a:t>
            </a:r>
          </a:p>
        </p:txBody>
      </p:sp>
      <p:sp>
        <p:nvSpPr>
          <p:cNvPr name="TextBox 36" id="36"/>
          <p:cNvSpPr txBox="true"/>
          <p:nvPr/>
        </p:nvSpPr>
        <p:spPr>
          <a:xfrm rot="0">
            <a:off x="6172200" y="6827520"/>
            <a:ext cx="2651760" cy="22250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Banyak pasangan nilai sama baiknya: LPE dan rasio LPD/LPE tidak bisa ditentukan terpisah; data hanya menentukan selisih bersihnya. Dipertahankan.</a:t>
            </a:r>
          </a:p>
        </p:txBody>
      </p:sp>
      <p:sp>
        <p:nvSpPr>
          <p:cNvPr name="Freeform 37" id="37"/>
          <p:cNvSpPr/>
          <p:nvPr/>
        </p:nvSpPr>
        <p:spPr>
          <a:xfrm flipH="false" flipV="false" rot="0">
            <a:off x="9264491" y="5789771"/>
            <a:ext cx="8217218" cy="3370897"/>
          </a:xfrm>
          <a:custGeom>
            <a:avLst/>
            <a:gdLst/>
            <a:ahLst/>
            <a:cxnLst/>
            <a:rect r="r" b="b" t="t" l="l"/>
            <a:pathLst>
              <a:path h="3370897" w="8217218">
                <a:moveTo>
                  <a:pt x="0" y="0"/>
                </a:moveTo>
                <a:lnTo>
                  <a:pt x="8217218" y="0"/>
                </a:lnTo>
                <a:lnTo>
                  <a:pt x="8217218" y="3370898"/>
                </a:lnTo>
                <a:lnTo>
                  <a:pt x="0" y="337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38" id="38"/>
          <p:cNvGrpSpPr/>
          <p:nvPr/>
        </p:nvGrpSpPr>
        <p:grpSpPr>
          <a:xfrm rot="0">
            <a:off x="9372600" y="5939028"/>
            <a:ext cx="5120640" cy="3072384"/>
            <a:chOff x="0" y="0"/>
            <a:chExt cx="6827520" cy="4096512"/>
          </a:xfrm>
        </p:grpSpPr>
        <p:sp>
          <p:nvSpPr>
            <p:cNvPr name="Freeform 39" id="39" descr="tahap4_lahan_uji_B.png"/>
            <p:cNvSpPr/>
            <p:nvPr/>
          </p:nvSpPr>
          <p:spPr>
            <a:xfrm flipH="false" flipV="false" rot="0">
              <a:off x="0" y="0"/>
              <a:ext cx="6827520" cy="4096512"/>
            </a:xfrm>
            <a:custGeom>
              <a:avLst/>
              <a:gdLst/>
              <a:ahLst/>
              <a:cxnLst/>
              <a:rect r="r" b="b" t="t" l="l"/>
              <a:pathLst>
                <a:path h="4096512" w="6827520">
                  <a:moveTo>
                    <a:pt x="0" y="0"/>
                  </a:moveTo>
                  <a:lnTo>
                    <a:pt x="6827520" y="0"/>
                  </a:lnTo>
                  <a:lnTo>
                    <a:pt x="6827520" y="4096512"/>
                  </a:lnTo>
                  <a:lnTo>
                    <a:pt x="0" y="4096512"/>
                  </a:lnTo>
                  <a:lnTo>
                    <a:pt x="0" y="0"/>
                  </a:lnTo>
                  <a:close/>
                </a:path>
              </a:pathLst>
            </a:custGeom>
            <a:blipFill>
              <a:blip r:embed="rId12"/>
              <a:stretch>
                <a:fillRect l="0" t="0" r="0" b="0"/>
              </a:stretch>
            </a:blipFill>
          </p:spPr>
          <p:txBody>
            <a:bodyPr/>
            <a:p/>
          </p:txBody>
        </p:sp>
      </p:grpSp>
      <p:sp>
        <p:nvSpPr>
          <p:cNvPr name="TextBox 40" id="40"/>
          <p:cNvSpPr txBox="true"/>
          <p:nvPr/>
        </p:nvSpPr>
        <p:spPr>
          <a:xfrm rot="0">
            <a:off x="14630400" y="5966460"/>
            <a:ext cx="2651760" cy="93726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4 · Kompatibilitas</a:t>
            </a:r>
          </a:p>
        </p:txBody>
      </p:sp>
      <p:sp>
        <p:nvSpPr>
          <p:cNvPr name="TextBox 41" id="41"/>
          <p:cNvSpPr txBox="true"/>
          <p:nvPr/>
        </p:nvSpPr>
        <p:spPr>
          <a:xfrm rot="0">
            <a:off x="14630400" y="6827520"/>
            <a:ext cx="2651760" cy="22250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Nilai Tahap 2 memperburuk lahan terbangun pada uji penuh: NRMSE 0,1796 → 0,2378 (rasio 1,32 &gt; 1,05). Ditolak; kembali ke 0,0436052.</a:t>
            </a:r>
          </a:p>
        </p:txBody>
      </p:sp>
    </p:spTree>
  </p:cSld>
  <p:clrMapOvr>
    <a:masterClrMapping/>
  </p:clrMapOvr>
</p:sld>
</file>

<file path=ppt/slides/slide9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14 · Sensitivitas ±10% pada lima keluaran lain dan rentang penuh</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90</a:t>
            </a:r>
          </a:p>
        </p:txBody>
      </p:sp>
      <p:grpSp>
        <p:nvGrpSpPr>
          <p:cNvPr name="Group 22" id="22"/>
          <p:cNvGrpSpPr/>
          <p:nvPr/>
        </p:nvGrpSpPr>
        <p:grpSpPr>
          <a:xfrm rot="0">
            <a:off x="1737360" y="2240280"/>
            <a:ext cx="3566160" cy="3090672"/>
            <a:chOff x="0" y="0"/>
            <a:chExt cx="4754880" cy="4120896"/>
          </a:xfrm>
        </p:grpSpPr>
        <p:sp>
          <p:nvSpPr>
            <p:cNvPr name="Freeform 23" id="23" descr="tornado_PDRB.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7"/>
              <a:stretch>
                <a:fillRect l="0" t="0" r="0" b="0"/>
              </a:stretch>
            </a:blipFill>
          </p:spPr>
          <p:txBody>
            <a:bodyPr/>
            <a:p/>
          </p:txBody>
        </p:sp>
      </p:grpSp>
      <p:sp>
        <p:nvSpPr>
          <p:cNvPr name="TextBox 24" id="24"/>
          <p:cNvSpPr txBox="true"/>
          <p:nvPr/>
        </p:nvSpPr>
        <p:spPr>
          <a:xfrm rot="0">
            <a:off x="822960" y="5235702"/>
            <a:ext cx="5394960" cy="415290"/>
          </a:xfrm>
          <a:prstGeom prst="rect">
            <a:avLst/>
          </a:prstGeom>
        </p:spPr>
        <p:txBody>
          <a:bodyPr anchor="t" rtlCol="false" tIns="0" lIns="0" bIns="0" rIns="0">
            <a:spAutoFit/>
          </a:bodyPr>
          <a:lstStyle/>
          <a:p>
            <a:pPr algn="ctr">
              <a:lnSpc>
                <a:spcPts val="1746"/>
              </a:lnSpc>
            </a:pPr>
            <a:r>
              <a:rPr lang="en-US" sz="1299" b="true">
                <a:solidFill>
                  <a:srgbClr val="0B5E6E"/>
                </a:solidFill>
                <a:latin typeface="Calibri (MS) Bold"/>
                <a:ea typeface="Calibri (MS) Bold"/>
                <a:cs typeface="Calibri (MS) Bold"/>
                <a:sym typeface="Calibri (MS) Bold"/>
              </a:rPr>
              <a:t>PDRB sektor pariwisata</a:t>
            </a:r>
          </a:p>
        </p:txBody>
      </p:sp>
      <p:grpSp>
        <p:nvGrpSpPr>
          <p:cNvPr name="Group 25" id="25"/>
          <p:cNvGrpSpPr/>
          <p:nvPr/>
        </p:nvGrpSpPr>
        <p:grpSpPr>
          <a:xfrm rot="0">
            <a:off x="7360920" y="2240280"/>
            <a:ext cx="3566160" cy="3090672"/>
            <a:chOff x="0" y="0"/>
            <a:chExt cx="4754880" cy="4120896"/>
          </a:xfrm>
        </p:grpSpPr>
        <p:sp>
          <p:nvSpPr>
            <p:cNvPr name="Freeform 26" id="26" descr="tornado_Lahan.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8"/>
              <a:stretch>
                <a:fillRect l="0" t="0" r="0" b="0"/>
              </a:stretch>
            </a:blipFill>
          </p:spPr>
          <p:txBody>
            <a:bodyPr/>
            <a:p/>
          </p:txBody>
        </p:sp>
      </p:grpSp>
      <p:sp>
        <p:nvSpPr>
          <p:cNvPr name="TextBox 27" id="27"/>
          <p:cNvSpPr txBox="true"/>
          <p:nvPr/>
        </p:nvSpPr>
        <p:spPr>
          <a:xfrm rot="0">
            <a:off x="6446520" y="5235702"/>
            <a:ext cx="5394960" cy="415290"/>
          </a:xfrm>
          <a:prstGeom prst="rect">
            <a:avLst/>
          </a:prstGeom>
        </p:spPr>
        <p:txBody>
          <a:bodyPr anchor="t" rtlCol="false" tIns="0" lIns="0" bIns="0" rIns="0">
            <a:spAutoFit/>
          </a:bodyPr>
          <a:lstStyle/>
          <a:p>
            <a:pPr algn="ctr">
              <a:lnSpc>
                <a:spcPts val="1746"/>
              </a:lnSpc>
            </a:pPr>
            <a:r>
              <a:rPr lang="en-US" sz="1299" b="true">
                <a:solidFill>
                  <a:srgbClr val="0B5E6E"/>
                </a:solidFill>
                <a:latin typeface="Calibri (MS) Bold"/>
                <a:ea typeface="Calibri (MS) Bold"/>
                <a:cs typeface="Calibri (MS) Bold"/>
                <a:sym typeface="Calibri (MS) Bold"/>
              </a:rPr>
              <a:t>Lahan terbangun</a:t>
            </a:r>
          </a:p>
        </p:txBody>
      </p:sp>
      <p:grpSp>
        <p:nvGrpSpPr>
          <p:cNvPr name="Group 28" id="28"/>
          <p:cNvGrpSpPr/>
          <p:nvPr/>
        </p:nvGrpSpPr>
        <p:grpSpPr>
          <a:xfrm rot="0">
            <a:off x="12984480" y="2240280"/>
            <a:ext cx="3566160" cy="3090672"/>
            <a:chOff x="0" y="0"/>
            <a:chExt cx="4754880" cy="4120896"/>
          </a:xfrm>
        </p:grpSpPr>
        <p:sp>
          <p:nvSpPr>
            <p:cNvPr name="Freeform 29" id="29" descr="tornado_Hotel.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9"/>
              <a:stretch>
                <a:fillRect l="0" t="0" r="0" b="0"/>
              </a:stretch>
            </a:blipFill>
          </p:spPr>
          <p:txBody>
            <a:bodyPr/>
            <a:p/>
          </p:txBody>
        </p:sp>
      </p:grpSp>
      <p:sp>
        <p:nvSpPr>
          <p:cNvPr name="TextBox 30" id="30"/>
          <p:cNvSpPr txBox="true"/>
          <p:nvPr/>
        </p:nvSpPr>
        <p:spPr>
          <a:xfrm rot="0">
            <a:off x="12070080" y="5235702"/>
            <a:ext cx="5394960" cy="415290"/>
          </a:xfrm>
          <a:prstGeom prst="rect">
            <a:avLst/>
          </a:prstGeom>
        </p:spPr>
        <p:txBody>
          <a:bodyPr anchor="t" rtlCol="false" tIns="0" lIns="0" bIns="0" rIns="0">
            <a:spAutoFit/>
          </a:bodyPr>
          <a:lstStyle/>
          <a:p>
            <a:pPr algn="ctr">
              <a:lnSpc>
                <a:spcPts val="1746"/>
              </a:lnSpc>
            </a:pPr>
            <a:r>
              <a:rPr lang="en-US" sz="1299" b="true">
                <a:solidFill>
                  <a:srgbClr val="0B5E6E"/>
                </a:solidFill>
                <a:latin typeface="Calibri (MS) Bold"/>
                <a:ea typeface="Calibri (MS) Bold"/>
                <a:cs typeface="Calibri (MS) Bold"/>
                <a:sym typeface="Calibri (MS) Bold"/>
              </a:rPr>
              <a:t>Jumlah hotel dan akomodasi</a:t>
            </a:r>
          </a:p>
        </p:txBody>
      </p:sp>
      <p:grpSp>
        <p:nvGrpSpPr>
          <p:cNvPr name="Group 31" id="31"/>
          <p:cNvGrpSpPr/>
          <p:nvPr/>
        </p:nvGrpSpPr>
        <p:grpSpPr>
          <a:xfrm rot="0">
            <a:off x="1737360" y="5760720"/>
            <a:ext cx="3566160" cy="3090672"/>
            <a:chOff x="0" y="0"/>
            <a:chExt cx="4754880" cy="4120896"/>
          </a:xfrm>
        </p:grpSpPr>
        <p:sp>
          <p:nvSpPr>
            <p:cNvPr name="Freeform 32" id="32" descr="tornado_Tenaga_Kerja.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10"/>
              <a:stretch>
                <a:fillRect l="0" t="0" r="0" b="0"/>
              </a:stretch>
            </a:blipFill>
          </p:spPr>
          <p:txBody>
            <a:bodyPr/>
            <a:p/>
          </p:txBody>
        </p:sp>
      </p:grpSp>
      <p:sp>
        <p:nvSpPr>
          <p:cNvPr name="TextBox 33" id="33"/>
          <p:cNvSpPr txBox="true"/>
          <p:nvPr/>
        </p:nvSpPr>
        <p:spPr>
          <a:xfrm rot="0">
            <a:off x="822960" y="8756142"/>
            <a:ext cx="5394960" cy="415290"/>
          </a:xfrm>
          <a:prstGeom prst="rect">
            <a:avLst/>
          </a:prstGeom>
        </p:spPr>
        <p:txBody>
          <a:bodyPr anchor="t" rtlCol="false" tIns="0" lIns="0" bIns="0" rIns="0">
            <a:spAutoFit/>
          </a:bodyPr>
          <a:lstStyle/>
          <a:p>
            <a:pPr algn="ctr">
              <a:lnSpc>
                <a:spcPts val="1746"/>
              </a:lnSpc>
            </a:pPr>
            <a:r>
              <a:rPr lang="en-US" sz="1299" b="true">
                <a:solidFill>
                  <a:srgbClr val="0B5E6E"/>
                </a:solidFill>
                <a:latin typeface="Calibri (MS) Bold"/>
                <a:ea typeface="Calibri (MS) Bold"/>
                <a:cs typeface="Calibri (MS) Bold"/>
                <a:sym typeface="Calibri (MS) Bold"/>
              </a:rPr>
              <a:t>Tenaga kerja pariwisata</a:t>
            </a:r>
          </a:p>
        </p:txBody>
      </p:sp>
      <p:grpSp>
        <p:nvGrpSpPr>
          <p:cNvPr name="Group 34" id="34"/>
          <p:cNvGrpSpPr/>
          <p:nvPr/>
        </p:nvGrpSpPr>
        <p:grpSpPr>
          <a:xfrm rot="0">
            <a:off x="7360920" y="5760720"/>
            <a:ext cx="3566160" cy="3090672"/>
            <a:chOff x="0" y="0"/>
            <a:chExt cx="4754880" cy="4120896"/>
          </a:xfrm>
        </p:grpSpPr>
        <p:sp>
          <p:nvSpPr>
            <p:cNvPr name="Freeform 35" id="35" descr="tornado_ODTW.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11"/>
              <a:stretch>
                <a:fillRect l="0" t="0" r="0" b="0"/>
              </a:stretch>
            </a:blipFill>
          </p:spPr>
          <p:txBody>
            <a:bodyPr/>
            <a:p/>
          </p:txBody>
        </p:sp>
      </p:grpSp>
      <p:sp>
        <p:nvSpPr>
          <p:cNvPr name="TextBox 36" id="36"/>
          <p:cNvSpPr txBox="true"/>
          <p:nvPr/>
        </p:nvSpPr>
        <p:spPr>
          <a:xfrm rot="0">
            <a:off x="6446520" y="8756142"/>
            <a:ext cx="5394960" cy="415290"/>
          </a:xfrm>
          <a:prstGeom prst="rect">
            <a:avLst/>
          </a:prstGeom>
        </p:spPr>
        <p:txBody>
          <a:bodyPr anchor="t" rtlCol="false" tIns="0" lIns="0" bIns="0" rIns="0">
            <a:spAutoFit/>
          </a:bodyPr>
          <a:lstStyle/>
          <a:p>
            <a:pPr algn="ctr">
              <a:lnSpc>
                <a:spcPts val="1746"/>
              </a:lnSpc>
            </a:pPr>
            <a:r>
              <a:rPr lang="en-US" sz="1299" b="true">
                <a:solidFill>
                  <a:srgbClr val="0B5E6E"/>
                </a:solidFill>
                <a:latin typeface="Calibri (MS) Bold"/>
                <a:ea typeface="Calibri (MS) Bold"/>
                <a:cs typeface="Calibri (MS) Bold"/>
                <a:sym typeface="Calibri (MS) Bold"/>
              </a:rPr>
              <a:t>Jumlah ODTW</a:t>
            </a:r>
          </a:p>
        </p:txBody>
      </p:sp>
      <p:graphicFrame>
        <p:nvGraphicFramePr>
          <p:cNvPr name="Table 37" id="37"/>
          <p:cNvGraphicFramePr>
            <a:graphicFrameLocks noGrp="true"/>
          </p:cNvGraphicFramePr>
          <p:nvPr/>
        </p:nvGraphicFramePr>
        <p:xfrm>
          <a:off x="12070080" y="5852160"/>
          <a:ext cx="5346700" cy="2921000"/>
        </p:xfrm>
        <a:graphic>
          <a:graphicData uri="http://schemas.openxmlformats.org/drawingml/2006/table">
            <a:tbl>
              <a:tblPr/>
              <a:tblGrid>
                <a:gridCol w="2356173"/>
                <a:gridCol w="1178086"/>
                <a:gridCol w="906220"/>
                <a:gridCol w="906220"/>
              </a:tblGrid>
              <a:tr h="369251">
                <a:tc>
                  <a:txBody>
                    <a:bodyPr anchor="t" rtlCol="false"/>
                    <a:lstStyle/>
                    <a:p>
                      <a:pPr algn="l">
                        <a:lnSpc>
                          <a:spcPts val="1260"/>
                        </a:lnSpc>
                        <a:defRPr/>
                      </a:pPr>
                      <a:r>
                        <a:rPr lang="en-US" sz="1050" b="true">
                          <a:solidFill>
                            <a:srgbClr val="FFFFFF"/>
                          </a:solidFill>
                          <a:latin typeface="Calibri (MS) Bold"/>
                          <a:ea typeface="Calibri (MS) Bold"/>
                          <a:cs typeface="Calibri (MS) Bold"/>
                          <a:sym typeface="Calibri (MS) Bold"/>
                        </a:rPr>
                        <a:t>Parameter (seluruh rentang)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260"/>
                        </a:lnSpc>
                        <a:defRPr/>
                      </a:pPr>
                      <a:r>
                        <a:rPr lang="en-US" sz="1050" b="true">
                          <a:solidFill>
                            <a:srgbClr val="FFFFFF"/>
                          </a:solidFill>
                          <a:latin typeface="Calibri (MS) Bold"/>
                          <a:ea typeface="Calibri (MS) Bold"/>
                          <a:cs typeface="Calibri (MS) Bold"/>
                          <a:sym typeface="Calibri (MS) Bold"/>
                        </a:rPr>
                        <a:t>Rentang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260"/>
                        </a:lnSpc>
                        <a:defRPr/>
                      </a:pPr>
                      <a:r>
                        <a:rPr lang="en-US" sz="1050" b="true">
                          <a:solidFill>
                            <a:srgbClr val="FFFFFF"/>
                          </a:solidFill>
                          <a:latin typeface="Calibri (MS) Bold"/>
                          <a:ea typeface="Calibri (MS) Bold"/>
                          <a:cs typeface="Calibri (MS) Bold"/>
                          <a:sym typeface="Calibri (MS) Bold"/>
                        </a:rPr>
                        <a:t>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260"/>
                        </a:lnSpc>
                        <a:defRPr/>
                      </a:pPr>
                      <a:r>
                        <a:rPr lang="en-US" sz="1050" b="true">
                          <a:solidFill>
                            <a:srgbClr val="FFFFFF"/>
                          </a:solidFill>
                          <a:latin typeface="Calibri (MS) Bold"/>
                          <a:ea typeface="Calibri (MS) Bold"/>
                          <a:cs typeface="Calibri (MS) Bold"/>
                          <a:sym typeface="Calibri (MS) Bold"/>
                        </a:rPr>
                        <a:t>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318969">
                <a:tc>
                  <a:txBody>
                    <a:bodyPr anchor="t" rtlCol="false"/>
                    <a:lstStyle/>
                    <a:p>
                      <a:pPr algn="l">
                        <a:lnSpc>
                          <a:spcPts val="1260"/>
                        </a:lnSpc>
                        <a:defRPr/>
                      </a:pPr>
                      <a:r>
                        <a:rPr lang="en-US" sz="1050">
                          <a:solidFill>
                            <a:srgbClr val="14313B"/>
                          </a:solidFill>
                          <a:latin typeface="Calibri (MS)"/>
                          <a:ea typeface="Calibri (MS)"/>
                          <a:cs typeface="Calibri (MS)"/>
                          <a:sym typeface="Calibri (MS)"/>
                        </a:rPr>
                        <a:t>Rasio LPD/LPE (LPE tetap)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0,60–0,90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153,57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18969">
                <a:tc>
                  <a:txBody>
                    <a:bodyPr anchor="t" rtlCol="false"/>
                    <a:lstStyle/>
                    <a:p>
                      <a:pPr algn="l">
                        <a:lnSpc>
                          <a:spcPts val="1260"/>
                        </a:lnSpc>
                        <a:defRPr/>
                      </a:pPr>
                      <a:r>
                        <a:rPr lang="en-US" sz="1050">
                          <a:solidFill>
                            <a:srgbClr val="14313B"/>
                          </a:solidFill>
                          <a:latin typeface="Calibri (MS)"/>
                          <a:ea typeface="Calibri (MS)"/>
                          <a:cs typeface="Calibri (MS)"/>
                          <a:sym typeface="Calibri (MS)"/>
                        </a:rPr>
                        <a:t>Rasio LPD/LPE (LPE dihitung ulang)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0,60–0,90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69,65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18969">
                <a:tc>
                  <a:txBody>
                    <a:bodyPr anchor="t" rtlCol="false"/>
                    <a:lstStyle/>
                    <a:p>
                      <a:pPr algn="l">
                        <a:lnSpc>
                          <a:spcPts val="1260"/>
                        </a:lnSpc>
                        <a:defRPr/>
                      </a:pPr>
                      <a:r>
                        <a:rPr lang="en-US" sz="1050">
                          <a:solidFill>
                            <a:srgbClr val="14313B"/>
                          </a:solidFill>
                          <a:latin typeface="Calibri (MS)"/>
                          <a:ea typeface="Calibri (MS)"/>
                          <a:cs typeface="Calibri (MS)"/>
                          <a:sym typeface="Calibri (MS)"/>
                        </a:rPr>
                        <a:t>Bobot daya tarik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3 kombinasi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48,10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0,24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18969">
                <a:tc>
                  <a:txBody>
                    <a:bodyPr anchor="t" rtlCol="false"/>
                    <a:lstStyle/>
                    <a:p>
                      <a:pPr algn="l">
                        <a:lnSpc>
                          <a:spcPts val="1260"/>
                        </a:lnSpc>
                        <a:defRPr/>
                      </a:pPr>
                      <a:r>
                        <a:rPr lang="en-US" sz="1050">
                          <a:solidFill>
                            <a:srgbClr val="14313B"/>
                          </a:solidFill>
                          <a:latin typeface="Calibri (MS)"/>
                          <a:ea typeface="Calibri (MS)"/>
                          <a:cs typeface="Calibri (MS)"/>
                          <a:sym typeface="Calibri (MS)"/>
                        </a:rPr>
                        <a:t>Laju konversi dasar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SK 95%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30,64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115,70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18969">
                <a:tc>
                  <a:txBody>
                    <a:bodyPr anchor="t" rtlCol="false"/>
                    <a:lstStyle/>
                    <a:p>
                      <a:pPr algn="l">
                        <a:lnSpc>
                          <a:spcPts val="1260"/>
                        </a:lnSpc>
                        <a:defRPr/>
                      </a:pPr>
                      <a:r>
                        <a:rPr lang="en-US" sz="1050">
                          <a:solidFill>
                            <a:srgbClr val="14313B"/>
                          </a:solidFill>
                          <a:latin typeface="Calibri (MS)"/>
                          <a:ea typeface="Calibri (MS)"/>
                          <a:cs typeface="Calibri (MS)"/>
                          <a:sym typeface="Calibri (MS)"/>
                        </a:rPr>
                        <a:t>Elastisitas daya tarik 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0,2–0,4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12,49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18969">
                <a:tc>
                  <a:txBody>
                    <a:bodyPr anchor="t" rtlCol="false"/>
                    <a:lstStyle/>
                    <a:p>
                      <a:pPr algn="l">
                        <a:lnSpc>
                          <a:spcPts val="1260"/>
                        </a:lnSpc>
                        <a:defRPr/>
                      </a:pPr>
                      <a:r>
                        <a:rPr lang="en-US" sz="1050">
                          <a:solidFill>
                            <a:srgbClr val="14313B"/>
                          </a:solidFill>
                          <a:latin typeface="Calibri (MS)"/>
                          <a:ea typeface="Calibri (MS)"/>
                          <a:cs typeface="Calibri (MS)"/>
                          <a:sym typeface="Calibri (MS)"/>
                        </a:rPr>
                        <a:t>Insentif kebijakan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0,1–0,5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10,35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18969">
                <a:tc>
                  <a:txBody>
                    <a:bodyPr anchor="t" rtlCol="false"/>
                    <a:lstStyle/>
                    <a:p>
                      <a:pPr algn="l">
                        <a:lnSpc>
                          <a:spcPts val="1260"/>
                        </a:lnSpc>
                        <a:defRPr/>
                      </a:pPr>
                      <a:r>
                        <a:rPr lang="en-US" sz="1050">
                          <a:solidFill>
                            <a:srgbClr val="14313B"/>
                          </a:solidFill>
                          <a:latin typeface="Calibri (MS)"/>
                          <a:ea typeface="Calibri (MS)"/>
                          <a:cs typeface="Calibri (MS)"/>
                          <a:sym typeface="Calibri (MS)"/>
                        </a:rPr>
                        <a:t>ODTW 2025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189–218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1,51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18969">
                <a:tc>
                  <a:txBody>
                    <a:bodyPr anchor="t" rtlCol="false"/>
                    <a:lstStyle/>
                    <a:p>
                      <a:pPr algn="l">
                        <a:lnSpc>
                          <a:spcPts val="1260"/>
                        </a:lnSpc>
                        <a:defRPr/>
                      </a:pPr>
                      <a:r>
                        <a:rPr lang="en-US" sz="1050">
                          <a:solidFill>
                            <a:srgbClr val="14313B"/>
                          </a:solidFill>
                          <a:latin typeface="Calibri (MS)"/>
                          <a:ea typeface="Calibri (MS)"/>
                          <a:cs typeface="Calibri (MS)"/>
                          <a:sym typeface="Calibri (MS)"/>
                        </a:rPr>
                        <a:t>Konservasi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0,25–1,0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0,68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
        <p:nvSpPr>
          <p:cNvPr name="TextBox 38" id="38"/>
          <p:cNvSpPr txBox="true"/>
          <p:nvPr/>
        </p:nvSpPr>
        <p:spPr>
          <a:xfrm rot="0">
            <a:off x="12070080" y="8839200"/>
            <a:ext cx="5394960" cy="396240"/>
          </a:xfrm>
          <a:prstGeom prst="rect">
            <a:avLst/>
          </a:prstGeom>
        </p:spPr>
        <p:txBody>
          <a:bodyPr anchor="t" rtlCol="false" tIns="0" lIns="0" bIns="0" rIns="0">
            <a:spAutoFit/>
          </a:bodyPr>
          <a:lstStyle/>
          <a:p>
            <a:pPr algn="l">
              <a:lnSpc>
                <a:spcPts val="1478"/>
              </a:lnSpc>
            </a:pPr>
            <a:r>
              <a:rPr lang="en-US" sz="1100">
                <a:solidFill>
                  <a:srgbClr val="5E6E78"/>
                </a:solidFill>
                <a:latin typeface="Calibri (MS)"/>
                <a:ea typeface="Calibri (MS)"/>
                <a:cs typeface="Calibri (MS)"/>
                <a:sym typeface="Calibri (MS)"/>
              </a:rPr>
              <a:t>Selisih hasil tertinggi–terendah (poin persen)</a:t>
            </a:r>
          </a:p>
        </p:txBody>
      </p:sp>
    </p:spTree>
  </p:cSld>
  <p:clrMapOvr>
    <a:masterClrMapping/>
  </p:clrMapOvr>
</p:sld>
</file>

<file path=ppt/slides/slide9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15 · Persamaan kunci model (Vensim, model final)</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91</a:t>
            </a:r>
          </a:p>
        </p:txBody>
      </p:sp>
      <p:graphicFrame>
        <p:nvGraphicFramePr>
          <p:cNvPr name="Table 22" id="22"/>
          <p:cNvGraphicFramePr>
            <a:graphicFrameLocks noGrp="true"/>
          </p:cNvGraphicFramePr>
          <p:nvPr/>
        </p:nvGraphicFramePr>
        <p:xfrm>
          <a:off x="822960" y="2286000"/>
          <a:ext cx="16624300" cy="6705600"/>
        </p:xfrm>
        <a:graphic>
          <a:graphicData uri="http://schemas.openxmlformats.org/drawingml/2006/table">
            <a:tbl>
              <a:tblPr/>
              <a:tblGrid>
                <a:gridCol w="4201746"/>
                <a:gridCol w="12422554"/>
              </a:tblGrid>
              <a:tr h="424973">
                <a:tc>
                  <a:txBody>
                    <a:bodyPr anchor="t" rtlCol="false"/>
                    <a:lstStyle/>
                    <a:p>
                      <a:pPr algn="l">
                        <a:lnSpc>
                          <a:spcPts val="1620"/>
                        </a:lnSpc>
                        <a:defRPr/>
                      </a:pPr>
                      <a:r>
                        <a:rPr lang="en-US" sz="1350" b="true">
                          <a:solidFill>
                            <a:srgbClr val="FFFFFF"/>
                          </a:solidFill>
                          <a:latin typeface="Calibri (MS) Bold"/>
                          <a:ea typeface="Calibri (MS) Bold"/>
                          <a:cs typeface="Calibri (MS) Bold"/>
                          <a:sym typeface="Calibri (MS) Bold"/>
                        </a:rPr>
                        <a:t>Variabel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20"/>
                        </a:lnSpc>
                        <a:defRPr/>
                      </a:pPr>
                      <a:r>
                        <a:rPr lang="en-US" sz="1350" b="true">
                          <a:solidFill>
                            <a:srgbClr val="FFFFFF"/>
                          </a:solidFill>
                          <a:latin typeface="Calibri (MS) Bold"/>
                          <a:ea typeface="Calibri (MS) Bold"/>
                          <a:cs typeface="Calibri (MS) Bold"/>
                          <a:sym typeface="Calibri (MS) Bold"/>
                        </a:rPr>
                        <a:t>Persamaan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83125">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Stok (umum)</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Stok(t + dt) = Stok(t) + (aliran masuk − aliran keluar) × dt;  dt = 1 tahun (Euler)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3125">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Kedatangan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Laju Pertumbuhan Eksternal × Daya Tarik Destinasi 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3125">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Penurunan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Laju Penurunan Dasar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3125">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Daya Tarik Destinasi 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0,40 × MIN(1,5; (ODTW ÷ ODTW Referensi)^0,3) + 0,35 × MIN(1; Kepadatan Referensi ÷ Kepadatan) + 0,25 × (RDDL ÷ RDDL Referensi)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3125">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Kepadatan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Luas Lahan Tersedia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3125">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PDRB Sektor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Pengeluaran per Kunjungan) × Rasio Nilai Tambah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3125">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Investasi Sektor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PDRB × Rasio Investasi terhadap PDRB × (1 + Insentif Kebijakan)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3125">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Rasio Permintaan thd Kapasitas Kamar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(Total Malam Menginap ÷ TPG) ÷ (Jumlah Hotel × Kamar per Unit × Malam Tersedia per Kamar);  TPK = MIN(1; rasio)</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3125">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Konstruksi Hotel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Investasi × Sensitivitas Konstruksi thd TPK × MAX(0; Rasio Permintaan − TPK Ambang)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3125">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Pembangunan 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Investasi × Sensitivitas ODTW thd Investasi + Laju Pembangunan ODTW Non Investasi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3125">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Penyerapan Tenaga Kerja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MAX(0; Laju Keluar TK + (PDRB × Intensitas TK − Tenaga Kerja) ÷ Waktu Penyesuaian)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3125">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Konversi Lahan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(Konstruksi × Lahan per Hotel + Pembangunan ODTW × Lahan per ODTW) × (1 − Konservasi Lahan) × (RDDL ÷ RDDL Referensi)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3125">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Konversi Non-Pariwisata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Laju Konversi Dasar × Lahan Terbangun × RDDL;  RDDL = MAX(0; 1 − Lahan Terbangun ÷ Luas Lahan Tersedia)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16 · Data historis 2015–2025</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92</a:t>
            </a:r>
          </a:p>
        </p:txBody>
      </p:sp>
      <p:graphicFrame>
        <p:nvGraphicFramePr>
          <p:cNvPr name="Table 22" id="22"/>
          <p:cNvGraphicFramePr>
            <a:graphicFrameLocks noGrp="true"/>
          </p:cNvGraphicFramePr>
          <p:nvPr/>
        </p:nvGraphicFramePr>
        <p:xfrm>
          <a:off x="822960" y="2286000"/>
          <a:ext cx="16535400" cy="5689600"/>
        </p:xfrm>
        <a:graphic>
          <a:graphicData uri="http://schemas.openxmlformats.org/drawingml/2006/table">
            <a:tbl>
              <a:tblPr/>
              <a:tblGrid>
                <a:gridCol w="985554"/>
                <a:gridCol w="2518638"/>
                <a:gridCol w="1861601"/>
                <a:gridCol w="1204565"/>
                <a:gridCol w="1314072"/>
                <a:gridCol w="1971107"/>
                <a:gridCol w="2299625"/>
                <a:gridCol w="2409130"/>
                <a:gridCol w="1971107"/>
              </a:tblGrid>
              <a:tr h="650558">
                <a:tc>
                  <a:txBody>
                    <a:bodyPr anchor="t" rtlCol="false"/>
                    <a:lstStyle/>
                    <a:p>
                      <a:pPr algn="ctr">
                        <a:lnSpc>
                          <a:spcPts val="1500"/>
                        </a:lnSpc>
                        <a:defRPr/>
                      </a:pPr>
                      <a:r>
                        <a:rPr lang="en-US" sz="1250" b="true">
                          <a:solidFill>
                            <a:srgbClr val="FFFFFF"/>
                          </a:solidFill>
                          <a:latin typeface="Calibri (MS) Bold"/>
                          <a:ea typeface="Calibri (MS) Bold"/>
                          <a:cs typeface="Calibri (MS) Bold"/>
                          <a:sym typeface="Calibri (MS) Bold"/>
                        </a:rPr>
                        <a:t>Tahun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Jumlah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Hotel &amp; akomodasi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TPK (%)</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ODTW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Tenaga kerja (jiwa)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Lahan terbangun (ha)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PDRB pariwisata (miliar Rp)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Investasi (miliar Rp)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58095">
                <a:tc>
                  <a:txBody>
                    <a:bodyPr anchor="t" rtlCol="false"/>
                    <a:lstStyle/>
                    <a:p>
                      <a:pPr algn="ctr">
                        <a:lnSpc>
                          <a:spcPts val="1558"/>
                        </a:lnSpc>
                        <a:defRPr/>
                      </a:pPr>
                      <a:r>
                        <a:rPr lang="en-US" sz="1299">
                          <a:solidFill>
                            <a:srgbClr val="14313B"/>
                          </a:solidFill>
                          <a:latin typeface="Calibri (MS)"/>
                          <a:ea typeface="Calibri (MS)"/>
                          <a:cs typeface="Calibri (MS)"/>
                          <a:sym typeface="Calibri (MS)"/>
                        </a:rPr>
                        <a:t>2015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6.413.735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1.165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34,89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165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254.537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5E6E78"/>
                          </a:solidFill>
                          <a:latin typeface="Calibri (MS)"/>
                          <a:ea typeface="Calibri (MS)"/>
                          <a:cs typeface="Calibri (MS)"/>
                          <a:sym typeface="Calibri (MS)"/>
                        </a:rPr>
                        <a:t>ekstrapolasi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10.131,09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53,09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095">
                <a:tc>
                  <a:txBody>
                    <a:bodyPr anchor="t" rtlCol="false"/>
                    <a:lstStyle/>
                    <a:p>
                      <a:pPr algn="ctr">
                        <a:lnSpc>
                          <a:spcPts val="1558"/>
                        </a:lnSpc>
                        <a:defRPr/>
                      </a:pPr>
                      <a:r>
                        <a:rPr lang="en-US" sz="1299">
                          <a:solidFill>
                            <a:srgbClr val="14313B"/>
                          </a:solidFill>
                          <a:latin typeface="Calibri (MS)"/>
                          <a:ea typeface="Calibri (MS)"/>
                          <a:cs typeface="Calibri (MS)"/>
                          <a:sym typeface="Calibri (MS)"/>
                        </a:rPr>
                        <a:t>2016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6.551.294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1.170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37,72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263.878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44.561,08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10.694,03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373,84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095">
                <a:tc>
                  <a:txBody>
                    <a:bodyPr anchor="t" rtlCol="false"/>
                    <a:lstStyle/>
                    <a:p>
                      <a:pPr algn="ctr">
                        <a:lnSpc>
                          <a:spcPts val="1558"/>
                        </a:lnSpc>
                        <a:defRPr/>
                      </a:pPr>
                      <a:r>
                        <a:rPr lang="en-US" sz="1299">
                          <a:solidFill>
                            <a:srgbClr val="14313B"/>
                          </a:solidFill>
                          <a:latin typeface="Calibri (MS)"/>
                          <a:ea typeface="Calibri (MS)"/>
                          <a:cs typeface="Calibri (MS)"/>
                          <a:sym typeface="Calibri (MS)"/>
                        </a:rPr>
                        <a:t>2017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6.644.412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1.179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45,08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171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273.563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50.223,96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11.347,59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165,39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095">
                <a:tc>
                  <a:txBody>
                    <a:bodyPr anchor="t" rtlCol="false"/>
                    <a:lstStyle/>
                    <a:p>
                      <a:pPr algn="ctr">
                        <a:lnSpc>
                          <a:spcPts val="1558"/>
                        </a:lnSpc>
                        <a:defRPr/>
                      </a:pPr>
                      <a:r>
                        <a:rPr lang="en-US" sz="1299">
                          <a:solidFill>
                            <a:srgbClr val="14313B"/>
                          </a:solidFill>
                          <a:latin typeface="Calibri (MS)"/>
                          <a:ea typeface="Calibri (MS)"/>
                          <a:cs typeface="Calibri (MS)"/>
                          <a:sym typeface="Calibri (MS)"/>
                        </a:rPr>
                        <a:t>2018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7.996.959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1.617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45,11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177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354.684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56.624,36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12.100,99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568,33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095">
                <a:tc>
                  <a:txBody>
                    <a:bodyPr anchor="t" rtlCol="false"/>
                    <a:lstStyle/>
                    <a:p>
                      <a:pPr algn="ctr">
                        <a:lnSpc>
                          <a:spcPts val="1558"/>
                        </a:lnSpc>
                        <a:defRPr/>
                      </a:pPr>
                      <a:r>
                        <a:rPr lang="en-US" sz="1299">
                          <a:solidFill>
                            <a:srgbClr val="14313B"/>
                          </a:solidFill>
                          <a:latin typeface="Calibri (MS)"/>
                          <a:ea typeface="Calibri (MS)"/>
                          <a:cs typeface="Calibri (MS)"/>
                          <a:sym typeface="Calibri (MS)"/>
                        </a:rPr>
                        <a:t>2019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20.520.104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1.817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45,34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189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334.784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63.480,04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13.104,38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741,45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095">
                <a:tc>
                  <a:txBody>
                    <a:bodyPr anchor="t" rtlCol="false"/>
                    <a:lstStyle/>
                    <a:p>
                      <a:pPr algn="ctr">
                        <a:lnSpc>
                          <a:spcPts val="1558"/>
                        </a:lnSpc>
                        <a:defRPr/>
                      </a:pPr>
                      <a:r>
                        <a:rPr lang="en-US" sz="1299">
                          <a:solidFill>
                            <a:srgbClr val="14313B"/>
                          </a:solidFill>
                          <a:latin typeface="Calibri (MS)"/>
                          <a:ea typeface="Calibri (MS)"/>
                          <a:cs typeface="Calibri (MS)"/>
                          <a:sym typeface="Calibri (MS)"/>
                        </a:rPr>
                        <a:t>2020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19.610.135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1.848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28,90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313.840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58.962,04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10.926,83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489,69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095">
                <a:tc>
                  <a:txBody>
                    <a:bodyPr anchor="t" rtlCol="false"/>
                    <a:lstStyle/>
                    <a:p>
                      <a:pPr algn="ctr">
                        <a:lnSpc>
                          <a:spcPts val="1558"/>
                        </a:lnSpc>
                        <a:defRPr/>
                      </a:pPr>
                      <a:r>
                        <a:rPr lang="en-US" sz="1299">
                          <a:solidFill>
                            <a:srgbClr val="14313B"/>
                          </a:solidFill>
                          <a:latin typeface="Calibri (MS)"/>
                          <a:ea typeface="Calibri (MS)"/>
                          <a:cs typeface="Calibri (MS)"/>
                          <a:sym typeface="Calibri (MS)"/>
                        </a:rPr>
                        <a:t>2021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22.849.394,50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1.696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27,48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310.755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59.887,53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12.097,19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848,80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095">
                <a:tc>
                  <a:txBody>
                    <a:bodyPr anchor="t" rtlCol="false"/>
                    <a:lstStyle/>
                    <a:p>
                      <a:pPr algn="ctr">
                        <a:lnSpc>
                          <a:spcPts val="1558"/>
                        </a:lnSpc>
                        <a:defRPr/>
                      </a:pPr>
                      <a:r>
                        <a:rPr lang="en-US" sz="1299">
                          <a:solidFill>
                            <a:srgbClr val="14313B"/>
                          </a:solidFill>
                          <a:latin typeface="Calibri (MS)"/>
                          <a:ea typeface="Calibri (MS)"/>
                          <a:cs typeface="Calibri (MS)"/>
                          <a:sym typeface="Calibri (MS)"/>
                        </a:rPr>
                        <a:t>2022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25.755.726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1.818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44,99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395.284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57.709,08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13.672,58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463,59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095">
                <a:tc>
                  <a:txBody>
                    <a:bodyPr anchor="t" rtlCol="false"/>
                    <a:lstStyle/>
                    <a:p>
                      <a:pPr algn="ctr">
                        <a:lnSpc>
                          <a:spcPts val="1558"/>
                        </a:lnSpc>
                        <a:defRPr/>
                      </a:pPr>
                      <a:r>
                        <a:rPr lang="en-US" sz="1299">
                          <a:solidFill>
                            <a:srgbClr val="14313B"/>
                          </a:solidFill>
                          <a:latin typeface="Calibri (MS)"/>
                          <a:ea typeface="Calibri (MS)"/>
                          <a:cs typeface="Calibri (MS)"/>
                          <a:sym typeface="Calibri (MS)"/>
                        </a:rPr>
                        <a:t>2023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30.542.580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1.820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44,77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359.340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75.624,40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14.809,20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1.175,26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095">
                <a:tc>
                  <a:txBody>
                    <a:bodyPr anchor="t" rtlCol="false"/>
                    <a:lstStyle/>
                    <a:p>
                      <a:pPr algn="ctr">
                        <a:lnSpc>
                          <a:spcPts val="1558"/>
                        </a:lnSpc>
                        <a:defRPr/>
                      </a:pPr>
                      <a:r>
                        <a:rPr lang="en-US" sz="1299">
                          <a:solidFill>
                            <a:srgbClr val="14313B"/>
                          </a:solidFill>
                          <a:latin typeface="Calibri (MS)"/>
                          <a:ea typeface="Calibri (MS)"/>
                          <a:cs typeface="Calibri (MS)"/>
                          <a:sym typeface="Calibri (MS)"/>
                        </a:rPr>
                        <a:t>2024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38.134.536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42,17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350.946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73.511,57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15.873,81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712,28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095">
                <a:tc>
                  <a:txBody>
                    <a:bodyPr anchor="t" rtlCol="false"/>
                    <a:lstStyle/>
                    <a:p>
                      <a:pPr algn="ctr">
                        <a:lnSpc>
                          <a:spcPts val="1558"/>
                        </a:lnSpc>
                        <a:defRPr/>
                      </a:pPr>
                      <a:r>
                        <a:rPr lang="en-US" sz="1299">
                          <a:solidFill>
                            <a:srgbClr val="14313B"/>
                          </a:solidFill>
                          <a:latin typeface="Calibri (MS)"/>
                          <a:ea typeface="Calibri (MS)"/>
                          <a:cs typeface="Calibri (MS)"/>
                          <a:sym typeface="Calibri (MS)"/>
                        </a:rPr>
                        <a:t>2025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40.695.654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2.291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38,07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364.994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55.029,54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16.947,62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1.325,95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
        <p:nvSpPr>
          <p:cNvPr name="TextBox 23" id="23"/>
          <p:cNvSpPr txBox="true"/>
          <p:nvPr/>
        </p:nvSpPr>
        <p:spPr>
          <a:xfrm rot="0">
            <a:off x="822960" y="8134350"/>
            <a:ext cx="16642080" cy="242799"/>
          </a:xfrm>
          <a:prstGeom prst="rect">
            <a:avLst/>
          </a:prstGeom>
        </p:spPr>
        <p:txBody>
          <a:bodyPr anchor="t" rtlCol="false" tIns="0" lIns="0" bIns="0" rIns="0">
            <a:spAutoFit/>
          </a:bodyPr>
          <a:lstStyle/>
          <a:p>
            <a:pPr algn="l">
              <a:lnSpc>
                <a:spcPts val="1746"/>
              </a:lnSpc>
            </a:pPr>
            <a:r>
              <a:rPr lang="en-US" sz="1299">
                <a:solidFill>
                  <a:srgbClr val="5E6E78"/>
                </a:solidFill>
                <a:latin typeface="Calibri (MS)"/>
                <a:ea typeface="Calibri (MS)"/>
                <a:cs typeface="Calibri (MS)"/>
                <a:sym typeface="Calibri (MS)"/>
              </a:rPr>
              <a:t>Kuning: nilai estimasi (ODTW 2015–2017 dan 2025 dari NTL; lahan 2015 ekstrapolasi log-linear, tidak dipakai menurunkan parameter). Sumber: BPS DIY dan BPS RI, BKPM, Dynamic World</a:t>
            </a:r>
          </a:p>
        </p:txBody>
      </p:sp>
    </p:spTree>
  </p:cSld>
  <p:clrMapOvr>
    <a:masterClrMapping/>
  </p:clrMapOvr>
</p:sld>
</file>

<file path=ppt/slides/slide9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17 · Daftar istilah (1/2): kode uji dan tahapan</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93</a:t>
            </a:r>
          </a:p>
        </p:txBody>
      </p:sp>
      <p:graphicFrame>
        <p:nvGraphicFramePr>
          <p:cNvPr id="22" name="Table 21"/>
          <p:cNvGraphicFramePr>
            <a:graphicFrameLocks noGrp="1"/>
          </p:cNvGraphicFramePr>
          <p:nvPr/>
        </p:nvGraphicFramePr>
        <p:xfrm>
          <a:off x="822960" y="1828800"/>
          <a:ext cx="16642080" cy="6803136"/>
        </p:xfrm>
        <a:graphic>
          <a:graphicData uri="http://schemas.openxmlformats.org/drawingml/2006/table">
            <a:tbl>
              <a:tblPr firstRow="1" bandRow="1">
                <a:tableStyleId>{5C22544A-7EE6-4342-B048-85BDC9FD1C3A}</a:tableStyleId>
              </a:tblPr>
              <a:tblGrid>
                <a:gridCol w="2103120"/>
                <a:gridCol w="14538960"/>
              </a:tblGrid>
              <a:tr h="566928">
                <a:tc>
                  <a:txBody>
                    <a:bodyPr wrap="square"/>
                    <a:lstStyle/>
                    <a:p>
                      <a:r>
                        <a:rPr sz="1440" b="1" i="0">
                          <a:solidFill>
                            <a:srgbClr val="FFFFFF"/>
                          </a:solidFill>
                          <a:latin typeface="Calibri (MS) Bold"/>
                        </a:rPr>
                        <a:t>Kode</a:t>
                      </a:r>
                    </a:p>
                  </a:txBody>
                  <a:tcPr marL="73152" marR="73152" marT="36576" marB="36576" anchor="ctr">
                    <a:solidFill>
                      <a:srgbClr val="0B5E6E"/>
                    </a:solidFill>
                  </a:tcPr>
                </a:tc>
                <a:tc>
                  <a:txBody>
                    <a:bodyPr wrap="square"/>
                    <a:lstStyle/>
                    <a:p>
                      <a:r>
                        <a:rPr sz="1440" b="1" i="0">
                          <a:solidFill>
                            <a:srgbClr val="FFFFFF"/>
                          </a:solidFill>
                          <a:latin typeface="Calibri (MS) Bold"/>
                        </a:rPr>
                        <a:t>Arti</a:t>
                      </a:r>
                    </a:p>
                  </a:txBody>
                  <a:tcPr marL="73152" marR="73152" marT="36576" marB="36576" anchor="ctr">
                    <a:solidFill>
                      <a:srgbClr val="0B5E6E"/>
                    </a:solidFill>
                  </a:tcPr>
                </a:tc>
              </a:tr>
              <a:tr h="566928">
                <a:tc>
                  <a:txBody>
                    <a:bodyPr wrap="square"/>
                    <a:lstStyle/>
                    <a:p>
                      <a:r>
                        <a:rPr sz="1440" b="1" i="0">
                          <a:solidFill>
                            <a:srgbClr val="14313B"/>
                          </a:solidFill>
                          <a:latin typeface="Calibri (MS) Bold"/>
                        </a:rPr>
                        <a:t>P1</a:t>
                      </a:r>
                    </a:p>
                  </a:txBody>
                  <a:tcPr marL="73152" marR="73152" marT="36576" marB="36576" anchor="ctr">
                    <a:solidFill>
                      <a:srgbClr val="FFFFFF"/>
                    </a:solidFill>
                  </a:tcPr>
                </a:tc>
                <a:tc>
                  <a:txBody>
                    <a:bodyPr wrap="square"/>
                    <a:lstStyle/>
                    <a:p>
                      <a:r>
                        <a:rPr sz="1440" b="0" i="0">
                          <a:solidFill>
                            <a:srgbClr val="14313B"/>
                          </a:solidFill>
                          <a:latin typeface="Calibri (MS)"/>
                        </a:rPr>
                        <a:t>Uji parsial subsistem akomodasi (jumlah hotel dan TPK); input dari subsistem lain diganti data aktual</a:t>
                      </a:r>
                    </a:p>
                  </a:txBody>
                  <a:tcPr marL="73152" marR="73152" marT="36576" marB="36576" anchor="ctr">
                    <a:solidFill>
                      <a:srgbClr val="FFFFFF"/>
                    </a:solidFill>
                  </a:tcPr>
                </a:tc>
              </a:tr>
              <a:tr h="566928">
                <a:tc>
                  <a:txBody>
                    <a:bodyPr wrap="square"/>
                    <a:lstStyle/>
                    <a:p>
                      <a:r>
                        <a:rPr sz="1440" b="1" i="0">
                          <a:solidFill>
                            <a:srgbClr val="14313B"/>
                          </a:solidFill>
                          <a:latin typeface="Calibri (MS) Bold"/>
                        </a:rPr>
                        <a:t>P1b</a:t>
                      </a:r>
                    </a:p>
                  </a:txBody>
                  <a:tcPr marL="73152" marR="73152" marT="36576" marB="36576" anchor="ctr">
                    <a:solidFill>
                      <a:srgbClr val="EAF8FA"/>
                    </a:solidFill>
                  </a:tcPr>
                </a:tc>
                <a:tc>
                  <a:txBody>
                    <a:bodyPr wrap="square"/>
                    <a:lstStyle/>
                    <a:p>
                      <a:r>
                        <a:rPr sz="1440" b="0" i="0">
                          <a:solidFill>
                            <a:srgbClr val="14313B"/>
                          </a:solidFill>
                          <a:latin typeface="Calibri (MS)"/>
                        </a:rPr>
                        <a:t>Variasi P1 yang memakai rata-rata kamar per unit dari data aktual, untuk mengecek robustness rancangan P1</a:t>
                      </a:r>
                    </a:p>
                  </a:txBody>
                  <a:tcPr marL="73152" marR="73152" marT="36576" marB="36576" anchor="ctr">
                    <a:solidFill>
                      <a:srgbClr val="EAF8FA"/>
                    </a:solidFill>
                  </a:tcPr>
                </a:tc>
              </a:tr>
              <a:tr h="566928">
                <a:tc>
                  <a:txBody>
                    <a:bodyPr wrap="square"/>
                    <a:lstStyle/>
                    <a:p>
                      <a:r>
                        <a:rPr sz="1440" b="1" i="0">
                          <a:solidFill>
                            <a:srgbClr val="14313B"/>
                          </a:solidFill>
                          <a:latin typeface="Calibri (MS) Bold"/>
                        </a:rPr>
                        <a:t>P2 · P3 · P4</a:t>
                      </a:r>
                    </a:p>
                  </a:txBody>
                  <a:tcPr marL="73152" marR="73152" marT="36576" marB="36576" anchor="ctr">
                    <a:solidFill>
                      <a:srgbClr val="FFFFFF"/>
                    </a:solidFill>
                  </a:tcPr>
                </a:tc>
                <a:tc>
                  <a:txBody>
                    <a:bodyPr wrap="square"/>
                    <a:lstStyle/>
                    <a:p>
                      <a:r>
                        <a:rPr sz="1440" b="0" i="0">
                          <a:solidFill>
                            <a:srgbClr val="14313B"/>
                          </a:solidFill>
                          <a:latin typeface="Calibri (MS)"/>
                        </a:rPr>
                        <a:t>Uji parsial subsistem ODTW · tenaga kerja · lahan terbangun</a:t>
                      </a:r>
                    </a:p>
                  </a:txBody>
                  <a:tcPr marL="73152" marR="73152" marT="36576" marB="36576" anchor="ctr">
                    <a:solidFill>
                      <a:srgbClr val="FFFFFF"/>
                    </a:solidFill>
                  </a:tcPr>
                </a:tc>
              </a:tr>
              <a:tr h="566928">
                <a:tc>
                  <a:txBody>
                    <a:bodyPr wrap="square"/>
                    <a:lstStyle/>
                    <a:p>
                      <a:r>
                        <a:rPr sz="1440" b="1" i="0">
                          <a:solidFill>
                            <a:srgbClr val="14313B"/>
                          </a:solidFill>
                          <a:latin typeface="Calibri (MS) Bold"/>
                        </a:rPr>
                        <a:t>P5</a:t>
                      </a:r>
                    </a:p>
                  </a:txBody>
                  <a:tcPr marL="73152" marR="73152" marT="36576" marB="36576" anchor="ctr">
                    <a:solidFill>
                      <a:srgbClr val="EAF8FA"/>
                    </a:solidFill>
                  </a:tcPr>
                </a:tc>
                <a:tc>
                  <a:txBody>
                    <a:bodyPr wrap="square"/>
                    <a:lstStyle/>
                    <a:p>
                      <a:r>
                        <a:rPr sz="1440" b="0" i="0">
                          <a:solidFill>
                            <a:srgbClr val="14313B"/>
                          </a:solidFill>
                          <a:latin typeface="Calibri (MS)"/>
                        </a:rPr>
                        <a:t>Uji parsial subsistem wisatawan; memakai data wisnus yang sudah disesuaikan sejak 2016</a:t>
                      </a:r>
                    </a:p>
                  </a:txBody>
                  <a:tcPr marL="73152" marR="73152" marT="36576" marB="36576" anchor="ctr">
                    <a:solidFill>
                      <a:srgbClr val="EAF8FA"/>
                    </a:solidFill>
                  </a:tcPr>
                </a:tc>
              </a:tr>
              <a:tr h="566928">
                <a:tc>
                  <a:txBody>
                    <a:bodyPr wrap="square"/>
                    <a:lstStyle/>
                    <a:p>
                      <a:r>
                        <a:rPr sz="1440" b="1" i="0">
                          <a:solidFill>
                            <a:srgbClr val="14313B"/>
                          </a:solidFill>
                          <a:latin typeface="Calibri (MS) Bold"/>
                        </a:rPr>
                        <a:t>Uji penuh</a:t>
                      </a:r>
                    </a:p>
                  </a:txBody>
                  <a:tcPr marL="73152" marR="73152" marT="36576" marB="36576" anchor="ctr">
                    <a:solidFill>
                      <a:srgbClr val="FFFFFF"/>
                    </a:solidFill>
                  </a:tcPr>
                </a:tc>
                <a:tc>
                  <a:txBody>
                    <a:bodyPr wrap="square"/>
                    <a:lstStyle/>
                    <a:p>
                      <a:r>
                        <a:rPr sz="1440" b="0" i="0">
                          <a:solidFill>
                            <a:srgbClr val="14313B"/>
                          </a:solidFill>
                          <a:latin typeface="Calibri (MS)"/>
                        </a:rPr>
                        <a:t>Seluruh model dijalankan bersama tanpa penggantian data (2019–2025, 9 variabel)</a:t>
                      </a:r>
                    </a:p>
                  </a:txBody>
                  <a:tcPr marL="73152" marR="73152" marT="36576" marB="36576" anchor="ctr">
                    <a:solidFill>
                      <a:srgbClr val="FFFFFF"/>
                    </a:solidFill>
                  </a:tcPr>
                </a:tc>
              </a:tr>
              <a:tr h="566928">
                <a:tc>
                  <a:txBody>
                    <a:bodyPr wrap="square"/>
                    <a:lstStyle/>
                    <a:p>
                      <a:r>
                        <a:rPr sz="1440" b="1" i="0">
                          <a:solidFill>
                            <a:srgbClr val="14313B"/>
                          </a:solidFill>
                          <a:latin typeface="Calibri (MS) Bold"/>
                        </a:rPr>
                        <a:t>E01–E17</a:t>
                      </a:r>
                    </a:p>
                  </a:txBody>
                  <a:tcPr marL="73152" marR="73152" marT="36576" marB="36576" anchor="ctr">
                    <a:solidFill>
                      <a:srgbClr val="EAF8FA"/>
                    </a:solidFill>
                  </a:tcPr>
                </a:tc>
                <a:tc>
                  <a:txBody>
                    <a:bodyPr wrap="square"/>
                    <a:lstStyle/>
                    <a:p>
                      <a:r>
                        <a:rPr sz="1440" b="0" i="0">
                          <a:solidFill>
                            <a:srgbClr val="14313B"/>
                          </a:solidFill>
                          <a:latin typeface="Calibri (MS)"/>
                        </a:rPr>
                        <a:t>17 uji kondisi ekstrem: satu parameter dibuat nol atau dilipatgandakan (mis. E01 LPE = 0; E04 rasio investasi/PDRB = 0; E09 laju konversi ×10)</a:t>
                      </a:r>
                    </a:p>
                  </a:txBody>
                  <a:tcPr marL="73152" marR="73152" marT="36576" marB="36576" anchor="ctr">
                    <a:solidFill>
                      <a:srgbClr val="EAF8FA"/>
                    </a:solidFill>
                  </a:tcPr>
                </a:tc>
              </a:tr>
              <a:tr h="566928">
                <a:tc>
                  <a:txBody>
                    <a:bodyPr wrap="square"/>
                    <a:lstStyle/>
                    <a:p>
                      <a:r>
                        <a:rPr sz="1440" b="1" i="0">
                          <a:solidFill>
                            <a:srgbClr val="14313B"/>
                          </a:solidFill>
                          <a:latin typeface="Calibri (MS) Bold"/>
                        </a:rPr>
                        <a:t>Tahap 0–4</a:t>
                      </a:r>
                    </a:p>
                  </a:txBody>
                  <a:tcPr marL="73152" marR="73152" marT="36576" marB="36576" anchor="ctr">
                    <a:solidFill>
                      <a:srgbClr val="FFFFFF"/>
                    </a:solidFill>
                  </a:tcPr>
                </a:tc>
                <a:tc>
                  <a:txBody>
                    <a:bodyPr wrap="square"/>
                    <a:lstStyle/>
                    <a:p>
                      <a:r>
                        <a:rPr sz="1440" b="0" i="0">
                          <a:solidFill>
                            <a:srgbClr val="14313B"/>
                          </a:solidFill>
                          <a:latin typeface="Calibri (MS)"/>
                        </a:rPr>
                        <a:t>Tahap kalibrasi: 0 koreksi LPE/LPD · 1 akomodasi · 2 lahan · 3 wisatawan (hanya pemeriksaan) · 4 uji kecocokan pada model penuh</a:t>
                      </a:r>
                    </a:p>
                  </a:txBody>
                  <a:tcPr marL="73152" marR="73152" marT="36576" marB="36576" anchor="ctr">
                    <a:solidFill>
                      <a:srgbClr val="FFFFFF"/>
                    </a:solidFill>
                  </a:tcPr>
                </a:tc>
              </a:tr>
              <a:tr h="566928">
                <a:tc>
                  <a:txBody>
                    <a:bodyPr wrap="square"/>
                    <a:lstStyle/>
                    <a:p>
                      <a:r>
                        <a:rPr sz="1440" b="1" i="0">
                          <a:solidFill>
                            <a:srgbClr val="14313B"/>
                          </a:solidFill>
                          <a:latin typeface="Calibri (MS) Bold"/>
                        </a:rPr>
                        <a:t>Aturan R1–R4</a:t>
                      </a:r>
                    </a:p>
                  </a:txBody>
                  <a:tcPr marL="73152" marR="73152" marT="36576" marB="36576" anchor="ctr">
                    <a:solidFill>
                      <a:srgbClr val="EAF8FA"/>
                    </a:solidFill>
                  </a:tcPr>
                </a:tc>
                <a:tc>
                  <a:txBody>
                    <a:bodyPr wrap="square"/>
                    <a:lstStyle/>
                    <a:p>
                      <a:r>
                        <a:rPr sz="1440" b="0" i="0">
                          <a:solidFill>
                            <a:srgbClr val="14313B"/>
                          </a:solidFill>
                          <a:latin typeface="Calibri (MS)"/>
                        </a:rPr>
                        <a:t>Aturan keputusan kalibrasi (berbeda dengan loop R1–R2): R1 nilai dari data termasuk kumpulan nilai setara → dipertahankan; R2 kumpulan setara menyentuh kedua ujung rentang → tidak bisa ditentukan; R3 optimum di ujung rentang → cek leave-one-year-out; R4 lainnya → dipakai bila lolos Tahap 4</a:t>
                      </a:r>
                    </a:p>
                  </a:txBody>
                  <a:tcPr marL="73152" marR="73152" marT="36576" marB="36576" anchor="ctr">
                    <a:solidFill>
                      <a:srgbClr val="EAF8FA"/>
                    </a:solidFill>
                  </a:tcPr>
                </a:tc>
              </a:tr>
              <a:tr h="566928">
                <a:tc>
                  <a:txBody>
                    <a:bodyPr wrap="square"/>
                    <a:lstStyle/>
                    <a:p>
                      <a:r>
                        <a:rPr sz="1440" b="1" i="0">
                          <a:solidFill>
                            <a:srgbClr val="14313B"/>
                          </a:solidFill>
                          <a:latin typeface="Calibri (MS) Bold"/>
                        </a:rPr>
                        <a:t>M1 · M2 · S · T</a:t>
                      </a:r>
                    </a:p>
                  </a:txBody>
                  <a:tcPr marL="73152" marR="73152" marT="36576" marB="36576" anchor="ctr">
                    <a:solidFill>
                      <a:srgbClr val="FFFFFF"/>
                    </a:solidFill>
                  </a:tcPr>
                </a:tc>
                <a:tc>
                  <a:txBody>
                    <a:bodyPr wrap="square"/>
                    <a:lstStyle/>
                    <a:p>
                      <a:r>
                        <a:rPr sz="1440" b="0" i="0">
                          <a:solidFill>
                            <a:srgbClr val="14313B"/>
                          </a:solidFill>
                          <a:latin typeface="Calibri (MS)"/>
                        </a:rPr>
                        <a:t>Syarat penolakan Tahap 4: NRMSE variabel target memburuk &gt; 5% · rata-rata NRMSE 9 variabel memburuk &gt; 5% · uji ekstrem gagal · simulasi tidak stabil pada horizon diperpanjang</a:t>
                      </a:r>
                    </a:p>
                  </a:txBody>
                  <a:tcPr marL="73152" marR="73152" marT="36576" marB="36576" anchor="ctr">
                    <a:solidFill>
                      <a:srgbClr val="FFFFFF"/>
                    </a:solidFill>
                  </a:tcPr>
                </a:tc>
              </a:tr>
              <a:tr h="566928">
                <a:tc>
                  <a:txBody>
                    <a:bodyPr wrap="square"/>
                    <a:lstStyle/>
                    <a:p>
                      <a:r>
                        <a:rPr sz="1440" b="1" i="0">
                          <a:solidFill>
                            <a:srgbClr val="14313B"/>
                          </a:solidFill>
                          <a:latin typeface="Calibri (MS) Bold"/>
                        </a:rPr>
                        <a:t>D-A · D-B · D-C</a:t>
                      </a:r>
                    </a:p>
                  </a:txBody>
                  <a:tcPr marL="73152" marR="73152" marT="36576" marB="36576" anchor="ctr">
                    <a:solidFill>
                      <a:srgbClr val="EAF8FA"/>
                    </a:solidFill>
                  </a:tcPr>
                </a:tc>
                <a:tc>
                  <a:txBody>
                    <a:bodyPr wrap="square"/>
                    <a:lstStyle/>
                    <a:p>
                      <a:r>
                        <a:rPr sz="1440" b="0" i="0">
                          <a:solidFill>
                            <a:srgbClr val="14313B"/>
                          </a:solidFill>
                          <a:latin typeface="Calibri (MS)"/>
                        </a:rPr>
                        <a:t>Varian pemeriksaan Tahap 3: D-A periode 2016–2019 (LPE 0,440) · D-B 2016–2019 + 2022–2025 (0,490) · D-C periode D-A dengan faktor penyesuaian 2,22 atau 2,38 (0,410 / 0,470)</a:t>
                      </a:r>
                    </a:p>
                  </a:txBody>
                  <a:tcPr marL="73152" marR="73152" marT="36576" marB="36576" anchor="ctr">
                    <a:solidFill>
                      <a:srgbClr val="EAF8FA"/>
                    </a:solidFill>
                  </a:tcPr>
                </a:tc>
              </a:tr>
              <a:tr h="566928">
                <a:tc>
                  <a:txBody>
                    <a:bodyPr wrap="square"/>
                    <a:lstStyle/>
                    <a:p>
                      <a:r>
                        <a:rPr sz="1440" b="1" i="0">
                          <a:solidFill>
                            <a:srgbClr val="14313B"/>
                          </a:solidFill>
                          <a:latin typeface="Calibri (MS) Bold"/>
                        </a:rPr>
                        <a:t>C0–C6</a:t>
                      </a:r>
                    </a:p>
                  </a:txBody>
                  <a:tcPr marL="73152" marR="73152" marT="36576" marB="36576" anchor="ctr">
                    <a:solidFill>
                      <a:srgbClr val="FFFFFF"/>
                    </a:solidFill>
                  </a:tcPr>
                </a:tc>
                <a:tc>
                  <a:txBody>
                    <a:bodyPr wrap="square"/>
                    <a:lstStyle/>
                    <a:p>
                      <a:r>
                        <a:rPr sz="1440" b="0" i="0">
                          <a:solidFill>
                            <a:srgbClr val="14313B"/>
                          </a:solidFill>
                          <a:latin typeface="Calibri (MS)"/>
                        </a:rPr>
                        <a:t>Kondisi uji robustness skenario: C0 acuan (nilai final); C1–C6 menggeser rasio LPD/LPE (0,65; 0,90), bobot daya tarik (2 kombinasi lain), dan laju konversi dasar (batas bawah/atas selang 95%)</a:t>
                      </a:r>
                    </a:p>
                  </a:txBody>
                  <a:tcPr marL="73152" marR="73152" marT="36576" marB="36576" anchor="ctr">
                    <a:solidFill>
                      <a:srgbClr val="FFFFFF"/>
                    </a:solidFill>
                  </a:tcPr>
                </a:tc>
              </a:tr>
            </a:tbl>
          </a:graphicData>
        </a:graphic>
      </p:graphicFrame>
      <p:sp>
        <p:nvSpPr>
          <p:cNvPr id="23" name="TextBox 22"/>
          <p:cNvSpPr txBox="1"/>
          <p:nvPr/>
        </p:nvSpPr>
        <p:spPr>
          <a:xfrm>
            <a:off x="822960" y="928116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3.7.4, 3.8.4, 4.4.5, 4.5, 4.6 (Tabel 54), 4.8.5.</a:t>
            </a:r>
          </a:p>
        </p:txBody>
      </p:sp>
    </p:spTree>
  </p:cSld>
  <p:clrMapOvr>
    <a:masterClrMapping/>
  </p:clrMapOvr>
</p:sld>
</file>

<file path=ppt/slides/slide9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17 · Daftar istilah (2/2): ukuran dan singkatan</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94</a:t>
            </a:r>
          </a:p>
        </p:txBody>
      </p:sp>
      <p:graphicFrame>
        <p:nvGraphicFramePr>
          <p:cNvPr id="22" name="Table 21"/>
          <p:cNvGraphicFramePr>
            <a:graphicFrameLocks noGrp="1"/>
          </p:cNvGraphicFramePr>
          <p:nvPr/>
        </p:nvGraphicFramePr>
        <p:xfrm>
          <a:off x="822960" y="1828800"/>
          <a:ext cx="16642080" cy="7150608"/>
        </p:xfrm>
        <a:graphic>
          <a:graphicData uri="http://schemas.openxmlformats.org/drawingml/2006/table">
            <a:tbl>
              <a:tblPr firstRow="1" bandRow="1">
                <a:tableStyleId>{5C22544A-7EE6-4342-B048-85BDC9FD1C3A}</a:tableStyleId>
              </a:tblPr>
              <a:tblGrid>
                <a:gridCol w="3291840"/>
                <a:gridCol w="13350240"/>
              </a:tblGrid>
              <a:tr h="420624">
                <a:tc>
                  <a:txBody>
                    <a:bodyPr wrap="square"/>
                    <a:lstStyle/>
                    <a:p>
                      <a:r>
                        <a:rPr sz="1440" b="1" i="0">
                          <a:solidFill>
                            <a:srgbClr val="FFFFFF"/>
                          </a:solidFill>
                          <a:latin typeface="Calibri (MS) Bold"/>
                        </a:rPr>
                        <a:t>Istilah</a:t>
                      </a:r>
                    </a:p>
                  </a:txBody>
                  <a:tcPr marL="73152" marR="73152" marT="36576" marB="36576" anchor="ctr">
                    <a:solidFill>
                      <a:srgbClr val="0B5E6E"/>
                    </a:solidFill>
                  </a:tcPr>
                </a:tc>
                <a:tc>
                  <a:txBody>
                    <a:bodyPr wrap="square"/>
                    <a:lstStyle/>
                    <a:p>
                      <a:r>
                        <a:rPr sz="1440" b="1" i="0">
                          <a:solidFill>
                            <a:srgbClr val="FFFFFF"/>
                          </a:solidFill>
                          <a:latin typeface="Calibri (MS) Bold"/>
                        </a:rPr>
                        <a:t>Arti</a:t>
                      </a:r>
                    </a:p>
                  </a:txBody>
                  <a:tcPr marL="73152" marR="73152" marT="36576" marB="36576" anchor="ctr">
                    <a:solidFill>
                      <a:srgbClr val="0B5E6E"/>
                    </a:solidFill>
                  </a:tcPr>
                </a:tc>
              </a:tr>
              <a:tr h="420624">
                <a:tc>
                  <a:txBody>
                    <a:bodyPr wrap="square"/>
                    <a:lstStyle/>
                    <a:p>
                      <a:r>
                        <a:rPr sz="1440" b="1" i="0">
                          <a:solidFill>
                            <a:srgbClr val="14313B"/>
                          </a:solidFill>
                          <a:latin typeface="Calibri (MS) Bold"/>
                        </a:rPr>
                        <a:t>R1 · R2</a:t>
                      </a:r>
                    </a:p>
                  </a:txBody>
                  <a:tcPr marL="73152" marR="73152" marT="36576" marB="36576" anchor="ctr">
                    <a:solidFill>
                      <a:srgbClr val="FFFFFF"/>
                    </a:solidFill>
                  </a:tcPr>
                </a:tc>
                <a:tc>
                  <a:txBody>
                    <a:bodyPr wrap="square"/>
                    <a:lstStyle/>
                    <a:p>
                      <a:r>
                        <a:rPr sz="1440" b="0" i="0">
                          <a:solidFill>
                            <a:srgbClr val="14313B"/>
                          </a:solidFill>
                          <a:latin typeface="Calibri (MS)"/>
                        </a:rPr>
                        <a:t>Reinforcing loop (saling memperkuat): R1 pertumbuhan wisatawan · R2 ekonomi–atraksi</a:t>
                      </a:r>
                    </a:p>
                  </a:txBody>
                  <a:tcPr marL="73152" marR="73152" marT="36576" marB="36576" anchor="ctr">
                    <a:solidFill>
                      <a:srgbClr val="FFFFFF"/>
                    </a:solidFill>
                  </a:tcPr>
                </a:tc>
              </a:tr>
              <a:tr h="420624">
                <a:tc>
                  <a:txBody>
                    <a:bodyPr wrap="square"/>
                    <a:lstStyle/>
                    <a:p>
                      <a:r>
                        <a:rPr sz="1440" b="1" i="0">
                          <a:solidFill>
                            <a:srgbClr val="14313B"/>
                          </a:solidFill>
                          <a:latin typeface="Calibri (MS) Bold"/>
                        </a:rPr>
                        <a:t>B1–B4</a:t>
                      </a:r>
                    </a:p>
                  </a:txBody>
                  <a:tcPr marL="73152" marR="73152" marT="36576" marB="36576" anchor="ctr">
                    <a:solidFill>
                      <a:srgbClr val="EAF8FA"/>
                    </a:solidFill>
                  </a:tcPr>
                </a:tc>
                <a:tc>
                  <a:txBody>
                    <a:bodyPr wrap="square"/>
                    <a:lstStyle/>
                    <a:p>
                      <a:r>
                        <a:rPr sz="1440" b="0" i="0">
                          <a:solidFill>
                            <a:srgbClr val="14313B"/>
                          </a:solidFill>
                          <a:latin typeface="Calibri (MS)"/>
                        </a:rPr>
                        <a:t>Balancing loop (menahan pertumbuhan): B1 kepadatan · B2 daya dukung lahan · B3 kapasitas kamar · B4 tenaga kerja</a:t>
                      </a:r>
                    </a:p>
                  </a:txBody>
                  <a:tcPr marL="73152" marR="73152" marT="36576" marB="36576" anchor="ctr">
                    <a:solidFill>
                      <a:srgbClr val="EAF8FA"/>
                    </a:solidFill>
                  </a:tcPr>
                </a:tc>
              </a:tr>
              <a:tr h="420624">
                <a:tc>
                  <a:txBody>
                    <a:bodyPr wrap="square"/>
                    <a:lstStyle/>
                    <a:p>
                      <a:r>
                        <a:rPr sz="1440" b="1" i="0">
                          <a:solidFill>
                            <a:srgbClr val="14313B"/>
                          </a:solidFill>
                          <a:latin typeface="Calibri (MS) Bold"/>
                        </a:rPr>
                        <a:t>E1</a:t>
                      </a:r>
                    </a:p>
                  </a:txBody>
                  <a:tcPr marL="73152" marR="73152" marT="36576" marB="36576" anchor="ctr">
                    <a:solidFill>
                      <a:srgbClr val="FFFFFF"/>
                    </a:solidFill>
                  </a:tcPr>
                </a:tc>
                <a:tc>
                  <a:txBody>
                    <a:bodyPr wrap="square"/>
                    <a:lstStyle/>
                    <a:p>
                      <a:r>
                        <a:rPr sz="1440" b="0" i="0">
                          <a:solidFill>
                            <a:srgbClr val="14313B"/>
                          </a:solidFill>
                          <a:latin typeface="Calibri (MS)"/>
                        </a:rPr>
                        <a:t>Error rata-rata = |rata-rata simulasi − rata-rata data| ÷ rata-rata data; baik bila &lt; 0,05</a:t>
                      </a:r>
                    </a:p>
                  </a:txBody>
                  <a:tcPr marL="73152" marR="73152" marT="36576" marB="36576" anchor="ctr">
                    <a:solidFill>
                      <a:srgbClr val="FFFFFF"/>
                    </a:solidFill>
                  </a:tcPr>
                </a:tc>
              </a:tr>
              <a:tr h="420624">
                <a:tc>
                  <a:txBody>
                    <a:bodyPr wrap="square"/>
                    <a:lstStyle/>
                    <a:p>
                      <a:r>
                        <a:rPr sz="1440" b="1" i="0">
                          <a:solidFill>
                            <a:srgbClr val="14313B"/>
                          </a:solidFill>
                          <a:latin typeface="Calibri (MS) Bold"/>
                        </a:rPr>
                        <a:t>E2</a:t>
                      </a:r>
                    </a:p>
                  </a:txBody>
                  <a:tcPr marL="73152" marR="73152" marT="36576" marB="36576" anchor="ctr">
                    <a:solidFill>
                      <a:srgbClr val="EAF8FA"/>
                    </a:solidFill>
                  </a:tcPr>
                </a:tc>
                <a:tc>
                  <a:txBody>
                    <a:bodyPr wrap="square"/>
                    <a:lstStyle/>
                    <a:p>
                      <a:r>
                        <a:rPr sz="1440" b="0" i="0">
                          <a:solidFill>
                            <a:srgbClr val="14313B"/>
                          </a:solidFill>
                          <a:latin typeface="Calibri (MS)"/>
                        </a:rPr>
                        <a:t>Error variasi = |simpangan baku simulasi − simpangan baku data| ÷ simpangan baku data; baik bila &lt; 0,30</a:t>
                      </a:r>
                    </a:p>
                  </a:txBody>
                  <a:tcPr marL="73152" marR="73152" marT="36576" marB="36576" anchor="ctr">
                    <a:solidFill>
                      <a:srgbClr val="EAF8FA"/>
                    </a:solidFill>
                  </a:tcPr>
                </a:tc>
              </a:tr>
              <a:tr h="420624">
                <a:tc>
                  <a:txBody>
                    <a:bodyPr wrap="square"/>
                    <a:lstStyle/>
                    <a:p>
                      <a:r>
                        <a:rPr sz="1440" b="1" i="0">
                          <a:solidFill>
                            <a:srgbClr val="14313B"/>
                          </a:solidFill>
                          <a:latin typeface="Calibri (MS) Bold"/>
                        </a:rPr>
                        <a:t>DC</a:t>
                      </a:r>
                    </a:p>
                  </a:txBody>
                  <a:tcPr marL="73152" marR="73152" marT="36576" marB="36576" anchor="ctr">
                    <a:solidFill>
                      <a:srgbClr val="FFFFFF"/>
                    </a:solidFill>
                  </a:tcPr>
                </a:tc>
                <a:tc>
                  <a:txBody>
                    <a:bodyPr wrap="square"/>
                    <a:lstStyle/>
                    <a:p>
                      <a:r>
                        <a:rPr sz="1440" b="0" i="0">
                          <a:solidFill>
                            <a:srgbClr val="14313B"/>
                          </a:solidFill>
                          <a:latin typeface="Calibri (MS)"/>
                        </a:rPr>
                        <a:t>Discrepancy coefficient: 0 = sempurna; 0,4–0,7 = rata-rata sampai baik (Barlas)</a:t>
                      </a:r>
                    </a:p>
                  </a:txBody>
                  <a:tcPr marL="73152" marR="73152" marT="36576" marB="36576" anchor="ctr">
                    <a:solidFill>
                      <a:srgbClr val="FFFFFF"/>
                    </a:solidFill>
                  </a:tcPr>
                </a:tc>
              </a:tr>
              <a:tr h="420624">
                <a:tc>
                  <a:txBody>
                    <a:bodyPr wrap="square"/>
                    <a:lstStyle/>
                    <a:p>
                      <a:r>
                        <a:rPr sz="1440" b="1" i="0">
                          <a:solidFill>
                            <a:srgbClr val="14313B"/>
                          </a:solidFill>
                          <a:latin typeface="Calibri (MS) Bold"/>
                        </a:rPr>
                        <a:t>U1 · U2 · U3</a:t>
                      </a:r>
                    </a:p>
                  </a:txBody>
                  <a:tcPr marL="73152" marR="73152" marT="36576" marB="36576" anchor="ctr">
                    <a:solidFill>
                      <a:srgbClr val="EAF8FA"/>
                    </a:solidFill>
                  </a:tcPr>
                </a:tc>
                <a:tc>
                  <a:txBody>
                    <a:bodyPr wrap="square"/>
                    <a:lstStyle/>
                    <a:p>
                      <a:r>
                        <a:rPr sz="1440" b="0" i="0">
                          <a:solidFill>
                            <a:srgbClr val="14313B"/>
                          </a:solidFill>
                          <a:latin typeface="Calibri (MS)"/>
                        </a:rPr>
                        <a:t>Theil inequality: porsi error karena beda rata-rata (U1), beda variasi (U2), dan sisa acak (U3)</a:t>
                      </a:r>
                    </a:p>
                  </a:txBody>
                  <a:tcPr marL="73152" marR="73152" marT="36576" marB="36576" anchor="ctr">
                    <a:solidFill>
                      <a:srgbClr val="EAF8FA"/>
                    </a:solidFill>
                  </a:tcPr>
                </a:tc>
              </a:tr>
              <a:tr h="420624">
                <a:tc>
                  <a:txBody>
                    <a:bodyPr wrap="square"/>
                    <a:lstStyle/>
                    <a:p>
                      <a:r>
                        <a:rPr sz="1440" b="1" i="0">
                          <a:solidFill>
                            <a:srgbClr val="14313B"/>
                          </a:solidFill>
                          <a:latin typeface="Calibri (MS) Bold"/>
                        </a:rPr>
                        <a:t>MAPE · NRMSE</a:t>
                      </a:r>
                    </a:p>
                  </a:txBody>
                  <a:tcPr marL="73152" marR="73152" marT="36576" marB="36576" anchor="ctr">
                    <a:solidFill>
                      <a:srgbClr val="FFFFFF"/>
                    </a:solidFill>
                  </a:tcPr>
                </a:tc>
                <a:tc>
                  <a:txBody>
                    <a:bodyPr wrap="square"/>
                    <a:lstStyle/>
                    <a:p>
                      <a:r>
                        <a:rPr sz="1440" b="0" i="0">
                          <a:solidFill>
                            <a:srgbClr val="14313B"/>
                          </a:solidFill>
                          <a:latin typeface="Calibri (MS)"/>
                        </a:rPr>
                        <a:t>Mean absolute percentage error · RMSE dibagi rata-rata data (fungsi tujuan kalibrasi)</a:t>
                      </a:r>
                    </a:p>
                  </a:txBody>
                  <a:tcPr marL="73152" marR="73152" marT="36576" marB="36576" anchor="ctr">
                    <a:solidFill>
                      <a:srgbClr val="FFFFFF"/>
                    </a:solidFill>
                  </a:tcPr>
                </a:tc>
              </a:tr>
              <a:tr h="420624">
                <a:tc>
                  <a:txBody>
                    <a:bodyPr wrap="square"/>
                    <a:lstStyle/>
                    <a:p>
                      <a:r>
                        <a:rPr sz="1440" b="1" i="0">
                          <a:solidFill>
                            <a:srgbClr val="14313B"/>
                          </a:solidFill>
                          <a:latin typeface="Calibri (MS) Bold"/>
                        </a:rPr>
                        <a:t>LOOCV</a:t>
                      </a:r>
                    </a:p>
                  </a:txBody>
                  <a:tcPr marL="73152" marR="73152" marT="36576" marB="36576" anchor="ctr">
                    <a:solidFill>
                      <a:srgbClr val="EAF8FA"/>
                    </a:solidFill>
                  </a:tcPr>
                </a:tc>
                <a:tc>
                  <a:txBody>
                    <a:bodyPr wrap="square"/>
                    <a:lstStyle/>
                    <a:p>
                      <a:r>
                        <a:rPr sz="1440" b="0" i="0">
                          <a:solidFill>
                            <a:srgbClr val="14313B"/>
                          </a:solidFill>
                          <a:latin typeface="Calibri (MS)"/>
                        </a:rPr>
                        <a:t>Leave-one-out cross-validation: satu tahun dikeluarkan bergantian lalu diprediksi oleh model sisanya</a:t>
                      </a:r>
                    </a:p>
                  </a:txBody>
                  <a:tcPr marL="73152" marR="73152" marT="36576" marB="36576" anchor="ctr">
                    <a:solidFill>
                      <a:srgbClr val="EAF8FA"/>
                    </a:solidFill>
                  </a:tcPr>
                </a:tc>
              </a:tr>
              <a:tr h="420624">
                <a:tc>
                  <a:txBody>
                    <a:bodyPr wrap="square"/>
                    <a:lstStyle/>
                    <a:p>
                      <a:r>
                        <a:rPr sz="1440" b="1" i="0">
                          <a:solidFill>
                            <a:srgbClr val="14313B"/>
                          </a:solidFill>
                          <a:latin typeface="Calibri (MS) Bold"/>
                        </a:rPr>
                        <a:t>OA · UA · PA · F1 · κ</a:t>
                      </a:r>
                    </a:p>
                  </a:txBody>
                  <a:tcPr marL="73152" marR="73152" marT="36576" marB="36576" anchor="ctr">
                    <a:solidFill>
                      <a:srgbClr val="FFFFFF"/>
                    </a:solidFill>
                  </a:tcPr>
                </a:tc>
                <a:tc>
                  <a:txBody>
                    <a:bodyPr wrap="square"/>
                    <a:lstStyle/>
                    <a:p>
                      <a:r>
                        <a:rPr sz="1440" b="0" i="0">
                          <a:solidFill>
                            <a:srgbClr val="14313B"/>
                          </a:solidFill>
                          <a:latin typeface="Calibri (MS)"/>
                        </a:rPr>
                        <a:t>Akurasi klasifikasi: keseluruhan · user's accuracy · producer's accuracy · F1-score · Kappa</a:t>
                      </a:r>
                    </a:p>
                  </a:txBody>
                  <a:tcPr marL="73152" marR="73152" marT="36576" marB="36576" anchor="ctr">
                    <a:solidFill>
                      <a:srgbClr val="FFFFFF"/>
                    </a:solidFill>
                  </a:tcPr>
                </a:tc>
              </a:tr>
              <a:tr h="420624">
                <a:tc>
                  <a:txBody>
                    <a:bodyPr wrap="square"/>
                    <a:lstStyle/>
                    <a:p>
                      <a:r>
                        <a:rPr sz="1440" b="1" i="0">
                          <a:solidFill>
                            <a:srgbClr val="14313B"/>
                          </a:solidFill>
                          <a:latin typeface="Calibri (MS) Bold"/>
                        </a:rPr>
                        <a:t>Commission / omission error</a:t>
                      </a:r>
                    </a:p>
                  </a:txBody>
                  <a:tcPr marL="73152" marR="73152" marT="36576" marB="36576" anchor="ctr">
                    <a:solidFill>
                      <a:srgbClr val="EAF8FA"/>
                    </a:solidFill>
                  </a:tcPr>
                </a:tc>
                <a:tc>
                  <a:txBody>
                    <a:bodyPr wrap="square"/>
                    <a:lstStyle/>
                    <a:p>
                      <a:r>
                        <a:rPr sz="1440" b="0" i="0">
                          <a:solidFill>
                            <a:srgbClr val="14313B"/>
                          </a:solidFill>
                          <a:latin typeface="Calibri (MS)"/>
                        </a:rPr>
                        <a:t>Commission: terpetakan terbangun padahal bukan · Omission: terbangun tetapi tidak terpetakan</a:t>
                      </a:r>
                    </a:p>
                  </a:txBody>
                  <a:tcPr marL="73152" marR="73152" marT="36576" marB="36576" anchor="ctr">
                    <a:solidFill>
                      <a:srgbClr val="EAF8FA"/>
                    </a:solidFill>
                  </a:tcPr>
                </a:tc>
              </a:tr>
              <a:tr h="420624">
                <a:tc>
                  <a:txBody>
                    <a:bodyPr wrap="square"/>
                    <a:lstStyle/>
                    <a:p>
                      <a:r>
                        <a:rPr sz="1440" b="1" i="0">
                          <a:solidFill>
                            <a:srgbClr val="14313B"/>
                          </a:solidFill>
                          <a:latin typeface="Calibri (MS) Bold"/>
                        </a:rPr>
                        <a:t>LPE · LPD</a:t>
                      </a:r>
                    </a:p>
                  </a:txBody>
                  <a:tcPr marL="73152" marR="73152" marT="36576" marB="36576" anchor="ctr">
                    <a:solidFill>
                      <a:srgbClr val="FFFFFF"/>
                    </a:solidFill>
                  </a:tcPr>
                </a:tc>
                <a:tc>
                  <a:txBody>
                    <a:bodyPr wrap="square"/>
                    <a:lstStyle/>
                    <a:p>
                      <a:r>
                        <a:rPr sz="1440" b="0" i="0">
                          <a:solidFill>
                            <a:srgbClr val="14313B"/>
                          </a:solidFill>
                          <a:latin typeface="Calibri (MS)"/>
                        </a:rPr>
                        <a:t>Laju Pertumbuhan Eksternal · Laju Penurunan Dasar wisatawan</a:t>
                      </a:r>
                    </a:p>
                  </a:txBody>
                  <a:tcPr marL="73152" marR="73152" marT="36576" marB="36576" anchor="ctr">
                    <a:solidFill>
                      <a:srgbClr val="FFFFFF"/>
                    </a:solidFill>
                  </a:tcPr>
                </a:tc>
              </a:tr>
              <a:tr h="420624">
                <a:tc>
                  <a:txBody>
                    <a:bodyPr wrap="square"/>
                    <a:lstStyle/>
                    <a:p>
                      <a:r>
                        <a:rPr sz="1440" b="1" i="0">
                          <a:solidFill>
                            <a:srgbClr val="14313B"/>
                          </a:solidFill>
                          <a:latin typeface="Calibri (MS) Bold"/>
                        </a:rPr>
                        <a:t>RDDL</a:t>
                      </a:r>
                    </a:p>
                  </a:txBody>
                  <a:tcPr marL="73152" marR="73152" marT="36576" marB="36576" anchor="ctr">
                    <a:solidFill>
                      <a:srgbClr val="EAF8FA"/>
                    </a:solidFill>
                  </a:tcPr>
                </a:tc>
                <a:tc>
                  <a:txBody>
                    <a:bodyPr wrap="square"/>
                    <a:lstStyle/>
                    <a:p>
                      <a:r>
                        <a:rPr sz="1440" b="0" i="0">
                          <a:solidFill>
                            <a:srgbClr val="14313B"/>
                          </a:solidFill>
                          <a:latin typeface="Calibri (MS)"/>
                        </a:rPr>
                        <a:t>Rasio Daya Dukung Lahan = 1 − lahan terbangun ÷ luas wilayah DIY</a:t>
                      </a:r>
                    </a:p>
                  </a:txBody>
                  <a:tcPr marL="73152" marR="73152" marT="36576" marB="36576" anchor="ctr">
                    <a:solidFill>
                      <a:srgbClr val="EAF8FA"/>
                    </a:solidFill>
                  </a:tcPr>
                </a:tc>
              </a:tr>
              <a:tr h="420624">
                <a:tc>
                  <a:txBody>
                    <a:bodyPr wrap="square"/>
                    <a:lstStyle/>
                    <a:p>
                      <a:r>
                        <a:rPr sz="1440" b="1" i="0">
                          <a:solidFill>
                            <a:srgbClr val="14313B"/>
                          </a:solidFill>
                          <a:latin typeface="Calibri (MS) Bold"/>
                        </a:rPr>
                        <a:t>TPK · TPG</a:t>
                      </a:r>
                    </a:p>
                  </a:txBody>
                  <a:tcPr marL="73152" marR="73152" marT="36576" marB="36576" anchor="ctr">
                    <a:solidFill>
                      <a:srgbClr val="FFFFFF"/>
                    </a:solidFill>
                  </a:tcPr>
                </a:tc>
                <a:tc>
                  <a:txBody>
                    <a:bodyPr wrap="square"/>
                    <a:lstStyle/>
                    <a:p>
                      <a:r>
                        <a:rPr sz="1440" b="0" i="0">
                          <a:solidFill>
                            <a:srgbClr val="14313B"/>
                          </a:solidFill>
                          <a:latin typeface="Calibri (MS)"/>
                        </a:rPr>
                        <a:t>Tingkat Penghunian Kamar · rata-rata tamu per kamar</a:t>
                      </a:r>
                    </a:p>
                  </a:txBody>
                  <a:tcPr marL="73152" marR="73152" marT="36576" marB="36576" anchor="ctr">
                    <a:solidFill>
                      <a:srgbClr val="FFFFFF"/>
                    </a:solidFill>
                  </a:tcPr>
                </a:tc>
              </a:tr>
              <a:tr h="420624">
                <a:tc>
                  <a:txBody>
                    <a:bodyPr wrap="square"/>
                    <a:lstStyle/>
                    <a:p>
                      <a:r>
                        <a:rPr sz="1440" b="1" i="0">
                          <a:solidFill>
                            <a:srgbClr val="14313B"/>
                          </a:solidFill>
                          <a:latin typeface="Calibri (MS) Bold"/>
                        </a:rPr>
                        <a:t>ODTW · NTL</a:t>
                      </a:r>
                    </a:p>
                  </a:txBody>
                  <a:tcPr marL="73152" marR="73152" marT="36576" marB="36576" anchor="ctr">
                    <a:solidFill>
                      <a:srgbClr val="EAF8FA"/>
                    </a:solidFill>
                  </a:tcPr>
                </a:tc>
                <a:tc>
                  <a:txBody>
                    <a:bodyPr wrap="square"/>
                    <a:lstStyle/>
                    <a:p>
                      <a:r>
                        <a:rPr sz="1440" b="0" i="0">
                          <a:solidFill>
                            <a:srgbClr val="14313B"/>
                          </a:solidFill>
                          <a:latin typeface="Calibri (MS)"/>
                        </a:rPr>
                        <a:t>Objek Daya Tarik Wisata · night-time light (intensitas cahaya malam VIIRS)</a:t>
                      </a:r>
                    </a:p>
                  </a:txBody>
                  <a:tcPr marL="73152" marR="73152" marT="36576" marB="36576" anchor="ctr">
                    <a:solidFill>
                      <a:srgbClr val="EAF8FA"/>
                    </a:solidFill>
                  </a:tcPr>
                </a:tc>
              </a:tr>
              <a:tr h="420624">
                <a:tc>
                  <a:txBody>
                    <a:bodyPr wrap="square"/>
                    <a:lstStyle/>
                    <a:p>
                      <a:r>
                        <a:rPr sz="1440" b="1" i="0">
                          <a:solidFill>
                            <a:srgbClr val="14313B"/>
                          </a:solidFill>
                          <a:latin typeface="Calibri (MS) Bold"/>
                        </a:rPr>
                        <a:t>BAU · Sustainable · DP</a:t>
                      </a:r>
                    </a:p>
                  </a:txBody>
                  <a:tcPr marL="73152" marR="73152" marT="36576" marB="36576" anchor="ctr">
                    <a:solidFill>
                      <a:srgbClr val="FFFFFF"/>
                    </a:solidFill>
                  </a:tcPr>
                </a:tc>
                <a:tc>
                  <a:txBody>
                    <a:bodyPr wrap="square"/>
                    <a:lstStyle/>
                    <a:p>
                      <a:r>
                        <a:rPr sz="1440" b="0" i="0">
                          <a:solidFill>
                            <a:srgbClr val="14313B"/>
                          </a:solidFill>
                          <a:latin typeface="Calibri (MS)"/>
                        </a:rPr>
                        <a:t>Business-as-Usual (tanpa kebijakan) · insentif 0,1 + konservasi 1,0 · Development Priority (insentif 0,3 + konservasi 0)</a:t>
                      </a:r>
                    </a:p>
                  </a:txBody>
                  <a:tcPr marL="73152" marR="73152" marT="36576" marB="36576" anchor="ctr">
                    <a:solidFill>
                      <a:srgbClr val="FFFFFF"/>
                    </a:solidFill>
                  </a:tcPr>
                </a:tc>
              </a:tr>
              <a:tr h="420624">
                <a:tc>
                  <a:txBody>
                    <a:bodyPr wrap="square"/>
                    <a:lstStyle/>
                    <a:p>
                      <a:r>
                        <a:rPr sz="1440" b="1" i="0">
                          <a:solidFill>
                            <a:srgbClr val="14313B"/>
                          </a:solidFill>
                          <a:latin typeface="Calibri (MS) Bold"/>
                        </a:rPr>
                        <a:t>SUS</a:t>
                      </a:r>
                    </a:p>
                  </a:txBody>
                  <a:tcPr marL="73152" marR="73152" marT="36576" marB="36576" anchor="ctr">
                    <a:solidFill>
                      <a:srgbClr val="EAF8FA"/>
                    </a:solidFill>
                  </a:tcPr>
                </a:tc>
                <a:tc>
                  <a:txBody>
                    <a:bodyPr wrap="square"/>
                    <a:lstStyle/>
                    <a:p>
                      <a:r>
                        <a:rPr sz="1440" b="0" i="0">
                          <a:solidFill>
                            <a:srgbClr val="14313B"/>
                          </a:solidFill>
                          <a:latin typeface="Calibri (MS)"/>
                        </a:rPr>
                        <a:t>System Usability Scale, skor 0–100 (rata-rata umum ±68)</a:t>
                      </a:r>
                    </a:p>
                  </a:txBody>
                  <a:tcPr marL="73152" marR="73152" marT="36576" marB="36576" anchor="ctr">
                    <a:solidFill>
                      <a:srgbClr val="EAF8FA"/>
                    </a:solidFill>
                  </a:tcPr>
                </a:tc>
              </a:tr>
            </a:tbl>
          </a:graphicData>
        </a:graphic>
      </p:graphicFrame>
      <p:sp>
        <p:nvSpPr>
          <p:cNvPr id="23" name="TextBox 22"/>
          <p:cNvSpPr txBox="1"/>
          <p:nvPr/>
        </p:nvSpPr>
        <p:spPr>
          <a:xfrm>
            <a:off x="822960" y="928116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3.5, 3.7.4, 3.9, 4.1.3; Barlas (1996); Sterman (1984).</a:t>
            </a:r>
          </a:p>
        </p:txBody>
      </p:sp>
    </p:spTree>
  </p:cSld>
  <p:clrMapOvr>
    <a:masterClrMapping/>
  </p:clrMapOvr>
</p:sld>
</file>

<file path=ppt/slides/slide9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18 · Kategori IRTS 2008 dan KBLI 2020</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95</a:t>
            </a:r>
          </a:p>
        </p:txBody>
      </p:sp>
      <p:graphicFrame>
        <p:nvGraphicFramePr>
          <p:cNvPr id="22" name="Table 21"/>
          <p:cNvGraphicFramePr>
            <a:graphicFrameLocks noGrp="1"/>
          </p:cNvGraphicFramePr>
          <p:nvPr/>
        </p:nvGraphicFramePr>
        <p:xfrm>
          <a:off x="822960" y="1828800"/>
          <a:ext cx="16642080" cy="6400800"/>
        </p:xfrm>
        <a:graphic>
          <a:graphicData uri="http://schemas.openxmlformats.org/drawingml/2006/table">
            <a:tbl>
              <a:tblPr firstRow="1" bandRow="1">
                <a:tableStyleId>{5C22544A-7EE6-4342-B048-85BDC9FD1C3A}</a:tableStyleId>
              </a:tblPr>
              <a:tblGrid>
                <a:gridCol w="640080"/>
                <a:gridCol w="6400800"/>
                <a:gridCol w="6400800"/>
                <a:gridCol w="3200400"/>
              </a:tblGrid>
              <a:tr h="457200">
                <a:tc>
                  <a:txBody>
                    <a:bodyPr wrap="square"/>
                    <a:lstStyle/>
                    <a:p>
                      <a:r>
                        <a:rPr sz="1490" b="1" i="0">
                          <a:solidFill>
                            <a:srgbClr val="FFFFFF"/>
                          </a:solidFill>
                          <a:latin typeface="Calibri (MS) Bold"/>
                        </a:rPr>
                        <a:t>No</a:t>
                      </a:r>
                    </a:p>
                  </a:txBody>
                  <a:tcPr marL="73152" marR="73152" marT="36576" marB="36576" anchor="ctr">
                    <a:solidFill>
                      <a:srgbClr val="0B5E6E"/>
                    </a:solidFill>
                  </a:tcPr>
                </a:tc>
                <a:tc>
                  <a:txBody>
                    <a:bodyPr wrap="square"/>
                    <a:lstStyle/>
                    <a:p>
                      <a:r>
                        <a:rPr sz="1490" b="1" i="0">
                          <a:solidFill>
                            <a:srgbClr val="FFFFFF"/>
                          </a:solidFill>
                          <a:latin typeface="Calibri (MS) Bold"/>
                        </a:rPr>
                        <a:t>Aktivitas karakteristik pariwisata (IRTS 2008)</a:t>
                      </a:r>
                    </a:p>
                  </a:txBody>
                  <a:tcPr marL="73152" marR="73152" marT="36576" marB="36576" anchor="ctr">
                    <a:solidFill>
                      <a:srgbClr val="0B5E6E"/>
                    </a:solidFill>
                  </a:tcPr>
                </a:tc>
                <a:tc>
                  <a:txBody>
                    <a:bodyPr wrap="square"/>
                    <a:lstStyle/>
                    <a:p>
                      <a:r>
                        <a:rPr sz="1490" b="1" i="0">
                          <a:solidFill>
                            <a:srgbClr val="FFFFFF"/>
                          </a:solidFill>
                          <a:latin typeface="Calibri (MS) Bold"/>
                        </a:rPr>
                        <a:t>KBLI 2020 (kategori · golongan pokok)</a:t>
                      </a:r>
                    </a:p>
                  </a:txBody>
                  <a:tcPr marL="73152" marR="73152" marT="36576" marB="36576" anchor="ctr">
                    <a:solidFill>
                      <a:srgbClr val="0B5E6E"/>
                    </a:solidFill>
                  </a:tcPr>
                </a:tc>
                <a:tc>
                  <a:txBody>
                    <a:bodyPr wrap="square"/>
                    <a:lstStyle/>
                    <a:p>
                      <a:r>
                        <a:rPr sz="1490" b="1" i="0">
                          <a:solidFill>
                            <a:srgbClr val="FFFFFF"/>
                          </a:solidFill>
                          <a:latin typeface="Calibri (MS) Bold"/>
                        </a:rPr>
                        <a:t>Dipakai di model</a:t>
                      </a:r>
                    </a:p>
                  </a:txBody>
                  <a:tcPr marL="73152" marR="73152" marT="36576" marB="36576" anchor="ctr">
                    <a:solidFill>
                      <a:srgbClr val="0B5E6E"/>
                    </a:solidFill>
                  </a:tcPr>
                </a:tc>
              </a:tr>
              <a:tr h="457200">
                <a:tc>
                  <a:txBody>
                    <a:bodyPr wrap="square"/>
                    <a:lstStyle/>
                    <a:p>
                      <a:r>
                        <a:rPr sz="1490" b="0" i="0">
                          <a:solidFill>
                            <a:srgbClr val="14313B"/>
                          </a:solidFill>
                          <a:latin typeface="Calibri (MS)"/>
                        </a:rPr>
                        <a:t>1</a:t>
                      </a:r>
                    </a:p>
                  </a:txBody>
                  <a:tcPr marL="73152" marR="73152" marT="36576" marB="36576" anchor="ctr">
                    <a:solidFill>
                      <a:srgbClr val="FFFFFF"/>
                    </a:solidFill>
                  </a:tcPr>
                </a:tc>
                <a:tc>
                  <a:txBody>
                    <a:bodyPr wrap="square"/>
                    <a:lstStyle/>
                    <a:p>
                      <a:r>
                        <a:rPr sz="1490" b="0" i="0">
                          <a:solidFill>
                            <a:srgbClr val="14313B"/>
                          </a:solidFill>
                          <a:latin typeface="Calibri (MS)"/>
                        </a:rPr>
                        <a:t>Akomodasi untuk pengunjung</a:t>
                      </a:r>
                    </a:p>
                  </a:txBody>
                  <a:tcPr marL="73152" marR="73152" marT="36576" marB="36576" anchor="ctr">
                    <a:solidFill>
                      <a:srgbClr val="FFFFFF"/>
                    </a:solidFill>
                  </a:tcPr>
                </a:tc>
                <a:tc>
                  <a:txBody>
                    <a:bodyPr wrap="square"/>
                    <a:lstStyle/>
                    <a:p>
                      <a:r>
                        <a:rPr sz="1490" b="0" i="0">
                          <a:solidFill>
                            <a:srgbClr val="14313B"/>
                          </a:solidFill>
                          <a:latin typeface="Calibri (MS)"/>
                        </a:rPr>
                        <a:t>I · 55 Penyediaan akomodasi</a:t>
                      </a:r>
                    </a:p>
                  </a:txBody>
                  <a:tcPr marL="73152" marR="73152" marT="36576" marB="36576" anchor="ctr">
                    <a:solidFill>
                      <a:srgbClr val="FFFFFF"/>
                    </a:solidFill>
                  </a:tcPr>
                </a:tc>
                <a:tc>
                  <a:txBody>
                    <a:bodyPr wrap="square"/>
                    <a:lstStyle/>
                    <a:p>
                      <a:r>
                        <a:rPr sz="1490" b="0" i="0">
                          <a:solidFill>
                            <a:srgbClr val="14313B"/>
                          </a:solidFill>
                          <a:latin typeface="Calibri (MS)"/>
                        </a:rPr>
                        <a:t>Ya</a:t>
                      </a:r>
                    </a:p>
                  </a:txBody>
                  <a:tcPr marL="73152" marR="73152" marT="36576" marB="36576" anchor="ctr">
                    <a:solidFill>
                      <a:srgbClr val="BDEFF3"/>
                    </a:solidFill>
                  </a:tcPr>
                </a:tc>
              </a:tr>
              <a:tr h="457200">
                <a:tc>
                  <a:txBody>
                    <a:bodyPr wrap="square"/>
                    <a:lstStyle/>
                    <a:p>
                      <a:r>
                        <a:rPr sz="1490" b="0" i="0">
                          <a:solidFill>
                            <a:srgbClr val="14313B"/>
                          </a:solidFill>
                          <a:latin typeface="Calibri (MS)"/>
                        </a:rPr>
                        <a:t>2</a:t>
                      </a:r>
                    </a:p>
                  </a:txBody>
                  <a:tcPr marL="73152" marR="73152" marT="36576" marB="36576" anchor="ctr">
                    <a:solidFill>
                      <a:srgbClr val="EAF8FA"/>
                    </a:solidFill>
                  </a:tcPr>
                </a:tc>
                <a:tc>
                  <a:txBody>
                    <a:bodyPr wrap="square"/>
                    <a:lstStyle/>
                    <a:p>
                      <a:r>
                        <a:rPr sz="1490" b="0" i="0">
                          <a:solidFill>
                            <a:srgbClr val="14313B"/>
                          </a:solidFill>
                          <a:latin typeface="Calibri (MS)"/>
                        </a:rPr>
                        <a:t>Penyediaan makanan dan minuman</a:t>
                      </a:r>
                    </a:p>
                  </a:txBody>
                  <a:tcPr marL="73152" marR="73152" marT="36576" marB="36576" anchor="ctr">
                    <a:solidFill>
                      <a:srgbClr val="EAF8FA"/>
                    </a:solidFill>
                  </a:tcPr>
                </a:tc>
                <a:tc>
                  <a:txBody>
                    <a:bodyPr wrap="square"/>
                    <a:lstStyle/>
                    <a:p>
                      <a:r>
                        <a:rPr sz="1490" b="0" i="0">
                          <a:solidFill>
                            <a:srgbClr val="14313B"/>
                          </a:solidFill>
                          <a:latin typeface="Calibri (MS)"/>
                        </a:rPr>
                        <a:t>I · 56 Penyediaan makanan dan minuman</a:t>
                      </a:r>
                    </a:p>
                  </a:txBody>
                  <a:tcPr marL="73152" marR="73152" marT="36576" marB="36576" anchor="ctr">
                    <a:solidFill>
                      <a:srgbClr val="EAF8FA"/>
                    </a:solidFill>
                  </a:tcPr>
                </a:tc>
                <a:tc>
                  <a:txBody>
                    <a:bodyPr wrap="square"/>
                    <a:lstStyle/>
                    <a:p>
                      <a:r>
                        <a:rPr sz="1490" b="0" i="0">
                          <a:solidFill>
                            <a:srgbClr val="14313B"/>
                          </a:solidFill>
                          <a:latin typeface="Calibri (MS)"/>
                        </a:rPr>
                        <a:t>Ya</a:t>
                      </a:r>
                    </a:p>
                  </a:txBody>
                  <a:tcPr marL="73152" marR="73152" marT="36576" marB="36576" anchor="ctr">
                    <a:solidFill>
                      <a:srgbClr val="BDEFF3"/>
                    </a:solidFill>
                  </a:tcPr>
                </a:tc>
              </a:tr>
              <a:tr h="457200">
                <a:tc>
                  <a:txBody>
                    <a:bodyPr wrap="square"/>
                    <a:lstStyle/>
                    <a:p>
                      <a:r>
                        <a:rPr sz="1490" b="0" i="0">
                          <a:solidFill>
                            <a:srgbClr val="14313B"/>
                          </a:solidFill>
                          <a:latin typeface="Calibri (MS)"/>
                        </a:rPr>
                        <a:t>3</a:t>
                      </a:r>
                    </a:p>
                  </a:txBody>
                  <a:tcPr marL="73152" marR="73152" marT="36576" marB="36576" anchor="ctr">
                    <a:solidFill>
                      <a:srgbClr val="FFFFFF"/>
                    </a:solidFill>
                  </a:tcPr>
                </a:tc>
                <a:tc>
                  <a:txBody>
                    <a:bodyPr wrap="square"/>
                    <a:lstStyle/>
                    <a:p>
                      <a:r>
                        <a:rPr sz="1490" b="0" i="0">
                          <a:solidFill>
                            <a:srgbClr val="14313B"/>
                          </a:solidFill>
                          <a:latin typeface="Calibri (MS)"/>
                        </a:rPr>
                        <a:t>Angkutan penumpang kereta api</a:t>
                      </a:r>
                    </a:p>
                  </a:txBody>
                  <a:tcPr marL="73152" marR="73152" marT="36576" marB="36576" anchor="ctr">
                    <a:solidFill>
                      <a:srgbClr val="FFFFFF"/>
                    </a:solidFill>
                  </a:tcPr>
                </a:tc>
                <a:tc>
                  <a:txBody>
                    <a:bodyPr wrap="square"/>
                    <a:lstStyle/>
                    <a:p>
                      <a:r>
                        <a:rPr sz="1490" b="0" i="0">
                          <a:solidFill>
                            <a:srgbClr val="14313B"/>
                          </a:solidFill>
                          <a:latin typeface="Calibri (MS)"/>
                        </a:rPr>
                        <a:t>H · 49</a:t>
                      </a:r>
                    </a:p>
                  </a:txBody>
                  <a:tcPr marL="73152" marR="73152" marT="36576" marB="36576" anchor="ctr">
                    <a:solidFill>
                      <a:srgbClr val="FFFFFF"/>
                    </a:solidFill>
                  </a:tcPr>
                </a:tc>
                <a:tc>
                  <a:txBody>
                    <a:bodyPr wrap="square"/>
                    <a:lstStyle/>
                    <a:p>
                      <a:r>
                        <a:rPr sz="1490" b="0" i="0">
                          <a:solidFill>
                            <a:srgbClr val="14313B"/>
                          </a:solidFill>
                          <a:latin typeface="Calibri (MS)"/>
                        </a:rPr>
                        <a:t>Tidak</a:t>
                      </a:r>
                    </a:p>
                  </a:txBody>
                  <a:tcPr marL="73152" marR="73152" marT="36576" marB="36576" anchor="ctr">
                    <a:solidFill>
                      <a:srgbClr val="FFFFFF"/>
                    </a:solidFill>
                  </a:tcPr>
                </a:tc>
              </a:tr>
              <a:tr h="457200">
                <a:tc>
                  <a:txBody>
                    <a:bodyPr wrap="square"/>
                    <a:lstStyle/>
                    <a:p>
                      <a:r>
                        <a:rPr sz="1490" b="0" i="0">
                          <a:solidFill>
                            <a:srgbClr val="14313B"/>
                          </a:solidFill>
                          <a:latin typeface="Calibri (MS)"/>
                        </a:rPr>
                        <a:t>4</a:t>
                      </a:r>
                    </a:p>
                  </a:txBody>
                  <a:tcPr marL="73152" marR="73152" marT="36576" marB="36576" anchor="ctr">
                    <a:solidFill>
                      <a:srgbClr val="EAF8FA"/>
                    </a:solidFill>
                  </a:tcPr>
                </a:tc>
                <a:tc>
                  <a:txBody>
                    <a:bodyPr wrap="square"/>
                    <a:lstStyle/>
                    <a:p>
                      <a:r>
                        <a:rPr sz="1490" b="0" i="0">
                          <a:solidFill>
                            <a:srgbClr val="14313B"/>
                          </a:solidFill>
                          <a:latin typeface="Calibri (MS)"/>
                        </a:rPr>
                        <a:t>Angkutan penumpang jalan</a:t>
                      </a:r>
                    </a:p>
                  </a:txBody>
                  <a:tcPr marL="73152" marR="73152" marT="36576" marB="36576" anchor="ctr">
                    <a:solidFill>
                      <a:srgbClr val="EAF8FA"/>
                    </a:solidFill>
                  </a:tcPr>
                </a:tc>
                <a:tc>
                  <a:txBody>
                    <a:bodyPr wrap="square"/>
                    <a:lstStyle/>
                    <a:p>
                      <a:r>
                        <a:rPr sz="1490" b="0" i="0">
                          <a:solidFill>
                            <a:srgbClr val="14313B"/>
                          </a:solidFill>
                          <a:latin typeface="Calibri (MS)"/>
                        </a:rPr>
                        <a:t>H · 49</a:t>
                      </a:r>
                    </a:p>
                  </a:txBody>
                  <a:tcPr marL="73152" marR="73152" marT="36576" marB="36576" anchor="ctr">
                    <a:solidFill>
                      <a:srgbClr val="EAF8FA"/>
                    </a:solidFill>
                  </a:tcPr>
                </a:tc>
                <a:tc>
                  <a:txBody>
                    <a:bodyPr wrap="square"/>
                    <a:lstStyle/>
                    <a:p>
                      <a:r>
                        <a:rPr sz="1490" b="0" i="0">
                          <a:solidFill>
                            <a:srgbClr val="14313B"/>
                          </a:solidFill>
                          <a:latin typeface="Calibri (MS)"/>
                        </a:rPr>
                        <a:t>Tidak</a:t>
                      </a:r>
                    </a:p>
                  </a:txBody>
                  <a:tcPr marL="73152" marR="73152" marT="36576" marB="36576" anchor="ctr">
                    <a:solidFill>
                      <a:srgbClr val="EAF8FA"/>
                    </a:solidFill>
                  </a:tcPr>
                </a:tc>
              </a:tr>
              <a:tr h="457200">
                <a:tc>
                  <a:txBody>
                    <a:bodyPr wrap="square"/>
                    <a:lstStyle/>
                    <a:p>
                      <a:r>
                        <a:rPr sz="1490" b="0" i="0">
                          <a:solidFill>
                            <a:srgbClr val="14313B"/>
                          </a:solidFill>
                          <a:latin typeface="Calibri (MS)"/>
                        </a:rPr>
                        <a:t>5</a:t>
                      </a:r>
                    </a:p>
                  </a:txBody>
                  <a:tcPr marL="73152" marR="73152" marT="36576" marB="36576" anchor="ctr">
                    <a:solidFill>
                      <a:srgbClr val="FFFFFF"/>
                    </a:solidFill>
                  </a:tcPr>
                </a:tc>
                <a:tc>
                  <a:txBody>
                    <a:bodyPr wrap="square"/>
                    <a:lstStyle/>
                    <a:p>
                      <a:r>
                        <a:rPr sz="1490" b="0" i="0">
                          <a:solidFill>
                            <a:srgbClr val="14313B"/>
                          </a:solidFill>
                          <a:latin typeface="Calibri (MS)"/>
                        </a:rPr>
                        <a:t>Angkutan penumpang air</a:t>
                      </a:r>
                    </a:p>
                  </a:txBody>
                  <a:tcPr marL="73152" marR="73152" marT="36576" marB="36576" anchor="ctr">
                    <a:solidFill>
                      <a:srgbClr val="FFFFFF"/>
                    </a:solidFill>
                  </a:tcPr>
                </a:tc>
                <a:tc>
                  <a:txBody>
                    <a:bodyPr wrap="square"/>
                    <a:lstStyle/>
                    <a:p>
                      <a:r>
                        <a:rPr sz="1490" b="0" i="0">
                          <a:solidFill>
                            <a:srgbClr val="14313B"/>
                          </a:solidFill>
                          <a:latin typeface="Calibri (MS)"/>
                        </a:rPr>
                        <a:t>H · 50</a:t>
                      </a:r>
                    </a:p>
                  </a:txBody>
                  <a:tcPr marL="73152" marR="73152" marT="36576" marB="36576" anchor="ctr">
                    <a:solidFill>
                      <a:srgbClr val="FFFFFF"/>
                    </a:solidFill>
                  </a:tcPr>
                </a:tc>
                <a:tc>
                  <a:txBody>
                    <a:bodyPr wrap="square"/>
                    <a:lstStyle/>
                    <a:p>
                      <a:r>
                        <a:rPr sz="1490" b="0" i="0">
                          <a:solidFill>
                            <a:srgbClr val="14313B"/>
                          </a:solidFill>
                          <a:latin typeface="Calibri (MS)"/>
                        </a:rPr>
                        <a:t>Tidak</a:t>
                      </a:r>
                    </a:p>
                  </a:txBody>
                  <a:tcPr marL="73152" marR="73152" marT="36576" marB="36576" anchor="ctr">
                    <a:solidFill>
                      <a:srgbClr val="FFFFFF"/>
                    </a:solidFill>
                  </a:tcPr>
                </a:tc>
              </a:tr>
              <a:tr h="457200">
                <a:tc>
                  <a:txBody>
                    <a:bodyPr wrap="square"/>
                    <a:lstStyle/>
                    <a:p>
                      <a:r>
                        <a:rPr sz="1490" b="0" i="0">
                          <a:solidFill>
                            <a:srgbClr val="14313B"/>
                          </a:solidFill>
                          <a:latin typeface="Calibri (MS)"/>
                        </a:rPr>
                        <a:t>6</a:t>
                      </a:r>
                    </a:p>
                  </a:txBody>
                  <a:tcPr marL="73152" marR="73152" marT="36576" marB="36576" anchor="ctr">
                    <a:solidFill>
                      <a:srgbClr val="EAF8FA"/>
                    </a:solidFill>
                  </a:tcPr>
                </a:tc>
                <a:tc>
                  <a:txBody>
                    <a:bodyPr wrap="square"/>
                    <a:lstStyle/>
                    <a:p>
                      <a:r>
                        <a:rPr sz="1490" b="0" i="0">
                          <a:solidFill>
                            <a:srgbClr val="14313B"/>
                          </a:solidFill>
                          <a:latin typeface="Calibri (MS)"/>
                        </a:rPr>
                        <a:t>Angkutan penumpang udara</a:t>
                      </a:r>
                    </a:p>
                  </a:txBody>
                  <a:tcPr marL="73152" marR="73152" marT="36576" marB="36576" anchor="ctr">
                    <a:solidFill>
                      <a:srgbClr val="EAF8FA"/>
                    </a:solidFill>
                  </a:tcPr>
                </a:tc>
                <a:tc>
                  <a:txBody>
                    <a:bodyPr wrap="square"/>
                    <a:lstStyle/>
                    <a:p>
                      <a:r>
                        <a:rPr sz="1490" b="0" i="0">
                          <a:solidFill>
                            <a:srgbClr val="14313B"/>
                          </a:solidFill>
                          <a:latin typeface="Calibri (MS)"/>
                        </a:rPr>
                        <a:t>H · 51</a:t>
                      </a:r>
                    </a:p>
                  </a:txBody>
                  <a:tcPr marL="73152" marR="73152" marT="36576" marB="36576" anchor="ctr">
                    <a:solidFill>
                      <a:srgbClr val="EAF8FA"/>
                    </a:solidFill>
                  </a:tcPr>
                </a:tc>
                <a:tc>
                  <a:txBody>
                    <a:bodyPr wrap="square"/>
                    <a:lstStyle/>
                    <a:p>
                      <a:r>
                        <a:rPr sz="1490" b="0" i="0">
                          <a:solidFill>
                            <a:srgbClr val="14313B"/>
                          </a:solidFill>
                          <a:latin typeface="Calibri (MS)"/>
                        </a:rPr>
                        <a:t>Tidak</a:t>
                      </a:r>
                    </a:p>
                  </a:txBody>
                  <a:tcPr marL="73152" marR="73152" marT="36576" marB="36576" anchor="ctr">
                    <a:solidFill>
                      <a:srgbClr val="EAF8FA"/>
                    </a:solidFill>
                  </a:tcPr>
                </a:tc>
              </a:tr>
              <a:tr h="457200">
                <a:tc>
                  <a:txBody>
                    <a:bodyPr wrap="square"/>
                    <a:lstStyle/>
                    <a:p>
                      <a:r>
                        <a:rPr sz="1490" b="0" i="0">
                          <a:solidFill>
                            <a:srgbClr val="14313B"/>
                          </a:solidFill>
                          <a:latin typeface="Calibri (MS)"/>
                        </a:rPr>
                        <a:t>7</a:t>
                      </a:r>
                    </a:p>
                  </a:txBody>
                  <a:tcPr marL="73152" marR="73152" marT="36576" marB="36576" anchor="ctr">
                    <a:solidFill>
                      <a:srgbClr val="FFFFFF"/>
                    </a:solidFill>
                  </a:tcPr>
                </a:tc>
                <a:tc>
                  <a:txBody>
                    <a:bodyPr wrap="square"/>
                    <a:lstStyle/>
                    <a:p>
                      <a:r>
                        <a:rPr sz="1490" b="0" i="0">
                          <a:solidFill>
                            <a:srgbClr val="14313B"/>
                          </a:solidFill>
                          <a:latin typeface="Calibri (MS)"/>
                        </a:rPr>
                        <a:t>Penyewaan alat transportasi</a:t>
                      </a:r>
                    </a:p>
                  </a:txBody>
                  <a:tcPr marL="73152" marR="73152" marT="36576" marB="36576" anchor="ctr">
                    <a:solidFill>
                      <a:srgbClr val="FFFFFF"/>
                    </a:solidFill>
                  </a:tcPr>
                </a:tc>
                <a:tc>
                  <a:txBody>
                    <a:bodyPr wrap="square"/>
                    <a:lstStyle/>
                    <a:p>
                      <a:r>
                        <a:rPr sz="1490" b="0" i="0">
                          <a:solidFill>
                            <a:srgbClr val="14313B"/>
                          </a:solidFill>
                          <a:latin typeface="Calibri (MS)"/>
                        </a:rPr>
                        <a:t>N · 77</a:t>
                      </a:r>
                    </a:p>
                  </a:txBody>
                  <a:tcPr marL="73152" marR="73152" marT="36576" marB="36576" anchor="ctr">
                    <a:solidFill>
                      <a:srgbClr val="FFFFFF"/>
                    </a:solidFill>
                  </a:tcPr>
                </a:tc>
                <a:tc>
                  <a:txBody>
                    <a:bodyPr wrap="square"/>
                    <a:lstStyle/>
                    <a:p>
                      <a:r>
                        <a:rPr sz="1490" b="0" i="0">
                          <a:solidFill>
                            <a:srgbClr val="14313B"/>
                          </a:solidFill>
                          <a:latin typeface="Calibri (MS)"/>
                        </a:rPr>
                        <a:t>Tidak</a:t>
                      </a:r>
                    </a:p>
                  </a:txBody>
                  <a:tcPr marL="73152" marR="73152" marT="36576" marB="36576" anchor="ctr">
                    <a:solidFill>
                      <a:srgbClr val="FFFFFF"/>
                    </a:solidFill>
                  </a:tcPr>
                </a:tc>
              </a:tr>
              <a:tr h="457200">
                <a:tc>
                  <a:txBody>
                    <a:bodyPr wrap="square"/>
                    <a:lstStyle/>
                    <a:p>
                      <a:r>
                        <a:rPr sz="1490" b="0" i="0">
                          <a:solidFill>
                            <a:srgbClr val="14313B"/>
                          </a:solidFill>
                          <a:latin typeface="Calibri (MS)"/>
                        </a:rPr>
                        <a:t>8</a:t>
                      </a:r>
                    </a:p>
                  </a:txBody>
                  <a:tcPr marL="73152" marR="73152" marT="36576" marB="36576" anchor="ctr">
                    <a:solidFill>
                      <a:srgbClr val="EAF8FA"/>
                    </a:solidFill>
                  </a:tcPr>
                </a:tc>
                <a:tc>
                  <a:txBody>
                    <a:bodyPr wrap="square"/>
                    <a:lstStyle/>
                    <a:p>
                      <a:r>
                        <a:rPr sz="1490" b="0" i="0">
                          <a:solidFill>
                            <a:srgbClr val="14313B"/>
                          </a:solidFill>
                          <a:latin typeface="Calibri (MS)"/>
                        </a:rPr>
                        <a:t>Agen perjalanan dan jasa reservasi</a:t>
                      </a:r>
                    </a:p>
                  </a:txBody>
                  <a:tcPr marL="73152" marR="73152" marT="36576" marB="36576" anchor="ctr">
                    <a:solidFill>
                      <a:srgbClr val="EAF8FA"/>
                    </a:solidFill>
                  </a:tcPr>
                </a:tc>
                <a:tc>
                  <a:txBody>
                    <a:bodyPr wrap="square"/>
                    <a:lstStyle/>
                    <a:p>
                      <a:r>
                        <a:rPr sz="1490" b="0" i="0">
                          <a:solidFill>
                            <a:srgbClr val="14313B"/>
                          </a:solidFill>
                          <a:latin typeface="Calibri (MS)"/>
                        </a:rPr>
                        <a:t>N · 79</a:t>
                      </a:r>
                    </a:p>
                  </a:txBody>
                  <a:tcPr marL="73152" marR="73152" marT="36576" marB="36576" anchor="ctr">
                    <a:solidFill>
                      <a:srgbClr val="EAF8FA"/>
                    </a:solidFill>
                  </a:tcPr>
                </a:tc>
                <a:tc>
                  <a:txBody>
                    <a:bodyPr wrap="square"/>
                    <a:lstStyle/>
                    <a:p>
                      <a:r>
                        <a:rPr sz="1490" b="0" i="0">
                          <a:solidFill>
                            <a:srgbClr val="14313B"/>
                          </a:solidFill>
                          <a:latin typeface="Calibri (MS)"/>
                        </a:rPr>
                        <a:t>Tidak</a:t>
                      </a:r>
                    </a:p>
                  </a:txBody>
                  <a:tcPr marL="73152" marR="73152" marT="36576" marB="36576" anchor="ctr">
                    <a:solidFill>
                      <a:srgbClr val="EAF8FA"/>
                    </a:solidFill>
                  </a:tcPr>
                </a:tc>
              </a:tr>
              <a:tr h="457200">
                <a:tc>
                  <a:txBody>
                    <a:bodyPr wrap="square"/>
                    <a:lstStyle/>
                    <a:p>
                      <a:r>
                        <a:rPr sz="1490" b="0" i="0">
                          <a:solidFill>
                            <a:srgbClr val="14313B"/>
                          </a:solidFill>
                          <a:latin typeface="Calibri (MS)"/>
                        </a:rPr>
                        <a:t>9</a:t>
                      </a:r>
                    </a:p>
                  </a:txBody>
                  <a:tcPr marL="73152" marR="73152" marT="36576" marB="36576" anchor="ctr">
                    <a:solidFill>
                      <a:srgbClr val="FFFFFF"/>
                    </a:solidFill>
                  </a:tcPr>
                </a:tc>
                <a:tc>
                  <a:txBody>
                    <a:bodyPr wrap="square"/>
                    <a:lstStyle/>
                    <a:p>
                      <a:r>
                        <a:rPr sz="1490" b="0" i="0">
                          <a:solidFill>
                            <a:srgbClr val="14313B"/>
                          </a:solidFill>
                          <a:latin typeface="Calibri (MS)"/>
                        </a:rPr>
                        <a:t>Aktivitas budaya</a:t>
                      </a:r>
                    </a:p>
                  </a:txBody>
                  <a:tcPr marL="73152" marR="73152" marT="36576" marB="36576" anchor="ctr">
                    <a:solidFill>
                      <a:srgbClr val="FFFFFF"/>
                    </a:solidFill>
                  </a:tcPr>
                </a:tc>
                <a:tc>
                  <a:txBody>
                    <a:bodyPr wrap="square"/>
                    <a:lstStyle/>
                    <a:p>
                      <a:r>
                        <a:rPr sz="1490" b="0" i="0">
                          <a:solidFill>
                            <a:srgbClr val="14313B"/>
                          </a:solidFill>
                          <a:latin typeface="Calibri (MS)"/>
                        </a:rPr>
                        <a:t>R · 90 Kesenian, 91 Perpustakaan, museum, budaya</a:t>
                      </a:r>
                    </a:p>
                  </a:txBody>
                  <a:tcPr marL="73152" marR="73152" marT="36576" marB="36576" anchor="ctr">
                    <a:solidFill>
                      <a:srgbClr val="FFFFFF"/>
                    </a:solidFill>
                  </a:tcPr>
                </a:tc>
                <a:tc>
                  <a:txBody>
                    <a:bodyPr wrap="square"/>
                    <a:lstStyle/>
                    <a:p>
                      <a:r>
                        <a:rPr sz="1490" b="0" i="0">
                          <a:solidFill>
                            <a:srgbClr val="14313B"/>
                          </a:solidFill>
                          <a:latin typeface="Calibri (MS)"/>
                        </a:rPr>
                        <a:t>Ya (ODTW: 91)</a:t>
                      </a:r>
                    </a:p>
                  </a:txBody>
                  <a:tcPr marL="73152" marR="73152" marT="36576" marB="36576" anchor="ctr">
                    <a:solidFill>
                      <a:srgbClr val="BDEFF3"/>
                    </a:solidFill>
                  </a:tcPr>
                </a:tc>
              </a:tr>
              <a:tr h="457200">
                <a:tc>
                  <a:txBody>
                    <a:bodyPr wrap="square"/>
                    <a:lstStyle/>
                    <a:p>
                      <a:r>
                        <a:rPr sz="1490" b="0" i="0">
                          <a:solidFill>
                            <a:srgbClr val="14313B"/>
                          </a:solidFill>
                          <a:latin typeface="Calibri (MS)"/>
                        </a:rPr>
                        <a:t>10</a:t>
                      </a:r>
                    </a:p>
                  </a:txBody>
                  <a:tcPr marL="73152" marR="73152" marT="36576" marB="36576" anchor="ctr">
                    <a:solidFill>
                      <a:srgbClr val="EAF8FA"/>
                    </a:solidFill>
                  </a:tcPr>
                </a:tc>
                <a:tc>
                  <a:txBody>
                    <a:bodyPr wrap="square"/>
                    <a:lstStyle/>
                    <a:p>
                      <a:r>
                        <a:rPr sz="1490" b="0" i="0">
                          <a:solidFill>
                            <a:srgbClr val="14313B"/>
                          </a:solidFill>
                          <a:latin typeface="Calibri (MS)"/>
                        </a:rPr>
                        <a:t>Aktivitas olahraga dan rekreasi</a:t>
                      </a:r>
                    </a:p>
                  </a:txBody>
                  <a:tcPr marL="73152" marR="73152" marT="36576" marB="36576" anchor="ctr">
                    <a:solidFill>
                      <a:srgbClr val="EAF8FA"/>
                    </a:solidFill>
                  </a:tcPr>
                </a:tc>
                <a:tc>
                  <a:txBody>
                    <a:bodyPr wrap="square"/>
                    <a:lstStyle/>
                    <a:p>
                      <a:r>
                        <a:rPr sz="1490" b="0" i="0">
                          <a:solidFill>
                            <a:srgbClr val="14313B"/>
                          </a:solidFill>
                          <a:latin typeface="Calibri (MS)"/>
                        </a:rPr>
                        <a:t>R · 93 Olahraga dan rekreasi lainnya</a:t>
                      </a:r>
                    </a:p>
                  </a:txBody>
                  <a:tcPr marL="73152" marR="73152" marT="36576" marB="36576" anchor="ctr">
                    <a:solidFill>
                      <a:srgbClr val="EAF8FA"/>
                    </a:solidFill>
                  </a:tcPr>
                </a:tc>
                <a:tc>
                  <a:txBody>
                    <a:bodyPr wrap="square"/>
                    <a:lstStyle/>
                    <a:p>
                      <a:r>
                        <a:rPr sz="1490" b="0" i="0">
                          <a:solidFill>
                            <a:srgbClr val="14313B"/>
                          </a:solidFill>
                          <a:latin typeface="Calibri (MS)"/>
                        </a:rPr>
                        <a:t>Ya (ODTW: 93)</a:t>
                      </a:r>
                    </a:p>
                  </a:txBody>
                  <a:tcPr marL="73152" marR="73152" marT="36576" marB="36576" anchor="ctr">
                    <a:solidFill>
                      <a:srgbClr val="BDEFF3"/>
                    </a:solidFill>
                  </a:tcPr>
                </a:tc>
              </a:tr>
              <a:tr h="457200">
                <a:tc>
                  <a:txBody>
                    <a:bodyPr wrap="square"/>
                    <a:lstStyle/>
                    <a:p>
                      <a:r>
                        <a:rPr sz="1490" b="0" i="0">
                          <a:solidFill>
                            <a:srgbClr val="14313B"/>
                          </a:solidFill>
                          <a:latin typeface="Calibri (MS)"/>
                        </a:rPr>
                        <a:t>11</a:t>
                      </a:r>
                    </a:p>
                  </a:txBody>
                  <a:tcPr marL="73152" marR="73152" marT="36576" marB="36576" anchor="ctr">
                    <a:solidFill>
                      <a:srgbClr val="FFFFFF"/>
                    </a:solidFill>
                  </a:tcPr>
                </a:tc>
                <a:tc>
                  <a:txBody>
                    <a:bodyPr wrap="square"/>
                    <a:lstStyle/>
                    <a:p>
                      <a:r>
                        <a:rPr sz="1490" b="0" i="0">
                          <a:solidFill>
                            <a:srgbClr val="14313B"/>
                          </a:solidFill>
                          <a:latin typeface="Calibri (MS)"/>
                        </a:rPr>
                        <a:t>Perdagangan eceran barang khas pariwisata</a:t>
                      </a:r>
                    </a:p>
                  </a:txBody>
                  <a:tcPr marL="73152" marR="73152" marT="36576" marB="36576" anchor="ctr">
                    <a:solidFill>
                      <a:srgbClr val="FFFFFF"/>
                    </a:solidFill>
                  </a:tcPr>
                </a:tc>
                <a:tc>
                  <a:txBody>
                    <a:bodyPr wrap="square"/>
                    <a:lstStyle/>
                    <a:p>
                      <a:r>
                        <a:rPr sz="1490" b="0" i="0">
                          <a:solidFill>
                            <a:srgbClr val="14313B"/>
                          </a:solidFill>
                          <a:latin typeface="Calibri (MS)"/>
                        </a:rPr>
                        <a:t>G · 47</a:t>
                      </a:r>
                    </a:p>
                  </a:txBody>
                  <a:tcPr marL="73152" marR="73152" marT="36576" marB="36576" anchor="ctr">
                    <a:solidFill>
                      <a:srgbClr val="FFFFFF"/>
                    </a:solidFill>
                  </a:tcPr>
                </a:tc>
                <a:tc>
                  <a:txBody>
                    <a:bodyPr wrap="square"/>
                    <a:lstStyle/>
                    <a:p>
                      <a:r>
                        <a:rPr sz="1490" b="0" i="0">
                          <a:solidFill>
                            <a:srgbClr val="14313B"/>
                          </a:solidFill>
                          <a:latin typeface="Calibri (MS)"/>
                        </a:rPr>
                        <a:t>Tidak</a:t>
                      </a:r>
                    </a:p>
                  </a:txBody>
                  <a:tcPr marL="73152" marR="73152" marT="36576" marB="36576" anchor="ctr">
                    <a:solidFill>
                      <a:srgbClr val="FFFFFF"/>
                    </a:solidFill>
                  </a:tcPr>
                </a:tc>
              </a:tr>
              <a:tr h="457200">
                <a:tc>
                  <a:txBody>
                    <a:bodyPr wrap="square"/>
                    <a:lstStyle/>
                    <a:p>
                      <a:r>
                        <a:rPr sz="1490" b="0" i="0">
                          <a:solidFill>
                            <a:srgbClr val="14313B"/>
                          </a:solidFill>
                          <a:latin typeface="Calibri (MS)"/>
                        </a:rPr>
                        <a:t>12</a:t>
                      </a:r>
                    </a:p>
                  </a:txBody>
                  <a:tcPr marL="73152" marR="73152" marT="36576" marB="36576" anchor="ctr">
                    <a:solidFill>
                      <a:srgbClr val="EAF8FA"/>
                    </a:solidFill>
                  </a:tcPr>
                </a:tc>
                <a:tc>
                  <a:txBody>
                    <a:bodyPr wrap="square"/>
                    <a:lstStyle/>
                    <a:p>
                      <a:r>
                        <a:rPr sz="1490" b="0" i="0">
                          <a:solidFill>
                            <a:srgbClr val="14313B"/>
                          </a:solidFill>
                          <a:latin typeface="Calibri (MS)"/>
                        </a:rPr>
                        <a:t>Aktivitas khas pariwisata lainnya (ditetapkan tiap negara)</a:t>
                      </a:r>
                    </a:p>
                  </a:txBody>
                  <a:tcPr marL="73152" marR="73152" marT="36576" marB="36576" anchor="ctr">
                    <a:solidFill>
                      <a:srgbClr val="EAF8FA"/>
                    </a:solidFill>
                  </a:tcPr>
                </a:tc>
                <a:tc>
                  <a:txBody>
                    <a:bodyPr wrap="square"/>
                    <a:lstStyle/>
                    <a:p>
                      <a:r>
                        <a:rPr sz="1490" b="0" i="0">
                          <a:solidFill>
                            <a:srgbClr val="14313B"/>
                          </a:solidFill>
                          <a:latin typeface="Calibri (MS)"/>
                        </a:rPr>
                        <a:t>Sesuai penetapan negara</a:t>
                      </a:r>
                    </a:p>
                  </a:txBody>
                  <a:tcPr marL="73152" marR="73152" marT="36576" marB="36576" anchor="ctr">
                    <a:solidFill>
                      <a:srgbClr val="EAF8FA"/>
                    </a:solidFill>
                  </a:tcPr>
                </a:tc>
                <a:tc>
                  <a:txBody>
                    <a:bodyPr wrap="square"/>
                    <a:lstStyle/>
                    <a:p>
                      <a:r>
                        <a:rPr sz="1490" b="0" i="0">
                          <a:solidFill>
                            <a:srgbClr val="14313B"/>
                          </a:solidFill>
                          <a:latin typeface="Calibri (MS)"/>
                        </a:rPr>
                        <a:t>Tidak</a:t>
                      </a:r>
                    </a:p>
                  </a:txBody>
                  <a:tcPr marL="73152" marR="73152" marT="36576" marB="36576" anchor="ctr">
                    <a:solidFill>
                      <a:srgbClr val="EAF8FA"/>
                    </a:solidFill>
                  </a:tcPr>
                </a:tc>
              </a:tr>
              <a:tr h="457200">
                <a:tc>
                  <a:txBody>
                    <a:bodyPr wrap="square"/>
                    <a:lstStyle/>
                    <a:p>
                      <a:r>
                        <a:rPr sz="1490" b="0" i="0">
                          <a:solidFill>
                            <a:srgbClr val="14313B"/>
                          </a:solidFill>
                          <a:latin typeface="Calibri (MS)"/>
                        </a:rPr>
                        <a:t>—</a:t>
                      </a:r>
                    </a:p>
                  </a:txBody>
                  <a:tcPr marL="73152" marR="73152" marT="36576" marB="36576" anchor="ctr">
                    <a:solidFill>
                      <a:srgbClr val="FFFFFF"/>
                    </a:solidFill>
                  </a:tcPr>
                </a:tc>
                <a:tc>
                  <a:txBody>
                    <a:bodyPr wrap="square"/>
                    <a:lstStyle/>
                    <a:p>
                      <a:r>
                        <a:rPr sz="1490" b="0" i="0">
                          <a:solidFill>
                            <a:srgbClr val="14313B"/>
                          </a:solidFill>
                          <a:latin typeface="Calibri (MS)"/>
                        </a:rPr>
                        <a:t>Bukan kategori IRTS: jasa lainnya</a:t>
                      </a:r>
                    </a:p>
                  </a:txBody>
                  <a:tcPr marL="73152" marR="73152" marT="36576" marB="36576" anchor="ctr">
                    <a:solidFill>
                      <a:srgbClr val="FFFFFF"/>
                    </a:solidFill>
                  </a:tcPr>
                </a:tc>
                <a:tc>
                  <a:txBody>
                    <a:bodyPr wrap="square"/>
                    <a:lstStyle/>
                    <a:p>
                      <a:r>
                        <a:rPr sz="1490" b="0" i="0">
                          <a:solidFill>
                            <a:srgbClr val="14313B"/>
                          </a:solidFill>
                          <a:latin typeface="Calibri (MS)"/>
                        </a:rPr>
                        <a:t>S, T, U</a:t>
                      </a:r>
                    </a:p>
                  </a:txBody>
                  <a:tcPr marL="73152" marR="73152" marT="36576" marB="36576" anchor="ctr">
                    <a:solidFill>
                      <a:srgbClr val="FFFFFF"/>
                    </a:solidFill>
                  </a:tcPr>
                </a:tc>
                <a:tc>
                  <a:txBody>
                    <a:bodyPr wrap="square"/>
                    <a:lstStyle/>
                    <a:p>
                      <a:r>
                        <a:rPr sz="1490" b="0" i="0">
                          <a:solidFill>
                            <a:srgbClr val="14313B"/>
                          </a:solidFill>
                          <a:latin typeface="Calibri (MS)"/>
                        </a:rPr>
                        <a:t>Ikut terhitung*</a:t>
                      </a:r>
                    </a:p>
                  </a:txBody>
                  <a:tcPr marL="73152" marR="73152" marT="36576" marB="36576" anchor="ctr">
                    <a:solidFill>
                      <a:srgbClr val="FFF1BF"/>
                    </a:solidFill>
                  </a:tcPr>
                </a:tc>
              </a:tr>
            </a:tbl>
          </a:graphicData>
        </a:graphic>
      </p:graphicFrame>
      <p:sp>
        <p:nvSpPr>
          <p:cNvPr id="23" name="Rounded Rectangle 22"/>
          <p:cNvSpPr/>
          <p:nvPr/>
        </p:nvSpPr>
        <p:spPr>
          <a:xfrm>
            <a:off x="822960" y="8321040"/>
            <a:ext cx="16642080" cy="8686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490" b="1" i="0">
                <a:solidFill>
                  <a:srgbClr val="0B5E6E"/>
                </a:solidFill>
                <a:latin typeface="Calibri (MS) Bold"/>
              </a:rPr>
              <a:t>Cakupan model  </a:t>
            </a:r>
            <a:r>
              <a:rPr sz="1440" b="0" i="0">
                <a:solidFill>
                  <a:srgbClr val="14313B"/>
                </a:solidFill>
                <a:latin typeface="Calibri (MS)"/>
              </a:rPr>
              <a:t>PDRB dan tenaga kerja pariwisata memakai KBLI kategori I dan R, S, T, U; jumlah ODTW dikodekan pada golongan 91 dan 93. *S, T, U ikut karena BPS menyajikan R, S, T, U dalam satu kelompok, sehingga nilai sektor pariwisata cenderung lebih besar.</a:t>
            </a:r>
          </a:p>
        </p:txBody>
      </p:sp>
      <p:sp>
        <p:nvSpPr>
          <p:cNvPr id="24" name="TextBox 23"/>
          <p:cNvSpPr txBox="1"/>
          <p:nvPr/>
        </p:nvSpPr>
        <p:spPr>
          <a:xfrm>
            <a:off x="822960" y="928116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UN &amp; UNWTO (2008), IRTS 2008 (daftar aktivitas karakteristik pariwisata); BPS, KBLI 2020; Buku Subbab 2.1 dan 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DAHXA7-drhs</dc:identifier>
  <dcterms:modified xsi:type="dcterms:W3CDTF">2011-08-01T06:04:30Z</dcterms:modified>
  <cp:revision>1</cp:revision>
  <dc:title>[Lengkap] PPT SIDANG FINAL</dc:title>
</cp:coreProperties>
</file>