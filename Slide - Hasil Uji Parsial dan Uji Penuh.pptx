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4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00" r:id="rId50"/>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50"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Slide ini membandingkan hasil uji parsial dan uji penuh. Pada uji parsial, saat input dari subsistem lain diganti data aktual, setiap subsistem bisa mengikuti pola datanya, dengan MAPE seluruhnya di bawah 20 persen. Satu-satunya yang gagal uji tren adalah subsistem wisatawan: simulasi tumbuh sekitar 6,4 persen per tahun, sedangkan data sekitar 11,7 persen, dan error-nya sistematis. P1b sebagai uji kekokohan P1 memberi pola yang serupa. Pada uji penuh, DC hotel, ODTW, dan tenaga kerja naik tajam. Ini bukan karena struktur subsistemnya salah, tetapi karena wisatawan yang tumbuh lebih lambat membuat pengeluaran, PDRB, dan investasi ikut rendah, sehingga hotel dan ODTW yang dibangun lebih sedikit. MAPE uji penuh tetap wajar, dan U1 dominan pada enam dari sembilan variabel, artinya error berasal dari satu sumber bersama. Sumber inilah yang ditelusuri lewat kalibrasi.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Parsial dan Uji Penuh</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Tiap subsistem cukup baik saat diuji sendiri; saat dijalankan bersama, error dari subsistem wisatawan merambat ke subsistem lain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sp>
        <p:nvSpPr>
          <p:cNvPr id="70" name="Rounded Rectangle 69"/>
          <p:cNvSpPr/>
          <p:nvPr/>
        </p:nvSpPr>
        <p:spPr>
          <a:xfrm>
            <a:off x="2971800" y="1783080"/>
            <a:ext cx="4343400" cy="384048"/>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260" b="1" i="0">
                <a:solidFill>
                  <a:srgbClr val="FFFFFF"/>
                </a:solidFill>
                <a:latin typeface="Calibri (MS) Bold"/>
              </a:rPr>
              <a:t>Uji parsial · 2016–2025 (tanpa 2020–2021)</a:t>
            </a:r>
          </a:p>
        </p:txBody>
      </p:sp>
      <p:sp>
        <p:nvSpPr>
          <p:cNvPr id="71" name="Rounded Rectangle 70"/>
          <p:cNvSpPr/>
          <p:nvPr/>
        </p:nvSpPr>
        <p:spPr>
          <a:xfrm>
            <a:off x="7360920" y="1783080"/>
            <a:ext cx="4709160" cy="384048"/>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260" b="1" i="0">
                <a:solidFill>
                  <a:srgbClr val="FFFFFF"/>
                </a:solidFill>
                <a:latin typeface="Calibri (MS) Bold"/>
              </a:rPr>
              <a:t>Uji penuh · 2019–2025 (termasuk 2020–2021)</a:t>
            </a:r>
          </a:p>
        </p:txBody>
      </p:sp>
      <p:graphicFrame>
        <p:nvGraphicFramePr>
          <p:cNvPr id="72" name="Table 71"/>
          <p:cNvGraphicFramePr>
            <a:graphicFrameLocks noGrp="1"/>
          </p:cNvGraphicFramePr>
          <p:nvPr/>
        </p:nvGraphicFramePr>
        <p:xfrm>
          <a:off x="822960" y="2212848"/>
          <a:ext cx="11247116" cy="4572000"/>
        </p:xfrm>
        <a:graphic>
          <a:graphicData uri="http://schemas.openxmlformats.org/drawingml/2006/table">
            <a:tbl>
              <a:tblPr firstRow="1" bandRow="1">
                <a:tableStyleId>{5C22544A-7EE6-4342-B048-85BDC9FD1C3A}</a:tableStyleId>
              </a:tblPr>
              <a:tblGrid>
                <a:gridCol w="2349398"/>
                <a:gridCol w="549859"/>
                <a:gridCol w="1349654"/>
                <a:gridCol w="849782"/>
                <a:gridCol w="949756"/>
                <a:gridCol w="1049731"/>
                <a:gridCol w="1499616"/>
                <a:gridCol w="849782"/>
                <a:gridCol w="949756"/>
                <a:gridCol w="849782"/>
              </a:tblGrid>
              <a:tr h="457200">
                <a:tc>
                  <a:txBody>
                    <a:bodyPr wrap="square"/>
                    <a:lstStyle/>
                    <a:p>
                      <a:r>
                        <a:rPr sz="1090" b="1" i="0">
                          <a:solidFill>
                            <a:srgbClr val="FFFFFF"/>
                          </a:solidFill>
                          <a:latin typeface="Calibri (MS) Bold"/>
                        </a:rPr>
                        <a:t>Variabel</a:t>
                      </a:r>
                    </a:p>
                  </a:txBody>
                  <a:tcPr marL="73152" marR="73152" marT="36576" marB="36576" anchor="ctr">
                    <a:solidFill>
                      <a:srgbClr val="0B5E6E"/>
                    </a:solidFill>
                  </a:tcPr>
                </a:tc>
                <a:tc>
                  <a:txBody>
                    <a:bodyPr wrap="square"/>
                    <a:lstStyle/>
                    <a:p>
                      <a:pPr algn="ctr"/>
                      <a:r>
                        <a:rPr sz="1090" b="1" i="0">
                          <a:solidFill>
                            <a:srgbClr val="FFFFFF"/>
                          </a:solidFill>
                          <a:latin typeface="Calibri (MS) Bold"/>
                        </a:rPr>
                        <a:t>Uji</a:t>
                      </a:r>
                    </a:p>
                  </a:txBody>
                  <a:tcPr marL="73152" marR="73152" marT="36576" marB="36576" anchor="ctr">
                    <a:solidFill>
                      <a:srgbClr val="2A9DB0"/>
                    </a:solidFill>
                  </a:tcPr>
                </a:tc>
                <a:tc>
                  <a:txBody>
                    <a:bodyPr wrap="square"/>
                    <a:lstStyle/>
                    <a:p>
                      <a:pPr algn="ctr"/>
                      <a:r>
                        <a:rPr sz="1090" b="1" i="0">
                          <a:solidFill>
                            <a:srgbClr val="FFFFFF"/>
                          </a:solidFill>
                          <a:latin typeface="Calibri (MS) Bold"/>
                        </a:rPr>
                        <a:t>Tren</a:t>
                      </a:r>
                    </a:p>
                  </a:txBody>
                  <a:tcPr marL="73152" marR="73152" marT="36576" marB="36576" anchor="ctr">
                    <a:solidFill>
                      <a:srgbClr val="2A9DB0"/>
                    </a:solidFill>
                  </a:tcPr>
                </a:tc>
                <a:tc>
                  <a:txBody>
                    <a:bodyPr wrap="square"/>
                    <a:lstStyle/>
                    <a:p>
                      <a:pPr algn="ctr"/>
                      <a:r>
                        <a:rPr sz="1090" b="1" i="0">
                          <a:solidFill>
                            <a:srgbClr val="FFFFFF"/>
                          </a:solidFill>
                          <a:latin typeface="Calibri (MS) Bold"/>
                        </a:rPr>
                        <a:t>DC</a:t>
                      </a:r>
                    </a:p>
                  </a:txBody>
                  <a:tcPr marL="73152" marR="73152" marT="36576" marB="36576" anchor="ctr">
                    <a:solidFill>
                      <a:srgbClr val="2A9DB0"/>
                    </a:solidFill>
                  </a:tcPr>
                </a:tc>
                <a:tc>
                  <a:txBody>
                    <a:bodyPr wrap="square"/>
                    <a:lstStyle/>
                    <a:p>
                      <a:pPr algn="ctr"/>
                      <a:r>
                        <a:rPr sz="1090" b="1" i="0">
                          <a:solidFill>
                            <a:srgbClr val="FFFFFF"/>
                          </a:solidFill>
                          <a:latin typeface="Calibri (MS) Bold"/>
                        </a:rPr>
                        <a:t>MAPE</a:t>
                      </a:r>
                    </a:p>
                  </a:txBody>
                  <a:tcPr marL="73152" marR="73152" marT="36576" marB="36576" anchor="ctr">
                    <a:solidFill>
                      <a:srgbClr val="2A9DB0"/>
                    </a:solidFill>
                  </a:tcPr>
                </a:tc>
                <a:tc>
                  <a:txBody>
                    <a:bodyPr wrap="square"/>
                    <a:lstStyle/>
                    <a:p>
                      <a:pPr algn="ctr"/>
                      <a:r>
                        <a:rPr sz="1090" b="1" i="0">
                          <a:solidFill>
                            <a:srgbClr val="FFFFFF"/>
                          </a:solidFill>
                          <a:latin typeface="Calibri (MS) Bold"/>
                        </a:rPr>
                        <a:t>Dom.</a:t>
                      </a:r>
                    </a:p>
                  </a:txBody>
                  <a:tcPr marL="73152" marR="73152" marT="36576" marB="36576" anchor="ctr">
                    <a:solidFill>
                      <a:srgbClr val="2A9DB0"/>
                    </a:solidFill>
                  </a:tcPr>
                </a:tc>
                <a:tc>
                  <a:txBody>
                    <a:bodyPr wrap="square"/>
                    <a:lstStyle/>
                    <a:p>
                      <a:pPr algn="ctr"/>
                      <a:r>
                        <a:rPr sz="1090" b="1" i="0">
                          <a:solidFill>
                            <a:srgbClr val="FFFFFF"/>
                          </a:solidFill>
                          <a:latin typeface="Calibri (MS) Bold"/>
                        </a:rPr>
                        <a:t>Tren</a:t>
                      </a:r>
                    </a:p>
                  </a:txBody>
                  <a:tcPr marL="73152" marR="73152" marT="36576" marB="36576" anchor="ctr">
                    <a:solidFill>
                      <a:srgbClr val="0B5E6E"/>
                    </a:solidFill>
                  </a:tcPr>
                </a:tc>
                <a:tc>
                  <a:txBody>
                    <a:bodyPr wrap="square"/>
                    <a:lstStyle/>
                    <a:p>
                      <a:pPr algn="ctr"/>
                      <a:r>
                        <a:rPr sz="1090" b="1" i="0">
                          <a:solidFill>
                            <a:srgbClr val="FFFFFF"/>
                          </a:solidFill>
                          <a:latin typeface="Calibri (MS) Bold"/>
                        </a:rPr>
                        <a:t>DC</a:t>
                      </a:r>
                    </a:p>
                  </a:txBody>
                  <a:tcPr marL="73152" marR="73152" marT="36576" marB="36576" anchor="ctr">
                    <a:solidFill>
                      <a:srgbClr val="0B5E6E"/>
                    </a:solidFill>
                  </a:tcPr>
                </a:tc>
                <a:tc>
                  <a:txBody>
                    <a:bodyPr wrap="square"/>
                    <a:lstStyle/>
                    <a:p>
                      <a:pPr algn="ctr"/>
                      <a:r>
                        <a:rPr sz="1090" b="1" i="0">
                          <a:solidFill>
                            <a:srgbClr val="FFFFFF"/>
                          </a:solidFill>
                          <a:latin typeface="Calibri (MS) Bold"/>
                        </a:rPr>
                        <a:t>MAPE</a:t>
                      </a:r>
                    </a:p>
                  </a:txBody>
                  <a:tcPr marL="73152" marR="73152" marT="36576" marB="36576" anchor="ctr">
                    <a:solidFill>
                      <a:srgbClr val="0B5E6E"/>
                    </a:solidFill>
                  </a:tcPr>
                </a:tc>
                <a:tc>
                  <a:txBody>
                    <a:bodyPr wrap="square"/>
                    <a:lstStyle/>
                    <a:p>
                      <a:pPr algn="ctr"/>
                      <a:r>
                        <a:rPr sz="1090" b="1" i="0">
                          <a:solidFill>
                            <a:srgbClr val="FFFFFF"/>
                          </a:solidFill>
                          <a:latin typeface="Calibri (MS) Bold"/>
                        </a:rPr>
                        <a:t>Dom.</a:t>
                      </a:r>
                    </a:p>
                  </a:txBody>
                  <a:tcPr marL="73152" marR="73152" marT="36576" marB="36576" anchor="ctr">
                    <a:solidFill>
                      <a:srgbClr val="0B5E6E"/>
                    </a:solidFill>
                  </a:tcPr>
                </a:tc>
              </a:tr>
              <a:tr h="457200">
                <a:tc>
                  <a:txBody>
                    <a:bodyPr wrap="square"/>
                    <a:lstStyle/>
                    <a:p>
                      <a:r>
                        <a:rPr sz="1090" b="1" i="0">
                          <a:solidFill>
                            <a:srgbClr val="14313B"/>
                          </a:solidFill>
                          <a:latin typeface="Calibri (MS) Bold"/>
                        </a:rPr>
                        <a:t>Jumlah wisatawan</a:t>
                      </a:r>
                    </a:p>
                  </a:txBody>
                  <a:tcPr marL="73152" marR="73152" marT="36576" marB="36576" anchor="ctr">
                    <a:solidFill>
                      <a:srgbClr val="FFFFFF"/>
                    </a:solidFill>
                  </a:tcPr>
                </a:tc>
                <a:tc>
                  <a:txBody>
                    <a:bodyPr wrap="square"/>
                    <a:lstStyle/>
                    <a:p>
                      <a:pPr algn="ctr"/>
                      <a:r>
                        <a:rPr sz="1090" b="0" i="0">
                          <a:solidFill>
                            <a:srgbClr val="14313B"/>
                          </a:solidFill>
                          <a:latin typeface="Calibri (MS)"/>
                        </a:rPr>
                        <a:t>P5</a:t>
                      </a:r>
                    </a:p>
                  </a:txBody>
                  <a:tcPr marL="73152" marR="73152" marT="36576" marB="36576" anchor="ctr">
                    <a:solidFill>
                      <a:srgbClr val="FFFFFF"/>
                    </a:solidFill>
                  </a:tcPr>
                </a:tc>
                <a:tc>
                  <a:txBody>
                    <a:bodyPr wrap="square"/>
                    <a:lstStyle/>
                    <a:p>
                      <a:pPr algn="ctr"/>
                      <a:r>
                        <a:rPr sz="1090" b="0" i="0">
                          <a:solidFill>
                            <a:srgbClr val="14313B"/>
                          </a:solidFill>
                          <a:latin typeface="Calibri (MS)"/>
                        </a:rPr>
                        <a:t>Berbeda nyata</a:t>
                      </a:r>
                    </a:p>
                  </a:txBody>
                  <a:tcPr marL="73152" marR="73152" marT="36576" marB="36576" anchor="ctr">
                    <a:solidFill>
                      <a:srgbClr val="FDE2DE"/>
                    </a:solidFill>
                  </a:tcPr>
                </a:tc>
                <a:tc>
                  <a:txBody>
                    <a:bodyPr wrap="square"/>
                    <a:lstStyle/>
                    <a:p>
                      <a:pPr algn="ctr"/>
                      <a:r>
                        <a:rPr sz="1090" b="0" i="0">
                          <a:solidFill>
                            <a:srgbClr val="14313B"/>
                          </a:solidFill>
                          <a:latin typeface="Calibri (MS)"/>
                        </a:rPr>
                        <a:t>0,4057*</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U1+U2</a:t>
                      </a:r>
                    </a:p>
                  </a:txBody>
                  <a:tcPr marL="73152" marR="73152" marT="36576" marB="36576" anchor="ctr">
                    <a:solidFill>
                      <a:srgbClr val="FFFFFF"/>
                    </a:solidFill>
                  </a:tcPr>
                </a:tc>
                <a:tc>
                  <a:txBody>
                    <a:bodyPr wrap="square"/>
                    <a:lstStyle/>
                    <a:p>
                      <a:pPr algn="ctr"/>
                      <a:r>
                        <a:rPr sz="1090" b="0" i="0">
                          <a:solidFill>
                            <a:srgbClr val="14313B"/>
                          </a:solidFill>
                          <a:latin typeface="Calibri (MS)"/>
                        </a:rPr>
                        <a:t>Berbeda nyata</a:t>
                      </a:r>
                    </a:p>
                  </a:txBody>
                  <a:tcPr marL="73152" marR="73152" marT="36576" marB="36576" anchor="ctr">
                    <a:solidFill>
                      <a:srgbClr val="FDE2DE"/>
                    </a:solidFill>
                  </a:tcPr>
                </a:tc>
                <a:tc>
                  <a:txBody>
                    <a:bodyPr wrap="square"/>
                    <a:lstStyle/>
                    <a:p>
                      <a:pPr algn="ctr"/>
                      <a:r>
                        <a:rPr sz="1090" b="0" i="0">
                          <a:solidFill>
                            <a:srgbClr val="14313B"/>
                          </a:solidFill>
                          <a:latin typeface="Calibri (MS)"/>
                        </a:rPr>
                        <a:t>0,4482</a:t>
                      </a:r>
                    </a:p>
                  </a:txBody>
                  <a:tcPr marL="73152" marR="73152" marT="36576" marB="36576" anchor="ctr">
                    <a:solidFill>
                      <a:srgbClr val="FFFFFF"/>
                    </a:solidFill>
                  </a:tcPr>
                </a:tc>
                <a:tc>
                  <a:txBody>
                    <a:bodyPr wrap="square"/>
                    <a:lstStyle/>
                    <a:p>
                      <a:pPr algn="ctr"/>
                      <a:r>
                        <a:rPr sz="1090" b="0" i="0">
                          <a:solidFill>
                            <a:srgbClr val="14313B"/>
                          </a:solidFill>
                          <a:latin typeface="Calibri (MS)"/>
                        </a:rPr>
                        <a:t>12,06%</a:t>
                      </a:r>
                    </a:p>
                  </a:txBody>
                  <a:tcPr marL="73152" marR="73152" marT="36576" marB="36576" anchor="ctr">
                    <a:solidFill>
                      <a:srgbClr val="FFFFFF"/>
                    </a:solidFill>
                  </a:tcPr>
                </a:tc>
                <a:tc>
                  <a:txBody>
                    <a:bodyPr wrap="square"/>
                    <a:lstStyle/>
                    <a:p>
                      <a:pPr algn="ctr"/>
                      <a:r>
                        <a:rPr sz="1090" b="0" i="0">
                          <a:solidFill>
                            <a:srgbClr val="14313B"/>
                          </a:solidFill>
                          <a:latin typeface="Calibri (MS)"/>
                        </a:rPr>
                        <a:t>U2</a:t>
                      </a:r>
                    </a:p>
                  </a:txBody>
                  <a:tcPr marL="73152" marR="73152" marT="36576" marB="36576" anchor="ctr">
                    <a:solidFill>
                      <a:srgbClr val="FFFFFF"/>
                    </a:solidFill>
                  </a:tcPr>
                </a:tc>
              </a:tr>
              <a:tr h="457200">
                <a:tc>
                  <a:txBody>
                    <a:bodyPr wrap="square"/>
                    <a:lstStyle/>
                    <a:p>
                      <a:r>
                        <a:rPr sz="1090" b="1" i="0">
                          <a:solidFill>
                            <a:srgbClr val="14313B"/>
                          </a:solidFill>
                          <a:latin typeface="Calibri (MS) Bold"/>
                        </a:rPr>
                        <a:t>Jumlah hotel</a:t>
                      </a:r>
                    </a:p>
                  </a:txBody>
                  <a:tcPr marL="73152" marR="73152" marT="36576" marB="36576" anchor="ctr">
                    <a:solidFill>
                      <a:srgbClr val="EAF8FA"/>
                    </a:solidFill>
                  </a:tcPr>
                </a:tc>
                <a:tc>
                  <a:txBody>
                    <a:bodyPr wrap="square"/>
                    <a:lstStyle/>
                    <a:p>
                      <a:pPr algn="ctr"/>
                      <a:r>
                        <a:rPr sz="1090" b="0" i="0">
                          <a:solidFill>
                            <a:srgbClr val="14313B"/>
                          </a:solidFill>
                          <a:latin typeface="Calibri (MS)"/>
                        </a:rPr>
                        <a:t>P1</a:t>
                      </a:r>
                    </a:p>
                  </a:txBody>
                  <a:tcPr marL="73152" marR="73152" marT="36576" marB="36576" anchor="ctr">
                    <a:solidFill>
                      <a:srgbClr val="EAF8FA"/>
                    </a:solidFill>
                  </a:tcPr>
                </a:tc>
                <a:tc>
                  <a:txBody>
                    <a:bodyPr wrap="square"/>
                    <a:lstStyle/>
                    <a:p>
                      <a:pPr algn="ctr"/>
                      <a:r>
                        <a:rPr sz="1090" b="0" i="0">
                          <a:solidFill>
                            <a:srgbClr val="14313B"/>
                          </a:solidFill>
                          <a:latin typeface="Calibri (MS)"/>
                        </a:rPr>
                        <a:t>Sama</a:t>
                      </a:r>
                    </a:p>
                  </a:txBody>
                  <a:tcPr marL="73152" marR="73152" marT="36576" marB="36576" anchor="ctr">
                    <a:solidFill>
                      <a:srgbClr val="EAF8FA"/>
                    </a:solidFill>
                  </a:tcPr>
                </a:tc>
                <a:tc>
                  <a:txBody>
                    <a:bodyPr wrap="square"/>
                    <a:lstStyle/>
                    <a:p>
                      <a:pPr algn="ctr"/>
                      <a:r>
                        <a:rPr sz="1090" b="0" i="0">
                          <a:solidFill>
                            <a:srgbClr val="14313B"/>
                          </a:solidFill>
                          <a:latin typeface="Calibri (MS)"/>
                        </a:rPr>
                        <a:t>0,2011</a:t>
                      </a:r>
                    </a:p>
                  </a:txBody>
                  <a:tcPr marL="73152" marR="73152" marT="36576" marB="36576" anchor="ctr">
                    <a:solidFill>
                      <a:srgbClr val="EAF8FA"/>
                    </a:solidFill>
                  </a:tcPr>
                </a:tc>
                <a:tc>
                  <a:txBody>
                    <a:bodyPr wrap="square"/>
                    <a:lstStyle/>
                    <a:p>
                      <a:pPr algn="ctr"/>
                      <a:r>
                        <a:rPr sz="1090" b="0" i="0">
                          <a:solidFill>
                            <a:srgbClr val="14313B"/>
                          </a:solidFill>
                          <a:latin typeface="Calibri (MS)"/>
                        </a:rPr>
                        <a:t>6,05%</a:t>
                      </a:r>
                    </a:p>
                  </a:txBody>
                  <a:tcPr marL="73152" marR="73152" marT="36576" marB="36576" anchor="ctr">
                    <a:solidFill>
                      <a:srgbClr val="EAF8FA"/>
                    </a:solidFill>
                  </a:tcPr>
                </a:tc>
                <a:tc>
                  <a:txBody>
                    <a:bodyPr wrap="square"/>
                    <a:lstStyle/>
                    <a:p>
                      <a:pPr algn="ctr"/>
                      <a:r>
                        <a:rPr sz="1090" b="0" i="0">
                          <a:solidFill>
                            <a:srgbClr val="14313B"/>
                          </a:solidFill>
                          <a:latin typeface="Calibri (MS)"/>
                        </a:rPr>
                        <a:t>U3</a:t>
                      </a:r>
                    </a:p>
                  </a:txBody>
                  <a:tcPr marL="73152" marR="73152" marT="36576" marB="36576" anchor="ctr">
                    <a:solidFill>
                      <a:srgbClr val="EAF8FA"/>
                    </a:solidFill>
                  </a:tcPr>
                </a:tc>
                <a:tc>
                  <a:txBody>
                    <a:bodyPr wrap="square"/>
                    <a:lstStyle/>
                    <a:p>
                      <a:pPr algn="ctr"/>
                      <a:r>
                        <a:rPr sz="1090" b="0" i="0">
                          <a:solidFill>
                            <a:srgbClr val="14313B"/>
                          </a:solidFill>
                          <a:latin typeface="Calibri (MS)"/>
                        </a:rPr>
                        <a:t>Berlawanan arah</a:t>
                      </a:r>
                    </a:p>
                  </a:txBody>
                  <a:tcPr marL="73152" marR="73152" marT="36576" marB="36576" anchor="ctr">
                    <a:solidFill>
                      <a:srgbClr val="FDE2DE"/>
                    </a:solidFill>
                  </a:tcPr>
                </a:tc>
                <a:tc>
                  <a:txBody>
                    <a:bodyPr wrap="square"/>
                    <a:lstStyle/>
                    <a:p>
                      <a:pPr algn="ctr"/>
                      <a:r>
                        <a:rPr sz="1090" b="0" i="0">
                          <a:solidFill>
                            <a:srgbClr val="14313B"/>
                          </a:solidFill>
                          <a:latin typeface="Calibri (MS)"/>
                        </a:rPr>
                        <a:t>0,8228</a:t>
                      </a:r>
                    </a:p>
                  </a:txBody>
                  <a:tcPr marL="73152" marR="73152" marT="36576" marB="36576" anchor="ctr">
                    <a:solidFill>
                      <a:srgbClr val="FDE2DE"/>
                    </a:solidFill>
                  </a:tcPr>
                </a:tc>
                <a:tc>
                  <a:txBody>
                    <a:bodyPr wrap="square"/>
                    <a:lstStyle/>
                    <a:p>
                      <a:pPr algn="ctr"/>
                      <a:r>
                        <a:rPr sz="1090" b="0" i="0">
                          <a:solidFill>
                            <a:srgbClr val="14313B"/>
                          </a:solidFill>
                          <a:latin typeface="Calibri (MS)"/>
                        </a:rPr>
                        <a:t>13,16%</a:t>
                      </a:r>
                    </a:p>
                  </a:txBody>
                  <a:tcPr marL="73152" marR="73152" marT="36576" marB="36576" anchor="ctr">
                    <a:solidFill>
                      <a:srgbClr val="EAF8FA"/>
                    </a:solidFill>
                  </a:tcPr>
                </a:tc>
                <a:tc>
                  <a:txBody>
                    <a:bodyPr wrap="square"/>
                    <a:lstStyle/>
                    <a:p>
                      <a:pPr algn="ctr"/>
                      <a:r>
                        <a:rPr sz="1090" b="0" i="0">
                          <a:solidFill>
                            <a:srgbClr val="14313B"/>
                          </a:solidFill>
                          <a:latin typeface="Calibri (MS)"/>
                        </a:rPr>
                        <a:t>U1</a:t>
                      </a:r>
                    </a:p>
                  </a:txBody>
                  <a:tcPr marL="73152" marR="73152" marT="36576" marB="36576" anchor="ctr">
                    <a:solidFill>
                      <a:srgbClr val="EAF8FA"/>
                    </a:solidFill>
                  </a:tcPr>
                </a:tc>
              </a:tr>
              <a:tr h="457200">
                <a:tc>
                  <a:txBody>
                    <a:bodyPr wrap="square"/>
                    <a:lstStyle/>
                    <a:p>
                      <a:r>
                        <a:rPr sz="1090" b="1" i="0">
                          <a:solidFill>
                            <a:srgbClr val="14313B"/>
                          </a:solidFill>
                          <a:latin typeface="Calibri (MS) Bold"/>
                        </a:rPr>
                        <a:t>TPK</a:t>
                      </a:r>
                    </a:p>
                  </a:txBody>
                  <a:tcPr marL="73152" marR="73152" marT="36576" marB="36576" anchor="ctr">
                    <a:solidFill>
                      <a:srgbClr val="FFFFFF"/>
                    </a:solidFill>
                  </a:tcPr>
                </a:tc>
                <a:tc>
                  <a:txBody>
                    <a:bodyPr wrap="square"/>
                    <a:lstStyle/>
                    <a:p>
                      <a:pPr algn="ctr"/>
                      <a:r>
                        <a:rPr sz="1090" b="0" i="0">
                          <a:solidFill>
                            <a:srgbClr val="14313B"/>
                          </a:solidFill>
                          <a:latin typeface="Calibri (MS)"/>
                        </a:rPr>
                        <a:t>P1</a:t>
                      </a:r>
                    </a:p>
                  </a:txBody>
                  <a:tcPr marL="73152" marR="73152" marT="36576" marB="36576" anchor="ctr">
                    <a:solidFill>
                      <a:srgbClr val="FFFFFF"/>
                    </a:solidFill>
                  </a:tcPr>
                </a:tc>
                <a:tc>
                  <a:txBody>
                    <a:bodyPr wrap="square"/>
                    <a:lstStyle/>
                    <a:p>
                      <a:pPr algn="ctr"/>
                      <a:r>
                        <a:rPr sz="1090" b="0" i="0">
                          <a:solidFill>
                            <a:srgbClr val="14313B"/>
                          </a:solidFill>
                          <a:latin typeface="Calibri (MS)"/>
                        </a:rPr>
                        <a:t>Sama</a:t>
                      </a:r>
                    </a:p>
                  </a:txBody>
                  <a:tcPr marL="73152" marR="73152" marT="36576" marB="36576" anchor="ctr">
                    <a:solidFill>
                      <a:srgbClr val="FFFFFF"/>
                    </a:solidFill>
                  </a:tcPr>
                </a:tc>
                <a:tc>
                  <a:txBody>
                    <a:bodyPr wrap="square"/>
                    <a:lstStyle/>
                    <a:p>
                      <a:pPr algn="ctr"/>
                      <a:r>
                        <a:rPr sz="1090" b="0" i="0">
                          <a:solidFill>
                            <a:srgbClr val="14313B"/>
                          </a:solidFill>
                          <a:latin typeface="Calibri (MS)"/>
                        </a:rPr>
                        <a:t>0,6692</a:t>
                      </a:r>
                    </a:p>
                  </a:txBody>
                  <a:tcPr marL="73152" marR="73152" marT="36576" marB="36576" anchor="ctr">
                    <a:solidFill>
                      <a:srgbClr val="FFFFFF"/>
                    </a:solidFill>
                  </a:tcPr>
                </a:tc>
                <a:tc>
                  <a:txBody>
                    <a:bodyPr wrap="square"/>
                    <a:lstStyle/>
                    <a:p>
                      <a:pPr algn="ctr"/>
                      <a:r>
                        <a:rPr sz="1090" b="0" i="0">
                          <a:solidFill>
                            <a:srgbClr val="14313B"/>
                          </a:solidFill>
                          <a:latin typeface="Calibri (MS)"/>
                        </a:rPr>
                        <a:t>17,37%</a:t>
                      </a:r>
                    </a:p>
                  </a:txBody>
                  <a:tcPr marL="73152" marR="73152" marT="36576" marB="36576" anchor="ctr">
                    <a:solidFill>
                      <a:srgbClr val="FFFFFF"/>
                    </a:solidFill>
                  </a:tcPr>
                </a:tc>
                <a:tc>
                  <a:txBody>
                    <a:bodyPr wrap="square"/>
                    <a:lstStyle/>
                    <a:p>
                      <a:pPr algn="ctr"/>
                      <a:r>
                        <a:rPr sz="1090" b="0" i="0">
                          <a:solidFill>
                            <a:srgbClr val="14313B"/>
                          </a:solidFill>
                          <a:latin typeface="Calibri (MS)"/>
                        </a:rPr>
                        <a:t>U2</a:t>
                      </a:r>
                    </a:p>
                  </a:txBody>
                  <a:tcPr marL="73152" marR="73152" marT="36576" marB="36576" anchor="ctr">
                    <a:solidFill>
                      <a:srgbClr val="FFFFFF"/>
                    </a:solidFill>
                  </a:tcPr>
                </a:tc>
                <a:tc>
                  <a:txBody>
                    <a:bodyPr wrap="square"/>
                    <a:lstStyle/>
                    <a:p>
                      <a:pPr algn="ctr"/>
                      <a:r>
                        <a:rPr sz="1090" b="0" i="0">
                          <a:solidFill>
                            <a:srgbClr val="14313B"/>
                          </a:solidFill>
                          <a:latin typeface="Calibri (MS)"/>
                        </a:rPr>
                        <a:t>Sama</a:t>
                      </a:r>
                    </a:p>
                  </a:txBody>
                  <a:tcPr marL="73152" marR="73152" marT="36576" marB="36576" anchor="ctr">
                    <a:solidFill>
                      <a:srgbClr val="FFFFFF"/>
                    </a:solidFill>
                  </a:tcPr>
                </a:tc>
                <a:tc>
                  <a:txBody>
                    <a:bodyPr wrap="square"/>
                    <a:lstStyle/>
                    <a:p>
                      <a:pPr algn="ctr"/>
                      <a:r>
                        <a:rPr sz="1090" b="0" i="0">
                          <a:solidFill>
                            <a:srgbClr val="14313B"/>
                          </a:solidFill>
                          <a:latin typeface="Calibri (MS)"/>
                        </a:rPr>
                        <a:t>0,6224</a:t>
                      </a:r>
                    </a:p>
                  </a:txBody>
                  <a:tcPr marL="73152" marR="73152" marT="36576" marB="36576" anchor="ctr">
                    <a:solidFill>
                      <a:srgbClr val="FFFFFF"/>
                    </a:solidFill>
                  </a:tcPr>
                </a:tc>
                <a:tc>
                  <a:txBody>
                    <a:bodyPr wrap="square"/>
                    <a:lstStyle/>
                    <a:p>
                      <a:pPr algn="ctr"/>
                      <a:r>
                        <a:rPr sz="1090" b="0" i="0">
                          <a:solidFill>
                            <a:srgbClr val="14313B"/>
                          </a:solidFill>
                          <a:latin typeface="Calibri (MS)"/>
                        </a:rPr>
                        <a:t>18,98%</a:t>
                      </a:r>
                    </a:p>
                  </a:txBody>
                  <a:tcPr marL="73152" marR="73152" marT="36576" marB="36576" anchor="ctr">
                    <a:solidFill>
                      <a:srgbClr val="FFFFFF"/>
                    </a:solidFill>
                  </a:tcPr>
                </a:tc>
                <a:tc>
                  <a:txBody>
                    <a:bodyPr wrap="square"/>
                    <a:lstStyle/>
                    <a:p>
                      <a:pPr algn="ctr"/>
                      <a:r>
                        <a:rPr sz="1090" b="0" i="0">
                          <a:solidFill>
                            <a:srgbClr val="14313B"/>
                          </a:solidFill>
                          <a:latin typeface="Calibri (MS)"/>
                        </a:rPr>
                        <a:t>U1</a:t>
                      </a:r>
                    </a:p>
                  </a:txBody>
                  <a:tcPr marL="73152" marR="73152" marT="36576" marB="36576" anchor="ctr">
                    <a:solidFill>
                      <a:srgbClr val="FFFFFF"/>
                    </a:solidFill>
                  </a:tcPr>
                </a:tc>
              </a:tr>
              <a:tr h="457200">
                <a:tc>
                  <a:txBody>
                    <a:bodyPr wrap="square"/>
                    <a:lstStyle/>
                    <a:p>
                      <a:r>
                        <a:rPr sz="1090" b="1" i="0">
                          <a:solidFill>
                            <a:srgbClr val="14313B"/>
                          </a:solidFill>
                          <a:latin typeface="Calibri (MS) Bold"/>
                        </a:rPr>
                        <a:t>Jumlah ODTW</a:t>
                      </a:r>
                    </a:p>
                  </a:txBody>
                  <a:tcPr marL="73152" marR="73152" marT="36576" marB="36576" anchor="ctr">
                    <a:solidFill>
                      <a:srgbClr val="EAF8FA"/>
                    </a:solidFill>
                  </a:tcPr>
                </a:tc>
                <a:tc>
                  <a:txBody>
                    <a:bodyPr wrap="square"/>
                    <a:lstStyle/>
                    <a:p>
                      <a:pPr algn="ctr"/>
                      <a:r>
                        <a:rPr sz="1090" b="0" i="0">
                          <a:solidFill>
                            <a:srgbClr val="14313B"/>
                          </a:solidFill>
                          <a:latin typeface="Calibri (MS)"/>
                        </a:rPr>
                        <a:t>P2</a:t>
                      </a:r>
                    </a:p>
                  </a:txBody>
                  <a:tcPr marL="73152" marR="73152" marT="36576" marB="36576" anchor="ctr">
                    <a:solidFill>
                      <a:srgbClr val="EAF8FA"/>
                    </a:solidFill>
                  </a:tcPr>
                </a:tc>
                <a:tc>
                  <a:txBody>
                    <a:bodyPr wrap="square"/>
                    <a:lstStyle/>
                    <a:p>
                      <a:pPr algn="ctr"/>
                      <a:r>
                        <a:rPr sz="1090" b="0" i="0">
                          <a:solidFill>
                            <a:srgbClr val="14313B"/>
                          </a:solidFill>
                          <a:latin typeface="Calibri (MS)"/>
                        </a:rPr>
                        <a:t>Sama</a:t>
                      </a:r>
                    </a:p>
                  </a:txBody>
                  <a:tcPr marL="73152" marR="73152" marT="36576" marB="36576" anchor="ctr">
                    <a:solidFill>
                      <a:srgbClr val="EAF8FA"/>
                    </a:solidFill>
                  </a:tcPr>
                </a:tc>
                <a:tc>
                  <a:txBody>
                    <a:bodyPr wrap="square"/>
                    <a:lstStyle/>
                    <a:p>
                      <a:pPr algn="ctr"/>
                      <a:r>
                        <a:rPr sz="1090" b="0" i="0">
                          <a:solidFill>
                            <a:srgbClr val="14313B"/>
                          </a:solidFill>
                          <a:latin typeface="Calibri (MS)"/>
                        </a:rPr>
                        <a:t>0,3367</a:t>
                      </a:r>
                    </a:p>
                  </a:txBody>
                  <a:tcPr marL="73152" marR="73152" marT="36576" marB="36576" anchor="ctr">
                    <a:solidFill>
                      <a:srgbClr val="EAF8FA"/>
                    </a:solidFill>
                  </a:tcPr>
                </a:tc>
                <a:tc>
                  <a:txBody>
                    <a:bodyPr wrap="square"/>
                    <a:lstStyle/>
                    <a:p>
                      <a:pPr algn="ctr"/>
                      <a:r>
                        <a:rPr sz="1090" b="0" i="0">
                          <a:solidFill>
                            <a:srgbClr val="14313B"/>
                          </a:solidFill>
                          <a:latin typeface="Calibri (MS)"/>
                        </a:rPr>
                        <a:t>8,48%</a:t>
                      </a:r>
                    </a:p>
                  </a:txBody>
                  <a:tcPr marL="73152" marR="73152" marT="36576" marB="36576" anchor="ctr">
                    <a:solidFill>
                      <a:srgbClr val="EAF8FA"/>
                    </a:solidFill>
                  </a:tcPr>
                </a:tc>
                <a:tc>
                  <a:txBody>
                    <a:bodyPr wrap="square"/>
                    <a:lstStyle/>
                    <a:p>
                      <a:pPr algn="ctr"/>
                      <a:r>
                        <a:rPr sz="1090" b="0" i="0">
                          <a:solidFill>
                            <a:srgbClr val="14313B"/>
                          </a:solidFill>
                          <a:latin typeface="Calibri (MS)"/>
                        </a:rPr>
                        <a:t>U1</a:t>
                      </a:r>
                    </a:p>
                  </a:txBody>
                  <a:tcPr marL="73152" marR="73152" marT="36576" marB="36576" anchor="ctr">
                    <a:solidFill>
                      <a:srgbClr val="EAF8FA"/>
                    </a:solidFill>
                  </a:tcPr>
                </a:tc>
                <a:tc>
                  <a:txBody>
                    <a:bodyPr wrap="square"/>
                    <a:lstStyle/>
                    <a:p>
                      <a:pPr algn="ctr"/>
                      <a:r>
                        <a:rPr sz="1090" b="0" i="0">
                          <a:solidFill>
                            <a:srgbClr val="14313B"/>
                          </a:solidFill>
                          <a:latin typeface="Calibri (MS)"/>
                        </a:rPr>
                        <a:t>Sama</a:t>
                      </a:r>
                    </a:p>
                  </a:txBody>
                  <a:tcPr marL="73152" marR="73152" marT="36576" marB="36576" anchor="ctr">
                    <a:solidFill>
                      <a:srgbClr val="EAF8FA"/>
                    </a:solidFill>
                  </a:tcPr>
                </a:tc>
                <a:tc>
                  <a:txBody>
                    <a:bodyPr wrap="square"/>
                    <a:lstStyle/>
                    <a:p>
                      <a:pPr algn="ctr"/>
                      <a:r>
                        <a:rPr sz="1090" b="0" i="0">
                          <a:solidFill>
                            <a:srgbClr val="14313B"/>
                          </a:solidFill>
                          <a:latin typeface="Calibri (MS)"/>
                        </a:rPr>
                        <a:t>0,7855</a:t>
                      </a:r>
                    </a:p>
                  </a:txBody>
                  <a:tcPr marL="73152" marR="73152" marT="36576" marB="36576" anchor="ctr">
                    <a:solidFill>
                      <a:srgbClr val="FDE2DE"/>
                    </a:solidFill>
                  </a:tcPr>
                </a:tc>
                <a:tc>
                  <a:txBody>
                    <a:bodyPr wrap="square"/>
                    <a:lstStyle/>
                    <a:p>
                      <a:pPr algn="ctr"/>
                      <a:r>
                        <a:rPr sz="1090" b="0" i="0">
                          <a:solidFill>
                            <a:srgbClr val="14313B"/>
                          </a:solidFill>
                          <a:latin typeface="Calibri (MS)"/>
                        </a:rPr>
                        <a:t>5,68%</a:t>
                      </a:r>
                    </a:p>
                  </a:txBody>
                  <a:tcPr marL="73152" marR="73152" marT="36576" marB="36576" anchor="ctr">
                    <a:solidFill>
                      <a:srgbClr val="EAF8FA"/>
                    </a:solidFill>
                  </a:tcPr>
                </a:tc>
                <a:tc>
                  <a:txBody>
                    <a:bodyPr wrap="square"/>
                    <a:lstStyle/>
                    <a:p>
                      <a:pPr algn="ctr"/>
                      <a:r>
                        <a:rPr sz="1090" b="0" i="0">
                          <a:solidFill>
                            <a:srgbClr val="14313B"/>
                          </a:solidFill>
                          <a:latin typeface="Calibri (MS)"/>
                        </a:rPr>
                        <a:t>U2</a:t>
                      </a:r>
                    </a:p>
                  </a:txBody>
                  <a:tcPr marL="73152" marR="73152" marT="36576" marB="36576" anchor="ctr">
                    <a:solidFill>
                      <a:srgbClr val="EAF8FA"/>
                    </a:solidFill>
                  </a:tcPr>
                </a:tc>
              </a:tr>
              <a:tr h="457200">
                <a:tc>
                  <a:txBody>
                    <a:bodyPr wrap="square"/>
                    <a:lstStyle/>
                    <a:p>
                      <a:r>
                        <a:rPr sz="1090" b="1" i="0">
                          <a:solidFill>
                            <a:srgbClr val="14313B"/>
                          </a:solidFill>
                          <a:latin typeface="Calibri (MS) Bold"/>
                        </a:rPr>
                        <a:t>Tenaga kerja</a:t>
                      </a:r>
                    </a:p>
                  </a:txBody>
                  <a:tcPr marL="73152" marR="73152" marT="36576" marB="36576" anchor="ctr">
                    <a:solidFill>
                      <a:srgbClr val="FFFFFF"/>
                    </a:solidFill>
                  </a:tcPr>
                </a:tc>
                <a:tc>
                  <a:txBody>
                    <a:bodyPr wrap="square"/>
                    <a:lstStyle/>
                    <a:p>
                      <a:pPr algn="ctr"/>
                      <a:r>
                        <a:rPr sz="1090" b="0" i="0">
                          <a:solidFill>
                            <a:srgbClr val="14313B"/>
                          </a:solidFill>
                          <a:latin typeface="Calibri (MS)"/>
                        </a:rPr>
                        <a:t>P3</a:t>
                      </a:r>
                    </a:p>
                  </a:txBody>
                  <a:tcPr marL="73152" marR="73152" marT="36576" marB="36576" anchor="ctr">
                    <a:solidFill>
                      <a:srgbClr val="FFFFFF"/>
                    </a:solidFill>
                  </a:tcPr>
                </a:tc>
                <a:tc>
                  <a:txBody>
                    <a:bodyPr wrap="square"/>
                    <a:lstStyle/>
                    <a:p>
                      <a:pPr algn="ctr"/>
                      <a:r>
                        <a:rPr sz="1090" b="0" i="0">
                          <a:solidFill>
                            <a:srgbClr val="14313B"/>
                          </a:solidFill>
                          <a:latin typeface="Calibri (MS)"/>
                        </a:rPr>
                        <a:t>Sama</a:t>
                      </a:r>
                    </a:p>
                  </a:txBody>
                  <a:tcPr marL="73152" marR="73152" marT="36576" marB="36576" anchor="ctr">
                    <a:solidFill>
                      <a:srgbClr val="FFFFFF"/>
                    </a:solidFill>
                  </a:tcPr>
                </a:tc>
                <a:tc>
                  <a:txBody>
                    <a:bodyPr wrap="square"/>
                    <a:lstStyle/>
                    <a:p>
                      <a:pPr algn="ctr"/>
                      <a:r>
                        <a:rPr sz="1090" b="0" i="0">
                          <a:solidFill>
                            <a:srgbClr val="14313B"/>
                          </a:solidFill>
                          <a:latin typeface="Calibri (MS)"/>
                        </a:rPr>
                        <a:t>0,4945</a:t>
                      </a:r>
                    </a:p>
                  </a:txBody>
                  <a:tcPr marL="73152" marR="73152" marT="36576" marB="36576" anchor="ctr">
                    <a:solidFill>
                      <a:srgbClr val="FFFFFF"/>
                    </a:solidFill>
                  </a:tcPr>
                </a:tc>
                <a:tc>
                  <a:txBody>
                    <a:bodyPr wrap="square"/>
                    <a:lstStyle/>
                    <a:p>
                      <a:pPr algn="ctr"/>
                      <a:r>
                        <a:rPr sz="1090" b="0" i="0">
                          <a:solidFill>
                            <a:srgbClr val="14313B"/>
                          </a:solidFill>
                          <a:latin typeface="Calibri (MS)"/>
                        </a:rPr>
                        <a:t>12,88%</a:t>
                      </a:r>
                    </a:p>
                  </a:txBody>
                  <a:tcPr marL="73152" marR="73152" marT="36576" marB="36576" anchor="ctr">
                    <a:solidFill>
                      <a:srgbClr val="FFFFFF"/>
                    </a:solidFill>
                  </a:tcPr>
                </a:tc>
                <a:tc>
                  <a:txBody>
                    <a:bodyPr wrap="square"/>
                    <a:lstStyle/>
                    <a:p>
                      <a:pPr algn="ctr"/>
                      <a:r>
                        <a:rPr sz="1090" b="0" i="0">
                          <a:solidFill>
                            <a:srgbClr val="14313B"/>
                          </a:solidFill>
                          <a:latin typeface="Calibri (MS)"/>
                        </a:rPr>
                        <a:t>U1</a:t>
                      </a:r>
                    </a:p>
                  </a:txBody>
                  <a:tcPr marL="73152" marR="73152" marT="36576" marB="36576" anchor="ctr">
                    <a:solidFill>
                      <a:srgbClr val="FFFFFF"/>
                    </a:solidFill>
                  </a:tcPr>
                </a:tc>
                <a:tc>
                  <a:txBody>
                    <a:bodyPr wrap="square"/>
                    <a:lstStyle/>
                    <a:p>
                      <a:pPr algn="ctr"/>
                      <a:r>
                        <a:rPr sz="1090" b="0" i="0">
                          <a:solidFill>
                            <a:srgbClr val="14313B"/>
                          </a:solidFill>
                          <a:latin typeface="Calibri (MS)"/>
                        </a:rPr>
                        <a:t>Berlawanan arah</a:t>
                      </a:r>
                    </a:p>
                  </a:txBody>
                  <a:tcPr marL="73152" marR="73152" marT="36576" marB="36576" anchor="ctr">
                    <a:solidFill>
                      <a:srgbClr val="FDE2DE"/>
                    </a:solidFill>
                  </a:tcPr>
                </a:tc>
                <a:tc>
                  <a:txBody>
                    <a:bodyPr wrap="square"/>
                    <a:lstStyle/>
                    <a:p>
                      <a:pPr algn="ctr"/>
                      <a:r>
                        <a:rPr sz="1090" b="0" i="0">
                          <a:solidFill>
                            <a:srgbClr val="14313B"/>
                          </a:solidFill>
                          <a:latin typeface="Calibri (MS)"/>
                        </a:rPr>
                        <a:t>0,8860</a:t>
                      </a:r>
                    </a:p>
                  </a:txBody>
                  <a:tcPr marL="73152" marR="73152" marT="36576" marB="36576" anchor="ctr">
                    <a:solidFill>
                      <a:srgbClr val="FDE2DE"/>
                    </a:solidFill>
                  </a:tcPr>
                </a:tc>
                <a:tc>
                  <a:txBody>
                    <a:bodyPr wrap="square"/>
                    <a:lstStyle/>
                    <a:p>
                      <a:pPr algn="ctr"/>
                      <a:r>
                        <a:rPr sz="1090" b="0" i="0">
                          <a:solidFill>
                            <a:srgbClr val="14313B"/>
                          </a:solidFill>
                          <a:latin typeface="Calibri (MS)"/>
                        </a:rPr>
                        <a:t>12,39%</a:t>
                      </a:r>
                    </a:p>
                  </a:txBody>
                  <a:tcPr marL="73152" marR="73152" marT="36576" marB="36576" anchor="ctr">
                    <a:solidFill>
                      <a:srgbClr val="FFFFFF"/>
                    </a:solidFill>
                  </a:tcPr>
                </a:tc>
                <a:tc>
                  <a:txBody>
                    <a:bodyPr wrap="square"/>
                    <a:lstStyle/>
                    <a:p>
                      <a:pPr algn="ctr"/>
                      <a:r>
                        <a:rPr sz="1090" b="0" i="0">
                          <a:solidFill>
                            <a:srgbClr val="14313B"/>
                          </a:solidFill>
                          <a:latin typeface="Calibri (MS)"/>
                        </a:rPr>
                        <a:t>U1</a:t>
                      </a:r>
                    </a:p>
                  </a:txBody>
                  <a:tcPr marL="73152" marR="73152" marT="36576" marB="36576" anchor="ctr">
                    <a:solidFill>
                      <a:srgbClr val="FFFFFF"/>
                    </a:solidFill>
                  </a:tcPr>
                </a:tc>
              </a:tr>
              <a:tr h="457200">
                <a:tc>
                  <a:txBody>
                    <a:bodyPr wrap="square"/>
                    <a:lstStyle/>
                    <a:p>
                      <a:r>
                        <a:rPr sz="1090" b="1" i="0">
                          <a:solidFill>
                            <a:srgbClr val="14313B"/>
                          </a:solidFill>
                          <a:latin typeface="Calibri (MS) Bold"/>
                        </a:rPr>
                        <a:t>Lahan terbangun</a:t>
                      </a:r>
                    </a:p>
                  </a:txBody>
                  <a:tcPr marL="73152" marR="73152" marT="36576" marB="36576" anchor="ctr">
                    <a:solidFill>
                      <a:srgbClr val="EAF8FA"/>
                    </a:solidFill>
                  </a:tcPr>
                </a:tc>
                <a:tc>
                  <a:txBody>
                    <a:bodyPr wrap="square"/>
                    <a:lstStyle/>
                    <a:p>
                      <a:pPr algn="ctr"/>
                      <a:r>
                        <a:rPr sz="1090" b="0" i="0">
                          <a:solidFill>
                            <a:srgbClr val="14313B"/>
                          </a:solidFill>
                          <a:latin typeface="Calibri (MS)"/>
                        </a:rPr>
                        <a:t>P4</a:t>
                      </a:r>
                    </a:p>
                  </a:txBody>
                  <a:tcPr marL="73152" marR="73152" marT="36576" marB="36576" anchor="ctr">
                    <a:solidFill>
                      <a:srgbClr val="EAF8FA"/>
                    </a:solidFill>
                  </a:tcPr>
                </a:tc>
                <a:tc>
                  <a:txBody>
                    <a:bodyPr wrap="square"/>
                    <a:lstStyle/>
                    <a:p>
                      <a:pPr algn="ctr"/>
                      <a:r>
                        <a:rPr sz="1090" b="0" i="0">
                          <a:solidFill>
                            <a:srgbClr val="14313B"/>
                          </a:solidFill>
                          <a:latin typeface="Calibri (MS)"/>
                        </a:rPr>
                        <a:t>Sama</a:t>
                      </a:r>
                    </a:p>
                  </a:txBody>
                  <a:tcPr marL="73152" marR="73152" marT="36576" marB="36576" anchor="ctr">
                    <a:solidFill>
                      <a:srgbClr val="EAF8FA"/>
                    </a:solidFill>
                  </a:tcPr>
                </a:tc>
                <a:tc>
                  <a:txBody>
                    <a:bodyPr wrap="square"/>
                    <a:lstStyle/>
                    <a:p>
                      <a:pPr algn="ctr"/>
                      <a:r>
                        <a:rPr sz="1090" b="0" i="0">
                          <a:solidFill>
                            <a:srgbClr val="14313B"/>
                          </a:solidFill>
                          <a:latin typeface="Calibri (MS)"/>
                        </a:rPr>
                        <a:t>0,4813</a:t>
                      </a:r>
                    </a:p>
                  </a:txBody>
                  <a:tcPr marL="73152" marR="73152" marT="36576" marB="36576" anchor="ctr">
                    <a:solidFill>
                      <a:srgbClr val="EAF8FA"/>
                    </a:solidFill>
                  </a:tcPr>
                </a:tc>
                <a:tc>
                  <a:txBody>
                    <a:bodyPr wrap="square"/>
                    <a:lstStyle/>
                    <a:p>
                      <a:pPr algn="ctr"/>
                      <a:r>
                        <a:rPr sz="1090" b="0" i="0">
                          <a:solidFill>
                            <a:srgbClr val="14313B"/>
                          </a:solidFill>
                          <a:latin typeface="Calibri (MS)"/>
                        </a:rPr>
                        <a:t>12,94%</a:t>
                      </a:r>
                    </a:p>
                  </a:txBody>
                  <a:tcPr marL="73152" marR="73152" marT="36576" marB="36576" anchor="ctr">
                    <a:solidFill>
                      <a:srgbClr val="EAF8FA"/>
                    </a:solidFill>
                  </a:tcPr>
                </a:tc>
                <a:tc>
                  <a:txBody>
                    <a:bodyPr wrap="square"/>
                    <a:lstStyle/>
                    <a:p>
                      <a:pPr algn="ctr"/>
                      <a:r>
                        <a:rPr sz="1090" b="0" i="0">
                          <a:solidFill>
                            <a:srgbClr val="14313B"/>
                          </a:solidFill>
                          <a:latin typeface="Calibri (MS)"/>
                        </a:rPr>
                        <a:t>U1, U3</a:t>
                      </a:r>
                    </a:p>
                  </a:txBody>
                  <a:tcPr marL="73152" marR="73152" marT="36576" marB="36576" anchor="ctr">
                    <a:solidFill>
                      <a:srgbClr val="EAF8FA"/>
                    </a:solidFill>
                  </a:tcPr>
                </a:tc>
                <a:tc>
                  <a:txBody>
                    <a:bodyPr wrap="square"/>
                    <a:lstStyle/>
                    <a:p>
                      <a:pPr algn="ctr"/>
                      <a:r>
                        <a:rPr sz="1090" b="0" i="0">
                          <a:solidFill>
                            <a:srgbClr val="14313B"/>
                          </a:solidFill>
                          <a:latin typeface="Calibri (MS)"/>
                        </a:rPr>
                        <a:t>Sama</a:t>
                      </a:r>
                    </a:p>
                  </a:txBody>
                  <a:tcPr marL="73152" marR="73152" marT="36576" marB="36576" anchor="ctr">
                    <a:solidFill>
                      <a:srgbClr val="EAF8FA"/>
                    </a:solidFill>
                  </a:tcPr>
                </a:tc>
                <a:tc>
                  <a:txBody>
                    <a:bodyPr wrap="square"/>
                    <a:lstStyle/>
                    <a:p>
                      <a:pPr algn="ctr"/>
                      <a:r>
                        <a:rPr sz="1090" b="0" i="0">
                          <a:solidFill>
                            <a:srgbClr val="14313B"/>
                          </a:solidFill>
                          <a:latin typeface="Calibri (MS)"/>
                        </a:rPr>
                        <a:t>0,6619</a:t>
                      </a:r>
                    </a:p>
                  </a:txBody>
                  <a:tcPr marL="73152" marR="73152" marT="36576" marB="36576" anchor="ctr">
                    <a:solidFill>
                      <a:srgbClr val="EAF8FA"/>
                    </a:solidFill>
                  </a:tcPr>
                </a:tc>
                <a:tc>
                  <a:txBody>
                    <a:bodyPr wrap="square"/>
                    <a:lstStyle/>
                    <a:p>
                      <a:pPr algn="ctr"/>
                      <a:r>
                        <a:rPr sz="1090" b="0" i="0">
                          <a:solidFill>
                            <a:srgbClr val="14313B"/>
                          </a:solidFill>
                          <a:latin typeface="Calibri (MS)"/>
                        </a:rPr>
                        <a:t>13,43%</a:t>
                      </a:r>
                    </a:p>
                  </a:txBody>
                  <a:tcPr marL="73152" marR="73152" marT="36576" marB="36576" anchor="ctr">
                    <a:solidFill>
                      <a:srgbClr val="EAF8FA"/>
                    </a:solidFill>
                  </a:tcPr>
                </a:tc>
                <a:tc>
                  <a:txBody>
                    <a:bodyPr wrap="square"/>
                    <a:lstStyle/>
                    <a:p>
                      <a:pPr algn="ctr"/>
                      <a:r>
                        <a:rPr sz="1090" b="0" i="0">
                          <a:solidFill>
                            <a:srgbClr val="14313B"/>
                          </a:solidFill>
                          <a:latin typeface="Calibri (MS)"/>
                        </a:rPr>
                        <a:t>U3</a:t>
                      </a:r>
                    </a:p>
                  </a:txBody>
                  <a:tcPr marL="73152" marR="73152" marT="36576" marB="36576" anchor="ctr">
                    <a:solidFill>
                      <a:srgbClr val="EAF8FA"/>
                    </a:solidFill>
                  </a:tcPr>
                </a:tc>
              </a:tr>
              <a:tr h="457200">
                <a:tc>
                  <a:txBody>
                    <a:bodyPr wrap="square"/>
                    <a:lstStyle/>
                    <a:p>
                      <a:r>
                        <a:rPr sz="1090" b="1" i="0">
                          <a:solidFill>
                            <a:srgbClr val="14313B"/>
                          </a:solidFill>
                          <a:latin typeface="Calibri (MS) Bold"/>
                        </a:rPr>
                        <a:t>PDRB pariwisata</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Sama</a:t>
                      </a:r>
                    </a:p>
                  </a:txBody>
                  <a:tcPr marL="73152" marR="73152" marT="36576" marB="36576" anchor="ctr">
                    <a:solidFill>
                      <a:srgbClr val="FFFFFF"/>
                    </a:solidFill>
                  </a:tcPr>
                </a:tc>
                <a:tc>
                  <a:txBody>
                    <a:bodyPr wrap="square"/>
                    <a:lstStyle/>
                    <a:p>
                      <a:pPr algn="ctr"/>
                      <a:r>
                        <a:rPr sz="1090" b="0" i="0">
                          <a:solidFill>
                            <a:srgbClr val="14313B"/>
                          </a:solidFill>
                          <a:latin typeface="Calibri (MS)"/>
                        </a:rPr>
                        <a:t>0,3062</a:t>
                      </a:r>
                    </a:p>
                  </a:txBody>
                  <a:tcPr marL="73152" marR="73152" marT="36576" marB="36576" anchor="ctr">
                    <a:solidFill>
                      <a:srgbClr val="FFFFFF"/>
                    </a:solidFill>
                  </a:tcPr>
                </a:tc>
                <a:tc>
                  <a:txBody>
                    <a:bodyPr wrap="square"/>
                    <a:lstStyle/>
                    <a:p>
                      <a:pPr algn="ctr"/>
                      <a:r>
                        <a:rPr sz="1090" b="0" i="0">
                          <a:solidFill>
                            <a:srgbClr val="14313B"/>
                          </a:solidFill>
                          <a:latin typeface="Calibri (MS)"/>
                        </a:rPr>
                        <a:t>25,06%</a:t>
                      </a:r>
                    </a:p>
                  </a:txBody>
                  <a:tcPr marL="73152" marR="73152" marT="36576" marB="36576" anchor="ctr">
                    <a:solidFill>
                      <a:srgbClr val="FFF1BF"/>
                    </a:solidFill>
                  </a:tcPr>
                </a:tc>
                <a:tc>
                  <a:txBody>
                    <a:bodyPr wrap="square"/>
                    <a:lstStyle/>
                    <a:p>
                      <a:pPr algn="ctr"/>
                      <a:r>
                        <a:rPr sz="1090" b="0" i="0">
                          <a:solidFill>
                            <a:srgbClr val="14313B"/>
                          </a:solidFill>
                          <a:latin typeface="Calibri (MS)"/>
                        </a:rPr>
                        <a:t>U1</a:t>
                      </a:r>
                    </a:p>
                  </a:txBody>
                  <a:tcPr marL="73152" marR="73152" marT="36576" marB="36576" anchor="ctr">
                    <a:solidFill>
                      <a:srgbClr val="FFFFFF"/>
                    </a:solidFill>
                  </a:tcPr>
                </a:tc>
              </a:tr>
              <a:tr h="457200">
                <a:tc>
                  <a:txBody>
                    <a:bodyPr wrap="square"/>
                    <a:lstStyle/>
                    <a:p>
                      <a:r>
                        <a:rPr sz="1090" b="1" i="0">
                          <a:solidFill>
                            <a:srgbClr val="14313B"/>
                          </a:solidFill>
                          <a:latin typeface="Calibri (MS) Bold"/>
                        </a:rPr>
                        <a:t>Investasi pariwisata</a:t>
                      </a:r>
                    </a:p>
                  </a:txBody>
                  <a:tcPr marL="73152" marR="73152" marT="36576" marB="36576" anchor="ctr">
                    <a:solidFill>
                      <a:srgbClr val="EAF8FA"/>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Sama</a:t>
                      </a:r>
                    </a:p>
                  </a:txBody>
                  <a:tcPr marL="73152" marR="73152" marT="36576" marB="36576" anchor="ctr">
                    <a:solidFill>
                      <a:srgbClr val="EAF8FA"/>
                    </a:solidFill>
                  </a:tcPr>
                </a:tc>
                <a:tc>
                  <a:txBody>
                    <a:bodyPr wrap="square"/>
                    <a:lstStyle/>
                    <a:p>
                      <a:pPr algn="ctr"/>
                      <a:r>
                        <a:rPr sz="1090" b="0" i="0">
                          <a:solidFill>
                            <a:srgbClr val="14313B"/>
                          </a:solidFill>
                          <a:latin typeface="Calibri (MS)"/>
                        </a:rPr>
                        <a:t>0,7356</a:t>
                      </a:r>
                    </a:p>
                  </a:txBody>
                  <a:tcPr marL="73152" marR="73152" marT="36576" marB="36576" anchor="ctr">
                    <a:solidFill>
                      <a:srgbClr val="FDE2DE"/>
                    </a:solidFill>
                  </a:tcPr>
                </a:tc>
                <a:tc>
                  <a:txBody>
                    <a:bodyPr wrap="square"/>
                    <a:lstStyle/>
                    <a:p>
                      <a:pPr algn="ctr"/>
                      <a:r>
                        <a:rPr sz="1090" b="0" i="0">
                          <a:solidFill>
                            <a:srgbClr val="14313B"/>
                          </a:solidFill>
                          <a:latin typeface="Calibri (MS)"/>
                        </a:rPr>
                        <a:t>33,54%</a:t>
                      </a:r>
                    </a:p>
                  </a:txBody>
                  <a:tcPr marL="73152" marR="73152" marT="36576" marB="36576" anchor="ctr">
                    <a:solidFill>
                      <a:srgbClr val="FFF1BF"/>
                    </a:solidFill>
                  </a:tcPr>
                </a:tc>
                <a:tc>
                  <a:txBody>
                    <a:bodyPr wrap="square"/>
                    <a:lstStyle/>
                    <a:p>
                      <a:pPr algn="ctr"/>
                      <a:r>
                        <a:rPr sz="1090" b="0" i="0">
                          <a:solidFill>
                            <a:srgbClr val="14313B"/>
                          </a:solidFill>
                          <a:latin typeface="Calibri (MS)"/>
                        </a:rPr>
                        <a:t>U1</a:t>
                      </a:r>
                    </a:p>
                  </a:txBody>
                  <a:tcPr marL="73152" marR="73152" marT="36576" marB="36576" anchor="ctr">
                    <a:solidFill>
                      <a:srgbClr val="EAF8FA"/>
                    </a:solidFill>
                  </a:tcPr>
                </a:tc>
              </a:tr>
              <a:tr h="457200">
                <a:tc>
                  <a:txBody>
                    <a:bodyPr wrap="square"/>
                    <a:lstStyle/>
                    <a:p>
                      <a:r>
                        <a:rPr sz="1090" b="1" i="0">
                          <a:solidFill>
                            <a:srgbClr val="14313B"/>
                          </a:solidFill>
                          <a:latin typeface="Calibri (MS) Bold"/>
                        </a:rPr>
                        <a:t>Total malam menginap</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Sama</a:t>
                      </a:r>
                    </a:p>
                  </a:txBody>
                  <a:tcPr marL="73152" marR="73152" marT="36576" marB="36576" anchor="ctr">
                    <a:solidFill>
                      <a:srgbClr val="FFFFFF"/>
                    </a:solidFill>
                  </a:tcPr>
                </a:tc>
                <a:tc>
                  <a:txBody>
                    <a:bodyPr wrap="square"/>
                    <a:lstStyle/>
                    <a:p>
                      <a:pPr algn="ctr"/>
                      <a:r>
                        <a:rPr sz="1090" b="0" i="0">
                          <a:solidFill>
                            <a:srgbClr val="14313B"/>
                          </a:solidFill>
                          <a:latin typeface="Calibri (MS)"/>
                        </a:rPr>
                        <a:t>0,7041</a:t>
                      </a:r>
                    </a:p>
                  </a:txBody>
                  <a:tcPr marL="73152" marR="73152" marT="36576" marB="36576" anchor="ctr">
                    <a:solidFill>
                      <a:srgbClr val="FDE2DE"/>
                    </a:solidFill>
                  </a:tcPr>
                </a:tc>
                <a:tc>
                  <a:txBody>
                    <a:bodyPr wrap="square"/>
                    <a:lstStyle/>
                    <a:p>
                      <a:pPr algn="ctr"/>
                      <a:r>
                        <a:rPr sz="1090" b="0" i="0">
                          <a:solidFill>
                            <a:srgbClr val="14313B"/>
                          </a:solidFill>
                          <a:latin typeface="Calibri (MS)"/>
                        </a:rPr>
                        <a:t>29,52%</a:t>
                      </a:r>
                    </a:p>
                  </a:txBody>
                  <a:tcPr marL="73152" marR="73152" marT="36576" marB="36576" anchor="ctr">
                    <a:solidFill>
                      <a:srgbClr val="FFF1BF"/>
                    </a:solidFill>
                  </a:tcPr>
                </a:tc>
                <a:tc>
                  <a:txBody>
                    <a:bodyPr wrap="square"/>
                    <a:lstStyle/>
                    <a:p>
                      <a:pPr algn="ctr"/>
                      <a:r>
                        <a:rPr sz="1090" b="0" i="0">
                          <a:solidFill>
                            <a:srgbClr val="14313B"/>
                          </a:solidFill>
                          <a:latin typeface="Calibri (MS)"/>
                        </a:rPr>
                        <a:t>U1</a:t>
                      </a:r>
                    </a:p>
                  </a:txBody>
                  <a:tcPr marL="73152" marR="73152" marT="36576" marB="36576" anchor="ctr">
                    <a:solidFill>
                      <a:srgbClr val="FFFFFF"/>
                    </a:solidFill>
                  </a:tcPr>
                </a:tc>
              </a:tr>
            </a:tbl>
          </a:graphicData>
        </a:graphic>
      </p:graphicFrame>
      <p:sp>
        <p:nvSpPr>
          <p:cNvPr id="73" name="Rounded Rectangle 72"/>
          <p:cNvSpPr/>
          <p:nvPr/>
        </p:nvSpPr>
        <p:spPr>
          <a:xfrm>
            <a:off x="822960" y="6858000"/>
            <a:ext cx="11247120" cy="566928"/>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150" b="1" i="0">
                <a:solidFill>
                  <a:srgbClr val="0B5E6E"/>
                </a:solidFill>
                <a:latin typeface="Calibri (MS) Bold"/>
              </a:rPr>
              <a:t>P1b (uji kekokohan P1, rata-rata kamar per unit aktual): </a:t>
            </a:r>
            <a:r>
              <a:rPr sz="1150" b="0" i="0">
                <a:solidFill>
                  <a:srgbClr val="14313B"/>
                </a:solidFill>
                <a:latin typeface="Calibri (MS)"/>
              </a:rPr>
              <a:t>hotel DC 0,2319, MAPE 7,86% · TPK DC 0,7053, MAPE 19,56% → pola serupa P1</a:t>
            </a:r>
          </a:p>
        </p:txBody>
      </p:sp>
      <p:sp>
        <p:nvSpPr>
          <p:cNvPr id="74" name="TextBox 73"/>
          <p:cNvSpPr txBox="1"/>
          <p:nvPr/>
        </p:nvSpPr>
        <p:spPr>
          <a:xfrm>
            <a:off x="822960" y="7498079"/>
            <a:ext cx="11247120" cy="685800"/>
          </a:xfrm>
          <a:prstGeom prst="rect">
            <a:avLst/>
          </a:prstGeom>
          <a:noFill/>
        </p:spPr>
        <p:txBody>
          <a:bodyPr wrap="square" anchor="t" lIns="0" rIns="0" tIns="0" bIns="0">
            <a:spAutoFit/>
          </a:bodyPr>
          <a:lstStyle/>
          <a:p>
            <a:pPr algn="l">
              <a:spcAft>
                <a:spcPts val="400"/>
              </a:spcAft>
            </a:pPr>
            <a:r>
              <a:rPr sz="1030" b="0" i="1">
                <a:solidFill>
                  <a:srgbClr val="5E6E78"/>
                </a:solidFill>
                <a:latin typeface="Calibri (MS)"/>
              </a:rPr>
              <a:t>Sama = tren simulasi tidak berbeda nyata dari data. Merah muda = tren berbeda/berlawanan atau DC &gt; 0,7. Kuning = MAPE layak (20–50%). Jika tren berbeda, E1–E2 tidak dibaca; nilai E1–E2 lengkap pada Tabel 46–47. *DC P5 dari notebook repository (tidak ada di tabel buku).</a:t>
            </a:r>
          </a:p>
        </p:txBody>
      </p:sp>
      <p:sp>
        <p:nvSpPr>
          <p:cNvPr id="75" name="Rounded Rectangle 74"/>
          <p:cNvSpPr/>
          <p:nvPr/>
        </p:nvSpPr>
        <p:spPr>
          <a:xfrm>
            <a:off x="12298680" y="1783080"/>
            <a:ext cx="5166360" cy="2011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Uji parsial: tiap subsistem cukup baik</a:t>
            </a:r>
          </a:p>
          <a:p>
            <a:pPr algn="l">
              <a:spcAft>
                <a:spcPts val="300"/>
              </a:spcAft>
            </a:pPr>
            <a:r>
              <a:rPr sz="1320" b="0" i="0">
                <a:solidFill>
                  <a:srgbClr val="14313B"/>
                </a:solidFill>
                <a:latin typeface="Calibri (MS)"/>
              </a:rPr>
              <a:t>MAPE seluruhnya &lt; 20%. Hanya wisatawan (P5) yang gagal uji tren: simulasi ≈6,4%/tahun vs data ≈11,7%/tahun; error sistematis (U1+U2 ≈ 0,96).</a:t>
            </a:r>
          </a:p>
        </p:txBody>
      </p:sp>
      <p:sp>
        <p:nvSpPr>
          <p:cNvPr id="76" name="Rounded Rectangle 75"/>
          <p:cNvSpPr/>
          <p:nvPr/>
        </p:nvSpPr>
        <p:spPr>
          <a:xfrm>
            <a:off x="12298680" y="3886200"/>
            <a:ext cx="5166360" cy="22860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E4604F"/>
                </a:solidFill>
                <a:latin typeface="Calibri (MS) Bold"/>
              </a:rPr>
              <a:t>Uji penuh: error merambat</a:t>
            </a:r>
          </a:p>
          <a:p>
            <a:pPr algn="l">
              <a:spcAft>
                <a:spcPts val="300"/>
              </a:spcAft>
            </a:pPr>
            <a:r>
              <a:rPr sz="1320" b="0" i="0">
                <a:solidFill>
                  <a:srgbClr val="14313B"/>
                </a:solidFill>
                <a:latin typeface="Calibri (MS)"/>
              </a:rPr>
              <a:t>DC naik saat semua subsistem aktif: hotel 0,20 → 0,82; ODTW 0,34 → 0,79; tenaga kerja 0,49 → 0,89.</a:t>
            </a:r>
          </a:p>
          <a:p>
            <a:pPr algn="l">
              <a:spcAft>
                <a:spcPts val="300"/>
              </a:spcAft>
            </a:pPr>
            <a:r>
              <a:rPr sz="1320" b="0" i="0">
                <a:solidFill>
                  <a:srgbClr val="14313B"/>
                </a:solidFill>
                <a:latin typeface="Calibri (MS)"/>
              </a:rPr>
              <a:t>Penyebab: wisatawan tumbuh lebih lambat dari data → pengeluaran, PDRB, dan investasi lebih rendah → hotel dan ODTW yang dibangun lebih sedikit.</a:t>
            </a:r>
          </a:p>
        </p:txBody>
      </p:sp>
      <p:sp>
        <p:nvSpPr>
          <p:cNvPr id="77" name="Rounded Rectangle 76"/>
          <p:cNvSpPr/>
          <p:nvPr/>
        </p:nvSpPr>
        <p:spPr>
          <a:xfrm>
            <a:off x="12298680" y="6263640"/>
            <a:ext cx="5166360" cy="1874519"/>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Sumbernya satu, bukan tersebar</a:t>
            </a:r>
          </a:p>
          <a:p>
            <a:pPr algn="l">
              <a:spcAft>
                <a:spcPts val="300"/>
              </a:spcAft>
            </a:pPr>
            <a:r>
              <a:rPr sz="1320" b="0" i="0">
                <a:solidFill>
                  <a:srgbClr val="14313B"/>
                </a:solidFill>
                <a:latin typeface="Calibri (MS)"/>
              </a:rPr>
              <a:t>MAPE uji penuh: 1 sangat baik, 5 baik, 3 layak, 0 buruk. U1 (bias level) dominan pada 6 dari 9 variabel → error berasal dari satu sumber bersama.</a:t>
            </a:r>
          </a:p>
          <a:p>
            <a:pPr algn="l">
              <a:spcAft>
                <a:spcPts val="300"/>
              </a:spcAft>
            </a:pPr>
            <a:r>
              <a:rPr sz="1320" b="0" i="0">
                <a:solidFill>
                  <a:srgbClr val="14313B"/>
                </a:solidFill>
                <a:latin typeface="Calibri (MS)"/>
              </a:rPr>
              <a:t>TPK justru membaik (DC 0,6692 → 0,6224).</a:t>
            </a:r>
          </a:p>
        </p:txBody>
      </p:sp>
      <p:sp>
        <p:nvSpPr>
          <p:cNvPr id="78" name="Rounded Rectangle 77"/>
          <p:cNvSpPr/>
          <p:nvPr/>
        </p:nvSpPr>
        <p:spPr>
          <a:xfrm>
            <a:off x="822960" y="82753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Struktur tiap subsistem memadai; kelemahan utama ada pada pertumbuhan wisatawan, dan inilah yang ditelusuri lewat kalibrasi.</a:t>
            </a:r>
          </a:p>
        </p:txBody>
      </p:sp>
      <p:sp>
        <p:nvSpPr>
          <p:cNvPr id="79" name="TextBox 7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4.5.2–4.5.3, Tabel 46–47. DC = discrepancy coefficient (0,4–0,7 = rata-rata sampai baik; Barlas, 1989). Dom. = komponen error dominan.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