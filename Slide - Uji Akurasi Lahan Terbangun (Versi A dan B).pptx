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4" r:id="rId34"/>
    <p:sldId id="346" r:id="rId194"/>
    <p:sldId id="285" r:id="rId35"/>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4" Type="http://schemas.openxmlformats.org/officeDocument/2006/relationships/slide" Target="slides/slide1.xml"/><Relationship Id="rId35" Type="http://schemas.openxmlformats.org/officeDocument/2006/relationships/slide" Target="slides/slide2.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 Id="rId194"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Dynamic World (dipakai di model)</c:v>
                </c:pt>
              </c:strCache>
            </c:strRef>
          </c:tx>
          <c:spPr>
            <a:ln w="34925">
              <a:solidFill>
                <a:srgbClr val="0B5E6E"/>
              </a:solidFill>
            </a:ln>
          </c:spPr>
          <c:marker>
            <c:size val="8"/>
            <c:spPr>
              <a:solidFill>
                <a:srgbClr val="0B5E6E"/>
              </a:solidFill>
              <a:ln>
                <a:solidFill>
                  <a:srgbClr val="0B5E6E"/>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43037</c:v>
                </c:pt>
                <c:pt idx="1">
                  <c:v>44561</c:v>
                </c:pt>
                <c:pt idx="2">
                  <c:v>50224</c:v>
                </c:pt>
                <c:pt idx="3">
                  <c:v>56624</c:v>
                </c:pt>
                <c:pt idx="4">
                  <c:v>63480</c:v>
                </c:pt>
                <c:pt idx="5">
                  <c:v>58962</c:v>
                </c:pt>
                <c:pt idx="6">
                  <c:v>59888</c:v>
                </c:pt>
                <c:pt idx="7">
                  <c:v>57709</c:v>
                </c:pt>
                <c:pt idx="8">
                  <c:v>75624</c:v>
                </c:pt>
                <c:pt idx="9">
                  <c:v>73512</c:v>
                </c:pt>
                <c:pt idx="10">
                  <c:v>55030</c:v>
                </c:pt>
              </c:numCache>
            </c:numRef>
          </c:val>
          <c:smooth val="0"/>
        </c:ser>
        <c:ser>
          <c:idx val="1"/>
          <c:order val="1"/>
          <c:tx>
            <c:strRef>
              <c:f>Sheet1!$C$1</c:f>
              <c:strCache>
                <c:ptCount val="1"/>
                <c:pt idx="0">
                  <c:v>BPS (lahan bukan pertanian)</c:v>
                </c:pt>
              </c:strCache>
            </c:strRef>
          </c:tx>
          <c:spPr>
            <a:ln w="34925">
              <a:solidFill>
                <a:srgbClr val="E4604F"/>
              </a:solidFill>
            </a:ln>
          </c:spPr>
          <c:marker>
            <c:size val="8"/>
            <c:spPr>
              <a:solidFill>
                <a:srgbClr val="E4604F"/>
              </a:solidFill>
              <a:ln>
                <a:solidFill>
                  <a:srgbClr val="E4604F"/>
                </a:solidFill>
              </a:ln>
            </c:spPr>
          </c:marker>
          <c:dLbls>
            <c:numFmt formatCode="#,##0" sourceLinked="0"/>
            <c:txPr>
              <a:bodyPr/>
              <a:lstStyle/>
              <a:p>
                <a:pPr>
                  <a:defRPr sz="950">
                    <a:solidFill>
                      <a:srgbClr val="E4604F"/>
                    </a:solidFill>
                  </a:defRPr>
                </a:pPr>
              </a:p>
            </c:txPr>
            <c:dLblPos val="t"/>
            <c:showLegendKey val="0"/>
            <c:showVal val="1"/>
            <c:showCatName val="0"/>
            <c:showSerName val="0"/>
            <c:showPercent val="0"/>
            <c:showBubbleSize val="0"/>
            <c:showLeaderLines val="1"/>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Sheet1!$C$2:$C$12</c:f>
              <c:numCache>
                <c:formatCode>General</c:formatCode>
                <c:ptCount val="11"/>
                <c:pt idx="0">
                  <c:v>76334</c:v>
                </c:pt>
                <c:pt idx="1">
                  <c:v>77467</c:v>
                </c:pt>
                <c:pt idx="2">
                  <c:v>108580</c:v>
                </c:pt>
                <c:pt idx="3">
                  <c:v>114942</c:v>
                </c:pt>
                <c:pt idx="4">
                  <c:v>70371</c:v>
                </c:pt>
              </c:numCache>
            </c:numRef>
          </c:val>
          <c:smooth val="0"/>
        </c:ser>
        <c:ser>
          <c:idx val="2"/>
          <c:order val="2"/>
          <c:tx>
            <c:strRef>
              <c:f>Sheet1!$D$1</c:f>
              <c:strCache>
                <c:ptCount val="1"/>
                <c:pt idx="0">
                  <c:v>DLHK DIY</c:v>
                </c:pt>
              </c:strCache>
            </c:strRef>
          </c:tx>
          <c:spPr>
            <a:ln w="34925">
              <a:solidFill>
                <a:srgbClr val="E0A800"/>
              </a:solidFill>
            </a:ln>
          </c:spPr>
          <c:marker>
            <c:size val="8"/>
            <c:spPr>
              <a:solidFill>
                <a:srgbClr val="E0A800"/>
              </a:solidFill>
              <a:ln>
                <a:solidFill>
                  <a:srgbClr val="E0A800"/>
                </a:solidFill>
              </a:ln>
            </c:spPr>
          </c:marker>
          <c:dLbls>
            <c:numFmt formatCode="#,##0" sourceLinked="0"/>
            <c:txPr>
              <a:bodyPr/>
              <a:lstStyle/>
              <a:p>
                <a:pPr>
                  <a:defRPr sz="950">
                    <a:solidFill>
                      <a:srgbClr val="9A6B00"/>
                    </a:solidFill>
                  </a:defRPr>
                </a:pPr>
              </a:p>
            </c:txPr>
            <c:dLblPos val="b"/>
            <c:showLegendKey val="0"/>
            <c:showVal val="1"/>
            <c:showCatName val="0"/>
            <c:showSerName val="0"/>
            <c:showPercent val="0"/>
            <c:showBubbleSize val="0"/>
            <c:showLeaderLines val="1"/>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Sheet1!$D$2:$D$12</c:f>
              <c:numCache>
                <c:formatCode>General</c:formatCode>
                <c:ptCount val="11"/>
                <c:pt idx="0">
                  <c:v>75146</c:v>
                </c:pt>
                <c:pt idx="1">
                  <c:v>65461</c:v>
                </c:pt>
                <c:pt idx="2">
                  <c:v>70371</c:v>
                </c:pt>
                <c:pt idx="3">
                  <c:v>70371</c:v>
                </c:pt>
              </c:numCache>
            </c:numRef>
          </c:val>
          <c:smooth val="0"/>
        </c:ser>
        <c:dLbls>
          <c:numFmt formatCode="#,##0" sourceLinked="0"/>
          <c:txPr>
            <a:bodyPr/>
            <a:lstStyle/>
            <a:p>
              <a:pPr>
                <a:defRPr sz="95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125000.0"/>
          <c:min val="30000.0"/>
        </c:scaling>
        <c:delete val="0"/>
        <c:axPos val="l"/>
        <c:majorGridlines>
          <c:spPr>
            <a:ln>
              <a:solidFill>
                <a:srgbClr val="E3EEF1"/>
              </a:solidFill>
            </a:ln>
          </c:spPr>
        </c:majorGridlines>
        <c:numFmt formatCode="#,##0" sourceLinked="0"/>
        <c:majorTickMark val="out"/>
        <c:minorTickMark val="none"/>
        <c:tickLblPos val="nextTo"/>
        <c:txPr>
          <a:bodyPr/>
          <a:lstStyle/>
          <a:p>
            <a:pPr>
              <a:defRPr sz="1000"/>
            </a:pPr>
          </a:p>
        </c:txPr>
        <c:crossAx val="2118791784"/>
        <c:crosses val="autoZero"/>
      </c:valAx>
    </c:plotArea>
    <c:legend>
      <c:legendPos val="t"/>
      <c:layout/>
      <c:overlay val="0"/>
    </c:legend>
    <c:plotVisOnly val="1"/>
    <c:dispBlanksAs val="gap"/>
    <c:showDLblsOverMax val="0"/>
  </c:chart>
  <c:txPr>
    <a:bodyPr/>
    <a:lstStyle/>
    <a:p>
      <a:pPr>
        <a:defRPr sz="11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Akurasi kelas terbangun Dynamic World 2025 diuji dengan 200 titik acak berstrata, dibandingkan dengan interpretasi visual citra resolusi tinggi. Karena sampel dibuat 50:50 padahal luas lahan terbangun jauh lebih kecil, ukuran utamanya adalah akurasi terbobot luas mengikuti Olofsson dkk.: 89,95 persen. Kappa 0,61 termasuk kesepakatan kuat. Kesalahan didominasi commission error, 34 titik, artinya peta cenderung sedikit melebihkan lahan terbangun.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Versi satu slide: uji akurasi dan validasi spasial digabung. Akurasi terbobot luas 89,95 persen dan Kappa 0,61. Kesalahan utamanya commission error. Dari 200 titik yang sama, akurasi titik berprobabilitas rendah 97,7 persen, tetapi titik dekat 0,5 hanya 52 persen; pengecekan visual menunjukkan kesalahan ada di tepi objek. Jadi data layak dipakai, dengan kesalahan yang sistematis.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Validasi spasial: titik-titik dari uji akurasi saya cek ulang di citra resolusi tinggi. Titik yang benar berada di kawasan yang jelas terbangun atau jelas bervegetasi. Titik yang salah umumnya di tepi objek, misalnya tepi jalan yang hanya menutupi sekitar 7 dari 10 meter piksel. Ini didukung angka: akurasi pada probabilitas rendah 97,7 persen, tetapi pada probabilitas dekat 0,5 hanya 52 persen. Jadi kesalahannya sistematis, bukan acak.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chart" Target="../charts/chart1.xml"/><Relationship Id="rId9" Type="http://schemas.openxmlformats.org/officeDocument/2006/relationships/image" Target="../media/image10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image" Target="../media/image104.png"/><Relationship Id="rId9" Type="http://schemas.openxmlformats.org/officeDocument/2006/relationships/notesSlide" Target="../notesSlides/notesSlide9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Lahan Terbangun — Uji Akurasi (1/2): Metrik Evaluasi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cukup akurat untuk data lahan terbangun: akurasi 89,95%, Kappa 0,61</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id="114" name="Rounded Rectangle 113"/>
          <p:cNvSpPr/>
          <p:nvPr/>
        </p:nvSpPr>
        <p:spPr>
          <a:xfrm>
            <a:off x="822960" y="1783080"/>
            <a:ext cx="16642080" cy="566928"/>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550" b="1" i="0">
                <a:solidFill>
                  <a:srgbClr val="FFD23B"/>
                </a:solidFill>
                <a:latin typeface="Calibri (MS) Bold"/>
              </a:rPr>
              <a:t>Desain uji  </a:t>
            </a:r>
            <a:r>
              <a:rPr sz="1490" b="1" i="0">
                <a:solidFill>
                  <a:srgbClr val="FFFFFF"/>
                </a:solidFill>
                <a:latin typeface="Calibri (MS) Bold"/>
              </a:rPr>
              <a:t>Peta Dynamic World 2025 (kelas built, probabilitas ≥ 0,5) · 200 titik acak berstrata (100 terbangun, 100 bukan) · rujukan: interpretasi visual citra resolusi tinggi Google Earth</a:t>
            </a:r>
          </a:p>
        </p:txBody>
      </p:sp>
      <p:graphicFrame>
        <p:nvGraphicFramePr>
          <p:cNvPr id="115" name="Table 114"/>
          <p:cNvGraphicFramePr>
            <a:graphicFrameLocks noGrp="1"/>
          </p:cNvGraphicFramePr>
          <p:nvPr/>
        </p:nvGraphicFramePr>
        <p:xfrm>
          <a:off x="822960" y="2487168"/>
          <a:ext cx="16642079" cy="3968496"/>
        </p:xfrm>
        <a:graphic>
          <a:graphicData uri="http://schemas.openxmlformats.org/drawingml/2006/table">
            <a:tbl>
              <a:tblPr firstRow="1" bandRow="1">
                <a:tableStyleId>{5C22544A-7EE6-4342-B048-85BDC9FD1C3A}</a:tableStyleId>
              </a:tblPr>
              <a:tblGrid>
                <a:gridCol w="3566159"/>
                <a:gridCol w="4480560"/>
                <a:gridCol w="4663440"/>
                <a:gridCol w="1737360"/>
                <a:gridCol w="2194560"/>
              </a:tblGrid>
              <a:tr h="566928">
                <a:tc>
                  <a:txBody>
                    <a:bodyPr wrap="square"/>
                    <a:lstStyle/>
                    <a:p>
                      <a:r>
                        <a:rPr sz="1320" b="1" i="0">
                          <a:solidFill>
                            <a:srgbClr val="FFFFFF"/>
                          </a:solidFill>
                          <a:latin typeface="Calibri (MS) Bold"/>
                        </a:rPr>
                        <a:t>Metrik</a:t>
                      </a:r>
                    </a:p>
                  </a:txBody>
                  <a:tcPr marL="73152" marR="73152" marT="36576" marB="36576" anchor="ctr">
                    <a:solidFill>
                      <a:srgbClr val="0B5E6E"/>
                    </a:solidFill>
                  </a:tcPr>
                </a:tc>
                <a:tc>
                  <a:txBody>
                    <a:bodyPr wrap="square"/>
                    <a:lstStyle/>
                    <a:p>
                      <a:r>
                        <a:rPr sz="1320" b="1" i="0">
                          <a:solidFill>
                            <a:srgbClr val="FFFFFF"/>
                          </a:solidFill>
                          <a:latin typeface="Calibri (MS) Bold"/>
                        </a:rPr>
                        <a:t>Rumus</a:t>
                      </a:r>
                    </a:p>
                  </a:txBody>
                  <a:tcPr marL="73152" marR="73152" marT="36576" marB="36576" anchor="ctr">
                    <a:solidFill>
                      <a:srgbClr val="0B5E6E"/>
                    </a:solidFill>
                  </a:tcPr>
                </a:tc>
                <a:tc>
                  <a:txBody>
                    <a:bodyPr wrap="square"/>
                    <a:lstStyle/>
                    <a:p>
                      <a:r>
                        <a:rPr sz="1320" b="1" i="0">
                          <a:solidFill>
                            <a:srgbClr val="FFFFFF"/>
                          </a:solidFill>
                          <a:latin typeface="Calibri (MS) Bold"/>
                        </a:rPr>
                        <a:t>Cara membaca / kriteria</a:t>
                      </a:r>
                    </a:p>
                  </a:txBody>
                  <a:tcPr marL="73152" marR="73152" marT="36576" marB="36576" anchor="ctr">
                    <a:solidFill>
                      <a:srgbClr val="0B5E6E"/>
                    </a:solidFill>
                  </a:tcPr>
                </a:tc>
                <a:tc>
                  <a:txBody>
                    <a:bodyPr wrap="square"/>
                    <a:lstStyle/>
                    <a:p>
                      <a:r>
                        <a:rPr sz="1320" b="1" i="0">
                          <a:solidFill>
                            <a:srgbClr val="FFFFFF"/>
                          </a:solidFill>
                          <a:latin typeface="Calibri (MS) Bold"/>
                        </a:rPr>
                        <a:t>Hasil</a:t>
                      </a:r>
                    </a:p>
                  </a:txBody>
                  <a:tcPr marL="73152" marR="73152" marT="36576" marB="36576" anchor="ctr">
                    <a:solidFill>
                      <a:srgbClr val="0B5E6E"/>
                    </a:solidFill>
                  </a:tcPr>
                </a:tc>
                <a:tc>
                  <a:txBody>
                    <a:bodyPr wrap="square"/>
                    <a:lstStyle/>
                    <a:p>
                      <a:r>
                        <a:rPr sz="1320" b="1" i="0">
                          <a:solidFill>
                            <a:srgbClr val="FFFFFF"/>
                          </a:solidFill>
                          <a:latin typeface="Calibri (MS) Bold"/>
                        </a:rPr>
                        <a:t>IK 95%</a:t>
                      </a:r>
                    </a:p>
                  </a:txBody>
                  <a:tcPr marL="73152" marR="73152" marT="36576" marB="36576" anchor="ctr">
                    <a:solidFill>
                      <a:srgbClr val="0B5E6E"/>
                    </a:solidFill>
                  </a:tcPr>
                </a:tc>
              </a:tr>
              <a:tr h="566928">
                <a:tc>
                  <a:txBody>
                    <a:bodyPr wrap="square"/>
                    <a:lstStyle/>
                    <a:p>
                      <a:r>
                        <a:rPr sz="1320" b="1" i="0">
                          <a:solidFill>
                            <a:srgbClr val="14313B"/>
                          </a:solidFill>
                          <a:latin typeface="Calibri (MS) Bold"/>
                        </a:rPr>
                        <a:t>Overall accuracy (tak terbobot)</a:t>
                      </a:r>
                    </a:p>
                  </a:txBody>
                  <a:tcPr marL="73152" marR="73152" marT="36576" marB="36576" anchor="ctr">
                    <a:solidFill>
                      <a:srgbClr val="FFFFFF"/>
                    </a:solidFill>
                  </a:tcPr>
                </a:tc>
                <a:tc>
                  <a:txBody>
                    <a:bodyPr wrap="square"/>
                    <a:lstStyle/>
                    <a:p>
                      <a:r>
                        <a:rPr sz="1320" b="0" i="0">
                          <a:solidFill>
                            <a:srgbClr val="14313B"/>
                          </a:solidFill>
                          <a:latin typeface="Calibri (MS)"/>
                        </a:rPr>
                        <a:t>OA = (n₁₁ + n₀₀) / n</a:t>
                      </a:r>
                    </a:p>
                  </a:txBody>
                  <a:tcPr marL="73152" marR="73152" marT="36576" marB="36576" anchor="ctr">
                    <a:solidFill>
                      <a:srgbClr val="FFFFFF"/>
                    </a:solidFill>
                  </a:tcPr>
                </a:tc>
                <a:tc>
                  <a:txBody>
                    <a:bodyPr wrap="square"/>
                    <a:lstStyle/>
                    <a:p>
                      <a:r>
                        <a:rPr sz="1320" b="0" i="0">
                          <a:solidFill>
                            <a:srgbClr val="14313B"/>
                          </a:solidFill>
                          <a:latin typeface="Calibri (MS)"/>
                        </a:rPr>
                        <a:t>Porsi titik yang benar; bias karena sampel 50:50</a:t>
                      </a:r>
                    </a:p>
                  </a:txBody>
                  <a:tcPr marL="73152" marR="73152" marT="36576" marB="36576" anchor="ctr">
                    <a:solidFill>
                      <a:srgbClr val="FFFFFF"/>
                    </a:solidFill>
                  </a:tcPr>
                </a:tc>
                <a:tc>
                  <a:txBody>
                    <a:bodyPr wrap="square"/>
                    <a:lstStyle/>
                    <a:p>
                      <a:pPr algn="ctr"/>
                      <a:r>
                        <a:rPr sz="1320" b="0" i="0">
                          <a:solidFill>
                            <a:srgbClr val="14313B"/>
                          </a:solidFill>
                          <a:latin typeface="Calibri (MS)"/>
                        </a:rPr>
                        <a:t>80,50%</a:t>
                      </a:r>
                    </a:p>
                  </a:txBody>
                  <a:tcPr marL="73152" marR="73152" marT="36576" marB="36576" anchor="ctr">
                    <a:solidFill>
                      <a:srgbClr val="FFFFFF"/>
                    </a:solidFill>
                  </a:tcPr>
                </a:tc>
                <a:tc>
                  <a:txBody>
                    <a:bodyPr wrap="square"/>
                    <a:lstStyle/>
                    <a:p>
                      <a:pPr algn="ctr"/>
                      <a:r>
                        <a:rPr sz="1320" b="0" i="0">
                          <a:solidFill>
                            <a:srgbClr val="14313B"/>
                          </a:solidFill>
                          <a:latin typeface="Calibri (MS)"/>
                        </a:rPr>
                        <a:t>74,46–85,39%</a:t>
                      </a:r>
                    </a:p>
                  </a:txBody>
                  <a:tcPr marL="73152" marR="73152" marT="36576" marB="36576" anchor="ctr">
                    <a:solidFill>
                      <a:srgbClr val="FFFFFF"/>
                    </a:solidFill>
                  </a:tcPr>
                </a:tc>
              </a:tr>
              <a:tr h="566928">
                <a:tc>
                  <a:txBody>
                    <a:bodyPr wrap="square"/>
                    <a:lstStyle/>
                    <a:p>
                      <a:r>
                        <a:rPr sz="1320" b="1" i="0">
                          <a:solidFill>
                            <a:srgbClr val="14313B"/>
                          </a:solidFill>
                          <a:latin typeface="Calibri (MS) Bold"/>
                        </a:rPr>
                        <a:t>Overall accuracy terbobot luas (Olofsson dkk., 2014)</a:t>
                      </a:r>
                    </a:p>
                  </a:txBody>
                  <a:tcPr marL="73152" marR="73152" marT="36576" marB="36576" anchor="ctr">
                    <a:solidFill>
                      <a:srgbClr val="EAF8FA"/>
                    </a:solidFill>
                  </a:tcPr>
                </a:tc>
                <a:tc>
                  <a:txBody>
                    <a:bodyPr wrap="square"/>
                    <a:lstStyle/>
                    <a:p>
                      <a:r>
                        <a:rPr sz="1320" b="0" i="0">
                          <a:solidFill>
                            <a:srgbClr val="14313B"/>
                          </a:solidFill>
                          <a:latin typeface="Calibri (MS)"/>
                        </a:rPr>
                        <a:t>ÔA = Σ Wᵢ · (nᵢᵢ / nᵢ.) ;  Wᵢ = Aᵢ / A_total</a:t>
                      </a:r>
                    </a:p>
                  </a:txBody>
                  <a:tcPr marL="73152" marR="73152" marT="36576" marB="36576" anchor="ctr">
                    <a:solidFill>
                      <a:srgbClr val="EAF8FA"/>
                    </a:solidFill>
                  </a:tcPr>
                </a:tc>
                <a:tc>
                  <a:txBody>
                    <a:bodyPr wrap="square"/>
                    <a:lstStyle/>
                    <a:p>
                      <a:r>
                        <a:rPr sz="1320" b="0" i="0">
                          <a:solidFill>
                            <a:srgbClr val="14313B"/>
                          </a:solidFill>
                          <a:latin typeface="Calibri (MS)"/>
                        </a:rPr>
                        <a:t>Ukuran utama: menyesuaikan dengan luas tiap kelas</a:t>
                      </a:r>
                    </a:p>
                  </a:txBody>
                  <a:tcPr marL="73152" marR="73152" marT="36576" marB="36576" anchor="ctr">
                    <a:solidFill>
                      <a:srgbClr val="EAF8FA"/>
                    </a:solidFill>
                  </a:tcPr>
                </a:tc>
                <a:tc>
                  <a:txBody>
                    <a:bodyPr wrap="square"/>
                    <a:lstStyle/>
                    <a:p>
                      <a:pPr algn="ctr"/>
                      <a:r>
                        <a:rPr sz="1320" b="1" i="0">
                          <a:solidFill>
                            <a:srgbClr val="14313B"/>
                          </a:solidFill>
                          <a:latin typeface="Calibri (MS)"/>
                        </a:rPr>
                        <a:t>89,95%</a:t>
                      </a:r>
                    </a:p>
                  </a:txBody>
                  <a:tcPr marL="73152" marR="73152" marT="36576" marB="36576" anchor="ctr">
                    <a:solidFill>
                      <a:srgbClr val="C9F0D6"/>
                    </a:solidFill>
                  </a:tcPr>
                </a:tc>
                <a:tc>
                  <a:txBody>
                    <a:bodyPr wrap="square"/>
                    <a:lstStyle/>
                    <a:p>
                      <a:pPr algn="ctr"/>
                      <a:r>
                        <a:rPr sz="1320" b="0" i="0">
                          <a:solidFill>
                            <a:srgbClr val="14313B"/>
                          </a:solidFill>
                          <a:latin typeface="Calibri (MS)"/>
                        </a:rPr>
                        <a:t>86,05–93,85%</a:t>
                      </a:r>
                    </a:p>
                  </a:txBody>
                  <a:tcPr marL="73152" marR="73152" marT="36576" marB="36576" anchor="ctr">
                    <a:solidFill>
                      <a:srgbClr val="EAF8FA"/>
                    </a:solidFill>
                  </a:tcPr>
                </a:tc>
              </a:tr>
              <a:tr h="566928">
                <a:tc>
                  <a:txBody>
                    <a:bodyPr wrap="square"/>
                    <a:lstStyle/>
                    <a:p>
                      <a:r>
                        <a:rPr sz="1320" b="1" i="0">
                          <a:solidFill>
                            <a:srgbClr val="14313B"/>
                          </a:solidFill>
                          <a:latin typeface="Calibri (MS) Bold"/>
                        </a:rPr>
                        <a:t>User's accuracy (terbangun)</a:t>
                      </a:r>
                    </a:p>
                  </a:txBody>
                  <a:tcPr marL="73152" marR="73152" marT="36576" marB="36576" anchor="ctr">
                    <a:solidFill>
                      <a:srgbClr val="FFFFFF"/>
                    </a:solidFill>
                  </a:tcPr>
                </a:tc>
                <a:tc>
                  <a:txBody>
                    <a:bodyPr wrap="square"/>
                    <a:lstStyle/>
                    <a:p>
                      <a:r>
                        <a:rPr sz="1320" b="0" i="0">
                          <a:solidFill>
                            <a:srgbClr val="14313B"/>
                          </a:solidFill>
                          <a:latin typeface="Calibri (MS)"/>
                        </a:rPr>
                        <a:t>UA = n₁₁ / (n₁₁ + n₁₀)</a:t>
                      </a:r>
                    </a:p>
                  </a:txBody>
                  <a:tcPr marL="73152" marR="73152" marT="36576" marB="36576" anchor="ctr">
                    <a:solidFill>
                      <a:srgbClr val="FFFFFF"/>
                    </a:solidFill>
                  </a:tcPr>
                </a:tc>
                <a:tc>
                  <a:txBody>
                    <a:bodyPr wrap="square"/>
                    <a:lstStyle/>
                    <a:p>
                      <a:r>
                        <a:rPr sz="1320" b="0" i="0">
                          <a:solidFill>
                            <a:srgbClr val="14313B"/>
                          </a:solidFill>
                          <a:latin typeface="Calibri (MS)"/>
                        </a:rPr>
                        <a:t>Ketepatan peta: yang dipetakan terbangun benar terbangun</a:t>
                      </a:r>
                    </a:p>
                  </a:txBody>
                  <a:tcPr marL="73152" marR="73152" marT="36576" marB="36576" anchor="ctr">
                    <a:solidFill>
                      <a:srgbClr val="FFFFFF"/>
                    </a:solidFill>
                  </a:tcPr>
                </a:tc>
                <a:tc>
                  <a:txBody>
                    <a:bodyPr wrap="square"/>
                    <a:lstStyle/>
                    <a:p>
                      <a:pPr algn="ctr"/>
                      <a:r>
                        <a:rPr sz="1320" b="0" i="0">
                          <a:solidFill>
                            <a:srgbClr val="14313B"/>
                          </a:solidFill>
                          <a:latin typeface="Calibri (MS)"/>
                        </a:rPr>
                        <a:t>66,00%</a:t>
                      </a:r>
                    </a:p>
                  </a:txBody>
                  <a:tcPr marL="73152" marR="73152" marT="36576" marB="36576" anchor="ctr">
                    <a:solidFill>
                      <a:srgbClr val="FFFFFF"/>
                    </a:solidFill>
                  </a:tcPr>
                </a:tc>
                <a:tc>
                  <a:txBody>
                    <a:bodyPr wrap="square"/>
                    <a:lstStyle/>
                    <a:p>
                      <a:pPr algn="ctr"/>
                      <a:r>
                        <a:rPr sz="1320" b="0" i="0">
                          <a:solidFill>
                            <a:srgbClr val="14313B"/>
                          </a:solidFill>
                          <a:latin typeface="Calibri (MS)"/>
                        </a:rPr>
                        <a:t>56,67–75,33%</a:t>
                      </a:r>
                    </a:p>
                  </a:txBody>
                  <a:tcPr marL="73152" marR="73152" marT="36576" marB="36576" anchor="ctr">
                    <a:solidFill>
                      <a:srgbClr val="FFFFFF"/>
                    </a:solidFill>
                  </a:tcPr>
                </a:tc>
              </a:tr>
              <a:tr h="566928">
                <a:tc>
                  <a:txBody>
                    <a:bodyPr wrap="square"/>
                    <a:lstStyle/>
                    <a:p>
                      <a:r>
                        <a:rPr sz="1320" b="1" i="0">
                          <a:solidFill>
                            <a:srgbClr val="14313B"/>
                          </a:solidFill>
                          <a:latin typeface="Calibri (MS) Bold"/>
                        </a:rPr>
                        <a:t>Producer's accuracy (terbangun)</a:t>
                      </a:r>
                    </a:p>
                  </a:txBody>
                  <a:tcPr marL="73152" marR="73152" marT="36576" marB="36576" anchor="ctr">
                    <a:solidFill>
                      <a:srgbClr val="EAF8FA"/>
                    </a:solidFill>
                  </a:tcPr>
                </a:tc>
                <a:tc>
                  <a:txBody>
                    <a:bodyPr wrap="square"/>
                    <a:lstStyle/>
                    <a:p>
                      <a:r>
                        <a:rPr sz="1320" b="0" i="0">
                          <a:solidFill>
                            <a:srgbClr val="14313B"/>
                          </a:solidFill>
                          <a:latin typeface="Calibri (MS)"/>
                        </a:rPr>
                        <a:t>PA = n₁₁ / (n₁₁ + n₀₁)</a:t>
                      </a:r>
                    </a:p>
                  </a:txBody>
                  <a:tcPr marL="73152" marR="73152" marT="36576" marB="36576" anchor="ctr">
                    <a:solidFill>
                      <a:srgbClr val="EAF8FA"/>
                    </a:solidFill>
                  </a:tcPr>
                </a:tc>
                <a:tc>
                  <a:txBody>
                    <a:bodyPr wrap="square"/>
                    <a:lstStyle/>
                    <a:p>
                      <a:r>
                        <a:rPr sz="1320" b="0" i="0">
                          <a:solidFill>
                            <a:srgbClr val="14313B"/>
                          </a:solidFill>
                          <a:latin typeface="Calibri (MS)"/>
                        </a:rPr>
                        <a:t>Kelengkapan: terbangun di lapangan ikut terpetakan</a:t>
                      </a:r>
                    </a:p>
                  </a:txBody>
                  <a:tcPr marL="73152" marR="73152" marT="36576" marB="36576" anchor="ctr">
                    <a:solidFill>
                      <a:srgbClr val="EAF8FA"/>
                    </a:solidFill>
                  </a:tcPr>
                </a:tc>
                <a:tc>
                  <a:txBody>
                    <a:bodyPr wrap="square"/>
                    <a:lstStyle/>
                    <a:p>
                      <a:pPr algn="ctr"/>
                      <a:r>
                        <a:rPr sz="1320" b="0" i="0">
                          <a:solidFill>
                            <a:srgbClr val="14313B"/>
                          </a:solidFill>
                          <a:latin typeface="Calibri (MS)"/>
                        </a:rPr>
                        <a:t>73,58%</a:t>
                      </a:r>
                    </a:p>
                  </a:txBody>
                  <a:tcPr marL="73152" marR="73152" marT="36576" marB="36576" anchor="ctr">
                    <a:solidFill>
                      <a:srgbClr val="EAF8FA"/>
                    </a:solidFill>
                  </a:tcPr>
                </a:tc>
                <a:tc>
                  <a:txBody>
                    <a:bodyPr wrap="square"/>
                    <a:lstStyle/>
                    <a:p>
                      <a:pPr algn="ctr"/>
                      <a:r>
                        <a:rPr sz="1320" b="0" i="0">
                          <a:solidFill>
                            <a:srgbClr val="14313B"/>
                          </a:solidFill>
                          <a:latin typeface="Calibri (MS)"/>
                        </a:rPr>
                        <a:t>56,66–90,50%</a:t>
                      </a:r>
                    </a:p>
                  </a:txBody>
                  <a:tcPr marL="73152" marR="73152" marT="36576" marB="36576" anchor="ctr">
                    <a:solidFill>
                      <a:srgbClr val="EAF8FA"/>
                    </a:solidFill>
                  </a:tcPr>
                </a:tc>
              </a:tr>
              <a:tr h="566928">
                <a:tc>
                  <a:txBody>
                    <a:bodyPr wrap="square"/>
                    <a:lstStyle/>
                    <a:p>
                      <a:r>
                        <a:rPr sz="1320" b="1" i="0">
                          <a:solidFill>
                            <a:srgbClr val="14313B"/>
                          </a:solidFill>
                          <a:latin typeface="Calibri (MS) Bold"/>
                        </a:rPr>
                        <a:t>F1-score (terbangun)</a:t>
                      </a:r>
                    </a:p>
                  </a:txBody>
                  <a:tcPr marL="73152" marR="73152" marT="36576" marB="36576" anchor="ctr">
                    <a:solidFill>
                      <a:srgbClr val="FFFFFF"/>
                    </a:solidFill>
                  </a:tcPr>
                </a:tc>
                <a:tc>
                  <a:txBody>
                    <a:bodyPr wrap="square"/>
                    <a:lstStyle/>
                    <a:p>
                      <a:r>
                        <a:rPr sz="1320" b="0" i="0">
                          <a:solidFill>
                            <a:srgbClr val="14313B"/>
                          </a:solidFill>
                          <a:latin typeface="Calibri (MS)"/>
                        </a:rPr>
                        <a:t>F1 = 2 · UA · PA / (UA + PA)</a:t>
                      </a:r>
                    </a:p>
                  </a:txBody>
                  <a:tcPr marL="73152" marR="73152" marT="36576" marB="36576" anchor="ctr">
                    <a:solidFill>
                      <a:srgbClr val="FFFFFF"/>
                    </a:solidFill>
                  </a:tcPr>
                </a:tc>
                <a:tc>
                  <a:txBody>
                    <a:bodyPr wrap="square"/>
                    <a:lstStyle/>
                    <a:p>
                      <a:r>
                        <a:rPr sz="1320" b="0" i="0">
                          <a:solidFill>
                            <a:srgbClr val="14313B"/>
                          </a:solidFill>
                          <a:latin typeface="Calibri (MS)"/>
                        </a:rPr>
                        <a:t>Gabungan UA dan PA; makin dekat 100% makin baik</a:t>
                      </a:r>
                    </a:p>
                  </a:txBody>
                  <a:tcPr marL="73152" marR="73152" marT="36576" marB="36576" anchor="ctr">
                    <a:solidFill>
                      <a:srgbClr val="FFFFFF"/>
                    </a:solidFill>
                  </a:tcPr>
                </a:tc>
                <a:tc>
                  <a:txBody>
                    <a:bodyPr wrap="square"/>
                    <a:lstStyle/>
                    <a:p>
                      <a:pPr algn="ctr"/>
                      <a:r>
                        <a:rPr sz="1320" b="0" i="0">
                          <a:solidFill>
                            <a:srgbClr val="14313B"/>
                          </a:solidFill>
                          <a:latin typeface="Calibri (MS)"/>
                        </a:rPr>
                        <a:t>77,19%</a:t>
                      </a:r>
                    </a:p>
                  </a:txBody>
                  <a:tcPr marL="73152" marR="73152" marT="36576" marB="36576" anchor="ctr">
                    <a:solidFill>
                      <a:srgbClr val="FFFFFF"/>
                    </a:solidFill>
                  </a:tcPr>
                </a:tc>
                <a:tc>
                  <a:txBody>
                    <a:bodyPr wrap="square"/>
                    <a:lstStyle/>
                    <a:p>
                      <a:pPr algn="ctr"/>
                      <a:r>
                        <a:rPr sz="1320" b="0" i="0">
                          <a:solidFill>
                            <a:srgbClr val="14313B"/>
                          </a:solidFill>
                          <a:latin typeface="Calibri (MS)"/>
                        </a:rPr>
                        <a:t>—</a:t>
                      </a:r>
                    </a:p>
                  </a:txBody>
                  <a:tcPr marL="73152" marR="73152" marT="36576" marB="36576" anchor="ctr">
                    <a:solidFill>
                      <a:srgbClr val="FFFFFF"/>
                    </a:solidFill>
                  </a:tcPr>
                </a:tc>
              </a:tr>
              <a:tr h="566928">
                <a:tc>
                  <a:txBody>
                    <a:bodyPr wrap="square"/>
                    <a:lstStyle/>
                    <a:p>
                      <a:r>
                        <a:rPr sz="1320" b="1" i="0">
                          <a:solidFill>
                            <a:srgbClr val="14313B"/>
                          </a:solidFill>
                          <a:latin typeface="Calibri (MS) Bold"/>
                        </a:rPr>
                        <a:t>Koefisien Kappa</a:t>
                      </a:r>
                    </a:p>
                  </a:txBody>
                  <a:tcPr marL="73152" marR="73152" marT="36576" marB="36576" anchor="ctr">
                    <a:solidFill>
                      <a:srgbClr val="EAF8FA"/>
                    </a:solidFill>
                  </a:tcPr>
                </a:tc>
                <a:tc>
                  <a:txBody>
                    <a:bodyPr wrap="square"/>
                    <a:lstStyle/>
                    <a:p>
                      <a:r>
                        <a:rPr sz="1320" b="0" i="0">
                          <a:solidFill>
                            <a:srgbClr val="14313B"/>
                          </a:solidFill>
                          <a:latin typeface="Calibri (MS)"/>
                        </a:rPr>
                        <a:t>κ = (pₒ − pₑ) / (1 − pₑ)</a:t>
                      </a:r>
                    </a:p>
                  </a:txBody>
                  <a:tcPr marL="73152" marR="73152" marT="36576" marB="36576" anchor="ctr">
                    <a:solidFill>
                      <a:srgbClr val="EAF8FA"/>
                    </a:solidFill>
                  </a:tcPr>
                </a:tc>
                <a:tc>
                  <a:txBody>
                    <a:bodyPr wrap="square"/>
                    <a:lstStyle/>
                    <a:p>
                      <a:r>
                        <a:rPr sz="1320" b="0" i="0">
                          <a:solidFill>
                            <a:srgbClr val="14313B"/>
                          </a:solidFill>
                          <a:latin typeface="Calibri (MS)"/>
                        </a:rPr>
                        <a:t>Landis &amp; Koch (1977): 0,61–0,80 = kesepakatan kuat</a:t>
                      </a:r>
                    </a:p>
                  </a:txBody>
                  <a:tcPr marL="73152" marR="73152" marT="36576" marB="36576" anchor="ctr">
                    <a:solidFill>
                      <a:srgbClr val="EAF8FA"/>
                    </a:solidFill>
                  </a:tcPr>
                </a:tc>
                <a:tc>
                  <a:txBody>
                    <a:bodyPr wrap="square"/>
                    <a:lstStyle/>
                    <a:p>
                      <a:pPr algn="ctr"/>
                      <a:r>
                        <a:rPr sz="1320" b="1" i="0">
                          <a:solidFill>
                            <a:srgbClr val="14313B"/>
                          </a:solidFill>
                          <a:latin typeface="Calibri (MS)"/>
                        </a:rPr>
                        <a:t>0,61</a:t>
                      </a:r>
                    </a:p>
                  </a:txBody>
                  <a:tcPr marL="73152" marR="73152" marT="36576" marB="36576" anchor="ctr">
                    <a:solidFill>
                      <a:srgbClr val="C9F0D6"/>
                    </a:solidFill>
                  </a:tcPr>
                </a:tc>
                <a:tc>
                  <a:txBody>
                    <a:bodyPr wrap="square"/>
                    <a:lstStyle/>
                    <a:p>
                      <a:pPr algn="ctr"/>
                      <a:r>
                        <a:rPr sz="1320" b="0" i="0">
                          <a:solidFill>
                            <a:srgbClr val="14313B"/>
                          </a:solidFill>
                          <a:latin typeface="Calibri (MS)"/>
                        </a:rPr>
                        <a:t>0,50–0,72</a:t>
                      </a:r>
                    </a:p>
                  </a:txBody>
                  <a:tcPr marL="73152" marR="73152" marT="36576" marB="36576" anchor="ctr">
                    <a:solidFill>
                      <a:srgbClr val="EAF8FA"/>
                    </a:solidFill>
                  </a:tcPr>
                </a:tc>
              </a:tr>
            </a:tbl>
          </a:graphicData>
        </a:graphic>
      </p:graphicFrame>
      <p:sp>
        <p:nvSpPr>
          <p:cNvPr id="116" name="TextBox 115"/>
          <p:cNvSpPr txBox="1"/>
          <p:nvPr/>
        </p:nvSpPr>
        <p:spPr>
          <a:xfrm>
            <a:off x="822960" y="6510528"/>
            <a:ext cx="16642080" cy="32004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n₁₁ = terbangun benar · n₀₀ = bukan terbangun benar · n₁₀ = commission error (dipetakan terbangun padahal bukan) · n₀₁ = omission error (terbangun tetapi tidak terpetakan) · Aᵢ = luas kelas i di peta · pₒ = kesepakatan teramati · pₑ = kesepakatan karena kebetulan</a:t>
            </a:r>
          </a:p>
        </p:txBody>
      </p:sp>
      <p:graphicFrame>
        <p:nvGraphicFramePr>
          <p:cNvPr id="117" name="Table 116"/>
          <p:cNvGraphicFramePr>
            <a:graphicFrameLocks noGrp="1"/>
          </p:cNvGraphicFramePr>
          <p:nvPr/>
        </p:nvGraphicFramePr>
        <p:xfrm>
          <a:off x="822960" y="7086600"/>
          <a:ext cx="6035040" cy="1316736"/>
        </p:xfrm>
        <a:graphic>
          <a:graphicData uri="http://schemas.openxmlformats.org/drawingml/2006/table">
            <a:tbl>
              <a:tblPr firstRow="1" bandRow="1">
                <a:tableStyleId>{5C22544A-7EE6-4342-B048-85BDC9FD1C3A}</a:tableStyleId>
              </a:tblPr>
              <a:tblGrid>
                <a:gridCol w="2194560"/>
                <a:gridCol w="1920240"/>
                <a:gridCol w="1920240"/>
              </a:tblGrid>
              <a:tr h="438912">
                <a:tc>
                  <a:txBody>
                    <a:bodyPr wrap="square"/>
                    <a:lstStyle/>
                    <a:p>
                      <a:r>
                        <a:rPr sz="1440" b="1" i="0">
                          <a:solidFill>
                            <a:srgbClr val="FFFFFF"/>
                          </a:solidFill>
                          <a:latin typeface="Calibri (MS) Bold"/>
                        </a:rPr>
                        <a:t>Peta \ Rujukan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Bukan terbangun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Terbangun</a:t>
                      </a:r>
                    </a:p>
                  </a:txBody>
                  <a:tcPr marL="73152" marR="73152" marT="36576" marB="36576" anchor="ctr">
                    <a:solidFill>
                      <a:srgbClr val="0B5E6E"/>
                    </a:solidFill>
                  </a:tcPr>
                </a:tc>
              </a:tr>
              <a:tr h="438912">
                <a:tc>
                  <a:txBody>
                    <a:bodyPr wrap="square"/>
                    <a:lstStyle/>
                    <a:p>
                      <a:r>
                        <a:rPr sz="1440" b="1" i="0">
                          <a:solidFill>
                            <a:srgbClr val="14313B"/>
                          </a:solidFill>
                          <a:latin typeface="Calibri (MS) Bold"/>
                        </a:rPr>
                        <a:t>Bukan terbangun</a:t>
                      </a:r>
                    </a:p>
                  </a:txBody>
                  <a:tcPr marL="73152" marR="73152" marT="36576" marB="36576" anchor="ctr">
                    <a:solidFill>
                      <a:srgbClr val="FFFFFF"/>
                    </a:solidFill>
                  </a:tcPr>
                </a:tc>
                <a:tc>
                  <a:txBody>
                    <a:bodyPr wrap="square"/>
                    <a:lstStyle/>
                    <a:p>
                      <a:pPr algn="ctr"/>
                      <a:r>
                        <a:rPr sz="1440" b="0" i="0">
                          <a:solidFill>
                            <a:srgbClr val="14313B"/>
                          </a:solidFill>
                          <a:latin typeface="Calibri (MS)"/>
                        </a:rPr>
                        <a:t>95</a:t>
                      </a:r>
                    </a:p>
                  </a:txBody>
                  <a:tcPr marL="73152" marR="73152" marT="36576" marB="36576" anchor="ctr">
                    <a:solidFill>
                      <a:srgbClr val="C9F0D6"/>
                    </a:solidFill>
                  </a:tcPr>
                </a:tc>
                <a:tc>
                  <a:txBody>
                    <a:bodyPr wrap="square"/>
                    <a:lstStyle/>
                    <a:p>
                      <a:pPr algn="ctr"/>
                      <a:r>
                        <a:rPr sz="1440" b="0" i="0">
                          <a:solidFill>
                            <a:srgbClr val="14313B"/>
                          </a:solidFill>
                          <a:latin typeface="Calibri (MS)"/>
                        </a:rPr>
                        <a:t>5</a:t>
                      </a:r>
                    </a:p>
                  </a:txBody>
                  <a:tcPr marL="73152" marR="73152" marT="36576" marB="36576" anchor="ctr">
                    <a:solidFill>
                      <a:srgbClr val="EAF8FA"/>
                    </a:solidFill>
                  </a:tcPr>
                </a:tc>
              </a:tr>
              <a:tr h="438912">
                <a:tc>
                  <a:txBody>
                    <a:bodyPr wrap="square"/>
                    <a:lstStyle/>
                    <a:p>
                      <a:r>
                        <a:rPr sz="1440" b="1" i="0">
                          <a:solidFill>
                            <a:srgbClr val="14313B"/>
                          </a:solidFill>
                          <a:latin typeface="Calibri (MS) Bold"/>
                        </a:rPr>
                        <a:t>Terbangun</a:t>
                      </a:r>
                    </a:p>
                  </a:txBody>
                  <a:tcPr marL="73152" marR="73152" marT="36576" marB="36576" anchor="ctr">
                    <a:solidFill>
                      <a:srgbClr val="EAF8FA"/>
                    </a:solidFill>
                  </a:tcPr>
                </a:tc>
                <a:tc>
                  <a:txBody>
                    <a:bodyPr wrap="square"/>
                    <a:lstStyle/>
                    <a:p>
                      <a:pPr algn="ctr"/>
                      <a:r>
                        <a:rPr sz="1440" b="0" i="0">
                          <a:solidFill>
                            <a:srgbClr val="14313B"/>
                          </a:solidFill>
                          <a:latin typeface="Calibri (MS)"/>
                        </a:rPr>
                        <a:t>34</a:t>
                      </a:r>
                    </a:p>
                  </a:txBody>
                  <a:tcPr marL="73152" marR="73152" marT="36576" marB="36576" anchor="ctr">
                    <a:solidFill>
                      <a:srgbClr val="FDE2DE"/>
                    </a:solidFill>
                  </a:tcPr>
                </a:tc>
                <a:tc>
                  <a:txBody>
                    <a:bodyPr wrap="square"/>
                    <a:lstStyle/>
                    <a:p>
                      <a:pPr algn="ctr"/>
                      <a:r>
                        <a:rPr sz="1440" b="0" i="0">
                          <a:solidFill>
                            <a:srgbClr val="14313B"/>
                          </a:solidFill>
                          <a:latin typeface="Calibri (MS)"/>
                        </a:rPr>
                        <a:t>66</a:t>
                      </a:r>
                    </a:p>
                  </a:txBody>
                  <a:tcPr marL="73152" marR="73152" marT="36576" marB="36576" anchor="ctr">
                    <a:solidFill>
                      <a:srgbClr val="C9F0D6"/>
                    </a:solidFill>
                  </a:tcPr>
                </a:tc>
              </a:tr>
            </a:tbl>
          </a:graphicData>
        </a:graphic>
      </p:graphicFrame>
      <p:sp>
        <p:nvSpPr>
          <p:cNvPr id="118" name="TextBox 117"/>
          <p:cNvSpPr txBox="1"/>
          <p:nvPr/>
        </p:nvSpPr>
        <p:spPr>
          <a:xfrm>
            <a:off x="822960" y="8613648"/>
            <a:ext cx="6035040" cy="274320"/>
          </a:xfrm>
          <a:prstGeom prst="rect">
            <a:avLst/>
          </a:prstGeom>
          <a:noFill/>
        </p:spPr>
        <p:txBody>
          <a:bodyPr wrap="square" anchor="t" lIns="0" rIns="0" tIns="0" bIns="0">
            <a:spAutoFit/>
          </a:bodyPr>
          <a:lstStyle/>
          <a:p>
            <a:pPr algn="l">
              <a:spcAft>
                <a:spcPts val="400"/>
              </a:spcAft>
            </a:pPr>
            <a:r>
              <a:rPr sz="1260" b="1" i="0">
                <a:solidFill>
                  <a:srgbClr val="0B5E6E"/>
                </a:solidFill>
                <a:latin typeface="Calibri (MS) Bold"/>
              </a:rPr>
              <a:t>Matriks konfusi (jumlah titik)</a:t>
            </a:r>
          </a:p>
        </p:txBody>
      </p:sp>
      <p:sp>
        <p:nvSpPr>
          <p:cNvPr id="119" name="Rounded Rectangle 118"/>
          <p:cNvSpPr/>
          <p:nvPr/>
        </p:nvSpPr>
        <p:spPr>
          <a:xfrm>
            <a:off x="7132320" y="7086600"/>
            <a:ext cx="507492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Kesalahan utama: commission error</a:t>
            </a:r>
          </a:p>
          <a:p>
            <a:pPr algn="l">
              <a:spcAft>
                <a:spcPts val="300"/>
              </a:spcAft>
            </a:pPr>
            <a:r>
              <a:rPr sz="1320" b="0" i="0">
                <a:solidFill>
                  <a:srgbClr val="14313B"/>
                </a:solidFill>
                <a:latin typeface="Calibri (MS)"/>
              </a:rPr>
              <a:t>34 titik dipetakan terbangun padahal bukan, dibanding 5 omission error. Peta cenderung sedikit melebihkan lahan terbangun.</a:t>
            </a:r>
          </a:p>
        </p:txBody>
      </p:sp>
      <p:sp>
        <p:nvSpPr>
          <p:cNvPr id="120" name="Rounded Rectangle 119"/>
          <p:cNvSpPr/>
          <p:nvPr/>
        </p:nvSpPr>
        <p:spPr>
          <a:xfrm>
            <a:off x="12390120" y="7086600"/>
            <a:ext cx="5074920" cy="16002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Cek batas probabilitas</a:t>
            </a:r>
          </a:p>
          <a:p>
            <a:pPr algn="l">
              <a:spcAft>
                <a:spcPts val="300"/>
              </a:spcAft>
            </a:pPr>
            <a:r>
              <a:rPr sz="1320" b="0" i="0">
                <a:solidFill>
                  <a:srgbClr val="14313B"/>
                </a:solidFill>
                <a:latin typeface="Calibri (MS)"/>
              </a:rPr>
              <a:t>F1 tertinggi pada batas 0,40–0,45, dekat dengan batas baku 0,5. Batas 0,5 tetap dipakai agar tidak terlalu menyesuaikan sampel.</a:t>
            </a:r>
          </a:p>
        </p:txBody>
      </p:sp>
      <p:sp>
        <p:nvSpPr>
          <p:cNvPr id="121" name="TextBox 12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Tabel 31–32; Olofsson dkk. (2014); Landis &amp; Koch (1977).</a:t>
            </a:r>
          </a:p>
        </p:txBody>
      </p:sp>
      <p:sp>
        <p:nvSpPr>
          <p:cNvPr id="122" name="Rounded Rectangle 121"/>
          <p:cNvSpPr/>
          <p:nvPr/>
        </p:nvSpPr>
        <p:spPr>
          <a:xfrm>
            <a:off x="14904720" y="9646920"/>
            <a:ext cx="1371600" cy="384048"/>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14313B"/>
                </a:solidFill>
                <a:latin typeface="Calibri (MS) Bold"/>
              </a:rPr>
              <a:t>Versi A · 1/2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Uji Akurasi dan Validasi Spasial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cukup akurat (89,95%; Kappa 0,61); kesalahan terkumpul di tepi objek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id="70" name="Rounded Rectangle 69"/>
          <p:cNvSpPr/>
          <p:nvPr/>
        </p:nvSpPr>
        <p:spPr>
          <a:xfrm>
            <a:off x="822960" y="1783080"/>
            <a:ext cx="16642080" cy="5029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40" b="1" i="0">
                <a:solidFill>
                  <a:srgbClr val="FFD23B"/>
                </a:solidFill>
                <a:latin typeface="Calibri (MS) Bold"/>
              </a:rPr>
              <a:t>Desain uji  </a:t>
            </a:r>
            <a:r>
              <a:rPr sz="1380" b="1" i="0">
                <a:solidFill>
                  <a:srgbClr val="FFFFFF"/>
                </a:solidFill>
                <a:latin typeface="Calibri (MS) Bold"/>
              </a:rPr>
              <a:t>Peta Dynamic World 2025 (probabilitas built ≥ 0,5) · 200 titik acak berstrata (100 terbangun, 100 bukan) · rujukan: citra resolusi tinggi Google Earth</a:t>
            </a:r>
          </a:p>
        </p:txBody>
      </p:sp>
      <p:graphicFrame>
        <p:nvGraphicFramePr>
          <p:cNvPr id="71" name="Table 70"/>
          <p:cNvGraphicFramePr>
            <a:graphicFrameLocks noGrp="1"/>
          </p:cNvGraphicFramePr>
          <p:nvPr/>
        </p:nvGraphicFramePr>
        <p:xfrm>
          <a:off x="822960" y="2423160"/>
          <a:ext cx="10058400" cy="2752344"/>
        </p:xfrm>
        <a:graphic>
          <a:graphicData uri="http://schemas.openxmlformats.org/drawingml/2006/table">
            <a:tbl>
              <a:tblPr firstRow="1" bandRow="1">
                <a:tableStyleId>{5C22544A-7EE6-4342-B048-85BDC9FD1C3A}</a:tableStyleId>
              </a:tblPr>
              <a:tblGrid>
                <a:gridCol w="3291840"/>
                <a:gridCol w="1371600"/>
                <a:gridCol w="2011680"/>
                <a:gridCol w="3383280"/>
              </a:tblGrid>
              <a:tr h="393192">
                <a:tc>
                  <a:txBody>
                    <a:bodyPr wrap="square"/>
                    <a:lstStyle/>
                    <a:p>
                      <a:r>
                        <a:rPr sz="1320" b="1" i="0">
                          <a:solidFill>
                            <a:srgbClr val="FFFFFF"/>
                          </a:solidFill>
                          <a:latin typeface="Calibri (MS) Bold"/>
                        </a:rPr>
                        <a:t>Metrik</a:t>
                      </a:r>
                    </a:p>
                  </a:txBody>
                  <a:tcPr marL="73152" marR="73152" marT="36576" marB="36576" anchor="ctr">
                    <a:solidFill>
                      <a:srgbClr val="0B5E6E"/>
                    </a:solidFill>
                  </a:tcPr>
                </a:tc>
                <a:tc>
                  <a:txBody>
                    <a:bodyPr wrap="square"/>
                    <a:lstStyle/>
                    <a:p>
                      <a:r>
                        <a:rPr sz="1320" b="1" i="0">
                          <a:solidFill>
                            <a:srgbClr val="FFFFFF"/>
                          </a:solidFill>
                          <a:latin typeface="Calibri (MS) Bold"/>
                        </a:rPr>
                        <a:t>Hasil</a:t>
                      </a:r>
                    </a:p>
                  </a:txBody>
                  <a:tcPr marL="73152" marR="73152" marT="36576" marB="36576" anchor="ctr">
                    <a:solidFill>
                      <a:srgbClr val="0B5E6E"/>
                    </a:solidFill>
                  </a:tcPr>
                </a:tc>
                <a:tc>
                  <a:txBody>
                    <a:bodyPr wrap="square"/>
                    <a:lstStyle/>
                    <a:p>
                      <a:r>
                        <a:rPr sz="1320" b="1" i="0">
                          <a:solidFill>
                            <a:srgbClr val="FFFFFF"/>
                          </a:solidFill>
                          <a:latin typeface="Calibri (MS) Bold"/>
                        </a:rPr>
                        <a:t>IK 95%</a:t>
                      </a:r>
                    </a:p>
                  </a:txBody>
                  <a:tcPr marL="73152" marR="73152" marT="36576" marB="36576" anchor="ctr">
                    <a:solidFill>
                      <a:srgbClr val="0B5E6E"/>
                    </a:solidFill>
                  </a:tcPr>
                </a:tc>
                <a:tc>
                  <a:txBody>
                    <a:bodyPr wrap="square"/>
                    <a:lstStyle/>
                    <a:p>
                      <a:r>
                        <a:rPr sz="1320" b="1" i="0">
                          <a:solidFill>
                            <a:srgbClr val="FFFFFF"/>
                          </a:solidFill>
                          <a:latin typeface="Calibri (MS) Bold"/>
                        </a:rPr>
                        <a:t>Cara membaca</a:t>
                      </a:r>
                    </a:p>
                  </a:txBody>
                  <a:tcPr marL="73152" marR="73152" marT="36576" marB="36576" anchor="ctr">
                    <a:solidFill>
                      <a:srgbClr val="0B5E6E"/>
                    </a:solidFill>
                  </a:tcPr>
                </a:tc>
              </a:tr>
              <a:tr h="393192">
                <a:tc>
                  <a:txBody>
                    <a:bodyPr wrap="square"/>
                    <a:lstStyle/>
                    <a:p>
                      <a:r>
                        <a:rPr sz="1320" b="1" i="0">
                          <a:solidFill>
                            <a:srgbClr val="14313B"/>
                          </a:solidFill>
                          <a:latin typeface="Calibri (MS) Bold"/>
                        </a:rPr>
                        <a:t>Overall accuracy terbobot luas</a:t>
                      </a:r>
                    </a:p>
                  </a:txBody>
                  <a:tcPr marL="73152" marR="73152" marT="36576" marB="36576" anchor="ctr">
                    <a:solidFill>
                      <a:srgbClr val="FFFFFF"/>
                    </a:solidFill>
                  </a:tcPr>
                </a:tc>
                <a:tc>
                  <a:txBody>
                    <a:bodyPr wrap="square"/>
                    <a:lstStyle/>
                    <a:p>
                      <a:pPr algn="ctr"/>
                      <a:r>
                        <a:rPr sz="1320" b="1" i="0">
                          <a:solidFill>
                            <a:srgbClr val="14313B"/>
                          </a:solidFill>
                          <a:latin typeface="Calibri (MS)"/>
                        </a:rPr>
                        <a:t>89,95%</a:t>
                      </a:r>
                    </a:p>
                  </a:txBody>
                  <a:tcPr marL="73152" marR="73152" marT="36576" marB="36576" anchor="ctr">
                    <a:solidFill>
                      <a:srgbClr val="C9F0D6"/>
                    </a:solidFill>
                  </a:tcPr>
                </a:tc>
                <a:tc>
                  <a:txBody>
                    <a:bodyPr wrap="square"/>
                    <a:lstStyle/>
                    <a:p>
                      <a:pPr algn="ctr"/>
                      <a:r>
                        <a:rPr sz="1320" b="0" i="0">
                          <a:solidFill>
                            <a:srgbClr val="14313B"/>
                          </a:solidFill>
                          <a:latin typeface="Calibri (MS)"/>
                        </a:rPr>
                        <a:t>86,05–93,85%</a:t>
                      </a:r>
                    </a:p>
                  </a:txBody>
                  <a:tcPr marL="73152" marR="73152" marT="36576" marB="36576" anchor="ctr">
                    <a:solidFill>
                      <a:srgbClr val="FFFFFF"/>
                    </a:solidFill>
                  </a:tcPr>
                </a:tc>
                <a:tc>
                  <a:txBody>
                    <a:bodyPr wrap="square"/>
                    <a:lstStyle/>
                    <a:p>
                      <a:r>
                        <a:rPr sz="1320" b="0" i="0">
                          <a:solidFill>
                            <a:srgbClr val="14313B"/>
                          </a:solidFill>
                          <a:latin typeface="Calibri (MS)"/>
                        </a:rPr>
                        <a:t>Ukuran utama (menyesuaikan luas kelas)</a:t>
                      </a:r>
                    </a:p>
                  </a:txBody>
                  <a:tcPr marL="73152" marR="73152" marT="36576" marB="36576" anchor="ctr">
                    <a:solidFill>
                      <a:srgbClr val="FFFFFF"/>
                    </a:solidFill>
                  </a:tcPr>
                </a:tc>
              </a:tr>
              <a:tr h="393192">
                <a:tc>
                  <a:txBody>
                    <a:bodyPr wrap="square"/>
                    <a:lstStyle/>
                    <a:p>
                      <a:r>
                        <a:rPr sz="1320" b="1" i="0">
                          <a:solidFill>
                            <a:srgbClr val="14313B"/>
                          </a:solidFill>
                          <a:latin typeface="Calibri (MS) Bold"/>
                        </a:rPr>
                        <a:t>Overall accuracy tak terbobot</a:t>
                      </a:r>
                    </a:p>
                  </a:txBody>
                  <a:tcPr marL="73152" marR="73152" marT="36576" marB="36576" anchor="ctr">
                    <a:solidFill>
                      <a:srgbClr val="EAF8FA"/>
                    </a:solidFill>
                  </a:tcPr>
                </a:tc>
                <a:tc>
                  <a:txBody>
                    <a:bodyPr wrap="square"/>
                    <a:lstStyle/>
                    <a:p>
                      <a:pPr algn="ctr"/>
                      <a:r>
                        <a:rPr sz="1320" b="0" i="0">
                          <a:solidFill>
                            <a:srgbClr val="14313B"/>
                          </a:solidFill>
                          <a:latin typeface="Calibri (MS)"/>
                        </a:rPr>
                        <a:t>80,50%</a:t>
                      </a:r>
                    </a:p>
                  </a:txBody>
                  <a:tcPr marL="73152" marR="73152" marT="36576" marB="36576" anchor="ctr">
                    <a:solidFill>
                      <a:srgbClr val="EAF8FA"/>
                    </a:solidFill>
                  </a:tcPr>
                </a:tc>
                <a:tc>
                  <a:txBody>
                    <a:bodyPr wrap="square"/>
                    <a:lstStyle/>
                    <a:p>
                      <a:pPr algn="ctr"/>
                      <a:r>
                        <a:rPr sz="1320" b="0" i="0">
                          <a:solidFill>
                            <a:srgbClr val="14313B"/>
                          </a:solidFill>
                          <a:latin typeface="Calibri (MS)"/>
                        </a:rPr>
                        <a:t>74,46–85,39%</a:t>
                      </a:r>
                    </a:p>
                  </a:txBody>
                  <a:tcPr marL="73152" marR="73152" marT="36576" marB="36576" anchor="ctr">
                    <a:solidFill>
                      <a:srgbClr val="EAF8FA"/>
                    </a:solidFill>
                  </a:tcPr>
                </a:tc>
                <a:tc>
                  <a:txBody>
                    <a:bodyPr wrap="square"/>
                    <a:lstStyle/>
                    <a:p>
                      <a:r>
                        <a:rPr sz="1320" b="0" i="0">
                          <a:solidFill>
                            <a:srgbClr val="14313B"/>
                          </a:solidFill>
                          <a:latin typeface="Calibri (MS)"/>
                        </a:rPr>
                        <a:t>Bias karena sampel 50:50</a:t>
                      </a:r>
                    </a:p>
                  </a:txBody>
                  <a:tcPr marL="73152" marR="73152" marT="36576" marB="36576" anchor="ctr">
                    <a:solidFill>
                      <a:srgbClr val="EAF8FA"/>
                    </a:solidFill>
                  </a:tcPr>
                </a:tc>
              </a:tr>
              <a:tr h="393192">
                <a:tc>
                  <a:txBody>
                    <a:bodyPr wrap="square"/>
                    <a:lstStyle/>
                    <a:p>
                      <a:r>
                        <a:rPr sz="1320" b="1" i="0">
                          <a:solidFill>
                            <a:srgbClr val="14313B"/>
                          </a:solidFill>
                          <a:latin typeface="Calibri (MS) Bold"/>
                        </a:rPr>
                        <a:t>User's accuracy (terbangun)</a:t>
                      </a:r>
                    </a:p>
                  </a:txBody>
                  <a:tcPr marL="73152" marR="73152" marT="36576" marB="36576" anchor="ctr">
                    <a:solidFill>
                      <a:srgbClr val="FFFFFF"/>
                    </a:solidFill>
                  </a:tcPr>
                </a:tc>
                <a:tc>
                  <a:txBody>
                    <a:bodyPr wrap="square"/>
                    <a:lstStyle/>
                    <a:p>
                      <a:pPr algn="ctr"/>
                      <a:r>
                        <a:rPr sz="1320" b="0" i="0">
                          <a:solidFill>
                            <a:srgbClr val="14313B"/>
                          </a:solidFill>
                          <a:latin typeface="Calibri (MS)"/>
                        </a:rPr>
                        <a:t>66,00%</a:t>
                      </a:r>
                    </a:p>
                  </a:txBody>
                  <a:tcPr marL="73152" marR="73152" marT="36576" marB="36576" anchor="ctr">
                    <a:solidFill>
                      <a:srgbClr val="FFFFFF"/>
                    </a:solidFill>
                  </a:tcPr>
                </a:tc>
                <a:tc>
                  <a:txBody>
                    <a:bodyPr wrap="square"/>
                    <a:lstStyle/>
                    <a:p>
                      <a:pPr algn="ctr"/>
                      <a:r>
                        <a:rPr sz="1320" b="0" i="0">
                          <a:solidFill>
                            <a:srgbClr val="14313B"/>
                          </a:solidFill>
                          <a:latin typeface="Calibri (MS)"/>
                        </a:rPr>
                        <a:t>56,67–75,33%</a:t>
                      </a:r>
                    </a:p>
                  </a:txBody>
                  <a:tcPr marL="73152" marR="73152" marT="36576" marB="36576" anchor="ctr">
                    <a:solidFill>
                      <a:srgbClr val="FFFFFF"/>
                    </a:solidFill>
                  </a:tcPr>
                </a:tc>
                <a:tc>
                  <a:txBody>
                    <a:bodyPr wrap="square"/>
                    <a:lstStyle/>
                    <a:p>
                      <a:r>
                        <a:rPr sz="1320" b="0" i="0">
                          <a:solidFill>
                            <a:srgbClr val="14313B"/>
                          </a:solidFill>
                          <a:latin typeface="Calibri (MS)"/>
                        </a:rPr>
                        <a:t>Ketepatan peta</a:t>
                      </a:r>
                    </a:p>
                  </a:txBody>
                  <a:tcPr marL="73152" marR="73152" marT="36576" marB="36576" anchor="ctr">
                    <a:solidFill>
                      <a:srgbClr val="FFFFFF"/>
                    </a:solidFill>
                  </a:tcPr>
                </a:tc>
              </a:tr>
              <a:tr h="393192">
                <a:tc>
                  <a:txBody>
                    <a:bodyPr wrap="square"/>
                    <a:lstStyle/>
                    <a:p>
                      <a:r>
                        <a:rPr sz="1320" b="1" i="0">
                          <a:solidFill>
                            <a:srgbClr val="14313B"/>
                          </a:solidFill>
                          <a:latin typeface="Calibri (MS) Bold"/>
                        </a:rPr>
                        <a:t>Producer's accuracy (terbangun)</a:t>
                      </a:r>
                    </a:p>
                  </a:txBody>
                  <a:tcPr marL="73152" marR="73152" marT="36576" marB="36576" anchor="ctr">
                    <a:solidFill>
                      <a:srgbClr val="EAF8FA"/>
                    </a:solidFill>
                  </a:tcPr>
                </a:tc>
                <a:tc>
                  <a:txBody>
                    <a:bodyPr wrap="square"/>
                    <a:lstStyle/>
                    <a:p>
                      <a:pPr algn="ctr"/>
                      <a:r>
                        <a:rPr sz="1320" b="0" i="0">
                          <a:solidFill>
                            <a:srgbClr val="14313B"/>
                          </a:solidFill>
                          <a:latin typeface="Calibri (MS)"/>
                        </a:rPr>
                        <a:t>73,58%</a:t>
                      </a:r>
                    </a:p>
                  </a:txBody>
                  <a:tcPr marL="73152" marR="73152" marT="36576" marB="36576" anchor="ctr">
                    <a:solidFill>
                      <a:srgbClr val="EAF8FA"/>
                    </a:solidFill>
                  </a:tcPr>
                </a:tc>
                <a:tc>
                  <a:txBody>
                    <a:bodyPr wrap="square"/>
                    <a:lstStyle/>
                    <a:p>
                      <a:pPr algn="ctr"/>
                      <a:r>
                        <a:rPr sz="1320" b="0" i="0">
                          <a:solidFill>
                            <a:srgbClr val="14313B"/>
                          </a:solidFill>
                          <a:latin typeface="Calibri (MS)"/>
                        </a:rPr>
                        <a:t>56,66–90,50%</a:t>
                      </a:r>
                    </a:p>
                  </a:txBody>
                  <a:tcPr marL="73152" marR="73152" marT="36576" marB="36576" anchor="ctr">
                    <a:solidFill>
                      <a:srgbClr val="EAF8FA"/>
                    </a:solidFill>
                  </a:tcPr>
                </a:tc>
                <a:tc>
                  <a:txBody>
                    <a:bodyPr wrap="square"/>
                    <a:lstStyle/>
                    <a:p>
                      <a:r>
                        <a:rPr sz="1320" b="0" i="0">
                          <a:solidFill>
                            <a:srgbClr val="14313B"/>
                          </a:solidFill>
                          <a:latin typeface="Calibri (MS)"/>
                        </a:rPr>
                        <a:t>Kelengkapan peta</a:t>
                      </a:r>
                    </a:p>
                  </a:txBody>
                  <a:tcPr marL="73152" marR="73152" marT="36576" marB="36576" anchor="ctr">
                    <a:solidFill>
                      <a:srgbClr val="EAF8FA"/>
                    </a:solidFill>
                  </a:tcPr>
                </a:tc>
              </a:tr>
              <a:tr h="393192">
                <a:tc>
                  <a:txBody>
                    <a:bodyPr wrap="square"/>
                    <a:lstStyle/>
                    <a:p>
                      <a:r>
                        <a:rPr sz="1320" b="1" i="0">
                          <a:solidFill>
                            <a:srgbClr val="14313B"/>
                          </a:solidFill>
                          <a:latin typeface="Calibri (MS) Bold"/>
                        </a:rPr>
                        <a:t>F1-score (terbangun)</a:t>
                      </a:r>
                    </a:p>
                  </a:txBody>
                  <a:tcPr marL="73152" marR="73152" marT="36576" marB="36576" anchor="ctr">
                    <a:solidFill>
                      <a:srgbClr val="FFFFFF"/>
                    </a:solidFill>
                  </a:tcPr>
                </a:tc>
                <a:tc>
                  <a:txBody>
                    <a:bodyPr wrap="square"/>
                    <a:lstStyle/>
                    <a:p>
                      <a:pPr algn="ctr"/>
                      <a:r>
                        <a:rPr sz="1320" b="0" i="0">
                          <a:solidFill>
                            <a:srgbClr val="14313B"/>
                          </a:solidFill>
                          <a:latin typeface="Calibri (MS)"/>
                        </a:rPr>
                        <a:t>77,19%</a:t>
                      </a:r>
                    </a:p>
                  </a:txBody>
                  <a:tcPr marL="73152" marR="73152" marT="36576" marB="36576" anchor="ctr">
                    <a:solidFill>
                      <a:srgbClr val="FFFFFF"/>
                    </a:solidFill>
                  </a:tcPr>
                </a:tc>
                <a:tc>
                  <a:txBody>
                    <a:bodyPr wrap="square"/>
                    <a:lstStyle/>
                    <a:p>
                      <a:pPr algn="ctr"/>
                      <a:r>
                        <a:rPr sz="1320" b="0" i="0">
                          <a:solidFill>
                            <a:srgbClr val="14313B"/>
                          </a:solidFill>
                          <a:latin typeface="Calibri (MS)"/>
                        </a:rPr>
                        <a:t>—</a:t>
                      </a:r>
                    </a:p>
                  </a:txBody>
                  <a:tcPr marL="73152" marR="73152" marT="36576" marB="36576" anchor="ctr">
                    <a:solidFill>
                      <a:srgbClr val="FFFFFF"/>
                    </a:solidFill>
                  </a:tcPr>
                </a:tc>
                <a:tc>
                  <a:txBody>
                    <a:bodyPr wrap="square"/>
                    <a:lstStyle/>
                    <a:p>
                      <a:r>
                        <a:rPr sz="1320" b="0" i="0">
                          <a:solidFill>
                            <a:srgbClr val="14313B"/>
                          </a:solidFill>
                          <a:latin typeface="Calibri (MS)"/>
                        </a:rPr>
                        <a:t>Gabungan UA dan PA</a:t>
                      </a:r>
                    </a:p>
                  </a:txBody>
                  <a:tcPr marL="73152" marR="73152" marT="36576" marB="36576" anchor="ctr">
                    <a:solidFill>
                      <a:srgbClr val="FFFFFF"/>
                    </a:solidFill>
                  </a:tcPr>
                </a:tc>
              </a:tr>
              <a:tr h="393192">
                <a:tc>
                  <a:txBody>
                    <a:bodyPr wrap="square"/>
                    <a:lstStyle/>
                    <a:p>
                      <a:r>
                        <a:rPr sz="1320" b="1" i="0">
                          <a:solidFill>
                            <a:srgbClr val="14313B"/>
                          </a:solidFill>
                          <a:latin typeface="Calibri (MS) Bold"/>
                        </a:rPr>
                        <a:t>Koefisien Kappa</a:t>
                      </a:r>
                    </a:p>
                  </a:txBody>
                  <a:tcPr marL="73152" marR="73152" marT="36576" marB="36576" anchor="ctr">
                    <a:solidFill>
                      <a:srgbClr val="EAF8FA"/>
                    </a:solidFill>
                  </a:tcPr>
                </a:tc>
                <a:tc>
                  <a:txBody>
                    <a:bodyPr wrap="square"/>
                    <a:lstStyle/>
                    <a:p>
                      <a:pPr algn="ctr"/>
                      <a:r>
                        <a:rPr sz="1320" b="1" i="0">
                          <a:solidFill>
                            <a:srgbClr val="14313B"/>
                          </a:solidFill>
                          <a:latin typeface="Calibri (MS)"/>
                        </a:rPr>
                        <a:t>0,61</a:t>
                      </a:r>
                    </a:p>
                  </a:txBody>
                  <a:tcPr marL="73152" marR="73152" marT="36576" marB="36576" anchor="ctr">
                    <a:solidFill>
                      <a:srgbClr val="C9F0D6"/>
                    </a:solidFill>
                  </a:tcPr>
                </a:tc>
                <a:tc>
                  <a:txBody>
                    <a:bodyPr wrap="square"/>
                    <a:lstStyle/>
                    <a:p>
                      <a:pPr algn="ctr"/>
                      <a:r>
                        <a:rPr sz="1320" b="0" i="0">
                          <a:solidFill>
                            <a:srgbClr val="14313B"/>
                          </a:solidFill>
                          <a:latin typeface="Calibri (MS)"/>
                        </a:rPr>
                        <a:t>0,50–0,72</a:t>
                      </a:r>
                    </a:p>
                  </a:txBody>
                  <a:tcPr marL="73152" marR="73152" marT="36576" marB="36576" anchor="ctr">
                    <a:solidFill>
                      <a:srgbClr val="EAF8FA"/>
                    </a:solidFill>
                  </a:tcPr>
                </a:tc>
                <a:tc>
                  <a:txBody>
                    <a:bodyPr wrap="square"/>
                    <a:lstStyle/>
                    <a:p>
                      <a:r>
                        <a:rPr sz="1320" b="0" i="0">
                          <a:solidFill>
                            <a:srgbClr val="14313B"/>
                          </a:solidFill>
                          <a:latin typeface="Calibri (MS)"/>
                        </a:rPr>
                        <a:t>Kesepakatan kuat (Landis &amp; Koch)</a:t>
                      </a:r>
                    </a:p>
                  </a:txBody>
                  <a:tcPr marL="73152" marR="73152" marT="36576" marB="36576" anchor="ctr">
                    <a:solidFill>
                      <a:srgbClr val="EAF8FA"/>
                    </a:solidFill>
                  </a:tcPr>
                </a:tc>
              </a:tr>
            </a:tbl>
          </a:graphicData>
        </a:graphic>
      </p:graphicFrame>
      <p:graphicFrame>
        <p:nvGraphicFramePr>
          <p:cNvPr id="72" name="Table 71"/>
          <p:cNvGraphicFramePr>
            <a:graphicFrameLocks noGrp="1"/>
          </p:cNvGraphicFramePr>
          <p:nvPr/>
        </p:nvGraphicFramePr>
        <p:xfrm>
          <a:off x="11155680" y="2423160"/>
          <a:ext cx="6309360" cy="1234440"/>
        </p:xfrm>
        <a:graphic>
          <a:graphicData uri="http://schemas.openxmlformats.org/drawingml/2006/table">
            <a:tbl>
              <a:tblPr firstRow="1" bandRow="1">
                <a:tableStyleId>{5C22544A-7EE6-4342-B048-85BDC9FD1C3A}</a:tableStyleId>
              </a:tblPr>
              <a:tblGrid>
                <a:gridCol w="2468880"/>
                <a:gridCol w="1920240"/>
                <a:gridCol w="1920240"/>
              </a:tblGrid>
              <a:tr h="411480">
                <a:tc>
                  <a:txBody>
                    <a:bodyPr wrap="square"/>
                    <a:lstStyle/>
                    <a:p>
                      <a:r>
                        <a:rPr sz="1380" b="1" i="0">
                          <a:solidFill>
                            <a:srgbClr val="FFFFFF"/>
                          </a:solidFill>
                          <a:latin typeface="Calibri (MS) Bold"/>
                        </a:rPr>
                        <a:t>Peta \ Rujukan</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Bukan</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Terbangun</a:t>
                      </a:r>
                    </a:p>
                  </a:txBody>
                  <a:tcPr marL="73152" marR="73152" marT="36576" marB="36576" anchor="ctr">
                    <a:solidFill>
                      <a:srgbClr val="0B5E6E"/>
                    </a:solidFill>
                  </a:tcPr>
                </a:tc>
              </a:tr>
              <a:tr h="411480">
                <a:tc>
                  <a:txBody>
                    <a:bodyPr wrap="square"/>
                    <a:lstStyle/>
                    <a:p>
                      <a:r>
                        <a:rPr sz="1380" b="1" i="0">
                          <a:solidFill>
                            <a:srgbClr val="14313B"/>
                          </a:solidFill>
                          <a:latin typeface="Calibri (MS) Bold"/>
                        </a:rPr>
                        <a:t>Bukan terbangun</a:t>
                      </a:r>
                    </a:p>
                  </a:txBody>
                  <a:tcPr marL="73152" marR="73152" marT="36576" marB="36576" anchor="ctr">
                    <a:solidFill>
                      <a:srgbClr val="FFFFFF"/>
                    </a:solidFill>
                  </a:tcPr>
                </a:tc>
                <a:tc>
                  <a:txBody>
                    <a:bodyPr wrap="square"/>
                    <a:lstStyle/>
                    <a:p>
                      <a:pPr algn="ctr"/>
                      <a:r>
                        <a:rPr sz="1380" b="0" i="0">
                          <a:solidFill>
                            <a:srgbClr val="14313B"/>
                          </a:solidFill>
                          <a:latin typeface="Calibri (MS)"/>
                        </a:rPr>
                        <a:t>95</a:t>
                      </a:r>
                    </a:p>
                  </a:txBody>
                  <a:tcPr marL="73152" marR="73152" marT="36576" marB="36576" anchor="ctr">
                    <a:solidFill>
                      <a:srgbClr val="C9F0D6"/>
                    </a:solidFill>
                  </a:tcPr>
                </a:tc>
                <a:tc>
                  <a:txBody>
                    <a:bodyPr wrap="square"/>
                    <a:lstStyle/>
                    <a:p>
                      <a:pPr algn="ctr"/>
                      <a:r>
                        <a:rPr sz="1380" b="0" i="0">
                          <a:solidFill>
                            <a:srgbClr val="14313B"/>
                          </a:solidFill>
                          <a:latin typeface="Calibri (MS)"/>
                        </a:rPr>
                        <a:t>5</a:t>
                      </a:r>
                    </a:p>
                  </a:txBody>
                  <a:tcPr marL="73152" marR="73152" marT="36576" marB="36576" anchor="ctr">
                    <a:solidFill>
                      <a:srgbClr val="EAF8FA"/>
                    </a:solidFill>
                  </a:tcPr>
                </a:tc>
              </a:tr>
              <a:tr h="411480">
                <a:tc>
                  <a:txBody>
                    <a:bodyPr wrap="square"/>
                    <a:lstStyle/>
                    <a:p>
                      <a:r>
                        <a:rPr sz="1380" b="1" i="0">
                          <a:solidFill>
                            <a:srgbClr val="14313B"/>
                          </a:solidFill>
                          <a:latin typeface="Calibri (MS) Bold"/>
                        </a:rPr>
                        <a:t>Terbangun</a:t>
                      </a:r>
                    </a:p>
                  </a:txBody>
                  <a:tcPr marL="73152" marR="73152" marT="36576" marB="36576" anchor="ctr">
                    <a:solidFill>
                      <a:srgbClr val="EAF8FA"/>
                    </a:solidFill>
                  </a:tcPr>
                </a:tc>
                <a:tc>
                  <a:txBody>
                    <a:bodyPr wrap="square"/>
                    <a:lstStyle/>
                    <a:p>
                      <a:pPr algn="ctr"/>
                      <a:r>
                        <a:rPr sz="1380" b="0" i="0">
                          <a:solidFill>
                            <a:srgbClr val="14313B"/>
                          </a:solidFill>
                          <a:latin typeface="Calibri (MS)"/>
                        </a:rPr>
                        <a:t>34</a:t>
                      </a:r>
                    </a:p>
                  </a:txBody>
                  <a:tcPr marL="73152" marR="73152" marT="36576" marB="36576" anchor="ctr">
                    <a:solidFill>
                      <a:srgbClr val="FDE2DE"/>
                    </a:solidFill>
                  </a:tcPr>
                </a:tc>
                <a:tc>
                  <a:txBody>
                    <a:bodyPr wrap="square"/>
                    <a:lstStyle/>
                    <a:p>
                      <a:pPr algn="ctr"/>
                      <a:r>
                        <a:rPr sz="1380" b="0" i="0">
                          <a:solidFill>
                            <a:srgbClr val="14313B"/>
                          </a:solidFill>
                          <a:latin typeface="Calibri (MS)"/>
                        </a:rPr>
                        <a:t>66</a:t>
                      </a:r>
                    </a:p>
                  </a:txBody>
                  <a:tcPr marL="73152" marR="73152" marT="36576" marB="36576" anchor="ctr">
                    <a:solidFill>
                      <a:srgbClr val="C9F0D6"/>
                    </a:solidFill>
                  </a:tcPr>
                </a:tc>
              </a:tr>
            </a:tbl>
          </a:graphicData>
        </a:graphic>
      </p:graphicFrame>
      <p:sp>
        <p:nvSpPr>
          <p:cNvPr id="73" name="TextBox 72"/>
          <p:cNvSpPr txBox="1"/>
          <p:nvPr/>
        </p:nvSpPr>
        <p:spPr>
          <a:xfrm>
            <a:off x="11155680" y="3703320"/>
            <a:ext cx="6309360" cy="27432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Matriks konfusi (jumlah titik)</a:t>
            </a:r>
          </a:p>
        </p:txBody>
      </p:sp>
      <p:sp>
        <p:nvSpPr>
          <p:cNvPr id="74" name="Rounded Rectangle 73"/>
          <p:cNvSpPr/>
          <p:nvPr/>
        </p:nvSpPr>
        <p:spPr>
          <a:xfrm>
            <a:off x="11155680" y="4069080"/>
            <a:ext cx="6309360" cy="1097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Kesalahan utama: commission error</a:t>
            </a:r>
          </a:p>
          <a:p>
            <a:pPr algn="l">
              <a:spcAft>
                <a:spcPts val="300"/>
              </a:spcAft>
            </a:pPr>
            <a:r>
              <a:rPr sz="1260" b="0" i="0">
                <a:solidFill>
                  <a:srgbClr val="14313B"/>
                </a:solidFill>
                <a:latin typeface="Calibri (MS)"/>
              </a:rPr>
              <a:t>34 titik dipetakan terbangun padahal bukan (vs 5 omission error).</a:t>
            </a:r>
          </a:p>
        </p:txBody>
      </p:sp>
      <p:pic>
        <p:nvPicPr>
          <p:cNvPr id="75" name="Picture 74" descr="image.png"/>
          <p:cNvPicPr>
            <a:picLocks noChangeAspect="1"/>
          </p:cNvPicPr>
          <p:nvPr/>
        </p:nvPicPr>
        <p:blipFill>
          <a:blip r:embed="rId9"/>
          <a:stretch>
            <a:fillRect/>
          </a:stretch>
        </p:blipFill>
        <p:spPr>
          <a:xfrm>
            <a:off x="945275" y="5394960"/>
            <a:ext cx="4235928" cy="2743200"/>
          </a:xfrm>
          <a:prstGeom prst="rect">
            <a:avLst/>
          </a:prstGeom>
        </p:spPr>
      </p:pic>
      <p:sp>
        <p:nvSpPr>
          <p:cNvPr id="76" name="TextBox 75"/>
          <p:cNvSpPr txBox="1"/>
          <p:nvPr/>
        </p:nvSpPr>
        <p:spPr>
          <a:xfrm>
            <a:off x="822960" y="8119872"/>
            <a:ext cx="4480560" cy="274320"/>
          </a:xfrm>
          <a:prstGeom prst="rect">
            <a:avLst/>
          </a:prstGeom>
          <a:noFill/>
        </p:spPr>
        <p:txBody>
          <a:bodyPr wrap="square" anchor="t" lIns="0" rIns="0" tIns="0" bIns="0">
            <a:spAutoFit/>
          </a:bodyPr>
          <a:lstStyle/>
          <a:p>
            <a:pPr algn="ctr">
              <a:spcAft>
                <a:spcPts val="400"/>
              </a:spcAft>
            </a:pPr>
            <a:r>
              <a:rPr sz="1210" b="1" i="0">
                <a:solidFill>
                  <a:srgbClr val="0B5E6E"/>
                </a:solidFill>
                <a:latin typeface="Calibri (MS) Bold"/>
              </a:rPr>
              <a:t>Contoh titik sampel (titik 69, Google Earth)</a:t>
            </a:r>
          </a:p>
        </p:txBody>
      </p:sp>
      <p:graphicFrame>
        <p:nvGraphicFramePr>
          <p:cNvPr id="77" name="Table 76"/>
          <p:cNvGraphicFramePr>
            <a:graphicFrameLocks noGrp="1"/>
          </p:cNvGraphicFramePr>
          <p:nvPr/>
        </p:nvGraphicFramePr>
        <p:xfrm>
          <a:off x="5532120" y="5394960"/>
          <a:ext cx="5349240" cy="2514600"/>
        </p:xfrm>
        <a:graphic>
          <a:graphicData uri="http://schemas.openxmlformats.org/drawingml/2006/table">
            <a:tbl>
              <a:tblPr firstRow="1" bandRow="1">
                <a:tableStyleId>{5C22544A-7EE6-4342-B048-85BDC9FD1C3A}</a:tableStyleId>
              </a:tblPr>
              <a:tblGrid>
                <a:gridCol w="4114800"/>
                <a:gridCol w="1234440"/>
              </a:tblGrid>
              <a:tr h="502920">
                <a:tc>
                  <a:txBody>
                    <a:bodyPr wrap="square"/>
                    <a:lstStyle/>
                    <a:p>
                      <a:r>
                        <a:rPr sz="1320" b="1" i="0">
                          <a:solidFill>
                            <a:srgbClr val="FFFFFF"/>
                          </a:solidFill>
                          <a:latin typeface="Calibri (MS) Bold"/>
                        </a:rPr>
                        <a:t>Validasi spasial (200 titik yang sama)</a:t>
                      </a:r>
                    </a:p>
                  </a:txBody>
                  <a:tcPr marL="73152" marR="73152" marT="36576" marB="36576" anchor="ctr">
                    <a:solidFill>
                      <a:srgbClr val="0B5E6E"/>
                    </a:solidFill>
                  </a:tcPr>
                </a:tc>
                <a:tc>
                  <a:txBody>
                    <a:bodyPr wrap="square"/>
                    <a:lstStyle/>
                    <a:p>
                      <a:pPr algn="ctr"/>
                      <a:r>
                        <a:rPr sz="1320" b="1" i="0">
                          <a:solidFill>
                            <a:srgbClr val="FFFFFF"/>
                          </a:solidFill>
                          <a:latin typeface="Calibri (MS) Bold"/>
                        </a:rPr>
                        <a:t>Nilai</a:t>
                      </a:r>
                    </a:p>
                  </a:txBody>
                  <a:tcPr marL="73152" marR="73152" marT="36576" marB="36576" anchor="ctr">
                    <a:solidFill>
                      <a:srgbClr val="0B5E6E"/>
                    </a:solidFill>
                  </a:tcPr>
                </a:tc>
              </a:tr>
              <a:tr h="502920">
                <a:tc>
                  <a:txBody>
                    <a:bodyPr wrap="square"/>
                    <a:lstStyle/>
                    <a:p>
                      <a:r>
                        <a:rPr sz="1320" b="1" i="0">
                          <a:solidFill>
                            <a:srgbClr val="14313B"/>
                          </a:solidFill>
                          <a:latin typeface="Calibri (MS) Bold"/>
                        </a:rPr>
                        <a:t>Rata-rata probabilitas — titik benar</a:t>
                      </a:r>
                    </a:p>
                  </a:txBody>
                  <a:tcPr marL="73152" marR="73152" marT="36576" marB="36576" anchor="ctr">
                    <a:solidFill>
                      <a:srgbClr val="FFFFFF"/>
                    </a:solidFill>
                  </a:tcPr>
                </a:tc>
                <a:tc>
                  <a:txBody>
                    <a:bodyPr wrap="square"/>
                    <a:lstStyle/>
                    <a:p>
                      <a:pPr algn="ctr"/>
                      <a:r>
                        <a:rPr sz="1320" b="0" i="0">
                          <a:solidFill>
                            <a:srgbClr val="14313B"/>
                          </a:solidFill>
                          <a:latin typeface="Calibri (MS)"/>
                        </a:rPr>
                        <a:t>0,330</a:t>
                      </a:r>
                    </a:p>
                  </a:txBody>
                  <a:tcPr marL="73152" marR="73152" marT="36576" marB="36576" anchor="ctr">
                    <a:solidFill>
                      <a:srgbClr val="FFFFFF"/>
                    </a:solidFill>
                  </a:tcPr>
                </a:tc>
              </a:tr>
              <a:tr h="502920">
                <a:tc>
                  <a:txBody>
                    <a:bodyPr wrap="square"/>
                    <a:lstStyle/>
                    <a:p>
                      <a:r>
                        <a:rPr sz="1320" b="1" i="0">
                          <a:solidFill>
                            <a:srgbClr val="14313B"/>
                          </a:solidFill>
                          <a:latin typeface="Calibri (MS) Bold"/>
                        </a:rPr>
                        <a:t>Rata-rata probabilitas — titik salah</a:t>
                      </a:r>
                    </a:p>
                  </a:txBody>
                  <a:tcPr marL="73152" marR="73152" marT="36576" marB="36576" anchor="ctr">
                    <a:solidFill>
                      <a:srgbClr val="EAF8FA"/>
                    </a:solidFill>
                  </a:tcPr>
                </a:tc>
                <a:tc>
                  <a:txBody>
                    <a:bodyPr wrap="square"/>
                    <a:lstStyle/>
                    <a:p>
                      <a:pPr algn="ctr"/>
                      <a:r>
                        <a:rPr sz="1320" b="0" i="0">
                          <a:solidFill>
                            <a:srgbClr val="14313B"/>
                          </a:solidFill>
                          <a:latin typeface="Calibri (MS)"/>
                        </a:rPr>
                        <a:t>0,574</a:t>
                      </a:r>
                    </a:p>
                  </a:txBody>
                  <a:tcPr marL="73152" marR="73152" marT="36576" marB="36576" anchor="ctr">
                    <a:solidFill>
                      <a:srgbClr val="FDE2DE"/>
                    </a:solidFill>
                  </a:tcPr>
                </a:tc>
              </a:tr>
              <a:tr h="502920">
                <a:tc>
                  <a:txBody>
                    <a:bodyPr wrap="square"/>
                    <a:lstStyle/>
                    <a:p>
                      <a:r>
                        <a:rPr sz="1320" b="1" i="0">
                          <a:solidFill>
                            <a:srgbClr val="14313B"/>
                          </a:solidFill>
                          <a:latin typeface="Calibri (MS) Bold"/>
                        </a:rPr>
                        <a:t>Akurasi pada probabilitas 0–0,25</a:t>
                      </a:r>
                    </a:p>
                  </a:txBody>
                  <a:tcPr marL="73152" marR="73152" marT="36576" marB="36576" anchor="ctr">
                    <a:solidFill>
                      <a:srgbClr val="FFFFFF"/>
                    </a:solidFill>
                  </a:tcPr>
                </a:tc>
                <a:tc>
                  <a:txBody>
                    <a:bodyPr wrap="square"/>
                    <a:lstStyle/>
                    <a:p>
                      <a:pPr algn="ctr"/>
                      <a:r>
                        <a:rPr sz="1320" b="0" i="0">
                          <a:solidFill>
                            <a:srgbClr val="14313B"/>
                          </a:solidFill>
                          <a:latin typeface="Calibri (MS)"/>
                        </a:rPr>
                        <a:t>97,7%</a:t>
                      </a:r>
                    </a:p>
                  </a:txBody>
                  <a:tcPr marL="73152" marR="73152" marT="36576" marB="36576" anchor="ctr">
                    <a:solidFill>
                      <a:srgbClr val="C9F0D6"/>
                    </a:solidFill>
                  </a:tcPr>
                </a:tc>
              </a:tr>
              <a:tr h="502920">
                <a:tc>
                  <a:txBody>
                    <a:bodyPr wrap="square"/>
                    <a:lstStyle/>
                    <a:p>
                      <a:r>
                        <a:rPr sz="1320" b="1" i="0">
                          <a:solidFill>
                            <a:srgbClr val="14313B"/>
                          </a:solidFill>
                          <a:latin typeface="Calibri (MS) Bold"/>
                        </a:rPr>
                        <a:t>Akurasi pada probabilitas 0,5–0,6</a:t>
                      </a:r>
                    </a:p>
                  </a:txBody>
                  <a:tcPr marL="73152" marR="73152" marT="36576" marB="36576" anchor="ctr">
                    <a:solidFill>
                      <a:srgbClr val="EAF8FA"/>
                    </a:solidFill>
                  </a:tcPr>
                </a:tc>
                <a:tc>
                  <a:txBody>
                    <a:bodyPr wrap="square"/>
                    <a:lstStyle/>
                    <a:p>
                      <a:pPr algn="ctr"/>
                      <a:r>
                        <a:rPr sz="1320" b="0" i="0">
                          <a:solidFill>
                            <a:srgbClr val="14313B"/>
                          </a:solidFill>
                          <a:latin typeface="Calibri (MS)"/>
                        </a:rPr>
                        <a:t>52,0%</a:t>
                      </a:r>
                    </a:p>
                  </a:txBody>
                  <a:tcPr marL="73152" marR="73152" marT="36576" marB="36576" anchor="ctr">
                    <a:solidFill>
                      <a:srgbClr val="FDE2DE"/>
                    </a:solidFill>
                  </a:tcPr>
                </a:tc>
              </a:tr>
            </a:tbl>
          </a:graphicData>
        </a:graphic>
      </p:graphicFrame>
      <p:sp>
        <p:nvSpPr>
          <p:cNvPr id="78" name="Rounded Rectangle 77"/>
          <p:cNvSpPr/>
          <p:nvPr/>
        </p:nvSpPr>
        <p:spPr>
          <a:xfrm>
            <a:off x="11155680" y="5394960"/>
            <a:ext cx="6309360"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Di mana kesalahan terjadi?</a:t>
            </a:r>
          </a:p>
          <a:p>
            <a:pPr algn="l">
              <a:spcAft>
                <a:spcPts val="300"/>
              </a:spcAft>
            </a:pPr>
            <a:r>
              <a:rPr sz="1260" b="0" i="0">
                <a:solidFill>
                  <a:srgbClr val="14313B"/>
                </a:solidFill>
                <a:latin typeface="Calibri (MS)"/>
              </a:rPr>
              <a:t>Titik yang dicek ulang di Google Earth: titik di kawasan yang jelas terbangun atau jelas bervegetasi sesuai kondisi lapangan. Titik yang salah berada di tepi objek, misalnya tepi jalan yang hanya menutupi ±7 dari 10 m piksel.</a:t>
            </a:r>
          </a:p>
        </p:txBody>
      </p:sp>
      <p:sp>
        <p:nvSpPr>
          <p:cNvPr id="79" name="Rounded Rectangle 78"/>
          <p:cNvSpPr/>
          <p:nvPr/>
        </p:nvSpPr>
        <p:spPr>
          <a:xfrm>
            <a:off x="822960" y="8412480"/>
            <a:ext cx="16642080" cy="685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40" b="1" i="0">
                <a:solidFill>
                  <a:srgbClr val="0B5E6E"/>
                </a:solidFill>
                <a:latin typeface="Calibri (MS) Bold"/>
              </a:rPr>
              <a:t>Kesimpulan  </a:t>
            </a:r>
            <a:r>
              <a:rPr sz="1380" b="0" i="0">
                <a:solidFill>
                  <a:srgbClr val="14313B"/>
                </a:solidFill>
                <a:latin typeface="Calibri (MS)"/>
              </a:rPr>
              <a:t>Data Dynamic World layak dipakai; kesalahannya sistematis di tepi objek dan pada piksel campuran, bukan acak.</a:t>
            </a:r>
          </a:p>
        </p:txBody>
      </p:sp>
      <p:sp>
        <p:nvSpPr>
          <p:cNvPr id="80" name="TextBox 79"/>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Tabel 31–32, Gambar 14–15. Rumus metrik ditaruh di lampiran.</a:t>
            </a:r>
          </a:p>
        </p:txBody>
      </p:sp>
      <p:sp>
        <p:nvSpPr>
          <p:cNvPr id="81" name="Rounded Rectangle 80"/>
          <p:cNvSpPr/>
          <p:nvPr/>
        </p:nvSpPr>
        <p:spPr>
          <a:xfrm>
            <a:off x="14904720" y="9646920"/>
            <a:ext cx="1371600" cy="384048"/>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14313B"/>
                </a:solidFill>
                <a:latin typeface="Calibri (MS) Bold"/>
              </a:rPr>
              <a:t>Versi 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Lahan Terbangun — Uji Akurasi (2/2): Letak Kesalahan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Pemeriksaan visual titik sampel (validasi spasial): kesalahan terkumpul di tepi objek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id="70" name="Picture 69" descr="image.png"/>
          <p:cNvPicPr>
            <a:picLocks noChangeAspect="1"/>
          </p:cNvPicPr>
          <p:nvPr/>
        </p:nvPicPr>
        <p:blipFill>
          <a:blip r:embed="rId2"/>
          <a:stretch>
            <a:fillRect/>
          </a:stretch>
        </p:blipFill>
        <p:spPr>
          <a:xfrm>
            <a:off x="822960" y="1853581"/>
            <a:ext cx="5394959" cy="3150837"/>
          </a:xfrm>
          <a:prstGeom prst="rect">
            <a:avLst/>
          </a:prstGeom>
        </p:spPr>
      </p:pic>
      <p:pic>
        <p:nvPicPr>
          <p:cNvPr id="71" name="Picture 70" descr="image.png"/>
          <p:cNvPicPr>
            <a:picLocks noChangeAspect="1"/>
          </p:cNvPicPr>
          <p:nvPr/>
        </p:nvPicPr>
        <p:blipFill>
          <a:blip r:embed="rId8"/>
          <a:stretch>
            <a:fillRect/>
          </a:stretch>
        </p:blipFill>
        <p:spPr>
          <a:xfrm>
            <a:off x="6511003" y="1783080"/>
            <a:ext cx="5083113" cy="3291839"/>
          </a:xfrm>
          <a:prstGeom prst="rect">
            <a:avLst/>
          </a:prstGeom>
        </p:spPr>
      </p:pic>
      <p:sp>
        <p:nvSpPr>
          <p:cNvPr id="72" name="TextBox 71"/>
          <p:cNvSpPr txBox="1"/>
          <p:nvPr/>
        </p:nvSpPr>
        <p:spPr>
          <a:xfrm>
            <a:off x="822960" y="5120640"/>
            <a:ext cx="5394960" cy="320040"/>
          </a:xfrm>
          <a:prstGeom prst="rect">
            <a:avLst/>
          </a:prstGeom>
          <a:noFill/>
        </p:spPr>
        <p:txBody>
          <a:bodyPr wrap="square" anchor="t" lIns="0" rIns="0" tIns="0" bIns="0">
            <a:spAutoFit/>
          </a:bodyPr>
          <a:lstStyle/>
          <a:p>
            <a:pPr algn="ctr">
              <a:spcAft>
                <a:spcPts val="400"/>
              </a:spcAft>
            </a:pPr>
            <a:r>
              <a:rPr sz="1320" b="1" i="0">
                <a:solidFill>
                  <a:srgbClr val="0B5E6E"/>
                </a:solidFill>
                <a:latin typeface="Calibri (MS) Bold"/>
              </a:rPr>
              <a:t>Titik 8: bukan terbangun (vegetasi)</a:t>
            </a:r>
          </a:p>
        </p:txBody>
      </p:sp>
      <p:sp>
        <p:nvSpPr>
          <p:cNvPr id="73" name="TextBox 72"/>
          <p:cNvSpPr txBox="1"/>
          <p:nvPr/>
        </p:nvSpPr>
        <p:spPr>
          <a:xfrm>
            <a:off x="6355080" y="5120640"/>
            <a:ext cx="5394960" cy="320040"/>
          </a:xfrm>
          <a:prstGeom prst="rect">
            <a:avLst/>
          </a:prstGeom>
          <a:noFill/>
        </p:spPr>
        <p:txBody>
          <a:bodyPr wrap="square" anchor="t" lIns="0" rIns="0" tIns="0" bIns="0">
            <a:spAutoFit/>
          </a:bodyPr>
          <a:lstStyle/>
          <a:p>
            <a:pPr algn="ctr">
              <a:spcAft>
                <a:spcPts val="400"/>
              </a:spcAft>
            </a:pPr>
            <a:r>
              <a:rPr sz="1320" b="1" i="0">
                <a:solidFill>
                  <a:srgbClr val="0B5E6E"/>
                </a:solidFill>
                <a:latin typeface="Calibri (MS) Bold"/>
              </a:rPr>
              <a:t>Titik 69: terbangun (atap bangunan)</a:t>
            </a:r>
          </a:p>
        </p:txBody>
      </p:sp>
      <p:graphicFrame>
        <p:nvGraphicFramePr>
          <p:cNvPr id="74" name="Table 73"/>
          <p:cNvGraphicFramePr>
            <a:graphicFrameLocks noGrp="1"/>
          </p:cNvGraphicFramePr>
          <p:nvPr/>
        </p:nvGraphicFramePr>
        <p:xfrm>
          <a:off x="12070080" y="1783080"/>
          <a:ext cx="5394960" cy="2834640"/>
        </p:xfrm>
        <a:graphic>
          <a:graphicData uri="http://schemas.openxmlformats.org/drawingml/2006/table">
            <a:tbl>
              <a:tblPr firstRow="1" bandRow="1">
                <a:tableStyleId>{5C22544A-7EE6-4342-B048-85BDC9FD1C3A}</a:tableStyleId>
              </a:tblPr>
              <a:tblGrid>
                <a:gridCol w="4023360"/>
                <a:gridCol w="1371600"/>
              </a:tblGrid>
              <a:tr h="566928">
                <a:tc>
                  <a:txBody>
                    <a:bodyPr wrap="square"/>
                    <a:lstStyle/>
                    <a:p>
                      <a:r>
                        <a:rPr sz="1380" b="1" i="0">
                          <a:solidFill>
                            <a:srgbClr val="FFFFFF"/>
                          </a:solidFill>
                          <a:latin typeface="Calibri (MS) Bold"/>
                        </a:rPr>
                        <a:t>Kelompok titik</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Nilai</a:t>
                      </a:r>
                    </a:p>
                  </a:txBody>
                  <a:tcPr marL="73152" marR="73152" marT="36576" marB="36576" anchor="ctr">
                    <a:solidFill>
                      <a:srgbClr val="0B5E6E"/>
                    </a:solidFill>
                  </a:tcPr>
                </a:tc>
              </a:tr>
              <a:tr h="566928">
                <a:tc>
                  <a:txBody>
                    <a:bodyPr wrap="square"/>
                    <a:lstStyle/>
                    <a:p>
                      <a:r>
                        <a:rPr sz="1380" b="1" i="0">
                          <a:solidFill>
                            <a:srgbClr val="14313B"/>
                          </a:solidFill>
                          <a:latin typeface="Calibri (MS) Bold"/>
                        </a:rPr>
                        <a:t>Rata-rata probabilitas "built" — titik benar</a:t>
                      </a:r>
                    </a:p>
                  </a:txBody>
                  <a:tcPr marL="73152" marR="73152" marT="36576" marB="36576" anchor="ctr">
                    <a:solidFill>
                      <a:srgbClr val="FFFFFF"/>
                    </a:solidFill>
                  </a:tcPr>
                </a:tc>
                <a:tc>
                  <a:txBody>
                    <a:bodyPr wrap="square"/>
                    <a:lstStyle/>
                    <a:p>
                      <a:pPr algn="ctr"/>
                      <a:r>
                        <a:rPr sz="1380" b="0" i="0">
                          <a:solidFill>
                            <a:srgbClr val="14313B"/>
                          </a:solidFill>
                          <a:latin typeface="Calibri (MS)"/>
                        </a:rPr>
                        <a:t>0,330</a:t>
                      </a:r>
                    </a:p>
                  </a:txBody>
                  <a:tcPr marL="73152" marR="73152" marT="36576" marB="36576" anchor="ctr">
                    <a:solidFill>
                      <a:srgbClr val="FFFFFF"/>
                    </a:solidFill>
                  </a:tcPr>
                </a:tc>
              </a:tr>
              <a:tr h="566928">
                <a:tc>
                  <a:txBody>
                    <a:bodyPr wrap="square"/>
                    <a:lstStyle/>
                    <a:p>
                      <a:r>
                        <a:rPr sz="1380" b="1" i="0">
                          <a:solidFill>
                            <a:srgbClr val="14313B"/>
                          </a:solidFill>
                          <a:latin typeface="Calibri (MS) Bold"/>
                        </a:rPr>
                        <a:t>Rata-rata probabilitas "built" — titik salah</a:t>
                      </a:r>
                    </a:p>
                  </a:txBody>
                  <a:tcPr marL="73152" marR="73152" marT="36576" marB="36576" anchor="ctr">
                    <a:solidFill>
                      <a:srgbClr val="EAF8FA"/>
                    </a:solidFill>
                  </a:tcPr>
                </a:tc>
                <a:tc>
                  <a:txBody>
                    <a:bodyPr wrap="square"/>
                    <a:lstStyle/>
                    <a:p>
                      <a:pPr algn="ctr"/>
                      <a:r>
                        <a:rPr sz="1380" b="0" i="0">
                          <a:solidFill>
                            <a:srgbClr val="14313B"/>
                          </a:solidFill>
                          <a:latin typeface="Calibri (MS)"/>
                        </a:rPr>
                        <a:t>0,574</a:t>
                      </a:r>
                    </a:p>
                  </a:txBody>
                  <a:tcPr marL="73152" marR="73152" marT="36576" marB="36576" anchor="ctr">
                    <a:solidFill>
                      <a:srgbClr val="FDE2DE"/>
                    </a:solidFill>
                  </a:tcPr>
                </a:tc>
              </a:tr>
              <a:tr h="566928">
                <a:tc>
                  <a:txBody>
                    <a:bodyPr wrap="square"/>
                    <a:lstStyle/>
                    <a:p>
                      <a:r>
                        <a:rPr sz="1380" b="1" i="0">
                          <a:solidFill>
                            <a:srgbClr val="14313B"/>
                          </a:solidFill>
                          <a:latin typeface="Calibri (MS) Bold"/>
                        </a:rPr>
                        <a:t>Akurasi pada probabilitas 0–0,25</a:t>
                      </a:r>
                    </a:p>
                  </a:txBody>
                  <a:tcPr marL="73152" marR="73152" marT="36576" marB="36576" anchor="ctr">
                    <a:solidFill>
                      <a:srgbClr val="FFFFFF"/>
                    </a:solidFill>
                  </a:tcPr>
                </a:tc>
                <a:tc>
                  <a:txBody>
                    <a:bodyPr wrap="square"/>
                    <a:lstStyle/>
                    <a:p>
                      <a:pPr algn="ctr"/>
                      <a:r>
                        <a:rPr sz="1380" b="0" i="0">
                          <a:solidFill>
                            <a:srgbClr val="14313B"/>
                          </a:solidFill>
                          <a:latin typeface="Calibri (MS)"/>
                        </a:rPr>
                        <a:t>97,7%</a:t>
                      </a:r>
                    </a:p>
                  </a:txBody>
                  <a:tcPr marL="73152" marR="73152" marT="36576" marB="36576" anchor="ctr">
                    <a:solidFill>
                      <a:srgbClr val="C9F0D6"/>
                    </a:solidFill>
                  </a:tcPr>
                </a:tc>
              </a:tr>
              <a:tr h="566928">
                <a:tc>
                  <a:txBody>
                    <a:bodyPr wrap="square"/>
                    <a:lstStyle/>
                    <a:p>
                      <a:r>
                        <a:rPr sz="1380" b="1" i="0">
                          <a:solidFill>
                            <a:srgbClr val="14313B"/>
                          </a:solidFill>
                          <a:latin typeface="Calibri (MS) Bold"/>
                        </a:rPr>
                        <a:t>Akurasi pada probabilitas 0,5–0,6</a:t>
                      </a:r>
                    </a:p>
                  </a:txBody>
                  <a:tcPr marL="73152" marR="73152" marT="36576" marB="36576" anchor="ctr">
                    <a:solidFill>
                      <a:srgbClr val="EAF8FA"/>
                    </a:solidFill>
                  </a:tcPr>
                </a:tc>
                <a:tc>
                  <a:txBody>
                    <a:bodyPr wrap="square"/>
                    <a:lstStyle/>
                    <a:p>
                      <a:pPr algn="ctr"/>
                      <a:r>
                        <a:rPr sz="1380" b="0" i="0">
                          <a:solidFill>
                            <a:srgbClr val="14313B"/>
                          </a:solidFill>
                          <a:latin typeface="Calibri (MS)"/>
                        </a:rPr>
                        <a:t>52,0%</a:t>
                      </a:r>
                    </a:p>
                  </a:txBody>
                  <a:tcPr marL="73152" marR="73152" marT="36576" marB="36576" anchor="ctr">
                    <a:solidFill>
                      <a:srgbClr val="FDE2DE"/>
                    </a:solidFill>
                  </a:tcPr>
                </a:tc>
              </a:tr>
            </a:tbl>
          </a:graphicData>
        </a:graphic>
      </p:graphicFrame>
      <p:sp>
        <p:nvSpPr>
          <p:cNvPr id="75" name="TextBox 74"/>
          <p:cNvSpPr txBox="1"/>
          <p:nvPr/>
        </p:nvSpPr>
        <p:spPr>
          <a:xfrm>
            <a:off x="12070080" y="4709160"/>
            <a:ext cx="5394960" cy="457200"/>
          </a:xfrm>
          <a:prstGeom prst="rect">
            <a:avLst/>
          </a:prstGeom>
          <a:noFill/>
        </p:spPr>
        <p:txBody>
          <a:bodyPr wrap="square" anchor="t" lIns="0" rIns="0" tIns="0" bIns="0">
            <a:spAutoFit/>
          </a:bodyPr>
          <a:lstStyle/>
          <a:p>
            <a:pPr algn="l">
              <a:spcAft>
                <a:spcPts val="400"/>
              </a:spcAft>
            </a:pPr>
            <a:r>
              <a:rPr sz="1260" b="0" i="1">
                <a:solidFill>
                  <a:srgbClr val="5E6E78"/>
                </a:solidFill>
                <a:latin typeface="Calibri (MS)"/>
              </a:rPr>
              <a:t>Dihitung dari 200 titik yang sama dengan slide 1/2, dikelompokkan menurut probabilitas "built"</a:t>
            </a:r>
          </a:p>
        </p:txBody>
      </p:sp>
      <p:sp>
        <p:nvSpPr>
          <p:cNvPr id="76" name="Rounded Rectangle 75"/>
          <p:cNvSpPr/>
          <p:nvPr/>
        </p:nvSpPr>
        <p:spPr>
          <a:xfrm>
            <a:off x="822960"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Cara</a:t>
            </a:r>
          </a:p>
          <a:p>
            <a:pPr algn="l">
              <a:spcAft>
                <a:spcPts val="300"/>
              </a:spcAft>
            </a:pPr>
            <a:r>
              <a:rPr sz="1380" b="0" i="0">
                <a:solidFill>
                  <a:srgbClr val="14313B"/>
                </a:solidFill>
                <a:latin typeface="Calibri (MS)"/>
              </a:rPr>
              <a:t>Beberapa dari 200 titik sampel uji akurasi dilihat ulang pada citra resolusi tinggi Google Earth untuk melihat di mana kesalahan terjadi.</a:t>
            </a:r>
          </a:p>
        </p:txBody>
      </p:sp>
      <p:sp>
        <p:nvSpPr>
          <p:cNvPr id="77" name="Rounded Rectangle 76"/>
          <p:cNvSpPr/>
          <p:nvPr/>
        </p:nvSpPr>
        <p:spPr>
          <a:xfrm>
            <a:off x="6428232"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Titik yang tepat</a:t>
            </a:r>
          </a:p>
          <a:p>
            <a:pPr algn="l">
              <a:spcAft>
                <a:spcPts val="300"/>
              </a:spcAft>
            </a:pPr>
            <a:r>
              <a:rPr sz="1380" b="0" i="0">
                <a:solidFill>
                  <a:srgbClr val="14313B"/>
                </a:solidFill>
                <a:latin typeface="Calibri (MS)"/>
              </a:rPr>
              <a:t>Kawasan yang jelas terbangun atau jelas bervegetasi: kelas prediksi sesuai kondisi lapangan.</a:t>
            </a:r>
          </a:p>
        </p:txBody>
      </p:sp>
      <p:sp>
        <p:nvSpPr>
          <p:cNvPr id="78" name="Rounded Rectangle 77"/>
          <p:cNvSpPr/>
          <p:nvPr/>
        </p:nvSpPr>
        <p:spPr>
          <a:xfrm>
            <a:off x="12033504"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Titik yang salah</a:t>
            </a:r>
          </a:p>
          <a:p>
            <a:pPr algn="l">
              <a:spcAft>
                <a:spcPts val="300"/>
              </a:spcAft>
            </a:pPr>
            <a:r>
              <a:rPr sz="1380" b="0" i="0">
                <a:solidFill>
                  <a:srgbClr val="14313B"/>
                </a:solidFill>
                <a:latin typeface="Calibri (MS)"/>
              </a:rPr>
              <a:t>Di tepi objek, misalnya tepi jalan yang perkerasannya hanya menutupi ±7 dari 10 m piksel (piksel campuran).</a:t>
            </a:r>
          </a:p>
        </p:txBody>
      </p:sp>
      <p:sp>
        <p:nvSpPr>
          <p:cNvPr id="79" name="Rounded Rectangle 78"/>
          <p:cNvSpPr/>
          <p:nvPr/>
        </p:nvSpPr>
        <p:spPr>
          <a:xfrm>
            <a:off x="822960" y="74066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550" b="1" i="0">
                <a:solidFill>
                  <a:srgbClr val="0B5E6E"/>
                </a:solidFill>
                <a:latin typeface="Calibri (MS) Bold"/>
              </a:rPr>
              <a:t>Kesimpulan  </a:t>
            </a:r>
            <a:r>
              <a:rPr sz="1440" b="0" i="0">
                <a:solidFill>
                  <a:srgbClr val="14313B"/>
                </a:solidFill>
                <a:latin typeface="Calibri (MS)"/>
              </a:rPr>
              <a:t>Kesalahan bersifat sistematis di tepi objek dan pada piksel campuran, bukan acak di seluruh wilayah; data tetap layak dipakai.</a:t>
            </a:r>
          </a:p>
        </p:txBody>
      </p:sp>
      <p:sp>
        <p:nvSpPr>
          <p:cNvPr id="80" name="TextBox 7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Gambar 14–15; sampel uji akurasi Dynamic World 2025 (Google Earth).</a:t>
            </a:r>
          </a:p>
        </p:txBody>
      </p:sp>
      <p:sp>
        <p:nvSpPr>
          <p:cNvPr id="81" name="Rounded Rectangle 80"/>
          <p:cNvSpPr/>
          <p:nvPr/>
        </p:nvSpPr>
        <p:spPr>
          <a:xfrm>
            <a:off x="14904720" y="9646920"/>
            <a:ext cx="1371600" cy="384048"/>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14313B"/>
                </a:solidFill>
                <a:latin typeface="Calibri (MS) Bold"/>
              </a:rPr>
              <a:t>Versi A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