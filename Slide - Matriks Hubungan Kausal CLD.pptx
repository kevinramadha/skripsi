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96"/>
  </p:notesMasterIdLst>
  <p:sldIdLst>
    <p:sldId id="350" r:id="rId198"/>
  </p:sldIdLst>
  <p:sldSz cx="18288000" cy="10287000"/>
  <p:notesSz cx="6858000" cy="9144000"/>
  <p:embeddedFontLst>
    <p:embeddedFont>
      <p:font typeface="Calibri (MS) Bold" charset="1" panose="020F0702030404030204"/>
      <p:regular r:id="rId99"/>
    </p:embeddedFont>
    <p:embeddedFont>
      <p:font typeface="Calibri (MS) Bold Italics" charset="1" panose="020F07020304040A0204"/>
      <p:regular r:id="rId100"/>
    </p:embeddedFont>
    <p:embeddedFont>
      <p:font typeface="Calibri (MS)" charset="1" panose="020F0502020204030204"/>
      <p:regular r:id="rId101"/>
    </p:embeddedFont>
    <p:embeddedFont>
      <p:font typeface="Montserrat" charset="1" panose="00000500000000000000"/>
      <p:regular r:id="rId105"/>
    </p:embeddedFont>
    <p:embeddedFont>
      <p:font typeface="Calibri (MS) Italics" charset="1" panose="020F05020202040A0204"/>
      <p:regular r:id="rId108"/>
    </p:embeddedFont>
    <p:embeddedFont>
      <p:font typeface="Cambria Italics" charset="1" panose="020405030504060A0204"/>
      <p:regular r:id="rId1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96" Type="http://schemas.openxmlformats.org/officeDocument/2006/relationships/notesMaster" Target="notesMasters/notesMaster1.xml"/><Relationship Id="rId97" Type="http://schemas.openxmlformats.org/officeDocument/2006/relationships/theme" Target="theme/theme2.xml"/><Relationship Id="rId99" Type="http://schemas.openxmlformats.org/officeDocument/2006/relationships/font" Target="fonts/font99.fntdata"/><Relationship Id="rId100" Type="http://schemas.openxmlformats.org/officeDocument/2006/relationships/font" Target="fonts/font100.fntdata"/><Relationship Id="rId101" Type="http://schemas.openxmlformats.org/officeDocument/2006/relationships/font" Target="fonts/font101.fntdata"/><Relationship Id="rId105" Type="http://schemas.openxmlformats.org/officeDocument/2006/relationships/font" Target="fonts/font105.fntdata"/><Relationship Id="rId108" Type="http://schemas.openxmlformats.org/officeDocument/2006/relationships/font" Target="fonts/font108.fntdata"/><Relationship Id="rId128" Type="http://schemas.openxmlformats.org/officeDocument/2006/relationships/font" Target="fonts/font128.fntdata"/><Relationship Id="rId19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matriks lengkap 18 hubungan kausal penyusun CLD. Setiap hubungan diberi arah, plus atau minus, cara kerjanya di dalam model, dan dasarnya. Dasarnya dibedakan: sebagian didukung literatur, misalnya daya tarik terhadap kedatangan dan kepadatan terhadap daya tarik; sebagian lagi berupa definisi atau persamaan dalam model, misalnya lahan terbangun terhadap rasio daya dukung lahan. Hubungan tenaga kerja ke pembangunan ODTW tidak dimasukkan karena dasar sebab-akibatnya tidak cukup.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6.pn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70680" y="164592"/>
            <a:ext cx="713232" cy="713232"/>
            <a:chOff x="0" y="0"/>
            <a:chExt cx="950976" cy="950976"/>
          </a:xfrm>
        </p:grpSpPr>
        <p:sp>
          <p:nvSpPr>
            <p:cNvPr name="Freeform 3" id="3" descr="Logo Politeknik Statistika STIS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822960" y="9738360"/>
            <a:ext cx="12344400" cy="384048"/>
            <a:chOff x="0" y="0"/>
            <a:chExt cx="16459200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459200" cy="512064"/>
            </a:xfrm>
            <a:custGeom>
              <a:avLst/>
              <a:gdLst/>
              <a:ahLst/>
              <a:cxnLst/>
              <a:rect r="r" b="b" t="t" l="l"/>
              <a:pathLst>
                <a:path h="51206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5868" r="0" b="-575870"/>
              </a:stretch>
            </a:blip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822960" y="9716929"/>
            <a:ext cx="12344400" cy="405479"/>
            <a:chOff x="0" y="0"/>
            <a:chExt cx="16459200" cy="5406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459200" cy="540639"/>
            </a:xfrm>
            <a:custGeom>
              <a:avLst/>
              <a:gdLst/>
              <a:ahLst/>
              <a:cxnLst/>
              <a:rect r="r" b="b" t="t" l="l"/>
              <a:pathLst>
                <a:path h="540639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40639"/>
                  </a:lnTo>
                  <a:lnTo>
                    <a:pt x="0" y="5406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2788" r="0" b="-542790"/>
              </a:stretch>
            </a:blipFill>
          </p:spPr>
          <p:txBody>
            <a:bodyPr/>
            <a:p/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9695498"/>
            <a:ext cx="12344400" cy="426910"/>
            <a:chOff x="0" y="0"/>
            <a:chExt cx="16459200" cy="5692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569214"/>
            </a:xfrm>
            <a:custGeom>
              <a:avLst/>
              <a:gdLst/>
              <a:ahLst/>
              <a:cxnLst/>
              <a:rect r="r" b="b" t="t" l="l"/>
              <a:pathLst>
                <a:path h="56921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569214"/>
                  </a:lnTo>
                  <a:lnTo>
                    <a:pt x="0" y="56921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13423" r="0" b="-513423"/>
              </a:stretch>
            </a:blipFill>
          </p:spPr>
          <p:txBody>
            <a:bodyPr/>
            <a:p/>
          </p:txBody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6459200" cy="597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E6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Sidang Skripsi  |  Kevin Atha Fathoni Ramadha  |  Politeknik Statistika STIS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22960" y="713232"/>
            <a:ext cx="16637508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0B5E6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Matriks Hubungan Kausal Penyusun CLD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sz="1900" b="0" i="0">
                <a:solidFill>
                  <a:srgbClr val="4A5A63"/>
                </a:solidFill>
                <a:latin typeface="Calibri (MS)"/>
                <a:ea typeface="Calibri (MS) Bold"/>
                <a:cs typeface="Calibri (MS) Bold"/>
                <a:sym typeface="Calibri (MS) Bold"/>
              </a:rPr>
              <a:t>18 hubungan sebab-akibat: arah hubungan, cara kerjanya dalam model, dan dasarnya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22960" y="274320"/>
            <a:ext cx="2040922" cy="411480"/>
            <a:chOff x="0" y="0"/>
            <a:chExt cx="2721229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21229" cy="548640"/>
            </a:xfrm>
            <a:custGeom>
              <a:avLst/>
              <a:gdLst/>
              <a:ahLst/>
              <a:cxnLst/>
              <a:rect r="r" b="b" t="t" l="l"/>
              <a:pathLst>
                <a:path h="548640" w="272122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446909" y="0"/>
                  </a:lnTo>
                  <a:cubicBezTo>
                    <a:pt x="2598420" y="0"/>
                    <a:pt x="2721229" y="122809"/>
                    <a:pt x="2721229" y="274320"/>
                  </a:cubicBezTo>
                  <a:cubicBezTo>
                    <a:pt x="2721229" y="425831"/>
                    <a:pt x="2598420" y="548640"/>
                    <a:pt x="2446909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AF8FA"/>
            </a:solidFill>
          </p:spPr>
          <p:txBody>
            <a:bodyPr/>
            <a:p/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274320"/>
            <a:ext cx="2040922" cy="411480"/>
            <a:chOff x="0" y="0"/>
            <a:chExt cx="2721229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21229" cy="548640"/>
            </a:xfrm>
            <a:custGeom>
              <a:avLst/>
              <a:gdLst/>
              <a:ahLst/>
              <a:cxnLst/>
              <a:rect r="r" b="b" t="t" l="l"/>
              <a:pathLst>
                <a:path h="548640" w="2721229">
                  <a:moveTo>
                    <a:pt x="0" y="0"/>
                  </a:moveTo>
                  <a:lnTo>
                    <a:pt x="2721229" y="0"/>
                  </a:lnTo>
                  <a:lnTo>
                    <a:pt x="272122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578" r="0" b="-46576"/>
              </a:stretch>
            </a:blip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60033"/>
            <a:ext cx="2040941" cy="425768"/>
            <a:chOff x="0" y="0"/>
            <a:chExt cx="2721254" cy="5676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21229" cy="567690"/>
            </a:xfrm>
            <a:custGeom>
              <a:avLst/>
              <a:gdLst/>
              <a:ahLst/>
              <a:cxnLst/>
              <a:rect r="r" b="b" t="t" l="l"/>
              <a:pathLst>
                <a:path h="567690" w="2721229">
                  <a:moveTo>
                    <a:pt x="0" y="0"/>
                  </a:moveTo>
                  <a:lnTo>
                    <a:pt x="2721229" y="0"/>
                  </a:lnTo>
                  <a:lnTo>
                    <a:pt x="2721229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337" r="0" b="-43337"/>
              </a:stretch>
            </a:blipFill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245745"/>
            <a:ext cx="2040941" cy="440055"/>
            <a:chOff x="0" y="0"/>
            <a:chExt cx="2721254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21255" cy="586741"/>
            </a:xfrm>
            <a:custGeom>
              <a:avLst/>
              <a:gdLst/>
              <a:ahLst/>
              <a:cxnLst/>
              <a:rect r="r" b="b" t="t" l="l"/>
              <a:pathLst>
                <a:path h="586741" w="2721255">
                  <a:moveTo>
                    <a:pt x="0" y="0"/>
                  </a:moveTo>
                  <a:lnTo>
                    <a:pt x="2721255" y="0"/>
                  </a:lnTo>
                  <a:lnTo>
                    <a:pt x="2721255" y="586741"/>
                  </a:lnTo>
                  <a:lnTo>
                    <a:pt x="0" y="58674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370" r="0" b="-40369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721254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E6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Pendahuluan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973629" y="274320"/>
            <a:ext cx="2378392" cy="411480"/>
            <a:chOff x="0" y="0"/>
            <a:chExt cx="317119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71190" cy="548640"/>
            </a:xfrm>
            <a:custGeom>
              <a:avLst/>
              <a:gdLst/>
              <a:ahLst/>
              <a:cxnLst/>
              <a:rect r="r" b="b" t="t" l="l"/>
              <a:pathLst>
                <a:path h="548640" w="317119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896870" y="0"/>
                  </a:lnTo>
                  <a:cubicBezTo>
                    <a:pt x="3048381" y="0"/>
                    <a:pt x="3171190" y="122809"/>
                    <a:pt x="3171190" y="274320"/>
                  </a:cubicBezTo>
                  <a:cubicBezTo>
                    <a:pt x="3171190" y="425831"/>
                    <a:pt x="3048381" y="548640"/>
                    <a:pt x="289687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AF8FA"/>
            </a:solidFill>
          </p:spPr>
          <p:txBody>
            <a:bodyPr/>
            <a:p/>
          </p:txBody>
        </p:sp>
      </p:grpSp>
      <p:grpSp>
        <p:nvGrpSpPr>
          <p:cNvPr name="Group 23" id="23"/>
          <p:cNvGrpSpPr/>
          <p:nvPr/>
        </p:nvGrpSpPr>
        <p:grpSpPr>
          <a:xfrm rot="0">
            <a:off x="2973629" y="274320"/>
            <a:ext cx="2378392" cy="411480"/>
            <a:chOff x="0" y="0"/>
            <a:chExt cx="317119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71190" cy="548640"/>
            </a:xfrm>
            <a:custGeom>
              <a:avLst/>
              <a:gdLst/>
              <a:ahLst/>
              <a:cxnLst/>
              <a:rect r="r" b="b" t="t" l="l"/>
              <a:pathLst>
                <a:path h="548640" w="3171190">
                  <a:moveTo>
                    <a:pt x="0" y="0"/>
                  </a:moveTo>
                  <a:lnTo>
                    <a:pt x="3171190" y="0"/>
                  </a:lnTo>
                  <a:lnTo>
                    <a:pt x="317119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546" r="0" b="-62548"/>
              </a:stretch>
            </a:blipFill>
          </p:spPr>
          <p:txBody>
            <a:bodyPr/>
            <a:p/>
          </p:txBody>
        </p:sp>
      </p:grpSp>
      <p:grpSp>
        <p:nvGrpSpPr>
          <p:cNvPr name="Group 25" id="25"/>
          <p:cNvGrpSpPr/>
          <p:nvPr/>
        </p:nvGrpSpPr>
        <p:grpSpPr>
          <a:xfrm rot="0">
            <a:off x="2973629" y="260033"/>
            <a:ext cx="2378354" cy="425768"/>
            <a:chOff x="0" y="0"/>
            <a:chExt cx="3171139" cy="5676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71190" cy="567690"/>
            </a:xfrm>
            <a:custGeom>
              <a:avLst/>
              <a:gdLst/>
              <a:ahLst/>
              <a:cxnLst/>
              <a:rect r="r" b="b" t="t" l="l"/>
              <a:pathLst>
                <a:path h="567690" w="3171190">
                  <a:moveTo>
                    <a:pt x="0" y="0"/>
                  </a:moveTo>
                  <a:lnTo>
                    <a:pt x="3171190" y="0"/>
                  </a:lnTo>
                  <a:lnTo>
                    <a:pt x="317119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8767" r="1" b="-58769"/>
              </a:stretch>
            </a:blipFill>
          </p:spPr>
          <p:txBody>
            <a:bodyPr/>
            <a:p/>
          </p:txBody>
        </p:sp>
      </p:grpSp>
      <p:grpSp>
        <p:nvGrpSpPr>
          <p:cNvPr name="Group 27" id="27"/>
          <p:cNvGrpSpPr/>
          <p:nvPr/>
        </p:nvGrpSpPr>
        <p:grpSpPr>
          <a:xfrm rot="0">
            <a:off x="2973629" y="245745"/>
            <a:ext cx="2378354" cy="440055"/>
            <a:chOff x="0" y="0"/>
            <a:chExt cx="3171139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71139" cy="586741"/>
            </a:xfrm>
            <a:custGeom>
              <a:avLst/>
              <a:gdLst/>
              <a:ahLst/>
              <a:cxnLst/>
              <a:rect r="r" b="b" t="t" l="l"/>
              <a:pathLst>
                <a:path h="586741" w="3171139">
                  <a:moveTo>
                    <a:pt x="0" y="0"/>
                  </a:moveTo>
                  <a:lnTo>
                    <a:pt x="3171139" y="0"/>
                  </a:lnTo>
                  <a:lnTo>
                    <a:pt x="3171139" y="586741"/>
                  </a:lnTo>
                  <a:lnTo>
                    <a:pt x="0" y="58674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310" r="0" b="-55310"/>
              </a:stretch>
            </a:blipFill>
          </p:spPr>
          <p:txBody>
            <a:bodyPr/>
            <a:p/>
          </p:txBody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171139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E6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Metodologi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461711" y="274320"/>
            <a:ext cx="1591056" cy="411480"/>
            <a:chOff x="0" y="0"/>
            <a:chExt cx="2121408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21408" cy="548640"/>
            </a:xfrm>
            <a:custGeom>
              <a:avLst/>
              <a:gdLst/>
              <a:ahLst/>
              <a:cxnLst/>
              <a:rect r="r" b="b" t="t" l="l"/>
              <a:pathLst>
                <a:path h="548640" w="2121408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847088" y="0"/>
                  </a:lnTo>
                  <a:cubicBezTo>
                    <a:pt x="1998599" y="0"/>
                    <a:pt x="2121408" y="122809"/>
                    <a:pt x="2121408" y="274320"/>
                  </a:cubicBezTo>
                  <a:cubicBezTo>
                    <a:pt x="2121408" y="425831"/>
                    <a:pt x="1998599" y="548640"/>
                    <a:pt x="1847088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B5E6E"/>
            </a:solidFill>
          </p:spPr>
          <p:txBody>
            <a:bodyPr/>
            <a:p/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61711" y="274320"/>
            <a:ext cx="1591056" cy="411480"/>
            <a:chOff x="0" y="0"/>
            <a:chExt cx="2121408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21408" cy="548640"/>
            </a:xfrm>
            <a:custGeom>
              <a:avLst/>
              <a:gdLst/>
              <a:ahLst/>
              <a:cxnLst/>
              <a:rect r="r" b="b" t="t" l="l"/>
              <a:pathLst>
                <a:path h="548640" w="2121408">
                  <a:moveTo>
                    <a:pt x="0" y="0"/>
                  </a:moveTo>
                  <a:lnTo>
                    <a:pt x="2121408" y="0"/>
                  </a:lnTo>
                  <a:lnTo>
                    <a:pt x="212140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89" r="0" b="-25289"/>
              </a:stretch>
            </a:blipFill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461711" y="260033"/>
            <a:ext cx="1591056" cy="425768"/>
            <a:chOff x="0" y="0"/>
            <a:chExt cx="2121408" cy="56769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21408" cy="567690"/>
            </a:xfrm>
            <a:custGeom>
              <a:avLst/>
              <a:gdLst/>
              <a:ahLst/>
              <a:cxnLst/>
              <a:rect r="r" b="b" t="t" l="l"/>
              <a:pathLst>
                <a:path h="567690" w="2121408">
                  <a:moveTo>
                    <a:pt x="0" y="0"/>
                  </a:moveTo>
                  <a:lnTo>
                    <a:pt x="2121408" y="0"/>
                  </a:lnTo>
                  <a:lnTo>
                    <a:pt x="2121408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762" r="0" b="-22762"/>
              </a:stretch>
            </a:blipFill>
          </p:spPr>
          <p:txBody>
            <a:bodyPr/>
            <a:p/>
          </p:txBody>
        </p:sp>
      </p:grpSp>
      <p:grpSp>
        <p:nvGrpSpPr>
          <p:cNvPr name="Group 36" id="36"/>
          <p:cNvGrpSpPr/>
          <p:nvPr/>
        </p:nvGrpSpPr>
        <p:grpSpPr>
          <a:xfrm rot="0">
            <a:off x="5461711" y="245745"/>
            <a:ext cx="1591056" cy="440055"/>
            <a:chOff x="0" y="0"/>
            <a:chExt cx="2121408" cy="5867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21408" cy="586741"/>
            </a:xfrm>
            <a:custGeom>
              <a:avLst/>
              <a:gdLst/>
              <a:ahLst/>
              <a:cxnLst/>
              <a:rect r="r" b="b" t="t" l="l"/>
              <a:pathLst>
                <a:path h="586741" w="2121408">
                  <a:moveTo>
                    <a:pt x="0" y="0"/>
                  </a:moveTo>
                  <a:lnTo>
                    <a:pt x="2121408" y="0"/>
                  </a:lnTo>
                  <a:lnTo>
                    <a:pt x="2121408" y="586741"/>
                  </a:lnTo>
                  <a:lnTo>
                    <a:pt x="0" y="58674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449" r="0" b="-20449"/>
              </a:stretch>
            </a:blipFill>
          </p:spPr>
          <p:txBody>
            <a:bodyPr/>
            <a:p/>
          </p:txBody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121408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Tujuan 1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162495" y="274320"/>
            <a:ext cx="2490788" cy="411480"/>
            <a:chOff x="0" y="0"/>
            <a:chExt cx="332105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21050" cy="548640"/>
            </a:xfrm>
            <a:custGeom>
              <a:avLst/>
              <a:gdLst/>
              <a:ahLst/>
              <a:cxnLst/>
              <a:rect r="r" b="b" t="t" l="l"/>
              <a:pathLst>
                <a:path h="548640" w="332105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046730" y="0"/>
                  </a:lnTo>
                  <a:cubicBezTo>
                    <a:pt x="3198241" y="0"/>
                    <a:pt x="3321050" y="122809"/>
                    <a:pt x="3321050" y="274320"/>
                  </a:cubicBezTo>
                  <a:cubicBezTo>
                    <a:pt x="3321050" y="425831"/>
                    <a:pt x="3198241" y="548640"/>
                    <a:pt x="304673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AF8FA"/>
            </a:solidFill>
          </p:spPr>
          <p:txBody>
            <a:bodyPr/>
            <a:p/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62495" y="274320"/>
            <a:ext cx="2490788" cy="411480"/>
            <a:chOff x="0" y="0"/>
            <a:chExt cx="332105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321050" cy="548640"/>
            </a:xfrm>
            <a:custGeom>
              <a:avLst/>
              <a:gdLst/>
              <a:ahLst/>
              <a:cxnLst/>
              <a:rect r="r" b="b" t="t" l="l"/>
              <a:pathLst>
                <a:path h="548640" w="3321050">
                  <a:moveTo>
                    <a:pt x="0" y="0"/>
                  </a:moveTo>
                  <a:lnTo>
                    <a:pt x="3321050" y="0"/>
                  </a:lnTo>
                  <a:lnTo>
                    <a:pt x="332105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865" r="0" b="-67865"/>
              </a:stretch>
            </a:blipFill>
          </p:spPr>
          <p:txBody>
            <a:bodyPr/>
            <a:p/>
          </p:txBody>
        </p:sp>
      </p:grpSp>
      <p:grpSp>
        <p:nvGrpSpPr>
          <p:cNvPr name="Group 43" id="43"/>
          <p:cNvGrpSpPr/>
          <p:nvPr/>
        </p:nvGrpSpPr>
        <p:grpSpPr>
          <a:xfrm rot="0">
            <a:off x="7162495" y="260033"/>
            <a:ext cx="2490826" cy="425768"/>
            <a:chOff x="0" y="0"/>
            <a:chExt cx="3321101" cy="5676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21050" cy="567690"/>
            </a:xfrm>
            <a:custGeom>
              <a:avLst/>
              <a:gdLst/>
              <a:ahLst/>
              <a:cxnLst/>
              <a:rect r="r" b="b" t="t" l="l"/>
              <a:pathLst>
                <a:path h="567690" w="3321050">
                  <a:moveTo>
                    <a:pt x="0" y="0"/>
                  </a:moveTo>
                  <a:lnTo>
                    <a:pt x="3321050" y="0"/>
                  </a:lnTo>
                  <a:lnTo>
                    <a:pt x="3321050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3912" r="-1" b="-63910"/>
              </a:stretch>
            </a:blipFill>
          </p:spPr>
          <p:txBody>
            <a:bodyPr/>
            <a:p/>
          </p:txBody>
        </p:sp>
      </p:grpSp>
      <p:grpSp>
        <p:nvGrpSpPr>
          <p:cNvPr name="Group 45" id="45"/>
          <p:cNvGrpSpPr/>
          <p:nvPr/>
        </p:nvGrpSpPr>
        <p:grpSpPr>
          <a:xfrm rot="0">
            <a:off x="7162495" y="245745"/>
            <a:ext cx="2490826" cy="440055"/>
            <a:chOff x="0" y="0"/>
            <a:chExt cx="3321101" cy="5867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321101" cy="586741"/>
            </a:xfrm>
            <a:custGeom>
              <a:avLst/>
              <a:gdLst/>
              <a:ahLst/>
              <a:cxnLst/>
              <a:rect r="r" b="b" t="t" l="l"/>
              <a:pathLst>
                <a:path h="586741" w="3321101">
                  <a:moveTo>
                    <a:pt x="0" y="0"/>
                  </a:moveTo>
                  <a:lnTo>
                    <a:pt x="3321101" y="0"/>
                  </a:lnTo>
                  <a:lnTo>
                    <a:pt x="3321101" y="586741"/>
                  </a:lnTo>
                  <a:lnTo>
                    <a:pt x="0" y="58674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0290" r="0" b="-60290"/>
              </a:stretch>
            </a:blipFill>
          </p:spPr>
          <p:txBody>
            <a:bodyPr/>
            <a:p/>
          </p:txBody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3321101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E6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Tujuan 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763049" y="274320"/>
            <a:ext cx="1366076" cy="411480"/>
            <a:chOff x="0" y="0"/>
            <a:chExt cx="1821434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21434" cy="548640"/>
            </a:xfrm>
            <a:custGeom>
              <a:avLst/>
              <a:gdLst/>
              <a:ahLst/>
              <a:cxnLst/>
              <a:rect r="r" b="b" t="t" l="l"/>
              <a:pathLst>
                <a:path h="548640" w="1821434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547114" y="0"/>
                  </a:lnTo>
                  <a:cubicBezTo>
                    <a:pt x="1698625" y="0"/>
                    <a:pt x="1821434" y="122809"/>
                    <a:pt x="1821434" y="274320"/>
                  </a:cubicBezTo>
                  <a:cubicBezTo>
                    <a:pt x="1821434" y="425831"/>
                    <a:pt x="1698625" y="548640"/>
                    <a:pt x="1547114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AF8FA"/>
            </a:solidFill>
          </p:spPr>
          <p:txBody>
            <a:bodyPr/>
            <a:p/>
          </p:txBody>
        </p:sp>
      </p:grpSp>
      <p:grpSp>
        <p:nvGrpSpPr>
          <p:cNvPr name="Group 50" id="50"/>
          <p:cNvGrpSpPr/>
          <p:nvPr/>
        </p:nvGrpSpPr>
        <p:grpSpPr>
          <a:xfrm rot="0">
            <a:off x="9763049" y="274320"/>
            <a:ext cx="1366076" cy="411480"/>
            <a:chOff x="0" y="0"/>
            <a:chExt cx="1821434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21434" cy="548640"/>
            </a:xfrm>
            <a:custGeom>
              <a:avLst/>
              <a:gdLst/>
              <a:ahLst/>
              <a:cxnLst/>
              <a:rect r="r" b="b" t="t" l="l"/>
              <a:pathLst>
                <a:path h="548640" w="1821434">
                  <a:moveTo>
                    <a:pt x="0" y="0"/>
                  </a:moveTo>
                  <a:lnTo>
                    <a:pt x="1821434" y="0"/>
                  </a:lnTo>
                  <a:lnTo>
                    <a:pt x="182143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643" r="0" b="-14643"/>
              </a:stretch>
            </a:blipFill>
          </p:spPr>
          <p:txBody>
            <a:bodyPr/>
            <a:p/>
          </p:txBody>
        </p:sp>
      </p:grpSp>
      <p:grpSp>
        <p:nvGrpSpPr>
          <p:cNvPr name="Group 52" id="52"/>
          <p:cNvGrpSpPr/>
          <p:nvPr/>
        </p:nvGrpSpPr>
        <p:grpSpPr>
          <a:xfrm rot="0">
            <a:off x="9763049" y="260033"/>
            <a:ext cx="1366114" cy="425768"/>
            <a:chOff x="0" y="0"/>
            <a:chExt cx="1821485" cy="56769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821434" cy="567690"/>
            </a:xfrm>
            <a:custGeom>
              <a:avLst/>
              <a:gdLst/>
              <a:ahLst/>
              <a:cxnLst/>
              <a:rect r="r" b="b" t="t" l="l"/>
              <a:pathLst>
                <a:path h="567690" w="1821434">
                  <a:moveTo>
                    <a:pt x="0" y="0"/>
                  </a:moveTo>
                  <a:lnTo>
                    <a:pt x="1821434" y="0"/>
                  </a:lnTo>
                  <a:lnTo>
                    <a:pt x="1821434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476" r="-2" b="-12476"/>
              </a:stretch>
            </a:blipFill>
          </p:spPr>
          <p:txBody>
            <a:bodyPr/>
            <a:p/>
          </p:txBody>
        </p:sp>
      </p:grpSp>
      <p:grpSp>
        <p:nvGrpSpPr>
          <p:cNvPr name="Group 54" id="54"/>
          <p:cNvGrpSpPr/>
          <p:nvPr/>
        </p:nvGrpSpPr>
        <p:grpSpPr>
          <a:xfrm rot="0">
            <a:off x="9763049" y="245745"/>
            <a:ext cx="1366114" cy="440055"/>
            <a:chOff x="0" y="0"/>
            <a:chExt cx="1821485" cy="5867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821485" cy="586741"/>
            </a:xfrm>
            <a:custGeom>
              <a:avLst/>
              <a:gdLst/>
              <a:ahLst/>
              <a:cxnLst/>
              <a:rect r="r" b="b" t="t" l="l"/>
              <a:pathLst>
                <a:path h="586741" w="1821485">
                  <a:moveTo>
                    <a:pt x="0" y="0"/>
                  </a:moveTo>
                  <a:lnTo>
                    <a:pt x="1821485" y="0"/>
                  </a:lnTo>
                  <a:lnTo>
                    <a:pt x="1821485" y="586741"/>
                  </a:lnTo>
                  <a:lnTo>
                    <a:pt x="0" y="58674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489" r="0" b="-10489"/>
              </a:stretch>
            </a:blipFill>
          </p:spPr>
          <p:txBody>
            <a:bodyPr/>
            <a:p/>
          </p:txBody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821485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E6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Tujuan 3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238890" y="274320"/>
            <a:ext cx="1253680" cy="411480"/>
            <a:chOff x="0" y="0"/>
            <a:chExt cx="1671574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71574" cy="548640"/>
            </a:xfrm>
            <a:custGeom>
              <a:avLst/>
              <a:gdLst/>
              <a:ahLst/>
              <a:cxnLst/>
              <a:rect r="r" b="b" t="t" l="l"/>
              <a:pathLst>
                <a:path h="548640" w="1671574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397254" y="0"/>
                  </a:lnTo>
                  <a:cubicBezTo>
                    <a:pt x="1548765" y="0"/>
                    <a:pt x="1671574" y="122809"/>
                    <a:pt x="1671574" y="274320"/>
                  </a:cubicBezTo>
                  <a:cubicBezTo>
                    <a:pt x="1671574" y="425831"/>
                    <a:pt x="1548765" y="548640"/>
                    <a:pt x="1397254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EAF8FA"/>
            </a:solidFill>
          </p:spPr>
          <p:txBody>
            <a:bodyPr/>
            <a:p/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238890" y="274320"/>
            <a:ext cx="1253680" cy="411480"/>
            <a:chOff x="0" y="0"/>
            <a:chExt cx="1671574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71574" cy="548640"/>
            </a:xfrm>
            <a:custGeom>
              <a:avLst/>
              <a:gdLst/>
              <a:ahLst/>
              <a:cxnLst/>
              <a:rect r="r" b="b" t="t" l="l"/>
              <a:pathLst>
                <a:path h="548640" w="1671574">
                  <a:moveTo>
                    <a:pt x="0" y="0"/>
                  </a:moveTo>
                  <a:lnTo>
                    <a:pt x="1671574" y="0"/>
                  </a:lnTo>
                  <a:lnTo>
                    <a:pt x="167157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24" r="0" b="-9326"/>
              </a:stretch>
            </a:blipFill>
          </p:spPr>
          <p:txBody>
            <a:bodyPr/>
            <a:p/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238890" y="260033"/>
            <a:ext cx="1253642" cy="425768"/>
            <a:chOff x="0" y="0"/>
            <a:chExt cx="1671523" cy="56769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671574" cy="567690"/>
            </a:xfrm>
            <a:custGeom>
              <a:avLst/>
              <a:gdLst/>
              <a:ahLst/>
              <a:cxnLst/>
              <a:rect r="r" b="b" t="t" l="l"/>
              <a:pathLst>
                <a:path h="567690" w="1671574">
                  <a:moveTo>
                    <a:pt x="0" y="0"/>
                  </a:moveTo>
                  <a:lnTo>
                    <a:pt x="1671574" y="0"/>
                  </a:lnTo>
                  <a:lnTo>
                    <a:pt x="1671574" y="567690"/>
                  </a:lnTo>
                  <a:lnTo>
                    <a:pt x="0" y="5676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33" r="3" b="-7331"/>
              </a:stretch>
            </a:blipFill>
          </p:spPr>
          <p:txBody>
            <a:bodyPr/>
            <a:p/>
          </p:txBody>
        </p:sp>
      </p:grpSp>
      <p:grpSp>
        <p:nvGrpSpPr>
          <p:cNvPr name="Group 63" id="63"/>
          <p:cNvGrpSpPr/>
          <p:nvPr/>
        </p:nvGrpSpPr>
        <p:grpSpPr>
          <a:xfrm rot="0">
            <a:off x="11238890" y="245745"/>
            <a:ext cx="1253642" cy="440055"/>
            <a:chOff x="0" y="0"/>
            <a:chExt cx="1671523" cy="5867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671523" cy="586741"/>
            </a:xfrm>
            <a:custGeom>
              <a:avLst/>
              <a:gdLst/>
              <a:ahLst/>
              <a:cxnLst/>
              <a:rect r="r" b="b" t="t" l="l"/>
              <a:pathLst>
                <a:path h="586741" w="1671523">
                  <a:moveTo>
                    <a:pt x="0" y="0"/>
                  </a:moveTo>
                  <a:lnTo>
                    <a:pt x="1671523" y="0"/>
                  </a:lnTo>
                  <a:lnTo>
                    <a:pt x="1671523" y="586741"/>
                  </a:lnTo>
                  <a:lnTo>
                    <a:pt x="0" y="58674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09" r="0" b="-5509"/>
              </a:stretch>
            </a:blipFill>
          </p:spPr>
          <p:txBody>
            <a:bodyPr/>
            <a:p/>
          </p:txBody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1671523" cy="605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5E6E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Penutup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6550640" y="9642348"/>
            <a:ext cx="818388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5E6E78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aphicFrame>
        <p:nvGraphicFramePr>
          <p:cNvPr id="92" name="Table 91"/>
          <p:cNvGraphicFramePr>
            <a:graphicFrameLocks noGrp="1"/>
          </p:cNvGraphicFramePr>
          <p:nvPr/>
        </p:nvGraphicFramePr>
        <p:xfrm>
          <a:off x="822960" y="1783080"/>
          <a:ext cx="16642080" cy="6775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4389120"/>
                <a:gridCol w="457200"/>
                <a:gridCol w="6949440"/>
                <a:gridCol w="3886200"/>
              </a:tblGrid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FFFFFF"/>
                          </a:solidFill>
                          <a:latin typeface="Calibri (MS) Bold"/>
                        </a:rPr>
                        <a:t>Loop</a:t>
                      </a:r>
                    </a:p>
                  </a:txBody>
                  <a:tcPr marL="73152" marR="73152" marT="36576" marB="36576" anchor="ctr">
                    <a:solidFill>
                      <a:srgbClr val="0B5E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FFFFFF"/>
                          </a:solidFill>
                          <a:latin typeface="Calibri (MS) Bold"/>
                        </a:rPr>
                        <a:t>Hubungan kausal</a:t>
                      </a:r>
                    </a:p>
                  </a:txBody>
                  <a:tcPr marL="73152" marR="73152" marT="36576" marB="36576" anchor="ctr">
                    <a:solidFill>
                      <a:srgbClr val="0B5E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FFFFFF"/>
                          </a:solidFill>
                          <a:latin typeface="Calibri (MS) Bold"/>
                        </a:rPr>
                        <a:t>+/−</a:t>
                      </a:r>
                    </a:p>
                  </a:txBody>
                  <a:tcPr marL="73152" marR="73152" marT="36576" marB="36576" anchor="ctr">
                    <a:solidFill>
                      <a:srgbClr val="0B5E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FFFFFF"/>
                          </a:solidFill>
                          <a:latin typeface="Calibri (MS) Bold"/>
                        </a:rPr>
                        <a:t>Cara kerja dalam model</a:t>
                      </a:r>
                    </a:p>
                  </a:txBody>
                  <a:tcPr marL="73152" marR="73152" marT="36576" marB="36576" anchor="ctr">
                    <a:solidFill>
                      <a:srgbClr val="0B5E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FFFFFF"/>
                          </a:solidFill>
                          <a:latin typeface="Calibri (MS) Bold"/>
                        </a:rPr>
                        <a:t>Dasar / rujukan</a:t>
                      </a:r>
                    </a:p>
                  </a:txBody>
                  <a:tcPr marL="73152" marR="73152" marT="36576" marB="36576" anchor="ctr">
                    <a:solidFill>
                      <a:srgbClr val="0B5E6E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R1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Jumlah Wisatawan → Laju Kedatangan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Makin banyak wisatawan, makin besar basis yang tumbuh, sehingga kedatangan bertambah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Struktur pertumbuhan; Sterman (2000); Mai &amp; Smith (2018)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R1, R2, B1, B2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Daya Tarik Destinasi → Laju Kedatangan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Daya tarik yang lebih tinggi membuat destinasi lebih mampu menarik kunjungan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Hu &amp; Ritchie (1993); Leiper (1990)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R2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Jumlah Wisatawan → Pengeluaran Wisatawan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Dengan pengeluaran per kunjungan tetap, kunjungan lebih banyak berarti total pengeluaran lebih besar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Definisi penjumlahan; Frechtling (2010); Dispar DIY (2024)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R2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Pengeluaran Wisatawan → PDRB Sektor Pariwisata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Pengeluaran wisatawan menjadi nilai tambah melalui rasio nilai tambah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Frechtling (2010); Munjal (2013)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R2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PDRB Sektor Pariwisata → Investasi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Investasi dihitung sebagai proporsi PDRB dari data historis (formulasi data, bukan klaim umum)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Formulasi berbasis data; RIPPARDA DIY (2012)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R2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Investasi → Laju Pembangunan ODTW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Investasi lebih besar menambah pembangunan ODTW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Fatina dkk. (2023); RIPPARDA DIY (2012)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R2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Jumlah ODTW → Daya Tarik Destinasi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Ketersediaan atraksi adalah salah satu pembentuk daya tarik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Leiper (1990); Hu &amp; Ritchie (1993); Gazoni &amp; da Silva (2022)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B1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Jumlah Wisatawan → Kepadatan Wisatawan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Luas wilayah tetap, sehingga kunjungan lebih banyak berarti lebih padat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Definisi model; IPKN 2024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B1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Kepadatan Wisatawan → Daya Tarik Destinasi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−</a:t>
                      </a:r>
                    </a:p>
                  </a:txBody>
                  <a:tcPr marL="73152" marR="73152" marT="36576" marB="36576" anchor="ctr">
                    <a:solidFill>
                      <a:srgbClr val="FDE2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Destinasi yang terlalu padat menurunkan kenyamanan berwisata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Saveriades (2000); Mai &amp; Smith (2018)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B2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Konstruksi Hotel &amp; Pembangunan ODTW → Konversi Lahan Pariwisata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Fasilitas baru butuh lahan, sehingga konversi lahan pariwisata bertambah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Formulasi model; Mai &amp; Smith (2018); Fatina dkk. (2023)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B2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Konversi Lahan Pariwisata → Lahan Terbangun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Konversi lahan adalah aliran yang menambah lahan terbangun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Persamaan stok-aliran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B2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Lahan Terbangun → Rasio Daya Dukung Lahan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−</a:t>
                      </a:r>
                    </a:p>
                  </a:txBody>
                  <a:tcPr marL="73152" marR="73152" marT="36576" marB="36576" anchor="ctr">
                    <a:solidFill>
                      <a:srgbClr val="FDE2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Makin banyak lahan terbangun, makin kecil sisa lahan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Definisi model; IPKN 2024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B2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Rasio Daya Dukung Lahan → Daya Tarik Destinasi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Lingkungan yang lebih terjaga menaikkan komponen lingkungan pada daya tarik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Saveriades (2000); Mai &amp; Smith (2018)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B3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Jumlah Hotel → Rasio Permintaan thd Kapasitas Kamar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−</a:t>
                      </a:r>
                    </a:p>
                  </a:txBody>
                  <a:tcPr marL="73152" marR="73152" marT="36576" marB="36576" anchor="ctr">
                    <a:solidFill>
                      <a:srgbClr val="FDE2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Dengan permintaan yang sama, kamar lebih banyak berarti tekanan permintaan lebih kecil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Definisi kapasitas; Wheaton &amp; Rossoff (1998)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B3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Rasio Permintaan thd Kapasitas Kamar → Laju Konstruksi Hotel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Jika permintaan kamar di atas batas, pembangunan akomodasi baru terdorong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Wheaton &amp; Rossoff (1998); formulasi model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B4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PDRB Sektor Pariwisata → Tenaga Kerja Dibutuhkan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Aktivitas ekonomi pariwisata lebih besar membutuhkan tenaga kerja lebih banyak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Munjal (2013); Sánchez López (2023)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B4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Tenaga Kerja Pariwisata → Selisih TK Dibutuhkan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−</a:t>
                      </a:r>
                    </a:p>
                  </a:txBody>
                  <a:tcPr marL="73152" marR="73152" marT="36576" marB="36576" anchor="ctr">
                    <a:solidFill>
                      <a:srgbClr val="FDE2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Tenaga kerja yang sudah ada memperkecil kekurangan tenaga kerja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Definisi penyesuaian stok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1090" b="1" i="0">
                          <a:solidFill>
                            <a:srgbClr val="14313B"/>
                          </a:solidFill>
                          <a:latin typeface="Calibri (MS) Bold"/>
                        </a:rPr>
                        <a:t>B4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Selisih TK Dibutuhkan → Laju Penyerapan TK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90" b="1" i="0">
                          <a:solidFill>
                            <a:srgbClr val="14313B"/>
                          </a:solidFill>
                          <a:latin typeface="Calibri (MS)"/>
                        </a:rPr>
                        <a:t>+</a:t>
                      </a:r>
                    </a:p>
                  </a:txBody>
                  <a:tcPr marL="73152" marR="73152" marT="36576" marB="36576" anchor="ctr">
                    <a:solidFill>
                      <a:srgbClr val="D7F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Kekurangan tenaga kerja yang lebih besar mendorong penyerapan tenaga kerja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90" b="0" i="0">
                          <a:solidFill>
                            <a:srgbClr val="14313B"/>
                          </a:solidFill>
                          <a:latin typeface="Calibri (MS)"/>
                        </a:rPr>
                        <a:t>Struktur goal-seeking; Sterman (2000)</a:t>
                      </a:r>
                    </a:p>
                  </a:txBody>
                  <a:tcPr marL="73152" marR="73152" marT="36576" marB="36576" anchor="ctr">
                    <a:solidFill>
                      <a:srgbClr val="EAF8FA"/>
                    </a:solidFill>
                  </a:tcPr>
                </a:tc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822960" y="9390888"/>
            <a:ext cx="1554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10" b="0" i="1">
                <a:solidFill>
                  <a:srgbClr val="5E6E78"/>
                </a:solidFill>
                <a:latin typeface="Calibri (MS)"/>
              </a:rPr>
              <a:t>Sumber: Buku Subbab 4.1.3, Tabel 25. Hubungan Tenaga Kerja Pariwisata → pembangunan ODTW tidak dimasukkan karena dasar sebab-akibatnya tidak cukup.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DAHXA7-drhs</dc:identifier>
  <dcterms:modified xsi:type="dcterms:W3CDTF">2011-08-01T06:04:30Z</dcterms:modified>
  <cp:revision>1</cp:revision>
  <dc:title>[Lengkap] PPT SIDANG FINAL</dc:title>
</cp:coreProperties>
</file>