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10" r:id="rId60"/>
    <p:sldId id="311" r:id="rId61"/>
    <p:sldId id="313" r:id="rId63"/>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0" Type="http://schemas.openxmlformats.org/officeDocument/2006/relationships/slide" Target="slides/slide1.xml"/><Relationship Id="rId61" Type="http://schemas.openxmlformats.org/officeDocument/2006/relationships/slide" Target="slides/slide2.xml"/><Relationship Id="rId63" Type="http://schemas.openxmlformats.org/officeDocument/2006/relationships/slide" Target="slides/slide3.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Dari analisis sensitivitas dan kajian kebijakan, ada dua kebijakan yang bisa diatur pemerintah daerah: insentif investasi pariwisata dan konservasi lahan. Keduanya berpengaruh pada model, punya dasar Perda DIY, dan memang bisa dikendalikan pemerintah. Dari dua kebijakan ini saya susun tiga skenario. Business-as-Usual adalah kondisi seperti sekarang. Sustainable memberi insentif kecil dan melarang fasilitas wisata baru membuka lahan baru. Development Priority memberi insentif besar tanpa pembatasan lahan. Ketiganya dibandingkan dengan BAU, per dimensi, tanpa digabung menjadi satu skor.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Hasilnya, tidak ada skenario yang paling baik di semua hal. Development Priority unggul di ekonomi: lapangan kerja naik 7,18 persen dan PDRB 7,71 persen dibanding BAU. Sustainable unggul di lingkungan: tidak ada lahan baru yang dibuka untuk pariwisata. BAU justru paling tidak padat, karena wisatawannya tumbuh paling lambat. Jadi pilihan skenario bergantung pada prioritas pemerintah. Ini sekaligus menjawab pertanyaan dari analisis sensitivitas: walaupun asumsi yang paling berpengaruh digeser ke tujuh kondisi, urutan ini tidak berubah.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Temuan yang paling penting: di ketiga skenario, batas kepadatan 2,0 tetap terlewati, yaitu pada 2041, 2042, dan 2043. Selisihnya hanya dua tahun. Ini karena kedua kebijakan bekerja di sisi investasi dan lahan, sedangkan kepadatan ditentukan oleh jumlah wisatawan. Jadi kebijakan hanya menunda, bukan mencegah. Daya tarik Development Priority paling tinggi karena objek wisatanya bertambah, dan pengaruhnya lebih besar dari turunnya nilai kepadatan. Untuk lahan, kondisinya masih aman sampai 2050. Artinya, untuk mengendalikan kepadatan dibutuhkan kebijakan lain di luar model 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6.png"/><Relationship Id="rId8" Type="http://schemas.openxmlformats.org/officeDocument/2006/relationships/image" Target="../media/image1.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Skenario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Tiga skenario dibuat dari dua kebijakan yang bisa diatur pemerintah daerah</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68" id="16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69" id="169"/>
          <p:cNvGrpSpPr/>
          <p:nvPr/>
        </p:nvGrpSpPr>
        <p:grpSpPr>
          <a:xfrm rot="0">
            <a:off x="12755880" y="274320"/>
            <a:ext cx="3931920" cy="411480"/>
            <a:chOff x="0" y="0"/>
            <a:chExt cx="5242560" cy="548640"/>
          </a:xfrm>
        </p:grpSpPr>
        <p:sp>
          <p:nvSpPr>
            <p:cNvPr name="Freeform 170" id="17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71" id="17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sp>
        <p:nvSpPr>
          <p:cNvPr id="172" name="TextBox 171"/>
          <p:cNvSpPr txBox="1"/>
          <p:nvPr/>
        </p:nvSpPr>
        <p:spPr>
          <a:xfrm>
            <a:off x="822960" y="1783080"/>
            <a:ext cx="3657600" cy="457200"/>
          </a:xfrm>
          <a:prstGeom prst="rect">
            <a:avLst/>
          </a:prstGeom>
          <a:noFill/>
        </p:spPr>
        <p:txBody>
          <a:bodyPr wrap="square" anchor="t" lIns="0" rIns="0" tIns="0" bIns="0">
            <a:spAutoFit/>
          </a:bodyPr>
          <a:lstStyle/>
          <a:p>
            <a:pPr algn="l">
              <a:spcAft>
                <a:spcPts val="400"/>
              </a:spcAft>
            </a:pPr>
            <a:r>
              <a:rPr sz="1440" b="1" i="0">
                <a:solidFill>
                  <a:srgbClr val="0B5E6E"/>
                </a:solidFill>
                <a:latin typeface="Calibri (MS) Bold"/>
              </a:rPr>
              <a:t>Kenapa dua kebijakan ini?</a:t>
            </a:r>
          </a:p>
        </p:txBody>
      </p:sp>
      <p:sp>
        <p:nvSpPr>
          <p:cNvPr id="173" name="Rounded Rectangle 172"/>
          <p:cNvSpPr/>
          <p:nvPr/>
        </p:nvSpPr>
        <p:spPr>
          <a:xfrm>
            <a:off x="4480560" y="1783080"/>
            <a:ext cx="41605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320" b="1" i="0">
                <a:solidFill>
                  <a:srgbClr val="0B5E6E"/>
                </a:solidFill>
                <a:latin typeface="Calibri (MS) Bold"/>
              </a:rPr>
              <a:t>✓  Berpengaruh pada hasil model</a:t>
            </a:r>
          </a:p>
        </p:txBody>
      </p:sp>
      <p:sp>
        <p:nvSpPr>
          <p:cNvPr id="174" name="Rounded Rectangle 173"/>
          <p:cNvSpPr/>
          <p:nvPr/>
        </p:nvSpPr>
        <p:spPr>
          <a:xfrm>
            <a:off x="8823960" y="1783080"/>
            <a:ext cx="41605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320" b="1" i="0">
                <a:solidFill>
                  <a:srgbClr val="0B5E6E"/>
                </a:solidFill>
                <a:latin typeface="Calibri (MS) Bold"/>
              </a:rPr>
              <a:t>✓  Punya dasar Perda DIY</a:t>
            </a:r>
          </a:p>
        </p:txBody>
      </p:sp>
      <p:sp>
        <p:nvSpPr>
          <p:cNvPr id="175" name="Rounded Rectangle 174"/>
          <p:cNvSpPr/>
          <p:nvPr/>
        </p:nvSpPr>
        <p:spPr>
          <a:xfrm>
            <a:off x="13167360" y="1783080"/>
            <a:ext cx="41605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320" b="1" i="0">
                <a:solidFill>
                  <a:srgbClr val="0B5E6E"/>
                </a:solidFill>
                <a:latin typeface="Calibri (MS) Bold"/>
              </a:rPr>
              <a:t>✓  Bisa dikendalikan pemerintah</a:t>
            </a:r>
          </a:p>
        </p:txBody>
      </p:sp>
      <p:sp>
        <p:nvSpPr>
          <p:cNvPr id="176" name="Rounded Rectangle 175"/>
          <p:cNvSpPr/>
          <p:nvPr/>
        </p:nvSpPr>
        <p:spPr>
          <a:xfrm>
            <a:off x="822960" y="2468880"/>
            <a:ext cx="8229600" cy="10058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440" b="1" i="0">
                <a:solidFill>
                  <a:srgbClr val="0B5E6E"/>
                </a:solidFill>
                <a:latin typeface="Calibri (MS) Bold"/>
              </a:rPr>
              <a:t>Insentif Kebijakan</a:t>
            </a:r>
          </a:p>
          <a:p>
            <a:pPr algn="l">
              <a:spcAft>
                <a:spcPts val="300"/>
              </a:spcAft>
            </a:pPr>
            <a:r>
              <a:rPr sz="1260" b="0" i="0">
                <a:solidFill>
                  <a:srgbClr val="14313B"/>
                </a:solidFill>
                <a:latin typeface="Calibri (MS)"/>
              </a:rPr>
              <a:t>Tambahan dorongan investasi pariwisata. 0 berarti tanpa insentif. Dasar: Perda DIY 1/2012.</a:t>
            </a:r>
          </a:p>
        </p:txBody>
      </p:sp>
      <p:sp>
        <p:nvSpPr>
          <p:cNvPr id="177" name="Rounded Rectangle 176"/>
          <p:cNvSpPr/>
          <p:nvPr/>
        </p:nvSpPr>
        <p:spPr>
          <a:xfrm>
            <a:off x="9235440" y="2468880"/>
            <a:ext cx="8229600" cy="10058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440" b="1" i="0">
                <a:solidFill>
                  <a:srgbClr val="0B5E6E"/>
                </a:solidFill>
                <a:latin typeface="Calibri (MS) Bold"/>
              </a:rPr>
              <a:t>Konservasi Lahan</a:t>
            </a:r>
          </a:p>
          <a:p>
            <a:pPr algn="l">
              <a:spcAft>
                <a:spcPts val="300"/>
              </a:spcAft>
            </a:pPr>
            <a:r>
              <a:rPr sz="1260" b="0" i="0">
                <a:solidFill>
                  <a:srgbClr val="14313B"/>
                </a:solidFill>
                <a:latin typeface="Calibri (MS)"/>
              </a:rPr>
              <a:t>Seberapa besar kebutuhan lahan fasilitas wisata dipenuhi tanpa membuka lahan baru. 1 berarti sepenuhnya. Dasar: Perda DIY 6/2021.</a:t>
            </a:r>
          </a:p>
        </p:txBody>
      </p:sp>
      <p:sp>
        <p:nvSpPr>
          <p:cNvPr id="178" name="Rounded Rectangle 177"/>
          <p:cNvSpPr/>
          <p:nvPr/>
        </p:nvSpPr>
        <p:spPr>
          <a:xfrm>
            <a:off x="822960" y="3703320"/>
            <a:ext cx="5394960" cy="39319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79" name="Rounded Rectangle 178"/>
          <p:cNvSpPr/>
          <p:nvPr/>
        </p:nvSpPr>
        <p:spPr>
          <a:xfrm>
            <a:off x="822960" y="3703320"/>
            <a:ext cx="5394960" cy="685800"/>
          </a:xfrm>
          <a:prstGeom prst="roundRect">
            <a:avLst>
              <a:gd name="adj" fmla="val 10000"/>
            </a:avLst>
          </a:prstGeom>
          <a:solidFill>
            <a:srgbClr val="8A97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720" b="1" i="0">
                <a:solidFill>
                  <a:srgbClr val="FFFFFF"/>
                </a:solidFill>
                <a:latin typeface="Calibri (MS) Bold"/>
              </a:rPr>
              <a:t>Business-as-Usual</a:t>
            </a:r>
          </a:p>
        </p:txBody>
      </p:sp>
      <p:sp>
        <p:nvSpPr>
          <p:cNvPr id="180" name="TextBox 179"/>
          <p:cNvSpPr txBox="1"/>
          <p:nvPr/>
        </p:nvSpPr>
        <p:spPr>
          <a:xfrm>
            <a:off x="1005840"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0</a:t>
            </a:r>
          </a:p>
          <a:p>
            <a:pPr algn="ctr">
              <a:spcAft>
                <a:spcPts val="400"/>
              </a:spcAft>
            </a:pPr>
            <a:r>
              <a:rPr sz="1320" b="0" i="0">
                <a:solidFill>
                  <a:srgbClr val="5E6E78"/>
                </a:solidFill>
                <a:latin typeface="Calibri (MS)"/>
              </a:rPr>
              <a:t>Insentif</a:t>
            </a:r>
          </a:p>
        </p:txBody>
      </p:sp>
      <p:sp>
        <p:nvSpPr>
          <p:cNvPr id="181" name="TextBox 180"/>
          <p:cNvSpPr txBox="1"/>
          <p:nvPr/>
        </p:nvSpPr>
        <p:spPr>
          <a:xfrm>
            <a:off x="3520440"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0</a:t>
            </a:r>
          </a:p>
          <a:p>
            <a:pPr algn="ctr">
              <a:spcAft>
                <a:spcPts val="400"/>
              </a:spcAft>
            </a:pPr>
            <a:r>
              <a:rPr sz="1320" b="0" i="0">
                <a:solidFill>
                  <a:srgbClr val="5E6E78"/>
                </a:solidFill>
                <a:latin typeface="Calibri (MS)"/>
              </a:rPr>
              <a:t>Konservasi lahan</a:t>
            </a:r>
          </a:p>
        </p:txBody>
      </p:sp>
      <p:sp>
        <p:nvSpPr>
          <p:cNvPr id="182" name="TextBox 181"/>
          <p:cNvSpPr txBox="1"/>
          <p:nvPr/>
        </p:nvSpPr>
        <p:spPr>
          <a:xfrm>
            <a:off x="1097280" y="5989320"/>
            <a:ext cx="4846320" cy="1554480"/>
          </a:xfrm>
          <a:prstGeom prst="rect">
            <a:avLst/>
          </a:prstGeom>
          <a:noFill/>
        </p:spPr>
        <p:txBody>
          <a:bodyPr wrap="square" anchor="t" lIns="0" rIns="0" tIns="0" bIns="0">
            <a:spAutoFit/>
          </a:bodyPr>
          <a:lstStyle/>
          <a:p>
            <a:pPr algn="ctr">
              <a:spcAft>
                <a:spcPts val="400"/>
              </a:spcAft>
            </a:pPr>
            <a:r>
              <a:rPr sz="1550" b="0" i="0">
                <a:solidFill>
                  <a:srgbClr val="14313B"/>
                </a:solidFill>
                <a:latin typeface="Calibri (MS)"/>
              </a:rPr>
              <a:t>Seperti sekarang: tanpa insentif tambahan, dan lahan untuk fasilitas wisata tetap dibuka seperti biasa.</a:t>
            </a:r>
          </a:p>
        </p:txBody>
      </p:sp>
      <p:sp>
        <p:nvSpPr>
          <p:cNvPr id="183" name="Rounded Rectangle 182"/>
          <p:cNvSpPr/>
          <p:nvPr/>
        </p:nvSpPr>
        <p:spPr>
          <a:xfrm>
            <a:off x="6446520" y="3703320"/>
            <a:ext cx="5394960" cy="39319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84" name="Rounded Rectangle 183"/>
          <p:cNvSpPr/>
          <p:nvPr/>
        </p:nvSpPr>
        <p:spPr>
          <a:xfrm>
            <a:off x="6446520" y="3703320"/>
            <a:ext cx="5394960" cy="685800"/>
          </a:xfrm>
          <a:prstGeom prst="roundRect">
            <a:avLst>
              <a:gd name="adj" fmla="val 1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720" b="1" i="0">
                <a:solidFill>
                  <a:srgbClr val="FFFFFF"/>
                </a:solidFill>
                <a:latin typeface="Calibri (MS) Bold"/>
              </a:rPr>
              <a:t>Sustainable</a:t>
            </a:r>
          </a:p>
        </p:txBody>
      </p:sp>
      <p:sp>
        <p:nvSpPr>
          <p:cNvPr id="185" name="TextBox 184"/>
          <p:cNvSpPr txBox="1"/>
          <p:nvPr/>
        </p:nvSpPr>
        <p:spPr>
          <a:xfrm>
            <a:off x="6629400"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0,1</a:t>
            </a:r>
          </a:p>
          <a:p>
            <a:pPr algn="ctr">
              <a:spcAft>
                <a:spcPts val="400"/>
              </a:spcAft>
            </a:pPr>
            <a:r>
              <a:rPr sz="1320" b="0" i="0">
                <a:solidFill>
                  <a:srgbClr val="5E6E78"/>
                </a:solidFill>
                <a:latin typeface="Calibri (MS)"/>
              </a:rPr>
              <a:t>Insentif</a:t>
            </a:r>
          </a:p>
        </p:txBody>
      </p:sp>
      <p:sp>
        <p:nvSpPr>
          <p:cNvPr id="186" name="TextBox 185"/>
          <p:cNvSpPr txBox="1"/>
          <p:nvPr/>
        </p:nvSpPr>
        <p:spPr>
          <a:xfrm>
            <a:off x="9144000"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1,0</a:t>
            </a:r>
          </a:p>
          <a:p>
            <a:pPr algn="ctr">
              <a:spcAft>
                <a:spcPts val="400"/>
              </a:spcAft>
            </a:pPr>
            <a:r>
              <a:rPr sz="1320" b="0" i="0">
                <a:solidFill>
                  <a:srgbClr val="5E6E78"/>
                </a:solidFill>
                <a:latin typeface="Calibri (MS)"/>
              </a:rPr>
              <a:t>Konservasi lahan</a:t>
            </a:r>
          </a:p>
        </p:txBody>
      </p:sp>
      <p:sp>
        <p:nvSpPr>
          <p:cNvPr id="187" name="TextBox 186"/>
          <p:cNvSpPr txBox="1"/>
          <p:nvPr/>
        </p:nvSpPr>
        <p:spPr>
          <a:xfrm>
            <a:off x="6720840" y="5989320"/>
            <a:ext cx="4846320" cy="1554480"/>
          </a:xfrm>
          <a:prstGeom prst="rect">
            <a:avLst/>
          </a:prstGeom>
          <a:noFill/>
        </p:spPr>
        <p:txBody>
          <a:bodyPr wrap="square" anchor="t" lIns="0" rIns="0" tIns="0" bIns="0">
            <a:spAutoFit/>
          </a:bodyPr>
          <a:lstStyle/>
          <a:p>
            <a:pPr algn="ctr">
              <a:spcAft>
                <a:spcPts val="400"/>
              </a:spcAft>
            </a:pPr>
            <a:r>
              <a:rPr sz="1550" b="0" i="0">
                <a:solidFill>
                  <a:srgbClr val="14313B"/>
                </a:solidFill>
                <a:latin typeface="Calibri (MS)"/>
              </a:rPr>
              <a:t>Insentif kecil, dan fasilitas wisata baru tidak boleh membuka lahan baru.</a:t>
            </a:r>
          </a:p>
        </p:txBody>
      </p:sp>
      <p:sp>
        <p:nvSpPr>
          <p:cNvPr id="188" name="Rounded Rectangle 187"/>
          <p:cNvSpPr/>
          <p:nvPr/>
        </p:nvSpPr>
        <p:spPr>
          <a:xfrm>
            <a:off x="12070080" y="3703320"/>
            <a:ext cx="5394960" cy="39319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89" name="Rounded Rectangle 188"/>
          <p:cNvSpPr/>
          <p:nvPr/>
        </p:nvSpPr>
        <p:spPr>
          <a:xfrm>
            <a:off x="12070080" y="3703320"/>
            <a:ext cx="5394960" cy="685800"/>
          </a:xfrm>
          <a:prstGeom prst="roundRect">
            <a:avLst>
              <a:gd name="adj" fmla="val 1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720" b="1" i="0">
                <a:solidFill>
                  <a:srgbClr val="14313B"/>
                </a:solidFill>
                <a:latin typeface="Calibri (MS) Bold"/>
              </a:rPr>
              <a:t>Development Priority</a:t>
            </a:r>
          </a:p>
        </p:txBody>
      </p:sp>
      <p:sp>
        <p:nvSpPr>
          <p:cNvPr id="190" name="TextBox 189"/>
          <p:cNvSpPr txBox="1"/>
          <p:nvPr/>
        </p:nvSpPr>
        <p:spPr>
          <a:xfrm>
            <a:off x="12252960"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0,3</a:t>
            </a:r>
          </a:p>
          <a:p>
            <a:pPr algn="ctr">
              <a:spcAft>
                <a:spcPts val="400"/>
              </a:spcAft>
            </a:pPr>
            <a:r>
              <a:rPr sz="1320" b="0" i="0">
                <a:solidFill>
                  <a:srgbClr val="5E6E78"/>
                </a:solidFill>
                <a:latin typeface="Calibri (MS)"/>
              </a:rPr>
              <a:t>Insentif</a:t>
            </a:r>
          </a:p>
        </p:txBody>
      </p:sp>
      <p:sp>
        <p:nvSpPr>
          <p:cNvPr id="191" name="TextBox 190"/>
          <p:cNvSpPr txBox="1"/>
          <p:nvPr/>
        </p:nvSpPr>
        <p:spPr>
          <a:xfrm>
            <a:off x="14767559" y="4572000"/>
            <a:ext cx="2514600" cy="1097280"/>
          </a:xfrm>
          <a:prstGeom prst="rect">
            <a:avLst/>
          </a:prstGeom>
          <a:noFill/>
        </p:spPr>
        <p:txBody>
          <a:bodyPr wrap="square" anchor="t" lIns="0" rIns="0" tIns="0" bIns="0">
            <a:spAutoFit/>
          </a:bodyPr>
          <a:lstStyle/>
          <a:p>
            <a:pPr algn="ctr">
              <a:spcAft>
                <a:spcPts val="400"/>
              </a:spcAft>
            </a:pPr>
            <a:r>
              <a:rPr sz="3910" b="1" i="0">
                <a:solidFill>
                  <a:srgbClr val="0B5E6E"/>
                </a:solidFill>
                <a:latin typeface="Calibri (MS) Bold"/>
              </a:rPr>
              <a:t>0</a:t>
            </a:r>
          </a:p>
          <a:p>
            <a:pPr algn="ctr">
              <a:spcAft>
                <a:spcPts val="400"/>
              </a:spcAft>
            </a:pPr>
            <a:r>
              <a:rPr sz="1320" b="0" i="0">
                <a:solidFill>
                  <a:srgbClr val="5E6E78"/>
                </a:solidFill>
                <a:latin typeface="Calibri (MS)"/>
              </a:rPr>
              <a:t>Konservasi lahan</a:t>
            </a:r>
          </a:p>
        </p:txBody>
      </p:sp>
      <p:sp>
        <p:nvSpPr>
          <p:cNvPr id="192" name="TextBox 191"/>
          <p:cNvSpPr txBox="1"/>
          <p:nvPr/>
        </p:nvSpPr>
        <p:spPr>
          <a:xfrm>
            <a:off x="12344400" y="5989320"/>
            <a:ext cx="4846320" cy="1554480"/>
          </a:xfrm>
          <a:prstGeom prst="rect">
            <a:avLst/>
          </a:prstGeom>
          <a:noFill/>
        </p:spPr>
        <p:txBody>
          <a:bodyPr wrap="square" anchor="t" lIns="0" rIns="0" tIns="0" bIns="0">
            <a:spAutoFit/>
          </a:bodyPr>
          <a:lstStyle/>
          <a:p>
            <a:pPr algn="ctr">
              <a:spcAft>
                <a:spcPts val="400"/>
              </a:spcAft>
            </a:pPr>
            <a:r>
              <a:rPr sz="1550" b="0" i="0">
                <a:solidFill>
                  <a:srgbClr val="14313B"/>
                </a:solidFill>
                <a:latin typeface="Calibri (MS)"/>
              </a:rPr>
              <a:t>Insentif besar untuk mendorong investasi, tanpa pembatasan lahan.</a:t>
            </a:r>
          </a:p>
        </p:txBody>
      </p:sp>
      <p:sp>
        <p:nvSpPr>
          <p:cNvPr id="193" name="Rounded Rectangle 192"/>
          <p:cNvSpPr/>
          <p:nvPr/>
        </p:nvSpPr>
        <p:spPr>
          <a:xfrm>
            <a:off x="822960" y="78638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Semua skenario dibandingkan dengan BAU, dan dinilai per dimensi (ekonomi, lingkungan, sosial), tanpa skor gabungan.</a:t>
            </a:r>
          </a:p>
        </p:txBody>
      </p:sp>
      <p:sp>
        <p:nvSpPr>
          <p:cNvPr id="194" name="TextBox 19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3.8 dan 4.8 (Tabel 58–59).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Tidak ada skenario yang paling baik di semua hal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79" id="7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80" id="80"/>
          <p:cNvGrpSpPr/>
          <p:nvPr/>
        </p:nvGrpSpPr>
        <p:grpSpPr>
          <a:xfrm rot="0">
            <a:off x="12755880" y="274320"/>
            <a:ext cx="3931920" cy="411480"/>
            <a:chOff x="0" y="0"/>
            <a:chExt cx="5242560" cy="548640"/>
          </a:xfrm>
        </p:grpSpPr>
        <p:sp>
          <p:nvSpPr>
            <p:cNvPr name="Freeform 81" id="8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2" id="8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aphicFrame>
        <p:nvGraphicFramePr>
          <p:cNvPr id="83" name="Table 82"/>
          <p:cNvGraphicFramePr>
            <a:graphicFrameLocks noGrp="1"/>
          </p:cNvGraphicFramePr>
          <p:nvPr/>
        </p:nvGraphicFramePr>
        <p:xfrm>
          <a:off x="822960" y="1783080"/>
          <a:ext cx="10607039" cy="5102352"/>
        </p:xfrm>
        <a:graphic>
          <a:graphicData uri="http://schemas.openxmlformats.org/drawingml/2006/table">
            <a:tbl>
              <a:tblPr firstRow="1" bandRow="1">
                <a:tableStyleId>{5C22544A-7EE6-4342-B048-85BDC9FD1C3A}</a:tableStyleId>
              </a:tblPr>
              <a:tblGrid>
                <a:gridCol w="1371600"/>
                <a:gridCol w="4206240"/>
                <a:gridCol w="1463039"/>
                <a:gridCol w="1645920"/>
                <a:gridCol w="1920240"/>
              </a:tblGrid>
              <a:tr h="566928">
                <a:tc>
                  <a:txBody>
                    <a:bodyPr wrap="square"/>
                    <a:lstStyle/>
                    <a:p>
                      <a:r>
                        <a:rPr sz="1210" b="1" i="0">
                          <a:solidFill>
                            <a:srgbClr val="FFFFFF"/>
                          </a:solidFill>
                          <a:latin typeface="Calibri (MS) Bold"/>
                        </a:rPr>
                        <a:t>Dimensi</a:t>
                      </a:r>
                    </a:p>
                  </a:txBody>
                  <a:tcPr marL="73152" marR="73152" marT="36576" marB="36576" anchor="ctr">
                    <a:solidFill>
                      <a:srgbClr val="0B5E6E"/>
                    </a:solidFill>
                  </a:tcPr>
                </a:tc>
                <a:tc>
                  <a:txBody>
                    <a:bodyPr wrap="square"/>
                    <a:lstStyle/>
                    <a:p>
                      <a:r>
                        <a:rPr sz="1210" b="1" i="0">
                          <a:solidFill>
                            <a:srgbClr val="FFFFFF"/>
                          </a:solidFill>
                          <a:latin typeface="Calibri (MS) Bold"/>
                        </a:rPr>
                        <a:t>Indikator tahun 2050</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BAU</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Sustainable</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Development Priority</a:t>
                      </a:r>
                    </a:p>
                  </a:txBody>
                  <a:tcPr marL="73152" marR="73152" marT="36576" marB="36576" anchor="ctr">
                    <a:solidFill>
                      <a:srgbClr val="0B5E6E"/>
                    </a:solidFill>
                  </a:tcPr>
                </a:tc>
              </a:tr>
              <a:tr h="566928">
                <a:tc rowSpan="2">
                  <a:txBody>
                    <a:bodyPr wrap="square"/>
                    <a:lstStyle/>
                    <a:p>
                      <a:r>
                        <a:rPr sz="1210" b="1" i="0">
                          <a:solidFill>
                            <a:srgbClr val="0B5E6E"/>
                          </a:solidFill>
                          <a:latin typeface="Calibri (MS)"/>
                        </a:rPr>
                        <a:t>Ekonomi</a:t>
                      </a:r>
                    </a:p>
                  </a:txBody>
                  <a:tcPr marL="73152" marR="73152" marT="36576" marB="36576" anchor="ctr">
                    <a:solidFill>
                      <a:srgbClr val="FFFFFF"/>
                    </a:solidFill>
                  </a:tcPr>
                </a:tc>
                <a:tc>
                  <a:txBody>
                    <a:bodyPr wrap="square"/>
                    <a:lstStyle/>
                    <a:p>
                      <a:r>
                        <a:rPr sz="1210" b="0" i="0">
                          <a:solidFill>
                            <a:srgbClr val="14313B"/>
                          </a:solidFill>
                          <a:latin typeface="Calibri (MS)"/>
                        </a:rPr>
                        <a:t>Lapangan kerja pariwisata (jiwa)</a:t>
                      </a:r>
                    </a:p>
                  </a:txBody>
                  <a:tcPr marL="73152" marR="73152" marT="36576" marB="36576" anchor="ctr">
                    <a:solidFill>
                      <a:srgbClr val="FFFFFF"/>
                    </a:solidFill>
                  </a:tcPr>
                </a:tc>
                <a:tc>
                  <a:txBody>
                    <a:bodyPr wrap="square"/>
                    <a:lstStyle/>
                    <a:p>
                      <a:pPr algn="ctr"/>
                      <a:r>
                        <a:rPr sz="1210" b="0" i="0">
                          <a:solidFill>
                            <a:srgbClr val="14313B"/>
                          </a:solidFill>
                          <a:latin typeface="Calibri (MS)"/>
                        </a:rPr>
                        <a:t>650.355</a:t>
                      </a:r>
                    </a:p>
                  </a:txBody>
                  <a:tcPr marL="73152" marR="73152" marT="36576" marB="36576" anchor="ctr">
                    <a:solidFill>
                      <a:srgbClr val="FFFFFF"/>
                    </a:solidFill>
                  </a:tcPr>
                </a:tc>
                <a:tc>
                  <a:txBody>
                    <a:bodyPr wrap="square"/>
                    <a:lstStyle/>
                    <a:p>
                      <a:pPr algn="ctr"/>
                      <a:r>
                        <a:rPr sz="1210" b="0" i="0">
                          <a:solidFill>
                            <a:srgbClr val="14313B"/>
                          </a:solidFill>
                          <a:latin typeface="Calibri (MS)"/>
                        </a:rPr>
                        <a:t>667.458</a:t>
                      </a:r>
                    </a:p>
                  </a:txBody>
                  <a:tcPr marL="73152" marR="73152" marT="36576" marB="36576" anchor="ctr">
                    <a:solidFill>
                      <a:srgbClr val="FFFFFF"/>
                    </a:solidFill>
                  </a:tcPr>
                </a:tc>
                <a:tc>
                  <a:txBody>
                    <a:bodyPr wrap="square"/>
                    <a:lstStyle/>
                    <a:p>
                      <a:pPr algn="ctr"/>
                      <a:r>
                        <a:rPr sz="1210" b="1" i="0">
                          <a:solidFill>
                            <a:srgbClr val="14313B"/>
                          </a:solidFill>
                          <a:latin typeface="Calibri (MS)"/>
                        </a:rPr>
                        <a:t>697.021</a:t>
                      </a:r>
                    </a:p>
                  </a:txBody>
                  <a:tcPr marL="73152" marR="73152" marT="36576" marB="36576" anchor="ctr">
                    <a:solidFill>
                      <a:srgbClr val="C9EEF3"/>
                    </a:solidFill>
                  </a:tcPr>
                </a:tc>
              </a:tr>
              <a:tr h="566928">
                <a:tc vMerge="1">
                  <a:txBody>
                    <a:bodyPr wrap="square"/>
                    <a:lstStyle/>
                    <a:p>
                      <a:r>
                        <a:rPr sz="1210" b="0" i="0">
                          <a:solidFill>
                            <a:srgbClr val="14313B"/>
                          </a:solidFill>
                          <a:latin typeface="Calibri (MS)"/>
                        </a:rPr>
                        <a:t/>
                      </a:r>
                    </a:p>
                  </a:txBody>
                  <a:tcPr marL="73152" marR="73152" marT="36576" marB="36576" anchor="ctr">
                    <a:solidFill>
                      <a:srgbClr val="EAF8FA"/>
                    </a:solidFill>
                  </a:tcPr>
                </a:tc>
                <a:tc>
                  <a:txBody>
                    <a:bodyPr wrap="square"/>
                    <a:lstStyle/>
                    <a:p>
                      <a:r>
                        <a:rPr sz="1210" b="0" i="0">
                          <a:solidFill>
                            <a:srgbClr val="14313B"/>
                          </a:solidFill>
                          <a:latin typeface="Calibri (MS)"/>
                        </a:rPr>
                        <a:t>PDRB pariwisata (miliar Rp)</a:t>
                      </a:r>
                    </a:p>
                  </a:txBody>
                  <a:tcPr marL="73152" marR="73152" marT="36576" marB="36576" anchor="ctr">
                    <a:solidFill>
                      <a:srgbClr val="EAF8FA"/>
                    </a:solidFill>
                  </a:tcPr>
                </a:tc>
                <a:tc>
                  <a:txBody>
                    <a:bodyPr wrap="square"/>
                    <a:lstStyle/>
                    <a:p>
                      <a:pPr algn="ctr"/>
                      <a:r>
                        <a:rPr sz="1210" b="0" i="0">
                          <a:solidFill>
                            <a:srgbClr val="14313B"/>
                          </a:solidFill>
                          <a:latin typeface="Calibri (MS)"/>
                        </a:rPr>
                        <a:t>40.061</a:t>
                      </a:r>
                    </a:p>
                  </a:txBody>
                  <a:tcPr marL="73152" marR="73152" marT="36576" marB="36576" anchor="ctr">
                    <a:solidFill>
                      <a:srgbClr val="EAF8FA"/>
                    </a:solidFill>
                  </a:tcPr>
                </a:tc>
                <a:tc>
                  <a:txBody>
                    <a:bodyPr wrap="square"/>
                    <a:lstStyle/>
                    <a:p>
                      <a:pPr algn="ctr"/>
                      <a:r>
                        <a:rPr sz="1210" b="0" i="0">
                          <a:solidFill>
                            <a:srgbClr val="14313B"/>
                          </a:solidFill>
                          <a:latin typeface="Calibri (MS)"/>
                        </a:rPr>
                        <a:t>41.194</a:t>
                      </a:r>
                    </a:p>
                  </a:txBody>
                  <a:tcPr marL="73152" marR="73152" marT="36576" marB="36576" anchor="ctr">
                    <a:solidFill>
                      <a:srgbClr val="EAF8FA"/>
                    </a:solidFill>
                  </a:tcPr>
                </a:tc>
                <a:tc>
                  <a:txBody>
                    <a:bodyPr wrap="square"/>
                    <a:lstStyle/>
                    <a:p>
                      <a:pPr algn="ctr"/>
                      <a:r>
                        <a:rPr sz="1210" b="1" i="0">
                          <a:solidFill>
                            <a:srgbClr val="14313B"/>
                          </a:solidFill>
                          <a:latin typeface="Calibri (MS)"/>
                        </a:rPr>
                        <a:t>43.152</a:t>
                      </a:r>
                    </a:p>
                  </a:txBody>
                  <a:tcPr marL="73152" marR="73152" marT="36576" marB="36576" anchor="ctr">
                    <a:solidFill>
                      <a:srgbClr val="C9EEF3"/>
                    </a:solidFill>
                  </a:tcPr>
                </a:tc>
              </a:tr>
              <a:tr h="566928">
                <a:tc rowSpan="3">
                  <a:txBody>
                    <a:bodyPr wrap="square"/>
                    <a:lstStyle/>
                    <a:p>
                      <a:r>
                        <a:rPr sz="1210" b="1" i="0">
                          <a:solidFill>
                            <a:srgbClr val="0B5E6E"/>
                          </a:solidFill>
                          <a:latin typeface="Calibri (MS)"/>
                        </a:rPr>
                        <a:t>Lingkungan</a:t>
                      </a:r>
                    </a:p>
                  </a:txBody>
                  <a:tcPr marL="73152" marR="73152" marT="36576" marB="36576" anchor="ctr">
                    <a:solidFill>
                      <a:srgbClr val="FFFFFF"/>
                    </a:solidFill>
                  </a:tcPr>
                </a:tc>
                <a:tc>
                  <a:txBody>
                    <a:bodyPr wrap="square"/>
                    <a:lstStyle/>
                    <a:p>
                      <a:r>
                        <a:rPr sz="1210" b="0" i="0">
                          <a:solidFill>
                            <a:srgbClr val="14313B"/>
                          </a:solidFill>
                          <a:latin typeface="Calibri (MS)"/>
                        </a:rPr>
                        <a:t>Lahan terbangun (ha)</a:t>
                      </a:r>
                    </a:p>
                  </a:txBody>
                  <a:tcPr marL="73152" marR="73152" marT="36576" marB="36576" anchor="ctr">
                    <a:solidFill>
                      <a:srgbClr val="FFFFFF"/>
                    </a:solidFill>
                  </a:tcPr>
                </a:tc>
                <a:tc>
                  <a:txBody>
                    <a:bodyPr wrap="square"/>
                    <a:lstStyle/>
                    <a:p>
                      <a:pPr algn="ctr"/>
                      <a:r>
                        <a:rPr sz="1210" b="0" i="0">
                          <a:solidFill>
                            <a:srgbClr val="14313B"/>
                          </a:solidFill>
                          <a:latin typeface="Calibri (MS)"/>
                        </a:rPr>
                        <a:t>122.208</a:t>
                      </a:r>
                    </a:p>
                  </a:txBody>
                  <a:tcPr marL="73152" marR="73152" marT="36576" marB="36576" anchor="ctr">
                    <a:solidFill>
                      <a:srgbClr val="FFFFFF"/>
                    </a:solidFill>
                  </a:tcPr>
                </a:tc>
                <a:tc>
                  <a:txBody>
                    <a:bodyPr wrap="square"/>
                    <a:lstStyle/>
                    <a:p>
                      <a:pPr algn="ctr"/>
                      <a:r>
                        <a:rPr sz="1210" b="1" i="0">
                          <a:solidFill>
                            <a:srgbClr val="14313B"/>
                          </a:solidFill>
                          <a:latin typeface="Calibri (MS)"/>
                        </a:rPr>
                        <a:t>121.094</a:t>
                      </a:r>
                    </a:p>
                  </a:txBody>
                  <a:tcPr marL="73152" marR="73152" marT="36576" marB="36576" anchor="ctr">
                    <a:solidFill>
                      <a:srgbClr val="C9EEF3"/>
                    </a:solidFill>
                  </a:tcPr>
                </a:tc>
                <a:tc>
                  <a:txBody>
                    <a:bodyPr wrap="square"/>
                    <a:lstStyle/>
                    <a:p>
                      <a:pPr algn="ctr"/>
                      <a:r>
                        <a:rPr sz="1210" b="0" i="0">
                          <a:solidFill>
                            <a:srgbClr val="14313B"/>
                          </a:solidFill>
                          <a:latin typeface="Calibri (MS)"/>
                        </a:rPr>
                        <a:t>122.377</a:t>
                      </a:r>
                    </a:p>
                  </a:txBody>
                  <a:tcPr marL="73152" marR="73152" marT="36576" marB="36576" anchor="ctr">
                    <a:solidFill>
                      <a:srgbClr val="FFFFFF"/>
                    </a:solidFill>
                  </a:tcPr>
                </a:tc>
              </a:tr>
              <a:tr h="566928">
                <a:tc vMerge="1">
                  <a:txBody>
                    <a:bodyPr wrap="square"/>
                    <a:lstStyle/>
                    <a:p>
                      <a:r>
                        <a:rPr sz="1210" b="0" i="0">
                          <a:solidFill>
                            <a:srgbClr val="14313B"/>
                          </a:solidFill>
                          <a:latin typeface="Calibri (MS)"/>
                        </a:rPr>
                        <a:t/>
                      </a:r>
                    </a:p>
                  </a:txBody>
                  <a:tcPr marL="73152" marR="73152" marT="36576" marB="36576" anchor="ctr">
                    <a:solidFill>
                      <a:srgbClr val="EAF8FA"/>
                    </a:solidFill>
                  </a:tcPr>
                </a:tc>
                <a:tc>
                  <a:txBody>
                    <a:bodyPr wrap="square"/>
                    <a:lstStyle/>
                    <a:p>
                      <a:r>
                        <a:rPr sz="1210" b="0" i="0">
                          <a:solidFill>
                            <a:srgbClr val="14313B"/>
                          </a:solidFill>
                          <a:latin typeface="Calibri (MS)"/>
                        </a:rPr>
                        <a:t>Lahan baru dibuka untuk pariwisata (ha)</a:t>
                      </a:r>
                    </a:p>
                  </a:txBody>
                  <a:tcPr marL="73152" marR="73152" marT="36576" marB="36576" anchor="ctr">
                    <a:solidFill>
                      <a:srgbClr val="EAF8FA"/>
                    </a:solidFill>
                  </a:tcPr>
                </a:tc>
                <a:tc>
                  <a:txBody>
                    <a:bodyPr wrap="square"/>
                    <a:lstStyle/>
                    <a:p>
                      <a:pPr algn="ctr"/>
                      <a:r>
                        <a:rPr sz="1210" b="0" i="0">
                          <a:solidFill>
                            <a:srgbClr val="14313B"/>
                          </a:solidFill>
                          <a:latin typeface="Calibri (MS)"/>
                        </a:rPr>
                        <a:t>947,0</a:t>
                      </a:r>
                    </a:p>
                  </a:txBody>
                  <a:tcPr marL="73152" marR="73152" marT="36576" marB="36576" anchor="ctr">
                    <a:solidFill>
                      <a:srgbClr val="EAF8FA"/>
                    </a:solidFill>
                  </a:tcPr>
                </a:tc>
                <a:tc>
                  <a:txBody>
                    <a:bodyPr wrap="square"/>
                    <a:lstStyle/>
                    <a:p>
                      <a:pPr algn="ctr"/>
                      <a:r>
                        <a:rPr sz="1210" b="1" i="0">
                          <a:solidFill>
                            <a:srgbClr val="14313B"/>
                          </a:solidFill>
                          <a:latin typeface="Calibri (MS)"/>
                        </a:rPr>
                        <a:t>0,0</a:t>
                      </a:r>
                    </a:p>
                  </a:txBody>
                  <a:tcPr marL="73152" marR="73152" marT="36576" marB="36576" anchor="ctr">
                    <a:solidFill>
                      <a:srgbClr val="C9EEF3"/>
                    </a:solidFill>
                  </a:tcPr>
                </a:tc>
                <a:tc>
                  <a:txBody>
                    <a:bodyPr wrap="square"/>
                    <a:lstStyle/>
                    <a:p>
                      <a:pPr algn="ctr"/>
                      <a:r>
                        <a:rPr sz="1210" b="0" i="0">
                          <a:solidFill>
                            <a:srgbClr val="14313B"/>
                          </a:solidFill>
                          <a:latin typeface="Calibri (MS)"/>
                        </a:rPr>
                        <a:t>1.095,1</a:t>
                      </a:r>
                    </a:p>
                  </a:txBody>
                  <a:tcPr marL="73152" marR="73152" marT="36576" marB="36576" anchor="ctr">
                    <a:solidFill>
                      <a:srgbClr val="EAF8FA"/>
                    </a:solidFill>
                  </a:tcPr>
                </a:tc>
              </a:tr>
              <a:tr h="566928">
                <a:tc vMerge="1">
                  <a:txBody>
                    <a:bodyPr wrap="square"/>
                    <a:lstStyle/>
                    <a:p>
                      <a:r>
                        <a:rPr sz="1210" b="0" i="0">
                          <a:solidFill>
                            <a:srgbClr val="14313B"/>
                          </a:solidFill>
                          <a:latin typeface="Calibri (MS)"/>
                        </a:rPr>
                        <a:t/>
                      </a:r>
                    </a:p>
                  </a:txBody>
                  <a:tcPr marL="73152" marR="73152" marT="36576" marB="36576" anchor="ctr">
                    <a:solidFill>
                      <a:srgbClr val="FFFFFF"/>
                    </a:solidFill>
                  </a:tcPr>
                </a:tc>
                <a:tc>
                  <a:txBody>
                    <a:bodyPr wrap="square"/>
                    <a:lstStyle/>
                    <a:p>
                      <a:r>
                        <a:rPr sz="1210" b="0" i="0">
                          <a:solidFill>
                            <a:srgbClr val="14313B"/>
                          </a:solidFill>
                          <a:latin typeface="Calibri (MS)"/>
                        </a:rPr>
                        <a:t>Rasio daya dukung lahan (aman bila &gt; 0,331)</a:t>
                      </a:r>
                    </a:p>
                  </a:txBody>
                  <a:tcPr marL="73152" marR="73152" marT="36576" marB="36576" anchor="ctr">
                    <a:solidFill>
                      <a:srgbClr val="FFFFFF"/>
                    </a:solidFill>
                  </a:tcPr>
                </a:tc>
                <a:tc>
                  <a:txBody>
                    <a:bodyPr wrap="square"/>
                    <a:lstStyle/>
                    <a:p>
                      <a:pPr algn="ctr"/>
                      <a:r>
                        <a:rPr sz="1210" b="0" i="0">
                          <a:solidFill>
                            <a:srgbClr val="14313B"/>
                          </a:solidFill>
                          <a:latin typeface="Calibri (MS)"/>
                        </a:rPr>
                        <a:t>0,6145</a:t>
                      </a:r>
                    </a:p>
                  </a:txBody>
                  <a:tcPr marL="73152" marR="73152" marT="36576" marB="36576" anchor="ctr">
                    <a:solidFill>
                      <a:srgbClr val="FFFFFF"/>
                    </a:solidFill>
                  </a:tcPr>
                </a:tc>
                <a:tc>
                  <a:txBody>
                    <a:bodyPr wrap="square"/>
                    <a:lstStyle/>
                    <a:p>
                      <a:pPr algn="ctr"/>
                      <a:r>
                        <a:rPr sz="1210" b="1" i="0">
                          <a:solidFill>
                            <a:srgbClr val="14313B"/>
                          </a:solidFill>
                          <a:latin typeface="Calibri (MS)"/>
                        </a:rPr>
                        <a:t>0,6180</a:t>
                      </a:r>
                    </a:p>
                  </a:txBody>
                  <a:tcPr marL="73152" marR="73152" marT="36576" marB="36576" anchor="ctr">
                    <a:solidFill>
                      <a:srgbClr val="C9EEF3"/>
                    </a:solidFill>
                  </a:tcPr>
                </a:tc>
                <a:tc>
                  <a:txBody>
                    <a:bodyPr wrap="square"/>
                    <a:lstStyle/>
                    <a:p>
                      <a:pPr algn="ctr"/>
                      <a:r>
                        <a:rPr sz="1210" b="0" i="0">
                          <a:solidFill>
                            <a:srgbClr val="14313B"/>
                          </a:solidFill>
                          <a:latin typeface="Calibri (MS)"/>
                        </a:rPr>
                        <a:t>0,6140</a:t>
                      </a:r>
                    </a:p>
                  </a:txBody>
                  <a:tcPr marL="73152" marR="73152" marT="36576" marB="36576" anchor="ctr">
                    <a:solidFill>
                      <a:srgbClr val="FFFFFF"/>
                    </a:solidFill>
                  </a:tcPr>
                </a:tc>
              </a:tr>
              <a:tr h="566928">
                <a:tc rowSpan="2">
                  <a:txBody>
                    <a:bodyPr wrap="square"/>
                    <a:lstStyle/>
                    <a:p>
                      <a:r>
                        <a:rPr sz="1210" b="1" i="0">
                          <a:solidFill>
                            <a:srgbClr val="0B5E6E"/>
                          </a:solidFill>
                          <a:latin typeface="Calibri (MS)"/>
                        </a:rPr>
                        <a:t>Sosial</a:t>
                      </a:r>
                    </a:p>
                  </a:txBody>
                  <a:tcPr marL="73152" marR="73152" marT="36576" marB="36576" anchor="ctr">
                    <a:solidFill>
                      <a:srgbClr val="EAF8FA"/>
                    </a:solidFill>
                  </a:tcPr>
                </a:tc>
                <a:tc>
                  <a:txBody>
                    <a:bodyPr wrap="square"/>
                    <a:lstStyle/>
                    <a:p>
                      <a:r>
                        <a:rPr sz="1210" b="0" i="0">
                          <a:solidFill>
                            <a:srgbClr val="14313B"/>
                          </a:solidFill>
                          <a:latin typeface="Calibri (MS)"/>
                        </a:rPr>
                        <a:t>Indeks kepadatan (aman bila &lt; 2,0)</a:t>
                      </a:r>
                    </a:p>
                  </a:txBody>
                  <a:tcPr marL="73152" marR="73152" marT="36576" marB="36576" anchor="ctr">
                    <a:solidFill>
                      <a:srgbClr val="EAF8FA"/>
                    </a:solidFill>
                  </a:tcPr>
                </a:tc>
                <a:tc>
                  <a:txBody>
                    <a:bodyPr wrap="square"/>
                    <a:lstStyle/>
                    <a:p>
                      <a:pPr algn="ctr"/>
                      <a:r>
                        <a:rPr sz="1210" b="1" i="0">
                          <a:solidFill>
                            <a:srgbClr val="14313B"/>
                          </a:solidFill>
                          <a:latin typeface="Calibri (MS)"/>
                        </a:rPr>
                        <a:t>2,3638</a:t>
                      </a:r>
                    </a:p>
                  </a:txBody>
                  <a:tcPr marL="73152" marR="73152" marT="36576" marB="36576" anchor="ctr">
                    <a:solidFill>
                      <a:srgbClr val="C9EEF3"/>
                    </a:solidFill>
                  </a:tcPr>
                </a:tc>
                <a:tc>
                  <a:txBody>
                    <a:bodyPr wrap="square"/>
                    <a:lstStyle/>
                    <a:p>
                      <a:pPr algn="ctr"/>
                      <a:r>
                        <a:rPr sz="1210" b="0" i="0">
                          <a:solidFill>
                            <a:srgbClr val="14313B"/>
                          </a:solidFill>
                          <a:latin typeface="Calibri (MS)"/>
                        </a:rPr>
                        <a:t>2,4307</a:t>
                      </a:r>
                    </a:p>
                  </a:txBody>
                  <a:tcPr marL="73152" marR="73152" marT="36576" marB="36576" anchor="ctr">
                    <a:solidFill>
                      <a:srgbClr val="EAF8FA"/>
                    </a:solidFill>
                  </a:tcPr>
                </a:tc>
                <a:tc>
                  <a:txBody>
                    <a:bodyPr wrap="square"/>
                    <a:lstStyle/>
                    <a:p>
                      <a:pPr algn="ctr"/>
                      <a:r>
                        <a:rPr sz="1210" b="0" i="0">
                          <a:solidFill>
                            <a:srgbClr val="14313B"/>
                          </a:solidFill>
                          <a:latin typeface="Calibri (MS)"/>
                        </a:rPr>
                        <a:t>2,5462</a:t>
                      </a:r>
                    </a:p>
                  </a:txBody>
                  <a:tcPr marL="73152" marR="73152" marT="36576" marB="36576" anchor="ctr">
                    <a:solidFill>
                      <a:srgbClr val="EAF8FA"/>
                    </a:solidFill>
                  </a:tcPr>
                </a:tc>
              </a:tr>
              <a:tr h="566928">
                <a:tc vMerge="1">
                  <a:txBody>
                    <a:bodyPr wrap="square"/>
                    <a:lstStyle/>
                    <a:p>
                      <a:r>
                        <a:rPr sz="1210" b="0" i="0">
                          <a:solidFill>
                            <a:srgbClr val="14313B"/>
                          </a:solidFill>
                          <a:latin typeface="Calibri (MS)"/>
                        </a:rPr>
                        <a:t/>
                      </a:r>
                    </a:p>
                  </a:txBody>
                  <a:tcPr marL="73152" marR="73152" marT="36576" marB="36576" anchor="ctr">
                    <a:solidFill>
                      <a:srgbClr val="FFFFFF"/>
                    </a:solidFill>
                  </a:tcPr>
                </a:tc>
                <a:tc>
                  <a:txBody>
                    <a:bodyPr wrap="square"/>
                    <a:lstStyle/>
                    <a:p>
                      <a:r>
                        <a:rPr sz="1210" b="0" i="0">
                          <a:solidFill>
                            <a:srgbClr val="14313B"/>
                          </a:solidFill>
                          <a:latin typeface="Calibri (MS)"/>
                        </a:rPr>
                        <a:t>Daya tarik destinasi</a:t>
                      </a:r>
                    </a:p>
                  </a:txBody>
                  <a:tcPr marL="73152" marR="73152" marT="36576" marB="36576" anchor="ctr">
                    <a:solidFill>
                      <a:srgbClr val="FFFFFF"/>
                    </a:solidFill>
                  </a:tcPr>
                </a:tc>
                <a:tc>
                  <a:txBody>
                    <a:bodyPr wrap="square"/>
                    <a:lstStyle/>
                    <a:p>
                      <a:pPr algn="ctr"/>
                      <a:r>
                        <a:rPr sz="1210" b="0" i="0">
                          <a:solidFill>
                            <a:srgbClr val="14313B"/>
                          </a:solidFill>
                          <a:latin typeface="Calibri (MS)"/>
                        </a:rPr>
                        <a:t>0,8132</a:t>
                      </a:r>
                    </a:p>
                  </a:txBody>
                  <a:tcPr marL="73152" marR="73152" marT="36576" marB="36576" anchor="ctr">
                    <a:solidFill>
                      <a:srgbClr val="FFFFFF"/>
                    </a:solidFill>
                  </a:tcPr>
                </a:tc>
                <a:tc>
                  <a:txBody>
                    <a:bodyPr wrap="square"/>
                    <a:lstStyle/>
                    <a:p>
                      <a:pPr algn="ctr"/>
                      <a:r>
                        <a:rPr sz="1210" b="0" i="0">
                          <a:solidFill>
                            <a:srgbClr val="14313B"/>
                          </a:solidFill>
                          <a:latin typeface="Calibri (MS)"/>
                        </a:rPr>
                        <a:t>0,8205</a:t>
                      </a:r>
                    </a:p>
                  </a:txBody>
                  <a:tcPr marL="73152" marR="73152" marT="36576" marB="36576" anchor="ctr">
                    <a:solidFill>
                      <a:srgbClr val="FFFFFF"/>
                    </a:solidFill>
                  </a:tcPr>
                </a:tc>
                <a:tc>
                  <a:txBody>
                    <a:bodyPr wrap="square"/>
                    <a:lstStyle/>
                    <a:p>
                      <a:pPr algn="ctr"/>
                      <a:r>
                        <a:rPr sz="1210" b="1" i="0">
                          <a:solidFill>
                            <a:srgbClr val="14313B"/>
                          </a:solidFill>
                          <a:latin typeface="Calibri (MS)"/>
                        </a:rPr>
                        <a:t>0,8322</a:t>
                      </a:r>
                    </a:p>
                  </a:txBody>
                  <a:tcPr marL="73152" marR="73152" marT="36576" marB="36576" anchor="ctr">
                    <a:solidFill>
                      <a:srgbClr val="C9EEF3"/>
                    </a:solidFill>
                  </a:tcPr>
                </a:tc>
              </a:tr>
              <a:tr h="566928">
                <a:tc>
                  <a:txBody>
                    <a:bodyPr wrap="square"/>
                    <a:lstStyle/>
                    <a:p>
                      <a:r>
                        <a:rPr sz="1210" b="1" i="0">
                          <a:solidFill>
                            <a:srgbClr val="0B5E6E"/>
                          </a:solidFill>
                          <a:latin typeface="Calibri (MS)"/>
                        </a:rPr>
                        <a:t>Skala</a:t>
                      </a:r>
                    </a:p>
                  </a:txBody>
                  <a:tcPr marL="73152" marR="73152" marT="36576" marB="36576" anchor="ctr">
                    <a:solidFill>
                      <a:srgbClr val="EAF8FA"/>
                    </a:solidFill>
                  </a:tcPr>
                </a:tc>
                <a:tc>
                  <a:txBody>
                    <a:bodyPr wrap="square"/>
                    <a:lstStyle/>
                    <a:p>
                      <a:r>
                        <a:rPr sz="1210" b="0" i="0">
                          <a:solidFill>
                            <a:srgbClr val="14313B"/>
                          </a:solidFill>
                          <a:latin typeface="Calibri (MS)"/>
                        </a:rPr>
                        <a:t>Jumlah wisatawan (juta kunjungan)</a:t>
                      </a:r>
                    </a:p>
                  </a:txBody>
                  <a:tcPr marL="73152" marR="73152" marT="36576" marB="36576" anchor="ctr">
                    <a:solidFill>
                      <a:srgbClr val="EAF8FA"/>
                    </a:solidFill>
                  </a:tcPr>
                </a:tc>
                <a:tc>
                  <a:txBody>
                    <a:bodyPr wrap="square"/>
                    <a:lstStyle/>
                    <a:p>
                      <a:pPr algn="ctr"/>
                      <a:r>
                        <a:rPr sz="1210" b="0" i="0">
                          <a:solidFill>
                            <a:srgbClr val="14313B"/>
                          </a:solidFill>
                          <a:latin typeface="Calibri (MS)"/>
                        </a:rPr>
                        <a:t>96,20</a:t>
                      </a:r>
                    </a:p>
                  </a:txBody>
                  <a:tcPr marL="73152" marR="73152" marT="36576" marB="36576" anchor="ctr">
                    <a:solidFill>
                      <a:srgbClr val="EAF8FA"/>
                    </a:solidFill>
                  </a:tcPr>
                </a:tc>
                <a:tc>
                  <a:txBody>
                    <a:bodyPr wrap="square"/>
                    <a:lstStyle/>
                    <a:p>
                      <a:pPr algn="ctr"/>
                      <a:r>
                        <a:rPr sz="1210" b="0" i="0">
                          <a:solidFill>
                            <a:srgbClr val="14313B"/>
                          </a:solidFill>
                          <a:latin typeface="Calibri (MS)"/>
                        </a:rPr>
                        <a:t>98,92</a:t>
                      </a:r>
                    </a:p>
                  </a:txBody>
                  <a:tcPr marL="73152" marR="73152" marT="36576" marB="36576" anchor="ctr">
                    <a:solidFill>
                      <a:srgbClr val="EAF8FA"/>
                    </a:solidFill>
                  </a:tcPr>
                </a:tc>
                <a:tc>
                  <a:txBody>
                    <a:bodyPr wrap="square"/>
                    <a:lstStyle/>
                    <a:p>
                      <a:pPr algn="ctr"/>
                      <a:r>
                        <a:rPr sz="1210" b="0" i="0">
                          <a:solidFill>
                            <a:srgbClr val="14313B"/>
                          </a:solidFill>
                          <a:latin typeface="Calibri (MS)"/>
                        </a:rPr>
                        <a:t>103,62</a:t>
                      </a:r>
                    </a:p>
                  </a:txBody>
                  <a:tcPr marL="73152" marR="73152" marT="36576" marB="36576" anchor="ctr">
                    <a:solidFill>
                      <a:srgbClr val="EAF8FA"/>
                    </a:solidFill>
                  </a:tcPr>
                </a:tc>
              </a:tr>
            </a:tbl>
          </a:graphicData>
        </a:graphic>
      </p:graphicFrame>
      <p:sp>
        <p:nvSpPr>
          <p:cNvPr id="84" name="TextBox 83"/>
          <p:cNvSpPr txBox="1"/>
          <p:nvPr/>
        </p:nvSpPr>
        <p:spPr>
          <a:xfrm>
            <a:off x="822960" y="6949440"/>
            <a:ext cx="10607040" cy="320040"/>
          </a:xfrm>
          <a:prstGeom prst="rect">
            <a:avLst/>
          </a:prstGeom>
          <a:noFill/>
        </p:spPr>
        <p:txBody>
          <a:bodyPr wrap="square" anchor="t" lIns="0" rIns="0" tIns="0" bIns="0">
            <a:spAutoFit/>
          </a:bodyPr>
          <a:lstStyle/>
          <a:p>
            <a:pPr algn="l">
              <a:spcAft>
                <a:spcPts val="400"/>
              </a:spcAft>
            </a:pPr>
            <a:r>
              <a:rPr sz="1090" b="0" i="1">
                <a:solidFill>
                  <a:srgbClr val="5E6E78"/>
                </a:solidFill>
                <a:latin typeface="Calibri (MS)"/>
              </a:rPr>
              <a:t>Kotak biru = paling baik pada indikator tersebut. Jumlah wisatawan hanya dilaporkan, tidak dinilai.</a:t>
            </a:r>
          </a:p>
        </p:txBody>
      </p:sp>
      <p:sp>
        <p:nvSpPr>
          <p:cNvPr id="85" name="Rectangle 84"/>
          <p:cNvSpPr/>
          <p:nvPr/>
        </p:nvSpPr>
        <p:spPr>
          <a:xfrm>
            <a:off x="11795760" y="1783080"/>
            <a:ext cx="128016" cy="1554480"/>
          </a:xfrm>
          <a:prstGeom prst="rect">
            <a:avLst/>
          </a:prstGeom>
          <a:solidFill>
            <a:srgbClr val="FFD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11923776" y="1783080"/>
            <a:ext cx="5541264" cy="1554480"/>
          </a:xfrm>
          <a:prstGeom prst="roundRect">
            <a:avLst>
              <a:gd name="adj" fmla="val 3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490" b="1" i="0">
                <a:solidFill>
                  <a:srgbClr val="0B5E6E"/>
                </a:solidFill>
                <a:latin typeface="Calibri (MS) Bold"/>
              </a:rPr>
              <a:t>Development Priority </a:t>
            </a:r>
            <a:r>
              <a:rPr sz="1490" b="1" i="0">
                <a:solidFill>
                  <a:srgbClr val="14313B"/>
                </a:solidFill>
                <a:latin typeface="Calibri (MS) Bold"/>
              </a:rPr>
              <a:t>unggul di ekonomi</a:t>
            </a:r>
          </a:p>
          <a:p>
            <a:pPr algn="l">
              <a:spcAft>
                <a:spcPts val="300"/>
              </a:spcAft>
            </a:pPr>
            <a:r>
              <a:rPr sz="1320" b="0" i="0">
                <a:solidFill>
                  <a:srgbClr val="14313B"/>
                </a:solidFill>
                <a:latin typeface="Calibri (MS)"/>
              </a:rPr>
              <a:t>Lapangan kerja +7,18% dan PDRB +7,71% dibanding BAU.</a:t>
            </a:r>
          </a:p>
        </p:txBody>
      </p:sp>
      <p:sp>
        <p:nvSpPr>
          <p:cNvPr id="87" name="Rectangle 86"/>
          <p:cNvSpPr/>
          <p:nvPr/>
        </p:nvSpPr>
        <p:spPr>
          <a:xfrm>
            <a:off x="11795760" y="3520439"/>
            <a:ext cx="128016" cy="1554480"/>
          </a:xfrm>
          <a:prstGeom prst="rect">
            <a:avLst/>
          </a:prstGeom>
          <a:solidFill>
            <a:srgbClr val="39C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1923776" y="3520439"/>
            <a:ext cx="5541264" cy="1554480"/>
          </a:xfrm>
          <a:prstGeom prst="roundRect">
            <a:avLst>
              <a:gd name="adj" fmla="val 3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490" b="1" i="0">
                <a:solidFill>
                  <a:srgbClr val="0B5E6E"/>
                </a:solidFill>
                <a:latin typeface="Calibri (MS) Bold"/>
              </a:rPr>
              <a:t>Sustainable </a:t>
            </a:r>
            <a:r>
              <a:rPr sz="1490" b="1" i="0">
                <a:solidFill>
                  <a:srgbClr val="14313B"/>
                </a:solidFill>
                <a:latin typeface="Calibri (MS) Bold"/>
              </a:rPr>
              <a:t>unggul di lingkungan</a:t>
            </a:r>
          </a:p>
          <a:p>
            <a:pPr algn="l">
              <a:spcAft>
                <a:spcPts val="300"/>
              </a:spcAft>
            </a:pPr>
            <a:r>
              <a:rPr sz="1320" b="0" i="0">
                <a:solidFill>
                  <a:srgbClr val="14313B"/>
                </a:solidFill>
                <a:latin typeface="Calibri (MS)"/>
              </a:rPr>
              <a:t>Tidak ada lahan baru dibuka untuk pariwisata (0 ha, BAU 947 ha).</a:t>
            </a:r>
          </a:p>
        </p:txBody>
      </p:sp>
      <p:sp>
        <p:nvSpPr>
          <p:cNvPr id="89" name="Rectangle 88"/>
          <p:cNvSpPr/>
          <p:nvPr/>
        </p:nvSpPr>
        <p:spPr>
          <a:xfrm>
            <a:off x="11795760" y="5257800"/>
            <a:ext cx="128016" cy="1554480"/>
          </a:xfrm>
          <a:prstGeom prst="rect">
            <a:avLst/>
          </a:prstGeom>
          <a:solidFill>
            <a:srgbClr val="8A97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11923776" y="5257800"/>
            <a:ext cx="5541264" cy="1554480"/>
          </a:xfrm>
          <a:prstGeom prst="roundRect">
            <a:avLst>
              <a:gd name="adj" fmla="val 3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490" b="1" i="0">
                <a:solidFill>
                  <a:srgbClr val="0B5E6E"/>
                </a:solidFill>
                <a:latin typeface="Calibri (MS) Bold"/>
              </a:rPr>
              <a:t>Business-as-Usual </a:t>
            </a:r>
            <a:r>
              <a:rPr sz="1490" b="1" i="0">
                <a:solidFill>
                  <a:srgbClr val="14313B"/>
                </a:solidFill>
                <a:latin typeface="Calibri (MS) Bold"/>
              </a:rPr>
              <a:t>paling tidak padat</a:t>
            </a:r>
          </a:p>
          <a:p>
            <a:pPr algn="l">
              <a:spcAft>
                <a:spcPts val="300"/>
              </a:spcAft>
            </a:pPr>
            <a:r>
              <a:rPr sz="1320" b="0" i="0">
                <a:solidFill>
                  <a:srgbClr val="14313B"/>
                </a:solidFill>
                <a:latin typeface="Calibri (MS)"/>
              </a:rPr>
              <a:t>Indeks kepadatan terendah (2,36), karena wisatawan tumbuh paling lambat.</a:t>
            </a:r>
          </a:p>
        </p:txBody>
      </p:sp>
      <p:sp>
        <p:nvSpPr>
          <p:cNvPr id="91" name="Rounded Rectangle 90"/>
          <p:cNvSpPr/>
          <p:nvPr/>
        </p:nvSpPr>
        <p:spPr>
          <a:xfrm>
            <a:off x="822960" y="7406640"/>
            <a:ext cx="16642080" cy="128016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09728" bIns="109728"/>
          <a:lstStyle/>
          <a:p>
            <a:pPr algn="l">
              <a:spcAft>
                <a:spcPts val="300"/>
              </a:spcAft>
            </a:pPr>
            <a:r>
              <a:rPr sz="1610" b="1" i="0">
                <a:solidFill>
                  <a:srgbClr val="FFD23B"/>
                </a:solidFill>
                <a:latin typeface="Calibri (MS) Bold"/>
              </a:rPr>
              <a:t>Jadi, pilihan skenario bergantung pada prioritas pemerintah.</a:t>
            </a:r>
          </a:p>
          <a:p>
            <a:pPr algn="l">
              <a:spcAft>
                <a:spcPts val="300"/>
              </a:spcAft>
            </a:pPr>
            <a:r>
              <a:rPr sz="1380" b="0" i="0">
                <a:solidFill>
                  <a:srgbClr val="FFFFFF"/>
                </a:solidFill>
                <a:latin typeface="Calibri (MS)"/>
              </a:rPr>
              <a:t>Urutan ini tetap sama walaupun asumsi yang paling berpengaruh digeser ke 7 kondisi berbeda, jadi perbandingannya bisa dipegang.</a:t>
            </a:r>
          </a:p>
        </p:txBody>
      </p:sp>
      <p:sp>
        <p:nvSpPr>
          <p:cNvPr id="92" name="TextBox 9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4.8 (Tabel 60) dan uji kekokohan peringkat skenario (Tabel 63).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Batas Kepadatan Tetap Terlewati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Kedua kebijakan hanya menunda kepadatan berlebih, bukan mencegahnya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27" id="12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28" id="128"/>
          <p:cNvGrpSpPr/>
          <p:nvPr/>
        </p:nvGrpSpPr>
        <p:grpSpPr>
          <a:xfrm rot="0">
            <a:off x="12755880" y="274320"/>
            <a:ext cx="3931920" cy="411480"/>
            <a:chOff x="0" y="0"/>
            <a:chExt cx="5242560" cy="548640"/>
          </a:xfrm>
        </p:grpSpPr>
        <p:sp>
          <p:nvSpPr>
            <p:cNvPr name="Freeform 129" id="12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0" id="130"/>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pic>
        <p:nvPicPr>
          <p:cNvPr id="131" name="Picture 130" descr="image64.png"/>
          <p:cNvPicPr>
            <a:picLocks noChangeAspect="1"/>
          </p:cNvPicPr>
          <p:nvPr/>
        </p:nvPicPr>
        <p:blipFill>
          <a:blip r:embed="rId8"/>
          <a:stretch>
            <a:fillRect/>
          </a:stretch>
        </p:blipFill>
        <p:spPr>
          <a:xfrm>
            <a:off x="822960" y="1828800"/>
            <a:ext cx="10058400" cy="5632704"/>
          </a:xfrm>
          <a:prstGeom prst="rect">
            <a:avLst/>
          </a:prstGeom>
          <a:ln w="12700">
            <a:solidFill>
              <a:srgbClr val="CFE5E9"/>
            </a:solidFill>
          </a:ln>
        </p:spPr>
      </p:pic>
      <p:sp>
        <p:nvSpPr>
          <p:cNvPr id="132" name="TextBox 131"/>
          <p:cNvSpPr txBox="1"/>
          <p:nvPr/>
        </p:nvSpPr>
        <p:spPr>
          <a:xfrm>
            <a:off x="822960" y="7534656"/>
            <a:ext cx="10058400" cy="365760"/>
          </a:xfrm>
          <a:prstGeom prst="rect">
            <a:avLst/>
          </a:prstGeom>
          <a:noFill/>
        </p:spPr>
        <p:txBody>
          <a:bodyPr wrap="square" anchor="t" lIns="0" rIns="0" tIns="0" bIns="0">
            <a:spAutoFit/>
          </a:bodyPr>
          <a:lstStyle/>
          <a:p>
            <a:pPr algn="l">
              <a:spcAft>
                <a:spcPts val="400"/>
              </a:spcAft>
            </a:pPr>
            <a:r>
              <a:rPr sz="1090" b="0" i="1">
                <a:solidFill>
                  <a:srgbClr val="5E6E78"/>
                </a:solidFill>
                <a:latin typeface="Calibri (MS)"/>
              </a:rPr>
              <a:t>Garis hijau putus-putus = batas kepadatan 2,0 (dua kali kepadatan 2025; batas peringatan dari peneliti, bukan standar resmi).</a:t>
            </a:r>
          </a:p>
        </p:txBody>
      </p:sp>
      <p:sp>
        <p:nvSpPr>
          <p:cNvPr id="133" name="TextBox 132"/>
          <p:cNvSpPr txBox="1"/>
          <p:nvPr/>
        </p:nvSpPr>
        <p:spPr>
          <a:xfrm>
            <a:off x="11247120" y="1783080"/>
            <a:ext cx="6217920" cy="411480"/>
          </a:xfrm>
          <a:prstGeom prst="rect">
            <a:avLst/>
          </a:prstGeom>
          <a:noFill/>
        </p:spPr>
        <p:txBody>
          <a:bodyPr wrap="square" anchor="t" lIns="0" rIns="0" tIns="0" bIns="0">
            <a:spAutoFit/>
          </a:bodyPr>
          <a:lstStyle/>
          <a:p>
            <a:pPr algn="l">
              <a:spcAft>
                <a:spcPts val="400"/>
              </a:spcAft>
            </a:pPr>
            <a:r>
              <a:rPr sz="1380" b="1" i="0">
                <a:solidFill>
                  <a:srgbClr val="0B5E6E"/>
                </a:solidFill>
                <a:latin typeface="Calibri (MS) Bold"/>
              </a:rPr>
              <a:t>Tahun batas 2,0 terlewati</a:t>
            </a:r>
          </a:p>
        </p:txBody>
      </p:sp>
      <p:sp>
        <p:nvSpPr>
          <p:cNvPr id="134" name="Rounded Rectangle 133"/>
          <p:cNvSpPr/>
          <p:nvPr/>
        </p:nvSpPr>
        <p:spPr>
          <a:xfrm>
            <a:off x="11247120" y="2240280"/>
            <a:ext cx="1965960" cy="123444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2760" b="1" i="0">
                <a:solidFill>
                  <a:srgbClr val="14313B"/>
                </a:solidFill>
                <a:latin typeface="Calibri (MS) Bold"/>
              </a:rPr>
              <a:t>2041</a:t>
            </a:r>
          </a:p>
          <a:p>
            <a:pPr algn="ctr">
              <a:spcAft>
                <a:spcPts val="300"/>
              </a:spcAft>
            </a:pPr>
            <a:r>
              <a:rPr sz="1150" b="1" i="0">
                <a:solidFill>
                  <a:srgbClr val="14313B"/>
                </a:solidFill>
                <a:latin typeface="Calibri (MS) Bold"/>
              </a:rPr>
              <a:t>Development Priority</a:t>
            </a:r>
          </a:p>
        </p:txBody>
      </p:sp>
      <p:sp>
        <p:nvSpPr>
          <p:cNvPr id="135" name="Rounded Rectangle 134"/>
          <p:cNvSpPr/>
          <p:nvPr/>
        </p:nvSpPr>
        <p:spPr>
          <a:xfrm>
            <a:off x="13350240" y="2240280"/>
            <a:ext cx="1965960" cy="123444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2760" b="1" i="0">
                <a:solidFill>
                  <a:srgbClr val="FFFFFF"/>
                </a:solidFill>
                <a:latin typeface="Calibri (MS) Bold"/>
              </a:rPr>
              <a:t>2042</a:t>
            </a:r>
          </a:p>
          <a:p>
            <a:pPr algn="ctr">
              <a:spcAft>
                <a:spcPts val="300"/>
              </a:spcAft>
            </a:pPr>
            <a:r>
              <a:rPr sz="1150" b="1" i="0">
                <a:solidFill>
                  <a:srgbClr val="FFFFFF"/>
                </a:solidFill>
                <a:latin typeface="Calibri (MS) Bold"/>
              </a:rPr>
              <a:t>Sustainable</a:t>
            </a:r>
          </a:p>
        </p:txBody>
      </p:sp>
      <p:sp>
        <p:nvSpPr>
          <p:cNvPr id="136" name="Rounded Rectangle 135"/>
          <p:cNvSpPr/>
          <p:nvPr/>
        </p:nvSpPr>
        <p:spPr>
          <a:xfrm>
            <a:off x="15453359" y="2240280"/>
            <a:ext cx="1965960" cy="1234440"/>
          </a:xfrm>
          <a:prstGeom prst="roundRect">
            <a:avLst>
              <a:gd name="adj" fmla="val 8000"/>
            </a:avLst>
          </a:prstGeom>
          <a:solidFill>
            <a:srgbClr val="8A97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2760" b="1" i="0">
                <a:solidFill>
                  <a:srgbClr val="FFFFFF"/>
                </a:solidFill>
                <a:latin typeface="Calibri (MS) Bold"/>
              </a:rPr>
              <a:t>2043</a:t>
            </a:r>
          </a:p>
          <a:p>
            <a:pPr algn="ctr">
              <a:spcAft>
                <a:spcPts val="300"/>
              </a:spcAft>
            </a:pPr>
            <a:r>
              <a:rPr sz="1150" b="1" i="0">
                <a:solidFill>
                  <a:srgbClr val="FFFFFF"/>
                </a:solidFill>
                <a:latin typeface="Calibri (MS) Bold"/>
              </a:rPr>
              <a:t>BAU</a:t>
            </a:r>
          </a:p>
        </p:txBody>
      </p:sp>
      <p:sp>
        <p:nvSpPr>
          <p:cNvPr id="137" name="Rounded Rectangle 136"/>
          <p:cNvSpPr/>
          <p:nvPr/>
        </p:nvSpPr>
        <p:spPr>
          <a:xfrm>
            <a:off x="11247120" y="3657600"/>
            <a:ext cx="621792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380" b="1" i="0">
                <a:solidFill>
                  <a:srgbClr val="0B5E6E"/>
                </a:solidFill>
                <a:latin typeface="Calibri (MS) Bold"/>
              </a:rPr>
              <a:t>Kenapa hanya bergeser 1–2 tahun?</a:t>
            </a:r>
          </a:p>
          <a:p>
            <a:pPr algn="l">
              <a:spcAft>
                <a:spcPts val="300"/>
              </a:spcAft>
            </a:pPr>
            <a:r>
              <a:rPr sz="1260" b="0" i="0">
                <a:solidFill>
                  <a:srgbClr val="14313B"/>
                </a:solidFill>
                <a:latin typeface="Calibri (MS)"/>
              </a:rPr>
              <a:t>Kedua kebijakan mengatur investasi dan lahan, sedangkan kepadatan ditentukan oleh jumlah wisatawan.</a:t>
            </a:r>
          </a:p>
        </p:txBody>
      </p:sp>
      <p:sp>
        <p:nvSpPr>
          <p:cNvPr id="138" name="Rounded Rectangle 137"/>
          <p:cNvSpPr/>
          <p:nvPr/>
        </p:nvSpPr>
        <p:spPr>
          <a:xfrm>
            <a:off x="11247120" y="5029200"/>
            <a:ext cx="621792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380" b="1" i="0">
                <a:solidFill>
                  <a:srgbClr val="0B5E6E"/>
                </a:solidFill>
                <a:latin typeface="Calibri (MS) Bold"/>
              </a:rPr>
              <a:t>Kenapa daya tarik DP paling tinggi?</a:t>
            </a:r>
          </a:p>
          <a:p>
            <a:pPr algn="l">
              <a:spcAft>
                <a:spcPts val="300"/>
              </a:spcAft>
            </a:pPr>
            <a:r>
              <a:rPr sz="1260" b="0" i="0">
                <a:solidFill>
                  <a:srgbClr val="14313B"/>
                </a:solidFill>
                <a:latin typeface="Calibri (MS)"/>
              </a:rPr>
              <a:t>Karena objek wisatanya bertambah (+0,0297), lebih besar dari turunnya nilai kepadatan (−0,0106).</a:t>
            </a:r>
          </a:p>
        </p:txBody>
      </p:sp>
      <p:sp>
        <p:nvSpPr>
          <p:cNvPr id="139" name="Rounded Rectangle 138"/>
          <p:cNvSpPr/>
          <p:nvPr/>
        </p:nvSpPr>
        <p:spPr>
          <a:xfrm>
            <a:off x="11247120" y="6400800"/>
            <a:ext cx="621792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380" b="1" i="0">
                <a:solidFill>
                  <a:srgbClr val="0B5E6E"/>
                </a:solidFill>
                <a:latin typeface="Calibri (MS) Bold"/>
              </a:rPr>
              <a:t>Bagaimana dengan lahan?</a:t>
            </a:r>
          </a:p>
          <a:p>
            <a:pPr algn="l">
              <a:spcAft>
                <a:spcPts val="300"/>
              </a:spcAft>
            </a:pPr>
            <a:r>
              <a:rPr sz="1260" b="0" i="0">
                <a:solidFill>
                  <a:srgbClr val="14313B"/>
                </a:solidFill>
                <a:latin typeface="Calibri (MS)"/>
              </a:rPr>
              <a:t>Masih aman: rasio daya dukung lahan sekitar 0,614, jauh di atas batas 0,331 di ketiga skenario.</a:t>
            </a:r>
          </a:p>
        </p:txBody>
      </p:sp>
      <p:sp>
        <p:nvSpPr>
          <p:cNvPr id="140" name="Rounded Rectangle 139"/>
          <p:cNvSpPr/>
          <p:nvPr/>
        </p:nvSpPr>
        <p:spPr>
          <a:xfrm>
            <a:off x="822960" y="80010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Untuk mengendalikan kepadatan wisatawan, dibutuhkan kebijakan lain di luar dua kebijakan dalam model ini.</a:t>
            </a:r>
          </a:p>
        </p:txBody>
      </p:sp>
      <p:sp>
        <p:nvSpPr>
          <p:cNvPr id="141" name="TextBox 14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4.8 (Tabel 60–61, Gambar 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