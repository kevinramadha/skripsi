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281" r:id="rId31"/>
    <p:sldId id="282" r:id="rId32"/>
    <p:sldId id="283" r:id="rId33"/>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31" Type="http://schemas.openxmlformats.org/officeDocument/2006/relationships/slide" Target="slides/slide1.xml"/><Relationship Id="rId32" Type="http://schemas.openxmlformats.org/officeDocument/2006/relationships/slide" Target="slides/slide2.xml"/><Relationship Id="rId33" Type="http://schemas.openxmlformats.org/officeDocument/2006/relationships/slide" Target="slides/slide3.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NTL (nW/cm²/sr)</c:v>
                </c:pt>
              </c:strCache>
            </c:strRef>
          </c:tx>
          <c:spPr>
            <a:ln w="34925">
              <a:solidFill>
                <a:srgbClr val="39C0D3"/>
              </a:solidFill>
            </a:ln>
          </c:spPr>
          <c:marker>
            <c:size val="8"/>
            <c:spPr>
              <a:solidFill>
                <a:srgbClr val="39C0D3"/>
              </a:solidFill>
              <a:ln>
                <a:solidFill>
                  <a:srgbClr val="39C0D3"/>
                </a:solidFill>
              </a:ln>
            </c:spPr>
          </c:marker>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Sheet1!$B$2:$B$12</c:f>
              <c:numCache>
                <c:formatCode>General</c:formatCode>
                <c:ptCount val="11"/>
                <c:pt idx="0">
                  <c:v>1.262</c:v>
                </c:pt>
                <c:pt idx="1">
                  <c:v>1.054</c:v>
                </c:pt>
                <c:pt idx="2">
                  <c:v>1.438</c:v>
                </c:pt>
                <c:pt idx="3">
                  <c:v>1.668</c:v>
                </c:pt>
                <c:pt idx="4">
                  <c:v>2.005</c:v>
                </c:pt>
                <c:pt idx="5">
                  <c:v>1.828</c:v>
                </c:pt>
                <c:pt idx="6">
                  <c:v>1.541</c:v>
                </c:pt>
                <c:pt idx="7">
                  <c:v>1.483</c:v>
                </c:pt>
                <c:pt idx="8">
                  <c:v>2.512</c:v>
                </c:pt>
                <c:pt idx="9">
                  <c:v>2.457</c:v>
                </c:pt>
                <c:pt idx="10">
                  <c:v>2.288</c:v>
                </c:pt>
              </c:numCache>
            </c:numRef>
          </c:val>
          <c:smooth val="0"/>
        </c:ser>
        <c:dLbls>
          <c:numFmt formatCode="0.00" sourceLinked="0"/>
          <c:txPr>
            <a:bodyPr/>
            <a:lstStyle/>
            <a:p>
              <a:pPr>
                <a:defRPr sz="1000"/>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pPr>
          </a:p>
        </c:txPr>
        <c:crossAx val="2140495176"/>
        <c:crosses val="autoZero"/>
        <c:auto val="1"/>
        <c:lblAlgn val="ctr"/>
        <c:lblOffset val="100"/>
        <c:noMultiLvlLbl val="0"/>
      </c:catAx>
      <c:valAx>
        <c:axId val="2140495176"/>
        <c:scaling>
          <c:max val="2.8"/>
          <c:min val="0.8"/>
        </c:scaling>
        <c:delete val="0"/>
        <c:axPos val="l"/>
        <c:majorGridlines>
          <c:spPr>
            <a:ln>
              <a:solidFill>
                <a:srgbClr val="E3EEF1"/>
              </a:solidFill>
            </a:ln>
          </c:spPr>
        </c:majorGridlines>
        <c:majorTickMark val="out"/>
        <c:minorTickMark val="none"/>
        <c:tickLblPos val="nextTo"/>
        <c:txPr>
          <a:bodyPr/>
          <a:lstStyle/>
          <a:p>
            <a:pPr>
              <a:defRPr sz="1000"/>
            </a:pPr>
          </a:p>
        </c:txPr>
        <c:crossAx val="2118791784"/>
        <c:crosses val="autoZero"/>
      </c:valAx>
    </c:plotArea>
    <c:legend>
      <c:legendPos val="t"/>
      <c:layout/>
      <c:overlay val="0"/>
    </c:legend>
    <c:plotVisOnly val="1"/>
    <c:dispBlanksAs val="gap"/>
    <c:showDLblsOverMax val="0"/>
  </c:chart>
  <c:txPr>
    <a:bodyPr/>
    <a:lstStyle/>
    <a:p>
      <a:pPr>
        <a:defRPr sz="1100">
          <a:solidFill>
            <a:srgbClr val="14313B"/>
          </a:solidFill>
          <a:latin typeface="Calibri (M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ODTW BPS</c:v>
                </c:pt>
              </c:strCache>
            </c:strRef>
          </c:tx>
          <c:spPr>
            <a:ln w="34925">
              <a:solidFill>
                <a:srgbClr val="0B5E6E"/>
              </a:solidFill>
            </a:ln>
          </c:spPr>
          <c:marker>
            <c:size val="8"/>
            <c:spPr>
              <a:solidFill>
                <a:srgbClr val="0B5E6E"/>
              </a:solidFill>
              <a:ln>
                <a:solidFill>
                  <a:srgbClr val="0B5E6E"/>
                </a:solidFill>
              </a:ln>
            </c:spPr>
          </c:marker>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Sheet1!$B$2:$B$12</c:f>
              <c:numCache>
                <c:formatCode>General</c:formatCode>
                <c:ptCount val="11"/>
                <c:pt idx="3">
                  <c:v>177</c:v>
                </c:pt>
                <c:pt idx="4">
                  <c:v>189</c:v>
                </c:pt>
                <c:pt idx="5">
                  <c:v>180</c:v>
                </c:pt>
                <c:pt idx="6">
                  <c:v>170</c:v>
                </c:pt>
                <c:pt idx="7">
                  <c:v>183</c:v>
                </c:pt>
                <c:pt idx="8">
                  <c:v>201</c:v>
                </c:pt>
                <c:pt idx="9">
                  <c:v>218</c:v>
                </c:pt>
              </c:numCache>
            </c:numRef>
          </c:val>
          <c:smooth val="0"/>
        </c:ser>
        <c:ser>
          <c:idx val="1"/>
          <c:order val="1"/>
          <c:tx>
            <c:strRef>
              <c:f>Sheet1!$C$1</c:f>
              <c:strCache>
                <c:ptCount val="1"/>
                <c:pt idx="0">
                  <c:v>ODTW estimasi NTL</c:v>
                </c:pt>
              </c:strCache>
            </c:strRef>
          </c:tx>
          <c:spPr>
            <a:ln w="34925">
              <a:solidFill>
                <a:srgbClr val="E0A800"/>
              </a:solidFill>
              <a:prstDash val="dash"/>
            </a:ln>
          </c:spPr>
          <c:marker>
            <c:size val="8"/>
            <c:spPr>
              <a:solidFill>
                <a:srgbClr val="E0A800"/>
              </a:solidFill>
              <a:ln>
                <a:solidFill>
                  <a:srgbClr val="E0A800"/>
                </a:solidFill>
              </a:ln>
            </c:spPr>
          </c:marker>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Sheet1!$C$2:$C$12</c:f>
              <c:numCache>
                <c:formatCode>General</c:formatCode>
                <c:ptCount val="11"/>
                <c:pt idx="0">
                  <c:v>165.2</c:v>
                </c:pt>
                <c:pt idx="1">
                  <c:v>158.1</c:v>
                </c:pt>
                <c:pt idx="2">
                  <c:v>171.4</c:v>
                </c:pt>
                <c:pt idx="10">
                  <c:v>200.7</c:v>
                </c:pt>
              </c:numCache>
            </c:numRef>
          </c:val>
          <c:smooth val="0"/>
        </c:ser>
        <c:dLbls>
          <c:numFmt formatCode="0" sourceLinked="0"/>
          <c:txPr>
            <a:bodyPr/>
            <a:lstStyle/>
            <a:p>
              <a:pPr>
                <a:defRPr sz="1000"/>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pPr>
          </a:p>
        </c:txPr>
        <c:crossAx val="2140495176"/>
        <c:crosses val="autoZero"/>
        <c:auto val="1"/>
        <c:lblAlgn val="ctr"/>
        <c:lblOffset val="100"/>
        <c:noMultiLvlLbl val="0"/>
      </c:catAx>
      <c:valAx>
        <c:axId val="2140495176"/>
        <c:scaling>
          <c:max val="230.0"/>
          <c:min val="140.0"/>
        </c:scaling>
        <c:delete val="0"/>
        <c:axPos val="l"/>
        <c:majorGridlines>
          <c:spPr>
            <a:ln>
              <a:solidFill>
                <a:srgbClr val="E3EEF1"/>
              </a:solidFill>
            </a:ln>
          </c:spPr>
        </c:majorGridlines>
        <c:majorTickMark val="out"/>
        <c:minorTickMark val="none"/>
        <c:tickLblPos val="nextTo"/>
        <c:txPr>
          <a:bodyPr/>
          <a:lstStyle/>
          <a:p>
            <a:pPr>
              <a:defRPr sz="1000"/>
            </a:pPr>
          </a:p>
        </c:txPr>
        <c:crossAx val="2118791784"/>
        <c:crosses val="autoZero"/>
      </c:valAx>
    </c:plotArea>
    <c:legend>
      <c:legendPos val="t"/>
      <c:layout/>
      <c:overlay val="0"/>
    </c:legend>
    <c:plotVisOnly val="1"/>
    <c:dispBlanksAs val="gap"/>
    <c:showDLblsOverMax val="0"/>
  </c:chart>
  <c:txPr>
    <a:bodyPr/>
    <a:lstStyle/>
    <a:p>
      <a:pPr>
        <a:defRPr sz="1100">
          <a:solidFill>
            <a:srgbClr val="14313B"/>
          </a:solidFill>
          <a:latin typeface="Calibri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Kelayakan estimasi ODTW dari NTL dinilai dengan dua kriteria. Pertama, korelasi pada selisih tahunan, bukan pada nilai level, karena korelasi level bisa tinggi hanya karena kedua data sama-sama naik. Hasilnya R kuadrat 0,405, di atas batas 0,30. Kedua, LOOCV: satu tahun dikeluarkan bergantian lalu diprediksi; RMSE relatifnya 5,99 persen, di bawah batas 10 persen. Selang prediksi 95 persen menunjukkan ketidakpastian setiap estimasi, dan dipakai sebagai dasar rentang uji sensitivitas nilai awal ODTW.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Validasi temporal menyandingkan data NTL dan ODTW. Pada periode data BPS, 2018 sampai 2024, keduanya searah pada empat dari enam periode, termasuk naik bersama pada 2019 dan melonjak bersama pada 2023. Yang tidak searah adalah 2021 ke 2022 dan 2023 ke 2024, ketika NTL turun tetapi ODTW naik; ini sama dengan tahun error LOOCV terbesar. Tahun estimasi tidak dihitung sebagai bukti, karena nilainya memang berasal dari NTL.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Validasi spasial memeriksa apakah nilai NTL masuk akal di lapangan. Saya mengambil lima titik dengan karakter berbeda. Malioboro–Keraton paling terang, 37,4, lalu Kotagede 12,6, sedangkan TN Gunung Merapi paling gelap, 0,96. Ini sesuai harapan. Keterbatasannya, Kawasan Industri Sentolo justru sedikit lebih gelap dari Pantai Baron, karena kawasan industrinya masih tahap awal; artinya NTL kurang tajam untuk aktivitas skala kecil.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2.png"/><Relationship Id="rId8" Type="http://schemas.openxmlformats.org/officeDocument/2006/relationships/chart" Target="../charts/chart1.xml"/><Relationship Id="rId9"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3.png"/><Relationship Id="rId8" Type="http://schemas.openxmlformats.org/officeDocument/2006/relationships/image" Target="../media/image1.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0010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Jumlah ODTW — Metrik Evaluasi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Estimasi ODTW dari NTL memenuhi kedua kriteria kelayakan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25" id="125"/>
          <p:cNvGrpSpPr/>
          <p:nvPr/>
        </p:nvGrpSpPr>
        <p:grpSpPr>
          <a:xfrm rot="0">
            <a:off x="12755880" y="274320"/>
            <a:ext cx="3931920" cy="411480"/>
            <a:chOff x="0" y="0"/>
            <a:chExt cx="5242560" cy="548640"/>
          </a:xfrm>
        </p:grpSpPr>
        <p:sp>
          <p:nvSpPr>
            <p:cNvPr name="Freeform 126" id="126"/>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27" id="127"/>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sp>
        <p:nvSpPr>
          <p:cNvPr id="128" name="Rounded Rectangle 127"/>
          <p:cNvSpPr/>
          <p:nvPr/>
        </p:nvSpPr>
        <p:spPr>
          <a:xfrm>
            <a:off x="822960" y="1783080"/>
            <a:ext cx="16642080" cy="566928"/>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FFD23B"/>
                </a:solidFill>
                <a:latin typeface="Calibri (MS) Bold"/>
              </a:rPr>
              <a:t>Model yang dievaluasi  </a:t>
            </a:r>
            <a:r>
              <a:rPr sz="1610" b="1" i="0">
                <a:solidFill>
                  <a:srgbClr val="FFFFFF"/>
                </a:solidFill>
                <a:latin typeface="Calibri (MS) Bold"/>
              </a:rPr>
              <a:t>ODTW = 121,61 + 34,59 × NTL   ·   regresi linear sederhana   ·   n = 7 tahun (data BPS 2018–2024)</a:t>
            </a:r>
          </a:p>
        </p:txBody>
      </p:sp>
      <p:graphicFrame>
        <p:nvGraphicFramePr>
          <p:cNvPr id="129" name="Table 128"/>
          <p:cNvGraphicFramePr>
            <a:graphicFrameLocks noGrp="1"/>
          </p:cNvGraphicFramePr>
          <p:nvPr/>
        </p:nvGraphicFramePr>
        <p:xfrm>
          <a:off x="822960" y="2514600"/>
          <a:ext cx="16642075" cy="4114800"/>
        </p:xfrm>
        <a:graphic>
          <a:graphicData uri="http://schemas.openxmlformats.org/drawingml/2006/table">
            <a:tbl>
              <a:tblPr firstRow="1" bandRow="1">
                <a:tableStyleId>{5C22544A-7EE6-4342-B048-85BDC9FD1C3A}</a:tableStyleId>
              </a:tblPr>
              <a:tblGrid>
                <a:gridCol w="2468879"/>
                <a:gridCol w="6035039"/>
                <a:gridCol w="3108959"/>
                <a:gridCol w="2651759"/>
                <a:gridCol w="2377439"/>
              </a:tblGrid>
              <a:tr h="822960">
                <a:tc>
                  <a:txBody>
                    <a:bodyPr wrap="square"/>
                    <a:lstStyle/>
                    <a:p>
                      <a:r>
                        <a:rPr sz="1440" b="1" i="0">
                          <a:solidFill>
                            <a:srgbClr val="FFFFFF"/>
                          </a:solidFill>
                          <a:latin typeface="Calibri (MS) Bold"/>
                        </a:rPr>
                        <a:t>Metrik</a:t>
                      </a:r>
                    </a:p>
                  </a:txBody>
                  <a:tcPr marL="73152" marR="73152" marT="36576" marB="36576" anchor="ctr">
                    <a:solidFill>
                      <a:srgbClr val="0B5E6E"/>
                    </a:solidFill>
                  </a:tcPr>
                </a:tc>
                <a:tc>
                  <a:txBody>
                    <a:bodyPr wrap="square"/>
                    <a:lstStyle/>
                    <a:p>
                      <a:r>
                        <a:rPr sz="1440" b="1" i="0">
                          <a:solidFill>
                            <a:srgbClr val="FFFFFF"/>
                          </a:solidFill>
                          <a:latin typeface="Calibri (MS) Bold"/>
                        </a:rPr>
                        <a:t>Rumus</a:t>
                      </a:r>
                    </a:p>
                  </a:txBody>
                  <a:tcPr marL="73152" marR="73152" marT="36576" marB="36576" anchor="ctr">
                    <a:solidFill>
                      <a:srgbClr val="0B5E6E"/>
                    </a:solidFill>
                  </a:tcPr>
                </a:tc>
                <a:tc>
                  <a:txBody>
                    <a:bodyPr wrap="square"/>
                    <a:lstStyle/>
                    <a:p>
                      <a:r>
                        <a:rPr sz="1440" b="1" i="0">
                          <a:solidFill>
                            <a:srgbClr val="FFFFFF"/>
                          </a:solidFill>
                          <a:latin typeface="Calibri (MS) Bold"/>
                        </a:rPr>
                        <a:t>Kriteria</a:t>
                      </a:r>
                    </a:p>
                  </a:txBody>
                  <a:tcPr marL="73152" marR="73152" marT="36576" marB="36576" anchor="ctr">
                    <a:solidFill>
                      <a:srgbClr val="0B5E6E"/>
                    </a:solidFill>
                  </a:tcPr>
                </a:tc>
                <a:tc>
                  <a:txBody>
                    <a:bodyPr wrap="square"/>
                    <a:lstStyle/>
                    <a:p>
                      <a:r>
                        <a:rPr sz="1440" b="1" i="0">
                          <a:solidFill>
                            <a:srgbClr val="FFFFFF"/>
                          </a:solidFill>
                          <a:latin typeface="Calibri (MS) Bold"/>
                        </a:rPr>
                        <a:t>Hasil</a:t>
                      </a:r>
                    </a:p>
                  </a:txBody>
                  <a:tcPr marL="73152" marR="73152" marT="36576" marB="36576" anchor="ctr">
                    <a:solidFill>
                      <a:srgbClr val="0B5E6E"/>
                    </a:solidFill>
                  </a:tcPr>
                </a:tc>
                <a:tc>
                  <a:txBody>
                    <a:bodyPr wrap="square"/>
                    <a:lstStyle/>
                    <a:p>
                      <a:r>
                        <a:rPr sz="1440" b="1" i="0">
                          <a:solidFill>
                            <a:srgbClr val="FFFFFF"/>
                          </a:solidFill>
                          <a:latin typeface="Calibri (MS) Bold"/>
                        </a:rPr>
                        <a:t>Keputusan</a:t>
                      </a:r>
                    </a:p>
                  </a:txBody>
                  <a:tcPr marL="73152" marR="73152" marT="36576" marB="36576" anchor="ctr">
                    <a:solidFill>
                      <a:srgbClr val="0B5E6E"/>
                    </a:solidFill>
                  </a:tcPr>
                </a:tc>
              </a:tr>
              <a:tr h="822960">
                <a:tc>
                  <a:txBody>
                    <a:bodyPr wrap="square"/>
                    <a:lstStyle/>
                    <a:p>
                      <a:r>
                        <a:rPr sz="1440" b="1" i="0">
                          <a:solidFill>
                            <a:srgbClr val="14313B"/>
                          </a:solidFill>
                          <a:latin typeface="Calibri (MS) Bold"/>
                        </a:rPr>
                        <a:t>Korelasi pada nilai level</a:t>
                      </a:r>
                    </a:p>
                  </a:txBody>
                  <a:tcPr marL="73152" marR="73152" marT="36576" marB="36576" anchor="ctr">
                    <a:solidFill>
                      <a:srgbClr val="FFFFFF"/>
                    </a:solidFill>
                  </a:tcPr>
                </a:tc>
                <a:tc>
                  <a:txBody>
                    <a:bodyPr wrap="square"/>
                    <a:lstStyle/>
                    <a:p>
                      <a:r>
                        <a:rPr sz="1440" b="0" i="0">
                          <a:solidFill>
                            <a:srgbClr val="14313B"/>
                          </a:solidFill>
                          <a:latin typeface="Calibri (MS)"/>
                        </a:rPr>
                        <a:t>r = Σ(xᵢ − x̄)(yᵢ − ȳ) / √[Σ(xᵢ − x̄)² · Σ(yᵢ − ȳ)²]</a:t>
                      </a:r>
                    </a:p>
                  </a:txBody>
                  <a:tcPr marL="73152" marR="73152" marT="36576" marB="36576" anchor="ctr">
                    <a:solidFill>
                      <a:srgbClr val="FFFFFF"/>
                    </a:solidFill>
                  </a:tcPr>
                </a:tc>
                <a:tc>
                  <a:txBody>
                    <a:bodyPr wrap="square"/>
                    <a:lstStyle/>
                    <a:p>
                      <a:r>
                        <a:rPr sz="1440" b="0" i="0">
                          <a:solidFill>
                            <a:srgbClr val="14313B"/>
                          </a:solidFill>
                          <a:latin typeface="Calibri (MS)"/>
                        </a:rPr>
                        <a:t>Hanya pembanding (bisa tinggi karena tren yang sama)</a:t>
                      </a:r>
                    </a:p>
                  </a:txBody>
                  <a:tcPr marL="73152" marR="73152" marT="36576" marB="36576" anchor="ctr">
                    <a:solidFill>
                      <a:srgbClr val="FFFFFF"/>
                    </a:solidFill>
                  </a:tcPr>
                </a:tc>
                <a:tc>
                  <a:txBody>
                    <a:bodyPr wrap="square"/>
                    <a:lstStyle/>
                    <a:p>
                      <a:pPr algn="ctr"/>
                      <a:r>
                        <a:rPr sz="1440" b="0" i="0">
                          <a:solidFill>
                            <a:srgbClr val="14313B"/>
                          </a:solidFill>
                          <a:latin typeface="Calibri (MS)"/>
                        </a:rPr>
                        <a:t>R² = 0,785</a:t>
                      </a:r>
                    </a:p>
                  </a:txBody>
                  <a:tcPr marL="73152" marR="73152" marT="36576" marB="36576" anchor="ctr">
                    <a:solidFill>
                      <a:srgbClr val="FFFFFF"/>
                    </a:solidFill>
                  </a:tcPr>
                </a:tc>
                <a:tc>
                  <a:txBody>
                    <a:bodyPr wrap="square"/>
                    <a:lstStyle/>
                    <a:p>
                      <a:pPr algn="ctr"/>
                      <a:r>
                        <a:rPr sz="1440" b="0" i="0">
                          <a:solidFill>
                            <a:srgbClr val="14313B"/>
                          </a:solidFill>
                          <a:latin typeface="Calibri (MS)"/>
                        </a:rPr>
                        <a:t>Pembanding</a:t>
                      </a:r>
                    </a:p>
                  </a:txBody>
                  <a:tcPr marL="73152" marR="73152" marT="36576" marB="36576" anchor="ctr">
                    <a:solidFill>
                      <a:srgbClr val="EAF8FA"/>
                    </a:solidFill>
                  </a:tcPr>
                </a:tc>
              </a:tr>
              <a:tr h="822960">
                <a:tc>
                  <a:txBody>
                    <a:bodyPr wrap="square"/>
                    <a:lstStyle/>
                    <a:p>
                      <a:r>
                        <a:rPr sz="1440" b="1" i="0">
                          <a:solidFill>
                            <a:srgbClr val="14313B"/>
                          </a:solidFill>
                          <a:latin typeface="Calibri (MS) Bold"/>
                        </a:rPr>
                        <a:t>Korelasi pada selisih tahunan</a:t>
                      </a:r>
                    </a:p>
                  </a:txBody>
                  <a:tcPr marL="73152" marR="73152" marT="36576" marB="36576" anchor="ctr">
                    <a:solidFill>
                      <a:srgbClr val="EAF8FA"/>
                    </a:solidFill>
                  </a:tcPr>
                </a:tc>
                <a:tc>
                  <a:txBody>
                    <a:bodyPr wrap="square"/>
                    <a:lstStyle/>
                    <a:p>
                      <a:r>
                        <a:rPr sz="1440" b="0" i="0">
                          <a:solidFill>
                            <a:srgbClr val="14313B"/>
                          </a:solidFill>
                          <a:latin typeface="Calibri (MS)"/>
                        </a:rPr>
                        <a:t>Δxₜ = xₜ − xₜ₋₁ ;  Δyₜ = yₜ − yₜ₋₁ ;  r dihitung pada Δx dan Δy</a:t>
                      </a:r>
                    </a:p>
                  </a:txBody>
                  <a:tcPr marL="73152" marR="73152" marT="36576" marB="36576" anchor="ctr">
                    <a:solidFill>
                      <a:srgbClr val="EAF8FA"/>
                    </a:solidFill>
                  </a:tcPr>
                </a:tc>
                <a:tc>
                  <a:txBody>
                    <a:bodyPr wrap="square"/>
                    <a:lstStyle/>
                    <a:p>
                      <a:r>
                        <a:rPr sz="1440" b="0" i="0">
                          <a:solidFill>
                            <a:srgbClr val="14313B"/>
                          </a:solidFill>
                          <a:latin typeface="Calibri (MS)"/>
                        </a:rPr>
                        <a:t>R² ≥ 0,30</a:t>
                      </a:r>
                    </a:p>
                  </a:txBody>
                  <a:tcPr marL="73152" marR="73152" marT="36576" marB="36576" anchor="ctr">
                    <a:solidFill>
                      <a:srgbClr val="EAF8FA"/>
                    </a:solidFill>
                  </a:tcPr>
                </a:tc>
                <a:tc>
                  <a:txBody>
                    <a:bodyPr wrap="square"/>
                    <a:lstStyle/>
                    <a:p>
                      <a:pPr algn="ctr"/>
                      <a:r>
                        <a:rPr sz="1440" b="0" i="0">
                          <a:solidFill>
                            <a:srgbClr val="14313B"/>
                          </a:solidFill>
                          <a:latin typeface="Calibri (MS)"/>
                        </a:rPr>
                        <a:t>R² = 0,405</a:t>
                      </a:r>
                    </a:p>
                  </a:txBody>
                  <a:tcPr marL="73152" marR="73152" marT="36576" marB="36576" anchor="ctr">
                    <a:solidFill>
                      <a:srgbClr val="EAF8FA"/>
                    </a:solidFill>
                  </a:tcPr>
                </a:tc>
                <a:tc>
                  <a:txBody>
                    <a:bodyPr wrap="square"/>
                    <a:lstStyle/>
                    <a:p>
                      <a:pPr algn="ctr"/>
                      <a:r>
                        <a:rPr sz="1440" b="1" i="0">
                          <a:solidFill>
                            <a:srgbClr val="14313B"/>
                          </a:solidFill>
                          <a:latin typeface="Calibri (MS)"/>
                        </a:rPr>
                        <a:t>Layak</a:t>
                      </a:r>
                    </a:p>
                  </a:txBody>
                  <a:tcPr marL="73152" marR="73152" marT="36576" marB="36576" anchor="ctr">
                    <a:solidFill>
                      <a:srgbClr val="C9F0D6"/>
                    </a:solidFill>
                  </a:tcPr>
                </a:tc>
              </a:tr>
              <a:tr h="822960">
                <a:tc>
                  <a:txBody>
                    <a:bodyPr wrap="square"/>
                    <a:lstStyle/>
                    <a:p>
                      <a:r>
                        <a:rPr sz="1440" b="1" i="0">
                          <a:solidFill>
                            <a:srgbClr val="14313B"/>
                          </a:solidFill>
                          <a:latin typeface="Calibri (MS) Bold"/>
                        </a:rPr>
                        <a:t>LOOCV (RMSE relatif)</a:t>
                      </a:r>
                    </a:p>
                  </a:txBody>
                  <a:tcPr marL="73152" marR="73152" marT="36576" marB="36576" anchor="ctr">
                    <a:solidFill>
                      <a:srgbClr val="FFFFFF"/>
                    </a:solidFill>
                  </a:tcPr>
                </a:tc>
                <a:tc>
                  <a:txBody>
                    <a:bodyPr wrap="square"/>
                    <a:lstStyle/>
                    <a:p>
                      <a:r>
                        <a:rPr sz="1440" b="0" i="0">
                          <a:solidFill>
                            <a:srgbClr val="14313B"/>
                          </a:solidFill>
                          <a:latin typeface="Calibri (MS)"/>
                        </a:rPr>
                        <a:t>RMSE = √[(1/k) · Σ(ŷ₋ᵢ − yᵢ)²] ;  RMSE relatif = RMSE / ȳ × 100%</a:t>
                      </a:r>
                    </a:p>
                  </a:txBody>
                  <a:tcPr marL="73152" marR="73152" marT="36576" marB="36576" anchor="ctr">
                    <a:solidFill>
                      <a:srgbClr val="FFFFFF"/>
                    </a:solidFill>
                  </a:tcPr>
                </a:tc>
                <a:tc>
                  <a:txBody>
                    <a:bodyPr wrap="square"/>
                    <a:lstStyle/>
                    <a:p>
                      <a:r>
                        <a:rPr sz="1440" b="0" i="0">
                          <a:solidFill>
                            <a:srgbClr val="14313B"/>
                          </a:solidFill>
                          <a:latin typeface="Calibri (MS)"/>
                        </a:rPr>
                        <a:t>≤ 10%</a:t>
                      </a:r>
                    </a:p>
                  </a:txBody>
                  <a:tcPr marL="73152" marR="73152" marT="36576" marB="36576" anchor="ctr">
                    <a:solidFill>
                      <a:srgbClr val="FFFFFF"/>
                    </a:solidFill>
                  </a:tcPr>
                </a:tc>
                <a:tc>
                  <a:txBody>
                    <a:bodyPr wrap="square"/>
                    <a:lstStyle/>
                    <a:p>
                      <a:pPr algn="ctr"/>
                      <a:r>
                        <a:rPr sz="1440" b="0" i="0">
                          <a:solidFill>
                            <a:srgbClr val="14313B"/>
                          </a:solidFill>
                          <a:latin typeface="Calibri (MS)"/>
                        </a:rPr>
                        <a:t>RMSE 11,29 unit → 5,99%</a:t>
                      </a:r>
                    </a:p>
                  </a:txBody>
                  <a:tcPr marL="73152" marR="73152" marT="36576" marB="36576" anchor="ctr">
                    <a:solidFill>
                      <a:srgbClr val="FFFFFF"/>
                    </a:solidFill>
                  </a:tcPr>
                </a:tc>
                <a:tc>
                  <a:txBody>
                    <a:bodyPr wrap="square"/>
                    <a:lstStyle/>
                    <a:p>
                      <a:pPr algn="ctr"/>
                      <a:r>
                        <a:rPr sz="1440" b="1" i="0">
                          <a:solidFill>
                            <a:srgbClr val="14313B"/>
                          </a:solidFill>
                          <a:latin typeface="Calibri (MS)"/>
                        </a:rPr>
                        <a:t>Layak</a:t>
                      </a:r>
                    </a:p>
                  </a:txBody>
                  <a:tcPr marL="73152" marR="73152" marT="36576" marB="36576" anchor="ctr">
                    <a:solidFill>
                      <a:srgbClr val="C9F0D6"/>
                    </a:solidFill>
                  </a:tcPr>
                </a:tc>
              </a:tr>
              <a:tr h="822960">
                <a:tc>
                  <a:txBody>
                    <a:bodyPr wrap="square"/>
                    <a:lstStyle/>
                    <a:p>
                      <a:r>
                        <a:rPr sz="1440" b="1" i="0">
                          <a:solidFill>
                            <a:srgbClr val="14313B"/>
                          </a:solidFill>
                          <a:latin typeface="Calibri (MS) Bold"/>
                        </a:rPr>
                        <a:t>Selang prediksi 95%</a:t>
                      </a:r>
                    </a:p>
                  </a:txBody>
                  <a:tcPr marL="73152" marR="73152" marT="36576" marB="36576" anchor="ctr">
                    <a:solidFill>
                      <a:srgbClr val="EAF8FA"/>
                    </a:solidFill>
                  </a:tcPr>
                </a:tc>
                <a:tc>
                  <a:txBody>
                    <a:bodyPr wrap="square"/>
                    <a:lstStyle/>
                    <a:p>
                      <a:r>
                        <a:rPr sz="1440" b="0" i="0">
                          <a:solidFill>
                            <a:srgbClr val="14313B"/>
                          </a:solidFill>
                          <a:latin typeface="Calibri (MS)"/>
                        </a:rPr>
                        <a:t>ŷ₀ ± t₀,₉₇₅;ₙ₋₂ · s · √[1 + 1/n + (x₀ − x̄)² / Sₓₓ]</a:t>
                      </a:r>
                    </a:p>
                  </a:txBody>
                  <a:tcPr marL="73152" marR="73152" marT="36576" marB="36576" anchor="ctr">
                    <a:solidFill>
                      <a:srgbClr val="EAF8FA"/>
                    </a:solidFill>
                  </a:tcPr>
                </a:tc>
                <a:tc>
                  <a:txBody>
                    <a:bodyPr wrap="square"/>
                    <a:lstStyle/>
                    <a:p>
                      <a:r>
                        <a:rPr sz="1440" b="0" i="0">
                          <a:solidFill>
                            <a:srgbClr val="14313B"/>
                          </a:solidFill>
                          <a:latin typeface="Calibri (MS)"/>
                        </a:rPr>
                        <a:t>Tidak ada batas; menunjukkan ketidakpastian estimasi</a:t>
                      </a:r>
                    </a:p>
                  </a:txBody>
                  <a:tcPr marL="73152" marR="73152" marT="36576" marB="36576" anchor="ctr">
                    <a:solidFill>
                      <a:srgbClr val="EAF8FA"/>
                    </a:solidFill>
                  </a:tcPr>
                </a:tc>
                <a:tc>
                  <a:txBody>
                    <a:bodyPr wrap="square"/>
                    <a:lstStyle/>
                    <a:p>
                      <a:pPr algn="ctr"/>
                      <a:r>
                        <a:rPr sz="1440" b="0" i="0">
                          <a:solidFill>
                            <a:srgbClr val="14313B"/>
                          </a:solidFill>
                          <a:latin typeface="Calibri (MS)"/>
                        </a:rPr>
                        <a:t>2025: 176,7–224,8 · 2016 terlebar (≈58 unit)</a:t>
                      </a:r>
                    </a:p>
                  </a:txBody>
                  <a:tcPr marL="73152" marR="73152" marT="36576" marB="36576" anchor="ctr">
                    <a:solidFill>
                      <a:srgbClr val="EAF8FA"/>
                    </a:solidFill>
                  </a:tcPr>
                </a:tc>
                <a:tc>
                  <a:txBody>
                    <a:bodyPr wrap="square"/>
                    <a:lstStyle/>
                    <a:p>
                      <a:pPr algn="ctr"/>
                      <a:r>
                        <a:rPr sz="1440" b="0" i="0">
                          <a:solidFill>
                            <a:srgbClr val="14313B"/>
                          </a:solidFill>
                          <a:latin typeface="Calibri (MS)"/>
                        </a:rPr>
                        <a:t>Dasar rentang uji sensitivitas (189–218)</a:t>
                      </a:r>
                    </a:p>
                  </a:txBody>
                  <a:tcPr marL="73152" marR="73152" marT="36576" marB="36576" anchor="ctr">
                    <a:solidFill>
                      <a:srgbClr val="FFF1BF"/>
                    </a:solidFill>
                  </a:tcPr>
                </a:tc>
              </a:tr>
            </a:tbl>
          </a:graphicData>
        </a:graphic>
      </p:graphicFrame>
      <p:sp>
        <p:nvSpPr>
          <p:cNvPr id="130" name="TextBox 129"/>
          <p:cNvSpPr txBox="1"/>
          <p:nvPr/>
        </p:nvSpPr>
        <p:spPr>
          <a:xfrm>
            <a:off x="822960" y="6720840"/>
            <a:ext cx="16642080" cy="365760"/>
          </a:xfrm>
          <a:prstGeom prst="rect">
            <a:avLst/>
          </a:prstGeom>
          <a:noFill/>
        </p:spPr>
        <p:txBody>
          <a:bodyPr wrap="square" anchor="t" lIns="0" rIns="0" tIns="0" bIns="0">
            <a:spAutoFit/>
          </a:bodyPr>
          <a:lstStyle/>
          <a:p>
            <a:pPr algn="l">
              <a:spcAft>
                <a:spcPts val="400"/>
              </a:spcAft>
            </a:pPr>
            <a:r>
              <a:rPr sz="1260" b="0" i="1">
                <a:solidFill>
                  <a:srgbClr val="5E6E78"/>
                </a:solidFill>
                <a:latin typeface="Calibri (MS)"/>
              </a:rPr>
              <a:t>x = NTL · y = ODTW BPS · ŷ₋ᵢ = prediksi tahun i dari model tanpa tahun i · k = 7 iterasi · s = standard error residual · Sₓₓ = jumlah kuadrat simpangan NTL</a:t>
            </a:r>
          </a:p>
        </p:txBody>
      </p:sp>
      <p:graphicFrame>
        <p:nvGraphicFramePr>
          <p:cNvPr id="131" name="Table 130"/>
          <p:cNvGraphicFramePr>
            <a:graphicFrameLocks noGrp="1"/>
          </p:cNvGraphicFramePr>
          <p:nvPr/>
        </p:nvGraphicFramePr>
        <p:xfrm>
          <a:off x="822960" y="7178040"/>
          <a:ext cx="10972800" cy="914400"/>
        </p:xfrm>
        <a:graphic>
          <a:graphicData uri="http://schemas.openxmlformats.org/drawingml/2006/table">
            <a:tbl>
              <a:tblPr firstRow="1" bandRow="1">
                <a:tableStyleId>{5C22544A-7EE6-4342-B048-85BDC9FD1C3A}</a:tableStyleId>
              </a:tblPr>
              <a:tblGrid>
                <a:gridCol w="3291840"/>
                <a:gridCol w="1097280"/>
                <a:gridCol w="1097280"/>
                <a:gridCol w="1097280"/>
                <a:gridCol w="1097280"/>
                <a:gridCol w="1097280"/>
                <a:gridCol w="1097280"/>
                <a:gridCol w="1097280"/>
              </a:tblGrid>
              <a:tr h="457200">
                <a:tc>
                  <a:txBody>
                    <a:bodyPr wrap="square"/>
                    <a:lstStyle/>
                    <a:p>
                      <a:r>
                        <a:rPr sz="1380" b="1" i="0">
                          <a:solidFill>
                            <a:srgbClr val="FFFFFF"/>
                          </a:solidFill>
                          <a:latin typeface="Calibri (MS) Bold"/>
                        </a:rPr>
                        <a:t>Error LOOCV per tahun</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2018</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2019</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2020</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2021</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2022</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2023</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2024</a:t>
                      </a:r>
                    </a:p>
                  </a:txBody>
                  <a:tcPr marL="73152" marR="73152" marT="36576" marB="36576" anchor="ctr">
                    <a:solidFill>
                      <a:srgbClr val="0B5E6E"/>
                    </a:solidFill>
                  </a:tcPr>
                </a:tc>
              </a:tr>
              <a:tr h="457200">
                <a:tc>
                  <a:txBody>
                    <a:bodyPr wrap="square"/>
                    <a:lstStyle/>
                    <a:p>
                      <a:r>
                        <a:rPr sz="1380" b="1" i="0">
                          <a:solidFill>
                            <a:srgbClr val="14313B"/>
                          </a:solidFill>
                          <a:latin typeface="Calibri (MS) Bold"/>
                        </a:rPr>
                        <a:t>Selisih prediksi vs aktual (%)</a:t>
                      </a:r>
                    </a:p>
                  </a:txBody>
                  <a:tcPr marL="73152" marR="73152" marT="36576" marB="36576" anchor="ctr">
                    <a:solidFill>
                      <a:srgbClr val="FFFFFF"/>
                    </a:solidFill>
                  </a:tcPr>
                </a:tc>
                <a:tc>
                  <a:txBody>
                    <a:bodyPr wrap="square"/>
                    <a:lstStyle/>
                    <a:p>
                      <a:pPr algn="ctr"/>
                      <a:r>
                        <a:rPr sz="1380" b="0" i="0">
                          <a:solidFill>
                            <a:srgbClr val="14313B"/>
                          </a:solidFill>
                          <a:latin typeface="Calibri (MS)"/>
                        </a:rPr>
                        <a:t>+1,6</a:t>
                      </a:r>
                    </a:p>
                  </a:txBody>
                  <a:tcPr marL="73152" marR="73152" marT="36576" marB="36576" anchor="ctr">
                    <a:solidFill>
                      <a:srgbClr val="FFFFFF"/>
                    </a:solidFill>
                  </a:tcPr>
                </a:tc>
                <a:tc>
                  <a:txBody>
                    <a:bodyPr wrap="square"/>
                    <a:lstStyle/>
                    <a:p>
                      <a:pPr algn="ctr"/>
                      <a:r>
                        <a:rPr sz="1380" b="0" i="0">
                          <a:solidFill>
                            <a:srgbClr val="14313B"/>
                          </a:solidFill>
                          <a:latin typeface="Calibri (MS)"/>
                        </a:rPr>
                        <a:t>+1,2</a:t>
                      </a:r>
                    </a:p>
                  </a:txBody>
                  <a:tcPr marL="73152" marR="73152" marT="36576" marB="36576" anchor="ctr">
                    <a:solidFill>
                      <a:srgbClr val="FFFFFF"/>
                    </a:solidFill>
                  </a:tcPr>
                </a:tc>
                <a:tc>
                  <a:txBody>
                    <a:bodyPr wrap="square"/>
                    <a:lstStyle/>
                    <a:p>
                      <a:pPr algn="ctr"/>
                      <a:r>
                        <a:rPr sz="1380" b="0" i="0">
                          <a:solidFill>
                            <a:srgbClr val="14313B"/>
                          </a:solidFill>
                          <a:latin typeface="Calibri (MS)"/>
                        </a:rPr>
                        <a:t>+3,2</a:t>
                      </a:r>
                    </a:p>
                  </a:txBody>
                  <a:tcPr marL="73152" marR="73152" marT="36576" marB="36576" anchor="ctr">
                    <a:solidFill>
                      <a:srgbClr val="FFFFFF"/>
                    </a:solidFill>
                  </a:tcPr>
                </a:tc>
                <a:tc>
                  <a:txBody>
                    <a:bodyPr wrap="square"/>
                    <a:lstStyle/>
                    <a:p>
                      <a:pPr algn="ctr"/>
                      <a:r>
                        <a:rPr sz="1380" b="0" i="0">
                          <a:solidFill>
                            <a:srgbClr val="14313B"/>
                          </a:solidFill>
                          <a:latin typeface="Calibri (MS)"/>
                        </a:rPr>
                        <a:t>+4,0</a:t>
                      </a:r>
                    </a:p>
                  </a:txBody>
                  <a:tcPr marL="73152" marR="73152" marT="36576" marB="36576" anchor="ctr">
                    <a:solidFill>
                      <a:srgbClr val="FFFFFF"/>
                    </a:solidFill>
                  </a:tcPr>
                </a:tc>
                <a:tc>
                  <a:txBody>
                    <a:bodyPr wrap="square"/>
                    <a:lstStyle/>
                    <a:p>
                      <a:pPr algn="ctr"/>
                      <a:r>
                        <a:rPr sz="1380" b="0" i="0">
                          <a:solidFill>
                            <a:srgbClr val="14313B"/>
                          </a:solidFill>
                          <a:latin typeface="Calibri (MS)"/>
                        </a:rPr>
                        <a:t>−8,2</a:t>
                      </a:r>
                    </a:p>
                  </a:txBody>
                  <a:tcPr marL="73152" marR="73152" marT="36576" marB="36576" anchor="ctr">
                    <a:solidFill>
                      <a:srgbClr val="FFF1BF"/>
                    </a:solidFill>
                  </a:tcPr>
                </a:tc>
                <a:tc>
                  <a:txBody>
                    <a:bodyPr wrap="square"/>
                    <a:lstStyle/>
                    <a:p>
                      <a:pPr algn="ctr"/>
                      <a:r>
                        <a:rPr sz="1380" b="0" i="0">
                          <a:solidFill>
                            <a:srgbClr val="14313B"/>
                          </a:solidFill>
                          <a:latin typeface="Calibri (MS)"/>
                        </a:rPr>
                        <a:t>+7,0</a:t>
                      </a:r>
                    </a:p>
                  </a:txBody>
                  <a:tcPr marL="73152" marR="73152" marT="36576" marB="36576" anchor="ctr">
                    <a:solidFill>
                      <a:srgbClr val="FFFFFF"/>
                    </a:solidFill>
                  </a:tcPr>
                </a:tc>
                <a:tc>
                  <a:txBody>
                    <a:bodyPr wrap="square"/>
                    <a:lstStyle/>
                    <a:p>
                      <a:pPr algn="ctr"/>
                      <a:r>
                        <a:rPr sz="1380" b="0" i="0">
                          <a:solidFill>
                            <a:srgbClr val="14313B"/>
                          </a:solidFill>
                          <a:latin typeface="Calibri (MS)"/>
                        </a:rPr>
                        <a:t>−8,9</a:t>
                      </a:r>
                    </a:p>
                  </a:txBody>
                  <a:tcPr marL="73152" marR="73152" marT="36576" marB="36576" anchor="ctr">
                    <a:solidFill>
                      <a:srgbClr val="FFF1BF"/>
                    </a:solidFill>
                  </a:tcPr>
                </a:tc>
              </a:tr>
            </a:tbl>
          </a:graphicData>
        </a:graphic>
      </p:graphicFrame>
      <p:sp>
        <p:nvSpPr>
          <p:cNvPr id="132" name="Rounded Rectangle 131"/>
          <p:cNvSpPr/>
          <p:nvPr/>
        </p:nvSpPr>
        <p:spPr>
          <a:xfrm>
            <a:off x="12070080" y="7178040"/>
            <a:ext cx="539496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380" b="0" i="0">
                <a:solidFill>
                  <a:srgbClr val="14313B"/>
                </a:solidFill>
                <a:latin typeface="Calibri (MS)"/>
              </a:rPr>
              <a:t>Error terbesar pada 2022 dan 2024, tetapi semuanya masih di bawah 10%.</a:t>
            </a:r>
          </a:p>
        </p:txBody>
      </p:sp>
      <p:sp>
        <p:nvSpPr>
          <p:cNvPr id="133" name="TextBox 13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3.5.1 dan 4.2.1, Tabel 29–30; repository Pengujian_NTL_ODTW.csv dan LOOCV_NTL_ODTW.csv.</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Jumlah ODTW — Validasi Temporal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NTL dan ODTW bergerak searah pada sebagian besar tahun 2018–2024</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10" id="110"/>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11" id="111"/>
          <p:cNvGrpSpPr/>
          <p:nvPr/>
        </p:nvGrpSpPr>
        <p:grpSpPr>
          <a:xfrm rot="0">
            <a:off x="12755880" y="274320"/>
            <a:ext cx="3931920" cy="411480"/>
            <a:chOff x="0" y="0"/>
            <a:chExt cx="5242560" cy="548640"/>
          </a:xfrm>
        </p:grpSpPr>
        <p:sp>
          <p:nvSpPr>
            <p:cNvPr name="Freeform 112" id="11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13" id="11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aphicFrame>
        <p:nvGraphicFramePr>
          <p:cNvPr id="114" name="Chart 113"/>
          <p:cNvGraphicFramePr>
            <a:graphicFrameLocks noGrp="1"/>
          </p:cNvGraphicFramePr>
          <p:nvPr/>
        </p:nvGraphicFramePr>
        <p:xfrm>
          <a:off x="822960" y="1828800"/>
          <a:ext cx="10241280" cy="3246120"/>
        </p:xfrm>
        <a:graphic>
          <a:graphicData uri="http://schemas.openxmlformats.org/drawingml/2006/chart">
            <c:chart xmlns:c="http://schemas.openxmlformats.org/drawingml/2006/chart" r:id="rId8"/>
          </a:graphicData>
        </a:graphic>
      </p:graphicFrame>
      <p:graphicFrame>
        <p:nvGraphicFramePr>
          <p:cNvPr id="115" name="Chart 114"/>
          <p:cNvGraphicFramePr>
            <a:graphicFrameLocks noGrp="1"/>
          </p:cNvGraphicFramePr>
          <p:nvPr/>
        </p:nvGraphicFramePr>
        <p:xfrm>
          <a:off x="822960" y="5120640"/>
          <a:ext cx="10241280" cy="3429000"/>
        </p:xfrm>
        <a:graphic>
          <a:graphicData uri="http://schemas.openxmlformats.org/drawingml/2006/chart">
            <c:chart xmlns:c="http://schemas.openxmlformats.org/drawingml/2006/chart" r:id="rId9"/>
          </a:graphicData>
        </a:graphic>
      </p:graphicFrame>
      <p:graphicFrame>
        <p:nvGraphicFramePr>
          <p:cNvPr id="116" name="Table 115"/>
          <p:cNvGraphicFramePr>
            <a:graphicFrameLocks noGrp="1"/>
          </p:cNvGraphicFramePr>
          <p:nvPr/>
        </p:nvGraphicFramePr>
        <p:xfrm>
          <a:off x="11430000" y="1828800"/>
          <a:ext cx="6035038" cy="3200400"/>
        </p:xfrm>
        <a:graphic>
          <a:graphicData uri="http://schemas.openxmlformats.org/drawingml/2006/table">
            <a:tbl>
              <a:tblPr firstRow="1" bandRow="1">
                <a:tableStyleId>{5C22544A-7EE6-4342-B048-85BDC9FD1C3A}</a:tableStyleId>
              </a:tblPr>
              <a:tblGrid>
                <a:gridCol w="1645920"/>
                <a:gridCol w="1371599"/>
                <a:gridCol w="1371599"/>
                <a:gridCol w="1645920"/>
              </a:tblGrid>
              <a:tr h="457200">
                <a:tc>
                  <a:txBody>
                    <a:bodyPr wrap="square"/>
                    <a:lstStyle/>
                    <a:p>
                      <a:r>
                        <a:rPr sz="1440" b="1" i="0">
                          <a:solidFill>
                            <a:srgbClr val="FFFFFF"/>
                          </a:solidFill>
                          <a:latin typeface="Calibri (MS) Bold"/>
                        </a:rPr>
                        <a:t>Periode</a:t>
                      </a:r>
                    </a:p>
                  </a:txBody>
                  <a:tcPr marL="73152" marR="73152" marT="36576" marB="36576" anchor="ctr">
                    <a:solidFill>
                      <a:srgbClr val="0B5E6E"/>
                    </a:solidFill>
                  </a:tcPr>
                </a:tc>
                <a:tc>
                  <a:txBody>
                    <a:bodyPr wrap="square"/>
                    <a:lstStyle/>
                    <a:p>
                      <a:pPr algn="ctr"/>
                      <a:r>
                        <a:rPr sz="1440" b="1" i="0">
                          <a:solidFill>
                            <a:srgbClr val="FFFFFF"/>
                          </a:solidFill>
                          <a:latin typeface="Calibri (MS) Bold"/>
                        </a:rPr>
                        <a:t>Arah NTL</a:t>
                      </a:r>
                    </a:p>
                  </a:txBody>
                  <a:tcPr marL="73152" marR="73152" marT="36576" marB="36576" anchor="ctr">
                    <a:solidFill>
                      <a:srgbClr val="0B5E6E"/>
                    </a:solidFill>
                  </a:tcPr>
                </a:tc>
                <a:tc>
                  <a:txBody>
                    <a:bodyPr wrap="square"/>
                    <a:lstStyle/>
                    <a:p>
                      <a:pPr algn="ctr"/>
                      <a:r>
                        <a:rPr sz="1440" b="1" i="0">
                          <a:solidFill>
                            <a:srgbClr val="FFFFFF"/>
                          </a:solidFill>
                          <a:latin typeface="Calibri (MS) Bold"/>
                        </a:rPr>
                        <a:t>Arah ODTW</a:t>
                      </a:r>
                    </a:p>
                  </a:txBody>
                  <a:tcPr marL="73152" marR="73152" marT="36576" marB="36576" anchor="ctr">
                    <a:solidFill>
                      <a:srgbClr val="0B5E6E"/>
                    </a:solidFill>
                  </a:tcPr>
                </a:tc>
                <a:tc>
                  <a:txBody>
                    <a:bodyPr wrap="square"/>
                    <a:lstStyle/>
                    <a:p>
                      <a:pPr algn="ctr"/>
                      <a:r>
                        <a:rPr sz="1440" b="1" i="0">
                          <a:solidFill>
                            <a:srgbClr val="FFFFFF"/>
                          </a:solidFill>
                          <a:latin typeface="Calibri (MS) Bold"/>
                        </a:rPr>
                        <a:t>Sesuai?</a:t>
                      </a:r>
                    </a:p>
                  </a:txBody>
                  <a:tcPr marL="73152" marR="73152" marT="36576" marB="36576" anchor="ctr">
                    <a:solidFill>
                      <a:srgbClr val="0B5E6E"/>
                    </a:solidFill>
                  </a:tcPr>
                </a:tc>
              </a:tr>
              <a:tr h="457200">
                <a:tc>
                  <a:txBody>
                    <a:bodyPr wrap="square"/>
                    <a:lstStyle/>
                    <a:p>
                      <a:r>
                        <a:rPr sz="1440" b="1" i="0">
                          <a:solidFill>
                            <a:srgbClr val="14313B"/>
                          </a:solidFill>
                          <a:latin typeface="Calibri (MS) Bold"/>
                        </a:rPr>
                        <a:t>2018→2019</a:t>
                      </a:r>
                    </a:p>
                  </a:txBody>
                  <a:tcPr marL="73152" marR="73152" marT="36576" marB="36576" anchor="ctr">
                    <a:solidFill>
                      <a:srgbClr val="FFFFFF"/>
                    </a:solidFill>
                  </a:tcPr>
                </a:tc>
                <a:tc>
                  <a:txBody>
                    <a:bodyPr wrap="square"/>
                    <a:lstStyle/>
                    <a:p>
                      <a:pPr algn="ctr"/>
                      <a:r>
                        <a:rPr sz="1440" b="0" i="0">
                          <a:solidFill>
                            <a:srgbClr val="14313B"/>
                          </a:solidFill>
                          <a:latin typeface="Calibri (MS)"/>
                        </a:rPr>
                        <a:t>Naik</a:t>
                      </a:r>
                    </a:p>
                  </a:txBody>
                  <a:tcPr marL="73152" marR="73152" marT="36576" marB="36576" anchor="ctr">
                    <a:solidFill>
                      <a:srgbClr val="FFFFFF"/>
                    </a:solidFill>
                  </a:tcPr>
                </a:tc>
                <a:tc>
                  <a:txBody>
                    <a:bodyPr wrap="square"/>
                    <a:lstStyle/>
                    <a:p>
                      <a:pPr algn="ctr"/>
                      <a:r>
                        <a:rPr sz="1440" b="0" i="0">
                          <a:solidFill>
                            <a:srgbClr val="14313B"/>
                          </a:solidFill>
                          <a:latin typeface="Calibri (MS)"/>
                        </a:rPr>
                        <a:t>Naik</a:t>
                      </a:r>
                    </a:p>
                  </a:txBody>
                  <a:tcPr marL="73152" marR="73152" marT="36576" marB="36576" anchor="ctr">
                    <a:solidFill>
                      <a:srgbClr val="FFFFFF"/>
                    </a:solidFill>
                  </a:tcPr>
                </a:tc>
                <a:tc>
                  <a:txBody>
                    <a:bodyPr wrap="square"/>
                    <a:lstStyle/>
                    <a:p>
                      <a:pPr algn="ctr"/>
                      <a:r>
                        <a:rPr sz="1440" b="0" i="0">
                          <a:solidFill>
                            <a:srgbClr val="14313B"/>
                          </a:solidFill>
                          <a:latin typeface="Calibri (MS)"/>
                        </a:rPr>
                        <a:t>Searah</a:t>
                      </a:r>
                    </a:p>
                  </a:txBody>
                  <a:tcPr marL="73152" marR="73152" marT="36576" marB="36576" anchor="ctr">
                    <a:solidFill>
                      <a:srgbClr val="C9F0D6"/>
                    </a:solidFill>
                  </a:tcPr>
                </a:tc>
              </a:tr>
              <a:tr h="457200">
                <a:tc>
                  <a:txBody>
                    <a:bodyPr wrap="square"/>
                    <a:lstStyle/>
                    <a:p>
                      <a:r>
                        <a:rPr sz="1440" b="1" i="0">
                          <a:solidFill>
                            <a:srgbClr val="14313B"/>
                          </a:solidFill>
                          <a:latin typeface="Calibri (MS) Bold"/>
                        </a:rPr>
                        <a:t>2019→2020</a:t>
                      </a:r>
                    </a:p>
                  </a:txBody>
                  <a:tcPr marL="73152" marR="73152" marT="36576" marB="36576" anchor="ctr">
                    <a:solidFill>
                      <a:srgbClr val="EAF8FA"/>
                    </a:solidFill>
                  </a:tcPr>
                </a:tc>
                <a:tc>
                  <a:txBody>
                    <a:bodyPr wrap="square"/>
                    <a:lstStyle/>
                    <a:p>
                      <a:pPr algn="ctr"/>
                      <a:r>
                        <a:rPr sz="1440" b="0" i="0">
                          <a:solidFill>
                            <a:srgbClr val="14313B"/>
                          </a:solidFill>
                          <a:latin typeface="Calibri (MS)"/>
                        </a:rPr>
                        <a:t>Turun</a:t>
                      </a:r>
                    </a:p>
                  </a:txBody>
                  <a:tcPr marL="73152" marR="73152" marT="36576" marB="36576" anchor="ctr">
                    <a:solidFill>
                      <a:srgbClr val="EAF8FA"/>
                    </a:solidFill>
                  </a:tcPr>
                </a:tc>
                <a:tc>
                  <a:txBody>
                    <a:bodyPr wrap="square"/>
                    <a:lstStyle/>
                    <a:p>
                      <a:pPr algn="ctr"/>
                      <a:r>
                        <a:rPr sz="1440" b="0" i="0">
                          <a:solidFill>
                            <a:srgbClr val="14313B"/>
                          </a:solidFill>
                          <a:latin typeface="Calibri (MS)"/>
                        </a:rPr>
                        <a:t>Turun</a:t>
                      </a:r>
                    </a:p>
                  </a:txBody>
                  <a:tcPr marL="73152" marR="73152" marT="36576" marB="36576" anchor="ctr">
                    <a:solidFill>
                      <a:srgbClr val="EAF8FA"/>
                    </a:solidFill>
                  </a:tcPr>
                </a:tc>
                <a:tc>
                  <a:txBody>
                    <a:bodyPr wrap="square"/>
                    <a:lstStyle/>
                    <a:p>
                      <a:pPr algn="ctr"/>
                      <a:r>
                        <a:rPr sz="1440" b="0" i="0">
                          <a:solidFill>
                            <a:srgbClr val="14313B"/>
                          </a:solidFill>
                          <a:latin typeface="Calibri (MS)"/>
                        </a:rPr>
                        <a:t>Searah</a:t>
                      </a:r>
                    </a:p>
                  </a:txBody>
                  <a:tcPr marL="73152" marR="73152" marT="36576" marB="36576" anchor="ctr">
                    <a:solidFill>
                      <a:srgbClr val="C9F0D6"/>
                    </a:solidFill>
                  </a:tcPr>
                </a:tc>
              </a:tr>
              <a:tr h="457200">
                <a:tc>
                  <a:txBody>
                    <a:bodyPr wrap="square"/>
                    <a:lstStyle/>
                    <a:p>
                      <a:r>
                        <a:rPr sz="1440" b="1" i="0">
                          <a:solidFill>
                            <a:srgbClr val="14313B"/>
                          </a:solidFill>
                          <a:latin typeface="Calibri (MS) Bold"/>
                        </a:rPr>
                        <a:t>2020→2021</a:t>
                      </a:r>
                    </a:p>
                  </a:txBody>
                  <a:tcPr marL="73152" marR="73152" marT="36576" marB="36576" anchor="ctr">
                    <a:solidFill>
                      <a:srgbClr val="FFFFFF"/>
                    </a:solidFill>
                  </a:tcPr>
                </a:tc>
                <a:tc>
                  <a:txBody>
                    <a:bodyPr wrap="square"/>
                    <a:lstStyle/>
                    <a:p>
                      <a:pPr algn="ctr"/>
                      <a:r>
                        <a:rPr sz="1440" b="0" i="0">
                          <a:solidFill>
                            <a:srgbClr val="14313B"/>
                          </a:solidFill>
                          <a:latin typeface="Calibri (MS)"/>
                        </a:rPr>
                        <a:t>Turun</a:t>
                      </a:r>
                    </a:p>
                  </a:txBody>
                  <a:tcPr marL="73152" marR="73152" marT="36576" marB="36576" anchor="ctr">
                    <a:solidFill>
                      <a:srgbClr val="FFFFFF"/>
                    </a:solidFill>
                  </a:tcPr>
                </a:tc>
                <a:tc>
                  <a:txBody>
                    <a:bodyPr wrap="square"/>
                    <a:lstStyle/>
                    <a:p>
                      <a:pPr algn="ctr"/>
                      <a:r>
                        <a:rPr sz="1440" b="0" i="0">
                          <a:solidFill>
                            <a:srgbClr val="14313B"/>
                          </a:solidFill>
                          <a:latin typeface="Calibri (MS)"/>
                        </a:rPr>
                        <a:t>Turun</a:t>
                      </a:r>
                    </a:p>
                  </a:txBody>
                  <a:tcPr marL="73152" marR="73152" marT="36576" marB="36576" anchor="ctr">
                    <a:solidFill>
                      <a:srgbClr val="FFFFFF"/>
                    </a:solidFill>
                  </a:tcPr>
                </a:tc>
                <a:tc>
                  <a:txBody>
                    <a:bodyPr wrap="square"/>
                    <a:lstStyle/>
                    <a:p>
                      <a:pPr algn="ctr"/>
                      <a:r>
                        <a:rPr sz="1440" b="0" i="0">
                          <a:solidFill>
                            <a:srgbClr val="14313B"/>
                          </a:solidFill>
                          <a:latin typeface="Calibri (MS)"/>
                        </a:rPr>
                        <a:t>Searah</a:t>
                      </a:r>
                    </a:p>
                  </a:txBody>
                  <a:tcPr marL="73152" marR="73152" marT="36576" marB="36576" anchor="ctr">
                    <a:solidFill>
                      <a:srgbClr val="C9F0D6"/>
                    </a:solidFill>
                  </a:tcPr>
                </a:tc>
              </a:tr>
              <a:tr h="457200">
                <a:tc>
                  <a:txBody>
                    <a:bodyPr wrap="square"/>
                    <a:lstStyle/>
                    <a:p>
                      <a:r>
                        <a:rPr sz="1440" b="1" i="0">
                          <a:solidFill>
                            <a:srgbClr val="14313B"/>
                          </a:solidFill>
                          <a:latin typeface="Calibri (MS) Bold"/>
                        </a:rPr>
                        <a:t>2021→2022</a:t>
                      </a:r>
                    </a:p>
                  </a:txBody>
                  <a:tcPr marL="73152" marR="73152" marT="36576" marB="36576" anchor="ctr">
                    <a:solidFill>
                      <a:srgbClr val="EAF8FA"/>
                    </a:solidFill>
                  </a:tcPr>
                </a:tc>
                <a:tc>
                  <a:txBody>
                    <a:bodyPr wrap="square"/>
                    <a:lstStyle/>
                    <a:p>
                      <a:pPr algn="ctr"/>
                      <a:r>
                        <a:rPr sz="1440" b="0" i="0">
                          <a:solidFill>
                            <a:srgbClr val="14313B"/>
                          </a:solidFill>
                          <a:latin typeface="Calibri (MS)"/>
                        </a:rPr>
                        <a:t>Turun</a:t>
                      </a:r>
                    </a:p>
                  </a:txBody>
                  <a:tcPr marL="73152" marR="73152" marT="36576" marB="36576" anchor="ctr">
                    <a:solidFill>
                      <a:srgbClr val="EAF8FA"/>
                    </a:solidFill>
                  </a:tcPr>
                </a:tc>
                <a:tc>
                  <a:txBody>
                    <a:bodyPr wrap="square"/>
                    <a:lstStyle/>
                    <a:p>
                      <a:pPr algn="ctr"/>
                      <a:r>
                        <a:rPr sz="1440" b="0" i="0">
                          <a:solidFill>
                            <a:srgbClr val="14313B"/>
                          </a:solidFill>
                          <a:latin typeface="Calibri (MS)"/>
                        </a:rPr>
                        <a:t>Naik</a:t>
                      </a:r>
                    </a:p>
                  </a:txBody>
                  <a:tcPr marL="73152" marR="73152" marT="36576" marB="36576" anchor="ctr">
                    <a:solidFill>
                      <a:srgbClr val="EAF8FA"/>
                    </a:solidFill>
                  </a:tcPr>
                </a:tc>
                <a:tc>
                  <a:txBody>
                    <a:bodyPr wrap="square"/>
                    <a:lstStyle/>
                    <a:p>
                      <a:pPr algn="ctr"/>
                      <a:r>
                        <a:rPr sz="1440" b="0" i="0">
                          <a:solidFill>
                            <a:srgbClr val="14313B"/>
                          </a:solidFill>
                          <a:latin typeface="Calibri (MS)"/>
                        </a:rPr>
                        <a:t>Tidak searah</a:t>
                      </a:r>
                    </a:p>
                  </a:txBody>
                  <a:tcPr marL="73152" marR="73152" marT="36576" marB="36576" anchor="ctr">
                    <a:solidFill>
                      <a:srgbClr val="FDE2DE"/>
                    </a:solidFill>
                  </a:tcPr>
                </a:tc>
              </a:tr>
              <a:tr h="457200">
                <a:tc>
                  <a:txBody>
                    <a:bodyPr wrap="square"/>
                    <a:lstStyle/>
                    <a:p>
                      <a:r>
                        <a:rPr sz="1440" b="1" i="0">
                          <a:solidFill>
                            <a:srgbClr val="14313B"/>
                          </a:solidFill>
                          <a:latin typeface="Calibri (MS) Bold"/>
                        </a:rPr>
                        <a:t>2022→2023</a:t>
                      </a:r>
                    </a:p>
                  </a:txBody>
                  <a:tcPr marL="73152" marR="73152" marT="36576" marB="36576" anchor="ctr">
                    <a:solidFill>
                      <a:srgbClr val="FFFFFF"/>
                    </a:solidFill>
                  </a:tcPr>
                </a:tc>
                <a:tc>
                  <a:txBody>
                    <a:bodyPr wrap="square"/>
                    <a:lstStyle/>
                    <a:p>
                      <a:pPr algn="ctr"/>
                      <a:r>
                        <a:rPr sz="1440" b="0" i="0">
                          <a:solidFill>
                            <a:srgbClr val="14313B"/>
                          </a:solidFill>
                          <a:latin typeface="Calibri (MS)"/>
                        </a:rPr>
                        <a:t>Naik</a:t>
                      </a:r>
                    </a:p>
                  </a:txBody>
                  <a:tcPr marL="73152" marR="73152" marT="36576" marB="36576" anchor="ctr">
                    <a:solidFill>
                      <a:srgbClr val="FFFFFF"/>
                    </a:solidFill>
                  </a:tcPr>
                </a:tc>
                <a:tc>
                  <a:txBody>
                    <a:bodyPr wrap="square"/>
                    <a:lstStyle/>
                    <a:p>
                      <a:pPr algn="ctr"/>
                      <a:r>
                        <a:rPr sz="1440" b="0" i="0">
                          <a:solidFill>
                            <a:srgbClr val="14313B"/>
                          </a:solidFill>
                          <a:latin typeface="Calibri (MS)"/>
                        </a:rPr>
                        <a:t>Naik</a:t>
                      </a:r>
                    </a:p>
                  </a:txBody>
                  <a:tcPr marL="73152" marR="73152" marT="36576" marB="36576" anchor="ctr">
                    <a:solidFill>
                      <a:srgbClr val="FFFFFF"/>
                    </a:solidFill>
                  </a:tcPr>
                </a:tc>
                <a:tc>
                  <a:txBody>
                    <a:bodyPr wrap="square"/>
                    <a:lstStyle/>
                    <a:p>
                      <a:pPr algn="ctr"/>
                      <a:r>
                        <a:rPr sz="1440" b="0" i="0">
                          <a:solidFill>
                            <a:srgbClr val="14313B"/>
                          </a:solidFill>
                          <a:latin typeface="Calibri (MS)"/>
                        </a:rPr>
                        <a:t>Searah</a:t>
                      </a:r>
                    </a:p>
                  </a:txBody>
                  <a:tcPr marL="73152" marR="73152" marT="36576" marB="36576" anchor="ctr">
                    <a:solidFill>
                      <a:srgbClr val="C9F0D6"/>
                    </a:solidFill>
                  </a:tcPr>
                </a:tc>
              </a:tr>
              <a:tr h="457200">
                <a:tc>
                  <a:txBody>
                    <a:bodyPr wrap="square"/>
                    <a:lstStyle/>
                    <a:p>
                      <a:r>
                        <a:rPr sz="1440" b="1" i="0">
                          <a:solidFill>
                            <a:srgbClr val="14313B"/>
                          </a:solidFill>
                          <a:latin typeface="Calibri (MS) Bold"/>
                        </a:rPr>
                        <a:t>2023→2024</a:t>
                      </a:r>
                    </a:p>
                  </a:txBody>
                  <a:tcPr marL="73152" marR="73152" marT="36576" marB="36576" anchor="ctr">
                    <a:solidFill>
                      <a:srgbClr val="EAF8FA"/>
                    </a:solidFill>
                  </a:tcPr>
                </a:tc>
                <a:tc>
                  <a:txBody>
                    <a:bodyPr wrap="square"/>
                    <a:lstStyle/>
                    <a:p>
                      <a:pPr algn="ctr"/>
                      <a:r>
                        <a:rPr sz="1440" b="0" i="0">
                          <a:solidFill>
                            <a:srgbClr val="14313B"/>
                          </a:solidFill>
                          <a:latin typeface="Calibri (MS)"/>
                        </a:rPr>
                        <a:t>Turun</a:t>
                      </a:r>
                    </a:p>
                  </a:txBody>
                  <a:tcPr marL="73152" marR="73152" marT="36576" marB="36576" anchor="ctr">
                    <a:solidFill>
                      <a:srgbClr val="EAF8FA"/>
                    </a:solidFill>
                  </a:tcPr>
                </a:tc>
                <a:tc>
                  <a:txBody>
                    <a:bodyPr wrap="square"/>
                    <a:lstStyle/>
                    <a:p>
                      <a:pPr algn="ctr"/>
                      <a:r>
                        <a:rPr sz="1440" b="0" i="0">
                          <a:solidFill>
                            <a:srgbClr val="14313B"/>
                          </a:solidFill>
                          <a:latin typeface="Calibri (MS)"/>
                        </a:rPr>
                        <a:t>Naik</a:t>
                      </a:r>
                    </a:p>
                  </a:txBody>
                  <a:tcPr marL="73152" marR="73152" marT="36576" marB="36576" anchor="ctr">
                    <a:solidFill>
                      <a:srgbClr val="EAF8FA"/>
                    </a:solidFill>
                  </a:tcPr>
                </a:tc>
                <a:tc>
                  <a:txBody>
                    <a:bodyPr wrap="square"/>
                    <a:lstStyle/>
                    <a:p>
                      <a:pPr algn="ctr"/>
                      <a:r>
                        <a:rPr sz="1440" b="0" i="0">
                          <a:solidFill>
                            <a:srgbClr val="14313B"/>
                          </a:solidFill>
                          <a:latin typeface="Calibri (MS)"/>
                        </a:rPr>
                        <a:t>Tidak searah</a:t>
                      </a:r>
                    </a:p>
                  </a:txBody>
                  <a:tcPr marL="73152" marR="73152" marT="36576" marB="36576" anchor="ctr">
                    <a:solidFill>
                      <a:srgbClr val="FDE2DE"/>
                    </a:solidFill>
                  </a:tcPr>
                </a:tc>
              </a:tr>
            </a:tbl>
          </a:graphicData>
        </a:graphic>
      </p:graphicFrame>
      <p:sp>
        <p:nvSpPr>
          <p:cNvPr id="117" name="Rounded Rectangle 116"/>
          <p:cNvSpPr/>
          <p:nvPr/>
        </p:nvSpPr>
        <p:spPr>
          <a:xfrm>
            <a:off x="11430000" y="5257800"/>
            <a:ext cx="6035040" cy="15087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4 dari 6 periode searah</a:t>
            </a:r>
          </a:p>
          <a:p>
            <a:pPr algn="l">
              <a:spcAft>
                <a:spcPts val="300"/>
              </a:spcAft>
            </a:pPr>
            <a:r>
              <a:rPr sz="1380" b="0" i="0">
                <a:solidFill>
                  <a:srgbClr val="14313B"/>
                </a:solidFill>
                <a:latin typeface="Calibri (MS)"/>
              </a:rPr>
              <a:t>Naik bersama pada 2019 dan melonjak bersama pada 2023.</a:t>
            </a:r>
          </a:p>
        </p:txBody>
      </p:sp>
      <p:sp>
        <p:nvSpPr>
          <p:cNvPr id="118" name="Rounded Rectangle 117"/>
          <p:cNvSpPr/>
          <p:nvPr/>
        </p:nvSpPr>
        <p:spPr>
          <a:xfrm>
            <a:off x="11430000" y="6903720"/>
            <a:ext cx="6035040" cy="16459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10" b="1" i="0">
                <a:solidFill>
                  <a:srgbClr val="0B5E6E"/>
                </a:solidFill>
                <a:latin typeface="Calibri (MS) Bold"/>
              </a:rPr>
              <a:t>Tidak searah: 2021–2022 dan 2023–2024</a:t>
            </a:r>
          </a:p>
          <a:p>
            <a:pPr algn="l">
              <a:spcAft>
                <a:spcPts val="300"/>
              </a:spcAft>
            </a:pPr>
            <a:r>
              <a:rPr sz="1380" b="0" i="0">
                <a:solidFill>
                  <a:srgbClr val="14313B"/>
                </a:solidFill>
                <a:latin typeface="Calibri (MS)"/>
              </a:rPr>
              <a:t>Sama dengan tahun error LOOCV terbesar (2022 −8,2%; 2024 −8,9%). Tahun estimasi (kuning) bukan bukti karena nilainya berasal dari NTL.</a:t>
            </a:r>
          </a:p>
        </p:txBody>
      </p:sp>
      <p:sp>
        <p:nvSpPr>
          <p:cNvPr id="119" name="TextBox 118"/>
          <p:cNvSpPr txBox="1"/>
          <p:nvPr/>
        </p:nvSpPr>
        <p:spPr>
          <a:xfrm>
            <a:off x="822960" y="87325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3.5.1 dan 4.2.1, Gambar 11; repository NTL_DIY_2015_2025.csv dan ODTW_DIY_2015_2025_Final.csv. Arah dihitung dari selisih tahunan.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Jumlah ODTW — Validasi Spasial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NTL tinggi di kawasan padat dan rendah di kawasan minim aktivitas</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pic>
        <p:nvPicPr>
          <p:cNvPr id="70" name="Picture 69" descr="Gambar_Validasi_Spasial_NTL_DIY_2025.png"/>
          <p:cNvPicPr>
            <a:picLocks noChangeAspect="1"/>
          </p:cNvPicPr>
          <p:nvPr/>
        </p:nvPicPr>
        <p:blipFill>
          <a:blip r:embed="rId8"/>
          <a:stretch>
            <a:fillRect/>
          </a:stretch>
        </p:blipFill>
        <p:spPr>
          <a:xfrm>
            <a:off x="822960" y="1831286"/>
            <a:ext cx="8503920" cy="6487267"/>
          </a:xfrm>
          <a:prstGeom prst="rect">
            <a:avLst/>
          </a:prstGeom>
        </p:spPr>
      </p:pic>
      <p:graphicFrame>
        <p:nvGraphicFramePr>
          <p:cNvPr id="71" name="Table 70"/>
          <p:cNvGraphicFramePr>
            <a:graphicFrameLocks noGrp="1"/>
          </p:cNvGraphicFramePr>
          <p:nvPr/>
        </p:nvGraphicFramePr>
        <p:xfrm>
          <a:off x="9601200" y="1783080"/>
          <a:ext cx="7863836" cy="3401568"/>
        </p:xfrm>
        <a:graphic>
          <a:graphicData uri="http://schemas.openxmlformats.org/drawingml/2006/table">
            <a:tbl>
              <a:tblPr firstRow="1" bandRow="1">
                <a:tableStyleId>{5C22544A-7EE6-4342-B048-85BDC9FD1C3A}</a:tableStyleId>
              </a:tblPr>
              <a:tblGrid>
                <a:gridCol w="2377439"/>
                <a:gridCol w="2377439"/>
                <a:gridCol w="1097279"/>
                <a:gridCol w="2011679"/>
              </a:tblGrid>
              <a:tr h="566928">
                <a:tc>
                  <a:txBody>
                    <a:bodyPr wrap="square"/>
                    <a:lstStyle/>
                    <a:p>
                      <a:r>
                        <a:rPr sz="1380" b="1" i="0">
                          <a:solidFill>
                            <a:srgbClr val="FFFFFF"/>
                          </a:solidFill>
                          <a:latin typeface="Calibri (MS) Bold"/>
                        </a:rPr>
                        <a:t>Titik sampel (radius 300 m)</a:t>
                      </a:r>
                    </a:p>
                  </a:txBody>
                  <a:tcPr marL="73152" marR="73152" marT="36576" marB="36576" anchor="ctr">
                    <a:solidFill>
                      <a:srgbClr val="0B5E6E"/>
                    </a:solidFill>
                  </a:tcPr>
                </a:tc>
                <a:tc>
                  <a:txBody>
                    <a:bodyPr wrap="square"/>
                    <a:lstStyle/>
                    <a:p>
                      <a:r>
                        <a:rPr sz="1380" b="1" i="0">
                          <a:solidFill>
                            <a:srgbClr val="FFFFFF"/>
                          </a:solidFill>
                          <a:latin typeface="Calibri (MS) Bold"/>
                        </a:rPr>
                        <a:t>Karakteristik</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NTL 2025</a:t>
                      </a:r>
                    </a:p>
                  </a:txBody>
                  <a:tcPr marL="73152" marR="73152" marT="36576" marB="36576" anchor="ctr">
                    <a:solidFill>
                      <a:srgbClr val="0B5E6E"/>
                    </a:solidFill>
                  </a:tcPr>
                </a:tc>
                <a:tc>
                  <a:txBody>
                    <a:bodyPr wrap="square"/>
                    <a:lstStyle/>
                    <a:p>
                      <a:r>
                        <a:rPr sz="1380" b="1" i="0">
                          <a:solidFill>
                            <a:srgbClr val="FFFFFF"/>
                          </a:solidFill>
                          <a:latin typeface="Calibri (MS) Bold"/>
                        </a:rPr>
                        <a:t>Sesuai harapan?</a:t>
                      </a:r>
                    </a:p>
                  </a:txBody>
                  <a:tcPr marL="73152" marR="73152" marT="36576" marB="36576" anchor="ctr">
                    <a:solidFill>
                      <a:srgbClr val="0B5E6E"/>
                    </a:solidFill>
                  </a:tcPr>
                </a:tc>
              </a:tr>
              <a:tr h="566928">
                <a:tc>
                  <a:txBody>
                    <a:bodyPr wrap="square"/>
                    <a:lstStyle/>
                    <a:p>
                      <a:r>
                        <a:rPr sz="1380" b="1" i="0">
                          <a:solidFill>
                            <a:srgbClr val="14313B"/>
                          </a:solidFill>
                          <a:latin typeface="Calibri (MS) Bold"/>
                        </a:rPr>
                        <a:t>Malioboro–Keraton</a:t>
                      </a:r>
                    </a:p>
                  </a:txBody>
                  <a:tcPr marL="73152" marR="73152" marT="36576" marB="36576" anchor="ctr">
                    <a:solidFill>
                      <a:srgbClr val="FFFFFF"/>
                    </a:solidFill>
                  </a:tcPr>
                </a:tc>
                <a:tc>
                  <a:txBody>
                    <a:bodyPr wrap="square"/>
                    <a:lstStyle/>
                    <a:p>
                      <a:r>
                        <a:rPr sz="1380" b="0" i="0">
                          <a:solidFill>
                            <a:srgbClr val="14313B"/>
                          </a:solidFill>
                          <a:latin typeface="Calibri (MS)"/>
                        </a:rPr>
                        <a:t>Wisata, perkotaan padat</a:t>
                      </a:r>
                    </a:p>
                  </a:txBody>
                  <a:tcPr marL="73152" marR="73152" marT="36576" marB="36576" anchor="ctr">
                    <a:solidFill>
                      <a:srgbClr val="FFFFFF"/>
                    </a:solidFill>
                  </a:tcPr>
                </a:tc>
                <a:tc>
                  <a:txBody>
                    <a:bodyPr wrap="square"/>
                    <a:lstStyle/>
                    <a:p>
                      <a:pPr algn="ctr"/>
                      <a:r>
                        <a:rPr sz="1380" b="0" i="0">
                          <a:solidFill>
                            <a:srgbClr val="14313B"/>
                          </a:solidFill>
                          <a:latin typeface="Calibri (MS)"/>
                        </a:rPr>
                        <a:t>37,376</a:t>
                      </a:r>
                    </a:p>
                  </a:txBody>
                  <a:tcPr marL="73152" marR="73152" marT="36576" marB="36576" anchor="ctr">
                    <a:solidFill>
                      <a:srgbClr val="FFFFFF"/>
                    </a:solidFill>
                  </a:tcPr>
                </a:tc>
                <a:tc>
                  <a:txBody>
                    <a:bodyPr wrap="square"/>
                    <a:lstStyle/>
                    <a:p>
                      <a:r>
                        <a:rPr sz="1380" b="0" i="0">
                          <a:solidFill>
                            <a:srgbClr val="14313B"/>
                          </a:solidFill>
                          <a:latin typeface="Calibri (MS)"/>
                        </a:rPr>
                        <a:t>Ya, tertinggi</a:t>
                      </a:r>
                    </a:p>
                  </a:txBody>
                  <a:tcPr marL="73152" marR="73152" marT="36576" marB="36576" anchor="ctr">
                    <a:solidFill>
                      <a:srgbClr val="C9F0D6"/>
                    </a:solidFill>
                  </a:tcPr>
                </a:tc>
              </a:tr>
              <a:tr h="566928">
                <a:tc>
                  <a:txBody>
                    <a:bodyPr wrap="square"/>
                    <a:lstStyle/>
                    <a:p>
                      <a:r>
                        <a:rPr sz="1380" b="1" i="0">
                          <a:solidFill>
                            <a:srgbClr val="14313B"/>
                          </a:solidFill>
                          <a:latin typeface="Calibri (MS) Bold"/>
                        </a:rPr>
                        <a:t>Kotagede</a:t>
                      </a:r>
                    </a:p>
                  </a:txBody>
                  <a:tcPr marL="73152" marR="73152" marT="36576" marB="36576" anchor="ctr">
                    <a:solidFill>
                      <a:srgbClr val="EAF8FA"/>
                    </a:solidFill>
                  </a:tcPr>
                </a:tc>
                <a:tc>
                  <a:txBody>
                    <a:bodyPr wrap="square"/>
                    <a:lstStyle/>
                    <a:p>
                      <a:r>
                        <a:rPr sz="1380" b="0" i="0">
                          <a:solidFill>
                            <a:srgbClr val="14313B"/>
                          </a:solidFill>
                          <a:latin typeface="Calibri (MS)"/>
                        </a:rPr>
                        <a:t>Permukiman padat</a:t>
                      </a:r>
                    </a:p>
                  </a:txBody>
                  <a:tcPr marL="73152" marR="73152" marT="36576" marB="36576" anchor="ctr">
                    <a:solidFill>
                      <a:srgbClr val="EAF8FA"/>
                    </a:solidFill>
                  </a:tcPr>
                </a:tc>
                <a:tc>
                  <a:txBody>
                    <a:bodyPr wrap="square"/>
                    <a:lstStyle/>
                    <a:p>
                      <a:pPr algn="ctr"/>
                      <a:r>
                        <a:rPr sz="1380" b="0" i="0">
                          <a:solidFill>
                            <a:srgbClr val="14313B"/>
                          </a:solidFill>
                          <a:latin typeface="Calibri (MS)"/>
                        </a:rPr>
                        <a:t>12,631</a:t>
                      </a:r>
                    </a:p>
                  </a:txBody>
                  <a:tcPr marL="73152" marR="73152" marT="36576" marB="36576" anchor="ctr">
                    <a:solidFill>
                      <a:srgbClr val="EAF8FA"/>
                    </a:solidFill>
                  </a:tcPr>
                </a:tc>
                <a:tc>
                  <a:txBody>
                    <a:bodyPr wrap="square"/>
                    <a:lstStyle/>
                    <a:p>
                      <a:r>
                        <a:rPr sz="1380" b="0" i="0">
                          <a:solidFill>
                            <a:srgbClr val="14313B"/>
                          </a:solidFill>
                          <a:latin typeface="Calibri (MS)"/>
                        </a:rPr>
                        <a:t>Ya</a:t>
                      </a:r>
                    </a:p>
                  </a:txBody>
                  <a:tcPr marL="73152" marR="73152" marT="36576" marB="36576" anchor="ctr">
                    <a:solidFill>
                      <a:srgbClr val="C9F0D6"/>
                    </a:solidFill>
                  </a:tcPr>
                </a:tc>
              </a:tr>
              <a:tr h="566928">
                <a:tc>
                  <a:txBody>
                    <a:bodyPr wrap="square"/>
                    <a:lstStyle/>
                    <a:p>
                      <a:r>
                        <a:rPr sz="1380" b="1" i="0">
                          <a:solidFill>
                            <a:srgbClr val="14313B"/>
                          </a:solidFill>
                          <a:latin typeface="Calibri (MS) Bold"/>
                        </a:rPr>
                        <a:t>Pantai Baron</a:t>
                      </a:r>
                    </a:p>
                  </a:txBody>
                  <a:tcPr marL="73152" marR="73152" marT="36576" marB="36576" anchor="ctr">
                    <a:solidFill>
                      <a:srgbClr val="FFFFFF"/>
                    </a:solidFill>
                  </a:tcPr>
                </a:tc>
                <a:tc>
                  <a:txBody>
                    <a:bodyPr wrap="square"/>
                    <a:lstStyle/>
                    <a:p>
                      <a:r>
                        <a:rPr sz="1380" b="0" i="0">
                          <a:solidFill>
                            <a:srgbClr val="14313B"/>
                          </a:solidFill>
                          <a:latin typeface="Calibri (MS)"/>
                        </a:rPr>
                        <a:t>Wisata pantai, bangunan jarang</a:t>
                      </a:r>
                    </a:p>
                  </a:txBody>
                  <a:tcPr marL="73152" marR="73152" marT="36576" marB="36576" anchor="ctr">
                    <a:solidFill>
                      <a:srgbClr val="FFFFFF"/>
                    </a:solidFill>
                  </a:tcPr>
                </a:tc>
                <a:tc>
                  <a:txBody>
                    <a:bodyPr wrap="square"/>
                    <a:lstStyle/>
                    <a:p>
                      <a:pPr algn="ctr"/>
                      <a:r>
                        <a:rPr sz="1380" b="0" i="0">
                          <a:solidFill>
                            <a:srgbClr val="14313B"/>
                          </a:solidFill>
                          <a:latin typeface="Calibri (MS)"/>
                        </a:rPr>
                        <a:t>1,692</a:t>
                      </a:r>
                    </a:p>
                  </a:txBody>
                  <a:tcPr marL="73152" marR="73152" marT="36576" marB="36576" anchor="ctr">
                    <a:solidFill>
                      <a:srgbClr val="FFFFFF"/>
                    </a:solidFill>
                  </a:tcPr>
                </a:tc>
                <a:tc>
                  <a:txBody>
                    <a:bodyPr wrap="square"/>
                    <a:lstStyle/>
                    <a:p>
                      <a:r>
                        <a:rPr sz="1380" b="0" i="0">
                          <a:solidFill>
                            <a:srgbClr val="14313B"/>
                          </a:solidFill>
                          <a:latin typeface="Calibri (MS)"/>
                        </a:rPr>
                        <a:t>Ya, rendah</a:t>
                      </a:r>
                    </a:p>
                  </a:txBody>
                  <a:tcPr marL="73152" marR="73152" marT="36576" marB="36576" anchor="ctr">
                    <a:solidFill>
                      <a:srgbClr val="C9F0D6"/>
                    </a:solidFill>
                  </a:tcPr>
                </a:tc>
              </a:tr>
              <a:tr h="566928">
                <a:tc>
                  <a:txBody>
                    <a:bodyPr wrap="square"/>
                    <a:lstStyle/>
                    <a:p>
                      <a:r>
                        <a:rPr sz="1380" b="1" i="0">
                          <a:solidFill>
                            <a:srgbClr val="14313B"/>
                          </a:solidFill>
                          <a:latin typeface="Calibri (MS) Bold"/>
                        </a:rPr>
                        <a:t>Kawasan Industri Sentolo</a:t>
                      </a:r>
                    </a:p>
                  </a:txBody>
                  <a:tcPr marL="73152" marR="73152" marT="36576" marB="36576" anchor="ctr">
                    <a:solidFill>
                      <a:srgbClr val="EAF8FA"/>
                    </a:solidFill>
                  </a:tcPr>
                </a:tc>
                <a:tc>
                  <a:txBody>
                    <a:bodyPr wrap="square"/>
                    <a:lstStyle/>
                    <a:p>
                      <a:r>
                        <a:rPr sz="1380" b="0" i="0">
                          <a:solidFill>
                            <a:srgbClr val="14313B"/>
                          </a:solidFill>
                          <a:latin typeface="Calibri (MS)"/>
                        </a:rPr>
                        <a:t>Industri tahap awal</a:t>
                      </a:r>
                    </a:p>
                  </a:txBody>
                  <a:tcPr marL="73152" marR="73152" marT="36576" marB="36576" anchor="ctr">
                    <a:solidFill>
                      <a:srgbClr val="EAF8FA"/>
                    </a:solidFill>
                  </a:tcPr>
                </a:tc>
                <a:tc>
                  <a:txBody>
                    <a:bodyPr wrap="square"/>
                    <a:lstStyle/>
                    <a:p>
                      <a:pPr algn="ctr"/>
                      <a:r>
                        <a:rPr sz="1380" b="0" i="0">
                          <a:solidFill>
                            <a:srgbClr val="14313B"/>
                          </a:solidFill>
                          <a:latin typeface="Calibri (MS)"/>
                        </a:rPr>
                        <a:t>1,161</a:t>
                      </a:r>
                    </a:p>
                  </a:txBody>
                  <a:tcPr marL="73152" marR="73152" marT="36576" marB="36576" anchor="ctr">
                    <a:solidFill>
                      <a:srgbClr val="EAF8FA"/>
                    </a:solidFill>
                  </a:tcPr>
                </a:tc>
                <a:tc>
                  <a:txBody>
                    <a:bodyPr wrap="square"/>
                    <a:lstStyle/>
                    <a:p>
                      <a:r>
                        <a:rPr sz="1380" b="0" i="0">
                          <a:solidFill>
                            <a:srgbClr val="14313B"/>
                          </a:solidFill>
                          <a:latin typeface="Calibri (MS)"/>
                        </a:rPr>
                        <a:t>Kurang (lebih rendah dari Baron)</a:t>
                      </a:r>
                    </a:p>
                  </a:txBody>
                  <a:tcPr marL="73152" marR="73152" marT="36576" marB="36576" anchor="ctr">
                    <a:solidFill>
                      <a:srgbClr val="FFF1BF"/>
                    </a:solidFill>
                  </a:tcPr>
                </a:tc>
              </a:tr>
              <a:tr h="566928">
                <a:tc>
                  <a:txBody>
                    <a:bodyPr wrap="square"/>
                    <a:lstStyle/>
                    <a:p>
                      <a:r>
                        <a:rPr sz="1380" b="1" i="0">
                          <a:solidFill>
                            <a:srgbClr val="14313B"/>
                          </a:solidFill>
                          <a:latin typeface="Calibri (MS) Bold"/>
                        </a:rPr>
                        <a:t>TN Gunung Merapi</a:t>
                      </a:r>
                    </a:p>
                  </a:txBody>
                  <a:tcPr marL="73152" marR="73152" marT="36576" marB="36576" anchor="ctr">
                    <a:solidFill>
                      <a:srgbClr val="FFFFFF"/>
                    </a:solidFill>
                  </a:tcPr>
                </a:tc>
                <a:tc>
                  <a:txBody>
                    <a:bodyPr wrap="square"/>
                    <a:lstStyle/>
                    <a:p>
                      <a:r>
                        <a:rPr sz="1380" b="0" i="0">
                          <a:solidFill>
                            <a:srgbClr val="14313B"/>
                          </a:solidFill>
                          <a:latin typeface="Calibri (MS)"/>
                        </a:rPr>
                        <a:t>Hutan, minim aktivitas</a:t>
                      </a:r>
                    </a:p>
                  </a:txBody>
                  <a:tcPr marL="73152" marR="73152" marT="36576" marB="36576" anchor="ctr">
                    <a:solidFill>
                      <a:srgbClr val="FFFFFF"/>
                    </a:solidFill>
                  </a:tcPr>
                </a:tc>
                <a:tc>
                  <a:txBody>
                    <a:bodyPr wrap="square"/>
                    <a:lstStyle/>
                    <a:p>
                      <a:pPr algn="ctr"/>
                      <a:r>
                        <a:rPr sz="1380" b="0" i="0">
                          <a:solidFill>
                            <a:srgbClr val="14313B"/>
                          </a:solidFill>
                          <a:latin typeface="Calibri (MS)"/>
                        </a:rPr>
                        <a:t>0,959</a:t>
                      </a:r>
                    </a:p>
                  </a:txBody>
                  <a:tcPr marL="73152" marR="73152" marT="36576" marB="36576" anchor="ctr">
                    <a:solidFill>
                      <a:srgbClr val="FFFFFF"/>
                    </a:solidFill>
                  </a:tcPr>
                </a:tc>
                <a:tc>
                  <a:txBody>
                    <a:bodyPr wrap="square"/>
                    <a:lstStyle/>
                    <a:p>
                      <a:r>
                        <a:rPr sz="1380" b="0" i="0">
                          <a:solidFill>
                            <a:srgbClr val="14313B"/>
                          </a:solidFill>
                          <a:latin typeface="Calibri (MS)"/>
                        </a:rPr>
                        <a:t>Ya, terendah</a:t>
                      </a:r>
                    </a:p>
                  </a:txBody>
                  <a:tcPr marL="73152" marR="73152" marT="36576" marB="36576" anchor="ctr">
                    <a:solidFill>
                      <a:srgbClr val="C9F0D6"/>
                    </a:solidFill>
                  </a:tcPr>
                </a:tc>
              </a:tr>
            </a:tbl>
          </a:graphicData>
        </a:graphic>
      </p:graphicFrame>
      <p:sp>
        <p:nvSpPr>
          <p:cNvPr id="72" name="Rounded Rectangle 71"/>
          <p:cNvSpPr/>
          <p:nvPr/>
        </p:nvSpPr>
        <p:spPr>
          <a:xfrm>
            <a:off x="9601200" y="5349240"/>
            <a:ext cx="7863840" cy="1051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1" i="0">
                <a:solidFill>
                  <a:srgbClr val="0B5E6E"/>
                </a:solidFill>
                <a:latin typeface="Calibri (MS) Bold"/>
              </a:rPr>
              <a:t>Cara</a:t>
            </a:r>
          </a:p>
          <a:p>
            <a:pPr algn="l">
              <a:spcAft>
                <a:spcPts val="300"/>
              </a:spcAft>
            </a:pPr>
            <a:r>
              <a:rPr sz="1380" b="0" i="0">
                <a:solidFill>
                  <a:srgbClr val="14313B"/>
                </a:solidFill>
                <a:latin typeface="Calibri (MS)"/>
              </a:rPr>
              <a:t>Nilai NTL 2025 di lima titik dibandingkan dengan kondisi lapangan pada citra dasar (basemap) Google Earth Engine.</a:t>
            </a:r>
          </a:p>
        </p:txBody>
      </p:sp>
      <p:sp>
        <p:nvSpPr>
          <p:cNvPr id="73" name="Rounded Rectangle 72"/>
          <p:cNvSpPr/>
          <p:nvPr/>
        </p:nvSpPr>
        <p:spPr>
          <a:xfrm>
            <a:off x="9601200" y="6537960"/>
            <a:ext cx="7863840" cy="914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1" i="0">
                <a:solidFill>
                  <a:srgbClr val="0B5E6E"/>
                </a:solidFill>
                <a:latin typeface="Calibri (MS) Bold"/>
              </a:rPr>
              <a:t>Hasil</a:t>
            </a:r>
          </a:p>
          <a:p>
            <a:pPr algn="l">
              <a:spcAft>
                <a:spcPts val="300"/>
              </a:spcAft>
            </a:pPr>
            <a:r>
              <a:rPr sz="1380" b="0" i="0">
                <a:solidFill>
                  <a:srgbClr val="14313B"/>
                </a:solidFill>
                <a:latin typeface="Calibri (MS)"/>
              </a:rPr>
              <a:t>Kawasan padat jauh lebih terang (37,4 dan 12,6) daripada kawasan hutan (0,96).</a:t>
            </a:r>
          </a:p>
        </p:txBody>
      </p:sp>
      <p:sp>
        <p:nvSpPr>
          <p:cNvPr id="74" name="Rounded Rectangle 73"/>
          <p:cNvSpPr/>
          <p:nvPr/>
        </p:nvSpPr>
        <p:spPr>
          <a:xfrm>
            <a:off x="9601200" y="7589520"/>
            <a:ext cx="786384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1" i="0">
                <a:solidFill>
                  <a:srgbClr val="0B5E6E"/>
                </a:solidFill>
                <a:latin typeface="Calibri (MS) Bold"/>
              </a:rPr>
              <a:t>Keterbatasan</a:t>
            </a:r>
          </a:p>
          <a:p>
            <a:pPr algn="l">
              <a:spcAft>
                <a:spcPts val="300"/>
              </a:spcAft>
            </a:pPr>
            <a:r>
              <a:rPr sz="1380" b="0" i="0">
                <a:solidFill>
                  <a:srgbClr val="14313B"/>
                </a:solidFill>
                <a:latin typeface="Calibri (MS)"/>
              </a:rPr>
              <a:t>NTL kurang tajam membedakan industri tahap awal dan wisata skala kecil (Sentolo 1,16 vs Baron 1,69).</a:t>
            </a:r>
          </a:p>
        </p:txBody>
      </p:sp>
      <p:sp>
        <p:nvSpPr>
          <p:cNvPr id="75" name="TextBox 74"/>
          <p:cNvSpPr txBox="1"/>
          <p:nvPr/>
        </p:nvSpPr>
        <p:spPr>
          <a:xfrm>
            <a:off x="822960" y="87325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3.5.1 dan 4.2.1, Gambar 12; repository Validasi_Spasial_NTL_DIY_2025.csv (VIIRS DNB, Google Earth Engine).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