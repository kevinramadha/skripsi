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5" r:id="rId35"/>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5"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Luas sebelum koreksi</c:v>
                </c:pt>
              </c:strCache>
            </c:strRef>
          </c:tx>
          <c:spPr>
            <a:ln w="34925">
              <a:solidFill>
                <a:srgbClr val="E4604F"/>
              </a:solidFill>
            </a:ln>
          </c:spPr>
          <c:marker>
            <c:size val="8"/>
            <c:spPr>
              <a:solidFill>
                <a:srgbClr val="E4604F"/>
              </a:solidFill>
              <a:ln>
                <a:solidFill>
                  <a:srgbClr val="E4604F"/>
                </a:solidFill>
              </a:ln>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Sheet1!$B$2:$B$11</c:f>
              <c:numCache>
                <c:formatCode>General</c:formatCode>
                <c:ptCount val="10"/>
                <c:pt idx="0">
                  <c:v>53500</c:v>
                </c:pt>
                <c:pt idx="1">
                  <c:v>62527</c:v>
                </c:pt>
                <c:pt idx="2">
                  <c:v>67508</c:v>
                </c:pt>
                <c:pt idx="3">
                  <c:v>73595</c:v>
                </c:pt>
                <c:pt idx="4">
                  <c:v>68309</c:v>
                </c:pt>
                <c:pt idx="5">
                  <c:v>67656</c:v>
                </c:pt>
                <c:pt idx="6">
                  <c:v>65024</c:v>
                </c:pt>
                <c:pt idx="7">
                  <c:v>79881</c:v>
                </c:pt>
                <c:pt idx="8">
                  <c:v>77437</c:v>
                </c:pt>
                <c:pt idx="9">
                  <c:v>65019</c:v>
                </c:pt>
              </c:numCache>
            </c:numRef>
          </c:val>
          <c:smooth val="0"/>
        </c:ser>
        <c:ser>
          <c:idx val="1"/>
          <c:order val="1"/>
          <c:tx>
            <c:strRef>
              <c:f>Sheet1!$C$1</c:f>
              <c:strCache>
                <c:ptCount val="1"/>
                <c:pt idx="0">
                  <c:v>Luas setelah koreksi</c:v>
                </c:pt>
              </c:strCache>
            </c:strRef>
          </c:tx>
          <c:spPr>
            <a:ln w="34925">
              <a:solidFill>
                <a:srgbClr val="0B5E6E"/>
              </a:solidFill>
              <a:prstDash val="dash"/>
            </a:ln>
          </c:spPr>
          <c:marker>
            <c:size val="8"/>
            <c:spPr>
              <a:solidFill>
                <a:srgbClr val="0B5E6E"/>
              </a:solidFill>
              <a:ln>
                <a:solidFill>
                  <a:srgbClr val="0B5E6E"/>
                </a:solidFill>
              </a:ln>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Sheet1!$C$2:$C$11</c:f>
              <c:numCache>
                <c:formatCode>General</c:formatCode>
                <c:ptCount val="10"/>
                <c:pt idx="0">
                  <c:v>61642</c:v>
                </c:pt>
                <c:pt idx="1">
                  <c:v>67827</c:v>
                </c:pt>
                <c:pt idx="2">
                  <c:v>63122</c:v>
                </c:pt>
                <c:pt idx="3">
                  <c:v>62572</c:v>
                </c:pt>
                <c:pt idx="4">
                  <c:v>66751</c:v>
                </c:pt>
                <c:pt idx="5">
                  <c:v>71390</c:v>
                </c:pt>
                <c:pt idx="6">
                  <c:v>70269</c:v>
                </c:pt>
                <c:pt idx="7">
                  <c:v>74887</c:v>
                </c:pt>
                <c:pt idx="8">
                  <c:v>74115</c:v>
                </c:pt>
                <c:pt idx="9">
                  <c:v>67880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85000.0"/>
          <c:min val="45000.0"/>
        </c:scaling>
        <c:delete val="0"/>
        <c:axPos val="l"/>
        <c:majorGridlines>
          <c:spPr>
            <a:ln>
              <a:solidFill>
                <a:srgbClr val="E3EEF1"/>
              </a:solidFill>
            </a:ln>
          </c:spPr>
        </c:majorGridlines>
        <c:numFmt formatCode="#,##0" sourceLinked="0"/>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Jumlah observasi citra per piksel</c:v>
                </c:pt>
              </c:strCache>
            </c:strRef>
          </c:tx>
          <c:spPr>
            <a:solidFill>
              <a:srgbClr val="39C0D3"/>
            </a:solidFill>
          </c:spPr>
          <c:dPt>
            <c:idx val="3"/>
            <c:spPr>
              <a:solidFill>
                <a:srgbClr val="E0A800"/>
              </a:solidFill>
            </c:spPr>
          </c:dPt>
          <c:dPt>
            <c:idx val="7"/>
            <c:spPr>
              <a:solidFill>
                <a:srgbClr val="E0A800"/>
              </a:solidFill>
            </c:spPr>
          </c:dPt>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Sheet1!$B$2:$B$11</c:f>
              <c:numCache>
                <c:formatCode>General</c:formatCode>
                <c:ptCount val="10"/>
                <c:pt idx="0">
                  <c:v>4.3</c:v>
                </c:pt>
                <c:pt idx="1">
                  <c:v>7.0</c:v>
                </c:pt>
                <c:pt idx="2">
                  <c:v>16.2</c:v>
                </c:pt>
                <c:pt idx="3">
                  <c:v>22.4</c:v>
                </c:pt>
                <c:pt idx="4">
                  <c:v>13.5</c:v>
                </c:pt>
                <c:pt idx="5">
                  <c:v>8.5</c:v>
                </c:pt>
                <c:pt idx="6">
                  <c:v>7.1</c:v>
                </c:pt>
                <c:pt idx="7">
                  <c:v>16.7</c:v>
                </c:pt>
                <c:pt idx="8">
                  <c:v>15.2</c:v>
                </c:pt>
                <c:pt idx="9">
                  <c:v>9.3</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26.0"/>
          <c:min val="0.0"/>
        </c:scaling>
        <c:delete val="0"/>
        <c:axPos val="l"/>
        <c:majorTickMark val="out"/>
        <c:minorTickMark val="none"/>
        <c:tickLblPos val="nextTo"/>
        <c:txPr>
          <a:bodyPr/>
          <a:lstStyle/>
          <a:p>
            <a:pPr>
              <a:defRPr sz="1000"/>
            </a:pPr>
          </a:p>
        </c:txPr>
        <c:crossAx val="-2068027336"/>
        <c:crosses val="autoZero"/>
      </c:valAx>
    </c:plotArea>
    <c:legend>
      <c:legendPos val="t"/>
      <c:overlay val="0"/>
    </c:legend>
    <c:dispBlanksAs val="gap"/>
  </c:chart>
  <c:txPr>
    <a:bodyPr/>
    <a:lstStyle/>
    <a:p>
      <a:pPr>
        <a:defRPr sz="11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Data Dynamic World turun 27 persen dari 2023 ke 2025, yang tidak mungkin terjadi di lapangan. Saya periksa penyebabnya: luas ternyata berhubungan kuat dengan jumlah citra yang terekam per piksel setiap tahun, r 0,788, sedangkan jumlah citra tidak berhubungan dengan tahun, sehingga koreksi sah dilakukan. Setelah dikoreksi, pengaruh jumlah citra hilang dan data menjadi lebih stabil. Meski begitu, model tetap memakai nilai asli karena tahun 2025 sudah menjadi dasar semua parameter; koreksi hanya untuk pemeriksaan dan noise ini saya catat sebagai keterbatasan.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chart" Target="../charts/chart1.xml"/><Relationship Id="rId9" Type="http://schemas.openxmlformats.org/officeDocument/2006/relationships/chart" Target="../charts/chart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Diagnosis Ketidakstabilan Temporal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Naik-turunnya luas Dynamic World mengikuti jumlah citra yang terekam, bukan perubahan lahan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id="70" name="Chart 69"/>
          <p:cNvGraphicFramePr>
            <a:graphicFrameLocks noGrp="1"/>
          </p:cNvGraphicFramePr>
          <p:nvPr/>
        </p:nvGraphicFramePr>
        <p:xfrm>
          <a:off x="822960" y="1783080"/>
          <a:ext cx="10058400" cy="3931920"/>
        </p:xfrm>
        <a:graphic>
          <a:graphicData uri="http://schemas.openxmlformats.org/drawingml/2006/chart">
            <c:chart xmlns:c="http://schemas.openxmlformats.org/drawingml/2006/chart" r:id="rId8"/>
          </a:graphicData>
        </a:graphic>
      </p:graphicFrame>
      <p:graphicFrame>
        <p:nvGraphicFramePr>
          <p:cNvPr id="71" name="Chart 70"/>
          <p:cNvGraphicFramePr>
            <a:graphicFrameLocks noGrp="1"/>
          </p:cNvGraphicFramePr>
          <p:nvPr/>
        </p:nvGraphicFramePr>
        <p:xfrm>
          <a:off x="822960" y="5760720"/>
          <a:ext cx="10058400" cy="2651760"/>
        </p:xfrm>
        <a:graphic>
          <a:graphicData uri="http://schemas.openxmlformats.org/drawingml/2006/chart">
            <c:chart xmlns:c="http://schemas.openxmlformats.org/drawingml/2006/chart" r:id="rId9"/>
          </a:graphicData>
        </a:graphic>
      </p:graphicFrame>
      <p:sp>
        <p:nvSpPr>
          <p:cNvPr id="72" name="TextBox 71"/>
          <p:cNvSpPr txBox="1"/>
          <p:nvPr/>
        </p:nvSpPr>
        <p:spPr>
          <a:xfrm>
            <a:off x="822960" y="8412480"/>
            <a:ext cx="10058400" cy="54864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Tahun dengan citra terbanyak (kuning: 2019, 2023) juga tahun dengan luas terbesar. Grafik atas memakai luas probabilitas Dynamic World (dasar perhitungan diagnosis, ha), sehingga angkanya sedikit berbeda dari data model.</a:t>
            </a:r>
          </a:p>
        </p:txBody>
      </p:sp>
      <p:sp>
        <p:nvSpPr>
          <p:cNvPr id="73" name="Rounded Rectangle 72"/>
          <p:cNvSpPr/>
          <p:nvPr/>
        </p:nvSpPr>
        <p:spPr>
          <a:xfrm>
            <a:off x="11247120" y="1783080"/>
            <a:ext cx="6217920" cy="1325880"/>
          </a:xfrm>
          <a:prstGeom prst="roundRect">
            <a:avLst>
              <a:gd name="adj" fmla="val 8000"/>
            </a:avLst>
          </a:prstGeom>
          <a:solidFill>
            <a:srgbClr val="FDE2D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E4604F"/>
                </a:solidFill>
                <a:latin typeface="Calibri (MS) Bold"/>
              </a:rPr>
              <a:t>Masalah: turun 27% dalam dua tahun</a:t>
            </a:r>
          </a:p>
          <a:p>
            <a:pPr algn="l">
              <a:spcAft>
                <a:spcPts val="300"/>
              </a:spcAft>
            </a:pPr>
            <a:r>
              <a:rPr sz="1320" b="0" i="0">
                <a:solidFill>
                  <a:srgbClr val="14313B"/>
                </a:solidFill>
                <a:latin typeface="Calibri (MS)"/>
              </a:rPr>
              <a:t>Data model: 75.624 ha (2023) → 55.030 ha (2025). Lahan terbangun tidak mungkin berkurang sebesar itu di lapangan.</a:t>
            </a:r>
          </a:p>
        </p:txBody>
      </p:sp>
      <p:graphicFrame>
        <p:nvGraphicFramePr>
          <p:cNvPr id="74" name="Table 73"/>
          <p:cNvGraphicFramePr>
            <a:graphicFrameLocks noGrp="1"/>
          </p:cNvGraphicFramePr>
          <p:nvPr/>
        </p:nvGraphicFramePr>
        <p:xfrm>
          <a:off x="11247120" y="3246120"/>
          <a:ext cx="6217920" cy="2286000"/>
        </p:xfrm>
        <a:graphic>
          <a:graphicData uri="http://schemas.openxmlformats.org/drawingml/2006/table">
            <a:tbl>
              <a:tblPr firstRow="1" bandRow="1">
                <a:tableStyleId>{5C22544A-7EE6-4342-B048-85BDC9FD1C3A}</a:tableStyleId>
              </a:tblPr>
              <a:tblGrid>
                <a:gridCol w="2377440"/>
                <a:gridCol w="1828800"/>
                <a:gridCol w="2011680"/>
              </a:tblGrid>
              <a:tr h="457200">
                <a:tc>
                  <a:txBody>
                    <a:bodyPr wrap="square"/>
                    <a:lstStyle/>
                    <a:p>
                      <a:r>
                        <a:rPr sz="1260" b="1" i="0">
                          <a:solidFill>
                            <a:srgbClr val="FFFFFF"/>
                          </a:solidFill>
                          <a:latin typeface="Calibri (MS) Bold"/>
                        </a:rPr>
                        <a:t>Pemeriksaan</a:t>
                      </a:r>
                    </a:p>
                  </a:txBody>
                  <a:tcPr marL="73152" marR="73152" marT="36576" marB="36576" anchor="ctr">
                    <a:solidFill>
                      <a:srgbClr val="0B5E6E"/>
                    </a:solidFill>
                  </a:tcPr>
                </a:tc>
                <a:tc>
                  <a:txBody>
                    <a:bodyPr wrap="square"/>
                    <a:lstStyle/>
                    <a:p>
                      <a:r>
                        <a:rPr sz="1260" b="1" i="0">
                          <a:solidFill>
                            <a:srgbClr val="FFFFFF"/>
                          </a:solidFill>
                          <a:latin typeface="Calibri (MS) Bold"/>
                        </a:rPr>
                        <a:t>Hasil</a:t>
                      </a:r>
                    </a:p>
                  </a:txBody>
                  <a:tcPr marL="73152" marR="73152" marT="36576" marB="36576" anchor="ctr">
                    <a:solidFill>
                      <a:srgbClr val="0B5E6E"/>
                    </a:solidFill>
                  </a:tcPr>
                </a:tc>
                <a:tc>
                  <a:txBody>
                    <a:bodyPr wrap="square"/>
                    <a:lstStyle/>
                    <a:p>
                      <a:r>
                        <a:rPr sz="1260" b="1" i="0">
                          <a:solidFill>
                            <a:srgbClr val="FFFFFF"/>
                          </a:solidFill>
                          <a:latin typeface="Calibri (MS) Bold"/>
                        </a:rPr>
                        <a:t>Arti</a:t>
                      </a:r>
                    </a:p>
                  </a:txBody>
                  <a:tcPr marL="73152" marR="73152" marT="36576" marB="36576" anchor="ctr">
                    <a:solidFill>
                      <a:srgbClr val="0B5E6E"/>
                    </a:solidFill>
                  </a:tcPr>
                </a:tc>
              </a:tr>
              <a:tr h="457200">
                <a:tc>
                  <a:txBody>
                    <a:bodyPr wrap="square"/>
                    <a:lstStyle/>
                    <a:p>
                      <a:r>
                        <a:rPr sz="1260" b="1" i="0">
                          <a:solidFill>
                            <a:srgbClr val="14313B"/>
                          </a:solidFill>
                          <a:latin typeface="Calibri (MS) Bold"/>
                        </a:rPr>
                        <a:t>Luas vs jumlah observasi</a:t>
                      </a:r>
                    </a:p>
                  </a:txBody>
                  <a:tcPr marL="73152" marR="73152" marT="36576" marB="36576" anchor="ctr">
                    <a:solidFill>
                      <a:srgbClr val="FFFFFF"/>
                    </a:solidFill>
                  </a:tcPr>
                </a:tc>
                <a:tc>
                  <a:txBody>
                    <a:bodyPr wrap="square"/>
                    <a:lstStyle/>
                    <a:p>
                      <a:r>
                        <a:rPr sz="1260" b="0" i="0">
                          <a:solidFill>
                            <a:srgbClr val="14313B"/>
                          </a:solidFill>
                          <a:latin typeface="Calibri (MS)"/>
                        </a:rPr>
                        <a:t>r = 0,788 (p = 0,007)</a:t>
                      </a:r>
                    </a:p>
                  </a:txBody>
                  <a:tcPr marL="73152" marR="73152" marT="36576" marB="36576" anchor="ctr">
                    <a:solidFill>
                      <a:srgbClr val="FDE2DE"/>
                    </a:solidFill>
                  </a:tcPr>
                </a:tc>
                <a:tc>
                  <a:txBody>
                    <a:bodyPr wrap="square"/>
                    <a:lstStyle/>
                    <a:p>
                      <a:r>
                        <a:rPr sz="1260" b="0" i="0">
                          <a:solidFill>
                            <a:srgbClr val="14313B"/>
                          </a:solidFill>
                          <a:latin typeface="Calibri (MS)"/>
                        </a:rPr>
                        <a:t>Berhubungan kuat</a:t>
                      </a:r>
                    </a:p>
                  </a:txBody>
                  <a:tcPr marL="73152" marR="73152" marT="36576" marB="36576" anchor="ctr">
                    <a:solidFill>
                      <a:srgbClr val="FFFFFF"/>
                    </a:solidFill>
                  </a:tcPr>
                </a:tc>
              </a:tr>
              <a:tr h="457200">
                <a:tc>
                  <a:txBody>
                    <a:bodyPr wrap="square"/>
                    <a:lstStyle/>
                    <a:p>
                      <a:r>
                        <a:rPr sz="1260" b="1" i="0">
                          <a:solidFill>
                            <a:srgbClr val="14313B"/>
                          </a:solidFill>
                          <a:latin typeface="Calibri (MS) Bold"/>
                        </a:rPr>
                        <a:t>Jumlah observasi vs tahun</a:t>
                      </a:r>
                    </a:p>
                  </a:txBody>
                  <a:tcPr marL="73152" marR="73152" marT="36576" marB="36576" anchor="ctr">
                    <a:solidFill>
                      <a:srgbClr val="EAF8FA"/>
                    </a:solidFill>
                  </a:tcPr>
                </a:tc>
                <a:tc>
                  <a:txBody>
                    <a:bodyPr wrap="square"/>
                    <a:lstStyle/>
                    <a:p>
                      <a:r>
                        <a:rPr sz="1260" b="0" i="0">
                          <a:solidFill>
                            <a:srgbClr val="14313B"/>
                          </a:solidFill>
                          <a:latin typeface="Calibri (MS)"/>
                        </a:rPr>
                        <a:t>r = 0,174 (p = 0,631)</a:t>
                      </a:r>
                    </a:p>
                  </a:txBody>
                  <a:tcPr marL="73152" marR="73152" marT="36576" marB="36576" anchor="ctr">
                    <a:solidFill>
                      <a:srgbClr val="C9F0D6"/>
                    </a:solidFill>
                  </a:tcPr>
                </a:tc>
                <a:tc>
                  <a:txBody>
                    <a:bodyPr wrap="square"/>
                    <a:lstStyle/>
                    <a:p>
                      <a:r>
                        <a:rPr sz="1260" b="0" i="0">
                          <a:solidFill>
                            <a:srgbClr val="14313B"/>
                          </a:solidFill>
                          <a:latin typeface="Calibri (MS)"/>
                        </a:rPr>
                        <a:t>Tidak berhubungan → koreksi sah</a:t>
                      </a:r>
                    </a:p>
                  </a:txBody>
                  <a:tcPr marL="73152" marR="73152" marT="36576" marB="36576" anchor="ctr">
                    <a:solidFill>
                      <a:srgbClr val="EAF8FA"/>
                    </a:solidFill>
                  </a:tcPr>
                </a:tc>
              </a:tr>
              <a:tr h="457200">
                <a:tc>
                  <a:txBody>
                    <a:bodyPr wrap="square"/>
                    <a:lstStyle/>
                    <a:p>
                      <a:r>
                        <a:rPr sz="1260" b="1" i="0">
                          <a:solidFill>
                            <a:srgbClr val="14313B"/>
                          </a:solidFill>
                          <a:latin typeface="Calibri (MS) Bold"/>
                        </a:rPr>
                        <a:t>Setelah koreksi: luas vs observasi</a:t>
                      </a:r>
                    </a:p>
                  </a:txBody>
                  <a:tcPr marL="73152" marR="73152" marT="36576" marB="36576" anchor="ctr">
                    <a:solidFill>
                      <a:srgbClr val="FFFFFF"/>
                    </a:solidFill>
                  </a:tcPr>
                </a:tc>
                <a:tc>
                  <a:txBody>
                    <a:bodyPr wrap="square"/>
                    <a:lstStyle/>
                    <a:p>
                      <a:r>
                        <a:rPr sz="1260" b="0" i="0">
                          <a:solidFill>
                            <a:srgbClr val="14313B"/>
                          </a:solidFill>
                          <a:latin typeface="Calibri (MS)"/>
                        </a:rPr>
                        <a:t>r ≈ 0</a:t>
                      </a:r>
                    </a:p>
                  </a:txBody>
                  <a:tcPr marL="73152" marR="73152" marT="36576" marB="36576" anchor="ctr">
                    <a:solidFill>
                      <a:srgbClr val="C9F0D6"/>
                    </a:solidFill>
                  </a:tcPr>
                </a:tc>
                <a:tc>
                  <a:txBody>
                    <a:bodyPr wrap="square"/>
                    <a:lstStyle/>
                    <a:p>
                      <a:r>
                        <a:rPr sz="1260" b="0" i="0">
                          <a:solidFill>
                            <a:srgbClr val="14313B"/>
                          </a:solidFill>
                          <a:latin typeface="Calibri (MS)"/>
                        </a:rPr>
                        <a:t>Pengaruh observasi hilang</a:t>
                      </a:r>
                    </a:p>
                  </a:txBody>
                  <a:tcPr marL="73152" marR="73152" marT="36576" marB="36576" anchor="ctr">
                    <a:solidFill>
                      <a:srgbClr val="FFFFFF"/>
                    </a:solidFill>
                  </a:tcPr>
                </a:tc>
              </a:tr>
              <a:tr h="457200">
                <a:tc>
                  <a:txBody>
                    <a:bodyPr wrap="square"/>
                    <a:lstStyle/>
                    <a:p>
                      <a:r>
                        <a:rPr sz="1260" b="1" i="0">
                          <a:solidFill>
                            <a:srgbClr val="14313B"/>
                          </a:solidFill>
                          <a:latin typeface="Calibri (MS) Bold"/>
                        </a:rPr>
                        <a:t>Variasi perubahan tahunan</a:t>
                      </a:r>
                    </a:p>
                  </a:txBody>
                  <a:tcPr marL="73152" marR="73152" marT="36576" marB="36576" anchor="ctr">
                    <a:solidFill>
                      <a:srgbClr val="EAF8FA"/>
                    </a:solidFill>
                  </a:tcPr>
                </a:tc>
                <a:tc>
                  <a:txBody>
                    <a:bodyPr wrap="square"/>
                    <a:lstStyle/>
                    <a:p>
                      <a:r>
                        <a:rPr sz="1260" b="0" i="0">
                          <a:solidFill>
                            <a:srgbClr val="14313B"/>
                          </a:solidFill>
                          <a:latin typeface="Calibri (MS)"/>
                        </a:rPr>
                        <a:t>12,3% → 6,6%</a:t>
                      </a:r>
                    </a:p>
                  </a:txBody>
                  <a:tcPr marL="73152" marR="73152" marT="36576" marB="36576" anchor="ctr">
                    <a:solidFill>
                      <a:srgbClr val="C9F0D6"/>
                    </a:solidFill>
                  </a:tcPr>
                </a:tc>
                <a:tc>
                  <a:txBody>
                    <a:bodyPr wrap="square"/>
                    <a:lstStyle/>
                    <a:p>
                      <a:r>
                        <a:rPr sz="1260" b="0" i="0">
                          <a:solidFill>
                            <a:srgbClr val="14313B"/>
                          </a:solidFill>
                          <a:latin typeface="Calibri (MS)"/>
                        </a:rPr>
                        <a:t>Data jadi lebih stabil</a:t>
                      </a:r>
                    </a:p>
                  </a:txBody>
                  <a:tcPr marL="73152" marR="73152" marT="36576" marB="36576" anchor="ctr">
                    <a:solidFill>
                      <a:srgbClr val="EAF8FA"/>
                    </a:solidFill>
                  </a:tcPr>
                </a:tc>
              </a:tr>
            </a:tbl>
          </a:graphicData>
        </a:graphic>
      </p:graphicFrame>
      <p:sp>
        <p:nvSpPr>
          <p:cNvPr id="75" name="Rounded Rectangle 74"/>
          <p:cNvSpPr/>
          <p:nvPr/>
        </p:nvSpPr>
        <p:spPr>
          <a:xfrm>
            <a:off x="11247120" y="5669280"/>
            <a:ext cx="621792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Cara koreksi (penyesuaian kovariat, mirip ANCOVA)</a:t>
            </a:r>
          </a:p>
          <a:p>
            <a:pPr algn="l">
              <a:spcAft>
                <a:spcPts val="300"/>
              </a:spcAft>
            </a:pPr>
            <a:r>
              <a:rPr sz="1260" b="0" i="0">
                <a:solidFill>
                  <a:srgbClr val="14313B"/>
                </a:solidFill>
                <a:latin typeface="Calibri (MS)"/>
              </a:rPr>
              <a:t>Luasₜ = a + b · Obsₜ  →  Luas terkoreksiₜ = Luasₜ − b · (Obsₜ − rata-rata Obs)</a:t>
            </a:r>
          </a:p>
        </p:txBody>
      </p:sp>
      <p:sp>
        <p:nvSpPr>
          <p:cNvPr id="76" name="Rounded Rectangle 75"/>
          <p:cNvSpPr/>
          <p:nvPr/>
        </p:nvSpPr>
        <p:spPr>
          <a:xfrm>
            <a:off x="11247120" y="7040880"/>
            <a:ext cx="6217920" cy="13716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Keputusan</a:t>
            </a:r>
          </a:p>
          <a:p>
            <a:pPr algn="l">
              <a:spcAft>
                <a:spcPts val="300"/>
              </a:spcAft>
            </a:pPr>
            <a:r>
              <a:rPr sz="1260" b="0" i="0">
                <a:solidFill>
                  <a:srgbClr val="14313B"/>
                </a:solidFill>
                <a:latin typeface="Calibri (MS)"/>
              </a:rPr>
              <a:t>Data model tetap memakai nilai asli, karena tahun 2025 sudah menjadi dasar semua parameter dan kalibrasi. Koreksi hanya untuk pemeriksaan; noise dicatat sebagai keterbatasan.</a:t>
            </a:r>
          </a:p>
        </p:txBody>
      </p:sp>
      <p:sp>
        <p:nvSpPr>
          <p:cNvPr id="77" name="TextBox 76"/>
          <p:cNvSpPr txBox="1"/>
          <p:nvPr/>
        </p:nvSpPr>
        <p:spPr>
          <a:xfrm>
            <a:off x="822960" y="914400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notebook "Data Citra untuk Lahan Terbangun" (Lahan_Terbangun_Terkoreksi_DIY_2016_2025.csv). Diagnosis dihitung pada luas probabilitas Dynamic World.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