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4.xml" ContentType="application/vnd.openxmlformats-officedocument.drawingml.chart+xml"/>
  <Override PartName="/ppt/media/image29.svg" ContentType="image/svg+xml"/>
  <Override PartName="/ppt/media/image31.svg" ContentType="image/svg+xml"/>
  <Override PartName="/ppt/media/image41.svg" ContentType="image/svg+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94" r:id="rId44"/>
    <p:sldId id="295" r:id="rId45"/>
    <p:sldId id="296" r:id="rId46"/>
    <p:sldId id="297" r:id="rId47"/>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44" Type="http://schemas.openxmlformats.org/officeDocument/2006/relationships/slide" Target="slides/slide1.xml"/><Relationship Id="rId45" Type="http://schemas.openxmlformats.org/officeDocument/2006/relationships/slide" Target="slides/slide2.xml"/><Relationship Id="rId46" Type="http://schemas.openxmlformats.org/officeDocument/2006/relationships/slide" Target="slides/slide3.xml"/><Relationship Id="rId47" Type="http://schemas.openxmlformats.org/officeDocument/2006/relationships/slide" Target="slides/slide4.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Wisatawan 2050 (juta)</c:v>
                </c:pt>
              </c:strCache>
            </c:strRef>
          </c:tx>
          <c:dPt>
            <c:idx val="0"/>
            <c:spPr>
              <a:solidFill>
                <a:srgbClr val="5E6E78"/>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0B5E6E"/>
              </a:solidFill>
            </c:spPr>
          </c:dPt>
          <c:cat>
            <c:strRef>
              <c:f>Sheet1!$A$2:$A$8</c:f>
              <c:strCache>
                <c:ptCount val="7"/>
                <c:pt idx="0">
                  <c:v>Semua rem dimatikan (R1 murni)</c:v>
                </c:pt>
                <c:pt idx="1">
                  <c:v>Goal-seeking tenaga kerja dimatikan</c:v>
                </c:pt>
                <c:pt idx="2">
                  <c:v>Okupansi akomodasi dimatikan</c:v>
                </c:pt>
                <c:pt idx="3">
                  <c:v>R2 ekonomi–objek wisata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0" sourceLinked="0"/>
          <c:txPr>
            <a:bodyPr/>
            <a:lstStyle/>
            <a:p>
              <a:pPr>
                <a:defRPr sz="1100" b="1"/>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1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14313B"/>
          </a:solidFill>
          <a:latin typeface="Calibri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Jumlah wisatawan 2050 (juta)</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5E6E78"/>
              </a:solidFill>
            </c:spPr>
          </c:dPt>
          <c:cat>
            <c:strRef>
              <c:f>Sheet1!$A$2:$A$8</c:f>
              <c:strCache>
                <c:ptCount val="7"/>
                <c:pt idx="0">
                  <c:v>Semua balancing loop dimatikan (hanya R1)</c:v>
                </c:pt>
                <c:pt idx="1">
                  <c:v>Goal-seeking tenaga kerja dimatikan</c:v>
                </c:pt>
                <c:pt idx="2">
                  <c:v>Okupansi akomodasi dimatikan</c:v>
                </c:pt>
                <c:pt idx="3">
                  <c:v>R2 ekonomi–atraksi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struktur saya mulai dari dua pemeriksaan dasar. Pertama, kesesuaian struktur dan parameter: setiap variabel saya telusuri dan sumber serta landasannya saya catat, sehingga setiap hubungan sebab-akibat punya dasar teori atau bukti empiris. Kedua, konsistensi dimensi: dengan Units Check dan Check Model di Vensim, seluruh persamaan diperiksa apakah satuannya cocok. Hasilnya, Vensim menampilkan "Units are OK" dan "Model is OK", artinya tidak ada ketidaksesuaian satuan.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kecukupan batas model menjawab apa yang masuk dan apa yang tidak masuk ke dalam model. Model memuat 61 variabel: 26 dihitung di dalam model dan 35 merupakan input. Ada 15 aspek yang sengaja dikeluarkan, masing-masing dengan alasan dan konsekuensinya. Promosi dan aksesibilitas pengaruhnya sudah tersirat dalam laju pertumbuhan eksternal; harga, musim, guncangan, dan persaingan antardestinasi tidak tergambar karena model tahunan dan agregat; lahan dan lingkungan disederhanakan; aspek sosial dan distribusi manfaat tidak terwakili. Konsekuensinya, hasil model tidak boleh ditafsirkan pada ranah tersebut. Daftar lengkapnya ada di Lampiran 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kekekalan materi memeriksa apakah setiap stok benar-benar hasil akumulasi alirannya. Contohnya hotel: 2.291 ditambah konstruksi 158,18 dikurangi demolisi 114,55 menghasilkan 2.334,63, sama persis dengan nilai stok 2026 hasil simulasi. Pada kelima stok selisihnya nol sepanjang 2025 sampai 2049. Uji feedback loop dilakukan dengan mematikan satu loop pada satu waktu. Rem kepadatan B1 paling kuat: tanpa B1, wisatawan 2050 naik 160 persen. Daya dukung lahan dampaknya moderat tetapi menyentuh keenam variabel. Mematikan R2 justru menurunkan wisatawan dan paling besar menurunkan ODTW. Okupansi dan goal-seeking tenaga kerja hanya memengaruhi satu variabel. Menariknya, mematikan B1 saja menghasilkan angka lebih tinggi daripada mematikan semua rem, karena R2 tetap mendorong daya tarik naik. Jadi efek antarloop tidak bisa dijumlahkan begitu saja.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kondisi ekstrem menguji 17 kombinasi nilai ekstrem pada lima subsistem dengan enam aturan fisik, misalnya TPK tidak boleh lebih dari satu dan lahan tidak boleh melebihi luas wilayah. Uji awal menemukan empat titik struktur yang bisa melanggar aturan, lalu diperbaiki dengan menambahkan pembatas. Setelah perbaikan, 15 uji lolos, 2 lolos dengan catatan, dan tidak ada yang gagal. Buktinya, pada E04 TPK mendatar tepat di satu meskipun rasio permintaan mencapai 2,27, dan pada E09 rasio daya dukung lahan turun tepat ke nol. E02 dan E15 diberi catatan karena sengaja mendorong model jauh di luar batas berlakunya, yaitu laju pertumbuhan eksternal sekitar 0,336. Pada E15, lahan sempat melewati luas wilayah 57,70 hektar dengan langkah waktu satu tahun. Ketika langkah waktu diperkecil, pelanggarannya menyusut lalu hilang pada 0,25 tahun. Artinya ini error hitungan numerik, bukan kesalahan struktur. Dengan demikian model valid secara struktural dan dapat dilanjutkan ke uji perilaku.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1.png"/><Relationship Id="rId1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0.png"/><Relationship Id="rId8" Type="http://schemas.openxmlformats.org/officeDocument/2006/relationships/image" Target="../media/image4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2.png"/><Relationship Id="rId8" Type="http://schemas.openxmlformats.org/officeDocument/2006/relationships/chart" Target="../charts/chart4.xml"/><Relationship Id="rId9"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(1/4): Kesesuaian Struktur dan Konsistensi Dimensi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Setiap hubungan sebab-akibat punya dasar, dan satuan di seluruh persamaan konsisten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39" name="Rounded Rectangle 138"/>
          <p:cNvSpPr/>
          <p:nvPr/>
        </p:nvSpPr>
        <p:spPr>
          <a:xfrm>
            <a:off x="822960" y="1783080"/>
            <a:ext cx="6583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kesesuaian struktur dan parameter</a:t>
            </a:r>
          </a:p>
        </p:txBody>
      </p:sp>
      <p:sp>
        <p:nvSpPr>
          <p:cNvPr id="140" name="Rounded Rectangle 139"/>
          <p:cNvSpPr/>
          <p:nvPr/>
        </p:nvSpPr>
        <p:spPr>
          <a:xfrm>
            <a:off x="822960" y="2286000"/>
            <a:ext cx="6583680" cy="2514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Pertanyaan  </a:t>
            </a:r>
            <a:r>
              <a:rPr sz="1440" b="0" i="0">
                <a:solidFill>
                  <a:srgbClr val="14313B"/>
                </a:solidFill>
                <a:latin typeface="Calibri (MS)"/>
              </a:rPr>
              <a:t>Apakah setiap hubungan sebab-akibat dan parameter dalam model punya dasar?</a:t>
            </a:r>
          </a:p>
          <a:p>
            <a:pPr algn="l">
              <a:spcAft>
                <a:spcPts val="300"/>
              </a:spcAft>
            </a:pPr>
            <a:r>
              <a:rPr sz="1440" b="1" i="0">
                <a:solidFill>
                  <a:srgbClr val="0B5E6E"/>
                </a:solidFill>
                <a:latin typeface="Calibri (MS) Bold"/>
              </a:rPr>
              <a:t>Cara  </a:t>
            </a:r>
            <a:r>
              <a:rPr sz="1440" b="0" i="0">
                <a:solidFill>
                  <a:srgbClr val="14313B"/>
                </a:solidFill>
                <a:latin typeface="Calibri (MS)"/>
              </a:rPr>
              <a:t>Setiap variabel ditelusuri, lalu sumber dan landasannya (teori, penelitian terdahulu, regulasi, atau data) dicatat dalam tabel parameter.</a:t>
            </a:r>
          </a:p>
          <a:p>
            <a:pPr algn="l">
              <a:spcAft>
                <a:spcPts val="300"/>
              </a:spcAft>
            </a:pPr>
            <a:r>
              <a:rPr sz="1440" b="1" i="0">
                <a:solidFill>
                  <a:srgbClr val="1E7A43"/>
                </a:solidFill>
                <a:latin typeface="Calibri (MS) Bold"/>
              </a:rPr>
              <a:t>Hasil  </a:t>
            </a:r>
            <a:r>
              <a:rPr sz="1440" b="0" i="0">
                <a:solidFill>
                  <a:srgbClr val="14313B"/>
                </a:solidFill>
                <a:latin typeface="Calibri (MS)"/>
              </a:rPr>
              <a:t>Seluruh hubungan memiliki dasar teori atau bukti empiris.</a:t>
            </a:r>
          </a:p>
        </p:txBody>
      </p:sp>
      <p:sp>
        <p:nvSpPr>
          <p:cNvPr id="141" name="Rounded Rectangle 140"/>
          <p:cNvSpPr/>
          <p:nvPr/>
        </p:nvSpPr>
        <p:spPr>
          <a:xfrm>
            <a:off x="822960" y="4983480"/>
            <a:ext cx="6583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konsistensi dimensi (satuan)</a:t>
            </a:r>
          </a:p>
        </p:txBody>
      </p:sp>
      <p:sp>
        <p:nvSpPr>
          <p:cNvPr id="142" name="Rounded Rectangle 141"/>
          <p:cNvSpPr/>
          <p:nvPr/>
        </p:nvSpPr>
        <p:spPr>
          <a:xfrm>
            <a:off x="822960" y="5486400"/>
            <a:ext cx="6583680" cy="2514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Pertanyaan  </a:t>
            </a:r>
            <a:r>
              <a:rPr sz="1440" b="0" i="0">
                <a:solidFill>
                  <a:srgbClr val="14313B"/>
                </a:solidFill>
                <a:latin typeface="Calibri (MS)"/>
              </a:rPr>
              <a:t>Apakah satuan di sisi kiri dan kanan setiap persamaan cocok?</a:t>
            </a:r>
          </a:p>
          <a:p>
            <a:pPr algn="l">
              <a:spcAft>
                <a:spcPts val="300"/>
              </a:spcAft>
            </a:pPr>
            <a:r>
              <a:rPr sz="1440" b="1" i="0">
                <a:solidFill>
                  <a:srgbClr val="0B5E6E"/>
                </a:solidFill>
                <a:latin typeface="Calibri (MS) Bold"/>
              </a:rPr>
              <a:t>Cara  </a:t>
            </a:r>
            <a:r>
              <a:rPr sz="1440" b="0" i="0">
                <a:solidFill>
                  <a:srgbClr val="14313B"/>
                </a:solidFill>
                <a:latin typeface="Calibri (MS)"/>
              </a:rPr>
              <a:t>Fasilitas Units Check dan Check Model pada Vensim untuk seluruh persamaan.</a:t>
            </a:r>
          </a:p>
          <a:p>
            <a:pPr algn="l">
              <a:spcAft>
                <a:spcPts val="300"/>
              </a:spcAft>
            </a:pPr>
            <a:r>
              <a:rPr sz="1440" b="1" i="0">
                <a:solidFill>
                  <a:srgbClr val="1E7A43"/>
                </a:solidFill>
                <a:latin typeface="Calibri (MS) Bold"/>
              </a:rPr>
              <a:t>Hasil  </a:t>
            </a:r>
            <a:r>
              <a:rPr sz="1440" b="0" i="0">
                <a:solidFill>
                  <a:srgbClr val="14313B"/>
                </a:solidFill>
                <a:latin typeface="Calibri (MS)"/>
              </a:rPr>
              <a:t>Tidak ada ketidaksesuaian satuan pada parameter mana pun.</a:t>
            </a:r>
          </a:p>
        </p:txBody>
      </p:sp>
      <p:sp>
        <p:nvSpPr>
          <p:cNvPr id="143" name="TextBox 142"/>
          <p:cNvSpPr txBox="1"/>
          <p:nvPr/>
        </p:nvSpPr>
        <p:spPr>
          <a:xfrm>
            <a:off x="7726679" y="1783080"/>
            <a:ext cx="4800600" cy="411480"/>
          </a:xfrm>
          <a:prstGeom prst="rect">
            <a:avLst/>
          </a:prstGeom>
          <a:noFill/>
        </p:spPr>
        <p:txBody>
          <a:bodyPr wrap="square" anchor="t" lIns="0" rIns="0" tIns="0" bIns="0">
            <a:spAutoFit/>
          </a:bodyPr>
          <a:lstStyle/>
          <a:p>
            <a:pPr algn="ctr">
              <a:spcAft>
                <a:spcPts val="400"/>
              </a:spcAft>
            </a:pPr>
            <a:r>
              <a:rPr sz="1550" b="1" i="0">
                <a:solidFill>
                  <a:srgbClr val="0B5E6E"/>
                </a:solidFill>
                <a:latin typeface="Calibri (MS) Bold"/>
              </a:rPr>
              <a:t>Units Check</a:t>
            </a:r>
          </a:p>
        </p:txBody>
      </p:sp>
      <p:pic>
        <p:nvPicPr>
          <p:cNvPr id="144" name="Picture 143" descr="vensim18.png"/>
          <p:cNvPicPr>
            <a:picLocks noChangeAspect="1"/>
          </p:cNvPicPr>
          <p:nvPr/>
        </p:nvPicPr>
        <p:blipFill>
          <a:blip r:embed="rId11"/>
          <a:stretch>
            <a:fillRect/>
          </a:stretch>
        </p:blipFill>
        <p:spPr>
          <a:xfrm>
            <a:off x="7726679" y="2240280"/>
            <a:ext cx="4800600" cy="4200525"/>
          </a:xfrm>
          <a:prstGeom prst="rect">
            <a:avLst/>
          </a:prstGeom>
          <a:ln w="12700">
            <a:solidFill>
              <a:srgbClr val="CFE5E9"/>
            </a:solidFill>
          </a:ln>
        </p:spPr>
      </p:pic>
      <p:sp>
        <p:nvSpPr>
          <p:cNvPr id="145" name="Rounded Rectangle 144"/>
          <p:cNvSpPr/>
          <p:nvPr/>
        </p:nvSpPr>
        <p:spPr>
          <a:xfrm>
            <a:off x="9454896" y="2870358"/>
            <a:ext cx="1440180" cy="1218152"/>
          </a:xfrm>
          <a:prstGeom prst="roundRect">
            <a:avLst/>
          </a:prstGeom>
          <a:noFill/>
          <a:ln w="31750">
            <a:solidFill>
              <a:srgbClr val="E46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726679" y="6532245"/>
            <a:ext cx="4800600" cy="731520"/>
          </a:xfrm>
          <a:prstGeom prst="rect">
            <a:avLst/>
          </a:prstGeom>
          <a:noFill/>
        </p:spPr>
        <p:txBody>
          <a:bodyPr wrap="square" anchor="t" lIns="0" rIns="0" tIns="0" bIns="0">
            <a:spAutoFit/>
          </a:bodyPr>
          <a:lstStyle/>
          <a:p>
            <a:pPr algn="ctr">
              <a:spcAft>
                <a:spcPts val="400"/>
              </a:spcAft>
            </a:pPr>
            <a:r>
              <a:rPr sz="1320" b="0" i="0">
                <a:solidFill>
                  <a:srgbClr val="5E6E78"/>
                </a:solidFill>
                <a:latin typeface="Calibri (MS)"/>
              </a:rPr>
              <a:t>Pesan Vensim: </a:t>
            </a:r>
            <a:r>
              <a:rPr sz="1320" b="1" i="0">
                <a:solidFill>
                  <a:srgbClr val="14313B"/>
                </a:solidFill>
                <a:latin typeface="Calibri (MS) Bold"/>
              </a:rPr>
              <a:t>“Units are OK”</a:t>
            </a:r>
          </a:p>
        </p:txBody>
      </p:sp>
      <p:sp>
        <p:nvSpPr>
          <p:cNvPr id="147" name="TextBox 146"/>
          <p:cNvSpPr txBox="1"/>
          <p:nvPr/>
        </p:nvSpPr>
        <p:spPr>
          <a:xfrm>
            <a:off x="12664440" y="1783080"/>
            <a:ext cx="4800600" cy="411480"/>
          </a:xfrm>
          <a:prstGeom prst="rect">
            <a:avLst/>
          </a:prstGeom>
          <a:noFill/>
        </p:spPr>
        <p:txBody>
          <a:bodyPr wrap="square" anchor="t" lIns="0" rIns="0" tIns="0" bIns="0">
            <a:spAutoFit/>
          </a:bodyPr>
          <a:lstStyle/>
          <a:p>
            <a:pPr algn="ctr">
              <a:spcAft>
                <a:spcPts val="400"/>
              </a:spcAft>
            </a:pPr>
            <a:r>
              <a:rPr sz="1550" b="1" i="0">
                <a:solidFill>
                  <a:srgbClr val="0B5E6E"/>
                </a:solidFill>
                <a:latin typeface="Calibri (MS) Bold"/>
              </a:rPr>
              <a:t>Check Model</a:t>
            </a:r>
          </a:p>
        </p:txBody>
      </p:sp>
      <p:pic>
        <p:nvPicPr>
          <p:cNvPr id="148" name="Picture 147" descr="vensim19.png"/>
          <p:cNvPicPr>
            <a:picLocks noChangeAspect="1"/>
          </p:cNvPicPr>
          <p:nvPr/>
        </p:nvPicPr>
        <p:blipFill>
          <a:blip r:embed="rId12"/>
          <a:stretch>
            <a:fillRect/>
          </a:stretch>
        </p:blipFill>
        <p:spPr>
          <a:xfrm>
            <a:off x="12664440" y="2240280"/>
            <a:ext cx="4800600" cy="4200525"/>
          </a:xfrm>
          <a:prstGeom prst="rect">
            <a:avLst/>
          </a:prstGeom>
          <a:ln w="12700">
            <a:solidFill>
              <a:srgbClr val="CFE5E9"/>
            </a:solidFill>
          </a:ln>
        </p:spPr>
      </p:pic>
      <p:sp>
        <p:nvSpPr>
          <p:cNvPr id="149" name="Rounded Rectangle 148"/>
          <p:cNvSpPr/>
          <p:nvPr/>
        </p:nvSpPr>
        <p:spPr>
          <a:xfrm>
            <a:off x="14392656" y="2870358"/>
            <a:ext cx="1440180" cy="1218152"/>
          </a:xfrm>
          <a:prstGeom prst="roundRect">
            <a:avLst/>
          </a:prstGeom>
          <a:noFill/>
          <a:ln w="31750">
            <a:solidFill>
              <a:srgbClr val="E46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664440" y="6532245"/>
            <a:ext cx="4800600" cy="731520"/>
          </a:xfrm>
          <a:prstGeom prst="rect">
            <a:avLst/>
          </a:prstGeom>
          <a:noFill/>
        </p:spPr>
        <p:txBody>
          <a:bodyPr wrap="square" anchor="t" lIns="0" rIns="0" tIns="0" bIns="0">
            <a:spAutoFit/>
          </a:bodyPr>
          <a:lstStyle/>
          <a:p>
            <a:pPr algn="ctr">
              <a:spcAft>
                <a:spcPts val="400"/>
              </a:spcAft>
            </a:pPr>
            <a:r>
              <a:rPr sz="1320" b="0" i="0">
                <a:solidFill>
                  <a:srgbClr val="5E6E78"/>
                </a:solidFill>
                <a:latin typeface="Calibri (MS)"/>
              </a:rPr>
              <a:t>Pesan Vensim: </a:t>
            </a:r>
            <a:r>
              <a:rPr sz="1320" b="1" i="0">
                <a:solidFill>
                  <a:srgbClr val="14313B"/>
                </a:solidFill>
                <a:latin typeface="Calibri (MS) Bold"/>
              </a:rPr>
              <a:t>“Model is OK.”</a:t>
            </a:r>
          </a:p>
        </p:txBody>
      </p:sp>
      <p:sp>
        <p:nvSpPr>
          <p:cNvPr id="151" name="TextBox 150"/>
          <p:cNvSpPr txBox="1"/>
          <p:nvPr/>
        </p:nvSpPr>
        <p:spPr>
          <a:xfrm>
            <a:off x="7726679" y="7360920"/>
            <a:ext cx="9738360" cy="640080"/>
          </a:xfrm>
          <a:prstGeom prst="rect">
            <a:avLst/>
          </a:prstGeom>
          <a:noFill/>
        </p:spPr>
        <p:txBody>
          <a:bodyPr wrap="square" anchor="t" lIns="0" rIns="0" tIns="0" bIns="0">
            <a:spAutoFit/>
          </a:bodyPr>
          <a:lstStyle/>
          <a:p>
            <a:pPr algn="ctr">
              <a:spcAft>
                <a:spcPts val="400"/>
              </a:spcAft>
            </a:pPr>
            <a:r>
              <a:rPr sz="1210" b="1" i="0">
                <a:solidFill>
                  <a:srgbClr val="5E6E78"/>
                </a:solidFill>
                <a:latin typeface="Calibri (MS) Bold"/>
              </a:rPr>
              <a:t>Gambar 16. </a:t>
            </a:r>
            <a:r>
              <a:rPr sz="1210" b="0" i="0">
                <a:solidFill>
                  <a:srgbClr val="5E6E78"/>
                </a:solidFill>
                <a:latin typeface="Calibri (MS)"/>
              </a:rPr>
              <a:t>Hasil pengujian konsistensi dimensi pada model stock-flow diagram di Vensim. Kotak merah: pesan hasil pemeriksaan.</a:t>
            </a:r>
          </a:p>
        </p:txBody>
      </p:sp>
      <p:sp>
        <p:nvSpPr>
          <p:cNvPr id="152" name="Rounded Rectangle 151"/>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Struktur model dapat dipertanggungjawabkan secara teori (setiap hubungan punya dasar) dan secara matematis (satuan konsisten).</a:t>
            </a:r>
          </a:p>
        </p:txBody>
      </p:sp>
      <p:sp>
        <p:nvSpPr>
          <p:cNvPr id="153" name="TextBox 15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4.4.1, Gambar 16; landasan tiap variabel pada tabel parameter.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(2/4): Kecukupan Batas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memuat 61 variabel; 15 aspek sengaja dikeluarkan, sehingga hasil tidak ditafsirkan pada aspek tersebut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9" id="11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20" id="120"/>
          <p:cNvGrpSpPr/>
          <p:nvPr/>
        </p:nvGrpSpPr>
        <p:grpSpPr>
          <a:xfrm rot="0">
            <a:off x="12755880" y="274320"/>
            <a:ext cx="3931920" cy="411480"/>
            <a:chOff x="0" y="0"/>
            <a:chExt cx="5242560" cy="548640"/>
          </a:xfrm>
        </p:grpSpPr>
        <p:sp>
          <p:nvSpPr>
            <p:cNvPr name="Freeform 121" id="12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2" id="12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23" name="Rounded Rectangle 122"/>
          <p:cNvSpPr/>
          <p:nvPr/>
        </p:nvSpPr>
        <p:spPr>
          <a:xfrm>
            <a:off x="822960" y="1783080"/>
            <a:ext cx="539496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3450" b="1" i="0">
                <a:solidFill>
                  <a:srgbClr val="0B5E6E"/>
                </a:solidFill>
                <a:latin typeface="Calibri (MS) Bold"/>
              </a:rPr>
              <a:t>26 </a:t>
            </a:r>
            <a:r>
              <a:rPr sz="1720" b="1" i="0">
                <a:solidFill>
                  <a:srgbClr val="0B5E6E"/>
                </a:solidFill>
                <a:latin typeface="Calibri (MS) Bold"/>
              </a:rPr>
              <a:t>variabel endogen</a:t>
            </a:r>
          </a:p>
          <a:p>
            <a:pPr algn="l">
              <a:spcAft>
                <a:spcPts val="300"/>
              </a:spcAft>
            </a:pPr>
            <a:r>
              <a:rPr sz="1320" b="0" i="0">
                <a:solidFill>
                  <a:srgbClr val="14313B"/>
                </a:solidFill>
                <a:latin typeface="Calibri (MS)"/>
              </a:rPr>
              <a:t>Dihitung di dalam model: stok, aliran, dan variabel turunan</a:t>
            </a:r>
          </a:p>
        </p:txBody>
      </p:sp>
      <p:sp>
        <p:nvSpPr>
          <p:cNvPr id="124" name="Rounded Rectangle 123"/>
          <p:cNvSpPr/>
          <p:nvPr/>
        </p:nvSpPr>
        <p:spPr>
          <a:xfrm>
            <a:off x="6446520" y="1783080"/>
            <a:ext cx="539496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3450" b="1" i="0">
                <a:solidFill>
                  <a:srgbClr val="0B5E6E"/>
                </a:solidFill>
                <a:latin typeface="Calibri (MS) Bold"/>
              </a:rPr>
              <a:t>35 </a:t>
            </a:r>
            <a:r>
              <a:rPr sz="1720" b="1" i="0">
                <a:solidFill>
                  <a:srgbClr val="0B5E6E"/>
                </a:solidFill>
                <a:latin typeface="Calibri (MS) Bold"/>
              </a:rPr>
              <a:t>variabel eksogen</a:t>
            </a:r>
          </a:p>
          <a:p>
            <a:pPr algn="l">
              <a:spcAft>
                <a:spcPts val="300"/>
              </a:spcAft>
            </a:pPr>
            <a:r>
              <a:rPr sz="1320" b="0" i="0">
                <a:solidFill>
                  <a:srgbClr val="14313B"/>
                </a:solidFill>
                <a:latin typeface="Calibri (MS)"/>
              </a:rPr>
              <a:t>Input dari luar model: data resmi, regulasi, asumsi, dan kebijakan</a:t>
            </a:r>
          </a:p>
        </p:txBody>
      </p:sp>
      <p:sp>
        <p:nvSpPr>
          <p:cNvPr id="125" name="Rounded Rectangle 124"/>
          <p:cNvSpPr/>
          <p:nvPr/>
        </p:nvSpPr>
        <p:spPr>
          <a:xfrm>
            <a:off x="12070080" y="1783080"/>
            <a:ext cx="5394960" cy="14173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3450" b="1" i="0">
                <a:solidFill>
                  <a:srgbClr val="7A5A00"/>
                </a:solidFill>
                <a:latin typeface="Calibri (MS) Bold"/>
              </a:rPr>
              <a:t>15 </a:t>
            </a:r>
            <a:r>
              <a:rPr sz="1720" b="1" i="0">
                <a:solidFill>
                  <a:srgbClr val="7A5A00"/>
                </a:solidFill>
                <a:latin typeface="Calibri (MS) Bold"/>
              </a:rPr>
              <a:t>aspek dikeluarkan</a:t>
            </a:r>
          </a:p>
          <a:p>
            <a:pPr algn="l">
              <a:spcAft>
                <a:spcPts val="300"/>
              </a:spcAft>
            </a:pPr>
            <a:r>
              <a:rPr sz="1320" b="0" i="0">
                <a:solidFill>
                  <a:srgbClr val="14313B"/>
                </a:solidFill>
                <a:latin typeface="Calibri (MS)"/>
              </a:rPr>
              <a:t>Masing-masing dicatat alasan dan konsekuensinya terhadap hasil</a:t>
            </a:r>
          </a:p>
        </p:txBody>
      </p:sp>
      <p:sp>
        <p:nvSpPr>
          <p:cNvPr id="126" name="TextBox 125"/>
          <p:cNvSpPr txBox="1"/>
          <p:nvPr/>
        </p:nvSpPr>
        <p:spPr>
          <a:xfrm>
            <a:off x="822960" y="3337560"/>
            <a:ext cx="16642080" cy="411480"/>
          </a:xfrm>
          <a:prstGeom prst="rect">
            <a:avLst/>
          </a:prstGeom>
          <a:noFill/>
        </p:spPr>
        <p:txBody>
          <a:bodyPr wrap="square" anchor="t" lIns="0" rIns="0" tIns="0" bIns="0">
            <a:spAutoFit/>
          </a:bodyPr>
          <a:lstStyle/>
          <a:p>
            <a:pPr algn="l">
              <a:spcAft>
                <a:spcPts val="400"/>
              </a:spcAft>
            </a:pPr>
            <a:r>
              <a:rPr sz="1550" b="1" i="0">
                <a:solidFill>
                  <a:srgbClr val="0B5E6E"/>
                </a:solidFill>
                <a:latin typeface="Calibri (MS) Bold"/>
              </a:rPr>
              <a:t>15 aspek yang dikeluarkan, dikelompokkan menurut konsekuensinya</a:t>
            </a:r>
          </a:p>
        </p:txBody>
      </p:sp>
      <p:sp>
        <p:nvSpPr>
          <p:cNvPr id="127" name="Rounded Rectangle 126"/>
          <p:cNvSpPr/>
          <p:nvPr/>
        </p:nvSpPr>
        <p:spPr>
          <a:xfrm>
            <a:off x="822960" y="3794760"/>
            <a:ext cx="8183879"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Pengaruhnya tersirat dalam laju pertumbuhan eksternal</a:t>
            </a:r>
          </a:p>
          <a:p>
            <a:pPr algn="l">
              <a:spcAft>
                <a:spcPts val="300"/>
              </a:spcAft>
            </a:pPr>
            <a:r>
              <a:rPr sz="1260" b="1" i="0">
                <a:solidFill>
                  <a:srgbClr val="14313B"/>
                </a:solidFill>
                <a:latin typeface="Calibri (MS) Bold"/>
              </a:rPr>
              <a:t>•  Aksesibilitas &amp; kapasitas transportasi</a:t>
            </a:r>
            <a:r>
              <a:rPr sz="1260" b="0" i="0">
                <a:solidFill>
                  <a:srgbClr val="5E6E78"/>
                </a:solidFill>
                <a:latin typeface="Calibri (MS)"/>
              </a:rPr>
              <a:t>  →  ditentukan kebijakan nasional</a:t>
            </a:r>
          </a:p>
          <a:p>
            <a:pPr algn="l">
              <a:spcAft>
                <a:spcPts val="300"/>
              </a:spcAft>
            </a:pPr>
            <a:r>
              <a:rPr sz="1260" b="1" i="0">
                <a:solidFill>
                  <a:srgbClr val="14313B"/>
                </a:solidFill>
                <a:latin typeface="Calibri (MS) Bold"/>
              </a:rPr>
              <a:t>•  Promosi, pemasaran &amp; citra destinasi</a:t>
            </a:r>
            <a:r>
              <a:rPr sz="1260" b="0" i="0">
                <a:solidFill>
                  <a:srgbClr val="5E6E78"/>
                </a:solidFill>
                <a:latin typeface="Calibri (MS)"/>
              </a:rPr>
              <a:t>  →  data anggaran/efektivitas tidak tersedia tahunan</a:t>
            </a:r>
          </a:p>
        </p:txBody>
      </p:sp>
      <p:sp>
        <p:nvSpPr>
          <p:cNvPr id="128" name="Rounded Rectangle 127"/>
          <p:cNvSpPr/>
          <p:nvPr/>
        </p:nvSpPr>
        <p:spPr>
          <a:xfrm>
            <a:off x="9281160" y="3794760"/>
            <a:ext cx="8183879" cy="2286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Tidak tergambar karena model tahunan dan agregat</a:t>
            </a:r>
          </a:p>
          <a:p>
            <a:pPr algn="l">
              <a:spcAft>
                <a:spcPts val="300"/>
              </a:spcAft>
            </a:pPr>
            <a:r>
              <a:rPr sz="1260" b="1" i="0">
                <a:solidFill>
                  <a:srgbClr val="14313B"/>
                </a:solidFill>
                <a:latin typeface="Calibri (MS) Bold"/>
              </a:rPr>
              <a:t>•  Harga &amp; daya saing harga</a:t>
            </a:r>
            <a:r>
              <a:rPr sz="1260" b="0" i="0">
                <a:solidFill>
                  <a:srgbClr val="5E6E78"/>
                </a:solidFill>
                <a:latin typeface="Calibri (MS)"/>
              </a:rPr>
              <a:t>  →  penyeimbang lewat harga tidak tercakup</a:t>
            </a:r>
          </a:p>
          <a:p>
            <a:pPr algn="l">
              <a:spcAft>
                <a:spcPts val="300"/>
              </a:spcAft>
            </a:pPr>
            <a:r>
              <a:rPr sz="1260" b="1" i="0">
                <a:solidFill>
                  <a:srgbClr val="14313B"/>
                </a:solidFill>
                <a:latin typeface="Calibri (MS) Bold"/>
              </a:rPr>
              <a:t>•  Musim &amp; fluktuasi bulanan</a:t>
            </a:r>
            <a:r>
              <a:rPr sz="1260" b="0" i="0">
                <a:solidFill>
                  <a:srgbClr val="5E6E78"/>
                </a:solidFill>
                <a:latin typeface="Calibri (MS)"/>
              </a:rPr>
              <a:t>  →  okupansi puncak musim ramai tidak tergambar</a:t>
            </a:r>
          </a:p>
          <a:p>
            <a:pPr algn="l">
              <a:spcAft>
                <a:spcPts val="300"/>
              </a:spcAft>
            </a:pPr>
            <a:r>
              <a:rPr sz="1260" b="1" i="0">
                <a:solidFill>
                  <a:srgbClr val="14313B"/>
                </a:solidFill>
                <a:latin typeface="Calibri (MS) Bold"/>
              </a:rPr>
              <a:t>•  Guncangan: pandemi, erupsi, gempa</a:t>
            </a:r>
            <a:r>
              <a:rPr sz="1260" b="0" i="0">
                <a:solidFill>
                  <a:srgbClr val="5E6E78"/>
                </a:solidFill>
                <a:latin typeface="Calibri (MS)"/>
              </a:rPr>
              <a:t>  →  lintasan digambarkan tanpa guncangan</a:t>
            </a:r>
          </a:p>
          <a:p>
            <a:pPr algn="l">
              <a:spcAft>
                <a:spcPts val="300"/>
              </a:spcAft>
            </a:pPr>
            <a:r>
              <a:rPr sz="1260" b="1" i="0">
                <a:solidFill>
                  <a:srgbClr val="14313B"/>
                </a:solidFill>
                <a:latin typeface="Calibri (MS) Bold"/>
              </a:rPr>
              <a:t>•  Persaingan antardestinasi</a:t>
            </a:r>
            <a:r>
              <a:rPr sz="1260" b="0" i="0">
                <a:solidFill>
                  <a:srgbClr val="5E6E78"/>
                </a:solidFill>
                <a:latin typeface="Calibri (MS)"/>
              </a:rPr>
              <a:t>  →  perpindahan wisatawan tidak dimodelkan</a:t>
            </a:r>
          </a:p>
          <a:p>
            <a:pPr algn="l">
              <a:spcAft>
                <a:spcPts val="300"/>
              </a:spcAft>
            </a:pPr>
            <a:r>
              <a:rPr sz="1260" b="1" i="0">
                <a:solidFill>
                  <a:srgbClr val="14313B"/>
                </a:solidFill>
                <a:latin typeface="Calibri (MS) Bold"/>
              </a:rPr>
              <a:t>•  Pemisahan wisman &amp; wisnus</a:t>
            </a:r>
            <a:r>
              <a:rPr sz="1260" b="0" i="0">
                <a:solidFill>
                  <a:srgbClr val="5E6E78"/>
                </a:solidFill>
                <a:latin typeface="Calibri (MS)"/>
              </a:rPr>
              <a:t>  →  beda belanja &amp; lama tinggal tidak terlihat</a:t>
            </a:r>
          </a:p>
          <a:p>
            <a:pPr algn="l">
              <a:spcAft>
                <a:spcPts val="300"/>
              </a:spcAft>
            </a:pPr>
            <a:r>
              <a:rPr sz="1260" b="1" i="0">
                <a:solidFill>
                  <a:srgbClr val="14313B"/>
                </a:solidFill>
                <a:latin typeface="Calibri (MS) Bold"/>
              </a:rPr>
              <a:t>•  Kualitas SDM &amp; sertifikasi usaha</a:t>
            </a:r>
            <a:r>
              <a:rPr sz="1260" b="0" i="0">
                <a:solidFill>
                  <a:srgbClr val="5E6E78"/>
                </a:solidFill>
                <a:latin typeface="Calibri (MS)"/>
              </a:rPr>
              <a:t>  →  fokus pada jumlah, bukan mutu</a:t>
            </a:r>
          </a:p>
        </p:txBody>
      </p:sp>
      <p:sp>
        <p:nvSpPr>
          <p:cNvPr id="129" name="Rounded Rectangle 128"/>
          <p:cNvSpPr/>
          <p:nvPr/>
        </p:nvSpPr>
        <p:spPr>
          <a:xfrm>
            <a:off x="822960" y="5349240"/>
            <a:ext cx="8183879" cy="1874519"/>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Lahan dan lingkungan disederhanakan</a:t>
            </a:r>
          </a:p>
          <a:p>
            <a:pPr algn="l">
              <a:spcAft>
                <a:spcPts val="300"/>
              </a:spcAft>
            </a:pPr>
            <a:r>
              <a:rPr sz="1260" b="1" i="0">
                <a:solidFill>
                  <a:srgbClr val="14313B"/>
                </a:solidFill>
                <a:latin typeface="Calibri (MS) Bold"/>
              </a:rPr>
              <a:t>•  Zonasi RTRW &amp; kawasan lindung</a:t>
            </a:r>
            <a:r>
              <a:rPr sz="1260" b="0" i="0">
                <a:solidFill>
                  <a:srgbClr val="5E6E78"/>
                </a:solidFill>
                <a:latin typeface="Calibri (MS)"/>
              </a:rPr>
              <a:t>  →  daya dukung lahan cenderung terlalu longgar</a:t>
            </a:r>
          </a:p>
          <a:p>
            <a:pPr algn="l">
              <a:spcAft>
                <a:spcPts val="300"/>
              </a:spcAft>
            </a:pPr>
            <a:r>
              <a:rPr sz="1260" b="1" i="0">
                <a:solidFill>
                  <a:srgbClr val="14313B"/>
                </a:solidFill>
                <a:latin typeface="Calibri (MS) Bold"/>
              </a:rPr>
              <a:t>•  Dampak lingkungan: sampah, air, emisi</a:t>
            </a:r>
            <a:r>
              <a:rPr sz="1260" b="0" i="0">
                <a:solidFill>
                  <a:srgbClr val="5E6E78"/>
                </a:solidFill>
                <a:latin typeface="Calibri (MS)"/>
              </a:rPr>
              <a:t>  →  hanya diwakili lahan terbangun</a:t>
            </a:r>
          </a:p>
          <a:p>
            <a:pPr algn="l">
              <a:spcAft>
                <a:spcPts val="300"/>
              </a:spcAft>
            </a:pPr>
            <a:r>
              <a:rPr sz="1260" b="1" i="0">
                <a:solidFill>
                  <a:srgbClr val="14313B"/>
                </a:solidFill>
                <a:latin typeface="Calibri (MS) Bold"/>
              </a:rPr>
              <a:t>•  Harga &amp; kepemilikan lahan</a:t>
            </a:r>
            <a:r>
              <a:rPr sz="1260" b="0" i="0">
                <a:solidFill>
                  <a:srgbClr val="5E6E78"/>
                </a:solidFill>
                <a:latin typeface="Calibri (MS)"/>
              </a:rPr>
              <a:t>  →  hambatan ekonomi konversi tidak dimodelkan</a:t>
            </a:r>
          </a:p>
        </p:txBody>
      </p:sp>
      <p:sp>
        <p:nvSpPr>
          <p:cNvPr id="130" name="Rounded Rectangle 129"/>
          <p:cNvSpPr/>
          <p:nvPr/>
        </p:nvSpPr>
        <p:spPr>
          <a:xfrm>
            <a:off x="9281160" y="6217920"/>
            <a:ext cx="8183879" cy="1920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Aspek sosial dan distribusi</a:t>
            </a:r>
          </a:p>
          <a:p>
            <a:pPr algn="l">
              <a:spcAft>
                <a:spcPts val="300"/>
              </a:spcAft>
            </a:pPr>
            <a:r>
              <a:rPr sz="1260" b="1" i="0">
                <a:solidFill>
                  <a:srgbClr val="14313B"/>
                </a:solidFill>
                <a:latin typeface="Calibri (MS) Bold"/>
              </a:rPr>
              <a:t>•  Daya dukung sosial budaya</a:t>
            </a:r>
            <a:r>
              <a:rPr sz="1260" b="0" i="0">
                <a:solidFill>
                  <a:srgbClr val="5E6E78"/>
                </a:solidFill>
                <a:latin typeface="Calibri (MS)"/>
              </a:rPr>
              <a:t>  →  aspek sosial tidak terwakili</a:t>
            </a:r>
          </a:p>
          <a:p>
            <a:pPr algn="l">
              <a:spcAft>
                <a:spcPts val="300"/>
              </a:spcAft>
            </a:pPr>
            <a:r>
              <a:rPr sz="1260" b="1" i="0">
                <a:solidFill>
                  <a:srgbClr val="14313B"/>
                </a:solidFill>
                <a:latin typeface="Calibri (MS) Bold"/>
              </a:rPr>
              <a:t>•  Distribusi manfaat ekonomi</a:t>
            </a:r>
            <a:r>
              <a:rPr sz="1260" b="0" i="0">
                <a:solidFill>
                  <a:srgbClr val="5E6E78"/>
                </a:solidFill>
                <a:latin typeface="Calibri (MS)"/>
              </a:rPr>
              <a:t>  →  tidak menjawab siapa penerima manfaat</a:t>
            </a:r>
          </a:p>
          <a:p>
            <a:pPr algn="l">
              <a:spcAft>
                <a:spcPts val="300"/>
              </a:spcAft>
            </a:pPr>
            <a:r>
              <a:rPr sz="1260" b="1" i="0">
                <a:solidFill>
                  <a:srgbClr val="14313B"/>
                </a:solidFill>
                <a:latin typeface="Calibri (MS) Bold"/>
              </a:rPr>
              <a:t>•  Investasi pemerintah (APBN/APBD)</a:t>
            </a:r>
            <a:r>
              <a:rPr sz="1260" b="0" i="0">
                <a:solidFill>
                  <a:srgbClr val="5E6E78"/>
                </a:solidFill>
                <a:latin typeface="Calibri (MS)"/>
              </a:rPr>
              <a:t>  →  masuk jalur pembangunan non-investasi</a:t>
            </a:r>
          </a:p>
          <a:p>
            <a:pPr algn="l">
              <a:spcAft>
                <a:spcPts val="300"/>
              </a:spcAft>
            </a:pPr>
            <a:r>
              <a:rPr sz="1260" b="1" i="0">
                <a:solidFill>
                  <a:srgbClr val="14313B"/>
                </a:solidFill>
                <a:latin typeface="Calibri (MS) Bold"/>
              </a:rPr>
              <a:t>•  Perpindahan tenaga kerja antarsektor</a:t>
            </a:r>
            <a:r>
              <a:rPr sz="1260" b="0" i="0">
                <a:solidFill>
                  <a:srgbClr val="5E6E78"/>
                </a:solidFill>
                <a:latin typeface="Calibri (MS)"/>
              </a:rPr>
              <a:t>  →  laju keluar tenaga kerja = batas bawah</a:t>
            </a:r>
          </a:p>
        </p:txBody>
      </p:sp>
      <p:sp>
        <p:nvSpPr>
          <p:cNvPr id="131" name="Rounded Rectangle 130"/>
          <p:cNvSpPr/>
          <p:nvPr/>
        </p:nvSpPr>
        <p:spPr>
          <a:xfrm>
            <a:off x="822960" y="7360920"/>
            <a:ext cx="8183879" cy="7772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60" b="1" i="0">
                <a:solidFill>
                  <a:srgbClr val="0B5E6E"/>
                </a:solidFill>
                <a:latin typeface="Calibri (MS) Bold"/>
              </a:rPr>
              <a:t>Daftar lengkap (alasan &amp; konsekuensi): </a:t>
            </a:r>
            <a:r>
              <a:rPr sz="1260" b="0" i="0">
                <a:solidFill>
                  <a:srgbClr val="14313B"/>
                </a:solidFill>
                <a:latin typeface="Calibri (MS)"/>
              </a:rPr>
              <a:t>Lampiran 9 · daftar 35 variabel eksogen: Tabel 38</a:t>
            </a:r>
          </a:p>
        </p:txBody>
      </p:sp>
      <p:sp>
        <p:nvSpPr>
          <p:cNvPr id="132" name="Rounded Rectangle 131"/>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Model dipakai untuk melihat lintasan jangka panjang tanpa guncangan; hasilnya tidak dipakai untuk menjelaskan harga, promosi, musim, atau guncangan eksternal.</a:t>
            </a:r>
          </a:p>
        </p:txBody>
      </p:sp>
      <p:sp>
        <p:nvSpPr>
          <p:cNvPr id="133" name="TextBox 1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4.4.2, Tabel 38–39; rincian di Lampiran 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(3/4): Kekekalan Materi dan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Tidak ada stok yang “bocor”, dan setiap loop dalam CLD bekerja sesuai rancangannya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03" name="Rounded Rectangle 102"/>
          <p:cNvSpPr/>
          <p:nvPr/>
        </p:nvSpPr>
        <p:spPr>
          <a:xfrm>
            <a:off x="822960" y="1783080"/>
            <a:ext cx="694944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kekekalan materi</a:t>
            </a:r>
          </a:p>
        </p:txBody>
      </p:sp>
      <p:sp>
        <p:nvSpPr>
          <p:cNvPr id="104" name="Rounded Rectangle 103"/>
          <p:cNvSpPr/>
          <p:nvPr/>
        </p:nvSpPr>
        <p:spPr>
          <a:xfrm>
            <a:off x="822960" y="2286000"/>
            <a:ext cx="6949440" cy="1051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Pertanyaan  </a:t>
            </a:r>
            <a:r>
              <a:rPr sz="1440" b="0" i="0">
                <a:solidFill>
                  <a:srgbClr val="14313B"/>
                </a:solidFill>
                <a:latin typeface="Calibri (MS)"/>
              </a:rPr>
              <a:t>Adakah wisatawan, hotel, ODTW, tenaga kerja, atau lahan yang muncul/hilang di luar aliran?</a:t>
            </a:r>
          </a:p>
        </p:txBody>
      </p:sp>
      <p:sp>
        <p:nvSpPr>
          <p:cNvPr id="105" name="Rounded Rectangle 104"/>
          <p:cNvSpPr/>
          <p:nvPr/>
        </p:nvSpPr>
        <p:spPr>
          <a:xfrm>
            <a:off x="822960" y="3474720"/>
            <a:ext cx="6949440" cy="13258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Stok tahun depan = stok tahun ini + aliran masuk − aliran keluar</a:t>
            </a:r>
          </a:p>
          <a:p>
            <a:pPr algn="l">
              <a:spcAft>
                <a:spcPts val="300"/>
              </a:spcAft>
            </a:pPr>
            <a:r>
              <a:rPr sz="1260" b="1" i="0">
                <a:solidFill>
                  <a:srgbClr val="14313B"/>
                </a:solidFill>
                <a:latin typeface="Calibri (MS) Bold"/>
              </a:rPr>
              <a:t>Contoh hotel 2025→2026:  </a:t>
            </a:r>
            <a:r>
              <a:rPr sz="1260" b="0" i="0">
                <a:solidFill>
                  <a:srgbClr val="14313B"/>
                </a:solidFill>
                <a:latin typeface="Calibri (MS)"/>
              </a:rPr>
              <a:t>2.291 + 158,17937 − 114,55 = 2.334,62937 unit</a:t>
            </a:r>
          </a:p>
          <a:p>
            <a:pPr algn="l">
              <a:spcAft>
                <a:spcPts val="300"/>
              </a:spcAft>
            </a:pPr>
            <a:r>
              <a:rPr sz="1260" b="1" i="0">
                <a:solidFill>
                  <a:srgbClr val="1E7A43"/>
                </a:solidFill>
                <a:latin typeface="Calibri (MS) Bold"/>
              </a:rPr>
              <a:t>= nilai stok 2026 hasil simulasi ✓</a:t>
            </a:r>
          </a:p>
        </p:txBody>
      </p:sp>
      <p:graphicFrame>
        <p:nvGraphicFramePr>
          <p:cNvPr id="106" name="Table 105"/>
          <p:cNvGraphicFramePr>
            <a:graphicFrameLocks noGrp="1"/>
          </p:cNvGraphicFramePr>
          <p:nvPr/>
        </p:nvGraphicFramePr>
        <p:xfrm>
          <a:off x="822960" y="4937760"/>
          <a:ext cx="6949438" cy="2907792"/>
        </p:xfrm>
        <a:graphic>
          <a:graphicData uri="http://schemas.openxmlformats.org/drawingml/2006/table">
            <a:tbl>
              <a:tblPr firstRow="1" bandRow="1">
                <a:tableStyleId>{5C22544A-7EE6-4342-B048-85BDC9FD1C3A}</a:tableStyleId>
              </a:tblPr>
              <a:tblGrid>
                <a:gridCol w="3281679"/>
                <a:gridCol w="2413000"/>
                <a:gridCol w="1254759"/>
              </a:tblGrid>
              <a:tr h="484632">
                <a:tc>
                  <a:txBody>
                    <a:bodyPr wrap="square"/>
                    <a:lstStyle/>
                    <a:p>
                      <a:r>
                        <a:rPr sz="1210" b="1" i="0">
                          <a:solidFill>
                            <a:srgbClr val="FFFFFF"/>
                          </a:solidFill>
                          <a:latin typeface="Calibri (MS) Bold"/>
                        </a:rPr>
                        <a:t>Stok</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Selisih maks. 2025–2049</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Status</a:t>
                      </a:r>
                    </a:p>
                  </a:txBody>
                  <a:tcPr marL="73152" marR="73152" marT="36576" marB="36576" anchor="ctr">
                    <a:solidFill>
                      <a:srgbClr val="0B5E6E"/>
                    </a:solidFill>
                  </a:tcPr>
                </a:tc>
              </a:tr>
              <a:tr h="484632">
                <a:tc>
                  <a:txBody>
                    <a:bodyPr wrap="square"/>
                    <a:lstStyle/>
                    <a:p>
                      <a:r>
                        <a:rPr sz="1210" b="0" i="0">
                          <a:solidFill>
                            <a:srgbClr val="14313B"/>
                          </a:solidFill>
                          <a:latin typeface="Calibri (MS)"/>
                        </a:rPr>
                        <a:t>Jumlah Wisatawan</a:t>
                      </a:r>
                    </a:p>
                  </a:txBody>
                  <a:tcPr marL="73152" marR="73152" marT="36576" marB="36576" anchor="ctr">
                    <a:solidFill>
                      <a:srgbClr val="FFFFFF"/>
                    </a:solidFill>
                  </a:tcPr>
                </a:tc>
                <a:tc>
                  <a:txBody>
                    <a:bodyPr wrap="square"/>
                    <a:lstStyle/>
                    <a:p>
                      <a:pPr algn="ctr"/>
                      <a:r>
                        <a:rPr sz="1210" b="0" i="0">
                          <a:solidFill>
                            <a:srgbClr val="14313B"/>
                          </a:solidFill>
                          <a:latin typeface="Calibri (MS)"/>
                        </a:rPr>
                        <a:t>≈ 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Jumlah Hotel dan Akomodasi</a:t>
                      </a:r>
                    </a:p>
                  </a:txBody>
                  <a:tcPr marL="73152" marR="73152" marT="36576" marB="36576" anchor="ctr">
                    <a:solidFill>
                      <a:srgbClr val="EAF8FA"/>
                    </a:solidFill>
                  </a:tcPr>
                </a:tc>
                <a:tc>
                  <a:txBody>
                    <a:bodyPr wrap="square"/>
                    <a:lstStyle/>
                    <a:p>
                      <a:pPr algn="ctr"/>
                      <a:r>
                        <a:rPr sz="1210" b="0" i="0">
                          <a:solidFill>
                            <a:srgbClr val="14313B"/>
                          </a:solidFill>
                          <a:latin typeface="Calibri (MS)"/>
                        </a:rPr>
                        <a:t>0</a:t>
                      </a:r>
                    </a:p>
                  </a:txBody>
                  <a:tcPr marL="73152" marR="73152" marT="36576" marB="36576" anchor="ctr">
                    <a:solidFill>
                      <a:srgbClr val="EAF8FA"/>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Jumlah ODTW</a:t>
                      </a:r>
                    </a:p>
                  </a:txBody>
                  <a:tcPr marL="73152" marR="73152" marT="36576" marB="36576" anchor="ctr">
                    <a:solidFill>
                      <a:srgbClr val="FFFFFF"/>
                    </a:solidFill>
                  </a:tcPr>
                </a:tc>
                <a:tc>
                  <a:txBody>
                    <a:bodyPr wrap="square"/>
                    <a:lstStyle/>
                    <a:p>
                      <a:pPr algn="ctr"/>
                      <a:r>
                        <a:rPr sz="1210" b="0" i="0">
                          <a:solidFill>
                            <a:srgbClr val="14313B"/>
                          </a:solidFill>
                          <a:latin typeface="Calibri (MS)"/>
                        </a:rPr>
                        <a:t>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Tenaga Kerja Pariwisata</a:t>
                      </a:r>
                    </a:p>
                  </a:txBody>
                  <a:tcPr marL="73152" marR="73152" marT="36576" marB="36576" anchor="ctr">
                    <a:solidFill>
                      <a:srgbClr val="EAF8FA"/>
                    </a:solidFill>
                  </a:tcPr>
                </a:tc>
                <a:tc>
                  <a:txBody>
                    <a:bodyPr wrap="square"/>
                    <a:lstStyle/>
                    <a:p>
                      <a:pPr algn="ctr"/>
                      <a:r>
                        <a:rPr sz="1210" b="0" i="0">
                          <a:solidFill>
                            <a:srgbClr val="14313B"/>
                          </a:solidFill>
                          <a:latin typeface="Calibri (MS)"/>
                        </a:rPr>
                        <a:t>0</a:t>
                      </a:r>
                    </a:p>
                  </a:txBody>
                  <a:tcPr marL="73152" marR="73152" marT="36576" marB="36576" anchor="ctr">
                    <a:solidFill>
                      <a:srgbClr val="EAF8FA"/>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Lahan Terbangun</a:t>
                      </a:r>
                    </a:p>
                  </a:txBody>
                  <a:tcPr marL="73152" marR="73152" marT="36576" marB="36576" anchor="ctr">
                    <a:solidFill>
                      <a:srgbClr val="FFFFFF"/>
                    </a:solidFill>
                  </a:tcPr>
                </a:tc>
                <a:tc>
                  <a:txBody>
                    <a:bodyPr wrap="square"/>
                    <a:lstStyle/>
                    <a:p>
                      <a:pPr algn="ctr"/>
                      <a:r>
                        <a:rPr sz="1210" b="0" i="0">
                          <a:solidFill>
                            <a:srgbClr val="14313B"/>
                          </a:solidFill>
                          <a:latin typeface="Calibri (MS)"/>
                        </a:rPr>
                        <a:t>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bl>
          </a:graphicData>
        </a:graphic>
      </p:graphicFrame>
      <p:sp>
        <p:nvSpPr>
          <p:cNvPr id="107" name="Rounded Rectangle 106"/>
          <p:cNvSpPr/>
          <p:nvPr/>
        </p:nvSpPr>
        <p:spPr>
          <a:xfrm>
            <a:off x="8046720" y="1783080"/>
            <a:ext cx="94183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feedback loop</a:t>
            </a:r>
            <a:r>
              <a:rPr sz="1260" b="0" i="0">
                <a:solidFill>
                  <a:srgbClr val="D7EEF2"/>
                </a:solidFill>
                <a:latin typeface="Calibri (MS)"/>
              </a:rPr>
              <a:t>   satu loop dimatikan, dibandingkan dengan simulasi dasar</a:t>
            </a:r>
          </a:p>
        </p:txBody>
      </p:sp>
      <p:sp>
        <p:nvSpPr>
          <p:cNvPr id="108" name="TextBox 107"/>
          <p:cNvSpPr txBox="1"/>
          <p:nvPr/>
        </p:nvSpPr>
        <p:spPr>
          <a:xfrm>
            <a:off x="8046720" y="2286000"/>
            <a:ext cx="9418320" cy="365760"/>
          </a:xfrm>
          <a:prstGeom prst="rect">
            <a:avLst/>
          </a:prstGeom>
          <a:noFill/>
        </p:spPr>
        <p:txBody>
          <a:bodyPr wrap="square" anchor="t" lIns="0" rIns="0" tIns="0" bIns="0">
            <a:spAutoFit/>
          </a:bodyPr>
          <a:lstStyle/>
          <a:p>
            <a:pPr algn="l">
              <a:spcAft>
                <a:spcPts val="400"/>
              </a:spcAft>
            </a:pPr>
            <a:r>
              <a:rPr sz="1320" b="1" i="0">
                <a:solidFill>
                  <a:srgbClr val="14313B"/>
                </a:solidFill>
                <a:latin typeface="Calibri (MS) Bold"/>
              </a:rPr>
              <a:t>Jumlah wisatawan tahun 2050 (juta)</a:t>
            </a:r>
            <a:r>
              <a:rPr sz="1210" b="0" i="0">
                <a:solidFill>
                  <a:srgbClr val="5E6E78"/>
                </a:solidFill>
                <a:latin typeface="Calibri (MS)"/>
              </a:rPr>
              <a:t>  · loop dimatikan = variabel penutup loop ditahan pada nilai 2025</a:t>
            </a:r>
          </a:p>
        </p:txBody>
      </p:sp>
      <p:graphicFrame>
        <p:nvGraphicFramePr>
          <p:cNvPr id="109" name="Chart 108"/>
          <p:cNvGraphicFramePr>
            <a:graphicFrameLocks noGrp="1"/>
          </p:cNvGraphicFramePr>
          <p:nvPr/>
        </p:nvGraphicFramePr>
        <p:xfrm>
          <a:off x="8046720" y="2606040"/>
          <a:ext cx="9418320" cy="3383280"/>
        </p:xfrm>
        <a:graphic>
          <a:graphicData uri="http://schemas.openxmlformats.org/drawingml/2006/chart">
            <c:chart xmlns:c="http://schemas.openxmlformats.org/drawingml/2006/chart" r:id="rId9"/>
          </a:graphicData>
        </a:graphic>
      </p:graphicFrame>
      <p:sp>
        <p:nvSpPr>
          <p:cNvPr id="110" name="Rounded Rectangle 109"/>
          <p:cNvSpPr/>
          <p:nvPr/>
        </p:nvSpPr>
        <p:spPr>
          <a:xfrm>
            <a:off x="8046720" y="6080760"/>
            <a:ext cx="94183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260" b="1" i="0">
                <a:solidFill>
                  <a:srgbClr val="14313B"/>
                </a:solidFill>
                <a:latin typeface="Calibri (MS) Bold"/>
              </a:rPr>
              <a:t>•  B1 kepadatan = rem terkuat: </a:t>
            </a:r>
            <a:r>
              <a:rPr sz="1260" b="0" i="0">
                <a:solidFill>
                  <a:srgbClr val="14313B"/>
                </a:solidFill>
                <a:latin typeface="Calibri (MS)"/>
              </a:rPr>
              <a:t>dimatikan → wisatawan +160,2%, 5 dari 6 variabel berubah &gt;1%.</a:t>
            </a:r>
          </a:p>
          <a:p>
            <a:pPr algn="l">
              <a:spcAft>
                <a:spcPts val="300"/>
              </a:spcAft>
            </a:pPr>
            <a:r>
              <a:rPr sz="1260" b="1" i="0">
                <a:solidFill>
                  <a:srgbClr val="14313B"/>
                </a:solidFill>
                <a:latin typeface="Calibri (MS) Bold"/>
              </a:rPr>
              <a:t>•  Daya dukung lahan: </a:t>
            </a:r>
            <a:r>
              <a:rPr sz="1260" b="0" i="0">
                <a:solidFill>
                  <a:srgbClr val="14313B"/>
                </a:solidFill>
                <a:latin typeface="Calibri (MS)"/>
              </a:rPr>
              <a:t>+16,1%, tetapi satu-satunya yang mengubah 6 dari 6 variabel. </a:t>
            </a:r>
            <a:r>
              <a:rPr sz="1260" b="1" i="0">
                <a:solidFill>
                  <a:srgbClr val="14313B"/>
                </a:solidFill>
                <a:latin typeface="Calibri (MS) Bold"/>
              </a:rPr>
              <a:t>R2: </a:t>
            </a:r>
            <a:r>
              <a:rPr sz="1260" b="0" i="0">
                <a:solidFill>
                  <a:srgbClr val="14313B"/>
                </a:solidFill>
                <a:latin typeface="Calibri (MS)"/>
              </a:rPr>
              <a:t>wisatawan −16,6%, ODTW −45,3%.</a:t>
            </a:r>
          </a:p>
          <a:p>
            <a:pPr algn="l">
              <a:spcAft>
                <a:spcPts val="300"/>
              </a:spcAft>
            </a:pPr>
            <a:r>
              <a:rPr sz="1260" b="1" i="0">
                <a:solidFill>
                  <a:srgbClr val="14313B"/>
                </a:solidFill>
                <a:latin typeface="Calibri (MS) Bold"/>
              </a:rPr>
              <a:t>•  Dampak terbatas: </a:t>
            </a:r>
            <a:r>
              <a:rPr sz="1260" b="0" i="0">
                <a:solidFill>
                  <a:srgbClr val="14313B"/>
                </a:solidFill>
                <a:latin typeface="Calibri (MS)"/>
              </a:rPr>
              <a:t>okupansi (hanya hotel −10,0%) dan goal-seeking tenaga kerja (hanya tenaga kerja −43,9%).</a:t>
            </a:r>
          </a:p>
          <a:p>
            <a:pPr algn="l">
              <a:spcAft>
                <a:spcPts val="300"/>
              </a:spcAft>
            </a:pPr>
            <a:r>
              <a:rPr sz="1260" b="1" i="0">
                <a:solidFill>
                  <a:srgbClr val="14313B"/>
                </a:solidFill>
                <a:latin typeface="Calibri (MS) Bold"/>
              </a:rPr>
              <a:t>•  Efek loop tidak bisa dijumlahkan: </a:t>
            </a:r>
            <a:r>
              <a:rPr sz="1260" b="0" i="0">
                <a:solidFill>
                  <a:srgbClr val="14313B"/>
                </a:solidFill>
                <a:latin typeface="Calibri (MS)"/>
              </a:rPr>
              <a:t>B1 saja dimatikan (250,32) &gt; semua rem dimatikan (217,37), karena R2 tetap menaikkan daya tarik hingga 1,0696.</a:t>
            </a:r>
          </a:p>
        </p:txBody>
      </p:sp>
      <p:sp>
        <p:nvSpPr>
          <p:cNvPr id="111" name="Rounded Rectangle 110"/>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Stok hanya berubah lewat alirannya, dan setiap balancing loop yang dimatikan mempercepat pertumbuhan: keenam loop CLD bekerja sesuai rancangan.</a:t>
            </a:r>
          </a:p>
        </p:txBody>
      </p:sp>
      <p:sp>
        <p:nvSpPr>
          <p:cNvPr id="112" name="TextBox 11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4.4.3–4.4.4, Tabel 40–42, Gambar 17.</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(4/4): Kondisi Ekstrem dan Error Integrasi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Pada nilai ekstrem model tetap logis; pelanggaran kecil pada E15 hanya error hitungan numerik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90" id="90"/>
          <p:cNvGrpSpPr/>
          <p:nvPr/>
        </p:nvGrpSpPr>
        <p:grpSpPr>
          <a:xfrm rot="0">
            <a:off x="12755880" y="274320"/>
            <a:ext cx="3931920" cy="411480"/>
            <a:chOff x="0" y="0"/>
            <a:chExt cx="5242560" cy="548640"/>
          </a:xfrm>
        </p:grpSpPr>
        <p:sp>
          <p:nvSpPr>
            <p:cNvPr name="Freeform 91" id="9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2" id="9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93" name="Rounded Rectangle 92"/>
          <p:cNvSpPr/>
          <p:nvPr/>
        </p:nvSpPr>
        <p:spPr>
          <a:xfrm>
            <a:off x="822960" y="1783080"/>
            <a:ext cx="10332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kondisi ekstrem</a:t>
            </a:r>
            <a:r>
              <a:rPr sz="1260" b="0" i="0">
                <a:solidFill>
                  <a:srgbClr val="D7EEF2"/>
                </a:solidFill>
                <a:latin typeface="Calibri (MS)"/>
              </a:rPr>
              <a:t>   17 uji pada 5 subsistem, dinilai dengan 6 aturan fisik</a:t>
            </a:r>
          </a:p>
        </p:txBody>
      </p:sp>
      <p:sp>
        <p:nvSpPr>
          <p:cNvPr id="94" name="Rounded Rectangle 93"/>
          <p:cNvSpPr/>
          <p:nvPr/>
        </p:nvSpPr>
        <p:spPr>
          <a:xfrm>
            <a:off x="82296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Stok ≥ 0</a:t>
            </a:r>
          </a:p>
        </p:txBody>
      </p:sp>
      <p:sp>
        <p:nvSpPr>
          <p:cNvPr id="95" name="Rounded Rectangle 94"/>
          <p:cNvSpPr/>
          <p:nvPr/>
        </p:nvSpPr>
        <p:spPr>
          <a:xfrm>
            <a:off x="256032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TPK ≤ 1</a:t>
            </a:r>
          </a:p>
        </p:txBody>
      </p:sp>
      <p:sp>
        <p:nvSpPr>
          <p:cNvPr id="96" name="Rounded Rectangle 95"/>
          <p:cNvSpPr/>
          <p:nvPr/>
        </p:nvSpPr>
        <p:spPr>
          <a:xfrm>
            <a:off x="429768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RDDL ≥ 0</a:t>
            </a:r>
          </a:p>
        </p:txBody>
      </p:sp>
      <p:sp>
        <p:nvSpPr>
          <p:cNvPr id="97" name="Rounded Rectangle 96"/>
          <p:cNvSpPr/>
          <p:nvPr/>
        </p:nvSpPr>
        <p:spPr>
          <a:xfrm>
            <a:off x="603504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Lahan ≤ luas wilayah</a:t>
            </a:r>
          </a:p>
        </p:txBody>
      </p:sp>
      <p:sp>
        <p:nvSpPr>
          <p:cNvPr id="98" name="Rounded Rectangle 97"/>
          <p:cNvSpPr/>
          <p:nvPr/>
        </p:nvSpPr>
        <p:spPr>
          <a:xfrm>
            <a:off x="777240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Daya tarik 0–3</a:t>
            </a:r>
          </a:p>
        </p:txBody>
      </p:sp>
      <p:sp>
        <p:nvSpPr>
          <p:cNvPr id="99" name="Rounded Rectangle 98"/>
          <p:cNvSpPr/>
          <p:nvPr/>
        </p:nvSpPr>
        <p:spPr>
          <a:xfrm>
            <a:off x="950976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Wisatawan ≤ 5× dasar*</a:t>
            </a:r>
          </a:p>
        </p:txBody>
      </p:sp>
      <p:sp>
        <p:nvSpPr>
          <p:cNvPr id="100" name="Rounded Rectangle 99"/>
          <p:cNvSpPr/>
          <p:nvPr/>
        </p:nvSpPr>
        <p:spPr>
          <a:xfrm>
            <a:off x="822960" y="2926080"/>
            <a:ext cx="2377440" cy="731520"/>
          </a:xfrm>
          <a:prstGeom prst="roundRect">
            <a:avLst>
              <a:gd name="adj" fmla="val 8000"/>
            </a:avLst>
          </a:prstGeom>
          <a:solidFill>
            <a:srgbClr val="C9F0D6"/>
          </a:solidFill>
          <a:ln w="12700">
            <a:solidFill>
              <a:srgbClr val="9BD8A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1E7A43"/>
                </a:solidFill>
                <a:latin typeface="Calibri (MS) Bold"/>
              </a:rPr>
              <a:t>15 </a:t>
            </a:r>
            <a:r>
              <a:rPr sz="1380" b="1" i="0">
                <a:solidFill>
                  <a:srgbClr val="1E7A43"/>
                </a:solidFill>
                <a:latin typeface="Calibri (MS) Bold"/>
              </a:rPr>
              <a:t>lolos</a:t>
            </a:r>
          </a:p>
        </p:txBody>
      </p:sp>
      <p:sp>
        <p:nvSpPr>
          <p:cNvPr id="101" name="Rounded Rectangle 100"/>
          <p:cNvSpPr/>
          <p:nvPr/>
        </p:nvSpPr>
        <p:spPr>
          <a:xfrm>
            <a:off x="3337560" y="2926080"/>
            <a:ext cx="457200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7A5A00"/>
                </a:solidFill>
                <a:latin typeface="Calibri (MS) Bold"/>
              </a:rPr>
              <a:t>2 </a:t>
            </a:r>
            <a:r>
              <a:rPr sz="1380" b="1" i="0">
                <a:solidFill>
                  <a:srgbClr val="7A5A00"/>
                </a:solidFill>
                <a:latin typeface="Calibri (MS) Bold"/>
              </a:rPr>
              <a:t>lolos dengan catatan (E02, E15)</a:t>
            </a:r>
          </a:p>
        </p:txBody>
      </p:sp>
      <p:sp>
        <p:nvSpPr>
          <p:cNvPr id="102" name="Rounded Rectangle 101"/>
          <p:cNvSpPr/>
          <p:nvPr/>
        </p:nvSpPr>
        <p:spPr>
          <a:xfrm>
            <a:off x="8046720" y="2926080"/>
            <a:ext cx="2377440" cy="731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0B5E6E"/>
                </a:solidFill>
                <a:latin typeface="Calibri (MS) Bold"/>
              </a:rPr>
              <a:t>0 </a:t>
            </a:r>
            <a:r>
              <a:rPr sz="1380" b="1" i="0">
                <a:solidFill>
                  <a:srgbClr val="0B5E6E"/>
                </a:solidFill>
                <a:latin typeface="Calibri (MS) Bold"/>
              </a:rPr>
              <a:t>gagal</a:t>
            </a:r>
          </a:p>
        </p:txBody>
      </p:sp>
      <p:sp>
        <p:nvSpPr>
          <p:cNvPr id="103" name="Rounded Rectangle 102"/>
          <p:cNvSpPr/>
          <p:nvPr/>
        </p:nvSpPr>
        <p:spPr>
          <a:xfrm>
            <a:off x="822960" y="3749039"/>
            <a:ext cx="10332720" cy="566928"/>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60" b="1" i="0">
                <a:solidFill>
                  <a:srgbClr val="0B5E6E"/>
                </a:solidFill>
                <a:latin typeface="Calibri (MS) Bold"/>
              </a:rPr>
              <a:t>4 pembatas ditambahkan setelah uji awal: </a:t>
            </a:r>
            <a:r>
              <a:rPr sz="1260" b="0" i="0">
                <a:solidFill>
                  <a:srgbClr val="14313B"/>
                </a:solidFill>
                <a:latin typeface="Calibri (MS)"/>
              </a:rPr>
              <a:t>TPK ≤ 1 · RDDL ≥ 0 · batas atas komponen kepadatan dan ODTW pada indeks daya tarik</a:t>
            </a:r>
          </a:p>
        </p:txBody>
      </p:sp>
      <p:pic>
        <p:nvPicPr>
          <p:cNvPr id="104" name="Picture 103" descr="image21.png"/>
          <p:cNvPicPr>
            <a:picLocks noChangeAspect="1"/>
          </p:cNvPicPr>
          <p:nvPr/>
        </p:nvPicPr>
        <p:blipFill>
          <a:blip r:embed="rId10"/>
          <a:stretch>
            <a:fillRect/>
          </a:stretch>
        </p:blipFill>
        <p:spPr>
          <a:xfrm>
            <a:off x="822960" y="4434840"/>
            <a:ext cx="5074920" cy="1753154"/>
          </a:xfrm>
          <a:prstGeom prst="rect">
            <a:avLst/>
          </a:prstGeom>
          <a:ln w="12700">
            <a:solidFill>
              <a:srgbClr val="CFE5E9"/>
            </a:solidFill>
          </a:ln>
        </p:spPr>
      </p:pic>
      <p:sp>
        <p:nvSpPr>
          <p:cNvPr id="105" name="TextBox 104"/>
          <p:cNvSpPr txBox="1"/>
          <p:nvPr/>
        </p:nvSpPr>
        <p:spPr>
          <a:xfrm>
            <a:off x="822960" y="6233714"/>
            <a:ext cx="5074920" cy="6858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E04 · </a:t>
            </a:r>
            <a:r>
              <a:rPr sz="1210" b="0" i="0">
                <a:solidFill>
                  <a:srgbClr val="14313B"/>
                </a:solidFill>
                <a:latin typeface="Calibri (MS)"/>
              </a:rPr>
              <a:t>rasio investasi/PDRB = 0 → TPK naik lalu mendatar tepat di 1,000 (rasio permintaan sampai 2,267)</a:t>
            </a:r>
          </a:p>
        </p:txBody>
      </p:sp>
      <p:pic>
        <p:nvPicPr>
          <p:cNvPr id="106" name="Picture 105" descr="image22.png"/>
          <p:cNvPicPr>
            <a:picLocks noChangeAspect="1"/>
          </p:cNvPicPr>
          <p:nvPr/>
        </p:nvPicPr>
        <p:blipFill>
          <a:blip r:embed="rId11"/>
          <a:stretch>
            <a:fillRect/>
          </a:stretch>
        </p:blipFill>
        <p:spPr>
          <a:xfrm>
            <a:off x="6080760" y="4434840"/>
            <a:ext cx="5074920" cy="1753154"/>
          </a:xfrm>
          <a:prstGeom prst="rect">
            <a:avLst/>
          </a:prstGeom>
          <a:ln w="12700">
            <a:solidFill>
              <a:srgbClr val="CFE5E9"/>
            </a:solidFill>
          </a:ln>
        </p:spPr>
      </p:pic>
      <p:sp>
        <p:nvSpPr>
          <p:cNvPr id="107" name="TextBox 106"/>
          <p:cNvSpPr txBox="1"/>
          <p:nvPr/>
        </p:nvSpPr>
        <p:spPr>
          <a:xfrm>
            <a:off x="6080760" y="6233714"/>
            <a:ext cx="5074920" cy="6858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E09 · </a:t>
            </a:r>
            <a:r>
              <a:rPr sz="1210" b="0" i="0">
                <a:solidFill>
                  <a:srgbClr val="14313B"/>
                </a:solidFill>
                <a:latin typeface="Calibri (MS)"/>
              </a:rPr>
              <a:t>laju konversi ×10 → RDDL turun tepat ke 0; lahan berhenti di luas wilayah</a:t>
            </a:r>
          </a:p>
        </p:txBody>
      </p:sp>
      <p:sp>
        <p:nvSpPr>
          <p:cNvPr id="108" name="TextBox 107"/>
          <p:cNvSpPr txBox="1"/>
          <p:nvPr/>
        </p:nvSpPr>
        <p:spPr>
          <a:xfrm>
            <a:off x="822960" y="6903720"/>
            <a:ext cx="10332720" cy="1188720"/>
          </a:xfrm>
          <a:prstGeom prst="rect">
            <a:avLst/>
          </a:prstGeom>
          <a:noFill/>
        </p:spPr>
        <p:txBody>
          <a:bodyPr wrap="square" anchor="t" lIns="0" rIns="0" tIns="0" bIns="0">
            <a:spAutoFit/>
          </a:bodyPr>
          <a:lstStyle/>
          <a:p>
            <a:pPr algn="l">
              <a:spcAft>
                <a:spcPts val="400"/>
              </a:spcAft>
            </a:pPr>
            <a:r>
              <a:rPr sz="1320" b="1" i="0">
                <a:solidFill>
                  <a:srgbClr val="0B5E6E"/>
                </a:solidFill>
                <a:latin typeface="Calibri (MS) Bold"/>
              </a:rPr>
              <a:t>Bukti lain: </a:t>
            </a:r>
            <a:r>
              <a:rPr sz="1320" b="0" i="0">
                <a:solidFill>
                  <a:srgbClr val="14313B"/>
                </a:solidFill>
                <a:latin typeface="Calibri (MS)"/>
              </a:rPr>
              <a:t>daya tarik tetap 0,60–1,00 pada E01 &amp; E15; E10 = E11 identik; E12/E13 hanya mengubah tenaga kerja. </a:t>
            </a:r>
            <a:r>
              <a:rPr sz="1320" b="1" i="0">
                <a:solidFill>
                  <a:srgbClr val="7A5A00"/>
                </a:solidFill>
                <a:latin typeface="Calibri (MS) Bold"/>
              </a:rPr>
              <a:t>* E02 &amp; E15 dikecualikan dari aturan 5×: </a:t>
            </a:r>
            <a:r>
              <a:rPr sz="1320" b="0" i="0">
                <a:solidFill>
                  <a:srgbClr val="14313B"/>
                </a:solidFill>
                <a:latin typeface="Calibri (MS)"/>
              </a:rPr>
              <a:t>rem sengaja dihilangkan/pendorong diperbesar. Batas berlaku model: LPE ≲ 0,336 (≈1,25× nilai dasar).</a:t>
            </a:r>
          </a:p>
        </p:txBody>
      </p:sp>
      <p:sp>
        <p:nvSpPr>
          <p:cNvPr id="109" name="Rounded Rectangle 108"/>
          <p:cNvSpPr/>
          <p:nvPr/>
        </p:nvSpPr>
        <p:spPr>
          <a:xfrm>
            <a:off x="11430000" y="1783080"/>
            <a:ext cx="603504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error integrasi</a:t>
            </a:r>
            <a:r>
              <a:rPr sz="1260" b="0" i="0">
                <a:solidFill>
                  <a:srgbClr val="D7EEF2"/>
                </a:solidFill>
                <a:latin typeface="Calibri (MS)"/>
              </a:rPr>
              <a:t>   lanjutan E15</a:t>
            </a:r>
          </a:p>
        </p:txBody>
      </p:sp>
      <p:sp>
        <p:nvSpPr>
          <p:cNvPr id="110" name="TextBox 109"/>
          <p:cNvSpPr txBox="1"/>
          <p:nvPr/>
        </p:nvSpPr>
        <p:spPr>
          <a:xfrm>
            <a:off x="11430000" y="2286000"/>
            <a:ext cx="6035040" cy="548640"/>
          </a:xfrm>
          <a:prstGeom prst="rect">
            <a:avLst/>
          </a:prstGeom>
          <a:noFill/>
        </p:spPr>
        <p:txBody>
          <a:bodyPr wrap="square" anchor="t" lIns="0" rIns="0" tIns="0" bIns="0">
            <a:spAutoFit/>
          </a:bodyPr>
          <a:lstStyle/>
          <a:p>
            <a:pPr algn="l">
              <a:spcAft>
                <a:spcPts val="400"/>
              </a:spcAft>
            </a:pPr>
            <a:r>
              <a:rPr sz="1210" b="0" i="0">
                <a:solidFill>
                  <a:srgbClr val="14313B"/>
                </a:solidFill>
                <a:latin typeface="Calibri (MS)"/>
              </a:rPr>
              <a:t>Pada E15 (LPE ×3), dt 1 tahun, lahan sempat melewati luas wilayah. Salah struktur atau error hitungan?</a:t>
            </a:r>
          </a:p>
        </p:txBody>
      </p:sp>
      <p:pic>
        <p:nvPicPr>
          <p:cNvPr id="111" name="Picture 110" descr="image27.png"/>
          <p:cNvPicPr>
            <a:picLocks noChangeAspect="1"/>
          </p:cNvPicPr>
          <p:nvPr/>
        </p:nvPicPr>
        <p:blipFill>
          <a:blip r:embed="rId12"/>
          <a:stretch>
            <a:fillRect/>
          </a:stretch>
        </p:blipFill>
        <p:spPr>
          <a:xfrm>
            <a:off x="11887200" y="2834640"/>
            <a:ext cx="5120640" cy="2867558"/>
          </a:xfrm>
          <a:prstGeom prst="rect">
            <a:avLst/>
          </a:prstGeom>
          <a:ln w="12700">
            <a:solidFill>
              <a:srgbClr val="CFE5E9"/>
            </a:solidFill>
          </a:ln>
        </p:spPr>
      </p:pic>
      <p:graphicFrame>
        <p:nvGraphicFramePr>
          <p:cNvPr id="112" name="Table 111"/>
          <p:cNvGraphicFramePr>
            <a:graphicFrameLocks noGrp="1"/>
          </p:cNvGraphicFramePr>
          <p:nvPr/>
        </p:nvGraphicFramePr>
        <p:xfrm>
          <a:off x="11430000" y="5775350"/>
          <a:ext cx="6035040" cy="1554480"/>
        </p:xfrm>
        <a:graphic>
          <a:graphicData uri="http://schemas.openxmlformats.org/drawingml/2006/table">
            <a:tbl>
              <a:tblPr firstRow="1" bandRow="1">
                <a:tableStyleId>{5C22544A-7EE6-4342-B048-85BDC9FD1C3A}</a:tableStyleId>
              </a:tblPr>
              <a:tblGrid>
                <a:gridCol w="2103120"/>
                <a:gridCol w="3931920"/>
              </a:tblGrid>
              <a:tr h="310896">
                <a:tc>
                  <a:txBody>
                    <a:bodyPr wrap="square"/>
                    <a:lstStyle/>
                    <a:p>
                      <a:r>
                        <a:rPr sz="1150" b="1" i="0">
                          <a:solidFill>
                            <a:srgbClr val="FFFFFF"/>
                          </a:solidFill>
                          <a:latin typeface="Calibri (MS) Bold"/>
                        </a:rPr>
                        <a:t>Langkah waktu (dt)</a:t>
                      </a:r>
                    </a:p>
                  </a:txBody>
                  <a:tcPr marL="73152" marR="73152" marT="36576" marB="36576" anchor="ctr">
                    <a:solidFill>
                      <a:srgbClr val="0B5E6E"/>
                    </a:solidFill>
                  </a:tcPr>
                </a:tc>
                <a:tc>
                  <a:txBody>
                    <a:bodyPr wrap="square"/>
                    <a:lstStyle/>
                    <a:p>
                      <a:r>
                        <a:rPr sz="1150" b="1" i="0">
                          <a:solidFill>
                            <a:srgbClr val="FFFFFF"/>
                          </a:solidFill>
                          <a:latin typeface="Calibri (MS) Bold"/>
                        </a:rPr>
                        <a:t>Lahan vs luas wilayah</a:t>
                      </a:r>
                    </a:p>
                  </a:txBody>
                  <a:tcPr marL="73152" marR="73152" marT="36576" marB="36576" anchor="ctr">
                    <a:solidFill>
                      <a:srgbClr val="0B5E6E"/>
                    </a:solidFill>
                  </a:tcPr>
                </a:tc>
              </a:tr>
              <a:tr h="310896">
                <a:tc>
                  <a:txBody>
                    <a:bodyPr wrap="square"/>
                    <a:lstStyle/>
                    <a:p>
                      <a:r>
                        <a:rPr sz="1150" b="0" i="0">
                          <a:solidFill>
                            <a:srgbClr val="14313B"/>
                          </a:solidFill>
                          <a:latin typeface="Calibri (MS)"/>
                        </a:rPr>
                        <a:t>1 tahun</a:t>
                      </a:r>
                    </a:p>
                  </a:txBody>
                  <a:tcPr marL="73152" marR="73152" marT="36576" marB="36576" anchor="ctr">
                    <a:solidFill>
                      <a:srgbClr val="FFFFFF"/>
                    </a:solidFill>
                  </a:tcPr>
                </a:tc>
                <a:tc>
                  <a:txBody>
                    <a:bodyPr wrap="square"/>
                    <a:lstStyle/>
                    <a:p>
                      <a:r>
                        <a:rPr sz="1150" b="0" i="0">
                          <a:solidFill>
                            <a:srgbClr val="14313B"/>
                          </a:solidFill>
                          <a:latin typeface="Calibri (MS)"/>
                        </a:rPr>
                        <a:t>lewat 57,70 ha (0,018%)</a:t>
                      </a:r>
                    </a:p>
                  </a:txBody>
                  <a:tcPr marL="73152" marR="73152" marT="36576" marB="36576" anchor="ctr">
                    <a:solidFill>
                      <a:srgbClr val="FDE2DE"/>
                    </a:solidFill>
                  </a:tcPr>
                </a:tc>
              </a:tr>
              <a:tr h="310896">
                <a:tc>
                  <a:txBody>
                    <a:bodyPr wrap="square"/>
                    <a:lstStyle/>
                    <a:p>
                      <a:r>
                        <a:rPr sz="1150" b="0" i="0">
                          <a:solidFill>
                            <a:srgbClr val="14313B"/>
                          </a:solidFill>
                          <a:latin typeface="Calibri (MS)"/>
                        </a:rPr>
                        <a:t>0,5 tahun</a:t>
                      </a:r>
                    </a:p>
                  </a:txBody>
                  <a:tcPr marL="73152" marR="73152" marT="36576" marB="36576" anchor="ctr">
                    <a:solidFill>
                      <a:srgbClr val="EAF8FA"/>
                    </a:solidFill>
                  </a:tcPr>
                </a:tc>
                <a:tc>
                  <a:txBody>
                    <a:bodyPr wrap="square"/>
                    <a:lstStyle/>
                    <a:p>
                      <a:r>
                        <a:rPr sz="1150" b="0" i="0">
                          <a:solidFill>
                            <a:srgbClr val="14313B"/>
                          </a:solidFill>
                          <a:latin typeface="Calibri (MS)"/>
                        </a:rPr>
                        <a:t>lewat 0,01 ha</a:t>
                      </a:r>
                    </a:p>
                  </a:txBody>
                  <a:tcPr marL="73152" marR="73152" marT="36576" marB="36576" anchor="ctr">
                    <a:solidFill>
                      <a:srgbClr val="FFF1BF"/>
                    </a:solidFill>
                  </a:tcPr>
                </a:tc>
              </a:tr>
              <a:tr h="310896">
                <a:tc>
                  <a:txBody>
                    <a:bodyPr wrap="square"/>
                    <a:lstStyle/>
                    <a:p>
                      <a:r>
                        <a:rPr sz="1150" b="0" i="0">
                          <a:solidFill>
                            <a:srgbClr val="14313B"/>
                          </a:solidFill>
                          <a:latin typeface="Calibri (MS)"/>
                        </a:rPr>
                        <a:t>0,25 tahun</a:t>
                      </a:r>
                    </a:p>
                  </a:txBody>
                  <a:tcPr marL="73152" marR="73152" marT="36576" marB="36576" anchor="ctr">
                    <a:solidFill>
                      <a:srgbClr val="FFFFFF"/>
                    </a:solidFill>
                  </a:tcPr>
                </a:tc>
                <a:tc>
                  <a:txBody>
                    <a:bodyPr wrap="square"/>
                    <a:lstStyle/>
                    <a:p>
                      <a:r>
                        <a:rPr sz="1150" b="0" i="0">
                          <a:solidFill>
                            <a:srgbClr val="14313B"/>
                          </a:solidFill>
                          <a:latin typeface="Calibri (MS)"/>
                        </a:rPr>
                        <a:t>berhenti 317.035,82 ha ✓</a:t>
                      </a:r>
                    </a:p>
                  </a:txBody>
                  <a:tcPr marL="73152" marR="73152" marT="36576" marB="36576" anchor="ctr">
                    <a:solidFill>
                      <a:srgbClr val="C9F0D6"/>
                    </a:solidFill>
                  </a:tcPr>
                </a:tc>
              </a:tr>
              <a:tr h="310896">
                <a:tc>
                  <a:txBody>
                    <a:bodyPr wrap="square"/>
                    <a:lstStyle/>
                    <a:p>
                      <a:r>
                        <a:rPr sz="1150" b="0" i="0">
                          <a:solidFill>
                            <a:srgbClr val="14313B"/>
                          </a:solidFill>
                          <a:latin typeface="Calibri (MS)"/>
                        </a:rPr>
                        <a:t>0,125 tahun</a:t>
                      </a:r>
                    </a:p>
                  </a:txBody>
                  <a:tcPr marL="73152" marR="73152" marT="36576" marB="36576" anchor="ctr">
                    <a:solidFill>
                      <a:srgbClr val="EAF8FA"/>
                    </a:solidFill>
                  </a:tcPr>
                </a:tc>
                <a:tc>
                  <a:txBody>
                    <a:bodyPr wrap="square"/>
                    <a:lstStyle/>
                    <a:p>
                      <a:r>
                        <a:rPr sz="1150" b="0" i="0">
                          <a:solidFill>
                            <a:srgbClr val="14313B"/>
                          </a:solidFill>
                          <a:latin typeface="Calibri (MS)"/>
                        </a:rPr>
                        <a:t>beda 0,06 ha dari dt 0,25</a:t>
                      </a:r>
                    </a:p>
                  </a:txBody>
                  <a:tcPr marL="73152" marR="73152" marT="36576" marB="36576" anchor="ctr">
                    <a:solidFill>
                      <a:srgbClr val="C9F0D6"/>
                    </a:solidFill>
                  </a:tcPr>
                </a:tc>
              </a:tr>
            </a:tbl>
          </a:graphicData>
        </a:graphic>
      </p:graphicFrame>
      <p:sp>
        <p:nvSpPr>
          <p:cNvPr id="113" name="TextBox 112"/>
          <p:cNvSpPr txBox="1"/>
          <p:nvPr/>
        </p:nvSpPr>
        <p:spPr>
          <a:xfrm>
            <a:off x="11430000" y="7384694"/>
            <a:ext cx="6035040" cy="8229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Selisih mengecil seiring dt diperkecil → error numerik (metode Euler), bukan struktur. Simulasi dasar dt 1 vs 0,5: −0,27% s.d. +0,34% → dt 1 tahun memadai.</a:t>
            </a:r>
          </a:p>
        </p:txBody>
      </p:sp>
      <p:sp>
        <p:nvSpPr>
          <p:cNvPr id="114" name="Rounded Rectangle 113"/>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Keempat pembatas bekerja di seluruh 17 uji ekstrem, dan model valid secara struktural sehingga dapat dilanjutkan ke uji perilaku.</a:t>
            </a:r>
          </a:p>
        </p:txBody>
      </p:sp>
      <p:sp>
        <p:nvSpPr>
          <p:cNvPr id="115" name="TextBox 11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4.4.5–4.4.6, Tabel 43–44, Gambar 18, 19, dan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