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7.svg" ContentType="image/svg+xml"/>
  <Override PartName="/ppt/media/image49.svg" ContentType="image/svg+xml"/>
  <Override PartName="/ppt/media/image51.svg" ContentType="image/svg+xml"/>
  <Override PartName="/ppt/notesMasters/notesMaster1.xml" ContentType="application/vnd.openxmlformats-officedocument.presentationml.notesMaster+xml"/>
  <Override PartName="/ppt/notesSlides/notesSlide4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98" r:id="rId48"/>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48"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perilaku membandingkan hasil simulasi dengan data aktual dalam dua bentuk. Uji parsial menguji tiap subsistem secara terpisah pada 2016 sampai 2025, dengan mengganti variabel dari subsistem lain menggunakan data aktual. Ada P1 sampai P5, ditambah P1b, yaitu variasi P1 yang memakai rata-rata kamar per unit aktual sebagai uji kekokohan. Uji penuh menjalankan model tanpa penggantian data pada 2019 sampai 2025 dan menilai sembilan variabel, untuk melihat apakah kesalahan merambat antarsubsistem. Penilaian dibaca berurutan mengikuti Barlas: uji tren dulu sebagai saringan, lalu E1, E2, dan terakhir discrepancy coefficient. MAPE dan dekomposisi error dipakai sebagai pelengkap, terutama untuk melihat apakah simulasi meleset ke satu arah secara konsisten, atau selisihnya naik-turun tanpa pola. Untuk P5, data wisnus 2015–2018 disambung dengan faktor 2,2997 karena perubahan metode pencatatan pada 2019.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6.png"/><Relationship Id="rId8" Type="http://schemas.openxmlformats.org/officeDocument/2006/relationships/image" Target="../media/image47.svg"/><Relationship Id="rId9" Type="http://schemas.openxmlformats.org/officeDocument/2006/relationships/image" Target="../media/image48.png"/><Relationship Id="rId10" Type="http://schemas.openxmlformats.org/officeDocument/2006/relationships/image" Target="../media/image49.svg"/><Relationship Id="rId11" Type="http://schemas.openxmlformats.org/officeDocument/2006/relationships/image" Target="../media/image50.png"/><Relationship Id="rId12" Type="http://schemas.openxmlformats.org/officeDocument/2006/relationships/image" Target="../media/image51.sv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Perilaku</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Hasil simulasi dibandingkan dengan data aktual melalui dua bentuk uji, lalu dinilai berurutan mengikuti Barlas (1989)</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95" id="95"/>
          <p:cNvGrpSpPr/>
          <p:nvPr/>
        </p:nvGrpSpPr>
        <p:grpSpPr>
          <a:xfrm rot="0">
            <a:off x="12755880" y="274320"/>
            <a:ext cx="3931920" cy="411480"/>
            <a:chOff x="0" y="0"/>
            <a:chExt cx="5242560" cy="548640"/>
          </a:xfrm>
        </p:grpSpPr>
        <p:sp>
          <p:nvSpPr>
            <p:cNvPr name="Freeform 96" id="9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7" id="9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sp>
        <p:nvSpPr>
          <p:cNvPr id="98" name="Rounded Rectangle 97"/>
          <p:cNvSpPr/>
          <p:nvPr/>
        </p:nvSpPr>
        <p:spPr>
          <a:xfrm>
            <a:off x="822960" y="1783080"/>
            <a:ext cx="777240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D23B"/>
                </a:solidFill>
                <a:latin typeface="Calibri (MS) Bold"/>
              </a:rPr>
              <a:t>A  </a:t>
            </a:r>
            <a:r>
              <a:rPr sz="1550" b="1" i="0">
                <a:solidFill>
                  <a:srgbClr val="FFFFFF"/>
                </a:solidFill>
                <a:latin typeface="Calibri (MS) Bold"/>
              </a:rPr>
              <a:t>Uji parsial · 2016–2025</a:t>
            </a:r>
            <a:r>
              <a:rPr sz="1210" b="0" i="0">
                <a:solidFill>
                  <a:srgbClr val="D7EEF2"/>
                </a:solidFill>
                <a:latin typeface="Calibri (MS)"/>
              </a:rPr>
              <a:t>   apakah struktur tiap subsistem sudah benar?</a:t>
            </a:r>
          </a:p>
        </p:txBody>
      </p:sp>
      <p:sp>
        <p:nvSpPr>
          <p:cNvPr id="99" name="TextBox 98"/>
          <p:cNvSpPr txBox="1"/>
          <p:nvPr/>
        </p:nvSpPr>
        <p:spPr>
          <a:xfrm>
            <a:off x="822960" y="2286000"/>
            <a:ext cx="7772400" cy="685800"/>
          </a:xfrm>
          <a:prstGeom prst="rect">
            <a:avLst/>
          </a:prstGeom>
          <a:noFill/>
        </p:spPr>
        <p:txBody>
          <a:bodyPr wrap="square" anchor="t" lIns="0" rIns="0" tIns="0" bIns="0">
            <a:spAutoFit/>
          </a:bodyPr>
          <a:lstStyle/>
          <a:p>
            <a:pPr algn="l">
              <a:spcAft>
                <a:spcPts val="400"/>
              </a:spcAft>
            </a:pPr>
            <a:r>
              <a:rPr sz="1210" b="0" i="0">
                <a:solidFill>
                  <a:srgbClr val="14313B"/>
                </a:solidFill>
                <a:latin typeface="Calibri (MS)"/>
              </a:rPr>
              <a:t>Tiap subsistem diuji terpisah: variabel dari subsistem lain diganti data aktual, sehingga kesalahan subsistem lain tidak ikut terbawa (partial-model testing; Homer, 2012).</a:t>
            </a:r>
          </a:p>
        </p:txBody>
      </p:sp>
      <p:graphicFrame>
        <p:nvGraphicFramePr>
          <p:cNvPr id="100" name="Table 99"/>
          <p:cNvGraphicFramePr>
            <a:graphicFrameLocks noGrp="1"/>
          </p:cNvGraphicFramePr>
          <p:nvPr/>
        </p:nvGraphicFramePr>
        <p:xfrm>
          <a:off x="822960" y="2926080"/>
          <a:ext cx="7772399" cy="2304288"/>
        </p:xfrm>
        <a:graphic>
          <a:graphicData uri="http://schemas.openxmlformats.org/drawingml/2006/table">
            <a:tbl>
              <a:tblPr firstRow="1" bandRow="1">
                <a:tableStyleId>{5C22544A-7EE6-4342-B048-85BDC9FD1C3A}</a:tableStyleId>
              </a:tblPr>
              <a:tblGrid>
                <a:gridCol w="680084"/>
                <a:gridCol w="2040255"/>
                <a:gridCol w="3011805"/>
                <a:gridCol w="2040255"/>
              </a:tblGrid>
              <a:tr h="329184">
                <a:tc>
                  <a:txBody>
                    <a:bodyPr wrap="square"/>
                    <a:lstStyle/>
                    <a:p>
                      <a:pPr algn="ctr"/>
                      <a:r>
                        <a:rPr sz="1090" b="1" i="0">
                          <a:solidFill>
                            <a:srgbClr val="FFFFFF"/>
                          </a:solidFill>
                          <a:latin typeface="Calibri (MS) Bold"/>
                        </a:rPr>
                        <a:t>Kode</a:t>
                      </a:r>
                    </a:p>
                  </a:txBody>
                  <a:tcPr marL="73152" marR="73152" marT="36576" marB="36576" anchor="ctr">
                    <a:solidFill>
                      <a:srgbClr val="0B5E6E"/>
                    </a:solidFill>
                  </a:tcPr>
                </a:tc>
                <a:tc>
                  <a:txBody>
                    <a:bodyPr wrap="square"/>
                    <a:lstStyle/>
                    <a:p>
                      <a:r>
                        <a:rPr sz="1090" b="1" i="0">
                          <a:solidFill>
                            <a:srgbClr val="FFFFFF"/>
                          </a:solidFill>
                          <a:latin typeface="Calibri (MS) Bold"/>
                        </a:rPr>
                        <a:t>Subsistem</a:t>
                      </a:r>
                    </a:p>
                  </a:txBody>
                  <a:tcPr marL="73152" marR="73152" marT="36576" marB="36576" anchor="ctr">
                    <a:solidFill>
                      <a:srgbClr val="0B5E6E"/>
                    </a:solidFill>
                  </a:tcPr>
                </a:tc>
                <a:tc>
                  <a:txBody>
                    <a:bodyPr wrap="square"/>
                    <a:lstStyle/>
                    <a:p>
                      <a:r>
                        <a:rPr sz="1090" b="1" i="0">
                          <a:solidFill>
                            <a:srgbClr val="FFFFFF"/>
                          </a:solidFill>
                          <a:latin typeface="Calibri (MS) Bold"/>
                        </a:rPr>
                        <a:t>Diganti data aktual</a:t>
                      </a:r>
                    </a:p>
                  </a:txBody>
                  <a:tcPr marL="73152" marR="73152" marT="36576" marB="36576" anchor="ctr">
                    <a:solidFill>
                      <a:srgbClr val="0B5E6E"/>
                    </a:solidFill>
                  </a:tcPr>
                </a:tc>
                <a:tc>
                  <a:txBody>
                    <a:bodyPr wrap="square"/>
                    <a:lstStyle/>
                    <a:p>
                      <a:r>
                        <a:rPr sz="1090" b="1" i="0">
                          <a:solidFill>
                            <a:srgbClr val="FFFFFF"/>
                          </a:solidFill>
                          <a:latin typeface="Calibri (MS) Bold"/>
                        </a:rPr>
                        <a:t>Variabel dinilai</a:t>
                      </a:r>
                    </a:p>
                  </a:txBody>
                  <a:tcPr marL="73152" marR="73152" marT="36576" marB="36576" anchor="ctr">
                    <a:solidFill>
                      <a:srgbClr val="0B5E6E"/>
                    </a:solidFill>
                  </a:tcPr>
                </a:tc>
              </a:tr>
              <a:tr h="329184">
                <a:tc>
                  <a:txBody>
                    <a:bodyPr wrap="square"/>
                    <a:lstStyle/>
                    <a:p>
                      <a:pPr algn="ctr"/>
                      <a:r>
                        <a:rPr sz="1090" b="1" i="0">
                          <a:solidFill>
                            <a:srgbClr val="14313B"/>
                          </a:solidFill>
                          <a:latin typeface="Calibri (MS)"/>
                        </a:rPr>
                        <a:t>P1</a:t>
                      </a:r>
                    </a:p>
                  </a:txBody>
                  <a:tcPr marL="73152" marR="73152" marT="36576" marB="36576" anchor="ctr">
                    <a:solidFill>
                      <a:srgbClr val="FFFFFF"/>
                    </a:solidFill>
                  </a:tcPr>
                </a:tc>
                <a:tc>
                  <a:txBody>
                    <a:bodyPr wrap="square"/>
                    <a:lstStyle/>
                    <a:p>
                      <a:r>
                        <a:rPr sz="1090" b="0" i="0">
                          <a:solidFill>
                            <a:srgbClr val="14313B"/>
                          </a:solidFill>
                          <a:latin typeface="Calibri (MS)"/>
                        </a:rPr>
                        <a:t>Akomodasi</a:t>
                      </a:r>
                    </a:p>
                  </a:txBody>
                  <a:tcPr marL="73152" marR="73152" marT="36576" marB="36576" anchor="ctr">
                    <a:solidFill>
                      <a:srgbClr val="FFFFFF"/>
                    </a:solidFill>
                  </a:tcPr>
                </a:tc>
                <a:tc>
                  <a:txBody>
                    <a:bodyPr wrap="square"/>
                    <a:lstStyle/>
                    <a:p>
                      <a:r>
                        <a:rPr sz="1090" b="0" i="0">
                          <a:solidFill>
                            <a:srgbClr val="14313B"/>
                          </a:solidFill>
                          <a:latin typeface="Calibri (MS)"/>
                        </a:rPr>
                        <a:t>Total malam menginap, investasi</a:t>
                      </a:r>
                    </a:p>
                  </a:txBody>
                  <a:tcPr marL="73152" marR="73152" marT="36576" marB="36576" anchor="ctr">
                    <a:solidFill>
                      <a:srgbClr val="FFFFFF"/>
                    </a:solidFill>
                  </a:tcPr>
                </a:tc>
                <a:tc>
                  <a:txBody>
                    <a:bodyPr wrap="square"/>
                    <a:lstStyle/>
                    <a:p>
                      <a:r>
                        <a:rPr sz="1090" b="0" i="0">
                          <a:solidFill>
                            <a:srgbClr val="14313B"/>
                          </a:solidFill>
                          <a:latin typeface="Calibri (MS)"/>
                        </a:rPr>
                        <a:t>Jumlah hotel, TPK</a:t>
                      </a:r>
                    </a:p>
                  </a:txBody>
                  <a:tcPr marL="73152" marR="73152" marT="36576" marB="36576" anchor="ctr">
                    <a:solidFill>
                      <a:srgbClr val="FFFFFF"/>
                    </a:solidFill>
                  </a:tcPr>
                </a:tc>
              </a:tr>
              <a:tr h="329184">
                <a:tc>
                  <a:txBody>
                    <a:bodyPr wrap="square"/>
                    <a:lstStyle/>
                    <a:p>
                      <a:pPr algn="ctr"/>
                      <a:r>
                        <a:rPr sz="1090" b="1" i="0">
                          <a:solidFill>
                            <a:srgbClr val="14313B"/>
                          </a:solidFill>
                          <a:latin typeface="Calibri (MS)"/>
                        </a:rPr>
                        <a:t>P1b</a:t>
                      </a:r>
                    </a:p>
                  </a:txBody>
                  <a:tcPr marL="73152" marR="73152" marT="36576" marB="36576" anchor="ctr">
                    <a:solidFill>
                      <a:srgbClr val="FFF1BF"/>
                    </a:solidFill>
                  </a:tcPr>
                </a:tc>
                <a:tc>
                  <a:txBody>
                    <a:bodyPr wrap="square"/>
                    <a:lstStyle/>
                    <a:p>
                      <a:r>
                        <a:rPr sz="1090" b="0" i="0">
                          <a:solidFill>
                            <a:srgbClr val="14313B"/>
                          </a:solidFill>
                          <a:latin typeface="Calibri (MS)"/>
                        </a:rPr>
                        <a:t>Akomodasi (uji kekokohan P1)</a:t>
                      </a:r>
                    </a:p>
                  </a:txBody>
                  <a:tcPr marL="73152" marR="73152" marT="36576" marB="36576" anchor="ctr">
                    <a:solidFill>
                      <a:srgbClr val="FFF1BF"/>
                    </a:solidFill>
                  </a:tcPr>
                </a:tc>
                <a:tc>
                  <a:txBody>
                    <a:bodyPr wrap="square"/>
                    <a:lstStyle/>
                    <a:p>
                      <a:r>
                        <a:rPr sz="1090" b="0" i="0">
                          <a:solidFill>
                            <a:srgbClr val="14313B"/>
                          </a:solidFill>
                          <a:latin typeface="Calibri (MS)"/>
                        </a:rPr>
                        <a:t>Seperti P1 + rata-rata kamar per unit aktual</a:t>
                      </a:r>
                    </a:p>
                  </a:txBody>
                  <a:tcPr marL="73152" marR="73152" marT="36576" marB="36576" anchor="ctr">
                    <a:solidFill>
                      <a:srgbClr val="FFF1BF"/>
                    </a:solidFill>
                  </a:tcPr>
                </a:tc>
                <a:tc>
                  <a:txBody>
                    <a:bodyPr wrap="square"/>
                    <a:lstStyle/>
                    <a:p>
                      <a:r>
                        <a:rPr sz="1090" b="0" i="0">
                          <a:solidFill>
                            <a:srgbClr val="14313B"/>
                          </a:solidFill>
                          <a:latin typeface="Calibri (MS)"/>
                        </a:rPr>
                        <a:t>Jumlah hotel, TPK</a:t>
                      </a:r>
                    </a:p>
                  </a:txBody>
                  <a:tcPr marL="73152" marR="73152" marT="36576" marB="36576" anchor="ctr">
                    <a:solidFill>
                      <a:srgbClr val="FFF1BF"/>
                    </a:solidFill>
                  </a:tcPr>
                </a:tc>
              </a:tr>
              <a:tr h="329184">
                <a:tc>
                  <a:txBody>
                    <a:bodyPr wrap="square"/>
                    <a:lstStyle/>
                    <a:p>
                      <a:pPr algn="ctr"/>
                      <a:r>
                        <a:rPr sz="1090" b="1" i="0">
                          <a:solidFill>
                            <a:srgbClr val="14313B"/>
                          </a:solidFill>
                          <a:latin typeface="Calibri (MS)"/>
                        </a:rPr>
                        <a:t>P2</a:t>
                      </a:r>
                    </a:p>
                  </a:txBody>
                  <a:tcPr marL="73152" marR="73152" marT="36576" marB="36576" anchor="ctr">
                    <a:solidFill>
                      <a:srgbClr val="FFFFFF"/>
                    </a:solidFill>
                  </a:tcPr>
                </a:tc>
                <a:tc>
                  <a:txBody>
                    <a:bodyPr wrap="square"/>
                    <a:lstStyle/>
                    <a:p>
                      <a:r>
                        <a:rPr sz="1090" b="0" i="0">
                          <a:solidFill>
                            <a:srgbClr val="14313B"/>
                          </a:solidFill>
                          <a:latin typeface="Calibri (MS)"/>
                        </a:rPr>
                        <a:t>Objek daya tarik wisata</a:t>
                      </a:r>
                    </a:p>
                  </a:txBody>
                  <a:tcPr marL="73152" marR="73152" marT="36576" marB="36576" anchor="ctr">
                    <a:solidFill>
                      <a:srgbClr val="FFFFFF"/>
                    </a:solidFill>
                  </a:tcPr>
                </a:tc>
                <a:tc>
                  <a:txBody>
                    <a:bodyPr wrap="square"/>
                    <a:lstStyle/>
                    <a:p>
                      <a:r>
                        <a:rPr sz="1090" b="0" i="0">
                          <a:solidFill>
                            <a:srgbClr val="14313B"/>
                          </a:solidFill>
                          <a:latin typeface="Calibri (MS)"/>
                        </a:rPr>
                        <a:t>Investasi</a:t>
                      </a:r>
                    </a:p>
                  </a:txBody>
                  <a:tcPr marL="73152" marR="73152" marT="36576" marB="36576" anchor="ctr">
                    <a:solidFill>
                      <a:srgbClr val="FFFFFF"/>
                    </a:solidFill>
                  </a:tcPr>
                </a:tc>
                <a:tc>
                  <a:txBody>
                    <a:bodyPr wrap="square"/>
                    <a:lstStyle/>
                    <a:p>
                      <a:r>
                        <a:rPr sz="1090" b="0" i="0">
                          <a:solidFill>
                            <a:srgbClr val="14313B"/>
                          </a:solidFill>
                          <a:latin typeface="Calibri (MS)"/>
                        </a:rPr>
                        <a:t>Jumlah ODTW</a:t>
                      </a:r>
                    </a:p>
                  </a:txBody>
                  <a:tcPr marL="73152" marR="73152" marT="36576" marB="36576" anchor="ctr">
                    <a:solidFill>
                      <a:srgbClr val="FFFFFF"/>
                    </a:solidFill>
                  </a:tcPr>
                </a:tc>
              </a:tr>
              <a:tr h="329184">
                <a:tc>
                  <a:txBody>
                    <a:bodyPr wrap="square"/>
                    <a:lstStyle/>
                    <a:p>
                      <a:pPr algn="ctr"/>
                      <a:r>
                        <a:rPr sz="1090" b="1" i="0">
                          <a:solidFill>
                            <a:srgbClr val="14313B"/>
                          </a:solidFill>
                          <a:latin typeface="Calibri (MS)"/>
                        </a:rPr>
                        <a:t>P3</a:t>
                      </a:r>
                    </a:p>
                  </a:txBody>
                  <a:tcPr marL="73152" marR="73152" marT="36576" marB="36576" anchor="ctr">
                    <a:solidFill>
                      <a:srgbClr val="EAF8FA"/>
                    </a:solidFill>
                  </a:tcPr>
                </a:tc>
                <a:tc>
                  <a:txBody>
                    <a:bodyPr wrap="square"/>
                    <a:lstStyle/>
                    <a:p>
                      <a:r>
                        <a:rPr sz="1090" b="0" i="0">
                          <a:solidFill>
                            <a:srgbClr val="14313B"/>
                          </a:solidFill>
                          <a:latin typeface="Calibri (MS)"/>
                        </a:rPr>
                        <a:t>Tenaga kerja</a:t>
                      </a:r>
                    </a:p>
                  </a:txBody>
                  <a:tcPr marL="73152" marR="73152" marT="36576" marB="36576" anchor="ctr">
                    <a:solidFill>
                      <a:srgbClr val="EAF8FA"/>
                    </a:solidFill>
                  </a:tcPr>
                </a:tc>
                <a:tc>
                  <a:txBody>
                    <a:bodyPr wrap="square"/>
                    <a:lstStyle/>
                    <a:p>
                      <a:r>
                        <a:rPr sz="1090" b="0" i="0">
                          <a:solidFill>
                            <a:srgbClr val="14313B"/>
                          </a:solidFill>
                          <a:latin typeface="Calibri (MS)"/>
                        </a:rPr>
                        <a:t>PDRB sektor pariwisata</a:t>
                      </a:r>
                    </a:p>
                  </a:txBody>
                  <a:tcPr marL="73152" marR="73152" marT="36576" marB="36576" anchor="ctr">
                    <a:solidFill>
                      <a:srgbClr val="EAF8FA"/>
                    </a:solidFill>
                  </a:tcPr>
                </a:tc>
                <a:tc>
                  <a:txBody>
                    <a:bodyPr wrap="square"/>
                    <a:lstStyle/>
                    <a:p>
                      <a:r>
                        <a:rPr sz="1090" b="0" i="0">
                          <a:solidFill>
                            <a:srgbClr val="14313B"/>
                          </a:solidFill>
                          <a:latin typeface="Calibri (MS)"/>
                        </a:rPr>
                        <a:t>Tenaga kerja pariwisata</a:t>
                      </a:r>
                    </a:p>
                  </a:txBody>
                  <a:tcPr marL="73152" marR="73152" marT="36576" marB="36576" anchor="ctr">
                    <a:solidFill>
                      <a:srgbClr val="EAF8FA"/>
                    </a:solidFill>
                  </a:tcPr>
                </a:tc>
              </a:tr>
              <a:tr h="329184">
                <a:tc>
                  <a:txBody>
                    <a:bodyPr wrap="square"/>
                    <a:lstStyle/>
                    <a:p>
                      <a:pPr algn="ctr"/>
                      <a:r>
                        <a:rPr sz="1090" b="1" i="0">
                          <a:solidFill>
                            <a:srgbClr val="14313B"/>
                          </a:solidFill>
                          <a:latin typeface="Calibri (MS)"/>
                        </a:rPr>
                        <a:t>P4</a:t>
                      </a:r>
                    </a:p>
                  </a:txBody>
                  <a:tcPr marL="73152" marR="73152" marT="36576" marB="36576" anchor="ctr">
                    <a:solidFill>
                      <a:srgbClr val="FFFFFF"/>
                    </a:solidFill>
                  </a:tcPr>
                </a:tc>
                <a:tc>
                  <a:txBody>
                    <a:bodyPr wrap="square"/>
                    <a:lstStyle/>
                    <a:p>
                      <a:r>
                        <a:rPr sz="1090" b="0" i="0">
                          <a:solidFill>
                            <a:srgbClr val="14313B"/>
                          </a:solidFill>
                          <a:latin typeface="Calibri (MS)"/>
                        </a:rPr>
                        <a:t>Lahan</a:t>
                      </a:r>
                    </a:p>
                  </a:txBody>
                  <a:tcPr marL="73152" marR="73152" marT="36576" marB="36576" anchor="ctr">
                    <a:solidFill>
                      <a:srgbClr val="FFFFFF"/>
                    </a:solidFill>
                  </a:tcPr>
                </a:tc>
                <a:tc>
                  <a:txBody>
                    <a:bodyPr wrap="square"/>
                    <a:lstStyle/>
                    <a:p>
                      <a:r>
                        <a:rPr sz="1090" b="0" i="0">
                          <a:solidFill>
                            <a:srgbClr val="14313B"/>
                          </a:solidFill>
                          <a:latin typeface="Calibri (MS)"/>
                        </a:rPr>
                        <a:t>Total malam menginap, investasi</a:t>
                      </a:r>
                    </a:p>
                  </a:txBody>
                  <a:tcPr marL="73152" marR="73152" marT="36576" marB="36576" anchor="ctr">
                    <a:solidFill>
                      <a:srgbClr val="FFFFFF"/>
                    </a:solidFill>
                  </a:tcPr>
                </a:tc>
                <a:tc>
                  <a:txBody>
                    <a:bodyPr wrap="square"/>
                    <a:lstStyle/>
                    <a:p>
                      <a:r>
                        <a:rPr sz="1090" b="0" i="0">
                          <a:solidFill>
                            <a:srgbClr val="14313B"/>
                          </a:solidFill>
                          <a:latin typeface="Calibri (MS)"/>
                        </a:rPr>
                        <a:t>Lahan terbangun</a:t>
                      </a:r>
                    </a:p>
                  </a:txBody>
                  <a:tcPr marL="73152" marR="73152" marT="36576" marB="36576" anchor="ctr">
                    <a:solidFill>
                      <a:srgbClr val="FFFFFF"/>
                    </a:solidFill>
                  </a:tcPr>
                </a:tc>
              </a:tr>
              <a:tr h="329184">
                <a:tc>
                  <a:txBody>
                    <a:bodyPr wrap="square"/>
                    <a:lstStyle/>
                    <a:p>
                      <a:pPr algn="ctr"/>
                      <a:r>
                        <a:rPr sz="1090" b="1" i="0">
                          <a:solidFill>
                            <a:srgbClr val="14313B"/>
                          </a:solidFill>
                          <a:latin typeface="Calibri (MS)"/>
                        </a:rPr>
                        <a:t>P5</a:t>
                      </a:r>
                    </a:p>
                  </a:txBody>
                  <a:tcPr marL="73152" marR="73152" marT="36576" marB="36576" anchor="ctr">
                    <a:solidFill>
                      <a:srgbClr val="EAF8FA"/>
                    </a:solidFill>
                  </a:tcPr>
                </a:tc>
                <a:tc>
                  <a:txBody>
                    <a:bodyPr wrap="square"/>
                    <a:lstStyle/>
                    <a:p>
                      <a:r>
                        <a:rPr sz="1090" b="0" i="0">
                          <a:solidFill>
                            <a:srgbClr val="14313B"/>
                          </a:solidFill>
                          <a:latin typeface="Calibri (MS)"/>
                        </a:rPr>
                        <a:t>Wisatawan</a:t>
                      </a:r>
                    </a:p>
                  </a:txBody>
                  <a:tcPr marL="73152" marR="73152" marT="36576" marB="36576" anchor="ctr">
                    <a:solidFill>
                      <a:srgbClr val="EAF8FA"/>
                    </a:solidFill>
                  </a:tcPr>
                </a:tc>
                <a:tc>
                  <a:txBody>
                    <a:bodyPr wrap="square"/>
                    <a:lstStyle/>
                    <a:p>
                      <a:r>
                        <a:rPr sz="1090" b="0" i="0">
                          <a:solidFill>
                            <a:srgbClr val="14313B"/>
                          </a:solidFill>
                          <a:latin typeface="Calibri (MS)"/>
                        </a:rPr>
                        <a:t>Jumlah ODTW, lahan terbangun</a:t>
                      </a:r>
                    </a:p>
                  </a:txBody>
                  <a:tcPr marL="73152" marR="73152" marT="36576" marB="36576" anchor="ctr">
                    <a:solidFill>
                      <a:srgbClr val="EAF8FA"/>
                    </a:solidFill>
                  </a:tcPr>
                </a:tc>
                <a:tc>
                  <a:txBody>
                    <a:bodyPr wrap="square"/>
                    <a:lstStyle/>
                    <a:p>
                      <a:r>
                        <a:rPr sz="1090" b="0" i="0">
                          <a:solidFill>
                            <a:srgbClr val="14313B"/>
                          </a:solidFill>
                          <a:latin typeface="Calibri (MS)"/>
                        </a:rPr>
                        <a:t>Jumlah wisatawan*</a:t>
                      </a:r>
                    </a:p>
                  </a:txBody>
                  <a:tcPr marL="73152" marR="73152" marT="36576" marB="36576" anchor="ctr">
                    <a:solidFill>
                      <a:srgbClr val="EAF8FA"/>
                    </a:solidFill>
                  </a:tcPr>
                </a:tc>
              </a:tr>
            </a:tbl>
          </a:graphicData>
        </a:graphic>
      </p:graphicFrame>
      <p:sp>
        <p:nvSpPr>
          <p:cNvPr id="101" name="TextBox 100"/>
          <p:cNvSpPr txBox="1"/>
          <p:nvPr/>
        </p:nvSpPr>
        <p:spPr>
          <a:xfrm>
            <a:off x="822960" y="5532120"/>
            <a:ext cx="7772400" cy="320040"/>
          </a:xfrm>
          <a:prstGeom prst="rect">
            <a:avLst/>
          </a:prstGeom>
          <a:noFill/>
        </p:spPr>
        <p:txBody>
          <a:bodyPr wrap="square" anchor="t" lIns="0" rIns="0" tIns="0" bIns="0">
            <a:spAutoFit/>
          </a:bodyPr>
          <a:lstStyle/>
          <a:p>
            <a:pPr algn="l">
              <a:spcAft>
                <a:spcPts val="400"/>
              </a:spcAft>
            </a:pPr>
            <a:r>
              <a:rPr sz="1150" b="1" i="0">
                <a:solidFill>
                  <a:srgbClr val="0B5E6E"/>
                </a:solidFill>
                <a:latin typeface="Calibri (MS) Bold"/>
              </a:rPr>
              <a:t>Angka utama: tanpa 2020–2021 (masih tersisa 8 dari 10 tahun data).</a:t>
            </a:r>
          </a:p>
        </p:txBody>
      </p:sp>
      <p:sp>
        <p:nvSpPr>
          <p:cNvPr id="102" name="Rounded Rectangle 101"/>
          <p:cNvSpPr/>
          <p:nvPr/>
        </p:nvSpPr>
        <p:spPr>
          <a:xfrm>
            <a:off x="822960" y="5943600"/>
            <a:ext cx="777240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D23B"/>
                </a:solidFill>
                <a:latin typeface="Calibri (MS) Bold"/>
              </a:rPr>
              <a:t>B  </a:t>
            </a:r>
            <a:r>
              <a:rPr sz="1550" b="1" i="0">
                <a:solidFill>
                  <a:srgbClr val="FFFFFF"/>
                </a:solidFill>
                <a:latin typeface="Calibri (MS) Bold"/>
              </a:rPr>
              <a:t>Uji penuh · 2019–2025</a:t>
            </a:r>
            <a:r>
              <a:rPr sz="1210" b="0" i="0">
                <a:solidFill>
                  <a:srgbClr val="D7EEF2"/>
                </a:solidFill>
                <a:latin typeface="Calibri (MS)"/>
              </a:rPr>
              <a:t>   apakah kesalahan merambat antarsubsistem?</a:t>
            </a:r>
          </a:p>
        </p:txBody>
      </p:sp>
      <p:sp>
        <p:nvSpPr>
          <p:cNvPr id="103" name="TextBox 102"/>
          <p:cNvSpPr txBox="1"/>
          <p:nvPr/>
        </p:nvSpPr>
        <p:spPr>
          <a:xfrm>
            <a:off x="822960" y="6446520"/>
            <a:ext cx="7772400" cy="1097280"/>
          </a:xfrm>
          <a:prstGeom prst="rect">
            <a:avLst/>
          </a:prstGeom>
          <a:noFill/>
        </p:spPr>
        <p:txBody>
          <a:bodyPr wrap="square" anchor="t" lIns="0" rIns="0" tIns="0" bIns="0">
            <a:spAutoFit/>
          </a:bodyPr>
          <a:lstStyle/>
          <a:p>
            <a:pPr algn="l">
              <a:spcAft>
                <a:spcPts val="400"/>
              </a:spcAft>
            </a:pPr>
            <a:r>
              <a:rPr sz="1210" b="0" i="0">
                <a:solidFill>
                  <a:srgbClr val="14313B"/>
                </a:solidFill>
                <a:latin typeface="Calibri (MS)"/>
              </a:rPr>
              <a:t>Model dijalankan tanpa penggantian data; semua feedback antarsubsistem aktif. 9 variabel dinilai: </a:t>
            </a:r>
            <a:r>
              <a:rPr sz="1210" b="0" i="0">
                <a:solidFill>
                  <a:srgbClr val="5E6E78"/>
                </a:solidFill>
                <a:latin typeface="Calibri (MS)"/>
              </a:rPr>
              <a:t>wisatawan, hotel, TPK, ODTW, tenaga kerja, lahan terbangun, PDRB pariwisata, investasi, total malam menginap.</a:t>
            </a:r>
          </a:p>
          <a:p>
            <a:pPr algn="l">
              <a:spcAft>
                <a:spcPts val="400"/>
              </a:spcAft>
            </a:pPr>
            <a:r>
              <a:rPr sz="1150" b="1" i="0">
                <a:solidFill>
                  <a:srgbClr val="0B5E6E"/>
                </a:solidFill>
                <a:latin typeface="Calibri (MS) Bold"/>
              </a:rPr>
              <a:t>Angka utama: termasuk 2020–2021 (tanpa itu hanya tersisa 5 tahun data).</a:t>
            </a:r>
          </a:p>
        </p:txBody>
      </p:sp>
      <p:sp>
        <p:nvSpPr>
          <p:cNvPr id="104" name="Rounded Rectangle 103"/>
          <p:cNvSpPr/>
          <p:nvPr/>
        </p:nvSpPr>
        <p:spPr>
          <a:xfrm>
            <a:off x="822960" y="7635240"/>
            <a:ext cx="7772400" cy="1463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260" b="1" i="0">
                <a:solidFill>
                  <a:srgbClr val="0B5E6E"/>
                </a:solidFill>
                <a:latin typeface="Calibri (MS) Bold"/>
              </a:rPr>
              <a:t>* Penyesuaian data wisnus (untuk P5)</a:t>
            </a:r>
          </a:p>
          <a:p>
            <a:pPr algn="l">
              <a:spcAft>
                <a:spcPts val="300"/>
              </a:spcAft>
            </a:pPr>
            <a:r>
              <a:rPr sz="1150" b="0" i="0">
                <a:solidFill>
                  <a:srgbClr val="14313B"/>
                </a:solidFill>
                <a:latin typeface="Calibri (MS)"/>
              </a:rPr>
              <a:t>Metode pencatatan wisnus berubah 2018→2019 (8,0 → 20,5 juta). Data 2015–2018 disambung dengan faktor:</a:t>
            </a:r>
          </a:p>
          <a:p>
            <a:pPr algn="l">
              <a:spcAft>
                <a:spcPts val="300"/>
              </a:spcAft>
            </a:pPr>
            <a:r>
              <a:rPr sz="1260" b="1" i="1">
                <a:solidFill>
                  <a:srgbClr val="14313B"/>
                </a:solidFill>
                <a:latin typeface="Calibri (MS) Bold"/>
              </a:rPr>
              <a:t>Faktor = (W₂₀₁₉ / W₂₀₁₈) / (1 + ḡ) = 2,2997</a:t>
            </a:r>
            <a:r>
              <a:rPr sz="1150" b="0" i="0">
                <a:solidFill>
                  <a:srgbClr val="5E6E78"/>
                </a:solidFill>
                <a:latin typeface="Calibri (MS)"/>
              </a:rPr>
              <a:t>   (rentang 2,22–2,38)</a:t>
            </a:r>
          </a:p>
          <a:p>
            <a:pPr algn="l">
              <a:spcAft>
                <a:spcPts val="300"/>
              </a:spcAft>
            </a:pPr>
            <a:r>
              <a:rPr sz="1090" b="0" i="1">
                <a:solidFill>
                  <a:srgbClr val="5E6E78"/>
                </a:solidFill>
                <a:latin typeface="Calibri (MS)"/>
              </a:rPr>
              <a:t>ḡ = rata-rata pertumbuhan tahunan sebelum (2015–2018) dan sesudah (2021–2025) patahan</a:t>
            </a:r>
          </a:p>
        </p:txBody>
      </p:sp>
      <p:sp>
        <p:nvSpPr>
          <p:cNvPr id="105" name="Rounded Rectangle 104"/>
          <p:cNvSpPr/>
          <p:nvPr/>
        </p:nvSpPr>
        <p:spPr>
          <a:xfrm>
            <a:off x="8869680" y="1783080"/>
            <a:ext cx="859536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Ukuran penilaian</a:t>
            </a:r>
            <a:r>
              <a:rPr sz="1210" b="0" i="0">
                <a:solidFill>
                  <a:srgbClr val="D7EEF2"/>
                </a:solidFill>
                <a:latin typeface="Calibri (MS)"/>
              </a:rPr>
              <a:t>   dibaca berurutan 1 → 4, lalu dua pelengkap</a:t>
            </a:r>
          </a:p>
        </p:txBody>
      </p:sp>
      <p:graphicFrame>
        <p:nvGraphicFramePr>
          <p:cNvPr id="106" name="Table 105"/>
          <p:cNvGraphicFramePr>
            <a:graphicFrameLocks noGrp="1"/>
          </p:cNvGraphicFramePr>
          <p:nvPr/>
        </p:nvGraphicFramePr>
        <p:xfrm>
          <a:off x="8869680" y="2286000"/>
          <a:ext cx="8595360" cy="5806440"/>
        </p:xfrm>
        <a:graphic>
          <a:graphicData uri="http://schemas.openxmlformats.org/drawingml/2006/table">
            <a:tbl>
              <a:tblPr firstRow="1" bandRow="1">
                <a:tableStyleId>{5C22544A-7EE6-4342-B048-85BDC9FD1C3A}</a:tableStyleId>
              </a:tblPr>
              <a:tblGrid>
                <a:gridCol w="2148840"/>
                <a:gridCol w="3246120"/>
                <a:gridCol w="3200400"/>
              </a:tblGrid>
              <a:tr h="411480">
                <a:tc>
                  <a:txBody>
                    <a:bodyPr wrap="square"/>
                    <a:lstStyle/>
                    <a:p>
                      <a:r>
                        <a:rPr sz="1210" b="1" i="0">
                          <a:solidFill>
                            <a:srgbClr val="FFFFFF"/>
                          </a:solidFill>
                          <a:latin typeface="Calibri (MS) Bold"/>
                        </a:rPr>
                        <a:t>Ukuran</a:t>
                      </a:r>
                    </a:p>
                  </a:txBody>
                  <a:tcPr marL="91440" marR="91440" marT="36576" marB="36576" anchor="ctr">
                    <a:solidFill>
                      <a:srgbClr val="0B5E6E"/>
                    </a:solidFill>
                  </a:tcPr>
                </a:tc>
                <a:tc>
                  <a:txBody>
                    <a:bodyPr wrap="square"/>
                    <a:lstStyle/>
                    <a:p>
                      <a:r>
                        <a:rPr sz="1210" b="1" i="0">
                          <a:solidFill>
                            <a:srgbClr val="FFFFFF"/>
                          </a:solidFill>
                          <a:latin typeface="Calibri (MS) Bold"/>
                        </a:rPr>
                        <a:t>Rumus</a:t>
                      </a:r>
                    </a:p>
                  </a:txBody>
                  <a:tcPr marL="91440" marR="91440" marT="36576" marB="36576" anchor="ctr">
                    <a:solidFill>
                      <a:srgbClr val="0B5E6E"/>
                    </a:solidFill>
                  </a:tcPr>
                </a:tc>
                <a:tc>
                  <a:txBody>
                    <a:bodyPr wrap="square"/>
                    <a:lstStyle/>
                    <a:p>
                      <a:r>
                        <a:rPr sz="1210" b="1" i="0">
                          <a:solidFill>
                            <a:srgbClr val="FFFFFF"/>
                          </a:solidFill>
                          <a:latin typeface="Calibri (MS) Bold"/>
                        </a:rPr>
                        <a:t>Pedoman</a:t>
                      </a:r>
                    </a:p>
                  </a:txBody>
                  <a:tcPr marL="91440" marR="91440" marT="36576" marB="36576" anchor="ctr">
                    <a:solidFill>
                      <a:srgbClr val="0B5E6E"/>
                    </a:solidFill>
                  </a:tcPr>
                </a:tc>
              </a:tr>
              <a:tr h="1005840">
                <a:tc>
                  <a:txBody>
                    <a:bodyPr wrap="square"/>
                    <a:lstStyle/>
                    <a:p>
                      <a:r>
                        <a:rPr sz="1150" b="1" i="0">
                          <a:solidFill>
                            <a:srgbClr val="0B5E6E"/>
                          </a:solidFill>
                          <a:latin typeface="Calibri (MS) Bold"/>
                        </a:rPr>
                        <a:t>1 · Uji tren</a:t>
                      </a:r>
                    </a:p>
                    <a:p>
                      <a:r>
                        <a:rPr sz="1150" b="1" i="0">
                          <a:solidFill>
                            <a:srgbClr val="0B5E6E"/>
                          </a:solidFill>
                          <a:latin typeface="Calibri (MS) Bold"/>
                        </a:rPr>
                        <a:t>(saringan awal)</a:t>
                      </a:r>
                    </a:p>
                  </a:txBody>
                  <a:tcPr marL="91440" marR="91440" marT="36576" marB="36576" anchor="ctr">
                    <a:solidFill>
                      <a:srgbClr val="FFFFFF"/>
                    </a:solidFill>
                  </a:tcPr>
                </a:tc>
                <a:tc>
                  <a:txBody>
                    <a:bodyPr wrap="square"/>
                    <a:lstStyle/>
                    <a:p>
                      <a:r>
                        <a:rPr sz="1150" b="0" i="1">
                          <a:solidFill>
                            <a:srgbClr val="14313B"/>
                          </a:solidFill>
                          <a:latin typeface="Calibri (MS)"/>
                        </a:rPr>
                        <a:t>t = |bₛ − bₐ| / √(Var(bₛ) + Var(bₐ))</a:t>
                      </a:r>
                    </a:p>
                    <a:p>
                      <a:r>
                        <a:rPr sz="1150" b="0" i="1">
                          <a:solidFill>
                            <a:srgbClr val="14313B"/>
                          </a:solidFill>
                          <a:latin typeface="Calibri (MS)"/>
                        </a:rPr>
                        <a:t>db = 2n − 4</a:t>
                      </a:r>
                    </a:p>
                  </a:txBody>
                  <a:tcPr marL="91440" marR="91440" marT="36576" marB="36576" anchor="ctr">
                    <a:solidFill>
                      <a:srgbClr val="FFFFFF"/>
                    </a:solidFill>
                  </a:tcPr>
                </a:tc>
                <a:tc>
                  <a:txBody>
                    <a:bodyPr wrap="square"/>
                    <a:lstStyle/>
                    <a:p>
                      <a:r>
                        <a:rPr sz="1090" b="0" i="0">
                          <a:solidFill>
                            <a:srgbClr val="14313B"/>
                          </a:solidFill>
                          <a:latin typeface="Calibri (MS)"/>
                        </a:rPr>
                        <a:t>α = 0,05: tidak berbeda nyata / berbeda nyata / berlawanan arah. Jika berbeda, E1–E2 tidak dibaca</a:t>
                      </a:r>
                    </a:p>
                  </a:txBody>
                  <a:tcPr marL="91440" marR="91440" marT="36576" marB="36576" anchor="ctr">
                    <a:solidFill>
                      <a:srgbClr val="FFFFFF"/>
                    </a:solidFill>
                  </a:tcPr>
                </a:tc>
              </a:tr>
              <a:tr h="685800">
                <a:tc>
                  <a:txBody>
                    <a:bodyPr wrap="square"/>
                    <a:lstStyle/>
                    <a:p>
                      <a:r>
                        <a:rPr sz="1150" b="1" i="0">
                          <a:solidFill>
                            <a:srgbClr val="0B5E6E"/>
                          </a:solidFill>
                          <a:latin typeface="Calibri (MS) Bold"/>
                        </a:rPr>
                        <a:t>2 · E1</a:t>
                      </a:r>
                    </a:p>
                    <a:p>
                      <a:r>
                        <a:rPr sz="1150" b="1" i="0">
                          <a:solidFill>
                            <a:srgbClr val="0B5E6E"/>
                          </a:solidFill>
                          <a:latin typeface="Calibri (MS) Bold"/>
                        </a:rPr>
                        <a:t>(selisih rata-rata)</a:t>
                      </a:r>
                    </a:p>
                  </a:txBody>
                  <a:tcPr marL="91440" marR="91440" marT="36576" marB="36576" anchor="ctr">
                    <a:solidFill>
                      <a:srgbClr val="EAF8FA"/>
                    </a:solidFill>
                  </a:tcPr>
                </a:tc>
                <a:tc>
                  <a:txBody>
                    <a:bodyPr wrap="square"/>
                    <a:lstStyle/>
                    <a:p>
                      <a:r>
                        <a:rPr sz="1150" b="0" i="1">
                          <a:solidFill>
                            <a:srgbClr val="14313B"/>
                          </a:solidFill>
                          <a:latin typeface="Calibri (MS)"/>
                        </a:rPr>
                        <a:t>E1 = |S̄ − Ā| / Ā</a:t>
                      </a:r>
                    </a:p>
                  </a:txBody>
                  <a:tcPr marL="91440" marR="91440" marT="36576" marB="36576" anchor="ctr">
                    <a:solidFill>
                      <a:srgbClr val="EAF8FA"/>
                    </a:solidFill>
                  </a:tcPr>
                </a:tc>
                <a:tc>
                  <a:txBody>
                    <a:bodyPr wrap="square"/>
                    <a:lstStyle/>
                    <a:p>
                      <a:r>
                        <a:rPr sz="1090" b="0" i="0">
                          <a:solidFill>
                            <a:srgbClr val="14313B"/>
                          </a:solidFill>
                          <a:latin typeface="Calibri (MS)"/>
                        </a:rPr>
                        <a:t>&lt; 0,05 (pedoman empiris)</a:t>
                      </a:r>
                    </a:p>
                  </a:txBody>
                  <a:tcPr marL="91440" marR="91440" marT="36576" marB="36576" anchor="ctr">
                    <a:solidFill>
                      <a:srgbClr val="EAF8FA"/>
                    </a:solidFill>
                  </a:tcPr>
                </a:tc>
              </a:tr>
              <a:tr h="685800">
                <a:tc>
                  <a:txBody>
                    <a:bodyPr wrap="square"/>
                    <a:lstStyle/>
                    <a:p>
                      <a:r>
                        <a:rPr sz="1150" b="1" i="0">
                          <a:solidFill>
                            <a:srgbClr val="0B5E6E"/>
                          </a:solidFill>
                          <a:latin typeface="Calibri (MS) Bold"/>
                        </a:rPr>
                        <a:t>3 · E2</a:t>
                      </a:r>
                    </a:p>
                    <a:p>
                      <a:r>
                        <a:rPr sz="1150" b="1" i="0">
                          <a:solidFill>
                            <a:srgbClr val="0B5E6E"/>
                          </a:solidFill>
                          <a:latin typeface="Calibri (MS) Bold"/>
                        </a:rPr>
                        <a:t>(selisih variasi)</a:t>
                      </a:r>
                    </a:p>
                  </a:txBody>
                  <a:tcPr marL="91440" marR="91440" marT="36576" marB="36576" anchor="ctr">
                    <a:solidFill>
                      <a:srgbClr val="FFFFFF"/>
                    </a:solidFill>
                  </a:tcPr>
                </a:tc>
                <a:tc>
                  <a:txBody>
                    <a:bodyPr wrap="square"/>
                    <a:lstStyle/>
                    <a:p>
                      <a:r>
                        <a:rPr sz="1150" b="0" i="1">
                          <a:solidFill>
                            <a:srgbClr val="14313B"/>
                          </a:solidFill>
                          <a:latin typeface="Calibri (MS)"/>
                        </a:rPr>
                        <a:t>E2 = |σₛ − σₐ| / σₐ</a:t>
                      </a:r>
                    </a:p>
                  </a:txBody>
                  <a:tcPr marL="91440" marR="91440" marT="36576" marB="36576" anchor="ctr">
                    <a:solidFill>
                      <a:srgbClr val="FFFFFF"/>
                    </a:solidFill>
                  </a:tcPr>
                </a:tc>
                <a:tc>
                  <a:txBody>
                    <a:bodyPr wrap="square"/>
                    <a:lstStyle/>
                    <a:p>
                      <a:r>
                        <a:rPr sz="1090" b="0" i="0">
                          <a:solidFill>
                            <a:srgbClr val="14313B"/>
                          </a:solidFill>
                          <a:latin typeface="Calibri (MS)"/>
                        </a:rPr>
                        <a:t>&lt; 0,30 (pedoman empiris)</a:t>
                      </a:r>
                    </a:p>
                  </a:txBody>
                  <a:tcPr marL="91440" marR="91440" marT="36576" marB="36576" anchor="ctr">
                    <a:solidFill>
                      <a:srgbClr val="FFFFFF"/>
                    </a:solidFill>
                  </a:tcPr>
                </a:tc>
              </a:tr>
              <a:tr h="914400">
                <a:tc>
                  <a:txBody>
                    <a:bodyPr wrap="square"/>
                    <a:lstStyle/>
                    <a:p>
                      <a:r>
                        <a:rPr sz="1150" b="1" i="0">
                          <a:solidFill>
                            <a:srgbClr val="0B5E6E"/>
                          </a:solidFill>
                          <a:latin typeface="Calibri (MS) Bold"/>
                        </a:rPr>
                        <a:t>4 · Discrepancy coefficient (DC)</a:t>
                      </a:r>
                    </a:p>
                  </a:txBody>
                  <a:tcPr marL="91440" marR="91440" marT="36576" marB="36576" anchor="ctr">
                    <a:solidFill>
                      <a:srgbClr val="EAF8FA"/>
                    </a:solidFill>
                  </a:tcPr>
                </a:tc>
                <a:tc>
                  <a:txBody>
                    <a:bodyPr wrap="square"/>
                    <a:lstStyle/>
                    <a:p>
                      <a:r>
                        <a:rPr sz="1150" b="0" i="1">
                          <a:solidFill>
                            <a:srgbClr val="14313B"/>
                          </a:solidFill>
                          <a:latin typeface="Calibri (MS)"/>
                        </a:rPr>
                        <a:t>DC = SD(e) / (SD(A) + SD(S))</a:t>
                      </a:r>
                    </a:p>
                    <a:p>
                      <a:r>
                        <a:rPr sz="1150" b="0" i="1">
                          <a:solidFill>
                            <a:srgbClr val="14313B"/>
                          </a:solidFill>
                          <a:latin typeface="Calibri (MS)"/>
                        </a:rPr>
                        <a:t>eᵢ = Aᵢ − Sᵢ</a:t>
                      </a:r>
                    </a:p>
                  </a:txBody>
                  <a:tcPr marL="91440" marR="91440" marT="36576" marB="36576" anchor="ctr">
                    <a:solidFill>
                      <a:srgbClr val="EAF8FA"/>
                    </a:solidFill>
                  </a:tcPr>
                </a:tc>
                <a:tc>
                  <a:txBody>
                    <a:bodyPr wrap="square"/>
                    <a:lstStyle/>
                    <a:p>
                      <a:r>
                        <a:rPr sz="1090" b="0" i="0">
                          <a:solidFill>
                            <a:srgbClr val="14313B"/>
                          </a:solidFill>
                          <a:latin typeface="Calibri (MS)"/>
                        </a:rPr>
                        <a:t>0,4–0,7 = rata-rata sampai baik (ringkasan, bukan uji)</a:t>
                      </a:r>
                    </a:p>
                  </a:txBody>
                  <a:tcPr marL="91440" marR="91440" marT="36576" marB="36576" anchor="ctr">
                    <a:solidFill>
                      <a:srgbClr val="EAF8FA"/>
                    </a:solidFill>
                  </a:tcPr>
                </a:tc>
              </a:tr>
              <a:tr h="868680">
                <a:tc>
                  <a:txBody>
                    <a:bodyPr wrap="square"/>
                    <a:lstStyle/>
                    <a:p>
                      <a:r>
                        <a:rPr sz="1150" b="1" i="0">
                          <a:solidFill>
                            <a:srgbClr val="5E6E78"/>
                          </a:solidFill>
                          <a:latin typeface="Calibri (MS) Bold"/>
                        </a:rPr>
                        <a:t>Pelengkap · MAPE</a:t>
                      </a:r>
                    </a:p>
                  </a:txBody>
                  <a:tcPr marL="91440" marR="91440" marT="36576" marB="36576" anchor="ctr">
                    <a:solidFill>
                      <a:srgbClr val="F3F7F8"/>
                    </a:solidFill>
                  </a:tcPr>
                </a:tc>
                <a:tc>
                  <a:txBody>
                    <a:bodyPr wrap="square"/>
                    <a:lstStyle/>
                    <a:p>
                      <a:r>
                        <a:rPr sz="1150" b="0" i="1">
                          <a:solidFill>
                            <a:srgbClr val="14313B"/>
                          </a:solidFill>
                          <a:latin typeface="Calibri (MS)"/>
                        </a:rPr>
                        <a:t>MAPE = (100% / n) · Σ |Sᵢ − Aᵢ| / Aᵢ</a:t>
                      </a:r>
                    </a:p>
                  </a:txBody>
                  <a:tcPr marL="91440" marR="91440" marT="36576" marB="36576" anchor="ctr">
                    <a:solidFill>
                      <a:srgbClr val="F3F7F8"/>
                    </a:solidFill>
                  </a:tcPr>
                </a:tc>
                <a:tc>
                  <a:txBody>
                    <a:bodyPr wrap="square"/>
                    <a:lstStyle/>
                    <a:p>
                      <a:r>
                        <a:rPr sz="1090" b="0" i="0">
                          <a:solidFill>
                            <a:srgbClr val="14313B"/>
                          </a:solidFill>
                          <a:latin typeface="Calibri (MS)"/>
                        </a:rPr>
                        <a:t>&lt; 10% sangat baik · 10–20% baik · 20–50% layak · &gt; 50% buruk</a:t>
                      </a:r>
                    </a:p>
                  </a:txBody>
                  <a:tcPr marL="91440" marR="91440" marT="36576" marB="36576" anchor="ctr">
                    <a:solidFill>
                      <a:srgbClr val="F3F7F8"/>
                    </a:solidFill>
                  </a:tcPr>
                </a:tc>
              </a:tr>
              <a:tr h="1234440">
                <a:tc>
                  <a:txBody>
                    <a:bodyPr wrap="square"/>
                    <a:lstStyle/>
                    <a:p>
                      <a:r>
                        <a:rPr sz="1150" b="1" i="0">
                          <a:solidFill>
                            <a:srgbClr val="5E6E78"/>
                          </a:solidFill>
                          <a:latin typeface="Calibri (MS) Bold"/>
                        </a:rPr>
                        <a:t>Pelengkap · Dekomposisi error (Sterman, 1984)</a:t>
                      </a:r>
                    </a:p>
                  </a:txBody>
                  <a:tcPr marL="91440" marR="91440" marT="36576" marB="36576" anchor="ctr">
                    <a:solidFill>
                      <a:srgbClr val="F3F7F8"/>
                    </a:solidFill>
                  </a:tcPr>
                </a:tc>
                <a:tc>
                  <a:txBody>
                    <a:bodyPr wrap="square"/>
                    <a:lstStyle/>
                    <a:p>
                      <a:r>
                        <a:rPr sz="1150" b="0" i="1">
                          <a:solidFill>
                            <a:srgbClr val="14313B"/>
                          </a:solidFill>
                          <a:latin typeface="Calibri (MS)"/>
                        </a:rPr>
                        <a:t>U1 = (S̄ − Ā)² / MSE</a:t>
                      </a:r>
                    </a:p>
                    <a:p>
                      <a:r>
                        <a:rPr sz="1150" b="0" i="1">
                          <a:solidFill>
                            <a:srgbClr val="14313B"/>
                          </a:solidFill>
                          <a:latin typeface="Calibri (MS)"/>
                        </a:rPr>
                        <a:t>U2 = (σₛ − σₐ)² / MSE</a:t>
                      </a:r>
                    </a:p>
                    <a:p>
                      <a:r>
                        <a:rPr sz="1150" b="0" i="1">
                          <a:solidFill>
                            <a:srgbClr val="14313B"/>
                          </a:solidFill>
                          <a:latin typeface="Calibri (MS)"/>
                        </a:rPr>
                        <a:t>U3 = 2(1 − r)σₛσₐ / MSE</a:t>
                      </a:r>
                    </a:p>
                  </a:txBody>
                  <a:tcPr marL="91440" marR="91440" marT="36576" marB="36576" anchor="ctr">
                    <a:solidFill>
                      <a:srgbClr val="F3F7F8"/>
                    </a:solidFill>
                  </a:tcPr>
                </a:tc>
                <a:tc>
                  <a:txBody>
                    <a:bodyPr wrap="square"/>
                    <a:lstStyle/>
                    <a:p>
                      <a:r>
                        <a:rPr sz="1090" b="0" i="0">
                          <a:solidFill>
                            <a:srgbClr val="14313B"/>
                          </a:solidFill>
                          <a:latin typeface="Calibri (MS)"/>
                        </a:rPr>
                        <a:t>U1 = beda rata-rata · U2 = beda naik-turun · U3 = beda tanpa pola. U1/U2 besar → simulasi meleset ke satu arah secara konsisten, perlu ditelusuri; U3 besar → selisih tanpa pola, wajar</a:t>
                      </a:r>
                    </a:p>
                  </a:txBody>
                  <a:tcPr marL="91440" marR="91440" marT="36576" marB="36576" anchor="ctr">
                    <a:solidFill>
                      <a:srgbClr val="F3F7F8"/>
                    </a:solidFill>
                  </a:tcPr>
                </a:tc>
              </a:tr>
            </a:tbl>
          </a:graphicData>
        </a:graphic>
      </p:graphicFrame>
      <p:sp>
        <p:nvSpPr>
          <p:cNvPr id="107" name="TextBox 106"/>
          <p:cNvSpPr txBox="1"/>
          <p:nvPr/>
        </p:nvSpPr>
        <p:spPr>
          <a:xfrm>
            <a:off x="8869680" y="8165592"/>
            <a:ext cx="8595360" cy="548640"/>
          </a:xfrm>
          <a:prstGeom prst="rect">
            <a:avLst/>
          </a:prstGeom>
          <a:noFill/>
        </p:spPr>
        <p:txBody>
          <a:bodyPr wrap="square" anchor="t" lIns="0" rIns="0" tIns="0" bIns="0">
            <a:spAutoFit/>
          </a:bodyPr>
          <a:lstStyle/>
          <a:p>
            <a:pPr algn="l">
              <a:spcAft>
                <a:spcPts val="400"/>
              </a:spcAft>
            </a:pPr>
            <a:r>
              <a:rPr sz="1090" b="1" i="0">
                <a:solidFill>
                  <a:srgbClr val="0B5E6E"/>
                </a:solidFill>
                <a:latin typeface="Calibri (MS) Bold"/>
              </a:rPr>
              <a:t>Keterangan: </a:t>
            </a:r>
            <a:r>
              <a:rPr sz="1090" b="0" i="0">
                <a:solidFill>
                  <a:srgbClr val="5E6E78"/>
                </a:solidFill>
                <a:latin typeface="Calibri (MS)"/>
              </a:rPr>
              <a:t>S = simulasi · A = data aktual · S̄, Ā = rata-rata · σ = simpangan baku · b = kemiringan regresi · n = jumlah tahun · r = korelasi S dan A · MSE = rata-rata kuadrat selisih</a:t>
            </a:r>
          </a:p>
        </p:txBody>
      </p:sp>
      <p:sp>
        <p:nvSpPr>
          <p:cNvPr id="108" name="TextBox 107"/>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 dan 3.7.4 (Tabel 18), Subbab 4.5.1–4.5.2 (Tabel 45–46).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