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4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302" r:id="rId52"/>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52" Type="http://schemas.openxmlformats.org/officeDocument/2006/relationships/slide" Target="slides/slide1.xml"/><Relationship Id="rId96" Type="http://schemas.openxmlformats.org/officeDocument/2006/relationships/notesMaster" Target="notesMasters/notesMaster1.xml"/><Relationship Id="rId97" Type="http://schemas.openxmlformats.org/officeDocument/2006/relationships/theme" Target="theme/theme2.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5" Type="http://schemas.openxmlformats.org/officeDocument/2006/relationships/font" Target="fonts/font105.fntdata"/><Relationship Id="rId108" Type="http://schemas.openxmlformats.org/officeDocument/2006/relationships/font" Target="fonts/font108.fntdata"/><Relationship Id="rId128" Type="http://schemas.openxmlformats.org/officeDocument/2006/relationships/font" Target="fonts/font12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Selisih pada uji penuh bisa ditelusuri ke satu titik, yaitu jumlah wisatawan. Karena wisatawan tumbuh lebih lambat dari data, pengeluaran wisatawan, PDRB, dan investasi ikut lebih rendah, sehingga hotel dan ODTW yang dibangun lebih sedikit, lalu tenaga kerja dan lahan terbangun ikut meleset. Buktinya ada tiga. Pertama, pada enam dari sembilan variabel, selisih terbesar berasal dari beda rata-rata. Kedua, hotel dan ODTW cocok dengan data saat diuji sendiri, tetapi meleset saat dijalankan bersama subsistem wisatawan. Ketiga, uji P5 dan uji penuh sama-sama menunjukkan wisatawan tumbuh lebih lambat. Penyebabnya bukan nilai parameter: data wisatawan DIY melonjak 12,72, 18,59, dan 24,86 persen pada 2022 sampai 2024 saat pemulihan pascapandemi, sedangkan simulasi hanya sekitar 6,5 persen per tahun. Lonjakan ini berada di luar cakupan model, dan hal ini saya periksa pada kalibrasi Tahap 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Uji Penuh — Sumber Error</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Selisih pada uji penuh berawal dari satu titik, yaitu jumlah wisatawan, lalu terbawa ke variabel lain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66" id="66"/>
          <p:cNvGrpSpPr/>
          <p:nvPr/>
        </p:nvGrpSpPr>
        <p:grpSpPr>
          <a:xfrm rot="0">
            <a:off x="822960" y="2537460"/>
            <a:ext cx="2468880" cy="2057400"/>
            <a:chOff x="0" y="0"/>
            <a:chExt cx="3291840" cy="2743200"/>
          </a:xfrm>
        </p:grpSpPr>
        <p:sp>
          <p:nvSpPr>
            <p:cNvPr name="Freeform 67" id="67"/>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4604F"/>
            </a:solidFill>
          </p:spPr>
          <p:txBody>
            <a:bodyPr/>
            <a:p/>
          </p:txBody>
        </p:sp>
      </p:grpSp>
      <p:grpSp>
        <p:nvGrpSpPr>
          <p:cNvPr name="Group 68" id="68"/>
          <p:cNvGrpSpPr/>
          <p:nvPr/>
        </p:nvGrpSpPr>
        <p:grpSpPr>
          <a:xfrm rot="0">
            <a:off x="960120" y="2537460"/>
            <a:ext cx="2194560" cy="2057400"/>
            <a:chOff x="0" y="0"/>
            <a:chExt cx="2926080" cy="2743200"/>
          </a:xfrm>
        </p:grpSpPr>
        <p:sp>
          <p:nvSpPr>
            <p:cNvPr name="Freeform 69" id="69"/>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txBody>
            <a:bodyPr/>
            <a:p/>
          </p:txBody>
        </p:sp>
      </p:grpSp>
      <p:grpSp>
        <p:nvGrpSpPr>
          <p:cNvPr name="Group 70" id="70"/>
          <p:cNvGrpSpPr/>
          <p:nvPr/>
        </p:nvGrpSpPr>
        <p:grpSpPr>
          <a:xfrm rot="0">
            <a:off x="960120" y="2501741"/>
            <a:ext cx="2194560" cy="2093119"/>
            <a:chOff x="0" y="0"/>
            <a:chExt cx="2926080" cy="2790825"/>
          </a:xfrm>
        </p:grpSpPr>
        <p:sp>
          <p:nvSpPr>
            <p:cNvPr name="Freeform 71" id="71"/>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457" t="0" r="-72458" b="0"/>
              </a:stretch>
            </a:blipFill>
          </p:spPr>
          <p:txBody>
            <a:bodyPr/>
            <a:p/>
          </p:txBody>
        </p:sp>
      </p:grpSp>
      <p:grpSp>
        <p:nvGrpSpPr>
          <p:cNvPr name="Group 72" id="72"/>
          <p:cNvGrpSpPr/>
          <p:nvPr/>
        </p:nvGrpSpPr>
        <p:grpSpPr>
          <a:xfrm rot="0">
            <a:off x="960120" y="2466022"/>
            <a:ext cx="2194560" cy="2128838"/>
            <a:chOff x="0" y="0"/>
            <a:chExt cx="2926080" cy="2838450"/>
          </a:xfrm>
        </p:grpSpPr>
        <p:sp>
          <p:nvSpPr>
            <p:cNvPr name="Freeform 73" id="73"/>
            <p:cNvSpPr/>
            <p:nvPr/>
          </p:nvSpPr>
          <p:spPr>
            <a:xfrm flipH="false" flipV="false" rot="0">
              <a:off x="0" y="0"/>
              <a:ext cx="2926080" cy="2838450"/>
            </a:xfrm>
            <a:custGeom>
              <a:avLst/>
              <a:gdLst/>
              <a:ahLst/>
              <a:cxnLst/>
              <a:rect r="r" b="b" t="t" l="l"/>
              <a:pathLst>
                <a:path h="2838450" w="2926080">
                  <a:moveTo>
                    <a:pt x="0" y="0"/>
                  </a:moveTo>
                  <a:lnTo>
                    <a:pt x="2926080" y="0"/>
                  </a:lnTo>
                  <a:lnTo>
                    <a:pt x="2926080" y="2838450"/>
                  </a:lnTo>
                  <a:lnTo>
                    <a:pt x="0" y="2838450"/>
                  </a:lnTo>
                  <a:close/>
                </a:path>
              </a:pathLst>
            </a:custGeom>
            <a:blipFill>
              <a:blip r:embed="rId6">
                <a:alphaModFix amt="0"/>
              </a:blip>
              <a:stretch>
                <a:fillRect l="-74461" t="0" r="-74461" b="0"/>
              </a:stretch>
            </a:blipFill>
          </p:spPr>
          <p:txBody>
            <a:bodyPr/>
            <a:p/>
          </p:txBody>
        </p:sp>
        <p:sp>
          <p:nvSpPr>
            <p:cNvPr name="TextBox 74" id="74"/>
            <p:cNvSpPr txBox="true"/>
            <p:nvPr/>
          </p:nvSpPr>
          <p:spPr>
            <a:xfrm>
              <a:off x="0" y="-47625"/>
              <a:ext cx="2926080" cy="2886075"/>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Jumlah wisatawan</a:t>
              </a:r>
            </a:p>
            <a:p>
              <a:pPr algn="ctr">
                <a:lnSpc>
                  <a:spcPts val="2340"/>
                </a:lnSpc>
              </a:pPr>
              <a:r>
                <a:rPr lang="en-US" sz="1950" b="true">
                  <a:solidFill>
                    <a:srgbClr val="FFFFFF"/>
                  </a:solidFill>
                  <a:latin typeface="Calibri (MS) Bold"/>
                  <a:ea typeface="Calibri (MS) Bold"/>
                  <a:cs typeface="Calibri (MS) Bold"/>
                  <a:sym typeface="Calibri (MS) Bold"/>
                </a:rPr>
                <a:t>(lebih lambat dari data)</a:t>
              </a:r>
            </a:p>
          </p:txBody>
        </p:sp>
      </p:grpSp>
      <p:sp>
        <p:nvSpPr>
          <p:cNvPr name="AutoShape 75" id="75"/>
          <p:cNvSpPr/>
          <p:nvPr/>
        </p:nvSpPr>
        <p:spPr>
          <a:xfrm rot="157740">
            <a:off x="3269361" y="3532822"/>
            <a:ext cx="415300" cy="0"/>
          </a:xfrm>
          <a:prstGeom prst="line">
            <a:avLst/>
          </a:prstGeom>
          <a:ln cap="rnd" w="19050">
            <a:solidFill>
              <a:srgbClr val="39C0D3"/>
            </a:solidFill>
            <a:prstDash val="solid"/>
            <a:headEnd type="none" len="sm" w="sm"/>
            <a:tailEnd type="triangle" len="med" w="lg"/>
          </a:ln>
        </p:spPr>
        <p:txBody>
          <a:bodyPr/>
          <a:p/>
        </p:txBody>
      </p:sp>
      <p:grpSp>
        <p:nvGrpSpPr>
          <p:cNvPr name="Group 76" id="76"/>
          <p:cNvGrpSpPr/>
          <p:nvPr/>
        </p:nvGrpSpPr>
        <p:grpSpPr>
          <a:xfrm rot="0">
            <a:off x="3656686" y="2537460"/>
            <a:ext cx="2468880" cy="2057400"/>
            <a:chOff x="0" y="0"/>
            <a:chExt cx="3291840" cy="2743200"/>
          </a:xfrm>
        </p:grpSpPr>
        <p:sp>
          <p:nvSpPr>
            <p:cNvPr name="Freeform 77" id="77"/>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78" id="78"/>
          <p:cNvGrpSpPr/>
          <p:nvPr/>
        </p:nvGrpSpPr>
        <p:grpSpPr>
          <a:xfrm rot="0">
            <a:off x="3793846" y="2537460"/>
            <a:ext cx="2194560" cy="2057400"/>
            <a:chOff x="0" y="0"/>
            <a:chExt cx="2926080" cy="2743200"/>
          </a:xfrm>
        </p:grpSpPr>
        <p:sp>
          <p:nvSpPr>
            <p:cNvPr name="Freeform 79" id="79"/>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txBody>
            <a:bodyPr/>
            <a:p/>
          </p:txBody>
        </p:sp>
      </p:grpSp>
      <p:grpSp>
        <p:nvGrpSpPr>
          <p:cNvPr name="Group 80" id="80"/>
          <p:cNvGrpSpPr/>
          <p:nvPr/>
        </p:nvGrpSpPr>
        <p:grpSpPr>
          <a:xfrm rot="0">
            <a:off x="3793846" y="2501741"/>
            <a:ext cx="2194560" cy="2093119"/>
            <a:chOff x="0" y="0"/>
            <a:chExt cx="2926080" cy="2790825"/>
          </a:xfrm>
        </p:grpSpPr>
        <p:sp>
          <p:nvSpPr>
            <p:cNvPr name="Freeform 81" id="81"/>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457" t="0" r="-72458" b="0"/>
              </a:stretch>
            </a:blipFill>
          </p:spPr>
          <p:txBody>
            <a:bodyPr/>
            <a:p/>
          </p:txBody>
        </p:sp>
      </p:grpSp>
      <p:grpSp>
        <p:nvGrpSpPr>
          <p:cNvPr name="Group 82" id="82"/>
          <p:cNvGrpSpPr/>
          <p:nvPr/>
        </p:nvGrpSpPr>
        <p:grpSpPr>
          <a:xfrm rot="0">
            <a:off x="3793846" y="2466022"/>
            <a:ext cx="2194560" cy="2128838"/>
            <a:chOff x="0" y="0"/>
            <a:chExt cx="2926080" cy="2838450"/>
          </a:xfrm>
        </p:grpSpPr>
        <p:sp>
          <p:nvSpPr>
            <p:cNvPr name="Freeform 83" id="83"/>
            <p:cNvSpPr/>
            <p:nvPr/>
          </p:nvSpPr>
          <p:spPr>
            <a:xfrm flipH="false" flipV="false" rot="0">
              <a:off x="0" y="0"/>
              <a:ext cx="2926080" cy="2838450"/>
            </a:xfrm>
            <a:custGeom>
              <a:avLst/>
              <a:gdLst/>
              <a:ahLst/>
              <a:cxnLst/>
              <a:rect r="r" b="b" t="t" l="l"/>
              <a:pathLst>
                <a:path h="2838450" w="2926080">
                  <a:moveTo>
                    <a:pt x="0" y="0"/>
                  </a:moveTo>
                  <a:lnTo>
                    <a:pt x="2926080" y="0"/>
                  </a:lnTo>
                  <a:lnTo>
                    <a:pt x="2926080" y="2838450"/>
                  </a:lnTo>
                  <a:lnTo>
                    <a:pt x="0" y="2838450"/>
                  </a:lnTo>
                  <a:close/>
                </a:path>
              </a:pathLst>
            </a:custGeom>
            <a:blipFill>
              <a:blip r:embed="rId6">
                <a:alphaModFix amt="0"/>
              </a:blip>
              <a:stretch>
                <a:fillRect l="-74461" t="0" r="-74461" b="0"/>
              </a:stretch>
            </a:blipFill>
          </p:spPr>
          <p:txBody>
            <a:bodyPr/>
            <a:p/>
          </p:txBody>
        </p:sp>
        <p:sp>
          <p:nvSpPr>
            <p:cNvPr name="TextBox 84" id="84"/>
            <p:cNvSpPr txBox="true"/>
            <p:nvPr/>
          </p:nvSpPr>
          <p:spPr>
            <a:xfrm>
              <a:off x="0" y="-47625"/>
              <a:ext cx="2926080" cy="2886075"/>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Pengeluaran wisatawan</a:t>
              </a:r>
            </a:p>
          </p:txBody>
        </p:sp>
      </p:grpSp>
      <p:sp>
        <p:nvSpPr>
          <p:cNvPr name="AutoShape 85" id="85"/>
          <p:cNvSpPr/>
          <p:nvPr/>
        </p:nvSpPr>
        <p:spPr>
          <a:xfrm rot="157740">
            <a:off x="6103087" y="3532822"/>
            <a:ext cx="415300" cy="0"/>
          </a:xfrm>
          <a:prstGeom prst="line">
            <a:avLst/>
          </a:prstGeom>
          <a:ln cap="rnd" w="19050">
            <a:solidFill>
              <a:srgbClr val="39C0D3"/>
            </a:solidFill>
            <a:prstDash val="solid"/>
            <a:headEnd type="none" len="sm" w="sm"/>
            <a:tailEnd type="triangle" len="med" w="lg"/>
          </a:ln>
        </p:spPr>
        <p:txBody>
          <a:bodyPr/>
          <a:p/>
        </p:txBody>
      </p:sp>
      <p:grpSp>
        <p:nvGrpSpPr>
          <p:cNvPr name="Group 86" id="86"/>
          <p:cNvGrpSpPr/>
          <p:nvPr/>
        </p:nvGrpSpPr>
        <p:grpSpPr>
          <a:xfrm rot="0">
            <a:off x="6490411" y="2537460"/>
            <a:ext cx="2468880" cy="2057400"/>
            <a:chOff x="0" y="0"/>
            <a:chExt cx="3291840" cy="2743200"/>
          </a:xfrm>
        </p:grpSpPr>
        <p:sp>
          <p:nvSpPr>
            <p:cNvPr name="Freeform 87" id="87"/>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88" id="88"/>
          <p:cNvGrpSpPr/>
          <p:nvPr/>
        </p:nvGrpSpPr>
        <p:grpSpPr>
          <a:xfrm rot="0">
            <a:off x="6627571" y="2537460"/>
            <a:ext cx="2194560" cy="2057400"/>
            <a:chOff x="0" y="0"/>
            <a:chExt cx="2926080" cy="2743200"/>
          </a:xfrm>
        </p:grpSpPr>
        <p:sp>
          <p:nvSpPr>
            <p:cNvPr name="Freeform 89" id="89"/>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txBody>
            <a:bodyPr/>
            <a:p/>
          </p:txBody>
        </p:sp>
      </p:grpSp>
      <p:grpSp>
        <p:nvGrpSpPr>
          <p:cNvPr name="Group 90" id="90"/>
          <p:cNvGrpSpPr/>
          <p:nvPr/>
        </p:nvGrpSpPr>
        <p:grpSpPr>
          <a:xfrm rot="0">
            <a:off x="6627571" y="2501741"/>
            <a:ext cx="2194560" cy="2093119"/>
            <a:chOff x="0" y="0"/>
            <a:chExt cx="2926080" cy="2790825"/>
          </a:xfrm>
        </p:grpSpPr>
        <p:sp>
          <p:nvSpPr>
            <p:cNvPr name="Freeform 91" id="91"/>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457" t="0" r="-72458" b="0"/>
              </a:stretch>
            </a:blipFill>
          </p:spPr>
          <p:txBody>
            <a:bodyPr/>
            <a:p/>
          </p:txBody>
        </p:sp>
      </p:grpSp>
      <p:grpSp>
        <p:nvGrpSpPr>
          <p:cNvPr name="Group 92" id="92"/>
          <p:cNvGrpSpPr/>
          <p:nvPr/>
        </p:nvGrpSpPr>
        <p:grpSpPr>
          <a:xfrm rot="0">
            <a:off x="6627571" y="2466022"/>
            <a:ext cx="2194560" cy="2128838"/>
            <a:chOff x="0" y="0"/>
            <a:chExt cx="2926080" cy="2838450"/>
          </a:xfrm>
        </p:grpSpPr>
        <p:sp>
          <p:nvSpPr>
            <p:cNvPr name="Freeform 93" id="93"/>
            <p:cNvSpPr/>
            <p:nvPr/>
          </p:nvSpPr>
          <p:spPr>
            <a:xfrm flipH="false" flipV="false" rot="0">
              <a:off x="0" y="0"/>
              <a:ext cx="2926080" cy="2838450"/>
            </a:xfrm>
            <a:custGeom>
              <a:avLst/>
              <a:gdLst/>
              <a:ahLst/>
              <a:cxnLst/>
              <a:rect r="r" b="b" t="t" l="l"/>
              <a:pathLst>
                <a:path h="2838450" w="2926080">
                  <a:moveTo>
                    <a:pt x="0" y="0"/>
                  </a:moveTo>
                  <a:lnTo>
                    <a:pt x="2926080" y="0"/>
                  </a:lnTo>
                  <a:lnTo>
                    <a:pt x="2926080" y="2838450"/>
                  </a:lnTo>
                  <a:lnTo>
                    <a:pt x="0" y="2838450"/>
                  </a:lnTo>
                  <a:close/>
                </a:path>
              </a:pathLst>
            </a:custGeom>
            <a:blipFill>
              <a:blip r:embed="rId6">
                <a:alphaModFix amt="0"/>
              </a:blip>
              <a:stretch>
                <a:fillRect l="-74461" t="0" r="-74461" b="0"/>
              </a:stretch>
            </a:blipFill>
          </p:spPr>
          <p:txBody>
            <a:bodyPr/>
            <a:p/>
          </p:txBody>
        </p:sp>
        <p:sp>
          <p:nvSpPr>
            <p:cNvPr name="TextBox 94" id="94"/>
            <p:cNvSpPr txBox="true"/>
            <p:nvPr/>
          </p:nvSpPr>
          <p:spPr>
            <a:xfrm>
              <a:off x="0" y="-47625"/>
              <a:ext cx="2926080" cy="2886075"/>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PDRB sektor pariwisata</a:t>
              </a:r>
            </a:p>
          </p:txBody>
        </p:sp>
      </p:grpSp>
      <p:sp>
        <p:nvSpPr>
          <p:cNvPr name="AutoShape 95" id="95"/>
          <p:cNvSpPr/>
          <p:nvPr/>
        </p:nvSpPr>
        <p:spPr>
          <a:xfrm rot="157740">
            <a:off x="8936812" y="3532822"/>
            <a:ext cx="415300" cy="0"/>
          </a:xfrm>
          <a:prstGeom prst="line">
            <a:avLst/>
          </a:prstGeom>
          <a:ln cap="rnd" w="19050">
            <a:solidFill>
              <a:srgbClr val="39C0D3"/>
            </a:solidFill>
            <a:prstDash val="solid"/>
            <a:headEnd type="none" len="sm" w="sm"/>
            <a:tailEnd type="triangle" len="med" w="lg"/>
          </a:ln>
        </p:spPr>
        <p:txBody>
          <a:bodyPr/>
          <a:p/>
        </p:txBody>
      </p:sp>
      <p:grpSp>
        <p:nvGrpSpPr>
          <p:cNvPr name="Group 96" id="96"/>
          <p:cNvGrpSpPr/>
          <p:nvPr/>
        </p:nvGrpSpPr>
        <p:grpSpPr>
          <a:xfrm rot="0">
            <a:off x="9324137" y="2537460"/>
            <a:ext cx="2468880" cy="2057400"/>
            <a:chOff x="0" y="0"/>
            <a:chExt cx="3291840" cy="2743200"/>
          </a:xfrm>
        </p:grpSpPr>
        <p:sp>
          <p:nvSpPr>
            <p:cNvPr name="Freeform 97" id="97"/>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98" id="98"/>
          <p:cNvGrpSpPr/>
          <p:nvPr/>
        </p:nvGrpSpPr>
        <p:grpSpPr>
          <a:xfrm rot="0">
            <a:off x="9461297" y="2537460"/>
            <a:ext cx="2194560" cy="2057400"/>
            <a:chOff x="0" y="0"/>
            <a:chExt cx="2926080" cy="2743200"/>
          </a:xfrm>
        </p:grpSpPr>
        <p:sp>
          <p:nvSpPr>
            <p:cNvPr name="Freeform 99" id="99"/>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txBody>
            <a:bodyPr/>
            <a:p/>
          </p:txBody>
        </p:sp>
      </p:grpSp>
      <p:grpSp>
        <p:nvGrpSpPr>
          <p:cNvPr name="Group 100" id="100"/>
          <p:cNvGrpSpPr/>
          <p:nvPr/>
        </p:nvGrpSpPr>
        <p:grpSpPr>
          <a:xfrm rot="0">
            <a:off x="9461297" y="2501741"/>
            <a:ext cx="2194560" cy="2093119"/>
            <a:chOff x="0" y="0"/>
            <a:chExt cx="2926080" cy="2790825"/>
          </a:xfrm>
        </p:grpSpPr>
        <p:sp>
          <p:nvSpPr>
            <p:cNvPr name="Freeform 101" id="101"/>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457" t="0" r="-72458" b="0"/>
              </a:stretch>
            </a:blipFill>
          </p:spPr>
          <p:txBody>
            <a:bodyPr/>
            <a:p/>
          </p:txBody>
        </p:sp>
      </p:grpSp>
      <p:grpSp>
        <p:nvGrpSpPr>
          <p:cNvPr name="Group 102" id="102"/>
          <p:cNvGrpSpPr/>
          <p:nvPr/>
        </p:nvGrpSpPr>
        <p:grpSpPr>
          <a:xfrm rot="0">
            <a:off x="9461297" y="2466022"/>
            <a:ext cx="2194560" cy="2128838"/>
            <a:chOff x="0" y="0"/>
            <a:chExt cx="2926080" cy="2838450"/>
          </a:xfrm>
        </p:grpSpPr>
        <p:sp>
          <p:nvSpPr>
            <p:cNvPr name="Freeform 103" id="103"/>
            <p:cNvSpPr/>
            <p:nvPr/>
          </p:nvSpPr>
          <p:spPr>
            <a:xfrm flipH="false" flipV="false" rot="0">
              <a:off x="0" y="0"/>
              <a:ext cx="2926080" cy="2838450"/>
            </a:xfrm>
            <a:custGeom>
              <a:avLst/>
              <a:gdLst/>
              <a:ahLst/>
              <a:cxnLst/>
              <a:rect r="r" b="b" t="t" l="l"/>
              <a:pathLst>
                <a:path h="2838450" w="2926080">
                  <a:moveTo>
                    <a:pt x="0" y="0"/>
                  </a:moveTo>
                  <a:lnTo>
                    <a:pt x="2926080" y="0"/>
                  </a:lnTo>
                  <a:lnTo>
                    <a:pt x="2926080" y="2838450"/>
                  </a:lnTo>
                  <a:lnTo>
                    <a:pt x="0" y="2838450"/>
                  </a:lnTo>
                  <a:close/>
                </a:path>
              </a:pathLst>
            </a:custGeom>
            <a:blipFill>
              <a:blip r:embed="rId6">
                <a:alphaModFix amt="0"/>
              </a:blip>
              <a:stretch>
                <a:fillRect l="-74461" t="0" r="-74461" b="0"/>
              </a:stretch>
            </a:blipFill>
          </p:spPr>
          <p:txBody>
            <a:bodyPr/>
            <a:p/>
          </p:txBody>
        </p:sp>
        <p:sp>
          <p:nvSpPr>
            <p:cNvPr name="TextBox 104" id="104"/>
            <p:cNvSpPr txBox="true"/>
            <p:nvPr/>
          </p:nvSpPr>
          <p:spPr>
            <a:xfrm>
              <a:off x="0" y="-47625"/>
              <a:ext cx="2926080" cy="2886075"/>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Investasi sektor pariwisata</a:t>
              </a:r>
            </a:p>
          </p:txBody>
        </p:sp>
      </p:grpSp>
      <p:sp>
        <p:nvSpPr>
          <p:cNvPr name="AutoShape 105" id="105"/>
          <p:cNvSpPr/>
          <p:nvPr/>
        </p:nvSpPr>
        <p:spPr>
          <a:xfrm rot="157740">
            <a:off x="11770538" y="3532822"/>
            <a:ext cx="415300" cy="0"/>
          </a:xfrm>
          <a:prstGeom prst="line">
            <a:avLst/>
          </a:prstGeom>
          <a:ln cap="rnd" w="19050">
            <a:solidFill>
              <a:srgbClr val="39C0D3"/>
            </a:solidFill>
            <a:prstDash val="solid"/>
            <a:headEnd type="none" len="sm" w="sm"/>
            <a:tailEnd type="triangle" len="med" w="lg"/>
          </a:ln>
        </p:spPr>
        <p:txBody>
          <a:bodyPr/>
          <a:p/>
        </p:txBody>
      </p:sp>
      <p:grpSp>
        <p:nvGrpSpPr>
          <p:cNvPr name="Group 106" id="106"/>
          <p:cNvGrpSpPr/>
          <p:nvPr/>
        </p:nvGrpSpPr>
        <p:grpSpPr>
          <a:xfrm rot="0">
            <a:off x="12157862" y="2537460"/>
            <a:ext cx="2468880" cy="2057400"/>
            <a:chOff x="0" y="0"/>
            <a:chExt cx="3291840" cy="2743200"/>
          </a:xfrm>
        </p:grpSpPr>
        <p:sp>
          <p:nvSpPr>
            <p:cNvPr name="Freeform 107" id="107"/>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108" id="108"/>
          <p:cNvGrpSpPr/>
          <p:nvPr/>
        </p:nvGrpSpPr>
        <p:grpSpPr>
          <a:xfrm rot="0">
            <a:off x="12295022" y="2537460"/>
            <a:ext cx="2194560" cy="2057400"/>
            <a:chOff x="0" y="0"/>
            <a:chExt cx="2926080" cy="2743200"/>
          </a:xfrm>
        </p:grpSpPr>
        <p:sp>
          <p:nvSpPr>
            <p:cNvPr name="Freeform 109" id="109"/>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txBody>
            <a:bodyPr/>
            <a:p/>
          </p:txBody>
        </p:sp>
      </p:grpSp>
      <p:grpSp>
        <p:nvGrpSpPr>
          <p:cNvPr name="Group 110" id="110"/>
          <p:cNvGrpSpPr/>
          <p:nvPr/>
        </p:nvGrpSpPr>
        <p:grpSpPr>
          <a:xfrm rot="0">
            <a:off x="12295022" y="2501741"/>
            <a:ext cx="2194560" cy="2093119"/>
            <a:chOff x="0" y="0"/>
            <a:chExt cx="2926080" cy="2790825"/>
          </a:xfrm>
        </p:grpSpPr>
        <p:sp>
          <p:nvSpPr>
            <p:cNvPr name="Freeform 111" id="111"/>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457" t="0" r="-72458" b="0"/>
              </a:stretch>
            </a:blipFill>
          </p:spPr>
          <p:txBody>
            <a:bodyPr/>
            <a:p/>
          </p:txBody>
        </p:sp>
      </p:grpSp>
      <p:grpSp>
        <p:nvGrpSpPr>
          <p:cNvPr name="Group 112" id="112"/>
          <p:cNvGrpSpPr/>
          <p:nvPr/>
        </p:nvGrpSpPr>
        <p:grpSpPr>
          <a:xfrm rot="0">
            <a:off x="12295022" y="2466022"/>
            <a:ext cx="2194560" cy="2128838"/>
            <a:chOff x="0" y="0"/>
            <a:chExt cx="2926080" cy="2838450"/>
          </a:xfrm>
        </p:grpSpPr>
        <p:sp>
          <p:nvSpPr>
            <p:cNvPr name="Freeform 113" id="113"/>
            <p:cNvSpPr/>
            <p:nvPr/>
          </p:nvSpPr>
          <p:spPr>
            <a:xfrm flipH="false" flipV="false" rot="0">
              <a:off x="0" y="0"/>
              <a:ext cx="2926080" cy="2838450"/>
            </a:xfrm>
            <a:custGeom>
              <a:avLst/>
              <a:gdLst/>
              <a:ahLst/>
              <a:cxnLst/>
              <a:rect r="r" b="b" t="t" l="l"/>
              <a:pathLst>
                <a:path h="2838450" w="2926080">
                  <a:moveTo>
                    <a:pt x="0" y="0"/>
                  </a:moveTo>
                  <a:lnTo>
                    <a:pt x="2926080" y="0"/>
                  </a:lnTo>
                  <a:lnTo>
                    <a:pt x="2926080" y="2838450"/>
                  </a:lnTo>
                  <a:lnTo>
                    <a:pt x="0" y="2838450"/>
                  </a:lnTo>
                  <a:close/>
                </a:path>
              </a:pathLst>
            </a:custGeom>
            <a:blipFill>
              <a:blip r:embed="rId6">
                <a:alphaModFix amt="0"/>
              </a:blip>
              <a:stretch>
                <a:fillRect l="-74461" t="0" r="-74461" b="0"/>
              </a:stretch>
            </a:blipFill>
          </p:spPr>
          <p:txBody>
            <a:bodyPr/>
            <a:p/>
          </p:txBody>
        </p:sp>
        <p:sp>
          <p:nvSpPr>
            <p:cNvPr name="TextBox 114" id="114"/>
            <p:cNvSpPr txBox="true"/>
            <p:nvPr/>
          </p:nvSpPr>
          <p:spPr>
            <a:xfrm>
              <a:off x="0" y="-47625"/>
              <a:ext cx="2926080" cy="2886075"/>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Konstruksi hotel dan pembangunan ODTW</a:t>
              </a:r>
            </a:p>
          </p:txBody>
        </p:sp>
      </p:grpSp>
      <p:sp>
        <p:nvSpPr>
          <p:cNvPr name="AutoShape 115" id="115"/>
          <p:cNvSpPr/>
          <p:nvPr/>
        </p:nvSpPr>
        <p:spPr>
          <a:xfrm rot="157740">
            <a:off x="14604263" y="3532822"/>
            <a:ext cx="415300" cy="0"/>
          </a:xfrm>
          <a:prstGeom prst="line">
            <a:avLst/>
          </a:prstGeom>
          <a:ln cap="rnd" w="19050">
            <a:solidFill>
              <a:srgbClr val="39C0D3"/>
            </a:solidFill>
            <a:prstDash val="solid"/>
            <a:headEnd type="none" len="sm" w="sm"/>
            <a:tailEnd type="triangle" len="med" w="lg"/>
          </a:ln>
        </p:spPr>
        <p:txBody>
          <a:bodyPr/>
          <a:p/>
        </p:txBody>
      </p:sp>
      <p:grpSp>
        <p:nvGrpSpPr>
          <p:cNvPr name="Group 116" id="116"/>
          <p:cNvGrpSpPr/>
          <p:nvPr/>
        </p:nvGrpSpPr>
        <p:grpSpPr>
          <a:xfrm rot="0">
            <a:off x="14991588" y="2537460"/>
            <a:ext cx="2468880" cy="2057400"/>
            <a:chOff x="0" y="0"/>
            <a:chExt cx="3291840" cy="2743200"/>
          </a:xfrm>
        </p:grpSpPr>
        <p:sp>
          <p:nvSpPr>
            <p:cNvPr name="Freeform 117" id="117"/>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txBody>
            <a:bodyPr/>
            <a:p/>
          </p:txBody>
        </p:sp>
      </p:grpSp>
      <p:grpSp>
        <p:nvGrpSpPr>
          <p:cNvPr name="Group 118" id="118"/>
          <p:cNvGrpSpPr/>
          <p:nvPr/>
        </p:nvGrpSpPr>
        <p:grpSpPr>
          <a:xfrm rot="0">
            <a:off x="15128748" y="2537460"/>
            <a:ext cx="2194560" cy="2057400"/>
            <a:chOff x="0" y="0"/>
            <a:chExt cx="2926080" cy="2743200"/>
          </a:xfrm>
        </p:grpSpPr>
        <p:sp>
          <p:nvSpPr>
            <p:cNvPr name="Freeform 119" id="119"/>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txBody>
            <a:bodyPr/>
            <a:p/>
          </p:txBody>
        </p:sp>
      </p:grpSp>
      <p:grpSp>
        <p:nvGrpSpPr>
          <p:cNvPr name="Group 120" id="120"/>
          <p:cNvGrpSpPr/>
          <p:nvPr/>
        </p:nvGrpSpPr>
        <p:grpSpPr>
          <a:xfrm rot="0">
            <a:off x="15128748" y="2501741"/>
            <a:ext cx="2194560" cy="2093119"/>
            <a:chOff x="0" y="0"/>
            <a:chExt cx="2926080" cy="2790825"/>
          </a:xfrm>
        </p:grpSpPr>
        <p:sp>
          <p:nvSpPr>
            <p:cNvPr name="Freeform 121" id="121"/>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457" t="0" r="-72458" b="0"/>
              </a:stretch>
            </a:blipFill>
          </p:spPr>
          <p:txBody>
            <a:bodyPr/>
            <a:p/>
          </p:txBody>
        </p:sp>
      </p:grpSp>
      <p:grpSp>
        <p:nvGrpSpPr>
          <p:cNvPr name="Group 122" id="122"/>
          <p:cNvGrpSpPr/>
          <p:nvPr/>
        </p:nvGrpSpPr>
        <p:grpSpPr>
          <a:xfrm rot="0">
            <a:off x="15128748" y="2466022"/>
            <a:ext cx="2194560" cy="2128838"/>
            <a:chOff x="0" y="0"/>
            <a:chExt cx="2926080" cy="2838450"/>
          </a:xfrm>
        </p:grpSpPr>
        <p:sp>
          <p:nvSpPr>
            <p:cNvPr name="Freeform 123" id="123"/>
            <p:cNvSpPr/>
            <p:nvPr/>
          </p:nvSpPr>
          <p:spPr>
            <a:xfrm flipH="false" flipV="false" rot="0">
              <a:off x="0" y="0"/>
              <a:ext cx="2926080" cy="2838450"/>
            </a:xfrm>
            <a:custGeom>
              <a:avLst/>
              <a:gdLst/>
              <a:ahLst/>
              <a:cxnLst/>
              <a:rect r="r" b="b" t="t" l="l"/>
              <a:pathLst>
                <a:path h="2838450" w="2926080">
                  <a:moveTo>
                    <a:pt x="0" y="0"/>
                  </a:moveTo>
                  <a:lnTo>
                    <a:pt x="2926080" y="0"/>
                  </a:lnTo>
                  <a:lnTo>
                    <a:pt x="2926080" y="2838450"/>
                  </a:lnTo>
                  <a:lnTo>
                    <a:pt x="0" y="2838450"/>
                  </a:lnTo>
                  <a:close/>
                </a:path>
              </a:pathLst>
            </a:custGeom>
            <a:blipFill>
              <a:blip r:embed="rId6">
                <a:alphaModFix amt="0"/>
              </a:blip>
              <a:stretch>
                <a:fillRect l="-74461" t="0" r="-74461" b="0"/>
              </a:stretch>
            </a:blipFill>
          </p:spPr>
          <p:txBody>
            <a:bodyPr/>
            <a:p/>
          </p:txBody>
        </p:sp>
        <p:sp>
          <p:nvSpPr>
            <p:cNvPr name="TextBox 124" id="124"/>
            <p:cNvSpPr txBox="true"/>
            <p:nvPr/>
          </p:nvSpPr>
          <p:spPr>
            <a:xfrm>
              <a:off x="0" y="-47625"/>
              <a:ext cx="2926080" cy="2886075"/>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Tenaga kerja dan lahan terbangun</a:t>
              </a:r>
            </a:p>
          </p:txBody>
        </p:sp>
      </p:grpSp>
      <p:sp>
        <p:nvSpPr>
          <p:cNvPr name="TextBox 125" id="125"/>
          <p:cNvSpPr txBox="true"/>
          <p:nvPr/>
        </p:nvSpPr>
        <p:spPr>
          <a:xfrm rot="0">
            <a:off x="822960" y="4686300"/>
            <a:ext cx="16637508" cy="304800"/>
          </a:xfrm>
          <a:prstGeom prst="rect">
            <a:avLst/>
          </a:prstGeom>
        </p:spPr>
        <p:txBody>
          <a:bodyPr anchor="t" rtlCol="false" tIns="0" lIns="0" bIns="0" rIns="0">
            <a:spAutoFit/>
          </a:bodyPr>
          <a:lstStyle/>
          <a:p>
            <a:pPr algn="ctr">
              <a:lnSpc>
                <a:spcPts val="2160"/>
              </a:lnSpc>
            </a:pPr>
            <a:r>
              <a:rPr lang="en-US" sz="1800" i="true">
                <a:solidFill>
                  <a:srgbClr val="5E6E78"/>
                </a:solidFill>
                <a:latin typeface="Calibri (MS) Italics"/>
                <a:ea typeface="Calibri (MS) Italics"/>
                <a:cs typeface="Calibri (MS) Italics"/>
                <a:sym typeface="Calibri (MS) Italics"/>
              </a:rPr>
              <a:t>Karena wisatawan tumbuh lebih lambat dari data, variabel di sepanjang jalur ini ikut meleset dari data</a:t>
            </a:r>
          </a:p>
        </p:txBody>
      </p:sp>
      <p:grpSp>
        <p:nvGrpSpPr>
          <p:cNvPr name="Group 126" id="126"/>
          <p:cNvGrpSpPr/>
          <p:nvPr/>
        </p:nvGrpSpPr>
        <p:grpSpPr>
          <a:xfrm rot="0">
            <a:off x="822960" y="5486400"/>
            <a:ext cx="8161020" cy="3566160"/>
            <a:chOff x="0" y="0"/>
            <a:chExt cx="10881360" cy="4754880"/>
          </a:xfrm>
        </p:grpSpPr>
        <p:sp>
          <p:nvSpPr>
            <p:cNvPr name="Freeform 127" id="127"/>
            <p:cNvSpPr/>
            <p:nvPr/>
          </p:nvSpPr>
          <p:spPr>
            <a:xfrm flipH="false" flipV="false" rot="0">
              <a:off x="0" y="0"/>
              <a:ext cx="10881360" cy="4754880"/>
            </a:xfrm>
            <a:custGeom>
              <a:avLst/>
              <a:gdLst/>
              <a:ahLst/>
              <a:cxnLst/>
              <a:rect r="r" b="b" t="t" l="l"/>
              <a:pathLst>
                <a:path h="4754880" w="10881360">
                  <a:moveTo>
                    <a:pt x="0" y="182880"/>
                  </a:moveTo>
                  <a:cubicBezTo>
                    <a:pt x="0" y="81915"/>
                    <a:pt x="81915" y="0"/>
                    <a:pt x="182880" y="0"/>
                  </a:cubicBezTo>
                  <a:lnTo>
                    <a:pt x="10698480" y="0"/>
                  </a:lnTo>
                  <a:cubicBezTo>
                    <a:pt x="10799445" y="0"/>
                    <a:pt x="10881360" y="81915"/>
                    <a:pt x="10881360" y="182880"/>
                  </a:cubicBezTo>
                  <a:lnTo>
                    <a:pt x="10881360" y="4572000"/>
                  </a:lnTo>
                  <a:cubicBezTo>
                    <a:pt x="10881360" y="4672965"/>
                    <a:pt x="10799445" y="4754880"/>
                    <a:pt x="10698480" y="4754880"/>
                  </a:cubicBezTo>
                  <a:lnTo>
                    <a:pt x="182880" y="4754880"/>
                  </a:lnTo>
                  <a:cubicBezTo>
                    <a:pt x="81915" y="4754880"/>
                    <a:pt x="0" y="4672965"/>
                    <a:pt x="0" y="4572000"/>
                  </a:cubicBezTo>
                  <a:close/>
                </a:path>
              </a:pathLst>
            </a:custGeom>
            <a:solidFill>
              <a:srgbClr val="EAF8FA"/>
            </a:solidFill>
          </p:spPr>
          <p:txBody>
            <a:bodyPr/>
            <a:p/>
          </p:txBody>
        </p:sp>
      </p:grpSp>
      <p:sp>
        <p:nvSpPr>
          <p:cNvPr name="TextBox 128" id="128"/>
          <p:cNvSpPr txBox="true"/>
          <p:nvPr/>
        </p:nvSpPr>
        <p:spPr>
          <a:xfrm rot="0">
            <a:off x="1234440" y="5646420"/>
            <a:ext cx="7406640" cy="6629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Buktinya: sumber selisihnya sama</a:t>
            </a:r>
          </a:p>
        </p:txBody>
      </p:sp>
      <p:sp>
        <p:nvSpPr>
          <p:cNvPr name="TextBox 129" id="129"/>
          <p:cNvSpPr txBox="true"/>
          <p:nvPr/>
        </p:nvSpPr>
        <p:spPr>
          <a:xfrm rot="0">
            <a:off x="1234440" y="6332220"/>
            <a:ext cx="7406640" cy="2583180"/>
          </a:xfrm>
          <a:prstGeom prst="rect">
            <a:avLst/>
          </a:prstGeom>
        </p:spPr>
        <p:txBody>
          <a:bodyPr anchor="t" rtlCol="false" tIns="0" lIns="0" bIns="0" rIns="0">
            <a:spAutoFit/>
          </a:bodyPr>
          <a:lstStyle/>
          <a:p>
            <a:pPr algn="l" marL="529351" indent="-132338" lvl="3">
              <a:lnSpc>
                <a:spcPts val="2430"/>
              </a:lnSpc>
              <a:buFont typeface="Arial"/>
              <a:buChar char="￭"/>
            </a:pPr>
            <a:r>
              <a:rPr lang="en-US" sz="2025">
                <a:solidFill>
                  <a:srgbClr val="14313B"/>
                </a:solidFill>
                <a:latin typeface="Calibri (MS)"/>
                <a:ea typeface="Calibri (MS)"/>
                <a:cs typeface="Calibri (MS)"/>
                <a:sym typeface="Calibri (MS)"/>
              </a:rPr>
              <a:t>Pada 6 dari 9 variabel, selisih terbesar berasal dari beda rata-rata (U1), bukan naik-turun tanpa pola.</a:t>
            </a:r>
          </a:p>
          <a:p>
            <a:pPr algn="l" marL="529351" indent="-132338" lvl="3">
              <a:lnSpc>
                <a:spcPts val="2430"/>
              </a:lnSpc>
              <a:buFont typeface="Arial"/>
              <a:buChar char="￭"/>
            </a:pPr>
            <a:r>
              <a:rPr lang="en-US" sz="2025">
                <a:solidFill>
                  <a:srgbClr val="14313B"/>
                </a:solidFill>
                <a:latin typeface="Calibri (MS)"/>
                <a:ea typeface="Calibri (MS)"/>
                <a:cs typeface="Calibri (MS)"/>
                <a:sym typeface="Calibri (MS)"/>
              </a:rPr>
              <a:t>Hotel dan ODTW cocok saat diuji sendiri (DC 0,20 dan 0,34), tetapi meleset saat digabung (DC 0,82 dan 0,79).</a:t>
            </a:r>
          </a:p>
          <a:p>
            <a:pPr algn="l" marL="529351" indent="-132338" lvl="3">
              <a:lnSpc>
                <a:spcPts val="2430"/>
              </a:lnSpc>
              <a:buFont typeface="Arial"/>
              <a:buChar char="￭"/>
            </a:pPr>
            <a:r>
              <a:rPr lang="en-US" sz="2025">
                <a:solidFill>
                  <a:srgbClr val="14313B"/>
                </a:solidFill>
                <a:latin typeface="Calibri (MS)"/>
                <a:ea typeface="Calibri (MS)"/>
                <a:cs typeface="Calibri (MS)"/>
                <a:sym typeface="Calibri (MS)"/>
              </a:rPr>
              <a:t>Uji P5 dan uji penuh sama-sama menunjukkan wisatawan tumbuh lebih lambat.</a:t>
            </a:r>
          </a:p>
        </p:txBody>
      </p:sp>
      <p:grpSp>
        <p:nvGrpSpPr>
          <p:cNvPr name="Group 130" id="130"/>
          <p:cNvGrpSpPr/>
          <p:nvPr/>
        </p:nvGrpSpPr>
        <p:grpSpPr>
          <a:xfrm rot="0">
            <a:off x="9299448" y="5486400"/>
            <a:ext cx="8161020" cy="3566160"/>
            <a:chOff x="0" y="0"/>
            <a:chExt cx="10881360" cy="4754880"/>
          </a:xfrm>
        </p:grpSpPr>
        <p:sp>
          <p:nvSpPr>
            <p:cNvPr name="Freeform 131" id="131"/>
            <p:cNvSpPr/>
            <p:nvPr/>
          </p:nvSpPr>
          <p:spPr>
            <a:xfrm flipH="false" flipV="false" rot="0">
              <a:off x="0" y="0"/>
              <a:ext cx="10881360" cy="4754880"/>
            </a:xfrm>
            <a:custGeom>
              <a:avLst/>
              <a:gdLst/>
              <a:ahLst/>
              <a:cxnLst/>
              <a:rect r="r" b="b" t="t" l="l"/>
              <a:pathLst>
                <a:path h="4754880" w="10881360">
                  <a:moveTo>
                    <a:pt x="0" y="182880"/>
                  </a:moveTo>
                  <a:cubicBezTo>
                    <a:pt x="0" y="81915"/>
                    <a:pt x="81915" y="0"/>
                    <a:pt x="182880" y="0"/>
                  </a:cubicBezTo>
                  <a:lnTo>
                    <a:pt x="10698480" y="0"/>
                  </a:lnTo>
                  <a:cubicBezTo>
                    <a:pt x="10799445" y="0"/>
                    <a:pt x="10881360" y="81915"/>
                    <a:pt x="10881360" y="182880"/>
                  </a:cubicBezTo>
                  <a:lnTo>
                    <a:pt x="10881360" y="4572000"/>
                  </a:lnTo>
                  <a:cubicBezTo>
                    <a:pt x="10881360" y="4672965"/>
                    <a:pt x="10799445" y="4754880"/>
                    <a:pt x="10698480" y="4754880"/>
                  </a:cubicBezTo>
                  <a:lnTo>
                    <a:pt x="182880" y="4754880"/>
                  </a:lnTo>
                  <a:cubicBezTo>
                    <a:pt x="81915" y="4754880"/>
                    <a:pt x="0" y="4672965"/>
                    <a:pt x="0" y="4572000"/>
                  </a:cubicBezTo>
                  <a:close/>
                </a:path>
              </a:pathLst>
            </a:custGeom>
            <a:solidFill>
              <a:srgbClr val="FFF1BF"/>
            </a:solidFill>
          </p:spPr>
          <p:txBody>
            <a:bodyPr/>
            <a:p/>
          </p:txBody>
        </p:sp>
      </p:grpSp>
      <p:sp>
        <p:nvSpPr>
          <p:cNvPr name="TextBox 132" id="132"/>
          <p:cNvSpPr txBox="true"/>
          <p:nvPr/>
        </p:nvSpPr>
        <p:spPr>
          <a:xfrm rot="0">
            <a:off x="9710928" y="5646420"/>
            <a:ext cx="7406640" cy="6629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Penyebabnya bukan nilai parameter</a:t>
            </a:r>
          </a:p>
        </p:txBody>
      </p:sp>
      <p:sp>
        <p:nvSpPr>
          <p:cNvPr name="TextBox 133" id="133"/>
          <p:cNvSpPr txBox="true"/>
          <p:nvPr/>
        </p:nvSpPr>
        <p:spPr>
          <a:xfrm rot="0">
            <a:off x="9710928" y="6332220"/>
            <a:ext cx="7406640" cy="2583180"/>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Data wisatawan DIY melonjak saat pemulihan pascapandemi: tumbuh 12,72% (2022), 18,59% (2023), dan 24,86% (2024), sedangkan simulasi hanya sekitar 6,3–6,7% per tahun. Lonjakan ini berada di luar cakupan model, jadi selisihnya bukan karena nilai parameter subsistem wisatawan yang keliru. Hal ini diperiksa pada kalibrasi Tahap 3.</a:t>
            </a:r>
          </a:p>
        </p:txBody>
      </p:sp>
      <p:sp>
        <p:nvSpPr>
          <p:cNvPr name="TextBox 134" id="134"/>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49</a:t>
            </a:r>
          </a:p>
        </p:txBody>
      </p:sp>
      <p:grpSp>
        <p:nvGrpSpPr>
          <p:cNvPr name="Group 135" id="135"/>
          <p:cNvGrpSpPr/>
          <p:nvPr/>
        </p:nvGrpSpPr>
        <p:grpSpPr>
          <a:xfrm rot="0">
            <a:off x="12755880" y="274320"/>
            <a:ext cx="3931920" cy="411480"/>
            <a:chOff x="0" y="0"/>
            <a:chExt cx="5242560" cy="548640"/>
          </a:xfrm>
        </p:grpSpPr>
        <p:sp>
          <p:nvSpPr>
            <p:cNvPr name="Freeform 136" id="136"/>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37" id="137"/>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grpSp>
        <p:nvGrpSpPr>
          <p:cNvPr name="Group 138" id="138"/>
          <p:cNvGrpSpPr/>
          <p:nvPr/>
        </p:nvGrpSpPr>
        <p:grpSpPr>
          <a:xfrm rot="0">
            <a:off x="16047720" y="9646920"/>
            <a:ext cx="420624" cy="420624"/>
            <a:chOff x="0" y="0"/>
            <a:chExt cx="560832" cy="560832"/>
          </a:xfrm>
        </p:grpSpPr>
        <p:sp>
          <p:nvSpPr>
            <p:cNvPr name="Freeform 139" id="139"/>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140" id="140"/>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