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350" r:id="rId198"/>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96" Type="http://schemas.openxmlformats.org/officeDocument/2006/relationships/notesMaster" Target="notesMasters/notesMaster1.xml"/><Relationship Id="rId97" Type="http://schemas.openxmlformats.org/officeDocument/2006/relationships/theme" Target="theme/theme2.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5" Type="http://schemas.openxmlformats.org/officeDocument/2006/relationships/font" Target="fonts/font105.fntdata"/><Relationship Id="rId108" Type="http://schemas.openxmlformats.org/officeDocument/2006/relationships/font" Target="fonts/font108.fntdata"/><Relationship Id="rId128" Type="http://schemas.openxmlformats.org/officeDocument/2006/relationships/font" Target="fonts/font128.fntdata"/><Relationship Id="rId198"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Ini kandidat variabel struktur konseptual. Ada 15 kandidat dari enam subsistem: permintaan dan daya tarik, atraksi, ekonomi dan investasi, akomodasi, lahan dan daya dukung, serta tenaga kerja. Setiap kandidat punya dasar konteks DIY dari dokumen seperti RIPPARDA, Renja Dinas Pariwisata, dan IPKN, serta literatur pendukung. Kandidat ini belum otomatis masuk CLD; semuanya dievaluasi dulu, dan hasilnya ada di slide berikutnya.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Kandidat Variabel Struktur Konseptual Pariwisata</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Kandidat variabel dari enam subsistem beserta dasar konteks, peran, dan literatur pendukungnya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0B5E6E"/>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18</a:t>
            </a:r>
          </a:p>
        </p:txBody>
      </p:sp>
      <p:grpSp>
        <p:nvGrpSpPr>
          <p:cNvPr name="Group 89" id="89"/>
          <p:cNvGrpSpPr/>
          <p:nvPr/>
        </p:nvGrpSpPr>
        <p:grpSpPr>
          <a:xfrm rot="0">
            <a:off x="16047720" y="9646920"/>
            <a:ext cx="420624" cy="420624"/>
            <a:chOff x="0" y="0"/>
            <a:chExt cx="560832" cy="560832"/>
          </a:xfrm>
        </p:grpSpPr>
        <p:sp>
          <p:nvSpPr>
            <p:cNvPr name="Freeform 90" id="90"/>
            <p:cNvSpPr/>
            <p:nvPr/>
          </p:nvSpPr>
          <p:spPr>
            <a:xfrm flipH="false" flipV="false" rot="0">
              <a:off x="0" y="0"/>
              <a:ext cx="560832" cy="560832"/>
            </a:xfrm>
            <a:custGeom>
              <a:avLst/>
              <a:gdLst/>
              <a:ahLst/>
              <a:cxnLst/>
              <a:rect r="r" b="b" t="t" l="l"/>
              <a:pathLst>
                <a:path h="560832" w="560832">
                  <a:moveTo>
                    <a:pt x="0" y="280416"/>
                  </a:moveTo>
                  <a:cubicBezTo>
                    <a:pt x="0" y="125603"/>
                    <a:pt x="125603" y="0"/>
                    <a:pt x="280416" y="0"/>
                  </a:cubicBezTo>
                  <a:cubicBezTo>
                    <a:pt x="435229" y="0"/>
                    <a:pt x="560832" y="125603"/>
                    <a:pt x="560832" y="280416"/>
                  </a:cubicBezTo>
                  <a:cubicBezTo>
                    <a:pt x="560832" y="435229"/>
                    <a:pt x="435229" y="560832"/>
                    <a:pt x="280416" y="560832"/>
                  </a:cubicBezTo>
                  <a:cubicBezTo>
                    <a:pt x="125603" y="560832"/>
                    <a:pt x="0" y="435229"/>
                    <a:pt x="0" y="280416"/>
                  </a:cubicBezTo>
                  <a:close/>
                </a:path>
              </a:pathLst>
            </a:custGeom>
            <a:solidFill>
              <a:srgbClr val="E4604F"/>
            </a:solidFill>
          </p:spPr>
          <p:txBody>
            <a:bodyPr/>
            <a:p/>
          </p:txBody>
        </p:sp>
        <p:sp>
          <p:nvSpPr>
            <p:cNvPr name="TextBox 91" id="91"/>
            <p:cNvSpPr txBox="true"/>
            <p:nvPr/>
          </p:nvSpPr>
          <p:spPr>
            <a:xfrm>
              <a:off x="0" y="-28575"/>
              <a:ext cx="560832" cy="589407"/>
            </a:xfrm>
            <a:prstGeom prst="rect">
              <a:avLst/>
            </a:prstGeom>
          </p:spPr>
          <p:txBody>
            <a:bodyPr anchor="ctr" rtlCol="false" tIns="50800" lIns="50800" bIns="50800" rIns="50800"/>
            <a:lstStyle/>
            <a:p>
              <a:pPr algn="ctr">
                <a:lnSpc>
                  <a:spcPts val="1932"/>
                </a:lnSpc>
              </a:pPr>
              <a:r>
                <a:rPr lang="en-US" sz="1610" b="true">
                  <a:solidFill>
                    <a:srgbClr val="FFFFFF"/>
                  </a:solidFill>
                  <a:latin typeface="Calibri (MS) Bold"/>
                  <a:ea typeface="Calibri (MS) Bold"/>
                  <a:cs typeface="Calibri (MS) Bold"/>
                  <a:sym typeface="Calibri (MS) Bold"/>
                </a:rPr>
                <a:t>W</a:t>
              </a:r>
            </a:p>
          </p:txBody>
        </p:sp>
      </p:grpSp>
      <p:graphicFrame>
        <p:nvGraphicFramePr>
          <p:cNvPr id="92" name="Table 91"/>
          <p:cNvGraphicFramePr>
            <a:graphicFrameLocks noGrp="1"/>
          </p:cNvGraphicFramePr>
          <p:nvPr/>
        </p:nvGraphicFramePr>
        <p:xfrm>
          <a:off x="822960" y="1874519"/>
          <a:ext cx="16642080" cy="6272784"/>
        </p:xfrm>
        <a:graphic>
          <a:graphicData uri="http://schemas.openxmlformats.org/drawingml/2006/table">
            <a:tbl>
              <a:tblPr firstRow="1" bandRow="1">
                <a:tableStyleId>{5C22544A-7EE6-4342-B048-85BDC9FD1C3A}</a:tableStyleId>
              </a:tblPr>
              <a:tblGrid>
                <a:gridCol w="2377440"/>
                <a:gridCol w="3657600"/>
                <a:gridCol w="3200400"/>
                <a:gridCol w="4206240"/>
                <a:gridCol w="3200400"/>
              </a:tblGrid>
              <a:tr h="896112">
                <a:tc>
                  <a:txBody>
                    <a:bodyPr wrap="square"/>
                    <a:lstStyle/>
                    <a:p>
                      <a:r>
                        <a:rPr sz="1320" b="1" i="0">
                          <a:solidFill>
                            <a:srgbClr val="FFFFFF"/>
                          </a:solidFill>
                          <a:latin typeface="Calibri (MS) Bold"/>
                        </a:rPr>
                        <a:t>Subsistem</a:t>
                      </a:r>
                    </a:p>
                  </a:txBody>
                  <a:tcPr marL="73152" marR="73152" marT="36576" marB="36576" anchor="ctr">
                    <a:solidFill>
                      <a:srgbClr val="0B5E6E"/>
                    </a:solidFill>
                  </a:tcPr>
                </a:tc>
                <a:tc>
                  <a:txBody>
                    <a:bodyPr wrap="square"/>
                    <a:lstStyle/>
                    <a:p>
                      <a:r>
                        <a:rPr sz="1320" b="1" i="0">
                          <a:solidFill>
                            <a:srgbClr val="FFFFFF"/>
                          </a:solidFill>
                          <a:latin typeface="Calibri (MS) Bold"/>
                        </a:rPr>
                        <a:t>Kandidat variabel</a:t>
                      </a:r>
                    </a:p>
                  </a:txBody>
                  <a:tcPr marL="73152" marR="73152" marT="36576" marB="36576" anchor="ctr">
                    <a:solidFill>
                      <a:srgbClr val="0B5E6E"/>
                    </a:solidFill>
                  </a:tcPr>
                </a:tc>
                <a:tc>
                  <a:txBody>
                    <a:bodyPr wrap="square"/>
                    <a:lstStyle/>
                    <a:p>
                      <a:r>
                        <a:rPr sz="1320" b="1" i="0">
                          <a:solidFill>
                            <a:srgbClr val="FFFFFF"/>
                          </a:solidFill>
                          <a:latin typeface="Calibri (MS) Bold"/>
                        </a:rPr>
                        <a:t>Dasar konteks DIY</a:t>
                      </a:r>
                    </a:p>
                  </a:txBody>
                  <a:tcPr marL="73152" marR="73152" marT="36576" marB="36576" anchor="ctr">
                    <a:solidFill>
                      <a:srgbClr val="0B5E6E"/>
                    </a:solidFill>
                  </a:tcPr>
                </a:tc>
                <a:tc>
                  <a:txBody>
                    <a:bodyPr wrap="square"/>
                    <a:lstStyle/>
                    <a:p>
                      <a:r>
                        <a:rPr sz="1320" b="1" i="0">
                          <a:solidFill>
                            <a:srgbClr val="FFFFFF"/>
                          </a:solidFill>
                          <a:latin typeface="Calibri (MS) Bold"/>
                        </a:rPr>
                        <a:t>Peran dalam sistem</a:t>
                      </a:r>
                    </a:p>
                  </a:txBody>
                  <a:tcPr marL="73152" marR="73152" marT="36576" marB="36576" anchor="ctr">
                    <a:solidFill>
                      <a:srgbClr val="0B5E6E"/>
                    </a:solidFill>
                  </a:tcPr>
                </a:tc>
                <a:tc>
                  <a:txBody>
                    <a:bodyPr wrap="square"/>
                    <a:lstStyle/>
                    <a:p>
                      <a:r>
                        <a:rPr sz="1320" b="1" i="0">
                          <a:solidFill>
                            <a:srgbClr val="FFFFFF"/>
                          </a:solidFill>
                          <a:latin typeface="Calibri (MS) Bold"/>
                        </a:rPr>
                        <a:t>Literatur pendukung</a:t>
                      </a:r>
                    </a:p>
                  </a:txBody>
                  <a:tcPr marL="73152" marR="73152" marT="36576" marB="36576" anchor="ctr">
                    <a:solidFill>
                      <a:srgbClr val="0B5E6E"/>
                    </a:solidFill>
                  </a:tcPr>
                </a:tc>
              </a:tr>
              <a:tr h="896112">
                <a:tc>
                  <a:txBody>
                    <a:bodyPr wrap="square"/>
                    <a:lstStyle/>
                    <a:p>
                      <a:r>
                        <a:rPr sz="1320" b="1" i="0">
                          <a:solidFill>
                            <a:srgbClr val="14313B"/>
                          </a:solidFill>
                          <a:latin typeface="Calibri (MS) Bold"/>
                        </a:rPr>
                        <a:t>Permintaan dan daya tarik destinasi</a:t>
                      </a:r>
                    </a:p>
                  </a:txBody>
                  <a:tcPr marL="73152" marR="73152" marT="36576" marB="36576" anchor="ctr">
                    <a:solidFill>
                      <a:srgbClr val="FFFFFF"/>
                    </a:solidFill>
                  </a:tcPr>
                </a:tc>
                <a:tc>
                  <a:txBody>
                    <a:bodyPr wrap="square"/>
                    <a:lstStyle/>
                    <a:p>
                      <a:r>
                        <a:rPr sz="1320" b="0" i="0">
                          <a:solidFill>
                            <a:srgbClr val="14313B"/>
                          </a:solidFill>
                          <a:latin typeface="Calibri (MS)"/>
                        </a:rPr>
                        <a:t>Jumlah Wisatawan; Laju Kedatangan Wisatawan; Daya Tarik Destinasi Wisata; Kepadatan Wisatawan</a:t>
                      </a:r>
                    </a:p>
                  </a:txBody>
                  <a:tcPr marL="73152" marR="73152" marT="36576" marB="36576" anchor="ctr">
                    <a:solidFill>
                      <a:srgbClr val="FFFFFF"/>
                    </a:solidFill>
                  </a:tcPr>
                </a:tc>
                <a:tc>
                  <a:txBody>
                    <a:bodyPr wrap="square"/>
                    <a:lstStyle/>
                    <a:p>
                      <a:r>
                        <a:rPr sz="1320" b="0" i="0">
                          <a:solidFill>
                            <a:srgbClr val="14313B"/>
                          </a:solidFill>
                          <a:latin typeface="Calibri (MS)"/>
                        </a:rPr>
                        <a:t>RIPPARDA DIY; Renja Dispar DIY; UU 10/2009; IPKN 2024</a:t>
                      </a:r>
                    </a:p>
                  </a:txBody>
                  <a:tcPr marL="73152" marR="73152" marT="36576" marB="36576" anchor="ctr">
                    <a:solidFill>
                      <a:srgbClr val="FFFFFF"/>
                    </a:solidFill>
                  </a:tcPr>
                </a:tc>
                <a:tc>
                  <a:txBody>
                    <a:bodyPr wrap="square"/>
                    <a:lstStyle/>
                    <a:p>
                      <a:r>
                        <a:rPr sz="1320" b="0" i="0">
                          <a:solidFill>
                            <a:srgbClr val="14313B"/>
                          </a:solidFill>
                          <a:latin typeface="Calibri (MS)"/>
                        </a:rPr>
                        <a:t>Menggambarkan permintaan, kemampuan destinasi menarik kunjungan, dan kepadatan sebagai pembatas perkembangan destinasi</a:t>
                      </a:r>
                    </a:p>
                  </a:txBody>
                  <a:tcPr marL="73152" marR="73152" marT="36576" marB="36576" anchor="ctr">
                    <a:solidFill>
                      <a:srgbClr val="FFFFFF"/>
                    </a:solidFill>
                  </a:tcPr>
                </a:tc>
                <a:tc>
                  <a:txBody>
                    <a:bodyPr wrap="square"/>
                    <a:lstStyle/>
                    <a:p>
                      <a:r>
                        <a:rPr sz="1320" b="0" i="0">
                          <a:solidFill>
                            <a:srgbClr val="14313B"/>
                          </a:solidFill>
                          <a:latin typeface="Calibri (MS)"/>
                        </a:rPr>
                        <a:t>Mai &amp; Smith (2015, 2018); Gazoni &amp; da Silva (2022); Hu &amp; Ritchie (1993); Saveriades (2000)</a:t>
                      </a:r>
                    </a:p>
                  </a:txBody>
                  <a:tcPr marL="73152" marR="73152" marT="36576" marB="36576" anchor="ctr">
                    <a:solidFill>
                      <a:srgbClr val="FFFFFF"/>
                    </a:solidFill>
                  </a:tcPr>
                </a:tc>
              </a:tr>
              <a:tr h="896112">
                <a:tc>
                  <a:txBody>
                    <a:bodyPr wrap="square"/>
                    <a:lstStyle/>
                    <a:p>
                      <a:r>
                        <a:rPr sz="1320" b="1" i="0">
                          <a:solidFill>
                            <a:srgbClr val="14313B"/>
                          </a:solidFill>
                          <a:latin typeface="Calibri (MS) Bold"/>
                        </a:rPr>
                        <a:t>Atraksi/ODTW</a:t>
                      </a:r>
                    </a:p>
                  </a:txBody>
                  <a:tcPr marL="73152" marR="73152" marT="36576" marB="36576" anchor="ctr">
                    <a:solidFill>
                      <a:srgbClr val="EAF8FA"/>
                    </a:solidFill>
                  </a:tcPr>
                </a:tc>
                <a:tc>
                  <a:txBody>
                    <a:bodyPr wrap="square"/>
                    <a:lstStyle/>
                    <a:p>
                      <a:r>
                        <a:rPr sz="1320" b="0" i="0">
                          <a:solidFill>
                            <a:srgbClr val="14313B"/>
                          </a:solidFill>
                          <a:latin typeface="Calibri (MS)"/>
                        </a:rPr>
                        <a:t>Jumlah Objek Daya Tarik Wisata</a:t>
                      </a:r>
                    </a:p>
                  </a:txBody>
                  <a:tcPr marL="73152" marR="73152" marT="36576" marB="36576" anchor="ctr">
                    <a:solidFill>
                      <a:srgbClr val="EAF8FA"/>
                    </a:solidFill>
                  </a:tcPr>
                </a:tc>
                <a:tc>
                  <a:txBody>
                    <a:bodyPr wrap="square"/>
                    <a:lstStyle/>
                    <a:p>
                      <a:r>
                        <a:rPr sz="1320" b="0" i="0">
                          <a:solidFill>
                            <a:srgbClr val="14313B"/>
                          </a:solidFill>
                          <a:latin typeface="Calibri (MS)"/>
                        </a:rPr>
                        <a:t>UU 10/2009; RIPPARDA DIY; Renja Dispar DIY</a:t>
                      </a:r>
                    </a:p>
                  </a:txBody>
                  <a:tcPr marL="73152" marR="73152" marT="36576" marB="36576" anchor="ctr">
                    <a:solidFill>
                      <a:srgbClr val="EAF8FA"/>
                    </a:solidFill>
                  </a:tcPr>
                </a:tc>
                <a:tc>
                  <a:txBody>
                    <a:bodyPr wrap="square"/>
                    <a:lstStyle/>
                    <a:p>
                      <a:r>
                        <a:rPr sz="1320" b="0" i="0">
                          <a:solidFill>
                            <a:srgbClr val="14313B"/>
                          </a:solidFill>
                          <a:latin typeface="Calibri (MS)"/>
                        </a:rPr>
                        <a:t>Ketersediaan atraksi sebagai pembentuk daya tarik dan pendorong kunjungan</a:t>
                      </a:r>
                    </a:p>
                  </a:txBody>
                  <a:tcPr marL="73152" marR="73152" marT="36576" marB="36576" anchor="ctr">
                    <a:solidFill>
                      <a:srgbClr val="EAF8FA"/>
                    </a:solidFill>
                  </a:tcPr>
                </a:tc>
                <a:tc>
                  <a:txBody>
                    <a:bodyPr wrap="square"/>
                    <a:lstStyle/>
                    <a:p>
                      <a:r>
                        <a:rPr sz="1320" b="0" i="0">
                          <a:solidFill>
                            <a:srgbClr val="14313B"/>
                          </a:solidFill>
                          <a:latin typeface="Calibri (MS)"/>
                        </a:rPr>
                        <a:t>Leiper (1990); Hu &amp; Ritchie (1993); Gazoni &amp; da Silva (2022); Fatina dkk. (2023)</a:t>
                      </a:r>
                    </a:p>
                  </a:txBody>
                  <a:tcPr marL="73152" marR="73152" marT="36576" marB="36576" anchor="ctr">
                    <a:solidFill>
                      <a:srgbClr val="EAF8FA"/>
                    </a:solidFill>
                  </a:tcPr>
                </a:tc>
              </a:tr>
              <a:tr h="896112">
                <a:tc>
                  <a:txBody>
                    <a:bodyPr wrap="square"/>
                    <a:lstStyle/>
                    <a:p>
                      <a:r>
                        <a:rPr sz="1320" b="1" i="0">
                          <a:solidFill>
                            <a:srgbClr val="14313B"/>
                          </a:solidFill>
                          <a:latin typeface="Calibri (MS) Bold"/>
                        </a:rPr>
                        <a:t>Ekonomi dan investasi</a:t>
                      </a:r>
                    </a:p>
                  </a:txBody>
                  <a:tcPr marL="73152" marR="73152" marT="36576" marB="36576" anchor="ctr">
                    <a:solidFill>
                      <a:srgbClr val="FFFFFF"/>
                    </a:solidFill>
                  </a:tcPr>
                </a:tc>
                <a:tc>
                  <a:txBody>
                    <a:bodyPr wrap="square"/>
                    <a:lstStyle/>
                    <a:p>
                      <a:r>
                        <a:rPr sz="1320" b="0" i="0">
                          <a:solidFill>
                            <a:srgbClr val="14313B"/>
                          </a:solidFill>
                          <a:latin typeface="Calibri (MS)"/>
                        </a:rPr>
                        <a:t>Pengeluaran Wisatawan; PDRB Sektor Pariwisata; Investasi Sektor Pariwisata</a:t>
                      </a:r>
                    </a:p>
                  </a:txBody>
                  <a:tcPr marL="73152" marR="73152" marT="36576" marB="36576" anchor="ctr">
                    <a:solidFill>
                      <a:srgbClr val="FFFFFF"/>
                    </a:solidFill>
                  </a:tcPr>
                </a:tc>
                <a:tc>
                  <a:txBody>
                    <a:bodyPr wrap="square"/>
                    <a:lstStyle/>
                    <a:p>
                      <a:r>
                        <a:rPr sz="1320" b="0" i="0">
                          <a:solidFill>
                            <a:srgbClr val="14313B"/>
                          </a:solidFill>
                          <a:latin typeface="Calibri (MS)"/>
                        </a:rPr>
                        <a:t>RIPPARDA DIY; Renja Dispar DIY; Renstra Kemenpar 2025–2029; IPKN 2024</a:t>
                      </a:r>
                    </a:p>
                  </a:txBody>
                  <a:tcPr marL="73152" marR="73152" marT="36576" marB="36576" anchor="ctr">
                    <a:solidFill>
                      <a:srgbClr val="FFFFFF"/>
                    </a:solidFill>
                  </a:tcPr>
                </a:tc>
                <a:tc>
                  <a:txBody>
                    <a:bodyPr wrap="square"/>
                    <a:lstStyle/>
                    <a:p>
                      <a:r>
                        <a:rPr sz="1320" b="0" i="0">
                          <a:solidFill>
                            <a:srgbClr val="14313B"/>
                          </a:solidFill>
                          <a:latin typeface="Calibri (MS)"/>
                        </a:rPr>
                        <a:t>Jalur dari kunjungan ke konsumsi wisatawan, nilai tambah ekonomi, dan pengembangan kapasitas lewat investasi</a:t>
                      </a:r>
                    </a:p>
                  </a:txBody>
                  <a:tcPr marL="73152" marR="73152" marT="36576" marB="36576" anchor="ctr">
                    <a:solidFill>
                      <a:srgbClr val="FFFFFF"/>
                    </a:solidFill>
                  </a:tcPr>
                </a:tc>
                <a:tc>
                  <a:txBody>
                    <a:bodyPr wrap="square"/>
                    <a:lstStyle/>
                    <a:p>
                      <a:r>
                        <a:rPr sz="1320" b="0" i="0">
                          <a:solidFill>
                            <a:srgbClr val="14313B"/>
                          </a:solidFill>
                          <a:latin typeface="Calibri (MS)"/>
                        </a:rPr>
                        <a:t>Frechtling (2010); Munjal (2013); Mai &amp; Smith (2018); Fatina dkk. (2023)</a:t>
                      </a:r>
                    </a:p>
                  </a:txBody>
                  <a:tcPr marL="73152" marR="73152" marT="36576" marB="36576" anchor="ctr">
                    <a:solidFill>
                      <a:srgbClr val="FFFFFF"/>
                    </a:solidFill>
                  </a:tcPr>
                </a:tc>
              </a:tr>
              <a:tr h="896112">
                <a:tc>
                  <a:txBody>
                    <a:bodyPr wrap="square"/>
                    <a:lstStyle/>
                    <a:p>
                      <a:r>
                        <a:rPr sz="1320" b="1" i="0">
                          <a:solidFill>
                            <a:srgbClr val="14313B"/>
                          </a:solidFill>
                          <a:latin typeface="Calibri (MS) Bold"/>
                        </a:rPr>
                        <a:t>Akomodasi</a:t>
                      </a:r>
                    </a:p>
                  </a:txBody>
                  <a:tcPr marL="73152" marR="73152" marT="36576" marB="36576" anchor="ctr">
                    <a:solidFill>
                      <a:srgbClr val="EAF8FA"/>
                    </a:solidFill>
                  </a:tcPr>
                </a:tc>
                <a:tc>
                  <a:txBody>
                    <a:bodyPr wrap="square"/>
                    <a:lstStyle/>
                    <a:p>
                      <a:r>
                        <a:rPr sz="1320" b="0" i="0">
                          <a:solidFill>
                            <a:srgbClr val="14313B"/>
                          </a:solidFill>
                          <a:latin typeface="Calibri (MS)"/>
                        </a:rPr>
                        <a:t>Jumlah Hotel dan Akomodasi; Rasio Permintaan terhadap Kapasitas Kamar; Laju Konstruksi Hotel dan Akomodasi</a:t>
                      </a:r>
                    </a:p>
                  </a:txBody>
                  <a:tcPr marL="73152" marR="73152" marT="36576" marB="36576" anchor="ctr">
                    <a:solidFill>
                      <a:srgbClr val="EAF8FA"/>
                    </a:solidFill>
                  </a:tcPr>
                </a:tc>
                <a:tc>
                  <a:txBody>
                    <a:bodyPr wrap="square"/>
                    <a:lstStyle/>
                    <a:p>
                      <a:r>
                        <a:rPr sz="1320" b="0" i="0">
                          <a:solidFill>
                            <a:srgbClr val="14313B"/>
                          </a:solidFill>
                          <a:latin typeface="Calibri (MS)"/>
                        </a:rPr>
                        <a:t>UU 10/2009; RIPPARDA DIY; IPKN 2024</a:t>
                      </a:r>
                    </a:p>
                  </a:txBody>
                  <a:tcPr marL="73152" marR="73152" marT="36576" marB="36576" anchor="ctr">
                    <a:solidFill>
                      <a:srgbClr val="EAF8FA"/>
                    </a:solidFill>
                  </a:tcPr>
                </a:tc>
                <a:tc>
                  <a:txBody>
                    <a:bodyPr wrap="square"/>
                    <a:lstStyle/>
                    <a:p>
                      <a:r>
                        <a:rPr sz="1320" b="0" i="0">
                          <a:solidFill>
                            <a:srgbClr val="14313B"/>
                          </a:solidFill>
                          <a:latin typeface="Calibri (MS)"/>
                        </a:rPr>
                        <a:t>Kapasitas akomodasi dan penyesuaian pasokan terhadap permintaan kamar</a:t>
                      </a:r>
                    </a:p>
                  </a:txBody>
                  <a:tcPr marL="73152" marR="73152" marT="36576" marB="36576" anchor="ctr">
                    <a:solidFill>
                      <a:srgbClr val="EAF8FA"/>
                    </a:solidFill>
                  </a:tcPr>
                </a:tc>
                <a:tc>
                  <a:txBody>
                    <a:bodyPr wrap="square"/>
                    <a:lstStyle/>
                    <a:p>
                      <a:r>
                        <a:rPr sz="1320" b="0" i="0">
                          <a:solidFill>
                            <a:srgbClr val="14313B"/>
                          </a:solidFill>
                          <a:latin typeface="Calibri (MS)"/>
                        </a:rPr>
                        <a:t>Wheaton &amp; Rossoff (1998); Fatina dkk. (2023)</a:t>
                      </a:r>
                    </a:p>
                  </a:txBody>
                  <a:tcPr marL="73152" marR="73152" marT="36576" marB="36576" anchor="ctr">
                    <a:solidFill>
                      <a:srgbClr val="EAF8FA"/>
                    </a:solidFill>
                  </a:tcPr>
                </a:tc>
              </a:tr>
              <a:tr h="896112">
                <a:tc>
                  <a:txBody>
                    <a:bodyPr wrap="square"/>
                    <a:lstStyle/>
                    <a:p>
                      <a:r>
                        <a:rPr sz="1320" b="1" i="0">
                          <a:solidFill>
                            <a:srgbClr val="14313B"/>
                          </a:solidFill>
                          <a:latin typeface="Calibri (MS) Bold"/>
                        </a:rPr>
                        <a:t>Lahan dan daya dukung</a:t>
                      </a:r>
                    </a:p>
                  </a:txBody>
                  <a:tcPr marL="73152" marR="73152" marT="36576" marB="36576" anchor="ctr">
                    <a:solidFill>
                      <a:srgbClr val="FFFFFF"/>
                    </a:solidFill>
                  </a:tcPr>
                </a:tc>
                <a:tc>
                  <a:txBody>
                    <a:bodyPr wrap="square"/>
                    <a:lstStyle/>
                    <a:p>
                      <a:r>
                        <a:rPr sz="1320" b="0" i="0">
                          <a:solidFill>
                            <a:srgbClr val="14313B"/>
                          </a:solidFill>
                          <a:latin typeface="Calibri (MS)"/>
                        </a:rPr>
                        <a:t>Rasio Daya Dukung Lahan</a:t>
                      </a:r>
                    </a:p>
                  </a:txBody>
                  <a:tcPr marL="73152" marR="73152" marT="36576" marB="36576" anchor="ctr">
                    <a:solidFill>
                      <a:srgbClr val="FFFFFF"/>
                    </a:solidFill>
                  </a:tcPr>
                </a:tc>
                <a:tc>
                  <a:txBody>
                    <a:bodyPr wrap="square"/>
                    <a:lstStyle/>
                    <a:p>
                      <a:r>
                        <a:rPr sz="1320" b="0" i="0">
                          <a:solidFill>
                            <a:srgbClr val="14313B"/>
                          </a:solidFill>
                          <a:latin typeface="Calibri (MS)"/>
                        </a:rPr>
                        <a:t>RIPPARDA DIY; IPKN; dokumen Sustainable Tourism Development</a:t>
                      </a:r>
                    </a:p>
                  </a:txBody>
                  <a:tcPr marL="73152" marR="73152" marT="36576" marB="36576" anchor="ctr">
                    <a:solidFill>
                      <a:srgbClr val="FFFFFF"/>
                    </a:solidFill>
                  </a:tcPr>
                </a:tc>
                <a:tc>
                  <a:txBody>
                    <a:bodyPr wrap="square"/>
                    <a:lstStyle/>
                    <a:p>
                      <a:r>
                        <a:rPr sz="1320" b="0" i="0">
                          <a:solidFill>
                            <a:srgbClr val="14313B"/>
                          </a:solidFill>
                          <a:latin typeface="Calibri (MS)"/>
                        </a:rPr>
                        <a:t>Keterbatasan fisik destinasi dan tekanan pembangunan terhadap lahan sebagai pembatas pertumbuhan</a:t>
                      </a:r>
                    </a:p>
                  </a:txBody>
                  <a:tcPr marL="73152" marR="73152" marT="36576" marB="36576" anchor="ctr">
                    <a:solidFill>
                      <a:srgbClr val="FFFFFF"/>
                    </a:solidFill>
                  </a:tcPr>
                </a:tc>
                <a:tc>
                  <a:txBody>
                    <a:bodyPr wrap="square"/>
                    <a:lstStyle/>
                    <a:p>
                      <a:r>
                        <a:rPr sz="1320" b="0" i="0">
                          <a:solidFill>
                            <a:srgbClr val="14313B"/>
                          </a:solidFill>
                          <a:latin typeface="Calibri (MS)"/>
                        </a:rPr>
                        <a:t>Saveriades (2000); Mai &amp; Smith (2015, 2018); Fatina dkk. (2023)</a:t>
                      </a:r>
                    </a:p>
                  </a:txBody>
                  <a:tcPr marL="73152" marR="73152" marT="36576" marB="36576" anchor="ctr">
                    <a:solidFill>
                      <a:srgbClr val="FFFFFF"/>
                    </a:solidFill>
                  </a:tcPr>
                </a:tc>
              </a:tr>
              <a:tr h="896112">
                <a:tc>
                  <a:txBody>
                    <a:bodyPr wrap="square"/>
                    <a:lstStyle/>
                    <a:p>
                      <a:r>
                        <a:rPr sz="1320" b="1" i="0">
                          <a:solidFill>
                            <a:srgbClr val="14313B"/>
                          </a:solidFill>
                          <a:latin typeface="Calibri (MS) Bold"/>
                        </a:rPr>
                        <a:t>Tenaga kerja pariwisata</a:t>
                      </a:r>
                    </a:p>
                  </a:txBody>
                  <a:tcPr marL="73152" marR="73152" marT="36576" marB="36576" anchor="ctr">
                    <a:solidFill>
                      <a:srgbClr val="EAF8FA"/>
                    </a:solidFill>
                  </a:tcPr>
                </a:tc>
                <a:tc>
                  <a:txBody>
                    <a:bodyPr wrap="square"/>
                    <a:lstStyle/>
                    <a:p>
                      <a:r>
                        <a:rPr sz="1320" b="0" i="0">
                          <a:solidFill>
                            <a:srgbClr val="14313B"/>
                          </a:solidFill>
                          <a:latin typeface="Calibri (MS)"/>
                        </a:rPr>
                        <a:t>Tenaga Kerja Pariwisata; Selisih Tenaga Kerja Dibutuhkan; Laju Penyerapan Tenaga Kerja</a:t>
                      </a:r>
                    </a:p>
                  </a:txBody>
                  <a:tcPr marL="73152" marR="73152" marT="36576" marB="36576" anchor="ctr">
                    <a:solidFill>
                      <a:srgbClr val="EAF8FA"/>
                    </a:solidFill>
                  </a:tcPr>
                </a:tc>
                <a:tc>
                  <a:txBody>
                    <a:bodyPr wrap="square"/>
                    <a:lstStyle/>
                    <a:p>
                      <a:r>
                        <a:rPr sz="1320" b="0" i="0">
                          <a:solidFill>
                            <a:srgbClr val="14313B"/>
                          </a:solidFill>
                          <a:latin typeface="Calibri (MS)"/>
                        </a:rPr>
                        <a:t>RIPPARDA DIY; Renja Dispar DIY; Renstra Kemenpar 2025–2029</a:t>
                      </a:r>
                    </a:p>
                  </a:txBody>
                  <a:tcPr marL="73152" marR="73152" marT="36576" marB="36576" anchor="ctr">
                    <a:solidFill>
                      <a:srgbClr val="EAF8FA"/>
                    </a:solidFill>
                  </a:tcPr>
                </a:tc>
                <a:tc>
                  <a:txBody>
                    <a:bodyPr wrap="square"/>
                    <a:lstStyle/>
                    <a:p>
                      <a:r>
                        <a:rPr sz="1320" b="0" i="0">
                          <a:solidFill>
                            <a:srgbClr val="14313B"/>
                          </a:solidFill>
                          <a:latin typeface="Calibri (MS)"/>
                        </a:rPr>
                        <a:t>Dampak aktivitas ekonomi pariwisata terhadap kebutuhan dan penyesuaian tenaga kerja</a:t>
                      </a:r>
                    </a:p>
                  </a:txBody>
                  <a:tcPr marL="73152" marR="73152" marT="36576" marB="36576" anchor="ctr">
                    <a:solidFill>
                      <a:srgbClr val="EAF8FA"/>
                    </a:solidFill>
                  </a:tcPr>
                </a:tc>
                <a:tc>
                  <a:txBody>
                    <a:bodyPr wrap="square"/>
                    <a:lstStyle/>
                    <a:p>
                      <a:r>
                        <a:rPr sz="1320" b="0" i="0">
                          <a:solidFill>
                            <a:srgbClr val="14313B"/>
                          </a:solidFill>
                          <a:latin typeface="Calibri (MS)"/>
                        </a:rPr>
                        <a:t>Munjal (2013); Fatina dkk. (2023); Sánchez López (2023)</a:t>
                      </a:r>
                    </a:p>
                  </a:txBody>
                  <a:tcPr marL="73152" marR="73152" marT="36576" marB="36576" anchor="ctr">
                    <a:solidFill>
                      <a:srgbClr val="EAF8FA"/>
                    </a:solidFill>
                  </a:tcPr>
                </a:tc>
              </a:tr>
            </a:tbl>
          </a:graphicData>
        </a:graphic>
      </p:graphicFrame>
      <p:sp>
        <p:nvSpPr>
          <p:cNvPr id="93" name="Rounded Rectangle 92"/>
          <p:cNvSpPr/>
          <p:nvPr/>
        </p:nvSpPr>
        <p:spPr>
          <a:xfrm>
            <a:off x="822960" y="8229600"/>
            <a:ext cx="16642080" cy="86868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490" b="1" i="0">
                <a:solidFill>
                  <a:srgbClr val="0B5E6E"/>
                </a:solidFill>
                <a:latin typeface="Calibri (MS) Bold"/>
              </a:rPr>
              <a:t>Catatan  </a:t>
            </a:r>
            <a:r>
              <a:rPr sz="1440" b="0" i="0">
                <a:solidFill>
                  <a:srgbClr val="14313B"/>
                </a:solidFill>
                <a:latin typeface="Calibri (MS)"/>
              </a:rPr>
              <a:t>15 kandidat ini belum otomatis masuk CLD; semuanya dievaluasi dulu (relevansi, definisi, mekanisme sebab-akibat, peran dalam feedback loop, dukungan teori). Rujukan menjadi dasar keberadaan variabel, bukan dasar nilai parameter.</a:t>
            </a:r>
          </a:p>
        </p:txBody>
      </p:sp>
      <p:sp>
        <p:nvSpPr>
          <p:cNvPr id="94" name="TextBox 93"/>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3.7.2.1, Tabel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