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58.svg" ContentType="image/svg+xml"/>
  <Override PartName="/ppt/notesMasters/notesMaster1.xml" ContentType="application/vnd.openxmlformats-officedocument.presentationml.notesMaster+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96"/>
  </p:notesMasterIdLst>
  <p:sldIdLst>
    <p:sldId id="303" r:id="rId53"/>
    <p:sldId id="304" r:id="rId54"/>
  </p:sldIdLst>
  <p:sldSz cx="18288000" cy="10287000"/>
  <p:notesSz cx="6858000" cy="9144000"/>
  <p:embeddedFontLst>
    <p:embeddedFont>
      <p:font typeface="Calibri (MS) Bold" charset="1" panose="020F0702030404030204"/>
      <p:regular r:id="rId99"/>
    </p:embeddedFont>
    <p:embeddedFont>
      <p:font typeface="Calibri (MS) Bold Italics" charset="1" panose="020F07020304040A0204"/>
      <p:regular r:id="rId100"/>
    </p:embeddedFont>
    <p:embeddedFont>
      <p:font typeface="Calibri (MS)" charset="1" panose="020F0502020204030204"/>
      <p:regular r:id="rId101"/>
    </p:embeddedFont>
    <p:embeddedFont>
      <p:font typeface="Montserrat" charset="1" panose="00000500000000000000"/>
      <p:regular r:id="rId105"/>
    </p:embeddedFont>
    <p:embeddedFont>
      <p:font typeface="Calibri (MS) Italics" charset="1" panose="020F05020202040A0204"/>
      <p:regular r:id="rId108"/>
    </p:embeddedFont>
    <p:embeddedFont>
      <p:font typeface="Cambria Italics" charset="1" panose="020405030504060A0204"/>
      <p:regular r:id="rId1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53" Type="http://schemas.openxmlformats.org/officeDocument/2006/relationships/slide" Target="slides/slide1.xml"/><Relationship Id="rId54" Type="http://schemas.openxmlformats.org/officeDocument/2006/relationships/slide" Target="slides/slide2.xml"/><Relationship Id="rId96" Type="http://schemas.openxmlformats.org/officeDocument/2006/relationships/notesMaster" Target="notesMasters/notesMaster1.xml"/><Relationship Id="rId97" Type="http://schemas.openxmlformats.org/officeDocument/2006/relationships/theme" Target="theme/theme2.xml"/><Relationship Id="rId99" Type="http://schemas.openxmlformats.org/officeDocument/2006/relationships/font" Target="fonts/font99.fntdata"/><Relationship Id="rId100" Type="http://schemas.openxmlformats.org/officeDocument/2006/relationships/font" Target="fonts/font100.fntdata"/><Relationship Id="rId101" Type="http://schemas.openxmlformats.org/officeDocument/2006/relationships/font" Target="fonts/font101.fntdata"/><Relationship Id="rId105" Type="http://schemas.openxmlformats.org/officeDocument/2006/relationships/font" Target="fonts/font105.fntdata"/><Relationship Id="rId108" Type="http://schemas.openxmlformats.org/officeDocument/2006/relationships/font" Target="fonts/font108.fntdata"/><Relationship Id="rId128" Type="http://schemas.openxmlformats.org/officeDocument/2006/relationships/font" Target="fonts/font12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4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Kalibrasi pada penelitian ini dipakai sebagai alat uji, mengikuti Oliva 2003. Pertanyaannya: apakah selisih yang berpola pada uji perilaku bisa dijelaskan oleh nilai parameter, atau berasal dari luar parameter. Supaya tidak sekadar mencari nilai yang paling cocok, ada lima ketentuan yang ditetapkan sebelum pencarian: hanya parameter yang belum pasti yang dikalibrasi, rentangnya punya dasar, parameter berpasangan dihitung ulang, kecocokan diukur dengan NRMSE, dan nilai yang selisihnya paling banyak 5 persen dari nilai terbaik dianggap sama baiknya. Keputusannya mengikuti empat aturan. Kalau nilai dari data sudah termasuk kelompok sama baiknya, atau data tidak bisa menentukan nilainya, nilai dari data dipertahankan. Kalau nilai terbaik ada di batas rentang, diperiksa apakah hanya ditarik satu tahun. Nilai baru baru dipakai kalau juga lolos uji kompatibilitas pada model penuh.</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Kalibrasi dijalankan dalam lima tahap. Tahap 0 bukan kalibrasi, melainkan koreksi: cara menghitung LPE dan LPD disesuaikan dengan persamaan model, dan uji ekstrem tetap memberi hasil yang sama. Tahap 1 pada subsistem akomodasi: nilai terbaik memperbaiki 11,64 persen, tetapi berada di batas rentang dan ternyata ditarik oleh tahun 2019; tanpa tahun itu perbaikannya tinggal 5,74 persen. Jadi nilai dari data dipertahankan. Tahap 2 pada subsistem lahan: laju konversi 0,0639 memperbaiki 14,76 persen dan memenuhi syarat, sehingga sementara diadopsi. Tahap 3 pada subsistem wisatawan bersifat diagnostik: data menuntut LPE yang lebih tinggi, tetapi data hanya bisa menentukan selisih LPE dan LPD, dan penyebab selisihnya adalah lonjakan pascapandemi. Tahap 4 menguji hasil Tahap 2 pada model penuh: lahan terbangun justru memburuk 32,4 persen, sehingga hasilnya ditolak. Kesimpulannya, dari tiga parameter yang dikalibrasi, tidak ada yang diganti.</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57.png"/><Relationship Id="rId8" Type="http://schemas.openxmlformats.org/officeDocument/2006/relationships/image" Target="../media/image58.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80010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Kalibrasi (1/2): Aturan yang Ditetapkan Sejak Awal</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Kalibrasi dipakai untuk menguji nilai parameter, bukan sekadar mencari nilai yang paling cocok dengan data</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
            </a:r>
          </a:p>
        </p:txBody>
      </p:sp>
      <p:grpSp>
        <p:nvGrpSpPr>
          <p:cNvPr name="Group 121" id="121"/>
          <p:cNvGrpSpPr/>
          <p:nvPr/>
        </p:nvGrpSpPr>
        <p:grpSpPr>
          <a:xfrm rot="0">
            <a:off x="12755880" y="274320"/>
            <a:ext cx="3931920" cy="411480"/>
            <a:chOff x="0" y="0"/>
            <a:chExt cx="5242560" cy="548640"/>
          </a:xfrm>
        </p:grpSpPr>
        <p:sp>
          <p:nvSpPr>
            <p:cNvPr name="Freeform 122" id="122"/>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123" id="123"/>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2E · Uji perilaku &amp; kalibrasi</a:t>
              </a:r>
            </a:p>
          </p:txBody>
        </p:sp>
      </p:grpSp>
      <p:sp>
        <p:nvSpPr>
          <p:cNvPr id="124" name="Rounded Rectangle 123"/>
          <p:cNvSpPr/>
          <p:nvPr/>
        </p:nvSpPr>
        <p:spPr>
          <a:xfrm>
            <a:off x="822960" y="1783080"/>
            <a:ext cx="8138160" cy="114300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380" b="1" i="0">
                <a:solidFill>
                  <a:srgbClr val="0B5E6E"/>
                </a:solidFill>
                <a:latin typeface="Calibri (MS) Bold"/>
              </a:rPr>
              <a:t>Tujuan  </a:t>
            </a:r>
            <a:r>
              <a:rPr sz="1260" b="0" i="0">
                <a:solidFill>
                  <a:srgbClr val="14313B"/>
                </a:solidFill>
                <a:latin typeface="Calibri (MS)"/>
              </a:rPr>
              <a:t>Memeriksa apakah selisih yang berpola pada uji perilaku bisa dijelaskan oleh nilai parameter, atau justru berasal dari luar parameter (gangguan data atau hal di luar cakupan model). Kalibrasi diposisikan sebagai alat uji (Oliva, 2003).</a:t>
            </a:r>
          </a:p>
        </p:txBody>
      </p:sp>
      <p:sp>
        <p:nvSpPr>
          <p:cNvPr id="125" name="Rounded Rectangle 124"/>
          <p:cNvSpPr/>
          <p:nvPr/>
        </p:nvSpPr>
        <p:spPr>
          <a:xfrm>
            <a:off x="822960" y="3063240"/>
            <a:ext cx="8138160" cy="45720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550" b="1" i="0">
                <a:solidFill>
                  <a:srgbClr val="FFFFFF"/>
                </a:solidFill>
                <a:latin typeface="Calibri (MS) Bold"/>
              </a:rPr>
              <a:t>Lima ketentuan</a:t>
            </a:r>
          </a:p>
        </p:txBody>
      </p:sp>
      <p:sp>
        <p:nvSpPr>
          <p:cNvPr id="126" name="Oval 125"/>
          <p:cNvSpPr/>
          <p:nvPr/>
        </p:nvSpPr>
        <p:spPr>
          <a:xfrm>
            <a:off x="868680" y="3739896"/>
            <a:ext cx="457200" cy="45720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90" b="1" i="0">
                <a:solidFill>
                  <a:srgbClr val="FFFFFF"/>
                </a:solidFill>
                <a:latin typeface="Calibri (MS) Bold"/>
              </a:rPr>
              <a:t>1</a:t>
            </a:r>
          </a:p>
        </p:txBody>
      </p:sp>
      <p:sp>
        <p:nvSpPr>
          <p:cNvPr id="127" name="Rounded Rectangle 126"/>
          <p:cNvSpPr/>
          <p:nvPr/>
        </p:nvSpPr>
        <p:spPr>
          <a:xfrm>
            <a:off x="1463040" y="3611880"/>
            <a:ext cx="7498079" cy="804672"/>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09728" bIns="109728"/>
          <a:lstStyle/>
          <a:p>
            <a:pPr algn="l">
              <a:spcAft>
                <a:spcPts val="300"/>
              </a:spcAft>
            </a:pPr>
            <a:r>
              <a:rPr sz="1260" b="1" i="0">
                <a:solidFill>
                  <a:srgbClr val="0B5E6E"/>
                </a:solidFill>
                <a:latin typeface="Calibri (MS) Bold"/>
              </a:rPr>
              <a:t>Parameter dibatasi</a:t>
            </a:r>
          </a:p>
          <a:p>
            <a:pPr algn="l">
              <a:spcAft>
                <a:spcPts val="300"/>
              </a:spcAft>
            </a:pPr>
            <a:r>
              <a:rPr sz="1150" b="0" i="0">
                <a:solidFill>
                  <a:srgbClr val="14313B"/>
                </a:solidFill>
                <a:latin typeface="Calibri (MS)"/>
              </a:rPr>
              <a:t>Hanya parameter yang nilainya belum pasti (asumsi/estimasi). Data resmi, hasil persamaan stok-aliran, dan nilai acuan tahun dasar tidak dikalibrasi.</a:t>
            </a:r>
          </a:p>
        </p:txBody>
      </p:sp>
      <p:sp>
        <p:nvSpPr>
          <p:cNvPr id="128" name="Oval 127"/>
          <p:cNvSpPr/>
          <p:nvPr/>
        </p:nvSpPr>
        <p:spPr>
          <a:xfrm>
            <a:off x="868680" y="4636007"/>
            <a:ext cx="457200" cy="45720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90" b="1" i="0">
                <a:solidFill>
                  <a:srgbClr val="FFFFFF"/>
                </a:solidFill>
                <a:latin typeface="Calibri (MS) Bold"/>
              </a:rPr>
              <a:t>2</a:t>
            </a:r>
          </a:p>
        </p:txBody>
      </p:sp>
      <p:sp>
        <p:nvSpPr>
          <p:cNvPr id="129" name="Rounded Rectangle 128"/>
          <p:cNvSpPr/>
          <p:nvPr/>
        </p:nvSpPr>
        <p:spPr>
          <a:xfrm>
            <a:off x="1463040" y="4507992"/>
            <a:ext cx="7498079" cy="804672"/>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09728" bIns="109728"/>
          <a:lstStyle/>
          <a:p>
            <a:pPr algn="l">
              <a:spcAft>
                <a:spcPts val="300"/>
              </a:spcAft>
            </a:pPr>
            <a:r>
              <a:rPr sz="1260" b="1" i="0">
                <a:solidFill>
                  <a:srgbClr val="0B5E6E"/>
                </a:solidFill>
                <a:latin typeface="Calibri (MS) Bold"/>
              </a:rPr>
              <a:t>Nilai yang dicoba punya batas yang jelas</a:t>
            </a:r>
          </a:p>
          <a:p>
            <a:pPr algn="l">
              <a:spcAft>
                <a:spcPts val="300"/>
              </a:spcAft>
            </a:pPr>
            <a:r>
              <a:rPr sz="1150" b="0" i="0">
                <a:solidFill>
                  <a:srgbClr val="14313B"/>
                </a:solidFill>
                <a:latin typeface="Calibri (MS)"/>
              </a:rPr>
              <a:t>Batasnya diambil dari rujukan, atau dari selang kepercayaan 95% saat parameter dihitung dari data. Contoh: laju konversi lahan dicoba 0,0034–0,0851.</a:t>
            </a:r>
          </a:p>
        </p:txBody>
      </p:sp>
      <p:sp>
        <p:nvSpPr>
          <p:cNvPr id="130" name="Oval 129"/>
          <p:cNvSpPr/>
          <p:nvPr/>
        </p:nvSpPr>
        <p:spPr>
          <a:xfrm>
            <a:off x="868680" y="5532120"/>
            <a:ext cx="457200" cy="45720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90" b="1" i="0">
                <a:solidFill>
                  <a:srgbClr val="FFFFFF"/>
                </a:solidFill>
                <a:latin typeface="Calibri (MS) Bold"/>
              </a:rPr>
              <a:t>3</a:t>
            </a:r>
          </a:p>
        </p:txBody>
      </p:sp>
      <p:sp>
        <p:nvSpPr>
          <p:cNvPr id="131" name="Rounded Rectangle 130"/>
          <p:cNvSpPr/>
          <p:nvPr/>
        </p:nvSpPr>
        <p:spPr>
          <a:xfrm>
            <a:off x="1463040" y="5404104"/>
            <a:ext cx="7498079" cy="804672"/>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09728" bIns="109728"/>
          <a:lstStyle/>
          <a:p>
            <a:pPr algn="l">
              <a:spcAft>
                <a:spcPts val="300"/>
              </a:spcAft>
            </a:pPr>
            <a:r>
              <a:rPr sz="1260" b="1" i="0">
                <a:solidFill>
                  <a:srgbClr val="0B5E6E"/>
                </a:solidFill>
                <a:latin typeface="Calibri (MS) Bold"/>
              </a:rPr>
              <a:t>Parameter yang saling terkait ikut disesuaikan</a:t>
            </a:r>
          </a:p>
          <a:p>
            <a:pPr algn="l">
              <a:spcAft>
                <a:spcPts val="300"/>
              </a:spcAft>
            </a:pPr>
            <a:r>
              <a:rPr sz="1150" b="0" i="0">
                <a:solidFill>
                  <a:srgbClr val="14313B"/>
                </a:solidFill>
                <a:latin typeface="Calibri (MS)"/>
              </a:rPr>
              <a:t>Contoh: setiap kali batas TPK diubah, sensitivitas konstruksi dihitung ulang agar model tetap sesuai data tahun dasar.</a:t>
            </a:r>
          </a:p>
        </p:txBody>
      </p:sp>
      <p:sp>
        <p:nvSpPr>
          <p:cNvPr id="132" name="Oval 131"/>
          <p:cNvSpPr/>
          <p:nvPr/>
        </p:nvSpPr>
        <p:spPr>
          <a:xfrm>
            <a:off x="868680" y="6428232"/>
            <a:ext cx="457200" cy="45720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90" b="1" i="0">
                <a:solidFill>
                  <a:srgbClr val="FFFFFF"/>
                </a:solidFill>
                <a:latin typeface="Calibri (MS) Bold"/>
              </a:rPr>
              <a:t>4</a:t>
            </a:r>
          </a:p>
        </p:txBody>
      </p:sp>
      <p:sp>
        <p:nvSpPr>
          <p:cNvPr id="133" name="Rounded Rectangle 132"/>
          <p:cNvSpPr/>
          <p:nvPr/>
        </p:nvSpPr>
        <p:spPr>
          <a:xfrm>
            <a:off x="1463040" y="6300216"/>
            <a:ext cx="7498079" cy="804672"/>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09728" bIns="109728"/>
          <a:lstStyle/>
          <a:p>
            <a:pPr algn="l">
              <a:spcAft>
                <a:spcPts val="300"/>
              </a:spcAft>
            </a:pPr>
            <a:r>
              <a:rPr sz="1260" b="1" i="0">
                <a:solidFill>
                  <a:srgbClr val="0B5E6E"/>
                </a:solidFill>
                <a:latin typeface="Calibri (MS) Bold"/>
              </a:rPr>
              <a:t>Ukuran kecocokan: NRMSE</a:t>
            </a:r>
          </a:p>
          <a:p>
            <a:pPr algn="l">
              <a:spcAft>
                <a:spcPts val="300"/>
              </a:spcAft>
            </a:pPr>
            <a:r>
              <a:rPr sz="1150" b="0" i="0">
                <a:solidFill>
                  <a:srgbClr val="14313B"/>
                </a:solidFill>
                <a:latin typeface="Calibri (MS)"/>
              </a:rPr>
              <a:t>Selisih simulasi dan data, dibandingkan dengan rata-rata data; makin kecil makin cocok. MAPE sebagai pelengkap.</a:t>
            </a:r>
          </a:p>
        </p:txBody>
      </p:sp>
      <p:sp>
        <p:nvSpPr>
          <p:cNvPr id="134" name="Oval 133"/>
          <p:cNvSpPr/>
          <p:nvPr/>
        </p:nvSpPr>
        <p:spPr>
          <a:xfrm>
            <a:off x="868680" y="7324344"/>
            <a:ext cx="457200" cy="45720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490" b="1" i="0">
                <a:solidFill>
                  <a:srgbClr val="FFFFFF"/>
                </a:solidFill>
                <a:latin typeface="Calibri (MS) Bold"/>
              </a:rPr>
              <a:t>5</a:t>
            </a:r>
          </a:p>
        </p:txBody>
      </p:sp>
      <p:sp>
        <p:nvSpPr>
          <p:cNvPr id="135" name="Rounded Rectangle 134"/>
          <p:cNvSpPr/>
          <p:nvPr/>
        </p:nvSpPr>
        <p:spPr>
          <a:xfrm>
            <a:off x="1463040" y="7196328"/>
            <a:ext cx="7498079" cy="804672"/>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09728" bIns="109728"/>
          <a:lstStyle/>
          <a:p>
            <a:pPr algn="l">
              <a:spcAft>
                <a:spcPts val="300"/>
              </a:spcAft>
            </a:pPr>
            <a:r>
              <a:rPr sz="1260" b="1" i="0">
                <a:solidFill>
                  <a:srgbClr val="0B5E6E"/>
                </a:solidFill>
                <a:latin typeface="Calibri (MS) Bold"/>
              </a:rPr>
              <a:t>Selisih kecil dianggap setara (batas 5%)</a:t>
            </a:r>
          </a:p>
          <a:p>
            <a:pPr algn="l">
              <a:spcAft>
                <a:spcPts val="300"/>
              </a:spcAft>
            </a:pPr>
            <a:r>
              <a:rPr sz="1150" b="0" i="0">
                <a:solidFill>
                  <a:srgbClr val="14313B"/>
                </a:solidFill>
                <a:latin typeface="Calibri (MS)"/>
              </a:rPr>
              <a:t>Nilai yang NRMSE-nya paling banyak 5% di atas nilai terbaik dianggap sama baiknya. Contoh: terbaik 0,100 → nilai dengan NRMSE ≤ 0,105 setara.</a:t>
            </a:r>
          </a:p>
        </p:txBody>
      </p:sp>
      <p:sp>
        <p:nvSpPr>
          <p:cNvPr id="136" name="Rounded Rectangle 135"/>
          <p:cNvSpPr/>
          <p:nvPr/>
        </p:nvSpPr>
        <p:spPr>
          <a:xfrm>
            <a:off x="9281160" y="1783080"/>
            <a:ext cx="8183879" cy="45720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550" b="1" i="0">
                <a:solidFill>
                  <a:srgbClr val="FFFFFF"/>
                </a:solidFill>
                <a:latin typeface="Calibri (MS) Bold"/>
              </a:rPr>
              <a:t>Aturan keputusan</a:t>
            </a:r>
            <a:r>
              <a:rPr sz="1260" b="0" i="0">
                <a:solidFill>
                  <a:srgbClr val="D7EEF2"/>
                </a:solidFill>
                <a:latin typeface="Calibri (MS)"/>
              </a:rPr>
              <a:t>   dipakai pada setiap tahap</a:t>
            </a:r>
          </a:p>
        </p:txBody>
      </p:sp>
      <p:graphicFrame>
        <p:nvGraphicFramePr>
          <p:cNvPr id="137" name="Table 136"/>
          <p:cNvGraphicFramePr>
            <a:graphicFrameLocks noGrp="1"/>
          </p:cNvGraphicFramePr>
          <p:nvPr/>
        </p:nvGraphicFramePr>
        <p:xfrm>
          <a:off x="9281160" y="2286000"/>
          <a:ext cx="8183880" cy="3566160"/>
        </p:xfrm>
        <a:graphic>
          <a:graphicData uri="http://schemas.openxmlformats.org/drawingml/2006/table">
            <a:tbl>
              <a:tblPr firstRow="1" bandRow="1">
                <a:tableStyleId>{5C22544A-7EE6-4342-B048-85BDC9FD1C3A}</a:tableStyleId>
              </a:tblPr>
              <a:tblGrid>
                <a:gridCol w="457200"/>
                <a:gridCol w="3291840"/>
                <a:gridCol w="4434840"/>
              </a:tblGrid>
              <a:tr h="713232">
                <a:tc>
                  <a:txBody>
                    <a:bodyPr wrap="square"/>
                    <a:lstStyle/>
                    <a:p>
                      <a:r>
                        <a:rPr sz="1150" b="1" i="0">
                          <a:solidFill>
                            <a:srgbClr val="FFFFFF"/>
                          </a:solidFill>
                          <a:latin typeface="Calibri (MS) Bold"/>
                        </a:rPr>
                        <a:t/>
                      </a:r>
                    </a:p>
                  </a:txBody>
                  <a:tcPr marL="73152" marR="73152" marT="36576" marB="36576" anchor="ctr">
                    <a:solidFill>
                      <a:srgbClr val="0B5E6E"/>
                    </a:solidFill>
                  </a:tcPr>
                </a:tc>
                <a:tc>
                  <a:txBody>
                    <a:bodyPr wrap="square"/>
                    <a:lstStyle/>
                    <a:p>
                      <a:r>
                        <a:rPr sz="1150" b="1" i="0">
                          <a:solidFill>
                            <a:srgbClr val="FFFFFF"/>
                          </a:solidFill>
                          <a:latin typeface="Calibri (MS) Bold"/>
                        </a:rPr>
                        <a:t>Kondisi</a:t>
                      </a:r>
                    </a:p>
                  </a:txBody>
                  <a:tcPr marL="73152" marR="73152" marT="36576" marB="36576" anchor="ctr">
                    <a:solidFill>
                      <a:srgbClr val="0B5E6E"/>
                    </a:solidFill>
                  </a:tcPr>
                </a:tc>
                <a:tc>
                  <a:txBody>
                    <a:bodyPr wrap="square"/>
                    <a:lstStyle/>
                    <a:p>
                      <a:r>
                        <a:rPr sz="1150" b="1" i="0">
                          <a:solidFill>
                            <a:srgbClr val="FFFFFF"/>
                          </a:solidFill>
                          <a:latin typeface="Calibri (MS) Bold"/>
                        </a:rPr>
                        <a:t>Keputusan</a:t>
                      </a:r>
                    </a:p>
                  </a:txBody>
                  <a:tcPr marL="73152" marR="73152" marT="36576" marB="36576" anchor="ctr">
                    <a:solidFill>
                      <a:srgbClr val="0B5E6E"/>
                    </a:solidFill>
                  </a:tcPr>
                </a:tc>
              </a:tr>
              <a:tr h="713232">
                <a:tc>
                  <a:txBody>
                    <a:bodyPr wrap="square"/>
                    <a:lstStyle/>
                    <a:p>
                      <a:pPr algn="ctr"/>
                      <a:r>
                        <a:rPr sz="1150" b="1" i="0">
                          <a:solidFill>
                            <a:srgbClr val="0B5E6E"/>
                          </a:solidFill>
                          <a:latin typeface="Calibri (MS)"/>
                        </a:rPr>
                        <a:t>R1</a:t>
                      </a:r>
                    </a:p>
                  </a:txBody>
                  <a:tcPr marL="73152" marR="73152" marT="36576" marB="36576" anchor="ctr">
                    <a:solidFill>
                      <a:srgbClr val="FFFFFF"/>
                    </a:solidFill>
                  </a:tcPr>
                </a:tc>
                <a:tc>
                  <a:txBody>
                    <a:bodyPr wrap="square"/>
                    <a:lstStyle/>
                    <a:p>
                      <a:r>
                        <a:rPr sz="1150" b="0" i="0">
                          <a:solidFill>
                            <a:srgbClr val="14313B"/>
                          </a:solidFill>
                          <a:latin typeface="Calibri (MS)"/>
                        </a:rPr>
                        <a:t>Nilai dari data sudah termasuk yang sama baiknya (≤ 5% di atas nilai terbaik)</a:t>
                      </a:r>
                    </a:p>
                  </a:txBody>
                  <a:tcPr marL="73152" marR="73152" marT="36576" marB="36576" anchor="ctr">
                    <a:solidFill>
                      <a:srgbClr val="FFFFFF"/>
                    </a:solidFill>
                  </a:tcPr>
                </a:tc>
                <a:tc>
                  <a:txBody>
                    <a:bodyPr wrap="square"/>
                    <a:lstStyle/>
                    <a:p>
                      <a:r>
                        <a:rPr sz="1150" b="0" i="0">
                          <a:solidFill>
                            <a:srgbClr val="14313B"/>
                          </a:solidFill>
                          <a:latin typeface="Calibri (MS)"/>
                        </a:rPr>
                        <a:t>Tidak diganti, karena nilai baru tidak lebih baik secara berarti</a:t>
                      </a:r>
                    </a:p>
                  </a:txBody>
                  <a:tcPr marL="73152" marR="73152" marT="36576" marB="36576" anchor="ctr">
                    <a:solidFill>
                      <a:srgbClr val="FFFFFF"/>
                    </a:solidFill>
                  </a:tcPr>
                </a:tc>
              </a:tr>
              <a:tr h="713232">
                <a:tc>
                  <a:txBody>
                    <a:bodyPr wrap="square"/>
                    <a:lstStyle/>
                    <a:p>
                      <a:pPr algn="ctr"/>
                      <a:r>
                        <a:rPr sz="1150" b="1" i="0">
                          <a:solidFill>
                            <a:srgbClr val="0B5E6E"/>
                          </a:solidFill>
                          <a:latin typeface="Calibri (MS)"/>
                        </a:rPr>
                        <a:t>R2</a:t>
                      </a:r>
                    </a:p>
                  </a:txBody>
                  <a:tcPr marL="73152" marR="73152" marT="36576" marB="36576" anchor="ctr">
                    <a:solidFill>
                      <a:srgbClr val="EAF8FA"/>
                    </a:solidFill>
                  </a:tcPr>
                </a:tc>
                <a:tc>
                  <a:txBody>
                    <a:bodyPr wrap="square"/>
                    <a:lstStyle/>
                    <a:p>
                      <a:r>
                        <a:rPr sz="1150" b="0" i="0">
                          <a:solidFill>
                            <a:srgbClr val="14313B"/>
                          </a:solidFill>
                          <a:latin typeface="Calibri (MS)"/>
                        </a:rPr>
                        <a:t>Nilai yang sama baiknya tersebar dari ujung bawah sampai ujung atas batas</a:t>
                      </a:r>
                    </a:p>
                  </a:txBody>
                  <a:tcPr marL="73152" marR="73152" marT="36576" marB="36576" anchor="ctr">
                    <a:solidFill>
                      <a:srgbClr val="EAF8FA"/>
                    </a:solidFill>
                  </a:tcPr>
                </a:tc>
                <a:tc>
                  <a:txBody>
                    <a:bodyPr wrap="square"/>
                    <a:lstStyle/>
                    <a:p>
                      <a:r>
                        <a:rPr sz="1150" b="0" i="0">
                          <a:solidFill>
                            <a:srgbClr val="14313B"/>
                          </a:solidFill>
                          <a:latin typeface="Calibri (MS)"/>
                        </a:rPr>
                        <a:t>Data tidak bisa menunjuk satu nilai → nilai dari data tetap dipakai</a:t>
                      </a:r>
                    </a:p>
                  </a:txBody>
                  <a:tcPr marL="73152" marR="73152" marT="36576" marB="36576" anchor="ctr">
                    <a:solidFill>
                      <a:srgbClr val="EAF8FA"/>
                    </a:solidFill>
                  </a:tcPr>
                </a:tc>
              </a:tr>
              <a:tr h="713232">
                <a:tc>
                  <a:txBody>
                    <a:bodyPr wrap="square"/>
                    <a:lstStyle/>
                    <a:p>
                      <a:pPr algn="ctr"/>
                      <a:r>
                        <a:rPr sz="1150" b="1" i="0">
                          <a:solidFill>
                            <a:srgbClr val="0B5E6E"/>
                          </a:solidFill>
                          <a:latin typeface="Calibri (MS)"/>
                        </a:rPr>
                        <a:t>R3</a:t>
                      </a:r>
                    </a:p>
                  </a:txBody>
                  <a:tcPr marL="73152" marR="73152" marT="36576" marB="36576" anchor="ctr">
                    <a:solidFill>
                      <a:srgbClr val="FFFFFF"/>
                    </a:solidFill>
                  </a:tcPr>
                </a:tc>
                <a:tc>
                  <a:txBody>
                    <a:bodyPr wrap="square"/>
                    <a:lstStyle/>
                    <a:p>
                      <a:r>
                        <a:rPr sz="1150" b="0" i="0">
                          <a:solidFill>
                            <a:srgbClr val="14313B"/>
                          </a:solidFill>
                          <a:latin typeface="Calibri (MS)"/>
                        </a:rPr>
                        <a:t>Nilai terbaik jatuh tepat di batas yang dicoba</a:t>
                      </a:r>
                    </a:p>
                  </a:txBody>
                  <a:tcPr marL="73152" marR="73152" marT="36576" marB="36576" anchor="ctr">
                    <a:solidFill>
                      <a:srgbClr val="FFFFFF"/>
                    </a:solidFill>
                  </a:tcPr>
                </a:tc>
                <a:tc>
                  <a:txBody>
                    <a:bodyPr wrap="square"/>
                    <a:lstStyle/>
                    <a:p>
                      <a:r>
                        <a:rPr sz="1150" b="0" i="0">
                          <a:solidFill>
                            <a:srgbClr val="14313B"/>
                          </a:solidFill>
                          <a:latin typeface="Calibri (MS)"/>
                        </a:rPr>
                        <a:t>Dicek ulang dengan membuang satu tahun data secara bergantian: apakah nilai terbaik hanya muncul karena satu tahun yang janggal?</a:t>
                      </a:r>
                    </a:p>
                  </a:txBody>
                  <a:tcPr marL="73152" marR="73152" marT="36576" marB="36576" anchor="ctr">
                    <a:solidFill>
                      <a:srgbClr val="FFFFFF"/>
                    </a:solidFill>
                  </a:tcPr>
                </a:tc>
              </a:tr>
              <a:tr h="713232">
                <a:tc>
                  <a:txBody>
                    <a:bodyPr wrap="square"/>
                    <a:lstStyle/>
                    <a:p>
                      <a:pPr algn="ctr"/>
                      <a:r>
                        <a:rPr sz="1150" b="1" i="0">
                          <a:solidFill>
                            <a:srgbClr val="0B5E6E"/>
                          </a:solidFill>
                          <a:latin typeface="Calibri (MS)"/>
                        </a:rPr>
                        <a:t>R4</a:t>
                      </a:r>
                    </a:p>
                  </a:txBody>
                  <a:tcPr marL="73152" marR="73152" marT="36576" marB="36576" anchor="ctr">
                    <a:solidFill>
                      <a:srgbClr val="EAF8FA"/>
                    </a:solidFill>
                  </a:tcPr>
                </a:tc>
                <a:tc>
                  <a:txBody>
                    <a:bodyPr wrap="square"/>
                    <a:lstStyle/>
                    <a:p>
                      <a:r>
                        <a:rPr sz="1150" b="0" i="0">
                          <a:solidFill>
                            <a:srgbClr val="14313B"/>
                          </a:solidFill>
                          <a:latin typeface="Calibri (MS)"/>
                        </a:rPr>
                        <a:t>Tidak termasuk ketiga kondisi di atas</a:t>
                      </a:r>
                    </a:p>
                  </a:txBody>
                  <a:tcPr marL="73152" marR="73152" marT="36576" marB="36576" anchor="ctr">
                    <a:solidFill>
                      <a:srgbClr val="EAF8FA"/>
                    </a:solidFill>
                  </a:tcPr>
                </a:tc>
                <a:tc>
                  <a:txBody>
                    <a:bodyPr wrap="square"/>
                    <a:lstStyle/>
                    <a:p>
                      <a:r>
                        <a:rPr sz="1150" b="0" i="0">
                          <a:solidFill>
                            <a:srgbClr val="14313B"/>
                          </a:solidFill>
                          <a:latin typeface="Calibri (MS)"/>
                        </a:rPr>
                        <a:t>Nilai terbaik dipakai, tetapi harus lolos uji pada model penuh (Tahap 4)</a:t>
                      </a:r>
                    </a:p>
                  </a:txBody>
                  <a:tcPr marL="73152" marR="73152" marT="36576" marB="36576" anchor="ctr">
                    <a:solidFill>
                      <a:srgbClr val="C9F0D6"/>
                    </a:solidFill>
                  </a:tcPr>
                </a:tc>
              </a:tr>
            </a:tbl>
          </a:graphicData>
        </a:graphic>
      </p:graphicFrame>
      <p:sp>
        <p:nvSpPr>
          <p:cNvPr id="138" name="Rounded Rectangle 137"/>
          <p:cNvSpPr/>
          <p:nvPr/>
        </p:nvSpPr>
        <p:spPr>
          <a:xfrm>
            <a:off x="9281160" y="6035040"/>
            <a:ext cx="8183879" cy="1691640"/>
          </a:xfrm>
          <a:prstGeom prst="roundRect">
            <a:avLst>
              <a:gd name="adj" fmla="val 8000"/>
            </a:avLst>
          </a:prstGeom>
          <a:solidFill>
            <a:srgbClr val="FFFFFF"/>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260" b="1" i="0">
                <a:solidFill>
                  <a:srgbClr val="0B5E6E"/>
                </a:solidFill>
                <a:latin typeface="Calibri (MS) Bold"/>
              </a:rPr>
              <a:t>Uji kompatibilitas (Tahap 4): </a:t>
            </a:r>
            <a:r>
              <a:rPr sz="1210" b="0" i="0">
                <a:solidFill>
                  <a:srgbClr val="14313B"/>
                </a:solidFill>
                <a:latin typeface="Calibri (MS)"/>
              </a:rPr>
              <a:t>nilai hasil kalibrasi dicoba pada model penuh (semua subsistem aktif), dan ditolak bila salah satu terjadi:</a:t>
            </a:r>
          </a:p>
          <a:p>
            <a:pPr algn="l">
              <a:spcAft>
                <a:spcPts val="300"/>
              </a:spcAft>
            </a:pPr>
            <a:r>
              <a:rPr sz="1210" b="0" i="0">
                <a:solidFill>
                  <a:srgbClr val="14313B"/>
                </a:solidFill>
                <a:latin typeface="Calibri (MS)"/>
              </a:rPr>
              <a:t>•  kecocokan variabel yang dikalibrasi memburuk lebih dari 5% </a:t>
            </a:r>
            <a:r>
              <a:rPr sz="1210" b="1" i="0">
                <a:solidFill>
                  <a:srgbClr val="0B5E6E"/>
                </a:solidFill>
                <a:latin typeface="Calibri (MS) Bold"/>
              </a:rPr>
              <a:t>(M1)</a:t>
            </a:r>
          </a:p>
          <a:p>
            <a:pPr algn="l">
              <a:spcAft>
                <a:spcPts val="300"/>
              </a:spcAft>
            </a:pPr>
            <a:r>
              <a:rPr sz="1210" b="0" i="0">
                <a:solidFill>
                  <a:srgbClr val="14313B"/>
                </a:solidFill>
                <a:latin typeface="Calibri (MS)"/>
              </a:rPr>
              <a:t>•  rata-rata kecocokan 9 variabel memburuk lebih dari 5% </a:t>
            </a:r>
            <a:r>
              <a:rPr sz="1210" b="1" i="0">
                <a:solidFill>
                  <a:srgbClr val="0B5E6E"/>
                </a:solidFill>
                <a:latin typeface="Calibri (MS) Bold"/>
              </a:rPr>
              <a:t>(M2)</a:t>
            </a:r>
          </a:p>
          <a:p>
            <a:pPr algn="l">
              <a:spcAft>
                <a:spcPts val="300"/>
              </a:spcAft>
            </a:pPr>
            <a:r>
              <a:rPr sz="1210" b="0" i="0">
                <a:solidFill>
                  <a:srgbClr val="14313B"/>
                </a:solidFill>
                <a:latin typeface="Calibri (MS)"/>
              </a:rPr>
              <a:t>•  model gagal pada uji kondisi ekstrem </a:t>
            </a:r>
            <a:r>
              <a:rPr sz="1210" b="1" i="0">
                <a:solidFill>
                  <a:srgbClr val="0B5E6E"/>
                </a:solidFill>
                <a:latin typeface="Calibri (MS) Bold"/>
              </a:rPr>
              <a:t>(S)</a:t>
            </a:r>
            <a:r>
              <a:rPr sz="1210" b="0" i="0">
                <a:solidFill>
                  <a:srgbClr val="14313B"/>
                </a:solidFill>
                <a:latin typeface="Calibri (MS)"/>
              </a:rPr>
              <a:t>  •  simulasi jangka panjang tidak stabil </a:t>
            </a:r>
            <a:r>
              <a:rPr sz="1210" b="1" i="0">
                <a:solidFill>
                  <a:srgbClr val="0B5E6E"/>
                </a:solidFill>
                <a:latin typeface="Calibri (MS) Bold"/>
              </a:rPr>
              <a:t>(T)</a:t>
            </a:r>
          </a:p>
        </p:txBody>
      </p:sp>
      <p:sp>
        <p:nvSpPr>
          <p:cNvPr id="139" name="TextBox 138"/>
          <p:cNvSpPr txBox="1"/>
          <p:nvPr/>
        </p:nvSpPr>
        <p:spPr>
          <a:xfrm>
            <a:off x="9281160" y="7772400"/>
            <a:ext cx="8183879" cy="365760"/>
          </a:xfrm>
          <a:prstGeom prst="rect">
            <a:avLst/>
          </a:prstGeom>
          <a:noFill/>
        </p:spPr>
        <p:txBody>
          <a:bodyPr wrap="square" anchor="t" lIns="0" rIns="0" tIns="0" bIns="0">
            <a:spAutoFit/>
          </a:bodyPr>
          <a:lstStyle/>
          <a:p>
            <a:pPr algn="l">
              <a:spcAft>
                <a:spcPts val="400"/>
              </a:spcAft>
            </a:pPr>
            <a:r>
              <a:rPr sz="1090" b="0" i="1">
                <a:solidFill>
                  <a:srgbClr val="5E6E78"/>
                </a:solidFill>
                <a:latin typeface="Calibri (MS)"/>
              </a:rPr>
              <a:t>M1, M2, S, T = kode pada Tabel 20 buku. Batas 5% juga dicek pada 2% dan 10%.</a:t>
            </a:r>
          </a:p>
        </p:txBody>
      </p:sp>
      <p:sp>
        <p:nvSpPr>
          <p:cNvPr id="140" name="Rounded Rectangle 139"/>
          <p:cNvSpPr/>
          <p:nvPr/>
        </p:nvSpPr>
        <p:spPr>
          <a:xfrm>
            <a:off x="822960" y="8275320"/>
            <a:ext cx="16642080" cy="77724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610" b="1" i="0">
                <a:solidFill>
                  <a:srgbClr val="0B5E6E"/>
                </a:solidFill>
                <a:latin typeface="Calibri (MS) Bold"/>
              </a:rPr>
              <a:t>Intinya  </a:t>
            </a:r>
            <a:r>
              <a:rPr sz="1610" b="0" i="0">
                <a:solidFill>
                  <a:srgbClr val="14313B"/>
                </a:solidFill>
                <a:latin typeface="Calibri (MS)"/>
              </a:rPr>
              <a:t>Nilai dari data baru diganti bila nilai baru jelas lebih cocok, tidak hanya karena satu tahun data, dan tetap cocok saat semua subsistem dijalankan bersama.</a:t>
            </a:r>
          </a:p>
        </p:txBody>
      </p:sp>
      <p:sp>
        <p:nvSpPr>
          <p:cNvPr id="141" name="TextBox 140"/>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3.7.4 (Tabel 19–20). NRMSE = akar rata-rata kuadrat selisih dibagi rata-rata data.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Kalibrasi (2/2): Hasil Tiap Tahap</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Dari tiga parameter yang dikalibrasi, tidak ada yang diganti: nilai yang dihitung dari data dipertahankan</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152" id="152"/>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
            </a:r>
          </a:p>
        </p:txBody>
      </p:sp>
      <p:grpSp>
        <p:nvGrpSpPr>
          <p:cNvPr name="Group 153" id="153"/>
          <p:cNvGrpSpPr/>
          <p:nvPr/>
        </p:nvGrpSpPr>
        <p:grpSpPr>
          <a:xfrm rot="0">
            <a:off x="12755880" y="274320"/>
            <a:ext cx="3931920" cy="411480"/>
            <a:chOff x="0" y="0"/>
            <a:chExt cx="5242560" cy="548640"/>
          </a:xfrm>
        </p:grpSpPr>
        <p:sp>
          <p:nvSpPr>
            <p:cNvPr name="Freeform 154" id="154"/>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155" id="155"/>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2E · Uji perilaku &amp; kalibrasi</a:t>
              </a:r>
            </a:p>
          </p:txBody>
        </p:sp>
      </p:grpSp>
      <p:sp>
        <p:nvSpPr>
          <p:cNvPr id="156" name="Rounded Rectangle 155"/>
          <p:cNvSpPr/>
          <p:nvPr/>
        </p:nvSpPr>
        <p:spPr>
          <a:xfrm>
            <a:off x="822960" y="1783080"/>
            <a:ext cx="3200400" cy="57150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9728" bIns="109728"/>
          <a:lstStyle/>
          <a:p>
            <a:pPr algn="l">
              <a:spcAft>
                <a:spcPts val="300"/>
              </a:spcAft>
            </a:pPr>
            <a:r>
              <a:rPr sz="1150" b="1" i="0">
                <a:solidFill>
                  <a:srgbClr val="5E6E78"/>
                </a:solidFill>
                <a:latin typeface="Calibri (MS) Bold"/>
              </a:rPr>
              <a:t>TAHAP 0</a:t>
            </a:r>
          </a:p>
          <a:p>
            <a:pPr algn="l">
              <a:spcAft>
                <a:spcPts val="300"/>
              </a:spcAft>
            </a:pPr>
            <a:r>
              <a:rPr sz="1490" b="1" i="0">
                <a:solidFill>
                  <a:srgbClr val="0B5E6E"/>
                </a:solidFill>
                <a:latin typeface="Calibri (MS) Bold"/>
              </a:rPr>
              <a:t>Koreksi penurunan</a:t>
            </a:r>
          </a:p>
          <a:p>
            <a:pPr algn="l">
              <a:spcAft>
                <a:spcPts val="300"/>
              </a:spcAft>
            </a:pPr>
            <a:r>
              <a:rPr sz="1210" b="1" i="1">
                <a:solidFill>
                  <a:srgbClr val="14313B"/>
                </a:solidFill>
                <a:latin typeface="Calibri (MS) Bold"/>
              </a:rPr>
              <a:t>LPE dan LPD (wisatawan)</a:t>
            </a:r>
          </a:p>
          <a:p>
            <a:pPr algn="l">
              <a:spcAft>
                <a:spcPts val="300"/>
              </a:spcAft>
            </a:pPr>
            <a:r>
              <a:rPr sz="1260" b="1" i="0">
                <a:solidFill>
                  <a:srgbClr val="0B5E6E"/>
                </a:solidFill>
                <a:latin typeface="Calibri (MS) Bold"/>
              </a:rPr>
              <a:t>Diperiksa  </a:t>
            </a:r>
            <a:r>
              <a:rPr sz="1260" b="0" i="0">
                <a:solidFill>
                  <a:srgbClr val="14313B"/>
                </a:solidFill>
                <a:latin typeface="Calibri (MS)"/>
              </a:rPr>
              <a:t>Apakah cara menghitung LPE dan LPD sudah sesuai persamaan model yang berjalan.</a:t>
            </a:r>
          </a:p>
          <a:p>
            <a:pPr algn="l">
              <a:spcAft>
                <a:spcPts val="300"/>
              </a:spcAft>
            </a:pPr>
            <a:r>
              <a:rPr sz="1260" b="1" i="0">
                <a:solidFill>
                  <a:srgbClr val="0B5E6E"/>
                </a:solidFill>
                <a:latin typeface="Calibri (MS) Bold"/>
              </a:rPr>
              <a:t>Temuan  </a:t>
            </a:r>
            <a:r>
              <a:rPr sz="1260" b="0" i="0">
                <a:solidFill>
                  <a:srgbClr val="14313B"/>
                </a:solidFill>
                <a:latin typeface="Calibri (MS)"/>
              </a:rPr>
              <a:t>Perhitungan awal memakai daya tarik = 1, padahal model memakai daya tarik tahun 2024 (0,99223).</a:t>
            </a:r>
          </a:p>
          <a:p>
            <a:pPr algn="l">
              <a:spcAft>
                <a:spcPts val="300"/>
              </a:spcAft>
            </a:pPr>
            <a:r>
              <a:rPr sz="1260" b="1" i="0">
                <a:solidFill>
                  <a:srgbClr val="0B5E6E"/>
                </a:solidFill>
                <a:latin typeface="Calibri (MS) Bold"/>
              </a:rPr>
              <a:t>Hasil  </a:t>
            </a:r>
            <a:r>
              <a:rPr sz="1260" b="0" i="0">
                <a:solidFill>
                  <a:srgbClr val="14313B"/>
                </a:solidFill>
                <a:latin typeface="Calibri (MS)"/>
              </a:rPr>
              <a:t>LPE 0,26864 → 0,27726; LPD 0,20148 → 0,207945. Wisatawan 2050 naik sekitar 1,6%; uji ekstrem tetap 15 lolos, 2 catatan, 0 gagal.</a:t>
            </a:r>
          </a:p>
        </p:txBody>
      </p:sp>
      <p:sp>
        <p:nvSpPr>
          <p:cNvPr id="157" name="Rounded Rectangle 156"/>
          <p:cNvSpPr/>
          <p:nvPr/>
        </p:nvSpPr>
        <p:spPr>
          <a:xfrm>
            <a:off x="960120" y="6858000"/>
            <a:ext cx="2926080" cy="502920"/>
          </a:xfrm>
          <a:prstGeom prst="roundRect">
            <a:avLst>
              <a:gd name="adj" fmla="val 8000"/>
            </a:avLst>
          </a:prstGeom>
          <a:solidFill>
            <a:srgbClr val="FFD2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300"/>
              </a:spcAft>
            </a:pPr>
            <a:r>
              <a:rPr sz="1210" b="1" i="0">
                <a:solidFill>
                  <a:srgbClr val="14313B"/>
                </a:solidFill>
                <a:latin typeface="Calibri (MS) Bold"/>
              </a:rPr>
              <a:t>Koreksi, bukan kalibrasi</a:t>
            </a:r>
          </a:p>
        </p:txBody>
      </p:sp>
      <p:sp>
        <p:nvSpPr>
          <p:cNvPr id="158" name="Right Arrow 157"/>
          <p:cNvSpPr/>
          <p:nvPr/>
        </p:nvSpPr>
        <p:spPr>
          <a:xfrm>
            <a:off x="4005072" y="4480560"/>
            <a:ext cx="196596" cy="274320"/>
          </a:xfrm>
          <a:prstGeom prst="rightArrow">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Rounded Rectangle 158"/>
          <p:cNvSpPr/>
          <p:nvPr/>
        </p:nvSpPr>
        <p:spPr>
          <a:xfrm>
            <a:off x="4183380" y="1783080"/>
            <a:ext cx="3200400" cy="57150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9728" bIns="109728"/>
          <a:lstStyle/>
          <a:p>
            <a:pPr algn="l">
              <a:spcAft>
                <a:spcPts val="300"/>
              </a:spcAft>
            </a:pPr>
            <a:r>
              <a:rPr sz="1150" b="1" i="0">
                <a:solidFill>
                  <a:srgbClr val="5E6E78"/>
                </a:solidFill>
                <a:latin typeface="Calibri (MS) Bold"/>
              </a:rPr>
              <a:t>TAHAP 1</a:t>
            </a:r>
          </a:p>
          <a:p>
            <a:pPr algn="l">
              <a:spcAft>
                <a:spcPts val="300"/>
              </a:spcAft>
            </a:pPr>
            <a:r>
              <a:rPr sz="1490" b="1" i="0">
                <a:solidFill>
                  <a:srgbClr val="0B5E6E"/>
                </a:solidFill>
                <a:latin typeface="Calibri (MS) Bold"/>
              </a:rPr>
              <a:t>Subsistem akomodasi</a:t>
            </a:r>
          </a:p>
          <a:p>
            <a:pPr algn="l">
              <a:spcAft>
                <a:spcPts val="300"/>
              </a:spcAft>
            </a:pPr>
            <a:r>
              <a:rPr sz="1210" b="1" i="1">
                <a:solidFill>
                  <a:srgbClr val="14313B"/>
                </a:solidFill>
                <a:latin typeface="Calibri (MS) Bold"/>
              </a:rPr>
              <a:t>Batas TPK dan laju demolisi</a:t>
            </a:r>
          </a:p>
          <a:p>
            <a:pPr algn="l">
              <a:spcAft>
                <a:spcPts val="300"/>
              </a:spcAft>
            </a:pPr>
            <a:r>
              <a:rPr sz="1260" b="1" i="0">
                <a:solidFill>
                  <a:srgbClr val="0B5E6E"/>
                </a:solidFill>
                <a:latin typeface="Calibri (MS) Bold"/>
              </a:rPr>
              <a:t>Diperiksa  </a:t>
            </a:r>
            <a:r>
              <a:rPr sz="1260" b="0" i="0">
                <a:solidFill>
                  <a:srgbClr val="14313B"/>
                </a:solidFill>
                <a:latin typeface="Calibri (MS)"/>
              </a:rPr>
              <a:t>775 kombinasi (batas TPK 0,20–0,35; demolisi 0,02–0,08) pada uji P1.</a:t>
            </a:r>
          </a:p>
          <a:p>
            <a:pPr algn="l">
              <a:spcAft>
                <a:spcPts val="300"/>
              </a:spcAft>
            </a:pPr>
            <a:r>
              <a:rPr sz="1260" b="1" i="0">
                <a:solidFill>
                  <a:srgbClr val="0B5E6E"/>
                </a:solidFill>
                <a:latin typeface="Calibri (MS) Bold"/>
              </a:rPr>
              <a:t>Temuan  </a:t>
            </a:r>
            <a:r>
              <a:rPr sz="1260" b="0" i="0">
                <a:solidFill>
                  <a:srgbClr val="14313B"/>
                </a:solidFill>
                <a:latin typeface="Calibri (MS)"/>
              </a:rPr>
              <a:t>Nilai terbaik (0,350; 0,060) memperbaiki 11,64%, tetapi tepat di batas rentang (R3). Tanpa tahun 2019, perbaikan tinggal 5,74%; versi dengan COVID memburuk dan P1b hanya 4,89%.</a:t>
            </a:r>
          </a:p>
          <a:p>
            <a:pPr algn="l">
              <a:spcAft>
                <a:spcPts val="300"/>
              </a:spcAft>
            </a:pPr>
            <a:r>
              <a:rPr sz="1260" b="1" i="0">
                <a:solidFill>
                  <a:srgbClr val="0B5E6E"/>
                </a:solidFill>
                <a:latin typeface="Calibri (MS) Bold"/>
              </a:rPr>
              <a:t>Keputusan  </a:t>
            </a:r>
            <a:r>
              <a:rPr sz="1260" b="0" i="0">
                <a:solidFill>
                  <a:srgbClr val="14313B"/>
                </a:solidFill>
                <a:latin typeface="Calibri (MS)"/>
              </a:rPr>
              <a:t>Perbaikan ditarik satu tahun anomali.</a:t>
            </a:r>
          </a:p>
        </p:txBody>
      </p:sp>
      <p:sp>
        <p:nvSpPr>
          <p:cNvPr id="160" name="Rounded Rectangle 159"/>
          <p:cNvSpPr/>
          <p:nvPr/>
        </p:nvSpPr>
        <p:spPr>
          <a:xfrm>
            <a:off x="4320540" y="6858000"/>
            <a:ext cx="2926080" cy="50292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300"/>
              </a:spcAft>
            </a:pPr>
            <a:r>
              <a:rPr sz="1210" b="1" i="0">
                <a:solidFill>
                  <a:srgbClr val="FFFFFF"/>
                </a:solidFill>
                <a:latin typeface="Calibri (MS) Bold"/>
              </a:rPr>
              <a:t>Tetap 0,275 dan 0,05</a:t>
            </a:r>
          </a:p>
        </p:txBody>
      </p:sp>
      <p:sp>
        <p:nvSpPr>
          <p:cNvPr id="161" name="Right Arrow 160"/>
          <p:cNvSpPr/>
          <p:nvPr/>
        </p:nvSpPr>
        <p:spPr>
          <a:xfrm>
            <a:off x="7365492" y="4480560"/>
            <a:ext cx="196596" cy="274320"/>
          </a:xfrm>
          <a:prstGeom prst="rightArrow">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Rounded Rectangle 161"/>
          <p:cNvSpPr/>
          <p:nvPr/>
        </p:nvSpPr>
        <p:spPr>
          <a:xfrm>
            <a:off x="7543800" y="1783080"/>
            <a:ext cx="3200400" cy="57150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9728" bIns="109728"/>
          <a:lstStyle/>
          <a:p>
            <a:pPr algn="l">
              <a:spcAft>
                <a:spcPts val="300"/>
              </a:spcAft>
            </a:pPr>
            <a:r>
              <a:rPr sz="1150" b="1" i="0">
                <a:solidFill>
                  <a:srgbClr val="5E6E78"/>
                </a:solidFill>
                <a:latin typeface="Calibri (MS) Bold"/>
              </a:rPr>
              <a:t>TAHAP 2</a:t>
            </a:r>
          </a:p>
          <a:p>
            <a:pPr algn="l">
              <a:spcAft>
                <a:spcPts val="300"/>
              </a:spcAft>
            </a:pPr>
            <a:r>
              <a:rPr sz="1490" b="1" i="0">
                <a:solidFill>
                  <a:srgbClr val="0B5E6E"/>
                </a:solidFill>
                <a:latin typeface="Calibri (MS) Bold"/>
              </a:rPr>
              <a:t>Subsistem lahan</a:t>
            </a:r>
          </a:p>
          <a:p>
            <a:pPr algn="l">
              <a:spcAft>
                <a:spcPts val="300"/>
              </a:spcAft>
            </a:pPr>
            <a:r>
              <a:rPr sz="1210" b="1" i="1">
                <a:solidFill>
                  <a:srgbClr val="14313B"/>
                </a:solidFill>
                <a:latin typeface="Calibri (MS) Bold"/>
              </a:rPr>
              <a:t>Laju konversi dasar</a:t>
            </a:r>
          </a:p>
          <a:p>
            <a:pPr algn="l">
              <a:spcAft>
                <a:spcPts val="300"/>
              </a:spcAft>
            </a:pPr>
            <a:r>
              <a:rPr sz="1260" b="1" i="0">
                <a:solidFill>
                  <a:srgbClr val="0B5E6E"/>
                </a:solidFill>
                <a:latin typeface="Calibri (MS) Bold"/>
              </a:rPr>
              <a:t>Diperiksa  </a:t>
            </a:r>
            <a:r>
              <a:rPr sz="1260" b="0" i="0">
                <a:solidFill>
                  <a:srgbClr val="14313B"/>
                </a:solidFill>
                <a:latin typeface="Calibri (MS)"/>
              </a:rPr>
              <a:t>Rentang selang kepercayaan 95% (0,0034–0,0851) pada uji P4.</a:t>
            </a:r>
          </a:p>
          <a:p>
            <a:pPr algn="l">
              <a:spcAft>
                <a:spcPts val="300"/>
              </a:spcAft>
            </a:pPr>
            <a:r>
              <a:rPr sz="1260" b="1" i="0">
                <a:solidFill>
                  <a:srgbClr val="0B5E6E"/>
                </a:solidFill>
                <a:latin typeface="Calibri (MS) Bold"/>
              </a:rPr>
              <a:t>Temuan  </a:t>
            </a:r>
            <a:r>
              <a:rPr sz="1260" b="0" i="0">
                <a:solidFill>
                  <a:srgbClr val="14313B"/>
                </a:solidFill>
                <a:latin typeface="Calibri (MS)"/>
              </a:rPr>
              <a:t>Nilai terbaik 0,0639 memperbaiki 14,76%, berada di dalam rentang, dan bias (U1) turun dari 0,4250 ke 0,0755.</a:t>
            </a:r>
          </a:p>
          <a:p>
            <a:pPr algn="l">
              <a:spcAft>
                <a:spcPts val="300"/>
              </a:spcAft>
            </a:pPr>
            <a:r>
              <a:rPr sz="1260" b="1" i="0">
                <a:solidFill>
                  <a:srgbClr val="0B5E6E"/>
                </a:solidFill>
                <a:latin typeface="Calibri (MS) Bold"/>
              </a:rPr>
              <a:t>Keputusan  </a:t>
            </a:r>
            <a:r>
              <a:rPr sz="1260" b="0" i="0">
                <a:solidFill>
                  <a:srgbClr val="14313B"/>
                </a:solidFill>
                <a:latin typeface="Calibri (MS)"/>
              </a:rPr>
              <a:t>Memenuhi R4, tetapi masih harus lolos Tahap 4.</a:t>
            </a:r>
          </a:p>
        </p:txBody>
      </p:sp>
      <p:sp>
        <p:nvSpPr>
          <p:cNvPr id="163" name="Rounded Rectangle 162"/>
          <p:cNvSpPr/>
          <p:nvPr/>
        </p:nvSpPr>
        <p:spPr>
          <a:xfrm>
            <a:off x="7680960" y="6858000"/>
            <a:ext cx="2926080" cy="502920"/>
          </a:xfrm>
          <a:prstGeom prst="roundRect">
            <a:avLst>
              <a:gd name="adj" fmla="val 8000"/>
            </a:avLst>
          </a:prstGeom>
          <a:solidFill>
            <a:srgbClr val="FFD2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300"/>
              </a:spcAft>
            </a:pPr>
            <a:r>
              <a:rPr sz="1210" b="1" i="0">
                <a:solidFill>
                  <a:srgbClr val="14313B"/>
                </a:solidFill>
                <a:latin typeface="Calibri (MS) Bold"/>
              </a:rPr>
              <a:t>Sementara diadopsi</a:t>
            </a:r>
          </a:p>
        </p:txBody>
      </p:sp>
      <p:sp>
        <p:nvSpPr>
          <p:cNvPr id="164" name="Right Arrow 163"/>
          <p:cNvSpPr/>
          <p:nvPr/>
        </p:nvSpPr>
        <p:spPr>
          <a:xfrm>
            <a:off x="10725912" y="4480560"/>
            <a:ext cx="196596" cy="274320"/>
          </a:xfrm>
          <a:prstGeom prst="rightArrow">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Rounded Rectangle 164"/>
          <p:cNvSpPr/>
          <p:nvPr/>
        </p:nvSpPr>
        <p:spPr>
          <a:xfrm>
            <a:off x="10904219" y="1783080"/>
            <a:ext cx="3200400" cy="57150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9728" bIns="109728"/>
          <a:lstStyle/>
          <a:p>
            <a:pPr algn="l">
              <a:spcAft>
                <a:spcPts val="300"/>
              </a:spcAft>
            </a:pPr>
            <a:r>
              <a:rPr sz="1150" b="1" i="0">
                <a:solidFill>
                  <a:srgbClr val="5E6E78"/>
                </a:solidFill>
                <a:latin typeface="Calibri (MS) Bold"/>
              </a:rPr>
              <a:t>TAHAP 3</a:t>
            </a:r>
          </a:p>
          <a:p>
            <a:pPr algn="l">
              <a:spcAft>
                <a:spcPts val="300"/>
              </a:spcAft>
            </a:pPr>
            <a:r>
              <a:rPr sz="1490" b="1" i="0">
                <a:solidFill>
                  <a:srgbClr val="0B5E6E"/>
                </a:solidFill>
                <a:latin typeface="Calibri (MS) Bold"/>
              </a:rPr>
              <a:t>Subsistem wisatawan</a:t>
            </a:r>
          </a:p>
          <a:p>
            <a:pPr algn="l">
              <a:spcAft>
                <a:spcPts val="300"/>
              </a:spcAft>
            </a:pPr>
            <a:r>
              <a:rPr sz="1210" b="1" i="1">
                <a:solidFill>
                  <a:srgbClr val="14313B"/>
                </a:solidFill>
                <a:latin typeface="Calibri (MS) Bold"/>
              </a:rPr>
              <a:t>LPE dan LPD (diagnostik)</a:t>
            </a:r>
          </a:p>
          <a:p>
            <a:pPr algn="l">
              <a:spcAft>
                <a:spcPts val="300"/>
              </a:spcAft>
            </a:pPr>
            <a:r>
              <a:rPr sz="1260" b="1" i="0">
                <a:solidFill>
                  <a:srgbClr val="0B5E6E"/>
                </a:solidFill>
                <a:latin typeface="Calibri (MS) Bold"/>
              </a:rPr>
              <a:t>Diperiksa  </a:t>
            </a:r>
            <a:r>
              <a:rPr sz="1260" b="0" i="0">
                <a:solidFill>
                  <a:srgbClr val="14313B"/>
                </a:solidFill>
                <a:latin typeface="Calibri (MS)"/>
              </a:rPr>
              <a:t>Seberapa besar LPE yang dituntut data. Tidak dicari nilai optimum karena LPE dan LPD tidak memenuhi syarat dikalibrasi.</a:t>
            </a:r>
          </a:p>
          <a:p>
            <a:pPr algn="l">
              <a:spcAft>
                <a:spcPts val="300"/>
              </a:spcAft>
            </a:pPr>
            <a:r>
              <a:rPr sz="1260" b="1" i="0">
                <a:solidFill>
                  <a:srgbClr val="0B5E6E"/>
                </a:solidFill>
                <a:latin typeface="Calibri (MS) Bold"/>
              </a:rPr>
              <a:t>Temuan  </a:t>
            </a:r>
            <a:r>
              <a:rPr sz="1260" b="0" i="0">
                <a:solidFill>
                  <a:srgbClr val="14313B"/>
                </a:solidFill>
                <a:latin typeface="Calibri (MS)"/>
              </a:rPr>
              <a:t>Data menuntut LPE 0,410–0,490, tetapi banyak pasangan LPE–LPD yang sama baiknya (LPE 0,26–0,80): data hanya bisa menentukan selisih keduanya.</a:t>
            </a:r>
          </a:p>
          <a:p>
            <a:pPr algn="l">
              <a:spcAft>
                <a:spcPts val="300"/>
              </a:spcAft>
            </a:pPr>
            <a:r>
              <a:rPr sz="1260" b="1" i="0">
                <a:solidFill>
                  <a:srgbClr val="0B5E6E"/>
                </a:solidFill>
                <a:latin typeface="Calibri (MS) Bold"/>
              </a:rPr>
              <a:t>Penyebab  </a:t>
            </a:r>
            <a:r>
              <a:rPr sz="1260" b="0" i="0">
                <a:solidFill>
                  <a:srgbClr val="14313B"/>
                </a:solidFill>
                <a:latin typeface="Calibri (MS)"/>
              </a:rPr>
              <a:t>Lonjakan pascapandemi 2022–2024 (puncak 24,86%) di luar cakupan model.</a:t>
            </a:r>
          </a:p>
        </p:txBody>
      </p:sp>
      <p:sp>
        <p:nvSpPr>
          <p:cNvPr id="166" name="Rounded Rectangle 165"/>
          <p:cNvSpPr/>
          <p:nvPr/>
        </p:nvSpPr>
        <p:spPr>
          <a:xfrm>
            <a:off x="11041380" y="6858000"/>
            <a:ext cx="2926080" cy="50292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300"/>
              </a:spcAft>
            </a:pPr>
            <a:r>
              <a:rPr sz="1210" b="1" i="0">
                <a:solidFill>
                  <a:srgbClr val="FFFFFF"/>
                </a:solidFill>
                <a:latin typeface="Calibri (MS) Bold"/>
              </a:rPr>
              <a:t>Tetap 0,27726 dan 0,207945</a:t>
            </a:r>
          </a:p>
        </p:txBody>
      </p:sp>
      <p:sp>
        <p:nvSpPr>
          <p:cNvPr id="167" name="Right Arrow 166"/>
          <p:cNvSpPr/>
          <p:nvPr/>
        </p:nvSpPr>
        <p:spPr>
          <a:xfrm>
            <a:off x="14086332" y="4480560"/>
            <a:ext cx="196596" cy="274320"/>
          </a:xfrm>
          <a:prstGeom prst="rightArrow">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Rounded Rectangle 167"/>
          <p:cNvSpPr/>
          <p:nvPr/>
        </p:nvSpPr>
        <p:spPr>
          <a:xfrm>
            <a:off x="14264640" y="1783080"/>
            <a:ext cx="3200400" cy="57150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9728" bIns="109728"/>
          <a:lstStyle/>
          <a:p>
            <a:pPr algn="l">
              <a:spcAft>
                <a:spcPts val="300"/>
              </a:spcAft>
            </a:pPr>
            <a:r>
              <a:rPr sz="1150" b="1" i="0">
                <a:solidFill>
                  <a:srgbClr val="5E6E78"/>
                </a:solidFill>
                <a:latin typeface="Calibri (MS) Bold"/>
              </a:rPr>
              <a:t>TAHAP 4</a:t>
            </a:r>
          </a:p>
          <a:p>
            <a:pPr algn="l">
              <a:spcAft>
                <a:spcPts val="300"/>
              </a:spcAft>
            </a:pPr>
            <a:r>
              <a:rPr sz="1490" b="1" i="0">
                <a:solidFill>
                  <a:srgbClr val="0B5E6E"/>
                </a:solidFill>
                <a:latin typeface="Calibri (MS) Bold"/>
              </a:rPr>
              <a:t>Uji kompatibilitas</a:t>
            </a:r>
          </a:p>
          <a:p>
            <a:pPr algn="l">
              <a:spcAft>
                <a:spcPts val="300"/>
              </a:spcAft>
            </a:pPr>
            <a:r>
              <a:rPr sz="1210" b="1" i="1">
                <a:solidFill>
                  <a:srgbClr val="14313B"/>
                </a:solidFill>
                <a:latin typeface="Calibri (MS) Bold"/>
              </a:rPr>
              <a:t>Hasil Tahap 2 di model penuh</a:t>
            </a:r>
          </a:p>
          <a:p>
            <a:pPr algn="l">
              <a:spcAft>
                <a:spcPts val="300"/>
              </a:spcAft>
            </a:pPr>
            <a:r>
              <a:rPr sz="1260" b="1" i="0">
                <a:solidFill>
                  <a:srgbClr val="0B5E6E"/>
                </a:solidFill>
                <a:latin typeface="Calibri (MS) Bold"/>
              </a:rPr>
              <a:t>Diperiksa  </a:t>
            </a:r>
            <a:r>
              <a:rPr sz="1260" b="0" i="0">
                <a:solidFill>
                  <a:srgbClr val="14313B"/>
                </a:solidFill>
                <a:latin typeface="Calibri (MS)"/>
              </a:rPr>
              <a:t>Laju konversi 0,0639 dicoba pada model penuh (13 baris variabel).</a:t>
            </a:r>
          </a:p>
          <a:p>
            <a:pPr algn="l">
              <a:spcAft>
                <a:spcPts val="300"/>
              </a:spcAft>
            </a:pPr>
            <a:r>
              <a:rPr sz="1260" b="1" i="0">
                <a:solidFill>
                  <a:srgbClr val="0B5E6E"/>
                </a:solidFill>
                <a:latin typeface="Calibri (MS) Bold"/>
              </a:rPr>
              <a:t>Temuan  </a:t>
            </a:r>
            <a:r>
              <a:rPr sz="1260" b="0" i="0">
                <a:solidFill>
                  <a:srgbClr val="14313B"/>
                </a:solidFill>
                <a:latin typeface="Calibri (MS)"/>
              </a:rPr>
              <a:t>12 baris praktis tidak berubah, tetapi lahan terbangun pada uji penuh memburuk 32,4% (rasio 1,32 &gt; 1,05, pemicu M1).</a:t>
            </a:r>
          </a:p>
          <a:p>
            <a:pPr algn="l">
              <a:spcAft>
                <a:spcPts val="300"/>
              </a:spcAft>
            </a:pPr>
            <a:r>
              <a:rPr sz="1260" b="1" i="0">
                <a:solidFill>
                  <a:srgbClr val="0B5E6E"/>
                </a:solidFill>
                <a:latin typeface="Calibri (MS) Bold"/>
              </a:rPr>
              <a:t>Penyebab  </a:t>
            </a:r>
            <a:r>
              <a:rPr sz="1260" b="0" i="0">
                <a:solidFill>
                  <a:srgbClr val="14313B"/>
                </a:solidFill>
                <a:latin typeface="Calibri (MS)"/>
              </a:rPr>
              <a:t>Uji P4 mulai 2016 dari lahan rendah; uji penuh mulai 2019 dari lahan yang sudah tinggi.</a:t>
            </a:r>
          </a:p>
        </p:txBody>
      </p:sp>
      <p:sp>
        <p:nvSpPr>
          <p:cNvPr id="169" name="Rounded Rectangle 168"/>
          <p:cNvSpPr/>
          <p:nvPr/>
        </p:nvSpPr>
        <p:spPr>
          <a:xfrm>
            <a:off x="14401800" y="6858000"/>
            <a:ext cx="2926080" cy="502920"/>
          </a:xfrm>
          <a:prstGeom prst="roundRect">
            <a:avLst>
              <a:gd name="adj" fmla="val 8000"/>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300"/>
              </a:spcAft>
            </a:pPr>
            <a:r>
              <a:rPr sz="1210" b="1" i="0">
                <a:solidFill>
                  <a:srgbClr val="FFFFFF"/>
                </a:solidFill>
                <a:latin typeface="Calibri (MS) Bold"/>
              </a:rPr>
              <a:t>Ditolak → kembali 0,0436</a:t>
            </a:r>
          </a:p>
        </p:txBody>
      </p:sp>
      <p:sp>
        <p:nvSpPr>
          <p:cNvPr id="170" name="Rounded Rectangle 169"/>
          <p:cNvSpPr/>
          <p:nvPr/>
        </p:nvSpPr>
        <p:spPr>
          <a:xfrm>
            <a:off x="822960" y="7635240"/>
            <a:ext cx="16642080" cy="141732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lstStyle/>
          <a:p>
            <a:pPr algn="l">
              <a:spcAft>
                <a:spcPts val="300"/>
              </a:spcAft>
            </a:pPr>
            <a:r>
              <a:rPr sz="1610" b="1" i="0">
                <a:solidFill>
                  <a:srgbClr val="FFD23B"/>
                </a:solidFill>
                <a:latin typeface="Calibri (MS) Bold"/>
              </a:rPr>
              <a:t>3 parameter dikalibrasi (batas TPK, laju demolisi, laju konversi) → 0 diganti</a:t>
            </a:r>
          </a:p>
          <a:p>
            <a:pPr algn="l">
              <a:spcAft>
                <a:spcPts val="300"/>
              </a:spcAft>
            </a:pPr>
            <a:r>
              <a:rPr sz="1320" b="0" i="0">
                <a:solidFill>
                  <a:srgbClr val="FFFFFF"/>
                </a:solidFill>
                <a:latin typeface="Calibri (MS)"/>
              </a:rPr>
              <a:t>Nilai yang dihitung dari data sudah dapat dipertanggungjawabkan. Selisih yang tersisa pada wisatawan berasal dari lonjakan pascapandemi di luar cakupan model, bukan dari nilai parameter.</a:t>
            </a:r>
          </a:p>
        </p:txBody>
      </p:sp>
      <p:sp>
        <p:nvSpPr>
          <p:cNvPr id="171" name="TextBox 170"/>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4.6 (Tabel 48–55). LPE = laju pertumbuhan eksternal; LPD = laju penurunan dasar.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DAHXA7-drhs</dc:identifier>
  <dcterms:modified xsi:type="dcterms:W3CDTF">2011-08-01T06:04:30Z</dcterms:modified>
  <cp:revision>1</cp:revision>
  <dc:title>[Lengkap] PPT SIDANG FINAL</dc:title>
</cp:coreProperties>
</file>