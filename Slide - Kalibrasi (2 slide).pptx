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58.svg" ContentType="image/svg+xml"/>
  <Override PartName="/ppt/notesMasters/notesMaster1.xml" ContentType="application/vnd.openxmlformats-officedocument.presentationml.notesMaster+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303" r:id="rId53"/>
    <p:sldId id="304" r:id="rId54"/>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53" Type="http://schemas.openxmlformats.org/officeDocument/2006/relationships/slide" Target="slides/slide1.xml"/><Relationship Id="rId54" Type="http://schemas.openxmlformats.org/officeDocument/2006/relationships/slide" Target="slides/slide2.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4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Kalibrasi pada penelitian ini dipakai sebagai alat uji, mengikuti Oliva 2003. Pertanyaannya: apakah selisih yang berpola pada uji perilaku bisa dijelaskan oleh nilai parameter, atau berasal dari luar parameter. Supaya tidak sekadar mencari nilai yang paling cocok, ada lima ketentuan yang ditetapkan sebelum pencarian: hanya parameter yang belum pasti yang dikalibrasi, rentangnya punya dasar, parameter berpasangan dihitung ulang, kecocokan diukur dengan NRMSE, dan nilai yang selisihnya paling banyak 5 persen dari nilai terbaik dianggap sama baiknya. Keputusannya mengikuti empat aturan. Kalau nilai dari data sudah termasuk kelompok sama baiknya, atau data tidak bisa menentukan nilainya, nilai dari data dipertahankan. Kalau nilai terbaik ada di batas rentang, diperiksa apakah hanya ditarik satu tahun. Nilai baru baru dipakai kalau juga lolos uji kompatibilitas pada model penuh.</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Kalibrasi dijalankan dalam lima tahap. Tahap 0 bukan kalibrasi, melainkan koreksi: cara menghitung LPE dan LPD disesuaikan dengan persamaan model, dan uji ekstrem tetap memberi hasil yang sama. Tahap 1 pada subsistem akomodasi: nilai terbaik memperbaiki 11,64 persen, tetapi berada di batas rentang dan ternyata ditarik oleh tahun 2019; tanpa tahun itu perbaikannya tinggal 5,74 persen. Jadi nilai dari data dipertahankan. Tahap 2 pada subsistem lahan: laju konversi 0,0639 memperbaiki 14,76 persen dan memenuhi syarat, sehingga sementara diadopsi. Tahap 3 pada subsistem wisatawan bersifat diagnostik: data menuntut LPE yang lebih tinggi, tetapi data hanya bisa menentukan selisih LPE dan LPD, dan penyebab selisihnya adalah lonjakan pascapandemi. Tahap 4 menguji hasil Tahap 2 pada model penuh: lahan terbangun justru memburuk 32,4 persen, sehingga hasilnya ditolak. Kesimpulannya, dari tiga parameter yang dikalibrasi, tidak ada yang diganti.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7.png"/><Relationship Id="rId8" Type="http://schemas.openxmlformats.org/officeDocument/2006/relationships/image" Target="../media/image58.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Kalibrasi (1/2): Aturan yang Ditetapkan Sejak Awal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Kalibrasi dipakai untuk menguji nilai parameter, bukan sekadar mencari nilai yang paling cocok dengan data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21" id="121"/>
          <p:cNvGrpSpPr/>
          <p:nvPr/>
        </p:nvGrpSpPr>
        <p:grpSpPr>
          <a:xfrm rot="0">
            <a:off x="12755880" y="274320"/>
            <a:ext cx="3931920" cy="411480"/>
            <a:chOff x="0" y="0"/>
            <a:chExt cx="5242560" cy="548640"/>
          </a:xfrm>
        </p:grpSpPr>
        <p:sp>
          <p:nvSpPr>
            <p:cNvPr name="Freeform 122" id="12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3" id="12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sp>
        <p:nvSpPr>
          <p:cNvPr id="124" name="Rounded Rectangle 123"/>
          <p:cNvSpPr/>
          <p:nvPr/>
        </p:nvSpPr>
        <p:spPr>
          <a:xfrm>
            <a:off x="822960" y="1783080"/>
            <a:ext cx="8138160" cy="11430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380" b="1" i="0">
                <a:solidFill>
                  <a:srgbClr val="0B5E6E"/>
                </a:solidFill>
                <a:latin typeface="Calibri (MS) Bold"/>
              </a:rPr>
              <a:t>Tujuan  </a:t>
            </a:r>
            <a:r>
              <a:rPr sz="1260" b="0" i="0">
                <a:solidFill>
                  <a:srgbClr val="14313B"/>
                </a:solidFill>
                <a:latin typeface="Calibri (MS)"/>
              </a:rPr>
              <a:t>Memeriksa apakah selisih yang berpola pada uji perilaku bisa dijelaskan oleh nilai parameter, atau justru berasal dari luar parameter (gangguan data atau hal di luar cakupan model). Kalibrasi diposisikan sebagai alat uji (Oliva, 2003).</a:t>
            </a:r>
          </a:p>
        </p:txBody>
      </p:sp>
      <p:sp>
        <p:nvSpPr>
          <p:cNvPr id="125" name="Rounded Rectangle 124"/>
          <p:cNvSpPr/>
          <p:nvPr/>
        </p:nvSpPr>
        <p:spPr>
          <a:xfrm>
            <a:off x="822960" y="3063240"/>
            <a:ext cx="813816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Lima ketentuan</a:t>
            </a:r>
          </a:p>
        </p:txBody>
      </p:sp>
      <p:sp>
        <p:nvSpPr>
          <p:cNvPr id="126" name="Oval 125"/>
          <p:cNvSpPr/>
          <p:nvPr/>
        </p:nvSpPr>
        <p:spPr>
          <a:xfrm>
            <a:off x="868680" y="3739896"/>
            <a:ext cx="457200" cy="45720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90" b="1" i="0">
                <a:solidFill>
                  <a:srgbClr val="FFFFFF"/>
                </a:solidFill>
                <a:latin typeface="Calibri (MS) Bold"/>
              </a:rPr>
              <a:t>1</a:t>
            </a:r>
          </a:p>
        </p:txBody>
      </p:sp>
      <p:sp>
        <p:nvSpPr>
          <p:cNvPr id="127" name="Rounded Rectangle 126"/>
          <p:cNvSpPr/>
          <p:nvPr/>
        </p:nvSpPr>
        <p:spPr>
          <a:xfrm>
            <a:off x="1463040" y="3611880"/>
            <a:ext cx="7498079" cy="804672"/>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300"/>
              </a:spcAft>
            </a:pPr>
            <a:r>
              <a:rPr sz="1260" b="1" i="0">
                <a:solidFill>
                  <a:srgbClr val="0B5E6E"/>
                </a:solidFill>
                <a:latin typeface="Calibri (MS) Bold"/>
              </a:rPr>
              <a:t>Parameter dibatasi</a:t>
            </a:r>
          </a:p>
          <a:p>
            <a:pPr algn="l">
              <a:spcAft>
                <a:spcPts val="300"/>
              </a:spcAft>
            </a:pPr>
            <a:r>
              <a:rPr sz="1150" b="0" i="0">
                <a:solidFill>
                  <a:srgbClr val="14313B"/>
                </a:solidFill>
                <a:latin typeface="Calibri (MS)"/>
              </a:rPr>
              <a:t>Hanya parameter yang nilainya belum pasti (asumsi/estimasi). Data resmi, hasil persamaan stok-aliran, dan nilai acuan tahun dasar tidak dikalibrasi.</a:t>
            </a:r>
          </a:p>
        </p:txBody>
      </p:sp>
      <p:sp>
        <p:nvSpPr>
          <p:cNvPr id="128" name="Oval 127"/>
          <p:cNvSpPr/>
          <p:nvPr/>
        </p:nvSpPr>
        <p:spPr>
          <a:xfrm>
            <a:off x="868680" y="4636007"/>
            <a:ext cx="457200" cy="45720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90" b="1" i="0">
                <a:solidFill>
                  <a:srgbClr val="FFFFFF"/>
                </a:solidFill>
                <a:latin typeface="Calibri (MS) Bold"/>
              </a:rPr>
              <a:t>2</a:t>
            </a:r>
          </a:p>
        </p:txBody>
      </p:sp>
      <p:sp>
        <p:nvSpPr>
          <p:cNvPr id="129" name="Rounded Rectangle 128"/>
          <p:cNvSpPr/>
          <p:nvPr/>
        </p:nvSpPr>
        <p:spPr>
          <a:xfrm>
            <a:off x="1463040" y="4507992"/>
            <a:ext cx="7498079" cy="804672"/>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300"/>
              </a:spcAft>
            </a:pPr>
            <a:r>
              <a:rPr sz="1260" b="1" i="0">
                <a:solidFill>
                  <a:srgbClr val="0B5E6E"/>
                </a:solidFill>
                <a:latin typeface="Calibri (MS) Bold"/>
              </a:rPr>
              <a:t>Rentang pencarian punya dasar</a:t>
            </a:r>
          </a:p>
          <a:p>
            <a:pPr algn="l">
              <a:spcAft>
                <a:spcPts val="300"/>
              </a:spcAft>
            </a:pPr>
            <a:r>
              <a:rPr sz="1150" b="0" i="0">
                <a:solidFill>
                  <a:srgbClr val="14313B"/>
                </a:solidFill>
                <a:latin typeface="Calibri (MS)"/>
              </a:rPr>
              <a:t>Diambil dari beberapa rujukan, atau dari selang kepercayaan 95% hasil estimasi tren.</a:t>
            </a:r>
          </a:p>
        </p:txBody>
      </p:sp>
      <p:sp>
        <p:nvSpPr>
          <p:cNvPr id="130" name="Oval 129"/>
          <p:cNvSpPr/>
          <p:nvPr/>
        </p:nvSpPr>
        <p:spPr>
          <a:xfrm>
            <a:off x="868680" y="5532120"/>
            <a:ext cx="457200" cy="45720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90" b="1" i="0">
                <a:solidFill>
                  <a:srgbClr val="FFFFFF"/>
                </a:solidFill>
                <a:latin typeface="Calibri (MS) Bold"/>
              </a:rPr>
              <a:t>3</a:t>
            </a:r>
          </a:p>
        </p:txBody>
      </p:sp>
      <p:sp>
        <p:nvSpPr>
          <p:cNvPr id="131" name="Rounded Rectangle 130"/>
          <p:cNvSpPr/>
          <p:nvPr/>
        </p:nvSpPr>
        <p:spPr>
          <a:xfrm>
            <a:off x="1463040" y="5404104"/>
            <a:ext cx="7498079" cy="804672"/>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300"/>
              </a:spcAft>
            </a:pPr>
            <a:r>
              <a:rPr sz="1260" b="1" i="0">
                <a:solidFill>
                  <a:srgbClr val="0B5E6E"/>
                </a:solidFill>
                <a:latin typeface="Calibri (MS) Bold"/>
              </a:rPr>
              <a:t>Parameter berpasangan dihitung ulang</a:t>
            </a:r>
          </a:p>
          <a:p>
            <a:pPr algn="l">
              <a:spcAft>
                <a:spcPts val="300"/>
              </a:spcAft>
            </a:pPr>
            <a:r>
              <a:rPr sz="1150" b="0" i="0">
                <a:solidFill>
                  <a:srgbClr val="14313B"/>
                </a:solidFill>
                <a:latin typeface="Calibri (MS)"/>
              </a:rPr>
              <a:t>Setiap nilai yang dicoba, pasangannya dihitung ulang dengan persamaan stok-aliran agar tetap sesuai data historis.</a:t>
            </a:r>
          </a:p>
        </p:txBody>
      </p:sp>
      <p:sp>
        <p:nvSpPr>
          <p:cNvPr id="132" name="Oval 131"/>
          <p:cNvSpPr/>
          <p:nvPr/>
        </p:nvSpPr>
        <p:spPr>
          <a:xfrm>
            <a:off x="868680" y="6428232"/>
            <a:ext cx="457200" cy="45720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90" b="1" i="0">
                <a:solidFill>
                  <a:srgbClr val="FFFFFF"/>
                </a:solidFill>
                <a:latin typeface="Calibri (MS) Bold"/>
              </a:rPr>
              <a:t>4</a:t>
            </a:r>
          </a:p>
        </p:txBody>
      </p:sp>
      <p:sp>
        <p:nvSpPr>
          <p:cNvPr id="133" name="Rounded Rectangle 132"/>
          <p:cNvSpPr/>
          <p:nvPr/>
        </p:nvSpPr>
        <p:spPr>
          <a:xfrm>
            <a:off x="1463040" y="6300216"/>
            <a:ext cx="7498079" cy="804672"/>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300"/>
              </a:spcAft>
            </a:pPr>
            <a:r>
              <a:rPr sz="1260" b="1" i="0">
                <a:solidFill>
                  <a:srgbClr val="0B5E6E"/>
                </a:solidFill>
                <a:latin typeface="Calibri (MS) Bold"/>
              </a:rPr>
              <a:t>Ukuran kecocokan: NRMSE</a:t>
            </a:r>
          </a:p>
          <a:p>
            <a:pPr algn="l">
              <a:spcAft>
                <a:spcPts val="300"/>
              </a:spcAft>
            </a:pPr>
            <a:r>
              <a:rPr sz="1150" b="0" i="0">
                <a:solidFill>
                  <a:srgbClr val="14313B"/>
                </a:solidFill>
                <a:latin typeface="Calibri (MS)"/>
              </a:rPr>
              <a:t>Selisih simulasi dan data, dibandingkan dengan rata-rata data; makin kecil makin cocok. MAPE sebagai pelengkap.</a:t>
            </a:r>
          </a:p>
        </p:txBody>
      </p:sp>
      <p:sp>
        <p:nvSpPr>
          <p:cNvPr id="134" name="Oval 133"/>
          <p:cNvSpPr/>
          <p:nvPr/>
        </p:nvSpPr>
        <p:spPr>
          <a:xfrm>
            <a:off x="868680" y="7324344"/>
            <a:ext cx="457200" cy="457200"/>
          </a:xfrm>
          <a:prstGeom prst="ellipse">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90" b="1" i="0">
                <a:solidFill>
                  <a:srgbClr val="FFFFFF"/>
                </a:solidFill>
                <a:latin typeface="Calibri (MS) Bold"/>
              </a:rPr>
              <a:t>5</a:t>
            </a:r>
          </a:p>
        </p:txBody>
      </p:sp>
      <p:sp>
        <p:nvSpPr>
          <p:cNvPr id="135" name="Rounded Rectangle 134"/>
          <p:cNvSpPr/>
          <p:nvPr/>
        </p:nvSpPr>
        <p:spPr>
          <a:xfrm>
            <a:off x="1463040" y="7196328"/>
            <a:ext cx="7498079" cy="804672"/>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300"/>
              </a:spcAft>
            </a:pPr>
            <a:r>
              <a:rPr sz="1260" b="1" i="0">
                <a:solidFill>
                  <a:srgbClr val="0B5E6E"/>
                </a:solidFill>
                <a:latin typeface="Calibri (MS) Bold"/>
              </a:rPr>
              <a:t>Batas "sama baiknya" 5%</a:t>
            </a:r>
          </a:p>
          <a:p>
            <a:pPr algn="l">
              <a:spcAft>
                <a:spcPts val="300"/>
              </a:spcAft>
            </a:pPr>
            <a:r>
              <a:rPr sz="1150" b="0" i="0">
                <a:solidFill>
                  <a:srgbClr val="14313B"/>
                </a:solidFill>
                <a:latin typeface="Calibri (MS)"/>
              </a:rPr>
              <a:t>Semua nilai yang hasilnya paling buruk 5% di atas nilai terbaik dianggap sama baiknya.</a:t>
            </a:r>
          </a:p>
        </p:txBody>
      </p:sp>
      <p:sp>
        <p:nvSpPr>
          <p:cNvPr id="136" name="Rounded Rectangle 135"/>
          <p:cNvSpPr/>
          <p:nvPr/>
        </p:nvSpPr>
        <p:spPr>
          <a:xfrm>
            <a:off x="9281160" y="1783080"/>
            <a:ext cx="8183879"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Aturan keputusan</a:t>
            </a:r>
            <a:r>
              <a:rPr sz="1260" b="0" i="0">
                <a:solidFill>
                  <a:srgbClr val="D7EEF2"/>
                </a:solidFill>
                <a:latin typeface="Calibri (MS)"/>
              </a:rPr>
              <a:t>   dipakai pada setiap tahap</a:t>
            </a:r>
          </a:p>
        </p:txBody>
      </p:sp>
      <p:graphicFrame>
        <p:nvGraphicFramePr>
          <p:cNvPr id="137" name="Table 136"/>
          <p:cNvGraphicFramePr>
            <a:graphicFrameLocks noGrp="1"/>
          </p:cNvGraphicFramePr>
          <p:nvPr/>
        </p:nvGraphicFramePr>
        <p:xfrm>
          <a:off x="9281160" y="2286000"/>
          <a:ext cx="8183880" cy="3291840"/>
        </p:xfrm>
        <a:graphic>
          <a:graphicData uri="http://schemas.openxmlformats.org/drawingml/2006/table">
            <a:tbl>
              <a:tblPr firstRow="1" bandRow="1">
                <a:tableStyleId>{5C22544A-7EE6-4342-B048-85BDC9FD1C3A}</a:tableStyleId>
              </a:tblPr>
              <a:tblGrid>
                <a:gridCol w="457200"/>
                <a:gridCol w="3291840"/>
                <a:gridCol w="4434840"/>
              </a:tblGrid>
              <a:tr h="658368">
                <a:tc>
                  <a:txBody>
                    <a:bodyPr wrap="square"/>
                    <a:lstStyle/>
                    <a:p>
                      <a:r>
                        <a:rPr sz="1150" b="1" i="0">
                          <a:solidFill>
                            <a:srgbClr val="FFFFFF"/>
                          </a:solidFill>
                          <a:latin typeface="Calibri (MS) Bold"/>
                        </a:rPr>
                        <a:t/>
                      </a:r>
                    </a:p>
                  </a:txBody>
                  <a:tcPr marL="73152" marR="73152" marT="36576" marB="36576" anchor="ctr">
                    <a:solidFill>
                      <a:srgbClr val="0B5E6E"/>
                    </a:solidFill>
                  </a:tcPr>
                </a:tc>
                <a:tc>
                  <a:txBody>
                    <a:bodyPr wrap="square"/>
                    <a:lstStyle/>
                    <a:p>
                      <a:r>
                        <a:rPr sz="1150" b="1" i="0">
                          <a:solidFill>
                            <a:srgbClr val="FFFFFF"/>
                          </a:solidFill>
                          <a:latin typeface="Calibri (MS) Bold"/>
                        </a:rPr>
                        <a:t>Kondisi</a:t>
                      </a:r>
                    </a:p>
                  </a:txBody>
                  <a:tcPr marL="73152" marR="73152" marT="36576" marB="36576" anchor="ctr">
                    <a:solidFill>
                      <a:srgbClr val="0B5E6E"/>
                    </a:solidFill>
                  </a:tcPr>
                </a:tc>
                <a:tc>
                  <a:txBody>
                    <a:bodyPr wrap="square"/>
                    <a:lstStyle/>
                    <a:p>
                      <a:r>
                        <a:rPr sz="1150" b="1" i="0">
                          <a:solidFill>
                            <a:srgbClr val="FFFFFF"/>
                          </a:solidFill>
                          <a:latin typeface="Calibri (MS) Bold"/>
                        </a:rPr>
                        <a:t>Keputusan</a:t>
                      </a:r>
                    </a:p>
                  </a:txBody>
                  <a:tcPr marL="73152" marR="73152" marT="36576" marB="36576" anchor="ctr">
                    <a:solidFill>
                      <a:srgbClr val="0B5E6E"/>
                    </a:solidFill>
                  </a:tcPr>
                </a:tc>
              </a:tr>
              <a:tr h="658368">
                <a:tc>
                  <a:txBody>
                    <a:bodyPr wrap="square"/>
                    <a:lstStyle/>
                    <a:p>
                      <a:pPr algn="ctr"/>
                      <a:r>
                        <a:rPr sz="1150" b="1" i="0">
                          <a:solidFill>
                            <a:srgbClr val="0B5E6E"/>
                          </a:solidFill>
                          <a:latin typeface="Calibri (MS)"/>
                        </a:rPr>
                        <a:t>R1</a:t>
                      </a:r>
                    </a:p>
                  </a:txBody>
                  <a:tcPr marL="73152" marR="73152" marT="36576" marB="36576" anchor="ctr">
                    <a:solidFill>
                      <a:srgbClr val="FFFFFF"/>
                    </a:solidFill>
                  </a:tcPr>
                </a:tc>
                <a:tc>
                  <a:txBody>
                    <a:bodyPr wrap="square"/>
                    <a:lstStyle/>
                    <a:p>
                      <a:r>
                        <a:rPr sz="1150" b="0" i="0">
                          <a:solidFill>
                            <a:srgbClr val="14313B"/>
                          </a:solidFill>
                          <a:latin typeface="Calibri (MS)"/>
                        </a:rPr>
                        <a:t>Nilai dari data termasuk kelompok "sama baiknya"</a:t>
                      </a:r>
                    </a:p>
                  </a:txBody>
                  <a:tcPr marL="73152" marR="73152" marT="36576" marB="36576" anchor="ctr">
                    <a:solidFill>
                      <a:srgbClr val="FFFFFF"/>
                    </a:solidFill>
                  </a:tcPr>
                </a:tc>
                <a:tc>
                  <a:txBody>
                    <a:bodyPr wrap="square"/>
                    <a:lstStyle/>
                    <a:p>
                      <a:r>
                        <a:rPr sz="1150" b="0" i="0">
                          <a:solidFill>
                            <a:srgbClr val="14313B"/>
                          </a:solidFill>
                          <a:latin typeface="Calibri (MS)"/>
                        </a:rPr>
                        <a:t>Perbaikannya tidak berarti → nilai dari data dipertahankan</a:t>
                      </a:r>
                    </a:p>
                  </a:txBody>
                  <a:tcPr marL="73152" marR="73152" marT="36576" marB="36576" anchor="ctr">
                    <a:solidFill>
                      <a:srgbClr val="FFFFFF"/>
                    </a:solidFill>
                  </a:tcPr>
                </a:tc>
              </a:tr>
              <a:tr h="658368">
                <a:tc>
                  <a:txBody>
                    <a:bodyPr wrap="square"/>
                    <a:lstStyle/>
                    <a:p>
                      <a:pPr algn="ctr"/>
                      <a:r>
                        <a:rPr sz="1150" b="1" i="0">
                          <a:solidFill>
                            <a:srgbClr val="0B5E6E"/>
                          </a:solidFill>
                          <a:latin typeface="Calibri (MS)"/>
                        </a:rPr>
                        <a:t>R2</a:t>
                      </a:r>
                    </a:p>
                  </a:txBody>
                  <a:tcPr marL="73152" marR="73152" marT="36576" marB="36576" anchor="ctr">
                    <a:solidFill>
                      <a:srgbClr val="EAF8FA"/>
                    </a:solidFill>
                  </a:tcPr>
                </a:tc>
                <a:tc>
                  <a:txBody>
                    <a:bodyPr wrap="square"/>
                    <a:lstStyle/>
                    <a:p>
                      <a:r>
                        <a:rPr sz="1150" b="0" i="0">
                          <a:solidFill>
                            <a:srgbClr val="14313B"/>
                          </a:solidFill>
                          <a:latin typeface="Calibri (MS)"/>
                        </a:rPr>
                        <a:t>Kelompok "sama baiknya" membentang dari ujung ke ujung rentang</a:t>
                      </a:r>
                    </a:p>
                  </a:txBody>
                  <a:tcPr marL="73152" marR="73152" marT="36576" marB="36576" anchor="ctr">
                    <a:solidFill>
                      <a:srgbClr val="EAF8FA"/>
                    </a:solidFill>
                  </a:tcPr>
                </a:tc>
                <a:tc>
                  <a:txBody>
                    <a:bodyPr wrap="square"/>
                    <a:lstStyle/>
                    <a:p>
                      <a:r>
                        <a:rPr sz="1150" b="0" i="0">
                          <a:solidFill>
                            <a:srgbClr val="14313B"/>
                          </a:solidFill>
                          <a:latin typeface="Calibri (MS)"/>
                        </a:rPr>
                        <a:t>Data tidak bisa menentukan nilainya → nilai dari data dipertahankan</a:t>
                      </a:r>
                    </a:p>
                  </a:txBody>
                  <a:tcPr marL="73152" marR="73152" marT="36576" marB="36576" anchor="ctr">
                    <a:solidFill>
                      <a:srgbClr val="EAF8FA"/>
                    </a:solidFill>
                  </a:tcPr>
                </a:tc>
              </a:tr>
              <a:tr h="658368">
                <a:tc>
                  <a:txBody>
                    <a:bodyPr wrap="square"/>
                    <a:lstStyle/>
                    <a:p>
                      <a:pPr algn="ctr"/>
                      <a:r>
                        <a:rPr sz="1150" b="1" i="0">
                          <a:solidFill>
                            <a:srgbClr val="0B5E6E"/>
                          </a:solidFill>
                          <a:latin typeface="Calibri (MS)"/>
                        </a:rPr>
                        <a:t>R3</a:t>
                      </a:r>
                    </a:p>
                  </a:txBody>
                  <a:tcPr marL="73152" marR="73152" marT="36576" marB="36576" anchor="ctr">
                    <a:solidFill>
                      <a:srgbClr val="FFFFFF"/>
                    </a:solidFill>
                  </a:tcPr>
                </a:tc>
                <a:tc>
                  <a:txBody>
                    <a:bodyPr wrap="square"/>
                    <a:lstStyle/>
                    <a:p>
                      <a:r>
                        <a:rPr sz="1150" b="0" i="0">
                          <a:solidFill>
                            <a:srgbClr val="14313B"/>
                          </a:solidFill>
                          <a:latin typeface="Calibri (MS)"/>
                        </a:rPr>
                        <a:t>Nilai terbaik tepat di batas rentang</a:t>
                      </a:r>
                    </a:p>
                  </a:txBody>
                  <a:tcPr marL="73152" marR="73152" marT="36576" marB="36576" anchor="ctr">
                    <a:solidFill>
                      <a:srgbClr val="FFFFFF"/>
                    </a:solidFill>
                  </a:tcPr>
                </a:tc>
                <a:tc>
                  <a:txBody>
                    <a:bodyPr wrap="square"/>
                    <a:lstStyle/>
                    <a:p>
                      <a:r>
                        <a:rPr sz="1150" b="0" i="0">
                          <a:solidFill>
                            <a:srgbClr val="14313B"/>
                          </a:solidFill>
                          <a:latin typeface="Calibri (MS)"/>
                        </a:rPr>
                        <a:t>Diperiksa ulang: tiap tahun dikeluarkan satu per satu, apakah satu tahun saja yang menariknya?</a:t>
                      </a:r>
                    </a:p>
                  </a:txBody>
                  <a:tcPr marL="73152" marR="73152" marT="36576" marB="36576" anchor="ctr">
                    <a:solidFill>
                      <a:srgbClr val="FFFFFF"/>
                    </a:solidFill>
                  </a:tcPr>
                </a:tc>
              </a:tr>
              <a:tr h="658368">
                <a:tc>
                  <a:txBody>
                    <a:bodyPr wrap="square"/>
                    <a:lstStyle/>
                    <a:p>
                      <a:pPr algn="ctr"/>
                      <a:r>
                        <a:rPr sz="1150" b="1" i="0">
                          <a:solidFill>
                            <a:srgbClr val="0B5E6E"/>
                          </a:solidFill>
                          <a:latin typeface="Calibri (MS)"/>
                        </a:rPr>
                        <a:t>R4</a:t>
                      </a:r>
                    </a:p>
                  </a:txBody>
                  <a:tcPr marL="73152" marR="73152" marT="36576" marB="36576" anchor="ctr">
                    <a:solidFill>
                      <a:srgbClr val="EAF8FA"/>
                    </a:solidFill>
                  </a:tcPr>
                </a:tc>
                <a:tc>
                  <a:txBody>
                    <a:bodyPr wrap="square"/>
                    <a:lstStyle/>
                    <a:p>
                      <a:r>
                        <a:rPr sz="1150" b="0" i="0">
                          <a:solidFill>
                            <a:srgbClr val="14313B"/>
                          </a:solidFill>
                          <a:latin typeface="Calibri (MS)"/>
                        </a:rPr>
                        <a:t>Selain ketiga kondisi di atas</a:t>
                      </a:r>
                    </a:p>
                  </a:txBody>
                  <a:tcPr marL="73152" marR="73152" marT="36576" marB="36576" anchor="ctr">
                    <a:solidFill>
                      <a:srgbClr val="EAF8FA"/>
                    </a:solidFill>
                  </a:tcPr>
                </a:tc>
                <a:tc>
                  <a:txBody>
                    <a:bodyPr wrap="square"/>
                    <a:lstStyle/>
                    <a:p>
                      <a:r>
                        <a:rPr sz="1150" b="0" i="0">
                          <a:solidFill>
                            <a:srgbClr val="14313B"/>
                          </a:solidFill>
                          <a:latin typeface="Calibri (MS)"/>
                        </a:rPr>
                        <a:t>Nilai terbaik dipakai, asalkan lolos uji kompatibilitas (Tahap 4)</a:t>
                      </a:r>
                    </a:p>
                  </a:txBody>
                  <a:tcPr marL="73152" marR="73152" marT="36576" marB="36576" anchor="ctr">
                    <a:solidFill>
                      <a:srgbClr val="C9F0D6"/>
                    </a:solidFill>
                  </a:tcPr>
                </a:tc>
              </a:tr>
            </a:tbl>
          </a:graphicData>
        </a:graphic>
      </p:graphicFrame>
      <p:sp>
        <p:nvSpPr>
          <p:cNvPr id="138" name="Rounded Rectangle 137"/>
          <p:cNvSpPr/>
          <p:nvPr/>
        </p:nvSpPr>
        <p:spPr>
          <a:xfrm>
            <a:off x="9281160" y="5715000"/>
            <a:ext cx="8183879" cy="196596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260" b="1" i="0">
                <a:solidFill>
                  <a:srgbClr val="0B5E6E"/>
                </a:solidFill>
                <a:latin typeface="Calibri (MS) Bold"/>
              </a:rPr>
              <a:t>Uji kompatibilitas (Tahap 4): </a:t>
            </a:r>
            <a:r>
              <a:rPr sz="1260" b="0" i="0">
                <a:solidFill>
                  <a:srgbClr val="14313B"/>
                </a:solidFill>
                <a:latin typeface="Calibri (MS)"/>
              </a:rPr>
              <a:t>hasil kalibrasi dicoba pada model penuh dan ditolak bila</a:t>
            </a:r>
          </a:p>
          <a:p>
            <a:pPr algn="l">
              <a:spcAft>
                <a:spcPts val="300"/>
              </a:spcAft>
            </a:pPr>
            <a:r>
              <a:rPr sz="1210" b="1" i="0">
                <a:solidFill>
                  <a:srgbClr val="0B5E6E"/>
                </a:solidFill>
                <a:latin typeface="Calibri (MS) Bold"/>
              </a:rPr>
              <a:t>M1  </a:t>
            </a:r>
            <a:r>
              <a:rPr sz="1210" b="0" i="0">
                <a:solidFill>
                  <a:srgbClr val="14313B"/>
                </a:solidFill>
                <a:latin typeface="Calibri (MS)"/>
              </a:rPr>
              <a:t>NRMSE variabel sasaran memburuk lebih dari 5%</a:t>
            </a:r>
          </a:p>
          <a:p>
            <a:pPr algn="l">
              <a:spcAft>
                <a:spcPts val="300"/>
              </a:spcAft>
            </a:pPr>
            <a:r>
              <a:rPr sz="1210" b="1" i="0">
                <a:solidFill>
                  <a:srgbClr val="0B5E6E"/>
                </a:solidFill>
                <a:latin typeface="Calibri (MS) Bold"/>
              </a:rPr>
              <a:t>M2  </a:t>
            </a:r>
            <a:r>
              <a:rPr sz="1210" b="0" i="0">
                <a:solidFill>
                  <a:srgbClr val="14313B"/>
                </a:solidFill>
                <a:latin typeface="Calibri (MS)"/>
              </a:rPr>
              <a:t>rata-rata NRMSE 9 variabel memburuk lebih dari 5%</a:t>
            </a:r>
          </a:p>
          <a:p>
            <a:pPr algn="l">
              <a:spcAft>
                <a:spcPts val="300"/>
              </a:spcAft>
            </a:pPr>
            <a:r>
              <a:rPr sz="1210" b="1" i="0">
                <a:solidFill>
                  <a:srgbClr val="0B5E6E"/>
                </a:solidFill>
                <a:latin typeface="Calibri (MS) Bold"/>
              </a:rPr>
              <a:t>S  </a:t>
            </a:r>
            <a:r>
              <a:rPr sz="1210" b="0" i="0">
                <a:solidFill>
                  <a:srgbClr val="14313B"/>
                </a:solidFill>
                <a:latin typeface="Calibri (MS)"/>
              </a:rPr>
              <a:t>uji kondisi ekstrem menjadi gagal</a:t>
            </a:r>
          </a:p>
          <a:p>
            <a:pPr algn="l">
              <a:spcAft>
                <a:spcPts val="300"/>
              </a:spcAft>
            </a:pPr>
            <a:r>
              <a:rPr sz="1210" b="1" i="0">
                <a:solidFill>
                  <a:srgbClr val="0B5E6E"/>
                </a:solidFill>
                <a:latin typeface="Calibri (MS) Bold"/>
              </a:rPr>
              <a:t>T  </a:t>
            </a:r>
            <a:r>
              <a:rPr sz="1210" b="0" i="0">
                <a:solidFill>
                  <a:srgbClr val="14313B"/>
                </a:solidFill>
                <a:latin typeface="Calibri (MS)"/>
              </a:rPr>
              <a:t>simulasi jangka panjang menjadi tidak stabil</a:t>
            </a:r>
          </a:p>
        </p:txBody>
      </p:sp>
      <p:sp>
        <p:nvSpPr>
          <p:cNvPr id="139" name="TextBox 138"/>
          <p:cNvSpPr txBox="1"/>
          <p:nvPr/>
        </p:nvSpPr>
        <p:spPr>
          <a:xfrm>
            <a:off x="9281160" y="7772400"/>
            <a:ext cx="8183879" cy="365760"/>
          </a:xfrm>
          <a:prstGeom prst="rect">
            <a:avLst/>
          </a:prstGeom>
          <a:noFill/>
        </p:spPr>
        <p:txBody>
          <a:bodyPr wrap="square" anchor="t" lIns="0" rIns="0" tIns="0" bIns="0">
            <a:spAutoFit/>
          </a:bodyPr>
          <a:lstStyle/>
          <a:p>
            <a:pPr algn="l">
              <a:spcAft>
                <a:spcPts val="400"/>
              </a:spcAft>
            </a:pPr>
            <a:r>
              <a:rPr sz="1090" b="0" i="1">
                <a:solidFill>
                  <a:srgbClr val="5E6E78"/>
                </a:solidFill>
                <a:latin typeface="Calibri (MS)"/>
              </a:rPr>
              <a:t>Batas 5% ditetapkan peneliti secara terbuka; kepekaannya diperiksa pada 2% dan 10%.</a:t>
            </a:r>
          </a:p>
        </p:txBody>
      </p:sp>
      <p:sp>
        <p:nvSpPr>
          <p:cNvPr id="140" name="Rounded Rectangle 139"/>
          <p:cNvSpPr/>
          <p:nvPr/>
        </p:nvSpPr>
        <p:spPr>
          <a:xfrm>
            <a:off x="822960" y="827532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0B5E6E"/>
                </a:solidFill>
                <a:latin typeface="Calibri (MS) Bold"/>
              </a:rPr>
              <a:t>Intinya  </a:t>
            </a:r>
            <a:r>
              <a:rPr sz="1610" b="0" i="0">
                <a:solidFill>
                  <a:srgbClr val="14313B"/>
                </a:solidFill>
                <a:latin typeface="Calibri (MS)"/>
              </a:rPr>
              <a:t>Nilai dari data hanya diganti bila perbaikannya nyata, tidak bergantung pada satu tahun saja, dan tetap berlaku di model penuh.</a:t>
            </a:r>
          </a:p>
        </p:txBody>
      </p:sp>
      <p:sp>
        <p:nvSpPr>
          <p:cNvPr id="141" name="TextBox 140"/>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3.7.4 (Tabel 19–20). NRMSE = akar rata-rata kuadrat selisih dibagi rata-rata data.</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Kalibrasi (2/2): Hasil Tiap Tahap</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Dari tiga parameter yang dikalibrasi, tidak ada yang diganti: nilai yang dihitung dari data dipertahankan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152" id="152"/>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53" id="153"/>
          <p:cNvGrpSpPr/>
          <p:nvPr/>
        </p:nvGrpSpPr>
        <p:grpSpPr>
          <a:xfrm rot="0">
            <a:off x="12755880" y="274320"/>
            <a:ext cx="3931920" cy="411480"/>
            <a:chOff x="0" y="0"/>
            <a:chExt cx="5242560" cy="548640"/>
          </a:xfrm>
        </p:grpSpPr>
        <p:sp>
          <p:nvSpPr>
            <p:cNvPr name="Freeform 154" id="154"/>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55" id="155"/>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sp>
        <p:nvSpPr>
          <p:cNvPr id="156" name="Rounded Rectangle 155"/>
          <p:cNvSpPr/>
          <p:nvPr/>
        </p:nvSpPr>
        <p:spPr>
          <a:xfrm>
            <a:off x="822960" y="1783080"/>
            <a:ext cx="3200400" cy="57150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09728" bIns="109728"/>
          <a:lstStyle/>
          <a:p>
            <a:pPr algn="l">
              <a:spcAft>
                <a:spcPts val="300"/>
              </a:spcAft>
            </a:pPr>
            <a:r>
              <a:rPr sz="1150" b="1" i="0">
                <a:solidFill>
                  <a:srgbClr val="5E6E78"/>
                </a:solidFill>
                <a:latin typeface="Calibri (MS) Bold"/>
              </a:rPr>
              <a:t>TAHAP 0</a:t>
            </a:r>
          </a:p>
          <a:p>
            <a:pPr algn="l">
              <a:spcAft>
                <a:spcPts val="300"/>
              </a:spcAft>
            </a:pPr>
            <a:r>
              <a:rPr sz="1490" b="1" i="0">
                <a:solidFill>
                  <a:srgbClr val="0B5E6E"/>
                </a:solidFill>
                <a:latin typeface="Calibri (MS) Bold"/>
              </a:rPr>
              <a:t>Koreksi penurunan</a:t>
            </a:r>
          </a:p>
          <a:p>
            <a:pPr algn="l">
              <a:spcAft>
                <a:spcPts val="300"/>
              </a:spcAft>
            </a:pPr>
            <a:r>
              <a:rPr sz="1210" b="1" i="1">
                <a:solidFill>
                  <a:srgbClr val="14313B"/>
                </a:solidFill>
                <a:latin typeface="Calibri (MS) Bold"/>
              </a:rPr>
              <a:t>LPE dan LPD (wisatawan)</a:t>
            </a:r>
          </a:p>
          <a:p>
            <a:pPr algn="l">
              <a:spcAft>
                <a:spcPts val="300"/>
              </a:spcAft>
            </a:pPr>
            <a:r>
              <a:rPr sz="1260" b="1" i="0">
                <a:solidFill>
                  <a:srgbClr val="0B5E6E"/>
                </a:solidFill>
                <a:latin typeface="Calibri (MS) Bold"/>
              </a:rPr>
              <a:t>Diperiksa  </a:t>
            </a:r>
            <a:r>
              <a:rPr sz="1260" b="0" i="0">
                <a:solidFill>
                  <a:srgbClr val="14313B"/>
                </a:solidFill>
                <a:latin typeface="Calibri (MS)"/>
              </a:rPr>
              <a:t>Apakah cara menghitung LPE dan LPD sudah sesuai persamaan model yang berjalan.</a:t>
            </a:r>
          </a:p>
          <a:p>
            <a:pPr algn="l">
              <a:spcAft>
                <a:spcPts val="300"/>
              </a:spcAft>
            </a:pPr>
            <a:r>
              <a:rPr sz="1260" b="1" i="0">
                <a:solidFill>
                  <a:srgbClr val="0B5E6E"/>
                </a:solidFill>
                <a:latin typeface="Calibri (MS) Bold"/>
              </a:rPr>
              <a:t>Temuan  </a:t>
            </a:r>
            <a:r>
              <a:rPr sz="1260" b="0" i="0">
                <a:solidFill>
                  <a:srgbClr val="14313B"/>
                </a:solidFill>
                <a:latin typeface="Calibri (MS)"/>
              </a:rPr>
              <a:t>Perhitungan awal memakai daya tarik = 1, padahal model memakai daya tarik tahun 2024 (0,99223).</a:t>
            </a:r>
          </a:p>
          <a:p>
            <a:pPr algn="l">
              <a:spcAft>
                <a:spcPts val="300"/>
              </a:spcAft>
            </a:pPr>
            <a:r>
              <a:rPr sz="1260" b="1" i="0">
                <a:solidFill>
                  <a:srgbClr val="0B5E6E"/>
                </a:solidFill>
                <a:latin typeface="Calibri (MS) Bold"/>
              </a:rPr>
              <a:t>Hasil  </a:t>
            </a:r>
            <a:r>
              <a:rPr sz="1260" b="0" i="0">
                <a:solidFill>
                  <a:srgbClr val="14313B"/>
                </a:solidFill>
                <a:latin typeface="Calibri (MS)"/>
              </a:rPr>
              <a:t>LPE 0,26864 → 0,27726; LPD 0,20148 → 0,207945. Wisatawan 2050 naik sekitar 1,6%; uji ekstrem tetap 15 lolos, 2 catatan, 0 gagal.</a:t>
            </a:r>
          </a:p>
        </p:txBody>
      </p:sp>
      <p:sp>
        <p:nvSpPr>
          <p:cNvPr id="157" name="Rounded Rectangle 156"/>
          <p:cNvSpPr/>
          <p:nvPr/>
        </p:nvSpPr>
        <p:spPr>
          <a:xfrm>
            <a:off x="960120" y="6858000"/>
            <a:ext cx="2926080" cy="502920"/>
          </a:xfrm>
          <a:prstGeom prst="roundRect">
            <a:avLst>
              <a:gd name="adj" fmla="val 8000"/>
            </a:avLst>
          </a:prstGeom>
          <a:solidFill>
            <a:srgbClr val="FFD2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210" b="1" i="0">
                <a:solidFill>
                  <a:srgbClr val="14313B"/>
                </a:solidFill>
                <a:latin typeface="Calibri (MS) Bold"/>
              </a:rPr>
              <a:t>Koreksi, bukan kalibrasi</a:t>
            </a:r>
          </a:p>
        </p:txBody>
      </p:sp>
      <p:sp>
        <p:nvSpPr>
          <p:cNvPr id="158" name="Right Arrow 157"/>
          <p:cNvSpPr/>
          <p:nvPr/>
        </p:nvSpPr>
        <p:spPr>
          <a:xfrm>
            <a:off x="4005072" y="4480560"/>
            <a:ext cx="196596"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4183380" y="1783080"/>
            <a:ext cx="3200400" cy="57150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09728" bIns="109728"/>
          <a:lstStyle/>
          <a:p>
            <a:pPr algn="l">
              <a:spcAft>
                <a:spcPts val="300"/>
              </a:spcAft>
            </a:pPr>
            <a:r>
              <a:rPr sz="1150" b="1" i="0">
                <a:solidFill>
                  <a:srgbClr val="5E6E78"/>
                </a:solidFill>
                <a:latin typeface="Calibri (MS) Bold"/>
              </a:rPr>
              <a:t>TAHAP 1</a:t>
            </a:r>
          </a:p>
          <a:p>
            <a:pPr algn="l">
              <a:spcAft>
                <a:spcPts val="300"/>
              </a:spcAft>
            </a:pPr>
            <a:r>
              <a:rPr sz="1490" b="1" i="0">
                <a:solidFill>
                  <a:srgbClr val="0B5E6E"/>
                </a:solidFill>
                <a:latin typeface="Calibri (MS) Bold"/>
              </a:rPr>
              <a:t>Subsistem akomodasi</a:t>
            </a:r>
          </a:p>
          <a:p>
            <a:pPr algn="l">
              <a:spcAft>
                <a:spcPts val="300"/>
              </a:spcAft>
            </a:pPr>
            <a:r>
              <a:rPr sz="1210" b="1" i="1">
                <a:solidFill>
                  <a:srgbClr val="14313B"/>
                </a:solidFill>
                <a:latin typeface="Calibri (MS) Bold"/>
              </a:rPr>
              <a:t>Batas TPK dan laju demolisi</a:t>
            </a:r>
          </a:p>
          <a:p>
            <a:pPr algn="l">
              <a:spcAft>
                <a:spcPts val="300"/>
              </a:spcAft>
            </a:pPr>
            <a:r>
              <a:rPr sz="1260" b="1" i="0">
                <a:solidFill>
                  <a:srgbClr val="0B5E6E"/>
                </a:solidFill>
                <a:latin typeface="Calibri (MS) Bold"/>
              </a:rPr>
              <a:t>Diperiksa  </a:t>
            </a:r>
            <a:r>
              <a:rPr sz="1260" b="0" i="0">
                <a:solidFill>
                  <a:srgbClr val="14313B"/>
                </a:solidFill>
                <a:latin typeface="Calibri (MS)"/>
              </a:rPr>
              <a:t>775 kombinasi (batas TPK 0,20–0,35; demolisi 0,02–0,08) pada uji P1.</a:t>
            </a:r>
          </a:p>
          <a:p>
            <a:pPr algn="l">
              <a:spcAft>
                <a:spcPts val="300"/>
              </a:spcAft>
            </a:pPr>
            <a:r>
              <a:rPr sz="1260" b="1" i="0">
                <a:solidFill>
                  <a:srgbClr val="0B5E6E"/>
                </a:solidFill>
                <a:latin typeface="Calibri (MS) Bold"/>
              </a:rPr>
              <a:t>Temuan  </a:t>
            </a:r>
            <a:r>
              <a:rPr sz="1260" b="0" i="0">
                <a:solidFill>
                  <a:srgbClr val="14313B"/>
                </a:solidFill>
                <a:latin typeface="Calibri (MS)"/>
              </a:rPr>
              <a:t>Nilai terbaik (0,350; 0,060) memperbaiki 11,64%, tetapi tepat di batas rentang (R3). Tanpa tahun 2019, perbaikan tinggal 5,74%; versi dengan COVID memburuk dan P1b hanya 4,89%.</a:t>
            </a:r>
          </a:p>
          <a:p>
            <a:pPr algn="l">
              <a:spcAft>
                <a:spcPts val="300"/>
              </a:spcAft>
            </a:pPr>
            <a:r>
              <a:rPr sz="1260" b="1" i="0">
                <a:solidFill>
                  <a:srgbClr val="0B5E6E"/>
                </a:solidFill>
                <a:latin typeface="Calibri (MS) Bold"/>
              </a:rPr>
              <a:t>Keputusan  </a:t>
            </a:r>
            <a:r>
              <a:rPr sz="1260" b="0" i="0">
                <a:solidFill>
                  <a:srgbClr val="14313B"/>
                </a:solidFill>
                <a:latin typeface="Calibri (MS)"/>
              </a:rPr>
              <a:t>Perbaikan ditarik satu tahun anomali.</a:t>
            </a:r>
          </a:p>
        </p:txBody>
      </p:sp>
      <p:sp>
        <p:nvSpPr>
          <p:cNvPr id="160" name="Rounded Rectangle 159"/>
          <p:cNvSpPr/>
          <p:nvPr/>
        </p:nvSpPr>
        <p:spPr>
          <a:xfrm>
            <a:off x="4320540" y="6858000"/>
            <a:ext cx="2926080" cy="50292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210" b="1" i="0">
                <a:solidFill>
                  <a:srgbClr val="FFFFFF"/>
                </a:solidFill>
                <a:latin typeface="Calibri (MS) Bold"/>
              </a:rPr>
              <a:t>Tetap 0,275 dan 0,05</a:t>
            </a:r>
          </a:p>
        </p:txBody>
      </p:sp>
      <p:sp>
        <p:nvSpPr>
          <p:cNvPr id="161" name="Right Arrow 160"/>
          <p:cNvSpPr/>
          <p:nvPr/>
        </p:nvSpPr>
        <p:spPr>
          <a:xfrm>
            <a:off x="7365492" y="4480560"/>
            <a:ext cx="196596"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7543800" y="1783080"/>
            <a:ext cx="3200400" cy="57150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09728" bIns="109728"/>
          <a:lstStyle/>
          <a:p>
            <a:pPr algn="l">
              <a:spcAft>
                <a:spcPts val="300"/>
              </a:spcAft>
            </a:pPr>
            <a:r>
              <a:rPr sz="1150" b="1" i="0">
                <a:solidFill>
                  <a:srgbClr val="5E6E78"/>
                </a:solidFill>
                <a:latin typeface="Calibri (MS) Bold"/>
              </a:rPr>
              <a:t>TAHAP 2</a:t>
            </a:r>
          </a:p>
          <a:p>
            <a:pPr algn="l">
              <a:spcAft>
                <a:spcPts val="300"/>
              </a:spcAft>
            </a:pPr>
            <a:r>
              <a:rPr sz="1490" b="1" i="0">
                <a:solidFill>
                  <a:srgbClr val="0B5E6E"/>
                </a:solidFill>
                <a:latin typeface="Calibri (MS) Bold"/>
              </a:rPr>
              <a:t>Subsistem lahan</a:t>
            </a:r>
          </a:p>
          <a:p>
            <a:pPr algn="l">
              <a:spcAft>
                <a:spcPts val="300"/>
              </a:spcAft>
            </a:pPr>
            <a:r>
              <a:rPr sz="1210" b="1" i="1">
                <a:solidFill>
                  <a:srgbClr val="14313B"/>
                </a:solidFill>
                <a:latin typeface="Calibri (MS) Bold"/>
              </a:rPr>
              <a:t>Laju konversi dasar</a:t>
            </a:r>
          </a:p>
          <a:p>
            <a:pPr algn="l">
              <a:spcAft>
                <a:spcPts val="300"/>
              </a:spcAft>
            </a:pPr>
            <a:r>
              <a:rPr sz="1260" b="1" i="0">
                <a:solidFill>
                  <a:srgbClr val="0B5E6E"/>
                </a:solidFill>
                <a:latin typeface="Calibri (MS) Bold"/>
              </a:rPr>
              <a:t>Diperiksa  </a:t>
            </a:r>
            <a:r>
              <a:rPr sz="1260" b="0" i="0">
                <a:solidFill>
                  <a:srgbClr val="14313B"/>
                </a:solidFill>
                <a:latin typeface="Calibri (MS)"/>
              </a:rPr>
              <a:t>Rentang selang kepercayaan 95% (0,0034–0,0851) pada uji P4.</a:t>
            </a:r>
          </a:p>
          <a:p>
            <a:pPr algn="l">
              <a:spcAft>
                <a:spcPts val="300"/>
              </a:spcAft>
            </a:pPr>
            <a:r>
              <a:rPr sz="1260" b="1" i="0">
                <a:solidFill>
                  <a:srgbClr val="0B5E6E"/>
                </a:solidFill>
                <a:latin typeface="Calibri (MS) Bold"/>
              </a:rPr>
              <a:t>Temuan  </a:t>
            </a:r>
            <a:r>
              <a:rPr sz="1260" b="0" i="0">
                <a:solidFill>
                  <a:srgbClr val="14313B"/>
                </a:solidFill>
                <a:latin typeface="Calibri (MS)"/>
              </a:rPr>
              <a:t>Nilai terbaik 0,0639 memperbaiki 14,76%, berada di dalam rentang, dan bias (U1) turun dari 0,4250 ke 0,0755.</a:t>
            </a:r>
          </a:p>
          <a:p>
            <a:pPr algn="l">
              <a:spcAft>
                <a:spcPts val="300"/>
              </a:spcAft>
            </a:pPr>
            <a:r>
              <a:rPr sz="1260" b="1" i="0">
                <a:solidFill>
                  <a:srgbClr val="0B5E6E"/>
                </a:solidFill>
                <a:latin typeface="Calibri (MS) Bold"/>
              </a:rPr>
              <a:t>Keputusan  </a:t>
            </a:r>
            <a:r>
              <a:rPr sz="1260" b="0" i="0">
                <a:solidFill>
                  <a:srgbClr val="14313B"/>
                </a:solidFill>
                <a:latin typeface="Calibri (MS)"/>
              </a:rPr>
              <a:t>Memenuhi R4, tetapi masih harus lolos Tahap 4.</a:t>
            </a:r>
          </a:p>
        </p:txBody>
      </p:sp>
      <p:sp>
        <p:nvSpPr>
          <p:cNvPr id="163" name="Rounded Rectangle 162"/>
          <p:cNvSpPr/>
          <p:nvPr/>
        </p:nvSpPr>
        <p:spPr>
          <a:xfrm>
            <a:off x="7680960" y="6858000"/>
            <a:ext cx="2926080" cy="502920"/>
          </a:xfrm>
          <a:prstGeom prst="roundRect">
            <a:avLst>
              <a:gd name="adj" fmla="val 8000"/>
            </a:avLst>
          </a:prstGeom>
          <a:solidFill>
            <a:srgbClr val="FFD2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210" b="1" i="0">
                <a:solidFill>
                  <a:srgbClr val="14313B"/>
                </a:solidFill>
                <a:latin typeface="Calibri (MS) Bold"/>
              </a:rPr>
              <a:t>Sementara diadopsi</a:t>
            </a:r>
          </a:p>
        </p:txBody>
      </p:sp>
      <p:sp>
        <p:nvSpPr>
          <p:cNvPr id="164" name="Right Arrow 163"/>
          <p:cNvSpPr/>
          <p:nvPr/>
        </p:nvSpPr>
        <p:spPr>
          <a:xfrm>
            <a:off x="10725912" y="4480560"/>
            <a:ext cx="196596"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ounded Rectangle 164"/>
          <p:cNvSpPr/>
          <p:nvPr/>
        </p:nvSpPr>
        <p:spPr>
          <a:xfrm>
            <a:off x="10904219" y="1783080"/>
            <a:ext cx="3200400" cy="57150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09728" bIns="109728"/>
          <a:lstStyle/>
          <a:p>
            <a:pPr algn="l">
              <a:spcAft>
                <a:spcPts val="300"/>
              </a:spcAft>
            </a:pPr>
            <a:r>
              <a:rPr sz="1150" b="1" i="0">
                <a:solidFill>
                  <a:srgbClr val="5E6E78"/>
                </a:solidFill>
                <a:latin typeface="Calibri (MS) Bold"/>
              </a:rPr>
              <a:t>TAHAP 3</a:t>
            </a:r>
          </a:p>
          <a:p>
            <a:pPr algn="l">
              <a:spcAft>
                <a:spcPts val="300"/>
              </a:spcAft>
            </a:pPr>
            <a:r>
              <a:rPr sz="1490" b="1" i="0">
                <a:solidFill>
                  <a:srgbClr val="0B5E6E"/>
                </a:solidFill>
                <a:latin typeface="Calibri (MS) Bold"/>
              </a:rPr>
              <a:t>Subsistem wisatawan</a:t>
            </a:r>
          </a:p>
          <a:p>
            <a:pPr algn="l">
              <a:spcAft>
                <a:spcPts val="300"/>
              </a:spcAft>
            </a:pPr>
            <a:r>
              <a:rPr sz="1210" b="1" i="1">
                <a:solidFill>
                  <a:srgbClr val="14313B"/>
                </a:solidFill>
                <a:latin typeface="Calibri (MS) Bold"/>
              </a:rPr>
              <a:t>LPE dan LPD (diagnostik)</a:t>
            </a:r>
          </a:p>
          <a:p>
            <a:pPr algn="l">
              <a:spcAft>
                <a:spcPts val="300"/>
              </a:spcAft>
            </a:pPr>
            <a:r>
              <a:rPr sz="1260" b="1" i="0">
                <a:solidFill>
                  <a:srgbClr val="0B5E6E"/>
                </a:solidFill>
                <a:latin typeface="Calibri (MS) Bold"/>
              </a:rPr>
              <a:t>Diperiksa  </a:t>
            </a:r>
            <a:r>
              <a:rPr sz="1260" b="0" i="0">
                <a:solidFill>
                  <a:srgbClr val="14313B"/>
                </a:solidFill>
                <a:latin typeface="Calibri (MS)"/>
              </a:rPr>
              <a:t>Seberapa besar LPE yang dituntut data. Tidak dicari nilai optimum karena LPE dan LPD tidak memenuhi syarat dikalibrasi.</a:t>
            </a:r>
          </a:p>
          <a:p>
            <a:pPr algn="l">
              <a:spcAft>
                <a:spcPts val="300"/>
              </a:spcAft>
            </a:pPr>
            <a:r>
              <a:rPr sz="1260" b="1" i="0">
                <a:solidFill>
                  <a:srgbClr val="0B5E6E"/>
                </a:solidFill>
                <a:latin typeface="Calibri (MS) Bold"/>
              </a:rPr>
              <a:t>Temuan  </a:t>
            </a:r>
            <a:r>
              <a:rPr sz="1260" b="0" i="0">
                <a:solidFill>
                  <a:srgbClr val="14313B"/>
                </a:solidFill>
                <a:latin typeface="Calibri (MS)"/>
              </a:rPr>
              <a:t>Data menuntut LPE 0,410–0,490, tetapi banyak pasangan LPE–LPD yang sama baiknya (LPE 0,26–0,80): data hanya bisa menentukan selisih keduanya.</a:t>
            </a:r>
          </a:p>
          <a:p>
            <a:pPr algn="l">
              <a:spcAft>
                <a:spcPts val="300"/>
              </a:spcAft>
            </a:pPr>
            <a:r>
              <a:rPr sz="1260" b="1" i="0">
                <a:solidFill>
                  <a:srgbClr val="0B5E6E"/>
                </a:solidFill>
                <a:latin typeface="Calibri (MS) Bold"/>
              </a:rPr>
              <a:t>Penyebab  </a:t>
            </a:r>
            <a:r>
              <a:rPr sz="1260" b="0" i="0">
                <a:solidFill>
                  <a:srgbClr val="14313B"/>
                </a:solidFill>
                <a:latin typeface="Calibri (MS)"/>
              </a:rPr>
              <a:t>Lonjakan pascapandemi 2022–2024 (puncak 24,86%) di luar cakupan model.</a:t>
            </a:r>
          </a:p>
        </p:txBody>
      </p:sp>
      <p:sp>
        <p:nvSpPr>
          <p:cNvPr id="166" name="Rounded Rectangle 165"/>
          <p:cNvSpPr/>
          <p:nvPr/>
        </p:nvSpPr>
        <p:spPr>
          <a:xfrm>
            <a:off x="11041380" y="6858000"/>
            <a:ext cx="2926080" cy="50292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210" b="1" i="0">
                <a:solidFill>
                  <a:srgbClr val="FFFFFF"/>
                </a:solidFill>
                <a:latin typeface="Calibri (MS) Bold"/>
              </a:rPr>
              <a:t>Tetap 0,27726 dan 0,207945</a:t>
            </a:r>
          </a:p>
        </p:txBody>
      </p:sp>
      <p:sp>
        <p:nvSpPr>
          <p:cNvPr id="167" name="Right Arrow 166"/>
          <p:cNvSpPr/>
          <p:nvPr/>
        </p:nvSpPr>
        <p:spPr>
          <a:xfrm>
            <a:off x="14086332" y="4480560"/>
            <a:ext cx="196596"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4264640" y="1783080"/>
            <a:ext cx="3200400" cy="57150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09728" bIns="109728"/>
          <a:lstStyle/>
          <a:p>
            <a:pPr algn="l">
              <a:spcAft>
                <a:spcPts val="300"/>
              </a:spcAft>
            </a:pPr>
            <a:r>
              <a:rPr sz="1150" b="1" i="0">
                <a:solidFill>
                  <a:srgbClr val="5E6E78"/>
                </a:solidFill>
                <a:latin typeface="Calibri (MS) Bold"/>
              </a:rPr>
              <a:t>TAHAP 4</a:t>
            </a:r>
          </a:p>
          <a:p>
            <a:pPr algn="l">
              <a:spcAft>
                <a:spcPts val="300"/>
              </a:spcAft>
            </a:pPr>
            <a:r>
              <a:rPr sz="1490" b="1" i="0">
                <a:solidFill>
                  <a:srgbClr val="0B5E6E"/>
                </a:solidFill>
                <a:latin typeface="Calibri (MS) Bold"/>
              </a:rPr>
              <a:t>Uji kompatibilitas</a:t>
            </a:r>
          </a:p>
          <a:p>
            <a:pPr algn="l">
              <a:spcAft>
                <a:spcPts val="300"/>
              </a:spcAft>
            </a:pPr>
            <a:r>
              <a:rPr sz="1210" b="1" i="1">
                <a:solidFill>
                  <a:srgbClr val="14313B"/>
                </a:solidFill>
                <a:latin typeface="Calibri (MS) Bold"/>
              </a:rPr>
              <a:t>Hasil Tahap 2 di model penuh</a:t>
            </a:r>
          </a:p>
          <a:p>
            <a:pPr algn="l">
              <a:spcAft>
                <a:spcPts val="300"/>
              </a:spcAft>
            </a:pPr>
            <a:r>
              <a:rPr sz="1260" b="1" i="0">
                <a:solidFill>
                  <a:srgbClr val="0B5E6E"/>
                </a:solidFill>
                <a:latin typeface="Calibri (MS) Bold"/>
              </a:rPr>
              <a:t>Diperiksa  </a:t>
            </a:r>
            <a:r>
              <a:rPr sz="1260" b="0" i="0">
                <a:solidFill>
                  <a:srgbClr val="14313B"/>
                </a:solidFill>
                <a:latin typeface="Calibri (MS)"/>
              </a:rPr>
              <a:t>Laju konversi 0,0639 dicoba pada model penuh (13 baris variabel).</a:t>
            </a:r>
          </a:p>
          <a:p>
            <a:pPr algn="l">
              <a:spcAft>
                <a:spcPts val="300"/>
              </a:spcAft>
            </a:pPr>
            <a:r>
              <a:rPr sz="1260" b="1" i="0">
                <a:solidFill>
                  <a:srgbClr val="0B5E6E"/>
                </a:solidFill>
                <a:latin typeface="Calibri (MS) Bold"/>
              </a:rPr>
              <a:t>Temuan  </a:t>
            </a:r>
            <a:r>
              <a:rPr sz="1260" b="0" i="0">
                <a:solidFill>
                  <a:srgbClr val="14313B"/>
                </a:solidFill>
                <a:latin typeface="Calibri (MS)"/>
              </a:rPr>
              <a:t>12 baris praktis tidak berubah, tetapi lahan terbangun pada uji penuh memburuk 32,4% (rasio 1,32 &gt; 1,05, pemicu M1).</a:t>
            </a:r>
          </a:p>
          <a:p>
            <a:pPr algn="l">
              <a:spcAft>
                <a:spcPts val="300"/>
              </a:spcAft>
            </a:pPr>
            <a:r>
              <a:rPr sz="1260" b="1" i="0">
                <a:solidFill>
                  <a:srgbClr val="0B5E6E"/>
                </a:solidFill>
                <a:latin typeface="Calibri (MS) Bold"/>
              </a:rPr>
              <a:t>Penyebab  </a:t>
            </a:r>
            <a:r>
              <a:rPr sz="1260" b="0" i="0">
                <a:solidFill>
                  <a:srgbClr val="14313B"/>
                </a:solidFill>
                <a:latin typeface="Calibri (MS)"/>
              </a:rPr>
              <a:t>Uji P4 mulai 2016 dari lahan rendah; uji penuh mulai 2019 dari lahan yang sudah tinggi.</a:t>
            </a:r>
          </a:p>
        </p:txBody>
      </p:sp>
      <p:sp>
        <p:nvSpPr>
          <p:cNvPr id="169" name="Rounded Rectangle 168"/>
          <p:cNvSpPr/>
          <p:nvPr/>
        </p:nvSpPr>
        <p:spPr>
          <a:xfrm>
            <a:off x="14401800" y="6858000"/>
            <a:ext cx="2926080" cy="502920"/>
          </a:xfrm>
          <a:prstGeom prst="roundRect">
            <a:avLst>
              <a:gd name="adj" fmla="val 8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Aft>
                <a:spcPts val="300"/>
              </a:spcAft>
            </a:pPr>
            <a:r>
              <a:rPr sz="1210" b="1" i="0">
                <a:solidFill>
                  <a:srgbClr val="FFFFFF"/>
                </a:solidFill>
                <a:latin typeface="Calibri (MS) Bold"/>
              </a:rPr>
              <a:t>Ditolak → kembali 0,0436</a:t>
            </a:r>
          </a:p>
        </p:txBody>
      </p:sp>
      <p:sp>
        <p:nvSpPr>
          <p:cNvPr id="170" name="Rounded Rectangle 169"/>
          <p:cNvSpPr/>
          <p:nvPr/>
        </p:nvSpPr>
        <p:spPr>
          <a:xfrm>
            <a:off x="822960" y="7635240"/>
            <a:ext cx="16642080" cy="141732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lstStyle/>
          <a:p>
            <a:pPr algn="l">
              <a:spcAft>
                <a:spcPts val="300"/>
              </a:spcAft>
            </a:pPr>
            <a:r>
              <a:rPr sz="1610" b="1" i="0">
                <a:solidFill>
                  <a:srgbClr val="FFD23B"/>
                </a:solidFill>
                <a:latin typeface="Calibri (MS) Bold"/>
              </a:rPr>
              <a:t>3 parameter dikalibrasi (batas TPK, laju demolisi, laju konversi) → 0 diganti</a:t>
            </a:r>
          </a:p>
          <a:p>
            <a:pPr algn="l">
              <a:spcAft>
                <a:spcPts val="300"/>
              </a:spcAft>
            </a:pPr>
            <a:r>
              <a:rPr sz="1320" b="0" i="0">
                <a:solidFill>
                  <a:srgbClr val="FFFFFF"/>
                </a:solidFill>
                <a:latin typeface="Calibri (MS)"/>
              </a:rPr>
              <a:t>Nilai yang dihitung dari data sudah dapat dipertanggungjawabkan. Selisih yang tersisa pada wisatawan berasal dari lonjakan pascapandemi di luar cakupan model, bukan dari nilai parameter.</a:t>
            </a:r>
          </a:p>
        </p:txBody>
      </p:sp>
      <p:sp>
        <p:nvSpPr>
          <p:cNvPr id="171" name="TextBox 170"/>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4.6 (Tabel 48–55). LPE = laju pertumbuhan eksternal; LPD = laju penurunan dasar.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