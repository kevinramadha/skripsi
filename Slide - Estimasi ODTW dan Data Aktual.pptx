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283" r:id="rId33"/>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3"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ODTW aktual (BPS)</c:v>
                </c:pt>
              </c:strCache>
            </c:strRef>
          </c:tx>
          <c:spPr>
            <a:ln w="34925">
              <a:solidFill>
                <a:srgbClr val="0B5E6E"/>
              </a:solidFill>
            </a:ln>
          </c:spPr>
          <c:marker>
            <c:size val="9"/>
            <c:spPr>
              <a:solidFill>
                <a:srgbClr val="0B5E6E"/>
              </a:solidFill>
              <a:ln>
                <a:solidFill>
                  <a:srgbClr val="0B5E6E"/>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3">
                  <c:v>177</c:v>
                </c:pt>
                <c:pt idx="4">
                  <c:v>189</c:v>
                </c:pt>
                <c:pt idx="5">
                  <c:v>180</c:v>
                </c:pt>
                <c:pt idx="6">
                  <c:v>170</c:v>
                </c:pt>
                <c:pt idx="7">
                  <c:v>183</c:v>
                </c:pt>
                <c:pt idx="8">
                  <c:v>201</c:v>
                </c:pt>
                <c:pt idx="9">
                  <c:v>218</c:v>
                </c:pt>
              </c:numCache>
            </c:numRef>
          </c:val>
          <c:smooth val="0"/>
        </c:ser>
        <c:ser>
          <c:idx val="1"/>
          <c:order val="1"/>
          <c:tx>
            <c:strRef>
              <c:f>Sheet1!$C$1</c:f>
              <c:strCache>
                <c:ptCount val="1"/>
                <c:pt idx="0">
                  <c:v>Estimasi NTL</c:v>
                </c:pt>
              </c:strCache>
            </c:strRef>
          </c:tx>
          <c:spPr>
            <a:ln w="34925">
              <a:solidFill>
                <a:srgbClr val="E0A800"/>
              </a:solidFill>
              <a:prstDash val="dash"/>
            </a:ln>
          </c:spPr>
          <c:marker>
            <c:size val="9"/>
            <c:spPr>
              <a:solidFill>
                <a:srgbClr val="E0A800"/>
              </a:solidFill>
              <a:ln>
                <a:solidFill>
                  <a:srgbClr val="E0A800"/>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Sheet1!$C$2:$C$12</c:f>
              <c:numCache>
                <c:formatCode>General</c:formatCode>
                <c:ptCount val="11"/>
                <c:pt idx="0">
                  <c:v>165.2</c:v>
                </c:pt>
                <c:pt idx="1">
                  <c:v>158.1</c:v>
                </c:pt>
                <c:pt idx="2">
                  <c:v>171.4</c:v>
                </c:pt>
                <c:pt idx="10">
                  <c:v>200.7</c:v>
                </c:pt>
              </c:numCache>
            </c:numRef>
          </c:val>
          <c:smooth val="0"/>
        </c:ser>
        <c:dLbls>
          <c:numFmt formatCode="0" sourceLinked="0"/>
          <c:txPr>
            <a:bodyPr/>
            <a:lstStyle/>
            <a:p>
              <a:pPr>
                <a:defRPr sz="1000"/>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pPr>
          </a:p>
        </c:txPr>
        <c:crossAx val="2140495176"/>
        <c:crosses val="autoZero"/>
        <c:auto val="1"/>
        <c:lblAlgn val="ctr"/>
        <c:lblOffset val="100"/>
        <c:noMultiLvlLbl val="0"/>
      </c:catAx>
      <c:valAx>
        <c:axId val="2140495176"/>
        <c:scaling>
          <c:max val="230.0"/>
          <c:min val="140.0"/>
        </c:scaling>
        <c:delete val="0"/>
        <c:axPos val="l"/>
        <c:majorGridlines>
          <c:spPr>
            <a:ln>
              <a:solidFill>
                <a:srgbClr val="E3EEF1"/>
              </a:solidFill>
            </a:ln>
          </c:spPr>
        </c:majorGridlines>
        <c:majorTickMark val="out"/>
        <c:minorTickMark val="none"/>
        <c:tickLblPos val="nextTo"/>
        <c:txPr>
          <a:bodyPr/>
          <a:lstStyle/>
          <a:p>
            <a:pPr>
              <a:defRPr sz="1000"/>
            </a:pPr>
          </a:p>
        </c:txPr>
        <c:crossAx val="2118791784"/>
        <c:crosses val="autoZero"/>
      </c:valAx>
    </c:plotArea>
    <c:legend>
      <c:legendPos val="t"/>
      <c:layout/>
      <c:overlay val="0"/>
    </c:legend>
    <c:plotVisOnly val="1"/>
    <c:dispBlanksAs val="gap"/>
    <c:showDLblsOverMax val="0"/>
  </c:chart>
  <c:txPr>
    <a:bodyPr/>
    <a:lstStyle/>
    <a:p>
      <a:pPr>
        <a:defRPr sz="1100">
          <a:solidFill>
            <a:srgbClr val="14313B"/>
          </a:solidFill>
          <a:latin typeface="Calibri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Tabel ini menunjukkan data ODTW 2015 sampai 2025. Tahun 2018 sampai 2024 memakai data aktual BPS. Tahun 2015, 2016, 2017, dan 2025 tidak ada data BPS, sehingga diisi dengan estimasi dari cahaya malam memakai regresi ODTW = 121,61 + 34,59 × NTL, lengkap dengan selang prediksi 95 persen. Nilai 2025 sebesar 201 unit menjadi stok awal model. Kolom hasil regresi pada tahun berdata BPS hanya pembanding untuk melihat seberapa dekat model dengan data aktual.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 Id="rId7" Type="http://schemas.openxmlformats.org/officeDocument/2006/relationships/image" Target="../media/image33.png"/><Relationship Id="rId8" Type="http://schemas.openxmlformats.org/officeDocument/2006/relationships/chart" Target="../charts/chart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Estimasi Jumlah ODTW — Hasil Estimasi dan Data Aktual</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Data ODTW 2015–2025: tahun berdata BPS memakai data aktual, tahun kosong diisi estimasi dari NTL</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66" id="66"/>
          <p:cNvSpPr txBox="true"/>
          <p:nvPr/>
        </p:nvSpPr>
        <p:spPr>
          <a:xfrm rot="0">
            <a:off x="16550640" y="9642348"/>
            <a:ext cx="818388" cy="3429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grpSp>
        <p:nvGrpSpPr>
          <p:cNvPr name="Group 67" id="67"/>
          <p:cNvGrpSpPr/>
          <p:nvPr/>
        </p:nvGrpSpPr>
        <p:grpSpPr>
          <a:xfrm rot="0">
            <a:off x="12755880" y="274320"/>
            <a:ext cx="3931920" cy="411480"/>
            <a:chOff x="0" y="0"/>
            <a:chExt cx="5242560" cy="548640"/>
          </a:xfrm>
        </p:grpSpPr>
        <p:sp>
          <p:nvSpPr>
            <p:cNvPr name="Freeform 68" id="68"/>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69" id="69"/>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2A · Integrasi citra satelit</a:t>
              </a:r>
            </a:p>
          </p:txBody>
        </p:sp>
      </p:grpSp>
      <p:graphicFrame>
        <p:nvGraphicFramePr>
          <p:cNvPr id="70" name="Table 69"/>
          <p:cNvGraphicFramePr>
            <a:graphicFrameLocks noGrp="1"/>
          </p:cNvGraphicFramePr>
          <p:nvPr/>
        </p:nvGraphicFramePr>
        <p:xfrm>
          <a:off x="822960" y="1828800"/>
          <a:ext cx="10607036" cy="5705856"/>
        </p:xfrm>
        <a:graphic>
          <a:graphicData uri="http://schemas.openxmlformats.org/drawingml/2006/table">
            <a:tbl>
              <a:tblPr firstRow="1" bandRow="1">
                <a:tableStyleId>{5C22544A-7EE6-4342-B048-85BDC9FD1C3A}</a:tableStyleId>
              </a:tblPr>
              <a:tblGrid>
                <a:gridCol w="875810"/>
                <a:gridCol w="973122"/>
                <a:gridCol w="1702965"/>
                <a:gridCol w="1702965"/>
                <a:gridCol w="2189526"/>
                <a:gridCol w="1605652"/>
                <a:gridCol w="1556996"/>
              </a:tblGrid>
              <a:tr h="475488">
                <a:tc>
                  <a:txBody>
                    <a:bodyPr wrap="square"/>
                    <a:lstStyle/>
                    <a:p>
                      <a:pPr algn="ctr"/>
                      <a:r>
                        <a:rPr sz="1380" b="1" i="0">
                          <a:solidFill>
                            <a:srgbClr val="FFFFFF"/>
                          </a:solidFill>
                          <a:latin typeface="Calibri (MS) Bold"/>
                        </a:rPr>
                        <a:t>Tahun</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NTL</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ODTW aktual (BPS)</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Hasil regresi NTL</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Selang prediksi 95%</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Dipakai di model</a:t>
                      </a:r>
                    </a:p>
                  </a:txBody>
                  <a:tcPr marL="73152" marR="73152" marT="36576" marB="36576" anchor="ctr">
                    <a:solidFill>
                      <a:srgbClr val="0B5E6E"/>
                    </a:solidFill>
                  </a:tcPr>
                </a:tc>
                <a:tc>
                  <a:txBody>
                    <a:bodyPr wrap="square"/>
                    <a:lstStyle/>
                    <a:p>
                      <a:pPr algn="ctr"/>
                      <a:r>
                        <a:rPr sz="1380" b="1" i="0">
                          <a:solidFill>
                            <a:srgbClr val="FFFFFF"/>
                          </a:solidFill>
                          <a:latin typeface="Calibri (MS) Bold"/>
                        </a:rPr>
                        <a:t>Status</a:t>
                      </a:r>
                    </a:p>
                  </a:txBody>
                  <a:tcPr marL="73152" marR="73152" marT="36576" marB="36576" anchor="ctr">
                    <a:solidFill>
                      <a:srgbClr val="0B5E6E"/>
                    </a:solidFill>
                  </a:tcPr>
                </a:tc>
              </a:tr>
              <a:tr h="475488">
                <a:tc>
                  <a:txBody>
                    <a:bodyPr wrap="square"/>
                    <a:lstStyle/>
                    <a:p>
                      <a:pPr algn="ctr"/>
                      <a:r>
                        <a:rPr sz="1380" b="0" i="0">
                          <a:solidFill>
                            <a:srgbClr val="14313B"/>
                          </a:solidFill>
                          <a:latin typeface="Calibri (MS)"/>
                        </a:rPr>
                        <a:t>2015</a:t>
                      </a:r>
                    </a:p>
                  </a:txBody>
                  <a:tcPr marL="73152" marR="73152" marT="36576" marB="36576" anchor="ctr">
                    <a:solidFill>
                      <a:srgbClr val="FFF1BF"/>
                    </a:solidFill>
                  </a:tcPr>
                </a:tc>
                <a:tc>
                  <a:txBody>
                    <a:bodyPr wrap="square"/>
                    <a:lstStyle/>
                    <a:p>
                      <a:pPr algn="ctr"/>
                      <a:r>
                        <a:rPr sz="1380" b="0" i="0">
                          <a:solidFill>
                            <a:srgbClr val="14313B"/>
                          </a:solidFill>
                          <a:latin typeface="Calibri (MS)"/>
                        </a:rPr>
                        <a:t>1,262</a:t>
                      </a:r>
                    </a:p>
                  </a:txBody>
                  <a:tcPr marL="73152" marR="73152" marT="36576" marB="36576" anchor="ctr">
                    <a:solidFill>
                      <a:srgbClr val="FFF1BF"/>
                    </a:solidFill>
                  </a:tcPr>
                </a:tc>
                <a:tc>
                  <a:txBody>
                    <a:bodyPr wrap="square"/>
                    <a:lstStyle/>
                    <a:p>
                      <a:pPr algn="ctr"/>
                      <a:r>
                        <a:rPr sz="1380" b="0" i="0">
                          <a:solidFill>
                            <a:srgbClr val="14313B"/>
                          </a:solidFill>
                          <a:latin typeface="Calibri (MS)"/>
                        </a:rPr>
                        <a:t>—</a:t>
                      </a:r>
                    </a:p>
                  </a:txBody>
                  <a:tcPr marL="73152" marR="73152" marT="36576" marB="36576" anchor="ctr">
                    <a:solidFill>
                      <a:srgbClr val="FFF1BF"/>
                    </a:solidFill>
                  </a:tcPr>
                </a:tc>
                <a:tc>
                  <a:txBody>
                    <a:bodyPr wrap="square"/>
                    <a:lstStyle/>
                    <a:p>
                      <a:pPr algn="ctr"/>
                      <a:r>
                        <a:rPr sz="1380" b="0" i="0">
                          <a:solidFill>
                            <a:srgbClr val="14313B"/>
                          </a:solidFill>
                          <a:latin typeface="Calibri (MS)"/>
                        </a:rPr>
                        <a:t>165,2</a:t>
                      </a:r>
                    </a:p>
                  </a:txBody>
                  <a:tcPr marL="73152" marR="73152" marT="36576" marB="36576" anchor="ctr">
                    <a:solidFill>
                      <a:srgbClr val="FFF1BF"/>
                    </a:solidFill>
                  </a:tcPr>
                </a:tc>
                <a:tc>
                  <a:txBody>
                    <a:bodyPr wrap="square"/>
                    <a:lstStyle/>
                    <a:p>
                      <a:pPr algn="ctr"/>
                      <a:r>
                        <a:rPr sz="1380" b="0" i="0">
                          <a:solidFill>
                            <a:srgbClr val="14313B"/>
                          </a:solidFill>
                          <a:latin typeface="Calibri (MS)"/>
                        </a:rPr>
                        <a:t>138,5 – 191,9</a:t>
                      </a:r>
                    </a:p>
                  </a:txBody>
                  <a:tcPr marL="73152" marR="73152" marT="36576" marB="36576" anchor="ctr">
                    <a:solidFill>
                      <a:srgbClr val="FFF1BF"/>
                    </a:solidFill>
                  </a:tcPr>
                </a:tc>
                <a:tc>
                  <a:txBody>
                    <a:bodyPr wrap="square"/>
                    <a:lstStyle/>
                    <a:p>
                      <a:pPr algn="ctr"/>
                      <a:r>
                        <a:rPr sz="1380" b="1" i="0">
                          <a:solidFill>
                            <a:srgbClr val="14313B"/>
                          </a:solidFill>
                          <a:latin typeface="Calibri (MS)"/>
                        </a:rPr>
                        <a:t>165</a:t>
                      </a:r>
                    </a:p>
                  </a:txBody>
                  <a:tcPr marL="73152" marR="73152" marT="36576" marB="36576" anchor="ctr">
                    <a:solidFill>
                      <a:srgbClr val="FFF1BF"/>
                    </a:solidFill>
                  </a:tcPr>
                </a:tc>
                <a:tc>
                  <a:txBody>
                    <a:bodyPr wrap="square"/>
                    <a:lstStyle/>
                    <a:p>
                      <a:pPr algn="ctr"/>
                      <a:r>
                        <a:rPr sz="1380" b="1" i="0">
                          <a:solidFill>
                            <a:srgbClr val="9A6B00"/>
                          </a:solidFill>
                          <a:latin typeface="Calibri (MS)"/>
                        </a:rPr>
                        <a:t>Estimasi NTL</a:t>
                      </a:r>
                    </a:p>
                  </a:txBody>
                  <a:tcPr marL="73152" marR="73152" marT="36576" marB="36576" anchor="ctr">
                    <a:solidFill>
                      <a:srgbClr val="FFF1BF"/>
                    </a:solidFill>
                  </a:tcPr>
                </a:tc>
              </a:tr>
              <a:tr h="475488">
                <a:tc>
                  <a:txBody>
                    <a:bodyPr wrap="square"/>
                    <a:lstStyle/>
                    <a:p>
                      <a:pPr algn="ctr"/>
                      <a:r>
                        <a:rPr sz="1380" b="0" i="0">
                          <a:solidFill>
                            <a:srgbClr val="14313B"/>
                          </a:solidFill>
                          <a:latin typeface="Calibri (MS)"/>
                        </a:rPr>
                        <a:t>2016</a:t>
                      </a:r>
                    </a:p>
                  </a:txBody>
                  <a:tcPr marL="73152" marR="73152" marT="36576" marB="36576" anchor="ctr">
                    <a:solidFill>
                      <a:srgbClr val="FFF1BF"/>
                    </a:solidFill>
                  </a:tcPr>
                </a:tc>
                <a:tc>
                  <a:txBody>
                    <a:bodyPr wrap="square"/>
                    <a:lstStyle/>
                    <a:p>
                      <a:pPr algn="ctr"/>
                      <a:r>
                        <a:rPr sz="1380" b="0" i="0">
                          <a:solidFill>
                            <a:srgbClr val="14313B"/>
                          </a:solidFill>
                          <a:latin typeface="Calibri (MS)"/>
                        </a:rPr>
                        <a:t>1,054</a:t>
                      </a:r>
                    </a:p>
                  </a:txBody>
                  <a:tcPr marL="73152" marR="73152" marT="36576" marB="36576" anchor="ctr">
                    <a:solidFill>
                      <a:srgbClr val="FFF1BF"/>
                    </a:solidFill>
                  </a:tcPr>
                </a:tc>
                <a:tc>
                  <a:txBody>
                    <a:bodyPr wrap="square"/>
                    <a:lstStyle/>
                    <a:p>
                      <a:pPr algn="ctr"/>
                      <a:r>
                        <a:rPr sz="1380" b="0" i="0">
                          <a:solidFill>
                            <a:srgbClr val="14313B"/>
                          </a:solidFill>
                          <a:latin typeface="Calibri (MS)"/>
                        </a:rPr>
                        <a:t>—</a:t>
                      </a:r>
                    </a:p>
                  </a:txBody>
                  <a:tcPr marL="73152" marR="73152" marT="36576" marB="36576" anchor="ctr">
                    <a:solidFill>
                      <a:srgbClr val="FFF1BF"/>
                    </a:solidFill>
                  </a:tcPr>
                </a:tc>
                <a:tc>
                  <a:txBody>
                    <a:bodyPr wrap="square"/>
                    <a:lstStyle/>
                    <a:p>
                      <a:pPr algn="ctr"/>
                      <a:r>
                        <a:rPr sz="1380" b="0" i="0">
                          <a:solidFill>
                            <a:srgbClr val="14313B"/>
                          </a:solidFill>
                          <a:latin typeface="Calibri (MS)"/>
                        </a:rPr>
                        <a:t>158,1</a:t>
                      </a:r>
                    </a:p>
                  </a:txBody>
                  <a:tcPr marL="73152" marR="73152" marT="36576" marB="36576" anchor="ctr">
                    <a:solidFill>
                      <a:srgbClr val="FFF1BF"/>
                    </a:solidFill>
                  </a:tcPr>
                </a:tc>
                <a:tc>
                  <a:txBody>
                    <a:bodyPr wrap="square"/>
                    <a:lstStyle/>
                    <a:p>
                      <a:pPr algn="ctr"/>
                      <a:r>
                        <a:rPr sz="1380" b="0" i="0">
                          <a:solidFill>
                            <a:srgbClr val="14313B"/>
                          </a:solidFill>
                          <a:latin typeface="Calibri (MS)"/>
                        </a:rPr>
                        <a:t>128,9 – 187,3</a:t>
                      </a:r>
                    </a:p>
                  </a:txBody>
                  <a:tcPr marL="73152" marR="73152" marT="36576" marB="36576" anchor="ctr">
                    <a:solidFill>
                      <a:srgbClr val="FFF1BF"/>
                    </a:solidFill>
                  </a:tcPr>
                </a:tc>
                <a:tc>
                  <a:txBody>
                    <a:bodyPr wrap="square"/>
                    <a:lstStyle/>
                    <a:p>
                      <a:pPr algn="ctr"/>
                      <a:r>
                        <a:rPr sz="1380" b="1" i="0">
                          <a:solidFill>
                            <a:srgbClr val="14313B"/>
                          </a:solidFill>
                          <a:latin typeface="Calibri (MS)"/>
                        </a:rPr>
                        <a:t>158</a:t>
                      </a:r>
                    </a:p>
                  </a:txBody>
                  <a:tcPr marL="73152" marR="73152" marT="36576" marB="36576" anchor="ctr">
                    <a:solidFill>
                      <a:srgbClr val="FFF1BF"/>
                    </a:solidFill>
                  </a:tcPr>
                </a:tc>
                <a:tc>
                  <a:txBody>
                    <a:bodyPr wrap="square"/>
                    <a:lstStyle/>
                    <a:p>
                      <a:pPr algn="ctr"/>
                      <a:r>
                        <a:rPr sz="1380" b="1" i="0">
                          <a:solidFill>
                            <a:srgbClr val="9A6B00"/>
                          </a:solidFill>
                          <a:latin typeface="Calibri (MS)"/>
                        </a:rPr>
                        <a:t>Estimasi NTL</a:t>
                      </a:r>
                    </a:p>
                  </a:txBody>
                  <a:tcPr marL="73152" marR="73152" marT="36576" marB="36576" anchor="ctr">
                    <a:solidFill>
                      <a:srgbClr val="FFF1BF"/>
                    </a:solidFill>
                  </a:tcPr>
                </a:tc>
              </a:tr>
              <a:tr h="475488">
                <a:tc>
                  <a:txBody>
                    <a:bodyPr wrap="square"/>
                    <a:lstStyle/>
                    <a:p>
                      <a:pPr algn="ctr"/>
                      <a:r>
                        <a:rPr sz="1380" b="0" i="0">
                          <a:solidFill>
                            <a:srgbClr val="14313B"/>
                          </a:solidFill>
                          <a:latin typeface="Calibri (MS)"/>
                        </a:rPr>
                        <a:t>2017</a:t>
                      </a:r>
                    </a:p>
                  </a:txBody>
                  <a:tcPr marL="73152" marR="73152" marT="36576" marB="36576" anchor="ctr">
                    <a:solidFill>
                      <a:srgbClr val="FFF1BF"/>
                    </a:solidFill>
                  </a:tcPr>
                </a:tc>
                <a:tc>
                  <a:txBody>
                    <a:bodyPr wrap="square"/>
                    <a:lstStyle/>
                    <a:p>
                      <a:pPr algn="ctr"/>
                      <a:r>
                        <a:rPr sz="1380" b="0" i="0">
                          <a:solidFill>
                            <a:srgbClr val="14313B"/>
                          </a:solidFill>
                          <a:latin typeface="Calibri (MS)"/>
                        </a:rPr>
                        <a:t>1,438</a:t>
                      </a:r>
                    </a:p>
                  </a:txBody>
                  <a:tcPr marL="73152" marR="73152" marT="36576" marB="36576" anchor="ctr">
                    <a:solidFill>
                      <a:srgbClr val="FFF1BF"/>
                    </a:solidFill>
                  </a:tcPr>
                </a:tc>
                <a:tc>
                  <a:txBody>
                    <a:bodyPr wrap="square"/>
                    <a:lstStyle/>
                    <a:p>
                      <a:pPr algn="ctr"/>
                      <a:r>
                        <a:rPr sz="1380" b="0" i="0">
                          <a:solidFill>
                            <a:srgbClr val="14313B"/>
                          </a:solidFill>
                          <a:latin typeface="Calibri (MS)"/>
                        </a:rPr>
                        <a:t>—</a:t>
                      </a:r>
                    </a:p>
                  </a:txBody>
                  <a:tcPr marL="73152" marR="73152" marT="36576" marB="36576" anchor="ctr">
                    <a:solidFill>
                      <a:srgbClr val="FFF1BF"/>
                    </a:solidFill>
                  </a:tcPr>
                </a:tc>
                <a:tc>
                  <a:txBody>
                    <a:bodyPr wrap="square"/>
                    <a:lstStyle/>
                    <a:p>
                      <a:pPr algn="ctr"/>
                      <a:r>
                        <a:rPr sz="1380" b="0" i="0">
                          <a:solidFill>
                            <a:srgbClr val="14313B"/>
                          </a:solidFill>
                          <a:latin typeface="Calibri (MS)"/>
                        </a:rPr>
                        <a:t>171,4</a:t>
                      </a:r>
                    </a:p>
                  </a:txBody>
                  <a:tcPr marL="73152" marR="73152" marT="36576" marB="36576" anchor="ctr">
                    <a:solidFill>
                      <a:srgbClr val="FFF1BF"/>
                    </a:solidFill>
                  </a:tcPr>
                </a:tc>
                <a:tc>
                  <a:txBody>
                    <a:bodyPr wrap="square"/>
                    <a:lstStyle/>
                    <a:p>
                      <a:pPr algn="ctr"/>
                      <a:r>
                        <a:rPr sz="1380" b="0" i="0">
                          <a:solidFill>
                            <a:srgbClr val="14313B"/>
                          </a:solidFill>
                          <a:latin typeface="Calibri (MS)"/>
                        </a:rPr>
                        <a:t>146,4 – 196,3</a:t>
                      </a:r>
                    </a:p>
                  </a:txBody>
                  <a:tcPr marL="73152" marR="73152" marT="36576" marB="36576" anchor="ctr">
                    <a:solidFill>
                      <a:srgbClr val="FFF1BF"/>
                    </a:solidFill>
                  </a:tcPr>
                </a:tc>
                <a:tc>
                  <a:txBody>
                    <a:bodyPr wrap="square"/>
                    <a:lstStyle/>
                    <a:p>
                      <a:pPr algn="ctr"/>
                      <a:r>
                        <a:rPr sz="1380" b="1" i="0">
                          <a:solidFill>
                            <a:srgbClr val="14313B"/>
                          </a:solidFill>
                          <a:latin typeface="Calibri (MS)"/>
                        </a:rPr>
                        <a:t>171</a:t>
                      </a:r>
                    </a:p>
                  </a:txBody>
                  <a:tcPr marL="73152" marR="73152" marT="36576" marB="36576" anchor="ctr">
                    <a:solidFill>
                      <a:srgbClr val="FFF1BF"/>
                    </a:solidFill>
                  </a:tcPr>
                </a:tc>
                <a:tc>
                  <a:txBody>
                    <a:bodyPr wrap="square"/>
                    <a:lstStyle/>
                    <a:p>
                      <a:pPr algn="ctr"/>
                      <a:r>
                        <a:rPr sz="1380" b="1" i="0">
                          <a:solidFill>
                            <a:srgbClr val="9A6B00"/>
                          </a:solidFill>
                          <a:latin typeface="Calibri (MS)"/>
                        </a:rPr>
                        <a:t>Estimasi NTL</a:t>
                      </a:r>
                    </a:p>
                  </a:txBody>
                  <a:tcPr marL="73152" marR="73152" marT="36576" marB="36576" anchor="ctr">
                    <a:solidFill>
                      <a:srgbClr val="FFF1BF"/>
                    </a:solidFill>
                  </a:tcPr>
                </a:tc>
              </a:tr>
              <a:tr h="475488">
                <a:tc>
                  <a:txBody>
                    <a:bodyPr wrap="square"/>
                    <a:lstStyle/>
                    <a:p>
                      <a:pPr algn="ctr"/>
                      <a:r>
                        <a:rPr sz="1380" b="0" i="0">
                          <a:solidFill>
                            <a:srgbClr val="14313B"/>
                          </a:solidFill>
                          <a:latin typeface="Calibri (MS)"/>
                        </a:rPr>
                        <a:t>2018</a:t>
                      </a:r>
                    </a:p>
                  </a:txBody>
                  <a:tcPr marL="73152" marR="73152" marT="36576" marB="36576" anchor="ctr">
                    <a:solidFill>
                      <a:srgbClr val="EAF8FA"/>
                    </a:solidFill>
                  </a:tcPr>
                </a:tc>
                <a:tc>
                  <a:txBody>
                    <a:bodyPr wrap="square"/>
                    <a:lstStyle/>
                    <a:p>
                      <a:pPr algn="ctr"/>
                      <a:r>
                        <a:rPr sz="1380" b="0" i="0">
                          <a:solidFill>
                            <a:srgbClr val="14313B"/>
                          </a:solidFill>
                          <a:latin typeface="Calibri (MS)"/>
                        </a:rPr>
                        <a:t>1,668</a:t>
                      </a:r>
                    </a:p>
                  </a:txBody>
                  <a:tcPr marL="73152" marR="73152" marT="36576" marB="36576" anchor="ctr">
                    <a:solidFill>
                      <a:srgbClr val="EAF8FA"/>
                    </a:solidFill>
                  </a:tcPr>
                </a:tc>
                <a:tc>
                  <a:txBody>
                    <a:bodyPr wrap="square"/>
                    <a:lstStyle/>
                    <a:p>
                      <a:pPr algn="ctr"/>
                      <a:r>
                        <a:rPr sz="1380" b="0" i="0">
                          <a:solidFill>
                            <a:srgbClr val="14313B"/>
                          </a:solidFill>
                          <a:latin typeface="Calibri (MS)"/>
                        </a:rPr>
                        <a:t>177</a:t>
                      </a:r>
                    </a:p>
                  </a:txBody>
                  <a:tcPr marL="73152" marR="73152" marT="36576" marB="36576" anchor="ctr">
                    <a:solidFill>
                      <a:srgbClr val="EAF8FA"/>
                    </a:solidFill>
                  </a:tcPr>
                </a:tc>
                <a:tc>
                  <a:txBody>
                    <a:bodyPr wrap="square"/>
                    <a:lstStyle/>
                    <a:p>
                      <a:pPr algn="ctr"/>
                      <a:r>
                        <a:rPr sz="1380" b="0" i="0">
                          <a:solidFill>
                            <a:srgbClr val="14313B"/>
                          </a:solidFill>
                          <a:latin typeface="Calibri (MS)"/>
                        </a:rPr>
                        <a:t>179,3</a:t>
                      </a:r>
                    </a:p>
                  </a:txBody>
                  <a:tcPr marL="73152" marR="73152" marT="36576" marB="36576" anchor="ctr">
                    <a:solidFill>
                      <a:srgbClr val="EAF8FA"/>
                    </a:solidFill>
                  </a:tcPr>
                </a:tc>
                <a:tc>
                  <a:txBody>
                    <a:bodyPr wrap="square"/>
                    <a:lstStyle/>
                    <a:p>
                      <a:pPr algn="ctr"/>
                      <a:r>
                        <a:rPr sz="1380" b="0" i="0">
                          <a:solidFill>
                            <a:srgbClr val="14313B"/>
                          </a:solidFill>
                          <a:latin typeface="Calibri (MS)"/>
                        </a:rPr>
                        <a:t>—</a:t>
                      </a:r>
                    </a:p>
                  </a:txBody>
                  <a:tcPr marL="73152" marR="73152" marT="36576" marB="36576" anchor="ctr">
                    <a:solidFill>
                      <a:srgbClr val="EAF8FA"/>
                    </a:solidFill>
                  </a:tcPr>
                </a:tc>
                <a:tc>
                  <a:txBody>
                    <a:bodyPr wrap="square"/>
                    <a:lstStyle/>
                    <a:p>
                      <a:pPr algn="ctr"/>
                      <a:r>
                        <a:rPr sz="1380" b="1" i="0">
                          <a:solidFill>
                            <a:srgbClr val="14313B"/>
                          </a:solidFill>
                          <a:latin typeface="Calibri (MS)"/>
                        </a:rPr>
                        <a:t>177</a:t>
                      </a:r>
                    </a:p>
                  </a:txBody>
                  <a:tcPr marL="73152" marR="73152" marT="36576" marB="36576" anchor="ctr">
                    <a:solidFill>
                      <a:srgbClr val="EAF8FA"/>
                    </a:solidFill>
                  </a:tcPr>
                </a:tc>
                <a:tc>
                  <a:txBody>
                    <a:bodyPr wrap="square"/>
                    <a:lstStyle/>
                    <a:p>
                      <a:pPr algn="ctr"/>
                      <a:r>
                        <a:rPr sz="1380" b="1" i="0">
                          <a:solidFill>
                            <a:srgbClr val="14313B"/>
                          </a:solidFill>
                          <a:latin typeface="Calibri (MS)"/>
                        </a:rPr>
                        <a:t>Data BPS</a:t>
                      </a:r>
                    </a:p>
                  </a:txBody>
                  <a:tcPr marL="73152" marR="73152" marT="36576" marB="36576" anchor="ctr">
                    <a:solidFill>
                      <a:srgbClr val="EAF8FA"/>
                    </a:solidFill>
                  </a:tcPr>
                </a:tc>
              </a:tr>
              <a:tr h="475488">
                <a:tc>
                  <a:txBody>
                    <a:bodyPr wrap="square"/>
                    <a:lstStyle/>
                    <a:p>
                      <a:pPr algn="ctr"/>
                      <a:r>
                        <a:rPr sz="1380" b="0" i="0">
                          <a:solidFill>
                            <a:srgbClr val="14313B"/>
                          </a:solidFill>
                          <a:latin typeface="Calibri (MS)"/>
                        </a:rPr>
                        <a:t>2019</a:t>
                      </a:r>
                    </a:p>
                  </a:txBody>
                  <a:tcPr marL="73152" marR="73152" marT="36576" marB="36576" anchor="ctr">
                    <a:solidFill>
                      <a:srgbClr val="FFFFFF"/>
                    </a:solidFill>
                  </a:tcPr>
                </a:tc>
                <a:tc>
                  <a:txBody>
                    <a:bodyPr wrap="square"/>
                    <a:lstStyle/>
                    <a:p>
                      <a:pPr algn="ctr"/>
                      <a:r>
                        <a:rPr sz="1380" b="0" i="0">
                          <a:solidFill>
                            <a:srgbClr val="14313B"/>
                          </a:solidFill>
                          <a:latin typeface="Calibri (MS)"/>
                        </a:rPr>
                        <a:t>2,005</a:t>
                      </a:r>
                    </a:p>
                  </a:txBody>
                  <a:tcPr marL="73152" marR="73152" marT="36576" marB="36576" anchor="ctr">
                    <a:solidFill>
                      <a:srgbClr val="FFFFFF"/>
                    </a:solidFill>
                  </a:tcPr>
                </a:tc>
                <a:tc>
                  <a:txBody>
                    <a:bodyPr wrap="square"/>
                    <a:lstStyle/>
                    <a:p>
                      <a:pPr algn="ctr"/>
                      <a:r>
                        <a:rPr sz="1380" b="0" i="0">
                          <a:solidFill>
                            <a:srgbClr val="14313B"/>
                          </a:solidFill>
                          <a:latin typeface="Calibri (MS)"/>
                        </a:rPr>
                        <a:t>189</a:t>
                      </a:r>
                    </a:p>
                  </a:txBody>
                  <a:tcPr marL="73152" marR="73152" marT="36576" marB="36576" anchor="ctr">
                    <a:solidFill>
                      <a:srgbClr val="FFFFFF"/>
                    </a:solidFill>
                  </a:tcPr>
                </a:tc>
                <a:tc>
                  <a:txBody>
                    <a:bodyPr wrap="square"/>
                    <a:lstStyle/>
                    <a:p>
                      <a:pPr algn="ctr"/>
                      <a:r>
                        <a:rPr sz="1380" b="0" i="0">
                          <a:solidFill>
                            <a:srgbClr val="14313B"/>
                          </a:solidFill>
                          <a:latin typeface="Calibri (MS)"/>
                        </a:rPr>
                        <a:t>191,0</a:t>
                      </a:r>
                    </a:p>
                  </a:txBody>
                  <a:tcPr marL="73152" marR="73152" marT="36576" marB="36576" anchor="ctr">
                    <a:solidFill>
                      <a:srgbClr val="FFFFFF"/>
                    </a:solidFill>
                  </a:tcPr>
                </a:tc>
                <a:tc>
                  <a:txBody>
                    <a:bodyPr wrap="square"/>
                    <a:lstStyle/>
                    <a:p>
                      <a:pPr algn="ctr"/>
                      <a:r>
                        <a:rPr sz="1380" b="0" i="0">
                          <a:solidFill>
                            <a:srgbClr val="14313B"/>
                          </a:solidFill>
                          <a:latin typeface="Calibri (MS)"/>
                        </a:rPr>
                        <a:t>—</a:t>
                      </a:r>
                    </a:p>
                  </a:txBody>
                  <a:tcPr marL="73152" marR="73152" marT="36576" marB="36576" anchor="ctr">
                    <a:solidFill>
                      <a:srgbClr val="FFFFFF"/>
                    </a:solidFill>
                  </a:tcPr>
                </a:tc>
                <a:tc>
                  <a:txBody>
                    <a:bodyPr wrap="square"/>
                    <a:lstStyle/>
                    <a:p>
                      <a:pPr algn="ctr"/>
                      <a:r>
                        <a:rPr sz="1380" b="1" i="0">
                          <a:solidFill>
                            <a:srgbClr val="14313B"/>
                          </a:solidFill>
                          <a:latin typeface="Calibri (MS)"/>
                        </a:rPr>
                        <a:t>189</a:t>
                      </a:r>
                    </a:p>
                  </a:txBody>
                  <a:tcPr marL="73152" marR="73152" marT="36576" marB="36576" anchor="ctr">
                    <a:solidFill>
                      <a:srgbClr val="FFFFFF"/>
                    </a:solidFill>
                  </a:tcPr>
                </a:tc>
                <a:tc>
                  <a:txBody>
                    <a:bodyPr wrap="square"/>
                    <a:lstStyle/>
                    <a:p>
                      <a:pPr algn="ctr"/>
                      <a:r>
                        <a:rPr sz="1380" b="1" i="0">
                          <a:solidFill>
                            <a:srgbClr val="14313B"/>
                          </a:solidFill>
                          <a:latin typeface="Calibri (MS)"/>
                        </a:rPr>
                        <a:t>Data BPS</a:t>
                      </a:r>
                    </a:p>
                  </a:txBody>
                  <a:tcPr marL="73152" marR="73152" marT="36576" marB="36576" anchor="ctr">
                    <a:solidFill>
                      <a:srgbClr val="FFFFFF"/>
                    </a:solidFill>
                  </a:tcPr>
                </a:tc>
              </a:tr>
              <a:tr h="475488">
                <a:tc>
                  <a:txBody>
                    <a:bodyPr wrap="square"/>
                    <a:lstStyle/>
                    <a:p>
                      <a:pPr algn="ctr"/>
                      <a:r>
                        <a:rPr sz="1380" b="0" i="0">
                          <a:solidFill>
                            <a:srgbClr val="14313B"/>
                          </a:solidFill>
                          <a:latin typeface="Calibri (MS)"/>
                        </a:rPr>
                        <a:t>2020</a:t>
                      </a:r>
                    </a:p>
                  </a:txBody>
                  <a:tcPr marL="73152" marR="73152" marT="36576" marB="36576" anchor="ctr">
                    <a:solidFill>
                      <a:srgbClr val="EAF8FA"/>
                    </a:solidFill>
                  </a:tcPr>
                </a:tc>
                <a:tc>
                  <a:txBody>
                    <a:bodyPr wrap="square"/>
                    <a:lstStyle/>
                    <a:p>
                      <a:pPr algn="ctr"/>
                      <a:r>
                        <a:rPr sz="1380" b="0" i="0">
                          <a:solidFill>
                            <a:srgbClr val="14313B"/>
                          </a:solidFill>
                          <a:latin typeface="Calibri (MS)"/>
                        </a:rPr>
                        <a:t>1,828</a:t>
                      </a:r>
                    </a:p>
                  </a:txBody>
                  <a:tcPr marL="73152" marR="73152" marT="36576" marB="36576" anchor="ctr">
                    <a:solidFill>
                      <a:srgbClr val="EAF8FA"/>
                    </a:solidFill>
                  </a:tcPr>
                </a:tc>
                <a:tc>
                  <a:txBody>
                    <a:bodyPr wrap="square"/>
                    <a:lstStyle/>
                    <a:p>
                      <a:pPr algn="ctr"/>
                      <a:r>
                        <a:rPr sz="1380" b="0" i="0">
                          <a:solidFill>
                            <a:srgbClr val="14313B"/>
                          </a:solidFill>
                          <a:latin typeface="Calibri (MS)"/>
                        </a:rPr>
                        <a:t>180</a:t>
                      </a:r>
                    </a:p>
                  </a:txBody>
                  <a:tcPr marL="73152" marR="73152" marT="36576" marB="36576" anchor="ctr">
                    <a:solidFill>
                      <a:srgbClr val="EAF8FA"/>
                    </a:solidFill>
                  </a:tcPr>
                </a:tc>
                <a:tc>
                  <a:txBody>
                    <a:bodyPr wrap="square"/>
                    <a:lstStyle/>
                    <a:p>
                      <a:pPr algn="ctr"/>
                      <a:r>
                        <a:rPr sz="1380" b="0" i="0">
                          <a:solidFill>
                            <a:srgbClr val="14313B"/>
                          </a:solidFill>
                          <a:latin typeface="Calibri (MS)"/>
                        </a:rPr>
                        <a:t>184,8</a:t>
                      </a:r>
                    </a:p>
                  </a:txBody>
                  <a:tcPr marL="73152" marR="73152" marT="36576" marB="36576" anchor="ctr">
                    <a:solidFill>
                      <a:srgbClr val="EAF8FA"/>
                    </a:solidFill>
                  </a:tcPr>
                </a:tc>
                <a:tc>
                  <a:txBody>
                    <a:bodyPr wrap="square"/>
                    <a:lstStyle/>
                    <a:p>
                      <a:pPr algn="ctr"/>
                      <a:r>
                        <a:rPr sz="1380" b="0" i="0">
                          <a:solidFill>
                            <a:srgbClr val="14313B"/>
                          </a:solidFill>
                          <a:latin typeface="Calibri (MS)"/>
                        </a:rPr>
                        <a:t>—</a:t>
                      </a:r>
                    </a:p>
                  </a:txBody>
                  <a:tcPr marL="73152" marR="73152" marT="36576" marB="36576" anchor="ctr">
                    <a:solidFill>
                      <a:srgbClr val="EAF8FA"/>
                    </a:solidFill>
                  </a:tcPr>
                </a:tc>
                <a:tc>
                  <a:txBody>
                    <a:bodyPr wrap="square"/>
                    <a:lstStyle/>
                    <a:p>
                      <a:pPr algn="ctr"/>
                      <a:r>
                        <a:rPr sz="1380" b="1" i="0">
                          <a:solidFill>
                            <a:srgbClr val="14313B"/>
                          </a:solidFill>
                          <a:latin typeface="Calibri (MS)"/>
                        </a:rPr>
                        <a:t>180</a:t>
                      </a:r>
                    </a:p>
                  </a:txBody>
                  <a:tcPr marL="73152" marR="73152" marT="36576" marB="36576" anchor="ctr">
                    <a:solidFill>
                      <a:srgbClr val="EAF8FA"/>
                    </a:solidFill>
                  </a:tcPr>
                </a:tc>
                <a:tc>
                  <a:txBody>
                    <a:bodyPr wrap="square"/>
                    <a:lstStyle/>
                    <a:p>
                      <a:pPr algn="ctr"/>
                      <a:r>
                        <a:rPr sz="1380" b="1" i="0">
                          <a:solidFill>
                            <a:srgbClr val="14313B"/>
                          </a:solidFill>
                          <a:latin typeface="Calibri (MS)"/>
                        </a:rPr>
                        <a:t>Data BPS</a:t>
                      </a:r>
                    </a:p>
                  </a:txBody>
                  <a:tcPr marL="73152" marR="73152" marT="36576" marB="36576" anchor="ctr">
                    <a:solidFill>
                      <a:srgbClr val="EAF8FA"/>
                    </a:solidFill>
                  </a:tcPr>
                </a:tc>
              </a:tr>
              <a:tr h="475488">
                <a:tc>
                  <a:txBody>
                    <a:bodyPr wrap="square"/>
                    <a:lstStyle/>
                    <a:p>
                      <a:pPr algn="ctr"/>
                      <a:r>
                        <a:rPr sz="1380" b="0" i="0">
                          <a:solidFill>
                            <a:srgbClr val="14313B"/>
                          </a:solidFill>
                          <a:latin typeface="Calibri (MS)"/>
                        </a:rPr>
                        <a:t>2021</a:t>
                      </a:r>
                    </a:p>
                  </a:txBody>
                  <a:tcPr marL="73152" marR="73152" marT="36576" marB="36576" anchor="ctr">
                    <a:solidFill>
                      <a:srgbClr val="FFFFFF"/>
                    </a:solidFill>
                  </a:tcPr>
                </a:tc>
                <a:tc>
                  <a:txBody>
                    <a:bodyPr wrap="square"/>
                    <a:lstStyle/>
                    <a:p>
                      <a:pPr algn="ctr"/>
                      <a:r>
                        <a:rPr sz="1380" b="0" i="0">
                          <a:solidFill>
                            <a:srgbClr val="14313B"/>
                          </a:solidFill>
                          <a:latin typeface="Calibri (MS)"/>
                        </a:rPr>
                        <a:t>1,541</a:t>
                      </a:r>
                    </a:p>
                  </a:txBody>
                  <a:tcPr marL="73152" marR="73152" marT="36576" marB="36576" anchor="ctr">
                    <a:solidFill>
                      <a:srgbClr val="FFFFFF"/>
                    </a:solidFill>
                  </a:tcPr>
                </a:tc>
                <a:tc>
                  <a:txBody>
                    <a:bodyPr wrap="square"/>
                    <a:lstStyle/>
                    <a:p>
                      <a:pPr algn="ctr"/>
                      <a:r>
                        <a:rPr sz="1380" b="0" i="0">
                          <a:solidFill>
                            <a:srgbClr val="14313B"/>
                          </a:solidFill>
                          <a:latin typeface="Calibri (MS)"/>
                        </a:rPr>
                        <a:t>170</a:t>
                      </a:r>
                    </a:p>
                  </a:txBody>
                  <a:tcPr marL="73152" marR="73152" marT="36576" marB="36576" anchor="ctr">
                    <a:solidFill>
                      <a:srgbClr val="FFFFFF"/>
                    </a:solidFill>
                  </a:tcPr>
                </a:tc>
                <a:tc>
                  <a:txBody>
                    <a:bodyPr wrap="square"/>
                    <a:lstStyle/>
                    <a:p>
                      <a:pPr algn="ctr"/>
                      <a:r>
                        <a:rPr sz="1380" b="0" i="0">
                          <a:solidFill>
                            <a:srgbClr val="14313B"/>
                          </a:solidFill>
                          <a:latin typeface="Calibri (MS)"/>
                        </a:rPr>
                        <a:t>174,9</a:t>
                      </a:r>
                    </a:p>
                  </a:txBody>
                  <a:tcPr marL="73152" marR="73152" marT="36576" marB="36576" anchor="ctr">
                    <a:solidFill>
                      <a:srgbClr val="FFFFFF"/>
                    </a:solidFill>
                  </a:tcPr>
                </a:tc>
                <a:tc>
                  <a:txBody>
                    <a:bodyPr wrap="square"/>
                    <a:lstStyle/>
                    <a:p>
                      <a:pPr algn="ctr"/>
                      <a:r>
                        <a:rPr sz="1380" b="0" i="0">
                          <a:solidFill>
                            <a:srgbClr val="14313B"/>
                          </a:solidFill>
                          <a:latin typeface="Calibri (MS)"/>
                        </a:rPr>
                        <a:t>—</a:t>
                      </a:r>
                    </a:p>
                  </a:txBody>
                  <a:tcPr marL="73152" marR="73152" marT="36576" marB="36576" anchor="ctr">
                    <a:solidFill>
                      <a:srgbClr val="FFFFFF"/>
                    </a:solidFill>
                  </a:tcPr>
                </a:tc>
                <a:tc>
                  <a:txBody>
                    <a:bodyPr wrap="square"/>
                    <a:lstStyle/>
                    <a:p>
                      <a:pPr algn="ctr"/>
                      <a:r>
                        <a:rPr sz="1380" b="1" i="0">
                          <a:solidFill>
                            <a:srgbClr val="14313B"/>
                          </a:solidFill>
                          <a:latin typeface="Calibri (MS)"/>
                        </a:rPr>
                        <a:t>170</a:t>
                      </a:r>
                    </a:p>
                  </a:txBody>
                  <a:tcPr marL="73152" marR="73152" marT="36576" marB="36576" anchor="ctr">
                    <a:solidFill>
                      <a:srgbClr val="FFFFFF"/>
                    </a:solidFill>
                  </a:tcPr>
                </a:tc>
                <a:tc>
                  <a:txBody>
                    <a:bodyPr wrap="square"/>
                    <a:lstStyle/>
                    <a:p>
                      <a:pPr algn="ctr"/>
                      <a:r>
                        <a:rPr sz="1380" b="1" i="0">
                          <a:solidFill>
                            <a:srgbClr val="14313B"/>
                          </a:solidFill>
                          <a:latin typeface="Calibri (MS)"/>
                        </a:rPr>
                        <a:t>Data BPS</a:t>
                      </a:r>
                    </a:p>
                  </a:txBody>
                  <a:tcPr marL="73152" marR="73152" marT="36576" marB="36576" anchor="ctr">
                    <a:solidFill>
                      <a:srgbClr val="FFFFFF"/>
                    </a:solidFill>
                  </a:tcPr>
                </a:tc>
              </a:tr>
              <a:tr h="475488">
                <a:tc>
                  <a:txBody>
                    <a:bodyPr wrap="square"/>
                    <a:lstStyle/>
                    <a:p>
                      <a:pPr algn="ctr"/>
                      <a:r>
                        <a:rPr sz="1380" b="0" i="0">
                          <a:solidFill>
                            <a:srgbClr val="14313B"/>
                          </a:solidFill>
                          <a:latin typeface="Calibri (MS)"/>
                        </a:rPr>
                        <a:t>2022</a:t>
                      </a:r>
                    </a:p>
                  </a:txBody>
                  <a:tcPr marL="73152" marR="73152" marT="36576" marB="36576" anchor="ctr">
                    <a:solidFill>
                      <a:srgbClr val="EAF8FA"/>
                    </a:solidFill>
                  </a:tcPr>
                </a:tc>
                <a:tc>
                  <a:txBody>
                    <a:bodyPr wrap="square"/>
                    <a:lstStyle/>
                    <a:p>
                      <a:pPr algn="ctr"/>
                      <a:r>
                        <a:rPr sz="1380" b="0" i="0">
                          <a:solidFill>
                            <a:srgbClr val="14313B"/>
                          </a:solidFill>
                          <a:latin typeface="Calibri (MS)"/>
                        </a:rPr>
                        <a:t>1,483</a:t>
                      </a:r>
                    </a:p>
                  </a:txBody>
                  <a:tcPr marL="73152" marR="73152" marT="36576" marB="36576" anchor="ctr">
                    <a:solidFill>
                      <a:srgbClr val="EAF8FA"/>
                    </a:solidFill>
                  </a:tcPr>
                </a:tc>
                <a:tc>
                  <a:txBody>
                    <a:bodyPr wrap="square"/>
                    <a:lstStyle/>
                    <a:p>
                      <a:pPr algn="ctr"/>
                      <a:r>
                        <a:rPr sz="1380" b="0" i="0">
                          <a:solidFill>
                            <a:srgbClr val="14313B"/>
                          </a:solidFill>
                          <a:latin typeface="Calibri (MS)"/>
                        </a:rPr>
                        <a:t>183</a:t>
                      </a:r>
                    </a:p>
                  </a:txBody>
                  <a:tcPr marL="73152" marR="73152" marT="36576" marB="36576" anchor="ctr">
                    <a:solidFill>
                      <a:srgbClr val="EAF8FA"/>
                    </a:solidFill>
                  </a:tcPr>
                </a:tc>
                <a:tc>
                  <a:txBody>
                    <a:bodyPr wrap="square"/>
                    <a:lstStyle/>
                    <a:p>
                      <a:pPr algn="ctr"/>
                      <a:r>
                        <a:rPr sz="1380" b="0" i="0">
                          <a:solidFill>
                            <a:srgbClr val="14313B"/>
                          </a:solidFill>
                          <a:latin typeface="Calibri (MS)"/>
                        </a:rPr>
                        <a:t>172,9</a:t>
                      </a:r>
                    </a:p>
                  </a:txBody>
                  <a:tcPr marL="73152" marR="73152" marT="36576" marB="36576" anchor="ctr">
                    <a:solidFill>
                      <a:srgbClr val="EAF8FA"/>
                    </a:solidFill>
                  </a:tcPr>
                </a:tc>
                <a:tc>
                  <a:txBody>
                    <a:bodyPr wrap="square"/>
                    <a:lstStyle/>
                    <a:p>
                      <a:pPr algn="ctr"/>
                      <a:r>
                        <a:rPr sz="1380" b="0" i="0">
                          <a:solidFill>
                            <a:srgbClr val="14313B"/>
                          </a:solidFill>
                          <a:latin typeface="Calibri (MS)"/>
                        </a:rPr>
                        <a:t>—</a:t>
                      </a:r>
                    </a:p>
                  </a:txBody>
                  <a:tcPr marL="73152" marR="73152" marT="36576" marB="36576" anchor="ctr">
                    <a:solidFill>
                      <a:srgbClr val="EAF8FA"/>
                    </a:solidFill>
                  </a:tcPr>
                </a:tc>
                <a:tc>
                  <a:txBody>
                    <a:bodyPr wrap="square"/>
                    <a:lstStyle/>
                    <a:p>
                      <a:pPr algn="ctr"/>
                      <a:r>
                        <a:rPr sz="1380" b="1" i="0">
                          <a:solidFill>
                            <a:srgbClr val="14313B"/>
                          </a:solidFill>
                          <a:latin typeface="Calibri (MS)"/>
                        </a:rPr>
                        <a:t>183</a:t>
                      </a:r>
                    </a:p>
                  </a:txBody>
                  <a:tcPr marL="73152" marR="73152" marT="36576" marB="36576" anchor="ctr">
                    <a:solidFill>
                      <a:srgbClr val="EAF8FA"/>
                    </a:solidFill>
                  </a:tcPr>
                </a:tc>
                <a:tc>
                  <a:txBody>
                    <a:bodyPr wrap="square"/>
                    <a:lstStyle/>
                    <a:p>
                      <a:pPr algn="ctr"/>
                      <a:r>
                        <a:rPr sz="1380" b="1" i="0">
                          <a:solidFill>
                            <a:srgbClr val="14313B"/>
                          </a:solidFill>
                          <a:latin typeface="Calibri (MS)"/>
                        </a:rPr>
                        <a:t>Data BPS</a:t>
                      </a:r>
                    </a:p>
                  </a:txBody>
                  <a:tcPr marL="73152" marR="73152" marT="36576" marB="36576" anchor="ctr">
                    <a:solidFill>
                      <a:srgbClr val="EAF8FA"/>
                    </a:solidFill>
                  </a:tcPr>
                </a:tc>
              </a:tr>
              <a:tr h="475488">
                <a:tc>
                  <a:txBody>
                    <a:bodyPr wrap="square"/>
                    <a:lstStyle/>
                    <a:p>
                      <a:pPr algn="ctr"/>
                      <a:r>
                        <a:rPr sz="1380" b="0" i="0">
                          <a:solidFill>
                            <a:srgbClr val="14313B"/>
                          </a:solidFill>
                          <a:latin typeface="Calibri (MS)"/>
                        </a:rPr>
                        <a:t>2023</a:t>
                      </a:r>
                    </a:p>
                  </a:txBody>
                  <a:tcPr marL="73152" marR="73152" marT="36576" marB="36576" anchor="ctr">
                    <a:solidFill>
                      <a:srgbClr val="FFFFFF"/>
                    </a:solidFill>
                  </a:tcPr>
                </a:tc>
                <a:tc>
                  <a:txBody>
                    <a:bodyPr wrap="square"/>
                    <a:lstStyle/>
                    <a:p>
                      <a:pPr algn="ctr"/>
                      <a:r>
                        <a:rPr sz="1380" b="0" i="0">
                          <a:solidFill>
                            <a:srgbClr val="14313B"/>
                          </a:solidFill>
                          <a:latin typeface="Calibri (MS)"/>
                        </a:rPr>
                        <a:t>2,512</a:t>
                      </a:r>
                    </a:p>
                  </a:txBody>
                  <a:tcPr marL="73152" marR="73152" marT="36576" marB="36576" anchor="ctr">
                    <a:solidFill>
                      <a:srgbClr val="FFFFFF"/>
                    </a:solidFill>
                  </a:tcPr>
                </a:tc>
                <a:tc>
                  <a:txBody>
                    <a:bodyPr wrap="square"/>
                    <a:lstStyle/>
                    <a:p>
                      <a:pPr algn="ctr"/>
                      <a:r>
                        <a:rPr sz="1380" b="0" i="0">
                          <a:solidFill>
                            <a:srgbClr val="14313B"/>
                          </a:solidFill>
                          <a:latin typeface="Calibri (MS)"/>
                        </a:rPr>
                        <a:t>201</a:t>
                      </a:r>
                    </a:p>
                  </a:txBody>
                  <a:tcPr marL="73152" marR="73152" marT="36576" marB="36576" anchor="ctr">
                    <a:solidFill>
                      <a:srgbClr val="FFFFFF"/>
                    </a:solidFill>
                  </a:tcPr>
                </a:tc>
                <a:tc>
                  <a:txBody>
                    <a:bodyPr wrap="square"/>
                    <a:lstStyle/>
                    <a:p>
                      <a:pPr algn="ctr"/>
                      <a:r>
                        <a:rPr sz="1380" b="0" i="0">
                          <a:solidFill>
                            <a:srgbClr val="14313B"/>
                          </a:solidFill>
                          <a:latin typeface="Calibri (MS)"/>
                        </a:rPr>
                        <a:t>208,5</a:t>
                      </a:r>
                    </a:p>
                  </a:txBody>
                  <a:tcPr marL="73152" marR="73152" marT="36576" marB="36576" anchor="ctr">
                    <a:solidFill>
                      <a:srgbClr val="FFFFFF"/>
                    </a:solidFill>
                  </a:tcPr>
                </a:tc>
                <a:tc>
                  <a:txBody>
                    <a:bodyPr wrap="square"/>
                    <a:lstStyle/>
                    <a:p>
                      <a:pPr algn="ctr"/>
                      <a:r>
                        <a:rPr sz="1380" b="0" i="0">
                          <a:solidFill>
                            <a:srgbClr val="14313B"/>
                          </a:solidFill>
                          <a:latin typeface="Calibri (MS)"/>
                        </a:rPr>
                        <a:t>—</a:t>
                      </a:r>
                    </a:p>
                  </a:txBody>
                  <a:tcPr marL="73152" marR="73152" marT="36576" marB="36576" anchor="ctr">
                    <a:solidFill>
                      <a:srgbClr val="FFFFFF"/>
                    </a:solidFill>
                  </a:tcPr>
                </a:tc>
                <a:tc>
                  <a:txBody>
                    <a:bodyPr wrap="square"/>
                    <a:lstStyle/>
                    <a:p>
                      <a:pPr algn="ctr"/>
                      <a:r>
                        <a:rPr sz="1380" b="1" i="0">
                          <a:solidFill>
                            <a:srgbClr val="14313B"/>
                          </a:solidFill>
                          <a:latin typeface="Calibri (MS)"/>
                        </a:rPr>
                        <a:t>201</a:t>
                      </a:r>
                    </a:p>
                  </a:txBody>
                  <a:tcPr marL="73152" marR="73152" marT="36576" marB="36576" anchor="ctr">
                    <a:solidFill>
                      <a:srgbClr val="FFFFFF"/>
                    </a:solidFill>
                  </a:tcPr>
                </a:tc>
                <a:tc>
                  <a:txBody>
                    <a:bodyPr wrap="square"/>
                    <a:lstStyle/>
                    <a:p>
                      <a:pPr algn="ctr"/>
                      <a:r>
                        <a:rPr sz="1380" b="1" i="0">
                          <a:solidFill>
                            <a:srgbClr val="14313B"/>
                          </a:solidFill>
                          <a:latin typeface="Calibri (MS)"/>
                        </a:rPr>
                        <a:t>Data BPS</a:t>
                      </a:r>
                    </a:p>
                  </a:txBody>
                  <a:tcPr marL="73152" marR="73152" marT="36576" marB="36576" anchor="ctr">
                    <a:solidFill>
                      <a:srgbClr val="FFFFFF"/>
                    </a:solidFill>
                  </a:tcPr>
                </a:tc>
              </a:tr>
              <a:tr h="475488">
                <a:tc>
                  <a:txBody>
                    <a:bodyPr wrap="square"/>
                    <a:lstStyle/>
                    <a:p>
                      <a:pPr algn="ctr"/>
                      <a:r>
                        <a:rPr sz="1380" b="0" i="0">
                          <a:solidFill>
                            <a:srgbClr val="14313B"/>
                          </a:solidFill>
                          <a:latin typeface="Calibri (MS)"/>
                        </a:rPr>
                        <a:t>2024</a:t>
                      </a:r>
                    </a:p>
                  </a:txBody>
                  <a:tcPr marL="73152" marR="73152" marT="36576" marB="36576" anchor="ctr">
                    <a:solidFill>
                      <a:srgbClr val="EAF8FA"/>
                    </a:solidFill>
                  </a:tcPr>
                </a:tc>
                <a:tc>
                  <a:txBody>
                    <a:bodyPr wrap="square"/>
                    <a:lstStyle/>
                    <a:p>
                      <a:pPr algn="ctr"/>
                      <a:r>
                        <a:rPr sz="1380" b="0" i="0">
                          <a:solidFill>
                            <a:srgbClr val="14313B"/>
                          </a:solidFill>
                          <a:latin typeface="Calibri (MS)"/>
                        </a:rPr>
                        <a:t>2,457</a:t>
                      </a:r>
                    </a:p>
                  </a:txBody>
                  <a:tcPr marL="73152" marR="73152" marT="36576" marB="36576" anchor="ctr">
                    <a:solidFill>
                      <a:srgbClr val="EAF8FA"/>
                    </a:solidFill>
                  </a:tcPr>
                </a:tc>
                <a:tc>
                  <a:txBody>
                    <a:bodyPr wrap="square"/>
                    <a:lstStyle/>
                    <a:p>
                      <a:pPr algn="ctr"/>
                      <a:r>
                        <a:rPr sz="1380" b="0" i="0">
                          <a:solidFill>
                            <a:srgbClr val="14313B"/>
                          </a:solidFill>
                          <a:latin typeface="Calibri (MS)"/>
                        </a:rPr>
                        <a:t>218</a:t>
                      </a:r>
                    </a:p>
                  </a:txBody>
                  <a:tcPr marL="73152" marR="73152" marT="36576" marB="36576" anchor="ctr">
                    <a:solidFill>
                      <a:srgbClr val="EAF8FA"/>
                    </a:solidFill>
                  </a:tcPr>
                </a:tc>
                <a:tc>
                  <a:txBody>
                    <a:bodyPr wrap="square"/>
                    <a:lstStyle/>
                    <a:p>
                      <a:pPr algn="ctr"/>
                      <a:r>
                        <a:rPr sz="1380" b="0" i="0">
                          <a:solidFill>
                            <a:srgbClr val="14313B"/>
                          </a:solidFill>
                          <a:latin typeface="Calibri (MS)"/>
                        </a:rPr>
                        <a:t>206,6</a:t>
                      </a:r>
                    </a:p>
                  </a:txBody>
                  <a:tcPr marL="73152" marR="73152" marT="36576" marB="36576" anchor="ctr">
                    <a:solidFill>
                      <a:srgbClr val="EAF8FA"/>
                    </a:solidFill>
                  </a:tcPr>
                </a:tc>
                <a:tc>
                  <a:txBody>
                    <a:bodyPr wrap="square"/>
                    <a:lstStyle/>
                    <a:p>
                      <a:pPr algn="ctr"/>
                      <a:r>
                        <a:rPr sz="1380" b="0" i="0">
                          <a:solidFill>
                            <a:srgbClr val="14313B"/>
                          </a:solidFill>
                          <a:latin typeface="Calibri (MS)"/>
                        </a:rPr>
                        <a:t>—</a:t>
                      </a:r>
                    </a:p>
                  </a:txBody>
                  <a:tcPr marL="73152" marR="73152" marT="36576" marB="36576" anchor="ctr">
                    <a:solidFill>
                      <a:srgbClr val="EAF8FA"/>
                    </a:solidFill>
                  </a:tcPr>
                </a:tc>
                <a:tc>
                  <a:txBody>
                    <a:bodyPr wrap="square"/>
                    <a:lstStyle/>
                    <a:p>
                      <a:pPr algn="ctr"/>
                      <a:r>
                        <a:rPr sz="1380" b="1" i="0">
                          <a:solidFill>
                            <a:srgbClr val="14313B"/>
                          </a:solidFill>
                          <a:latin typeface="Calibri (MS)"/>
                        </a:rPr>
                        <a:t>218</a:t>
                      </a:r>
                    </a:p>
                  </a:txBody>
                  <a:tcPr marL="73152" marR="73152" marT="36576" marB="36576" anchor="ctr">
                    <a:solidFill>
                      <a:srgbClr val="EAF8FA"/>
                    </a:solidFill>
                  </a:tcPr>
                </a:tc>
                <a:tc>
                  <a:txBody>
                    <a:bodyPr wrap="square"/>
                    <a:lstStyle/>
                    <a:p>
                      <a:pPr algn="ctr"/>
                      <a:r>
                        <a:rPr sz="1380" b="1" i="0">
                          <a:solidFill>
                            <a:srgbClr val="14313B"/>
                          </a:solidFill>
                          <a:latin typeface="Calibri (MS)"/>
                        </a:rPr>
                        <a:t>Data BPS</a:t>
                      </a:r>
                    </a:p>
                  </a:txBody>
                  <a:tcPr marL="73152" marR="73152" marT="36576" marB="36576" anchor="ctr">
                    <a:solidFill>
                      <a:srgbClr val="EAF8FA"/>
                    </a:solidFill>
                  </a:tcPr>
                </a:tc>
              </a:tr>
              <a:tr h="475488">
                <a:tc>
                  <a:txBody>
                    <a:bodyPr wrap="square"/>
                    <a:lstStyle/>
                    <a:p>
                      <a:pPr algn="ctr"/>
                      <a:r>
                        <a:rPr sz="1380" b="0" i="0">
                          <a:solidFill>
                            <a:srgbClr val="14313B"/>
                          </a:solidFill>
                          <a:latin typeface="Calibri (MS)"/>
                        </a:rPr>
                        <a:t>2025</a:t>
                      </a:r>
                    </a:p>
                  </a:txBody>
                  <a:tcPr marL="73152" marR="73152" marT="36576" marB="36576" anchor="ctr">
                    <a:solidFill>
                      <a:srgbClr val="FFF1BF"/>
                    </a:solidFill>
                  </a:tcPr>
                </a:tc>
                <a:tc>
                  <a:txBody>
                    <a:bodyPr wrap="square"/>
                    <a:lstStyle/>
                    <a:p>
                      <a:pPr algn="ctr"/>
                      <a:r>
                        <a:rPr sz="1380" b="0" i="0">
                          <a:solidFill>
                            <a:srgbClr val="14313B"/>
                          </a:solidFill>
                          <a:latin typeface="Calibri (MS)"/>
                        </a:rPr>
                        <a:t>2,288</a:t>
                      </a:r>
                    </a:p>
                  </a:txBody>
                  <a:tcPr marL="73152" marR="73152" marT="36576" marB="36576" anchor="ctr">
                    <a:solidFill>
                      <a:srgbClr val="FFF1BF"/>
                    </a:solidFill>
                  </a:tcPr>
                </a:tc>
                <a:tc>
                  <a:txBody>
                    <a:bodyPr wrap="square"/>
                    <a:lstStyle/>
                    <a:p>
                      <a:pPr algn="ctr"/>
                      <a:r>
                        <a:rPr sz="1380" b="0" i="0">
                          <a:solidFill>
                            <a:srgbClr val="14313B"/>
                          </a:solidFill>
                          <a:latin typeface="Calibri (MS)"/>
                        </a:rPr>
                        <a:t>—</a:t>
                      </a:r>
                    </a:p>
                  </a:txBody>
                  <a:tcPr marL="73152" marR="73152" marT="36576" marB="36576" anchor="ctr">
                    <a:solidFill>
                      <a:srgbClr val="FFF1BF"/>
                    </a:solidFill>
                  </a:tcPr>
                </a:tc>
                <a:tc>
                  <a:txBody>
                    <a:bodyPr wrap="square"/>
                    <a:lstStyle/>
                    <a:p>
                      <a:pPr algn="ctr"/>
                      <a:r>
                        <a:rPr sz="1380" b="0" i="0">
                          <a:solidFill>
                            <a:srgbClr val="14313B"/>
                          </a:solidFill>
                          <a:latin typeface="Calibri (MS)"/>
                        </a:rPr>
                        <a:t>200,7</a:t>
                      </a:r>
                    </a:p>
                  </a:txBody>
                  <a:tcPr marL="73152" marR="73152" marT="36576" marB="36576" anchor="ctr">
                    <a:solidFill>
                      <a:srgbClr val="FFF1BF"/>
                    </a:solidFill>
                  </a:tcPr>
                </a:tc>
                <a:tc>
                  <a:txBody>
                    <a:bodyPr wrap="square"/>
                    <a:lstStyle/>
                    <a:p>
                      <a:pPr algn="ctr"/>
                      <a:r>
                        <a:rPr sz="1380" b="0" i="0">
                          <a:solidFill>
                            <a:srgbClr val="14313B"/>
                          </a:solidFill>
                          <a:latin typeface="Calibri (MS)"/>
                        </a:rPr>
                        <a:t>176,7 – 224,8</a:t>
                      </a:r>
                    </a:p>
                  </a:txBody>
                  <a:tcPr marL="73152" marR="73152" marT="36576" marB="36576" anchor="ctr">
                    <a:solidFill>
                      <a:srgbClr val="FFF1BF"/>
                    </a:solidFill>
                  </a:tcPr>
                </a:tc>
                <a:tc>
                  <a:txBody>
                    <a:bodyPr wrap="square"/>
                    <a:lstStyle/>
                    <a:p>
                      <a:pPr algn="ctr"/>
                      <a:r>
                        <a:rPr sz="1380" b="1" i="0">
                          <a:solidFill>
                            <a:srgbClr val="14313B"/>
                          </a:solidFill>
                          <a:latin typeface="Calibri (MS)"/>
                        </a:rPr>
                        <a:t>201</a:t>
                      </a:r>
                    </a:p>
                  </a:txBody>
                  <a:tcPr marL="73152" marR="73152" marT="36576" marB="36576" anchor="ctr">
                    <a:solidFill>
                      <a:srgbClr val="FFF1BF"/>
                    </a:solidFill>
                  </a:tcPr>
                </a:tc>
                <a:tc>
                  <a:txBody>
                    <a:bodyPr wrap="square"/>
                    <a:lstStyle/>
                    <a:p>
                      <a:pPr algn="ctr"/>
                      <a:r>
                        <a:rPr sz="1380" b="1" i="0">
                          <a:solidFill>
                            <a:srgbClr val="9A6B00"/>
                          </a:solidFill>
                          <a:latin typeface="Calibri (MS)"/>
                        </a:rPr>
                        <a:t>Estimasi NTL</a:t>
                      </a:r>
                    </a:p>
                  </a:txBody>
                  <a:tcPr marL="73152" marR="73152" marT="36576" marB="36576" anchor="ctr">
                    <a:solidFill>
                      <a:srgbClr val="FFF1BF"/>
                    </a:solidFill>
                  </a:tcPr>
                </a:tc>
              </a:tr>
            </a:tbl>
          </a:graphicData>
        </a:graphic>
      </p:graphicFrame>
      <p:graphicFrame>
        <p:nvGraphicFramePr>
          <p:cNvPr id="71" name="Chart 70"/>
          <p:cNvGraphicFramePr>
            <a:graphicFrameLocks noGrp="1"/>
          </p:cNvGraphicFramePr>
          <p:nvPr/>
        </p:nvGraphicFramePr>
        <p:xfrm>
          <a:off x="11704320" y="1828800"/>
          <a:ext cx="5760720" cy="5120640"/>
        </p:xfrm>
        <a:graphic>
          <a:graphicData uri="http://schemas.openxmlformats.org/drawingml/2006/chart">
            <c:chart xmlns:c="http://schemas.openxmlformats.org/drawingml/2006/chart" r:id="rId8"/>
          </a:graphicData>
        </a:graphic>
      </p:graphicFrame>
      <p:sp>
        <p:nvSpPr>
          <p:cNvPr id="72" name="Rounded Rectangle 71"/>
          <p:cNvSpPr/>
          <p:nvPr/>
        </p:nvSpPr>
        <p:spPr>
          <a:xfrm>
            <a:off x="11704320" y="7086600"/>
            <a:ext cx="5760720" cy="13258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Cara membaca</a:t>
            </a:r>
          </a:p>
          <a:p>
            <a:pPr algn="l">
              <a:spcAft>
                <a:spcPts val="300"/>
              </a:spcAft>
            </a:pPr>
            <a:r>
              <a:rPr sz="1320" b="0" i="0">
                <a:solidFill>
                  <a:srgbClr val="14313B"/>
                </a:solidFill>
                <a:latin typeface="Calibri (MS)"/>
              </a:rPr>
              <a:t>Baris kuning = tahun tanpa data BPS (2015–2017 dan 2025), diisi dengan ODTW = 121,61 + 34,59 × NTL. Nilai 2025 (201 unit) menjadi stok awal model.</a:t>
            </a:r>
          </a:p>
        </p:txBody>
      </p:sp>
      <p:sp>
        <p:nvSpPr>
          <p:cNvPr id="73" name="Rounded Rectangle 72"/>
          <p:cNvSpPr/>
          <p:nvPr/>
        </p:nvSpPr>
        <p:spPr>
          <a:xfrm>
            <a:off x="822960" y="7680960"/>
            <a:ext cx="1060704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440" b="1" i="0">
                <a:solidFill>
                  <a:srgbClr val="0B5E6E"/>
                </a:solidFill>
                <a:latin typeface="Calibri (MS) Bold"/>
              </a:rPr>
              <a:t>Catatan  </a:t>
            </a:r>
            <a:r>
              <a:rPr sz="1380" b="0" i="0">
                <a:solidFill>
                  <a:srgbClr val="14313B"/>
                </a:solidFill>
                <a:latin typeface="Calibri (MS)"/>
              </a:rPr>
              <a:t>Kolom "Hasil regresi NTL" pada tahun berdata BPS hanya pembanding; model tetap memakai data aktual BPS.</a:t>
            </a:r>
          </a:p>
        </p:txBody>
      </p:sp>
      <p:sp>
        <p:nvSpPr>
          <p:cNvPr id="74" name="TextBox 7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BPS DIY (ODTW 2018–2024); VIIRS DNB via Google Earth Engine (NTL); Buku Subbab 4.2.1, Tabel 30; repository ODTW_DIY_2015_2025_Final.csv.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