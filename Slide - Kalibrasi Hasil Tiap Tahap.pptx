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4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96"/>
  </p:notesMasterIdLst>
  <p:sldIdLst>
    <p:sldId id="304" r:id="rId54"/>
  </p:sldIdLst>
  <p:sldSz cx="18288000" cy="10287000"/>
  <p:notesSz cx="6858000" cy="9144000"/>
  <p:embeddedFontLst>
    <p:embeddedFont>
      <p:font typeface="Calibri (MS) Bold" charset="1" panose="020F0702030404030204"/>
      <p:regular r:id="rId99"/>
    </p:embeddedFont>
    <p:embeddedFont>
      <p:font typeface="Calibri (MS) Bold Italics" charset="1" panose="020F07020304040A0204"/>
      <p:regular r:id="rId100"/>
    </p:embeddedFont>
    <p:embeddedFont>
      <p:font typeface="Calibri (MS)" charset="1" panose="020F0502020204030204"/>
      <p:regular r:id="rId101"/>
    </p:embeddedFont>
    <p:embeddedFont>
      <p:font typeface="Montserrat" charset="1" panose="00000500000000000000"/>
      <p:regular r:id="rId105"/>
    </p:embeddedFont>
    <p:embeddedFont>
      <p:font typeface="Calibri (MS) Italics" charset="1" panose="020F05020202040A0204"/>
      <p:regular r:id="rId108"/>
    </p:embeddedFont>
    <p:embeddedFont>
      <p:font typeface="Cambria Italics" charset="1" panose="020405030504060A0204"/>
      <p:regular r:id="rId1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54" Type="http://schemas.openxmlformats.org/officeDocument/2006/relationships/slide" Target="slides/slide1.xml"/><Relationship Id="rId96" Type="http://schemas.openxmlformats.org/officeDocument/2006/relationships/notesMaster" Target="notesMasters/notesMaster1.xml"/><Relationship Id="rId97" Type="http://schemas.openxmlformats.org/officeDocument/2006/relationships/theme" Target="theme/theme2.xml"/><Relationship Id="rId99" Type="http://schemas.openxmlformats.org/officeDocument/2006/relationships/font" Target="fonts/font99.fntdata"/><Relationship Id="rId100" Type="http://schemas.openxmlformats.org/officeDocument/2006/relationships/font" Target="fonts/font100.fntdata"/><Relationship Id="rId101" Type="http://schemas.openxmlformats.org/officeDocument/2006/relationships/font" Target="fonts/font101.fntdata"/><Relationship Id="rId105" Type="http://schemas.openxmlformats.org/officeDocument/2006/relationships/font" Target="fonts/font105.fntdata"/><Relationship Id="rId108" Type="http://schemas.openxmlformats.org/officeDocument/2006/relationships/font" Target="fonts/font108.fntdata"/><Relationship Id="rId128" Type="http://schemas.openxmlformats.org/officeDocument/2006/relationships/font" Target="fonts/font12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Kalibrasi dijalankan dalam lima tahap. Tahap 0 bukan kalibrasi: saya membetulkan rumus LPE dan LPD karena rumus awal menganggap daya tarik 2024 bernilai 1, padahal 0,99223. Dampaknya kecil, dan hasil uji ekstrem tidak berubah. Tahap 1 pada akomodasi: pasangan nilai terbaik memang 11,64 persen lebih cocok, tetapi letaknya di batas atas, dan tanpa data 2019 keunggulannya tinggal 5,74 persen. Jadi keunggulannya hanya karena satu tahun data yang janggal, dan nilai dari data tetap dipakai. Tahap 2 pada lahan: laju konversi 0,0639 lebih cocok 14,76 persen dan memenuhi syarat, sehingga diterima sementara. Tahap 3 pada wisatawan hanya pemeriksaan: data meminta LPE yang lebih tinggi, tetapi data hanya bisa menentukan selisih LPE dan LPD, dan penyebab selisihnya adalah lonjakan wisatawan setelah pandemi. Tahap 4 menguji hasil Tahap 2 pada model penuh: lahan terbangun justru 32,4 persen kurang cocok, karena uji penuh dimulai dari lahan yang sudah tinggi. Hasilnya ditolak. Jadi dari tiga parameter yang dikalibrasi, tidak ada yang diganti.</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6.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2788" r="0" b="-542790"/>
              </a:stretch>
            </a:blipFill>
          </p:spPr>
          <p:txBody>
            <a:bodyPr/>
            <a:p/>
          </p:txBody>
        </p:sp>
      </p:grpSp>
      <p:grpSp>
        <p:nvGrpSpPr>
          <p:cNvPr name="Group 8" id="8"/>
          <p:cNvGrpSpPr/>
          <p:nvPr/>
        </p:nvGrpSpPr>
        <p:grpSpPr>
          <a:xfrm rot="0">
            <a:off x="822960" y="9695498"/>
            <a:ext cx="12344400" cy="426910"/>
            <a:chOff x="0" y="0"/>
            <a:chExt cx="16459200" cy="569214"/>
          </a:xfrm>
        </p:grpSpPr>
        <p:sp>
          <p:nvSpPr>
            <p:cNvPr name="Freeform 9" id="9"/>
            <p:cNvSpPr/>
            <p:nvPr/>
          </p:nvSpPr>
          <p:spPr>
            <a:xfrm flipH="false" flipV="false" rot="0">
              <a:off x="0" y="0"/>
              <a:ext cx="16459200" cy="569214"/>
            </a:xfrm>
            <a:custGeom>
              <a:avLst/>
              <a:gdLst/>
              <a:ahLst/>
              <a:cxnLst/>
              <a:rect r="r" b="b" t="t" l="l"/>
              <a:pathLst>
                <a:path h="569214" w="16459200">
                  <a:moveTo>
                    <a:pt x="0" y="0"/>
                  </a:moveTo>
                  <a:lnTo>
                    <a:pt x="16459200" y="0"/>
                  </a:lnTo>
                  <a:lnTo>
                    <a:pt x="16459200" y="569214"/>
                  </a:lnTo>
                  <a:lnTo>
                    <a:pt x="0" y="569214"/>
                  </a:lnTo>
                  <a:close/>
                </a:path>
              </a:pathLst>
            </a:custGeom>
            <a:blipFill>
              <a:blip r:embed="rId6">
                <a:alphaModFix amt="0"/>
              </a:blip>
              <a:stretch>
                <a:fillRect l="0" t="-513423" r="0" b="-513423"/>
              </a:stretch>
            </a:blipFill>
          </p:spPr>
          <p:txBody>
            <a:bodyPr/>
            <a:p/>
          </p:txBody>
        </p:sp>
        <p:sp>
          <p:nvSpPr>
            <p:cNvPr name="TextBox 10" id="10"/>
            <p:cNvSpPr txBox="true"/>
            <p:nvPr/>
          </p:nvSpPr>
          <p:spPr>
            <a:xfrm>
              <a:off x="0" y="-28575"/>
              <a:ext cx="16459200" cy="59778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11" id="11"/>
          <p:cNvSpPr txBox="true"/>
          <p:nvPr/>
        </p:nvSpPr>
        <p:spPr>
          <a:xfrm rot="0">
            <a:off x="822960" y="713232"/>
            <a:ext cx="16637508" cy="1287780"/>
          </a:xfrm>
          <a:prstGeom prst="rect">
            <a:avLst/>
          </a:prstGeom>
        </p:spPr>
        <p:txBody>
          <a:bodyPr anchor="t" rtlCol="false" tIns="0" lIns="0" bIns="0" rIns="0">
            <a:spAutoFit/>
          </a:bodyPr>
          <a:lstStyle/>
          <a:p>
            <a:pPr algn="l">
              <a:lnSpc>
                <a:spcPct val="100000"/>
              </a:lnSpc>
              <a:spcBef>
                <a:spcPts val="0"/>
              </a:spcBef>
              <a:spcAft>
                <a:spcPts val="0"/>
              </a:spcAft>
            </a:pPr>
            <a:r>
              <a:rPr lang="en-US" sz="3200" b="1" i="0">
                <a:solidFill>
                  <a:srgbClr val="0B5E6E"/>
                </a:solidFill>
                <a:latin typeface="Calibri (MS) Bold"/>
                <a:ea typeface="Calibri (MS) Bold"/>
                <a:cs typeface="Calibri (MS) Bold"/>
                <a:sym typeface="Calibri (MS) Bold"/>
              </a:rPr>
              <a:t>Kalibrasi: Hasil Tiap Tahap</a:t>
            </a:r>
          </a:p>
          <a:p>
            <a:pPr algn="l">
              <a:lnSpc>
                <a:spcPct val="100000"/>
              </a:lnSpc>
              <a:spcBef>
                <a:spcPts val="300"/>
              </a:spcBef>
              <a:spcAft>
                <a:spcPts val="0"/>
              </a:spcAft>
            </a:pPr>
            <a:r>
              <a:rPr lang="en-US" sz="1900" b="0" i="0">
                <a:solidFill>
                  <a:srgbClr val="4A5A63"/>
                </a:solidFill>
                <a:latin typeface="Calibri (MS)"/>
                <a:ea typeface="Calibri (MS) Bold"/>
                <a:cs typeface="Calibri (MS) Bold"/>
                <a:sym typeface="Calibri (MS) Bold"/>
              </a:rPr>
              <a:t>Lima tahap dijalankan; dari tiga parameter yang dikalibrasi, tidak ada yang diganti</a:t>
            </a:r>
          </a:p>
        </p:txBody>
      </p:sp>
      <p:grpSp>
        <p:nvGrpSpPr>
          <p:cNvPr name="Group 12" id="12"/>
          <p:cNvGrpSpPr/>
          <p:nvPr/>
        </p:nvGrpSpPr>
        <p:grpSpPr>
          <a:xfrm rot="0">
            <a:off x="822960" y="274320"/>
            <a:ext cx="2040922" cy="411480"/>
            <a:chOff x="0" y="0"/>
            <a:chExt cx="2721229" cy="548640"/>
          </a:xfrm>
        </p:grpSpPr>
        <p:sp>
          <p:nvSpPr>
            <p:cNvPr name="Freeform 13" id="13"/>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4" id="14"/>
          <p:cNvGrpSpPr/>
          <p:nvPr/>
        </p:nvGrpSpPr>
        <p:grpSpPr>
          <a:xfrm rot="0">
            <a:off x="822960" y="274320"/>
            <a:ext cx="2040922" cy="411480"/>
            <a:chOff x="0" y="0"/>
            <a:chExt cx="2721229" cy="548640"/>
          </a:xfrm>
        </p:grpSpPr>
        <p:sp>
          <p:nvSpPr>
            <p:cNvPr name="Freeform 15" id="15"/>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6"/>
              </a:stretch>
            </a:blipFill>
          </p:spPr>
          <p:txBody>
            <a:bodyPr/>
            <a:p/>
          </p:txBody>
        </p:sp>
      </p:grpSp>
      <p:grpSp>
        <p:nvGrpSpPr>
          <p:cNvPr name="Group 16" id="16"/>
          <p:cNvGrpSpPr/>
          <p:nvPr/>
        </p:nvGrpSpPr>
        <p:grpSpPr>
          <a:xfrm rot="0">
            <a:off x="822960" y="260033"/>
            <a:ext cx="2040941" cy="425768"/>
            <a:chOff x="0" y="0"/>
            <a:chExt cx="2721254" cy="567690"/>
          </a:xfrm>
        </p:grpSpPr>
        <p:sp>
          <p:nvSpPr>
            <p:cNvPr name="Freeform 17" id="17"/>
            <p:cNvSpPr/>
            <p:nvPr/>
          </p:nvSpPr>
          <p:spPr>
            <a:xfrm flipH="false" flipV="false" rot="0">
              <a:off x="0" y="0"/>
              <a:ext cx="2721229" cy="567690"/>
            </a:xfrm>
            <a:custGeom>
              <a:avLst/>
              <a:gdLst/>
              <a:ahLst/>
              <a:cxnLst/>
              <a:rect r="r" b="b" t="t" l="l"/>
              <a:pathLst>
                <a:path h="567690" w="2721229">
                  <a:moveTo>
                    <a:pt x="0" y="0"/>
                  </a:moveTo>
                  <a:lnTo>
                    <a:pt x="2721229" y="0"/>
                  </a:lnTo>
                  <a:lnTo>
                    <a:pt x="2721229" y="567690"/>
                  </a:lnTo>
                  <a:lnTo>
                    <a:pt x="0" y="567690"/>
                  </a:lnTo>
                  <a:close/>
                </a:path>
              </a:pathLst>
            </a:custGeom>
            <a:blipFill>
              <a:blip r:embed="rId5">
                <a:alphaModFix amt="0"/>
              </a:blip>
              <a:stretch>
                <a:fillRect l="0" t="-43337" r="0" b="-43337"/>
              </a:stretch>
            </a:blipFill>
          </p:spPr>
          <p:txBody>
            <a:bodyPr/>
            <a:p/>
          </p:txBody>
        </p:sp>
      </p:grpSp>
      <p:grpSp>
        <p:nvGrpSpPr>
          <p:cNvPr name="Group 18" id="18"/>
          <p:cNvGrpSpPr/>
          <p:nvPr/>
        </p:nvGrpSpPr>
        <p:grpSpPr>
          <a:xfrm rot="0">
            <a:off x="822960" y="245745"/>
            <a:ext cx="2040941" cy="440055"/>
            <a:chOff x="0" y="0"/>
            <a:chExt cx="2721254" cy="586740"/>
          </a:xfrm>
        </p:grpSpPr>
        <p:sp>
          <p:nvSpPr>
            <p:cNvPr name="Freeform 19" id="19"/>
            <p:cNvSpPr/>
            <p:nvPr/>
          </p:nvSpPr>
          <p:spPr>
            <a:xfrm flipH="false" flipV="false" rot="0">
              <a:off x="0" y="0"/>
              <a:ext cx="2721255" cy="586741"/>
            </a:xfrm>
            <a:custGeom>
              <a:avLst/>
              <a:gdLst/>
              <a:ahLst/>
              <a:cxnLst/>
              <a:rect r="r" b="b" t="t" l="l"/>
              <a:pathLst>
                <a:path h="586741" w="2721255">
                  <a:moveTo>
                    <a:pt x="0" y="0"/>
                  </a:moveTo>
                  <a:lnTo>
                    <a:pt x="2721255" y="0"/>
                  </a:lnTo>
                  <a:lnTo>
                    <a:pt x="2721255" y="586741"/>
                  </a:lnTo>
                  <a:lnTo>
                    <a:pt x="0" y="586741"/>
                  </a:lnTo>
                  <a:close/>
                </a:path>
              </a:pathLst>
            </a:custGeom>
            <a:blipFill>
              <a:blip r:embed="rId6">
                <a:alphaModFix amt="0"/>
              </a:blip>
              <a:stretch>
                <a:fillRect l="0" t="-40370" r="0" b="-40369"/>
              </a:stretch>
            </a:blipFill>
          </p:spPr>
          <p:txBody>
            <a:bodyPr/>
            <a:p/>
          </p:txBody>
        </p:sp>
        <p:sp>
          <p:nvSpPr>
            <p:cNvPr name="TextBox 20" id="20"/>
            <p:cNvSpPr txBox="true"/>
            <p:nvPr/>
          </p:nvSpPr>
          <p:spPr>
            <a:xfrm>
              <a:off x="0" y="-19050"/>
              <a:ext cx="2721254"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Pendahuluan</a:t>
              </a:r>
            </a:p>
          </p:txBody>
        </p:sp>
      </p:grpSp>
      <p:grpSp>
        <p:nvGrpSpPr>
          <p:cNvPr name="Group 21" id="21"/>
          <p:cNvGrpSpPr/>
          <p:nvPr/>
        </p:nvGrpSpPr>
        <p:grpSpPr>
          <a:xfrm rot="0">
            <a:off x="2973629" y="274320"/>
            <a:ext cx="2378392" cy="411480"/>
            <a:chOff x="0" y="0"/>
            <a:chExt cx="3171190" cy="548640"/>
          </a:xfrm>
        </p:grpSpPr>
        <p:sp>
          <p:nvSpPr>
            <p:cNvPr name="Freeform 22" id="22"/>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3" id="23"/>
          <p:cNvGrpSpPr/>
          <p:nvPr/>
        </p:nvGrpSpPr>
        <p:grpSpPr>
          <a:xfrm rot="0">
            <a:off x="2973629" y="274320"/>
            <a:ext cx="2378392" cy="411480"/>
            <a:chOff x="0" y="0"/>
            <a:chExt cx="3171190" cy="548640"/>
          </a:xfrm>
        </p:grpSpPr>
        <p:sp>
          <p:nvSpPr>
            <p:cNvPr name="Freeform 24" id="24"/>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0" b="-62548"/>
              </a:stretch>
            </a:blipFill>
          </p:spPr>
          <p:txBody>
            <a:bodyPr/>
            <a:p/>
          </p:txBody>
        </p:sp>
      </p:grpSp>
      <p:grpSp>
        <p:nvGrpSpPr>
          <p:cNvPr name="Group 25" id="25"/>
          <p:cNvGrpSpPr/>
          <p:nvPr/>
        </p:nvGrpSpPr>
        <p:grpSpPr>
          <a:xfrm rot="0">
            <a:off x="2973629" y="260033"/>
            <a:ext cx="2378354" cy="425768"/>
            <a:chOff x="0" y="0"/>
            <a:chExt cx="3171139" cy="567690"/>
          </a:xfrm>
        </p:grpSpPr>
        <p:sp>
          <p:nvSpPr>
            <p:cNvPr name="Freeform 26" id="26"/>
            <p:cNvSpPr/>
            <p:nvPr/>
          </p:nvSpPr>
          <p:spPr>
            <a:xfrm flipH="false" flipV="false" rot="0">
              <a:off x="0" y="0"/>
              <a:ext cx="3171190" cy="567690"/>
            </a:xfrm>
            <a:custGeom>
              <a:avLst/>
              <a:gdLst/>
              <a:ahLst/>
              <a:cxnLst/>
              <a:rect r="r" b="b" t="t" l="l"/>
              <a:pathLst>
                <a:path h="567690" w="3171190">
                  <a:moveTo>
                    <a:pt x="0" y="0"/>
                  </a:moveTo>
                  <a:lnTo>
                    <a:pt x="3171190" y="0"/>
                  </a:lnTo>
                  <a:lnTo>
                    <a:pt x="3171190" y="567690"/>
                  </a:lnTo>
                  <a:lnTo>
                    <a:pt x="0" y="567690"/>
                  </a:lnTo>
                  <a:close/>
                </a:path>
              </a:pathLst>
            </a:custGeom>
            <a:blipFill>
              <a:blip r:embed="rId5">
                <a:alphaModFix amt="0"/>
              </a:blip>
              <a:stretch>
                <a:fillRect l="0" t="-58767" r="1" b="-58769"/>
              </a:stretch>
            </a:blipFill>
          </p:spPr>
          <p:txBody>
            <a:bodyPr/>
            <a:p/>
          </p:txBody>
        </p:sp>
      </p:grpSp>
      <p:grpSp>
        <p:nvGrpSpPr>
          <p:cNvPr name="Group 27" id="27"/>
          <p:cNvGrpSpPr/>
          <p:nvPr/>
        </p:nvGrpSpPr>
        <p:grpSpPr>
          <a:xfrm rot="0">
            <a:off x="2973629" y="245745"/>
            <a:ext cx="2378354" cy="440055"/>
            <a:chOff x="0" y="0"/>
            <a:chExt cx="3171139" cy="586740"/>
          </a:xfrm>
        </p:grpSpPr>
        <p:sp>
          <p:nvSpPr>
            <p:cNvPr name="Freeform 28" id="28"/>
            <p:cNvSpPr/>
            <p:nvPr/>
          </p:nvSpPr>
          <p:spPr>
            <a:xfrm flipH="false" flipV="false" rot="0">
              <a:off x="0" y="0"/>
              <a:ext cx="3171139" cy="586741"/>
            </a:xfrm>
            <a:custGeom>
              <a:avLst/>
              <a:gdLst/>
              <a:ahLst/>
              <a:cxnLst/>
              <a:rect r="r" b="b" t="t" l="l"/>
              <a:pathLst>
                <a:path h="586741" w="3171139">
                  <a:moveTo>
                    <a:pt x="0" y="0"/>
                  </a:moveTo>
                  <a:lnTo>
                    <a:pt x="3171139" y="0"/>
                  </a:lnTo>
                  <a:lnTo>
                    <a:pt x="3171139" y="586741"/>
                  </a:lnTo>
                  <a:lnTo>
                    <a:pt x="0" y="586741"/>
                  </a:lnTo>
                  <a:close/>
                </a:path>
              </a:pathLst>
            </a:custGeom>
            <a:blipFill>
              <a:blip r:embed="rId6">
                <a:alphaModFix amt="0"/>
              </a:blip>
              <a:stretch>
                <a:fillRect l="0" t="-55310" r="0" b="-55310"/>
              </a:stretch>
            </a:blipFill>
          </p:spPr>
          <p:txBody>
            <a:bodyPr/>
            <a:p/>
          </p:txBody>
        </p:sp>
        <p:sp>
          <p:nvSpPr>
            <p:cNvPr name="TextBox 29" id="29"/>
            <p:cNvSpPr txBox="true"/>
            <p:nvPr/>
          </p:nvSpPr>
          <p:spPr>
            <a:xfrm>
              <a:off x="0" y="-19050"/>
              <a:ext cx="3171139"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Metodologi</a:t>
              </a:r>
            </a:p>
          </p:txBody>
        </p:sp>
      </p:grpSp>
      <p:grpSp>
        <p:nvGrpSpPr>
          <p:cNvPr name="Group 30" id="30"/>
          <p:cNvGrpSpPr/>
          <p:nvPr/>
        </p:nvGrpSpPr>
        <p:grpSpPr>
          <a:xfrm rot="0">
            <a:off x="5461711" y="274320"/>
            <a:ext cx="1591056" cy="411480"/>
            <a:chOff x="0" y="0"/>
            <a:chExt cx="2121408" cy="548640"/>
          </a:xfrm>
        </p:grpSpPr>
        <p:sp>
          <p:nvSpPr>
            <p:cNvPr name="Freeform 31" id="31"/>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5461711" y="274320"/>
            <a:ext cx="1591056" cy="411480"/>
            <a:chOff x="0" y="0"/>
            <a:chExt cx="2121408" cy="548640"/>
          </a:xfrm>
        </p:grpSpPr>
        <p:sp>
          <p:nvSpPr>
            <p:cNvPr name="Freeform 33" id="33"/>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34" id="34"/>
          <p:cNvGrpSpPr/>
          <p:nvPr/>
        </p:nvGrpSpPr>
        <p:grpSpPr>
          <a:xfrm rot="0">
            <a:off x="5461711" y="260033"/>
            <a:ext cx="1591056" cy="425768"/>
            <a:chOff x="0" y="0"/>
            <a:chExt cx="2121408" cy="567690"/>
          </a:xfrm>
        </p:grpSpPr>
        <p:sp>
          <p:nvSpPr>
            <p:cNvPr name="Freeform 35" id="35"/>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762" r="0" b="-22762"/>
              </a:stretch>
            </a:blipFill>
          </p:spPr>
          <p:txBody>
            <a:bodyPr/>
            <a:p/>
          </p:txBody>
        </p:sp>
      </p:grpSp>
      <p:grpSp>
        <p:nvGrpSpPr>
          <p:cNvPr name="Group 36" id="36"/>
          <p:cNvGrpSpPr/>
          <p:nvPr/>
        </p:nvGrpSpPr>
        <p:grpSpPr>
          <a:xfrm rot="0">
            <a:off x="5461711" y="245745"/>
            <a:ext cx="1591056" cy="440055"/>
            <a:chOff x="0" y="0"/>
            <a:chExt cx="2121408" cy="586740"/>
          </a:xfrm>
        </p:grpSpPr>
        <p:sp>
          <p:nvSpPr>
            <p:cNvPr name="Freeform 37" id="37"/>
            <p:cNvSpPr/>
            <p:nvPr/>
          </p:nvSpPr>
          <p:spPr>
            <a:xfrm flipH="false" flipV="false" rot="0">
              <a:off x="0" y="0"/>
              <a:ext cx="2121408" cy="586741"/>
            </a:xfrm>
            <a:custGeom>
              <a:avLst/>
              <a:gdLst/>
              <a:ahLst/>
              <a:cxnLst/>
              <a:rect r="r" b="b" t="t" l="l"/>
              <a:pathLst>
                <a:path h="586741" w="2121408">
                  <a:moveTo>
                    <a:pt x="0" y="0"/>
                  </a:moveTo>
                  <a:lnTo>
                    <a:pt x="2121408" y="0"/>
                  </a:lnTo>
                  <a:lnTo>
                    <a:pt x="2121408" y="586741"/>
                  </a:lnTo>
                  <a:lnTo>
                    <a:pt x="0" y="586741"/>
                  </a:lnTo>
                  <a:close/>
                </a:path>
              </a:pathLst>
            </a:custGeom>
            <a:blipFill>
              <a:blip r:embed="rId6">
                <a:alphaModFix amt="0"/>
              </a:blip>
              <a:stretch>
                <a:fillRect l="0" t="-20449" r="0" b="-20449"/>
              </a:stretch>
            </a:blipFill>
          </p:spPr>
          <p:txBody>
            <a:bodyPr/>
            <a:p/>
          </p:txBody>
        </p:sp>
        <p:sp>
          <p:nvSpPr>
            <p:cNvPr name="TextBox 38" id="38"/>
            <p:cNvSpPr txBox="true"/>
            <p:nvPr/>
          </p:nvSpPr>
          <p:spPr>
            <a:xfrm>
              <a:off x="0" y="-19050"/>
              <a:ext cx="2121408"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1</a:t>
              </a:r>
            </a:p>
          </p:txBody>
        </p:sp>
      </p:grpSp>
      <p:grpSp>
        <p:nvGrpSpPr>
          <p:cNvPr name="Group 39" id="39"/>
          <p:cNvGrpSpPr/>
          <p:nvPr/>
        </p:nvGrpSpPr>
        <p:grpSpPr>
          <a:xfrm rot="0">
            <a:off x="7162495" y="274320"/>
            <a:ext cx="2490788" cy="411480"/>
            <a:chOff x="0" y="0"/>
            <a:chExt cx="3321050" cy="548640"/>
          </a:xfrm>
        </p:grpSpPr>
        <p:sp>
          <p:nvSpPr>
            <p:cNvPr name="Freeform 40" id="40"/>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1" id="41"/>
          <p:cNvGrpSpPr/>
          <p:nvPr/>
        </p:nvGrpSpPr>
        <p:grpSpPr>
          <a:xfrm rot="0">
            <a:off x="7162495" y="274320"/>
            <a:ext cx="2490788" cy="411480"/>
            <a:chOff x="0" y="0"/>
            <a:chExt cx="3321050" cy="548640"/>
          </a:xfrm>
        </p:grpSpPr>
        <p:sp>
          <p:nvSpPr>
            <p:cNvPr name="Freeform 42" id="42"/>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5" r="0" b="-67865"/>
              </a:stretch>
            </a:blipFill>
          </p:spPr>
          <p:txBody>
            <a:bodyPr/>
            <a:p/>
          </p:txBody>
        </p:sp>
      </p:grpSp>
      <p:grpSp>
        <p:nvGrpSpPr>
          <p:cNvPr name="Group 43" id="43"/>
          <p:cNvGrpSpPr/>
          <p:nvPr/>
        </p:nvGrpSpPr>
        <p:grpSpPr>
          <a:xfrm rot="0">
            <a:off x="7162495" y="260033"/>
            <a:ext cx="2490826" cy="425768"/>
            <a:chOff x="0" y="0"/>
            <a:chExt cx="3321101" cy="567690"/>
          </a:xfrm>
        </p:grpSpPr>
        <p:sp>
          <p:nvSpPr>
            <p:cNvPr name="Freeform 44" id="44"/>
            <p:cNvSpPr/>
            <p:nvPr/>
          </p:nvSpPr>
          <p:spPr>
            <a:xfrm flipH="false" flipV="false" rot="0">
              <a:off x="0" y="0"/>
              <a:ext cx="3321050" cy="567690"/>
            </a:xfrm>
            <a:custGeom>
              <a:avLst/>
              <a:gdLst/>
              <a:ahLst/>
              <a:cxnLst/>
              <a:rect r="r" b="b" t="t" l="l"/>
              <a:pathLst>
                <a:path h="567690" w="3321050">
                  <a:moveTo>
                    <a:pt x="0" y="0"/>
                  </a:moveTo>
                  <a:lnTo>
                    <a:pt x="3321050" y="0"/>
                  </a:lnTo>
                  <a:lnTo>
                    <a:pt x="3321050" y="567690"/>
                  </a:lnTo>
                  <a:lnTo>
                    <a:pt x="0" y="567690"/>
                  </a:lnTo>
                  <a:close/>
                </a:path>
              </a:pathLst>
            </a:custGeom>
            <a:blipFill>
              <a:blip r:embed="rId5">
                <a:alphaModFix amt="0"/>
              </a:blip>
              <a:stretch>
                <a:fillRect l="0" t="-63912" r="-1" b="-63910"/>
              </a:stretch>
            </a:blipFill>
          </p:spPr>
          <p:txBody>
            <a:bodyPr/>
            <a:p/>
          </p:txBody>
        </p:sp>
      </p:grpSp>
      <p:grpSp>
        <p:nvGrpSpPr>
          <p:cNvPr name="Group 45" id="45"/>
          <p:cNvGrpSpPr/>
          <p:nvPr/>
        </p:nvGrpSpPr>
        <p:grpSpPr>
          <a:xfrm rot="0">
            <a:off x="7162495" y="245745"/>
            <a:ext cx="2490826" cy="440055"/>
            <a:chOff x="0" y="0"/>
            <a:chExt cx="3321101" cy="586740"/>
          </a:xfrm>
        </p:grpSpPr>
        <p:sp>
          <p:nvSpPr>
            <p:cNvPr name="Freeform 46" id="46"/>
            <p:cNvSpPr/>
            <p:nvPr/>
          </p:nvSpPr>
          <p:spPr>
            <a:xfrm flipH="false" flipV="false" rot="0">
              <a:off x="0" y="0"/>
              <a:ext cx="3321101" cy="586741"/>
            </a:xfrm>
            <a:custGeom>
              <a:avLst/>
              <a:gdLst/>
              <a:ahLst/>
              <a:cxnLst/>
              <a:rect r="r" b="b" t="t" l="l"/>
              <a:pathLst>
                <a:path h="586741" w="3321101">
                  <a:moveTo>
                    <a:pt x="0" y="0"/>
                  </a:moveTo>
                  <a:lnTo>
                    <a:pt x="3321101" y="0"/>
                  </a:lnTo>
                  <a:lnTo>
                    <a:pt x="3321101" y="586741"/>
                  </a:lnTo>
                  <a:lnTo>
                    <a:pt x="0" y="586741"/>
                  </a:lnTo>
                  <a:close/>
                </a:path>
              </a:pathLst>
            </a:custGeom>
            <a:blipFill>
              <a:blip r:embed="rId6">
                <a:alphaModFix amt="0"/>
              </a:blip>
              <a:stretch>
                <a:fillRect l="0" t="-60290" r="0" b="-60290"/>
              </a:stretch>
            </a:blipFill>
          </p:spPr>
          <p:txBody>
            <a:bodyPr/>
            <a:p/>
          </p:txBody>
        </p:sp>
        <p:sp>
          <p:nvSpPr>
            <p:cNvPr name="TextBox 47" id="47"/>
            <p:cNvSpPr txBox="true"/>
            <p:nvPr/>
          </p:nvSpPr>
          <p:spPr>
            <a:xfrm>
              <a:off x="0" y="-19050"/>
              <a:ext cx="3321101" cy="605790"/>
            </a:xfrm>
            <a:prstGeom prst="rect">
              <a:avLst/>
            </a:prstGeom>
          </p:spPr>
          <p:txBody>
            <a:bodyPr anchor="ctr" rtlCol="false" tIns="0" lIns="0" bIns="0" rIns="0"/>
            <a:lstStyle/>
            <a:p>
              <a:pPr algn="ctr">
                <a:lnSpc>
                  <a:spcPts val="1889"/>
                </a:lnSpc>
              </a:pPr>
              <a:r>
                <a:rPr lang="en-US" sz="1575" b="true">
                  <a:solidFill>
                    <a:srgbClr val="FFFFFF"/>
                  </a:solidFill>
                  <a:latin typeface="Calibri (MS) Bold"/>
                  <a:ea typeface="Calibri (MS) Bold"/>
                  <a:cs typeface="Calibri (MS) Bold"/>
                  <a:sym typeface="Calibri (MS) Bold"/>
                </a:rPr>
                <a:t>Tujuan 2</a:t>
              </a:r>
            </a:p>
          </p:txBody>
        </p:sp>
      </p:grpSp>
      <p:grpSp>
        <p:nvGrpSpPr>
          <p:cNvPr name="Group 48" id="48"/>
          <p:cNvGrpSpPr/>
          <p:nvPr/>
        </p:nvGrpSpPr>
        <p:grpSpPr>
          <a:xfrm rot="0">
            <a:off x="9763049" y="274320"/>
            <a:ext cx="1366076" cy="411480"/>
            <a:chOff x="0" y="0"/>
            <a:chExt cx="1821434" cy="548640"/>
          </a:xfrm>
        </p:grpSpPr>
        <p:sp>
          <p:nvSpPr>
            <p:cNvPr name="Freeform 49" id="4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0" id="50"/>
          <p:cNvGrpSpPr/>
          <p:nvPr/>
        </p:nvGrpSpPr>
        <p:grpSpPr>
          <a:xfrm rot="0">
            <a:off x="9763049" y="274320"/>
            <a:ext cx="1366076" cy="411480"/>
            <a:chOff x="0" y="0"/>
            <a:chExt cx="1821434" cy="548640"/>
          </a:xfrm>
        </p:grpSpPr>
        <p:sp>
          <p:nvSpPr>
            <p:cNvPr name="Freeform 51" id="5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3" r="0" b="-14643"/>
              </a:stretch>
            </a:blipFill>
          </p:spPr>
          <p:txBody>
            <a:bodyPr/>
            <a:p/>
          </p:txBody>
        </p:sp>
      </p:grpSp>
      <p:grpSp>
        <p:nvGrpSpPr>
          <p:cNvPr name="Group 52" id="52"/>
          <p:cNvGrpSpPr/>
          <p:nvPr/>
        </p:nvGrpSpPr>
        <p:grpSpPr>
          <a:xfrm rot="0">
            <a:off x="9763049" y="260033"/>
            <a:ext cx="1366114" cy="425768"/>
            <a:chOff x="0" y="0"/>
            <a:chExt cx="1821485" cy="567690"/>
          </a:xfrm>
        </p:grpSpPr>
        <p:sp>
          <p:nvSpPr>
            <p:cNvPr name="Freeform 53" id="53"/>
            <p:cNvSpPr/>
            <p:nvPr/>
          </p:nvSpPr>
          <p:spPr>
            <a:xfrm flipH="false" flipV="false" rot="0">
              <a:off x="0" y="0"/>
              <a:ext cx="1821434" cy="567690"/>
            </a:xfrm>
            <a:custGeom>
              <a:avLst/>
              <a:gdLst/>
              <a:ahLst/>
              <a:cxnLst/>
              <a:rect r="r" b="b" t="t" l="l"/>
              <a:pathLst>
                <a:path h="567690" w="1821434">
                  <a:moveTo>
                    <a:pt x="0" y="0"/>
                  </a:moveTo>
                  <a:lnTo>
                    <a:pt x="1821434" y="0"/>
                  </a:lnTo>
                  <a:lnTo>
                    <a:pt x="1821434" y="567690"/>
                  </a:lnTo>
                  <a:lnTo>
                    <a:pt x="0" y="567690"/>
                  </a:lnTo>
                  <a:close/>
                </a:path>
              </a:pathLst>
            </a:custGeom>
            <a:blipFill>
              <a:blip r:embed="rId5">
                <a:alphaModFix amt="0"/>
              </a:blip>
              <a:stretch>
                <a:fillRect l="0" t="-12476" r="-2" b="-12476"/>
              </a:stretch>
            </a:blipFill>
          </p:spPr>
          <p:txBody>
            <a:bodyPr/>
            <a:p/>
          </p:txBody>
        </p:sp>
      </p:grpSp>
      <p:grpSp>
        <p:nvGrpSpPr>
          <p:cNvPr name="Group 54" id="54"/>
          <p:cNvGrpSpPr/>
          <p:nvPr/>
        </p:nvGrpSpPr>
        <p:grpSpPr>
          <a:xfrm rot="0">
            <a:off x="9763049" y="245745"/>
            <a:ext cx="1366114" cy="440055"/>
            <a:chOff x="0" y="0"/>
            <a:chExt cx="1821485" cy="586740"/>
          </a:xfrm>
        </p:grpSpPr>
        <p:sp>
          <p:nvSpPr>
            <p:cNvPr name="Freeform 55" id="55"/>
            <p:cNvSpPr/>
            <p:nvPr/>
          </p:nvSpPr>
          <p:spPr>
            <a:xfrm flipH="false" flipV="false" rot="0">
              <a:off x="0" y="0"/>
              <a:ext cx="1821485" cy="586741"/>
            </a:xfrm>
            <a:custGeom>
              <a:avLst/>
              <a:gdLst/>
              <a:ahLst/>
              <a:cxnLst/>
              <a:rect r="r" b="b" t="t" l="l"/>
              <a:pathLst>
                <a:path h="586741" w="1821485">
                  <a:moveTo>
                    <a:pt x="0" y="0"/>
                  </a:moveTo>
                  <a:lnTo>
                    <a:pt x="1821485" y="0"/>
                  </a:lnTo>
                  <a:lnTo>
                    <a:pt x="1821485" y="586741"/>
                  </a:lnTo>
                  <a:lnTo>
                    <a:pt x="0" y="586741"/>
                  </a:lnTo>
                  <a:close/>
                </a:path>
              </a:pathLst>
            </a:custGeom>
            <a:blipFill>
              <a:blip r:embed="rId6">
                <a:alphaModFix amt="0"/>
              </a:blip>
              <a:stretch>
                <a:fillRect l="0" t="-10489" r="0" b="-10489"/>
              </a:stretch>
            </a:blipFill>
          </p:spPr>
          <p:txBody>
            <a:bodyPr/>
            <a:p/>
          </p:txBody>
        </p:sp>
        <p:sp>
          <p:nvSpPr>
            <p:cNvPr name="TextBox 56" id="56"/>
            <p:cNvSpPr txBox="true"/>
            <p:nvPr/>
          </p:nvSpPr>
          <p:spPr>
            <a:xfrm>
              <a:off x="0" y="-19050"/>
              <a:ext cx="1821485"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Tujuan 3</a:t>
              </a:r>
            </a:p>
          </p:txBody>
        </p:sp>
      </p:grpSp>
      <p:grpSp>
        <p:nvGrpSpPr>
          <p:cNvPr name="Group 57" id="57"/>
          <p:cNvGrpSpPr/>
          <p:nvPr/>
        </p:nvGrpSpPr>
        <p:grpSpPr>
          <a:xfrm rot="0">
            <a:off x="11238890" y="274320"/>
            <a:ext cx="1253680" cy="411480"/>
            <a:chOff x="0" y="0"/>
            <a:chExt cx="1671574" cy="548640"/>
          </a:xfrm>
        </p:grpSpPr>
        <p:sp>
          <p:nvSpPr>
            <p:cNvPr name="Freeform 58" id="58"/>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59" id="59"/>
          <p:cNvGrpSpPr/>
          <p:nvPr/>
        </p:nvGrpSpPr>
        <p:grpSpPr>
          <a:xfrm rot="0">
            <a:off x="11238890" y="274320"/>
            <a:ext cx="1253680" cy="411480"/>
            <a:chOff x="0" y="0"/>
            <a:chExt cx="1671574" cy="548640"/>
          </a:xfrm>
        </p:grpSpPr>
        <p:sp>
          <p:nvSpPr>
            <p:cNvPr name="Freeform 60" id="60"/>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0" b="-9326"/>
              </a:stretch>
            </a:blipFill>
          </p:spPr>
          <p:txBody>
            <a:bodyPr/>
            <a:p/>
          </p:txBody>
        </p:sp>
      </p:grpSp>
      <p:grpSp>
        <p:nvGrpSpPr>
          <p:cNvPr name="Group 61" id="61"/>
          <p:cNvGrpSpPr/>
          <p:nvPr/>
        </p:nvGrpSpPr>
        <p:grpSpPr>
          <a:xfrm rot="0">
            <a:off x="11238890" y="260033"/>
            <a:ext cx="1253642" cy="425768"/>
            <a:chOff x="0" y="0"/>
            <a:chExt cx="1671523" cy="567690"/>
          </a:xfrm>
        </p:grpSpPr>
        <p:sp>
          <p:nvSpPr>
            <p:cNvPr name="Freeform 62" id="62"/>
            <p:cNvSpPr/>
            <p:nvPr/>
          </p:nvSpPr>
          <p:spPr>
            <a:xfrm flipH="false" flipV="false" rot="0">
              <a:off x="0" y="0"/>
              <a:ext cx="1671574" cy="567690"/>
            </a:xfrm>
            <a:custGeom>
              <a:avLst/>
              <a:gdLst/>
              <a:ahLst/>
              <a:cxnLst/>
              <a:rect r="r" b="b" t="t" l="l"/>
              <a:pathLst>
                <a:path h="567690" w="1671574">
                  <a:moveTo>
                    <a:pt x="0" y="0"/>
                  </a:moveTo>
                  <a:lnTo>
                    <a:pt x="1671574" y="0"/>
                  </a:lnTo>
                  <a:lnTo>
                    <a:pt x="1671574" y="567690"/>
                  </a:lnTo>
                  <a:lnTo>
                    <a:pt x="0" y="567690"/>
                  </a:lnTo>
                  <a:close/>
                </a:path>
              </a:pathLst>
            </a:custGeom>
            <a:blipFill>
              <a:blip r:embed="rId5">
                <a:alphaModFix amt="0"/>
              </a:blip>
              <a:stretch>
                <a:fillRect l="0" t="-7333" r="3" b="-7331"/>
              </a:stretch>
            </a:blipFill>
          </p:spPr>
          <p:txBody>
            <a:bodyPr/>
            <a:p/>
          </p:txBody>
        </p:sp>
      </p:grpSp>
      <p:grpSp>
        <p:nvGrpSpPr>
          <p:cNvPr name="Group 63" id="63"/>
          <p:cNvGrpSpPr/>
          <p:nvPr/>
        </p:nvGrpSpPr>
        <p:grpSpPr>
          <a:xfrm rot="0">
            <a:off x="11238890" y="245745"/>
            <a:ext cx="1253642" cy="440055"/>
            <a:chOff x="0" y="0"/>
            <a:chExt cx="1671523" cy="586740"/>
          </a:xfrm>
        </p:grpSpPr>
        <p:sp>
          <p:nvSpPr>
            <p:cNvPr name="Freeform 64" id="64"/>
            <p:cNvSpPr/>
            <p:nvPr/>
          </p:nvSpPr>
          <p:spPr>
            <a:xfrm flipH="false" flipV="false" rot="0">
              <a:off x="0" y="0"/>
              <a:ext cx="1671523" cy="586741"/>
            </a:xfrm>
            <a:custGeom>
              <a:avLst/>
              <a:gdLst/>
              <a:ahLst/>
              <a:cxnLst/>
              <a:rect r="r" b="b" t="t" l="l"/>
              <a:pathLst>
                <a:path h="586741" w="1671523">
                  <a:moveTo>
                    <a:pt x="0" y="0"/>
                  </a:moveTo>
                  <a:lnTo>
                    <a:pt x="1671523" y="0"/>
                  </a:lnTo>
                  <a:lnTo>
                    <a:pt x="1671523" y="586741"/>
                  </a:lnTo>
                  <a:lnTo>
                    <a:pt x="0" y="586741"/>
                  </a:lnTo>
                  <a:close/>
                </a:path>
              </a:pathLst>
            </a:custGeom>
            <a:blipFill>
              <a:blip r:embed="rId6">
                <a:alphaModFix amt="0"/>
              </a:blip>
              <a:stretch>
                <a:fillRect l="0" t="-5509" r="0" b="-5509"/>
              </a:stretch>
            </a:blipFill>
          </p:spPr>
          <p:txBody>
            <a:bodyPr/>
            <a:p/>
          </p:txBody>
        </p:sp>
        <p:sp>
          <p:nvSpPr>
            <p:cNvPr name="TextBox 65" id="65"/>
            <p:cNvSpPr txBox="true"/>
            <p:nvPr/>
          </p:nvSpPr>
          <p:spPr>
            <a:xfrm>
              <a:off x="0" y="-19050"/>
              <a:ext cx="1671523" cy="605790"/>
            </a:xfrm>
            <a:prstGeom prst="rect">
              <a:avLst/>
            </a:prstGeom>
          </p:spPr>
          <p:txBody>
            <a:bodyPr anchor="ctr" rtlCol="false" tIns="0" lIns="0" bIns="0" rIns="0"/>
            <a:lstStyle/>
            <a:p>
              <a:pPr algn="ctr">
                <a:lnSpc>
                  <a:spcPts val="1889"/>
                </a:lnSpc>
              </a:pPr>
              <a:r>
                <a:rPr lang="en-US" sz="1575">
                  <a:solidFill>
                    <a:srgbClr val="5E6E78"/>
                  </a:solidFill>
                  <a:latin typeface="Calibri (MS)"/>
                  <a:ea typeface="Calibri (MS)"/>
                  <a:cs typeface="Calibri (MS)"/>
                  <a:sym typeface="Calibri (MS)"/>
                </a:rPr>
                <a:t>Penutup</a:t>
              </a:r>
            </a:p>
          </p:txBody>
        </p:sp>
      </p:grpSp>
      <p:sp>
        <p:nvSpPr>
          <p:cNvPr name="TextBox 152" id="152"/>
          <p:cNvSpPr txBox="true"/>
          <p:nvPr/>
        </p:nvSpPr>
        <p:spPr>
          <a:xfrm rot="0">
            <a:off x="16550640" y="9642348"/>
            <a:ext cx="818388" cy="4343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
            </a:r>
          </a:p>
        </p:txBody>
      </p:sp>
      <p:grpSp>
        <p:nvGrpSpPr>
          <p:cNvPr name="Group 153" id="153"/>
          <p:cNvGrpSpPr/>
          <p:nvPr/>
        </p:nvGrpSpPr>
        <p:grpSpPr>
          <a:xfrm rot="0">
            <a:off x="12755880" y="274320"/>
            <a:ext cx="3931920" cy="411480"/>
            <a:chOff x="0" y="0"/>
            <a:chExt cx="5242560" cy="548640"/>
          </a:xfrm>
        </p:grpSpPr>
        <p:sp>
          <p:nvSpPr>
            <p:cNvPr name="Freeform 154" id="154"/>
            <p:cNvSpPr/>
            <p:nvPr/>
          </p:nvSpPr>
          <p:spPr>
            <a:xfrm flipH="false" flipV="false" rot="0">
              <a:off x="0" y="0"/>
              <a:ext cx="5242560" cy="548640"/>
            </a:xfrm>
            <a:custGeom>
              <a:avLst/>
              <a:gdLst/>
              <a:ahLst/>
              <a:cxnLst/>
              <a:rect r="r" b="b" t="t" l="l"/>
              <a:pathLst>
                <a:path h="548640" w="5242560">
                  <a:moveTo>
                    <a:pt x="0" y="0"/>
                  </a:moveTo>
                  <a:lnTo>
                    <a:pt x="5242560" y="0"/>
                  </a:lnTo>
                  <a:lnTo>
                    <a:pt x="5242560" y="548640"/>
                  </a:lnTo>
                  <a:lnTo>
                    <a:pt x="0" y="548640"/>
                  </a:lnTo>
                  <a:close/>
                </a:path>
              </a:pathLst>
            </a:custGeom>
            <a:blipFill>
              <a:blip r:embed="rId6">
                <a:alphaModFix amt="0"/>
              </a:blip>
              <a:stretch>
                <a:fillRect l="0" t="-136190" r="0" b="-136190"/>
              </a:stretch>
            </a:blipFill>
          </p:spPr>
          <p:txBody>
            <a:bodyPr/>
            <a:p/>
          </p:txBody>
        </p:sp>
        <p:sp>
          <p:nvSpPr>
            <p:cNvPr name="TextBox 155" id="155"/>
            <p:cNvSpPr txBox="true"/>
            <p:nvPr/>
          </p:nvSpPr>
          <p:spPr>
            <a:xfrm>
              <a:off x="0" y="-28575"/>
              <a:ext cx="5242560" cy="577215"/>
            </a:xfrm>
            <a:prstGeom prst="rect">
              <a:avLst/>
            </a:prstGeom>
          </p:spPr>
          <p:txBody>
            <a:bodyPr anchor="ctr" rtlCol="false" tIns="0" lIns="0" bIns="0" rIns="0"/>
            <a:lstStyle/>
            <a:p>
              <a:pPr algn="l">
                <a:lnSpc>
                  <a:spcPts val="1932"/>
                </a:lnSpc>
              </a:pPr>
              <a:r>
                <a:rPr lang="en-US" sz="1610" b="true">
                  <a:solidFill>
                    <a:srgbClr val="0B5E6E"/>
                  </a:solidFill>
                  <a:latin typeface="Calibri (MS) Bold"/>
                  <a:ea typeface="Calibri (MS) Bold"/>
                  <a:cs typeface="Calibri (MS) Bold"/>
                  <a:sym typeface="Calibri (MS) Bold"/>
                </a:rPr>
                <a:t>2E · Uji perilaku &amp; kalibrasi</a:t>
              </a:r>
            </a:p>
          </p:txBody>
        </p:sp>
      </p:grpSp>
      <p:sp>
        <p:nvSpPr>
          <p:cNvPr id="156" name="Rounded Rectangle 155"/>
          <p:cNvSpPr/>
          <p:nvPr/>
        </p:nvSpPr>
        <p:spPr>
          <a:xfrm>
            <a:off x="822960" y="1783080"/>
            <a:ext cx="3200400" cy="5943600"/>
          </a:xfrm>
          <a:prstGeom prst="roundRect">
            <a:avLst>
              <a:gd name="adj" fmla="val 5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7" name="Rounded Rectangle 156"/>
          <p:cNvSpPr/>
          <p:nvPr/>
        </p:nvSpPr>
        <p:spPr>
          <a:xfrm>
            <a:off x="822960" y="1783080"/>
            <a:ext cx="3200400" cy="777240"/>
          </a:xfrm>
          <a:prstGeom prst="roundRect">
            <a:avLst>
              <a:gd name="adj" fmla="val 12000"/>
            </a:avLst>
          </a:prstGeom>
          <a:solidFill>
            <a:srgbClr val="5E6E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090" b="1" i="0">
                <a:solidFill>
                  <a:srgbClr val="FFD23B"/>
                </a:solidFill>
                <a:latin typeface="Calibri (MS) Bold"/>
              </a:rPr>
              <a:t>TAHAP 0</a:t>
            </a:r>
          </a:p>
          <a:p>
            <a:pPr algn="l">
              <a:spcAft>
                <a:spcPts val="300"/>
              </a:spcAft>
            </a:pPr>
            <a:r>
              <a:rPr sz="1440" b="1" i="0">
                <a:solidFill>
                  <a:srgbClr val="FFFFFF"/>
                </a:solidFill>
                <a:latin typeface="Calibri (MS) Bold"/>
              </a:rPr>
              <a:t>Membetulkan cara hitung</a:t>
            </a:r>
          </a:p>
        </p:txBody>
      </p:sp>
      <p:sp>
        <p:nvSpPr>
          <p:cNvPr id="158" name="TextBox 157"/>
          <p:cNvSpPr txBox="1"/>
          <p:nvPr/>
        </p:nvSpPr>
        <p:spPr>
          <a:xfrm>
            <a:off x="960120" y="2633472"/>
            <a:ext cx="2926080" cy="548640"/>
          </a:xfrm>
          <a:prstGeom prst="rect">
            <a:avLst/>
          </a:prstGeom>
          <a:noFill/>
        </p:spPr>
        <p:txBody>
          <a:bodyPr wrap="square" anchor="t" lIns="0" rIns="0" tIns="0" bIns="0">
            <a:spAutoFit/>
          </a:bodyPr>
          <a:lstStyle/>
          <a:p>
            <a:pPr algn="l">
              <a:spcAft>
                <a:spcPts val="400"/>
              </a:spcAft>
            </a:pPr>
            <a:r>
              <a:rPr sz="1090" b="1" i="1">
                <a:solidFill>
                  <a:srgbClr val="14313B"/>
                </a:solidFill>
                <a:latin typeface="Calibri (MS) Bold"/>
              </a:rPr>
              <a:t>LPE dan LPD (laju pertumbuhan dan penurunan wisatawan)</a:t>
            </a:r>
          </a:p>
        </p:txBody>
      </p:sp>
      <p:sp>
        <p:nvSpPr>
          <p:cNvPr id="159" name="Rounded Rectangle 158"/>
          <p:cNvSpPr/>
          <p:nvPr/>
        </p:nvSpPr>
        <p:spPr>
          <a:xfrm>
            <a:off x="960120" y="3200400"/>
            <a:ext cx="2926080" cy="384048"/>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030" b="1" i="0">
                <a:solidFill>
                  <a:srgbClr val="0B5E6E"/>
                </a:solidFill>
                <a:latin typeface="Calibri (MS) Bold"/>
              </a:rPr>
              <a:t>Dicoba: </a:t>
            </a:r>
            <a:r>
              <a:rPr sz="1030" b="0" i="0">
                <a:solidFill>
                  <a:srgbClr val="14313B"/>
                </a:solidFill>
                <a:latin typeface="Calibri (MS)"/>
              </a:rPr>
              <a:t>Rumus dicek ulang terhadap persamaan model</a:t>
            </a:r>
          </a:p>
        </p:txBody>
      </p:sp>
      <p:sp>
        <p:nvSpPr>
          <p:cNvPr id="160" name="Rounded Rectangle 159"/>
          <p:cNvSpPr/>
          <p:nvPr/>
        </p:nvSpPr>
        <p:spPr>
          <a:xfrm>
            <a:off x="960120" y="3703320"/>
            <a:ext cx="2926080" cy="429768"/>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210" b="1" i="0">
                <a:solidFill>
                  <a:srgbClr val="0B5E6E"/>
                </a:solidFill>
                <a:latin typeface="Calibri (MS) Bold"/>
              </a:rPr>
              <a:t>LPE  </a:t>
            </a:r>
            <a:r>
              <a:rPr sz="1320" b="1" i="0">
                <a:solidFill>
                  <a:srgbClr val="14313B"/>
                </a:solidFill>
                <a:latin typeface="Calibri (MS) Bold"/>
              </a:rPr>
              <a:t>0,26864 → 0,27726</a:t>
            </a:r>
          </a:p>
        </p:txBody>
      </p:sp>
      <p:sp>
        <p:nvSpPr>
          <p:cNvPr id="161" name="Rounded Rectangle 160"/>
          <p:cNvSpPr/>
          <p:nvPr/>
        </p:nvSpPr>
        <p:spPr>
          <a:xfrm>
            <a:off x="960120" y="4206240"/>
            <a:ext cx="2926080" cy="429768"/>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210" b="1" i="0">
                <a:solidFill>
                  <a:srgbClr val="0B5E6E"/>
                </a:solidFill>
                <a:latin typeface="Calibri (MS) Bold"/>
              </a:rPr>
              <a:t>LPD  </a:t>
            </a:r>
            <a:r>
              <a:rPr sz="1320" b="1" i="0">
                <a:solidFill>
                  <a:srgbClr val="14313B"/>
                </a:solidFill>
                <a:latin typeface="Calibri (MS) Bold"/>
              </a:rPr>
              <a:t>0,20148 → 0,207945</a:t>
            </a:r>
          </a:p>
        </p:txBody>
      </p:sp>
      <p:sp>
        <p:nvSpPr>
          <p:cNvPr id="162" name="TextBox 161"/>
          <p:cNvSpPr txBox="1"/>
          <p:nvPr/>
        </p:nvSpPr>
        <p:spPr>
          <a:xfrm>
            <a:off x="960120" y="4736592"/>
            <a:ext cx="2926080" cy="320040"/>
          </a:xfrm>
          <a:prstGeom prst="rect">
            <a:avLst/>
          </a:prstGeom>
          <a:noFill/>
        </p:spPr>
        <p:txBody>
          <a:bodyPr wrap="square" anchor="t" lIns="0" rIns="0" tIns="0" bIns="0">
            <a:spAutoFit/>
          </a:bodyPr>
          <a:lstStyle/>
          <a:p>
            <a:pPr algn="ctr">
              <a:spcAft>
                <a:spcPts val="400"/>
              </a:spcAft>
            </a:pPr>
            <a:r>
              <a:rPr sz="1090" b="0" i="0">
                <a:solidFill>
                  <a:srgbClr val="5E6E78"/>
                </a:solidFill>
                <a:latin typeface="Calibri (MS)"/>
              </a:rPr>
              <a:t>sebelum → sesudah dibetulkan</a:t>
            </a:r>
          </a:p>
        </p:txBody>
      </p:sp>
      <p:cxnSp>
        <p:nvCxnSpPr>
          <p:cNvPr id="163" name="Connector 162"/>
          <p:cNvCxnSpPr/>
          <p:nvPr/>
        </p:nvCxnSpPr>
        <p:spPr>
          <a:xfrm>
            <a:off x="1097280" y="5120640"/>
            <a:ext cx="2651760" cy="0"/>
          </a:xfrm>
          <a:prstGeom prst="line">
            <a:avLst/>
          </a:prstGeom>
          <a:ln w="12700">
            <a:solidFill>
              <a:srgbClr val="CFE5E9"/>
            </a:solidFill>
          </a:ln>
        </p:spPr>
        <p:style>
          <a:lnRef idx="2">
            <a:schemeClr val="accent1"/>
          </a:lnRef>
          <a:fillRef idx="0">
            <a:schemeClr val="accent1"/>
          </a:fillRef>
          <a:effectRef idx="1">
            <a:schemeClr val="accent1"/>
          </a:effectRef>
          <a:fontRef idx="minor">
            <a:schemeClr val="tx1"/>
          </a:fontRef>
        </p:style>
      </p:cxnSp>
      <p:sp>
        <p:nvSpPr>
          <p:cNvPr id="164" name="TextBox 163"/>
          <p:cNvSpPr txBox="1"/>
          <p:nvPr/>
        </p:nvSpPr>
        <p:spPr>
          <a:xfrm>
            <a:off x="960120" y="5193792"/>
            <a:ext cx="2926080" cy="1600200"/>
          </a:xfrm>
          <a:prstGeom prst="rect">
            <a:avLst/>
          </a:prstGeom>
          <a:noFill/>
        </p:spPr>
        <p:txBody>
          <a:bodyPr wrap="square" anchor="t" lIns="0" rIns="0" tIns="0" bIns="0">
            <a:spAutoFit/>
          </a:bodyPr>
          <a:lstStyle/>
          <a:p>
            <a:pPr algn="l">
              <a:spcAft>
                <a:spcPts val="400"/>
              </a:spcAft>
            </a:pPr>
            <a:r>
              <a:rPr sz="1210" b="1" i="0">
                <a:solidFill>
                  <a:srgbClr val="0B5E6E"/>
                </a:solidFill>
                <a:latin typeface="Calibri (MS) Bold"/>
              </a:rPr>
              <a:t>Kenapa? </a:t>
            </a:r>
            <a:r>
              <a:rPr sz="1210" b="0" i="0">
                <a:solidFill>
                  <a:srgbClr val="14313B"/>
                </a:solidFill>
                <a:latin typeface="Calibri (MS)"/>
              </a:rPr>
              <a:t>Rumus awal menganggap daya tarik 2024 = 1, padahal 0,99223. Dampaknya kecil: wisatawan 2050 naik sekitar 1,6%.</a:t>
            </a:r>
          </a:p>
        </p:txBody>
      </p:sp>
      <p:sp>
        <p:nvSpPr>
          <p:cNvPr id="165" name="Rounded Rectangle 164"/>
          <p:cNvSpPr/>
          <p:nvPr/>
        </p:nvSpPr>
        <p:spPr>
          <a:xfrm>
            <a:off x="932688" y="6876288"/>
            <a:ext cx="2980944" cy="731520"/>
          </a:xfrm>
          <a:prstGeom prst="roundRect">
            <a:avLst>
              <a:gd name="adj" fmla="val 8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14313B"/>
                </a:solidFill>
                <a:latin typeface="Calibri (MS) Bold"/>
              </a:rPr>
              <a:t>Dibetulkan, bukan kalibrasi</a:t>
            </a:r>
          </a:p>
        </p:txBody>
      </p:sp>
      <p:sp>
        <p:nvSpPr>
          <p:cNvPr id="166" name="Right Arrow 165"/>
          <p:cNvSpPr/>
          <p:nvPr/>
        </p:nvSpPr>
        <p:spPr>
          <a:xfrm>
            <a:off x="4005072" y="2029968"/>
            <a:ext cx="196596" cy="27432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Rounded Rectangle 166"/>
          <p:cNvSpPr/>
          <p:nvPr/>
        </p:nvSpPr>
        <p:spPr>
          <a:xfrm>
            <a:off x="4183380" y="1783080"/>
            <a:ext cx="3200400" cy="5943600"/>
          </a:xfrm>
          <a:prstGeom prst="roundRect">
            <a:avLst>
              <a:gd name="adj" fmla="val 5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8" name="Rounded Rectangle 167"/>
          <p:cNvSpPr/>
          <p:nvPr/>
        </p:nvSpPr>
        <p:spPr>
          <a:xfrm>
            <a:off x="4183380" y="1783080"/>
            <a:ext cx="3200400" cy="777240"/>
          </a:xfrm>
          <a:prstGeom prst="roundRect">
            <a:avLst>
              <a:gd name="adj" fmla="val 12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090" b="1" i="0">
                <a:solidFill>
                  <a:srgbClr val="FFD23B"/>
                </a:solidFill>
                <a:latin typeface="Calibri (MS) Bold"/>
              </a:rPr>
              <a:t>TAHAP 1</a:t>
            </a:r>
          </a:p>
          <a:p>
            <a:pPr algn="l">
              <a:spcAft>
                <a:spcPts val="300"/>
              </a:spcAft>
            </a:pPr>
            <a:r>
              <a:rPr sz="1440" b="1" i="0">
                <a:solidFill>
                  <a:srgbClr val="FFFFFF"/>
                </a:solidFill>
                <a:latin typeface="Calibri (MS) Bold"/>
              </a:rPr>
              <a:t>Subsistem akomodasi</a:t>
            </a:r>
          </a:p>
        </p:txBody>
      </p:sp>
      <p:sp>
        <p:nvSpPr>
          <p:cNvPr id="169" name="TextBox 168"/>
          <p:cNvSpPr txBox="1"/>
          <p:nvPr/>
        </p:nvSpPr>
        <p:spPr>
          <a:xfrm>
            <a:off x="4320540" y="2633472"/>
            <a:ext cx="2926080" cy="548640"/>
          </a:xfrm>
          <a:prstGeom prst="rect">
            <a:avLst/>
          </a:prstGeom>
          <a:noFill/>
        </p:spPr>
        <p:txBody>
          <a:bodyPr wrap="square" anchor="t" lIns="0" rIns="0" tIns="0" bIns="0">
            <a:spAutoFit/>
          </a:bodyPr>
          <a:lstStyle/>
          <a:p>
            <a:pPr algn="l">
              <a:spcAft>
                <a:spcPts val="400"/>
              </a:spcAft>
            </a:pPr>
            <a:r>
              <a:rPr sz="1090" b="1" i="1">
                <a:solidFill>
                  <a:srgbClr val="14313B"/>
                </a:solidFill>
                <a:latin typeface="Calibri (MS) Bold"/>
              </a:rPr>
              <a:t>Batas TPK pemicu pembangunan hotel dan laju demolisi</a:t>
            </a:r>
          </a:p>
        </p:txBody>
      </p:sp>
      <p:sp>
        <p:nvSpPr>
          <p:cNvPr id="170" name="Rounded Rectangle 169"/>
          <p:cNvSpPr/>
          <p:nvPr/>
        </p:nvSpPr>
        <p:spPr>
          <a:xfrm>
            <a:off x="4320540" y="3200400"/>
            <a:ext cx="2926080" cy="384048"/>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030" b="1" i="0">
                <a:solidFill>
                  <a:srgbClr val="0B5E6E"/>
                </a:solidFill>
                <a:latin typeface="Calibri (MS) Bold"/>
              </a:rPr>
              <a:t>Dicoba: </a:t>
            </a:r>
            <a:r>
              <a:rPr sz="1030" b="0" i="0">
                <a:solidFill>
                  <a:srgbClr val="14313B"/>
                </a:solidFill>
                <a:latin typeface="Calibri (MS)"/>
              </a:rPr>
              <a:t>775 pasangan nilai dicoba · uji P1</a:t>
            </a:r>
          </a:p>
        </p:txBody>
      </p:sp>
      <p:sp>
        <p:nvSpPr>
          <p:cNvPr id="171" name="TextBox 170"/>
          <p:cNvSpPr txBox="1"/>
          <p:nvPr/>
        </p:nvSpPr>
        <p:spPr>
          <a:xfrm>
            <a:off x="4320540" y="3657600"/>
            <a:ext cx="2926080" cy="685800"/>
          </a:xfrm>
          <a:prstGeom prst="rect">
            <a:avLst/>
          </a:prstGeom>
          <a:noFill/>
        </p:spPr>
        <p:txBody>
          <a:bodyPr wrap="square" anchor="t" lIns="0" rIns="0" tIns="0" bIns="0">
            <a:spAutoFit/>
          </a:bodyPr>
          <a:lstStyle/>
          <a:p>
            <a:pPr algn="ctr">
              <a:spcAft>
                <a:spcPts val="400"/>
              </a:spcAft>
            </a:pPr>
            <a:r>
              <a:rPr sz="3220" b="1" i="0">
                <a:solidFill>
                  <a:srgbClr val="0B5E6E"/>
                </a:solidFill>
                <a:latin typeface="Calibri (MS) Bold"/>
              </a:rPr>
              <a:t>11,64%</a:t>
            </a:r>
          </a:p>
        </p:txBody>
      </p:sp>
      <p:sp>
        <p:nvSpPr>
          <p:cNvPr id="172" name="TextBox 171"/>
          <p:cNvSpPr txBox="1"/>
          <p:nvPr/>
        </p:nvSpPr>
        <p:spPr>
          <a:xfrm>
            <a:off x="4320540" y="4370832"/>
            <a:ext cx="2926080" cy="685800"/>
          </a:xfrm>
          <a:prstGeom prst="rect">
            <a:avLst/>
          </a:prstGeom>
          <a:noFill/>
        </p:spPr>
        <p:txBody>
          <a:bodyPr wrap="square" anchor="t" lIns="0" rIns="0" tIns="0" bIns="0">
            <a:spAutoFit/>
          </a:bodyPr>
          <a:lstStyle/>
          <a:p>
            <a:pPr algn="ctr">
              <a:spcAft>
                <a:spcPts val="400"/>
              </a:spcAft>
            </a:pPr>
            <a:r>
              <a:rPr sz="1150" b="1" i="0">
                <a:solidFill>
                  <a:srgbClr val="14313B"/>
                </a:solidFill>
                <a:latin typeface="Calibri (MS) Bold"/>
              </a:rPr>
              <a:t>lebih cocok pada nilai terbaik</a:t>
            </a:r>
          </a:p>
          <a:p>
            <a:pPr algn="ctr">
              <a:spcAft>
                <a:spcPts val="400"/>
              </a:spcAft>
            </a:pPr>
            <a:r>
              <a:rPr sz="1090" b="0" i="0">
                <a:solidFill>
                  <a:srgbClr val="5E6E78"/>
                </a:solidFill>
                <a:latin typeface="Calibri (MS)"/>
              </a:rPr>
              <a:t>→ tinggal 5,74% bila data 2019 dibuang</a:t>
            </a:r>
          </a:p>
        </p:txBody>
      </p:sp>
      <p:cxnSp>
        <p:nvCxnSpPr>
          <p:cNvPr id="173" name="Connector 172"/>
          <p:cNvCxnSpPr/>
          <p:nvPr/>
        </p:nvCxnSpPr>
        <p:spPr>
          <a:xfrm>
            <a:off x="4457700" y="5120640"/>
            <a:ext cx="2651759" cy="0"/>
          </a:xfrm>
          <a:prstGeom prst="line">
            <a:avLst/>
          </a:prstGeom>
          <a:ln w="12700">
            <a:solidFill>
              <a:srgbClr val="CFE5E9"/>
            </a:solidFill>
          </a:ln>
        </p:spPr>
        <p:style>
          <a:lnRef idx="2">
            <a:schemeClr val="accent1"/>
          </a:lnRef>
          <a:fillRef idx="0">
            <a:schemeClr val="accent1"/>
          </a:fillRef>
          <a:effectRef idx="1">
            <a:schemeClr val="accent1"/>
          </a:effectRef>
          <a:fontRef idx="minor">
            <a:schemeClr val="tx1"/>
          </a:fontRef>
        </p:style>
      </p:cxnSp>
      <p:sp>
        <p:nvSpPr>
          <p:cNvPr id="174" name="TextBox 173"/>
          <p:cNvSpPr txBox="1"/>
          <p:nvPr/>
        </p:nvSpPr>
        <p:spPr>
          <a:xfrm>
            <a:off x="4320540" y="5193792"/>
            <a:ext cx="2926080" cy="1600200"/>
          </a:xfrm>
          <a:prstGeom prst="rect">
            <a:avLst/>
          </a:prstGeom>
          <a:noFill/>
        </p:spPr>
        <p:txBody>
          <a:bodyPr wrap="square" anchor="t" lIns="0" rIns="0" tIns="0" bIns="0">
            <a:spAutoFit/>
          </a:bodyPr>
          <a:lstStyle/>
          <a:p>
            <a:pPr algn="l">
              <a:spcAft>
                <a:spcPts val="400"/>
              </a:spcAft>
            </a:pPr>
            <a:r>
              <a:rPr sz="1210" b="1" i="0">
                <a:solidFill>
                  <a:srgbClr val="0B5E6E"/>
                </a:solidFill>
                <a:latin typeface="Calibri (MS) Bold"/>
              </a:rPr>
              <a:t>Kenapa? </a:t>
            </a:r>
            <a:r>
              <a:rPr sz="1210" b="0" i="0">
                <a:solidFill>
                  <a:srgbClr val="14313B"/>
                </a:solidFill>
                <a:latin typeface="Calibri (MS)"/>
              </a:rPr>
              <a:t>Nilai terbaik jatuh di batas atas yang dicoba, dan keunggulannya hanya muncul karena satu tahun data yang janggal.</a:t>
            </a:r>
          </a:p>
        </p:txBody>
      </p:sp>
      <p:sp>
        <p:nvSpPr>
          <p:cNvPr id="175" name="Rounded Rectangle 174"/>
          <p:cNvSpPr/>
          <p:nvPr/>
        </p:nvSpPr>
        <p:spPr>
          <a:xfrm>
            <a:off x="4293108" y="6876288"/>
            <a:ext cx="2980944" cy="73152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FFFFFF"/>
                </a:solidFill>
                <a:latin typeface="Calibri (MS) Bold"/>
              </a:rPr>
              <a:t>Nilai dari data tetap dipakai</a:t>
            </a:r>
          </a:p>
          <a:p>
            <a:pPr algn="ctr">
              <a:spcAft>
                <a:spcPts val="300"/>
              </a:spcAft>
            </a:pPr>
            <a:r>
              <a:rPr sz="1090" b="0" i="0">
                <a:solidFill>
                  <a:srgbClr val="FFFFFF"/>
                </a:solidFill>
                <a:latin typeface="Calibri (MS)"/>
              </a:rPr>
              <a:t>(0,275 dan 0,05)</a:t>
            </a:r>
          </a:p>
        </p:txBody>
      </p:sp>
      <p:sp>
        <p:nvSpPr>
          <p:cNvPr id="176" name="Right Arrow 175"/>
          <p:cNvSpPr/>
          <p:nvPr/>
        </p:nvSpPr>
        <p:spPr>
          <a:xfrm>
            <a:off x="7365492" y="2029968"/>
            <a:ext cx="196596" cy="27432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 name="Rounded Rectangle 176"/>
          <p:cNvSpPr/>
          <p:nvPr/>
        </p:nvSpPr>
        <p:spPr>
          <a:xfrm>
            <a:off x="7543800" y="1783080"/>
            <a:ext cx="3200400" cy="5943600"/>
          </a:xfrm>
          <a:prstGeom prst="roundRect">
            <a:avLst>
              <a:gd name="adj" fmla="val 5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78" name="Rounded Rectangle 177"/>
          <p:cNvSpPr/>
          <p:nvPr/>
        </p:nvSpPr>
        <p:spPr>
          <a:xfrm>
            <a:off x="7543800" y="1783080"/>
            <a:ext cx="3200400" cy="777240"/>
          </a:xfrm>
          <a:prstGeom prst="roundRect">
            <a:avLst>
              <a:gd name="adj" fmla="val 12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090" b="1" i="0">
                <a:solidFill>
                  <a:srgbClr val="FFD23B"/>
                </a:solidFill>
                <a:latin typeface="Calibri (MS) Bold"/>
              </a:rPr>
              <a:t>TAHAP 2</a:t>
            </a:r>
          </a:p>
          <a:p>
            <a:pPr algn="l">
              <a:spcAft>
                <a:spcPts val="300"/>
              </a:spcAft>
            </a:pPr>
            <a:r>
              <a:rPr sz="1440" b="1" i="0">
                <a:solidFill>
                  <a:srgbClr val="FFFFFF"/>
                </a:solidFill>
                <a:latin typeface="Calibri (MS) Bold"/>
              </a:rPr>
              <a:t>Subsistem lahan</a:t>
            </a:r>
          </a:p>
        </p:txBody>
      </p:sp>
      <p:sp>
        <p:nvSpPr>
          <p:cNvPr id="179" name="TextBox 178"/>
          <p:cNvSpPr txBox="1"/>
          <p:nvPr/>
        </p:nvSpPr>
        <p:spPr>
          <a:xfrm>
            <a:off x="7680960" y="2633472"/>
            <a:ext cx="2926080" cy="548640"/>
          </a:xfrm>
          <a:prstGeom prst="rect">
            <a:avLst/>
          </a:prstGeom>
          <a:noFill/>
        </p:spPr>
        <p:txBody>
          <a:bodyPr wrap="square" anchor="t" lIns="0" rIns="0" tIns="0" bIns="0">
            <a:spAutoFit/>
          </a:bodyPr>
          <a:lstStyle/>
          <a:p>
            <a:pPr algn="l">
              <a:spcAft>
                <a:spcPts val="400"/>
              </a:spcAft>
            </a:pPr>
            <a:r>
              <a:rPr sz="1090" b="1" i="1">
                <a:solidFill>
                  <a:srgbClr val="14313B"/>
                </a:solidFill>
                <a:latin typeface="Calibri (MS) Bold"/>
              </a:rPr>
              <a:t>Laju konversi dasar (lahan menjadi lahan terbangun)</a:t>
            </a:r>
          </a:p>
        </p:txBody>
      </p:sp>
      <p:sp>
        <p:nvSpPr>
          <p:cNvPr id="180" name="Rounded Rectangle 179"/>
          <p:cNvSpPr/>
          <p:nvPr/>
        </p:nvSpPr>
        <p:spPr>
          <a:xfrm>
            <a:off x="7680960" y="3200400"/>
            <a:ext cx="2926080" cy="384048"/>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030" b="1" i="0">
                <a:solidFill>
                  <a:srgbClr val="0B5E6E"/>
                </a:solidFill>
                <a:latin typeface="Calibri (MS) Bold"/>
              </a:rPr>
              <a:t>Dicoba: </a:t>
            </a:r>
            <a:r>
              <a:rPr sz="1030" b="0" i="0">
                <a:solidFill>
                  <a:srgbClr val="14313B"/>
                </a:solidFill>
                <a:latin typeface="Calibri (MS)"/>
              </a:rPr>
              <a:t>Nilai 0,0034–0,0851 dicoba · uji P4</a:t>
            </a:r>
          </a:p>
        </p:txBody>
      </p:sp>
      <p:sp>
        <p:nvSpPr>
          <p:cNvPr id="181" name="TextBox 180"/>
          <p:cNvSpPr txBox="1"/>
          <p:nvPr/>
        </p:nvSpPr>
        <p:spPr>
          <a:xfrm>
            <a:off x="7680960" y="3657600"/>
            <a:ext cx="2926080" cy="685800"/>
          </a:xfrm>
          <a:prstGeom prst="rect">
            <a:avLst/>
          </a:prstGeom>
          <a:noFill/>
        </p:spPr>
        <p:txBody>
          <a:bodyPr wrap="square" anchor="t" lIns="0" rIns="0" tIns="0" bIns="0">
            <a:spAutoFit/>
          </a:bodyPr>
          <a:lstStyle/>
          <a:p>
            <a:pPr algn="ctr">
              <a:spcAft>
                <a:spcPts val="400"/>
              </a:spcAft>
            </a:pPr>
            <a:r>
              <a:rPr sz="3220" b="1" i="0">
                <a:solidFill>
                  <a:srgbClr val="0B5E6E"/>
                </a:solidFill>
                <a:latin typeface="Calibri (MS) Bold"/>
              </a:rPr>
              <a:t>14,76%</a:t>
            </a:r>
          </a:p>
        </p:txBody>
      </p:sp>
      <p:sp>
        <p:nvSpPr>
          <p:cNvPr id="182" name="TextBox 181"/>
          <p:cNvSpPr txBox="1"/>
          <p:nvPr/>
        </p:nvSpPr>
        <p:spPr>
          <a:xfrm>
            <a:off x="7680960" y="4370832"/>
            <a:ext cx="2926080" cy="685800"/>
          </a:xfrm>
          <a:prstGeom prst="rect">
            <a:avLst/>
          </a:prstGeom>
          <a:noFill/>
        </p:spPr>
        <p:txBody>
          <a:bodyPr wrap="square" anchor="t" lIns="0" rIns="0" tIns="0" bIns="0">
            <a:spAutoFit/>
          </a:bodyPr>
          <a:lstStyle/>
          <a:p>
            <a:pPr algn="ctr">
              <a:spcAft>
                <a:spcPts val="400"/>
              </a:spcAft>
            </a:pPr>
            <a:r>
              <a:rPr sz="1150" b="1" i="0">
                <a:solidFill>
                  <a:srgbClr val="14313B"/>
                </a:solidFill>
                <a:latin typeface="Calibri (MS) Bold"/>
              </a:rPr>
              <a:t>lebih cocok pada nilai 0,0639</a:t>
            </a:r>
          </a:p>
          <a:p>
            <a:pPr algn="ctr">
              <a:spcAft>
                <a:spcPts val="400"/>
              </a:spcAft>
            </a:pPr>
            <a:r>
              <a:rPr sz="1090" b="0" i="0">
                <a:solidFill>
                  <a:srgbClr val="5E6E78"/>
                </a:solidFill>
                <a:latin typeface="Calibri (MS)"/>
              </a:rPr>
              <a:t>selisih rata-rata (U1): 0,4250 → 0,0755</a:t>
            </a:r>
          </a:p>
        </p:txBody>
      </p:sp>
      <p:cxnSp>
        <p:nvCxnSpPr>
          <p:cNvPr id="183" name="Connector 182"/>
          <p:cNvCxnSpPr/>
          <p:nvPr/>
        </p:nvCxnSpPr>
        <p:spPr>
          <a:xfrm>
            <a:off x="7818120" y="5120640"/>
            <a:ext cx="2651760" cy="0"/>
          </a:xfrm>
          <a:prstGeom prst="line">
            <a:avLst/>
          </a:prstGeom>
          <a:ln w="12700">
            <a:solidFill>
              <a:srgbClr val="CFE5E9"/>
            </a:solidFill>
          </a:ln>
        </p:spPr>
        <p:style>
          <a:lnRef idx="2">
            <a:schemeClr val="accent1"/>
          </a:lnRef>
          <a:fillRef idx="0">
            <a:schemeClr val="accent1"/>
          </a:fillRef>
          <a:effectRef idx="1">
            <a:schemeClr val="accent1"/>
          </a:effectRef>
          <a:fontRef idx="minor">
            <a:schemeClr val="tx1"/>
          </a:fontRef>
        </p:style>
      </p:cxnSp>
      <p:sp>
        <p:nvSpPr>
          <p:cNvPr id="184" name="TextBox 183"/>
          <p:cNvSpPr txBox="1"/>
          <p:nvPr/>
        </p:nvSpPr>
        <p:spPr>
          <a:xfrm>
            <a:off x="7680960" y="5193792"/>
            <a:ext cx="2926080" cy="1600200"/>
          </a:xfrm>
          <a:prstGeom prst="rect">
            <a:avLst/>
          </a:prstGeom>
          <a:noFill/>
        </p:spPr>
        <p:txBody>
          <a:bodyPr wrap="square" anchor="t" lIns="0" rIns="0" tIns="0" bIns="0">
            <a:spAutoFit/>
          </a:bodyPr>
          <a:lstStyle/>
          <a:p>
            <a:pPr algn="l">
              <a:spcAft>
                <a:spcPts val="400"/>
              </a:spcAft>
            </a:pPr>
            <a:r>
              <a:rPr sz="1210" b="1" i="0">
                <a:solidFill>
                  <a:srgbClr val="0B5E6E"/>
                </a:solidFill>
                <a:latin typeface="Calibri (MS) Bold"/>
              </a:rPr>
              <a:t>Kenapa? </a:t>
            </a:r>
            <a:r>
              <a:rPr sz="1210" b="0" i="0">
                <a:solidFill>
                  <a:srgbClr val="14313B"/>
                </a:solidFill>
                <a:latin typeface="Calibri (MS)"/>
              </a:rPr>
              <a:t>Letaknya di tengah, bukan di tepi, sehingga memenuhi syarat (R4). Namun masih harus diuji pada model penuh.</a:t>
            </a:r>
          </a:p>
        </p:txBody>
      </p:sp>
      <p:sp>
        <p:nvSpPr>
          <p:cNvPr id="185" name="Rounded Rectangle 184"/>
          <p:cNvSpPr/>
          <p:nvPr/>
        </p:nvSpPr>
        <p:spPr>
          <a:xfrm>
            <a:off x="7653527" y="6876288"/>
            <a:ext cx="2980944" cy="731520"/>
          </a:xfrm>
          <a:prstGeom prst="roundRect">
            <a:avLst>
              <a:gd name="adj" fmla="val 8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14313B"/>
                </a:solidFill>
                <a:latin typeface="Calibri (MS) Bold"/>
              </a:rPr>
              <a:t>Diterima sementara</a:t>
            </a:r>
          </a:p>
          <a:p>
            <a:pPr algn="ctr">
              <a:spcAft>
                <a:spcPts val="300"/>
              </a:spcAft>
            </a:pPr>
            <a:r>
              <a:rPr sz="1090" b="0" i="0">
                <a:solidFill>
                  <a:srgbClr val="14313B"/>
                </a:solidFill>
                <a:latin typeface="Calibri (MS)"/>
              </a:rPr>
              <a:t>(0,0639 → diuji di Tahap 4)</a:t>
            </a:r>
          </a:p>
        </p:txBody>
      </p:sp>
      <p:sp>
        <p:nvSpPr>
          <p:cNvPr id="186" name="Right Arrow 185"/>
          <p:cNvSpPr/>
          <p:nvPr/>
        </p:nvSpPr>
        <p:spPr>
          <a:xfrm>
            <a:off x="10725912" y="2029968"/>
            <a:ext cx="196596" cy="27432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Rounded Rectangle 186"/>
          <p:cNvSpPr/>
          <p:nvPr/>
        </p:nvSpPr>
        <p:spPr>
          <a:xfrm>
            <a:off x="10904219" y="1783080"/>
            <a:ext cx="3200400" cy="5943600"/>
          </a:xfrm>
          <a:prstGeom prst="roundRect">
            <a:avLst>
              <a:gd name="adj" fmla="val 5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88" name="Rounded Rectangle 187"/>
          <p:cNvSpPr/>
          <p:nvPr/>
        </p:nvSpPr>
        <p:spPr>
          <a:xfrm>
            <a:off x="10904219" y="1783080"/>
            <a:ext cx="3200400" cy="777240"/>
          </a:xfrm>
          <a:prstGeom prst="roundRect">
            <a:avLst>
              <a:gd name="adj" fmla="val 12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090" b="1" i="0">
                <a:solidFill>
                  <a:srgbClr val="FFD23B"/>
                </a:solidFill>
                <a:latin typeface="Calibri (MS) Bold"/>
              </a:rPr>
              <a:t>TAHAP 3</a:t>
            </a:r>
          </a:p>
          <a:p>
            <a:pPr algn="l">
              <a:spcAft>
                <a:spcPts val="300"/>
              </a:spcAft>
            </a:pPr>
            <a:r>
              <a:rPr sz="1440" b="1" i="0">
                <a:solidFill>
                  <a:srgbClr val="FFFFFF"/>
                </a:solidFill>
                <a:latin typeface="Calibri (MS) Bold"/>
              </a:rPr>
              <a:t>Subsistem wisatawan</a:t>
            </a:r>
          </a:p>
        </p:txBody>
      </p:sp>
      <p:sp>
        <p:nvSpPr>
          <p:cNvPr id="189" name="TextBox 188"/>
          <p:cNvSpPr txBox="1"/>
          <p:nvPr/>
        </p:nvSpPr>
        <p:spPr>
          <a:xfrm>
            <a:off x="11041380" y="2633472"/>
            <a:ext cx="2926080" cy="548640"/>
          </a:xfrm>
          <a:prstGeom prst="rect">
            <a:avLst/>
          </a:prstGeom>
          <a:noFill/>
        </p:spPr>
        <p:txBody>
          <a:bodyPr wrap="square" anchor="t" lIns="0" rIns="0" tIns="0" bIns="0">
            <a:spAutoFit/>
          </a:bodyPr>
          <a:lstStyle/>
          <a:p>
            <a:pPr algn="l">
              <a:spcAft>
                <a:spcPts val="400"/>
              </a:spcAft>
            </a:pPr>
            <a:r>
              <a:rPr sz="1090" b="1" i="1">
                <a:solidFill>
                  <a:srgbClr val="14313B"/>
                </a:solidFill>
                <a:latin typeface="Calibri (MS) Bold"/>
              </a:rPr>
              <a:t>LPE dan LPD (hanya diperiksa, tidak dikalibrasi)</a:t>
            </a:r>
          </a:p>
        </p:txBody>
      </p:sp>
      <p:sp>
        <p:nvSpPr>
          <p:cNvPr id="190" name="Rounded Rectangle 189"/>
          <p:cNvSpPr/>
          <p:nvPr/>
        </p:nvSpPr>
        <p:spPr>
          <a:xfrm>
            <a:off x="11041380" y="3200400"/>
            <a:ext cx="2926080" cy="384048"/>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030" b="1" i="0">
                <a:solidFill>
                  <a:srgbClr val="0B5E6E"/>
                </a:solidFill>
                <a:latin typeface="Calibri (MS) Bold"/>
              </a:rPr>
              <a:t>Dicoba: </a:t>
            </a:r>
            <a:r>
              <a:rPr sz="1030" b="0" i="0">
                <a:solidFill>
                  <a:srgbClr val="14313B"/>
                </a:solidFill>
                <a:latin typeface="Calibri (MS)"/>
              </a:rPr>
              <a:t>Berapa LPE yang diminta data?</a:t>
            </a:r>
          </a:p>
        </p:txBody>
      </p:sp>
      <p:sp>
        <p:nvSpPr>
          <p:cNvPr id="191" name="TextBox 190"/>
          <p:cNvSpPr txBox="1"/>
          <p:nvPr/>
        </p:nvSpPr>
        <p:spPr>
          <a:xfrm>
            <a:off x="11041380" y="3657600"/>
            <a:ext cx="2926080" cy="685800"/>
          </a:xfrm>
          <a:prstGeom prst="rect">
            <a:avLst/>
          </a:prstGeom>
          <a:noFill/>
        </p:spPr>
        <p:txBody>
          <a:bodyPr wrap="square" anchor="t" lIns="0" rIns="0" tIns="0" bIns="0">
            <a:spAutoFit/>
          </a:bodyPr>
          <a:lstStyle/>
          <a:p>
            <a:pPr algn="ctr">
              <a:spcAft>
                <a:spcPts val="400"/>
              </a:spcAft>
            </a:pPr>
            <a:r>
              <a:rPr sz="3220" b="1" i="0">
                <a:solidFill>
                  <a:srgbClr val="0B5E6E"/>
                </a:solidFill>
                <a:latin typeface="Calibri (MS) Bold"/>
              </a:rPr>
              <a:t>0,41–0,49</a:t>
            </a:r>
          </a:p>
        </p:txBody>
      </p:sp>
      <p:sp>
        <p:nvSpPr>
          <p:cNvPr id="192" name="TextBox 191"/>
          <p:cNvSpPr txBox="1"/>
          <p:nvPr/>
        </p:nvSpPr>
        <p:spPr>
          <a:xfrm>
            <a:off x="11041380" y="4370832"/>
            <a:ext cx="2926080" cy="685800"/>
          </a:xfrm>
          <a:prstGeom prst="rect">
            <a:avLst/>
          </a:prstGeom>
          <a:noFill/>
        </p:spPr>
        <p:txBody>
          <a:bodyPr wrap="square" anchor="t" lIns="0" rIns="0" tIns="0" bIns="0">
            <a:spAutoFit/>
          </a:bodyPr>
          <a:lstStyle/>
          <a:p>
            <a:pPr algn="ctr">
              <a:spcAft>
                <a:spcPts val="400"/>
              </a:spcAft>
            </a:pPr>
            <a:r>
              <a:rPr sz="1150" b="1" i="0">
                <a:solidFill>
                  <a:srgbClr val="14313B"/>
                </a:solidFill>
                <a:latin typeface="Calibri (MS) Bold"/>
              </a:rPr>
              <a:t>LPE yang diminta data</a:t>
            </a:r>
          </a:p>
          <a:p>
            <a:pPr algn="ctr">
              <a:spcAft>
                <a:spcPts val="400"/>
              </a:spcAft>
            </a:pPr>
            <a:r>
              <a:rPr sz="1090" b="0" i="0">
                <a:solidFill>
                  <a:srgbClr val="5E6E78"/>
                </a:solidFill>
                <a:latin typeface="Calibri (MS)"/>
              </a:rPr>
              <a:t>nilai dari data: 0,27726</a:t>
            </a:r>
          </a:p>
        </p:txBody>
      </p:sp>
      <p:cxnSp>
        <p:nvCxnSpPr>
          <p:cNvPr id="193" name="Connector 192"/>
          <p:cNvCxnSpPr/>
          <p:nvPr/>
        </p:nvCxnSpPr>
        <p:spPr>
          <a:xfrm>
            <a:off x="11178540" y="5120640"/>
            <a:ext cx="2651759" cy="0"/>
          </a:xfrm>
          <a:prstGeom prst="line">
            <a:avLst/>
          </a:prstGeom>
          <a:ln w="12700">
            <a:solidFill>
              <a:srgbClr val="CFE5E9"/>
            </a:solidFill>
          </a:ln>
        </p:spPr>
        <p:style>
          <a:lnRef idx="2">
            <a:schemeClr val="accent1"/>
          </a:lnRef>
          <a:fillRef idx="0">
            <a:schemeClr val="accent1"/>
          </a:fillRef>
          <a:effectRef idx="1">
            <a:schemeClr val="accent1"/>
          </a:effectRef>
          <a:fontRef idx="minor">
            <a:schemeClr val="tx1"/>
          </a:fontRef>
        </p:style>
      </p:cxnSp>
      <p:sp>
        <p:nvSpPr>
          <p:cNvPr id="194" name="TextBox 193"/>
          <p:cNvSpPr txBox="1"/>
          <p:nvPr/>
        </p:nvSpPr>
        <p:spPr>
          <a:xfrm>
            <a:off x="11041380" y="5193792"/>
            <a:ext cx="2926080" cy="1600200"/>
          </a:xfrm>
          <a:prstGeom prst="rect">
            <a:avLst/>
          </a:prstGeom>
          <a:noFill/>
        </p:spPr>
        <p:txBody>
          <a:bodyPr wrap="square" anchor="t" lIns="0" rIns="0" tIns="0" bIns="0">
            <a:spAutoFit/>
          </a:bodyPr>
          <a:lstStyle/>
          <a:p>
            <a:pPr algn="l">
              <a:spcAft>
                <a:spcPts val="400"/>
              </a:spcAft>
            </a:pPr>
            <a:r>
              <a:rPr sz="1210" b="1" i="0">
                <a:solidFill>
                  <a:srgbClr val="0B5E6E"/>
                </a:solidFill>
                <a:latin typeface="Calibri (MS) Bold"/>
              </a:rPr>
              <a:t>Kenapa? </a:t>
            </a:r>
            <a:r>
              <a:rPr sz="1210" b="0" i="0">
                <a:solidFill>
                  <a:srgbClr val="14313B"/>
                </a:solidFill>
                <a:latin typeface="Calibri (MS)"/>
              </a:rPr>
              <a:t>Banyak pasangan LPE–LPD sama cocoknya, jadi data hanya bisa menentukan selisih keduanya. Penyebab: lonjakan wisatawan setelah pandemi (puncak 24,86% pada 2024).</a:t>
            </a:r>
          </a:p>
        </p:txBody>
      </p:sp>
      <p:sp>
        <p:nvSpPr>
          <p:cNvPr id="195" name="Rounded Rectangle 194"/>
          <p:cNvSpPr/>
          <p:nvPr/>
        </p:nvSpPr>
        <p:spPr>
          <a:xfrm>
            <a:off x="11013947" y="6876288"/>
            <a:ext cx="2980944" cy="73152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FFFFFF"/>
                </a:solidFill>
                <a:latin typeface="Calibri (MS) Bold"/>
              </a:rPr>
              <a:t>Nilai dari data tetap dipakai</a:t>
            </a:r>
          </a:p>
          <a:p>
            <a:pPr algn="ctr">
              <a:spcAft>
                <a:spcPts val="300"/>
              </a:spcAft>
            </a:pPr>
            <a:r>
              <a:rPr sz="1090" b="0" i="0">
                <a:solidFill>
                  <a:srgbClr val="FFFFFF"/>
                </a:solidFill>
                <a:latin typeface="Calibri (MS)"/>
              </a:rPr>
              <a:t>(0,27726 dan 0,207945)</a:t>
            </a:r>
          </a:p>
        </p:txBody>
      </p:sp>
      <p:sp>
        <p:nvSpPr>
          <p:cNvPr id="196" name="Right Arrow 195"/>
          <p:cNvSpPr/>
          <p:nvPr/>
        </p:nvSpPr>
        <p:spPr>
          <a:xfrm>
            <a:off x="14086332" y="2029968"/>
            <a:ext cx="196596" cy="27432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ounded Rectangle 196"/>
          <p:cNvSpPr/>
          <p:nvPr/>
        </p:nvSpPr>
        <p:spPr>
          <a:xfrm>
            <a:off x="14264640" y="1783080"/>
            <a:ext cx="3200400" cy="5943600"/>
          </a:xfrm>
          <a:prstGeom prst="roundRect">
            <a:avLst>
              <a:gd name="adj" fmla="val 5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98" name="Rounded Rectangle 197"/>
          <p:cNvSpPr/>
          <p:nvPr/>
        </p:nvSpPr>
        <p:spPr>
          <a:xfrm>
            <a:off x="14264640" y="1783080"/>
            <a:ext cx="3200400" cy="777240"/>
          </a:xfrm>
          <a:prstGeom prst="roundRect">
            <a:avLst>
              <a:gd name="adj" fmla="val 12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09728" bIns="109728"/>
          <a:lstStyle/>
          <a:p>
            <a:pPr algn="l">
              <a:spcAft>
                <a:spcPts val="300"/>
              </a:spcAft>
            </a:pPr>
            <a:r>
              <a:rPr sz="1090" b="1" i="0">
                <a:solidFill>
                  <a:srgbClr val="FFD23B"/>
                </a:solidFill>
                <a:latin typeface="Calibri (MS) Bold"/>
              </a:rPr>
              <a:t>TAHAP 4</a:t>
            </a:r>
          </a:p>
          <a:p>
            <a:pPr algn="l">
              <a:spcAft>
                <a:spcPts val="300"/>
              </a:spcAft>
            </a:pPr>
            <a:r>
              <a:rPr sz="1440" b="1" i="0">
                <a:solidFill>
                  <a:srgbClr val="FFFFFF"/>
                </a:solidFill>
                <a:latin typeface="Calibri (MS) Bold"/>
              </a:rPr>
              <a:t>Uji pada model penuh</a:t>
            </a:r>
          </a:p>
        </p:txBody>
      </p:sp>
      <p:sp>
        <p:nvSpPr>
          <p:cNvPr id="199" name="TextBox 198"/>
          <p:cNvSpPr txBox="1"/>
          <p:nvPr/>
        </p:nvSpPr>
        <p:spPr>
          <a:xfrm>
            <a:off x="14401800" y="2633472"/>
            <a:ext cx="2926080" cy="548640"/>
          </a:xfrm>
          <a:prstGeom prst="rect">
            <a:avLst/>
          </a:prstGeom>
          <a:noFill/>
        </p:spPr>
        <p:txBody>
          <a:bodyPr wrap="square" anchor="t" lIns="0" rIns="0" tIns="0" bIns="0">
            <a:spAutoFit/>
          </a:bodyPr>
          <a:lstStyle/>
          <a:p>
            <a:pPr algn="l">
              <a:spcAft>
                <a:spcPts val="400"/>
              </a:spcAft>
            </a:pPr>
            <a:r>
              <a:rPr sz="1090" b="1" i="1">
                <a:solidFill>
                  <a:srgbClr val="14313B"/>
                </a:solidFill>
                <a:latin typeface="Calibri (MS) Bold"/>
              </a:rPr>
              <a:t>Laju konversi 0,0639 dari Tahap 2</a:t>
            </a:r>
          </a:p>
        </p:txBody>
      </p:sp>
      <p:sp>
        <p:nvSpPr>
          <p:cNvPr id="200" name="Rounded Rectangle 199"/>
          <p:cNvSpPr/>
          <p:nvPr/>
        </p:nvSpPr>
        <p:spPr>
          <a:xfrm>
            <a:off x="14401800" y="3200400"/>
            <a:ext cx="2926080" cy="384048"/>
          </a:xfrm>
          <a:prstGeom prst="roundRect">
            <a:avLst>
              <a:gd name="adj" fmla="val 8000"/>
            </a:avLst>
          </a:prstGeom>
          <a:solidFill>
            <a:srgbClr val="EAF8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l">
              <a:spcAft>
                <a:spcPts val="300"/>
              </a:spcAft>
            </a:pPr>
            <a:r>
              <a:rPr sz="1030" b="1" i="0">
                <a:solidFill>
                  <a:srgbClr val="0B5E6E"/>
                </a:solidFill>
                <a:latin typeface="Calibri (MS) Bold"/>
              </a:rPr>
              <a:t>Dicoba: </a:t>
            </a:r>
            <a:r>
              <a:rPr sz="1030" b="0" i="0">
                <a:solidFill>
                  <a:srgbClr val="14313B"/>
                </a:solidFill>
                <a:latin typeface="Calibri (MS)"/>
              </a:rPr>
              <a:t>Dicoba pada 13 variabel yang dinilai</a:t>
            </a:r>
          </a:p>
        </p:txBody>
      </p:sp>
      <p:sp>
        <p:nvSpPr>
          <p:cNvPr id="201" name="TextBox 200"/>
          <p:cNvSpPr txBox="1"/>
          <p:nvPr/>
        </p:nvSpPr>
        <p:spPr>
          <a:xfrm>
            <a:off x="14401800" y="3657600"/>
            <a:ext cx="2926080" cy="685800"/>
          </a:xfrm>
          <a:prstGeom prst="rect">
            <a:avLst/>
          </a:prstGeom>
          <a:noFill/>
        </p:spPr>
        <p:txBody>
          <a:bodyPr wrap="square" anchor="t" lIns="0" rIns="0" tIns="0" bIns="0">
            <a:spAutoFit/>
          </a:bodyPr>
          <a:lstStyle/>
          <a:p>
            <a:pPr algn="ctr">
              <a:spcAft>
                <a:spcPts val="400"/>
              </a:spcAft>
            </a:pPr>
            <a:r>
              <a:rPr sz="3220" b="1" i="0">
                <a:solidFill>
                  <a:srgbClr val="E4604F"/>
                </a:solidFill>
                <a:latin typeface="Calibri (MS) Bold"/>
              </a:rPr>
              <a:t>32,4%</a:t>
            </a:r>
          </a:p>
        </p:txBody>
      </p:sp>
      <p:sp>
        <p:nvSpPr>
          <p:cNvPr id="202" name="TextBox 201"/>
          <p:cNvSpPr txBox="1"/>
          <p:nvPr/>
        </p:nvSpPr>
        <p:spPr>
          <a:xfrm>
            <a:off x="14401800" y="4370832"/>
            <a:ext cx="2926080" cy="685800"/>
          </a:xfrm>
          <a:prstGeom prst="rect">
            <a:avLst/>
          </a:prstGeom>
          <a:noFill/>
        </p:spPr>
        <p:txBody>
          <a:bodyPr wrap="square" anchor="t" lIns="0" rIns="0" tIns="0" bIns="0">
            <a:spAutoFit/>
          </a:bodyPr>
          <a:lstStyle/>
          <a:p>
            <a:pPr algn="ctr">
              <a:spcAft>
                <a:spcPts val="400"/>
              </a:spcAft>
            </a:pPr>
            <a:r>
              <a:rPr sz="1150" b="1" i="0">
                <a:solidFill>
                  <a:srgbClr val="14313B"/>
                </a:solidFill>
                <a:latin typeface="Calibri (MS) Bold"/>
              </a:rPr>
              <a:t>lahan terbangun (uji penuh) jadi kurang cocok</a:t>
            </a:r>
          </a:p>
          <a:p>
            <a:pPr algn="ctr">
              <a:spcAft>
                <a:spcPts val="400"/>
              </a:spcAft>
            </a:pPr>
            <a:r>
              <a:rPr sz="1090" b="0" i="0">
                <a:solidFill>
                  <a:srgbClr val="5E6E78"/>
                </a:solidFill>
                <a:latin typeface="Calibri (MS)"/>
              </a:rPr>
              <a:t>batas toleransi 5% · 12 variabel lain hampir tetap</a:t>
            </a:r>
          </a:p>
        </p:txBody>
      </p:sp>
      <p:cxnSp>
        <p:nvCxnSpPr>
          <p:cNvPr id="203" name="Connector 202"/>
          <p:cNvCxnSpPr/>
          <p:nvPr/>
        </p:nvCxnSpPr>
        <p:spPr>
          <a:xfrm>
            <a:off x="14538960" y="5120640"/>
            <a:ext cx="2651760" cy="0"/>
          </a:xfrm>
          <a:prstGeom prst="line">
            <a:avLst/>
          </a:prstGeom>
          <a:ln w="12700">
            <a:solidFill>
              <a:srgbClr val="CFE5E9"/>
            </a:solidFill>
          </a:ln>
        </p:spPr>
        <p:style>
          <a:lnRef idx="2">
            <a:schemeClr val="accent1"/>
          </a:lnRef>
          <a:fillRef idx="0">
            <a:schemeClr val="accent1"/>
          </a:fillRef>
          <a:effectRef idx="1">
            <a:schemeClr val="accent1"/>
          </a:effectRef>
          <a:fontRef idx="minor">
            <a:schemeClr val="tx1"/>
          </a:fontRef>
        </p:style>
      </p:cxnSp>
      <p:sp>
        <p:nvSpPr>
          <p:cNvPr id="204" name="TextBox 203"/>
          <p:cNvSpPr txBox="1"/>
          <p:nvPr/>
        </p:nvSpPr>
        <p:spPr>
          <a:xfrm>
            <a:off x="14401800" y="5193792"/>
            <a:ext cx="2926080" cy="1600200"/>
          </a:xfrm>
          <a:prstGeom prst="rect">
            <a:avLst/>
          </a:prstGeom>
          <a:noFill/>
        </p:spPr>
        <p:txBody>
          <a:bodyPr wrap="square" anchor="t" lIns="0" rIns="0" tIns="0" bIns="0">
            <a:spAutoFit/>
          </a:bodyPr>
          <a:lstStyle/>
          <a:p>
            <a:pPr algn="l">
              <a:spcAft>
                <a:spcPts val="400"/>
              </a:spcAft>
            </a:pPr>
            <a:r>
              <a:rPr sz="1210" b="1" i="0">
                <a:solidFill>
                  <a:srgbClr val="0B5E6E"/>
                </a:solidFill>
                <a:latin typeface="Calibri (MS) Bold"/>
              </a:rPr>
              <a:t>Kenapa? </a:t>
            </a:r>
            <a:r>
              <a:rPr sz="1210" b="0" i="0">
                <a:solidFill>
                  <a:srgbClr val="14313B"/>
                </a:solidFill>
                <a:latin typeface="Calibri (MS)"/>
              </a:rPr>
              <a:t>Uji penuh mulai 2019 saat lahan sudah tinggi, sehingga laju yang lebih cepat membuat simulasi melampaui data.</a:t>
            </a:r>
          </a:p>
        </p:txBody>
      </p:sp>
      <p:sp>
        <p:nvSpPr>
          <p:cNvPr id="205" name="Rounded Rectangle 204"/>
          <p:cNvSpPr/>
          <p:nvPr/>
        </p:nvSpPr>
        <p:spPr>
          <a:xfrm>
            <a:off x="14374367" y="6876288"/>
            <a:ext cx="2980944" cy="731520"/>
          </a:xfrm>
          <a:prstGeom prst="roundRect">
            <a:avLst>
              <a:gd name="adj" fmla="val 8000"/>
            </a:avLst>
          </a:prstGeom>
          <a:solidFill>
            <a:srgbClr val="E460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54864" bIns="54864"/>
          <a:lstStyle/>
          <a:p>
            <a:pPr algn="ctr">
              <a:spcAft>
                <a:spcPts val="300"/>
              </a:spcAft>
            </a:pPr>
            <a:r>
              <a:rPr sz="1210" b="1" i="0">
                <a:solidFill>
                  <a:srgbClr val="FFFFFF"/>
                </a:solidFill>
                <a:latin typeface="Calibri (MS) Bold"/>
              </a:rPr>
              <a:t>Ditolak</a:t>
            </a:r>
          </a:p>
          <a:p>
            <a:pPr algn="ctr">
              <a:spcAft>
                <a:spcPts val="300"/>
              </a:spcAft>
            </a:pPr>
            <a:r>
              <a:rPr sz="1090" b="0" i="0">
                <a:solidFill>
                  <a:srgbClr val="FFFFFF"/>
                </a:solidFill>
                <a:latin typeface="Calibri (MS)"/>
              </a:rPr>
              <a:t>(kembali ke 0,0436)</a:t>
            </a:r>
          </a:p>
        </p:txBody>
      </p:sp>
      <p:sp>
        <p:nvSpPr>
          <p:cNvPr id="206" name="Rounded Rectangle 205"/>
          <p:cNvSpPr/>
          <p:nvPr/>
        </p:nvSpPr>
        <p:spPr>
          <a:xfrm>
            <a:off x="822960" y="7909560"/>
            <a:ext cx="16642080" cy="118872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lstStyle/>
          <a:p>
            <a:pPr algn="l">
              <a:spcAft>
                <a:spcPts val="300"/>
              </a:spcAft>
            </a:pPr>
            <a:r>
              <a:rPr sz="1550" b="1" i="0">
                <a:solidFill>
                  <a:srgbClr val="FFD23B"/>
                </a:solidFill>
                <a:latin typeface="Calibri (MS) Bold"/>
              </a:rPr>
              <a:t>Hasil akhir: dari 3 parameter yang dikalibrasi (batas TPK, laju demolisi, laju konversi), tidak ada yang diganti</a:t>
            </a:r>
          </a:p>
          <a:p>
            <a:pPr algn="l">
              <a:spcAft>
                <a:spcPts val="300"/>
              </a:spcAft>
            </a:pPr>
            <a:r>
              <a:rPr sz="1260" b="0" i="0">
                <a:solidFill>
                  <a:srgbClr val="FFFFFF"/>
                </a:solidFill>
                <a:latin typeface="Calibri (MS)"/>
              </a:rPr>
              <a:t>Nilai yang dihitung dari data sudah layak dipakai. Selisih pada jumlah wisatawan bukan karena nilai parameter yang salah, tetapi karena lonjakan wisatawan setelah pandemi yang berada di luar cakupan model.</a:t>
            </a:r>
          </a:p>
        </p:txBody>
      </p:sp>
      <p:sp>
        <p:nvSpPr>
          <p:cNvPr id="207" name="TextBox 206"/>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4.6 (Tabel 48–55). R4 dan M1 = aturan keputusan dan pemicu penolakan pada slide sebelumnya (Tabel 19–20).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DAHXA7-drhs</dc:identifier>
  <dcterms:modified xsi:type="dcterms:W3CDTF">2011-08-01T06:04:30Z</dcterms:modified>
  <cp:revision>1</cp:revision>
  <dc:title>[Lengkap] PPT SIDANG FINAL</dc:title>
</cp:coreProperties>
</file>