
<file path=[Content_Types].xml><?xml version="1.0" encoding="utf-8"?>
<Types xmlns="http://schemas.openxmlformats.org/package/2006/content-types">
  <Default Extension="fntdata" ContentType="application/x-fontdata"/>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4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embedTrueTypeFonts="true">
  <p:sldMasterIdLst>
    <p:sldMasterId id="2147483648" r:id="rId1"/>
  </p:sldMasterIdLst>
  <p:notesMasterIdLst>
    <p:notesMasterId r:id="rId96"/>
  </p:notesMasterIdLst>
  <p:sldIdLst>
    <p:sldId id="304" r:id="rId54"/>
  </p:sldIdLst>
  <p:sldSz cx="18288000" cy="10287000"/>
  <p:notesSz cx="6858000" cy="9144000"/>
  <p:embeddedFontLst>
    <p:embeddedFont>
      <p:font typeface="Calibri (MS) Bold" charset="1" panose="020F0702030404030204"/>
      <p:regular r:id="rId99"/>
    </p:embeddedFont>
    <p:embeddedFont>
      <p:font typeface="Calibri (MS) Bold Italics" charset="1" panose="020F07020304040A0204"/>
      <p:regular r:id="rId100"/>
    </p:embeddedFont>
    <p:embeddedFont>
      <p:font typeface="Calibri (MS)" charset="1" panose="020F0502020204030204"/>
      <p:regular r:id="rId101"/>
    </p:embeddedFont>
    <p:embeddedFont>
      <p:font typeface="Montserrat" charset="1" panose="00000500000000000000"/>
      <p:regular r:id="rId105"/>
    </p:embeddedFont>
    <p:embeddedFont>
      <p:font typeface="Calibri (MS) Italics" charset="1" panose="020F05020202040A0204"/>
      <p:regular r:id="rId108"/>
    </p:embeddedFont>
    <p:embeddedFont>
      <p:font typeface="Cambria Italics" charset="1" panose="020405030504060A0204"/>
      <p:regular r:id="rId128"/>
    </p:embeddedFont>
  </p:embeddedFontLst>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autoAdjust="0"/>
    <p:restoredTop sz="94622" autoAdjust="0"/>
  </p:normalViewPr>
  <p:slideViewPr>
    <p:cSldViewPr>
      <p:cViewPr varScale="1">
        <p:scale>
          <a:sx n="74" d="100"/>
          <a:sy n="74" d="100"/>
        </p:scale>
        <p:origin x="-1092" y="-90"/>
      </p:cViewPr>
      <p:guideLst>
        <p:guide orient="horz" pos="2160"/>
        <p:guide pos="2880"/>
      </p:guideLst>
    </p:cSldViewPr>
  </p:slideViewPr>
  <p:outlineViewPr>
    <p:cViewPr>
      <p:scale>
        <a:sx n="33" d="100"/>
        <a:sy n="33" d="100"/>
      </p:scale>
      <p:origin x="0" y="0"/>
    </p:cViewPr>
  </p:outlin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esProps" Target="presProps.xml"/><Relationship Id="rId3" Type="http://schemas.openxmlformats.org/officeDocument/2006/relationships/viewProps" Target="viewProps.xml"/><Relationship Id="rId4" Type="http://schemas.openxmlformats.org/officeDocument/2006/relationships/theme" Target="theme/theme1.xml"/><Relationship Id="rId5" Type="http://schemas.openxmlformats.org/officeDocument/2006/relationships/tableStyles" Target="tableStyles.xml"/><Relationship Id="rId54" Type="http://schemas.openxmlformats.org/officeDocument/2006/relationships/slide" Target="slides/slide1.xml"/><Relationship Id="rId96" Type="http://schemas.openxmlformats.org/officeDocument/2006/relationships/notesMaster" Target="notesMasters/notesMaster1.xml"/><Relationship Id="rId97" Type="http://schemas.openxmlformats.org/officeDocument/2006/relationships/theme" Target="theme/theme2.xml"/><Relationship Id="rId99" Type="http://schemas.openxmlformats.org/officeDocument/2006/relationships/font" Target="fonts/font99.fntdata"/><Relationship Id="rId100" Type="http://schemas.openxmlformats.org/officeDocument/2006/relationships/font" Target="fonts/font100.fntdata"/><Relationship Id="rId101" Type="http://schemas.openxmlformats.org/officeDocument/2006/relationships/font" Target="fonts/font101.fntdata"/><Relationship Id="rId105" Type="http://schemas.openxmlformats.org/officeDocument/2006/relationships/font" Target="fonts/font105.fntdata"/><Relationship Id="rId108" Type="http://schemas.openxmlformats.org/officeDocument/2006/relationships/font" Target="fonts/font108.fntdata"/><Relationship Id="rId128" Type="http://schemas.openxmlformats.org/officeDocument/2006/relationships/font" Target="fonts/font128.fntdata"/></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a:endParaRPr lang="cs-CZ"/>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fld id="{B7268E1E-0E44-426D-905E-8AD9B19D2182}" type="datetimeFigureOut">
              <a:rPr lang="cs-CZ" smtClean="0"/>
              <a:t>1.7.2013</a:t>
            </a:fld>
            <a:endParaRPr lang="cs-CZ"/>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a:endParaRPr lang="cs-CZ"/>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cs-CZ"/>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a:endParaRPr lang="cs-CZ"/>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fld id="{871B2431-D351-4C6E-A3CF-9DFAC0E3E050}" type="slidenum">
              <a:rPr lang="cs-CZ" smtClean="0"/>
              <a:t>‹#›</a:t>
            </a:fld>
            <a:endParaRPr lang="cs-CZ"/>
          </a:p>
        </p:txBody>
      </p:sp>
    </p:spTree>
    <p:extLst>
      <p:ext uri="{BB962C8B-B14F-4D97-AF65-F5344CB8AC3E}">
        <p14:creationId xmlns:p14="http://schemas.microsoft.com/office/powerpoint/2010/main" val="179888911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notesSlide49.xml><?xml version="1.0" encoding="utf-8"?>
<p:notes xmlns:p="http://schemas.openxmlformats.org/presentationml/2006/main" xmlns:a="http://schemas.openxmlformats.org/drawingml/2006/main">
  <p:cSld>
    <p:spTree xmlns:r="http://schemas.openxmlformats.org/officeDocument/2006/relationships">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962400" cy="342900"/>
          </a:xfrm>
          <a:prstGeom prst="rect">
            <a:avLst/>
          </a:prstGeom>
        </p:spPr>
        <p:txBody>
          <a:bodyPr vert="horz" lIns="91440" tIns="45720" rIns="91440" bIns="45720" rtlCol="0"/>
          <a:lstStyle>
            <a:lvl1pPr algn="l">
              <a:defRPr sz="1200"/>
            </a:lvl1pPr>
          </a:lstStyle>
          <a:p/>
        </p:txBody>
      </p:sp>
      <p:sp>
        <p:nvSpPr>
          <p:cNvPr id="3" name="Date Placeholder 2"/>
          <p:cNvSpPr>
            <a:spLocks noGrp="1"/>
          </p:cNvSpPr>
          <p:nvPr>
            <p:ph type="dt" idx="1"/>
          </p:nvPr>
        </p:nvSpPr>
        <p:spPr>
          <a:xfrm>
            <a:off x="5180013" y="0"/>
            <a:ext cx="3962400" cy="342900"/>
          </a:xfrm>
          <a:prstGeom prst="rect">
            <a:avLst/>
          </a:prstGeom>
        </p:spPr>
        <p:txBody>
          <a:bodyPr vert="horz" lIns="91440" tIns="45720" rIns="91440" bIns="45720" rtlCol="0"/>
          <a:lstStyle>
            <a:lvl1pPr algn="r">
              <a:defRPr sz="1200"/>
            </a:lvl1pPr>
          </a:lstStyle>
          <a:p>
            <a:r id="{B7268E1E-0E44-426D-905E-8AD9B19D2182}" type="datetimeFigureOut">
              <a:rPr lang="cs-CZ" smtClean="0"/>
              <a:t>1.7.2013</a:t>
            </a:r>
          </a:p>
        </p:txBody>
      </p:sp>
      <p:sp>
        <p:nvSpPr>
          <p:cNvPr id="4" name="Slide Image Placeholder 3"/>
          <p:cNvSpPr>
            <a:spLocks noGrp="1" noRot="1" noChangeAspect="1"/>
          </p:cNvSpPr>
          <p:nvPr>
            <p:ph type="sldImg" idx="2"/>
          </p:nvPr>
        </p:nvSpPr>
        <p:spPr>
          <a:xfrm>
            <a:off x="2857500" y="512763"/>
            <a:ext cx="3429000" cy="2566987"/>
          </a:xfrm>
          <a:prstGeom prst="rect">
            <a:avLst/>
          </a:prstGeom>
          <a:noFill/>
          <a:ln w="12700">
            <a:solidFill>
              <a:prstClr val="black"/>
            </a:solidFill>
          </a:ln>
        </p:spPr>
        <p:txBody>
          <a:bodyPr vert="horz" lIns="91440" tIns="45720" rIns="91440" bIns="45720" rtlCol="0" anchor="ctr"/>
          <a:lstStyle/>
          <a:p/>
        </p:txBody>
      </p:sp>
      <p:sp>
        <p:nvSpPr>
          <p:cNvPr id="5" name="Notes Placeholder 4"/>
          <p:cNvSpPr>
            <a:spLocks noGrp="1"/>
          </p:cNvSpPr>
          <p:nvPr>
            <p:ph type="body" sz="quarter" idx="3"/>
          </p:nvPr>
        </p:nvSpPr>
        <p:spPr>
          <a:xfrm>
            <a:off x="914400" y="3251200"/>
            <a:ext cx="7315200" cy="3081338"/>
          </a:xfrm>
          <a:prstGeom prst="rect">
            <a:avLst/>
          </a:prstGeom>
        </p:spPr>
        <p:txBody>
          <a:bodyPr vert="horz" lIns="91440" tIns="45720" rIns="91440" bIns="45720" rtlCol="0"/>
          <a:lstStyle/>
          <a:p>
            <a:r>
              <a:t>Kalibrasi dijalankan dalam lima tahap. Tahap 0 bukan kalibrasi: saya membetulkan rumus LPE dan LPD karena rumus awal menganggap daya tarik 2024 bernilai 1, padahal 0,99223. Dampaknya kecil, dan hasil uji ekstrem tidak berubah. Tahap 1 pada akomodasi: pasangan nilai terbaik memang 11,64 persen lebih cocok, tetapi letaknya di batas atas, dan tanpa data 2019 keunggulannya tinggal 5,74 persen. Jadi keunggulannya hanya karena satu tahun data yang janggal, dan nilai dari data tetap dipakai. Tahap 2 pada lahan: laju konversi 0,0639 lebih cocok 14,76 persen dan memenuhi syarat, sehingga diterima sementara. Tahap 3 pada wisatawan hanya pemeriksaan: data meminta LPE yang lebih tinggi, tetapi data hanya bisa menentukan selisih LPE dan LPD, dan penyebab selisihnya adalah lonjakan wisatawan setelah pandemi. Tahap 4 menguji hasil Tahap 2 pada model penuh: lahan terbangun justru 32,4 persen kurang cocok, karena uji penuh dimulai dari lahan yang sudah tinggi. Hasilnya ditolak. Jadi dari tiga parameter yang dikalibrasi, tidak ada yang diganti.</a:t>
            </a:r>
          </a:p>
        </p:txBody>
      </p:sp>
      <p:sp>
        <p:nvSpPr>
          <p:cNvPr id="6" name="Footer Placeholder 5"/>
          <p:cNvSpPr>
            <a:spLocks noGrp="1"/>
          </p:cNvSpPr>
          <p:nvPr>
            <p:ph type="ftr" sz="quarter" idx="4"/>
          </p:nvPr>
        </p:nvSpPr>
        <p:spPr>
          <a:xfrm>
            <a:off x="0" y="6502400"/>
            <a:ext cx="3962400" cy="341313"/>
          </a:xfrm>
          <a:prstGeom prst="rect">
            <a:avLst/>
          </a:prstGeom>
        </p:spPr>
        <p:txBody>
          <a:bodyPr vert="horz" lIns="91440" tIns="45720" rIns="91440" bIns="45720" rtlCol="0" anchor="b"/>
          <a:lstStyle>
            <a:lvl1pPr algn="l">
              <a:defRPr sz="1200"/>
            </a:lvl1pPr>
          </a:lstStyle>
          <a:p/>
        </p:txBody>
      </p:sp>
      <p:sp>
        <p:nvSpPr>
          <p:cNvPr id="7" name="Slide Number Placeholder 6"/>
          <p:cNvSpPr>
            <a:spLocks noGrp="1"/>
          </p:cNvSpPr>
          <p:nvPr>
            <p:ph type="sldNum" sz="quarter" idx="5"/>
          </p:nvPr>
        </p:nvSpPr>
        <p:spPr>
          <a:xfrm>
            <a:off x="5180013" y="6502400"/>
            <a:ext cx="3962400" cy="341313"/>
          </a:xfrm>
          <a:prstGeom prst="rect">
            <a:avLst/>
          </a:prstGeom>
        </p:spPr>
        <p:txBody>
          <a:bodyPr vert="horz" lIns="91440" tIns="45720" rIns="91440" bIns="45720" rtlCol="0" anchor="b"/>
          <a:lstStyle>
            <a:lvl1pPr algn="r">
              <a:defRPr sz="1200"/>
            </a:lvl1pPr>
          </a:lstStyle>
          <a:p>
            <a:r id="{871B2431-D351-4C6E-A3CF-9DFAC0E3E050}" type="slidenum">
              <a:rPr lang="cs-CZ" smtClean="0"/>
              <a:t>‹#›</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1D8BD707-D9CF-40AE-B4C6-C98DA3205C09}" type="datetimeFigureOut">
              <a:rPr lang="en-US" smtClean="0"/>
              <a:pPr/>
              <a:t>8/1/2011</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1D8BD707-D9CF-40AE-B4C6-C98DA3205C09}" type="datetimeFigureOut">
              <a:rPr lang="en-US" smtClean="0"/>
              <a:pPr/>
              <a:t>8/1/2011</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1D8BD707-D9CF-40AE-B4C6-C98DA3205C09}" type="datetimeFigureOut">
              <a:rPr lang="en-US" smtClean="0"/>
              <a:pPr/>
              <a:t>8/1/2011</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1D8BD707-D9CF-40AE-B4C6-C98DA3205C09}" type="datetimeFigureOut">
              <a:rPr lang="en-US" smtClean="0"/>
              <a:pPr/>
              <a:t>8/1/2011</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1D8BD707-D9CF-40AE-B4C6-C98DA3205C09}" type="datetimeFigureOut">
              <a:rPr lang="en-US" smtClean="0"/>
              <a:pPr/>
              <a:t>8/1/2011</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B6F15528-21DE-4FAA-801E-634DDDAF4B2B}" type="slidenum">
              <a:rPr lang="en-US" smtClean="0"/>
              <a:pPr/>
              <a:t>‹#›</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1D8BD707-D9CF-40AE-B4C6-C98DA3205C09}" type="datetimeFigureOut">
              <a:rPr lang="en-US" smtClean="0"/>
              <a:pPr/>
              <a:t>8/1/2011</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B6F15528-21DE-4FAA-801E-634DDDAF4B2B}" type="slidenum">
              <a:rPr lang="en-US" smtClean="0"/>
              <a:pPr/>
              <a:t>‹#›</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 Id="rId3" Type="http://schemas.openxmlformats.org/officeDocument/2006/relationships/image" Target="../media/image6.png"/><Relationship Id="rId4" Type="http://schemas.openxmlformats.org/officeDocument/2006/relationships/image" Target="../media/image3.jpeg"/><Relationship Id="rId5" Type="http://schemas.openxmlformats.org/officeDocument/2006/relationships/image" Target="../media/image4.jpeg"/><Relationship Id="rId6" Type="http://schemas.openxmlformats.org/officeDocument/2006/relationships/image" Target="../media/image5.jpeg"/></Relationships>
</file>

<file path=ppt/slides/slide1.xml><?xml version="1.0" encoding="utf-8"?>
<p:sld xmlns:p="http://schemas.openxmlformats.org/presentationml/2006/main" xmlns:a="http://schemas.openxmlformats.org/drawingml/2006/main" xmlns:r="http://schemas.openxmlformats.org/officeDocument/2006/relationships">
  <p:cSld>
    <p:spTree>
      <p:nvGrpSpPr>
        <p:cNvPr id="1" name=""/>
        <p:cNvGrpSpPr/>
        <p:nvPr/>
      </p:nvGrpSpPr>
      <p:grpSpPr>
        <a:xfrm>
          <a:off x="0" y="0"/>
          <a:ext cx="0" cy="0"/>
          <a:chOff x="0" y="0"/>
          <a:chExt cx="0" cy="0"/>
        </a:xfrm>
      </p:grpSpPr>
      <p:grpSp>
        <p:nvGrpSpPr>
          <p:cNvPr name="Group 2" id="2"/>
          <p:cNvGrpSpPr/>
          <p:nvPr/>
        </p:nvGrpSpPr>
        <p:grpSpPr>
          <a:xfrm rot="0">
            <a:off x="16870680" y="164592"/>
            <a:ext cx="713232" cy="713232"/>
            <a:chOff x="0" y="0"/>
            <a:chExt cx="950976" cy="950976"/>
          </a:xfrm>
        </p:grpSpPr>
        <p:sp>
          <p:nvSpPr>
            <p:cNvPr name="Freeform 3" id="3" descr="Logo Politeknik Statistika STIS"/>
            <p:cNvSpPr/>
            <p:nvPr/>
          </p:nvSpPr>
          <p:spPr>
            <a:xfrm flipH="false" flipV="false" rot="0">
              <a:off x="0" y="0"/>
              <a:ext cx="950976" cy="950976"/>
            </a:xfrm>
            <a:custGeom>
              <a:avLst/>
              <a:gdLst/>
              <a:ahLst/>
              <a:cxnLst/>
              <a:rect r="r" b="b" t="t" l="l"/>
              <a:pathLst>
                <a:path h="950976" w="950976">
                  <a:moveTo>
                    <a:pt x="0" y="0"/>
                  </a:moveTo>
                  <a:lnTo>
                    <a:pt x="950976" y="0"/>
                  </a:lnTo>
                  <a:lnTo>
                    <a:pt x="950976" y="950976"/>
                  </a:lnTo>
                  <a:lnTo>
                    <a:pt x="0" y="950976"/>
                  </a:lnTo>
                  <a:lnTo>
                    <a:pt x="0" y="0"/>
                  </a:lnTo>
                  <a:close/>
                </a:path>
              </a:pathLst>
            </a:custGeom>
            <a:blipFill>
              <a:blip r:embed="rId3"/>
              <a:stretch>
                <a:fillRect l="0" t="0" r="0" b="0"/>
              </a:stretch>
            </a:blipFill>
          </p:spPr>
          <p:txBody>
            <a:bodyPr/>
            <a:p/>
          </p:txBody>
        </p:sp>
      </p:grpSp>
      <p:grpSp>
        <p:nvGrpSpPr>
          <p:cNvPr name="Group 4" id="4"/>
          <p:cNvGrpSpPr/>
          <p:nvPr/>
        </p:nvGrpSpPr>
        <p:grpSpPr>
          <a:xfrm rot="0">
            <a:off x="822960" y="9738360"/>
            <a:ext cx="12344400" cy="384048"/>
            <a:chOff x="0" y="0"/>
            <a:chExt cx="16459200" cy="512064"/>
          </a:xfrm>
        </p:grpSpPr>
        <p:sp>
          <p:nvSpPr>
            <p:cNvPr name="Freeform 5" id="5"/>
            <p:cNvSpPr/>
            <p:nvPr/>
          </p:nvSpPr>
          <p:spPr>
            <a:xfrm flipH="false" flipV="false" rot="0">
              <a:off x="0" y="0"/>
              <a:ext cx="16459200" cy="512064"/>
            </a:xfrm>
            <a:custGeom>
              <a:avLst/>
              <a:gdLst/>
              <a:ahLst/>
              <a:cxnLst/>
              <a:rect r="r" b="b" t="t" l="l"/>
              <a:pathLst>
                <a:path h="512064" w="16459200">
                  <a:moveTo>
                    <a:pt x="0" y="0"/>
                  </a:moveTo>
                  <a:lnTo>
                    <a:pt x="16459200" y="0"/>
                  </a:lnTo>
                  <a:lnTo>
                    <a:pt x="16459200" y="512064"/>
                  </a:lnTo>
                  <a:lnTo>
                    <a:pt x="0" y="512064"/>
                  </a:lnTo>
                  <a:close/>
                </a:path>
              </a:pathLst>
            </a:custGeom>
            <a:blipFill>
              <a:blip r:embed="rId4">
                <a:alphaModFix amt="0"/>
              </a:blip>
              <a:stretch>
                <a:fillRect l="0" t="-575868" r="0" b="-575870"/>
              </a:stretch>
            </a:blipFill>
          </p:spPr>
          <p:txBody>
            <a:bodyPr/>
            <a:p/>
          </p:txBody>
        </p:sp>
      </p:grpSp>
      <p:grpSp>
        <p:nvGrpSpPr>
          <p:cNvPr name="Group 6" id="6"/>
          <p:cNvGrpSpPr/>
          <p:nvPr/>
        </p:nvGrpSpPr>
        <p:grpSpPr>
          <a:xfrm rot="0">
            <a:off x="822960" y="9716929"/>
            <a:ext cx="12344400" cy="405479"/>
            <a:chOff x="0" y="0"/>
            <a:chExt cx="16459200" cy="540639"/>
          </a:xfrm>
        </p:grpSpPr>
        <p:sp>
          <p:nvSpPr>
            <p:cNvPr name="Freeform 7" id="7"/>
            <p:cNvSpPr/>
            <p:nvPr/>
          </p:nvSpPr>
          <p:spPr>
            <a:xfrm flipH="false" flipV="false" rot="0">
              <a:off x="0" y="0"/>
              <a:ext cx="16459200" cy="540639"/>
            </a:xfrm>
            <a:custGeom>
              <a:avLst/>
              <a:gdLst/>
              <a:ahLst/>
              <a:cxnLst/>
              <a:rect r="r" b="b" t="t" l="l"/>
              <a:pathLst>
                <a:path h="540639" w="16459200">
                  <a:moveTo>
                    <a:pt x="0" y="0"/>
                  </a:moveTo>
                  <a:lnTo>
                    <a:pt x="16459200" y="0"/>
                  </a:lnTo>
                  <a:lnTo>
                    <a:pt x="16459200" y="540639"/>
                  </a:lnTo>
                  <a:lnTo>
                    <a:pt x="0" y="540639"/>
                  </a:lnTo>
                  <a:close/>
                </a:path>
              </a:pathLst>
            </a:custGeom>
            <a:blipFill>
              <a:blip r:embed="rId5">
                <a:alphaModFix amt="0"/>
              </a:blip>
              <a:stretch>
                <a:fillRect l="0" t="-542788" r="0" b="-542790"/>
              </a:stretch>
            </a:blipFill>
          </p:spPr>
          <p:txBody>
            <a:bodyPr/>
            <a:p/>
          </p:txBody>
        </p:sp>
      </p:grpSp>
      <p:grpSp>
        <p:nvGrpSpPr>
          <p:cNvPr name="Group 8" id="8"/>
          <p:cNvGrpSpPr/>
          <p:nvPr/>
        </p:nvGrpSpPr>
        <p:grpSpPr>
          <a:xfrm rot="0">
            <a:off x="822960" y="9695498"/>
            <a:ext cx="12344400" cy="426910"/>
            <a:chOff x="0" y="0"/>
            <a:chExt cx="16459200" cy="569214"/>
          </a:xfrm>
        </p:grpSpPr>
        <p:sp>
          <p:nvSpPr>
            <p:cNvPr name="Freeform 9" id="9"/>
            <p:cNvSpPr/>
            <p:nvPr/>
          </p:nvSpPr>
          <p:spPr>
            <a:xfrm flipH="false" flipV="false" rot="0">
              <a:off x="0" y="0"/>
              <a:ext cx="16459200" cy="569214"/>
            </a:xfrm>
            <a:custGeom>
              <a:avLst/>
              <a:gdLst/>
              <a:ahLst/>
              <a:cxnLst/>
              <a:rect r="r" b="b" t="t" l="l"/>
              <a:pathLst>
                <a:path h="569214" w="16459200">
                  <a:moveTo>
                    <a:pt x="0" y="0"/>
                  </a:moveTo>
                  <a:lnTo>
                    <a:pt x="16459200" y="0"/>
                  </a:lnTo>
                  <a:lnTo>
                    <a:pt x="16459200" y="569214"/>
                  </a:lnTo>
                  <a:lnTo>
                    <a:pt x="0" y="569214"/>
                  </a:lnTo>
                  <a:close/>
                </a:path>
              </a:pathLst>
            </a:custGeom>
            <a:blipFill>
              <a:blip r:embed="rId6">
                <a:alphaModFix amt="0"/>
              </a:blip>
              <a:stretch>
                <a:fillRect l="0" t="-513423" r="0" b="-513423"/>
              </a:stretch>
            </a:blipFill>
          </p:spPr>
          <p:txBody>
            <a:bodyPr/>
            <a:p/>
          </p:txBody>
        </p:sp>
        <p:sp>
          <p:nvSpPr>
            <p:cNvPr name="TextBox 10" id="10"/>
            <p:cNvSpPr txBox="true"/>
            <p:nvPr/>
          </p:nvSpPr>
          <p:spPr>
            <a:xfrm>
              <a:off x="0" y="-28575"/>
              <a:ext cx="16459200" cy="597789"/>
            </a:xfrm>
            <a:prstGeom prst="rect">
              <a:avLst/>
            </a:prstGeom>
          </p:spPr>
          <p:txBody>
            <a:bodyPr anchor="ctr" rtlCol="false" tIns="0" lIns="0" bIns="0" rIns="0"/>
            <a:lstStyle/>
            <a:p>
              <a:pPr algn="l">
                <a:lnSpc>
                  <a:spcPts val="1620"/>
                </a:lnSpc>
              </a:pPr>
              <a:r>
                <a:rPr lang="en-US" sz="1350">
                  <a:solidFill>
                    <a:srgbClr val="5E6E78"/>
                  </a:solidFill>
                  <a:latin typeface="Calibri (MS)"/>
                  <a:ea typeface="Calibri (MS)"/>
                  <a:cs typeface="Calibri (MS)"/>
                  <a:sym typeface="Calibri (MS)"/>
                </a:rPr>
                <a:t>Sidang Skripsi  |  Kevin Atha Fathoni Ramadha  |  Politeknik Statistika STIS</a:t>
              </a:r>
            </a:p>
          </p:txBody>
        </p:sp>
      </p:grpSp>
      <p:sp>
        <p:nvSpPr>
          <p:cNvPr name="TextBox 11" id="11"/>
          <p:cNvSpPr txBox="true"/>
          <p:nvPr/>
        </p:nvSpPr>
        <p:spPr>
          <a:xfrm rot="0">
            <a:off x="822960" y="713232"/>
            <a:ext cx="16637508" cy="1287780"/>
          </a:xfrm>
          <a:prstGeom prst="rect">
            <a:avLst/>
          </a:prstGeom>
        </p:spPr>
        <p:txBody>
          <a:bodyPr anchor="t" rtlCol="false" tIns="0" lIns="0" bIns="0" rIns="0">
            <a:spAutoFit/>
          </a:bodyPr>
          <a:lstStyle/>
          <a:p>
            <a:pPr algn="l">
              <a:lnSpc>
                <a:spcPct val="100000"/>
              </a:lnSpc>
              <a:spcBef>
                <a:spcPts val="0"/>
              </a:spcBef>
              <a:spcAft>
                <a:spcPts val="0"/>
              </a:spcAft>
            </a:pPr>
            <a:r>
              <a:rPr lang="en-US" sz="3200" b="1" i="0">
                <a:solidFill>
                  <a:srgbClr val="0B5E6E"/>
                </a:solidFill>
                <a:latin typeface="Calibri (MS) Bold"/>
                <a:ea typeface="Calibri (MS) Bold"/>
                <a:cs typeface="Calibri (MS) Bold"/>
                <a:sym typeface="Calibri (MS) Bold"/>
              </a:rPr>
              <a:t>Kalibrasi: Hasil Tiap Tahap</a:t>
            </a:r>
          </a:p>
          <a:p>
            <a:pPr algn="l">
              <a:lnSpc>
                <a:spcPct val="100000"/>
              </a:lnSpc>
              <a:spcBef>
                <a:spcPts val="300"/>
              </a:spcBef>
              <a:spcAft>
                <a:spcPts val="0"/>
              </a:spcAft>
            </a:pPr>
            <a:r>
              <a:rPr lang="en-US" sz="1900" b="0" i="0">
                <a:solidFill>
                  <a:srgbClr val="4A5A63"/>
                </a:solidFill>
                <a:latin typeface="Calibri (MS)"/>
                <a:ea typeface="Calibri (MS) Bold"/>
                <a:cs typeface="Calibri (MS) Bold"/>
                <a:sym typeface="Calibri (MS) Bold"/>
              </a:rPr>
              <a:t>Lima tahap dijalankan; dari tiga parameter yang dikalibrasi, tidak ada yang diganti</a:t>
            </a:r>
          </a:p>
        </p:txBody>
      </p:sp>
      <p:grpSp>
        <p:nvGrpSpPr>
          <p:cNvPr name="Group 12" id="12"/>
          <p:cNvGrpSpPr/>
          <p:nvPr/>
        </p:nvGrpSpPr>
        <p:grpSpPr>
          <a:xfrm rot="0">
            <a:off x="822960" y="274320"/>
            <a:ext cx="2040922" cy="411480"/>
            <a:chOff x="0" y="0"/>
            <a:chExt cx="2721229" cy="548640"/>
          </a:xfrm>
        </p:grpSpPr>
        <p:sp>
          <p:nvSpPr>
            <p:cNvPr name="Freeform 13" id="13"/>
            <p:cNvSpPr/>
            <p:nvPr/>
          </p:nvSpPr>
          <p:spPr>
            <a:xfrm flipH="false" flipV="false" rot="0">
              <a:off x="0" y="0"/>
              <a:ext cx="2721229" cy="548640"/>
            </a:xfrm>
            <a:custGeom>
              <a:avLst/>
              <a:gdLst/>
              <a:ahLst/>
              <a:cxnLst/>
              <a:rect r="r" b="b" t="t" l="l"/>
              <a:pathLst>
                <a:path h="548640" w="2721229">
                  <a:moveTo>
                    <a:pt x="0" y="274320"/>
                  </a:moveTo>
                  <a:cubicBezTo>
                    <a:pt x="0" y="122809"/>
                    <a:pt x="122809" y="0"/>
                    <a:pt x="274320" y="0"/>
                  </a:cubicBezTo>
                  <a:lnTo>
                    <a:pt x="2446909" y="0"/>
                  </a:lnTo>
                  <a:cubicBezTo>
                    <a:pt x="2598420" y="0"/>
                    <a:pt x="2721229" y="122809"/>
                    <a:pt x="2721229" y="274320"/>
                  </a:cubicBezTo>
                  <a:cubicBezTo>
                    <a:pt x="2721229" y="425831"/>
                    <a:pt x="2598420" y="548640"/>
                    <a:pt x="2446909" y="548640"/>
                  </a:cubicBezTo>
                  <a:lnTo>
                    <a:pt x="274320" y="548640"/>
                  </a:lnTo>
                  <a:cubicBezTo>
                    <a:pt x="122809" y="548640"/>
                    <a:pt x="0" y="425831"/>
                    <a:pt x="0" y="274320"/>
                  </a:cubicBezTo>
                  <a:close/>
                </a:path>
              </a:pathLst>
            </a:custGeom>
            <a:solidFill>
              <a:srgbClr val="EAF8FA"/>
            </a:solidFill>
          </p:spPr>
          <p:txBody>
            <a:bodyPr/>
            <a:p/>
          </p:txBody>
        </p:sp>
      </p:grpSp>
      <p:grpSp>
        <p:nvGrpSpPr>
          <p:cNvPr name="Group 14" id="14"/>
          <p:cNvGrpSpPr/>
          <p:nvPr/>
        </p:nvGrpSpPr>
        <p:grpSpPr>
          <a:xfrm rot="0">
            <a:off x="822960" y="274320"/>
            <a:ext cx="2040922" cy="411480"/>
            <a:chOff x="0" y="0"/>
            <a:chExt cx="2721229" cy="548640"/>
          </a:xfrm>
        </p:grpSpPr>
        <p:sp>
          <p:nvSpPr>
            <p:cNvPr name="Freeform 15" id="15"/>
            <p:cNvSpPr/>
            <p:nvPr/>
          </p:nvSpPr>
          <p:spPr>
            <a:xfrm flipH="false" flipV="false" rot="0">
              <a:off x="0" y="0"/>
              <a:ext cx="2721229" cy="548640"/>
            </a:xfrm>
            <a:custGeom>
              <a:avLst/>
              <a:gdLst/>
              <a:ahLst/>
              <a:cxnLst/>
              <a:rect r="r" b="b" t="t" l="l"/>
              <a:pathLst>
                <a:path h="548640" w="2721229">
                  <a:moveTo>
                    <a:pt x="0" y="0"/>
                  </a:moveTo>
                  <a:lnTo>
                    <a:pt x="2721229" y="0"/>
                  </a:lnTo>
                  <a:lnTo>
                    <a:pt x="2721229" y="548640"/>
                  </a:lnTo>
                  <a:lnTo>
                    <a:pt x="0" y="548640"/>
                  </a:lnTo>
                  <a:close/>
                </a:path>
              </a:pathLst>
            </a:custGeom>
            <a:blipFill>
              <a:blip r:embed="rId4">
                <a:alphaModFix amt="0"/>
              </a:blip>
              <a:stretch>
                <a:fillRect l="0" t="-46578" r="0" b="-46576"/>
              </a:stretch>
            </a:blipFill>
          </p:spPr>
          <p:txBody>
            <a:bodyPr/>
            <a:p/>
          </p:txBody>
        </p:sp>
      </p:grpSp>
      <p:grpSp>
        <p:nvGrpSpPr>
          <p:cNvPr name="Group 16" id="16"/>
          <p:cNvGrpSpPr/>
          <p:nvPr/>
        </p:nvGrpSpPr>
        <p:grpSpPr>
          <a:xfrm rot="0">
            <a:off x="822960" y="260033"/>
            <a:ext cx="2040941" cy="425768"/>
            <a:chOff x="0" y="0"/>
            <a:chExt cx="2721254" cy="567690"/>
          </a:xfrm>
        </p:grpSpPr>
        <p:sp>
          <p:nvSpPr>
            <p:cNvPr name="Freeform 17" id="17"/>
            <p:cNvSpPr/>
            <p:nvPr/>
          </p:nvSpPr>
          <p:spPr>
            <a:xfrm flipH="false" flipV="false" rot="0">
              <a:off x="0" y="0"/>
              <a:ext cx="2721229" cy="567690"/>
            </a:xfrm>
            <a:custGeom>
              <a:avLst/>
              <a:gdLst/>
              <a:ahLst/>
              <a:cxnLst/>
              <a:rect r="r" b="b" t="t" l="l"/>
              <a:pathLst>
                <a:path h="567690" w="2721229">
                  <a:moveTo>
                    <a:pt x="0" y="0"/>
                  </a:moveTo>
                  <a:lnTo>
                    <a:pt x="2721229" y="0"/>
                  </a:lnTo>
                  <a:lnTo>
                    <a:pt x="2721229" y="567690"/>
                  </a:lnTo>
                  <a:lnTo>
                    <a:pt x="0" y="567690"/>
                  </a:lnTo>
                  <a:close/>
                </a:path>
              </a:pathLst>
            </a:custGeom>
            <a:blipFill>
              <a:blip r:embed="rId5">
                <a:alphaModFix amt="0"/>
              </a:blip>
              <a:stretch>
                <a:fillRect l="0" t="-43337" r="0" b="-43337"/>
              </a:stretch>
            </a:blipFill>
          </p:spPr>
          <p:txBody>
            <a:bodyPr/>
            <a:p/>
          </p:txBody>
        </p:sp>
      </p:grpSp>
      <p:grpSp>
        <p:nvGrpSpPr>
          <p:cNvPr name="Group 18" id="18"/>
          <p:cNvGrpSpPr/>
          <p:nvPr/>
        </p:nvGrpSpPr>
        <p:grpSpPr>
          <a:xfrm rot="0">
            <a:off x="822960" y="245745"/>
            <a:ext cx="2040941" cy="440055"/>
            <a:chOff x="0" y="0"/>
            <a:chExt cx="2721254" cy="586740"/>
          </a:xfrm>
        </p:grpSpPr>
        <p:sp>
          <p:nvSpPr>
            <p:cNvPr name="Freeform 19" id="19"/>
            <p:cNvSpPr/>
            <p:nvPr/>
          </p:nvSpPr>
          <p:spPr>
            <a:xfrm flipH="false" flipV="false" rot="0">
              <a:off x="0" y="0"/>
              <a:ext cx="2721255" cy="586741"/>
            </a:xfrm>
            <a:custGeom>
              <a:avLst/>
              <a:gdLst/>
              <a:ahLst/>
              <a:cxnLst/>
              <a:rect r="r" b="b" t="t" l="l"/>
              <a:pathLst>
                <a:path h="586741" w="2721255">
                  <a:moveTo>
                    <a:pt x="0" y="0"/>
                  </a:moveTo>
                  <a:lnTo>
                    <a:pt x="2721255" y="0"/>
                  </a:lnTo>
                  <a:lnTo>
                    <a:pt x="2721255" y="586741"/>
                  </a:lnTo>
                  <a:lnTo>
                    <a:pt x="0" y="586741"/>
                  </a:lnTo>
                  <a:close/>
                </a:path>
              </a:pathLst>
            </a:custGeom>
            <a:blipFill>
              <a:blip r:embed="rId6">
                <a:alphaModFix amt="0"/>
              </a:blip>
              <a:stretch>
                <a:fillRect l="0" t="-40370" r="0" b="-40369"/>
              </a:stretch>
            </a:blipFill>
          </p:spPr>
          <p:txBody>
            <a:bodyPr/>
            <a:p/>
          </p:txBody>
        </p:sp>
        <p:sp>
          <p:nvSpPr>
            <p:cNvPr name="TextBox 20" id="20"/>
            <p:cNvSpPr txBox="true"/>
            <p:nvPr/>
          </p:nvSpPr>
          <p:spPr>
            <a:xfrm>
              <a:off x="0" y="-19050"/>
              <a:ext cx="2721254"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Pendahuluan</a:t>
              </a:r>
            </a:p>
          </p:txBody>
        </p:sp>
      </p:grpSp>
      <p:grpSp>
        <p:nvGrpSpPr>
          <p:cNvPr name="Group 21" id="21"/>
          <p:cNvGrpSpPr/>
          <p:nvPr/>
        </p:nvGrpSpPr>
        <p:grpSpPr>
          <a:xfrm rot="0">
            <a:off x="2973629" y="274320"/>
            <a:ext cx="2378392" cy="411480"/>
            <a:chOff x="0" y="0"/>
            <a:chExt cx="3171190" cy="548640"/>
          </a:xfrm>
        </p:grpSpPr>
        <p:sp>
          <p:nvSpPr>
            <p:cNvPr name="Freeform 22" id="22"/>
            <p:cNvSpPr/>
            <p:nvPr/>
          </p:nvSpPr>
          <p:spPr>
            <a:xfrm flipH="false" flipV="false" rot="0">
              <a:off x="0" y="0"/>
              <a:ext cx="3171190" cy="548640"/>
            </a:xfrm>
            <a:custGeom>
              <a:avLst/>
              <a:gdLst/>
              <a:ahLst/>
              <a:cxnLst/>
              <a:rect r="r" b="b" t="t" l="l"/>
              <a:pathLst>
                <a:path h="548640" w="3171190">
                  <a:moveTo>
                    <a:pt x="0" y="274320"/>
                  </a:moveTo>
                  <a:cubicBezTo>
                    <a:pt x="0" y="122809"/>
                    <a:pt x="122809" y="0"/>
                    <a:pt x="274320" y="0"/>
                  </a:cubicBezTo>
                  <a:lnTo>
                    <a:pt x="2896870" y="0"/>
                  </a:lnTo>
                  <a:cubicBezTo>
                    <a:pt x="3048381" y="0"/>
                    <a:pt x="3171190" y="122809"/>
                    <a:pt x="3171190" y="274320"/>
                  </a:cubicBezTo>
                  <a:cubicBezTo>
                    <a:pt x="3171190" y="425831"/>
                    <a:pt x="3048381" y="548640"/>
                    <a:pt x="2896870" y="548640"/>
                  </a:cubicBezTo>
                  <a:lnTo>
                    <a:pt x="274320" y="548640"/>
                  </a:lnTo>
                  <a:cubicBezTo>
                    <a:pt x="122809" y="548640"/>
                    <a:pt x="0" y="425831"/>
                    <a:pt x="0" y="274320"/>
                  </a:cubicBezTo>
                  <a:close/>
                </a:path>
              </a:pathLst>
            </a:custGeom>
            <a:solidFill>
              <a:srgbClr val="EAF8FA"/>
            </a:solidFill>
          </p:spPr>
          <p:txBody>
            <a:bodyPr/>
            <a:p/>
          </p:txBody>
        </p:sp>
      </p:grpSp>
      <p:grpSp>
        <p:nvGrpSpPr>
          <p:cNvPr name="Group 23" id="23"/>
          <p:cNvGrpSpPr/>
          <p:nvPr/>
        </p:nvGrpSpPr>
        <p:grpSpPr>
          <a:xfrm rot="0">
            <a:off x="2973629" y="274320"/>
            <a:ext cx="2378392" cy="411480"/>
            <a:chOff x="0" y="0"/>
            <a:chExt cx="3171190" cy="548640"/>
          </a:xfrm>
        </p:grpSpPr>
        <p:sp>
          <p:nvSpPr>
            <p:cNvPr name="Freeform 24" id="24"/>
            <p:cNvSpPr/>
            <p:nvPr/>
          </p:nvSpPr>
          <p:spPr>
            <a:xfrm flipH="false" flipV="false" rot="0">
              <a:off x="0" y="0"/>
              <a:ext cx="3171190" cy="548640"/>
            </a:xfrm>
            <a:custGeom>
              <a:avLst/>
              <a:gdLst/>
              <a:ahLst/>
              <a:cxnLst/>
              <a:rect r="r" b="b" t="t" l="l"/>
              <a:pathLst>
                <a:path h="548640" w="3171190">
                  <a:moveTo>
                    <a:pt x="0" y="0"/>
                  </a:moveTo>
                  <a:lnTo>
                    <a:pt x="3171190" y="0"/>
                  </a:lnTo>
                  <a:lnTo>
                    <a:pt x="3171190" y="548640"/>
                  </a:lnTo>
                  <a:lnTo>
                    <a:pt x="0" y="548640"/>
                  </a:lnTo>
                  <a:close/>
                </a:path>
              </a:pathLst>
            </a:custGeom>
            <a:blipFill>
              <a:blip r:embed="rId4">
                <a:alphaModFix amt="0"/>
              </a:blip>
              <a:stretch>
                <a:fillRect l="0" t="-62546" r="0" b="-62548"/>
              </a:stretch>
            </a:blipFill>
          </p:spPr>
          <p:txBody>
            <a:bodyPr/>
            <a:p/>
          </p:txBody>
        </p:sp>
      </p:grpSp>
      <p:grpSp>
        <p:nvGrpSpPr>
          <p:cNvPr name="Group 25" id="25"/>
          <p:cNvGrpSpPr/>
          <p:nvPr/>
        </p:nvGrpSpPr>
        <p:grpSpPr>
          <a:xfrm rot="0">
            <a:off x="2973629" y="260033"/>
            <a:ext cx="2378354" cy="425768"/>
            <a:chOff x="0" y="0"/>
            <a:chExt cx="3171139" cy="567690"/>
          </a:xfrm>
        </p:grpSpPr>
        <p:sp>
          <p:nvSpPr>
            <p:cNvPr name="Freeform 26" id="26"/>
            <p:cNvSpPr/>
            <p:nvPr/>
          </p:nvSpPr>
          <p:spPr>
            <a:xfrm flipH="false" flipV="false" rot="0">
              <a:off x="0" y="0"/>
              <a:ext cx="3171190" cy="567690"/>
            </a:xfrm>
            <a:custGeom>
              <a:avLst/>
              <a:gdLst/>
              <a:ahLst/>
              <a:cxnLst/>
              <a:rect r="r" b="b" t="t" l="l"/>
              <a:pathLst>
                <a:path h="567690" w="3171190">
                  <a:moveTo>
                    <a:pt x="0" y="0"/>
                  </a:moveTo>
                  <a:lnTo>
                    <a:pt x="3171190" y="0"/>
                  </a:lnTo>
                  <a:lnTo>
                    <a:pt x="3171190" y="567690"/>
                  </a:lnTo>
                  <a:lnTo>
                    <a:pt x="0" y="567690"/>
                  </a:lnTo>
                  <a:close/>
                </a:path>
              </a:pathLst>
            </a:custGeom>
            <a:blipFill>
              <a:blip r:embed="rId5">
                <a:alphaModFix amt="0"/>
              </a:blip>
              <a:stretch>
                <a:fillRect l="0" t="-58767" r="1" b="-58769"/>
              </a:stretch>
            </a:blipFill>
          </p:spPr>
          <p:txBody>
            <a:bodyPr/>
            <a:p/>
          </p:txBody>
        </p:sp>
      </p:grpSp>
      <p:grpSp>
        <p:nvGrpSpPr>
          <p:cNvPr name="Group 27" id="27"/>
          <p:cNvGrpSpPr/>
          <p:nvPr/>
        </p:nvGrpSpPr>
        <p:grpSpPr>
          <a:xfrm rot="0">
            <a:off x="2973629" y="245745"/>
            <a:ext cx="2378354" cy="440055"/>
            <a:chOff x="0" y="0"/>
            <a:chExt cx="3171139" cy="586740"/>
          </a:xfrm>
        </p:grpSpPr>
        <p:sp>
          <p:nvSpPr>
            <p:cNvPr name="Freeform 28" id="28"/>
            <p:cNvSpPr/>
            <p:nvPr/>
          </p:nvSpPr>
          <p:spPr>
            <a:xfrm flipH="false" flipV="false" rot="0">
              <a:off x="0" y="0"/>
              <a:ext cx="3171139" cy="586741"/>
            </a:xfrm>
            <a:custGeom>
              <a:avLst/>
              <a:gdLst/>
              <a:ahLst/>
              <a:cxnLst/>
              <a:rect r="r" b="b" t="t" l="l"/>
              <a:pathLst>
                <a:path h="586741" w="3171139">
                  <a:moveTo>
                    <a:pt x="0" y="0"/>
                  </a:moveTo>
                  <a:lnTo>
                    <a:pt x="3171139" y="0"/>
                  </a:lnTo>
                  <a:lnTo>
                    <a:pt x="3171139" y="586741"/>
                  </a:lnTo>
                  <a:lnTo>
                    <a:pt x="0" y="586741"/>
                  </a:lnTo>
                  <a:close/>
                </a:path>
              </a:pathLst>
            </a:custGeom>
            <a:blipFill>
              <a:blip r:embed="rId6">
                <a:alphaModFix amt="0"/>
              </a:blip>
              <a:stretch>
                <a:fillRect l="0" t="-55310" r="0" b="-55310"/>
              </a:stretch>
            </a:blipFill>
          </p:spPr>
          <p:txBody>
            <a:bodyPr/>
            <a:p/>
          </p:txBody>
        </p:sp>
        <p:sp>
          <p:nvSpPr>
            <p:cNvPr name="TextBox 29" id="29"/>
            <p:cNvSpPr txBox="true"/>
            <p:nvPr/>
          </p:nvSpPr>
          <p:spPr>
            <a:xfrm>
              <a:off x="0" y="-19050"/>
              <a:ext cx="3171139"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Metodologi</a:t>
              </a:r>
            </a:p>
          </p:txBody>
        </p:sp>
      </p:grpSp>
      <p:grpSp>
        <p:nvGrpSpPr>
          <p:cNvPr name="Group 30" id="30"/>
          <p:cNvGrpSpPr/>
          <p:nvPr/>
        </p:nvGrpSpPr>
        <p:grpSpPr>
          <a:xfrm rot="0">
            <a:off x="5461711" y="274320"/>
            <a:ext cx="1591056" cy="411480"/>
            <a:chOff x="0" y="0"/>
            <a:chExt cx="2121408" cy="548640"/>
          </a:xfrm>
        </p:grpSpPr>
        <p:sp>
          <p:nvSpPr>
            <p:cNvPr name="Freeform 31" id="31"/>
            <p:cNvSpPr/>
            <p:nvPr/>
          </p:nvSpPr>
          <p:spPr>
            <a:xfrm flipH="false" flipV="false" rot="0">
              <a:off x="0" y="0"/>
              <a:ext cx="2121408" cy="548640"/>
            </a:xfrm>
            <a:custGeom>
              <a:avLst/>
              <a:gdLst/>
              <a:ahLst/>
              <a:cxnLst/>
              <a:rect r="r" b="b" t="t" l="l"/>
              <a:pathLst>
                <a:path h="548640" w="2121408">
                  <a:moveTo>
                    <a:pt x="0" y="274320"/>
                  </a:moveTo>
                  <a:cubicBezTo>
                    <a:pt x="0" y="122809"/>
                    <a:pt x="122809" y="0"/>
                    <a:pt x="274320" y="0"/>
                  </a:cubicBezTo>
                  <a:lnTo>
                    <a:pt x="1847088" y="0"/>
                  </a:lnTo>
                  <a:cubicBezTo>
                    <a:pt x="1998599" y="0"/>
                    <a:pt x="2121408" y="122809"/>
                    <a:pt x="2121408" y="274320"/>
                  </a:cubicBezTo>
                  <a:cubicBezTo>
                    <a:pt x="2121408" y="425831"/>
                    <a:pt x="1998599" y="548640"/>
                    <a:pt x="1847088" y="548640"/>
                  </a:cubicBezTo>
                  <a:lnTo>
                    <a:pt x="274320" y="548640"/>
                  </a:lnTo>
                  <a:cubicBezTo>
                    <a:pt x="122809" y="548640"/>
                    <a:pt x="0" y="425831"/>
                    <a:pt x="0" y="274320"/>
                  </a:cubicBezTo>
                  <a:close/>
                </a:path>
              </a:pathLst>
            </a:custGeom>
            <a:solidFill>
              <a:srgbClr val="EAF8FA"/>
            </a:solidFill>
          </p:spPr>
          <p:txBody>
            <a:bodyPr/>
            <a:p/>
          </p:txBody>
        </p:sp>
      </p:grpSp>
      <p:grpSp>
        <p:nvGrpSpPr>
          <p:cNvPr name="Group 32" id="32"/>
          <p:cNvGrpSpPr/>
          <p:nvPr/>
        </p:nvGrpSpPr>
        <p:grpSpPr>
          <a:xfrm rot="0">
            <a:off x="5461711" y="274320"/>
            <a:ext cx="1591056" cy="411480"/>
            <a:chOff x="0" y="0"/>
            <a:chExt cx="2121408" cy="548640"/>
          </a:xfrm>
        </p:grpSpPr>
        <p:sp>
          <p:nvSpPr>
            <p:cNvPr name="Freeform 33" id="33"/>
            <p:cNvSpPr/>
            <p:nvPr/>
          </p:nvSpPr>
          <p:spPr>
            <a:xfrm flipH="false" flipV="false" rot="0">
              <a:off x="0" y="0"/>
              <a:ext cx="2121408" cy="548640"/>
            </a:xfrm>
            <a:custGeom>
              <a:avLst/>
              <a:gdLst/>
              <a:ahLst/>
              <a:cxnLst/>
              <a:rect r="r" b="b" t="t" l="l"/>
              <a:pathLst>
                <a:path h="548640" w="2121408">
                  <a:moveTo>
                    <a:pt x="0" y="0"/>
                  </a:moveTo>
                  <a:lnTo>
                    <a:pt x="2121408" y="0"/>
                  </a:lnTo>
                  <a:lnTo>
                    <a:pt x="2121408" y="548640"/>
                  </a:lnTo>
                  <a:lnTo>
                    <a:pt x="0" y="548640"/>
                  </a:lnTo>
                  <a:close/>
                </a:path>
              </a:pathLst>
            </a:custGeom>
            <a:blipFill>
              <a:blip r:embed="rId4">
                <a:alphaModFix amt="0"/>
              </a:blip>
              <a:stretch>
                <a:fillRect l="0" t="-25289" r="0" b="-25289"/>
              </a:stretch>
            </a:blipFill>
          </p:spPr>
          <p:txBody>
            <a:bodyPr/>
            <a:p/>
          </p:txBody>
        </p:sp>
      </p:grpSp>
      <p:grpSp>
        <p:nvGrpSpPr>
          <p:cNvPr name="Group 34" id="34"/>
          <p:cNvGrpSpPr/>
          <p:nvPr/>
        </p:nvGrpSpPr>
        <p:grpSpPr>
          <a:xfrm rot="0">
            <a:off x="5461711" y="260033"/>
            <a:ext cx="1591056" cy="425768"/>
            <a:chOff x="0" y="0"/>
            <a:chExt cx="2121408" cy="567690"/>
          </a:xfrm>
        </p:grpSpPr>
        <p:sp>
          <p:nvSpPr>
            <p:cNvPr name="Freeform 35" id="35"/>
            <p:cNvSpPr/>
            <p:nvPr/>
          </p:nvSpPr>
          <p:spPr>
            <a:xfrm flipH="false" flipV="false" rot="0">
              <a:off x="0" y="0"/>
              <a:ext cx="2121408" cy="567690"/>
            </a:xfrm>
            <a:custGeom>
              <a:avLst/>
              <a:gdLst/>
              <a:ahLst/>
              <a:cxnLst/>
              <a:rect r="r" b="b" t="t" l="l"/>
              <a:pathLst>
                <a:path h="567690" w="2121408">
                  <a:moveTo>
                    <a:pt x="0" y="0"/>
                  </a:moveTo>
                  <a:lnTo>
                    <a:pt x="2121408" y="0"/>
                  </a:lnTo>
                  <a:lnTo>
                    <a:pt x="2121408" y="567690"/>
                  </a:lnTo>
                  <a:lnTo>
                    <a:pt x="0" y="567690"/>
                  </a:lnTo>
                  <a:close/>
                </a:path>
              </a:pathLst>
            </a:custGeom>
            <a:blipFill>
              <a:blip r:embed="rId5">
                <a:alphaModFix amt="0"/>
              </a:blip>
              <a:stretch>
                <a:fillRect l="0" t="-22762" r="0" b="-22762"/>
              </a:stretch>
            </a:blipFill>
          </p:spPr>
          <p:txBody>
            <a:bodyPr/>
            <a:p/>
          </p:txBody>
        </p:sp>
      </p:grpSp>
      <p:grpSp>
        <p:nvGrpSpPr>
          <p:cNvPr name="Group 36" id="36"/>
          <p:cNvGrpSpPr/>
          <p:nvPr/>
        </p:nvGrpSpPr>
        <p:grpSpPr>
          <a:xfrm rot="0">
            <a:off x="5461711" y="245745"/>
            <a:ext cx="1591056" cy="440055"/>
            <a:chOff x="0" y="0"/>
            <a:chExt cx="2121408" cy="586740"/>
          </a:xfrm>
        </p:grpSpPr>
        <p:sp>
          <p:nvSpPr>
            <p:cNvPr name="Freeform 37" id="37"/>
            <p:cNvSpPr/>
            <p:nvPr/>
          </p:nvSpPr>
          <p:spPr>
            <a:xfrm flipH="false" flipV="false" rot="0">
              <a:off x="0" y="0"/>
              <a:ext cx="2121408" cy="586741"/>
            </a:xfrm>
            <a:custGeom>
              <a:avLst/>
              <a:gdLst/>
              <a:ahLst/>
              <a:cxnLst/>
              <a:rect r="r" b="b" t="t" l="l"/>
              <a:pathLst>
                <a:path h="586741" w="2121408">
                  <a:moveTo>
                    <a:pt x="0" y="0"/>
                  </a:moveTo>
                  <a:lnTo>
                    <a:pt x="2121408" y="0"/>
                  </a:lnTo>
                  <a:lnTo>
                    <a:pt x="2121408" y="586741"/>
                  </a:lnTo>
                  <a:lnTo>
                    <a:pt x="0" y="586741"/>
                  </a:lnTo>
                  <a:close/>
                </a:path>
              </a:pathLst>
            </a:custGeom>
            <a:blipFill>
              <a:blip r:embed="rId6">
                <a:alphaModFix amt="0"/>
              </a:blip>
              <a:stretch>
                <a:fillRect l="0" t="-20449" r="0" b="-20449"/>
              </a:stretch>
            </a:blipFill>
          </p:spPr>
          <p:txBody>
            <a:bodyPr/>
            <a:p/>
          </p:txBody>
        </p:sp>
        <p:sp>
          <p:nvSpPr>
            <p:cNvPr name="TextBox 38" id="38"/>
            <p:cNvSpPr txBox="true"/>
            <p:nvPr/>
          </p:nvSpPr>
          <p:spPr>
            <a:xfrm>
              <a:off x="0" y="-19050"/>
              <a:ext cx="2121408"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1</a:t>
              </a:r>
            </a:p>
          </p:txBody>
        </p:sp>
      </p:grpSp>
      <p:grpSp>
        <p:nvGrpSpPr>
          <p:cNvPr name="Group 39" id="39"/>
          <p:cNvGrpSpPr/>
          <p:nvPr/>
        </p:nvGrpSpPr>
        <p:grpSpPr>
          <a:xfrm rot="0">
            <a:off x="7162495" y="274320"/>
            <a:ext cx="2490788" cy="411480"/>
            <a:chOff x="0" y="0"/>
            <a:chExt cx="3321050" cy="548640"/>
          </a:xfrm>
        </p:grpSpPr>
        <p:sp>
          <p:nvSpPr>
            <p:cNvPr name="Freeform 40" id="40"/>
            <p:cNvSpPr/>
            <p:nvPr/>
          </p:nvSpPr>
          <p:spPr>
            <a:xfrm flipH="false" flipV="false" rot="0">
              <a:off x="0" y="0"/>
              <a:ext cx="3321050" cy="548640"/>
            </a:xfrm>
            <a:custGeom>
              <a:avLst/>
              <a:gdLst/>
              <a:ahLst/>
              <a:cxnLst/>
              <a:rect r="r" b="b" t="t" l="l"/>
              <a:pathLst>
                <a:path h="548640" w="3321050">
                  <a:moveTo>
                    <a:pt x="0" y="274320"/>
                  </a:moveTo>
                  <a:cubicBezTo>
                    <a:pt x="0" y="122809"/>
                    <a:pt x="122809" y="0"/>
                    <a:pt x="274320" y="0"/>
                  </a:cubicBezTo>
                  <a:lnTo>
                    <a:pt x="3046730" y="0"/>
                  </a:lnTo>
                  <a:cubicBezTo>
                    <a:pt x="3198241" y="0"/>
                    <a:pt x="3321050" y="122809"/>
                    <a:pt x="3321050" y="274320"/>
                  </a:cubicBezTo>
                  <a:cubicBezTo>
                    <a:pt x="3321050" y="425831"/>
                    <a:pt x="3198241" y="548640"/>
                    <a:pt x="3046730" y="548640"/>
                  </a:cubicBezTo>
                  <a:lnTo>
                    <a:pt x="274320" y="548640"/>
                  </a:lnTo>
                  <a:cubicBezTo>
                    <a:pt x="122809" y="548640"/>
                    <a:pt x="0" y="425831"/>
                    <a:pt x="0" y="274320"/>
                  </a:cubicBezTo>
                  <a:close/>
                </a:path>
              </a:pathLst>
            </a:custGeom>
            <a:solidFill>
              <a:srgbClr val="0B5E6E"/>
            </a:solidFill>
          </p:spPr>
          <p:txBody>
            <a:bodyPr/>
            <a:p/>
          </p:txBody>
        </p:sp>
      </p:grpSp>
      <p:grpSp>
        <p:nvGrpSpPr>
          <p:cNvPr name="Group 41" id="41"/>
          <p:cNvGrpSpPr/>
          <p:nvPr/>
        </p:nvGrpSpPr>
        <p:grpSpPr>
          <a:xfrm rot="0">
            <a:off x="7162495" y="274320"/>
            <a:ext cx="2490788" cy="411480"/>
            <a:chOff x="0" y="0"/>
            <a:chExt cx="3321050" cy="548640"/>
          </a:xfrm>
        </p:grpSpPr>
        <p:sp>
          <p:nvSpPr>
            <p:cNvPr name="Freeform 42" id="42"/>
            <p:cNvSpPr/>
            <p:nvPr/>
          </p:nvSpPr>
          <p:spPr>
            <a:xfrm flipH="false" flipV="false" rot="0">
              <a:off x="0" y="0"/>
              <a:ext cx="3321050" cy="548640"/>
            </a:xfrm>
            <a:custGeom>
              <a:avLst/>
              <a:gdLst/>
              <a:ahLst/>
              <a:cxnLst/>
              <a:rect r="r" b="b" t="t" l="l"/>
              <a:pathLst>
                <a:path h="548640" w="3321050">
                  <a:moveTo>
                    <a:pt x="0" y="0"/>
                  </a:moveTo>
                  <a:lnTo>
                    <a:pt x="3321050" y="0"/>
                  </a:lnTo>
                  <a:lnTo>
                    <a:pt x="3321050" y="548640"/>
                  </a:lnTo>
                  <a:lnTo>
                    <a:pt x="0" y="548640"/>
                  </a:lnTo>
                  <a:close/>
                </a:path>
              </a:pathLst>
            </a:custGeom>
            <a:blipFill>
              <a:blip r:embed="rId4">
                <a:alphaModFix amt="0"/>
              </a:blip>
              <a:stretch>
                <a:fillRect l="0" t="-67865" r="0" b="-67865"/>
              </a:stretch>
            </a:blipFill>
          </p:spPr>
          <p:txBody>
            <a:bodyPr/>
            <a:p/>
          </p:txBody>
        </p:sp>
      </p:grpSp>
      <p:grpSp>
        <p:nvGrpSpPr>
          <p:cNvPr name="Group 43" id="43"/>
          <p:cNvGrpSpPr/>
          <p:nvPr/>
        </p:nvGrpSpPr>
        <p:grpSpPr>
          <a:xfrm rot="0">
            <a:off x="7162495" y="260033"/>
            <a:ext cx="2490826" cy="425768"/>
            <a:chOff x="0" y="0"/>
            <a:chExt cx="3321101" cy="567690"/>
          </a:xfrm>
        </p:grpSpPr>
        <p:sp>
          <p:nvSpPr>
            <p:cNvPr name="Freeform 44" id="44"/>
            <p:cNvSpPr/>
            <p:nvPr/>
          </p:nvSpPr>
          <p:spPr>
            <a:xfrm flipH="false" flipV="false" rot="0">
              <a:off x="0" y="0"/>
              <a:ext cx="3321050" cy="567690"/>
            </a:xfrm>
            <a:custGeom>
              <a:avLst/>
              <a:gdLst/>
              <a:ahLst/>
              <a:cxnLst/>
              <a:rect r="r" b="b" t="t" l="l"/>
              <a:pathLst>
                <a:path h="567690" w="3321050">
                  <a:moveTo>
                    <a:pt x="0" y="0"/>
                  </a:moveTo>
                  <a:lnTo>
                    <a:pt x="3321050" y="0"/>
                  </a:lnTo>
                  <a:lnTo>
                    <a:pt x="3321050" y="567690"/>
                  </a:lnTo>
                  <a:lnTo>
                    <a:pt x="0" y="567690"/>
                  </a:lnTo>
                  <a:close/>
                </a:path>
              </a:pathLst>
            </a:custGeom>
            <a:blipFill>
              <a:blip r:embed="rId5">
                <a:alphaModFix amt="0"/>
              </a:blip>
              <a:stretch>
                <a:fillRect l="0" t="-63912" r="-1" b="-63910"/>
              </a:stretch>
            </a:blipFill>
          </p:spPr>
          <p:txBody>
            <a:bodyPr/>
            <a:p/>
          </p:txBody>
        </p:sp>
      </p:grpSp>
      <p:grpSp>
        <p:nvGrpSpPr>
          <p:cNvPr name="Group 45" id="45"/>
          <p:cNvGrpSpPr/>
          <p:nvPr/>
        </p:nvGrpSpPr>
        <p:grpSpPr>
          <a:xfrm rot="0">
            <a:off x="7162495" y="245745"/>
            <a:ext cx="2490826" cy="440055"/>
            <a:chOff x="0" y="0"/>
            <a:chExt cx="3321101" cy="586740"/>
          </a:xfrm>
        </p:grpSpPr>
        <p:sp>
          <p:nvSpPr>
            <p:cNvPr name="Freeform 46" id="46"/>
            <p:cNvSpPr/>
            <p:nvPr/>
          </p:nvSpPr>
          <p:spPr>
            <a:xfrm flipH="false" flipV="false" rot="0">
              <a:off x="0" y="0"/>
              <a:ext cx="3321101" cy="586741"/>
            </a:xfrm>
            <a:custGeom>
              <a:avLst/>
              <a:gdLst/>
              <a:ahLst/>
              <a:cxnLst/>
              <a:rect r="r" b="b" t="t" l="l"/>
              <a:pathLst>
                <a:path h="586741" w="3321101">
                  <a:moveTo>
                    <a:pt x="0" y="0"/>
                  </a:moveTo>
                  <a:lnTo>
                    <a:pt x="3321101" y="0"/>
                  </a:lnTo>
                  <a:lnTo>
                    <a:pt x="3321101" y="586741"/>
                  </a:lnTo>
                  <a:lnTo>
                    <a:pt x="0" y="586741"/>
                  </a:lnTo>
                  <a:close/>
                </a:path>
              </a:pathLst>
            </a:custGeom>
            <a:blipFill>
              <a:blip r:embed="rId6">
                <a:alphaModFix amt="0"/>
              </a:blip>
              <a:stretch>
                <a:fillRect l="0" t="-60290" r="0" b="-60290"/>
              </a:stretch>
            </a:blipFill>
          </p:spPr>
          <p:txBody>
            <a:bodyPr/>
            <a:p/>
          </p:txBody>
        </p:sp>
        <p:sp>
          <p:nvSpPr>
            <p:cNvPr name="TextBox 47" id="47"/>
            <p:cNvSpPr txBox="true"/>
            <p:nvPr/>
          </p:nvSpPr>
          <p:spPr>
            <a:xfrm>
              <a:off x="0" y="-19050"/>
              <a:ext cx="3321101" cy="605790"/>
            </a:xfrm>
            <a:prstGeom prst="rect">
              <a:avLst/>
            </a:prstGeom>
          </p:spPr>
          <p:txBody>
            <a:bodyPr anchor="ctr" rtlCol="false" tIns="0" lIns="0" bIns="0" rIns="0"/>
            <a:lstStyle/>
            <a:p>
              <a:pPr algn="ctr">
                <a:lnSpc>
                  <a:spcPts val="1889"/>
                </a:lnSpc>
              </a:pPr>
              <a:r>
                <a:rPr lang="en-US" sz="1575" b="true">
                  <a:solidFill>
                    <a:srgbClr val="FFFFFF"/>
                  </a:solidFill>
                  <a:latin typeface="Calibri (MS) Bold"/>
                  <a:ea typeface="Calibri (MS) Bold"/>
                  <a:cs typeface="Calibri (MS) Bold"/>
                  <a:sym typeface="Calibri (MS) Bold"/>
                </a:rPr>
                <a:t>Tujuan 2</a:t>
              </a:r>
            </a:p>
          </p:txBody>
        </p:sp>
      </p:grpSp>
      <p:grpSp>
        <p:nvGrpSpPr>
          <p:cNvPr name="Group 48" id="48"/>
          <p:cNvGrpSpPr/>
          <p:nvPr/>
        </p:nvGrpSpPr>
        <p:grpSpPr>
          <a:xfrm rot="0">
            <a:off x="9763049" y="274320"/>
            <a:ext cx="1366076" cy="411480"/>
            <a:chOff x="0" y="0"/>
            <a:chExt cx="1821434" cy="548640"/>
          </a:xfrm>
        </p:grpSpPr>
        <p:sp>
          <p:nvSpPr>
            <p:cNvPr name="Freeform 49" id="49"/>
            <p:cNvSpPr/>
            <p:nvPr/>
          </p:nvSpPr>
          <p:spPr>
            <a:xfrm flipH="false" flipV="false" rot="0">
              <a:off x="0" y="0"/>
              <a:ext cx="1821434" cy="548640"/>
            </a:xfrm>
            <a:custGeom>
              <a:avLst/>
              <a:gdLst/>
              <a:ahLst/>
              <a:cxnLst/>
              <a:rect r="r" b="b" t="t" l="l"/>
              <a:pathLst>
                <a:path h="548640" w="1821434">
                  <a:moveTo>
                    <a:pt x="0" y="274320"/>
                  </a:moveTo>
                  <a:cubicBezTo>
                    <a:pt x="0" y="122809"/>
                    <a:pt x="122809" y="0"/>
                    <a:pt x="274320" y="0"/>
                  </a:cubicBezTo>
                  <a:lnTo>
                    <a:pt x="1547114" y="0"/>
                  </a:lnTo>
                  <a:cubicBezTo>
                    <a:pt x="1698625" y="0"/>
                    <a:pt x="1821434" y="122809"/>
                    <a:pt x="1821434" y="274320"/>
                  </a:cubicBezTo>
                  <a:cubicBezTo>
                    <a:pt x="1821434" y="425831"/>
                    <a:pt x="1698625" y="548640"/>
                    <a:pt x="154711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0" id="50"/>
          <p:cNvGrpSpPr/>
          <p:nvPr/>
        </p:nvGrpSpPr>
        <p:grpSpPr>
          <a:xfrm rot="0">
            <a:off x="9763049" y="274320"/>
            <a:ext cx="1366076" cy="411480"/>
            <a:chOff x="0" y="0"/>
            <a:chExt cx="1821434" cy="548640"/>
          </a:xfrm>
        </p:grpSpPr>
        <p:sp>
          <p:nvSpPr>
            <p:cNvPr name="Freeform 51" id="51"/>
            <p:cNvSpPr/>
            <p:nvPr/>
          </p:nvSpPr>
          <p:spPr>
            <a:xfrm flipH="false" flipV="false" rot="0">
              <a:off x="0" y="0"/>
              <a:ext cx="1821434" cy="548640"/>
            </a:xfrm>
            <a:custGeom>
              <a:avLst/>
              <a:gdLst/>
              <a:ahLst/>
              <a:cxnLst/>
              <a:rect r="r" b="b" t="t" l="l"/>
              <a:pathLst>
                <a:path h="548640" w="1821434">
                  <a:moveTo>
                    <a:pt x="0" y="0"/>
                  </a:moveTo>
                  <a:lnTo>
                    <a:pt x="1821434" y="0"/>
                  </a:lnTo>
                  <a:lnTo>
                    <a:pt x="1821434" y="548640"/>
                  </a:lnTo>
                  <a:lnTo>
                    <a:pt x="0" y="548640"/>
                  </a:lnTo>
                  <a:close/>
                </a:path>
              </a:pathLst>
            </a:custGeom>
            <a:blipFill>
              <a:blip r:embed="rId4">
                <a:alphaModFix amt="0"/>
              </a:blip>
              <a:stretch>
                <a:fillRect l="0" t="-14643" r="0" b="-14643"/>
              </a:stretch>
            </a:blipFill>
          </p:spPr>
          <p:txBody>
            <a:bodyPr/>
            <a:p/>
          </p:txBody>
        </p:sp>
      </p:grpSp>
      <p:grpSp>
        <p:nvGrpSpPr>
          <p:cNvPr name="Group 52" id="52"/>
          <p:cNvGrpSpPr/>
          <p:nvPr/>
        </p:nvGrpSpPr>
        <p:grpSpPr>
          <a:xfrm rot="0">
            <a:off x="9763049" y="260033"/>
            <a:ext cx="1366114" cy="425768"/>
            <a:chOff x="0" y="0"/>
            <a:chExt cx="1821485" cy="567690"/>
          </a:xfrm>
        </p:grpSpPr>
        <p:sp>
          <p:nvSpPr>
            <p:cNvPr name="Freeform 53" id="53"/>
            <p:cNvSpPr/>
            <p:nvPr/>
          </p:nvSpPr>
          <p:spPr>
            <a:xfrm flipH="false" flipV="false" rot="0">
              <a:off x="0" y="0"/>
              <a:ext cx="1821434" cy="567690"/>
            </a:xfrm>
            <a:custGeom>
              <a:avLst/>
              <a:gdLst/>
              <a:ahLst/>
              <a:cxnLst/>
              <a:rect r="r" b="b" t="t" l="l"/>
              <a:pathLst>
                <a:path h="567690" w="1821434">
                  <a:moveTo>
                    <a:pt x="0" y="0"/>
                  </a:moveTo>
                  <a:lnTo>
                    <a:pt x="1821434" y="0"/>
                  </a:lnTo>
                  <a:lnTo>
                    <a:pt x="1821434" y="567690"/>
                  </a:lnTo>
                  <a:lnTo>
                    <a:pt x="0" y="567690"/>
                  </a:lnTo>
                  <a:close/>
                </a:path>
              </a:pathLst>
            </a:custGeom>
            <a:blipFill>
              <a:blip r:embed="rId5">
                <a:alphaModFix amt="0"/>
              </a:blip>
              <a:stretch>
                <a:fillRect l="0" t="-12476" r="-2" b="-12476"/>
              </a:stretch>
            </a:blipFill>
          </p:spPr>
          <p:txBody>
            <a:bodyPr/>
            <a:p/>
          </p:txBody>
        </p:sp>
      </p:grpSp>
      <p:grpSp>
        <p:nvGrpSpPr>
          <p:cNvPr name="Group 54" id="54"/>
          <p:cNvGrpSpPr/>
          <p:nvPr/>
        </p:nvGrpSpPr>
        <p:grpSpPr>
          <a:xfrm rot="0">
            <a:off x="9763049" y="245745"/>
            <a:ext cx="1366114" cy="440055"/>
            <a:chOff x="0" y="0"/>
            <a:chExt cx="1821485" cy="586740"/>
          </a:xfrm>
        </p:grpSpPr>
        <p:sp>
          <p:nvSpPr>
            <p:cNvPr name="Freeform 55" id="55"/>
            <p:cNvSpPr/>
            <p:nvPr/>
          </p:nvSpPr>
          <p:spPr>
            <a:xfrm flipH="false" flipV="false" rot="0">
              <a:off x="0" y="0"/>
              <a:ext cx="1821485" cy="586741"/>
            </a:xfrm>
            <a:custGeom>
              <a:avLst/>
              <a:gdLst/>
              <a:ahLst/>
              <a:cxnLst/>
              <a:rect r="r" b="b" t="t" l="l"/>
              <a:pathLst>
                <a:path h="586741" w="1821485">
                  <a:moveTo>
                    <a:pt x="0" y="0"/>
                  </a:moveTo>
                  <a:lnTo>
                    <a:pt x="1821485" y="0"/>
                  </a:lnTo>
                  <a:lnTo>
                    <a:pt x="1821485" y="586741"/>
                  </a:lnTo>
                  <a:lnTo>
                    <a:pt x="0" y="586741"/>
                  </a:lnTo>
                  <a:close/>
                </a:path>
              </a:pathLst>
            </a:custGeom>
            <a:blipFill>
              <a:blip r:embed="rId6">
                <a:alphaModFix amt="0"/>
              </a:blip>
              <a:stretch>
                <a:fillRect l="0" t="-10489" r="0" b="-10489"/>
              </a:stretch>
            </a:blipFill>
          </p:spPr>
          <p:txBody>
            <a:bodyPr/>
            <a:p/>
          </p:txBody>
        </p:sp>
        <p:sp>
          <p:nvSpPr>
            <p:cNvPr name="TextBox 56" id="56"/>
            <p:cNvSpPr txBox="true"/>
            <p:nvPr/>
          </p:nvSpPr>
          <p:spPr>
            <a:xfrm>
              <a:off x="0" y="-19050"/>
              <a:ext cx="1821485"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Tujuan 3</a:t>
              </a:r>
            </a:p>
          </p:txBody>
        </p:sp>
      </p:grpSp>
      <p:grpSp>
        <p:nvGrpSpPr>
          <p:cNvPr name="Group 57" id="57"/>
          <p:cNvGrpSpPr/>
          <p:nvPr/>
        </p:nvGrpSpPr>
        <p:grpSpPr>
          <a:xfrm rot="0">
            <a:off x="11238890" y="274320"/>
            <a:ext cx="1253680" cy="411480"/>
            <a:chOff x="0" y="0"/>
            <a:chExt cx="1671574" cy="548640"/>
          </a:xfrm>
        </p:grpSpPr>
        <p:sp>
          <p:nvSpPr>
            <p:cNvPr name="Freeform 58" id="58"/>
            <p:cNvSpPr/>
            <p:nvPr/>
          </p:nvSpPr>
          <p:spPr>
            <a:xfrm flipH="false" flipV="false" rot="0">
              <a:off x="0" y="0"/>
              <a:ext cx="1671574" cy="548640"/>
            </a:xfrm>
            <a:custGeom>
              <a:avLst/>
              <a:gdLst/>
              <a:ahLst/>
              <a:cxnLst/>
              <a:rect r="r" b="b" t="t" l="l"/>
              <a:pathLst>
                <a:path h="548640" w="1671574">
                  <a:moveTo>
                    <a:pt x="0" y="274320"/>
                  </a:moveTo>
                  <a:cubicBezTo>
                    <a:pt x="0" y="122809"/>
                    <a:pt x="122809" y="0"/>
                    <a:pt x="274320" y="0"/>
                  </a:cubicBezTo>
                  <a:lnTo>
                    <a:pt x="1397254" y="0"/>
                  </a:lnTo>
                  <a:cubicBezTo>
                    <a:pt x="1548765" y="0"/>
                    <a:pt x="1671574" y="122809"/>
                    <a:pt x="1671574" y="274320"/>
                  </a:cubicBezTo>
                  <a:cubicBezTo>
                    <a:pt x="1671574" y="425831"/>
                    <a:pt x="1548765" y="548640"/>
                    <a:pt x="1397254" y="548640"/>
                  </a:cubicBezTo>
                  <a:lnTo>
                    <a:pt x="274320" y="548640"/>
                  </a:lnTo>
                  <a:cubicBezTo>
                    <a:pt x="122809" y="548640"/>
                    <a:pt x="0" y="425831"/>
                    <a:pt x="0" y="274320"/>
                  </a:cubicBezTo>
                  <a:close/>
                </a:path>
              </a:pathLst>
            </a:custGeom>
            <a:solidFill>
              <a:srgbClr val="EAF8FA"/>
            </a:solidFill>
          </p:spPr>
          <p:txBody>
            <a:bodyPr/>
            <a:p/>
          </p:txBody>
        </p:sp>
      </p:grpSp>
      <p:grpSp>
        <p:nvGrpSpPr>
          <p:cNvPr name="Group 59" id="59"/>
          <p:cNvGrpSpPr/>
          <p:nvPr/>
        </p:nvGrpSpPr>
        <p:grpSpPr>
          <a:xfrm rot="0">
            <a:off x="11238890" y="274320"/>
            <a:ext cx="1253680" cy="411480"/>
            <a:chOff x="0" y="0"/>
            <a:chExt cx="1671574" cy="548640"/>
          </a:xfrm>
        </p:grpSpPr>
        <p:sp>
          <p:nvSpPr>
            <p:cNvPr name="Freeform 60" id="60"/>
            <p:cNvSpPr/>
            <p:nvPr/>
          </p:nvSpPr>
          <p:spPr>
            <a:xfrm flipH="false" flipV="false" rot="0">
              <a:off x="0" y="0"/>
              <a:ext cx="1671574" cy="548640"/>
            </a:xfrm>
            <a:custGeom>
              <a:avLst/>
              <a:gdLst/>
              <a:ahLst/>
              <a:cxnLst/>
              <a:rect r="r" b="b" t="t" l="l"/>
              <a:pathLst>
                <a:path h="548640" w="1671574">
                  <a:moveTo>
                    <a:pt x="0" y="0"/>
                  </a:moveTo>
                  <a:lnTo>
                    <a:pt x="1671574" y="0"/>
                  </a:lnTo>
                  <a:lnTo>
                    <a:pt x="1671574" y="548640"/>
                  </a:lnTo>
                  <a:lnTo>
                    <a:pt x="0" y="548640"/>
                  </a:lnTo>
                  <a:close/>
                </a:path>
              </a:pathLst>
            </a:custGeom>
            <a:blipFill>
              <a:blip r:embed="rId4">
                <a:alphaModFix amt="0"/>
              </a:blip>
              <a:stretch>
                <a:fillRect l="0" t="-9324" r="0" b="-9326"/>
              </a:stretch>
            </a:blipFill>
          </p:spPr>
          <p:txBody>
            <a:bodyPr/>
            <a:p/>
          </p:txBody>
        </p:sp>
      </p:grpSp>
      <p:grpSp>
        <p:nvGrpSpPr>
          <p:cNvPr name="Group 61" id="61"/>
          <p:cNvGrpSpPr/>
          <p:nvPr/>
        </p:nvGrpSpPr>
        <p:grpSpPr>
          <a:xfrm rot="0">
            <a:off x="11238890" y="260033"/>
            <a:ext cx="1253642" cy="425768"/>
            <a:chOff x="0" y="0"/>
            <a:chExt cx="1671523" cy="567690"/>
          </a:xfrm>
        </p:grpSpPr>
        <p:sp>
          <p:nvSpPr>
            <p:cNvPr name="Freeform 62" id="62"/>
            <p:cNvSpPr/>
            <p:nvPr/>
          </p:nvSpPr>
          <p:spPr>
            <a:xfrm flipH="false" flipV="false" rot="0">
              <a:off x="0" y="0"/>
              <a:ext cx="1671574" cy="567690"/>
            </a:xfrm>
            <a:custGeom>
              <a:avLst/>
              <a:gdLst/>
              <a:ahLst/>
              <a:cxnLst/>
              <a:rect r="r" b="b" t="t" l="l"/>
              <a:pathLst>
                <a:path h="567690" w="1671574">
                  <a:moveTo>
                    <a:pt x="0" y="0"/>
                  </a:moveTo>
                  <a:lnTo>
                    <a:pt x="1671574" y="0"/>
                  </a:lnTo>
                  <a:lnTo>
                    <a:pt x="1671574" y="567690"/>
                  </a:lnTo>
                  <a:lnTo>
                    <a:pt x="0" y="567690"/>
                  </a:lnTo>
                  <a:close/>
                </a:path>
              </a:pathLst>
            </a:custGeom>
            <a:blipFill>
              <a:blip r:embed="rId5">
                <a:alphaModFix amt="0"/>
              </a:blip>
              <a:stretch>
                <a:fillRect l="0" t="-7333" r="3" b="-7331"/>
              </a:stretch>
            </a:blipFill>
          </p:spPr>
          <p:txBody>
            <a:bodyPr/>
            <a:p/>
          </p:txBody>
        </p:sp>
      </p:grpSp>
      <p:grpSp>
        <p:nvGrpSpPr>
          <p:cNvPr name="Group 63" id="63"/>
          <p:cNvGrpSpPr/>
          <p:nvPr/>
        </p:nvGrpSpPr>
        <p:grpSpPr>
          <a:xfrm rot="0">
            <a:off x="11238890" y="245745"/>
            <a:ext cx="1253642" cy="440055"/>
            <a:chOff x="0" y="0"/>
            <a:chExt cx="1671523" cy="586740"/>
          </a:xfrm>
        </p:grpSpPr>
        <p:sp>
          <p:nvSpPr>
            <p:cNvPr name="Freeform 64" id="64"/>
            <p:cNvSpPr/>
            <p:nvPr/>
          </p:nvSpPr>
          <p:spPr>
            <a:xfrm flipH="false" flipV="false" rot="0">
              <a:off x="0" y="0"/>
              <a:ext cx="1671523" cy="586741"/>
            </a:xfrm>
            <a:custGeom>
              <a:avLst/>
              <a:gdLst/>
              <a:ahLst/>
              <a:cxnLst/>
              <a:rect r="r" b="b" t="t" l="l"/>
              <a:pathLst>
                <a:path h="586741" w="1671523">
                  <a:moveTo>
                    <a:pt x="0" y="0"/>
                  </a:moveTo>
                  <a:lnTo>
                    <a:pt x="1671523" y="0"/>
                  </a:lnTo>
                  <a:lnTo>
                    <a:pt x="1671523" y="586741"/>
                  </a:lnTo>
                  <a:lnTo>
                    <a:pt x="0" y="586741"/>
                  </a:lnTo>
                  <a:close/>
                </a:path>
              </a:pathLst>
            </a:custGeom>
            <a:blipFill>
              <a:blip r:embed="rId6">
                <a:alphaModFix amt="0"/>
              </a:blip>
              <a:stretch>
                <a:fillRect l="0" t="-5509" r="0" b="-5509"/>
              </a:stretch>
            </a:blipFill>
          </p:spPr>
          <p:txBody>
            <a:bodyPr/>
            <a:p/>
          </p:txBody>
        </p:sp>
        <p:sp>
          <p:nvSpPr>
            <p:cNvPr name="TextBox 65" id="65"/>
            <p:cNvSpPr txBox="true"/>
            <p:nvPr/>
          </p:nvSpPr>
          <p:spPr>
            <a:xfrm>
              <a:off x="0" y="-19050"/>
              <a:ext cx="1671523" cy="605790"/>
            </a:xfrm>
            <a:prstGeom prst="rect">
              <a:avLst/>
            </a:prstGeom>
          </p:spPr>
          <p:txBody>
            <a:bodyPr anchor="ctr" rtlCol="false" tIns="0" lIns="0" bIns="0" rIns="0"/>
            <a:lstStyle/>
            <a:p>
              <a:pPr algn="ctr">
                <a:lnSpc>
                  <a:spcPts val="1889"/>
                </a:lnSpc>
              </a:pPr>
              <a:r>
                <a:rPr lang="en-US" sz="1575">
                  <a:solidFill>
                    <a:srgbClr val="5E6E78"/>
                  </a:solidFill>
                  <a:latin typeface="Calibri (MS)"/>
                  <a:ea typeface="Calibri (MS)"/>
                  <a:cs typeface="Calibri (MS)"/>
                  <a:sym typeface="Calibri (MS)"/>
                </a:rPr>
                <a:t>Penutup</a:t>
              </a:r>
            </a:p>
          </p:txBody>
        </p:sp>
      </p:grpSp>
      <p:sp>
        <p:nvSpPr>
          <p:cNvPr name="TextBox 152" id="152"/>
          <p:cNvSpPr txBox="true"/>
          <p:nvPr/>
        </p:nvSpPr>
        <p:spPr>
          <a:xfrm rot="0">
            <a:off x="16550640" y="9642348"/>
            <a:ext cx="818388" cy="434340"/>
          </a:xfrm>
          <a:prstGeom prst="rect">
            <a:avLst/>
          </a:prstGeom>
        </p:spPr>
        <p:txBody>
          <a:bodyPr anchor="t" rtlCol="false" tIns="0" lIns="0" bIns="0" rIns="0">
            <a:spAutoFit/>
          </a:bodyPr>
          <a:lstStyle/>
          <a:p>
            <a:pPr algn="r">
              <a:lnSpc>
                <a:spcPts val="1800"/>
              </a:lnSpc>
            </a:pPr>
            <a:r>
              <a:rPr lang="en-US" sz="1500">
                <a:solidFill>
                  <a:srgbClr val="5E6E78"/>
                </a:solidFill>
                <a:latin typeface="Calibri (MS)"/>
                <a:ea typeface="Calibri (MS)"/>
                <a:cs typeface="Calibri (MS)"/>
                <a:sym typeface="Calibri (MS)"/>
              </a:rPr>
              <a:t/>
            </a:r>
          </a:p>
        </p:txBody>
      </p:sp>
      <p:grpSp>
        <p:nvGrpSpPr>
          <p:cNvPr name="Group 153" id="153"/>
          <p:cNvGrpSpPr/>
          <p:nvPr/>
        </p:nvGrpSpPr>
        <p:grpSpPr>
          <a:xfrm rot="0">
            <a:off x="12755880" y="274320"/>
            <a:ext cx="3931920" cy="411480"/>
            <a:chOff x="0" y="0"/>
            <a:chExt cx="5242560" cy="548640"/>
          </a:xfrm>
        </p:grpSpPr>
        <p:sp>
          <p:nvSpPr>
            <p:cNvPr name="Freeform 154" id="154"/>
            <p:cNvSpPr/>
            <p:nvPr/>
          </p:nvSpPr>
          <p:spPr>
            <a:xfrm flipH="false" flipV="false" rot="0">
              <a:off x="0" y="0"/>
              <a:ext cx="5242560" cy="548640"/>
            </a:xfrm>
            <a:custGeom>
              <a:avLst/>
              <a:gdLst/>
              <a:ahLst/>
              <a:cxnLst/>
              <a:rect r="r" b="b" t="t" l="l"/>
              <a:pathLst>
                <a:path h="548640" w="5242560">
                  <a:moveTo>
                    <a:pt x="0" y="0"/>
                  </a:moveTo>
                  <a:lnTo>
                    <a:pt x="5242560" y="0"/>
                  </a:lnTo>
                  <a:lnTo>
                    <a:pt x="5242560" y="548640"/>
                  </a:lnTo>
                  <a:lnTo>
                    <a:pt x="0" y="548640"/>
                  </a:lnTo>
                  <a:close/>
                </a:path>
              </a:pathLst>
            </a:custGeom>
            <a:blipFill>
              <a:blip r:embed="rId6">
                <a:alphaModFix amt="0"/>
              </a:blip>
              <a:stretch>
                <a:fillRect l="0" t="-136190" r="0" b="-136190"/>
              </a:stretch>
            </a:blipFill>
          </p:spPr>
          <p:txBody>
            <a:bodyPr/>
            <a:p/>
          </p:txBody>
        </p:sp>
        <p:sp>
          <p:nvSpPr>
            <p:cNvPr name="TextBox 155" id="155"/>
            <p:cNvSpPr txBox="true"/>
            <p:nvPr/>
          </p:nvSpPr>
          <p:spPr>
            <a:xfrm>
              <a:off x="0" y="-28575"/>
              <a:ext cx="5242560" cy="577215"/>
            </a:xfrm>
            <a:prstGeom prst="rect">
              <a:avLst/>
            </a:prstGeom>
          </p:spPr>
          <p:txBody>
            <a:bodyPr anchor="ctr" rtlCol="false" tIns="0" lIns="0" bIns="0" rIns="0"/>
            <a:lstStyle/>
            <a:p>
              <a:pPr algn="l">
                <a:lnSpc>
                  <a:spcPts val="1932"/>
                </a:lnSpc>
              </a:pPr>
              <a:r>
                <a:rPr lang="en-US" sz="1610" b="true">
                  <a:solidFill>
                    <a:srgbClr val="0B5E6E"/>
                  </a:solidFill>
                  <a:latin typeface="Calibri (MS) Bold"/>
                  <a:ea typeface="Calibri (MS) Bold"/>
                  <a:cs typeface="Calibri (MS) Bold"/>
                  <a:sym typeface="Calibri (MS) Bold"/>
                </a:rPr>
                <a:t>2E · Uji perilaku &amp; kalibrasi</a:t>
              </a:r>
            </a:p>
          </p:txBody>
        </p:sp>
      </p:grpSp>
      <p:sp>
        <p:nvSpPr>
          <p:cNvPr id="156" name="Rounded Rectangle 155"/>
          <p:cNvSpPr/>
          <p:nvPr/>
        </p:nvSpPr>
        <p:spPr>
          <a:xfrm>
            <a:off x="822960" y="1783080"/>
            <a:ext cx="3200400" cy="5989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109728"/>
          <a:lstStyle/>
          <a:p>
            <a:pPr algn="l">
              <a:spcAft>
                <a:spcPts val="300"/>
              </a:spcAft>
            </a:pPr>
            <a:r>
              <a:rPr sz="1090" b="1" i="0">
                <a:solidFill>
                  <a:srgbClr val="5E6E78"/>
                </a:solidFill>
                <a:latin typeface="Calibri (MS) Bold"/>
              </a:rPr>
              <a:t>TAHAP 0</a:t>
            </a:r>
          </a:p>
          <a:p>
            <a:pPr algn="l">
              <a:spcAft>
                <a:spcPts val="300"/>
              </a:spcAft>
            </a:pPr>
            <a:r>
              <a:rPr sz="1440" b="1" i="0">
                <a:solidFill>
                  <a:srgbClr val="0B5E6E"/>
                </a:solidFill>
                <a:latin typeface="Calibri (MS) Bold"/>
              </a:rPr>
              <a:t>Membetulkan cara hitung</a:t>
            </a:r>
          </a:p>
          <a:p>
            <a:pPr algn="l">
              <a:spcAft>
                <a:spcPts val="300"/>
              </a:spcAft>
            </a:pPr>
            <a:r>
              <a:rPr sz="1150" b="1" i="1">
                <a:solidFill>
                  <a:srgbClr val="14313B"/>
                </a:solidFill>
                <a:latin typeface="Calibri (MS) Bold"/>
              </a:rPr>
              <a:t>Laju pertumbuhan eksternal (LPE) dan laju penurunan dasar (LPD) wisatawan</a:t>
            </a:r>
          </a:p>
          <a:p>
            <a:pPr algn="l">
              <a:spcAft>
                <a:spcPts val="300"/>
              </a:spcAft>
            </a:pPr>
            <a:r>
              <a:rPr sz="1210" b="1" i="0">
                <a:solidFill>
                  <a:srgbClr val="0B5E6E"/>
                </a:solidFill>
                <a:latin typeface="Calibri (MS) Bold"/>
              </a:rPr>
              <a:t>Yang dilakukan:  </a:t>
            </a:r>
            <a:r>
              <a:rPr sz="1210" b="0" i="0">
                <a:solidFill>
                  <a:srgbClr val="14313B"/>
                </a:solidFill>
                <a:latin typeface="Calibri (MS)"/>
              </a:rPr>
              <a:t>Rumus untuk menghitung LPE dan LPD dicek ulang terhadap persamaan model.</a:t>
            </a:r>
          </a:p>
          <a:p>
            <a:pPr algn="l">
              <a:spcAft>
                <a:spcPts val="300"/>
              </a:spcAft>
            </a:pPr>
            <a:r>
              <a:rPr sz="1210" b="1" i="0">
                <a:solidFill>
                  <a:srgbClr val="0B5E6E"/>
                </a:solidFill>
                <a:latin typeface="Calibri (MS) Bold"/>
              </a:rPr>
              <a:t>Hasilnya:  </a:t>
            </a:r>
            <a:r>
              <a:rPr sz="1210" b="0" i="0">
                <a:solidFill>
                  <a:srgbClr val="14313B"/>
                </a:solidFill>
                <a:latin typeface="Calibri (MS)"/>
              </a:rPr>
              <a:t>Rumus awal menganggap daya tarik 2024 bernilai 1, padahal nilainya 0,99223. Setelah dibetulkan: LPE 0,26864 → 0,27726 dan LPD 0,20148 → 0,207945.</a:t>
            </a:r>
          </a:p>
          <a:p>
            <a:pPr algn="l">
              <a:spcAft>
                <a:spcPts val="300"/>
              </a:spcAft>
            </a:pPr>
            <a:r>
              <a:rPr sz="1210" b="1" i="0">
                <a:solidFill>
                  <a:srgbClr val="0B5E6E"/>
                </a:solidFill>
                <a:latin typeface="Calibri (MS) Bold"/>
              </a:rPr>
              <a:t>Dampak:  </a:t>
            </a:r>
            <a:r>
              <a:rPr sz="1210" b="0" i="0">
                <a:solidFill>
                  <a:srgbClr val="14313B"/>
                </a:solidFill>
                <a:latin typeface="Calibri (MS)"/>
              </a:rPr>
              <a:t>Wisatawan 2050 hanya naik sekitar 1,6%; hasil uji kondisi ekstrem tidak berubah.</a:t>
            </a:r>
          </a:p>
        </p:txBody>
      </p:sp>
      <p:sp>
        <p:nvSpPr>
          <p:cNvPr id="157" name="Rounded Rectangle 156"/>
          <p:cNvSpPr/>
          <p:nvPr/>
        </p:nvSpPr>
        <p:spPr>
          <a:xfrm>
            <a:off x="932688" y="6967728"/>
            <a:ext cx="2980944" cy="685800"/>
          </a:xfrm>
          <a:prstGeom prst="roundRect">
            <a:avLst>
              <a:gd name="adj" fmla="val 8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14313B"/>
                </a:solidFill>
                <a:latin typeface="Calibri (MS) Bold"/>
              </a:rPr>
              <a:t>Nilai dibetulkan, bukan dicari ulang (bukan kalibrasi)</a:t>
            </a:r>
          </a:p>
        </p:txBody>
      </p:sp>
      <p:sp>
        <p:nvSpPr>
          <p:cNvPr id="158" name="Right Arrow 157"/>
          <p:cNvSpPr/>
          <p:nvPr/>
        </p:nvSpPr>
        <p:spPr>
          <a:xfrm>
            <a:off x="400507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9" name="Rounded Rectangle 158"/>
          <p:cNvSpPr/>
          <p:nvPr/>
        </p:nvSpPr>
        <p:spPr>
          <a:xfrm>
            <a:off x="4183380" y="1783080"/>
            <a:ext cx="3200400" cy="5989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109728"/>
          <a:lstStyle/>
          <a:p>
            <a:pPr algn="l">
              <a:spcAft>
                <a:spcPts val="300"/>
              </a:spcAft>
            </a:pPr>
            <a:r>
              <a:rPr sz="1090" b="1" i="0">
                <a:solidFill>
                  <a:srgbClr val="5E6E78"/>
                </a:solidFill>
                <a:latin typeface="Calibri (MS) Bold"/>
              </a:rPr>
              <a:t>TAHAP 1</a:t>
            </a:r>
          </a:p>
          <a:p>
            <a:pPr algn="l">
              <a:spcAft>
                <a:spcPts val="300"/>
              </a:spcAft>
            </a:pPr>
            <a:r>
              <a:rPr sz="1440" b="1" i="0">
                <a:solidFill>
                  <a:srgbClr val="0B5E6E"/>
                </a:solidFill>
                <a:latin typeface="Calibri (MS) Bold"/>
              </a:rPr>
              <a:t>Subsistem akomodasi</a:t>
            </a:r>
          </a:p>
          <a:p>
            <a:pPr algn="l">
              <a:spcAft>
                <a:spcPts val="300"/>
              </a:spcAft>
            </a:pPr>
            <a:r>
              <a:rPr sz="1150" b="1" i="1">
                <a:solidFill>
                  <a:srgbClr val="14313B"/>
                </a:solidFill>
                <a:latin typeface="Calibri (MS) Bold"/>
              </a:rPr>
              <a:t>Batas TPK pemicu pembangunan hotel dan laju demolisi (hotel tutup)</a:t>
            </a:r>
          </a:p>
          <a:p>
            <a:pPr algn="l">
              <a:spcAft>
                <a:spcPts val="300"/>
              </a:spcAft>
            </a:pPr>
            <a:r>
              <a:rPr sz="1210" b="1" i="0">
                <a:solidFill>
                  <a:srgbClr val="0B5E6E"/>
                </a:solidFill>
                <a:latin typeface="Calibri (MS) Bold"/>
              </a:rPr>
              <a:t>Yang dilakukan:  </a:t>
            </a:r>
            <a:r>
              <a:rPr sz="1210" b="0" i="0">
                <a:solidFill>
                  <a:srgbClr val="14313B"/>
                </a:solidFill>
                <a:latin typeface="Calibri (MS)"/>
              </a:rPr>
              <a:t>775 pasangan nilai dicoba (batas TPK 0,20–0,35; demolisi 0,02–0,08) dan dibandingkan dengan data hotel (uji P1).</a:t>
            </a:r>
          </a:p>
          <a:p>
            <a:pPr algn="l">
              <a:spcAft>
                <a:spcPts val="300"/>
              </a:spcAft>
            </a:pPr>
            <a:r>
              <a:rPr sz="1210" b="1" i="0">
                <a:solidFill>
                  <a:srgbClr val="0B5E6E"/>
                </a:solidFill>
                <a:latin typeface="Calibri (MS) Bold"/>
              </a:rPr>
              <a:t>Hasilnya:  </a:t>
            </a:r>
            <a:r>
              <a:rPr sz="1210" b="0" i="0">
                <a:solidFill>
                  <a:srgbClr val="14313B"/>
                </a:solidFill>
                <a:latin typeface="Calibri (MS)"/>
              </a:rPr>
              <a:t>Pasangan terbaik (0,350; 0,060) 11,64% lebih cocok, tetapi letaknya di batas atas yang dicoba. Tanpa data 2019, keunggulannya tinggal 5,74%; pada data dengan COVID justru memburuk; pada P1b hanya 4,89%.</a:t>
            </a:r>
          </a:p>
          <a:p>
            <a:pPr algn="l">
              <a:spcAft>
                <a:spcPts val="300"/>
              </a:spcAft>
            </a:pPr>
            <a:r>
              <a:rPr sz="1210" b="1" i="0">
                <a:solidFill>
                  <a:srgbClr val="0B5E6E"/>
                </a:solidFill>
                <a:latin typeface="Calibri (MS) Bold"/>
              </a:rPr>
              <a:t>Artinya:  </a:t>
            </a:r>
            <a:r>
              <a:rPr sz="1210" b="0" i="0">
                <a:solidFill>
                  <a:srgbClr val="14313B"/>
                </a:solidFill>
                <a:latin typeface="Calibri (MS)"/>
              </a:rPr>
              <a:t>Keunggulan nilai baru hanya muncul karena satu tahun data yang janggal.</a:t>
            </a:r>
          </a:p>
        </p:txBody>
      </p:sp>
      <p:sp>
        <p:nvSpPr>
          <p:cNvPr id="160" name="Rounded Rectangle 159"/>
          <p:cNvSpPr/>
          <p:nvPr/>
        </p:nvSpPr>
        <p:spPr>
          <a:xfrm>
            <a:off x="4293108" y="6967728"/>
            <a:ext cx="2980944" cy="6858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FFFFFF"/>
                </a:solidFill>
                <a:latin typeface="Calibri (MS) Bold"/>
              </a:rPr>
              <a:t>Nilai dari data tetap dipakai: batas TPK 0,275; demolisi 0,05</a:t>
            </a:r>
          </a:p>
        </p:txBody>
      </p:sp>
      <p:sp>
        <p:nvSpPr>
          <p:cNvPr id="161" name="Right Arrow 160"/>
          <p:cNvSpPr/>
          <p:nvPr/>
        </p:nvSpPr>
        <p:spPr>
          <a:xfrm>
            <a:off x="736549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2" name="Rounded Rectangle 161"/>
          <p:cNvSpPr/>
          <p:nvPr/>
        </p:nvSpPr>
        <p:spPr>
          <a:xfrm>
            <a:off x="7543800" y="1783080"/>
            <a:ext cx="3200400" cy="5989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109728"/>
          <a:lstStyle/>
          <a:p>
            <a:pPr algn="l">
              <a:spcAft>
                <a:spcPts val="300"/>
              </a:spcAft>
            </a:pPr>
            <a:r>
              <a:rPr sz="1090" b="1" i="0">
                <a:solidFill>
                  <a:srgbClr val="5E6E78"/>
                </a:solidFill>
                <a:latin typeface="Calibri (MS) Bold"/>
              </a:rPr>
              <a:t>TAHAP 2</a:t>
            </a:r>
          </a:p>
          <a:p>
            <a:pPr algn="l">
              <a:spcAft>
                <a:spcPts val="300"/>
              </a:spcAft>
            </a:pPr>
            <a:r>
              <a:rPr sz="1440" b="1" i="0">
                <a:solidFill>
                  <a:srgbClr val="0B5E6E"/>
                </a:solidFill>
                <a:latin typeface="Calibri (MS) Bold"/>
              </a:rPr>
              <a:t>Subsistem lahan</a:t>
            </a:r>
          </a:p>
          <a:p>
            <a:pPr algn="l">
              <a:spcAft>
                <a:spcPts val="300"/>
              </a:spcAft>
            </a:pPr>
            <a:r>
              <a:rPr sz="1150" b="1" i="1">
                <a:solidFill>
                  <a:srgbClr val="14313B"/>
                </a:solidFill>
                <a:latin typeface="Calibri (MS) Bold"/>
              </a:rPr>
              <a:t>Laju konversi dasar (laju lahan berubah menjadi lahan terbangun)</a:t>
            </a:r>
          </a:p>
          <a:p>
            <a:pPr algn="l">
              <a:spcAft>
                <a:spcPts val="300"/>
              </a:spcAft>
            </a:pPr>
            <a:r>
              <a:rPr sz="1210" b="1" i="0">
                <a:solidFill>
                  <a:srgbClr val="0B5E6E"/>
                </a:solidFill>
                <a:latin typeface="Calibri (MS) Bold"/>
              </a:rPr>
              <a:t>Yang dilakukan:  </a:t>
            </a:r>
            <a:r>
              <a:rPr sz="1210" b="0" i="0">
                <a:solidFill>
                  <a:srgbClr val="14313B"/>
                </a:solidFill>
                <a:latin typeface="Calibri (MS)"/>
              </a:rPr>
              <a:t>Nilai 0,0034–0,0851 dicoba dan dibandingkan dengan data lahan terbangun (uji P4).</a:t>
            </a:r>
          </a:p>
          <a:p>
            <a:pPr algn="l">
              <a:spcAft>
                <a:spcPts val="300"/>
              </a:spcAft>
            </a:pPr>
            <a:r>
              <a:rPr sz="1210" b="1" i="0">
                <a:solidFill>
                  <a:srgbClr val="0B5E6E"/>
                </a:solidFill>
                <a:latin typeface="Calibri (MS) Bold"/>
              </a:rPr>
              <a:t>Hasilnya:  </a:t>
            </a:r>
            <a:r>
              <a:rPr sz="1210" b="0" i="0">
                <a:solidFill>
                  <a:srgbClr val="14313B"/>
                </a:solidFill>
                <a:latin typeface="Calibri (MS)"/>
              </a:rPr>
              <a:t>Nilai 0,0639 14,76% lebih cocok dan letaknya di tengah, bukan di tepi. Selisih rata-rata simulasi dan data (U1) turun dari 0,4250 ke 0,0755.</a:t>
            </a:r>
          </a:p>
          <a:p>
            <a:pPr algn="l">
              <a:spcAft>
                <a:spcPts val="300"/>
              </a:spcAft>
            </a:pPr>
            <a:r>
              <a:rPr sz="1210" b="1" i="0">
                <a:solidFill>
                  <a:srgbClr val="0B5E6E"/>
                </a:solidFill>
                <a:latin typeface="Calibri (MS) Bold"/>
              </a:rPr>
              <a:t>Artinya:  </a:t>
            </a:r>
            <a:r>
              <a:rPr sz="1210" b="0" i="0">
                <a:solidFill>
                  <a:srgbClr val="14313B"/>
                </a:solidFill>
                <a:latin typeface="Calibri (MS)"/>
              </a:rPr>
              <a:t>Memenuhi syarat dipakai (R4), tetapi harus diuji dulu pada model penuh (Tahap 4).</a:t>
            </a:r>
          </a:p>
        </p:txBody>
      </p:sp>
      <p:sp>
        <p:nvSpPr>
          <p:cNvPr id="163" name="Rounded Rectangle 162"/>
          <p:cNvSpPr/>
          <p:nvPr/>
        </p:nvSpPr>
        <p:spPr>
          <a:xfrm>
            <a:off x="7653527" y="6967728"/>
            <a:ext cx="2980944" cy="685800"/>
          </a:xfrm>
          <a:prstGeom prst="roundRect">
            <a:avLst>
              <a:gd name="adj" fmla="val 8000"/>
            </a:avLst>
          </a:prstGeom>
          <a:solidFill>
            <a:srgbClr val="FFD23B"/>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14313B"/>
                </a:solidFill>
                <a:latin typeface="Calibri (MS) Bold"/>
              </a:rPr>
              <a:t>Diterima sementara: 0,0639, lalu diuji di Tahap 4</a:t>
            </a:r>
          </a:p>
        </p:txBody>
      </p:sp>
      <p:sp>
        <p:nvSpPr>
          <p:cNvPr id="164" name="Right Arrow 163"/>
          <p:cNvSpPr/>
          <p:nvPr/>
        </p:nvSpPr>
        <p:spPr>
          <a:xfrm>
            <a:off x="1072591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5" name="Rounded Rectangle 164"/>
          <p:cNvSpPr/>
          <p:nvPr/>
        </p:nvSpPr>
        <p:spPr>
          <a:xfrm>
            <a:off x="10904219" y="1783080"/>
            <a:ext cx="3200400" cy="5989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109728"/>
          <a:lstStyle/>
          <a:p>
            <a:pPr algn="l">
              <a:spcAft>
                <a:spcPts val="300"/>
              </a:spcAft>
            </a:pPr>
            <a:r>
              <a:rPr sz="1090" b="1" i="0">
                <a:solidFill>
                  <a:srgbClr val="5E6E78"/>
                </a:solidFill>
                <a:latin typeface="Calibri (MS) Bold"/>
              </a:rPr>
              <a:t>TAHAP 3</a:t>
            </a:r>
          </a:p>
          <a:p>
            <a:pPr algn="l">
              <a:spcAft>
                <a:spcPts val="300"/>
              </a:spcAft>
            </a:pPr>
            <a:r>
              <a:rPr sz="1440" b="1" i="0">
                <a:solidFill>
                  <a:srgbClr val="0B5E6E"/>
                </a:solidFill>
                <a:latin typeface="Calibri (MS) Bold"/>
              </a:rPr>
              <a:t>Subsistem wisatawan</a:t>
            </a:r>
          </a:p>
          <a:p>
            <a:pPr algn="l">
              <a:spcAft>
                <a:spcPts val="300"/>
              </a:spcAft>
            </a:pPr>
            <a:r>
              <a:rPr sz="1150" b="1" i="1">
                <a:solidFill>
                  <a:srgbClr val="14313B"/>
                </a:solidFill>
                <a:latin typeface="Calibri (MS) Bold"/>
              </a:rPr>
              <a:t>LPE dan LPD (hanya diperiksa, tidak dikalibrasi)</a:t>
            </a:r>
          </a:p>
          <a:p>
            <a:pPr algn="l">
              <a:spcAft>
                <a:spcPts val="300"/>
              </a:spcAft>
            </a:pPr>
            <a:r>
              <a:rPr sz="1210" b="1" i="0">
                <a:solidFill>
                  <a:srgbClr val="0B5E6E"/>
                </a:solidFill>
                <a:latin typeface="Calibri (MS) Bold"/>
              </a:rPr>
              <a:t>Yang dilakukan:  </a:t>
            </a:r>
            <a:r>
              <a:rPr sz="1210" b="0" i="0">
                <a:solidFill>
                  <a:srgbClr val="14313B"/>
                </a:solidFill>
                <a:latin typeface="Calibri (MS)"/>
              </a:rPr>
              <a:t>Tidak dicari nilai terbaik karena keduanya tidak memenuhi syarat dikalibrasi; hanya dihitung berapa LPE yang diminta data.</a:t>
            </a:r>
          </a:p>
          <a:p>
            <a:pPr algn="l">
              <a:spcAft>
                <a:spcPts val="300"/>
              </a:spcAft>
            </a:pPr>
            <a:r>
              <a:rPr sz="1210" b="1" i="0">
                <a:solidFill>
                  <a:srgbClr val="0B5E6E"/>
                </a:solidFill>
                <a:latin typeface="Calibri (MS) Bold"/>
              </a:rPr>
              <a:t>Hasilnya:  </a:t>
            </a:r>
            <a:r>
              <a:rPr sz="1210" b="0" i="0">
                <a:solidFill>
                  <a:srgbClr val="14313B"/>
                </a:solidFill>
                <a:latin typeface="Calibri (MS)"/>
              </a:rPr>
              <a:t>Data meminta LPE 0,410–0,490 (nilai dari data 0,27726). Namun banyak pasangan LPE–LPD yang sama cocoknya, jadi data hanya bisa menentukan selisih keduanya, bukan masing-masing nilai.</a:t>
            </a:r>
          </a:p>
          <a:p>
            <a:pPr algn="l">
              <a:spcAft>
                <a:spcPts val="300"/>
              </a:spcAft>
            </a:pPr>
            <a:r>
              <a:rPr sz="1210" b="1" i="0">
                <a:solidFill>
                  <a:srgbClr val="0B5E6E"/>
                </a:solidFill>
                <a:latin typeface="Calibri (MS) Bold"/>
              </a:rPr>
              <a:t>Penyebab:  </a:t>
            </a:r>
            <a:r>
              <a:rPr sz="1210" b="0" i="0">
                <a:solidFill>
                  <a:srgbClr val="14313B"/>
                </a:solidFill>
                <a:latin typeface="Calibri (MS)"/>
              </a:rPr>
              <a:t>Wisatawan melonjak setelah pandemi (2022–2024, puncak 24,86% per tahun), hal yang tidak dimodelkan.</a:t>
            </a:r>
          </a:p>
        </p:txBody>
      </p:sp>
      <p:sp>
        <p:nvSpPr>
          <p:cNvPr id="166" name="Rounded Rectangle 165"/>
          <p:cNvSpPr/>
          <p:nvPr/>
        </p:nvSpPr>
        <p:spPr>
          <a:xfrm>
            <a:off x="11013947" y="6967728"/>
            <a:ext cx="2980944" cy="68580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FFFFFF"/>
                </a:solidFill>
                <a:latin typeface="Calibri (MS) Bold"/>
              </a:rPr>
              <a:t>Nilai dari data tetap dipakai: LPE 0,27726; LPD 0,207945</a:t>
            </a:r>
          </a:p>
        </p:txBody>
      </p:sp>
      <p:sp>
        <p:nvSpPr>
          <p:cNvPr id="167" name="Right Arrow 166"/>
          <p:cNvSpPr/>
          <p:nvPr/>
        </p:nvSpPr>
        <p:spPr>
          <a:xfrm>
            <a:off x="14086332" y="4480560"/>
            <a:ext cx="196596" cy="274320"/>
          </a:xfrm>
          <a:prstGeom prst="rightArrow">
            <a:avLst/>
          </a:prstGeom>
          <a:solidFill>
            <a:srgbClr val="39C0D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8" name="Rounded Rectangle 167"/>
          <p:cNvSpPr/>
          <p:nvPr/>
        </p:nvSpPr>
        <p:spPr>
          <a:xfrm>
            <a:off x="14264640" y="1783080"/>
            <a:ext cx="3200400" cy="5989320"/>
          </a:xfrm>
          <a:prstGeom prst="roundRect">
            <a:avLst>
              <a:gd name="adj" fmla="val 8000"/>
            </a:avLst>
          </a:prstGeom>
          <a:solidFill>
            <a:srgbClr val="EAF8FA"/>
          </a:solidFill>
          <a:ln w="12700">
            <a:solidFill>
              <a:srgbClr val="CFE5E9"/>
            </a:solidFill>
          </a:ln>
          <a:effectLst/>
        </p:spPr>
        <p:style>
          <a:lnRef idx="1">
            <a:schemeClr val="accent1"/>
          </a:lnRef>
          <a:fillRef idx="3">
            <a:schemeClr val="accent1"/>
          </a:fillRef>
          <a:effectRef idx="2">
            <a:schemeClr val="accent1"/>
          </a:effectRef>
          <a:fontRef idx="minor">
            <a:schemeClr val="lt1"/>
          </a:fontRef>
        </p:style>
        <p:txBody>
          <a:bodyPr rtlCol="0" anchor="t" wrap="square" lIns="128016" rIns="128016" tIns="109728" bIns="109728"/>
          <a:lstStyle/>
          <a:p>
            <a:pPr algn="l">
              <a:spcAft>
                <a:spcPts val="300"/>
              </a:spcAft>
            </a:pPr>
            <a:r>
              <a:rPr sz="1090" b="1" i="0">
                <a:solidFill>
                  <a:srgbClr val="5E6E78"/>
                </a:solidFill>
                <a:latin typeface="Calibri (MS) Bold"/>
              </a:rPr>
              <a:t>TAHAP 4</a:t>
            </a:r>
          </a:p>
          <a:p>
            <a:pPr algn="l">
              <a:spcAft>
                <a:spcPts val="300"/>
              </a:spcAft>
            </a:pPr>
            <a:r>
              <a:rPr sz="1440" b="1" i="0">
                <a:solidFill>
                  <a:srgbClr val="0B5E6E"/>
                </a:solidFill>
                <a:latin typeface="Calibri (MS) Bold"/>
              </a:rPr>
              <a:t>Uji pada model penuh</a:t>
            </a:r>
          </a:p>
          <a:p>
            <a:pPr algn="l">
              <a:spcAft>
                <a:spcPts val="300"/>
              </a:spcAft>
            </a:pPr>
            <a:r>
              <a:rPr sz="1150" b="1" i="1">
                <a:solidFill>
                  <a:srgbClr val="14313B"/>
                </a:solidFill>
                <a:latin typeface="Calibri (MS) Bold"/>
              </a:rPr>
              <a:t>Laju konversi 0,0639 hasil Tahap 2</a:t>
            </a:r>
          </a:p>
          <a:p>
            <a:pPr algn="l">
              <a:spcAft>
                <a:spcPts val="300"/>
              </a:spcAft>
            </a:pPr>
            <a:r>
              <a:rPr sz="1210" b="1" i="0">
                <a:solidFill>
                  <a:srgbClr val="0B5E6E"/>
                </a:solidFill>
                <a:latin typeface="Calibri (MS) Bold"/>
              </a:rPr>
              <a:t>Yang dilakukan:  </a:t>
            </a:r>
            <a:r>
              <a:rPr sz="1210" b="0" i="0">
                <a:solidFill>
                  <a:srgbClr val="14313B"/>
                </a:solidFill>
                <a:latin typeface="Calibri (MS)"/>
              </a:rPr>
              <a:t>Nilai 0,0639 dicoba pada model penuh dan uji parsial (13 variabel yang dinilai).</a:t>
            </a:r>
          </a:p>
          <a:p>
            <a:pPr algn="l">
              <a:spcAft>
                <a:spcPts val="300"/>
              </a:spcAft>
            </a:pPr>
            <a:r>
              <a:rPr sz="1210" b="1" i="0">
                <a:solidFill>
                  <a:srgbClr val="0B5E6E"/>
                </a:solidFill>
                <a:latin typeface="Calibri (MS) Bold"/>
              </a:rPr>
              <a:t>Hasilnya:  </a:t>
            </a:r>
            <a:r>
              <a:rPr sz="1210" b="0" i="0">
                <a:solidFill>
                  <a:srgbClr val="14313B"/>
                </a:solidFill>
                <a:latin typeface="Calibri (MS)"/>
              </a:rPr>
              <a:t>12 variabel hampir tidak berubah, tetapi lahan terbangun pada uji penuh menjadi 32,4% kurang cocok (batas toleransi 5%; pemicu M1).</a:t>
            </a:r>
          </a:p>
          <a:p>
            <a:pPr algn="l">
              <a:spcAft>
                <a:spcPts val="300"/>
              </a:spcAft>
            </a:pPr>
            <a:r>
              <a:rPr sz="1210" b="1" i="0">
                <a:solidFill>
                  <a:srgbClr val="0B5E6E"/>
                </a:solidFill>
                <a:latin typeface="Calibri (MS) Bold"/>
              </a:rPr>
              <a:t>Penyebab:  </a:t>
            </a:r>
            <a:r>
              <a:rPr sz="1210" b="0" i="0">
                <a:solidFill>
                  <a:srgbClr val="14313B"/>
                </a:solidFill>
                <a:latin typeface="Calibri (MS)"/>
              </a:rPr>
              <a:t>Uji P4 mulai 2016 saat lahan masih rendah, jadi laju lebih cepat membantu. Uji penuh mulai 2019 saat lahan sudah tinggi, jadi laju yang sama membuat simulasi melampaui data.</a:t>
            </a:r>
          </a:p>
        </p:txBody>
      </p:sp>
      <p:sp>
        <p:nvSpPr>
          <p:cNvPr id="169" name="Rounded Rectangle 168"/>
          <p:cNvSpPr/>
          <p:nvPr/>
        </p:nvSpPr>
        <p:spPr>
          <a:xfrm>
            <a:off x="14374367" y="6967728"/>
            <a:ext cx="2980944" cy="685800"/>
          </a:xfrm>
          <a:prstGeom prst="roundRect">
            <a:avLst>
              <a:gd name="adj" fmla="val 8000"/>
            </a:avLst>
          </a:prstGeom>
          <a:solidFill>
            <a:srgbClr val="E4604F"/>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54864" rIns="54864" tIns="54864" bIns="54864"/>
          <a:lstStyle/>
          <a:p>
            <a:pPr algn="ctr">
              <a:spcAft>
                <a:spcPts val="300"/>
              </a:spcAft>
            </a:pPr>
            <a:r>
              <a:rPr sz="1150" b="1" i="0">
                <a:solidFill>
                  <a:srgbClr val="FFFFFF"/>
                </a:solidFill>
                <a:latin typeface="Calibri (MS) Bold"/>
              </a:rPr>
              <a:t>Ditolak: laju konversi kembali ke nilai dari data (0,0436)</a:t>
            </a:r>
          </a:p>
        </p:txBody>
      </p:sp>
      <p:sp>
        <p:nvSpPr>
          <p:cNvPr id="170" name="Rounded Rectangle 169"/>
          <p:cNvSpPr/>
          <p:nvPr/>
        </p:nvSpPr>
        <p:spPr>
          <a:xfrm>
            <a:off x="822960" y="7909560"/>
            <a:ext cx="16642080" cy="1188720"/>
          </a:xfrm>
          <a:prstGeom prst="roundRect">
            <a:avLst>
              <a:gd name="adj" fmla="val 8000"/>
            </a:avLst>
          </a:prstGeom>
          <a:solidFill>
            <a:srgbClr val="0B5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square" lIns="228600" rIns="228600" tIns="109728" bIns="109728"/>
          <a:lstStyle/>
          <a:p>
            <a:pPr algn="l">
              <a:spcAft>
                <a:spcPts val="300"/>
              </a:spcAft>
            </a:pPr>
            <a:r>
              <a:rPr sz="1550" b="1" i="0">
                <a:solidFill>
                  <a:srgbClr val="FFD23B"/>
                </a:solidFill>
                <a:latin typeface="Calibri (MS) Bold"/>
              </a:rPr>
              <a:t>Hasil akhir: dari 3 parameter yang dikalibrasi (batas TPK, laju demolisi, laju konversi), tidak ada yang diganti</a:t>
            </a:r>
          </a:p>
          <a:p>
            <a:pPr algn="l">
              <a:spcAft>
                <a:spcPts val="300"/>
              </a:spcAft>
            </a:pPr>
            <a:r>
              <a:rPr sz="1260" b="0" i="0">
                <a:solidFill>
                  <a:srgbClr val="FFFFFF"/>
                </a:solidFill>
                <a:latin typeface="Calibri (MS)"/>
              </a:rPr>
              <a:t>Nilai yang dihitung dari data sudah layak dipakai. Selisih pada jumlah wisatawan bukan karena nilai parameter yang salah, tetapi karena lonjakan wisatawan setelah pandemi yang berada di luar cakupan model.</a:t>
            </a:r>
          </a:p>
        </p:txBody>
      </p:sp>
      <p:sp>
        <p:nvSpPr>
          <p:cNvPr id="171" name="TextBox 170"/>
          <p:cNvSpPr txBox="1"/>
          <p:nvPr/>
        </p:nvSpPr>
        <p:spPr>
          <a:xfrm>
            <a:off x="822960" y="9253728"/>
            <a:ext cx="15544800" cy="274320"/>
          </a:xfrm>
          <a:prstGeom prst="rect">
            <a:avLst/>
          </a:prstGeom>
          <a:noFill/>
        </p:spPr>
        <p:txBody>
          <a:bodyPr wrap="square" anchor="t" lIns="0" rIns="0" tIns="0" bIns="0">
            <a:spAutoFit/>
          </a:bodyPr>
          <a:lstStyle/>
          <a:p>
            <a:pPr algn="l">
              <a:spcAft>
                <a:spcPts val="400"/>
              </a:spcAft>
            </a:pPr>
            <a:r>
              <a:rPr sz="1210" b="0" i="1">
                <a:solidFill>
                  <a:srgbClr val="5E6E78"/>
                </a:solidFill>
                <a:latin typeface="Calibri (MS)"/>
              </a:rPr>
              <a:t>Sumber: Buku Subbab 4.6 (Tabel 48–55). R4 dan M1 = aturan keputusan dan pemicu penolakan pada slide sebelumnya (Tabel 19–20).</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Company/>
  <LinksUpToDate>false</LinksUpToDate>
  <SharedDoc>false</SharedDoc>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xsi="http://www.w3.org/2001/XMLSchema-instance">
  <dcterms:created xsi:type="dcterms:W3CDTF">2006-08-16T00:00:00Z</dcterms:created>
  <dc:identifier>DAHXA7-drhs</dc:identifier>
  <dcterms:modified xsi:type="dcterms:W3CDTF">2011-08-01T06:04:30Z</dcterms:modified>
  <cp:revision>1</cp:revision>
  <dc:title>[Lengkap] PPT SIDANG FINAL</dc:title>
</cp:coreProperties>
</file>