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64.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19" r:id="rId69"/>
    <p:sldId id="322" r:id="rId72"/>
    <p:sldId id="323" r:id="rId73"/>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9" Type="http://schemas.openxmlformats.org/officeDocument/2006/relationships/slide" Target="slides/slide1.xml"/><Relationship Id="rId72" Type="http://schemas.openxmlformats.org/officeDocument/2006/relationships/slide" Target="slides/slide2.xml"/><Relationship Id="rId73" Type="http://schemas.openxmlformats.org/officeDocument/2006/relationships/slide" Target="slides/slide3.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Skor SUS</c:v>
                </c:pt>
              </c:strCache>
            </c:strRef>
          </c:tx>
          <c:dPt>
            <c:idx val="0"/>
            <c:spPr>
              <a:solidFill>
                <a:srgbClr val="0B5E6E"/>
              </a:solidFill>
            </c:spPr>
          </c:dPt>
          <c:dPt>
            <c:idx val="1"/>
            <c:spPr>
              <a:solidFill>
                <a:srgbClr val="0B5E6E"/>
              </a:solidFill>
            </c:spPr>
          </c:dPt>
          <c:dPt>
            <c:idx val="2"/>
            <c:spPr>
              <a:solidFill>
                <a:srgbClr val="0B5E6E"/>
              </a:solidFill>
            </c:spPr>
          </c:dPt>
          <c:dPt>
            <c:idx val="3"/>
            <c:spPr>
              <a:solidFill>
                <a:srgbClr val="0B5E6E"/>
              </a:solidFill>
            </c:spPr>
          </c:dPt>
          <c:dPt>
            <c:idx val="4"/>
            <c:spPr>
              <a:solidFill>
                <a:srgbClr val="0B5E6E"/>
              </a:solidFill>
            </c:spPr>
          </c:dPt>
          <c:dPt>
            <c:idx val="5"/>
            <c:spPr>
              <a:solidFill>
                <a:srgbClr val="0B5E6E"/>
              </a:solidFill>
            </c:spPr>
          </c:dPt>
          <c:dPt>
            <c:idx val="6"/>
            <c:spPr>
              <a:solidFill>
                <a:srgbClr val="0B5E6E"/>
              </a:solidFill>
            </c:spPr>
          </c:dPt>
          <c:dPt>
            <c:idx val="7"/>
            <c:spPr>
              <a:solidFill>
                <a:srgbClr val="39C0D3"/>
              </a:solidFill>
            </c:spPr>
          </c:dPt>
          <c:dPt>
            <c:idx val="8"/>
            <c:spPr>
              <a:solidFill>
                <a:srgbClr val="39C0D3"/>
              </a:solidFill>
            </c:spPr>
          </c:dPt>
          <c:dPt>
            <c:idx val="9"/>
            <c:spPr>
              <a:solidFill>
                <a:srgbClr val="0B5E6E"/>
              </a:solidFill>
            </c:spPr>
          </c:dPt>
          <c:cat>
            <c:strRef>
              <c:f>Sheet1!$A$2:$A$11</c:f>
              <c:strCache>
                <c:ptCount val="10"/>
                <c:pt idx="0">
                  <c:v>R1</c:v>
                </c:pt>
                <c:pt idx="1">
                  <c:v>R2</c:v>
                </c:pt>
                <c:pt idx="2">
                  <c:v>R3</c:v>
                </c:pt>
                <c:pt idx="3">
                  <c:v>R4</c:v>
                </c:pt>
                <c:pt idx="4">
                  <c:v>R5</c:v>
                </c:pt>
                <c:pt idx="5">
                  <c:v>R6</c:v>
                </c:pt>
                <c:pt idx="6">
                  <c:v>R7</c:v>
                </c:pt>
                <c:pt idx="7">
                  <c:v>R8</c:v>
                </c:pt>
                <c:pt idx="8">
                  <c:v>R9</c:v>
                </c:pt>
                <c:pt idx="9">
                  <c:v>R10</c:v>
                </c:pt>
              </c:strCache>
            </c:strRef>
          </c:cat>
          <c:val>
            <c:numRef>
              <c:f>Sheet1!$B$2:$B$11</c:f>
              <c:numCache>
                <c:formatCode>General</c:formatCode>
                <c:ptCount val="10"/>
                <c:pt idx="0">
                  <c:v>97.5</c:v>
                </c:pt>
                <c:pt idx="1">
                  <c:v>87.5</c:v>
                </c:pt>
                <c:pt idx="2">
                  <c:v>100</c:v>
                </c:pt>
                <c:pt idx="3">
                  <c:v>100</c:v>
                </c:pt>
                <c:pt idx="4">
                  <c:v>85</c:v>
                </c:pt>
                <c:pt idx="5">
                  <c:v>87.5</c:v>
                </c:pt>
                <c:pt idx="6">
                  <c:v>97.5</c:v>
                </c:pt>
                <c:pt idx="7">
                  <c:v>60</c:v>
                </c:pt>
                <c:pt idx="8">
                  <c:v>70</c:v>
                </c:pt>
                <c:pt idx="9">
                  <c:v>100</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10.0"/>
          <c:min val="0.0"/>
        </c:scaling>
        <c:delete val="0"/>
        <c:axPos val="l"/>
        <c:majorGridlines>
          <c:spPr>
            <a:ln>
              <a:solidFill>
                <a:srgbClr val="E3EEF1"/>
              </a:solidFill>
            </a:ln>
          </c:spPr>
        </c:majorGridlines>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1000">
          <a:solidFill>
            <a:srgbClr val="14313B"/>
          </a:solidFill>
          <a:latin typeface="Calibri (M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Skor SUS</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39C0D3"/>
              </a:solidFill>
            </c:spPr>
          </c:dPt>
          <c:dPt>
            <c:idx val="6"/>
            <c:spPr>
              <a:solidFill>
                <a:srgbClr val="39C0D3"/>
              </a:solidFill>
            </c:spPr>
          </c:dPt>
          <c:dPt>
            <c:idx val="7"/>
            <c:spPr>
              <a:solidFill>
                <a:srgbClr val="E4604F"/>
              </a:solidFill>
            </c:spPr>
          </c:dPt>
          <c:dPt>
            <c:idx val="8"/>
            <c:spPr>
              <a:solidFill>
                <a:srgbClr val="39C0D3"/>
              </a:solidFill>
            </c:spPr>
          </c:dPt>
          <c:dPt>
            <c:idx val="9"/>
            <c:spPr>
              <a:solidFill>
                <a:srgbClr val="39C0D3"/>
              </a:solidFill>
            </c:spPr>
          </c:dPt>
          <c:cat>
            <c:strRef>
              <c:f>Sheet1!$A$2:$A$11</c:f>
              <c:strCache>
                <c:ptCount val="10"/>
                <c:pt idx="0">
                  <c:v>R1</c:v>
                </c:pt>
                <c:pt idx="1">
                  <c:v>R2</c:v>
                </c:pt>
                <c:pt idx="2">
                  <c:v>R3</c:v>
                </c:pt>
                <c:pt idx="3">
                  <c:v>R4</c:v>
                </c:pt>
                <c:pt idx="4">
                  <c:v>R5</c:v>
                </c:pt>
                <c:pt idx="5">
                  <c:v>R6</c:v>
                </c:pt>
                <c:pt idx="6">
                  <c:v>R7</c:v>
                </c:pt>
                <c:pt idx="7">
                  <c:v>R8</c:v>
                </c:pt>
                <c:pt idx="8">
                  <c:v>R9</c:v>
                </c:pt>
                <c:pt idx="9">
                  <c:v>R10</c:v>
                </c:pt>
              </c:strCache>
            </c:strRef>
          </c:cat>
          <c:val>
            <c:numRef>
              <c:f>Sheet1!$B$2:$B$11</c:f>
              <c:numCache>
                <c:formatCode>General</c:formatCode>
                <c:ptCount val="10"/>
                <c:pt idx="0">
                  <c:v>97.5</c:v>
                </c:pt>
                <c:pt idx="1">
                  <c:v>87.5</c:v>
                </c:pt>
                <c:pt idx="2">
                  <c:v>100</c:v>
                </c:pt>
                <c:pt idx="3">
                  <c:v>100</c:v>
                </c:pt>
                <c:pt idx="4">
                  <c:v>85</c:v>
                </c:pt>
                <c:pt idx="5">
                  <c:v>87.5</c:v>
                </c:pt>
                <c:pt idx="6">
                  <c:v>97.5</c:v>
                </c:pt>
                <c:pt idx="7">
                  <c:v>60</c:v>
                </c:pt>
                <c:pt idx="8">
                  <c:v>70</c:v>
                </c:pt>
                <c:pt idx="9">
                  <c:v>100</c:v>
                </c:pt>
              </c:numCache>
            </c:numRef>
          </c:val>
        </c:ser>
        <c:dLbls>
          <c:numFmt formatCode="0.0" sourceLinked="0"/>
          <c:txPr>
            <a:bodyPr/>
            <a:lstStyle/>
            <a:p>
              <a:pPr>
                <a:defRPr sz="1200">
                  <a:solidFill>
                    <a:srgbClr val="14313B"/>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110.0"/>
          <c:min val="0.0"/>
        </c:scaling>
        <c:delete val="0"/>
        <c:axPos val="l"/>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majorUnit val="20.0"/>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Tujuan ketiga adalah membuat aplikasi. Masalahnya, hasil model sistem dinamis biasanya berhenti di laporan, dan untuk menjalankannya perlu Vensim serta keahlian pemodelan. Karena itu model saya ubah menjadi aplikasi web. Model Vensim dikonversi dengan SDEverywhere, lalu dijalankan di aplikasi yang dibangun dengan Next.js. Perhitungannya tetap dari model, aplikasi hanya menerima masukan dan menampilkan hasil. Setiap fitur menjawab kebutuhan pengguna, dan aplikasinya bisa dibuka langsung melalui alamat atau kode QR ini.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Aplikasinya punya empat halaman. Beranda sebagai gambaran umum. Halaman Model menampilkan struktur model dan hasil pengujiannya. Halaman Skenario untuk menjalankan dan membandingkan tiga skenario. Halaman Eksplorasi untuk mencoba nilai kebijakan sendiri. Alurnya sederhana: pilih skenario atau atur dua kebijakan, model menghitung di browser, lalu hasilnya tampil sebagai angka dan grafik. (Bila memungkinkan, tunjukkan demo singkat di sini.)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Aplikasi diuji dari dua sisi. Dari sisi fungsi, sembilan fungsi utama diuji dengan black-box testing dan semuanya berjalan sesuai rancangan. Dari sisi kemudahan penggunaan, sepuluh responden mengisi System Usability Scale, dengan rata-rata 88,50. Angka ini jauh di atas rata-rata normatif SUS, yaitu 68, dan berada di antara kategori Excellent dan Best Imaginable. Delapan dari sepuluh responden memberi skor 85 atau lebih.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3.png"/><Relationship Id="rId8" Type="http://schemas.openxmlformats.org/officeDocument/2006/relationships/chart" Target="../charts/chart8.xml"/><Relationship Id="rId9" Type="http://schemas.openxmlformats.org/officeDocument/2006/relationships/chart" Target="../charts/chart2.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Aplikasi Simulasi Berbasis Web</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bisa dicoba langsung di browser, tanpa perlu software pemodelan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sp>
        <p:nvSpPr>
          <p:cNvPr id="67" name="Rounded Rectangle 66"/>
          <p:cNvSpPr/>
          <p:nvPr/>
        </p:nvSpPr>
        <p:spPr>
          <a:xfrm>
            <a:off x="822960" y="1783080"/>
            <a:ext cx="8138160" cy="1417320"/>
          </a:xfrm>
          <a:prstGeom prst="roundRect">
            <a:avLst>
              <a:gd name="adj" fmla="val 8000"/>
            </a:avLst>
          </a:prstGeom>
          <a:solidFill>
            <a:srgbClr val="FDE2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40" b="1" i="0">
                <a:solidFill>
                  <a:srgbClr val="9B2C1F"/>
                </a:solidFill>
                <a:latin typeface="Calibri (MS) Bold"/>
              </a:rPr>
              <a:t>Masalahnya</a:t>
            </a:r>
          </a:p>
          <a:p>
            <a:pPr algn="l">
              <a:spcAft>
                <a:spcPts val="300"/>
              </a:spcAft>
            </a:pPr>
            <a:r>
              <a:rPr sz="1380" b="0" i="0">
                <a:solidFill>
                  <a:srgbClr val="14313B"/>
                </a:solidFill>
                <a:latin typeface="Calibri (MS)"/>
              </a:rPr>
              <a:t>Hasil model biasanya berhenti di laporan dan grafik. Untuk menjalankannya perlu Vensim dan keahlian pemodelan, jadi sulit dipakai pemerintah.</a:t>
            </a:r>
          </a:p>
        </p:txBody>
      </p:sp>
      <p:sp>
        <p:nvSpPr>
          <p:cNvPr id="68" name="Rounded Rectangle 67"/>
          <p:cNvSpPr/>
          <p:nvPr/>
        </p:nvSpPr>
        <p:spPr>
          <a:xfrm>
            <a:off x="822960" y="3337560"/>
            <a:ext cx="8138160" cy="1143000"/>
          </a:xfrm>
          <a:prstGeom prst="roundRect">
            <a:avLst>
              <a:gd name="adj" fmla="val 8000"/>
            </a:avLst>
          </a:prstGeom>
          <a:solidFill>
            <a:srgbClr val="C9F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40" b="1" i="0">
                <a:solidFill>
                  <a:srgbClr val="1E7A43"/>
                </a:solidFill>
                <a:latin typeface="Calibri (MS) Bold"/>
              </a:rPr>
              <a:t>Jawabannya</a:t>
            </a:r>
          </a:p>
          <a:p>
            <a:pPr algn="l">
              <a:spcAft>
                <a:spcPts val="300"/>
              </a:spcAft>
            </a:pPr>
            <a:r>
              <a:rPr sz="1380" b="0" i="0">
                <a:solidFill>
                  <a:srgbClr val="14313B"/>
                </a:solidFill>
                <a:latin typeface="Calibri (MS)"/>
              </a:rPr>
              <a:t>Aplikasi web: perhitungan tetap dari model, aplikasi hanya menerima masukan dan menampilkan hasil.</a:t>
            </a:r>
          </a:p>
        </p:txBody>
      </p:sp>
      <p:sp>
        <p:nvSpPr>
          <p:cNvPr id="69" name="TextBox 68"/>
          <p:cNvSpPr txBox="1"/>
          <p:nvPr/>
        </p:nvSpPr>
        <p:spPr>
          <a:xfrm>
            <a:off x="822960" y="4709160"/>
            <a:ext cx="8138160" cy="411480"/>
          </a:xfrm>
          <a:prstGeom prst="rect">
            <a:avLst/>
          </a:prstGeom>
          <a:noFill/>
        </p:spPr>
        <p:txBody>
          <a:bodyPr wrap="square" anchor="t" lIns="0" rIns="0" tIns="0" bIns="0">
            <a:spAutoFit/>
          </a:bodyPr>
          <a:lstStyle/>
          <a:p>
            <a:pPr algn="l">
              <a:spcAft>
                <a:spcPts val="400"/>
              </a:spcAft>
            </a:pPr>
            <a:r>
              <a:rPr sz="1440" b="1" i="0">
                <a:solidFill>
                  <a:srgbClr val="0B5E6E"/>
                </a:solidFill>
                <a:latin typeface="Calibri (MS) Bold"/>
              </a:rPr>
              <a:t>Cara kerjanya</a:t>
            </a:r>
          </a:p>
        </p:txBody>
      </p:sp>
      <p:sp>
        <p:nvSpPr>
          <p:cNvPr id="70" name="Rounded Rectangle 69"/>
          <p:cNvSpPr/>
          <p:nvPr/>
        </p:nvSpPr>
        <p:spPr>
          <a:xfrm>
            <a:off x="822960" y="5166360"/>
            <a:ext cx="2423160" cy="1143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40" b="1" i="0">
                <a:solidFill>
                  <a:srgbClr val="0B5E6E"/>
                </a:solidFill>
                <a:latin typeface="Calibri (MS) Bold"/>
              </a:rPr>
              <a:t>Model Vensim</a:t>
            </a:r>
          </a:p>
          <a:p>
            <a:pPr algn="ctr">
              <a:spcAft>
                <a:spcPts val="300"/>
              </a:spcAft>
            </a:pPr>
            <a:r>
              <a:rPr sz="1150" b="0" i="0">
                <a:solidFill>
                  <a:srgbClr val="5E6E78"/>
                </a:solidFill>
                <a:latin typeface="Calibri (MS)"/>
              </a:rPr>
              <a:t>model yang sudah diuji</a:t>
            </a:r>
          </a:p>
        </p:txBody>
      </p:sp>
      <p:sp>
        <p:nvSpPr>
          <p:cNvPr id="71" name="Right Arrow 70"/>
          <p:cNvSpPr/>
          <p:nvPr/>
        </p:nvSpPr>
        <p:spPr>
          <a:xfrm>
            <a:off x="3291840" y="5596128"/>
            <a:ext cx="274320"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3611879" y="5166360"/>
            <a:ext cx="2423160" cy="1143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40" b="1" i="0">
                <a:solidFill>
                  <a:srgbClr val="0B5E6E"/>
                </a:solidFill>
                <a:latin typeface="Calibri (MS) Bold"/>
              </a:rPr>
              <a:t>SDEverywhere</a:t>
            </a:r>
          </a:p>
          <a:p>
            <a:pPr algn="ctr">
              <a:spcAft>
                <a:spcPts val="300"/>
              </a:spcAft>
            </a:pPr>
            <a:r>
              <a:rPr sz="1150" b="0" i="0">
                <a:solidFill>
                  <a:srgbClr val="5E6E78"/>
                </a:solidFill>
                <a:latin typeface="Calibri (MS)"/>
              </a:rPr>
              <a:t>diubah jadi kode web</a:t>
            </a:r>
          </a:p>
        </p:txBody>
      </p:sp>
      <p:sp>
        <p:nvSpPr>
          <p:cNvPr id="73" name="Right Arrow 72"/>
          <p:cNvSpPr/>
          <p:nvPr/>
        </p:nvSpPr>
        <p:spPr>
          <a:xfrm>
            <a:off x="6080760" y="5596128"/>
            <a:ext cx="274320"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6400800" y="5166360"/>
            <a:ext cx="2423160" cy="11430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40" b="1" i="0">
                <a:solidFill>
                  <a:srgbClr val="FFFFFF"/>
                </a:solidFill>
                <a:latin typeface="Calibri (MS) Bold"/>
              </a:rPr>
              <a:t>Aplikasi web</a:t>
            </a:r>
          </a:p>
          <a:p>
            <a:pPr algn="ctr">
              <a:spcAft>
                <a:spcPts val="300"/>
              </a:spcAft>
            </a:pPr>
            <a:r>
              <a:rPr sz="1150" b="0" i="0">
                <a:solidFill>
                  <a:srgbClr val="D7EEF2"/>
                </a:solidFill>
                <a:latin typeface="Calibri (MS)"/>
              </a:rPr>
              <a:t>Next.js · TypeScript · Tailwind</a:t>
            </a:r>
          </a:p>
        </p:txBody>
      </p:sp>
      <p:graphicFrame>
        <p:nvGraphicFramePr>
          <p:cNvPr id="75" name="Table 74"/>
          <p:cNvGraphicFramePr>
            <a:graphicFrameLocks noGrp="1"/>
          </p:cNvGraphicFramePr>
          <p:nvPr/>
        </p:nvGraphicFramePr>
        <p:xfrm>
          <a:off x="9326880" y="1783080"/>
          <a:ext cx="8138160" cy="3200400"/>
        </p:xfrm>
        <a:graphic>
          <a:graphicData uri="http://schemas.openxmlformats.org/drawingml/2006/table">
            <a:tbl>
              <a:tblPr firstRow="1" bandRow="1">
                <a:tableStyleId>{5C22544A-7EE6-4342-B048-85BDC9FD1C3A}</a:tableStyleId>
              </a:tblPr>
              <a:tblGrid>
                <a:gridCol w="3474720"/>
                <a:gridCol w="4663440"/>
              </a:tblGrid>
              <a:tr h="640080">
                <a:tc>
                  <a:txBody>
                    <a:bodyPr wrap="square"/>
                    <a:lstStyle/>
                    <a:p>
                      <a:r>
                        <a:rPr sz="1260" b="1" i="0">
                          <a:solidFill>
                            <a:srgbClr val="FFFFFF"/>
                          </a:solidFill>
                          <a:latin typeface="Calibri (MS) Bold"/>
                        </a:rPr>
                        <a:t>Kebutuhan pengguna</a:t>
                      </a:r>
                    </a:p>
                  </a:txBody>
                  <a:tcPr marL="73152" marR="73152" marT="36576" marB="36576" anchor="ctr">
                    <a:solidFill>
                      <a:srgbClr val="0B5E6E"/>
                    </a:solidFill>
                  </a:tcPr>
                </a:tc>
                <a:tc>
                  <a:txBody>
                    <a:bodyPr wrap="square"/>
                    <a:lstStyle/>
                    <a:p>
                      <a:r>
                        <a:rPr sz="1260" b="1" i="0">
                          <a:solidFill>
                            <a:srgbClr val="FFFFFF"/>
                          </a:solidFill>
                          <a:latin typeface="Calibri (MS) Bold"/>
                        </a:rPr>
                        <a:t>Fitur di aplikasi</a:t>
                      </a:r>
                    </a:p>
                  </a:txBody>
                  <a:tcPr marL="73152" marR="73152" marT="36576" marB="36576" anchor="ctr">
                    <a:solidFill>
                      <a:srgbClr val="0B5E6E"/>
                    </a:solidFill>
                  </a:tcPr>
                </a:tc>
              </a:tr>
              <a:tr h="640080">
                <a:tc>
                  <a:txBody>
                    <a:bodyPr wrap="square"/>
                    <a:lstStyle/>
                    <a:p>
                      <a:r>
                        <a:rPr sz="1260" b="0" i="0">
                          <a:solidFill>
                            <a:srgbClr val="14313B"/>
                          </a:solidFill>
                          <a:latin typeface="Calibri (MS)"/>
                        </a:rPr>
                        <a:t>Memahami isi model dan seberapa valid</a:t>
                      </a:r>
                    </a:p>
                  </a:txBody>
                  <a:tcPr marL="73152" marR="73152" marT="36576" marB="36576" anchor="ctr">
                    <a:solidFill>
                      <a:srgbClr val="FFFFFF"/>
                    </a:solidFill>
                  </a:tcPr>
                </a:tc>
                <a:tc>
                  <a:txBody>
                    <a:bodyPr wrap="square"/>
                    <a:lstStyle/>
                    <a:p>
                      <a:r>
                        <a:rPr sz="1260" b="0" i="0">
                          <a:solidFill>
                            <a:srgbClr val="14313B"/>
                          </a:solidFill>
                          <a:latin typeface="Calibri (MS)"/>
                        </a:rPr>
                        <a:t>Halaman Model: struktur dan hasil pengujian</a:t>
                      </a:r>
                    </a:p>
                  </a:txBody>
                  <a:tcPr marL="73152" marR="73152" marT="36576" marB="36576" anchor="ctr">
                    <a:solidFill>
                      <a:srgbClr val="FFFFFF"/>
                    </a:solidFill>
                  </a:tcPr>
                </a:tc>
              </a:tr>
              <a:tr h="640080">
                <a:tc>
                  <a:txBody>
                    <a:bodyPr wrap="square"/>
                    <a:lstStyle/>
                    <a:p>
                      <a:r>
                        <a:rPr sz="1260" b="0" i="0">
                          <a:solidFill>
                            <a:srgbClr val="14313B"/>
                          </a:solidFill>
                          <a:latin typeface="Calibri (MS)"/>
                        </a:rPr>
                        <a:t>Membandingkan pilihan kebijakan</a:t>
                      </a:r>
                    </a:p>
                  </a:txBody>
                  <a:tcPr marL="73152" marR="73152" marT="36576" marB="36576" anchor="ctr">
                    <a:solidFill>
                      <a:srgbClr val="EAF8FA"/>
                    </a:solidFill>
                  </a:tcPr>
                </a:tc>
                <a:tc>
                  <a:txBody>
                    <a:bodyPr wrap="square"/>
                    <a:lstStyle/>
                    <a:p>
                      <a:r>
                        <a:rPr sz="1260" b="0" i="0">
                          <a:solidFill>
                            <a:srgbClr val="14313B"/>
                          </a:solidFill>
                          <a:latin typeface="Calibri (MS)"/>
                        </a:rPr>
                        <a:t>Halaman Skenario: BAU, Sustainable, DP</a:t>
                      </a:r>
                    </a:p>
                  </a:txBody>
                  <a:tcPr marL="73152" marR="73152" marT="36576" marB="36576" anchor="ctr">
                    <a:solidFill>
                      <a:srgbClr val="EAF8FA"/>
                    </a:solidFill>
                  </a:tcPr>
                </a:tc>
              </a:tr>
              <a:tr h="640080">
                <a:tc>
                  <a:txBody>
                    <a:bodyPr wrap="square"/>
                    <a:lstStyle/>
                    <a:p>
                      <a:r>
                        <a:rPr sz="1260" b="0" i="0">
                          <a:solidFill>
                            <a:srgbClr val="14313B"/>
                          </a:solidFill>
                          <a:latin typeface="Calibri (MS)"/>
                        </a:rPr>
                        <a:t>Mencoba nilai kebijakan sendiri</a:t>
                      </a:r>
                    </a:p>
                  </a:txBody>
                  <a:tcPr marL="73152" marR="73152" marT="36576" marB="36576" anchor="ctr">
                    <a:solidFill>
                      <a:srgbClr val="FFFFFF"/>
                    </a:solidFill>
                  </a:tcPr>
                </a:tc>
                <a:tc>
                  <a:txBody>
                    <a:bodyPr wrap="square"/>
                    <a:lstStyle/>
                    <a:p>
                      <a:r>
                        <a:rPr sz="1260" b="0" i="0">
                          <a:solidFill>
                            <a:srgbClr val="14313B"/>
                          </a:solidFill>
                          <a:latin typeface="Calibri (MS)"/>
                        </a:rPr>
                        <a:t>Halaman Eksplorasi: atur 2 kebijakan, jalankan 2025–2050</a:t>
                      </a:r>
                    </a:p>
                  </a:txBody>
                  <a:tcPr marL="73152" marR="73152" marT="36576" marB="36576" anchor="ctr">
                    <a:solidFill>
                      <a:srgbClr val="FFFFFF"/>
                    </a:solidFill>
                  </a:tcPr>
                </a:tc>
              </a:tr>
              <a:tr h="640080">
                <a:tc>
                  <a:txBody>
                    <a:bodyPr wrap="square"/>
                    <a:lstStyle/>
                    <a:p>
                      <a:r>
                        <a:rPr sz="1260" b="0" i="0">
                          <a:solidFill>
                            <a:srgbClr val="14313B"/>
                          </a:solidFill>
                          <a:latin typeface="Calibri (MS)"/>
                        </a:rPr>
                        <a:t>Bisa dibuka tanpa instalasi</a:t>
                      </a:r>
                    </a:p>
                  </a:txBody>
                  <a:tcPr marL="73152" marR="73152" marT="36576" marB="36576" anchor="ctr">
                    <a:solidFill>
                      <a:srgbClr val="EAF8FA"/>
                    </a:solidFill>
                  </a:tcPr>
                </a:tc>
                <a:tc>
                  <a:txBody>
                    <a:bodyPr wrap="square"/>
                    <a:lstStyle/>
                    <a:p>
                      <a:r>
                        <a:rPr sz="1260" b="0" i="0">
                          <a:solidFill>
                            <a:srgbClr val="14313B"/>
                          </a:solidFill>
                          <a:latin typeface="Calibri (MS)"/>
                        </a:rPr>
                        <a:t>Aplikasi web, berjalan di browser</a:t>
                      </a:r>
                    </a:p>
                  </a:txBody>
                  <a:tcPr marL="73152" marR="73152" marT="36576" marB="36576" anchor="ctr">
                    <a:solidFill>
                      <a:srgbClr val="EAF8FA"/>
                    </a:solidFill>
                  </a:tcPr>
                </a:tc>
              </a:tr>
            </a:tbl>
          </a:graphicData>
        </a:graphic>
      </p:graphicFrame>
      <p:pic>
        <p:nvPicPr>
          <p:cNvPr id="76" name="Picture 75" descr="qr_app.png"/>
          <p:cNvPicPr>
            <a:picLocks noChangeAspect="1"/>
          </p:cNvPicPr>
          <p:nvPr/>
        </p:nvPicPr>
        <p:blipFill>
          <a:blip r:embed="rId7"/>
          <a:stretch>
            <a:fillRect/>
          </a:stretch>
        </p:blipFill>
        <p:spPr>
          <a:xfrm>
            <a:off x="9326880" y="5349240"/>
            <a:ext cx="1920240" cy="1920240"/>
          </a:xfrm>
          <a:prstGeom prst="rect">
            <a:avLst/>
          </a:prstGeom>
        </p:spPr>
      </p:pic>
      <p:sp>
        <p:nvSpPr>
          <p:cNvPr id="77" name="Rounded Rectangle 76"/>
          <p:cNvSpPr/>
          <p:nvPr/>
        </p:nvSpPr>
        <p:spPr>
          <a:xfrm>
            <a:off x="11430000" y="5349240"/>
            <a:ext cx="6035040" cy="1920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40" b="1" i="0">
                <a:solidFill>
                  <a:srgbClr val="0B5E6E"/>
                </a:solidFill>
                <a:latin typeface="Calibri (MS) Bold"/>
              </a:rPr>
              <a:t>Coba langsung</a:t>
            </a:r>
          </a:p>
          <a:p>
            <a:pPr algn="l">
              <a:spcAft>
                <a:spcPts val="300"/>
              </a:spcAft>
            </a:pPr>
            <a:r>
              <a:rPr sz="1610" b="1" i="0">
                <a:solidFill>
                  <a:srgbClr val="14313B"/>
                </a:solidFill>
                <a:latin typeface="Calibri (MS) Bold"/>
              </a:rPr>
              <a:t>sistemdinamispariwisata.vercel.app</a:t>
            </a:r>
          </a:p>
          <a:p>
            <a:pPr algn="l">
              <a:spcAft>
                <a:spcPts val="300"/>
              </a:spcAft>
            </a:pPr>
            <a:r>
              <a:rPr sz="1210" b="0" i="0">
                <a:solidFill>
                  <a:srgbClr val="5E6E78"/>
                </a:solidFill>
                <a:latin typeface="Calibri (MS)"/>
              </a:rPr>
              <a:t>Pindai kode QR di samping</a:t>
            </a:r>
          </a:p>
        </p:txBody>
      </p:sp>
      <p:sp>
        <p:nvSpPr>
          <p:cNvPr id="78" name="Rounded Rectangle 77"/>
          <p:cNvSpPr/>
          <p:nvPr/>
        </p:nvSpPr>
        <p:spPr>
          <a:xfrm>
            <a:off x="822960" y="786384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Aplikasi menjembatani model dengan pengguna di Pemda DIY dan Dinas Pariwisata yang tidak punya latar pemodelan.</a:t>
            </a:r>
          </a:p>
        </p:txBody>
      </p:sp>
      <p:sp>
        <p:nvSpPr>
          <p:cNvPr id="79" name="TextBox 78"/>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3.9 dan 4.9.1.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Halaman Aplikasi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Dari memilih kebijakan sampai melihat grafik hasil, semua di satu tempat</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pic>
        <p:nvPicPr>
          <p:cNvPr id="67" name="Picture 66" descr="app_beranda.png"/>
          <p:cNvPicPr>
            <a:picLocks noChangeAspect="1"/>
          </p:cNvPicPr>
          <p:nvPr/>
        </p:nvPicPr>
        <p:blipFill>
          <a:blip r:embed="rId7"/>
          <a:stretch>
            <a:fillRect/>
          </a:stretch>
        </p:blipFill>
        <p:spPr>
          <a:xfrm>
            <a:off x="822960" y="1896920"/>
            <a:ext cx="4206240" cy="2606959"/>
          </a:xfrm>
          <a:prstGeom prst="rect">
            <a:avLst/>
          </a:prstGeom>
          <a:ln w="12700">
            <a:solidFill>
              <a:srgbClr val="CFE5E9"/>
            </a:solidFill>
          </a:ln>
        </p:spPr>
      </p:pic>
      <p:sp>
        <p:nvSpPr>
          <p:cNvPr id="68" name="Rounded Rectangle 67"/>
          <p:cNvSpPr/>
          <p:nvPr/>
        </p:nvSpPr>
        <p:spPr>
          <a:xfrm>
            <a:off x="5212080" y="2148840"/>
            <a:ext cx="3794760" cy="210312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610" b="1" i="0">
                <a:solidFill>
                  <a:srgbClr val="0B5E6E"/>
                </a:solidFill>
                <a:latin typeface="Calibri (MS) Bold"/>
              </a:rPr>
              <a:t>1  Beranda</a:t>
            </a:r>
          </a:p>
          <a:p>
            <a:pPr algn="l">
              <a:spcAft>
                <a:spcPts val="300"/>
              </a:spcAft>
            </a:pPr>
            <a:r>
              <a:rPr sz="1380" b="0" i="0">
                <a:solidFill>
                  <a:srgbClr val="14313B"/>
                </a:solidFill>
                <a:latin typeface="Calibri (MS)"/>
              </a:rPr>
              <a:t>Gambaran umum dan pintu masuk ke setiap halaman</a:t>
            </a:r>
          </a:p>
        </p:txBody>
      </p:sp>
      <p:pic>
        <p:nvPicPr>
          <p:cNvPr id="69" name="Picture 68" descr="app_model.png"/>
          <p:cNvPicPr>
            <a:picLocks noChangeAspect="1"/>
          </p:cNvPicPr>
          <p:nvPr/>
        </p:nvPicPr>
        <p:blipFill>
          <a:blip r:embed="rId8"/>
          <a:stretch>
            <a:fillRect/>
          </a:stretch>
        </p:blipFill>
        <p:spPr>
          <a:xfrm>
            <a:off x="9281160" y="1898070"/>
            <a:ext cx="4206240" cy="2604659"/>
          </a:xfrm>
          <a:prstGeom prst="rect">
            <a:avLst/>
          </a:prstGeom>
          <a:ln w="12700">
            <a:solidFill>
              <a:srgbClr val="CFE5E9"/>
            </a:solidFill>
          </a:ln>
        </p:spPr>
      </p:pic>
      <p:sp>
        <p:nvSpPr>
          <p:cNvPr id="70" name="Rounded Rectangle 69"/>
          <p:cNvSpPr/>
          <p:nvPr/>
        </p:nvSpPr>
        <p:spPr>
          <a:xfrm>
            <a:off x="13670280" y="2148840"/>
            <a:ext cx="3794760" cy="210312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610" b="1" i="0">
                <a:solidFill>
                  <a:srgbClr val="0B5E6E"/>
                </a:solidFill>
                <a:latin typeface="Calibri (MS) Bold"/>
              </a:rPr>
              <a:t>2  Model</a:t>
            </a:r>
          </a:p>
          <a:p>
            <a:pPr algn="l">
              <a:spcAft>
                <a:spcPts val="300"/>
              </a:spcAft>
            </a:pPr>
            <a:r>
              <a:rPr sz="1380" b="0" i="0">
                <a:solidFill>
                  <a:srgbClr val="14313B"/>
                </a:solidFill>
                <a:latin typeface="Calibri (MS)"/>
              </a:rPr>
              <a:t>Struktur model (CLD, SFD) dan hasil pengujiannya</a:t>
            </a:r>
          </a:p>
        </p:txBody>
      </p:sp>
      <p:pic>
        <p:nvPicPr>
          <p:cNvPr id="71" name="Picture 70" descr="app_skenario.png"/>
          <p:cNvPicPr>
            <a:picLocks noChangeAspect="1"/>
          </p:cNvPicPr>
          <p:nvPr/>
        </p:nvPicPr>
        <p:blipFill>
          <a:blip r:embed="rId9"/>
          <a:stretch>
            <a:fillRect/>
          </a:stretch>
        </p:blipFill>
        <p:spPr>
          <a:xfrm>
            <a:off x="822960" y="5006411"/>
            <a:ext cx="4206240" cy="2605897"/>
          </a:xfrm>
          <a:prstGeom prst="rect">
            <a:avLst/>
          </a:prstGeom>
          <a:ln w="12700">
            <a:solidFill>
              <a:srgbClr val="CFE5E9"/>
            </a:solidFill>
          </a:ln>
        </p:spPr>
      </p:pic>
      <p:sp>
        <p:nvSpPr>
          <p:cNvPr id="72" name="Rounded Rectangle 71"/>
          <p:cNvSpPr/>
          <p:nvPr/>
        </p:nvSpPr>
        <p:spPr>
          <a:xfrm>
            <a:off x="5212080" y="5257800"/>
            <a:ext cx="3794760" cy="210312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610" b="1" i="0">
                <a:solidFill>
                  <a:srgbClr val="0B5E6E"/>
                </a:solidFill>
                <a:latin typeface="Calibri (MS) Bold"/>
              </a:rPr>
              <a:t>3  Skenario</a:t>
            </a:r>
          </a:p>
          <a:p>
            <a:pPr algn="l">
              <a:spcAft>
                <a:spcPts val="300"/>
              </a:spcAft>
            </a:pPr>
            <a:r>
              <a:rPr sz="1380" b="0" i="0">
                <a:solidFill>
                  <a:srgbClr val="14313B"/>
                </a:solidFill>
                <a:latin typeface="Calibri (MS)"/>
              </a:rPr>
              <a:t>Menjalankan dan membandingkan BAU, Sustainable, DP</a:t>
            </a:r>
          </a:p>
        </p:txBody>
      </p:sp>
      <p:pic>
        <p:nvPicPr>
          <p:cNvPr id="73" name="Picture 72" descr="app_eksplorasi.png"/>
          <p:cNvPicPr>
            <a:picLocks noChangeAspect="1"/>
          </p:cNvPicPr>
          <p:nvPr/>
        </p:nvPicPr>
        <p:blipFill>
          <a:blip r:embed="rId10"/>
          <a:stretch>
            <a:fillRect/>
          </a:stretch>
        </p:blipFill>
        <p:spPr>
          <a:xfrm>
            <a:off x="9281160" y="5006729"/>
            <a:ext cx="4206240" cy="2605260"/>
          </a:xfrm>
          <a:prstGeom prst="rect">
            <a:avLst/>
          </a:prstGeom>
          <a:ln w="12700">
            <a:solidFill>
              <a:srgbClr val="CFE5E9"/>
            </a:solidFill>
          </a:ln>
        </p:spPr>
      </p:pic>
      <p:sp>
        <p:nvSpPr>
          <p:cNvPr id="74" name="Rounded Rectangle 73"/>
          <p:cNvSpPr/>
          <p:nvPr/>
        </p:nvSpPr>
        <p:spPr>
          <a:xfrm>
            <a:off x="13670280" y="5257800"/>
            <a:ext cx="3794760" cy="210312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300"/>
              </a:spcAft>
            </a:pPr>
            <a:r>
              <a:rPr sz="1610" b="1" i="0">
                <a:solidFill>
                  <a:srgbClr val="0B5E6E"/>
                </a:solidFill>
                <a:latin typeface="Calibri (MS) Bold"/>
              </a:rPr>
              <a:t>4  Eksplorasi Simulasi</a:t>
            </a:r>
          </a:p>
          <a:p>
            <a:pPr algn="l">
              <a:spcAft>
                <a:spcPts val="300"/>
              </a:spcAft>
            </a:pPr>
            <a:r>
              <a:rPr sz="1380" b="0" i="0">
                <a:solidFill>
                  <a:srgbClr val="14313B"/>
                </a:solidFill>
                <a:latin typeface="Calibri (MS)"/>
              </a:rPr>
              <a:t>Mengatur dua kebijakan sendiri dan memilih variabel yang ditampilkan</a:t>
            </a:r>
          </a:p>
        </p:txBody>
      </p:sp>
      <p:sp>
        <p:nvSpPr>
          <p:cNvPr id="75" name="Rounded Rectangle 74"/>
          <p:cNvSpPr/>
          <p:nvPr/>
        </p:nvSpPr>
        <p:spPr>
          <a:xfrm>
            <a:off x="822960" y="804672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09728" bIns="109728"/>
          <a:lstStyle/>
          <a:p>
            <a:pPr algn="l">
              <a:spcAft>
                <a:spcPts val="300"/>
              </a:spcAft>
            </a:pPr>
            <a:r>
              <a:rPr sz="1490" b="1" i="0">
                <a:solidFill>
                  <a:srgbClr val="0B5E6E"/>
                </a:solidFill>
                <a:latin typeface="Calibri (MS) Bold"/>
              </a:rPr>
              <a:t>Alurnya:  </a:t>
            </a:r>
            <a:r>
              <a:rPr sz="1440" b="0" i="0">
                <a:solidFill>
                  <a:srgbClr val="14313B"/>
                </a:solidFill>
                <a:latin typeface="Calibri (MS)"/>
              </a:rPr>
              <a:t>pilih skenario atau atur insentif (0–0,5) dan konservasi lahan (0–1)  →  model menghitung 2025–2050 di browser  →  hasil tampil sebagai angka dan grafik</a:t>
            </a:r>
          </a:p>
        </p:txBody>
      </p:sp>
      <p:sp>
        <p:nvSpPr>
          <p:cNvPr id="76" name="TextBox 7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4.9.1 (Gambar 62–66). Tampilan dipotong pada bagian atas tiap halaman.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Evaluasi Aplikasi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Semua fungsi berjalan, dan pengguna menilai aplikasi mudah dipakai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25" id="125"/>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sp>
        <p:nvSpPr>
          <p:cNvPr id="126" name="Rounded Rectangle 125"/>
          <p:cNvSpPr/>
          <p:nvPr/>
        </p:nvSpPr>
        <p:spPr>
          <a:xfrm>
            <a:off x="822960" y="1783080"/>
            <a:ext cx="7863840" cy="5029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550" b="1" i="0">
                <a:solidFill>
                  <a:srgbClr val="FFFFFF"/>
                </a:solidFill>
                <a:latin typeface="Calibri (MS) Bold"/>
              </a:rPr>
              <a:t>Fungsi aplikasi</a:t>
            </a:r>
            <a:r>
              <a:rPr sz="1210" b="0" i="0">
                <a:solidFill>
                  <a:srgbClr val="D7EEF2"/>
                </a:solidFill>
                <a:latin typeface="Calibri (MS)"/>
              </a:rPr>
              <a:t>   uji black-box</a:t>
            </a:r>
          </a:p>
        </p:txBody>
      </p:sp>
      <p:sp>
        <p:nvSpPr>
          <p:cNvPr id="127" name="TextBox 126"/>
          <p:cNvSpPr txBox="1"/>
          <p:nvPr/>
        </p:nvSpPr>
        <p:spPr>
          <a:xfrm>
            <a:off x="822960" y="2377440"/>
            <a:ext cx="2377440" cy="1097280"/>
          </a:xfrm>
          <a:prstGeom prst="rect">
            <a:avLst/>
          </a:prstGeom>
          <a:noFill/>
        </p:spPr>
        <p:txBody>
          <a:bodyPr wrap="square" anchor="t" lIns="0" rIns="0" tIns="0" bIns="0">
            <a:spAutoFit/>
          </a:bodyPr>
          <a:lstStyle/>
          <a:p>
            <a:pPr algn="l">
              <a:spcAft>
                <a:spcPts val="400"/>
              </a:spcAft>
            </a:pPr>
            <a:r>
              <a:rPr sz="4600" b="1" i="0">
                <a:solidFill>
                  <a:srgbClr val="0B5E6E"/>
                </a:solidFill>
                <a:latin typeface="Calibri (MS) Bold"/>
              </a:rPr>
              <a:t>9/9</a:t>
            </a:r>
          </a:p>
          <a:p>
            <a:pPr algn="l">
              <a:spcAft>
                <a:spcPts val="400"/>
              </a:spcAft>
            </a:pPr>
            <a:r>
              <a:rPr sz="1210" b="0" i="0">
                <a:solidFill>
                  <a:srgbClr val="5E6E78"/>
                </a:solidFill>
                <a:latin typeface="Calibri (MS)"/>
              </a:rPr>
              <a:t>fungsi berjalan sesuai rancangan</a:t>
            </a:r>
          </a:p>
        </p:txBody>
      </p:sp>
      <p:sp>
        <p:nvSpPr>
          <p:cNvPr id="128" name="Rounded Rectangle 127"/>
          <p:cNvSpPr/>
          <p:nvPr/>
        </p:nvSpPr>
        <p:spPr>
          <a:xfrm>
            <a:off x="3383280" y="2377440"/>
            <a:ext cx="5303520" cy="45720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Navigasi antarhalaman</a:t>
            </a:r>
          </a:p>
        </p:txBody>
      </p:sp>
      <p:sp>
        <p:nvSpPr>
          <p:cNvPr id="129" name="Rounded Rectangle 128"/>
          <p:cNvSpPr/>
          <p:nvPr/>
        </p:nvSpPr>
        <p:spPr>
          <a:xfrm>
            <a:off x="3383280" y="2926080"/>
            <a:ext cx="530352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Ganti tampilan Model</a:t>
            </a:r>
          </a:p>
        </p:txBody>
      </p:sp>
      <p:sp>
        <p:nvSpPr>
          <p:cNvPr id="130" name="Rounded Rectangle 129"/>
          <p:cNvSpPr/>
          <p:nvPr/>
        </p:nvSpPr>
        <p:spPr>
          <a:xfrm>
            <a:off x="3383280" y="3474720"/>
            <a:ext cx="5303520" cy="45720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Pilih skenario</a:t>
            </a:r>
          </a:p>
        </p:txBody>
      </p:sp>
      <p:sp>
        <p:nvSpPr>
          <p:cNvPr id="131" name="Rounded Rectangle 130"/>
          <p:cNvSpPr/>
          <p:nvPr/>
        </p:nvSpPr>
        <p:spPr>
          <a:xfrm>
            <a:off x="3383280" y="4023360"/>
            <a:ext cx="530352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Bandingkan skenario</a:t>
            </a:r>
          </a:p>
        </p:txBody>
      </p:sp>
      <p:sp>
        <p:nvSpPr>
          <p:cNvPr id="132" name="Rounded Rectangle 131"/>
          <p:cNvSpPr/>
          <p:nvPr/>
        </p:nvSpPr>
        <p:spPr>
          <a:xfrm>
            <a:off x="3383280" y="4572000"/>
            <a:ext cx="5303520" cy="45720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Jalankan simulasi</a:t>
            </a:r>
          </a:p>
        </p:txBody>
      </p:sp>
      <p:sp>
        <p:nvSpPr>
          <p:cNvPr id="133" name="Rounded Rectangle 132"/>
          <p:cNvSpPr/>
          <p:nvPr/>
        </p:nvSpPr>
        <p:spPr>
          <a:xfrm>
            <a:off x="3383280" y="5120640"/>
            <a:ext cx="530352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Pilih variabel keluaran</a:t>
            </a:r>
          </a:p>
        </p:txBody>
      </p:sp>
      <p:sp>
        <p:nvSpPr>
          <p:cNvPr id="134" name="Rounded Rectangle 133"/>
          <p:cNvSpPr/>
          <p:nvPr/>
        </p:nvSpPr>
        <p:spPr>
          <a:xfrm>
            <a:off x="3383280" y="5669279"/>
            <a:ext cx="5303520" cy="45720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Ubah insentif kebijakan</a:t>
            </a:r>
          </a:p>
        </p:txBody>
      </p:sp>
      <p:sp>
        <p:nvSpPr>
          <p:cNvPr id="135" name="Rounded Rectangle 134"/>
          <p:cNvSpPr/>
          <p:nvPr/>
        </p:nvSpPr>
        <p:spPr>
          <a:xfrm>
            <a:off x="3383280" y="6217920"/>
            <a:ext cx="5303520" cy="457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Ubah konservasi lahan</a:t>
            </a:r>
          </a:p>
        </p:txBody>
      </p:sp>
      <p:sp>
        <p:nvSpPr>
          <p:cNvPr id="136" name="Rounded Rectangle 135"/>
          <p:cNvSpPr/>
          <p:nvPr/>
        </p:nvSpPr>
        <p:spPr>
          <a:xfrm>
            <a:off x="3383280" y="6766560"/>
            <a:ext cx="5303520" cy="45720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380" b="1" i="0">
                <a:solidFill>
                  <a:srgbClr val="1E7A43"/>
                </a:solidFill>
                <a:latin typeface="Calibri (MS) Bold"/>
              </a:rPr>
              <a:t>✓  </a:t>
            </a:r>
            <a:r>
              <a:rPr sz="1320" b="0" i="0">
                <a:solidFill>
                  <a:srgbClr val="14313B"/>
                </a:solidFill>
                <a:latin typeface="Calibri (MS)"/>
              </a:rPr>
              <a:t>Kembalikan ke BAU (reset)</a:t>
            </a:r>
          </a:p>
        </p:txBody>
      </p:sp>
      <p:sp>
        <p:nvSpPr>
          <p:cNvPr id="137" name="Rounded Rectangle 136"/>
          <p:cNvSpPr/>
          <p:nvPr/>
        </p:nvSpPr>
        <p:spPr>
          <a:xfrm>
            <a:off x="9144000" y="1783080"/>
            <a:ext cx="8321040" cy="5029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550" b="1" i="0">
                <a:solidFill>
                  <a:srgbClr val="FFFFFF"/>
                </a:solidFill>
                <a:latin typeface="Calibri (MS) Bold"/>
              </a:rPr>
              <a:t>Kemudahan penggunaan</a:t>
            </a:r>
            <a:r>
              <a:rPr sz="1210" b="0" i="0">
                <a:solidFill>
                  <a:srgbClr val="D7EEF2"/>
                </a:solidFill>
                <a:latin typeface="Calibri (MS)"/>
              </a:rPr>
              <a:t>   System Usability Scale (SUS), 10 responden</a:t>
            </a:r>
          </a:p>
        </p:txBody>
      </p:sp>
      <p:sp>
        <p:nvSpPr>
          <p:cNvPr id="138" name="TextBox 137"/>
          <p:cNvSpPr txBox="1"/>
          <p:nvPr/>
        </p:nvSpPr>
        <p:spPr>
          <a:xfrm>
            <a:off x="9144000" y="2377440"/>
            <a:ext cx="2926080" cy="1188720"/>
          </a:xfrm>
          <a:prstGeom prst="rect">
            <a:avLst/>
          </a:prstGeom>
          <a:noFill/>
        </p:spPr>
        <p:txBody>
          <a:bodyPr wrap="square" anchor="t" lIns="0" rIns="0" tIns="0" bIns="0">
            <a:spAutoFit/>
          </a:bodyPr>
          <a:lstStyle/>
          <a:p>
            <a:pPr algn="l">
              <a:spcAft>
                <a:spcPts val="400"/>
              </a:spcAft>
            </a:pPr>
            <a:r>
              <a:rPr sz="4600" b="1" i="0">
                <a:solidFill>
                  <a:srgbClr val="0B5E6E"/>
                </a:solidFill>
                <a:latin typeface="Calibri (MS) Bold"/>
              </a:rPr>
              <a:t>88,50</a:t>
            </a:r>
          </a:p>
          <a:p>
            <a:pPr algn="l">
              <a:spcAft>
                <a:spcPts val="400"/>
              </a:spcAft>
            </a:pPr>
            <a:r>
              <a:rPr sz="1210" b="0" i="0">
                <a:solidFill>
                  <a:srgbClr val="5E6E78"/>
                </a:solidFill>
                <a:latin typeface="Calibri (MS)"/>
              </a:rPr>
              <a:t>rata-rata skor SUS (0–100)</a:t>
            </a:r>
          </a:p>
        </p:txBody>
      </p:sp>
      <p:sp>
        <p:nvSpPr>
          <p:cNvPr id="139" name="Rectangle 138"/>
          <p:cNvSpPr/>
          <p:nvPr/>
        </p:nvSpPr>
        <p:spPr>
          <a:xfrm>
            <a:off x="12252960" y="2971800"/>
            <a:ext cx="4571999" cy="164592"/>
          </a:xfrm>
          <a:prstGeom prst="rect">
            <a:avLst/>
          </a:prstGeom>
          <a:solidFill>
            <a:srgbClr val="D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3885163" y="2880360"/>
            <a:ext cx="27432" cy="347472"/>
          </a:xfrm>
          <a:prstGeom prst="rect">
            <a:avLst/>
          </a:prstGeom>
          <a:solidFill>
            <a:srgbClr val="5E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2984480" y="2560320"/>
            <a:ext cx="1828800" cy="320040"/>
          </a:xfrm>
          <a:prstGeom prst="rect">
            <a:avLst/>
          </a:prstGeom>
          <a:noFill/>
        </p:spPr>
        <p:txBody>
          <a:bodyPr wrap="square" anchor="t" lIns="0" rIns="0" tIns="0" bIns="0">
            <a:spAutoFit/>
          </a:bodyPr>
          <a:lstStyle/>
          <a:p>
            <a:pPr algn="ctr">
              <a:spcAft>
                <a:spcPts val="400"/>
              </a:spcAft>
            </a:pPr>
            <a:r>
              <a:rPr sz="1030" b="0" i="0">
                <a:solidFill>
                  <a:srgbClr val="5E6E78"/>
                </a:solidFill>
                <a:latin typeface="Calibri (MS)"/>
              </a:rPr>
              <a:t>rata-rata normatif 68</a:t>
            </a:r>
          </a:p>
        </p:txBody>
      </p:sp>
      <p:sp>
        <p:nvSpPr>
          <p:cNvPr id="142" name="Rectangle 141"/>
          <p:cNvSpPr/>
          <p:nvPr/>
        </p:nvSpPr>
        <p:spPr>
          <a:xfrm>
            <a:off x="15485363" y="2880360"/>
            <a:ext cx="27432" cy="347472"/>
          </a:xfrm>
          <a:prstGeom prst="rect">
            <a:avLst/>
          </a:prstGeom>
          <a:solidFill>
            <a:srgbClr val="5E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3807440" y="3264408"/>
            <a:ext cx="1645920" cy="320040"/>
          </a:xfrm>
          <a:prstGeom prst="rect">
            <a:avLst/>
          </a:prstGeom>
          <a:noFill/>
        </p:spPr>
        <p:txBody>
          <a:bodyPr wrap="square" anchor="t" lIns="0" rIns="0" tIns="0" bIns="0">
            <a:spAutoFit/>
          </a:bodyPr>
          <a:lstStyle/>
          <a:p>
            <a:pPr algn="r">
              <a:spcAft>
                <a:spcPts val="400"/>
              </a:spcAft>
            </a:pPr>
            <a:r>
              <a:rPr sz="1030" b="0" i="0">
                <a:solidFill>
                  <a:srgbClr val="5E6E78"/>
                </a:solidFill>
                <a:latin typeface="Calibri (MS)"/>
              </a:rPr>
              <a:t>Excellent 85,5</a:t>
            </a:r>
          </a:p>
        </p:txBody>
      </p:sp>
      <p:sp>
        <p:nvSpPr>
          <p:cNvPr id="144" name="Rectangle 143"/>
          <p:cNvSpPr/>
          <p:nvPr/>
        </p:nvSpPr>
        <p:spPr>
          <a:xfrm>
            <a:off x="15979139" y="2880360"/>
            <a:ext cx="27432" cy="347472"/>
          </a:xfrm>
          <a:prstGeom prst="rect">
            <a:avLst/>
          </a:prstGeom>
          <a:solidFill>
            <a:srgbClr val="5E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6038576" y="3264408"/>
            <a:ext cx="1737360" cy="320040"/>
          </a:xfrm>
          <a:prstGeom prst="rect">
            <a:avLst/>
          </a:prstGeom>
          <a:noFill/>
        </p:spPr>
        <p:txBody>
          <a:bodyPr wrap="square" anchor="t" lIns="0" rIns="0" tIns="0" bIns="0">
            <a:spAutoFit/>
          </a:bodyPr>
          <a:lstStyle/>
          <a:p>
            <a:pPr algn="l">
              <a:spcAft>
                <a:spcPts val="400"/>
              </a:spcAft>
            </a:pPr>
            <a:r>
              <a:rPr sz="1030" b="0" i="0">
                <a:solidFill>
                  <a:srgbClr val="5E6E78"/>
                </a:solidFill>
                <a:latin typeface="Calibri (MS)"/>
              </a:rPr>
              <a:t>Best Imaginable 90,9</a:t>
            </a:r>
          </a:p>
        </p:txBody>
      </p:sp>
      <p:sp>
        <p:nvSpPr>
          <p:cNvPr id="146" name="Oval 145"/>
          <p:cNvSpPr/>
          <p:nvPr/>
        </p:nvSpPr>
        <p:spPr>
          <a:xfrm>
            <a:off x="15627096" y="2907792"/>
            <a:ext cx="292608" cy="292608"/>
          </a:xfrm>
          <a:prstGeom prst="ellipse">
            <a:avLst/>
          </a:prstGeom>
          <a:solidFill>
            <a:srgbClr val="E460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5224759" y="2514600"/>
            <a:ext cx="1097280" cy="320040"/>
          </a:xfrm>
          <a:prstGeom prst="rect">
            <a:avLst/>
          </a:prstGeom>
          <a:noFill/>
        </p:spPr>
        <p:txBody>
          <a:bodyPr wrap="square" anchor="t" lIns="0" rIns="0" tIns="0" bIns="0">
            <a:spAutoFit/>
          </a:bodyPr>
          <a:lstStyle/>
          <a:p>
            <a:pPr algn="ctr">
              <a:spcAft>
                <a:spcPts val="400"/>
              </a:spcAft>
            </a:pPr>
            <a:r>
              <a:rPr sz="1150" b="1" i="0">
                <a:solidFill>
                  <a:srgbClr val="E4604F"/>
                </a:solidFill>
                <a:latin typeface="Calibri (MS) Bold"/>
              </a:rPr>
              <a:t>88,50</a:t>
            </a:r>
          </a:p>
        </p:txBody>
      </p:sp>
      <p:graphicFrame>
        <p:nvGraphicFramePr>
          <p:cNvPr id="148" name="Chart 147"/>
          <p:cNvGraphicFramePr>
            <a:graphicFrameLocks noGrp="1"/>
          </p:cNvGraphicFramePr>
          <p:nvPr/>
        </p:nvGraphicFramePr>
        <p:xfrm>
          <a:off x="9144000" y="3977639"/>
          <a:ext cx="8321040" cy="3108960"/>
        </p:xfrm>
        <a:graphic>
          <a:graphicData uri="http://schemas.openxmlformats.org/drawingml/2006/chart">
            <c:chart xmlns:c="http://schemas.openxmlformats.org/drawingml/2006/chart" r:id="rId9"/>
          </a:graphicData>
        </a:graphic>
      </p:graphicFrame>
      <p:sp>
        <p:nvSpPr>
          <p:cNvPr id="149" name="TextBox 148"/>
          <p:cNvSpPr txBox="1"/>
          <p:nvPr/>
        </p:nvSpPr>
        <p:spPr>
          <a:xfrm>
            <a:off x="9144000" y="7086600"/>
            <a:ext cx="8321040" cy="365760"/>
          </a:xfrm>
          <a:prstGeom prst="rect">
            <a:avLst/>
          </a:prstGeom>
          <a:noFill/>
        </p:spPr>
        <p:txBody>
          <a:bodyPr wrap="square" anchor="t" lIns="0" rIns="0" tIns="0" bIns="0">
            <a:spAutoFit/>
          </a:bodyPr>
          <a:lstStyle/>
          <a:p>
            <a:pPr algn="l">
              <a:spcAft>
                <a:spcPts val="400"/>
              </a:spcAft>
            </a:pPr>
            <a:r>
              <a:rPr sz="1150" b="0" i="1">
                <a:solidFill>
                  <a:srgbClr val="5E6E78"/>
                </a:solidFill>
                <a:latin typeface="Calibri (MS)"/>
              </a:rPr>
              <a:t>8 dari 10 responden memberi skor 85 atau lebih (batang gelap).</a:t>
            </a:r>
          </a:p>
        </p:txBody>
      </p:sp>
      <p:sp>
        <p:nvSpPr>
          <p:cNvPr id="150" name="Rounded Rectangle 149"/>
          <p:cNvSpPr/>
          <p:nvPr/>
        </p:nvSpPr>
        <p:spPr>
          <a:xfrm>
            <a:off x="822960" y="786384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Aplikasi berjalan sesuai rancangan dan dinilai mudah dipakai: skor 88,50 jauh di atas rata-rata normatif SUS (68).</a:t>
            </a:r>
          </a:p>
        </p:txBody>
      </p:sp>
      <p:sp>
        <p:nvSpPr>
          <p:cNvPr id="151" name="TextBox 15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4.9.2–4.9.3; Brooke (2013); Bangor et al.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