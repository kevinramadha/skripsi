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91" r:id="rId41"/>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41"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Tiga puluh lima parameter saya kelompokkan menurut cara penetapannya: data resmi, persamaan stok-aliran, regulasi, asumsi pemodelan, dan normalisasi, ditambah dua variabel kebijakan. Jenis penetapan ini menentukan perlakuannya. Hanya parameter yang belum pasti yang dikalibrasi: batas TPK dan laju demolisi di Tahap 1, laju konversi di Tahap 2, serta LPE dan LPD diperiksa di Tahap 3. Hasilnya tidak ada nilai yang diganti. Hampir semua parameter diuji sensitivitas plus-minus 10 persen, dan parameter asumsi diuji pada seluruh rentang nilainya. Nilai setiap parameter ada di Lampiran 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Penetapan Parameter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35 parameter dari lima jenis penetapan; hanya parameter yang belum pasti yang dikalibrasi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2C · Parameterisasi</a:t>
              </a:r>
            </a:p>
          </p:txBody>
        </p:sp>
      </p:grpSp>
      <p:graphicFrame>
        <p:nvGraphicFramePr>
          <p:cNvPr id="70" name="Table 69"/>
          <p:cNvGraphicFramePr>
            <a:graphicFrameLocks noGrp="1"/>
          </p:cNvGraphicFramePr>
          <p:nvPr/>
        </p:nvGraphicFramePr>
        <p:xfrm>
          <a:off x="822960" y="1783080"/>
          <a:ext cx="8183880" cy="6428232"/>
        </p:xfrm>
        <a:graphic>
          <a:graphicData uri="http://schemas.openxmlformats.org/drawingml/2006/table">
            <a:tbl>
              <a:tblPr firstRow="1" bandRow="1">
                <a:tableStyleId>{5C22544A-7EE6-4342-B048-85BDC9FD1C3A}</a:tableStyleId>
              </a:tblPr>
              <a:tblGrid>
                <a:gridCol w="411480"/>
                <a:gridCol w="2651760"/>
                <a:gridCol w="1325880"/>
                <a:gridCol w="1691640"/>
                <a:gridCol w="2103120"/>
              </a:tblGrid>
              <a:tr h="338328">
                <a:tc>
                  <a:txBody>
                    <a:bodyPr wrap="square"/>
                    <a:lstStyle/>
                    <a:p>
                      <a:pPr algn="ctr"/>
                      <a:r>
                        <a:rPr sz="1090" b="1" i="0">
                          <a:solidFill>
                            <a:srgbClr val="FFFFFF"/>
                          </a:solidFill>
                          <a:latin typeface="Calibri (MS) Bold"/>
                        </a:rPr>
                        <a:t>No</a:t>
                      </a:r>
                    </a:p>
                  </a:txBody>
                  <a:tcPr marL="73152" marR="73152" marT="36576" marB="36576" anchor="ctr">
                    <a:solidFill>
                      <a:srgbClr val="0B5E6E"/>
                    </a:solidFill>
                  </a:tcPr>
                </a:tc>
                <a:tc>
                  <a:txBody>
                    <a:bodyPr wrap="square"/>
                    <a:lstStyle/>
                    <a:p>
                      <a:r>
                        <a:rPr sz="1090" b="1" i="0">
                          <a:solidFill>
                            <a:srgbClr val="FFFFFF"/>
                          </a:solidFill>
                          <a:latin typeface="Calibri (MS) Bold"/>
                        </a:rPr>
                        <a:t>Parameter</a:t>
                      </a:r>
                    </a:p>
                  </a:txBody>
                  <a:tcPr marL="73152" marR="73152" marT="36576" marB="36576" anchor="ctr">
                    <a:solidFill>
                      <a:srgbClr val="0B5E6E"/>
                    </a:solidFill>
                  </a:tcPr>
                </a:tc>
                <a:tc>
                  <a:txBody>
                    <a:bodyPr wrap="square"/>
                    <a:lstStyle/>
                    <a:p>
                      <a:r>
                        <a:rPr sz="1090" b="1" i="0">
                          <a:solidFill>
                            <a:srgbClr val="FFFFFF"/>
                          </a:solidFill>
                          <a:latin typeface="Calibri (MS) Bold"/>
                        </a:rPr>
                        <a:t>Jenis penetapan</a:t>
                      </a:r>
                    </a:p>
                  </a:txBody>
                  <a:tcPr marL="73152" marR="73152" marT="36576" marB="36576" anchor="ctr">
                    <a:solidFill>
                      <a:srgbClr val="0B5E6E"/>
                    </a:solidFill>
                  </a:tcPr>
                </a:tc>
                <a:tc>
                  <a:txBody>
                    <a:bodyPr wrap="square"/>
                    <a:lstStyle/>
                    <a:p>
                      <a:pPr algn="ctr"/>
                      <a:r>
                        <a:rPr sz="1090" b="1" i="0">
                          <a:solidFill>
                            <a:srgbClr val="FFFFFF"/>
                          </a:solidFill>
                          <a:latin typeface="Calibri (MS) Bold"/>
                        </a:rPr>
                        <a:t>Dikalibrasi?</a:t>
                      </a:r>
                    </a:p>
                  </a:txBody>
                  <a:tcPr marL="73152" marR="73152" marT="36576" marB="36576" anchor="ctr">
                    <a:solidFill>
                      <a:srgbClr val="0B5E6E"/>
                    </a:solidFill>
                  </a:tcPr>
                </a:tc>
                <a:tc>
                  <a:txBody>
                    <a:bodyPr wrap="square"/>
                    <a:lstStyle/>
                    <a:p>
                      <a:pPr algn="ctr"/>
                      <a:r>
                        <a:rPr sz="1090" b="1" i="0">
                          <a:solidFill>
                            <a:srgbClr val="FFFFFF"/>
                          </a:solidFill>
                          <a:latin typeface="Calibri (MS) Bold"/>
                        </a:rPr>
                        <a:t>Uji sensitivitas</a:t>
                      </a:r>
                    </a:p>
                  </a:txBody>
                  <a:tcPr marL="73152" marR="73152" marT="36576" marB="36576" anchor="ctr">
                    <a:solidFill>
                      <a:srgbClr val="0B5E6E"/>
                    </a:solidFill>
                  </a:tcPr>
                </a:tc>
              </a:tr>
              <a:tr h="338328">
                <a:tc>
                  <a:txBody>
                    <a:bodyPr wrap="square"/>
                    <a:lstStyle/>
                    <a:p>
                      <a:pPr algn="ctr"/>
                      <a:r>
                        <a:rPr sz="1090" b="0" i="0">
                          <a:solidFill>
                            <a:srgbClr val="14313B"/>
                          </a:solidFill>
                          <a:latin typeface="Calibri (MS)"/>
                        </a:rPr>
                        <a:t>1</a:t>
                      </a:r>
                    </a:p>
                  </a:txBody>
                  <a:tcPr marL="73152" marR="73152" marT="36576" marB="36576" anchor="ctr">
                    <a:solidFill>
                      <a:srgbClr val="FFFFFF"/>
                    </a:solidFill>
                  </a:tcPr>
                </a:tc>
                <a:tc>
                  <a:txBody>
                    <a:bodyPr wrap="square"/>
                    <a:lstStyle/>
                    <a:p>
                      <a:r>
                        <a:rPr sz="1090" b="0" i="0">
                          <a:solidFill>
                            <a:srgbClr val="14313B"/>
                          </a:solidFill>
                          <a:latin typeface="Calibri (MS)"/>
                        </a:rPr>
                        <a:t>Pengeluaran per kunjungan</a:t>
                      </a:r>
                    </a:p>
                  </a:txBody>
                  <a:tcPr marL="73152" marR="73152" marT="36576" marB="36576" anchor="ctr">
                    <a:solidFill>
                      <a:srgbClr val="FFFFFF"/>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2</a:t>
                      </a:r>
                    </a:p>
                  </a:txBody>
                  <a:tcPr marL="73152" marR="73152" marT="36576" marB="36576" anchor="ctr">
                    <a:solidFill>
                      <a:srgbClr val="EAF8FA"/>
                    </a:solidFill>
                  </a:tcPr>
                </a:tc>
                <a:tc>
                  <a:txBody>
                    <a:bodyPr wrap="square"/>
                    <a:lstStyle/>
                    <a:p>
                      <a:r>
                        <a:rPr sz="1090" b="0" i="0">
                          <a:solidFill>
                            <a:srgbClr val="14313B"/>
                          </a:solidFill>
                          <a:latin typeface="Calibri (MS)"/>
                        </a:rPr>
                        <a:t>Rasio nilai tambah pariwisata</a:t>
                      </a:r>
                    </a:p>
                  </a:txBody>
                  <a:tcPr marL="73152" marR="73152" marT="36576" marB="36576" anchor="ctr">
                    <a:solidFill>
                      <a:srgbClr val="EAF8FA"/>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3</a:t>
                      </a:r>
                    </a:p>
                  </a:txBody>
                  <a:tcPr marL="73152" marR="73152" marT="36576" marB="36576" anchor="ctr">
                    <a:solidFill>
                      <a:srgbClr val="FFFFFF"/>
                    </a:solidFill>
                  </a:tcPr>
                </a:tc>
                <a:tc>
                  <a:txBody>
                    <a:bodyPr wrap="square"/>
                    <a:lstStyle/>
                    <a:p>
                      <a:r>
                        <a:rPr sz="1090" b="0" i="0">
                          <a:solidFill>
                            <a:srgbClr val="14313B"/>
                          </a:solidFill>
                          <a:latin typeface="Calibri (MS)"/>
                        </a:rPr>
                        <a:t>Rasio investasi terhadap PDRB</a:t>
                      </a:r>
                    </a:p>
                  </a:txBody>
                  <a:tcPr marL="73152" marR="73152" marT="36576" marB="36576" anchor="ctr">
                    <a:solidFill>
                      <a:srgbClr val="FFFFFF"/>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4</a:t>
                      </a:r>
                    </a:p>
                  </a:txBody>
                  <a:tcPr marL="73152" marR="73152" marT="36576" marB="36576" anchor="ctr">
                    <a:solidFill>
                      <a:srgbClr val="EAF8FA"/>
                    </a:solidFill>
                  </a:tcPr>
                </a:tc>
                <a:tc>
                  <a:txBody>
                    <a:bodyPr wrap="square"/>
                    <a:lstStyle/>
                    <a:p>
                      <a:r>
                        <a:rPr sz="1090" b="0" i="0">
                          <a:solidFill>
                            <a:srgbClr val="14313B"/>
                          </a:solidFill>
                          <a:latin typeface="Calibri (MS)"/>
                        </a:rPr>
                        <a:t>Proporsi wisatawan menginap</a:t>
                      </a:r>
                    </a:p>
                  </a:txBody>
                  <a:tcPr marL="73152" marR="73152" marT="36576" marB="36576" anchor="ctr">
                    <a:solidFill>
                      <a:srgbClr val="EAF8FA"/>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5</a:t>
                      </a:r>
                    </a:p>
                  </a:txBody>
                  <a:tcPr marL="73152" marR="73152" marT="36576" marB="36576" anchor="ctr">
                    <a:solidFill>
                      <a:srgbClr val="FFFFFF"/>
                    </a:solidFill>
                  </a:tcPr>
                </a:tc>
                <a:tc>
                  <a:txBody>
                    <a:bodyPr wrap="square"/>
                    <a:lstStyle/>
                    <a:p>
                      <a:r>
                        <a:rPr sz="1090" b="0" i="0">
                          <a:solidFill>
                            <a:srgbClr val="14313B"/>
                          </a:solidFill>
                          <a:latin typeface="Calibri (MS)"/>
                        </a:rPr>
                        <a:t>Rata-rata lama menginap</a:t>
                      </a:r>
                    </a:p>
                  </a:txBody>
                  <a:tcPr marL="73152" marR="73152" marT="36576" marB="36576" anchor="ctr">
                    <a:solidFill>
                      <a:srgbClr val="FFFFFF"/>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6</a:t>
                      </a:r>
                    </a:p>
                  </a:txBody>
                  <a:tcPr marL="73152" marR="73152" marT="36576" marB="36576" anchor="ctr">
                    <a:solidFill>
                      <a:srgbClr val="EAF8FA"/>
                    </a:solidFill>
                  </a:tcPr>
                </a:tc>
                <a:tc>
                  <a:txBody>
                    <a:bodyPr wrap="square"/>
                    <a:lstStyle/>
                    <a:p>
                      <a:r>
                        <a:rPr sz="1090" b="0" i="0">
                          <a:solidFill>
                            <a:srgbClr val="14313B"/>
                          </a:solidFill>
                          <a:latin typeface="Calibri (MS)"/>
                        </a:rPr>
                        <a:t>Penghunian ganda kamar (TPG)</a:t>
                      </a:r>
                    </a:p>
                  </a:txBody>
                  <a:tcPr marL="73152" marR="73152" marT="36576" marB="36576" anchor="ctr">
                    <a:solidFill>
                      <a:srgbClr val="EAF8FA"/>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7</a:t>
                      </a:r>
                    </a:p>
                  </a:txBody>
                  <a:tcPr marL="73152" marR="73152" marT="36576" marB="36576" anchor="ctr">
                    <a:solidFill>
                      <a:srgbClr val="FFFFFF"/>
                    </a:solidFill>
                  </a:tcPr>
                </a:tc>
                <a:tc>
                  <a:txBody>
                    <a:bodyPr wrap="square"/>
                    <a:lstStyle/>
                    <a:p>
                      <a:r>
                        <a:rPr sz="1090" b="0" i="0">
                          <a:solidFill>
                            <a:srgbClr val="14313B"/>
                          </a:solidFill>
                          <a:latin typeface="Calibri (MS)"/>
                        </a:rPr>
                        <a:t>Rata-rata kamar per unit akomodasi</a:t>
                      </a:r>
                    </a:p>
                  </a:txBody>
                  <a:tcPr marL="73152" marR="73152" marT="36576" marB="36576" anchor="ctr">
                    <a:solidFill>
                      <a:srgbClr val="FFFFFF"/>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8</a:t>
                      </a:r>
                    </a:p>
                  </a:txBody>
                  <a:tcPr marL="73152" marR="73152" marT="36576" marB="36576" anchor="ctr">
                    <a:solidFill>
                      <a:srgbClr val="EAF8FA"/>
                    </a:solidFill>
                  </a:tcPr>
                </a:tc>
                <a:tc>
                  <a:txBody>
                    <a:bodyPr wrap="square"/>
                    <a:lstStyle/>
                    <a:p>
                      <a:r>
                        <a:rPr sz="1090" b="0" i="0">
                          <a:solidFill>
                            <a:srgbClr val="14313B"/>
                          </a:solidFill>
                          <a:latin typeface="Calibri (MS)"/>
                        </a:rPr>
                        <a:t>Malam tersedia per kamar</a:t>
                      </a:r>
                    </a:p>
                  </a:txBody>
                  <a:tcPr marL="73152" marR="73152" marT="36576" marB="36576" anchor="ctr">
                    <a:solidFill>
                      <a:srgbClr val="EAF8FA"/>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9</a:t>
                      </a:r>
                    </a:p>
                  </a:txBody>
                  <a:tcPr marL="73152" marR="73152" marT="36576" marB="36576" anchor="ctr">
                    <a:solidFill>
                      <a:srgbClr val="FFFFFF"/>
                    </a:solidFill>
                  </a:tcPr>
                </a:tc>
                <a:tc>
                  <a:txBody>
                    <a:bodyPr wrap="square"/>
                    <a:lstStyle/>
                    <a:p>
                      <a:r>
                        <a:rPr sz="1090" b="0" i="0">
                          <a:solidFill>
                            <a:srgbClr val="14313B"/>
                          </a:solidFill>
                          <a:latin typeface="Calibri (MS)"/>
                        </a:rPr>
                        <a:t>Luas lahan tersedia</a:t>
                      </a:r>
                    </a:p>
                  </a:txBody>
                  <a:tcPr marL="73152" marR="73152" marT="36576" marB="36576" anchor="ctr">
                    <a:solidFill>
                      <a:srgbClr val="FFFFFF"/>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c>
                  <a:txBody>
                    <a:bodyPr wrap="square"/>
                    <a:lstStyle/>
                    <a:p>
                      <a:r>
                        <a:rPr sz="1090" b="0" i="0">
                          <a:solidFill>
                            <a:srgbClr val="14313B"/>
                          </a:solidFill>
                          <a:latin typeface="Calibri (MS)"/>
                        </a:rPr>
                        <a:t>Intensitas tenaga kerja awal</a:t>
                      </a:r>
                    </a:p>
                  </a:txBody>
                  <a:tcPr marL="73152" marR="73152" marT="36576" marB="36576" anchor="ctr">
                    <a:solidFill>
                      <a:srgbClr val="EAF8FA"/>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11</a:t>
                      </a:r>
                    </a:p>
                  </a:txBody>
                  <a:tcPr marL="73152" marR="73152" marT="36576" marB="36576" anchor="ctr">
                    <a:solidFill>
                      <a:srgbClr val="FFFFFF"/>
                    </a:solidFill>
                  </a:tcPr>
                </a:tc>
                <a:tc>
                  <a:txBody>
                    <a:bodyPr wrap="square"/>
                    <a:lstStyle/>
                    <a:p>
                      <a:r>
                        <a:rPr sz="1090" b="0" i="0">
                          <a:solidFill>
                            <a:srgbClr val="14313B"/>
                          </a:solidFill>
                          <a:latin typeface="Calibri (MS)"/>
                        </a:rPr>
                        <a:t>Laju kenaikan produktivitas</a:t>
                      </a:r>
                    </a:p>
                  </a:txBody>
                  <a:tcPr marL="73152" marR="73152" marT="36576" marB="36576" anchor="ctr">
                    <a:solidFill>
                      <a:srgbClr val="FFFFFF"/>
                    </a:solidFill>
                  </a:tcPr>
                </a:tc>
                <a:tc>
                  <a:txBody>
                    <a:bodyPr wrap="square"/>
                    <a:lstStyle/>
                    <a:p>
                      <a:r>
                        <a:rPr sz="1090" b="1" i="0">
                          <a:solidFill>
                            <a:srgbClr val="0B5E6E"/>
                          </a:solidFill>
                          <a:latin typeface="Calibri (MS)"/>
                        </a:rPr>
                        <a:t>Data resmi</a:t>
                      </a:r>
                    </a:p>
                  </a:txBody>
                  <a:tcPr marL="73152" marR="73152" marT="36576" marB="36576" anchor="ctr">
                    <a:solidFill>
                      <a:srgbClr val="D7EEF2"/>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12</a:t>
                      </a:r>
                    </a:p>
                  </a:txBody>
                  <a:tcPr marL="73152" marR="73152" marT="36576" marB="36576" anchor="ctr">
                    <a:solidFill>
                      <a:srgbClr val="EAF8FA"/>
                    </a:solidFill>
                  </a:tcPr>
                </a:tc>
                <a:tc>
                  <a:txBody>
                    <a:bodyPr wrap="square"/>
                    <a:lstStyle/>
                    <a:p>
                      <a:r>
                        <a:rPr sz="1090" b="0" i="0">
                          <a:solidFill>
                            <a:srgbClr val="14313B"/>
                          </a:solidFill>
                          <a:latin typeface="Calibri (MS)"/>
                        </a:rPr>
                        <a:t>Laju pertumbuhan eksternal (LPE)</a:t>
                      </a:r>
                    </a:p>
                  </a:txBody>
                  <a:tcPr marL="73152" marR="73152" marT="36576" marB="36576" anchor="ctr">
                    <a:solidFill>
                      <a:srgbClr val="EAF8FA"/>
                    </a:solidFill>
                  </a:tcPr>
                </a:tc>
                <a:tc>
                  <a:txBody>
                    <a:bodyPr wrap="square"/>
                    <a:lstStyle/>
                    <a:p>
                      <a:r>
                        <a:rPr sz="1090" b="1" i="0">
                          <a:solidFill>
                            <a:srgbClr val="0B5E6E"/>
                          </a:solidFill>
                          <a:latin typeface="Calibri (MS)"/>
                        </a:rPr>
                        <a:t>Stok-aliran</a:t>
                      </a:r>
                    </a:p>
                  </a:txBody>
                  <a:tcPr marL="73152" marR="73152" marT="36576" marB="36576" anchor="ctr">
                    <a:solidFill>
                      <a:srgbClr val="CDEFF5"/>
                    </a:solidFill>
                  </a:tcPr>
                </a:tc>
                <a:tc>
                  <a:txBody>
                    <a:bodyPr wrap="square"/>
                    <a:lstStyle/>
                    <a:p>
                      <a:pPr algn="ctr"/>
                      <a:r>
                        <a:rPr sz="1090" b="0" i="0">
                          <a:solidFill>
                            <a:srgbClr val="14313B"/>
                          </a:solidFill>
                          <a:latin typeface="Calibri (MS)"/>
                        </a:rPr>
                        <a:t>Tahap 3 (diagnostik)</a:t>
                      </a:r>
                    </a:p>
                  </a:txBody>
                  <a:tcPr marL="73152" marR="73152" marT="36576" marB="36576" anchor="ctr">
                    <a:solidFill>
                      <a:srgbClr val="C9F0D6"/>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13</a:t>
                      </a:r>
                    </a:p>
                  </a:txBody>
                  <a:tcPr marL="73152" marR="73152" marT="36576" marB="36576" anchor="ctr">
                    <a:solidFill>
                      <a:srgbClr val="FFFFFF"/>
                    </a:solidFill>
                  </a:tcPr>
                </a:tc>
                <a:tc>
                  <a:txBody>
                    <a:bodyPr wrap="square"/>
                    <a:lstStyle/>
                    <a:p>
                      <a:r>
                        <a:rPr sz="1090" b="0" i="0">
                          <a:solidFill>
                            <a:srgbClr val="14313B"/>
                          </a:solidFill>
                          <a:latin typeface="Calibri (MS)"/>
                        </a:rPr>
                        <a:t>Laju penurunan dasar (LPD)</a:t>
                      </a:r>
                    </a:p>
                  </a:txBody>
                  <a:tcPr marL="73152" marR="73152" marT="36576" marB="36576" anchor="ctr">
                    <a:solidFill>
                      <a:srgbClr val="FFFFFF"/>
                    </a:solidFill>
                  </a:tcPr>
                </a:tc>
                <a:tc>
                  <a:txBody>
                    <a:bodyPr wrap="square"/>
                    <a:lstStyle/>
                    <a:p>
                      <a:r>
                        <a:rPr sz="1090" b="1" i="0">
                          <a:solidFill>
                            <a:srgbClr val="0B5E6E"/>
                          </a:solidFill>
                          <a:latin typeface="Calibri (MS)"/>
                        </a:rPr>
                        <a:t>Stok-aliran</a:t>
                      </a:r>
                    </a:p>
                  </a:txBody>
                  <a:tcPr marL="73152" marR="73152" marT="36576" marB="36576" anchor="ctr">
                    <a:solidFill>
                      <a:srgbClr val="CDEFF5"/>
                    </a:solidFill>
                  </a:tcPr>
                </a:tc>
                <a:tc>
                  <a:txBody>
                    <a:bodyPr wrap="square"/>
                    <a:lstStyle/>
                    <a:p>
                      <a:pPr algn="ctr"/>
                      <a:r>
                        <a:rPr sz="1090" b="0" i="0">
                          <a:solidFill>
                            <a:srgbClr val="14313B"/>
                          </a:solidFill>
                          <a:latin typeface="Calibri (MS)"/>
                        </a:rPr>
                        <a:t>Tahap 3 (diagnostik)</a:t>
                      </a:r>
                    </a:p>
                  </a:txBody>
                  <a:tcPr marL="73152" marR="73152" marT="36576" marB="36576" anchor="ctr">
                    <a:solidFill>
                      <a:srgbClr val="C9F0D6"/>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14</a:t>
                      </a:r>
                    </a:p>
                  </a:txBody>
                  <a:tcPr marL="73152" marR="73152" marT="36576" marB="36576" anchor="ctr">
                    <a:solidFill>
                      <a:srgbClr val="EAF8FA"/>
                    </a:solidFill>
                  </a:tcPr>
                </a:tc>
                <a:tc>
                  <a:txBody>
                    <a:bodyPr wrap="square"/>
                    <a:lstStyle/>
                    <a:p>
                      <a:r>
                        <a:rPr sz="1090" b="0" i="0">
                          <a:solidFill>
                            <a:srgbClr val="14313B"/>
                          </a:solidFill>
                          <a:latin typeface="Calibri (MS)"/>
                        </a:rPr>
                        <a:t>Sensitivitas konstruksi thd TPK</a:t>
                      </a:r>
                    </a:p>
                  </a:txBody>
                  <a:tcPr marL="73152" marR="73152" marT="36576" marB="36576" anchor="ctr">
                    <a:solidFill>
                      <a:srgbClr val="EAF8FA"/>
                    </a:solidFill>
                  </a:tcPr>
                </a:tc>
                <a:tc>
                  <a:txBody>
                    <a:bodyPr wrap="square"/>
                    <a:lstStyle/>
                    <a:p>
                      <a:r>
                        <a:rPr sz="1090" b="1" i="0">
                          <a:solidFill>
                            <a:srgbClr val="0B5E6E"/>
                          </a:solidFill>
                          <a:latin typeface="Calibri (MS)"/>
                        </a:rPr>
                        <a:t>Stok-aliran</a:t>
                      </a:r>
                    </a:p>
                  </a:txBody>
                  <a:tcPr marL="73152" marR="73152" marT="36576" marB="36576" anchor="ctr">
                    <a:solidFill>
                      <a:srgbClr val="CDEFF5"/>
                    </a:solidFill>
                  </a:tcPr>
                </a:tc>
                <a:tc>
                  <a:txBody>
                    <a:bodyPr wrap="square"/>
                    <a:lstStyle/>
                    <a:p>
                      <a:pPr algn="ctr"/>
                      <a:r>
                        <a:rPr sz="1090" b="0" i="0">
                          <a:solidFill>
                            <a:srgbClr val="14313B"/>
                          </a:solidFill>
                          <a:latin typeface="Calibri (MS)"/>
                        </a:rPr>
                        <a:t>Ikut Tahap 1</a:t>
                      </a:r>
                    </a:p>
                  </a:txBody>
                  <a:tcPr marL="73152" marR="73152" marT="36576" marB="36576" anchor="ctr">
                    <a:solidFill>
                      <a:srgbClr val="C9F0D6"/>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15</a:t>
                      </a:r>
                    </a:p>
                  </a:txBody>
                  <a:tcPr marL="73152" marR="73152" marT="36576" marB="36576" anchor="ctr">
                    <a:solidFill>
                      <a:srgbClr val="FFFFFF"/>
                    </a:solidFill>
                  </a:tcPr>
                </a:tc>
                <a:tc>
                  <a:txBody>
                    <a:bodyPr wrap="square"/>
                    <a:lstStyle/>
                    <a:p>
                      <a:r>
                        <a:rPr sz="1090" b="0" i="0">
                          <a:solidFill>
                            <a:srgbClr val="14313B"/>
                          </a:solidFill>
                          <a:latin typeface="Calibri (MS)"/>
                        </a:rPr>
                        <a:t>Batas TPK pemicu konstruksi</a:t>
                      </a:r>
                    </a:p>
                  </a:txBody>
                  <a:tcPr marL="73152" marR="73152" marT="36576" marB="36576" anchor="ctr">
                    <a:solidFill>
                      <a:srgbClr val="FFFFFF"/>
                    </a:solidFill>
                  </a:tcPr>
                </a:tc>
                <a:tc>
                  <a:txBody>
                    <a:bodyPr wrap="square"/>
                    <a:lstStyle/>
                    <a:p>
                      <a:r>
                        <a:rPr sz="1090" b="1" i="0">
                          <a:solidFill>
                            <a:srgbClr val="0B5E6E"/>
                          </a:solidFill>
                          <a:latin typeface="Calibri (MS)"/>
                        </a:rPr>
                        <a:t>Stok-aliran</a:t>
                      </a:r>
                    </a:p>
                  </a:txBody>
                  <a:tcPr marL="73152" marR="73152" marT="36576" marB="36576" anchor="ctr">
                    <a:solidFill>
                      <a:srgbClr val="CDEFF5"/>
                    </a:solidFill>
                  </a:tcPr>
                </a:tc>
                <a:tc>
                  <a:txBody>
                    <a:bodyPr wrap="square"/>
                    <a:lstStyle/>
                    <a:p>
                      <a:pPr algn="ctr"/>
                      <a:r>
                        <a:rPr sz="1090" b="0" i="0">
                          <a:solidFill>
                            <a:srgbClr val="14313B"/>
                          </a:solidFill>
                          <a:latin typeface="Calibri (MS)"/>
                        </a:rPr>
                        <a:t>Tahap 1</a:t>
                      </a:r>
                    </a:p>
                  </a:txBody>
                  <a:tcPr marL="73152" marR="73152" marT="36576" marB="36576" anchor="ctr">
                    <a:solidFill>
                      <a:srgbClr val="C9F0D6"/>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16</a:t>
                      </a:r>
                    </a:p>
                  </a:txBody>
                  <a:tcPr marL="73152" marR="73152" marT="36576" marB="36576" anchor="ctr">
                    <a:solidFill>
                      <a:srgbClr val="EAF8FA"/>
                    </a:solidFill>
                  </a:tcPr>
                </a:tc>
                <a:tc>
                  <a:txBody>
                    <a:bodyPr wrap="square"/>
                    <a:lstStyle/>
                    <a:p>
                      <a:r>
                        <a:rPr sz="1090" b="0" i="0">
                          <a:solidFill>
                            <a:srgbClr val="14313B"/>
                          </a:solidFill>
                          <a:latin typeface="Calibri (MS)"/>
                        </a:rPr>
                        <a:t>Sensitivitas ODTW thd investasi</a:t>
                      </a:r>
                    </a:p>
                  </a:txBody>
                  <a:tcPr marL="73152" marR="73152" marT="36576" marB="36576" anchor="ctr">
                    <a:solidFill>
                      <a:srgbClr val="EAF8FA"/>
                    </a:solidFill>
                  </a:tcPr>
                </a:tc>
                <a:tc>
                  <a:txBody>
                    <a:bodyPr wrap="square"/>
                    <a:lstStyle/>
                    <a:p>
                      <a:r>
                        <a:rPr sz="1090" b="1" i="0">
                          <a:solidFill>
                            <a:srgbClr val="0B5E6E"/>
                          </a:solidFill>
                          <a:latin typeface="Calibri (MS)"/>
                        </a:rPr>
                        <a:t>Stok-aliran</a:t>
                      </a:r>
                    </a:p>
                  </a:txBody>
                  <a:tcPr marL="73152" marR="73152" marT="36576" marB="36576" anchor="ctr">
                    <a:solidFill>
                      <a:srgbClr val="CDEFF5"/>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17</a:t>
                      </a:r>
                    </a:p>
                  </a:txBody>
                  <a:tcPr marL="73152" marR="73152" marT="36576" marB="36576" anchor="ctr">
                    <a:solidFill>
                      <a:srgbClr val="FFFFFF"/>
                    </a:solidFill>
                  </a:tcPr>
                </a:tc>
                <a:tc>
                  <a:txBody>
                    <a:bodyPr wrap="square"/>
                    <a:lstStyle/>
                    <a:p>
                      <a:r>
                        <a:rPr sz="1090" b="0" i="0">
                          <a:solidFill>
                            <a:srgbClr val="14313B"/>
                          </a:solidFill>
                          <a:latin typeface="Calibri (MS)"/>
                        </a:rPr>
                        <a:t>Pembangunan ODTW non-investasi</a:t>
                      </a:r>
                    </a:p>
                  </a:txBody>
                  <a:tcPr marL="73152" marR="73152" marT="36576" marB="36576" anchor="ctr">
                    <a:solidFill>
                      <a:srgbClr val="FFFFFF"/>
                    </a:solidFill>
                  </a:tcPr>
                </a:tc>
                <a:tc>
                  <a:txBody>
                    <a:bodyPr wrap="square"/>
                    <a:lstStyle/>
                    <a:p>
                      <a:r>
                        <a:rPr sz="1090" b="1" i="0">
                          <a:solidFill>
                            <a:srgbClr val="0B5E6E"/>
                          </a:solidFill>
                          <a:latin typeface="Calibri (MS)"/>
                        </a:rPr>
                        <a:t>Stok-aliran</a:t>
                      </a:r>
                    </a:p>
                  </a:txBody>
                  <a:tcPr marL="73152" marR="73152" marT="36576" marB="36576" anchor="ctr">
                    <a:solidFill>
                      <a:srgbClr val="CDEFF5"/>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18</a:t>
                      </a:r>
                    </a:p>
                  </a:txBody>
                  <a:tcPr marL="73152" marR="73152" marT="36576" marB="36576" anchor="ctr">
                    <a:solidFill>
                      <a:srgbClr val="EAF8FA"/>
                    </a:solidFill>
                  </a:tcPr>
                </a:tc>
                <a:tc>
                  <a:txBody>
                    <a:bodyPr wrap="square"/>
                    <a:lstStyle/>
                    <a:p>
                      <a:r>
                        <a:rPr sz="1090" b="0" i="0">
                          <a:solidFill>
                            <a:srgbClr val="14313B"/>
                          </a:solidFill>
                          <a:latin typeface="Calibri (MS)"/>
                        </a:rPr>
                        <a:t>Laju penutupan dasar ODTW</a:t>
                      </a:r>
                    </a:p>
                  </a:txBody>
                  <a:tcPr marL="73152" marR="73152" marT="36576" marB="36576" anchor="ctr">
                    <a:solidFill>
                      <a:srgbClr val="EAF8FA"/>
                    </a:solidFill>
                  </a:tcPr>
                </a:tc>
                <a:tc>
                  <a:txBody>
                    <a:bodyPr wrap="square"/>
                    <a:lstStyle/>
                    <a:p>
                      <a:r>
                        <a:rPr sz="1090" b="1" i="0">
                          <a:solidFill>
                            <a:srgbClr val="0B5E6E"/>
                          </a:solidFill>
                          <a:latin typeface="Calibri (MS)"/>
                        </a:rPr>
                        <a:t>Stok-aliran</a:t>
                      </a:r>
                    </a:p>
                  </a:txBody>
                  <a:tcPr marL="73152" marR="73152" marT="36576" marB="36576" anchor="ctr">
                    <a:solidFill>
                      <a:srgbClr val="CDEFF5"/>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EAF8FA"/>
                    </a:solidFill>
                  </a:tcPr>
                </a:tc>
              </a:tr>
            </a:tbl>
          </a:graphicData>
        </a:graphic>
      </p:graphicFrame>
      <p:graphicFrame>
        <p:nvGraphicFramePr>
          <p:cNvPr id="71" name="Table 70"/>
          <p:cNvGraphicFramePr>
            <a:graphicFrameLocks noGrp="1"/>
          </p:cNvGraphicFramePr>
          <p:nvPr/>
        </p:nvGraphicFramePr>
        <p:xfrm>
          <a:off x="9281160" y="1783080"/>
          <a:ext cx="8183880" cy="6089904"/>
        </p:xfrm>
        <a:graphic>
          <a:graphicData uri="http://schemas.openxmlformats.org/drawingml/2006/table">
            <a:tbl>
              <a:tblPr firstRow="1" bandRow="1">
                <a:tableStyleId>{5C22544A-7EE6-4342-B048-85BDC9FD1C3A}</a:tableStyleId>
              </a:tblPr>
              <a:tblGrid>
                <a:gridCol w="411480"/>
                <a:gridCol w="2651760"/>
                <a:gridCol w="1325880"/>
                <a:gridCol w="1691640"/>
                <a:gridCol w="2103120"/>
              </a:tblGrid>
              <a:tr h="338328">
                <a:tc>
                  <a:txBody>
                    <a:bodyPr wrap="square"/>
                    <a:lstStyle/>
                    <a:p>
                      <a:pPr algn="ctr"/>
                      <a:r>
                        <a:rPr sz="1090" b="1" i="0">
                          <a:solidFill>
                            <a:srgbClr val="FFFFFF"/>
                          </a:solidFill>
                          <a:latin typeface="Calibri (MS) Bold"/>
                        </a:rPr>
                        <a:t>No</a:t>
                      </a:r>
                    </a:p>
                  </a:txBody>
                  <a:tcPr marL="73152" marR="73152" marT="36576" marB="36576" anchor="ctr">
                    <a:solidFill>
                      <a:srgbClr val="0B5E6E"/>
                    </a:solidFill>
                  </a:tcPr>
                </a:tc>
                <a:tc>
                  <a:txBody>
                    <a:bodyPr wrap="square"/>
                    <a:lstStyle/>
                    <a:p>
                      <a:r>
                        <a:rPr sz="1090" b="1" i="0">
                          <a:solidFill>
                            <a:srgbClr val="FFFFFF"/>
                          </a:solidFill>
                          <a:latin typeface="Calibri (MS) Bold"/>
                        </a:rPr>
                        <a:t>Parameter</a:t>
                      </a:r>
                    </a:p>
                  </a:txBody>
                  <a:tcPr marL="73152" marR="73152" marT="36576" marB="36576" anchor="ctr">
                    <a:solidFill>
                      <a:srgbClr val="0B5E6E"/>
                    </a:solidFill>
                  </a:tcPr>
                </a:tc>
                <a:tc>
                  <a:txBody>
                    <a:bodyPr wrap="square"/>
                    <a:lstStyle/>
                    <a:p>
                      <a:r>
                        <a:rPr sz="1090" b="1" i="0">
                          <a:solidFill>
                            <a:srgbClr val="FFFFFF"/>
                          </a:solidFill>
                          <a:latin typeface="Calibri (MS) Bold"/>
                        </a:rPr>
                        <a:t>Jenis penetapan</a:t>
                      </a:r>
                    </a:p>
                  </a:txBody>
                  <a:tcPr marL="73152" marR="73152" marT="36576" marB="36576" anchor="ctr">
                    <a:solidFill>
                      <a:srgbClr val="0B5E6E"/>
                    </a:solidFill>
                  </a:tcPr>
                </a:tc>
                <a:tc>
                  <a:txBody>
                    <a:bodyPr wrap="square"/>
                    <a:lstStyle/>
                    <a:p>
                      <a:pPr algn="ctr"/>
                      <a:r>
                        <a:rPr sz="1090" b="1" i="0">
                          <a:solidFill>
                            <a:srgbClr val="FFFFFF"/>
                          </a:solidFill>
                          <a:latin typeface="Calibri (MS) Bold"/>
                        </a:rPr>
                        <a:t>Dikalibrasi?</a:t>
                      </a:r>
                    </a:p>
                  </a:txBody>
                  <a:tcPr marL="73152" marR="73152" marT="36576" marB="36576" anchor="ctr">
                    <a:solidFill>
                      <a:srgbClr val="0B5E6E"/>
                    </a:solidFill>
                  </a:tcPr>
                </a:tc>
                <a:tc>
                  <a:txBody>
                    <a:bodyPr wrap="square"/>
                    <a:lstStyle/>
                    <a:p>
                      <a:pPr algn="ctr"/>
                      <a:r>
                        <a:rPr sz="1090" b="1" i="0">
                          <a:solidFill>
                            <a:srgbClr val="FFFFFF"/>
                          </a:solidFill>
                          <a:latin typeface="Calibri (MS) Bold"/>
                        </a:rPr>
                        <a:t>Uji sensitivitas</a:t>
                      </a:r>
                    </a:p>
                  </a:txBody>
                  <a:tcPr marL="73152" marR="73152" marT="36576" marB="36576" anchor="ctr">
                    <a:solidFill>
                      <a:srgbClr val="0B5E6E"/>
                    </a:solidFill>
                  </a:tcPr>
                </a:tc>
              </a:tr>
              <a:tr h="338328">
                <a:tc>
                  <a:txBody>
                    <a:bodyPr wrap="square"/>
                    <a:lstStyle/>
                    <a:p>
                      <a:pPr algn="ctr"/>
                      <a:r>
                        <a:rPr sz="1090" b="0" i="0">
                          <a:solidFill>
                            <a:srgbClr val="14313B"/>
                          </a:solidFill>
                          <a:latin typeface="Calibri (MS)"/>
                        </a:rPr>
                        <a:t>19</a:t>
                      </a:r>
                    </a:p>
                  </a:txBody>
                  <a:tcPr marL="73152" marR="73152" marT="36576" marB="36576" anchor="ctr">
                    <a:solidFill>
                      <a:srgbClr val="FFFFFF"/>
                    </a:solidFill>
                  </a:tcPr>
                </a:tc>
                <a:tc>
                  <a:txBody>
                    <a:bodyPr wrap="square"/>
                    <a:lstStyle/>
                    <a:p>
                      <a:r>
                        <a:rPr sz="1090" b="0" i="0">
                          <a:solidFill>
                            <a:srgbClr val="14313B"/>
                          </a:solidFill>
                          <a:latin typeface="Calibri (MS)"/>
                        </a:rPr>
                        <a:t>Laju konversi dasar lahan</a:t>
                      </a:r>
                    </a:p>
                  </a:txBody>
                  <a:tcPr marL="73152" marR="73152" marT="36576" marB="36576" anchor="ctr">
                    <a:solidFill>
                      <a:srgbClr val="FFFFFF"/>
                    </a:solidFill>
                  </a:tcPr>
                </a:tc>
                <a:tc>
                  <a:txBody>
                    <a:bodyPr wrap="square"/>
                    <a:lstStyle/>
                    <a:p>
                      <a:r>
                        <a:rPr sz="1090" b="1" i="0">
                          <a:solidFill>
                            <a:srgbClr val="0B5E6E"/>
                          </a:solidFill>
                          <a:latin typeface="Calibri (MS)"/>
                        </a:rPr>
                        <a:t>Stok-aliran</a:t>
                      </a:r>
                    </a:p>
                  </a:txBody>
                  <a:tcPr marL="73152" marR="73152" marT="36576" marB="36576" anchor="ctr">
                    <a:solidFill>
                      <a:srgbClr val="CDEFF5"/>
                    </a:solidFill>
                  </a:tcPr>
                </a:tc>
                <a:tc>
                  <a:txBody>
                    <a:bodyPr wrap="square"/>
                    <a:lstStyle/>
                    <a:p>
                      <a:pPr algn="ctr"/>
                      <a:r>
                        <a:rPr sz="1090" b="0" i="0">
                          <a:solidFill>
                            <a:srgbClr val="14313B"/>
                          </a:solidFill>
                          <a:latin typeface="Calibri (MS)"/>
                        </a:rPr>
                        <a:t>Tahap 2</a:t>
                      </a:r>
                    </a:p>
                  </a:txBody>
                  <a:tcPr marL="73152" marR="73152" marT="36576" marB="36576" anchor="ctr">
                    <a:solidFill>
                      <a:srgbClr val="C9F0D6"/>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20</a:t>
                      </a:r>
                    </a:p>
                  </a:txBody>
                  <a:tcPr marL="73152" marR="73152" marT="36576" marB="36576" anchor="ctr">
                    <a:solidFill>
                      <a:srgbClr val="EAF8FA"/>
                    </a:solidFill>
                  </a:tcPr>
                </a:tc>
                <a:tc>
                  <a:txBody>
                    <a:bodyPr wrap="square"/>
                    <a:lstStyle/>
                    <a:p>
                      <a:r>
                        <a:rPr sz="1090" b="0" i="0">
                          <a:solidFill>
                            <a:srgbClr val="14313B"/>
                          </a:solidFill>
                          <a:latin typeface="Calibri (MS)"/>
                        </a:rPr>
                        <a:t>Laju demolisi dasar</a:t>
                      </a:r>
                    </a:p>
                  </a:txBody>
                  <a:tcPr marL="73152" marR="73152" marT="36576" marB="36576" anchor="ctr">
                    <a:solidFill>
                      <a:srgbClr val="EAF8FA"/>
                    </a:solidFill>
                  </a:tcPr>
                </a:tc>
                <a:tc>
                  <a:txBody>
                    <a:bodyPr wrap="square"/>
                    <a:lstStyle/>
                    <a:p>
                      <a:r>
                        <a:rPr sz="1090" b="1" i="0">
                          <a:solidFill>
                            <a:srgbClr val="2F6B1F"/>
                          </a:solidFill>
                          <a:latin typeface="Calibri (MS)"/>
                        </a:rPr>
                        <a:t>Regulasi</a:t>
                      </a:r>
                    </a:p>
                  </a:txBody>
                  <a:tcPr marL="73152" marR="73152" marT="36576" marB="36576" anchor="ctr">
                    <a:solidFill>
                      <a:srgbClr val="E3F1D9"/>
                    </a:solidFill>
                  </a:tcPr>
                </a:tc>
                <a:tc>
                  <a:txBody>
                    <a:bodyPr wrap="square"/>
                    <a:lstStyle/>
                    <a:p>
                      <a:pPr algn="ctr"/>
                      <a:r>
                        <a:rPr sz="1090" b="0" i="0">
                          <a:solidFill>
                            <a:srgbClr val="14313B"/>
                          </a:solidFill>
                          <a:latin typeface="Calibri (MS)"/>
                        </a:rPr>
                        <a:t>Tahap 1</a:t>
                      </a:r>
                    </a:p>
                  </a:txBody>
                  <a:tcPr marL="73152" marR="73152" marT="36576" marB="36576" anchor="ctr">
                    <a:solidFill>
                      <a:srgbClr val="C9F0D6"/>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21</a:t>
                      </a:r>
                    </a:p>
                  </a:txBody>
                  <a:tcPr marL="73152" marR="73152" marT="36576" marB="36576" anchor="ctr">
                    <a:solidFill>
                      <a:srgbClr val="FFFFFF"/>
                    </a:solidFill>
                  </a:tcPr>
                </a:tc>
                <a:tc>
                  <a:txBody>
                    <a:bodyPr wrap="square"/>
                    <a:lstStyle/>
                    <a:p>
                      <a:r>
                        <a:rPr sz="1090" b="0" i="0">
                          <a:solidFill>
                            <a:srgbClr val="14313B"/>
                          </a:solidFill>
                          <a:latin typeface="Calibri (MS)"/>
                        </a:rPr>
                        <a:t>Laju keluar dasar tenaga kerja</a:t>
                      </a:r>
                    </a:p>
                  </a:txBody>
                  <a:tcPr marL="73152" marR="73152" marT="36576" marB="36576" anchor="ctr">
                    <a:solidFill>
                      <a:srgbClr val="FFFFFF"/>
                    </a:solidFill>
                  </a:tcPr>
                </a:tc>
                <a:tc>
                  <a:txBody>
                    <a:bodyPr wrap="square"/>
                    <a:lstStyle/>
                    <a:p>
                      <a:r>
                        <a:rPr sz="1090" b="1" i="0">
                          <a:solidFill>
                            <a:srgbClr val="2F6B1F"/>
                          </a:solidFill>
                          <a:latin typeface="Calibri (MS)"/>
                        </a:rPr>
                        <a:t>Regulasi</a:t>
                      </a:r>
                    </a:p>
                  </a:txBody>
                  <a:tcPr marL="73152" marR="73152" marT="36576" marB="36576" anchor="ctr">
                    <a:solidFill>
                      <a:srgbClr val="E3F1D9"/>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22</a:t>
                      </a:r>
                    </a:p>
                  </a:txBody>
                  <a:tcPr marL="73152" marR="73152" marT="36576" marB="36576" anchor="ctr">
                    <a:solidFill>
                      <a:srgbClr val="EAF8FA"/>
                    </a:solidFill>
                  </a:tcPr>
                </a:tc>
                <a:tc>
                  <a:txBody>
                    <a:bodyPr wrap="square"/>
                    <a:lstStyle/>
                    <a:p>
                      <a:r>
                        <a:rPr sz="1090" b="0" i="0">
                          <a:solidFill>
                            <a:srgbClr val="14313B"/>
                          </a:solidFill>
                          <a:latin typeface="Calibri (MS)"/>
                        </a:rPr>
                        <a:t>Bobot ODTW</a:t>
                      </a:r>
                    </a:p>
                  </a:txBody>
                  <a:tcPr marL="73152" marR="73152" marT="36576" marB="36576" anchor="ctr">
                    <a:solidFill>
                      <a:srgbClr val="EAF8FA"/>
                    </a:solidFill>
                  </a:tcPr>
                </a:tc>
                <a:tc>
                  <a:txBody>
                    <a:bodyPr wrap="square"/>
                    <a:lstStyle/>
                    <a:p>
                      <a:r>
                        <a:rPr sz="1090" b="1" i="0">
                          <a:solidFill>
                            <a:srgbClr val="7A5A00"/>
                          </a:solidFill>
                          <a:latin typeface="Calibri (MS)"/>
                        </a:rPr>
                        <a:t>Asumsi</a:t>
                      </a:r>
                    </a:p>
                  </a:txBody>
                  <a:tcPr marL="73152" marR="73152" marT="36576" marB="36576" anchor="ctr">
                    <a:solidFill>
                      <a:srgbClr val="FFF1BF"/>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23</a:t>
                      </a:r>
                    </a:p>
                  </a:txBody>
                  <a:tcPr marL="73152" marR="73152" marT="36576" marB="36576" anchor="ctr">
                    <a:solidFill>
                      <a:srgbClr val="FFFFFF"/>
                    </a:solidFill>
                  </a:tcPr>
                </a:tc>
                <a:tc>
                  <a:txBody>
                    <a:bodyPr wrap="square"/>
                    <a:lstStyle/>
                    <a:p>
                      <a:r>
                        <a:rPr sz="1090" b="0" i="0">
                          <a:solidFill>
                            <a:srgbClr val="14313B"/>
                          </a:solidFill>
                          <a:latin typeface="Calibri (MS)"/>
                        </a:rPr>
                        <a:t>Bobot kepadatan</a:t>
                      </a:r>
                    </a:p>
                  </a:txBody>
                  <a:tcPr marL="73152" marR="73152" marT="36576" marB="36576" anchor="ctr">
                    <a:solidFill>
                      <a:srgbClr val="FFFFFF"/>
                    </a:solidFill>
                  </a:tcPr>
                </a:tc>
                <a:tc>
                  <a:txBody>
                    <a:bodyPr wrap="square"/>
                    <a:lstStyle/>
                    <a:p>
                      <a:r>
                        <a:rPr sz="1090" b="1" i="0">
                          <a:solidFill>
                            <a:srgbClr val="7A5A00"/>
                          </a:solidFill>
                          <a:latin typeface="Calibri (MS)"/>
                        </a:rPr>
                        <a:t>Asumsi</a:t>
                      </a:r>
                    </a:p>
                  </a:txBody>
                  <a:tcPr marL="73152" marR="73152" marT="36576" marB="36576" anchor="ctr">
                    <a:solidFill>
                      <a:srgbClr val="FFF1B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24</a:t>
                      </a:r>
                    </a:p>
                  </a:txBody>
                  <a:tcPr marL="73152" marR="73152" marT="36576" marB="36576" anchor="ctr">
                    <a:solidFill>
                      <a:srgbClr val="EAF8FA"/>
                    </a:solidFill>
                  </a:tcPr>
                </a:tc>
                <a:tc>
                  <a:txBody>
                    <a:bodyPr wrap="square"/>
                    <a:lstStyle/>
                    <a:p>
                      <a:r>
                        <a:rPr sz="1090" b="0" i="0">
                          <a:solidFill>
                            <a:srgbClr val="14313B"/>
                          </a:solidFill>
                          <a:latin typeface="Calibri (MS)"/>
                        </a:rPr>
                        <a:t>Bobot daya dukung lahan</a:t>
                      </a:r>
                    </a:p>
                  </a:txBody>
                  <a:tcPr marL="73152" marR="73152" marT="36576" marB="36576" anchor="ctr">
                    <a:solidFill>
                      <a:srgbClr val="EAF8FA"/>
                    </a:solidFill>
                  </a:tcPr>
                </a:tc>
                <a:tc>
                  <a:txBody>
                    <a:bodyPr wrap="square"/>
                    <a:lstStyle/>
                    <a:p>
                      <a:r>
                        <a:rPr sz="1090" b="1" i="0">
                          <a:solidFill>
                            <a:srgbClr val="7A5A00"/>
                          </a:solidFill>
                          <a:latin typeface="Calibri (MS)"/>
                        </a:rPr>
                        <a:t>Asumsi</a:t>
                      </a:r>
                    </a:p>
                  </a:txBody>
                  <a:tcPr marL="73152" marR="73152" marT="36576" marB="36576" anchor="ctr">
                    <a:solidFill>
                      <a:srgbClr val="FFF1BF"/>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25</a:t>
                      </a:r>
                    </a:p>
                  </a:txBody>
                  <a:tcPr marL="73152" marR="73152" marT="36576" marB="36576" anchor="ctr">
                    <a:solidFill>
                      <a:srgbClr val="FFFFFF"/>
                    </a:solidFill>
                  </a:tcPr>
                </a:tc>
                <a:tc>
                  <a:txBody>
                    <a:bodyPr wrap="square"/>
                    <a:lstStyle/>
                    <a:p>
                      <a:r>
                        <a:rPr sz="1090" b="0" i="0">
                          <a:solidFill>
                            <a:srgbClr val="14313B"/>
                          </a:solidFill>
                          <a:latin typeface="Calibri (MS)"/>
                        </a:rPr>
                        <a:t>Elastisitas daya tarik ODTW</a:t>
                      </a:r>
                    </a:p>
                  </a:txBody>
                  <a:tcPr marL="73152" marR="73152" marT="36576" marB="36576" anchor="ctr">
                    <a:solidFill>
                      <a:srgbClr val="FFFFFF"/>
                    </a:solidFill>
                  </a:tcPr>
                </a:tc>
                <a:tc>
                  <a:txBody>
                    <a:bodyPr wrap="square"/>
                    <a:lstStyle/>
                    <a:p>
                      <a:r>
                        <a:rPr sz="1090" b="1" i="0">
                          <a:solidFill>
                            <a:srgbClr val="7A5A00"/>
                          </a:solidFill>
                          <a:latin typeface="Calibri (MS)"/>
                        </a:rPr>
                        <a:t>Asumsi</a:t>
                      </a:r>
                    </a:p>
                  </a:txBody>
                  <a:tcPr marL="73152" marR="73152" marT="36576" marB="36576" anchor="ctr">
                    <a:solidFill>
                      <a:srgbClr val="FFF1B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26</a:t>
                      </a:r>
                    </a:p>
                  </a:txBody>
                  <a:tcPr marL="73152" marR="73152" marT="36576" marB="36576" anchor="ctr">
                    <a:solidFill>
                      <a:srgbClr val="EAF8FA"/>
                    </a:solidFill>
                  </a:tcPr>
                </a:tc>
                <a:tc>
                  <a:txBody>
                    <a:bodyPr wrap="square"/>
                    <a:lstStyle/>
                    <a:p>
                      <a:r>
                        <a:rPr sz="1090" b="0" i="0">
                          <a:solidFill>
                            <a:srgbClr val="14313B"/>
                          </a:solidFill>
                          <a:latin typeface="Calibri (MS)"/>
                        </a:rPr>
                        <a:t>Batas maksimum efek ODTW</a:t>
                      </a:r>
                    </a:p>
                  </a:txBody>
                  <a:tcPr marL="73152" marR="73152" marT="36576" marB="36576" anchor="ctr">
                    <a:solidFill>
                      <a:srgbClr val="EAF8FA"/>
                    </a:solidFill>
                  </a:tcPr>
                </a:tc>
                <a:tc>
                  <a:txBody>
                    <a:bodyPr wrap="square"/>
                    <a:lstStyle/>
                    <a:p>
                      <a:r>
                        <a:rPr sz="1090" b="1" i="0">
                          <a:solidFill>
                            <a:srgbClr val="7A5A00"/>
                          </a:solidFill>
                          <a:latin typeface="Calibri (MS)"/>
                        </a:rPr>
                        <a:t>Asumsi</a:t>
                      </a:r>
                    </a:p>
                  </a:txBody>
                  <a:tcPr marL="73152" marR="73152" marT="36576" marB="36576" anchor="ctr">
                    <a:solidFill>
                      <a:srgbClr val="FFF1BF"/>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27</a:t>
                      </a:r>
                    </a:p>
                  </a:txBody>
                  <a:tcPr marL="73152" marR="73152" marT="36576" marB="36576" anchor="ctr">
                    <a:solidFill>
                      <a:srgbClr val="FFFFFF"/>
                    </a:solidFill>
                  </a:tcPr>
                </a:tc>
                <a:tc>
                  <a:txBody>
                    <a:bodyPr wrap="square"/>
                    <a:lstStyle/>
                    <a:p>
                      <a:r>
                        <a:rPr sz="1090" b="0" i="0">
                          <a:solidFill>
                            <a:srgbClr val="14313B"/>
                          </a:solidFill>
                          <a:latin typeface="Calibri (MS)"/>
                        </a:rPr>
                        <a:t>Lahan per hotel</a:t>
                      </a:r>
                    </a:p>
                  </a:txBody>
                  <a:tcPr marL="73152" marR="73152" marT="36576" marB="36576" anchor="ctr">
                    <a:solidFill>
                      <a:srgbClr val="FFFFFF"/>
                    </a:solidFill>
                  </a:tcPr>
                </a:tc>
                <a:tc>
                  <a:txBody>
                    <a:bodyPr wrap="square"/>
                    <a:lstStyle/>
                    <a:p>
                      <a:r>
                        <a:rPr sz="1090" b="1" i="0">
                          <a:solidFill>
                            <a:srgbClr val="7A5A00"/>
                          </a:solidFill>
                          <a:latin typeface="Calibri (MS)"/>
                        </a:rPr>
                        <a:t>Asumsi</a:t>
                      </a:r>
                    </a:p>
                  </a:txBody>
                  <a:tcPr marL="73152" marR="73152" marT="36576" marB="36576" anchor="ctr">
                    <a:solidFill>
                      <a:srgbClr val="FFF1B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28</a:t>
                      </a:r>
                    </a:p>
                  </a:txBody>
                  <a:tcPr marL="73152" marR="73152" marT="36576" marB="36576" anchor="ctr">
                    <a:solidFill>
                      <a:srgbClr val="EAF8FA"/>
                    </a:solidFill>
                  </a:tcPr>
                </a:tc>
                <a:tc>
                  <a:txBody>
                    <a:bodyPr wrap="square"/>
                    <a:lstStyle/>
                    <a:p>
                      <a:r>
                        <a:rPr sz="1090" b="0" i="0">
                          <a:solidFill>
                            <a:srgbClr val="14313B"/>
                          </a:solidFill>
                          <a:latin typeface="Calibri (MS)"/>
                        </a:rPr>
                        <a:t>Lahan per ODTW</a:t>
                      </a:r>
                    </a:p>
                  </a:txBody>
                  <a:tcPr marL="73152" marR="73152" marT="36576" marB="36576" anchor="ctr">
                    <a:solidFill>
                      <a:srgbClr val="EAF8FA"/>
                    </a:solidFill>
                  </a:tcPr>
                </a:tc>
                <a:tc>
                  <a:txBody>
                    <a:bodyPr wrap="square"/>
                    <a:lstStyle/>
                    <a:p>
                      <a:r>
                        <a:rPr sz="1090" b="1" i="0">
                          <a:solidFill>
                            <a:srgbClr val="7A5A00"/>
                          </a:solidFill>
                          <a:latin typeface="Calibri (MS)"/>
                        </a:rPr>
                        <a:t>Asumsi</a:t>
                      </a:r>
                    </a:p>
                  </a:txBody>
                  <a:tcPr marL="73152" marR="73152" marT="36576" marB="36576" anchor="ctr">
                    <a:solidFill>
                      <a:srgbClr val="FFF1BF"/>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29</a:t>
                      </a:r>
                    </a:p>
                  </a:txBody>
                  <a:tcPr marL="73152" marR="73152" marT="36576" marB="36576" anchor="ctr">
                    <a:solidFill>
                      <a:srgbClr val="FFFFFF"/>
                    </a:solidFill>
                  </a:tcPr>
                </a:tc>
                <a:tc>
                  <a:txBody>
                    <a:bodyPr wrap="square"/>
                    <a:lstStyle/>
                    <a:p>
                      <a:r>
                        <a:rPr sz="1090" b="0" i="0">
                          <a:solidFill>
                            <a:srgbClr val="14313B"/>
                          </a:solidFill>
                          <a:latin typeface="Calibri (MS)"/>
                        </a:rPr>
                        <a:t>Waktu penyesuaian tenaga kerja</a:t>
                      </a:r>
                    </a:p>
                  </a:txBody>
                  <a:tcPr marL="73152" marR="73152" marT="36576" marB="36576" anchor="ctr">
                    <a:solidFill>
                      <a:srgbClr val="FFFFFF"/>
                    </a:solidFill>
                  </a:tcPr>
                </a:tc>
                <a:tc>
                  <a:txBody>
                    <a:bodyPr wrap="square"/>
                    <a:lstStyle/>
                    <a:p>
                      <a:r>
                        <a:rPr sz="1090" b="1" i="0">
                          <a:solidFill>
                            <a:srgbClr val="7A5A00"/>
                          </a:solidFill>
                          <a:latin typeface="Calibri (MS)"/>
                        </a:rPr>
                        <a:t>Asumsi</a:t>
                      </a:r>
                    </a:p>
                  </a:txBody>
                  <a:tcPr marL="73152" marR="73152" marT="36576" marB="36576" anchor="ctr">
                    <a:solidFill>
                      <a:srgbClr val="FFF1B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30</a:t>
                      </a:r>
                    </a:p>
                  </a:txBody>
                  <a:tcPr marL="73152" marR="73152" marT="36576" marB="36576" anchor="ctr">
                    <a:solidFill>
                      <a:srgbClr val="EAF8FA"/>
                    </a:solidFill>
                  </a:tcPr>
                </a:tc>
                <a:tc>
                  <a:txBody>
                    <a:bodyPr wrap="square"/>
                    <a:lstStyle/>
                    <a:p>
                      <a:r>
                        <a:rPr sz="1090" b="0" i="0">
                          <a:solidFill>
                            <a:srgbClr val="14313B"/>
                          </a:solidFill>
                          <a:latin typeface="Calibri (MS)"/>
                        </a:rPr>
                        <a:t>ODTW referensi</a:t>
                      </a:r>
                    </a:p>
                  </a:txBody>
                  <a:tcPr marL="73152" marR="73152" marT="36576" marB="36576" anchor="ctr">
                    <a:solidFill>
                      <a:srgbClr val="EAF8FA"/>
                    </a:solidFill>
                  </a:tcPr>
                </a:tc>
                <a:tc>
                  <a:txBody>
                    <a:bodyPr wrap="square"/>
                    <a:lstStyle/>
                    <a:p>
                      <a:r>
                        <a:rPr sz="1090" b="1" i="0">
                          <a:solidFill>
                            <a:srgbClr val="3E4A50"/>
                          </a:solidFill>
                          <a:latin typeface="Calibri (MS)"/>
                        </a:rPr>
                        <a:t>Normalisasi</a:t>
                      </a:r>
                    </a:p>
                  </a:txBody>
                  <a:tcPr marL="73152" marR="73152" marT="36576" marB="36576" anchor="ctr">
                    <a:solidFill>
                      <a:srgbClr val="E6E9EC"/>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 &amp; rentang penuh</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31</a:t>
                      </a:r>
                    </a:p>
                  </a:txBody>
                  <a:tcPr marL="73152" marR="73152" marT="36576" marB="36576" anchor="ctr">
                    <a:solidFill>
                      <a:srgbClr val="FFFFFF"/>
                    </a:solidFill>
                  </a:tcPr>
                </a:tc>
                <a:tc>
                  <a:txBody>
                    <a:bodyPr wrap="square"/>
                    <a:lstStyle/>
                    <a:p>
                      <a:r>
                        <a:rPr sz="1090" b="0" i="0">
                          <a:solidFill>
                            <a:srgbClr val="14313B"/>
                          </a:solidFill>
                          <a:latin typeface="Calibri (MS)"/>
                        </a:rPr>
                        <a:t>Kepadatan referensi</a:t>
                      </a:r>
                    </a:p>
                  </a:txBody>
                  <a:tcPr marL="73152" marR="73152" marT="36576" marB="36576" anchor="ctr">
                    <a:solidFill>
                      <a:srgbClr val="FFFFFF"/>
                    </a:solidFill>
                  </a:tcPr>
                </a:tc>
                <a:tc>
                  <a:txBody>
                    <a:bodyPr wrap="square"/>
                    <a:lstStyle/>
                    <a:p>
                      <a:r>
                        <a:rPr sz="1090" b="1" i="0">
                          <a:solidFill>
                            <a:srgbClr val="3E4A50"/>
                          </a:solidFill>
                          <a:latin typeface="Calibri (MS)"/>
                        </a:rPr>
                        <a:t>Normalisasi</a:t>
                      </a:r>
                    </a:p>
                  </a:txBody>
                  <a:tcPr marL="73152" marR="73152" marT="36576" marB="36576" anchor="ctr">
                    <a:solidFill>
                      <a:srgbClr val="E6E9EC"/>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±10%</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32</a:t>
                      </a:r>
                    </a:p>
                  </a:txBody>
                  <a:tcPr marL="73152" marR="73152" marT="36576" marB="36576" anchor="ctr">
                    <a:solidFill>
                      <a:srgbClr val="EAF8FA"/>
                    </a:solidFill>
                  </a:tcPr>
                </a:tc>
                <a:tc>
                  <a:txBody>
                    <a:bodyPr wrap="square"/>
                    <a:lstStyle/>
                    <a:p>
                      <a:r>
                        <a:rPr sz="1090" b="0" i="0">
                          <a:solidFill>
                            <a:srgbClr val="14313B"/>
                          </a:solidFill>
                          <a:latin typeface="Calibri (MS)"/>
                        </a:rPr>
                        <a:t>RDDL referensi</a:t>
                      </a:r>
                    </a:p>
                  </a:txBody>
                  <a:tcPr marL="73152" marR="73152" marT="36576" marB="36576" anchor="ctr">
                    <a:solidFill>
                      <a:srgbClr val="EAF8FA"/>
                    </a:solidFill>
                  </a:tcPr>
                </a:tc>
                <a:tc>
                  <a:txBody>
                    <a:bodyPr wrap="square"/>
                    <a:lstStyle/>
                    <a:p>
                      <a:r>
                        <a:rPr sz="1090" b="1" i="0">
                          <a:solidFill>
                            <a:srgbClr val="3E4A50"/>
                          </a:solidFill>
                          <a:latin typeface="Calibri (MS)"/>
                        </a:rPr>
                        <a:t>Normalisasi</a:t>
                      </a:r>
                    </a:p>
                  </a:txBody>
                  <a:tcPr marL="73152" marR="73152" marT="36576" marB="36576" anchor="ctr">
                    <a:solidFill>
                      <a:srgbClr val="E6E9EC"/>
                    </a:solidFill>
                  </a:tcPr>
                </a:tc>
                <a:tc>
                  <a:txBody>
                    <a:bodyPr wrap="square"/>
                    <a:lstStyle/>
                    <a:p>
                      <a:pPr algn="ctr"/>
                      <a:r>
                        <a:rPr sz="1090" b="0" i="0">
                          <a:solidFill>
                            <a:srgbClr val="14313B"/>
                          </a:solidFill>
                          <a:latin typeface="Calibri (MS)"/>
                        </a:rPr>
                        <a:t>—</a:t>
                      </a:r>
                    </a:p>
                  </a:txBody>
                  <a:tcPr marL="73152" marR="73152" marT="36576" marB="36576" anchor="ctr">
                    <a:solidFill>
                      <a:srgbClr val="EAF8FA"/>
                    </a:solidFill>
                  </a:tcPr>
                </a:tc>
                <a:tc>
                  <a:txBody>
                    <a:bodyPr wrap="square"/>
                    <a:lstStyle/>
                    <a:p>
                      <a:pPr algn="ctr"/>
                      <a:r>
                        <a:rPr sz="1090" b="0" i="0">
                          <a:solidFill>
                            <a:srgbClr val="14313B"/>
                          </a:solidFill>
                          <a:latin typeface="Calibri (MS)"/>
                        </a:rPr>
                        <a:t>±10%</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33</a:t>
                      </a:r>
                    </a:p>
                  </a:txBody>
                  <a:tcPr marL="73152" marR="73152" marT="36576" marB="36576" anchor="ctr">
                    <a:solidFill>
                      <a:srgbClr val="FFFFFF"/>
                    </a:solidFill>
                  </a:tcPr>
                </a:tc>
                <a:tc>
                  <a:txBody>
                    <a:bodyPr wrap="square"/>
                    <a:lstStyle/>
                    <a:p>
                      <a:r>
                        <a:rPr sz="1090" b="0" i="0">
                          <a:solidFill>
                            <a:srgbClr val="14313B"/>
                          </a:solidFill>
                          <a:latin typeface="Calibri (MS)"/>
                        </a:rPr>
                        <a:t>Tahun dasar intensitas tenaga kerja</a:t>
                      </a:r>
                    </a:p>
                  </a:txBody>
                  <a:tcPr marL="73152" marR="73152" marT="36576" marB="36576" anchor="ctr">
                    <a:solidFill>
                      <a:srgbClr val="FFFFFF"/>
                    </a:solidFill>
                  </a:tcPr>
                </a:tc>
                <a:tc>
                  <a:txBody>
                    <a:bodyPr wrap="square"/>
                    <a:lstStyle/>
                    <a:p>
                      <a:r>
                        <a:rPr sz="1090" b="1" i="0">
                          <a:solidFill>
                            <a:srgbClr val="3E4A50"/>
                          </a:solidFill>
                          <a:latin typeface="Calibri (MS)"/>
                        </a:rPr>
                        <a:t>Normalisasi</a:t>
                      </a:r>
                    </a:p>
                  </a:txBody>
                  <a:tcPr marL="73152" marR="73152" marT="36576" marB="36576" anchor="ctr">
                    <a:solidFill>
                      <a:srgbClr val="E6E9EC"/>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c>
                  <a:txBody>
                    <a:bodyPr wrap="square"/>
                    <a:lstStyle/>
                    <a:p>
                      <a:pPr algn="ctr"/>
                      <a:r>
                        <a:rPr sz="1090" b="0" i="0">
                          <a:solidFill>
                            <a:srgbClr val="14313B"/>
                          </a:solidFill>
                          <a:latin typeface="Calibri (MS)"/>
                        </a:rPr>
                        <a:t>—</a:t>
                      </a:r>
                    </a:p>
                  </a:txBody>
                  <a:tcPr marL="73152" marR="73152" marT="36576" marB="36576" anchor="ctr">
                    <a:solidFill>
                      <a:srgbClr val="FFFFFF"/>
                    </a:solidFill>
                  </a:tcPr>
                </a:tc>
              </a:tr>
              <a:tr h="338328">
                <a:tc>
                  <a:txBody>
                    <a:bodyPr wrap="square"/>
                    <a:lstStyle/>
                    <a:p>
                      <a:pPr algn="ctr"/>
                      <a:r>
                        <a:rPr sz="1090" b="0" i="0">
                          <a:solidFill>
                            <a:srgbClr val="14313B"/>
                          </a:solidFill>
                          <a:latin typeface="Calibri (MS)"/>
                        </a:rPr>
                        <a:t>34</a:t>
                      </a:r>
                    </a:p>
                  </a:txBody>
                  <a:tcPr marL="73152" marR="73152" marT="36576" marB="36576" anchor="ctr">
                    <a:solidFill>
                      <a:srgbClr val="EAF8FA"/>
                    </a:solidFill>
                  </a:tcPr>
                </a:tc>
                <a:tc>
                  <a:txBody>
                    <a:bodyPr wrap="square"/>
                    <a:lstStyle/>
                    <a:p>
                      <a:r>
                        <a:rPr sz="1090" b="0" i="0">
                          <a:solidFill>
                            <a:srgbClr val="14313B"/>
                          </a:solidFill>
                          <a:latin typeface="Calibri (MS)"/>
                        </a:rPr>
                        <a:t>Insentif Kebijakan</a:t>
                      </a:r>
                    </a:p>
                  </a:txBody>
                  <a:tcPr marL="73152" marR="73152" marT="36576" marB="36576" anchor="ctr">
                    <a:solidFill>
                      <a:srgbClr val="EAF8FA"/>
                    </a:solidFill>
                  </a:tcPr>
                </a:tc>
                <a:tc>
                  <a:txBody>
                    <a:bodyPr wrap="square"/>
                    <a:lstStyle/>
                    <a:p>
                      <a:r>
                        <a:rPr sz="1090" b="1" i="0">
                          <a:solidFill>
                            <a:srgbClr val="9B2C1F"/>
                          </a:solidFill>
                          <a:latin typeface="Calibri (MS)"/>
                        </a:rPr>
                        <a:t>Kebijakan</a:t>
                      </a:r>
                    </a:p>
                  </a:txBody>
                  <a:tcPr marL="73152" marR="73152" marT="36576" marB="36576" anchor="ctr">
                    <a:solidFill>
                      <a:srgbClr val="FDE2DE"/>
                    </a:solidFill>
                  </a:tcPr>
                </a:tc>
                <a:tc>
                  <a:txBody>
                    <a:bodyPr wrap="square"/>
                    <a:lstStyle/>
                    <a:p>
                      <a:pPr algn="ctr"/>
                      <a:r>
                        <a:rPr sz="1090" b="0" i="0">
                          <a:solidFill>
                            <a:srgbClr val="14313B"/>
                          </a:solidFill>
                          <a:latin typeface="Calibri (MS)"/>
                        </a:rPr>
                        <a:t>Diatur per skenario</a:t>
                      </a:r>
                    </a:p>
                  </a:txBody>
                  <a:tcPr marL="73152" marR="73152" marT="36576" marB="36576" anchor="ctr">
                    <a:solidFill>
                      <a:srgbClr val="EAF8FA"/>
                    </a:solidFill>
                  </a:tcPr>
                </a:tc>
                <a:tc>
                  <a:txBody>
                    <a:bodyPr wrap="square"/>
                    <a:lstStyle/>
                    <a:p>
                      <a:pPr algn="ctr"/>
                      <a:r>
                        <a:rPr sz="1090" b="0" i="0">
                          <a:solidFill>
                            <a:srgbClr val="14313B"/>
                          </a:solidFill>
                          <a:latin typeface="Calibri (MS)"/>
                        </a:rPr>
                        <a:t>Rentang penuh</a:t>
                      </a:r>
                    </a:p>
                  </a:txBody>
                  <a:tcPr marL="73152" marR="73152" marT="36576" marB="36576" anchor="ctr">
                    <a:solidFill>
                      <a:srgbClr val="EAF8FA"/>
                    </a:solidFill>
                  </a:tcPr>
                </a:tc>
              </a:tr>
              <a:tr h="338328">
                <a:tc>
                  <a:txBody>
                    <a:bodyPr wrap="square"/>
                    <a:lstStyle/>
                    <a:p>
                      <a:pPr algn="ctr"/>
                      <a:r>
                        <a:rPr sz="1090" b="0" i="0">
                          <a:solidFill>
                            <a:srgbClr val="14313B"/>
                          </a:solidFill>
                          <a:latin typeface="Calibri (MS)"/>
                        </a:rPr>
                        <a:t>35</a:t>
                      </a:r>
                    </a:p>
                  </a:txBody>
                  <a:tcPr marL="73152" marR="73152" marT="36576" marB="36576" anchor="ctr">
                    <a:solidFill>
                      <a:srgbClr val="FFFFFF"/>
                    </a:solidFill>
                  </a:tcPr>
                </a:tc>
                <a:tc>
                  <a:txBody>
                    <a:bodyPr wrap="square"/>
                    <a:lstStyle/>
                    <a:p>
                      <a:r>
                        <a:rPr sz="1090" b="0" i="0">
                          <a:solidFill>
                            <a:srgbClr val="14313B"/>
                          </a:solidFill>
                          <a:latin typeface="Calibri (MS)"/>
                        </a:rPr>
                        <a:t>Kebijakan Konservasi Lahan</a:t>
                      </a:r>
                    </a:p>
                  </a:txBody>
                  <a:tcPr marL="73152" marR="73152" marT="36576" marB="36576" anchor="ctr">
                    <a:solidFill>
                      <a:srgbClr val="FFFFFF"/>
                    </a:solidFill>
                  </a:tcPr>
                </a:tc>
                <a:tc>
                  <a:txBody>
                    <a:bodyPr wrap="square"/>
                    <a:lstStyle/>
                    <a:p>
                      <a:r>
                        <a:rPr sz="1090" b="1" i="0">
                          <a:solidFill>
                            <a:srgbClr val="9B2C1F"/>
                          </a:solidFill>
                          <a:latin typeface="Calibri (MS)"/>
                        </a:rPr>
                        <a:t>Kebijakan</a:t>
                      </a:r>
                    </a:p>
                  </a:txBody>
                  <a:tcPr marL="73152" marR="73152" marT="36576" marB="36576" anchor="ctr">
                    <a:solidFill>
                      <a:srgbClr val="FDE2DE"/>
                    </a:solidFill>
                  </a:tcPr>
                </a:tc>
                <a:tc>
                  <a:txBody>
                    <a:bodyPr wrap="square"/>
                    <a:lstStyle/>
                    <a:p>
                      <a:pPr algn="ctr"/>
                      <a:r>
                        <a:rPr sz="1090" b="0" i="0">
                          <a:solidFill>
                            <a:srgbClr val="14313B"/>
                          </a:solidFill>
                          <a:latin typeface="Calibri (MS)"/>
                        </a:rPr>
                        <a:t>Diatur per skenario</a:t>
                      </a:r>
                    </a:p>
                  </a:txBody>
                  <a:tcPr marL="73152" marR="73152" marT="36576" marB="36576" anchor="ctr">
                    <a:solidFill>
                      <a:srgbClr val="FFFFFF"/>
                    </a:solidFill>
                  </a:tcPr>
                </a:tc>
                <a:tc>
                  <a:txBody>
                    <a:bodyPr wrap="square"/>
                    <a:lstStyle/>
                    <a:p>
                      <a:pPr algn="ctr"/>
                      <a:r>
                        <a:rPr sz="1090" b="0" i="0">
                          <a:solidFill>
                            <a:srgbClr val="14313B"/>
                          </a:solidFill>
                          <a:latin typeface="Calibri (MS)"/>
                        </a:rPr>
                        <a:t>Rentang penuh</a:t>
                      </a:r>
                    </a:p>
                  </a:txBody>
                  <a:tcPr marL="73152" marR="73152" marT="36576" marB="36576" anchor="ctr">
                    <a:solidFill>
                      <a:srgbClr val="FFFFFF"/>
                    </a:solidFill>
                  </a:tcPr>
                </a:tc>
              </a:tr>
            </a:tbl>
          </a:graphicData>
        </a:graphic>
      </p:graphicFrame>
      <p:sp>
        <p:nvSpPr>
          <p:cNvPr id="72" name="TextBox 71"/>
          <p:cNvSpPr txBox="1"/>
          <p:nvPr/>
        </p:nvSpPr>
        <p:spPr>
          <a:xfrm>
            <a:off x="822960" y="8686800"/>
            <a:ext cx="16642080" cy="50292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Keterangan  </a:t>
            </a:r>
            <a:r>
              <a:rPr sz="1210" b="0" i="0">
                <a:solidFill>
                  <a:srgbClr val="14313B"/>
                </a:solidFill>
                <a:latin typeface="Calibri (MS)"/>
              </a:rPr>
              <a:t>±10% = dinaikkan/diturunkan 10% satu per satu (32 parameter) · Rentang penuh = diuji pada seluruh rentang nilainya (17 kelompok) · * juga diuji pada robustness peringkat skenario (C0–C6) · Tahap = tahap kalibrasi (hasilnya tidak ada nilai yang diganti) · Ikut Tahap 1 = dihitung ulang mengikuti batas TPK</a:t>
            </a:r>
          </a:p>
        </p:txBody>
      </p:sp>
      <p:sp>
        <p:nvSpPr>
          <p:cNvPr id="73" name="TextBox 7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 3.7.3–3.7.5, Tabel 12; Subbab 4.6–4.7 (Tabel 56–57); Lampiran 2 (nilai parameter).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