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5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08" r:id="rId58"/>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58"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Pengaruh maksimum (%)</c:v>
                </c:pt>
              </c:strCache>
            </c:strRef>
          </c:tx>
          <c:dPt>
            <c:idx val="0"/>
            <c:spPr>
              <a:solidFill>
                <a:srgbClr val="9AA5AB"/>
              </a:solidFill>
            </c:spPr>
          </c:dPt>
          <c:dPt>
            <c:idx val="1"/>
            <c:spPr>
              <a:solidFill>
                <a:srgbClr val="8FD3DE"/>
              </a:solidFill>
            </c:spPr>
          </c:dPt>
          <c:dPt>
            <c:idx val="2"/>
            <c:spPr>
              <a:solidFill>
                <a:srgbClr val="0B5E6E"/>
              </a:solidFill>
            </c:spPr>
          </c:dPt>
          <c:dPt>
            <c:idx val="3"/>
            <c:spPr>
              <a:solidFill>
                <a:srgbClr val="8FD3DE"/>
              </a:solidFill>
            </c:spPr>
          </c:dPt>
          <c:dPt>
            <c:idx val="4"/>
            <c:spPr>
              <a:solidFill>
                <a:srgbClr val="E8A317"/>
              </a:solidFill>
            </c:spPr>
          </c:dPt>
          <c:dPt>
            <c:idx val="5"/>
            <c:spPr>
              <a:solidFill>
                <a:srgbClr val="E8A317"/>
              </a:solidFill>
            </c:spPr>
          </c:dPt>
          <c:dPt>
            <c:idx val="6"/>
            <c:spPr>
              <a:solidFill>
                <a:srgbClr val="8FD3DE"/>
              </a:solidFill>
            </c:spPr>
          </c:dPt>
          <c:dPt>
            <c:idx val="7"/>
            <c:spPr>
              <a:solidFill>
                <a:srgbClr val="E8A317"/>
              </a:solidFill>
            </c:spPr>
          </c:dPt>
          <c:cat>
            <c:strRef>
              <c:f>Sheet1!$A$2:$A$9</c:f>
              <c:strCache>
                <c:ptCount val="8"/>
                <c:pt idx="0">
                  <c:v>Sensitivitas ODTW thd investasi</c:v>
                </c:pt>
                <c:pt idx="1">
                  <c:v>ODTW referensi</c:v>
                </c:pt>
                <c:pt idx="2">
                  <c:v>Laju pertumbuhan eksternal</c:v>
                </c:pt>
                <c:pt idx="3">
                  <c:v>RDDL referensi</c:v>
                </c:pt>
                <c:pt idx="4">
                  <c:v>Bobot ODTW</c:v>
                </c:pt>
                <c:pt idx="5">
                  <c:v>Bobot kepadatan</c:v>
                </c:pt>
                <c:pt idx="6">
                  <c:v>Kepadatan referensi</c:v>
                </c:pt>
                <c:pt idx="7">
                  <c:v>Laju penurunan dasar</c:v>
                </c:pt>
              </c:strCache>
            </c:strRef>
          </c:cat>
          <c:val>
            <c:numRef>
              <c:f>Sheet1!$B$2:$B$9</c:f>
              <c:numCache>
                <c:formatCode>General</c:formatCode>
                <c:ptCount val="8"/>
                <c:pt idx="0">
                  <c:v>2.57</c:v>
                </c:pt>
                <c:pt idx="1">
                  <c:v>3.54</c:v>
                </c:pt>
                <c:pt idx="2">
                  <c:v>5.06</c:v>
                </c:pt>
                <c:pt idx="3">
                  <c:v>5.09</c:v>
                </c:pt>
                <c:pt idx="4">
                  <c:v>7.27</c:v>
                </c:pt>
                <c:pt idx="5">
                  <c:v>7.49</c:v>
                </c:pt>
                <c:pt idx="6">
                  <c:v>8.61</c:v>
                </c:pt>
                <c:pt idx="7">
                  <c:v>42.07</c:v>
                </c:pt>
              </c:numCache>
            </c:numRef>
          </c:val>
        </c:ser>
        <c:dLbls>
          <c:numFmt formatCode="0.00" sourceLinked="0"/>
          <c:txPr>
            <a:bodyPr/>
            <a:lstStyle/>
            <a:p>
              <a:pPr>
                <a:defRPr sz="11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100"/>
            </a:pPr>
          </a:p>
        </c:txPr>
        <c:crossAx val="-2113994440"/>
        <c:crosses val="autoZero"/>
        <c:auto val="1"/>
        <c:lblAlgn val="ctr"/>
        <c:lblOffset val="100"/>
        <c:noMultiLvlLbl val="0"/>
      </c:catAx>
      <c:valAx>
        <c:axId val="-2113994440"/>
        <c:scaling>
          <c:max val="50.0"/>
          <c:min val="0.0"/>
        </c:scaling>
        <c:delete val="0"/>
        <c:axPos val="b"/>
        <c:majorGridlines>
          <c:spPr>
            <a:ln>
              <a:solidFill>
                <a:srgbClr val="E3EEF1"/>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14313B"/>
          </a:solidFill>
          <a:latin typeface="Calibri (M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Pengaruh maksimum (%)</c:v>
                </c:pt>
              </c:strCache>
            </c:strRef>
          </c:tx>
          <c:dPt>
            <c:idx val="0"/>
            <c:spPr>
              <a:solidFill>
                <a:srgbClr val="8A9BA3"/>
              </a:solidFill>
            </c:spPr>
          </c:dPt>
          <c:dPt>
            <c:idx val="1"/>
            <c:spPr>
              <a:solidFill>
                <a:srgbClr val="9EDCE6"/>
              </a:solidFill>
            </c:spPr>
          </c:dPt>
          <c:dPt>
            <c:idx val="2"/>
            <c:spPr>
              <a:solidFill>
                <a:srgbClr val="0B5E6E"/>
              </a:solidFill>
            </c:spPr>
          </c:dPt>
          <c:dPt>
            <c:idx val="3"/>
            <c:spPr>
              <a:solidFill>
                <a:srgbClr val="9EDCE6"/>
              </a:solidFill>
            </c:spPr>
          </c:dPt>
          <c:dPt>
            <c:idx val="4"/>
            <c:spPr>
              <a:solidFill>
                <a:srgbClr val="FFD23B"/>
              </a:solidFill>
            </c:spPr>
          </c:dPt>
          <c:dPt>
            <c:idx val="5"/>
            <c:spPr>
              <a:solidFill>
                <a:srgbClr val="FFD23B"/>
              </a:solidFill>
            </c:spPr>
          </c:dPt>
          <c:dPt>
            <c:idx val="6"/>
            <c:spPr>
              <a:solidFill>
                <a:srgbClr val="9EDCE6"/>
              </a:solidFill>
            </c:spPr>
          </c:dPt>
          <c:dPt>
            <c:idx val="7"/>
            <c:spPr>
              <a:solidFill>
                <a:srgbClr val="FFD23B"/>
              </a:solidFill>
            </c:spPr>
          </c:dPt>
          <c:cat>
            <c:strRef>
              <c:f>Sheet1!$A$2:$A$9</c:f>
              <c:strCache>
                <c:ptCount val="8"/>
                <c:pt idx="0">
                  <c:v>Sensitivitas ODTW thd investasi</c:v>
                </c:pt>
                <c:pt idx="1">
                  <c:v>ODTW referensi</c:v>
                </c:pt>
                <c:pt idx="2">
                  <c:v>Laju pertumbuhan eksternal</c:v>
                </c:pt>
                <c:pt idx="3">
                  <c:v>RDDL referensi</c:v>
                </c:pt>
                <c:pt idx="4">
                  <c:v>Bobot ODTW</c:v>
                </c:pt>
                <c:pt idx="5">
                  <c:v>Bobot kepadatan</c:v>
                </c:pt>
                <c:pt idx="6">
                  <c:v>Kepadatan referensi</c:v>
                </c:pt>
                <c:pt idx="7">
                  <c:v>Laju penurunan dasar</c:v>
                </c:pt>
              </c:strCache>
            </c:strRef>
          </c:cat>
          <c:val>
            <c:numRef>
              <c:f>Sheet1!$B$2:$B$9</c:f>
              <c:numCache>
                <c:formatCode>General</c:formatCode>
                <c:ptCount val="8"/>
                <c:pt idx="0">
                  <c:v>2.57</c:v>
                </c:pt>
                <c:pt idx="1">
                  <c:v>3.54</c:v>
                </c:pt>
                <c:pt idx="2">
                  <c:v>5.06</c:v>
                </c:pt>
                <c:pt idx="3">
                  <c:v>5.09</c:v>
                </c:pt>
                <c:pt idx="4">
                  <c:v>7.27</c:v>
                </c:pt>
                <c:pt idx="5">
                  <c:v>7.49</c:v>
                </c:pt>
                <c:pt idx="6">
                  <c:v>8.61</c:v>
                </c:pt>
                <c:pt idx="7">
                  <c:v>42.07</c:v>
                </c:pt>
              </c:numCache>
            </c:numRef>
          </c:val>
        </c:ser>
        <c:dLbls>
          <c:numFmt formatCode="0.00&quot;%&quot;" sourceLinked="0"/>
          <c:txPr>
            <a:bodyPr/>
            <a:lstStyle/>
            <a:p>
              <a:pPr>
                <a:defRPr sz="1200">
                  <a:solidFill>
                    <a:srgbClr val="14313B"/>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50.0"/>
          <c:min val="0.0"/>
        </c:scaling>
        <c:delete val="0"/>
        <c:axPos val="b"/>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Analisis sensitivitas saya lakukan dengan tiga cara: mengubah tiap parameter plus-minus 10 persen satu per satu, menguji parameter asumsi pada seluruh rentang nilainya, dan mengecek apakah urutan skenario berubah pada tujuh kondisi. Hasilnya, parameter yang paling berpengaruh justru asumsi: tiga dari empat teratas, dengan laju penurunan dasar paling besar, 42 persen. Ketidakpastian terbesar ada pada rasio laju penurunan terhadap laju pertumbuhan, yang tadi juga tidak bisa ditentukan dari data saat kalibrasi. Tapi yang terpenting, pada ketujuh kondisi itu urutan skenario tidak berubah sama sekali. Jadi angka 2050 memang bisa bergeser, tetapi perbandingan antarskenario tetap bisa dipegang.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1.png"/><Relationship Id="rId8" Type="http://schemas.openxmlformats.org/officeDocument/2006/relationships/chart" Target="../charts/chart7.xml"/><Relationship Id="rId9" Type="http://schemas.openxmlformats.org/officeDocument/2006/relationships/chart" Target="../charts/chart2.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Analisis Sensitivitas</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Angka 2050 bisa bergeser cukup besar, tetapi urutan skenario tetap sama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33" id="133"/>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36" id="136"/>
          <p:cNvGrpSpPr/>
          <p:nvPr/>
        </p:nvGrpSpPr>
        <p:grpSpPr>
          <a:xfrm rot="0">
            <a:off x="12755880" y="274320"/>
            <a:ext cx="3931920" cy="411480"/>
            <a:chOff x="0" y="0"/>
            <a:chExt cx="5242560" cy="548640"/>
          </a:xfrm>
        </p:grpSpPr>
        <p:sp>
          <p:nvSpPr>
            <p:cNvPr name="Freeform 137" id="137"/>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8" id="138"/>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2F · Analisis sensitivitas</a:t>
              </a:r>
            </a:p>
          </p:txBody>
        </p:sp>
      </p:grpSp>
      <p:sp>
        <p:nvSpPr>
          <p:cNvPr id="139" name="Rounded Rectangle 138"/>
          <p:cNvSpPr/>
          <p:nvPr/>
        </p:nvSpPr>
        <p:spPr>
          <a:xfrm>
            <a:off x="822960" y="1783080"/>
            <a:ext cx="16642080" cy="548640"/>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320" b="1" i="0">
                <a:solidFill>
                  <a:srgbClr val="0B5E6E"/>
                </a:solidFill>
                <a:latin typeface="Calibri (MS) Bold"/>
              </a:rPr>
              <a:t>Cara pengujian:  </a:t>
            </a:r>
            <a:r>
              <a:rPr sz="1320" b="0" i="0">
                <a:solidFill>
                  <a:srgbClr val="14313B"/>
                </a:solidFill>
                <a:latin typeface="Calibri (MS)"/>
              </a:rPr>
              <a:t>① tiap parameter diubah ±10%, satu per satu (32 parameter)   ② diuji pada seluruh rentang nilainya (17 kelompok)   ③ urutan skenario dicek pada 7 kondisi</a:t>
            </a:r>
          </a:p>
        </p:txBody>
      </p:sp>
      <p:sp>
        <p:nvSpPr>
          <p:cNvPr id="140" name="TextBox 139"/>
          <p:cNvSpPr txBox="1"/>
          <p:nvPr/>
        </p:nvSpPr>
        <p:spPr>
          <a:xfrm>
            <a:off x="822960" y="2514600"/>
            <a:ext cx="9418320" cy="365760"/>
          </a:xfrm>
          <a:prstGeom prst="rect">
            <a:avLst/>
          </a:prstGeom>
          <a:noFill/>
        </p:spPr>
        <p:txBody>
          <a:bodyPr wrap="square" anchor="t" lIns="0" rIns="0" tIns="0" bIns="0">
            <a:spAutoFit/>
          </a:bodyPr>
          <a:lstStyle/>
          <a:p>
            <a:pPr algn="l">
              <a:spcAft>
                <a:spcPts val="400"/>
              </a:spcAft>
            </a:pPr>
            <a:r>
              <a:rPr sz="1380" b="1" i="0">
                <a:solidFill>
                  <a:srgbClr val="14313B"/>
                </a:solidFill>
                <a:latin typeface="Calibri (MS) Bold"/>
              </a:rPr>
              <a:t>Pengaruh terbesar terhadap jumlah wisatawan 2050 (uji ±10%, %)</a:t>
            </a:r>
          </a:p>
        </p:txBody>
      </p:sp>
      <p:graphicFrame>
        <p:nvGraphicFramePr>
          <p:cNvPr id="141" name="Chart 140"/>
          <p:cNvGraphicFramePr>
            <a:graphicFrameLocks noGrp="1"/>
          </p:cNvGraphicFramePr>
          <p:nvPr/>
        </p:nvGraphicFramePr>
        <p:xfrm>
          <a:off x="822960" y="2880360"/>
          <a:ext cx="9418320" cy="4434840"/>
        </p:xfrm>
        <a:graphic>
          <a:graphicData uri="http://schemas.openxmlformats.org/drawingml/2006/chart">
            <c:chart xmlns:c="http://schemas.openxmlformats.org/drawingml/2006/chart" r:id="rId9"/>
          </a:graphicData>
        </a:graphic>
      </p:graphicFrame>
      <p:sp>
        <p:nvSpPr>
          <p:cNvPr id="142" name="Rectangle 141"/>
          <p:cNvSpPr/>
          <p:nvPr/>
        </p:nvSpPr>
        <p:spPr>
          <a:xfrm>
            <a:off x="914400" y="7498079"/>
            <a:ext cx="228600" cy="2286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207008" y="7443216"/>
            <a:ext cx="2011680" cy="365760"/>
          </a:xfrm>
          <a:prstGeom prst="rect">
            <a:avLst/>
          </a:prstGeom>
          <a:noFill/>
        </p:spPr>
        <p:txBody>
          <a:bodyPr wrap="square" anchor="t" lIns="0" rIns="0" tIns="0" bIns="0">
            <a:spAutoFit/>
          </a:bodyPr>
          <a:lstStyle/>
          <a:p>
            <a:pPr algn="l">
              <a:spcAft>
                <a:spcPts val="400"/>
              </a:spcAft>
            </a:pPr>
            <a:r>
              <a:rPr sz="1150" b="0" i="0">
                <a:solidFill>
                  <a:srgbClr val="14313B"/>
                </a:solidFill>
                <a:latin typeface="Calibri (MS)"/>
              </a:rPr>
              <a:t>Asumsi peneliti</a:t>
            </a:r>
          </a:p>
        </p:txBody>
      </p:sp>
      <p:sp>
        <p:nvSpPr>
          <p:cNvPr id="144" name="Rectangle 143"/>
          <p:cNvSpPr/>
          <p:nvPr/>
        </p:nvSpPr>
        <p:spPr>
          <a:xfrm>
            <a:off x="3246120" y="7498079"/>
            <a:ext cx="228600" cy="228600"/>
          </a:xfrm>
          <a:prstGeom prst="rect">
            <a:avLst/>
          </a:prstGeom>
          <a:solidFill>
            <a:srgbClr val="8FD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3538727" y="7443216"/>
            <a:ext cx="2011680" cy="365760"/>
          </a:xfrm>
          <a:prstGeom prst="rect">
            <a:avLst/>
          </a:prstGeom>
          <a:noFill/>
        </p:spPr>
        <p:txBody>
          <a:bodyPr wrap="square" anchor="t" lIns="0" rIns="0" tIns="0" bIns="0">
            <a:spAutoFit/>
          </a:bodyPr>
          <a:lstStyle/>
          <a:p>
            <a:pPr algn="l">
              <a:spcAft>
                <a:spcPts val="400"/>
              </a:spcAft>
            </a:pPr>
            <a:r>
              <a:rPr sz="1150" b="0" i="0">
                <a:solidFill>
                  <a:srgbClr val="14313B"/>
                </a:solidFill>
                <a:latin typeface="Calibri (MS)"/>
              </a:rPr>
              <a:t>Nilai acuan (normalisasi)</a:t>
            </a:r>
          </a:p>
        </p:txBody>
      </p:sp>
      <p:sp>
        <p:nvSpPr>
          <p:cNvPr id="146" name="Rectangle 145"/>
          <p:cNvSpPr/>
          <p:nvPr/>
        </p:nvSpPr>
        <p:spPr>
          <a:xfrm>
            <a:off x="5577840" y="7498079"/>
            <a:ext cx="228600" cy="228600"/>
          </a:xfrm>
          <a:prstGeom prst="rect">
            <a:avLst/>
          </a:prstGeom>
          <a:solidFill>
            <a:srgbClr val="0B5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870448" y="7443216"/>
            <a:ext cx="2011680" cy="365760"/>
          </a:xfrm>
          <a:prstGeom prst="rect">
            <a:avLst/>
          </a:prstGeom>
          <a:noFill/>
        </p:spPr>
        <p:txBody>
          <a:bodyPr wrap="square" anchor="t" lIns="0" rIns="0" tIns="0" bIns="0">
            <a:spAutoFit/>
          </a:bodyPr>
          <a:lstStyle/>
          <a:p>
            <a:pPr algn="l">
              <a:spcAft>
                <a:spcPts val="400"/>
              </a:spcAft>
            </a:pPr>
            <a:r>
              <a:rPr sz="1150" b="0" i="0">
                <a:solidFill>
                  <a:srgbClr val="14313B"/>
                </a:solidFill>
                <a:latin typeface="Calibri (MS)"/>
              </a:rPr>
              <a:t>Dihitung dari data</a:t>
            </a:r>
          </a:p>
        </p:txBody>
      </p:sp>
      <p:sp>
        <p:nvSpPr>
          <p:cNvPr id="148" name="Rectangle 147"/>
          <p:cNvSpPr/>
          <p:nvPr/>
        </p:nvSpPr>
        <p:spPr>
          <a:xfrm>
            <a:off x="7909559" y="7498079"/>
            <a:ext cx="228600" cy="228600"/>
          </a:xfrm>
          <a:prstGeom prst="rect">
            <a:avLst/>
          </a:prstGeom>
          <a:solidFill>
            <a:srgbClr val="9AA5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8202167" y="7443216"/>
            <a:ext cx="2011680" cy="365760"/>
          </a:xfrm>
          <a:prstGeom prst="rect">
            <a:avLst/>
          </a:prstGeom>
          <a:noFill/>
        </p:spPr>
        <p:txBody>
          <a:bodyPr wrap="square" anchor="t" lIns="0" rIns="0" tIns="0" bIns="0">
            <a:spAutoFit/>
          </a:bodyPr>
          <a:lstStyle/>
          <a:p>
            <a:pPr algn="l">
              <a:spcAft>
                <a:spcPts val="400"/>
              </a:spcAft>
            </a:pPr>
            <a:r>
              <a:rPr sz="1150" b="0" i="0">
                <a:solidFill>
                  <a:srgbClr val="14313B"/>
                </a:solidFill>
                <a:latin typeface="Calibri (MS)"/>
              </a:rPr>
              <a:t>Persamaan stok-aliran</a:t>
            </a:r>
          </a:p>
        </p:txBody>
      </p:sp>
      <p:sp>
        <p:nvSpPr>
          <p:cNvPr id="150" name="Rounded Rectangle 149"/>
          <p:cNvSpPr/>
          <p:nvPr/>
        </p:nvSpPr>
        <p:spPr>
          <a:xfrm>
            <a:off x="10607040" y="2560320"/>
            <a:ext cx="6858000" cy="1645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90" b="1" i="0">
                <a:solidFill>
                  <a:srgbClr val="0B5E6E"/>
                </a:solidFill>
                <a:latin typeface="Calibri (MS) Bold"/>
              </a:rPr>
              <a:t>Yang paling berpengaruh adalah asumsi</a:t>
            </a:r>
          </a:p>
          <a:p>
            <a:pPr algn="l">
              <a:spcAft>
                <a:spcPts val="300"/>
              </a:spcAft>
            </a:pPr>
            <a:r>
              <a:rPr sz="1320" b="0" i="0">
                <a:solidFill>
                  <a:srgbClr val="14313B"/>
                </a:solidFill>
                <a:latin typeface="Calibri (MS)"/>
              </a:rPr>
              <a:t>3 dari 4 parameter teratas berstatus asumsi. Laju penurunan dasar paling besar: 42,07%.</a:t>
            </a:r>
          </a:p>
        </p:txBody>
      </p:sp>
      <p:sp>
        <p:nvSpPr>
          <p:cNvPr id="151" name="Rounded Rectangle 150"/>
          <p:cNvSpPr/>
          <p:nvPr/>
        </p:nvSpPr>
        <p:spPr>
          <a:xfrm>
            <a:off x="10607040" y="4343400"/>
            <a:ext cx="6858000" cy="1645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90" b="1" i="0">
                <a:solidFill>
                  <a:srgbClr val="0B5E6E"/>
                </a:solidFill>
                <a:latin typeface="Calibri (MS) Bold"/>
              </a:rPr>
              <a:t>Ketidakpastian terbesar: rasio laju penurunan dan pertumbuhan</a:t>
            </a:r>
          </a:p>
          <a:p>
            <a:pPr algn="l">
              <a:spcAft>
                <a:spcPts val="300"/>
              </a:spcAft>
            </a:pPr>
            <a:r>
              <a:rPr sz="1320" b="0" i="0">
                <a:solidFill>
                  <a:srgbClr val="14313B"/>
                </a:solidFill>
                <a:latin typeface="Calibri (MS)"/>
              </a:rPr>
              <a:t>Saat rasionya digeser 0,60–0,90, hasil wisatawan 2050 berbeda hingga 153,57 poin (69,65 poin bila LPE dihitung ulang).</a:t>
            </a:r>
          </a:p>
        </p:txBody>
      </p:sp>
      <p:sp>
        <p:nvSpPr>
          <p:cNvPr id="152" name="Rounded Rectangle 151"/>
          <p:cNvSpPr/>
          <p:nvPr/>
        </p:nvSpPr>
        <p:spPr>
          <a:xfrm>
            <a:off x="10607040" y="6126479"/>
            <a:ext cx="6858000" cy="1645920"/>
          </a:xfrm>
          <a:prstGeom prst="roundRect">
            <a:avLst>
              <a:gd name="adj" fmla="val 8000"/>
            </a:avLst>
          </a:prstGeom>
          <a:solidFill>
            <a:srgbClr val="C9F0D6"/>
          </a:solidFill>
          <a:ln w="12700">
            <a:solidFill>
              <a:srgbClr val="9BD8A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90" b="1" i="0">
                <a:solidFill>
                  <a:srgbClr val="1E7A43"/>
                </a:solidFill>
                <a:latin typeface="Calibri (MS) Bold"/>
              </a:rPr>
              <a:t>Urutan skenario tetap sama</a:t>
            </a:r>
          </a:p>
          <a:p>
            <a:pPr algn="l">
              <a:spcAft>
                <a:spcPts val="300"/>
              </a:spcAft>
            </a:pPr>
            <a:r>
              <a:rPr sz="1320" b="0" i="0">
                <a:solidFill>
                  <a:srgbClr val="14313B"/>
                </a:solidFill>
                <a:latin typeface="Calibri (MS)"/>
              </a:rPr>
              <a:t>Pada 7 kondisi (C0–C6), ketujuh indikator memberi urutan skenario yang sama persis.</a:t>
            </a:r>
          </a:p>
        </p:txBody>
      </p:sp>
      <p:sp>
        <p:nvSpPr>
          <p:cNvPr id="153" name="Rounded Rectangle 152"/>
          <p:cNvSpPr/>
          <p:nvPr/>
        </p:nvSpPr>
        <p:spPr>
          <a:xfrm>
            <a:off x="822960" y="800100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Angka proyeksi 2050 tidak bisa dibaca sebagai ramalan pasti, tetapi perbandingan antarskenario tetap bisa dipegang.</a:t>
            </a:r>
          </a:p>
        </p:txBody>
      </p:sp>
      <p:sp>
        <p:nvSpPr>
          <p:cNvPr id="154" name="TextBox 15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4.7 (Tabel 56–57, Gambar 51) dan uji kekokohan peringkat skenario (Tabel 63). Rincian rancangan pengujian di lampiran.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