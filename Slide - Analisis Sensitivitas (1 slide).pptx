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2.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5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96"/>
  </p:notesMasterIdLst>
  <p:sldIdLst>
    <p:sldId id="308" r:id="rId58"/>
  </p:sldIdLst>
  <p:sldSz cx="18288000" cy="10287000"/>
  <p:notesSz cx="6858000" cy="9144000"/>
  <p:embeddedFontLst>
    <p:embeddedFont>
      <p:font typeface="Calibri (MS) Bold" charset="1" panose="020F0702030404030204"/>
      <p:regular r:id="rId99"/>
    </p:embeddedFont>
    <p:embeddedFont>
      <p:font typeface="Calibri (MS) Bold Italics" charset="1" panose="020F07020304040A0204"/>
      <p:regular r:id="rId100"/>
    </p:embeddedFont>
    <p:embeddedFont>
      <p:font typeface="Calibri (MS)" charset="1" panose="020F0502020204030204"/>
      <p:regular r:id="rId101"/>
    </p:embeddedFont>
    <p:embeddedFont>
      <p:font typeface="Montserrat" charset="1" panose="00000500000000000000"/>
      <p:regular r:id="rId105"/>
    </p:embeddedFont>
    <p:embeddedFont>
      <p:font typeface="Calibri (MS) Italics" charset="1" panose="020F05020202040A0204"/>
      <p:regular r:id="rId108"/>
    </p:embeddedFont>
    <p:embeddedFont>
      <p:font typeface="Cambria Italics" charset="1" panose="020405030504060A0204"/>
      <p:regular r:id="rId1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58" Type="http://schemas.openxmlformats.org/officeDocument/2006/relationships/slide" Target="slides/slide1.xml"/><Relationship Id="rId96" Type="http://schemas.openxmlformats.org/officeDocument/2006/relationships/notesMaster" Target="notesMasters/notesMaster1.xml"/><Relationship Id="rId97" Type="http://schemas.openxmlformats.org/officeDocument/2006/relationships/theme" Target="theme/theme2.xml"/><Relationship Id="rId99" Type="http://schemas.openxmlformats.org/officeDocument/2006/relationships/font" Target="fonts/font99.fntdata"/><Relationship Id="rId100" Type="http://schemas.openxmlformats.org/officeDocument/2006/relationships/font" Target="fonts/font100.fntdata"/><Relationship Id="rId101" Type="http://schemas.openxmlformats.org/officeDocument/2006/relationships/font" Target="fonts/font101.fntdata"/><Relationship Id="rId105" Type="http://schemas.openxmlformats.org/officeDocument/2006/relationships/font" Target="fonts/font105.fntdata"/><Relationship Id="rId108" Type="http://schemas.openxmlformats.org/officeDocument/2006/relationships/font" Target="fonts/font108.fntdata"/><Relationship Id="rId128" Type="http://schemas.openxmlformats.org/officeDocument/2006/relationships/font" Target="fonts/font128.fntdata"/></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Pengaruh maksimum (%)</c:v>
                </c:pt>
              </c:strCache>
            </c:strRef>
          </c:tx>
          <c:dPt>
            <c:idx val="0"/>
            <c:spPr>
              <a:solidFill>
                <a:srgbClr val="9AA5AB"/>
              </a:solidFill>
            </c:spPr>
          </c:dPt>
          <c:dPt>
            <c:idx val="1"/>
            <c:spPr>
              <a:solidFill>
                <a:srgbClr val="8FD3DE"/>
              </a:solidFill>
            </c:spPr>
          </c:dPt>
          <c:dPt>
            <c:idx val="2"/>
            <c:spPr>
              <a:solidFill>
                <a:srgbClr val="0B5E6E"/>
              </a:solidFill>
            </c:spPr>
          </c:dPt>
          <c:dPt>
            <c:idx val="3"/>
            <c:spPr>
              <a:solidFill>
                <a:srgbClr val="8FD3DE"/>
              </a:solidFill>
            </c:spPr>
          </c:dPt>
          <c:dPt>
            <c:idx val="4"/>
            <c:spPr>
              <a:solidFill>
                <a:srgbClr val="E8A317"/>
              </a:solidFill>
            </c:spPr>
          </c:dPt>
          <c:dPt>
            <c:idx val="5"/>
            <c:spPr>
              <a:solidFill>
                <a:srgbClr val="E8A317"/>
              </a:solidFill>
            </c:spPr>
          </c:dPt>
          <c:dPt>
            <c:idx val="6"/>
            <c:spPr>
              <a:solidFill>
                <a:srgbClr val="8FD3DE"/>
              </a:solidFill>
            </c:spPr>
          </c:dPt>
          <c:dPt>
            <c:idx val="7"/>
            <c:spPr>
              <a:solidFill>
                <a:srgbClr val="E8A317"/>
              </a:solidFill>
            </c:spPr>
          </c:dPt>
          <c:cat>
            <c:strRef>
              <c:f>Sheet1!$A$2:$A$9</c:f>
              <c:strCache>
                <c:ptCount val="8"/>
                <c:pt idx="0">
                  <c:v>Sensitivitas ODTW thd investasi</c:v>
                </c:pt>
                <c:pt idx="1">
                  <c:v>ODTW referensi</c:v>
                </c:pt>
                <c:pt idx="2">
                  <c:v>Laju pertumbuhan eksternal</c:v>
                </c:pt>
                <c:pt idx="3">
                  <c:v>RDDL referensi</c:v>
                </c:pt>
                <c:pt idx="4">
                  <c:v>Bobot ODTW</c:v>
                </c:pt>
                <c:pt idx="5">
                  <c:v>Bobot kepadatan</c:v>
                </c:pt>
                <c:pt idx="6">
                  <c:v>Kepadatan referensi</c:v>
                </c:pt>
                <c:pt idx="7">
                  <c:v>Laju penurunan dasar</c:v>
                </c:pt>
              </c:strCache>
            </c:strRef>
          </c:cat>
          <c:val>
            <c:numRef>
              <c:f>Sheet1!$B$2:$B$9</c:f>
              <c:numCache>
                <c:formatCode>General</c:formatCode>
                <c:ptCount val="8"/>
                <c:pt idx="0">
                  <c:v>2.57</c:v>
                </c:pt>
                <c:pt idx="1">
                  <c:v>3.54</c:v>
                </c:pt>
                <c:pt idx="2">
                  <c:v>5.06</c:v>
                </c:pt>
                <c:pt idx="3">
                  <c:v>5.09</c:v>
                </c:pt>
                <c:pt idx="4">
                  <c:v>7.27</c:v>
                </c:pt>
                <c:pt idx="5">
                  <c:v>7.49</c:v>
                </c:pt>
                <c:pt idx="6">
                  <c:v>8.61</c:v>
                </c:pt>
                <c:pt idx="7">
                  <c:v>42.07</c:v>
                </c:pt>
              </c:numCache>
            </c:numRef>
          </c:val>
        </c:ser>
        <c:dLbls>
          <c:numFmt formatCode="0.00" sourceLinked="0"/>
          <c:txPr>
            <a:bodyPr/>
            <a:lstStyle/>
            <a:p>
              <a:pPr>
                <a:defRPr sz="11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B8C7CC"/>
            </a:solidFill>
          </a:ln>
        </c:spPr>
        <c:txPr>
          <a:bodyPr/>
          <a:lstStyle/>
          <a:p>
            <a:pPr>
              <a:defRPr sz="1100"/>
            </a:pPr>
          </a:p>
        </c:txPr>
        <c:crossAx val="-2113994440"/>
        <c:crosses val="autoZero"/>
        <c:auto val="1"/>
        <c:lblAlgn val="ctr"/>
        <c:lblOffset val="100"/>
        <c:noMultiLvlLbl val="0"/>
      </c:catAx>
      <c:valAx>
        <c:axId val="-2113994440"/>
        <c:scaling>
          <c:max val="50.0"/>
          <c:min val="0.0"/>
        </c:scaling>
        <c:delete val="0"/>
        <c:axPos val="b"/>
        <c:majorGridlines>
          <c:spPr>
            <a:ln>
              <a:solidFill>
                <a:srgbClr val="E3EEF1"/>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14313B"/>
          </a:solidFill>
          <a:latin typeface="Calibri (MS)"/>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Pengaruh maksimum (%)</c:v>
                </c:pt>
              </c:strCache>
            </c:strRef>
          </c:tx>
          <c:dPt>
            <c:idx val="0"/>
            <c:spPr>
              <a:solidFill>
                <a:srgbClr val="8A9BA3"/>
              </a:solidFill>
            </c:spPr>
          </c:dPt>
          <c:dPt>
            <c:idx val="1"/>
            <c:spPr>
              <a:solidFill>
                <a:srgbClr val="9EDCE6"/>
              </a:solidFill>
            </c:spPr>
          </c:dPt>
          <c:dPt>
            <c:idx val="2"/>
            <c:spPr>
              <a:solidFill>
                <a:srgbClr val="0B5E6E"/>
              </a:solidFill>
            </c:spPr>
          </c:dPt>
          <c:dPt>
            <c:idx val="3"/>
            <c:spPr>
              <a:solidFill>
                <a:srgbClr val="9EDCE6"/>
              </a:solidFill>
            </c:spPr>
          </c:dPt>
          <c:dPt>
            <c:idx val="4"/>
            <c:spPr>
              <a:solidFill>
                <a:srgbClr val="FFD23B"/>
              </a:solidFill>
            </c:spPr>
          </c:dPt>
          <c:dPt>
            <c:idx val="5"/>
            <c:spPr>
              <a:solidFill>
                <a:srgbClr val="FFD23B"/>
              </a:solidFill>
            </c:spPr>
          </c:dPt>
          <c:dPt>
            <c:idx val="6"/>
            <c:spPr>
              <a:solidFill>
                <a:srgbClr val="9EDCE6"/>
              </a:solidFill>
            </c:spPr>
          </c:dPt>
          <c:dPt>
            <c:idx val="7"/>
            <c:spPr>
              <a:solidFill>
                <a:srgbClr val="FFD23B"/>
              </a:solidFill>
            </c:spPr>
          </c:dPt>
          <c:cat>
            <c:strRef>
              <c:f>Sheet1!$A$2:$A$9</c:f>
              <c:strCache>
                <c:ptCount val="8"/>
                <c:pt idx="0">
                  <c:v>Sensitivitas ODTW thd investasi</c:v>
                </c:pt>
                <c:pt idx="1">
                  <c:v>ODTW referensi</c:v>
                </c:pt>
                <c:pt idx="2">
                  <c:v>Laju pertumbuhan eksternal</c:v>
                </c:pt>
                <c:pt idx="3">
                  <c:v>RDDL referensi</c:v>
                </c:pt>
                <c:pt idx="4">
                  <c:v>Bobot ODTW</c:v>
                </c:pt>
                <c:pt idx="5">
                  <c:v>Bobot kepadatan</c:v>
                </c:pt>
                <c:pt idx="6">
                  <c:v>Kepadatan referensi</c:v>
                </c:pt>
                <c:pt idx="7">
                  <c:v>Laju penurunan dasar</c:v>
                </c:pt>
              </c:strCache>
            </c:strRef>
          </c:cat>
          <c:val>
            <c:numRef>
              <c:f>Sheet1!$B$2:$B$9</c:f>
              <c:numCache>
                <c:formatCode>General</c:formatCode>
                <c:ptCount val="8"/>
                <c:pt idx="0">
                  <c:v>2.57</c:v>
                </c:pt>
                <c:pt idx="1">
                  <c:v>3.54</c:v>
                </c:pt>
                <c:pt idx="2">
                  <c:v>5.06</c:v>
                </c:pt>
                <c:pt idx="3">
                  <c:v>5.09</c:v>
                </c:pt>
                <c:pt idx="4">
                  <c:v>7.27</c:v>
                </c:pt>
                <c:pt idx="5">
                  <c:v>7.49</c:v>
                </c:pt>
                <c:pt idx="6">
                  <c:v>8.61</c:v>
                </c:pt>
                <c:pt idx="7">
                  <c:v>42.07</c:v>
                </c:pt>
              </c:numCache>
            </c:numRef>
          </c:val>
        </c:ser>
        <c:dLbls>
          <c:numFmt formatCode="0.00&quot;%&quot;" sourceLinked="0"/>
          <c:txPr>
            <a:bodyPr/>
            <a:lstStyle/>
            <a:p>
              <a:pPr>
                <a:defRPr sz="1200">
                  <a:solidFill>
                    <a:srgbClr val="14313B"/>
                  </a:solidFill>
                </a:defRPr>
              </a:pPr>
            </a:p>
          </c:txPr>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B8C7CC"/>
            </a:solidFill>
          </a:ln>
        </c:spPr>
        <c:txPr>
          <a:bodyPr/>
          <a:lstStyle/>
          <a:p>
            <a:pPr>
              <a:defRPr sz="1200"/>
            </a:pPr>
          </a:p>
        </c:txPr>
        <c:crossAx val="-2113994440"/>
        <c:crosses val="autoZero"/>
        <c:auto val="1"/>
        <c:lblAlgn val="ctr"/>
        <c:lblOffset val="100"/>
        <c:noMultiLvlLbl val="0"/>
      </c:catAx>
      <c:valAx>
        <c:axId val="-2113994440"/>
        <c:scaling>
          <c:max val="50.0"/>
          <c:min val="0.0"/>
        </c:scaling>
        <c:delete val="0"/>
        <c:axPos val="b"/>
        <c:majorGridlines>
          <c:spPr>
            <a:ln>
              <a:solidFill>
                <a:srgbClr val="E3EEF1"/>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solidFill>
            <a:srgbClr val="14313B"/>
          </a:solidFill>
          <a:latin typeface="Calibri (M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5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Analisis sensitivitas saya lakukan dengan dua cara: mengubah tiap parameter plus-minus 10 persen satu per satu, dan menguji parameter asumsi pada seluruh rentang nilainya. Hasilnya, parameter yang paling berpengaruh justru asumsi: tiga dari empat teratas, dengan laju penurunan dasar paling besar, 42 persen. Ketidakpastian terbesar ada pada rasio laju penurunan terhadap laju pertumbuhan, yang saat kalibrasi juga tidak bisa ditentukan dari data. Karena itu angka 2050 tidak saya baca sebagai ramalan pasti, dan perbandingan antarskenario nanti saya uji ulang dengan menggeser asumsi-asumsi ini. Catatan bila ditanya: untuk lahan terbangun, yang paling berpengaruh adalah laju konversi lahan, dengan lebar rentang 115,70 poin persen.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1.png"/><Relationship Id="rId8" Type="http://schemas.openxmlformats.org/officeDocument/2006/relationships/chart" Target="../charts/chart7.xml"/><Relationship Id="rId9" Type="http://schemas.openxmlformats.org/officeDocument/2006/relationships/chart" Target="../charts/chart2.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Analisis Sensitivitas</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Parameter yang paling berpengaruh justru asumsi, bukan data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133" id="133"/>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
            </a:r>
          </a:p>
        </p:txBody>
      </p:sp>
      <p:grpSp>
        <p:nvGrpSpPr>
          <p:cNvPr name="Group 136" id="136"/>
          <p:cNvGrpSpPr/>
          <p:nvPr/>
        </p:nvGrpSpPr>
        <p:grpSpPr>
          <a:xfrm rot="0">
            <a:off x="12755880" y="274320"/>
            <a:ext cx="3931920" cy="411480"/>
            <a:chOff x="0" y="0"/>
            <a:chExt cx="5242560" cy="548640"/>
          </a:xfrm>
        </p:grpSpPr>
        <p:sp>
          <p:nvSpPr>
            <p:cNvPr name="Freeform 137" id="137"/>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38" id="138"/>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2F · Analisis sensitivitas</a:t>
              </a:r>
            </a:p>
          </p:txBody>
        </p:sp>
      </p:grpSp>
      <p:sp>
        <p:nvSpPr>
          <p:cNvPr id="139" name="Rounded Rectangle 138"/>
          <p:cNvSpPr/>
          <p:nvPr/>
        </p:nvSpPr>
        <p:spPr>
          <a:xfrm>
            <a:off x="822960" y="1783080"/>
            <a:ext cx="16642080" cy="548640"/>
          </a:xfrm>
          <a:prstGeom prst="roundRect">
            <a:avLst>
              <a:gd name="adj" fmla="val 8000"/>
            </a:avLst>
          </a:prstGeom>
          <a:solidFill>
            <a:srgbClr val="EAF8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lstStyle/>
          <a:p>
            <a:pPr algn="l">
              <a:spcAft>
                <a:spcPts val="300"/>
              </a:spcAft>
            </a:pPr>
            <a:r>
              <a:rPr sz="1320" b="1" i="0">
                <a:solidFill>
                  <a:srgbClr val="0B5E6E"/>
                </a:solidFill>
                <a:latin typeface="Calibri (MS) Bold"/>
              </a:rPr>
              <a:t>Cara pengujian:  </a:t>
            </a:r>
            <a:r>
              <a:rPr sz="1320" b="0" i="0">
                <a:solidFill>
                  <a:srgbClr val="14313B"/>
                </a:solidFill>
                <a:latin typeface="Calibri (MS)"/>
              </a:rPr>
              <a:t>① tiap parameter diubah ±10%, satu per satu (32 parameter)     ② parameter asumsi diuji pada seluruh rentang nilainya (17 kelompok)</a:t>
            </a:r>
          </a:p>
        </p:txBody>
      </p:sp>
      <p:sp>
        <p:nvSpPr>
          <p:cNvPr id="140" name="TextBox 139"/>
          <p:cNvSpPr txBox="1"/>
          <p:nvPr/>
        </p:nvSpPr>
        <p:spPr>
          <a:xfrm>
            <a:off x="822960" y="2514600"/>
            <a:ext cx="9418320" cy="365760"/>
          </a:xfrm>
          <a:prstGeom prst="rect">
            <a:avLst/>
          </a:prstGeom>
          <a:noFill/>
        </p:spPr>
        <p:txBody>
          <a:bodyPr wrap="square" anchor="t" lIns="0" rIns="0" tIns="0" bIns="0">
            <a:spAutoFit/>
          </a:bodyPr>
          <a:lstStyle/>
          <a:p>
            <a:pPr algn="l">
              <a:spcAft>
                <a:spcPts val="400"/>
              </a:spcAft>
            </a:pPr>
            <a:r>
              <a:rPr sz="1380" b="1" i="0">
                <a:solidFill>
                  <a:srgbClr val="14313B"/>
                </a:solidFill>
                <a:latin typeface="Calibri (MS) Bold"/>
              </a:rPr>
              <a:t>Pengaruh terbesar terhadap jumlah wisatawan 2050 (uji ±10%, %)</a:t>
            </a:r>
          </a:p>
        </p:txBody>
      </p:sp>
      <p:graphicFrame>
        <p:nvGraphicFramePr>
          <p:cNvPr id="141" name="Chart 140"/>
          <p:cNvGraphicFramePr>
            <a:graphicFrameLocks noGrp="1"/>
          </p:cNvGraphicFramePr>
          <p:nvPr/>
        </p:nvGraphicFramePr>
        <p:xfrm>
          <a:off x="822960" y="2880360"/>
          <a:ext cx="9418320" cy="4434840"/>
        </p:xfrm>
        <a:graphic>
          <a:graphicData uri="http://schemas.openxmlformats.org/drawingml/2006/chart">
            <c:chart xmlns:c="http://schemas.openxmlformats.org/drawingml/2006/chart" r:id="rId9"/>
          </a:graphicData>
        </a:graphic>
      </p:graphicFrame>
      <p:sp>
        <p:nvSpPr>
          <p:cNvPr id="142" name="Rectangle 141"/>
          <p:cNvSpPr/>
          <p:nvPr/>
        </p:nvSpPr>
        <p:spPr>
          <a:xfrm>
            <a:off x="914400" y="7498079"/>
            <a:ext cx="228600" cy="228600"/>
          </a:xfrm>
          <a:prstGeom prst="rect">
            <a:avLst/>
          </a:prstGeom>
          <a:solidFill>
            <a:srgbClr val="E8A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207008" y="7443216"/>
            <a:ext cx="2011680" cy="365760"/>
          </a:xfrm>
          <a:prstGeom prst="rect">
            <a:avLst/>
          </a:prstGeom>
          <a:noFill/>
        </p:spPr>
        <p:txBody>
          <a:bodyPr wrap="square" anchor="t" lIns="0" rIns="0" tIns="0" bIns="0">
            <a:spAutoFit/>
          </a:bodyPr>
          <a:lstStyle/>
          <a:p>
            <a:pPr algn="l">
              <a:spcAft>
                <a:spcPts val="400"/>
              </a:spcAft>
            </a:pPr>
            <a:r>
              <a:rPr sz="1150" b="0" i="0">
                <a:solidFill>
                  <a:srgbClr val="14313B"/>
                </a:solidFill>
                <a:latin typeface="Calibri (MS)"/>
              </a:rPr>
              <a:t>Asumsi peneliti</a:t>
            </a:r>
          </a:p>
        </p:txBody>
      </p:sp>
      <p:sp>
        <p:nvSpPr>
          <p:cNvPr id="144" name="Rectangle 143"/>
          <p:cNvSpPr/>
          <p:nvPr/>
        </p:nvSpPr>
        <p:spPr>
          <a:xfrm>
            <a:off x="3246120" y="7498079"/>
            <a:ext cx="228600" cy="228600"/>
          </a:xfrm>
          <a:prstGeom prst="rect">
            <a:avLst/>
          </a:prstGeom>
          <a:solidFill>
            <a:srgbClr val="8FD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3538727" y="7443216"/>
            <a:ext cx="2011680" cy="365760"/>
          </a:xfrm>
          <a:prstGeom prst="rect">
            <a:avLst/>
          </a:prstGeom>
          <a:noFill/>
        </p:spPr>
        <p:txBody>
          <a:bodyPr wrap="square" anchor="t" lIns="0" rIns="0" tIns="0" bIns="0">
            <a:spAutoFit/>
          </a:bodyPr>
          <a:lstStyle/>
          <a:p>
            <a:pPr algn="l">
              <a:spcAft>
                <a:spcPts val="400"/>
              </a:spcAft>
            </a:pPr>
            <a:r>
              <a:rPr sz="1150" b="0" i="0">
                <a:solidFill>
                  <a:srgbClr val="14313B"/>
                </a:solidFill>
                <a:latin typeface="Calibri (MS)"/>
              </a:rPr>
              <a:t>Nilai acuan (normalisasi)</a:t>
            </a:r>
          </a:p>
        </p:txBody>
      </p:sp>
      <p:sp>
        <p:nvSpPr>
          <p:cNvPr id="146" name="Rectangle 145"/>
          <p:cNvSpPr/>
          <p:nvPr/>
        </p:nvSpPr>
        <p:spPr>
          <a:xfrm>
            <a:off x="5577840" y="7498079"/>
            <a:ext cx="228600" cy="228600"/>
          </a:xfrm>
          <a:prstGeom prst="rect">
            <a:avLst/>
          </a:prstGeom>
          <a:solidFill>
            <a:srgbClr val="0B5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5870448" y="7443216"/>
            <a:ext cx="2011680" cy="365760"/>
          </a:xfrm>
          <a:prstGeom prst="rect">
            <a:avLst/>
          </a:prstGeom>
          <a:noFill/>
        </p:spPr>
        <p:txBody>
          <a:bodyPr wrap="square" anchor="t" lIns="0" rIns="0" tIns="0" bIns="0">
            <a:spAutoFit/>
          </a:bodyPr>
          <a:lstStyle/>
          <a:p>
            <a:pPr algn="l">
              <a:spcAft>
                <a:spcPts val="400"/>
              </a:spcAft>
            </a:pPr>
            <a:r>
              <a:rPr sz="1150" b="0" i="0">
                <a:solidFill>
                  <a:srgbClr val="14313B"/>
                </a:solidFill>
                <a:latin typeface="Calibri (MS)"/>
              </a:rPr>
              <a:t>Dihitung dari data</a:t>
            </a:r>
          </a:p>
        </p:txBody>
      </p:sp>
      <p:sp>
        <p:nvSpPr>
          <p:cNvPr id="148" name="Rectangle 147"/>
          <p:cNvSpPr/>
          <p:nvPr/>
        </p:nvSpPr>
        <p:spPr>
          <a:xfrm>
            <a:off x="7909559" y="7498079"/>
            <a:ext cx="228600" cy="228600"/>
          </a:xfrm>
          <a:prstGeom prst="rect">
            <a:avLst/>
          </a:prstGeom>
          <a:solidFill>
            <a:srgbClr val="9AA5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8202167" y="7443216"/>
            <a:ext cx="2011680" cy="365760"/>
          </a:xfrm>
          <a:prstGeom prst="rect">
            <a:avLst/>
          </a:prstGeom>
          <a:noFill/>
        </p:spPr>
        <p:txBody>
          <a:bodyPr wrap="square" anchor="t" lIns="0" rIns="0" tIns="0" bIns="0">
            <a:spAutoFit/>
          </a:bodyPr>
          <a:lstStyle/>
          <a:p>
            <a:pPr algn="l">
              <a:spcAft>
                <a:spcPts val="400"/>
              </a:spcAft>
            </a:pPr>
            <a:r>
              <a:rPr sz="1150" b="0" i="0">
                <a:solidFill>
                  <a:srgbClr val="14313B"/>
                </a:solidFill>
                <a:latin typeface="Calibri (MS)"/>
              </a:rPr>
              <a:t>Persamaan stok-aliran</a:t>
            </a:r>
          </a:p>
        </p:txBody>
      </p:sp>
      <p:sp>
        <p:nvSpPr>
          <p:cNvPr id="150" name="Rounded Rectangle 149"/>
          <p:cNvSpPr/>
          <p:nvPr/>
        </p:nvSpPr>
        <p:spPr>
          <a:xfrm>
            <a:off x="10607040" y="2560320"/>
            <a:ext cx="6858000" cy="16459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lstStyle/>
          <a:p>
            <a:pPr algn="l">
              <a:spcAft>
                <a:spcPts val="300"/>
              </a:spcAft>
            </a:pPr>
            <a:r>
              <a:rPr sz="1490" b="1" i="0">
                <a:solidFill>
                  <a:srgbClr val="0B5E6E"/>
                </a:solidFill>
                <a:latin typeface="Calibri (MS) Bold"/>
              </a:rPr>
              <a:t>Yang paling berpengaruh adalah asumsi</a:t>
            </a:r>
          </a:p>
          <a:p>
            <a:pPr algn="l">
              <a:spcAft>
                <a:spcPts val="300"/>
              </a:spcAft>
            </a:pPr>
            <a:r>
              <a:rPr sz="1320" b="0" i="0">
                <a:solidFill>
                  <a:srgbClr val="14313B"/>
                </a:solidFill>
                <a:latin typeface="Calibri (MS)"/>
              </a:rPr>
              <a:t>3 dari 4 parameter teratas berstatus asumsi. Laju penurunan dasar paling besar: 42,07%.</a:t>
            </a:r>
          </a:p>
        </p:txBody>
      </p:sp>
      <p:sp>
        <p:nvSpPr>
          <p:cNvPr id="151" name="Rounded Rectangle 150"/>
          <p:cNvSpPr/>
          <p:nvPr/>
        </p:nvSpPr>
        <p:spPr>
          <a:xfrm>
            <a:off x="10607040" y="4343400"/>
            <a:ext cx="6858000" cy="16459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lstStyle/>
          <a:p>
            <a:pPr algn="l">
              <a:spcAft>
                <a:spcPts val="300"/>
              </a:spcAft>
            </a:pPr>
            <a:r>
              <a:rPr sz="1490" b="1" i="0">
                <a:solidFill>
                  <a:srgbClr val="0B5E6E"/>
                </a:solidFill>
                <a:latin typeface="Calibri (MS) Bold"/>
              </a:rPr>
              <a:t>Ketidakpastian terbesar: rasio laju penurunan dan pertumbuhan</a:t>
            </a:r>
          </a:p>
          <a:p>
            <a:pPr algn="l">
              <a:spcAft>
                <a:spcPts val="300"/>
              </a:spcAft>
            </a:pPr>
            <a:r>
              <a:rPr sz="1320" b="0" i="0">
                <a:solidFill>
                  <a:srgbClr val="14313B"/>
                </a:solidFill>
                <a:latin typeface="Calibri (MS)"/>
              </a:rPr>
              <a:t>Mengubah rasio ini (0,60–0,90) membuat hasil wisatawan 2050 bisa bergeser hingga 153,57 poin persen (69,65 poin persen bila laju pertumbuhan dihitung ulang).</a:t>
            </a:r>
          </a:p>
        </p:txBody>
      </p:sp>
      <p:sp>
        <p:nvSpPr>
          <p:cNvPr id="152" name="Rounded Rectangle 151"/>
          <p:cNvSpPr/>
          <p:nvPr/>
        </p:nvSpPr>
        <p:spPr>
          <a:xfrm>
            <a:off x="10607040" y="6126479"/>
            <a:ext cx="6858000" cy="16459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lstStyle/>
          <a:p>
            <a:pPr algn="l">
              <a:spcAft>
                <a:spcPts val="300"/>
              </a:spcAft>
            </a:pPr>
            <a:r>
              <a:rPr sz="1490" b="1" i="0">
                <a:solidFill>
                  <a:srgbClr val="0B5E6E"/>
                </a:solidFill>
                <a:latin typeface="Calibri (MS) Bold"/>
              </a:rPr>
              <a:t>Diuji lanjut pada skenario</a:t>
            </a:r>
          </a:p>
          <a:p>
            <a:pPr algn="l">
              <a:spcAft>
                <a:spcPts val="300"/>
              </a:spcAft>
            </a:pPr>
            <a:r>
              <a:rPr sz="1320" b="0" i="0">
                <a:solidFill>
                  <a:srgbClr val="14313B"/>
                </a:solidFill>
                <a:latin typeface="Calibri (MS)"/>
              </a:rPr>
              <a:t>Karena asumsi sangat berpengaruh, perbandingan antarskenario nanti diuji ulang dengan menggeser asumsi-asumsi ini.</a:t>
            </a:r>
          </a:p>
        </p:txBody>
      </p:sp>
      <p:sp>
        <p:nvSpPr>
          <p:cNvPr id="153" name="Rounded Rectangle 152"/>
          <p:cNvSpPr/>
          <p:nvPr/>
        </p:nvSpPr>
        <p:spPr>
          <a:xfrm>
            <a:off x="822960" y="8001000"/>
            <a:ext cx="16642080" cy="86868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610" b="1" i="0">
                <a:solidFill>
                  <a:srgbClr val="0B5E6E"/>
                </a:solidFill>
                <a:latin typeface="Calibri (MS) Bold"/>
              </a:rPr>
              <a:t>Intinya  </a:t>
            </a:r>
            <a:r>
              <a:rPr sz="1610" b="0" i="0">
                <a:solidFill>
                  <a:srgbClr val="14313B"/>
                </a:solidFill>
                <a:latin typeface="Calibri (MS)"/>
              </a:rPr>
              <a:t>Angka 2050 sangat bergantung pada asumsi, jadi tidak dibaca sebagai ramalan pasti.</a:t>
            </a:r>
          </a:p>
        </p:txBody>
      </p:sp>
      <p:sp>
        <p:nvSpPr>
          <p:cNvPr id="154" name="TextBox 153"/>
          <p:cNvSpPr txBox="1"/>
          <p:nvPr/>
        </p:nvSpPr>
        <p:spPr>
          <a:xfrm>
            <a:off x="822960" y="9253728"/>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4.7 (Tabel 56–57, Gambar 51). Rincian rancangan pengujian di lampiran.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DAHXA7-drhs</dc:identifier>
  <dcterms:modified xsi:type="dcterms:W3CDTF">2011-08-01T06:04:30Z</dcterms:modified>
  <cp:revision>1</cp:revision>
  <dc:title>[Lengkap] PPT SIDANG FINAL</dc:title>
</cp:coreProperties>
</file>