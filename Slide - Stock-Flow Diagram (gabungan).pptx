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88" r:id="rId38"/>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38"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CLD kemudian saya terjemahkan menjadi stock-flow diagram agar bisa disimulasikan. Model akhirnya punya 61 variabel: 5 stock, 10 flow, 11 auxiliary, dan 35 parameter. Lima stoknya adalah jumlah wisatawan, hotel dan akomodasi, ODTW, tenaga kerja, dan lahan terbangun, dengan nilai awal tahun 2025 seperti di tabel. Dua variabel kebijakan masuk di dua tempat: Insentif Kebijakan menambah investasi di loop R2, dan Konservasi Lahan mengurangi konversi lahan untuk pariwisata di loop B2. Model disimulasikan 2025 sampai 2050 dengan langkah waktu satu tahun.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7.png"/><Relationship Id="rId8" Type="http://schemas.openxmlformats.org/officeDocument/2006/relationships/image" Target="../media/image1.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Stock-Flow Diagram (SFD)</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CLD diterjemahkan menjadi model kuantitatif: 61 variabel dengan lima stok utama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2B · Formulasi model</a:t>
              </a:r>
            </a:p>
          </p:txBody>
        </p:sp>
      </p:grpSp>
      <p:pic>
        <p:nvPicPr>
          <p:cNvPr id="70" name="Picture 69" descr="image12.png"/>
          <p:cNvPicPr>
            <a:picLocks noChangeAspect="1"/>
          </p:cNvPicPr>
          <p:nvPr/>
        </p:nvPicPr>
        <p:blipFill>
          <a:blip r:embed="rId8"/>
          <a:stretch>
            <a:fillRect/>
          </a:stretch>
        </p:blipFill>
        <p:spPr>
          <a:xfrm>
            <a:off x="822960" y="1849590"/>
            <a:ext cx="11430000" cy="5719138"/>
          </a:xfrm>
          <a:prstGeom prst="rect">
            <a:avLst/>
          </a:prstGeom>
        </p:spPr>
      </p:pic>
      <p:sp>
        <p:nvSpPr>
          <p:cNvPr id="71" name="TextBox 70"/>
          <p:cNvSpPr txBox="1"/>
          <p:nvPr/>
        </p:nvSpPr>
        <p:spPr>
          <a:xfrm>
            <a:off x="822960" y="7680960"/>
            <a:ext cx="11430000" cy="548640"/>
          </a:xfrm>
          <a:prstGeom prst="rect">
            <a:avLst/>
          </a:prstGeom>
          <a:noFill/>
        </p:spPr>
        <p:txBody>
          <a:bodyPr wrap="square" anchor="t" lIns="0" rIns="0" tIns="0" bIns="0">
            <a:spAutoFit/>
          </a:bodyPr>
          <a:lstStyle/>
          <a:p>
            <a:pPr algn="l">
              <a:spcAft>
                <a:spcPts val="400"/>
              </a:spcAft>
            </a:pPr>
            <a:r>
              <a:rPr sz="1260" b="1" i="0">
                <a:solidFill>
                  <a:srgbClr val="0B5E6E"/>
                </a:solidFill>
                <a:latin typeface="Calibri (MS) Bold"/>
              </a:rPr>
              <a:t>Cara membaca: </a:t>
            </a:r>
            <a:r>
              <a:rPr sz="1260" b="0" i="0">
                <a:solidFill>
                  <a:srgbClr val="14313B"/>
                </a:solidFill>
                <a:latin typeface="Calibri (MS)"/>
              </a:rPr>
              <a:t>kotak = stock (jumlah yang menumpuk) · pipa berkatup = flow (aliran masuk/keluar stok) · nama tanpa kotak = auxiliary atau parameter · panah = pengaruh antarvariabel</a:t>
            </a:r>
          </a:p>
        </p:txBody>
      </p:sp>
      <p:sp>
        <p:nvSpPr>
          <p:cNvPr id="72" name="Rounded Rectangle 71"/>
          <p:cNvSpPr/>
          <p:nvPr/>
        </p:nvSpPr>
        <p:spPr>
          <a:xfrm>
            <a:off x="12527280" y="1783080"/>
            <a:ext cx="1161288" cy="105156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2760" b="1" i="0">
                <a:solidFill>
                  <a:srgbClr val="0B5E6E"/>
                </a:solidFill>
                <a:latin typeface="Calibri (MS) Bold"/>
              </a:rPr>
              <a:t>5</a:t>
            </a:r>
          </a:p>
          <a:p>
            <a:pPr algn="ctr">
              <a:spcAft>
                <a:spcPts val="300"/>
              </a:spcAft>
            </a:pPr>
            <a:r>
              <a:rPr sz="1260" b="0" i="0">
                <a:solidFill>
                  <a:srgbClr val="14313B"/>
                </a:solidFill>
                <a:latin typeface="Calibri (MS)"/>
              </a:rPr>
              <a:t>stock</a:t>
            </a:r>
          </a:p>
        </p:txBody>
      </p:sp>
      <p:sp>
        <p:nvSpPr>
          <p:cNvPr id="73" name="Rounded Rectangle 72"/>
          <p:cNvSpPr/>
          <p:nvPr/>
        </p:nvSpPr>
        <p:spPr>
          <a:xfrm>
            <a:off x="13780008" y="1783080"/>
            <a:ext cx="1161288" cy="105156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2760" b="1" i="0">
                <a:solidFill>
                  <a:srgbClr val="0B5E6E"/>
                </a:solidFill>
                <a:latin typeface="Calibri (MS) Bold"/>
              </a:rPr>
              <a:t>10</a:t>
            </a:r>
          </a:p>
          <a:p>
            <a:pPr algn="ctr">
              <a:spcAft>
                <a:spcPts val="300"/>
              </a:spcAft>
            </a:pPr>
            <a:r>
              <a:rPr sz="1260" b="0" i="0">
                <a:solidFill>
                  <a:srgbClr val="14313B"/>
                </a:solidFill>
                <a:latin typeface="Calibri (MS)"/>
              </a:rPr>
              <a:t>flow</a:t>
            </a:r>
          </a:p>
        </p:txBody>
      </p:sp>
      <p:sp>
        <p:nvSpPr>
          <p:cNvPr id="74" name="Rounded Rectangle 73"/>
          <p:cNvSpPr/>
          <p:nvPr/>
        </p:nvSpPr>
        <p:spPr>
          <a:xfrm>
            <a:off x="15032735" y="1783080"/>
            <a:ext cx="1161288" cy="105156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2760" b="1" i="0">
                <a:solidFill>
                  <a:srgbClr val="0B5E6E"/>
                </a:solidFill>
                <a:latin typeface="Calibri (MS) Bold"/>
              </a:rPr>
              <a:t>11</a:t>
            </a:r>
          </a:p>
          <a:p>
            <a:pPr algn="ctr">
              <a:spcAft>
                <a:spcPts val="300"/>
              </a:spcAft>
            </a:pPr>
            <a:r>
              <a:rPr sz="1260" b="0" i="0">
                <a:solidFill>
                  <a:srgbClr val="14313B"/>
                </a:solidFill>
                <a:latin typeface="Calibri (MS)"/>
              </a:rPr>
              <a:t>auxiliary</a:t>
            </a:r>
          </a:p>
        </p:txBody>
      </p:sp>
      <p:sp>
        <p:nvSpPr>
          <p:cNvPr id="75" name="Rounded Rectangle 74"/>
          <p:cNvSpPr/>
          <p:nvPr/>
        </p:nvSpPr>
        <p:spPr>
          <a:xfrm>
            <a:off x="16285463" y="1783080"/>
            <a:ext cx="1161288" cy="105156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2760" b="1" i="0">
                <a:solidFill>
                  <a:srgbClr val="0B5E6E"/>
                </a:solidFill>
                <a:latin typeface="Calibri (MS) Bold"/>
              </a:rPr>
              <a:t>35</a:t>
            </a:r>
          </a:p>
          <a:p>
            <a:pPr algn="ctr">
              <a:spcAft>
                <a:spcPts val="300"/>
              </a:spcAft>
            </a:pPr>
            <a:r>
              <a:rPr sz="1260" b="0" i="0">
                <a:solidFill>
                  <a:srgbClr val="14313B"/>
                </a:solidFill>
                <a:latin typeface="Calibri (MS)"/>
              </a:rPr>
              <a:t>parameter</a:t>
            </a:r>
          </a:p>
        </p:txBody>
      </p:sp>
      <p:sp>
        <p:nvSpPr>
          <p:cNvPr id="76" name="TextBox 75"/>
          <p:cNvSpPr txBox="1"/>
          <p:nvPr/>
        </p:nvSpPr>
        <p:spPr>
          <a:xfrm>
            <a:off x="12527280" y="2880360"/>
            <a:ext cx="4937760" cy="502920"/>
          </a:xfrm>
          <a:prstGeom prst="rect">
            <a:avLst/>
          </a:prstGeom>
          <a:noFill/>
        </p:spPr>
        <p:txBody>
          <a:bodyPr wrap="square" anchor="t" lIns="0" rIns="0" tIns="0" bIns="0">
            <a:spAutoFit/>
          </a:bodyPr>
          <a:lstStyle/>
          <a:p>
            <a:pPr algn="l">
              <a:spcAft>
                <a:spcPts val="400"/>
              </a:spcAft>
            </a:pPr>
            <a:r>
              <a:rPr sz="1260" b="0" i="1">
                <a:solidFill>
                  <a:srgbClr val="5E6E78"/>
                </a:solidFill>
                <a:latin typeface="Calibri (MS)"/>
              </a:rPr>
              <a:t>26 variabel dihitung oleh model + 35 parameter input = 61 variabel</a:t>
            </a:r>
          </a:p>
        </p:txBody>
      </p:sp>
      <p:graphicFrame>
        <p:nvGraphicFramePr>
          <p:cNvPr id="77" name="Table 76"/>
          <p:cNvGraphicFramePr>
            <a:graphicFrameLocks noGrp="1"/>
          </p:cNvGraphicFramePr>
          <p:nvPr/>
        </p:nvGraphicFramePr>
        <p:xfrm>
          <a:off x="12527280" y="3429000"/>
          <a:ext cx="4937760" cy="2414016"/>
        </p:xfrm>
        <a:graphic>
          <a:graphicData uri="http://schemas.openxmlformats.org/drawingml/2006/table">
            <a:tbl>
              <a:tblPr firstRow="1" bandRow="1">
                <a:tableStyleId>{5C22544A-7EE6-4342-B048-85BDC9FD1C3A}</a:tableStyleId>
              </a:tblPr>
              <a:tblGrid>
                <a:gridCol w="2560320"/>
                <a:gridCol w="2377440"/>
              </a:tblGrid>
              <a:tr h="402336">
                <a:tc>
                  <a:txBody>
                    <a:bodyPr wrap="square"/>
                    <a:lstStyle/>
                    <a:p>
                      <a:r>
                        <a:rPr sz="1320" b="1" i="0">
                          <a:solidFill>
                            <a:srgbClr val="FFFFFF"/>
                          </a:solidFill>
                          <a:latin typeface="Calibri (MS) Bold"/>
                        </a:rPr>
                        <a:t>Stok</a:t>
                      </a:r>
                    </a:p>
                  </a:txBody>
                  <a:tcPr marL="73152" marR="73152" marT="36576" marB="36576" anchor="ctr">
                    <a:solidFill>
                      <a:srgbClr val="0B5E6E"/>
                    </a:solidFill>
                  </a:tcPr>
                </a:tc>
                <a:tc>
                  <a:txBody>
                    <a:bodyPr wrap="square"/>
                    <a:lstStyle/>
                    <a:p>
                      <a:r>
                        <a:rPr sz="1320" b="1" i="0">
                          <a:solidFill>
                            <a:srgbClr val="FFFFFF"/>
                          </a:solidFill>
                          <a:latin typeface="Calibri (MS) Bold"/>
                        </a:rPr>
                        <a:t>Nilai awal 2025</a:t>
                      </a:r>
                    </a:p>
                  </a:txBody>
                  <a:tcPr marL="73152" marR="73152" marT="36576" marB="36576" anchor="ctr">
                    <a:solidFill>
                      <a:srgbClr val="0B5E6E"/>
                    </a:solidFill>
                  </a:tcPr>
                </a:tc>
              </a:tr>
              <a:tr h="402336">
                <a:tc>
                  <a:txBody>
                    <a:bodyPr wrap="square"/>
                    <a:lstStyle/>
                    <a:p>
                      <a:r>
                        <a:rPr sz="1320" b="1" i="0">
                          <a:solidFill>
                            <a:srgbClr val="14313B"/>
                          </a:solidFill>
                          <a:latin typeface="Calibri (MS) Bold"/>
                        </a:rPr>
                        <a:t>Jumlah wisatawan</a:t>
                      </a:r>
                    </a:p>
                  </a:txBody>
                  <a:tcPr marL="73152" marR="73152" marT="36576" marB="36576" anchor="ctr">
                    <a:solidFill>
                      <a:srgbClr val="FFFFFF"/>
                    </a:solidFill>
                  </a:tcPr>
                </a:tc>
                <a:tc>
                  <a:txBody>
                    <a:bodyPr wrap="square"/>
                    <a:lstStyle/>
                    <a:p>
                      <a:r>
                        <a:rPr sz="1320" b="0" i="0">
                          <a:solidFill>
                            <a:srgbClr val="14313B"/>
                          </a:solidFill>
                          <a:latin typeface="Calibri (MS)"/>
                        </a:rPr>
                        <a:t>40.695.654 kunjungan</a:t>
                      </a:r>
                    </a:p>
                  </a:txBody>
                  <a:tcPr marL="73152" marR="73152" marT="36576" marB="36576" anchor="ctr">
                    <a:solidFill>
                      <a:srgbClr val="FFFFFF"/>
                    </a:solidFill>
                  </a:tcPr>
                </a:tc>
              </a:tr>
              <a:tr h="402336">
                <a:tc>
                  <a:txBody>
                    <a:bodyPr wrap="square"/>
                    <a:lstStyle/>
                    <a:p>
                      <a:r>
                        <a:rPr sz="1320" b="1" i="0">
                          <a:solidFill>
                            <a:srgbClr val="14313B"/>
                          </a:solidFill>
                          <a:latin typeface="Calibri (MS) Bold"/>
                        </a:rPr>
                        <a:t>Hotel dan akomodasi</a:t>
                      </a:r>
                    </a:p>
                  </a:txBody>
                  <a:tcPr marL="73152" marR="73152" marT="36576" marB="36576" anchor="ctr">
                    <a:solidFill>
                      <a:srgbClr val="EAF8FA"/>
                    </a:solidFill>
                  </a:tcPr>
                </a:tc>
                <a:tc>
                  <a:txBody>
                    <a:bodyPr wrap="square"/>
                    <a:lstStyle/>
                    <a:p>
                      <a:r>
                        <a:rPr sz="1320" b="0" i="0">
                          <a:solidFill>
                            <a:srgbClr val="14313B"/>
                          </a:solidFill>
                          <a:latin typeface="Calibri (MS)"/>
                        </a:rPr>
                        <a:t>2.291 unit</a:t>
                      </a:r>
                    </a:p>
                  </a:txBody>
                  <a:tcPr marL="73152" marR="73152" marT="36576" marB="36576" anchor="ctr">
                    <a:solidFill>
                      <a:srgbClr val="EAF8FA"/>
                    </a:solidFill>
                  </a:tcPr>
                </a:tc>
              </a:tr>
              <a:tr h="402336">
                <a:tc>
                  <a:txBody>
                    <a:bodyPr wrap="square"/>
                    <a:lstStyle/>
                    <a:p>
                      <a:r>
                        <a:rPr sz="1320" b="1" i="0">
                          <a:solidFill>
                            <a:srgbClr val="14313B"/>
                          </a:solidFill>
                          <a:latin typeface="Calibri (MS) Bold"/>
                        </a:rPr>
                        <a:t>Objek daya tarik wisata</a:t>
                      </a:r>
                    </a:p>
                  </a:txBody>
                  <a:tcPr marL="73152" marR="73152" marT="36576" marB="36576" anchor="ctr">
                    <a:solidFill>
                      <a:srgbClr val="FFFFFF"/>
                    </a:solidFill>
                  </a:tcPr>
                </a:tc>
                <a:tc>
                  <a:txBody>
                    <a:bodyPr wrap="square"/>
                    <a:lstStyle/>
                    <a:p>
                      <a:r>
                        <a:rPr sz="1320" b="0" i="0">
                          <a:solidFill>
                            <a:srgbClr val="14313B"/>
                          </a:solidFill>
                          <a:latin typeface="Calibri (MS)"/>
                        </a:rPr>
                        <a:t>201 unit</a:t>
                      </a:r>
                    </a:p>
                  </a:txBody>
                  <a:tcPr marL="73152" marR="73152" marT="36576" marB="36576" anchor="ctr">
                    <a:solidFill>
                      <a:srgbClr val="FFFFFF"/>
                    </a:solidFill>
                  </a:tcPr>
                </a:tc>
              </a:tr>
              <a:tr h="402336">
                <a:tc>
                  <a:txBody>
                    <a:bodyPr wrap="square"/>
                    <a:lstStyle/>
                    <a:p>
                      <a:r>
                        <a:rPr sz="1320" b="1" i="0">
                          <a:solidFill>
                            <a:srgbClr val="14313B"/>
                          </a:solidFill>
                          <a:latin typeface="Calibri (MS) Bold"/>
                        </a:rPr>
                        <a:t>Tenaga kerja pariwisata</a:t>
                      </a:r>
                    </a:p>
                  </a:txBody>
                  <a:tcPr marL="73152" marR="73152" marT="36576" marB="36576" anchor="ctr">
                    <a:solidFill>
                      <a:srgbClr val="EAF8FA"/>
                    </a:solidFill>
                  </a:tcPr>
                </a:tc>
                <a:tc>
                  <a:txBody>
                    <a:bodyPr wrap="square"/>
                    <a:lstStyle/>
                    <a:p>
                      <a:r>
                        <a:rPr sz="1320" b="0" i="0">
                          <a:solidFill>
                            <a:srgbClr val="14313B"/>
                          </a:solidFill>
                          <a:latin typeface="Calibri (MS)"/>
                        </a:rPr>
                        <a:t>364.994 jiwa</a:t>
                      </a:r>
                    </a:p>
                  </a:txBody>
                  <a:tcPr marL="73152" marR="73152" marT="36576" marB="36576" anchor="ctr">
                    <a:solidFill>
                      <a:srgbClr val="EAF8FA"/>
                    </a:solidFill>
                  </a:tcPr>
                </a:tc>
              </a:tr>
              <a:tr h="402336">
                <a:tc>
                  <a:txBody>
                    <a:bodyPr wrap="square"/>
                    <a:lstStyle/>
                    <a:p>
                      <a:r>
                        <a:rPr sz="1320" b="1" i="0">
                          <a:solidFill>
                            <a:srgbClr val="14313B"/>
                          </a:solidFill>
                          <a:latin typeface="Calibri (MS) Bold"/>
                        </a:rPr>
                        <a:t>Lahan terbangun</a:t>
                      </a:r>
                    </a:p>
                  </a:txBody>
                  <a:tcPr marL="73152" marR="73152" marT="36576" marB="36576" anchor="ctr">
                    <a:solidFill>
                      <a:srgbClr val="FFFFFF"/>
                    </a:solidFill>
                  </a:tcPr>
                </a:tc>
                <a:tc>
                  <a:txBody>
                    <a:bodyPr wrap="square"/>
                    <a:lstStyle/>
                    <a:p>
                      <a:r>
                        <a:rPr sz="1320" b="0" i="0">
                          <a:solidFill>
                            <a:srgbClr val="14313B"/>
                          </a:solidFill>
                          <a:latin typeface="Calibri (MS)"/>
                        </a:rPr>
                        <a:t>55.029,54 ha</a:t>
                      </a:r>
                    </a:p>
                  </a:txBody>
                  <a:tcPr marL="73152" marR="73152" marT="36576" marB="36576" anchor="ctr">
                    <a:solidFill>
                      <a:srgbClr val="FFFFFF"/>
                    </a:solidFill>
                  </a:tcPr>
                </a:tc>
              </a:tr>
            </a:tbl>
          </a:graphicData>
        </a:graphic>
      </p:graphicFrame>
      <p:sp>
        <p:nvSpPr>
          <p:cNvPr id="78" name="Rounded Rectangle 77"/>
          <p:cNvSpPr/>
          <p:nvPr/>
        </p:nvSpPr>
        <p:spPr>
          <a:xfrm>
            <a:off x="12527280" y="5989320"/>
            <a:ext cx="4937760" cy="16916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Dua variabel kebijakan</a:t>
            </a:r>
          </a:p>
          <a:p>
            <a:pPr algn="l">
              <a:spcAft>
                <a:spcPts val="300"/>
              </a:spcAft>
            </a:pPr>
            <a:r>
              <a:rPr sz="1320" b="0" i="0">
                <a:solidFill>
                  <a:srgbClr val="14313B"/>
                </a:solidFill>
                <a:latin typeface="Calibri (MS)"/>
              </a:rPr>
              <a:t>Insentif Kebijakan → menambah investasi (loop R2)</a:t>
            </a:r>
          </a:p>
          <a:p>
            <a:pPr algn="l">
              <a:spcAft>
                <a:spcPts val="300"/>
              </a:spcAft>
            </a:pPr>
            <a:r>
              <a:rPr sz="1320" b="0" i="0">
                <a:solidFill>
                  <a:srgbClr val="14313B"/>
                </a:solidFill>
                <a:latin typeface="Calibri (MS)"/>
              </a:rPr>
              <a:t>Konservasi Lahan → mengurangi konversi lahan untuk pariwisata (loop B2)</a:t>
            </a:r>
          </a:p>
        </p:txBody>
      </p:sp>
      <p:sp>
        <p:nvSpPr>
          <p:cNvPr id="79" name="Rounded Rectangle 78"/>
          <p:cNvSpPr/>
          <p:nvPr/>
        </p:nvSpPr>
        <p:spPr>
          <a:xfrm>
            <a:off x="822960" y="8366760"/>
            <a:ext cx="16642080" cy="7315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90" b="1" i="0">
                <a:solidFill>
                  <a:srgbClr val="FFD23B"/>
                </a:solidFill>
                <a:latin typeface="Calibri (MS) Bold"/>
              </a:rPr>
              <a:t>Intinya  </a:t>
            </a:r>
            <a:r>
              <a:rPr sz="1440" b="0" i="0">
                <a:solidFill>
                  <a:srgbClr val="FFFFFF"/>
                </a:solidFill>
                <a:latin typeface="Calibri (MS)"/>
              </a:rPr>
              <a:t>Model disimulasikan 2025–2050 dengan langkah waktu 1 tahun (metode Euler). Persamaan lengkap ada di Lampiran 15.</a:t>
            </a:r>
          </a:p>
        </p:txBody>
      </p:sp>
      <p:sp>
        <p:nvSpPr>
          <p:cNvPr id="80" name="TextBox 79"/>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4.1.4, Gambar 10, Tabel 27–28; model Vensim final.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