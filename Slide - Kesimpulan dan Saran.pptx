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7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327" r:id="rId77"/>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77" Type="http://schemas.openxmlformats.org/officeDocument/2006/relationships/slide" Target="slides/slide1.xml"/><Relationship Id="rId96" Type="http://schemas.openxmlformats.org/officeDocument/2006/relationships/notesMaster" Target="notesMasters/notesMaster1.xml"/><Relationship Id="rId97" Type="http://schemas.openxmlformats.org/officeDocument/2006/relationships/theme" Target="theme/theme2.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5" Type="http://schemas.openxmlformats.org/officeDocument/2006/relationships/font" Target="fonts/font105.fntdata"/><Relationship Id="rId108" Type="http://schemas.openxmlformats.org/officeDocument/2006/relationships/font" Target="fonts/font108.fntdata"/><Relationship Id="rId128" Type="http://schemas.openxmlformats.org/officeDocument/2006/relationships/font" Target="fonts/font12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7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Sebagai kesimpulan, ketiga tujuan tercapai. Pertama, model disusun dari lima stok, sepuluh aliran, sebelas variabel bantu, dan 35 parameter, dengan enam feedback loop. Kedua, struktur model valid dan perilakunya cukup dekat dengan data; dari simulasi, tidak ada skenario yang terbaik di semua hal, dan urutannya tetap sama walaupun asumsi digeser. Ketiga, aplikasi web berjalan sesuai rancangan dan dinilai mudah dipakai. Untuk ke depan, saya menyarankan empat hal: memperkuat asumsi dengan survei, mengembangkan model, melibatkan pemangku kepentingan dalam menentukan nilai kebijakan, dan menambah fitur aplikasi. Terima kasih.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Kesimpulan dan Saran</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Ketiga tujuan penelitian tercapai, dengan beberapa hal yang bisa dikembangkan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Penutup</a:t>
              </a:r>
            </a:p>
          </p:txBody>
        </p:sp>
      </p:grpSp>
      <p:sp>
        <p:nvSpPr>
          <p:cNvPr name="TextBox 117" id="117"/>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sp>
        <p:nvSpPr>
          <p:cNvPr id="118" name="Rounded Rectangle 117"/>
          <p:cNvSpPr/>
          <p:nvPr/>
        </p:nvSpPr>
        <p:spPr>
          <a:xfrm>
            <a:off x="822960" y="1783080"/>
            <a:ext cx="969264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550" b="1" i="0">
                <a:solidFill>
                  <a:srgbClr val="FFFFFF"/>
                </a:solidFill>
                <a:latin typeface="Calibri (MS) Bold"/>
              </a:rPr>
              <a:t>Kesimpulan</a:t>
            </a:r>
          </a:p>
        </p:txBody>
      </p:sp>
      <p:sp>
        <p:nvSpPr>
          <p:cNvPr id="119" name="Rounded Rectangle 118"/>
          <p:cNvSpPr/>
          <p:nvPr/>
        </p:nvSpPr>
        <p:spPr>
          <a:xfrm>
            <a:off x="822960" y="2377440"/>
            <a:ext cx="2834640" cy="1645920"/>
          </a:xfrm>
          <a:prstGeom prst="roundRect">
            <a:avLst>
              <a:gd name="adj" fmla="val 5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60" b="1" i="0">
                <a:solidFill>
                  <a:srgbClr val="FFD23B"/>
                </a:solidFill>
                <a:latin typeface="Calibri (MS) Bold"/>
              </a:rPr>
              <a:t>Tujuan 1</a:t>
            </a:r>
          </a:p>
          <a:p>
            <a:pPr algn="l">
              <a:spcAft>
                <a:spcPts val="300"/>
              </a:spcAft>
            </a:pPr>
            <a:r>
              <a:rPr sz="1490" b="1" i="0">
                <a:solidFill>
                  <a:srgbClr val="FFFFFF"/>
                </a:solidFill>
                <a:latin typeface="Calibri (MS) Bold"/>
              </a:rPr>
              <a:t>Variabel penyusun model</a:t>
            </a:r>
          </a:p>
        </p:txBody>
      </p:sp>
      <p:sp>
        <p:nvSpPr>
          <p:cNvPr id="120" name="Rounded Rectangle 119"/>
          <p:cNvSpPr/>
          <p:nvPr/>
        </p:nvSpPr>
        <p:spPr>
          <a:xfrm>
            <a:off x="3749039" y="2377440"/>
            <a:ext cx="6766560" cy="1645920"/>
          </a:xfrm>
          <a:prstGeom prst="roundRect">
            <a:avLst>
              <a:gd name="adj" fmla="val 5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spcAft>
                <a:spcPts val="300"/>
              </a:spcAft>
            </a:pPr>
            <a:r>
              <a:rPr sz="1550" b="0" i="0">
                <a:solidFill>
                  <a:srgbClr val="14313B"/>
                </a:solidFill>
                <a:latin typeface="Calibri (MS)"/>
              </a:rPr>
              <a:t>Model disusun dari 5 stok, 10 aliran, 11 variabel bantu, dan 35 parameter, dengan 6 feedback loop. Diadaptasi dari Mai &amp; Smith (2018) sesuai data resmi Indonesia.</a:t>
            </a:r>
          </a:p>
        </p:txBody>
      </p:sp>
      <p:sp>
        <p:nvSpPr>
          <p:cNvPr id="121" name="Rounded Rectangle 120"/>
          <p:cNvSpPr/>
          <p:nvPr/>
        </p:nvSpPr>
        <p:spPr>
          <a:xfrm>
            <a:off x="822960" y="4160520"/>
            <a:ext cx="2834640" cy="1645920"/>
          </a:xfrm>
          <a:prstGeom prst="roundRect">
            <a:avLst>
              <a:gd name="adj" fmla="val 5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60" b="1" i="0">
                <a:solidFill>
                  <a:srgbClr val="FFD23B"/>
                </a:solidFill>
                <a:latin typeface="Calibri (MS) Bold"/>
              </a:rPr>
              <a:t>Tujuan 2</a:t>
            </a:r>
          </a:p>
          <a:p>
            <a:pPr algn="l">
              <a:spcAft>
                <a:spcPts val="300"/>
              </a:spcAft>
            </a:pPr>
            <a:r>
              <a:rPr sz="1490" b="1" i="0">
                <a:solidFill>
                  <a:srgbClr val="FFFFFF"/>
                </a:solidFill>
                <a:latin typeface="Calibri (MS) Bold"/>
              </a:rPr>
              <a:t>Model dan simulasi skenario</a:t>
            </a:r>
          </a:p>
        </p:txBody>
      </p:sp>
      <p:sp>
        <p:nvSpPr>
          <p:cNvPr id="122" name="Rounded Rectangle 121"/>
          <p:cNvSpPr/>
          <p:nvPr/>
        </p:nvSpPr>
        <p:spPr>
          <a:xfrm>
            <a:off x="3749039" y="4160520"/>
            <a:ext cx="6766560" cy="1645920"/>
          </a:xfrm>
          <a:prstGeom prst="roundRect">
            <a:avLst>
              <a:gd name="adj" fmla="val 5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spcAft>
                <a:spcPts val="300"/>
              </a:spcAft>
            </a:pPr>
            <a:r>
              <a:rPr sz="1550" b="0" i="0">
                <a:solidFill>
                  <a:srgbClr val="14313B"/>
                </a:solidFill>
                <a:latin typeface="Calibri (MS)"/>
              </a:rPr>
              <a:t>Struktur model valid dan perilakunya cukup dekat dengan data. Tidak ada skenario yang terbaik di semua hal, dan urutan ini tetap sama walaupun asumsi digeser.</a:t>
            </a:r>
          </a:p>
        </p:txBody>
      </p:sp>
      <p:sp>
        <p:nvSpPr>
          <p:cNvPr id="123" name="Rounded Rectangle 122"/>
          <p:cNvSpPr/>
          <p:nvPr/>
        </p:nvSpPr>
        <p:spPr>
          <a:xfrm>
            <a:off x="822960" y="5943600"/>
            <a:ext cx="2834640" cy="1645920"/>
          </a:xfrm>
          <a:prstGeom prst="roundRect">
            <a:avLst>
              <a:gd name="adj" fmla="val 5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260" b="1" i="0">
                <a:solidFill>
                  <a:srgbClr val="FFD23B"/>
                </a:solidFill>
                <a:latin typeface="Calibri (MS) Bold"/>
              </a:rPr>
              <a:t>Tujuan 3</a:t>
            </a:r>
          </a:p>
          <a:p>
            <a:pPr algn="l">
              <a:spcAft>
                <a:spcPts val="300"/>
              </a:spcAft>
            </a:pPr>
            <a:r>
              <a:rPr sz="1490" b="1" i="0">
                <a:solidFill>
                  <a:srgbClr val="FFFFFF"/>
                </a:solidFill>
                <a:latin typeface="Calibri (MS) Bold"/>
              </a:rPr>
              <a:t>Aplikasi web</a:t>
            </a:r>
          </a:p>
        </p:txBody>
      </p:sp>
      <p:sp>
        <p:nvSpPr>
          <p:cNvPr id="124" name="Rounded Rectangle 123"/>
          <p:cNvSpPr/>
          <p:nvPr/>
        </p:nvSpPr>
        <p:spPr>
          <a:xfrm>
            <a:off x="3749039" y="5943600"/>
            <a:ext cx="6766560" cy="1645920"/>
          </a:xfrm>
          <a:prstGeom prst="roundRect">
            <a:avLst>
              <a:gd name="adj" fmla="val 5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spcAft>
                <a:spcPts val="300"/>
              </a:spcAft>
            </a:pPr>
            <a:r>
              <a:rPr sz="1550" b="0" i="0">
                <a:solidFill>
                  <a:srgbClr val="14313B"/>
                </a:solidFill>
                <a:latin typeface="Calibri (MS)"/>
              </a:rPr>
              <a:t>Semua fungsi berjalan (9/9) dan aplikasi dinilai mudah dipakai (skor SUS 88,50).</a:t>
            </a:r>
          </a:p>
        </p:txBody>
      </p:sp>
      <p:sp>
        <p:nvSpPr>
          <p:cNvPr id="125" name="Rounded Rectangle 124"/>
          <p:cNvSpPr/>
          <p:nvPr/>
        </p:nvSpPr>
        <p:spPr>
          <a:xfrm>
            <a:off x="10881360" y="1783080"/>
            <a:ext cx="6583680" cy="45720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550" b="1" i="0">
                <a:solidFill>
                  <a:srgbClr val="FFFFFF"/>
                </a:solidFill>
                <a:latin typeface="Calibri (MS) Bold"/>
              </a:rPr>
              <a:t>Saran</a:t>
            </a:r>
          </a:p>
        </p:txBody>
      </p:sp>
      <p:sp>
        <p:nvSpPr>
          <p:cNvPr id="126" name="Oval 125"/>
          <p:cNvSpPr/>
          <p:nvPr/>
        </p:nvSpPr>
        <p:spPr>
          <a:xfrm>
            <a:off x="10927080" y="2697480"/>
            <a:ext cx="502920" cy="502920"/>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1</a:t>
            </a:r>
          </a:p>
        </p:txBody>
      </p:sp>
      <p:sp>
        <p:nvSpPr>
          <p:cNvPr id="127" name="Rounded Rectangle 126"/>
          <p:cNvSpPr/>
          <p:nvPr/>
        </p:nvSpPr>
        <p:spPr>
          <a:xfrm>
            <a:off x="11612880" y="2377440"/>
            <a:ext cx="5852160" cy="1188720"/>
          </a:xfrm>
          <a:prstGeom prst="roundRect">
            <a:avLst>
              <a:gd name="adj" fmla="val 5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490" b="1" i="0">
                <a:solidFill>
                  <a:srgbClr val="0B5E6E"/>
                </a:solidFill>
                <a:latin typeface="Calibri (MS) Bold"/>
              </a:rPr>
              <a:t>Perkuat asumsi dengan data</a:t>
            </a:r>
          </a:p>
          <a:p>
            <a:pPr algn="l">
              <a:spcAft>
                <a:spcPts val="300"/>
              </a:spcAft>
            </a:pPr>
            <a:r>
              <a:rPr sz="1380" b="0" i="0">
                <a:solidFill>
                  <a:srgbClr val="14313B"/>
                </a:solidFill>
                <a:latin typeface="Calibri (MS)"/>
              </a:rPr>
              <a:t>Survei langsung untuk laju penurunan wisatawan dan batas kepadatan.</a:t>
            </a:r>
          </a:p>
        </p:txBody>
      </p:sp>
      <p:sp>
        <p:nvSpPr>
          <p:cNvPr id="128" name="Oval 127"/>
          <p:cNvSpPr/>
          <p:nvPr/>
        </p:nvSpPr>
        <p:spPr>
          <a:xfrm>
            <a:off x="10927080" y="4023359"/>
            <a:ext cx="502920" cy="502920"/>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2</a:t>
            </a:r>
          </a:p>
        </p:txBody>
      </p:sp>
      <p:sp>
        <p:nvSpPr>
          <p:cNvPr id="129" name="Rounded Rectangle 128"/>
          <p:cNvSpPr/>
          <p:nvPr/>
        </p:nvSpPr>
        <p:spPr>
          <a:xfrm>
            <a:off x="11612880" y="3703320"/>
            <a:ext cx="5852160" cy="1188720"/>
          </a:xfrm>
          <a:prstGeom prst="roundRect">
            <a:avLst>
              <a:gd name="adj" fmla="val 5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490" b="1" i="0">
                <a:solidFill>
                  <a:srgbClr val="0B5E6E"/>
                </a:solidFill>
                <a:latin typeface="Calibri (MS) Bold"/>
              </a:rPr>
              <a:t>Kembangkan model</a:t>
            </a:r>
          </a:p>
          <a:p>
            <a:pPr algn="l">
              <a:spcAft>
                <a:spcPts val="300"/>
              </a:spcAft>
            </a:pPr>
            <a:r>
              <a:rPr sz="1380" b="0" i="0">
                <a:solidFill>
                  <a:srgbClr val="14313B"/>
                </a:solidFill>
                <a:latin typeface="Calibri (MS)"/>
              </a:rPr>
              <a:t>Tambahkan kejadian mendadak (mis. pandemi) dan pisahkan sumber dana pembangunan objek wisata.</a:t>
            </a:r>
          </a:p>
        </p:txBody>
      </p:sp>
      <p:sp>
        <p:nvSpPr>
          <p:cNvPr id="130" name="Oval 129"/>
          <p:cNvSpPr/>
          <p:nvPr/>
        </p:nvSpPr>
        <p:spPr>
          <a:xfrm>
            <a:off x="10927080" y="5349240"/>
            <a:ext cx="502920" cy="502920"/>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3</a:t>
            </a:r>
          </a:p>
        </p:txBody>
      </p:sp>
      <p:sp>
        <p:nvSpPr>
          <p:cNvPr id="131" name="Rounded Rectangle 130"/>
          <p:cNvSpPr/>
          <p:nvPr/>
        </p:nvSpPr>
        <p:spPr>
          <a:xfrm>
            <a:off x="11612880" y="5029200"/>
            <a:ext cx="5852160" cy="1188720"/>
          </a:xfrm>
          <a:prstGeom prst="roundRect">
            <a:avLst>
              <a:gd name="adj" fmla="val 5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490" b="1" i="0">
                <a:solidFill>
                  <a:srgbClr val="0B5E6E"/>
                </a:solidFill>
                <a:latin typeface="Calibri (MS) Bold"/>
              </a:rPr>
              <a:t>Libatkan pemangku kepentingan</a:t>
            </a:r>
          </a:p>
          <a:p>
            <a:pPr algn="l">
              <a:spcAft>
                <a:spcPts val="300"/>
              </a:spcAft>
            </a:pPr>
            <a:r>
              <a:rPr sz="1380" b="0" i="0">
                <a:solidFill>
                  <a:srgbClr val="14313B"/>
                </a:solidFill>
                <a:latin typeface="Calibri (MS)"/>
              </a:rPr>
              <a:t>Tentukan nilai kebijakan bersama Pemda dan Dinas Pariwisata.</a:t>
            </a:r>
          </a:p>
        </p:txBody>
      </p:sp>
      <p:sp>
        <p:nvSpPr>
          <p:cNvPr id="132" name="Oval 131"/>
          <p:cNvSpPr/>
          <p:nvPr/>
        </p:nvSpPr>
        <p:spPr>
          <a:xfrm>
            <a:off x="10927080" y="6675119"/>
            <a:ext cx="502920" cy="502920"/>
          </a:xfrm>
          <a:prstGeom prst="ellipse">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610" b="1" i="0">
                <a:solidFill>
                  <a:srgbClr val="FFFFFF"/>
                </a:solidFill>
                <a:latin typeface="Calibri (MS) Bold"/>
              </a:rPr>
              <a:t>4</a:t>
            </a:r>
          </a:p>
        </p:txBody>
      </p:sp>
      <p:sp>
        <p:nvSpPr>
          <p:cNvPr id="133" name="Rounded Rectangle 132"/>
          <p:cNvSpPr/>
          <p:nvPr/>
        </p:nvSpPr>
        <p:spPr>
          <a:xfrm>
            <a:off x="11612880" y="6355079"/>
            <a:ext cx="5852160" cy="1188720"/>
          </a:xfrm>
          <a:prstGeom prst="roundRect">
            <a:avLst>
              <a:gd name="adj" fmla="val 5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300"/>
              </a:spcAft>
            </a:pPr>
            <a:r>
              <a:rPr sz="1490" b="1" i="0">
                <a:solidFill>
                  <a:srgbClr val="0B5E6E"/>
                </a:solidFill>
                <a:latin typeface="Calibri (MS) Bold"/>
              </a:rPr>
              <a:t>Kembangkan aplikasi</a:t>
            </a:r>
          </a:p>
          <a:p>
            <a:pPr algn="l">
              <a:spcAft>
                <a:spcPts val="300"/>
              </a:spcAft>
            </a:pPr>
            <a:r>
              <a:rPr sz="1380" b="0" i="0">
                <a:solidFill>
                  <a:srgbClr val="14313B"/>
                </a:solidFill>
                <a:latin typeface="Calibri (MS)"/>
              </a:rPr>
              <a:t>Tambahkan pembaruan data tahunan dan ekspor laporan.</a:t>
            </a:r>
          </a:p>
        </p:txBody>
      </p:sp>
      <p:sp>
        <p:nvSpPr>
          <p:cNvPr id="134" name="Rounded Rectangle 133"/>
          <p:cNvSpPr/>
          <p:nvPr/>
        </p:nvSpPr>
        <p:spPr>
          <a:xfrm>
            <a:off x="822960" y="786384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610" b="1" i="0">
                <a:solidFill>
                  <a:srgbClr val="0B5E6E"/>
                </a:solidFill>
                <a:latin typeface="Calibri (MS) Bold"/>
              </a:rPr>
              <a:t>Intinya  </a:t>
            </a:r>
            <a:r>
              <a:rPr sz="1610" b="0" i="0">
                <a:solidFill>
                  <a:srgbClr val="14313B"/>
                </a:solidFill>
                <a:latin typeface="Calibri (MS)"/>
              </a:rPr>
              <a:t>Model yang sudah diuji dapat dipakai untuk membandingkan skenario kebijakan pariwisata DIY, dan aplikasinya membuat hasil itu mudah diakses.</a:t>
            </a:r>
          </a:p>
        </p:txBody>
      </p:sp>
      <p:sp>
        <p:nvSpPr>
          <p:cNvPr id="135" name="TextBox 134"/>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Bab 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