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0" r:id="rId50"/>
    <p:sldId id="301" r:id="rId51"/>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0" Type="http://schemas.openxmlformats.org/officeDocument/2006/relationships/slide" Target="slides/slide1.xml"/><Relationship Id="rId51" Type="http://schemas.openxmlformats.org/officeDocument/2006/relationships/slide" Target="slides/slide2.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Uji parsial</c:v>
                </c:pt>
              </c:strCache>
            </c:strRef>
          </c:tx>
          <c:spPr>
            <a:solidFill>
              <a:srgbClr val="39C0D3"/>
            </a:solidFill>
          </c:spPr>
          <c:cat>
            <c:strRef>
              <c:f>Sheet1!$A$2:$A$6</c:f>
              <c:strCache>
                <c:ptCount val="5"/>
                <c:pt idx="0">
                  <c:v>Jumlah hotel</c:v>
                </c:pt>
                <c:pt idx="1">
                  <c:v>Jumlah ODTW</c:v>
                </c:pt>
                <c:pt idx="2">
                  <c:v>Tenaga kerja</c:v>
                </c:pt>
                <c:pt idx="3">
                  <c:v>Lahan terbangun</c:v>
                </c:pt>
                <c:pt idx="4">
                  <c:v>TPK</c:v>
                </c:pt>
              </c:strCache>
            </c:strRef>
          </c:cat>
          <c:val>
            <c:numRef>
              <c:f>Sheet1!$B$2:$B$6</c:f>
              <c:numCache>
                <c:formatCode>General</c:formatCode>
                <c:ptCount val="5"/>
                <c:pt idx="0">
                  <c:v>0.2011</c:v>
                </c:pt>
                <c:pt idx="1">
                  <c:v>0.3367</c:v>
                </c:pt>
                <c:pt idx="2">
                  <c:v>0.4945</c:v>
                </c:pt>
                <c:pt idx="3">
                  <c:v>0.4813</c:v>
                </c:pt>
                <c:pt idx="4">
                  <c:v>0.6692</c:v>
                </c:pt>
              </c:numCache>
            </c:numRef>
          </c:val>
        </c:ser>
        <c:ser>
          <c:idx val="1"/>
          <c:order val="1"/>
          <c:tx>
            <c:strRef>
              <c:f>Sheet1!$C$1</c:f>
              <c:strCache>
                <c:ptCount val="1"/>
                <c:pt idx="0">
                  <c:v>Uji penuh</c:v>
                </c:pt>
              </c:strCache>
            </c:strRef>
          </c:tx>
          <c:spPr>
            <a:solidFill>
              <a:srgbClr val="0B5E6E"/>
            </a:solidFill>
          </c:spPr>
          <c:cat>
            <c:strRef>
              <c:f>Sheet1!$A$2:$A$6</c:f>
              <c:strCache>
                <c:ptCount val="5"/>
                <c:pt idx="0">
                  <c:v>Jumlah hotel</c:v>
                </c:pt>
                <c:pt idx="1">
                  <c:v>Jumlah ODTW</c:v>
                </c:pt>
                <c:pt idx="2">
                  <c:v>Tenaga kerja</c:v>
                </c:pt>
                <c:pt idx="3">
                  <c:v>Lahan terbangun</c:v>
                </c:pt>
                <c:pt idx="4">
                  <c:v>TPK</c:v>
                </c:pt>
              </c:strCache>
            </c:strRef>
          </c:cat>
          <c:val>
            <c:numRef>
              <c:f>Sheet1!$C$2:$C$6</c:f>
              <c:numCache>
                <c:formatCode>General</c:formatCode>
                <c:ptCount val="5"/>
                <c:pt idx="0">
                  <c:v>0.8228</c:v>
                </c:pt>
                <c:pt idx="1">
                  <c:v>0.7855</c:v>
                </c:pt>
                <c:pt idx="2">
                  <c:v>0.886</c:v>
                </c:pt>
                <c:pt idx="3">
                  <c:v>0.6619</c:v>
                </c:pt>
                <c:pt idx="4">
                  <c:v>0.6224</c:v>
                </c:pt>
              </c:numCache>
            </c:numRef>
          </c:val>
        </c:ser>
        <c:dLbls>
          <c:numFmt formatCode="0.00" sourceLinked="0"/>
          <c:txPr>
            <a:bodyPr/>
            <a:lstStyle/>
            <a:p>
              <a:pPr>
                <a:defRPr sz="1300">
                  <a:solidFill>
                    <a:srgbClr val="14313B"/>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B8C7CC"/>
            </a:solidFill>
          </a:ln>
        </c:spPr>
        <c:txPr>
          <a:bodyPr/>
          <a:lstStyle/>
          <a:p>
            <a:pPr>
              <a:defRPr sz="1300"/>
            </a:pPr>
          </a:p>
        </c:txPr>
        <c:crossAx val="-2113994440"/>
        <c:crosses val="autoZero"/>
        <c:auto val="1"/>
        <c:lblAlgn val="ctr"/>
        <c:lblOffset val="100"/>
        <c:noMultiLvlLbl val="0"/>
      </c:catAx>
      <c:valAx>
        <c:axId val="-2113994440"/>
        <c:scaling>
          <c:max val="1.0"/>
          <c:min val="0.0"/>
        </c:scaling>
        <c:delete val="0"/>
        <c:axPos val="l"/>
        <c:majorGridlines>
          <c:spPr>
            <a:ln>
              <a:solidFill>
                <a:srgbClr val="E3EEF1"/>
              </a:solidFill>
            </a:ln>
          </c:spPr>
        </c:majorGridlines>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Pada uji parsial, input dari subsistem lain diganti data aktual, sehingga yang dinilai hanya struktur subsistem itu sendiri. Hasilnya, subsistem akomodasi paling baik: jumlah hotel lolos uji tren, E1, dan E2 dengan DC 0,2011. P1b sebagai uji kekokohan P1 memberi pola serupa. Seluruh MAPE di bawah 20 persen. Satu-satunya yang gagal uji tren adalah subsistem wisatawan: simulasi tumbuh sekitar 6,4 persen per tahun, sedangkan data sekitar 11,7 persen. Selisihnya sistematis, bukan acak, sehingga penyebabnya ditelusuri lewat kalibrasi.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Pada uji penuh, model dijalankan tanpa penggantian data sehingga semua subsistem saling memengaruhi. Grafik ini membandingkan DC uji parsial dan uji penuh. DC hotel naik dari 0,20 menjadi 0,82, ODTW dari 0,34 menjadi 0,79, dan tenaga kerja dari 0,49 menjadi 0,89. Ini bukan karena struktur subsistemnya salah, tetapi karena jumlah wisatawan tumbuh lebih lambat dari data, sehingga pengeluaran, PDRB, dan investasi ikut rendah, lalu hotel dan ODTW yang dibangun lebih sedikit. TPK justru membaik. Dari sisi besaran error, MAPE tetap wajar: ODTW sangat baik, lima variabel baik, tiga variabel ekonomi layak, dan tidak ada yang buruk. U1 dominan pada enam dari sembilan variabel, artinya error berasal dari satu sumber bersama, yaitu pertumbuhan wisatawan.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56.png"/><Relationship Id="rId8" Type="http://schemas.openxmlformats.org/officeDocument/2006/relationships/chart" Target="../charts/chart6.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Parsial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Saat diuji terpisah, tiap subsistem dapat mengikuti pola datanya; hanya subsistem wisatawan yang gagal uji tren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aphicFrame>
        <p:nvGraphicFramePr>
          <p:cNvPr name="Table 70" id="70"/>
          <p:cNvGraphicFramePr>
            <a:graphicFrameLocks noGrp="true"/>
          </p:cNvGraphicFramePr>
          <p:nvPr/>
        </p:nvGraphicFramePr>
        <p:xfrm>
          <a:off x="822960" y="2286000"/>
          <a:ext cx="8712200" cy="4457700"/>
        </p:xfrm>
        <a:graphic>
          <a:graphicData uri="http://schemas.openxmlformats.org/drawingml/2006/table">
            <a:tbl>
              <a:tblPr/>
              <a:tblGrid>
                <a:gridCol w="2541059"/>
                <a:gridCol w="1452033"/>
                <a:gridCol w="816768"/>
                <a:gridCol w="816768"/>
                <a:gridCol w="907521"/>
                <a:gridCol w="907521"/>
                <a:gridCol w="1270529"/>
              </a:tblGrid>
              <a:tr h="495300">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Uji · variabel dinilai</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c>
                  <a:txBody>
                    <a:bodyPr anchor="t" rtlCol="false"/>
                    <a:lstStyle/>
                    <a:p>
                      <a:pPr algn="l">
                        <a:lnSpc>
                          <a:spcPts val="1727"/>
                        </a:lnSpc>
                        <a:defRPr/>
                      </a:pPr>
                      <a:r>
                        <a:rPr lang="en-US" sz="1439" b="true">
                          <a:solidFill>
                            <a:srgbClr val="FFFFFF"/>
                          </a:solidFill>
                          <a:latin typeface="Calibri (MS) Bold"/>
                          <a:ea typeface="Calibri (MS) Bold"/>
                          <a:cs typeface="Calibri (MS) Bold"/>
                          <a:sym typeface="Calibri (MS) Bold"/>
                        </a:rPr>
                        <a:t>Error dominan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B5E6E"/>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1B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6,05%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P1b · Jumlah hotel</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0,0182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0,1223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0,2319</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7,86%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2,5684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P1b · TPK</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0,0610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2,9435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0,7053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19,56%</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8,48%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 U3</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95300">
                <a:tc>
                  <a:txBody>
                    <a:bodyPr anchor="t" rtlCol="false"/>
                    <a:lstStyle/>
                    <a:p>
                      <a:pPr algn="l">
                        <a:lnSpc>
                          <a:spcPts val="1727"/>
                        </a:lnSpc>
                        <a:defRPr/>
                      </a:pPr>
                      <a:r>
                        <a:rPr lang="en-US" sz="1439">
                          <a:solidFill>
                            <a:srgbClr val="14313B"/>
                          </a:solidFill>
                          <a:latin typeface="Calibri (MS)"/>
                          <a:ea typeface="Calibri (MS)"/>
                          <a:cs typeface="Calibri (MS)"/>
                          <a:sym typeface="Calibri (MS)"/>
                        </a:rPr>
                        <a:t>P5 · Jumlah wisatawan</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Berbeda nyata</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4D3CF"/>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0,4057*</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c>
                  <a:txBody>
                    <a:bodyPr anchor="t" rtlCol="false"/>
                    <a:lstStyle/>
                    <a:p>
                      <a:pPr algn="l">
                        <a:lnSpc>
                          <a:spcPts val="1727"/>
                        </a:lnSpc>
                        <a:defRPr/>
                      </a:pPr>
                      <a:r>
                        <a:rPr lang="en-US" sz="1439">
                          <a:solidFill>
                            <a:srgbClr val="14313B"/>
                          </a:solidFill>
                          <a:latin typeface="Calibri (MS)"/>
                          <a:ea typeface="Calibri (MS)"/>
                          <a:cs typeface="Calibri (MS)"/>
                          <a:sym typeface="Calibri (MS)"/>
                        </a:rPr>
                        <a:t>U1+U2</a:t>
                      </a:r>
                      <a:endParaRPr lang="en-US" sz="1100"/>
                    </a:p>
                  </a:txBody>
                  <a:tcPr marL="73152" marR="73152" marT="73152" marB="73152"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AF8FA"/>
                    </a:solidFill>
                  </a:tcPr>
                </a:tc>
              </a:tr>
            </a:tbl>
          </a:graphicData>
        </a:graphic>
      </p:graphicFrame>
      <p:sp>
        <p:nvSpPr>
          <p:cNvPr name="TextBox 71" id="71"/>
          <p:cNvSpPr txBox="true"/>
          <p:nvPr/>
        </p:nvSpPr>
        <p:spPr>
          <a:xfrm rot="0">
            <a:off x="822960" y="7178040"/>
            <a:ext cx="8778240" cy="1034415"/>
          </a:xfrm>
          <a:prstGeom prst="rect">
            <a:avLst/>
          </a:prstGeom>
        </p:spPr>
        <p:txBody>
          <a:bodyPr anchor="t" rtlCol="false" tIns="0" lIns="0" bIns="0" rIns="0">
            <a:spAutoFit/>
          </a:bodyPr>
          <a:lstStyle/>
          <a:p>
            <a:pPr algn="l">
              <a:lnSpc>
                <a:spcPts val="1584"/>
              </a:lnSpc>
            </a:pPr>
            <a:r>
              <a:rPr lang="en-US" sz="1320" i="true">
                <a:solidFill>
                  <a:srgbClr val="5E6E78"/>
                </a:solidFill>
                <a:latin typeface="Calibri (MS) Italics"/>
                <a:ea typeface="Calibri (MS) Italics"/>
                <a:cs typeface="Calibri (MS) Italics"/>
                <a:sym typeface="Calibri (MS) Italics"/>
              </a:rPr>
              <a:t>Periode 2016–2025 tanpa 2020–2021. "Sama" = tren simulasi tidak berbeda nyata dengan tren data. E1/E2 P5 tidak dibaca karena trennya sudah berbeda (Barlas, 1989). *DC P5 dihitung dari notebook, tidak tercantum di tabel buku.</a:t>
            </a:r>
          </a:p>
        </p:txBody>
      </p:sp>
      <p:grpSp>
        <p:nvGrpSpPr>
          <p:cNvPr name="Group 72" id="72"/>
          <p:cNvGrpSpPr/>
          <p:nvPr/>
        </p:nvGrpSpPr>
        <p:grpSpPr>
          <a:xfrm rot="0">
            <a:off x="9875520" y="2264550"/>
            <a:ext cx="3749040" cy="2191750"/>
            <a:chOff x="0" y="0"/>
            <a:chExt cx="4998720" cy="2922334"/>
          </a:xfrm>
        </p:grpSpPr>
        <p:sp>
          <p:nvSpPr>
            <p:cNvPr name="Freeform 73" id="73" descr="image28.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7"/>
              <a:stretch>
                <a:fillRect l="0" t="0" r="0" b="-2"/>
              </a:stretch>
            </a:blipFill>
          </p:spPr>
          <p:txBody>
            <a:bodyPr/>
            <a:p/>
          </p:txBody>
        </p:sp>
      </p:grpSp>
      <p:grpSp>
        <p:nvGrpSpPr>
          <p:cNvPr name="Group 74" id="74"/>
          <p:cNvGrpSpPr/>
          <p:nvPr/>
        </p:nvGrpSpPr>
        <p:grpSpPr>
          <a:xfrm rot="0">
            <a:off x="13716000" y="2264550"/>
            <a:ext cx="3749040" cy="2191750"/>
            <a:chOff x="0" y="0"/>
            <a:chExt cx="4998720" cy="2922334"/>
          </a:xfrm>
        </p:grpSpPr>
        <p:sp>
          <p:nvSpPr>
            <p:cNvPr name="Freeform 75" id="75" descr="image34.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8"/>
              <a:stretch>
                <a:fillRect l="0" t="0" r="0" b="-2"/>
              </a:stretch>
            </a:blipFill>
          </p:spPr>
          <p:txBody>
            <a:bodyPr/>
            <a:p/>
          </p:txBody>
        </p:sp>
      </p:grpSp>
      <p:grpSp>
        <p:nvGrpSpPr>
          <p:cNvPr name="Group 76" id="76"/>
          <p:cNvGrpSpPr/>
          <p:nvPr/>
        </p:nvGrpSpPr>
        <p:grpSpPr>
          <a:xfrm rot="0">
            <a:off x="9875520" y="4641990"/>
            <a:ext cx="3749040" cy="2191750"/>
            <a:chOff x="0" y="0"/>
            <a:chExt cx="4998720" cy="2922334"/>
          </a:xfrm>
        </p:grpSpPr>
        <p:sp>
          <p:nvSpPr>
            <p:cNvPr name="Freeform 77" id="77" descr="image35.png"/>
            <p:cNvSpPr/>
            <p:nvPr/>
          </p:nvSpPr>
          <p:spPr>
            <a:xfrm flipH="false" flipV="false" rot="0">
              <a:off x="0" y="0"/>
              <a:ext cx="4998720" cy="2922270"/>
            </a:xfrm>
            <a:custGeom>
              <a:avLst/>
              <a:gdLst/>
              <a:ahLst/>
              <a:cxnLst/>
              <a:rect r="r" b="b" t="t" l="l"/>
              <a:pathLst>
                <a:path h="2922270" w="4998720">
                  <a:moveTo>
                    <a:pt x="0" y="0"/>
                  </a:moveTo>
                  <a:lnTo>
                    <a:pt x="4998720" y="0"/>
                  </a:lnTo>
                  <a:lnTo>
                    <a:pt x="4998720" y="2922270"/>
                  </a:lnTo>
                  <a:lnTo>
                    <a:pt x="0" y="2922270"/>
                  </a:lnTo>
                  <a:lnTo>
                    <a:pt x="0" y="0"/>
                  </a:lnTo>
                  <a:close/>
                </a:path>
              </a:pathLst>
            </a:custGeom>
            <a:blipFill>
              <a:blip r:embed="rId9"/>
              <a:stretch>
                <a:fillRect l="0" t="0" r="0" b="-2"/>
              </a:stretch>
            </a:blipFill>
          </p:spPr>
          <p:txBody>
            <a:bodyPr/>
            <a:p/>
          </p:txBody>
        </p:sp>
      </p:grpSp>
      <p:grpSp>
        <p:nvGrpSpPr>
          <p:cNvPr name="Group 78" id="78"/>
          <p:cNvGrpSpPr/>
          <p:nvPr/>
        </p:nvGrpSpPr>
        <p:grpSpPr>
          <a:xfrm rot="0">
            <a:off x="13709647" y="4611367"/>
            <a:ext cx="3761737" cy="2252977"/>
            <a:chOff x="0" y="0"/>
            <a:chExt cx="5015649" cy="3003969"/>
          </a:xfrm>
        </p:grpSpPr>
        <p:sp>
          <p:nvSpPr>
            <p:cNvPr name="Freeform 79" id="79"/>
            <p:cNvSpPr/>
            <p:nvPr/>
          </p:nvSpPr>
          <p:spPr>
            <a:xfrm flipH="false" flipV="false" rot="0">
              <a:off x="0" y="0"/>
              <a:ext cx="5015611" cy="3003931"/>
            </a:xfrm>
            <a:custGeom>
              <a:avLst/>
              <a:gdLst/>
              <a:ahLst/>
              <a:cxnLst/>
              <a:rect r="r" b="b" t="t" l="l"/>
              <a:pathLst>
                <a:path h="3003931" w="5015611">
                  <a:moveTo>
                    <a:pt x="0" y="240284"/>
                  </a:moveTo>
                  <a:cubicBezTo>
                    <a:pt x="0" y="107569"/>
                    <a:pt x="107569" y="0"/>
                    <a:pt x="240284" y="0"/>
                  </a:cubicBezTo>
                  <a:lnTo>
                    <a:pt x="4775327" y="0"/>
                  </a:lnTo>
                  <a:cubicBezTo>
                    <a:pt x="4908042" y="0"/>
                    <a:pt x="5015611" y="107569"/>
                    <a:pt x="5015611" y="240284"/>
                  </a:cubicBezTo>
                  <a:lnTo>
                    <a:pt x="5015611" y="2763647"/>
                  </a:lnTo>
                  <a:cubicBezTo>
                    <a:pt x="5015611" y="2896362"/>
                    <a:pt x="4908042" y="3003931"/>
                    <a:pt x="4775327" y="3003931"/>
                  </a:cubicBezTo>
                  <a:lnTo>
                    <a:pt x="240284" y="3003931"/>
                  </a:lnTo>
                  <a:cubicBezTo>
                    <a:pt x="107569" y="3003931"/>
                    <a:pt x="0" y="2896362"/>
                    <a:pt x="0" y="2763647"/>
                  </a:cubicBezTo>
                  <a:close/>
                </a:path>
              </a:pathLst>
            </a:custGeom>
            <a:solidFill>
              <a:srgbClr val="EAF8FA"/>
            </a:solidFill>
            <a:ln w="12700" cap="sq">
              <a:solidFill>
                <a:srgbClr val="CFE5E9"/>
              </a:solidFill>
              <a:prstDash val="solid"/>
              <a:miter/>
            </a:ln>
          </p:spPr>
          <p:txBody>
            <a:bodyPr/>
            <a:p/>
          </p:txBody>
        </p:sp>
        <p:sp>
          <p:nvSpPr>
            <p:cNvPr name="TextBox 80" id="80"/>
            <p:cNvSpPr txBox="true"/>
            <p:nvPr/>
          </p:nvSpPr>
          <p:spPr>
            <a:xfrm>
              <a:off x="0" y="-38100"/>
              <a:ext cx="5015649" cy="3042069"/>
            </a:xfrm>
            <a:prstGeom prst="rect">
              <a:avLst/>
            </a:prstGeom>
          </p:spPr>
          <p:txBody>
            <a:bodyPr anchor="t" rtlCol="false" tIns="50800" lIns="50800" bIns="50800" rIns="50800"/>
            <a:lstStyle/>
            <a:p>
              <a:pPr algn="l">
                <a:lnSpc>
                  <a:spcPts val="2063"/>
                </a:lnSpc>
              </a:pPr>
              <a:r>
                <a:rPr lang="en-US" sz="1719" b="true">
                  <a:solidFill>
                    <a:srgbClr val="E4604F"/>
                  </a:solidFill>
                  <a:latin typeface="Calibri (MS) Bold"/>
                  <a:ea typeface="Calibri (MS) Bold"/>
                  <a:cs typeface="Calibri (MS) Bold"/>
                  <a:sym typeface="Calibri (MS) Bold"/>
                </a:rPr>
                <a:t>Wisatawan (P5)</a:t>
              </a:r>
            </a:p>
            <a:p>
              <a:pPr algn="l">
                <a:lnSpc>
                  <a:spcPts val="1860"/>
                </a:lnSpc>
              </a:pPr>
              <a:r>
                <a:rPr lang="en-US" sz="1550">
                  <a:solidFill>
                    <a:srgbClr val="14313B"/>
                  </a:solidFill>
                  <a:latin typeface="Calibri (MS)"/>
                  <a:ea typeface="Calibri (MS)"/>
                  <a:cs typeface="Calibri (MS)"/>
                  <a:sym typeface="Calibri (MS)"/>
                </a:rPr>
                <a:t>Simulasi tumbuh ≈6,4% per tahun, sedangkan data ≈11,7% per tahun. Selisihnya sistematis (U1+U2 ≈ 0,96), bukan acak, sehingga ditelusuri lewat kalibrasi.</a:t>
              </a:r>
            </a:p>
          </p:txBody>
        </p:sp>
      </p:grpSp>
      <p:sp>
        <p:nvSpPr>
          <p:cNvPr name="TextBox 81" id="81"/>
          <p:cNvSpPr txBox="true"/>
          <p:nvPr/>
        </p:nvSpPr>
        <p:spPr>
          <a:xfrm rot="0">
            <a:off x="9875520" y="6875145"/>
            <a:ext cx="7589520" cy="394335"/>
          </a:xfrm>
          <a:prstGeom prst="rect">
            <a:avLst/>
          </a:prstGeom>
        </p:spPr>
        <p:txBody>
          <a:bodyPr anchor="t" rtlCol="false" tIns="0" lIns="0" bIns="0" rIns="0">
            <a:spAutoFit/>
          </a:bodyPr>
          <a:lstStyle/>
          <a:p>
            <a:pPr algn="l">
              <a:lnSpc>
                <a:spcPts val="1584"/>
              </a:lnSpc>
            </a:pPr>
            <a:r>
              <a:rPr lang="en-US" sz="1320" i="true">
                <a:solidFill>
                  <a:srgbClr val="5E6E78"/>
                </a:solidFill>
                <a:latin typeface="Calibri (MS) Italics"/>
                <a:ea typeface="Calibri (MS) Italics"/>
                <a:cs typeface="Calibri (MS) Italics"/>
                <a:sym typeface="Calibri (MS) Italics"/>
              </a:rPr>
              <a:t>Garis hitam = data · garis merah putus-putus = simulasi · area abu-abu = 2020–2021 (COVID). Kiri atas: P1 hotel · kanan atas: P4 lahan · kiri bawah: P5 wisatawan</a:t>
            </a:r>
          </a:p>
        </p:txBody>
      </p:sp>
      <p:grpSp>
        <p:nvGrpSpPr>
          <p:cNvPr name="Group 82" id="82"/>
          <p:cNvGrpSpPr/>
          <p:nvPr/>
        </p:nvGrpSpPr>
        <p:grpSpPr>
          <a:xfrm rot="0">
            <a:off x="816607" y="7994647"/>
            <a:ext cx="16654777" cy="927097"/>
            <a:chOff x="0" y="0"/>
            <a:chExt cx="22206369" cy="1236129"/>
          </a:xfrm>
        </p:grpSpPr>
        <p:sp>
          <p:nvSpPr>
            <p:cNvPr name="Freeform 83" id="83"/>
            <p:cNvSpPr/>
            <p:nvPr/>
          </p:nvSpPr>
          <p:spPr>
            <a:xfrm flipH="false" flipV="false" rot="0">
              <a:off x="0" y="0"/>
              <a:ext cx="22206458" cy="1236218"/>
            </a:xfrm>
            <a:custGeom>
              <a:avLst/>
              <a:gdLst/>
              <a:ahLst/>
              <a:cxnLst/>
              <a:rect r="r" b="b" t="t" l="l"/>
              <a:pathLst>
                <a:path h="1236218" w="22206458">
                  <a:moveTo>
                    <a:pt x="0" y="98933"/>
                  </a:moveTo>
                  <a:cubicBezTo>
                    <a:pt x="0" y="44323"/>
                    <a:pt x="44323" y="0"/>
                    <a:pt x="98933" y="0"/>
                  </a:cubicBezTo>
                  <a:lnTo>
                    <a:pt x="22107525" y="0"/>
                  </a:lnTo>
                  <a:cubicBezTo>
                    <a:pt x="22162136" y="0"/>
                    <a:pt x="22206458" y="44323"/>
                    <a:pt x="22206458" y="98933"/>
                  </a:cubicBezTo>
                  <a:lnTo>
                    <a:pt x="22206458" y="1137285"/>
                  </a:lnTo>
                  <a:cubicBezTo>
                    <a:pt x="22206458" y="1191895"/>
                    <a:pt x="22162136" y="1236218"/>
                    <a:pt x="22107525" y="1236218"/>
                  </a:cubicBezTo>
                  <a:lnTo>
                    <a:pt x="98933" y="1236218"/>
                  </a:lnTo>
                  <a:cubicBezTo>
                    <a:pt x="44323" y="1236091"/>
                    <a:pt x="0" y="1191895"/>
                    <a:pt x="0" y="1137285"/>
                  </a:cubicBezTo>
                  <a:close/>
                </a:path>
              </a:pathLst>
            </a:custGeom>
            <a:solidFill>
              <a:srgbClr val="FFF1BF"/>
            </a:solidFill>
            <a:ln w="12700" cap="sq">
              <a:solidFill>
                <a:srgbClr val="FFD23B"/>
              </a:solidFill>
              <a:prstDash val="solid"/>
              <a:miter/>
            </a:ln>
          </p:spPr>
          <p:txBody>
            <a:bodyPr/>
            <a:p/>
          </p:txBody>
        </p:sp>
        <p:sp>
          <p:nvSpPr>
            <p:cNvPr name="TextBox 84" id="84"/>
            <p:cNvSpPr txBox="true"/>
            <p:nvPr/>
          </p:nvSpPr>
          <p:spPr>
            <a:xfrm>
              <a:off x="0" y="-38100"/>
              <a:ext cx="22206369" cy="1274229"/>
            </a:xfrm>
            <a:prstGeom prst="rect">
              <a:avLst/>
            </a:prstGeom>
          </p:spPr>
          <p:txBody>
            <a:bodyPr anchor="ctr" rtlCol="false" tIns="50800" lIns="50800" bIns="50800" rIns="50800"/>
            <a:lstStyle/>
            <a:p>
              <a:pPr algn="l">
                <a:lnSpc>
                  <a:spcPts val="2063"/>
                </a:lnSpc>
              </a:pPr>
              <a:r>
                <a:rPr lang="en-US" sz="1719" b="true">
                  <a:solidFill>
                    <a:srgbClr val="0B5E6E"/>
                  </a:solidFill>
                  <a:latin typeface="Calibri (MS) Bold"/>
                  <a:ea typeface="Calibri (MS) Bold"/>
                  <a:cs typeface="Calibri (MS) Bold"/>
                  <a:sym typeface="Calibri (MS) Bold"/>
                </a:rPr>
                <a:t>Intinya  </a:t>
              </a:r>
              <a:r>
                <a:rPr lang="en-US" sz="1719">
                  <a:solidFill>
                    <a:srgbClr val="14313B"/>
                  </a:solidFill>
                  <a:latin typeface="Calibri (MS)"/>
                  <a:ea typeface="Calibri (MS)"/>
                  <a:cs typeface="Calibri (MS)"/>
                  <a:sym typeface="Calibri (MS)"/>
                </a:rPr>
                <a:t>Saat input dari subsistem lain diganti data aktual, tiap subsistem dapat mengikuti pola datanya (MAPE seluruhnya &lt; 20%); kelemahan hanya ada pada subsistem wisatawan.</a:t>
              </a:r>
            </a:p>
          </p:txBody>
        </p:sp>
      </p:grpSp>
      <p:grpSp>
        <p:nvGrpSpPr>
          <p:cNvPr name="Group 85" id="85"/>
          <p:cNvGrpSpPr/>
          <p:nvPr/>
        </p:nvGrpSpPr>
        <p:grpSpPr>
          <a:xfrm rot="0">
            <a:off x="16047720" y="9646920"/>
            <a:ext cx="420624" cy="420624"/>
            <a:chOff x="0" y="0"/>
            <a:chExt cx="560832" cy="560832"/>
          </a:xfrm>
        </p:grpSpPr>
        <p:sp>
          <p:nvSpPr>
            <p:cNvPr name="Freeform 86" id="86"/>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7" id="87"/>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Hasil Uji Penuh</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Saat semua subsistem dijalankan bersama, kecocokan pola melemah karena error dari subsistem wisatawan merambat</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822960" y="2188845"/>
            <a:ext cx="10149840" cy="62293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DC per variabel: uji parsial vs uji penuh (makin kecil makin baik)</a:t>
            </a:r>
          </a:p>
        </p:txBody>
      </p:sp>
      <p:sp>
        <p:nvSpPr>
          <p:cNvPr name="TextBox 67" id="67"/>
          <p:cNvSpPr txBox="true"/>
          <p:nvPr/>
        </p:nvSpPr>
        <p:spPr>
          <a:xfrm rot="0">
            <a:off x="822960" y="8595360"/>
            <a:ext cx="10149840" cy="6629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TPK justru membaik pada uji penuh. Wisatawan gagal uji tren pada P5 maupun uji penuh.</a:t>
            </a:r>
          </a:p>
        </p:txBody>
      </p:sp>
      <p:graphicFrame>
        <p:nvGraphicFramePr>
          <p:cNvPr name="Table 68" id="68"/>
          <p:cNvGraphicFramePr>
            <a:graphicFrameLocks noGrp="true"/>
          </p:cNvGraphicFramePr>
          <p:nvPr/>
        </p:nvGraphicFramePr>
        <p:xfrm>
          <a:off x="11384280" y="2400300"/>
          <a:ext cx="6032500" cy="4711700"/>
        </p:xfrm>
        <a:graphic>
          <a:graphicData uri="http://schemas.openxmlformats.org/drawingml/2006/table">
            <a:tbl>
              <a:tblPr/>
              <a:tblGrid>
                <a:gridCol w="2196934"/>
                <a:gridCol w="3835566"/>
              </a:tblGrid>
              <a:tr h="565421">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91061">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0771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56439">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91061">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9" id="69"/>
          <p:cNvGrpSpPr/>
          <p:nvPr/>
        </p:nvGrpSpPr>
        <p:grpSpPr>
          <a:xfrm rot="0">
            <a:off x="11384280" y="7406640"/>
            <a:ext cx="6076188" cy="1851660"/>
            <a:chOff x="0" y="0"/>
            <a:chExt cx="8101584" cy="2468880"/>
          </a:xfrm>
        </p:grpSpPr>
        <p:sp>
          <p:nvSpPr>
            <p:cNvPr name="Freeform 70" id="70"/>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txBody>
            <a:bodyPr/>
            <a:p/>
          </p:txBody>
        </p:sp>
      </p:grpSp>
      <p:grpSp>
        <p:nvGrpSpPr>
          <p:cNvPr name="Group 71" id="71"/>
          <p:cNvGrpSpPr/>
          <p:nvPr/>
        </p:nvGrpSpPr>
        <p:grpSpPr>
          <a:xfrm rot="0">
            <a:off x="11658600" y="7406640"/>
            <a:ext cx="5554980" cy="1851660"/>
            <a:chOff x="0" y="0"/>
            <a:chExt cx="7406640" cy="2468880"/>
          </a:xfrm>
        </p:grpSpPr>
        <p:sp>
          <p:nvSpPr>
            <p:cNvPr name="Freeform 72" id="72"/>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txBody>
            <a:bodyPr/>
            <a:p/>
          </p:txBody>
        </p:sp>
      </p:grpSp>
      <p:grpSp>
        <p:nvGrpSpPr>
          <p:cNvPr name="Group 73" id="73"/>
          <p:cNvGrpSpPr/>
          <p:nvPr/>
        </p:nvGrpSpPr>
        <p:grpSpPr>
          <a:xfrm rot="0">
            <a:off x="11658600" y="7378065"/>
            <a:ext cx="5554980" cy="1880235"/>
            <a:chOff x="0" y="0"/>
            <a:chExt cx="7406640" cy="2506980"/>
          </a:xfrm>
        </p:grpSpPr>
        <p:sp>
          <p:nvSpPr>
            <p:cNvPr name="Freeform 74" id="74"/>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26" r="0" b="-7526"/>
              </a:stretch>
            </a:blipFill>
          </p:spPr>
          <p:txBody>
            <a:bodyPr/>
            <a:p/>
          </p:txBody>
        </p:sp>
      </p:grpSp>
      <p:grpSp>
        <p:nvGrpSpPr>
          <p:cNvPr name="Group 75" id="75"/>
          <p:cNvGrpSpPr/>
          <p:nvPr/>
        </p:nvGrpSpPr>
        <p:grpSpPr>
          <a:xfrm rot="0">
            <a:off x="11658600" y="7349490"/>
            <a:ext cx="5554980" cy="1908810"/>
            <a:chOff x="0" y="0"/>
            <a:chExt cx="7406640" cy="2545080"/>
          </a:xfrm>
        </p:grpSpPr>
        <p:sp>
          <p:nvSpPr>
            <p:cNvPr name="Freeform 76" id="76"/>
            <p:cNvSpPr/>
            <p:nvPr/>
          </p:nvSpPr>
          <p:spPr>
            <a:xfrm flipH="false" flipV="false" rot="0">
              <a:off x="0" y="0"/>
              <a:ext cx="7406640" cy="2545080"/>
            </a:xfrm>
            <a:custGeom>
              <a:avLst/>
              <a:gdLst/>
              <a:ahLst/>
              <a:cxnLst/>
              <a:rect r="r" b="b" t="t" l="l"/>
              <a:pathLst>
                <a:path h="2545080" w="7406640">
                  <a:moveTo>
                    <a:pt x="0" y="0"/>
                  </a:moveTo>
                  <a:lnTo>
                    <a:pt x="7406640" y="0"/>
                  </a:lnTo>
                  <a:lnTo>
                    <a:pt x="7406640" y="2545080"/>
                  </a:lnTo>
                  <a:lnTo>
                    <a:pt x="0" y="2545080"/>
                  </a:lnTo>
                  <a:close/>
                </a:path>
              </a:pathLst>
            </a:custGeom>
            <a:blipFill>
              <a:blip r:embed="rId6">
                <a:alphaModFix amt="0"/>
              </a:blip>
              <a:stretch>
                <a:fillRect l="0" t="-6704" r="0" b="-6704"/>
              </a:stretch>
            </a:blipFill>
          </p:spPr>
          <p:txBody>
            <a:bodyPr/>
            <a:p/>
          </p:txBody>
        </p:sp>
        <p:sp>
          <p:nvSpPr>
            <p:cNvPr name="TextBox 77" id="77"/>
            <p:cNvSpPr txBox="true"/>
            <p:nvPr/>
          </p:nvSpPr>
          <p:spPr>
            <a:xfrm>
              <a:off x="0" y="-38100"/>
              <a:ext cx="7406640" cy="25831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Mengapa melemah? Wisatawan tumbuh lebih lambat dari data → pengeluaran, PDRB, dan investasi ikut rendah → hotel dan ODTW yang dibangun lebih sedikit. U1 dominan pada 6 dari 9 variabel: error dari satu sumber.</a:t>
              </a:r>
            </a:p>
          </p:txBody>
        </p:sp>
      </p:grpSp>
      <p:sp>
        <p:nvSpPr>
          <p:cNvPr name="TextBox 78" id="78"/>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grpSp>
        <p:nvGrpSpPr>
          <p:cNvPr name="Group 81" id="81"/>
          <p:cNvGrpSpPr/>
          <p:nvPr/>
        </p:nvGrpSpPr>
        <p:grpSpPr>
          <a:xfrm rot="0">
            <a:off x="12755880" y="274320"/>
            <a:ext cx="3931920" cy="411480"/>
            <a:chOff x="0" y="0"/>
            <a:chExt cx="5242560" cy="548640"/>
          </a:xfrm>
        </p:grpSpPr>
        <p:sp>
          <p:nvSpPr>
            <p:cNvPr name="Freeform 82" id="8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83" id="8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grpSp>
        <p:nvGrpSpPr>
          <p:cNvPr name="Group 84" id="84"/>
          <p:cNvGrpSpPr/>
          <p:nvPr/>
        </p:nvGrpSpPr>
        <p:grpSpPr>
          <a:xfrm rot="0">
            <a:off x="16047720" y="9646920"/>
            <a:ext cx="420624" cy="420624"/>
            <a:chOff x="0" y="0"/>
            <a:chExt cx="560832" cy="560832"/>
          </a:xfrm>
        </p:grpSpPr>
        <p:sp>
          <p:nvSpPr>
            <p:cNvPr name="Freeform 85" id="85"/>
            <p:cNvSpPr/>
            <p:nvPr/>
          </p:nvSpPr>
          <p:spPr>
            <a:xfrm flipH="false" flipV="false" rot="0">
              <a:off x="0" y="0"/>
              <a:ext cx="560832" cy="560832"/>
            </a:xfrm>
            <a:custGeom>
              <a:avLst/>
              <a:gdLst/>
              <a:ahLst/>
              <a:cxnLst/>
              <a:rect r="r" b="b" t="t" l="l"/>
              <a:pathLst>
                <a:path h="560832" w="560832">
                  <a:moveTo>
                    <a:pt x="0" y="280416"/>
                  </a:moveTo>
                  <a:cubicBezTo>
                    <a:pt x="0" y="125603"/>
                    <a:pt x="125603" y="0"/>
                    <a:pt x="280416" y="0"/>
                  </a:cubicBezTo>
                  <a:cubicBezTo>
                    <a:pt x="435229" y="0"/>
                    <a:pt x="560832" y="125603"/>
                    <a:pt x="560832" y="280416"/>
                  </a:cubicBezTo>
                  <a:cubicBezTo>
                    <a:pt x="560832" y="435229"/>
                    <a:pt x="435229" y="560832"/>
                    <a:pt x="280416" y="560832"/>
                  </a:cubicBezTo>
                  <a:cubicBezTo>
                    <a:pt x="125603" y="560832"/>
                    <a:pt x="0" y="435229"/>
                    <a:pt x="0" y="280416"/>
                  </a:cubicBezTo>
                  <a:close/>
                </a:path>
              </a:pathLst>
            </a:custGeom>
            <a:solidFill>
              <a:srgbClr val="E4604F"/>
            </a:solidFill>
          </p:spPr>
          <p:txBody>
            <a:bodyPr/>
            <a:p/>
          </p:txBody>
        </p:sp>
        <p:sp>
          <p:nvSpPr>
            <p:cNvPr name="TextBox 86" id="86"/>
            <p:cNvSpPr txBox="true"/>
            <p:nvPr/>
          </p:nvSpPr>
          <p:spPr>
            <a:xfrm>
              <a:off x="0" y="-28575"/>
              <a:ext cx="560832" cy="589407"/>
            </a:xfrm>
            <a:prstGeom prst="rect">
              <a:avLst/>
            </a:prstGeom>
          </p:spPr>
          <p:txBody>
            <a:bodyPr anchor="ctr" rtlCol="false" tIns="50800" lIns="50800" bIns="50800" rIns="50800"/>
            <a:lstStyle/>
            <a:p>
              <a:pPr algn="ctr">
                <a:lnSpc>
                  <a:spcPts val="1932"/>
                </a:lnSpc>
              </a:pPr>
              <a:r>
                <a:rPr lang="en-US" sz="1610" b="true">
                  <a:solidFill>
                    <a:srgbClr val="FFFFFF"/>
                  </a:solidFill>
                  <a:latin typeface="Calibri (MS) Bold"/>
                  <a:ea typeface="Calibri (MS) Bold"/>
                  <a:cs typeface="Calibri (MS) Bold"/>
                  <a:sym typeface="Calibri (MS) Bold"/>
                </a:rPr>
                <a:t>W</a:t>
              </a:r>
            </a:p>
          </p:txBody>
        </p:sp>
      </p:grpSp>
      <p:graphicFrame>
        <p:nvGraphicFramePr>
          <p:cNvPr id="87" name="Chart 86"/>
          <p:cNvGraphicFramePr>
            <a:graphicFrameLocks noGrp="1"/>
          </p:cNvGraphicFramePr>
          <p:nvPr/>
        </p:nvGraphicFramePr>
        <p:xfrm>
          <a:off x="822960" y="2788920"/>
          <a:ext cx="10149840" cy="5760720"/>
        </p:xfrm>
        <a:graphic>
          <a:graphicData uri="http://schemas.openxmlformats.org/drawingml/2006/chart">
            <c:chart xmlns:c="http://schemas.openxmlformats.org/drawingml/2006/chart" r:id="rId8"/>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