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300" r:id="rId50"/>
    <p:sldId id="301" r:id="rId51"/>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50" Type="http://schemas.openxmlformats.org/officeDocument/2006/relationships/slide" Target="slides/slide1.xml"/><Relationship Id="rId51" Type="http://schemas.openxmlformats.org/officeDocument/2006/relationships/slide" Target="slides/slide2.xml"/><Relationship Id="rId96" Type="http://schemas.openxmlformats.org/officeDocument/2006/relationships/notesMaster" Target="notesMasters/notesMaster1.xml"/><Relationship Id="rId97" Type="http://schemas.openxmlformats.org/officeDocument/2006/relationships/theme" Target="theme/theme2.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5" Type="http://schemas.openxmlformats.org/officeDocument/2006/relationships/font" Target="fonts/font105.fntdata"/><Relationship Id="rId108" Type="http://schemas.openxmlformats.org/officeDocument/2006/relationships/font" Target="fonts/font108.fntdata"/><Relationship Id="rId128" Type="http://schemas.openxmlformats.org/officeDocument/2006/relationships/font" Target="fonts/font128.fntdata"/></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Uji parsial</c:v>
                </c:pt>
              </c:strCache>
            </c:strRef>
          </c:tx>
          <c:spPr>
            <a:solidFill>
              <a:srgbClr val="39C0D3"/>
            </a:solidFill>
          </c:spPr>
          <c:cat>
            <c:strRef>
              <c:f>Sheet1!$A$2:$A$6</c:f>
              <c:strCache>
                <c:ptCount val="5"/>
                <c:pt idx="0">
                  <c:v>Jumlah hotel</c:v>
                </c:pt>
                <c:pt idx="1">
                  <c:v>Jumlah ODTW</c:v>
                </c:pt>
                <c:pt idx="2">
                  <c:v>Tenaga kerja</c:v>
                </c:pt>
                <c:pt idx="3">
                  <c:v>Lahan terbangun</c:v>
                </c:pt>
                <c:pt idx="4">
                  <c:v>TPK</c:v>
                </c:pt>
              </c:strCache>
            </c:strRef>
          </c:cat>
          <c:val>
            <c:numRef>
              <c:f>Sheet1!$B$2:$B$6</c:f>
              <c:numCache>
                <c:formatCode>General</c:formatCode>
                <c:ptCount val="5"/>
                <c:pt idx="0">
                  <c:v>0.2011</c:v>
                </c:pt>
                <c:pt idx="1">
                  <c:v>0.3367</c:v>
                </c:pt>
                <c:pt idx="2">
                  <c:v>0.4945</c:v>
                </c:pt>
                <c:pt idx="3">
                  <c:v>0.4813</c:v>
                </c:pt>
                <c:pt idx="4">
                  <c:v>0.6692</c:v>
                </c:pt>
              </c:numCache>
            </c:numRef>
          </c:val>
        </c:ser>
        <c:ser>
          <c:idx val="1"/>
          <c:order val="1"/>
          <c:tx>
            <c:strRef>
              <c:f>Sheet1!$C$1</c:f>
              <c:strCache>
                <c:ptCount val="1"/>
                <c:pt idx="0">
                  <c:v>Uji penuh</c:v>
                </c:pt>
              </c:strCache>
            </c:strRef>
          </c:tx>
          <c:spPr>
            <a:solidFill>
              <a:srgbClr val="0B5E6E"/>
            </a:solidFill>
          </c:spPr>
          <c:cat>
            <c:strRef>
              <c:f>Sheet1!$A$2:$A$6</c:f>
              <c:strCache>
                <c:ptCount val="5"/>
                <c:pt idx="0">
                  <c:v>Jumlah hotel</c:v>
                </c:pt>
                <c:pt idx="1">
                  <c:v>Jumlah ODTW</c:v>
                </c:pt>
                <c:pt idx="2">
                  <c:v>Tenaga kerja</c:v>
                </c:pt>
                <c:pt idx="3">
                  <c:v>Lahan terbangun</c:v>
                </c:pt>
                <c:pt idx="4">
                  <c:v>TPK</c:v>
                </c:pt>
              </c:strCache>
            </c:strRef>
          </c:cat>
          <c:val>
            <c:numRef>
              <c:f>Sheet1!$C$2:$C$6</c:f>
              <c:numCache>
                <c:formatCode>General</c:formatCode>
                <c:ptCount val="5"/>
                <c:pt idx="0">
                  <c:v>0.8228</c:v>
                </c:pt>
                <c:pt idx="1">
                  <c:v>0.7855</c:v>
                </c:pt>
                <c:pt idx="2">
                  <c:v>0.886</c:v>
                </c:pt>
                <c:pt idx="3">
                  <c:v>0.6619</c:v>
                </c:pt>
                <c:pt idx="4">
                  <c:v>0.6224</c:v>
                </c:pt>
              </c:numCache>
            </c:numRef>
          </c:val>
        </c:ser>
        <c:dLbls>
          <c:numFmt formatCode="0.00" sourceLinked="0"/>
          <c:txPr>
            <a:bodyPr/>
            <a:lstStyle/>
            <a:p>
              <a:pPr>
                <a:defRPr sz="1300">
                  <a:solidFill>
                    <a:srgbClr val="14313B"/>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B8C7CC"/>
            </a:solidFill>
          </a:ln>
        </c:spPr>
        <c:txPr>
          <a:bodyPr/>
          <a:lstStyle/>
          <a:p>
            <a:pPr>
              <a:defRPr sz="1300"/>
            </a:pPr>
          </a:p>
        </c:txPr>
        <c:crossAx val="-2113994440"/>
        <c:crosses val="autoZero"/>
        <c:auto val="1"/>
        <c:lblAlgn val="ctr"/>
        <c:lblOffset val="100"/>
        <c:noMultiLvlLbl val="0"/>
      </c:catAx>
      <c:valAx>
        <c:axId val="-2113994440"/>
        <c:scaling>
          <c:max val="1.0"/>
          <c:min val="0.0"/>
        </c:scaling>
        <c:delete val="0"/>
        <c:axPos val="l"/>
        <c:majorGridlines>
          <c:spPr>
            <a:ln>
              <a:solidFill>
                <a:srgbClr val="E3EEF1"/>
              </a:solidFill>
            </a:ln>
          </c:spPr>
        </c:majorGridlines>
        <c:majorTickMark val="out"/>
        <c:minorTickMark val="none"/>
        <c:tickLblPos val="nextTo"/>
        <c:spPr>
          <a:ln>
            <a:noFill/>
          </a:ln>
        </c:spPr>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14313B"/>
          </a:solidFill>
          <a:latin typeface="Calibri (M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4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Pada uji parsial, input dari subsistem lain diganti data aktual, sehingga yang dinilai hanya struktur subsistem itu sendiri. Hasilnya, subsistem akomodasi paling baik: jumlah hotel lolos uji tren, E1, dan E2 dengan DC 0,2011. P1b sebagai uji kekokohan P1 memberi pola serupa. Seluruh MAPE di bawah 20 persen. Satu-satunya yang gagal uji tren adalah subsistem wisatawan: simulasi tumbuh sekitar 6,4 persen per tahun, sedangkan data sekitar 11,7 persen, sehingga simulasi makin tertinggal. Selisihnya berpola, bukan kebetulan, sehingga penyebabnya ditelusuri lewat kalibrasi.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Pada uji penuh, model dijalankan tanpa penggantian data sehingga semua subsistem saling memengaruhi. Grafik ini membandingkan DC uji parsial dan uji penuh. DC hotel naik dari 0,20 menjadi 0,82, ODTW dari 0,34 menjadi 0,79, dan tenaga kerja dari 0,49 menjadi 0,89. Ini bukan karena struktur subsistemnya salah, tetapi karena jumlah wisatawan tumbuh lebih lambat dari data, sehingga pengeluaran, PDRB, dan investasi ikut rendah, lalu hotel dan ODTW yang dibangun lebih sedikit. TPK justru membaik. Dari sisi besaran error, MAPE tetap wajar: ODTW sangat baik, lima variabel baik, tiga variabel ekonomi layak, dan tidak ada yang buruk. Pada enam dari sembilan variabel, selisih terbesarnya berasal dari beda rata-rata atau U1, tanda bahwa sumbernya sama, yaitu pertumbuhan wisatawan.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6.png"/><Relationship Id="rId8" Type="http://schemas.openxmlformats.org/officeDocument/2006/relationships/chart" Target="../charts/chart6.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Uji Parsial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Saat diuji terpisah, tiap subsistem dapat mengikuti pola datanya; hanya subsistem wisatawan yang gagal uji tren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47</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aphicFrame>
        <p:nvGraphicFramePr>
          <p:cNvPr name="Table 70" id="70"/>
          <p:cNvGraphicFramePr>
            <a:graphicFrameLocks noGrp="true"/>
          </p:cNvGraphicFramePr>
          <p:nvPr/>
        </p:nvGraphicFramePr>
        <p:xfrm>
          <a:off x="822960" y="2286000"/>
          <a:ext cx="8712200" cy="4457700"/>
        </p:xfrm>
        <a:graphic>
          <a:graphicData uri="http://schemas.openxmlformats.org/drawingml/2006/table">
            <a:tbl>
              <a:tblPr/>
              <a:tblGrid>
                <a:gridCol w="2541059"/>
                <a:gridCol w="1452033"/>
                <a:gridCol w="816768"/>
                <a:gridCol w="816768"/>
                <a:gridCol w="907521"/>
                <a:gridCol w="907521"/>
                <a:gridCol w="1270529"/>
              </a:tblGrid>
              <a:tr h="495300">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Uji · variabel dinilai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Tren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E1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E2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DC</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MAPE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Error dominan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 · Jumlah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0,0402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0,0773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0,2011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6,05%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P1b · Jumlah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0,0182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0,1223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0,2319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7,86%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 · TPK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0,0643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2,5684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0,6692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17,37%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P1b · TPK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0,0610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2,9435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0,7053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19,56%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P2 · Jumlah ODTW</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0,0880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0,3303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8,48%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P3 · Tenaga kerja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0,1370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0,3027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0,4945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12,88%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P4 · Lahan terbangun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0,1125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0,3918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0,4813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12,94%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 U3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P5 · Jumlah wisatawan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Berbeda nyata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4D3C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0,4057*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U1+U2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sp>
        <p:nvSpPr>
          <p:cNvPr name="TextBox 71" id="71"/>
          <p:cNvSpPr txBox="true"/>
          <p:nvPr/>
        </p:nvSpPr>
        <p:spPr>
          <a:xfrm rot="0">
            <a:off x="822960" y="7178040"/>
            <a:ext cx="8778240" cy="1034415"/>
          </a:xfrm>
          <a:prstGeom prst="rect">
            <a:avLst/>
          </a:prstGeom>
        </p:spPr>
        <p:txBody>
          <a:bodyPr anchor="t" rtlCol="false" tIns="0" lIns="0" bIns="0" rIns="0">
            <a:spAutoFit/>
          </a:bodyPr>
          <a:lstStyle/>
          <a:p>
            <a:pPr algn="l">
              <a:lnSpc>
                <a:spcPts val="1584"/>
              </a:lnSpc>
            </a:pPr>
            <a:r>
              <a:rPr lang="en-US" sz="1320" i="true">
                <a:solidFill>
                  <a:srgbClr val="5E6E78"/>
                </a:solidFill>
                <a:latin typeface="Calibri (MS) Italics"/>
                <a:ea typeface="Calibri (MS) Italics"/>
                <a:cs typeface="Calibri (MS) Italics"/>
                <a:sym typeface="Calibri (MS) Italics"/>
              </a:rPr>
              <a:t>Periode 2016–2025 tanpa 2020–2021. "Sama" = tren simulasi tidak berbeda nyata dengan tren data. E1/E2 P5 tidak dibaca karena trennya sudah berbeda (Barlas, 1989). *DC P5 dihitung dari notebook, tidak tercantum di tabel buku.</a:t>
            </a:r>
          </a:p>
        </p:txBody>
      </p:sp>
      <p:grpSp>
        <p:nvGrpSpPr>
          <p:cNvPr name="Group 72" id="72"/>
          <p:cNvGrpSpPr/>
          <p:nvPr/>
        </p:nvGrpSpPr>
        <p:grpSpPr>
          <a:xfrm rot="0">
            <a:off x="9875520" y="2264550"/>
            <a:ext cx="3749040" cy="2191750"/>
            <a:chOff x="0" y="0"/>
            <a:chExt cx="4998720" cy="2922334"/>
          </a:xfrm>
        </p:grpSpPr>
        <p:sp>
          <p:nvSpPr>
            <p:cNvPr name="Freeform 73" id="73" descr="image28.png"/>
            <p:cNvSpPr/>
            <p:nvPr/>
          </p:nvSpPr>
          <p:spPr>
            <a:xfrm flipH="false" flipV="false" rot="0">
              <a:off x="0" y="0"/>
              <a:ext cx="4998720" cy="2922270"/>
            </a:xfrm>
            <a:custGeom>
              <a:avLst/>
              <a:gdLst/>
              <a:ahLst/>
              <a:cxnLst/>
              <a:rect r="r" b="b" t="t" l="l"/>
              <a:pathLst>
                <a:path h="2922270" w="4998720">
                  <a:moveTo>
                    <a:pt x="0" y="0"/>
                  </a:moveTo>
                  <a:lnTo>
                    <a:pt x="4998720" y="0"/>
                  </a:lnTo>
                  <a:lnTo>
                    <a:pt x="4998720" y="2922270"/>
                  </a:lnTo>
                  <a:lnTo>
                    <a:pt x="0" y="2922270"/>
                  </a:lnTo>
                  <a:lnTo>
                    <a:pt x="0" y="0"/>
                  </a:lnTo>
                  <a:close/>
                </a:path>
              </a:pathLst>
            </a:custGeom>
            <a:blipFill>
              <a:blip r:embed="rId7"/>
              <a:stretch>
                <a:fillRect l="0" t="0" r="0" b="-2"/>
              </a:stretch>
            </a:blipFill>
          </p:spPr>
          <p:txBody>
            <a:bodyPr/>
            <a:p/>
          </p:txBody>
        </p:sp>
      </p:grpSp>
      <p:grpSp>
        <p:nvGrpSpPr>
          <p:cNvPr name="Group 74" id="74"/>
          <p:cNvGrpSpPr/>
          <p:nvPr/>
        </p:nvGrpSpPr>
        <p:grpSpPr>
          <a:xfrm rot="0">
            <a:off x="13716000" y="2264550"/>
            <a:ext cx="3749040" cy="2191750"/>
            <a:chOff x="0" y="0"/>
            <a:chExt cx="4998720" cy="2922334"/>
          </a:xfrm>
        </p:grpSpPr>
        <p:sp>
          <p:nvSpPr>
            <p:cNvPr name="Freeform 75" id="75" descr="image34.png"/>
            <p:cNvSpPr/>
            <p:nvPr/>
          </p:nvSpPr>
          <p:spPr>
            <a:xfrm flipH="false" flipV="false" rot="0">
              <a:off x="0" y="0"/>
              <a:ext cx="4998720" cy="2922270"/>
            </a:xfrm>
            <a:custGeom>
              <a:avLst/>
              <a:gdLst/>
              <a:ahLst/>
              <a:cxnLst/>
              <a:rect r="r" b="b" t="t" l="l"/>
              <a:pathLst>
                <a:path h="2922270" w="4998720">
                  <a:moveTo>
                    <a:pt x="0" y="0"/>
                  </a:moveTo>
                  <a:lnTo>
                    <a:pt x="4998720" y="0"/>
                  </a:lnTo>
                  <a:lnTo>
                    <a:pt x="4998720" y="2922270"/>
                  </a:lnTo>
                  <a:lnTo>
                    <a:pt x="0" y="2922270"/>
                  </a:lnTo>
                  <a:lnTo>
                    <a:pt x="0" y="0"/>
                  </a:lnTo>
                  <a:close/>
                </a:path>
              </a:pathLst>
            </a:custGeom>
            <a:blipFill>
              <a:blip r:embed="rId8"/>
              <a:stretch>
                <a:fillRect l="0" t="0" r="0" b="-2"/>
              </a:stretch>
            </a:blipFill>
          </p:spPr>
          <p:txBody>
            <a:bodyPr/>
            <a:p/>
          </p:txBody>
        </p:sp>
      </p:grpSp>
      <p:grpSp>
        <p:nvGrpSpPr>
          <p:cNvPr name="Group 76" id="76"/>
          <p:cNvGrpSpPr/>
          <p:nvPr/>
        </p:nvGrpSpPr>
        <p:grpSpPr>
          <a:xfrm rot="0">
            <a:off x="9875520" y="4641990"/>
            <a:ext cx="3749040" cy="2191750"/>
            <a:chOff x="0" y="0"/>
            <a:chExt cx="4998720" cy="2922334"/>
          </a:xfrm>
        </p:grpSpPr>
        <p:sp>
          <p:nvSpPr>
            <p:cNvPr name="Freeform 77" id="77" descr="image35.png"/>
            <p:cNvSpPr/>
            <p:nvPr/>
          </p:nvSpPr>
          <p:spPr>
            <a:xfrm flipH="false" flipV="false" rot="0">
              <a:off x="0" y="0"/>
              <a:ext cx="4998720" cy="2922270"/>
            </a:xfrm>
            <a:custGeom>
              <a:avLst/>
              <a:gdLst/>
              <a:ahLst/>
              <a:cxnLst/>
              <a:rect r="r" b="b" t="t" l="l"/>
              <a:pathLst>
                <a:path h="2922270" w="4998720">
                  <a:moveTo>
                    <a:pt x="0" y="0"/>
                  </a:moveTo>
                  <a:lnTo>
                    <a:pt x="4998720" y="0"/>
                  </a:lnTo>
                  <a:lnTo>
                    <a:pt x="4998720" y="2922270"/>
                  </a:lnTo>
                  <a:lnTo>
                    <a:pt x="0" y="2922270"/>
                  </a:lnTo>
                  <a:lnTo>
                    <a:pt x="0" y="0"/>
                  </a:lnTo>
                  <a:close/>
                </a:path>
              </a:pathLst>
            </a:custGeom>
            <a:blipFill>
              <a:blip r:embed="rId9"/>
              <a:stretch>
                <a:fillRect l="0" t="0" r="0" b="-2"/>
              </a:stretch>
            </a:blipFill>
          </p:spPr>
          <p:txBody>
            <a:bodyPr/>
            <a:p/>
          </p:txBody>
        </p:sp>
      </p:grpSp>
      <p:grpSp>
        <p:nvGrpSpPr>
          <p:cNvPr name="Group 78" id="78"/>
          <p:cNvGrpSpPr/>
          <p:nvPr/>
        </p:nvGrpSpPr>
        <p:grpSpPr>
          <a:xfrm rot="0">
            <a:off x="13709647" y="4611367"/>
            <a:ext cx="3761737" cy="2252977"/>
            <a:chOff x="0" y="0"/>
            <a:chExt cx="5015649" cy="3003969"/>
          </a:xfrm>
        </p:grpSpPr>
        <p:sp>
          <p:nvSpPr>
            <p:cNvPr name="Freeform 79" id="79"/>
            <p:cNvSpPr/>
            <p:nvPr/>
          </p:nvSpPr>
          <p:spPr>
            <a:xfrm flipH="false" flipV="false" rot="0">
              <a:off x="0" y="0"/>
              <a:ext cx="5015611" cy="3003931"/>
            </a:xfrm>
            <a:custGeom>
              <a:avLst/>
              <a:gdLst/>
              <a:ahLst/>
              <a:cxnLst/>
              <a:rect r="r" b="b" t="t" l="l"/>
              <a:pathLst>
                <a:path h="3003931" w="5015611">
                  <a:moveTo>
                    <a:pt x="0" y="240284"/>
                  </a:moveTo>
                  <a:cubicBezTo>
                    <a:pt x="0" y="107569"/>
                    <a:pt x="107569" y="0"/>
                    <a:pt x="240284" y="0"/>
                  </a:cubicBezTo>
                  <a:lnTo>
                    <a:pt x="4775327" y="0"/>
                  </a:lnTo>
                  <a:cubicBezTo>
                    <a:pt x="4908042" y="0"/>
                    <a:pt x="5015611" y="107569"/>
                    <a:pt x="5015611" y="240284"/>
                  </a:cubicBezTo>
                  <a:lnTo>
                    <a:pt x="5015611" y="2763647"/>
                  </a:lnTo>
                  <a:cubicBezTo>
                    <a:pt x="5015611" y="2896362"/>
                    <a:pt x="4908042" y="3003931"/>
                    <a:pt x="4775327" y="3003931"/>
                  </a:cubicBezTo>
                  <a:lnTo>
                    <a:pt x="240284" y="3003931"/>
                  </a:lnTo>
                  <a:cubicBezTo>
                    <a:pt x="107569" y="3003931"/>
                    <a:pt x="0" y="2896362"/>
                    <a:pt x="0" y="2763647"/>
                  </a:cubicBezTo>
                  <a:close/>
                </a:path>
              </a:pathLst>
            </a:custGeom>
            <a:solidFill>
              <a:srgbClr val="EAF8FA"/>
            </a:solidFill>
            <a:ln w="12700" cap="sq">
              <a:solidFill>
                <a:srgbClr val="CFE5E9"/>
              </a:solidFill>
              <a:prstDash val="solid"/>
              <a:miter/>
            </a:ln>
          </p:spPr>
          <p:txBody>
            <a:bodyPr/>
            <a:p/>
          </p:txBody>
        </p:sp>
        <p:sp>
          <p:nvSpPr>
            <p:cNvPr name="TextBox 80" id="80"/>
            <p:cNvSpPr txBox="true"/>
            <p:nvPr/>
          </p:nvSpPr>
          <p:spPr>
            <a:xfrm>
              <a:off x="0" y="-38100"/>
              <a:ext cx="5015649" cy="3042069"/>
            </a:xfrm>
            <a:prstGeom prst="rect">
              <a:avLst/>
            </a:prstGeom>
          </p:spPr>
          <p:txBody>
            <a:bodyPr anchor="t" rtlCol="false" tIns="50800" lIns="50800" bIns="50800" rIns="50800"/>
            <a:lstStyle/>
            <a:p>
              <a:pPr algn="l">
                <a:lnSpc>
                  <a:spcPts val="2063"/>
                </a:lnSpc>
              </a:pPr>
              <a:r>
                <a:rPr lang="en-US" sz="1719" b="true">
                  <a:solidFill>
                    <a:srgbClr val="E4604F"/>
                  </a:solidFill>
                  <a:latin typeface="Calibri (MS) Bold"/>
                  <a:ea typeface="Calibri (MS) Bold"/>
                  <a:cs typeface="Calibri (MS) Bold"/>
                  <a:sym typeface="Calibri (MS) Bold"/>
                </a:rPr>
                <a:t>Wisatawan (P5)</a:t>
              </a:r>
            </a:p>
            <a:p>
              <a:pPr algn="l">
                <a:lnSpc>
                  <a:spcPts val="1860"/>
                </a:lnSpc>
              </a:pPr>
              <a:r>
                <a:rPr lang="en-US" sz="1550">
                  <a:solidFill>
                    <a:srgbClr val="14313B"/>
                  </a:solidFill>
                  <a:latin typeface="Calibri (MS)"/>
                  <a:ea typeface="Calibri (MS)"/>
                  <a:cs typeface="Calibri (MS)"/>
                  <a:sym typeface="Calibri (MS)"/>
                </a:rPr>
                <a:t>Simulasi tumbuh sekitar 6,4% per tahun, sedangkan data sekitar 11,7% per tahun, sehingga simulasi makin tertinggal dari data. Selisihnya berpola, bukan kebetulan (U1+U2 ≈ 0,96), jadi penyebabnya ditelusuri lewat kalibrasi.</a:t>
              </a:r>
            </a:p>
          </p:txBody>
        </p:sp>
      </p:grpSp>
      <p:sp>
        <p:nvSpPr>
          <p:cNvPr name="TextBox 81" id="81"/>
          <p:cNvSpPr txBox="true"/>
          <p:nvPr/>
        </p:nvSpPr>
        <p:spPr>
          <a:xfrm rot="0">
            <a:off x="9875520" y="6875145"/>
            <a:ext cx="7589520" cy="394335"/>
          </a:xfrm>
          <a:prstGeom prst="rect">
            <a:avLst/>
          </a:prstGeom>
        </p:spPr>
        <p:txBody>
          <a:bodyPr anchor="t" rtlCol="false" tIns="0" lIns="0" bIns="0" rIns="0">
            <a:spAutoFit/>
          </a:bodyPr>
          <a:lstStyle/>
          <a:p>
            <a:pPr algn="l">
              <a:lnSpc>
                <a:spcPts val="1584"/>
              </a:lnSpc>
            </a:pPr>
            <a:r>
              <a:rPr lang="en-US" sz="1320" i="true">
                <a:solidFill>
                  <a:srgbClr val="5E6E78"/>
                </a:solidFill>
                <a:latin typeface="Calibri (MS) Italics"/>
                <a:ea typeface="Calibri (MS) Italics"/>
                <a:cs typeface="Calibri (MS) Italics"/>
                <a:sym typeface="Calibri (MS) Italics"/>
              </a:rPr>
              <a:t>Garis hitam = data · garis merah putus-putus = simulasi · area abu-abu = 2020–2021 (COVID). Kiri atas: P1 hotel · kanan atas: P4 lahan · kiri bawah: P5 wisatawan</a:t>
            </a:r>
          </a:p>
        </p:txBody>
      </p:sp>
      <p:grpSp>
        <p:nvGrpSpPr>
          <p:cNvPr name="Group 82" id="82"/>
          <p:cNvGrpSpPr/>
          <p:nvPr/>
        </p:nvGrpSpPr>
        <p:grpSpPr>
          <a:xfrm rot="0">
            <a:off x="816607" y="7994647"/>
            <a:ext cx="16654777" cy="927097"/>
            <a:chOff x="0" y="0"/>
            <a:chExt cx="22206369" cy="1236129"/>
          </a:xfrm>
        </p:grpSpPr>
        <p:sp>
          <p:nvSpPr>
            <p:cNvPr name="Freeform 83" id="83"/>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84" id="84"/>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Intinya  </a:t>
              </a:r>
              <a:r>
                <a:rPr lang="en-US" sz="1719">
                  <a:solidFill>
                    <a:srgbClr val="14313B"/>
                  </a:solidFill>
                  <a:latin typeface="Calibri (MS)"/>
                  <a:ea typeface="Calibri (MS)"/>
                  <a:cs typeface="Calibri (MS)"/>
                  <a:sym typeface="Calibri (MS)"/>
                </a:rPr>
                <a:t>Saat diuji sendiri-sendiri, setiap subsistem menghasilkan simulasi yang dekat dengan data (selisih rata-rata/MAPE &lt; 20%); satu-satunya yang bermasalah adalah subsistem wisatawan, yang tumbuh lebih lambat dari data.</a:t>
              </a:r>
            </a:p>
          </p:txBody>
        </p:sp>
      </p:grpSp>
      <p:grpSp>
        <p:nvGrpSpPr>
          <p:cNvPr name="Group 85" id="85"/>
          <p:cNvGrpSpPr/>
          <p:nvPr/>
        </p:nvGrpSpPr>
        <p:grpSpPr>
          <a:xfrm rot="0">
            <a:off x="16047720" y="9646920"/>
            <a:ext cx="420624" cy="420624"/>
            <a:chOff x="0" y="0"/>
            <a:chExt cx="560832" cy="560832"/>
          </a:xfrm>
        </p:grpSpPr>
        <p:sp>
          <p:nvSpPr>
            <p:cNvPr name="Freeform 86" id="8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7" id="8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Uji Penuh</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Saat semua subsistem dijalankan bersama, kecocokan pola melemah karena error dari subsistem wisatawan merambat</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1014984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DC per variabel: uji parsial vs uji penuh (makin kecil makin baik)</a:t>
            </a:r>
          </a:p>
        </p:txBody>
      </p:sp>
      <p:sp>
        <p:nvSpPr>
          <p:cNvPr name="TextBox 67" id="67"/>
          <p:cNvSpPr txBox="true"/>
          <p:nvPr/>
        </p:nvSpPr>
        <p:spPr>
          <a:xfrm rot="0">
            <a:off x="822960" y="8595360"/>
            <a:ext cx="10149840" cy="66294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DC 0,4–0,7 = rata-rata sampai baik (Barlas, 1989). TPK justru membaik pada uji penuh. Wisatawan gagal uji tren pada P5 maupun uji penuh.</a:t>
            </a:r>
          </a:p>
        </p:txBody>
      </p:sp>
      <p:graphicFrame>
        <p:nvGraphicFramePr>
          <p:cNvPr name="Table 68" id="68"/>
          <p:cNvGraphicFramePr>
            <a:graphicFrameLocks noGrp="true"/>
          </p:cNvGraphicFramePr>
          <p:nvPr/>
        </p:nvGraphicFramePr>
        <p:xfrm>
          <a:off x="11384280" y="2400300"/>
          <a:ext cx="6032500" cy="4711700"/>
        </p:xfrm>
        <a:graphic>
          <a:graphicData uri="http://schemas.openxmlformats.org/drawingml/2006/table">
            <a:tbl>
              <a:tblPr/>
              <a:tblGrid>
                <a:gridCol w="2196934"/>
                <a:gridCol w="3835566"/>
              </a:tblGrid>
              <a:tr h="565421">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Kategori 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Variabel uji penuh (MAPE)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91061">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Sangat baik (&lt; 10%)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ODTW 5,68%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507717">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Baik (10–20%)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Wisatawan 12,06% · Hotel 13,16% · Tenaga kerja 12,39% · Lahan 13,43% · TPK 18,98%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256439">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Layak (20–50%)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PDRB 25,06% · Total malam menginap 29,52% · Investasi 33,54%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91061">
                <a:tc>
                  <a:txBody>
                    <a:bodyPr anchor="t" rtlCol="false"/>
                    <a:lstStyle/>
                    <a:p>
                      <a:pPr algn="l">
                        <a:lnSpc>
                          <a:spcPts val="2070"/>
                        </a:lnSpc>
                        <a:defRPr/>
                      </a:pPr>
                      <a:r>
                        <a:rPr lang="en-US" sz="1725" b="true">
                          <a:solidFill>
                            <a:srgbClr val="E4604F"/>
                          </a:solidFill>
                          <a:latin typeface="Calibri (MS) Bold"/>
                          <a:ea typeface="Calibri (MS) Bold"/>
                          <a:cs typeface="Calibri (MS) Bold"/>
                          <a:sym typeface="Calibri (MS) Bold"/>
                        </a:rPr>
                        <a:t>Buruk (&gt; 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Tidak ada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69" id="69"/>
          <p:cNvGrpSpPr/>
          <p:nvPr/>
        </p:nvGrpSpPr>
        <p:grpSpPr>
          <a:xfrm rot="0">
            <a:off x="11384280" y="7406640"/>
            <a:ext cx="6076188" cy="1851660"/>
            <a:chOff x="0" y="0"/>
            <a:chExt cx="8101584" cy="2468880"/>
          </a:xfrm>
        </p:grpSpPr>
        <p:sp>
          <p:nvSpPr>
            <p:cNvPr name="Freeform 70" id="70"/>
            <p:cNvSpPr/>
            <p:nvPr/>
          </p:nvSpPr>
          <p:spPr>
            <a:xfrm flipH="false" flipV="false" rot="0">
              <a:off x="0" y="0"/>
              <a:ext cx="8101585" cy="2468880"/>
            </a:xfrm>
            <a:custGeom>
              <a:avLst/>
              <a:gdLst/>
              <a:ahLst/>
              <a:cxnLst/>
              <a:rect r="r" b="b" t="t" l="l"/>
              <a:pathLst>
                <a:path h="2468880" w="8101585">
                  <a:moveTo>
                    <a:pt x="0" y="182880"/>
                  </a:moveTo>
                  <a:cubicBezTo>
                    <a:pt x="0" y="81915"/>
                    <a:pt x="81915" y="0"/>
                    <a:pt x="182880" y="0"/>
                  </a:cubicBezTo>
                  <a:lnTo>
                    <a:pt x="7918704" y="0"/>
                  </a:lnTo>
                  <a:cubicBezTo>
                    <a:pt x="8019669" y="0"/>
                    <a:pt x="8101585" y="81915"/>
                    <a:pt x="8101585" y="182880"/>
                  </a:cubicBezTo>
                  <a:lnTo>
                    <a:pt x="8101585" y="2286000"/>
                  </a:lnTo>
                  <a:cubicBezTo>
                    <a:pt x="8101585" y="2386965"/>
                    <a:pt x="8019669" y="2468880"/>
                    <a:pt x="7918704" y="2468880"/>
                  </a:cubicBezTo>
                  <a:lnTo>
                    <a:pt x="182880" y="2468880"/>
                  </a:lnTo>
                  <a:cubicBezTo>
                    <a:pt x="81915" y="2468880"/>
                    <a:pt x="0" y="2386965"/>
                    <a:pt x="0" y="2286000"/>
                  </a:cubicBezTo>
                  <a:close/>
                </a:path>
              </a:pathLst>
            </a:custGeom>
            <a:solidFill>
              <a:srgbClr val="FFF1BF"/>
            </a:solidFill>
          </p:spPr>
          <p:txBody>
            <a:bodyPr/>
            <a:p/>
          </p:txBody>
        </p:sp>
      </p:grpSp>
      <p:grpSp>
        <p:nvGrpSpPr>
          <p:cNvPr name="Group 71" id="71"/>
          <p:cNvGrpSpPr/>
          <p:nvPr/>
        </p:nvGrpSpPr>
        <p:grpSpPr>
          <a:xfrm rot="0">
            <a:off x="11658600" y="7406640"/>
            <a:ext cx="5554980" cy="1851660"/>
            <a:chOff x="0" y="0"/>
            <a:chExt cx="7406640" cy="2468880"/>
          </a:xfrm>
        </p:grpSpPr>
        <p:sp>
          <p:nvSpPr>
            <p:cNvPr name="Freeform 72" id="72"/>
            <p:cNvSpPr/>
            <p:nvPr/>
          </p:nvSpPr>
          <p:spPr>
            <a:xfrm flipH="false" flipV="false" rot="0">
              <a:off x="0" y="0"/>
              <a:ext cx="7406640" cy="2468880"/>
            </a:xfrm>
            <a:custGeom>
              <a:avLst/>
              <a:gdLst/>
              <a:ahLst/>
              <a:cxnLst/>
              <a:rect r="r" b="b" t="t" l="l"/>
              <a:pathLst>
                <a:path h="2468880" w="7406640">
                  <a:moveTo>
                    <a:pt x="0" y="0"/>
                  </a:moveTo>
                  <a:lnTo>
                    <a:pt x="7406640" y="0"/>
                  </a:lnTo>
                  <a:lnTo>
                    <a:pt x="7406640" y="2468880"/>
                  </a:lnTo>
                  <a:lnTo>
                    <a:pt x="0" y="2468880"/>
                  </a:lnTo>
                  <a:close/>
                </a:path>
              </a:pathLst>
            </a:custGeom>
            <a:blipFill>
              <a:blip r:embed="rId4">
                <a:alphaModFix amt="0"/>
              </a:blip>
              <a:stretch>
                <a:fillRect l="0" t="-8414" r="0" b="-8414"/>
              </a:stretch>
            </a:blipFill>
          </p:spPr>
          <p:txBody>
            <a:bodyPr/>
            <a:p/>
          </p:txBody>
        </p:sp>
      </p:grpSp>
      <p:grpSp>
        <p:nvGrpSpPr>
          <p:cNvPr name="Group 73" id="73"/>
          <p:cNvGrpSpPr/>
          <p:nvPr/>
        </p:nvGrpSpPr>
        <p:grpSpPr>
          <a:xfrm rot="0">
            <a:off x="11658600" y="7378065"/>
            <a:ext cx="5554980" cy="1880235"/>
            <a:chOff x="0" y="0"/>
            <a:chExt cx="7406640" cy="2506980"/>
          </a:xfrm>
        </p:grpSpPr>
        <p:sp>
          <p:nvSpPr>
            <p:cNvPr name="Freeform 74" id="74"/>
            <p:cNvSpPr/>
            <p:nvPr/>
          </p:nvSpPr>
          <p:spPr>
            <a:xfrm flipH="false" flipV="false" rot="0">
              <a:off x="0" y="0"/>
              <a:ext cx="7406640" cy="2506980"/>
            </a:xfrm>
            <a:custGeom>
              <a:avLst/>
              <a:gdLst/>
              <a:ahLst/>
              <a:cxnLst/>
              <a:rect r="r" b="b" t="t" l="l"/>
              <a:pathLst>
                <a:path h="2506980" w="7406640">
                  <a:moveTo>
                    <a:pt x="0" y="0"/>
                  </a:moveTo>
                  <a:lnTo>
                    <a:pt x="7406640" y="0"/>
                  </a:lnTo>
                  <a:lnTo>
                    <a:pt x="7406640" y="2506980"/>
                  </a:lnTo>
                  <a:lnTo>
                    <a:pt x="0" y="2506980"/>
                  </a:lnTo>
                  <a:close/>
                </a:path>
              </a:pathLst>
            </a:custGeom>
            <a:blipFill>
              <a:blip r:embed="rId5">
                <a:alphaModFix amt="0"/>
              </a:blip>
              <a:stretch>
                <a:fillRect l="0" t="-7526" r="0" b="-7526"/>
              </a:stretch>
            </a:blipFill>
          </p:spPr>
          <p:txBody>
            <a:bodyPr/>
            <a:p/>
          </p:txBody>
        </p:sp>
      </p:grpSp>
      <p:grpSp>
        <p:nvGrpSpPr>
          <p:cNvPr name="Group 75" id="75"/>
          <p:cNvGrpSpPr/>
          <p:nvPr/>
        </p:nvGrpSpPr>
        <p:grpSpPr>
          <a:xfrm rot="0">
            <a:off x="11658600" y="7349490"/>
            <a:ext cx="5554980" cy="1908810"/>
            <a:chOff x="0" y="0"/>
            <a:chExt cx="7406640" cy="2545080"/>
          </a:xfrm>
        </p:grpSpPr>
        <p:sp>
          <p:nvSpPr>
            <p:cNvPr name="Freeform 76" id="76"/>
            <p:cNvSpPr/>
            <p:nvPr/>
          </p:nvSpPr>
          <p:spPr>
            <a:xfrm flipH="false" flipV="false" rot="0">
              <a:off x="0" y="0"/>
              <a:ext cx="7406640" cy="2545080"/>
            </a:xfrm>
            <a:custGeom>
              <a:avLst/>
              <a:gdLst/>
              <a:ahLst/>
              <a:cxnLst/>
              <a:rect r="r" b="b" t="t" l="l"/>
              <a:pathLst>
                <a:path h="2545080" w="7406640">
                  <a:moveTo>
                    <a:pt x="0" y="0"/>
                  </a:moveTo>
                  <a:lnTo>
                    <a:pt x="7406640" y="0"/>
                  </a:lnTo>
                  <a:lnTo>
                    <a:pt x="7406640" y="2545080"/>
                  </a:lnTo>
                  <a:lnTo>
                    <a:pt x="0" y="2545080"/>
                  </a:lnTo>
                  <a:close/>
                </a:path>
              </a:pathLst>
            </a:custGeom>
            <a:blipFill>
              <a:blip r:embed="rId6">
                <a:alphaModFix amt="0"/>
              </a:blip>
              <a:stretch>
                <a:fillRect l="0" t="-6704" r="0" b="-6704"/>
              </a:stretch>
            </a:blipFill>
          </p:spPr>
          <p:txBody>
            <a:bodyPr/>
            <a:p/>
          </p:txBody>
        </p:sp>
        <p:sp>
          <p:nvSpPr>
            <p:cNvPr name="TextBox 77" id="77"/>
            <p:cNvSpPr txBox="true"/>
            <p:nvPr/>
          </p:nvSpPr>
          <p:spPr>
            <a:xfrm>
              <a:off x="0" y="-38100"/>
              <a:ext cx="7406640" cy="258318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Mengapa melemah? Wisatawan tumbuh lebih lambat dari data → pengeluaran, PDRB, dan investasi ikut rendah → hotel dan ODTW yang dibangun lebih sedikit. Pada 6 dari 9 variabel, selisih terbesar berasal dari beda rata-rata (U1): tanda sumbernya sama.</a:t>
              </a:r>
            </a:p>
          </p:txBody>
        </p:sp>
      </p:grpSp>
      <p:sp>
        <p:nvSpPr>
          <p:cNvPr name="TextBox 78" id="7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48</a:t>
            </a:r>
          </a:p>
        </p:txBody>
      </p:sp>
      <p:grpSp>
        <p:nvGrpSpPr>
          <p:cNvPr name="Group 81" id="81"/>
          <p:cNvGrpSpPr/>
          <p:nvPr/>
        </p:nvGrpSpPr>
        <p:grpSpPr>
          <a:xfrm rot="0">
            <a:off x="12755880" y="274320"/>
            <a:ext cx="3931920" cy="411480"/>
            <a:chOff x="0" y="0"/>
            <a:chExt cx="5242560" cy="548640"/>
          </a:xfrm>
        </p:grpSpPr>
        <p:sp>
          <p:nvSpPr>
            <p:cNvPr name="Freeform 82" id="8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83" id="8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84" id="84"/>
          <p:cNvGrpSpPr/>
          <p:nvPr/>
        </p:nvGrpSpPr>
        <p:grpSpPr>
          <a:xfrm rot="0">
            <a:off x="16047720" y="9646920"/>
            <a:ext cx="420624" cy="420624"/>
            <a:chOff x="0" y="0"/>
            <a:chExt cx="560832" cy="560832"/>
          </a:xfrm>
        </p:grpSpPr>
        <p:sp>
          <p:nvSpPr>
            <p:cNvPr name="Freeform 85" id="8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6" id="8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graphicFrame>
        <p:nvGraphicFramePr>
          <p:cNvPr id="87" name="Chart 86"/>
          <p:cNvGraphicFramePr>
            <a:graphicFrameLocks noGrp="1"/>
          </p:cNvGraphicFramePr>
          <p:nvPr/>
        </p:nvGraphicFramePr>
        <p:xfrm>
          <a:off x="822960" y="2788920"/>
          <a:ext cx="10149840" cy="5760720"/>
        </p:xfrm>
        <a:graphic>
          <a:graphicData uri="http://schemas.openxmlformats.org/drawingml/2006/chart">
            <c:chart xmlns:c="http://schemas.openxmlformats.org/drawingml/2006/chart" r:id="rId8"/>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